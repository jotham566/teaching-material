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fb306d-9ec6-267a-2901-cf05fd133183}">
          <p14:sldIdLst>
            <p14:sldId id="256"/>
            <p14:sldId id="257"/>
            <p14:sldId id="258"/>
            <p14:sldId id="259"/>
            <p14:sldId id="260"/>
            <p14:sldId id="261"/>
            <p14:sldId id="262"/>
          </p14:sldIdLst>
        </p14:section>
        <p14:section name="Block A" id="{c5872764-93a5-9f68-aa3f-8e121deb7bf4}">
          <p14:sldIdLst>
            <p14:sldId id="263"/>
            <p14:sldId id="264"/>
            <p14:sldId id="265"/>
            <p14:sldId id="266"/>
            <p14:sldId id="268"/>
            <p14:sldId id="269"/>
          </p14:sldIdLst>
        </p14:section>
        <p14:section name="Break" id="{6d95d8fc-8f88-a48d-7f2a-57ad2da1cada}">
          <p14:sldIdLst>
            <p14:sldId id="267"/>
          </p14:sldIdLst>
        </p14:section>
        <p14:section name="Block A" id="{e2b309cd-9eca-c8b5-337b-f495b9da11e7}">
          <p14:sldIdLst/>
        </p14:section>
        <p14:section name="Block B" id="{563671c9-7f61-999d-ed0f-e67128e2647f}">
          <p14:sldIdLst>
            <p14:sldId id="270"/>
            <p14:sldId id="271"/>
            <p14:sldId id="272"/>
            <p14:sldId id="273"/>
          </p14:sldIdLst>
        </p14:section>
        <p14:section name="Make and close" id="{96940913-7173-e7ee-60c2-af29880d1a93}">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13 and our topic is features, targets and an honest baseline.
By the end of today you will be able to name the features and the target in a table, and calculate a baseline error that any model must beat.
We will answer one question: What did the session 1 model learn from, and how well would a plain guess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table. The first two columns, area and rooms, are the features. They are what the model is allowed to see. The last column, the rent, is the target. It is the answer we want. The model sees the features and guesses the rent. Today we ask what the session one model learned from, and how well a plain guess would have done without any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feature. An input known before you predict. A small example. The clues in a puzzle.
training data. The examples the model learns from. Picture this. The worked examples in a textbook.
test data. Examples held back to check the model on things it has not seen. You have seen this before. The exam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leakage. Using information that would not be known at prediction time. Seeing the exam answers before the exam.
baseline. A simple guess a model must beat, such as the training mean. Think of a shop. Guessing that every home costs the average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trust a model, we try the laziest guess possible. Guess the same number for every home, the average rent of the training homes. That is the baseline.
If a model cannot do better than this plain guess, it has learned nothing useful. How wrong do you expect the plain guess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has seen the exam questions in advance scores well and proves nothing. A model is the same. It learns from the training data. We check it on test data it has never seen.
Why would a perfect score on the practice questions not tell us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baseline uses no features at all. It guesses the average of the training targets every time.
Make a prediction. Training prices are 2000, 4000 and 6000. Predict the baseline guess and its error when the real price is 5000.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4000.0 and 1000.0. The training mean 4000.0 is the baseline guess. abs removes the minus sign, so the error is the distance between the guess and the real value, 1000 shillings. A model is worth using only if its errors on unseen examples are smaller than the baseline's.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baseline guess. I have two questions for you.
Question one. Why must the baseline use only training prices? Have a go in your head first.
Let me answer it. Test prices are answers the model has not seen. Using them would be a form of leakage.
Question two. What would the baseline guess be for every new price? Write your answer in one line before we compare.
The answer is this. 4000.0, the same number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Change the actual price to 3000 and recalculate the error. After you run it, say in one sentence what changed and how you checked.
You should see this. The error is 1000.0 again, because 3000 is also 1000 below 4000.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one model and look inside. It is a line through the homes. Give it an area and it reads off a rent. It keeps a rule instead of a list of the homes it saw.
Point to where a fifty square metre home would land on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feature is only fair if we would have it before we need the answer. The area of a home is known before the rent is set. A figure written down after the rent was agreed is information from the future.
Using such a column is called leakage. It makes a model look brilliant on paper and useless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from session 1 had one feature and one target. Print what it learned.
Time to commit to an answer. Name the feature and the target in this code before you run it.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2996 and 159436. The feature is area_m2, kept in X. The target is rent_ugx, kept in y. fit looked at all 120 homes and found a line: rent is about 159436 shillings plus 2996 shillings for each square metre. That model was scored on nothing at all. Judging it on the same homes it learned from would flatter it, so next session we keep some homes back.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open the session 1 model. I have two questions for you.
Question one. Which of these is the feature and which is the target? Write your answer in one line before we compare.
The answer is this. area_m2 is the feature, rent_ugx is the target.
Question two. Why is it unfair to test the model on the same 120 homes? Say it quietly to yourself before anyone answers.
It has already seen their answers. A fair test needs homes it has not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Add rooms as a second feature and print the two slopes. Then explain to your neighbour what the change did.
The result: About 2992 shillings per square metre and 19345 shillings per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ML13.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NameError: name 'X' is not defined. It means this: the cell that creates X has not run yet. To fix it, Run the cells in order from the top.
The next one. You will see: KeyError: 'area'. It means this: the column is called area_m2 in this file. To fix it, print homes.columns and copy the exact name.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What did the session 1 model learn from, and how well would a plain guess do?
Copy this sentence into your notebook and make it yours. A model is useful only if its error on unseen examples is smaller than the baseline's error.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ML13  |  Features, targets and an honest baseline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Features, targets and an honest baseline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did the session 1 model learn from, and how well would a plain guess do?</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13 of 24  |  Week 5, Baselines and a line</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did the session 1 model learn from,</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how well would a plain guess do?</a:t>
            </a:r>
            <a:endParaRPr lang="en-US" sz="3600" dirty="0"/>
          </a:p>
        </p:txBody>
      </p:sp>
      <p:pic>
        <p:nvPicPr>
          <p:cNvPr id="3" name="Image 0" descr="A table of homes with feature columns and a hidden target column, feeding a model that guesses the ren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featur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feature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An input known before you predict.</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clues in a puzzle.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training data">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training data</a:t>
            </a:r>
            <a:endParaRPr lang="en-US" sz="30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examples the model learns from.</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worked examples in a textbook.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est data">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test data</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Examples held back to check the model on things it has not seen.</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exam paper.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leakag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leakage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Using information that would not be known at prediction time.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Seeing the exam answers before the exam.</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baseline">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baseline</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simple guess a model must beat, such as the training mean.</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Guessing that every home costs the average rent.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baseline is the plain guess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every model must beat</a:t>
            </a:r>
            <a:endParaRPr lang="en-US" sz="3600" dirty="0"/>
          </a:p>
        </p:txBody>
      </p:sp>
      <p:pic>
        <p:nvPicPr>
          <p:cNvPr id="3" name="Image 0" descr="A baseline is the plain guess every model must bea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Always guess the mean of the training rents.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No model is used.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Beat this or the model adds nothing.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Practice and exam questions must be different</a:t>
            </a:r>
            <a:endParaRPr lang="en-US" sz="3800" dirty="0"/>
          </a:p>
        </p:txBody>
      </p:sp>
      <p:pic>
        <p:nvPicPr>
          <p:cNvPr id="3" name="Image 0" descr="Practice and exam questions must be differen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Training data is the practice.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Test data is the exam.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model must never practise on the exam.</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baseline guess</a:t>
            </a:r>
            <a:endParaRPr lang="en-US" sz="3800" dirty="0"/>
          </a:p>
        </p:txBody>
      </p:sp>
      <p:sp>
        <p:nvSpPr>
          <p:cNvPr id="3" name="Shape 1"/>
          <p:cNvSpPr/>
          <p:nvPr/>
        </p:nvSpPr>
        <p:spPr>
          <a:xfrm>
            <a:off x="640080" y="1645920"/>
            <a:ext cx="10881360" cy="2255012"/>
          </a:xfrm>
          <a:prstGeom prst="roundRect">
            <a:avLst>
              <a:gd name="adj" fmla="val 3244"/>
            </a:avLst>
          </a:prstGeom>
          <a:solidFill>
            <a:srgbClr val="111111"/>
          </a:solidFill>
          <a:ln/>
        </p:spPr>
      </p:sp>
      <p:sp>
        <p:nvSpPr>
          <p:cNvPr id="4" name="Text 2"/>
          <p:cNvSpPr txBox="1"/>
          <p:nvPr/>
        </p:nvSpPr>
        <p:spPr>
          <a:xfrm>
            <a:off x="841248" y="1847088"/>
            <a:ext cx="10479024" cy="185267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train_prices = [2000, 4000, 6000]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baseline = sum(train_prices) / len(train_prices)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actual = 5000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error = abs(actual - baseline)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print(baseline, error)</a:t>
            </a:r>
            <a:endParaRPr lang="en-US" sz="2200" dirty="0"/>
          </a:p>
        </p:txBody>
      </p:sp>
      <p:sp>
        <p:nvSpPr>
          <p:cNvPr id="5" name="Text 3"/>
          <p:cNvSpPr txBox="1"/>
          <p:nvPr/>
        </p:nvSpPr>
        <p:spPr>
          <a:xfrm>
            <a:off x="640080" y="4083812"/>
            <a:ext cx="8046720" cy="217982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Training prices are 2000, 4000 and 6000. Predict the baseline guess and its error when the real price is 5000.</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baseline guess</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4000.0 1000.0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4000.0 and 1000.0.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training mean 4000.0 is the baseline guess.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abs removes the minus sign, so the error is the distance between the guess and the real value, 1000 shillings.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baseline guess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must the baseline use only training prices?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would the baseline guess be for every new price?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actual price to 3000 and recalculate the error.</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learned line rises as the area grows</a:t>
            </a:r>
            <a:endParaRPr lang="en-US" sz="3800" dirty="0"/>
          </a:p>
        </p:txBody>
      </p:sp>
      <p:pic>
        <p:nvPicPr>
          <p:cNvPr id="3" name="Image 0" descr="The learned line rises as the area grow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dot is one home.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is what the model learned.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 is a rule that stands in for the list of homes.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feature must exist before the answer does</a:t>
            </a:r>
            <a:endParaRPr lang="en-US" sz="3800" dirty="0"/>
          </a:p>
        </p:txBody>
      </p:sp>
      <p:pic>
        <p:nvPicPr>
          <p:cNvPr id="3" name="Image 0" descr="A feature must exist before the answer do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Area is known before the rent is set.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Information from after the rent is leakage.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Leakage makes a model look too good.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Open the session 1 model</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pandas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pd</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from</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sklearn.linear_model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LinearRegression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homes = pd.read_csv(</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"synthetic_homes.csv"</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X = homes[[</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"area_m2"</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y = homes[</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"rent_ugx"</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model = LinearRegression().fit(X, 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slope = model.coef_[0]</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intercept = model.intercept_</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print(round(slope), round(intercept))</a:t>
            </a:r>
            <a:endParaRPr lang="en-US" sz="20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520"/>
              </a:lnSpc>
              <a:spcAft>
                <a:spcPts val="1010"/>
              </a:spcAft>
              <a:buNone/>
            </a:pPr>
            <a:r>
              <a:rPr lang="en-US" sz="2100" dirty="0">
                <a:solidFill>
                  <a:srgbClr val="111111"/>
                </a:solidFill>
                <a:latin typeface="Lato" pitchFamily="34" charset="0"/>
                <a:ea typeface="Lato" pitchFamily="34" charset="-122"/>
                <a:cs typeface="Lato" pitchFamily="34" charset="-120"/>
              </a:rPr>
              <a:t>Name the feature and the target in this code before you run it.</a:t>
            </a:r>
            <a:endParaRPr lang="en-US" sz="2100" dirty="0"/>
          </a:p>
          <a:p>
            <a:pPr algn="l" indent="0" marL="0">
              <a:lnSpc>
                <a:spcPts val="2520"/>
              </a:lnSpc>
              <a:spcAft>
                <a:spcPts val="1010"/>
              </a:spcAft>
              <a:buNone/>
            </a:pPr>
            <a:r>
              <a:rPr lang="en-US" sz="2100" dirty="0">
                <a:solidFill>
                  <a:srgbClr val="111111"/>
                </a:solidFill>
                <a:latin typeface="Lato" pitchFamily="34" charset="0"/>
                <a:ea typeface="Lato" pitchFamily="34" charset="-122"/>
                <a:cs typeface="Lato" pitchFamily="34" charset="-120"/>
              </a:rPr>
              <a:t>Write your guess on paper before we run it.</a:t>
            </a:r>
            <a:endParaRPr lang="en-US" sz="21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Open the session 1 model</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2996 and 159436.</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feature is area_m2, kept in X.</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target is rent_ugx, kept in y.</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fit looked at all 120 homes and found a line: rent is about 159436 shillings plus 2996 shillings for each square metre.</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Open the session 1 model</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of these is the feature and which is the target?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is it unfair to test the model on the same 120 homes?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rooms as a second feature and print the two slopes.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For training values [2000, 4000, 6000], find the baseline guess for a new item. If its real value is 5000, calculate the absolute error. Name one leaked feature if you were predicting a selling price.</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ML13.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'X'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cell that creates X has not run yet.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cells in order from the top.</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'area'</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is called area_m2 in this file.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homes.columns and copy the exact name.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model is useful only if its error on unseen examples is smaller than the baseline's error.</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ML13 Features, targets and an honest baseline</dc:title>
  <dc:subject>Machine Learning</dc:subject>
  <dc:creator>KLAi</dc:creator>
  <cp:lastModifiedBy>KLAi</cp:lastModifiedBy>
  <cp:revision>1</cp:revision>
  <dcterms:created xsi:type="dcterms:W3CDTF">2026-10-31T12:33:08Z</dcterms:created>
  <dcterms:modified xsi:type="dcterms:W3CDTF">2026-10-31T12:33:08Z</dcterms:modified>
</cp:coreProperties>
</file>