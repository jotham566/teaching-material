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1eb9243-c8f0-47f9-ba4a-3e606267bed8}">
          <p14:sldIdLst>
            <p14:sldId id="256"/>
            <p14:sldId id="257"/>
            <p14:sldId id="258"/>
            <p14:sldId id="259"/>
            <p14:sldId id="260"/>
            <p14:sldId id="261"/>
            <p14:sldId id="262"/>
          </p14:sldIdLst>
        </p14:section>
        <p14:section name="Block A" id="{427754d1-64c0-7cac-4634-909f8b222551}">
          <p14:sldIdLst>
            <p14:sldId id="263"/>
            <p14:sldId id="264"/>
            <p14:sldId id="265"/>
            <p14:sldId id="266"/>
            <p14:sldId id="268"/>
            <p14:sldId id="269"/>
          </p14:sldIdLst>
        </p14:section>
        <p14:section name="Break" id="{ea14ca70-8edb-801c-ba41-611ffc76bbc7}">
          <p14:sldIdLst>
            <p14:sldId id="267"/>
          </p14:sldIdLst>
        </p14:section>
        <p14:section name="Block A" id="{1362b2dc-35a5-d965-d9b2-1e35dbffee36}">
          <p14:sldIdLst/>
        </p14:section>
        <p14:section name="Block B" id="{8595d331-72bd-5495-1519-d8b9a38b7803}">
          <p14:sldIdLst>
            <p14:sldId id="270"/>
            <p14:sldId id="271"/>
            <p14:sldId id="272"/>
            <p14:sldId id="273"/>
            <p14:sldId id="274"/>
          </p14:sldIdLst>
        </p14:section>
        <p14:section name="Make and close" id="{b8a3e07e-e786-e6e1-3408-187a52537b2a}">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Today is session 9 and our topic is mean, median, range and proportions.
By the end of today you will be able to calculate the mean, median, range and a proportion, and say which one an extreme value moves most.
We will answer one question: What is a typical number of units in a sale, and how spread out are the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circle here is one sale, stacked on the number of units it had. You can see that two units is very common, and so are seven and eight. The dashed line is the median and the red line is the mean. They are almost the same here. Today we ask what a typical sale looks like and how spread out the sales are, and we learn when these two numbers stop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mean. The total shared out equally: add the values and divide by how many. Here is a way to see it. Sharing a bag of mandazi equally.
median. The middle value once the values are in order. A small example. The pupil standing in the middle of a line sorted by height.
range. The largest value minus the smallest. Picture this. The gap between the tallest and the shortest.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percentile. The value below which a given share of the data falls. You have seen this before. The mark that 75 out of 100 pupils did not beat.
proportion. A part divided by the whole; times 100 it becomes a percentage. 12 pupils out of 20 passed.
outlier. A value far from the rest. Think of a shop. One huge order in a week of small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mean is the amount each sale would have if the units were shared out equally. Add every value, then divide by how many values there are.
In the picture, four piles hold 10, 12, 14 and 16. That is 52 altogether. Share the 52 equally among the four piles and each one holds 13. That 13 is the mean. For the sixty sales in the shop file the same sum gives four point six two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median is found by sorting the values and taking the one in the middle. With nine values there is one middle value. With an even number there are two, so you take the point halfway between them.
Try it with these values on paper before you look at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 at how many units each sale has.
Make a prediction. Predict whether the mean or the median of the units column is larger.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it now. Match each line of the output with the line of code that made it.
The cell prints about 4.62, 4.5, 7 and 7.0. The mean is the total of 277 divided by 60 sales. The median 4.5 sits between the 30th and 31st values in order. The range is 8 minus 1. The 75th percentile 7 means three quarters of the sales have 7 units or fewer. NumPy is the library behind pandas for numbers, and np is its short name.
Keep your guess. We use it in the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typical value and spread. I have two questions for you.
Question one. Why is the median 4.5 and not a whole number? Think about it for a moment, then tell the person next to you.
Let me answer it. With 60 values the middle falls between two of them, so it is their average.
Question two. What does the 75th percentile tell a shopkeeper? Have a go in your head first.
The answer is this. Three quarters of the sales had 7 units or fewer. Only 10 of the 60 sales had 8, the most any sale had, so stock for 7 or 8 units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one small change. Find the 25th percentile of units. Run it, then tell someone what you saw.
What you should find: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up the sixty sales from smallest to largest and the staircase shows the whole spread. The smallest sale had one unit. The largest had eight. The range is the difference, which is seven.
The red marks show percentiles. A quarter of the sales sit at 2 units or fewer, half at 4.5 or fewer, and three quarters at 7 or fewer. The range tells you how wide the data is. The percentiles tell you how the values are spread inside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outlier is a value far away from the rest. Add one huge sale to a small list and watch what happens. The mean leaps from thirteen to thirty point four. The median only moves from thirteen to fourteen.
When a few extreme values are possible, which number would you quote as the typical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one very large value to a small list and see what moves. Then count a proportion.
Time to commit to an answer. Predict which moves more when 100 joins the list: the mean or the median.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cell prints 13.0, 13.0, 30.4 and 14.0, then 0.5 and 50.0. The outlier 100 pulls the mean from 13 to 30.4 and moves the median only to 14. Half of all sales have 5 units or more: 30 out of 60 is the proportion 0.5, which is 50%.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one extreme value and a proportion. I have two questions for you.
Question one. Which summary should you quote when one huge sale sits in the data? Have a go in your head first.
The answer is this. The median, because it hardly moves. Also report the outlier.
Question two. Why must you name the whole when you give a proportion? Write your answer in one line before we compare.
30 out of 60 and 30 out of 300 are very different. The denominator tells what the share is a share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Replace 100 with 1000 in bigger and print the mean and the median. After you run it, say in one sentence what changed and how you checked.
You should see this. The mean becomes 210.4 and the median stays 14.0.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proportion is a part divided by the whole. Twelve of twenty counters are gold, so the proportion is twelve over twenty, which is zero point six. Multiply by a hundred and it becomes sixty percent.
Use the same idea on the shop data: what share of the sales had five units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ML09.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NameError: name 'np' is not defined. It means this: numpy was not imported in this notebook session. To fix it, Run import numpy as np first.
The next one. You will see: The proportion is above 1. It means this: you divided the whole by the part. To fix it, divide the part by the whole.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What is a typical number of units in a sale, and how spread out are the sales?
Write this sentence in your notebook and finish it your own way. The mean follows an extreme value, the median stays put, and a proportion needs its whole named.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ML09  |  Mean, median, range and proportions</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Mean, median, range and proportions</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is a typical number of units in a sale, and how spread out are the sales?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9 of 24  |  Week 3, Tables and statistics</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What is a typical number of units in a</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sale, and how spread out are the sales?</a:t>
            </a:r>
            <a:endParaRPr lang="en-US" sz="3600" dirty="0"/>
          </a:p>
        </p:txBody>
      </p:sp>
      <p:pic>
        <p:nvPicPr>
          <p:cNvPr id="3" name="Image 0" descr="A dot plot of units in 60 sales, with the median at 4.5 and the mean at 4.62">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mea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mean</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total shared out equally: add the values and divide by how many.</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Sharing a bag of mandazi equally.</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media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median</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middle value once the values are in order.</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pupil standing in the middle of a line sorted by height.</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rang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range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largest value minus the smallest.</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gap between the tallest and the shortest.</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percentil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percentile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value below which a given share of the data falls.</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mark that 75 out of 100 pupils did not beat.</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proportion">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proportion</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part divided by the whole; times 100 it becomes a percentage.</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12 pupils out of 20 passed.</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outlie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outlier</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value far from the rest.</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One huge order in a week of small sales.</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mean shares the total out equally</a:t>
            </a:r>
            <a:endParaRPr lang="en-US" sz="3800" dirty="0"/>
          </a:p>
        </p:txBody>
      </p:sp>
      <p:pic>
        <p:nvPicPr>
          <p:cNvPr id="3" name="Image 0" descr="The mean shares the total out equally">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Four piles of 10, 12, 14 and 16 add up to 52.</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Share 52 among 4 piles and each gets 13.</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mean of all 60 sales is 4.62 units.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The median is the middle value after sorting</a:t>
            </a:r>
            <a:endParaRPr lang="en-US" sz="3800" dirty="0"/>
          </a:p>
        </p:txBody>
      </p:sp>
      <p:pic>
        <p:nvPicPr>
          <p:cNvPr id="3" name="Image 0" descr="The median is the middle value after sorting">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Put the values in order.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Pick the middle one.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With two middle values, take their midpoint.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Typical value and spread</a:t>
            </a:r>
            <a:endParaRPr lang="en-US" sz="3800" dirty="0"/>
          </a:p>
        </p:txBody>
      </p:sp>
      <p:sp>
        <p:nvSpPr>
          <p:cNvPr id="3" name="Shape 1"/>
          <p:cNvSpPr/>
          <p:nvPr/>
        </p:nvSpPr>
        <p:spPr>
          <a:xfrm>
            <a:off x="640080" y="1645920"/>
            <a:ext cx="10881360" cy="3383280"/>
          </a:xfrm>
          <a:prstGeom prst="roundRect">
            <a:avLst>
              <a:gd name="adj" fmla="val 2162"/>
            </a:avLst>
          </a:prstGeom>
          <a:solidFill>
            <a:srgbClr val="111111"/>
          </a:solidFill>
          <a:ln/>
        </p:spPr>
      </p:sp>
      <p:sp>
        <p:nvSpPr>
          <p:cNvPr id="4" name="Text 2"/>
          <p:cNvSpPr txBox="1"/>
          <p:nvPr/>
        </p:nvSpPr>
        <p:spPr>
          <a:xfrm>
            <a:off x="841248" y="1847088"/>
            <a:ext cx="10479024" cy="2980944"/>
          </a:xfrm>
          <a:prstGeom prst="rect">
            <a:avLst/>
          </a:prstGeom>
          <a:noFill/>
          <a:ln/>
        </p:spPr>
        <p:txBody>
          <a:bodyPr wrap="square" lIns="0" tIns="0" rIns="0" bIns="0" rtlCol="0" anchor="t"/>
          <a:lstStyle/>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numpy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np</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import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pandas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pd</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shop = pd.read_csv(</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"camp_shop.csv"</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units = shop[</a:t>
            </a:r>
            <a:pPr algn="l" indent="0" marL="0">
              <a:lnSpc>
                <a:spcPts val="2600"/>
              </a:lnSpc>
              <a:buNone/>
            </a:pPr>
            <a:r>
              <a:rPr lang="en-US" sz="2000" dirty="0">
                <a:solidFill>
                  <a:srgbClr val="E0BE36"/>
                </a:solidFill>
                <a:latin typeface="Courier New" pitchFamily="34" charset="0"/>
                <a:ea typeface="Courier New" pitchFamily="34" charset="-122"/>
                <a:cs typeface="Courier New" pitchFamily="34" charset="-120"/>
              </a:rPr>
              <a:t>"units"</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mean_units = units.mean()</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median_units = np.median(units)</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spread = units.max() - units.min()</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p75 = np.percentile(units, 75)</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print(mean_units, median_units, spread, p75)</a:t>
            </a:r>
            <a:endParaRPr lang="en-US" sz="2000" dirty="0"/>
          </a:p>
        </p:txBody>
      </p:sp>
      <p:sp>
        <p:nvSpPr>
          <p:cNvPr id="5" name="Text 3"/>
          <p:cNvSpPr txBox="1"/>
          <p:nvPr/>
        </p:nvSpPr>
        <p:spPr>
          <a:xfrm>
            <a:off x="640080" y="5212080"/>
            <a:ext cx="8046720" cy="1051560"/>
          </a:xfrm>
          <a:prstGeom prst="rect">
            <a:avLst/>
          </a:prstGeom>
          <a:noFill/>
          <a:ln/>
        </p:spPr>
        <p:txBody>
          <a:bodyPr wrap="square" lIns="0" tIns="0" rIns="0" bIns="0" rtlCol="0" anchor="t"/>
          <a:lstStyle/>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Predict whether the mean or the median of the units column is larger.</a:t>
            </a:r>
            <a:endParaRPr lang="en-US" sz="1900" dirty="0"/>
          </a:p>
          <a:p>
            <a:pPr algn="l" indent="0" marL="0">
              <a:lnSpc>
                <a:spcPts val="2280"/>
              </a:lnSpc>
              <a:spcAft>
                <a:spcPts val="1010"/>
              </a:spcAft>
              <a:buNone/>
            </a:pPr>
            <a:r>
              <a:rPr lang="en-US" sz="1900" dirty="0">
                <a:solidFill>
                  <a:srgbClr val="111111"/>
                </a:solidFill>
                <a:latin typeface="Lato" pitchFamily="34" charset="0"/>
                <a:ea typeface="Lato" pitchFamily="34" charset="-122"/>
                <a:cs typeface="Lato" pitchFamily="34" charset="-120"/>
              </a:rPr>
              <a:t>Write your guess on paper before we run it.</a:t>
            </a:r>
            <a:endParaRPr lang="en-US" sz="1900" dirty="0"/>
          </a:p>
        </p:txBody>
      </p:sp>
      <p:pic>
        <p:nvPicPr>
          <p:cNvPr id="6" name="Image 0" descr="A page and a pen">    </p:cNvPr>
          <p:cNvPicPr>
            <a:picLocks noChangeAspect="1"/>
          </p:cNvPicPr>
          <p:nvPr/>
        </p:nvPicPr>
        <p:blipFill>
          <a:blip r:embed="rId1"/>
          <a:stretch>
            <a:fillRect/>
          </a:stretch>
        </p:blipFill>
        <p:spPr>
          <a:xfrm>
            <a:off x="10241280" y="5214366"/>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Typical value and spread</a:t>
            </a:r>
            <a:endParaRPr lang="en-US" sz="3800" dirty="0"/>
          </a:p>
        </p:txBody>
      </p:sp>
      <p:sp>
        <p:nvSpPr>
          <p:cNvPr id="3" name="Shape 1"/>
          <p:cNvSpPr/>
          <p:nvPr/>
        </p:nvSpPr>
        <p:spPr>
          <a:xfrm>
            <a:off x="640080" y="1645920"/>
            <a:ext cx="6035040" cy="765556"/>
          </a:xfrm>
          <a:prstGeom prst="roundRect">
            <a:avLst>
              <a:gd name="adj" fmla="val 9555"/>
            </a:avLst>
          </a:prstGeom>
          <a:solidFill>
            <a:srgbClr val="FFFFFF"/>
          </a:solidFill>
          <a:ln w="15875">
            <a:solidFill>
              <a:srgbClr val="111111"/>
            </a:solidFill>
            <a:prstDash val="solid"/>
          </a:ln>
        </p:spPr>
      </p:sp>
      <p:sp>
        <p:nvSpPr>
          <p:cNvPr id="4" name="Text 2"/>
          <p:cNvSpPr txBox="1"/>
          <p:nvPr/>
        </p:nvSpPr>
        <p:spPr>
          <a:xfrm>
            <a:off x="822960" y="1828800"/>
            <a:ext cx="5669280" cy="39979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4.616666666666666 4.5 7 7.0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about 4.62, 4.5, 7 and 7.0.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mean is the total of 277 divided by 60 sales.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median 4.5 sits between the 30th and 31st values in order.</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range is 8 minus 1.</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Typical value and spread</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the median 4.5 and not a whole number?</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does the 75th percentile tell a shopkeeper?</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Find the 25th percentile of units.</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Sorting the sales shows the range and percentiles</a:t>
            </a:r>
            <a:endParaRPr lang="en-US" sz="3600" dirty="0"/>
          </a:p>
        </p:txBody>
      </p:sp>
      <p:pic>
        <p:nvPicPr>
          <p:cNvPr id="3" name="Image 0" descr="Sorting the sales shows the range and percentile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smallest sale has 1 unit and the largest has 8.</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range is 8 minus 1, which is 7.</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75th percentile is 7 units.</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An outlier moves the mean</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far more than the median</a:t>
            </a:r>
            <a:endParaRPr lang="en-US" sz="3600" dirty="0"/>
          </a:p>
        </p:txBody>
      </p:sp>
      <p:pic>
        <p:nvPicPr>
          <p:cNvPr id="3" name="Image 0" descr="An outlier moves the mean far more than the median">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400"/>
              </a:lnSpc>
              <a:buNone/>
            </a:pPr>
            <a:r>
              <a:rPr lang="en-US" sz="2000" dirty="0">
                <a:solidFill>
                  <a:srgbClr val="333333"/>
                </a:solidFill>
                <a:latin typeface="Lato" pitchFamily="34" charset="0"/>
                <a:ea typeface="Lato" pitchFamily="34" charset="-122"/>
                <a:cs typeface="Lato" pitchFamily="34" charset="-120"/>
              </a:rPr>
              <a:t>Add one very large value. The mean jumps from 13 to 30.4. The median moves from 13 to 14.</a:t>
            </a:r>
            <a:endParaRPr lang="en-US" sz="20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One extreme value and a proportion</a:t>
            </a:r>
            <a:endParaRPr lang="en-US" sz="3800" dirty="0"/>
          </a:p>
        </p:txBody>
      </p:sp>
      <p:sp>
        <p:nvSpPr>
          <p:cNvPr id="3" name="Shape 1"/>
          <p:cNvSpPr/>
          <p:nvPr/>
        </p:nvSpPr>
        <p:spPr>
          <a:xfrm>
            <a:off x="640080" y="1645920"/>
            <a:ext cx="10881360" cy="3344672"/>
          </a:xfrm>
          <a:prstGeom prst="roundRect">
            <a:avLst>
              <a:gd name="adj" fmla="val 2187"/>
            </a:avLst>
          </a:prstGeom>
          <a:solidFill>
            <a:srgbClr val="111111"/>
          </a:solidFill>
          <a:ln/>
        </p:spPr>
      </p:sp>
      <p:sp>
        <p:nvSpPr>
          <p:cNvPr id="4" name="Text 2"/>
          <p:cNvSpPr txBox="1"/>
          <p:nvPr/>
        </p:nvSpPr>
        <p:spPr>
          <a:xfrm>
            <a:off x="841248" y="1847088"/>
            <a:ext cx="10479024" cy="294233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small = pd.Series([10, 12, 14, 16])</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bigger = pd.Series([10, 12, 14, 16, 100])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small.mean(), small.median(), bigger.mean(),</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bigger.median()</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share_big = (units &gt;= 5).sum() / len(units)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print(share_big, share_big * 100)</a:t>
            </a:r>
            <a:endParaRPr lang="en-US" sz="2200" dirty="0"/>
          </a:p>
        </p:txBody>
      </p:sp>
      <p:sp>
        <p:nvSpPr>
          <p:cNvPr id="5" name="Text 3"/>
          <p:cNvSpPr txBox="1"/>
          <p:nvPr/>
        </p:nvSpPr>
        <p:spPr>
          <a:xfrm>
            <a:off x="640080" y="5173472"/>
            <a:ext cx="8046720" cy="1090168"/>
          </a:xfrm>
          <a:prstGeom prst="rect">
            <a:avLst/>
          </a:prstGeom>
          <a:noFill/>
          <a:ln/>
        </p:spPr>
        <p:txBody>
          <a:bodyPr wrap="square" lIns="0" tIns="0" rIns="0" bIns="0" rtlCol="0" anchor="t"/>
          <a:lstStyle/>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Predict which moves more when 100 joins the list: the mean or the median.</a:t>
            </a:r>
            <a:endParaRPr lang="en-US" sz="2000" dirty="0"/>
          </a:p>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p:cNvPr>
          <p:cNvPicPr>
            <a:picLocks noChangeAspect="1"/>
          </p:cNvPicPr>
          <p:nvPr/>
        </p:nvPicPr>
        <p:blipFill>
          <a:blip r:embed="rId1"/>
          <a:stretch>
            <a:fillRect/>
          </a:stretch>
        </p:blipFill>
        <p:spPr>
          <a:xfrm>
            <a:off x="10241280" y="5175758"/>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One extreme value and a proportion</a:t>
            </a:r>
            <a:endParaRPr lang="en-US" sz="3800" dirty="0"/>
          </a:p>
        </p:txBody>
      </p:sp>
      <p:sp>
        <p:nvSpPr>
          <p:cNvPr id="3" name="Shape 1"/>
          <p:cNvSpPr/>
          <p:nvPr/>
        </p:nvSpPr>
        <p:spPr>
          <a:xfrm>
            <a:off x="640080" y="1645920"/>
            <a:ext cx="6035040" cy="1128776"/>
          </a:xfrm>
          <a:prstGeom prst="roundRect">
            <a:avLst>
              <a:gd name="adj" fmla="val 6481"/>
            </a:avLst>
          </a:prstGeom>
          <a:solidFill>
            <a:srgbClr val="FFFFFF"/>
          </a:solidFill>
          <a:ln w="15875">
            <a:solidFill>
              <a:srgbClr val="111111"/>
            </a:solidFill>
            <a:prstDash val="solid"/>
          </a:ln>
        </p:spPr>
      </p:sp>
      <p:sp>
        <p:nvSpPr>
          <p:cNvPr id="4" name="Text 2"/>
          <p:cNvSpPr txBox="1"/>
          <p:nvPr/>
        </p:nvSpPr>
        <p:spPr>
          <a:xfrm>
            <a:off x="822960" y="1828800"/>
            <a:ext cx="5669280" cy="7630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13.0 13.0 30.4 14.0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0.5 50.0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cell prints 13.0, 13.0, 30.4 and 14.0, then 0.5 and 50.0.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outlier 100 pulls the mean from 13 to 30.4 and moves the median only to 14.</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700" b="1" dirty="0">
                <a:solidFill>
                  <a:srgbClr val="111111"/>
                </a:solidFill>
                <a:latin typeface="Lato" pitchFamily="34" charset="0"/>
                <a:ea typeface="Lato" pitchFamily="34" charset="-122"/>
                <a:cs typeface="Lato" pitchFamily="34" charset="-120"/>
              </a:rPr>
              <a:t>Investigate: One extreme value and a proportion</a:t>
            </a:r>
            <a:endParaRPr lang="en-US" sz="37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Which summary should you quote when one huge sale sits in the data?</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must you name the whole when you give a proportion?</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Replace 100 with 1000 in bigger and print the mean and the median.</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proportion counts a part against the whole</a:t>
            </a:r>
            <a:endParaRPr lang="en-US" sz="3800" dirty="0"/>
          </a:p>
        </p:txBody>
      </p:sp>
      <p:pic>
        <p:nvPicPr>
          <p:cNvPr id="3" name="Image 0" descr="A proportion counts a part against the whole">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12 gold counters out of 20.</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12 divided by 20 is 0.6.</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Times 100, that is 60 percent.</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Compare 12 successes out of 20 attempts with 15 out of 50. Calculate each percentage and explain why the larger count does not have to mean the better rate.</a:t>
            </a:r>
            <a:endParaRPr lang="en-US" sz="3000" dirty="0"/>
          </a:p>
          <a:p>
            <a:pPr algn="l" indent="0" marL="0">
              <a:lnSpc>
                <a:spcPts val="3600"/>
              </a:lnSpc>
              <a:spcAft>
                <a:spcPts val="2520"/>
              </a:spcAft>
              <a:buNone/>
            </a:pPr>
            <a:r>
              <a:rPr lang="en-US" sz="3000" dirty="0">
                <a:solidFill>
                  <a:srgbClr val="111111"/>
                </a:solidFill>
                <a:latin typeface="Lato" pitchFamily="34" charset="0"/>
                <a:ea typeface="Lato" pitchFamily="34" charset="-122"/>
                <a:cs typeface="Lato" pitchFamily="34" charset="-120"/>
              </a:rPr>
              <a:t>Save it as ML09. Write two sentences: what you changed and how you checked it.</a:t>
            </a:r>
            <a:endParaRPr lang="en-US" sz="30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NameError: name 'np' is not defined</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numpy was not imported in this notebook session.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Run import numpy as np first.</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proportion is above 1</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You divided the whole by the part.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Divide the part by the whole.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The mean follows an extreme value, the median stays put, and a proportion needs its whole named.</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ML09 Mean, median, range and proportions</dc:title>
  <dc:subject>Machine Learning</dc:subject>
  <dc:creator>KLAi</dc:creator>
  <cp:lastModifiedBy>KLAi</cp:lastModifiedBy>
  <cp:revision>1</cp:revision>
  <dcterms:created xsi:type="dcterms:W3CDTF">2026-10-31T12:33:05Z</dcterms:created>
  <dcterms:modified xsi:type="dcterms:W3CDTF">2026-10-31T12:33:05Z</dcterms:modified>
</cp:coreProperties>
</file>