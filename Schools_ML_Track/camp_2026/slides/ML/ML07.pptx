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efa5a53-2c55-627a-55a6-97a05b1c56e7}">
          <p14:sldIdLst>
            <p14:sldId id="256"/>
            <p14:sldId id="257"/>
            <p14:sldId id="258"/>
            <p14:sldId id="259"/>
            <p14:sldId id="260"/>
            <p14:sldId id="261"/>
            <p14:sldId id="262"/>
          </p14:sldIdLst>
        </p14:section>
        <p14:section name="Block A" id="{f9be9843-8266-92de-5936-db125526a377}">
          <p14:sldIdLst>
            <p14:sldId id="263"/>
            <p14:sldId id="264"/>
            <p14:sldId id="265"/>
            <p14:sldId id="266"/>
            <p14:sldId id="268"/>
            <p14:sldId id="269"/>
          </p14:sldIdLst>
        </p14:section>
        <p14:section name="Break" id="{b7c64c52-4c8e-4562-3e20-53427f6056a0}">
          <p14:sldIdLst>
            <p14:sldId id="267"/>
          </p14:sldIdLst>
        </p14:section>
        <p14:section name="Block A" id="{72f92cdf-1903-58ee-e80b-983e669a1774}">
          <p14:sldIdLst/>
        </p14:section>
        <p14:section name="Block B" id="{9baaf54d-fc87-dcc4-999d-6e006d71cbbd}">
          <p14:sldIdLst>
            <p14:sldId id="270"/>
            <p14:sldId id="271"/>
            <p14:sldId id="272"/>
            <p14:sldId id="273"/>
            <p14:sldId id="274"/>
          </p14:sldIdLst>
        </p14:section>
        <p14:section name="Make and close" id="{3753c431-936c-c000-1999-11ffb8e41aa0}">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to see you. Today is session 7 and our topic is tables and reading a CSV file.
By the end of today you will be able to read a CSV file into a pandas table and say how many rows and columns it has.
We will answer one question: How many sales are in the practice shop file, and what does each one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the black box at the top. It is a plain text file, and each line is one sale of a book, a pen or a juice. The first line holds the names of the columns. Python reads that file and turns it into a table with rows and columns. At the bottom right is the size of the table: sixty rows and five columns. Today you learn to read this picture. The question is how many sales are in the file and what each one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3 hours go. Each bar is as long as the time we spend on that part.
First, 10 minutes. Recall. Then, 50 minutes. Block A. After that, 15 minutes. Break away from screens. Next, 50 minutes. Block B. Then, 40 minutes. Make. Then, 15 minutes. Exit ticket, save, and an individual check with each learner.
Notice how much of the time is yours. You listen for a short while and then you do. That is on purpose, because you learn this by doing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words for today. Listen for the picture that goes with each one.
row and column. A row is one record across the table. A column is one kind of fact down the table. Picture this. One line of a register and one heading of the register.
header. The name written at the top of each column. You have seen this before. The title above a column in an exercise book.
CSV file. A plain text file where each line is a row and commas split the columns. A register copied as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words to know before we start.
library and import. A library is code other people wrote. import loads it into your notebook. Think of a shop. Borrowing a toolbox from the workshop.
DataFrame. The pandas name for a table inside Python. Imagine it like this. A spreadsheet that lives in the notebook.
shape. The number of rows and columns, written as a pair. An example from everyday life. Counting how many lines and headings a register 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table is a grid. Each row across is one record, so here one row is one sale. Each column down is one kind of fact, such as the item or the number of units. The headers on top name the columns, so you never have to guess what a column holds.
Pick any cell in the picture. Say which row it is in and which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Python a table is called a DataFrame. You can build a small one by hand. Give it a list for each column, and the first item of every list lands in the first row.
Look at the code and predict how many rows the table will have. Count the items in one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pandas is a library for tables.
This is the part where you decide. Predict how many rows and columns the table has. Write it on paper. It does not have to be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see what happens. Match each line of the output with the line of code that made it.
The table has 3 rows and 2 columns, so shape prints (3, 2). The headers are item and units. import pandas as pd loads the library and gives it the short name pd. A table made this way is a DataFrame. The dot after sales reaches a property that belongs to that table.
Which line of the output matches which line of the code? Point to each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build a small table. I have two questions for you.
Question one. What does the first number of shape count? Give it thirty seconds and then we will hear a few answers.
What I would say is this. Rows. The second number counts columns.
Question two. Where do the headers come from? Talk it over with your neighbour for a minute.
Let me answer it. From the names in the curly brackets: item and units.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one thing and watch what happens. Add a fourth sale, Pen with 4 units, to both lists and run again. Then explain to your neighbour what the change did.
The result: shape becomes (4,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time. 15 minutes away from your screens. Stand up, drink some water and tell someone what you guessed in the first half.
When we come back we start the second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CSV file stores a table as simple text. Each line is one row and a comma separates the columns. Because it is plain text, any program can open it.
This term you will meet three of them. The shop file holds one sale on each row. The homes file holds one home on each row. Both are invented for practice, so they say nothing about real shops or real rents.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you read a file, ask for its shape. It gives two numbers. The first is the number of rows and the second is the number of columns.
For the shop file you should see sixty and five. If you see something else, you may have opened the wrong file, and it is better to find out now than after an hour of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camp_shop.csv sits beside your notebook. Read it into a table and look at the first rows.
Make a prediction. Predict how many rows camp_shop.csv has and which headers it shows. Put it on paper first. We will check it together in a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it now. Match each line of the output with the line of code that made it.
The table has 60 rows and 5 columns, so shape prints (60, 5). The headers are sale_id, date, item, units and unit_price_ugx. read_csv reads the file into a DataFrame and head shows its first five rows. The unit of money is in the header: unit_price_ugx is in shillings.
Keep your guess. We use it in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read the practice shop file. I have two questions for you.
Question one. Why is the unit written in the header name unit_price_ugx? Talk it over with your neighbour for a minute.
Let me answer it. A number without a unit is easy to misread. The header says the price is in shillings.
Question two. What do the 60 rows stand for? Think about it for a moment, then tell the person next to you.
The answer is this. Sixty sales. Each row is one sale.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one small change. Show the first 10 rows by writing 10 inside the brackets of head. When you have run it, tell your neighbour what changed and how you know.
Here is what happens. Ten rows 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path again. A text file holds the sales. One line of pandas reads it into a table. One more line reports the shape.
In the next session you will ask this table questions, starting with which item earns the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you do the real work yourself. Start with the first step. If you get stuck for a few minutes, read your error message, check the error card, and then ask me.
Save it as ML07. I will come round to each of you and ask what you changed and how you checked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are likely to go wrong today. It helps to know them before they happen.
This is the first one. You will see: FileNotFoundError: No such file or directory. It means this: the CSV file is not beside the notebook. To fix it, move the file into the same folder as the notebook, or ask the instructor.
The next one. You will see: ModuleNotFoundError: No module named 'pandas'. It means this: the prepared camp environment is not active. To fix it, tell the instructor. Do not install packages.
If you meet one of these, fix it and carry on. It happens to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finish, go back to the question we began with: How many sales are in the practice shop file, and what does each one record?
Copy this sentence into your notebook and make it yours. A CSV file becomes a table of rows and columns, and shape tells me how big it is.
Then save your notebook, close it and open it again to check it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LAI_LIGHT">
    <p:bg>
      <p:bgPr>
        <a:solidFill>
          <a:srgbClr val="FFFFFF"/>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white_cropped.png">    </p:cNvPr>
          <p:cNvPicPr>
            <a:picLocks noChangeAspect="1"/>
          </p:cNvPicPr>
          <p:nvPr/>
        </p:nvPicPr>
        <p:blipFill>
          <a:blip r:embed="rId1"/>
          <a:stretch>
            <a:fillRect/>
          </a:stretch>
        </p:blipFill>
        <p:spPr>
          <a:xfrm>
            <a:off x="640080" y="6419088"/>
            <a:ext cx="772668" cy="246888"/>
          </a:xfrm>
          <a:prstGeom prst="rect">
            <a:avLst/>
          </a:prstGeom>
        </p:spPr>
      </p:pic>
      <p:sp>
        <p:nvSpPr>
          <p:cNvPr id="3" name="Text 0"/>
          <p:cNvSpPr/>
          <p:nvPr/>
        </p:nvSpPr>
        <p:spPr>
          <a:xfrm>
            <a:off x="1641348" y="6400800"/>
            <a:ext cx="8229600" cy="274320"/>
          </a:xfrm>
          <a:prstGeom prst="rect">
            <a:avLst/>
          </a:prstGeom>
          <a:noFill/>
          <a:ln/>
        </p:spPr>
        <p:txBody>
          <a:bodyPr wrap="square" lIns="0" tIns="0" rIns="0" bIns="0" rtlCol="0" anchor="ctr"/>
          <a:lstStyle/>
          <a:p>
            <a:pPr indent="0" marL="0">
              <a:buNone/>
            </a:pPr>
            <a:r>
              <a:rPr lang="en-US" sz="1200" dirty="0">
                <a:solidFill>
                  <a:srgbClr val="666666"/>
                </a:solidFill>
                <a:latin typeface="Lato" pitchFamily="34" charset="0"/>
                <a:ea typeface="Lato" pitchFamily="34" charset="-122"/>
                <a:cs typeface="Lato" pitchFamily="34" charset="-120"/>
              </a:rPr>
              <a:t>ML07  |  Tables and reading a CSV file</a:t>
            </a:r>
            <a:endParaRPr lang="en-US" sz="1200" dirty="0"/>
          </a:p>
        </p:txBody>
      </p:sp>
      <p:sp>
        <p:nvSpPr>
          <p:cNvPr id="4" name="Text 1"/>
          <p:cNvSpPr/>
          <p:nvPr>
            <p:ph idx="102" type="title" hasCustomPrompt="1"/>
          </p:nvPr>
        </p:nvSpPr>
        <p:spPr>
          <a:xfrm>
            <a:off x="640080" y="384048"/>
            <a:ext cx="10881360" cy="1051560"/>
          </a:xfrm>
          <a:prstGeom prst="rect">
            <a:avLst/>
          </a:prstGeom>
          <a:noFill/>
          <a:ln/>
        </p:spPr>
        <p:txBody>
          <a:bodyPr wrap="square" rtlCol="0"/>
          <a:lstStyle>
            <a:lvl1pPr algn="l" indent="0" marL="0">
              <a:buNone/>
              <a:defRPr lang="en-US" b="1" dirty="0">
                <a:solidFill>
                  <a:srgbClr val="111111"/>
                </a:solidFill>
                <a:latin typeface="Lato" pitchFamily="34" charset="0"/>
                <a:ea typeface="Lato" pitchFamily="34" charset="-122"/>
                <a:cs typeface="Lato"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LAI_DARK">
    <p:bg>
      <p:bgPr>
        <a:solidFill>
          <a:srgbClr val="000000"/>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black_cropped.png">    </p:cNvPr>
          <p:cNvPicPr>
            <a:picLocks noChangeAspect="1"/>
          </p:cNvPicPr>
          <p:nvPr/>
        </p:nvPicPr>
        <p:blipFill>
          <a:blip r:embed="rId1"/>
          <a:stretch>
            <a:fillRect/>
          </a:stretch>
        </p:blipFill>
        <p:spPr>
          <a:xfrm>
            <a:off x="640080" y="548640"/>
            <a:ext cx="1774850" cy="566928"/>
          </a:xfrm>
          <a:prstGeom prst="rect">
            <a:avLst/>
          </a:prstGeom>
        </p:spPr>
      </p:pic>
      <p:sp>
        <p:nvSpPr>
          <p:cNvPr id="3" name="Text 0"/>
          <p:cNvSpPr/>
          <p:nvPr>
            <p:ph idx="101" type="title" hasCustomPrompt="1"/>
          </p:nvPr>
        </p:nvSpPr>
        <p:spPr>
          <a:xfrm>
            <a:off x="640080" y="2103120"/>
            <a:ext cx="10607040" cy="2286000"/>
          </a:xfrm>
          <a:prstGeom prst="rect">
            <a:avLst/>
          </a:prstGeom>
          <a:noFill/>
          <a:ln/>
        </p:spPr>
        <p:txBody>
          <a:bodyPr wrap="square" rtlCol="0"/>
          <a:lstStyle>
            <a:lvl1pPr algn="l" indent="0" marL="0">
              <a:buNone/>
              <a:defRPr lang="en-US" b="1" dirty="0">
                <a:solidFill>
                  <a:srgbClr val="FFFFFF"/>
                </a:solidFill>
                <a:latin typeface="Lato" pitchFamily="34" charset="0"/>
                <a:ea typeface="Lato" pitchFamily="34" charset="-122"/>
                <a:cs typeface="Lato" pitchFamily="34" charset="-120"/>
              </a:defRPr>
            </a:lvl1pPr>
          </a:lstStyle>
          <a:p>
            <a:pPr algn="l"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1.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600" b="1" dirty="0">
                <a:solidFill>
                  <a:srgbClr val="FFFFFF"/>
                </a:solidFill>
                <a:latin typeface="Lato" pitchFamily="34" charset="0"/>
                <a:ea typeface="Lato" pitchFamily="34" charset="-122"/>
                <a:cs typeface="Lato" pitchFamily="34" charset="-120"/>
              </a:rPr>
              <a:t>Tables and reading a CSV file</a:t>
            </a:r>
            <a:endParaRPr lang="en-US" sz="5600" dirty="0"/>
          </a:p>
        </p:txBody>
      </p:sp>
      <p:sp>
        <p:nvSpPr>
          <p:cNvPr id="3" name="Text 1"/>
          <p:cNvSpPr txBox="1"/>
          <p:nvPr/>
        </p:nvSpPr>
        <p:spPr>
          <a:xfrm>
            <a:off x="640080" y="3388360"/>
            <a:ext cx="10241280" cy="1188720"/>
          </a:xfrm>
          <a:prstGeom prst="rect">
            <a:avLst/>
          </a:prstGeom>
          <a:noFill/>
          <a:ln/>
        </p:spPr>
        <p:txBody>
          <a:bodyPr wrap="square" lIns="0" tIns="0" rIns="0" bIns="0" rtlCol="0" anchor="t"/>
          <a:lstStyle/>
          <a:p>
            <a:pPr algn="l" indent="0" marL="0">
              <a:lnSpc>
                <a:spcPts val="3600"/>
              </a:lnSpc>
              <a:buNone/>
            </a:pPr>
            <a:r>
              <a:rPr lang="en-US" sz="3000" i="1" dirty="0">
                <a:solidFill>
                  <a:srgbClr val="E0BE36"/>
                </a:solidFill>
                <a:latin typeface="Lato" pitchFamily="34" charset="0"/>
                <a:ea typeface="Lato" pitchFamily="34" charset="-122"/>
                <a:cs typeface="Lato" pitchFamily="34" charset="-120"/>
              </a:rPr>
              <a:t>How many sales are in the practice shop file, and what does each one record?</a:t>
            </a:r>
            <a:endParaRPr lang="en-US" sz="3000" dirty="0"/>
          </a:p>
        </p:txBody>
      </p:sp>
      <p:sp>
        <p:nvSpPr>
          <p:cNvPr id="4" name="Text 2"/>
          <p:cNvSpPr txBox="1"/>
          <p:nvPr/>
        </p:nvSpPr>
        <p:spPr>
          <a:xfrm>
            <a:off x="640080" y="5989320"/>
            <a:ext cx="10789920" cy="457200"/>
          </a:xfrm>
          <a:prstGeom prst="rect">
            <a:avLst/>
          </a:prstGeom>
          <a:noFill/>
          <a:ln/>
        </p:spPr>
        <p:txBody>
          <a:bodyPr wrap="square" lIns="0" tIns="0" rIns="0" bIns="0" rtlCol="0" anchor="t"/>
          <a:lstStyle/>
          <a:p>
            <a:pPr algn="l" indent="0" marL="0">
              <a:lnSpc>
                <a:spcPts val="2320"/>
              </a:lnSpc>
              <a:buNone/>
            </a:pPr>
            <a:r>
              <a:rPr lang="en-US" sz="1600" dirty="0">
                <a:solidFill>
                  <a:srgbClr val="B5B5B5"/>
                </a:solidFill>
                <a:latin typeface="Lato" pitchFamily="34" charset="0"/>
                <a:ea typeface="Lato" pitchFamily="34" charset="-122"/>
                <a:cs typeface="Lato" pitchFamily="34" charset="-120"/>
              </a:rPr>
              <a:t>Machine Learning  |  Session 7 of 24  |  Week 3, Tables and statistics</a:t>
            </a:r>
            <a:endParaRPr lang="en-US" sz="1600" dirty="0"/>
          </a:p>
          <a:p>
            <a:pPr algn="l" indent="0" marL="0">
              <a:lnSpc>
                <a:spcPts val="2320"/>
              </a:lnSpc>
              <a:buNone/>
            </a:pPr>
            <a:r>
              <a:rPr lang="en-US" sz="1600" dirty="0">
                <a:solidFill>
                  <a:srgbClr val="B5B5B5"/>
                </a:solidFill>
                <a:latin typeface="Lato" pitchFamily="34" charset="0"/>
                <a:ea typeface="Lato" pitchFamily="34" charset="-122"/>
                <a:cs typeface="Lato" pitchFamily="34" charset="-120"/>
              </a:rPr>
              <a:t>Holiday Data and AI Camp  |  The National ICT Innovation Hub, Nakawa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How many sales are in the practice shop</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file, and what does each one record?</a:t>
            </a:r>
            <a:endParaRPr lang="en-US" sz="3600" dirty="0"/>
          </a:p>
        </p:txBody>
      </p:sp>
      <p:pic>
        <p:nvPicPr>
          <p:cNvPr id="3" name="Image 0" descr="A CSV file of sales turned into a table of 60 rows and 5 columns">    </p:cNvPr>
          <p:cNvPicPr>
            <a:picLocks noChangeAspect="1"/>
          </p:cNvPicPr>
          <p:nvPr/>
        </p:nvPicPr>
        <p:blipFill>
          <a:blip r:embed="rId1"/>
          <a:stretch>
            <a:fillRect/>
          </a:stretch>
        </p:blipFill>
        <p:spPr>
          <a:xfrm>
            <a:off x="640080" y="1691640"/>
            <a:ext cx="10881360" cy="43434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Three hours, mostly doing</a:t>
            </a:r>
            <a:endParaRPr lang="en-US" sz="3800" dirty="0"/>
          </a:p>
        </p:txBody>
      </p:sp>
      <p:pic>
        <p:nvPicPr>
          <p:cNvPr id="3" name="Image 0" descr="The plan for the session: start time, minutes and what we do">    </p:cNvPr>
          <p:cNvPicPr>
            <a:picLocks noChangeAspect="1"/>
          </p:cNvPicPr>
          <p:nvPr/>
        </p:nvPicPr>
        <p:blipFill>
          <a:blip r:embed="rId1"/>
          <a:stretch>
            <a:fillRect/>
          </a:stretch>
        </p:blipFill>
        <p:spPr>
          <a:xfrm>
            <a:off x="640080" y="1600200"/>
            <a:ext cx="10881360" cy="4133088"/>
          </a:xfrm>
          <a:prstGeom prst="rect">
            <a:avLst/>
          </a:prstGeom>
        </p:spPr>
      </p:pic>
      <p:sp>
        <p:nvSpPr>
          <p:cNvPr id="4" name="Text 1"/>
          <p:cNvSpPr txBox="1"/>
          <p:nvPr/>
        </p:nvSpPr>
        <p:spPr>
          <a:xfrm>
            <a:off x="640080" y="5852160"/>
            <a:ext cx="10881360" cy="45720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Most of our time is spent doing, in small steps, with a guess before every run.</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(1 of 2)</a:t>
            </a:r>
            <a:endParaRPr lang="en-US" sz="3800" dirty="0"/>
          </a:p>
        </p:txBody>
      </p:sp>
      <p:pic>
        <p:nvPicPr>
          <p:cNvPr id="3" name="Image 0" descr="row and column">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3480"/>
              </a:lnSpc>
              <a:buNone/>
            </a:pPr>
            <a:r>
              <a:rPr lang="en-US" sz="2900" b="1" dirty="0">
                <a:solidFill>
                  <a:srgbClr val="111111"/>
                </a:solidFill>
                <a:latin typeface="Lato" pitchFamily="34" charset="0"/>
                <a:ea typeface="Lato" pitchFamily="34" charset="-122"/>
                <a:cs typeface="Lato" pitchFamily="34" charset="-120"/>
              </a:rPr>
              <a:t>row and column</a:t>
            </a:r>
            <a:endParaRPr lang="en-US" sz="29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row is one record across the table. A column is one kind of fact down the table.</a:t>
            </a:r>
            <a:endParaRPr lang="en-US" sz="2200" dirty="0"/>
          </a:p>
        </p:txBody>
      </p:sp>
      <p:sp>
        <p:nvSpPr>
          <p:cNvPr id="6" name="Text 3"/>
          <p:cNvSpPr txBox="1"/>
          <p:nvPr/>
        </p:nvSpPr>
        <p:spPr>
          <a:xfrm>
            <a:off x="5120640" y="254508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One line of a register and one heading of the register.</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header">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header</a:t>
            </a:r>
            <a:endParaRPr lang="en-US" sz="34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The name written at the top of each column.</a:t>
            </a:r>
            <a:endParaRPr lang="en-US" sz="2200" dirty="0"/>
          </a:p>
        </p:txBody>
      </p:sp>
      <p:sp>
        <p:nvSpPr>
          <p:cNvPr id="11" name="Text 7"/>
          <p:cNvSpPr txBox="1"/>
          <p:nvPr/>
        </p:nvSpPr>
        <p:spPr>
          <a:xfrm>
            <a:off x="5120640" y="369112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title above a column in an exercise book.</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CSV file">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CSV file</a:t>
            </a:r>
            <a:endParaRPr lang="en-US" sz="34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plain text file where each line is a row and commas split the columns.</a:t>
            </a:r>
            <a:endParaRPr lang="en-US" sz="2200" dirty="0"/>
          </a:p>
        </p:txBody>
      </p:sp>
      <p:sp>
        <p:nvSpPr>
          <p:cNvPr id="16" name="Text 11"/>
          <p:cNvSpPr txBox="1"/>
          <p:nvPr/>
        </p:nvSpPr>
        <p:spPr>
          <a:xfrm>
            <a:off x="5120640" y="550773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register copied as text.</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(2 of 2)</a:t>
            </a:r>
            <a:endParaRPr lang="en-US" sz="3800" dirty="0"/>
          </a:p>
        </p:txBody>
      </p:sp>
      <p:pic>
        <p:nvPicPr>
          <p:cNvPr id="3" name="Image 0" descr="library and import">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2880"/>
              </a:lnSpc>
              <a:buNone/>
            </a:pPr>
            <a:r>
              <a:rPr lang="en-US" sz="2400" b="1" dirty="0">
                <a:solidFill>
                  <a:srgbClr val="111111"/>
                </a:solidFill>
                <a:latin typeface="Lato" pitchFamily="34" charset="0"/>
                <a:ea typeface="Lato" pitchFamily="34" charset="-122"/>
                <a:cs typeface="Lato" pitchFamily="34" charset="-120"/>
              </a:rPr>
              <a:t>library and import</a:t>
            </a:r>
            <a:endParaRPr lang="en-US" sz="2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library is code other people wrote. import loads it into your notebook.</a:t>
            </a:r>
            <a:endParaRPr lang="en-US" sz="2200" dirty="0"/>
          </a:p>
        </p:txBody>
      </p:sp>
      <p:sp>
        <p:nvSpPr>
          <p:cNvPr id="6" name="Text 3"/>
          <p:cNvSpPr txBox="1"/>
          <p:nvPr/>
        </p:nvSpPr>
        <p:spPr>
          <a:xfrm>
            <a:off x="5120640" y="254508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Borrowing a toolbox from the workshop.</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DataFrame">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DataFrame</a:t>
            </a:r>
            <a:endParaRPr lang="en-US" sz="34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The pandas name for a table inside Python.</a:t>
            </a:r>
            <a:endParaRPr lang="en-US" sz="2200" dirty="0"/>
          </a:p>
        </p:txBody>
      </p:sp>
      <p:sp>
        <p:nvSpPr>
          <p:cNvPr id="11" name="Text 7"/>
          <p:cNvSpPr txBox="1"/>
          <p:nvPr/>
        </p:nvSpPr>
        <p:spPr>
          <a:xfrm>
            <a:off x="5120640" y="369112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spreadsheet that lives in the notebook.</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shape">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shape</a:t>
            </a:r>
            <a:endParaRPr lang="en-US" sz="34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The number of rows and columns, written as a pair.</a:t>
            </a:r>
            <a:endParaRPr lang="en-US" sz="2200" dirty="0"/>
          </a:p>
        </p:txBody>
      </p:sp>
      <p:sp>
        <p:nvSpPr>
          <p:cNvPr id="16" name="Text 11"/>
          <p:cNvSpPr txBox="1"/>
          <p:nvPr/>
        </p:nvSpPr>
        <p:spPr>
          <a:xfrm>
            <a:off x="5120640" y="550773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Counting how many lines and headings a register has.</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One row is one record, one</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column one kind of fact</a:t>
            </a:r>
            <a:endParaRPr lang="en-US" sz="3600" dirty="0"/>
          </a:p>
        </p:txBody>
      </p:sp>
      <p:pic>
        <p:nvPicPr>
          <p:cNvPr id="3" name="Image 0" descr="One row is one record, one column one kind of fact">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Headers name the columns.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Each row records one sale.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Every cell sits in one row and one column.</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Three short lists become a</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table with one line of code</a:t>
            </a:r>
            <a:endParaRPr lang="en-US" sz="3600" dirty="0"/>
          </a:p>
        </p:txBody>
      </p:sp>
      <p:pic>
        <p:nvPicPr>
          <p:cNvPr id="3" name="Image 0" descr="Three short lists become a table with one line of code">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Each list becomes one column.</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Python fills in the row numbers.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table is called a DataFrame.</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Build a small table</a:t>
            </a:r>
            <a:endParaRPr lang="en-US" sz="3800" dirty="0"/>
          </a:p>
        </p:txBody>
      </p:sp>
      <p:sp>
        <p:nvSpPr>
          <p:cNvPr id="3" name="Shape 1"/>
          <p:cNvSpPr/>
          <p:nvPr/>
        </p:nvSpPr>
        <p:spPr>
          <a:xfrm>
            <a:off x="640080" y="1645920"/>
            <a:ext cx="10881360" cy="2618232"/>
          </a:xfrm>
          <a:prstGeom prst="roundRect">
            <a:avLst>
              <a:gd name="adj" fmla="val 2794"/>
            </a:avLst>
          </a:prstGeom>
          <a:solidFill>
            <a:srgbClr val="111111"/>
          </a:solidFill>
          <a:ln/>
        </p:spPr>
      </p:sp>
      <p:sp>
        <p:nvSpPr>
          <p:cNvPr id="4" name="Text 2"/>
          <p:cNvSpPr txBox="1"/>
          <p:nvPr/>
        </p:nvSpPr>
        <p:spPr>
          <a:xfrm>
            <a:off x="841248" y="1847088"/>
            <a:ext cx="10479024" cy="2215896"/>
          </a:xfrm>
          <a:prstGeom prst="rect">
            <a:avLst/>
          </a:prstGeom>
          <a:noFill/>
          <a:ln/>
        </p:spPr>
        <p:txBody>
          <a:bodyPr wrap="square" lIns="0" tIns="0" rIns="0" bIns="0" rtlCol="0" anchor="t"/>
          <a:lstStyle/>
          <a:p>
            <a:pPr algn="l" indent="0" marL="0">
              <a:lnSpc>
                <a:spcPts val="2860"/>
              </a:lnSpc>
              <a:buNone/>
            </a:pPr>
            <a:r>
              <a:rPr lang="en-US" sz="2200" b="1" dirty="0">
                <a:solidFill>
                  <a:srgbClr val="FFFFFF"/>
                </a:solidFill>
                <a:latin typeface="Courier New" pitchFamily="34" charset="0"/>
                <a:ea typeface="Courier New" pitchFamily="34" charset="-122"/>
                <a:cs typeface="Courier New" pitchFamily="34" charset="-120"/>
              </a:rPr>
              <a:t>import</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pandas </a:t>
            </a:r>
            <a:pPr algn="l" indent="0" marL="0">
              <a:lnSpc>
                <a:spcPts val="2860"/>
              </a:lnSpc>
              <a:buNone/>
            </a:pPr>
            <a:r>
              <a:rPr lang="en-US" sz="2200" b="1" dirty="0">
                <a:solidFill>
                  <a:srgbClr val="FFFFFF"/>
                </a:solidFill>
                <a:latin typeface="Courier New" pitchFamily="34" charset="0"/>
                <a:ea typeface="Courier New" pitchFamily="34" charset="-122"/>
                <a:cs typeface="Courier New" pitchFamily="34" charset="-120"/>
              </a:rPr>
              <a:t>as</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pd</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sales = pd.DataFrame(</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"item"</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"Book"</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"Pen"</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"Book"</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"units"</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[2, 5, 3]}</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print(sales)</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print(sales.shape)</a:t>
            </a:r>
            <a:endParaRPr lang="en-US" sz="2200" dirty="0"/>
          </a:p>
        </p:txBody>
      </p:sp>
      <p:sp>
        <p:nvSpPr>
          <p:cNvPr id="5" name="Text 3"/>
          <p:cNvSpPr txBox="1"/>
          <p:nvPr/>
        </p:nvSpPr>
        <p:spPr>
          <a:xfrm>
            <a:off x="640080" y="4447032"/>
            <a:ext cx="8046720" cy="1816608"/>
          </a:xfrm>
          <a:prstGeom prst="rect">
            <a:avLst/>
          </a:prstGeom>
          <a:noFill/>
          <a:ln/>
        </p:spPr>
        <p:txBody>
          <a:bodyPr wrap="square" lIns="0" tIns="0" rIns="0" bIns="0" rtlCol="0" anchor="t"/>
          <a:lstStyle/>
          <a:p>
            <a:pPr algn="l" indent="0" marL="0">
              <a:lnSpc>
                <a:spcPts val="3120"/>
              </a:lnSpc>
              <a:spcAft>
                <a:spcPts val="1010"/>
              </a:spcAft>
              <a:buNone/>
            </a:pPr>
            <a:r>
              <a:rPr lang="en-US" sz="2600" dirty="0">
                <a:solidFill>
                  <a:srgbClr val="111111"/>
                </a:solidFill>
                <a:latin typeface="Lato" pitchFamily="34" charset="0"/>
                <a:ea typeface="Lato" pitchFamily="34" charset="-122"/>
                <a:cs typeface="Lato" pitchFamily="34" charset="-120"/>
              </a:rPr>
              <a:t>Predict how many rows and columns the table has.</a:t>
            </a:r>
            <a:endParaRPr lang="en-US" sz="2600" dirty="0"/>
          </a:p>
          <a:p>
            <a:pPr algn="l" indent="0" marL="0">
              <a:lnSpc>
                <a:spcPts val="3120"/>
              </a:lnSpc>
              <a:spcAft>
                <a:spcPts val="1010"/>
              </a:spcAft>
              <a:buNone/>
            </a:pPr>
            <a:r>
              <a:rPr lang="en-US" sz="2600" dirty="0">
                <a:solidFill>
                  <a:srgbClr val="111111"/>
                </a:solidFill>
                <a:latin typeface="Lato" pitchFamily="34" charset="0"/>
                <a:ea typeface="Lato" pitchFamily="34" charset="-122"/>
                <a:cs typeface="Lato" pitchFamily="34" charset="-120"/>
              </a:rPr>
              <a:t>Write your guess on paper before we run it.</a:t>
            </a:r>
            <a:endParaRPr lang="en-US" sz="2600" dirty="0"/>
          </a:p>
        </p:txBody>
      </p:sp>
      <p:pic>
        <p:nvPicPr>
          <p:cNvPr id="6" name="Image 0" descr="A page and a pen">    </p:cNvPr>
          <p:cNvPicPr>
            <a:picLocks noChangeAspect="1"/>
          </p:cNvPicPr>
          <p:nvPr/>
        </p:nvPicPr>
        <p:blipFill>
          <a:blip r:embed="rId1"/>
          <a:stretch>
            <a:fillRect/>
          </a:stretch>
        </p:blipFill>
        <p:spPr>
          <a:xfrm>
            <a:off x="10241280" y="5031486"/>
            <a:ext cx="1188720" cy="1046988"/>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Build a small table</a:t>
            </a:r>
            <a:endParaRPr lang="en-US" sz="3800" dirty="0"/>
          </a:p>
        </p:txBody>
      </p:sp>
      <p:sp>
        <p:nvSpPr>
          <p:cNvPr id="3" name="Shape 1"/>
          <p:cNvSpPr/>
          <p:nvPr/>
        </p:nvSpPr>
        <p:spPr>
          <a:xfrm>
            <a:off x="640080" y="1645920"/>
            <a:ext cx="6035040" cy="2218436"/>
          </a:xfrm>
          <a:prstGeom prst="roundRect">
            <a:avLst>
              <a:gd name="adj" fmla="val 3297"/>
            </a:avLst>
          </a:prstGeom>
          <a:solidFill>
            <a:srgbClr val="FFFFFF"/>
          </a:solidFill>
          <a:ln w="15875">
            <a:solidFill>
              <a:srgbClr val="111111"/>
            </a:solidFill>
            <a:prstDash val="solid"/>
          </a:ln>
        </p:spPr>
      </p:sp>
      <p:sp>
        <p:nvSpPr>
          <p:cNvPr id="4" name="Text 2"/>
          <p:cNvSpPr txBox="1"/>
          <p:nvPr/>
        </p:nvSpPr>
        <p:spPr>
          <a:xfrm>
            <a:off x="822960" y="1828800"/>
            <a:ext cx="5669280" cy="1852676"/>
          </a:xfrm>
          <a:prstGeom prst="rect">
            <a:avLst/>
          </a:prstGeom>
          <a:noFill/>
          <a:ln/>
        </p:spPr>
        <p:txBody>
          <a:bodyPr wrap="square" lIns="0" tIns="0" rIns="0" bIns="0" rtlCol="0" anchor="t"/>
          <a:lstStyle/>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   item  units</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0  Book      2</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1   Pen      5</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2  Book      3</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(3, 2)</a:t>
            </a:r>
            <a:endParaRPr lang="en-US" sz="2200" dirty="0"/>
          </a:p>
        </p:txBody>
      </p:sp>
      <p:sp>
        <p:nvSpPr>
          <p:cNvPr id="5" name="Text 3"/>
          <p:cNvSpPr txBox="1"/>
          <p:nvPr/>
        </p:nvSpPr>
        <p:spPr>
          <a:xfrm>
            <a:off x="7040880" y="1737360"/>
            <a:ext cx="4480560" cy="4389120"/>
          </a:xfrm>
          <a:prstGeom prst="rect">
            <a:avLst/>
          </a:prstGeom>
          <a:noFill/>
          <a:ln/>
        </p:spPr>
        <p:txBody>
          <a:bodyPr wrap="square" lIns="0" tIns="0" rIns="0" bIns="0" rtlCol="0" anchor="t"/>
          <a:lstStyle/>
          <a:p>
            <a:pPr algn="l" indent="0" marL="0">
              <a:lnSpc>
                <a:spcPts val="2880"/>
              </a:lnSpc>
              <a:spcAft>
                <a:spcPts val="1580"/>
              </a:spcAft>
              <a:buNone/>
            </a:pPr>
            <a:r>
              <a:rPr lang="en-US" sz="2400" dirty="0">
                <a:solidFill>
                  <a:srgbClr val="111111"/>
                </a:solidFill>
                <a:latin typeface="Lato" pitchFamily="34" charset="0"/>
                <a:ea typeface="Lato" pitchFamily="34" charset="-122"/>
                <a:cs typeface="Lato" pitchFamily="34" charset="-120"/>
              </a:rPr>
              <a:t>The table has 3 rows and 2 columns, so shape prints (3, 2).</a:t>
            </a:r>
            <a:endParaRPr lang="en-US" sz="2400" dirty="0"/>
          </a:p>
          <a:p>
            <a:pPr algn="l" indent="0" marL="0">
              <a:lnSpc>
                <a:spcPts val="2880"/>
              </a:lnSpc>
              <a:spcAft>
                <a:spcPts val="1580"/>
              </a:spcAft>
              <a:buNone/>
            </a:pPr>
            <a:r>
              <a:rPr lang="en-US" sz="2400" dirty="0">
                <a:solidFill>
                  <a:srgbClr val="111111"/>
                </a:solidFill>
                <a:latin typeface="Lato" pitchFamily="34" charset="0"/>
                <a:ea typeface="Lato" pitchFamily="34" charset="-122"/>
                <a:cs typeface="Lato" pitchFamily="34" charset="-120"/>
              </a:rPr>
              <a:t>The headers are item and units.</a:t>
            </a:r>
            <a:endParaRPr lang="en-US" sz="2400" dirty="0"/>
          </a:p>
          <a:p>
            <a:pPr algn="l" indent="0" marL="0">
              <a:lnSpc>
                <a:spcPts val="2880"/>
              </a:lnSpc>
              <a:spcAft>
                <a:spcPts val="1580"/>
              </a:spcAft>
              <a:buNone/>
            </a:pPr>
            <a:r>
              <a:rPr lang="en-US" sz="2400" dirty="0">
                <a:solidFill>
                  <a:srgbClr val="111111"/>
                </a:solidFill>
                <a:latin typeface="Lato" pitchFamily="34" charset="0"/>
                <a:ea typeface="Lato" pitchFamily="34" charset="-122"/>
                <a:cs typeface="Lato" pitchFamily="34" charset="-120"/>
              </a:rPr>
              <a:t>import pandas as pd loads the library and gives it the short name pd.</a:t>
            </a:r>
            <a:endParaRPr lang="en-US" sz="2400" dirty="0"/>
          </a:p>
          <a:p>
            <a:pPr algn="l" indent="0" marL="0">
              <a:lnSpc>
                <a:spcPts val="2880"/>
              </a:lnSpc>
              <a:spcAft>
                <a:spcPts val="1580"/>
              </a:spcAft>
              <a:buNone/>
            </a:pPr>
            <a:r>
              <a:rPr lang="en-US" sz="2400" dirty="0">
                <a:solidFill>
                  <a:srgbClr val="111111"/>
                </a:solidFill>
                <a:latin typeface="Lato" pitchFamily="34" charset="0"/>
                <a:ea typeface="Lato" pitchFamily="34" charset="-122"/>
                <a:cs typeface="Lato" pitchFamily="34" charset="-120"/>
              </a:rPr>
              <a:t>A table made this way is a DataFrame.</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Build a small table</a:t>
            </a:r>
            <a:endParaRPr lang="en-US" sz="3800" dirty="0"/>
          </a:p>
        </p:txBody>
      </p:sp>
      <p:pic>
        <p:nvPicPr>
          <p:cNvPr id="3" name="Image 0" descr="Look closely">    </p:cNvPr>
          <p:cNvPicPr>
            <a:picLocks noChangeAspect="1"/>
          </p:cNvPicPr>
          <p:nvPr/>
        </p:nvPicPr>
        <p:blipFill>
          <a:blip r:embed="rId1"/>
          <a:stretch>
            <a:fillRect/>
          </a:stretch>
        </p:blipFill>
        <p:spPr>
          <a:xfrm>
            <a:off x="9875520" y="4480560"/>
            <a:ext cx="1645920" cy="1645920"/>
          </a:xfrm>
          <a:prstGeom prst="rect">
            <a:avLst/>
          </a:prstGeom>
        </p:spPr>
      </p:pic>
      <p:sp>
        <p:nvSpPr>
          <p:cNvPr id="4" name="Text 1"/>
          <p:cNvSpPr txBox="1"/>
          <p:nvPr/>
        </p:nvSpPr>
        <p:spPr>
          <a:xfrm>
            <a:off x="640080" y="1737360"/>
            <a:ext cx="896112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What does the first number of shape count?</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Where do the headers come from?</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Add a fourth sale, Pen with 4 units, to both lists and run again.</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sp>
        <p:nvSpPr>
          <p:cNvPr id="4" name="Shape 2"/>
          <p:cNvSpPr/>
          <p:nvPr/>
        </p:nvSpPr>
        <p:spPr>
          <a:xfrm>
            <a:off x="7223760" y="1737360"/>
            <a:ext cx="4297680" cy="2981452"/>
          </a:xfrm>
          <a:prstGeom prst="roundRect">
            <a:avLst>
              <a:gd name="adj" fmla="val 2454"/>
            </a:avLst>
          </a:prstGeom>
          <a:solidFill>
            <a:srgbClr val="111111"/>
          </a:solidFill>
          <a:ln/>
        </p:spPr>
      </p:sp>
      <p:sp>
        <p:nvSpPr>
          <p:cNvPr id="5" name="Text 3"/>
          <p:cNvSpPr txBox="1"/>
          <p:nvPr/>
        </p:nvSpPr>
        <p:spPr>
          <a:xfrm>
            <a:off x="7424928" y="1938528"/>
            <a:ext cx="3895344" cy="2579116"/>
          </a:xfrm>
          <a:prstGeom prst="rect">
            <a:avLst/>
          </a:prstGeom>
          <a:noFill/>
          <a:ln/>
        </p:spPr>
        <p:txBody>
          <a:bodyPr wrap="square" lIns="0" tIns="0" rIns="0" bIns="0" rtlCol="0" anchor="t"/>
          <a:lstStyle/>
          <a:p>
            <a:pPr algn="l" indent="0" marL="0">
              <a:lnSpc>
                <a:spcPts val="1820"/>
              </a:lnSpc>
              <a:buNone/>
            </a:pPr>
            <a:r>
              <a:rPr lang="en-US" sz="1400" b="1" dirty="0">
                <a:solidFill>
                  <a:srgbClr val="FFFFFF"/>
                </a:solidFill>
                <a:latin typeface="Courier New" pitchFamily="34" charset="0"/>
                <a:ea typeface="Courier New" pitchFamily="34" charset="-122"/>
                <a:cs typeface="Courier New" pitchFamily="34" charset="-120"/>
              </a:rPr>
              <a:t>import</a:t>
            </a:r>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 pandas </a:t>
            </a:r>
            <a:pPr algn="l" indent="0" marL="0">
              <a:lnSpc>
                <a:spcPts val="1820"/>
              </a:lnSpc>
              <a:buNone/>
            </a:pPr>
            <a:r>
              <a:rPr lang="en-US" sz="1400" b="1" dirty="0">
                <a:solidFill>
                  <a:srgbClr val="FFFFFF"/>
                </a:solidFill>
                <a:latin typeface="Courier New" pitchFamily="34" charset="0"/>
                <a:ea typeface="Courier New" pitchFamily="34" charset="-122"/>
                <a:cs typeface="Courier New" pitchFamily="34" charset="-120"/>
              </a:rPr>
              <a:t>as</a:t>
            </a:r>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 pd</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sales = pd.DataFrame(</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    {</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        </a:t>
            </a:r>
            <a:pPr algn="l" indent="0" marL="0">
              <a:lnSpc>
                <a:spcPts val="1820"/>
              </a:lnSpc>
              <a:buNone/>
            </a:pPr>
            <a:r>
              <a:rPr lang="en-US" sz="1400" dirty="0">
                <a:solidFill>
                  <a:srgbClr val="E0BE36"/>
                </a:solidFill>
                <a:latin typeface="Courier New" pitchFamily="34" charset="0"/>
                <a:ea typeface="Courier New" pitchFamily="34" charset="-122"/>
                <a:cs typeface="Courier New" pitchFamily="34" charset="-120"/>
              </a:rPr>
              <a:t>"item"</a:t>
            </a:r>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 [</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            </a:t>
            </a:r>
            <a:pPr algn="l" indent="0" marL="0">
              <a:lnSpc>
                <a:spcPts val="1820"/>
              </a:lnSpc>
              <a:buNone/>
            </a:pPr>
            <a:r>
              <a:rPr lang="en-US" sz="1400" dirty="0">
                <a:solidFill>
                  <a:srgbClr val="E0BE36"/>
                </a:solidFill>
                <a:latin typeface="Courier New" pitchFamily="34" charset="0"/>
                <a:ea typeface="Courier New" pitchFamily="34" charset="-122"/>
                <a:cs typeface="Courier New" pitchFamily="34" charset="-120"/>
              </a:rPr>
              <a:t>"Book"</a:t>
            </a:r>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 </a:t>
            </a:r>
            <a:pPr algn="l" indent="0" marL="0">
              <a:lnSpc>
                <a:spcPts val="1820"/>
              </a:lnSpc>
              <a:buNone/>
            </a:pPr>
            <a:r>
              <a:rPr lang="en-US" sz="1400" dirty="0">
                <a:solidFill>
                  <a:srgbClr val="E0BE36"/>
                </a:solidFill>
                <a:latin typeface="Courier New" pitchFamily="34" charset="0"/>
                <a:ea typeface="Courier New" pitchFamily="34" charset="-122"/>
                <a:cs typeface="Courier New" pitchFamily="34" charset="-120"/>
              </a:rPr>
              <a:t>"Pen"</a:t>
            </a:r>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 </a:t>
            </a:r>
            <a:pPr algn="l" indent="0" marL="0">
              <a:lnSpc>
                <a:spcPts val="1820"/>
              </a:lnSpc>
              <a:buNone/>
            </a:pPr>
            <a:r>
              <a:rPr lang="en-US" sz="1400" dirty="0">
                <a:solidFill>
                  <a:srgbClr val="E0BE36"/>
                </a:solidFill>
                <a:latin typeface="Courier New" pitchFamily="34" charset="0"/>
                <a:ea typeface="Courier New" pitchFamily="34" charset="-122"/>
                <a:cs typeface="Courier New" pitchFamily="34" charset="-120"/>
              </a:rPr>
              <a:t>"Book"</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        ],</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        </a:t>
            </a:r>
            <a:pPr algn="l" indent="0" marL="0">
              <a:lnSpc>
                <a:spcPts val="1820"/>
              </a:lnSpc>
              <a:buNone/>
            </a:pPr>
            <a:r>
              <a:rPr lang="en-US" sz="1400" dirty="0">
                <a:solidFill>
                  <a:srgbClr val="E0BE36"/>
                </a:solidFill>
                <a:latin typeface="Courier New" pitchFamily="34" charset="0"/>
                <a:ea typeface="Courier New" pitchFamily="34" charset="-122"/>
                <a:cs typeface="Courier New" pitchFamily="34" charset="-120"/>
              </a:rPr>
              <a:t>"units"</a:t>
            </a:r>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 [2, 5, 3]</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    }</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print(sales)</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print(sales.shape)</a:t>
            </a:r>
            <a:endParaRPr lang="en-US" sz="1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400" b="1" dirty="0">
                <a:solidFill>
                  <a:srgbClr val="FFFFFF"/>
                </a:solidFill>
                <a:latin typeface="Lato" pitchFamily="34" charset="0"/>
                <a:ea typeface="Lato" pitchFamily="34" charset="-122"/>
                <a:cs typeface="Lato" pitchFamily="34" charset="-120"/>
              </a:rPr>
              <a:t>Break</a:t>
            </a:r>
            <a:endParaRPr lang="en-US" sz="5400" dirty="0"/>
          </a:p>
        </p:txBody>
      </p:sp>
      <p:sp>
        <p:nvSpPr>
          <p:cNvPr id="3" name="Text 1"/>
          <p:cNvSpPr txBox="1"/>
          <p:nvPr/>
        </p:nvSpPr>
        <p:spPr>
          <a:xfrm>
            <a:off x="640080" y="3154680"/>
            <a:ext cx="6858000" cy="914400"/>
          </a:xfrm>
          <a:prstGeom prst="rect">
            <a:avLst/>
          </a:prstGeom>
          <a:noFill/>
          <a:ln/>
        </p:spPr>
        <p:txBody>
          <a:bodyPr wrap="square" lIns="0" tIns="0" rIns="0" bIns="0" rtlCol="0" anchor="t"/>
          <a:lstStyle/>
          <a:p>
            <a:pPr algn="l" indent="0" marL="0">
              <a:lnSpc>
                <a:spcPts val="4080"/>
              </a:lnSpc>
              <a:buNone/>
            </a:pPr>
            <a:r>
              <a:rPr lang="en-US" sz="3400" b="1" dirty="0">
                <a:solidFill>
                  <a:srgbClr val="FFFFFF"/>
                </a:solidFill>
                <a:latin typeface="Lato" pitchFamily="34" charset="0"/>
                <a:ea typeface="Lato" pitchFamily="34" charset="-122"/>
                <a:cs typeface="Lato" pitchFamily="34" charset="-120"/>
              </a:rPr>
              <a:t>15 minutes away from your screen</a:t>
            </a:r>
            <a:endParaRPr lang="en-US" sz="3400" dirty="0"/>
          </a:p>
        </p:txBody>
      </p:sp>
      <p:sp>
        <p:nvSpPr>
          <p:cNvPr id="4" name="Text 2"/>
          <p:cNvSpPr txBox="1"/>
          <p:nvPr/>
        </p:nvSpPr>
        <p:spPr>
          <a:xfrm>
            <a:off x="640080" y="4206240"/>
            <a:ext cx="6400800" cy="1463040"/>
          </a:xfrm>
          <a:prstGeom prst="rect">
            <a:avLst/>
          </a:prstGeom>
          <a:noFill/>
          <a:ln/>
        </p:spPr>
        <p:txBody>
          <a:bodyPr wrap="square" lIns="0" tIns="0" rIns="0" bIns="0" rtlCol="0" anchor="t"/>
          <a:lstStyle/>
          <a:p>
            <a:pPr algn="l" indent="0" marL="0">
              <a:lnSpc>
                <a:spcPts val="3000"/>
              </a:lnSpc>
              <a:buNone/>
            </a:pPr>
            <a:r>
              <a:rPr lang="en-US" sz="2400" dirty="0">
                <a:solidFill>
                  <a:srgbClr val="D8D8D8"/>
                </a:solidFill>
                <a:latin typeface="Lato" pitchFamily="34" charset="0"/>
                <a:ea typeface="Lato" pitchFamily="34" charset="-122"/>
                <a:cs typeface="Lato" pitchFamily="34" charset="-120"/>
              </a:rPr>
              <a:t>Stand up. Drink some water. Tell someone what you guessed in the first half.</a:t>
            </a:r>
            <a:endParaRPr lang="en-US" sz="2400" dirty="0"/>
          </a:p>
        </p:txBody>
      </p:sp>
      <p:pic>
        <p:nvPicPr>
          <p:cNvPr id="5" name="Image 0" descr="A clock">    </p:cNvPr>
          <p:cNvPicPr>
            <a:picLocks noChangeAspect="1"/>
          </p:cNvPicPr>
          <p:nvPr/>
        </p:nvPicPr>
        <p:blipFill>
          <a:blip r:embed="rId1"/>
          <a:stretch>
            <a:fillRect/>
          </a:stretch>
        </p:blipFill>
        <p:spPr>
          <a:xfrm>
            <a:off x="8321040" y="2743200"/>
            <a:ext cx="2926080" cy="29260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 CSV file is a table written as plain text</a:t>
            </a:r>
            <a:endParaRPr lang="en-US" sz="3800" dirty="0"/>
          </a:p>
        </p:txBody>
      </p:sp>
      <p:pic>
        <p:nvPicPr>
          <p:cNvPr id="3" name="Image 0" descr="A CSV file is a table written as plain text">    </p:cNvPr>
          <p:cNvPicPr>
            <a:picLocks noChangeAspect="1"/>
          </p:cNvPicPr>
          <p:nvPr/>
        </p:nvPicPr>
        <p:blipFill>
          <a:blip r:embed="rId1"/>
          <a:stretch>
            <a:fillRect/>
          </a:stretch>
        </p:blipFill>
        <p:spPr>
          <a:xfrm>
            <a:off x="640080" y="1554480"/>
            <a:ext cx="10881360" cy="4069080"/>
          </a:xfrm>
          <a:prstGeom prst="rect">
            <a:avLst/>
          </a:prstGeom>
        </p:spPr>
      </p:pic>
      <p:sp>
        <p:nvSpPr>
          <p:cNvPr id="4" name="Text 1"/>
          <p:cNvSpPr txBox="1"/>
          <p:nvPr/>
        </p:nvSpPr>
        <p:spPr>
          <a:xfrm>
            <a:off x="640080" y="5669280"/>
            <a:ext cx="10881360" cy="640080"/>
          </a:xfrm>
          <a:prstGeom prst="rect">
            <a:avLst/>
          </a:prstGeom>
          <a:noFill/>
          <a:ln/>
        </p:spPr>
        <p:txBody>
          <a:bodyPr wrap="square" lIns="0" tIns="0" rIns="0" bIns="0" rtlCol="0" anchor="t"/>
          <a:lstStyle/>
          <a:p>
            <a:pPr algn="l" indent="0" marL="0">
              <a:lnSpc>
                <a:spcPts val="2400"/>
              </a:lnSpc>
              <a:buNone/>
            </a:pPr>
            <a:r>
              <a:rPr lang="en-US" sz="2000" dirty="0">
                <a:solidFill>
                  <a:srgbClr val="333333"/>
                </a:solidFill>
                <a:latin typeface="Lato" pitchFamily="34" charset="0"/>
                <a:ea typeface="Lato" pitchFamily="34" charset="-122"/>
                <a:cs typeface="Lato" pitchFamily="34" charset="-120"/>
              </a:rPr>
              <a:t>One line is one row. Commas separate the columns. Our files hold shop sales and invented homes.</a:t>
            </a:r>
            <a:endParaRPr lang="en-US" sz="20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Shape gives rows first and columns second</a:t>
            </a:r>
            <a:endParaRPr lang="en-US" sz="3800" dirty="0"/>
          </a:p>
        </p:txBody>
      </p:sp>
      <p:pic>
        <p:nvPicPr>
          <p:cNvPr id="3" name="Image 0" descr="Shape gives rows first and columns second">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shop file has shape 60 by 5.</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Check the shape straight after reading a file.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 wrong shape means a wrong file.</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Read the practice shop file</a:t>
            </a:r>
            <a:endParaRPr lang="en-US" sz="3800" dirty="0"/>
          </a:p>
        </p:txBody>
      </p:sp>
      <p:sp>
        <p:nvSpPr>
          <p:cNvPr id="3" name="Shape 1"/>
          <p:cNvSpPr/>
          <p:nvPr/>
        </p:nvSpPr>
        <p:spPr>
          <a:xfrm>
            <a:off x="640080" y="1645920"/>
            <a:ext cx="6035040" cy="2007362"/>
          </a:xfrm>
          <a:prstGeom prst="roundRect">
            <a:avLst>
              <a:gd name="adj" fmla="val 3644"/>
            </a:avLst>
          </a:prstGeom>
          <a:solidFill>
            <a:srgbClr val="111111"/>
          </a:solidFill>
          <a:ln/>
        </p:spPr>
      </p:sp>
      <p:sp>
        <p:nvSpPr>
          <p:cNvPr id="4" name="Text 2"/>
          <p:cNvSpPr txBox="1"/>
          <p:nvPr/>
        </p:nvSpPr>
        <p:spPr>
          <a:xfrm>
            <a:off x="841248" y="1847088"/>
            <a:ext cx="5632704" cy="1605026"/>
          </a:xfrm>
          <a:prstGeom prst="rect">
            <a:avLst/>
          </a:prstGeom>
          <a:noFill/>
          <a:ln/>
        </p:spPr>
        <p:txBody>
          <a:bodyPr wrap="square" lIns="0" tIns="0" rIns="0" bIns="0" rtlCol="0" anchor="t"/>
          <a:lstStyle/>
          <a:p>
            <a:pPr algn="l" indent="0" marL="0">
              <a:lnSpc>
                <a:spcPts val="2470"/>
              </a:lnSpc>
              <a:buNone/>
            </a:pPr>
            <a:r>
              <a:rPr lang="en-US" sz="1900" b="1" dirty="0">
                <a:solidFill>
                  <a:srgbClr val="FFFFFF"/>
                </a:solidFill>
                <a:latin typeface="Courier New" pitchFamily="34" charset="0"/>
                <a:ea typeface="Courier New" pitchFamily="34" charset="-122"/>
                <a:cs typeface="Courier New" pitchFamily="34" charset="-120"/>
              </a:rPr>
              <a:t>import</a:t>
            </a:r>
            <a:pPr algn="l" indent="0" marL="0">
              <a:lnSpc>
                <a:spcPts val="2470"/>
              </a:lnSpc>
              <a:buNone/>
            </a:pPr>
            <a:r>
              <a:rPr lang="en-US" sz="1900" dirty="0">
                <a:solidFill>
                  <a:srgbClr val="FFFFFF"/>
                </a:solidFill>
                <a:latin typeface="Courier New" pitchFamily="34" charset="0"/>
                <a:ea typeface="Courier New" pitchFamily="34" charset="-122"/>
                <a:cs typeface="Courier New" pitchFamily="34" charset="-120"/>
              </a:rPr>
              <a:t> pandas </a:t>
            </a:r>
            <a:pPr algn="l" indent="0" marL="0">
              <a:lnSpc>
                <a:spcPts val="2470"/>
              </a:lnSpc>
              <a:buNone/>
            </a:pPr>
            <a:r>
              <a:rPr lang="en-US" sz="1900" b="1" dirty="0">
                <a:solidFill>
                  <a:srgbClr val="FFFFFF"/>
                </a:solidFill>
                <a:latin typeface="Courier New" pitchFamily="34" charset="0"/>
                <a:ea typeface="Courier New" pitchFamily="34" charset="-122"/>
                <a:cs typeface="Courier New" pitchFamily="34" charset="-120"/>
              </a:rPr>
              <a:t>as</a:t>
            </a:r>
            <a:pPr algn="l" indent="0" marL="0">
              <a:lnSpc>
                <a:spcPts val="2470"/>
              </a:lnSpc>
              <a:buNone/>
            </a:pPr>
            <a:r>
              <a:rPr lang="en-US" sz="1900" dirty="0">
                <a:solidFill>
                  <a:srgbClr val="FFFFFF"/>
                </a:solidFill>
                <a:latin typeface="Courier New" pitchFamily="34" charset="0"/>
                <a:ea typeface="Courier New" pitchFamily="34" charset="-122"/>
                <a:cs typeface="Courier New" pitchFamily="34" charset="-120"/>
              </a:rPr>
              <a:t> pd</a:t>
            </a:r>
            <a:endParaRPr lang="en-US" sz="1900" dirty="0"/>
          </a:p>
          <a:p>
            <a:pPr algn="l" indent="0" marL="0">
              <a:lnSpc>
                <a:spcPts val="2470"/>
              </a:lnSpc>
              <a:buNone/>
            </a:pPr>
            <a:r>
              <a:rPr lang="en-US" sz="1900" dirty="0">
                <a:solidFill>
                  <a:srgbClr val="FFFFFF"/>
                </a:solidFill>
                <a:latin typeface="Courier New" pitchFamily="34" charset="0"/>
                <a:ea typeface="Courier New" pitchFamily="34" charset="-122"/>
                <a:cs typeface="Courier New" pitchFamily="34" charset="-120"/>
              </a:rPr>
              <a:t>shop = pd.read_csv(</a:t>
            </a:r>
            <a:pPr algn="l" indent="0" marL="0">
              <a:lnSpc>
                <a:spcPts val="2470"/>
              </a:lnSpc>
              <a:buNone/>
            </a:pPr>
            <a:r>
              <a:rPr lang="en-US" sz="1900" dirty="0">
                <a:solidFill>
                  <a:srgbClr val="E0BE36"/>
                </a:solidFill>
                <a:latin typeface="Courier New" pitchFamily="34" charset="0"/>
                <a:ea typeface="Courier New" pitchFamily="34" charset="-122"/>
                <a:cs typeface="Courier New" pitchFamily="34" charset="-120"/>
              </a:rPr>
              <a:t>"camp_shop.csv"</a:t>
            </a:r>
            <a:pPr algn="l" indent="0" marL="0">
              <a:lnSpc>
                <a:spcPts val="2470"/>
              </a:lnSpc>
              <a:buNone/>
            </a:pPr>
            <a:r>
              <a:rPr lang="en-US" sz="1900" dirty="0">
                <a:solidFill>
                  <a:srgbClr val="FFFFFF"/>
                </a:solidFill>
                <a:latin typeface="Courier New" pitchFamily="34" charset="0"/>
                <a:ea typeface="Courier New" pitchFamily="34" charset="-122"/>
                <a:cs typeface="Courier New" pitchFamily="34" charset="-120"/>
              </a:rPr>
              <a:t>)</a:t>
            </a:r>
            <a:endParaRPr lang="en-US" sz="1900" dirty="0"/>
          </a:p>
          <a:p>
            <a:pPr algn="l" indent="0" marL="0">
              <a:lnSpc>
                <a:spcPts val="2470"/>
              </a:lnSpc>
              <a:buNone/>
            </a:pPr>
            <a:r>
              <a:rPr lang="en-US" sz="1900" dirty="0">
                <a:solidFill>
                  <a:srgbClr val="FFFFFF"/>
                </a:solidFill>
                <a:latin typeface="Courier New" pitchFamily="34" charset="0"/>
                <a:ea typeface="Courier New" pitchFamily="34" charset="-122"/>
                <a:cs typeface="Courier New" pitchFamily="34" charset="-120"/>
              </a:rPr>
              <a:t>print(shop.head())</a:t>
            </a:r>
            <a:endParaRPr lang="en-US" sz="1900" dirty="0"/>
          </a:p>
          <a:p>
            <a:pPr algn="l" indent="0" marL="0">
              <a:lnSpc>
                <a:spcPts val="2470"/>
              </a:lnSpc>
              <a:buNone/>
            </a:pPr>
            <a:r>
              <a:rPr lang="en-US" sz="1900" dirty="0">
                <a:solidFill>
                  <a:srgbClr val="FFFFFF"/>
                </a:solidFill>
                <a:latin typeface="Courier New" pitchFamily="34" charset="0"/>
                <a:ea typeface="Courier New" pitchFamily="34" charset="-122"/>
                <a:cs typeface="Courier New" pitchFamily="34" charset="-120"/>
              </a:rPr>
              <a:t>print(shop.shape)</a:t>
            </a:r>
            <a:endParaRPr lang="en-US" sz="1900" dirty="0"/>
          </a:p>
          <a:p>
            <a:pPr algn="l" indent="0" marL="0">
              <a:lnSpc>
                <a:spcPts val="2470"/>
              </a:lnSpc>
              <a:buNone/>
            </a:pPr>
            <a:r>
              <a:rPr lang="en-US" sz="1900" dirty="0">
                <a:solidFill>
                  <a:srgbClr val="FFFFFF"/>
                </a:solidFill>
                <a:latin typeface="Courier New" pitchFamily="34" charset="0"/>
                <a:ea typeface="Courier New" pitchFamily="34" charset="-122"/>
                <a:cs typeface="Courier New" pitchFamily="34" charset="-120"/>
              </a:rPr>
              <a:t>print(list(shop.columns))</a:t>
            </a:r>
            <a:endParaRPr lang="en-US" sz="1900" dirty="0"/>
          </a:p>
        </p:txBody>
      </p:sp>
      <p:sp>
        <p:nvSpPr>
          <p:cNvPr id="5" name="Text 3"/>
          <p:cNvSpPr txBox="1"/>
          <p:nvPr/>
        </p:nvSpPr>
        <p:spPr>
          <a:xfrm>
            <a:off x="7040880" y="1737360"/>
            <a:ext cx="4480560" cy="2560320"/>
          </a:xfrm>
          <a:prstGeom prst="rect">
            <a:avLst/>
          </a:prstGeom>
          <a:noFill/>
          <a:ln/>
        </p:spPr>
        <p:txBody>
          <a:bodyPr wrap="square" lIns="0" tIns="0" rIns="0" bIns="0" rtlCol="0" anchor="t"/>
          <a:lstStyle/>
          <a:p>
            <a:pPr algn="l" indent="0" marL="0">
              <a:lnSpc>
                <a:spcPts val="3480"/>
              </a:lnSpc>
              <a:spcAft>
                <a:spcPts val="2160"/>
              </a:spcAft>
              <a:buNone/>
            </a:pPr>
            <a:r>
              <a:rPr lang="en-US" sz="2900" dirty="0">
                <a:solidFill>
                  <a:srgbClr val="111111"/>
                </a:solidFill>
                <a:latin typeface="Lato" pitchFamily="34" charset="0"/>
                <a:ea typeface="Lato" pitchFamily="34" charset="-122"/>
                <a:cs typeface="Lato" pitchFamily="34" charset="-120"/>
              </a:rPr>
              <a:t>Predict how many rows camp_shop.csv has and which headers it shows.</a:t>
            </a:r>
            <a:endParaRPr lang="en-US" sz="2900" dirty="0"/>
          </a:p>
          <a:p>
            <a:pPr algn="l" indent="0" marL="0">
              <a:lnSpc>
                <a:spcPts val="3480"/>
              </a:lnSpc>
              <a:spcAft>
                <a:spcPts val="2160"/>
              </a:spcAft>
              <a:buNone/>
            </a:pPr>
            <a:r>
              <a:rPr lang="en-US" sz="2900" dirty="0">
                <a:solidFill>
                  <a:srgbClr val="111111"/>
                </a:solidFill>
                <a:latin typeface="Lato" pitchFamily="34" charset="0"/>
                <a:ea typeface="Lato" pitchFamily="34" charset="-122"/>
                <a:cs typeface="Lato" pitchFamily="34" charset="-120"/>
              </a:rPr>
              <a:t>Write your guess on paper before we run it.</a:t>
            </a:r>
            <a:endParaRPr lang="en-US" sz="2900" dirty="0"/>
          </a:p>
        </p:txBody>
      </p:sp>
      <p:pic>
        <p:nvPicPr>
          <p:cNvPr id="6" name="Image 0" descr="A page and a pen: write your guess first">    </p:cNvPr>
          <p:cNvPicPr>
            <a:picLocks noChangeAspect="1"/>
          </p:cNvPicPr>
          <p:nvPr/>
        </p:nvPicPr>
        <p:blipFill>
          <a:blip r:embed="rId1"/>
          <a:stretch>
            <a:fillRect/>
          </a:stretch>
        </p:blipFill>
        <p:spPr>
          <a:xfrm>
            <a:off x="7916091" y="4343400"/>
            <a:ext cx="2090057"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Read the practice shop file</a:t>
            </a:r>
            <a:endParaRPr lang="en-US" sz="3800" dirty="0"/>
          </a:p>
        </p:txBody>
      </p:sp>
      <p:sp>
        <p:nvSpPr>
          <p:cNvPr id="3" name="Text 1"/>
          <p:cNvSpPr txBox="1"/>
          <p:nvPr/>
        </p:nvSpPr>
        <p:spPr>
          <a:xfrm>
            <a:off x="640080" y="1737360"/>
            <a:ext cx="7498080" cy="4389120"/>
          </a:xfrm>
          <a:prstGeom prst="rect">
            <a:avLst/>
          </a:prstGeom>
          <a:noFill/>
          <a:ln/>
        </p:spPr>
        <p:txBody>
          <a:bodyPr wrap="square" lIns="0" tIns="0" rIns="0" bIns="0" rtlCol="0" anchor="t"/>
          <a:lstStyle/>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The table has 60 rows and 5 columns, so shape prints (60, 5).</a:t>
            </a:r>
            <a:endParaRPr lang="en-US" sz="3000" dirty="0"/>
          </a:p>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The headers are sale_id, date, item, units and unit_price_ugx.</a:t>
            </a:r>
            <a:endParaRPr lang="en-US" sz="3000" dirty="0"/>
          </a:p>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read_csv reads the file into a DataFrame and head shows its first five rows.</a:t>
            </a:r>
            <a:endParaRPr lang="en-US" sz="3000" dirty="0"/>
          </a:p>
        </p:txBody>
      </p:sp>
      <p:pic>
        <p:nvPicPr>
          <p:cNvPr id="4" name="Image 0" descr="Compare with your guess">    </p:cNvPr>
          <p:cNvPicPr>
            <a:picLocks noChangeAspect="1"/>
          </p:cNvPicPr>
          <p:nvPr/>
        </p:nvPicPr>
        <p:blipFill>
          <a:blip r:embed="rId1"/>
          <a:stretch>
            <a:fillRect/>
          </a:stretch>
        </p:blipFill>
        <p:spPr>
          <a:xfrm>
            <a:off x="8778240" y="2194560"/>
            <a:ext cx="2377440" cy="23774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Read the practice shop file</a:t>
            </a:r>
            <a:endParaRPr lang="en-US" sz="3800" dirty="0"/>
          </a:p>
        </p:txBody>
      </p:sp>
      <p:pic>
        <p:nvPicPr>
          <p:cNvPr id="3" name="Image 0" descr="Look closely">    </p:cNvPr>
          <p:cNvPicPr>
            <a:picLocks noChangeAspect="1"/>
          </p:cNvPicPr>
          <p:nvPr/>
        </p:nvPicPr>
        <p:blipFill>
          <a:blip r:embed="rId1"/>
          <a:stretch>
            <a:fillRect/>
          </a:stretch>
        </p:blipFill>
        <p:spPr>
          <a:xfrm>
            <a:off x="9875520" y="4480560"/>
            <a:ext cx="1645920" cy="1645920"/>
          </a:xfrm>
          <a:prstGeom prst="rect">
            <a:avLst/>
          </a:prstGeom>
        </p:spPr>
      </p:pic>
      <p:sp>
        <p:nvSpPr>
          <p:cNvPr id="4" name="Text 1"/>
          <p:cNvSpPr txBox="1"/>
          <p:nvPr/>
        </p:nvSpPr>
        <p:spPr>
          <a:xfrm>
            <a:off x="640080" y="1737360"/>
            <a:ext cx="896112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Why is the unit written in the header name unit_price_ugx?</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What do the 60 rows stand for?</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Show the first 10 rows by writing 10 inside the brackets of head.</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pic>
        <p:nvPicPr>
          <p:cNvPr id="4" name="Image 0" descr="Change one thing">    </p:cNvPr>
          <p:cNvPicPr>
            <a:picLocks noChangeAspect="1"/>
          </p:cNvPicPr>
          <p:nvPr/>
        </p:nvPicPr>
        <p:blipFill>
          <a:blip r:embed="rId1"/>
          <a:stretch>
            <a:fillRect/>
          </a:stretch>
        </p:blipFill>
        <p:spPr>
          <a:xfrm>
            <a:off x="9418320" y="2103120"/>
            <a:ext cx="1828800"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The file, the code and the</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table show the same sales</a:t>
            </a:r>
            <a:endParaRPr lang="en-US" sz="3600" dirty="0"/>
          </a:p>
        </p:txBody>
      </p:sp>
      <p:pic>
        <p:nvPicPr>
          <p:cNvPr id="3" name="Image 0" descr="The file, the code and the table show the same sales">    </p:cNvPr>
          <p:cNvPicPr>
            <a:picLocks noChangeAspect="1"/>
          </p:cNvPicPr>
          <p:nvPr/>
        </p:nvPicPr>
        <p:blipFill>
          <a:blip r:embed="rId1"/>
          <a:stretch>
            <a:fillRect/>
          </a:stretch>
        </p:blipFill>
        <p:spPr>
          <a:xfrm>
            <a:off x="640080" y="1554480"/>
            <a:ext cx="10881360" cy="4069080"/>
          </a:xfrm>
          <a:prstGeom prst="rect">
            <a:avLst/>
          </a:prstGeom>
        </p:spPr>
      </p:pic>
      <p:sp>
        <p:nvSpPr>
          <p:cNvPr id="4" name="Text 1"/>
          <p:cNvSpPr txBox="1"/>
          <p:nvPr/>
        </p:nvSpPr>
        <p:spPr>
          <a:xfrm>
            <a:off x="640080" y="5669280"/>
            <a:ext cx="10881360" cy="64008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Read the headers first, then the shape.</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Make: your own version</a:t>
            </a:r>
            <a:endParaRPr lang="en-US" sz="3800" dirty="0"/>
          </a:p>
        </p:txBody>
      </p:sp>
      <p:sp>
        <p:nvSpPr>
          <p:cNvPr id="3" name="Text 1"/>
          <p:cNvSpPr txBox="1"/>
          <p:nvPr/>
        </p:nvSpPr>
        <p:spPr>
          <a:xfrm>
            <a:off x="640080" y="1737360"/>
            <a:ext cx="6949440" cy="4480560"/>
          </a:xfrm>
          <a:prstGeom prst="rect">
            <a:avLst/>
          </a:prstGeom>
          <a:noFill/>
          <a:ln/>
        </p:spPr>
        <p:txBody>
          <a:bodyPr wrap="square" lIns="0" tIns="0" rIns="0" bIns="0" rtlCol="0" anchor="t"/>
          <a:lstStyle/>
          <a:p>
            <a:pPr algn="l" indent="0" marL="0">
              <a:lnSpc>
                <a:spcPts val="3600"/>
              </a:lnSpc>
              <a:spcAft>
                <a:spcPts val="2520"/>
              </a:spcAft>
              <a:buNone/>
            </a:pPr>
            <a:r>
              <a:rPr lang="en-US" sz="3000" dirty="0">
                <a:solidFill>
                  <a:srgbClr val="111111"/>
                </a:solidFill>
                <a:latin typeface="Lato" pitchFamily="34" charset="0"/>
                <a:ea typeface="Lato" pitchFamily="34" charset="-122"/>
                <a:cs typeface="Lato" pitchFamily="34" charset="-120"/>
              </a:rPr>
              <a:t>Read synthetic_homes.csv. Show its first rows and its shape. Say what each row stands for and what unit rent_ugx is in.</a:t>
            </a:r>
            <a:endParaRPr lang="en-US" sz="3000" dirty="0"/>
          </a:p>
          <a:p>
            <a:pPr algn="l" indent="0" marL="0">
              <a:lnSpc>
                <a:spcPts val="3600"/>
              </a:lnSpc>
              <a:spcAft>
                <a:spcPts val="2520"/>
              </a:spcAft>
              <a:buNone/>
            </a:pPr>
            <a:r>
              <a:rPr lang="en-US" sz="3000" dirty="0">
                <a:solidFill>
                  <a:srgbClr val="111111"/>
                </a:solidFill>
                <a:latin typeface="Lato" pitchFamily="34" charset="0"/>
                <a:ea typeface="Lato" pitchFamily="34" charset="-122"/>
                <a:cs typeface="Lato" pitchFamily="34" charset="-120"/>
              </a:rPr>
              <a:t>Save it as ML07. Write two sentences: what you changed and how you checked it.</a:t>
            </a:r>
            <a:endParaRPr lang="en-US" sz="3000" dirty="0"/>
          </a:p>
        </p:txBody>
      </p:sp>
      <p:pic>
        <p:nvPicPr>
          <p:cNvPr id="4" name="Image 0" descr="A notebook saved with a tick">    </p:cNvPr>
          <p:cNvPicPr>
            <a:picLocks noChangeAspect="1"/>
          </p:cNvPicPr>
          <p:nvPr/>
        </p:nvPicPr>
        <p:blipFill>
          <a:blip r:embed="rId1"/>
          <a:stretch>
            <a:fillRect/>
          </a:stretch>
        </p:blipFill>
        <p:spPr>
          <a:xfrm>
            <a:off x="8138160" y="1920240"/>
            <a:ext cx="347472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Two errors you may meet today</a:t>
            </a:r>
            <a:endParaRPr lang="en-US" sz="3800" dirty="0"/>
          </a:p>
        </p:txBody>
      </p:sp>
      <p:pic>
        <p:nvPicPr>
          <p:cNvPr id="3" name="Image 0" descr="Error">    </p:cNvPr>
          <p:cNvPicPr>
            <a:picLocks noChangeAspect="1"/>
          </p:cNvPicPr>
          <p:nvPr/>
        </p:nvPicPr>
        <p:blipFill>
          <a:blip r:embed="rId1"/>
          <a:stretch>
            <a:fillRect/>
          </a:stretch>
        </p:blipFill>
        <p:spPr>
          <a:xfrm>
            <a:off x="640080" y="1691640"/>
            <a:ext cx="822960" cy="822960"/>
          </a:xfrm>
          <a:prstGeom prst="rect">
            <a:avLst/>
          </a:prstGeom>
        </p:spPr>
      </p:pic>
      <p:sp>
        <p:nvSpPr>
          <p:cNvPr id="4" name="Shape 1"/>
          <p:cNvSpPr/>
          <p:nvPr/>
        </p:nvSpPr>
        <p:spPr>
          <a:xfrm>
            <a:off x="1645920" y="1828800"/>
            <a:ext cx="4023360" cy="1645920"/>
          </a:xfrm>
          <a:prstGeom prst="roundRect">
            <a:avLst>
              <a:gd name="adj" fmla="val 3333"/>
            </a:avLst>
          </a:prstGeom>
          <a:solidFill>
            <a:srgbClr val="FFFFFF"/>
          </a:solidFill>
          <a:ln w="25400">
            <a:solidFill>
              <a:srgbClr val="AE2525"/>
            </a:solidFill>
            <a:prstDash val="solid"/>
          </a:ln>
        </p:spPr>
      </p:sp>
      <p:sp>
        <p:nvSpPr>
          <p:cNvPr id="5" name="Text 2"/>
          <p:cNvSpPr txBox="1"/>
          <p:nvPr/>
        </p:nvSpPr>
        <p:spPr>
          <a:xfrm>
            <a:off x="1783080" y="192024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FileNotFoundError: No such file or directory</a:t>
            </a:r>
            <a:endParaRPr lang="en-US" sz="2000" dirty="0"/>
          </a:p>
        </p:txBody>
      </p:sp>
      <p:sp>
        <p:nvSpPr>
          <p:cNvPr id="6" name="Text 3"/>
          <p:cNvSpPr txBox="1"/>
          <p:nvPr/>
        </p:nvSpPr>
        <p:spPr>
          <a:xfrm>
            <a:off x="6035040" y="166420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The CSV file is not beside the notebook.</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Move the file into the same folder as the notebook, or ask the instructor.</a:t>
            </a:r>
            <a:endParaRPr lang="en-US" sz="2200" dirty="0"/>
          </a:p>
        </p:txBody>
      </p:sp>
      <p:sp>
        <p:nvSpPr>
          <p:cNvPr id="7" name="Shape 4"/>
          <p:cNvSpPr/>
          <p:nvPr/>
        </p:nvSpPr>
        <p:spPr>
          <a:xfrm>
            <a:off x="640080" y="3813048"/>
            <a:ext cx="10881360" cy="0"/>
          </a:xfrm>
          <a:prstGeom prst="line">
            <a:avLst/>
          </a:prstGeom>
          <a:noFill/>
          <a:ln w="12700">
            <a:solidFill>
              <a:srgbClr val="CFCFCF"/>
            </a:solidFill>
            <a:prstDash val="solid"/>
          </a:ln>
        </p:spPr>
      </p:sp>
      <p:pic>
        <p:nvPicPr>
          <p:cNvPr id="8" name="Image 1" descr="Error">    </p:cNvPr>
          <p:cNvPicPr>
            <a:picLocks noChangeAspect="1"/>
          </p:cNvPicPr>
          <p:nvPr/>
        </p:nvPicPr>
        <p:blipFill>
          <a:blip r:embed="rId2"/>
          <a:stretch>
            <a:fillRect/>
          </a:stretch>
        </p:blipFill>
        <p:spPr>
          <a:xfrm>
            <a:off x="640080" y="4023360"/>
            <a:ext cx="822960" cy="822960"/>
          </a:xfrm>
          <a:prstGeom prst="rect">
            <a:avLst/>
          </a:prstGeom>
        </p:spPr>
      </p:pic>
      <p:sp>
        <p:nvSpPr>
          <p:cNvPr id="9" name="Shape 5"/>
          <p:cNvSpPr/>
          <p:nvPr/>
        </p:nvSpPr>
        <p:spPr>
          <a:xfrm>
            <a:off x="1645920" y="4160520"/>
            <a:ext cx="4023360" cy="1645920"/>
          </a:xfrm>
          <a:prstGeom prst="roundRect">
            <a:avLst>
              <a:gd name="adj" fmla="val 3333"/>
            </a:avLst>
          </a:prstGeom>
          <a:solidFill>
            <a:srgbClr val="FFFFFF"/>
          </a:solidFill>
          <a:ln w="25400">
            <a:solidFill>
              <a:srgbClr val="AE2525"/>
            </a:solidFill>
            <a:prstDash val="solid"/>
          </a:ln>
        </p:spPr>
      </p:sp>
      <p:sp>
        <p:nvSpPr>
          <p:cNvPr id="10" name="Text 6"/>
          <p:cNvSpPr txBox="1"/>
          <p:nvPr/>
        </p:nvSpPr>
        <p:spPr>
          <a:xfrm>
            <a:off x="1783080" y="425196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ModuleNotFoundError: No module named 'pandas'</a:t>
            </a:r>
            <a:endParaRPr lang="en-US" sz="2000" dirty="0"/>
          </a:p>
        </p:txBody>
      </p:sp>
      <p:sp>
        <p:nvSpPr>
          <p:cNvPr id="11" name="Text 7"/>
          <p:cNvSpPr txBox="1"/>
          <p:nvPr/>
        </p:nvSpPr>
        <p:spPr>
          <a:xfrm>
            <a:off x="6035040" y="399592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The prepared camp environment is not active.</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Tell the instructor. Do not install packages.</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Finish this sentence in your notebook</a:t>
            </a:r>
            <a:endParaRPr lang="en-US" sz="3800" dirty="0"/>
          </a:p>
        </p:txBody>
      </p:sp>
      <p:sp>
        <p:nvSpPr>
          <p:cNvPr id="3" name="Text 1"/>
          <p:cNvSpPr txBox="1"/>
          <p:nvPr/>
        </p:nvSpPr>
        <p:spPr>
          <a:xfrm>
            <a:off x="640080" y="1737360"/>
            <a:ext cx="6949440" cy="2926080"/>
          </a:xfrm>
          <a:prstGeom prst="rect">
            <a:avLst/>
          </a:prstGeom>
          <a:noFill/>
          <a:ln/>
        </p:spPr>
        <p:txBody>
          <a:bodyPr wrap="square" lIns="0" tIns="0" rIns="0" bIns="0" rtlCol="0" anchor="t"/>
          <a:lstStyle/>
          <a:p>
            <a:pPr algn="l" indent="0" marL="0">
              <a:lnSpc>
                <a:spcPts val="4800"/>
              </a:lnSpc>
              <a:spcAft>
                <a:spcPts val="1010"/>
              </a:spcAft>
              <a:buNone/>
            </a:pPr>
            <a:r>
              <a:rPr lang="en-US" sz="4000" dirty="0">
                <a:solidFill>
                  <a:srgbClr val="111111"/>
                </a:solidFill>
                <a:latin typeface="Lato" pitchFamily="34" charset="0"/>
                <a:ea typeface="Lato" pitchFamily="34" charset="-122"/>
                <a:cs typeface="Lato" pitchFamily="34" charset="-120"/>
              </a:rPr>
              <a:t>A CSV file becomes a table of rows and columns, and shape tells me how big it is.</a:t>
            </a:r>
            <a:endParaRPr lang="en-US" sz="4000" dirty="0"/>
          </a:p>
        </p:txBody>
      </p:sp>
      <p:sp>
        <p:nvSpPr>
          <p:cNvPr id="4" name="Text 2"/>
          <p:cNvSpPr txBox="1"/>
          <p:nvPr/>
        </p:nvSpPr>
        <p:spPr>
          <a:xfrm>
            <a:off x="640080" y="4846320"/>
            <a:ext cx="6949440" cy="1097280"/>
          </a:xfrm>
          <a:prstGeom prst="rect">
            <a:avLst/>
          </a:prstGeom>
          <a:noFill/>
          <a:ln/>
        </p:spPr>
        <p:txBody>
          <a:bodyPr wrap="square" lIns="0" tIns="0" rIns="0" bIns="0" rtlCol="0" anchor="t"/>
          <a:lstStyle/>
          <a:p>
            <a:pPr algn="l" indent="0" marL="0">
              <a:lnSpc>
                <a:spcPts val="2750"/>
              </a:lnSpc>
              <a:buNone/>
            </a:pPr>
            <a:r>
              <a:rPr lang="en-US" sz="2200" dirty="0">
                <a:solidFill>
                  <a:srgbClr val="333333"/>
                </a:solidFill>
                <a:latin typeface="Lato" pitchFamily="34" charset="0"/>
                <a:ea typeface="Lato" pitchFamily="34" charset="-122"/>
                <a:cs typeface="Lato" pitchFamily="34" charset="-120"/>
              </a:rPr>
              <a:t>Then save your notebook, close it and open it again to check it saved.</a:t>
            </a:r>
            <a:endParaRPr lang="en-US" sz="2200" dirty="0"/>
          </a:p>
        </p:txBody>
      </p:sp>
      <p:pic>
        <p:nvPicPr>
          <p:cNvPr id="5" name="Image 0" descr="Finished">    </p:cNvPr>
          <p:cNvPicPr>
            <a:picLocks noChangeAspect="1"/>
          </p:cNvPicPr>
          <p:nvPr/>
        </p:nvPicPr>
        <p:blipFill>
          <a:blip r:embed="rId1"/>
          <a:stretch>
            <a:fillRect/>
          </a:stretch>
        </p:blipFill>
        <p:spPr>
          <a:xfrm>
            <a:off x="8229600" y="1920240"/>
            <a:ext cx="329184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KLAi camp">
  <a:themeElements>
    <a:clrScheme name="KLAi camp">
      <a:dk1>
        <a:srgbClr val="111111"/>
      </a:dk1>
      <a:lt1>
        <a:srgbClr val="FFFFFF"/>
      </a:lt1>
      <a:dk2>
        <a:srgbClr val="333333"/>
      </a:dk2>
      <a:lt2>
        <a:srgbClr val="F1F1F1"/>
      </a:lt2>
      <a:accent1>
        <a:srgbClr val="AE2525"/>
      </a:accent1>
      <a:accent2>
        <a:srgbClr val="E0BE36"/>
      </a:accent2>
      <a:accent3>
        <a:srgbClr val="8C8C8C"/>
      </a:accent3>
      <a:accent4>
        <a:srgbClr val="555555"/>
      </a:accent4>
      <a:accent5>
        <a:srgbClr val="CFCFCF"/>
      </a:accent5>
      <a:accent6>
        <a:srgbClr val="000000"/>
      </a:accent6>
      <a:hlink>
        <a:srgbClr val="AE2525"/>
      </a:hlink>
      <a:folHlink>
        <a:srgbClr val="666666"/>
      </a:folHlink>
    </a:clrScheme>
    <a:fontScheme name="KLAi camp">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KLAi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ML07 Tables and reading a CSV file</dc:title>
  <dc:subject>Machine Learning</dc:subject>
  <dc:creator>KLAi</dc:creator>
  <cp:lastModifiedBy>KLAi</cp:lastModifiedBy>
  <cp:revision>1</cp:revision>
  <dcterms:created xsi:type="dcterms:W3CDTF">2026-10-31T12:33:03Z</dcterms:created>
  <dcterms:modified xsi:type="dcterms:W3CDTF">2026-10-31T12:33:03Z</dcterms:modified>
</cp:coreProperties>
</file>