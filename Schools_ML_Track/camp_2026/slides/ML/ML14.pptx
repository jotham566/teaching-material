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0211f01-7a48-48dd-58b4-9827fe2f6496}">
          <p14:sldIdLst>
            <p14:sldId id="256"/>
            <p14:sldId id="257"/>
            <p14:sldId id="258"/>
            <p14:sldId id="259"/>
            <p14:sldId id="260"/>
            <p14:sldId id="261"/>
            <p14:sldId id="262"/>
          </p14:sldIdLst>
        </p14:section>
        <p14:section name="Block A" id="{812f4cbf-5cb4-e639-c930-9acaac003c2d}">
          <p14:sldIdLst>
            <p14:sldId id="263"/>
            <p14:sldId id="264"/>
            <p14:sldId id="265"/>
            <p14:sldId id="266"/>
            <p14:sldId id="268"/>
            <p14:sldId id="269"/>
          </p14:sldIdLst>
        </p14:section>
        <p14:section name="Break" id="{e855bcb1-ad01-6578-df24-3e9b1bb268b1}">
          <p14:sldIdLst>
            <p14:sldId id="267"/>
          </p14:sldIdLst>
        </p14:section>
        <p14:section name="Block A" id="{e93159b0-f5bf-6712-7f49-95a6de21247b}">
          <p14:sldIdLst/>
        </p14:section>
        <p14:section name="Block B" id="{03c56728-63ed-d329-2aa7-b9f4d925a268}">
          <p14:sldIdLst>
            <p14:sldId id="270"/>
            <p14:sldId id="271"/>
            <p14:sldId id="272"/>
            <p14:sldId id="273"/>
            <p14:sldId id="274"/>
          </p14:sldIdLst>
        </p14:section>
        <p14:section name="Make and close" id="{521ec122-d5c5-920e-9a4d-e6330c99009d}">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go. Today is session 14 and our topic is predicting a number with a line.
By the end of today you will be able to guess a line by hand, measure its error, and compare it with the line scikit-learn fits.
We will answer one question: How close does a straight line get to the rents of eight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homes, three lines. The dashed red line is my own guess and it misses by about fifty six thousand shillings on average. The grey flat line is the mean for every home, and it misses by about one hundred and nine thousand. The black line is the one the computer fitted, and it misses by about twenty thousand. Today we find out how a straight line is judged and how a computer finds a better one than we can by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words, because every one of them is used in the code later.
regression. Predicting a number. Estimating a price.
slope. How much the prediction changes when the input rises by one unit. Think of a shop. Extra rent for every extra square metre.
intercept. The prediction when the input is zero. Imagine it like this. The starting fee before any distance is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rest of today's words.
fit. Let the computer find the best slope and intercept from examples. An example from everyday life. Practising until the throws land close.
predict. Use the fitted line on a new input. Here is a way to see it. Reading the answer off the line.
error. The gap between a prediction and the real value. A small example. How far off your estimate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straight line is described by two numbers. The intercept is where the line starts when the area is zero. The slope is how much the rent rises for every extra square metre.
To predict a rent, take the start, then add the slope times the area. Try it for a home of fifty square metres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home we measure how far the line is from the real rent. Those gaps are the errors, drawn here as bars. We ignore whether the line was too high or too low and look only at the size.
The average of the bars is one number that scores the whole line. A smaller number means a better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first eight homes. Guess that rent is 100000 plus 3000 for every square metre.
Now your guess. Predict whether the average error will be under UGX 10000 or over UGX 50000. Jot it on paper before anyone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output as it appears. Match each line of the output with the line of code that made it.
The cell prints 56282.25. Your guess is a straight line with intercept 100000 and slope 3000 shillings per square metre. On average it misses the real rent by about UGX 56282. The line ignores rooms, and the intercept is too low, so most guesses are too small.
Tell the person next to you whether your guess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guess a line, measure the error. I have two questions for you.
Question one. What does a slope of 3000 mean in words? Write your answer in one line before we compare.
Here is how I would answer it. Every extra square metre adds UGX 3000 to the guess.
Question two. What would you change to lower the error? Say it quietly to yourself before anyone answers.
What I would say is this. Raise the intercept. Most guesses are below the real 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hands on the keyboard now. Try an intercept of 160000 and print the average error. Run it, then tell someone what you saw.
What you should find: The average error falls to about UGX 21822.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three scores side by side. The plain mean guess misses by about a hundred and nine thousand shillings. My hand drawn line misses by about fifty six thousand. The fitted line misses by about twenty thousand.
The computer tries many lines and keeps the one with the smallest average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steps. Fit shows the model examples, each with its inputs and its true answer, and the model learns a line. Predict gives the learned line a new input, with no answer, and gets a guess back.
Fit is learning. Predict is using what was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LinearRegression to find the best slope and intercept for the same eight homes. Compare its error with the baseline.
This is the part where you decide. Predict whether the fitted line's error is smaller or larger than your hand-guessed 56282. Guess on paper first. Surprises are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happens. Match each line of the output with the line of code that made it.
The cell prints 3221, 135838, 20077 and 109399. The fitted line has slope 3221 and intercept 135838 and misses by about UGX 20077 on these eight homes. Guessing the mean every time would miss by about UGX 109399. fit found the line, and predict will use it on a new input. These errors are measured on the eight homes the line learned from, so they look better than they will on new homes.
Which line of the output matches which line of the code? Point to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let scikit-learn fit the line. I have two questions for you.
Question one. Is a smaller error on the training homes proof that the line is good? Say it quietly to yourself before anyone answers.
What I would say is this. No. The line has seen these homes. A fair test uses new homes, which is next session.
Question two. How much better is the fitted line than the baseline? Give it thirty seconds and then we will hear a few answers.
Let me answer it. Its error is about a fifth of the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thing and watch what happens. Predict the rent for a home of 100 square metres. After you run it, say in one sentence what changed and how you checked.
You should see this. About UGX 457910.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line is drawn from the homes we have. Ask it about a home far outside that range and it still gives an answer, but nothing backs it up.
A number of ten thousand square metres is easy to type and meaningless to trust. Stay inside the range of your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ML14.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ValueError: Expected 2D array, got 1D array instead. It means this: the model needs a table of inputs, with rows and columns, and got a flat list. To fix it, use double brackets, such as [[35]], or select with homes[["area_m2"]].
The next one. You will see: ModuleNotFoundError: No module named 'sklearn'. It means this: the prepared camp environment is not active. To fix it, tell the instructor. Do not install packages.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How close does a straight line get to the rents of eight homes?
Finish this sentence in your notebook, in your own words. A fitted line has a slope and an intercept, and its error on the homes it learned from looks better than its error on new homes.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ML14  |  Predicting a number with a line</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Predicting a number with a line</a:t>
            </a:r>
            <a:endParaRPr lang="en-US" sz="5600" dirty="0"/>
          </a:p>
        </p:txBody>
      </p:sp>
      <p:sp>
        <p:nvSpPr>
          <p:cNvPr id="3" name="Text 1"/>
          <p:cNvSpPr txBox="1"/>
          <p:nvPr/>
        </p:nvSpPr>
        <p:spPr>
          <a:xfrm>
            <a:off x="640080" y="33883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How close does a straight line get to the rents of eight homes?</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14 of 24  |  Week 5, Baselines and a line</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How close does a straight line</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get to the rents of eight homes?</a:t>
            </a:r>
            <a:endParaRPr lang="en-US" sz="3600" dirty="0"/>
          </a:p>
        </p:txBody>
      </p:sp>
      <p:pic>
        <p:nvPicPr>
          <p:cNvPr id="3" name="Image 0" descr="Eight homes with a hand-drawn line, a fitted line and a flat mean line, with their average misses">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regressio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regression</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Predicting a number.</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Estimating a price.</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slop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slope</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How much the prediction changes when the input rises by one unit.</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Extra rent for every extra square metre.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intercept">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intercept</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prediction when the input is zero.</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starting fee before any distance is added.</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fi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fit</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Let the computer find the best slope and intercept from examples.</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Practising until the throws land close.</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predict">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predict</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Use the fitted line on a new input.</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Reading the answer off the line.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error">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error</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gap between a prediction and the real value.</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How far off your estimate was.</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line has a start and a rise per square metre</a:t>
            </a:r>
            <a:endParaRPr lang="en-US" sz="3800" dirty="0"/>
          </a:p>
        </p:txBody>
      </p:sp>
      <p:pic>
        <p:nvPicPr>
          <p:cNvPr id="3" name="Image 0" descr="A line has a start and a rise per square metr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intercept is the start at area zero.</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slope is the rise for each extra square metre.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Rent equals start plus slope times area.</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An error is the gap between line and real rent</a:t>
            </a:r>
            <a:endParaRPr lang="en-US" sz="3800" dirty="0"/>
          </a:p>
        </p:txBody>
      </p:sp>
      <p:pic>
        <p:nvPicPr>
          <p:cNvPr id="3" name="Image 0" descr="An error is the gap between line and real ren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black bar is one miss.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Ignore whether it is above or below.</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average of the bars is the score.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Guess a line, measure the error</a:t>
            </a:r>
            <a:endParaRPr lang="en-US" sz="3800" dirty="0"/>
          </a:p>
        </p:txBody>
      </p:sp>
      <p:sp>
        <p:nvSpPr>
          <p:cNvPr id="3" name="Shape 1"/>
          <p:cNvSpPr/>
          <p:nvPr/>
        </p:nvSpPr>
        <p:spPr>
          <a:xfrm>
            <a:off x="640080" y="1645920"/>
            <a:ext cx="10881360" cy="2255012"/>
          </a:xfrm>
          <a:prstGeom prst="roundRect">
            <a:avLst>
              <a:gd name="adj" fmla="val 3244"/>
            </a:avLst>
          </a:prstGeom>
          <a:solidFill>
            <a:srgbClr val="111111"/>
          </a:solidFill>
          <a:ln/>
        </p:spPr>
      </p:sp>
      <p:sp>
        <p:nvSpPr>
          <p:cNvPr id="4" name="Text 2"/>
          <p:cNvSpPr txBox="1"/>
          <p:nvPr/>
        </p:nvSpPr>
        <p:spPr>
          <a:xfrm>
            <a:off x="841248" y="1847088"/>
            <a:ext cx="10479024" cy="1852676"/>
          </a:xfrm>
          <a:prstGeom prst="rect">
            <a:avLst/>
          </a:prstGeom>
          <a:noFill/>
          <a:ln/>
        </p:spPr>
        <p:txBody>
          <a:bodyPr wrap="square" lIns="0" tIns="0" rIns="0" bIns="0" rtlCol="0" anchor="t"/>
          <a:lstStyle/>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import</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pandas </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as</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pd</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homes = pd.read_csv(</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"synthetic_homes.csv"</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).head(8)</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guess = 100000 + 3000 * homes[</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"area_m2"</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errors = (homes[</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"rent_ugx"</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 guess).abs()</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print(errors.mean())</a:t>
            </a:r>
            <a:endParaRPr lang="en-US" sz="2200" dirty="0"/>
          </a:p>
        </p:txBody>
      </p:sp>
      <p:sp>
        <p:nvSpPr>
          <p:cNvPr id="5" name="Text 3"/>
          <p:cNvSpPr txBox="1"/>
          <p:nvPr/>
        </p:nvSpPr>
        <p:spPr>
          <a:xfrm>
            <a:off x="640080" y="4083812"/>
            <a:ext cx="8046720" cy="2179828"/>
          </a:xfrm>
          <a:prstGeom prst="rect">
            <a:avLst/>
          </a:prstGeom>
          <a:noFill/>
          <a:ln/>
        </p:spPr>
        <p:txBody>
          <a:bodyPr wrap="square" lIns="0" tIns="0" rIns="0" bIns="0" rtlCol="0" anchor="t"/>
          <a:lstStyle/>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Predict whether the average error will be under UGX 10000 or over UGX 50000.</a:t>
            </a:r>
            <a:endParaRPr lang="en-US" sz="2600" dirty="0"/>
          </a:p>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Write your guess on paper before we run it.</a:t>
            </a:r>
            <a:endParaRPr lang="en-US" sz="2600" dirty="0"/>
          </a:p>
        </p:txBody>
      </p:sp>
      <p:pic>
        <p:nvPicPr>
          <p:cNvPr id="6" name="Image 0" descr="A page and a pen">    </p:cNvPr>
          <p:cNvPicPr>
            <a:picLocks noChangeAspect="1"/>
          </p:cNvPicPr>
          <p:nvPr/>
        </p:nvPicPr>
        <p:blipFill>
          <a:blip r:embed="rId1"/>
          <a:stretch>
            <a:fillRect/>
          </a:stretch>
        </p:blipFill>
        <p:spPr>
          <a:xfrm>
            <a:off x="10241280" y="503148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Guess a line, measure the error</a:t>
            </a:r>
            <a:endParaRPr lang="en-US" sz="3800" dirty="0"/>
          </a:p>
        </p:txBody>
      </p:sp>
      <p:sp>
        <p:nvSpPr>
          <p:cNvPr id="3" name="Shape 1"/>
          <p:cNvSpPr/>
          <p:nvPr/>
        </p:nvSpPr>
        <p:spPr>
          <a:xfrm>
            <a:off x="640080" y="1645920"/>
            <a:ext cx="6035040" cy="765556"/>
          </a:xfrm>
          <a:prstGeom prst="roundRect">
            <a:avLst>
              <a:gd name="adj" fmla="val 9555"/>
            </a:avLst>
          </a:prstGeom>
          <a:solidFill>
            <a:srgbClr val="FFFFFF"/>
          </a:solidFill>
          <a:ln w="15875">
            <a:solidFill>
              <a:srgbClr val="111111"/>
            </a:solidFill>
            <a:prstDash val="solid"/>
          </a:ln>
        </p:spPr>
      </p:sp>
      <p:sp>
        <p:nvSpPr>
          <p:cNvPr id="4" name="Text 2"/>
          <p:cNvSpPr txBox="1"/>
          <p:nvPr/>
        </p:nvSpPr>
        <p:spPr>
          <a:xfrm>
            <a:off x="822960" y="1828800"/>
            <a:ext cx="5669280" cy="39979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56282.25</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56282.25.</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Your guess is a straight line with intercept 100000 and slope 3000 shillings per square metre.</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On average it misses the real rent by about UGX 56282.</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Guess a line, measure the error</a:t>
            </a:r>
            <a:endParaRPr lang="en-US" sz="3800" dirty="0"/>
          </a:p>
        </p:txBody>
      </p:sp>
      <p:sp>
        <p:nvSpPr>
          <p:cNvPr id="3" name="Shape 1"/>
          <p:cNvSpPr/>
          <p:nvPr/>
        </p:nvSpPr>
        <p:spPr>
          <a:xfrm>
            <a:off x="7498080" y="1737360"/>
            <a:ext cx="4023360" cy="2981452"/>
          </a:xfrm>
          <a:prstGeom prst="roundRect">
            <a:avLst>
              <a:gd name="adj" fmla="val 2454"/>
            </a:avLst>
          </a:prstGeom>
          <a:solidFill>
            <a:srgbClr val="111111"/>
          </a:solidFill>
          <a:ln/>
        </p:spPr>
      </p:sp>
      <p:sp>
        <p:nvSpPr>
          <p:cNvPr id="4" name="Text 2"/>
          <p:cNvSpPr txBox="1"/>
          <p:nvPr/>
        </p:nvSpPr>
        <p:spPr>
          <a:xfrm>
            <a:off x="7699248" y="1938528"/>
            <a:ext cx="3621024" cy="2579116"/>
          </a:xfrm>
          <a:prstGeom prst="rect">
            <a:avLst/>
          </a:prstGeom>
          <a:noFill/>
          <a:ln/>
        </p:spPr>
        <p:txBody>
          <a:bodyPr wrap="square" lIns="0" tIns="0" rIns="0" bIns="0" rtlCol="0" anchor="t"/>
          <a:lstStyle/>
          <a:p>
            <a:pPr algn="l" indent="0" marL="0">
              <a:lnSpc>
                <a:spcPts val="1820"/>
              </a:lnSpc>
              <a:buNone/>
            </a:pPr>
            <a:r>
              <a:rPr lang="en-US" sz="1400" b="1" dirty="0">
                <a:solidFill>
                  <a:srgbClr val="FFFFFF"/>
                </a:solidFill>
                <a:latin typeface="Courier New" pitchFamily="34" charset="0"/>
                <a:ea typeface="Courier New" pitchFamily="34" charset="-122"/>
                <a:cs typeface="Courier New" pitchFamily="34" charset="-120"/>
              </a:rPr>
              <a:t>import</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pandas </a:t>
            </a:r>
            <a:pPr algn="l" indent="0" marL="0">
              <a:lnSpc>
                <a:spcPts val="1820"/>
              </a:lnSpc>
              <a:buNone/>
            </a:pPr>
            <a:r>
              <a:rPr lang="en-US" sz="1400" b="1" dirty="0">
                <a:solidFill>
                  <a:srgbClr val="FFFFFF"/>
                </a:solidFill>
                <a:latin typeface="Courier New" pitchFamily="34" charset="0"/>
                <a:ea typeface="Courier New" pitchFamily="34" charset="-122"/>
                <a:cs typeface="Courier New" pitchFamily="34" charset="-120"/>
              </a:rPr>
              <a:t>as</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pd</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homes = pd.read_csv(</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"synthetic_homes.csv"</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).head(8)</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guess = 100000 + 3000 * homes[</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"area_m2"</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errors = (</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homes[</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"rent_ugx"</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 guess</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).abs()</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print(errors.mean())</a:t>
            </a:r>
            <a:endParaRPr lang="en-US" sz="14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does a slope of 3000 mean in words?</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would you change to lower the error?</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Try an intercept of 160000 and print the average error.</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3163062"/>
          </a:xfrm>
          <a:prstGeom prst="roundRect">
            <a:avLst>
              <a:gd name="adj" fmla="val 2313"/>
            </a:avLst>
          </a:prstGeom>
          <a:solidFill>
            <a:srgbClr val="111111"/>
          </a:solidFill>
          <a:ln/>
        </p:spPr>
      </p:sp>
      <p:sp>
        <p:nvSpPr>
          <p:cNvPr id="5" name="Text 3"/>
          <p:cNvSpPr txBox="1"/>
          <p:nvPr/>
        </p:nvSpPr>
        <p:spPr>
          <a:xfrm>
            <a:off x="7424928" y="1938528"/>
            <a:ext cx="3895344" cy="2760726"/>
          </a:xfrm>
          <a:prstGeom prst="rect">
            <a:avLst/>
          </a:prstGeom>
          <a:noFill/>
          <a:ln/>
        </p:spPr>
        <p:txBody>
          <a:bodyPr wrap="square" lIns="0" tIns="0" rIns="0" bIns="0" rtlCol="0" anchor="t"/>
          <a:lstStyle/>
          <a:p>
            <a:pPr algn="l" indent="0" marL="0">
              <a:lnSpc>
                <a:spcPts val="1950"/>
              </a:lnSpc>
              <a:buNone/>
            </a:pPr>
            <a:r>
              <a:rPr lang="en-US" sz="1500" b="1" dirty="0">
                <a:solidFill>
                  <a:srgbClr val="FFFFFF"/>
                </a:solidFill>
                <a:latin typeface="Courier New" pitchFamily="34" charset="0"/>
                <a:ea typeface="Courier New" pitchFamily="34" charset="-122"/>
                <a:cs typeface="Courier New" pitchFamily="34" charset="-120"/>
              </a:rPr>
              <a:t>import</a:t>
            </a:r>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pandas </a:t>
            </a:r>
            <a:pPr algn="l" indent="0" marL="0">
              <a:lnSpc>
                <a:spcPts val="1950"/>
              </a:lnSpc>
              <a:buNone/>
            </a:pPr>
            <a:r>
              <a:rPr lang="en-US" sz="1500" b="1" dirty="0">
                <a:solidFill>
                  <a:srgbClr val="FFFFFF"/>
                </a:solidFill>
                <a:latin typeface="Courier New" pitchFamily="34" charset="0"/>
                <a:ea typeface="Courier New" pitchFamily="34" charset="-122"/>
                <a:cs typeface="Courier New" pitchFamily="34" charset="-120"/>
              </a:rPr>
              <a:t>as</a:t>
            </a:r>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pd</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homes = pd.read_csv(</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a:t>
            </a:r>
            <a:pPr algn="l" indent="0" marL="0">
              <a:lnSpc>
                <a:spcPts val="1950"/>
              </a:lnSpc>
              <a:buNone/>
            </a:pPr>
            <a:r>
              <a:rPr lang="en-US" sz="1500" dirty="0">
                <a:solidFill>
                  <a:srgbClr val="E0BE36"/>
                </a:solidFill>
                <a:latin typeface="Courier New" pitchFamily="34" charset="0"/>
                <a:ea typeface="Courier New" pitchFamily="34" charset="-122"/>
                <a:cs typeface="Courier New" pitchFamily="34" charset="-120"/>
              </a:rPr>
              <a:t>"synthetic_homes.csv"</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).head(8)</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guess = 100000 + 3000 * homes[</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a:t>
            </a:r>
            <a:pPr algn="l" indent="0" marL="0">
              <a:lnSpc>
                <a:spcPts val="1950"/>
              </a:lnSpc>
              <a:buNone/>
            </a:pPr>
            <a:r>
              <a:rPr lang="en-US" sz="1500" dirty="0">
                <a:solidFill>
                  <a:srgbClr val="E0BE36"/>
                </a:solidFill>
                <a:latin typeface="Courier New" pitchFamily="34" charset="0"/>
                <a:ea typeface="Courier New" pitchFamily="34" charset="-122"/>
                <a:cs typeface="Courier New" pitchFamily="34" charset="-120"/>
              </a:rPr>
              <a:t>"area_m2"</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errors = (</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homes[</a:t>
            </a:r>
            <a:pPr algn="l" indent="0" marL="0">
              <a:lnSpc>
                <a:spcPts val="1950"/>
              </a:lnSpc>
              <a:buNone/>
            </a:pPr>
            <a:r>
              <a:rPr lang="en-US" sz="1500" dirty="0">
                <a:solidFill>
                  <a:srgbClr val="E0BE36"/>
                </a:solidFill>
                <a:latin typeface="Courier New" pitchFamily="34" charset="0"/>
                <a:ea typeface="Courier New" pitchFamily="34" charset="-122"/>
                <a:cs typeface="Courier New" pitchFamily="34" charset="-120"/>
              </a:rPr>
              <a:t>"rent_ugx"</a:t>
            </a:r>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 guess</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).abs()</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print(errors.mean())</a:t>
            </a:r>
            <a:endParaRPr lang="en-US" sz="15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fitted line beats my guess and the flat mean</a:t>
            </a:r>
            <a:endParaRPr lang="en-US" sz="3800" dirty="0"/>
          </a:p>
        </p:txBody>
      </p:sp>
      <p:pic>
        <p:nvPicPr>
          <p:cNvPr id="3" name="Image 0" descr="The fitted line beats my guess and the flat mean">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Always the mean: 109,399. My hand line: 56,282. The fitted line: 20,077.</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Fit learns the line and predict reads a new answer</a:t>
            </a:r>
            <a:endParaRPr lang="en-US" sz="3600" dirty="0"/>
          </a:p>
        </p:txBody>
      </p:sp>
      <p:pic>
        <p:nvPicPr>
          <p:cNvPr id="3" name="Image 0" descr="Fit learns the line and predict reads a new answer">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Fit takes inputs and answers together.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result is a learned line.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Predict gives a guess for a new input.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Let scikit-learn fit the line</a:t>
            </a:r>
            <a:endParaRPr lang="en-US" sz="3800" dirty="0"/>
          </a:p>
        </p:txBody>
      </p:sp>
      <p:sp>
        <p:nvSpPr>
          <p:cNvPr id="3" name="Shape 1"/>
          <p:cNvSpPr/>
          <p:nvPr/>
        </p:nvSpPr>
        <p:spPr>
          <a:xfrm>
            <a:off x="640080" y="1645920"/>
            <a:ext cx="10881360" cy="3383280"/>
          </a:xfrm>
          <a:prstGeom prst="roundRect">
            <a:avLst>
              <a:gd name="adj" fmla="val 2162"/>
            </a:avLst>
          </a:prstGeom>
          <a:solidFill>
            <a:srgbClr val="111111"/>
          </a:solidFill>
          <a:ln/>
        </p:spPr>
      </p:sp>
      <p:sp>
        <p:nvSpPr>
          <p:cNvPr id="4" name="Text 2"/>
          <p:cNvSpPr txBox="1"/>
          <p:nvPr/>
        </p:nvSpPr>
        <p:spPr>
          <a:xfrm>
            <a:off x="841248" y="1847088"/>
            <a:ext cx="10479024" cy="2980944"/>
          </a:xfrm>
          <a:prstGeom prst="rect">
            <a:avLst/>
          </a:prstGeom>
          <a:noFill/>
          <a:ln/>
        </p:spPr>
        <p:txBody>
          <a:bodyPr wrap="square" lIns="0" tIns="0" rIns="0" bIns="0" rtlCol="0" anchor="t"/>
          <a:lstStyle/>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from</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sklearn.linear_model </a:t>
            </a:r>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import</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LinearRegression</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X = homes[[</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"area_m2"</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y = homes[</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"rent_ugx"</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model = LinearRegression().fit(X, y)</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fit_error = (y - model.predict(X)).abs().mean()</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baseline_error = (y - y.mean()).abs().mean()</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round(model.coef_[0]), round(model.intercept_),</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round(fit_error), round(baseline_error)</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p:txBody>
      </p:sp>
      <p:sp>
        <p:nvSpPr>
          <p:cNvPr id="5" name="Text 3"/>
          <p:cNvSpPr txBox="1"/>
          <p:nvPr/>
        </p:nvSpPr>
        <p:spPr>
          <a:xfrm>
            <a:off x="640080" y="5212080"/>
            <a:ext cx="8046720" cy="1051560"/>
          </a:xfrm>
          <a:prstGeom prst="rect">
            <a:avLst/>
          </a:prstGeom>
          <a:noFill/>
          <a:ln/>
        </p:spPr>
        <p:txBody>
          <a:bodyPr wrap="square" lIns="0" tIns="0" rIns="0" bIns="0" rtlCol="0" anchor="t"/>
          <a:lstStyle/>
          <a:p>
            <a:pPr algn="l" indent="0" marL="0">
              <a:lnSpc>
                <a:spcPts val="2280"/>
              </a:lnSpc>
              <a:spcAft>
                <a:spcPts val="1010"/>
              </a:spcAft>
              <a:buNone/>
            </a:pPr>
            <a:r>
              <a:rPr lang="en-US" sz="1900" dirty="0">
                <a:solidFill>
                  <a:srgbClr val="111111"/>
                </a:solidFill>
                <a:latin typeface="Lato" pitchFamily="34" charset="0"/>
                <a:ea typeface="Lato" pitchFamily="34" charset="-122"/>
                <a:cs typeface="Lato" pitchFamily="34" charset="-120"/>
              </a:rPr>
              <a:t>Predict whether the fitted line's error is smaller or larger than your hand-guessed 56282.</a:t>
            </a:r>
            <a:endParaRPr lang="en-US" sz="1900" dirty="0"/>
          </a:p>
          <a:p>
            <a:pPr algn="l" indent="0" marL="0">
              <a:lnSpc>
                <a:spcPts val="2280"/>
              </a:lnSpc>
              <a:spcAft>
                <a:spcPts val="1010"/>
              </a:spcAft>
              <a:buNone/>
            </a:pPr>
            <a:r>
              <a:rPr lang="en-US" sz="1900" dirty="0">
                <a:solidFill>
                  <a:srgbClr val="111111"/>
                </a:solidFill>
                <a:latin typeface="Lato" pitchFamily="34" charset="0"/>
                <a:ea typeface="Lato" pitchFamily="34" charset="-122"/>
                <a:cs typeface="Lato" pitchFamily="34" charset="-120"/>
              </a:rPr>
              <a:t>Write your guess on paper before we run it.</a:t>
            </a:r>
            <a:endParaRPr lang="en-US" sz="1900" dirty="0"/>
          </a:p>
        </p:txBody>
      </p:sp>
      <p:pic>
        <p:nvPicPr>
          <p:cNvPr id="6" name="Image 0" descr="A page and a pen">    </p:cNvPr>
          <p:cNvPicPr>
            <a:picLocks noChangeAspect="1"/>
          </p:cNvPicPr>
          <p:nvPr/>
        </p:nvPicPr>
        <p:blipFill>
          <a:blip r:embed="rId1"/>
          <a:stretch>
            <a:fillRect/>
          </a:stretch>
        </p:blipFill>
        <p:spPr>
          <a:xfrm>
            <a:off x="10241280" y="521436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Let scikit-learn fit the line</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cell prints 3221, 135838, 20077 and 109399.</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fitted line has slope 3221 and intercept 135838 and misses by about UGX 20077 on these eight homes.</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Guessing the mean every time would miss by about UGX 109399.</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Let scikit-learn fit the line</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Is a smaller error on the training homes proof that the line is good?</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How much better is the fitted line than the baseline?</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Predict the rent for a home of 100 square metres.</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line is trustworthy near its examples only</a:t>
            </a:r>
            <a:endParaRPr lang="en-US" sz="3800" dirty="0"/>
          </a:p>
        </p:txBody>
      </p:sp>
      <p:pic>
        <p:nvPicPr>
          <p:cNvPr id="3" name="Image 0" descr="A line is trustworthy near its examples only">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Examples live in one region.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Far from them there is no evidence.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Ask for predictions inside the data.</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Use X = [[10], [20], [30], [40]] and y = [100, 200, 300, 400]. Fit a line and predict at 35. Explain in your own words what X, y, fit and predict mean, and why predicting at 1000 is risky.</a:t>
            </a:r>
            <a:endParaRPr lang="en-US" sz="3000" dirty="0"/>
          </a:p>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Save it as ML14. Write two sentences: what you changed and how you checked it.</a:t>
            </a:r>
            <a:endParaRPr lang="en-US" sz="30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ValueError: Expected 2D array, got 1D array instead</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model needs a table of inputs, with rows and columns, and got a flat list.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Use double brackets, such as [[35]], or select with homes[["area_m2"]].</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ModuleNotFoundError: No module named 'sklearn'</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prepared camp environment is not active.</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Tell the instructor. Do not install packages.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440"/>
              </a:lnSpc>
              <a:spcAft>
                <a:spcPts val="1010"/>
              </a:spcAft>
              <a:buNone/>
            </a:pPr>
            <a:r>
              <a:rPr lang="en-US" sz="3700" dirty="0">
                <a:solidFill>
                  <a:srgbClr val="111111"/>
                </a:solidFill>
                <a:latin typeface="Lato" pitchFamily="34" charset="0"/>
                <a:ea typeface="Lato" pitchFamily="34" charset="-122"/>
                <a:cs typeface="Lato" pitchFamily="34" charset="-120"/>
              </a:rPr>
              <a:t>A fitted line has a slope and an intercept, and its error on the homes it learned from looks better than its error on new homes.</a:t>
            </a:r>
            <a:endParaRPr lang="en-US" sz="37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ML14 Predicting a number with a line</dc:title>
  <dc:subject>Machine Learning</dc:subject>
  <dc:creator>KLAi</dc:creator>
  <cp:lastModifiedBy>KLAi</cp:lastModifiedBy>
  <cp:revision>1</cp:revision>
  <dcterms:created xsi:type="dcterms:W3CDTF">2026-10-31T12:26:31Z</dcterms:created>
  <dcterms:modified xsi:type="dcterms:W3CDTF">2026-10-31T12:26:31Z</dcterms:modified>
</cp:coreProperties>
</file>