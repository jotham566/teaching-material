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31c97d8-4e9f-386d-9fac-2675d9a18b7e}">
          <p14:sldIdLst>
            <p14:sldId id="256"/>
            <p14:sldId id="257"/>
            <p14:sldId id="258"/>
            <p14:sldId id="259"/>
            <p14:sldId id="260"/>
            <p14:sldId id="261"/>
            <p14:sldId id="262"/>
          </p14:sldIdLst>
        </p14:section>
        <p14:section name="Block A" id="{6c01f1d8-f663-5498-6dcb-ac0a68a6d965}">
          <p14:sldIdLst>
            <p14:sldId id="263"/>
            <p14:sldId id="264"/>
            <p14:sldId id="265"/>
            <p14:sldId id="266"/>
            <p14:sldId id="268"/>
          </p14:sldIdLst>
        </p14:section>
        <p14:section name="Break" id="{47036bfe-92cd-b431-64f2-f80c0a4c4f4c}">
          <p14:sldIdLst>
            <p14:sldId id="267"/>
          </p14:sldIdLst>
        </p14:section>
        <p14:section name="Block A" id="{c03394d1-d6f1-57ff-e149-ea5951778b30}">
          <p14:sldIdLst/>
        </p14:section>
        <p14:section name="Block B" id="{8f491785-a22a-2d8c-dfc9-b08b14a994af}">
          <p14:sldIdLst>
            <p14:sldId id="269"/>
            <p14:sldId id="270"/>
            <p14:sldId id="271"/>
            <p14:sldId id="272"/>
            <p14:sldId id="273"/>
          </p14:sldIdLst>
        </p14:section>
        <p14:section name="Make and close" id="{9b7377a1-53ed-3f6d-4685-a4bcf3ee5014}">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go. Today is session 19 and our topic is project data and a safe plan.
By the end of today you will be able to describe a supplied dataset, spot a leakage column, and write a seven-heading project plan the instructor can approve.
We will answer one question: Which dataset and which question can I answer with a fair test in two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have met three datasets. The homes file has a hundred and twenty homes and its target is the rent, a number. The fares file has a hundred and fifty boda-boda trips and its target is the fare, also a number. The iris file has a hundred and fifty flowers and its target is the species, a category. For your project you pick the one you can answer with a fair test in two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3 hours go. Each bar is as long as the time we spend on that part.
First, 10 minutes. Recall. Then, 40 minutes. Data tour. After that, 15 minutes. Break. Next, 35 minutes. Leakage and the seven headings. Then, 60 minutes. Writing PROJECT_PLAN.md and instructor approval. Then, 20 minutes. AI disclosure rules and exit check.
Notice how much of the time is yours. You listen for a short while and then you do. That is on purpose, because you learn this by doing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words for today. Listen for the picture that goes with each one.
project plan. A short page that fixes the question, data, target, inputs, baseline, test and limits before any building. You have seen this before. A drawing of the house before laying bricks.
leakage column. A column only known after the answer, so it must not be an input. A tip that is only known after the ride.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words to know before we start.
inputs. The columns known before the prediction. Imagine it like this. The clues you are given.
limits. What the data and the model cannot tell us. An example from everyday life. The edges of the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a boda-boda trip in time. At booking we know the distance, whether it is rush hour and whether it is raining. When the ride ends we know the fare. Afterwards, maybe, comes a tip.
The tip is known too late to help predict the fare, so it must stay out of the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Correlation measures how closely two columns move together. The tip moves most closely with the fare, at zero point eight eight. Distance is next, at zero point seven six.
A high number tempts us to use the tip. But the tip is only known after the trip, so using it would be cheating.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synthetic_fares.csv holds 150 invented boda-boda trips. Look at its shape and at how each column moves with the fare.
Now your guess. Predict which column moves most closely with fare_ugx. Write one line on paper. I will give you a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the output as it appears. Match each line of the output with the line of code that made it.
The table has 150 rows and 6 columns. Distance has a correlation of 0.76 with the fare, rain 0.12 and rush hour about minus 0.08. The tip column has the highest value, 0.88. A correlation near 1 means the two columns rise together. The tip rises with the fare because it is a share of the fare, and it is only known after the trip, so using it to predict the fare would be cheating. That makes tip_ugx a leakage column.
Tell the person next to you whether your guess matched.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tour the fares data. I have two questions for you.
Question one. Why can tip_ugx not be an input? Have a go in your head first.
Here is how I would answer it. It is known only after the ride, and it is calculated from the fare. The model would be given the answer.
Question two. Which columns are sensible inputs? Write your answer in one line before we compare.
What I would say is this. distance_km, rush_hour and raining. All three are known before the ride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hands on the keyboard now. Print the correlation of the fare with the trip_id column. When you have run it, tell your neighbour what changed and how you know.
Here is what happens. It is close to zero: trip_id is only a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time. 15 minutes away from your screens. Stand up, drink some water and tell someone what you guessed in the first half.
When we come back we start the second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is a question that fits two weeks. Can distance and rush hour predict a boda-boda fare? There is data, and the answer is a number. On the right is a question that is far too big. Nothing in our files can answer it.
Test your own question against these two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has seven headings: question, dataset, target, inputs, baseline, evaluation and limits. Write one sentence under each.
This is the part where you decide. Write the target and two inputs for your project before looking at the example. Jot it on paper before anyone speaks.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see what happens. Match each line of the output with the line of code that made it.
An example plan: question, can distance and rush hour predict a boda-boda fare; dataset, synthetic_fares.csv; target, fare_ugx; inputs, distance_km, rush_hour and raining; baseline, the mean fare of the training trips; evaluation, mean absolute error in shillings on a locked test; limits, invented data and 150 trips. The options are synthetic_homes.csv (rent from area and rooms), synthetic_fares.csv and the iris flowers. Real people's records are not used. Repeat the AI rules: any assisted step is logged in AI_USE_LOG.md after your own attempt, or the log says No AI assistance used.
Which line of the output matches which line of the code? Point to each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A plan needs seven headings. I have two questions for you.
Question one. Which heading stops you using the test answers to choose a model? Write your answer in one line before we compare.
What I would say is this. Evaluation. It states which rows are locked and which metric is used.
Question two. Why is the home_id column not an input for homes? Say it quietly to yourself before anyone answers.
Let me answer it. It is only a label. It carries no information about 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one thing and watch what happens. Write the leakage column you will exclude and why. Run it, then tell someone what you saw.
What you should find: For fares: tip_ugx, because it is known only after the trip.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plan has seven headings: the question, the dataset, the target, the inputs, the baseline, the evaluation and the limits. Fill them in before you write a single line of code.
The plan keeps you honest. When the results arrive, you cannot quietly change the question to fit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you do the real work yourself. Start with the first step. If you get stuck for a few minutes, read your error message, check the error card, and then ask me.
Save it as ML19. I will come round to each of you and ask what you changed and how you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are likely to go wrong today. It helps to know them before they happen.
This is the first one. You will see: KeyError: 'tip'. It means this: the column is called tip_ugx. To fix it, print fares.columns and copy the exact names.
The next one. You will see: The plan promises too much. It means this: it asks for real people's data, an app or a neural network. To fix it, reduce it to one supplied table, one target and one baseline.
If you meet one of these, fix it and carry on. It happens to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finish, go back to the question we began with: Which dataset and which question can I answer with a fair test in two weeks?
Copy this sentence into your notebook and make it yours. A project plan names the question, target, inputs and test before any code, and it excludes the column that gives the answer away.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ML19  |  Project data and a safe plan</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1.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Project data and a safe plan</a:t>
            </a:r>
            <a:endParaRPr lang="en-US" sz="5600" dirty="0"/>
          </a:p>
        </p:txBody>
      </p:sp>
      <p:sp>
        <p:nvSpPr>
          <p:cNvPr id="3" name="Text 1"/>
          <p:cNvSpPr txBox="1"/>
          <p:nvPr/>
        </p:nvSpPr>
        <p:spPr>
          <a:xfrm>
            <a:off x="640080" y="338836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Which dataset and which question can I answer with a fair test in two weeks?</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Machine Learning  |  Session 19 of 24  |  Week 7, Your project</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Which dataset and which question can</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I answer with a fair test in two weeks?</a:t>
            </a:r>
            <a:endParaRPr lang="en-US" sz="3600" dirty="0"/>
          </a:p>
        </p:txBody>
      </p:sp>
      <p:pic>
        <p:nvPicPr>
          <p:cNvPr id="3" name="Image 0" descr="Three datasets: homes, boda-boda fares and iris flowers, each with inputs and a target">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Three hours, mostly doing</a:t>
            </a:r>
            <a:endParaRPr lang="en-US" sz="3800" dirty="0"/>
          </a:p>
        </p:txBody>
      </p:sp>
      <p:pic>
        <p:nvPicPr>
          <p:cNvPr id="3" name="Image 0" descr="The plan for the session: start time, minutes and what we do">    </p:cNvPr>
          <p:cNvPicPr>
            <a:picLocks noChangeAspect="1"/>
          </p:cNvPicPr>
          <p:nvPr/>
        </p:nvPicPr>
        <p:blipFill>
          <a:blip r:embed="rId1"/>
          <a:stretch>
            <a:fillRect/>
          </a:stretch>
        </p:blipFill>
        <p:spPr>
          <a:xfrm>
            <a:off x="640080" y="1600200"/>
            <a:ext cx="10881360" cy="4133088"/>
          </a:xfrm>
          <a:prstGeom prst="rect">
            <a:avLst/>
          </a:prstGeom>
        </p:spPr>
      </p:pic>
      <p:sp>
        <p:nvSpPr>
          <p:cNvPr id="4" name="Text 1"/>
          <p:cNvSpPr txBox="1"/>
          <p:nvPr/>
        </p:nvSpPr>
        <p:spPr>
          <a:xfrm>
            <a:off x="640080" y="5852160"/>
            <a:ext cx="10881360" cy="45720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Most of our time is spent doing, in small steps, with a guess before every run.</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(1 of 2)</a:t>
            </a:r>
            <a:endParaRPr lang="en-US" sz="3800" dirty="0"/>
          </a:p>
        </p:txBody>
      </p:sp>
      <p:pic>
        <p:nvPicPr>
          <p:cNvPr id="3" name="Image 0" descr="project plan">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554480"/>
          </a:xfrm>
          <a:prstGeom prst="rect">
            <a:avLst/>
          </a:prstGeom>
          <a:noFill/>
          <a:ln/>
        </p:spPr>
        <p:txBody>
          <a:bodyPr wrap="square" lIns="0" tIns="0" rIns="0" bIns="0" rtlCol="0" anchor="ctr"/>
          <a:lstStyle/>
          <a:p>
            <a:pPr algn="l" indent="0" marL="0">
              <a:lnSpc>
                <a:spcPts val="3720"/>
              </a:lnSpc>
              <a:buNone/>
            </a:pPr>
            <a:r>
              <a:rPr lang="en-US" sz="3100" b="1" dirty="0">
                <a:solidFill>
                  <a:srgbClr val="111111"/>
                </a:solidFill>
                <a:latin typeface="Lato" pitchFamily="34" charset="0"/>
                <a:ea typeface="Lato" pitchFamily="34" charset="-122"/>
                <a:cs typeface="Lato" pitchFamily="34" charset="-120"/>
              </a:rPr>
              <a:t>project plan</a:t>
            </a:r>
            <a:endParaRPr lang="en-US" sz="31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520"/>
              </a:lnSpc>
              <a:buNone/>
            </a:pPr>
            <a:r>
              <a:rPr lang="en-US" sz="2100" dirty="0">
                <a:solidFill>
                  <a:srgbClr val="111111"/>
                </a:solidFill>
                <a:latin typeface="Lato" pitchFamily="34" charset="0"/>
                <a:ea typeface="Lato" pitchFamily="34" charset="-122"/>
                <a:cs typeface="Lato" pitchFamily="34" charset="-120"/>
              </a:rPr>
              <a:t>A short page that fixes the question, data, target, inputs, baseline, test and limits before any building.</a:t>
            </a:r>
            <a:endParaRPr lang="en-US" sz="2100" dirty="0"/>
          </a:p>
        </p:txBody>
      </p:sp>
      <p:sp>
        <p:nvSpPr>
          <p:cNvPr id="6" name="Text 3"/>
          <p:cNvSpPr txBox="1"/>
          <p:nvPr/>
        </p:nvSpPr>
        <p:spPr>
          <a:xfrm>
            <a:off x="5120640" y="251460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drawing of the house before laying bricks.</a:t>
            </a:r>
            <a:endParaRPr lang="en-US" sz="1900" dirty="0"/>
          </a:p>
        </p:txBody>
      </p:sp>
      <p:sp>
        <p:nvSpPr>
          <p:cNvPr id="7" name="Shape 4"/>
          <p:cNvSpPr/>
          <p:nvPr/>
        </p:nvSpPr>
        <p:spPr>
          <a:xfrm>
            <a:off x="640080" y="3392424"/>
            <a:ext cx="10881360" cy="0"/>
          </a:xfrm>
          <a:prstGeom prst="line">
            <a:avLst/>
          </a:prstGeom>
          <a:noFill/>
          <a:ln w="12700">
            <a:solidFill>
              <a:srgbClr val="CFCFCF"/>
            </a:solidFill>
            <a:prstDash val="solid"/>
          </a:ln>
        </p:spPr>
      </p:sp>
      <p:pic>
        <p:nvPicPr>
          <p:cNvPr id="8" name="Image 1" descr="leakage column">    </p:cNvPr>
          <p:cNvPicPr>
            <a:picLocks noChangeAspect="1"/>
          </p:cNvPicPr>
          <p:nvPr/>
        </p:nvPicPr>
        <p:blipFill>
          <a:blip r:embed="rId2"/>
          <a:stretch>
            <a:fillRect/>
          </a:stretch>
        </p:blipFill>
        <p:spPr>
          <a:xfrm>
            <a:off x="640080" y="3520440"/>
            <a:ext cx="1188720" cy="1188720"/>
          </a:xfrm>
          <a:prstGeom prst="rect">
            <a:avLst/>
          </a:prstGeom>
        </p:spPr>
      </p:pic>
      <p:sp>
        <p:nvSpPr>
          <p:cNvPr id="9" name="Text 5"/>
          <p:cNvSpPr txBox="1"/>
          <p:nvPr/>
        </p:nvSpPr>
        <p:spPr>
          <a:xfrm>
            <a:off x="2011680" y="3474720"/>
            <a:ext cx="2926080" cy="1554480"/>
          </a:xfrm>
          <a:prstGeom prst="rect">
            <a:avLst/>
          </a:prstGeom>
          <a:noFill/>
          <a:ln/>
        </p:spPr>
        <p:txBody>
          <a:bodyPr wrap="square" lIns="0" tIns="0" rIns="0" bIns="0" rtlCol="0" anchor="ctr"/>
          <a:lstStyle/>
          <a:p>
            <a:pPr algn="l" indent="0" marL="0">
              <a:lnSpc>
                <a:spcPts val="3480"/>
              </a:lnSpc>
              <a:buNone/>
            </a:pPr>
            <a:r>
              <a:rPr lang="en-US" sz="2900" b="1" dirty="0">
                <a:solidFill>
                  <a:srgbClr val="111111"/>
                </a:solidFill>
                <a:latin typeface="Lato" pitchFamily="34" charset="0"/>
                <a:ea typeface="Lato" pitchFamily="34" charset="-122"/>
                <a:cs typeface="Lato" pitchFamily="34" charset="-120"/>
              </a:rPr>
              <a:t>leakage column</a:t>
            </a:r>
            <a:endParaRPr lang="en-US" sz="2900" dirty="0"/>
          </a:p>
        </p:txBody>
      </p:sp>
      <p:sp>
        <p:nvSpPr>
          <p:cNvPr id="10" name="Text 6"/>
          <p:cNvSpPr txBox="1"/>
          <p:nvPr/>
        </p:nvSpPr>
        <p:spPr>
          <a:xfrm>
            <a:off x="5120640" y="352044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column only known after the answer, so it must not be an input.</a:t>
            </a:r>
            <a:endParaRPr lang="en-US" sz="2200" dirty="0"/>
          </a:p>
        </p:txBody>
      </p:sp>
      <p:sp>
        <p:nvSpPr>
          <p:cNvPr id="11" name="Text 7"/>
          <p:cNvSpPr txBox="1"/>
          <p:nvPr/>
        </p:nvSpPr>
        <p:spPr>
          <a:xfrm>
            <a:off x="5120640" y="428244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tip that is only known after the ride.</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(2 of 2)</a:t>
            </a:r>
            <a:endParaRPr lang="en-US" sz="3800" dirty="0"/>
          </a:p>
        </p:txBody>
      </p:sp>
      <p:pic>
        <p:nvPicPr>
          <p:cNvPr id="3" name="Image 0" descr="inputs">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554480"/>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inputs</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columns known before the prediction.</a:t>
            </a:r>
            <a:endParaRPr lang="en-US" sz="2200" dirty="0"/>
          </a:p>
        </p:txBody>
      </p:sp>
      <p:sp>
        <p:nvSpPr>
          <p:cNvPr id="6" name="Text 3"/>
          <p:cNvSpPr txBox="1"/>
          <p:nvPr/>
        </p:nvSpPr>
        <p:spPr>
          <a:xfrm>
            <a:off x="5120640" y="220980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clues you are given.</a:t>
            </a:r>
            <a:endParaRPr lang="en-US" sz="1900" dirty="0"/>
          </a:p>
        </p:txBody>
      </p:sp>
      <p:sp>
        <p:nvSpPr>
          <p:cNvPr id="7" name="Shape 4"/>
          <p:cNvSpPr/>
          <p:nvPr/>
        </p:nvSpPr>
        <p:spPr>
          <a:xfrm>
            <a:off x="640080" y="3392424"/>
            <a:ext cx="10881360" cy="0"/>
          </a:xfrm>
          <a:prstGeom prst="line">
            <a:avLst/>
          </a:prstGeom>
          <a:noFill/>
          <a:ln w="12700">
            <a:solidFill>
              <a:srgbClr val="CFCFCF"/>
            </a:solidFill>
            <a:prstDash val="solid"/>
          </a:ln>
        </p:spPr>
      </p:sp>
      <p:pic>
        <p:nvPicPr>
          <p:cNvPr id="8" name="Image 1" descr="limits">    </p:cNvPr>
          <p:cNvPicPr>
            <a:picLocks noChangeAspect="1"/>
          </p:cNvPicPr>
          <p:nvPr/>
        </p:nvPicPr>
        <p:blipFill>
          <a:blip r:embed="rId2"/>
          <a:stretch>
            <a:fillRect/>
          </a:stretch>
        </p:blipFill>
        <p:spPr>
          <a:xfrm>
            <a:off x="640080" y="3520440"/>
            <a:ext cx="1188720" cy="1188720"/>
          </a:xfrm>
          <a:prstGeom prst="rect">
            <a:avLst/>
          </a:prstGeom>
        </p:spPr>
      </p:pic>
      <p:sp>
        <p:nvSpPr>
          <p:cNvPr id="9" name="Text 5"/>
          <p:cNvSpPr txBox="1"/>
          <p:nvPr/>
        </p:nvSpPr>
        <p:spPr>
          <a:xfrm>
            <a:off x="2011680" y="3474720"/>
            <a:ext cx="2926080" cy="1554480"/>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limits</a:t>
            </a:r>
            <a:endParaRPr lang="en-US" sz="3400" dirty="0"/>
          </a:p>
        </p:txBody>
      </p:sp>
      <p:sp>
        <p:nvSpPr>
          <p:cNvPr id="10" name="Text 6"/>
          <p:cNvSpPr txBox="1"/>
          <p:nvPr/>
        </p:nvSpPr>
        <p:spPr>
          <a:xfrm>
            <a:off x="5120640" y="352044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What the data and the model cannot tell us.</a:t>
            </a:r>
            <a:endParaRPr lang="en-US" sz="2200" dirty="0"/>
          </a:p>
        </p:txBody>
      </p:sp>
      <p:sp>
        <p:nvSpPr>
          <p:cNvPr id="11" name="Text 7"/>
          <p:cNvSpPr txBox="1"/>
          <p:nvPr/>
        </p:nvSpPr>
        <p:spPr>
          <a:xfrm>
            <a:off x="5120640" y="394716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edges of the map.</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Only columns known at booking can be inputs</a:t>
            </a:r>
            <a:endParaRPr lang="en-US" sz="3800" dirty="0"/>
          </a:p>
        </p:txBody>
      </p:sp>
      <p:pic>
        <p:nvPicPr>
          <p:cNvPr id="3" name="Image 0" descr="Only columns known at booking can be inputs">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Distance, rush hour and rain are known at booking.</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fare is known when the ride ends.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tip comes after, so it leaks.</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The tip tracks the fare most closely: a warning</a:t>
            </a:r>
            <a:endParaRPr lang="en-US" sz="3800" dirty="0"/>
          </a:p>
        </p:txBody>
      </p:sp>
      <p:pic>
        <p:nvPicPr>
          <p:cNvPr id="3" name="Image 0" descr="The tip tracks the fare most closely: a warning">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tip has the highest correlation, 0.88.</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Distance follows at 0.76.</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 strong link does not make a column fair.</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Tour the fares data</a:t>
            </a:r>
            <a:endParaRPr lang="en-US" sz="3800" dirty="0"/>
          </a:p>
        </p:txBody>
      </p:sp>
      <p:sp>
        <p:nvSpPr>
          <p:cNvPr id="3" name="Shape 1"/>
          <p:cNvSpPr/>
          <p:nvPr/>
        </p:nvSpPr>
        <p:spPr>
          <a:xfrm>
            <a:off x="640080" y="1645920"/>
            <a:ext cx="10881360" cy="2964942"/>
          </a:xfrm>
          <a:prstGeom prst="roundRect">
            <a:avLst>
              <a:gd name="adj" fmla="val 2467"/>
            </a:avLst>
          </a:prstGeom>
          <a:solidFill>
            <a:srgbClr val="111111"/>
          </a:solidFill>
          <a:ln/>
        </p:spPr>
      </p:sp>
      <p:sp>
        <p:nvSpPr>
          <p:cNvPr id="4" name="Text 2"/>
          <p:cNvSpPr txBox="1"/>
          <p:nvPr/>
        </p:nvSpPr>
        <p:spPr>
          <a:xfrm>
            <a:off x="841248" y="1847088"/>
            <a:ext cx="10479024" cy="2562606"/>
          </a:xfrm>
          <a:prstGeom prst="rect">
            <a:avLst/>
          </a:prstGeom>
          <a:noFill/>
          <a:ln/>
        </p:spPr>
        <p:txBody>
          <a:bodyPr wrap="square" lIns="0" tIns="0" rIns="0" bIns="0" rtlCol="0" anchor="t"/>
          <a:lstStyle/>
          <a:p>
            <a:pPr algn="l" indent="0" marL="0">
              <a:lnSpc>
                <a:spcPts val="2210"/>
              </a:lnSpc>
              <a:buNone/>
            </a:pPr>
            <a:r>
              <a:rPr lang="en-US" sz="1700" b="1" dirty="0">
                <a:solidFill>
                  <a:srgbClr val="FFFFFF"/>
                </a:solidFill>
                <a:latin typeface="Courier New" pitchFamily="34" charset="0"/>
                <a:ea typeface="Courier New" pitchFamily="34" charset="-122"/>
                <a:cs typeface="Courier New" pitchFamily="34" charset="-120"/>
              </a:rPr>
              <a:t>import</a:t>
            </a:r>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 pandas </a:t>
            </a:r>
            <a:pPr algn="l" indent="0" marL="0">
              <a:lnSpc>
                <a:spcPts val="2210"/>
              </a:lnSpc>
              <a:buNone/>
            </a:pPr>
            <a:r>
              <a:rPr lang="en-US" sz="1700" b="1" dirty="0">
                <a:solidFill>
                  <a:srgbClr val="FFFFFF"/>
                </a:solidFill>
                <a:latin typeface="Courier New" pitchFamily="34" charset="0"/>
                <a:ea typeface="Courier New" pitchFamily="34" charset="-122"/>
                <a:cs typeface="Courier New" pitchFamily="34" charset="-120"/>
              </a:rPr>
              <a:t>as</a:t>
            </a:r>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 pd</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fares = pd.read_csv(</a:t>
            </a:r>
            <a:pPr algn="l" indent="0" marL="0">
              <a:lnSpc>
                <a:spcPts val="2210"/>
              </a:lnSpc>
              <a:buNone/>
            </a:pPr>
            <a:r>
              <a:rPr lang="en-US" sz="1700" dirty="0">
                <a:solidFill>
                  <a:srgbClr val="E0BE36"/>
                </a:solidFill>
                <a:latin typeface="Courier New" pitchFamily="34" charset="0"/>
                <a:ea typeface="Courier New" pitchFamily="34" charset="-122"/>
                <a:cs typeface="Courier New" pitchFamily="34" charset="-120"/>
              </a:rPr>
              <a:t>"synthetic_fares.csv"</a:t>
            </a:r>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print(fares.shape)</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corr = (</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    fares[[</a:t>
            </a:r>
            <a:pPr algn="l" indent="0" marL="0">
              <a:lnSpc>
                <a:spcPts val="2210"/>
              </a:lnSpc>
              <a:buNone/>
            </a:pPr>
            <a:r>
              <a:rPr lang="en-US" sz="1700" dirty="0">
                <a:solidFill>
                  <a:srgbClr val="E0BE36"/>
                </a:solidFill>
                <a:latin typeface="Courier New" pitchFamily="34" charset="0"/>
                <a:ea typeface="Courier New" pitchFamily="34" charset="-122"/>
                <a:cs typeface="Courier New" pitchFamily="34" charset="-120"/>
              </a:rPr>
              <a:t>"distance_km"</a:t>
            </a:r>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 </a:t>
            </a:r>
            <a:pPr algn="l" indent="0" marL="0">
              <a:lnSpc>
                <a:spcPts val="2210"/>
              </a:lnSpc>
              <a:buNone/>
            </a:pPr>
            <a:r>
              <a:rPr lang="en-US" sz="1700" dirty="0">
                <a:solidFill>
                  <a:srgbClr val="E0BE36"/>
                </a:solidFill>
                <a:latin typeface="Courier New" pitchFamily="34" charset="0"/>
                <a:ea typeface="Courier New" pitchFamily="34" charset="-122"/>
                <a:cs typeface="Courier New" pitchFamily="34" charset="-120"/>
              </a:rPr>
              <a:t>"rush_hour"</a:t>
            </a:r>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 </a:t>
            </a:r>
            <a:pPr algn="l" indent="0" marL="0">
              <a:lnSpc>
                <a:spcPts val="2210"/>
              </a:lnSpc>
              <a:buNone/>
            </a:pPr>
            <a:r>
              <a:rPr lang="en-US" sz="1700" dirty="0">
                <a:solidFill>
                  <a:srgbClr val="E0BE36"/>
                </a:solidFill>
                <a:latin typeface="Courier New" pitchFamily="34" charset="0"/>
                <a:ea typeface="Courier New" pitchFamily="34" charset="-122"/>
                <a:cs typeface="Courier New" pitchFamily="34" charset="-120"/>
              </a:rPr>
              <a:t>"raining"</a:t>
            </a:r>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 </a:t>
            </a:r>
            <a:pPr algn="l" indent="0" marL="0">
              <a:lnSpc>
                <a:spcPts val="2210"/>
              </a:lnSpc>
              <a:buNone/>
            </a:pPr>
            <a:r>
              <a:rPr lang="en-US" sz="1700" dirty="0">
                <a:solidFill>
                  <a:srgbClr val="E0BE36"/>
                </a:solidFill>
                <a:latin typeface="Courier New" pitchFamily="34" charset="0"/>
                <a:ea typeface="Courier New" pitchFamily="34" charset="-122"/>
                <a:cs typeface="Courier New" pitchFamily="34" charset="-120"/>
              </a:rPr>
              <a:t>"tip_ugx"</a:t>
            </a:r>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 </a:t>
            </a:r>
            <a:pPr algn="l" indent="0" marL="0">
              <a:lnSpc>
                <a:spcPts val="2210"/>
              </a:lnSpc>
              <a:buNone/>
            </a:pPr>
            <a:r>
              <a:rPr lang="en-US" sz="1700" dirty="0">
                <a:solidFill>
                  <a:srgbClr val="E0BE36"/>
                </a:solidFill>
                <a:latin typeface="Courier New" pitchFamily="34" charset="0"/>
                <a:ea typeface="Courier New" pitchFamily="34" charset="-122"/>
                <a:cs typeface="Courier New" pitchFamily="34" charset="-120"/>
              </a:rPr>
              <a:t>"fare_ugx"</a:t>
            </a:r>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    .corr()[</a:t>
            </a:r>
            <a:pPr algn="l" indent="0" marL="0">
              <a:lnSpc>
                <a:spcPts val="2210"/>
              </a:lnSpc>
              <a:buNone/>
            </a:pPr>
            <a:r>
              <a:rPr lang="en-US" sz="1700" dirty="0">
                <a:solidFill>
                  <a:srgbClr val="E0BE36"/>
                </a:solidFill>
                <a:latin typeface="Courier New" pitchFamily="34" charset="0"/>
                <a:ea typeface="Courier New" pitchFamily="34" charset="-122"/>
                <a:cs typeface="Courier New" pitchFamily="34" charset="-120"/>
              </a:rPr>
              <a:t>"fare_ugx"</a:t>
            </a:r>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    .round(2)</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print(corr)</a:t>
            </a:r>
            <a:endParaRPr lang="en-US" sz="1700" dirty="0"/>
          </a:p>
        </p:txBody>
      </p:sp>
      <p:sp>
        <p:nvSpPr>
          <p:cNvPr id="5" name="Text 3"/>
          <p:cNvSpPr txBox="1"/>
          <p:nvPr/>
        </p:nvSpPr>
        <p:spPr>
          <a:xfrm>
            <a:off x="640080" y="4793742"/>
            <a:ext cx="8046720" cy="1469898"/>
          </a:xfrm>
          <a:prstGeom prst="rect">
            <a:avLst/>
          </a:prstGeom>
          <a:noFill/>
          <a:ln/>
        </p:spPr>
        <p:txBody>
          <a:bodyPr wrap="square" lIns="0" tIns="0" rIns="0" bIns="0" rtlCol="0" anchor="t"/>
          <a:lstStyle/>
          <a:p>
            <a:pPr algn="l" indent="0" marL="0">
              <a:lnSpc>
                <a:spcPts val="3120"/>
              </a:lnSpc>
              <a:spcAft>
                <a:spcPts val="1010"/>
              </a:spcAft>
              <a:buNone/>
            </a:pPr>
            <a:r>
              <a:rPr lang="en-US" sz="2600" dirty="0">
                <a:solidFill>
                  <a:srgbClr val="111111"/>
                </a:solidFill>
                <a:latin typeface="Lato" pitchFamily="34" charset="0"/>
                <a:ea typeface="Lato" pitchFamily="34" charset="-122"/>
                <a:cs typeface="Lato" pitchFamily="34" charset="-120"/>
              </a:rPr>
              <a:t>Predict which column moves most closely with fare_ugx.</a:t>
            </a:r>
            <a:endParaRPr lang="en-US" sz="2600" dirty="0"/>
          </a:p>
          <a:p>
            <a:pPr algn="l" indent="0" marL="0">
              <a:lnSpc>
                <a:spcPts val="3120"/>
              </a:lnSpc>
              <a:spcAft>
                <a:spcPts val="1010"/>
              </a:spcAft>
              <a:buNone/>
            </a:pPr>
            <a:r>
              <a:rPr lang="en-US" sz="2600" dirty="0">
                <a:solidFill>
                  <a:srgbClr val="111111"/>
                </a:solidFill>
                <a:latin typeface="Lato" pitchFamily="34" charset="0"/>
                <a:ea typeface="Lato" pitchFamily="34" charset="-122"/>
                <a:cs typeface="Lato" pitchFamily="34" charset="-120"/>
              </a:rPr>
              <a:t>Write your guess on paper before we run it.</a:t>
            </a:r>
            <a:endParaRPr lang="en-US" sz="2600" dirty="0"/>
          </a:p>
        </p:txBody>
      </p:sp>
      <p:pic>
        <p:nvPicPr>
          <p:cNvPr id="6" name="Image 0" descr="A page and a pen">    </p:cNvPr>
          <p:cNvPicPr>
            <a:picLocks noChangeAspect="1"/>
          </p:cNvPicPr>
          <p:nvPr/>
        </p:nvPicPr>
        <p:blipFill>
          <a:blip r:embed="rId1"/>
          <a:stretch>
            <a:fillRect/>
          </a:stretch>
        </p:blipFill>
        <p:spPr>
          <a:xfrm>
            <a:off x="10241280" y="5031486"/>
            <a:ext cx="1188720" cy="1046988"/>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Tour the fares data</a:t>
            </a:r>
            <a:endParaRPr lang="en-US" sz="3800" dirty="0"/>
          </a:p>
        </p:txBody>
      </p:sp>
      <p:sp>
        <p:nvSpPr>
          <p:cNvPr id="3" name="Shape 1"/>
          <p:cNvSpPr/>
          <p:nvPr/>
        </p:nvSpPr>
        <p:spPr>
          <a:xfrm>
            <a:off x="640080" y="1645920"/>
            <a:ext cx="6035040" cy="2944876"/>
          </a:xfrm>
          <a:prstGeom prst="roundRect">
            <a:avLst>
              <a:gd name="adj" fmla="val 2484"/>
            </a:avLst>
          </a:prstGeom>
          <a:solidFill>
            <a:srgbClr val="FFFFFF"/>
          </a:solidFill>
          <a:ln w="15875">
            <a:solidFill>
              <a:srgbClr val="111111"/>
            </a:solidFill>
            <a:prstDash val="solid"/>
          </a:ln>
        </p:spPr>
      </p:sp>
      <p:sp>
        <p:nvSpPr>
          <p:cNvPr id="4" name="Text 2"/>
          <p:cNvSpPr txBox="1"/>
          <p:nvPr/>
        </p:nvSpPr>
        <p:spPr>
          <a:xfrm>
            <a:off x="822960" y="1828800"/>
            <a:ext cx="5669280" cy="2579116"/>
          </a:xfrm>
          <a:prstGeom prst="rect">
            <a:avLst/>
          </a:prstGeom>
          <a:noFill/>
          <a:ln/>
        </p:spPr>
        <p:txBody>
          <a:bodyPr wrap="square" lIns="0" tIns="0" rIns="0" bIns="0" rtlCol="0" anchor="t"/>
          <a:lstStyle/>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(150, 6)</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distance_km    0.76</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rush_hour     -0.08</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raining        0.12</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tip_ugx        0.88</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fare_ugx       1.00</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Name: fare_ugx, dtype: float64</a:t>
            </a:r>
            <a:endParaRPr lang="en-US" sz="2200" dirty="0"/>
          </a:p>
        </p:txBody>
      </p:sp>
      <p:sp>
        <p:nvSpPr>
          <p:cNvPr id="5" name="Text 3"/>
          <p:cNvSpPr txBox="1"/>
          <p:nvPr/>
        </p:nvSpPr>
        <p:spPr>
          <a:xfrm>
            <a:off x="7040880" y="1737360"/>
            <a:ext cx="4480560" cy="4389120"/>
          </a:xfrm>
          <a:prstGeom prst="rect">
            <a:avLst/>
          </a:prstGeom>
          <a:noFill/>
          <a:ln/>
        </p:spPr>
        <p:txBody>
          <a:bodyPr wrap="square" lIns="0" tIns="0" rIns="0" bIns="0" rtlCol="0" anchor="t"/>
          <a:lstStyle/>
          <a:p>
            <a:pPr algn="l" indent="0" marL="0">
              <a:lnSpc>
                <a:spcPts val="2880"/>
              </a:lnSpc>
              <a:spcAft>
                <a:spcPts val="1580"/>
              </a:spcAft>
              <a:buNone/>
            </a:pPr>
            <a:r>
              <a:rPr lang="en-US" sz="2400" dirty="0">
                <a:solidFill>
                  <a:srgbClr val="111111"/>
                </a:solidFill>
                <a:latin typeface="Lato" pitchFamily="34" charset="0"/>
                <a:ea typeface="Lato" pitchFamily="34" charset="-122"/>
                <a:cs typeface="Lato" pitchFamily="34" charset="-120"/>
              </a:rPr>
              <a:t>The table has 150 rows and 6 columns.</a:t>
            </a:r>
            <a:endParaRPr lang="en-US" sz="2400" dirty="0"/>
          </a:p>
          <a:p>
            <a:pPr algn="l" indent="0" marL="0">
              <a:lnSpc>
                <a:spcPts val="2880"/>
              </a:lnSpc>
              <a:spcAft>
                <a:spcPts val="1580"/>
              </a:spcAft>
              <a:buNone/>
            </a:pPr>
            <a:r>
              <a:rPr lang="en-US" sz="2400" dirty="0">
                <a:solidFill>
                  <a:srgbClr val="111111"/>
                </a:solidFill>
                <a:latin typeface="Lato" pitchFamily="34" charset="0"/>
                <a:ea typeface="Lato" pitchFamily="34" charset="-122"/>
                <a:cs typeface="Lato" pitchFamily="34" charset="-120"/>
              </a:rPr>
              <a:t>Distance has a correlation of 0.76 with the fare, rain 0.12 and rush hour about minus 0.08.</a:t>
            </a:r>
            <a:endParaRPr lang="en-US" sz="2400" dirty="0"/>
          </a:p>
          <a:p>
            <a:pPr algn="l" indent="0" marL="0">
              <a:lnSpc>
                <a:spcPts val="2880"/>
              </a:lnSpc>
              <a:spcAft>
                <a:spcPts val="1580"/>
              </a:spcAft>
              <a:buNone/>
            </a:pPr>
            <a:r>
              <a:rPr lang="en-US" sz="2400" dirty="0">
                <a:solidFill>
                  <a:srgbClr val="111111"/>
                </a:solidFill>
                <a:latin typeface="Lato" pitchFamily="34" charset="0"/>
                <a:ea typeface="Lato" pitchFamily="34" charset="-122"/>
                <a:cs typeface="Lato" pitchFamily="34" charset="-120"/>
              </a:rPr>
              <a:t>The tip column has the highest value, 0.88.</a:t>
            </a:r>
            <a:endParaRPr lang="en-US" sz="2400" dirty="0"/>
          </a:p>
          <a:p>
            <a:pPr algn="l" indent="0" marL="0">
              <a:lnSpc>
                <a:spcPts val="2880"/>
              </a:lnSpc>
              <a:spcAft>
                <a:spcPts val="1580"/>
              </a:spcAft>
              <a:buNone/>
            </a:pPr>
            <a:r>
              <a:rPr lang="en-US" sz="2400" dirty="0">
                <a:solidFill>
                  <a:srgbClr val="111111"/>
                </a:solidFill>
                <a:latin typeface="Lato" pitchFamily="34" charset="0"/>
                <a:ea typeface="Lato" pitchFamily="34" charset="-122"/>
                <a:cs typeface="Lato" pitchFamily="34" charset="-120"/>
              </a:rPr>
              <a:t>A correlation near 1 means the two columns rise together.</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Tour the fares data</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Why can tip_ugx not be an input?</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Which columns are sensible inputs?</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Print the correlation of the fare with the trip_id column.</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400" b="1" dirty="0">
                <a:solidFill>
                  <a:srgbClr val="FFFFFF"/>
                </a:solidFill>
                <a:latin typeface="Lato" pitchFamily="34" charset="0"/>
                <a:ea typeface="Lato" pitchFamily="34" charset="-122"/>
                <a:cs typeface="Lato" pitchFamily="34" charset="-120"/>
              </a:rPr>
              <a:t>Break</a:t>
            </a:r>
            <a:endParaRPr lang="en-US" sz="5400" dirty="0"/>
          </a:p>
        </p:txBody>
      </p:sp>
      <p:sp>
        <p:nvSpPr>
          <p:cNvPr id="3" name="Text 1"/>
          <p:cNvSpPr txBox="1"/>
          <p:nvPr/>
        </p:nvSpPr>
        <p:spPr>
          <a:xfrm>
            <a:off x="640080" y="3154680"/>
            <a:ext cx="6858000" cy="914400"/>
          </a:xfrm>
          <a:prstGeom prst="rect">
            <a:avLst/>
          </a:prstGeom>
          <a:noFill/>
          <a:ln/>
        </p:spPr>
        <p:txBody>
          <a:bodyPr wrap="square" lIns="0" tIns="0" rIns="0" bIns="0" rtlCol="0" anchor="t"/>
          <a:lstStyle/>
          <a:p>
            <a:pPr algn="l" indent="0" marL="0">
              <a:lnSpc>
                <a:spcPts val="4080"/>
              </a:lnSpc>
              <a:buNone/>
            </a:pPr>
            <a:r>
              <a:rPr lang="en-US" sz="3400" b="1" dirty="0">
                <a:solidFill>
                  <a:srgbClr val="FFFFFF"/>
                </a:solidFill>
                <a:latin typeface="Lato" pitchFamily="34" charset="0"/>
                <a:ea typeface="Lato" pitchFamily="34" charset="-122"/>
                <a:cs typeface="Lato" pitchFamily="34" charset="-120"/>
              </a:rPr>
              <a:t>15 minutes away from your screen</a:t>
            </a:r>
            <a:endParaRPr lang="en-US" sz="3400" dirty="0"/>
          </a:p>
        </p:txBody>
      </p:sp>
      <p:sp>
        <p:nvSpPr>
          <p:cNvPr id="4" name="Text 2"/>
          <p:cNvSpPr txBox="1"/>
          <p:nvPr/>
        </p:nvSpPr>
        <p:spPr>
          <a:xfrm>
            <a:off x="640080" y="4206240"/>
            <a:ext cx="6400800" cy="1463040"/>
          </a:xfrm>
          <a:prstGeom prst="rect">
            <a:avLst/>
          </a:prstGeom>
          <a:noFill/>
          <a:ln/>
        </p:spPr>
        <p:txBody>
          <a:bodyPr wrap="square" lIns="0" tIns="0" rIns="0" bIns="0" rtlCol="0" anchor="t"/>
          <a:lstStyle/>
          <a:p>
            <a:pPr algn="l" indent="0" marL="0">
              <a:lnSpc>
                <a:spcPts val="3000"/>
              </a:lnSpc>
              <a:buNone/>
            </a:pPr>
            <a:r>
              <a:rPr lang="en-US" sz="2400" dirty="0">
                <a:solidFill>
                  <a:srgbClr val="D8D8D8"/>
                </a:solidFill>
                <a:latin typeface="Lato" pitchFamily="34" charset="0"/>
                <a:ea typeface="Lato" pitchFamily="34" charset="-122"/>
                <a:cs typeface="Lato" pitchFamily="34" charset="-120"/>
              </a:rPr>
              <a:t>Stand up. Drink some water. Tell someone what you guessed in the first half.</a:t>
            </a:r>
            <a:endParaRPr lang="en-US" sz="2400" dirty="0"/>
          </a:p>
        </p:txBody>
      </p:sp>
      <p:pic>
        <p:nvPicPr>
          <p:cNvPr id="5" name="Image 0" descr="A clock">    </p:cNvPr>
          <p:cNvPicPr>
            <a:picLocks noChangeAspect="1"/>
          </p:cNvPicPr>
          <p:nvPr/>
        </p:nvPicPr>
        <p:blipFill>
          <a:blip r:embed="rId1"/>
          <a:stretch>
            <a:fillRect/>
          </a:stretch>
        </p:blipFill>
        <p:spPr>
          <a:xfrm>
            <a:off x="8321040" y="2743200"/>
            <a:ext cx="2926080" cy="29260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safe project question fits two weeks</a:t>
            </a:r>
            <a:endParaRPr lang="en-US" sz="3800" dirty="0"/>
          </a:p>
        </p:txBody>
      </p:sp>
      <p:pic>
        <p:nvPicPr>
          <p:cNvPr id="3" name="Image 0" descr="A safe project question fits two weeks">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Choose a question with data behind it.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answer should be a number or a label.</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Avoid questions about everything.</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A plan needs seven headings</a:t>
            </a:r>
            <a:endParaRPr lang="en-US" sz="3800" dirty="0"/>
          </a:p>
        </p:txBody>
      </p:sp>
      <p:sp>
        <p:nvSpPr>
          <p:cNvPr id="3" name="Text 1"/>
          <p:cNvSpPr txBox="1"/>
          <p:nvPr/>
        </p:nvSpPr>
        <p:spPr>
          <a:xfrm>
            <a:off x="640080" y="1737360"/>
            <a:ext cx="6766560" cy="4114800"/>
          </a:xfrm>
          <a:prstGeom prst="rect">
            <a:avLst/>
          </a:prstGeom>
          <a:noFill/>
          <a:ln/>
        </p:spPr>
        <p:txBody>
          <a:bodyPr wrap="square" lIns="0" tIns="0" rIns="0" bIns="0" rtlCol="0" anchor="t"/>
          <a:lstStyle/>
          <a:p>
            <a:pPr algn="l" indent="0" marL="0">
              <a:lnSpc>
                <a:spcPts val="3840"/>
              </a:lnSpc>
              <a:spcAft>
                <a:spcPts val="2160"/>
              </a:spcAft>
              <a:buNone/>
            </a:pPr>
            <a:r>
              <a:rPr lang="en-US" sz="3200" dirty="0">
                <a:solidFill>
                  <a:srgbClr val="111111"/>
                </a:solidFill>
                <a:latin typeface="Lato" pitchFamily="34" charset="0"/>
                <a:ea typeface="Lato" pitchFamily="34" charset="-122"/>
                <a:cs typeface="Lato" pitchFamily="34" charset="-120"/>
              </a:rPr>
              <a:t>Write the target and two inputs for your project before looking at the example.</a:t>
            </a:r>
            <a:endParaRPr lang="en-US" sz="3200" dirty="0"/>
          </a:p>
          <a:p>
            <a:pPr algn="l" indent="0" marL="0">
              <a:lnSpc>
                <a:spcPts val="3840"/>
              </a:lnSpc>
              <a:spcAft>
                <a:spcPts val="2160"/>
              </a:spcAft>
              <a:buNone/>
            </a:pPr>
            <a:r>
              <a:rPr lang="en-US" sz="3200" dirty="0">
                <a:solidFill>
                  <a:srgbClr val="111111"/>
                </a:solidFill>
                <a:latin typeface="Lato" pitchFamily="34" charset="0"/>
                <a:ea typeface="Lato" pitchFamily="34" charset="-122"/>
                <a:cs typeface="Lato" pitchFamily="34" charset="-120"/>
              </a:rPr>
              <a:t>Write your guess on paper before we run it.</a:t>
            </a:r>
            <a:endParaRPr lang="en-US" sz="3200" dirty="0"/>
          </a:p>
        </p:txBody>
      </p:sp>
      <p:pic>
        <p:nvPicPr>
          <p:cNvPr id="4" name="Image 0" descr="A page and a pen">    </p:cNvPr>
          <p:cNvPicPr>
            <a:picLocks noChangeAspect="1"/>
          </p:cNvPicPr>
          <p:nvPr/>
        </p:nvPicPr>
        <p:blipFill>
          <a:blip r:embed="rId1"/>
          <a:stretch>
            <a:fillRect/>
          </a:stretch>
        </p:blipFill>
        <p:spPr>
          <a:xfrm>
            <a:off x="8138160" y="1828800"/>
            <a:ext cx="3291840" cy="310896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A plan needs seven headings</a:t>
            </a:r>
            <a:endParaRPr lang="en-US" sz="3800" dirty="0"/>
          </a:p>
        </p:txBody>
      </p:sp>
      <p:sp>
        <p:nvSpPr>
          <p:cNvPr id="3" name="Text 1"/>
          <p:cNvSpPr txBox="1"/>
          <p:nvPr/>
        </p:nvSpPr>
        <p:spPr>
          <a:xfrm>
            <a:off x="640080" y="1737360"/>
            <a:ext cx="7498080" cy="4389120"/>
          </a:xfrm>
          <a:prstGeom prst="rect">
            <a:avLst/>
          </a:prstGeom>
          <a:noFill/>
          <a:ln/>
        </p:spPr>
        <p:txBody>
          <a:bodyPr wrap="square" lIns="0" tIns="0" rIns="0" bIns="0" rtlCol="0" anchor="t"/>
          <a:lstStyle/>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An example plan: question, can distance and rush hour predict a boda-boda fare; dataset, synthetic_fares.csv; target, fare_ugx; inputs, distance_km, rush_hour and raining; baseline, the mean fare of the training trips; evaluation, mean absolute error in shillings on a locked test; limits, invented data and 150 trips.</a:t>
            </a:r>
            <a:endParaRPr lang="en-US" sz="3000" dirty="0"/>
          </a:p>
        </p:txBody>
      </p:sp>
      <p:pic>
        <p:nvPicPr>
          <p:cNvPr id="4" name="Image 0" descr="Compare with your guess">    </p:cNvPr>
          <p:cNvPicPr>
            <a:picLocks noChangeAspect="1"/>
          </p:cNvPicPr>
          <p:nvPr/>
        </p:nvPicPr>
        <p:blipFill>
          <a:blip r:embed="rId1"/>
          <a:stretch>
            <a:fillRect/>
          </a:stretch>
        </p:blipFill>
        <p:spPr>
          <a:xfrm>
            <a:off x="8778240" y="2194560"/>
            <a:ext cx="2377440" cy="23774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A plan needs seven headings</a:t>
            </a:r>
            <a:endParaRPr lang="en-US" sz="3800" dirty="0"/>
          </a:p>
        </p:txBody>
      </p:sp>
      <p:pic>
        <p:nvPicPr>
          <p:cNvPr id="3" name="Image 0" descr="Look closely">    </p:cNvPr>
          <p:cNvPicPr>
            <a:picLocks noChangeAspect="1"/>
          </p:cNvPicPr>
          <p:nvPr/>
        </p:nvPicPr>
        <p:blipFill>
          <a:blip r:embed="rId1"/>
          <a:stretch>
            <a:fillRect/>
          </a:stretch>
        </p:blipFill>
        <p:spPr>
          <a:xfrm>
            <a:off x="9326880" y="2194560"/>
            <a:ext cx="2194560" cy="2194560"/>
          </a:xfrm>
          <a:prstGeom prst="rect">
            <a:avLst/>
          </a:prstGeom>
        </p:spPr>
      </p:pic>
      <p:sp>
        <p:nvSpPr>
          <p:cNvPr id="4" name="Text 1"/>
          <p:cNvSpPr txBox="1"/>
          <p:nvPr/>
        </p:nvSpPr>
        <p:spPr>
          <a:xfrm>
            <a:off x="640080" y="1737360"/>
            <a:ext cx="859536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Which heading stops you using the test answers to choose a model?</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Why is the home_id column not an input for homes?</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749808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Write the leakage column you will exclude and why.</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8778240" y="2194560"/>
            <a:ext cx="2377440" cy="23774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project plan has seven headings</a:t>
            </a:r>
            <a:endParaRPr lang="en-US" sz="3800" dirty="0"/>
          </a:p>
        </p:txBody>
      </p:sp>
      <p:pic>
        <p:nvPicPr>
          <p:cNvPr id="3" name="Image 0" descr="A project plan has seven headings">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Write each heading before any code.</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360"/>
              </a:lnSpc>
              <a:spcAft>
                <a:spcPts val="2020"/>
              </a:spcAft>
              <a:buNone/>
            </a:pPr>
            <a:r>
              <a:rPr lang="en-US" sz="2800" dirty="0">
                <a:solidFill>
                  <a:srgbClr val="111111"/>
                </a:solidFill>
                <a:latin typeface="Lato" pitchFamily="34" charset="0"/>
                <a:ea typeface="Lato" pitchFamily="34" charset="-122"/>
                <a:cs typeface="Lato" pitchFamily="34" charset="-120"/>
              </a:rPr>
              <a:t>Write PROJECT_PLAN.md using the seven headings.</a:t>
            </a:r>
            <a:endParaRPr lang="en-US" sz="2800" dirty="0"/>
          </a:p>
          <a:p>
            <a:pPr algn="l" indent="0" marL="0">
              <a:lnSpc>
                <a:spcPts val="3360"/>
              </a:lnSpc>
              <a:spcAft>
                <a:spcPts val="2020"/>
              </a:spcAft>
              <a:buNone/>
            </a:pPr>
            <a:r>
              <a:rPr lang="en-US" sz="2800" dirty="0">
                <a:solidFill>
                  <a:srgbClr val="111111"/>
                </a:solidFill>
                <a:latin typeface="Lato" pitchFamily="34" charset="0"/>
                <a:ea typeface="Lato" pitchFamily="34" charset="-122"/>
                <a:cs typeface="Lato" pitchFamily="34" charset="-120"/>
              </a:rPr>
              <a:t>Name one leakage column and exclude it.</a:t>
            </a:r>
            <a:endParaRPr lang="en-US" sz="2800" dirty="0"/>
          </a:p>
          <a:p>
            <a:pPr algn="l" indent="0" marL="0">
              <a:lnSpc>
                <a:spcPts val="3360"/>
              </a:lnSpc>
              <a:spcAft>
                <a:spcPts val="2020"/>
              </a:spcAft>
              <a:buNone/>
            </a:pPr>
            <a:r>
              <a:rPr lang="en-US" sz="2800" dirty="0">
                <a:solidFill>
                  <a:srgbClr val="111111"/>
                </a:solidFill>
                <a:latin typeface="Lato" pitchFamily="34" charset="0"/>
                <a:ea typeface="Lato" pitchFamily="34" charset="-122"/>
                <a:cs typeface="Lato" pitchFamily="34" charset="-120"/>
              </a:rPr>
              <a:t>Ask the instructor to approve the scope before you build.</a:t>
            </a:r>
            <a:endParaRPr lang="en-US" sz="2800" dirty="0"/>
          </a:p>
          <a:p>
            <a:pPr algn="l" indent="0" marL="0">
              <a:lnSpc>
                <a:spcPts val="3360"/>
              </a:lnSpc>
              <a:spcAft>
                <a:spcPts val="2020"/>
              </a:spcAft>
              <a:buNone/>
            </a:pPr>
            <a:r>
              <a:rPr lang="en-US" sz="2800" dirty="0">
                <a:solidFill>
                  <a:srgbClr val="111111"/>
                </a:solidFill>
                <a:latin typeface="Lato" pitchFamily="34" charset="0"/>
                <a:ea typeface="Lato" pitchFamily="34" charset="-122"/>
                <a:cs typeface="Lato" pitchFamily="34" charset="-120"/>
              </a:rPr>
              <a:t>Save it as ML19. Write two sentences: what you changed and how you checked it.</a:t>
            </a:r>
            <a:endParaRPr lang="en-US" sz="28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KeyError: 'tip'</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column is called tip_ugx.</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Print fares.columns and copy the exact names.</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The plan promises too much</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It asks for real people's data, an app or a neural network.</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Reduce it to one supplied table, one target and one baseline.</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440"/>
              </a:lnSpc>
              <a:spcAft>
                <a:spcPts val="1010"/>
              </a:spcAft>
              <a:buNone/>
            </a:pPr>
            <a:r>
              <a:rPr lang="en-US" sz="3700" dirty="0">
                <a:solidFill>
                  <a:srgbClr val="111111"/>
                </a:solidFill>
                <a:latin typeface="Lato" pitchFamily="34" charset="0"/>
                <a:ea typeface="Lato" pitchFamily="34" charset="-122"/>
                <a:cs typeface="Lato" pitchFamily="34" charset="-120"/>
              </a:rPr>
              <a:t>A project plan names the question, target, inputs and test before any code, and it excludes the column that gives the answer away.</a:t>
            </a:r>
            <a:endParaRPr lang="en-US" sz="37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ML19 Project data and a safe plan</dc:title>
  <dc:subject>Machine Learning</dc:subject>
  <dc:creator>KLAi</dc:creator>
  <cp:lastModifiedBy>KLAi</cp:lastModifiedBy>
  <cp:revision>1</cp:revision>
  <dcterms:created xsi:type="dcterms:W3CDTF">2026-10-31T12:44:47Z</dcterms:created>
  <dcterms:modified xsi:type="dcterms:W3CDTF">2026-10-31T12:44:47Z</dcterms:modified>
</cp:coreProperties>
</file>