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4999e1b-26c9-6370-65c6-5a7d94e3008d}">
          <p14:sldIdLst>
            <p14:sldId id="256"/>
            <p14:sldId id="257"/>
            <p14:sldId id="258"/>
            <p14:sldId id="259"/>
            <p14:sldId id="260"/>
            <p14:sldId id="261"/>
            <p14:sldId id="262"/>
          </p14:sldIdLst>
        </p14:section>
        <p14:section name="Block A" id="{6be3366c-261d-4298-d1d2-ac86bf7722c6}">
          <p14:sldIdLst>
            <p14:sldId id="263"/>
            <p14:sldId id="264"/>
            <p14:sldId id="265"/>
            <p14:sldId id="266"/>
            <p14:sldId id="267"/>
            <p14:sldId id="269"/>
            <p14:sldId id="270"/>
          </p14:sldIdLst>
        </p14:section>
        <p14:section name="Break" id="{a77feac5-0168-80dd-a9c6-c359a1eb694c}">
          <p14:sldIdLst>
            <p14:sldId id="268"/>
          </p14:sldIdLst>
        </p14:section>
        <p14:section name="Block A" id="{2f223fa9-7dd5-d074-d93e-74932f8f718b}">
          <p14:sldIdLst/>
        </p14:section>
        <p14:section name="Block B" id="{b71d2f87-6d61-f022-6df3-e0722a11eaa1}">
          <p14:sldIdLst>
            <p14:sldId id="271"/>
            <p14:sldId id="272"/>
            <p14:sldId id="273"/>
            <p14:sldId id="274"/>
            <p14:sldId id="275"/>
          </p14:sldIdLst>
        </p14:section>
        <p14:section name="Make and close" id="{074a2cd9-2a42-c512-4358-1ec369c35e0d}">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see you. Today is session 20 and our topic is build the project baseline.
By the end of today you will be able to split data into training, validation and locked test, fit a baseline on training only, and draw one descriptive chart.
We will answer one question: How much does a plain guess miss by, before any model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 flat line is the plain guess: the mean fare of the training trips, about nine thousand two hundred and seventy one shillings. Each black bar is how far one validation trip is from that line. Their average is four thousand three hundred and sixty one shillings. That is the bar every model has to beat. Today you work it out for your own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40 minutes. Split and baseline. After that, 15 minutes. Break. Next, 35 minutes. Chart. Then, 70 minutes. Build on your own dataset. Then, 10 minutes. Save and exit check.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words, because every one of them is used in the code later.
three-way split. Training, validation and final test parts. You have seen this before. Practice, mock and real exam.
baseline error. The average miss of the plain guess on validation. How wrong the average guess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rest of today's words.
scatter plot. Each row is a dot; its place shows two values. Imagine it like this. Dots on a map of distance and fare.
training only. Fit anything only on the training part. An example from everyday life. Learning only from the textbook.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fares file is cut the same way as the flowers. Ninety trips to learn from, thirty to choose between models, and thirty locked away for the end.
Use the same random state as before so your numbers match the ones on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is the mean fare of the training trips. If you take the mean of all hundred and fifty, the guess has already seen the test trips and its score is a little too good.
Check which table your mean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first part of the code with me before we run anything. ['Use the fares as the worked example, then repeat with your own dataset.', 'Lock 20% away, take 25% of the rest for validation, and fit the mean guess on training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fares as the worked example, then repeat with your own dataset. Lock 20% away, take 25% of the rest for validation, and fit the mean guess on training only.
This is the part where you decide. Predict the three sizes and whether the baseline will miss fares by more than UGX 3000 on average. Put it on paper first. We will check it together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what happens. Match each line of the output with the line of code that made it.
The cell prints 90, 30, 30 and 4361. The plain guess misses the validation fares by about UGX 4361 on average. Any model you build must beat that on the same validation trips. The baseline was fitted on the 90 training trips only. The 30 test trips stay locked.
Which line of the output matches which line of the code? Point to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split and fit the baseline. I have two questions for you.
Question one. Why is the baseline fitted on training only? Talk it over with your neighbour for a minute.
What I would say is this. Fitting it on all rows would let it see the validation and test answers.
Question two. What would make the baseline number meaningless? Think about it for a moment, then tell the person next to you.
Let me answer it. Computing it on rows that were used to fit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one thing and watch what happens. Print the share of the 150 trips used for training. When you have run it, tell your neighbour what changed and how you know.
Here is what happens. 0.6, which is 90 out of 150.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scatter plot gives every trip a dot. The distance is how far across the dot sits. The fare is how high it sits. The gold dot is one trip of about eleven point six kilometres that cost fourteen thousand eight hundred shillings.
Find a trip of about two kilometres. What did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ninety training trips and the dots climb to the right. Longer rides cost more. A straight line follows them, and the correlation is about zero point seven six.
That strong link is why distance is a promising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 the training trips: distance on one axis, fare on the other. Label both with units.
Make a prediction. Predict the shape of the dots: rising, falling or no pattern. Put your guess on paper now, even if you are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now. Match each line of the output with the line of code that made it.
The dots rise from left to right with a lot of scatter. The correlation on the 90 training trips is about 0.76. Longer trips cost more, but two trips of equal length can differ by thousands of shillings. That scatter is why even the best line will still miss.
Keep your guess. We use it in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one descriptive chart. I have two questions for you.
Question one. What does the scatter around the rising pattern tell you? Think about it for a moment, then tell the person next to you.
Let me answer it. Distance is not the whole story, so the model will make errors.
Question two. Why plot only the training trips? Have a go in your head first.
The answer is this. Looking at validation or test answers while choosing would leak information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small change. Colour the dots by rush_hour by adding hue="rush_hour" to the plot. Run it, then tell someone what you saw.
What you should find: Two colours appear, and they overlap a lot: rush hour changes the fare little.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bar. The plain guess misses by four thousand three hundred and sixty one shillings on the validation trips. Every model you try next session has to land to the left of it.
A model that cannot beat the bar is not helping, however clever it sounds.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task is yours. Run your code after every step so you can see where a problem begins. If you get stuck for a few minutes, read your error message, check the error card, and then ask me.
Save it as ML20.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errors from this session, so you recognise them when they appear.
This is the first one. You will see: Baseline and model score exactly the same. It means this: both scores were computed from the same predictions, so the baseline is not a separate guess. To fix it, build the baseline from the training mean alone and score the model with its own predict, both on X_val and y_val.
The next one. You will see: ValueError: Found input variables with inconsistent numbers of samples. It means this: X and y have different lengths because one was filtered and not the other. To fix it, create X and y from the same table at the same step.
When you are stuck, read the last line of the message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Our question for today was: How much does a plain guess miss by, before any model helps?
Finish this sentence in your notebook, in your own words. The baseline error on validation is the number my model has to beat.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ML20  |  Build the project baseline</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1.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Build the project baseline</a:t>
            </a:r>
            <a:endParaRPr lang="en-US" sz="5600" dirty="0"/>
          </a:p>
        </p:txBody>
      </p:sp>
      <p:sp>
        <p:nvSpPr>
          <p:cNvPr id="3" name="Text 1"/>
          <p:cNvSpPr txBox="1"/>
          <p:nvPr/>
        </p:nvSpPr>
        <p:spPr>
          <a:xfrm>
            <a:off x="640080" y="338836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How much does a plain guess miss by, before any model helps?</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20 of 24  |  Week 7, Your project</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How much does a plain guess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miss by, before any model helps?</a:t>
            </a:r>
            <a:endParaRPr lang="en-US" sz="3600" dirty="0"/>
          </a:p>
        </p:txBody>
      </p:sp>
      <p:pic>
        <p:nvPicPr>
          <p:cNvPr id="3" name="Image 0" descr="Thirty validation trips with a flat line at the training mean and bars showing each miss, average 4,361 shillings">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three-way split">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554480"/>
          </a:xfrm>
          <a:prstGeom prst="rect">
            <a:avLst/>
          </a:prstGeom>
          <a:noFill/>
          <a:ln/>
        </p:spPr>
        <p:txBody>
          <a:bodyPr wrap="square" lIns="0" tIns="0" rIns="0" bIns="0" rtlCol="0" anchor="ctr"/>
          <a:lstStyle/>
          <a:p>
            <a:pPr algn="l" indent="0" marL="0">
              <a:lnSpc>
                <a:spcPts val="3360"/>
              </a:lnSpc>
              <a:buNone/>
            </a:pPr>
            <a:r>
              <a:rPr lang="en-US" sz="2800" b="1" dirty="0">
                <a:solidFill>
                  <a:srgbClr val="111111"/>
                </a:solidFill>
                <a:latin typeface="Lato" pitchFamily="34" charset="0"/>
                <a:ea typeface="Lato" pitchFamily="34" charset="-122"/>
                <a:cs typeface="Lato" pitchFamily="34" charset="-120"/>
              </a:rPr>
              <a:t>three-way split</a:t>
            </a:r>
            <a:endParaRPr lang="en-US" sz="28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Training, validation and final test parts.</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Practice, mock and real exam.</a:t>
            </a:r>
            <a:endParaRPr lang="en-US" sz="1900" dirty="0"/>
          </a:p>
        </p:txBody>
      </p:sp>
      <p:sp>
        <p:nvSpPr>
          <p:cNvPr id="7" name="Shape 4"/>
          <p:cNvSpPr/>
          <p:nvPr/>
        </p:nvSpPr>
        <p:spPr>
          <a:xfrm>
            <a:off x="640080" y="3392424"/>
            <a:ext cx="10881360" cy="0"/>
          </a:xfrm>
          <a:prstGeom prst="line">
            <a:avLst/>
          </a:prstGeom>
          <a:noFill/>
          <a:ln w="12700">
            <a:solidFill>
              <a:srgbClr val="CFCFCF"/>
            </a:solidFill>
            <a:prstDash val="solid"/>
          </a:ln>
        </p:spPr>
      </p:sp>
      <p:pic>
        <p:nvPicPr>
          <p:cNvPr id="8" name="Image 1" descr="baseline error">    </p:cNvPr>
          <p:cNvPicPr>
            <a:picLocks noChangeAspect="1"/>
          </p:cNvPicPr>
          <p:nvPr/>
        </p:nvPicPr>
        <p:blipFill>
          <a:blip r:embed="rId2"/>
          <a:stretch>
            <a:fillRect/>
          </a:stretch>
        </p:blipFill>
        <p:spPr>
          <a:xfrm>
            <a:off x="640080" y="3520440"/>
            <a:ext cx="1188720" cy="1188720"/>
          </a:xfrm>
          <a:prstGeom prst="rect">
            <a:avLst/>
          </a:prstGeom>
        </p:spPr>
      </p:pic>
      <p:sp>
        <p:nvSpPr>
          <p:cNvPr id="9" name="Text 5"/>
          <p:cNvSpPr txBox="1"/>
          <p:nvPr/>
        </p:nvSpPr>
        <p:spPr>
          <a:xfrm>
            <a:off x="2011680" y="3474720"/>
            <a:ext cx="2926080" cy="1554480"/>
          </a:xfrm>
          <a:prstGeom prst="rect">
            <a:avLst/>
          </a:prstGeom>
          <a:noFill/>
          <a:ln/>
        </p:spPr>
        <p:txBody>
          <a:bodyPr wrap="square" lIns="0" tIns="0" rIns="0" bIns="0" rtlCol="0" anchor="ctr"/>
          <a:lstStyle/>
          <a:p>
            <a:pPr algn="l" indent="0" marL="0">
              <a:lnSpc>
                <a:spcPts val="3480"/>
              </a:lnSpc>
              <a:buNone/>
            </a:pPr>
            <a:r>
              <a:rPr lang="en-US" sz="2900" b="1" dirty="0">
                <a:solidFill>
                  <a:srgbClr val="111111"/>
                </a:solidFill>
                <a:latin typeface="Lato" pitchFamily="34" charset="0"/>
                <a:ea typeface="Lato" pitchFamily="34" charset="-122"/>
                <a:cs typeface="Lato" pitchFamily="34" charset="-120"/>
              </a:rPr>
              <a:t>baseline error</a:t>
            </a:r>
            <a:endParaRPr lang="en-US" sz="2900" dirty="0"/>
          </a:p>
        </p:txBody>
      </p:sp>
      <p:sp>
        <p:nvSpPr>
          <p:cNvPr id="10" name="Text 6"/>
          <p:cNvSpPr txBox="1"/>
          <p:nvPr/>
        </p:nvSpPr>
        <p:spPr>
          <a:xfrm>
            <a:off x="5120640" y="352044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average miss of the plain guess on validation.</a:t>
            </a:r>
            <a:endParaRPr lang="en-US" sz="2200" dirty="0"/>
          </a:p>
        </p:txBody>
      </p:sp>
      <p:sp>
        <p:nvSpPr>
          <p:cNvPr id="11" name="Text 7"/>
          <p:cNvSpPr txBox="1"/>
          <p:nvPr/>
        </p:nvSpPr>
        <p:spPr>
          <a:xfrm>
            <a:off x="5120640" y="428244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How wrong the average guess is.</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scatter plot">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554480"/>
          </a:xfrm>
          <a:prstGeom prst="rect">
            <a:avLst/>
          </a:prstGeom>
          <a:noFill/>
          <a:ln/>
        </p:spPr>
        <p:txBody>
          <a:bodyPr wrap="square" lIns="0" tIns="0" rIns="0" bIns="0" rtlCol="0" anchor="ctr"/>
          <a:lstStyle/>
          <a:p>
            <a:pPr algn="l" indent="0" marL="0">
              <a:lnSpc>
                <a:spcPts val="3720"/>
              </a:lnSpc>
              <a:buNone/>
            </a:pPr>
            <a:r>
              <a:rPr lang="en-US" sz="3100" b="1" dirty="0">
                <a:solidFill>
                  <a:srgbClr val="111111"/>
                </a:solidFill>
                <a:latin typeface="Lato" pitchFamily="34" charset="0"/>
                <a:ea typeface="Lato" pitchFamily="34" charset="-122"/>
                <a:cs typeface="Lato" pitchFamily="34" charset="-120"/>
              </a:rPr>
              <a:t>scatter plot</a:t>
            </a:r>
            <a:endParaRPr lang="en-US" sz="31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Each row is a dot; its place shows two values.</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Dots on a map of distance and fare.</a:t>
            </a:r>
            <a:endParaRPr lang="en-US" sz="1900" dirty="0"/>
          </a:p>
        </p:txBody>
      </p:sp>
      <p:sp>
        <p:nvSpPr>
          <p:cNvPr id="7" name="Shape 4"/>
          <p:cNvSpPr/>
          <p:nvPr/>
        </p:nvSpPr>
        <p:spPr>
          <a:xfrm>
            <a:off x="640080" y="3392424"/>
            <a:ext cx="10881360" cy="0"/>
          </a:xfrm>
          <a:prstGeom prst="line">
            <a:avLst/>
          </a:prstGeom>
          <a:noFill/>
          <a:ln w="12700">
            <a:solidFill>
              <a:srgbClr val="CFCFCF"/>
            </a:solidFill>
            <a:prstDash val="solid"/>
          </a:ln>
        </p:spPr>
      </p:sp>
      <p:pic>
        <p:nvPicPr>
          <p:cNvPr id="8" name="Image 1" descr="training only">    </p:cNvPr>
          <p:cNvPicPr>
            <a:picLocks noChangeAspect="1"/>
          </p:cNvPicPr>
          <p:nvPr/>
        </p:nvPicPr>
        <p:blipFill>
          <a:blip r:embed="rId2"/>
          <a:stretch>
            <a:fillRect/>
          </a:stretch>
        </p:blipFill>
        <p:spPr>
          <a:xfrm>
            <a:off x="640080" y="3520440"/>
            <a:ext cx="1188720" cy="1188720"/>
          </a:xfrm>
          <a:prstGeom prst="rect">
            <a:avLst/>
          </a:prstGeom>
        </p:spPr>
      </p:pic>
      <p:sp>
        <p:nvSpPr>
          <p:cNvPr id="9" name="Text 5"/>
          <p:cNvSpPr txBox="1"/>
          <p:nvPr/>
        </p:nvSpPr>
        <p:spPr>
          <a:xfrm>
            <a:off x="2011680" y="3474720"/>
            <a:ext cx="2926080" cy="1554480"/>
          </a:xfrm>
          <a:prstGeom prst="rect">
            <a:avLst/>
          </a:prstGeom>
          <a:noFill/>
          <a:ln/>
        </p:spPr>
        <p:txBody>
          <a:bodyPr wrap="square" lIns="0" tIns="0" rIns="0" bIns="0" rtlCol="0" anchor="ctr"/>
          <a:lstStyle/>
          <a:p>
            <a:pPr algn="l" indent="0" marL="0">
              <a:lnSpc>
                <a:spcPts val="3600"/>
              </a:lnSpc>
              <a:buNone/>
            </a:pPr>
            <a:r>
              <a:rPr lang="en-US" sz="3000" b="1" dirty="0">
                <a:solidFill>
                  <a:srgbClr val="111111"/>
                </a:solidFill>
                <a:latin typeface="Lato" pitchFamily="34" charset="0"/>
                <a:ea typeface="Lato" pitchFamily="34" charset="-122"/>
                <a:cs typeface="Lato" pitchFamily="34" charset="-120"/>
              </a:rPr>
              <a:t>training only</a:t>
            </a:r>
            <a:endParaRPr lang="en-US" sz="3000" dirty="0"/>
          </a:p>
        </p:txBody>
      </p:sp>
      <p:sp>
        <p:nvSpPr>
          <p:cNvPr id="10" name="Text 6"/>
          <p:cNvSpPr txBox="1"/>
          <p:nvPr/>
        </p:nvSpPr>
        <p:spPr>
          <a:xfrm>
            <a:off x="5120640" y="352044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Fit anything only on the training part.</a:t>
            </a:r>
            <a:endParaRPr lang="en-US" sz="2200" dirty="0"/>
          </a:p>
        </p:txBody>
      </p:sp>
      <p:sp>
        <p:nvSpPr>
          <p:cNvPr id="11" name="Text 7"/>
          <p:cNvSpPr txBox="1"/>
          <p:nvPr/>
        </p:nvSpPr>
        <p:spPr>
          <a:xfrm>
            <a:off x="5120640" y="394716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Learning only from the textbook.</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fares split into 90, 30 and 30 trips</a:t>
            </a:r>
            <a:endParaRPr lang="en-US" sz="3800" dirty="0"/>
          </a:p>
        </p:txBody>
      </p:sp>
      <p:pic>
        <p:nvPicPr>
          <p:cNvPr id="3" name="Image 0" descr="The fares split into 90, 30 and 30 trips">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Same shape as the flowers split. Training teaches. Test stays locked.</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baseline mean uses the training trips only</a:t>
            </a:r>
            <a:endParaRPr lang="en-US" sz="3800" dirty="0"/>
          </a:p>
        </p:txBody>
      </p:sp>
      <p:pic>
        <p:nvPicPr>
          <p:cNvPr id="3" name="Image 0" descr="The baseline mean uses the training trips only">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Take the mean of the 90 training fares.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Never include validation or test trips.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Otherwise the guess has peeked.</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Split and fit the baseline (1 of 2)</a:t>
            </a:r>
            <a:endParaRPr lang="en-US" sz="3800" dirty="0"/>
          </a:p>
        </p:txBody>
      </p:sp>
      <p:sp>
        <p:nvSpPr>
          <p:cNvPr id="3" name="Shape 1"/>
          <p:cNvSpPr/>
          <p:nvPr/>
        </p:nvSpPr>
        <p:spPr>
          <a:xfrm>
            <a:off x="640080" y="1645920"/>
            <a:ext cx="10881360" cy="2618232"/>
          </a:xfrm>
          <a:prstGeom prst="roundRect">
            <a:avLst>
              <a:gd name="adj" fmla="val 2794"/>
            </a:avLst>
          </a:prstGeom>
          <a:solidFill>
            <a:srgbClr val="111111"/>
          </a:solidFill>
          <a:ln/>
        </p:spPr>
      </p:sp>
      <p:sp>
        <p:nvSpPr>
          <p:cNvPr id="4" name="Text 2"/>
          <p:cNvSpPr txBox="1"/>
          <p:nvPr/>
        </p:nvSpPr>
        <p:spPr>
          <a:xfrm>
            <a:off x="841248" y="1847088"/>
            <a:ext cx="10479024" cy="2215896"/>
          </a:xfrm>
          <a:prstGeom prst="rect">
            <a:avLst/>
          </a:prstGeom>
          <a:noFill/>
          <a:ln/>
        </p:spPr>
        <p:txBody>
          <a:bodyPr wrap="square" lIns="0" tIns="0" rIns="0" bIns="0" rtlCol="0" anchor="t"/>
          <a:lstStyle/>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import</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pandas </a:t>
            </a:r>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as</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pd</a:t>
            </a:r>
            <a:endParaRPr lang="en-US" sz="2200" dirty="0"/>
          </a:p>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from</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sklearn.model_selection </a:t>
            </a:r>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import</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train_test_split</a:t>
            </a:r>
            <a:endParaRPr lang="en-US" sz="2200" dirty="0"/>
          </a:p>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from</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sklearn.dummy </a:t>
            </a:r>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import</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DummyRegressor</a:t>
            </a:r>
            <a:endParaRPr lang="en-US" sz="2200" dirty="0"/>
          </a:p>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from</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sklearn.metrics </a:t>
            </a:r>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import</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mean_absolute_error</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fares = pd.read_csv(</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"synthetic_fares.csv"</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X = fares[[</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"distance_km"</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"rush_hour"</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"raining"</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p:txBody>
      </p:sp>
      <p:sp>
        <p:nvSpPr>
          <p:cNvPr id="5" name="Text 3"/>
          <p:cNvSpPr txBox="1"/>
          <p:nvPr/>
        </p:nvSpPr>
        <p:spPr>
          <a:xfrm>
            <a:off x="640080" y="4447032"/>
            <a:ext cx="8046720" cy="1816608"/>
          </a:xfrm>
          <a:prstGeom prst="rect">
            <a:avLst/>
          </a:prstGeom>
          <a:noFill/>
          <a:ln/>
        </p:spPr>
        <p:txBody>
          <a:bodyPr wrap="square" lIns="0" tIns="0" rIns="0" bIns="0" rtlCol="0" anchor="t"/>
          <a:lstStyle/>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Read the first part of the code. 6 lines. Say what each one does.</a:t>
            </a:r>
            <a:endParaRPr lang="en-US" sz="2400" dirty="0"/>
          </a:p>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The second part comes next.</a:t>
            </a:r>
            <a:endParaRPr lang="en-US" sz="2400" dirty="0"/>
          </a:p>
        </p:txBody>
      </p:sp>
      <p:pic>
        <p:nvPicPr>
          <p:cNvPr id="6" name="Image 0" descr="A page and a pen">    </p:cNvPr>
          <p:cNvPicPr>
            <a:picLocks noChangeAspect="1"/>
          </p:cNvPicPr>
          <p:nvPr/>
        </p:nvPicPr>
        <p:blipFill>
          <a:blip r:embed="rId1"/>
          <a:stretch>
            <a:fillRect/>
          </a:stretch>
        </p:blipFill>
        <p:spPr>
          <a:xfrm>
            <a:off x="10149840" y="4983480"/>
            <a:ext cx="1371600" cy="118872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Split and fit the baseline (2 of 2)</a:t>
            </a:r>
            <a:endParaRPr lang="en-US" sz="3800" dirty="0"/>
          </a:p>
        </p:txBody>
      </p:sp>
      <p:sp>
        <p:nvSpPr>
          <p:cNvPr id="3" name="Shape 1"/>
          <p:cNvSpPr/>
          <p:nvPr/>
        </p:nvSpPr>
        <p:spPr>
          <a:xfrm>
            <a:off x="640080" y="1645920"/>
            <a:ext cx="10881360" cy="3080512"/>
          </a:xfrm>
          <a:prstGeom prst="roundRect">
            <a:avLst>
              <a:gd name="adj" fmla="val 2375"/>
            </a:avLst>
          </a:prstGeom>
          <a:solidFill>
            <a:srgbClr val="111111"/>
          </a:solidFill>
          <a:ln/>
        </p:spPr>
      </p:sp>
      <p:sp>
        <p:nvSpPr>
          <p:cNvPr id="4" name="Text 2"/>
          <p:cNvSpPr txBox="1"/>
          <p:nvPr/>
        </p:nvSpPr>
        <p:spPr>
          <a:xfrm>
            <a:off x="841248" y="1847088"/>
            <a:ext cx="10479024" cy="2678176"/>
          </a:xfrm>
          <a:prstGeom prst="rect">
            <a:avLst/>
          </a:prstGeom>
          <a:noFill/>
          <a:ln/>
        </p:spPr>
        <p:txBody>
          <a:bodyPr wrap="square" lIns="0" tIns="0" rIns="0" bIns="0" rtlCol="0" anchor="t"/>
          <a:lstStyle/>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y = fares[</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"fare_ugx"</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X_dev, X_test, y_dev, y_test = train_test_split(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X, y, test_size=0.2, random_state=7</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X_train, X_val, y_train, y_val = train_test_split(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X_dev, y_dev, test_size=0.25, random_state=7</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baseline = DummyRegressor(strategy=</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"mean"</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).fit(X_train, y_train)</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val_baseline_mae = mean_absolute_error(y_val, baseline.predict(X_val))</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print(len(X_train), len(X_val), len(X_test), round(val_baseline_mae))</a:t>
            </a:r>
            <a:endParaRPr lang="en-US" sz="1600" dirty="0"/>
          </a:p>
        </p:txBody>
      </p:sp>
      <p:sp>
        <p:nvSpPr>
          <p:cNvPr id="5" name="Text 3"/>
          <p:cNvSpPr txBox="1"/>
          <p:nvPr/>
        </p:nvSpPr>
        <p:spPr>
          <a:xfrm>
            <a:off x="640080" y="4909312"/>
            <a:ext cx="8046720" cy="1354328"/>
          </a:xfrm>
          <a:prstGeom prst="rect">
            <a:avLst/>
          </a:prstGeom>
          <a:noFill/>
          <a:ln/>
        </p:spPr>
        <p:txBody>
          <a:bodyPr wrap="square" lIns="0" tIns="0" rIns="0" bIns="0" rtlCol="0" anchor="t"/>
          <a:lstStyle/>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Predict the three sizes and whether the baseline will miss fares by more than UGX 3000 on average.</a:t>
            </a:r>
            <a:endParaRPr lang="en-US" sz="2400" dirty="0"/>
          </a:p>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Write your guess on paper before we run it.</a:t>
            </a:r>
            <a:endParaRPr lang="en-US" sz="2400" dirty="0"/>
          </a:p>
        </p:txBody>
      </p:sp>
      <p:pic>
        <p:nvPicPr>
          <p:cNvPr id="6" name="Image 0" descr="A page and a pen">    </p:cNvPr>
          <p:cNvPicPr>
            <a:picLocks noChangeAspect="1"/>
          </p:cNvPicPr>
          <p:nvPr/>
        </p:nvPicPr>
        <p:blipFill>
          <a:blip r:embed="rId1"/>
          <a:stretch>
            <a:fillRect/>
          </a:stretch>
        </p:blipFill>
        <p:spPr>
          <a:xfrm>
            <a:off x="10149840" y="4983480"/>
            <a:ext cx="1371600" cy="118872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Split and fit the baseline</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cell prints 90, 30, 30 and 4361.</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plain guess misses the validation fares by about UGX 4361 on average.</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Any model you build must beat that on the same validation trips.</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baseline was fitted on the 90 training trips only.</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Split and fit the baseline</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is the baseline fitted on training only?</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would make the baseline number meaningless?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Print the share of the 150 trips used for training.</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Each dot in a scatter plot is one trip</a:t>
            </a:r>
            <a:endParaRPr lang="en-US" sz="3800" dirty="0"/>
          </a:p>
        </p:txBody>
      </p:sp>
      <p:pic>
        <p:nvPicPr>
          <p:cNvPr id="3" name="Image 0" descr="Each dot in a scatter plot is one trip">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Distance runs across.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Fare runs up.</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gold dot is one trip.</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Longer trips cost more, correlation near 0.76</a:t>
            </a:r>
            <a:endParaRPr lang="en-US" sz="3800" dirty="0"/>
          </a:p>
        </p:txBody>
      </p:sp>
      <p:pic>
        <p:nvPicPr>
          <p:cNvPr id="3" name="Image 0" descr="Longer trips cost more, correlation near 0.76">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dots climb to the right.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red line follows them.</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Correlation 0.76 means a strong link.</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One descriptive chart</a:t>
            </a:r>
            <a:endParaRPr lang="en-US" sz="3800" dirty="0"/>
          </a:p>
        </p:txBody>
      </p:sp>
      <p:sp>
        <p:nvSpPr>
          <p:cNvPr id="3" name="Shape 1"/>
          <p:cNvSpPr/>
          <p:nvPr/>
        </p:nvSpPr>
        <p:spPr>
          <a:xfrm>
            <a:off x="640080" y="1645920"/>
            <a:ext cx="10881360" cy="3383280"/>
          </a:xfrm>
          <a:prstGeom prst="roundRect">
            <a:avLst>
              <a:gd name="adj" fmla="val 2162"/>
            </a:avLst>
          </a:prstGeom>
          <a:solidFill>
            <a:srgbClr val="111111"/>
          </a:solidFill>
          <a:ln/>
        </p:spPr>
      </p:sp>
      <p:sp>
        <p:nvSpPr>
          <p:cNvPr id="4" name="Text 2"/>
          <p:cNvSpPr txBox="1"/>
          <p:nvPr/>
        </p:nvSpPr>
        <p:spPr>
          <a:xfrm>
            <a:off x="841248" y="1847088"/>
            <a:ext cx="10479024" cy="2980944"/>
          </a:xfrm>
          <a:prstGeom prst="rect">
            <a:avLst/>
          </a:prstGeom>
          <a:noFill/>
          <a:ln/>
        </p:spPr>
        <p:txBody>
          <a:bodyPr wrap="square" lIns="0" tIns="0" rIns="0" bIns="0" rtlCol="0" anchor="t"/>
          <a:lstStyle/>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import</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seaborn </a:t>
            </a:r>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as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sns</a:t>
            </a:r>
            <a:endParaRPr lang="en-US" sz="1800" dirty="0"/>
          </a:p>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import</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matplotlib.pyplot </a:t>
            </a:r>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as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plt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train = X_train.copy()</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train[</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"fare_ugx"</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 y_train</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sns.scatterplot(data=train, x=</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"distance_km"</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y=</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"fare_ugx"</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plt.xlabel(</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"Distance (km)"</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plt.ylabel(</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"Fare (UGX)"</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plt.title(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"Fare against distance, training trips"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plt.show()</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train_corr = train[</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"distance_km"</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].corr(train[</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"fare_ugx"</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p:txBody>
      </p:sp>
      <p:sp>
        <p:nvSpPr>
          <p:cNvPr id="5" name="Text 3"/>
          <p:cNvSpPr txBox="1"/>
          <p:nvPr/>
        </p:nvSpPr>
        <p:spPr>
          <a:xfrm>
            <a:off x="640080" y="5212080"/>
            <a:ext cx="8046720" cy="1051560"/>
          </a:xfrm>
          <a:prstGeom prst="rect">
            <a:avLst/>
          </a:prstGeom>
          <a:noFill/>
          <a:ln/>
        </p:spPr>
        <p:txBody>
          <a:bodyPr wrap="square" lIns="0" tIns="0" rIns="0" bIns="0" rtlCol="0" anchor="t"/>
          <a:lstStyle/>
          <a:p>
            <a:pPr algn="l" indent="0" marL="0">
              <a:lnSpc>
                <a:spcPts val="2760"/>
              </a:lnSpc>
              <a:spcAft>
                <a:spcPts val="1010"/>
              </a:spcAft>
              <a:buNone/>
            </a:pPr>
            <a:r>
              <a:rPr lang="en-US" sz="2300" dirty="0">
                <a:solidFill>
                  <a:srgbClr val="111111"/>
                </a:solidFill>
                <a:latin typeface="Lato" pitchFamily="34" charset="0"/>
                <a:ea typeface="Lato" pitchFamily="34" charset="-122"/>
                <a:cs typeface="Lato" pitchFamily="34" charset="-120"/>
              </a:rPr>
              <a:t>Predict the shape of the dots: rising, falling or no pattern.</a:t>
            </a:r>
            <a:endParaRPr lang="en-US" sz="2300" dirty="0"/>
          </a:p>
          <a:p>
            <a:pPr algn="l" indent="0" marL="0">
              <a:lnSpc>
                <a:spcPts val="2760"/>
              </a:lnSpc>
              <a:spcAft>
                <a:spcPts val="1010"/>
              </a:spcAft>
              <a:buNone/>
            </a:pPr>
            <a:r>
              <a:rPr lang="en-US" sz="2300" dirty="0">
                <a:solidFill>
                  <a:srgbClr val="111111"/>
                </a:solidFill>
                <a:latin typeface="Lato" pitchFamily="34" charset="0"/>
                <a:ea typeface="Lato" pitchFamily="34" charset="-122"/>
                <a:cs typeface="Lato" pitchFamily="34" charset="-120"/>
              </a:rPr>
              <a:t>Write your guess on paper before we run it.</a:t>
            </a:r>
            <a:endParaRPr lang="en-US" sz="2300" dirty="0"/>
          </a:p>
        </p:txBody>
      </p:sp>
      <p:pic>
        <p:nvPicPr>
          <p:cNvPr id="6" name="Image 0" descr="A page and a pen">    </p:cNvPr>
          <p:cNvPicPr>
            <a:picLocks noChangeAspect="1"/>
          </p:cNvPicPr>
          <p:nvPr/>
        </p:nvPicPr>
        <p:blipFill>
          <a:blip r:embed="rId1"/>
          <a:stretch>
            <a:fillRect/>
          </a:stretch>
        </p:blipFill>
        <p:spPr>
          <a:xfrm>
            <a:off x="10241280" y="521436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One descriptive chart</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dots rise from left to right with a lot of scatter.</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correlation on the 90 training trips is about 0.76.</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Longer trips cost more, but two trips of equal length can differ by thousands of shillings.</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One descriptive chart</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does the scatter around the rising pattern tell you?</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plot only the training trips?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200"/>
              </a:lnSpc>
              <a:spcAft>
                <a:spcPts val="3240"/>
              </a:spcAft>
              <a:buNone/>
            </a:pPr>
            <a:r>
              <a:rPr lang="en-US" sz="3500" dirty="0">
                <a:solidFill>
                  <a:srgbClr val="111111"/>
                </a:solidFill>
                <a:latin typeface="Lato" pitchFamily="34" charset="0"/>
                <a:ea typeface="Lato" pitchFamily="34" charset="-122"/>
                <a:cs typeface="Lato" pitchFamily="34" charset="-120"/>
              </a:rPr>
              <a:t>Colour the dots by rush_hour by adding hue="rush_hour" to the plot.</a:t>
            </a:r>
            <a:endParaRPr lang="en-US" sz="3500" dirty="0"/>
          </a:p>
          <a:p>
            <a:pPr algn="l" indent="0" marL="0">
              <a:lnSpc>
                <a:spcPts val="4200"/>
              </a:lnSpc>
              <a:spcAft>
                <a:spcPts val="3240"/>
              </a:spcAft>
              <a:buNone/>
            </a:pPr>
            <a:r>
              <a:rPr lang="en-US" sz="3500" dirty="0">
                <a:solidFill>
                  <a:srgbClr val="111111"/>
                </a:solidFill>
                <a:latin typeface="Lato" pitchFamily="34" charset="0"/>
                <a:ea typeface="Lato" pitchFamily="34" charset="-122"/>
                <a:cs typeface="Lato" pitchFamily="34" charset="-120"/>
              </a:rPr>
              <a:t>Then tell your neighbour what changed and how you know.</a:t>
            </a:r>
            <a:endParaRPr lang="en-US" sz="35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model must score below the plain guess</a:t>
            </a:r>
            <a:endParaRPr lang="en-US" sz="3800" dirty="0"/>
          </a:p>
        </p:txBody>
      </p:sp>
      <p:pic>
        <p:nvPicPr>
          <p:cNvPr id="3" name="Image 0" descr="A model must score below the plain guess">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Validation miss for the plain guess: 4,361 UGX.</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Complete the three-way split, the baseline and one labelled chart for your own project dataset. Save the notebook, your data dictionary and the cleaning log. If no cleaning was needed, record the checks that found nothing.</a:t>
            </a:r>
            <a:endParaRPr lang="en-US" sz="2900" dirty="0"/>
          </a:p>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Save it as ML20. Write two sentences: what you changed and how you checked it.</a:t>
            </a:r>
            <a:endParaRPr lang="en-US" sz="29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Baseline and model score exactly the same</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280"/>
              </a:lnSpc>
              <a:spcAft>
                <a:spcPts val="1300"/>
              </a:spcAft>
              <a:buNone/>
            </a:pPr>
            <a:r>
              <a:rPr lang="en-US" sz="1900" dirty="0">
                <a:solidFill>
                  <a:srgbClr val="111111"/>
                </a:solidFill>
                <a:latin typeface="Lato" pitchFamily="34" charset="0"/>
                <a:ea typeface="Lato" pitchFamily="34" charset="-122"/>
                <a:cs typeface="Lato" pitchFamily="34" charset="-120"/>
              </a:rPr>
              <a:t>It means: Both scores were computed from the same predictions, so the baseline is not a separate guess.</a:t>
            </a:r>
            <a:endParaRPr lang="en-US" sz="1900" dirty="0"/>
          </a:p>
          <a:p>
            <a:pPr algn="l" indent="0" marL="0">
              <a:lnSpc>
                <a:spcPts val="2280"/>
              </a:lnSpc>
              <a:spcAft>
                <a:spcPts val="1300"/>
              </a:spcAft>
              <a:buNone/>
            </a:pPr>
            <a:r>
              <a:rPr lang="en-US" sz="1900" dirty="0">
                <a:solidFill>
                  <a:srgbClr val="111111"/>
                </a:solidFill>
                <a:latin typeface="Lato" pitchFamily="34" charset="0"/>
                <a:ea typeface="Lato" pitchFamily="34" charset="-122"/>
                <a:cs typeface="Lato" pitchFamily="34" charset="-120"/>
              </a:rPr>
              <a:t>Fix: Build the baseline from the training mean alone and score the model with its own predict, both on X_val and y_val.</a:t>
            </a:r>
            <a:endParaRPr lang="en-US" sz="19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ValueError: Found input variables with inconsistent numbers of samples</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X and y have different lengths because one was filtered and not the other.</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Create X and y from the same table at the same step.</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The baseline error on validation is the number my model has to beat.</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ML20 Build the project baseline</dc:title>
  <dc:subject>Machine Learning</dc:subject>
  <dc:creator>KLAi</dc:creator>
  <cp:lastModifiedBy>KLAi</cp:lastModifiedBy>
  <cp:revision>1</cp:revision>
  <dcterms:created xsi:type="dcterms:W3CDTF">2026-10-31T12:33:13Z</dcterms:created>
  <dcterms:modified xsi:type="dcterms:W3CDTF">2026-10-31T12:33:13Z</dcterms:modified>
</cp:coreProperties>
</file>