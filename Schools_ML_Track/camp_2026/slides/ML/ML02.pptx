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4f2a359-ccc8-84a0-0e71-a1dd9dbc7aa7}">
          <p14:sldIdLst>
            <p14:sldId id="256"/>
            <p14:sldId id="257"/>
            <p14:sldId id="258"/>
            <p14:sldId id="259"/>
            <p14:sldId id="260"/>
            <p14:sldId id="261"/>
            <p14:sldId id="262"/>
          </p14:sldIdLst>
        </p14:section>
        <p14:section name="Block A" id="{8d86abbb-2690-6357-119a-22b114accad3}">
          <p14:sldIdLst>
            <p14:sldId id="263"/>
            <p14:sldId id="264"/>
            <p14:sldId id="265"/>
            <p14:sldId id="266"/>
            <p14:sldId id="268"/>
            <p14:sldId id="269"/>
          </p14:sldIdLst>
        </p14:section>
        <p14:section name="Break" id="{a4296514-36b6-d1be-ea01-67230602a388}">
          <p14:sldIdLst>
            <p14:sldId id="267"/>
          </p14:sldIdLst>
        </p14:section>
        <p14:section name="Block A" id="{bbcc1156-2099-98fc-e2a2-99f84fab5105}">
          <p14:sldIdLst/>
        </p14:section>
        <p14:section name="Block B" id="{a7421cbe-5685-304f-53fb-c1fc53516aa7}">
          <p14:sldIdLst>
            <p14:sldId id="270"/>
            <p14:sldId id="271"/>
            <p14:sldId id="272"/>
            <p14:sldId id="273"/>
            <p14:sldId id="274"/>
          </p14:sldIdLst>
        </p14:section>
        <p14:section name="Make and close" id="{ec371056-0917-926b-5b40-034fac6968e5}">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see you. Today is session 2 and our topic is values, names and types.
By the end of today you will be able to create whole numbers, decimals and text, and predict what happens when a name is given a new value.
We will answer one question: What kind of thing is each part of a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sale from a practice shop: a bottle of juice, four units, two thousand shillings each. Each part is a different kind of thing. The name is words. The count is a whole number. A price might have a decimal point. Python needs to know which kind it has, because each kind behaves differently. Today we learn the kinds and how to store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value. One piece of information, such as 2000 or Juice. You have seen this before. One entry in a receipt.
integer. A whole number with no decimal part. Counting 3 books.
float. A number with a decimal part. Think of a shop. A price of 2500.5 shillings.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string. Text inside quotation marks. Imagine it like this. A name written on a label.
variable. A name that points to a value. An example from everyday life. A label on a box of stock.
type. The kind of value: integer, float or string. Here is a way to see it. Knowing whether a box holds pens or juice.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the boxes in a storeroom. Every box has a label, and inside is what you counted. A variable is exactly that. The label is the name, like price. The contents are the value, like two thousand.
The equals sign puts a value into a labelled box. In the last line, Python works out price times quantity first, and then stores the answer in a new box called cost. What number ends up inside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sorts every value into a type. Whole numbers are integers. Numbers with a decimal point are floats. Anything inside quotation marks is a string, which is a word for text.
Look at the string bin. The last example is the character three in quotation marks. It looks like a number, but Python treats it as text. Asking Python for the type tells you which bin a value is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shop sells 3 items at UGX 2000 each.
This is the part where you decide. Predict the three lines the cell will print. Put it on paper first. We will check it together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The cell prints 6000, then &lt;class 'int'&gt;, then &lt;class 'str'&gt;. price and quantity are variables. 2000 is an integer. The quoted 2000 is a string, which is text. The equals sign stores the value on its right under the name on its left.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names point to values. I have two questions for you.
Question one. Why is type("2000") a string? Talk it over with your neighbour for a minute.
What I would say is this. Quotation marks make it text. Python cannot multiply it like an amount of money.
Question two. What does the equals sign do in cost = price * quantity? Think about it for a moment, then tell the person next to you.
Let me answer it. It calculates the right side first, then stores the answer under the name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Change quantity to 5 and run the whole cell again. When you have run it, tell your neighbour what changed and how you know.
Here is what happens. cost becomes 10000.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follows the notebook line by line. Gold marks the number that changed on that line. First price and quantity are stored. Then total is calculated and printed as five thousand and one.
Next, quantity becomes four. Look at the total column on that row. It has not moved, because the line that calculates total has not run again. Only when we run it again does total become ten thousand and two. Where would you expect surprises like this in your own notebooks?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same idea as three snapshots. In the first, total is five thousand and one. In the second we changed quantity, and total still says five thousand and one. In the third we ran the calculating line again and total caught up.
If a number in your notebook looks wrong after an edit, ask which line you forgot to run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code. Read it line by line.
Make a prediction. Predict the three numbers printed. Will the second one change after quantity changes?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cell prints 5001.0, then 5001.0, then 10002.0. 2500.5 is a float. Changing quantity does not change total until the line that calculates total runs again. Python works from the top of the cell to the bottom.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name keeps its value until you change it. I have two questions for you.
Question one. Why does the second print still show 5001.0? Think about it for a moment, then tell the person next to you.
Let me answer it. total was calculated when quantity was 2. Python does not recalculate by itself.
Question two. What line makes the third number different? Have a go in your head first.
The answer is this. The second total = price * quantity line, which runs with quantity equal to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Set quantity to 10, recalculate total and print it. Run it, then tell someone what you saw.
What you should find: The total is 25005.0.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look at these two values side by side. Both look like two thousand. The left one is an integer you can add and multiply. The right one has quotation marks, so Python sees four characters, like a name.
In the practice task you write one sentence about this difference. Use the word type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ML02.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NameError: name 'price' is not defined. It means this: Python has not run a line that creates that name in this session. To fix it, Run the cell that creates the name first, and check the spelling and capital letters.
The next one. You will see: TypeError: can't multiply sequence by non-int of type 'str'. It means this: you tried to multiply two pieces of text. To fix it, remove the quotation marks around the number.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What kind of thing is each part of a sale?
Finish this sentence in your notebook, in your own words. A variable is a name that points to a value, and the value stays until I store a new one.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ML02  |  Values, names and types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Values, names and types</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What kind of thing is each part of a sale?</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2 of 24  |  Week 1, Python and a first prediction</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What kind of thing is each part of a sale?</a:t>
            </a:r>
            <a:endParaRPr lang="en-US" sz="3800" dirty="0"/>
          </a:p>
        </p:txBody>
      </p:sp>
      <p:pic>
        <p:nvPicPr>
          <p:cNvPr id="3" name="Image 0" descr="One sale in the shop table with a type under each part">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valu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value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One piece of information, such as 2000 or Juice.</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One entry in a receipt.</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integer">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integer</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whole number with no decimal part.</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Counting 3 books.</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float">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float</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number with a decimal part.</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price of 2500.5 shillings.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string">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string</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Text inside quotation marks.</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name written on a label.</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variabl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variable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name that points to a value.</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label on a box of stock.</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typ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type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kind of value: integer, float or string.</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Knowing whether a box holds pens or juice.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variable is a labelled box that holds a value</a:t>
            </a:r>
            <a:endParaRPr lang="en-US" sz="3800" dirty="0"/>
          </a:p>
        </p:txBody>
      </p:sp>
      <p:pic>
        <p:nvPicPr>
          <p:cNvPr id="3" name="Image 0" descr="A variable is a labelled box that holds a valu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name is the label on the box.</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value is what sits inside.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equals sign stores a value in a box.</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The type of a value decides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what you can do with it</a:t>
            </a:r>
            <a:endParaRPr lang="en-US" sz="3600" dirty="0"/>
          </a:p>
        </p:txBody>
      </p:sp>
      <p:pic>
        <p:nvPicPr>
          <p:cNvPr id="3" name="Image 0" descr="The type of a value decides what you can do with i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whole number is an integer.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number with a decimal point is a float.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Text in quotation marks is a string.</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Names point to values</a:t>
            </a:r>
            <a:endParaRPr lang="en-US" sz="3800" dirty="0"/>
          </a:p>
        </p:txBody>
      </p:sp>
      <p:sp>
        <p:nvSpPr>
          <p:cNvPr id="3" name="Shape 1"/>
          <p:cNvSpPr/>
          <p:nvPr/>
        </p:nvSpPr>
        <p:spPr>
          <a:xfrm>
            <a:off x="640080" y="1645920"/>
            <a:ext cx="6035040" cy="2618232"/>
          </a:xfrm>
          <a:prstGeom prst="roundRect">
            <a:avLst>
              <a:gd name="adj" fmla="val 2794"/>
            </a:avLst>
          </a:prstGeom>
          <a:solidFill>
            <a:srgbClr val="111111"/>
          </a:solidFill>
          <a:ln/>
        </p:spPr>
      </p:sp>
      <p:sp>
        <p:nvSpPr>
          <p:cNvPr id="4" name="Text 2"/>
          <p:cNvSpPr txBox="1"/>
          <p:nvPr/>
        </p:nvSpPr>
        <p:spPr>
          <a:xfrm>
            <a:off x="841248" y="1847088"/>
            <a:ext cx="5632704" cy="221589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price = 2000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quantity = 3</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cost = price * quantity</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print(cost)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print(type(price))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print(type(</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"2000"</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600"/>
              </a:lnSpc>
              <a:spcAft>
                <a:spcPts val="2160"/>
              </a:spcAft>
              <a:buNone/>
            </a:pPr>
            <a:r>
              <a:rPr lang="en-US" sz="3000" dirty="0">
                <a:solidFill>
                  <a:srgbClr val="111111"/>
                </a:solidFill>
                <a:latin typeface="Lato" pitchFamily="34" charset="0"/>
                <a:ea typeface="Lato" pitchFamily="34" charset="-122"/>
                <a:cs typeface="Lato" pitchFamily="34" charset="-120"/>
              </a:rPr>
              <a:t>Predict the three lines the cell will print.</a:t>
            </a:r>
            <a:endParaRPr lang="en-US" sz="3000" dirty="0"/>
          </a:p>
          <a:p>
            <a:pPr algn="l" indent="0" marL="0">
              <a:lnSpc>
                <a:spcPts val="3600"/>
              </a:lnSpc>
              <a:spcAft>
                <a:spcPts val="2160"/>
              </a:spcAft>
              <a:buNone/>
            </a:pPr>
            <a:r>
              <a:rPr lang="en-US" sz="3000" dirty="0">
                <a:solidFill>
                  <a:srgbClr val="111111"/>
                </a:solidFill>
                <a:latin typeface="Lato" pitchFamily="34" charset="0"/>
                <a:ea typeface="Lato" pitchFamily="34" charset="-122"/>
                <a:cs typeface="Lato" pitchFamily="34" charset="-120"/>
              </a:rPr>
              <a:t>Write your guess on paper before we run it.</a:t>
            </a:r>
            <a:endParaRPr lang="en-US" sz="30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Names point to values</a:t>
            </a:r>
            <a:endParaRPr lang="en-US" sz="3800" dirty="0"/>
          </a:p>
        </p:txBody>
      </p:sp>
      <p:sp>
        <p:nvSpPr>
          <p:cNvPr id="3" name="Shape 1"/>
          <p:cNvSpPr/>
          <p:nvPr/>
        </p:nvSpPr>
        <p:spPr>
          <a:xfrm>
            <a:off x="640080" y="1645920"/>
            <a:ext cx="6035040" cy="1491996"/>
          </a:xfrm>
          <a:prstGeom prst="roundRect">
            <a:avLst>
              <a:gd name="adj" fmla="val 4903"/>
            </a:avLst>
          </a:prstGeom>
          <a:solidFill>
            <a:srgbClr val="FFFFFF"/>
          </a:solidFill>
          <a:ln w="15875">
            <a:solidFill>
              <a:srgbClr val="111111"/>
            </a:solidFill>
            <a:prstDash val="solid"/>
          </a:ln>
        </p:spPr>
      </p:sp>
      <p:sp>
        <p:nvSpPr>
          <p:cNvPr id="4" name="Text 2"/>
          <p:cNvSpPr txBox="1"/>
          <p:nvPr/>
        </p:nvSpPr>
        <p:spPr>
          <a:xfrm>
            <a:off x="822960" y="1828800"/>
            <a:ext cx="5669280" cy="112623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6000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&lt;class 'int'&gt;</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&lt;class 'str'&gt;</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2760"/>
              </a:lnSpc>
              <a:spcAft>
                <a:spcPts val="1580"/>
              </a:spcAft>
              <a:buNone/>
            </a:pPr>
            <a:r>
              <a:rPr lang="en-US" sz="2300" dirty="0">
                <a:solidFill>
                  <a:srgbClr val="111111"/>
                </a:solidFill>
                <a:latin typeface="Lato" pitchFamily="34" charset="0"/>
                <a:ea typeface="Lato" pitchFamily="34" charset="-122"/>
                <a:cs typeface="Lato" pitchFamily="34" charset="-120"/>
              </a:rPr>
              <a:t>The cell prints 6000, then &lt;class 'int'&gt;, then &lt;class 'str'&gt;.</a:t>
            </a:r>
            <a:endParaRPr lang="en-US" sz="2300" dirty="0"/>
          </a:p>
          <a:p>
            <a:pPr algn="l" indent="0" marL="0">
              <a:lnSpc>
                <a:spcPts val="2760"/>
              </a:lnSpc>
              <a:spcAft>
                <a:spcPts val="1580"/>
              </a:spcAft>
              <a:buNone/>
            </a:pPr>
            <a:r>
              <a:rPr lang="en-US" sz="2300" dirty="0">
                <a:solidFill>
                  <a:srgbClr val="111111"/>
                </a:solidFill>
                <a:latin typeface="Lato" pitchFamily="34" charset="0"/>
                <a:ea typeface="Lato" pitchFamily="34" charset="-122"/>
                <a:cs typeface="Lato" pitchFamily="34" charset="-120"/>
              </a:rPr>
              <a:t>price and quantity are variables.</a:t>
            </a:r>
            <a:endParaRPr lang="en-US" sz="2300" dirty="0"/>
          </a:p>
          <a:p>
            <a:pPr algn="l" indent="0" marL="0">
              <a:lnSpc>
                <a:spcPts val="2760"/>
              </a:lnSpc>
              <a:spcAft>
                <a:spcPts val="1580"/>
              </a:spcAft>
              <a:buNone/>
            </a:pPr>
            <a:r>
              <a:rPr lang="en-US" sz="2300" dirty="0">
                <a:solidFill>
                  <a:srgbClr val="111111"/>
                </a:solidFill>
                <a:latin typeface="Lato" pitchFamily="34" charset="0"/>
                <a:ea typeface="Lato" pitchFamily="34" charset="-122"/>
                <a:cs typeface="Lato" pitchFamily="34" charset="-120"/>
              </a:rPr>
              <a:t>2000 is an integer.</a:t>
            </a:r>
            <a:endParaRPr lang="en-US" sz="2300" dirty="0"/>
          </a:p>
          <a:p>
            <a:pPr algn="l" indent="0" marL="0">
              <a:lnSpc>
                <a:spcPts val="2760"/>
              </a:lnSpc>
              <a:spcAft>
                <a:spcPts val="1580"/>
              </a:spcAft>
              <a:buNone/>
            </a:pPr>
            <a:r>
              <a:rPr lang="en-US" sz="2300" dirty="0">
                <a:solidFill>
                  <a:srgbClr val="111111"/>
                </a:solidFill>
                <a:latin typeface="Lato" pitchFamily="34" charset="0"/>
                <a:ea typeface="Lato" pitchFamily="34" charset="-122"/>
                <a:cs typeface="Lato" pitchFamily="34" charset="-120"/>
              </a:rPr>
              <a:t>The quoted 2000 is a string, which is text.</a:t>
            </a:r>
            <a:endParaRPr lang="en-US" sz="2300" dirty="0"/>
          </a:p>
          <a:p>
            <a:pPr algn="l" indent="0" marL="0">
              <a:lnSpc>
                <a:spcPts val="2760"/>
              </a:lnSpc>
              <a:spcAft>
                <a:spcPts val="1580"/>
              </a:spcAft>
              <a:buNone/>
            </a:pPr>
            <a:r>
              <a:rPr lang="en-US" sz="2300" dirty="0">
                <a:solidFill>
                  <a:srgbClr val="111111"/>
                </a:solidFill>
                <a:latin typeface="Lato" pitchFamily="34" charset="0"/>
                <a:ea typeface="Lato" pitchFamily="34" charset="-122"/>
                <a:cs typeface="Lato" pitchFamily="34" charset="-120"/>
              </a:rPr>
              <a:t>The equals sign stores the value on its right under the name on its left.</a:t>
            </a:r>
            <a:endParaRPr lang="en-US" sz="23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Names point to values</a:t>
            </a:r>
            <a:endParaRPr lang="en-US" sz="3800" dirty="0"/>
          </a:p>
        </p:txBody>
      </p:sp>
      <p:sp>
        <p:nvSpPr>
          <p:cNvPr id="3" name="Shape 1"/>
          <p:cNvSpPr/>
          <p:nvPr/>
        </p:nvSpPr>
        <p:spPr>
          <a:xfrm>
            <a:off x="7498080" y="1737360"/>
            <a:ext cx="4023360" cy="2221992"/>
          </a:xfrm>
          <a:prstGeom prst="roundRect">
            <a:avLst>
              <a:gd name="adj" fmla="val 3292"/>
            </a:avLst>
          </a:prstGeom>
          <a:solidFill>
            <a:srgbClr val="111111"/>
          </a:solidFill>
          <a:ln/>
        </p:spPr>
      </p:sp>
      <p:sp>
        <p:nvSpPr>
          <p:cNvPr id="4" name="Text 2"/>
          <p:cNvSpPr txBox="1"/>
          <p:nvPr/>
        </p:nvSpPr>
        <p:spPr>
          <a:xfrm>
            <a:off x="7699248" y="1938528"/>
            <a:ext cx="3621024" cy="181965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price = 2000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quantity = 3</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cost = price * quantity</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print(cost)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print(type(price))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print(type(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"2000"</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is type("2000") a string?</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does the equals sign do in cost = price * quantity?</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quantity to 5 and run the whole cell again.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2221992"/>
          </a:xfrm>
          <a:prstGeom prst="roundRect">
            <a:avLst>
              <a:gd name="adj" fmla="val 3292"/>
            </a:avLst>
          </a:prstGeom>
          <a:solidFill>
            <a:srgbClr val="111111"/>
          </a:solidFill>
          <a:ln/>
        </p:spPr>
      </p:sp>
      <p:sp>
        <p:nvSpPr>
          <p:cNvPr id="5" name="Text 3"/>
          <p:cNvSpPr txBox="1"/>
          <p:nvPr/>
        </p:nvSpPr>
        <p:spPr>
          <a:xfrm>
            <a:off x="7424928" y="1938528"/>
            <a:ext cx="3895344" cy="181965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price = 2000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quantity = 3</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cost = price * quantity</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print(cost)</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print(type(price))</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print(type(</a:t>
            </a:r>
            <a:pPr algn="l" indent="0" marL="0">
              <a:lnSpc>
                <a:spcPts val="2340"/>
              </a:lnSpc>
              <a:buNone/>
            </a:pPr>
            <a:r>
              <a:rPr lang="en-US" sz="1800" dirty="0">
                <a:solidFill>
                  <a:srgbClr val="E0BE36"/>
                </a:solidFill>
                <a:latin typeface="Courier New" pitchFamily="34" charset="0"/>
                <a:ea typeface="Courier New" pitchFamily="34" charset="-122"/>
                <a:cs typeface="Courier New" pitchFamily="34" charset="-120"/>
              </a:rPr>
              <a:t>"2000"</a:t>
            </a:r>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a:t>
            </a:r>
            <a:endParaRPr lang="en-US" sz="18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Python runs the lines from the top, one at a time</a:t>
            </a:r>
            <a:endParaRPr lang="en-US" sz="3700" dirty="0"/>
          </a:p>
        </p:txBody>
      </p:sp>
      <p:pic>
        <p:nvPicPr>
          <p:cNvPr id="3" name="Image 0" descr="Python runs the lines from the top, one at a tim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row is one line running.</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Gold marks the value that just changed.</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total changes only when its own line runs again.</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A calculated value waits until you calculate again</a:t>
            </a:r>
            <a:endParaRPr lang="en-US" sz="3700" dirty="0"/>
          </a:p>
        </p:txBody>
      </p:sp>
      <p:pic>
        <p:nvPicPr>
          <p:cNvPr id="3" name="Image 0" descr="A calculated value waits until you calculate again">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Changing quantity does not change total.</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line that calculates total must run again.</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Python reads from the top down.</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Predict: A name keeps its value until you change it</a:t>
            </a:r>
            <a:endParaRPr lang="en-US" sz="3600" dirty="0"/>
          </a:p>
        </p:txBody>
      </p:sp>
      <p:sp>
        <p:nvSpPr>
          <p:cNvPr id="3" name="Shape 1"/>
          <p:cNvSpPr/>
          <p:nvPr/>
        </p:nvSpPr>
        <p:spPr>
          <a:xfrm>
            <a:off x="640080" y="1645920"/>
            <a:ext cx="6035040" cy="3344672"/>
          </a:xfrm>
          <a:prstGeom prst="roundRect">
            <a:avLst>
              <a:gd name="adj" fmla="val 2187"/>
            </a:avLst>
          </a:prstGeom>
          <a:solidFill>
            <a:srgbClr val="111111"/>
          </a:solidFill>
          <a:ln/>
        </p:spPr>
      </p:sp>
      <p:sp>
        <p:nvSpPr>
          <p:cNvPr id="4" name="Text 2"/>
          <p:cNvSpPr txBox="1"/>
          <p:nvPr/>
        </p:nvSpPr>
        <p:spPr>
          <a:xfrm>
            <a:off x="841248" y="1847088"/>
            <a:ext cx="5632704" cy="294233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price = 2500.5</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quantity = 2</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total = price * quantity</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print(total)</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quantity = 4</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print(total)</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total = price * quantity</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print(total)</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2880"/>
              </a:lnSpc>
              <a:spcAft>
                <a:spcPts val="2160"/>
              </a:spcAft>
              <a:buNone/>
            </a:pPr>
            <a:r>
              <a:rPr lang="en-US" sz="2400" dirty="0">
                <a:solidFill>
                  <a:srgbClr val="111111"/>
                </a:solidFill>
                <a:latin typeface="Lato" pitchFamily="34" charset="0"/>
                <a:ea typeface="Lato" pitchFamily="34" charset="-122"/>
                <a:cs typeface="Lato" pitchFamily="34" charset="-120"/>
              </a:rPr>
              <a:t>Predict the three numbers printed. Will the second one change after quantity changes?</a:t>
            </a:r>
            <a:endParaRPr lang="en-US" sz="2400" dirty="0"/>
          </a:p>
          <a:p>
            <a:pPr algn="l" indent="0" marL="0">
              <a:lnSpc>
                <a:spcPts val="2880"/>
              </a:lnSpc>
              <a:spcAft>
                <a:spcPts val="216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Run it: A name keeps its value until you change it</a:t>
            </a:r>
            <a:endParaRPr lang="en-US" sz="3700" dirty="0"/>
          </a:p>
        </p:txBody>
      </p:sp>
      <p:sp>
        <p:nvSpPr>
          <p:cNvPr id="3" name="Shape 1"/>
          <p:cNvSpPr/>
          <p:nvPr/>
        </p:nvSpPr>
        <p:spPr>
          <a:xfrm>
            <a:off x="640080" y="1645920"/>
            <a:ext cx="6035040" cy="1491996"/>
          </a:xfrm>
          <a:prstGeom prst="roundRect">
            <a:avLst>
              <a:gd name="adj" fmla="val 4903"/>
            </a:avLst>
          </a:prstGeom>
          <a:solidFill>
            <a:srgbClr val="FFFFFF"/>
          </a:solidFill>
          <a:ln w="15875">
            <a:solidFill>
              <a:srgbClr val="111111"/>
            </a:solidFill>
            <a:prstDash val="solid"/>
          </a:ln>
        </p:spPr>
      </p:sp>
      <p:sp>
        <p:nvSpPr>
          <p:cNvPr id="4" name="Text 2"/>
          <p:cNvSpPr txBox="1"/>
          <p:nvPr/>
        </p:nvSpPr>
        <p:spPr>
          <a:xfrm>
            <a:off x="822960" y="1828800"/>
            <a:ext cx="5669280" cy="112623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5001.0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5001.0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10002.0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5001.0, then 5001.0, then 10002.0.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2500.5 is a float.</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Changing quantity does not change total until the line that calculates total runs again.</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Python works from the top of the cell to the bottom.</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Investigate: A name keeps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its value until you change it</a:t>
            </a:r>
            <a:endParaRPr lang="en-US" sz="3600" dirty="0"/>
          </a:p>
        </p:txBody>
      </p:sp>
      <p:sp>
        <p:nvSpPr>
          <p:cNvPr id="3" name="Shape 1"/>
          <p:cNvSpPr/>
          <p:nvPr/>
        </p:nvSpPr>
        <p:spPr>
          <a:xfrm>
            <a:off x="7498080" y="1737360"/>
            <a:ext cx="4023360" cy="2816352"/>
          </a:xfrm>
          <a:prstGeom prst="roundRect">
            <a:avLst>
              <a:gd name="adj" fmla="val 2597"/>
            </a:avLst>
          </a:prstGeom>
          <a:solidFill>
            <a:srgbClr val="111111"/>
          </a:solidFill>
          <a:ln/>
        </p:spPr>
      </p:sp>
      <p:sp>
        <p:nvSpPr>
          <p:cNvPr id="4" name="Text 2"/>
          <p:cNvSpPr txBox="1"/>
          <p:nvPr/>
        </p:nvSpPr>
        <p:spPr>
          <a:xfrm>
            <a:off x="7699248" y="1938528"/>
            <a:ext cx="3621024" cy="241401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price = 2500.5</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quantity = 2</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total = price * quantity</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quantity = 4</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total = price * quantity</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a:t>
            </a:r>
            <a:endParaRPr lang="en-US" sz="18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does the second print still show 5001.0?</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line makes the third number different?</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Set quantity to 10, recalculate total and print it.</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2816352"/>
          </a:xfrm>
          <a:prstGeom prst="roundRect">
            <a:avLst>
              <a:gd name="adj" fmla="val 2597"/>
            </a:avLst>
          </a:prstGeom>
          <a:solidFill>
            <a:srgbClr val="111111"/>
          </a:solidFill>
          <a:ln/>
        </p:spPr>
      </p:sp>
      <p:sp>
        <p:nvSpPr>
          <p:cNvPr id="5" name="Text 3"/>
          <p:cNvSpPr txBox="1"/>
          <p:nvPr/>
        </p:nvSpPr>
        <p:spPr>
          <a:xfrm>
            <a:off x="7424928" y="1938528"/>
            <a:ext cx="3895344" cy="241401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price = 2500.5</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quantity = 2</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total = price * quantity</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quantity = 4</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total = price * quantity</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print(total)</a:t>
            </a:r>
            <a:endParaRPr lang="en-US" sz="18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Quotation marks turn an amount into text</a:t>
            </a:r>
            <a:endParaRPr lang="en-US" sz="3800" dirty="0"/>
          </a:p>
        </p:txBody>
      </p:sp>
      <p:pic>
        <p:nvPicPr>
          <p:cNvPr id="3" name="Image 0" descr="Quotation marks turn an amount into tex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2000 is an amount Python can calculate with.</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"2000" is characters, like a name.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type tells you which one you have.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Create a decimal price of 2500.5 and a quantity of 2. Print the total. Write one sentence on why "2500.5" with quotation marks is different.</a:t>
            </a:r>
            <a:endParaRPr lang="en-US" sz="3000" dirty="0"/>
          </a:p>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Save it as ML02. Write two sentences: what you changed and how you checked it.</a:t>
            </a:r>
            <a:endParaRPr lang="en-US" sz="30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NameError: name 'price' is not defined</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Python has not run a line that creates that name in this session.</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the cell that creates the name first, and check the spelling and capital letters.</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TypeError: can't multiply sequence by non-int of type 'str'</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You tried to multiply two pieces of text.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Remove the quotation marks around the number.</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variable is a name that points to a value, and the value stays until I store a new one.</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ML02 Values, names and types</dc:title>
  <dc:subject>Machine Learning</dc:subject>
  <dc:creator>KLAi</dc:creator>
  <cp:lastModifiedBy>KLAi</cp:lastModifiedBy>
  <cp:revision>1</cp:revision>
  <dcterms:created xsi:type="dcterms:W3CDTF">2026-10-31T12:26:26Z</dcterms:created>
  <dcterms:modified xsi:type="dcterms:W3CDTF">2026-10-31T12:26:26Z</dcterms:modified>
</cp:coreProperties>
</file>