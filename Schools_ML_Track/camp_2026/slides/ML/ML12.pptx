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2c152f7-38f0-3b9a-5180-3fd84ec37791}">
          <p14:sldIdLst>
            <p14:sldId id="256"/>
            <p14:sldId id="257"/>
            <p14:sldId id="258"/>
            <p14:sldId id="259"/>
            <p14:sldId id="260"/>
            <p14:sldId id="261"/>
          </p14:sldIdLst>
        </p14:section>
        <p14:section name="Block A" id="{e95232d3-c12f-ff12-ee9c-fe1d6f734c44}">
          <p14:sldIdLst>
            <p14:sldId id="262"/>
            <p14:sldId id="263"/>
            <p14:sldId id="264"/>
            <p14:sldId id="265"/>
            <p14:sldId id="266"/>
            <p14:sldId id="268"/>
            <p14:sldId id="269"/>
          </p14:sldIdLst>
        </p14:section>
        <p14:section name="Break" id="{460dcb51-881d-2a90-a2f2-de5271c78c57}">
          <p14:sldIdLst>
            <p14:sldId id="267"/>
          </p14:sldIdLst>
        </p14:section>
        <p14:section name="Block A" id="{6372e2f8-2c86-36d3-7e0d-e14f353014be}">
          <p14:sldIdLst/>
        </p14:section>
        <p14:section name="Block B" id="{e5de252b-252a-24f0-6129-9bc4e46e9b7d}">
          <p14:sldIdLst>
            <p14:sldId id="270"/>
            <p14:sldId id="271"/>
            <p14:sldId id="272"/>
            <p14:sldId id="273"/>
            <p14:sldId id="274"/>
          </p14:sldIdLst>
        </p14:section>
        <p14:section name="Make and close" id="{c8c55a02-ef22-9bb3-51fc-bfaab1ebc5fe}">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12 and our topic is checkpoint one and a project question.
By the end of today you will be able to load a table, check it, total it, chart it, write two findings and a limitation, and ask one prediction question a table could answer.
We will answer one question: Can I take a table from a file to a labelled chart and a careful finding on my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one is these six steps, done on your own in one notebook. Read the file, check it, calculate something, draw a labelled chart, explain what you found, and rerun everything from the top. The notebook must work the same way for anyone who opens it. Today you also choose the question for your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20 minutes. Brief and worked skeleton. After that, 15 minutes. Break. Next, 100 minutes. Checkpoint work. Then, 20 minutes. Project question. Then, 15 minutes. Save and exit check.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checkpoint. A piece of work that shows what you can do alone so far. Imagine it like this. A mid-term test you can rerun.
reproducible. Someone can rerun your notebook from the top and get the same results. An example from everyday life. A recipe anyone can follow.
data dictionary. A list of each column with its meaning and unit. Here is a way to see it. The key at the bottom of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target. The value you want to predict, such as monthly rent. A small example. The number you are guessing.
input. A measurement known before you predict the target. Picture this. The clues you are given.
limitation. What the data or method cannot tell you. You have seen this before. The edge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notebook can seem fine because it remembers a cell you have since deleted. On another laptop it fails. Restart and run all clears the memory and runs every cell from the top, so it shows the truth.
Do this before you hand anything in. What do you expect to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first part of the code with me before we run anything. ['Run the skeleton, then repeat each step in your own notebook, ML12.ipynb, with your own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read these lines together before anything runs.
Your turn to guess. Predict the row count, the total revenue and the best-selling item by revenue.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skeleton prints 60 rows, 0 missing cells and a total revenue of 550000. The assert passes silently because the item totals add up to the overall total. The chart shows Book as the tallest bar. Your checkpoint needs the same steps with your own two findings, one limitation, a missing-value check and a clean rerun from a restarted kernel.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checkpoint skeleton. I have two questions for you.
Question one. What does the passing assert prove? Think about it for a moment, then tell the person next to you.
That the grouped totals and the overall total agree.
Question two. Why record that there were no missing values? Have a go in your head first.
Here is how I would answer it. A check that finds nothing is still evidence that you looked.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Add a finding with a number and one limitation as text cells under the chart. Then explain to your neighbour what the change did.
The result: For example: Book earns UGX 297000, about 54% of revenue. The data is invented and has no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project question says what you will predict and from what. Can area and rooms predict monthly rent? The rent is the target. Area and rooms are the inputs. Every input has to be known before the rent is.
Write your own question in this shape before the end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project starts with three short sentences. The question, the data you will use, and the target. If you can write these clearly, you are ready to start.
Read your three sentences to a neighbour. Can they say back what you will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20 minutes choose a table and write three sentences: the question, the dataset and the target. Model building starts next week.
Now your guess. Before you look at the datasets again, write the question you would most like a model to answer.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Your three sentences name a question a table can answer, one supplied dataset (synthetic_homes.csv, synthetic_fares.csv or the iris flowers), and the target to predict. Inputs must be known before the target is. Good: predict monthly rent from area and rooms. Weak: explain why rents are high.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write your project question. I have two questions for you.
Question one. Which column is the target in synthetic_fares.csv? Have a go in your head first.
Here is how I would answer it. fare_ugx, the price of the trip.
Question two. Why does a prediction question need inputs known beforehand? Write your answer in one line before we compare.
What I would say is this. A model cannot use information that only exists after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Rewrite a question that asks why into one that asks for a prediction. When you have run it, tell your neighbour what changed and how you know.
Here is what happens. Why are rents high becomes: can area and rooms predict monthly 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dictionary is a short list that explains every column. It means someone who has never seen the file can still read it. Note that home underscore id is only a label, so it is never used as an input.
Write the dictionary once, and it saves everybody time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ML12.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The notebook works only until I restart it. It means this: A later cell uses a name that an earlier cell created and you deleted. To fix it, restart the kernel and run all cells from the top to find the missing step.
The next one. You will see: The totals do not agree. It means this: A filter or a typo dropped rows before grouping. To fix it, compare the row counts before and after each step.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Can I take a table from a file to a labelled chart and a careful finding on my own?
Write this sentence in your notebook and finish it your own way. A checkpoint is a table taken from file to chart to careful finding that anyone can rerun.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ML12  |  Checkpoint one and a project question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Checkpoint one and a project question</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I take a table from a file to a labelled chart and a careful finding on my own?</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12 of 24  |  Week 4, Clean, chart, question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I take a table from a file to a labelled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chart and a careful finding on my own?</a:t>
            </a:r>
            <a:endParaRPr lang="en-US" sz="3600" dirty="0"/>
          </a:p>
        </p:txBody>
      </p:sp>
      <p:pic>
        <p:nvPicPr>
          <p:cNvPr id="3" name="Image 0" descr="Six steps: read, check, calculate, chart, explain and rerun">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checkpoin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checkpoint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piece of work that shows what you can do alone so far.</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mid-term test you can rerun.</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reproducibl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reproducible</a:t>
            </a:r>
            <a:endParaRPr lang="en-US" sz="31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Someone can rerun your notebook from the top and get the same results.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recipe anyone can follow.</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ata dictionary">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360"/>
              </a:lnSpc>
              <a:buNone/>
            </a:pPr>
            <a:r>
              <a:rPr lang="en-US" sz="2800" b="1" dirty="0">
                <a:solidFill>
                  <a:srgbClr val="111111"/>
                </a:solidFill>
                <a:latin typeface="Lato" pitchFamily="34" charset="0"/>
                <a:ea typeface="Lato" pitchFamily="34" charset="-122"/>
                <a:cs typeface="Lato" pitchFamily="34" charset="-120"/>
              </a:rPr>
              <a:t>data dictionary</a:t>
            </a:r>
            <a:endParaRPr lang="en-US" sz="28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list of each column with its meaning and unit.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key at the bottom of a map.</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targe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target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value you want to predict, such as monthly rent.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number you are guessing.</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inpu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input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measurement known before you predict the target.</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clues you are given.</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limitation">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limitation</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What the data or method cannot tell you.</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edge of the map.</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Restart and run all proves a notebook works</a:t>
            </a:r>
            <a:endParaRPr lang="en-US" sz="3800" dirty="0"/>
          </a:p>
        </p:txBody>
      </p:sp>
      <p:pic>
        <p:nvPicPr>
          <p:cNvPr id="3" name="Image 0" descr="Restart and run all proves a notebook work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notebook can remember cells you deleted.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Restart clears that memory.</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Run all checks every cell in order.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checkpoint skeleton (1 of 2)</a:t>
            </a:r>
            <a:endParaRPr lang="en-US" sz="3800" dirty="0"/>
          </a:p>
        </p:txBody>
      </p:sp>
      <p:sp>
        <p:nvSpPr>
          <p:cNvPr id="3" name="Shape 1"/>
          <p:cNvSpPr/>
          <p:nvPr/>
        </p:nvSpPr>
        <p:spPr>
          <a:xfrm>
            <a:off x="640080" y="1645920"/>
            <a:ext cx="10881360" cy="2519172"/>
          </a:xfrm>
          <a:prstGeom prst="roundRect">
            <a:avLst>
              <a:gd name="adj" fmla="val 2904"/>
            </a:avLst>
          </a:prstGeom>
          <a:solidFill>
            <a:srgbClr val="111111"/>
          </a:solidFill>
          <a:ln/>
        </p:spPr>
      </p:sp>
      <p:sp>
        <p:nvSpPr>
          <p:cNvPr id="4" name="Text 2"/>
          <p:cNvSpPr txBox="1"/>
          <p:nvPr/>
        </p:nvSpPr>
        <p:spPr>
          <a:xfrm>
            <a:off x="841248" y="1847088"/>
            <a:ext cx="10479024" cy="2116836"/>
          </a:xfrm>
          <a:prstGeom prst="rect">
            <a:avLst/>
          </a:prstGeom>
          <a:noFill/>
          <a:ln/>
        </p:spPr>
        <p:txBody>
          <a:bodyPr wrap="square" lIns="0" tIns="0" rIns="0" bIns="0" rtlCol="0" anchor="t"/>
          <a:lstStyle/>
          <a:p>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import</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pandas </a:t>
            </a:r>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as</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pd</a:t>
            </a:r>
            <a:endParaRPr lang="en-US" sz="2100" dirty="0"/>
          </a:p>
          <a:p>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import</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matplotlib.pyplot </a:t>
            </a:r>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as</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plt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shop = pd.read_csv(</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"camp_shop.csv"</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missing = shop.isna().sum().sum()</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 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"units"</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 shop[</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"unit_price_ugx"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by_item = shop.groupby(</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"item"</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"revenue_ugx"</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].sum()</a:t>
            </a:r>
            <a:endParaRPr lang="en-US" sz="2100" dirty="0"/>
          </a:p>
        </p:txBody>
      </p:sp>
      <p:sp>
        <p:nvSpPr>
          <p:cNvPr id="5" name="Text 3"/>
          <p:cNvSpPr txBox="1"/>
          <p:nvPr/>
        </p:nvSpPr>
        <p:spPr>
          <a:xfrm>
            <a:off x="640080" y="4347972"/>
            <a:ext cx="8046720" cy="191566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Read the first part of the code. 6 lines. Say what each one does.</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second part comes next.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checkpoint skeleton (2 of 2)</a:t>
            </a:r>
            <a:endParaRPr lang="en-US" sz="3800" dirty="0"/>
          </a:p>
        </p:txBody>
      </p:sp>
      <p:sp>
        <p:nvSpPr>
          <p:cNvPr id="3" name="Shape 1"/>
          <p:cNvSpPr/>
          <p:nvPr/>
        </p:nvSpPr>
        <p:spPr>
          <a:xfrm>
            <a:off x="640080" y="1645920"/>
            <a:ext cx="10881360" cy="2618232"/>
          </a:xfrm>
          <a:prstGeom prst="roundRect">
            <a:avLst>
              <a:gd name="adj" fmla="val 2794"/>
            </a:avLst>
          </a:prstGeom>
          <a:solidFill>
            <a:srgbClr val="111111"/>
          </a:solidFill>
          <a:ln/>
        </p:spPr>
      </p:sp>
      <p:sp>
        <p:nvSpPr>
          <p:cNvPr id="4" name="Text 2"/>
          <p:cNvSpPr txBox="1"/>
          <p:nvPr/>
        </p:nvSpPr>
        <p:spPr>
          <a:xfrm>
            <a:off x="841248" y="1847088"/>
            <a:ext cx="1047902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print(shop.shape[0], missing, by_item.sum())</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assert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by_item.sum() == shop[</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"revenue_ugx"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].sum()</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plt.bar(by_item.index, by_item.values)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plt.ylabel(</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"Revenue (UGX)"</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plt.title(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"Revenue by item, practice shop"</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plt.show()</a:t>
            </a:r>
            <a:endParaRPr lang="en-US" sz="2200" dirty="0"/>
          </a:p>
        </p:txBody>
      </p:sp>
      <p:sp>
        <p:nvSpPr>
          <p:cNvPr id="5" name="Text 3"/>
          <p:cNvSpPr txBox="1"/>
          <p:nvPr/>
        </p:nvSpPr>
        <p:spPr>
          <a:xfrm>
            <a:off x="640080" y="4447032"/>
            <a:ext cx="8046720" cy="181660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the row count, the total revenue and the best-selling item by revenue.</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checkpoint skeleton</a:t>
            </a:r>
            <a:endParaRPr lang="en-US" sz="3800" dirty="0"/>
          </a:p>
        </p:txBody>
      </p:sp>
      <p:pic>
        <p:nvPicPr>
          <p:cNvPr id="3" name="Image 0" descr="The chart the code draws">    </p:cNvPr>
          <p:cNvPicPr>
            <a:picLocks noChangeAspect="1"/>
          </p:cNvPicPr>
          <p:nvPr/>
        </p:nvPicPr>
        <p:blipFill>
          <a:blip r:embed="rId1"/>
          <a:stretch>
            <a:fillRect/>
          </a:stretch>
        </p:blipFill>
        <p:spPr>
          <a:xfrm>
            <a:off x="640080" y="2095596"/>
            <a:ext cx="6035040" cy="3535488"/>
          </a:xfrm>
          <a:prstGeom prst="rect">
            <a:avLst/>
          </a:prstGeom>
        </p:spPr>
      </p:pic>
      <p:sp>
        <p:nvSpPr>
          <p:cNvPr id="4" name="Text 1"/>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skeleton prints 60 rows, 0 missing cells and a total revenue of 550000.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assert passes silently because the item totals add up to the overall total.</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chart shows Book as the tallest bar.</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checkpoint skeleton</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passing assert prove?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record that there were no missing values?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a finding with a number and one limitation as text cells under the chart.</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project question names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 input, a target and a test</a:t>
            </a:r>
            <a:endParaRPr lang="en-US" sz="3600" dirty="0"/>
          </a:p>
        </p:txBody>
      </p:sp>
      <p:pic>
        <p:nvPicPr>
          <p:cNvPr id="3" name="Image 0" descr="A project question names an input, a target and a tes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target is the answer you want.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Inputs must be known before the answer.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question ends with a mark.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sentences set up a project</a:t>
            </a:r>
            <a:endParaRPr lang="en-US" sz="3800" dirty="0"/>
          </a:p>
        </p:txBody>
      </p:sp>
      <p:pic>
        <p:nvPicPr>
          <p:cNvPr id="3" name="Image 0" descr="Three sentences set up a projec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400"/>
              </a:lnSpc>
              <a:buNone/>
            </a:pPr>
            <a:r>
              <a:rPr lang="en-US" sz="2000" dirty="0">
                <a:solidFill>
                  <a:srgbClr val="333333"/>
                </a:solidFill>
                <a:latin typeface="Lato" pitchFamily="34" charset="0"/>
                <a:ea typeface="Lato" pitchFamily="34" charset="-122"/>
                <a:cs typeface="Lato" pitchFamily="34" charset="-120"/>
              </a:rPr>
              <a:t>Sentence one is the question. Sentence two names the data. Sentence three names the target.</a:t>
            </a:r>
            <a:endParaRPr lang="en-US" sz="20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Write your project question</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Before you look at the datasets again, write the question you would most like a model to answer.</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Write your project question</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360"/>
              </a:lnSpc>
              <a:spcAft>
                <a:spcPts val="1800"/>
              </a:spcAft>
              <a:buNone/>
            </a:pPr>
            <a:r>
              <a:rPr lang="en-US" sz="2800" dirty="0">
                <a:solidFill>
                  <a:srgbClr val="111111"/>
                </a:solidFill>
                <a:latin typeface="Lato" pitchFamily="34" charset="0"/>
                <a:ea typeface="Lato" pitchFamily="34" charset="-122"/>
                <a:cs typeface="Lato" pitchFamily="34" charset="-120"/>
              </a:rPr>
              <a:t>Your three sentences name a question a table can answer, one supplied dataset (synthetic_homes.csv, synthetic_fares.csv or the iris flowers), and the target to predict.</a:t>
            </a:r>
            <a:endParaRPr lang="en-US" sz="2800" dirty="0"/>
          </a:p>
          <a:p>
            <a:pPr algn="l" indent="0" marL="0">
              <a:lnSpc>
                <a:spcPts val="3360"/>
              </a:lnSpc>
              <a:spcAft>
                <a:spcPts val="1800"/>
              </a:spcAft>
              <a:buNone/>
            </a:pPr>
            <a:r>
              <a:rPr lang="en-US" sz="2800" dirty="0">
                <a:solidFill>
                  <a:srgbClr val="111111"/>
                </a:solidFill>
                <a:latin typeface="Lato" pitchFamily="34" charset="0"/>
                <a:ea typeface="Lato" pitchFamily="34" charset="-122"/>
                <a:cs typeface="Lato" pitchFamily="34" charset="-120"/>
              </a:rPr>
              <a:t>Inputs must be known before the target is.</a:t>
            </a:r>
            <a:endParaRPr lang="en-US" sz="2800" dirty="0"/>
          </a:p>
          <a:p>
            <a:pPr algn="l" indent="0" marL="0">
              <a:lnSpc>
                <a:spcPts val="3360"/>
              </a:lnSpc>
              <a:spcAft>
                <a:spcPts val="1800"/>
              </a:spcAft>
              <a:buNone/>
            </a:pPr>
            <a:r>
              <a:rPr lang="en-US" sz="2800" dirty="0">
                <a:solidFill>
                  <a:srgbClr val="111111"/>
                </a:solidFill>
                <a:latin typeface="Lato" pitchFamily="34" charset="0"/>
                <a:ea typeface="Lato" pitchFamily="34" charset="-122"/>
                <a:cs typeface="Lato" pitchFamily="34" charset="-120"/>
              </a:rPr>
              <a:t>Good: predict monthly rent from area and rooms.</a:t>
            </a:r>
            <a:endParaRPr lang="en-US" sz="2800" dirty="0"/>
          </a:p>
          <a:p>
            <a:pPr algn="l" indent="0" marL="0">
              <a:lnSpc>
                <a:spcPts val="3360"/>
              </a:lnSpc>
              <a:spcAft>
                <a:spcPts val="1800"/>
              </a:spcAft>
              <a:buNone/>
            </a:pPr>
            <a:r>
              <a:rPr lang="en-US" sz="2800" dirty="0">
                <a:solidFill>
                  <a:srgbClr val="111111"/>
                </a:solidFill>
                <a:latin typeface="Lato" pitchFamily="34" charset="0"/>
                <a:ea typeface="Lato" pitchFamily="34" charset="-122"/>
                <a:cs typeface="Lato" pitchFamily="34" charset="-120"/>
              </a:rPr>
              <a:t>Weak: explain why rents are high.</a:t>
            </a:r>
            <a:endParaRPr lang="en-US" sz="28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Write your project question</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column is the target in synthetic_fares.csv?</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does a prediction question need inputs known beforehand?</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Rewrite a question that asks why into one that asks for a prediction.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data dictionary lets a stranger read your file</a:t>
            </a:r>
            <a:endParaRPr lang="en-US" sz="3800" dirty="0"/>
          </a:p>
        </p:txBody>
      </p:sp>
      <p:pic>
        <p:nvPicPr>
          <p:cNvPr id="3" name="Image 0" descr="A data dictionary lets a stranger read your fi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line for each column.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Say what each column means.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Mark which column is a label only.</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In ML12.ipynb report the row count, the revenue by item, one chart, two findings and one limitation, and record your missing-value check. Run all cells from a restarted kernel and save. Add your three-sentence project question.</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ML12.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notebook works only until I restart it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later cell uses a name that an earlier cell created and you deleted.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Restart the kernel and run all cells from the top to find the missing step.</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totals do not agree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filter or a typo dropped rows before grouping.</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Compare the row counts before and after each step.</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checkpoint is a table taken from file to chart to careful finding that anyone can rerun.</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ML12 Checkpoint one and a project question</dc:title>
  <dc:subject>Machine Learning</dc:subject>
  <dc:creator>KLAi</dc:creator>
  <cp:lastModifiedBy>KLAi</cp:lastModifiedBy>
  <cp:revision>1</cp:revision>
  <dcterms:created xsi:type="dcterms:W3CDTF">2026-10-31T12:33:07Z</dcterms:created>
  <dcterms:modified xsi:type="dcterms:W3CDTF">2026-10-31T12:33:07Z</dcterms:modified>
</cp:coreProperties>
</file>