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6afd83-0b78-35d4-45b1-ed931c0e7224}">
          <p14:sldIdLst>
            <p14:sldId id="256"/>
            <p14:sldId id="257"/>
            <p14:sldId id="258"/>
            <p14:sldId id="259"/>
            <p14:sldId id="260"/>
          </p14:sldIdLst>
        </p14:section>
        <p14:section name="Block A" id="{662ee4a7-1093-abfe-e576-797f759f14ba}">
          <p14:sldIdLst>
            <p14:sldId id="261"/>
            <p14:sldId id="262"/>
            <p14:sldId id="263"/>
            <p14:sldId id="264"/>
          </p14:sldIdLst>
        </p14:section>
        <p14:section name="Make and close" id="{607a6051-0c03-08e6-61ef-130c229b9a22}">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go. Today is session 3 and our topic is variation, proportions and probability.
By the end of today you will be able to explain the idea in your own words and run the worked example.
We will answer one question: Two groups can have the same mean. How can I tell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A has the numbers two, two, six and six. Group B has four, four, four and four. Both have a mean of four. Yet they are very different groups, because A is spread out and B is not. In this lab you find a number that tells them apart, and you meet proportion and probability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mean. The total shared out equally. Think of a shop. Sharing a bag of mandazi.
deviation. A value minus the mean; it can be negative. Imagine it like this. How far a mark is from the class average.
standard deviation. A typical size of the deviations, in the original unit. An example from everyday life. How spread out the marks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proportion. A part divided by the whole. Here is a way to see it. 3 blue counters out of 5.
probability. How likely an outcome is under stated conditions. A small example. A fair die gives a 6 about once in six throws.
observed fraction. What actually happened in a limited number of tries. Picture this. Ten throws of a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of two, two, six and six is four. For each value, subtract the mean. Two gives minus two. Six gives plus two. These gaps are called deviations, and they can be negative.
The standard deviation is a typical size of these gaps. For this group it is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is a total divided by a count. Two groups can have the same mean and different spread.
Now your guess. Work the paper example first: Put four cards on the table: 2, 2, 6, 6. Then predict every line the code will print.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Line one: mean 4.0, deviations minus 2, minus 2, 2 and 2, spread 2.0. Line two, the steady group: mean 4.0, spread 0.0. Line three: 0.3333 and 33.33, a chance of 1 in 3, or 33.3 percent.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spread and chance. I have two questions for you.
Question one. What does each line of the code do? Have a go in your head first.
Here is how I would answer it. Read each line aloud and say what it stores or prints.
Question two. Which number surprised you? Write your answer in one line before we compare.
What I would say is this. Say which printed value differed from your paper work,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Repeat for [1, 1, 5, 5]. After you run it, say in one sentence what changed and how you checked.
You should see this. Mean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F03.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The deviations add up to zero. It means this: the signed deviations were added without squaring them. To fix it, square each deviation first, then add them.
The next one. You will see: A percentage above 100. It means this: the whole was divided by the part. To fix it, divide the part by the whole, then multiply by 100.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Two groups can have the same mean. How can I tell them apart?
Copy this sentence into your notebook and make it yours. I can explain variation, proportions and probability in my own words.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F03  |  Variation, proportions and probability</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Variation, proportions</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and probability</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Two groups can have the same mean. How can I tell them apart?</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Foundation lab F03</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Two groups can have the same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mean. How can I tell them apart?</a:t>
            </a:r>
            <a:endParaRPr lang="en-US" sz="3600" dirty="0"/>
          </a:p>
        </p:txBody>
      </p:sp>
      <p:pic>
        <p:nvPicPr>
          <p:cNvPr id="3" name="Image 0" descr="Two groups of four numbers with the same mean of 4 and different spread">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mea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mean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total shared out equally.</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Sharing a bag of mandazi.</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deviatio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deviation</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value minus the mean; it can be negative.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far a mark is from the class average.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standard deviation">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standard deviation</a:t>
            </a:r>
            <a:endParaRPr lang="en-US" sz="2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typical size of the deviations, in the original unit.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spread out the marks are.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proporti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proportion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part divided by the whole.</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3 blue counters out of 5.</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probability">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probability</a:t>
            </a:r>
            <a:endParaRPr lang="en-US" sz="32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How likely an outcome is under stated conditions.</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fair die gives a 6 about once in six throws.</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observed fraction">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000"/>
              </a:lnSpc>
              <a:buNone/>
            </a:pPr>
            <a:r>
              <a:rPr lang="en-US" sz="2500" b="1" dirty="0">
                <a:solidFill>
                  <a:srgbClr val="111111"/>
                </a:solidFill>
                <a:latin typeface="Lato" pitchFamily="34" charset="0"/>
                <a:ea typeface="Lato" pitchFamily="34" charset="-122"/>
                <a:cs typeface="Lato" pitchFamily="34" charset="-120"/>
              </a:rPr>
              <a:t>observed fraction</a:t>
            </a:r>
            <a:endParaRPr lang="en-US" sz="25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What actually happened in a limited number of tries.</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Ten throws of a die.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A deviation is how far a value sits from the mean</a:t>
            </a:r>
            <a:endParaRPr lang="en-US" sz="3700" dirty="0"/>
          </a:p>
        </p:txBody>
      </p:sp>
      <p:pic>
        <p:nvPicPr>
          <p:cNvPr id="3" name="Image 0" descr="A deviation is how far a value sits from the mean">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Subtract the mean from each value.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Below the mean gives a negative number.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Above the mean gives a positive number.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spread and chance</a:t>
            </a:r>
            <a:endParaRPr lang="en-US" sz="3800" dirty="0"/>
          </a:p>
        </p:txBody>
      </p:sp>
      <p:sp>
        <p:nvSpPr>
          <p:cNvPr id="3" name="Shape 1"/>
          <p:cNvSpPr/>
          <p:nvPr/>
        </p:nvSpPr>
        <p:spPr>
          <a:xfrm>
            <a:off x="640080" y="1645920"/>
            <a:ext cx="6035040" cy="3410712"/>
          </a:xfrm>
          <a:prstGeom prst="roundRect">
            <a:avLst>
              <a:gd name="adj" fmla="val 2145"/>
            </a:avLst>
          </a:prstGeom>
          <a:solidFill>
            <a:srgbClr val="111111"/>
          </a:solidFill>
          <a:ln/>
        </p:spPr>
      </p:sp>
      <p:sp>
        <p:nvSpPr>
          <p:cNvPr id="4" name="Text 2"/>
          <p:cNvSpPr txBox="1"/>
          <p:nvPr/>
        </p:nvSpPr>
        <p:spPr>
          <a:xfrm>
            <a:off x="841248" y="1847088"/>
            <a:ext cx="5632704" cy="3008376"/>
          </a:xfrm>
          <a:prstGeom prst="rect">
            <a:avLst/>
          </a:prstGeom>
          <a:noFill/>
          <a:ln/>
        </p:spPr>
        <p:txBody>
          <a:bodyPr wrap="square" lIns="0" tIns="0" rIns="0" bIns="0" rtlCol="0" anchor="t"/>
          <a:lstStyle/>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numpy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np</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values = np.array([2, 2, 6, 6])</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mean = values.mean()</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deviations = values - mean</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spread = values.std()</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steady = np.array([4, 4, 4, 4])</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print(mean, deviations, spread)</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print(steady.mean(), steady.std())</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print(2 / 6, 2 / 6 * 100)</a:t>
            </a:r>
            <a:endParaRPr lang="en-US" sz="20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Work the paper example first: Put four cards on the table: 2, 2, 6, 6. Then predict every line the code will print.</a:t>
            </a:r>
            <a:endParaRPr lang="en-US" sz="2400" dirty="0"/>
          </a:p>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spread and chance</a:t>
            </a:r>
            <a:endParaRPr lang="en-US" sz="3800" dirty="0"/>
          </a:p>
        </p:txBody>
      </p:sp>
      <p:sp>
        <p:nvSpPr>
          <p:cNvPr id="3" name="Shape 1"/>
          <p:cNvSpPr/>
          <p:nvPr/>
        </p:nvSpPr>
        <p:spPr>
          <a:xfrm>
            <a:off x="640080" y="1645920"/>
            <a:ext cx="6035040" cy="1343406"/>
          </a:xfrm>
          <a:prstGeom prst="roundRect">
            <a:avLst>
              <a:gd name="adj" fmla="val 5445"/>
            </a:avLst>
          </a:prstGeom>
          <a:solidFill>
            <a:srgbClr val="FFFFFF"/>
          </a:solidFill>
          <a:ln w="15875">
            <a:solidFill>
              <a:srgbClr val="111111"/>
            </a:solidFill>
            <a:prstDash val="solid"/>
          </a:ln>
        </p:spPr>
      </p:sp>
      <p:sp>
        <p:nvSpPr>
          <p:cNvPr id="4" name="Text 2"/>
          <p:cNvSpPr txBox="1"/>
          <p:nvPr/>
        </p:nvSpPr>
        <p:spPr>
          <a:xfrm>
            <a:off x="822960" y="1828800"/>
            <a:ext cx="5669280" cy="977646"/>
          </a:xfrm>
          <a:prstGeom prst="rect">
            <a:avLst/>
          </a:prstGeom>
          <a:noFill/>
          <a:ln/>
        </p:spPr>
        <p:txBody>
          <a:bodyPr wrap="square" lIns="0" tIns="0" rIns="0" bIns="0" rtlCol="0" anchor="t"/>
          <a:lstStyle/>
          <a:p>
            <a:pPr algn="l" indent="0" marL="0">
              <a:lnSpc>
                <a:spcPts val="2470"/>
              </a:lnSpc>
              <a:buNone/>
            </a:pPr>
            <a:r>
              <a:rPr lang="en-US" sz="1900" dirty="0">
                <a:solidFill>
                  <a:srgbClr val="111111"/>
                </a:solidFill>
                <a:latin typeface="Courier New" pitchFamily="34" charset="0"/>
                <a:ea typeface="Courier New" pitchFamily="34" charset="-122"/>
                <a:cs typeface="Courier New" pitchFamily="34" charset="-120"/>
              </a:rPr>
              <a:t>4.0 [-2. -2.  2.  2.] 2.0</a:t>
            </a:r>
            <a:endParaRPr lang="en-US" sz="1900" dirty="0"/>
          </a:p>
          <a:p>
            <a:pPr algn="l" indent="0" marL="0">
              <a:lnSpc>
                <a:spcPts val="2470"/>
              </a:lnSpc>
              <a:buNone/>
            </a:pPr>
            <a:r>
              <a:rPr lang="en-US" sz="1900" dirty="0">
                <a:solidFill>
                  <a:srgbClr val="111111"/>
                </a:solidFill>
                <a:latin typeface="Courier New" pitchFamily="34" charset="0"/>
                <a:ea typeface="Courier New" pitchFamily="34" charset="-122"/>
                <a:cs typeface="Courier New" pitchFamily="34" charset="-120"/>
              </a:rPr>
              <a:t>4.0 0.0</a:t>
            </a:r>
            <a:endParaRPr lang="en-US" sz="1900" dirty="0"/>
          </a:p>
          <a:p>
            <a:pPr algn="l" indent="0" marL="0">
              <a:lnSpc>
                <a:spcPts val="2470"/>
              </a:lnSpc>
              <a:buNone/>
            </a:pPr>
            <a:r>
              <a:rPr lang="en-US" sz="1900" dirty="0">
                <a:solidFill>
                  <a:srgbClr val="111111"/>
                </a:solidFill>
                <a:latin typeface="Courier New" pitchFamily="34" charset="0"/>
                <a:ea typeface="Courier New" pitchFamily="34" charset="-122"/>
                <a:cs typeface="Courier New" pitchFamily="34" charset="-120"/>
              </a:rPr>
              <a:t>0.3333333333333333 33.33333333333333</a:t>
            </a:r>
            <a:endParaRPr lang="en-US" sz="19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Line one: mean 4.0, deviations minus 2, minus 2, 2 and 2, spread 2.0.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Line two, the steady group: mean 4.0, spread 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Line three: 0.3333 and 33.33, a chance of 1 in 3, or 33.3 percent.</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spread and chance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each line of the code do?</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Which number surprised you?</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Repeat for [1, 1, 5, 5].</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000"/>
              </a:lnSpc>
              <a:spcAft>
                <a:spcPts val="2020"/>
              </a:spcAft>
              <a:buNone/>
            </a:pPr>
            <a:r>
              <a:rPr lang="en-US" sz="2500" dirty="0">
                <a:solidFill>
                  <a:srgbClr val="111111"/>
                </a:solidFill>
                <a:latin typeface="Lato" pitchFamily="34" charset="0"/>
                <a:ea typeface="Lato" pitchFamily="34" charset="-122"/>
                <a:cs typeface="Lato" pitchFamily="34" charset="-120"/>
              </a:rPr>
              <a:t>Repeat for [1, 1, 5, 5].</a:t>
            </a:r>
            <a:endParaRPr lang="en-US" sz="2500" dirty="0"/>
          </a:p>
          <a:p>
            <a:pPr algn="l" indent="0" marL="0">
              <a:lnSpc>
                <a:spcPts val="3000"/>
              </a:lnSpc>
              <a:spcAft>
                <a:spcPts val="2020"/>
              </a:spcAft>
              <a:buNone/>
            </a:pPr>
            <a:r>
              <a:rPr lang="en-US" sz="2500" dirty="0">
                <a:solidFill>
                  <a:srgbClr val="111111"/>
                </a:solidFill>
                <a:latin typeface="Lato" pitchFamily="34" charset="0"/>
                <a:ea typeface="Lato" pitchFamily="34" charset="-122"/>
                <a:cs typeface="Lato" pitchFamily="34" charset="-120"/>
              </a:rPr>
              <a:t>Explain the mean and spread in words.</a:t>
            </a:r>
            <a:endParaRPr lang="en-US" sz="2500" dirty="0"/>
          </a:p>
          <a:p>
            <a:pPr algn="l" indent="0" marL="0">
              <a:lnSpc>
                <a:spcPts val="3000"/>
              </a:lnSpc>
              <a:spcAft>
                <a:spcPts val="2020"/>
              </a:spcAft>
              <a:buNone/>
            </a:pPr>
            <a:r>
              <a:rPr lang="en-US" sz="2500" dirty="0">
                <a:solidFill>
                  <a:srgbClr val="111111"/>
                </a:solidFill>
                <a:latin typeface="Lato" pitchFamily="34" charset="0"/>
                <a:ea typeface="Lato" pitchFamily="34" charset="-122"/>
                <a:cs typeface="Lato" pitchFamily="34" charset="-120"/>
              </a:rPr>
              <a:t>A bag has 3 blue and 2 red counters.</a:t>
            </a:r>
            <a:endParaRPr lang="en-US" sz="2500" dirty="0"/>
          </a:p>
          <a:p>
            <a:pPr algn="l" indent="0" marL="0">
              <a:lnSpc>
                <a:spcPts val="3000"/>
              </a:lnSpc>
              <a:spcAft>
                <a:spcPts val="2020"/>
              </a:spcAft>
              <a:buNone/>
            </a:pPr>
            <a:r>
              <a:rPr lang="en-US" sz="2500" dirty="0">
                <a:solidFill>
                  <a:srgbClr val="111111"/>
                </a:solidFill>
                <a:latin typeface="Lato" pitchFamily="34" charset="0"/>
                <a:ea typeface="Lato" pitchFamily="34" charset="-122"/>
                <a:cs typeface="Lato" pitchFamily="34" charset="-120"/>
              </a:rPr>
              <a:t>State the chance of blue and its percentage, assuming each counter is equally likely.</a:t>
            </a:r>
            <a:endParaRPr lang="en-US" sz="2500" dirty="0"/>
          </a:p>
          <a:p>
            <a:pPr algn="l" indent="0" marL="0">
              <a:lnSpc>
                <a:spcPts val="3000"/>
              </a:lnSpc>
              <a:spcAft>
                <a:spcPts val="2020"/>
              </a:spcAft>
              <a:buNone/>
            </a:pPr>
            <a:r>
              <a:rPr lang="en-US" sz="2500" dirty="0">
                <a:solidFill>
                  <a:srgbClr val="111111"/>
                </a:solidFill>
                <a:latin typeface="Lato" pitchFamily="34" charset="0"/>
                <a:ea typeface="Lato" pitchFamily="34" charset="-122"/>
                <a:cs typeface="Lato" pitchFamily="34" charset="-120"/>
              </a:rPr>
              <a:t>Save F03.ipynb.</a:t>
            </a:r>
            <a:endParaRPr lang="en-US" sz="2500" dirty="0"/>
          </a:p>
          <a:p>
            <a:pPr algn="l" indent="0" marL="0">
              <a:lnSpc>
                <a:spcPts val="3000"/>
              </a:lnSpc>
              <a:spcAft>
                <a:spcPts val="2020"/>
              </a:spcAft>
              <a:buNone/>
            </a:pPr>
            <a:r>
              <a:rPr lang="en-US" sz="2500" dirty="0">
                <a:solidFill>
                  <a:srgbClr val="111111"/>
                </a:solidFill>
                <a:latin typeface="Lato" pitchFamily="34" charset="0"/>
                <a:ea typeface="Lato" pitchFamily="34" charset="-122"/>
                <a:cs typeface="Lato" pitchFamily="34" charset="-120"/>
              </a:rPr>
              <a:t>Write two sentences: what you changed and how you checked it.</a:t>
            </a:r>
            <a:endParaRPr lang="en-US" sz="25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deviations add up to zero</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signed deviations were added without squaring them.</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Square each deviation first, then add them.</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A percentage above 100</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whole was divided by the part.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Divide the part by the whole, then multiply by 100.</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can explain variation, proportions and probability in my own words.</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F03 Variation, proportions and probability</dc:title>
  <dc:subject>Machine Learning</dc:subject>
  <dc:creator>KLAi</dc:creator>
  <cp:lastModifiedBy>KLAi</cp:lastModifiedBy>
  <cp:revision>1</cp:revision>
  <dcterms:created xsi:type="dcterms:W3CDTF">2026-10-31T12:44:52Z</dcterms:created>
  <dcterms:modified xsi:type="dcterms:W3CDTF">2026-10-31T12:44:52Z</dcterms:modified>
</cp:coreProperties>
</file>