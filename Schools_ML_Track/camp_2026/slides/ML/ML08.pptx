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15b7a3b-9c9d-640f-21e0-62f414b34ecd}">
          <p14:sldIdLst>
            <p14:sldId id="256"/>
            <p14:sldId id="257"/>
            <p14:sldId id="258"/>
            <p14:sldId id="259"/>
            <p14:sldId id="260"/>
            <p14:sldId id="261"/>
            <p14:sldId id="262"/>
            <p14:sldId id="263"/>
          </p14:sldIdLst>
        </p14:section>
        <p14:section name="Block A" id="{920a140d-5f25-61ee-47bf-a92cf1f9669b}">
          <p14:sldIdLst>
            <p14:sldId id="264"/>
            <p14:sldId id="265"/>
            <p14:sldId id="266"/>
            <p14:sldId id="267"/>
            <p14:sldId id="269"/>
            <p14:sldId id="270"/>
          </p14:sldIdLst>
        </p14:section>
        <p14:section name="Break" id="{1655c415-1f10-5edf-53d6-0fe20b02b0a1}">
          <p14:sldIdLst>
            <p14:sldId id="268"/>
          </p14:sldIdLst>
        </p14:section>
        <p14:section name="Block A" id="{092691ef-d5ca-e2c2-529e-4397cb206dfe}">
          <p14:sldIdLst/>
        </p14:section>
        <p14:section name="Block B" id="{d7bd5d4d-13bd-aba1-e0e5-e07ac317e7e5}">
          <p14:sldIdLst>
            <p14:sldId id="271"/>
            <p14:sldId id="272"/>
            <p14:sldId id="273"/>
            <p14:sldId id="274"/>
            <p14:sldId id="275"/>
          </p14:sldIdLst>
        </p14:section>
        <p14:section name="Make and close" id="{68360e3d-754a-5c2b-f8be-b3dc3ef6946a}">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8 and our topic is select, filter and calculate new columns.
By the end of today you will be able to pick a column, keep rows that meet a condition, add a revenue column and total it by item.
We will answer one question: Which item earned the most money in the practice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items, three prices, three counts of how many were sold. The book has the highest price, but the pen and the juice sold more. Which one brought in the most money? Make a guess now. By the end of this session you will have the answer from the data, and you will know how to get it with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select a column. Name the column in square brackets to look only at it. Think of a shop. Reading only the price line of the register.
filter. Keep only the rows where a comparison is True. Imagine it like this. Picking out the sales of 5 units or more.
new column. A column calculated from other columns, added to the table. An example from everyday life. Multiplying units by price on every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sum. All the values added together. Here is a way to see it. Adding up the day's takings.
group. Gather rows with the same label before calculating. A small example. Sorting the sales into three piles by item.
revenue. Money received from sales: units times price. It is not profit. Picture this. The takings before paying for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look at one column, write the table name, then square brackets, then the column name in quotation marks. Python hands back just that column.
Nothing is removed from the table. You have only taken a look at one part of it. What would you write to see the units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filter asks a yes or no question about every row. Is units five or more? Rows that answer yes are kept. Rows that answer no are left out of the new table.
Predict how many of the first few rows would stay if we only kept sales of five units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filter is a list of True and False, one for each row. Python builds this list first, then keeps the rows marked True.
If a filter gives a surprising result, print the True and False list on its own. It tells you exactly which rows passed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practice shop and keep the large sales.
Your turn to guess. Predict how many of the 60 sales have 5 units or more.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30 and 277. shop["units"] selects one column. The comparison inside the outer brackets gives True or False for every row, and only the True rows stay. That filter keeps 30 sales. All 60 sales together sold 277 units.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select and filter. I have two questions for you.
Question one. Is the filter deleting the other 30 rows? Talk it over with your neighbour for a minute.
No. The big table is a new, smaller table. shop still has all 60 rows.
Question two. Why can the sum of units not tell us the money earned? Think about it for a moment, then tell the person next to you.
Here is how I would answer it. The three items have different prices, so units and money are different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Filter the Juice sales with 5 units or more and count them. After you run it, say in one sentence what changed and how you checked.
You should see this. Seven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earned is called revenue. For each sale it is the units multiplied by the price of one unit. Python does this for every row at once and stores the answers in a new column.
The five rows on the slide add up to forty thousand shillings. Add up the whole column of sixty rows and you get the revenue of the shop: five hundred and fifty thousand shillings in this practice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sales by item and add up the revenue. The book earned two hundred and ninety seven thousand shillings. The juice earned one hundred and fifty thousand. The pen earned one hundred and three thousand.
The pen sold the most units, yet it earned the least, because each pen costs so little. Units and money tell different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 units by price on every row, then add the money for each item.
Now your guess. Predict which item earns the most money. Is it the one with the most units?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total is 550000 shillings. Book earns 297000, Juice 150000 and Pen 103000. Pen sold the most units, 103, but Book earns the most money because each Book costs 3000. Assigning to a new column name creates the column, and the groupby line adds the revenue of each item separately.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revenue column and totals by item. I have two questions for you.
Question one. Pen sold the most units. Why is it last for revenue? Think about it for a moment, then tell the person next to you.
Here is how I would answer it. A pen costs only UGX 1000, so its units bring in little money.
Question two. Do the three item totals add up to the overall total? Have a go in your head first.
What I would say is this. Yes: 297000 + 150000 + 103000 is 550000. If they did not, something would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Group the units column by item instead and print the totals. Then explain to your neighbour what the change did.
The result: Book 99, Juice 75, Pen 103.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filter, Python builds a second table and leaves the first one untouched. That is why you give the result its own name.
If you ever want all sixty rows back, they are still there in the original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ML08.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KeyError: 'unit'. It means this: the column name is spelled differently from the header. To fix it, print the headers with list(shop.columns) and copy the exact name.
The next one. You will see: The filter returns an empty table. It means this: the comparison matches no rows, often because of a typo in a text value. To fix it, check the spelling and capital letters of the value you compare with.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Which item earned the most money in the practice shop?
Finish this sentence in your notebook, in your own words. A filter keeps the rows I ask for, and a grouped total shows who earns the money.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ML08  |  Select, filter and calculate new columns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Select, filter and</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calculate new columns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Which item earned the most money in the practice shop?</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8 of 24  |  Week 3, Tables and statistics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Which item earned the most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money in the practice shop?</a:t>
            </a:r>
            <a:endParaRPr lang="en-US" sz="3600" dirty="0"/>
          </a:p>
        </p:txBody>
      </p:sp>
      <p:pic>
        <p:nvPicPr>
          <p:cNvPr id="3" name="Image 0" descr="Book, pen and juice with their prices and units sold, and a question mark where the money earned belong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select a colum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360"/>
              </a:lnSpc>
              <a:buNone/>
            </a:pPr>
            <a:r>
              <a:rPr lang="en-US" sz="2800" b="1" dirty="0">
                <a:solidFill>
                  <a:srgbClr val="111111"/>
                </a:solidFill>
                <a:latin typeface="Lato" pitchFamily="34" charset="0"/>
                <a:ea typeface="Lato" pitchFamily="34" charset="-122"/>
                <a:cs typeface="Lato" pitchFamily="34" charset="-120"/>
              </a:rPr>
              <a:t>select a column</a:t>
            </a:r>
            <a:endParaRPr lang="en-US" sz="28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Name the column in square brackets to look only at it.</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Reading only the price line of the register.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filter">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filter</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Keep only the rows where a comparison is True.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Picking out the sales of 5 units or more.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new colum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new column</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column calculated from other columns, added to the table.</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Multiplying units by price on every line.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sum">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sum</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All the values added together.</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Adding up the day's takings.</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group">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group</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Gather rows with the same label before calculating.</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Sorting the sales into three piles by item.</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revenu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revenue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Money received from sales: units times price. It is not profit.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takings before paying for stock.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Selecting a column pulls one list out of the table</a:t>
            </a:r>
            <a:endParaRPr lang="en-US" sz="3700" dirty="0"/>
          </a:p>
        </p:txBody>
      </p:sp>
      <p:pic>
        <p:nvPicPr>
          <p:cNvPr id="3" name="Image 0" descr="Selecting a column pulls one list out of the tabl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Square brackets and a name pick a column.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result is one column of values.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table itself stays the same.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filter keeps the rows that pass a test</a:t>
            </a:r>
            <a:endParaRPr lang="en-US" sz="3800" dirty="0"/>
          </a:p>
        </p:txBody>
      </p:sp>
      <p:pic>
        <p:nvPicPr>
          <p:cNvPr id="3" name="Image 0" descr="A filter keeps the rows that pass a tes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test is written inside the brackets.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Rows that pass are kept.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Rows that fail are left out of the result.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filter makes a True or False for every row first</a:t>
            </a:r>
            <a:endParaRPr lang="en-US" sz="3600" dirty="0"/>
          </a:p>
        </p:txBody>
      </p:sp>
      <p:pic>
        <p:nvPicPr>
          <p:cNvPr id="3" name="Image 0" descr="The filter makes a True or False for every row firs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True keeps a row.</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False drops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Read the mask before you trust the filter.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Select and filter</a:t>
            </a:r>
            <a:endParaRPr lang="en-US" sz="3800" dirty="0"/>
          </a:p>
        </p:txBody>
      </p:sp>
      <p:sp>
        <p:nvSpPr>
          <p:cNvPr id="3" name="Shape 1"/>
          <p:cNvSpPr/>
          <p:nvPr/>
        </p:nvSpPr>
        <p:spPr>
          <a:xfrm>
            <a:off x="640080" y="1645920"/>
            <a:ext cx="6035040" cy="2321052"/>
          </a:xfrm>
          <a:prstGeom prst="roundRect">
            <a:avLst>
              <a:gd name="adj" fmla="val 3152"/>
            </a:avLst>
          </a:prstGeom>
          <a:solidFill>
            <a:srgbClr val="111111"/>
          </a:solidFill>
          <a:ln/>
        </p:spPr>
      </p:sp>
      <p:sp>
        <p:nvSpPr>
          <p:cNvPr id="4" name="Text 2"/>
          <p:cNvSpPr txBox="1"/>
          <p:nvPr/>
        </p:nvSpPr>
        <p:spPr>
          <a:xfrm>
            <a:off x="841248" y="1847088"/>
            <a:ext cx="5632704" cy="1918716"/>
          </a:xfrm>
          <a:prstGeom prst="rect">
            <a:avLst/>
          </a:prstGeom>
          <a:noFill/>
          <a:ln/>
        </p:spPr>
        <p:txBody>
          <a:bodyPr wrap="square" lIns="0" tIns="0" rIns="0" bIns="0" rtlCol="0" anchor="t"/>
          <a:lstStyle/>
          <a:p>
            <a:pPr algn="l" indent="0" marL="0">
              <a:lnSpc>
                <a:spcPts val="2470"/>
              </a:lnSpc>
              <a:buNone/>
            </a:pPr>
            <a:r>
              <a:rPr lang="en-US" sz="1900" b="1" dirty="0">
                <a:solidFill>
                  <a:srgbClr val="FFFFFF"/>
                </a:solidFill>
                <a:latin typeface="Courier New" pitchFamily="34" charset="0"/>
                <a:ea typeface="Courier New" pitchFamily="34" charset="-122"/>
                <a:cs typeface="Courier New" pitchFamily="34" charset="-120"/>
              </a:rPr>
              <a:t>import</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pandas </a:t>
            </a:r>
            <a:pPr algn="l" indent="0" marL="0">
              <a:lnSpc>
                <a:spcPts val="2470"/>
              </a:lnSpc>
              <a:buNone/>
            </a:pPr>
            <a:r>
              <a:rPr lang="en-US" sz="1900" b="1" dirty="0">
                <a:solidFill>
                  <a:srgbClr val="FFFFFF"/>
                </a:solidFill>
                <a:latin typeface="Courier New" pitchFamily="34" charset="0"/>
                <a:ea typeface="Courier New" pitchFamily="34" charset="-122"/>
                <a:cs typeface="Courier New" pitchFamily="34" charset="-120"/>
              </a:rPr>
              <a:t>as</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pd</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shop = pd.read_csv(</a:t>
            </a:r>
            <a:pPr algn="l" indent="0" marL="0">
              <a:lnSpc>
                <a:spcPts val="2470"/>
              </a:lnSpc>
              <a:buNone/>
            </a:pPr>
            <a:r>
              <a:rPr lang="en-US" sz="1900" dirty="0">
                <a:solidFill>
                  <a:srgbClr val="E0BE36"/>
                </a:solidFill>
                <a:latin typeface="Courier New" pitchFamily="34" charset="0"/>
                <a:ea typeface="Courier New" pitchFamily="34" charset="-122"/>
                <a:cs typeface="Courier New" pitchFamily="34" charset="-120"/>
              </a:rPr>
              <a:t>"camp_shop.csv"</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units = shop[</a:t>
            </a:r>
            <a:pPr algn="l" indent="0" marL="0">
              <a:lnSpc>
                <a:spcPts val="2470"/>
              </a:lnSpc>
              <a:buNone/>
            </a:pPr>
            <a:r>
              <a:rPr lang="en-US" sz="1900" dirty="0">
                <a:solidFill>
                  <a:srgbClr val="E0BE36"/>
                </a:solidFill>
                <a:latin typeface="Courier New" pitchFamily="34" charset="0"/>
                <a:ea typeface="Courier New" pitchFamily="34" charset="-122"/>
                <a:cs typeface="Courier New" pitchFamily="34" charset="-120"/>
              </a:rPr>
              <a:t>"units"</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big = shop[shop[</a:t>
            </a:r>
            <a:pPr algn="l" indent="0" marL="0">
              <a:lnSpc>
                <a:spcPts val="2470"/>
              </a:lnSpc>
              <a:buNone/>
            </a:pPr>
            <a:r>
              <a:rPr lang="en-US" sz="1900" dirty="0">
                <a:solidFill>
                  <a:srgbClr val="E0BE36"/>
                </a:solidFill>
                <a:latin typeface="Courier New" pitchFamily="34" charset="0"/>
                <a:ea typeface="Courier New" pitchFamily="34" charset="-122"/>
                <a:cs typeface="Courier New" pitchFamily="34" charset="-120"/>
              </a:rPr>
              <a:t>"units"</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&gt;= 5]</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print(len(big))</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print(units.sum())</a:t>
            </a:r>
            <a:endParaRPr lang="en-US" sz="19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how many of the 60 sales have 5 units or more.</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Select and filter</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277</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640"/>
              </a:lnSpc>
              <a:spcAft>
                <a:spcPts val="1580"/>
              </a:spcAft>
              <a:buNone/>
            </a:pPr>
            <a:r>
              <a:rPr lang="en-US" sz="2200" dirty="0">
                <a:solidFill>
                  <a:srgbClr val="111111"/>
                </a:solidFill>
                <a:latin typeface="Lato" pitchFamily="34" charset="0"/>
                <a:ea typeface="Lato" pitchFamily="34" charset="-122"/>
                <a:cs typeface="Lato" pitchFamily="34" charset="-120"/>
              </a:rPr>
              <a:t>The cell prints 30 and 277.</a:t>
            </a:r>
            <a:endParaRPr lang="en-US" sz="2200" dirty="0"/>
          </a:p>
          <a:p>
            <a:pPr algn="l" indent="0" marL="0">
              <a:lnSpc>
                <a:spcPts val="2640"/>
              </a:lnSpc>
              <a:spcAft>
                <a:spcPts val="1580"/>
              </a:spcAft>
              <a:buNone/>
            </a:pPr>
            <a:r>
              <a:rPr lang="en-US" sz="2200" dirty="0">
                <a:solidFill>
                  <a:srgbClr val="111111"/>
                </a:solidFill>
                <a:latin typeface="Lato" pitchFamily="34" charset="0"/>
                <a:ea typeface="Lato" pitchFamily="34" charset="-122"/>
                <a:cs typeface="Lato" pitchFamily="34" charset="-120"/>
              </a:rPr>
              <a:t>shop["units"] selects one column.</a:t>
            </a:r>
            <a:endParaRPr lang="en-US" sz="2200" dirty="0"/>
          </a:p>
          <a:p>
            <a:pPr algn="l" indent="0" marL="0">
              <a:lnSpc>
                <a:spcPts val="2640"/>
              </a:lnSpc>
              <a:spcAft>
                <a:spcPts val="1580"/>
              </a:spcAft>
              <a:buNone/>
            </a:pPr>
            <a:r>
              <a:rPr lang="en-US" sz="2200" dirty="0">
                <a:solidFill>
                  <a:srgbClr val="111111"/>
                </a:solidFill>
                <a:latin typeface="Lato" pitchFamily="34" charset="0"/>
                <a:ea typeface="Lato" pitchFamily="34" charset="-122"/>
                <a:cs typeface="Lato" pitchFamily="34" charset="-120"/>
              </a:rPr>
              <a:t>The comparison inside the outer brackets gives True or False for every row, and only the True rows stay.</a:t>
            </a:r>
            <a:endParaRPr lang="en-US" sz="2200" dirty="0"/>
          </a:p>
          <a:p>
            <a:pPr algn="l" indent="0" marL="0">
              <a:lnSpc>
                <a:spcPts val="2640"/>
              </a:lnSpc>
              <a:spcAft>
                <a:spcPts val="1580"/>
              </a:spcAft>
              <a:buNone/>
            </a:pPr>
            <a:r>
              <a:rPr lang="en-US" sz="2200" dirty="0">
                <a:solidFill>
                  <a:srgbClr val="111111"/>
                </a:solidFill>
                <a:latin typeface="Lato" pitchFamily="34" charset="0"/>
                <a:ea typeface="Lato" pitchFamily="34" charset="-122"/>
                <a:cs typeface="Lato" pitchFamily="34" charset="-120"/>
              </a:rPr>
              <a:t>That filter keeps 30 sales.</a:t>
            </a:r>
            <a:endParaRPr lang="en-US" sz="2200" dirty="0"/>
          </a:p>
          <a:p>
            <a:pPr algn="l" indent="0" marL="0">
              <a:lnSpc>
                <a:spcPts val="2640"/>
              </a:lnSpc>
              <a:spcAft>
                <a:spcPts val="1580"/>
              </a:spcAft>
              <a:buNone/>
            </a:pPr>
            <a:r>
              <a:rPr lang="en-US" sz="2200" dirty="0">
                <a:solidFill>
                  <a:srgbClr val="111111"/>
                </a:solidFill>
                <a:latin typeface="Lato" pitchFamily="34" charset="0"/>
                <a:ea typeface="Lato" pitchFamily="34" charset="-122"/>
                <a:cs typeface="Lato" pitchFamily="34" charset="-120"/>
              </a:rPr>
              <a:t>All 60 sales together sold 277 units.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Select and filter</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Is the filter deleting the other 30 rows?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can the sum of units not tell us the money earned?</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Filter the Juice sales with 5 units or more and count them.</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new column is worked out one row at a time</a:t>
            </a:r>
            <a:endParaRPr lang="en-US" sz="3800" dirty="0"/>
          </a:p>
        </p:txBody>
      </p:sp>
      <p:pic>
        <p:nvPicPr>
          <p:cNvPr id="3" name="Image 0" descr="A new column is worked out one row at a tim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Revenue is units times unit price.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Every row gets its own revenue.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five rows shown add up to 40,000.</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More units sold does not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always mean more money</a:t>
            </a:r>
            <a:endParaRPr lang="en-US" sz="3600" dirty="0"/>
          </a:p>
        </p:txBody>
      </p:sp>
      <p:pic>
        <p:nvPicPr>
          <p:cNvPr id="3" name="Image 0" descr="More units sold does not always mean more money">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Book: 297,000 UGX. Juice: 150,000 UGX. Pen: 103,000 UGX.</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revenue column and totals by item</a:t>
            </a:r>
            <a:endParaRPr lang="en-US" sz="3800" dirty="0"/>
          </a:p>
        </p:txBody>
      </p:sp>
      <p:sp>
        <p:nvSpPr>
          <p:cNvPr id="3" name="Shape 1"/>
          <p:cNvSpPr/>
          <p:nvPr/>
        </p:nvSpPr>
        <p:spPr>
          <a:xfrm>
            <a:off x="640080" y="1645920"/>
            <a:ext cx="10881360" cy="2172462"/>
          </a:xfrm>
          <a:prstGeom prst="roundRect">
            <a:avLst>
              <a:gd name="adj" fmla="val 3367"/>
            </a:avLst>
          </a:prstGeom>
          <a:solidFill>
            <a:srgbClr val="111111"/>
          </a:solidFill>
          <a:ln/>
        </p:spPr>
      </p:sp>
      <p:sp>
        <p:nvSpPr>
          <p:cNvPr id="4" name="Text 2"/>
          <p:cNvSpPr txBox="1"/>
          <p:nvPr/>
        </p:nvSpPr>
        <p:spPr>
          <a:xfrm>
            <a:off x="841248" y="1847088"/>
            <a:ext cx="10479024" cy="1770126"/>
          </a:xfrm>
          <a:prstGeom prst="rect">
            <a:avLst/>
          </a:prstGeom>
          <a:noFill/>
          <a:ln/>
        </p:spPr>
        <p:txBody>
          <a:bodyPr wrap="square" lIns="0" tIns="0" rIns="0" bIns="0" rtlCol="0" anchor="t"/>
          <a:lstStyle/>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 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"units"</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 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"unit_price_ugx"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total_revenue = 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].sum()</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by_item = shop.groupby(</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"item"</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].sum()</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print(total_revenue)</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print(by_item)</a:t>
            </a:r>
            <a:endParaRPr lang="en-US" sz="2100" dirty="0"/>
          </a:p>
        </p:txBody>
      </p:sp>
      <p:sp>
        <p:nvSpPr>
          <p:cNvPr id="5" name="Text 3"/>
          <p:cNvSpPr txBox="1"/>
          <p:nvPr/>
        </p:nvSpPr>
        <p:spPr>
          <a:xfrm>
            <a:off x="640080" y="4001262"/>
            <a:ext cx="8046720" cy="226237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which item earns the most money. Is it the one with the most units?</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revenue column and totals by item</a:t>
            </a:r>
            <a:endParaRPr lang="en-US" sz="3800" dirty="0"/>
          </a:p>
        </p:txBody>
      </p:sp>
      <p:sp>
        <p:nvSpPr>
          <p:cNvPr id="3" name="Shape 1"/>
          <p:cNvSpPr/>
          <p:nvPr/>
        </p:nvSpPr>
        <p:spPr>
          <a:xfrm>
            <a:off x="640080" y="1645920"/>
            <a:ext cx="6035040" cy="2581656"/>
          </a:xfrm>
          <a:prstGeom prst="roundRect">
            <a:avLst>
              <a:gd name="adj" fmla="val 2834"/>
            </a:avLst>
          </a:prstGeom>
          <a:solidFill>
            <a:srgbClr val="FFFFFF"/>
          </a:solidFill>
          <a:ln w="15875">
            <a:solidFill>
              <a:srgbClr val="111111"/>
            </a:solidFill>
            <a:prstDash val="solid"/>
          </a:ln>
        </p:spPr>
      </p:sp>
      <p:sp>
        <p:nvSpPr>
          <p:cNvPr id="4" name="Text 2"/>
          <p:cNvSpPr txBox="1"/>
          <p:nvPr/>
        </p:nvSpPr>
        <p:spPr>
          <a:xfrm>
            <a:off x="822960" y="1828800"/>
            <a:ext cx="5669280" cy="22158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550000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item</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Book     297000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Juice    150000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Pen      103000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Name: revenue_ugx, dtype: int64</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total is 550000 shillings.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Book earns 297000, Juice 150000 and Pen 103000.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Pen sold the most units, 103, but Book earns the most money because each Book costs 3000.</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Investigate: A revenue column and totals by item</a:t>
            </a:r>
            <a:endParaRPr lang="en-US" sz="37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Pen sold the most units. Why is it last for revenue?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Do the three item totals add up to the overall total?</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Group the units column by item instead and print the totals.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filter gives a new, smaller</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table and keeps the original</a:t>
            </a:r>
            <a:endParaRPr lang="en-US" sz="3600" dirty="0"/>
          </a:p>
        </p:txBody>
      </p:sp>
      <p:pic>
        <p:nvPicPr>
          <p:cNvPr id="3" name="Image 0" descr="A filter gives a new, smaller table and keeps the original">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big table keeps all 60 rows.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filtered table is a separate copy.</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Name it so you can find it later.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Keep the rows with units of at least 3.</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Calculate the total units and the mean units per row.</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Say why these two numbers are different quantities.</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Save it as ML08.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'unit'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column name is spelled differently from the header.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the headers with list(shop.columns) and copy the exact name.</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filter returns an empty table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comparison matches no rows, often because of a typo in a text value.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the spelling and capital letters of the value you compare with.</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filter keeps the rows I ask for, and a grouped total shows who earns the money.</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ML08 Select, filter and calculate new columns</dc:title>
  <dc:subject>Machine Learning</dc:subject>
  <dc:creator>KLAi</dc:creator>
  <cp:lastModifiedBy>KLAi</cp:lastModifiedBy>
  <cp:revision>1</cp:revision>
  <dcterms:created xsi:type="dcterms:W3CDTF">2026-10-31T12:44:38Z</dcterms:created>
  <dcterms:modified xsi:type="dcterms:W3CDTF">2026-10-31T12:44:38Z</dcterms:modified>
</cp:coreProperties>
</file>