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5f60e50-7066-0719-f581-e6af908998d7}">
          <p14:sldIdLst>
            <p14:sldId id="256"/>
            <p14:sldId id="257"/>
            <p14:sldId id="258"/>
            <p14:sldId id="259"/>
            <p14:sldId id="260"/>
            <p14:sldId id="261"/>
          </p14:sldIdLst>
        </p14:section>
        <p14:section name="Block A" id="{dcffdcf9-d104-798a-5631-84fcc5510ed7}">
          <p14:sldIdLst>
            <p14:sldId id="262"/>
            <p14:sldId id="263"/>
            <p14:sldId id="264"/>
            <p14:sldId id="265"/>
          </p14:sldIdLst>
        </p14:section>
        <p14:section name="Make and close" id="{cd361d84-cfdb-ee3c-2ff3-c113f15bbbb1}">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Laptops open, please. Today is session 1 and our topic is numbers, names and predicting Python output.
By the end of today you will be able to explain the idea in your own words and run the worked example.
We will answer one question: Can I predict every line Python prints before I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lab you work like a computer. On the left is a short program. On the right is a sheet of paper with numbered lines, one for each thing the program will print. Your job is to fill in the paper before you run anything. The numbers on the paper mark one line for each thing the program prints. Then run the code and check your paper. A wrong guess is the best kind of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words, because every one of them is used in the code later.
scalar. One number. An example from everyday life. One price on a label.
name. A label that points to a value. Here is a way to see it. A tag on a box.
top to bottom. Python reads one line after another and does not look ahead. A small example. Reading a recipe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rest of today's words.
update. Giving an existing name a new value. Picture this. Crossing out a price and writing a new one.
string. Text inside quotation marks. You have seen this before. A word on a label.
prediction on paper. Writing what you expect before you run. Guessing the match score before kick-off.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on paper, before any code. Draw three pens and write one thousand shillings on each. Add them: one thousand plus one thousand plus one thousand is three thousand. Now notice that three times one thousand gives the same answer. Multiplication is addition done quickly.
Python will do the same sum. If the paper answer and the Python answer ever disagree, one of them has a mistake, and finding it is the point of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program, three names are created. Units holds three. Price holds one thousand. Total is worked out from the other two, so it holds three thousand.
Look at the picture and say each box aloud: units holds three, price holds one thousand, total holds three thousand. You will need this picture when you predict the printed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reads instructions from the top to the bottom, one at a time. A name points to a value.
Your turn to guess. Work the paper example first: Draw three pens and label each UGX 1,000. Then predict every line the code will print. Put it on paper first. We will check it together in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run it, and you compare with your guess. Match each line of the output with the line of code that made it.
3000, 1000.0, 1000, 3000 and 4000, on separate lines. The quoted 1000 is text. Changing units alone does not recalculate an earlier total.
Check your paper. Were you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names and totals. I have two questions for you.
Question one. What does each line of the code do? Talk it over with your neighbour for a minute.
Read each line aloud and say what it stores or prints.
Question two. Which number surprised you? Think about it for a moment, then tell the person next to you.
Here is how I would answer it. Say which printed value differed from your paper work,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experiment. In a new code cell calculate the price of 5 books at UGX 3000 each and print it. When you have run it, tell your neighbour what changed and how you know.
Here is what happens. 15000, then 6000.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task is yours. Run your code after every step so you can see where a problem begins. If you get stuck for a few minutes, read your error message, check the error card, and then ask me.
Save it as F01.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two errors from this session, so you recognise them when they appear.
This is the first one. You will see: NameError: name 'total' is not defined. It means this: Python has not run a line that creates that name in this session. To fix it, Run the cell that creates the name first and check the spelling.
The next one. You will see: The total did not change after I changed units. It means this: the old total was worked out before the change. To fix it, Run the line that calculates the total again after you change an input.
When you are stuck, read the last line of the message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step. Our question for today was: Can I predict every line Python prints before I run it?
Finish this sentence in your notebook, in your own words. I can explain numbers, names and predicting Python output in my own words.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F01  |  Numbers, names and predicting Python output</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1.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Numbers, names and</a:t>
            </a:r>
            <a:endParaRPr lang="en-US" sz="5600" dirty="0"/>
          </a:p>
          <a:p>
            <a:pPr algn="l" indent="0" marL="0">
              <a:buNone/>
            </a:pPr>
            <a:r>
              <a:rPr lang="en-US" sz="5600" b="1" dirty="0">
                <a:solidFill>
                  <a:srgbClr val="FFFFFF"/>
                </a:solidFill>
                <a:latin typeface="Lato" pitchFamily="34" charset="0"/>
                <a:ea typeface="Lato" pitchFamily="34" charset="-122"/>
                <a:cs typeface="Lato" pitchFamily="34" charset="-120"/>
              </a:rPr>
              <a:t>predicting Python output</a:t>
            </a:r>
            <a:endParaRPr lang="en-US" sz="5600" dirty="0"/>
          </a:p>
        </p:txBody>
      </p:sp>
      <p:sp>
        <p:nvSpPr>
          <p:cNvPr id="3" name="Text 1"/>
          <p:cNvSpPr txBox="1"/>
          <p:nvPr/>
        </p:nvSpPr>
        <p:spPr>
          <a:xfrm>
            <a:off x="640080" y="417068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Can I predict every line Python prints before I run it?</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Machine Learning  |  Foundation lab F01</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Can I predict every line</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Python prints before I run it?</a:t>
            </a:r>
            <a:endParaRPr lang="en-US" sz="3600" dirty="0"/>
          </a:p>
        </p:txBody>
      </p:sp>
      <p:pic>
        <p:nvPicPr>
          <p:cNvPr id="3" name="Image 0" descr="Code on the left and a paper for predicted output on the right">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scalar">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scalar</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One number.</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One price on a label.</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name">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name</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label that points to a value.</a:t>
            </a:r>
            <a:endParaRPr lang="en-US" sz="2200" dirty="0"/>
          </a:p>
        </p:txBody>
      </p:sp>
      <p:sp>
        <p:nvSpPr>
          <p:cNvPr id="11" name="Text 7"/>
          <p:cNvSpPr txBox="1"/>
          <p:nvPr/>
        </p:nvSpPr>
        <p:spPr>
          <a:xfrm>
            <a:off x="5120640" y="369112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tag on a box.</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top to bottom">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3600"/>
              </a:lnSpc>
              <a:buNone/>
            </a:pPr>
            <a:r>
              <a:rPr lang="en-US" sz="3000" b="1" dirty="0">
                <a:solidFill>
                  <a:srgbClr val="111111"/>
                </a:solidFill>
                <a:latin typeface="Lato" pitchFamily="34" charset="0"/>
                <a:ea typeface="Lato" pitchFamily="34" charset="-122"/>
                <a:cs typeface="Lato" pitchFamily="34" charset="-120"/>
              </a:rPr>
              <a:t>top to bottom</a:t>
            </a:r>
            <a:endParaRPr lang="en-US" sz="30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Python reads one line after another and does not look ahead.</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Reading a recipe in order.</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update">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update</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Giving an existing name a new value.</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Crossing out a price and writing a new one.</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string">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string</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Text inside quotation marks.</a:t>
            </a:r>
            <a:endParaRPr lang="en-US" sz="2200" dirty="0"/>
          </a:p>
        </p:txBody>
      </p:sp>
      <p:sp>
        <p:nvSpPr>
          <p:cNvPr id="11" name="Text 7"/>
          <p:cNvSpPr txBox="1"/>
          <p:nvPr/>
        </p:nvSpPr>
        <p:spPr>
          <a:xfrm>
            <a:off x="5120640" y="369112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word on a label.</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prediction on paper">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2880"/>
              </a:lnSpc>
              <a:buNone/>
            </a:pPr>
            <a:r>
              <a:rPr lang="en-US" sz="2400" b="1" dirty="0">
                <a:solidFill>
                  <a:srgbClr val="111111"/>
                </a:solidFill>
                <a:latin typeface="Lato" pitchFamily="34" charset="0"/>
                <a:ea typeface="Lato" pitchFamily="34" charset="-122"/>
                <a:cs typeface="Lato" pitchFamily="34" charset="-120"/>
              </a:rPr>
              <a:t>prediction on paper</a:t>
            </a:r>
            <a:endParaRPr lang="en-US" sz="2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Writing what you expect before you run.</a:t>
            </a:r>
            <a:endParaRPr lang="en-US" sz="2200" dirty="0"/>
          </a:p>
        </p:txBody>
      </p:sp>
      <p:sp>
        <p:nvSpPr>
          <p:cNvPr id="16" name="Text 11"/>
          <p:cNvSpPr txBox="1"/>
          <p:nvPr/>
        </p:nvSpPr>
        <p:spPr>
          <a:xfrm>
            <a:off x="5120640" y="517245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Guessing the match score before kick-off.</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700" b="1" dirty="0">
                <a:solidFill>
                  <a:srgbClr val="111111"/>
                </a:solidFill>
                <a:latin typeface="Lato" pitchFamily="34" charset="0"/>
                <a:ea typeface="Lato" pitchFamily="34" charset="-122"/>
                <a:cs typeface="Lato" pitchFamily="34" charset="-120"/>
              </a:rPr>
              <a:t>Multiplying adds the same number again, quickly</a:t>
            </a:r>
            <a:endParaRPr lang="en-US" sz="3700" dirty="0"/>
          </a:p>
        </p:txBody>
      </p:sp>
      <p:pic>
        <p:nvPicPr>
          <p:cNvPr id="3" name="Image 0" descr="Multiplying adds the same number again, quickly">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Three pens at UGX 1,000 add up to 3,000.</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3 * 1000 gives the same total.</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Check Python against paper.</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Names are boxes that hold values</a:t>
            </a:r>
            <a:endParaRPr lang="en-US" sz="3800" dirty="0"/>
          </a:p>
        </p:txBody>
      </p:sp>
      <p:pic>
        <p:nvPicPr>
          <p:cNvPr id="3" name="Image 0" descr="Names are boxes that hold values">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units and price hold the inputs.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total holds the answer to a sum.</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Each name points to one value.</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names and totals</a:t>
            </a:r>
            <a:endParaRPr lang="en-US" sz="3800" dirty="0"/>
          </a:p>
        </p:txBody>
      </p:sp>
      <p:sp>
        <p:nvSpPr>
          <p:cNvPr id="3" name="Shape 1"/>
          <p:cNvSpPr/>
          <p:nvPr/>
        </p:nvSpPr>
        <p:spPr>
          <a:xfrm>
            <a:off x="640080" y="1645920"/>
            <a:ext cx="6035040" cy="4071112"/>
          </a:xfrm>
          <a:prstGeom prst="roundRect">
            <a:avLst>
              <a:gd name="adj" fmla="val 1797"/>
            </a:avLst>
          </a:prstGeom>
          <a:solidFill>
            <a:srgbClr val="111111"/>
          </a:solidFill>
          <a:ln/>
        </p:spPr>
      </p:sp>
      <p:sp>
        <p:nvSpPr>
          <p:cNvPr id="4" name="Text 2"/>
          <p:cNvSpPr txBox="1"/>
          <p:nvPr/>
        </p:nvSpPr>
        <p:spPr>
          <a:xfrm>
            <a:off x="841248" y="1847088"/>
            <a:ext cx="5632704" cy="3668776"/>
          </a:xfrm>
          <a:prstGeom prst="rect">
            <a:avLst/>
          </a:prstGeom>
          <a:noFill/>
          <a:ln/>
        </p:spPr>
        <p:txBody>
          <a:bodyPr wrap="square" lIns="0" tIns="0" rIns="0" bIns="0" rtlCol="0" anchor="t"/>
          <a:lstStyle/>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units = 3</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price = 1000</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total = units * price</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print(total)</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print(total / units)</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"1000"</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units = 4</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print(total)</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total = units * price</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print(total)</a:t>
            </a:r>
            <a:endParaRPr lang="en-US" sz="2200" dirty="0"/>
          </a:p>
        </p:txBody>
      </p:sp>
      <p:sp>
        <p:nvSpPr>
          <p:cNvPr id="5" name="Text 3"/>
          <p:cNvSpPr txBox="1"/>
          <p:nvPr/>
        </p:nvSpPr>
        <p:spPr>
          <a:xfrm>
            <a:off x="7040880" y="1737360"/>
            <a:ext cx="4480560" cy="2560320"/>
          </a:xfrm>
          <a:prstGeom prst="rect">
            <a:avLst/>
          </a:prstGeom>
          <a:noFill/>
          <a:ln/>
        </p:spPr>
        <p:txBody>
          <a:bodyPr wrap="square" lIns="0" tIns="0" rIns="0" bIns="0" rtlCol="0" anchor="t"/>
          <a:lstStyle/>
          <a:p>
            <a:pPr algn="l" indent="0" marL="0">
              <a:lnSpc>
                <a:spcPts val="2880"/>
              </a:lnSpc>
              <a:spcAft>
                <a:spcPts val="2160"/>
              </a:spcAft>
              <a:buNone/>
            </a:pPr>
            <a:r>
              <a:rPr lang="en-US" sz="2400" dirty="0">
                <a:solidFill>
                  <a:srgbClr val="111111"/>
                </a:solidFill>
                <a:latin typeface="Lato" pitchFamily="34" charset="0"/>
                <a:ea typeface="Lato" pitchFamily="34" charset="-122"/>
                <a:cs typeface="Lato" pitchFamily="34" charset="-120"/>
              </a:rPr>
              <a:t>Work the paper example first: Draw three pens and label each UGX 1,000. Then predict every line the code will print.</a:t>
            </a:r>
            <a:endParaRPr lang="en-US" sz="2400" dirty="0"/>
          </a:p>
          <a:p>
            <a:pPr algn="l" indent="0" marL="0">
              <a:lnSpc>
                <a:spcPts val="2880"/>
              </a:lnSpc>
              <a:spcAft>
                <a:spcPts val="2160"/>
              </a:spcAft>
              <a:buNone/>
            </a:pPr>
            <a:r>
              <a:rPr lang="en-US" sz="2400" dirty="0">
                <a:solidFill>
                  <a:srgbClr val="111111"/>
                </a:solidFill>
                <a:latin typeface="Lato" pitchFamily="34" charset="0"/>
                <a:ea typeface="Lato" pitchFamily="34" charset="-122"/>
                <a:cs typeface="Lato" pitchFamily="34" charset="-120"/>
              </a:rPr>
              <a:t>Write your guess on paper before we run it.</a:t>
            </a:r>
            <a:endParaRPr lang="en-US" sz="2400" dirty="0"/>
          </a:p>
        </p:txBody>
      </p:sp>
      <p:pic>
        <p:nvPicPr>
          <p:cNvPr id="6" name="Image 0" descr="A page and a pen: write your guess first">    </p:cNvPr>
          <p:cNvPicPr>
            <a:picLocks noChangeAspect="1"/>
          </p:cNvPicPr>
          <p:nvPr/>
        </p:nvPicPr>
        <p:blipFill>
          <a:blip r:embed="rId1"/>
          <a:stretch>
            <a:fillRect/>
          </a:stretch>
        </p:blipFill>
        <p:spPr>
          <a:xfrm>
            <a:off x="7916091" y="4343400"/>
            <a:ext cx="2090057"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names and totals</a:t>
            </a:r>
            <a:endParaRPr lang="en-US" sz="3800" dirty="0"/>
          </a:p>
        </p:txBody>
      </p:sp>
      <p:sp>
        <p:nvSpPr>
          <p:cNvPr id="3" name="Shape 1"/>
          <p:cNvSpPr/>
          <p:nvPr/>
        </p:nvSpPr>
        <p:spPr>
          <a:xfrm>
            <a:off x="640080" y="1645920"/>
            <a:ext cx="6035040" cy="2218436"/>
          </a:xfrm>
          <a:prstGeom prst="roundRect">
            <a:avLst>
              <a:gd name="adj" fmla="val 3297"/>
            </a:avLst>
          </a:prstGeom>
          <a:solidFill>
            <a:srgbClr val="FFFFFF"/>
          </a:solidFill>
          <a:ln w="15875">
            <a:solidFill>
              <a:srgbClr val="111111"/>
            </a:solidFill>
            <a:prstDash val="solid"/>
          </a:ln>
        </p:spPr>
      </p:sp>
      <p:sp>
        <p:nvSpPr>
          <p:cNvPr id="4" name="Text 2"/>
          <p:cNvSpPr txBox="1"/>
          <p:nvPr/>
        </p:nvSpPr>
        <p:spPr>
          <a:xfrm>
            <a:off x="822960" y="1828800"/>
            <a:ext cx="5669280" cy="185267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3000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1000.0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1000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3000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4000</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3000, 1000.0, 1000, 3000 and 4000, on separate lines.</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quoted 1000 is text.</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Changing units alone does not recalculate an earlier total.</a:t>
            </a:r>
            <a:endParaRPr lang="en-US" sz="2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names and totals</a:t>
            </a:r>
            <a:endParaRPr lang="en-US" sz="3800" dirty="0"/>
          </a:p>
        </p:txBody>
      </p:sp>
      <p:sp>
        <p:nvSpPr>
          <p:cNvPr id="3" name="Shape 1"/>
          <p:cNvSpPr/>
          <p:nvPr/>
        </p:nvSpPr>
        <p:spPr>
          <a:xfrm>
            <a:off x="7498080" y="1737360"/>
            <a:ext cx="4023360" cy="3410712"/>
          </a:xfrm>
          <a:prstGeom prst="roundRect">
            <a:avLst>
              <a:gd name="adj" fmla="val 2145"/>
            </a:avLst>
          </a:prstGeom>
          <a:solidFill>
            <a:srgbClr val="111111"/>
          </a:solidFill>
          <a:ln/>
        </p:spPr>
      </p:sp>
      <p:sp>
        <p:nvSpPr>
          <p:cNvPr id="4" name="Text 2"/>
          <p:cNvSpPr txBox="1"/>
          <p:nvPr/>
        </p:nvSpPr>
        <p:spPr>
          <a:xfrm>
            <a:off x="7699248" y="1938528"/>
            <a:ext cx="3621024" cy="3008376"/>
          </a:xfrm>
          <a:prstGeom prst="rect">
            <a:avLst/>
          </a:prstGeom>
          <a:noFill/>
          <a:ln/>
        </p:spPr>
        <p:txBody>
          <a:bodyPr wrap="square" lIns="0" tIns="0" rIns="0" bIns="0" rtlCol="0" anchor="t"/>
          <a:lstStyle/>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units = 3</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price = 1000</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total = units * price</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print(total)</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print(total / units)</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"1000"</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units = 4</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print(total)</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total = units * price</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print(total)</a:t>
            </a:r>
            <a:endParaRPr lang="en-US" sz="1800" dirty="0"/>
          </a:p>
        </p:txBody>
      </p:sp>
      <p:sp>
        <p:nvSpPr>
          <p:cNvPr id="5" name="Text 3"/>
          <p:cNvSpPr txBox="1"/>
          <p:nvPr/>
        </p:nvSpPr>
        <p:spPr>
          <a:xfrm>
            <a:off x="640080" y="1737360"/>
            <a:ext cx="640080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What does each line of the code do?</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Which number surprised you?</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In a new code cell calculate the price of 5 books at UGX 3000 each and print it.</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sp>
        <p:nvSpPr>
          <p:cNvPr id="4" name="Shape 2"/>
          <p:cNvSpPr/>
          <p:nvPr/>
        </p:nvSpPr>
        <p:spPr>
          <a:xfrm>
            <a:off x="7223760" y="1737360"/>
            <a:ext cx="4297680" cy="3410712"/>
          </a:xfrm>
          <a:prstGeom prst="roundRect">
            <a:avLst>
              <a:gd name="adj" fmla="val 2145"/>
            </a:avLst>
          </a:prstGeom>
          <a:solidFill>
            <a:srgbClr val="111111"/>
          </a:solidFill>
          <a:ln/>
        </p:spPr>
      </p:sp>
      <p:sp>
        <p:nvSpPr>
          <p:cNvPr id="5" name="Text 3"/>
          <p:cNvSpPr txBox="1"/>
          <p:nvPr/>
        </p:nvSpPr>
        <p:spPr>
          <a:xfrm>
            <a:off x="7424928" y="1938528"/>
            <a:ext cx="3895344" cy="3008376"/>
          </a:xfrm>
          <a:prstGeom prst="rect">
            <a:avLst/>
          </a:prstGeom>
          <a:noFill/>
          <a:ln/>
        </p:spPr>
        <p:txBody>
          <a:bodyPr wrap="square" lIns="0" tIns="0" rIns="0" bIns="0" rtlCol="0" anchor="t"/>
          <a:lstStyle/>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units = 3</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price = 1000</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total = units * price</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print(total)</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print(total / units)</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"1000"</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units = 4</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print(total)</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total = units * price</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print(total)</a:t>
            </a:r>
            <a:endParaRPr lang="en-US" sz="18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240"/>
              </a:lnSpc>
              <a:spcAft>
                <a:spcPts val="2020"/>
              </a:spcAft>
              <a:buNone/>
            </a:pPr>
            <a:r>
              <a:rPr lang="en-US" sz="2700" dirty="0">
                <a:solidFill>
                  <a:srgbClr val="111111"/>
                </a:solidFill>
                <a:latin typeface="Lato" pitchFamily="34" charset="0"/>
                <a:ea typeface="Lato" pitchFamily="34" charset="-122"/>
                <a:cs typeface="Lato" pitchFamily="34" charset="-120"/>
              </a:rPr>
              <a:t>In a new code cell calculate the price of 5 books at UGX 3000 each and print it.</a:t>
            </a:r>
            <a:endParaRPr lang="en-US" sz="2700" dirty="0"/>
          </a:p>
          <a:p>
            <a:pPr algn="l" indent="0" marL="0">
              <a:lnSpc>
                <a:spcPts val="3240"/>
              </a:lnSpc>
              <a:spcAft>
                <a:spcPts val="2020"/>
              </a:spcAft>
              <a:buNone/>
            </a:pPr>
            <a:r>
              <a:rPr lang="en-US" sz="2700" dirty="0">
                <a:solidFill>
                  <a:srgbClr val="111111"/>
                </a:solidFill>
                <a:latin typeface="Lato" pitchFamily="34" charset="0"/>
                <a:ea typeface="Lato" pitchFamily="34" charset="-122"/>
                <a:cs typeface="Lato" pitchFamily="34" charset="-120"/>
              </a:rPr>
              <a:t>Change the quantity to 2 and recalculate.</a:t>
            </a:r>
            <a:endParaRPr lang="en-US" sz="2700" dirty="0"/>
          </a:p>
          <a:p>
            <a:pPr algn="l" indent="0" marL="0">
              <a:lnSpc>
                <a:spcPts val="3240"/>
              </a:lnSpc>
              <a:spcAft>
                <a:spcPts val="2020"/>
              </a:spcAft>
              <a:buNone/>
            </a:pPr>
            <a:r>
              <a:rPr lang="en-US" sz="2700" dirty="0">
                <a:solidFill>
                  <a:srgbClr val="111111"/>
                </a:solidFill>
                <a:latin typeface="Lato" pitchFamily="34" charset="0"/>
                <a:ea typeface="Lato" pitchFamily="34" charset="-122"/>
                <a:cs typeface="Lato" pitchFamily="34" charset="-120"/>
              </a:rPr>
              <a:t>In a text cell explain why the old total did not change until you recalculated it.</a:t>
            </a:r>
            <a:endParaRPr lang="en-US" sz="2700" dirty="0"/>
          </a:p>
          <a:p>
            <a:pPr algn="l" indent="0" marL="0">
              <a:lnSpc>
                <a:spcPts val="3240"/>
              </a:lnSpc>
              <a:spcAft>
                <a:spcPts val="2020"/>
              </a:spcAft>
              <a:buNone/>
            </a:pPr>
            <a:r>
              <a:rPr lang="en-US" sz="2700" dirty="0">
                <a:solidFill>
                  <a:srgbClr val="111111"/>
                </a:solidFill>
                <a:latin typeface="Lato" pitchFamily="34" charset="0"/>
                <a:ea typeface="Lato" pitchFamily="34" charset="-122"/>
                <a:cs typeface="Lato" pitchFamily="34" charset="-120"/>
              </a:rPr>
              <a:t>Save F01.ipynb.</a:t>
            </a:r>
            <a:endParaRPr lang="en-US" sz="2700" dirty="0"/>
          </a:p>
          <a:p>
            <a:pPr algn="l" indent="0" marL="0">
              <a:lnSpc>
                <a:spcPts val="3240"/>
              </a:lnSpc>
              <a:spcAft>
                <a:spcPts val="2020"/>
              </a:spcAft>
              <a:buNone/>
            </a:pPr>
            <a:r>
              <a:rPr lang="en-US" sz="2700" dirty="0">
                <a:solidFill>
                  <a:srgbClr val="111111"/>
                </a:solidFill>
                <a:latin typeface="Lato" pitchFamily="34" charset="0"/>
                <a:ea typeface="Lato" pitchFamily="34" charset="-122"/>
                <a:cs typeface="Lato" pitchFamily="34" charset="-120"/>
              </a:rPr>
              <a:t>Write two sentences: what you changed and how you checked it.</a:t>
            </a:r>
            <a:endParaRPr lang="en-US" sz="27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NameError: name 'total' is not defined</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Python has not run a line that creates that name in this session.</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Run the cell that creates the name first and check the spelling.</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total did not change after I changed units</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old total was worked out before the change.</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Run the line that calculates the total again after you change an input.</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I can explain numbers, names and predicting Python output in my own words.</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F01 Numbers, names and predicting Python output</dc:title>
  <dc:subject>Machine Learning</dc:subject>
  <dc:creator>KLAi</dc:creator>
  <cp:lastModifiedBy>KLAi</cp:lastModifiedBy>
  <cp:revision>1</cp:revision>
  <dcterms:created xsi:type="dcterms:W3CDTF">2026-10-31T12:44:51Z</dcterms:created>
  <dcterms:modified xsi:type="dcterms:W3CDTF">2026-10-31T12:44:51Z</dcterms:modified>
</cp:coreProperties>
</file>