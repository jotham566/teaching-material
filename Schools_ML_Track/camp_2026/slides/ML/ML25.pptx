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8a4b6bd6-a4ff-da34-c227-40a240c22f75}">
          <p14:sldIdLst>
            <p14:sldId id="256"/>
            <p14:sldId id="257"/>
            <p14:sldId id="258"/>
            <p14:sldId id="259"/>
          </p14:sldIdLst>
        </p14:section>
        <p14:section name="Block A" id="{5cb7199a-d16a-a0b2-3007-9be29f5724f7}">
          <p14:sldIdLst>
            <p14:sldId id="260"/>
            <p14:sldId id="261"/>
            <p14:sldId id="262"/>
            <p14:sldId id="263"/>
          </p14:sldIdLst>
        </p14:section>
        <p14:section name="Make and close" id="{f0462853-7d2d-22f5-d694-2ff85c5dea32}">
          <p14:sldIdLst>
            <p14:sldId id="264"/>
            <p14:sldId id="265"/>
            <p14:sldId id="26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to see you. Today is session 25 and our topic is A first neural network, and why bigger is not automatically better.
By the end of today you will be able to compare a small neural network with a decision tree and a baseline, and say why a bigger model is not automatically better.
We will answer one question: Does a neural network beat a small tree on 150 flowers?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small neural network. Four circles on the left take the four flower measurements. Eight hidden circles in the middle combine them. Three circles on the right stand for the three species. Each line carries a weight, the same kind of number you met in the weighted sum. The question for today is whether this bigger model is worth the extra trouble on a small set of flowers.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already know a weighted sum from the matrix lab. Multiply each input by its weight and add the results. A neural network does this again and again, with many weights, and the weights are learned from examples.
Nothing else is hiding inside. It is the same arithmetic, repeated.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four flower measurements run over different ranges. Petal length covers about six centimetres, petal width only about two. A network trains poorly when numbers are on such different scales.
Scaling moves every column to centre on zero and a similar width, and the network learns much more smoothly.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optional notebook is not assessed. It uses scikit-learn's MLPClassifier, a small neural network, on the iris flowers.
This is the part where you decide. Predict whether the network will score higher than the depth 3 tree. Write it on paper. It does not have to be right.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see what happens. Match each line of the output with the line of code that made it.
On 150 flowers a neural network has no advantage over a small tree. A bigger model is not automatically a better one, and it needs more data, more care and more checking.
Which line of the output matches which line of the code? Point to each pair.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look closely at A network, a tree and a baseline. I have two questions for you.
Question one. Why scale the inputs first? Give it thirty seconds and then we will hear a few answers.
What I would say is this. Networks learn badly from numbers on very different scales.
Question two. What would convince you a network is worth using? Talk it over with your neighbour for a minute.
Let me answer it. A clear gain on data it has not seen, after the baseline and the tree are beaten.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Change one thing and watch what happens. Change hidden_layer_sizes from (8,) to (16,) and run it again. Then explain to your neighbour what the change did.
The result: The score changes a little. A bigger network is not automatically better.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you do the real work yourself. Start with the first step. If you get stuck for a few minutes, read your error message, check the error card, and then ask me.
Save it as ML25. I will come round to each of you and ask what you changed and how you checked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things are likely to go wrong today. It helps to know them before they happen.
This is the first one. You will see: ConvergenceWarning. It means this: the network stopped before it finished learning. To fix it, raise max_iter and run it again.
The next one. You will see: Scores change every run. It means this: the random_state is missing. To fix it, set random_state=7 so the run repeats.
If you meet one of these, fix it and carry on. It happens to everyone.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finish, go back to the question we began with: Does a neural network beat a small tree on 150 flowers?
Copy this sentence into your notebook and make it yours. A bigger model is not automatically a better one, and I check it against a baseline.
Then save your notebook, close it and open it again to check it saved.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KLAI_LIGHT">
    <p:bg>
      <p:bgPr>
        <a:solidFill>
          <a:srgbClr val="FFFFFF"/>
        </a:solidFill>
      </p:bgPr>
    </p:bg>
    <p:spTree>
      <p:nvGrpSpPr>
        <p:cNvPr id="1" name=""/>
        <p:cNvGrpSpPr/>
        <p:nvPr/>
      </p:nvGrpSpPr>
      <p:grpSpPr>
        <a:xfrm>
          <a:off x="0" y="0"/>
          <a:ext cx="0" cy="0"/>
          <a:chOff x="0" y="0"/>
          <a:chExt cx="0" cy="0"/>
        </a:xfrm>
      </p:grpSpPr>
      <p:pic>
        <p:nvPicPr>
          <p:cNvPr id="2" name="Image 0" descr="/sessions/focused-youthful-einstein/mnt/IUEA-Teaching-Resources/Schools_ML_Track/camp_2026/brand/logos/klai_logo_on_white_cropped.png">    </p:cNvPr>
          <p:cNvPicPr>
            <a:picLocks noChangeAspect="1"/>
          </p:cNvPicPr>
          <p:nvPr/>
        </p:nvPicPr>
        <p:blipFill>
          <a:blip r:embed="rId1"/>
          <a:stretch>
            <a:fillRect/>
          </a:stretch>
        </p:blipFill>
        <p:spPr>
          <a:xfrm>
            <a:off x="640080" y="6419088"/>
            <a:ext cx="772668" cy="246888"/>
          </a:xfrm>
          <a:prstGeom prst="rect">
            <a:avLst/>
          </a:prstGeom>
        </p:spPr>
      </p:pic>
      <p:sp>
        <p:nvSpPr>
          <p:cNvPr id="3" name="Text 0"/>
          <p:cNvSpPr/>
          <p:nvPr/>
        </p:nvSpPr>
        <p:spPr>
          <a:xfrm>
            <a:off x="1641348" y="6400800"/>
            <a:ext cx="8229600" cy="274320"/>
          </a:xfrm>
          <a:prstGeom prst="rect">
            <a:avLst/>
          </a:prstGeom>
          <a:noFill/>
          <a:ln/>
        </p:spPr>
        <p:txBody>
          <a:bodyPr wrap="square" lIns="0" tIns="0" rIns="0" bIns="0" rtlCol="0" anchor="ctr"/>
          <a:lstStyle/>
          <a:p>
            <a:pPr indent="0" marL="0">
              <a:buNone/>
            </a:pPr>
            <a:r>
              <a:rPr lang="en-US" sz="1200" dirty="0">
                <a:solidFill>
                  <a:srgbClr val="666666"/>
                </a:solidFill>
                <a:latin typeface="Lato" pitchFamily="34" charset="0"/>
                <a:ea typeface="Lato" pitchFamily="34" charset="-122"/>
                <a:cs typeface="Lato" pitchFamily="34" charset="-120"/>
              </a:rPr>
              <a:t>ML25  |  A first neural network, and why bigger is not automatically better</a:t>
            </a:r>
            <a:endParaRPr lang="en-US" sz="1200" dirty="0"/>
          </a:p>
        </p:txBody>
      </p:sp>
      <p:sp>
        <p:nvSpPr>
          <p:cNvPr id="4" name="Text 1"/>
          <p:cNvSpPr/>
          <p:nvPr>
            <p:ph idx="102" type="title" hasCustomPrompt="1"/>
          </p:nvPr>
        </p:nvSpPr>
        <p:spPr>
          <a:xfrm>
            <a:off x="640080" y="384048"/>
            <a:ext cx="10881360" cy="1051560"/>
          </a:xfrm>
          <a:prstGeom prst="rect">
            <a:avLst/>
          </a:prstGeom>
          <a:noFill/>
          <a:ln/>
        </p:spPr>
        <p:txBody>
          <a:bodyPr wrap="square" rtlCol="0"/>
          <a:lstStyle>
            <a:lvl1pPr algn="l" indent="0" marL="0">
              <a:buNone/>
              <a:defRPr lang="en-US" b="1" dirty="0">
                <a:solidFill>
                  <a:srgbClr val="111111"/>
                </a:solidFill>
                <a:latin typeface="Lato" pitchFamily="34" charset="0"/>
                <a:ea typeface="Lato" pitchFamily="34" charset="-122"/>
                <a:cs typeface="Lato" pitchFamily="34" charset="-120"/>
              </a:defRPr>
            </a:lvl1pPr>
          </a:lstStyle>
          <a:p>
            <a:pPr algn="l" indent="0" marL="0">
              <a:buNone/>
            </a:pPr>
            <a:endParaRPr lang="en-US"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KLAI_DARK">
    <p:bg>
      <p:bgPr>
        <a:solidFill>
          <a:srgbClr val="000000"/>
        </a:solidFill>
      </p:bgPr>
    </p:bg>
    <p:spTree>
      <p:nvGrpSpPr>
        <p:cNvPr id="1" name=""/>
        <p:cNvGrpSpPr/>
        <p:nvPr/>
      </p:nvGrpSpPr>
      <p:grpSpPr>
        <a:xfrm>
          <a:off x="0" y="0"/>
          <a:ext cx="0" cy="0"/>
          <a:chOff x="0" y="0"/>
          <a:chExt cx="0" cy="0"/>
        </a:xfrm>
      </p:grpSpPr>
      <p:pic>
        <p:nvPicPr>
          <p:cNvPr id="2" name="Image 0" descr="/sessions/focused-youthful-einstein/mnt/IUEA-Teaching-Resources/Schools_ML_Track/camp_2026/brand/logos/klai_logo_on_black_cropped.png">    </p:cNvPr>
          <p:cNvPicPr>
            <a:picLocks noChangeAspect="1"/>
          </p:cNvPicPr>
          <p:nvPr/>
        </p:nvPicPr>
        <p:blipFill>
          <a:blip r:embed="rId1"/>
          <a:stretch>
            <a:fillRect/>
          </a:stretch>
        </p:blipFill>
        <p:spPr>
          <a:xfrm>
            <a:off x="640080" y="548640"/>
            <a:ext cx="1774850" cy="566928"/>
          </a:xfrm>
          <a:prstGeom prst="rect">
            <a:avLst/>
          </a:prstGeom>
        </p:spPr>
      </p:pic>
      <p:sp>
        <p:nvSpPr>
          <p:cNvPr id="3" name="Text 0"/>
          <p:cNvSpPr/>
          <p:nvPr>
            <p:ph idx="101" type="title" hasCustomPrompt="1"/>
          </p:nvPr>
        </p:nvSpPr>
        <p:spPr>
          <a:xfrm>
            <a:off x="640080" y="2103120"/>
            <a:ext cx="10607040" cy="2286000"/>
          </a:xfrm>
          <a:prstGeom prst="rect">
            <a:avLst/>
          </a:prstGeom>
          <a:noFill/>
          <a:ln/>
        </p:spPr>
        <p:txBody>
          <a:bodyPr wrap="square" rtlCol="0"/>
          <a:lstStyle>
            <a:lvl1pPr algn="l" indent="0" marL="0">
              <a:buNone/>
              <a:defRPr lang="en-US" b="1" dirty="0">
                <a:solidFill>
                  <a:srgbClr val="FFFFFF"/>
                </a:solidFill>
                <a:latin typeface="Lato" pitchFamily="34" charset="0"/>
                <a:ea typeface="Lato" pitchFamily="34" charset="-122"/>
                <a:cs typeface="Lato" pitchFamily="34" charset="-120"/>
              </a:defRPr>
            </a:lvl1pPr>
          </a:lstStyle>
          <a:p>
            <a:pPr algn="l" indent="0" marL="0">
              <a:buNone/>
            </a:pPr>
            <a:endParaRPr lang="en-US"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1.png"/><Relationship Id="rId3" Type="http://schemas.openxmlformats.org/officeDocument/2006/relationships/slideLayout" Target="../slideLayouts/slideLayout2.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1" type="title" hasCustomPrompt="1"/>
          </p:nvPr>
        </p:nvSpPr>
        <p:spPr>
          <a:xfrm>
            <a:off x="640080" y="2103120"/>
            <a:ext cx="10607040" cy="2286000"/>
          </a:xfrm>
          <a:prstGeom prst="rect">
            <a:avLst/>
          </a:prstGeom>
          <a:noFill/>
          <a:ln/>
        </p:spPr>
        <p:txBody>
          <a:bodyPr wrap="square" lIns="0" tIns="0" rIns="0" bIns="0" rtlCol="0" anchor="t"/>
          <a:lstStyle/>
          <a:p>
            <a:pPr algn="l" indent="0" marL="0">
              <a:buNone/>
            </a:pPr>
            <a:r>
              <a:rPr lang="en-US" sz="5300" b="1" dirty="0">
                <a:solidFill>
                  <a:srgbClr val="FFFFFF"/>
                </a:solidFill>
                <a:latin typeface="Lato" pitchFamily="34" charset="0"/>
                <a:ea typeface="Lato" pitchFamily="34" charset="-122"/>
                <a:cs typeface="Lato" pitchFamily="34" charset="-120"/>
              </a:rPr>
              <a:t>A first neural network, and why</a:t>
            </a:r>
            <a:endParaRPr lang="en-US" sz="5300" dirty="0"/>
          </a:p>
          <a:p>
            <a:pPr algn="l" indent="0" marL="0">
              <a:buNone/>
            </a:pPr>
            <a:r>
              <a:rPr lang="en-US" sz="5300" b="1" dirty="0">
                <a:solidFill>
                  <a:srgbClr val="FFFFFF"/>
                </a:solidFill>
                <a:latin typeface="Lato" pitchFamily="34" charset="0"/>
                <a:ea typeface="Lato" pitchFamily="34" charset="-122"/>
                <a:cs typeface="Lato" pitchFamily="34" charset="-120"/>
              </a:rPr>
              <a:t>bigger is not automatically better</a:t>
            </a:r>
            <a:endParaRPr lang="en-US" sz="5300" dirty="0"/>
          </a:p>
        </p:txBody>
      </p:sp>
      <p:sp>
        <p:nvSpPr>
          <p:cNvPr id="3" name="Text 1"/>
          <p:cNvSpPr txBox="1"/>
          <p:nvPr/>
        </p:nvSpPr>
        <p:spPr>
          <a:xfrm>
            <a:off x="640080" y="4086860"/>
            <a:ext cx="10241280" cy="1188720"/>
          </a:xfrm>
          <a:prstGeom prst="rect">
            <a:avLst/>
          </a:prstGeom>
          <a:noFill/>
          <a:ln/>
        </p:spPr>
        <p:txBody>
          <a:bodyPr wrap="square" lIns="0" tIns="0" rIns="0" bIns="0" rtlCol="0" anchor="t"/>
          <a:lstStyle/>
          <a:p>
            <a:pPr algn="l" indent="0" marL="0">
              <a:lnSpc>
                <a:spcPts val="3600"/>
              </a:lnSpc>
              <a:buNone/>
            </a:pPr>
            <a:r>
              <a:rPr lang="en-US" sz="3000" i="1" dirty="0">
                <a:solidFill>
                  <a:srgbClr val="E0BE36"/>
                </a:solidFill>
                <a:latin typeface="Lato" pitchFamily="34" charset="0"/>
                <a:ea typeface="Lato" pitchFamily="34" charset="-122"/>
                <a:cs typeface="Lato" pitchFamily="34" charset="-120"/>
              </a:rPr>
              <a:t>Does a neural network beat a small tree on 150 flowers?</a:t>
            </a:r>
            <a:endParaRPr lang="en-US" sz="3000" dirty="0"/>
          </a:p>
        </p:txBody>
      </p:sp>
      <p:sp>
        <p:nvSpPr>
          <p:cNvPr id="4" name="Text 2"/>
          <p:cNvSpPr txBox="1"/>
          <p:nvPr/>
        </p:nvSpPr>
        <p:spPr>
          <a:xfrm>
            <a:off x="640080" y="5989320"/>
            <a:ext cx="10789920" cy="457200"/>
          </a:xfrm>
          <a:prstGeom prst="rect">
            <a:avLst/>
          </a:prstGeom>
          <a:noFill/>
          <a:ln/>
        </p:spPr>
        <p:txBody>
          <a:bodyPr wrap="square" lIns="0" tIns="0" rIns="0" bIns="0" rtlCol="0" anchor="t"/>
          <a:lstStyle/>
          <a:p>
            <a:pPr algn="l" indent="0" marL="0">
              <a:lnSpc>
                <a:spcPts val="2320"/>
              </a:lnSpc>
              <a:buNone/>
            </a:pPr>
            <a:r>
              <a:rPr lang="en-US" sz="1600" dirty="0">
                <a:solidFill>
                  <a:srgbClr val="B5B5B5"/>
                </a:solidFill>
                <a:latin typeface="Lato" pitchFamily="34" charset="0"/>
                <a:ea typeface="Lato" pitchFamily="34" charset="-122"/>
                <a:cs typeface="Lato" pitchFamily="34" charset="-120"/>
              </a:rPr>
              <a:t>Machine Learning  |  Optional extension after session 24</a:t>
            </a:r>
            <a:endParaRPr lang="en-US" sz="1600" dirty="0"/>
          </a:p>
          <a:p>
            <a:pPr algn="l" indent="0" marL="0">
              <a:lnSpc>
                <a:spcPts val="2320"/>
              </a:lnSpc>
              <a:buNone/>
            </a:pPr>
            <a:r>
              <a:rPr lang="en-US" sz="1600" dirty="0">
                <a:solidFill>
                  <a:srgbClr val="B5B5B5"/>
                </a:solidFill>
                <a:latin typeface="Lato" pitchFamily="34" charset="0"/>
                <a:ea typeface="Lato" pitchFamily="34" charset="-122"/>
                <a:cs typeface="Lato" pitchFamily="34" charset="-120"/>
              </a:rPr>
              <a:t>Holiday Data and AI Camp  |  The National ICT Innovation Hub, Nakawa</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600" b="1" dirty="0">
                <a:solidFill>
                  <a:srgbClr val="111111"/>
                </a:solidFill>
                <a:latin typeface="Lato" pitchFamily="34" charset="0"/>
                <a:ea typeface="Lato" pitchFamily="34" charset="-122"/>
                <a:cs typeface="Lato" pitchFamily="34" charset="-120"/>
              </a:rPr>
              <a:t>Does a neural network beat</a:t>
            </a:r>
            <a:endParaRPr lang="en-US" sz="3600" dirty="0"/>
          </a:p>
          <a:p>
            <a:pPr algn="l" indent="0" marL="0">
              <a:buNone/>
            </a:pPr>
            <a:r>
              <a:rPr lang="en-US" sz="3600" b="1" dirty="0">
                <a:solidFill>
                  <a:srgbClr val="111111"/>
                </a:solidFill>
                <a:latin typeface="Lato" pitchFamily="34" charset="0"/>
                <a:ea typeface="Lato" pitchFamily="34" charset="-122"/>
                <a:cs typeface="Lato" pitchFamily="34" charset="-120"/>
              </a:rPr>
              <a:t>a small tree on 150 flowers?</a:t>
            </a:r>
            <a:endParaRPr lang="en-US" sz="3600" dirty="0"/>
          </a:p>
        </p:txBody>
      </p:sp>
      <p:pic>
        <p:nvPicPr>
          <p:cNvPr id="3" name="Image 0" descr="A small neural network with four inputs, eight hidden units and three outputs">    </p:cNvPr>
          <p:cNvPicPr>
            <a:picLocks noChangeAspect="1"/>
          </p:cNvPicPr>
          <p:nvPr/>
        </p:nvPicPr>
        <p:blipFill>
          <a:blip r:embed="rId1"/>
          <a:stretch>
            <a:fillRect/>
          </a:stretch>
        </p:blipFill>
        <p:spPr>
          <a:xfrm>
            <a:off x="640080" y="1691640"/>
            <a:ext cx="10881360" cy="434340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700" b="1" dirty="0">
                <a:solidFill>
                  <a:srgbClr val="111111"/>
                </a:solidFill>
                <a:latin typeface="Lato" pitchFamily="34" charset="0"/>
                <a:ea typeface="Lato" pitchFamily="34" charset="-122"/>
                <a:cs typeface="Lato" pitchFamily="34" charset="-120"/>
              </a:rPr>
              <a:t>A network repeats the weighted sum many times</a:t>
            </a:r>
            <a:endParaRPr lang="en-US" sz="3700" dirty="0"/>
          </a:p>
        </p:txBody>
      </p:sp>
      <p:pic>
        <p:nvPicPr>
          <p:cNvPr id="3" name="Image 0" descr="A network repeats the weighted sum many times">    </p:cNvPr>
          <p:cNvPicPr>
            <a:picLocks noChangeAspect="1"/>
          </p:cNvPicPr>
          <p:nvPr/>
        </p:nvPicPr>
        <p:blipFill>
          <a:blip r:embed="rId1"/>
          <a:stretch>
            <a:fillRect/>
          </a:stretch>
        </p:blipFill>
        <p:spPr>
          <a:xfrm>
            <a:off x="640080" y="1554480"/>
            <a:ext cx="10881360" cy="4069080"/>
          </a:xfrm>
          <a:prstGeom prst="rect">
            <a:avLst/>
          </a:prstGeom>
        </p:spPr>
      </p:pic>
      <p:sp>
        <p:nvSpPr>
          <p:cNvPr id="4" name="Text 1"/>
          <p:cNvSpPr txBox="1"/>
          <p:nvPr/>
        </p:nvSpPr>
        <p:spPr>
          <a:xfrm>
            <a:off x="640080" y="5669280"/>
            <a:ext cx="10881360" cy="640080"/>
          </a:xfrm>
          <a:prstGeom prst="rect">
            <a:avLst/>
          </a:prstGeom>
          <a:noFill/>
          <a:ln/>
        </p:spPr>
        <p:txBody>
          <a:bodyPr wrap="square" lIns="0" tIns="0" rIns="0" bIns="0" rtlCol="0" anchor="t"/>
          <a:lstStyle/>
          <a:p>
            <a:pPr algn="l" indent="0" marL="0">
              <a:lnSpc>
                <a:spcPts val="2640"/>
              </a:lnSpc>
              <a:buNone/>
            </a:pPr>
            <a:r>
              <a:rPr lang="en-US" sz="2200" dirty="0">
                <a:solidFill>
                  <a:srgbClr val="333333"/>
                </a:solidFill>
                <a:latin typeface="Lato" pitchFamily="34" charset="0"/>
                <a:ea typeface="Lato" pitchFamily="34" charset="-122"/>
                <a:cs typeface="Lato" pitchFamily="34" charset="-120"/>
              </a:rPr>
              <a:t>Each line in the network carries a weight like these.</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600" b="1" dirty="0">
                <a:solidFill>
                  <a:srgbClr val="111111"/>
                </a:solidFill>
                <a:latin typeface="Lato" pitchFamily="34" charset="0"/>
                <a:ea typeface="Lato" pitchFamily="34" charset="-122"/>
                <a:cs typeface="Lato" pitchFamily="34" charset="-120"/>
              </a:rPr>
              <a:t>Scaling puts every measurement</a:t>
            </a:r>
            <a:endParaRPr lang="en-US" sz="3600" dirty="0"/>
          </a:p>
          <a:p>
            <a:pPr algn="l" indent="0" marL="0">
              <a:buNone/>
            </a:pPr>
            <a:r>
              <a:rPr lang="en-US" sz="3600" b="1" dirty="0">
                <a:solidFill>
                  <a:srgbClr val="111111"/>
                </a:solidFill>
                <a:latin typeface="Lato" pitchFamily="34" charset="0"/>
                <a:ea typeface="Lato" pitchFamily="34" charset="-122"/>
                <a:cs typeface="Lato" pitchFamily="34" charset="-120"/>
              </a:rPr>
              <a:t>on a similar footing</a:t>
            </a:r>
            <a:endParaRPr lang="en-US" sz="3600" dirty="0"/>
          </a:p>
        </p:txBody>
      </p:sp>
      <p:pic>
        <p:nvPicPr>
          <p:cNvPr id="3" name="Image 0" descr="Scaling puts every measurement on a similar footing">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Petal length runs wider than petal width.</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Scaling centres each column on zero.</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Networks learn badly without it.</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Predict: A network, a tree and a baseline</a:t>
            </a:r>
            <a:endParaRPr lang="en-US" sz="3800" dirty="0"/>
          </a:p>
        </p:txBody>
      </p:sp>
      <p:sp>
        <p:nvSpPr>
          <p:cNvPr id="3" name="Text 1"/>
          <p:cNvSpPr txBox="1"/>
          <p:nvPr/>
        </p:nvSpPr>
        <p:spPr>
          <a:xfrm>
            <a:off x="640080" y="1737360"/>
            <a:ext cx="6766560" cy="4114800"/>
          </a:xfrm>
          <a:prstGeom prst="rect">
            <a:avLst/>
          </a:prstGeom>
          <a:noFill/>
          <a:ln/>
        </p:spPr>
        <p:txBody>
          <a:bodyPr wrap="square" lIns="0" tIns="0" rIns="0" bIns="0" rtlCol="0" anchor="t"/>
          <a:lstStyle/>
          <a:p>
            <a:pPr algn="l" indent="0" marL="0">
              <a:lnSpc>
                <a:spcPts val="3840"/>
              </a:lnSpc>
              <a:spcAft>
                <a:spcPts val="2160"/>
              </a:spcAft>
              <a:buNone/>
            </a:pPr>
            <a:r>
              <a:rPr lang="en-US" sz="3200" dirty="0">
                <a:solidFill>
                  <a:srgbClr val="111111"/>
                </a:solidFill>
                <a:latin typeface="Lato" pitchFamily="34" charset="0"/>
                <a:ea typeface="Lato" pitchFamily="34" charset="-122"/>
                <a:cs typeface="Lato" pitchFamily="34" charset="-120"/>
              </a:rPr>
              <a:t>Predict whether the network will score higher than the depth 3 tree.</a:t>
            </a:r>
            <a:endParaRPr lang="en-US" sz="3200" dirty="0"/>
          </a:p>
          <a:p>
            <a:pPr algn="l" indent="0" marL="0">
              <a:lnSpc>
                <a:spcPts val="3840"/>
              </a:lnSpc>
              <a:spcAft>
                <a:spcPts val="2160"/>
              </a:spcAft>
              <a:buNone/>
            </a:pPr>
            <a:r>
              <a:rPr lang="en-US" sz="3200" dirty="0">
                <a:solidFill>
                  <a:srgbClr val="111111"/>
                </a:solidFill>
                <a:latin typeface="Lato" pitchFamily="34" charset="0"/>
                <a:ea typeface="Lato" pitchFamily="34" charset="-122"/>
                <a:cs typeface="Lato" pitchFamily="34" charset="-120"/>
              </a:rPr>
              <a:t>Write your guess on paper before we run it.</a:t>
            </a:r>
            <a:endParaRPr lang="en-US" sz="3200" dirty="0"/>
          </a:p>
        </p:txBody>
      </p:sp>
      <p:pic>
        <p:nvPicPr>
          <p:cNvPr id="4" name="Image 0" descr="A page and a pen">    </p:cNvPr>
          <p:cNvPicPr>
            <a:picLocks noChangeAspect="1"/>
          </p:cNvPicPr>
          <p:nvPr/>
        </p:nvPicPr>
        <p:blipFill>
          <a:blip r:embed="rId1"/>
          <a:stretch>
            <a:fillRect/>
          </a:stretch>
        </p:blipFill>
        <p:spPr>
          <a:xfrm>
            <a:off x="8138160" y="1828800"/>
            <a:ext cx="3291840" cy="310896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Run it: A network, a tree and a baseline</a:t>
            </a:r>
            <a:endParaRPr lang="en-US" sz="3800" dirty="0"/>
          </a:p>
        </p:txBody>
      </p:sp>
      <p:sp>
        <p:nvSpPr>
          <p:cNvPr id="3" name="Text 1"/>
          <p:cNvSpPr txBox="1"/>
          <p:nvPr/>
        </p:nvSpPr>
        <p:spPr>
          <a:xfrm>
            <a:off x="640080" y="1737360"/>
            <a:ext cx="7498080" cy="4389120"/>
          </a:xfrm>
          <a:prstGeom prst="rect">
            <a:avLst/>
          </a:prstGeom>
          <a:noFill/>
          <a:ln/>
        </p:spPr>
        <p:txBody>
          <a:bodyPr wrap="square" lIns="0" tIns="0" rIns="0" bIns="0" rtlCol="0" anchor="t"/>
          <a:lstStyle/>
          <a:p>
            <a:pPr algn="l" indent="0" marL="0">
              <a:lnSpc>
                <a:spcPts val="3600"/>
              </a:lnSpc>
              <a:spcAft>
                <a:spcPts val="1800"/>
              </a:spcAft>
              <a:buNone/>
            </a:pPr>
            <a:r>
              <a:rPr lang="en-US" sz="3000" dirty="0">
                <a:solidFill>
                  <a:srgbClr val="111111"/>
                </a:solidFill>
                <a:latin typeface="Lato" pitchFamily="34" charset="0"/>
                <a:ea typeface="Lato" pitchFamily="34" charset="-122"/>
                <a:cs typeface="Lato" pitchFamily="34" charset="-120"/>
              </a:rPr>
              <a:t>On 150 flowers a neural network has no advantage over a small tree.</a:t>
            </a:r>
            <a:endParaRPr lang="en-US" sz="3000" dirty="0"/>
          </a:p>
          <a:p>
            <a:pPr algn="l" indent="0" marL="0">
              <a:lnSpc>
                <a:spcPts val="3600"/>
              </a:lnSpc>
              <a:spcAft>
                <a:spcPts val="1800"/>
              </a:spcAft>
              <a:buNone/>
            </a:pPr>
            <a:r>
              <a:rPr lang="en-US" sz="3000" dirty="0">
                <a:solidFill>
                  <a:srgbClr val="111111"/>
                </a:solidFill>
                <a:latin typeface="Lato" pitchFamily="34" charset="0"/>
                <a:ea typeface="Lato" pitchFamily="34" charset="-122"/>
                <a:cs typeface="Lato" pitchFamily="34" charset="-120"/>
              </a:rPr>
              <a:t>A bigger model is not automatically a better one, and it needs more data, more care and more checking.</a:t>
            </a:r>
            <a:endParaRPr lang="en-US" sz="3000" dirty="0"/>
          </a:p>
        </p:txBody>
      </p:sp>
      <p:pic>
        <p:nvPicPr>
          <p:cNvPr id="4" name="Image 0" descr="Compare with your guess">    </p:cNvPr>
          <p:cNvPicPr>
            <a:picLocks noChangeAspect="1"/>
          </p:cNvPicPr>
          <p:nvPr/>
        </p:nvPicPr>
        <p:blipFill>
          <a:blip r:embed="rId1"/>
          <a:stretch>
            <a:fillRect/>
          </a:stretch>
        </p:blipFill>
        <p:spPr>
          <a:xfrm>
            <a:off x="8778240" y="2194560"/>
            <a:ext cx="2377440" cy="237744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Investigate: A network, a tree and a baseline</a:t>
            </a:r>
            <a:endParaRPr lang="en-US" sz="3800" dirty="0"/>
          </a:p>
        </p:txBody>
      </p:sp>
      <p:pic>
        <p:nvPicPr>
          <p:cNvPr id="3" name="Image 0" descr="Look closely">    </p:cNvPr>
          <p:cNvPicPr>
            <a:picLocks noChangeAspect="1"/>
          </p:cNvPicPr>
          <p:nvPr/>
        </p:nvPicPr>
        <p:blipFill>
          <a:blip r:embed="rId1"/>
          <a:stretch>
            <a:fillRect/>
          </a:stretch>
        </p:blipFill>
        <p:spPr>
          <a:xfrm>
            <a:off x="9875520" y="4480560"/>
            <a:ext cx="1645920" cy="1645920"/>
          </a:xfrm>
          <a:prstGeom prst="rect">
            <a:avLst/>
          </a:prstGeom>
        </p:spPr>
      </p:pic>
      <p:sp>
        <p:nvSpPr>
          <p:cNvPr id="4" name="Text 1"/>
          <p:cNvSpPr txBox="1"/>
          <p:nvPr/>
        </p:nvSpPr>
        <p:spPr>
          <a:xfrm>
            <a:off x="640080" y="1737360"/>
            <a:ext cx="8961120" cy="4389120"/>
          </a:xfrm>
          <a:prstGeom prst="rect">
            <a:avLst/>
          </a:prstGeom>
          <a:noFill/>
          <a:ln/>
        </p:spPr>
        <p:txBody>
          <a:bodyPr wrap="square" lIns="0" tIns="0" rIns="0" bIns="0" rtlCol="0" anchor="t"/>
          <a:lstStyle/>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1.  Why scale the inputs first?</a:t>
            </a:r>
            <a:endParaRPr lang="en-US" sz="3600" dirty="0"/>
          </a:p>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2.  What would convince you a network is worth using?</a:t>
            </a:r>
            <a:endParaRPr lang="en-US" sz="36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Modify: change one thing</a:t>
            </a:r>
            <a:endParaRPr lang="en-US" sz="3800" dirty="0"/>
          </a:p>
        </p:txBody>
      </p:sp>
      <p:sp>
        <p:nvSpPr>
          <p:cNvPr id="3" name="Text 1"/>
          <p:cNvSpPr txBox="1"/>
          <p:nvPr/>
        </p:nvSpPr>
        <p:spPr>
          <a:xfrm>
            <a:off x="640080" y="1737360"/>
            <a:ext cx="6035040" cy="4206240"/>
          </a:xfrm>
          <a:prstGeom prst="rect">
            <a:avLst/>
          </a:prstGeom>
          <a:noFill/>
          <a:ln/>
        </p:spPr>
        <p:txBody>
          <a:bodyPr wrap="square" lIns="0" tIns="0" rIns="0" bIns="0" rtlCol="0" anchor="t"/>
          <a:lstStyle/>
          <a:p>
            <a:pPr algn="l" indent="0" marL="0">
              <a:lnSpc>
                <a:spcPts val="4320"/>
              </a:lnSpc>
              <a:spcAft>
                <a:spcPts val="3240"/>
              </a:spcAft>
              <a:buNone/>
            </a:pPr>
            <a:r>
              <a:rPr lang="en-US" sz="3600" dirty="0">
                <a:solidFill>
                  <a:srgbClr val="111111"/>
                </a:solidFill>
                <a:latin typeface="Lato" pitchFamily="34" charset="0"/>
                <a:ea typeface="Lato" pitchFamily="34" charset="-122"/>
                <a:cs typeface="Lato" pitchFamily="34" charset="-120"/>
              </a:rPr>
              <a:t>Change hidden_layer_sizes from (8,) to (16,) and run it again.</a:t>
            </a:r>
            <a:endParaRPr lang="en-US" sz="3600" dirty="0"/>
          </a:p>
          <a:p>
            <a:pPr algn="l" indent="0" marL="0">
              <a:lnSpc>
                <a:spcPts val="4320"/>
              </a:lnSpc>
              <a:spcAft>
                <a:spcPts val="3240"/>
              </a:spcAft>
              <a:buNone/>
            </a:pPr>
            <a:r>
              <a:rPr lang="en-US" sz="3600" dirty="0">
                <a:solidFill>
                  <a:srgbClr val="111111"/>
                </a:solidFill>
                <a:latin typeface="Lato" pitchFamily="34" charset="0"/>
                <a:ea typeface="Lato" pitchFamily="34" charset="-122"/>
                <a:cs typeface="Lato" pitchFamily="34" charset="-120"/>
              </a:rPr>
              <a:t>Then tell your neighbour what changed and how you know.</a:t>
            </a:r>
            <a:endParaRPr lang="en-US" sz="3600" dirty="0"/>
          </a:p>
        </p:txBody>
      </p:sp>
      <p:pic>
        <p:nvPicPr>
          <p:cNvPr id="4" name="Image 0" descr="Change one thing">    </p:cNvPr>
          <p:cNvPicPr>
            <a:picLocks noChangeAspect="1"/>
          </p:cNvPicPr>
          <p:nvPr/>
        </p:nvPicPr>
        <p:blipFill>
          <a:blip r:embed="rId1"/>
          <a:stretch>
            <a:fillRect/>
          </a:stretch>
        </p:blipFill>
        <p:spPr>
          <a:xfrm>
            <a:off x="9418320" y="2103120"/>
            <a:ext cx="1828800" cy="182880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Make: your own version</a:t>
            </a:r>
            <a:endParaRPr lang="en-US" sz="3800" dirty="0"/>
          </a:p>
        </p:txBody>
      </p:sp>
      <p:sp>
        <p:nvSpPr>
          <p:cNvPr id="3" name="Text 1"/>
          <p:cNvSpPr txBox="1"/>
          <p:nvPr/>
        </p:nvSpPr>
        <p:spPr>
          <a:xfrm>
            <a:off x="640080" y="1737360"/>
            <a:ext cx="6949440" cy="4480560"/>
          </a:xfrm>
          <a:prstGeom prst="rect">
            <a:avLst/>
          </a:prstGeom>
          <a:noFill/>
          <a:ln/>
        </p:spPr>
        <p:txBody>
          <a:bodyPr wrap="square" lIns="0" tIns="0" rIns="0" bIns="0" rtlCol="0" anchor="t"/>
          <a:lstStyle/>
          <a:p>
            <a:pPr algn="l" indent="0" marL="0">
              <a:lnSpc>
                <a:spcPts val="3360"/>
              </a:lnSpc>
              <a:spcAft>
                <a:spcPts val="2020"/>
              </a:spcAft>
              <a:buNone/>
            </a:pPr>
            <a:r>
              <a:rPr lang="en-US" sz="2800" dirty="0">
                <a:solidFill>
                  <a:srgbClr val="111111"/>
                </a:solidFill>
                <a:latin typeface="Lato" pitchFamily="34" charset="0"/>
                <a:ea typeface="Lato" pitchFamily="34" charset="-122"/>
                <a:cs typeface="Lato" pitchFamily="34" charset="-120"/>
              </a:rPr>
              <a:t>Write two sentences: which model scored best and whether the difference is big enough to matter.</a:t>
            </a:r>
            <a:endParaRPr lang="en-US" sz="2800" dirty="0"/>
          </a:p>
          <a:p>
            <a:pPr algn="l" indent="0" marL="0">
              <a:lnSpc>
                <a:spcPts val="3360"/>
              </a:lnSpc>
              <a:spcAft>
                <a:spcPts val="2020"/>
              </a:spcAft>
              <a:buNone/>
            </a:pPr>
            <a:r>
              <a:rPr lang="en-US" sz="2800" dirty="0">
                <a:solidFill>
                  <a:srgbClr val="111111"/>
                </a:solidFill>
                <a:latin typeface="Lato" pitchFamily="34" charset="0"/>
                <a:ea typeface="Lato" pitchFamily="34" charset="-122"/>
                <a:cs typeface="Lato" pitchFamily="34" charset="-120"/>
              </a:rPr>
              <a:t>Save it as ML25. Write two sentences: what you changed and how you checked it.</a:t>
            </a:r>
            <a:endParaRPr lang="en-US" sz="2800" dirty="0"/>
          </a:p>
        </p:txBody>
      </p:sp>
      <p:pic>
        <p:nvPicPr>
          <p:cNvPr id="4" name="Image 0" descr="A notebook saved with a tick">    </p:cNvPr>
          <p:cNvPicPr>
            <a:picLocks noChangeAspect="1"/>
          </p:cNvPicPr>
          <p:nvPr/>
        </p:nvPicPr>
        <p:blipFill>
          <a:blip r:embed="rId1"/>
          <a:stretch>
            <a:fillRect/>
          </a:stretch>
        </p:blipFill>
        <p:spPr>
          <a:xfrm>
            <a:off x="8138160" y="1920240"/>
            <a:ext cx="3474720" cy="329184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Two errors you may meet today</a:t>
            </a:r>
            <a:endParaRPr lang="en-US" sz="3800" dirty="0"/>
          </a:p>
        </p:txBody>
      </p:sp>
      <p:pic>
        <p:nvPicPr>
          <p:cNvPr id="3" name="Image 0" descr="Error">    </p:cNvPr>
          <p:cNvPicPr>
            <a:picLocks noChangeAspect="1"/>
          </p:cNvPicPr>
          <p:nvPr/>
        </p:nvPicPr>
        <p:blipFill>
          <a:blip r:embed="rId1"/>
          <a:stretch>
            <a:fillRect/>
          </a:stretch>
        </p:blipFill>
        <p:spPr>
          <a:xfrm>
            <a:off x="640080" y="1691640"/>
            <a:ext cx="822960" cy="822960"/>
          </a:xfrm>
          <a:prstGeom prst="rect">
            <a:avLst/>
          </a:prstGeom>
        </p:spPr>
      </p:pic>
      <p:sp>
        <p:nvSpPr>
          <p:cNvPr id="4" name="Shape 1"/>
          <p:cNvSpPr/>
          <p:nvPr/>
        </p:nvSpPr>
        <p:spPr>
          <a:xfrm>
            <a:off x="1645920" y="1828800"/>
            <a:ext cx="4023360" cy="1645920"/>
          </a:xfrm>
          <a:prstGeom prst="roundRect">
            <a:avLst>
              <a:gd name="adj" fmla="val 3333"/>
            </a:avLst>
          </a:prstGeom>
          <a:solidFill>
            <a:srgbClr val="FFFFFF"/>
          </a:solidFill>
          <a:ln w="25400">
            <a:solidFill>
              <a:srgbClr val="AE2525"/>
            </a:solidFill>
            <a:prstDash val="solid"/>
          </a:ln>
        </p:spPr>
      </p:sp>
      <p:sp>
        <p:nvSpPr>
          <p:cNvPr id="5" name="Text 2"/>
          <p:cNvSpPr txBox="1"/>
          <p:nvPr/>
        </p:nvSpPr>
        <p:spPr>
          <a:xfrm>
            <a:off x="1783080" y="1920240"/>
            <a:ext cx="3749040" cy="1463040"/>
          </a:xfrm>
          <a:prstGeom prst="rect">
            <a:avLst/>
          </a:prstGeom>
          <a:noFill/>
          <a:ln/>
        </p:spPr>
        <p:txBody>
          <a:bodyPr wrap="square" lIns="0" tIns="0" rIns="0" bIns="0" rtlCol="0" anchor="ctr"/>
          <a:lstStyle/>
          <a:p>
            <a:pPr algn="l" indent="0" marL="0">
              <a:lnSpc>
                <a:spcPts val="2500"/>
              </a:lnSpc>
              <a:buNone/>
            </a:pPr>
            <a:r>
              <a:rPr lang="en-US" sz="2000" dirty="0">
                <a:solidFill>
                  <a:srgbClr val="AE2525"/>
                </a:solidFill>
                <a:latin typeface="Courier New" pitchFamily="34" charset="0"/>
                <a:ea typeface="Courier New" pitchFamily="34" charset="-122"/>
                <a:cs typeface="Courier New" pitchFamily="34" charset="-120"/>
              </a:rPr>
              <a:t>ConvergenceWarning</a:t>
            </a:r>
            <a:endParaRPr lang="en-US" sz="2000" dirty="0"/>
          </a:p>
        </p:txBody>
      </p:sp>
      <p:sp>
        <p:nvSpPr>
          <p:cNvPr id="6" name="Text 3"/>
          <p:cNvSpPr txBox="1"/>
          <p:nvPr/>
        </p:nvSpPr>
        <p:spPr>
          <a:xfrm>
            <a:off x="6035040" y="1664208"/>
            <a:ext cx="5486400" cy="1965960"/>
          </a:xfrm>
          <a:prstGeom prst="rect">
            <a:avLst/>
          </a:prstGeom>
          <a:noFill/>
          <a:ln/>
        </p:spPr>
        <p:txBody>
          <a:bodyPr wrap="square" lIns="0" tIns="0" rIns="0" bIns="0" rtlCol="0" anchor="t"/>
          <a:lstStyle/>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It means: The network stopped before it finished learning.</a:t>
            </a:r>
            <a:endParaRPr lang="en-US" sz="2200" dirty="0"/>
          </a:p>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Fix: Raise max_iter and run it again.</a:t>
            </a:r>
            <a:endParaRPr lang="en-US" sz="2200" dirty="0"/>
          </a:p>
        </p:txBody>
      </p:sp>
      <p:sp>
        <p:nvSpPr>
          <p:cNvPr id="7" name="Shape 4"/>
          <p:cNvSpPr/>
          <p:nvPr/>
        </p:nvSpPr>
        <p:spPr>
          <a:xfrm>
            <a:off x="640080" y="3813048"/>
            <a:ext cx="10881360" cy="0"/>
          </a:xfrm>
          <a:prstGeom prst="line">
            <a:avLst/>
          </a:prstGeom>
          <a:noFill/>
          <a:ln w="12700">
            <a:solidFill>
              <a:srgbClr val="CFCFCF"/>
            </a:solidFill>
            <a:prstDash val="solid"/>
          </a:ln>
        </p:spPr>
      </p:sp>
      <p:pic>
        <p:nvPicPr>
          <p:cNvPr id="8" name="Image 1" descr="Error">    </p:cNvPr>
          <p:cNvPicPr>
            <a:picLocks noChangeAspect="1"/>
          </p:cNvPicPr>
          <p:nvPr/>
        </p:nvPicPr>
        <p:blipFill>
          <a:blip r:embed="rId2"/>
          <a:stretch>
            <a:fillRect/>
          </a:stretch>
        </p:blipFill>
        <p:spPr>
          <a:xfrm>
            <a:off x="640080" y="4023360"/>
            <a:ext cx="822960" cy="822960"/>
          </a:xfrm>
          <a:prstGeom prst="rect">
            <a:avLst/>
          </a:prstGeom>
        </p:spPr>
      </p:pic>
      <p:sp>
        <p:nvSpPr>
          <p:cNvPr id="9" name="Shape 5"/>
          <p:cNvSpPr/>
          <p:nvPr/>
        </p:nvSpPr>
        <p:spPr>
          <a:xfrm>
            <a:off x="1645920" y="4160520"/>
            <a:ext cx="4023360" cy="1645920"/>
          </a:xfrm>
          <a:prstGeom prst="roundRect">
            <a:avLst>
              <a:gd name="adj" fmla="val 3333"/>
            </a:avLst>
          </a:prstGeom>
          <a:solidFill>
            <a:srgbClr val="FFFFFF"/>
          </a:solidFill>
          <a:ln w="25400">
            <a:solidFill>
              <a:srgbClr val="AE2525"/>
            </a:solidFill>
            <a:prstDash val="solid"/>
          </a:ln>
        </p:spPr>
      </p:sp>
      <p:sp>
        <p:nvSpPr>
          <p:cNvPr id="10" name="Text 6"/>
          <p:cNvSpPr txBox="1"/>
          <p:nvPr/>
        </p:nvSpPr>
        <p:spPr>
          <a:xfrm>
            <a:off x="1783080" y="4251960"/>
            <a:ext cx="3749040" cy="1463040"/>
          </a:xfrm>
          <a:prstGeom prst="rect">
            <a:avLst/>
          </a:prstGeom>
          <a:noFill/>
          <a:ln/>
        </p:spPr>
        <p:txBody>
          <a:bodyPr wrap="square" lIns="0" tIns="0" rIns="0" bIns="0" rtlCol="0" anchor="ctr"/>
          <a:lstStyle/>
          <a:p>
            <a:pPr algn="l" indent="0" marL="0">
              <a:lnSpc>
                <a:spcPts val="2500"/>
              </a:lnSpc>
              <a:buNone/>
            </a:pPr>
            <a:r>
              <a:rPr lang="en-US" sz="2000" dirty="0">
                <a:solidFill>
                  <a:srgbClr val="AE2525"/>
                </a:solidFill>
                <a:latin typeface="Courier New" pitchFamily="34" charset="0"/>
                <a:ea typeface="Courier New" pitchFamily="34" charset="-122"/>
                <a:cs typeface="Courier New" pitchFamily="34" charset="-120"/>
              </a:rPr>
              <a:t>Scores change every run</a:t>
            </a:r>
            <a:endParaRPr lang="en-US" sz="2000" dirty="0"/>
          </a:p>
        </p:txBody>
      </p:sp>
      <p:sp>
        <p:nvSpPr>
          <p:cNvPr id="11" name="Text 7"/>
          <p:cNvSpPr txBox="1"/>
          <p:nvPr/>
        </p:nvSpPr>
        <p:spPr>
          <a:xfrm>
            <a:off x="6035040" y="3995928"/>
            <a:ext cx="5486400" cy="1965960"/>
          </a:xfrm>
          <a:prstGeom prst="rect">
            <a:avLst/>
          </a:prstGeom>
          <a:noFill/>
          <a:ln/>
        </p:spPr>
        <p:txBody>
          <a:bodyPr wrap="square" lIns="0" tIns="0" rIns="0" bIns="0" rtlCol="0" anchor="t"/>
          <a:lstStyle/>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It means: The random_state is missing.</a:t>
            </a:r>
            <a:endParaRPr lang="en-US" sz="2200" dirty="0"/>
          </a:p>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Fix: Set random_state=7 so the run repeats.</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Finish this sentence in your notebook</a:t>
            </a:r>
            <a:endParaRPr lang="en-US" sz="3800" dirty="0"/>
          </a:p>
        </p:txBody>
      </p:sp>
      <p:sp>
        <p:nvSpPr>
          <p:cNvPr id="3" name="Text 1"/>
          <p:cNvSpPr txBox="1"/>
          <p:nvPr/>
        </p:nvSpPr>
        <p:spPr>
          <a:xfrm>
            <a:off x="640080" y="1737360"/>
            <a:ext cx="6949440" cy="2926080"/>
          </a:xfrm>
          <a:prstGeom prst="rect">
            <a:avLst/>
          </a:prstGeom>
          <a:noFill/>
          <a:ln/>
        </p:spPr>
        <p:txBody>
          <a:bodyPr wrap="square" lIns="0" tIns="0" rIns="0" bIns="0" rtlCol="0" anchor="t"/>
          <a:lstStyle/>
          <a:p>
            <a:pPr algn="l" indent="0" marL="0">
              <a:lnSpc>
                <a:spcPts val="4800"/>
              </a:lnSpc>
              <a:spcAft>
                <a:spcPts val="1010"/>
              </a:spcAft>
              <a:buNone/>
            </a:pPr>
            <a:r>
              <a:rPr lang="en-US" sz="4000" dirty="0">
                <a:solidFill>
                  <a:srgbClr val="111111"/>
                </a:solidFill>
                <a:latin typeface="Lato" pitchFamily="34" charset="0"/>
                <a:ea typeface="Lato" pitchFamily="34" charset="-122"/>
                <a:cs typeface="Lato" pitchFamily="34" charset="-120"/>
              </a:rPr>
              <a:t>A bigger model is not automatically a better one, and I check it against a baseline.</a:t>
            </a:r>
            <a:endParaRPr lang="en-US" sz="4000" dirty="0"/>
          </a:p>
        </p:txBody>
      </p:sp>
      <p:sp>
        <p:nvSpPr>
          <p:cNvPr id="4" name="Text 2"/>
          <p:cNvSpPr txBox="1"/>
          <p:nvPr/>
        </p:nvSpPr>
        <p:spPr>
          <a:xfrm>
            <a:off x="640080" y="4846320"/>
            <a:ext cx="6949440" cy="1097280"/>
          </a:xfrm>
          <a:prstGeom prst="rect">
            <a:avLst/>
          </a:prstGeom>
          <a:noFill/>
          <a:ln/>
        </p:spPr>
        <p:txBody>
          <a:bodyPr wrap="square" lIns="0" tIns="0" rIns="0" bIns="0" rtlCol="0" anchor="t"/>
          <a:lstStyle/>
          <a:p>
            <a:pPr algn="l" indent="0" marL="0">
              <a:lnSpc>
                <a:spcPts val="2750"/>
              </a:lnSpc>
              <a:buNone/>
            </a:pPr>
            <a:r>
              <a:rPr lang="en-US" sz="2200" dirty="0">
                <a:solidFill>
                  <a:srgbClr val="333333"/>
                </a:solidFill>
                <a:latin typeface="Lato" pitchFamily="34" charset="0"/>
                <a:ea typeface="Lato" pitchFamily="34" charset="-122"/>
                <a:cs typeface="Lato" pitchFamily="34" charset="-120"/>
              </a:rPr>
              <a:t>Then save your notebook, close it and open it again to check it saved.</a:t>
            </a:r>
            <a:endParaRPr lang="en-US" sz="2200" dirty="0"/>
          </a:p>
        </p:txBody>
      </p:sp>
      <p:pic>
        <p:nvPicPr>
          <p:cNvPr id="5" name="Image 0" descr="Finished">    </p:cNvPr>
          <p:cNvPicPr>
            <a:picLocks noChangeAspect="1"/>
          </p:cNvPicPr>
          <p:nvPr/>
        </p:nvPicPr>
        <p:blipFill>
          <a:blip r:embed="rId1"/>
          <a:stretch>
            <a:fillRect/>
          </a:stretch>
        </p:blipFill>
        <p:spPr>
          <a:xfrm>
            <a:off x="8229600" y="1920240"/>
            <a:ext cx="3291840" cy="329184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11</a:t>
            </a:fld>
            <a:endParaRPr lang="en-US"/>
          </a:p>
        </p:txBody>
      </p:sp>
    </p:spTree>
  </p:cSld>
  <p:clrMapOvr>
    <a:masterClrMapping/>
  </p:clrMapOvr>
</p:sld>
</file>

<file path=ppt/theme/theme1.xml><?xml version="1.0" encoding="utf-8"?>
<a:theme xmlns:a="http://schemas.openxmlformats.org/drawingml/2006/main" name="KLAi camp">
  <a:themeElements>
    <a:clrScheme name="KLAi camp">
      <a:dk1>
        <a:srgbClr val="111111"/>
      </a:dk1>
      <a:lt1>
        <a:srgbClr val="FFFFFF"/>
      </a:lt1>
      <a:dk2>
        <a:srgbClr val="333333"/>
      </a:dk2>
      <a:lt2>
        <a:srgbClr val="F1F1F1"/>
      </a:lt2>
      <a:accent1>
        <a:srgbClr val="AE2525"/>
      </a:accent1>
      <a:accent2>
        <a:srgbClr val="E0BE36"/>
      </a:accent2>
      <a:accent3>
        <a:srgbClr val="8C8C8C"/>
      </a:accent3>
      <a:accent4>
        <a:srgbClr val="555555"/>
      </a:accent4>
      <a:accent5>
        <a:srgbClr val="CFCFCF"/>
      </a:accent5>
      <a:accent6>
        <a:srgbClr val="000000"/>
      </a:accent6>
      <a:hlink>
        <a:srgbClr val="AE2525"/>
      </a:hlink>
      <a:folHlink>
        <a:srgbClr val="666666"/>
      </a:folHlink>
    </a:clrScheme>
    <a:fontScheme name="KLAi camp">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KLAi</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ML25 A first neural network, and why bigger is not automatically better</dc:title>
  <dc:subject>Machine Learning</dc:subject>
  <dc:creator>KLAi</dc:creator>
  <cp:lastModifiedBy>KLAi</cp:lastModifiedBy>
  <cp:revision>1</cp:revision>
  <dcterms:created xsi:type="dcterms:W3CDTF">2026-10-31T12:44:52Z</dcterms:created>
  <dcterms:modified xsi:type="dcterms:W3CDTF">2026-10-31T12:44:52Z</dcterms:modified>
</cp:coreProperties>
</file>