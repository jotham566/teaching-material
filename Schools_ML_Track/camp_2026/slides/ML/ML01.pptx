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20cbcc-2419-e3d5-483d-e39e211b657a}">
          <p14:sldIdLst>
            <p14:sldId id="256"/>
            <p14:sldId id="257"/>
            <p14:sldId id="258"/>
            <p14:sldId id="259"/>
            <p14:sldId id="260"/>
            <p14:sldId id="261"/>
            <p14:sldId id="262"/>
            <p14:sldId id="263"/>
          </p14:sldIdLst>
        </p14:section>
        <p14:section name="Block A" id="{4ad1bdf4-821c-0e3d-35be-2a88fb9b4ebe}">
          <p14:sldIdLst>
            <p14:sldId id="264"/>
            <p14:sldId id="265"/>
            <p14:sldId id="266"/>
            <p14:sldId id="267"/>
            <p14:sldId id="269"/>
            <p14:sldId id="270"/>
          </p14:sldIdLst>
        </p14:section>
        <p14:section name="Break" id="{cfea7d9a-ad4c-1d20-2676-ce8aa9234228}">
          <p14:sldIdLst>
            <p14:sldId id="268"/>
          </p14:sldIdLst>
        </p14:section>
        <p14:section name="Block A" id="{bca6c4bc-6ee4-5cd7-9a2f-07f8789861d3}">
          <p14:sldIdLst/>
        </p14:section>
        <p14:section name="Block B" id="{7275a8b9-d26f-a351-fcd9-1e0cbe7e91d9}">
          <p14:sldIdLst>
            <p14:sldId id="271"/>
            <p14:sldId id="272"/>
            <p14:sldId id="273"/>
            <p14:sldId id="274"/>
            <p14:sldId id="275"/>
          </p14:sldIdLst>
        </p14:section>
        <p14:section name="Make and close" id="{9c12d6c9-446c-ac1f-7431-34b0f0433ea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 and our topic is your first instruction and your first prediction.
By the end of today you will be able to run, save and reopen a notebook, and you can say what a prediction is using the rent example.
We will answer one question: Can a computer guess a rent after seeing 120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camp in one picture. On the left are one hundred and twenty homes. For each one we know the floor area and the rent. In the middle the computer draws a line through those dots. On the right a new home appears, fifty square metres, and we ask the line to guess its rent. That guess is a prediction. By the end of today you will have run it yourself, in your own notebook. You do not need to understand it yet. Session thirteen opens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file. A named container for your work on the laptop. Here is a way to see it. A paper file in a folder at school.
notebook. A page made of text cells that explain and code cells that run. A small example. An exercise book where the answers can run themselves.
code cell. A box where you type Python and press Shift+Enter to run it. Picture this. A calculator that sits inside your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output. What Python shows under a cell after it runs. You have seen this before. The answer a calculator shows after you press equals.
print. A ready-made instruction that shows a value on the screen. Reading a number out loud.
prediction. A number or label a computer guesses for something it has not seen yet. Think of a shop. A fundi estimating a job before measuring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 do this term happens in a notebook. It is a page made of boxes called cells. A text cell holds words, like a title or a note to yourself. A code cell holds instructions for Python. Click a code cell, press Shift and Enter together, and the answer appears underneath it.
Which part of this page can Python read, and which part is only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run anything, find your camp folder. Inside it you should see this notebook and a file called synthetic_homes.csv. A file is saved work with a name, and a folder is where files are kept together. Python looks for data files in the same folder as the notebook, so keep them side by side.
Open your folder now and check that both files are there. Put your hand up if one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instruction you will use is print. It shows something on the screen. Whatever you want shown goes inside the brackets. Words need quotation marks around them, so Hello, data comes out exactly as written. Three plus two has no quotation marks, so Python does the sum and shows five.
Write down what you expect under each cell before you press Shift and Enter. A guess that turns out wrong is useful, because it shows you what to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code with me before we run it.
Time to commit to an answer. Write on paper what you think these two lines will show.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first line shows Hello, data and the second shows 5. A notebook is a page of text cells and code cells. Shift+Enter runs a code cell and its output appears underneath. print is a ready-made instruction, and the brackets hold what it shows.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your first instruction. I have two questions for you.
Question one. What happens if you click a text cell and press Shift+Enter? Give it thirty seconds and then we will hear a few answers.
The answer is this. Nothing runs. A text cell only explains; only a code cell runs Python.
Question two. Why does Hello, data sit inside quotation marks while 3 + 2 does not? Talk it over with your neighbour for a minute.
Quotation marks tell Python the characters are text. Without them Python calculates.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Hello, data to your own nickname and run the cell again. Run it, then tell someone what you saw.
What you should find: The first line now shows your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prediction is an informed guess about something that has not happened or has not been measured. On the left we have homes whose rents we know. On the right is a new home of fifty square metres, and nobody has told us its rent. The computer studies the homes it knows, looks for a pattern between area and rent, and uses that pattern to guess.
Before we run the model, write your own guess for the rent of a fifty square metre home. We will compare it with the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grey dot is one home, placed by its area across the bottom and its rent up the side. Larger homes cost more, so the dots climb. The computer draws one straight line that runs as close as it can to all the dots.
To guess for a new home, we go up from fifty square metres until we hit the line, then across to the rent axis. That gold dot is the prediction: about three hundred and nine thousand shillings a month. These homes are invented, so the number tells us nothing about real 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has looked at 120 invented homes and learned how rent follows floor area. You do not need to understand it yet.
Your turn to guess. Before you run it, write the monthly rent in UGX you expect for a home of 50 square metres.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model estimates about UGX 309,260 a month. It drew a line through the 120 homes and read the rent at 50 square metres. Guessing a number from examples is called regression, and you will build one yourself in session 14. The homes are invented, so the estimate says nothing about real rents.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a ready-made prediction. I have three questions for you.
Question one. The home grows from 50 to 100 square metres. What do you expect the estimate to do? Talk it over with your neighbour for a minute.
It rises. A 50 square metre increase adds about UGX 150,000 here.
Question two. Is the estimate certain? Think about it for a moment, then tell the person next to you.
Here is how I would answer it. No. It is a guess from 120 invented homes and can be wrong for any real home.
Question three. Does this model know anything about Kampala? Have a go in your head first.
What I would say is this. No. It only knows the 120 invented rows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Change 50 to 100 and run the cell again. After you run it, say in one sentence what changed and how you checked.
You should see this. The estimate becomes about UGX 459,084.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code you just ran, with the jobs of each line marked on the left. The first two lines fetch the tools we need. The third line reads the homes file. The fourth line is where the learning happens: the computer fits a line to the homes. The fifth line asks that line for a guess at fifty square metres. The last line shows the answer.
In session thirteen we take this apart one job at a time. For now, notice that five jobs fit in six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ML01.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SyntaxError or invalid character. It means this: A quotation mark is curly, usually from copying out of a document. To fix it, retype the quote marks with the keyboard so they are straight.
The next one. You will see: ModuleNotFoundError: No module named 'sklearn'. It means this: this laptop is not using the prepared camp environment. To fix it, tell the instructor. Do not install anything yourself.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Can a computer guess a rent after seeing 120 homes?
Copy this sentence into your notebook and make it yours. A prediction is a guess for something not yet seen; the rent model guesses a number from 120 examples.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ML01  |  Your first instruction and your first prediction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Your first instruction and your first prediction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computer guess a rent after seeing 120 homes?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 of 24  |  Week 1, Python and a first prediction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computer guess a rent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after seeing 120 homes?</a:t>
            </a:r>
            <a:endParaRPr lang="en-US" sz="3600" dirty="0"/>
          </a:p>
        </p:txBody>
      </p:sp>
      <p:pic>
        <p:nvPicPr>
          <p:cNvPr id="3" name="Image 0" descr="Homes we know, a line learned from them, and a guess for a new hom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il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named container for your work on the laptop.</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paper file in a folder at school.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notebook">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notebook</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page made of text cells that explain and code cells that run.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exercise book where the answers can run themselves.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ode cel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code cell</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box where you type Python and press Shift+Enter to run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calculator that sits inside your page.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outpu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output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Python shows under a cell after it runs.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answer a calculator shows after you press equals.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in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print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ready-made instruction that shows a value on the screen.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a number out loud.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predic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prediction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or label a computer guesses for something it has not seen yet.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fundi estimating a job before measuring it.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notebook has text cells, code cells and output</a:t>
            </a:r>
            <a:endParaRPr lang="en-US" sz="3800" dirty="0"/>
          </a:p>
        </p:txBody>
      </p:sp>
      <p:pic>
        <p:nvPicPr>
          <p:cNvPr id="3" name="Image 0" descr="A notebook has text cells, code cells and outpu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cells hold words for people.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Code cells hold instructions for Python.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Shift and Enter runs the cell you clicked.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notebook needs its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data file in the same folder</a:t>
            </a:r>
            <a:endParaRPr lang="en-US" sz="3600" dirty="0"/>
          </a:p>
        </p:txBody>
      </p:sp>
      <p:pic>
        <p:nvPicPr>
          <p:cNvPr id="3" name="Image 0" descr="The notebook needs its data file in the same fold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file is saved work with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folder keeps files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notebook and the homes data in one folder.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print shows whatever sits inside its brackets</a:t>
            </a:r>
            <a:endParaRPr lang="en-US" sz="3800" dirty="0"/>
          </a:p>
        </p:txBody>
      </p:sp>
      <p:pic>
        <p:nvPicPr>
          <p:cNvPr id="3" name="Image 0" descr="print shows whatever sits inside its bracke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Words go between quotation marks.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sum with no quotation marks is worked out.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appears under the cell.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your first instruction</a:t>
            </a:r>
            <a:endParaRPr lang="en-US" sz="3800" dirty="0"/>
          </a:p>
        </p:txBody>
      </p:sp>
      <p:sp>
        <p:nvSpPr>
          <p:cNvPr id="3" name="Shape 1"/>
          <p:cNvSpPr/>
          <p:nvPr/>
        </p:nvSpPr>
        <p:spPr>
          <a:xfrm>
            <a:off x="640080" y="1645920"/>
            <a:ext cx="6035040" cy="1165352"/>
          </a:xfrm>
          <a:prstGeom prst="roundRect">
            <a:avLst>
              <a:gd name="adj" fmla="val 6277"/>
            </a:avLst>
          </a:prstGeom>
          <a:solidFill>
            <a:srgbClr val="111111"/>
          </a:solidFill>
          <a:ln/>
        </p:spPr>
      </p:sp>
      <p:sp>
        <p:nvSpPr>
          <p:cNvPr id="4" name="Text 2"/>
          <p:cNvSpPr txBox="1"/>
          <p:nvPr/>
        </p:nvSpPr>
        <p:spPr>
          <a:xfrm>
            <a:off x="841248" y="1847088"/>
            <a:ext cx="5632704" cy="7630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"Hello, data"</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print(3 + 2)</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on paper what you think these two lines will show.</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your first instruction</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Hello, data</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first line shows Hello, data and the second shows 5.</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 notebook is a page of text cells and code cells.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Shift+Enter runs a code cell and its output appears underneath.</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print is a ready-made instruction, and the brackets hold what it shows.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your first instruction</a:t>
            </a:r>
            <a:endParaRPr lang="en-US" sz="3800" dirty="0"/>
          </a:p>
        </p:txBody>
      </p:sp>
      <p:sp>
        <p:nvSpPr>
          <p:cNvPr id="3" name="Shape 1"/>
          <p:cNvSpPr/>
          <p:nvPr/>
        </p:nvSpPr>
        <p:spPr>
          <a:xfrm>
            <a:off x="7498080" y="1737360"/>
            <a:ext cx="4023360" cy="1033272"/>
          </a:xfrm>
          <a:prstGeom prst="roundRect">
            <a:avLst>
              <a:gd name="adj" fmla="val 7080"/>
            </a:avLst>
          </a:prstGeom>
          <a:solidFill>
            <a:srgbClr val="111111"/>
          </a:solidFill>
          <a:ln/>
        </p:spPr>
      </p:sp>
      <p:sp>
        <p:nvSpPr>
          <p:cNvPr id="4" name="Text 2"/>
          <p:cNvSpPr txBox="1"/>
          <p:nvPr/>
        </p:nvSpPr>
        <p:spPr>
          <a:xfrm>
            <a:off x="7699248" y="1938528"/>
            <a:ext cx="362102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happens if you click a text cell and press Shift+Enter?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Hello, data sit inside quotation marks while 3 + 2 does not?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Hello, data to your own nickname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033272"/>
          </a:xfrm>
          <a:prstGeom prst="roundRect">
            <a:avLst>
              <a:gd name="adj" fmla="val 7080"/>
            </a:avLst>
          </a:prstGeom>
          <a:solidFill>
            <a:srgbClr val="111111"/>
          </a:solidFill>
          <a:ln/>
        </p:spPr>
      </p:sp>
      <p:sp>
        <p:nvSpPr>
          <p:cNvPr id="5" name="Text 3"/>
          <p:cNvSpPr txBox="1"/>
          <p:nvPr/>
        </p:nvSpPr>
        <p:spPr>
          <a:xfrm>
            <a:off x="7424928" y="1938528"/>
            <a:ext cx="389534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prediction is a guess about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home we have not seen</a:t>
            </a:r>
            <a:endParaRPr lang="en-US" sz="3600" dirty="0"/>
          </a:p>
        </p:txBody>
      </p:sp>
      <p:pic>
        <p:nvPicPr>
          <p:cNvPr id="3" name="Image 0" descr="A prediction is a guess about a home we have not see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We know the rent of these homes.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new home has an area but no rent yet.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computer looks for a pattern to guess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computer draws a line through 120 homes</a:t>
            </a:r>
            <a:endParaRPr lang="en-US" sz="3800" dirty="0"/>
          </a:p>
        </p:txBody>
      </p:sp>
      <p:pic>
        <p:nvPicPr>
          <p:cNvPr id="3" name="Image 0" descr="The computer draws a line through 120 hom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grey dot is one home.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red line is the pattern the computer found.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gold dot is its guess for 50 square metres.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a ready-made prediction</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from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sklearn.linear_model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LinearRegression</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homes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"synthetic_homes.csv"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model = LinearRegression().fit(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homes[[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"area_m2"</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homes[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"rent_ugx"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pred = model.predict(pd.DataFrame({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"area_m2"</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[50]}))[0]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"Estimated rent for 50 square metres:"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round(pred))</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Before you run it, write the monthly rent in UGX you expect for a home of 50 square metres.</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a ready-made prediction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model estimates about UGX 309,260 a month.</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It drew a line through the 120 homes and read the rent at 50 square metres.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Guessing a number from examples is called regression, and you will build one yourself in session 14.</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a ready-made prediction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The home grows from 50 to 100 square metres. What do you expect the estimate to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Is the estimate certain?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Does this model know anything about Kampala?</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50 to 100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Six lines of code do five jobs</a:t>
            </a:r>
            <a:endParaRPr lang="en-US" sz="3800" dirty="0"/>
          </a:p>
        </p:txBody>
      </p:sp>
      <p:pic>
        <p:nvPicPr>
          <p:cNvPr id="3" name="Image 0" descr="Six lines of code do five job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 do not need to understand every word yet.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In a new code cell print your nickname and the result of 7 + 4. In another cell estimate the rent for 80 square metres. Save as ML01.ipynb, close it and reopen it. With the instructor, read AI_USE_POLICY.md: in weeks 1 to 6 all core work is your own, with no AI-generated solutions.</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ML01.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or invalid character</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quotation mark is curly, usually from copying out of a document.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Retype the quote marks with the keyboard so they are straight.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'sklearn'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This laptop is not using the prepared camp environment.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Tell the instructor. Do not install anything yourself.</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prediction is a guess for something not yet seen; the rent model guesses a number from 120 examples.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ML01 Your first instruction and your first prediction</dc:title>
  <dc:subject>Machine Learning</dc:subject>
  <dc:creator>KLAi</dc:creator>
  <cp:lastModifiedBy>KLAi</cp:lastModifiedBy>
  <cp:revision>1</cp:revision>
  <dcterms:created xsi:type="dcterms:W3CDTF">2026-10-31T12:26:26Z</dcterms:created>
  <dcterms:modified xsi:type="dcterms:W3CDTF">2026-10-31T12:26:26Z</dcterms:modified>
</cp:coreProperties>
</file>