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d0408ae-f608-7484-36b4-21a98d820db1}">
          <p14:sldIdLst>
            <p14:sldId id="256"/>
            <p14:sldId id="257"/>
            <p14:sldId id="258"/>
            <p14:sldId id="259"/>
            <p14:sldId id="260"/>
            <p14:sldId id="261"/>
            <p14:sldId id="262"/>
          </p14:sldIdLst>
        </p14:section>
        <p14:section name="Block A" id="{46ff7123-5cb2-1efc-f760-c16498845584}">
          <p14:sldIdLst>
            <p14:sldId id="263"/>
            <p14:sldId id="264"/>
            <p14:sldId id="265"/>
            <p14:sldId id="266"/>
            <p14:sldId id="268"/>
            <p14:sldId id="269"/>
            <p14:sldId id="270"/>
          </p14:sldIdLst>
        </p14:section>
        <p14:section name="Break" id="{5e96097d-6aaf-ba8f-d98e-fa7fe092e250}">
          <p14:sldIdLst>
            <p14:sldId id="267"/>
          </p14:sldIdLst>
        </p14:section>
        <p14:section name="Block A" id="{5ff18fcf-8e68-d621-7617-9b8cc500f835}">
          <p14:sldIdLst/>
        </p14:section>
        <p14:section name="Block B" id="{1e737f8a-b43d-2840-3a35-1905957da864}">
          <p14:sldIdLst>
            <p14:sldId id="271"/>
            <p14:sldId id="272"/>
            <p14:sldId id="273"/>
            <p14:sldId id="274"/>
            <p14:sldId id="275"/>
          </p14:sldIdLst>
        </p14:section>
        <p14:section name="Make and close" id="{07fc0693-28e9-bf6f-a22a-3e31b0ca73f0}">
          <p14:sldIdLst>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 see you. Today is session 16 and our topic is predicting a category with a decision tree.
By the end of today you will be able to train a small decision tree on iris, read its first question, and compare its accuracy with a baseline and with the hand rule from session 4.
We will answer one question: Does a tree that learned its questions beat my hand-written flower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small decision tree. It asks one question about the petal length. If the petal is short, the flower is a setosa. If not, it asks a second question about the petal width and decides between versicolor and virginica. A tree is a set of questions with yes or no answers. Today we write our own rule for the flowers, let a computer learn its own tree, and see which one does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3 hours go. Each bar is as long as the time we spend on that part.
First, 10 minutes. Recall. Then, 50 minutes. Block A. After that, 15 minutes. Break away from screens. Next, 50 minutes. Block B. Then, 40 minutes. Make. Then, 15 minutes. Exit ticket, save, and an individual check with each learner.
Notice how much of the time is yours. You listen for a short while and then you do. That is on purpose, because you learn this by doing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words for today. Listen for the picture that goes with each one.
classification. Predicting a category instead of a number. Picture this. Deciding whether a fruit is a mango or an orange.
decision tree. A chain of yes or no questions about the features that ends in a category. You have seen this before. A flow chart that sorts the flowers.
class label. The name of a category; its code number is only an identifier. The species name on a seed packet.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words to know before we start.
accuracy. The share of predictions that are right. Think of a shop. Marks scored out of the total.
majority baseline. A model that always names the most common category. Imagine it like this. Always answering the most popular option.
depth. How many questions in a row the tree may ask. An example from everyday life. How many forks a path may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the range of petal lengths for each species. Setosa sits alone at the small end. Versicolor and virginica overlap in the middle. A single cut cannot separate all three.
Where would you place your two cuts?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is easy. Count how many answers were right, and divide by how many answers there were. Nine out of ten gives zero point nine, which is ninety percent.
It is the same proportion idea you used on the shop sales.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the 150 iris flowers, train a tree that may ask two questions in a row, and draw it.
This is the part where you decide. Predict whether the tree's accuracy will be above 85% and whether the majority baseline will be above 55%. Write it on paper. It does not have to be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see what happens. Match each line of the output with the line of code that made it.
The tree scores above 0.85 and the majority baseline scores about a third, because the three species are equally common. plot_tree draws the questions: the top box asks about a petal measurement, the same kind of question as your hand rule. The classes are coded 0, 1 and 2 for setosa, versicolor and virginica. The codes name categories, so species 2 is not twice species 1. Accuracy is correct predictions divided by all predictions.
Which line of the output matches which line of the code? Point to each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train a tree and draw it. I have three questions for you.
Question one. What does the top box of the drawn tree ask? Give it thirty seconds and then we will hear a few answers.
What I would say is this. A yes or no question about a petal measurement. Read it aloud.
Question two. Why does the baseline score near one third? Talk it over with your neighbour for a minute.
Let me answer it. Each species has about a third of the flowers, so always naming one is right about a third of the time.
Question three. Why is species code 2 not twice species code 1? Think about it for a moment, then tell the person next to you.
The answer is this. The codes are labels. They carry no amounts.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one thing and watch what happens. Change max_depth to 1 and run again. Then explain to your neighbour what the change did.
The result: The tree has one question and scores lower, about two thirds.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time. 15 minutes away from your screens. Stand up, drink some water and tell someone what you guessed in the first half.
When we come back we start the second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own rule makes two cuts on the petal length and gives each zone one species. It is simple to explain. Wrong answers hide where two species overlap.
On all one hundred and fifty flowers this rule is wrong seven times, an accuracy of zero point nine five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tree also makes two cuts, but one is on petal length and one is on petal width. The computer searched for cuts that separate the species best.
This tree was fitted on all one hundred and fifty flowers and is wrong six times, an accuracy of zero point nine six. Where does it do better than my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Inside the model each species has a number: zero, one or two. The numbers are only name tags. Two is not bigger than zero in any useful sense.
When you read results, translate the codes back into species names so that other people can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 your session 4 rule on all 150 flowers. Petal length is column 2 of the data.
Make a prediction. Predict whether your hand rule will score above or below the tree. Put it on paper first. We will check it together in a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it now. Match each line of the output with the line of code that made it.
The hand rule scores above 0.9 on all 150 flowers. Each comparison gives True or False for every flower and astype(int) turns them into 1 and 0. Adding the two gives 0 for setosa, 1 for versicolor and 2 for virginica. Your rule and the tree use the same idea. The tree chose its question and cut-off by itself, and you chose yours by looking at eight flowers.
Keep your guess. We use it in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back to the hand rule. I have two questions for you.
Question one. Why does the hand rule use only petal length? Talk it over with your neighbour for a minute.
Let me answer it. That was the one measurement you looked at. The tree may use any of the four.
Question two. Whose score is fairer: the hand rule on all 150 flowers, or the tree on the 38 held-out flowers of a 112 and 38 split? Think about it for a moment, then tell the person next to you.
The answer is this. Neither is exactly fair. Your rule was designed with a few of these flowers in view, and the tree's test set is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one small change. Change 4.8 to 5.0 in the rule and score it again. When you have run it, tell your neighbour what changed and how you know.
Here is what happens. The score changes a little. Check whether it rises or falls.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species are equally common, so a plain guess of one species is right about one time in three. Any tree has to beat that to be worth using.
A score of seventy percent sounds good, but it only means something when we know what a lazy guess would have scored.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you do the real work yourself. Start with the first step. If you get stuck for a few minutes, read your error message, check the error card, and then ask me.
Save it as ML16. I will come round to each of you and ask what you changed and how you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are likely to go wrong today. It helps to know them before they happen.
This is the first one. You will see: ValueError: could not convert string to float. It means this: A category name was passed where numbers are needed. To fix it, use iris.target for the labels and iris.data for the inputs.
The next one. You will see: NameError: name 'iris' is not defined. It means this: the cell that loads iris has not run. To fix it, Run the cells in order from the top.
If you meet one of these, fix it and carry on. It happens to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finish, go back to the question we began with: Does a tree that learned its questions beat my hand-written flower rule?
Copy this sentence into your notebook and make it yours. A tree learns its questions from examples and is compared against a baseline and against a rule I wrote.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ML16  |  Predicting a category with a decision tree</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1.png"/><Relationship Id="rId3" Type="http://schemas.openxmlformats.org/officeDocument/2006/relationships/slideLayout" Target="../slideLayouts/slideLayout2.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Predicting a category with a decision tree</a:t>
            </a:r>
            <a:endParaRPr lang="en-US" sz="5600" dirty="0"/>
          </a:p>
        </p:txBody>
      </p:sp>
      <p:sp>
        <p:nvSpPr>
          <p:cNvPr id="3" name="Text 1"/>
          <p:cNvSpPr txBox="1"/>
          <p:nvPr/>
        </p:nvSpPr>
        <p:spPr>
          <a:xfrm>
            <a:off x="640080" y="417068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Does a tree that learned its questions beat my hand-written flower rule?</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Machine Learning  |  Session 16 of 24  |  Week 6, Trees and fair tests</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Does a tree that learned its questions</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beat my hand-written flower rule?</a:t>
            </a:r>
            <a:endParaRPr lang="en-US" sz="3600" dirty="0"/>
          </a:p>
        </p:txBody>
      </p:sp>
      <p:pic>
        <p:nvPicPr>
          <p:cNvPr id="3" name="Image 0" descr="A decision tree for iris flowers with two questions and three species at the leaves">    </p:cNvPr>
          <p:cNvPicPr>
            <a:picLocks noChangeAspect="1"/>
          </p:cNvPicPr>
          <p:nvPr/>
        </p:nvPicPr>
        <p:blipFill>
          <a:blip r:embed="rId1"/>
          <a:stretch>
            <a:fillRect/>
          </a:stretch>
        </p:blipFill>
        <p:spPr>
          <a:xfrm>
            <a:off x="640080" y="1691640"/>
            <a:ext cx="10881360"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Three hours, mostly doing</a:t>
            </a:r>
            <a:endParaRPr lang="en-US" sz="3800" dirty="0"/>
          </a:p>
        </p:txBody>
      </p:sp>
      <p:pic>
        <p:nvPicPr>
          <p:cNvPr id="3" name="Image 0" descr="The plan for the session: start time, minutes and what we do">    </p:cNvPr>
          <p:cNvPicPr>
            <a:picLocks noChangeAspect="1"/>
          </p:cNvPicPr>
          <p:nvPr/>
        </p:nvPicPr>
        <p:blipFill>
          <a:blip r:embed="rId1"/>
          <a:stretch>
            <a:fillRect/>
          </a:stretch>
        </p:blipFill>
        <p:spPr>
          <a:xfrm>
            <a:off x="640080" y="1600200"/>
            <a:ext cx="10881360" cy="4133088"/>
          </a:xfrm>
          <a:prstGeom prst="rect">
            <a:avLst/>
          </a:prstGeom>
        </p:spPr>
      </p:pic>
      <p:sp>
        <p:nvSpPr>
          <p:cNvPr id="4" name="Text 1"/>
          <p:cNvSpPr txBox="1"/>
          <p:nvPr/>
        </p:nvSpPr>
        <p:spPr>
          <a:xfrm>
            <a:off x="640080" y="5852160"/>
            <a:ext cx="10881360" cy="45720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Most of our time is spent doing, in small steps, with a guess before every run.</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(1 of 2)</a:t>
            </a:r>
            <a:endParaRPr lang="en-US" sz="3800" dirty="0"/>
          </a:p>
        </p:txBody>
      </p:sp>
      <p:pic>
        <p:nvPicPr>
          <p:cNvPr id="3" name="Image 0" descr="classification">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3480"/>
              </a:lnSpc>
              <a:buNone/>
            </a:pPr>
            <a:r>
              <a:rPr lang="en-US" sz="2900" b="1" dirty="0">
                <a:solidFill>
                  <a:srgbClr val="111111"/>
                </a:solidFill>
                <a:latin typeface="Lato" pitchFamily="34" charset="0"/>
                <a:ea typeface="Lato" pitchFamily="34" charset="-122"/>
                <a:cs typeface="Lato" pitchFamily="34" charset="-120"/>
              </a:rPr>
              <a:t>classification</a:t>
            </a:r>
            <a:endParaRPr lang="en-US" sz="29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Predicting a category instead of a number.</a:t>
            </a:r>
            <a:endParaRPr lang="en-US" sz="2200" dirty="0"/>
          </a:p>
        </p:txBody>
      </p:sp>
      <p:sp>
        <p:nvSpPr>
          <p:cNvPr id="6" name="Text 3"/>
          <p:cNvSpPr txBox="1"/>
          <p:nvPr/>
        </p:nvSpPr>
        <p:spPr>
          <a:xfrm>
            <a:off x="5120640" y="220980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Deciding whether a fruit is a mango or an orange.</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decision tree">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3600"/>
              </a:lnSpc>
              <a:buNone/>
            </a:pPr>
            <a:r>
              <a:rPr lang="en-US" sz="3000" b="1" dirty="0">
                <a:solidFill>
                  <a:srgbClr val="111111"/>
                </a:solidFill>
                <a:latin typeface="Lato" pitchFamily="34" charset="0"/>
                <a:ea typeface="Lato" pitchFamily="34" charset="-122"/>
                <a:cs typeface="Lato" pitchFamily="34" charset="-120"/>
              </a:rPr>
              <a:t>decision tree</a:t>
            </a:r>
            <a:endParaRPr lang="en-US" sz="30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chain of yes or no questions about the features that ends in a category.</a:t>
            </a:r>
            <a:endParaRPr lang="en-US" sz="2200" dirty="0"/>
          </a:p>
        </p:txBody>
      </p:sp>
      <p:sp>
        <p:nvSpPr>
          <p:cNvPr id="11" name="Text 7"/>
          <p:cNvSpPr txBox="1"/>
          <p:nvPr/>
        </p:nvSpPr>
        <p:spPr>
          <a:xfrm>
            <a:off x="5120640" y="402640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flow chart that sorts the flowers.</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class label">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3840"/>
              </a:lnSpc>
              <a:buNone/>
            </a:pPr>
            <a:r>
              <a:rPr lang="en-US" sz="3200" b="1" dirty="0">
                <a:solidFill>
                  <a:srgbClr val="111111"/>
                </a:solidFill>
                <a:latin typeface="Lato" pitchFamily="34" charset="0"/>
                <a:ea typeface="Lato" pitchFamily="34" charset="-122"/>
                <a:cs typeface="Lato" pitchFamily="34" charset="-120"/>
              </a:rPr>
              <a:t>class label</a:t>
            </a:r>
            <a:endParaRPr lang="en-US" sz="32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The name of a category; its code number is only an identifier.</a:t>
            </a:r>
            <a:endParaRPr lang="en-US" sz="2200" dirty="0"/>
          </a:p>
        </p:txBody>
      </p:sp>
      <p:sp>
        <p:nvSpPr>
          <p:cNvPr id="16" name="Text 11"/>
          <p:cNvSpPr txBox="1"/>
          <p:nvPr/>
        </p:nvSpPr>
        <p:spPr>
          <a:xfrm>
            <a:off x="5120640" y="550773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species name on a seed packet.</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(2 of 2)</a:t>
            </a:r>
            <a:endParaRPr lang="en-US" sz="3800" dirty="0"/>
          </a:p>
        </p:txBody>
      </p:sp>
      <p:pic>
        <p:nvPicPr>
          <p:cNvPr id="3" name="Image 0" descr="accuracy">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accuracy</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The share of predictions that are right.</a:t>
            </a:r>
            <a:endParaRPr lang="en-US" sz="2200" dirty="0"/>
          </a:p>
        </p:txBody>
      </p:sp>
      <p:sp>
        <p:nvSpPr>
          <p:cNvPr id="6" name="Text 3"/>
          <p:cNvSpPr txBox="1"/>
          <p:nvPr/>
        </p:nvSpPr>
        <p:spPr>
          <a:xfrm>
            <a:off x="5120640" y="220980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Marks scored out of the total.</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majority baseline">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3000"/>
              </a:lnSpc>
              <a:buNone/>
            </a:pPr>
            <a:r>
              <a:rPr lang="en-US" sz="2500" b="1" dirty="0">
                <a:solidFill>
                  <a:srgbClr val="111111"/>
                </a:solidFill>
                <a:latin typeface="Lato" pitchFamily="34" charset="0"/>
                <a:ea typeface="Lato" pitchFamily="34" charset="-122"/>
                <a:cs typeface="Lato" pitchFamily="34" charset="-120"/>
              </a:rPr>
              <a:t>majority baseline</a:t>
            </a:r>
            <a:endParaRPr lang="en-US" sz="25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model that always names the most common category.</a:t>
            </a:r>
            <a:endParaRPr lang="en-US" sz="2200" dirty="0"/>
          </a:p>
        </p:txBody>
      </p:sp>
      <p:sp>
        <p:nvSpPr>
          <p:cNvPr id="11" name="Text 7"/>
          <p:cNvSpPr txBox="1"/>
          <p:nvPr/>
        </p:nvSpPr>
        <p:spPr>
          <a:xfrm>
            <a:off x="5120640" y="402640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Always answering the most popular option.</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depth">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depth</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How many questions in a row the tree may ask.</a:t>
            </a:r>
            <a:endParaRPr lang="en-US" sz="2200" dirty="0"/>
          </a:p>
        </p:txBody>
      </p:sp>
      <p:sp>
        <p:nvSpPr>
          <p:cNvPr id="16" name="Text 11"/>
          <p:cNvSpPr txBox="1"/>
          <p:nvPr/>
        </p:nvSpPr>
        <p:spPr>
          <a:xfrm>
            <a:off x="5120640" y="517245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How many forks a path may take.</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Species overlap in petal length, so one cut fails</a:t>
            </a:r>
            <a:endParaRPr lang="en-US" sz="3800" dirty="0"/>
          </a:p>
        </p:txBody>
      </p:sp>
      <p:pic>
        <p:nvPicPr>
          <p:cNvPr id="3" name="Image 0" descr="Species overlap in petal length, so one cut fails">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Setosa is clearly small. Versicolor and virginica overlap. A good rule needs two cuts.</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700" b="1" dirty="0">
                <a:solidFill>
                  <a:srgbClr val="111111"/>
                </a:solidFill>
                <a:latin typeface="Lato" pitchFamily="34" charset="0"/>
                <a:ea typeface="Lato" pitchFamily="34" charset="-122"/>
                <a:cs typeface="Lato" pitchFamily="34" charset="-120"/>
              </a:rPr>
              <a:t>Accuracy counts right answers out of all answers</a:t>
            </a:r>
            <a:endParaRPr lang="en-US" sz="3700" dirty="0"/>
          </a:p>
        </p:txBody>
      </p:sp>
      <p:pic>
        <p:nvPicPr>
          <p:cNvPr id="3" name="Image 0" descr="Accuracy counts right answers out of all answers">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Nine right out of ten.</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Nine divided by ten is 0.9.</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As a percentage, that is 90.</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Train a tree and draw it</a:t>
            </a:r>
            <a:endParaRPr lang="en-US" sz="3800" dirty="0"/>
          </a:p>
        </p:txBody>
      </p:sp>
      <p:sp>
        <p:nvSpPr>
          <p:cNvPr id="3" name="Text 1"/>
          <p:cNvSpPr txBox="1"/>
          <p:nvPr/>
        </p:nvSpPr>
        <p:spPr>
          <a:xfrm>
            <a:off x="640080" y="1737360"/>
            <a:ext cx="6766560" cy="4114800"/>
          </a:xfrm>
          <a:prstGeom prst="rect">
            <a:avLst/>
          </a:prstGeom>
          <a:noFill/>
          <a:ln/>
        </p:spPr>
        <p:txBody>
          <a:bodyPr wrap="square" lIns="0" tIns="0" rIns="0" bIns="0" rtlCol="0" anchor="t"/>
          <a:lstStyle/>
          <a:p>
            <a:pPr algn="l" indent="0" marL="0">
              <a:lnSpc>
                <a:spcPts val="3840"/>
              </a:lnSpc>
              <a:spcAft>
                <a:spcPts val="2160"/>
              </a:spcAft>
              <a:buNone/>
            </a:pPr>
            <a:r>
              <a:rPr lang="en-US" sz="3200" dirty="0">
                <a:solidFill>
                  <a:srgbClr val="111111"/>
                </a:solidFill>
                <a:latin typeface="Lato" pitchFamily="34" charset="0"/>
                <a:ea typeface="Lato" pitchFamily="34" charset="-122"/>
                <a:cs typeface="Lato" pitchFamily="34" charset="-120"/>
              </a:rPr>
              <a:t>Predict whether the tree's accuracy will be above 85% and whether the majority baseline will be above 55%.</a:t>
            </a:r>
            <a:endParaRPr lang="en-US" sz="3200" dirty="0"/>
          </a:p>
          <a:p>
            <a:pPr algn="l" indent="0" marL="0">
              <a:lnSpc>
                <a:spcPts val="3840"/>
              </a:lnSpc>
              <a:spcAft>
                <a:spcPts val="2160"/>
              </a:spcAft>
              <a:buNone/>
            </a:pPr>
            <a:r>
              <a:rPr lang="en-US" sz="3200" dirty="0">
                <a:solidFill>
                  <a:srgbClr val="111111"/>
                </a:solidFill>
                <a:latin typeface="Lato" pitchFamily="34" charset="0"/>
                <a:ea typeface="Lato" pitchFamily="34" charset="-122"/>
                <a:cs typeface="Lato" pitchFamily="34" charset="-120"/>
              </a:rPr>
              <a:t>Write your guess on paper before we run it.</a:t>
            </a:r>
            <a:endParaRPr lang="en-US" sz="3200" dirty="0"/>
          </a:p>
        </p:txBody>
      </p:sp>
      <p:pic>
        <p:nvPicPr>
          <p:cNvPr id="4" name="Image 0" descr="A page and a pen">    </p:cNvPr>
          <p:cNvPicPr>
            <a:picLocks noChangeAspect="1"/>
          </p:cNvPicPr>
          <p:nvPr/>
        </p:nvPicPr>
        <p:blipFill>
          <a:blip r:embed="rId1"/>
          <a:stretch>
            <a:fillRect/>
          </a:stretch>
        </p:blipFill>
        <p:spPr>
          <a:xfrm>
            <a:off x="8138160" y="1828800"/>
            <a:ext cx="3291840" cy="310896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Train a tree and draw it</a:t>
            </a:r>
            <a:endParaRPr lang="en-US" sz="3800" dirty="0"/>
          </a:p>
        </p:txBody>
      </p:sp>
      <p:sp>
        <p:nvSpPr>
          <p:cNvPr id="3" name="Text 1"/>
          <p:cNvSpPr txBox="1"/>
          <p:nvPr/>
        </p:nvSpPr>
        <p:spPr>
          <a:xfrm>
            <a:off x="640080" y="1737360"/>
            <a:ext cx="7498080" cy="4389120"/>
          </a:xfrm>
          <a:prstGeom prst="rect">
            <a:avLst/>
          </a:prstGeom>
          <a:noFill/>
          <a:ln/>
        </p:spPr>
        <p:txBody>
          <a:bodyPr wrap="square" lIns="0" tIns="0" rIns="0" bIns="0" rtlCol="0" anchor="t"/>
          <a:lstStyle/>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The tree scores above 0.85 and the majority baseline scores about a third, because the three species are equally common.</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plot_tree draws the questions: the top box asks about a petal measurement, the same kind of question as your hand rule.</a:t>
            </a:r>
            <a:endParaRPr lang="en-US" sz="3000" dirty="0"/>
          </a:p>
        </p:txBody>
      </p:sp>
      <p:pic>
        <p:nvPicPr>
          <p:cNvPr id="4" name="Image 0" descr="Compare with your guess">    </p:cNvPr>
          <p:cNvPicPr>
            <a:picLocks noChangeAspect="1"/>
          </p:cNvPicPr>
          <p:nvPr/>
        </p:nvPicPr>
        <p:blipFill>
          <a:blip r:embed="rId1"/>
          <a:stretch>
            <a:fillRect/>
          </a:stretch>
        </p:blipFill>
        <p:spPr>
          <a:xfrm>
            <a:off x="8778240" y="2194560"/>
            <a:ext cx="2377440" cy="23774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Train a tree and draw it</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What does the top box of the drawn tree ask?</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Why does the baseline score near one third?</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3.  Why is species code 2 not twice species code 1?</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Change max_depth to 1 and run again.</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400" b="1" dirty="0">
                <a:solidFill>
                  <a:srgbClr val="FFFFFF"/>
                </a:solidFill>
                <a:latin typeface="Lato" pitchFamily="34" charset="0"/>
                <a:ea typeface="Lato" pitchFamily="34" charset="-122"/>
                <a:cs typeface="Lato" pitchFamily="34" charset="-120"/>
              </a:rPr>
              <a:t>Break</a:t>
            </a:r>
            <a:endParaRPr lang="en-US" sz="5400" dirty="0"/>
          </a:p>
        </p:txBody>
      </p:sp>
      <p:sp>
        <p:nvSpPr>
          <p:cNvPr id="3" name="Text 1"/>
          <p:cNvSpPr txBox="1"/>
          <p:nvPr/>
        </p:nvSpPr>
        <p:spPr>
          <a:xfrm>
            <a:off x="640080" y="3154680"/>
            <a:ext cx="6858000" cy="914400"/>
          </a:xfrm>
          <a:prstGeom prst="rect">
            <a:avLst/>
          </a:prstGeom>
          <a:noFill/>
          <a:ln/>
        </p:spPr>
        <p:txBody>
          <a:bodyPr wrap="square" lIns="0" tIns="0" rIns="0" bIns="0" rtlCol="0" anchor="t"/>
          <a:lstStyle/>
          <a:p>
            <a:pPr algn="l" indent="0" marL="0">
              <a:lnSpc>
                <a:spcPts val="4080"/>
              </a:lnSpc>
              <a:buNone/>
            </a:pPr>
            <a:r>
              <a:rPr lang="en-US" sz="3400" b="1" dirty="0">
                <a:solidFill>
                  <a:srgbClr val="FFFFFF"/>
                </a:solidFill>
                <a:latin typeface="Lato" pitchFamily="34" charset="0"/>
                <a:ea typeface="Lato" pitchFamily="34" charset="-122"/>
                <a:cs typeface="Lato" pitchFamily="34" charset="-120"/>
              </a:rPr>
              <a:t>15 minutes away from your screen</a:t>
            </a:r>
            <a:endParaRPr lang="en-US" sz="3400" dirty="0"/>
          </a:p>
        </p:txBody>
      </p:sp>
      <p:sp>
        <p:nvSpPr>
          <p:cNvPr id="4" name="Text 2"/>
          <p:cNvSpPr txBox="1"/>
          <p:nvPr/>
        </p:nvSpPr>
        <p:spPr>
          <a:xfrm>
            <a:off x="640080" y="4206240"/>
            <a:ext cx="6400800" cy="1463040"/>
          </a:xfrm>
          <a:prstGeom prst="rect">
            <a:avLst/>
          </a:prstGeom>
          <a:noFill/>
          <a:ln/>
        </p:spPr>
        <p:txBody>
          <a:bodyPr wrap="square" lIns="0" tIns="0" rIns="0" bIns="0" rtlCol="0" anchor="t"/>
          <a:lstStyle/>
          <a:p>
            <a:pPr algn="l" indent="0" marL="0">
              <a:lnSpc>
                <a:spcPts val="3000"/>
              </a:lnSpc>
              <a:buNone/>
            </a:pPr>
            <a:r>
              <a:rPr lang="en-US" sz="2400" dirty="0">
                <a:solidFill>
                  <a:srgbClr val="D8D8D8"/>
                </a:solidFill>
                <a:latin typeface="Lato" pitchFamily="34" charset="0"/>
                <a:ea typeface="Lato" pitchFamily="34" charset="-122"/>
                <a:cs typeface="Lato" pitchFamily="34" charset="-120"/>
              </a:rPr>
              <a:t>Stand up. Drink some water. Tell someone what you guessed in the first half.</a:t>
            </a:r>
            <a:endParaRPr lang="en-US" sz="2400" dirty="0"/>
          </a:p>
        </p:txBody>
      </p:sp>
      <p:pic>
        <p:nvPicPr>
          <p:cNvPr id="5" name="Image 0" descr="A clock">    </p:cNvPr>
          <p:cNvPicPr>
            <a:picLocks noChangeAspect="1"/>
          </p:cNvPicPr>
          <p:nvPr/>
        </p:nvPicPr>
        <p:blipFill>
          <a:blip r:embed="rId1"/>
          <a:stretch>
            <a:fillRect/>
          </a:stretch>
        </p:blipFill>
        <p:spPr>
          <a:xfrm>
            <a:off x="8321040" y="2743200"/>
            <a:ext cx="2926080" cy="29260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My hand rule cuts the flowers into three zones</a:t>
            </a:r>
            <a:endParaRPr lang="en-US" sz="3800" dirty="0"/>
          </a:p>
        </p:txBody>
      </p:sp>
      <p:pic>
        <p:nvPicPr>
          <p:cNvPr id="3" name="Image 0" descr="My hand rule cuts the flowers into three zones">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Two cuts on petal length.</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Each zone gets one species.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Mistakes sit where the species overlap.</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The tree cuts on length and on width</a:t>
            </a:r>
            <a:endParaRPr lang="en-US" sz="3800" dirty="0"/>
          </a:p>
        </p:txBody>
      </p:sp>
      <p:pic>
        <p:nvPicPr>
          <p:cNvPr id="3" name="Image 0" descr="The tree cuts on length and on width">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One cut on length, one on width.</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zones are boxes.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computer chose the cuts itself.</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The model returns codes</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that we translate to names</a:t>
            </a:r>
            <a:endParaRPr lang="en-US" sz="3600" dirty="0"/>
          </a:p>
        </p:txBody>
      </p:sp>
      <p:pic>
        <p:nvPicPr>
          <p:cNvPr id="3" name="Image 0" descr="The model returns codes that we translate to names">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model works with codes 0, 1 and 2.</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 code is only a name tag.</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Translate it back to a species.</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Back to the hand rule</a:t>
            </a:r>
            <a:endParaRPr lang="en-US" sz="3800" dirty="0"/>
          </a:p>
        </p:txBody>
      </p:sp>
      <p:sp>
        <p:nvSpPr>
          <p:cNvPr id="3" name="Shape 1"/>
          <p:cNvSpPr/>
          <p:nvPr/>
        </p:nvSpPr>
        <p:spPr>
          <a:xfrm>
            <a:off x="640080" y="1645920"/>
            <a:ext cx="10881360" cy="3344672"/>
          </a:xfrm>
          <a:prstGeom prst="roundRect">
            <a:avLst>
              <a:gd name="adj" fmla="val 2187"/>
            </a:avLst>
          </a:prstGeom>
          <a:solidFill>
            <a:srgbClr val="111111"/>
          </a:solidFill>
          <a:ln/>
        </p:spPr>
      </p:sp>
      <p:sp>
        <p:nvSpPr>
          <p:cNvPr id="4" name="Text 2"/>
          <p:cNvSpPr txBox="1"/>
          <p:nvPr/>
        </p:nvSpPr>
        <p:spPr>
          <a:xfrm>
            <a:off x="841248" y="1847088"/>
            <a:ext cx="10479024" cy="2942336"/>
          </a:xfrm>
          <a:prstGeom prst="rect">
            <a:avLst/>
          </a:prstGeom>
          <a:noFill/>
          <a:ln/>
        </p:spPr>
        <p:txBody>
          <a:bodyPr wrap="square" lIns="0" tIns="0" rIns="0" bIns="0" rtlCol="0" anchor="t"/>
          <a:lstStyle/>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lengths = iris.data[:, 2]</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guess = (</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(lengths &gt;= 2.5)</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.astype(int) + (lengths &gt;= 4.8)</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.astype(int)</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hand_acc = (guess == iris.target).mean()</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print(round(hand_acc, 3))</a:t>
            </a:r>
            <a:endParaRPr lang="en-US" sz="2200" dirty="0"/>
          </a:p>
        </p:txBody>
      </p:sp>
      <p:sp>
        <p:nvSpPr>
          <p:cNvPr id="5" name="Text 3"/>
          <p:cNvSpPr txBox="1"/>
          <p:nvPr/>
        </p:nvSpPr>
        <p:spPr>
          <a:xfrm>
            <a:off x="640080" y="5173472"/>
            <a:ext cx="8046720" cy="1090168"/>
          </a:xfrm>
          <a:prstGeom prst="rect">
            <a:avLst/>
          </a:prstGeom>
          <a:noFill/>
          <a:ln/>
        </p:spPr>
        <p:txBody>
          <a:bodyPr wrap="square" lIns="0" tIns="0" rIns="0" bIns="0" rtlCol="0" anchor="t"/>
          <a:lstStyle/>
          <a:p>
            <a:pPr algn="l" indent="0" marL="0">
              <a:lnSpc>
                <a:spcPts val="2400"/>
              </a:lnSpc>
              <a:spcAft>
                <a:spcPts val="1010"/>
              </a:spcAft>
              <a:buNone/>
            </a:pPr>
            <a:r>
              <a:rPr lang="en-US" sz="2000" dirty="0">
                <a:solidFill>
                  <a:srgbClr val="111111"/>
                </a:solidFill>
                <a:latin typeface="Lato" pitchFamily="34" charset="0"/>
                <a:ea typeface="Lato" pitchFamily="34" charset="-122"/>
                <a:cs typeface="Lato" pitchFamily="34" charset="-120"/>
              </a:rPr>
              <a:t>Predict whether your hand rule will score above or below the tree.</a:t>
            </a:r>
            <a:endParaRPr lang="en-US" sz="2000" dirty="0"/>
          </a:p>
          <a:p>
            <a:pPr algn="l" indent="0" marL="0">
              <a:lnSpc>
                <a:spcPts val="2400"/>
              </a:lnSpc>
              <a:spcAft>
                <a:spcPts val="1010"/>
              </a:spcAft>
              <a:buNone/>
            </a:pPr>
            <a:r>
              <a:rPr lang="en-US" sz="2000" dirty="0">
                <a:solidFill>
                  <a:srgbClr val="111111"/>
                </a:solidFill>
                <a:latin typeface="Lato" pitchFamily="34" charset="0"/>
                <a:ea typeface="Lato" pitchFamily="34" charset="-122"/>
                <a:cs typeface="Lato" pitchFamily="34" charset="-120"/>
              </a:rPr>
              <a:t>Write your guess on paper before we run it.</a:t>
            </a:r>
            <a:endParaRPr lang="en-US" sz="2000" dirty="0"/>
          </a:p>
        </p:txBody>
      </p:sp>
      <p:pic>
        <p:nvPicPr>
          <p:cNvPr id="6" name="Image 0" descr="A page and a pen">    </p:cNvPr>
          <p:cNvPicPr>
            <a:picLocks noChangeAspect="1"/>
          </p:cNvPicPr>
          <p:nvPr/>
        </p:nvPicPr>
        <p:blipFill>
          <a:blip r:embed="rId1"/>
          <a:stretch>
            <a:fillRect/>
          </a:stretch>
        </p:blipFill>
        <p:spPr>
          <a:xfrm>
            <a:off x="10241280" y="5175758"/>
            <a:ext cx="1188720" cy="1046988"/>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Back to the hand rule</a:t>
            </a:r>
            <a:endParaRPr lang="en-US" sz="3800" dirty="0"/>
          </a:p>
        </p:txBody>
      </p:sp>
      <p:sp>
        <p:nvSpPr>
          <p:cNvPr id="3" name="Text 1"/>
          <p:cNvSpPr txBox="1"/>
          <p:nvPr/>
        </p:nvSpPr>
        <p:spPr>
          <a:xfrm>
            <a:off x="640080" y="1737360"/>
            <a:ext cx="7498080" cy="4389120"/>
          </a:xfrm>
          <a:prstGeom prst="rect">
            <a:avLst/>
          </a:prstGeom>
          <a:noFill/>
          <a:ln/>
        </p:spPr>
        <p:txBody>
          <a:bodyPr wrap="square" lIns="0" tIns="0" rIns="0" bIns="0" rtlCol="0" anchor="t"/>
          <a:lstStyle/>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The hand rule scores above 0.9 on all 150 flowers.</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Each comparison gives True or False for every flower and astype(int) turns them into 1 and 0.</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Adding the two gives 0 for setosa, 1 for versicolor and 2 for virginica.</a:t>
            </a:r>
            <a:endParaRPr lang="en-US" sz="3000" dirty="0"/>
          </a:p>
        </p:txBody>
      </p:sp>
      <p:pic>
        <p:nvPicPr>
          <p:cNvPr id="4" name="Image 0" descr="Compare with your guess">    </p:cNvPr>
          <p:cNvPicPr>
            <a:picLocks noChangeAspect="1"/>
          </p:cNvPicPr>
          <p:nvPr/>
        </p:nvPicPr>
        <p:blipFill>
          <a:blip r:embed="rId1"/>
          <a:stretch>
            <a:fillRect/>
          </a:stretch>
        </p:blipFill>
        <p:spPr>
          <a:xfrm>
            <a:off x="8778240" y="2194560"/>
            <a:ext cx="2377440" cy="23774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Back to the hand rule</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Why does the hand rule use only petal length?</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Whose score is fairer: the hand rule on all 150 flowers, or the tree on the 38 held-out flowers of a 112 and 38 split?</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Change 4.8 to 5.0 in the rule and score it again.</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Guessing one species is right one time in three</a:t>
            </a:r>
            <a:endParaRPr lang="en-US" sz="3800" dirty="0"/>
          </a:p>
        </p:txBody>
      </p:sp>
      <p:pic>
        <p:nvPicPr>
          <p:cNvPr id="3" name="Image 0" descr="Guessing one species is right one time in three">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Three species are equally common.</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Guess setosa every time.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Accuracy is about 0.33.</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600"/>
              </a:lnSpc>
              <a:spcAft>
                <a:spcPts val="2520"/>
              </a:spcAft>
              <a:buNone/>
            </a:pPr>
            <a:r>
              <a:rPr lang="en-US" sz="3000" dirty="0">
                <a:solidFill>
                  <a:srgbClr val="111111"/>
                </a:solidFill>
                <a:latin typeface="Lato" pitchFamily="34" charset="0"/>
                <a:ea typeface="Lato" pitchFamily="34" charset="-122"/>
                <a:cs typeface="Lato" pitchFamily="34" charset="-120"/>
              </a:rPr>
              <a:t>Convert both accuracies to percentages. Name the target and one input. Explain why species code 2 is not twice species code 1.</a:t>
            </a:r>
            <a:endParaRPr lang="en-US" sz="3000" dirty="0"/>
          </a:p>
          <a:p>
            <a:pPr algn="l" indent="0" marL="0">
              <a:lnSpc>
                <a:spcPts val="3600"/>
              </a:lnSpc>
              <a:spcAft>
                <a:spcPts val="2520"/>
              </a:spcAft>
              <a:buNone/>
            </a:pPr>
            <a:r>
              <a:rPr lang="en-US" sz="3000" dirty="0">
                <a:solidFill>
                  <a:srgbClr val="111111"/>
                </a:solidFill>
                <a:latin typeface="Lato" pitchFamily="34" charset="0"/>
                <a:ea typeface="Lato" pitchFamily="34" charset="-122"/>
                <a:cs typeface="Lato" pitchFamily="34" charset="-120"/>
              </a:rPr>
              <a:t>Save it as ML16. Write two sentences: what you changed and how you checked it.</a:t>
            </a:r>
            <a:endParaRPr lang="en-US" sz="30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ValueError: could not convert string to float</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A category name was passed where numbers are needed.</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Use iris.target for the labels and iris.data for the inputs.</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NameError: name 'iris' is not defined</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cell that loads iris has not run.</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Run the cells in order from the top.</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800"/>
              </a:lnSpc>
              <a:spcAft>
                <a:spcPts val="1010"/>
              </a:spcAft>
              <a:buNone/>
            </a:pPr>
            <a:r>
              <a:rPr lang="en-US" sz="4000" dirty="0">
                <a:solidFill>
                  <a:srgbClr val="111111"/>
                </a:solidFill>
                <a:latin typeface="Lato" pitchFamily="34" charset="0"/>
                <a:ea typeface="Lato" pitchFamily="34" charset="-122"/>
                <a:cs typeface="Lato" pitchFamily="34" charset="-120"/>
              </a:rPr>
              <a:t>A tree learns its questions from examples and is compared against a baseline and against a rule I wrote.</a:t>
            </a:r>
            <a:endParaRPr lang="en-US" sz="40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ML16 Predicting a category with a decision tree</dc:title>
  <dc:subject>Machine Learning</dc:subject>
  <dc:creator>KLAi</dc:creator>
  <cp:lastModifiedBy>KLAi</cp:lastModifiedBy>
  <cp:revision>1</cp:revision>
  <dcterms:created xsi:type="dcterms:W3CDTF">2026-10-31T12:26:32Z</dcterms:created>
  <dcterms:modified xsi:type="dcterms:W3CDTF">2026-10-31T12:26:32Z</dcterms:modified>
</cp:coreProperties>
</file>