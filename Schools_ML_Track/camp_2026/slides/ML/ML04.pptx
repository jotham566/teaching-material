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fcbe4f-5c60-01c8-0c17-e83d1dbfd87d}">
          <p14:sldIdLst>
            <p14:sldId id="256"/>
            <p14:sldId id="257"/>
            <p14:sldId id="258"/>
            <p14:sldId id="259"/>
            <p14:sldId id="260"/>
            <p14:sldId id="261"/>
            <p14:sldId id="262"/>
          </p14:sldIdLst>
        </p14:section>
        <p14:section name="Block A" id="{ee019850-6c0b-0389-99e5-fff98a830f21}">
          <p14:sldIdLst>
            <p14:sldId id="263"/>
            <p14:sldId id="264"/>
            <p14:sldId id="265"/>
            <p14:sldId id="266"/>
            <p14:sldId id="268"/>
            <p14:sldId id="269"/>
          </p14:sldIdLst>
        </p14:section>
        <p14:section name="Break" id="{3010bc76-aba3-0b09-c92c-7d68cae8c463}">
          <p14:sldIdLst>
            <p14:sldId id="267"/>
          </p14:sldIdLst>
        </p14:section>
        <p14:section name="Block A" id="{cd4d7131-0b64-d736-5141-639b9e7504e7}">
          <p14:sldIdLst/>
        </p14:section>
        <p14:section name="Block B" id="{7d5b740f-a22b-e4f5-13ac-a03fcc580361}">
          <p14:sldIdLst>
            <p14:sldId id="270"/>
            <p14:sldId id="271"/>
            <p14:sldId id="272"/>
            <p14:sldId id="273"/>
            <p14:sldId id="274"/>
          </p14:sldIdLst>
        </p14:section>
        <p14:section name="Make and close" id="{c17304ab-88c7-4676-bcf0-59e6895df269}">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4 and our topic is decisions and a hand-written flower rule.
By the end of today you will be able to write an if, elif and else decision, test it at its boundary, and count how often a simple rule is right.
We will answer one question: How often does a three-line rule name the right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dots are eight flowers. Each sits at its petal length. White dots are one kind of flower, grey another and black the third. The red dashed lines are two cut points. A flower to the left of the first line is called setosa, between the lines is called versicolor, and to the right of the second is called virginica. That is a rule written with three questions. Today you write the rule in Python, and then count how often it names the right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comparison. A question about two values that answers True or False. A small example. Asking whether your money is at least the ticket price.
Boolean. A value that is either True or False. Picture this. A light switch that is on or off.
if. Runs the indented lines below it only when its question is True. You have seen this before. If it rains, take an umbrella.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else. Runs when the if question was False. Otherwise, leave the umbrella.
elif. Asks a second question when the first was False. Think of a shop. If it is raining take an umbrella, otherwise if it is cloudy take a hat.
indentation. Four spaces at the start of a line that show which instructions belong together. Imagine it like this. Writing a sub-point under a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is a yes or no question. The ticket costs five thousand. Is the budget at least five thousand? For four thousand nine hundred and ninety nine the answer is False. For exactly five thousand it is True, because the symbol includes the edge itself. For five thousand and one it is True.
The edge is where mistakes hide, so we always test one value below it, the value on it and one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if instruction is a fork in the road. Python asks the question in the box. If the answer is True it takes the path to the right. If the answer is False it goes down to the else. It never takes both paths.
The code above the flow chart is the same decision written for Python. With a cost of eight thousand and a budget of ten thousand, which box do you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has UGX 10000 and an item costs UGX 8000.
Make a prediction. Predict the message that will print.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Within budget. cost &lt;= budget is a comparison and its answer is True, which is a Boolean. if runs the indented lines when the answer is True and else runs them when it is False. The four spaces at the start of the lines are indentation.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decision with if and else. I have two questions for you.
Question one. What is the answer to 5000 &gt;= 5000? Have a go in your head first.
Let me answer it. True. &gt;= means at least.
Question two. What does = do compared with ==? Write your answer in one line before we compare.
The answer is this. = stores a value under a name. == asks whether two values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Set cost to 12000 and run the decision again. After you run it, say in one sentence what changed and how you checked.
You should see this. The message is Over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uses spaces to understand your code. The two lines that start with four spaces belong to the if and the else above them. They sit inside the fork. The last line has no spaces, so it sits outside the fork and runs every time.
If you forget the spaces, Python stops with an IndentationError. Which lines run when the answer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flower rule as a ladder of questions. First: is the petal shorter than two and a half? If yes, the guess is setosa and we stop. If no, we drop to the next question: is it shorter than four point eight? If yes, versicolor. Only when both answers are no do we reach the last box, virginica.
Try a petal of four point seven. Which box do you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iris data records flowers of three species. Petal length helps tell them apart.
Time to commit to an answer. Look at the rule. Predict which species it names for a petal length of 4.7 centimetres.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versicolor. elif asks a second question only when the first answer was False. Try the eight petal lengths. The true species are setosa twice, versicolor three times and virginica three times. The rule gets seven right and misses the 4.9 flower.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rule that names a flower. I have three questions for you.
Question one. Which of the eight flowers does the rule get wrong? Write your answer in one line before we compare.
The answer is this. The one with petal length 4.9. It is versicolor, and the rule says virginica.
Question two. How would you move the rule so that 4.9 is right? Say it quietly to yourself before anyone answers.
Raise the 4.8 limit to 5.0. Then check whether the 5.1 flower is still right.
Question three. What is the accuracy on these eight flowers? Give it thirty seconds and then we will hear a few answers.
Here is how I would answer it. 7 right out of 8, which is 87.5%.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Set petal_length to 4.9 and run the rule. Then explain to your neighbour what the change did.
The result: It prints virginica, which is wrong for this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picture again, now with a verdict. Seven of the eight flowers sit in the zone that carries their own name. One does not. A versicolor with a petal of four point nine falls just past the second cut, so the rule calls it virginica.
A rule that is right most of the time is useful, and it is also honest to say how often it is wrong. Where would you move the second cut to fix this one flower, and what might that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ML04.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IndentationError: expected an indented block. It means this: the line after if, elif or else does not start with spaces. To fix it, add four spaces at the start of each line inside the block.
The next one. You will see: SyntaxError: invalid syntax. It means this: A colon is missing at the end of an if, elif or else line. To fix it, put a colon at the end of the line.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How often does a three-line rule name the right flower?
Copy this sentence into your notebook and make it yours. A decision runs different lines depending on a True or False question, and a simple rule can be tested by counting how often it is right.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ML04  |  Decisions and a hand-written flower rule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Decisions and a</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hand-written flower rule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often does a three-line rule name the right flower?</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4 of 24  |  Week 2, Python you need</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often does a three-line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rule name the right flower?</a:t>
            </a:r>
            <a:endParaRPr lang="en-US" sz="3600" dirty="0"/>
          </a:p>
        </p:txBody>
      </p:sp>
      <p:pic>
        <p:nvPicPr>
          <p:cNvPr id="3" name="Image 0" descr="Eight flowers placed on a petal length scale with two cut point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comparis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comparison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question about two values that answers True or False.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Asking whether your money is at least the ticket price.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Boolea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Boolean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value that is either True or False.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light switch that is on or off.</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if">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if</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Runs the indented lines below it only when its question is True.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If it rains, take an umbrella.</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els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else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Runs when the if question was False.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Otherwise, leave the umbrella.</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elif">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elif</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Asks a second question when the first was False.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160"/>
              </a:lnSpc>
              <a:buNone/>
            </a:pPr>
            <a:r>
              <a:rPr lang="en-US" sz="1800" i="1" dirty="0">
                <a:solidFill>
                  <a:srgbClr val="666666"/>
                </a:solidFill>
                <a:latin typeface="Lato" pitchFamily="34" charset="0"/>
                <a:ea typeface="Lato" pitchFamily="34" charset="-122"/>
                <a:cs typeface="Lato" pitchFamily="34" charset="-120"/>
              </a:rPr>
              <a:t>If it is raining take an umbrella, otherwise if it is cloudy take a hat.</a:t>
            </a:r>
            <a:endParaRPr lang="en-US" sz="18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indentatio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indentation</a:t>
            </a:r>
            <a:endParaRPr lang="en-US" sz="32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Four spaces at the start of a line that show which instructions belong together.</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Writing a sub-point under a heading.</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comparison answers True or False</a:t>
            </a:r>
            <a:endParaRPr lang="en-US" sz="3800" dirty="0"/>
          </a:p>
        </p:txBody>
      </p:sp>
      <p:pic>
        <p:nvPicPr>
          <p:cNvPr id="3" name="Image 0" descr="A comparison answers True or Fals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Three budgets test the same rule.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edge value counts when you write &gt;=.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Test just below, on and just above the edge.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An if sends the program down one of two paths</a:t>
            </a:r>
            <a:endParaRPr lang="en-US" sz="3800" dirty="0"/>
          </a:p>
        </p:txBody>
      </p:sp>
      <p:pic>
        <p:nvPicPr>
          <p:cNvPr id="3" name="Image 0" descr="An if sends the program down one of two path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True follows the indented if lines.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False follows the else lines.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Only one path runs each time.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decision with if and else</a:t>
            </a:r>
            <a:endParaRPr lang="en-US" sz="3800" dirty="0"/>
          </a:p>
        </p:txBody>
      </p:sp>
      <p:sp>
        <p:nvSpPr>
          <p:cNvPr id="3" name="Shape 1"/>
          <p:cNvSpPr/>
          <p:nvPr/>
        </p:nvSpPr>
        <p:spPr>
          <a:xfrm>
            <a:off x="640080" y="1645920"/>
            <a:ext cx="6035040" cy="2981452"/>
          </a:xfrm>
          <a:prstGeom prst="roundRect">
            <a:avLst>
              <a:gd name="adj" fmla="val 2454"/>
            </a:avLst>
          </a:prstGeom>
          <a:solidFill>
            <a:srgbClr val="111111"/>
          </a:solidFill>
          <a:ln/>
        </p:spPr>
      </p:sp>
      <p:sp>
        <p:nvSpPr>
          <p:cNvPr id="4" name="Text 2"/>
          <p:cNvSpPr txBox="1"/>
          <p:nvPr/>
        </p:nvSpPr>
        <p:spPr>
          <a:xfrm>
            <a:off x="841248" y="1847088"/>
            <a:ext cx="5632704" cy="257911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budget = 10000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cost = 8000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cost &lt;= budget: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message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"Within budget"</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else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message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"Over budget"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print(message)</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Predict the message that will print.</a:t>
            </a:r>
            <a:endParaRPr lang="en-US" sz="3000" dirty="0"/>
          </a:p>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Write your guess on paper before we run it.</a:t>
            </a:r>
            <a:endParaRPr lang="en-US" sz="30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decision with if and else</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Within budget</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Within budget.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cost &lt;= budget is a comparison and its answer is True, which is a Boolean.</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if runs the indented lines when the answer is True and else runs them when it is False.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decision with if and else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is the answer to 5000 &gt;= 5000?</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 do compared with ==?</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Set cost to 12000 and run the decision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288032"/>
          </a:xfrm>
          <a:prstGeom prst="roundRect">
            <a:avLst>
              <a:gd name="adj" fmla="val 3197"/>
            </a:avLst>
          </a:prstGeom>
          <a:solidFill>
            <a:srgbClr val="111111"/>
          </a:solidFill>
          <a:ln/>
        </p:spPr>
      </p:sp>
      <p:sp>
        <p:nvSpPr>
          <p:cNvPr id="5" name="Text 3"/>
          <p:cNvSpPr txBox="1"/>
          <p:nvPr/>
        </p:nvSpPr>
        <p:spPr>
          <a:xfrm>
            <a:off x="7424928" y="1938528"/>
            <a:ext cx="3895344" cy="1885696"/>
          </a:xfrm>
          <a:prstGeom prst="rect">
            <a:avLst/>
          </a:prstGeom>
          <a:noFill/>
          <a:ln/>
        </p:spPr>
        <p:txBody>
          <a:bodyPr wrap="square" lIns="0" tIns="0" rIns="0" bIns="0" rtlCol="0" anchor="t"/>
          <a:lstStyle/>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budget = 10000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cost = 8000</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if</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cost &lt;= budget: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message =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"Within budget"</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else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message =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"Over budget"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print(message)</a:t>
            </a:r>
            <a:endParaRPr lang="en-US" sz="1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Four spaces tell Python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which lines belong to the if</a:t>
            </a:r>
            <a:endParaRPr lang="en-US" sz="3600" dirty="0"/>
          </a:p>
        </p:txBody>
      </p:sp>
      <p:pic>
        <p:nvPicPr>
          <p:cNvPr id="3" name="Image 0" descr="Four spaces tell Python which lines belong to the if">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Lines pushed in by four spaces belong to the if or else.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unindented line runs every time.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colon ends each if and else line.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An elif asks a second question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when the first is False</a:t>
            </a:r>
            <a:endParaRPr lang="en-US" sz="3600" dirty="0"/>
          </a:p>
        </p:txBody>
      </p:sp>
      <p:pic>
        <p:nvPicPr>
          <p:cNvPr id="3" name="Image 0" descr="An elif asks a second question when the first is Fals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asks the questions from the top down.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 stops at the first True answer.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else catches every flower that is left.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rule that names a flower</a:t>
            </a:r>
            <a:endParaRPr lang="en-US" sz="3800" dirty="0"/>
          </a:p>
        </p:txBody>
      </p:sp>
      <p:sp>
        <p:nvSpPr>
          <p:cNvPr id="3" name="Shape 1"/>
          <p:cNvSpPr/>
          <p:nvPr/>
        </p:nvSpPr>
        <p:spPr>
          <a:xfrm>
            <a:off x="640080" y="1645920"/>
            <a:ext cx="6035040" cy="3344672"/>
          </a:xfrm>
          <a:prstGeom prst="roundRect">
            <a:avLst>
              <a:gd name="adj" fmla="val 2187"/>
            </a:avLst>
          </a:prstGeom>
          <a:solidFill>
            <a:srgbClr val="111111"/>
          </a:solidFill>
          <a:ln/>
        </p:spPr>
      </p:sp>
      <p:sp>
        <p:nvSpPr>
          <p:cNvPr id="4" name="Text 2"/>
          <p:cNvSpPr txBox="1"/>
          <p:nvPr/>
        </p:nvSpPr>
        <p:spPr>
          <a:xfrm>
            <a:off x="841248" y="1847088"/>
            <a:ext cx="5632704" cy="294233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petal_length = 4.7</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petal_length &lt; 2.5: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guess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"setosa"</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elif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petal_length &lt; 4.8:</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guess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"versicolor"</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else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guess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"virginica"</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print(guess)</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Look at the rule. Predict which species it names for a petal length of 4.7 centimetres.</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rule that names a flower</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versicolor</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The cell prints versicolor.</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elif asks a second question only when the first answer was False.</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Try the eight petal lengths.</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The true species are setosa twice, versicolor three times and virginica three times.</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The rule gets seven right and misses the 4.9 flower.</a:t>
            </a:r>
            <a:endParaRPr lang="en-US" sz="23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rule that names a flower</a:t>
            </a:r>
            <a:endParaRPr lang="en-US" sz="3800" dirty="0"/>
          </a:p>
        </p:txBody>
      </p:sp>
      <p:sp>
        <p:nvSpPr>
          <p:cNvPr id="3" name="Shape 1"/>
          <p:cNvSpPr/>
          <p:nvPr/>
        </p:nvSpPr>
        <p:spPr>
          <a:xfrm>
            <a:off x="7498080" y="1737360"/>
            <a:ext cx="4023360" cy="2816352"/>
          </a:xfrm>
          <a:prstGeom prst="roundRect">
            <a:avLst>
              <a:gd name="adj" fmla="val 2597"/>
            </a:avLst>
          </a:prstGeom>
          <a:solidFill>
            <a:srgbClr val="111111"/>
          </a:solidFill>
          <a:ln/>
        </p:spPr>
      </p:sp>
      <p:sp>
        <p:nvSpPr>
          <p:cNvPr id="4" name="Text 2"/>
          <p:cNvSpPr txBox="1"/>
          <p:nvPr/>
        </p:nvSpPr>
        <p:spPr>
          <a:xfrm>
            <a:off x="7699248" y="1938528"/>
            <a:ext cx="3621024" cy="241401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petal_length = 4.7</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if</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petal_length &lt; 2.5:</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guess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"setosa"</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elif</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petal_length &lt; 4.8:</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guess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"versicolor"</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else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guess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"virginica"</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print(guess)</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of the eight flowers does the rule get wrong?</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How would you move the rule so that 4.9 is right?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3.  What is the accuracy on these eight flowers?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Set petal_length to 4.9 and run the rule.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816352"/>
          </a:xfrm>
          <a:prstGeom prst="roundRect">
            <a:avLst>
              <a:gd name="adj" fmla="val 2597"/>
            </a:avLst>
          </a:prstGeom>
          <a:solidFill>
            <a:srgbClr val="111111"/>
          </a:solidFill>
          <a:ln/>
        </p:spPr>
      </p:sp>
      <p:sp>
        <p:nvSpPr>
          <p:cNvPr id="5" name="Text 3"/>
          <p:cNvSpPr txBox="1"/>
          <p:nvPr/>
        </p:nvSpPr>
        <p:spPr>
          <a:xfrm>
            <a:off x="7424928" y="1938528"/>
            <a:ext cx="3895344" cy="241401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petal_length = 4.7</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if</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petal_length &lt; 2.5:</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guess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"setosa"</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elif</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petal_length &lt; 4.8:</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guess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"versicolor"</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else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guess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"virginica"</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print(guess)</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rule names seven of</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the eight flowers correctly</a:t>
            </a:r>
            <a:endParaRPr lang="en-US" sz="3600" dirty="0"/>
          </a:p>
        </p:txBody>
      </p:sp>
      <p:pic>
        <p:nvPicPr>
          <p:cNvPr id="3" name="Image 0" descr="The rule names seven of the eight flowers correctly">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A red ring marks a flower the rule gets wrong.</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A ticket costs UGX 5000.</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Write a decision that prints Buy when the budget is at least 5000 and Save otherwise.</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Test 4999, 5000 and 5001.</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Then say how many of the eight flowers your flower rule names correctly.</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IndentationError: expected an indented block</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line after if, elif or else does not start with spaces.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Add four spaces at the start of each line inside the block.</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SyntaxError: invalid syntax</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colon is missing at the end of an if, elif or else line.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Put a colon at the end of the line.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440"/>
              </a:lnSpc>
              <a:spcAft>
                <a:spcPts val="1010"/>
              </a:spcAft>
              <a:buNone/>
            </a:pPr>
            <a:r>
              <a:rPr lang="en-US" sz="3700" dirty="0">
                <a:solidFill>
                  <a:srgbClr val="111111"/>
                </a:solidFill>
                <a:latin typeface="Lato" pitchFamily="34" charset="0"/>
                <a:ea typeface="Lato" pitchFamily="34" charset="-122"/>
                <a:cs typeface="Lato" pitchFamily="34" charset="-120"/>
              </a:rPr>
              <a:t>A decision runs different lines depending on a True or False question, and a simple rule can be tested by counting how often it is right.</a:t>
            </a:r>
            <a:endParaRPr lang="en-US" sz="37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ML04 Decisions and a hand-written flower rule</dc:title>
  <dc:subject>Machine Learning</dc:subject>
  <dc:creator>KLAi</dc:creator>
  <cp:lastModifiedBy>KLAi</cp:lastModifiedBy>
  <cp:revision>1</cp:revision>
  <dcterms:created xsi:type="dcterms:W3CDTF">2026-10-31T12:44:34Z</dcterms:created>
  <dcterms:modified xsi:type="dcterms:W3CDTF">2026-10-31T12:44:34Z</dcterms:modified>
</cp:coreProperties>
</file>