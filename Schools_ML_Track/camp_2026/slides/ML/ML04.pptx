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3e02b2a2-842f-24f0-849a-d6a6e264538a}">
          <p14:sldIdLst>
            <p14:sldId id="256"/>
            <p14:sldId id="257"/>
            <p14:sldId id="258"/>
            <p14:sldId id="259"/>
            <p14:sldId id="260"/>
            <p14:sldId id="261"/>
            <p14:sldId id="262"/>
          </p14:sldIdLst>
        </p14:section>
        <p14:section name="Block A" id="{b9f67cf7-d2f7-b645-ddbf-d11d0f288ac6}">
          <p14:sldIdLst>
            <p14:sldId id="263"/>
            <p14:sldId id="264"/>
            <p14:sldId id="265"/>
            <p14:sldId id="266"/>
            <p14:sldId id="268"/>
            <p14:sldId id="269"/>
          </p14:sldIdLst>
        </p14:section>
        <p14:section name="Break" id="{e4286cf8-f2fe-bb50-fccb-efafae622592}">
          <p14:sldIdLst>
            <p14:sldId id="267"/>
          </p14:sldIdLst>
        </p14:section>
        <p14:section name="Block A" id="{e294389a-da70-3607-6fe9-d6314566a872}">
          <p14:sldIdLst/>
        </p14:section>
        <p14:section name="Block B" id="{9adc1029-6417-f221-2ef8-1f5ffe47d16e}">
          <p14:sldIdLst>
            <p14:sldId id="270"/>
            <p14:sldId id="271"/>
            <p14:sldId id="272"/>
            <p14:sldId id="273"/>
            <p14:sldId id="274"/>
          </p14:sldIdLst>
        </p14:section>
        <p14:section name="Make and close" id="{e55bc150-3226-bd48-607f-43708de63042}">
          <p14:sldIdLst>
            <p14:sldId id="275"/>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begin. Today is session 4 and our topic is decisions and a hand-written flower rule.
By the end of today you will be able to write an if, elif and else decision, test it at its boundary, and count how often a simple rule is right.
We will answer one question: How often does a three-line rule name the right flower?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dots are eight flowers. Each sits at its petal length. White dots are one kind of flower, grey another and black the third. The red dashed lines are two cut points. A flower to the left of the first line is called setosa, between the lines is called versicolor, and to the right of the second is called virginica. That is a rule written with three questions. Today you write the rule in Python, and then count how often it names the right flower.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the 3 hours go. Each bar is as long as the time we spend on that part.
First, 10 minutes. Recall. Then, 50 minutes. Block A. After that, 15 minutes. Break away from screens. Next, 50 minutes. Block B. Then, 40 minutes. Make. Then, 15 minutes. Exit ticket, save, and an individual check with each learner.
Notice how much of the time is yours. You listen for a short while and then you do. That is on purpose, because you learn this by doing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the words for today. Listen for the picture that goes with each one.
comparison. A question about two values that answers True or False. A small example. Asking whether your money is at least the ticket price.
Boolean. A value that is either True or False. Picture this. A light switch that is on or off.
if. Runs the indented lines below it only when its question is True. You have seen this before. If it rains, take an umbrella.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more words to know before we start.
else. Runs when the if question was False. Otherwise, leave the umbrella.
elif. Asks a second question when the first was False. Think of a shop. If it is raining take an umbrella, otherwise if it is cloudy take a hat.
indentation. Four spaces at the start of a line that show which instructions belong together. Imagine it like this. Writing a sub-point under a heading.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comparison is a yes or no question. The ticket costs five thousand. Is the budget at least five thousand? For four thousand nine hundred and ninety nine the answer is False. For exactly five thousand it is True, because the symbol includes the edge itself. For five thousand and one it is True.
The edge is where mistakes hide, so we always test one value below it, the value on it and one above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if instruction is a fork in the road. Python asks the question in the box. If the answer is True it takes the path to the right. If the answer is False it goes down to the else. It never takes both paths.
The code above the flow chart is the same decision written for Python. With a cost of eight thousand and a budget of ten thousand, which box do you reach?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student has UGX 10000 and an item costs UGX 8000.
Make a prediction. Predict the message that will print. Write one line on paper. I will give you a minute.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Running it now. Match each line of the output with the line of code that made it.
The cell prints Within budget. cost &lt;= budget is a comparison and its answer is True, which is a Boolean. if runs the indented lines when the answer is True and else runs them when it is False. The four spaces at the start of the lines are indentation.
Keep your guess. We use it in the next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A decision with if and else. I have two questions for you.
Question one. What is the answer to 5000 &gt;= 5000? Have a go in your head first.
Let me answer it. True. &gt;= means at least.
Question two. What does = do compared with ==? Write your answer in one line before we compare.
The answer is this. = stores a value under a name. == asks whether two values are equal.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one small change. Set cost to 12000 and run the decision again. After you run it, say in one sentence what changed and how you checked.
You should see this. The message is Over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Break time. 15 minutes away from your screens. Stand up, drink some water and tell someone what you guessed in the first half.
When we come back we start the second idea.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Python uses spaces to understand your code. The two lines that start with four spaces belong to the if and the else above them. They sit inside the fork. The last line has no spaces, so it sits outside the fork and runs every time.
If you forget the spaces, Python stops with an IndentationError. Which lines run when the answer is True?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flower rule as a ladder of questions. First: is the petal shorter than two and a half? If yes, the guess is setosa and we stop. If no, we drop to the next question: is it shorter than four point eight? If yes, versicolor. Only when both answers are no do we reach the last box, virginica.
Try a petal of four point seven. Which box do you reach?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iris data records flowers of three species. Petal length helps tell them apart.
Time to commit to an answer. Look at the rule. Predict which species it names for a petal length of 4.7 centimetres. Jot it on paper before anyone speaks.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run it. Match each line of the output with the line of code that made it.
The cell prints versicolor. elif asks a second question only when the first answer was False. Try the eight petal lengths. The true species are setosa twice, versicolor three times and virginica three times. The rule gets seven right and misses the 4.9 flower.
If your guess was off, find the line that surprised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A rule that names a flower. I have three questions for you.
Question one. Which of the eight flowers does the rule get wrong? Write your answer in one line before we compare.
The answer is this. The one with petal length 4.9. It is versicolor, and the rule says virginica.
Question two. How would you move the rule so that 4.9 is right? Say it quietly to yourself before anyone answers.
Raise the 4.8 limit to 5.0. Then check whether the 5.1 flower is still right.
Question three. What is the accuracy on these eight flowers? Give it thirty seconds and then we will hear a few answers.
Here is how I would answer it. 7 right out of 8, which is 87.5%.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it is your turn to change something. Set petal_length to 4.9 and run the rule. Then explain to your neighbour what the change did.
The result: It prints virginica, which is wrong for this flower.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same picture again, now with a verdict. Seven of the eight flowers sit in the zone that carries their own name. One does not. A versicolor with a petal of four point nine falls just past the second cut, so the rule calls it virginica.
A rule that is right most of the time is useful, and it is also honest to say how often it is wrong. Where would you move the second cut to fix this one flower, and what might that break?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you do the real work yourself. Start with the first step. If you get stuck for a few minutes, read your error message, check the error card, and then ask me.
Save it as ML04. I will come round to each of you and ask what you changed and how you checked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things are likely to go wrong today. It helps to know them before they happen.
This is the first one. You will see: IndentationError: expected an indented block. It means this: the line after if, elif or else does not start with spaces. To fix it, add four spaces at the start of each line inside the block.
The next one. You will see: SyntaxError: invalid syntax. It means this: A colon is missing at the end of an if, elif or else line. To fix it, put a colon at the end of the line.
If you meet one of these, fix it and carry on. It happens to everyone.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finish, go back to the question we began with: How often does a three-line rule name the right flower?
Copy this sentence into your notebook and make it yours. A decision runs different lines depending on a True or False question, and a simple rule can be tested by counting how often it is right.
Then save your notebook, close it and open it again to check it saved.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LAI_LIGHT">
    <p:bg>
      <p:bgPr>
        <a:solidFill>
          <a:srgbClr val="FFFFFF"/>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white_cropped.png">    </p:cNvPr>
          <p:cNvPicPr>
            <a:picLocks noChangeAspect="1"/>
          </p:cNvPicPr>
          <p:nvPr/>
        </p:nvPicPr>
        <p:blipFill>
          <a:blip r:embed="rId1"/>
          <a:stretch>
            <a:fillRect/>
          </a:stretch>
        </p:blipFill>
        <p:spPr>
          <a:xfrm>
            <a:off x="640080" y="6419088"/>
            <a:ext cx="772668" cy="246888"/>
          </a:xfrm>
          <a:prstGeom prst="rect">
            <a:avLst/>
          </a:prstGeom>
        </p:spPr>
      </p:pic>
      <p:sp>
        <p:nvSpPr>
          <p:cNvPr id="3" name="Text 0"/>
          <p:cNvSpPr/>
          <p:nvPr/>
        </p:nvSpPr>
        <p:spPr>
          <a:xfrm>
            <a:off x="1641348" y="6400800"/>
            <a:ext cx="8229600" cy="274320"/>
          </a:xfrm>
          <a:prstGeom prst="rect">
            <a:avLst/>
          </a:prstGeom>
          <a:noFill/>
          <a:ln/>
        </p:spPr>
        <p:txBody>
          <a:bodyPr wrap="square" lIns="0" tIns="0" rIns="0" bIns="0" rtlCol="0" anchor="ctr"/>
          <a:lstStyle/>
          <a:p>
            <a:pPr indent="0" marL="0">
              <a:buNone/>
            </a:pPr>
            <a:r>
              <a:rPr lang="en-US" sz="1200" dirty="0">
                <a:solidFill>
                  <a:srgbClr val="666666"/>
                </a:solidFill>
                <a:latin typeface="Lato" pitchFamily="34" charset="0"/>
                <a:ea typeface="Lato" pitchFamily="34" charset="-122"/>
                <a:cs typeface="Lato" pitchFamily="34" charset="-120"/>
              </a:rPr>
              <a:t>ML04  |  Decisions and a hand-written flower rule</a:t>
            </a:r>
            <a:endParaRPr lang="en-US" sz="1200" dirty="0"/>
          </a:p>
        </p:txBody>
      </p:sp>
      <p:sp>
        <p:nvSpPr>
          <p:cNvPr id="4" name="Text 1"/>
          <p:cNvSpPr/>
          <p:nvPr>
            <p:ph idx="102" type="title" hasCustomPrompt="1"/>
          </p:nvPr>
        </p:nvSpPr>
        <p:spPr>
          <a:xfrm>
            <a:off x="640080" y="384048"/>
            <a:ext cx="10881360" cy="1051560"/>
          </a:xfrm>
          <a:prstGeom prst="rect">
            <a:avLst/>
          </a:prstGeom>
          <a:noFill/>
          <a:ln/>
        </p:spPr>
        <p:txBody>
          <a:bodyPr wrap="square" rtlCol="0"/>
          <a:lstStyle>
            <a:lvl1pPr algn="l" indent="0" marL="0">
              <a:buNone/>
              <a:defRPr lang="en-US" b="1" dirty="0">
                <a:solidFill>
                  <a:srgbClr val="111111"/>
                </a:solidFill>
                <a:latin typeface="Lato" pitchFamily="34" charset="0"/>
                <a:ea typeface="Lato" pitchFamily="34" charset="-122"/>
                <a:cs typeface="Lato"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LAI_DARK">
    <p:bg>
      <p:bgPr>
        <a:solidFill>
          <a:srgbClr val="000000"/>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black_cropped.png">    </p:cNvPr>
          <p:cNvPicPr>
            <a:picLocks noChangeAspect="1"/>
          </p:cNvPicPr>
          <p:nvPr/>
        </p:nvPicPr>
        <p:blipFill>
          <a:blip r:embed="rId1"/>
          <a:stretch>
            <a:fillRect/>
          </a:stretch>
        </p:blipFill>
        <p:spPr>
          <a:xfrm>
            <a:off x="640080" y="548640"/>
            <a:ext cx="1774850" cy="566928"/>
          </a:xfrm>
          <a:prstGeom prst="rect">
            <a:avLst/>
          </a:prstGeom>
        </p:spPr>
      </p:pic>
      <p:sp>
        <p:nvSpPr>
          <p:cNvPr id="3" name="Text 0"/>
          <p:cNvSpPr/>
          <p:nvPr>
            <p:ph idx="101" type="title" hasCustomPrompt="1"/>
          </p:nvPr>
        </p:nvSpPr>
        <p:spPr>
          <a:xfrm>
            <a:off x="640080" y="2103120"/>
            <a:ext cx="10607040" cy="2286000"/>
          </a:xfrm>
          <a:prstGeom prst="rect">
            <a:avLst/>
          </a:prstGeom>
          <a:noFill/>
          <a:ln/>
        </p:spPr>
        <p:txBody>
          <a:bodyPr wrap="square" rtlCol="0"/>
          <a:lstStyle>
            <a:lvl1pPr algn="l" indent="0" marL="0">
              <a:buNone/>
              <a:defRPr lang="en-US" b="1" dirty="0">
                <a:solidFill>
                  <a:srgbClr val="FFFFFF"/>
                </a:solidFill>
                <a:latin typeface="Lato" pitchFamily="34" charset="0"/>
                <a:ea typeface="Lato" pitchFamily="34" charset="-122"/>
                <a:cs typeface="Lato" pitchFamily="34" charset="-120"/>
              </a:defRPr>
            </a:lvl1pPr>
          </a:lstStyle>
          <a:p>
            <a:pPr algn="l" indent="0" marL="0">
              <a:buNone/>
            </a:pPr>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1.png"/><Relationship Id="rId3" Type="http://schemas.openxmlformats.org/officeDocument/2006/relationships/slideLayout" Target="../slideLayouts/slideLayout2.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600" b="1" dirty="0">
                <a:solidFill>
                  <a:srgbClr val="FFFFFF"/>
                </a:solidFill>
                <a:latin typeface="Lato" pitchFamily="34" charset="0"/>
                <a:ea typeface="Lato" pitchFamily="34" charset="-122"/>
                <a:cs typeface="Lato" pitchFamily="34" charset="-120"/>
              </a:rPr>
              <a:t>Decisions and a hand-written flower rule</a:t>
            </a:r>
            <a:endParaRPr lang="en-US" sz="5600" dirty="0"/>
          </a:p>
        </p:txBody>
      </p:sp>
      <p:sp>
        <p:nvSpPr>
          <p:cNvPr id="3" name="Text 1"/>
          <p:cNvSpPr txBox="1"/>
          <p:nvPr/>
        </p:nvSpPr>
        <p:spPr>
          <a:xfrm>
            <a:off x="640080" y="4170680"/>
            <a:ext cx="10241280" cy="1188720"/>
          </a:xfrm>
          <a:prstGeom prst="rect">
            <a:avLst/>
          </a:prstGeom>
          <a:noFill/>
          <a:ln/>
        </p:spPr>
        <p:txBody>
          <a:bodyPr wrap="square" lIns="0" tIns="0" rIns="0" bIns="0" rtlCol="0" anchor="t"/>
          <a:lstStyle/>
          <a:p>
            <a:pPr algn="l" indent="0" marL="0">
              <a:lnSpc>
                <a:spcPts val="3600"/>
              </a:lnSpc>
              <a:buNone/>
            </a:pPr>
            <a:r>
              <a:rPr lang="en-US" sz="3000" i="1" dirty="0">
                <a:solidFill>
                  <a:srgbClr val="E0BE36"/>
                </a:solidFill>
                <a:latin typeface="Lato" pitchFamily="34" charset="0"/>
                <a:ea typeface="Lato" pitchFamily="34" charset="-122"/>
                <a:cs typeface="Lato" pitchFamily="34" charset="-120"/>
              </a:rPr>
              <a:t>How often does a three-line rule name the right flower?</a:t>
            </a:r>
            <a:endParaRPr lang="en-US" sz="3000" dirty="0"/>
          </a:p>
        </p:txBody>
      </p:sp>
      <p:sp>
        <p:nvSpPr>
          <p:cNvPr id="4" name="Text 2"/>
          <p:cNvSpPr txBox="1"/>
          <p:nvPr/>
        </p:nvSpPr>
        <p:spPr>
          <a:xfrm>
            <a:off x="640080" y="5989320"/>
            <a:ext cx="10789920" cy="457200"/>
          </a:xfrm>
          <a:prstGeom prst="rect">
            <a:avLst/>
          </a:prstGeom>
          <a:noFill/>
          <a:ln/>
        </p:spPr>
        <p:txBody>
          <a:bodyPr wrap="square" lIns="0" tIns="0" rIns="0" bIns="0" rtlCol="0" anchor="t"/>
          <a:lstStyle/>
          <a:p>
            <a:pPr algn="l" indent="0" marL="0">
              <a:lnSpc>
                <a:spcPts val="2320"/>
              </a:lnSpc>
              <a:buNone/>
            </a:pPr>
            <a:r>
              <a:rPr lang="en-US" sz="1600" dirty="0">
                <a:solidFill>
                  <a:srgbClr val="B5B5B5"/>
                </a:solidFill>
                <a:latin typeface="Lato" pitchFamily="34" charset="0"/>
                <a:ea typeface="Lato" pitchFamily="34" charset="-122"/>
                <a:cs typeface="Lato" pitchFamily="34" charset="-120"/>
              </a:rPr>
              <a:t>Machine Learning  |  Session 4 of 24  |  Week 2, Python you need</a:t>
            </a:r>
            <a:endParaRPr lang="en-US" sz="1600" dirty="0"/>
          </a:p>
          <a:p>
            <a:pPr algn="l" indent="0" marL="0">
              <a:lnSpc>
                <a:spcPts val="2320"/>
              </a:lnSpc>
              <a:buNone/>
            </a:pPr>
            <a:r>
              <a:rPr lang="en-US" sz="1600" dirty="0">
                <a:solidFill>
                  <a:srgbClr val="B5B5B5"/>
                </a:solidFill>
                <a:latin typeface="Lato" pitchFamily="34" charset="0"/>
                <a:ea typeface="Lato" pitchFamily="34" charset="-122"/>
                <a:cs typeface="Lato" pitchFamily="34" charset="-120"/>
              </a:rPr>
              <a:t>Holiday Data and AI Camp  |  The National ICT Innovation Hub, Nakawa</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How often does a three-line</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rule name the right flower?</a:t>
            </a:r>
            <a:endParaRPr lang="en-US" sz="3600" dirty="0"/>
          </a:p>
        </p:txBody>
      </p:sp>
      <p:pic>
        <p:nvPicPr>
          <p:cNvPr id="3" name="Image 0" descr="Eight flowers placed on a petal length scale with two cut points">    </p:cNvPr>
          <p:cNvPicPr>
            <a:picLocks noChangeAspect="1"/>
          </p:cNvPicPr>
          <p:nvPr/>
        </p:nvPicPr>
        <p:blipFill>
          <a:blip r:embed="rId1"/>
          <a:stretch>
            <a:fillRect/>
          </a:stretch>
        </p:blipFill>
        <p:spPr>
          <a:xfrm>
            <a:off x="640080" y="1691640"/>
            <a:ext cx="10881360" cy="43434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Three hours, mostly doing</a:t>
            </a:r>
            <a:endParaRPr lang="en-US" sz="3800" dirty="0"/>
          </a:p>
        </p:txBody>
      </p:sp>
      <p:pic>
        <p:nvPicPr>
          <p:cNvPr id="3" name="Image 0" descr="The plan for the session: start time, minutes and what we do">    </p:cNvPr>
          <p:cNvPicPr>
            <a:picLocks noChangeAspect="1"/>
          </p:cNvPicPr>
          <p:nvPr/>
        </p:nvPicPr>
        <p:blipFill>
          <a:blip r:embed="rId1"/>
          <a:stretch>
            <a:fillRect/>
          </a:stretch>
        </p:blipFill>
        <p:spPr>
          <a:xfrm>
            <a:off x="640080" y="1600200"/>
            <a:ext cx="10881360" cy="4133088"/>
          </a:xfrm>
          <a:prstGeom prst="rect">
            <a:avLst/>
          </a:prstGeom>
        </p:spPr>
      </p:pic>
      <p:sp>
        <p:nvSpPr>
          <p:cNvPr id="4" name="Text 1"/>
          <p:cNvSpPr txBox="1"/>
          <p:nvPr/>
        </p:nvSpPr>
        <p:spPr>
          <a:xfrm>
            <a:off x="640080" y="5852160"/>
            <a:ext cx="10881360" cy="45720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Most of our time is spent doing, in small steps, with a guess before every run.</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(1 of 2)</a:t>
            </a:r>
            <a:endParaRPr lang="en-US" sz="3800" dirty="0"/>
          </a:p>
        </p:txBody>
      </p:sp>
      <p:pic>
        <p:nvPicPr>
          <p:cNvPr id="3" name="Image 0" descr="comparison">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comparison</a:t>
            </a:r>
            <a:endParaRPr lang="en-US" sz="34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question about two values that answers True or False.</a:t>
            </a:r>
            <a:endParaRPr lang="en-US" sz="2200" dirty="0"/>
          </a:p>
        </p:txBody>
      </p:sp>
      <p:sp>
        <p:nvSpPr>
          <p:cNvPr id="6" name="Text 3"/>
          <p:cNvSpPr txBox="1"/>
          <p:nvPr/>
        </p:nvSpPr>
        <p:spPr>
          <a:xfrm>
            <a:off x="5120640" y="254508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Asking whether your money is at least the ticket price.</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Boolean">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Boolean</a:t>
            </a:r>
            <a:endParaRPr lang="en-US" sz="34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value that is either True or False.</a:t>
            </a:r>
            <a:endParaRPr lang="en-US" sz="2200" dirty="0"/>
          </a:p>
        </p:txBody>
      </p:sp>
      <p:sp>
        <p:nvSpPr>
          <p:cNvPr id="11" name="Text 7"/>
          <p:cNvSpPr txBox="1"/>
          <p:nvPr/>
        </p:nvSpPr>
        <p:spPr>
          <a:xfrm>
            <a:off x="5120640" y="369112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 light switch that is on or off.</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if">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if</a:t>
            </a:r>
            <a:endParaRPr lang="en-US" sz="34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Runs the indented lines below it only when its question is True.</a:t>
            </a:r>
            <a:endParaRPr lang="en-US" sz="2200" dirty="0"/>
          </a:p>
        </p:txBody>
      </p:sp>
      <p:sp>
        <p:nvSpPr>
          <p:cNvPr id="16" name="Text 11"/>
          <p:cNvSpPr txBox="1"/>
          <p:nvPr/>
        </p:nvSpPr>
        <p:spPr>
          <a:xfrm>
            <a:off x="5120640" y="550773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If it rains, take an umbrella.</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(2 of 2)</a:t>
            </a:r>
            <a:endParaRPr lang="en-US" sz="3800" dirty="0"/>
          </a:p>
        </p:txBody>
      </p:sp>
      <p:pic>
        <p:nvPicPr>
          <p:cNvPr id="3" name="Image 0" descr="else">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else</a:t>
            </a:r>
            <a:endParaRPr lang="en-US" sz="34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Runs when the if question was False.</a:t>
            </a:r>
            <a:endParaRPr lang="en-US" sz="2200" dirty="0"/>
          </a:p>
        </p:txBody>
      </p:sp>
      <p:sp>
        <p:nvSpPr>
          <p:cNvPr id="6" name="Text 3"/>
          <p:cNvSpPr txBox="1"/>
          <p:nvPr/>
        </p:nvSpPr>
        <p:spPr>
          <a:xfrm>
            <a:off x="5120640" y="220980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Otherwise, leave the umbrella.</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elif">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elif</a:t>
            </a:r>
            <a:endParaRPr lang="en-US" sz="34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Asks a second question when the first was False.</a:t>
            </a:r>
            <a:endParaRPr lang="en-US" sz="2200" dirty="0"/>
          </a:p>
        </p:txBody>
      </p:sp>
      <p:sp>
        <p:nvSpPr>
          <p:cNvPr id="11" name="Text 7"/>
          <p:cNvSpPr txBox="1"/>
          <p:nvPr/>
        </p:nvSpPr>
        <p:spPr>
          <a:xfrm>
            <a:off x="5120640" y="3691128"/>
            <a:ext cx="6400800" cy="566928"/>
          </a:xfrm>
          <a:prstGeom prst="rect">
            <a:avLst/>
          </a:prstGeom>
          <a:noFill/>
          <a:ln/>
        </p:spPr>
        <p:txBody>
          <a:bodyPr wrap="square" lIns="0" tIns="0" rIns="0" bIns="0" rtlCol="0" anchor="t"/>
          <a:lstStyle/>
          <a:p>
            <a:pPr algn="l" indent="0" marL="0">
              <a:lnSpc>
                <a:spcPts val="2160"/>
              </a:lnSpc>
              <a:buNone/>
            </a:pPr>
            <a:r>
              <a:rPr lang="en-US" sz="1800" i="1" dirty="0">
                <a:solidFill>
                  <a:srgbClr val="666666"/>
                </a:solidFill>
                <a:latin typeface="Lato" pitchFamily="34" charset="0"/>
                <a:ea typeface="Lato" pitchFamily="34" charset="-122"/>
                <a:cs typeface="Lato" pitchFamily="34" charset="-120"/>
              </a:rPr>
              <a:t>If it is raining take an umbrella, otherwise if it is cloudy take a hat.</a:t>
            </a:r>
            <a:endParaRPr lang="en-US" sz="18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indentation">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3840"/>
              </a:lnSpc>
              <a:buNone/>
            </a:pPr>
            <a:r>
              <a:rPr lang="en-US" sz="3200" b="1" dirty="0">
                <a:solidFill>
                  <a:srgbClr val="111111"/>
                </a:solidFill>
                <a:latin typeface="Lato" pitchFamily="34" charset="0"/>
                <a:ea typeface="Lato" pitchFamily="34" charset="-122"/>
                <a:cs typeface="Lato" pitchFamily="34" charset="-120"/>
              </a:rPr>
              <a:t>indentation</a:t>
            </a:r>
            <a:endParaRPr lang="en-US" sz="32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Four spaces at the start of a line that show which instructions belong together.</a:t>
            </a:r>
            <a:endParaRPr lang="en-US" sz="2200" dirty="0"/>
          </a:p>
        </p:txBody>
      </p:sp>
      <p:sp>
        <p:nvSpPr>
          <p:cNvPr id="16" name="Text 11"/>
          <p:cNvSpPr txBox="1"/>
          <p:nvPr/>
        </p:nvSpPr>
        <p:spPr>
          <a:xfrm>
            <a:off x="5120640" y="550773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Writing a sub-point under a heading.</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A comparison answers True or False</a:t>
            </a:r>
            <a:endParaRPr lang="en-US" sz="3800" dirty="0"/>
          </a:p>
        </p:txBody>
      </p:sp>
      <p:pic>
        <p:nvPicPr>
          <p:cNvPr id="3" name="Image 0" descr="A comparison answers True or False">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Three budgets meet the same rule.</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edge value counts when you write &gt;=.</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Test just below, on and just above the edge.</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An if sends the program down one of two paths</a:t>
            </a:r>
            <a:endParaRPr lang="en-US" sz="3800" dirty="0"/>
          </a:p>
        </p:txBody>
      </p:sp>
      <p:pic>
        <p:nvPicPr>
          <p:cNvPr id="3" name="Image 0" descr="An if sends the program down one of two paths">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True follows the indented if lines.</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False follows the else lines.</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Only one path runs each time.</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A decision with if and else</a:t>
            </a:r>
            <a:endParaRPr lang="en-US" sz="3800" dirty="0"/>
          </a:p>
        </p:txBody>
      </p:sp>
      <p:sp>
        <p:nvSpPr>
          <p:cNvPr id="3" name="Shape 1"/>
          <p:cNvSpPr/>
          <p:nvPr/>
        </p:nvSpPr>
        <p:spPr>
          <a:xfrm>
            <a:off x="640080" y="1645920"/>
            <a:ext cx="6035040" cy="2981452"/>
          </a:xfrm>
          <a:prstGeom prst="roundRect">
            <a:avLst>
              <a:gd name="adj" fmla="val 2454"/>
            </a:avLst>
          </a:prstGeom>
          <a:solidFill>
            <a:srgbClr val="111111"/>
          </a:solidFill>
          <a:ln/>
        </p:spPr>
      </p:sp>
      <p:sp>
        <p:nvSpPr>
          <p:cNvPr id="4" name="Text 2"/>
          <p:cNvSpPr txBox="1"/>
          <p:nvPr/>
        </p:nvSpPr>
        <p:spPr>
          <a:xfrm>
            <a:off x="841248" y="1847088"/>
            <a:ext cx="5632704" cy="2579116"/>
          </a:xfrm>
          <a:prstGeom prst="rect">
            <a:avLst/>
          </a:prstGeom>
          <a:noFill/>
          <a:ln/>
        </p:spPr>
        <p:txBody>
          <a:bodyPr wrap="square" lIns="0" tIns="0" rIns="0" bIns="0" rtlCol="0" anchor="t"/>
          <a:lstStyle/>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budget = 10000</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cost = 8000</a:t>
            </a:r>
            <a:endParaRPr lang="en-US" sz="2200" dirty="0"/>
          </a:p>
          <a:p>
            <a:pPr algn="l" indent="0" marL="0">
              <a:lnSpc>
                <a:spcPts val="2860"/>
              </a:lnSpc>
              <a:buNone/>
            </a:pPr>
            <a:r>
              <a:rPr lang="en-US" sz="2200" b="1" dirty="0">
                <a:solidFill>
                  <a:srgbClr val="FFFFFF"/>
                </a:solidFill>
                <a:latin typeface="Courier New" pitchFamily="34" charset="0"/>
                <a:ea typeface="Courier New" pitchFamily="34" charset="-122"/>
                <a:cs typeface="Courier New" pitchFamily="34" charset="-120"/>
              </a:rPr>
              <a:t>if</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cost &lt;= budget:</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message = </a:t>
            </a:r>
            <a:pPr algn="l" indent="0" marL="0">
              <a:lnSpc>
                <a:spcPts val="2860"/>
              </a:lnSpc>
              <a:buNone/>
            </a:pPr>
            <a:r>
              <a:rPr lang="en-US" sz="2200" dirty="0">
                <a:solidFill>
                  <a:srgbClr val="E0BE36"/>
                </a:solidFill>
                <a:latin typeface="Courier New" pitchFamily="34" charset="0"/>
                <a:ea typeface="Courier New" pitchFamily="34" charset="-122"/>
                <a:cs typeface="Courier New" pitchFamily="34" charset="-120"/>
              </a:rPr>
              <a:t>"Within budget"</a:t>
            </a:r>
            <a:endParaRPr lang="en-US" sz="2200" dirty="0"/>
          </a:p>
          <a:p>
            <a:pPr algn="l" indent="0" marL="0">
              <a:lnSpc>
                <a:spcPts val="2860"/>
              </a:lnSpc>
              <a:buNone/>
            </a:pPr>
            <a:r>
              <a:rPr lang="en-US" sz="2200" b="1" dirty="0">
                <a:solidFill>
                  <a:srgbClr val="FFFFFF"/>
                </a:solidFill>
                <a:latin typeface="Courier New" pitchFamily="34" charset="0"/>
                <a:ea typeface="Courier New" pitchFamily="34" charset="-122"/>
                <a:cs typeface="Courier New" pitchFamily="34" charset="-120"/>
              </a:rPr>
              <a:t>else</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message = </a:t>
            </a:r>
            <a:pPr algn="l" indent="0" marL="0">
              <a:lnSpc>
                <a:spcPts val="2860"/>
              </a:lnSpc>
              <a:buNone/>
            </a:pPr>
            <a:r>
              <a:rPr lang="en-US" sz="2200" dirty="0">
                <a:solidFill>
                  <a:srgbClr val="E0BE36"/>
                </a:solidFill>
                <a:latin typeface="Courier New" pitchFamily="34" charset="0"/>
                <a:ea typeface="Courier New" pitchFamily="34" charset="-122"/>
                <a:cs typeface="Courier New" pitchFamily="34" charset="-120"/>
              </a:rPr>
              <a:t>"Over budget"</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print(message)</a:t>
            </a:r>
            <a:endParaRPr lang="en-US" sz="2200" dirty="0"/>
          </a:p>
        </p:txBody>
      </p:sp>
      <p:sp>
        <p:nvSpPr>
          <p:cNvPr id="5" name="Text 3"/>
          <p:cNvSpPr txBox="1"/>
          <p:nvPr/>
        </p:nvSpPr>
        <p:spPr>
          <a:xfrm>
            <a:off x="7040880" y="1737360"/>
            <a:ext cx="4480560" cy="2560320"/>
          </a:xfrm>
          <a:prstGeom prst="rect">
            <a:avLst/>
          </a:prstGeom>
          <a:noFill/>
          <a:ln/>
        </p:spPr>
        <p:txBody>
          <a:bodyPr wrap="square" lIns="0" tIns="0" rIns="0" bIns="0" rtlCol="0" anchor="t"/>
          <a:lstStyle/>
          <a:p>
            <a:pPr algn="l" indent="0" marL="0">
              <a:lnSpc>
                <a:spcPts val="3600"/>
              </a:lnSpc>
              <a:spcAft>
                <a:spcPts val="2160"/>
              </a:spcAft>
              <a:buNone/>
            </a:pPr>
            <a:r>
              <a:rPr lang="en-US" sz="3000" dirty="0">
                <a:solidFill>
                  <a:srgbClr val="111111"/>
                </a:solidFill>
                <a:latin typeface="Lato" pitchFamily="34" charset="0"/>
                <a:ea typeface="Lato" pitchFamily="34" charset="-122"/>
                <a:cs typeface="Lato" pitchFamily="34" charset="-120"/>
              </a:rPr>
              <a:t>Predict the message that will print.</a:t>
            </a:r>
            <a:endParaRPr lang="en-US" sz="3000" dirty="0"/>
          </a:p>
          <a:p>
            <a:pPr algn="l" indent="0" marL="0">
              <a:lnSpc>
                <a:spcPts val="3600"/>
              </a:lnSpc>
              <a:spcAft>
                <a:spcPts val="2160"/>
              </a:spcAft>
              <a:buNone/>
            </a:pPr>
            <a:r>
              <a:rPr lang="en-US" sz="3000" dirty="0">
                <a:solidFill>
                  <a:srgbClr val="111111"/>
                </a:solidFill>
                <a:latin typeface="Lato" pitchFamily="34" charset="0"/>
                <a:ea typeface="Lato" pitchFamily="34" charset="-122"/>
                <a:cs typeface="Lato" pitchFamily="34" charset="-120"/>
              </a:rPr>
              <a:t>Write your guess on paper before we run it.</a:t>
            </a:r>
            <a:endParaRPr lang="en-US" sz="3000" dirty="0"/>
          </a:p>
        </p:txBody>
      </p:sp>
      <p:pic>
        <p:nvPicPr>
          <p:cNvPr id="6" name="Image 0" descr="A page and a pen: write your guess first">    </p:cNvPr>
          <p:cNvPicPr>
            <a:picLocks noChangeAspect="1"/>
          </p:cNvPicPr>
          <p:nvPr/>
        </p:nvPicPr>
        <p:blipFill>
          <a:blip r:embed="rId1"/>
          <a:stretch>
            <a:fillRect/>
          </a:stretch>
        </p:blipFill>
        <p:spPr>
          <a:xfrm>
            <a:off x="7916091" y="4343400"/>
            <a:ext cx="2090057"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A decision with if and else</a:t>
            </a:r>
            <a:endParaRPr lang="en-US" sz="3800" dirty="0"/>
          </a:p>
        </p:txBody>
      </p:sp>
      <p:sp>
        <p:nvSpPr>
          <p:cNvPr id="3" name="Shape 1"/>
          <p:cNvSpPr/>
          <p:nvPr/>
        </p:nvSpPr>
        <p:spPr>
          <a:xfrm>
            <a:off x="640080" y="1645920"/>
            <a:ext cx="6035040" cy="765556"/>
          </a:xfrm>
          <a:prstGeom prst="roundRect">
            <a:avLst>
              <a:gd name="adj" fmla="val 9555"/>
            </a:avLst>
          </a:prstGeom>
          <a:solidFill>
            <a:srgbClr val="FFFFFF"/>
          </a:solidFill>
          <a:ln w="15875">
            <a:solidFill>
              <a:srgbClr val="111111"/>
            </a:solidFill>
            <a:prstDash val="solid"/>
          </a:ln>
        </p:spPr>
      </p:sp>
      <p:sp>
        <p:nvSpPr>
          <p:cNvPr id="4" name="Text 2"/>
          <p:cNvSpPr txBox="1"/>
          <p:nvPr/>
        </p:nvSpPr>
        <p:spPr>
          <a:xfrm>
            <a:off x="822960" y="1828800"/>
            <a:ext cx="5669280" cy="399796"/>
          </a:xfrm>
          <a:prstGeom prst="rect">
            <a:avLst/>
          </a:prstGeom>
          <a:noFill/>
          <a:ln/>
        </p:spPr>
        <p:txBody>
          <a:bodyPr wrap="square" lIns="0" tIns="0" rIns="0" bIns="0" rtlCol="0" anchor="t"/>
          <a:lstStyle/>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Within budget</a:t>
            </a:r>
            <a:endParaRPr lang="en-US" sz="2200" dirty="0"/>
          </a:p>
        </p:txBody>
      </p:sp>
      <p:sp>
        <p:nvSpPr>
          <p:cNvPr id="5" name="Text 3"/>
          <p:cNvSpPr txBox="1"/>
          <p:nvPr/>
        </p:nvSpPr>
        <p:spPr>
          <a:xfrm>
            <a:off x="7040880" y="1737360"/>
            <a:ext cx="4480560" cy="4389120"/>
          </a:xfrm>
          <a:prstGeom prst="rect">
            <a:avLst/>
          </a:prstGeom>
          <a:noFill/>
          <a:ln/>
        </p:spPr>
        <p:txBody>
          <a:bodyPr wrap="square" lIns="0" tIns="0" rIns="0" bIns="0" rtlCol="0" anchor="t"/>
          <a:lstStyle/>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The cell prints Within budget.</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cost &lt;= budget is a comparison and its answer is True, which is a Boolean.</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if runs the indented lines when the answer is True and else runs them when it is False.</a:t>
            </a:r>
            <a:endParaRPr lang="en-US" sz="2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A decision with if and else</a:t>
            </a:r>
            <a:endParaRPr lang="en-US" sz="3800" dirty="0"/>
          </a:p>
        </p:txBody>
      </p:sp>
      <p:sp>
        <p:nvSpPr>
          <p:cNvPr id="3" name="Shape 1"/>
          <p:cNvSpPr/>
          <p:nvPr/>
        </p:nvSpPr>
        <p:spPr>
          <a:xfrm>
            <a:off x="7498080" y="1737360"/>
            <a:ext cx="4023360" cy="2172462"/>
          </a:xfrm>
          <a:prstGeom prst="roundRect">
            <a:avLst>
              <a:gd name="adj" fmla="val 3367"/>
            </a:avLst>
          </a:prstGeom>
          <a:solidFill>
            <a:srgbClr val="111111"/>
          </a:solidFill>
          <a:ln/>
        </p:spPr>
      </p:sp>
      <p:sp>
        <p:nvSpPr>
          <p:cNvPr id="4" name="Text 2"/>
          <p:cNvSpPr txBox="1"/>
          <p:nvPr/>
        </p:nvSpPr>
        <p:spPr>
          <a:xfrm>
            <a:off x="7699248" y="1938528"/>
            <a:ext cx="3621024" cy="1770126"/>
          </a:xfrm>
          <a:prstGeom prst="rect">
            <a:avLst/>
          </a:prstGeom>
          <a:noFill/>
          <a:ln/>
        </p:spPr>
        <p:txBody>
          <a:bodyPr wrap="square" lIns="0" tIns="0" rIns="0" bIns="0" rtlCol="0" anchor="t"/>
          <a:lstStyle/>
          <a:p>
            <a:pPr algn="l" indent="0" marL="0">
              <a:lnSpc>
                <a:spcPts val="1950"/>
              </a:lnSpc>
              <a:buNone/>
            </a:pPr>
            <a:r>
              <a:rPr lang="en-US" sz="1500" dirty="0">
                <a:solidFill>
                  <a:srgbClr val="FFFFFF"/>
                </a:solidFill>
                <a:latin typeface="Courier New" pitchFamily="34" charset="0"/>
                <a:ea typeface="Courier New" pitchFamily="34" charset="-122"/>
                <a:cs typeface="Courier New" pitchFamily="34" charset="-120"/>
              </a:rPr>
              <a:t>budget = 10000</a:t>
            </a:r>
            <a:endParaRPr lang="en-US" sz="1500" dirty="0"/>
          </a:p>
          <a:p>
            <a:pPr algn="l" indent="0" marL="0">
              <a:lnSpc>
                <a:spcPts val="1950"/>
              </a:lnSpc>
              <a:buNone/>
            </a:pPr>
            <a:r>
              <a:rPr lang="en-US" sz="1500" dirty="0">
                <a:solidFill>
                  <a:srgbClr val="FFFFFF"/>
                </a:solidFill>
                <a:latin typeface="Courier New" pitchFamily="34" charset="0"/>
                <a:ea typeface="Courier New" pitchFamily="34" charset="-122"/>
                <a:cs typeface="Courier New" pitchFamily="34" charset="-120"/>
              </a:rPr>
              <a:t>cost = 8000</a:t>
            </a:r>
            <a:endParaRPr lang="en-US" sz="1500" dirty="0"/>
          </a:p>
          <a:p>
            <a:pPr algn="l" indent="0" marL="0">
              <a:lnSpc>
                <a:spcPts val="1950"/>
              </a:lnSpc>
              <a:buNone/>
            </a:pPr>
            <a:r>
              <a:rPr lang="en-US" sz="1500" b="1" dirty="0">
                <a:solidFill>
                  <a:srgbClr val="FFFFFF"/>
                </a:solidFill>
                <a:latin typeface="Courier New" pitchFamily="34" charset="0"/>
                <a:ea typeface="Courier New" pitchFamily="34" charset="-122"/>
                <a:cs typeface="Courier New" pitchFamily="34" charset="-120"/>
              </a:rPr>
              <a:t>if</a:t>
            </a:r>
            <a:pPr algn="l" indent="0" marL="0">
              <a:lnSpc>
                <a:spcPts val="1950"/>
              </a:lnSpc>
              <a:buNone/>
            </a:pPr>
            <a:r>
              <a:rPr lang="en-US" sz="1500" dirty="0">
                <a:solidFill>
                  <a:srgbClr val="FFFFFF"/>
                </a:solidFill>
                <a:latin typeface="Courier New" pitchFamily="34" charset="0"/>
                <a:ea typeface="Courier New" pitchFamily="34" charset="-122"/>
                <a:cs typeface="Courier New" pitchFamily="34" charset="-120"/>
              </a:rPr>
              <a:t> cost &lt;= budget:</a:t>
            </a:r>
            <a:endParaRPr lang="en-US" sz="1500" dirty="0"/>
          </a:p>
          <a:p>
            <a:pPr algn="l" indent="0" marL="0">
              <a:lnSpc>
                <a:spcPts val="1950"/>
              </a:lnSpc>
              <a:buNone/>
            </a:pPr>
            <a:r>
              <a:rPr lang="en-US" sz="1500" dirty="0">
                <a:solidFill>
                  <a:srgbClr val="FFFFFF"/>
                </a:solidFill>
                <a:latin typeface="Courier New" pitchFamily="34" charset="0"/>
                <a:ea typeface="Courier New" pitchFamily="34" charset="-122"/>
                <a:cs typeface="Courier New" pitchFamily="34" charset="-120"/>
              </a:rPr>
              <a:t>    message = </a:t>
            </a:r>
            <a:pPr algn="l" indent="0" marL="0">
              <a:lnSpc>
                <a:spcPts val="1950"/>
              </a:lnSpc>
              <a:buNone/>
            </a:pPr>
            <a:r>
              <a:rPr lang="en-US" sz="1500" dirty="0">
                <a:solidFill>
                  <a:srgbClr val="E0BE36"/>
                </a:solidFill>
                <a:latin typeface="Courier New" pitchFamily="34" charset="0"/>
                <a:ea typeface="Courier New" pitchFamily="34" charset="-122"/>
                <a:cs typeface="Courier New" pitchFamily="34" charset="-120"/>
              </a:rPr>
              <a:t>"Within budget"</a:t>
            </a:r>
            <a:endParaRPr lang="en-US" sz="1500" dirty="0"/>
          </a:p>
          <a:p>
            <a:pPr algn="l" indent="0" marL="0">
              <a:lnSpc>
                <a:spcPts val="1950"/>
              </a:lnSpc>
              <a:buNone/>
            </a:pPr>
            <a:r>
              <a:rPr lang="en-US" sz="1500" b="1" dirty="0">
                <a:solidFill>
                  <a:srgbClr val="FFFFFF"/>
                </a:solidFill>
                <a:latin typeface="Courier New" pitchFamily="34" charset="0"/>
                <a:ea typeface="Courier New" pitchFamily="34" charset="-122"/>
                <a:cs typeface="Courier New" pitchFamily="34" charset="-120"/>
              </a:rPr>
              <a:t>else</a:t>
            </a:r>
            <a:pPr algn="l" indent="0" marL="0">
              <a:lnSpc>
                <a:spcPts val="1950"/>
              </a:lnSpc>
              <a:buNone/>
            </a:pPr>
            <a:r>
              <a:rPr lang="en-US" sz="1500" dirty="0">
                <a:solidFill>
                  <a:srgbClr val="FFFFFF"/>
                </a:solidFill>
                <a:latin typeface="Courier New" pitchFamily="34" charset="0"/>
                <a:ea typeface="Courier New" pitchFamily="34" charset="-122"/>
                <a:cs typeface="Courier New" pitchFamily="34" charset="-120"/>
              </a:rPr>
              <a:t>:</a:t>
            </a:r>
            <a:endParaRPr lang="en-US" sz="1500" dirty="0"/>
          </a:p>
          <a:p>
            <a:pPr algn="l" indent="0" marL="0">
              <a:lnSpc>
                <a:spcPts val="1950"/>
              </a:lnSpc>
              <a:buNone/>
            </a:pPr>
            <a:r>
              <a:rPr lang="en-US" sz="1500" dirty="0">
                <a:solidFill>
                  <a:srgbClr val="FFFFFF"/>
                </a:solidFill>
                <a:latin typeface="Courier New" pitchFamily="34" charset="0"/>
                <a:ea typeface="Courier New" pitchFamily="34" charset="-122"/>
                <a:cs typeface="Courier New" pitchFamily="34" charset="-120"/>
              </a:rPr>
              <a:t>    message = </a:t>
            </a:r>
            <a:pPr algn="l" indent="0" marL="0">
              <a:lnSpc>
                <a:spcPts val="1950"/>
              </a:lnSpc>
              <a:buNone/>
            </a:pPr>
            <a:r>
              <a:rPr lang="en-US" sz="1500" dirty="0">
                <a:solidFill>
                  <a:srgbClr val="E0BE36"/>
                </a:solidFill>
                <a:latin typeface="Courier New" pitchFamily="34" charset="0"/>
                <a:ea typeface="Courier New" pitchFamily="34" charset="-122"/>
                <a:cs typeface="Courier New" pitchFamily="34" charset="-120"/>
              </a:rPr>
              <a:t>"Over budget"</a:t>
            </a:r>
            <a:endParaRPr lang="en-US" sz="1500" dirty="0"/>
          </a:p>
          <a:p>
            <a:pPr algn="l" indent="0" marL="0">
              <a:lnSpc>
                <a:spcPts val="1950"/>
              </a:lnSpc>
              <a:buNone/>
            </a:pPr>
            <a:r>
              <a:rPr lang="en-US" sz="1500" dirty="0">
                <a:solidFill>
                  <a:srgbClr val="FFFFFF"/>
                </a:solidFill>
                <a:latin typeface="Courier New" pitchFamily="34" charset="0"/>
                <a:ea typeface="Courier New" pitchFamily="34" charset="-122"/>
                <a:cs typeface="Courier New" pitchFamily="34" charset="-120"/>
              </a:rPr>
              <a:t>print(message)</a:t>
            </a:r>
            <a:endParaRPr lang="en-US" sz="1500" dirty="0"/>
          </a:p>
        </p:txBody>
      </p:sp>
      <p:sp>
        <p:nvSpPr>
          <p:cNvPr id="5" name="Text 3"/>
          <p:cNvSpPr txBox="1"/>
          <p:nvPr/>
        </p:nvSpPr>
        <p:spPr>
          <a:xfrm>
            <a:off x="640080" y="1737360"/>
            <a:ext cx="640080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What is the answer to 5000 &gt;= 5000?</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What does = do compared with ==?</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Set cost to 12000 and run the decision again.</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sp>
        <p:nvSpPr>
          <p:cNvPr id="4" name="Shape 2"/>
          <p:cNvSpPr/>
          <p:nvPr/>
        </p:nvSpPr>
        <p:spPr>
          <a:xfrm>
            <a:off x="7223760" y="1737360"/>
            <a:ext cx="4297680" cy="2288032"/>
          </a:xfrm>
          <a:prstGeom prst="roundRect">
            <a:avLst>
              <a:gd name="adj" fmla="val 3197"/>
            </a:avLst>
          </a:prstGeom>
          <a:solidFill>
            <a:srgbClr val="111111"/>
          </a:solidFill>
          <a:ln/>
        </p:spPr>
      </p:sp>
      <p:sp>
        <p:nvSpPr>
          <p:cNvPr id="5" name="Text 3"/>
          <p:cNvSpPr txBox="1"/>
          <p:nvPr/>
        </p:nvSpPr>
        <p:spPr>
          <a:xfrm>
            <a:off x="7424928" y="1938528"/>
            <a:ext cx="3895344" cy="1885696"/>
          </a:xfrm>
          <a:prstGeom prst="rect">
            <a:avLst/>
          </a:prstGeom>
          <a:noFill/>
          <a:ln/>
        </p:spPr>
        <p:txBody>
          <a:bodyPr wrap="square" lIns="0" tIns="0" rIns="0" bIns="0" rtlCol="0" anchor="t"/>
          <a:lstStyle/>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budget = 10000</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cost = 8000</a:t>
            </a:r>
            <a:endParaRPr lang="en-US" sz="1600" dirty="0"/>
          </a:p>
          <a:p>
            <a:pPr algn="l" indent="0" marL="0">
              <a:lnSpc>
                <a:spcPts val="2080"/>
              </a:lnSpc>
              <a:buNone/>
            </a:pPr>
            <a:r>
              <a:rPr lang="en-US" sz="1600" b="1" dirty="0">
                <a:solidFill>
                  <a:srgbClr val="FFFFFF"/>
                </a:solidFill>
                <a:latin typeface="Courier New" pitchFamily="34" charset="0"/>
                <a:ea typeface="Courier New" pitchFamily="34" charset="-122"/>
                <a:cs typeface="Courier New" pitchFamily="34" charset="-120"/>
              </a:rPr>
              <a:t>if</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cost &lt;= budget:</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message = </a:t>
            </a:r>
            <a:pPr algn="l" indent="0" marL="0">
              <a:lnSpc>
                <a:spcPts val="2080"/>
              </a:lnSpc>
              <a:buNone/>
            </a:pPr>
            <a:r>
              <a:rPr lang="en-US" sz="1600" dirty="0">
                <a:solidFill>
                  <a:srgbClr val="E0BE36"/>
                </a:solidFill>
                <a:latin typeface="Courier New" pitchFamily="34" charset="0"/>
                <a:ea typeface="Courier New" pitchFamily="34" charset="-122"/>
                <a:cs typeface="Courier New" pitchFamily="34" charset="-120"/>
              </a:rPr>
              <a:t>"Within budget"</a:t>
            </a:r>
            <a:endParaRPr lang="en-US" sz="1600" dirty="0"/>
          </a:p>
          <a:p>
            <a:pPr algn="l" indent="0" marL="0">
              <a:lnSpc>
                <a:spcPts val="2080"/>
              </a:lnSpc>
              <a:buNone/>
            </a:pPr>
            <a:r>
              <a:rPr lang="en-US" sz="1600" b="1" dirty="0">
                <a:solidFill>
                  <a:srgbClr val="FFFFFF"/>
                </a:solidFill>
                <a:latin typeface="Courier New" pitchFamily="34" charset="0"/>
                <a:ea typeface="Courier New" pitchFamily="34" charset="-122"/>
                <a:cs typeface="Courier New" pitchFamily="34" charset="-120"/>
              </a:rPr>
              <a:t>else</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message = </a:t>
            </a:r>
            <a:pPr algn="l" indent="0" marL="0">
              <a:lnSpc>
                <a:spcPts val="2080"/>
              </a:lnSpc>
              <a:buNone/>
            </a:pPr>
            <a:r>
              <a:rPr lang="en-US" sz="1600" dirty="0">
                <a:solidFill>
                  <a:srgbClr val="E0BE36"/>
                </a:solidFill>
                <a:latin typeface="Courier New" pitchFamily="34" charset="0"/>
                <a:ea typeface="Courier New" pitchFamily="34" charset="-122"/>
                <a:cs typeface="Courier New" pitchFamily="34" charset="-120"/>
              </a:rPr>
              <a:t>"Over budget"</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print(message)</a:t>
            </a:r>
            <a:endParaRPr lang="en-US" sz="1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400" b="1" dirty="0">
                <a:solidFill>
                  <a:srgbClr val="FFFFFF"/>
                </a:solidFill>
                <a:latin typeface="Lato" pitchFamily="34" charset="0"/>
                <a:ea typeface="Lato" pitchFamily="34" charset="-122"/>
                <a:cs typeface="Lato" pitchFamily="34" charset="-120"/>
              </a:rPr>
              <a:t>Break</a:t>
            </a:r>
            <a:endParaRPr lang="en-US" sz="5400" dirty="0"/>
          </a:p>
        </p:txBody>
      </p:sp>
      <p:sp>
        <p:nvSpPr>
          <p:cNvPr id="3" name="Text 1"/>
          <p:cNvSpPr txBox="1"/>
          <p:nvPr/>
        </p:nvSpPr>
        <p:spPr>
          <a:xfrm>
            <a:off x="640080" y="3154680"/>
            <a:ext cx="6858000" cy="914400"/>
          </a:xfrm>
          <a:prstGeom prst="rect">
            <a:avLst/>
          </a:prstGeom>
          <a:noFill/>
          <a:ln/>
        </p:spPr>
        <p:txBody>
          <a:bodyPr wrap="square" lIns="0" tIns="0" rIns="0" bIns="0" rtlCol="0" anchor="t"/>
          <a:lstStyle/>
          <a:p>
            <a:pPr algn="l" indent="0" marL="0">
              <a:lnSpc>
                <a:spcPts val="4080"/>
              </a:lnSpc>
              <a:buNone/>
            </a:pPr>
            <a:r>
              <a:rPr lang="en-US" sz="3400" b="1" dirty="0">
                <a:solidFill>
                  <a:srgbClr val="FFFFFF"/>
                </a:solidFill>
                <a:latin typeface="Lato" pitchFamily="34" charset="0"/>
                <a:ea typeface="Lato" pitchFamily="34" charset="-122"/>
                <a:cs typeface="Lato" pitchFamily="34" charset="-120"/>
              </a:rPr>
              <a:t>15 minutes away from your screen</a:t>
            </a:r>
            <a:endParaRPr lang="en-US" sz="3400" dirty="0"/>
          </a:p>
        </p:txBody>
      </p:sp>
      <p:sp>
        <p:nvSpPr>
          <p:cNvPr id="4" name="Text 2"/>
          <p:cNvSpPr txBox="1"/>
          <p:nvPr/>
        </p:nvSpPr>
        <p:spPr>
          <a:xfrm>
            <a:off x="640080" y="4206240"/>
            <a:ext cx="6400800" cy="1463040"/>
          </a:xfrm>
          <a:prstGeom prst="rect">
            <a:avLst/>
          </a:prstGeom>
          <a:noFill/>
          <a:ln/>
        </p:spPr>
        <p:txBody>
          <a:bodyPr wrap="square" lIns="0" tIns="0" rIns="0" bIns="0" rtlCol="0" anchor="t"/>
          <a:lstStyle/>
          <a:p>
            <a:pPr algn="l" indent="0" marL="0">
              <a:lnSpc>
                <a:spcPts val="3000"/>
              </a:lnSpc>
              <a:buNone/>
            </a:pPr>
            <a:r>
              <a:rPr lang="en-US" sz="2400" dirty="0">
                <a:solidFill>
                  <a:srgbClr val="D8D8D8"/>
                </a:solidFill>
                <a:latin typeface="Lato" pitchFamily="34" charset="0"/>
                <a:ea typeface="Lato" pitchFamily="34" charset="-122"/>
                <a:cs typeface="Lato" pitchFamily="34" charset="-120"/>
              </a:rPr>
              <a:t>Stand up. Drink some water. Tell someone what you guessed in the first half.</a:t>
            </a:r>
            <a:endParaRPr lang="en-US" sz="2400" dirty="0"/>
          </a:p>
        </p:txBody>
      </p:sp>
      <p:pic>
        <p:nvPicPr>
          <p:cNvPr id="5" name="Image 0" descr="A clock">    </p:cNvPr>
          <p:cNvPicPr>
            <a:picLocks noChangeAspect="1"/>
          </p:cNvPicPr>
          <p:nvPr/>
        </p:nvPicPr>
        <p:blipFill>
          <a:blip r:embed="rId1"/>
          <a:stretch>
            <a:fillRect/>
          </a:stretch>
        </p:blipFill>
        <p:spPr>
          <a:xfrm>
            <a:off x="8321040" y="2743200"/>
            <a:ext cx="2926080" cy="292608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Four spaces tell Python</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which lines belong to the if</a:t>
            </a:r>
            <a:endParaRPr lang="en-US" sz="3600" dirty="0"/>
          </a:p>
        </p:txBody>
      </p:sp>
      <p:pic>
        <p:nvPicPr>
          <p:cNvPr id="3" name="Image 0" descr="Four spaces tell Python which lines belong to the if">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Lines pushed in by four spaces belong to the if or else.</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unindented line runs every time.</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A colon ends each if and else line.</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An elif asks a second question</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when the first is False</a:t>
            </a:r>
            <a:endParaRPr lang="en-US" sz="3600" dirty="0"/>
          </a:p>
        </p:txBody>
      </p:sp>
      <p:pic>
        <p:nvPicPr>
          <p:cNvPr id="3" name="Image 0" descr="An elif asks a second question when the first is False">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Python asks the questions from the top down.</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It stops at the first True answer.</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else catches every flower that is left.</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A rule that names a flower</a:t>
            </a:r>
            <a:endParaRPr lang="en-US" sz="3800" dirty="0"/>
          </a:p>
        </p:txBody>
      </p:sp>
      <p:sp>
        <p:nvSpPr>
          <p:cNvPr id="3" name="Shape 1"/>
          <p:cNvSpPr/>
          <p:nvPr/>
        </p:nvSpPr>
        <p:spPr>
          <a:xfrm>
            <a:off x="640080" y="1645920"/>
            <a:ext cx="6035040" cy="3344672"/>
          </a:xfrm>
          <a:prstGeom prst="roundRect">
            <a:avLst>
              <a:gd name="adj" fmla="val 2187"/>
            </a:avLst>
          </a:prstGeom>
          <a:solidFill>
            <a:srgbClr val="111111"/>
          </a:solidFill>
          <a:ln/>
        </p:spPr>
      </p:sp>
      <p:sp>
        <p:nvSpPr>
          <p:cNvPr id="4" name="Text 2"/>
          <p:cNvSpPr txBox="1"/>
          <p:nvPr/>
        </p:nvSpPr>
        <p:spPr>
          <a:xfrm>
            <a:off x="841248" y="1847088"/>
            <a:ext cx="5632704" cy="2942336"/>
          </a:xfrm>
          <a:prstGeom prst="rect">
            <a:avLst/>
          </a:prstGeom>
          <a:noFill/>
          <a:ln/>
        </p:spPr>
        <p:txBody>
          <a:bodyPr wrap="square" lIns="0" tIns="0" rIns="0" bIns="0" rtlCol="0" anchor="t"/>
          <a:lstStyle/>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petal_length = 4.7</a:t>
            </a:r>
            <a:endParaRPr lang="en-US" sz="2200" dirty="0"/>
          </a:p>
          <a:p>
            <a:pPr algn="l" indent="0" marL="0">
              <a:lnSpc>
                <a:spcPts val="2860"/>
              </a:lnSpc>
              <a:buNone/>
            </a:pPr>
            <a:r>
              <a:rPr lang="en-US" sz="2200" b="1" dirty="0">
                <a:solidFill>
                  <a:srgbClr val="FFFFFF"/>
                </a:solidFill>
                <a:latin typeface="Courier New" pitchFamily="34" charset="0"/>
                <a:ea typeface="Courier New" pitchFamily="34" charset="-122"/>
                <a:cs typeface="Courier New" pitchFamily="34" charset="-120"/>
              </a:rPr>
              <a:t>if</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petal_length &lt; 2.5:</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guess = </a:t>
            </a:r>
            <a:pPr algn="l" indent="0" marL="0">
              <a:lnSpc>
                <a:spcPts val="2860"/>
              </a:lnSpc>
              <a:buNone/>
            </a:pPr>
            <a:r>
              <a:rPr lang="en-US" sz="2200" dirty="0">
                <a:solidFill>
                  <a:srgbClr val="E0BE36"/>
                </a:solidFill>
                <a:latin typeface="Courier New" pitchFamily="34" charset="0"/>
                <a:ea typeface="Courier New" pitchFamily="34" charset="-122"/>
                <a:cs typeface="Courier New" pitchFamily="34" charset="-120"/>
              </a:rPr>
              <a:t>"setosa"</a:t>
            </a:r>
            <a:endParaRPr lang="en-US" sz="2200" dirty="0"/>
          </a:p>
          <a:p>
            <a:pPr algn="l" indent="0" marL="0">
              <a:lnSpc>
                <a:spcPts val="2860"/>
              </a:lnSpc>
              <a:buNone/>
            </a:pPr>
            <a:r>
              <a:rPr lang="en-US" sz="2200" b="1" dirty="0">
                <a:solidFill>
                  <a:srgbClr val="FFFFFF"/>
                </a:solidFill>
                <a:latin typeface="Courier New" pitchFamily="34" charset="0"/>
                <a:ea typeface="Courier New" pitchFamily="34" charset="-122"/>
                <a:cs typeface="Courier New" pitchFamily="34" charset="-120"/>
              </a:rPr>
              <a:t>elif</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petal_length &lt; 4.8:</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guess = </a:t>
            </a:r>
            <a:pPr algn="l" indent="0" marL="0">
              <a:lnSpc>
                <a:spcPts val="2860"/>
              </a:lnSpc>
              <a:buNone/>
            </a:pPr>
            <a:r>
              <a:rPr lang="en-US" sz="2200" dirty="0">
                <a:solidFill>
                  <a:srgbClr val="E0BE36"/>
                </a:solidFill>
                <a:latin typeface="Courier New" pitchFamily="34" charset="0"/>
                <a:ea typeface="Courier New" pitchFamily="34" charset="-122"/>
                <a:cs typeface="Courier New" pitchFamily="34" charset="-120"/>
              </a:rPr>
              <a:t>"versicolor"</a:t>
            </a:r>
            <a:endParaRPr lang="en-US" sz="2200" dirty="0"/>
          </a:p>
          <a:p>
            <a:pPr algn="l" indent="0" marL="0">
              <a:lnSpc>
                <a:spcPts val="2860"/>
              </a:lnSpc>
              <a:buNone/>
            </a:pPr>
            <a:r>
              <a:rPr lang="en-US" sz="2200" b="1" dirty="0">
                <a:solidFill>
                  <a:srgbClr val="FFFFFF"/>
                </a:solidFill>
                <a:latin typeface="Courier New" pitchFamily="34" charset="0"/>
                <a:ea typeface="Courier New" pitchFamily="34" charset="-122"/>
                <a:cs typeface="Courier New" pitchFamily="34" charset="-120"/>
              </a:rPr>
              <a:t>else</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guess = </a:t>
            </a:r>
            <a:pPr algn="l" indent="0" marL="0">
              <a:lnSpc>
                <a:spcPts val="2860"/>
              </a:lnSpc>
              <a:buNone/>
            </a:pPr>
            <a:r>
              <a:rPr lang="en-US" sz="2200" dirty="0">
                <a:solidFill>
                  <a:srgbClr val="E0BE36"/>
                </a:solidFill>
                <a:latin typeface="Courier New" pitchFamily="34" charset="0"/>
                <a:ea typeface="Courier New" pitchFamily="34" charset="-122"/>
                <a:cs typeface="Courier New" pitchFamily="34" charset="-120"/>
              </a:rPr>
              <a:t>"virginica"</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print(guess)</a:t>
            </a:r>
            <a:endParaRPr lang="en-US" sz="2200" dirty="0"/>
          </a:p>
        </p:txBody>
      </p:sp>
      <p:sp>
        <p:nvSpPr>
          <p:cNvPr id="5" name="Text 3"/>
          <p:cNvSpPr txBox="1"/>
          <p:nvPr/>
        </p:nvSpPr>
        <p:spPr>
          <a:xfrm>
            <a:off x="7040880" y="1737360"/>
            <a:ext cx="4480560" cy="2560320"/>
          </a:xfrm>
          <a:prstGeom prst="rect">
            <a:avLst/>
          </a:prstGeom>
          <a:noFill/>
          <a:ln/>
        </p:spPr>
        <p:txBody>
          <a:bodyPr wrap="square" lIns="0" tIns="0" rIns="0" bIns="0" rtlCol="0" anchor="t"/>
          <a:lstStyle/>
          <a:p>
            <a:pPr algn="l" indent="0" marL="0">
              <a:lnSpc>
                <a:spcPts val="2880"/>
              </a:lnSpc>
              <a:spcAft>
                <a:spcPts val="2160"/>
              </a:spcAft>
              <a:buNone/>
            </a:pPr>
            <a:r>
              <a:rPr lang="en-US" sz="2400" dirty="0">
                <a:solidFill>
                  <a:srgbClr val="111111"/>
                </a:solidFill>
                <a:latin typeface="Lato" pitchFamily="34" charset="0"/>
                <a:ea typeface="Lato" pitchFamily="34" charset="-122"/>
                <a:cs typeface="Lato" pitchFamily="34" charset="-120"/>
              </a:rPr>
              <a:t>Look at the rule. Predict which species it names for a petal length of 4.7 centimetres.</a:t>
            </a:r>
            <a:endParaRPr lang="en-US" sz="2400" dirty="0"/>
          </a:p>
          <a:p>
            <a:pPr algn="l" indent="0" marL="0">
              <a:lnSpc>
                <a:spcPts val="2880"/>
              </a:lnSpc>
              <a:spcAft>
                <a:spcPts val="2160"/>
              </a:spcAft>
              <a:buNone/>
            </a:pPr>
            <a:r>
              <a:rPr lang="en-US" sz="2400" dirty="0">
                <a:solidFill>
                  <a:srgbClr val="111111"/>
                </a:solidFill>
                <a:latin typeface="Lato" pitchFamily="34" charset="0"/>
                <a:ea typeface="Lato" pitchFamily="34" charset="-122"/>
                <a:cs typeface="Lato" pitchFamily="34" charset="-120"/>
              </a:rPr>
              <a:t>Write your guess on paper before we run it.</a:t>
            </a:r>
            <a:endParaRPr lang="en-US" sz="2400" dirty="0"/>
          </a:p>
        </p:txBody>
      </p:sp>
      <p:pic>
        <p:nvPicPr>
          <p:cNvPr id="6" name="Image 0" descr="A page and a pen: write your guess first">    </p:cNvPr>
          <p:cNvPicPr>
            <a:picLocks noChangeAspect="1"/>
          </p:cNvPicPr>
          <p:nvPr/>
        </p:nvPicPr>
        <p:blipFill>
          <a:blip r:embed="rId1"/>
          <a:stretch>
            <a:fillRect/>
          </a:stretch>
        </p:blipFill>
        <p:spPr>
          <a:xfrm>
            <a:off x="7916091" y="4343400"/>
            <a:ext cx="2090057"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A rule that names a flower</a:t>
            </a:r>
            <a:endParaRPr lang="en-US" sz="3800" dirty="0"/>
          </a:p>
        </p:txBody>
      </p:sp>
      <p:sp>
        <p:nvSpPr>
          <p:cNvPr id="3" name="Shape 1"/>
          <p:cNvSpPr/>
          <p:nvPr/>
        </p:nvSpPr>
        <p:spPr>
          <a:xfrm>
            <a:off x="640080" y="1645920"/>
            <a:ext cx="6035040" cy="765556"/>
          </a:xfrm>
          <a:prstGeom prst="roundRect">
            <a:avLst>
              <a:gd name="adj" fmla="val 9555"/>
            </a:avLst>
          </a:prstGeom>
          <a:solidFill>
            <a:srgbClr val="FFFFFF"/>
          </a:solidFill>
          <a:ln w="15875">
            <a:solidFill>
              <a:srgbClr val="111111"/>
            </a:solidFill>
            <a:prstDash val="solid"/>
          </a:ln>
        </p:spPr>
      </p:sp>
      <p:sp>
        <p:nvSpPr>
          <p:cNvPr id="4" name="Text 2"/>
          <p:cNvSpPr txBox="1"/>
          <p:nvPr/>
        </p:nvSpPr>
        <p:spPr>
          <a:xfrm>
            <a:off x="822960" y="1828800"/>
            <a:ext cx="5669280" cy="399796"/>
          </a:xfrm>
          <a:prstGeom prst="rect">
            <a:avLst/>
          </a:prstGeom>
          <a:noFill/>
          <a:ln/>
        </p:spPr>
        <p:txBody>
          <a:bodyPr wrap="square" lIns="0" tIns="0" rIns="0" bIns="0" rtlCol="0" anchor="t"/>
          <a:lstStyle/>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versicolor</a:t>
            </a:r>
            <a:endParaRPr lang="en-US" sz="2200" dirty="0"/>
          </a:p>
        </p:txBody>
      </p:sp>
      <p:sp>
        <p:nvSpPr>
          <p:cNvPr id="5" name="Text 3"/>
          <p:cNvSpPr txBox="1"/>
          <p:nvPr/>
        </p:nvSpPr>
        <p:spPr>
          <a:xfrm>
            <a:off x="7040880" y="1737360"/>
            <a:ext cx="4480560" cy="4389120"/>
          </a:xfrm>
          <a:prstGeom prst="rect">
            <a:avLst/>
          </a:prstGeom>
          <a:noFill/>
          <a:ln/>
        </p:spPr>
        <p:txBody>
          <a:bodyPr wrap="square" lIns="0" tIns="0" rIns="0" bIns="0" rtlCol="0" anchor="t"/>
          <a:lstStyle/>
          <a:p>
            <a:pPr algn="l" indent="0" marL="0">
              <a:lnSpc>
                <a:spcPts val="2760"/>
              </a:lnSpc>
              <a:spcAft>
                <a:spcPts val="1580"/>
              </a:spcAft>
              <a:buNone/>
            </a:pPr>
            <a:r>
              <a:rPr lang="en-US" sz="2300" dirty="0">
                <a:solidFill>
                  <a:srgbClr val="111111"/>
                </a:solidFill>
                <a:latin typeface="Lato" pitchFamily="34" charset="0"/>
                <a:ea typeface="Lato" pitchFamily="34" charset="-122"/>
                <a:cs typeface="Lato" pitchFamily="34" charset="-120"/>
              </a:rPr>
              <a:t>The cell prints versicolor.</a:t>
            </a:r>
            <a:endParaRPr lang="en-US" sz="2300" dirty="0"/>
          </a:p>
          <a:p>
            <a:pPr algn="l" indent="0" marL="0">
              <a:lnSpc>
                <a:spcPts val="2760"/>
              </a:lnSpc>
              <a:spcAft>
                <a:spcPts val="1580"/>
              </a:spcAft>
              <a:buNone/>
            </a:pPr>
            <a:r>
              <a:rPr lang="en-US" sz="2300" dirty="0">
                <a:solidFill>
                  <a:srgbClr val="111111"/>
                </a:solidFill>
                <a:latin typeface="Lato" pitchFamily="34" charset="0"/>
                <a:ea typeface="Lato" pitchFamily="34" charset="-122"/>
                <a:cs typeface="Lato" pitchFamily="34" charset="-120"/>
              </a:rPr>
              <a:t>elif asks a second question only when the first answer was False.</a:t>
            </a:r>
            <a:endParaRPr lang="en-US" sz="2300" dirty="0"/>
          </a:p>
          <a:p>
            <a:pPr algn="l" indent="0" marL="0">
              <a:lnSpc>
                <a:spcPts val="2760"/>
              </a:lnSpc>
              <a:spcAft>
                <a:spcPts val="1580"/>
              </a:spcAft>
              <a:buNone/>
            </a:pPr>
            <a:r>
              <a:rPr lang="en-US" sz="2300" dirty="0">
                <a:solidFill>
                  <a:srgbClr val="111111"/>
                </a:solidFill>
                <a:latin typeface="Lato" pitchFamily="34" charset="0"/>
                <a:ea typeface="Lato" pitchFamily="34" charset="-122"/>
                <a:cs typeface="Lato" pitchFamily="34" charset="-120"/>
              </a:rPr>
              <a:t>Try the eight petal lengths.</a:t>
            </a:r>
            <a:endParaRPr lang="en-US" sz="2300" dirty="0"/>
          </a:p>
          <a:p>
            <a:pPr algn="l" indent="0" marL="0">
              <a:lnSpc>
                <a:spcPts val="2760"/>
              </a:lnSpc>
              <a:spcAft>
                <a:spcPts val="1580"/>
              </a:spcAft>
              <a:buNone/>
            </a:pPr>
            <a:r>
              <a:rPr lang="en-US" sz="2300" dirty="0">
                <a:solidFill>
                  <a:srgbClr val="111111"/>
                </a:solidFill>
                <a:latin typeface="Lato" pitchFamily="34" charset="0"/>
                <a:ea typeface="Lato" pitchFamily="34" charset="-122"/>
                <a:cs typeface="Lato" pitchFamily="34" charset="-120"/>
              </a:rPr>
              <a:t>The true species are setosa twice, versicolor three times and virginica three times.</a:t>
            </a:r>
            <a:endParaRPr lang="en-US" sz="2300" dirty="0"/>
          </a:p>
          <a:p>
            <a:pPr algn="l" indent="0" marL="0">
              <a:lnSpc>
                <a:spcPts val="2760"/>
              </a:lnSpc>
              <a:spcAft>
                <a:spcPts val="1580"/>
              </a:spcAft>
              <a:buNone/>
            </a:pPr>
            <a:r>
              <a:rPr lang="en-US" sz="2300" dirty="0">
                <a:solidFill>
                  <a:srgbClr val="111111"/>
                </a:solidFill>
                <a:latin typeface="Lato" pitchFamily="34" charset="0"/>
                <a:ea typeface="Lato" pitchFamily="34" charset="-122"/>
                <a:cs typeface="Lato" pitchFamily="34" charset="-120"/>
              </a:rPr>
              <a:t>The rule gets seven right and misses the 4.9 flower.</a:t>
            </a:r>
            <a:endParaRPr lang="en-US" sz="23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A rule that names a flower</a:t>
            </a:r>
            <a:endParaRPr lang="en-US" sz="3800" dirty="0"/>
          </a:p>
        </p:txBody>
      </p:sp>
      <p:sp>
        <p:nvSpPr>
          <p:cNvPr id="3" name="Shape 1"/>
          <p:cNvSpPr/>
          <p:nvPr/>
        </p:nvSpPr>
        <p:spPr>
          <a:xfrm>
            <a:off x="7498080" y="1737360"/>
            <a:ext cx="4023360" cy="2816352"/>
          </a:xfrm>
          <a:prstGeom prst="roundRect">
            <a:avLst>
              <a:gd name="adj" fmla="val 2597"/>
            </a:avLst>
          </a:prstGeom>
          <a:solidFill>
            <a:srgbClr val="111111"/>
          </a:solidFill>
          <a:ln/>
        </p:spPr>
      </p:sp>
      <p:sp>
        <p:nvSpPr>
          <p:cNvPr id="4" name="Text 2"/>
          <p:cNvSpPr txBox="1"/>
          <p:nvPr/>
        </p:nvSpPr>
        <p:spPr>
          <a:xfrm>
            <a:off x="7699248" y="1938528"/>
            <a:ext cx="3621024" cy="2414016"/>
          </a:xfrm>
          <a:prstGeom prst="rect">
            <a:avLst/>
          </a:prstGeom>
          <a:noFill/>
          <a:ln/>
        </p:spPr>
        <p:txBody>
          <a:bodyPr wrap="square" lIns="0" tIns="0" rIns="0" bIns="0" rtlCol="0" anchor="t"/>
          <a:lstStyle/>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petal_length = 4.7</a:t>
            </a:r>
            <a:endParaRPr lang="en-US" sz="1800" dirty="0"/>
          </a:p>
          <a:p>
            <a:pPr algn="l" indent="0" marL="0">
              <a:lnSpc>
                <a:spcPts val="2340"/>
              </a:lnSpc>
              <a:buNone/>
            </a:pPr>
            <a:r>
              <a:rPr lang="en-US" sz="1800" b="1" dirty="0">
                <a:solidFill>
                  <a:srgbClr val="FFFFFF"/>
                </a:solidFill>
                <a:latin typeface="Courier New" pitchFamily="34" charset="0"/>
                <a:ea typeface="Courier New" pitchFamily="34" charset="-122"/>
                <a:cs typeface="Courier New" pitchFamily="34" charset="-120"/>
              </a:rPr>
              <a:t>if</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petal_length &lt; 2.5:</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guess = </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"setosa"</a:t>
            </a:r>
            <a:endParaRPr lang="en-US" sz="1800" dirty="0"/>
          </a:p>
          <a:p>
            <a:pPr algn="l" indent="0" marL="0">
              <a:lnSpc>
                <a:spcPts val="2340"/>
              </a:lnSpc>
              <a:buNone/>
            </a:pPr>
            <a:r>
              <a:rPr lang="en-US" sz="1800" b="1" dirty="0">
                <a:solidFill>
                  <a:srgbClr val="FFFFFF"/>
                </a:solidFill>
                <a:latin typeface="Courier New" pitchFamily="34" charset="0"/>
                <a:ea typeface="Courier New" pitchFamily="34" charset="-122"/>
                <a:cs typeface="Courier New" pitchFamily="34" charset="-120"/>
              </a:rPr>
              <a:t>elif</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petal_length &lt; 4.8:</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guess = </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"versicolor"</a:t>
            </a:r>
            <a:endParaRPr lang="en-US" sz="1800" dirty="0"/>
          </a:p>
          <a:p>
            <a:pPr algn="l" indent="0" marL="0">
              <a:lnSpc>
                <a:spcPts val="2340"/>
              </a:lnSpc>
              <a:buNone/>
            </a:pPr>
            <a:r>
              <a:rPr lang="en-US" sz="1800" b="1" dirty="0">
                <a:solidFill>
                  <a:srgbClr val="FFFFFF"/>
                </a:solidFill>
                <a:latin typeface="Courier New" pitchFamily="34" charset="0"/>
                <a:ea typeface="Courier New" pitchFamily="34" charset="-122"/>
                <a:cs typeface="Courier New" pitchFamily="34" charset="-120"/>
              </a:rPr>
              <a:t>else</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guess = </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"virginica"</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print(guess)</a:t>
            </a:r>
            <a:endParaRPr lang="en-US" sz="1800" dirty="0"/>
          </a:p>
        </p:txBody>
      </p:sp>
      <p:sp>
        <p:nvSpPr>
          <p:cNvPr id="5" name="Text 3"/>
          <p:cNvSpPr txBox="1"/>
          <p:nvPr/>
        </p:nvSpPr>
        <p:spPr>
          <a:xfrm>
            <a:off x="640080" y="1737360"/>
            <a:ext cx="640080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Which of the eight flowers does the rule get wrong?</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How would you move the rule so that 4.9 is right?</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3.  What is the accuracy on these eight flowers?</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Set petal_length to 4.9 and run the rule.</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sp>
        <p:nvSpPr>
          <p:cNvPr id="4" name="Shape 2"/>
          <p:cNvSpPr/>
          <p:nvPr/>
        </p:nvSpPr>
        <p:spPr>
          <a:xfrm>
            <a:off x="7223760" y="1737360"/>
            <a:ext cx="4297680" cy="2816352"/>
          </a:xfrm>
          <a:prstGeom prst="roundRect">
            <a:avLst>
              <a:gd name="adj" fmla="val 2597"/>
            </a:avLst>
          </a:prstGeom>
          <a:solidFill>
            <a:srgbClr val="111111"/>
          </a:solidFill>
          <a:ln/>
        </p:spPr>
      </p:sp>
      <p:sp>
        <p:nvSpPr>
          <p:cNvPr id="5" name="Text 3"/>
          <p:cNvSpPr txBox="1"/>
          <p:nvPr/>
        </p:nvSpPr>
        <p:spPr>
          <a:xfrm>
            <a:off x="7424928" y="1938528"/>
            <a:ext cx="3895344" cy="2414016"/>
          </a:xfrm>
          <a:prstGeom prst="rect">
            <a:avLst/>
          </a:prstGeom>
          <a:noFill/>
          <a:ln/>
        </p:spPr>
        <p:txBody>
          <a:bodyPr wrap="square" lIns="0" tIns="0" rIns="0" bIns="0" rtlCol="0" anchor="t"/>
          <a:lstStyle/>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petal_length = 4.7</a:t>
            </a:r>
            <a:endParaRPr lang="en-US" sz="1800" dirty="0"/>
          </a:p>
          <a:p>
            <a:pPr algn="l" indent="0" marL="0">
              <a:lnSpc>
                <a:spcPts val="2340"/>
              </a:lnSpc>
              <a:buNone/>
            </a:pPr>
            <a:r>
              <a:rPr lang="en-US" sz="1800" b="1" dirty="0">
                <a:solidFill>
                  <a:srgbClr val="FFFFFF"/>
                </a:solidFill>
                <a:latin typeface="Courier New" pitchFamily="34" charset="0"/>
                <a:ea typeface="Courier New" pitchFamily="34" charset="-122"/>
                <a:cs typeface="Courier New" pitchFamily="34" charset="-120"/>
              </a:rPr>
              <a:t>if</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petal_length &lt; 2.5:</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guess = </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"setosa"</a:t>
            </a:r>
            <a:endParaRPr lang="en-US" sz="1800" dirty="0"/>
          </a:p>
          <a:p>
            <a:pPr algn="l" indent="0" marL="0">
              <a:lnSpc>
                <a:spcPts val="2340"/>
              </a:lnSpc>
              <a:buNone/>
            </a:pPr>
            <a:r>
              <a:rPr lang="en-US" sz="1800" b="1" dirty="0">
                <a:solidFill>
                  <a:srgbClr val="FFFFFF"/>
                </a:solidFill>
                <a:latin typeface="Courier New" pitchFamily="34" charset="0"/>
                <a:ea typeface="Courier New" pitchFamily="34" charset="-122"/>
                <a:cs typeface="Courier New" pitchFamily="34" charset="-120"/>
              </a:rPr>
              <a:t>elif</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petal_length &lt; 4.8:</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guess = </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"versicolor"</a:t>
            </a:r>
            <a:endParaRPr lang="en-US" sz="1800" dirty="0"/>
          </a:p>
          <a:p>
            <a:pPr algn="l" indent="0" marL="0">
              <a:lnSpc>
                <a:spcPts val="2340"/>
              </a:lnSpc>
              <a:buNone/>
            </a:pPr>
            <a:r>
              <a:rPr lang="en-US" sz="1800" b="1" dirty="0">
                <a:solidFill>
                  <a:srgbClr val="FFFFFF"/>
                </a:solidFill>
                <a:latin typeface="Courier New" pitchFamily="34" charset="0"/>
                <a:ea typeface="Courier New" pitchFamily="34" charset="-122"/>
                <a:cs typeface="Courier New" pitchFamily="34" charset="-120"/>
              </a:rPr>
              <a:t>else</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guess = </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"virginica"</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print(guess)</a:t>
            </a:r>
            <a:endParaRPr lang="en-US" sz="18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The rule names seven of</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the eight flowers correctly</a:t>
            </a:r>
            <a:endParaRPr lang="en-US" sz="3600" dirty="0"/>
          </a:p>
        </p:txBody>
      </p:sp>
      <p:pic>
        <p:nvPicPr>
          <p:cNvPr id="3" name="Image 0" descr="The rule names seven of the eight flowers correctly">    </p:cNvPr>
          <p:cNvPicPr>
            <a:picLocks noChangeAspect="1"/>
          </p:cNvPicPr>
          <p:nvPr/>
        </p:nvPicPr>
        <p:blipFill>
          <a:blip r:embed="rId1"/>
          <a:stretch>
            <a:fillRect/>
          </a:stretch>
        </p:blipFill>
        <p:spPr>
          <a:xfrm>
            <a:off x="640080" y="1554480"/>
            <a:ext cx="10881360" cy="4069080"/>
          </a:xfrm>
          <a:prstGeom prst="rect">
            <a:avLst/>
          </a:prstGeom>
        </p:spPr>
      </p:pic>
      <p:sp>
        <p:nvSpPr>
          <p:cNvPr id="4" name="Text 1"/>
          <p:cNvSpPr txBox="1"/>
          <p:nvPr/>
        </p:nvSpPr>
        <p:spPr>
          <a:xfrm>
            <a:off x="640080" y="5669280"/>
            <a:ext cx="10881360" cy="64008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A red ring marks a flower the rule gets wrong.</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Make: your own version</a:t>
            </a:r>
            <a:endParaRPr lang="en-US" sz="3800" dirty="0"/>
          </a:p>
        </p:txBody>
      </p:sp>
      <p:sp>
        <p:nvSpPr>
          <p:cNvPr id="3" name="Text 1"/>
          <p:cNvSpPr txBox="1"/>
          <p:nvPr/>
        </p:nvSpPr>
        <p:spPr>
          <a:xfrm>
            <a:off x="640080" y="1737360"/>
            <a:ext cx="6949440" cy="4480560"/>
          </a:xfrm>
          <a:prstGeom prst="rect">
            <a:avLst/>
          </a:prstGeom>
          <a:noFill/>
          <a:ln/>
        </p:spPr>
        <p:txBody>
          <a:bodyPr wrap="square" lIns="0" tIns="0" rIns="0" bIns="0" rtlCol="0" anchor="t"/>
          <a:lstStyle/>
          <a:p>
            <a:pPr algn="l" indent="0" marL="0">
              <a:lnSpc>
                <a:spcPts val="3480"/>
              </a:lnSpc>
              <a:spcAft>
                <a:spcPts val="2520"/>
              </a:spcAft>
              <a:buNone/>
            </a:pPr>
            <a:r>
              <a:rPr lang="en-US" sz="2900" dirty="0">
                <a:solidFill>
                  <a:srgbClr val="111111"/>
                </a:solidFill>
                <a:latin typeface="Lato" pitchFamily="34" charset="0"/>
                <a:ea typeface="Lato" pitchFamily="34" charset="-122"/>
                <a:cs typeface="Lato" pitchFamily="34" charset="-120"/>
              </a:rPr>
              <a:t>A ticket costs UGX 5000. Write a decision that prints Buy when the budget is at least 5000 and Save otherwise. Test 4999, 5000 and 5001. Then say how many of the eight flowers your flower rule names correctly.</a:t>
            </a:r>
            <a:endParaRPr lang="en-US" sz="2900" dirty="0"/>
          </a:p>
          <a:p>
            <a:pPr algn="l" indent="0" marL="0">
              <a:lnSpc>
                <a:spcPts val="3480"/>
              </a:lnSpc>
              <a:spcAft>
                <a:spcPts val="2520"/>
              </a:spcAft>
              <a:buNone/>
            </a:pPr>
            <a:r>
              <a:rPr lang="en-US" sz="2900" dirty="0">
                <a:solidFill>
                  <a:srgbClr val="111111"/>
                </a:solidFill>
                <a:latin typeface="Lato" pitchFamily="34" charset="0"/>
                <a:ea typeface="Lato" pitchFamily="34" charset="-122"/>
                <a:cs typeface="Lato" pitchFamily="34" charset="-120"/>
              </a:rPr>
              <a:t>Save it as ML04. Write two sentences: what you changed and how you checked it.</a:t>
            </a:r>
            <a:endParaRPr lang="en-US" sz="2900" dirty="0"/>
          </a:p>
        </p:txBody>
      </p:sp>
      <p:pic>
        <p:nvPicPr>
          <p:cNvPr id="4" name="Image 0" descr="A notebook saved with a tick">    </p:cNvPr>
          <p:cNvPicPr>
            <a:picLocks noChangeAspect="1"/>
          </p:cNvPicPr>
          <p:nvPr/>
        </p:nvPicPr>
        <p:blipFill>
          <a:blip r:embed="rId1"/>
          <a:stretch>
            <a:fillRect/>
          </a:stretch>
        </p:blipFill>
        <p:spPr>
          <a:xfrm>
            <a:off x="8138160" y="1920240"/>
            <a:ext cx="347472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Two errors you may meet today</a:t>
            </a:r>
            <a:endParaRPr lang="en-US" sz="3800" dirty="0"/>
          </a:p>
        </p:txBody>
      </p:sp>
      <p:pic>
        <p:nvPicPr>
          <p:cNvPr id="3" name="Image 0" descr="Error">    </p:cNvPr>
          <p:cNvPicPr>
            <a:picLocks noChangeAspect="1"/>
          </p:cNvPicPr>
          <p:nvPr/>
        </p:nvPicPr>
        <p:blipFill>
          <a:blip r:embed="rId1"/>
          <a:stretch>
            <a:fillRect/>
          </a:stretch>
        </p:blipFill>
        <p:spPr>
          <a:xfrm>
            <a:off x="640080" y="1691640"/>
            <a:ext cx="822960" cy="822960"/>
          </a:xfrm>
          <a:prstGeom prst="rect">
            <a:avLst/>
          </a:prstGeom>
        </p:spPr>
      </p:pic>
      <p:sp>
        <p:nvSpPr>
          <p:cNvPr id="4" name="Shape 1"/>
          <p:cNvSpPr/>
          <p:nvPr/>
        </p:nvSpPr>
        <p:spPr>
          <a:xfrm>
            <a:off x="1645920" y="1828800"/>
            <a:ext cx="4023360" cy="1645920"/>
          </a:xfrm>
          <a:prstGeom prst="roundRect">
            <a:avLst>
              <a:gd name="adj" fmla="val 3333"/>
            </a:avLst>
          </a:prstGeom>
          <a:solidFill>
            <a:srgbClr val="FFFFFF"/>
          </a:solidFill>
          <a:ln w="25400">
            <a:solidFill>
              <a:srgbClr val="AE2525"/>
            </a:solidFill>
            <a:prstDash val="solid"/>
          </a:ln>
        </p:spPr>
      </p:sp>
      <p:sp>
        <p:nvSpPr>
          <p:cNvPr id="5" name="Text 2"/>
          <p:cNvSpPr txBox="1"/>
          <p:nvPr/>
        </p:nvSpPr>
        <p:spPr>
          <a:xfrm>
            <a:off x="1783080" y="192024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IndentationError: expected an indented block</a:t>
            </a:r>
            <a:endParaRPr lang="en-US" sz="2000" dirty="0"/>
          </a:p>
        </p:txBody>
      </p:sp>
      <p:sp>
        <p:nvSpPr>
          <p:cNvPr id="6" name="Text 3"/>
          <p:cNvSpPr txBox="1"/>
          <p:nvPr/>
        </p:nvSpPr>
        <p:spPr>
          <a:xfrm>
            <a:off x="6035040" y="166420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The line after if, elif or else does not start with spaces.</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Add four spaces at the start of each line inside the block.</a:t>
            </a:r>
            <a:endParaRPr lang="en-US" sz="2200" dirty="0"/>
          </a:p>
        </p:txBody>
      </p:sp>
      <p:sp>
        <p:nvSpPr>
          <p:cNvPr id="7" name="Shape 4"/>
          <p:cNvSpPr/>
          <p:nvPr/>
        </p:nvSpPr>
        <p:spPr>
          <a:xfrm>
            <a:off x="640080" y="3813048"/>
            <a:ext cx="10881360" cy="0"/>
          </a:xfrm>
          <a:prstGeom prst="line">
            <a:avLst/>
          </a:prstGeom>
          <a:noFill/>
          <a:ln w="12700">
            <a:solidFill>
              <a:srgbClr val="CFCFCF"/>
            </a:solidFill>
            <a:prstDash val="solid"/>
          </a:ln>
        </p:spPr>
      </p:sp>
      <p:pic>
        <p:nvPicPr>
          <p:cNvPr id="8" name="Image 1" descr="Error">    </p:cNvPr>
          <p:cNvPicPr>
            <a:picLocks noChangeAspect="1"/>
          </p:cNvPicPr>
          <p:nvPr/>
        </p:nvPicPr>
        <p:blipFill>
          <a:blip r:embed="rId2"/>
          <a:stretch>
            <a:fillRect/>
          </a:stretch>
        </p:blipFill>
        <p:spPr>
          <a:xfrm>
            <a:off x="640080" y="4023360"/>
            <a:ext cx="822960" cy="822960"/>
          </a:xfrm>
          <a:prstGeom prst="rect">
            <a:avLst/>
          </a:prstGeom>
        </p:spPr>
      </p:pic>
      <p:sp>
        <p:nvSpPr>
          <p:cNvPr id="9" name="Shape 5"/>
          <p:cNvSpPr/>
          <p:nvPr/>
        </p:nvSpPr>
        <p:spPr>
          <a:xfrm>
            <a:off x="1645920" y="4160520"/>
            <a:ext cx="4023360" cy="1645920"/>
          </a:xfrm>
          <a:prstGeom prst="roundRect">
            <a:avLst>
              <a:gd name="adj" fmla="val 3333"/>
            </a:avLst>
          </a:prstGeom>
          <a:solidFill>
            <a:srgbClr val="FFFFFF"/>
          </a:solidFill>
          <a:ln w="25400">
            <a:solidFill>
              <a:srgbClr val="AE2525"/>
            </a:solidFill>
            <a:prstDash val="solid"/>
          </a:ln>
        </p:spPr>
      </p:sp>
      <p:sp>
        <p:nvSpPr>
          <p:cNvPr id="10" name="Text 6"/>
          <p:cNvSpPr txBox="1"/>
          <p:nvPr/>
        </p:nvSpPr>
        <p:spPr>
          <a:xfrm>
            <a:off x="1783080" y="425196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SyntaxError: invalid syntax</a:t>
            </a:r>
            <a:endParaRPr lang="en-US" sz="2000" dirty="0"/>
          </a:p>
        </p:txBody>
      </p:sp>
      <p:sp>
        <p:nvSpPr>
          <p:cNvPr id="11" name="Text 7"/>
          <p:cNvSpPr txBox="1"/>
          <p:nvPr/>
        </p:nvSpPr>
        <p:spPr>
          <a:xfrm>
            <a:off x="6035040" y="399592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A colon is missing at the end of an if, elif or else line.</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Put a colon at the end of the line.</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Finish this sentence in your notebook</a:t>
            </a:r>
            <a:endParaRPr lang="en-US" sz="3800" dirty="0"/>
          </a:p>
        </p:txBody>
      </p:sp>
      <p:sp>
        <p:nvSpPr>
          <p:cNvPr id="3" name="Text 1"/>
          <p:cNvSpPr txBox="1"/>
          <p:nvPr/>
        </p:nvSpPr>
        <p:spPr>
          <a:xfrm>
            <a:off x="640080" y="1737360"/>
            <a:ext cx="6949440" cy="2926080"/>
          </a:xfrm>
          <a:prstGeom prst="rect">
            <a:avLst/>
          </a:prstGeom>
          <a:noFill/>
          <a:ln/>
        </p:spPr>
        <p:txBody>
          <a:bodyPr wrap="square" lIns="0" tIns="0" rIns="0" bIns="0" rtlCol="0" anchor="t"/>
          <a:lstStyle/>
          <a:p>
            <a:pPr algn="l" indent="0" marL="0">
              <a:lnSpc>
                <a:spcPts val="4440"/>
              </a:lnSpc>
              <a:spcAft>
                <a:spcPts val="1010"/>
              </a:spcAft>
              <a:buNone/>
            </a:pPr>
            <a:r>
              <a:rPr lang="en-US" sz="3700" dirty="0">
                <a:solidFill>
                  <a:srgbClr val="111111"/>
                </a:solidFill>
                <a:latin typeface="Lato" pitchFamily="34" charset="0"/>
                <a:ea typeface="Lato" pitchFamily="34" charset="-122"/>
                <a:cs typeface="Lato" pitchFamily="34" charset="-120"/>
              </a:rPr>
              <a:t>A decision runs different lines depending on a True or False question, and a simple rule can be tested by counting how often it is right.</a:t>
            </a:r>
            <a:endParaRPr lang="en-US" sz="3700" dirty="0"/>
          </a:p>
        </p:txBody>
      </p:sp>
      <p:sp>
        <p:nvSpPr>
          <p:cNvPr id="4" name="Text 2"/>
          <p:cNvSpPr txBox="1"/>
          <p:nvPr/>
        </p:nvSpPr>
        <p:spPr>
          <a:xfrm>
            <a:off x="640080" y="4846320"/>
            <a:ext cx="6949440" cy="1097280"/>
          </a:xfrm>
          <a:prstGeom prst="rect">
            <a:avLst/>
          </a:prstGeom>
          <a:noFill/>
          <a:ln/>
        </p:spPr>
        <p:txBody>
          <a:bodyPr wrap="square" lIns="0" tIns="0" rIns="0" bIns="0" rtlCol="0" anchor="t"/>
          <a:lstStyle/>
          <a:p>
            <a:pPr algn="l" indent="0" marL="0">
              <a:lnSpc>
                <a:spcPts val="2750"/>
              </a:lnSpc>
              <a:buNone/>
            </a:pPr>
            <a:r>
              <a:rPr lang="en-US" sz="2200" dirty="0">
                <a:solidFill>
                  <a:srgbClr val="333333"/>
                </a:solidFill>
                <a:latin typeface="Lato" pitchFamily="34" charset="0"/>
                <a:ea typeface="Lato" pitchFamily="34" charset="-122"/>
                <a:cs typeface="Lato" pitchFamily="34" charset="-120"/>
              </a:rPr>
              <a:t>Then save your notebook, close it and open it again to check it saved.</a:t>
            </a:r>
            <a:endParaRPr lang="en-US" sz="2200" dirty="0"/>
          </a:p>
        </p:txBody>
      </p:sp>
      <p:pic>
        <p:nvPicPr>
          <p:cNvPr id="5" name="Image 0" descr="Finished">    </p:cNvPr>
          <p:cNvPicPr>
            <a:picLocks noChangeAspect="1"/>
          </p:cNvPicPr>
          <p:nvPr/>
        </p:nvPicPr>
        <p:blipFill>
          <a:blip r:embed="rId1"/>
          <a:stretch>
            <a:fillRect/>
          </a:stretch>
        </p:blipFill>
        <p:spPr>
          <a:xfrm>
            <a:off x="8229600" y="1920240"/>
            <a:ext cx="329184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22</a:t>
            </a:fld>
            <a:endParaRPr lang="en-US"/>
          </a:p>
        </p:txBody>
      </p:sp>
    </p:spTree>
  </p:cSld>
  <p:clrMapOvr>
    <a:masterClrMapping/>
  </p:clrMapOvr>
</p:sld>
</file>

<file path=ppt/theme/theme1.xml><?xml version="1.0" encoding="utf-8"?>
<a:theme xmlns:a="http://schemas.openxmlformats.org/drawingml/2006/main" name="KLAi camp">
  <a:themeElements>
    <a:clrScheme name="KLAi camp">
      <a:dk1>
        <a:srgbClr val="111111"/>
      </a:dk1>
      <a:lt1>
        <a:srgbClr val="FFFFFF"/>
      </a:lt1>
      <a:dk2>
        <a:srgbClr val="333333"/>
      </a:dk2>
      <a:lt2>
        <a:srgbClr val="F1F1F1"/>
      </a:lt2>
      <a:accent1>
        <a:srgbClr val="AE2525"/>
      </a:accent1>
      <a:accent2>
        <a:srgbClr val="E0BE36"/>
      </a:accent2>
      <a:accent3>
        <a:srgbClr val="8C8C8C"/>
      </a:accent3>
      <a:accent4>
        <a:srgbClr val="555555"/>
      </a:accent4>
      <a:accent5>
        <a:srgbClr val="CFCFCF"/>
      </a:accent5>
      <a:accent6>
        <a:srgbClr val="000000"/>
      </a:accent6>
      <a:hlink>
        <a:srgbClr val="AE2525"/>
      </a:hlink>
      <a:folHlink>
        <a:srgbClr val="666666"/>
      </a:folHlink>
    </a:clrScheme>
    <a:fontScheme name="KLAi camp">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KLAi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ML04 Decisions and a hand-written flower rule</dc:title>
  <dc:subject>Machine Learning</dc:subject>
  <dc:creator>KLAi</dc:creator>
  <cp:lastModifiedBy>KLAi</cp:lastModifiedBy>
  <cp:revision>1</cp:revision>
  <dcterms:created xsi:type="dcterms:W3CDTF">2026-10-31T12:33:01Z</dcterms:created>
  <dcterms:modified xsi:type="dcterms:W3CDTF">2026-10-31T12:33:01Z</dcterms:modified>
</cp:coreProperties>
</file>