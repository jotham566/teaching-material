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d54bf3d-6d9d-1e77-1276-88434ebc0434}">
          <p14:sldIdLst>
            <p14:sldId id="256"/>
            <p14:sldId id="257"/>
            <p14:sldId id="258"/>
            <p14:sldId id="259"/>
            <p14:sldId id="260"/>
            <p14:sldId id="261"/>
            <p14:sldId id="262"/>
          </p14:sldIdLst>
        </p14:section>
        <p14:section name="Block A" id="{065d29d2-c57b-47a3-db6f-f1fdee84c6fb}">
          <p14:sldIdLst>
            <p14:sldId id="263"/>
            <p14:sldId id="264"/>
            <p14:sldId id="265"/>
            <p14:sldId id="266"/>
            <p14:sldId id="268"/>
            <p14:sldId id="269"/>
          </p14:sldIdLst>
        </p14:section>
        <p14:section name="Break" id="{0bd4e4b8-40b9-c8eb-54e2-58dc30036523}">
          <p14:sldIdLst>
            <p14:sldId id="267"/>
          </p14:sldIdLst>
        </p14:section>
        <p14:section name="Block A" id="{393e03fc-86c5-6175-0ea4-e5699a0a48f4}">
          <p14:sldIdLst/>
        </p14:section>
        <p14:section name="Block B" id="{4b550796-db39-af8c-7cfb-0cec2fa1a7d2}">
          <p14:sldIdLst>
            <p14:sldId id="270"/>
            <p14:sldId id="271"/>
            <p14:sldId id="272"/>
            <p14:sldId id="273"/>
            <p14:sldId id="274"/>
          </p14:sldIdLst>
        </p14:section>
        <p14:section name="Make and close" id="{76aae785-20ac-b6af-eea2-1dc83f454ee3}">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Laptops open, please. Today is session 3 and our topic is arithmetic, converting text and reading errors.
By the end of today you will be able to calculate with the five basic operators, turn text into a number, and find the line an error points to.
We will answer one question: How do I turn the text of a price into a number I can calculate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often arrives as text. A price might be stored as the characters one, two, a point and five, with quotation marks around them. Python cannot multiply text. The picture shows the fix: convert the text into a number first, then calculate with it. Today you learn that conversion, the four arithmetic symbols, and how to read the error message when something goes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a few words today. For each one I will say what it means and give you something to picture.
operator. A symbol that tells Python which calculation to do. Imagine it like this. The plus and minus keys on a calculator.
parentheses. Brackets that make Python calculate the inside first. An example from everyday life. Doing the part in brackets first in maths.
comment. A line starting with # that Python ignores and people read. Here is a way to see it. A note written in the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words for today.
convert. Change a value from one type to another, such as text to a number. A small example. Changing shillings into dollars before adding.
error message. Python telling you what it could not do and where. Picture this. A teacher marking the exact line you got wrong.
traceback. The list of lines Python followed before the error. You have seen this before. A trail of footprints that ends at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uses the same four sums you know from school, but two of the symbols look different. Multiplication is a star, because a cross looks too much like the letter x. Division is a slash.
Python works out each answer the moment the cell runs. Which answer in the last column has a decimal point, and why do you think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there are no brackets. Python multiplies five hundred by two first, which gives one thousand, and then takes that from three thousand. The answer is two thousand. On the right the brackets force the subtraction first. Twenty five hundred times two is five thousand.
The same numbers give two different answers, so brackets are how you tell Python exactly what you mean. Which of these is the discount applied to each item? Check with the shop owner in your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the difference the brackets make.
Your turn to guess. Predict the four numbers before you run. Put your guess on paper now, even if you are unsure.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run it, and you compare with your guess. Match each line of the output with the line of code that made it.
The cell prints 12000, 750.0, 2000 and 5000. + adds, - subtracts, * multiplies and / divides. Multiplication happens before subtraction, so the brackets change the answer from 2000 to 5000. Brackets are called parentheses.
Check your paper. Were you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the basic operators. I have two questions for you.
Question one. Why do 2000 and 5000 differ? Think about it for a moment, then tell the person next to you.
Without brackets 500 * 2 happens first. With brackets 3000 - 500 happens first.
Question two. Why is share 750.0 and not 750? Have a go in your head first.
Here is how I would answer it. Division always gives a float in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experiment. Write the calculation for 3 books at UGX 3000 plus 2 pens at UGX 1000 in one line. Then explain to your neighbour what the change did.
The result: 3 * 3000 + 2 * 1000 gives 11000.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line starts with a hash sign. That makes it a comment. Python reads straight past it. Comments are for the people who read your code, including you in a month when you have forgotten what the code was for.
The remaining lines convert the text twelve point five into a number, multiply it by four and print fifty. Write one comment in your own notebook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error message looks long, but only two parts matter. At the bottom is the name of the error and a few words about what went wrong. Above it is the line number where Python gave up.
Here the bottom line says that price is not defined. Python has never been told what price means. What are the two quick things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price arrives as text from a form.
Now your guess. Predict the output. Can Python multiply text by 4 and give 50.0? Write one line on paper. I will give you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the output as it appears. Match each line of the output with the line of code that made it.
The cell prints 50.0. float turns the text 12.5 into a number. The line starting with # is a comment, which Python ignores. If the text were abc, float would stop with a ValueError and the last line of the error would name the problem.
Tell the person next to you whether your guess matched.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text becomes a number. I have two questions for you.
Question one. Which line of an error message do you read first? Have a go in your head first.
Here is how I would answer it. The last line. It names the kind of error and what went wrong.
Question two. What does float("12,5") do? Write your answer in one line before we compare.
What I would say is this. It stops with a ValueError, because Python does not accept a comma inside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hands on the keyboard now. Change the text price to "20" and run the cell again. When you have run it, tell your neighbour what changed and how you know.
Here is what happens. The total becomes 80.0.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picture behind one of the practice questions. Share ten coins among five people and everybody gets two. Share ten coins among nobody and the question stops making sense. There is no person to hand a coin to.
Python refuses to guess and stops with a ZeroDivisionError. Say it again in your own words in your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own task for today. Take it one step at a time. If you get stuck for a few minutes, read your error message, check the error card, and then ask me.
Save it as ML03.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meets errors, including me. Two are likely today, so let us meet them now.
This is the first one. You will see: ValueError: could not convert string to float. It means this: the text has letters, a comma or a currency symbol inside it. To fix it, remove everything except digits and one decimal point.
The next one. You will see: ZeroDivisionError: division by zero. It means this: the calculation divides by zero. To fix it, check the number you divide by; it must not be 0.
Keep this slide in mind when something stops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nearly done. Remember the question from the start of the session: How do I turn the text of a price into a number I can calculate with?
Write this sentence in your notebook and finish it your own way. float turns text such as 12.5 into a number, and an error message names the problem on its last line.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ML03  |  Arithmetic, converting text and reading errors</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Arithmetic, converting</a:t>
            </a:r>
            <a:endParaRPr lang="en-US" sz="5600" dirty="0"/>
          </a:p>
          <a:p>
            <a:pPr algn="l" indent="0" marL="0">
              <a:buNone/>
            </a:pPr>
            <a:r>
              <a:rPr lang="en-US" sz="5600" b="1" dirty="0">
                <a:solidFill>
                  <a:srgbClr val="FFFFFF"/>
                </a:solidFill>
                <a:latin typeface="Lato" pitchFamily="34" charset="0"/>
                <a:ea typeface="Lato" pitchFamily="34" charset="-122"/>
                <a:cs typeface="Lato" pitchFamily="34" charset="-120"/>
              </a:rPr>
              <a:t>text and reading errors</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How do I turn the text of a price into a number I can calculate with?</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Machine Learning  |  Session 3 of 24  |  Week 1, Python and a first prediction</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How do I turn the text of a price</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into a number I can calculate with?</a:t>
            </a:r>
            <a:endParaRPr lang="en-US" sz="3600" dirty="0"/>
          </a:p>
        </p:txBody>
      </p:sp>
      <p:pic>
        <p:nvPicPr>
          <p:cNvPr id="3" name="Image 0" descr="The text 12.5 is converted with float and multiplied by four to give 50.0">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operator">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operator</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symbol that tells Python which calculation to do.</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plus and minus keys on a calculator.</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parentheses">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3840"/>
              </a:lnSpc>
              <a:buNone/>
            </a:pPr>
            <a:r>
              <a:rPr lang="en-US" sz="3200" b="1" dirty="0">
                <a:solidFill>
                  <a:srgbClr val="111111"/>
                </a:solidFill>
                <a:latin typeface="Lato" pitchFamily="34" charset="0"/>
                <a:ea typeface="Lato" pitchFamily="34" charset="-122"/>
                <a:cs typeface="Lato" pitchFamily="34" charset="-120"/>
              </a:rPr>
              <a:t>parentheses</a:t>
            </a:r>
            <a:endParaRPr lang="en-US" sz="32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Brackets that make Python calculate the inside first.</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Doing the part in brackets first in maths.</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comment">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comment</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line starting with # that Python ignores and people read.</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note written in the margin.</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convert">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convert</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Change a value from one type to another, such as text to a number.</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Changing shillings into dollars before adding.</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error message">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3600"/>
              </a:lnSpc>
              <a:buNone/>
            </a:pPr>
            <a:r>
              <a:rPr lang="en-US" sz="3000" b="1" dirty="0">
                <a:solidFill>
                  <a:srgbClr val="111111"/>
                </a:solidFill>
                <a:latin typeface="Lato" pitchFamily="34" charset="0"/>
                <a:ea typeface="Lato" pitchFamily="34" charset="-122"/>
                <a:cs typeface="Lato" pitchFamily="34" charset="-120"/>
              </a:rPr>
              <a:t>error message</a:t>
            </a:r>
            <a:endParaRPr lang="en-US" sz="30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Python telling you what it could not do and where.</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teacher marking the exact line you got wrong.</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traceback">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traceback</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list of lines Python followed before the error.</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trail of footprints that ends at the problem.</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Four symbols do the arithmetic</a:t>
            </a:r>
            <a:endParaRPr lang="en-US" sz="3800" dirty="0"/>
          </a:p>
        </p:txBody>
      </p:sp>
      <p:pic>
        <p:nvPicPr>
          <p:cNvPr id="3" name="Image 0" descr="Four symbols do the arithmetic">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Plus adds and minus subtracts.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star multiplies.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slash divides.</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Brackets change the order</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in which Python calculates</a:t>
            </a:r>
            <a:endParaRPr lang="en-US" sz="3600" dirty="0"/>
          </a:p>
        </p:txBody>
      </p:sp>
      <p:pic>
        <p:nvPicPr>
          <p:cNvPr id="3" name="Image 0" descr="Brackets change the order in which Python calculate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Python multiplies before it subtracts.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Brackets always go first.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Check a long sum by hand before you trust it.</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The basic operators</a:t>
            </a:r>
            <a:endParaRPr lang="en-US" sz="3800" dirty="0"/>
          </a:p>
        </p:txBody>
      </p:sp>
      <p:sp>
        <p:nvSpPr>
          <p:cNvPr id="3" name="Shape 1"/>
          <p:cNvSpPr/>
          <p:nvPr/>
        </p:nvSpPr>
        <p:spPr>
          <a:xfrm>
            <a:off x="640080" y="1645920"/>
            <a:ext cx="10881360" cy="2618232"/>
          </a:xfrm>
          <a:prstGeom prst="roundRect">
            <a:avLst>
              <a:gd name="adj" fmla="val 2794"/>
            </a:avLst>
          </a:prstGeom>
          <a:solidFill>
            <a:srgbClr val="111111"/>
          </a:solidFill>
          <a:ln/>
        </p:spPr>
      </p:sp>
      <p:sp>
        <p:nvSpPr>
          <p:cNvPr id="4" name="Text 2"/>
          <p:cNvSpPr txBox="1"/>
          <p:nvPr/>
        </p:nvSpPr>
        <p:spPr>
          <a:xfrm>
            <a:off x="841248" y="1847088"/>
            <a:ext cx="10479024" cy="2215896"/>
          </a:xfrm>
          <a:prstGeom prst="rect">
            <a:avLst/>
          </a:prstGeom>
          <a:noFill/>
          <a:ln/>
        </p:spPr>
        <p:txBody>
          <a:bodyPr wrap="square" lIns="0" tIns="0" rIns="0" bIns="0" rtlCol="0" anchor="t"/>
          <a:lstStyle/>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price = 3000</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total = price * 4</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share = price / 4</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no_brackets = price - 500 * 2</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with_brackets = (price - 500) * 2</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print(total, share, no_brackets, with_brackets)</a:t>
            </a:r>
            <a:endParaRPr lang="en-US" sz="2200" dirty="0"/>
          </a:p>
        </p:txBody>
      </p:sp>
      <p:sp>
        <p:nvSpPr>
          <p:cNvPr id="5" name="Text 3"/>
          <p:cNvSpPr txBox="1"/>
          <p:nvPr/>
        </p:nvSpPr>
        <p:spPr>
          <a:xfrm>
            <a:off x="640080" y="4447032"/>
            <a:ext cx="8046720" cy="1816608"/>
          </a:xfrm>
          <a:prstGeom prst="rect">
            <a:avLst/>
          </a:prstGeom>
          <a:noFill/>
          <a:ln/>
        </p:spPr>
        <p:txBody>
          <a:bodyPr wrap="square" lIns="0" tIns="0" rIns="0" bIns="0" rtlCol="0" anchor="t"/>
          <a:lstStyle/>
          <a:p>
            <a:pPr algn="l" indent="0" marL="0">
              <a:lnSpc>
                <a:spcPts val="3120"/>
              </a:lnSpc>
              <a:spcAft>
                <a:spcPts val="1010"/>
              </a:spcAft>
              <a:buNone/>
            </a:pPr>
            <a:r>
              <a:rPr lang="en-US" sz="2600" dirty="0">
                <a:solidFill>
                  <a:srgbClr val="111111"/>
                </a:solidFill>
                <a:latin typeface="Lato" pitchFamily="34" charset="0"/>
                <a:ea typeface="Lato" pitchFamily="34" charset="-122"/>
                <a:cs typeface="Lato" pitchFamily="34" charset="-120"/>
              </a:rPr>
              <a:t>Predict the four numbers before you run.</a:t>
            </a:r>
            <a:endParaRPr lang="en-US" sz="2600" dirty="0"/>
          </a:p>
          <a:p>
            <a:pPr algn="l" indent="0" marL="0">
              <a:lnSpc>
                <a:spcPts val="3120"/>
              </a:lnSpc>
              <a:spcAft>
                <a:spcPts val="1010"/>
              </a:spcAft>
              <a:buNone/>
            </a:pPr>
            <a:r>
              <a:rPr lang="en-US" sz="2600" dirty="0">
                <a:solidFill>
                  <a:srgbClr val="111111"/>
                </a:solidFill>
                <a:latin typeface="Lato" pitchFamily="34" charset="0"/>
                <a:ea typeface="Lato" pitchFamily="34" charset="-122"/>
                <a:cs typeface="Lato" pitchFamily="34" charset="-120"/>
              </a:rPr>
              <a:t>Write your guess on paper before we run it.</a:t>
            </a:r>
            <a:endParaRPr lang="en-US" sz="2600" dirty="0"/>
          </a:p>
        </p:txBody>
      </p:sp>
      <p:pic>
        <p:nvPicPr>
          <p:cNvPr id="6" name="Image 0" descr="A page and a pen">    </p:cNvPr>
          <p:cNvPicPr>
            <a:picLocks noChangeAspect="1"/>
          </p:cNvPicPr>
          <p:nvPr/>
        </p:nvPicPr>
        <p:blipFill>
          <a:blip r:embed="rId1"/>
          <a:stretch>
            <a:fillRect/>
          </a:stretch>
        </p:blipFill>
        <p:spPr>
          <a:xfrm>
            <a:off x="10241280" y="5031486"/>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The basic operators</a:t>
            </a:r>
            <a:endParaRPr lang="en-US" sz="3800" dirty="0"/>
          </a:p>
        </p:txBody>
      </p:sp>
      <p:sp>
        <p:nvSpPr>
          <p:cNvPr id="3" name="Shape 1"/>
          <p:cNvSpPr/>
          <p:nvPr/>
        </p:nvSpPr>
        <p:spPr>
          <a:xfrm>
            <a:off x="640080" y="1645920"/>
            <a:ext cx="6035040" cy="765556"/>
          </a:xfrm>
          <a:prstGeom prst="roundRect">
            <a:avLst>
              <a:gd name="adj" fmla="val 9555"/>
            </a:avLst>
          </a:prstGeom>
          <a:solidFill>
            <a:srgbClr val="FFFFFF"/>
          </a:solidFill>
          <a:ln w="15875">
            <a:solidFill>
              <a:srgbClr val="111111"/>
            </a:solidFill>
            <a:prstDash val="solid"/>
          </a:ln>
        </p:spPr>
      </p:sp>
      <p:sp>
        <p:nvSpPr>
          <p:cNvPr id="4" name="Text 2"/>
          <p:cNvSpPr txBox="1"/>
          <p:nvPr/>
        </p:nvSpPr>
        <p:spPr>
          <a:xfrm>
            <a:off x="822960" y="1828800"/>
            <a:ext cx="5669280" cy="39979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12000 750.0 2000 5000</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The cell prints 12000, 750.0, 2000 and 5000.</a:t>
            </a:r>
            <a:endParaRPr lang="en-US" sz="2400" dirty="0"/>
          </a:p>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 adds, - subtracts, * multiplies and / divides.</a:t>
            </a:r>
            <a:endParaRPr lang="en-US" sz="2400" dirty="0"/>
          </a:p>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Multiplication happens before subtraction, so the brackets change the answer from 2000 to 5000.</a:t>
            </a:r>
            <a:endParaRPr lang="en-US" sz="2400" dirty="0"/>
          </a:p>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Brackets are called parentheses.</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The basic operators</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do 2000 and 5000 differ?</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Why is share 750.0 and not 750?</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080"/>
              </a:lnSpc>
              <a:spcAft>
                <a:spcPts val="3240"/>
              </a:spcAft>
              <a:buNone/>
            </a:pPr>
            <a:r>
              <a:rPr lang="en-US" sz="3400" dirty="0">
                <a:solidFill>
                  <a:srgbClr val="111111"/>
                </a:solidFill>
                <a:latin typeface="Lato" pitchFamily="34" charset="0"/>
                <a:ea typeface="Lato" pitchFamily="34" charset="-122"/>
                <a:cs typeface="Lato" pitchFamily="34" charset="-120"/>
              </a:rPr>
              <a:t>Write the calculation for 3 books at UGX 3000 plus 2 pens at UGX 1000 in one line.</a:t>
            </a:r>
            <a:endParaRPr lang="en-US" sz="3400" dirty="0"/>
          </a:p>
          <a:p>
            <a:pPr algn="l" indent="0" marL="0">
              <a:lnSpc>
                <a:spcPts val="4080"/>
              </a:lnSpc>
              <a:spcAft>
                <a:spcPts val="3240"/>
              </a:spcAft>
              <a:buNone/>
            </a:pPr>
            <a:r>
              <a:rPr lang="en-US" sz="3400" dirty="0">
                <a:solidFill>
                  <a:srgbClr val="111111"/>
                </a:solidFill>
                <a:latin typeface="Lato" pitchFamily="34" charset="0"/>
                <a:ea typeface="Lato" pitchFamily="34" charset="-122"/>
                <a:cs typeface="Lato" pitchFamily="34" charset="-120"/>
              </a:rPr>
              <a:t>Then tell your neighbour what changed and how you know.</a:t>
            </a:r>
            <a:endParaRPr lang="en-US" sz="34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A comment is a note for</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people that Python ignores</a:t>
            </a:r>
            <a:endParaRPr lang="en-US" sz="3600" dirty="0"/>
          </a:p>
        </p:txBody>
      </p:sp>
      <p:pic>
        <p:nvPicPr>
          <p:cNvPr id="3" name="Image 0" descr="A comment is a note for people that Python ignore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comment starts with a hash sign.</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Python skips everything after it.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good comment says why you did it.</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A NameError means Python</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has never met that name</a:t>
            </a:r>
            <a:endParaRPr lang="en-US" sz="3600" dirty="0"/>
          </a:p>
        </p:txBody>
      </p:sp>
      <p:pic>
        <p:nvPicPr>
          <p:cNvPr id="3" name="Image 0" descr="A NameError means Python has never met that nam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Read the last line first.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line number says where to look.</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Run the cell that creates the name, or fix its spelling.</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Text becomes a number</a:t>
            </a:r>
            <a:endParaRPr lang="en-US" sz="3800" dirty="0"/>
          </a:p>
        </p:txBody>
      </p:sp>
      <p:sp>
        <p:nvSpPr>
          <p:cNvPr id="3" name="Shape 1"/>
          <p:cNvSpPr/>
          <p:nvPr/>
        </p:nvSpPr>
        <p:spPr>
          <a:xfrm>
            <a:off x="640080" y="1645920"/>
            <a:ext cx="6035040" cy="2255012"/>
          </a:xfrm>
          <a:prstGeom prst="roundRect">
            <a:avLst>
              <a:gd name="adj" fmla="val 3244"/>
            </a:avLst>
          </a:prstGeom>
          <a:solidFill>
            <a:srgbClr val="111111"/>
          </a:solidFill>
          <a:ln/>
        </p:spPr>
      </p:sp>
      <p:sp>
        <p:nvSpPr>
          <p:cNvPr id="4" name="Text 2"/>
          <p:cNvSpPr txBox="1"/>
          <p:nvPr/>
        </p:nvSpPr>
        <p:spPr>
          <a:xfrm>
            <a:off x="841248" y="1847088"/>
            <a:ext cx="5632704" cy="1852676"/>
          </a:xfrm>
          <a:prstGeom prst="rect">
            <a:avLst/>
          </a:prstGeom>
          <a:noFill/>
          <a:ln/>
        </p:spPr>
        <p:txBody>
          <a:bodyPr wrap="square" lIns="0" tIns="0" rIns="0" bIns="0" rtlCol="0" anchor="t"/>
          <a:lstStyle/>
          <a:p>
            <a:pPr algn="l" indent="0" marL="0">
              <a:lnSpc>
                <a:spcPts val="2860"/>
              </a:lnSpc>
              <a:buNone/>
            </a:pPr>
            <a:r>
              <a:rPr lang="en-US" sz="2200" i="1" dirty="0">
                <a:solidFill>
                  <a:srgbClr val="9A9A9A"/>
                </a:solidFill>
                <a:latin typeface="Courier New" pitchFamily="34" charset="0"/>
                <a:ea typeface="Courier New" pitchFamily="34" charset="-122"/>
                <a:cs typeface="Courier New" pitchFamily="34" charset="-120"/>
              </a:rPr>
              <a:t># The price came in as text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text_price = </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"12.5"</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price = float(text_price)</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total = price * 4</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print(total)</a:t>
            </a:r>
            <a:endParaRPr lang="en-US" sz="2200" dirty="0"/>
          </a:p>
        </p:txBody>
      </p:sp>
      <p:sp>
        <p:nvSpPr>
          <p:cNvPr id="5" name="Text 3"/>
          <p:cNvSpPr txBox="1"/>
          <p:nvPr/>
        </p:nvSpPr>
        <p:spPr>
          <a:xfrm>
            <a:off x="7040880" y="1737360"/>
            <a:ext cx="4480560" cy="2560320"/>
          </a:xfrm>
          <a:prstGeom prst="rect">
            <a:avLst/>
          </a:prstGeom>
          <a:noFill/>
          <a:ln/>
        </p:spPr>
        <p:txBody>
          <a:bodyPr wrap="square" lIns="0" tIns="0" rIns="0" bIns="0" rtlCol="0" anchor="t"/>
          <a:lstStyle/>
          <a:p>
            <a:pPr algn="l" indent="0" marL="0">
              <a:lnSpc>
                <a:spcPts val="3480"/>
              </a:lnSpc>
              <a:spcAft>
                <a:spcPts val="2160"/>
              </a:spcAft>
              <a:buNone/>
            </a:pPr>
            <a:r>
              <a:rPr lang="en-US" sz="2900" dirty="0">
                <a:solidFill>
                  <a:srgbClr val="111111"/>
                </a:solidFill>
                <a:latin typeface="Lato" pitchFamily="34" charset="0"/>
                <a:ea typeface="Lato" pitchFamily="34" charset="-122"/>
                <a:cs typeface="Lato" pitchFamily="34" charset="-120"/>
              </a:rPr>
              <a:t>Predict the output. Can Python multiply text by 4 and give 50.0?</a:t>
            </a:r>
            <a:endParaRPr lang="en-US" sz="2900" dirty="0"/>
          </a:p>
          <a:p>
            <a:pPr algn="l" indent="0" marL="0">
              <a:lnSpc>
                <a:spcPts val="3480"/>
              </a:lnSpc>
              <a:spcAft>
                <a:spcPts val="2160"/>
              </a:spcAft>
              <a:buNone/>
            </a:pPr>
            <a:r>
              <a:rPr lang="en-US" sz="2900" dirty="0">
                <a:solidFill>
                  <a:srgbClr val="111111"/>
                </a:solidFill>
                <a:latin typeface="Lato" pitchFamily="34" charset="0"/>
                <a:ea typeface="Lato" pitchFamily="34" charset="-122"/>
                <a:cs typeface="Lato" pitchFamily="34" charset="-120"/>
              </a:rPr>
              <a:t>Write your guess on paper before we run it.</a:t>
            </a:r>
            <a:endParaRPr lang="en-US" sz="2900" dirty="0"/>
          </a:p>
        </p:txBody>
      </p:sp>
      <p:pic>
        <p:nvPicPr>
          <p:cNvPr id="6" name="Image 0" descr="A page and a pen: write your guess first">    </p:cNvPr>
          <p:cNvPicPr>
            <a:picLocks noChangeAspect="1"/>
          </p:cNvPicPr>
          <p:nvPr/>
        </p:nvPicPr>
        <p:blipFill>
          <a:blip r:embed="rId1"/>
          <a:stretch>
            <a:fillRect/>
          </a:stretch>
        </p:blipFill>
        <p:spPr>
          <a:xfrm>
            <a:off x="7916091" y="4343400"/>
            <a:ext cx="2090057"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Text becomes a number</a:t>
            </a:r>
            <a:endParaRPr lang="en-US" sz="3800" dirty="0"/>
          </a:p>
        </p:txBody>
      </p:sp>
      <p:sp>
        <p:nvSpPr>
          <p:cNvPr id="3" name="Shape 1"/>
          <p:cNvSpPr/>
          <p:nvPr/>
        </p:nvSpPr>
        <p:spPr>
          <a:xfrm>
            <a:off x="640080" y="1645920"/>
            <a:ext cx="6035040" cy="765556"/>
          </a:xfrm>
          <a:prstGeom prst="roundRect">
            <a:avLst>
              <a:gd name="adj" fmla="val 9555"/>
            </a:avLst>
          </a:prstGeom>
          <a:solidFill>
            <a:srgbClr val="FFFFFF"/>
          </a:solidFill>
          <a:ln w="15875">
            <a:solidFill>
              <a:srgbClr val="111111"/>
            </a:solidFill>
            <a:prstDash val="solid"/>
          </a:ln>
        </p:spPr>
      </p:sp>
      <p:sp>
        <p:nvSpPr>
          <p:cNvPr id="4" name="Text 2"/>
          <p:cNvSpPr txBox="1"/>
          <p:nvPr/>
        </p:nvSpPr>
        <p:spPr>
          <a:xfrm>
            <a:off x="822960" y="1828800"/>
            <a:ext cx="5669280" cy="39979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50.0</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The cell prints 50.0.</a:t>
            </a:r>
            <a:endParaRPr lang="en-US" sz="2400" dirty="0"/>
          </a:p>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float turns the text 12.5 into a number.</a:t>
            </a:r>
            <a:endParaRPr lang="en-US" sz="2400" dirty="0"/>
          </a:p>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The line starting with # is a comment, which Python ignores.</a:t>
            </a:r>
            <a:endParaRPr lang="en-US" sz="2400" dirty="0"/>
          </a:p>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If the text were abc, float would stop with a ValueError and the last line of the error would name the problem.</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Text becomes a number</a:t>
            </a:r>
            <a:endParaRPr lang="en-US" sz="3800" dirty="0"/>
          </a:p>
        </p:txBody>
      </p:sp>
      <p:sp>
        <p:nvSpPr>
          <p:cNvPr id="3" name="Shape 1"/>
          <p:cNvSpPr/>
          <p:nvPr/>
        </p:nvSpPr>
        <p:spPr>
          <a:xfrm>
            <a:off x="7498080" y="1737360"/>
            <a:ext cx="4023360" cy="1759712"/>
          </a:xfrm>
          <a:prstGeom prst="roundRect">
            <a:avLst>
              <a:gd name="adj" fmla="val 4157"/>
            </a:avLst>
          </a:prstGeom>
          <a:solidFill>
            <a:srgbClr val="111111"/>
          </a:solidFill>
          <a:ln/>
        </p:spPr>
      </p:sp>
      <p:sp>
        <p:nvSpPr>
          <p:cNvPr id="4" name="Text 2"/>
          <p:cNvSpPr txBox="1"/>
          <p:nvPr/>
        </p:nvSpPr>
        <p:spPr>
          <a:xfrm>
            <a:off x="7699248" y="1938528"/>
            <a:ext cx="3621024" cy="1357376"/>
          </a:xfrm>
          <a:prstGeom prst="rect">
            <a:avLst/>
          </a:prstGeom>
          <a:noFill/>
          <a:ln/>
        </p:spPr>
        <p:txBody>
          <a:bodyPr wrap="square" lIns="0" tIns="0" rIns="0" bIns="0" rtlCol="0" anchor="t"/>
          <a:lstStyle/>
          <a:p>
            <a:pPr algn="l" indent="0" marL="0">
              <a:lnSpc>
                <a:spcPts val="2080"/>
              </a:lnSpc>
              <a:buNone/>
            </a:pPr>
            <a:r>
              <a:rPr lang="en-US" sz="1600" i="1" dirty="0">
                <a:solidFill>
                  <a:srgbClr val="9A9A9A"/>
                </a:solidFill>
                <a:latin typeface="Courier New" pitchFamily="34" charset="0"/>
                <a:ea typeface="Courier New" pitchFamily="34" charset="-122"/>
                <a:cs typeface="Courier New" pitchFamily="34" charset="-120"/>
              </a:rPr>
              <a:t># The price came in as text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text_price = </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"12.5"</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price = float(text_price)</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total = price * 4</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print(total)</a:t>
            </a:r>
            <a:endParaRPr lang="en-US" sz="1600" dirty="0"/>
          </a:p>
        </p:txBody>
      </p:sp>
      <p:sp>
        <p:nvSpPr>
          <p:cNvPr id="5" name="Text 3"/>
          <p:cNvSpPr txBox="1"/>
          <p:nvPr/>
        </p:nvSpPr>
        <p:spPr>
          <a:xfrm>
            <a:off x="640080" y="1737360"/>
            <a:ext cx="640080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Which line of an error message do you read first?</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does float("12,5") do?</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Change the text price to "20" and run the cell again.</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sp>
        <p:nvSpPr>
          <p:cNvPr id="4" name="Shape 2"/>
          <p:cNvSpPr/>
          <p:nvPr/>
        </p:nvSpPr>
        <p:spPr>
          <a:xfrm>
            <a:off x="7223760" y="1737360"/>
            <a:ext cx="4297680" cy="1842262"/>
          </a:xfrm>
          <a:prstGeom prst="roundRect">
            <a:avLst>
              <a:gd name="adj" fmla="val 3971"/>
            </a:avLst>
          </a:prstGeom>
          <a:solidFill>
            <a:srgbClr val="111111"/>
          </a:solidFill>
          <a:ln/>
        </p:spPr>
      </p:sp>
      <p:sp>
        <p:nvSpPr>
          <p:cNvPr id="5" name="Text 3"/>
          <p:cNvSpPr txBox="1"/>
          <p:nvPr/>
        </p:nvSpPr>
        <p:spPr>
          <a:xfrm>
            <a:off x="7424928" y="1938528"/>
            <a:ext cx="3895344" cy="1439926"/>
          </a:xfrm>
          <a:prstGeom prst="rect">
            <a:avLst/>
          </a:prstGeom>
          <a:noFill/>
          <a:ln/>
        </p:spPr>
        <p:txBody>
          <a:bodyPr wrap="square" lIns="0" tIns="0" rIns="0" bIns="0" rtlCol="0" anchor="t"/>
          <a:lstStyle/>
          <a:p>
            <a:pPr algn="l" indent="0" marL="0">
              <a:lnSpc>
                <a:spcPts val="2210"/>
              </a:lnSpc>
              <a:buNone/>
            </a:pPr>
            <a:r>
              <a:rPr lang="en-US" sz="1700" i="1" dirty="0">
                <a:solidFill>
                  <a:srgbClr val="9A9A9A"/>
                </a:solidFill>
                <a:latin typeface="Courier New" pitchFamily="34" charset="0"/>
                <a:ea typeface="Courier New" pitchFamily="34" charset="-122"/>
                <a:cs typeface="Courier New" pitchFamily="34" charset="-120"/>
              </a:rPr>
              <a:t># The price came in as text</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text_price = </a:t>
            </a:r>
            <a:pPr algn="l" indent="0" marL="0">
              <a:lnSpc>
                <a:spcPts val="2210"/>
              </a:lnSpc>
              <a:buNone/>
            </a:pPr>
            <a:r>
              <a:rPr lang="en-US" sz="1700" dirty="0">
                <a:solidFill>
                  <a:srgbClr val="E0BE36"/>
                </a:solidFill>
                <a:latin typeface="Courier New" pitchFamily="34" charset="0"/>
                <a:ea typeface="Courier New" pitchFamily="34" charset="-122"/>
                <a:cs typeface="Courier New" pitchFamily="34" charset="-120"/>
              </a:rPr>
              <a:t>"12.5"</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price = float(text_price)</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total = price * 4</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print(total)</a:t>
            </a:r>
            <a:endParaRPr lang="en-US" sz="17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Nothing can be shared among zero people</a:t>
            </a:r>
            <a:endParaRPr lang="en-US" sz="3800" dirty="0"/>
          </a:p>
        </p:txBody>
      </p:sp>
      <p:pic>
        <p:nvPicPr>
          <p:cNvPr id="3" name="Image 0" descr="Nothing can be shared among zero peopl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Ten coins among five people gives two each.</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Ten coins among nobody has no answer.</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Python stops with a ZeroDivisionError.</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360"/>
              </a:lnSpc>
              <a:spcAft>
                <a:spcPts val="2020"/>
              </a:spcAft>
              <a:buNone/>
            </a:pPr>
            <a:r>
              <a:rPr lang="en-US" sz="2800" dirty="0">
                <a:solidFill>
                  <a:srgbClr val="111111"/>
                </a:solidFill>
                <a:latin typeface="Lato" pitchFamily="34" charset="0"/>
                <a:ea typeface="Lato" pitchFamily="34" charset="-122"/>
                <a:cs typeface="Lato" pitchFamily="34" charset="-120"/>
              </a:rPr>
              <a:t>Convert "12.5" to a number and calculate the price of four items.</a:t>
            </a:r>
            <a:endParaRPr lang="en-US" sz="2800" dirty="0"/>
          </a:p>
          <a:p>
            <a:pPr algn="l" indent="0" marL="0">
              <a:lnSpc>
                <a:spcPts val="3360"/>
              </a:lnSpc>
              <a:spcAft>
                <a:spcPts val="2020"/>
              </a:spcAft>
              <a:buNone/>
            </a:pPr>
            <a:r>
              <a:rPr lang="en-US" sz="2800" dirty="0">
                <a:solidFill>
                  <a:srgbClr val="111111"/>
                </a:solidFill>
                <a:latin typeface="Lato" pitchFamily="34" charset="0"/>
                <a:ea typeface="Lato" pitchFamily="34" charset="-122"/>
                <a:cs typeface="Lato" pitchFamily="34" charset="-120"/>
              </a:rPr>
              <a:t>Predict the answer before you run it.</a:t>
            </a:r>
            <a:endParaRPr lang="en-US" sz="2800" dirty="0"/>
          </a:p>
          <a:p>
            <a:pPr algn="l" indent="0" marL="0">
              <a:lnSpc>
                <a:spcPts val="3360"/>
              </a:lnSpc>
              <a:spcAft>
                <a:spcPts val="2020"/>
              </a:spcAft>
              <a:buNone/>
            </a:pPr>
            <a:r>
              <a:rPr lang="en-US" sz="2800" dirty="0">
                <a:solidFill>
                  <a:srgbClr val="111111"/>
                </a:solidFill>
                <a:latin typeface="Lato" pitchFamily="34" charset="0"/>
                <a:ea typeface="Lato" pitchFamily="34" charset="-122"/>
                <a:cs typeface="Lato" pitchFamily="34" charset="-120"/>
              </a:rPr>
              <a:t>Explain why nobody can divide by zero.</a:t>
            </a:r>
            <a:endParaRPr lang="en-US" sz="2800" dirty="0"/>
          </a:p>
          <a:p>
            <a:pPr algn="l" indent="0" marL="0">
              <a:lnSpc>
                <a:spcPts val="3360"/>
              </a:lnSpc>
              <a:spcAft>
                <a:spcPts val="2020"/>
              </a:spcAft>
              <a:buNone/>
            </a:pPr>
            <a:r>
              <a:rPr lang="en-US" sz="2800" dirty="0">
                <a:solidFill>
                  <a:srgbClr val="111111"/>
                </a:solidFill>
                <a:latin typeface="Lato" pitchFamily="34" charset="0"/>
                <a:ea typeface="Lato" pitchFamily="34" charset="-122"/>
                <a:cs typeface="Lato" pitchFamily="34" charset="-120"/>
              </a:rPr>
              <a:t>Save it as ML03. Write two sentences: what you changed and how you checked it.</a:t>
            </a:r>
            <a:endParaRPr lang="en-US" sz="28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ValueError: could not convert string to float</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text has letters, a comma or a currency symbol inside it.</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Remove everything except digits and one decimal point.</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ZeroDivisionError: division by zero</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calculation divides by zero.</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Check the number you divide by; it must not be 0.</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float turns text such as 12.5 into a number, and an error message names the problem on its last line.</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ML03 Arithmetic, converting text and reading errors</dc:title>
  <dc:subject>Machine Learning</dc:subject>
  <dc:creator>KLAi</dc:creator>
  <cp:lastModifiedBy>KLAi</cp:lastModifiedBy>
  <cp:revision>1</cp:revision>
  <dcterms:created xsi:type="dcterms:W3CDTF">2026-10-31T12:44:33Z</dcterms:created>
  <dcterms:modified xsi:type="dcterms:W3CDTF">2026-10-31T12:44:33Z</dcterms:modified>
</cp:coreProperties>
</file>