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50733fb-9b7e-fbdd-fe64-1a265f157a99}">
          <p14:sldIdLst>
            <p14:sldId id="256"/>
            <p14:sldId id="257"/>
            <p14:sldId id="258"/>
            <p14:sldId id="259"/>
            <p14:sldId id="260"/>
            <p14:sldId id="261"/>
            <p14:sldId id="262"/>
          </p14:sldIdLst>
        </p14:section>
        <p14:section name="Block A" id="{7e40726e-cc17-9079-d8e8-bcbdb0b49e91}">
          <p14:sldIdLst>
            <p14:sldId id="263"/>
            <p14:sldId id="264"/>
            <p14:sldId id="265"/>
            <p14:sldId id="266"/>
            <p14:sldId id="268"/>
            <p14:sldId id="269"/>
          </p14:sldIdLst>
        </p14:section>
        <p14:section name="Break" id="{c5a8f88a-6acb-2bde-811c-d42db9b45533}">
          <p14:sldIdLst>
            <p14:sldId id="267"/>
          </p14:sldIdLst>
        </p14:section>
        <p14:section name="Block A" id="{8f4702f4-8a3b-caf5-6bf8-1f93c76cdec4}">
          <p14:sldIdLst/>
        </p14:section>
        <p14:section name="Block B" id="{2b2ae29f-98d5-113f-5857-771d93c37bcc}">
          <p14:sldIdLst>
            <p14:sldId id="270"/>
            <p14:sldId id="271"/>
            <p14:sldId id="272"/>
            <p14:sldId id="273"/>
            <p14:sldId id="274"/>
          </p14:sldIdLst>
        </p14:section>
        <p14:section name="Make and close" id="{58204e47-1102-f871-d088-24c1bf567b00}">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21 and our topic is compare, explain and critique.
By the end of today you will be able to compare candidate models on the same validation rows, explain why one input is excluded, and check a coding assistant's advice with tests.
We will answer one question: Does my model beat the baseline fairly, and can I defend each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bars. The plain guess misses by four thousand three hundred and sixty one shillings. Using distance alone brings it to two thousand four hundred and fifteen. Adding rush hour and rain brings it to two thousand two hundred and fifty five. The last bar, which uses the tip, is much shorter, but that model is not allowed. Today you compare candidates fairly and defend every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45 minutes. Build and compare. After that, 15 minutes. Break. Next, 20 minutes. Supervised coding-assistant critique. Then, 75 minutes. Project work. Then, 15 minutes. Save and exit check.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fair comparison. Same rows, same measure, same split for every model. Imagine it like this. Every runner on the same track.
candidate model. A model you are considering using. An example from everyday life. A player trying out for the team.
validation error. The average miss on validation rows. Here is a way to see it. The mock exam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coding assistant. A tool that suggests code or fixes; its advice must be checked. A small example. A friend who sounds sure and is sometimes wrong.
AI use log. A record of any assistance, advice taken or rejected, and tests run. Picture this. A signed note of who helped.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two models are scored on different trips, a difference in score might come from the trips rather than the models. So every candidate is scored on the same thirty validation trips, with the same error measure.
Then, and only then, a lower number really means a better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input ask one question. Did we know it before the fare was set? Distance, rush hour and rain pass. The tip fails, because it exists only after the trip.
The tip makes the score look wonderful, and that is exactly why it is dangerous.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four options on the same 30 validation trips: the plain guess, distance only, three inputs, and three inputs plus tip. A small function keeps every comparison the same.
Your turn to guess. Predict which option has the lowest error, and whether you may use it.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4361, 2415, 2255 and 1317. The model with the tip has the lowest error, and it must not be used, because the tip is known only after the trip. Among the allowed models the three-input line wins: it misses by about UGX 2255, against 4361 for the plain guess. Every option used the same split, the same 30 validation trips and the same measure, which is what makes the comparison fair. The final test is untouched.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fair comparison. I have two questions for you.
Question one. Why is the lowest error not the winner here? Think about it for a moment, then tell the person next to you.
The tip column leaks the answer. A model that cheats scores well and predicts nothing in real use.
Question two. What stays the same in a fair comparison? Have a go in your head first.
Here is how I would answer it. The rows, the split, and the measure of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Try distance and raining only, and print the validation error. Then explain to your neighbour what the change did.
The result: About UGX 2262, slightly worse than with rush hour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coding assistant can suggest code quickly. Its answers sound sure of themselves, and some are wrong. Treat each suggestion as a hint. Predict what it does, run it, test it with a check, then keep it or throw it away and note what you did.
A plausible answer is not a checked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suggestion that looks fine at first glance. The function is meant to give the total for three items at two thousand shillings each. It adds the numbers and returns two thousand and three.
One test with numbers you can work out in your head would have caught it. Run a check before you trust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function should multiply a price by a quantity but gives the wrong answer. A tutor shows an assistant's hint, or a teacher-written one, and you test it.
Now your guess. Predict what total(2000, 3) gives with the plus sign, and what it should give.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first print shows 2003, because plus adds the numbers. The required answer is 6000, and multiplying fixes it. The three asserts pass silently. The tests support this small requirement and do not prove the function is right for every input. The teacher's hint says to inspect the arithmetic operator and to try total(2000, 3) and total(1000, 0). A claim that every bug in a total function is fixed by changing + to * goes too far: a different bug would need a different repair.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check an assistant's advice. I have three questions for you.
Question one. What is useful in the hint and what is unjustified? Have a go in your head first.
Here is how I would answer it. Useful: inspect the operator and test with 0. Unjustified: the claim that every bug is fixed by changing + to *.
Question two. Why test with a quantity of 0? Write your answer in one line before we compare.
What I would say is this. A zero quantity must give a total of 0, which catches many mistakes.
Question three. What goes in AI_USE_LOG.md? Say it quietly to yourself before anyone answers.
Let me answer it. The date and tool, your own attempt, the question asked, the reply, what you accepted or rejected and why, and the tests you 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Add one more assert of your own and run the cell. When you have run it, tell your neighbour what changed and how you know.
Here is what happens. For example assert total(500, 4) == 2000.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with a decision card. It says which inputs you keep, how well they did on validation compared with the plain guess, and which input you left out and why.
If you can write the card in three lines, you understand your own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ML21.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The with-tip score looks like the best. It means this: A leakage column made the model look better. To fix it, remove the column that is only known after the answer.
The next one. You will see: The comparison changes every time I run it. It means this: the split uses different random_state values or none at all. To fix it, use the same split settings for every model.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Does my model beat the baseline fairly, and can I defend each input?
Write this sentence in your notebook and finish it your own way. A model counts as better only on the same rows, with the same measure, and without leakage.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ML21  |  Compare, explain and critique</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Compare, explain and critique</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Does my model beat the baseline fairly, and can I defend each input?</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21 of 24  |  Week 7, Your project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Does my model beat the baseline</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fairly, and can I defend each input?</a:t>
            </a:r>
            <a:endParaRPr lang="en-US" sz="3600" dirty="0"/>
          </a:p>
        </p:txBody>
      </p:sp>
      <p:pic>
        <p:nvPicPr>
          <p:cNvPr id="3" name="Image 0" descr="Validation errors of a plain guess, distance only, distance with rush hour and rain, and a model that uses the tip">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fair comparis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360"/>
              </a:lnSpc>
              <a:buNone/>
            </a:pPr>
            <a:r>
              <a:rPr lang="en-US" sz="2800" b="1" dirty="0">
                <a:solidFill>
                  <a:srgbClr val="111111"/>
                </a:solidFill>
                <a:latin typeface="Lato" pitchFamily="34" charset="0"/>
                <a:ea typeface="Lato" pitchFamily="34" charset="-122"/>
                <a:cs typeface="Lato" pitchFamily="34" charset="-120"/>
              </a:rPr>
              <a:t>fair comparison</a:t>
            </a:r>
            <a:endParaRPr lang="en-US" sz="28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Same rows, same measure, same split for every model.</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Every runner on the same track.</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candidate model">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3360"/>
              </a:lnSpc>
              <a:buNone/>
            </a:pPr>
            <a:r>
              <a:rPr lang="en-US" sz="2800" b="1" dirty="0">
                <a:solidFill>
                  <a:srgbClr val="111111"/>
                </a:solidFill>
                <a:latin typeface="Lato" pitchFamily="34" charset="0"/>
                <a:ea typeface="Lato" pitchFamily="34" charset="-122"/>
                <a:cs typeface="Lato" pitchFamily="34" charset="-120"/>
              </a:rPr>
              <a:t>candidate model</a:t>
            </a:r>
            <a:endParaRPr lang="en-US" sz="28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model you are considering using.</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player trying out for the team.</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validation error">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validation error</a:t>
            </a:r>
            <a:endParaRPr lang="en-US" sz="26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average miss on validation rows.</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mock exam mark.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coding assistan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554480"/>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coding assistant</a:t>
            </a:r>
            <a:endParaRPr lang="en-US" sz="26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tool that suggests code or fixes; its advice must be checked.</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friend who sounds sure and is sometimes wrong.</a:t>
            </a:r>
            <a:endParaRPr lang="en-US" sz="1900" dirty="0"/>
          </a:p>
        </p:txBody>
      </p:sp>
      <p:sp>
        <p:nvSpPr>
          <p:cNvPr id="7" name="Shape 4"/>
          <p:cNvSpPr/>
          <p:nvPr/>
        </p:nvSpPr>
        <p:spPr>
          <a:xfrm>
            <a:off x="640080" y="3392424"/>
            <a:ext cx="10881360" cy="0"/>
          </a:xfrm>
          <a:prstGeom prst="line">
            <a:avLst/>
          </a:prstGeom>
          <a:noFill/>
          <a:ln w="12700">
            <a:solidFill>
              <a:srgbClr val="CFCFCF"/>
            </a:solidFill>
            <a:prstDash val="solid"/>
          </a:ln>
        </p:spPr>
      </p:sp>
      <p:pic>
        <p:nvPicPr>
          <p:cNvPr id="8" name="Image 1" descr="AI use log">    </p:cNvPr>
          <p:cNvPicPr>
            <a:picLocks noChangeAspect="1"/>
          </p:cNvPicPr>
          <p:nvPr/>
        </p:nvPicPr>
        <p:blipFill>
          <a:blip r:embed="rId2"/>
          <a:stretch>
            <a:fillRect/>
          </a:stretch>
        </p:blipFill>
        <p:spPr>
          <a:xfrm>
            <a:off x="640080" y="3520440"/>
            <a:ext cx="1188720" cy="1188720"/>
          </a:xfrm>
          <a:prstGeom prst="rect">
            <a:avLst/>
          </a:prstGeom>
        </p:spPr>
      </p:pic>
      <p:sp>
        <p:nvSpPr>
          <p:cNvPr id="9" name="Text 5"/>
          <p:cNvSpPr txBox="1"/>
          <p:nvPr/>
        </p:nvSpPr>
        <p:spPr>
          <a:xfrm>
            <a:off x="2011680" y="3474720"/>
            <a:ext cx="2926080" cy="1554480"/>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AI use log</a:t>
            </a:r>
            <a:endParaRPr lang="en-US" sz="3400" dirty="0"/>
          </a:p>
        </p:txBody>
      </p:sp>
      <p:sp>
        <p:nvSpPr>
          <p:cNvPr id="10" name="Text 6"/>
          <p:cNvSpPr txBox="1"/>
          <p:nvPr/>
        </p:nvSpPr>
        <p:spPr>
          <a:xfrm>
            <a:off x="5120640" y="352044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record of any assistance, advice taken or rejected, and tests run.</a:t>
            </a:r>
            <a:endParaRPr lang="en-US" sz="2200" dirty="0"/>
          </a:p>
        </p:txBody>
      </p:sp>
      <p:sp>
        <p:nvSpPr>
          <p:cNvPr id="11" name="Text 7"/>
          <p:cNvSpPr txBox="1"/>
          <p:nvPr/>
        </p:nvSpPr>
        <p:spPr>
          <a:xfrm>
            <a:off x="5120640" y="428244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signed note of who helped.</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Fair comparison: same trips for every model</a:t>
            </a:r>
            <a:endParaRPr lang="en-US" sz="3800" dirty="0"/>
          </a:p>
        </p:txBody>
      </p:sp>
      <p:pic>
        <p:nvPicPr>
          <p:cNvPr id="3" name="Image 0" descr="Fair comparison: same trips for every model">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Same 30 validation trips.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Same error measure.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Then the scores can be compared.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Ask of every input: known before the answer?</a:t>
            </a:r>
            <a:endParaRPr lang="en-US" sz="3800" dirty="0"/>
          </a:p>
        </p:txBody>
      </p:sp>
      <p:pic>
        <p:nvPicPr>
          <p:cNvPr id="3" name="Image 0" descr="Ask of every input: known before the answ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Distance, rush hour and rain pass.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tip fails.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Failing inputs stay out, however good the score.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fair comparison</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which option has the lowest error, and whether you may use it.</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fair comparison</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cell prints 4361, 2415, 2255 and 1317.</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model with the tip has the lowest error, and it must not be used, because the tip is known only after the trip.</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fair comparison</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the lowest error not the winner here?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stays the same in a fair comparison?</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Try distance and raining only, and print the validation error.</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coding assistant gives plausible code to test</a:t>
            </a:r>
            <a:endParaRPr lang="en-US" sz="3800" dirty="0"/>
          </a:p>
        </p:txBody>
      </p:sp>
      <p:pic>
        <p:nvPicPr>
          <p:cNvPr id="3" name="Image 0" descr="A coding assistant gives plausible code to tes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Predict what the hint does.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Run it and test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Keep or reject it and log the choice.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Code that adds instead of multiplying looks fine</a:t>
            </a:r>
            <a:endParaRPr lang="en-US" sz="3800" dirty="0"/>
          </a:p>
        </p:txBody>
      </p:sp>
      <p:pic>
        <p:nvPicPr>
          <p:cNvPr id="3" name="Image 0" descr="The suggested code adds price and quantity: 2003.">    </p:cNvPr>
          <p:cNvPicPr>
            <a:picLocks noChangeAspect="1"/>
          </p:cNvPicPr>
          <p:nvPr/>
        </p:nvPicPr>
        <p:blipFill>
          <a:blip r:embed="rId1"/>
          <a:stretch>
            <a:fillRect/>
          </a:stretch>
        </p:blipFill>
        <p:spPr>
          <a:xfrm>
            <a:off x="640080" y="1554480"/>
            <a:ext cx="5349240" cy="3429000"/>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The suggested code adds price and quantity: 2003.</a:t>
            </a:r>
            <a:endParaRPr lang="en-US" sz="2200" dirty="0"/>
          </a:p>
        </p:txBody>
      </p:sp>
      <p:pic>
        <p:nvPicPr>
          <p:cNvPr id="5" name="Image 1" descr="The fixed code multiplies them: 6000.">    </p:cNvPr>
          <p:cNvPicPr>
            <a:picLocks noChangeAspect="1"/>
          </p:cNvPicPr>
          <p:nvPr/>
        </p:nvPicPr>
        <p:blipFill>
          <a:blip r:embed="rId2"/>
          <a:stretch>
            <a:fillRect/>
          </a:stretch>
        </p:blipFill>
        <p:spPr>
          <a:xfrm>
            <a:off x="6172200" y="1554480"/>
            <a:ext cx="5349240" cy="3429000"/>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The fixed code multiplies them: 6000.</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Check an assistant's advice</a:t>
            </a:r>
            <a:endParaRPr lang="en-US" sz="3800" dirty="0"/>
          </a:p>
        </p:txBody>
      </p:sp>
      <p:sp>
        <p:nvSpPr>
          <p:cNvPr id="3" name="Shape 1"/>
          <p:cNvSpPr/>
          <p:nvPr/>
        </p:nvSpPr>
        <p:spPr>
          <a:xfrm>
            <a:off x="640080" y="1645920"/>
            <a:ext cx="6035040" cy="4401312"/>
          </a:xfrm>
          <a:prstGeom prst="roundRect">
            <a:avLst>
              <a:gd name="adj" fmla="val 1662"/>
            </a:avLst>
          </a:prstGeom>
          <a:solidFill>
            <a:srgbClr val="111111"/>
          </a:solidFill>
          <a:ln/>
        </p:spPr>
      </p:sp>
      <p:sp>
        <p:nvSpPr>
          <p:cNvPr id="4" name="Text 2"/>
          <p:cNvSpPr txBox="1"/>
          <p:nvPr/>
        </p:nvSpPr>
        <p:spPr>
          <a:xfrm>
            <a:off x="841248" y="1847088"/>
            <a:ext cx="5632704" cy="3998976"/>
          </a:xfrm>
          <a:prstGeom prst="rect">
            <a:avLst/>
          </a:prstGeom>
          <a:noFill/>
          <a:ln/>
        </p:spPr>
        <p:txBody>
          <a:bodyPr wrap="square" lIns="0" tIns="0" rIns="0" bIns="0" rtlCol="0" anchor="t"/>
          <a:lstStyle/>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def</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total(price, quantity):</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return</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price + quantity</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buggy_result = total(2000, 3)</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print(buggy_result)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def</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total(price, quantity):</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return</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price * quantity</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assert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total(2000, 3) == 6000</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assert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total(1000, 0) == 0</a:t>
            </a:r>
            <a:endParaRPr lang="en-US" sz="2000" dirty="0"/>
          </a:p>
          <a:p>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assert</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total(1000, 1) == 1000</a:t>
            </a:r>
            <a:endParaRPr lang="en-US" sz="20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360"/>
              </a:lnSpc>
              <a:spcAft>
                <a:spcPts val="2160"/>
              </a:spcAft>
              <a:buNone/>
            </a:pPr>
            <a:r>
              <a:rPr lang="en-US" sz="2800" dirty="0">
                <a:solidFill>
                  <a:srgbClr val="111111"/>
                </a:solidFill>
                <a:latin typeface="Lato" pitchFamily="34" charset="0"/>
                <a:ea typeface="Lato" pitchFamily="34" charset="-122"/>
                <a:cs typeface="Lato" pitchFamily="34" charset="-120"/>
              </a:rPr>
              <a:t>Predict what total(2000, 3) gives with the plus sign, and what it should give.</a:t>
            </a:r>
            <a:endParaRPr lang="en-US" sz="2800" dirty="0"/>
          </a:p>
          <a:p>
            <a:pPr algn="l" indent="0" marL="0">
              <a:lnSpc>
                <a:spcPts val="3360"/>
              </a:lnSpc>
              <a:spcAft>
                <a:spcPts val="2160"/>
              </a:spcAft>
              <a:buNone/>
            </a:pPr>
            <a:r>
              <a:rPr lang="en-US" sz="2800" dirty="0">
                <a:solidFill>
                  <a:srgbClr val="111111"/>
                </a:solidFill>
                <a:latin typeface="Lato" pitchFamily="34" charset="0"/>
                <a:ea typeface="Lato" pitchFamily="34" charset="-122"/>
                <a:cs typeface="Lato" pitchFamily="34" charset="-120"/>
              </a:rPr>
              <a:t>Write your guess on paper before we run it.</a:t>
            </a:r>
            <a:endParaRPr lang="en-US" sz="28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Check an assistant's advice</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480"/>
              </a:lnSpc>
              <a:spcAft>
                <a:spcPts val="1800"/>
              </a:spcAft>
              <a:buNone/>
            </a:pPr>
            <a:r>
              <a:rPr lang="en-US" sz="2900" dirty="0">
                <a:solidFill>
                  <a:srgbClr val="111111"/>
                </a:solidFill>
                <a:latin typeface="Lato" pitchFamily="34" charset="0"/>
                <a:ea typeface="Lato" pitchFamily="34" charset="-122"/>
                <a:cs typeface="Lato" pitchFamily="34" charset="-120"/>
              </a:rPr>
              <a:t>The first print shows 2003, because plus adds the numbers.</a:t>
            </a:r>
            <a:endParaRPr lang="en-US" sz="2900" dirty="0"/>
          </a:p>
          <a:p>
            <a:pPr algn="l" indent="0" marL="0">
              <a:lnSpc>
                <a:spcPts val="3480"/>
              </a:lnSpc>
              <a:spcAft>
                <a:spcPts val="1800"/>
              </a:spcAft>
              <a:buNone/>
            </a:pPr>
            <a:r>
              <a:rPr lang="en-US" sz="2900" dirty="0">
                <a:solidFill>
                  <a:srgbClr val="111111"/>
                </a:solidFill>
                <a:latin typeface="Lato" pitchFamily="34" charset="0"/>
                <a:ea typeface="Lato" pitchFamily="34" charset="-122"/>
                <a:cs typeface="Lato" pitchFamily="34" charset="-120"/>
              </a:rPr>
              <a:t>The required answer is 6000, and multiplying fixes it.</a:t>
            </a:r>
            <a:endParaRPr lang="en-US" sz="2900" dirty="0"/>
          </a:p>
          <a:p>
            <a:pPr algn="l" indent="0" marL="0">
              <a:lnSpc>
                <a:spcPts val="3480"/>
              </a:lnSpc>
              <a:spcAft>
                <a:spcPts val="1800"/>
              </a:spcAft>
              <a:buNone/>
            </a:pPr>
            <a:r>
              <a:rPr lang="en-US" sz="2900" dirty="0">
                <a:solidFill>
                  <a:srgbClr val="111111"/>
                </a:solidFill>
                <a:latin typeface="Lato" pitchFamily="34" charset="0"/>
                <a:ea typeface="Lato" pitchFamily="34" charset="-122"/>
                <a:cs typeface="Lato" pitchFamily="34" charset="-120"/>
              </a:rPr>
              <a:t>The three asserts pass silently.</a:t>
            </a:r>
            <a:endParaRPr lang="en-US" sz="2900" dirty="0"/>
          </a:p>
          <a:p>
            <a:pPr algn="l" indent="0" marL="0">
              <a:lnSpc>
                <a:spcPts val="3480"/>
              </a:lnSpc>
              <a:spcAft>
                <a:spcPts val="1800"/>
              </a:spcAft>
              <a:buNone/>
            </a:pPr>
            <a:r>
              <a:rPr lang="en-US" sz="2900" dirty="0">
                <a:solidFill>
                  <a:srgbClr val="111111"/>
                </a:solidFill>
                <a:latin typeface="Lato" pitchFamily="34" charset="0"/>
                <a:ea typeface="Lato" pitchFamily="34" charset="-122"/>
                <a:cs typeface="Lato" pitchFamily="34" charset="-120"/>
              </a:rPr>
              <a:t>The tests support this small requirement and do not prove the function is right for every input.</a:t>
            </a:r>
            <a:endParaRPr lang="en-US" sz="29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Check an assistant's advice</a:t>
            </a:r>
            <a:endParaRPr lang="en-US" sz="3800" dirty="0"/>
          </a:p>
        </p:txBody>
      </p:sp>
      <p:sp>
        <p:nvSpPr>
          <p:cNvPr id="3" name="Shape 1"/>
          <p:cNvSpPr/>
          <p:nvPr/>
        </p:nvSpPr>
        <p:spPr>
          <a:xfrm>
            <a:off x="7498080" y="1737360"/>
            <a:ext cx="4023360" cy="3410712"/>
          </a:xfrm>
          <a:prstGeom prst="roundRect">
            <a:avLst>
              <a:gd name="adj" fmla="val 2145"/>
            </a:avLst>
          </a:prstGeom>
          <a:solidFill>
            <a:srgbClr val="111111"/>
          </a:solidFill>
          <a:ln/>
        </p:spPr>
      </p:sp>
      <p:sp>
        <p:nvSpPr>
          <p:cNvPr id="4" name="Text 2"/>
          <p:cNvSpPr txBox="1"/>
          <p:nvPr/>
        </p:nvSpPr>
        <p:spPr>
          <a:xfrm>
            <a:off x="7699248" y="1938528"/>
            <a:ext cx="3621024" cy="3008376"/>
          </a:xfrm>
          <a:prstGeom prst="rect">
            <a:avLst/>
          </a:prstGeom>
          <a:noFill/>
          <a:ln/>
        </p:spPr>
        <p:txBody>
          <a:bodyPr wrap="square" lIns="0" tIns="0" rIns="0" bIns="0" rtlCol="0" anchor="t"/>
          <a:lstStyle/>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def</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total(price, quantity):</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return</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price + quantity</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buggy_result = total(2000, 3)</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print(buggy_result)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def</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total(price, quantity):</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return</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price * quantity</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assert</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total(2000, 3) == 6000</a:t>
            </a:r>
            <a:endParaRPr lang="en-US" sz="1500" dirty="0"/>
          </a:p>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assert</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total(1000, 0) == 0</a:t>
            </a:r>
            <a:endParaRPr lang="en-US" sz="1500" dirty="0"/>
          </a:p>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assert</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total(1000, 1) == 1000</a:t>
            </a:r>
            <a:endParaRPr lang="en-US" sz="15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is useful in the hint and what is unjustified?</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test with a quantity of 0?</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3.  What goes in AI_USE_LOG.md?</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one more assert of your own and run the cell.</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3608832"/>
          </a:xfrm>
          <a:prstGeom prst="roundRect">
            <a:avLst>
              <a:gd name="adj" fmla="val 2027"/>
            </a:avLst>
          </a:prstGeom>
          <a:solidFill>
            <a:srgbClr val="111111"/>
          </a:solidFill>
          <a:ln/>
        </p:spPr>
      </p:sp>
      <p:sp>
        <p:nvSpPr>
          <p:cNvPr id="5" name="Text 3"/>
          <p:cNvSpPr txBox="1"/>
          <p:nvPr/>
        </p:nvSpPr>
        <p:spPr>
          <a:xfrm>
            <a:off x="7424928" y="1938528"/>
            <a:ext cx="3895344" cy="320649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def</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total(price, quantity):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return</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price + quantity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buggy_result = total(2000, 3)</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print(buggy_result)</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def</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total(price, quantity):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return</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price * quantity</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assert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total(2000, 3) == 6000</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assert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total(1000, 0) == 0</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assert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total(1000, 1) == 1000</a:t>
            </a:r>
            <a:endParaRPr lang="en-US" sz="1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decision card records what you kept and why</a:t>
            </a:r>
            <a:endParaRPr lang="en-US" sz="3800" dirty="0"/>
          </a:p>
        </p:txBody>
      </p:sp>
      <p:pic>
        <p:nvPicPr>
          <p:cNvPr id="3" name="Image 0" descr="A decision card records what you kept and why">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Name the inputs you keep.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Give the validation error.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State what you left out and why.</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520"/>
              </a:spcAft>
              <a:buNone/>
            </a:pPr>
            <a:r>
              <a:rPr lang="en-US" sz="2800" dirty="0">
                <a:solidFill>
                  <a:srgbClr val="111111"/>
                </a:solidFill>
                <a:latin typeface="Lato" pitchFamily="34" charset="0"/>
                <a:ea typeface="Lato" pitchFamily="34" charset="-122"/>
                <a:cs typeface="Lato" pitchFamily="34" charset="-120"/>
              </a:rPr>
              <a:t>Add model code, the validation error and a short decision to project.ipynb. Ask a partner to name your target and baseline from the notebook alone. Record any assistance in AI_USE_LOG.md or write No AI assistance used.</a:t>
            </a:r>
            <a:endParaRPr lang="en-US" sz="2800" dirty="0"/>
          </a:p>
          <a:p>
            <a:pPr algn="l" indent="0" marL="0">
              <a:lnSpc>
                <a:spcPts val="3360"/>
              </a:lnSpc>
              <a:spcAft>
                <a:spcPts val="2520"/>
              </a:spcAft>
              <a:buNone/>
            </a:pPr>
            <a:r>
              <a:rPr lang="en-US" sz="2800" dirty="0">
                <a:solidFill>
                  <a:srgbClr val="111111"/>
                </a:solidFill>
                <a:latin typeface="Lato" pitchFamily="34" charset="0"/>
                <a:ea typeface="Lato" pitchFamily="34" charset="-122"/>
                <a:cs typeface="Lato" pitchFamily="34" charset="-120"/>
              </a:rPr>
              <a:t>Save it as ML21. 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with-tip score looks like the best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leakage column made the model look better.</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Remove the column that is only known after the answer.</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comparison changes every time I run it</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split uses different random_state values or none at all.</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the same split settings for every model.</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model counts as better only on the same rows, with the same measure, and without leakage.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ML21 Compare, explain and critique</dc:title>
  <dc:subject>Machine Learning</dc:subject>
  <dc:creator>KLAi</dc:creator>
  <cp:lastModifiedBy>KLAi</cp:lastModifiedBy>
  <cp:revision>1</cp:revision>
  <dcterms:created xsi:type="dcterms:W3CDTF">2026-10-31T12:33:14Z</dcterms:created>
  <dcterms:modified xsi:type="dcterms:W3CDTF">2026-10-31T12:33:14Z</dcterms:modified>
</cp:coreProperties>
</file>