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e3adb6d-3ea0-c7d9-a5f6-fda93e3834a9}">
          <p14:sldIdLst>
            <p14:sldId id="256"/>
            <p14:sldId id="257"/>
            <p14:sldId id="258"/>
            <p14:sldId id="259"/>
            <p14:sldId id="260"/>
            <p14:sldId id="261"/>
            <p14:sldId id="262"/>
          </p14:sldIdLst>
        </p14:section>
        <p14:section name="Block A" id="{333e1efd-af01-d00f-0704-3b3a9b53acb8}">
          <p14:sldIdLst>
            <p14:sldId id="263"/>
            <p14:sldId id="264"/>
            <p14:sldId id="265"/>
            <p14:sldId id="266"/>
            <p14:sldId id="268"/>
            <p14:sldId id="269"/>
          </p14:sldIdLst>
        </p14:section>
        <p14:section name="Break" id="{3c741ed1-02c2-6dfd-669a-6b2a10aad14b}">
          <p14:sldIdLst>
            <p14:sldId id="267"/>
          </p14:sldIdLst>
        </p14:section>
        <p14:section name="Block A" id="{456ce114-70f9-afda-b5ea-8e81d057c878}">
          <p14:sldIdLst/>
        </p14:section>
        <p14:section name="Block B" id="{ac347759-77ea-c8a8-14f2-bcd20f93b6af}">
          <p14:sldIdLst>
            <p14:sldId id="270"/>
            <p14:sldId id="271"/>
            <p14:sldId id="272"/>
            <p14:sldId id="273"/>
            <p14:sldId id="274"/>
          </p14:sldIdLst>
        </p14:section>
        <p14:section name="Make and close" id="{33a79f58-617b-663c-f3a9-8c082f63b269}">
          <p14:sldIdLst>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Laptops open, please. Today is session 21 and our topic is compare, explain and critique.
By the end of today you will be able to compare candidate models on the same validation rows, explain why one input is excluded, and check a coding assistant's advice with tests.
We will answer one question: Does my model beat the baseline fairly, and can I defend each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bars. The plain guess misses by four thousand three hundred and sixty one shillings. Using distance alone brings it to two thousand four hundred and fifteen. Adding rush hour and rain brings it to two thousand two hundred and fifty five. The last bar, which uses the tip, is much shorter, but that model is not allowed. Today you compare candidates fairly and defend every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how the 3 hours go. Each bar is as long as the time we spend on that part.
First, 10 minutes. Recall. Then, 45 minutes. Build and compare. After that, 15 minutes. Break. Next, 20 minutes. Supervised coding-assistant critique. Then, 75 minutes. Project work. Then, 15 minutes. Save and exit check.
Notice how much of the time is yours. You listen for a short while and then you do. That is on purpose, because you learn this by doing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a few words today. For each one I will say what it means and give you something to picture.
fair comparison. Same rows, same measure, same split for every model. Imagine it like this. Every runner on the same track.
candidate model. A model you are considering using. An example from everyday life. A player trying out for the team.
validation error. The average miss on validation rows. Here is a way to see it. The mock exam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More words for today.
coding assistant. A tool that suggests code or fixes; its advice must be checked. A small example. A friend who sounds sure and is sometimes wrong.
AI use log. A record of any assistance, advice taken or rejected, and tests run. Picture this. A signed note of who helped.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two models are scored on different trips, a difference in score might come from the trips rather than the models. So every candidate is scored on the same thirty validation trips, with the same error measure.
Then, and only then, a lower number really means a better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input ask one question. Did we know it before the fare was set? Distance, rush hour and rain pass. The tip fails, because it exists only after the trip.
The tip makes the score look wonderful, and that is exactly why it is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four options on the same 30 validation trips: the plain guess, distance only, three inputs, and three inputs plus tip. A small function keeps every comparison the same.
Your turn to guess. Predict which option has the lowest error, and whether you may use it. Put your guess on paper now, even if you are unsure.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run it, and you compare with your guess. Match each line of the output with the line of code that made it.
The cell prints 4361, 2415, 2255 and 1317. The model with the tip has the lowest error, and it must not be used, because the tip is known only after the trip. Among the allowed models the three-input line wins: it misses by about UGX 2255, against 4361 for the plain guess. Every option used the same split, the same 30 validation trips and the same measure, which is what makes the comparison fair. The final test is untouched.
Check your paper. Were you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A fair comparison. I have two questions for you.
Question one. Why is the lowest error not the winner here? Think about it for a moment, then tell the person next to you.
The tip column leaks the answer. A model that cheats scores well and predicts nothing in real use.
Question two. What stays the same in a fair comparison? Have a go in your head first.
Here is how I would answer it. The rows, the split, and the measure of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to experiment. Try distance and raining only, and print the validation error. Then explain to your neighbour what the change did.
The result: About UGX 2262, slightly worse than with rush hour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time. 15 minutes away from your screens. Stand up, drink some water and tell someone what you guessed in the first half.
When we come back we start the second idea.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coding assistant can suggest code quickly. Its answers sound sure of themselves, and some are wrong. Treat each suggestion as a hint. Predict what it does, run it, test it with a check, then keep it or throw it away and note what you did.
A plausible answer is not a checked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suggestion that looks fine at first glance. The function is meant to give the total for three items at two thousand shillings each. It adds the numbers and returns two thousand and three.
One test with numbers you can work out in your head would have caught it. Run a check before you trust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function should multiply a price by a quantity but gives the wrong answer. A tutor shows an assistant's hint, or a teacher-written one, and you test it.
Now your guess. Predict what total(2000, 3) gives with the plus sign, and what it should give. Write one line on paper. I will give you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the output as it appears. Match each line of the output with the line of code that made it.
The first print shows 2003, because plus adds the numbers. The required answer is 6000, and multiplying fixes it. The three asserts pass silently. The tests support this small requirement and do not prove the function is right for every input. The teacher's hint says to inspect the arithmetic operator and to try total(2000, 3) and total(1000, 0). A claim that every bug in a total function is fixed by changing + to * goes too far: a different bug would need a different repair.
Tell the person next to you whether your guess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look closely at check an assistant's advice. I have three questions for you.
Question one. What is useful in the hint and what is unjustified? Have a go in your head first.
Here is how I would answer it. Useful: inspect the operator and test with 0. Unjustified: the claim that every bug is fixed by changing + to *.
Question two. Why test with a quantity of 0? Write your answer in one line before we compare.
What I would say is this. A zero quantity must give a total of 0, which catches many mistakes.
Question three. What goes in AI_USE_LOG.md? Say it quietly to yourself before anyone answers.
Let me answer it. The date and tool, your own attempt, the question asked, the reply, what you accepted or rejected and why, and the tests you 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hands on the keyboard now. Add one more assert of your own and run the cell. When you have run it, tell your neighbour what changed and how you know.
Here is what happens. For example assert total(500, 4) == 2000.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Finish with a decision card. It says which inputs you keep, how well they did on validation compared with the plain guess, and which input you left out and why.
If you can write the card in three lines, you understand your own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own task for today. Take it one step at a time. If you get stuck for a few minutes, read your error message, check the error card, and then ask me.
Save it as ML21. I will come round to each of you and ask what you changed and how you checked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Everyone meets errors, including me. Two are likely today, so let us meet them now.
This is the first one. You will see: The with-tip score looks like the best. It means this: A leakage column made the model look better. To fix it, remove the column that is only known after the answer.
The next one. You will see: The comparison changes every time I run it. It means this: the split uses different random_state values or none at all. To fix it, use the same split settings for every model.
Keep this slide in mind when something stops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nearly done. Remember the question from the start of the session: Does my model beat the baseline fairly, and can I defend each input?
Write this sentence in your notebook and finish it your own way. A model counts as better only on the same rows, with the same measure, and without leakage.
Then save your notebook, close it and open it again to check it saved.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LAI_LIGHT">
    <p:bg>
      <p:bgPr>
        <a:solidFill>
          <a:srgbClr val="FFFFFF"/>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white_cropped.png">    </p:cNvPr>
          <p:cNvPicPr>
            <a:picLocks noChangeAspect="1"/>
          </p:cNvPicPr>
          <p:nvPr/>
        </p:nvPicPr>
        <p:blipFill>
          <a:blip r:embed="rId1"/>
          <a:stretch>
            <a:fillRect/>
          </a:stretch>
        </p:blipFill>
        <p:spPr>
          <a:xfrm>
            <a:off x="640080" y="6419088"/>
            <a:ext cx="772668" cy="246888"/>
          </a:xfrm>
          <a:prstGeom prst="rect">
            <a:avLst/>
          </a:prstGeom>
        </p:spPr>
      </p:pic>
      <p:sp>
        <p:nvSpPr>
          <p:cNvPr id="3" name="Text 0"/>
          <p:cNvSpPr/>
          <p:nvPr/>
        </p:nvSpPr>
        <p:spPr>
          <a:xfrm>
            <a:off x="1641348" y="6400800"/>
            <a:ext cx="8229600" cy="274320"/>
          </a:xfrm>
          <a:prstGeom prst="rect">
            <a:avLst/>
          </a:prstGeom>
          <a:noFill/>
          <a:ln/>
        </p:spPr>
        <p:txBody>
          <a:bodyPr wrap="square" lIns="0" tIns="0" rIns="0" bIns="0" rtlCol="0" anchor="ctr"/>
          <a:lstStyle/>
          <a:p>
            <a:pPr indent="0" marL="0">
              <a:buNone/>
            </a:pPr>
            <a:r>
              <a:rPr lang="en-US" sz="1200" dirty="0">
                <a:solidFill>
                  <a:srgbClr val="666666"/>
                </a:solidFill>
                <a:latin typeface="Lato" pitchFamily="34" charset="0"/>
                <a:ea typeface="Lato" pitchFamily="34" charset="-122"/>
                <a:cs typeface="Lato" pitchFamily="34" charset="-120"/>
              </a:rPr>
              <a:t>ML21  |  Compare, explain and critique</a:t>
            </a:r>
            <a:endParaRPr lang="en-US" sz="1200" dirty="0"/>
          </a:p>
        </p:txBody>
      </p:sp>
      <p:sp>
        <p:nvSpPr>
          <p:cNvPr id="4" name="Text 1"/>
          <p:cNvSpPr/>
          <p:nvPr>
            <p:ph idx="102" type="title" hasCustomPrompt="1"/>
          </p:nvPr>
        </p:nvSpPr>
        <p:spPr>
          <a:xfrm>
            <a:off x="640080" y="384048"/>
            <a:ext cx="10881360" cy="1051560"/>
          </a:xfrm>
          <a:prstGeom prst="rect">
            <a:avLst/>
          </a:prstGeom>
          <a:noFill/>
          <a:ln/>
        </p:spPr>
        <p:txBody>
          <a:bodyPr wrap="square" rtlCol="0"/>
          <a:lstStyle>
            <a:lvl1pPr algn="l" indent="0" marL="0">
              <a:buNone/>
              <a:defRPr lang="en-US" b="1" dirty="0">
                <a:solidFill>
                  <a:srgbClr val="111111"/>
                </a:solidFill>
                <a:latin typeface="Lato" pitchFamily="34" charset="0"/>
                <a:ea typeface="Lato" pitchFamily="34" charset="-122"/>
                <a:cs typeface="Lato" pitchFamily="34" charset="-120"/>
              </a:defRPr>
            </a:lvl1pPr>
          </a:lstStyle>
          <a:p>
            <a:pPr algn="l" indent="0" marL="0">
              <a:buNone/>
            </a:pPr>
            <a:endParaRPr lang="en-US"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LAI_DARK">
    <p:bg>
      <p:bgPr>
        <a:solidFill>
          <a:srgbClr val="000000"/>
        </a:solidFill>
      </p:bgPr>
    </p:bg>
    <p:spTree>
      <p:nvGrpSpPr>
        <p:cNvPr id="1" name=""/>
        <p:cNvGrpSpPr/>
        <p:nvPr/>
      </p:nvGrpSpPr>
      <p:grpSpPr>
        <a:xfrm>
          <a:off x="0" y="0"/>
          <a:ext cx="0" cy="0"/>
          <a:chOff x="0" y="0"/>
          <a:chExt cx="0" cy="0"/>
        </a:xfrm>
      </p:grpSpPr>
      <p:pic>
        <p:nvPicPr>
          <p:cNvPr id="2" name="Image 0" descr="/sessions/focused-youthful-einstein/mnt/IUEA-Teaching-Resources/Schools_ML_Track/camp_2026/brand/logos/klai_logo_on_black_cropped.png">    </p:cNvPr>
          <p:cNvPicPr>
            <a:picLocks noChangeAspect="1"/>
          </p:cNvPicPr>
          <p:nvPr/>
        </p:nvPicPr>
        <p:blipFill>
          <a:blip r:embed="rId1"/>
          <a:stretch>
            <a:fillRect/>
          </a:stretch>
        </p:blipFill>
        <p:spPr>
          <a:xfrm>
            <a:off x="640080" y="548640"/>
            <a:ext cx="1774850" cy="566928"/>
          </a:xfrm>
          <a:prstGeom prst="rect">
            <a:avLst/>
          </a:prstGeom>
        </p:spPr>
      </p:pic>
      <p:sp>
        <p:nvSpPr>
          <p:cNvPr id="3" name="Text 0"/>
          <p:cNvSpPr/>
          <p:nvPr>
            <p:ph idx="101" type="title" hasCustomPrompt="1"/>
          </p:nvPr>
        </p:nvSpPr>
        <p:spPr>
          <a:xfrm>
            <a:off x="640080" y="2103120"/>
            <a:ext cx="10607040" cy="2286000"/>
          </a:xfrm>
          <a:prstGeom prst="rect">
            <a:avLst/>
          </a:prstGeom>
          <a:noFill/>
          <a:ln/>
        </p:spPr>
        <p:txBody>
          <a:bodyPr wrap="square" rtlCol="0"/>
          <a:lstStyle>
            <a:lvl1pPr algn="l" indent="0" marL="0">
              <a:buNone/>
              <a:defRPr lang="en-US" b="1" dirty="0">
                <a:solidFill>
                  <a:srgbClr val="FFFFFF"/>
                </a:solidFill>
                <a:latin typeface="Lato" pitchFamily="34" charset="0"/>
                <a:ea typeface="Lato" pitchFamily="34" charset="-122"/>
                <a:cs typeface="Lato" pitchFamily="34" charset="-120"/>
              </a:defRPr>
            </a:lvl1pPr>
          </a:lstStyle>
          <a:p>
            <a:pPr algn="l" indent="0" marL="0">
              <a:buNone/>
            </a:pP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1.png"/><Relationship Id="rId3" Type="http://schemas.openxmlformats.org/officeDocument/2006/relationships/slideLayout" Target="../slideLayouts/slideLayout2.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600" b="1" dirty="0">
                <a:solidFill>
                  <a:srgbClr val="FFFFFF"/>
                </a:solidFill>
                <a:latin typeface="Lato" pitchFamily="34" charset="0"/>
                <a:ea typeface="Lato" pitchFamily="34" charset="-122"/>
                <a:cs typeface="Lato" pitchFamily="34" charset="-120"/>
              </a:rPr>
              <a:t>Compare, explain and critique</a:t>
            </a:r>
            <a:endParaRPr lang="en-US" sz="5600" dirty="0"/>
          </a:p>
        </p:txBody>
      </p:sp>
      <p:sp>
        <p:nvSpPr>
          <p:cNvPr id="3" name="Text 1"/>
          <p:cNvSpPr txBox="1"/>
          <p:nvPr/>
        </p:nvSpPr>
        <p:spPr>
          <a:xfrm>
            <a:off x="640080" y="3388360"/>
            <a:ext cx="10241280" cy="1188720"/>
          </a:xfrm>
          <a:prstGeom prst="rect">
            <a:avLst/>
          </a:prstGeom>
          <a:noFill/>
          <a:ln/>
        </p:spPr>
        <p:txBody>
          <a:bodyPr wrap="square" lIns="0" tIns="0" rIns="0" bIns="0" rtlCol="0" anchor="t"/>
          <a:lstStyle/>
          <a:p>
            <a:pPr algn="l" indent="0" marL="0">
              <a:lnSpc>
                <a:spcPts val="3600"/>
              </a:lnSpc>
              <a:buNone/>
            </a:pPr>
            <a:r>
              <a:rPr lang="en-US" sz="3000" i="1" dirty="0">
                <a:solidFill>
                  <a:srgbClr val="E0BE36"/>
                </a:solidFill>
                <a:latin typeface="Lato" pitchFamily="34" charset="0"/>
                <a:ea typeface="Lato" pitchFamily="34" charset="-122"/>
                <a:cs typeface="Lato" pitchFamily="34" charset="-120"/>
              </a:rPr>
              <a:t>Does my model beat the baseline fairly, and can I defend each input?</a:t>
            </a:r>
            <a:endParaRPr lang="en-US" sz="3000" dirty="0"/>
          </a:p>
        </p:txBody>
      </p:sp>
      <p:sp>
        <p:nvSpPr>
          <p:cNvPr id="4" name="Text 2"/>
          <p:cNvSpPr txBox="1"/>
          <p:nvPr/>
        </p:nvSpPr>
        <p:spPr>
          <a:xfrm>
            <a:off x="640080" y="5989320"/>
            <a:ext cx="10789920" cy="457200"/>
          </a:xfrm>
          <a:prstGeom prst="rect">
            <a:avLst/>
          </a:prstGeom>
          <a:noFill/>
          <a:ln/>
        </p:spPr>
        <p:txBody>
          <a:bodyPr wrap="square" lIns="0" tIns="0" rIns="0" bIns="0" rtlCol="0" anchor="t"/>
          <a:lstStyle/>
          <a:p>
            <a:pPr algn="l" indent="0" marL="0">
              <a:lnSpc>
                <a:spcPts val="2320"/>
              </a:lnSpc>
              <a:buNone/>
            </a:pPr>
            <a:r>
              <a:rPr lang="en-US" sz="1600" dirty="0">
                <a:solidFill>
                  <a:srgbClr val="B5B5B5"/>
                </a:solidFill>
                <a:latin typeface="Lato" pitchFamily="34" charset="0"/>
                <a:ea typeface="Lato" pitchFamily="34" charset="-122"/>
                <a:cs typeface="Lato" pitchFamily="34" charset="-120"/>
              </a:rPr>
              <a:t>Machine Learning  |  Session 21 of 24  |  Week 7, Your project</a:t>
            </a:r>
            <a:endParaRPr lang="en-US" sz="1600" dirty="0"/>
          </a:p>
          <a:p>
            <a:pPr algn="l" indent="0" marL="0">
              <a:lnSpc>
                <a:spcPts val="2320"/>
              </a:lnSpc>
              <a:buNone/>
            </a:pPr>
            <a:r>
              <a:rPr lang="en-US" sz="1600" dirty="0">
                <a:solidFill>
                  <a:srgbClr val="B5B5B5"/>
                </a:solidFill>
                <a:latin typeface="Lato" pitchFamily="34" charset="0"/>
                <a:ea typeface="Lato" pitchFamily="34" charset="-122"/>
                <a:cs typeface="Lato" pitchFamily="34" charset="-120"/>
              </a:rPr>
              <a:t>Holiday Data and AI Camp  |  The National ICT Innovation Hub, Nakawa</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600" b="1" dirty="0">
                <a:solidFill>
                  <a:srgbClr val="111111"/>
                </a:solidFill>
                <a:latin typeface="Lato" pitchFamily="34" charset="0"/>
                <a:ea typeface="Lato" pitchFamily="34" charset="-122"/>
                <a:cs typeface="Lato" pitchFamily="34" charset="-120"/>
              </a:rPr>
              <a:t>Does my model beat the baseline</a:t>
            </a:r>
            <a:endParaRPr lang="en-US" sz="3600" dirty="0"/>
          </a:p>
          <a:p>
            <a:pPr algn="l" indent="0" marL="0">
              <a:buNone/>
            </a:pPr>
            <a:r>
              <a:rPr lang="en-US" sz="3600" b="1" dirty="0">
                <a:solidFill>
                  <a:srgbClr val="111111"/>
                </a:solidFill>
                <a:latin typeface="Lato" pitchFamily="34" charset="0"/>
                <a:ea typeface="Lato" pitchFamily="34" charset="-122"/>
                <a:cs typeface="Lato" pitchFamily="34" charset="-120"/>
              </a:rPr>
              <a:t>fairly, and can I defend each input?</a:t>
            </a:r>
            <a:endParaRPr lang="en-US" sz="3600" dirty="0"/>
          </a:p>
        </p:txBody>
      </p:sp>
      <p:pic>
        <p:nvPicPr>
          <p:cNvPr id="3" name="Image 0" descr="Validation errors of a plain guess, distance only, distance with rush hour and rain, and a model that uses the tip">    </p:cNvPr>
          <p:cNvPicPr>
            <a:picLocks noChangeAspect="1"/>
          </p:cNvPicPr>
          <p:nvPr/>
        </p:nvPicPr>
        <p:blipFill>
          <a:blip r:embed="rId1"/>
          <a:stretch>
            <a:fillRect/>
          </a:stretch>
        </p:blipFill>
        <p:spPr>
          <a:xfrm>
            <a:off x="640080" y="1691640"/>
            <a:ext cx="10881360" cy="43434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Three hours, mostly doing</a:t>
            </a:r>
            <a:endParaRPr lang="en-US" sz="3800" dirty="0"/>
          </a:p>
        </p:txBody>
      </p:sp>
      <p:pic>
        <p:nvPicPr>
          <p:cNvPr id="3" name="Image 0" descr="The plan for the session: start time, minutes and what we do">    </p:cNvPr>
          <p:cNvPicPr>
            <a:picLocks noChangeAspect="1"/>
          </p:cNvPicPr>
          <p:nvPr/>
        </p:nvPicPr>
        <p:blipFill>
          <a:blip r:embed="rId1"/>
          <a:stretch>
            <a:fillRect/>
          </a:stretch>
        </p:blipFill>
        <p:spPr>
          <a:xfrm>
            <a:off x="640080" y="1600200"/>
            <a:ext cx="10881360" cy="4133088"/>
          </a:xfrm>
          <a:prstGeom prst="rect">
            <a:avLst/>
          </a:prstGeom>
        </p:spPr>
      </p:pic>
      <p:sp>
        <p:nvSpPr>
          <p:cNvPr id="4" name="Text 1"/>
          <p:cNvSpPr txBox="1"/>
          <p:nvPr/>
        </p:nvSpPr>
        <p:spPr>
          <a:xfrm>
            <a:off x="640080" y="5852160"/>
            <a:ext cx="10881360" cy="457200"/>
          </a:xfrm>
          <a:prstGeom prst="rect">
            <a:avLst/>
          </a:prstGeom>
          <a:noFill/>
          <a:ln/>
        </p:spPr>
        <p:txBody>
          <a:bodyPr wrap="square" lIns="0" tIns="0" rIns="0" bIns="0" rtlCol="0" anchor="t"/>
          <a:lstStyle/>
          <a:p>
            <a:pPr algn="l" indent="0" marL="0">
              <a:lnSpc>
                <a:spcPts val="2640"/>
              </a:lnSpc>
              <a:buNone/>
            </a:pPr>
            <a:r>
              <a:rPr lang="en-US" sz="2200" dirty="0">
                <a:solidFill>
                  <a:srgbClr val="333333"/>
                </a:solidFill>
                <a:latin typeface="Lato" pitchFamily="34" charset="0"/>
                <a:ea typeface="Lato" pitchFamily="34" charset="-122"/>
                <a:cs typeface="Lato" pitchFamily="34" charset="-120"/>
              </a:rPr>
              <a:t>Most of our time is spent doing, in small steps, with a guess before every run.</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(1 of 2)</a:t>
            </a:r>
            <a:endParaRPr lang="en-US" sz="3800" dirty="0"/>
          </a:p>
        </p:txBody>
      </p:sp>
      <p:pic>
        <p:nvPicPr>
          <p:cNvPr id="3" name="Image 0" descr="fair comparison">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298448"/>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fair comparison</a:t>
            </a:r>
            <a:endParaRPr lang="en-US" sz="28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Same rows, same measure, same split for every model.</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Every runner on the same track.</a:t>
            </a:r>
            <a:endParaRPr lang="en-US" sz="1900" dirty="0"/>
          </a:p>
        </p:txBody>
      </p:sp>
      <p:sp>
        <p:nvSpPr>
          <p:cNvPr id="7" name="Shape 4"/>
          <p:cNvSpPr/>
          <p:nvPr/>
        </p:nvSpPr>
        <p:spPr>
          <a:xfrm>
            <a:off x="640080" y="3136392"/>
            <a:ext cx="10881360" cy="0"/>
          </a:xfrm>
          <a:prstGeom prst="line">
            <a:avLst/>
          </a:prstGeom>
          <a:noFill/>
          <a:ln w="12700">
            <a:solidFill>
              <a:srgbClr val="CFCFCF"/>
            </a:solidFill>
            <a:prstDash val="solid"/>
          </a:ln>
        </p:spPr>
      </p:sp>
      <p:pic>
        <p:nvPicPr>
          <p:cNvPr id="8" name="Image 1" descr="candidate model">    </p:cNvPr>
          <p:cNvPicPr>
            <a:picLocks noChangeAspect="1"/>
          </p:cNvPicPr>
          <p:nvPr/>
        </p:nvPicPr>
        <p:blipFill>
          <a:blip r:embed="rId2"/>
          <a:stretch>
            <a:fillRect/>
          </a:stretch>
        </p:blipFill>
        <p:spPr>
          <a:xfrm>
            <a:off x="640080" y="3264408"/>
            <a:ext cx="1188720" cy="1188720"/>
          </a:xfrm>
          <a:prstGeom prst="rect">
            <a:avLst/>
          </a:prstGeom>
        </p:spPr>
      </p:pic>
      <p:sp>
        <p:nvSpPr>
          <p:cNvPr id="9" name="Text 5"/>
          <p:cNvSpPr txBox="1"/>
          <p:nvPr/>
        </p:nvSpPr>
        <p:spPr>
          <a:xfrm>
            <a:off x="2011680" y="3218688"/>
            <a:ext cx="2926080" cy="1298448"/>
          </a:xfrm>
          <a:prstGeom prst="rect">
            <a:avLst/>
          </a:prstGeom>
          <a:noFill/>
          <a:ln/>
        </p:spPr>
        <p:txBody>
          <a:bodyPr wrap="square" lIns="0" tIns="0" rIns="0" bIns="0" rtlCol="0" anchor="ctr"/>
          <a:lstStyle/>
          <a:p>
            <a:pPr algn="l" indent="0" marL="0">
              <a:lnSpc>
                <a:spcPts val="3360"/>
              </a:lnSpc>
              <a:buNone/>
            </a:pPr>
            <a:r>
              <a:rPr lang="en-US" sz="2800" b="1" dirty="0">
                <a:solidFill>
                  <a:srgbClr val="111111"/>
                </a:solidFill>
                <a:latin typeface="Lato" pitchFamily="34" charset="0"/>
                <a:ea typeface="Lato" pitchFamily="34" charset="-122"/>
                <a:cs typeface="Lato" pitchFamily="34" charset="-120"/>
              </a:rPr>
              <a:t>candidate model</a:t>
            </a:r>
            <a:endParaRPr lang="en-US" sz="2800" dirty="0"/>
          </a:p>
        </p:txBody>
      </p:sp>
      <p:sp>
        <p:nvSpPr>
          <p:cNvPr id="10" name="Text 6"/>
          <p:cNvSpPr txBox="1"/>
          <p:nvPr/>
        </p:nvSpPr>
        <p:spPr>
          <a:xfrm>
            <a:off x="5120640" y="3264408"/>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model you are considering using.</a:t>
            </a:r>
            <a:endParaRPr lang="en-US" sz="2200" dirty="0"/>
          </a:p>
        </p:txBody>
      </p:sp>
      <p:sp>
        <p:nvSpPr>
          <p:cNvPr id="11" name="Text 7"/>
          <p:cNvSpPr txBox="1"/>
          <p:nvPr/>
        </p:nvSpPr>
        <p:spPr>
          <a:xfrm>
            <a:off x="5120640" y="3691128"/>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player trying out for the team.</a:t>
            </a:r>
            <a:endParaRPr lang="en-US" sz="1900" dirty="0"/>
          </a:p>
        </p:txBody>
      </p:sp>
      <p:sp>
        <p:nvSpPr>
          <p:cNvPr id="12" name="Shape 8"/>
          <p:cNvSpPr/>
          <p:nvPr/>
        </p:nvSpPr>
        <p:spPr>
          <a:xfrm>
            <a:off x="640080" y="4617720"/>
            <a:ext cx="10881360" cy="0"/>
          </a:xfrm>
          <a:prstGeom prst="line">
            <a:avLst/>
          </a:prstGeom>
          <a:noFill/>
          <a:ln w="12700">
            <a:solidFill>
              <a:srgbClr val="CFCFCF"/>
            </a:solidFill>
            <a:prstDash val="solid"/>
          </a:ln>
        </p:spPr>
      </p:sp>
      <p:pic>
        <p:nvPicPr>
          <p:cNvPr id="13" name="Image 2" descr="validation error">    </p:cNvPr>
          <p:cNvPicPr>
            <a:picLocks noChangeAspect="1"/>
          </p:cNvPicPr>
          <p:nvPr/>
        </p:nvPicPr>
        <p:blipFill>
          <a:blip r:embed="rId3"/>
          <a:stretch>
            <a:fillRect/>
          </a:stretch>
        </p:blipFill>
        <p:spPr>
          <a:xfrm>
            <a:off x="640080" y="4745736"/>
            <a:ext cx="1188720" cy="1188720"/>
          </a:xfrm>
          <a:prstGeom prst="rect">
            <a:avLst/>
          </a:prstGeom>
        </p:spPr>
      </p:pic>
      <p:sp>
        <p:nvSpPr>
          <p:cNvPr id="14" name="Text 9"/>
          <p:cNvSpPr txBox="1"/>
          <p:nvPr/>
        </p:nvSpPr>
        <p:spPr>
          <a:xfrm>
            <a:off x="2011680" y="4700016"/>
            <a:ext cx="2926080" cy="1298448"/>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validation error</a:t>
            </a:r>
            <a:endParaRPr lang="en-US" sz="2600" dirty="0"/>
          </a:p>
        </p:txBody>
      </p:sp>
      <p:sp>
        <p:nvSpPr>
          <p:cNvPr id="15" name="Text 10"/>
          <p:cNvSpPr txBox="1"/>
          <p:nvPr/>
        </p:nvSpPr>
        <p:spPr>
          <a:xfrm>
            <a:off x="5120640" y="4745736"/>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The average miss on validation rows.</a:t>
            </a:r>
            <a:endParaRPr lang="en-US" sz="2200" dirty="0"/>
          </a:p>
        </p:txBody>
      </p:sp>
      <p:sp>
        <p:nvSpPr>
          <p:cNvPr id="16" name="Text 11"/>
          <p:cNvSpPr txBox="1"/>
          <p:nvPr/>
        </p:nvSpPr>
        <p:spPr>
          <a:xfrm>
            <a:off x="5120640" y="5172456"/>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The mock exam mark.</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Words for today (2 of 2)</a:t>
            </a:r>
            <a:endParaRPr lang="en-US" sz="3800" dirty="0"/>
          </a:p>
        </p:txBody>
      </p:sp>
      <p:pic>
        <p:nvPicPr>
          <p:cNvPr id="3" name="Image 0" descr="coding assistant">    </p:cNvPr>
          <p:cNvPicPr>
            <a:picLocks noChangeAspect="1"/>
          </p:cNvPicPr>
          <p:nvPr/>
        </p:nvPicPr>
        <p:blipFill>
          <a:blip r:embed="rId1"/>
          <a:stretch>
            <a:fillRect/>
          </a:stretch>
        </p:blipFill>
        <p:spPr>
          <a:xfrm>
            <a:off x="640080" y="1783080"/>
            <a:ext cx="1188720" cy="1188720"/>
          </a:xfrm>
          <a:prstGeom prst="rect">
            <a:avLst/>
          </a:prstGeom>
        </p:spPr>
      </p:pic>
      <p:sp>
        <p:nvSpPr>
          <p:cNvPr id="4" name="Text 1"/>
          <p:cNvSpPr txBox="1"/>
          <p:nvPr/>
        </p:nvSpPr>
        <p:spPr>
          <a:xfrm>
            <a:off x="2011680" y="1737360"/>
            <a:ext cx="2926080" cy="1554480"/>
          </a:xfrm>
          <a:prstGeom prst="rect">
            <a:avLst/>
          </a:prstGeom>
          <a:noFill/>
          <a:ln/>
        </p:spPr>
        <p:txBody>
          <a:bodyPr wrap="square" lIns="0" tIns="0" rIns="0" bIns="0" rtlCol="0" anchor="ctr"/>
          <a:lstStyle/>
          <a:p>
            <a:pPr algn="l" indent="0" marL="0">
              <a:lnSpc>
                <a:spcPts val="3120"/>
              </a:lnSpc>
              <a:buNone/>
            </a:pPr>
            <a:r>
              <a:rPr lang="en-US" sz="2600" b="1" dirty="0">
                <a:solidFill>
                  <a:srgbClr val="111111"/>
                </a:solidFill>
                <a:latin typeface="Lato" pitchFamily="34" charset="0"/>
                <a:ea typeface="Lato" pitchFamily="34" charset="-122"/>
                <a:cs typeface="Lato" pitchFamily="34" charset="-120"/>
              </a:rPr>
              <a:t>coding assistant</a:t>
            </a:r>
            <a:endParaRPr lang="en-US" sz="2600" dirty="0"/>
          </a:p>
        </p:txBody>
      </p:sp>
      <p:sp>
        <p:nvSpPr>
          <p:cNvPr id="5" name="Text 2"/>
          <p:cNvSpPr txBox="1"/>
          <p:nvPr/>
        </p:nvSpPr>
        <p:spPr>
          <a:xfrm>
            <a:off x="5120640" y="178308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tool that suggests code or fixes; its advice must be checked.</a:t>
            </a:r>
            <a:endParaRPr lang="en-US" sz="2200" dirty="0"/>
          </a:p>
        </p:txBody>
      </p:sp>
      <p:sp>
        <p:nvSpPr>
          <p:cNvPr id="6" name="Text 3"/>
          <p:cNvSpPr txBox="1"/>
          <p:nvPr/>
        </p:nvSpPr>
        <p:spPr>
          <a:xfrm>
            <a:off x="5120640" y="254508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friend who sounds sure and is sometimes wrong.</a:t>
            </a:r>
            <a:endParaRPr lang="en-US" sz="1900" dirty="0"/>
          </a:p>
        </p:txBody>
      </p:sp>
      <p:sp>
        <p:nvSpPr>
          <p:cNvPr id="7" name="Shape 4"/>
          <p:cNvSpPr/>
          <p:nvPr/>
        </p:nvSpPr>
        <p:spPr>
          <a:xfrm>
            <a:off x="640080" y="3392424"/>
            <a:ext cx="10881360" cy="0"/>
          </a:xfrm>
          <a:prstGeom prst="line">
            <a:avLst/>
          </a:prstGeom>
          <a:noFill/>
          <a:ln w="12700">
            <a:solidFill>
              <a:srgbClr val="CFCFCF"/>
            </a:solidFill>
            <a:prstDash val="solid"/>
          </a:ln>
        </p:spPr>
      </p:sp>
      <p:pic>
        <p:nvPicPr>
          <p:cNvPr id="8" name="Image 1" descr="AI use log">    </p:cNvPr>
          <p:cNvPicPr>
            <a:picLocks noChangeAspect="1"/>
          </p:cNvPicPr>
          <p:nvPr/>
        </p:nvPicPr>
        <p:blipFill>
          <a:blip r:embed="rId2"/>
          <a:stretch>
            <a:fillRect/>
          </a:stretch>
        </p:blipFill>
        <p:spPr>
          <a:xfrm>
            <a:off x="640080" y="3520440"/>
            <a:ext cx="1188720" cy="1188720"/>
          </a:xfrm>
          <a:prstGeom prst="rect">
            <a:avLst/>
          </a:prstGeom>
        </p:spPr>
      </p:pic>
      <p:sp>
        <p:nvSpPr>
          <p:cNvPr id="9" name="Text 5"/>
          <p:cNvSpPr txBox="1"/>
          <p:nvPr/>
        </p:nvSpPr>
        <p:spPr>
          <a:xfrm>
            <a:off x="2011680" y="3474720"/>
            <a:ext cx="2926080" cy="1554480"/>
          </a:xfrm>
          <a:prstGeom prst="rect">
            <a:avLst/>
          </a:prstGeom>
          <a:noFill/>
          <a:ln/>
        </p:spPr>
        <p:txBody>
          <a:bodyPr wrap="square" lIns="0" tIns="0" rIns="0" bIns="0" rtlCol="0" anchor="ctr"/>
          <a:lstStyle/>
          <a:p>
            <a:pPr algn="l" indent="0" marL="0">
              <a:lnSpc>
                <a:spcPts val="4080"/>
              </a:lnSpc>
              <a:buNone/>
            </a:pPr>
            <a:r>
              <a:rPr lang="en-US" sz="3400" b="1" dirty="0">
                <a:solidFill>
                  <a:srgbClr val="111111"/>
                </a:solidFill>
                <a:latin typeface="Lato" pitchFamily="34" charset="0"/>
                <a:ea typeface="Lato" pitchFamily="34" charset="-122"/>
                <a:cs typeface="Lato" pitchFamily="34" charset="-120"/>
              </a:rPr>
              <a:t>AI use log</a:t>
            </a:r>
            <a:endParaRPr lang="en-US" sz="3400" dirty="0"/>
          </a:p>
        </p:txBody>
      </p:sp>
      <p:sp>
        <p:nvSpPr>
          <p:cNvPr id="10" name="Text 6"/>
          <p:cNvSpPr txBox="1"/>
          <p:nvPr/>
        </p:nvSpPr>
        <p:spPr>
          <a:xfrm>
            <a:off x="5120640" y="3520440"/>
            <a:ext cx="6400800" cy="868680"/>
          </a:xfrm>
          <a:prstGeom prst="rect">
            <a:avLst/>
          </a:prstGeom>
          <a:noFill/>
          <a:ln/>
        </p:spPr>
        <p:txBody>
          <a:bodyPr wrap="square" lIns="0" tIns="0" rIns="0" bIns="0" rtlCol="0" anchor="t"/>
          <a:lstStyle/>
          <a:p>
            <a:pPr algn="l" indent="0" marL="0">
              <a:lnSpc>
                <a:spcPts val="2640"/>
              </a:lnSpc>
              <a:buNone/>
            </a:pPr>
            <a:r>
              <a:rPr lang="en-US" sz="2200" dirty="0">
                <a:solidFill>
                  <a:srgbClr val="111111"/>
                </a:solidFill>
                <a:latin typeface="Lato" pitchFamily="34" charset="0"/>
                <a:ea typeface="Lato" pitchFamily="34" charset="-122"/>
                <a:cs typeface="Lato" pitchFamily="34" charset="-120"/>
              </a:rPr>
              <a:t>A record of any assistance, advice taken or rejected, and tests run.</a:t>
            </a:r>
            <a:endParaRPr lang="en-US" sz="2200" dirty="0"/>
          </a:p>
        </p:txBody>
      </p:sp>
      <p:sp>
        <p:nvSpPr>
          <p:cNvPr id="11" name="Text 7"/>
          <p:cNvSpPr txBox="1"/>
          <p:nvPr/>
        </p:nvSpPr>
        <p:spPr>
          <a:xfrm>
            <a:off x="5120640" y="4282440"/>
            <a:ext cx="6400800" cy="566928"/>
          </a:xfrm>
          <a:prstGeom prst="rect">
            <a:avLst/>
          </a:prstGeom>
          <a:noFill/>
          <a:ln/>
        </p:spPr>
        <p:txBody>
          <a:bodyPr wrap="square" lIns="0" tIns="0" rIns="0" bIns="0" rtlCol="0" anchor="t"/>
          <a:lstStyle/>
          <a:p>
            <a:pPr algn="l" indent="0" marL="0">
              <a:lnSpc>
                <a:spcPts val="2280"/>
              </a:lnSpc>
              <a:buNone/>
            </a:pPr>
            <a:r>
              <a:rPr lang="en-US" sz="1900" i="1" dirty="0">
                <a:solidFill>
                  <a:srgbClr val="666666"/>
                </a:solidFill>
                <a:latin typeface="Lato" pitchFamily="34" charset="0"/>
                <a:ea typeface="Lato" pitchFamily="34" charset="-122"/>
                <a:cs typeface="Lato" pitchFamily="34" charset="-120"/>
              </a:rPr>
              <a:t>A signed note of who helped.</a:t>
            </a:r>
            <a:endParaRPr lang="en-US" sz="19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Fair comparison: same trips for every model</a:t>
            </a:r>
            <a:endParaRPr lang="en-US" sz="3800" dirty="0"/>
          </a:p>
        </p:txBody>
      </p:sp>
      <p:pic>
        <p:nvPicPr>
          <p:cNvPr id="3" name="Image 0" descr="Fair comparison: same trips for every model">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Same 30 validation trips.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Same error measure.</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Then the scores can be compared.</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Ask of every input: known before the answer?</a:t>
            </a:r>
            <a:endParaRPr lang="en-US" sz="3800" dirty="0"/>
          </a:p>
        </p:txBody>
      </p:sp>
      <p:pic>
        <p:nvPicPr>
          <p:cNvPr id="3" name="Image 0" descr="Ask of every input: known before the answer?">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Distance, rush hour and rain pass.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The tip fails.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Failing inputs stay out, however good the score.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A fair comparison</a:t>
            </a:r>
            <a:endParaRPr lang="en-US" sz="3800" dirty="0"/>
          </a:p>
        </p:txBody>
      </p:sp>
      <p:sp>
        <p:nvSpPr>
          <p:cNvPr id="3" name="Text 1"/>
          <p:cNvSpPr txBox="1"/>
          <p:nvPr/>
        </p:nvSpPr>
        <p:spPr>
          <a:xfrm>
            <a:off x="640080" y="1737360"/>
            <a:ext cx="6766560" cy="4114800"/>
          </a:xfrm>
          <a:prstGeom prst="rect">
            <a:avLst/>
          </a:prstGeom>
          <a:noFill/>
          <a:ln/>
        </p:spPr>
        <p:txBody>
          <a:bodyPr wrap="square" lIns="0" tIns="0" rIns="0" bIns="0" rtlCol="0" anchor="t"/>
          <a:lstStyle/>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Predict which option has the lowest error, and whether you may use it.</a:t>
            </a:r>
            <a:endParaRPr lang="en-US" sz="3200" dirty="0"/>
          </a:p>
          <a:p>
            <a:pPr algn="l" indent="0" marL="0">
              <a:lnSpc>
                <a:spcPts val="3840"/>
              </a:lnSpc>
              <a:spcAft>
                <a:spcPts val="2160"/>
              </a:spcAft>
              <a:buNone/>
            </a:pPr>
            <a:r>
              <a:rPr lang="en-US" sz="3200" dirty="0">
                <a:solidFill>
                  <a:srgbClr val="111111"/>
                </a:solidFill>
                <a:latin typeface="Lato" pitchFamily="34" charset="0"/>
                <a:ea typeface="Lato" pitchFamily="34" charset="-122"/>
                <a:cs typeface="Lato" pitchFamily="34" charset="-120"/>
              </a:rPr>
              <a:t>Write your guess on paper before we run it.</a:t>
            </a:r>
            <a:endParaRPr lang="en-US" sz="3200" dirty="0"/>
          </a:p>
        </p:txBody>
      </p:sp>
      <p:pic>
        <p:nvPicPr>
          <p:cNvPr id="4" name="Image 0" descr="A page and a pen">    </p:cNvPr>
          <p:cNvPicPr>
            <a:picLocks noChangeAspect="1"/>
          </p:cNvPicPr>
          <p:nvPr/>
        </p:nvPicPr>
        <p:blipFill>
          <a:blip r:embed="rId1"/>
          <a:stretch>
            <a:fillRect/>
          </a:stretch>
        </p:blipFill>
        <p:spPr>
          <a:xfrm>
            <a:off x="8138160" y="1828800"/>
            <a:ext cx="3291840" cy="310896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A fair comparison</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cell prints 4361, 2415, 2255 and 1317.</a:t>
            </a:r>
            <a:endParaRPr lang="en-US" sz="3000" dirty="0"/>
          </a:p>
          <a:p>
            <a:pPr algn="l" indent="0" marL="0">
              <a:lnSpc>
                <a:spcPts val="3600"/>
              </a:lnSpc>
              <a:spcAft>
                <a:spcPts val="1800"/>
              </a:spcAft>
              <a:buNone/>
            </a:pPr>
            <a:r>
              <a:rPr lang="en-US" sz="3000" dirty="0">
                <a:solidFill>
                  <a:srgbClr val="111111"/>
                </a:solidFill>
                <a:latin typeface="Lato" pitchFamily="34" charset="0"/>
                <a:ea typeface="Lato" pitchFamily="34" charset="-122"/>
                <a:cs typeface="Lato" pitchFamily="34" charset="-120"/>
              </a:rPr>
              <a:t>The model with the tip has the lowest error, and it must not be used, because the tip is known only after the trip.</a:t>
            </a:r>
            <a:endParaRPr lang="en-US" sz="30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A fair comparison</a:t>
            </a:r>
            <a:endParaRPr lang="en-US" sz="3800" dirty="0"/>
          </a:p>
        </p:txBody>
      </p:sp>
      <p:pic>
        <p:nvPicPr>
          <p:cNvPr id="3" name="Image 0" descr="Look closely">    </p:cNvPr>
          <p:cNvPicPr>
            <a:picLocks noChangeAspect="1"/>
          </p:cNvPicPr>
          <p:nvPr/>
        </p:nvPicPr>
        <p:blipFill>
          <a:blip r:embed="rId1"/>
          <a:stretch>
            <a:fillRect/>
          </a:stretch>
        </p:blipFill>
        <p:spPr>
          <a:xfrm>
            <a:off x="9875520" y="4480560"/>
            <a:ext cx="1645920" cy="1645920"/>
          </a:xfrm>
          <a:prstGeom prst="rect">
            <a:avLst/>
          </a:prstGeom>
        </p:spPr>
      </p:pic>
      <p:sp>
        <p:nvSpPr>
          <p:cNvPr id="4" name="Text 1"/>
          <p:cNvSpPr txBox="1"/>
          <p:nvPr/>
        </p:nvSpPr>
        <p:spPr>
          <a:xfrm>
            <a:off x="640080" y="1737360"/>
            <a:ext cx="896112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Why is the lowest error not the winner here?</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What stays the same in a fair comparison?</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Try distance and raining only, and print the validation error.</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pic>
        <p:nvPicPr>
          <p:cNvPr id="4" name="Image 0" descr="Change one thing">    </p:cNvPr>
          <p:cNvPicPr>
            <a:picLocks noChangeAspect="1"/>
          </p:cNvPicPr>
          <p:nvPr/>
        </p:nvPicPr>
        <p:blipFill>
          <a:blip r:embed="rId1"/>
          <a:stretch>
            <a:fillRect/>
          </a:stretch>
        </p:blipFill>
        <p:spPr>
          <a:xfrm>
            <a:off x="9418320" y="2103120"/>
            <a:ext cx="1828800"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640080" y="2103120"/>
            <a:ext cx="10607040" cy="2286000"/>
          </a:xfrm>
          <a:prstGeom prst="rect">
            <a:avLst/>
          </a:prstGeom>
          <a:noFill/>
          <a:ln/>
        </p:spPr>
        <p:txBody>
          <a:bodyPr wrap="square" lIns="0" tIns="0" rIns="0" bIns="0" rtlCol="0" anchor="t"/>
          <a:lstStyle/>
          <a:p>
            <a:pPr algn="l" indent="0" marL="0">
              <a:buNone/>
            </a:pPr>
            <a:r>
              <a:rPr lang="en-US" sz="5400" b="1" dirty="0">
                <a:solidFill>
                  <a:srgbClr val="FFFFFF"/>
                </a:solidFill>
                <a:latin typeface="Lato" pitchFamily="34" charset="0"/>
                <a:ea typeface="Lato" pitchFamily="34" charset="-122"/>
                <a:cs typeface="Lato" pitchFamily="34" charset="-120"/>
              </a:rPr>
              <a:t>Break</a:t>
            </a:r>
            <a:endParaRPr lang="en-US" sz="5400" dirty="0"/>
          </a:p>
        </p:txBody>
      </p:sp>
      <p:sp>
        <p:nvSpPr>
          <p:cNvPr id="3" name="Text 1"/>
          <p:cNvSpPr txBox="1"/>
          <p:nvPr/>
        </p:nvSpPr>
        <p:spPr>
          <a:xfrm>
            <a:off x="640080" y="3154680"/>
            <a:ext cx="6858000" cy="914400"/>
          </a:xfrm>
          <a:prstGeom prst="rect">
            <a:avLst/>
          </a:prstGeom>
          <a:noFill/>
          <a:ln/>
        </p:spPr>
        <p:txBody>
          <a:bodyPr wrap="square" lIns="0" tIns="0" rIns="0" bIns="0" rtlCol="0" anchor="t"/>
          <a:lstStyle/>
          <a:p>
            <a:pPr algn="l" indent="0" marL="0">
              <a:lnSpc>
                <a:spcPts val="4080"/>
              </a:lnSpc>
              <a:buNone/>
            </a:pPr>
            <a:r>
              <a:rPr lang="en-US" sz="3400" b="1" dirty="0">
                <a:solidFill>
                  <a:srgbClr val="FFFFFF"/>
                </a:solidFill>
                <a:latin typeface="Lato" pitchFamily="34" charset="0"/>
                <a:ea typeface="Lato" pitchFamily="34" charset="-122"/>
                <a:cs typeface="Lato" pitchFamily="34" charset="-120"/>
              </a:rPr>
              <a:t>15 minutes away from your screen</a:t>
            </a:r>
            <a:endParaRPr lang="en-US" sz="3400" dirty="0"/>
          </a:p>
        </p:txBody>
      </p:sp>
      <p:sp>
        <p:nvSpPr>
          <p:cNvPr id="4" name="Text 2"/>
          <p:cNvSpPr txBox="1"/>
          <p:nvPr/>
        </p:nvSpPr>
        <p:spPr>
          <a:xfrm>
            <a:off x="640080" y="4206240"/>
            <a:ext cx="6400800" cy="1463040"/>
          </a:xfrm>
          <a:prstGeom prst="rect">
            <a:avLst/>
          </a:prstGeom>
          <a:noFill/>
          <a:ln/>
        </p:spPr>
        <p:txBody>
          <a:bodyPr wrap="square" lIns="0" tIns="0" rIns="0" bIns="0" rtlCol="0" anchor="t"/>
          <a:lstStyle/>
          <a:p>
            <a:pPr algn="l" indent="0" marL="0">
              <a:lnSpc>
                <a:spcPts val="3000"/>
              </a:lnSpc>
              <a:buNone/>
            </a:pPr>
            <a:r>
              <a:rPr lang="en-US" sz="2400" dirty="0">
                <a:solidFill>
                  <a:srgbClr val="D8D8D8"/>
                </a:solidFill>
                <a:latin typeface="Lato" pitchFamily="34" charset="0"/>
                <a:ea typeface="Lato" pitchFamily="34" charset="-122"/>
                <a:cs typeface="Lato" pitchFamily="34" charset="-120"/>
              </a:rPr>
              <a:t>Stand up. Drink some water. Tell someone what you guessed in the first half.</a:t>
            </a:r>
            <a:endParaRPr lang="en-US" sz="2400" dirty="0"/>
          </a:p>
        </p:txBody>
      </p:sp>
      <p:pic>
        <p:nvPicPr>
          <p:cNvPr id="5" name="Image 0" descr="A clock">    </p:cNvPr>
          <p:cNvPicPr>
            <a:picLocks noChangeAspect="1"/>
          </p:cNvPicPr>
          <p:nvPr/>
        </p:nvPicPr>
        <p:blipFill>
          <a:blip r:embed="rId1"/>
          <a:stretch>
            <a:fillRect/>
          </a:stretch>
        </p:blipFill>
        <p:spPr>
          <a:xfrm>
            <a:off x="8321040" y="2743200"/>
            <a:ext cx="2926080" cy="292608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coding assistant gives plausible code to test</a:t>
            </a:r>
            <a:endParaRPr lang="en-US" sz="3800" dirty="0"/>
          </a:p>
        </p:txBody>
      </p:sp>
      <p:pic>
        <p:nvPicPr>
          <p:cNvPr id="3" name="Image 0" descr="A coding assistant gives plausible code to test">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Predict what the hint does.</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Run it and test it.</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Keep or reject it and log the choice.</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Code that adds instead of multiplying looks fine</a:t>
            </a:r>
            <a:endParaRPr lang="en-US" sz="3800" dirty="0"/>
          </a:p>
        </p:txBody>
      </p:sp>
      <p:pic>
        <p:nvPicPr>
          <p:cNvPr id="3" name="Image 0" descr="The suggested code adds price and quantity: 2003.">    </p:cNvPr>
          <p:cNvPicPr>
            <a:picLocks noChangeAspect="1"/>
          </p:cNvPicPr>
          <p:nvPr/>
        </p:nvPicPr>
        <p:blipFill>
          <a:blip r:embed="rId1"/>
          <a:stretch>
            <a:fillRect/>
          </a:stretch>
        </p:blipFill>
        <p:spPr>
          <a:xfrm>
            <a:off x="640080" y="1554480"/>
            <a:ext cx="5349240" cy="3429000"/>
          </a:xfrm>
          <a:prstGeom prst="rect">
            <a:avLst/>
          </a:prstGeom>
        </p:spPr>
      </p:pic>
      <p:sp>
        <p:nvSpPr>
          <p:cNvPr id="4" name="Text 1"/>
          <p:cNvSpPr txBox="1"/>
          <p:nvPr/>
        </p:nvSpPr>
        <p:spPr>
          <a:xfrm>
            <a:off x="64008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The suggested code adds price and quantity: 2003.</a:t>
            </a:r>
            <a:endParaRPr lang="en-US" sz="2200" dirty="0"/>
          </a:p>
        </p:txBody>
      </p:sp>
      <p:pic>
        <p:nvPicPr>
          <p:cNvPr id="5" name="Image 1" descr="The fixed code multiplies them: 6000.">    </p:cNvPr>
          <p:cNvPicPr>
            <a:picLocks noChangeAspect="1"/>
          </p:cNvPicPr>
          <p:nvPr/>
        </p:nvPicPr>
        <p:blipFill>
          <a:blip r:embed="rId2"/>
          <a:stretch>
            <a:fillRect/>
          </a:stretch>
        </p:blipFill>
        <p:spPr>
          <a:xfrm>
            <a:off x="6172200" y="1554480"/>
            <a:ext cx="5349240" cy="3429000"/>
          </a:xfrm>
          <a:prstGeom prst="rect">
            <a:avLst/>
          </a:prstGeom>
        </p:spPr>
      </p:pic>
      <p:sp>
        <p:nvSpPr>
          <p:cNvPr id="6" name="Text 2"/>
          <p:cNvSpPr txBox="1"/>
          <p:nvPr/>
        </p:nvSpPr>
        <p:spPr>
          <a:xfrm>
            <a:off x="6172200" y="5074920"/>
            <a:ext cx="5349240" cy="1188720"/>
          </a:xfrm>
          <a:prstGeom prst="rect">
            <a:avLst/>
          </a:prstGeom>
          <a:noFill/>
          <a:ln/>
        </p:spPr>
        <p:txBody>
          <a:bodyPr wrap="square" lIns="0" tIns="0" rIns="0" bIns="0" rtlCol="0" anchor="t"/>
          <a:lstStyle/>
          <a:p>
            <a:pPr algn="l" indent="0" marL="0">
              <a:lnSpc>
                <a:spcPts val="2640"/>
              </a:lnSpc>
              <a:spcAft>
                <a:spcPts val="1010"/>
              </a:spcAft>
              <a:buNone/>
            </a:pPr>
            <a:r>
              <a:rPr lang="en-US" sz="2200" dirty="0">
                <a:solidFill>
                  <a:srgbClr val="111111"/>
                </a:solidFill>
                <a:latin typeface="Lato" pitchFamily="34" charset="0"/>
                <a:ea typeface="Lato" pitchFamily="34" charset="-122"/>
                <a:cs typeface="Lato" pitchFamily="34" charset="-120"/>
              </a:rPr>
              <a:t>The fixed code multiplies them: 6000.</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Predict: Check an assistant's advice</a:t>
            </a:r>
            <a:endParaRPr lang="en-US" sz="3800" dirty="0"/>
          </a:p>
        </p:txBody>
      </p:sp>
      <p:sp>
        <p:nvSpPr>
          <p:cNvPr id="3" name="Shape 1"/>
          <p:cNvSpPr/>
          <p:nvPr/>
        </p:nvSpPr>
        <p:spPr>
          <a:xfrm>
            <a:off x="640080" y="1645920"/>
            <a:ext cx="6035040" cy="4401312"/>
          </a:xfrm>
          <a:prstGeom prst="roundRect">
            <a:avLst>
              <a:gd name="adj" fmla="val 1662"/>
            </a:avLst>
          </a:prstGeom>
          <a:solidFill>
            <a:srgbClr val="111111"/>
          </a:solidFill>
          <a:ln/>
        </p:spPr>
      </p:sp>
      <p:sp>
        <p:nvSpPr>
          <p:cNvPr id="4" name="Text 2"/>
          <p:cNvSpPr txBox="1"/>
          <p:nvPr/>
        </p:nvSpPr>
        <p:spPr>
          <a:xfrm>
            <a:off x="841248" y="1847088"/>
            <a:ext cx="5632704" cy="3998976"/>
          </a:xfrm>
          <a:prstGeom prst="rect">
            <a:avLst/>
          </a:prstGeom>
          <a:noFill/>
          <a:ln/>
        </p:spPr>
        <p:txBody>
          <a:bodyPr wrap="square" lIns="0" tIns="0" rIns="0" bIns="0" rtlCol="0" anchor="t"/>
          <a:lstStyle/>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def</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total(price, quantity):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return</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price + quantity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buggy_result = total(2000, 3)</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print(buggy_result)</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def</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total(price, quantity):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return</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price * quantity</a:t>
            </a:r>
            <a:endParaRPr lang="en-US" sz="2000" dirty="0"/>
          </a:p>
          <a:p>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assert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total(2000, 3) == 6000</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assert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total(1000, 0) == 0</a:t>
            </a:r>
            <a:endParaRPr lang="en-US" sz="2000" dirty="0"/>
          </a:p>
          <a:p>
            <a:pPr algn="l" indent="0" marL="0">
              <a:lnSpc>
                <a:spcPts val="2600"/>
              </a:lnSpc>
              <a:buNone/>
            </a:pPr>
            <a:r>
              <a:rPr lang="en-US" sz="2000" b="1" dirty="0">
                <a:solidFill>
                  <a:srgbClr val="FFFFFF"/>
                </a:solidFill>
                <a:latin typeface="Courier New" pitchFamily="34" charset="0"/>
                <a:ea typeface="Courier New" pitchFamily="34" charset="-122"/>
                <a:cs typeface="Courier New" pitchFamily="34" charset="-120"/>
              </a:rPr>
              <a:t>assert</a:t>
            </a:r>
            <a:pPr algn="l" indent="0" marL="0">
              <a:lnSpc>
                <a:spcPts val="2600"/>
              </a:lnSpc>
              <a:buNone/>
            </a:pPr>
            <a:r>
              <a:rPr lang="en-US" sz="2000" dirty="0">
                <a:solidFill>
                  <a:srgbClr val="FFFFFF"/>
                </a:solidFill>
                <a:latin typeface="Courier New" pitchFamily="34" charset="0"/>
                <a:ea typeface="Courier New" pitchFamily="34" charset="-122"/>
                <a:cs typeface="Courier New" pitchFamily="34" charset="-120"/>
              </a:rPr>
              <a:t> total(1000, 1) == 1000</a:t>
            </a:r>
            <a:endParaRPr lang="en-US" sz="2000" dirty="0"/>
          </a:p>
        </p:txBody>
      </p:sp>
      <p:sp>
        <p:nvSpPr>
          <p:cNvPr id="5" name="Text 3"/>
          <p:cNvSpPr txBox="1"/>
          <p:nvPr/>
        </p:nvSpPr>
        <p:spPr>
          <a:xfrm>
            <a:off x="7040880" y="1737360"/>
            <a:ext cx="4480560" cy="2560320"/>
          </a:xfrm>
          <a:prstGeom prst="rect">
            <a:avLst/>
          </a:prstGeom>
          <a:noFill/>
          <a:ln/>
        </p:spPr>
        <p:txBody>
          <a:bodyPr wrap="square" lIns="0" tIns="0" rIns="0" bIns="0" rtlCol="0" anchor="t"/>
          <a:lstStyle/>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Predict what total(2000, 3) gives with the plus sign, and what it should give.</a:t>
            </a:r>
            <a:endParaRPr lang="en-US" sz="2800" dirty="0"/>
          </a:p>
          <a:p>
            <a:pPr algn="l" indent="0" marL="0">
              <a:lnSpc>
                <a:spcPts val="3360"/>
              </a:lnSpc>
              <a:spcAft>
                <a:spcPts val="2160"/>
              </a:spcAft>
              <a:buNone/>
            </a:pPr>
            <a:r>
              <a:rPr lang="en-US" sz="2800" dirty="0">
                <a:solidFill>
                  <a:srgbClr val="111111"/>
                </a:solidFill>
                <a:latin typeface="Lato" pitchFamily="34" charset="0"/>
                <a:ea typeface="Lato" pitchFamily="34" charset="-122"/>
                <a:cs typeface="Lato" pitchFamily="34" charset="-120"/>
              </a:rPr>
              <a:t>Write your guess on paper before we run it.</a:t>
            </a:r>
            <a:endParaRPr lang="en-US" sz="2800" dirty="0"/>
          </a:p>
        </p:txBody>
      </p:sp>
      <p:pic>
        <p:nvPicPr>
          <p:cNvPr id="6" name="Image 0" descr="A page and a pen: write your guess first">    </p:cNvPr>
          <p:cNvPicPr>
            <a:picLocks noChangeAspect="1"/>
          </p:cNvPicPr>
          <p:nvPr/>
        </p:nvPicPr>
        <p:blipFill>
          <a:blip r:embed="rId1"/>
          <a:stretch>
            <a:fillRect/>
          </a:stretch>
        </p:blipFill>
        <p:spPr>
          <a:xfrm>
            <a:off x="7916091" y="4343400"/>
            <a:ext cx="2090057" cy="182880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Run it: Check an assistant's advice</a:t>
            </a:r>
            <a:endParaRPr lang="en-US" sz="3800" dirty="0"/>
          </a:p>
        </p:txBody>
      </p:sp>
      <p:sp>
        <p:nvSpPr>
          <p:cNvPr id="3" name="Text 1"/>
          <p:cNvSpPr txBox="1"/>
          <p:nvPr/>
        </p:nvSpPr>
        <p:spPr>
          <a:xfrm>
            <a:off x="640080" y="1737360"/>
            <a:ext cx="7498080" cy="4389120"/>
          </a:xfrm>
          <a:prstGeom prst="rect">
            <a:avLst/>
          </a:prstGeom>
          <a:noFill/>
          <a:ln/>
        </p:spPr>
        <p:txBody>
          <a:bodyPr wrap="square" lIns="0" tIns="0" rIns="0" bIns="0" rtlCol="0" anchor="t"/>
          <a:lstStyle/>
          <a:p>
            <a:pPr algn="l" indent="0" marL="0">
              <a:lnSpc>
                <a:spcPts val="3480"/>
              </a:lnSpc>
              <a:spcAft>
                <a:spcPts val="1800"/>
              </a:spcAft>
              <a:buNone/>
            </a:pPr>
            <a:r>
              <a:rPr lang="en-US" sz="2900" dirty="0">
                <a:solidFill>
                  <a:srgbClr val="111111"/>
                </a:solidFill>
                <a:latin typeface="Lato" pitchFamily="34" charset="0"/>
                <a:ea typeface="Lato" pitchFamily="34" charset="-122"/>
                <a:cs typeface="Lato" pitchFamily="34" charset="-120"/>
              </a:rPr>
              <a:t>The first print shows 2003, because plus adds the numbers.</a:t>
            </a:r>
            <a:endParaRPr lang="en-US" sz="2900" dirty="0"/>
          </a:p>
          <a:p>
            <a:pPr algn="l" indent="0" marL="0">
              <a:lnSpc>
                <a:spcPts val="3480"/>
              </a:lnSpc>
              <a:spcAft>
                <a:spcPts val="1800"/>
              </a:spcAft>
              <a:buNone/>
            </a:pPr>
            <a:r>
              <a:rPr lang="en-US" sz="2900" dirty="0">
                <a:solidFill>
                  <a:srgbClr val="111111"/>
                </a:solidFill>
                <a:latin typeface="Lato" pitchFamily="34" charset="0"/>
                <a:ea typeface="Lato" pitchFamily="34" charset="-122"/>
                <a:cs typeface="Lato" pitchFamily="34" charset="-120"/>
              </a:rPr>
              <a:t>The required answer is 6000, and multiplying fixes it.</a:t>
            </a:r>
            <a:endParaRPr lang="en-US" sz="2900" dirty="0"/>
          </a:p>
          <a:p>
            <a:pPr algn="l" indent="0" marL="0">
              <a:lnSpc>
                <a:spcPts val="3480"/>
              </a:lnSpc>
              <a:spcAft>
                <a:spcPts val="1800"/>
              </a:spcAft>
              <a:buNone/>
            </a:pPr>
            <a:r>
              <a:rPr lang="en-US" sz="2900" dirty="0">
                <a:solidFill>
                  <a:srgbClr val="111111"/>
                </a:solidFill>
                <a:latin typeface="Lato" pitchFamily="34" charset="0"/>
                <a:ea typeface="Lato" pitchFamily="34" charset="-122"/>
                <a:cs typeface="Lato" pitchFamily="34" charset="-120"/>
              </a:rPr>
              <a:t>The three asserts pass silently.</a:t>
            </a:r>
            <a:endParaRPr lang="en-US" sz="2900" dirty="0"/>
          </a:p>
          <a:p>
            <a:pPr algn="l" indent="0" marL="0">
              <a:lnSpc>
                <a:spcPts val="3480"/>
              </a:lnSpc>
              <a:spcAft>
                <a:spcPts val="1800"/>
              </a:spcAft>
              <a:buNone/>
            </a:pPr>
            <a:r>
              <a:rPr lang="en-US" sz="2900" dirty="0">
                <a:solidFill>
                  <a:srgbClr val="111111"/>
                </a:solidFill>
                <a:latin typeface="Lato" pitchFamily="34" charset="0"/>
                <a:ea typeface="Lato" pitchFamily="34" charset="-122"/>
                <a:cs typeface="Lato" pitchFamily="34" charset="-120"/>
              </a:rPr>
              <a:t>The tests support this small requirement and do not prove the function is right for every input.</a:t>
            </a:r>
            <a:endParaRPr lang="en-US" sz="2900" dirty="0"/>
          </a:p>
        </p:txBody>
      </p:sp>
      <p:pic>
        <p:nvPicPr>
          <p:cNvPr id="4" name="Image 0" descr="Compare with your guess">    </p:cNvPr>
          <p:cNvPicPr>
            <a:picLocks noChangeAspect="1"/>
          </p:cNvPicPr>
          <p:nvPr/>
        </p:nvPicPr>
        <p:blipFill>
          <a:blip r:embed="rId1"/>
          <a:stretch>
            <a:fillRect/>
          </a:stretch>
        </p:blipFill>
        <p:spPr>
          <a:xfrm>
            <a:off x="8778240" y="2194560"/>
            <a:ext cx="2377440" cy="23774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Investigate: Check an assistant's advice</a:t>
            </a:r>
            <a:endParaRPr lang="en-US" sz="3800" dirty="0"/>
          </a:p>
        </p:txBody>
      </p:sp>
      <p:sp>
        <p:nvSpPr>
          <p:cNvPr id="3" name="Shape 1"/>
          <p:cNvSpPr/>
          <p:nvPr/>
        </p:nvSpPr>
        <p:spPr>
          <a:xfrm>
            <a:off x="7498080" y="1737360"/>
            <a:ext cx="4023360" cy="3410712"/>
          </a:xfrm>
          <a:prstGeom prst="roundRect">
            <a:avLst>
              <a:gd name="adj" fmla="val 2145"/>
            </a:avLst>
          </a:prstGeom>
          <a:solidFill>
            <a:srgbClr val="111111"/>
          </a:solidFill>
          <a:ln/>
        </p:spPr>
      </p:sp>
      <p:sp>
        <p:nvSpPr>
          <p:cNvPr id="4" name="Text 2"/>
          <p:cNvSpPr txBox="1"/>
          <p:nvPr/>
        </p:nvSpPr>
        <p:spPr>
          <a:xfrm>
            <a:off x="7699248" y="1938528"/>
            <a:ext cx="3621024" cy="3008376"/>
          </a:xfrm>
          <a:prstGeom prst="rect">
            <a:avLst/>
          </a:prstGeom>
          <a:noFill/>
          <a:ln/>
        </p:spPr>
        <p:txBody>
          <a:bodyPr wrap="square" lIns="0" tIns="0" rIns="0" bIns="0" rtlCol="0" anchor="t"/>
          <a:lstStyle/>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def</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total(price,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return</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price +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buggy_result = total(2000, 3)</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print(buggy_result)</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def</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total(price,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return</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price * quantity</a:t>
            </a:r>
            <a:endParaRPr lang="en-US" sz="1500" dirty="0"/>
          </a:p>
          <a:p>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a:t>
            </a:r>
            <a:endParaRPr lang="en-US" sz="1500" dirty="0"/>
          </a:p>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assert</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total(2000, 3) == 6000</a:t>
            </a:r>
            <a:endParaRPr lang="en-US" sz="1500" dirty="0"/>
          </a:p>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assert</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total(1000, 0) == 0</a:t>
            </a:r>
            <a:endParaRPr lang="en-US" sz="1500" dirty="0"/>
          </a:p>
          <a:p>
            <a:pPr algn="l" indent="0" marL="0">
              <a:lnSpc>
                <a:spcPts val="1950"/>
              </a:lnSpc>
              <a:buNone/>
            </a:pPr>
            <a:r>
              <a:rPr lang="en-US" sz="1500" b="1" dirty="0">
                <a:solidFill>
                  <a:srgbClr val="FFFFFF"/>
                </a:solidFill>
                <a:latin typeface="Courier New" pitchFamily="34" charset="0"/>
                <a:ea typeface="Courier New" pitchFamily="34" charset="-122"/>
                <a:cs typeface="Courier New" pitchFamily="34" charset="-120"/>
              </a:rPr>
              <a:t>assert</a:t>
            </a:r>
            <a:pPr algn="l" indent="0" marL="0">
              <a:lnSpc>
                <a:spcPts val="1950"/>
              </a:lnSpc>
              <a:buNone/>
            </a:pPr>
            <a:r>
              <a:rPr lang="en-US" sz="1500" dirty="0">
                <a:solidFill>
                  <a:srgbClr val="FFFFFF"/>
                </a:solidFill>
                <a:latin typeface="Courier New" pitchFamily="34" charset="0"/>
                <a:ea typeface="Courier New" pitchFamily="34" charset="-122"/>
                <a:cs typeface="Courier New" pitchFamily="34" charset="-120"/>
              </a:rPr>
              <a:t> total(1000, 1) == 1000</a:t>
            </a:r>
            <a:endParaRPr lang="en-US" sz="1500" dirty="0"/>
          </a:p>
        </p:txBody>
      </p:sp>
      <p:sp>
        <p:nvSpPr>
          <p:cNvPr id="5" name="Text 3"/>
          <p:cNvSpPr txBox="1"/>
          <p:nvPr/>
        </p:nvSpPr>
        <p:spPr>
          <a:xfrm>
            <a:off x="640080" y="1737360"/>
            <a:ext cx="6400800" cy="4389120"/>
          </a:xfrm>
          <a:prstGeom prst="rect">
            <a:avLst/>
          </a:prstGeom>
          <a:noFill/>
          <a:ln/>
        </p:spPr>
        <p:txBody>
          <a:bodyPr wrap="square" lIns="0" tIns="0" rIns="0" bIns="0" rtlCol="0" anchor="t"/>
          <a:lstStyle/>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1.  What is useful in the hint and what is unjustified?</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2.  Why test with a quantity of 0?</a:t>
            </a:r>
            <a:endParaRPr lang="en-US" sz="3600" dirty="0"/>
          </a:p>
          <a:p>
            <a:pPr algn="l" indent="0" marL="0">
              <a:lnSpc>
                <a:spcPts val="4320"/>
              </a:lnSpc>
              <a:spcAft>
                <a:spcPts val="3960"/>
              </a:spcAft>
              <a:buNone/>
            </a:pPr>
            <a:r>
              <a:rPr lang="en-US" sz="3600" dirty="0">
                <a:solidFill>
                  <a:srgbClr val="111111"/>
                </a:solidFill>
                <a:latin typeface="Lato" pitchFamily="34" charset="0"/>
                <a:ea typeface="Lato" pitchFamily="34" charset="-122"/>
                <a:cs typeface="Lato" pitchFamily="34" charset="-120"/>
              </a:rPr>
              <a:t>3.  What goes in AI_USE_LOG.md?</a:t>
            </a:r>
            <a:endParaRPr lang="en-US" sz="3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Modify: change one thing</a:t>
            </a:r>
            <a:endParaRPr lang="en-US" sz="3800" dirty="0"/>
          </a:p>
        </p:txBody>
      </p:sp>
      <p:sp>
        <p:nvSpPr>
          <p:cNvPr id="3" name="Text 1"/>
          <p:cNvSpPr txBox="1"/>
          <p:nvPr/>
        </p:nvSpPr>
        <p:spPr>
          <a:xfrm>
            <a:off x="640080" y="1737360"/>
            <a:ext cx="6035040" cy="4206240"/>
          </a:xfrm>
          <a:prstGeom prst="rect">
            <a:avLst/>
          </a:prstGeom>
          <a:noFill/>
          <a:ln/>
        </p:spPr>
        <p:txBody>
          <a:bodyPr wrap="square" lIns="0" tIns="0" rIns="0" bIns="0" rtlCol="0" anchor="t"/>
          <a:lstStyle/>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Add one more assert of your own and run the cell.</a:t>
            </a:r>
            <a:endParaRPr lang="en-US" sz="3600" dirty="0"/>
          </a:p>
          <a:p>
            <a:pPr algn="l" indent="0" marL="0">
              <a:lnSpc>
                <a:spcPts val="4320"/>
              </a:lnSpc>
              <a:spcAft>
                <a:spcPts val="3240"/>
              </a:spcAft>
              <a:buNone/>
            </a:pPr>
            <a:r>
              <a:rPr lang="en-US" sz="3600" dirty="0">
                <a:solidFill>
                  <a:srgbClr val="111111"/>
                </a:solidFill>
                <a:latin typeface="Lato" pitchFamily="34" charset="0"/>
                <a:ea typeface="Lato" pitchFamily="34" charset="-122"/>
                <a:cs typeface="Lato" pitchFamily="34" charset="-120"/>
              </a:rPr>
              <a:t>Then tell your neighbour what changed and how you know.</a:t>
            </a:r>
            <a:endParaRPr lang="en-US" sz="3600" dirty="0"/>
          </a:p>
        </p:txBody>
      </p:sp>
      <p:sp>
        <p:nvSpPr>
          <p:cNvPr id="4" name="Shape 2"/>
          <p:cNvSpPr/>
          <p:nvPr/>
        </p:nvSpPr>
        <p:spPr>
          <a:xfrm>
            <a:off x="7223760" y="1737360"/>
            <a:ext cx="4297680" cy="3608832"/>
          </a:xfrm>
          <a:prstGeom prst="roundRect">
            <a:avLst>
              <a:gd name="adj" fmla="val 2027"/>
            </a:avLst>
          </a:prstGeom>
          <a:solidFill>
            <a:srgbClr val="111111"/>
          </a:solidFill>
          <a:ln/>
        </p:spPr>
      </p:sp>
      <p:sp>
        <p:nvSpPr>
          <p:cNvPr id="5" name="Text 3"/>
          <p:cNvSpPr txBox="1"/>
          <p:nvPr/>
        </p:nvSpPr>
        <p:spPr>
          <a:xfrm>
            <a:off x="7424928" y="1938528"/>
            <a:ext cx="3895344" cy="3206496"/>
          </a:xfrm>
          <a:prstGeom prst="rect">
            <a:avLst/>
          </a:prstGeom>
          <a:noFill/>
          <a:ln/>
        </p:spPr>
        <p:txBody>
          <a:bodyPr wrap="square" lIns="0" tIns="0" rIns="0" bIns="0" rtlCol="0" anchor="t"/>
          <a:lstStyle/>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def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total(price,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return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price +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buggy_result = total(2000, 3)</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print(buggy_result)</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def</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total(price,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return</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price * quantity</a:t>
            </a:r>
            <a:endParaRPr lang="en-US" sz="1600" dirty="0"/>
          </a:p>
          <a:p>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total(2000, 3) == 6000</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total(1000, 0) == 0</a:t>
            </a:r>
            <a:endParaRPr lang="en-US" sz="1600" dirty="0"/>
          </a:p>
          <a:p>
            <a:pPr algn="l" indent="0" marL="0">
              <a:lnSpc>
                <a:spcPts val="2080"/>
              </a:lnSpc>
              <a:buNone/>
            </a:pPr>
            <a:r>
              <a:rPr lang="en-US" sz="1600" b="1" dirty="0">
                <a:solidFill>
                  <a:srgbClr val="FFFFFF"/>
                </a:solidFill>
                <a:latin typeface="Courier New" pitchFamily="34" charset="0"/>
                <a:ea typeface="Courier New" pitchFamily="34" charset="-122"/>
                <a:cs typeface="Courier New" pitchFamily="34" charset="-120"/>
              </a:rPr>
              <a:t>assert</a:t>
            </a:r>
            <a:pPr algn="l" indent="0" marL="0">
              <a:lnSpc>
                <a:spcPts val="2080"/>
              </a:lnSpc>
              <a:buNone/>
            </a:pPr>
            <a:r>
              <a:rPr lang="en-US" sz="1600" dirty="0">
                <a:solidFill>
                  <a:srgbClr val="FFFFFF"/>
                </a:solidFill>
                <a:latin typeface="Courier New" pitchFamily="34" charset="0"/>
                <a:ea typeface="Courier New" pitchFamily="34" charset="-122"/>
                <a:cs typeface="Courier New" pitchFamily="34" charset="-120"/>
              </a:rPr>
              <a:t> total(1000, 1) == 1000</a:t>
            </a:r>
            <a:endParaRPr lang="en-US" sz="16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A decision card records what you kept and why</a:t>
            </a:r>
            <a:endParaRPr lang="en-US" sz="3800" dirty="0"/>
          </a:p>
        </p:txBody>
      </p:sp>
      <p:pic>
        <p:nvPicPr>
          <p:cNvPr id="3" name="Image 0" descr="A decision card records what you kept and why">    </p:cNvPr>
          <p:cNvPicPr>
            <a:picLocks noChangeAspect="1"/>
          </p:cNvPicPr>
          <p:nvPr/>
        </p:nvPicPr>
        <p:blipFill>
          <a:blip r:embed="rId1"/>
          <a:stretch>
            <a:fillRect/>
          </a:stretch>
        </p:blipFill>
        <p:spPr>
          <a:xfrm>
            <a:off x="640080" y="1600200"/>
            <a:ext cx="7040880" cy="4526280"/>
          </a:xfrm>
          <a:prstGeom prst="rect">
            <a:avLst/>
          </a:prstGeom>
        </p:spPr>
      </p:pic>
      <p:sp>
        <p:nvSpPr>
          <p:cNvPr id="4" name="Text 1"/>
          <p:cNvSpPr txBox="1"/>
          <p:nvPr/>
        </p:nvSpPr>
        <p:spPr>
          <a:xfrm>
            <a:off x="7955280" y="1783080"/>
            <a:ext cx="3566160" cy="4297680"/>
          </a:xfrm>
          <a:prstGeom prst="rect">
            <a:avLst/>
          </a:prstGeom>
          <a:noFill/>
          <a:ln/>
        </p:spPr>
        <p:txBody>
          <a:bodyPr wrap="square" lIns="0" tIns="0" rIns="0" bIns="0" rtlCol="0" anchor="t"/>
          <a:lstStyle/>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Name the inputs you keep.</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Give the validation error.</a:t>
            </a:r>
            <a:endParaRPr lang="en-US" sz="2400" dirty="0"/>
          </a:p>
          <a:p>
            <a:pPr algn="l" indent="0" marL="0">
              <a:lnSpc>
                <a:spcPts val="2880"/>
              </a:lnSpc>
              <a:spcAft>
                <a:spcPts val="2020"/>
              </a:spcAft>
              <a:buNone/>
            </a:pPr>
            <a:r>
              <a:rPr lang="en-US" sz="2400" dirty="0">
                <a:solidFill>
                  <a:srgbClr val="111111"/>
                </a:solidFill>
                <a:latin typeface="Lato" pitchFamily="34" charset="0"/>
                <a:ea typeface="Lato" pitchFamily="34" charset="-122"/>
                <a:cs typeface="Lato" pitchFamily="34" charset="-120"/>
              </a:rPr>
              <a:t>State what you left out and why.</a:t>
            </a:r>
            <a:endParaRPr lang="en-US" sz="24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Make: your own version</a:t>
            </a:r>
            <a:endParaRPr lang="en-US" sz="3800" dirty="0"/>
          </a:p>
        </p:txBody>
      </p:sp>
      <p:sp>
        <p:nvSpPr>
          <p:cNvPr id="3" name="Text 1"/>
          <p:cNvSpPr txBox="1"/>
          <p:nvPr/>
        </p:nvSpPr>
        <p:spPr>
          <a:xfrm>
            <a:off x="640080" y="1737360"/>
            <a:ext cx="6949440" cy="4480560"/>
          </a:xfrm>
          <a:prstGeom prst="rect">
            <a:avLst/>
          </a:prstGeom>
          <a:noFill/>
          <a:ln/>
        </p:spPr>
        <p:txBody>
          <a:bodyPr wrap="square" lIns="0" tIns="0" rIns="0" bIns="0" rtlCol="0" anchor="t"/>
          <a:lstStyle/>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Add model code, the validation error and a short decision to project.ipynb. Ask a partner to name your target and baseline from the notebook alone. Record any assistance in AI_USE_LOG.md or write No AI assistance used.</a:t>
            </a:r>
            <a:endParaRPr lang="en-US" sz="2800" dirty="0"/>
          </a:p>
          <a:p>
            <a:pPr algn="l" indent="0" marL="0">
              <a:lnSpc>
                <a:spcPts val="3360"/>
              </a:lnSpc>
              <a:spcAft>
                <a:spcPts val="2520"/>
              </a:spcAft>
              <a:buNone/>
            </a:pPr>
            <a:r>
              <a:rPr lang="en-US" sz="2800" dirty="0">
                <a:solidFill>
                  <a:srgbClr val="111111"/>
                </a:solidFill>
                <a:latin typeface="Lato" pitchFamily="34" charset="0"/>
                <a:ea typeface="Lato" pitchFamily="34" charset="-122"/>
                <a:cs typeface="Lato" pitchFamily="34" charset="-120"/>
              </a:rPr>
              <a:t>Save it as ML21. Write two sentences: what you changed and how you checked it.</a:t>
            </a:r>
            <a:endParaRPr lang="en-US" sz="2800" dirty="0"/>
          </a:p>
        </p:txBody>
      </p:sp>
      <p:pic>
        <p:nvPicPr>
          <p:cNvPr id="4" name="Image 0" descr="A notebook saved with a tick">    </p:cNvPr>
          <p:cNvPicPr>
            <a:picLocks noChangeAspect="1"/>
          </p:cNvPicPr>
          <p:nvPr/>
        </p:nvPicPr>
        <p:blipFill>
          <a:blip r:embed="rId1"/>
          <a:stretch>
            <a:fillRect/>
          </a:stretch>
        </p:blipFill>
        <p:spPr>
          <a:xfrm>
            <a:off x="8138160" y="1920240"/>
            <a:ext cx="347472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Two errors you may meet today</a:t>
            </a:r>
            <a:endParaRPr lang="en-US" sz="3800" dirty="0"/>
          </a:p>
        </p:txBody>
      </p:sp>
      <p:pic>
        <p:nvPicPr>
          <p:cNvPr id="3" name="Image 0" descr="Error">    </p:cNvPr>
          <p:cNvPicPr>
            <a:picLocks noChangeAspect="1"/>
          </p:cNvPicPr>
          <p:nvPr/>
        </p:nvPicPr>
        <p:blipFill>
          <a:blip r:embed="rId1"/>
          <a:stretch>
            <a:fillRect/>
          </a:stretch>
        </p:blipFill>
        <p:spPr>
          <a:xfrm>
            <a:off x="640080" y="1691640"/>
            <a:ext cx="822960" cy="822960"/>
          </a:xfrm>
          <a:prstGeom prst="rect">
            <a:avLst/>
          </a:prstGeom>
        </p:spPr>
      </p:pic>
      <p:sp>
        <p:nvSpPr>
          <p:cNvPr id="4" name="Shape 1"/>
          <p:cNvSpPr/>
          <p:nvPr/>
        </p:nvSpPr>
        <p:spPr>
          <a:xfrm>
            <a:off x="1645920" y="1828800"/>
            <a:ext cx="4023360" cy="1645920"/>
          </a:xfrm>
          <a:prstGeom prst="roundRect">
            <a:avLst>
              <a:gd name="adj" fmla="val 3333"/>
            </a:avLst>
          </a:prstGeom>
          <a:solidFill>
            <a:srgbClr val="FFFFFF"/>
          </a:solidFill>
          <a:ln w="25400">
            <a:solidFill>
              <a:srgbClr val="AE2525"/>
            </a:solidFill>
            <a:prstDash val="solid"/>
          </a:ln>
        </p:spPr>
      </p:sp>
      <p:sp>
        <p:nvSpPr>
          <p:cNvPr id="5" name="Text 2"/>
          <p:cNvSpPr txBox="1"/>
          <p:nvPr/>
        </p:nvSpPr>
        <p:spPr>
          <a:xfrm>
            <a:off x="1783080" y="192024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with-tip score looks like the best</a:t>
            </a:r>
            <a:endParaRPr lang="en-US" sz="2000" dirty="0"/>
          </a:p>
        </p:txBody>
      </p:sp>
      <p:sp>
        <p:nvSpPr>
          <p:cNvPr id="6" name="Text 3"/>
          <p:cNvSpPr txBox="1"/>
          <p:nvPr/>
        </p:nvSpPr>
        <p:spPr>
          <a:xfrm>
            <a:off x="6035040" y="166420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A leakage column made the model look better.</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Remove the column that is only known after the answer.</a:t>
            </a:r>
            <a:endParaRPr lang="en-US" sz="2200" dirty="0"/>
          </a:p>
        </p:txBody>
      </p:sp>
      <p:sp>
        <p:nvSpPr>
          <p:cNvPr id="7" name="Shape 4"/>
          <p:cNvSpPr/>
          <p:nvPr/>
        </p:nvSpPr>
        <p:spPr>
          <a:xfrm>
            <a:off x="640080" y="3813048"/>
            <a:ext cx="10881360" cy="0"/>
          </a:xfrm>
          <a:prstGeom prst="line">
            <a:avLst/>
          </a:prstGeom>
          <a:noFill/>
          <a:ln w="12700">
            <a:solidFill>
              <a:srgbClr val="CFCFCF"/>
            </a:solidFill>
            <a:prstDash val="solid"/>
          </a:ln>
        </p:spPr>
      </p:sp>
      <p:pic>
        <p:nvPicPr>
          <p:cNvPr id="8" name="Image 1" descr="Error">    </p:cNvPr>
          <p:cNvPicPr>
            <a:picLocks noChangeAspect="1"/>
          </p:cNvPicPr>
          <p:nvPr/>
        </p:nvPicPr>
        <p:blipFill>
          <a:blip r:embed="rId2"/>
          <a:stretch>
            <a:fillRect/>
          </a:stretch>
        </p:blipFill>
        <p:spPr>
          <a:xfrm>
            <a:off x="640080" y="4023360"/>
            <a:ext cx="822960" cy="822960"/>
          </a:xfrm>
          <a:prstGeom prst="rect">
            <a:avLst/>
          </a:prstGeom>
        </p:spPr>
      </p:pic>
      <p:sp>
        <p:nvSpPr>
          <p:cNvPr id="9" name="Shape 5"/>
          <p:cNvSpPr/>
          <p:nvPr/>
        </p:nvSpPr>
        <p:spPr>
          <a:xfrm>
            <a:off x="1645920" y="4160520"/>
            <a:ext cx="4023360" cy="1645920"/>
          </a:xfrm>
          <a:prstGeom prst="roundRect">
            <a:avLst>
              <a:gd name="adj" fmla="val 3333"/>
            </a:avLst>
          </a:prstGeom>
          <a:solidFill>
            <a:srgbClr val="FFFFFF"/>
          </a:solidFill>
          <a:ln w="25400">
            <a:solidFill>
              <a:srgbClr val="AE2525"/>
            </a:solidFill>
            <a:prstDash val="solid"/>
          </a:ln>
        </p:spPr>
      </p:sp>
      <p:sp>
        <p:nvSpPr>
          <p:cNvPr id="10" name="Text 6"/>
          <p:cNvSpPr txBox="1"/>
          <p:nvPr/>
        </p:nvSpPr>
        <p:spPr>
          <a:xfrm>
            <a:off x="1783080" y="4251960"/>
            <a:ext cx="3749040" cy="1463040"/>
          </a:xfrm>
          <a:prstGeom prst="rect">
            <a:avLst/>
          </a:prstGeom>
          <a:noFill/>
          <a:ln/>
        </p:spPr>
        <p:txBody>
          <a:bodyPr wrap="square" lIns="0" tIns="0" rIns="0" bIns="0" rtlCol="0" anchor="ctr"/>
          <a:lstStyle/>
          <a:p>
            <a:pPr algn="l" indent="0" marL="0">
              <a:lnSpc>
                <a:spcPts val="2500"/>
              </a:lnSpc>
              <a:buNone/>
            </a:pPr>
            <a:r>
              <a:rPr lang="en-US" sz="2000" dirty="0">
                <a:solidFill>
                  <a:srgbClr val="AE2525"/>
                </a:solidFill>
                <a:latin typeface="Courier New" pitchFamily="34" charset="0"/>
                <a:ea typeface="Courier New" pitchFamily="34" charset="-122"/>
                <a:cs typeface="Courier New" pitchFamily="34" charset="-120"/>
              </a:rPr>
              <a:t>The comparison changes every time I run it</a:t>
            </a:r>
            <a:endParaRPr lang="en-US" sz="2000" dirty="0"/>
          </a:p>
        </p:txBody>
      </p:sp>
      <p:sp>
        <p:nvSpPr>
          <p:cNvPr id="11" name="Text 7"/>
          <p:cNvSpPr txBox="1"/>
          <p:nvPr/>
        </p:nvSpPr>
        <p:spPr>
          <a:xfrm>
            <a:off x="6035040" y="3995928"/>
            <a:ext cx="5486400" cy="1965960"/>
          </a:xfrm>
          <a:prstGeom prst="rect">
            <a:avLst/>
          </a:prstGeom>
          <a:noFill/>
          <a:ln/>
        </p:spPr>
        <p:txBody>
          <a:bodyPr wrap="square" lIns="0" tIns="0" rIns="0" bIns="0" rtlCol="0" anchor="t"/>
          <a:lstStyle/>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It means: The split uses different random_state values or none at all.</a:t>
            </a:r>
            <a:endParaRPr lang="en-US" sz="2200" dirty="0"/>
          </a:p>
          <a:p>
            <a:pPr algn="l" indent="0" marL="0">
              <a:lnSpc>
                <a:spcPts val="2640"/>
              </a:lnSpc>
              <a:spcAft>
                <a:spcPts val="1300"/>
              </a:spcAft>
              <a:buNone/>
            </a:pPr>
            <a:r>
              <a:rPr lang="en-US" sz="2200" dirty="0">
                <a:solidFill>
                  <a:srgbClr val="111111"/>
                </a:solidFill>
                <a:latin typeface="Lato" pitchFamily="34" charset="0"/>
                <a:ea typeface="Lato" pitchFamily="34" charset="-122"/>
                <a:cs typeface="Lato" pitchFamily="34" charset="-120"/>
              </a:rPr>
              <a:t>Fix: Use the same split settings for every model.</a:t>
            </a:r>
            <a:endParaRPr lang="en-US" sz="2200" dirty="0"/>
          </a:p>
        </p:txBody>
      </p:sp>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2" type="title" hasCustomPrompt="1"/>
          </p:nvPr>
        </p:nvSpPr>
        <p:spPr>
          <a:xfrm>
            <a:off x="640080" y="384048"/>
            <a:ext cx="10881360" cy="1051560"/>
          </a:xfrm>
          <a:prstGeom prst="rect">
            <a:avLst/>
          </a:prstGeom>
          <a:noFill/>
          <a:ln/>
        </p:spPr>
        <p:txBody>
          <a:bodyPr wrap="square" lIns="0" tIns="0" rIns="0" bIns="0" rtlCol="0" anchor="t"/>
          <a:lstStyle/>
          <a:p>
            <a:pPr algn="l" indent="0" marL="0">
              <a:buNone/>
            </a:pPr>
            <a:r>
              <a:rPr lang="en-US" sz="3800" b="1" dirty="0">
                <a:solidFill>
                  <a:srgbClr val="111111"/>
                </a:solidFill>
                <a:latin typeface="Lato" pitchFamily="34" charset="0"/>
                <a:ea typeface="Lato" pitchFamily="34" charset="-122"/>
                <a:cs typeface="Lato" pitchFamily="34" charset="-120"/>
              </a:rPr>
              <a:t>Finish this sentence in your notebook</a:t>
            </a:r>
            <a:endParaRPr lang="en-US" sz="3800" dirty="0"/>
          </a:p>
        </p:txBody>
      </p:sp>
      <p:sp>
        <p:nvSpPr>
          <p:cNvPr id="3" name="Text 1"/>
          <p:cNvSpPr txBox="1"/>
          <p:nvPr/>
        </p:nvSpPr>
        <p:spPr>
          <a:xfrm>
            <a:off x="640080" y="1737360"/>
            <a:ext cx="6949440" cy="2926080"/>
          </a:xfrm>
          <a:prstGeom prst="rect">
            <a:avLst/>
          </a:prstGeom>
          <a:noFill/>
          <a:ln/>
        </p:spPr>
        <p:txBody>
          <a:bodyPr wrap="square" lIns="0" tIns="0" rIns="0" bIns="0" rtlCol="0" anchor="t"/>
          <a:lstStyle/>
          <a:p>
            <a:pPr algn="l" indent="0" marL="0">
              <a:lnSpc>
                <a:spcPts val="4800"/>
              </a:lnSpc>
              <a:spcAft>
                <a:spcPts val="1010"/>
              </a:spcAft>
              <a:buNone/>
            </a:pPr>
            <a:r>
              <a:rPr lang="en-US" sz="4000" dirty="0">
                <a:solidFill>
                  <a:srgbClr val="111111"/>
                </a:solidFill>
                <a:latin typeface="Lato" pitchFamily="34" charset="0"/>
                <a:ea typeface="Lato" pitchFamily="34" charset="-122"/>
                <a:cs typeface="Lato" pitchFamily="34" charset="-120"/>
              </a:rPr>
              <a:t>A model counts as better only on the same rows, with the same measure, and without leakage.</a:t>
            </a:r>
            <a:endParaRPr lang="en-US" sz="4000" dirty="0"/>
          </a:p>
        </p:txBody>
      </p:sp>
      <p:sp>
        <p:nvSpPr>
          <p:cNvPr id="4" name="Text 2"/>
          <p:cNvSpPr txBox="1"/>
          <p:nvPr/>
        </p:nvSpPr>
        <p:spPr>
          <a:xfrm>
            <a:off x="640080" y="4846320"/>
            <a:ext cx="6949440" cy="1097280"/>
          </a:xfrm>
          <a:prstGeom prst="rect">
            <a:avLst/>
          </a:prstGeom>
          <a:noFill/>
          <a:ln/>
        </p:spPr>
        <p:txBody>
          <a:bodyPr wrap="square" lIns="0" tIns="0" rIns="0" bIns="0" rtlCol="0" anchor="t"/>
          <a:lstStyle/>
          <a:p>
            <a:pPr algn="l" indent="0" marL="0">
              <a:lnSpc>
                <a:spcPts val="2750"/>
              </a:lnSpc>
              <a:buNone/>
            </a:pPr>
            <a:r>
              <a:rPr lang="en-US" sz="2200" dirty="0">
                <a:solidFill>
                  <a:srgbClr val="333333"/>
                </a:solidFill>
                <a:latin typeface="Lato" pitchFamily="34" charset="0"/>
                <a:ea typeface="Lato" pitchFamily="34" charset="-122"/>
                <a:cs typeface="Lato" pitchFamily="34" charset="-120"/>
              </a:rPr>
              <a:t>Then save your notebook, close it and open it again to check it saved.</a:t>
            </a:r>
            <a:endParaRPr lang="en-US" sz="2200" dirty="0"/>
          </a:p>
        </p:txBody>
      </p:sp>
      <p:pic>
        <p:nvPicPr>
          <p:cNvPr id="5" name="Image 0" descr="Finished">    </p:cNvPr>
          <p:cNvPicPr>
            <a:picLocks noChangeAspect="1"/>
          </p:cNvPicPr>
          <p:nvPr/>
        </p:nvPicPr>
        <p:blipFill>
          <a:blip r:embed="rId1"/>
          <a:stretch>
            <a:fillRect/>
          </a:stretch>
        </p:blipFill>
        <p:spPr>
          <a:xfrm>
            <a:off x="8229600" y="1920240"/>
            <a:ext cx="3291840" cy="3291840"/>
          </a:xfrm>
          <a:prstGeom prst="rect">
            <a:avLst/>
          </a:prstGeom>
        </p:spPr>
      </p:pic>
      <p:sp>
        <p:nvSpPr>
          <p:cNvPr id="25" name="Slide Number Placeholder 0"/>
          <p:cNvSpPr>
            <a:spLocks noGrp="1"/>
          </p:cNvSpPr>
          <p:nvPr>
            <p:ph type="sldNum" sz="quarter" idx="4294967295"/>
          </p:nvPr>
        </p:nvSpPr>
        <p:spPr>
          <a:xfrm>
            <a:off x="10607040" y="6400800"/>
            <a:ext cx="941832"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666666"/>
                </a:solidFill>
                <a:latin typeface="Lato"/>
                <a:ea typeface="Lato"/>
                <a:cs typeface="Lato"/>
              </a:defRPr>
            </a:lvl1pPr>
          </a:lstStyle>
          <a:p>
            <a:pPr algn="r"/>
            <a:fld id="{F7021451-1387-4CA6-816F-3879F97B5CBC}" type="slidenum">
              <a:rPr b="0" lang="en-US"/>
              <a:t>22</a:t>
            </a:fld>
            <a:endParaRPr lang="en-US"/>
          </a:p>
        </p:txBody>
      </p:sp>
    </p:spTree>
  </p:cSld>
  <p:clrMapOvr>
    <a:masterClrMapping/>
  </p:clrMapOvr>
</p:sld>
</file>

<file path=ppt/theme/theme1.xml><?xml version="1.0" encoding="utf-8"?>
<a:theme xmlns:a="http://schemas.openxmlformats.org/drawingml/2006/main" name="KLAi camp">
  <a:themeElements>
    <a:clrScheme name="KLAi camp">
      <a:dk1>
        <a:srgbClr val="111111"/>
      </a:dk1>
      <a:lt1>
        <a:srgbClr val="FFFFFF"/>
      </a:lt1>
      <a:dk2>
        <a:srgbClr val="333333"/>
      </a:dk2>
      <a:lt2>
        <a:srgbClr val="F1F1F1"/>
      </a:lt2>
      <a:accent1>
        <a:srgbClr val="AE2525"/>
      </a:accent1>
      <a:accent2>
        <a:srgbClr val="E0BE36"/>
      </a:accent2>
      <a:accent3>
        <a:srgbClr val="8C8C8C"/>
      </a:accent3>
      <a:accent4>
        <a:srgbClr val="555555"/>
      </a:accent4>
      <a:accent5>
        <a:srgbClr val="CFCFCF"/>
      </a:accent5>
      <a:accent6>
        <a:srgbClr val="000000"/>
      </a:accent6>
      <a:hlink>
        <a:srgbClr val="AE2525"/>
      </a:hlink>
      <a:folHlink>
        <a:srgbClr val="666666"/>
      </a:folHlink>
    </a:clrScheme>
    <a:fontScheme name="KLAi camp">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KLAi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ML21 Compare, explain and critique</dc:title>
  <dc:subject>Machine Learning</dc:subject>
  <dc:creator>KLAi</dc:creator>
  <cp:lastModifiedBy>KLAi</cp:lastModifiedBy>
  <cp:revision>1</cp:revision>
  <dcterms:created xsi:type="dcterms:W3CDTF">2026-10-31T12:26:34Z</dcterms:created>
  <dcterms:modified xsi:type="dcterms:W3CDTF">2026-10-31T12:26:34Z</dcterms:modified>
</cp:coreProperties>
</file>