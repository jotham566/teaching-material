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047192e-4af5-4ff9-7ff0-0758a7f7ff53}">
          <p14:sldIdLst>
            <p14:sldId id="256"/>
            <p14:sldId id="257"/>
            <p14:sldId id="258"/>
            <p14:sldId id="259"/>
            <p14:sldId id="260"/>
            <p14:sldId id="261"/>
            <p14:sldId id="262"/>
          </p14:sldIdLst>
        </p14:section>
        <p14:section name="Block A" id="{874b1d07-3b4a-d6e5-a12d-48275b937efd}">
          <p14:sldIdLst>
            <p14:sldId id="263"/>
            <p14:sldId id="264"/>
            <p14:sldId id="265"/>
            <p14:sldId id="266"/>
            <p14:sldId id="268"/>
            <p14:sldId id="269"/>
          </p14:sldIdLst>
        </p14:section>
        <p14:section name="Break" id="{f4c0ef1b-756f-a013-cfdf-a25b00234e9c}">
          <p14:sldIdLst>
            <p14:sldId id="267"/>
          </p14:sldIdLst>
        </p14:section>
        <p14:section name="Block A" id="{a9398caf-d4f2-0723-c962-7d8485ee9029}">
          <p14:sldIdLst/>
        </p14:section>
        <p14:section name="Block B" id="{3ae45fdd-8035-2780-5e38-9c8d203d0e6b}">
          <p14:sldIdLst>
            <p14:sldId id="270"/>
            <p14:sldId id="271"/>
            <p14:sldId id="272"/>
            <p14:sldId id="273"/>
            <p14:sldId id="274"/>
            <p14:sldId id="275"/>
          </p14:sldIdLst>
        </p14:section>
        <p14:section name="Make and close" id="{7f767d7f-46c4-3a31-de5a-e8fe9e4fe757}">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is session 6 and our topic is functions and checks that fail loudly.
By the end of today you will be able to write a function that returns a result, and check it against known answers with assert.
We will answer one question: How do I turn my flower rule into a reusable tool and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session you wrote a rule that names a flower from its petal length. Every time you wanted to use it, you had to retype the questions. A function packages the rule as a machine. You drop in a petal length, four point seven, and out comes a name. Today you build that machine, and then write the checks that test it on flowers whose names we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function. A named set of instructions you can use again and again. An example from everyday life. A recipe card you reuse.
parameter. The name inside the function for the value it receives. Here is a way to see it. The blank on a form.
argument. The actual value you give the function when you use it. A small example. What you write in the blank.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return. Sends a result back so the program can keep it. Picture this. Handing over the finished item.
assert. Stops with an error if a statement is false. You have seen this before. A teacher checking that an answer is right.
check. A test with a known right answer. Weighing a bag of sugar on a trusted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is a machine you build once and use as often as you like. This one is called total. It has two input slots called price and quantity. Drop in two thousand and three, the machine multiplies them, and out comes six thousand. The two lines at the bottom describe the machine to Python.
What would come out if you dropped in one thousand and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def starts the description of the machine. The names in brackets on that line are the parameters. They are the labels on the input slots. The word return says what comes out.
Later, when we use the machine, the real values we give it are called arguments. A parameter is the label on the slot. An argument is what you put in the slot. Can you point to each one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names a calculation so you can use it again. A passing assert prints nothing.
Time to commit to an answer. Predict what total(2000, 3) gives and what happens when the assert passes.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cell prints 6000. def starts the function. price and quantity are parameters, and the 2000 and 3 you give it are arguments. return sends the answer back. assert stops with an error when the statement is false, and a passing assert prints nothing.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function and an assert. I have two questions for you.
Question one. What is the difference between return and print? Say it quietly to yourself before anyone answers.
The answer is this. return gives the value back to the program. print only shows it on the screen.
Question two. What happens if you define total but never call it? Give it thirty seconds and then we will hear a few answers.
Nothing runs. Defining a function does not run its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Add an assert that total(1000, 0) equals 0. When you have run it, tell your neighbour what changed and how you know.
Here is what happens. It passes silently, because 1000 times 0 is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functions that look alike behave differently. On the left, the function returns its answer, so the variable a holds eight and we can use it later. On the right, the function prints. Eight appears on the screen, but nothing is handed back, so the variable b holds None.
If your function shows None where you wanted a number, look for a missing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last session's ladder, now living inside a function. The questions are the same. The difference is that each box says return, so as soon as one question is True the function hands back that name and stops.
Because it is a function, you can call it for any petal length without retyping the questions. Call it for one point four in your head. What does it hand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rule from session 4 becomes a function. Three asserts test it, and a loop counts it on eight flowers.
Your turn to guess. Predict how many of the eight flowers the function names correctly.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cell prints 7. The three asserts pass without a sound. Each flower in the list holds a petal length at position 0 and a species at position 1. The function is right for seven of eight flowers, the same count you found by hand.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the flower rule as a function. I have two questions for you.
Question one. What does flower[0] give? Give it thirty seconds and then we will hear a few answers.
The petal length, because position 0 is the first item.
Question two. Why test the function on three known flowers before counting? Talk it over with your neighbour for a minute.
Here is how I would answer it. If an assert fails you know the rule is broken before you trust any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Add the flower [4.9, "versicolor"] again to the list and recount. Run it, then tell someone what you saw.
What you should find: The count becomes 7 out of 9, because the 4.9 flower is wrong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every flower, scored by the function. The first row is the petal length. The second is the true species. The third is what our function says. The last row shows a tick when they agree.
Seven ticks and one cross. The loop in your notebook counts them for you and prints seven. Does that match the count you made by hand last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check. We write down the answer we expect, run the function, and compare. The assert instruction compares for us. When the answers match, it stays silent, and silence means pass.
The last row is a faulty function that adds instead of multiplying. It gives twenty oh three where we expected six thousand, and the assert would stop the program. Why is a zero quantity a good test to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ML06.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TypeError: total() missing 1 required positional argument. It means this: you gave the function fewer values than it has parameters. To fix it, give one argument for each parameter.
The next one. You will see: The answer shows None. It means this: the function has no return line, so nothing came back. To fix it, add return before the value you want back.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How do I turn my flower rule into a reusable tool and test it?
Write this sentence in your notebook and finish it your own way. A function packages a rule, and an assert proves the rule gives a known answer.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ML06  |  Functions and checks that fail loudly</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Functions and checks that fail loudly</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do I turn my flower rule into a reusable tool and test it?</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6 of 24  |  Week 2, Python you need</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do I turn my flower rule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into a reusable tool and test it?</a:t>
            </a:r>
            <a:endParaRPr lang="en-US" sz="3600" dirty="0"/>
          </a:p>
        </p:txBody>
      </p:sp>
      <p:pic>
        <p:nvPicPr>
          <p:cNvPr id="3" name="Image 0" descr="The flower rule drawn as a machine: a petal length goes in and a species comes ou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functio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function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named set of instructions you can use again and again.</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recipe card you reuse.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parameter">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parameter</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name inside the function for the value it receives.</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blank on a form.</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argument">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argument</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actual value you give the function when you use it.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What you write in the blank.</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retur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return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Sends a result back so the program can keep it.</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Handing over the finished item.</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assert">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assert</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Stops with an error if a statement is false.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teacher checking that an answer is right.</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check">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check</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test with a known right answer.</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Weighing a bag of sugar on a trusted scale.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function is a machine: values in, answer out</a:t>
            </a:r>
            <a:endParaRPr lang="en-US" sz="3800" dirty="0"/>
          </a:p>
        </p:txBody>
      </p:sp>
      <p:pic>
        <p:nvPicPr>
          <p:cNvPr id="3" name="Image 0" descr="A function is a machine: values in, answer ou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machine has a name.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input slot has a name.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answer comes back out.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Parameters, arguments and return each have a job</a:t>
            </a:r>
            <a:endParaRPr lang="en-US" sz="3600" dirty="0"/>
          </a:p>
        </p:txBody>
      </p:sp>
      <p:pic>
        <p:nvPicPr>
          <p:cNvPr id="3" name="Image 0" descr="Parameters, arguments and return each have a job">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Parameters are the names inside the machine.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Arguments are the real values you give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return sends the answer back.</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function and an assert</a:t>
            </a:r>
            <a:endParaRPr lang="en-US" sz="3800" dirty="0"/>
          </a:p>
        </p:txBody>
      </p:sp>
      <p:sp>
        <p:nvSpPr>
          <p:cNvPr id="3" name="Shape 1"/>
          <p:cNvSpPr/>
          <p:nvPr/>
        </p:nvSpPr>
        <p:spPr>
          <a:xfrm>
            <a:off x="640080" y="1645920"/>
            <a:ext cx="6035040" cy="2618232"/>
          </a:xfrm>
          <a:prstGeom prst="roundRect">
            <a:avLst>
              <a:gd name="adj" fmla="val 2794"/>
            </a:avLst>
          </a:prstGeom>
          <a:solidFill>
            <a:srgbClr val="111111"/>
          </a:solidFill>
          <a:ln/>
        </p:spPr>
      </p:sp>
      <p:sp>
        <p:nvSpPr>
          <p:cNvPr id="4" name="Text 2"/>
          <p:cNvSpPr txBox="1"/>
          <p:nvPr/>
        </p:nvSpPr>
        <p:spPr>
          <a:xfrm>
            <a:off x="841248" y="1847088"/>
            <a:ext cx="5632704" cy="2215896"/>
          </a:xfrm>
          <a:prstGeom prst="rect">
            <a:avLst/>
          </a:prstGeom>
          <a:noFill/>
          <a:ln/>
        </p:spPr>
        <p:txBody>
          <a:bodyPr wrap="square" lIns="0" tIns="0" rIns="0" bIns="0" rtlCol="0" anchor="t"/>
          <a:lstStyle/>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def</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total(price, quantity):</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return</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price * quantity</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result = total(2000, 3)</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print(result)</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assert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total(2000, 3) == 6000</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360"/>
              </a:lnSpc>
              <a:spcAft>
                <a:spcPts val="2160"/>
              </a:spcAft>
              <a:buNone/>
            </a:pPr>
            <a:r>
              <a:rPr lang="en-US" sz="2800" dirty="0">
                <a:solidFill>
                  <a:srgbClr val="111111"/>
                </a:solidFill>
                <a:latin typeface="Lato" pitchFamily="34" charset="0"/>
                <a:ea typeface="Lato" pitchFamily="34" charset="-122"/>
                <a:cs typeface="Lato" pitchFamily="34" charset="-120"/>
              </a:rPr>
              <a:t>Predict what total(2000, 3) gives and what happens when the assert passes.</a:t>
            </a:r>
            <a:endParaRPr lang="en-US" sz="2800" dirty="0"/>
          </a:p>
          <a:p>
            <a:pPr algn="l" indent="0" marL="0">
              <a:lnSpc>
                <a:spcPts val="3360"/>
              </a:lnSpc>
              <a:spcAft>
                <a:spcPts val="2160"/>
              </a:spcAft>
              <a:buNone/>
            </a:pPr>
            <a:r>
              <a:rPr lang="en-US" sz="2800" dirty="0">
                <a:solidFill>
                  <a:srgbClr val="111111"/>
                </a:solidFill>
                <a:latin typeface="Lato" pitchFamily="34" charset="0"/>
                <a:ea typeface="Lato" pitchFamily="34" charset="-122"/>
                <a:cs typeface="Lato" pitchFamily="34" charset="-120"/>
              </a:rPr>
              <a:t>Write your guess on paper before we run it.</a:t>
            </a:r>
            <a:endParaRPr lang="en-US" sz="28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function and an assert</a:t>
            </a:r>
            <a:endParaRPr lang="en-US" sz="3800" dirty="0"/>
          </a:p>
        </p:txBody>
      </p:sp>
      <p:sp>
        <p:nvSpPr>
          <p:cNvPr id="3" name="Shape 1"/>
          <p:cNvSpPr/>
          <p:nvPr/>
        </p:nvSpPr>
        <p:spPr>
          <a:xfrm>
            <a:off x="640080" y="1645920"/>
            <a:ext cx="6035040" cy="765556"/>
          </a:xfrm>
          <a:prstGeom prst="roundRect">
            <a:avLst>
              <a:gd name="adj" fmla="val 9555"/>
            </a:avLst>
          </a:prstGeom>
          <a:solidFill>
            <a:srgbClr val="FFFFFF"/>
          </a:solidFill>
          <a:ln w="15875">
            <a:solidFill>
              <a:srgbClr val="111111"/>
            </a:solidFill>
            <a:prstDash val="solid"/>
          </a:ln>
        </p:spPr>
      </p:sp>
      <p:sp>
        <p:nvSpPr>
          <p:cNvPr id="4" name="Text 2"/>
          <p:cNvSpPr txBox="1"/>
          <p:nvPr/>
        </p:nvSpPr>
        <p:spPr>
          <a:xfrm>
            <a:off x="822960" y="1828800"/>
            <a:ext cx="5669280" cy="3997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6000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cell prints 6000.</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def starts the function.</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price and quantity are parameters, and the 2000 and 3 you give it are arguments.</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return sends the answer back.</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assert stops with an error when the statement is false, and a passing assert prints nothing.</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function and an assert</a:t>
            </a:r>
            <a:endParaRPr lang="en-US" sz="3800" dirty="0"/>
          </a:p>
        </p:txBody>
      </p:sp>
      <p:sp>
        <p:nvSpPr>
          <p:cNvPr id="3" name="Shape 1"/>
          <p:cNvSpPr/>
          <p:nvPr/>
        </p:nvSpPr>
        <p:spPr>
          <a:xfrm>
            <a:off x="7498080" y="1737360"/>
            <a:ext cx="4023360" cy="1924812"/>
          </a:xfrm>
          <a:prstGeom prst="roundRect">
            <a:avLst>
              <a:gd name="adj" fmla="val 3800"/>
            </a:avLst>
          </a:prstGeom>
          <a:solidFill>
            <a:srgbClr val="111111"/>
          </a:solidFill>
          <a:ln/>
        </p:spPr>
      </p:sp>
      <p:sp>
        <p:nvSpPr>
          <p:cNvPr id="4" name="Text 2"/>
          <p:cNvSpPr txBox="1"/>
          <p:nvPr/>
        </p:nvSpPr>
        <p:spPr>
          <a:xfrm>
            <a:off x="7699248" y="1938528"/>
            <a:ext cx="3621024" cy="1522476"/>
          </a:xfrm>
          <a:prstGeom prst="rect">
            <a:avLst/>
          </a:prstGeom>
          <a:noFill/>
          <a:ln/>
        </p:spPr>
        <p:txBody>
          <a:bodyPr wrap="square" lIns="0" tIns="0" rIns="0" bIns="0" rtlCol="0" anchor="t"/>
          <a:lstStyle/>
          <a:p>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def</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total(price, quantity):</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a:t>
            </a:r>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return</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price * quantity</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result = total(2000, 3)</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print(result)</a:t>
            </a:r>
            <a:endParaRPr lang="en-US" sz="1500" dirty="0"/>
          </a:p>
          <a:p>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assert</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total(2000, 3) == 6000</a:t>
            </a:r>
            <a:endParaRPr lang="en-US" sz="15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is the difference between return and print?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happens if you define total but never call it?</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Add an assert that total(1000, 0) equals 0.</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023872"/>
          </a:xfrm>
          <a:prstGeom prst="roundRect">
            <a:avLst>
              <a:gd name="adj" fmla="val 3614"/>
            </a:avLst>
          </a:prstGeom>
          <a:solidFill>
            <a:srgbClr val="111111"/>
          </a:solidFill>
          <a:ln/>
        </p:spPr>
      </p:sp>
      <p:sp>
        <p:nvSpPr>
          <p:cNvPr id="5" name="Text 3"/>
          <p:cNvSpPr txBox="1"/>
          <p:nvPr/>
        </p:nvSpPr>
        <p:spPr>
          <a:xfrm>
            <a:off x="7424928" y="1938528"/>
            <a:ext cx="3895344" cy="1621536"/>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def</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total(price, quantity):</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return</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price * quantity</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result = total(2000, 3)</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print(result)</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assert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total(2000, 3) == 6000</a:t>
            </a:r>
            <a:endParaRPr lang="en-US" sz="1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return hands the answer</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back, and print only shows it</a:t>
            </a:r>
            <a:endParaRPr lang="en-US" sz="3600" dirty="0"/>
          </a:p>
        </p:txBody>
      </p:sp>
      <p:pic>
        <p:nvPicPr>
          <p:cNvPr id="3" name="Image 0" descr="return hands the answer back, and print only shows i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return gives the value to the rest of the program.</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print writes on the screen and gives back nothing.</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function with no return holds None.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The flower rule becomes a</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function of three questions</a:t>
            </a:r>
            <a:endParaRPr lang="en-US" sz="3600" dirty="0"/>
          </a:p>
        </p:txBody>
      </p:sp>
      <p:pic>
        <p:nvPicPr>
          <p:cNvPr id="3" name="Image 0" descr="The flower rule becomes a function of three question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function asks the same questions as before.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return ends the function as soon as it runs.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argument in, one name out.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The flower rule as a function</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Predict how many of the eight flowers the function names correctly.</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The flower rule as a function</a:t>
            </a:r>
            <a:endParaRPr lang="en-US" sz="3800" dirty="0"/>
          </a:p>
        </p:txBody>
      </p:sp>
      <p:sp>
        <p:nvSpPr>
          <p:cNvPr id="3" name="Shape 1"/>
          <p:cNvSpPr/>
          <p:nvPr/>
        </p:nvSpPr>
        <p:spPr>
          <a:xfrm>
            <a:off x="640080" y="1645920"/>
            <a:ext cx="6035040" cy="765556"/>
          </a:xfrm>
          <a:prstGeom prst="roundRect">
            <a:avLst>
              <a:gd name="adj" fmla="val 9555"/>
            </a:avLst>
          </a:prstGeom>
          <a:solidFill>
            <a:srgbClr val="FFFFFF"/>
          </a:solidFill>
          <a:ln w="15875">
            <a:solidFill>
              <a:srgbClr val="111111"/>
            </a:solidFill>
            <a:prstDash val="solid"/>
          </a:ln>
        </p:spPr>
      </p:sp>
      <p:sp>
        <p:nvSpPr>
          <p:cNvPr id="4" name="Text 2"/>
          <p:cNvSpPr txBox="1"/>
          <p:nvPr/>
        </p:nvSpPr>
        <p:spPr>
          <a:xfrm>
            <a:off x="822960" y="1828800"/>
            <a:ext cx="5669280" cy="3997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7</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cell prints 7.</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three asserts pass without a sound.</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Each flower in the list holds a petal length at position 0 and a species at position 1.</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function is right for seven of eight flowers, the same count you found by hand.</a:t>
            </a:r>
            <a:endParaRPr lang="en-US" sz="25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The flower rule as a function</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flower[0] give?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test the function on three known flowers before counting?</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Add the flower [4.9, "versicolor"] again to the list and recount.</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function names seven of eight flowers right</a:t>
            </a:r>
            <a:endParaRPr lang="en-US" sz="3800" dirty="0"/>
          </a:p>
        </p:txBody>
      </p:sp>
      <p:pic>
        <p:nvPicPr>
          <p:cNvPr id="3" name="Image 0" descr="The function names seven of eight flowers right">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Checking every flower by loop gives the same count as checking by hand.</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assert tests the machine on known answers</a:t>
            </a:r>
            <a:endParaRPr lang="en-US" sz="3800" dirty="0"/>
          </a:p>
        </p:txBody>
      </p:sp>
      <p:pic>
        <p:nvPicPr>
          <p:cNvPr id="3" name="Image 0" descr="assert tests the machine on known answer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passing assert prints nothing.</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failing assert stops with AssertionError.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Test the edges, such as zero.</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Define double(number) so it returns twice its input. Check double(4), double(0) and double(-2) with assert. Save the notebook and run all cells from the top.</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ML06.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TypeError: total() missing 1 required positional argument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You gave the function fewer values than it has parameters.</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Give one argument for each parameter.</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answer shows None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function has no return line, so nothing came back.</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Add return before the value you want back.</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function packages a rule, and an assert proves the rule gives a known answer.</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ML06 Functions and checks that fail loudly</dc:title>
  <dc:subject>Machine Learning</dc:subject>
  <dc:creator>KLAi</dc:creator>
  <cp:lastModifiedBy>KLAi</cp:lastModifiedBy>
  <cp:revision>1</cp:revision>
  <dcterms:created xsi:type="dcterms:W3CDTF">2026-10-31T12:33:02Z</dcterms:created>
  <dcterms:modified xsi:type="dcterms:W3CDTF">2026-10-31T12:33:02Z</dcterms:modified>
</cp:coreProperties>
</file>