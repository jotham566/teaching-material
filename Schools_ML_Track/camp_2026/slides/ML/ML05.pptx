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7f4fb1-842a-6c94-1b09-5a3f6664efec}">
          <p14:sldIdLst>
            <p14:sldId id="256"/>
            <p14:sldId id="257"/>
            <p14:sldId id="258"/>
            <p14:sldId id="259"/>
            <p14:sldId id="260"/>
            <p14:sldId id="261"/>
            <p14:sldId id="262"/>
          </p14:sldIdLst>
        </p14:section>
        <p14:section name="Block A" id="{9dc31b2a-38e0-7593-1330-d6080e714398}">
          <p14:sldIdLst>
            <p14:sldId id="263"/>
            <p14:sldId id="264"/>
            <p14:sldId id="265"/>
            <p14:sldId id="266"/>
            <p14:sldId id="268"/>
            <p14:sldId id="269"/>
          </p14:sldIdLst>
        </p14:section>
        <p14:section name="Break" id="{8f79dab8-925d-cb3e-40d9-d0c0c6276037}">
          <p14:sldIdLst>
            <p14:sldId id="267"/>
          </p14:sldIdLst>
        </p14:section>
        <p14:section name="Block A" id="{525ce5d1-1609-20d3-5b79-8be763044839}">
          <p14:sldIdLst/>
        </p14:section>
        <p14:section name="Block B" id="{6136e77c-de67-b558-b6ed-aef606b66a6c}">
          <p14:sldIdLst>
            <p14:sldId id="270"/>
            <p14:sldId id="271"/>
            <p14:sldId id="272"/>
            <p14:sldId id="273"/>
            <p14:sldId id="274"/>
          </p14:sldIdLst>
        </p14:section>
        <p14:section name="Make and close" id="{ca774a15-0b0c-db32-f13b-6cc4a4cba9fa}">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5 and our topic is lists, dictionaries and loops.
By the end of today you will be able to read a list position and a dictionary key, and trace a loop that adds up values.
We will answer one question: How do I repeat one calculation for every item in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prices. We want every one of them doubled. We could write the sum three times, but with three hundred prices that would be tiring. The picture shows the trick. Feed the prices one at a time through the same machine, and collect the answers. In Python that idea is called a loop. Today you learn to store many values together and to loop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list. Several values kept in order inside square brackets. A queue of customers.
index. The position of an item in a list, counting from 0. Think of a shop. The house number of a plot.
dictionary. Pairs of a name and a value inside curly brackets. Imagine it like this. A phone book of names and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key. The name used to look up a value in a dictionary. An example from everyday life. The name you look up in a phone book.
loop. A for statement that repeats indented lines for every item. Here is a way to see it. Giving each pupil in a row a book.
item. One value taken from a list during a loop. A small example. The pupil currently getting a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bus where every seat has a number painted on it. A list is like that. The values sit in order, and each seat has a number called an index. The surprise is that counting starts at zero.
So prices with a zero in brackets gives the first price, one thousand. What would prices with a two in brackets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dictionary is a board of labelled facts. This board describes one product. It has a name and a price. You do not ask for the second row. You ask for price, and the board answers two thousand. The name you ask for is called the key.
If you ask for a key that is not on the board, Python stops with a KeyError. Which small spelling slip would cause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tuck shop keeps three prices in a list and one product in a dictionary.
Now your guess. Predict what prints. Which number is prices[0]?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cell prints 1000, 2000 and 3. Square brackets after a list give the item at that index, and the first index is 0. Square brackets after a dictionary give the value for that key. len counts the items in a list.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lists and dictionaries. I have two questions for you.
Question one. Why is prices[0] the first price? Write your answer in one line before we compare.
Here is how I would answer it. Python counts positions from 0.
Question two. What happens if you ask for prices[3]? Say it quietly to yourself before anyone answers.
What I would say is this. An IndexError. The list has positions 0, 1 and 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Print the last price using its index. Run it, then tell someone what you saw.
What you should find: prices[2] gives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is a way of saying do this for each one. The second line takes the prices one at a time and calls the current one price. Everything indented below it is the work that repeats. The last line has no indent, so it waits until the loop has finished.
Say the code in plain English to your neighbour: for each price, add it to the total. Then say what the last line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follows the loop pass by pass. On pass one the total is zero and we add one thousand. On pass two the total is one thousand and we add two thousand. On pass three we add three thousand and reach six thousand.
The bars on the right show the growth. Cover the last row and predict the final total before you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code slowly first, quietly, in your head.
This is the part where you decide. Predict the four numbers printed.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2000, 4000, 6000 and then 6000. for price in prices takes one item at a time and runs the indented lines for it. total starts at 0 and grows by the item each pass: 1000, then 3000, then 6000.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loop that adds. I have two questions for you.
Question one. What is total after the second pass? Say it quietly to yourself before anyone answers.
What I would say is this. 3000, which is 1000 plus 2000.
Question two. What goes wrong if total = 0 is moved inside the loop? Give it thirty seconds and then we will hear a few answers.
Let me answer it. total restarts at 0 on every pass, so only the last item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the list to [1500, 2500] and run the loop again. After you run it, say in one sentence what changed and how you checked.
You should see this. The final total is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moved and the answer changed completely. On the left the counter is set to zero once, before the loop, and the total reaches six thousand. On the right the zero sits inside the loop, so it resets on every pass and ends with just the last price.
If your total looks like only the last value, look for a line that resets it inside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ML05.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IndexError: list index out of range. It means this: you asked for a position the list does not have. To fix it, A list of 3 items has positions 0, 1 and 2.
The next one. You will see: KeyError: 'price'. It means this: the dictionary has no key spelled like that. To fix it, check the exact spelling and capital letters of the key.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do I repeat one calculation for every item in a list?
Finish this sentence in your notebook, in your own words. A loop repeats the same lines for every item, and a total that starts at 0 grows each pass.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ML05  |  Lists, dictionaries and loops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Lists, dictionaries and loops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 I repeat one calculation for every item in a list?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5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 I repeat one calculation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for every item in a list?</a:t>
            </a:r>
            <a:endParaRPr lang="en-US" sz="3600" dirty="0"/>
          </a:p>
        </p:txBody>
      </p:sp>
      <p:pic>
        <p:nvPicPr>
          <p:cNvPr id="3" name="Image 0" descr="Three prices go one at a time through a doubling machin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lis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list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Several values kept in order inside square brackets.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queue of customers.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dex">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index</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position of an item in a list, counting from 0.</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house number of a plot.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iction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dictionary</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Pairs of a name and a value inside curly brackets.</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phone book of names and numbers.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ke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key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used to look up a value in a dictionary.</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name you look up in a phone book.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loop">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loop</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for statement that repeats indented lines for every item.</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Giving each pupil in a row a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tem">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item</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value taken from a list during a loop.</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pupil currently getting a book.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list numbers its seats from zero</a:t>
            </a:r>
            <a:endParaRPr lang="en-US" sz="3800" dirty="0"/>
          </a:p>
        </p:txBody>
      </p:sp>
      <p:pic>
        <p:nvPicPr>
          <p:cNvPr id="3" name="Image 0" descr="A list numbers its seats from zero">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keeps values in order.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first seat is number 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Square brackets pick one seat.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dictionary finds a value by its key</a:t>
            </a:r>
            <a:endParaRPr lang="en-US" sz="3800" dirty="0"/>
          </a:p>
        </p:txBody>
      </p:sp>
      <p:pic>
        <p:nvPicPr>
          <p:cNvPr id="3" name="Image 0" descr="A dictionary finds a value by its ke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key has a value beside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for the key to get its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uses seat numbers, a dictionary uses names.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Lists and dictionaries</a:t>
            </a:r>
            <a:endParaRPr lang="en-US" sz="3800" dirty="0"/>
          </a:p>
        </p:txBody>
      </p:sp>
      <p:sp>
        <p:nvSpPr>
          <p:cNvPr id="3" name="Shape 1"/>
          <p:cNvSpPr/>
          <p:nvPr/>
        </p:nvSpPr>
        <p:spPr>
          <a:xfrm>
            <a:off x="640080" y="1645920"/>
            <a:ext cx="6035040" cy="2288032"/>
          </a:xfrm>
          <a:prstGeom prst="roundRect">
            <a:avLst>
              <a:gd name="adj" fmla="val 3197"/>
            </a:avLst>
          </a:prstGeom>
          <a:solidFill>
            <a:srgbClr val="111111"/>
          </a:solidFill>
          <a:ln/>
        </p:spPr>
      </p:sp>
      <p:sp>
        <p:nvSpPr>
          <p:cNvPr id="4" name="Text 2"/>
          <p:cNvSpPr txBox="1"/>
          <p:nvPr/>
        </p:nvSpPr>
        <p:spPr>
          <a:xfrm>
            <a:off x="841248" y="1847088"/>
            <a:ext cx="5632704" cy="188569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prices = [1000, 2000, 3000]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product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"name"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"Juice"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"price"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2000}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first = prices[0]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juice_price = product[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"price"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print(first)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print(juice_price)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print(len(prices))</a:t>
            </a:r>
            <a:endParaRPr lang="en-US" sz="16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what prints. Which number is prices[0]?</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Lists and dictionaries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1000, 2000 and 3.</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Square brackets after a list give the item at that index, and the first index is 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Square brackets after a dictionary give the value for that key.</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len counts the items in a list.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Lists and dictionaries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prices[0] the first price?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happens if you ask for prices[3]?</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last price using its index.</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519172"/>
          </a:xfrm>
          <a:prstGeom prst="roundRect">
            <a:avLst>
              <a:gd name="adj" fmla="val 2904"/>
            </a:avLst>
          </a:prstGeom>
          <a:solidFill>
            <a:srgbClr val="111111"/>
          </a:solidFill>
          <a:ln/>
        </p:spPr>
      </p:sp>
      <p:sp>
        <p:nvSpPr>
          <p:cNvPr id="5" name="Text 3"/>
          <p:cNvSpPr txBox="1"/>
          <p:nvPr/>
        </p:nvSpPr>
        <p:spPr>
          <a:xfrm>
            <a:off x="7424928" y="1938528"/>
            <a:ext cx="3895344" cy="211683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prices = [1000, 2000, 3000]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product =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"name"</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"Juice"</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"price"</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2000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first = prices[0]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juice_price = product[</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"price"</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print(first)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print(juice_price)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print(len(prices))</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loop repeats the same lines for every item</a:t>
            </a:r>
            <a:endParaRPr lang="en-US" sz="3800" dirty="0"/>
          </a:p>
        </p:txBody>
      </p:sp>
      <p:pic>
        <p:nvPicPr>
          <p:cNvPr id="3" name="Image 0" descr="A loop repeats the same lines for every item">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price stands for one item at a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indented lines repeat for every item.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last line runs once, after the loop.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running total grows one item at a time</a:t>
            </a:r>
            <a:endParaRPr lang="en-US" sz="3800" dirty="0"/>
          </a:p>
        </p:txBody>
      </p:sp>
      <p:pic>
        <p:nvPicPr>
          <p:cNvPr id="3" name="Image 0" descr="The running total grows one item at a ti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pass adds the current price.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total after one pass is the total before the next.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last total is the answer.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loop that adds</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prices = [1000, 2000, 3000]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for</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price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prices: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print(price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total = total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the four numbers printed.</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loop that adds</a:t>
            </a:r>
            <a:endParaRPr lang="en-US" sz="3800" dirty="0"/>
          </a:p>
        </p:txBody>
      </p:sp>
      <p:sp>
        <p:nvSpPr>
          <p:cNvPr id="3" name="Shape 1"/>
          <p:cNvSpPr/>
          <p:nvPr/>
        </p:nvSpPr>
        <p:spPr>
          <a:xfrm>
            <a:off x="640080" y="1645920"/>
            <a:ext cx="6035040" cy="1855216"/>
          </a:xfrm>
          <a:prstGeom prst="roundRect">
            <a:avLst>
              <a:gd name="adj" fmla="val 3943"/>
            </a:avLst>
          </a:prstGeom>
          <a:solidFill>
            <a:srgbClr val="FFFFFF"/>
          </a:solidFill>
          <a:ln w="15875">
            <a:solidFill>
              <a:srgbClr val="111111"/>
            </a:solidFill>
            <a:prstDash val="solid"/>
          </a:ln>
        </p:spPr>
      </p:sp>
      <p:sp>
        <p:nvSpPr>
          <p:cNvPr id="4" name="Text 2"/>
          <p:cNvSpPr txBox="1"/>
          <p:nvPr/>
        </p:nvSpPr>
        <p:spPr>
          <a:xfrm>
            <a:off x="822960" y="1828800"/>
            <a:ext cx="5669280" cy="14894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2000, 4000, 6000 and then 6000.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for price in prices takes one item at a time and runs the indented lines for it.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total starts at 0 and grows by the item each pass: 1000, then 3000, then 6000.</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loop that adds</a:t>
            </a:r>
            <a:endParaRPr lang="en-US" sz="3800" dirty="0"/>
          </a:p>
        </p:txBody>
      </p:sp>
      <p:sp>
        <p:nvSpPr>
          <p:cNvPr id="3" name="Shape 1"/>
          <p:cNvSpPr/>
          <p:nvPr/>
        </p:nvSpPr>
        <p:spPr>
          <a:xfrm>
            <a:off x="7498080" y="1737360"/>
            <a:ext cx="4023360" cy="2023872"/>
          </a:xfrm>
          <a:prstGeom prst="roundRect">
            <a:avLst>
              <a:gd name="adj" fmla="val 3614"/>
            </a:avLst>
          </a:prstGeom>
          <a:solidFill>
            <a:srgbClr val="111111"/>
          </a:solidFill>
          <a:ln/>
        </p:spPr>
      </p:sp>
      <p:sp>
        <p:nvSpPr>
          <p:cNvPr id="4" name="Text 2"/>
          <p:cNvSpPr txBox="1"/>
          <p:nvPr/>
        </p:nvSpPr>
        <p:spPr>
          <a:xfrm>
            <a:off x="7699248" y="1938528"/>
            <a:ext cx="3621024" cy="162153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prices = [1000, 2000, 3000]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total = 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for</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prices:</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print(price * 2)</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 = total + price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print(total)</a:t>
            </a:r>
            <a:endParaRPr lang="en-US" sz="16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total after the second pass?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goes wrong if total = 0 is moved inside the loop?</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list to [1500, 2500] and run the loop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122932"/>
          </a:xfrm>
          <a:prstGeom prst="roundRect">
            <a:avLst>
              <a:gd name="adj" fmla="val 3446"/>
            </a:avLst>
          </a:prstGeom>
          <a:solidFill>
            <a:srgbClr val="111111"/>
          </a:solidFill>
          <a:ln/>
        </p:spPr>
      </p:sp>
      <p:sp>
        <p:nvSpPr>
          <p:cNvPr id="5" name="Text 3"/>
          <p:cNvSpPr txBox="1"/>
          <p:nvPr/>
        </p:nvSpPr>
        <p:spPr>
          <a:xfrm>
            <a:off x="7424928" y="1938528"/>
            <a:ext cx="3895344" cy="1720596"/>
          </a:xfrm>
          <a:prstGeom prst="rect">
            <a:avLst/>
          </a:prstGeom>
          <a:noFill/>
          <a:ln/>
        </p:spPr>
        <p:txBody>
          <a:bodyPr wrap="square" lIns="0" tIns="0" rIns="0" bIns="0" rtlCol="0" anchor="t"/>
          <a:lstStyle/>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prices = [1000, 2000, 3000]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total = 0</a:t>
            </a:r>
            <a:endParaRPr lang="en-US" sz="1700" dirty="0"/>
          </a:p>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for</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price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in</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prices:</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print(price * 2)</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total = total + 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print(total)</a:t>
            </a:r>
            <a:endParaRPr lang="en-US" sz="17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Where the counter starts decides the answer</a:t>
            </a:r>
            <a:endParaRPr lang="en-US" sz="3800" dirty="0"/>
          </a:p>
        </p:txBody>
      </p:sp>
      <p:pic>
        <p:nvPicPr>
          <p:cNvPr id="3" name="Image 0" descr="Counter set to 0 once, before the loop: the total keeps growing.">    </p:cNvPr>
          <p:cNvPicPr>
            <a:picLocks noChangeAspect="1"/>
          </p:cNvPicPr>
          <p:nvPr/>
        </p:nvPicPr>
        <p:blipFill>
          <a:blip r:embed="rId1"/>
          <a:stretch>
            <a:fillRect/>
          </a:stretch>
        </p:blipFill>
        <p:spPr>
          <a:xfrm>
            <a:off x="640080" y="1554480"/>
            <a:ext cx="5349240"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Counter set to 0 once, before the loop: the total keeps growing.</a:t>
            </a:r>
            <a:endParaRPr lang="en-US" sz="2200" dirty="0"/>
          </a:p>
        </p:txBody>
      </p:sp>
      <p:pic>
        <p:nvPicPr>
          <p:cNvPr id="5" name="Image 1" descr="Counter set to 0 inside the loop: it restarts every pass.">    </p:cNvPr>
          <p:cNvPicPr>
            <a:picLocks noChangeAspect="1"/>
          </p:cNvPicPr>
          <p:nvPr/>
        </p:nvPicPr>
        <p:blipFill>
          <a:blip r:embed="rId2"/>
          <a:stretch>
            <a:fillRect/>
          </a:stretch>
        </p:blipFill>
        <p:spPr>
          <a:xfrm>
            <a:off x="6172200" y="1554480"/>
            <a:ext cx="5349240"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Counter set to 0 inside the loop: it restarts every pass.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520"/>
              </a:spcAft>
              <a:buNone/>
            </a:pPr>
            <a:r>
              <a:rPr lang="en-US" sz="2800" dirty="0">
                <a:solidFill>
                  <a:srgbClr val="111111"/>
                </a:solidFill>
                <a:latin typeface="Lato" pitchFamily="34" charset="0"/>
                <a:ea typeface="Lato" pitchFamily="34" charset="-122"/>
                <a:cs typeface="Lato" pitchFamily="34" charset="-120"/>
              </a:rPr>
              <a:t>Make the list [2, 4, 6] and print each value plus 1 with a loop. Make a dictionary with the keys name and stock and print the stock. Then loop over the eight petal lengths 1.4, 1.4, 4.7, 4.5, 4.9, 6.0, 5.1, 5.9 and count how many are below 2.5.</a:t>
            </a:r>
            <a:endParaRPr lang="en-US" sz="2800" dirty="0"/>
          </a:p>
          <a:p>
            <a:pPr algn="l" indent="0" marL="0">
              <a:lnSpc>
                <a:spcPts val="3360"/>
              </a:lnSpc>
              <a:spcAft>
                <a:spcPts val="2520"/>
              </a:spcAft>
              <a:buNone/>
            </a:pPr>
            <a:r>
              <a:rPr lang="en-US" sz="2800" dirty="0">
                <a:solidFill>
                  <a:srgbClr val="111111"/>
                </a:solidFill>
                <a:latin typeface="Lato" pitchFamily="34" charset="0"/>
                <a:ea typeface="Lato" pitchFamily="34" charset="-122"/>
                <a:cs typeface="Lato" pitchFamily="34" charset="-120"/>
              </a:rPr>
              <a:t>Save it as ML05. 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IndexError: list index out of range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asked for a position the list does not have.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 list of 3 items has positions 0, 1 and 2.</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'price'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dictionary has no key spelled like that.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exact spelling and capital letters of the key.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loop repeats the same lines for every item, and a total that starts at 0 grows each pass.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ML05 Lists, dictionaries and loops</dc:title>
  <dc:subject>Machine Learning</dc:subject>
  <dc:creator>KLAi</dc:creator>
  <cp:lastModifiedBy>KLAi</cp:lastModifiedBy>
  <cp:revision>1</cp:revision>
  <dcterms:created xsi:type="dcterms:W3CDTF">2026-10-31T12:33:01Z</dcterms:created>
  <dcterms:modified xsi:type="dcterms:W3CDTF">2026-10-31T12:33:01Z</dcterms:modified>
</cp:coreProperties>
</file>