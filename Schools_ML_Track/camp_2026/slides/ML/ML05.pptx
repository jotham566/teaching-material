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92c0d3ca-fb7a-e673-33a4-30d3550e9faa}">
          <p14:sldIdLst>
            <p14:sldId id="256"/>
            <p14:sldId id="257"/>
            <p14:sldId id="258"/>
            <p14:sldId id="259"/>
            <p14:sldId id="260"/>
            <p14:sldId id="261"/>
            <p14:sldId id="262"/>
          </p14:sldIdLst>
        </p14:section>
        <p14:section name="Block A" id="{45e6cefc-0f69-f7ab-6916-e665db1c0604}">
          <p14:sldIdLst>
            <p14:sldId id="263"/>
            <p14:sldId id="264"/>
            <p14:sldId id="265"/>
            <p14:sldId id="266"/>
            <p14:sldId id="268"/>
            <p14:sldId id="269"/>
          </p14:sldIdLst>
        </p14:section>
        <p14:section name="Break" id="{1953cbb7-dafc-0aaa-cee5-ef96883d85e4}">
          <p14:sldIdLst>
            <p14:sldId id="267"/>
          </p14:sldIdLst>
        </p14:section>
        <p14:section name="Block A" id="{487d3e4c-72ae-1e29-f634-d199c092b572}">
          <p14:sldIdLst/>
        </p14:section>
        <p14:section name="Block B" id="{f9ef27b9-ca25-3175-1b75-9e41e015235c}">
          <p14:sldIdLst>
            <p14:sldId id="270"/>
            <p14:sldId id="271"/>
            <p14:sldId id="272"/>
            <p14:sldId id="273"/>
            <p14:sldId id="274"/>
          </p14:sldIdLst>
        </p14:section>
        <p14:section name="Make and close" id="{282049f6-6ce6-0486-4a34-3875e2b0bcfe}">
          <p14:sldIdLst>
            <p14:sldId id="275"/>
            <p14:sldId id="276"/>
            <p14:sldId id="27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we go. Today is session 5 and our topic is lists, dictionaries and loops.
By the end of today you will be able to read a list position and a dictionary key, and trace a loop that adds up values.
We will answer one question: How do I repeat one calculation for every item in a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three prices. We want every one of them doubled. We could write the sum three times, but with three hundred prices that would be tiring. The picture shows the trick. Feed the prices one at a time through the same machine, and collect the answers. In Python that idea is called a loop. Today you learn to store many values together and to loop over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how the 3 hours go. Each bar is as long as the time we spend on that part.
First, 10 minutes. Recall. Then, 50 minutes. Block A. After that, 15 minutes. Break away from screens. Next, 50 minutes. Block B. Then, 40 minutes. Make. Then, 15 minutes. Exit ticket, save, and an individual check with each learner.
Notice how much of the time is yours. You listen for a short while and then you do. That is on purpose, because you learn this by doing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the words, because every one of them is used in the code later.
list. Several values kept in order inside square brackets. A queue of customers.
index. The position of an item in a list, counting from 0. Think of a shop. The house number of a plot.
dictionary. Pairs of a name and a value inside curly brackets. Imagine it like this. A phone book of names and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rest of today's words.
key. The name used to look up a value in a dictionary. An example from everyday life. The name you look up in a phone book.
loop. A for statement that repeats indented lines for every item. Here is a way to see it. Giving each pupil in a row a book.
item. One value taken from a list during a loop. A small example. The pupil currently getting a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Imagine a bus where every seat has a number painted on it. A list is like that. The values sit in order, and each seat has a number called an index. The surprise is that counting starts at zero.
So prices with a zero in brackets gives the first price, one thousand. What would prices with a two in brackets give?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dictionary is a board of labelled facts. This board describes one product. It has a name and a price. You do not ask for the second row. You ask for price, and the board answers two thousand. The name you ask for is called the key.
If you ask for a key that is not on the board, Python stops with a KeyError. Which small spelling slip would cause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tuck shop keeps three prices in a list and one product in a dictionary.
Now your guess. Predict what prints. Which number is prices[0]? Jot it on paper before anyone speaks.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Watch the output as it appears. Match each line of the output with the line of code that made it.
The cell prints 1000, 2000 and 3. Square brackets after a list give the item at that index, and the first index is 0. Square brackets after a dictionary give the value for that key. len counts the items in a list.
Tell the person next to you whether your guess matched.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look closely at lists and dictionaries. I have two questions for you.
Question one. Why is prices[0] the first price? Write your answer in one line before we compare.
Here is how I would answer it. Python counts positions from 0.
Question two. What happens if you ask for prices[3]? Say it quietly to yourself before anyone answers.
What I would say is this. An IndexError. The list has positions 0, 1 and 2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Your hands on the keyboard now. Print the last price using its index. Run it, then tell someone what you saw.
What you should find: prices[2] gives 3000.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Break time. 15 minutes away from your screens. Stand up, drink some water and tell someone what you guessed in the first half.
When we come back we start the second idea.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loop is a way of saying do this for each one. The second line takes the prices one at a time and calls the current one price. Everything indented below it is the work that repeats. The last line has no indent, so it waits until the loop has finished.
Say the code in plain English to your neighbour: for each price, add it to the total. Then say what the last line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follows the loop pass by pass. On pass one the total is zero and we add one thousand. On pass two the total is one thousand and we add two thousand. On pass three we add three thousand and reach six thousand.
The bars on the right show the growth. Cover the last row and predict the final total before you look.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this code slowly first, quietly, in your head.
This is the part where you decide. Predict the four numbers printed. Guess on paper first. Surprises are useful.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see what happens. Match each line of the output with the line of code that made it.
The cell prints 2000, 4000, 6000 and then 6000. for price in prices takes one item at a time and runs the indented lines for it. total starts at 0 and grows by the item each pass: 1000, then 3000, then 6000.
Which line of the output matches which line of the code? Point to each pair.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look closely at A loop that adds. I have two questions for you.
Question one. What is total after the second pass? Say it quietly to yourself before anyone answers.
What I would say is this. 3000, which is 1000 plus 2000.
Question two. What goes wrong if total = 0 is moved inside the loop? Give it thirty seconds and then we will hear a few answers.
Let me answer it. total restarts at 0 on every pass, so only the last item remains.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Change one thing and watch what happens. Change the list to [1500, 2500] and run the loop again. After you run it, say in one sentence what changed and how you checked.
You should see this. The final total is 4000.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line moved and the answer changed completely. On the left the counter is set to zero once, before the loop, and the total reaches six thousand. On the right the zero sits inside the loop, so it resets on every pass and ends with just the last price.
If your total looks like only the last value, look for a line that resets it inside the loop.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task is yours. Run your code after every step so you can see where a problem begins. If you get stuck for a few minutes, read your error message, check the error card, and then ask me.
Save it as ML05. I will come round to each of you and ask what you changed and how you checked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two errors from this session, so you recognise them when they appear.
This is the first one. You will see: IndexError: list index out of range. It means this: you asked for a position the list does not have. To fix it, A list of 3 items has positions 0, 1 and 2.
The next one. You will see: KeyError: 'price'. It means this: the dictionary has no key spelled like that. To fix it, check the exact spelling and capital letters of the key.
When you are stuck, read the last line of the message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Last step. Our question for today was: How do I repeat one calculation for every item in a list?
Finish this sentence in your notebook, in your own words. A loop repeats the same lines for every item, and a total that starts at 0 grows each pass.
Then save your notebook, close it and open it again to check it saved.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LAI_LIGHT">
    <p:bg>
      <p:bgPr>
        <a:solidFill>
          <a:srgbClr val="FFFFFF"/>
        </a:solidFill>
      </p:bgPr>
    </p:bg>
    <p:spTree>
      <p:nvGrpSpPr>
        <p:cNvPr id="1" name=""/>
        <p:cNvGrpSpPr/>
        <p:nvPr/>
      </p:nvGrpSpPr>
      <p:grpSpPr>
        <a:xfrm>
          <a:off x="0" y="0"/>
          <a:ext cx="0" cy="0"/>
          <a:chOff x="0" y="0"/>
          <a:chExt cx="0" cy="0"/>
        </a:xfrm>
      </p:grpSpPr>
      <p:pic>
        <p:nvPicPr>
          <p:cNvPr id="2" name="Image 0" descr="/sessions/focused-youthful-einstein/mnt/IUEA-Teaching-Resources/Schools_ML_Track/camp_2026/brand/logos/klai_logo_on_white_cropped.png">    </p:cNvPr>
          <p:cNvPicPr>
            <a:picLocks noChangeAspect="1"/>
          </p:cNvPicPr>
          <p:nvPr/>
        </p:nvPicPr>
        <p:blipFill>
          <a:blip r:embed="rId1"/>
          <a:stretch>
            <a:fillRect/>
          </a:stretch>
        </p:blipFill>
        <p:spPr>
          <a:xfrm>
            <a:off x="640080" y="6419088"/>
            <a:ext cx="772668" cy="246888"/>
          </a:xfrm>
          <a:prstGeom prst="rect">
            <a:avLst/>
          </a:prstGeom>
        </p:spPr>
      </p:pic>
      <p:sp>
        <p:nvSpPr>
          <p:cNvPr id="3" name="Text 0"/>
          <p:cNvSpPr/>
          <p:nvPr/>
        </p:nvSpPr>
        <p:spPr>
          <a:xfrm>
            <a:off x="1641348" y="6400800"/>
            <a:ext cx="8229600" cy="274320"/>
          </a:xfrm>
          <a:prstGeom prst="rect">
            <a:avLst/>
          </a:prstGeom>
          <a:noFill/>
          <a:ln/>
        </p:spPr>
        <p:txBody>
          <a:bodyPr wrap="square" lIns="0" tIns="0" rIns="0" bIns="0" rtlCol="0" anchor="ctr"/>
          <a:lstStyle/>
          <a:p>
            <a:pPr indent="0" marL="0">
              <a:buNone/>
            </a:pPr>
            <a:r>
              <a:rPr lang="en-US" sz="1200" dirty="0">
                <a:solidFill>
                  <a:srgbClr val="666666"/>
                </a:solidFill>
                <a:latin typeface="Lato" pitchFamily="34" charset="0"/>
                <a:ea typeface="Lato" pitchFamily="34" charset="-122"/>
                <a:cs typeface="Lato" pitchFamily="34" charset="-120"/>
              </a:rPr>
              <a:t>ML05  |  Lists, dictionaries and loops</a:t>
            </a:r>
            <a:endParaRPr lang="en-US" sz="1200" dirty="0"/>
          </a:p>
        </p:txBody>
      </p:sp>
      <p:sp>
        <p:nvSpPr>
          <p:cNvPr id="4" name="Text 1"/>
          <p:cNvSpPr/>
          <p:nvPr>
            <p:ph idx="102" type="title" hasCustomPrompt="1"/>
          </p:nvPr>
        </p:nvSpPr>
        <p:spPr>
          <a:xfrm>
            <a:off x="640080" y="384048"/>
            <a:ext cx="10881360" cy="1051560"/>
          </a:xfrm>
          <a:prstGeom prst="rect">
            <a:avLst/>
          </a:prstGeom>
          <a:noFill/>
          <a:ln/>
        </p:spPr>
        <p:txBody>
          <a:bodyPr wrap="square" rtlCol="0"/>
          <a:lstStyle>
            <a:lvl1pPr algn="l" indent="0" marL="0">
              <a:buNone/>
              <a:defRPr lang="en-US" b="1" dirty="0">
                <a:solidFill>
                  <a:srgbClr val="111111"/>
                </a:solidFill>
                <a:latin typeface="Lato" pitchFamily="34" charset="0"/>
                <a:ea typeface="Lato" pitchFamily="34" charset="-122"/>
                <a:cs typeface="Lato" pitchFamily="34" charset="-120"/>
              </a:defRPr>
            </a:lvl1pPr>
          </a:lstStyle>
          <a:p>
            <a:pPr algn="l" indent="0" marL="0">
              <a:buNone/>
            </a:pPr>
            <a:endParaRPr lang="en-US"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KLAI_DARK">
    <p:bg>
      <p:bgPr>
        <a:solidFill>
          <a:srgbClr val="000000"/>
        </a:solidFill>
      </p:bgPr>
    </p:bg>
    <p:spTree>
      <p:nvGrpSpPr>
        <p:cNvPr id="1" name=""/>
        <p:cNvGrpSpPr/>
        <p:nvPr/>
      </p:nvGrpSpPr>
      <p:grpSpPr>
        <a:xfrm>
          <a:off x="0" y="0"/>
          <a:ext cx="0" cy="0"/>
          <a:chOff x="0" y="0"/>
          <a:chExt cx="0" cy="0"/>
        </a:xfrm>
      </p:grpSpPr>
      <p:pic>
        <p:nvPicPr>
          <p:cNvPr id="2" name="Image 0" descr="/sessions/focused-youthful-einstein/mnt/IUEA-Teaching-Resources/Schools_ML_Track/camp_2026/brand/logos/klai_logo_on_black_cropped.png">    </p:cNvPr>
          <p:cNvPicPr>
            <a:picLocks noChangeAspect="1"/>
          </p:cNvPicPr>
          <p:nvPr/>
        </p:nvPicPr>
        <p:blipFill>
          <a:blip r:embed="rId1"/>
          <a:stretch>
            <a:fillRect/>
          </a:stretch>
        </p:blipFill>
        <p:spPr>
          <a:xfrm>
            <a:off x="640080" y="548640"/>
            <a:ext cx="1774850" cy="566928"/>
          </a:xfrm>
          <a:prstGeom prst="rect">
            <a:avLst/>
          </a:prstGeom>
        </p:spPr>
      </p:pic>
      <p:sp>
        <p:nvSpPr>
          <p:cNvPr id="3" name="Text 0"/>
          <p:cNvSpPr/>
          <p:nvPr>
            <p:ph idx="101" type="title" hasCustomPrompt="1"/>
          </p:nvPr>
        </p:nvSpPr>
        <p:spPr>
          <a:xfrm>
            <a:off x="640080" y="2103120"/>
            <a:ext cx="10607040" cy="2286000"/>
          </a:xfrm>
          <a:prstGeom prst="rect">
            <a:avLst/>
          </a:prstGeom>
          <a:noFill/>
          <a:ln/>
        </p:spPr>
        <p:txBody>
          <a:bodyPr wrap="square" rtlCol="0"/>
          <a:lstStyle>
            <a:lvl1pPr algn="l" indent="0" marL="0">
              <a:buNone/>
              <a:defRPr lang="en-US" b="1" dirty="0">
                <a:solidFill>
                  <a:srgbClr val="FFFFFF"/>
                </a:solidFill>
                <a:latin typeface="Lato" pitchFamily="34" charset="0"/>
                <a:ea typeface="Lato" pitchFamily="34" charset="-122"/>
                <a:cs typeface="Lato" pitchFamily="34" charset="-120"/>
              </a:defRPr>
            </a:lvl1pPr>
          </a:lstStyle>
          <a:p>
            <a:pPr algn="l" indent="0" marL="0">
              <a:buNone/>
            </a:pP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2.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2.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2.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1.png"/><Relationship Id="rId3" Type="http://schemas.openxmlformats.org/officeDocument/2006/relationships/slideLayout" Target="../slideLayouts/slideLayout2.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1" type="title" hasCustomPrompt="1"/>
          </p:nvPr>
        </p:nvSpPr>
        <p:spPr>
          <a:xfrm>
            <a:off x="640080" y="2103120"/>
            <a:ext cx="10607040" cy="2286000"/>
          </a:xfrm>
          <a:prstGeom prst="rect">
            <a:avLst/>
          </a:prstGeom>
          <a:noFill/>
          <a:ln/>
        </p:spPr>
        <p:txBody>
          <a:bodyPr wrap="square" lIns="0" tIns="0" rIns="0" bIns="0" rtlCol="0" anchor="t"/>
          <a:lstStyle/>
          <a:p>
            <a:pPr algn="l" indent="0" marL="0">
              <a:buNone/>
            </a:pPr>
            <a:r>
              <a:rPr lang="en-US" sz="5600" b="1" dirty="0">
                <a:solidFill>
                  <a:srgbClr val="FFFFFF"/>
                </a:solidFill>
                <a:latin typeface="Lato" pitchFamily="34" charset="0"/>
                <a:ea typeface="Lato" pitchFamily="34" charset="-122"/>
                <a:cs typeface="Lato" pitchFamily="34" charset="-120"/>
              </a:rPr>
              <a:t>Lists, dictionaries and loops</a:t>
            </a:r>
            <a:endParaRPr lang="en-US" sz="5600" dirty="0"/>
          </a:p>
        </p:txBody>
      </p:sp>
      <p:sp>
        <p:nvSpPr>
          <p:cNvPr id="3" name="Text 1"/>
          <p:cNvSpPr txBox="1"/>
          <p:nvPr/>
        </p:nvSpPr>
        <p:spPr>
          <a:xfrm>
            <a:off x="640080" y="3388360"/>
            <a:ext cx="10241280" cy="1188720"/>
          </a:xfrm>
          <a:prstGeom prst="rect">
            <a:avLst/>
          </a:prstGeom>
          <a:noFill/>
          <a:ln/>
        </p:spPr>
        <p:txBody>
          <a:bodyPr wrap="square" lIns="0" tIns="0" rIns="0" bIns="0" rtlCol="0" anchor="t"/>
          <a:lstStyle/>
          <a:p>
            <a:pPr algn="l" indent="0" marL="0">
              <a:lnSpc>
                <a:spcPts val="3600"/>
              </a:lnSpc>
              <a:buNone/>
            </a:pPr>
            <a:r>
              <a:rPr lang="en-US" sz="3000" i="1" dirty="0">
                <a:solidFill>
                  <a:srgbClr val="E0BE36"/>
                </a:solidFill>
                <a:latin typeface="Lato" pitchFamily="34" charset="0"/>
                <a:ea typeface="Lato" pitchFamily="34" charset="-122"/>
                <a:cs typeface="Lato" pitchFamily="34" charset="-120"/>
              </a:rPr>
              <a:t>How do I repeat one calculation for every item in a list?</a:t>
            </a:r>
            <a:endParaRPr lang="en-US" sz="3000" dirty="0"/>
          </a:p>
        </p:txBody>
      </p:sp>
      <p:sp>
        <p:nvSpPr>
          <p:cNvPr id="4" name="Text 2"/>
          <p:cNvSpPr txBox="1"/>
          <p:nvPr/>
        </p:nvSpPr>
        <p:spPr>
          <a:xfrm>
            <a:off x="640080" y="5989320"/>
            <a:ext cx="10789920" cy="457200"/>
          </a:xfrm>
          <a:prstGeom prst="rect">
            <a:avLst/>
          </a:prstGeom>
          <a:noFill/>
          <a:ln/>
        </p:spPr>
        <p:txBody>
          <a:bodyPr wrap="square" lIns="0" tIns="0" rIns="0" bIns="0" rtlCol="0" anchor="t"/>
          <a:lstStyle/>
          <a:p>
            <a:pPr algn="l" indent="0" marL="0">
              <a:lnSpc>
                <a:spcPts val="2320"/>
              </a:lnSpc>
              <a:buNone/>
            </a:pPr>
            <a:r>
              <a:rPr lang="en-US" sz="1600" dirty="0">
                <a:solidFill>
                  <a:srgbClr val="B5B5B5"/>
                </a:solidFill>
                <a:latin typeface="Lato" pitchFamily="34" charset="0"/>
                <a:ea typeface="Lato" pitchFamily="34" charset="-122"/>
                <a:cs typeface="Lato" pitchFamily="34" charset="-120"/>
              </a:rPr>
              <a:t>Machine Learning  |  Session 5 of 24  |  Week 2, Python you need</a:t>
            </a:r>
            <a:endParaRPr lang="en-US" sz="1600" dirty="0"/>
          </a:p>
          <a:p>
            <a:pPr algn="l" indent="0" marL="0">
              <a:lnSpc>
                <a:spcPts val="2320"/>
              </a:lnSpc>
              <a:buNone/>
            </a:pPr>
            <a:r>
              <a:rPr lang="en-US" sz="1600" dirty="0">
                <a:solidFill>
                  <a:srgbClr val="B5B5B5"/>
                </a:solidFill>
                <a:latin typeface="Lato" pitchFamily="34" charset="0"/>
                <a:ea typeface="Lato" pitchFamily="34" charset="-122"/>
                <a:cs typeface="Lato" pitchFamily="34" charset="-120"/>
              </a:rPr>
              <a:t>Holiday Data and AI Camp  |  The National ICT Innovation Hub, Nakawa</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600" b="1" dirty="0">
                <a:solidFill>
                  <a:srgbClr val="111111"/>
                </a:solidFill>
                <a:latin typeface="Lato" pitchFamily="34" charset="0"/>
                <a:ea typeface="Lato" pitchFamily="34" charset="-122"/>
                <a:cs typeface="Lato" pitchFamily="34" charset="-120"/>
              </a:rPr>
              <a:t>How do I repeat one calculation</a:t>
            </a:r>
            <a:endParaRPr lang="en-US" sz="3600" dirty="0"/>
          </a:p>
          <a:p>
            <a:pPr algn="l" indent="0" marL="0">
              <a:buNone/>
            </a:pPr>
            <a:r>
              <a:rPr lang="en-US" sz="3600" b="1" dirty="0">
                <a:solidFill>
                  <a:srgbClr val="111111"/>
                </a:solidFill>
                <a:latin typeface="Lato" pitchFamily="34" charset="0"/>
                <a:ea typeface="Lato" pitchFamily="34" charset="-122"/>
                <a:cs typeface="Lato" pitchFamily="34" charset="-120"/>
              </a:rPr>
              <a:t>for every item in a list?</a:t>
            </a:r>
            <a:endParaRPr lang="en-US" sz="3600" dirty="0"/>
          </a:p>
        </p:txBody>
      </p:sp>
      <p:pic>
        <p:nvPicPr>
          <p:cNvPr id="3" name="Image 0" descr="Three prices go one at a time through a doubling machine">    </p:cNvPr>
          <p:cNvPicPr>
            <a:picLocks noChangeAspect="1"/>
          </p:cNvPicPr>
          <p:nvPr/>
        </p:nvPicPr>
        <p:blipFill>
          <a:blip r:embed="rId1"/>
          <a:stretch>
            <a:fillRect/>
          </a:stretch>
        </p:blipFill>
        <p:spPr>
          <a:xfrm>
            <a:off x="640080" y="1691640"/>
            <a:ext cx="10881360" cy="434340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Three hours, mostly doing</a:t>
            </a:r>
            <a:endParaRPr lang="en-US" sz="3800" dirty="0"/>
          </a:p>
        </p:txBody>
      </p:sp>
      <p:pic>
        <p:nvPicPr>
          <p:cNvPr id="3" name="Image 0" descr="The plan for the session: start time, minutes and what we do">    </p:cNvPr>
          <p:cNvPicPr>
            <a:picLocks noChangeAspect="1"/>
          </p:cNvPicPr>
          <p:nvPr/>
        </p:nvPicPr>
        <p:blipFill>
          <a:blip r:embed="rId1"/>
          <a:stretch>
            <a:fillRect/>
          </a:stretch>
        </p:blipFill>
        <p:spPr>
          <a:xfrm>
            <a:off x="640080" y="1600200"/>
            <a:ext cx="10881360" cy="4133088"/>
          </a:xfrm>
          <a:prstGeom prst="rect">
            <a:avLst/>
          </a:prstGeom>
        </p:spPr>
      </p:pic>
      <p:sp>
        <p:nvSpPr>
          <p:cNvPr id="4" name="Text 1"/>
          <p:cNvSpPr txBox="1"/>
          <p:nvPr/>
        </p:nvSpPr>
        <p:spPr>
          <a:xfrm>
            <a:off x="640080" y="5852160"/>
            <a:ext cx="10881360" cy="457200"/>
          </a:xfrm>
          <a:prstGeom prst="rect">
            <a:avLst/>
          </a:prstGeom>
          <a:noFill/>
          <a:ln/>
        </p:spPr>
        <p:txBody>
          <a:bodyPr wrap="square" lIns="0" tIns="0" rIns="0" bIns="0" rtlCol="0" anchor="t"/>
          <a:lstStyle/>
          <a:p>
            <a:pPr algn="l" indent="0" marL="0">
              <a:lnSpc>
                <a:spcPts val="2640"/>
              </a:lnSpc>
              <a:buNone/>
            </a:pPr>
            <a:r>
              <a:rPr lang="en-US" sz="2200" dirty="0">
                <a:solidFill>
                  <a:srgbClr val="333333"/>
                </a:solidFill>
                <a:latin typeface="Lato" pitchFamily="34" charset="0"/>
                <a:ea typeface="Lato" pitchFamily="34" charset="-122"/>
                <a:cs typeface="Lato" pitchFamily="34" charset="-120"/>
              </a:rPr>
              <a:t>Most of our time is spent doing, in small steps, with a guess before every run.</a:t>
            </a:r>
            <a:endParaRPr lang="en-US" sz="22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Words for today (1 of 2)</a:t>
            </a:r>
            <a:endParaRPr lang="en-US" sz="3800" dirty="0"/>
          </a:p>
        </p:txBody>
      </p:sp>
      <p:pic>
        <p:nvPicPr>
          <p:cNvPr id="3" name="Image 0" descr="list">    </p:cNvPr>
          <p:cNvPicPr>
            <a:picLocks noChangeAspect="1"/>
          </p:cNvPicPr>
          <p:nvPr/>
        </p:nvPicPr>
        <p:blipFill>
          <a:blip r:embed="rId1"/>
          <a:stretch>
            <a:fillRect/>
          </a:stretch>
        </p:blipFill>
        <p:spPr>
          <a:xfrm>
            <a:off x="640080" y="1783080"/>
            <a:ext cx="1188720" cy="1188720"/>
          </a:xfrm>
          <a:prstGeom prst="rect">
            <a:avLst/>
          </a:prstGeom>
        </p:spPr>
      </p:pic>
      <p:sp>
        <p:nvSpPr>
          <p:cNvPr id="4" name="Text 1"/>
          <p:cNvSpPr txBox="1"/>
          <p:nvPr/>
        </p:nvSpPr>
        <p:spPr>
          <a:xfrm>
            <a:off x="2011680" y="1737360"/>
            <a:ext cx="2926080" cy="1298448"/>
          </a:xfrm>
          <a:prstGeom prst="rect">
            <a:avLst/>
          </a:prstGeom>
          <a:noFill/>
          <a:ln/>
        </p:spPr>
        <p:txBody>
          <a:bodyPr wrap="square" lIns="0" tIns="0" rIns="0" bIns="0" rtlCol="0" anchor="ctr"/>
          <a:lstStyle/>
          <a:p>
            <a:pPr algn="l" indent="0" marL="0">
              <a:lnSpc>
                <a:spcPts val="4080"/>
              </a:lnSpc>
              <a:buNone/>
            </a:pPr>
            <a:r>
              <a:rPr lang="en-US" sz="3400" b="1" dirty="0">
                <a:solidFill>
                  <a:srgbClr val="111111"/>
                </a:solidFill>
                <a:latin typeface="Lato" pitchFamily="34" charset="0"/>
                <a:ea typeface="Lato" pitchFamily="34" charset="-122"/>
                <a:cs typeface="Lato" pitchFamily="34" charset="-120"/>
              </a:rPr>
              <a:t>list</a:t>
            </a:r>
            <a:endParaRPr lang="en-US" sz="3400" dirty="0"/>
          </a:p>
        </p:txBody>
      </p:sp>
      <p:sp>
        <p:nvSpPr>
          <p:cNvPr id="5" name="Text 2"/>
          <p:cNvSpPr txBox="1"/>
          <p:nvPr/>
        </p:nvSpPr>
        <p:spPr>
          <a:xfrm>
            <a:off x="5120640" y="1783080"/>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Several values kept in order inside square brackets.</a:t>
            </a:r>
            <a:endParaRPr lang="en-US" sz="2200" dirty="0"/>
          </a:p>
        </p:txBody>
      </p:sp>
      <p:sp>
        <p:nvSpPr>
          <p:cNvPr id="6" name="Text 3"/>
          <p:cNvSpPr txBox="1"/>
          <p:nvPr/>
        </p:nvSpPr>
        <p:spPr>
          <a:xfrm>
            <a:off x="5120640" y="2545080"/>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A queue of customers.</a:t>
            </a:r>
            <a:endParaRPr lang="en-US" sz="1900" dirty="0"/>
          </a:p>
        </p:txBody>
      </p:sp>
      <p:sp>
        <p:nvSpPr>
          <p:cNvPr id="7" name="Shape 4"/>
          <p:cNvSpPr/>
          <p:nvPr/>
        </p:nvSpPr>
        <p:spPr>
          <a:xfrm>
            <a:off x="640080" y="3136392"/>
            <a:ext cx="10881360" cy="0"/>
          </a:xfrm>
          <a:prstGeom prst="line">
            <a:avLst/>
          </a:prstGeom>
          <a:noFill/>
          <a:ln w="12700">
            <a:solidFill>
              <a:srgbClr val="CFCFCF"/>
            </a:solidFill>
            <a:prstDash val="solid"/>
          </a:ln>
        </p:spPr>
      </p:sp>
      <p:pic>
        <p:nvPicPr>
          <p:cNvPr id="8" name="Image 1" descr="index">    </p:cNvPr>
          <p:cNvPicPr>
            <a:picLocks noChangeAspect="1"/>
          </p:cNvPicPr>
          <p:nvPr/>
        </p:nvPicPr>
        <p:blipFill>
          <a:blip r:embed="rId2"/>
          <a:stretch>
            <a:fillRect/>
          </a:stretch>
        </p:blipFill>
        <p:spPr>
          <a:xfrm>
            <a:off x="640080" y="3264408"/>
            <a:ext cx="1188720" cy="1188720"/>
          </a:xfrm>
          <a:prstGeom prst="rect">
            <a:avLst/>
          </a:prstGeom>
        </p:spPr>
      </p:pic>
      <p:sp>
        <p:nvSpPr>
          <p:cNvPr id="9" name="Text 5"/>
          <p:cNvSpPr txBox="1"/>
          <p:nvPr/>
        </p:nvSpPr>
        <p:spPr>
          <a:xfrm>
            <a:off x="2011680" y="3218688"/>
            <a:ext cx="2926080" cy="1298448"/>
          </a:xfrm>
          <a:prstGeom prst="rect">
            <a:avLst/>
          </a:prstGeom>
          <a:noFill/>
          <a:ln/>
        </p:spPr>
        <p:txBody>
          <a:bodyPr wrap="square" lIns="0" tIns="0" rIns="0" bIns="0" rtlCol="0" anchor="ctr"/>
          <a:lstStyle/>
          <a:p>
            <a:pPr algn="l" indent="0" marL="0">
              <a:lnSpc>
                <a:spcPts val="4080"/>
              </a:lnSpc>
              <a:buNone/>
            </a:pPr>
            <a:r>
              <a:rPr lang="en-US" sz="3400" b="1" dirty="0">
                <a:solidFill>
                  <a:srgbClr val="111111"/>
                </a:solidFill>
                <a:latin typeface="Lato" pitchFamily="34" charset="0"/>
                <a:ea typeface="Lato" pitchFamily="34" charset="-122"/>
                <a:cs typeface="Lato" pitchFamily="34" charset="-120"/>
              </a:rPr>
              <a:t>index</a:t>
            </a:r>
            <a:endParaRPr lang="en-US" sz="3400" dirty="0"/>
          </a:p>
        </p:txBody>
      </p:sp>
      <p:sp>
        <p:nvSpPr>
          <p:cNvPr id="10" name="Text 6"/>
          <p:cNvSpPr txBox="1"/>
          <p:nvPr/>
        </p:nvSpPr>
        <p:spPr>
          <a:xfrm>
            <a:off x="5120640" y="3264408"/>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The position of an item in a list, counting from 0.</a:t>
            </a:r>
            <a:endParaRPr lang="en-US" sz="2200" dirty="0"/>
          </a:p>
        </p:txBody>
      </p:sp>
      <p:sp>
        <p:nvSpPr>
          <p:cNvPr id="11" name="Text 7"/>
          <p:cNvSpPr txBox="1"/>
          <p:nvPr/>
        </p:nvSpPr>
        <p:spPr>
          <a:xfrm>
            <a:off x="5120640" y="3691128"/>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The house number of a plot.</a:t>
            </a:r>
            <a:endParaRPr lang="en-US" sz="1900" dirty="0"/>
          </a:p>
        </p:txBody>
      </p:sp>
      <p:sp>
        <p:nvSpPr>
          <p:cNvPr id="12" name="Shape 8"/>
          <p:cNvSpPr/>
          <p:nvPr/>
        </p:nvSpPr>
        <p:spPr>
          <a:xfrm>
            <a:off x="640080" y="4617720"/>
            <a:ext cx="10881360" cy="0"/>
          </a:xfrm>
          <a:prstGeom prst="line">
            <a:avLst/>
          </a:prstGeom>
          <a:noFill/>
          <a:ln w="12700">
            <a:solidFill>
              <a:srgbClr val="CFCFCF"/>
            </a:solidFill>
            <a:prstDash val="solid"/>
          </a:ln>
        </p:spPr>
      </p:sp>
      <p:pic>
        <p:nvPicPr>
          <p:cNvPr id="13" name="Image 2" descr="dictionary">    </p:cNvPr>
          <p:cNvPicPr>
            <a:picLocks noChangeAspect="1"/>
          </p:cNvPicPr>
          <p:nvPr/>
        </p:nvPicPr>
        <p:blipFill>
          <a:blip r:embed="rId3"/>
          <a:stretch>
            <a:fillRect/>
          </a:stretch>
        </p:blipFill>
        <p:spPr>
          <a:xfrm>
            <a:off x="640080" y="4745736"/>
            <a:ext cx="1188720" cy="1188720"/>
          </a:xfrm>
          <a:prstGeom prst="rect">
            <a:avLst/>
          </a:prstGeom>
        </p:spPr>
      </p:pic>
      <p:sp>
        <p:nvSpPr>
          <p:cNvPr id="14" name="Text 9"/>
          <p:cNvSpPr txBox="1"/>
          <p:nvPr/>
        </p:nvSpPr>
        <p:spPr>
          <a:xfrm>
            <a:off x="2011680" y="4700016"/>
            <a:ext cx="2926080" cy="1298448"/>
          </a:xfrm>
          <a:prstGeom prst="rect">
            <a:avLst/>
          </a:prstGeom>
          <a:noFill/>
          <a:ln/>
        </p:spPr>
        <p:txBody>
          <a:bodyPr wrap="square" lIns="0" tIns="0" rIns="0" bIns="0" rtlCol="0" anchor="ctr"/>
          <a:lstStyle/>
          <a:p>
            <a:pPr algn="l" indent="0" marL="0">
              <a:lnSpc>
                <a:spcPts val="4080"/>
              </a:lnSpc>
              <a:buNone/>
            </a:pPr>
            <a:r>
              <a:rPr lang="en-US" sz="3400" b="1" dirty="0">
                <a:solidFill>
                  <a:srgbClr val="111111"/>
                </a:solidFill>
                <a:latin typeface="Lato" pitchFamily="34" charset="0"/>
                <a:ea typeface="Lato" pitchFamily="34" charset="-122"/>
                <a:cs typeface="Lato" pitchFamily="34" charset="-120"/>
              </a:rPr>
              <a:t>dictionary</a:t>
            </a:r>
            <a:endParaRPr lang="en-US" sz="3400" dirty="0"/>
          </a:p>
        </p:txBody>
      </p:sp>
      <p:sp>
        <p:nvSpPr>
          <p:cNvPr id="15" name="Text 10"/>
          <p:cNvSpPr txBox="1"/>
          <p:nvPr/>
        </p:nvSpPr>
        <p:spPr>
          <a:xfrm>
            <a:off x="5120640" y="4745736"/>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Pairs of a name and a value inside curly brackets.</a:t>
            </a:r>
            <a:endParaRPr lang="en-US" sz="2200" dirty="0"/>
          </a:p>
        </p:txBody>
      </p:sp>
      <p:sp>
        <p:nvSpPr>
          <p:cNvPr id="16" name="Text 11"/>
          <p:cNvSpPr txBox="1"/>
          <p:nvPr/>
        </p:nvSpPr>
        <p:spPr>
          <a:xfrm>
            <a:off x="5120640" y="5172456"/>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A phone book of names and numbers.</a:t>
            </a:r>
            <a:endParaRPr lang="en-US" sz="19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Words for today (2 of 2)</a:t>
            </a:r>
            <a:endParaRPr lang="en-US" sz="3800" dirty="0"/>
          </a:p>
        </p:txBody>
      </p:sp>
      <p:pic>
        <p:nvPicPr>
          <p:cNvPr id="3" name="Image 0" descr="key">    </p:cNvPr>
          <p:cNvPicPr>
            <a:picLocks noChangeAspect="1"/>
          </p:cNvPicPr>
          <p:nvPr/>
        </p:nvPicPr>
        <p:blipFill>
          <a:blip r:embed="rId1"/>
          <a:stretch>
            <a:fillRect/>
          </a:stretch>
        </p:blipFill>
        <p:spPr>
          <a:xfrm>
            <a:off x="640080" y="1783080"/>
            <a:ext cx="1188720" cy="1188720"/>
          </a:xfrm>
          <a:prstGeom prst="rect">
            <a:avLst/>
          </a:prstGeom>
        </p:spPr>
      </p:pic>
      <p:sp>
        <p:nvSpPr>
          <p:cNvPr id="4" name="Text 1"/>
          <p:cNvSpPr txBox="1"/>
          <p:nvPr/>
        </p:nvSpPr>
        <p:spPr>
          <a:xfrm>
            <a:off x="2011680" y="1737360"/>
            <a:ext cx="2926080" cy="1298448"/>
          </a:xfrm>
          <a:prstGeom prst="rect">
            <a:avLst/>
          </a:prstGeom>
          <a:noFill/>
          <a:ln/>
        </p:spPr>
        <p:txBody>
          <a:bodyPr wrap="square" lIns="0" tIns="0" rIns="0" bIns="0" rtlCol="0" anchor="ctr"/>
          <a:lstStyle/>
          <a:p>
            <a:pPr algn="l" indent="0" marL="0">
              <a:lnSpc>
                <a:spcPts val="4080"/>
              </a:lnSpc>
              <a:buNone/>
            </a:pPr>
            <a:r>
              <a:rPr lang="en-US" sz="3400" b="1" dirty="0">
                <a:solidFill>
                  <a:srgbClr val="111111"/>
                </a:solidFill>
                <a:latin typeface="Lato" pitchFamily="34" charset="0"/>
                <a:ea typeface="Lato" pitchFamily="34" charset="-122"/>
                <a:cs typeface="Lato" pitchFamily="34" charset="-120"/>
              </a:rPr>
              <a:t>key</a:t>
            </a:r>
            <a:endParaRPr lang="en-US" sz="3400" dirty="0"/>
          </a:p>
        </p:txBody>
      </p:sp>
      <p:sp>
        <p:nvSpPr>
          <p:cNvPr id="5" name="Text 2"/>
          <p:cNvSpPr txBox="1"/>
          <p:nvPr/>
        </p:nvSpPr>
        <p:spPr>
          <a:xfrm>
            <a:off x="5120640" y="1783080"/>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The name used to look up a value in a dictionary.</a:t>
            </a:r>
            <a:endParaRPr lang="en-US" sz="2200" dirty="0"/>
          </a:p>
        </p:txBody>
      </p:sp>
      <p:sp>
        <p:nvSpPr>
          <p:cNvPr id="6" name="Text 3"/>
          <p:cNvSpPr txBox="1"/>
          <p:nvPr/>
        </p:nvSpPr>
        <p:spPr>
          <a:xfrm>
            <a:off x="5120640" y="2209800"/>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The name you look up in a phone book.</a:t>
            </a:r>
            <a:endParaRPr lang="en-US" sz="1900" dirty="0"/>
          </a:p>
        </p:txBody>
      </p:sp>
      <p:sp>
        <p:nvSpPr>
          <p:cNvPr id="7" name="Shape 4"/>
          <p:cNvSpPr/>
          <p:nvPr/>
        </p:nvSpPr>
        <p:spPr>
          <a:xfrm>
            <a:off x="640080" y="3136392"/>
            <a:ext cx="10881360" cy="0"/>
          </a:xfrm>
          <a:prstGeom prst="line">
            <a:avLst/>
          </a:prstGeom>
          <a:noFill/>
          <a:ln w="12700">
            <a:solidFill>
              <a:srgbClr val="CFCFCF"/>
            </a:solidFill>
            <a:prstDash val="solid"/>
          </a:ln>
        </p:spPr>
      </p:sp>
      <p:pic>
        <p:nvPicPr>
          <p:cNvPr id="8" name="Image 1" descr="loop">    </p:cNvPr>
          <p:cNvPicPr>
            <a:picLocks noChangeAspect="1"/>
          </p:cNvPicPr>
          <p:nvPr/>
        </p:nvPicPr>
        <p:blipFill>
          <a:blip r:embed="rId2"/>
          <a:stretch>
            <a:fillRect/>
          </a:stretch>
        </p:blipFill>
        <p:spPr>
          <a:xfrm>
            <a:off x="640080" y="3264408"/>
            <a:ext cx="1188720" cy="1188720"/>
          </a:xfrm>
          <a:prstGeom prst="rect">
            <a:avLst/>
          </a:prstGeom>
        </p:spPr>
      </p:pic>
      <p:sp>
        <p:nvSpPr>
          <p:cNvPr id="9" name="Text 5"/>
          <p:cNvSpPr txBox="1"/>
          <p:nvPr/>
        </p:nvSpPr>
        <p:spPr>
          <a:xfrm>
            <a:off x="2011680" y="3218688"/>
            <a:ext cx="2926080" cy="1298448"/>
          </a:xfrm>
          <a:prstGeom prst="rect">
            <a:avLst/>
          </a:prstGeom>
          <a:noFill/>
          <a:ln/>
        </p:spPr>
        <p:txBody>
          <a:bodyPr wrap="square" lIns="0" tIns="0" rIns="0" bIns="0" rtlCol="0" anchor="ctr"/>
          <a:lstStyle/>
          <a:p>
            <a:pPr algn="l" indent="0" marL="0">
              <a:lnSpc>
                <a:spcPts val="4080"/>
              </a:lnSpc>
              <a:buNone/>
            </a:pPr>
            <a:r>
              <a:rPr lang="en-US" sz="3400" b="1" dirty="0">
                <a:solidFill>
                  <a:srgbClr val="111111"/>
                </a:solidFill>
                <a:latin typeface="Lato" pitchFamily="34" charset="0"/>
                <a:ea typeface="Lato" pitchFamily="34" charset="-122"/>
                <a:cs typeface="Lato" pitchFamily="34" charset="-120"/>
              </a:rPr>
              <a:t>loop</a:t>
            </a:r>
            <a:endParaRPr lang="en-US" sz="3400" dirty="0"/>
          </a:p>
        </p:txBody>
      </p:sp>
      <p:sp>
        <p:nvSpPr>
          <p:cNvPr id="10" name="Text 6"/>
          <p:cNvSpPr txBox="1"/>
          <p:nvPr/>
        </p:nvSpPr>
        <p:spPr>
          <a:xfrm>
            <a:off x="5120640" y="3264408"/>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A for statement that repeats indented lines for every item.</a:t>
            </a:r>
            <a:endParaRPr lang="en-US" sz="2200" dirty="0"/>
          </a:p>
        </p:txBody>
      </p:sp>
      <p:sp>
        <p:nvSpPr>
          <p:cNvPr id="11" name="Text 7"/>
          <p:cNvSpPr txBox="1"/>
          <p:nvPr/>
        </p:nvSpPr>
        <p:spPr>
          <a:xfrm>
            <a:off x="5120640" y="4026408"/>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Giving each pupil in a row a book.</a:t>
            </a:r>
            <a:endParaRPr lang="en-US" sz="1900" dirty="0"/>
          </a:p>
        </p:txBody>
      </p:sp>
      <p:sp>
        <p:nvSpPr>
          <p:cNvPr id="12" name="Shape 8"/>
          <p:cNvSpPr/>
          <p:nvPr/>
        </p:nvSpPr>
        <p:spPr>
          <a:xfrm>
            <a:off x="640080" y="4617720"/>
            <a:ext cx="10881360" cy="0"/>
          </a:xfrm>
          <a:prstGeom prst="line">
            <a:avLst/>
          </a:prstGeom>
          <a:noFill/>
          <a:ln w="12700">
            <a:solidFill>
              <a:srgbClr val="CFCFCF"/>
            </a:solidFill>
            <a:prstDash val="solid"/>
          </a:ln>
        </p:spPr>
      </p:sp>
      <p:pic>
        <p:nvPicPr>
          <p:cNvPr id="13" name="Image 2" descr="item">    </p:cNvPr>
          <p:cNvPicPr>
            <a:picLocks noChangeAspect="1"/>
          </p:cNvPicPr>
          <p:nvPr/>
        </p:nvPicPr>
        <p:blipFill>
          <a:blip r:embed="rId3"/>
          <a:stretch>
            <a:fillRect/>
          </a:stretch>
        </p:blipFill>
        <p:spPr>
          <a:xfrm>
            <a:off x="640080" y="4745736"/>
            <a:ext cx="1188720" cy="1188720"/>
          </a:xfrm>
          <a:prstGeom prst="rect">
            <a:avLst/>
          </a:prstGeom>
        </p:spPr>
      </p:pic>
      <p:sp>
        <p:nvSpPr>
          <p:cNvPr id="14" name="Text 9"/>
          <p:cNvSpPr txBox="1"/>
          <p:nvPr/>
        </p:nvSpPr>
        <p:spPr>
          <a:xfrm>
            <a:off x="2011680" y="4700016"/>
            <a:ext cx="2926080" cy="1298448"/>
          </a:xfrm>
          <a:prstGeom prst="rect">
            <a:avLst/>
          </a:prstGeom>
          <a:noFill/>
          <a:ln/>
        </p:spPr>
        <p:txBody>
          <a:bodyPr wrap="square" lIns="0" tIns="0" rIns="0" bIns="0" rtlCol="0" anchor="ctr"/>
          <a:lstStyle/>
          <a:p>
            <a:pPr algn="l" indent="0" marL="0">
              <a:lnSpc>
                <a:spcPts val="4080"/>
              </a:lnSpc>
              <a:buNone/>
            </a:pPr>
            <a:r>
              <a:rPr lang="en-US" sz="3400" b="1" dirty="0">
                <a:solidFill>
                  <a:srgbClr val="111111"/>
                </a:solidFill>
                <a:latin typeface="Lato" pitchFamily="34" charset="0"/>
                <a:ea typeface="Lato" pitchFamily="34" charset="-122"/>
                <a:cs typeface="Lato" pitchFamily="34" charset="-120"/>
              </a:rPr>
              <a:t>item</a:t>
            </a:r>
            <a:endParaRPr lang="en-US" sz="3400" dirty="0"/>
          </a:p>
        </p:txBody>
      </p:sp>
      <p:sp>
        <p:nvSpPr>
          <p:cNvPr id="15" name="Text 10"/>
          <p:cNvSpPr txBox="1"/>
          <p:nvPr/>
        </p:nvSpPr>
        <p:spPr>
          <a:xfrm>
            <a:off x="5120640" y="4745736"/>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One value taken from a list during a loop.</a:t>
            </a:r>
            <a:endParaRPr lang="en-US" sz="2200" dirty="0"/>
          </a:p>
        </p:txBody>
      </p:sp>
      <p:sp>
        <p:nvSpPr>
          <p:cNvPr id="16" name="Text 11"/>
          <p:cNvSpPr txBox="1"/>
          <p:nvPr/>
        </p:nvSpPr>
        <p:spPr>
          <a:xfrm>
            <a:off x="5120640" y="5172456"/>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The pupil currently getting a book.</a:t>
            </a:r>
            <a:endParaRPr lang="en-US" sz="19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A list numbers its seats from zero</a:t>
            </a:r>
            <a:endParaRPr lang="en-US" sz="3800" dirty="0"/>
          </a:p>
        </p:txBody>
      </p:sp>
      <p:pic>
        <p:nvPicPr>
          <p:cNvPr id="3" name="Image 0" descr="A list numbers its seats from zero">    </p:cNvPr>
          <p:cNvPicPr>
            <a:picLocks noChangeAspect="1"/>
          </p:cNvPicPr>
          <p:nvPr/>
        </p:nvPicPr>
        <p:blipFill>
          <a:blip r:embed="rId1"/>
          <a:stretch>
            <a:fillRect/>
          </a:stretch>
        </p:blipFill>
        <p:spPr>
          <a:xfrm>
            <a:off x="640080" y="1600200"/>
            <a:ext cx="7040880" cy="4526280"/>
          </a:xfrm>
          <a:prstGeom prst="rect">
            <a:avLst/>
          </a:prstGeom>
        </p:spPr>
      </p:pic>
      <p:sp>
        <p:nvSpPr>
          <p:cNvPr id="4" name="Text 1"/>
          <p:cNvSpPr txBox="1"/>
          <p:nvPr/>
        </p:nvSpPr>
        <p:spPr>
          <a:xfrm>
            <a:off x="7955280" y="1783080"/>
            <a:ext cx="3566160" cy="4297680"/>
          </a:xfrm>
          <a:prstGeom prst="rect">
            <a:avLst/>
          </a:prstGeom>
          <a:noFill/>
          <a:ln/>
        </p:spPr>
        <p:txBody>
          <a:bodyPr wrap="square" lIns="0" tIns="0" rIns="0" bIns="0" rtlCol="0" anchor="t"/>
          <a:lstStyle/>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A list keeps values in order.</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The first seat is number 0.</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Square brackets pick one seat.</a:t>
            </a:r>
            <a:endParaRPr lang="en-US" sz="24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A dictionary finds a value by its key</a:t>
            </a:r>
            <a:endParaRPr lang="en-US" sz="3800" dirty="0"/>
          </a:p>
        </p:txBody>
      </p:sp>
      <p:pic>
        <p:nvPicPr>
          <p:cNvPr id="3" name="Image 0" descr="A dictionary finds a value by its key">    </p:cNvPr>
          <p:cNvPicPr>
            <a:picLocks noChangeAspect="1"/>
          </p:cNvPicPr>
          <p:nvPr/>
        </p:nvPicPr>
        <p:blipFill>
          <a:blip r:embed="rId1"/>
          <a:stretch>
            <a:fillRect/>
          </a:stretch>
        </p:blipFill>
        <p:spPr>
          <a:xfrm>
            <a:off x="640080" y="1600200"/>
            <a:ext cx="7040880" cy="4526280"/>
          </a:xfrm>
          <a:prstGeom prst="rect">
            <a:avLst/>
          </a:prstGeom>
        </p:spPr>
      </p:pic>
      <p:sp>
        <p:nvSpPr>
          <p:cNvPr id="4" name="Text 1"/>
          <p:cNvSpPr txBox="1"/>
          <p:nvPr/>
        </p:nvSpPr>
        <p:spPr>
          <a:xfrm>
            <a:off x="7955280" y="1783080"/>
            <a:ext cx="3566160" cy="4297680"/>
          </a:xfrm>
          <a:prstGeom prst="rect">
            <a:avLst/>
          </a:prstGeom>
          <a:noFill/>
          <a:ln/>
        </p:spPr>
        <p:txBody>
          <a:bodyPr wrap="square" lIns="0" tIns="0" rIns="0" bIns="0" rtlCol="0" anchor="t"/>
          <a:lstStyle/>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Each key has a value beside it.</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Ask for the key to get its value.</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A list uses seat numbers, a dictionary uses names.</a:t>
            </a:r>
            <a:endParaRPr lang="en-US" sz="24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Predict: Lists and dictionaries</a:t>
            </a:r>
            <a:endParaRPr lang="en-US" sz="3800" dirty="0"/>
          </a:p>
        </p:txBody>
      </p:sp>
      <p:sp>
        <p:nvSpPr>
          <p:cNvPr id="3" name="Shape 1"/>
          <p:cNvSpPr/>
          <p:nvPr/>
        </p:nvSpPr>
        <p:spPr>
          <a:xfrm>
            <a:off x="640080" y="1645920"/>
            <a:ext cx="6035040" cy="2288032"/>
          </a:xfrm>
          <a:prstGeom prst="roundRect">
            <a:avLst>
              <a:gd name="adj" fmla="val 3197"/>
            </a:avLst>
          </a:prstGeom>
          <a:solidFill>
            <a:srgbClr val="111111"/>
          </a:solidFill>
          <a:ln/>
        </p:spPr>
      </p:sp>
      <p:sp>
        <p:nvSpPr>
          <p:cNvPr id="4" name="Text 2"/>
          <p:cNvSpPr txBox="1"/>
          <p:nvPr/>
        </p:nvSpPr>
        <p:spPr>
          <a:xfrm>
            <a:off x="841248" y="1847088"/>
            <a:ext cx="5632704" cy="1885696"/>
          </a:xfrm>
          <a:prstGeom prst="rect">
            <a:avLst/>
          </a:prstGeom>
          <a:noFill/>
          <a:ln/>
        </p:spPr>
        <p:txBody>
          <a:bodyPr wrap="square" lIns="0" tIns="0" rIns="0" bIns="0" rtlCol="0" anchor="t"/>
          <a:lstStyle/>
          <a:p>
            <a:pPr algn="l" indent="0" marL="0">
              <a:lnSpc>
                <a:spcPts val="2080"/>
              </a:lnSpc>
              <a:buNone/>
            </a:pPr>
            <a:r>
              <a:rPr lang="en-US" sz="1600" dirty="0">
                <a:solidFill>
                  <a:srgbClr val="FFFFFF"/>
                </a:solidFill>
                <a:latin typeface="Courier New" pitchFamily="34" charset="0"/>
                <a:ea typeface="Courier New" pitchFamily="34" charset="-122"/>
                <a:cs typeface="Courier New" pitchFamily="34" charset="-120"/>
              </a:rPr>
              <a:t>prices = [1000, 2000, 3000]</a:t>
            </a:r>
            <a:endParaRPr lang="en-US" sz="1600" dirty="0"/>
          </a:p>
          <a:p>
            <a:pPr algn="l" indent="0" marL="0">
              <a:lnSpc>
                <a:spcPts val="2080"/>
              </a:lnSpc>
              <a:buNone/>
            </a:pPr>
            <a:r>
              <a:rPr lang="en-US" sz="1600" dirty="0">
                <a:solidFill>
                  <a:srgbClr val="FFFFFF"/>
                </a:solidFill>
                <a:latin typeface="Courier New" pitchFamily="34" charset="0"/>
                <a:ea typeface="Courier New" pitchFamily="34" charset="-122"/>
                <a:cs typeface="Courier New" pitchFamily="34" charset="-120"/>
              </a:rPr>
              <a:t>product = {</a:t>
            </a:r>
            <a:pPr algn="l" indent="0" marL="0">
              <a:lnSpc>
                <a:spcPts val="2080"/>
              </a:lnSpc>
              <a:buNone/>
            </a:pPr>
            <a:r>
              <a:rPr lang="en-US" sz="1600" dirty="0">
                <a:solidFill>
                  <a:srgbClr val="E0BE36"/>
                </a:solidFill>
                <a:latin typeface="Courier New" pitchFamily="34" charset="0"/>
                <a:ea typeface="Courier New" pitchFamily="34" charset="-122"/>
                <a:cs typeface="Courier New" pitchFamily="34" charset="-120"/>
              </a:rPr>
              <a:t>"name"</a:t>
            </a:r>
            <a:pPr algn="l" indent="0" marL="0">
              <a:lnSpc>
                <a:spcPts val="2080"/>
              </a:lnSpc>
              <a:buNone/>
            </a:pPr>
            <a:r>
              <a:rPr lang="en-US" sz="1600" dirty="0">
                <a:solidFill>
                  <a:srgbClr val="FFFFFF"/>
                </a:solidFill>
                <a:latin typeface="Courier New" pitchFamily="34" charset="0"/>
                <a:ea typeface="Courier New" pitchFamily="34" charset="-122"/>
                <a:cs typeface="Courier New" pitchFamily="34" charset="-120"/>
              </a:rPr>
              <a:t>: </a:t>
            </a:r>
            <a:pPr algn="l" indent="0" marL="0">
              <a:lnSpc>
                <a:spcPts val="2080"/>
              </a:lnSpc>
              <a:buNone/>
            </a:pPr>
            <a:r>
              <a:rPr lang="en-US" sz="1600" dirty="0">
                <a:solidFill>
                  <a:srgbClr val="E0BE36"/>
                </a:solidFill>
                <a:latin typeface="Courier New" pitchFamily="34" charset="0"/>
                <a:ea typeface="Courier New" pitchFamily="34" charset="-122"/>
                <a:cs typeface="Courier New" pitchFamily="34" charset="-120"/>
              </a:rPr>
              <a:t>"Juice"</a:t>
            </a:r>
            <a:pPr algn="l" indent="0" marL="0">
              <a:lnSpc>
                <a:spcPts val="2080"/>
              </a:lnSpc>
              <a:buNone/>
            </a:pPr>
            <a:r>
              <a:rPr lang="en-US" sz="1600" dirty="0">
                <a:solidFill>
                  <a:srgbClr val="FFFFFF"/>
                </a:solidFill>
                <a:latin typeface="Courier New" pitchFamily="34" charset="0"/>
                <a:ea typeface="Courier New" pitchFamily="34" charset="-122"/>
                <a:cs typeface="Courier New" pitchFamily="34" charset="-120"/>
              </a:rPr>
              <a:t>, </a:t>
            </a:r>
            <a:pPr algn="l" indent="0" marL="0">
              <a:lnSpc>
                <a:spcPts val="2080"/>
              </a:lnSpc>
              <a:buNone/>
            </a:pPr>
            <a:r>
              <a:rPr lang="en-US" sz="1600" dirty="0">
                <a:solidFill>
                  <a:srgbClr val="E0BE36"/>
                </a:solidFill>
                <a:latin typeface="Courier New" pitchFamily="34" charset="0"/>
                <a:ea typeface="Courier New" pitchFamily="34" charset="-122"/>
                <a:cs typeface="Courier New" pitchFamily="34" charset="-120"/>
              </a:rPr>
              <a:t>"price"</a:t>
            </a:r>
            <a:pPr algn="l" indent="0" marL="0">
              <a:lnSpc>
                <a:spcPts val="2080"/>
              </a:lnSpc>
              <a:buNone/>
            </a:pPr>
            <a:r>
              <a:rPr lang="en-US" sz="1600" dirty="0">
                <a:solidFill>
                  <a:srgbClr val="FFFFFF"/>
                </a:solidFill>
                <a:latin typeface="Courier New" pitchFamily="34" charset="0"/>
                <a:ea typeface="Courier New" pitchFamily="34" charset="-122"/>
                <a:cs typeface="Courier New" pitchFamily="34" charset="-120"/>
              </a:rPr>
              <a:t>: 2000}</a:t>
            </a:r>
            <a:endParaRPr lang="en-US" sz="1600" dirty="0"/>
          </a:p>
          <a:p>
            <a:pPr algn="l" indent="0" marL="0">
              <a:lnSpc>
                <a:spcPts val="2080"/>
              </a:lnSpc>
              <a:buNone/>
            </a:pPr>
            <a:r>
              <a:rPr lang="en-US" sz="1600" dirty="0">
                <a:solidFill>
                  <a:srgbClr val="FFFFFF"/>
                </a:solidFill>
                <a:latin typeface="Courier New" pitchFamily="34" charset="0"/>
                <a:ea typeface="Courier New" pitchFamily="34" charset="-122"/>
                <a:cs typeface="Courier New" pitchFamily="34" charset="-120"/>
              </a:rPr>
              <a:t>first = prices[0]</a:t>
            </a:r>
            <a:endParaRPr lang="en-US" sz="1600" dirty="0"/>
          </a:p>
          <a:p>
            <a:pPr algn="l" indent="0" marL="0">
              <a:lnSpc>
                <a:spcPts val="2080"/>
              </a:lnSpc>
              <a:buNone/>
            </a:pPr>
            <a:r>
              <a:rPr lang="en-US" sz="1600" dirty="0">
                <a:solidFill>
                  <a:srgbClr val="FFFFFF"/>
                </a:solidFill>
                <a:latin typeface="Courier New" pitchFamily="34" charset="0"/>
                <a:ea typeface="Courier New" pitchFamily="34" charset="-122"/>
                <a:cs typeface="Courier New" pitchFamily="34" charset="-120"/>
              </a:rPr>
              <a:t>juice_price = product[</a:t>
            </a:r>
            <a:pPr algn="l" indent="0" marL="0">
              <a:lnSpc>
                <a:spcPts val="2080"/>
              </a:lnSpc>
              <a:buNone/>
            </a:pPr>
            <a:r>
              <a:rPr lang="en-US" sz="1600" dirty="0">
                <a:solidFill>
                  <a:srgbClr val="E0BE36"/>
                </a:solidFill>
                <a:latin typeface="Courier New" pitchFamily="34" charset="0"/>
                <a:ea typeface="Courier New" pitchFamily="34" charset="-122"/>
                <a:cs typeface="Courier New" pitchFamily="34" charset="-120"/>
              </a:rPr>
              <a:t>"price"</a:t>
            </a:r>
            <a:pPr algn="l" indent="0" marL="0">
              <a:lnSpc>
                <a:spcPts val="2080"/>
              </a:lnSpc>
              <a:buNone/>
            </a:pPr>
            <a:r>
              <a:rPr lang="en-US" sz="1600" dirty="0">
                <a:solidFill>
                  <a:srgbClr val="FFFFFF"/>
                </a:solidFill>
                <a:latin typeface="Courier New" pitchFamily="34" charset="0"/>
                <a:ea typeface="Courier New" pitchFamily="34" charset="-122"/>
                <a:cs typeface="Courier New" pitchFamily="34" charset="-120"/>
              </a:rPr>
              <a:t>]</a:t>
            </a:r>
            <a:endParaRPr lang="en-US" sz="1600" dirty="0"/>
          </a:p>
          <a:p>
            <a:pPr algn="l" indent="0" marL="0">
              <a:lnSpc>
                <a:spcPts val="2080"/>
              </a:lnSpc>
              <a:buNone/>
            </a:pPr>
            <a:r>
              <a:rPr lang="en-US" sz="1600" dirty="0">
                <a:solidFill>
                  <a:srgbClr val="FFFFFF"/>
                </a:solidFill>
                <a:latin typeface="Courier New" pitchFamily="34" charset="0"/>
                <a:ea typeface="Courier New" pitchFamily="34" charset="-122"/>
                <a:cs typeface="Courier New" pitchFamily="34" charset="-120"/>
              </a:rPr>
              <a:t>print(first)</a:t>
            </a:r>
            <a:endParaRPr lang="en-US" sz="1600" dirty="0"/>
          </a:p>
          <a:p>
            <a:pPr algn="l" indent="0" marL="0">
              <a:lnSpc>
                <a:spcPts val="2080"/>
              </a:lnSpc>
              <a:buNone/>
            </a:pPr>
            <a:r>
              <a:rPr lang="en-US" sz="1600" dirty="0">
                <a:solidFill>
                  <a:srgbClr val="FFFFFF"/>
                </a:solidFill>
                <a:latin typeface="Courier New" pitchFamily="34" charset="0"/>
                <a:ea typeface="Courier New" pitchFamily="34" charset="-122"/>
                <a:cs typeface="Courier New" pitchFamily="34" charset="-120"/>
              </a:rPr>
              <a:t>print(juice_price)</a:t>
            </a:r>
            <a:endParaRPr lang="en-US" sz="1600" dirty="0"/>
          </a:p>
          <a:p>
            <a:pPr algn="l" indent="0" marL="0">
              <a:lnSpc>
                <a:spcPts val="2080"/>
              </a:lnSpc>
              <a:buNone/>
            </a:pPr>
            <a:r>
              <a:rPr lang="en-US" sz="1600" dirty="0">
                <a:solidFill>
                  <a:srgbClr val="FFFFFF"/>
                </a:solidFill>
                <a:latin typeface="Courier New" pitchFamily="34" charset="0"/>
                <a:ea typeface="Courier New" pitchFamily="34" charset="-122"/>
                <a:cs typeface="Courier New" pitchFamily="34" charset="-120"/>
              </a:rPr>
              <a:t>print(len(prices))</a:t>
            </a:r>
            <a:endParaRPr lang="en-US" sz="1600" dirty="0"/>
          </a:p>
        </p:txBody>
      </p:sp>
      <p:sp>
        <p:nvSpPr>
          <p:cNvPr id="5" name="Text 3"/>
          <p:cNvSpPr txBox="1"/>
          <p:nvPr/>
        </p:nvSpPr>
        <p:spPr>
          <a:xfrm>
            <a:off x="7040880" y="1737360"/>
            <a:ext cx="4480560" cy="2560320"/>
          </a:xfrm>
          <a:prstGeom prst="rect">
            <a:avLst/>
          </a:prstGeom>
          <a:noFill/>
          <a:ln/>
        </p:spPr>
        <p:txBody>
          <a:bodyPr wrap="square" lIns="0" tIns="0" rIns="0" bIns="0" rtlCol="0" anchor="t"/>
          <a:lstStyle/>
          <a:p>
            <a:pPr algn="l" indent="0" marL="0">
              <a:lnSpc>
                <a:spcPts val="3480"/>
              </a:lnSpc>
              <a:spcAft>
                <a:spcPts val="2160"/>
              </a:spcAft>
              <a:buNone/>
            </a:pPr>
            <a:r>
              <a:rPr lang="en-US" sz="2900" dirty="0">
                <a:solidFill>
                  <a:srgbClr val="111111"/>
                </a:solidFill>
                <a:latin typeface="Lato" pitchFamily="34" charset="0"/>
                <a:ea typeface="Lato" pitchFamily="34" charset="-122"/>
                <a:cs typeface="Lato" pitchFamily="34" charset="-120"/>
              </a:rPr>
              <a:t>Predict what prints. Which number is prices[0]?</a:t>
            </a:r>
            <a:endParaRPr lang="en-US" sz="2900" dirty="0"/>
          </a:p>
          <a:p>
            <a:pPr algn="l" indent="0" marL="0">
              <a:lnSpc>
                <a:spcPts val="3480"/>
              </a:lnSpc>
              <a:spcAft>
                <a:spcPts val="2160"/>
              </a:spcAft>
              <a:buNone/>
            </a:pPr>
            <a:r>
              <a:rPr lang="en-US" sz="2900" dirty="0">
                <a:solidFill>
                  <a:srgbClr val="111111"/>
                </a:solidFill>
                <a:latin typeface="Lato" pitchFamily="34" charset="0"/>
                <a:ea typeface="Lato" pitchFamily="34" charset="-122"/>
                <a:cs typeface="Lato" pitchFamily="34" charset="-120"/>
              </a:rPr>
              <a:t>Write your guess on paper before we run it.</a:t>
            </a:r>
            <a:endParaRPr lang="en-US" sz="2900" dirty="0"/>
          </a:p>
        </p:txBody>
      </p:sp>
      <p:pic>
        <p:nvPicPr>
          <p:cNvPr id="6" name="Image 0" descr="A page and a pen: write your guess first">    </p:cNvPr>
          <p:cNvPicPr>
            <a:picLocks noChangeAspect="1"/>
          </p:cNvPicPr>
          <p:nvPr/>
        </p:nvPicPr>
        <p:blipFill>
          <a:blip r:embed="rId1"/>
          <a:stretch>
            <a:fillRect/>
          </a:stretch>
        </p:blipFill>
        <p:spPr>
          <a:xfrm>
            <a:off x="7916091" y="4343400"/>
            <a:ext cx="2090057" cy="182880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Run it: Lists and dictionaries</a:t>
            </a:r>
            <a:endParaRPr lang="en-US" sz="3800" dirty="0"/>
          </a:p>
        </p:txBody>
      </p:sp>
      <p:sp>
        <p:nvSpPr>
          <p:cNvPr id="3" name="Shape 1"/>
          <p:cNvSpPr/>
          <p:nvPr/>
        </p:nvSpPr>
        <p:spPr>
          <a:xfrm>
            <a:off x="640080" y="1645920"/>
            <a:ext cx="6035040" cy="1491996"/>
          </a:xfrm>
          <a:prstGeom prst="roundRect">
            <a:avLst>
              <a:gd name="adj" fmla="val 4903"/>
            </a:avLst>
          </a:prstGeom>
          <a:solidFill>
            <a:srgbClr val="FFFFFF"/>
          </a:solidFill>
          <a:ln w="15875">
            <a:solidFill>
              <a:srgbClr val="111111"/>
            </a:solidFill>
            <a:prstDash val="solid"/>
          </a:ln>
        </p:spPr>
      </p:sp>
      <p:sp>
        <p:nvSpPr>
          <p:cNvPr id="4" name="Text 2"/>
          <p:cNvSpPr txBox="1"/>
          <p:nvPr/>
        </p:nvSpPr>
        <p:spPr>
          <a:xfrm>
            <a:off x="822960" y="1828800"/>
            <a:ext cx="5669280" cy="1126236"/>
          </a:xfrm>
          <a:prstGeom prst="rect">
            <a:avLst/>
          </a:prstGeom>
          <a:noFill/>
          <a:ln/>
        </p:spPr>
        <p:txBody>
          <a:bodyPr wrap="square" lIns="0" tIns="0" rIns="0" bIns="0" rtlCol="0" anchor="t"/>
          <a:lstStyle/>
          <a:p>
            <a:pPr algn="l" indent="0" marL="0">
              <a:lnSpc>
                <a:spcPts val="2860"/>
              </a:lnSpc>
              <a:buNone/>
            </a:pPr>
            <a:r>
              <a:rPr lang="en-US" sz="2200" dirty="0">
                <a:solidFill>
                  <a:srgbClr val="111111"/>
                </a:solidFill>
                <a:latin typeface="Courier New" pitchFamily="34" charset="0"/>
                <a:ea typeface="Courier New" pitchFamily="34" charset="-122"/>
                <a:cs typeface="Courier New" pitchFamily="34" charset="-120"/>
              </a:rPr>
              <a:t>1000</a:t>
            </a:r>
            <a:endParaRPr lang="en-US" sz="2200" dirty="0"/>
          </a:p>
          <a:p>
            <a:pPr algn="l" indent="0" marL="0">
              <a:lnSpc>
                <a:spcPts val="2860"/>
              </a:lnSpc>
              <a:buNone/>
            </a:pPr>
            <a:r>
              <a:rPr lang="en-US" sz="2200" dirty="0">
                <a:solidFill>
                  <a:srgbClr val="111111"/>
                </a:solidFill>
                <a:latin typeface="Courier New" pitchFamily="34" charset="0"/>
                <a:ea typeface="Courier New" pitchFamily="34" charset="-122"/>
                <a:cs typeface="Courier New" pitchFamily="34" charset="-120"/>
              </a:rPr>
              <a:t>2000</a:t>
            </a:r>
            <a:endParaRPr lang="en-US" sz="2200" dirty="0"/>
          </a:p>
          <a:p>
            <a:pPr algn="l" indent="0" marL="0">
              <a:lnSpc>
                <a:spcPts val="2860"/>
              </a:lnSpc>
              <a:buNone/>
            </a:pPr>
            <a:r>
              <a:rPr lang="en-US" sz="2200" dirty="0">
                <a:solidFill>
                  <a:srgbClr val="111111"/>
                </a:solidFill>
                <a:latin typeface="Courier New" pitchFamily="34" charset="0"/>
                <a:ea typeface="Courier New" pitchFamily="34" charset="-122"/>
                <a:cs typeface="Courier New" pitchFamily="34" charset="-120"/>
              </a:rPr>
              <a:t>3</a:t>
            </a:r>
            <a:endParaRPr lang="en-US" sz="2200" dirty="0"/>
          </a:p>
        </p:txBody>
      </p:sp>
      <p:sp>
        <p:nvSpPr>
          <p:cNvPr id="5" name="Text 3"/>
          <p:cNvSpPr txBox="1"/>
          <p:nvPr/>
        </p:nvSpPr>
        <p:spPr>
          <a:xfrm>
            <a:off x="7040880" y="1737360"/>
            <a:ext cx="4480560" cy="4389120"/>
          </a:xfrm>
          <a:prstGeom prst="rect">
            <a:avLst/>
          </a:prstGeom>
          <a:noFill/>
          <a:ln/>
        </p:spPr>
        <p:txBody>
          <a:bodyPr wrap="square" lIns="0" tIns="0" rIns="0" bIns="0" rtlCol="0" anchor="t"/>
          <a:lstStyle/>
          <a:p>
            <a:pPr algn="l" indent="0" marL="0">
              <a:lnSpc>
                <a:spcPts val="3120"/>
              </a:lnSpc>
              <a:spcAft>
                <a:spcPts val="1580"/>
              </a:spcAft>
              <a:buNone/>
            </a:pPr>
            <a:r>
              <a:rPr lang="en-US" sz="2600" dirty="0">
                <a:solidFill>
                  <a:srgbClr val="111111"/>
                </a:solidFill>
                <a:latin typeface="Lato" pitchFamily="34" charset="0"/>
                <a:ea typeface="Lato" pitchFamily="34" charset="-122"/>
                <a:cs typeface="Lato" pitchFamily="34" charset="-120"/>
              </a:rPr>
              <a:t>The cell prints 1000, 2000 and 3.</a:t>
            </a:r>
            <a:endParaRPr lang="en-US" sz="2600" dirty="0"/>
          </a:p>
          <a:p>
            <a:pPr algn="l" indent="0" marL="0">
              <a:lnSpc>
                <a:spcPts val="3120"/>
              </a:lnSpc>
              <a:spcAft>
                <a:spcPts val="1580"/>
              </a:spcAft>
              <a:buNone/>
            </a:pPr>
            <a:r>
              <a:rPr lang="en-US" sz="2600" dirty="0">
                <a:solidFill>
                  <a:srgbClr val="111111"/>
                </a:solidFill>
                <a:latin typeface="Lato" pitchFamily="34" charset="0"/>
                <a:ea typeface="Lato" pitchFamily="34" charset="-122"/>
                <a:cs typeface="Lato" pitchFamily="34" charset="-120"/>
              </a:rPr>
              <a:t>Square brackets after a list give the item at that index, and the first index is 0.</a:t>
            </a:r>
            <a:endParaRPr lang="en-US" sz="2600" dirty="0"/>
          </a:p>
          <a:p>
            <a:pPr algn="l" indent="0" marL="0">
              <a:lnSpc>
                <a:spcPts val="3120"/>
              </a:lnSpc>
              <a:spcAft>
                <a:spcPts val="1580"/>
              </a:spcAft>
              <a:buNone/>
            </a:pPr>
            <a:r>
              <a:rPr lang="en-US" sz="2600" dirty="0">
                <a:solidFill>
                  <a:srgbClr val="111111"/>
                </a:solidFill>
                <a:latin typeface="Lato" pitchFamily="34" charset="0"/>
                <a:ea typeface="Lato" pitchFamily="34" charset="-122"/>
                <a:cs typeface="Lato" pitchFamily="34" charset="-120"/>
              </a:rPr>
              <a:t>Square brackets after a dictionary give the value for that key.</a:t>
            </a:r>
            <a:endParaRPr lang="en-US" sz="2600" dirty="0"/>
          </a:p>
          <a:p>
            <a:pPr algn="l" indent="0" marL="0">
              <a:lnSpc>
                <a:spcPts val="3120"/>
              </a:lnSpc>
              <a:spcAft>
                <a:spcPts val="1580"/>
              </a:spcAft>
              <a:buNone/>
            </a:pPr>
            <a:r>
              <a:rPr lang="en-US" sz="2600" dirty="0">
                <a:solidFill>
                  <a:srgbClr val="111111"/>
                </a:solidFill>
                <a:latin typeface="Lato" pitchFamily="34" charset="0"/>
                <a:ea typeface="Lato" pitchFamily="34" charset="-122"/>
                <a:cs typeface="Lato" pitchFamily="34" charset="-120"/>
              </a:rPr>
              <a:t>len counts the items in a list.</a:t>
            </a:r>
            <a:endParaRPr lang="en-US" sz="26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Investigate: Lists and dictionaries</a:t>
            </a:r>
            <a:endParaRPr lang="en-US" sz="3800" dirty="0"/>
          </a:p>
        </p:txBody>
      </p:sp>
      <p:pic>
        <p:nvPicPr>
          <p:cNvPr id="3" name="Image 0" descr="Look closely">    </p:cNvPr>
          <p:cNvPicPr>
            <a:picLocks noChangeAspect="1"/>
          </p:cNvPicPr>
          <p:nvPr/>
        </p:nvPicPr>
        <p:blipFill>
          <a:blip r:embed="rId1"/>
          <a:stretch>
            <a:fillRect/>
          </a:stretch>
        </p:blipFill>
        <p:spPr>
          <a:xfrm>
            <a:off x="9875520" y="4480560"/>
            <a:ext cx="1645920" cy="1645920"/>
          </a:xfrm>
          <a:prstGeom prst="rect">
            <a:avLst/>
          </a:prstGeom>
        </p:spPr>
      </p:pic>
      <p:sp>
        <p:nvSpPr>
          <p:cNvPr id="4" name="Text 1"/>
          <p:cNvSpPr txBox="1"/>
          <p:nvPr/>
        </p:nvSpPr>
        <p:spPr>
          <a:xfrm>
            <a:off x="640080" y="1737360"/>
            <a:ext cx="8961120" cy="4389120"/>
          </a:xfrm>
          <a:prstGeom prst="rect">
            <a:avLst/>
          </a:prstGeom>
          <a:noFill/>
          <a:ln/>
        </p:spPr>
        <p:txBody>
          <a:bodyPr wrap="square" lIns="0" tIns="0" rIns="0" bIns="0" rtlCol="0" anchor="t"/>
          <a:lstStyle/>
          <a:p>
            <a:pPr algn="l" indent="0" marL="0">
              <a:lnSpc>
                <a:spcPts val="4320"/>
              </a:lnSpc>
              <a:spcAft>
                <a:spcPts val="3960"/>
              </a:spcAft>
              <a:buNone/>
            </a:pPr>
            <a:r>
              <a:rPr lang="en-US" sz="3600" dirty="0">
                <a:solidFill>
                  <a:srgbClr val="111111"/>
                </a:solidFill>
                <a:latin typeface="Lato" pitchFamily="34" charset="0"/>
                <a:ea typeface="Lato" pitchFamily="34" charset="-122"/>
                <a:cs typeface="Lato" pitchFamily="34" charset="-120"/>
              </a:rPr>
              <a:t>1.  Why is prices[0] the first price?</a:t>
            </a:r>
            <a:endParaRPr lang="en-US" sz="3600" dirty="0"/>
          </a:p>
          <a:p>
            <a:pPr algn="l" indent="0" marL="0">
              <a:lnSpc>
                <a:spcPts val="4320"/>
              </a:lnSpc>
              <a:spcAft>
                <a:spcPts val="3960"/>
              </a:spcAft>
              <a:buNone/>
            </a:pPr>
            <a:r>
              <a:rPr lang="en-US" sz="3600" dirty="0">
                <a:solidFill>
                  <a:srgbClr val="111111"/>
                </a:solidFill>
                <a:latin typeface="Lato" pitchFamily="34" charset="0"/>
                <a:ea typeface="Lato" pitchFamily="34" charset="-122"/>
                <a:cs typeface="Lato" pitchFamily="34" charset="-120"/>
              </a:rPr>
              <a:t>2.  What happens if you ask for prices[3]?</a:t>
            </a:r>
            <a:endParaRPr lang="en-US" sz="36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Modify: change one thing</a:t>
            </a:r>
            <a:endParaRPr lang="en-US" sz="3800" dirty="0"/>
          </a:p>
        </p:txBody>
      </p:sp>
      <p:sp>
        <p:nvSpPr>
          <p:cNvPr id="3" name="Text 1"/>
          <p:cNvSpPr txBox="1"/>
          <p:nvPr/>
        </p:nvSpPr>
        <p:spPr>
          <a:xfrm>
            <a:off x="640080" y="1737360"/>
            <a:ext cx="6035040" cy="4206240"/>
          </a:xfrm>
          <a:prstGeom prst="rect">
            <a:avLst/>
          </a:prstGeom>
          <a:noFill/>
          <a:ln/>
        </p:spPr>
        <p:txBody>
          <a:bodyPr wrap="square" lIns="0" tIns="0" rIns="0" bIns="0" rtlCol="0" anchor="t"/>
          <a:lstStyle/>
          <a:p>
            <a:pPr algn="l" indent="0" marL="0">
              <a:lnSpc>
                <a:spcPts val="4320"/>
              </a:lnSpc>
              <a:spcAft>
                <a:spcPts val="3240"/>
              </a:spcAft>
              <a:buNone/>
            </a:pPr>
            <a:r>
              <a:rPr lang="en-US" sz="3600" dirty="0">
                <a:solidFill>
                  <a:srgbClr val="111111"/>
                </a:solidFill>
                <a:latin typeface="Lato" pitchFamily="34" charset="0"/>
                <a:ea typeface="Lato" pitchFamily="34" charset="-122"/>
                <a:cs typeface="Lato" pitchFamily="34" charset="-120"/>
              </a:rPr>
              <a:t>Print the last price using its index.</a:t>
            </a:r>
            <a:endParaRPr lang="en-US" sz="3600" dirty="0"/>
          </a:p>
          <a:p>
            <a:pPr algn="l" indent="0" marL="0">
              <a:lnSpc>
                <a:spcPts val="4320"/>
              </a:lnSpc>
              <a:spcAft>
                <a:spcPts val="3240"/>
              </a:spcAft>
              <a:buNone/>
            </a:pPr>
            <a:r>
              <a:rPr lang="en-US" sz="3600" dirty="0">
                <a:solidFill>
                  <a:srgbClr val="111111"/>
                </a:solidFill>
                <a:latin typeface="Lato" pitchFamily="34" charset="0"/>
                <a:ea typeface="Lato" pitchFamily="34" charset="-122"/>
                <a:cs typeface="Lato" pitchFamily="34" charset="-120"/>
              </a:rPr>
              <a:t>Then tell your neighbour what changed and how you know.</a:t>
            </a:r>
            <a:endParaRPr lang="en-US" sz="3600" dirty="0"/>
          </a:p>
        </p:txBody>
      </p:sp>
      <p:sp>
        <p:nvSpPr>
          <p:cNvPr id="4" name="Shape 2"/>
          <p:cNvSpPr/>
          <p:nvPr/>
        </p:nvSpPr>
        <p:spPr>
          <a:xfrm>
            <a:off x="7223760" y="1737360"/>
            <a:ext cx="4297680" cy="2519172"/>
          </a:xfrm>
          <a:prstGeom prst="roundRect">
            <a:avLst>
              <a:gd name="adj" fmla="val 2904"/>
            </a:avLst>
          </a:prstGeom>
          <a:solidFill>
            <a:srgbClr val="111111"/>
          </a:solidFill>
          <a:ln/>
        </p:spPr>
      </p:sp>
      <p:sp>
        <p:nvSpPr>
          <p:cNvPr id="5" name="Text 3"/>
          <p:cNvSpPr txBox="1"/>
          <p:nvPr/>
        </p:nvSpPr>
        <p:spPr>
          <a:xfrm>
            <a:off x="7424928" y="1938528"/>
            <a:ext cx="3895344" cy="2116836"/>
          </a:xfrm>
          <a:prstGeom prst="rect">
            <a:avLst/>
          </a:prstGeom>
          <a:noFill/>
          <a:ln/>
        </p:spPr>
        <p:txBody>
          <a:bodyPr wrap="square" lIns="0" tIns="0" rIns="0" bIns="0" rtlCol="0" anchor="t"/>
          <a:lstStyle/>
          <a:p>
            <a:pPr algn="l" indent="0" marL="0">
              <a:lnSpc>
                <a:spcPts val="1820"/>
              </a:lnSpc>
              <a:buNone/>
            </a:pPr>
            <a:r>
              <a:rPr lang="en-US" sz="1400" dirty="0">
                <a:solidFill>
                  <a:srgbClr val="FFFFFF"/>
                </a:solidFill>
                <a:latin typeface="Courier New" pitchFamily="34" charset="0"/>
                <a:ea typeface="Courier New" pitchFamily="34" charset="-122"/>
                <a:cs typeface="Courier New" pitchFamily="34" charset="-120"/>
              </a:rPr>
              <a:t>prices = [1000, 2000, 3000]</a:t>
            </a:r>
            <a:endParaRPr lang="en-US" sz="1400" dirty="0"/>
          </a:p>
          <a:p>
            <a:pPr algn="l" indent="0" marL="0">
              <a:lnSpc>
                <a:spcPts val="1820"/>
              </a:lnSpc>
              <a:buNone/>
            </a:pPr>
            <a:r>
              <a:rPr lang="en-US" sz="1400" dirty="0">
                <a:solidFill>
                  <a:srgbClr val="FFFFFF"/>
                </a:solidFill>
                <a:latin typeface="Courier New" pitchFamily="34" charset="0"/>
                <a:ea typeface="Courier New" pitchFamily="34" charset="-122"/>
                <a:cs typeface="Courier New" pitchFamily="34" charset="-120"/>
              </a:rPr>
              <a:t>product = {</a:t>
            </a:r>
            <a:endParaRPr lang="en-US" sz="1400" dirty="0"/>
          </a:p>
          <a:p>
            <a:pPr algn="l" indent="0" marL="0">
              <a:lnSpc>
                <a:spcPts val="1820"/>
              </a:lnSpc>
              <a:buNone/>
            </a:pPr>
            <a:r>
              <a:rPr lang="en-US" sz="1400" dirty="0">
                <a:solidFill>
                  <a:srgbClr val="FFFFFF"/>
                </a:solidFill>
                <a:latin typeface="Courier New" pitchFamily="34" charset="0"/>
                <a:ea typeface="Courier New" pitchFamily="34" charset="-122"/>
                <a:cs typeface="Courier New" pitchFamily="34" charset="-120"/>
              </a:rPr>
              <a:t>    </a:t>
            </a:r>
            <a:pPr algn="l" indent="0" marL="0">
              <a:lnSpc>
                <a:spcPts val="1820"/>
              </a:lnSpc>
              <a:buNone/>
            </a:pPr>
            <a:r>
              <a:rPr lang="en-US" sz="1400" dirty="0">
                <a:solidFill>
                  <a:srgbClr val="E0BE36"/>
                </a:solidFill>
                <a:latin typeface="Courier New" pitchFamily="34" charset="0"/>
                <a:ea typeface="Courier New" pitchFamily="34" charset="-122"/>
                <a:cs typeface="Courier New" pitchFamily="34" charset="-120"/>
              </a:rPr>
              <a:t>"name"</a:t>
            </a:r>
            <a:pPr algn="l" indent="0" marL="0">
              <a:lnSpc>
                <a:spcPts val="1820"/>
              </a:lnSpc>
              <a:buNone/>
            </a:pPr>
            <a:r>
              <a:rPr lang="en-US" sz="1400" dirty="0">
                <a:solidFill>
                  <a:srgbClr val="FFFFFF"/>
                </a:solidFill>
                <a:latin typeface="Courier New" pitchFamily="34" charset="0"/>
                <a:ea typeface="Courier New" pitchFamily="34" charset="-122"/>
                <a:cs typeface="Courier New" pitchFamily="34" charset="-120"/>
              </a:rPr>
              <a:t>: </a:t>
            </a:r>
            <a:pPr algn="l" indent="0" marL="0">
              <a:lnSpc>
                <a:spcPts val="1820"/>
              </a:lnSpc>
              <a:buNone/>
            </a:pPr>
            <a:r>
              <a:rPr lang="en-US" sz="1400" dirty="0">
                <a:solidFill>
                  <a:srgbClr val="E0BE36"/>
                </a:solidFill>
                <a:latin typeface="Courier New" pitchFamily="34" charset="0"/>
                <a:ea typeface="Courier New" pitchFamily="34" charset="-122"/>
                <a:cs typeface="Courier New" pitchFamily="34" charset="-120"/>
              </a:rPr>
              <a:t>"Juice"</a:t>
            </a:r>
            <a:pPr algn="l" indent="0" marL="0">
              <a:lnSpc>
                <a:spcPts val="1820"/>
              </a:lnSpc>
              <a:buNone/>
            </a:pPr>
            <a:r>
              <a:rPr lang="en-US" sz="1400" dirty="0">
                <a:solidFill>
                  <a:srgbClr val="FFFFFF"/>
                </a:solidFill>
                <a:latin typeface="Courier New" pitchFamily="34" charset="0"/>
                <a:ea typeface="Courier New" pitchFamily="34" charset="-122"/>
                <a:cs typeface="Courier New" pitchFamily="34" charset="-120"/>
              </a:rPr>
              <a:t>, </a:t>
            </a:r>
            <a:pPr algn="l" indent="0" marL="0">
              <a:lnSpc>
                <a:spcPts val="1820"/>
              </a:lnSpc>
              <a:buNone/>
            </a:pPr>
            <a:r>
              <a:rPr lang="en-US" sz="1400" dirty="0">
                <a:solidFill>
                  <a:srgbClr val="E0BE36"/>
                </a:solidFill>
                <a:latin typeface="Courier New" pitchFamily="34" charset="0"/>
                <a:ea typeface="Courier New" pitchFamily="34" charset="-122"/>
                <a:cs typeface="Courier New" pitchFamily="34" charset="-120"/>
              </a:rPr>
              <a:t>"price"</a:t>
            </a:r>
            <a:pPr algn="l" indent="0" marL="0">
              <a:lnSpc>
                <a:spcPts val="1820"/>
              </a:lnSpc>
              <a:buNone/>
            </a:pPr>
            <a:r>
              <a:rPr lang="en-US" sz="1400" dirty="0">
                <a:solidFill>
                  <a:srgbClr val="FFFFFF"/>
                </a:solidFill>
                <a:latin typeface="Courier New" pitchFamily="34" charset="0"/>
                <a:ea typeface="Courier New" pitchFamily="34" charset="-122"/>
                <a:cs typeface="Courier New" pitchFamily="34" charset="-120"/>
              </a:rPr>
              <a:t>: 2000</a:t>
            </a:r>
            <a:endParaRPr lang="en-US" sz="1400" dirty="0"/>
          </a:p>
          <a:p>
            <a:pPr algn="l" indent="0" marL="0">
              <a:lnSpc>
                <a:spcPts val="1820"/>
              </a:lnSpc>
              <a:buNone/>
            </a:pPr>
            <a:r>
              <a:rPr lang="en-US" sz="1400" dirty="0">
                <a:solidFill>
                  <a:srgbClr val="FFFFFF"/>
                </a:solidFill>
                <a:latin typeface="Courier New" pitchFamily="34" charset="0"/>
                <a:ea typeface="Courier New" pitchFamily="34" charset="-122"/>
                <a:cs typeface="Courier New" pitchFamily="34" charset="-120"/>
              </a:rPr>
              <a:t>}</a:t>
            </a:r>
            <a:endParaRPr lang="en-US" sz="1400" dirty="0"/>
          </a:p>
          <a:p>
            <a:pPr algn="l" indent="0" marL="0">
              <a:lnSpc>
                <a:spcPts val="1820"/>
              </a:lnSpc>
              <a:buNone/>
            </a:pPr>
            <a:r>
              <a:rPr lang="en-US" sz="1400" dirty="0">
                <a:solidFill>
                  <a:srgbClr val="FFFFFF"/>
                </a:solidFill>
                <a:latin typeface="Courier New" pitchFamily="34" charset="0"/>
                <a:ea typeface="Courier New" pitchFamily="34" charset="-122"/>
                <a:cs typeface="Courier New" pitchFamily="34" charset="-120"/>
              </a:rPr>
              <a:t>first = prices[0]</a:t>
            </a:r>
            <a:endParaRPr lang="en-US" sz="1400" dirty="0"/>
          </a:p>
          <a:p>
            <a:pPr algn="l" indent="0" marL="0">
              <a:lnSpc>
                <a:spcPts val="1820"/>
              </a:lnSpc>
              <a:buNone/>
            </a:pPr>
            <a:r>
              <a:rPr lang="en-US" sz="1400" dirty="0">
                <a:solidFill>
                  <a:srgbClr val="FFFFFF"/>
                </a:solidFill>
                <a:latin typeface="Courier New" pitchFamily="34" charset="0"/>
                <a:ea typeface="Courier New" pitchFamily="34" charset="-122"/>
                <a:cs typeface="Courier New" pitchFamily="34" charset="-120"/>
              </a:rPr>
              <a:t>juice_price = product[</a:t>
            </a:r>
            <a:pPr algn="l" indent="0" marL="0">
              <a:lnSpc>
                <a:spcPts val="1820"/>
              </a:lnSpc>
              <a:buNone/>
            </a:pPr>
            <a:r>
              <a:rPr lang="en-US" sz="1400" dirty="0">
                <a:solidFill>
                  <a:srgbClr val="E0BE36"/>
                </a:solidFill>
                <a:latin typeface="Courier New" pitchFamily="34" charset="0"/>
                <a:ea typeface="Courier New" pitchFamily="34" charset="-122"/>
                <a:cs typeface="Courier New" pitchFamily="34" charset="-120"/>
              </a:rPr>
              <a:t>"price"</a:t>
            </a:r>
            <a:pPr algn="l" indent="0" marL="0">
              <a:lnSpc>
                <a:spcPts val="1820"/>
              </a:lnSpc>
              <a:buNone/>
            </a:pPr>
            <a:r>
              <a:rPr lang="en-US" sz="1400" dirty="0">
                <a:solidFill>
                  <a:srgbClr val="FFFFFF"/>
                </a:solidFill>
                <a:latin typeface="Courier New" pitchFamily="34" charset="0"/>
                <a:ea typeface="Courier New" pitchFamily="34" charset="-122"/>
                <a:cs typeface="Courier New" pitchFamily="34" charset="-120"/>
              </a:rPr>
              <a:t>]</a:t>
            </a:r>
            <a:endParaRPr lang="en-US" sz="1400" dirty="0"/>
          </a:p>
          <a:p>
            <a:pPr algn="l" indent="0" marL="0">
              <a:lnSpc>
                <a:spcPts val="1820"/>
              </a:lnSpc>
              <a:buNone/>
            </a:pPr>
            <a:r>
              <a:rPr lang="en-US" sz="1400" dirty="0">
                <a:solidFill>
                  <a:srgbClr val="FFFFFF"/>
                </a:solidFill>
                <a:latin typeface="Courier New" pitchFamily="34" charset="0"/>
                <a:ea typeface="Courier New" pitchFamily="34" charset="-122"/>
                <a:cs typeface="Courier New" pitchFamily="34" charset="-120"/>
              </a:rPr>
              <a:t>print(first)</a:t>
            </a:r>
            <a:endParaRPr lang="en-US" sz="1400" dirty="0"/>
          </a:p>
          <a:p>
            <a:pPr algn="l" indent="0" marL="0">
              <a:lnSpc>
                <a:spcPts val="1820"/>
              </a:lnSpc>
              <a:buNone/>
            </a:pPr>
            <a:r>
              <a:rPr lang="en-US" sz="1400" dirty="0">
                <a:solidFill>
                  <a:srgbClr val="FFFFFF"/>
                </a:solidFill>
                <a:latin typeface="Courier New" pitchFamily="34" charset="0"/>
                <a:ea typeface="Courier New" pitchFamily="34" charset="-122"/>
                <a:cs typeface="Courier New" pitchFamily="34" charset="-120"/>
              </a:rPr>
              <a:t>print(juice_price)</a:t>
            </a:r>
            <a:endParaRPr lang="en-US" sz="1400" dirty="0"/>
          </a:p>
          <a:p>
            <a:pPr algn="l" indent="0" marL="0">
              <a:lnSpc>
                <a:spcPts val="1820"/>
              </a:lnSpc>
              <a:buNone/>
            </a:pPr>
            <a:r>
              <a:rPr lang="en-US" sz="1400" dirty="0">
                <a:solidFill>
                  <a:srgbClr val="FFFFFF"/>
                </a:solidFill>
                <a:latin typeface="Courier New" pitchFamily="34" charset="0"/>
                <a:ea typeface="Courier New" pitchFamily="34" charset="-122"/>
                <a:cs typeface="Courier New" pitchFamily="34" charset="-120"/>
              </a:rPr>
              <a:t>print(len(prices))</a:t>
            </a:r>
            <a:endParaRPr lang="en-US" sz="14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1" type="title" hasCustomPrompt="1"/>
          </p:nvPr>
        </p:nvSpPr>
        <p:spPr>
          <a:xfrm>
            <a:off x="640080" y="2103120"/>
            <a:ext cx="10607040" cy="2286000"/>
          </a:xfrm>
          <a:prstGeom prst="rect">
            <a:avLst/>
          </a:prstGeom>
          <a:noFill/>
          <a:ln/>
        </p:spPr>
        <p:txBody>
          <a:bodyPr wrap="square" lIns="0" tIns="0" rIns="0" bIns="0" rtlCol="0" anchor="t"/>
          <a:lstStyle/>
          <a:p>
            <a:pPr algn="l" indent="0" marL="0">
              <a:buNone/>
            </a:pPr>
            <a:r>
              <a:rPr lang="en-US" sz="5400" b="1" dirty="0">
                <a:solidFill>
                  <a:srgbClr val="FFFFFF"/>
                </a:solidFill>
                <a:latin typeface="Lato" pitchFamily="34" charset="0"/>
                <a:ea typeface="Lato" pitchFamily="34" charset="-122"/>
                <a:cs typeface="Lato" pitchFamily="34" charset="-120"/>
              </a:rPr>
              <a:t>Break</a:t>
            </a:r>
            <a:endParaRPr lang="en-US" sz="5400" dirty="0"/>
          </a:p>
        </p:txBody>
      </p:sp>
      <p:sp>
        <p:nvSpPr>
          <p:cNvPr id="3" name="Text 1"/>
          <p:cNvSpPr txBox="1"/>
          <p:nvPr/>
        </p:nvSpPr>
        <p:spPr>
          <a:xfrm>
            <a:off x="640080" y="3154680"/>
            <a:ext cx="6858000" cy="914400"/>
          </a:xfrm>
          <a:prstGeom prst="rect">
            <a:avLst/>
          </a:prstGeom>
          <a:noFill/>
          <a:ln/>
        </p:spPr>
        <p:txBody>
          <a:bodyPr wrap="square" lIns="0" tIns="0" rIns="0" bIns="0" rtlCol="0" anchor="t"/>
          <a:lstStyle/>
          <a:p>
            <a:pPr algn="l" indent="0" marL="0">
              <a:lnSpc>
                <a:spcPts val="4080"/>
              </a:lnSpc>
              <a:buNone/>
            </a:pPr>
            <a:r>
              <a:rPr lang="en-US" sz="3400" b="1" dirty="0">
                <a:solidFill>
                  <a:srgbClr val="FFFFFF"/>
                </a:solidFill>
                <a:latin typeface="Lato" pitchFamily="34" charset="0"/>
                <a:ea typeface="Lato" pitchFamily="34" charset="-122"/>
                <a:cs typeface="Lato" pitchFamily="34" charset="-120"/>
              </a:rPr>
              <a:t>15 minutes away from your screen</a:t>
            </a:r>
            <a:endParaRPr lang="en-US" sz="3400" dirty="0"/>
          </a:p>
        </p:txBody>
      </p:sp>
      <p:sp>
        <p:nvSpPr>
          <p:cNvPr id="4" name="Text 2"/>
          <p:cNvSpPr txBox="1"/>
          <p:nvPr/>
        </p:nvSpPr>
        <p:spPr>
          <a:xfrm>
            <a:off x="640080" y="4206240"/>
            <a:ext cx="6400800" cy="1463040"/>
          </a:xfrm>
          <a:prstGeom prst="rect">
            <a:avLst/>
          </a:prstGeom>
          <a:noFill/>
          <a:ln/>
        </p:spPr>
        <p:txBody>
          <a:bodyPr wrap="square" lIns="0" tIns="0" rIns="0" bIns="0" rtlCol="0" anchor="t"/>
          <a:lstStyle/>
          <a:p>
            <a:pPr algn="l" indent="0" marL="0">
              <a:lnSpc>
                <a:spcPts val="3000"/>
              </a:lnSpc>
              <a:buNone/>
            </a:pPr>
            <a:r>
              <a:rPr lang="en-US" sz="2400" dirty="0">
                <a:solidFill>
                  <a:srgbClr val="D8D8D8"/>
                </a:solidFill>
                <a:latin typeface="Lato" pitchFamily="34" charset="0"/>
                <a:ea typeface="Lato" pitchFamily="34" charset="-122"/>
                <a:cs typeface="Lato" pitchFamily="34" charset="-120"/>
              </a:rPr>
              <a:t>Stand up. Drink some water. Tell someone what you guessed in the first half.</a:t>
            </a:r>
            <a:endParaRPr lang="en-US" sz="2400" dirty="0"/>
          </a:p>
        </p:txBody>
      </p:sp>
      <p:pic>
        <p:nvPicPr>
          <p:cNvPr id="5" name="Image 0" descr="A clock">    </p:cNvPr>
          <p:cNvPicPr>
            <a:picLocks noChangeAspect="1"/>
          </p:cNvPicPr>
          <p:nvPr/>
        </p:nvPicPr>
        <p:blipFill>
          <a:blip r:embed="rId1"/>
          <a:stretch>
            <a:fillRect/>
          </a:stretch>
        </p:blipFill>
        <p:spPr>
          <a:xfrm>
            <a:off x="8321040" y="2743200"/>
            <a:ext cx="2926080" cy="292608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A loop repeats the same lines for every item</a:t>
            </a:r>
            <a:endParaRPr lang="en-US" sz="3800" dirty="0"/>
          </a:p>
        </p:txBody>
      </p:sp>
      <p:pic>
        <p:nvPicPr>
          <p:cNvPr id="3" name="Image 0" descr="A loop repeats the same lines for every item">    </p:cNvPr>
          <p:cNvPicPr>
            <a:picLocks noChangeAspect="1"/>
          </p:cNvPicPr>
          <p:nvPr/>
        </p:nvPicPr>
        <p:blipFill>
          <a:blip r:embed="rId1"/>
          <a:stretch>
            <a:fillRect/>
          </a:stretch>
        </p:blipFill>
        <p:spPr>
          <a:xfrm>
            <a:off x="640080" y="1600200"/>
            <a:ext cx="7040880" cy="4526280"/>
          </a:xfrm>
          <a:prstGeom prst="rect">
            <a:avLst/>
          </a:prstGeom>
        </p:spPr>
      </p:pic>
      <p:sp>
        <p:nvSpPr>
          <p:cNvPr id="4" name="Text 1"/>
          <p:cNvSpPr txBox="1"/>
          <p:nvPr/>
        </p:nvSpPr>
        <p:spPr>
          <a:xfrm>
            <a:off x="7955280" y="1783080"/>
            <a:ext cx="3566160" cy="4297680"/>
          </a:xfrm>
          <a:prstGeom prst="rect">
            <a:avLst/>
          </a:prstGeom>
          <a:noFill/>
          <a:ln/>
        </p:spPr>
        <p:txBody>
          <a:bodyPr wrap="square" lIns="0" tIns="0" rIns="0" bIns="0" rtlCol="0" anchor="t"/>
          <a:lstStyle/>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price stands for one item at a time.</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The indented lines repeat for every item.</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The last line runs once, after the loop.</a:t>
            </a:r>
            <a:endParaRPr lang="en-US" sz="24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The running total grows one item at a time</a:t>
            </a:r>
            <a:endParaRPr lang="en-US" sz="3800" dirty="0"/>
          </a:p>
        </p:txBody>
      </p:sp>
      <p:pic>
        <p:nvPicPr>
          <p:cNvPr id="3" name="Image 0" descr="The running total grows one item at a time">    </p:cNvPr>
          <p:cNvPicPr>
            <a:picLocks noChangeAspect="1"/>
          </p:cNvPicPr>
          <p:nvPr/>
        </p:nvPicPr>
        <p:blipFill>
          <a:blip r:embed="rId1"/>
          <a:stretch>
            <a:fillRect/>
          </a:stretch>
        </p:blipFill>
        <p:spPr>
          <a:xfrm>
            <a:off x="640080" y="1600200"/>
            <a:ext cx="7040880" cy="4526280"/>
          </a:xfrm>
          <a:prstGeom prst="rect">
            <a:avLst/>
          </a:prstGeom>
        </p:spPr>
      </p:pic>
      <p:sp>
        <p:nvSpPr>
          <p:cNvPr id="4" name="Text 1"/>
          <p:cNvSpPr txBox="1"/>
          <p:nvPr/>
        </p:nvSpPr>
        <p:spPr>
          <a:xfrm>
            <a:off x="7955280" y="1783080"/>
            <a:ext cx="3566160" cy="4297680"/>
          </a:xfrm>
          <a:prstGeom prst="rect">
            <a:avLst/>
          </a:prstGeom>
          <a:noFill/>
          <a:ln/>
        </p:spPr>
        <p:txBody>
          <a:bodyPr wrap="square" lIns="0" tIns="0" rIns="0" bIns="0" rtlCol="0" anchor="t"/>
          <a:lstStyle/>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Each pass adds the current price.</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The total after one pass is the total before the next.</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The last total is the answer.</a:t>
            </a:r>
            <a:endParaRPr lang="en-US" sz="24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Predict: A loop that adds</a:t>
            </a:r>
            <a:endParaRPr lang="en-US" sz="3800" dirty="0"/>
          </a:p>
        </p:txBody>
      </p:sp>
      <p:sp>
        <p:nvSpPr>
          <p:cNvPr id="3" name="Shape 1"/>
          <p:cNvSpPr/>
          <p:nvPr/>
        </p:nvSpPr>
        <p:spPr>
          <a:xfrm>
            <a:off x="640080" y="1645920"/>
            <a:ext cx="6035040" cy="2618232"/>
          </a:xfrm>
          <a:prstGeom prst="roundRect">
            <a:avLst>
              <a:gd name="adj" fmla="val 2794"/>
            </a:avLst>
          </a:prstGeom>
          <a:solidFill>
            <a:srgbClr val="111111"/>
          </a:solidFill>
          <a:ln/>
        </p:spPr>
      </p:sp>
      <p:sp>
        <p:nvSpPr>
          <p:cNvPr id="4" name="Text 2"/>
          <p:cNvSpPr txBox="1"/>
          <p:nvPr/>
        </p:nvSpPr>
        <p:spPr>
          <a:xfrm>
            <a:off x="841248" y="1847088"/>
            <a:ext cx="5632704" cy="2215896"/>
          </a:xfrm>
          <a:prstGeom prst="rect">
            <a:avLst/>
          </a:prstGeom>
          <a:noFill/>
          <a:ln/>
        </p:spPr>
        <p:txBody>
          <a:bodyPr wrap="square" lIns="0" tIns="0" rIns="0" bIns="0" rtlCol="0" anchor="t"/>
          <a:lstStyle/>
          <a:p>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prices = [1000, 2000, 3000]</a:t>
            </a:r>
            <a:endParaRPr lang="en-US" sz="2200" dirty="0"/>
          </a:p>
          <a:p>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total = 0</a:t>
            </a:r>
            <a:endParaRPr lang="en-US" sz="2200" dirty="0"/>
          </a:p>
          <a:p>
            <a:pPr algn="l" indent="0" marL="0">
              <a:lnSpc>
                <a:spcPts val="2860"/>
              </a:lnSpc>
              <a:buNone/>
            </a:pPr>
            <a:r>
              <a:rPr lang="en-US" sz="2200" b="1" dirty="0">
                <a:solidFill>
                  <a:srgbClr val="FFFFFF"/>
                </a:solidFill>
                <a:latin typeface="Courier New" pitchFamily="34" charset="0"/>
                <a:ea typeface="Courier New" pitchFamily="34" charset="-122"/>
                <a:cs typeface="Courier New" pitchFamily="34" charset="-120"/>
              </a:rPr>
              <a:t>for</a:t>
            </a:r>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 price </a:t>
            </a:r>
            <a:pPr algn="l" indent="0" marL="0">
              <a:lnSpc>
                <a:spcPts val="2860"/>
              </a:lnSpc>
              <a:buNone/>
            </a:pPr>
            <a:r>
              <a:rPr lang="en-US" sz="2200" b="1" dirty="0">
                <a:solidFill>
                  <a:srgbClr val="FFFFFF"/>
                </a:solidFill>
                <a:latin typeface="Courier New" pitchFamily="34" charset="0"/>
                <a:ea typeface="Courier New" pitchFamily="34" charset="-122"/>
                <a:cs typeface="Courier New" pitchFamily="34" charset="-120"/>
              </a:rPr>
              <a:t>in</a:t>
            </a:r>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 prices:</a:t>
            </a:r>
            <a:endParaRPr lang="en-US" sz="2200" dirty="0"/>
          </a:p>
          <a:p>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    print(price * 2)</a:t>
            </a:r>
            <a:endParaRPr lang="en-US" sz="2200" dirty="0"/>
          </a:p>
          <a:p>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    total = total + price</a:t>
            </a:r>
            <a:endParaRPr lang="en-US" sz="2200" dirty="0"/>
          </a:p>
          <a:p>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print(total)</a:t>
            </a:r>
            <a:endParaRPr lang="en-US" sz="2200" dirty="0"/>
          </a:p>
        </p:txBody>
      </p:sp>
      <p:sp>
        <p:nvSpPr>
          <p:cNvPr id="5" name="Text 3"/>
          <p:cNvSpPr txBox="1"/>
          <p:nvPr/>
        </p:nvSpPr>
        <p:spPr>
          <a:xfrm>
            <a:off x="7040880" y="1737360"/>
            <a:ext cx="4480560" cy="2560320"/>
          </a:xfrm>
          <a:prstGeom prst="rect">
            <a:avLst/>
          </a:prstGeom>
          <a:noFill/>
          <a:ln/>
        </p:spPr>
        <p:txBody>
          <a:bodyPr wrap="square" lIns="0" tIns="0" rIns="0" bIns="0" rtlCol="0" anchor="t"/>
          <a:lstStyle/>
          <a:p>
            <a:pPr algn="l" indent="0" marL="0">
              <a:lnSpc>
                <a:spcPts val="3600"/>
              </a:lnSpc>
              <a:spcAft>
                <a:spcPts val="2160"/>
              </a:spcAft>
              <a:buNone/>
            </a:pPr>
            <a:r>
              <a:rPr lang="en-US" sz="3000" dirty="0">
                <a:solidFill>
                  <a:srgbClr val="111111"/>
                </a:solidFill>
                <a:latin typeface="Lato" pitchFamily="34" charset="0"/>
                <a:ea typeface="Lato" pitchFamily="34" charset="-122"/>
                <a:cs typeface="Lato" pitchFamily="34" charset="-120"/>
              </a:rPr>
              <a:t>Predict the four numbers printed.</a:t>
            </a:r>
            <a:endParaRPr lang="en-US" sz="3000" dirty="0"/>
          </a:p>
          <a:p>
            <a:pPr algn="l" indent="0" marL="0">
              <a:lnSpc>
                <a:spcPts val="3600"/>
              </a:lnSpc>
              <a:spcAft>
                <a:spcPts val="2160"/>
              </a:spcAft>
              <a:buNone/>
            </a:pPr>
            <a:r>
              <a:rPr lang="en-US" sz="3000" dirty="0">
                <a:solidFill>
                  <a:srgbClr val="111111"/>
                </a:solidFill>
                <a:latin typeface="Lato" pitchFamily="34" charset="0"/>
                <a:ea typeface="Lato" pitchFamily="34" charset="-122"/>
                <a:cs typeface="Lato" pitchFamily="34" charset="-120"/>
              </a:rPr>
              <a:t>Write your guess on paper before we run it.</a:t>
            </a:r>
            <a:endParaRPr lang="en-US" sz="3000" dirty="0"/>
          </a:p>
        </p:txBody>
      </p:sp>
      <p:pic>
        <p:nvPicPr>
          <p:cNvPr id="6" name="Image 0" descr="A page and a pen: write your guess first">    </p:cNvPr>
          <p:cNvPicPr>
            <a:picLocks noChangeAspect="1"/>
          </p:cNvPicPr>
          <p:nvPr/>
        </p:nvPicPr>
        <p:blipFill>
          <a:blip r:embed="rId1"/>
          <a:stretch>
            <a:fillRect/>
          </a:stretch>
        </p:blipFill>
        <p:spPr>
          <a:xfrm>
            <a:off x="7916091" y="4343400"/>
            <a:ext cx="2090057" cy="182880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Run it: A loop that adds</a:t>
            </a:r>
            <a:endParaRPr lang="en-US" sz="3800" dirty="0"/>
          </a:p>
        </p:txBody>
      </p:sp>
      <p:sp>
        <p:nvSpPr>
          <p:cNvPr id="3" name="Shape 1"/>
          <p:cNvSpPr/>
          <p:nvPr/>
        </p:nvSpPr>
        <p:spPr>
          <a:xfrm>
            <a:off x="640080" y="1645920"/>
            <a:ext cx="6035040" cy="1855216"/>
          </a:xfrm>
          <a:prstGeom prst="roundRect">
            <a:avLst>
              <a:gd name="adj" fmla="val 3943"/>
            </a:avLst>
          </a:prstGeom>
          <a:solidFill>
            <a:srgbClr val="FFFFFF"/>
          </a:solidFill>
          <a:ln w="15875">
            <a:solidFill>
              <a:srgbClr val="111111"/>
            </a:solidFill>
            <a:prstDash val="solid"/>
          </a:ln>
        </p:spPr>
      </p:sp>
      <p:sp>
        <p:nvSpPr>
          <p:cNvPr id="4" name="Text 2"/>
          <p:cNvSpPr txBox="1"/>
          <p:nvPr/>
        </p:nvSpPr>
        <p:spPr>
          <a:xfrm>
            <a:off x="822960" y="1828800"/>
            <a:ext cx="5669280" cy="1489456"/>
          </a:xfrm>
          <a:prstGeom prst="rect">
            <a:avLst/>
          </a:prstGeom>
          <a:noFill/>
          <a:ln/>
        </p:spPr>
        <p:txBody>
          <a:bodyPr wrap="square" lIns="0" tIns="0" rIns="0" bIns="0" rtlCol="0" anchor="t"/>
          <a:lstStyle/>
          <a:p>
            <a:pPr algn="l" indent="0" marL="0">
              <a:lnSpc>
                <a:spcPts val="2860"/>
              </a:lnSpc>
              <a:buNone/>
            </a:pPr>
            <a:r>
              <a:rPr lang="en-US" sz="2200" dirty="0">
                <a:solidFill>
                  <a:srgbClr val="111111"/>
                </a:solidFill>
                <a:latin typeface="Courier New" pitchFamily="34" charset="0"/>
                <a:ea typeface="Courier New" pitchFamily="34" charset="-122"/>
                <a:cs typeface="Courier New" pitchFamily="34" charset="-120"/>
              </a:rPr>
              <a:t>2000</a:t>
            </a:r>
            <a:endParaRPr lang="en-US" sz="2200" dirty="0"/>
          </a:p>
          <a:p>
            <a:pPr algn="l" indent="0" marL="0">
              <a:lnSpc>
                <a:spcPts val="2860"/>
              </a:lnSpc>
              <a:buNone/>
            </a:pPr>
            <a:r>
              <a:rPr lang="en-US" sz="2200" dirty="0">
                <a:solidFill>
                  <a:srgbClr val="111111"/>
                </a:solidFill>
                <a:latin typeface="Courier New" pitchFamily="34" charset="0"/>
                <a:ea typeface="Courier New" pitchFamily="34" charset="-122"/>
                <a:cs typeface="Courier New" pitchFamily="34" charset="-120"/>
              </a:rPr>
              <a:t>4000</a:t>
            </a:r>
            <a:endParaRPr lang="en-US" sz="2200" dirty="0"/>
          </a:p>
          <a:p>
            <a:pPr algn="l" indent="0" marL="0">
              <a:lnSpc>
                <a:spcPts val="2860"/>
              </a:lnSpc>
              <a:buNone/>
            </a:pPr>
            <a:r>
              <a:rPr lang="en-US" sz="2200" dirty="0">
                <a:solidFill>
                  <a:srgbClr val="111111"/>
                </a:solidFill>
                <a:latin typeface="Courier New" pitchFamily="34" charset="0"/>
                <a:ea typeface="Courier New" pitchFamily="34" charset="-122"/>
                <a:cs typeface="Courier New" pitchFamily="34" charset="-120"/>
              </a:rPr>
              <a:t>6000</a:t>
            </a:r>
            <a:endParaRPr lang="en-US" sz="2200" dirty="0"/>
          </a:p>
          <a:p>
            <a:pPr algn="l" indent="0" marL="0">
              <a:lnSpc>
                <a:spcPts val="2860"/>
              </a:lnSpc>
              <a:buNone/>
            </a:pPr>
            <a:r>
              <a:rPr lang="en-US" sz="2200" dirty="0">
                <a:solidFill>
                  <a:srgbClr val="111111"/>
                </a:solidFill>
                <a:latin typeface="Courier New" pitchFamily="34" charset="0"/>
                <a:ea typeface="Courier New" pitchFamily="34" charset="-122"/>
                <a:cs typeface="Courier New" pitchFamily="34" charset="-120"/>
              </a:rPr>
              <a:t>6000</a:t>
            </a:r>
            <a:endParaRPr lang="en-US" sz="2200" dirty="0"/>
          </a:p>
        </p:txBody>
      </p:sp>
      <p:sp>
        <p:nvSpPr>
          <p:cNvPr id="5" name="Text 3"/>
          <p:cNvSpPr txBox="1"/>
          <p:nvPr/>
        </p:nvSpPr>
        <p:spPr>
          <a:xfrm>
            <a:off x="7040880" y="1737360"/>
            <a:ext cx="4480560" cy="4389120"/>
          </a:xfrm>
          <a:prstGeom prst="rect">
            <a:avLst/>
          </a:prstGeom>
          <a:noFill/>
          <a:ln/>
        </p:spPr>
        <p:txBody>
          <a:bodyPr wrap="square" lIns="0" tIns="0" rIns="0" bIns="0" rtlCol="0" anchor="t"/>
          <a:lstStyle/>
          <a:p>
            <a:pPr algn="l" indent="0" marL="0">
              <a:lnSpc>
                <a:spcPts val="3120"/>
              </a:lnSpc>
              <a:spcAft>
                <a:spcPts val="1580"/>
              </a:spcAft>
              <a:buNone/>
            </a:pPr>
            <a:r>
              <a:rPr lang="en-US" sz="2600" dirty="0">
                <a:solidFill>
                  <a:srgbClr val="111111"/>
                </a:solidFill>
                <a:latin typeface="Lato" pitchFamily="34" charset="0"/>
                <a:ea typeface="Lato" pitchFamily="34" charset="-122"/>
                <a:cs typeface="Lato" pitchFamily="34" charset="-120"/>
              </a:rPr>
              <a:t>The cell prints 2000, 4000, 6000 and then 6000.</a:t>
            </a:r>
            <a:endParaRPr lang="en-US" sz="2600" dirty="0"/>
          </a:p>
          <a:p>
            <a:pPr algn="l" indent="0" marL="0">
              <a:lnSpc>
                <a:spcPts val="3120"/>
              </a:lnSpc>
              <a:spcAft>
                <a:spcPts val="1580"/>
              </a:spcAft>
              <a:buNone/>
            </a:pPr>
            <a:r>
              <a:rPr lang="en-US" sz="2600" dirty="0">
                <a:solidFill>
                  <a:srgbClr val="111111"/>
                </a:solidFill>
                <a:latin typeface="Lato" pitchFamily="34" charset="0"/>
                <a:ea typeface="Lato" pitchFamily="34" charset="-122"/>
                <a:cs typeface="Lato" pitchFamily="34" charset="-120"/>
              </a:rPr>
              <a:t>for price in prices takes one item at a time and runs the indented lines for it.</a:t>
            </a:r>
            <a:endParaRPr lang="en-US" sz="2600" dirty="0"/>
          </a:p>
          <a:p>
            <a:pPr algn="l" indent="0" marL="0">
              <a:lnSpc>
                <a:spcPts val="3120"/>
              </a:lnSpc>
              <a:spcAft>
                <a:spcPts val="1580"/>
              </a:spcAft>
              <a:buNone/>
            </a:pPr>
            <a:r>
              <a:rPr lang="en-US" sz="2600" dirty="0">
                <a:solidFill>
                  <a:srgbClr val="111111"/>
                </a:solidFill>
                <a:latin typeface="Lato" pitchFamily="34" charset="0"/>
                <a:ea typeface="Lato" pitchFamily="34" charset="-122"/>
                <a:cs typeface="Lato" pitchFamily="34" charset="-120"/>
              </a:rPr>
              <a:t>total starts at 0 and grows by the item each pass: 1000, then 3000, then 6000.</a:t>
            </a:r>
            <a:endParaRPr lang="en-US" sz="26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Investigate: A loop that adds</a:t>
            </a:r>
            <a:endParaRPr lang="en-US" sz="3800" dirty="0"/>
          </a:p>
        </p:txBody>
      </p:sp>
      <p:sp>
        <p:nvSpPr>
          <p:cNvPr id="3" name="Shape 1"/>
          <p:cNvSpPr/>
          <p:nvPr/>
        </p:nvSpPr>
        <p:spPr>
          <a:xfrm>
            <a:off x="7498080" y="1737360"/>
            <a:ext cx="4023360" cy="2023872"/>
          </a:xfrm>
          <a:prstGeom prst="roundRect">
            <a:avLst>
              <a:gd name="adj" fmla="val 3614"/>
            </a:avLst>
          </a:prstGeom>
          <a:solidFill>
            <a:srgbClr val="111111"/>
          </a:solidFill>
          <a:ln/>
        </p:spPr>
      </p:sp>
      <p:sp>
        <p:nvSpPr>
          <p:cNvPr id="4" name="Text 2"/>
          <p:cNvSpPr txBox="1"/>
          <p:nvPr/>
        </p:nvSpPr>
        <p:spPr>
          <a:xfrm>
            <a:off x="7699248" y="1938528"/>
            <a:ext cx="3621024" cy="1621536"/>
          </a:xfrm>
          <a:prstGeom prst="rect">
            <a:avLst/>
          </a:prstGeom>
          <a:noFill/>
          <a:ln/>
        </p:spPr>
        <p:txBody>
          <a:bodyPr wrap="square" lIns="0" tIns="0" rIns="0" bIns="0" rtlCol="0" anchor="t"/>
          <a:lstStyle/>
          <a:p>
            <a:pPr algn="l" indent="0" marL="0">
              <a:lnSpc>
                <a:spcPts val="2080"/>
              </a:lnSpc>
              <a:buNone/>
            </a:pPr>
            <a:r>
              <a:rPr lang="en-US" sz="1600" dirty="0">
                <a:solidFill>
                  <a:srgbClr val="FFFFFF"/>
                </a:solidFill>
                <a:latin typeface="Courier New" pitchFamily="34" charset="0"/>
                <a:ea typeface="Courier New" pitchFamily="34" charset="-122"/>
                <a:cs typeface="Courier New" pitchFamily="34" charset="-120"/>
              </a:rPr>
              <a:t>prices = [1000, 2000, 3000]</a:t>
            </a:r>
            <a:endParaRPr lang="en-US" sz="1600" dirty="0"/>
          </a:p>
          <a:p>
            <a:pPr algn="l" indent="0" marL="0">
              <a:lnSpc>
                <a:spcPts val="2080"/>
              </a:lnSpc>
              <a:buNone/>
            </a:pPr>
            <a:r>
              <a:rPr lang="en-US" sz="1600" dirty="0">
                <a:solidFill>
                  <a:srgbClr val="FFFFFF"/>
                </a:solidFill>
                <a:latin typeface="Courier New" pitchFamily="34" charset="0"/>
                <a:ea typeface="Courier New" pitchFamily="34" charset="-122"/>
                <a:cs typeface="Courier New" pitchFamily="34" charset="-120"/>
              </a:rPr>
              <a:t>total = 0</a:t>
            </a:r>
            <a:endParaRPr lang="en-US" sz="1600" dirty="0"/>
          </a:p>
          <a:p>
            <a:pPr algn="l" indent="0" marL="0">
              <a:lnSpc>
                <a:spcPts val="2080"/>
              </a:lnSpc>
              <a:buNone/>
            </a:pPr>
            <a:r>
              <a:rPr lang="en-US" sz="1600" b="1" dirty="0">
                <a:solidFill>
                  <a:srgbClr val="FFFFFF"/>
                </a:solidFill>
                <a:latin typeface="Courier New" pitchFamily="34" charset="0"/>
                <a:ea typeface="Courier New" pitchFamily="34" charset="-122"/>
                <a:cs typeface="Courier New" pitchFamily="34" charset="-120"/>
              </a:rPr>
              <a:t>for</a:t>
            </a:r>
            <a:pPr algn="l" indent="0" marL="0">
              <a:lnSpc>
                <a:spcPts val="2080"/>
              </a:lnSpc>
              <a:buNone/>
            </a:pPr>
            <a:r>
              <a:rPr lang="en-US" sz="1600" dirty="0">
                <a:solidFill>
                  <a:srgbClr val="FFFFFF"/>
                </a:solidFill>
                <a:latin typeface="Courier New" pitchFamily="34" charset="0"/>
                <a:ea typeface="Courier New" pitchFamily="34" charset="-122"/>
                <a:cs typeface="Courier New" pitchFamily="34" charset="-120"/>
              </a:rPr>
              <a:t> price </a:t>
            </a:r>
            <a:pPr algn="l" indent="0" marL="0">
              <a:lnSpc>
                <a:spcPts val="2080"/>
              </a:lnSpc>
              <a:buNone/>
            </a:pPr>
            <a:r>
              <a:rPr lang="en-US" sz="1600" b="1" dirty="0">
                <a:solidFill>
                  <a:srgbClr val="FFFFFF"/>
                </a:solidFill>
                <a:latin typeface="Courier New" pitchFamily="34" charset="0"/>
                <a:ea typeface="Courier New" pitchFamily="34" charset="-122"/>
                <a:cs typeface="Courier New" pitchFamily="34" charset="-120"/>
              </a:rPr>
              <a:t>in</a:t>
            </a:r>
            <a:pPr algn="l" indent="0" marL="0">
              <a:lnSpc>
                <a:spcPts val="2080"/>
              </a:lnSpc>
              <a:buNone/>
            </a:pPr>
            <a:r>
              <a:rPr lang="en-US" sz="1600" dirty="0">
                <a:solidFill>
                  <a:srgbClr val="FFFFFF"/>
                </a:solidFill>
                <a:latin typeface="Courier New" pitchFamily="34" charset="0"/>
                <a:ea typeface="Courier New" pitchFamily="34" charset="-122"/>
                <a:cs typeface="Courier New" pitchFamily="34" charset="-120"/>
              </a:rPr>
              <a:t> prices:</a:t>
            </a:r>
            <a:endParaRPr lang="en-US" sz="1600" dirty="0"/>
          </a:p>
          <a:p>
            <a:pPr algn="l" indent="0" marL="0">
              <a:lnSpc>
                <a:spcPts val="2080"/>
              </a:lnSpc>
              <a:buNone/>
            </a:pPr>
            <a:r>
              <a:rPr lang="en-US" sz="1600" dirty="0">
                <a:solidFill>
                  <a:srgbClr val="FFFFFF"/>
                </a:solidFill>
                <a:latin typeface="Courier New" pitchFamily="34" charset="0"/>
                <a:ea typeface="Courier New" pitchFamily="34" charset="-122"/>
                <a:cs typeface="Courier New" pitchFamily="34" charset="-120"/>
              </a:rPr>
              <a:t>    print(price * 2)</a:t>
            </a:r>
            <a:endParaRPr lang="en-US" sz="1600" dirty="0"/>
          </a:p>
          <a:p>
            <a:pPr algn="l" indent="0" marL="0">
              <a:lnSpc>
                <a:spcPts val="2080"/>
              </a:lnSpc>
              <a:buNone/>
            </a:pPr>
            <a:r>
              <a:rPr lang="en-US" sz="1600" dirty="0">
                <a:solidFill>
                  <a:srgbClr val="FFFFFF"/>
                </a:solidFill>
                <a:latin typeface="Courier New" pitchFamily="34" charset="0"/>
                <a:ea typeface="Courier New" pitchFamily="34" charset="-122"/>
                <a:cs typeface="Courier New" pitchFamily="34" charset="-120"/>
              </a:rPr>
              <a:t>    total = total + price</a:t>
            </a:r>
            <a:endParaRPr lang="en-US" sz="1600" dirty="0"/>
          </a:p>
          <a:p>
            <a:pPr algn="l" indent="0" marL="0">
              <a:lnSpc>
                <a:spcPts val="2080"/>
              </a:lnSpc>
              <a:buNone/>
            </a:pPr>
            <a:r>
              <a:rPr lang="en-US" sz="1600" dirty="0">
                <a:solidFill>
                  <a:srgbClr val="FFFFFF"/>
                </a:solidFill>
                <a:latin typeface="Courier New" pitchFamily="34" charset="0"/>
                <a:ea typeface="Courier New" pitchFamily="34" charset="-122"/>
                <a:cs typeface="Courier New" pitchFamily="34" charset="-120"/>
              </a:rPr>
              <a:t>print(total)</a:t>
            </a:r>
            <a:endParaRPr lang="en-US" sz="1600" dirty="0"/>
          </a:p>
        </p:txBody>
      </p:sp>
      <p:sp>
        <p:nvSpPr>
          <p:cNvPr id="5" name="Text 3"/>
          <p:cNvSpPr txBox="1"/>
          <p:nvPr/>
        </p:nvSpPr>
        <p:spPr>
          <a:xfrm>
            <a:off x="640080" y="1737360"/>
            <a:ext cx="6400800" cy="4389120"/>
          </a:xfrm>
          <a:prstGeom prst="rect">
            <a:avLst/>
          </a:prstGeom>
          <a:noFill/>
          <a:ln/>
        </p:spPr>
        <p:txBody>
          <a:bodyPr wrap="square" lIns="0" tIns="0" rIns="0" bIns="0" rtlCol="0" anchor="t"/>
          <a:lstStyle/>
          <a:p>
            <a:pPr algn="l" indent="0" marL="0">
              <a:lnSpc>
                <a:spcPts val="4320"/>
              </a:lnSpc>
              <a:spcAft>
                <a:spcPts val="3960"/>
              </a:spcAft>
              <a:buNone/>
            </a:pPr>
            <a:r>
              <a:rPr lang="en-US" sz="3600" dirty="0">
                <a:solidFill>
                  <a:srgbClr val="111111"/>
                </a:solidFill>
                <a:latin typeface="Lato" pitchFamily="34" charset="0"/>
                <a:ea typeface="Lato" pitchFamily="34" charset="-122"/>
                <a:cs typeface="Lato" pitchFamily="34" charset="-120"/>
              </a:rPr>
              <a:t>1.  What is total after the second pass?</a:t>
            </a:r>
            <a:endParaRPr lang="en-US" sz="3600" dirty="0"/>
          </a:p>
          <a:p>
            <a:pPr algn="l" indent="0" marL="0">
              <a:lnSpc>
                <a:spcPts val="4320"/>
              </a:lnSpc>
              <a:spcAft>
                <a:spcPts val="3960"/>
              </a:spcAft>
              <a:buNone/>
            </a:pPr>
            <a:r>
              <a:rPr lang="en-US" sz="3600" dirty="0">
                <a:solidFill>
                  <a:srgbClr val="111111"/>
                </a:solidFill>
                <a:latin typeface="Lato" pitchFamily="34" charset="0"/>
                <a:ea typeface="Lato" pitchFamily="34" charset="-122"/>
                <a:cs typeface="Lato" pitchFamily="34" charset="-120"/>
              </a:rPr>
              <a:t>2.  What goes wrong if total = 0 is moved inside the loop?</a:t>
            </a:r>
            <a:endParaRPr lang="en-US" sz="36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Modify: change one thing</a:t>
            </a:r>
            <a:endParaRPr lang="en-US" sz="3800" dirty="0"/>
          </a:p>
        </p:txBody>
      </p:sp>
      <p:sp>
        <p:nvSpPr>
          <p:cNvPr id="3" name="Text 1"/>
          <p:cNvSpPr txBox="1"/>
          <p:nvPr/>
        </p:nvSpPr>
        <p:spPr>
          <a:xfrm>
            <a:off x="640080" y="1737360"/>
            <a:ext cx="6035040" cy="4206240"/>
          </a:xfrm>
          <a:prstGeom prst="rect">
            <a:avLst/>
          </a:prstGeom>
          <a:noFill/>
          <a:ln/>
        </p:spPr>
        <p:txBody>
          <a:bodyPr wrap="square" lIns="0" tIns="0" rIns="0" bIns="0" rtlCol="0" anchor="t"/>
          <a:lstStyle/>
          <a:p>
            <a:pPr algn="l" indent="0" marL="0">
              <a:lnSpc>
                <a:spcPts val="4320"/>
              </a:lnSpc>
              <a:spcAft>
                <a:spcPts val="3240"/>
              </a:spcAft>
              <a:buNone/>
            </a:pPr>
            <a:r>
              <a:rPr lang="en-US" sz="3600" dirty="0">
                <a:solidFill>
                  <a:srgbClr val="111111"/>
                </a:solidFill>
                <a:latin typeface="Lato" pitchFamily="34" charset="0"/>
                <a:ea typeface="Lato" pitchFamily="34" charset="-122"/>
                <a:cs typeface="Lato" pitchFamily="34" charset="-120"/>
              </a:rPr>
              <a:t>Change the list to [1500, 2500] and run the loop again.</a:t>
            </a:r>
            <a:endParaRPr lang="en-US" sz="3600" dirty="0"/>
          </a:p>
          <a:p>
            <a:pPr algn="l" indent="0" marL="0">
              <a:lnSpc>
                <a:spcPts val="4320"/>
              </a:lnSpc>
              <a:spcAft>
                <a:spcPts val="3240"/>
              </a:spcAft>
              <a:buNone/>
            </a:pPr>
            <a:r>
              <a:rPr lang="en-US" sz="3600" dirty="0">
                <a:solidFill>
                  <a:srgbClr val="111111"/>
                </a:solidFill>
                <a:latin typeface="Lato" pitchFamily="34" charset="0"/>
                <a:ea typeface="Lato" pitchFamily="34" charset="-122"/>
                <a:cs typeface="Lato" pitchFamily="34" charset="-120"/>
              </a:rPr>
              <a:t>Then tell your neighbour what changed and how you know.</a:t>
            </a:r>
            <a:endParaRPr lang="en-US" sz="3600" dirty="0"/>
          </a:p>
        </p:txBody>
      </p:sp>
      <p:sp>
        <p:nvSpPr>
          <p:cNvPr id="4" name="Shape 2"/>
          <p:cNvSpPr/>
          <p:nvPr/>
        </p:nvSpPr>
        <p:spPr>
          <a:xfrm>
            <a:off x="7223760" y="1737360"/>
            <a:ext cx="4297680" cy="2122932"/>
          </a:xfrm>
          <a:prstGeom prst="roundRect">
            <a:avLst>
              <a:gd name="adj" fmla="val 3446"/>
            </a:avLst>
          </a:prstGeom>
          <a:solidFill>
            <a:srgbClr val="111111"/>
          </a:solidFill>
          <a:ln/>
        </p:spPr>
      </p:sp>
      <p:sp>
        <p:nvSpPr>
          <p:cNvPr id="5" name="Text 3"/>
          <p:cNvSpPr txBox="1"/>
          <p:nvPr/>
        </p:nvSpPr>
        <p:spPr>
          <a:xfrm>
            <a:off x="7424928" y="1938528"/>
            <a:ext cx="3895344" cy="1720596"/>
          </a:xfrm>
          <a:prstGeom prst="rect">
            <a:avLst/>
          </a:prstGeom>
          <a:noFill/>
          <a:ln/>
        </p:spPr>
        <p:txBody>
          <a:bodyPr wrap="square" lIns="0" tIns="0" rIns="0" bIns="0" rtlCol="0" anchor="t"/>
          <a:lstStyle/>
          <a:p>
            <a:pPr algn="l" indent="0" marL="0">
              <a:lnSpc>
                <a:spcPts val="2210"/>
              </a:lnSpc>
              <a:buNone/>
            </a:pPr>
            <a:r>
              <a:rPr lang="en-US" sz="1700" dirty="0">
                <a:solidFill>
                  <a:srgbClr val="FFFFFF"/>
                </a:solidFill>
                <a:latin typeface="Courier New" pitchFamily="34" charset="0"/>
                <a:ea typeface="Courier New" pitchFamily="34" charset="-122"/>
                <a:cs typeface="Courier New" pitchFamily="34" charset="-120"/>
              </a:rPr>
              <a:t>prices = [1000, 2000, 3000]</a:t>
            </a:r>
            <a:endParaRPr lang="en-US" sz="1700" dirty="0"/>
          </a:p>
          <a:p>
            <a:pPr algn="l" indent="0" marL="0">
              <a:lnSpc>
                <a:spcPts val="2210"/>
              </a:lnSpc>
              <a:buNone/>
            </a:pPr>
            <a:r>
              <a:rPr lang="en-US" sz="1700" dirty="0">
                <a:solidFill>
                  <a:srgbClr val="FFFFFF"/>
                </a:solidFill>
                <a:latin typeface="Courier New" pitchFamily="34" charset="0"/>
                <a:ea typeface="Courier New" pitchFamily="34" charset="-122"/>
                <a:cs typeface="Courier New" pitchFamily="34" charset="-120"/>
              </a:rPr>
              <a:t>total = 0</a:t>
            </a:r>
            <a:endParaRPr lang="en-US" sz="1700" dirty="0"/>
          </a:p>
          <a:p>
            <a:pPr algn="l" indent="0" marL="0">
              <a:lnSpc>
                <a:spcPts val="2210"/>
              </a:lnSpc>
              <a:buNone/>
            </a:pPr>
            <a:r>
              <a:rPr lang="en-US" sz="1700" b="1" dirty="0">
                <a:solidFill>
                  <a:srgbClr val="FFFFFF"/>
                </a:solidFill>
                <a:latin typeface="Courier New" pitchFamily="34" charset="0"/>
                <a:ea typeface="Courier New" pitchFamily="34" charset="-122"/>
                <a:cs typeface="Courier New" pitchFamily="34" charset="-120"/>
              </a:rPr>
              <a:t>for</a:t>
            </a:r>
            <a:pPr algn="l" indent="0" marL="0">
              <a:lnSpc>
                <a:spcPts val="2210"/>
              </a:lnSpc>
              <a:buNone/>
            </a:pPr>
            <a:r>
              <a:rPr lang="en-US" sz="1700" dirty="0">
                <a:solidFill>
                  <a:srgbClr val="FFFFFF"/>
                </a:solidFill>
                <a:latin typeface="Courier New" pitchFamily="34" charset="0"/>
                <a:ea typeface="Courier New" pitchFamily="34" charset="-122"/>
                <a:cs typeface="Courier New" pitchFamily="34" charset="-120"/>
              </a:rPr>
              <a:t> price </a:t>
            </a:r>
            <a:pPr algn="l" indent="0" marL="0">
              <a:lnSpc>
                <a:spcPts val="2210"/>
              </a:lnSpc>
              <a:buNone/>
            </a:pPr>
            <a:r>
              <a:rPr lang="en-US" sz="1700" b="1" dirty="0">
                <a:solidFill>
                  <a:srgbClr val="FFFFFF"/>
                </a:solidFill>
                <a:latin typeface="Courier New" pitchFamily="34" charset="0"/>
                <a:ea typeface="Courier New" pitchFamily="34" charset="-122"/>
                <a:cs typeface="Courier New" pitchFamily="34" charset="-120"/>
              </a:rPr>
              <a:t>in</a:t>
            </a:r>
            <a:pPr algn="l" indent="0" marL="0">
              <a:lnSpc>
                <a:spcPts val="2210"/>
              </a:lnSpc>
              <a:buNone/>
            </a:pPr>
            <a:r>
              <a:rPr lang="en-US" sz="1700" dirty="0">
                <a:solidFill>
                  <a:srgbClr val="FFFFFF"/>
                </a:solidFill>
                <a:latin typeface="Courier New" pitchFamily="34" charset="0"/>
                <a:ea typeface="Courier New" pitchFamily="34" charset="-122"/>
                <a:cs typeface="Courier New" pitchFamily="34" charset="-120"/>
              </a:rPr>
              <a:t> prices:</a:t>
            </a:r>
            <a:endParaRPr lang="en-US" sz="1700" dirty="0"/>
          </a:p>
          <a:p>
            <a:pPr algn="l" indent="0" marL="0">
              <a:lnSpc>
                <a:spcPts val="2210"/>
              </a:lnSpc>
              <a:buNone/>
            </a:pPr>
            <a:r>
              <a:rPr lang="en-US" sz="1700" dirty="0">
                <a:solidFill>
                  <a:srgbClr val="FFFFFF"/>
                </a:solidFill>
                <a:latin typeface="Courier New" pitchFamily="34" charset="0"/>
                <a:ea typeface="Courier New" pitchFamily="34" charset="-122"/>
                <a:cs typeface="Courier New" pitchFamily="34" charset="-120"/>
              </a:rPr>
              <a:t>    print(price * 2)</a:t>
            </a:r>
            <a:endParaRPr lang="en-US" sz="1700" dirty="0"/>
          </a:p>
          <a:p>
            <a:pPr algn="l" indent="0" marL="0">
              <a:lnSpc>
                <a:spcPts val="2210"/>
              </a:lnSpc>
              <a:buNone/>
            </a:pPr>
            <a:r>
              <a:rPr lang="en-US" sz="1700" dirty="0">
                <a:solidFill>
                  <a:srgbClr val="FFFFFF"/>
                </a:solidFill>
                <a:latin typeface="Courier New" pitchFamily="34" charset="0"/>
                <a:ea typeface="Courier New" pitchFamily="34" charset="-122"/>
                <a:cs typeface="Courier New" pitchFamily="34" charset="-120"/>
              </a:rPr>
              <a:t>    total = total + price</a:t>
            </a:r>
            <a:endParaRPr lang="en-US" sz="1700" dirty="0"/>
          </a:p>
          <a:p>
            <a:pPr algn="l" indent="0" marL="0">
              <a:lnSpc>
                <a:spcPts val="2210"/>
              </a:lnSpc>
              <a:buNone/>
            </a:pPr>
            <a:r>
              <a:rPr lang="en-US" sz="1700" dirty="0">
                <a:solidFill>
                  <a:srgbClr val="FFFFFF"/>
                </a:solidFill>
                <a:latin typeface="Courier New" pitchFamily="34" charset="0"/>
                <a:ea typeface="Courier New" pitchFamily="34" charset="-122"/>
                <a:cs typeface="Courier New" pitchFamily="34" charset="-120"/>
              </a:rPr>
              <a:t>print(total)</a:t>
            </a:r>
            <a:endParaRPr lang="en-US" sz="17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Where the counter starts decides the answer</a:t>
            </a:r>
            <a:endParaRPr lang="en-US" sz="3800" dirty="0"/>
          </a:p>
        </p:txBody>
      </p:sp>
      <p:pic>
        <p:nvPicPr>
          <p:cNvPr id="3" name="Image 0" descr="Counter set to 0 once, before the loop: the total keeps growing.">    </p:cNvPr>
          <p:cNvPicPr>
            <a:picLocks noChangeAspect="1"/>
          </p:cNvPicPr>
          <p:nvPr/>
        </p:nvPicPr>
        <p:blipFill>
          <a:blip r:embed="rId1"/>
          <a:stretch>
            <a:fillRect/>
          </a:stretch>
        </p:blipFill>
        <p:spPr>
          <a:xfrm>
            <a:off x="640080" y="1554480"/>
            <a:ext cx="5349240" cy="3429000"/>
          </a:xfrm>
          <a:prstGeom prst="rect">
            <a:avLst/>
          </a:prstGeom>
        </p:spPr>
      </p:pic>
      <p:sp>
        <p:nvSpPr>
          <p:cNvPr id="4" name="Text 1"/>
          <p:cNvSpPr txBox="1"/>
          <p:nvPr/>
        </p:nvSpPr>
        <p:spPr>
          <a:xfrm>
            <a:off x="640080" y="5074920"/>
            <a:ext cx="5349240" cy="1188720"/>
          </a:xfrm>
          <a:prstGeom prst="rect">
            <a:avLst/>
          </a:prstGeom>
          <a:noFill/>
          <a:ln/>
        </p:spPr>
        <p:txBody>
          <a:bodyPr wrap="square" lIns="0" tIns="0" rIns="0" bIns="0" rtlCol="0" anchor="t"/>
          <a:lstStyle/>
          <a:p>
            <a:pPr algn="l" indent="0" marL="0">
              <a:lnSpc>
                <a:spcPts val="2640"/>
              </a:lnSpc>
              <a:spcAft>
                <a:spcPts val="1010"/>
              </a:spcAft>
              <a:buNone/>
            </a:pPr>
            <a:r>
              <a:rPr lang="en-US" sz="2200" dirty="0">
                <a:solidFill>
                  <a:srgbClr val="111111"/>
                </a:solidFill>
                <a:latin typeface="Lato" pitchFamily="34" charset="0"/>
                <a:ea typeface="Lato" pitchFamily="34" charset="-122"/>
                <a:cs typeface="Lato" pitchFamily="34" charset="-120"/>
              </a:rPr>
              <a:t>Counter set to 0 once, before the loop: the total keeps growing.</a:t>
            </a:r>
            <a:endParaRPr lang="en-US" sz="2200" dirty="0"/>
          </a:p>
        </p:txBody>
      </p:sp>
      <p:pic>
        <p:nvPicPr>
          <p:cNvPr id="5" name="Image 1" descr="Counter set to 0 inside the loop: it restarts every pass.">    </p:cNvPr>
          <p:cNvPicPr>
            <a:picLocks noChangeAspect="1"/>
          </p:cNvPicPr>
          <p:nvPr/>
        </p:nvPicPr>
        <p:blipFill>
          <a:blip r:embed="rId2"/>
          <a:stretch>
            <a:fillRect/>
          </a:stretch>
        </p:blipFill>
        <p:spPr>
          <a:xfrm>
            <a:off x="6172200" y="1554480"/>
            <a:ext cx="5349240" cy="3429000"/>
          </a:xfrm>
          <a:prstGeom prst="rect">
            <a:avLst/>
          </a:prstGeom>
        </p:spPr>
      </p:pic>
      <p:sp>
        <p:nvSpPr>
          <p:cNvPr id="6" name="Text 2"/>
          <p:cNvSpPr txBox="1"/>
          <p:nvPr/>
        </p:nvSpPr>
        <p:spPr>
          <a:xfrm>
            <a:off x="6172200" y="5074920"/>
            <a:ext cx="5349240" cy="1188720"/>
          </a:xfrm>
          <a:prstGeom prst="rect">
            <a:avLst/>
          </a:prstGeom>
          <a:noFill/>
          <a:ln/>
        </p:spPr>
        <p:txBody>
          <a:bodyPr wrap="square" lIns="0" tIns="0" rIns="0" bIns="0" rtlCol="0" anchor="t"/>
          <a:lstStyle/>
          <a:p>
            <a:pPr algn="l" indent="0" marL="0">
              <a:lnSpc>
                <a:spcPts val="2640"/>
              </a:lnSpc>
              <a:spcAft>
                <a:spcPts val="1010"/>
              </a:spcAft>
              <a:buNone/>
            </a:pPr>
            <a:r>
              <a:rPr lang="en-US" sz="2200" dirty="0">
                <a:solidFill>
                  <a:srgbClr val="111111"/>
                </a:solidFill>
                <a:latin typeface="Lato" pitchFamily="34" charset="0"/>
                <a:ea typeface="Lato" pitchFamily="34" charset="-122"/>
                <a:cs typeface="Lato" pitchFamily="34" charset="-120"/>
              </a:rPr>
              <a:t>Counter set to 0 inside the loop: it restarts every pass.</a:t>
            </a:r>
            <a:endParaRPr lang="en-US" sz="22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Make: your own version</a:t>
            </a:r>
            <a:endParaRPr lang="en-US" sz="3800" dirty="0"/>
          </a:p>
        </p:txBody>
      </p:sp>
      <p:sp>
        <p:nvSpPr>
          <p:cNvPr id="3" name="Text 1"/>
          <p:cNvSpPr txBox="1"/>
          <p:nvPr/>
        </p:nvSpPr>
        <p:spPr>
          <a:xfrm>
            <a:off x="640080" y="1737360"/>
            <a:ext cx="6949440" cy="4480560"/>
          </a:xfrm>
          <a:prstGeom prst="rect">
            <a:avLst/>
          </a:prstGeom>
          <a:noFill/>
          <a:ln/>
        </p:spPr>
        <p:txBody>
          <a:bodyPr wrap="square" lIns="0" tIns="0" rIns="0" bIns="0" rtlCol="0" anchor="t"/>
          <a:lstStyle/>
          <a:p>
            <a:pPr algn="l" indent="0" marL="0">
              <a:lnSpc>
                <a:spcPts val="3360"/>
              </a:lnSpc>
              <a:spcAft>
                <a:spcPts val="2520"/>
              </a:spcAft>
              <a:buNone/>
            </a:pPr>
            <a:r>
              <a:rPr lang="en-US" sz="2800" dirty="0">
                <a:solidFill>
                  <a:srgbClr val="111111"/>
                </a:solidFill>
                <a:latin typeface="Lato" pitchFamily="34" charset="0"/>
                <a:ea typeface="Lato" pitchFamily="34" charset="-122"/>
                <a:cs typeface="Lato" pitchFamily="34" charset="-120"/>
              </a:rPr>
              <a:t>Make the list [2, 4, 6] and print each value plus 1 with a loop. Make a dictionary with the keys name and stock and print the stock. Then loop over the eight petal lengths 1.4, 1.4, 4.7, 4.5, 4.9, 6.0, 5.1, 5.9 and count how many are below 2.5.</a:t>
            </a:r>
            <a:endParaRPr lang="en-US" sz="2800" dirty="0"/>
          </a:p>
          <a:p>
            <a:pPr algn="l" indent="0" marL="0">
              <a:lnSpc>
                <a:spcPts val="3360"/>
              </a:lnSpc>
              <a:spcAft>
                <a:spcPts val="2520"/>
              </a:spcAft>
              <a:buNone/>
            </a:pPr>
            <a:r>
              <a:rPr lang="en-US" sz="2800" dirty="0">
                <a:solidFill>
                  <a:srgbClr val="111111"/>
                </a:solidFill>
                <a:latin typeface="Lato" pitchFamily="34" charset="0"/>
                <a:ea typeface="Lato" pitchFamily="34" charset="-122"/>
                <a:cs typeface="Lato" pitchFamily="34" charset="-120"/>
              </a:rPr>
              <a:t>Save it as ML05. Write two sentences: what you changed and how you checked it.</a:t>
            </a:r>
            <a:endParaRPr lang="en-US" sz="2800" dirty="0"/>
          </a:p>
        </p:txBody>
      </p:sp>
      <p:pic>
        <p:nvPicPr>
          <p:cNvPr id="4" name="Image 0" descr="A notebook saved with a tick">    </p:cNvPr>
          <p:cNvPicPr>
            <a:picLocks noChangeAspect="1"/>
          </p:cNvPicPr>
          <p:nvPr/>
        </p:nvPicPr>
        <p:blipFill>
          <a:blip r:embed="rId1"/>
          <a:stretch>
            <a:fillRect/>
          </a:stretch>
        </p:blipFill>
        <p:spPr>
          <a:xfrm>
            <a:off x="8138160" y="1920240"/>
            <a:ext cx="3474720" cy="329184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Two errors you may meet today</a:t>
            </a:r>
            <a:endParaRPr lang="en-US" sz="3800" dirty="0"/>
          </a:p>
        </p:txBody>
      </p:sp>
      <p:pic>
        <p:nvPicPr>
          <p:cNvPr id="3" name="Image 0" descr="Error">    </p:cNvPr>
          <p:cNvPicPr>
            <a:picLocks noChangeAspect="1"/>
          </p:cNvPicPr>
          <p:nvPr/>
        </p:nvPicPr>
        <p:blipFill>
          <a:blip r:embed="rId1"/>
          <a:stretch>
            <a:fillRect/>
          </a:stretch>
        </p:blipFill>
        <p:spPr>
          <a:xfrm>
            <a:off x="640080" y="1691640"/>
            <a:ext cx="822960" cy="822960"/>
          </a:xfrm>
          <a:prstGeom prst="rect">
            <a:avLst/>
          </a:prstGeom>
        </p:spPr>
      </p:pic>
      <p:sp>
        <p:nvSpPr>
          <p:cNvPr id="4" name="Shape 1"/>
          <p:cNvSpPr/>
          <p:nvPr/>
        </p:nvSpPr>
        <p:spPr>
          <a:xfrm>
            <a:off x="1645920" y="1828800"/>
            <a:ext cx="4023360" cy="1645920"/>
          </a:xfrm>
          <a:prstGeom prst="roundRect">
            <a:avLst>
              <a:gd name="adj" fmla="val 3333"/>
            </a:avLst>
          </a:prstGeom>
          <a:solidFill>
            <a:srgbClr val="FFFFFF"/>
          </a:solidFill>
          <a:ln w="25400">
            <a:solidFill>
              <a:srgbClr val="AE2525"/>
            </a:solidFill>
            <a:prstDash val="solid"/>
          </a:ln>
        </p:spPr>
      </p:sp>
      <p:sp>
        <p:nvSpPr>
          <p:cNvPr id="5" name="Text 2"/>
          <p:cNvSpPr txBox="1"/>
          <p:nvPr/>
        </p:nvSpPr>
        <p:spPr>
          <a:xfrm>
            <a:off x="1783080" y="1920240"/>
            <a:ext cx="3749040" cy="1463040"/>
          </a:xfrm>
          <a:prstGeom prst="rect">
            <a:avLst/>
          </a:prstGeom>
          <a:noFill/>
          <a:ln/>
        </p:spPr>
        <p:txBody>
          <a:bodyPr wrap="square" lIns="0" tIns="0" rIns="0" bIns="0" rtlCol="0" anchor="ctr"/>
          <a:lstStyle/>
          <a:p>
            <a:pPr algn="l" indent="0" marL="0">
              <a:lnSpc>
                <a:spcPts val="2500"/>
              </a:lnSpc>
              <a:buNone/>
            </a:pPr>
            <a:r>
              <a:rPr lang="en-US" sz="2000" dirty="0">
                <a:solidFill>
                  <a:srgbClr val="AE2525"/>
                </a:solidFill>
                <a:latin typeface="Courier New" pitchFamily="34" charset="0"/>
                <a:ea typeface="Courier New" pitchFamily="34" charset="-122"/>
                <a:cs typeface="Courier New" pitchFamily="34" charset="-120"/>
              </a:rPr>
              <a:t>IndexError: list index out of range</a:t>
            </a:r>
            <a:endParaRPr lang="en-US" sz="2000" dirty="0"/>
          </a:p>
        </p:txBody>
      </p:sp>
      <p:sp>
        <p:nvSpPr>
          <p:cNvPr id="6" name="Text 3"/>
          <p:cNvSpPr txBox="1"/>
          <p:nvPr/>
        </p:nvSpPr>
        <p:spPr>
          <a:xfrm>
            <a:off x="6035040" y="1664208"/>
            <a:ext cx="5486400" cy="1965960"/>
          </a:xfrm>
          <a:prstGeom prst="rect">
            <a:avLst/>
          </a:prstGeom>
          <a:noFill/>
          <a:ln/>
        </p:spPr>
        <p:txBody>
          <a:bodyPr wrap="square" lIns="0" tIns="0" rIns="0" bIns="0" rtlCol="0" anchor="t"/>
          <a:lstStyle/>
          <a:p>
            <a:pPr algn="l" indent="0" marL="0">
              <a:lnSpc>
                <a:spcPts val="2640"/>
              </a:lnSpc>
              <a:spcAft>
                <a:spcPts val="1300"/>
              </a:spcAft>
              <a:buNone/>
            </a:pPr>
            <a:r>
              <a:rPr lang="en-US" sz="2200" dirty="0">
                <a:solidFill>
                  <a:srgbClr val="111111"/>
                </a:solidFill>
                <a:latin typeface="Lato" pitchFamily="34" charset="0"/>
                <a:ea typeface="Lato" pitchFamily="34" charset="-122"/>
                <a:cs typeface="Lato" pitchFamily="34" charset="-120"/>
              </a:rPr>
              <a:t>It means: You asked for a position the list does not have.</a:t>
            </a:r>
            <a:endParaRPr lang="en-US" sz="2200" dirty="0"/>
          </a:p>
          <a:p>
            <a:pPr algn="l" indent="0" marL="0">
              <a:lnSpc>
                <a:spcPts val="2640"/>
              </a:lnSpc>
              <a:spcAft>
                <a:spcPts val="1300"/>
              </a:spcAft>
              <a:buNone/>
            </a:pPr>
            <a:r>
              <a:rPr lang="en-US" sz="2200" dirty="0">
                <a:solidFill>
                  <a:srgbClr val="111111"/>
                </a:solidFill>
                <a:latin typeface="Lato" pitchFamily="34" charset="0"/>
                <a:ea typeface="Lato" pitchFamily="34" charset="-122"/>
                <a:cs typeface="Lato" pitchFamily="34" charset="-120"/>
              </a:rPr>
              <a:t>Fix: A list of 3 items has positions 0, 1 and 2.</a:t>
            </a:r>
            <a:endParaRPr lang="en-US" sz="2200" dirty="0"/>
          </a:p>
        </p:txBody>
      </p:sp>
      <p:sp>
        <p:nvSpPr>
          <p:cNvPr id="7" name="Shape 4"/>
          <p:cNvSpPr/>
          <p:nvPr/>
        </p:nvSpPr>
        <p:spPr>
          <a:xfrm>
            <a:off x="640080" y="3813048"/>
            <a:ext cx="10881360" cy="0"/>
          </a:xfrm>
          <a:prstGeom prst="line">
            <a:avLst/>
          </a:prstGeom>
          <a:noFill/>
          <a:ln w="12700">
            <a:solidFill>
              <a:srgbClr val="CFCFCF"/>
            </a:solidFill>
            <a:prstDash val="solid"/>
          </a:ln>
        </p:spPr>
      </p:sp>
      <p:pic>
        <p:nvPicPr>
          <p:cNvPr id="8" name="Image 1" descr="Error">    </p:cNvPr>
          <p:cNvPicPr>
            <a:picLocks noChangeAspect="1"/>
          </p:cNvPicPr>
          <p:nvPr/>
        </p:nvPicPr>
        <p:blipFill>
          <a:blip r:embed="rId2"/>
          <a:stretch>
            <a:fillRect/>
          </a:stretch>
        </p:blipFill>
        <p:spPr>
          <a:xfrm>
            <a:off x="640080" y="4023360"/>
            <a:ext cx="822960" cy="822960"/>
          </a:xfrm>
          <a:prstGeom prst="rect">
            <a:avLst/>
          </a:prstGeom>
        </p:spPr>
      </p:pic>
      <p:sp>
        <p:nvSpPr>
          <p:cNvPr id="9" name="Shape 5"/>
          <p:cNvSpPr/>
          <p:nvPr/>
        </p:nvSpPr>
        <p:spPr>
          <a:xfrm>
            <a:off x="1645920" y="4160520"/>
            <a:ext cx="4023360" cy="1645920"/>
          </a:xfrm>
          <a:prstGeom prst="roundRect">
            <a:avLst>
              <a:gd name="adj" fmla="val 3333"/>
            </a:avLst>
          </a:prstGeom>
          <a:solidFill>
            <a:srgbClr val="FFFFFF"/>
          </a:solidFill>
          <a:ln w="25400">
            <a:solidFill>
              <a:srgbClr val="AE2525"/>
            </a:solidFill>
            <a:prstDash val="solid"/>
          </a:ln>
        </p:spPr>
      </p:sp>
      <p:sp>
        <p:nvSpPr>
          <p:cNvPr id="10" name="Text 6"/>
          <p:cNvSpPr txBox="1"/>
          <p:nvPr/>
        </p:nvSpPr>
        <p:spPr>
          <a:xfrm>
            <a:off x="1783080" y="4251960"/>
            <a:ext cx="3749040" cy="1463040"/>
          </a:xfrm>
          <a:prstGeom prst="rect">
            <a:avLst/>
          </a:prstGeom>
          <a:noFill/>
          <a:ln/>
        </p:spPr>
        <p:txBody>
          <a:bodyPr wrap="square" lIns="0" tIns="0" rIns="0" bIns="0" rtlCol="0" anchor="ctr"/>
          <a:lstStyle/>
          <a:p>
            <a:pPr algn="l" indent="0" marL="0">
              <a:lnSpc>
                <a:spcPts val="2500"/>
              </a:lnSpc>
              <a:buNone/>
            </a:pPr>
            <a:r>
              <a:rPr lang="en-US" sz="2000" dirty="0">
                <a:solidFill>
                  <a:srgbClr val="AE2525"/>
                </a:solidFill>
                <a:latin typeface="Courier New" pitchFamily="34" charset="0"/>
                <a:ea typeface="Courier New" pitchFamily="34" charset="-122"/>
                <a:cs typeface="Courier New" pitchFamily="34" charset="-120"/>
              </a:rPr>
              <a:t>KeyError: 'price'</a:t>
            </a:r>
            <a:endParaRPr lang="en-US" sz="2000" dirty="0"/>
          </a:p>
        </p:txBody>
      </p:sp>
      <p:sp>
        <p:nvSpPr>
          <p:cNvPr id="11" name="Text 7"/>
          <p:cNvSpPr txBox="1"/>
          <p:nvPr/>
        </p:nvSpPr>
        <p:spPr>
          <a:xfrm>
            <a:off x="6035040" y="3995928"/>
            <a:ext cx="5486400" cy="1965960"/>
          </a:xfrm>
          <a:prstGeom prst="rect">
            <a:avLst/>
          </a:prstGeom>
          <a:noFill/>
          <a:ln/>
        </p:spPr>
        <p:txBody>
          <a:bodyPr wrap="square" lIns="0" tIns="0" rIns="0" bIns="0" rtlCol="0" anchor="t"/>
          <a:lstStyle/>
          <a:p>
            <a:pPr algn="l" indent="0" marL="0">
              <a:lnSpc>
                <a:spcPts val="2640"/>
              </a:lnSpc>
              <a:spcAft>
                <a:spcPts val="1300"/>
              </a:spcAft>
              <a:buNone/>
            </a:pPr>
            <a:r>
              <a:rPr lang="en-US" sz="2200" dirty="0">
                <a:solidFill>
                  <a:srgbClr val="111111"/>
                </a:solidFill>
                <a:latin typeface="Lato" pitchFamily="34" charset="0"/>
                <a:ea typeface="Lato" pitchFamily="34" charset="-122"/>
                <a:cs typeface="Lato" pitchFamily="34" charset="-120"/>
              </a:rPr>
              <a:t>It means: The dictionary has no key spelled like that.</a:t>
            </a:r>
            <a:endParaRPr lang="en-US" sz="2200" dirty="0"/>
          </a:p>
          <a:p>
            <a:pPr algn="l" indent="0" marL="0">
              <a:lnSpc>
                <a:spcPts val="2640"/>
              </a:lnSpc>
              <a:spcAft>
                <a:spcPts val="1300"/>
              </a:spcAft>
              <a:buNone/>
            </a:pPr>
            <a:r>
              <a:rPr lang="en-US" sz="2200" dirty="0">
                <a:solidFill>
                  <a:srgbClr val="111111"/>
                </a:solidFill>
                <a:latin typeface="Lato" pitchFamily="34" charset="0"/>
                <a:ea typeface="Lato" pitchFamily="34" charset="-122"/>
                <a:cs typeface="Lato" pitchFamily="34" charset="-120"/>
              </a:rPr>
              <a:t>Fix: Check the exact spelling and capital letters of the key.</a:t>
            </a:r>
            <a:endParaRPr lang="en-US" sz="22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Finish this sentence in your notebook</a:t>
            </a:r>
            <a:endParaRPr lang="en-US" sz="3800" dirty="0"/>
          </a:p>
        </p:txBody>
      </p:sp>
      <p:sp>
        <p:nvSpPr>
          <p:cNvPr id="3" name="Text 1"/>
          <p:cNvSpPr txBox="1"/>
          <p:nvPr/>
        </p:nvSpPr>
        <p:spPr>
          <a:xfrm>
            <a:off x="640080" y="1737360"/>
            <a:ext cx="6949440" cy="2926080"/>
          </a:xfrm>
          <a:prstGeom prst="rect">
            <a:avLst/>
          </a:prstGeom>
          <a:noFill/>
          <a:ln/>
        </p:spPr>
        <p:txBody>
          <a:bodyPr wrap="square" lIns="0" tIns="0" rIns="0" bIns="0" rtlCol="0" anchor="t"/>
          <a:lstStyle/>
          <a:p>
            <a:pPr algn="l" indent="0" marL="0">
              <a:lnSpc>
                <a:spcPts val="4800"/>
              </a:lnSpc>
              <a:spcAft>
                <a:spcPts val="1010"/>
              </a:spcAft>
              <a:buNone/>
            </a:pPr>
            <a:r>
              <a:rPr lang="en-US" sz="4000" dirty="0">
                <a:solidFill>
                  <a:srgbClr val="111111"/>
                </a:solidFill>
                <a:latin typeface="Lato" pitchFamily="34" charset="0"/>
                <a:ea typeface="Lato" pitchFamily="34" charset="-122"/>
                <a:cs typeface="Lato" pitchFamily="34" charset="-120"/>
              </a:rPr>
              <a:t>A loop repeats the same lines for every item, and a total that starts at 0 grows each pass.</a:t>
            </a:r>
            <a:endParaRPr lang="en-US" sz="4000" dirty="0"/>
          </a:p>
        </p:txBody>
      </p:sp>
      <p:sp>
        <p:nvSpPr>
          <p:cNvPr id="4" name="Text 2"/>
          <p:cNvSpPr txBox="1"/>
          <p:nvPr/>
        </p:nvSpPr>
        <p:spPr>
          <a:xfrm>
            <a:off x="640080" y="4846320"/>
            <a:ext cx="6949440" cy="1097280"/>
          </a:xfrm>
          <a:prstGeom prst="rect">
            <a:avLst/>
          </a:prstGeom>
          <a:noFill/>
          <a:ln/>
        </p:spPr>
        <p:txBody>
          <a:bodyPr wrap="square" lIns="0" tIns="0" rIns="0" bIns="0" rtlCol="0" anchor="t"/>
          <a:lstStyle/>
          <a:p>
            <a:pPr algn="l" indent="0" marL="0">
              <a:lnSpc>
                <a:spcPts val="2750"/>
              </a:lnSpc>
              <a:buNone/>
            </a:pPr>
            <a:r>
              <a:rPr lang="en-US" sz="2200" dirty="0">
                <a:solidFill>
                  <a:srgbClr val="333333"/>
                </a:solidFill>
                <a:latin typeface="Lato" pitchFamily="34" charset="0"/>
                <a:ea typeface="Lato" pitchFamily="34" charset="-122"/>
                <a:cs typeface="Lato" pitchFamily="34" charset="-120"/>
              </a:rPr>
              <a:t>Then save your notebook, close it and open it again to check it saved.</a:t>
            </a:r>
            <a:endParaRPr lang="en-US" sz="2200" dirty="0"/>
          </a:p>
        </p:txBody>
      </p:sp>
      <p:pic>
        <p:nvPicPr>
          <p:cNvPr id="5" name="Image 0" descr="Finished">    </p:cNvPr>
          <p:cNvPicPr>
            <a:picLocks noChangeAspect="1"/>
          </p:cNvPicPr>
          <p:nvPr/>
        </p:nvPicPr>
        <p:blipFill>
          <a:blip r:embed="rId1"/>
          <a:stretch>
            <a:fillRect/>
          </a:stretch>
        </p:blipFill>
        <p:spPr>
          <a:xfrm>
            <a:off x="8229600" y="1920240"/>
            <a:ext cx="3291840" cy="329184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22</a:t>
            </a:fld>
            <a:endParaRPr lang="en-US"/>
          </a:p>
        </p:txBody>
      </p:sp>
    </p:spTree>
  </p:cSld>
  <p:clrMapOvr>
    <a:masterClrMapping/>
  </p:clrMapOvr>
</p:sld>
</file>

<file path=ppt/theme/theme1.xml><?xml version="1.0" encoding="utf-8"?>
<a:theme xmlns:a="http://schemas.openxmlformats.org/drawingml/2006/main" name="KLAi camp">
  <a:themeElements>
    <a:clrScheme name="KLAi camp">
      <a:dk1>
        <a:srgbClr val="111111"/>
      </a:dk1>
      <a:lt1>
        <a:srgbClr val="FFFFFF"/>
      </a:lt1>
      <a:dk2>
        <a:srgbClr val="333333"/>
      </a:dk2>
      <a:lt2>
        <a:srgbClr val="F1F1F1"/>
      </a:lt2>
      <a:accent1>
        <a:srgbClr val="AE2525"/>
      </a:accent1>
      <a:accent2>
        <a:srgbClr val="E0BE36"/>
      </a:accent2>
      <a:accent3>
        <a:srgbClr val="8C8C8C"/>
      </a:accent3>
      <a:accent4>
        <a:srgbClr val="555555"/>
      </a:accent4>
      <a:accent5>
        <a:srgbClr val="CFCFCF"/>
      </a:accent5>
      <a:accent6>
        <a:srgbClr val="000000"/>
      </a:accent6>
      <a:hlink>
        <a:srgbClr val="AE2525"/>
      </a:hlink>
      <a:folHlink>
        <a:srgbClr val="666666"/>
      </a:folHlink>
    </a:clrScheme>
    <a:fontScheme name="KLAi camp">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KLAi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ML05 Lists, dictionaries and loops</dc:title>
  <dc:subject>Machine Learning</dc:subject>
  <dc:creator>KLAi</dc:creator>
  <cp:lastModifiedBy>KLAi</cp:lastModifiedBy>
  <cp:revision>1</cp:revision>
  <dcterms:created xsi:type="dcterms:W3CDTF">2026-10-31T12:26:27Z</dcterms:created>
  <dcterms:modified xsi:type="dcterms:W3CDTF">2026-10-31T12:26:27Z</dcterms:modified>
</cp:coreProperties>
</file>