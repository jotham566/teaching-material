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8f699ed1-92dc-e5d8-cbc5-9a56c08e2b18}">
          <p14:sldIdLst>
            <p14:sldId id="256"/>
            <p14:sldId id="257"/>
            <p14:sldId id="258"/>
            <p14:sldId id="259"/>
            <p14:sldId id="260"/>
          </p14:sldIdLst>
        </p14:section>
        <p14:section name="Block A" id="{a54959e3-f7c5-8387-bbbd-c96f3b3c7caf}">
          <p14:sldIdLst>
            <p14:sldId id="261"/>
            <p14:sldId id="262"/>
            <p14:sldId id="263"/>
            <p14:sldId id="264"/>
            <p14:sldId id="265"/>
          </p14:sldIdLst>
        </p14:section>
        <p14:section name="Make and close" id="{44812120-87e2-1cc7-7db2-a9d3de8161aa}">
          <p14:sldIdLst>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Today is session 4 and our topic is matrices, weighted sums and slope.
By the end of today you will be able to explain the idea in your own words and run the worked example.
We will answer one question: How does a model turn two measurements into one prediction?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a model turns two measurements into one prediction. Start with a fixed amount, the intercept. Add the area times its weight. Add the rooms times their weight. The total is the predicted rent. These numbers are invented for teaching. A real model learns its weights from examples, but the arithmetic is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words, because every one of them is used in the code later.
matrix. A table of numbers with rows and columns. Here is a way to see it. A page of a register.
shape. Rows by columns. A small example. How many lines and headings.
weight. A number that says how much an input counts. Picture this. How many marks each question is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rest of today's words.
weighted sum. Multiply each input by its weight and add the results. You have seen this before. Adding up the marks of every question.
intercept. The starting amount before any input is added. A fixed fee.
slope. How much the answer changes when one input rises by one unit. Think of a shop. Extra rent for each extra square metre.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matrix is a table of numbers. Here each row is one home, with its area in the first column and its number of rooms in the second. The shape is rows by columns, so two by two.
To pick one number, give the row and then the column. Homes zero comma one is the rooms of the first home, which is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matrix is a rectangular table of numbers, and its shape is rows by columns. In NumPy a 2-D array holds one home on each row: [[40, 2], [60, 3]] has two homes with two measurements each.
Time to commit to an answer. Work the paper example first: Draw a table with two rows and the columns area and rooms. Then predict every line the code will print. Jot it on paper before anyone speaks.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run it. Match each line of the output with the line of code that made it.
Line one: (2, 2), the shape of two rows and two columns. Line two: 2, the rooms of home 0. Line three: 260000 and 340000, the rents predicted for the two homes.
If your guess was off, find the line that surprised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weighted sums. I have two questions for you.
Question one. What does each line of the code do? Write your answer in one line before we compare.
The answer is this. Read each line aloud and say what it stores or prints.
Question two. Which number surprised you? Say it quietly to yourself before anyone answers.
Say which printed value differed from your paper work,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is your turn to change something. Add the home [50, 2] as a third row. Run it, then tell someone what you saw.
What you should find: Shape (3,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third home with fifty square metres and two rooms. The matrix now has three rows. The weights do not change, so the same rule gives a prediction for the new row: two hundred and ninety thousand shillings.
Check it on paper. A hundred thousand, plus three thousand times fifty, plus twenty thousand times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task is yours. Run your code after every step so you can see where a problem begins. If you get stuck for a few minutes, read your error message, check the error card, and then ask me.
Save it as F04.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two errors from this session, so you recognise them when they appear.
This is the first one. You will see: TypeError: can't multiply sequence by non-int of type 'list'. It means this: two plain lists cannot be multiplied together. To fix it, turn them into arrays, or use np.dot to multiply and add matching elements.
The next one. You will see: The prediction looks wrong for one home. It means this: the columns were swapped, so a weight met the wrong input. To fix it, label the paper table first and match each weight to its column.
When you are stuck, read the last line of the message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step. Our question for today was: How does a model turn two measurements into one prediction?
Finish this sentence in your notebook, in your own words. I can explain matrices, weighted sums and slope in my own words.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F04  |  Matrices, weighted sums and slope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1.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Matrices, weighted sums and slope</a:t>
            </a:r>
            <a:endParaRPr lang="en-US" sz="5600" dirty="0"/>
          </a:p>
        </p:txBody>
      </p:sp>
      <p:sp>
        <p:nvSpPr>
          <p:cNvPr id="3" name="Text 1"/>
          <p:cNvSpPr txBox="1"/>
          <p:nvPr/>
        </p:nvSpPr>
        <p:spPr>
          <a:xfrm>
            <a:off x="640080" y="417068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How does a model turn two measurements into one prediction?</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Foundation lab F04</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How does a model turn two</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measurements into one prediction?</a:t>
            </a:r>
            <a:endParaRPr lang="en-US" sz="3600" dirty="0"/>
          </a:p>
        </p:txBody>
      </p:sp>
      <p:pic>
        <p:nvPicPr>
          <p:cNvPr id="3" name="Image 0" descr="A weighted sum: an intercept, area times its weight and rooms times its weight add up to a predicted rent">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matrix">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matrix</a:t>
            </a:r>
            <a:endParaRPr lang="en-US" sz="34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table of numbers with rows and columns.</a:t>
            </a:r>
            <a:endParaRPr lang="en-US" sz="2200" dirty="0"/>
          </a:p>
        </p:txBody>
      </p:sp>
      <p:sp>
        <p:nvSpPr>
          <p:cNvPr id="6" name="Text 3"/>
          <p:cNvSpPr txBox="1"/>
          <p:nvPr/>
        </p:nvSpPr>
        <p:spPr>
          <a:xfrm>
            <a:off x="5120640" y="220980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page of a register.</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shape">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shape</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Rows by columns.</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How many lines and headings.</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weight">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weight</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number that says how much an input counts.</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How many marks each question is worth.</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weighted sum">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720"/>
              </a:lnSpc>
              <a:buNone/>
            </a:pPr>
            <a:r>
              <a:rPr lang="en-US" sz="3100" b="1" dirty="0">
                <a:solidFill>
                  <a:srgbClr val="111111"/>
                </a:solidFill>
                <a:latin typeface="Lato" pitchFamily="34" charset="0"/>
                <a:ea typeface="Lato" pitchFamily="34" charset="-122"/>
                <a:cs typeface="Lato" pitchFamily="34" charset="-120"/>
              </a:rPr>
              <a:t>weighted sum</a:t>
            </a:r>
            <a:endParaRPr lang="en-US" sz="31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Multiply each input by its weight and add the results.</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Adding up the marks of every question.</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intercept">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intercept</a:t>
            </a:r>
            <a:endParaRPr lang="en-US" sz="34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starting amount before any input is added.</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fixed fee.</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slope">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slope</a:t>
            </a:r>
            <a:endParaRPr lang="en-US" sz="34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How much the answer changes when one input rises by one unit.</a:t>
            </a:r>
            <a:endParaRPr lang="en-US" sz="2200" dirty="0"/>
          </a:p>
        </p:txBody>
      </p:sp>
      <p:sp>
        <p:nvSpPr>
          <p:cNvPr id="16" name="Text 11"/>
          <p:cNvSpPr txBox="1"/>
          <p:nvPr/>
        </p:nvSpPr>
        <p:spPr>
          <a:xfrm>
            <a:off x="5120640" y="550773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Extra rent for each extra square metre.</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matrix holds one home on every row</a:t>
            </a:r>
            <a:endParaRPr lang="en-US" sz="3800" dirty="0"/>
          </a:p>
        </p:txBody>
      </p:sp>
      <p:pic>
        <p:nvPicPr>
          <p:cNvPr id="3" name="Image 0" descr="A matrix holds one home on every row">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Two homes with two measurements each.</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shape is 2 by 2.</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homes[0, 1] means row 0, column 1.</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weighted sums</a:t>
            </a:r>
            <a:endParaRPr lang="en-US" sz="3800" dirty="0"/>
          </a:p>
        </p:txBody>
      </p:sp>
      <p:sp>
        <p:nvSpPr>
          <p:cNvPr id="3" name="Shape 1"/>
          <p:cNvSpPr/>
          <p:nvPr/>
        </p:nvSpPr>
        <p:spPr>
          <a:xfrm>
            <a:off x="640080" y="1645920"/>
            <a:ext cx="10881360" cy="3344672"/>
          </a:xfrm>
          <a:prstGeom prst="roundRect">
            <a:avLst>
              <a:gd name="adj" fmla="val 2187"/>
            </a:avLst>
          </a:prstGeom>
          <a:solidFill>
            <a:srgbClr val="111111"/>
          </a:solidFill>
          <a:ln/>
        </p:spPr>
      </p:sp>
      <p:sp>
        <p:nvSpPr>
          <p:cNvPr id="4" name="Text 2"/>
          <p:cNvSpPr txBox="1"/>
          <p:nvPr/>
        </p:nvSpPr>
        <p:spPr>
          <a:xfrm>
            <a:off x="841248" y="1847088"/>
            <a:ext cx="10479024" cy="2942336"/>
          </a:xfrm>
          <a:prstGeom prst="rect">
            <a:avLst/>
          </a:prstGeom>
          <a:noFill/>
          <a:ln/>
        </p:spPr>
        <p:txBody>
          <a:bodyPr wrap="square" lIns="0" tIns="0" rIns="0" bIns="0" rtlCol="0" anchor="t"/>
          <a:lstStyle/>
          <a:p>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import</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numpy </a:t>
            </a:r>
            <a:pPr algn="l" indent="0" marL="0">
              <a:lnSpc>
                <a:spcPts val="2860"/>
              </a:lnSpc>
              <a:buNone/>
            </a:pPr>
            <a:r>
              <a:rPr lang="en-US" sz="2200" b="1" dirty="0">
                <a:solidFill>
                  <a:srgbClr val="FFFFFF"/>
                </a:solidFill>
                <a:latin typeface="Courier New" pitchFamily="34" charset="0"/>
                <a:ea typeface="Courier New" pitchFamily="34" charset="-122"/>
                <a:cs typeface="Courier New" pitchFamily="34" charset="-120"/>
              </a:rPr>
              <a:t>as</a:t>
            </a:r>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 np</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homes = np.array([[40, 2], [60, 3]])</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weights = np.array([3000, 20000])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intercept = 100000</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print(homes.shape)</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print(homes[0, 1])</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predictions = intercept + np.dot(homes, weights)</a:t>
            </a:r>
            <a:endParaRPr lang="en-US" sz="2200" dirty="0"/>
          </a:p>
          <a:p>
            <a:pPr algn="l" indent="0" marL="0">
              <a:lnSpc>
                <a:spcPts val="2860"/>
              </a:lnSpc>
              <a:buNone/>
            </a:pPr>
            <a:r>
              <a:rPr lang="en-US" sz="2200" dirty="0">
                <a:solidFill>
                  <a:srgbClr val="FFFFFF"/>
                </a:solidFill>
                <a:latin typeface="Courier New" pitchFamily="34" charset="0"/>
                <a:ea typeface="Courier New" pitchFamily="34" charset="-122"/>
                <a:cs typeface="Courier New" pitchFamily="34" charset="-120"/>
              </a:rPr>
              <a:t>print(predictions)</a:t>
            </a:r>
            <a:endParaRPr lang="en-US" sz="2200" dirty="0"/>
          </a:p>
        </p:txBody>
      </p:sp>
      <p:sp>
        <p:nvSpPr>
          <p:cNvPr id="5" name="Text 3"/>
          <p:cNvSpPr txBox="1"/>
          <p:nvPr/>
        </p:nvSpPr>
        <p:spPr>
          <a:xfrm>
            <a:off x="640080" y="5173472"/>
            <a:ext cx="8046720" cy="1090168"/>
          </a:xfrm>
          <a:prstGeom prst="rect">
            <a:avLst/>
          </a:prstGeom>
          <a:noFill/>
          <a:ln/>
        </p:spPr>
        <p:txBody>
          <a:bodyPr wrap="square" lIns="0" tIns="0" rIns="0" bIns="0" rtlCol="0" anchor="t"/>
          <a:lstStyle/>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Work the paper example first: Draw a table with two rows and the columns area and rooms. Then predict every line the code will print.</a:t>
            </a:r>
            <a:endParaRPr lang="en-US" sz="2000" dirty="0"/>
          </a:p>
          <a:p>
            <a:pPr algn="l" indent="0" marL="0">
              <a:lnSpc>
                <a:spcPts val="2400"/>
              </a:lnSpc>
              <a:spcAft>
                <a:spcPts val="1010"/>
              </a:spcAft>
              <a:buNone/>
            </a:pPr>
            <a:r>
              <a:rPr lang="en-US" sz="2000" dirty="0">
                <a:solidFill>
                  <a:srgbClr val="111111"/>
                </a:solidFill>
                <a:latin typeface="Lato" pitchFamily="34" charset="0"/>
                <a:ea typeface="Lato" pitchFamily="34" charset="-122"/>
                <a:cs typeface="Lato" pitchFamily="34" charset="-120"/>
              </a:rPr>
              <a:t>Write your guess on paper before we run it.</a:t>
            </a:r>
            <a:endParaRPr lang="en-US" sz="2000" dirty="0"/>
          </a:p>
        </p:txBody>
      </p:sp>
      <p:pic>
        <p:nvPicPr>
          <p:cNvPr id="6" name="Image 0" descr="A page and a pen">    </p:cNvPr>
          <p:cNvPicPr>
            <a:picLocks noChangeAspect="1"/>
          </p:cNvPicPr>
          <p:nvPr/>
        </p:nvPicPr>
        <p:blipFill>
          <a:blip r:embed="rId1"/>
          <a:stretch>
            <a:fillRect/>
          </a:stretch>
        </p:blipFill>
        <p:spPr>
          <a:xfrm>
            <a:off x="10241280" y="5175758"/>
            <a:ext cx="1188720" cy="1046988"/>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weighted sums</a:t>
            </a:r>
            <a:endParaRPr lang="en-US" sz="3800" dirty="0"/>
          </a:p>
        </p:txBody>
      </p:sp>
      <p:sp>
        <p:nvSpPr>
          <p:cNvPr id="3" name="Shape 1"/>
          <p:cNvSpPr/>
          <p:nvPr/>
        </p:nvSpPr>
        <p:spPr>
          <a:xfrm>
            <a:off x="640080" y="1645920"/>
            <a:ext cx="6035040" cy="1491996"/>
          </a:xfrm>
          <a:prstGeom prst="roundRect">
            <a:avLst>
              <a:gd name="adj" fmla="val 4903"/>
            </a:avLst>
          </a:prstGeom>
          <a:solidFill>
            <a:srgbClr val="FFFFFF"/>
          </a:solidFill>
          <a:ln w="15875">
            <a:solidFill>
              <a:srgbClr val="111111"/>
            </a:solidFill>
            <a:prstDash val="solid"/>
          </a:ln>
        </p:spPr>
      </p:sp>
      <p:sp>
        <p:nvSpPr>
          <p:cNvPr id="4" name="Text 2"/>
          <p:cNvSpPr txBox="1"/>
          <p:nvPr/>
        </p:nvSpPr>
        <p:spPr>
          <a:xfrm>
            <a:off x="822960" y="1828800"/>
            <a:ext cx="5669280" cy="1126236"/>
          </a:xfrm>
          <a:prstGeom prst="rect">
            <a:avLst/>
          </a:prstGeom>
          <a:noFill/>
          <a:ln/>
        </p:spPr>
        <p:txBody>
          <a:bodyPr wrap="square" lIns="0" tIns="0" rIns="0" bIns="0" rtlCol="0" anchor="t"/>
          <a:lstStyle/>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(2, 2)</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a:t>
            </a:r>
            <a:endParaRPr lang="en-US" sz="2200" dirty="0"/>
          </a:p>
          <a:p>
            <a:pPr algn="l" indent="0" marL="0">
              <a:lnSpc>
                <a:spcPts val="2860"/>
              </a:lnSpc>
              <a:buNone/>
            </a:pPr>
            <a:r>
              <a:rPr lang="en-US" sz="2200" dirty="0">
                <a:solidFill>
                  <a:srgbClr val="111111"/>
                </a:solidFill>
                <a:latin typeface="Courier New" pitchFamily="34" charset="0"/>
                <a:ea typeface="Courier New" pitchFamily="34" charset="-122"/>
                <a:cs typeface="Courier New" pitchFamily="34" charset="-120"/>
              </a:rPr>
              <a:t>[260000 340000]</a:t>
            </a:r>
            <a:endParaRPr lang="en-US" sz="2200" dirty="0"/>
          </a:p>
        </p:txBody>
      </p:sp>
      <p:sp>
        <p:nvSpPr>
          <p:cNvPr id="5" name="Text 3"/>
          <p:cNvSpPr txBox="1"/>
          <p:nvPr/>
        </p:nvSpPr>
        <p:spPr>
          <a:xfrm>
            <a:off x="7040880" y="1737360"/>
            <a:ext cx="4480560" cy="4389120"/>
          </a:xfrm>
          <a:prstGeom prst="rect">
            <a:avLst/>
          </a:prstGeom>
          <a:noFill/>
          <a:ln/>
        </p:spPr>
        <p:txBody>
          <a:bodyPr wrap="square" lIns="0" tIns="0" rIns="0" bIns="0" rtlCol="0" anchor="t"/>
          <a:lstStyle/>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Line one: (2, 2), the shape of two rows and two columns.</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Line two: 2, the rooms of home 0.</a:t>
            </a:r>
            <a:endParaRPr lang="en-US" sz="2600" dirty="0"/>
          </a:p>
          <a:p>
            <a:pPr algn="l" indent="0" marL="0">
              <a:lnSpc>
                <a:spcPts val="3120"/>
              </a:lnSpc>
              <a:spcAft>
                <a:spcPts val="1580"/>
              </a:spcAft>
              <a:buNone/>
            </a:pPr>
            <a:r>
              <a:rPr lang="en-US" sz="2600" dirty="0">
                <a:solidFill>
                  <a:srgbClr val="111111"/>
                </a:solidFill>
                <a:latin typeface="Lato" pitchFamily="34" charset="0"/>
                <a:ea typeface="Lato" pitchFamily="34" charset="-122"/>
                <a:cs typeface="Lato" pitchFamily="34" charset="-120"/>
              </a:rPr>
              <a:t>Line three: 260000 and 340000, the rents predicted for the two homes.</a:t>
            </a:r>
            <a:endParaRPr lang="en-US" sz="2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weighted sums</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does each line of the code do?</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Which number surprised you?</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Add the home [50, 2] as a third row.</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new row is predicted with the same weights</a:t>
            </a:r>
            <a:endParaRPr lang="en-US" sz="3800" dirty="0"/>
          </a:p>
        </p:txBody>
      </p:sp>
      <p:pic>
        <p:nvPicPr>
          <p:cNvPr id="3" name="Image 0" descr="A new row is predicted with the same weights">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Add the home [50, 2] as a third row.</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shape becomes 3 by 2.</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Its prediction is 290,000.</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Add the home [50, 2] as a third row. Predict its result on paper before you run. State the new shape and what each weight means. Explain why these numbers say nothing about real rents in Kampala. Save F04.ipynb.</a:t>
            </a:r>
            <a:endParaRPr lang="en-US" sz="2900" dirty="0"/>
          </a:p>
          <a:p>
            <a:pPr algn="l" indent="0" marL="0">
              <a:lnSpc>
                <a:spcPts val="3480"/>
              </a:lnSpc>
              <a:spcAft>
                <a:spcPts val="2520"/>
              </a:spcAft>
              <a:buNone/>
            </a:pPr>
            <a:r>
              <a:rPr lang="en-US" sz="2900" dirty="0">
                <a:solidFill>
                  <a:srgbClr val="111111"/>
                </a:solidFill>
                <a:latin typeface="Lato" pitchFamily="34" charset="0"/>
                <a:ea typeface="Lato" pitchFamily="34" charset="-122"/>
                <a:cs typeface="Lato" pitchFamily="34" charset="-120"/>
              </a:rPr>
              <a:t>Save it as F04. Write two sentences: what you changed and how you checked it.</a:t>
            </a:r>
            <a:endParaRPr lang="en-US" sz="29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TypeError: can't multiply sequence by non-int of type 'list'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Two plain lists cannot be multiplied together.</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Turn them into arrays, or use np.dot to multiply and add matching elements.</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prediction looks wrong for one home</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columns were swapped, so a weight met the wrong input.</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Label the paper table first and match each weight to its column.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I can explain matrices, weighted sums and slope in my own words.</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F04 Matrices, weighted sums and slope</dc:title>
  <dc:subject>Machine Learning</dc:subject>
  <dc:creator>KLAi</dc:creator>
  <cp:lastModifiedBy>KLAi</cp:lastModifiedBy>
  <cp:revision>1</cp:revision>
  <dcterms:created xsi:type="dcterms:W3CDTF">2026-10-31T12:26:36Z</dcterms:created>
  <dcterms:modified xsi:type="dcterms:W3CDTF">2026-10-31T12:26:36Z</dcterms:modified>
</cp:coreProperties>
</file>