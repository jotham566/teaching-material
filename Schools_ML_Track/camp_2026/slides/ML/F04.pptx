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3f576e-a36b-701c-2ac7-16e077b2794b}">
          <p14:sldIdLst>
            <p14:sldId id="256"/>
            <p14:sldId id="257"/>
            <p14:sldId id="258"/>
            <p14:sldId id="259"/>
            <p14:sldId id="260"/>
          </p14:sldIdLst>
        </p14:section>
        <p14:section name="Block A" id="{2d7f0c50-9797-deda-8de4-e3c02756605a}">
          <p14:sldIdLst>
            <p14:sldId id="261"/>
            <p14:sldId id="262"/>
            <p14:sldId id="263"/>
            <p14:sldId id="264"/>
            <p14:sldId id="265"/>
          </p14:sldIdLst>
        </p14:section>
        <p14:section name="Make and close" id="{52ae4c4f-4543-09e8-9b9f-11a38df0a946}">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4 and our topic is matrices, weighted sums and slope.
By the end of today you will be able to explain the idea in your own words and run the worked example.
We will answer one question: How does a model turn two measurements into one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a model turns two measurements into one prediction. Start with a fixed amount, the intercept. Add the area times its weight. Add the rooms times their weight. The total is the predicted rent. These numbers are invented for teaching. A real model learns its weights from examples, but the arithmetic is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matrix. A table of numbers with rows and columns. Here is a way to see it. A page of a register.
shape. Rows by columns. A small example. How many lines and headings.
weight. A number that says how much an input counts. Picture this. How many marks each question is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weighted sum. Multiply each input by its weight and add the results. You have seen this before. Adding up the marks of every question.
intercept. The starting amount before any input is added. A fixed fee.
slope. How much the answer changes when one input rises by one unit. Think of a shop. Extra rent for each extra square metre.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matrix is a table of numbers. Here each row is one home, with its area in the first column and its number of rooms in the second. The shape is rows by columns, so two by two.
To pick one number, give the row and then the column. Homes zero comma one is the rooms of the first home, which is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matrix is a rectangular table of numbers, and its shape is rows by columns. In NumPy a 2-D array holds one home on each row: [[40, 2], [60, 3]] has two homes with two measurements each.
Time to commit to an answer. Work the paper example first: Draw a table with two rows and the columns area and rooms. Then predict every line the code will print.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Line one: (2, 2), the shape of two rows and two columns. Line two: 2, the rooms of home 0. Line three: 260000 and 340000, the rents predicted for the two homes.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weighted sums. I have two questions for you.
Question one. What does each line of the code do? Write your answer in one line before we compare.
The answer is this. Read each line aloud and say what it stores or prints.
Question two. Which number surprised you? Say it quietly to yourself before anyone answers.
Say which printed value differed from your paper work,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Add the home [50, 2] as a third row. Run it, then tell someone what you saw.
What you should find: Shape (3,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a third home with fifty square metres and two rooms. The matrix now has three rows. The weights do not change, so the same rule gives a prediction for the new row: two hundred and ninety thousand shillings.
Check it on paper. A hundred thousand, plus three thousand times fifty, plus twenty thousand times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F04.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TypeError: can't multiply sequence by non-int of type 'list'. It means this: two plain lists cannot be multiplied together. To fix it, turn them into arrays, or use np.dot to multiply and add matching elements.
The next one. You will see: The prediction looks wrong for one home. It means this: the columns were swapped, so a weight met the wrong input. To fix it, label the paper table first and match each weight to its column.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How does a model turn two measurements into one prediction?
Finish this sentence in your notebook, in your own words. I can explain matrices, weighted sums and slope in my own words.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F04  |  Matrices, weighted sums and slope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Matrices, weighted</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sums and slope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does a model turn two measurements into one prediction?</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Foundation lab F04</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does a model turn two</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measurements into one prediction?</a:t>
            </a:r>
            <a:endParaRPr lang="en-US" sz="3600" dirty="0"/>
          </a:p>
        </p:txBody>
      </p:sp>
      <p:pic>
        <p:nvPicPr>
          <p:cNvPr id="3" name="Image 0" descr="A weighted sum: an intercept, area times its weight and rooms times its weight add up to a predicted ren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matrix">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matrix</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table of numbers with rows and columns.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page of a register.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hap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shape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Rows by columns.</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many lines and headings.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weigh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weight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that says how much an input counts.</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many marks each question is worth.</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weighted sum">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weighted sum</a:t>
            </a:r>
            <a:endParaRPr lang="en-US" sz="31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Multiply each input by its weight and add the results.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Adding up the marks of every question.</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intercep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intercept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starting amount before any input is added.</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fixed fee.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slop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slope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much the answer changes when one input rises by one unit.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Extra rent for each extra square metre.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matrix holds one home on every row</a:t>
            </a:r>
            <a:endParaRPr lang="en-US" sz="3800" dirty="0"/>
          </a:p>
        </p:txBody>
      </p:sp>
      <p:pic>
        <p:nvPicPr>
          <p:cNvPr id="3" name="Image 0" descr="A matrix holds one home on every row">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Two homes with two measurements each.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shape is 2 by 2.</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homes[0, 1] means row 0, column 1.</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weighted sums</a:t>
            </a:r>
            <a:endParaRPr lang="en-US" sz="3800" dirty="0"/>
          </a:p>
        </p:txBody>
      </p:sp>
      <p:sp>
        <p:nvSpPr>
          <p:cNvPr id="3" name="Shape 1"/>
          <p:cNvSpPr/>
          <p:nvPr/>
        </p:nvSpPr>
        <p:spPr>
          <a:xfrm>
            <a:off x="640080" y="1645920"/>
            <a:ext cx="10881360" cy="3344672"/>
          </a:xfrm>
          <a:prstGeom prst="roundRect">
            <a:avLst>
              <a:gd name="adj" fmla="val 2187"/>
            </a:avLst>
          </a:prstGeom>
          <a:solidFill>
            <a:srgbClr val="111111"/>
          </a:solidFill>
          <a:ln/>
        </p:spPr>
      </p:sp>
      <p:sp>
        <p:nvSpPr>
          <p:cNvPr id="4" name="Text 2"/>
          <p:cNvSpPr txBox="1"/>
          <p:nvPr/>
        </p:nvSpPr>
        <p:spPr>
          <a:xfrm>
            <a:off x="841248" y="1847088"/>
            <a:ext cx="10479024" cy="294233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numpy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np</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homes = np.array([[40, 2], [60, 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weights = np.array([3000, 20000])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intercept = 100000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print(homes.shape)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print(homes[0, 1])</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predictions = intercept + np.dot(homes, weights)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print(predictions)</a:t>
            </a:r>
            <a:endParaRPr lang="en-US" sz="2200" dirty="0"/>
          </a:p>
        </p:txBody>
      </p:sp>
      <p:sp>
        <p:nvSpPr>
          <p:cNvPr id="5" name="Text 3"/>
          <p:cNvSpPr txBox="1"/>
          <p:nvPr/>
        </p:nvSpPr>
        <p:spPr>
          <a:xfrm>
            <a:off x="640080" y="5173472"/>
            <a:ext cx="8046720" cy="1090168"/>
          </a:xfrm>
          <a:prstGeom prst="rect">
            <a:avLst/>
          </a:prstGeom>
          <a:noFill/>
          <a:ln/>
        </p:spPr>
        <p:txBody>
          <a:bodyPr wrap="square" lIns="0" tIns="0" rIns="0" bIns="0" rtlCol="0" anchor="t"/>
          <a:lstStyle/>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Work the paper example first: Draw a table with two rows and the columns area and rooms. Then predict every line the code will print.</a:t>
            </a:r>
            <a:endParaRPr lang="en-US" sz="2000" dirty="0"/>
          </a:p>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p:cNvPr>
          <p:cNvPicPr>
            <a:picLocks noChangeAspect="1"/>
          </p:cNvPicPr>
          <p:nvPr/>
        </p:nvPicPr>
        <p:blipFill>
          <a:blip r:embed="rId1"/>
          <a:stretch>
            <a:fillRect/>
          </a:stretch>
        </p:blipFill>
        <p:spPr>
          <a:xfrm>
            <a:off x="10241280" y="517575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weighted sums</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(2, 2)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[260000 340000]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Line one: (2, 2), the shape of two rows and two columns.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Line two: 2, the rooms of home 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Line three: 260000 and 340000, the rents predicted for the two homes.</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weighted sums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each line of the code do?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number surprised you?</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the home [50, 2] as a third row.</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new row is predicted with the same weights</a:t>
            </a:r>
            <a:endParaRPr lang="en-US" sz="3800" dirty="0"/>
          </a:p>
        </p:txBody>
      </p:sp>
      <p:pic>
        <p:nvPicPr>
          <p:cNvPr id="3" name="Image 0" descr="A new row is predicted with the same weight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Add the home [50, 2] as a third row.</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shape becomes 3 by 2.</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Its prediction is 290,000.</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2760"/>
              </a:lnSpc>
              <a:spcAft>
                <a:spcPts val="2020"/>
              </a:spcAft>
              <a:buNone/>
            </a:pPr>
            <a:r>
              <a:rPr lang="en-US" sz="2300" dirty="0">
                <a:solidFill>
                  <a:srgbClr val="111111"/>
                </a:solidFill>
                <a:latin typeface="Lato" pitchFamily="34" charset="0"/>
                <a:ea typeface="Lato" pitchFamily="34" charset="-122"/>
                <a:cs typeface="Lato" pitchFamily="34" charset="-120"/>
              </a:rPr>
              <a:t>Add the home [50, 2] as a third row.</a:t>
            </a:r>
            <a:endParaRPr lang="en-US" sz="2300" dirty="0"/>
          </a:p>
          <a:p>
            <a:pPr algn="l" indent="0" marL="0">
              <a:lnSpc>
                <a:spcPts val="2760"/>
              </a:lnSpc>
              <a:spcAft>
                <a:spcPts val="2020"/>
              </a:spcAft>
              <a:buNone/>
            </a:pPr>
            <a:r>
              <a:rPr lang="en-US" sz="2300" dirty="0">
                <a:solidFill>
                  <a:srgbClr val="111111"/>
                </a:solidFill>
                <a:latin typeface="Lato" pitchFamily="34" charset="0"/>
                <a:ea typeface="Lato" pitchFamily="34" charset="-122"/>
                <a:cs typeface="Lato" pitchFamily="34" charset="-120"/>
              </a:rPr>
              <a:t>Predict its result on paper before you run.</a:t>
            </a:r>
            <a:endParaRPr lang="en-US" sz="2300" dirty="0"/>
          </a:p>
          <a:p>
            <a:pPr algn="l" indent="0" marL="0">
              <a:lnSpc>
                <a:spcPts val="2760"/>
              </a:lnSpc>
              <a:spcAft>
                <a:spcPts val="2020"/>
              </a:spcAft>
              <a:buNone/>
            </a:pPr>
            <a:r>
              <a:rPr lang="en-US" sz="2300" dirty="0">
                <a:solidFill>
                  <a:srgbClr val="111111"/>
                </a:solidFill>
                <a:latin typeface="Lato" pitchFamily="34" charset="0"/>
                <a:ea typeface="Lato" pitchFamily="34" charset="-122"/>
                <a:cs typeface="Lato" pitchFamily="34" charset="-120"/>
              </a:rPr>
              <a:t>State the new shape and what each weight means.</a:t>
            </a:r>
            <a:endParaRPr lang="en-US" sz="2300" dirty="0"/>
          </a:p>
          <a:p>
            <a:pPr algn="l" indent="0" marL="0">
              <a:lnSpc>
                <a:spcPts val="2760"/>
              </a:lnSpc>
              <a:spcAft>
                <a:spcPts val="2020"/>
              </a:spcAft>
              <a:buNone/>
            </a:pPr>
            <a:r>
              <a:rPr lang="en-US" sz="2300" dirty="0">
                <a:solidFill>
                  <a:srgbClr val="111111"/>
                </a:solidFill>
                <a:latin typeface="Lato" pitchFamily="34" charset="0"/>
                <a:ea typeface="Lato" pitchFamily="34" charset="-122"/>
                <a:cs typeface="Lato" pitchFamily="34" charset="-120"/>
              </a:rPr>
              <a:t>Explain why these numbers say nothing about real rents in Kampala.</a:t>
            </a:r>
            <a:endParaRPr lang="en-US" sz="2300" dirty="0"/>
          </a:p>
          <a:p>
            <a:pPr algn="l" indent="0" marL="0">
              <a:lnSpc>
                <a:spcPts val="2760"/>
              </a:lnSpc>
              <a:spcAft>
                <a:spcPts val="2020"/>
              </a:spcAft>
              <a:buNone/>
            </a:pPr>
            <a:r>
              <a:rPr lang="en-US" sz="2300" dirty="0">
                <a:solidFill>
                  <a:srgbClr val="111111"/>
                </a:solidFill>
                <a:latin typeface="Lato" pitchFamily="34" charset="0"/>
                <a:ea typeface="Lato" pitchFamily="34" charset="-122"/>
                <a:cs typeface="Lato" pitchFamily="34" charset="-120"/>
              </a:rPr>
              <a:t>Save F04.ipynb.</a:t>
            </a:r>
            <a:endParaRPr lang="en-US" sz="2300" dirty="0"/>
          </a:p>
          <a:p>
            <a:pPr algn="l" indent="0" marL="0">
              <a:lnSpc>
                <a:spcPts val="2760"/>
              </a:lnSpc>
              <a:spcAft>
                <a:spcPts val="2020"/>
              </a:spcAft>
              <a:buNone/>
            </a:pPr>
            <a:r>
              <a:rPr lang="en-US" sz="2300" dirty="0">
                <a:solidFill>
                  <a:srgbClr val="111111"/>
                </a:solidFill>
                <a:latin typeface="Lato" pitchFamily="34" charset="0"/>
                <a:ea typeface="Lato" pitchFamily="34" charset="-122"/>
                <a:cs typeface="Lato" pitchFamily="34" charset="-120"/>
              </a:rPr>
              <a:t>Write two sentences: what you changed and how you checked it.</a:t>
            </a:r>
            <a:endParaRPr lang="en-US" sz="23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TypeError: can't multiply sequence by non-int of type 'list'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Two plain lists cannot be multiplied together.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Turn them into arrays, or use np.dot to multiply and add matching elements.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prediction looks wrong for one home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columns were swapped, so a weight met the wrong input.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Label the paper table first and match each weight to its column.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explain matrices, weighted sums and slope in my own words.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F04 Matrices, weighted sums and slope</dc:title>
  <dc:subject>Machine Learning</dc:subject>
  <dc:creator>KLAi</dc:creator>
  <cp:lastModifiedBy>KLAi</cp:lastModifiedBy>
  <cp:revision>1</cp:revision>
  <dcterms:created xsi:type="dcterms:W3CDTF">2026-10-31T12:44:52Z</dcterms:created>
  <dcterms:modified xsi:type="dcterms:W3CDTF">2026-10-31T12:44:52Z</dcterms:modified>
</cp:coreProperties>
</file>