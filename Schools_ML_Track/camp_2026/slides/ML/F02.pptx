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574d6fb-908d-3272-49b1-5b1245dcf674}">
          <p14:sldIdLst>
            <p14:sldId id="256"/>
            <p14:sldId id="257"/>
            <p14:sldId id="258"/>
            <p14:sldId id="259"/>
            <p14:sldId id="260"/>
            <p14:sldId id="261"/>
          </p14:sldIdLst>
        </p14:section>
        <p14:section name="Block A" id="{71b623d9-6ad7-b7b5-0472-236e6404fa68}">
          <p14:sldIdLst>
            <p14:sldId id="262"/>
            <p14:sldId id="263"/>
            <p14:sldId id="264"/>
            <p14:sldId id="265"/>
          </p14:sldIdLst>
        </p14:section>
        <p14:section name="Make and close" id="{008de5cf-654e-bad2-9ce4-350597a6c587}">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Today is session 2 and our topic is lists, vectors and NumPy arrays.
By the end of today you will be able to explain the idea in your own words and run the worked example.
We will answer one question: Why do the numbers in a list need a fixed order and a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numbers, forty and two. In the first order they describe a home with forty square metres and two rooms. Swap them and the numbers describe two square metres and forty rooms, which is not a home at all. The order of the numbers gives them their meaning. Today we store such numbers in a list and in an array, and we see how each behaves when we do sums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scalar. A single number. Picture this. One mark.
vector. An ordered list of numbers whose positions have meanings. You have seen this before. A home described by area, then rooms.
NumPy array. A list of numbers that can be calculated with all at once. A whole row of marks marked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shape. The size of an array, such as (2,) for two numbers. Think of a shop. Counting the boxes in a row.
element-wise. Doing the same calculation to every number. Imagine it like this. Adding the same bonus to every pupil's mark.
unit. What a number measures, such as square metres. An example from everyday life. Shillings, kilograms or 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list of numbers where the order matters is called a vector. Here seat zero holds the area and seat one holds the rooms. Python does not know that. You do. The only way to keep the meaning straight is to remember, and write down, what each position stands for.
Home with a zero in brackets gives forty. What does home with a one in brackets give?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in a home vector carries a unit. Forty has a unit, square metres. Two has a unit, rooms. If you add them you get forty two of nothing in particular. A calculation only makes sense when the units match.
That is why the second number in a home vector must never be added to the first. In the lab you write the unit in a comment or a column name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scalar is one number. A vector is an ordered group of numbers, and the order gives each number its meaning: [40, 2] could be a home with an area of 40 square metres and 2 rooms.
Make a prediction. Work the paper example first: Draw two labelled boxes: area_m2 and rooms. Then predict every line the code will print.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2, then [40, 2, 10, 1] (the lists are joined), then (2,), then [50  3] and [80  4] (calculated one by one).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lists as vectors. I have two questions for you.
Question one. What does each line of the code do? Think about it for a moment, then tell the person next to you.
Let me answer it. Read each line aloud and say what it stores or prints.
Question two. Which number surprised you? Have a go in your head first.
The answer is this. Say which printed value differed from your paper work,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Make a NumPy array for a home of 65 square metres and 3 rooms. Then explain to your neighbour what the change did.
The result: Shape (2,); a total of 7 both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F02.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IndexError: index 2 is out of bounds for axis 0 with size 2. It means this: the array has two items, so its positions are 0 and 1 only. To fix it, use position 0 or 1, or check the length with len().
The next one. You will see: The two lists joined instead of adding. It means this: adding lists with plus joins them end to end. To fix it, turn the lists into arrays first, then add them.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Why do the numbers in a list need a fixed order and a unit?
Write this sentence in your notebook and finish it your own way. I can explain lists, vectors and NumPy arrays in my own words.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F02  |  Lists, vectors and NumPy arrays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Lists, vectors and</a:t>
            </a:r>
            <a:endParaRPr lang="en-US" sz="5600" dirty="0"/>
          </a:p>
          <a:p>
            <a:pPr algn="l" indent="0" marL="0">
              <a:buNone/>
            </a:pPr>
            <a:r>
              <a:rPr lang="en-US" sz="5600" b="1" dirty="0">
                <a:solidFill>
                  <a:srgbClr val="FFFFFF"/>
                </a:solidFill>
                <a:latin typeface="Lato" pitchFamily="34" charset="0"/>
                <a:ea typeface="Lato" pitchFamily="34" charset="-122"/>
                <a:cs typeface="Lato" pitchFamily="34" charset="-120"/>
              </a:rPr>
              <a:t>NumPy arrays</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Why do the numbers in a list need a fixed order and a unit?</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Foundation lab F02</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Why do the numbers in a list</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need a fixed order and a unit?</a:t>
            </a:r>
            <a:endParaRPr lang="en-US" sz="3600" dirty="0"/>
          </a:p>
        </p:txBody>
      </p:sp>
      <p:pic>
        <p:nvPicPr>
          <p:cNvPr id="3" name="Image 0" descr="A home with 40 square metres and 2 rooms, and the same two numbers swapped">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scalar">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scalar</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single number.</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mark.</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vector">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vector</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An ordered list of numbers whose positions have meanings.</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home described by area, then rooms.</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NumPy array">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NumPy array</a:t>
            </a:r>
            <a:endParaRPr lang="en-US" sz="32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list of numbers that can be calculated with all at once.</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whole row of marks marked together.</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shap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shape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size of an array, such as (2,) for two numbers.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Counting the boxes in a row.</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element-wis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element-wise</a:t>
            </a:r>
            <a:endParaRPr lang="en-US" sz="31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Doing the same calculation to every number.</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Adding the same bonus to every pupil's mark.</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unit">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unit</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What a number measures, such as square metres.</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Shillings, kilograms or metres.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vector is a list whose order carries meaning</a:t>
            </a:r>
            <a:endParaRPr lang="en-US" sz="3800" dirty="0"/>
          </a:p>
        </p:txBody>
      </p:sp>
      <p:pic>
        <p:nvPicPr>
          <p:cNvPr id="3" name="Image 0" descr="A vector is a list whose order carries meaning">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Seat 0 holds the area in square metres.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Seat 1 holds the number of rooms.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Swap the seats and the meaning changes.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Add area to area and rooms to rooms</a:t>
            </a:r>
            <a:endParaRPr lang="en-US" sz="3800" dirty="0"/>
          </a:p>
        </p:txBody>
      </p:sp>
      <p:pic>
        <p:nvPicPr>
          <p:cNvPr id="3" name="Image 0" descr="Add area to area and rooms to room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Every number carries a unit.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Square metres plus rooms makes no sense.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Write the unit beside the number you store.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lists as vectors</a:t>
            </a:r>
            <a:endParaRPr lang="en-US" sz="3800" dirty="0"/>
          </a:p>
        </p:txBody>
      </p:sp>
      <p:sp>
        <p:nvSpPr>
          <p:cNvPr id="3" name="Shape 1"/>
          <p:cNvSpPr/>
          <p:nvPr/>
        </p:nvSpPr>
        <p:spPr>
          <a:xfrm>
            <a:off x="640080" y="1645920"/>
            <a:ext cx="6035040" cy="3707892"/>
          </a:xfrm>
          <a:prstGeom prst="roundRect">
            <a:avLst>
              <a:gd name="adj" fmla="val 1973"/>
            </a:avLst>
          </a:prstGeom>
          <a:solidFill>
            <a:srgbClr val="111111"/>
          </a:solidFill>
          <a:ln/>
        </p:spPr>
      </p:sp>
      <p:sp>
        <p:nvSpPr>
          <p:cNvPr id="4" name="Text 2"/>
          <p:cNvSpPr txBox="1"/>
          <p:nvPr/>
        </p:nvSpPr>
        <p:spPr>
          <a:xfrm>
            <a:off x="841248" y="1847088"/>
            <a:ext cx="5632704" cy="3305556"/>
          </a:xfrm>
          <a:prstGeom prst="rect">
            <a:avLst/>
          </a:prstGeom>
          <a:noFill/>
          <a:ln/>
        </p:spPr>
        <p:txBody>
          <a:bodyPr wrap="square" lIns="0" tIns="0" rIns="0" bIns="0" rtlCol="0" anchor="t"/>
          <a:lstStyle/>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numpy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as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np</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home = [40, 2]</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print(len(home))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joined = home + [10, 1]</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print(joined)</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home_array = np.array([40, 2])</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print(home_array.shape)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added = home_array + np.array([10, 1])</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doubled = home_array * 2</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print(added)</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print(doubled)</a:t>
            </a:r>
            <a:endParaRPr lang="en-US" sz="18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2640"/>
              </a:lnSpc>
              <a:spcAft>
                <a:spcPts val="2160"/>
              </a:spcAft>
              <a:buNone/>
            </a:pPr>
            <a:r>
              <a:rPr lang="en-US" sz="2200" dirty="0">
                <a:solidFill>
                  <a:srgbClr val="111111"/>
                </a:solidFill>
                <a:latin typeface="Lato" pitchFamily="34" charset="0"/>
                <a:ea typeface="Lato" pitchFamily="34" charset="-122"/>
                <a:cs typeface="Lato" pitchFamily="34" charset="-120"/>
              </a:rPr>
              <a:t>Work the paper example first: Draw two labelled boxes: area_m2 and rooms. Then predict every line the code will print.</a:t>
            </a:r>
            <a:endParaRPr lang="en-US" sz="2200" dirty="0"/>
          </a:p>
          <a:p>
            <a:pPr algn="l" indent="0" marL="0">
              <a:lnSpc>
                <a:spcPts val="2640"/>
              </a:lnSpc>
              <a:spcAft>
                <a:spcPts val="2160"/>
              </a:spcAft>
              <a:buNone/>
            </a:pPr>
            <a:r>
              <a:rPr lang="en-US" sz="2200" dirty="0">
                <a:solidFill>
                  <a:srgbClr val="111111"/>
                </a:solidFill>
                <a:latin typeface="Lato" pitchFamily="34" charset="0"/>
                <a:ea typeface="Lato" pitchFamily="34" charset="-122"/>
                <a:cs typeface="Lato" pitchFamily="34" charset="-120"/>
              </a:rPr>
              <a:t>Write your guess on paper before we run it.</a:t>
            </a:r>
            <a:endParaRPr lang="en-US" sz="22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lists as vectors</a:t>
            </a:r>
            <a:endParaRPr lang="en-US" sz="3800" dirty="0"/>
          </a:p>
        </p:txBody>
      </p:sp>
      <p:sp>
        <p:nvSpPr>
          <p:cNvPr id="3" name="Shape 1"/>
          <p:cNvSpPr/>
          <p:nvPr/>
        </p:nvSpPr>
        <p:spPr>
          <a:xfrm>
            <a:off x="640080" y="1645920"/>
            <a:ext cx="6035040" cy="2218436"/>
          </a:xfrm>
          <a:prstGeom prst="roundRect">
            <a:avLst>
              <a:gd name="adj" fmla="val 3297"/>
            </a:avLst>
          </a:prstGeom>
          <a:solidFill>
            <a:srgbClr val="FFFFFF"/>
          </a:solidFill>
          <a:ln w="15875">
            <a:solidFill>
              <a:srgbClr val="111111"/>
            </a:solidFill>
            <a:prstDash val="solid"/>
          </a:ln>
        </p:spPr>
      </p:sp>
      <p:sp>
        <p:nvSpPr>
          <p:cNvPr id="4" name="Text 2"/>
          <p:cNvSpPr txBox="1"/>
          <p:nvPr/>
        </p:nvSpPr>
        <p:spPr>
          <a:xfrm>
            <a:off x="822960" y="1828800"/>
            <a:ext cx="5669280" cy="185267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[40, 2, 10, 1]</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[50  3]</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[80  4]</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2, then [40, 2, 10, 1] (the lists are joined), then (2,), then [50  3] and [80  4] (calculated one by one).</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lists as vectors</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each line of the code do?</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Which number surprised you?</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Make a NumPy array for a home of 65 square metres and 3 rooms.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2640"/>
              </a:lnSpc>
              <a:spcAft>
                <a:spcPts val="2020"/>
              </a:spcAft>
              <a:buNone/>
            </a:pPr>
            <a:r>
              <a:rPr lang="en-US" sz="2200" dirty="0">
                <a:solidFill>
                  <a:srgbClr val="111111"/>
                </a:solidFill>
                <a:latin typeface="Lato" pitchFamily="34" charset="0"/>
                <a:ea typeface="Lato" pitchFamily="34" charset="-122"/>
                <a:cs typeface="Lato" pitchFamily="34" charset="-120"/>
              </a:rPr>
              <a:t>Make a NumPy array for a home of 65 square metres and 3 rooms.</a:t>
            </a:r>
            <a:endParaRPr lang="en-US" sz="2200" dirty="0"/>
          </a:p>
          <a:p>
            <a:pPr algn="l" indent="0" marL="0">
              <a:lnSpc>
                <a:spcPts val="2640"/>
              </a:lnSpc>
              <a:spcAft>
                <a:spcPts val="2020"/>
              </a:spcAft>
              <a:buNone/>
            </a:pPr>
            <a:r>
              <a:rPr lang="en-US" sz="2200" dirty="0">
                <a:solidFill>
                  <a:srgbClr val="111111"/>
                </a:solidFill>
                <a:latin typeface="Lato" pitchFamily="34" charset="0"/>
                <a:ea typeface="Lato" pitchFamily="34" charset="-122"/>
                <a:cs typeface="Lato" pitchFamily="34" charset="-120"/>
              </a:rPr>
              <a:t>Print its shape.</a:t>
            </a:r>
            <a:endParaRPr lang="en-US" sz="2200" dirty="0"/>
          </a:p>
          <a:p>
            <a:pPr algn="l" indent="0" marL="0">
              <a:lnSpc>
                <a:spcPts val="2640"/>
              </a:lnSpc>
              <a:spcAft>
                <a:spcPts val="2020"/>
              </a:spcAft>
              <a:buNone/>
            </a:pPr>
            <a:r>
              <a:rPr lang="en-US" sz="2200" dirty="0">
                <a:solidFill>
                  <a:srgbClr val="111111"/>
                </a:solidFill>
                <a:latin typeface="Lato" pitchFamily="34" charset="0"/>
                <a:ea typeface="Lato" pitchFamily="34" charset="-122"/>
                <a:cs typeface="Lato" pitchFamily="34" charset="-120"/>
              </a:rPr>
              <a:t>Add a text cell that labels the units of each position.</a:t>
            </a:r>
            <a:endParaRPr lang="en-US" sz="2200" dirty="0"/>
          </a:p>
          <a:p>
            <a:pPr algn="l" indent="0" marL="0">
              <a:lnSpc>
                <a:spcPts val="2640"/>
              </a:lnSpc>
              <a:spcAft>
                <a:spcPts val="2020"/>
              </a:spcAft>
              <a:buNone/>
            </a:pPr>
            <a:r>
              <a:rPr lang="en-US" sz="2200" dirty="0">
                <a:solidFill>
                  <a:srgbClr val="111111"/>
                </a:solidFill>
                <a:latin typeface="Lato" pitchFamily="34" charset="0"/>
                <a:ea typeface="Lato" pitchFamily="34" charset="-122"/>
                <a:cs typeface="Lato" pitchFamily="34" charset="-120"/>
              </a:rPr>
              <a:t>Add the item counts [1, 4, 2] with a loop and then with .sum().</a:t>
            </a:r>
            <a:endParaRPr lang="en-US" sz="2200" dirty="0"/>
          </a:p>
          <a:p>
            <a:pPr algn="l" indent="0" marL="0">
              <a:lnSpc>
                <a:spcPts val="2640"/>
              </a:lnSpc>
              <a:spcAft>
                <a:spcPts val="2020"/>
              </a:spcAft>
              <a:buNone/>
            </a:pPr>
            <a:r>
              <a:rPr lang="en-US" sz="2200" dirty="0">
                <a:solidFill>
                  <a:srgbClr val="111111"/>
                </a:solidFill>
                <a:latin typeface="Lato" pitchFamily="34" charset="0"/>
                <a:ea typeface="Lato" pitchFamily="34" charset="-122"/>
                <a:cs typeface="Lato" pitchFamily="34" charset="-120"/>
              </a:rPr>
              <a:t>Save F02.ipynb.</a:t>
            </a:r>
            <a:endParaRPr lang="en-US" sz="2200" dirty="0"/>
          </a:p>
          <a:p>
            <a:pPr algn="l" indent="0" marL="0">
              <a:lnSpc>
                <a:spcPts val="2640"/>
              </a:lnSpc>
              <a:spcAft>
                <a:spcPts val="2020"/>
              </a:spcAft>
              <a:buNone/>
            </a:pPr>
            <a:r>
              <a:rPr lang="en-US" sz="2200" dirty="0">
                <a:solidFill>
                  <a:srgbClr val="111111"/>
                </a:solidFill>
                <a:latin typeface="Lato" pitchFamily="34" charset="0"/>
                <a:ea typeface="Lato" pitchFamily="34" charset="-122"/>
                <a:cs typeface="Lato" pitchFamily="34" charset="-120"/>
              </a:rPr>
              <a:t>Write two sentences: what you changed and how you checked it.</a:t>
            </a:r>
            <a:endParaRPr lang="en-US" sz="22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IndexError: index 2 is out of bounds for axis 0 with size 2</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array has two items, so its positions are 0 and 1 only.</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Use position 0 or 1, or check the length with len().</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two lists joined instead of adding</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Adding lists with plus joins them end to end.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Turn the lists into arrays first, then add them.</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can explain lists, vectors and NumPy arrays in my own words.</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F02 Lists, vectors and NumPy arrays</dc:title>
  <dc:subject>Machine Learning</dc:subject>
  <dc:creator>KLAi</dc:creator>
  <cp:lastModifiedBy>KLAi</cp:lastModifiedBy>
  <cp:revision>1</cp:revision>
  <dcterms:created xsi:type="dcterms:W3CDTF">2026-10-31T12:44:51Z</dcterms:created>
  <dcterms:modified xsi:type="dcterms:W3CDTF">2026-10-31T12:44:51Z</dcterms:modified>
</cp:coreProperties>
</file>