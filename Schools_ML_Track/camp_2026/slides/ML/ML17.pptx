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a2e342b-f039-e1bb-59c1-b40bbc25f3ec}">
          <p14:sldIdLst>
            <p14:sldId id="256"/>
            <p14:sldId id="257"/>
            <p14:sldId id="258"/>
            <p14:sldId id="259"/>
            <p14:sldId id="260"/>
            <p14:sldId id="261"/>
            <p14:sldId id="262"/>
          </p14:sldIdLst>
        </p14:section>
        <p14:section name="Block A" id="{e43cdda6-8f12-3f59-b30d-ad46210d723d}">
          <p14:sldIdLst>
            <p14:sldId id="263"/>
            <p14:sldId id="264"/>
            <p14:sldId id="265"/>
            <p14:sldId id="266"/>
            <p14:sldId id="268"/>
            <p14:sldId id="269"/>
          </p14:sldIdLst>
        </p14:section>
        <p14:section name="Break" id="{bd4af542-baeb-4659-21ed-cbd52a40b10c}">
          <p14:sldIdLst>
            <p14:sldId id="267"/>
          </p14:sldIdLst>
        </p14:section>
        <p14:section name="Block A" id="{127c5ec8-d228-9daa-1329-7e41e1e9aca3}">
          <p14:sldIdLst/>
        </p14:section>
        <p14:section name="Block B" id="{ff2024b1-7ba4-dbcf-e3ea-04a9f7ffd7c7}">
          <p14:sldIdLst>
            <p14:sldId id="270"/>
            <p14:sldId id="271"/>
            <p14:sldId id="272"/>
            <p14:sldId id="273"/>
            <p14:sldId id="274"/>
          </p14:sldIdLst>
        </p14:section>
        <p14:section name="Make and close" id="{777af43f-d54e-b3e9-e38b-2df6ae10617d}">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17 and our topic is mistakes, overfitting and fair comparisons.
By the end of today you will be able to read a confusion matrix, spot an overfitted tree from its training and test scores, and explain why the final test must stay locked.
We will answer one question: When is a very high score a warning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 dots are eight training trips. The red curve passes through every one of them, so on training data it misses by nothing at all. The white dots are trips it has never seen, and there the red curve misses by more than nine thousand shillings. The plain black line is much better, at about two and a half thousand. Today we learn why a very high score is sometimes a warning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overfitting. Learning the quirks of the training examples so well that new examples are predicted worse. Think of a shop. Memorising last year's exam instead of learning the subject.
confusion matrix. A table that counts actual categories against predicted categories. Imagine it like this. A mark sheet of right and wrong answers by question type.
actual and predicted. Rows show what really happened; columns show what the model said. An example from everyday life. The real result against the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validation records. Held-out rows used to choose between models. Here is a way to see it. The practice test used to decide how to revise.
final test. The last check, run once after every choice is made. A small example. The real exam.
locked test. A test set no choice has ever been based on. Picture this. An exam paper no student has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one number. A confusion matrix shows the detail. Each row is what was true. Each column is what we said. The diagonal, from top left to bottom right, holds the answers we got right.
In this small example three answers are on the diagonal and two are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place an answer, find the row for the truth and the column for what we said. The two meet in one cell.
Answer two was no, and we said yes. Go along the row for no, down the column for yes, and put a mark where they 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guessed five yes or no answers. Count the matches.
Your turn to guess. The matrix will have two rows and two columns. Predict which cells hold the correct answers.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[[1 1] [1 2]]. Rows are the actual answers and columns are the predicted answers. The top-left cell is an actual no predicted no, and the bottom-right is an actual yes predicted yes. The correct answers are on the diagonal: 1 plus 2 is 3 out of 5. ConfusionMatrixDisplay draws the table as a picture.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read a confusion matrix. I have two questions for you.
Question one. Which cell counts an actual yes that the model called no? Talk it over with your neighbour for a minute.
The bottom-left cell. It holds 1.
Question two. Why read the axis labels before the numbers? Think about it for a moment, then tell the person next to you.
Here is how I would answer it. If you mix up rows and columns you will swap the two kinds of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Calculate the accuracy from the matrix. After you run it, say in one sentence what changed and how you checked.
You should see this. 3 divided by 5 is 0.6, or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the line to bend more, and the miss on training trips shrinks. The miss on new trips grows. The model is memorising the practice and failing the exam.
The same thing happens to a tree that is allowed too many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tempting to check the final test, change a setting, and check again. Each peek leaks a little of the test into your decisions, and the test stops being a fair exam.
So we keep a separate validation part for choosing settings, and we open the final test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trees that may ask more and more questions, and print their training and test scores.
Now your guess. Predict which tree scores 100% on the training flowers.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Each line prints the depth, the training score and the test score. The tree with depth None may ask as many questions as it likes and scores 1.0 on the training flowers, because it memorised them. Its test score does not rise with it. That gap between training and test is the sign of overfitting. score gives the accuracy.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tree that remembered. I have two questions for you.
Question one. Why is 100% on training flowers a warning sign? Think about it for a moment, then tell the person next to you.
Here is how I would answer it. The tree may have memorised the flowers. Only the test score says how it does on new ones.
Question two. Can we use the test score to pick the best depth? Have a go in your head first.
What I would say is this. No. A choice made by looking at test scores uses the test as a practice exam, and the final test then proves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Print the gap between the last tree's training and test scores. Then explain to your neighbour what the change did.
The result: The gap is the training score minus the test score; it is zero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flowers are split three ways. Ninety for training. Thirty for validation, where we compare settings. Thirty for the final test, which stays locked until the very end.
Next session you will do this yourself and compare two tree depths.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ML17.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The two kinds of mistake sit in the wrong cells. It means this: the axes were read the wrong way round: rows are actual, columns are predicted. To fix it, label both axes before reading any cell.
The next one. You will see: The matrix has actual and predicted swapped. It means this: the two lists were passed to confusion_matrix in the wrong order. It expects the actual values first and the predicted values second. To fix it, write confusion_matrix(actual, predicted) and check that the row totals match the real class counts.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When is a very high score a warning sign?
Finish this sentence in your notebook, in your own words. A great training score with a weaker test score means overfitting, and a final test is only fair if no choice has used it.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ML17  |  Mistakes, overfitting and fair comparisons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Mistakes, overfitting and fair comparisons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When is a very high score a warning sign?</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17 of 24  |  Week 6, Trees and fair tests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When is a very high score a warning sign?</a:t>
            </a:r>
            <a:endParaRPr lang="en-US" sz="3800" dirty="0"/>
          </a:p>
        </p:txBody>
      </p:sp>
      <p:pic>
        <p:nvPicPr>
          <p:cNvPr id="3" name="Image 0" descr="A wiggly curve through eight training trips misses new trips badly while a plain line misses them far les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overfitting">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overfitting</a:t>
            </a:r>
            <a:endParaRPr lang="en-US" sz="32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Learning the quirks of the training examples so well that new examples are predicted worse.</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Memorising last year's exam instead of learning the subject.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confusion matrix">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120"/>
              </a:lnSpc>
              <a:buNone/>
            </a:pPr>
            <a:r>
              <a:rPr lang="en-US" sz="2600" b="1" dirty="0">
                <a:solidFill>
                  <a:srgbClr val="111111"/>
                </a:solidFill>
                <a:latin typeface="Lato" pitchFamily="34" charset="0"/>
                <a:ea typeface="Lato" pitchFamily="34" charset="-122"/>
                <a:cs typeface="Lato" pitchFamily="34" charset="-120"/>
              </a:rPr>
              <a:t>confusion matrix</a:t>
            </a:r>
            <a:endParaRPr lang="en-US" sz="26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table that counts actual categories against predicted categories.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mark sheet of right and wrong answers by question type.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actual and predicted">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actual and predicted</a:t>
            </a:r>
            <a:endParaRPr lang="en-US" sz="2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Rows show what really happened; columns show what the model said.</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real result against the guess.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validation records">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validation records</a:t>
            </a:r>
            <a:endParaRPr lang="en-US" sz="2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Held-out rows used to choose between models.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practice test used to decide how to revise.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final tes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final test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last check, run once after every choice is made.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real exam.</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sp>
        <p:nvSpPr>
          <p:cNvPr id="13"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locked test</a:t>
            </a:r>
            <a:endParaRPr lang="en-US" sz="3200" dirty="0"/>
          </a:p>
        </p:txBody>
      </p:sp>
      <p:sp>
        <p:nvSpPr>
          <p:cNvPr id="14"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test set no choice has ever been based on.</a:t>
            </a:r>
            <a:endParaRPr lang="en-US" sz="2200" dirty="0"/>
          </a:p>
        </p:txBody>
      </p:sp>
      <p:sp>
        <p:nvSpPr>
          <p:cNvPr id="15"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An exam paper no student has seen.</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confusion matrix shows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where the answers went</a:t>
            </a:r>
            <a:endParaRPr lang="en-US" sz="3600" dirty="0"/>
          </a:p>
        </p:txBody>
      </p:sp>
      <p:pic>
        <p:nvPicPr>
          <p:cNvPr id="3" name="Image 0" descr="A confusion matrix shows where the answers wen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Rows are what was true.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Columns are what we said.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diagonal holds the right answers.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Read one answer at a time to find its cell</a:t>
            </a:r>
            <a:endParaRPr lang="en-US" sz="3800" dirty="0"/>
          </a:p>
        </p:txBody>
      </p:sp>
      <p:pic>
        <p:nvPicPr>
          <p:cNvPr id="3" name="Image 0" descr="Read one answer at a time to find its cell">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Find the row for what was true.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Find the column for what we said.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answer lands where they meet.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Read a confusion matrix</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from</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sklearn.metrics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confusion_matrix, ConfusionMatrixDisplay</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matplotlib.pyplot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plt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actual = [0, 0, 1, 1, 1]</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predicted = [0, 1, 1, 0, 1]</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matrix = confusion_matrix(actual, predicted, labels=[0, 1])</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print(matrix)</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ConfusionMatrixDisplay(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matrix, display_labels=[</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"no"</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"yes"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).plot()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plt.show()</a:t>
            </a:r>
            <a:endParaRPr lang="en-US" sz="18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The matrix will have two rows and two columns. Predict which cells hold the correct answers.</a:t>
            </a:r>
            <a:endParaRPr lang="en-US" sz="1900" dirty="0"/>
          </a:p>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Write your guess on paper before we run it.</a:t>
            </a:r>
            <a:endParaRPr lang="en-US" sz="19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Read a confusion matrix</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[[1 1] [1 2]].</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Rows are the actual answers and columns are the predicted answers.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top-left cell is an actual no predicted no, and the bottom-right is an actual yes predicted yes.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Read a confusion matrix</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cell counts an actual yes that the model called no?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read the axis labels before the numbers?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Calculate the accuracy from the matrix.</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model that bends more memorises the practice</a:t>
            </a:r>
            <a:endParaRPr lang="en-US" sz="3600" dirty="0"/>
          </a:p>
        </p:txBody>
      </p:sp>
      <p:pic>
        <p:nvPicPr>
          <p:cNvPr id="3" name="Image 0" descr="A model that bends more memorises the practic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Gold bars show the training miss.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White bars show the miss on new trips.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gap grows as the curve bends.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Peeking at the final test turns it into practice</a:t>
            </a:r>
            <a:endParaRPr lang="en-US" sz="3800" dirty="0"/>
          </a:p>
        </p:txBody>
      </p:sp>
      <p:pic>
        <p:nvPicPr>
          <p:cNvPr id="3" name="Image 0" descr="Peeking at the final test turns it into practic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Score on the final test.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Change a setting and score again.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test now shapes your choice.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tree that remembered</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which tree scores 100% on the training flowers.</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tree that remembered</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Each line prints the depth, the training score and the test score.</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tree with depth None may ask as many questions as it likes and scores 1.0 on the training flowers, because it memorised them.</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Its test score does not rise with it.</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tree that remembered</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100% on training flowers a warning sign?</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Can we use the test score to pick the best depth?</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Print the gap between the last tree's training and test scores.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Choose on validation and open the final test last</a:t>
            </a:r>
            <a:endParaRPr lang="en-US" sz="3700" dirty="0"/>
          </a:p>
        </p:txBody>
      </p:sp>
      <p:pic>
        <p:nvPicPr>
          <p:cNvPr id="3" name="Image 0" descr="Choose on validation and open the final test last">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400"/>
              </a:lnSpc>
              <a:buNone/>
            </a:pPr>
            <a:r>
              <a:rPr lang="en-US" sz="2000" dirty="0">
                <a:solidFill>
                  <a:srgbClr val="333333"/>
                </a:solidFill>
                <a:latin typeface="Lato" pitchFamily="34" charset="0"/>
                <a:ea typeface="Lato" pitchFamily="34" charset="-122"/>
                <a:cs typeface="Lato" pitchFamily="34" charset="-120"/>
              </a:rPr>
              <a:t>Train on 90. Choose a setting using the 30 validation flowers. Open the 30 test flowers once.</a:t>
            </a:r>
            <a:endParaRPr lang="en-US" sz="20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Draw the 2 by 2 matrix for the toy answers and label both axes. Count the right and the wrong predictions. Explain why trying many settings against the final test answers weakens that test.</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ML17.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two kinds of mistake sit in the wrong cells</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axes were read the wrong way round: rows are actual, columns are predicted.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Label both axes before reading any cell.</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matrix has actual and predicted swapped</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160"/>
              </a:lnSpc>
              <a:spcAft>
                <a:spcPts val="1300"/>
              </a:spcAft>
              <a:buNone/>
            </a:pPr>
            <a:r>
              <a:rPr lang="en-US" sz="1800" dirty="0">
                <a:solidFill>
                  <a:srgbClr val="111111"/>
                </a:solidFill>
                <a:latin typeface="Lato" pitchFamily="34" charset="0"/>
                <a:ea typeface="Lato" pitchFamily="34" charset="-122"/>
                <a:cs typeface="Lato" pitchFamily="34" charset="-120"/>
              </a:rPr>
              <a:t>It means: The two lists were passed to confusion_matrix in the wrong order. It expects the actual values first and the predicted values second.</a:t>
            </a:r>
            <a:endParaRPr lang="en-US" sz="1800" dirty="0"/>
          </a:p>
          <a:p>
            <a:pPr algn="l" indent="0" marL="0">
              <a:lnSpc>
                <a:spcPts val="2160"/>
              </a:lnSpc>
              <a:spcAft>
                <a:spcPts val="1300"/>
              </a:spcAft>
              <a:buNone/>
            </a:pPr>
            <a:r>
              <a:rPr lang="en-US" sz="1800" dirty="0">
                <a:solidFill>
                  <a:srgbClr val="111111"/>
                </a:solidFill>
                <a:latin typeface="Lato" pitchFamily="34" charset="0"/>
                <a:ea typeface="Lato" pitchFamily="34" charset="-122"/>
                <a:cs typeface="Lato" pitchFamily="34" charset="-120"/>
              </a:rPr>
              <a:t>Fix: Write confusion_matrix(actual, predicted) and check that the row totals match the real class counts.</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440"/>
              </a:lnSpc>
              <a:spcAft>
                <a:spcPts val="1010"/>
              </a:spcAft>
              <a:buNone/>
            </a:pPr>
            <a:r>
              <a:rPr lang="en-US" sz="3700" dirty="0">
                <a:solidFill>
                  <a:srgbClr val="111111"/>
                </a:solidFill>
                <a:latin typeface="Lato" pitchFamily="34" charset="0"/>
                <a:ea typeface="Lato" pitchFamily="34" charset="-122"/>
                <a:cs typeface="Lato" pitchFamily="34" charset="-120"/>
              </a:rPr>
              <a:t>A great training score with a weaker test score means overfitting, and a final test is only fair if no choice has used it.</a:t>
            </a:r>
            <a:endParaRPr lang="en-US" sz="37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ML17 Mistakes, overfitting and fair comparisons</dc:title>
  <dc:subject>Machine Learning</dc:subject>
  <dc:creator>KLAi</dc:creator>
  <cp:lastModifiedBy>KLAi</cp:lastModifiedBy>
  <cp:revision>1</cp:revision>
  <dcterms:created xsi:type="dcterms:W3CDTF">2026-10-31T12:33:11Z</dcterms:created>
  <dcterms:modified xsi:type="dcterms:W3CDTF">2026-10-31T12:33:11Z</dcterms:modified>
</cp:coreProperties>
</file>