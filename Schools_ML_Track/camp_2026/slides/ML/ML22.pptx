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63a51ba3-3a02-d8db-feec-49b328ec1b8f}">
          <p14:sldIdLst>
            <p14:sldId id="256"/>
            <p14:sldId id="257"/>
            <p14:sldId id="258"/>
            <p14:sldId id="259"/>
            <p14:sldId id="260"/>
            <p14:sldId id="261"/>
          </p14:sldIdLst>
        </p14:section>
        <p14:section name="Block A" id="{74f5ba12-7253-9bc6-ca8f-cd2855e5c57c}">
          <p14:sldIdLst>
            <p14:sldId id="262"/>
            <p14:sldId id="263"/>
            <p14:sldId id="264"/>
            <p14:sldId id="265"/>
            <p14:sldId id="267"/>
          </p14:sldIdLst>
        </p14:section>
        <p14:section name="Break" id="{fa91aaef-2ca2-29c2-8d01-f365c833b541}">
          <p14:sldIdLst>
            <p14:sldId id="266"/>
          </p14:sldIdLst>
        </p14:section>
        <p14:section name="Block A" id="{e024a2d5-ecf3-70fb-f49f-d551822b5fba}">
          <p14:sldIdLst/>
        </p14:section>
        <p14:section name="Block B" id="{eabbca47-31a2-337c-ae22-68c2b70b4efa}">
          <p14:sldIdLst>
            <p14:sldId id="268"/>
            <p14:sldId id="269"/>
            <p14:sldId id="270"/>
            <p14:sldId id="271"/>
            <p14:sldId id="272"/>
            <p14:sldId id="273"/>
          </p14:sldIdLst>
        </p14:section>
        <p14:section name="Make and close" id="{dbc4c201-4da4-376c-9719-b2902865a859}">
          <p14:sldIdLst>
            <p14:sldId id="274"/>
            <p14:sldId id="275"/>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begin. Today is session 22 and our topic is the final test and a reproducible handover.
By the end of today you will be able to run the final test once, report it separately from validation, and hand over a project that reruns from a restarted kernel.
We will answer one question: How well does my frozen model do on rows nobody has 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answer to the question for today. On the thirty locked trips, the plain guess misses by three thousand six hundred and seventeen shillings. The frozen model misses by two thousand nine hundred and thirty six. The model still wins, though by less than on validation. That is a normal and honest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how the 3 hours go. Each bar is as long as the time we spend on that part.
First, 10 minutes. Recall. Then, 40 minutes. Final test. After that, 15 minutes. Break. Next, 25 minutes. Handover checklist. Then, 80 minutes. Assemble, rerun and report. Then, 10 minutes. Save and exit check.
Notice how much of the time is yours. You listen for a short while and then you do. That is on purpose, because you learn this by doing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the words for today. Listen for the picture that goes with each one.
frozen model. A model whose inputs and settings are fixed before the final test. A small example. An answer sheet handed in.
handover. Everything another person needs: data origin, code, instructions and limits. Picture this. Passing on the keys with directions.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more words to know before we start.
restart and run all. Restart the kernel and run every cell from the top. Starting the game from the first level.
limit. A fair statement of what the result cannot show. Think of a shop. The edge of what you know.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thirty locked trips have waited all this time. Now we open them once, with the model already frozen, and write down the number.
If the number is disappointing we report it anyway. Changing the model now and trying again would make the test worthless.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fares model with three inputs was chosen on validation.
Make a prediction. Predict whether the final test error will be above or below the validation error of 2255. Write one line on paper. I will give you a minute.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Running it now. Match each line of the output with the line of code that made it.
The cell prints 2936 and 3617. On the locked 30 trips the model misses by about UGX 2936 and the plain guess by about UGX 3617. The model is still better, but its lead is much smaller than the validation lead of 2255 against 4361. This is normal: the test has only 30 trips, and the validation lead may have been lucky. Report the final number as it is, next to the validation number, and do not change the model to improve it.
Keep your guess. We use it in the next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look closely at Run the final test once. I have two questions for you.
Question one. Why report the final score separately from validation? Have a go in your head first.
Let me answer it. Validation was used to choose the model, so only the final test is an honest score.
Question two. Can you change the model if the final score is disappointing? Write your answer in one line before we compare.
The answer is this. No. Changing it after seeing the test would use the test twice, and a new locked test would be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one small change. Calculate how much smaller the model's error is than the baseline's on the final test, as a percentage. After you run it, say in one sentence what changed and how you checked.
You should see this. About 19% smaller.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Break time. 15 minutes away from your screens. Stand up, drink some water and tell someone what you guessed in the first half.
When we come back we start the second idea.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validation the model beat the plain guess by a wide margin. On the final test the margin is smaller. This happens because we chose the model using the validation trips, so it looked a little better there than it really is.
The final test gives the honest figure.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Another person should be able to rerun your folder. Work through the list with a partner.
Time to commit to an answer. Write the three things you think a stranger needs first to rerun your project. Jot it on paper before anyone speaks.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run it. Match each line of the output with the line of code that made it.
The checklist: restart the kernel and run all cells from the top; the data file sits beside the notebook; the data origin and the fact that it is synthetic are stated; the final test is reported separately from validation; limits are written next to the result; project.ipynb, the data dictionary and report.pdf or report.docx are saved together; every file opens when reopened. A model on invented teaching data is a demonstration, and nobody should use it to make decisions about people.
If your guess was off, find the line that surprised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look closely at the handover checklist. I have two questions for you.
Question one. Why restart the kernel before the final run? Write your answer in one line before we compare.
The answer is this. Hidden steps are exposed when the notebook runs from a clean start.
Question two. What does the report say about the model's limits? Say it quietly to yourself before anyone answers.
The data is invented, the test is small, and the model has not been tried on real trips.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it is your turn to change something. Swap notebooks with a partner. Follow their instructions without asking questions and note where you stall. Then explain to your neighbour what the change did.
The result: Every stall is a missing instruction. Add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handover means somebody else can pick up your folder and run it. Keep the data file next to the notebook. Check that restart and run all works from the top. State where the data came from, and say that it is invented.
Report validation and final test separately, and write the limits next to the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Your report fits on one page. Open with the question. Describe the data and method. Give the result, with the baseline beside it so a reader can judge. Add one limit and one next step.
A stranger should be able to read it in two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you do the real work yourself. Start with the first step. If you get stuck for a few minutes, read your error message, check the error card, and then ask me.
Save it as ML22. I will come round to each of you and ask what you changed and how you checked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things are likely to go wrong today. It helps to know them before they happen.
This is the first one. You will see: NameError after restarting the kernel. It means this: A cell used a name that was only created in a deleted or skipped cell. To fix it, Run all cells from the top and add the missing step.
The next one. You will see: The final score differs from last time. It means this: the split or the model settings changed. To fix it, use the same random_state and settings as in validation.
If you meet one of these, fix it and carry on. It happens to everyone.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finish, go back to the question we began with: How well does my frozen model do on rows nobody has used?
Copy this sentence into your notebook and make it yours. The final test is run once, reported next to validation, and the project reruns from a restarted kernel.
Then save your notebook, close it and open it again to check it saved.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LAI_LIGHT">
    <p:bg>
      <p:bgPr>
        <a:solidFill>
          <a:srgbClr val="FFFFFF"/>
        </a:solidFill>
      </p:bgPr>
    </p:bg>
    <p:spTree>
      <p:nvGrpSpPr>
        <p:cNvPr id="1" name=""/>
        <p:cNvGrpSpPr/>
        <p:nvPr/>
      </p:nvGrpSpPr>
      <p:grpSpPr>
        <a:xfrm>
          <a:off x="0" y="0"/>
          <a:ext cx="0" cy="0"/>
          <a:chOff x="0" y="0"/>
          <a:chExt cx="0" cy="0"/>
        </a:xfrm>
      </p:grpSpPr>
      <p:pic>
        <p:nvPicPr>
          <p:cNvPr id="2" name="Image 0" descr="/sessions/focused-youthful-einstein/mnt/IUEA-Teaching-Resources/Schools_ML_Track/camp_2026/brand/logos/klai_logo_on_white_cropped.png">    </p:cNvPr>
          <p:cNvPicPr>
            <a:picLocks noChangeAspect="1"/>
          </p:cNvPicPr>
          <p:nvPr/>
        </p:nvPicPr>
        <p:blipFill>
          <a:blip r:embed="rId1"/>
          <a:stretch>
            <a:fillRect/>
          </a:stretch>
        </p:blipFill>
        <p:spPr>
          <a:xfrm>
            <a:off x="640080" y="6419088"/>
            <a:ext cx="772668" cy="246888"/>
          </a:xfrm>
          <a:prstGeom prst="rect">
            <a:avLst/>
          </a:prstGeom>
        </p:spPr>
      </p:pic>
      <p:sp>
        <p:nvSpPr>
          <p:cNvPr id="3" name="Text 0"/>
          <p:cNvSpPr/>
          <p:nvPr/>
        </p:nvSpPr>
        <p:spPr>
          <a:xfrm>
            <a:off x="1641348" y="6400800"/>
            <a:ext cx="8229600" cy="274320"/>
          </a:xfrm>
          <a:prstGeom prst="rect">
            <a:avLst/>
          </a:prstGeom>
          <a:noFill/>
          <a:ln/>
        </p:spPr>
        <p:txBody>
          <a:bodyPr wrap="square" lIns="0" tIns="0" rIns="0" bIns="0" rtlCol="0" anchor="ctr"/>
          <a:lstStyle/>
          <a:p>
            <a:pPr indent="0" marL="0">
              <a:buNone/>
            </a:pPr>
            <a:r>
              <a:rPr lang="en-US" sz="1200" dirty="0">
                <a:solidFill>
                  <a:srgbClr val="666666"/>
                </a:solidFill>
                <a:latin typeface="Lato" pitchFamily="34" charset="0"/>
                <a:ea typeface="Lato" pitchFamily="34" charset="-122"/>
                <a:cs typeface="Lato" pitchFamily="34" charset="-120"/>
              </a:rPr>
              <a:t>ML22  |  The final test and a reproducible handover</a:t>
            </a:r>
            <a:endParaRPr lang="en-US" sz="1200" dirty="0"/>
          </a:p>
        </p:txBody>
      </p:sp>
      <p:sp>
        <p:nvSpPr>
          <p:cNvPr id="4" name="Text 1"/>
          <p:cNvSpPr/>
          <p:nvPr>
            <p:ph idx="102" type="title" hasCustomPrompt="1"/>
          </p:nvPr>
        </p:nvSpPr>
        <p:spPr>
          <a:xfrm>
            <a:off x="640080" y="384048"/>
            <a:ext cx="10881360" cy="1051560"/>
          </a:xfrm>
          <a:prstGeom prst="rect">
            <a:avLst/>
          </a:prstGeom>
          <a:noFill/>
          <a:ln/>
        </p:spPr>
        <p:txBody>
          <a:bodyPr wrap="square" rtlCol="0"/>
          <a:lstStyle>
            <a:lvl1pPr algn="l" indent="0" marL="0">
              <a:buNone/>
              <a:defRPr lang="en-US" b="1" dirty="0">
                <a:solidFill>
                  <a:srgbClr val="111111"/>
                </a:solidFill>
                <a:latin typeface="Lato" pitchFamily="34" charset="0"/>
                <a:ea typeface="Lato" pitchFamily="34" charset="-122"/>
                <a:cs typeface="Lato" pitchFamily="34" charset="-120"/>
              </a:defRPr>
            </a:lvl1pPr>
          </a:lstStyle>
          <a:p>
            <a:pPr algn="l" indent="0" marL="0">
              <a:buNone/>
            </a:pPr>
            <a:endParaRPr lang="en-US"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KLAI_DARK">
    <p:bg>
      <p:bgPr>
        <a:solidFill>
          <a:srgbClr val="000000"/>
        </a:solidFill>
      </p:bgPr>
    </p:bg>
    <p:spTree>
      <p:nvGrpSpPr>
        <p:cNvPr id="1" name=""/>
        <p:cNvGrpSpPr/>
        <p:nvPr/>
      </p:nvGrpSpPr>
      <p:grpSpPr>
        <a:xfrm>
          <a:off x="0" y="0"/>
          <a:ext cx="0" cy="0"/>
          <a:chOff x="0" y="0"/>
          <a:chExt cx="0" cy="0"/>
        </a:xfrm>
      </p:grpSpPr>
      <p:pic>
        <p:nvPicPr>
          <p:cNvPr id="2" name="Image 0" descr="/sessions/focused-youthful-einstein/mnt/IUEA-Teaching-Resources/Schools_ML_Track/camp_2026/brand/logos/klai_logo_on_black_cropped.png">    </p:cNvPr>
          <p:cNvPicPr>
            <a:picLocks noChangeAspect="1"/>
          </p:cNvPicPr>
          <p:nvPr/>
        </p:nvPicPr>
        <p:blipFill>
          <a:blip r:embed="rId1"/>
          <a:stretch>
            <a:fillRect/>
          </a:stretch>
        </p:blipFill>
        <p:spPr>
          <a:xfrm>
            <a:off x="640080" y="548640"/>
            <a:ext cx="1774850" cy="566928"/>
          </a:xfrm>
          <a:prstGeom prst="rect">
            <a:avLst/>
          </a:prstGeom>
        </p:spPr>
      </p:pic>
      <p:sp>
        <p:nvSpPr>
          <p:cNvPr id="3" name="Text 0"/>
          <p:cNvSpPr/>
          <p:nvPr>
            <p:ph idx="101" type="title" hasCustomPrompt="1"/>
          </p:nvPr>
        </p:nvSpPr>
        <p:spPr>
          <a:xfrm>
            <a:off x="640080" y="2103120"/>
            <a:ext cx="10607040" cy="2286000"/>
          </a:xfrm>
          <a:prstGeom prst="rect">
            <a:avLst/>
          </a:prstGeom>
          <a:noFill/>
          <a:ln/>
        </p:spPr>
        <p:txBody>
          <a:bodyPr wrap="square" rtlCol="0"/>
          <a:lstStyle>
            <a:lvl1pPr algn="l" indent="0" marL="0">
              <a:buNone/>
              <a:defRPr lang="en-US" b="1" dirty="0">
                <a:solidFill>
                  <a:srgbClr val="FFFFFF"/>
                </a:solidFill>
                <a:latin typeface="Lato" pitchFamily="34" charset="0"/>
                <a:ea typeface="Lato" pitchFamily="34" charset="-122"/>
                <a:cs typeface="Lato" pitchFamily="34" charset="-120"/>
              </a:defRPr>
            </a:lvl1pPr>
          </a:lstStyle>
          <a:p>
            <a:pPr algn="l" indent="0" marL="0">
              <a:buNone/>
            </a:pPr>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2.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2.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1.png"/><Relationship Id="rId3" Type="http://schemas.openxmlformats.org/officeDocument/2006/relationships/slideLayout" Target="../slideLayouts/slideLayout2.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1" type="title" hasCustomPrompt="1"/>
          </p:nvPr>
        </p:nvSpPr>
        <p:spPr>
          <a:xfrm>
            <a:off x="640080" y="2103120"/>
            <a:ext cx="10607040" cy="2286000"/>
          </a:xfrm>
          <a:prstGeom prst="rect">
            <a:avLst/>
          </a:prstGeom>
          <a:noFill/>
          <a:ln/>
        </p:spPr>
        <p:txBody>
          <a:bodyPr wrap="square" lIns="0" tIns="0" rIns="0" bIns="0" rtlCol="0" anchor="t"/>
          <a:lstStyle/>
          <a:p>
            <a:pPr algn="l" indent="0" marL="0">
              <a:buNone/>
            </a:pPr>
            <a:r>
              <a:rPr lang="en-US" sz="5600" b="1" dirty="0">
                <a:solidFill>
                  <a:srgbClr val="FFFFFF"/>
                </a:solidFill>
                <a:latin typeface="Lato" pitchFamily="34" charset="0"/>
                <a:ea typeface="Lato" pitchFamily="34" charset="-122"/>
                <a:cs typeface="Lato" pitchFamily="34" charset="-120"/>
              </a:rPr>
              <a:t>The final test and a reproducible handover</a:t>
            </a:r>
            <a:endParaRPr lang="en-US" sz="5600" dirty="0"/>
          </a:p>
        </p:txBody>
      </p:sp>
      <p:sp>
        <p:nvSpPr>
          <p:cNvPr id="3" name="Text 1"/>
          <p:cNvSpPr txBox="1"/>
          <p:nvPr/>
        </p:nvSpPr>
        <p:spPr>
          <a:xfrm>
            <a:off x="640080" y="4170680"/>
            <a:ext cx="10241280" cy="1188720"/>
          </a:xfrm>
          <a:prstGeom prst="rect">
            <a:avLst/>
          </a:prstGeom>
          <a:noFill/>
          <a:ln/>
        </p:spPr>
        <p:txBody>
          <a:bodyPr wrap="square" lIns="0" tIns="0" rIns="0" bIns="0" rtlCol="0" anchor="t"/>
          <a:lstStyle/>
          <a:p>
            <a:pPr algn="l" indent="0" marL="0">
              <a:lnSpc>
                <a:spcPts val="3600"/>
              </a:lnSpc>
              <a:buNone/>
            </a:pPr>
            <a:r>
              <a:rPr lang="en-US" sz="3000" i="1" dirty="0">
                <a:solidFill>
                  <a:srgbClr val="E0BE36"/>
                </a:solidFill>
                <a:latin typeface="Lato" pitchFamily="34" charset="0"/>
                <a:ea typeface="Lato" pitchFamily="34" charset="-122"/>
                <a:cs typeface="Lato" pitchFamily="34" charset="-120"/>
              </a:rPr>
              <a:t>How well does my frozen model do on rows nobody has used?</a:t>
            </a:r>
            <a:endParaRPr lang="en-US" sz="3000" dirty="0"/>
          </a:p>
        </p:txBody>
      </p:sp>
      <p:sp>
        <p:nvSpPr>
          <p:cNvPr id="4" name="Text 2"/>
          <p:cNvSpPr txBox="1"/>
          <p:nvPr/>
        </p:nvSpPr>
        <p:spPr>
          <a:xfrm>
            <a:off x="640080" y="5989320"/>
            <a:ext cx="10789920" cy="457200"/>
          </a:xfrm>
          <a:prstGeom prst="rect">
            <a:avLst/>
          </a:prstGeom>
          <a:noFill/>
          <a:ln/>
        </p:spPr>
        <p:txBody>
          <a:bodyPr wrap="square" lIns="0" tIns="0" rIns="0" bIns="0" rtlCol="0" anchor="t"/>
          <a:lstStyle/>
          <a:p>
            <a:pPr algn="l" indent="0" marL="0">
              <a:lnSpc>
                <a:spcPts val="2320"/>
              </a:lnSpc>
              <a:buNone/>
            </a:pPr>
            <a:r>
              <a:rPr lang="en-US" sz="1600" dirty="0">
                <a:solidFill>
                  <a:srgbClr val="B5B5B5"/>
                </a:solidFill>
                <a:latin typeface="Lato" pitchFamily="34" charset="0"/>
                <a:ea typeface="Lato" pitchFamily="34" charset="-122"/>
                <a:cs typeface="Lato" pitchFamily="34" charset="-120"/>
              </a:rPr>
              <a:t>Machine Learning  |  Session 22 of 24  |  Week 8, Hand over</a:t>
            </a:r>
            <a:endParaRPr lang="en-US" sz="1600" dirty="0"/>
          </a:p>
          <a:p>
            <a:pPr algn="l" indent="0" marL="0">
              <a:lnSpc>
                <a:spcPts val="2320"/>
              </a:lnSpc>
              <a:buNone/>
            </a:pPr>
            <a:r>
              <a:rPr lang="en-US" sz="1600" dirty="0">
                <a:solidFill>
                  <a:srgbClr val="B5B5B5"/>
                </a:solidFill>
                <a:latin typeface="Lato" pitchFamily="34" charset="0"/>
                <a:ea typeface="Lato" pitchFamily="34" charset="-122"/>
                <a:cs typeface="Lato" pitchFamily="34" charset="-120"/>
              </a:rPr>
              <a:t>Holiday Data and AI Camp  |  The National ICT Innovation Hub, Nakawa</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How well does my frozen model</a:t>
            </a:r>
            <a:endParaRPr lang="en-US" sz="3600" dirty="0"/>
          </a:p>
          <a:p>
            <a:pPr algn="l" indent="0" marL="0">
              <a:buNone/>
            </a:pPr>
            <a:r>
              <a:rPr lang="en-US" sz="3600" b="1" dirty="0">
                <a:solidFill>
                  <a:srgbClr val="111111"/>
                </a:solidFill>
                <a:latin typeface="Lato" pitchFamily="34" charset="0"/>
                <a:ea typeface="Lato" pitchFamily="34" charset="-122"/>
                <a:cs typeface="Lato" pitchFamily="34" charset="-120"/>
              </a:rPr>
              <a:t>do on rows nobody has used?</a:t>
            </a:r>
            <a:endParaRPr lang="en-US" sz="3600" dirty="0"/>
          </a:p>
        </p:txBody>
      </p:sp>
      <p:pic>
        <p:nvPicPr>
          <p:cNvPr id="3" name="Image 0" descr="Final test errors for the plain guess, 3,617 shillings, and the frozen model, 2,936 shillings">    </p:cNvPr>
          <p:cNvPicPr>
            <a:picLocks noChangeAspect="1"/>
          </p:cNvPicPr>
          <p:nvPr/>
        </p:nvPicPr>
        <p:blipFill>
          <a:blip r:embed="rId1"/>
          <a:stretch>
            <a:fillRect/>
          </a:stretch>
        </p:blipFill>
        <p:spPr>
          <a:xfrm>
            <a:off x="640080" y="1691640"/>
            <a:ext cx="10881360" cy="43434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Three hours, mostly doing</a:t>
            </a:r>
            <a:endParaRPr lang="en-US" sz="3800" dirty="0"/>
          </a:p>
        </p:txBody>
      </p:sp>
      <p:pic>
        <p:nvPicPr>
          <p:cNvPr id="3" name="Image 0" descr="The plan for the session: start time, minutes and what we do">    </p:cNvPr>
          <p:cNvPicPr>
            <a:picLocks noChangeAspect="1"/>
          </p:cNvPicPr>
          <p:nvPr/>
        </p:nvPicPr>
        <p:blipFill>
          <a:blip r:embed="rId1"/>
          <a:stretch>
            <a:fillRect/>
          </a:stretch>
        </p:blipFill>
        <p:spPr>
          <a:xfrm>
            <a:off x="640080" y="1600200"/>
            <a:ext cx="10881360" cy="4133088"/>
          </a:xfrm>
          <a:prstGeom prst="rect">
            <a:avLst/>
          </a:prstGeom>
        </p:spPr>
      </p:pic>
      <p:sp>
        <p:nvSpPr>
          <p:cNvPr id="4" name="Text 1"/>
          <p:cNvSpPr txBox="1"/>
          <p:nvPr/>
        </p:nvSpPr>
        <p:spPr>
          <a:xfrm>
            <a:off x="640080" y="5852160"/>
            <a:ext cx="10881360" cy="457200"/>
          </a:xfrm>
          <a:prstGeom prst="rect">
            <a:avLst/>
          </a:prstGeom>
          <a:noFill/>
          <a:ln/>
        </p:spPr>
        <p:txBody>
          <a:bodyPr wrap="square" lIns="0" tIns="0" rIns="0" bIns="0" rtlCol="0" anchor="t"/>
          <a:lstStyle/>
          <a:p>
            <a:pPr algn="l" indent="0" marL="0">
              <a:lnSpc>
                <a:spcPts val="2640"/>
              </a:lnSpc>
              <a:buNone/>
            </a:pPr>
            <a:r>
              <a:rPr lang="en-US" sz="2200" dirty="0">
                <a:solidFill>
                  <a:srgbClr val="333333"/>
                </a:solidFill>
                <a:latin typeface="Lato" pitchFamily="34" charset="0"/>
                <a:ea typeface="Lato" pitchFamily="34" charset="-122"/>
                <a:cs typeface="Lato" pitchFamily="34" charset="-120"/>
              </a:rPr>
              <a:t>Most of our time is spent doing, in small steps, with a guess before every run.</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Words for today (1 of 2)</a:t>
            </a:r>
            <a:endParaRPr lang="en-US" sz="3800" dirty="0"/>
          </a:p>
        </p:txBody>
      </p:sp>
      <p:pic>
        <p:nvPicPr>
          <p:cNvPr id="3" name="Image 0" descr="frozen model">    </p:cNvPr>
          <p:cNvPicPr>
            <a:picLocks noChangeAspect="1"/>
          </p:cNvPicPr>
          <p:nvPr/>
        </p:nvPicPr>
        <p:blipFill>
          <a:blip r:embed="rId1"/>
          <a:stretch>
            <a:fillRect/>
          </a:stretch>
        </p:blipFill>
        <p:spPr>
          <a:xfrm>
            <a:off x="640080" y="1783080"/>
            <a:ext cx="1188720" cy="1188720"/>
          </a:xfrm>
          <a:prstGeom prst="rect">
            <a:avLst/>
          </a:prstGeom>
        </p:spPr>
      </p:pic>
      <p:sp>
        <p:nvSpPr>
          <p:cNvPr id="4" name="Text 1"/>
          <p:cNvSpPr txBox="1"/>
          <p:nvPr/>
        </p:nvSpPr>
        <p:spPr>
          <a:xfrm>
            <a:off x="2011680" y="1737360"/>
            <a:ext cx="2926080" cy="1554480"/>
          </a:xfrm>
          <a:prstGeom prst="rect">
            <a:avLst/>
          </a:prstGeom>
          <a:noFill/>
          <a:ln/>
        </p:spPr>
        <p:txBody>
          <a:bodyPr wrap="square" lIns="0" tIns="0" rIns="0" bIns="0" rtlCol="0" anchor="ctr"/>
          <a:lstStyle/>
          <a:p>
            <a:pPr algn="l" indent="0" marL="0">
              <a:lnSpc>
                <a:spcPts val="3720"/>
              </a:lnSpc>
              <a:buNone/>
            </a:pPr>
            <a:r>
              <a:rPr lang="en-US" sz="3100" b="1" dirty="0">
                <a:solidFill>
                  <a:srgbClr val="111111"/>
                </a:solidFill>
                <a:latin typeface="Lato" pitchFamily="34" charset="0"/>
                <a:ea typeface="Lato" pitchFamily="34" charset="-122"/>
                <a:cs typeface="Lato" pitchFamily="34" charset="-120"/>
              </a:rPr>
              <a:t>frozen model</a:t>
            </a:r>
            <a:endParaRPr lang="en-US" sz="3100" dirty="0"/>
          </a:p>
        </p:txBody>
      </p:sp>
      <p:sp>
        <p:nvSpPr>
          <p:cNvPr id="5" name="Text 2"/>
          <p:cNvSpPr txBox="1"/>
          <p:nvPr/>
        </p:nvSpPr>
        <p:spPr>
          <a:xfrm>
            <a:off x="5120640" y="1783080"/>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A model whose inputs and settings are fixed before the final test.</a:t>
            </a:r>
            <a:endParaRPr lang="en-US" sz="2200" dirty="0"/>
          </a:p>
        </p:txBody>
      </p:sp>
      <p:sp>
        <p:nvSpPr>
          <p:cNvPr id="6" name="Text 3"/>
          <p:cNvSpPr txBox="1"/>
          <p:nvPr/>
        </p:nvSpPr>
        <p:spPr>
          <a:xfrm>
            <a:off x="5120640" y="2545080"/>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An answer sheet handed in.</a:t>
            </a:r>
            <a:endParaRPr lang="en-US" sz="1900" dirty="0"/>
          </a:p>
        </p:txBody>
      </p:sp>
      <p:sp>
        <p:nvSpPr>
          <p:cNvPr id="7" name="Shape 4"/>
          <p:cNvSpPr/>
          <p:nvPr/>
        </p:nvSpPr>
        <p:spPr>
          <a:xfrm>
            <a:off x="640080" y="3392424"/>
            <a:ext cx="10881360" cy="0"/>
          </a:xfrm>
          <a:prstGeom prst="line">
            <a:avLst/>
          </a:prstGeom>
          <a:noFill/>
          <a:ln w="12700">
            <a:solidFill>
              <a:srgbClr val="CFCFCF"/>
            </a:solidFill>
            <a:prstDash val="solid"/>
          </a:ln>
        </p:spPr>
      </p:sp>
      <p:pic>
        <p:nvPicPr>
          <p:cNvPr id="8" name="Image 1" descr="handover">    </p:cNvPr>
          <p:cNvPicPr>
            <a:picLocks noChangeAspect="1"/>
          </p:cNvPicPr>
          <p:nvPr/>
        </p:nvPicPr>
        <p:blipFill>
          <a:blip r:embed="rId2"/>
          <a:stretch>
            <a:fillRect/>
          </a:stretch>
        </p:blipFill>
        <p:spPr>
          <a:xfrm>
            <a:off x="640080" y="3520440"/>
            <a:ext cx="1188720" cy="1188720"/>
          </a:xfrm>
          <a:prstGeom prst="rect">
            <a:avLst/>
          </a:prstGeom>
        </p:spPr>
      </p:pic>
      <p:sp>
        <p:nvSpPr>
          <p:cNvPr id="9" name="Text 5"/>
          <p:cNvSpPr txBox="1"/>
          <p:nvPr/>
        </p:nvSpPr>
        <p:spPr>
          <a:xfrm>
            <a:off x="2011680" y="3474720"/>
            <a:ext cx="2926080" cy="1554480"/>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handover</a:t>
            </a:r>
            <a:endParaRPr lang="en-US" sz="3400" dirty="0"/>
          </a:p>
        </p:txBody>
      </p:sp>
      <p:sp>
        <p:nvSpPr>
          <p:cNvPr id="10" name="Text 6"/>
          <p:cNvSpPr txBox="1"/>
          <p:nvPr/>
        </p:nvSpPr>
        <p:spPr>
          <a:xfrm>
            <a:off x="5120640" y="3520440"/>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Everything another person needs: data origin, code, instructions and limits.</a:t>
            </a:r>
            <a:endParaRPr lang="en-US" sz="2200" dirty="0"/>
          </a:p>
        </p:txBody>
      </p:sp>
      <p:sp>
        <p:nvSpPr>
          <p:cNvPr id="11" name="Text 7"/>
          <p:cNvSpPr txBox="1"/>
          <p:nvPr/>
        </p:nvSpPr>
        <p:spPr>
          <a:xfrm>
            <a:off x="5120640" y="4282440"/>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Passing on the keys with directions.</a:t>
            </a:r>
            <a:endParaRPr lang="en-US" sz="19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Words for today (2 of 2)</a:t>
            </a:r>
            <a:endParaRPr lang="en-US" sz="3800" dirty="0"/>
          </a:p>
        </p:txBody>
      </p:sp>
      <p:pic>
        <p:nvPicPr>
          <p:cNvPr id="3" name="Image 0" descr="restart and run all">    </p:cNvPr>
          <p:cNvPicPr>
            <a:picLocks noChangeAspect="1"/>
          </p:cNvPicPr>
          <p:nvPr/>
        </p:nvPicPr>
        <p:blipFill>
          <a:blip r:embed="rId1"/>
          <a:stretch>
            <a:fillRect/>
          </a:stretch>
        </p:blipFill>
        <p:spPr>
          <a:xfrm>
            <a:off x="640080" y="1783080"/>
            <a:ext cx="1188720" cy="1188720"/>
          </a:xfrm>
          <a:prstGeom prst="rect">
            <a:avLst/>
          </a:prstGeom>
        </p:spPr>
      </p:pic>
      <p:sp>
        <p:nvSpPr>
          <p:cNvPr id="4" name="Text 1"/>
          <p:cNvSpPr txBox="1"/>
          <p:nvPr/>
        </p:nvSpPr>
        <p:spPr>
          <a:xfrm>
            <a:off x="2011680" y="1737360"/>
            <a:ext cx="2926080" cy="1554480"/>
          </a:xfrm>
          <a:prstGeom prst="rect">
            <a:avLst/>
          </a:prstGeom>
          <a:noFill/>
          <a:ln/>
        </p:spPr>
        <p:txBody>
          <a:bodyPr wrap="square" lIns="0" tIns="0" rIns="0" bIns="0" rtlCol="0" anchor="ctr"/>
          <a:lstStyle/>
          <a:p>
            <a:pPr algn="l" indent="0" marL="0">
              <a:lnSpc>
                <a:spcPts val="2880"/>
              </a:lnSpc>
              <a:buNone/>
            </a:pPr>
            <a:r>
              <a:rPr lang="en-US" sz="2400" b="1" dirty="0">
                <a:solidFill>
                  <a:srgbClr val="111111"/>
                </a:solidFill>
                <a:latin typeface="Lato" pitchFamily="34" charset="0"/>
                <a:ea typeface="Lato" pitchFamily="34" charset="-122"/>
                <a:cs typeface="Lato" pitchFamily="34" charset="-120"/>
              </a:rPr>
              <a:t>restart and run all</a:t>
            </a:r>
            <a:endParaRPr lang="en-US" sz="2400" dirty="0"/>
          </a:p>
        </p:txBody>
      </p:sp>
      <p:sp>
        <p:nvSpPr>
          <p:cNvPr id="5" name="Text 2"/>
          <p:cNvSpPr txBox="1"/>
          <p:nvPr/>
        </p:nvSpPr>
        <p:spPr>
          <a:xfrm>
            <a:off x="5120640" y="1783080"/>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Restart the kernel and run every cell from the top.</a:t>
            </a:r>
            <a:endParaRPr lang="en-US" sz="2200" dirty="0"/>
          </a:p>
        </p:txBody>
      </p:sp>
      <p:sp>
        <p:nvSpPr>
          <p:cNvPr id="6" name="Text 3"/>
          <p:cNvSpPr txBox="1"/>
          <p:nvPr/>
        </p:nvSpPr>
        <p:spPr>
          <a:xfrm>
            <a:off x="5120640" y="2545080"/>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Starting the game from the first level.</a:t>
            </a:r>
            <a:endParaRPr lang="en-US" sz="1900" dirty="0"/>
          </a:p>
        </p:txBody>
      </p:sp>
      <p:sp>
        <p:nvSpPr>
          <p:cNvPr id="7" name="Shape 4"/>
          <p:cNvSpPr/>
          <p:nvPr/>
        </p:nvSpPr>
        <p:spPr>
          <a:xfrm>
            <a:off x="640080" y="3392424"/>
            <a:ext cx="10881360" cy="0"/>
          </a:xfrm>
          <a:prstGeom prst="line">
            <a:avLst/>
          </a:prstGeom>
          <a:noFill/>
          <a:ln w="12700">
            <a:solidFill>
              <a:srgbClr val="CFCFCF"/>
            </a:solidFill>
            <a:prstDash val="solid"/>
          </a:ln>
        </p:spPr>
      </p:sp>
      <p:pic>
        <p:nvPicPr>
          <p:cNvPr id="8" name="Image 1" descr="limit">    </p:cNvPr>
          <p:cNvPicPr>
            <a:picLocks noChangeAspect="1"/>
          </p:cNvPicPr>
          <p:nvPr/>
        </p:nvPicPr>
        <p:blipFill>
          <a:blip r:embed="rId2"/>
          <a:stretch>
            <a:fillRect/>
          </a:stretch>
        </p:blipFill>
        <p:spPr>
          <a:xfrm>
            <a:off x="640080" y="3520440"/>
            <a:ext cx="1188720" cy="1188720"/>
          </a:xfrm>
          <a:prstGeom prst="rect">
            <a:avLst/>
          </a:prstGeom>
        </p:spPr>
      </p:pic>
      <p:sp>
        <p:nvSpPr>
          <p:cNvPr id="9" name="Text 5"/>
          <p:cNvSpPr txBox="1"/>
          <p:nvPr/>
        </p:nvSpPr>
        <p:spPr>
          <a:xfrm>
            <a:off x="2011680" y="3474720"/>
            <a:ext cx="2926080" cy="1554480"/>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limit</a:t>
            </a:r>
            <a:endParaRPr lang="en-US" sz="3400" dirty="0"/>
          </a:p>
        </p:txBody>
      </p:sp>
      <p:sp>
        <p:nvSpPr>
          <p:cNvPr id="10" name="Text 6"/>
          <p:cNvSpPr txBox="1"/>
          <p:nvPr/>
        </p:nvSpPr>
        <p:spPr>
          <a:xfrm>
            <a:off x="5120640" y="3520440"/>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A fair statement of what the result cannot show.</a:t>
            </a:r>
            <a:endParaRPr lang="en-US" sz="2200" dirty="0"/>
          </a:p>
        </p:txBody>
      </p:sp>
      <p:sp>
        <p:nvSpPr>
          <p:cNvPr id="11" name="Text 7"/>
          <p:cNvSpPr txBox="1"/>
          <p:nvPr/>
        </p:nvSpPr>
        <p:spPr>
          <a:xfrm>
            <a:off x="5120640" y="3947160"/>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The edge of what you know.</a:t>
            </a:r>
            <a:endParaRPr lang="en-US" sz="19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The locked trips are opened once and reported</a:t>
            </a:r>
            <a:endParaRPr lang="en-US" sz="3800" dirty="0"/>
          </a:p>
        </p:txBody>
      </p:sp>
      <p:pic>
        <p:nvPicPr>
          <p:cNvPr id="3" name="Image 0" descr="The locked trips are opened once and reported">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Thirty trips stayed locked until now.</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Open them once.</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Report whatever number appears.</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Predict: Run the final test once</a:t>
            </a:r>
            <a:endParaRPr lang="en-US" sz="3800" dirty="0"/>
          </a:p>
        </p:txBody>
      </p:sp>
      <p:sp>
        <p:nvSpPr>
          <p:cNvPr id="3" name="Text 1"/>
          <p:cNvSpPr txBox="1"/>
          <p:nvPr/>
        </p:nvSpPr>
        <p:spPr>
          <a:xfrm>
            <a:off x="640080" y="1737360"/>
            <a:ext cx="6766560" cy="4114800"/>
          </a:xfrm>
          <a:prstGeom prst="rect">
            <a:avLst/>
          </a:prstGeom>
          <a:noFill/>
          <a:ln/>
        </p:spPr>
        <p:txBody>
          <a:bodyPr wrap="square" lIns="0" tIns="0" rIns="0" bIns="0" rtlCol="0" anchor="t"/>
          <a:lstStyle/>
          <a:p>
            <a:pPr algn="l" indent="0" marL="0">
              <a:lnSpc>
                <a:spcPts val="3840"/>
              </a:lnSpc>
              <a:spcAft>
                <a:spcPts val="2160"/>
              </a:spcAft>
              <a:buNone/>
            </a:pPr>
            <a:r>
              <a:rPr lang="en-US" sz="3200" dirty="0">
                <a:solidFill>
                  <a:srgbClr val="111111"/>
                </a:solidFill>
                <a:latin typeface="Lato" pitchFamily="34" charset="0"/>
                <a:ea typeface="Lato" pitchFamily="34" charset="-122"/>
                <a:cs typeface="Lato" pitchFamily="34" charset="-120"/>
              </a:rPr>
              <a:t>Predict whether the final test error will be above or below the validation error of 2255.</a:t>
            </a:r>
            <a:endParaRPr lang="en-US" sz="3200" dirty="0"/>
          </a:p>
          <a:p>
            <a:pPr algn="l" indent="0" marL="0">
              <a:lnSpc>
                <a:spcPts val="3840"/>
              </a:lnSpc>
              <a:spcAft>
                <a:spcPts val="2160"/>
              </a:spcAft>
              <a:buNone/>
            </a:pPr>
            <a:r>
              <a:rPr lang="en-US" sz="3200" dirty="0">
                <a:solidFill>
                  <a:srgbClr val="111111"/>
                </a:solidFill>
                <a:latin typeface="Lato" pitchFamily="34" charset="0"/>
                <a:ea typeface="Lato" pitchFamily="34" charset="-122"/>
                <a:cs typeface="Lato" pitchFamily="34" charset="-120"/>
              </a:rPr>
              <a:t>Write your guess on paper before we run it.</a:t>
            </a:r>
            <a:endParaRPr lang="en-US" sz="3200" dirty="0"/>
          </a:p>
        </p:txBody>
      </p:sp>
      <p:pic>
        <p:nvPicPr>
          <p:cNvPr id="4" name="Image 0" descr="A page and a pen">    </p:cNvPr>
          <p:cNvPicPr>
            <a:picLocks noChangeAspect="1"/>
          </p:cNvPicPr>
          <p:nvPr/>
        </p:nvPicPr>
        <p:blipFill>
          <a:blip r:embed="rId1"/>
          <a:stretch>
            <a:fillRect/>
          </a:stretch>
        </p:blipFill>
        <p:spPr>
          <a:xfrm>
            <a:off x="8138160" y="1828800"/>
            <a:ext cx="3291840" cy="310896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Run it: Run the final test once</a:t>
            </a:r>
            <a:endParaRPr lang="en-US" sz="3800" dirty="0"/>
          </a:p>
        </p:txBody>
      </p:sp>
      <p:sp>
        <p:nvSpPr>
          <p:cNvPr id="3" name="Text 1"/>
          <p:cNvSpPr txBox="1"/>
          <p:nvPr/>
        </p:nvSpPr>
        <p:spPr>
          <a:xfrm>
            <a:off x="640080" y="1737360"/>
            <a:ext cx="7498080" cy="4389120"/>
          </a:xfrm>
          <a:prstGeom prst="rect">
            <a:avLst/>
          </a:prstGeom>
          <a:noFill/>
          <a:ln/>
        </p:spPr>
        <p:txBody>
          <a:bodyPr wrap="square" lIns="0" tIns="0" rIns="0" bIns="0" rtlCol="0" anchor="t"/>
          <a:lstStyle/>
          <a:p>
            <a:pPr algn="l" indent="0" marL="0">
              <a:lnSpc>
                <a:spcPts val="3600"/>
              </a:lnSpc>
              <a:spcAft>
                <a:spcPts val="1800"/>
              </a:spcAft>
              <a:buNone/>
            </a:pPr>
            <a:r>
              <a:rPr lang="en-US" sz="3000" dirty="0">
                <a:solidFill>
                  <a:srgbClr val="111111"/>
                </a:solidFill>
                <a:latin typeface="Lato" pitchFamily="34" charset="0"/>
                <a:ea typeface="Lato" pitchFamily="34" charset="-122"/>
                <a:cs typeface="Lato" pitchFamily="34" charset="-120"/>
              </a:rPr>
              <a:t>The cell prints 2936 and 3617.</a:t>
            </a:r>
            <a:endParaRPr lang="en-US" sz="3000" dirty="0"/>
          </a:p>
          <a:p>
            <a:pPr algn="l" indent="0" marL="0">
              <a:lnSpc>
                <a:spcPts val="3600"/>
              </a:lnSpc>
              <a:spcAft>
                <a:spcPts val="1800"/>
              </a:spcAft>
              <a:buNone/>
            </a:pPr>
            <a:r>
              <a:rPr lang="en-US" sz="3000" dirty="0">
                <a:solidFill>
                  <a:srgbClr val="111111"/>
                </a:solidFill>
                <a:latin typeface="Lato" pitchFamily="34" charset="0"/>
                <a:ea typeface="Lato" pitchFamily="34" charset="-122"/>
                <a:cs typeface="Lato" pitchFamily="34" charset="-120"/>
              </a:rPr>
              <a:t>On the locked 30 trips the model misses by about UGX 2936 and the plain guess by about UGX 3617.</a:t>
            </a:r>
            <a:endParaRPr lang="en-US" sz="3000" dirty="0"/>
          </a:p>
          <a:p>
            <a:pPr algn="l" indent="0" marL="0">
              <a:lnSpc>
                <a:spcPts val="3600"/>
              </a:lnSpc>
              <a:spcAft>
                <a:spcPts val="1800"/>
              </a:spcAft>
              <a:buNone/>
            </a:pPr>
            <a:r>
              <a:rPr lang="en-US" sz="3000" dirty="0">
                <a:solidFill>
                  <a:srgbClr val="111111"/>
                </a:solidFill>
                <a:latin typeface="Lato" pitchFamily="34" charset="0"/>
                <a:ea typeface="Lato" pitchFamily="34" charset="-122"/>
                <a:cs typeface="Lato" pitchFamily="34" charset="-120"/>
              </a:rPr>
              <a:t>The model is still better, but its lead is much smaller than the validation lead of 2255 against 4361.</a:t>
            </a:r>
            <a:endParaRPr lang="en-US" sz="3000" dirty="0"/>
          </a:p>
        </p:txBody>
      </p:sp>
      <p:pic>
        <p:nvPicPr>
          <p:cNvPr id="4" name="Image 0" descr="Compare with your guess">    </p:cNvPr>
          <p:cNvPicPr>
            <a:picLocks noChangeAspect="1"/>
          </p:cNvPicPr>
          <p:nvPr/>
        </p:nvPicPr>
        <p:blipFill>
          <a:blip r:embed="rId1"/>
          <a:stretch>
            <a:fillRect/>
          </a:stretch>
        </p:blipFill>
        <p:spPr>
          <a:xfrm>
            <a:off x="8778240" y="2194560"/>
            <a:ext cx="2377440" cy="23774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Investigate: Run the final test once</a:t>
            </a:r>
            <a:endParaRPr lang="en-US" sz="3800" dirty="0"/>
          </a:p>
        </p:txBody>
      </p:sp>
      <p:pic>
        <p:nvPicPr>
          <p:cNvPr id="3" name="Image 0" descr="Look closely">    </p:cNvPr>
          <p:cNvPicPr>
            <a:picLocks noChangeAspect="1"/>
          </p:cNvPicPr>
          <p:nvPr/>
        </p:nvPicPr>
        <p:blipFill>
          <a:blip r:embed="rId1"/>
          <a:stretch>
            <a:fillRect/>
          </a:stretch>
        </p:blipFill>
        <p:spPr>
          <a:xfrm>
            <a:off x="9875520" y="4480560"/>
            <a:ext cx="1645920" cy="1645920"/>
          </a:xfrm>
          <a:prstGeom prst="rect">
            <a:avLst/>
          </a:prstGeom>
        </p:spPr>
      </p:pic>
      <p:sp>
        <p:nvSpPr>
          <p:cNvPr id="4" name="Text 1"/>
          <p:cNvSpPr txBox="1"/>
          <p:nvPr/>
        </p:nvSpPr>
        <p:spPr>
          <a:xfrm>
            <a:off x="640080" y="1737360"/>
            <a:ext cx="8961120" cy="4389120"/>
          </a:xfrm>
          <a:prstGeom prst="rect">
            <a:avLst/>
          </a:prstGeom>
          <a:noFill/>
          <a:ln/>
        </p:spPr>
        <p:txBody>
          <a:bodyPr wrap="square" lIns="0" tIns="0" rIns="0" bIns="0" rtlCol="0" anchor="t"/>
          <a:lstStyle/>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1.  Why report the final score separately from validation?</a:t>
            </a:r>
            <a:endParaRPr lang="en-US" sz="3600" dirty="0"/>
          </a:p>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2.  Can you change the model if the final score is disappointing?</a:t>
            </a:r>
            <a:endParaRPr lang="en-US" sz="3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Modify: change one thing</a:t>
            </a:r>
            <a:endParaRPr lang="en-US" sz="3800" dirty="0"/>
          </a:p>
        </p:txBody>
      </p:sp>
      <p:sp>
        <p:nvSpPr>
          <p:cNvPr id="3" name="Text 1"/>
          <p:cNvSpPr txBox="1"/>
          <p:nvPr/>
        </p:nvSpPr>
        <p:spPr>
          <a:xfrm>
            <a:off x="640080" y="1737360"/>
            <a:ext cx="6035040" cy="4206240"/>
          </a:xfrm>
          <a:prstGeom prst="rect">
            <a:avLst/>
          </a:prstGeom>
          <a:noFill/>
          <a:ln/>
        </p:spPr>
        <p:txBody>
          <a:bodyPr wrap="square" lIns="0" tIns="0" rIns="0" bIns="0" rtlCol="0" anchor="t"/>
          <a:lstStyle/>
          <a:p>
            <a:pPr algn="l" indent="0" marL="0">
              <a:lnSpc>
                <a:spcPts val="4080"/>
              </a:lnSpc>
              <a:spcAft>
                <a:spcPts val="3240"/>
              </a:spcAft>
              <a:buNone/>
            </a:pPr>
            <a:r>
              <a:rPr lang="en-US" sz="3400" dirty="0">
                <a:solidFill>
                  <a:srgbClr val="111111"/>
                </a:solidFill>
                <a:latin typeface="Lato" pitchFamily="34" charset="0"/>
                <a:ea typeface="Lato" pitchFamily="34" charset="-122"/>
                <a:cs typeface="Lato" pitchFamily="34" charset="-120"/>
              </a:rPr>
              <a:t>Calculate how much smaller the model's error is than the baseline's on the final test, as a percentage.</a:t>
            </a:r>
            <a:endParaRPr lang="en-US" sz="3400" dirty="0"/>
          </a:p>
          <a:p>
            <a:pPr algn="l" indent="0" marL="0">
              <a:lnSpc>
                <a:spcPts val="4080"/>
              </a:lnSpc>
              <a:spcAft>
                <a:spcPts val="3240"/>
              </a:spcAft>
              <a:buNone/>
            </a:pPr>
            <a:r>
              <a:rPr lang="en-US" sz="3400" dirty="0">
                <a:solidFill>
                  <a:srgbClr val="111111"/>
                </a:solidFill>
                <a:latin typeface="Lato" pitchFamily="34" charset="0"/>
                <a:ea typeface="Lato" pitchFamily="34" charset="-122"/>
                <a:cs typeface="Lato" pitchFamily="34" charset="-120"/>
              </a:rPr>
              <a:t>Then tell your neighbour what changed and how you know.</a:t>
            </a:r>
            <a:endParaRPr lang="en-US" sz="3400" dirty="0"/>
          </a:p>
        </p:txBody>
      </p:sp>
      <p:pic>
        <p:nvPicPr>
          <p:cNvPr id="4" name="Image 0" descr="Change one thing">    </p:cNvPr>
          <p:cNvPicPr>
            <a:picLocks noChangeAspect="1"/>
          </p:cNvPicPr>
          <p:nvPr/>
        </p:nvPicPr>
        <p:blipFill>
          <a:blip r:embed="rId1"/>
          <a:stretch>
            <a:fillRect/>
          </a:stretch>
        </p:blipFill>
        <p:spPr>
          <a:xfrm>
            <a:off x="9418320" y="2103120"/>
            <a:ext cx="1828800" cy="18288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1" type="title" hasCustomPrompt="1"/>
          </p:nvPr>
        </p:nvSpPr>
        <p:spPr>
          <a:xfrm>
            <a:off x="640080" y="2103120"/>
            <a:ext cx="10607040" cy="2286000"/>
          </a:xfrm>
          <a:prstGeom prst="rect">
            <a:avLst/>
          </a:prstGeom>
          <a:noFill/>
          <a:ln/>
        </p:spPr>
        <p:txBody>
          <a:bodyPr wrap="square" lIns="0" tIns="0" rIns="0" bIns="0" rtlCol="0" anchor="t"/>
          <a:lstStyle/>
          <a:p>
            <a:pPr algn="l" indent="0" marL="0">
              <a:buNone/>
            </a:pPr>
            <a:r>
              <a:rPr lang="en-US" sz="5400" b="1" dirty="0">
                <a:solidFill>
                  <a:srgbClr val="FFFFFF"/>
                </a:solidFill>
                <a:latin typeface="Lato" pitchFamily="34" charset="0"/>
                <a:ea typeface="Lato" pitchFamily="34" charset="-122"/>
                <a:cs typeface="Lato" pitchFamily="34" charset="-120"/>
              </a:rPr>
              <a:t>Break</a:t>
            </a:r>
            <a:endParaRPr lang="en-US" sz="5400" dirty="0"/>
          </a:p>
        </p:txBody>
      </p:sp>
      <p:sp>
        <p:nvSpPr>
          <p:cNvPr id="3" name="Text 1"/>
          <p:cNvSpPr txBox="1"/>
          <p:nvPr/>
        </p:nvSpPr>
        <p:spPr>
          <a:xfrm>
            <a:off x="640080" y="3154680"/>
            <a:ext cx="6858000" cy="914400"/>
          </a:xfrm>
          <a:prstGeom prst="rect">
            <a:avLst/>
          </a:prstGeom>
          <a:noFill/>
          <a:ln/>
        </p:spPr>
        <p:txBody>
          <a:bodyPr wrap="square" lIns="0" tIns="0" rIns="0" bIns="0" rtlCol="0" anchor="t"/>
          <a:lstStyle/>
          <a:p>
            <a:pPr algn="l" indent="0" marL="0">
              <a:lnSpc>
                <a:spcPts val="4080"/>
              </a:lnSpc>
              <a:buNone/>
            </a:pPr>
            <a:r>
              <a:rPr lang="en-US" sz="3400" b="1" dirty="0">
                <a:solidFill>
                  <a:srgbClr val="FFFFFF"/>
                </a:solidFill>
                <a:latin typeface="Lato" pitchFamily="34" charset="0"/>
                <a:ea typeface="Lato" pitchFamily="34" charset="-122"/>
                <a:cs typeface="Lato" pitchFamily="34" charset="-120"/>
              </a:rPr>
              <a:t>15 minutes away from your screen</a:t>
            </a:r>
            <a:endParaRPr lang="en-US" sz="3400" dirty="0"/>
          </a:p>
        </p:txBody>
      </p:sp>
      <p:sp>
        <p:nvSpPr>
          <p:cNvPr id="4" name="Text 2"/>
          <p:cNvSpPr txBox="1"/>
          <p:nvPr/>
        </p:nvSpPr>
        <p:spPr>
          <a:xfrm>
            <a:off x="640080" y="4206240"/>
            <a:ext cx="6400800" cy="1463040"/>
          </a:xfrm>
          <a:prstGeom prst="rect">
            <a:avLst/>
          </a:prstGeom>
          <a:noFill/>
          <a:ln/>
        </p:spPr>
        <p:txBody>
          <a:bodyPr wrap="square" lIns="0" tIns="0" rIns="0" bIns="0" rtlCol="0" anchor="t"/>
          <a:lstStyle/>
          <a:p>
            <a:pPr algn="l" indent="0" marL="0">
              <a:lnSpc>
                <a:spcPts val="3000"/>
              </a:lnSpc>
              <a:buNone/>
            </a:pPr>
            <a:r>
              <a:rPr lang="en-US" sz="2400" dirty="0">
                <a:solidFill>
                  <a:srgbClr val="D8D8D8"/>
                </a:solidFill>
                <a:latin typeface="Lato" pitchFamily="34" charset="0"/>
                <a:ea typeface="Lato" pitchFamily="34" charset="-122"/>
                <a:cs typeface="Lato" pitchFamily="34" charset="-120"/>
              </a:rPr>
              <a:t>Stand up. Drink some water. Tell someone what you guessed in the first half.</a:t>
            </a:r>
            <a:endParaRPr lang="en-US" sz="2400" dirty="0"/>
          </a:p>
        </p:txBody>
      </p:sp>
      <p:pic>
        <p:nvPicPr>
          <p:cNvPr id="5" name="Image 0" descr="A clock">    </p:cNvPr>
          <p:cNvPicPr>
            <a:picLocks noChangeAspect="1"/>
          </p:cNvPicPr>
          <p:nvPr/>
        </p:nvPicPr>
        <p:blipFill>
          <a:blip r:embed="rId1"/>
          <a:stretch>
            <a:fillRect/>
          </a:stretch>
        </p:blipFill>
        <p:spPr>
          <a:xfrm>
            <a:off x="8321040" y="2743200"/>
            <a:ext cx="2926080" cy="292608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The lead over the plain guess shrinks at the test</a:t>
            </a:r>
            <a:endParaRPr lang="en-US" sz="3800" dirty="0"/>
          </a:p>
        </p:txBody>
      </p:sp>
      <p:pic>
        <p:nvPicPr>
          <p:cNvPr id="3" name="Image 0" descr="The lead over the plain guess shrinks at the test">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Validation lead: 4,361 against 2,255.</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Final test lead: 3,617 against 2,936.</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A smaller lead on fresh trips is normal.</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Predict: The handover checklist</a:t>
            </a:r>
            <a:endParaRPr lang="en-US" sz="3800" dirty="0"/>
          </a:p>
        </p:txBody>
      </p:sp>
      <p:sp>
        <p:nvSpPr>
          <p:cNvPr id="3" name="Text 1"/>
          <p:cNvSpPr txBox="1"/>
          <p:nvPr/>
        </p:nvSpPr>
        <p:spPr>
          <a:xfrm>
            <a:off x="640080" y="1737360"/>
            <a:ext cx="6766560" cy="4114800"/>
          </a:xfrm>
          <a:prstGeom prst="rect">
            <a:avLst/>
          </a:prstGeom>
          <a:noFill/>
          <a:ln/>
        </p:spPr>
        <p:txBody>
          <a:bodyPr wrap="square" lIns="0" tIns="0" rIns="0" bIns="0" rtlCol="0" anchor="t"/>
          <a:lstStyle/>
          <a:p>
            <a:pPr algn="l" indent="0" marL="0">
              <a:lnSpc>
                <a:spcPts val="3840"/>
              </a:lnSpc>
              <a:spcAft>
                <a:spcPts val="2160"/>
              </a:spcAft>
              <a:buNone/>
            </a:pPr>
            <a:r>
              <a:rPr lang="en-US" sz="3200" dirty="0">
                <a:solidFill>
                  <a:srgbClr val="111111"/>
                </a:solidFill>
                <a:latin typeface="Lato" pitchFamily="34" charset="0"/>
                <a:ea typeface="Lato" pitchFamily="34" charset="-122"/>
                <a:cs typeface="Lato" pitchFamily="34" charset="-120"/>
              </a:rPr>
              <a:t>Write the three things you think a stranger needs first to rerun your project.</a:t>
            </a:r>
            <a:endParaRPr lang="en-US" sz="3200" dirty="0"/>
          </a:p>
          <a:p>
            <a:pPr algn="l" indent="0" marL="0">
              <a:lnSpc>
                <a:spcPts val="3840"/>
              </a:lnSpc>
              <a:spcAft>
                <a:spcPts val="2160"/>
              </a:spcAft>
              <a:buNone/>
            </a:pPr>
            <a:r>
              <a:rPr lang="en-US" sz="3200" dirty="0">
                <a:solidFill>
                  <a:srgbClr val="111111"/>
                </a:solidFill>
                <a:latin typeface="Lato" pitchFamily="34" charset="0"/>
                <a:ea typeface="Lato" pitchFamily="34" charset="-122"/>
                <a:cs typeface="Lato" pitchFamily="34" charset="-120"/>
              </a:rPr>
              <a:t>Write your guess on paper before we run it.</a:t>
            </a:r>
            <a:endParaRPr lang="en-US" sz="3200" dirty="0"/>
          </a:p>
        </p:txBody>
      </p:sp>
      <p:pic>
        <p:nvPicPr>
          <p:cNvPr id="4" name="Image 0" descr="A page and a pen">    </p:cNvPr>
          <p:cNvPicPr>
            <a:picLocks noChangeAspect="1"/>
          </p:cNvPicPr>
          <p:nvPr/>
        </p:nvPicPr>
        <p:blipFill>
          <a:blip r:embed="rId1"/>
          <a:stretch>
            <a:fillRect/>
          </a:stretch>
        </p:blipFill>
        <p:spPr>
          <a:xfrm>
            <a:off x="8138160" y="1828800"/>
            <a:ext cx="3291840" cy="310896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Run it: The handover checklist</a:t>
            </a:r>
            <a:endParaRPr lang="en-US" sz="3800" dirty="0"/>
          </a:p>
        </p:txBody>
      </p:sp>
      <p:sp>
        <p:nvSpPr>
          <p:cNvPr id="3" name="Text 1"/>
          <p:cNvSpPr txBox="1"/>
          <p:nvPr/>
        </p:nvSpPr>
        <p:spPr>
          <a:xfrm>
            <a:off x="640080" y="1737360"/>
            <a:ext cx="7498080" cy="4389120"/>
          </a:xfrm>
          <a:prstGeom prst="rect">
            <a:avLst/>
          </a:prstGeom>
          <a:noFill/>
          <a:ln/>
        </p:spPr>
        <p:txBody>
          <a:bodyPr wrap="square" lIns="0" tIns="0" rIns="0" bIns="0" rtlCol="0" anchor="t"/>
          <a:lstStyle/>
          <a:p>
            <a:pPr algn="l" indent="0" marL="0">
              <a:lnSpc>
                <a:spcPts val="3480"/>
              </a:lnSpc>
              <a:spcAft>
                <a:spcPts val="1800"/>
              </a:spcAft>
              <a:buNone/>
            </a:pPr>
            <a:r>
              <a:rPr lang="en-US" sz="2900" dirty="0">
                <a:solidFill>
                  <a:srgbClr val="111111"/>
                </a:solidFill>
                <a:latin typeface="Lato" pitchFamily="34" charset="0"/>
                <a:ea typeface="Lato" pitchFamily="34" charset="-122"/>
                <a:cs typeface="Lato" pitchFamily="34" charset="-120"/>
              </a:rPr>
              <a:t>The checklist: restart the kernel and run all cells from the top; the data file sits beside the notebook; the data origin and the fact that it is synthetic are stated; the final test is reported separately from validation; limits are written next to the result; project.ipynb, the data dictionary and report.pdf or report.docx are saved together; every file opens when reopened.</a:t>
            </a:r>
            <a:endParaRPr lang="en-US" sz="2900" dirty="0"/>
          </a:p>
        </p:txBody>
      </p:sp>
      <p:pic>
        <p:nvPicPr>
          <p:cNvPr id="4" name="Image 0" descr="Compare with your guess">    </p:cNvPr>
          <p:cNvPicPr>
            <a:picLocks noChangeAspect="1"/>
          </p:cNvPicPr>
          <p:nvPr/>
        </p:nvPicPr>
        <p:blipFill>
          <a:blip r:embed="rId1"/>
          <a:stretch>
            <a:fillRect/>
          </a:stretch>
        </p:blipFill>
        <p:spPr>
          <a:xfrm>
            <a:off x="8778240" y="2194560"/>
            <a:ext cx="2377440" cy="23774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Investigate: The handover checklist</a:t>
            </a:r>
            <a:endParaRPr lang="en-US" sz="3800" dirty="0"/>
          </a:p>
        </p:txBody>
      </p:sp>
      <p:pic>
        <p:nvPicPr>
          <p:cNvPr id="3" name="Image 0" descr="Look closely">    </p:cNvPr>
          <p:cNvPicPr>
            <a:picLocks noChangeAspect="1"/>
          </p:cNvPicPr>
          <p:nvPr/>
        </p:nvPicPr>
        <p:blipFill>
          <a:blip r:embed="rId1"/>
          <a:stretch>
            <a:fillRect/>
          </a:stretch>
        </p:blipFill>
        <p:spPr>
          <a:xfrm>
            <a:off x="9326880" y="2194560"/>
            <a:ext cx="2194560" cy="2194560"/>
          </a:xfrm>
          <a:prstGeom prst="rect">
            <a:avLst/>
          </a:prstGeom>
        </p:spPr>
      </p:pic>
      <p:sp>
        <p:nvSpPr>
          <p:cNvPr id="4" name="Text 1"/>
          <p:cNvSpPr txBox="1"/>
          <p:nvPr/>
        </p:nvSpPr>
        <p:spPr>
          <a:xfrm>
            <a:off x="640080" y="1737360"/>
            <a:ext cx="8595360" cy="4389120"/>
          </a:xfrm>
          <a:prstGeom prst="rect">
            <a:avLst/>
          </a:prstGeom>
          <a:noFill/>
          <a:ln/>
        </p:spPr>
        <p:txBody>
          <a:bodyPr wrap="square" lIns="0" tIns="0" rIns="0" bIns="0" rtlCol="0" anchor="t"/>
          <a:lstStyle/>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1.  Why restart the kernel before the final run?</a:t>
            </a:r>
            <a:endParaRPr lang="en-US" sz="3600" dirty="0"/>
          </a:p>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2.  What does the report say about the model's limits?</a:t>
            </a:r>
            <a:endParaRPr lang="en-US" sz="3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Modify: change one thing</a:t>
            </a:r>
            <a:endParaRPr lang="en-US" sz="3800" dirty="0"/>
          </a:p>
        </p:txBody>
      </p:sp>
      <p:sp>
        <p:nvSpPr>
          <p:cNvPr id="3" name="Text 1"/>
          <p:cNvSpPr txBox="1"/>
          <p:nvPr/>
        </p:nvSpPr>
        <p:spPr>
          <a:xfrm>
            <a:off x="640080" y="1737360"/>
            <a:ext cx="7498080" cy="4206240"/>
          </a:xfrm>
          <a:prstGeom prst="rect">
            <a:avLst/>
          </a:prstGeom>
          <a:noFill/>
          <a:ln/>
        </p:spPr>
        <p:txBody>
          <a:bodyPr wrap="square" lIns="0" tIns="0" rIns="0" bIns="0" rtlCol="0" anchor="t"/>
          <a:lstStyle/>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Swap notebooks with a partner. Follow their instructions without asking questions and note where you stall.</a:t>
            </a:r>
            <a:endParaRPr lang="en-US" sz="3600" dirty="0"/>
          </a:p>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Then tell your neighbour what changed and how you know.</a:t>
            </a:r>
            <a:endParaRPr lang="en-US" sz="3600" dirty="0"/>
          </a:p>
        </p:txBody>
      </p:sp>
      <p:pic>
        <p:nvPicPr>
          <p:cNvPr id="4" name="Image 0" descr="Change one thing">    </p:cNvPr>
          <p:cNvPicPr>
            <a:picLocks noChangeAspect="1"/>
          </p:cNvPicPr>
          <p:nvPr/>
        </p:nvPicPr>
        <p:blipFill>
          <a:blip r:embed="rId1"/>
          <a:stretch>
            <a:fillRect/>
          </a:stretch>
        </p:blipFill>
        <p:spPr>
          <a:xfrm>
            <a:off x="8778240" y="2194560"/>
            <a:ext cx="2377440" cy="23774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A handover lets someone else rerun your work</a:t>
            </a:r>
            <a:endParaRPr lang="en-US" sz="3800" dirty="0"/>
          </a:p>
        </p:txBody>
      </p:sp>
      <p:pic>
        <p:nvPicPr>
          <p:cNvPr id="3" name="Image 0" descr="A handover lets someone else rerun your work">    </p:cNvPr>
          <p:cNvPicPr>
            <a:picLocks noChangeAspect="1"/>
          </p:cNvPicPr>
          <p:nvPr/>
        </p:nvPicPr>
        <p:blipFill>
          <a:blip r:embed="rId1"/>
          <a:stretch>
            <a:fillRect/>
          </a:stretch>
        </p:blipFill>
        <p:spPr>
          <a:xfrm>
            <a:off x="640080" y="1554480"/>
            <a:ext cx="10881360" cy="4069080"/>
          </a:xfrm>
          <a:prstGeom prst="rect">
            <a:avLst/>
          </a:prstGeom>
        </p:spPr>
      </p:pic>
      <p:sp>
        <p:nvSpPr>
          <p:cNvPr id="4" name="Text 1"/>
          <p:cNvSpPr txBox="1"/>
          <p:nvPr/>
        </p:nvSpPr>
        <p:spPr>
          <a:xfrm>
            <a:off x="640080" y="5669280"/>
            <a:ext cx="10881360" cy="640080"/>
          </a:xfrm>
          <a:prstGeom prst="rect">
            <a:avLst/>
          </a:prstGeom>
          <a:noFill/>
          <a:ln/>
        </p:spPr>
        <p:txBody>
          <a:bodyPr wrap="square" lIns="0" tIns="0" rIns="0" bIns="0" rtlCol="0" anchor="t"/>
          <a:lstStyle/>
          <a:p>
            <a:pPr algn="l" indent="0" marL="0">
              <a:lnSpc>
                <a:spcPts val="2640"/>
              </a:lnSpc>
              <a:buNone/>
            </a:pPr>
            <a:r>
              <a:rPr lang="en-US" sz="2200" dirty="0">
                <a:solidFill>
                  <a:srgbClr val="333333"/>
                </a:solidFill>
                <a:latin typeface="Lato" pitchFamily="34" charset="0"/>
                <a:ea typeface="Lato" pitchFamily="34" charset="-122"/>
                <a:cs typeface="Lato" pitchFamily="34" charset="-120"/>
              </a:rPr>
              <a:t>Tick every line before you hand over.</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A one page report has five parts</a:t>
            </a:r>
            <a:endParaRPr lang="en-US" sz="3800" dirty="0"/>
          </a:p>
        </p:txBody>
      </p:sp>
      <p:pic>
        <p:nvPicPr>
          <p:cNvPr id="3" name="Image 0" descr="A one page report has five parts">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Question, then data and method.</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Result with the baseline beside it.</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End with a limit and a next step.</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Make: your own version</a:t>
            </a:r>
            <a:endParaRPr lang="en-US" sz="3800" dirty="0"/>
          </a:p>
        </p:txBody>
      </p:sp>
      <p:sp>
        <p:nvSpPr>
          <p:cNvPr id="3" name="Text 1"/>
          <p:cNvSpPr txBox="1"/>
          <p:nvPr/>
        </p:nvSpPr>
        <p:spPr>
          <a:xfrm>
            <a:off x="640080" y="1737360"/>
            <a:ext cx="6949440" cy="4480560"/>
          </a:xfrm>
          <a:prstGeom prst="rect">
            <a:avLst/>
          </a:prstGeom>
          <a:noFill/>
          <a:ln/>
        </p:spPr>
        <p:txBody>
          <a:bodyPr wrap="square" lIns="0" tIns="0" rIns="0" bIns="0" rtlCol="0" anchor="t"/>
          <a:lstStyle/>
          <a:p>
            <a:pPr algn="l" indent="0" marL="0">
              <a:lnSpc>
                <a:spcPts val="3600"/>
              </a:lnSpc>
              <a:spcAft>
                <a:spcPts val="2520"/>
              </a:spcAft>
              <a:buNone/>
            </a:pPr>
            <a:r>
              <a:rPr lang="en-US" sz="3000" dirty="0">
                <a:solidFill>
                  <a:srgbClr val="111111"/>
                </a:solidFill>
                <a:latin typeface="Lato" pitchFamily="34" charset="0"/>
                <a:ea typeface="Lato" pitchFamily="34" charset="-122"/>
                <a:cs typeface="Lato" pitchFamily="34" charset="-120"/>
              </a:rPr>
              <a:t>Use the project checklist. Reopen all submitted files. Submit project.ipynb, your data dictionary and report.pdf or report.docx together through the instructor's collection route.</a:t>
            </a:r>
            <a:endParaRPr lang="en-US" sz="3000" dirty="0"/>
          </a:p>
          <a:p>
            <a:pPr algn="l" indent="0" marL="0">
              <a:lnSpc>
                <a:spcPts val="3600"/>
              </a:lnSpc>
              <a:spcAft>
                <a:spcPts val="2520"/>
              </a:spcAft>
              <a:buNone/>
            </a:pPr>
            <a:r>
              <a:rPr lang="en-US" sz="3000" dirty="0">
                <a:solidFill>
                  <a:srgbClr val="111111"/>
                </a:solidFill>
                <a:latin typeface="Lato" pitchFamily="34" charset="0"/>
                <a:ea typeface="Lato" pitchFamily="34" charset="-122"/>
                <a:cs typeface="Lato" pitchFamily="34" charset="-120"/>
              </a:rPr>
              <a:t>Save it as ML22. Write two sentences: what you changed and how you checked it.</a:t>
            </a:r>
            <a:endParaRPr lang="en-US" sz="3000" dirty="0"/>
          </a:p>
        </p:txBody>
      </p:sp>
      <p:pic>
        <p:nvPicPr>
          <p:cNvPr id="4" name="Image 0" descr="A notebook saved with a tick">    </p:cNvPr>
          <p:cNvPicPr>
            <a:picLocks noChangeAspect="1"/>
          </p:cNvPicPr>
          <p:nvPr/>
        </p:nvPicPr>
        <p:blipFill>
          <a:blip r:embed="rId1"/>
          <a:stretch>
            <a:fillRect/>
          </a:stretch>
        </p:blipFill>
        <p:spPr>
          <a:xfrm>
            <a:off x="8138160" y="1920240"/>
            <a:ext cx="347472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Two errors you may meet today</a:t>
            </a:r>
            <a:endParaRPr lang="en-US" sz="3800" dirty="0"/>
          </a:p>
        </p:txBody>
      </p:sp>
      <p:pic>
        <p:nvPicPr>
          <p:cNvPr id="3" name="Image 0" descr="Error">    </p:cNvPr>
          <p:cNvPicPr>
            <a:picLocks noChangeAspect="1"/>
          </p:cNvPicPr>
          <p:nvPr/>
        </p:nvPicPr>
        <p:blipFill>
          <a:blip r:embed="rId1"/>
          <a:stretch>
            <a:fillRect/>
          </a:stretch>
        </p:blipFill>
        <p:spPr>
          <a:xfrm>
            <a:off x="640080" y="1691640"/>
            <a:ext cx="822960" cy="822960"/>
          </a:xfrm>
          <a:prstGeom prst="rect">
            <a:avLst/>
          </a:prstGeom>
        </p:spPr>
      </p:pic>
      <p:sp>
        <p:nvSpPr>
          <p:cNvPr id="4" name="Shape 1"/>
          <p:cNvSpPr/>
          <p:nvPr/>
        </p:nvSpPr>
        <p:spPr>
          <a:xfrm>
            <a:off x="1645920" y="1828800"/>
            <a:ext cx="4023360" cy="1645920"/>
          </a:xfrm>
          <a:prstGeom prst="roundRect">
            <a:avLst>
              <a:gd name="adj" fmla="val 3333"/>
            </a:avLst>
          </a:prstGeom>
          <a:solidFill>
            <a:srgbClr val="FFFFFF"/>
          </a:solidFill>
          <a:ln w="25400">
            <a:solidFill>
              <a:srgbClr val="AE2525"/>
            </a:solidFill>
            <a:prstDash val="solid"/>
          </a:ln>
        </p:spPr>
      </p:sp>
      <p:sp>
        <p:nvSpPr>
          <p:cNvPr id="5" name="Text 2"/>
          <p:cNvSpPr txBox="1"/>
          <p:nvPr/>
        </p:nvSpPr>
        <p:spPr>
          <a:xfrm>
            <a:off x="1783080" y="1920240"/>
            <a:ext cx="3749040" cy="1463040"/>
          </a:xfrm>
          <a:prstGeom prst="rect">
            <a:avLst/>
          </a:prstGeom>
          <a:noFill/>
          <a:ln/>
        </p:spPr>
        <p:txBody>
          <a:bodyPr wrap="square" lIns="0" tIns="0" rIns="0" bIns="0" rtlCol="0" anchor="ctr"/>
          <a:lstStyle/>
          <a:p>
            <a:pPr algn="l" indent="0" marL="0">
              <a:lnSpc>
                <a:spcPts val="2500"/>
              </a:lnSpc>
              <a:buNone/>
            </a:pPr>
            <a:r>
              <a:rPr lang="en-US" sz="2000" dirty="0">
                <a:solidFill>
                  <a:srgbClr val="AE2525"/>
                </a:solidFill>
                <a:latin typeface="Courier New" pitchFamily="34" charset="0"/>
                <a:ea typeface="Courier New" pitchFamily="34" charset="-122"/>
                <a:cs typeface="Courier New" pitchFamily="34" charset="-120"/>
              </a:rPr>
              <a:t>NameError after restarting the kernel</a:t>
            </a:r>
            <a:endParaRPr lang="en-US" sz="2000" dirty="0"/>
          </a:p>
        </p:txBody>
      </p:sp>
      <p:sp>
        <p:nvSpPr>
          <p:cNvPr id="6" name="Text 3"/>
          <p:cNvSpPr txBox="1"/>
          <p:nvPr/>
        </p:nvSpPr>
        <p:spPr>
          <a:xfrm>
            <a:off x="6035040" y="1664208"/>
            <a:ext cx="5486400" cy="1965960"/>
          </a:xfrm>
          <a:prstGeom prst="rect">
            <a:avLst/>
          </a:prstGeom>
          <a:noFill/>
          <a:ln/>
        </p:spPr>
        <p:txBody>
          <a:bodyPr wrap="square" lIns="0" tIns="0" rIns="0" bIns="0" rtlCol="0" anchor="t"/>
          <a:lstStyle/>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It means: A cell used a name that was only created in a deleted or skipped cell.</a:t>
            </a:r>
            <a:endParaRPr lang="en-US" sz="2200" dirty="0"/>
          </a:p>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Fix: Run all cells from the top and add the missing step.</a:t>
            </a:r>
            <a:endParaRPr lang="en-US" sz="2200" dirty="0"/>
          </a:p>
        </p:txBody>
      </p:sp>
      <p:sp>
        <p:nvSpPr>
          <p:cNvPr id="7" name="Shape 4"/>
          <p:cNvSpPr/>
          <p:nvPr/>
        </p:nvSpPr>
        <p:spPr>
          <a:xfrm>
            <a:off x="640080" y="3813048"/>
            <a:ext cx="10881360" cy="0"/>
          </a:xfrm>
          <a:prstGeom prst="line">
            <a:avLst/>
          </a:prstGeom>
          <a:noFill/>
          <a:ln w="12700">
            <a:solidFill>
              <a:srgbClr val="CFCFCF"/>
            </a:solidFill>
            <a:prstDash val="solid"/>
          </a:ln>
        </p:spPr>
      </p:sp>
      <p:pic>
        <p:nvPicPr>
          <p:cNvPr id="8" name="Image 1" descr="Error">    </p:cNvPr>
          <p:cNvPicPr>
            <a:picLocks noChangeAspect="1"/>
          </p:cNvPicPr>
          <p:nvPr/>
        </p:nvPicPr>
        <p:blipFill>
          <a:blip r:embed="rId2"/>
          <a:stretch>
            <a:fillRect/>
          </a:stretch>
        </p:blipFill>
        <p:spPr>
          <a:xfrm>
            <a:off x="640080" y="4023360"/>
            <a:ext cx="822960" cy="822960"/>
          </a:xfrm>
          <a:prstGeom prst="rect">
            <a:avLst/>
          </a:prstGeom>
        </p:spPr>
      </p:pic>
      <p:sp>
        <p:nvSpPr>
          <p:cNvPr id="9" name="Shape 5"/>
          <p:cNvSpPr/>
          <p:nvPr/>
        </p:nvSpPr>
        <p:spPr>
          <a:xfrm>
            <a:off x="1645920" y="4160520"/>
            <a:ext cx="4023360" cy="1645920"/>
          </a:xfrm>
          <a:prstGeom prst="roundRect">
            <a:avLst>
              <a:gd name="adj" fmla="val 3333"/>
            </a:avLst>
          </a:prstGeom>
          <a:solidFill>
            <a:srgbClr val="FFFFFF"/>
          </a:solidFill>
          <a:ln w="25400">
            <a:solidFill>
              <a:srgbClr val="AE2525"/>
            </a:solidFill>
            <a:prstDash val="solid"/>
          </a:ln>
        </p:spPr>
      </p:sp>
      <p:sp>
        <p:nvSpPr>
          <p:cNvPr id="10" name="Text 6"/>
          <p:cNvSpPr txBox="1"/>
          <p:nvPr/>
        </p:nvSpPr>
        <p:spPr>
          <a:xfrm>
            <a:off x="1783080" y="4251960"/>
            <a:ext cx="3749040" cy="1463040"/>
          </a:xfrm>
          <a:prstGeom prst="rect">
            <a:avLst/>
          </a:prstGeom>
          <a:noFill/>
          <a:ln/>
        </p:spPr>
        <p:txBody>
          <a:bodyPr wrap="square" lIns="0" tIns="0" rIns="0" bIns="0" rtlCol="0" anchor="ctr"/>
          <a:lstStyle/>
          <a:p>
            <a:pPr algn="l" indent="0" marL="0">
              <a:lnSpc>
                <a:spcPts val="2500"/>
              </a:lnSpc>
              <a:buNone/>
            </a:pPr>
            <a:r>
              <a:rPr lang="en-US" sz="2000" dirty="0">
                <a:solidFill>
                  <a:srgbClr val="AE2525"/>
                </a:solidFill>
                <a:latin typeface="Courier New" pitchFamily="34" charset="0"/>
                <a:ea typeface="Courier New" pitchFamily="34" charset="-122"/>
                <a:cs typeface="Courier New" pitchFamily="34" charset="-120"/>
              </a:rPr>
              <a:t>The final score differs from last time</a:t>
            </a:r>
            <a:endParaRPr lang="en-US" sz="2000" dirty="0"/>
          </a:p>
        </p:txBody>
      </p:sp>
      <p:sp>
        <p:nvSpPr>
          <p:cNvPr id="11" name="Text 7"/>
          <p:cNvSpPr txBox="1"/>
          <p:nvPr/>
        </p:nvSpPr>
        <p:spPr>
          <a:xfrm>
            <a:off x="6035040" y="3995928"/>
            <a:ext cx="5486400" cy="1965960"/>
          </a:xfrm>
          <a:prstGeom prst="rect">
            <a:avLst/>
          </a:prstGeom>
          <a:noFill/>
          <a:ln/>
        </p:spPr>
        <p:txBody>
          <a:bodyPr wrap="square" lIns="0" tIns="0" rIns="0" bIns="0" rtlCol="0" anchor="t"/>
          <a:lstStyle/>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It means: The split or the model settings changed.</a:t>
            </a:r>
            <a:endParaRPr lang="en-US" sz="2200" dirty="0"/>
          </a:p>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Fix: Use the same random_state and settings as in validation.</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Finish this sentence in your notebook</a:t>
            </a:r>
            <a:endParaRPr lang="en-US" sz="3800" dirty="0"/>
          </a:p>
        </p:txBody>
      </p:sp>
      <p:sp>
        <p:nvSpPr>
          <p:cNvPr id="3" name="Text 1"/>
          <p:cNvSpPr txBox="1"/>
          <p:nvPr/>
        </p:nvSpPr>
        <p:spPr>
          <a:xfrm>
            <a:off x="640080" y="1737360"/>
            <a:ext cx="6949440" cy="2926080"/>
          </a:xfrm>
          <a:prstGeom prst="rect">
            <a:avLst/>
          </a:prstGeom>
          <a:noFill/>
          <a:ln/>
        </p:spPr>
        <p:txBody>
          <a:bodyPr wrap="square" lIns="0" tIns="0" rIns="0" bIns="0" rtlCol="0" anchor="t"/>
          <a:lstStyle/>
          <a:p>
            <a:pPr algn="l" indent="0" marL="0">
              <a:lnSpc>
                <a:spcPts val="4800"/>
              </a:lnSpc>
              <a:spcAft>
                <a:spcPts val="1010"/>
              </a:spcAft>
              <a:buNone/>
            </a:pPr>
            <a:r>
              <a:rPr lang="en-US" sz="4000" dirty="0">
                <a:solidFill>
                  <a:srgbClr val="111111"/>
                </a:solidFill>
                <a:latin typeface="Lato" pitchFamily="34" charset="0"/>
                <a:ea typeface="Lato" pitchFamily="34" charset="-122"/>
                <a:cs typeface="Lato" pitchFamily="34" charset="-120"/>
              </a:rPr>
              <a:t>The final test is run once, reported next to validation, and the project reruns from a restarted kernel.</a:t>
            </a:r>
            <a:endParaRPr lang="en-US" sz="4000" dirty="0"/>
          </a:p>
        </p:txBody>
      </p:sp>
      <p:sp>
        <p:nvSpPr>
          <p:cNvPr id="4" name="Text 2"/>
          <p:cNvSpPr txBox="1"/>
          <p:nvPr/>
        </p:nvSpPr>
        <p:spPr>
          <a:xfrm>
            <a:off x="640080" y="4846320"/>
            <a:ext cx="6949440" cy="1097280"/>
          </a:xfrm>
          <a:prstGeom prst="rect">
            <a:avLst/>
          </a:prstGeom>
          <a:noFill/>
          <a:ln/>
        </p:spPr>
        <p:txBody>
          <a:bodyPr wrap="square" lIns="0" tIns="0" rIns="0" bIns="0" rtlCol="0" anchor="t"/>
          <a:lstStyle/>
          <a:p>
            <a:pPr algn="l" indent="0" marL="0">
              <a:lnSpc>
                <a:spcPts val="2750"/>
              </a:lnSpc>
              <a:buNone/>
            </a:pPr>
            <a:r>
              <a:rPr lang="en-US" sz="2200" dirty="0">
                <a:solidFill>
                  <a:srgbClr val="333333"/>
                </a:solidFill>
                <a:latin typeface="Lato" pitchFamily="34" charset="0"/>
                <a:ea typeface="Lato" pitchFamily="34" charset="-122"/>
                <a:cs typeface="Lato" pitchFamily="34" charset="-120"/>
              </a:rPr>
              <a:t>Then save your notebook, close it and open it again to check it saved.</a:t>
            </a:r>
            <a:endParaRPr lang="en-US" sz="2200" dirty="0"/>
          </a:p>
        </p:txBody>
      </p:sp>
      <p:pic>
        <p:nvPicPr>
          <p:cNvPr id="5" name="Image 0" descr="Finished">    </p:cNvPr>
          <p:cNvPicPr>
            <a:picLocks noChangeAspect="1"/>
          </p:cNvPicPr>
          <p:nvPr/>
        </p:nvPicPr>
        <p:blipFill>
          <a:blip r:embed="rId1"/>
          <a:stretch>
            <a:fillRect/>
          </a:stretch>
        </p:blipFill>
        <p:spPr>
          <a:xfrm>
            <a:off x="8229600" y="1920240"/>
            <a:ext cx="329184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21</a:t>
            </a:fld>
            <a:endParaRPr lang="en-US"/>
          </a:p>
        </p:txBody>
      </p:sp>
    </p:spTree>
  </p:cSld>
  <p:clrMapOvr>
    <a:masterClrMapping/>
  </p:clrMapOvr>
</p:sld>
</file>

<file path=ppt/theme/theme1.xml><?xml version="1.0" encoding="utf-8"?>
<a:theme xmlns:a="http://schemas.openxmlformats.org/drawingml/2006/main" name="KLAi camp">
  <a:themeElements>
    <a:clrScheme name="KLAi camp">
      <a:dk1>
        <a:srgbClr val="111111"/>
      </a:dk1>
      <a:lt1>
        <a:srgbClr val="FFFFFF"/>
      </a:lt1>
      <a:dk2>
        <a:srgbClr val="333333"/>
      </a:dk2>
      <a:lt2>
        <a:srgbClr val="F1F1F1"/>
      </a:lt2>
      <a:accent1>
        <a:srgbClr val="AE2525"/>
      </a:accent1>
      <a:accent2>
        <a:srgbClr val="E0BE36"/>
      </a:accent2>
      <a:accent3>
        <a:srgbClr val="8C8C8C"/>
      </a:accent3>
      <a:accent4>
        <a:srgbClr val="555555"/>
      </a:accent4>
      <a:accent5>
        <a:srgbClr val="CFCFCF"/>
      </a:accent5>
      <a:accent6>
        <a:srgbClr val="000000"/>
      </a:accent6>
      <a:hlink>
        <a:srgbClr val="AE2525"/>
      </a:hlink>
      <a:folHlink>
        <a:srgbClr val="666666"/>
      </a:folHlink>
    </a:clrScheme>
    <a:fontScheme name="KLAi camp">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KLAi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ML22 The final test and a reproducible handover</dc:title>
  <dc:subject>Machine Learning</dc:subject>
  <dc:creator>KLAi</dc:creator>
  <cp:lastModifiedBy>KLAi</cp:lastModifiedBy>
  <cp:revision>1</cp:revision>
  <dcterms:created xsi:type="dcterms:W3CDTF">2026-10-31T12:26:34Z</dcterms:created>
  <dcterms:modified xsi:type="dcterms:W3CDTF">2026-10-31T12:26:34Z</dcterms:modified>
</cp:coreProperties>
</file>