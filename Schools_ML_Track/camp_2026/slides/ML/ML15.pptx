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069efb0-c942-54ae-5e48-3f7626a9c9b1}">
          <p14:sldIdLst>
            <p14:sldId id="256"/>
            <p14:sldId id="257"/>
            <p14:sldId id="258"/>
            <p14:sldId id="259"/>
            <p14:sldId id="260"/>
            <p14:sldId id="261"/>
            <p14:sldId id="262"/>
          </p14:sldIdLst>
        </p14:section>
        <p14:section name="Block A" id="{14eb78c6-d8ed-d2c2-d6c1-3682c3c015bf}">
          <p14:sldIdLst>
            <p14:sldId id="263"/>
            <p14:sldId id="264"/>
            <p14:sldId id="265"/>
            <p14:sldId id="266"/>
            <p14:sldId id="268"/>
            <p14:sldId id="269"/>
          </p14:sldIdLst>
        </p14:section>
        <p14:section name="Break" id="{99a3b4ea-6a57-ad02-c8e9-3a945877ed6d}">
          <p14:sldIdLst>
            <p14:sldId id="267"/>
          </p14:sldIdLst>
        </p14:section>
        <p14:section name="Block A" id="{c2c40877-74ab-412b-0195-e84bc26a3046}">
          <p14:sldIdLst/>
        </p14:section>
        <p14:section name="Block B" id="{8b857fd2-cdf4-65a1-8453-7c8fb665b967}">
          <p14:sldIdLst>
            <p14:sldId id="270"/>
            <p14:sldId id="271"/>
            <p14:sldId id="272"/>
            <p14:sldId id="273"/>
            <p14:sldId id="274"/>
          </p14:sldIdLst>
        </p14:section>
        <p14:section name="Make and close" id="{4486cf21-4f37-231d-fcc1-a53bf59dc508}">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back. Today is session 15 and our topic is A complete regression experiment.
By the end of today you will be able to split data, fit a model and a baseline on the training part, and compare their errors on held-out homes.
We will answer one question: Does the rent model beat a plain guess on homes it has never seen?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square is one of our one hundred and twenty homes. Ninety of them, the white squares, are for training. The thirty gold squares are for testing, and the model never sees them while it learns. A shuffle chose the gold squares, which is why they are spread out. Today the question is whether the rent model beats a plain guess on homes it has never seen.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50 minutes. Block A. After that, 15 minutes. Break away from screens. Next, 50 minutes. Block B. Then, 40 minutes. Make. Then, 15 minutes. Exit ticket, save, and an individual check with each learner.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need a few words today. For each one I will say what it means and give you something to picture.
train and test split. Divide the rows into homes to learn from and homes to test on. An example from everyday life. Practice questions and the real exam.
held-out records. The rows kept back and never used to fit. Here is a way to see it. The exam paper kept in a locked cupboard.
test_size. The share of rows kept back for testing. A small example. One quarter of the class sits the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words for today.
random_state. A number that makes the shuffle repeatable. Picture this. Giving everyone the same shuffled deck.
baseline model. A model that guesses the training mean every time. You have seen this before. The average guess.
mean absolute error. The average size of the misses, in the target's own unit. The average distance of your darts from the bullseye.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homes in the file are in order. If we cut the file in the middle, one part might hold all the small homes. So we shuffle first, then cut off thirty homes for the test.
A random state of seven makes the shuffle the same every time, so your result matches 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split hands back four pieces: the training inputs, the test inputs, the training answers and the test answers. You catch them in four names on the left of the equals sign, in that order.
Swap two names and your code runs, but it quietly learns from the wrong thing. Check the order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a quarter of the 120 homes back. The model must never see them while it learns.
Time to commit to an answer. Predict how many homes go to training and how many to testing. Guess on paper first. Surprises are useful.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run it. Match each line of the output with the line of code that made it.
The cell prints 90 and 30. The four names on the left receive training inputs, test inputs, training targets and test targets, in that order. random_state=7 fixes the shuffle so everyone gets the same split.
If your guess was off, find the line that surprised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split the homes. I have two questions for you.
Question one. Why do we shuffle before splitting? Say it quietly to yourself before anyone answers.
The answer is this. The file may be in an order that puts similar homes together. A shuffle gives both parts a fair mix.
Question two. Which of the four names would hold the answers you must not peek at? Give it thirty seconds and then we will hear a few answers.
y_test.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it is your turn to change something. Change test_size to 0.2 and run the split again. When you have run it, tell your neighbour what changed and how you know.
Here is what happens. 96 homes train and 24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we score the plain guess. Take the mean rent of the training homes, guess it for each of the thirty test homes, and average the misses. The answer is about one hundred and ten thousand shillings.
That is the number the model has to beat.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model. It learned from the ninety training homes and has never seen the thirty test homes. Its average miss is about eleven thousand eight hundred and eighty nine shillings.
Compared with a hundred and ten thousand for the plain guess, that is roughly nine times closer.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Fit a mean-guess baseline and a line on the 90 training homes. Measure both on the 30 held-out homes.
Your turn to guess. Predict whether the model's average miss will be smaller than the baseline's, and by roughly how much. Write it on paper. It does not have to be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run it, and you compare with your guess. Match each line of the output with the line of code that made it.
The cell prints 110169 and 11889. The baseline misses by about UGX 110169 and the model by about UGX 11889, so on these 30 held-out homes the model is far better. Mean absolute error averages the misses and uses the unit of the target, shillings. The model wins by this much because the homes were generated from a formula, which makes them easy to learn. Real data would not be so kind.
Check your paper. Were you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baseline against model. I have two questions for you.
Question one. What does a mean absolute error of 11889 mean in words? Give it thirty seconds and then we will hear a few answers.
On average the model's rent estimate is about UGX 11889 away from the real rent.
Question two. Why is this result no evidence about real rents? Talk it over with your neighbour for a minute.
Here is how I would answer it. The homes are invented from a neat formula, so any line fits them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to experiment. Fit a model using only area_m2 and print its error. Run it, then tell someone what you saw.
What you should find: About UGX 28272, worse than with rooms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the random state and a different set of homes lands in the test part, so the score changes a little. Ten shuffles give ten nearby numbers.
That is why we report which seed we used, and why we should be careful about reading too much into small differences.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your own task for today. Take it one step at a time. If you get stuck for a few minutes, read your error message, check the error card, and then ask me.
Save it as ML15.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meets errors, including me. Two are likely today, so let us meet them now.
This is the first one. You will see: KeyError: "['rooms'] not in index". It means this: the column name is spelled differently from the header. To fix it, print homes.columns and copy the exact name.
The next one. You will see: The two errors are the same. It means this: the model and baseline were scored on the same predictions, or the wrong table was used. To fix it, check that each uses its own predict call on X_test.
Keep this slide in mind when something stops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nearly done. Remember the question from the start of the session: Does the rent model beat a plain guess on homes it has never seen?
Write this sentence in your notebook and finish it your own way. On held-out homes the model's average miss is about a tenth of the baseline's, and this holds only for these invented homes.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ML15  |  A complete regression experiment</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1.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A complete regression experiment</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Does the rent model beat a plain guess on homes it has never seen?</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Machine Learning  |  Session 15 of 24  |  Week 5, Baselines and a line</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Does the rent model beat a plain</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guess on homes it has never seen?</a:t>
            </a:r>
            <a:endParaRPr lang="en-US" sz="3600" dirty="0"/>
          </a:p>
        </p:txBody>
      </p:sp>
      <p:pic>
        <p:nvPicPr>
          <p:cNvPr id="3" name="Image 0" descr="One hundred and twenty homes as squares, ninety for training and thirty gold ones for testing">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train and test split">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2880"/>
              </a:lnSpc>
              <a:buNone/>
            </a:pPr>
            <a:r>
              <a:rPr lang="en-US" sz="2400" b="1" dirty="0">
                <a:solidFill>
                  <a:srgbClr val="111111"/>
                </a:solidFill>
                <a:latin typeface="Lato" pitchFamily="34" charset="0"/>
                <a:ea typeface="Lato" pitchFamily="34" charset="-122"/>
                <a:cs typeface="Lato" pitchFamily="34" charset="-120"/>
              </a:rPr>
              <a:t>train and test split</a:t>
            </a:r>
            <a:endParaRPr lang="en-US" sz="2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Divide the rows into homes to learn from and homes to test on.</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Practice questions and the real exam.</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held-out records">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3120"/>
              </a:lnSpc>
              <a:buNone/>
            </a:pPr>
            <a:r>
              <a:rPr lang="en-US" sz="2600" b="1" dirty="0">
                <a:solidFill>
                  <a:srgbClr val="111111"/>
                </a:solidFill>
                <a:latin typeface="Lato" pitchFamily="34" charset="0"/>
                <a:ea typeface="Lato" pitchFamily="34" charset="-122"/>
                <a:cs typeface="Lato" pitchFamily="34" charset="-120"/>
              </a:rPr>
              <a:t>held-out records</a:t>
            </a:r>
            <a:endParaRPr lang="en-US" sz="26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rows kept back and never used to fit.</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exam paper kept in a locked cupboard.</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test_size">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test_size</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share of rows kept back for testing.</a:t>
            </a:r>
            <a:endParaRPr lang="en-US" sz="2200" dirty="0"/>
          </a:p>
        </p:txBody>
      </p:sp>
      <p:sp>
        <p:nvSpPr>
          <p:cNvPr id="16"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One quarter of the class sits the check.</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random_state">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3720"/>
              </a:lnSpc>
              <a:buNone/>
            </a:pPr>
            <a:r>
              <a:rPr lang="en-US" sz="3100" b="1" dirty="0">
                <a:solidFill>
                  <a:srgbClr val="111111"/>
                </a:solidFill>
                <a:latin typeface="Lato" pitchFamily="34" charset="0"/>
                <a:ea typeface="Lato" pitchFamily="34" charset="-122"/>
                <a:cs typeface="Lato" pitchFamily="34" charset="-120"/>
              </a:rPr>
              <a:t>random_state</a:t>
            </a:r>
            <a:endParaRPr lang="en-US" sz="31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number that makes the shuffle repeatable.</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Giving everyone the same shuffled deck.</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baseline model">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3480"/>
              </a:lnSpc>
              <a:buNone/>
            </a:pPr>
            <a:r>
              <a:rPr lang="en-US" sz="2900" b="1" dirty="0">
                <a:solidFill>
                  <a:srgbClr val="111111"/>
                </a:solidFill>
                <a:latin typeface="Lato" pitchFamily="34" charset="0"/>
                <a:ea typeface="Lato" pitchFamily="34" charset="-122"/>
                <a:cs typeface="Lato" pitchFamily="34" charset="-120"/>
              </a:rPr>
              <a:t>baseline model</a:t>
            </a:r>
            <a:endParaRPr lang="en-US" sz="29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model that guesses the training mean every time.</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average guess.</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mean absolute error">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2880"/>
              </a:lnSpc>
              <a:buNone/>
            </a:pPr>
            <a:r>
              <a:rPr lang="en-US" sz="2400" b="1" dirty="0">
                <a:solidFill>
                  <a:srgbClr val="111111"/>
                </a:solidFill>
                <a:latin typeface="Lato" pitchFamily="34" charset="0"/>
                <a:ea typeface="Lato" pitchFamily="34" charset="-122"/>
                <a:cs typeface="Lato" pitchFamily="34" charset="-120"/>
              </a:rPr>
              <a:t>mean absolute error</a:t>
            </a:r>
            <a:endParaRPr lang="en-US" sz="2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average size of the misses, in the target's own unit.</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average distance of your darts from the bullseye.</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Shuffle first, then cut, for a fair test sample</a:t>
            </a:r>
            <a:endParaRPr lang="en-US" sz="3800" dirty="0"/>
          </a:p>
        </p:txBody>
      </p:sp>
      <p:pic>
        <p:nvPicPr>
          <p:cNvPr id="3" name="Image 0" descr="Shuffle first, then cut, for a fair test sampl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file is in order of home number.</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Shuffle with random_state 7.</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Cut after 30 for the test part.</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Four names catch the four pieces the split returns</a:t>
            </a:r>
            <a:endParaRPr lang="en-US" sz="3600" dirty="0"/>
          </a:p>
        </p:txBody>
      </p:sp>
      <p:pic>
        <p:nvPicPr>
          <p:cNvPr id="3" name="Image 0" descr="Four names catch the four pieces the split return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Training inputs and training answers.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Test inputs and test answers.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order matters.</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Split the homes</a:t>
            </a:r>
            <a:endParaRPr lang="en-US" sz="3800" dirty="0"/>
          </a:p>
        </p:txBody>
      </p:sp>
      <p:sp>
        <p:nvSpPr>
          <p:cNvPr id="3" name="Shape 1"/>
          <p:cNvSpPr/>
          <p:nvPr/>
        </p:nvSpPr>
        <p:spPr>
          <a:xfrm>
            <a:off x="640080" y="1645920"/>
            <a:ext cx="10881360" cy="3383280"/>
          </a:xfrm>
          <a:prstGeom prst="roundRect">
            <a:avLst>
              <a:gd name="adj" fmla="val 2162"/>
            </a:avLst>
          </a:prstGeom>
          <a:solidFill>
            <a:srgbClr val="111111"/>
          </a:solidFill>
          <a:ln/>
        </p:spPr>
      </p:sp>
      <p:sp>
        <p:nvSpPr>
          <p:cNvPr id="4" name="Text 2"/>
          <p:cNvSpPr txBox="1"/>
          <p:nvPr/>
        </p:nvSpPr>
        <p:spPr>
          <a:xfrm>
            <a:off x="841248" y="1847088"/>
            <a:ext cx="10479024" cy="2980944"/>
          </a:xfrm>
          <a:prstGeom prst="rect">
            <a:avLst/>
          </a:prstGeom>
          <a:noFill/>
          <a:ln/>
        </p:spPr>
        <p:txBody>
          <a:bodyPr wrap="square" lIns="0" tIns="0" rIns="0" bIns="0" rtlCol="0" anchor="t"/>
          <a:lstStyle/>
          <a:p>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import</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pandas </a:t>
            </a:r>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as</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pd</a:t>
            </a:r>
            <a:endParaRPr lang="en-US" sz="2000" dirty="0"/>
          </a:p>
          <a:p>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from</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sklearn.model_selection </a:t>
            </a:r>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import</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train_test_split</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homes = pd.read_csv(</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"synthetic_homes.csv"</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X = homes[[</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"area_m2"</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"rooms"</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y = homes[</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"rent_ugx"</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X_train, X_test, y_train, y_test = train_test_split(</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X, y, test_size=0.25, random_state=7</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print(len(X_train), len(X_test))</a:t>
            </a:r>
            <a:endParaRPr lang="en-US" sz="2000" dirty="0"/>
          </a:p>
        </p:txBody>
      </p:sp>
      <p:sp>
        <p:nvSpPr>
          <p:cNvPr id="5" name="Text 3"/>
          <p:cNvSpPr txBox="1"/>
          <p:nvPr/>
        </p:nvSpPr>
        <p:spPr>
          <a:xfrm>
            <a:off x="640080" y="5212080"/>
            <a:ext cx="8046720" cy="1051560"/>
          </a:xfrm>
          <a:prstGeom prst="rect">
            <a:avLst/>
          </a:prstGeom>
          <a:noFill/>
          <a:ln/>
        </p:spPr>
        <p:txBody>
          <a:bodyPr wrap="square" lIns="0" tIns="0" rIns="0" bIns="0" rtlCol="0" anchor="t"/>
          <a:lstStyle/>
          <a:p>
            <a:pPr algn="l" indent="0" marL="0">
              <a:lnSpc>
                <a:spcPts val="2400"/>
              </a:lnSpc>
              <a:spcAft>
                <a:spcPts val="1010"/>
              </a:spcAft>
              <a:buNone/>
            </a:pPr>
            <a:r>
              <a:rPr lang="en-US" sz="2000" dirty="0">
                <a:solidFill>
                  <a:srgbClr val="111111"/>
                </a:solidFill>
                <a:latin typeface="Lato" pitchFamily="34" charset="0"/>
                <a:ea typeface="Lato" pitchFamily="34" charset="-122"/>
                <a:cs typeface="Lato" pitchFamily="34" charset="-120"/>
              </a:rPr>
              <a:t>Predict how many homes go to training and how many to testing.</a:t>
            </a:r>
            <a:endParaRPr lang="en-US" sz="2000" dirty="0"/>
          </a:p>
          <a:p>
            <a:pPr algn="l" indent="0" marL="0">
              <a:lnSpc>
                <a:spcPts val="2400"/>
              </a:lnSpc>
              <a:spcAft>
                <a:spcPts val="1010"/>
              </a:spcAft>
              <a:buNone/>
            </a:pPr>
            <a:r>
              <a:rPr lang="en-US" sz="2000" dirty="0">
                <a:solidFill>
                  <a:srgbClr val="111111"/>
                </a:solidFill>
                <a:latin typeface="Lato" pitchFamily="34" charset="0"/>
                <a:ea typeface="Lato" pitchFamily="34" charset="-122"/>
                <a:cs typeface="Lato" pitchFamily="34" charset="-120"/>
              </a:rPr>
              <a:t>Write your guess on paper before we run it.</a:t>
            </a:r>
            <a:endParaRPr lang="en-US" sz="2000" dirty="0"/>
          </a:p>
        </p:txBody>
      </p:sp>
      <p:pic>
        <p:nvPicPr>
          <p:cNvPr id="6" name="Image 0" descr="A page and a pen">    </p:cNvPr>
          <p:cNvPicPr>
            <a:picLocks noChangeAspect="1"/>
          </p:cNvPicPr>
          <p:nvPr/>
        </p:nvPicPr>
        <p:blipFill>
          <a:blip r:embed="rId1"/>
          <a:stretch>
            <a:fillRect/>
          </a:stretch>
        </p:blipFill>
        <p:spPr>
          <a:xfrm>
            <a:off x="10241280" y="5214366"/>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Split the homes</a:t>
            </a:r>
            <a:endParaRPr lang="en-US" sz="3800" dirty="0"/>
          </a:p>
        </p:txBody>
      </p:sp>
      <p:sp>
        <p:nvSpPr>
          <p:cNvPr id="3" name="Text 1"/>
          <p:cNvSpPr txBox="1"/>
          <p:nvPr/>
        </p:nvSpPr>
        <p:spPr>
          <a:xfrm>
            <a:off x="640080" y="1737360"/>
            <a:ext cx="7498080" cy="4389120"/>
          </a:xfrm>
          <a:prstGeom prst="rect">
            <a:avLst/>
          </a:prstGeom>
          <a:noFill/>
          <a:ln/>
        </p:spPr>
        <p:txBody>
          <a:bodyPr wrap="square" lIns="0" tIns="0" rIns="0" bIns="0" rtlCol="0" anchor="t"/>
          <a:lstStyle/>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cell prints 90 and 30.</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four names on the left receive training inputs, test inputs, training targets and test targets, in that order.</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random_state=7 fixes the shuffle so everyone gets the same split.</a:t>
            </a:r>
            <a:endParaRPr lang="en-US" sz="3000" dirty="0"/>
          </a:p>
        </p:txBody>
      </p:sp>
      <p:pic>
        <p:nvPicPr>
          <p:cNvPr id="4" name="Image 0" descr="Compare with your guess">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Split the homes</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do we shuffle before splitting?</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Which of the four names would hold the answers you must not peek at?</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Change test_size to 0.2 and run the split again.</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The plain guess misses by about 110,000 shillings</a:t>
            </a:r>
            <a:endParaRPr lang="en-US" sz="3600" dirty="0"/>
          </a:p>
        </p:txBody>
      </p:sp>
      <p:pic>
        <p:nvPicPr>
          <p:cNvPr id="3" name="Image 0" descr="The plain guess misses by about 110,000 shilling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Guess the training mean for each test home.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Measure the average miss.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baseline misses by 110,169.</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The fitted model misses by about 12,000 shillings</a:t>
            </a:r>
            <a:endParaRPr lang="en-US" sz="3600" dirty="0"/>
          </a:p>
        </p:txBody>
      </p:sp>
      <p:pic>
        <p:nvPicPr>
          <p:cNvPr id="3" name="Image 0" descr="The fitted model misses by about 12,000 shilling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Same thirty test homes.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model misses by 11,889.</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About nine times closer than the plain guess.</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Baseline against model</a:t>
            </a:r>
            <a:endParaRPr lang="en-US" sz="3800" dirty="0"/>
          </a:p>
        </p:txBody>
      </p:sp>
      <p:sp>
        <p:nvSpPr>
          <p:cNvPr id="3" name="Shape 1"/>
          <p:cNvSpPr/>
          <p:nvPr/>
        </p:nvSpPr>
        <p:spPr>
          <a:xfrm>
            <a:off x="640080" y="1645920"/>
            <a:ext cx="7223760" cy="4368292"/>
          </a:xfrm>
          <a:prstGeom prst="roundRect">
            <a:avLst>
              <a:gd name="adj" fmla="val 1675"/>
            </a:avLst>
          </a:prstGeom>
          <a:solidFill>
            <a:srgbClr val="111111"/>
          </a:solidFill>
          <a:ln/>
        </p:spPr>
      </p:sp>
      <p:sp>
        <p:nvSpPr>
          <p:cNvPr id="4" name="Text 2"/>
          <p:cNvSpPr txBox="1"/>
          <p:nvPr/>
        </p:nvSpPr>
        <p:spPr>
          <a:xfrm>
            <a:off x="841248" y="1847088"/>
            <a:ext cx="6821424" cy="3965956"/>
          </a:xfrm>
          <a:prstGeom prst="rect">
            <a:avLst/>
          </a:prstGeom>
          <a:noFill/>
          <a:ln/>
        </p:spPr>
        <p:txBody>
          <a:bodyPr wrap="square" lIns="0" tIns="0" rIns="0" bIns="0" rtlCol="0" anchor="t"/>
          <a:lstStyle/>
          <a:p>
            <a:pPr algn="l" indent="0" marL="0">
              <a:lnSpc>
                <a:spcPts val="2210"/>
              </a:lnSpc>
              <a:buNone/>
            </a:pPr>
            <a:r>
              <a:rPr lang="en-US" sz="1700" b="1" dirty="0">
                <a:solidFill>
                  <a:srgbClr val="FFFFFF"/>
                </a:solidFill>
                <a:latin typeface="Courier New" pitchFamily="34" charset="0"/>
                <a:ea typeface="Courier New" pitchFamily="34" charset="-122"/>
                <a:cs typeface="Courier New" pitchFamily="34" charset="-120"/>
              </a:rPr>
              <a:t>from</a:t>
            </a:r>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 sklearn.dummy </a:t>
            </a:r>
            <a:pPr algn="l" indent="0" marL="0">
              <a:lnSpc>
                <a:spcPts val="2210"/>
              </a:lnSpc>
              <a:buNone/>
            </a:pPr>
            <a:r>
              <a:rPr lang="en-US" sz="1700" b="1" dirty="0">
                <a:solidFill>
                  <a:srgbClr val="FFFFFF"/>
                </a:solidFill>
                <a:latin typeface="Courier New" pitchFamily="34" charset="0"/>
                <a:ea typeface="Courier New" pitchFamily="34" charset="-122"/>
                <a:cs typeface="Courier New" pitchFamily="34" charset="-120"/>
              </a:rPr>
              <a:t>import</a:t>
            </a:r>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 DummyRegressor</a:t>
            </a:r>
            <a:endParaRPr lang="en-US" sz="1700" dirty="0"/>
          </a:p>
          <a:p>
            <a:pPr algn="l" indent="0" marL="0">
              <a:lnSpc>
                <a:spcPts val="2210"/>
              </a:lnSpc>
              <a:buNone/>
            </a:pPr>
            <a:r>
              <a:rPr lang="en-US" sz="1700" b="1" dirty="0">
                <a:solidFill>
                  <a:srgbClr val="FFFFFF"/>
                </a:solidFill>
                <a:latin typeface="Courier New" pitchFamily="34" charset="0"/>
                <a:ea typeface="Courier New" pitchFamily="34" charset="-122"/>
                <a:cs typeface="Courier New" pitchFamily="34" charset="-120"/>
              </a:rPr>
              <a:t>from</a:t>
            </a:r>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 sklearn.linear_model </a:t>
            </a:r>
            <a:pPr algn="l" indent="0" marL="0">
              <a:lnSpc>
                <a:spcPts val="2210"/>
              </a:lnSpc>
              <a:buNone/>
            </a:pPr>
            <a:r>
              <a:rPr lang="en-US" sz="1700" b="1" dirty="0">
                <a:solidFill>
                  <a:srgbClr val="FFFFFF"/>
                </a:solidFill>
                <a:latin typeface="Courier New" pitchFamily="34" charset="0"/>
                <a:ea typeface="Courier New" pitchFamily="34" charset="-122"/>
                <a:cs typeface="Courier New" pitchFamily="34" charset="-120"/>
              </a:rPr>
              <a:t>import</a:t>
            </a:r>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 LinearRegression</a:t>
            </a:r>
            <a:endParaRPr lang="en-US" sz="1700" dirty="0"/>
          </a:p>
          <a:p>
            <a:pPr algn="l" indent="0" marL="0">
              <a:lnSpc>
                <a:spcPts val="2210"/>
              </a:lnSpc>
              <a:buNone/>
            </a:pPr>
            <a:r>
              <a:rPr lang="en-US" sz="1700" b="1" dirty="0">
                <a:solidFill>
                  <a:srgbClr val="FFFFFF"/>
                </a:solidFill>
                <a:latin typeface="Courier New" pitchFamily="34" charset="0"/>
                <a:ea typeface="Courier New" pitchFamily="34" charset="-122"/>
                <a:cs typeface="Courier New" pitchFamily="34" charset="-120"/>
              </a:rPr>
              <a:t>from</a:t>
            </a:r>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 sklearn.metrics </a:t>
            </a:r>
            <a:pPr algn="l" indent="0" marL="0">
              <a:lnSpc>
                <a:spcPts val="2210"/>
              </a:lnSpc>
              <a:buNone/>
            </a:pPr>
            <a:r>
              <a:rPr lang="en-US" sz="1700" b="1" dirty="0">
                <a:solidFill>
                  <a:srgbClr val="FFFFFF"/>
                </a:solidFill>
                <a:latin typeface="Courier New" pitchFamily="34" charset="0"/>
                <a:ea typeface="Courier New" pitchFamily="34" charset="-122"/>
                <a:cs typeface="Courier New" pitchFamily="34" charset="-120"/>
              </a:rPr>
              <a:t>import</a:t>
            </a:r>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 mean_absolute_error</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baseline = DummyRegressor(strategy=</a:t>
            </a:r>
            <a:pPr algn="l" indent="0" marL="0">
              <a:lnSpc>
                <a:spcPts val="2210"/>
              </a:lnSpc>
              <a:buNone/>
            </a:pPr>
            <a:r>
              <a:rPr lang="en-US" sz="1700" dirty="0">
                <a:solidFill>
                  <a:srgbClr val="E0BE36"/>
                </a:solidFill>
                <a:latin typeface="Courier New" pitchFamily="34" charset="0"/>
                <a:ea typeface="Courier New" pitchFamily="34" charset="-122"/>
                <a:cs typeface="Courier New" pitchFamily="34" charset="-120"/>
              </a:rPr>
              <a:t>"mean"</a:t>
            </a:r>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).fit(</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    X_train, y_train</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model = LinearRegression().fit(X_train, y_train)</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baseline_mae = mean_absolute_error(</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    y_test, baseline.predict(X_test)</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model_mae = mean_absolute_error(</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    y_test, model.predict(X_test)</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print(round(baseline_mae), round(model_mae))</a:t>
            </a:r>
            <a:endParaRPr lang="en-US" sz="1700" dirty="0"/>
          </a:p>
        </p:txBody>
      </p:sp>
      <p:sp>
        <p:nvSpPr>
          <p:cNvPr id="5" name="Text 3"/>
          <p:cNvSpPr txBox="1"/>
          <p:nvPr/>
        </p:nvSpPr>
        <p:spPr>
          <a:xfrm>
            <a:off x="8138160" y="1737360"/>
            <a:ext cx="3383280" cy="2560320"/>
          </a:xfrm>
          <a:prstGeom prst="rect">
            <a:avLst/>
          </a:prstGeom>
          <a:noFill/>
          <a:ln/>
        </p:spPr>
        <p:txBody>
          <a:bodyPr wrap="square" lIns="0" tIns="0" rIns="0" bIns="0" rtlCol="0" anchor="t"/>
          <a:lstStyle/>
          <a:p>
            <a:pPr algn="l" indent="0" marL="0">
              <a:lnSpc>
                <a:spcPts val="2400"/>
              </a:lnSpc>
              <a:spcAft>
                <a:spcPts val="2160"/>
              </a:spcAft>
              <a:buNone/>
            </a:pPr>
            <a:r>
              <a:rPr lang="en-US" sz="2000" dirty="0">
                <a:solidFill>
                  <a:srgbClr val="111111"/>
                </a:solidFill>
                <a:latin typeface="Lato" pitchFamily="34" charset="0"/>
                <a:ea typeface="Lato" pitchFamily="34" charset="-122"/>
                <a:cs typeface="Lato" pitchFamily="34" charset="-120"/>
              </a:rPr>
              <a:t>Predict whether the model's average miss will be smaller than the baseline's, and by roughly how much.</a:t>
            </a:r>
            <a:endParaRPr lang="en-US" sz="2000" dirty="0"/>
          </a:p>
          <a:p>
            <a:pPr algn="l" indent="0" marL="0">
              <a:lnSpc>
                <a:spcPts val="2400"/>
              </a:lnSpc>
              <a:spcAft>
                <a:spcPts val="2160"/>
              </a:spcAft>
              <a:buNone/>
            </a:pPr>
            <a:r>
              <a:rPr lang="en-US" sz="2000" dirty="0">
                <a:solidFill>
                  <a:srgbClr val="111111"/>
                </a:solidFill>
                <a:latin typeface="Lato" pitchFamily="34" charset="0"/>
                <a:ea typeface="Lato" pitchFamily="34" charset="-122"/>
                <a:cs typeface="Lato" pitchFamily="34" charset="-120"/>
              </a:rPr>
              <a:t>Write your guess on paper before we run it.</a:t>
            </a:r>
            <a:endParaRPr lang="en-US" sz="2000" dirty="0"/>
          </a:p>
        </p:txBody>
      </p:sp>
      <p:pic>
        <p:nvPicPr>
          <p:cNvPr id="6" name="Image 0" descr="A page and a pen: write your guess first">    </p:cNvPr>
          <p:cNvPicPr>
            <a:picLocks noChangeAspect="1"/>
          </p:cNvPicPr>
          <p:nvPr/>
        </p:nvPicPr>
        <p:blipFill>
          <a:blip r:embed="rId1"/>
          <a:stretch>
            <a:fillRect/>
          </a:stretch>
        </p:blipFill>
        <p:spPr>
          <a:xfrm>
            <a:off x="9013371" y="4343400"/>
            <a:ext cx="2090057"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Baseline against model</a:t>
            </a:r>
            <a:endParaRPr lang="en-US" sz="3800" dirty="0"/>
          </a:p>
        </p:txBody>
      </p:sp>
      <p:sp>
        <p:nvSpPr>
          <p:cNvPr id="3" name="Text 1"/>
          <p:cNvSpPr txBox="1"/>
          <p:nvPr/>
        </p:nvSpPr>
        <p:spPr>
          <a:xfrm>
            <a:off x="640080" y="1737360"/>
            <a:ext cx="7498080" cy="4389120"/>
          </a:xfrm>
          <a:prstGeom prst="rect">
            <a:avLst/>
          </a:prstGeom>
          <a:noFill/>
          <a:ln/>
        </p:spPr>
        <p:txBody>
          <a:bodyPr wrap="square" lIns="0" tIns="0" rIns="0" bIns="0" rtlCol="0" anchor="t"/>
          <a:lstStyle/>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cell prints 110169 and 11889.</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baseline misses by about UGX 110169 and the model by about UGX 11889, so on these 30 held-out homes the model is far better.</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Mean absolute error averages the misses and uses the unit of the target, shillings.</a:t>
            </a:r>
            <a:endParaRPr lang="en-US" sz="3000" dirty="0"/>
          </a:p>
        </p:txBody>
      </p:sp>
      <p:pic>
        <p:nvPicPr>
          <p:cNvPr id="4" name="Image 0" descr="Compare with your guess">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Baseline against model</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What does a mean absolute error of 11889 mean in words?</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Why is this result no evidence about real rents?</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Fit a model using only area_m2 and print its error.</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Ten shuffles give ten slightly different scores</a:t>
            </a:r>
            <a:endParaRPr lang="en-US" sz="3800" dirty="0"/>
          </a:p>
        </p:txBody>
      </p:sp>
      <p:pic>
        <p:nvPicPr>
          <p:cNvPr id="3" name="Image 0" descr="Ten shuffles give ten slightly different score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Each shuffle picks different test homes.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scores stay in the same region.</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Report the seed you used.</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480"/>
              </a:lnSpc>
              <a:spcAft>
                <a:spcPts val="2520"/>
              </a:spcAft>
              <a:buNone/>
            </a:pPr>
            <a:r>
              <a:rPr lang="en-US" sz="2900" dirty="0">
                <a:solidFill>
                  <a:srgbClr val="111111"/>
                </a:solidFill>
                <a:latin typeface="Lato" pitchFamily="34" charset="0"/>
                <a:ea typeface="Lato" pitchFamily="34" charset="-122"/>
                <a:cs typeface="Lato" pitchFamily="34" charset="-120"/>
              </a:rPr>
              <a:t>Run the experiment, record the two errors, and say whether the model beats the baseline on the held-out homes. Keep the split as it is. Do not keep changing random_state to get a better score.</a:t>
            </a:r>
            <a:endParaRPr lang="en-US" sz="2900" dirty="0"/>
          </a:p>
          <a:p>
            <a:pPr algn="l" indent="0" marL="0">
              <a:lnSpc>
                <a:spcPts val="3480"/>
              </a:lnSpc>
              <a:spcAft>
                <a:spcPts val="2520"/>
              </a:spcAft>
              <a:buNone/>
            </a:pPr>
            <a:r>
              <a:rPr lang="en-US" sz="2900" dirty="0">
                <a:solidFill>
                  <a:srgbClr val="111111"/>
                </a:solidFill>
                <a:latin typeface="Lato" pitchFamily="34" charset="0"/>
                <a:ea typeface="Lato" pitchFamily="34" charset="-122"/>
                <a:cs typeface="Lato" pitchFamily="34" charset="-120"/>
              </a:rPr>
              <a:t>Save it as ML15. Write two sentences: what you changed and how you checked it.</a:t>
            </a:r>
            <a:endParaRPr lang="en-US" sz="29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KeyError: "['rooms'] not in index"</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column name is spelled differently from the header.</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Print homes.columns and copy the exact name.</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two errors are the same</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model and baseline were scored on the same predictions, or the wrong table was used.</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Check that each uses its own predict call on X_test.</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440"/>
              </a:lnSpc>
              <a:spcAft>
                <a:spcPts val="1010"/>
              </a:spcAft>
              <a:buNone/>
            </a:pPr>
            <a:r>
              <a:rPr lang="en-US" sz="3700" dirty="0">
                <a:solidFill>
                  <a:srgbClr val="111111"/>
                </a:solidFill>
                <a:latin typeface="Lato" pitchFamily="34" charset="0"/>
                <a:ea typeface="Lato" pitchFamily="34" charset="-122"/>
                <a:cs typeface="Lato" pitchFamily="34" charset="-120"/>
              </a:rPr>
              <a:t>On held-out homes the model's average miss is about a tenth of the baseline's, and this holds only for these invented homes.</a:t>
            </a:r>
            <a:endParaRPr lang="en-US" sz="37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ML15 A complete regression experiment</dc:title>
  <dc:subject>Machine Learning</dc:subject>
  <dc:creator>KLAi</dc:creator>
  <cp:lastModifiedBy>KLAi</cp:lastModifiedBy>
  <cp:revision>1</cp:revision>
  <dcterms:created xsi:type="dcterms:W3CDTF">2026-10-31T12:26:31Z</dcterms:created>
  <dcterms:modified xsi:type="dcterms:W3CDTF">2026-10-31T12:26:31Z</dcterms:modified>
</cp:coreProperties>
</file>