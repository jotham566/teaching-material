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c42f698-a94d-a16f-db1e-283c88016511}">
          <p14:sldIdLst>
            <p14:sldId id="256"/>
            <p14:sldId id="257"/>
            <p14:sldId id="258"/>
            <p14:sldId id="259"/>
            <p14:sldId id="260"/>
            <p14:sldId id="261"/>
            <p14:sldId id="262"/>
          </p14:sldIdLst>
        </p14:section>
        <p14:section name="Block A" id="{50626866-aad5-75e7-3b5a-3a5db7ec1da8}">
          <p14:sldIdLst>
            <p14:sldId id="263"/>
            <p14:sldId id="264"/>
            <p14:sldId id="265"/>
            <p14:sldId id="266"/>
            <p14:sldId id="267"/>
            <p14:sldId id="269"/>
            <p14:sldId id="270"/>
          </p14:sldIdLst>
        </p14:section>
        <p14:section name="Break" id="{5a6758a8-0242-84bf-81a6-c9e03e14dead}">
          <p14:sldIdLst>
            <p14:sldId id="268"/>
          </p14:sldIdLst>
        </p14:section>
        <p14:section name="Block A" id="{a35c8434-7b69-22ea-fa4c-2f30e8caa4d3}">
          <p14:sldIdLst/>
        </p14:section>
        <p14:section name="Block B" id="{07e05cce-61da-58cc-67a6-0f5d29a60066}">
          <p14:sldIdLst>
            <p14:sldId id="271"/>
            <p14:sldId id="272"/>
            <p14:sldId id="273"/>
            <p14:sldId id="274"/>
            <p14:sldId id="275"/>
          </p14:sldIdLst>
        </p14:section>
        <p14:section name="Make and close" id="{0d75bc2b-8ac7-5e01-617c-2c79be765963}">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14 and our topic is exploring distributions with seaborn.
By the end of today you will be able to draw a histogram and a box plot with seaborn and describe the shape, the middle and the outliers of a column.
We will answer one question: What does a typical sale look like, and does it differ between the three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typical sale look like, and does it differ between the three shops? A single average cannot answer that, because sales come in many sizes. We need to see the whole shape of the values, and then see it again for each shop. Today we draw histograms and box plots with a library called seaborn, which makes these pictures in one line, and we look for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seaborn. A library that draws statistical charts. It sits on top of matplotlib and takes a DataFrame directly. Here is a way to see it. A set of ready-made stencils for charts.
exploratory analysis. Looking at the data from several sides to see what is there before you answer a question. A small example. Walking round a shop before you count the stock.
distribution. How the values of one column are spread out. Picture this. How the pupils spread across height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box plot. A box from the lower to the upper quartile with a line at the median and dots for outliers. You have seen this before. A five-number summary drawn as a picture.
skewed. Bunched at one end with a long tail at the other. Most pupils short and a few very tall.
group comparison. Drawing the same chart for each group side by side. Think of a shop. Comparing the three shops on one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histogram sorts the values into ranges called bins. On the left we used eight wide bins, so we only see a rough shape. On the right we used sixty narrow bins, and we see much more detail, including some jumps that the wide bars hid.
There is no single right number of bins. Try a few, and pick the one that shows the shape clearly without turning it into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distributions. On the left the values spread about equally on both sides of the middle, and the mean and the median are close. We call it balanced. On the right most values are small and a few are very large. That long tail pulls the mean away from the median.
The line value of a sale is skewed, with a skewness of about seven. When you see this shape, choose the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sns.histplot draws a histogram from a DataFrame. Name the DataFrame in data= and the column in x=.
Now your guess. Predict whether the histogram is balanced or skewed to the right.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rest of the code. Read it through once. Then write your guess on paper before we run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histogram is bunched at the low end with a long tail to the right. The skew is 7.3. A positive skew above 1 means a long right tail. Most sales are small and a few are large.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histogram of sale values. I have two questions for you.
Question one. What does the long right tail mean for the mean and the median? Think about it for a moment, then tell the person next to you.
Here is how I would answer it. The tail pulls the mean above the median. The median is the better description of a typical sale.
Question two. What does exploratory analysis do that a single total does not? Have a go in your head first.
What I would say is this. It shows the shape of the data, so we see the bulk purchases that one total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Draw the histogram again with bins=60 and say what changes. Run it, then tell someone what you saw.
What you should find: The bars get narrower and the long tail shows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box plot is a histogram folded into a small shape. The box runs from the first quartile to the third, so it holds the middle half of the values. The line inside the box is the median. The whiskers reach out toward the smallest and largest values that are not outliers, and any dots beyond the whiskers are the unusual ones.
Find the median, the box and one outlier on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draw one box for each shop on the same axis. The reader can compare the three medians, the three spreads and the outliers in a single glance, without reading a table. The median sale is two thousand five hundred at Central Market, two thousand at Campus Gate and two thousand five hundred at Roadside.
Look at where the lines in the boxes sit, and at how tall the boxes are. A taller box means more variety in that shop. A few very large sales are drawn as dots above the boxes, and the largest is one hundred and eight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sns.boxplot draws one box for each group. The line inside the box is the median.
This is the part where you decide. Predict which shop has the lowest median sale.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medians are 2500 at Central Market, 2000 at Campus Gate and 2500 at Roadside. The boxes look alike and every shop has dots well above its whiskers: bulk sales happen in all three. The shops differ more in how many sales they make than in how big a typical sale is.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box plot for each shop. I have two questions for you.
Question one. Do the shops differ much in typical sale value? Have a go in your head first.
What I would say is this. Not much. Two medians are 2500 and one is 2000.
Question two. What do the dots above each box show? Write your answer in one line before we compare.
Let me answer it. Unusually large sales. They exist at all three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Use the box plot to compare the units column across shops. Print the median units for each shop. After you run it, say in one sentence what changed and how you checked.
You should see this. A similar median at each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step is to turn the picture into a sentence. We group by shop and ask for the median of the customers counted. The three medians should match the lines inside the three boxes.
Then you write one sentence that names the shops and quotes the numbers. A finding without a number is only an opinion. Roadside has the lowest median, eighty seven customers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DA14.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NameError: name 'sns' is not defined. It means this: seaborn was not imported in this session. To fix it, Run import seaborn as sns in the first cell, then run the chart cell.
The next one. You will see: ValueError: Could not interpret value for x. It means this: the column name in x= or y= is not in the DataFrame. To fix it, print list(daily.columns) and copy the exact name.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What does a typical sale look like, and does it differ between the three shops?
Write this sentence in your notebook and finish it your own way. A histogram shows the shape of one column and a box plot lets me compare groups.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DA14  |  Exploring distributions with seaborn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Exploring distributions</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with seaborn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does a typical sale look like, and does it differ between the three shops?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14 of 24  |  Week 5, Explore with NumPy and seaborn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does a typical sale look like, and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does it differ between the three shops?</a:t>
            </a:r>
            <a:endParaRPr lang="en-US" sz="3600" dirty="0"/>
          </a:p>
        </p:txBody>
      </p:sp>
      <p:pic>
        <p:nvPicPr>
          <p:cNvPr id="3" name="Image 0" descr="A histogram of Sunrise sale values with a box plot for each of the three shops">    </p:cNvPr>
          <p:cNvPicPr>
            <a:picLocks noChangeAspect="1"/>
          </p:cNvPicPr>
          <p:nvPr/>
        </p:nvPicPr>
        <p:blipFill>
          <a:blip r:embed="rId1"/>
          <a:stretch>
            <a:fillRect/>
          </a:stretch>
        </p:blipFill>
        <p:spPr>
          <a:xfrm>
            <a:off x="640080" y="1752551"/>
            <a:ext cx="10881360" cy="422157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seaborn">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seaborn</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library that draws statistical charts. It sits on top of matplotlib and takes a DataFrame directly.</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set of ready-made stencils for charts.</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exploratory analysis">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exploratory analysis</a:t>
            </a:r>
            <a:endParaRPr lang="en-US" sz="2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Looking at the data from several sides to see what is there before you answer a question.</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Walking round a shop before you count the stock.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distributi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distribution</a:t>
            </a:r>
            <a:endParaRPr lang="en-US" sz="31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the values of one column are spread out.</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the pupils spread across height bands.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box plo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box plot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box from the lower to the upper quartile with a line at the median and dots for outliers.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five-number summary drawn as a picture.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kewed">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skewed</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Bunched at one end with a long tail at the other.</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Most pupils short and a few very tall.</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group comparis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group comparison</a:t>
            </a:r>
            <a:endParaRPr lang="en-US" sz="26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Drawing the same chart for each group side by side.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Comparing the three shops on one page.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bin count decides how much shape you see</a:t>
            </a:r>
            <a:endParaRPr lang="en-US" sz="3800" dirty="0"/>
          </a:p>
        </p:txBody>
      </p:sp>
      <p:pic>
        <p:nvPicPr>
          <p:cNvPr id="3" name="Image 0" descr="8 bins: wide bars give a rough shape.">    </p:cNvPr>
          <p:cNvPicPr>
            <a:picLocks noChangeAspect="1"/>
          </p:cNvPicPr>
          <p:nvPr/>
        </p:nvPicPr>
        <p:blipFill>
          <a:blip r:embed="rId1"/>
          <a:stretch>
            <a:fillRect/>
          </a:stretch>
        </p:blipFill>
        <p:spPr>
          <a:xfrm>
            <a:off x="894229" y="1554480"/>
            <a:ext cx="4840941"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8 bins: wide bars give a rough shape.</a:t>
            </a:r>
            <a:endParaRPr lang="en-US" sz="2200" dirty="0"/>
          </a:p>
        </p:txBody>
      </p:sp>
      <p:pic>
        <p:nvPicPr>
          <p:cNvPr id="5" name="Image 1" descr="60 bins: narrow bars give more detail.">    </p:cNvPr>
          <p:cNvPicPr>
            <a:picLocks noChangeAspect="1"/>
          </p:cNvPicPr>
          <p:nvPr/>
        </p:nvPicPr>
        <p:blipFill>
          <a:blip r:embed="rId2"/>
          <a:stretch>
            <a:fillRect/>
          </a:stretch>
        </p:blipFill>
        <p:spPr>
          <a:xfrm>
            <a:off x="6474759" y="1554480"/>
            <a:ext cx="4744122"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60 bins: narrow bars give more detail.</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skewed distribution has a long tail on one side</a:t>
            </a:r>
            <a:endParaRPr lang="en-US" sz="3700" dirty="0"/>
          </a:p>
        </p:txBody>
      </p:sp>
      <p:pic>
        <p:nvPicPr>
          <p:cNvPr id="3" name="Image 0" descr="Balanced: the mean and median are close together.">    </p:cNvPr>
          <p:cNvPicPr>
            <a:picLocks noChangeAspect="1"/>
          </p:cNvPicPr>
          <p:nvPr/>
        </p:nvPicPr>
        <p:blipFill>
          <a:blip r:embed="rId1"/>
          <a:stretch>
            <a:fillRect/>
          </a:stretch>
        </p:blipFill>
        <p:spPr>
          <a:xfrm>
            <a:off x="903214" y="1554480"/>
            <a:ext cx="4822972"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Balanced: the mean and median are close together.</a:t>
            </a:r>
            <a:endParaRPr lang="en-US" sz="2200" dirty="0"/>
          </a:p>
        </p:txBody>
      </p:sp>
      <p:pic>
        <p:nvPicPr>
          <p:cNvPr id="5" name="Image 1" descr="Skewed: a long tail pulls the mean away from the median.">    </p:cNvPr>
          <p:cNvPicPr>
            <a:picLocks noChangeAspect="1"/>
          </p:cNvPicPr>
          <p:nvPr/>
        </p:nvPicPr>
        <p:blipFill>
          <a:blip r:embed="rId2"/>
          <a:stretch>
            <a:fillRect/>
          </a:stretch>
        </p:blipFill>
        <p:spPr>
          <a:xfrm>
            <a:off x="6405217" y="1554480"/>
            <a:ext cx="4883206"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Skewed: a long tail pulls the mean away from the median.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histogram of sale values (1 of 2)</a:t>
            </a:r>
            <a:endParaRPr lang="en-US" sz="3800" dirty="0"/>
          </a:p>
        </p:txBody>
      </p:sp>
      <p:sp>
        <p:nvSpPr>
          <p:cNvPr id="3" name="Shape 1"/>
          <p:cNvSpPr/>
          <p:nvPr/>
        </p:nvSpPr>
        <p:spPr>
          <a:xfrm>
            <a:off x="640080" y="1645920"/>
            <a:ext cx="10881360" cy="1924812"/>
          </a:xfrm>
          <a:prstGeom prst="roundRect">
            <a:avLst>
              <a:gd name="adj" fmla="val 3800"/>
            </a:avLst>
          </a:prstGeom>
          <a:solidFill>
            <a:srgbClr val="111111"/>
          </a:solidFill>
          <a:ln/>
        </p:spPr>
      </p:sp>
      <p:sp>
        <p:nvSpPr>
          <p:cNvPr id="4" name="Text 2"/>
          <p:cNvSpPr txBox="1"/>
          <p:nvPr/>
        </p:nvSpPr>
        <p:spPr>
          <a:xfrm>
            <a:off x="841248" y="1847088"/>
            <a:ext cx="10479024" cy="1522476"/>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pandas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pd</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seaborn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sns</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matplotlib.pyplot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plt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"sunrise_sales.csv"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"unit_price_ugx"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3753612"/>
            <a:ext cx="8046720" cy="251002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whether the histogram is balanced or skewed to the right.</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rest of the code is on the next slide.</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histogram of sale values (2 of 2)</a:t>
            </a:r>
            <a:endParaRPr lang="en-US" sz="3800" dirty="0"/>
          </a:p>
        </p:txBody>
      </p:sp>
      <p:sp>
        <p:nvSpPr>
          <p:cNvPr id="3" name="Shape 1"/>
          <p:cNvSpPr/>
          <p:nvPr/>
        </p:nvSpPr>
        <p:spPr>
          <a:xfrm>
            <a:off x="640080" y="1645920"/>
            <a:ext cx="10881360" cy="2981452"/>
          </a:xfrm>
          <a:prstGeom prst="roundRect">
            <a:avLst>
              <a:gd name="adj" fmla="val 2454"/>
            </a:avLst>
          </a:prstGeom>
          <a:solidFill>
            <a:srgbClr val="111111"/>
          </a:solidFill>
          <a:ln/>
        </p:spPr>
      </p:sp>
      <p:sp>
        <p:nvSpPr>
          <p:cNvPr id="4" name="Text 2"/>
          <p:cNvSpPr txBox="1"/>
          <p:nvPr/>
        </p:nvSpPr>
        <p:spPr>
          <a:xfrm>
            <a:off x="841248" y="1847088"/>
            <a:ext cx="10479024" cy="25791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sunrise[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"branch"</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 sunrise[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"branch_id"</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].map(</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{1: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"Central Market"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2: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"Campus Gate"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3: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"Roadside"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sns.histplot(data=sunrise, x=</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"line_value"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bins=30)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plt.xlabel(</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"Value of one sale (UGX)"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print(round(sunrise[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"line_value"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].skew(), 1))</a:t>
            </a:r>
            <a:endParaRPr lang="en-US" sz="2200" dirty="0"/>
          </a:p>
        </p:txBody>
      </p:sp>
      <p:sp>
        <p:nvSpPr>
          <p:cNvPr id="5" name="Text 3"/>
          <p:cNvSpPr txBox="1"/>
          <p:nvPr/>
        </p:nvSpPr>
        <p:spPr>
          <a:xfrm>
            <a:off x="640080" y="4810252"/>
            <a:ext cx="8046720" cy="145338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This is the rest of the code. Keep your guess in mind.</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histogram of sale values</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histogram is bunched at the low end with a long tail to the right.</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skew is 7.3.</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A positive skew above 1 means a long right tail.</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Most sales are small and a few are large.</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histogram of sale values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long right tail mean for the mean and the median?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exploratory analysis do that a single total does not?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Draw the histogram again with bins=60 and say what changes.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box plot packs the median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quartiles into a box</a:t>
            </a:r>
            <a:endParaRPr lang="en-US" sz="3600" dirty="0"/>
          </a:p>
        </p:txBody>
      </p:sp>
      <p:pic>
        <p:nvPicPr>
          <p:cNvPr id="3" name="Image 0" descr="A box plot packs the median and quartiles into a box">    </p:cNvPr>
          <p:cNvPicPr>
            <a:picLocks noChangeAspect="1"/>
          </p:cNvPicPr>
          <p:nvPr/>
        </p:nvPicPr>
        <p:blipFill>
          <a:blip r:embed="rId1"/>
          <a:stretch>
            <a:fillRect/>
          </a:stretch>
        </p:blipFill>
        <p:spPr>
          <a:xfrm>
            <a:off x="1178560" y="1600200"/>
            <a:ext cx="596392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box holds the middle half of the values.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inside the box is the median.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Dots beyond the whiskers are outliers.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Box plots put the three shops side by side</a:t>
            </a:r>
            <a:endParaRPr lang="en-US" sz="3800" dirty="0"/>
          </a:p>
        </p:txBody>
      </p:sp>
      <p:pic>
        <p:nvPicPr>
          <p:cNvPr id="3" name="Image 0" descr="Box plots put the three shops side by side">    </p:cNvPr>
          <p:cNvPicPr>
            <a:picLocks noChangeAspect="1"/>
          </p:cNvPicPr>
          <p:nvPr/>
        </p:nvPicPr>
        <p:blipFill>
          <a:blip r:embed="rId1"/>
          <a:stretch>
            <a:fillRect/>
          </a:stretch>
        </p:blipFill>
        <p:spPr>
          <a:xfrm>
            <a:off x="843747" y="1554480"/>
            <a:ext cx="10474027"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One box for each shop makes the comparison in one glance.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box plot for each shop</a:t>
            </a:r>
            <a:endParaRPr lang="en-US" sz="3800" dirty="0"/>
          </a:p>
        </p:txBody>
      </p:sp>
      <p:sp>
        <p:nvSpPr>
          <p:cNvPr id="3" name="Shape 1"/>
          <p:cNvSpPr/>
          <p:nvPr/>
        </p:nvSpPr>
        <p:spPr>
          <a:xfrm>
            <a:off x="640080" y="1645920"/>
            <a:ext cx="10881360" cy="2255012"/>
          </a:xfrm>
          <a:prstGeom prst="roundRect">
            <a:avLst>
              <a:gd name="adj" fmla="val 3244"/>
            </a:avLst>
          </a:prstGeom>
          <a:solidFill>
            <a:srgbClr val="111111"/>
          </a:solidFill>
          <a:ln/>
        </p:spPr>
      </p:sp>
      <p:sp>
        <p:nvSpPr>
          <p:cNvPr id="4" name="Text 2"/>
          <p:cNvSpPr txBox="1"/>
          <p:nvPr/>
        </p:nvSpPr>
        <p:spPr>
          <a:xfrm>
            <a:off x="841248" y="1847088"/>
            <a:ext cx="10479024" cy="185267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sns.boxplot(data=sunrise, x=</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"branch"</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y=</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"line_value"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plt.ylabel(</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"Value of one sale (UGX)"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medians = sunrise.groupby(</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"branch"</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"line_value"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].median()</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print(medians)</a:t>
            </a:r>
            <a:endParaRPr lang="en-US" sz="2200" dirty="0"/>
          </a:p>
        </p:txBody>
      </p:sp>
      <p:sp>
        <p:nvSpPr>
          <p:cNvPr id="5" name="Text 3"/>
          <p:cNvSpPr txBox="1"/>
          <p:nvPr/>
        </p:nvSpPr>
        <p:spPr>
          <a:xfrm>
            <a:off x="640080" y="4083812"/>
            <a:ext cx="8046720" cy="217982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which shop has the lowest median sale.</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box plot for each shop</a:t>
            </a:r>
            <a:endParaRPr lang="en-US" sz="3800" dirty="0"/>
          </a:p>
        </p:txBody>
      </p:sp>
      <p:sp>
        <p:nvSpPr>
          <p:cNvPr id="3" name="Text 1"/>
          <p:cNvSpPr txBox="1"/>
          <p:nvPr/>
        </p:nvSpPr>
        <p:spPr>
          <a:xfrm>
            <a:off x="640080" y="1737360"/>
            <a:ext cx="7498080" cy="4389120"/>
          </a:xfrm>
          <a:prstGeom prst="rect">
            <a:avLst/>
          </a:prstGeom>
          <a:noFill/>
          <a:ln/>
        </p:spPr>
        <p:txBody>
          <a:bodyPr wrap="square" lIns="0" tIns="0" rIns="0" bIns="0" rtlCol="0" anchor="t"/>
          <a:lstStyle/>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medians are 2500 at Central Market, 2000 at Campus Gate and 2500 at Roadside.</a:t>
            </a:r>
            <a:endParaRPr lang="en-US" sz="3000" dirty="0"/>
          </a:p>
          <a:p>
            <a:pPr algn="l" indent="0" marL="0">
              <a:lnSpc>
                <a:spcPts val="3600"/>
              </a:lnSpc>
              <a:spcAft>
                <a:spcPts val="1800"/>
              </a:spcAft>
              <a:buNone/>
            </a:pPr>
            <a:r>
              <a:rPr lang="en-US" sz="3000" dirty="0">
                <a:solidFill>
                  <a:srgbClr val="111111"/>
                </a:solidFill>
                <a:latin typeface="Lato" pitchFamily="34" charset="0"/>
                <a:ea typeface="Lato" pitchFamily="34" charset="-122"/>
                <a:cs typeface="Lato" pitchFamily="34" charset="-120"/>
              </a:rPr>
              <a:t>The boxes look alike and every shop has dots well above its whiskers: bulk sales happen in all three.</a:t>
            </a:r>
            <a:endParaRPr lang="en-US" sz="3000" dirty="0"/>
          </a:p>
        </p:txBody>
      </p:sp>
      <p:pic>
        <p:nvPicPr>
          <p:cNvPr id="4" name="Image 0" descr="Compare with your guess">    </p:cNvPr>
          <p:cNvPicPr>
            <a:picLocks noChangeAspect="1"/>
          </p:cNvPicPr>
          <p:nvPr/>
        </p:nvPicPr>
        <p:blipFill>
          <a:blip r:embed="rId1"/>
          <a:stretch>
            <a:fillRect/>
          </a:stretch>
        </p:blipFill>
        <p:spPr>
          <a:xfrm>
            <a:off x="8778240" y="2194560"/>
            <a:ext cx="2377440" cy="23774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box plot for each shop</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Do the shops differ much in typical sale value?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 the dots above each box show?</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Use the box plot to compare the units column across shops. Print the median units for each shop.</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Each shop median is a fair way to compare shops</a:t>
            </a:r>
            <a:endParaRPr lang="en-US" sz="3700" dirty="0"/>
          </a:p>
        </p:txBody>
      </p:sp>
      <p:pic>
        <p:nvPicPr>
          <p:cNvPr id="3" name="Image 0" descr="Each shop median is a fair way to compare shops">    </p:cNvPr>
          <p:cNvPicPr>
            <a:picLocks noChangeAspect="1"/>
          </p:cNvPicPr>
          <p:nvPr/>
        </p:nvPicPr>
        <p:blipFill>
          <a:blip r:embed="rId1"/>
          <a:stretch>
            <a:fillRect/>
          </a:stretch>
        </p:blipFill>
        <p:spPr>
          <a:xfrm>
            <a:off x="640080" y="1741057"/>
            <a:ext cx="7040880" cy="4244567"/>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Compute the median for each shop.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it against the line in its box.</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the finding in one sentence.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Explore the daily customer counts.</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Draw a histogram of customers_counted and a box plot of customers_counted for each branch.</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Write the median for each branch and one finding in a sentence.</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DA14.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'sns'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seaborn was not imported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import seaborn as sns in the first cell, then run the chart cell.</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Could not interpret value for x</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name in x= or y= is not in the DataFrame.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list(daily.columns) and copy the exact name.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histogram shows the shape of one column and a box plot lets me compare groups.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DA14 Exploring distributions with seaborn</dc:title>
  <dc:subject>Python for Data Analysis</dc:subject>
  <dc:creator>KLAi</dc:creator>
  <cp:lastModifiedBy>KLAi</cp:lastModifiedBy>
  <cp:revision>1</cp:revision>
  <dcterms:created xsi:type="dcterms:W3CDTF">2026-10-31T12:44:22Z</dcterms:created>
  <dcterms:modified xsi:type="dcterms:W3CDTF">2026-10-31T12:44:22Z</dcterms:modified>
</cp:coreProperties>
</file>