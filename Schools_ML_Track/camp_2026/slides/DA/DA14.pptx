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12b027aa-107e-ea5f-6cd2-82a610fbe8c6}">
          <p14:sldIdLst>
            <p14:sldId id="256"/>
            <p14:sldId id="257"/>
            <p14:sldId id="258"/>
            <p14:sldId id="259"/>
            <p14:sldId id="260"/>
            <p14:sldId id="261"/>
            <p14:sldId id="262"/>
          </p14:sldIdLst>
        </p14:section>
        <p14:section name="Block A" id="{d885bac9-3ce1-c465-f490-31e8bf06d9f5}">
          <p14:sldIdLst>
            <p14:sldId id="263"/>
            <p14:sldId id="264"/>
            <p14:sldId id="265"/>
            <p14:sldId id="266"/>
            <p14:sldId id="267"/>
            <p14:sldId id="269"/>
            <p14:sldId id="270"/>
          </p14:sldIdLst>
        </p14:section>
        <p14:section name="Break" id="{4ad3b1cc-5315-7e01-5840-7ef47d1e81a0}">
          <p14:sldIdLst>
            <p14:sldId id="268"/>
          </p14:sldIdLst>
        </p14:section>
        <p14:section name="Block A" id="{53d83a25-3d70-f5d5-fca9-0a0ffc4de149}">
          <p14:sldIdLst/>
        </p14:section>
        <p14:section name="Block B" id="{1cf0d2b3-42d5-adcc-4ce7-988d339b1b42}">
          <p14:sldIdLst>
            <p14:sldId id="271"/>
            <p14:sldId id="272"/>
            <p14:sldId id="273"/>
            <p14:sldId id="274"/>
            <p14:sldId id="275"/>
          </p14:sldIdLst>
        </p14:section>
        <p14:section name="Make and close" id="{0713eba5-4bc0-6f97-7a80-ee00e78c0307}">
          <p14:sldIdLst>
            <p14:sldId id="276"/>
            <p14:sldId id="277"/>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we go. Today is session 14 and our topic is exploring distributions with seaborn.
By the end of today you will be able to draw a histogram and a box plot with seaborn and describe the shape, the middle and the outliers of a column.
We will answer one question: What does a typical sale look like, and does it differ between the three shops?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does a typical sale look like, and does it differ between the three shops? A single average cannot answer that, because sales come in many sizes. We need to see the whole shape of the values, and then see it again for each shop. Today we draw histograms and box plots with a library called seaborn, which makes these pictures in one line, and we look for the differences.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how the 3 hours go. Each bar is as long as the time we spend on that part.
First, 10 minutes. Recall. Then, 50 minutes. Block A. After that, 15 minutes. Break away from screens. Next, 50 minutes. Block B. Then, 40 minutes. Make. Then, 15 minutes. Exit ticket, save, and an individual check with each learner.
Notice how much of the time is yours. You listen for a short while and then you do. That is on purpose, because you learn this by doing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need a few words today. For each one I will say what it means and give you something to picture.
seaborn. A library that draws statistical charts. It sits on top of matplotlib and takes a DataFrame directly. Here is a way to see it. A set of ready-made stencils for charts.
exploratory analysis. Looking at the data from several sides to see what is there before you answer a question. A small example. Walking round a shop before you count the stock.
distribution. How the values of one column are spread out. Picture this. How the pupils spread across height bands.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More words for today.
box plot. A box from the lower to the upper quartile with a line at the median and dots for outliers. You have seen this before. A five-number summary drawn as a picture.
skewed. Bunched at one end with a long tail at the other. Most pupils short and a few very tall.
group comparison. Drawing the same chart for each group side by side. Think of a shop. Comparing the three shops on one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histogram sorts the values into ranges called bins. On the left we used eight wide bins, so we only see a rough shape. On the right we used sixty narrow bins, and we see much more detail, including some jumps that the wide bars hid.
There is no single right number of bins. Try a few, and pick the one that shows the shape clearly without turning it into noise.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distributions. On the left the values spread about equally on both sides of the middle, and the mean and the median are close. We call it balanced. On the right most values are small and a few are very large. That long tail pulls the mean away from the median.
The line value of a sale is skewed, with a skewness of about seven. When you see this shape, choose the median.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this first part of the code with me before we run anything. ['sns.histplot draws a histogram from a DataFrame.', 'Name the DataFrame in data= and the column in x=.', 'A map turns branch ids into names.']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sns.histplot draws a histogram from a DataFrame. Name the DataFrame in data= and the column in x=.
Now your guess. Predict whether the histogram is balanced or skewed to the right. Put your guess on paper now, even if you are unsure.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Watch the output as it appears. Match each line of the output with the line of code that made it.
The histogram is bunched at the low end with a long tail to the right. The skew is 7.3. A positive skew above 1 means a long right tail. Most sales are small and a few are large.
Tell the person next to you whether your guess matched.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look closely at A histogram of sale values. I have two questions for you.
Question one. What does the long right tail mean for the mean and the median? Think about it for a moment, then tell the person next to you.
Here is how I would answer it. The tail pulls the mean above the median. The median is the better description of a typical sale.
Question two. What does exploratory analysis do that a single total does not? Have a go in your head first.
What I would say is this. It shows the shape of the data, so we see the bulk purchases that one total hides.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hands on the keyboard now. Draw the histogram again with bins=60 and say what changes. Run it, then tell someone what you saw.
What you should find: The bars get narrower and the long tail shows more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Break time. 15 minutes away from your screens. Stand up, drink some water and tell someone what you guessed in the first half.
When we come back we start the second idea.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box plot is a histogram folded into a small shape. The box runs from the first quartile to the third, so it holds the middle half of the values. The line inside the box is the median. The whiskers reach out toward the smallest and largest values that are not outliers, and any dots beyond the whiskers are the unusual ones.
Find the median, the box and one outlier on the picture.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draw one box for each shop on the same axis. The reader can compare the three medians, the three spreads and the outliers in a single glance, without reading a table. The median sale is two thousand five hundred at Central Market, two thousand at Campus Gate and two thousand five hundred at Roadside.
Look at where the lines in the boxes sit, and at how tall the boxes are. A taller box means more variety in that shop. A few very large sales are drawn as dots above the boxes, and the largest is one hundred and eight thousand.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sns.boxplot draws one box for each group. The line inside the box is the median.
This is the part where you decide. Predict which shop has the highest median sale. Write one line on paper. I will give you a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see what happens. Match each line of the output with the line of code that made it.
The medians are 2500 at Central Market, 2000 at Campus Gate and 2500 at Roadside. The boxes look alike and every shop has dots well above its whiskers: bulk sales happen in all three. The shops differ more in how many sales they make than in how big a typical sale is.
Which line of the output matches which line of the code? Point to each pair.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look closely at A box plot for each shop. I have two questions for you.
Question one. Do the shops differ much in typical sale value? Have a go in your head first.
What I would say is this. Not much. Two medians are 2500 and one is 2000.
Question two. What do the dots above each box show? Write your answer in one line before we compare.
Let me answer it. Unusually large sales. They exist at all three shops.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Change one thing and watch what happens. Use the box plot to compare the units column across shops. Print the median units for each shop. After you run it, say in one sentence what changed and how you checked.
You should see this. A similar median at each shop.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step is to turn the picture into a sentence. We group by shop and ask for the median of the customers counted. The three medians should match the lines inside the three boxes.
Then you write one sentence that names the shops and quotes the numbers. A finding without a number is only an opinion. Roadside has the lowest median, eighty seven customers a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your own task for today. Take it one step at a time. If you get stuck for a few minutes, read your error message, check the error card, and then ask me.
Save it as DA14. I will come round to each of you and ask what you changed and how you checked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Everyone meets errors, including me. Two are likely today, so let us meet them now.
This is the first one. You will see: NameError: name 'sns' is not defined. It means this: seaborn was not imported in this session. To fix it, Run import seaborn as sns in the first cell, then run the chart cell.
The next one. You will see: ValueError: Could not interpret value for x. It means this: the column name in x= or y= is not in the DataFrame. To fix it, print list(daily.columns) and copy the exact name.
Keep this slide in mind when something stops working.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nearly done. Remember the question from the start of the session: What does a typical sale look like, and does it differ between the three shops?
Write this sentence in your notebook and finish it your own way. A histogram shows the shape of one column and a box plot lets me compare groups.
Then save your notebook, close it and open it again to check it saved.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LAI_LIGHT">
    <p:bg>
      <p:bgPr>
        <a:solidFill>
          <a:srgbClr val="FFFFFF"/>
        </a:solidFill>
      </p:bgPr>
    </p:bg>
    <p:spTree>
      <p:nvGrpSpPr>
        <p:cNvPr id="1" name=""/>
        <p:cNvGrpSpPr/>
        <p:nvPr/>
      </p:nvGrpSpPr>
      <p:grpSpPr>
        <a:xfrm>
          <a:off x="0" y="0"/>
          <a:ext cx="0" cy="0"/>
          <a:chOff x="0" y="0"/>
          <a:chExt cx="0" cy="0"/>
        </a:xfrm>
      </p:grpSpPr>
      <p:pic>
        <p:nvPicPr>
          <p:cNvPr id="2" name="Image 0" descr="/sessions/focused-youthful-einstein/mnt/IUEA-Teaching-Resources/Schools_ML_Track/camp_2026/brand/logos/klai_logo_on_white_cropped.png">    </p:cNvPr>
          <p:cNvPicPr>
            <a:picLocks noChangeAspect="1"/>
          </p:cNvPicPr>
          <p:nvPr/>
        </p:nvPicPr>
        <p:blipFill>
          <a:blip r:embed="rId1"/>
          <a:stretch>
            <a:fillRect/>
          </a:stretch>
        </p:blipFill>
        <p:spPr>
          <a:xfrm>
            <a:off x="640080" y="6419088"/>
            <a:ext cx="772668" cy="246888"/>
          </a:xfrm>
          <a:prstGeom prst="rect">
            <a:avLst/>
          </a:prstGeom>
        </p:spPr>
      </p:pic>
      <p:sp>
        <p:nvSpPr>
          <p:cNvPr id="3" name="Text 0"/>
          <p:cNvSpPr/>
          <p:nvPr/>
        </p:nvSpPr>
        <p:spPr>
          <a:xfrm>
            <a:off x="1641348" y="6400800"/>
            <a:ext cx="8229600" cy="274320"/>
          </a:xfrm>
          <a:prstGeom prst="rect">
            <a:avLst/>
          </a:prstGeom>
          <a:noFill/>
          <a:ln/>
        </p:spPr>
        <p:txBody>
          <a:bodyPr wrap="square" lIns="0" tIns="0" rIns="0" bIns="0" rtlCol="0" anchor="ctr"/>
          <a:lstStyle/>
          <a:p>
            <a:pPr indent="0" marL="0">
              <a:buNone/>
            </a:pPr>
            <a:r>
              <a:rPr lang="en-US" sz="1200" dirty="0">
                <a:solidFill>
                  <a:srgbClr val="666666"/>
                </a:solidFill>
                <a:latin typeface="Lato" pitchFamily="34" charset="0"/>
                <a:ea typeface="Lato" pitchFamily="34" charset="-122"/>
                <a:cs typeface="Lato" pitchFamily="34" charset="-120"/>
              </a:rPr>
              <a:t>DA14  |  Exploring distributions with seaborn</a:t>
            </a:r>
            <a:endParaRPr lang="en-US" sz="1200" dirty="0"/>
          </a:p>
        </p:txBody>
      </p:sp>
      <p:sp>
        <p:nvSpPr>
          <p:cNvPr id="4" name="Text 1"/>
          <p:cNvSpPr/>
          <p:nvPr>
            <p:ph idx="102" type="title" hasCustomPrompt="1"/>
          </p:nvPr>
        </p:nvSpPr>
        <p:spPr>
          <a:xfrm>
            <a:off x="640080" y="384048"/>
            <a:ext cx="10881360" cy="1051560"/>
          </a:xfrm>
          <a:prstGeom prst="rect">
            <a:avLst/>
          </a:prstGeom>
          <a:noFill/>
          <a:ln/>
        </p:spPr>
        <p:txBody>
          <a:bodyPr wrap="square" rtlCol="0"/>
          <a:lstStyle>
            <a:lvl1pPr algn="l" indent="0" marL="0">
              <a:buNone/>
              <a:defRPr lang="en-US" b="1" dirty="0">
                <a:solidFill>
                  <a:srgbClr val="111111"/>
                </a:solidFill>
                <a:latin typeface="Lato" pitchFamily="34" charset="0"/>
                <a:ea typeface="Lato" pitchFamily="34" charset="-122"/>
                <a:cs typeface="Lato" pitchFamily="34" charset="-120"/>
              </a:defRPr>
            </a:lvl1pPr>
          </a:lstStyle>
          <a:p>
            <a:pPr algn="l" indent="0" marL="0">
              <a:buNone/>
            </a:pPr>
            <a:endParaRPr lang="en-US"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LAI_DARK">
    <p:bg>
      <p:bgPr>
        <a:solidFill>
          <a:srgbClr val="000000"/>
        </a:solidFill>
      </p:bgPr>
    </p:bg>
    <p:spTree>
      <p:nvGrpSpPr>
        <p:cNvPr id="1" name=""/>
        <p:cNvGrpSpPr/>
        <p:nvPr/>
      </p:nvGrpSpPr>
      <p:grpSpPr>
        <a:xfrm>
          <a:off x="0" y="0"/>
          <a:ext cx="0" cy="0"/>
          <a:chOff x="0" y="0"/>
          <a:chExt cx="0" cy="0"/>
        </a:xfrm>
      </p:grpSpPr>
      <p:pic>
        <p:nvPicPr>
          <p:cNvPr id="2" name="Image 0" descr="/sessions/focused-youthful-einstein/mnt/IUEA-Teaching-Resources/Schools_ML_Track/camp_2026/brand/logos/klai_logo_on_black_cropped.png">    </p:cNvPr>
          <p:cNvPicPr>
            <a:picLocks noChangeAspect="1"/>
          </p:cNvPicPr>
          <p:nvPr/>
        </p:nvPicPr>
        <p:blipFill>
          <a:blip r:embed="rId1"/>
          <a:stretch>
            <a:fillRect/>
          </a:stretch>
        </p:blipFill>
        <p:spPr>
          <a:xfrm>
            <a:off x="640080" y="548640"/>
            <a:ext cx="1774850" cy="566928"/>
          </a:xfrm>
          <a:prstGeom prst="rect">
            <a:avLst/>
          </a:prstGeom>
        </p:spPr>
      </p:pic>
      <p:sp>
        <p:nvSpPr>
          <p:cNvPr id="3" name="Text 0"/>
          <p:cNvSpPr/>
          <p:nvPr>
            <p:ph idx="101" type="title" hasCustomPrompt="1"/>
          </p:nvPr>
        </p:nvSpPr>
        <p:spPr>
          <a:xfrm>
            <a:off x="640080" y="2103120"/>
            <a:ext cx="10607040" cy="2286000"/>
          </a:xfrm>
          <a:prstGeom prst="rect">
            <a:avLst/>
          </a:prstGeom>
          <a:noFill/>
          <a:ln/>
        </p:spPr>
        <p:txBody>
          <a:bodyPr wrap="square" rtlCol="0"/>
          <a:lstStyle>
            <a:lvl1pPr algn="l" indent="0" marL="0">
              <a:buNone/>
              <a:defRPr lang="en-US" b="1" dirty="0">
                <a:solidFill>
                  <a:srgbClr val="FFFFFF"/>
                </a:solidFill>
                <a:latin typeface="Lato" pitchFamily="34" charset="0"/>
                <a:ea typeface="Lato" pitchFamily="34" charset="-122"/>
                <a:cs typeface="Lato" pitchFamily="34" charset="-120"/>
              </a:defRPr>
            </a:lvl1pPr>
          </a:lstStyle>
          <a:p>
            <a:pPr algn="l" indent="0" marL="0">
              <a:buNone/>
            </a:pP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1.png"/><Relationship Id="rId3" Type="http://schemas.openxmlformats.org/officeDocument/2006/relationships/slideLayout" Target="../slideLayouts/slideLayout2.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1" type="title" hasCustomPrompt="1"/>
          </p:nvPr>
        </p:nvSpPr>
        <p:spPr>
          <a:xfrm>
            <a:off x="640080" y="2103120"/>
            <a:ext cx="10607040" cy="2286000"/>
          </a:xfrm>
          <a:prstGeom prst="rect">
            <a:avLst/>
          </a:prstGeom>
          <a:noFill/>
          <a:ln/>
        </p:spPr>
        <p:txBody>
          <a:bodyPr wrap="square" lIns="0" tIns="0" rIns="0" bIns="0" rtlCol="0" anchor="t"/>
          <a:lstStyle/>
          <a:p>
            <a:pPr algn="l" indent="0" marL="0">
              <a:buNone/>
            </a:pPr>
            <a:r>
              <a:rPr lang="en-US" sz="5600" b="1" dirty="0">
                <a:solidFill>
                  <a:srgbClr val="FFFFFF"/>
                </a:solidFill>
                <a:latin typeface="Lato" pitchFamily="34" charset="0"/>
                <a:ea typeface="Lato" pitchFamily="34" charset="-122"/>
                <a:cs typeface="Lato" pitchFamily="34" charset="-120"/>
              </a:rPr>
              <a:t>Exploring distributions with seaborn</a:t>
            </a:r>
            <a:endParaRPr lang="en-US" sz="5600" dirty="0"/>
          </a:p>
        </p:txBody>
      </p:sp>
      <p:sp>
        <p:nvSpPr>
          <p:cNvPr id="3" name="Text 1"/>
          <p:cNvSpPr txBox="1"/>
          <p:nvPr/>
        </p:nvSpPr>
        <p:spPr>
          <a:xfrm>
            <a:off x="640080" y="4170680"/>
            <a:ext cx="10241280" cy="1188720"/>
          </a:xfrm>
          <a:prstGeom prst="rect">
            <a:avLst/>
          </a:prstGeom>
          <a:noFill/>
          <a:ln/>
        </p:spPr>
        <p:txBody>
          <a:bodyPr wrap="square" lIns="0" tIns="0" rIns="0" bIns="0" rtlCol="0" anchor="t"/>
          <a:lstStyle/>
          <a:p>
            <a:pPr algn="l" indent="0" marL="0">
              <a:lnSpc>
                <a:spcPts val="3600"/>
              </a:lnSpc>
              <a:buNone/>
            </a:pPr>
            <a:r>
              <a:rPr lang="en-US" sz="3000" i="1" dirty="0">
                <a:solidFill>
                  <a:srgbClr val="E0BE36"/>
                </a:solidFill>
                <a:latin typeface="Lato" pitchFamily="34" charset="0"/>
                <a:ea typeface="Lato" pitchFamily="34" charset="-122"/>
                <a:cs typeface="Lato" pitchFamily="34" charset="-120"/>
              </a:rPr>
              <a:t>What does a typical sale look like, and does it differ between the three shops?</a:t>
            </a:r>
            <a:endParaRPr lang="en-US" sz="3000" dirty="0"/>
          </a:p>
        </p:txBody>
      </p:sp>
      <p:sp>
        <p:nvSpPr>
          <p:cNvPr id="4" name="Text 2"/>
          <p:cNvSpPr txBox="1"/>
          <p:nvPr/>
        </p:nvSpPr>
        <p:spPr>
          <a:xfrm>
            <a:off x="640080" y="5989320"/>
            <a:ext cx="10789920" cy="457200"/>
          </a:xfrm>
          <a:prstGeom prst="rect">
            <a:avLst/>
          </a:prstGeom>
          <a:noFill/>
          <a:ln/>
        </p:spPr>
        <p:txBody>
          <a:bodyPr wrap="square" lIns="0" tIns="0" rIns="0" bIns="0" rtlCol="0" anchor="t"/>
          <a:lstStyle/>
          <a:p>
            <a:pPr algn="l" indent="0" marL="0">
              <a:lnSpc>
                <a:spcPts val="2320"/>
              </a:lnSpc>
              <a:buNone/>
            </a:pPr>
            <a:r>
              <a:rPr lang="en-US" sz="1600" dirty="0">
                <a:solidFill>
                  <a:srgbClr val="B5B5B5"/>
                </a:solidFill>
                <a:latin typeface="Lato" pitchFamily="34" charset="0"/>
                <a:ea typeface="Lato" pitchFamily="34" charset="-122"/>
                <a:cs typeface="Lato" pitchFamily="34" charset="-120"/>
              </a:rPr>
              <a:t>Python for Data Analysis  |  Session 14 of 24  |  Week 5, Explore with NumPy and seaborn</a:t>
            </a:r>
            <a:endParaRPr lang="en-US" sz="1600" dirty="0"/>
          </a:p>
          <a:p>
            <a:pPr algn="l" indent="0" marL="0">
              <a:lnSpc>
                <a:spcPts val="2320"/>
              </a:lnSpc>
              <a:buNone/>
            </a:pPr>
            <a:r>
              <a:rPr lang="en-US" sz="1600" dirty="0">
                <a:solidFill>
                  <a:srgbClr val="B5B5B5"/>
                </a:solidFill>
                <a:latin typeface="Lato" pitchFamily="34" charset="0"/>
                <a:ea typeface="Lato" pitchFamily="34" charset="-122"/>
                <a:cs typeface="Lato" pitchFamily="34" charset="-120"/>
              </a:rPr>
              <a:t>Holiday Data and AI Camp  |  The National ICT Innovation Hub, Nakawa</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600" b="1" dirty="0">
                <a:solidFill>
                  <a:srgbClr val="111111"/>
                </a:solidFill>
                <a:latin typeface="Lato" pitchFamily="34" charset="0"/>
                <a:ea typeface="Lato" pitchFamily="34" charset="-122"/>
                <a:cs typeface="Lato" pitchFamily="34" charset="-120"/>
              </a:rPr>
              <a:t>What does a typical sale look like, and</a:t>
            </a:r>
            <a:endParaRPr lang="en-US" sz="3600" dirty="0"/>
          </a:p>
          <a:p>
            <a:pPr algn="l" indent="0" marL="0">
              <a:buNone/>
            </a:pPr>
            <a:r>
              <a:rPr lang="en-US" sz="3600" b="1" dirty="0">
                <a:solidFill>
                  <a:srgbClr val="111111"/>
                </a:solidFill>
                <a:latin typeface="Lato" pitchFamily="34" charset="0"/>
                <a:ea typeface="Lato" pitchFamily="34" charset="-122"/>
                <a:cs typeface="Lato" pitchFamily="34" charset="-120"/>
              </a:rPr>
              <a:t>does it differ between the three shops?</a:t>
            </a:r>
            <a:endParaRPr lang="en-US" sz="3600" dirty="0"/>
          </a:p>
        </p:txBody>
      </p:sp>
      <p:pic>
        <p:nvPicPr>
          <p:cNvPr id="3" name="Image 0" descr="A histogram of Sunrise sale values with a box plot for each of the three shops">    </p:cNvPr>
          <p:cNvPicPr>
            <a:picLocks noChangeAspect="1"/>
          </p:cNvPicPr>
          <p:nvPr/>
        </p:nvPicPr>
        <p:blipFill>
          <a:blip r:embed="rId1"/>
          <a:stretch>
            <a:fillRect/>
          </a:stretch>
        </p:blipFill>
        <p:spPr>
          <a:xfrm>
            <a:off x="640080" y="1752551"/>
            <a:ext cx="10881360" cy="4221578"/>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Three hours, mostly doing</a:t>
            </a:r>
            <a:endParaRPr lang="en-US" sz="3800" dirty="0"/>
          </a:p>
        </p:txBody>
      </p:sp>
      <p:pic>
        <p:nvPicPr>
          <p:cNvPr id="3" name="Image 0" descr="The plan for the session: start time, minutes and what we do">    </p:cNvPr>
          <p:cNvPicPr>
            <a:picLocks noChangeAspect="1"/>
          </p:cNvPicPr>
          <p:nvPr/>
        </p:nvPicPr>
        <p:blipFill>
          <a:blip r:embed="rId1"/>
          <a:stretch>
            <a:fillRect/>
          </a:stretch>
        </p:blipFill>
        <p:spPr>
          <a:xfrm>
            <a:off x="640080" y="1600200"/>
            <a:ext cx="10881360" cy="4133088"/>
          </a:xfrm>
          <a:prstGeom prst="rect">
            <a:avLst/>
          </a:prstGeom>
        </p:spPr>
      </p:pic>
      <p:sp>
        <p:nvSpPr>
          <p:cNvPr id="4" name="Text 1"/>
          <p:cNvSpPr txBox="1"/>
          <p:nvPr/>
        </p:nvSpPr>
        <p:spPr>
          <a:xfrm>
            <a:off x="640080" y="5852160"/>
            <a:ext cx="10881360" cy="457200"/>
          </a:xfrm>
          <a:prstGeom prst="rect">
            <a:avLst/>
          </a:prstGeom>
          <a:noFill/>
          <a:ln/>
        </p:spPr>
        <p:txBody>
          <a:bodyPr wrap="square" lIns="0" tIns="0" rIns="0" bIns="0" rtlCol="0" anchor="t"/>
          <a:lstStyle/>
          <a:p>
            <a:pPr algn="l" indent="0" marL="0">
              <a:lnSpc>
                <a:spcPts val="2640"/>
              </a:lnSpc>
              <a:buNone/>
            </a:pPr>
            <a:r>
              <a:rPr lang="en-US" sz="2200" dirty="0">
                <a:solidFill>
                  <a:srgbClr val="333333"/>
                </a:solidFill>
                <a:latin typeface="Lato" pitchFamily="34" charset="0"/>
                <a:ea typeface="Lato" pitchFamily="34" charset="-122"/>
                <a:cs typeface="Lato" pitchFamily="34" charset="-120"/>
              </a:rPr>
              <a:t>Most of our time is spent doing, in small steps, with a guess before every run.</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Words for today (1 of 2)</a:t>
            </a:r>
            <a:endParaRPr lang="en-US" sz="3800" dirty="0"/>
          </a:p>
        </p:txBody>
      </p:sp>
      <p:sp>
        <p:nvSpPr>
          <p:cNvPr id="3" name="Text 1"/>
          <p:cNvSpPr txBox="1"/>
          <p:nvPr/>
        </p:nvSpPr>
        <p:spPr>
          <a:xfrm>
            <a:off x="2011680" y="1737360"/>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seaborn</a:t>
            </a:r>
            <a:endParaRPr lang="en-US" sz="3400" dirty="0"/>
          </a:p>
        </p:txBody>
      </p:sp>
      <p:sp>
        <p:nvSpPr>
          <p:cNvPr id="4" name="Text 2"/>
          <p:cNvSpPr txBox="1"/>
          <p:nvPr/>
        </p:nvSpPr>
        <p:spPr>
          <a:xfrm>
            <a:off x="5120640" y="1783080"/>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A library that draws statistical charts. It sits on top of matplotlib and takes a DataFrame directly.</a:t>
            </a:r>
            <a:endParaRPr lang="en-US" sz="2200" dirty="0"/>
          </a:p>
        </p:txBody>
      </p:sp>
      <p:sp>
        <p:nvSpPr>
          <p:cNvPr id="5" name="Text 3"/>
          <p:cNvSpPr txBox="1"/>
          <p:nvPr/>
        </p:nvSpPr>
        <p:spPr>
          <a:xfrm>
            <a:off x="5120640" y="2545080"/>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A set of ready-made stencils for charts.</a:t>
            </a:r>
            <a:endParaRPr lang="en-US" sz="1900" dirty="0"/>
          </a:p>
        </p:txBody>
      </p:sp>
      <p:sp>
        <p:nvSpPr>
          <p:cNvPr id="6" name="Shape 4"/>
          <p:cNvSpPr/>
          <p:nvPr/>
        </p:nvSpPr>
        <p:spPr>
          <a:xfrm>
            <a:off x="640080" y="3136392"/>
            <a:ext cx="10881360" cy="0"/>
          </a:xfrm>
          <a:prstGeom prst="line">
            <a:avLst/>
          </a:prstGeom>
          <a:noFill/>
          <a:ln w="12700">
            <a:solidFill>
              <a:srgbClr val="CFCFCF"/>
            </a:solidFill>
            <a:prstDash val="solid"/>
          </a:ln>
        </p:spPr>
      </p:sp>
      <p:pic>
        <p:nvPicPr>
          <p:cNvPr id="7" name="Image 0" descr="exploratory analysis">    </p:cNvPr>
          <p:cNvPicPr>
            <a:picLocks noChangeAspect="1"/>
          </p:cNvPicPr>
          <p:nvPr/>
        </p:nvPicPr>
        <p:blipFill>
          <a:blip r:embed="rId1"/>
          <a:stretch>
            <a:fillRect/>
          </a:stretch>
        </p:blipFill>
        <p:spPr>
          <a:xfrm>
            <a:off x="640080" y="3264408"/>
            <a:ext cx="1188720" cy="1188720"/>
          </a:xfrm>
          <a:prstGeom prst="rect">
            <a:avLst/>
          </a:prstGeom>
        </p:spPr>
      </p:pic>
      <p:sp>
        <p:nvSpPr>
          <p:cNvPr id="8" name="Text 5"/>
          <p:cNvSpPr txBox="1"/>
          <p:nvPr/>
        </p:nvSpPr>
        <p:spPr>
          <a:xfrm>
            <a:off x="2011680" y="3218688"/>
            <a:ext cx="2926080" cy="1298448"/>
          </a:xfrm>
          <a:prstGeom prst="rect">
            <a:avLst/>
          </a:prstGeom>
          <a:noFill/>
          <a:ln/>
        </p:spPr>
        <p:txBody>
          <a:bodyPr wrap="square" lIns="0" tIns="0" rIns="0" bIns="0" rtlCol="0" anchor="ctr"/>
          <a:lstStyle/>
          <a:p>
            <a:pPr algn="l" indent="0" marL="0">
              <a:lnSpc>
                <a:spcPts val="2880"/>
              </a:lnSpc>
              <a:buNone/>
            </a:pPr>
            <a:r>
              <a:rPr lang="en-US" sz="2400" b="1" dirty="0">
                <a:solidFill>
                  <a:srgbClr val="111111"/>
                </a:solidFill>
                <a:latin typeface="Lato" pitchFamily="34" charset="0"/>
                <a:ea typeface="Lato" pitchFamily="34" charset="-122"/>
                <a:cs typeface="Lato" pitchFamily="34" charset="-120"/>
              </a:rPr>
              <a:t>exploratory analysis</a:t>
            </a:r>
            <a:endParaRPr lang="en-US" sz="2400" dirty="0"/>
          </a:p>
        </p:txBody>
      </p:sp>
      <p:sp>
        <p:nvSpPr>
          <p:cNvPr id="9" name="Text 6"/>
          <p:cNvSpPr txBox="1"/>
          <p:nvPr/>
        </p:nvSpPr>
        <p:spPr>
          <a:xfrm>
            <a:off x="5120640" y="3264408"/>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Looking at the data from several sides to see what is there before you answer a question.</a:t>
            </a:r>
            <a:endParaRPr lang="en-US" sz="2200" dirty="0"/>
          </a:p>
        </p:txBody>
      </p:sp>
      <p:sp>
        <p:nvSpPr>
          <p:cNvPr id="10" name="Text 7"/>
          <p:cNvSpPr txBox="1"/>
          <p:nvPr/>
        </p:nvSpPr>
        <p:spPr>
          <a:xfrm>
            <a:off x="5120640" y="4026408"/>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Walking round a shop before you count the stock.</a:t>
            </a:r>
            <a:endParaRPr lang="en-US" sz="1900" dirty="0"/>
          </a:p>
        </p:txBody>
      </p:sp>
      <p:sp>
        <p:nvSpPr>
          <p:cNvPr id="11" name="Shape 8"/>
          <p:cNvSpPr/>
          <p:nvPr/>
        </p:nvSpPr>
        <p:spPr>
          <a:xfrm>
            <a:off x="640080" y="4617720"/>
            <a:ext cx="10881360" cy="0"/>
          </a:xfrm>
          <a:prstGeom prst="line">
            <a:avLst/>
          </a:prstGeom>
          <a:noFill/>
          <a:ln w="12700">
            <a:solidFill>
              <a:srgbClr val="CFCFCF"/>
            </a:solidFill>
            <a:prstDash val="solid"/>
          </a:ln>
        </p:spPr>
      </p:sp>
      <p:pic>
        <p:nvPicPr>
          <p:cNvPr id="12" name="Image 1" descr="distribution">    </p:cNvPr>
          <p:cNvPicPr>
            <a:picLocks noChangeAspect="1"/>
          </p:cNvPicPr>
          <p:nvPr/>
        </p:nvPicPr>
        <p:blipFill>
          <a:blip r:embed="rId2"/>
          <a:stretch>
            <a:fillRect/>
          </a:stretch>
        </p:blipFill>
        <p:spPr>
          <a:xfrm>
            <a:off x="640080" y="4745736"/>
            <a:ext cx="1188720" cy="1188720"/>
          </a:xfrm>
          <a:prstGeom prst="rect">
            <a:avLst/>
          </a:prstGeom>
        </p:spPr>
      </p:pic>
      <p:sp>
        <p:nvSpPr>
          <p:cNvPr id="13" name="Text 9"/>
          <p:cNvSpPr txBox="1"/>
          <p:nvPr/>
        </p:nvSpPr>
        <p:spPr>
          <a:xfrm>
            <a:off x="2011680" y="4700016"/>
            <a:ext cx="2926080" cy="1298448"/>
          </a:xfrm>
          <a:prstGeom prst="rect">
            <a:avLst/>
          </a:prstGeom>
          <a:noFill/>
          <a:ln/>
        </p:spPr>
        <p:txBody>
          <a:bodyPr wrap="square" lIns="0" tIns="0" rIns="0" bIns="0" rtlCol="0" anchor="ctr"/>
          <a:lstStyle/>
          <a:p>
            <a:pPr algn="l" indent="0" marL="0">
              <a:lnSpc>
                <a:spcPts val="3720"/>
              </a:lnSpc>
              <a:buNone/>
            </a:pPr>
            <a:r>
              <a:rPr lang="en-US" sz="3100" b="1" dirty="0">
                <a:solidFill>
                  <a:srgbClr val="111111"/>
                </a:solidFill>
                <a:latin typeface="Lato" pitchFamily="34" charset="0"/>
                <a:ea typeface="Lato" pitchFamily="34" charset="-122"/>
                <a:cs typeface="Lato" pitchFamily="34" charset="-120"/>
              </a:rPr>
              <a:t>distribution</a:t>
            </a:r>
            <a:endParaRPr lang="en-US" sz="3100" dirty="0"/>
          </a:p>
        </p:txBody>
      </p:sp>
      <p:sp>
        <p:nvSpPr>
          <p:cNvPr id="14" name="Text 10"/>
          <p:cNvSpPr txBox="1"/>
          <p:nvPr/>
        </p:nvSpPr>
        <p:spPr>
          <a:xfrm>
            <a:off x="5120640" y="4745736"/>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How the values of one column are spread out.</a:t>
            </a:r>
            <a:endParaRPr lang="en-US" sz="2200" dirty="0"/>
          </a:p>
        </p:txBody>
      </p:sp>
      <p:sp>
        <p:nvSpPr>
          <p:cNvPr id="15" name="Text 11"/>
          <p:cNvSpPr txBox="1"/>
          <p:nvPr/>
        </p:nvSpPr>
        <p:spPr>
          <a:xfrm>
            <a:off x="5120640" y="5172456"/>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How the pupils spread across height bands.</a:t>
            </a:r>
            <a:endParaRPr lang="en-US" sz="19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Words for today (2 of 2)</a:t>
            </a:r>
            <a:endParaRPr lang="en-US" sz="3800" dirty="0"/>
          </a:p>
        </p:txBody>
      </p:sp>
      <p:pic>
        <p:nvPicPr>
          <p:cNvPr id="3" name="Image 0" descr="box plot">    </p:cNvPr>
          <p:cNvPicPr>
            <a:picLocks noChangeAspect="1"/>
          </p:cNvPicPr>
          <p:nvPr/>
        </p:nvPicPr>
        <p:blipFill>
          <a:blip r:embed="rId1"/>
          <a:stretch>
            <a:fillRect/>
          </a:stretch>
        </p:blipFill>
        <p:spPr>
          <a:xfrm>
            <a:off x="640080" y="1783080"/>
            <a:ext cx="1188720" cy="1188720"/>
          </a:xfrm>
          <a:prstGeom prst="rect">
            <a:avLst/>
          </a:prstGeom>
        </p:spPr>
      </p:pic>
      <p:sp>
        <p:nvSpPr>
          <p:cNvPr id="4" name="Text 1"/>
          <p:cNvSpPr txBox="1"/>
          <p:nvPr/>
        </p:nvSpPr>
        <p:spPr>
          <a:xfrm>
            <a:off x="2011680" y="1737360"/>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box plot</a:t>
            </a:r>
            <a:endParaRPr lang="en-US" sz="3400" dirty="0"/>
          </a:p>
        </p:txBody>
      </p:sp>
      <p:sp>
        <p:nvSpPr>
          <p:cNvPr id="5" name="Text 2"/>
          <p:cNvSpPr txBox="1"/>
          <p:nvPr/>
        </p:nvSpPr>
        <p:spPr>
          <a:xfrm>
            <a:off x="5120640" y="1783080"/>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A box from the lower to the upper quartile with a line at the median and dots for outliers.</a:t>
            </a:r>
            <a:endParaRPr lang="en-US" sz="2200" dirty="0"/>
          </a:p>
        </p:txBody>
      </p:sp>
      <p:sp>
        <p:nvSpPr>
          <p:cNvPr id="6" name="Text 3"/>
          <p:cNvSpPr txBox="1"/>
          <p:nvPr/>
        </p:nvSpPr>
        <p:spPr>
          <a:xfrm>
            <a:off x="5120640" y="2545080"/>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A five-number summary drawn as a picture.</a:t>
            </a:r>
            <a:endParaRPr lang="en-US" sz="1900" dirty="0"/>
          </a:p>
        </p:txBody>
      </p:sp>
      <p:sp>
        <p:nvSpPr>
          <p:cNvPr id="7" name="Shape 4"/>
          <p:cNvSpPr/>
          <p:nvPr/>
        </p:nvSpPr>
        <p:spPr>
          <a:xfrm>
            <a:off x="640080" y="3136392"/>
            <a:ext cx="10881360" cy="0"/>
          </a:xfrm>
          <a:prstGeom prst="line">
            <a:avLst/>
          </a:prstGeom>
          <a:noFill/>
          <a:ln w="12700">
            <a:solidFill>
              <a:srgbClr val="CFCFCF"/>
            </a:solidFill>
            <a:prstDash val="solid"/>
          </a:ln>
        </p:spPr>
      </p:sp>
      <p:pic>
        <p:nvPicPr>
          <p:cNvPr id="8" name="Image 1" descr="skewed">    </p:cNvPr>
          <p:cNvPicPr>
            <a:picLocks noChangeAspect="1"/>
          </p:cNvPicPr>
          <p:nvPr/>
        </p:nvPicPr>
        <p:blipFill>
          <a:blip r:embed="rId2"/>
          <a:stretch>
            <a:fillRect/>
          </a:stretch>
        </p:blipFill>
        <p:spPr>
          <a:xfrm>
            <a:off x="640080" y="3264408"/>
            <a:ext cx="1188720" cy="1188720"/>
          </a:xfrm>
          <a:prstGeom prst="rect">
            <a:avLst/>
          </a:prstGeom>
        </p:spPr>
      </p:pic>
      <p:sp>
        <p:nvSpPr>
          <p:cNvPr id="9" name="Text 5"/>
          <p:cNvSpPr txBox="1"/>
          <p:nvPr/>
        </p:nvSpPr>
        <p:spPr>
          <a:xfrm>
            <a:off x="2011680" y="3218688"/>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skewed</a:t>
            </a:r>
            <a:endParaRPr lang="en-US" sz="3400" dirty="0"/>
          </a:p>
        </p:txBody>
      </p:sp>
      <p:sp>
        <p:nvSpPr>
          <p:cNvPr id="10" name="Text 6"/>
          <p:cNvSpPr txBox="1"/>
          <p:nvPr/>
        </p:nvSpPr>
        <p:spPr>
          <a:xfrm>
            <a:off x="5120640" y="3264408"/>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Bunched at one end with a long tail at the other.</a:t>
            </a:r>
            <a:endParaRPr lang="en-US" sz="2200" dirty="0"/>
          </a:p>
        </p:txBody>
      </p:sp>
      <p:sp>
        <p:nvSpPr>
          <p:cNvPr id="11" name="Text 7"/>
          <p:cNvSpPr txBox="1"/>
          <p:nvPr/>
        </p:nvSpPr>
        <p:spPr>
          <a:xfrm>
            <a:off x="5120640" y="3691128"/>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Most pupils short and a few very tall.</a:t>
            </a:r>
            <a:endParaRPr lang="en-US" sz="1900" dirty="0"/>
          </a:p>
        </p:txBody>
      </p:sp>
      <p:sp>
        <p:nvSpPr>
          <p:cNvPr id="12" name="Shape 8"/>
          <p:cNvSpPr/>
          <p:nvPr/>
        </p:nvSpPr>
        <p:spPr>
          <a:xfrm>
            <a:off x="640080" y="4617720"/>
            <a:ext cx="10881360" cy="0"/>
          </a:xfrm>
          <a:prstGeom prst="line">
            <a:avLst/>
          </a:prstGeom>
          <a:noFill/>
          <a:ln w="12700">
            <a:solidFill>
              <a:srgbClr val="CFCFCF"/>
            </a:solidFill>
            <a:prstDash val="solid"/>
          </a:ln>
        </p:spPr>
      </p:sp>
      <p:pic>
        <p:nvPicPr>
          <p:cNvPr id="13" name="Image 2" descr="group comparison">    </p:cNvPr>
          <p:cNvPicPr>
            <a:picLocks noChangeAspect="1"/>
          </p:cNvPicPr>
          <p:nvPr/>
        </p:nvPicPr>
        <p:blipFill>
          <a:blip r:embed="rId3"/>
          <a:stretch>
            <a:fillRect/>
          </a:stretch>
        </p:blipFill>
        <p:spPr>
          <a:xfrm>
            <a:off x="640080" y="4745736"/>
            <a:ext cx="1188720" cy="1188720"/>
          </a:xfrm>
          <a:prstGeom prst="rect">
            <a:avLst/>
          </a:prstGeom>
        </p:spPr>
      </p:pic>
      <p:sp>
        <p:nvSpPr>
          <p:cNvPr id="14" name="Text 9"/>
          <p:cNvSpPr txBox="1"/>
          <p:nvPr/>
        </p:nvSpPr>
        <p:spPr>
          <a:xfrm>
            <a:off x="2011680" y="4700016"/>
            <a:ext cx="2926080" cy="1298448"/>
          </a:xfrm>
          <a:prstGeom prst="rect">
            <a:avLst/>
          </a:prstGeom>
          <a:noFill/>
          <a:ln/>
        </p:spPr>
        <p:txBody>
          <a:bodyPr wrap="square" lIns="0" tIns="0" rIns="0" bIns="0" rtlCol="0" anchor="ctr"/>
          <a:lstStyle/>
          <a:p>
            <a:pPr algn="l" indent="0" marL="0">
              <a:lnSpc>
                <a:spcPts val="3120"/>
              </a:lnSpc>
              <a:buNone/>
            </a:pPr>
            <a:r>
              <a:rPr lang="en-US" sz="2600" b="1" dirty="0">
                <a:solidFill>
                  <a:srgbClr val="111111"/>
                </a:solidFill>
                <a:latin typeface="Lato" pitchFamily="34" charset="0"/>
                <a:ea typeface="Lato" pitchFamily="34" charset="-122"/>
                <a:cs typeface="Lato" pitchFamily="34" charset="-120"/>
              </a:rPr>
              <a:t>group comparison</a:t>
            </a:r>
            <a:endParaRPr lang="en-US" sz="2600" dirty="0"/>
          </a:p>
        </p:txBody>
      </p:sp>
      <p:sp>
        <p:nvSpPr>
          <p:cNvPr id="15" name="Text 10"/>
          <p:cNvSpPr txBox="1"/>
          <p:nvPr/>
        </p:nvSpPr>
        <p:spPr>
          <a:xfrm>
            <a:off x="5120640" y="4745736"/>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Drawing the same chart for each group side by side.</a:t>
            </a:r>
            <a:endParaRPr lang="en-US" sz="2200" dirty="0"/>
          </a:p>
        </p:txBody>
      </p:sp>
      <p:sp>
        <p:nvSpPr>
          <p:cNvPr id="16" name="Text 11"/>
          <p:cNvSpPr txBox="1"/>
          <p:nvPr/>
        </p:nvSpPr>
        <p:spPr>
          <a:xfrm>
            <a:off x="5120640" y="5507736"/>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Comparing the three shops on one page.</a:t>
            </a:r>
            <a:endParaRPr lang="en-US" sz="19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The bin count decides how much shape you see</a:t>
            </a:r>
            <a:endParaRPr lang="en-US" sz="3800" dirty="0"/>
          </a:p>
        </p:txBody>
      </p:sp>
      <p:pic>
        <p:nvPicPr>
          <p:cNvPr id="3" name="Image 0" descr="8 bins: wide bars give a rough shape.">    </p:cNvPr>
          <p:cNvPicPr>
            <a:picLocks noChangeAspect="1"/>
          </p:cNvPicPr>
          <p:nvPr/>
        </p:nvPicPr>
        <p:blipFill>
          <a:blip r:embed="rId1"/>
          <a:stretch>
            <a:fillRect/>
          </a:stretch>
        </p:blipFill>
        <p:spPr>
          <a:xfrm>
            <a:off x="894229" y="1554480"/>
            <a:ext cx="4840941" cy="3429000"/>
          </a:xfrm>
          <a:prstGeom prst="rect">
            <a:avLst/>
          </a:prstGeom>
        </p:spPr>
      </p:pic>
      <p:sp>
        <p:nvSpPr>
          <p:cNvPr id="4" name="Text 1"/>
          <p:cNvSpPr txBox="1"/>
          <p:nvPr/>
        </p:nvSpPr>
        <p:spPr>
          <a:xfrm>
            <a:off x="640080" y="5074920"/>
            <a:ext cx="5349240" cy="1188720"/>
          </a:xfrm>
          <a:prstGeom prst="rect">
            <a:avLst/>
          </a:prstGeom>
          <a:noFill/>
          <a:ln/>
        </p:spPr>
        <p:txBody>
          <a:bodyPr wrap="square" lIns="0" tIns="0" rIns="0" bIns="0" rtlCol="0" anchor="t"/>
          <a:lstStyle/>
          <a:p>
            <a:pPr algn="l" indent="0" marL="0">
              <a:lnSpc>
                <a:spcPts val="2640"/>
              </a:lnSpc>
              <a:spcAft>
                <a:spcPts val="1010"/>
              </a:spcAft>
              <a:buNone/>
            </a:pPr>
            <a:r>
              <a:rPr lang="en-US" sz="2200" dirty="0">
                <a:solidFill>
                  <a:srgbClr val="111111"/>
                </a:solidFill>
                <a:latin typeface="Lato" pitchFamily="34" charset="0"/>
                <a:ea typeface="Lato" pitchFamily="34" charset="-122"/>
                <a:cs typeface="Lato" pitchFamily="34" charset="-120"/>
              </a:rPr>
              <a:t>8 bins: wide bars give a rough shape.</a:t>
            </a:r>
            <a:endParaRPr lang="en-US" sz="2200" dirty="0"/>
          </a:p>
        </p:txBody>
      </p:sp>
      <p:pic>
        <p:nvPicPr>
          <p:cNvPr id="5" name="Image 1" descr="60 bins: narrow bars give more detail.">    </p:cNvPr>
          <p:cNvPicPr>
            <a:picLocks noChangeAspect="1"/>
          </p:cNvPicPr>
          <p:nvPr/>
        </p:nvPicPr>
        <p:blipFill>
          <a:blip r:embed="rId2"/>
          <a:stretch>
            <a:fillRect/>
          </a:stretch>
        </p:blipFill>
        <p:spPr>
          <a:xfrm>
            <a:off x="6474759" y="1554480"/>
            <a:ext cx="4744122" cy="3429000"/>
          </a:xfrm>
          <a:prstGeom prst="rect">
            <a:avLst/>
          </a:prstGeom>
        </p:spPr>
      </p:pic>
      <p:sp>
        <p:nvSpPr>
          <p:cNvPr id="6" name="Text 2"/>
          <p:cNvSpPr txBox="1"/>
          <p:nvPr/>
        </p:nvSpPr>
        <p:spPr>
          <a:xfrm>
            <a:off x="6172200" y="5074920"/>
            <a:ext cx="5349240" cy="1188720"/>
          </a:xfrm>
          <a:prstGeom prst="rect">
            <a:avLst/>
          </a:prstGeom>
          <a:noFill/>
          <a:ln/>
        </p:spPr>
        <p:txBody>
          <a:bodyPr wrap="square" lIns="0" tIns="0" rIns="0" bIns="0" rtlCol="0" anchor="t"/>
          <a:lstStyle/>
          <a:p>
            <a:pPr algn="l" indent="0" marL="0">
              <a:lnSpc>
                <a:spcPts val="2640"/>
              </a:lnSpc>
              <a:spcAft>
                <a:spcPts val="1010"/>
              </a:spcAft>
              <a:buNone/>
            </a:pPr>
            <a:r>
              <a:rPr lang="en-US" sz="2200" dirty="0">
                <a:solidFill>
                  <a:srgbClr val="111111"/>
                </a:solidFill>
                <a:latin typeface="Lato" pitchFamily="34" charset="0"/>
                <a:ea typeface="Lato" pitchFamily="34" charset="-122"/>
                <a:cs typeface="Lato" pitchFamily="34" charset="-120"/>
              </a:rPr>
              <a:t>60 bins: narrow bars give more detail.</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700" b="1" dirty="0">
                <a:solidFill>
                  <a:srgbClr val="111111"/>
                </a:solidFill>
                <a:latin typeface="Lato" pitchFamily="34" charset="0"/>
                <a:ea typeface="Lato" pitchFamily="34" charset="-122"/>
                <a:cs typeface="Lato" pitchFamily="34" charset="-120"/>
              </a:rPr>
              <a:t>A skewed distribution has a long tail on one side</a:t>
            </a:r>
            <a:endParaRPr lang="en-US" sz="3700" dirty="0"/>
          </a:p>
        </p:txBody>
      </p:sp>
      <p:pic>
        <p:nvPicPr>
          <p:cNvPr id="3" name="Image 0" descr="Balanced: the mean and median are close together.">    </p:cNvPr>
          <p:cNvPicPr>
            <a:picLocks noChangeAspect="1"/>
          </p:cNvPicPr>
          <p:nvPr/>
        </p:nvPicPr>
        <p:blipFill>
          <a:blip r:embed="rId1"/>
          <a:stretch>
            <a:fillRect/>
          </a:stretch>
        </p:blipFill>
        <p:spPr>
          <a:xfrm>
            <a:off x="903214" y="1554480"/>
            <a:ext cx="4822972" cy="3429000"/>
          </a:xfrm>
          <a:prstGeom prst="rect">
            <a:avLst/>
          </a:prstGeom>
        </p:spPr>
      </p:pic>
      <p:sp>
        <p:nvSpPr>
          <p:cNvPr id="4" name="Text 1"/>
          <p:cNvSpPr txBox="1"/>
          <p:nvPr/>
        </p:nvSpPr>
        <p:spPr>
          <a:xfrm>
            <a:off x="640080" y="5074920"/>
            <a:ext cx="5349240" cy="1188720"/>
          </a:xfrm>
          <a:prstGeom prst="rect">
            <a:avLst/>
          </a:prstGeom>
          <a:noFill/>
          <a:ln/>
        </p:spPr>
        <p:txBody>
          <a:bodyPr wrap="square" lIns="0" tIns="0" rIns="0" bIns="0" rtlCol="0" anchor="t"/>
          <a:lstStyle/>
          <a:p>
            <a:pPr algn="l" indent="0" marL="0">
              <a:lnSpc>
                <a:spcPts val="2640"/>
              </a:lnSpc>
              <a:spcAft>
                <a:spcPts val="1010"/>
              </a:spcAft>
              <a:buNone/>
            </a:pPr>
            <a:r>
              <a:rPr lang="en-US" sz="2200" dirty="0">
                <a:solidFill>
                  <a:srgbClr val="111111"/>
                </a:solidFill>
                <a:latin typeface="Lato" pitchFamily="34" charset="0"/>
                <a:ea typeface="Lato" pitchFamily="34" charset="-122"/>
                <a:cs typeface="Lato" pitchFamily="34" charset="-120"/>
              </a:rPr>
              <a:t>Balanced: the mean and median are close together.</a:t>
            </a:r>
            <a:endParaRPr lang="en-US" sz="2200" dirty="0"/>
          </a:p>
        </p:txBody>
      </p:sp>
      <p:pic>
        <p:nvPicPr>
          <p:cNvPr id="5" name="Image 1" descr="Skewed: a long tail pulls the mean away from the median.">    </p:cNvPr>
          <p:cNvPicPr>
            <a:picLocks noChangeAspect="1"/>
          </p:cNvPicPr>
          <p:nvPr/>
        </p:nvPicPr>
        <p:blipFill>
          <a:blip r:embed="rId2"/>
          <a:stretch>
            <a:fillRect/>
          </a:stretch>
        </p:blipFill>
        <p:spPr>
          <a:xfrm>
            <a:off x="6405217" y="1554480"/>
            <a:ext cx="4883206" cy="3429000"/>
          </a:xfrm>
          <a:prstGeom prst="rect">
            <a:avLst/>
          </a:prstGeom>
        </p:spPr>
      </p:pic>
      <p:sp>
        <p:nvSpPr>
          <p:cNvPr id="6" name="Text 2"/>
          <p:cNvSpPr txBox="1"/>
          <p:nvPr/>
        </p:nvSpPr>
        <p:spPr>
          <a:xfrm>
            <a:off x="6172200" y="5074920"/>
            <a:ext cx="5349240" cy="1188720"/>
          </a:xfrm>
          <a:prstGeom prst="rect">
            <a:avLst/>
          </a:prstGeom>
          <a:noFill/>
          <a:ln/>
        </p:spPr>
        <p:txBody>
          <a:bodyPr wrap="square" lIns="0" tIns="0" rIns="0" bIns="0" rtlCol="0" anchor="t"/>
          <a:lstStyle/>
          <a:p>
            <a:pPr algn="l" indent="0" marL="0">
              <a:lnSpc>
                <a:spcPts val="2640"/>
              </a:lnSpc>
              <a:spcAft>
                <a:spcPts val="1010"/>
              </a:spcAft>
              <a:buNone/>
            </a:pPr>
            <a:r>
              <a:rPr lang="en-US" sz="2200" dirty="0">
                <a:solidFill>
                  <a:srgbClr val="111111"/>
                </a:solidFill>
                <a:latin typeface="Lato" pitchFamily="34" charset="0"/>
                <a:ea typeface="Lato" pitchFamily="34" charset="-122"/>
                <a:cs typeface="Lato" pitchFamily="34" charset="-120"/>
              </a:rPr>
              <a:t>Skewed: a long tail pulls the mean away from the median.</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Predict: A histogram of sale values (1 of 2)</a:t>
            </a:r>
            <a:endParaRPr lang="en-US" sz="3800" dirty="0"/>
          </a:p>
        </p:txBody>
      </p:sp>
      <p:sp>
        <p:nvSpPr>
          <p:cNvPr id="3" name="Shape 1"/>
          <p:cNvSpPr/>
          <p:nvPr/>
        </p:nvSpPr>
        <p:spPr>
          <a:xfrm>
            <a:off x="640080" y="1645920"/>
            <a:ext cx="10881360" cy="1924812"/>
          </a:xfrm>
          <a:prstGeom prst="roundRect">
            <a:avLst>
              <a:gd name="adj" fmla="val 3800"/>
            </a:avLst>
          </a:prstGeom>
          <a:solidFill>
            <a:srgbClr val="111111"/>
          </a:solidFill>
          <a:ln/>
        </p:spPr>
      </p:sp>
      <p:sp>
        <p:nvSpPr>
          <p:cNvPr id="4" name="Text 2"/>
          <p:cNvSpPr txBox="1"/>
          <p:nvPr/>
        </p:nvSpPr>
        <p:spPr>
          <a:xfrm>
            <a:off x="841248" y="1847088"/>
            <a:ext cx="10479024" cy="1522476"/>
          </a:xfrm>
          <a:prstGeom prst="rect">
            <a:avLst/>
          </a:prstGeom>
          <a:noFill/>
          <a:ln/>
        </p:spPr>
        <p:txBody>
          <a:bodyPr wrap="square" lIns="0" tIns="0" rIns="0" bIns="0" rtlCol="0" anchor="t"/>
          <a:lstStyle/>
          <a:p>
            <a:pPr algn="l" indent="0" marL="0">
              <a:lnSpc>
                <a:spcPts val="2340"/>
              </a:lnSpc>
              <a:buNone/>
            </a:pPr>
            <a:r>
              <a:rPr lang="en-US" sz="1800" b="1" dirty="0">
                <a:solidFill>
                  <a:srgbClr val="FFFFFF"/>
                </a:solidFill>
                <a:latin typeface="Courier New" pitchFamily="34" charset="0"/>
                <a:ea typeface="Courier New" pitchFamily="34" charset="-122"/>
                <a:cs typeface="Courier New" pitchFamily="34" charset="-120"/>
              </a:rPr>
              <a:t>import</a:t>
            </a:r>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 pandas </a:t>
            </a:r>
            <a:pPr algn="l" indent="0" marL="0">
              <a:lnSpc>
                <a:spcPts val="2340"/>
              </a:lnSpc>
              <a:buNone/>
            </a:pPr>
            <a:r>
              <a:rPr lang="en-US" sz="1800" b="1" dirty="0">
                <a:solidFill>
                  <a:srgbClr val="FFFFFF"/>
                </a:solidFill>
                <a:latin typeface="Courier New" pitchFamily="34" charset="0"/>
                <a:ea typeface="Courier New" pitchFamily="34" charset="-122"/>
                <a:cs typeface="Courier New" pitchFamily="34" charset="-120"/>
              </a:rPr>
              <a:t>as</a:t>
            </a:r>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 pd</a:t>
            </a:r>
            <a:endParaRPr lang="en-US" sz="1800" dirty="0"/>
          </a:p>
          <a:p>
            <a:pPr algn="l" indent="0" marL="0">
              <a:lnSpc>
                <a:spcPts val="2340"/>
              </a:lnSpc>
              <a:buNone/>
            </a:pPr>
            <a:r>
              <a:rPr lang="en-US" sz="1800" b="1" dirty="0">
                <a:solidFill>
                  <a:srgbClr val="FFFFFF"/>
                </a:solidFill>
                <a:latin typeface="Courier New" pitchFamily="34" charset="0"/>
                <a:ea typeface="Courier New" pitchFamily="34" charset="-122"/>
                <a:cs typeface="Courier New" pitchFamily="34" charset="-120"/>
              </a:rPr>
              <a:t>import</a:t>
            </a:r>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 seaborn </a:t>
            </a:r>
            <a:pPr algn="l" indent="0" marL="0">
              <a:lnSpc>
                <a:spcPts val="2340"/>
              </a:lnSpc>
              <a:buNone/>
            </a:pPr>
            <a:r>
              <a:rPr lang="en-US" sz="1800" b="1" dirty="0">
                <a:solidFill>
                  <a:srgbClr val="FFFFFF"/>
                </a:solidFill>
                <a:latin typeface="Courier New" pitchFamily="34" charset="0"/>
                <a:ea typeface="Courier New" pitchFamily="34" charset="-122"/>
                <a:cs typeface="Courier New" pitchFamily="34" charset="-120"/>
              </a:rPr>
              <a:t>as</a:t>
            </a:r>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 sns</a:t>
            </a:r>
            <a:endParaRPr lang="en-US" sz="1800" dirty="0"/>
          </a:p>
          <a:p>
            <a:pPr algn="l" indent="0" marL="0">
              <a:lnSpc>
                <a:spcPts val="2340"/>
              </a:lnSpc>
              <a:buNone/>
            </a:pPr>
            <a:r>
              <a:rPr lang="en-US" sz="1800" b="1" dirty="0">
                <a:solidFill>
                  <a:srgbClr val="FFFFFF"/>
                </a:solidFill>
                <a:latin typeface="Courier New" pitchFamily="34" charset="0"/>
                <a:ea typeface="Courier New" pitchFamily="34" charset="-122"/>
                <a:cs typeface="Courier New" pitchFamily="34" charset="-120"/>
              </a:rPr>
              <a:t>import</a:t>
            </a:r>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 matplotlib.pyplot </a:t>
            </a:r>
            <a:pPr algn="l" indent="0" marL="0">
              <a:lnSpc>
                <a:spcPts val="2340"/>
              </a:lnSpc>
              <a:buNone/>
            </a:pPr>
            <a:r>
              <a:rPr lang="en-US" sz="1800" b="1" dirty="0">
                <a:solidFill>
                  <a:srgbClr val="FFFFFF"/>
                </a:solidFill>
                <a:latin typeface="Courier New" pitchFamily="34" charset="0"/>
                <a:ea typeface="Courier New" pitchFamily="34" charset="-122"/>
                <a:cs typeface="Courier New" pitchFamily="34" charset="-120"/>
              </a:rPr>
              <a:t>as</a:t>
            </a:r>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 plt</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sunrise = pd.read_csv(</a:t>
            </a:r>
            <a:pPr algn="l" indent="0" marL="0">
              <a:lnSpc>
                <a:spcPts val="2340"/>
              </a:lnSpc>
              <a:buNone/>
            </a:pPr>
            <a:r>
              <a:rPr lang="en-US" sz="1800" dirty="0">
                <a:solidFill>
                  <a:srgbClr val="E0BE36"/>
                </a:solidFill>
                <a:latin typeface="Courier New" pitchFamily="34" charset="0"/>
                <a:ea typeface="Courier New" pitchFamily="34" charset="-122"/>
                <a:cs typeface="Courier New" pitchFamily="34" charset="-120"/>
              </a:rPr>
              <a:t>"sunrise_sales.csv"</a:t>
            </a:r>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sunrise[</a:t>
            </a:r>
            <a:pPr algn="l" indent="0" marL="0">
              <a:lnSpc>
                <a:spcPts val="2340"/>
              </a:lnSpc>
              <a:buNone/>
            </a:pPr>
            <a:r>
              <a:rPr lang="en-US" sz="1800" dirty="0">
                <a:solidFill>
                  <a:srgbClr val="E0BE36"/>
                </a:solidFill>
                <a:latin typeface="Courier New" pitchFamily="34" charset="0"/>
                <a:ea typeface="Courier New" pitchFamily="34" charset="-122"/>
                <a:cs typeface="Courier New" pitchFamily="34" charset="-120"/>
              </a:rPr>
              <a:t>"line_value"</a:t>
            </a:r>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 = sunrise[</a:t>
            </a:r>
            <a:pPr algn="l" indent="0" marL="0">
              <a:lnSpc>
                <a:spcPts val="2340"/>
              </a:lnSpc>
              <a:buNone/>
            </a:pPr>
            <a:r>
              <a:rPr lang="en-US" sz="1800" dirty="0">
                <a:solidFill>
                  <a:srgbClr val="E0BE36"/>
                </a:solidFill>
                <a:latin typeface="Courier New" pitchFamily="34" charset="0"/>
                <a:ea typeface="Courier New" pitchFamily="34" charset="-122"/>
                <a:cs typeface="Courier New" pitchFamily="34" charset="-120"/>
              </a:rPr>
              <a:t>"units"</a:t>
            </a:r>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 * sunrise[</a:t>
            </a:r>
            <a:pPr algn="l" indent="0" marL="0">
              <a:lnSpc>
                <a:spcPts val="2340"/>
              </a:lnSpc>
              <a:buNone/>
            </a:pPr>
            <a:r>
              <a:rPr lang="en-US" sz="1800" dirty="0">
                <a:solidFill>
                  <a:srgbClr val="E0BE36"/>
                </a:solidFill>
                <a:latin typeface="Courier New" pitchFamily="34" charset="0"/>
                <a:ea typeface="Courier New" pitchFamily="34" charset="-122"/>
                <a:cs typeface="Courier New" pitchFamily="34" charset="-120"/>
              </a:rPr>
              <a:t>"unit_price_ugx"</a:t>
            </a:r>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a:t>
            </a:r>
            <a:endParaRPr lang="en-US" sz="1800" dirty="0"/>
          </a:p>
        </p:txBody>
      </p:sp>
      <p:sp>
        <p:nvSpPr>
          <p:cNvPr id="5" name="Text 3"/>
          <p:cNvSpPr txBox="1"/>
          <p:nvPr/>
        </p:nvSpPr>
        <p:spPr>
          <a:xfrm>
            <a:off x="640080" y="3753612"/>
            <a:ext cx="8046720" cy="2510028"/>
          </a:xfrm>
          <a:prstGeom prst="rect">
            <a:avLst/>
          </a:prstGeom>
          <a:noFill/>
          <a:ln/>
        </p:spPr>
        <p:txBody>
          <a:bodyPr wrap="square" lIns="0" tIns="0" rIns="0" bIns="0" rtlCol="0" anchor="t"/>
          <a:lstStyle/>
          <a:p>
            <a:pPr algn="l" indent="0" marL="0">
              <a:lnSpc>
                <a:spcPts val="2880"/>
              </a:lnSpc>
              <a:spcAft>
                <a:spcPts val="1010"/>
              </a:spcAft>
              <a:buNone/>
            </a:pPr>
            <a:r>
              <a:rPr lang="en-US" sz="2400" dirty="0">
                <a:solidFill>
                  <a:srgbClr val="111111"/>
                </a:solidFill>
                <a:latin typeface="Lato" pitchFamily="34" charset="0"/>
                <a:ea typeface="Lato" pitchFamily="34" charset="-122"/>
                <a:cs typeface="Lato" pitchFamily="34" charset="-120"/>
              </a:rPr>
              <a:t>Read the first part of the code. 5 lines. Say what each one does.</a:t>
            </a:r>
            <a:endParaRPr lang="en-US" sz="2400" dirty="0"/>
          </a:p>
          <a:p>
            <a:pPr algn="l" indent="0" marL="0">
              <a:lnSpc>
                <a:spcPts val="2880"/>
              </a:lnSpc>
              <a:spcAft>
                <a:spcPts val="1010"/>
              </a:spcAft>
              <a:buNone/>
            </a:pPr>
            <a:r>
              <a:rPr lang="en-US" sz="2400" dirty="0">
                <a:solidFill>
                  <a:srgbClr val="111111"/>
                </a:solidFill>
                <a:latin typeface="Lato" pitchFamily="34" charset="0"/>
                <a:ea typeface="Lato" pitchFamily="34" charset="-122"/>
                <a:cs typeface="Lato" pitchFamily="34" charset="-120"/>
              </a:rPr>
              <a:t>The second part comes next.</a:t>
            </a:r>
            <a:endParaRPr lang="en-US" sz="2400" dirty="0"/>
          </a:p>
        </p:txBody>
      </p:sp>
      <p:pic>
        <p:nvPicPr>
          <p:cNvPr id="6" name="Image 0" descr="A page and a pen">    </p:cNvPr>
          <p:cNvPicPr>
            <a:picLocks noChangeAspect="1"/>
          </p:cNvPicPr>
          <p:nvPr/>
        </p:nvPicPr>
        <p:blipFill>
          <a:blip r:embed="rId1"/>
          <a:stretch>
            <a:fillRect/>
          </a:stretch>
        </p:blipFill>
        <p:spPr>
          <a:xfrm>
            <a:off x="10149840" y="4983480"/>
            <a:ext cx="1371600" cy="118872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Predict: A histogram of sale values (2 of 2)</a:t>
            </a:r>
            <a:endParaRPr lang="en-US" sz="3800" dirty="0"/>
          </a:p>
        </p:txBody>
      </p:sp>
      <p:sp>
        <p:nvSpPr>
          <p:cNvPr id="3" name="Shape 1"/>
          <p:cNvSpPr/>
          <p:nvPr/>
        </p:nvSpPr>
        <p:spPr>
          <a:xfrm>
            <a:off x="640080" y="1645920"/>
            <a:ext cx="10881360" cy="2981452"/>
          </a:xfrm>
          <a:prstGeom prst="roundRect">
            <a:avLst>
              <a:gd name="adj" fmla="val 2454"/>
            </a:avLst>
          </a:prstGeom>
          <a:solidFill>
            <a:srgbClr val="111111"/>
          </a:solidFill>
          <a:ln/>
        </p:spPr>
      </p:sp>
      <p:sp>
        <p:nvSpPr>
          <p:cNvPr id="4" name="Text 2"/>
          <p:cNvSpPr txBox="1"/>
          <p:nvPr/>
        </p:nvSpPr>
        <p:spPr>
          <a:xfrm>
            <a:off x="841248" y="1847088"/>
            <a:ext cx="10479024" cy="2579116"/>
          </a:xfrm>
          <a:prstGeom prst="rect">
            <a:avLst/>
          </a:prstGeom>
          <a:noFill/>
          <a:ln/>
        </p:spPr>
        <p:txBody>
          <a:bodyPr wrap="square" lIns="0" tIns="0" rIns="0" bIns="0" rtlCol="0" anchor="t"/>
          <a:lstStyle/>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sunrise[</a:t>
            </a:r>
            <a:pPr algn="l" indent="0" marL="0">
              <a:lnSpc>
                <a:spcPts val="2860"/>
              </a:lnSpc>
              <a:buNone/>
            </a:pPr>
            <a:r>
              <a:rPr lang="en-US" sz="2200" dirty="0">
                <a:solidFill>
                  <a:srgbClr val="E0BE36"/>
                </a:solidFill>
                <a:latin typeface="Courier New" pitchFamily="34" charset="0"/>
                <a:ea typeface="Courier New" pitchFamily="34" charset="-122"/>
                <a:cs typeface="Courier New" pitchFamily="34" charset="-120"/>
              </a:rPr>
              <a:t>"branch"</a:t>
            </a:r>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 = sunrise[</a:t>
            </a:r>
            <a:pPr algn="l" indent="0" marL="0">
              <a:lnSpc>
                <a:spcPts val="2860"/>
              </a:lnSpc>
              <a:buNone/>
            </a:pPr>
            <a:r>
              <a:rPr lang="en-US" sz="2200" dirty="0">
                <a:solidFill>
                  <a:srgbClr val="E0BE36"/>
                </a:solidFill>
                <a:latin typeface="Courier New" pitchFamily="34" charset="0"/>
                <a:ea typeface="Courier New" pitchFamily="34" charset="-122"/>
                <a:cs typeface="Courier New" pitchFamily="34" charset="-120"/>
              </a:rPr>
              <a:t>"branch_id"</a:t>
            </a:r>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].map(</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    {1: </a:t>
            </a:r>
            <a:pPr algn="l" indent="0" marL="0">
              <a:lnSpc>
                <a:spcPts val="2860"/>
              </a:lnSpc>
              <a:buNone/>
            </a:pPr>
            <a:r>
              <a:rPr lang="en-US" sz="2200" dirty="0">
                <a:solidFill>
                  <a:srgbClr val="E0BE36"/>
                </a:solidFill>
                <a:latin typeface="Courier New" pitchFamily="34" charset="0"/>
                <a:ea typeface="Courier New" pitchFamily="34" charset="-122"/>
                <a:cs typeface="Courier New" pitchFamily="34" charset="-120"/>
              </a:rPr>
              <a:t>"Central Market"</a:t>
            </a:r>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 2: </a:t>
            </a:r>
            <a:pPr algn="l" indent="0" marL="0">
              <a:lnSpc>
                <a:spcPts val="2860"/>
              </a:lnSpc>
              <a:buNone/>
            </a:pPr>
            <a:r>
              <a:rPr lang="en-US" sz="2200" dirty="0">
                <a:solidFill>
                  <a:srgbClr val="E0BE36"/>
                </a:solidFill>
                <a:latin typeface="Courier New" pitchFamily="34" charset="0"/>
                <a:ea typeface="Courier New" pitchFamily="34" charset="-122"/>
                <a:cs typeface="Courier New" pitchFamily="34" charset="-120"/>
              </a:rPr>
              <a:t>"Campus Gate"</a:t>
            </a:r>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 3: </a:t>
            </a:r>
            <a:pPr algn="l" indent="0" marL="0">
              <a:lnSpc>
                <a:spcPts val="2860"/>
              </a:lnSpc>
              <a:buNone/>
            </a:pPr>
            <a:r>
              <a:rPr lang="en-US" sz="2200" dirty="0">
                <a:solidFill>
                  <a:srgbClr val="E0BE36"/>
                </a:solidFill>
                <a:latin typeface="Courier New" pitchFamily="34" charset="0"/>
                <a:ea typeface="Courier New" pitchFamily="34" charset="-122"/>
                <a:cs typeface="Courier New" pitchFamily="34" charset="-120"/>
              </a:rPr>
              <a:t>"Roadside"</a:t>
            </a:r>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sns.histplot(data=sunrise, x=</a:t>
            </a:r>
            <a:pPr algn="l" indent="0" marL="0">
              <a:lnSpc>
                <a:spcPts val="2860"/>
              </a:lnSpc>
              <a:buNone/>
            </a:pPr>
            <a:r>
              <a:rPr lang="en-US" sz="2200" dirty="0">
                <a:solidFill>
                  <a:srgbClr val="E0BE36"/>
                </a:solidFill>
                <a:latin typeface="Courier New" pitchFamily="34" charset="0"/>
                <a:ea typeface="Courier New" pitchFamily="34" charset="-122"/>
                <a:cs typeface="Courier New" pitchFamily="34" charset="-120"/>
              </a:rPr>
              <a:t>"line_value"</a:t>
            </a:r>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 bins=30)</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plt.xlabel(</a:t>
            </a:r>
            <a:pPr algn="l" indent="0" marL="0">
              <a:lnSpc>
                <a:spcPts val="2860"/>
              </a:lnSpc>
              <a:buNone/>
            </a:pPr>
            <a:r>
              <a:rPr lang="en-US" sz="2200" dirty="0">
                <a:solidFill>
                  <a:srgbClr val="E0BE36"/>
                </a:solidFill>
                <a:latin typeface="Courier New" pitchFamily="34" charset="0"/>
                <a:ea typeface="Courier New" pitchFamily="34" charset="-122"/>
                <a:cs typeface="Courier New" pitchFamily="34" charset="-120"/>
              </a:rPr>
              <a:t>"Value of one sale (UGX)"</a:t>
            </a:r>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plt.show()</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print(round(sunrise[</a:t>
            </a:r>
            <a:pPr algn="l" indent="0" marL="0">
              <a:lnSpc>
                <a:spcPts val="2860"/>
              </a:lnSpc>
              <a:buNone/>
            </a:pPr>
            <a:r>
              <a:rPr lang="en-US" sz="2200" dirty="0">
                <a:solidFill>
                  <a:srgbClr val="E0BE36"/>
                </a:solidFill>
                <a:latin typeface="Courier New" pitchFamily="34" charset="0"/>
                <a:ea typeface="Courier New" pitchFamily="34" charset="-122"/>
                <a:cs typeface="Courier New" pitchFamily="34" charset="-120"/>
              </a:rPr>
              <a:t>"line_value"</a:t>
            </a:r>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].skew(), 1))</a:t>
            </a:r>
            <a:endParaRPr lang="en-US" sz="2200" dirty="0"/>
          </a:p>
        </p:txBody>
      </p:sp>
      <p:sp>
        <p:nvSpPr>
          <p:cNvPr id="5" name="Text 3"/>
          <p:cNvSpPr txBox="1"/>
          <p:nvPr/>
        </p:nvSpPr>
        <p:spPr>
          <a:xfrm>
            <a:off x="640080" y="4810252"/>
            <a:ext cx="8046720" cy="1453388"/>
          </a:xfrm>
          <a:prstGeom prst="rect">
            <a:avLst/>
          </a:prstGeom>
          <a:noFill/>
          <a:ln/>
        </p:spPr>
        <p:txBody>
          <a:bodyPr wrap="square" lIns="0" tIns="0" rIns="0" bIns="0" rtlCol="0" anchor="t"/>
          <a:lstStyle/>
          <a:p>
            <a:pPr algn="l" indent="0" marL="0">
              <a:lnSpc>
                <a:spcPts val="2880"/>
              </a:lnSpc>
              <a:spcAft>
                <a:spcPts val="1010"/>
              </a:spcAft>
              <a:buNone/>
            </a:pPr>
            <a:r>
              <a:rPr lang="en-US" sz="2400" dirty="0">
                <a:solidFill>
                  <a:srgbClr val="111111"/>
                </a:solidFill>
                <a:latin typeface="Lato" pitchFamily="34" charset="0"/>
                <a:ea typeface="Lato" pitchFamily="34" charset="-122"/>
                <a:cs typeface="Lato" pitchFamily="34" charset="-120"/>
              </a:rPr>
              <a:t>Predict whether the histogram is balanced or skewed to the right.</a:t>
            </a:r>
            <a:endParaRPr lang="en-US" sz="2400" dirty="0"/>
          </a:p>
          <a:p>
            <a:pPr algn="l" indent="0" marL="0">
              <a:lnSpc>
                <a:spcPts val="2880"/>
              </a:lnSpc>
              <a:spcAft>
                <a:spcPts val="1010"/>
              </a:spcAft>
              <a:buNone/>
            </a:pPr>
            <a:r>
              <a:rPr lang="en-US" sz="2400" dirty="0">
                <a:solidFill>
                  <a:srgbClr val="111111"/>
                </a:solidFill>
                <a:latin typeface="Lato" pitchFamily="34" charset="0"/>
                <a:ea typeface="Lato" pitchFamily="34" charset="-122"/>
                <a:cs typeface="Lato" pitchFamily="34" charset="-120"/>
              </a:rPr>
              <a:t>Write your guess on paper before we run it.</a:t>
            </a:r>
            <a:endParaRPr lang="en-US" sz="2400" dirty="0"/>
          </a:p>
        </p:txBody>
      </p:sp>
      <p:pic>
        <p:nvPicPr>
          <p:cNvPr id="6" name="Image 0" descr="A page and a pen">    </p:cNvPr>
          <p:cNvPicPr>
            <a:picLocks noChangeAspect="1"/>
          </p:cNvPicPr>
          <p:nvPr/>
        </p:nvPicPr>
        <p:blipFill>
          <a:blip r:embed="rId1"/>
          <a:stretch>
            <a:fillRect/>
          </a:stretch>
        </p:blipFill>
        <p:spPr>
          <a:xfrm>
            <a:off x="10149840" y="4983480"/>
            <a:ext cx="1371600" cy="118872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Run it: A histogram of sale values</a:t>
            </a:r>
            <a:endParaRPr lang="en-US" sz="3800" dirty="0"/>
          </a:p>
        </p:txBody>
      </p:sp>
      <p:pic>
        <p:nvPicPr>
          <p:cNvPr id="3" name="Image 0" descr="The chart the code draws">    </p:cNvPr>
          <p:cNvPicPr>
            <a:picLocks noChangeAspect="1"/>
          </p:cNvPicPr>
          <p:nvPr/>
        </p:nvPicPr>
        <p:blipFill>
          <a:blip r:embed="rId1"/>
          <a:stretch>
            <a:fillRect/>
          </a:stretch>
        </p:blipFill>
        <p:spPr>
          <a:xfrm>
            <a:off x="640080" y="2032069"/>
            <a:ext cx="6035040" cy="3662543"/>
          </a:xfrm>
          <a:prstGeom prst="rect">
            <a:avLst/>
          </a:prstGeom>
        </p:spPr>
      </p:pic>
      <p:sp>
        <p:nvSpPr>
          <p:cNvPr id="4" name="Text 1"/>
          <p:cNvSpPr txBox="1"/>
          <p:nvPr/>
        </p:nvSpPr>
        <p:spPr>
          <a:xfrm>
            <a:off x="7040880" y="1737360"/>
            <a:ext cx="4480560" cy="4389120"/>
          </a:xfrm>
          <a:prstGeom prst="rect">
            <a:avLst/>
          </a:prstGeom>
          <a:noFill/>
          <a:ln/>
        </p:spPr>
        <p:txBody>
          <a:bodyPr wrap="square" lIns="0" tIns="0" rIns="0" bIns="0" rtlCol="0" anchor="t"/>
          <a:lstStyle/>
          <a:p>
            <a:pPr algn="l" indent="0" marL="0">
              <a:lnSpc>
                <a:spcPts val="3120"/>
              </a:lnSpc>
              <a:spcAft>
                <a:spcPts val="1580"/>
              </a:spcAft>
              <a:buNone/>
            </a:pPr>
            <a:r>
              <a:rPr lang="en-US" sz="2600" dirty="0">
                <a:solidFill>
                  <a:srgbClr val="111111"/>
                </a:solidFill>
                <a:latin typeface="Lato" pitchFamily="34" charset="0"/>
                <a:ea typeface="Lato" pitchFamily="34" charset="-122"/>
                <a:cs typeface="Lato" pitchFamily="34" charset="-120"/>
              </a:rPr>
              <a:t>The histogram is bunched at the low end with a long tail to the right.</a:t>
            </a:r>
            <a:endParaRPr lang="en-US" sz="2600" dirty="0"/>
          </a:p>
          <a:p>
            <a:pPr algn="l" indent="0" marL="0">
              <a:lnSpc>
                <a:spcPts val="3120"/>
              </a:lnSpc>
              <a:spcAft>
                <a:spcPts val="1580"/>
              </a:spcAft>
              <a:buNone/>
            </a:pPr>
            <a:r>
              <a:rPr lang="en-US" sz="2600" dirty="0">
                <a:solidFill>
                  <a:srgbClr val="111111"/>
                </a:solidFill>
                <a:latin typeface="Lato" pitchFamily="34" charset="0"/>
                <a:ea typeface="Lato" pitchFamily="34" charset="-122"/>
                <a:cs typeface="Lato" pitchFamily="34" charset="-120"/>
              </a:rPr>
              <a:t>The skew is 7.3.</a:t>
            </a:r>
            <a:endParaRPr lang="en-US" sz="2600" dirty="0"/>
          </a:p>
          <a:p>
            <a:pPr algn="l" indent="0" marL="0">
              <a:lnSpc>
                <a:spcPts val="3120"/>
              </a:lnSpc>
              <a:spcAft>
                <a:spcPts val="1580"/>
              </a:spcAft>
              <a:buNone/>
            </a:pPr>
            <a:r>
              <a:rPr lang="en-US" sz="2600" dirty="0">
                <a:solidFill>
                  <a:srgbClr val="111111"/>
                </a:solidFill>
                <a:latin typeface="Lato" pitchFamily="34" charset="0"/>
                <a:ea typeface="Lato" pitchFamily="34" charset="-122"/>
                <a:cs typeface="Lato" pitchFamily="34" charset="-120"/>
              </a:rPr>
              <a:t>A positive skew above 1 means a long right tail.</a:t>
            </a:r>
            <a:endParaRPr lang="en-US" sz="2600" dirty="0"/>
          </a:p>
          <a:p>
            <a:pPr algn="l" indent="0" marL="0">
              <a:lnSpc>
                <a:spcPts val="3120"/>
              </a:lnSpc>
              <a:spcAft>
                <a:spcPts val="1580"/>
              </a:spcAft>
              <a:buNone/>
            </a:pPr>
            <a:r>
              <a:rPr lang="en-US" sz="2600" dirty="0">
                <a:solidFill>
                  <a:srgbClr val="111111"/>
                </a:solidFill>
                <a:latin typeface="Lato" pitchFamily="34" charset="0"/>
                <a:ea typeface="Lato" pitchFamily="34" charset="-122"/>
                <a:cs typeface="Lato" pitchFamily="34" charset="-120"/>
              </a:rPr>
              <a:t>Most sales are small and a few are large.</a:t>
            </a:r>
            <a:endParaRPr lang="en-US" sz="26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Investigate: A histogram of sale values</a:t>
            </a:r>
            <a:endParaRPr lang="en-US" sz="3800" dirty="0"/>
          </a:p>
        </p:txBody>
      </p:sp>
      <p:pic>
        <p:nvPicPr>
          <p:cNvPr id="3" name="Image 0" descr="Look closely">    </p:cNvPr>
          <p:cNvPicPr>
            <a:picLocks noChangeAspect="1"/>
          </p:cNvPicPr>
          <p:nvPr/>
        </p:nvPicPr>
        <p:blipFill>
          <a:blip r:embed="rId1"/>
          <a:stretch>
            <a:fillRect/>
          </a:stretch>
        </p:blipFill>
        <p:spPr>
          <a:xfrm>
            <a:off x="9875520" y="4480560"/>
            <a:ext cx="1645920" cy="1645920"/>
          </a:xfrm>
          <a:prstGeom prst="rect">
            <a:avLst/>
          </a:prstGeom>
        </p:spPr>
      </p:pic>
      <p:sp>
        <p:nvSpPr>
          <p:cNvPr id="4" name="Text 1"/>
          <p:cNvSpPr txBox="1"/>
          <p:nvPr/>
        </p:nvSpPr>
        <p:spPr>
          <a:xfrm>
            <a:off x="640080" y="1737360"/>
            <a:ext cx="8961120" cy="4389120"/>
          </a:xfrm>
          <a:prstGeom prst="rect">
            <a:avLst/>
          </a:prstGeom>
          <a:noFill/>
          <a:ln/>
        </p:spPr>
        <p:txBody>
          <a:bodyPr wrap="square" lIns="0" tIns="0" rIns="0" bIns="0" rtlCol="0" anchor="t"/>
          <a:lstStyle/>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1.  What does the long right tail mean for the mean and the median?</a:t>
            </a:r>
            <a:endParaRPr lang="en-US" sz="3600" dirty="0"/>
          </a:p>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2.  What does exploratory analysis do that a single total does not?</a:t>
            </a:r>
            <a:endParaRPr lang="en-US" sz="36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Modify: change one thing</a:t>
            </a:r>
            <a:endParaRPr lang="en-US" sz="3800" dirty="0"/>
          </a:p>
        </p:txBody>
      </p:sp>
      <p:sp>
        <p:nvSpPr>
          <p:cNvPr id="3" name="Text 1"/>
          <p:cNvSpPr txBox="1"/>
          <p:nvPr/>
        </p:nvSpPr>
        <p:spPr>
          <a:xfrm>
            <a:off x="640080" y="1737360"/>
            <a:ext cx="6035040" cy="4206240"/>
          </a:xfrm>
          <a:prstGeom prst="rect">
            <a:avLst/>
          </a:prstGeom>
          <a:noFill/>
          <a:ln/>
        </p:spPr>
        <p:txBody>
          <a:bodyPr wrap="square" lIns="0" tIns="0" rIns="0" bIns="0" rtlCol="0" anchor="t"/>
          <a:lstStyle/>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Draw the histogram again with bins=60 and say what changes.</a:t>
            </a:r>
            <a:endParaRPr lang="en-US" sz="3600" dirty="0"/>
          </a:p>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Then tell your neighbour what changed and how you know.</a:t>
            </a:r>
            <a:endParaRPr lang="en-US" sz="3600" dirty="0"/>
          </a:p>
        </p:txBody>
      </p:sp>
      <p:pic>
        <p:nvPicPr>
          <p:cNvPr id="4" name="Image 0" descr="Change one thing">    </p:cNvPr>
          <p:cNvPicPr>
            <a:picLocks noChangeAspect="1"/>
          </p:cNvPicPr>
          <p:nvPr/>
        </p:nvPicPr>
        <p:blipFill>
          <a:blip r:embed="rId1"/>
          <a:stretch>
            <a:fillRect/>
          </a:stretch>
        </p:blipFill>
        <p:spPr>
          <a:xfrm>
            <a:off x="9418320" y="2103120"/>
            <a:ext cx="1828800" cy="182880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1" type="title" hasCustomPrompt="1"/>
          </p:nvPr>
        </p:nvSpPr>
        <p:spPr>
          <a:xfrm>
            <a:off x="640080" y="2103120"/>
            <a:ext cx="10607040" cy="2286000"/>
          </a:xfrm>
          <a:prstGeom prst="rect">
            <a:avLst/>
          </a:prstGeom>
          <a:noFill/>
          <a:ln/>
        </p:spPr>
        <p:txBody>
          <a:bodyPr wrap="square" lIns="0" tIns="0" rIns="0" bIns="0" rtlCol="0" anchor="t"/>
          <a:lstStyle/>
          <a:p>
            <a:pPr algn="l" indent="0" marL="0">
              <a:buNone/>
            </a:pPr>
            <a:r>
              <a:rPr lang="en-US" sz="5400" b="1" dirty="0">
                <a:solidFill>
                  <a:srgbClr val="FFFFFF"/>
                </a:solidFill>
                <a:latin typeface="Lato" pitchFamily="34" charset="0"/>
                <a:ea typeface="Lato" pitchFamily="34" charset="-122"/>
                <a:cs typeface="Lato" pitchFamily="34" charset="-120"/>
              </a:rPr>
              <a:t>Break</a:t>
            </a:r>
            <a:endParaRPr lang="en-US" sz="5400" dirty="0"/>
          </a:p>
        </p:txBody>
      </p:sp>
      <p:sp>
        <p:nvSpPr>
          <p:cNvPr id="3" name="Text 1"/>
          <p:cNvSpPr txBox="1"/>
          <p:nvPr/>
        </p:nvSpPr>
        <p:spPr>
          <a:xfrm>
            <a:off x="640080" y="3154680"/>
            <a:ext cx="6858000" cy="914400"/>
          </a:xfrm>
          <a:prstGeom prst="rect">
            <a:avLst/>
          </a:prstGeom>
          <a:noFill/>
          <a:ln/>
        </p:spPr>
        <p:txBody>
          <a:bodyPr wrap="square" lIns="0" tIns="0" rIns="0" bIns="0" rtlCol="0" anchor="t"/>
          <a:lstStyle/>
          <a:p>
            <a:pPr algn="l" indent="0" marL="0">
              <a:lnSpc>
                <a:spcPts val="4080"/>
              </a:lnSpc>
              <a:buNone/>
            </a:pPr>
            <a:r>
              <a:rPr lang="en-US" sz="3400" b="1" dirty="0">
                <a:solidFill>
                  <a:srgbClr val="FFFFFF"/>
                </a:solidFill>
                <a:latin typeface="Lato" pitchFamily="34" charset="0"/>
                <a:ea typeface="Lato" pitchFamily="34" charset="-122"/>
                <a:cs typeface="Lato" pitchFamily="34" charset="-120"/>
              </a:rPr>
              <a:t>15 minutes away from your screen</a:t>
            </a:r>
            <a:endParaRPr lang="en-US" sz="3400" dirty="0"/>
          </a:p>
        </p:txBody>
      </p:sp>
      <p:sp>
        <p:nvSpPr>
          <p:cNvPr id="4" name="Text 2"/>
          <p:cNvSpPr txBox="1"/>
          <p:nvPr/>
        </p:nvSpPr>
        <p:spPr>
          <a:xfrm>
            <a:off x="640080" y="4206240"/>
            <a:ext cx="6400800" cy="1463040"/>
          </a:xfrm>
          <a:prstGeom prst="rect">
            <a:avLst/>
          </a:prstGeom>
          <a:noFill/>
          <a:ln/>
        </p:spPr>
        <p:txBody>
          <a:bodyPr wrap="square" lIns="0" tIns="0" rIns="0" bIns="0" rtlCol="0" anchor="t"/>
          <a:lstStyle/>
          <a:p>
            <a:pPr algn="l" indent="0" marL="0">
              <a:lnSpc>
                <a:spcPts val="3000"/>
              </a:lnSpc>
              <a:buNone/>
            </a:pPr>
            <a:r>
              <a:rPr lang="en-US" sz="2400" dirty="0">
                <a:solidFill>
                  <a:srgbClr val="D8D8D8"/>
                </a:solidFill>
                <a:latin typeface="Lato" pitchFamily="34" charset="0"/>
                <a:ea typeface="Lato" pitchFamily="34" charset="-122"/>
                <a:cs typeface="Lato" pitchFamily="34" charset="-120"/>
              </a:rPr>
              <a:t>Stand up. Drink some water. Tell someone what you guessed in the first half.</a:t>
            </a:r>
            <a:endParaRPr lang="en-US" sz="2400" dirty="0"/>
          </a:p>
        </p:txBody>
      </p:sp>
      <p:pic>
        <p:nvPicPr>
          <p:cNvPr id="5" name="Image 0" descr="A clock">    </p:cNvPr>
          <p:cNvPicPr>
            <a:picLocks noChangeAspect="1"/>
          </p:cNvPicPr>
          <p:nvPr/>
        </p:nvPicPr>
        <p:blipFill>
          <a:blip r:embed="rId1"/>
          <a:stretch>
            <a:fillRect/>
          </a:stretch>
        </p:blipFill>
        <p:spPr>
          <a:xfrm>
            <a:off x="8321040" y="2743200"/>
            <a:ext cx="2926080" cy="292608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600" b="1" dirty="0">
                <a:solidFill>
                  <a:srgbClr val="111111"/>
                </a:solidFill>
                <a:latin typeface="Lato" pitchFamily="34" charset="0"/>
                <a:ea typeface="Lato" pitchFamily="34" charset="-122"/>
                <a:cs typeface="Lato" pitchFamily="34" charset="-120"/>
              </a:rPr>
              <a:t>A box plot packs the median</a:t>
            </a:r>
            <a:endParaRPr lang="en-US" sz="3600" dirty="0"/>
          </a:p>
          <a:p>
            <a:pPr algn="l" indent="0" marL="0">
              <a:buNone/>
            </a:pPr>
            <a:r>
              <a:rPr lang="en-US" sz="3600" b="1" dirty="0">
                <a:solidFill>
                  <a:srgbClr val="111111"/>
                </a:solidFill>
                <a:latin typeface="Lato" pitchFamily="34" charset="0"/>
                <a:ea typeface="Lato" pitchFamily="34" charset="-122"/>
                <a:cs typeface="Lato" pitchFamily="34" charset="-120"/>
              </a:rPr>
              <a:t>and quartiles into a box</a:t>
            </a:r>
            <a:endParaRPr lang="en-US" sz="3600" dirty="0"/>
          </a:p>
        </p:txBody>
      </p:sp>
      <p:pic>
        <p:nvPicPr>
          <p:cNvPr id="3" name="Image 0" descr="A box plot packs the median and quartiles into a box">    </p:cNvPr>
          <p:cNvPicPr>
            <a:picLocks noChangeAspect="1"/>
          </p:cNvPicPr>
          <p:nvPr/>
        </p:nvPicPr>
        <p:blipFill>
          <a:blip r:embed="rId1"/>
          <a:stretch>
            <a:fillRect/>
          </a:stretch>
        </p:blipFill>
        <p:spPr>
          <a:xfrm>
            <a:off x="1178560" y="1600200"/>
            <a:ext cx="596392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The box holds the middle half of the values.</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The line inside the box is the median.</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Dots beyond the whiskers are outliers.</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Box plots put the three shops side by side</a:t>
            </a:r>
            <a:endParaRPr lang="en-US" sz="3800" dirty="0"/>
          </a:p>
        </p:txBody>
      </p:sp>
      <p:pic>
        <p:nvPicPr>
          <p:cNvPr id="3" name="Image 0" descr="Box plots put the three shops side by side">    </p:cNvPr>
          <p:cNvPicPr>
            <a:picLocks noChangeAspect="1"/>
          </p:cNvPicPr>
          <p:nvPr/>
        </p:nvPicPr>
        <p:blipFill>
          <a:blip r:embed="rId1"/>
          <a:stretch>
            <a:fillRect/>
          </a:stretch>
        </p:blipFill>
        <p:spPr>
          <a:xfrm>
            <a:off x="843747" y="1554480"/>
            <a:ext cx="10474027" cy="4069080"/>
          </a:xfrm>
          <a:prstGeom prst="rect">
            <a:avLst/>
          </a:prstGeom>
        </p:spPr>
      </p:pic>
      <p:sp>
        <p:nvSpPr>
          <p:cNvPr id="4" name="Text 1"/>
          <p:cNvSpPr txBox="1"/>
          <p:nvPr/>
        </p:nvSpPr>
        <p:spPr>
          <a:xfrm>
            <a:off x="640080" y="5669280"/>
            <a:ext cx="10881360" cy="640080"/>
          </a:xfrm>
          <a:prstGeom prst="rect">
            <a:avLst/>
          </a:prstGeom>
          <a:noFill/>
          <a:ln/>
        </p:spPr>
        <p:txBody>
          <a:bodyPr wrap="square" lIns="0" tIns="0" rIns="0" bIns="0" rtlCol="0" anchor="t"/>
          <a:lstStyle/>
          <a:p>
            <a:pPr algn="l" indent="0" marL="0">
              <a:lnSpc>
                <a:spcPts val="2640"/>
              </a:lnSpc>
              <a:buNone/>
            </a:pPr>
            <a:r>
              <a:rPr lang="en-US" sz="2200" dirty="0">
                <a:solidFill>
                  <a:srgbClr val="333333"/>
                </a:solidFill>
                <a:latin typeface="Lato" pitchFamily="34" charset="0"/>
                <a:ea typeface="Lato" pitchFamily="34" charset="-122"/>
                <a:cs typeface="Lato" pitchFamily="34" charset="-120"/>
              </a:rPr>
              <a:t>One box for each shop makes the comparison in one glance.</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Predict: A box plot for each shop</a:t>
            </a:r>
            <a:endParaRPr lang="en-US" sz="3800" dirty="0"/>
          </a:p>
        </p:txBody>
      </p:sp>
      <p:sp>
        <p:nvSpPr>
          <p:cNvPr id="3" name="Shape 1"/>
          <p:cNvSpPr/>
          <p:nvPr/>
        </p:nvSpPr>
        <p:spPr>
          <a:xfrm>
            <a:off x="640080" y="1645920"/>
            <a:ext cx="10881360" cy="2255012"/>
          </a:xfrm>
          <a:prstGeom prst="roundRect">
            <a:avLst>
              <a:gd name="adj" fmla="val 3244"/>
            </a:avLst>
          </a:prstGeom>
          <a:solidFill>
            <a:srgbClr val="111111"/>
          </a:solidFill>
          <a:ln/>
        </p:spPr>
      </p:sp>
      <p:sp>
        <p:nvSpPr>
          <p:cNvPr id="4" name="Text 2"/>
          <p:cNvSpPr txBox="1"/>
          <p:nvPr/>
        </p:nvSpPr>
        <p:spPr>
          <a:xfrm>
            <a:off x="841248" y="1847088"/>
            <a:ext cx="10479024" cy="1852676"/>
          </a:xfrm>
          <a:prstGeom prst="rect">
            <a:avLst/>
          </a:prstGeom>
          <a:noFill/>
          <a:ln/>
        </p:spPr>
        <p:txBody>
          <a:bodyPr wrap="square" lIns="0" tIns="0" rIns="0" bIns="0" rtlCol="0" anchor="t"/>
          <a:lstStyle/>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sns.boxplot(data=sunrise, x=</a:t>
            </a:r>
            <a:pPr algn="l" indent="0" marL="0">
              <a:lnSpc>
                <a:spcPts val="2860"/>
              </a:lnSpc>
              <a:buNone/>
            </a:pPr>
            <a:r>
              <a:rPr lang="en-US" sz="2200" dirty="0">
                <a:solidFill>
                  <a:srgbClr val="E0BE36"/>
                </a:solidFill>
                <a:latin typeface="Courier New" pitchFamily="34" charset="0"/>
                <a:ea typeface="Courier New" pitchFamily="34" charset="-122"/>
                <a:cs typeface="Courier New" pitchFamily="34" charset="-120"/>
              </a:rPr>
              <a:t>"branch"</a:t>
            </a:r>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 y=</a:t>
            </a:r>
            <a:pPr algn="l" indent="0" marL="0">
              <a:lnSpc>
                <a:spcPts val="2860"/>
              </a:lnSpc>
              <a:buNone/>
            </a:pPr>
            <a:r>
              <a:rPr lang="en-US" sz="2200" dirty="0">
                <a:solidFill>
                  <a:srgbClr val="E0BE36"/>
                </a:solidFill>
                <a:latin typeface="Courier New" pitchFamily="34" charset="0"/>
                <a:ea typeface="Courier New" pitchFamily="34" charset="-122"/>
                <a:cs typeface="Courier New" pitchFamily="34" charset="-120"/>
              </a:rPr>
              <a:t>"line_value"</a:t>
            </a:r>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plt.ylabel(</a:t>
            </a:r>
            <a:pPr algn="l" indent="0" marL="0">
              <a:lnSpc>
                <a:spcPts val="2860"/>
              </a:lnSpc>
              <a:buNone/>
            </a:pPr>
            <a:r>
              <a:rPr lang="en-US" sz="2200" dirty="0">
                <a:solidFill>
                  <a:srgbClr val="E0BE36"/>
                </a:solidFill>
                <a:latin typeface="Courier New" pitchFamily="34" charset="0"/>
                <a:ea typeface="Courier New" pitchFamily="34" charset="-122"/>
                <a:cs typeface="Courier New" pitchFamily="34" charset="-120"/>
              </a:rPr>
              <a:t>"Value of one sale (UGX)"</a:t>
            </a:r>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plt.show()</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medians = sunrise.groupby(</a:t>
            </a:r>
            <a:pPr algn="l" indent="0" marL="0">
              <a:lnSpc>
                <a:spcPts val="2860"/>
              </a:lnSpc>
              <a:buNone/>
            </a:pPr>
            <a:r>
              <a:rPr lang="en-US" sz="2200" dirty="0">
                <a:solidFill>
                  <a:srgbClr val="E0BE36"/>
                </a:solidFill>
                <a:latin typeface="Courier New" pitchFamily="34" charset="0"/>
                <a:ea typeface="Courier New" pitchFamily="34" charset="-122"/>
                <a:cs typeface="Courier New" pitchFamily="34" charset="-120"/>
              </a:rPr>
              <a:t>"branch"</a:t>
            </a:r>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a:t>
            </a:r>
            <a:pPr algn="l" indent="0" marL="0">
              <a:lnSpc>
                <a:spcPts val="2860"/>
              </a:lnSpc>
              <a:buNone/>
            </a:pPr>
            <a:r>
              <a:rPr lang="en-US" sz="2200" dirty="0">
                <a:solidFill>
                  <a:srgbClr val="E0BE36"/>
                </a:solidFill>
                <a:latin typeface="Courier New" pitchFamily="34" charset="0"/>
                <a:ea typeface="Courier New" pitchFamily="34" charset="-122"/>
                <a:cs typeface="Courier New" pitchFamily="34" charset="-120"/>
              </a:rPr>
              <a:t>"line_value"</a:t>
            </a:r>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].median()</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print(medians)</a:t>
            </a:r>
            <a:endParaRPr lang="en-US" sz="2200" dirty="0"/>
          </a:p>
        </p:txBody>
      </p:sp>
      <p:sp>
        <p:nvSpPr>
          <p:cNvPr id="5" name="Text 3"/>
          <p:cNvSpPr txBox="1"/>
          <p:nvPr/>
        </p:nvSpPr>
        <p:spPr>
          <a:xfrm>
            <a:off x="640080" y="4083812"/>
            <a:ext cx="8046720" cy="2179828"/>
          </a:xfrm>
          <a:prstGeom prst="rect">
            <a:avLst/>
          </a:prstGeom>
          <a:noFill/>
          <a:ln/>
        </p:spPr>
        <p:txBody>
          <a:bodyPr wrap="square" lIns="0" tIns="0" rIns="0" bIns="0" rtlCol="0" anchor="t"/>
          <a:lstStyle/>
          <a:p>
            <a:pPr algn="l" indent="0" marL="0">
              <a:lnSpc>
                <a:spcPts val="3120"/>
              </a:lnSpc>
              <a:spcAft>
                <a:spcPts val="1010"/>
              </a:spcAft>
              <a:buNone/>
            </a:pPr>
            <a:r>
              <a:rPr lang="en-US" sz="2600" dirty="0">
                <a:solidFill>
                  <a:srgbClr val="111111"/>
                </a:solidFill>
                <a:latin typeface="Lato" pitchFamily="34" charset="0"/>
                <a:ea typeface="Lato" pitchFamily="34" charset="-122"/>
                <a:cs typeface="Lato" pitchFamily="34" charset="-120"/>
              </a:rPr>
              <a:t>Predict which shop has the highest median sale.</a:t>
            </a:r>
            <a:endParaRPr lang="en-US" sz="2600" dirty="0"/>
          </a:p>
          <a:p>
            <a:pPr algn="l" indent="0" marL="0">
              <a:lnSpc>
                <a:spcPts val="3120"/>
              </a:lnSpc>
              <a:spcAft>
                <a:spcPts val="1010"/>
              </a:spcAft>
              <a:buNone/>
            </a:pPr>
            <a:r>
              <a:rPr lang="en-US" sz="2600" dirty="0">
                <a:solidFill>
                  <a:srgbClr val="111111"/>
                </a:solidFill>
                <a:latin typeface="Lato" pitchFamily="34" charset="0"/>
                <a:ea typeface="Lato" pitchFamily="34" charset="-122"/>
                <a:cs typeface="Lato" pitchFamily="34" charset="-120"/>
              </a:rPr>
              <a:t>Write your guess on paper before we run it.</a:t>
            </a:r>
            <a:endParaRPr lang="en-US" sz="2600" dirty="0"/>
          </a:p>
        </p:txBody>
      </p:sp>
      <p:pic>
        <p:nvPicPr>
          <p:cNvPr id="6" name="Image 0" descr="A page and a pen">    </p:cNvPr>
          <p:cNvPicPr>
            <a:picLocks noChangeAspect="1"/>
          </p:cNvPicPr>
          <p:nvPr/>
        </p:nvPicPr>
        <p:blipFill>
          <a:blip r:embed="rId1"/>
          <a:stretch>
            <a:fillRect/>
          </a:stretch>
        </p:blipFill>
        <p:spPr>
          <a:xfrm>
            <a:off x="10241280" y="5031486"/>
            <a:ext cx="1188720" cy="1046988"/>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Run it: A box plot for each shop</a:t>
            </a:r>
            <a:endParaRPr lang="en-US" sz="3800" dirty="0"/>
          </a:p>
        </p:txBody>
      </p:sp>
      <p:pic>
        <p:nvPicPr>
          <p:cNvPr id="3" name="Image 0" descr="The chart the code draws">    </p:cNvPr>
          <p:cNvPicPr>
            <a:picLocks noChangeAspect="1"/>
          </p:cNvPicPr>
          <p:nvPr/>
        </p:nvPicPr>
        <p:blipFill>
          <a:blip r:embed="rId1"/>
          <a:stretch>
            <a:fillRect/>
          </a:stretch>
        </p:blipFill>
        <p:spPr>
          <a:xfrm>
            <a:off x="640080" y="2105100"/>
            <a:ext cx="6035040" cy="3516480"/>
          </a:xfrm>
          <a:prstGeom prst="rect">
            <a:avLst/>
          </a:prstGeom>
        </p:spPr>
      </p:pic>
      <p:sp>
        <p:nvSpPr>
          <p:cNvPr id="4" name="Text 1"/>
          <p:cNvSpPr txBox="1"/>
          <p:nvPr/>
        </p:nvSpPr>
        <p:spPr>
          <a:xfrm>
            <a:off x="7040880" y="1737360"/>
            <a:ext cx="4480560" cy="4389120"/>
          </a:xfrm>
          <a:prstGeom prst="rect">
            <a:avLst/>
          </a:prstGeom>
          <a:noFill/>
          <a:ln/>
        </p:spPr>
        <p:txBody>
          <a:bodyPr wrap="square" lIns="0" tIns="0" rIns="0" bIns="0" rtlCol="0" anchor="t"/>
          <a:lstStyle/>
          <a:p>
            <a:pPr algn="l" indent="0" marL="0">
              <a:lnSpc>
                <a:spcPts val="3120"/>
              </a:lnSpc>
              <a:spcAft>
                <a:spcPts val="1580"/>
              </a:spcAft>
              <a:buNone/>
            </a:pPr>
            <a:r>
              <a:rPr lang="en-US" sz="2600" dirty="0">
                <a:solidFill>
                  <a:srgbClr val="111111"/>
                </a:solidFill>
                <a:latin typeface="Lato" pitchFamily="34" charset="0"/>
                <a:ea typeface="Lato" pitchFamily="34" charset="-122"/>
                <a:cs typeface="Lato" pitchFamily="34" charset="-120"/>
              </a:rPr>
              <a:t>The medians are 2500 at Central Market, 2000 at Campus Gate and 2500 at Roadside.</a:t>
            </a:r>
            <a:endParaRPr lang="en-US" sz="2600" dirty="0"/>
          </a:p>
          <a:p>
            <a:pPr algn="l" indent="0" marL="0">
              <a:lnSpc>
                <a:spcPts val="3120"/>
              </a:lnSpc>
              <a:spcAft>
                <a:spcPts val="1580"/>
              </a:spcAft>
              <a:buNone/>
            </a:pPr>
            <a:r>
              <a:rPr lang="en-US" sz="2600" dirty="0">
                <a:solidFill>
                  <a:srgbClr val="111111"/>
                </a:solidFill>
                <a:latin typeface="Lato" pitchFamily="34" charset="0"/>
                <a:ea typeface="Lato" pitchFamily="34" charset="-122"/>
                <a:cs typeface="Lato" pitchFamily="34" charset="-120"/>
              </a:rPr>
              <a:t>The boxes look alike and every shop has dots well above its whiskers: bulk sales happen in all three.</a:t>
            </a:r>
            <a:endParaRPr lang="en-US" sz="26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Investigate: A box plot for each shop</a:t>
            </a:r>
            <a:endParaRPr lang="en-US" sz="3800" dirty="0"/>
          </a:p>
        </p:txBody>
      </p:sp>
      <p:sp>
        <p:nvSpPr>
          <p:cNvPr id="3" name="Shape 1"/>
          <p:cNvSpPr/>
          <p:nvPr/>
        </p:nvSpPr>
        <p:spPr>
          <a:xfrm>
            <a:off x="7498080" y="1737360"/>
            <a:ext cx="4023360" cy="3410712"/>
          </a:xfrm>
          <a:prstGeom prst="roundRect">
            <a:avLst>
              <a:gd name="adj" fmla="val 2145"/>
            </a:avLst>
          </a:prstGeom>
          <a:solidFill>
            <a:srgbClr val="111111"/>
          </a:solidFill>
          <a:ln/>
        </p:spPr>
      </p:sp>
      <p:sp>
        <p:nvSpPr>
          <p:cNvPr id="4" name="Text 2"/>
          <p:cNvSpPr txBox="1"/>
          <p:nvPr/>
        </p:nvSpPr>
        <p:spPr>
          <a:xfrm>
            <a:off x="7699248" y="1938528"/>
            <a:ext cx="3621024" cy="3008376"/>
          </a:xfrm>
          <a:prstGeom prst="rect">
            <a:avLst/>
          </a:prstGeom>
          <a:noFill/>
          <a:ln/>
        </p:spPr>
        <p:txBody>
          <a:bodyPr wrap="square" lIns="0" tIns="0" rIns="0" bIns="0" rtlCol="0" anchor="t"/>
          <a:lstStyle/>
          <a:p>
            <a:pPr algn="l" indent="0" marL="0">
              <a:lnSpc>
                <a:spcPts val="1950"/>
              </a:lnSpc>
              <a:buNone/>
            </a:pPr>
            <a:r>
              <a:rPr lang="en-US" sz="1500" dirty="0">
                <a:solidFill>
                  <a:srgbClr val="FFFFFF"/>
                </a:solidFill>
                <a:latin typeface="Courier New" pitchFamily="34" charset="0"/>
                <a:ea typeface="Courier New" pitchFamily="34" charset="-122"/>
                <a:cs typeface="Courier New" pitchFamily="34" charset="-120"/>
              </a:rPr>
              <a:t>sns.boxplot(</a:t>
            </a:r>
            <a:endParaRPr lang="en-US" sz="1500" dirty="0"/>
          </a:p>
          <a:p>
            <a:pPr algn="l" indent="0" marL="0">
              <a:lnSpc>
                <a:spcPts val="1950"/>
              </a:lnSpc>
              <a:buNone/>
            </a:pPr>
            <a:r>
              <a:rPr lang="en-US" sz="1500" dirty="0">
                <a:solidFill>
                  <a:srgbClr val="FFFFFF"/>
                </a:solidFill>
                <a:latin typeface="Courier New" pitchFamily="34" charset="0"/>
                <a:ea typeface="Courier New" pitchFamily="34" charset="-122"/>
                <a:cs typeface="Courier New" pitchFamily="34" charset="-120"/>
              </a:rPr>
              <a:t>    data=sunrise, x=</a:t>
            </a:r>
            <a:pPr algn="l" indent="0" marL="0">
              <a:lnSpc>
                <a:spcPts val="1950"/>
              </a:lnSpc>
              <a:buNone/>
            </a:pPr>
            <a:r>
              <a:rPr lang="en-US" sz="1500" dirty="0">
                <a:solidFill>
                  <a:srgbClr val="E0BE36"/>
                </a:solidFill>
                <a:latin typeface="Courier New" pitchFamily="34" charset="0"/>
                <a:ea typeface="Courier New" pitchFamily="34" charset="-122"/>
                <a:cs typeface="Courier New" pitchFamily="34" charset="-120"/>
              </a:rPr>
              <a:t>"branch"</a:t>
            </a:r>
            <a:pPr algn="l" indent="0" marL="0">
              <a:lnSpc>
                <a:spcPts val="1950"/>
              </a:lnSpc>
              <a:buNone/>
            </a:pPr>
            <a:r>
              <a:rPr lang="en-US" sz="1500" dirty="0">
                <a:solidFill>
                  <a:srgbClr val="FFFFFF"/>
                </a:solidFill>
                <a:latin typeface="Courier New" pitchFamily="34" charset="0"/>
                <a:ea typeface="Courier New" pitchFamily="34" charset="-122"/>
                <a:cs typeface="Courier New" pitchFamily="34" charset="-120"/>
              </a:rPr>
              <a:t>,</a:t>
            </a:r>
            <a:endParaRPr lang="en-US" sz="1500" dirty="0"/>
          </a:p>
          <a:p>
            <a:pPr algn="l" indent="0" marL="0">
              <a:lnSpc>
                <a:spcPts val="1950"/>
              </a:lnSpc>
              <a:buNone/>
            </a:pPr>
            <a:r>
              <a:rPr lang="en-US" sz="1500" dirty="0">
                <a:solidFill>
                  <a:srgbClr val="FFFFFF"/>
                </a:solidFill>
                <a:latin typeface="Courier New" pitchFamily="34" charset="0"/>
                <a:ea typeface="Courier New" pitchFamily="34" charset="-122"/>
                <a:cs typeface="Courier New" pitchFamily="34" charset="-120"/>
              </a:rPr>
              <a:t>    y=</a:t>
            </a:r>
            <a:pPr algn="l" indent="0" marL="0">
              <a:lnSpc>
                <a:spcPts val="1950"/>
              </a:lnSpc>
              <a:buNone/>
            </a:pPr>
            <a:r>
              <a:rPr lang="en-US" sz="1500" dirty="0">
                <a:solidFill>
                  <a:srgbClr val="E0BE36"/>
                </a:solidFill>
                <a:latin typeface="Courier New" pitchFamily="34" charset="0"/>
                <a:ea typeface="Courier New" pitchFamily="34" charset="-122"/>
                <a:cs typeface="Courier New" pitchFamily="34" charset="-120"/>
              </a:rPr>
              <a:t>"line_value"</a:t>
            </a:r>
            <a:endParaRPr lang="en-US" sz="1500" dirty="0"/>
          </a:p>
          <a:p>
            <a:pPr algn="l" indent="0" marL="0">
              <a:lnSpc>
                <a:spcPts val="1950"/>
              </a:lnSpc>
              <a:buNone/>
            </a:pPr>
            <a:r>
              <a:rPr lang="en-US" sz="1500" dirty="0">
                <a:solidFill>
                  <a:srgbClr val="FFFFFF"/>
                </a:solidFill>
                <a:latin typeface="Courier New" pitchFamily="34" charset="0"/>
                <a:ea typeface="Courier New" pitchFamily="34" charset="-122"/>
                <a:cs typeface="Courier New" pitchFamily="34" charset="-120"/>
              </a:rPr>
              <a:t>)</a:t>
            </a:r>
            <a:endParaRPr lang="en-US" sz="1500" dirty="0"/>
          </a:p>
          <a:p>
            <a:pPr algn="l" indent="0" marL="0">
              <a:lnSpc>
                <a:spcPts val="1950"/>
              </a:lnSpc>
              <a:buNone/>
            </a:pPr>
            <a:r>
              <a:rPr lang="en-US" sz="1500" dirty="0">
                <a:solidFill>
                  <a:srgbClr val="FFFFFF"/>
                </a:solidFill>
                <a:latin typeface="Courier New" pitchFamily="34" charset="0"/>
                <a:ea typeface="Courier New" pitchFamily="34" charset="-122"/>
                <a:cs typeface="Courier New" pitchFamily="34" charset="-120"/>
              </a:rPr>
              <a:t>plt.ylabel(</a:t>
            </a:r>
            <a:endParaRPr lang="en-US" sz="1500" dirty="0"/>
          </a:p>
          <a:p>
            <a:pPr algn="l" indent="0" marL="0">
              <a:lnSpc>
                <a:spcPts val="1950"/>
              </a:lnSpc>
              <a:buNone/>
            </a:pPr>
            <a:r>
              <a:rPr lang="en-US" sz="1500" dirty="0">
                <a:solidFill>
                  <a:srgbClr val="FFFFFF"/>
                </a:solidFill>
                <a:latin typeface="Courier New" pitchFamily="34" charset="0"/>
                <a:ea typeface="Courier New" pitchFamily="34" charset="-122"/>
                <a:cs typeface="Courier New" pitchFamily="34" charset="-120"/>
              </a:rPr>
              <a:t>    </a:t>
            </a:r>
            <a:pPr algn="l" indent="0" marL="0">
              <a:lnSpc>
                <a:spcPts val="1950"/>
              </a:lnSpc>
              <a:buNone/>
            </a:pPr>
            <a:r>
              <a:rPr lang="en-US" sz="1500" dirty="0">
                <a:solidFill>
                  <a:srgbClr val="E0BE36"/>
                </a:solidFill>
                <a:latin typeface="Courier New" pitchFamily="34" charset="0"/>
                <a:ea typeface="Courier New" pitchFamily="34" charset="-122"/>
                <a:cs typeface="Courier New" pitchFamily="34" charset="-120"/>
              </a:rPr>
              <a:t>"Value of one sale (UGX)"</a:t>
            </a:r>
            <a:endParaRPr lang="en-US" sz="1500" dirty="0"/>
          </a:p>
          <a:p>
            <a:pPr algn="l" indent="0" marL="0">
              <a:lnSpc>
                <a:spcPts val="1950"/>
              </a:lnSpc>
              <a:buNone/>
            </a:pPr>
            <a:r>
              <a:rPr lang="en-US" sz="1500" dirty="0">
                <a:solidFill>
                  <a:srgbClr val="FFFFFF"/>
                </a:solidFill>
                <a:latin typeface="Courier New" pitchFamily="34" charset="0"/>
                <a:ea typeface="Courier New" pitchFamily="34" charset="-122"/>
                <a:cs typeface="Courier New" pitchFamily="34" charset="-120"/>
              </a:rPr>
              <a:t>)</a:t>
            </a:r>
            <a:endParaRPr lang="en-US" sz="1500" dirty="0"/>
          </a:p>
          <a:p>
            <a:pPr algn="l" indent="0" marL="0">
              <a:lnSpc>
                <a:spcPts val="1950"/>
              </a:lnSpc>
              <a:buNone/>
            </a:pPr>
            <a:r>
              <a:rPr lang="en-US" sz="1500" dirty="0">
                <a:solidFill>
                  <a:srgbClr val="FFFFFF"/>
                </a:solidFill>
                <a:latin typeface="Courier New" pitchFamily="34" charset="0"/>
                <a:ea typeface="Courier New" pitchFamily="34" charset="-122"/>
                <a:cs typeface="Courier New" pitchFamily="34" charset="-120"/>
              </a:rPr>
              <a:t>plt.show()</a:t>
            </a:r>
            <a:endParaRPr lang="en-US" sz="1500" dirty="0"/>
          </a:p>
          <a:p>
            <a:pPr algn="l" indent="0" marL="0">
              <a:lnSpc>
                <a:spcPts val="1950"/>
              </a:lnSpc>
              <a:buNone/>
            </a:pPr>
            <a:r>
              <a:rPr lang="en-US" sz="1500" dirty="0">
                <a:solidFill>
                  <a:srgbClr val="FFFFFF"/>
                </a:solidFill>
                <a:latin typeface="Courier New" pitchFamily="34" charset="0"/>
                <a:ea typeface="Courier New" pitchFamily="34" charset="-122"/>
                <a:cs typeface="Courier New" pitchFamily="34" charset="-120"/>
              </a:rPr>
              <a:t>medians = sunrise.groupby(</a:t>
            </a:r>
            <a:endParaRPr lang="en-US" sz="1500" dirty="0"/>
          </a:p>
          <a:p>
            <a:pPr algn="l" indent="0" marL="0">
              <a:lnSpc>
                <a:spcPts val="1950"/>
              </a:lnSpc>
              <a:buNone/>
            </a:pPr>
            <a:r>
              <a:rPr lang="en-US" sz="1500" dirty="0">
                <a:solidFill>
                  <a:srgbClr val="FFFFFF"/>
                </a:solidFill>
                <a:latin typeface="Courier New" pitchFamily="34" charset="0"/>
                <a:ea typeface="Courier New" pitchFamily="34" charset="-122"/>
                <a:cs typeface="Courier New" pitchFamily="34" charset="-120"/>
              </a:rPr>
              <a:t>    </a:t>
            </a:r>
            <a:pPr algn="l" indent="0" marL="0">
              <a:lnSpc>
                <a:spcPts val="1950"/>
              </a:lnSpc>
              <a:buNone/>
            </a:pPr>
            <a:r>
              <a:rPr lang="en-US" sz="1500" dirty="0">
                <a:solidFill>
                  <a:srgbClr val="E0BE36"/>
                </a:solidFill>
                <a:latin typeface="Courier New" pitchFamily="34" charset="0"/>
                <a:ea typeface="Courier New" pitchFamily="34" charset="-122"/>
                <a:cs typeface="Courier New" pitchFamily="34" charset="-120"/>
              </a:rPr>
              <a:t>"branch"</a:t>
            </a:r>
            <a:endParaRPr lang="en-US" sz="1500" dirty="0"/>
          </a:p>
          <a:p>
            <a:pPr algn="l" indent="0" marL="0">
              <a:lnSpc>
                <a:spcPts val="1950"/>
              </a:lnSpc>
              <a:buNone/>
            </a:pPr>
            <a:r>
              <a:rPr lang="en-US" sz="1500" dirty="0">
                <a:solidFill>
                  <a:srgbClr val="FFFFFF"/>
                </a:solidFill>
                <a:latin typeface="Courier New" pitchFamily="34" charset="0"/>
                <a:ea typeface="Courier New" pitchFamily="34" charset="-122"/>
                <a:cs typeface="Courier New" pitchFamily="34" charset="-120"/>
              </a:rPr>
              <a:t>)[</a:t>
            </a:r>
            <a:pPr algn="l" indent="0" marL="0">
              <a:lnSpc>
                <a:spcPts val="1950"/>
              </a:lnSpc>
              <a:buNone/>
            </a:pPr>
            <a:r>
              <a:rPr lang="en-US" sz="1500" dirty="0">
                <a:solidFill>
                  <a:srgbClr val="E0BE36"/>
                </a:solidFill>
                <a:latin typeface="Courier New" pitchFamily="34" charset="0"/>
                <a:ea typeface="Courier New" pitchFamily="34" charset="-122"/>
                <a:cs typeface="Courier New" pitchFamily="34" charset="-120"/>
              </a:rPr>
              <a:t>"line_value"</a:t>
            </a:r>
            <a:pPr algn="l" indent="0" marL="0">
              <a:lnSpc>
                <a:spcPts val="1950"/>
              </a:lnSpc>
              <a:buNone/>
            </a:pPr>
            <a:r>
              <a:rPr lang="en-US" sz="1500" dirty="0">
                <a:solidFill>
                  <a:srgbClr val="FFFFFF"/>
                </a:solidFill>
                <a:latin typeface="Courier New" pitchFamily="34" charset="0"/>
                <a:ea typeface="Courier New" pitchFamily="34" charset="-122"/>
                <a:cs typeface="Courier New" pitchFamily="34" charset="-120"/>
              </a:rPr>
              <a:t>].median()</a:t>
            </a:r>
            <a:endParaRPr lang="en-US" sz="1500" dirty="0"/>
          </a:p>
          <a:p>
            <a:pPr algn="l" indent="0" marL="0">
              <a:lnSpc>
                <a:spcPts val="1950"/>
              </a:lnSpc>
              <a:buNone/>
            </a:pPr>
            <a:r>
              <a:rPr lang="en-US" sz="1500" dirty="0">
                <a:solidFill>
                  <a:srgbClr val="FFFFFF"/>
                </a:solidFill>
                <a:latin typeface="Courier New" pitchFamily="34" charset="0"/>
                <a:ea typeface="Courier New" pitchFamily="34" charset="-122"/>
                <a:cs typeface="Courier New" pitchFamily="34" charset="-120"/>
              </a:rPr>
              <a:t>print(medians)</a:t>
            </a:r>
            <a:endParaRPr lang="en-US" sz="1500" dirty="0"/>
          </a:p>
        </p:txBody>
      </p:sp>
      <p:sp>
        <p:nvSpPr>
          <p:cNvPr id="5" name="Text 3"/>
          <p:cNvSpPr txBox="1"/>
          <p:nvPr/>
        </p:nvSpPr>
        <p:spPr>
          <a:xfrm>
            <a:off x="640080" y="1737360"/>
            <a:ext cx="6400800" cy="4389120"/>
          </a:xfrm>
          <a:prstGeom prst="rect">
            <a:avLst/>
          </a:prstGeom>
          <a:noFill/>
          <a:ln/>
        </p:spPr>
        <p:txBody>
          <a:bodyPr wrap="square" lIns="0" tIns="0" rIns="0" bIns="0" rtlCol="0" anchor="t"/>
          <a:lstStyle/>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1.  Do the shops differ much in typical sale value?</a:t>
            </a:r>
            <a:endParaRPr lang="en-US" sz="3600" dirty="0"/>
          </a:p>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2.  What do the dots above each box show?</a:t>
            </a:r>
            <a:endParaRPr lang="en-US" sz="36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Modify: change one thing</a:t>
            </a:r>
            <a:endParaRPr lang="en-US" sz="3800" dirty="0"/>
          </a:p>
        </p:txBody>
      </p:sp>
      <p:sp>
        <p:nvSpPr>
          <p:cNvPr id="3" name="Text 1"/>
          <p:cNvSpPr txBox="1"/>
          <p:nvPr/>
        </p:nvSpPr>
        <p:spPr>
          <a:xfrm>
            <a:off x="640080" y="1737360"/>
            <a:ext cx="6035040" cy="4206240"/>
          </a:xfrm>
          <a:prstGeom prst="rect">
            <a:avLst/>
          </a:prstGeom>
          <a:noFill/>
          <a:ln/>
        </p:spPr>
        <p:txBody>
          <a:bodyPr wrap="square" lIns="0" tIns="0" rIns="0" bIns="0" rtlCol="0" anchor="t"/>
          <a:lstStyle/>
          <a:p>
            <a:pPr algn="l" indent="0" marL="0">
              <a:lnSpc>
                <a:spcPts val="4080"/>
              </a:lnSpc>
              <a:spcAft>
                <a:spcPts val="3240"/>
              </a:spcAft>
              <a:buNone/>
            </a:pPr>
            <a:r>
              <a:rPr lang="en-US" sz="3400" dirty="0">
                <a:solidFill>
                  <a:srgbClr val="111111"/>
                </a:solidFill>
                <a:latin typeface="Lato" pitchFamily="34" charset="0"/>
                <a:ea typeface="Lato" pitchFamily="34" charset="-122"/>
                <a:cs typeface="Lato" pitchFamily="34" charset="-120"/>
              </a:rPr>
              <a:t>Use the box plot to compare the units column across shops. Print the median units for each shop.</a:t>
            </a:r>
            <a:endParaRPr lang="en-US" sz="3400" dirty="0"/>
          </a:p>
          <a:p>
            <a:pPr algn="l" indent="0" marL="0">
              <a:lnSpc>
                <a:spcPts val="4080"/>
              </a:lnSpc>
              <a:spcAft>
                <a:spcPts val="3240"/>
              </a:spcAft>
              <a:buNone/>
            </a:pPr>
            <a:r>
              <a:rPr lang="en-US" sz="3400" dirty="0">
                <a:solidFill>
                  <a:srgbClr val="111111"/>
                </a:solidFill>
                <a:latin typeface="Lato" pitchFamily="34" charset="0"/>
                <a:ea typeface="Lato" pitchFamily="34" charset="-122"/>
                <a:cs typeface="Lato" pitchFamily="34" charset="-120"/>
              </a:rPr>
              <a:t>Then tell your neighbour what changed and how you know.</a:t>
            </a:r>
            <a:endParaRPr lang="en-US" sz="3400" dirty="0"/>
          </a:p>
        </p:txBody>
      </p:sp>
      <p:pic>
        <p:nvPicPr>
          <p:cNvPr id="4" name="Image 0" descr="Change one thing">    </p:cNvPr>
          <p:cNvPicPr>
            <a:picLocks noChangeAspect="1"/>
          </p:cNvPicPr>
          <p:nvPr/>
        </p:nvPicPr>
        <p:blipFill>
          <a:blip r:embed="rId1"/>
          <a:stretch>
            <a:fillRect/>
          </a:stretch>
        </p:blipFill>
        <p:spPr>
          <a:xfrm>
            <a:off x="9418320" y="2103120"/>
            <a:ext cx="1828800" cy="182880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700" b="1" dirty="0">
                <a:solidFill>
                  <a:srgbClr val="111111"/>
                </a:solidFill>
                <a:latin typeface="Lato" pitchFamily="34" charset="0"/>
                <a:ea typeface="Lato" pitchFamily="34" charset="-122"/>
                <a:cs typeface="Lato" pitchFamily="34" charset="-120"/>
              </a:rPr>
              <a:t>Each shop median is a fair way to compare shops</a:t>
            </a:r>
            <a:endParaRPr lang="en-US" sz="3700" dirty="0"/>
          </a:p>
        </p:txBody>
      </p:sp>
      <p:pic>
        <p:nvPicPr>
          <p:cNvPr id="3" name="Image 0" descr="Each shop median is a fair way to compare shops">    </p:cNvPr>
          <p:cNvPicPr>
            <a:picLocks noChangeAspect="1"/>
          </p:cNvPicPr>
          <p:nvPr/>
        </p:nvPicPr>
        <p:blipFill>
          <a:blip r:embed="rId1"/>
          <a:stretch>
            <a:fillRect/>
          </a:stretch>
        </p:blipFill>
        <p:spPr>
          <a:xfrm>
            <a:off x="640080" y="1741057"/>
            <a:ext cx="7040880" cy="4244567"/>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Compute the median for each shop.</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Check it against the line in its box.</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Write the finding in one sentence.</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Make: your own version</a:t>
            </a:r>
            <a:endParaRPr lang="en-US" sz="3800" dirty="0"/>
          </a:p>
        </p:txBody>
      </p:sp>
      <p:sp>
        <p:nvSpPr>
          <p:cNvPr id="3" name="Text 1"/>
          <p:cNvSpPr txBox="1"/>
          <p:nvPr/>
        </p:nvSpPr>
        <p:spPr>
          <a:xfrm>
            <a:off x="640080" y="1737360"/>
            <a:ext cx="6949440" cy="4480560"/>
          </a:xfrm>
          <a:prstGeom prst="rect">
            <a:avLst/>
          </a:prstGeom>
          <a:noFill/>
          <a:ln/>
        </p:spPr>
        <p:txBody>
          <a:bodyPr wrap="square" lIns="0" tIns="0" rIns="0" bIns="0" rtlCol="0" anchor="t"/>
          <a:lstStyle/>
          <a:p>
            <a:pPr algn="l" indent="0" marL="0">
              <a:lnSpc>
                <a:spcPts val="3480"/>
              </a:lnSpc>
              <a:spcAft>
                <a:spcPts val="2520"/>
              </a:spcAft>
              <a:buNone/>
            </a:pPr>
            <a:r>
              <a:rPr lang="en-US" sz="2900" dirty="0">
                <a:solidFill>
                  <a:srgbClr val="111111"/>
                </a:solidFill>
                <a:latin typeface="Lato" pitchFamily="34" charset="0"/>
                <a:ea typeface="Lato" pitchFamily="34" charset="-122"/>
                <a:cs typeface="Lato" pitchFamily="34" charset="-120"/>
              </a:rPr>
              <a:t>Explore the daily customer counts. Draw a histogram of customers_counted and a box plot of customers_counted for each branch. Write the median for each branch and one finding in a sentence.</a:t>
            </a:r>
            <a:endParaRPr lang="en-US" sz="2900" dirty="0"/>
          </a:p>
          <a:p>
            <a:pPr algn="l" indent="0" marL="0">
              <a:lnSpc>
                <a:spcPts val="3480"/>
              </a:lnSpc>
              <a:spcAft>
                <a:spcPts val="2520"/>
              </a:spcAft>
              <a:buNone/>
            </a:pPr>
            <a:r>
              <a:rPr lang="en-US" sz="2900" dirty="0">
                <a:solidFill>
                  <a:srgbClr val="111111"/>
                </a:solidFill>
                <a:latin typeface="Lato" pitchFamily="34" charset="0"/>
                <a:ea typeface="Lato" pitchFamily="34" charset="-122"/>
                <a:cs typeface="Lato" pitchFamily="34" charset="-120"/>
              </a:rPr>
              <a:t>Save it as DA14. Write two sentences: what you changed and how you checked it.</a:t>
            </a:r>
            <a:endParaRPr lang="en-US" sz="2900" dirty="0"/>
          </a:p>
        </p:txBody>
      </p:sp>
      <p:pic>
        <p:nvPicPr>
          <p:cNvPr id="4" name="Image 0" descr="A notebook saved with a tick">    </p:cNvPr>
          <p:cNvPicPr>
            <a:picLocks noChangeAspect="1"/>
          </p:cNvPicPr>
          <p:nvPr/>
        </p:nvPicPr>
        <p:blipFill>
          <a:blip r:embed="rId1"/>
          <a:stretch>
            <a:fillRect/>
          </a:stretch>
        </p:blipFill>
        <p:spPr>
          <a:xfrm>
            <a:off x="8138160" y="1920240"/>
            <a:ext cx="3474720" cy="32918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Two errors you may meet today</a:t>
            </a:r>
            <a:endParaRPr lang="en-US" sz="3800" dirty="0"/>
          </a:p>
        </p:txBody>
      </p:sp>
      <p:pic>
        <p:nvPicPr>
          <p:cNvPr id="3" name="Image 0" descr="Error">    </p:cNvPr>
          <p:cNvPicPr>
            <a:picLocks noChangeAspect="1"/>
          </p:cNvPicPr>
          <p:nvPr/>
        </p:nvPicPr>
        <p:blipFill>
          <a:blip r:embed="rId1"/>
          <a:stretch>
            <a:fillRect/>
          </a:stretch>
        </p:blipFill>
        <p:spPr>
          <a:xfrm>
            <a:off x="640080" y="1691640"/>
            <a:ext cx="822960" cy="822960"/>
          </a:xfrm>
          <a:prstGeom prst="rect">
            <a:avLst/>
          </a:prstGeom>
        </p:spPr>
      </p:pic>
      <p:sp>
        <p:nvSpPr>
          <p:cNvPr id="4" name="Shape 1"/>
          <p:cNvSpPr/>
          <p:nvPr/>
        </p:nvSpPr>
        <p:spPr>
          <a:xfrm>
            <a:off x="1645920" y="1828800"/>
            <a:ext cx="4023360" cy="1645920"/>
          </a:xfrm>
          <a:prstGeom prst="roundRect">
            <a:avLst>
              <a:gd name="adj" fmla="val 3333"/>
            </a:avLst>
          </a:prstGeom>
          <a:solidFill>
            <a:srgbClr val="FFFFFF"/>
          </a:solidFill>
          <a:ln w="25400">
            <a:solidFill>
              <a:srgbClr val="AE2525"/>
            </a:solidFill>
            <a:prstDash val="solid"/>
          </a:ln>
        </p:spPr>
      </p:sp>
      <p:sp>
        <p:nvSpPr>
          <p:cNvPr id="5" name="Text 2"/>
          <p:cNvSpPr txBox="1"/>
          <p:nvPr/>
        </p:nvSpPr>
        <p:spPr>
          <a:xfrm>
            <a:off x="1783080" y="1920240"/>
            <a:ext cx="3749040" cy="1463040"/>
          </a:xfrm>
          <a:prstGeom prst="rect">
            <a:avLst/>
          </a:prstGeom>
          <a:noFill/>
          <a:ln/>
        </p:spPr>
        <p:txBody>
          <a:bodyPr wrap="square" lIns="0" tIns="0" rIns="0" bIns="0" rtlCol="0" anchor="ctr"/>
          <a:lstStyle/>
          <a:p>
            <a:pPr algn="l" indent="0" marL="0">
              <a:lnSpc>
                <a:spcPts val="2500"/>
              </a:lnSpc>
              <a:buNone/>
            </a:pPr>
            <a:r>
              <a:rPr lang="en-US" sz="2000" dirty="0">
                <a:solidFill>
                  <a:srgbClr val="AE2525"/>
                </a:solidFill>
                <a:latin typeface="Courier New" pitchFamily="34" charset="0"/>
                <a:ea typeface="Courier New" pitchFamily="34" charset="-122"/>
                <a:cs typeface="Courier New" pitchFamily="34" charset="-120"/>
              </a:rPr>
              <a:t>NameError: name 'sns' is not defined</a:t>
            </a:r>
            <a:endParaRPr lang="en-US" sz="2000" dirty="0"/>
          </a:p>
        </p:txBody>
      </p:sp>
      <p:sp>
        <p:nvSpPr>
          <p:cNvPr id="6" name="Text 3"/>
          <p:cNvSpPr txBox="1"/>
          <p:nvPr/>
        </p:nvSpPr>
        <p:spPr>
          <a:xfrm>
            <a:off x="6035040" y="1664208"/>
            <a:ext cx="5486400" cy="1965960"/>
          </a:xfrm>
          <a:prstGeom prst="rect">
            <a:avLst/>
          </a:prstGeom>
          <a:noFill/>
          <a:ln/>
        </p:spPr>
        <p:txBody>
          <a:bodyPr wrap="square" lIns="0" tIns="0" rIns="0" bIns="0" rtlCol="0" anchor="t"/>
          <a:lstStyle/>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It means: seaborn was not imported in this session.</a:t>
            </a:r>
            <a:endParaRPr lang="en-US" sz="2200" dirty="0"/>
          </a:p>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Fix: Run import seaborn as sns in the first cell, then run the chart cell.</a:t>
            </a:r>
            <a:endParaRPr lang="en-US" sz="2200" dirty="0"/>
          </a:p>
        </p:txBody>
      </p:sp>
      <p:sp>
        <p:nvSpPr>
          <p:cNvPr id="7" name="Shape 4"/>
          <p:cNvSpPr/>
          <p:nvPr/>
        </p:nvSpPr>
        <p:spPr>
          <a:xfrm>
            <a:off x="640080" y="3813048"/>
            <a:ext cx="10881360" cy="0"/>
          </a:xfrm>
          <a:prstGeom prst="line">
            <a:avLst/>
          </a:prstGeom>
          <a:noFill/>
          <a:ln w="12700">
            <a:solidFill>
              <a:srgbClr val="CFCFCF"/>
            </a:solidFill>
            <a:prstDash val="solid"/>
          </a:ln>
        </p:spPr>
      </p:sp>
      <p:pic>
        <p:nvPicPr>
          <p:cNvPr id="8" name="Image 1" descr="Error">    </p:cNvPr>
          <p:cNvPicPr>
            <a:picLocks noChangeAspect="1"/>
          </p:cNvPicPr>
          <p:nvPr/>
        </p:nvPicPr>
        <p:blipFill>
          <a:blip r:embed="rId2"/>
          <a:stretch>
            <a:fillRect/>
          </a:stretch>
        </p:blipFill>
        <p:spPr>
          <a:xfrm>
            <a:off x="640080" y="4023360"/>
            <a:ext cx="822960" cy="822960"/>
          </a:xfrm>
          <a:prstGeom prst="rect">
            <a:avLst/>
          </a:prstGeom>
        </p:spPr>
      </p:pic>
      <p:sp>
        <p:nvSpPr>
          <p:cNvPr id="9" name="Shape 5"/>
          <p:cNvSpPr/>
          <p:nvPr/>
        </p:nvSpPr>
        <p:spPr>
          <a:xfrm>
            <a:off x="1645920" y="4160520"/>
            <a:ext cx="4023360" cy="1645920"/>
          </a:xfrm>
          <a:prstGeom prst="roundRect">
            <a:avLst>
              <a:gd name="adj" fmla="val 3333"/>
            </a:avLst>
          </a:prstGeom>
          <a:solidFill>
            <a:srgbClr val="FFFFFF"/>
          </a:solidFill>
          <a:ln w="25400">
            <a:solidFill>
              <a:srgbClr val="AE2525"/>
            </a:solidFill>
            <a:prstDash val="solid"/>
          </a:ln>
        </p:spPr>
      </p:sp>
      <p:sp>
        <p:nvSpPr>
          <p:cNvPr id="10" name="Text 6"/>
          <p:cNvSpPr txBox="1"/>
          <p:nvPr/>
        </p:nvSpPr>
        <p:spPr>
          <a:xfrm>
            <a:off x="1783080" y="4251960"/>
            <a:ext cx="3749040" cy="1463040"/>
          </a:xfrm>
          <a:prstGeom prst="rect">
            <a:avLst/>
          </a:prstGeom>
          <a:noFill/>
          <a:ln/>
        </p:spPr>
        <p:txBody>
          <a:bodyPr wrap="square" lIns="0" tIns="0" rIns="0" bIns="0" rtlCol="0" anchor="ctr"/>
          <a:lstStyle/>
          <a:p>
            <a:pPr algn="l" indent="0" marL="0">
              <a:lnSpc>
                <a:spcPts val="2500"/>
              </a:lnSpc>
              <a:buNone/>
            </a:pPr>
            <a:r>
              <a:rPr lang="en-US" sz="2000" dirty="0">
                <a:solidFill>
                  <a:srgbClr val="AE2525"/>
                </a:solidFill>
                <a:latin typeface="Courier New" pitchFamily="34" charset="0"/>
                <a:ea typeface="Courier New" pitchFamily="34" charset="-122"/>
                <a:cs typeface="Courier New" pitchFamily="34" charset="-120"/>
              </a:rPr>
              <a:t>ValueError: Could not interpret value for x</a:t>
            </a:r>
            <a:endParaRPr lang="en-US" sz="2000" dirty="0"/>
          </a:p>
        </p:txBody>
      </p:sp>
      <p:sp>
        <p:nvSpPr>
          <p:cNvPr id="11" name="Text 7"/>
          <p:cNvSpPr txBox="1"/>
          <p:nvPr/>
        </p:nvSpPr>
        <p:spPr>
          <a:xfrm>
            <a:off x="6035040" y="3995928"/>
            <a:ext cx="5486400" cy="1965960"/>
          </a:xfrm>
          <a:prstGeom prst="rect">
            <a:avLst/>
          </a:prstGeom>
          <a:noFill/>
          <a:ln/>
        </p:spPr>
        <p:txBody>
          <a:bodyPr wrap="square" lIns="0" tIns="0" rIns="0" bIns="0" rtlCol="0" anchor="t"/>
          <a:lstStyle/>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It means: The column name in x= or y= is not in the DataFrame.</a:t>
            </a:r>
            <a:endParaRPr lang="en-US" sz="2200" dirty="0"/>
          </a:p>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Fix: Print list(daily.columns) and copy the exact name.</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Finish this sentence in your notebook</a:t>
            </a:r>
            <a:endParaRPr lang="en-US" sz="3800" dirty="0"/>
          </a:p>
        </p:txBody>
      </p:sp>
      <p:sp>
        <p:nvSpPr>
          <p:cNvPr id="3" name="Text 1"/>
          <p:cNvSpPr txBox="1"/>
          <p:nvPr/>
        </p:nvSpPr>
        <p:spPr>
          <a:xfrm>
            <a:off x="640080" y="1737360"/>
            <a:ext cx="6949440" cy="2926080"/>
          </a:xfrm>
          <a:prstGeom prst="rect">
            <a:avLst/>
          </a:prstGeom>
          <a:noFill/>
          <a:ln/>
        </p:spPr>
        <p:txBody>
          <a:bodyPr wrap="square" lIns="0" tIns="0" rIns="0" bIns="0" rtlCol="0" anchor="t"/>
          <a:lstStyle/>
          <a:p>
            <a:pPr algn="l" indent="0" marL="0">
              <a:lnSpc>
                <a:spcPts val="4800"/>
              </a:lnSpc>
              <a:spcAft>
                <a:spcPts val="1010"/>
              </a:spcAft>
              <a:buNone/>
            </a:pPr>
            <a:r>
              <a:rPr lang="en-US" sz="4000" dirty="0">
                <a:solidFill>
                  <a:srgbClr val="111111"/>
                </a:solidFill>
                <a:latin typeface="Lato" pitchFamily="34" charset="0"/>
                <a:ea typeface="Lato" pitchFamily="34" charset="-122"/>
                <a:cs typeface="Lato" pitchFamily="34" charset="-120"/>
              </a:rPr>
              <a:t>A histogram shows the shape of one column and a box plot lets me compare groups.</a:t>
            </a:r>
            <a:endParaRPr lang="en-US" sz="4000" dirty="0"/>
          </a:p>
        </p:txBody>
      </p:sp>
      <p:sp>
        <p:nvSpPr>
          <p:cNvPr id="4" name="Text 2"/>
          <p:cNvSpPr txBox="1"/>
          <p:nvPr/>
        </p:nvSpPr>
        <p:spPr>
          <a:xfrm>
            <a:off x="640080" y="4846320"/>
            <a:ext cx="6949440" cy="1097280"/>
          </a:xfrm>
          <a:prstGeom prst="rect">
            <a:avLst/>
          </a:prstGeom>
          <a:noFill/>
          <a:ln/>
        </p:spPr>
        <p:txBody>
          <a:bodyPr wrap="square" lIns="0" tIns="0" rIns="0" bIns="0" rtlCol="0" anchor="t"/>
          <a:lstStyle/>
          <a:p>
            <a:pPr algn="l" indent="0" marL="0">
              <a:lnSpc>
                <a:spcPts val="2750"/>
              </a:lnSpc>
              <a:buNone/>
            </a:pPr>
            <a:r>
              <a:rPr lang="en-US" sz="2200" dirty="0">
                <a:solidFill>
                  <a:srgbClr val="333333"/>
                </a:solidFill>
                <a:latin typeface="Lato" pitchFamily="34" charset="0"/>
                <a:ea typeface="Lato" pitchFamily="34" charset="-122"/>
                <a:cs typeface="Lato" pitchFamily="34" charset="-120"/>
              </a:rPr>
              <a:t>Then save your notebook, close it and open it again to check it saved.</a:t>
            </a:r>
            <a:endParaRPr lang="en-US" sz="2200" dirty="0"/>
          </a:p>
        </p:txBody>
      </p:sp>
      <p:pic>
        <p:nvPicPr>
          <p:cNvPr id="5" name="Image 0" descr="Finished">    </p:cNvPr>
          <p:cNvPicPr>
            <a:picLocks noChangeAspect="1"/>
          </p:cNvPicPr>
          <p:nvPr/>
        </p:nvPicPr>
        <p:blipFill>
          <a:blip r:embed="rId1"/>
          <a:stretch>
            <a:fillRect/>
          </a:stretch>
        </p:blipFill>
        <p:spPr>
          <a:xfrm>
            <a:off x="8229600" y="1920240"/>
            <a:ext cx="3291840" cy="32918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23</a:t>
            </a:fld>
            <a:endParaRPr lang="en-US"/>
          </a:p>
        </p:txBody>
      </p:sp>
    </p:spTree>
  </p:cSld>
  <p:clrMapOvr>
    <a:masterClrMapping/>
  </p:clrMapOvr>
</p:sld>
</file>

<file path=ppt/theme/theme1.xml><?xml version="1.0" encoding="utf-8"?>
<a:theme xmlns:a="http://schemas.openxmlformats.org/drawingml/2006/main" name="KLAi camp">
  <a:themeElements>
    <a:clrScheme name="KLAi camp">
      <a:dk1>
        <a:srgbClr val="111111"/>
      </a:dk1>
      <a:lt1>
        <a:srgbClr val="FFFFFF"/>
      </a:lt1>
      <a:dk2>
        <a:srgbClr val="333333"/>
      </a:dk2>
      <a:lt2>
        <a:srgbClr val="F1F1F1"/>
      </a:lt2>
      <a:accent1>
        <a:srgbClr val="AE2525"/>
      </a:accent1>
      <a:accent2>
        <a:srgbClr val="E0BE36"/>
      </a:accent2>
      <a:accent3>
        <a:srgbClr val="8C8C8C"/>
      </a:accent3>
      <a:accent4>
        <a:srgbClr val="555555"/>
      </a:accent4>
      <a:accent5>
        <a:srgbClr val="CFCFCF"/>
      </a:accent5>
      <a:accent6>
        <a:srgbClr val="000000"/>
      </a:accent6>
      <a:hlink>
        <a:srgbClr val="AE2525"/>
      </a:hlink>
      <a:folHlink>
        <a:srgbClr val="666666"/>
      </a:folHlink>
    </a:clrScheme>
    <a:fontScheme name="KLAi camp">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KLAi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DA14 Exploring distributions with seaborn</dc:title>
  <dc:subject>Python for Data Analysis</dc:subject>
  <dc:creator>KLAi</dc:creator>
  <cp:lastModifiedBy>KLAi</cp:lastModifiedBy>
  <cp:revision>1</cp:revision>
  <dcterms:created xsi:type="dcterms:W3CDTF">2026-10-31T12:26:21Z</dcterms:created>
  <dcterms:modified xsi:type="dcterms:W3CDTF">2026-10-31T12:26:21Z</dcterms:modified>
</cp:coreProperties>
</file>