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50c9d38-4bf0-b6f4-e355-507ea478ea6a}">
          <p14:sldIdLst>
            <p14:sldId id="256"/>
            <p14:sldId id="257"/>
            <p14:sldId id="258"/>
            <p14:sldId id="259"/>
            <p14:sldId id="260"/>
            <p14:sldId id="261"/>
            <p14:sldId id="262"/>
          </p14:sldIdLst>
        </p14:section>
        <p14:section name="Make and close" id="{11fd8606-4b6f-221c-d763-76be56e22c78}">
          <p14:sldIdLst>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20 and our topic is build a reliable analysis.
By the end of today you will be able to build the calculations for your project so that each one is checked by hand and by a second route, and a partner can rerun them.
We will answer one question: Can a stranger follow my steps from the raw file to my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a stranger follow my steps from the raw file to my numbers? Look at the path. A raw file goes in. A cleaning log records what changed. A calculation produces a number, and a check confirms it. Only then does the number go in the report. If any arrow is missing, a reader has to take your word for it. Today we build the analysis so that every arrow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15 minutes. Recall, then plan check. Then, 50 minutes. Build calculations with hand checks. After that, 15 minutes. Break away from screens. Next, 50 minutes. Build second routes and reconcile. Then, 35 minutes. Partner reruns one calculation and returns feedback. Then, 15 minutes. Exit ticket, save and individual check.
Most of the time is your own build, with a check and a partner.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trust a calculation on fifteen hundred rows, test it on five. Take the first five sales and work out the line value for each by hand, units times price, then add them up. Then run the code on the same five rows. The two answers must agree.
If they agree, you can trust the code on the full table. If they do not, you found the mistake on a small example, where it is easy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route gives you a second chance to catch a mistake. Route one adds the three branch totals. Route two adds every sale at once. Both reach six million three hundred and seventy five thousand nine hundred.
When two independent routes agree, the chance that both are wrong in the same way is small. That is how a second route protects you from one slip in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partner is the best test of your notebook. You send the notebook and the data file. Your partner restarts the kernel and runs all the cells. If the numbers match yours, the notebook is reliable.
If a number is different, the first cell where it differs is the problem. Perhaps you used a file that only exists on your laptop. Find it and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cleaning log has a line for every step you took, with the rows before and after. If your data needed no cleaning, the log still exists. It says that you checked for repeats and blanks, and found none. The sales file from session seven has one thousand five hundred and thirteen rows, no blanks and no repeats, so its log says no change. The raw export in session sixteen was different, with twenty five repeats and forty blank units.
A reader should never have to wonder whether you looked.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DA20. I will come round to each of you and ask what you changed and how you checked it.
The rest of the brief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rest of the brief. Take your time, and save your work as you go, because a saved file is the only thing I can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A calculation changes when the notebook is restarted. It means this: it depends on a value from a cell that no longer runs first. To fix it, restart and run all. Move the first failing cell's dependency above it.
The next one. You will see: The partner gets a different answer. It means this: A step uses a file path or setting that only works on your laptop. To fix it, use paths that sit beside the notebook and state them in the first cell.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Can a stranger follow my steps from the raw file to my numbers?
Write this sentence in your notebook and finish it your own way. Every number in my notebook has a check that someone else can rerun.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DA20  |  Build a reliable analysis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Build a reliable analysis</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Can a stranger follow my steps from the raw file to my numbers?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20 of 24  |  Week 7, Show it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Can a stranger follow my steps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from the raw file to my numbers?</a:t>
            </a:r>
            <a:endParaRPr lang="en-US" sz="3600" dirty="0"/>
          </a:p>
        </p:txBody>
      </p:sp>
      <p:pic>
        <p:nvPicPr>
          <p:cNvPr id="3" name="Image 0" descr="The path from the raw file through the cleaning log and a calculation to a number in the repor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the time is your own build, with a check and a partner.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Check one calculation against a hand example</a:t>
            </a:r>
            <a:endParaRPr lang="en-US" sz="3800" dirty="0"/>
          </a:p>
        </p:txBody>
      </p:sp>
      <p:pic>
        <p:nvPicPr>
          <p:cNvPr id="3" name="Image 0" descr="Check one calculation against a hand exampl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Pick five rows.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Work the answer out on paper.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code must give the same number.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routes reach the same total, 6,375,900</a:t>
            </a:r>
            <a:endParaRPr lang="en-US" sz="3800" dirty="0"/>
          </a:p>
        </p:txBody>
      </p:sp>
      <p:pic>
        <p:nvPicPr>
          <p:cNvPr id="3" name="Image 0" descr="Two routes reach the same total, 6,375,900">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Route one adds the branch totals. Route two adds every sale.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partner reruns your notebook from the top</a:t>
            </a:r>
            <a:endParaRPr lang="en-US" sz="3800" dirty="0"/>
          </a:p>
        </p:txBody>
      </p:sp>
      <p:pic>
        <p:nvPicPr>
          <p:cNvPr id="3" name="Image 0" descr="A partner reruns your notebook from the top">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Send the notebook and the data file.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partner restarts and runs all.</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different number means a hidden step.</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cleaning log counts removed rows, even zero</a:t>
            </a:r>
            <a:endParaRPr lang="en-US" sz="3800" dirty="0"/>
          </a:p>
        </p:txBody>
      </p:sp>
      <p:pic>
        <p:nvPicPr>
          <p:cNvPr id="3" name="Image 0" descr="A cleaning log counts removed rows, even zero">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If no change was needed, the log says so.</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(1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Work from a protected copy of the raw data.</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Write the cleaning log, including a log that says no change was needed if that is true.</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Build one calculation at a time.</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(2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2760"/>
              </a:lnSpc>
              <a:spcAft>
                <a:spcPts val="2020"/>
              </a:spcAft>
              <a:buNone/>
            </a:pPr>
            <a:r>
              <a:rPr lang="en-US" sz="2300" dirty="0">
                <a:solidFill>
                  <a:srgbClr val="111111"/>
                </a:solidFill>
                <a:latin typeface="Lato" pitchFamily="34" charset="0"/>
                <a:ea typeface="Lato" pitchFamily="34" charset="-122"/>
                <a:cs typeface="Lato" pitchFamily="34" charset="-120"/>
              </a:rPr>
              <a:t>For each, compare with a small hand-worked example and with a second route (pandas against NumPy, or a merged total against an unmerged one).</a:t>
            </a:r>
            <a:endParaRPr lang="en-US" sz="2300" dirty="0"/>
          </a:p>
          <a:p>
            <a:pPr algn="l" indent="0" marL="0">
              <a:lnSpc>
                <a:spcPts val="2760"/>
              </a:lnSpc>
              <a:spcAft>
                <a:spcPts val="2020"/>
              </a:spcAft>
              <a:buNone/>
            </a:pPr>
            <a:r>
              <a:rPr lang="en-US" sz="2300" dirty="0">
                <a:solidFill>
                  <a:srgbClr val="111111"/>
                </a:solidFill>
                <a:latin typeface="Lato" pitchFamily="34" charset="0"/>
                <a:ea typeface="Lato" pitchFamily="34" charset="-122"/>
                <a:cs typeface="Lato" pitchFamily="34" charset="-120"/>
              </a:rPr>
              <a:t>Ask a partner to rerun one calculation from your notebook.</a:t>
            </a:r>
            <a:endParaRPr lang="en-US" sz="2300" dirty="0"/>
          </a:p>
          <a:p>
            <a:pPr algn="l" indent="0" marL="0">
              <a:lnSpc>
                <a:spcPts val="2760"/>
              </a:lnSpc>
              <a:spcAft>
                <a:spcPts val="2020"/>
              </a:spcAft>
              <a:buNone/>
            </a:pPr>
            <a:r>
              <a:rPr lang="en-US" sz="2300" dirty="0">
                <a:solidFill>
                  <a:srgbClr val="111111"/>
                </a:solidFill>
                <a:latin typeface="Lato" pitchFamily="34" charset="0"/>
                <a:ea typeface="Lato" pitchFamily="34" charset="-122"/>
                <a:cs typeface="Lato" pitchFamily="34" charset="-120"/>
              </a:rPr>
              <a:t>Write down the first discrepancy they find and fix it.</a:t>
            </a:r>
            <a:endParaRPr lang="en-US" sz="2300" dirty="0"/>
          </a:p>
          <a:p>
            <a:pPr algn="l" indent="0" marL="0">
              <a:lnSpc>
                <a:spcPts val="2760"/>
              </a:lnSpc>
              <a:spcAft>
                <a:spcPts val="2020"/>
              </a:spcAft>
              <a:buNone/>
            </a:pPr>
            <a:r>
              <a:rPr lang="en-US" sz="2300" dirty="0">
                <a:solidFill>
                  <a:srgbClr val="111111"/>
                </a:solidFill>
                <a:latin typeface="Lato" pitchFamily="34" charset="0"/>
                <a:ea typeface="Lato" pitchFamily="34" charset="-122"/>
                <a:cs typeface="Lato" pitchFamily="34" charset="-120"/>
              </a:rPr>
              <a:t>Save it as DA20. Write two sentences: what you changed and how you checked it.</a:t>
            </a:r>
            <a:endParaRPr lang="en-US" sz="23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A calculation changes when the notebook is restarted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It depends on a value from a cell that no longer runs first.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Restart and run all. Move the first failing cell's dependency above it.</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partner gets a different answer</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step uses a file path or setting that only works on your laptop.</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paths that sit beside the notebook and state them in the first cell.</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Every number in my notebook has a check that someone else can rerun.</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DA20 Build a reliable analysis</dc:title>
  <dc:subject>Python for Data Analysis</dc:subject>
  <dc:creator>KLAi</dc:creator>
  <cp:lastModifiedBy>KLAi</cp:lastModifiedBy>
  <cp:revision>1</cp:revision>
  <dcterms:created xsi:type="dcterms:W3CDTF">2026-10-31T12:44:28Z</dcterms:created>
  <dcterms:modified xsi:type="dcterms:W3CDTF">2026-10-31T12:44:28Z</dcterms:modified>
</cp:coreProperties>
</file>