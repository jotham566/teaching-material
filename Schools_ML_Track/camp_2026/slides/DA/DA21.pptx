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b3655b61-0f04-6215-53cf-1f0667715ac3}">
          <p14:sldIdLst>
            <p14:sldId id="256"/>
            <p14:sldId id="257"/>
            <p14:sldId id="258"/>
            <p14:sldId id="259"/>
            <p14:sldId id="260"/>
            <p14:sldId id="261"/>
            <p14:sldId id="262"/>
            <p14:sldId id="263"/>
          </p14:sldIdLst>
        </p14:section>
        <p14:section name="Make and close" id="{8b315fc2-bcf2-0d69-244e-fc2e671e8a0b}">
          <p14:sldIdLst>
            <p14:sldId id="264"/>
            <p14:sldId id="265"/>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Laptops open, please. Today is session 21 and our topic is build and test the chart report.
By the end of today you will be able to build a chart report that a stranger reads in 30 seconds, and you can critique a coding assistant's hint with a test.
We will answer one question: Does my report answer my questions without a verbal tour?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Does my report answer my questions without a verbal tour? Picture handing your report to someone, then leaving the room. Everything they need has to be on the page: what is shown, which bar is largest, and what the data cannot show. Today you build the chart report and then test it on a peer, who will tell you where they hesitated.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how the 3 hours go. Each bar is as long as the time we spend on that part.
First, 10 minutes. Recall, retrieve yesterday, three questions on paper. Then, 50 minutes. Block A, predict, run, investigate, modify. After that, 15 minutes. Break away from screens. Next, 50 minutes. Block B, predict, run, investigate, modify. Then, 40 minutes. Make, the independent task and the project journal. Then, 15 minutes. Exit ticket, save, and an individual check with each learner.
Most of the time is your own build, with a check and a partner. Ask me now if any part of the plan is unclear.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words for today. Listen for the picture that goes with each one.
chart report. A short notebook of charts, numbers and sentences that answers the project questions. Picture this. A news page with pictures and captions.
caption. One sentence under a chart that says what it shows. You have seen this before. The words under a photograph.
data source note. A line that says where the data came from and its limits. The credit under a 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layout. At the top, a title that says what the chart shows. The chart has labelled axes with units. Beside or below it, two findings, each with its number. Then a limitation in plain words, and finally a note that names the data source.
Few charts, clearly labelled, are better than many crowded ones. Keep the layout the same every time, so a reader knows where to look.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your report to a peer for thirty seconds and ask one question: which is the largest bar, and what is its total? If your peer finds it fast, keep your headings. If your peer hesitates, write down where they looked and change that heading or label.
For the Sunrise report the answer is Central Market, with two million nine hundred and ninety seven thousand shillings.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order that works. First draw the chart. Second, call savefig with a file name. Third, call show. The show instruction clears the figure after it displays it, so a save that comes after is saving an empty page.
Add bbox inches equals tight to the save, and the labels stay inside the picture instead of being cut off at the 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assistant can help you get unstuck, but only if you keep the thinking. Try the problem yourself first. If you are stuck, ask for a hint. When you get an answer, predict what it will do, run it, and test it against a case you know.
Then decide whether to keep or reject it, and say why. Write each turn in your AI 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you do the real work yourself. Start with the first step. If you get stuck for a few minutes, read your error message, check the error card, and then ask me.
Save it as DA21. I will come round to each of you and ask what you changed and how you checked it.
The rest of the brief is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rest of the brief. Take your time, and save your work as you go, because a saved file is the only thing I can 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things are likely to go wrong today. It helps to know them before they happen.
This is the first one. You will see: The saved picture cuts off the labels. It means this: the figure was saved without room for the labels. To fix it, add bbox_inches="tight" to plt.savefig.
The next one. You will see: The picture is saved blank. It means this: plt.show() ran before plt.savefig, which clears the figure. To fix it, call plt.savefig before plt.show.
If you meet one of these, fix it and carry on. It happens to everyone.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finish, go back to the question we began with: Does my report answer my questions without a verbal tour?
Copy this sentence into your notebook and make it yours. A reader can find my main finding in 30 seconds, and I tested the assistant's advice before I used it.
Then save your notebook, close it and open it again to check it saved.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LAI_LIGHT">
    <p:bg>
      <p:bgPr>
        <a:solidFill>
          <a:srgbClr val="FFFFFF"/>
        </a:solidFill>
      </p:bgPr>
    </p:bg>
    <p:spTree>
      <p:nvGrpSpPr>
        <p:cNvPr id="1" name=""/>
        <p:cNvGrpSpPr/>
        <p:nvPr/>
      </p:nvGrpSpPr>
      <p:grpSpPr>
        <a:xfrm>
          <a:off x="0" y="0"/>
          <a:ext cx="0" cy="0"/>
          <a:chOff x="0" y="0"/>
          <a:chExt cx="0" cy="0"/>
        </a:xfrm>
      </p:grpSpPr>
      <p:pic>
        <p:nvPicPr>
          <p:cNvPr id="2" name="Image 0" descr="/sessions/focused-youthful-einstein/mnt/IUEA-Teaching-Resources/Schools_ML_Track/camp_2026/brand/logos/klai_logo_on_white_cropped.png">    </p:cNvPr>
          <p:cNvPicPr>
            <a:picLocks noChangeAspect="1"/>
          </p:cNvPicPr>
          <p:nvPr/>
        </p:nvPicPr>
        <p:blipFill>
          <a:blip r:embed="rId1"/>
          <a:stretch>
            <a:fillRect/>
          </a:stretch>
        </p:blipFill>
        <p:spPr>
          <a:xfrm>
            <a:off x="640080" y="6419088"/>
            <a:ext cx="772668" cy="246888"/>
          </a:xfrm>
          <a:prstGeom prst="rect">
            <a:avLst/>
          </a:prstGeom>
        </p:spPr>
      </p:pic>
      <p:sp>
        <p:nvSpPr>
          <p:cNvPr id="3" name="Text 0"/>
          <p:cNvSpPr/>
          <p:nvPr/>
        </p:nvSpPr>
        <p:spPr>
          <a:xfrm>
            <a:off x="1641348" y="6400800"/>
            <a:ext cx="8229600" cy="274320"/>
          </a:xfrm>
          <a:prstGeom prst="rect">
            <a:avLst/>
          </a:prstGeom>
          <a:noFill/>
          <a:ln/>
        </p:spPr>
        <p:txBody>
          <a:bodyPr wrap="square" lIns="0" tIns="0" rIns="0" bIns="0" rtlCol="0" anchor="ctr"/>
          <a:lstStyle/>
          <a:p>
            <a:pPr indent="0" marL="0">
              <a:buNone/>
            </a:pPr>
            <a:r>
              <a:rPr lang="en-US" sz="1200" dirty="0">
                <a:solidFill>
                  <a:srgbClr val="666666"/>
                </a:solidFill>
                <a:latin typeface="Lato" pitchFamily="34" charset="0"/>
                <a:ea typeface="Lato" pitchFamily="34" charset="-122"/>
                <a:cs typeface="Lato" pitchFamily="34" charset="-120"/>
              </a:rPr>
              <a:t>DA21  |  Build and test the chart report</a:t>
            </a:r>
            <a:endParaRPr lang="en-US" sz="1200" dirty="0"/>
          </a:p>
        </p:txBody>
      </p:sp>
      <p:sp>
        <p:nvSpPr>
          <p:cNvPr id="4" name="Text 1"/>
          <p:cNvSpPr/>
          <p:nvPr>
            <p:ph idx="102" type="title" hasCustomPrompt="1"/>
          </p:nvPr>
        </p:nvSpPr>
        <p:spPr>
          <a:xfrm>
            <a:off x="640080" y="384048"/>
            <a:ext cx="10881360" cy="1051560"/>
          </a:xfrm>
          <a:prstGeom prst="rect">
            <a:avLst/>
          </a:prstGeom>
          <a:noFill/>
          <a:ln/>
        </p:spPr>
        <p:txBody>
          <a:bodyPr wrap="square" rtlCol="0"/>
          <a:lstStyle>
            <a:lvl1pPr algn="l" indent="0" marL="0">
              <a:buNone/>
              <a:defRPr lang="en-US" b="1" dirty="0">
                <a:solidFill>
                  <a:srgbClr val="111111"/>
                </a:solidFill>
                <a:latin typeface="Lato" pitchFamily="34" charset="0"/>
                <a:ea typeface="Lato" pitchFamily="34" charset="-122"/>
                <a:cs typeface="Lato" pitchFamily="34" charset="-120"/>
              </a:defRPr>
            </a:lvl1pPr>
          </a:lstStyle>
          <a:p>
            <a:pPr algn="l" indent="0" marL="0">
              <a:buNone/>
            </a:pPr>
            <a:endParaRPr lang="en-US"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LAI_DARK">
    <p:bg>
      <p:bgPr>
        <a:solidFill>
          <a:srgbClr val="000000"/>
        </a:solidFill>
      </p:bgPr>
    </p:bg>
    <p:spTree>
      <p:nvGrpSpPr>
        <p:cNvPr id="1" name=""/>
        <p:cNvGrpSpPr/>
        <p:nvPr/>
      </p:nvGrpSpPr>
      <p:grpSpPr>
        <a:xfrm>
          <a:off x="0" y="0"/>
          <a:ext cx="0" cy="0"/>
          <a:chOff x="0" y="0"/>
          <a:chExt cx="0" cy="0"/>
        </a:xfrm>
      </p:grpSpPr>
      <p:pic>
        <p:nvPicPr>
          <p:cNvPr id="2" name="Image 0" descr="/sessions/focused-youthful-einstein/mnt/IUEA-Teaching-Resources/Schools_ML_Track/camp_2026/brand/logos/klai_logo_on_black_cropped.png">    </p:cNvPr>
          <p:cNvPicPr>
            <a:picLocks noChangeAspect="1"/>
          </p:cNvPicPr>
          <p:nvPr/>
        </p:nvPicPr>
        <p:blipFill>
          <a:blip r:embed="rId1"/>
          <a:stretch>
            <a:fillRect/>
          </a:stretch>
        </p:blipFill>
        <p:spPr>
          <a:xfrm>
            <a:off x="640080" y="548640"/>
            <a:ext cx="1774850" cy="566928"/>
          </a:xfrm>
          <a:prstGeom prst="rect">
            <a:avLst/>
          </a:prstGeom>
        </p:spPr>
      </p:pic>
      <p:sp>
        <p:nvSpPr>
          <p:cNvPr id="3" name="Text 0"/>
          <p:cNvSpPr/>
          <p:nvPr>
            <p:ph idx="101" type="title" hasCustomPrompt="1"/>
          </p:nvPr>
        </p:nvSpPr>
        <p:spPr>
          <a:xfrm>
            <a:off x="640080" y="2103120"/>
            <a:ext cx="10607040" cy="2286000"/>
          </a:xfrm>
          <a:prstGeom prst="rect">
            <a:avLst/>
          </a:prstGeom>
          <a:noFill/>
          <a:ln/>
        </p:spPr>
        <p:txBody>
          <a:bodyPr wrap="square" rtlCol="0"/>
          <a:lstStyle>
            <a:lvl1pPr algn="l" indent="0" marL="0">
              <a:buNone/>
              <a:defRPr lang="en-US" b="1" dirty="0">
                <a:solidFill>
                  <a:srgbClr val="FFFFFF"/>
                </a:solidFill>
                <a:latin typeface="Lato" pitchFamily="34" charset="0"/>
                <a:ea typeface="Lato" pitchFamily="34" charset="-122"/>
                <a:cs typeface="Lato" pitchFamily="34" charset="-120"/>
              </a:defRPr>
            </a:lvl1pPr>
          </a:lstStyle>
          <a:p>
            <a:pPr algn="l" indent="0" marL="0">
              <a:buNone/>
            </a:pP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1.png"/><Relationship Id="rId3" Type="http://schemas.openxmlformats.org/officeDocument/2006/relationships/slideLayout" Target="../slideLayouts/slideLayout2.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1" type="title" hasCustomPrompt="1"/>
          </p:nvPr>
        </p:nvSpPr>
        <p:spPr>
          <a:xfrm>
            <a:off x="640080" y="2103120"/>
            <a:ext cx="10607040" cy="2286000"/>
          </a:xfrm>
          <a:prstGeom prst="rect">
            <a:avLst/>
          </a:prstGeom>
          <a:noFill/>
          <a:ln/>
        </p:spPr>
        <p:txBody>
          <a:bodyPr wrap="square" lIns="0" tIns="0" rIns="0" bIns="0" rtlCol="0" anchor="t"/>
          <a:lstStyle/>
          <a:p>
            <a:pPr algn="l" indent="0" marL="0">
              <a:buNone/>
            </a:pPr>
            <a:r>
              <a:rPr lang="en-US" sz="5600" b="1" dirty="0">
                <a:solidFill>
                  <a:srgbClr val="FFFFFF"/>
                </a:solidFill>
                <a:latin typeface="Lato" pitchFamily="34" charset="0"/>
                <a:ea typeface="Lato" pitchFamily="34" charset="-122"/>
                <a:cs typeface="Lato" pitchFamily="34" charset="-120"/>
              </a:rPr>
              <a:t>Build and test the chart report</a:t>
            </a:r>
            <a:endParaRPr lang="en-US" sz="5600" dirty="0"/>
          </a:p>
        </p:txBody>
      </p:sp>
      <p:sp>
        <p:nvSpPr>
          <p:cNvPr id="3" name="Text 1"/>
          <p:cNvSpPr txBox="1"/>
          <p:nvPr/>
        </p:nvSpPr>
        <p:spPr>
          <a:xfrm>
            <a:off x="640080" y="3388360"/>
            <a:ext cx="10241280" cy="1188720"/>
          </a:xfrm>
          <a:prstGeom prst="rect">
            <a:avLst/>
          </a:prstGeom>
          <a:noFill/>
          <a:ln/>
        </p:spPr>
        <p:txBody>
          <a:bodyPr wrap="square" lIns="0" tIns="0" rIns="0" bIns="0" rtlCol="0" anchor="t"/>
          <a:lstStyle/>
          <a:p>
            <a:pPr algn="l" indent="0" marL="0">
              <a:lnSpc>
                <a:spcPts val="3600"/>
              </a:lnSpc>
              <a:buNone/>
            </a:pPr>
            <a:r>
              <a:rPr lang="en-US" sz="3000" i="1" dirty="0">
                <a:solidFill>
                  <a:srgbClr val="E0BE36"/>
                </a:solidFill>
                <a:latin typeface="Lato" pitchFamily="34" charset="0"/>
                <a:ea typeface="Lato" pitchFamily="34" charset="-122"/>
                <a:cs typeface="Lato" pitchFamily="34" charset="-120"/>
              </a:rPr>
              <a:t>Does my report answer my questions without a verbal tour?</a:t>
            </a:r>
            <a:endParaRPr lang="en-US" sz="3000" dirty="0"/>
          </a:p>
        </p:txBody>
      </p:sp>
      <p:sp>
        <p:nvSpPr>
          <p:cNvPr id="4" name="Text 2"/>
          <p:cNvSpPr txBox="1"/>
          <p:nvPr/>
        </p:nvSpPr>
        <p:spPr>
          <a:xfrm>
            <a:off x="640080" y="5989320"/>
            <a:ext cx="10789920" cy="457200"/>
          </a:xfrm>
          <a:prstGeom prst="rect">
            <a:avLst/>
          </a:prstGeom>
          <a:noFill/>
          <a:ln/>
        </p:spPr>
        <p:txBody>
          <a:bodyPr wrap="square" lIns="0" tIns="0" rIns="0" bIns="0" rtlCol="0" anchor="t"/>
          <a:lstStyle/>
          <a:p>
            <a:pPr algn="l" indent="0" marL="0">
              <a:lnSpc>
                <a:spcPts val="2320"/>
              </a:lnSpc>
              <a:buNone/>
            </a:pPr>
            <a:r>
              <a:rPr lang="en-US" sz="1600" dirty="0">
                <a:solidFill>
                  <a:srgbClr val="B5B5B5"/>
                </a:solidFill>
                <a:latin typeface="Lato" pitchFamily="34" charset="0"/>
                <a:ea typeface="Lato" pitchFamily="34" charset="-122"/>
                <a:cs typeface="Lato" pitchFamily="34" charset="-120"/>
              </a:rPr>
              <a:t>Python for Data Analysis  |  Session 21 of 24  |  Week 7, Show it</a:t>
            </a:r>
            <a:endParaRPr lang="en-US" sz="1600" dirty="0"/>
          </a:p>
          <a:p>
            <a:pPr algn="l" indent="0" marL="0">
              <a:lnSpc>
                <a:spcPts val="2320"/>
              </a:lnSpc>
              <a:buNone/>
            </a:pPr>
            <a:r>
              <a:rPr lang="en-US" sz="1600" dirty="0">
                <a:solidFill>
                  <a:srgbClr val="B5B5B5"/>
                </a:solidFill>
                <a:latin typeface="Lato" pitchFamily="34" charset="0"/>
                <a:ea typeface="Lato" pitchFamily="34" charset="-122"/>
                <a:cs typeface="Lato" pitchFamily="34" charset="-120"/>
              </a:rPr>
              <a:t>Holiday Data and AI Camp  |  The National ICT Innovation Hub, Nakawa</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600" b="1" dirty="0">
                <a:solidFill>
                  <a:srgbClr val="111111"/>
                </a:solidFill>
                <a:latin typeface="Lato" pitchFamily="34" charset="0"/>
                <a:ea typeface="Lato" pitchFamily="34" charset="-122"/>
                <a:cs typeface="Lato" pitchFamily="34" charset="-120"/>
              </a:rPr>
              <a:t>Does my report answer my</a:t>
            </a:r>
            <a:endParaRPr lang="en-US" sz="3600" dirty="0"/>
          </a:p>
          <a:p>
            <a:pPr algn="l" indent="0" marL="0">
              <a:buNone/>
            </a:pPr>
            <a:r>
              <a:rPr lang="en-US" sz="3600" b="1" dirty="0">
                <a:solidFill>
                  <a:srgbClr val="111111"/>
                </a:solidFill>
                <a:latin typeface="Lato" pitchFamily="34" charset="0"/>
                <a:ea typeface="Lato" pitchFamily="34" charset="-122"/>
                <a:cs typeface="Lato" pitchFamily="34" charset="-120"/>
              </a:rPr>
              <a:t>questions without a verbal tour?</a:t>
            </a:r>
            <a:endParaRPr lang="en-US" sz="3600" dirty="0"/>
          </a:p>
        </p:txBody>
      </p:sp>
      <p:pic>
        <p:nvPicPr>
          <p:cNvPr id="3" name="Image 0" descr="A one page chart report with its labelled parts">    </p:cNvPr>
          <p:cNvPicPr>
            <a:picLocks noChangeAspect="1"/>
          </p:cNvPicPr>
          <p:nvPr/>
        </p:nvPicPr>
        <p:blipFill>
          <a:blip r:embed="rId1"/>
          <a:stretch>
            <a:fillRect/>
          </a:stretch>
        </p:blipFill>
        <p:spPr>
          <a:xfrm>
            <a:off x="640080" y="1691640"/>
            <a:ext cx="10881360" cy="434340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Today's plan in minutes</a:t>
            </a:r>
            <a:endParaRPr lang="en-US" sz="3800" dirty="0"/>
          </a:p>
        </p:txBody>
      </p:sp>
      <p:pic>
        <p:nvPicPr>
          <p:cNvPr id="3" name="Image 0" descr="The plan for the session: start time, minutes and what we do">    </p:cNvPr>
          <p:cNvPicPr>
            <a:picLocks noChangeAspect="1"/>
          </p:cNvPicPr>
          <p:nvPr/>
        </p:nvPicPr>
        <p:blipFill>
          <a:blip r:embed="rId1"/>
          <a:stretch>
            <a:fillRect/>
          </a:stretch>
        </p:blipFill>
        <p:spPr>
          <a:xfrm>
            <a:off x="640080" y="1600200"/>
            <a:ext cx="10881360" cy="4133088"/>
          </a:xfrm>
          <a:prstGeom prst="rect">
            <a:avLst/>
          </a:prstGeom>
        </p:spPr>
      </p:pic>
      <p:sp>
        <p:nvSpPr>
          <p:cNvPr id="4" name="Text 1"/>
          <p:cNvSpPr txBox="1"/>
          <p:nvPr/>
        </p:nvSpPr>
        <p:spPr>
          <a:xfrm>
            <a:off x="640080" y="5852160"/>
            <a:ext cx="10881360" cy="457200"/>
          </a:xfrm>
          <a:prstGeom prst="rect">
            <a:avLst/>
          </a:prstGeom>
          <a:noFill/>
          <a:ln/>
        </p:spPr>
        <p:txBody>
          <a:bodyPr wrap="square" lIns="0" tIns="0" rIns="0" bIns="0" rtlCol="0" anchor="t"/>
          <a:lstStyle/>
          <a:p>
            <a:pPr algn="l" indent="0" marL="0">
              <a:lnSpc>
                <a:spcPts val="2640"/>
              </a:lnSpc>
              <a:buNone/>
            </a:pPr>
            <a:r>
              <a:rPr lang="en-US" sz="2200" dirty="0">
                <a:solidFill>
                  <a:srgbClr val="333333"/>
                </a:solidFill>
                <a:latin typeface="Lato" pitchFamily="34" charset="0"/>
                <a:ea typeface="Lato" pitchFamily="34" charset="-122"/>
                <a:cs typeface="Lato" pitchFamily="34" charset="-120"/>
              </a:rPr>
              <a:t>Most of the time is your own build, with a check and a partner.</a:t>
            </a:r>
            <a:endParaRPr lang="en-US" sz="22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Words for today</a:t>
            </a:r>
            <a:endParaRPr lang="en-US" sz="3800" dirty="0"/>
          </a:p>
        </p:txBody>
      </p:sp>
      <p:pic>
        <p:nvPicPr>
          <p:cNvPr id="3" name="Image 0" descr="chart report">    </p:cNvPr>
          <p:cNvPicPr>
            <a:picLocks noChangeAspect="1"/>
          </p:cNvPicPr>
          <p:nvPr/>
        </p:nvPicPr>
        <p:blipFill>
          <a:blip r:embed="rId1"/>
          <a:stretch>
            <a:fillRect/>
          </a:stretch>
        </p:blipFill>
        <p:spPr>
          <a:xfrm>
            <a:off x="640080" y="1783080"/>
            <a:ext cx="1188720" cy="1188720"/>
          </a:xfrm>
          <a:prstGeom prst="rect">
            <a:avLst/>
          </a:prstGeom>
        </p:spPr>
      </p:pic>
      <p:sp>
        <p:nvSpPr>
          <p:cNvPr id="4" name="Text 1"/>
          <p:cNvSpPr txBox="1"/>
          <p:nvPr/>
        </p:nvSpPr>
        <p:spPr>
          <a:xfrm>
            <a:off x="2011680" y="1737360"/>
            <a:ext cx="2926080" cy="1298448"/>
          </a:xfrm>
          <a:prstGeom prst="rect">
            <a:avLst/>
          </a:prstGeom>
          <a:noFill/>
          <a:ln/>
        </p:spPr>
        <p:txBody>
          <a:bodyPr wrap="square" lIns="0" tIns="0" rIns="0" bIns="0" rtlCol="0" anchor="ctr"/>
          <a:lstStyle/>
          <a:p>
            <a:pPr algn="l" indent="0" marL="0">
              <a:lnSpc>
                <a:spcPts val="3720"/>
              </a:lnSpc>
              <a:buNone/>
            </a:pPr>
            <a:r>
              <a:rPr lang="en-US" sz="3100" b="1" dirty="0">
                <a:solidFill>
                  <a:srgbClr val="111111"/>
                </a:solidFill>
                <a:latin typeface="Lato" pitchFamily="34" charset="0"/>
                <a:ea typeface="Lato" pitchFamily="34" charset="-122"/>
                <a:cs typeface="Lato" pitchFamily="34" charset="-120"/>
              </a:rPr>
              <a:t>chart report</a:t>
            </a:r>
            <a:endParaRPr lang="en-US" sz="3100" dirty="0"/>
          </a:p>
        </p:txBody>
      </p:sp>
      <p:sp>
        <p:nvSpPr>
          <p:cNvPr id="5" name="Text 2"/>
          <p:cNvSpPr txBox="1"/>
          <p:nvPr/>
        </p:nvSpPr>
        <p:spPr>
          <a:xfrm>
            <a:off x="5120640" y="1783080"/>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A short notebook of charts, numbers and sentences that answers the project questions.</a:t>
            </a:r>
            <a:endParaRPr lang="en-US" sz="2200" dirty="0"/>
          </a:p>
        </p:txBody>
      </p:sp>
      <p:sp>
        <p:nvSpPr>
          <p:cNvPr id="6" name="Text 3"/>
          <p:cNvSpPr txBox="1"/>
          <p:nvPr/>
        </p:nvSpPr>
        <p:spPr>
          <a:xfrm>
            <a:off x="5120640" y="2545080"/>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A news page with pictures and captions.</a:t>
            </a:r>
            <a:endParaRPr lang="en-US" sz="1900" dirty="0"/>
          </a:p>
        </p:txBody>
      </p:sp>
      <p:sp>
        <p:nvSpPr>
          <p:cNvPr id="7" name="Shape 4"/>
          <p:cNvSpPr/>
          <p:nvPr/>
        </p:nvSpPr>
        <p:spPr>
          <a:xfrm>
            <a:off x="640080" y="3136392"/>
            <a:ext cx="10881360" cy="0"/>
          </a:xfrm>
          <a:prstGeom prst="line">
            <a:avLst/>
          </a:prstGeom>
          <a:noFill/>
          <a:ln w="12700">
            <a:solidFill>
              <a:srgbClr val="CFCFCF"/>
            </a:solidFill>
            <a:prstDash val="solid"/>
          </a:ln>
        </p:spPr>
      </p:sp>
      <p:pic>
        <p:nvPicPr>
          <p:cNvPr id="8" name="Image 1" descr="caption">    </p:cNvPr>
          <p:cNvPicPr>
            <a:picLocks noChangeAspect="1"/>
          </p:cNvPicPr>
          <p:nvPr/>
        </p:nvPicPr>
        <p:blipFill>
          <a:blip r:embed="rId2"/>
          <a:stretch>
            <a:fillRect/>
          </a:stretch>
        </p:blipFill>
        <p:spPr>
          <a:xfrm>
            <a:off x="640080" y="3264408"/>
            <a:ext cx="1188720" cy="1188720"/>
          </a:xfrm>
          <a:prstGeom prst="rect">
            <a:avLst/>
          </a:prstGeom>
        </p:spPr>
      </p:pic>
      <p:sp>
        <p:nvSpPr>
          <p:cNvPr id="9" name="Text 5"/>
          <p:cNvSpPr txBox="1"/>
          <p:nvPr/>
        </p:nvSpPr>
        <p:spPr>
          <a:xfrm>
            <a:off x="2011680" y="3218688"/>
            <a:ext cx="2926080" cy="1298448"/>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caption</a:t>
            </a:r>
            <a:endParaRPr lang="en-US" sz="3400" dirty="0"/>
          </a:p>
        </p:txBody>
      </p:sp>
      <p:sp>
        <p:nvSpPr>
          <p:cNvPr id="10" name="Text 6"/>
          <p:cNvSpPr txBox="1"/>
          <p:nvPr/>
        </p:nvSpPr>
        <p:spPr>
          <a:xfrm>
            <a:off x="5120640" y="3264408"/>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One sentence under a chart that says what it shows.</a:t>
            </a:r>
            <a:endParaRPr lang="en-US" sz="2200" dirty="0"/>
          </a:p>
        </p:txBody>
      </p:sp>
      <p:sp>
        <p:nvSpPr>
          <p:cNvPr id="11" name="Text 7"/>
          <p:cNvSpPr txBox="1"/>
          <p:nvPr/>
        </p:nvSpPr>
        <p:spPr>
          <a:xfrm>
            <a:off x="5120640" y="4026408"/>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The words under a photograph.</a:t>
            </a:r>
            <a:endParaRPr lang="en-US" sz="1900" dirty="0"/>
          </a:p>
        </p:txBody>
      </p:sp>
      <p:sp>
        <p:nvSpPr>
          <p:cNvPr id="12" name="Shape 8"/>
          <p:cNvSpPr/>
          <p:nvPr/>
        </p:nvSpPr>
        <p:spPr>
          <a:xfrm>
            <a:off x="640080" y="4617720"/>
            <a:ext cx="10881360" cy="0"/>
          </a:xfrm>
          <a:prstGeom prst="line">
            <a:avLst/>
          </a:prstGeom>
          <a:noFill/>
          <a:ln w="12700">
            <a:solidFill>
              <a:srgbClr val="CFCFCF"/>
            </a:solidFill>
            <a:prstDash val="solid"/>
          </a:ln>
        </p:spPr>
      </p:sp>
      <p:pic>
        <p:nvPicPr>
          <p:cNvPr id="13" name="Image 2" descr="data source note">    </p:cNvPr>
          <p:cNvPicPr>
            <a:picLocks noChangeAspect="1"/>
          </p:cNvPicPr>
          <p:nvPr/>
        </p:nvPicPr>
        <p:blipFill>
          <a:blip r:embed="rId3"/>
          <a:stretch>
            <a:fillRect/>
          </a:stretch>
        </p:blipFill>
        <p:spPr>
          <a:xfrm>
            <a:off x="640080" y="4745736"/>
            <a:ext cx="1188720" cy="1188720"/>
          </a:xfrm>
          <a:prstGeom prst="rect">
            <a:avLst/>
          </a:prstGeom>
        </p:spPr>
      </p:pic>
      <p:sp>
        <p:nvSpPr>
          <p:cNvPr id="14" name="Text 9"/>
          <p:cNvSpPr txBox="1"/>
          <p:nvPr/>
        </p:nvSpPr>
        <p:spPr>
          <a:xfrm>
            <a:off x="2011680" y="4700016"/>
            <a:ext cx="2926080" cy="1298448"/>
          </a:xfrm>
          <a:prstGeom prst="rect">
            <a:avLst/>
          </a:prstGeom>
          <a:noFill/>
          <a:ln/>
        </p:spPr>
        <p:txBody>
          <a:bodyPr wrap="square" lIns="0" tIns="0" rIns="0" bIns="0" rtlCol="0" anchor="ctr"/>
          <a:lstStyle/>
          <a:p>
            <a:pPr algn="l" indent="0" marL="0">
              <a:lnSpc>
                <a:spcPts val="3120"/>
              </a:lnSpc>
              <a:buNone/>
            </a:pPr>
            <a:r>
              <a:rPr lang="en-US" sz="2600" b="1" dirty="0">
                <a:solidFill>
                  <a:srgbClr val="111111"/>
                </a:solidFill>
                <a:latin typeface="Lato" pitchFamily="34" charset="0"/>
                <a:ea typeface="Lato" pitchFamily="34" charset="-122"/>
                <a:cs typeface="Lato" pitchFamily="34" charset="-120"/>
              </a:rPr>
              <a:t>data source note</a:t>
            </a:r>
            <a:endParaRPr lang="en-US" sz="2600" dirty="0"/>
          </a:p>
        </p:txBody>
      </p:sp>
      <p:sp>
        <p:nvSpPr>
          <p:cNvPr id="15" name="Text 10"/>
          <p:cNvSpPr txBox="1"/>
          <p:nvPr/>
        </p:nvSpPr>
        <p:spPr>
          <a:xfrm>
            <a:off x="5120640" y="4745736"/>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A line that says where the data came from and its limits.</a:t>
            </a:r>
            <a:endParaRPr lang="en-US" sz="2200" dirty="0"/>
          </a:p>
        </p:txBody>
      </p:sp>
      <p:sp>
        <p:nvSpPr>
          <p:cNvPr id="16" name="Text 11"/>
          <p:cNvSpPr txBox="1"/>
          <p:nvPr/>
        </p:nvSpPr>
        <p:spPr>
          <a:xfrm>
            <a:off x="5120640" y="5507736"/>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The credit under a map.</a:t>
            </a:r>
            <a:endParaRPr lang="en-US" sz="19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A chart report has a title, chart, findings, limit</a:t>
            </a:r>
            <a:endParaRPr lang="en-US" sz="3800" dirty="0"/>
          </a:p>
        </p:txBody>
      </p:sp>
      <p:pic>
        <p:nvPicPr>
          <p:cNvPr id="3" name="Image 0" descr="A chart report has a title, chart, findings, limit">    </p:cNvPr>
          <p:cNvPicPr>
            <a:picLocks noChangeAspect="1"/>
          </p:cNvPicPr>
          <p:nvPr/>
        </p:nvPicPr>
        <p:blipFill>
          <a:blip r:embed="rId1"/>
          <a:stretch>
            <a:fillRect/>
          </a:stretch>
        </p:blipFill>
        <p:spPr>
          <a:xfrm>
            <a:off x="640080" y="1600200"/>
            <a:ext cx="7040880" cy="4526280"/>
          </a:xfrm>
          <a:prstGeom prst="rect">
            <a:avLst/>
          </a:prstGeom>
        </p:spPr>
      </p:pic>
      <p:sp>
        <p:nvSpPr>
          <p:cNvPr id="4" name="Text 1"/>
          <p:cNvSpPr txBox="1"/>
          <p:nvPr/>
        </p:nvSpPr>
        <p:spPr>
          <a:xfrm>
            <a:off x="7955280" y="1783080"/>
            <a:ext cx="3566160" cy="4297680"/>
          </a:xfrm>
          <a:prstGeom prst="rect">
            <a:avLst/>
          </a:prstGeom>
          <a:noFill/>
          <a:ln/>
        </p:spPr>
        <p:txBody>
          <a:bodyPr wrap="square" lIns="0" tIns="0" rIns="0" bIns="0" rtlCol="0" anchor="t"/>
          <a:lstStyle/>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Findings sit next to their evidence.</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A limitation says what the data cannot show.</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A source note names the data.</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Can a peer find the largest bar in 30 seconds?</a:t>
            </a:r>
            <a:endParaRPr lang="en-US" sz="3800" dirty="0"/>
          </a:p>
        </p:txBody>
      </p:sp>
      <p:pic>
        <p:nvPicPr>
          <p:cNvPr id="3" name="Image 0" descr="Can a peer find the largest bar in 30 seconds?">    </p:cNvPr>
          <p:cNvPicPr>
            <a:picLocks noChangeAspect="1"/>
          </p:cNvPicPr>
          <p:nvPr/>
        </p:nvPicPr>
        <p:blipFill>
          <a:blip r:embed="rId1"/>
          <a:stretch>
            <a:fillRect/>
          </a:stretch>
        </p:blipFill>
        <p:spPr>
          <a:xfrm>
            <a:off x="640080" y="1554480"/>
            <a:ext cx="10881360" cy="4069080"/>
          </a:xfrm>
          <a:prstGeom prst="rect">
            <a:avLst/>
          </a:prstGeom>
        </p:spPr>
      </p:pic>
      <p:sp>
        <p:nvSpPr>
          <p:cNvPr id="4" name="Text 1"/>
          <p:cNvSpPr txBox="1"/>
          <p:nvPr/>
        </p:nvSpPr>
        <p:spPr>
          <a:xfrm>
            <a:off x="640080" y="5669280"/>
            <a:ext cx="10881360" cy="640080"/>
          </a:xfrm>
          <a:prstGeom prst="rect">
            <a:avLst/>
          </a:prstGeom>
          <a:noFill/>
          <a:ln/>
        </p:spPr>
        <p:txBody>
          <a:bodyPr wrap="square" lIns="0" tIns="0" rIns="0" bIns="0" rtlCol="0" anchor="t"/>
          <a:lstStyle/>
          <a:p>
            <a:pPr algn="l" indent="0" marL="0">
              <a:lnSpc>
                <a:spcPts val="2640"/>
              </a:lnSpc>
              <a:buNone/>
            </a:pPr>
            <a:r>
              <a:rPr lang="en-US" sz="2200" dirty="0">
                <a:solidFill>
                  <a:srgbClr val="333333"/>
                </a:solidFill>
                <a:latin typeface="Lato" pitchFamily="34" charset="0"/>
                <a:ea typeface="Lato" pitchFamily="34" charset="-122"/>
                <a:cs typeface="Lato" pitchFamily="34" charset="-120"/>
              </a:rPr>
              <a:t>Central Market is the largest bar, with 2,997,000.</a:t>
            </a:r>
            <a:endParaRPr lang="en-US" sz="22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Save the figure before show, or it is blank</a:t>
            </a:r>
            <a:endParaRPr lang="en-US" sz="3800" dirty="0"/>
          </a:p>
        </p:txBody>
      </p:sp>
      <p:pic>
        <p:nvPicPr>
          <p:cNvPr id="3" name="Image 0" descr="Save the figure before show, or it is blank">    </p:cNvPr>
          <p:cNvPicPr>
            <a:picLocks noChangeAspect="1"/>
          </p:cNvPicPr>
          <p:nvPr/>
        </p:nvPicPr>
        <p:blipFill>
          <a:blip r:embed="rId1"/>
          <a:stretch>
            <a:fillRect/>
          </a:stretch>
        </p:blipFill>
        <p:spPr>
          <a:xfrm>
            <a:off x="640080" y="1600200"/>
            <a:ext cx="7040880" cy="4526280"/>
          </a:xfrm>
          <a:prstGeom prst="rect">
            <a:avLst/>
          </a:prstGeom>
        </p:spPr>
      </p:pic>
      <p:sp>
        <p:nvSpPr>
          <p:cNvPr id="4" name="Text 1"/>
          <p:cNvSpPr txBox="1"/>
          <p:nvPr/>
        </p:nvSpPr>
        <p:spPr>
          <a:xfrm>
            <a:off x="7955280" y="1783080"/>
            <a:ext cx="3566160" cy="4297680"/>
          </a:xfrm>
          <a:prstGeom prst="rect">
            <a:avLst/>
          </a:prstGeom>
          <a:noFill/>
          <a:ln/>
        </p:spPr>
        <p:txBody>
          <a:bodyPr wrap="square" lIns="0" tIns="0" rIns="0" bIns="0" rtlCol="0" anchor="t"/>
          <a:lstStyle/>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Draw the chart.</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Save it with bbox inches tight.</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Then show it.</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Take hints from an assistant, then test them</a:t>
            </a:r>
            <a:endParaRPr lang="en-US" sz="3800" dirty="0"/>
          </a:p>
        </p:txBody>
      </p:sp>
      <p:pic>
        <p:nvPicPr>
          <p:cNvPr id="3" name="Image 0" descr="Take hints from an assistant, then test them">    </p:cNvPr>
          <p:cNvPicPr>
            <a:picLocks noChangeAspect="1"/>
          </p:cNvPicPr>
          <p:nvPr/>
        </p:nvPicPr>
        <p:blipFill>
          <a:blip r:embed="rId1"/>
          <a:stretch>
            <a:fillRect/>
          </a:stretch>
        </p:blipFill>
        <p:spPr>
          <a:xfrm>
            <a:off x="640080" y="1600200"/>
            <a:ext cx="7040880" cy="4526280"/>
          </a:xfrm>
          <a:prstGeom prst="rect">
            <a:avLst/>
          </a:prstGeom>
        </p:spPr>
      </p:pic>
      <p:sp>
        <p:nvSpPr>
          <p:cNvPr id="4" name="Text 1"/>
          <p:cNvSpPr txBox="1"/>
          <p:nvPr/>
        </p:nvSpPr>
        <p:spPr>
          <a:xfrm>
            <a:off x="7955280" y="1783080"/>
            <a:ext cx="3566160" cy="4297680"/>
          </a:xfrm>
          <a:prstGeom prst="rect">
            <a:avLst/>
          </a:prstGeom>
          <a:noFill/>
          <a:ln/>
        </p:spPr>
        <p:txBody>
          <a:bodyPr wrap="square" lIns="0" tIns="0" rIns="0" bIns="0" rtlCol="0" anchor="t"/>
          <a:lstStyle/>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Try it yourself first.</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Ask for a hint and keep the thinking.</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Predict, run and test what comes back.</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Make: your own version (1 of 2)</a:t>
            </a:r>
            <a:endParaRPr lang="en-US" sz="3800" dirty="0"/>
          </a:p>
        </p:txBody>
      </p:sp>
      <p:sp>
        <p:nvSpPr>
          <p:cNvPr id="3" name="Text 1"/>
          <p:cNvSpPr txBox="1"/>
          <p:nvPr/>
        </p:nvSpPr>
        <p:spPr>
          <a:xfrm>
            <a:off x="640080" y="1737360"/>
            <a:ext cx="6949440" cy="4480560"/>
          </a:xfrm>
          <a:prstGeom prst="rect">
            <a:avLst/>
          </a:prstGeom>
          <a:noFill/>
          <a:ln/>
        </p:spPr>
        <p:txBody>
          <a:bodyPr wrap="square" lIns="0" tIns="0" rIns="0" bIns="0" rtlCol="0" anchor="t"/>
          <a:lstStyle/>
          <a:p>
            <a:pPr algn="l" indent="0" marL="0">
              <a:lnSpc>
                <a:spcPts val="3600"/>
              </a:lnSpc>
              <a:spcAft>
                <a:spcPts val="2520"/>
              </a:spcAft>
              <a:buNone/>
            </a:pPr>
            <a:r>
              <a:rPr lang="en-US" sz="3000" dirty="0">
                <a:solidFill>
                  <a:srgbClr val="111111"/>
                </a:solidFill>
                <a:latin typeface="Lato" pitchFamily="34" charset="0"/>
                <a:ea typeface="Lato" pitchFamily="34" charset="-122"/>
                <a:cs typeface="Lato" pitchFamily="34" charset="-120"/>
              </a:rPr>
              <a:t>Build the chart report. Use few charts, readable labels with units, the covered dates and a visible data source note. Write two findings and one limitation next to their evidence. Give a peer 30 seconds to find the largest category and its total, and record where they hesitate.</a:t>
            </a:r>
            <a:endParaRPr lang="en-US" sz="3000" dirty="0"/>
          </a:p>
        </p:txBody>
      </p:sp>
      <p:pic>
        <p:nvPicPr>
          <p:cNvPr id="4" name="Image 0" descr="A notebook saved with a tick">    </p:cNvPr>
          <p:cNvPicPr>
            <a:picLocks noChangeAspect="1"/>
          </p:cNvPicPr>
          <p:nvPr/>
        </p:nvPicPr>
        <p:blipFill>
          <a:blip r:embed="rId1"/>
          <a:stretch>
            <a:fillRect/>
          </a:stretch>
        </p:blipFill>
        <p:spPr>
          <a:xfrm>
            <a:off x="8138160" y="1920240"/>
            <a:ext cx="3474720" cy="329184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Make: your own version (2 of 2)</a:t>
            </a:r>
            <a:endParaRPr lang="en-US" sz="3800" dirty="0"/>
          </a:p>
        </p:txBody>
      </p:sp>
      <p:sp>
        <p:nvSpPr>
          <p:cNvPr id="3" name="Text 1"/>
          <p:cNvSpPr txBox="1"/>
          <p:nvPr/>
        </p:nvSpPr>
        <p:spPr>
          <a:xfrm>
            <a:off x="640080" y="1737360"/>
            <a:ext cx="6949440" cy="4480560"/>
          </a:xfrm>
          <a:prstGeom prst="rect">
            <a:avLst/>
          </a:prstGeom>
          <a:noFill/>
          <a:ln/>
        </p:spPr>
        <p:txBody>
          <a:bodyPr wrap="square" lIns="0" tIns="0" rIns="0" bIns="0" rtlCol="0" anchor="t"/>
          <a:lstStyle/>
          <a:p>
            <a:pPr algn="l" indent="0" marL="0">
              <a:lnSpc>
                <a:spcPts val="3000"/>
              </a:lnSpc>
              <a:spcAft>
                <a:spcPts val="2520"/>
              </a:spcAft>
              <a:buNone/>
            </a:pPr>
            <a:r>
              <a:rPr lang="en-US" sz="2500" dirty="0">
                <a:solidFill>
                  <a:srgbClr val="111111"/>
                </a:solidFill>
                <a:latin typeface="Lato" pitchFamily="34" charset="0"/>
                <a:ea typeface="Lato" pitchFamily="34" charset="-122"/>
                <a:cs typeface="Lato" pitchFamily="34" charset="-120"/>
              </a:rPr>
              <a:t>To put a chart in your report, call plt.savefig("revenue.png", bbox_inches="tight") before plt.show(), then insert the PNG with Insert and Pictures. When the instructor confirms you are ready, spend 20 minutes with AI_CODING_ASSISTANTS_LAB.md: critique a hint on the practice function, run a test and log it in AI_USE_LOG.md.</a:t>
            </a:r>
            <a:endParaRPr lang="en-US" sz="2500" dirty="0"/>
          </a:p>
          <a:p>
            <a:pPr algn="l" indent="0" marL="0">
              <a:lnSpc>
                <a:spcPts val="3000"/>
              </a:lnSpc>
              <a:spcAft>
                <a:spcPts val="2520"/>
              </a:spcAft>
              <a:buNone/>
            </a:pPr>
            <a:r>
              <a:rPr lang="en-US" sz="2500" dirty="0">
                <a:solidFill>
                  <a:srgbClr val="111111"/>
                </a:solidFill>
                <a:latin typeface="Lato" pitchFamily="34" charset="0"/>
                <a:ea typeface="Lato" pitchFamily="34" charset="-122"/>
                <a:cs typeface="Lato" pitchFamily="34" charset="-120"/>
              </a:rPr>
              <a:t>Save it as DA21. Write two sentences: what you changed and how you checked it.</a:t>
            </a:r>
            <a:endParaRPr lang="en-US" sz="2500" dirty="0"/>
          </a:p>
        </p:txBody>
      </p:sp>
      <p:pic>
        <p:nvPicPr>
          <p:cNvPr id="4" name="Image 0" descr="A notebook saved with a tick">    </p:cNvPr>
          <p:cNvPicPr>
            <a:picLocks noChangeAspect="1"/>
          </p:cNvPicPr>
          <p:nvPr/>
        </p:nvPicPr>
        <p:blipFill>
          <a:blip r:embed="rId1"/>
          <a:stretch>
            <a:fillRect/>
          </a:stretch>
        </p:blipFill>
        <p:spPr>
          <a:xfrm>
            <a:off x="8138160" y="1920240"/>
            <a:ext cx="3474720" cy="329184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Two errors you may meet today</a:t>
            </a:r>
            <a:endParaRPr lang="en-US" sz="3800" dirty="0"/>
          </a:p>
        </p:txBody>
      </p:sp>
      <p:pic>
        <p:nvPicPr>
          <p:cNvPr id="3" name="Image 0" descr="Error">    </p:cNvPr>
          <p:cNvPicPr>
            <a:picLocks noChangeAspect="1"/>
          </p:cNvPicPr>
          <p:nvPr/>
        </p:nvPicPr>
        <p:blipFill>
          <a:blip r:embed="rId1"/>
          <a:stretch>
            <a:fillRect/>
          </a:stretch>
        </p:blipFill>
        <p:spPr>
          <a:xfrm>
            <a:off x="640080" y="1691640"/>
            <a:ext cx="822960" cy="822960"/>
          </a:xfrm>
          <a:prstGeom prst="rect">
            <a:avLst/>
          </a:prstGeom>
        </p:spPr>
      </p:pic>
      <p:sp>
        <p:nvSpPr>
          <p:cNvPr id="4" name="Shape 1"/>
          <p:cNvSpPr/>
          <p:nvPr/>
        </p:nvSpPr>
        <p:spPr>
          <a:xfrm>
            <a:off x="1645920" y="1828800"/>
            <a:ext cx="4023360" cy="1645920"/>
          </a:xfrm>
          <a:prstGeom prst="roundRect">
            <a:avLst>
              <a:gd name="adj" fmla="val 3333"/>
            </a:avLst>
          </a:prstGeom>
          <a:solidFill>
            <a:srgbClr val="FFFFFF"/>
          </a:solidFill>
          <a:ln w="25400">
            <a:solidFill>
              <a:srgbClr val="AE2525"/>
            </a:solidFill>
            <a:prstDash val="solid"/>
          </a:ln>
        </p:spPr>
      </p:sp>
      <p:sp>
        <p:nvSpPr>
          <p:cNvPr id="5" name="Text 2"/>
          <p:cNvSpPr txBox="1"/>
          <p:nvPr/>
        </p:nvSpPr>
        <p:spPr>
          <a:xfrm>
            <a:off x="1783080" y="1920240"/>
            <a:ext cx="3749040" cy="1463040"/>
          </a:xfrm>
          <a:prstGeom prst="rect">
            <a:avLst/>
          </a:prstGeom>
          <a:noFill/>
          <a:ln/>
        </p:spPr>
        <p:txBody>
          <a:bodyPr wrap="square" lIns="0" tIns="0" rIns="0" bIns="0" rtlCol="0" anchor="ctr"/>
          <a:lstStyle/>
          <a:p>
            <a:pPr algn="l" indent="0" marL="0">
              <a:lnSpc>
                <a:spcPts val="2500"/>
              </a:lnSpc>
              <a:buNone/>
            </a:pPr>
            <a:r>
              <a:rPr lang="en-US" sz="2000" dirty="0">
                <a:solidFill>
                  <a:srgbClr val="AE2525"/>
                </a:solidFill>
                <a:latin typeface="Courier New" pitchFamily="34" charset="0"/>
                <a:ea typeface="Courier New" pitchFamily="34" charset="-122"/>
                <a:cs typeface="Courier New" pitchFamily="34" charset="-120"/>
              </a:rPr>
              <a:t>The saved picture cuts off the labels</a:t>
            </a:r>
            <a:endParaRPr lang="en-US" sz="2000" dirty="0"/>
          </a:p>
        </p:txBody>
      </p:sp>
      <p:sp>
        <p:nvSpPr>
          <p:cNvPr id="6" name="Text 3"/>
          <p:cNvSpPr txBox="1"/>
          <p:nvPr/>
        </p:nvSpPr>
        <p:spPr>
          <a:xfrm>
            <a:off x="6035040" y="1664208"/>
            <a:ext cx="5486400" cy="1965960"/>
          </a:xfrm>
          <a:prstGeom prst="rect">
            <a:avLst/>
          </a:prstGeom>
          <a:noFill/>
          <a:ln/>
        </p:spPr>
        <p:txBody>
          <a:bodyPr wrap="square" lIns="0" tIns="0" rIns="0" bIns="0" rtlCol="0" anchor="t"/>
          <a:lstStyle/>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It means: The figure was saved without room for the labels.</a:t>
            </a:r>
            <a:endParaRPr lang="en-US" sz="2200" dirty="0"/>
          </a:p>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Fix: Add bbox_inches="tight" to plt.savefig.</a:t>
            </a:r>
            <a:endParaRPr lang="en-US" sz="2200" dirty="0"/>
          </a:p>
        </p:txBody>
      </p:sp>
      <p:sp>
        <p:nvSpPr>
          <p:cNvPr id="7" name="Shape 4"/>
          <p:cNvSpPr/>
          <p:nvPr/>
        </p:nvSpPr>
        <p:spPr>
          <a:xfrm>
            <a:off x="640080" y="3813048"/>
            <a:ext cx="10881360" cy="0"/>
          </a:xfrm>
          <a:prstGeom prst="line">
            <a:avLst/>
          </a:prstGeom>
          <a:noFill/>
          <a:ln w="12700">
            <a:solidFill>
              <a:srgbClr val="CFCFCF"/>
            </a:solidFill>
            <a:prstDash val="solid"/>
          </a:ln>
        </p:spPr>
      </p:sp>
      <p:pic>
        <p:nvPicPr>
          <p:cNvPr id="8" name="Image 1" descr="Error">    </p:cNvPr>
          <p:cNvPicPr>
            <a:picLocks noChangeAspect="1"/>
          </p:cNvPicPr>
          <p:nvPr/>
        </p:nvPicPr>
        <p:blipFill>
          <a:blip r:embed="rId2"/>
          <a:stretch>
            <a:fillRect/>
          </a:stretch>
        </p:blipFill>
        <p:spPr>
          <a:xfrm>
            <a:off x="640080" y="4023360"/>
            <a:ext cx="822960" cy="822960"/>
          </a:xfrm>
          <a:prstGeom prst="rect">
            <a:avLst/>
          </a:prstGeom>
        </p:spPr>
      </p:pic>
      <p:sp>
        <p:nvSpPr>
          <p:cNvPr id="9" name="Shape 5"/>
          <p:cNvSpPr/>
          <p:nvPr/>
        </p:nvSpPr>
        <p:spPr>
          <a:xfrm>
            <a:off x="1645920" y="4160520"/>
            <a:ext cx="4023360" cy="1645920"/>
          </a:xfrm>
          <a:prstGeom prst="roundRect">
            <a:avLst>
              <a:gd name="adj" fmla="val 3333"/>
            </a:avLst>
          </a:prstGeom>
          <a:solidFill>
            <a:srgbClr val="FFFFFF"/>
          </a:solidFill>
          <a:ln w="25400">
            <a:solidFill>
              <a:srgbClr val="AE2525"/>
            </a:solidFill>
            <a:prstDash val="solid"/>
          </a:ln>
        </p:spPr>
      </p:sp>
      <p:sp>
        <p:nvSpPr>
          <p:cNvPr id="10" name="Text 6"/>
          <p:cNvSpPr txBox="1"/>
          <p:nvPr/>
        </p:nvSpPr>
        <p:spPr>
          <a:xfrm>
            <a:off x="1783080" y="4251960"/>
            <a:ext cx="3749040" cy="1463040"/>
          </a:xfrm>
          <a:prstGeom prst="rect">
            <a:avLst/>
          </a:prstGeom>
          <a:noFill/>
          <a:ln/>
        </p:spPr>
        <p:txBody>
          <a:bodyPr wrap="square" lIns="0" tIns="0" rIns="0" bIns="0" rtlCol="0" anchor="ctr"/>
          <a:lstStyle/>
          <a:p>
            <a:pPr algn="l" indent="0" marL="0">
              <a:lnSpc>
                <a:spcPts val="2500"/>
              </a:lnSpc>
              <a:buNone/>
            </a:pPr>
            <a:r>
              <a:rPr lang="en-US" sz="2000" dirty="0">
                <a:solidFill>
                  <a:srgbClr val="AE2525"/>
                </a:solidFill>
                <a:latin typeface="Courier New" pitchFamily="34" charset="0"/>
                <a:ea typeface="Courier New" pitchFamily="34" charset="-122"/>
                <a:cs typeface="Courier New" pitchFamily="34" charset="-120"/>
              </a:rPr>
              <a:t>The picture is saved blank</a:t>
            </a:r>
            <a:endParaRPr lang="en-US" sz="2000" dirty="0"/>
          </a:p>
        </p:txBody>
      </p:sp>
      <p:sp>
        <p:nvSpPr>
          <p:cNvPr id="11" name="Text 7"/>
          <p:cNvSpPr txBox="1"/>
          <p:nvPr/>
        </p:nvSpPr>
        <p:spPr>
          <a:xfrm>
            <a:off x="6035040" y="3995928"/>
            <a:ext cx="5486400" cy="1965960"/>
          </a:xfrm>
          <a:prstGeom prst="rect">
            <a:avLst/>
          </a:prstGeom>
          <a:noFill/>
          <a:ln/>
        </p:spPr>
        <p:txBody>
          <a:bodyPr wrap="square" lIns="0" tIns="0" rIns="0" bIns="0" rtlCol="0" anchor="t"/>
          <a:lstStyle/>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It means: plt.show() ran before plt.savefig, which clears the figure.</a:t>
            </a:r>
            <a:endParaRPr lang="en-US" sz="2200" dirty="0"/>
          </a:p>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Fix: Call plt.savefig before plt.show.</a:t>
            </a:r>
            <a:endParaRPr lang="en-US" sz="22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Finish this sentence in your notebook</a:t>
            </a:r>
            <a:endParaRPr lang="en-US" sz="3800" dirty="0"/>
          </a:p>
        </p:txBody>
      </p:sp>
      <p:sp>
        <p:nvSpPr>
          <p:cNvPr id="3" name="Text 1"/>
          <p:cNvSpPr txBox="1"/>
          <p:nvPr/>
        </p:nvSpPr>
        <p:spPr>
          <a:xfrm>
            <a:off x="640080" y="1737360"/>
            <a:ext cx="6949440" cy="2926080"/>
          </a:xfrm>
          <a:prstGeom prst="rect">
            <a:avLst/>
          </a:prstGeom>
          <a:noFill/>
          <a:ln/>
        </p:spPr>
        <p:txBody>
          <a:bodyPr wrap="square" lIns="0" tIns="0" rIns="0" bIns="0" rtlCol="0" anchor="t"/>
          <a:lstStyle/>
          <a:p>
            <a:pPr algn="l" indent="0" marL="0">
              <a:lnSpc>
                <a:spcPts val="4800"/>
              </a:lnSpc>
              <a:spcAft>
                <a:spcPts val="1010"/>
              </a:spcAft>
              <a:buNone/>
            </a:pPr>
            <a:r>
              <a:rPr lang="en-US" sz="4000" dirty="0">
                <a:solidFill>
                  <a:srgbClr val="111111"/>
                </a:solidFill>
                <a:latin typeface="Lato" pitchFamily="34" charset="0"/>
                <a:ea typeface="Lato" pitchFamily="34" charset="-122"/>
                <a:cs typeface="Lato" pitchFamily="34" charset="-120"/>
              </a:rPr>
              <a:t>A reader can find my main finding in 30 seconds, and I tested the assistant's advice before I used it.</a:t>
            </a:r>
            <a:endParaRPr lang="en-US" sz="4000" dirty="0"/>
          </a:p>
        </p:txBody>
      </p:sp>
      <p:sp>
        <p:nvSpPr>
          <p:cNvPr id="4" name="Text 2"/>
          <p:cNvSpPr txBox="1"/>
          <p:nvPr/>
        </p:nvSpPr>
        <p:spPr>
          <a:xfrm>
            <a:off x="640080" y="4846320"/>
            <a:ext cx="6949440" cy="1097280"/>
          </a:xfrm>
          <a:prstGeom prst="rect">
            <a:avLst/>
          </a:prstGeom>
          <a:noFill/>
          <a:ln/>
        </p:spPr>
        <p:txBody>
          <a:bodyPr wrap="square" lIns="0" tIns="0" rIns="0" bIns="0" rtlCol="0" anchor="t"/>
          <a:lstStyle/>
          <a:p>
            <a:pPr algn="l" indent="0" marL="0">
              <a:lnSpc>
                <a:spcPts val="2750"/>
              </a:lnSpc>
              <a:buNone/>
            </a:pPr>
            <a:r>
              <a:rPr lang="en-US" sz="2200" dirty="0">
                <a:solidFill>
                  <a:srgbClr val="333333"/>
                </a:solidFill>
                <a:latin typeface="Lato" pitchFamily="34" charset="0"/>
                <a:ea typeface="Lato" pitchFamily="34" charset="-122"/>
                <a:cs typeface="Lato" pitchFamily="34" charset="-120"/>
              </a:rPr>
              <a:t>Then save your notebook, close it and open it again to check it saved.</a:t>
            </a:r>
            <a:endParaRPr lang="en-US" sz="2200" dirty="0"/>
          </a:p>
        </p:txBody>
      </p:sp>
      <p:pic>
        <p:nvPicPr>
          <p:cNvPr id="5" name="Image 0" descr="Finished">    </p:cNvPr>
          <p:cNvPicPr>
            <a:picLocks noChangeAspect="1"/>
          </p:cNvPicPr>
          <p:nvPr/>
        </p:nvPicPr>
        <p:blipFill>
          <a:blip r:embed="rId1"/>
          <a:stretch>
            <a:fillRect/>
          </a:stretch>
        </p:blipFill>
        <p:spPr>
          <a:xfrm>
            <a:off x="8229600" y="1920240"/>
            <a:ext cx="3291840" cy="329184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KLAi camp">
  <a:themeElements>
    <a:clrScheme name="KLAi camp">
      <a:dk1>
        <a:srgbClr val="111111"/>
      </a:dk1>
      <a:lt1>
        <a:srgbClr val="FFFFFF"/>
      </a:lt1>
      <a:dk2>
        <a:srgbClr val="333333"/>
      </a:dk2>
      <a:lt2>
        <a:srgbClr val="F1F1F1"/>
      </a:lt2>
      <a:accent1>
        <a:srgbClr val="AE2525"/>
      </a:accent1>
      <a:accent2>
        <a:srgbClr val="E0BE36"/>
      </a:accent2>
      <a:accent3>
        <a:srgbClr val="8C8C8C"/>
      </a:accent3>
      <a:accent4>
        <a:srgbClr val="555555"/>
      </a:accent4>
      <a:accent5>
        <a:srgbClr val="CFCFCF"/>
      </a:accent5>
      <a:accent6>
        <a:srgbClr val="000000"/>
      </a:accent6>
      <a:hlink>
        <a:srgbClr val="AE2525"/>
      </a:hlink>
      <a:folHlink>
        <a:srgbClr val="666666"/>
      </a:folHlink>
    </a:clrScheme>
    <a:fontScheme name="KLAi camp">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KLAi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DA21 Build and test the chart report</dc:title>
  <dc:subject>Python for Data Analysis</dc:subject>
  <dc:creator>KLAi</dc:creator>
  <cp:lastModifiedBy>KLAi</cp:lastModifiedBy>
  <cp:revision>1</cp:revision>
  <dcterms:created xsi:type="dcterms:W3CDTF">2026-10-31T12:32:56Z</dcterms:created>
  <dcterms:modified xsi:type="dcterms:W3CDTF">2026-10-31T12:32:56Z</dcterms:modified>
</cp:coreProperties>
</file>