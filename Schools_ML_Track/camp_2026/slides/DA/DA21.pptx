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af1ac1c-cf5a-d11a-ccfb-16109fac8f70}">
          <p14:sldIdLst>
            <p14:sldId id="256"/>
            <p14:sldId id="257"/>
            <p14:sldId id="258"/>
            <p14:sldId id="259"/>
            <p14:sldId id="260"/>
            <p14:sldId id="261"/>
            <p14:sldId id="262"/>
            <p14:sldId id="263"/>
          </p14:sldIdLst>
        </p14:section>
        <p14:section name="Make and close" id="{ef934ecf-4d45-ef0d-2e53-a758a0a80696}">
          <p14:sldIdLst>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Laptops open, please. Today is session 21 and our topic is build and test the chart report.
By the end of today you will be able to build a chart report that a stranger reads in 30 seconds, and you can critique a coding assistant's hint with a test.
We will answer one question: Does my report answer my questions without a verbal 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my report answer my questions without a verbal tour? Picture handing your report to someone, then leaving the room. Everything they need has to be on the page: what is shown, which bar is largest, and what the data cannot show. Today you build the chart report and then test it on a peer, who will tell you where they hesitated.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retrieve yesterday, three questions on paper. Then, 50 minutes. Block A, predict, run, investigate, modify. After that, 15 minutes. Break away from screens. Next, 50 minutes. Block B, predict, run, investigate, modify. Then, 40 minutes. Make, the independent task and the project journal. Then, 15 minutes. Exit ticket, save, and an individual check with each learner.
Most of the time is your own build, with a check and a partner. Ask me now if any part of the plan is unclear.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chart report. A short notebook of charts, numbers and sentences that answers the project questions. Picture this. A news page with pictures and captions.
caption. One sentence under a chart that says what it shows. You have seen this before. The words under a photograph.
data source note. A line that says where the data came from and its limits. The credit under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layout. At the top, a title that says what the chart shows. The chart has labelled axes with units. Beside or below it, two findings, each with its number. Then a limitation in plain words, and finally a note that names the data source.
Few charts, clearly labelled, are better than many crowded ones. Keep the layout the same every time, so a reader knows where to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your report to a peer for thirty seconds and ask one question: which is the largest bar, and what is its total? If your peer finds it fast, keep your headings. If your peer hesitates, write down where they looked and change that heading or label.
For the Sunrise report the answer is Central Market, with two million nine hundred and ninety seven thousand shillings.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order that works. First draw the chart. Second, call savefig with a file name. Third, call show. The show instruction clears the figure after it displays it, so a save that comes after is saving an empty page.
Add bbox inches equals tight to the save, and the labels stay inside the picture instead of being cut off at the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assistant can help you get unstuck, but only if you keep the thinking. Try the problem yourself first. If you are stuck, ask for a hint. When you get an answer, predict what it will do, run it, and test it against a case you know.
Then decide whether to keep or reject it, and say why. Write each turn in your AI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DA21. I will come round to each of you and ask what you changed and how you checked it.
The rest of the brief is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rest of the brief. Take your time, and save your work as you go, because a saved file is the only thing I can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The saved picture cuts off the labels. It means this: the figure was saved without room for the labels. To fix it, add bbox_inches="tight" to plt.savefig.
The next one. You will see: The picture is saved blank. It means this: plt.show() ran before plt.savefig, which clears the figure. To fix it, call plt.savefig before plt.show.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Does my report answer my questions without a verbal tour?
Copy this sentence into your notebook and make it yours. A reader can find my main finding in 30 seconds, and I tested the assistant's advice before I used it.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DA21  |  Build and test the chart report</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Build and test the chart report</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Does my report answer my questions without a verbal tour?</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21 of 24  |  Week 7, Show it</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Does my report answer my</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questions without a verbal tour?</a:t>
            </a:r>
            <a:endParaRPr lang="en-US" sz="3600" dirty="0"/>
          </a:p>
        </p:txBody>
      </p:sp>
      <p:pic>
        <p:nvPicPr>
          <p:cNvPr id="3" name="Image 0" descr="A one page chart report with its labelled part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Today's plan in minutes</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the time is your own build, with a check and a partner.</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a:t>
            </a:r>
            <a:endParaRPr lang="en-US" sz="3800" dirty="0"/>
          </a:p>
        </p:txBody>
      </p:sp>
      <p:pic>
        <p:nvPicPr>
          <p:cNvPr id="3" name="Image 0" descr="chart repor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chart report</a:t>
            </a:r>
            <a:endParaRPr lang="en-US" sz="31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short notebook of charts, numbers and sentences that answers the project questions.</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news page with pictures and captions.</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caption">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caption</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One sentence under a chart that says what it shows.</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words under a photograph.</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data source not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120"/>
              </a:lnSpc>
              <a:buNone/>
            </a:pPr>
            <a:r>
              <a:rPr lang="en-US" sz="2600" b="1" dirty="0">
                <a:solidFill>
                  <a:srgbClr val="111111"/>
                </a:solidFill>
                <a:latin typeface="Lato" pitchFamily="34" charset="0"/>
                <a:ea typeface="Lato" pitchFamily="34" charset="-122"/>
                <a:cs typeface="Lato" pitchFamily="34" charset="-120"/>
              </a:rPr>
              <a:t>data source note</a:t>
            </a:r>
            <a:endParaRPr lang="en-US" sz="26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line that says where the data came from and its limits.</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credit under a map.</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chart report has a title, chart, findings, limit</a:t>
            </a:r>
            <a:endParaRPr lang="en-US" sz="3800" dirty="0"/>
          </a:p>
        </p:txBody>
      </p:sp>
      <p:pic>
        <p:nvPicPr>
          <p:cNvPr id="3" name="Image 0" descr="A chart report has a title, chart, findings, limi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Findings sit next to their evidence.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limitation says what the data cannot show.</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source note names the data.</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Can a peer find the largest bar in 30 seconds?</a:t>
            </a:r>
            <a:endParaRPr lang="en-US" sz="3800" dirty="0"/>
          </a:p>
        </p:txBody>
      </p:sp>
      <p:pic>
        <p:nvPicPr>
          <p:cNvPr id="3" name="Image 0" descr="Can a peer find the largest bar in 30 second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Central Market is the largest bar, with 2,997,000.</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Save the figure before show, or it is blank</a:t>
            </a:r>
            <a:endParaRPr lang="en-US" sz="3800" dirty="0"/>
          </a:p>
        </p:txBody>
      </p:sp>
      <p:pic>
        <p:nvPicPr>
          <p:cNvPr id="3" name="Image 0" descr="Save the figure before show, or it is blank">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Draw the chart.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Save it with bbox inches tight.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Then show it.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Take hints from an assistant, then test them</a:t>
            </a:r>
            <a:endParaRPr lang="en-US" sz="3800" dirty="0"/>
          </a:p>
        </p:txBody>
      </p:sp>
      <p:pic>
        <p:nvPicPr>
          <p:cNvPr id="3" name="Image 0" descr="Take hints from an assistant, then test them">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Try it yourself first.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Ask for a hint and keep the thinking.</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Predict, run and test what comes back.</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(1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120"/>
              </a:lnSpc>
              <a:spcAft>
                <a:spcPts val="2020"/>
              </a:spcAft>
              <a:buNone/>
            </a:pPr>
            <a:r>
              <a:rPr lang="en-US" sz="2600" dirty="0">
                <a:solidFill>
                  <a:srgbClr val="111111"/>
                </a:solidFill>
                <a:latin typeface="Lato" pitchFamily="34" charset="0"/>
                <a:ea typeface="Lato" pitchFamily="34" charset="-122"/>
                <a:cs typeface="Lato" pitchFamily="34" charset="-120"/>
              </a:rPr>
              <a:t>Build the chart report.</a:t>
            </a:r>
            <a:endParaRPr lang="en-US" sz="2600" dirty="0"/>
          </a:p>
          <a:p>
            <a:pPr algn="l" indent="0" marL="0">
              <a:lnSpc>
                <a:spcPts val="3120"/>
              </a:lnSpc>
              <a:spcAft>
                <a:spcPts val="2020"/>
              </a:spcAft>
              <a:buNone/>
            </a:pPr>
            <a:r>
              <a:rPr lang="en-US" sz="2600" dirty="0">
                <a:solidFill>
                  <a:srgbClr val="111111"/>
                </a:solidFill>
                <a:latin typeface="Lato" pitchFamily="34" charset="0"/>
                <a:ea typeface="Lato" pitchFamily="34" charset="-122"/>
                <a:cs typeface="Lato" pitchFamily="34" charset="-120"/>
              </a:rPr>
              <a:t>Use few charts, readable labels with units, the covered dates and a visible data source note.</a:t>
            </a:r>
            <a:endParaRPr lang="en-US" sz="2600" dirty="0"/>
          </a:p>
          <a:p>
            <a:pPr algn="l" indent="0" marL="0">
              <a:lnSpc>
                <a:spcPts val="3120"/>
              </a:lnSpc>
              <a:spcAft>
                <a:spcPts val="2020"/>
              </a:spcAft>
              <a:buNone/>
            </a:pPr>
            <a:r>
              <a:rPr lang="en-US" sz="2600" dirty="0">
                <a:solidFill>
                  <a:srgbClr val="111111"/>
                </a:solidFill>
                <a:latin typeface="Lato" pitchFamily="34" charset="0"/>
                <a:ea typeface="Lato" pitchFamily="34" charset="-122"/>
                <a:cs typeface="Lato" pitchFamily="34" charset="-120"/>
              </a:rPr>
              <a:t>Write two findings and one limitation next to their evidence.</a:t>
            </a:r>
            <a:endParaRPr lang="en-US" sz="2600" dirty="0"/>
          </a:p>
          <a:p>
            <a:pPr algn="l" indent="0" marL="0">
              <a:lnSpc>
                <a:spcPts val="3120"/>
              </a:lnSpc>
              <a:spcAft>
                <a:spcPts val="2020"/>
              </a:spcAft>
              <a:buNone/>
            </a:pPr>
            <a:r>
              <a:rPr lang="en-US" sz="2600" dirty="0">
                <a:solidFill>
                  <a:srgbClr val="111111"/>
                </a:solidFill>
                <a:latin typeface="Lato" pitchFamily="34" charset="0"/>
                <a:ea typeface="Lato" pitchFamily="34" charset="-122"/>
                <a:cs typeface="Lato" pitchFamily="34" charset="-120"/>
              </a:rPr>
              <a:t>Give a peer 30 seconds to find the largest category and its total, and record where they hesitate.</a:t>
            </a:r>
            <a:endParaRPr lang="en-US" sz="26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(2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2760"/>
              </a:lnSpc>
              <a:spcAft>
                <a:spcPts val="2020"/>
              </a:spcAft>
              <a:buNone/>
            </a:pPr>
            <a:r>
              <a:rPr lang="en-US" sz="2300" dirty="0">
                <a:solidFill>
                  <a:srgbClr val="111111"/>
                </a:solidFill>
                <a:latin typeface="Lato" pitchFamily="34" charset="0"/>
                <a:ea typeface="Lato" pitchFamily="34" charset="-122"/>
                <a:cs typeface="Lato" pitchFamily="34" charset="-120"/>
              </a:rPr>
              <a:t>To put a chart in your report, call plt.savefig("revenue.png", bbox_inches="tight") before plt.show(), then insert the PNG with Insert and Pictures.</a:t>
            </a:r>
            <a:endParaRPr lang="en-US" sz="2300" dirty="0"/>
          </a:p>
          <a:p>
            <a:pPr algn="l" indent="0" marL="0">
              <a:lnSpc>
                <a:spcPts val="2760"/>
              </a:lnSpc>
              <a:spcAft>
                <a:spcPts val="2020"/>
              </a:spcAft>
              <a:buNone/>
            </a:pPr>
            <a:r>
              <a:rPr lang="en-US" sz="2300" dirty="0">
                <a:solidFill>
                  <a:srgbClr val="111111"/>
                </a:solidFill>
                <a:latin typeface="Lato" pitchFamily="34" charset="0"/>
                <a:ea typeface="Lato" pitchFamily="34" charset="-122"/>
                <a:cs typeface="Lato" pitchFamily="34" charset="-120"/>
              </a:rPr>
              <a:t>When the instructor confirms you are ready, spend 20 minutes with AI_CODING_ASSISTANTS_LAB.md: critique a hint on the practice function, run a test and log it in AI_USE_LOG.md.</a:t>
            </a:r>
            <a:endParaRPr lang="en-US" sz="2300" dirty="0"/>
          </a:p>
          <a:p>
            <a:pPr algn="l" indent="0" marL="0">
              <a:lnSpc>
                <a:spcPts val="2760"/>
              </a:lnSpc>
              <a:spcAft>
                <a:spcPts val="2020"/>
              </a:spcAft>
              <a:buNone/>
            </a:pPr>
            <a:r>
              <a:rPr lang="en-US" sz="2300" dirty="0">
                <a:solidFill>
                  <a:srgbClr val="111111"/>
                </a:solidFill>
                <a:latin typeface="Lato" pitchFamily="34" charset="0"/>
                <a:ea typeface="Lato" pitchFamily="34" charset="-122"/>
                <a:cs typeface="Lato" pitchFamily="34" charset="-120"/>
              </a:rPr>
              <a:t>Write two sentences: what you changed and how you checked it.</a:t>
            </a:r>
            <a:endParaRPr lang="en-US" sz="23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saved picture cuts off the labels</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figure was saved without room for the labels.</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Add bbox_inches="tight" to plt.savefig.</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picture is saved blank</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plt.show() ran before plt.savefig, which clears the figure.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Call plt.savefig before plt.show.</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reader can find my main finding in 30 seconds, and I tested the assistant's advice before I used it.</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DA21 Build and test the chart report</dc:title>
  <dc:subject>Python for Data Analysis</dc:subject>
  <dc:creator>KLAi</dc:creator>
  <cp:lastModifiedBy>KLAi</cp:lastModifiedBy>
  <cp:revision>1</cp:revision>
  <dcterms:created xsi:type="dcterms:W3CDTF">2026-10-31T12:44:28Z</dcterms:created>
  <dcterms:modified xsi:type="dcterms:W3CDTF">2026-10-31T12:44:28Z</dcterms:modified>
</cp:coreProperties>
</file>