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4c1ba44-4475-8d4e-9dad-64a2cde03a16}">
          <p14:sldIdLst>
            <p14:sldId id="256"/>
            <p14:sldId id="257"/>
            <p14:sldId id="258"/>
            <p14:sldId id="259"/>
            <p14:sldId id="260"/>
            <p14:sldId id="261"/>
            <p14:sldId id="262"/>
          </p14:sldIdLst>
        </p14:section>
        <p14:section name="Block A" id="{d7965e74-4ac3-a509-7b77-97321d440ad1}">
          <p14:sldIdLst>
            <p14:sldId id="263"/>
            <p14:sldId id="264"/>
            <p14:sldId id="265"/>
            <p14:sldId id="266"/>
            <p14:sldId id="268"/>
            <p14:sldId id="269"/>
          </p14:sldIdLst>
        </p14:section>
        <p14:section name="Break" id="{2c103511-edc5-61fa-5b33-bf24096d6071}">
          <p14:sldIdLst>
            <p14:sldId id="267"/>
          </p14:sldIdLst>
        </p14:section>
        <p14:section name="Block A" id="{95e4d8d1-2052-8ced-dac4-17b30d99ad4b}">
          <p14:sldIdLst/>
        </p14:section>
        <p14:section name="Block B" id="{ae862bf1-059b-6a83-1754-a4a27bc70350}">
          <p14:sldIdLst>
            <p14:sldId id="270"/>
            <p14:sldId id="271"/>
            <p14:sldId id="272"/>
            <p14:sldId id="273"/>
            <p14:sldId id="274"/>
          </p14:sldIdLst>
        </p14:section>
        <p14:section name="Make and close" id="{a85aaf91-b796-9c14-3ce7-d3529fda5481}">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see you. Today is session 2 and our topic is values, names and types.
By the end of today you will be able to store numbers and text under names, and say what type each one is.
We will answer one question: What kind of thing is each part of a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sale from the shop table: a bottle of juice, four units, two thousand shillings each, sold on the first of December. Each part is a different kind of thing. The name Juice and the date are text. The number four is a count and two thousand is an amount of money. Python needs to know which kind it is dealing with, because each kind behaves in its own way. That is what we are sorting out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value. One piece of information, such as 2000 or Juice. An example from everyday life. One entry on a receipt.
integer. A whole number with no decimal part. Here is a way to see it. Counting 3 books.
float. A number with a decimal part. A small example. A price of 2500.5 shillings.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string. Text inside quotation marks. Picture this. A name written on a label.
variable. A name that points to a value. You have seen this before. A label on a box of stock.
type. The kind of value: integer, float or string. Knowing whether a box holds pens or juice.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 stock boxes in a shop storeroom. Each box has a label, and inside is what you counted. A variable works the same way. The label is the name, such as price. The thing inside is the value, such as two thousand. The equals sign is the instruction that puts a value into a labelled box.
Look at the third line. Python works out the right side first, price times units, and then stores the answer in a new box called revenue. What will be inside that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sorts every value into a type. A whole number with no decimal point is an integer. A number with a decimal point, like twenty five hundred and a half, is a float. Anything written between quotation marks is a string, which means text. Look at the three bins and notice that the string bin has the number three in it, but with quotation marks around it.
If we ask Python for the type, it tells us which bin a value belongs to. Try it on your own laptop in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shop sells 3 Juice bottles at 2000 shillings each. The equals sign stores a value under a name.
This is the part where you decide. Predict the three lines the cell will print.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The cell prints 6000, then &lt;class 'int'&gt;, then &lt;class 'str'&gt;. price and units are variables. 2000 is an integer. The quoted "2000" is a string, which is text. The equals sign stores the value on its right under the name on its left.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names point to values. I have two questions for you.
Question one. Why is type("2000") a string? Say it quietly to yourself before anyone answers.
What I would say is this. Quotation marks make it text. Python cannot multiply it like an amount of money.
Question two. What does the equals sign do in revenue = price * units? Give it thirty seconds and then we will hear a few answers.
Let me answer it. It works out the right side first and then stores the answer under the name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Change units to 5 and run the whole cell again. When you have run it, tell your neighbour what changed and how you know.
Here is what happens. revenue becomes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look almost the same, but Python treats them very differently. Two thousand without quotation marks is an amount. You can multiply it, add it and compare it. Two thousand with quotation marks is just four characters in a row, the way a name is a few letters in a row.
Why does this matter in a shop table? Because data often arrives as text, and a price that is text cannot be added up until we change it. We fix that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price arrived as text, with quotation marks. Python cannot multiply text. The word float, followed by brackets, converts it into a real number with a decimal point. After that we can multiply by two and get five thousand and one.
Follow the arrows from left to right. Where do the quotation marks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can have decimals. Text that looks like a number has to be converted before Python can calculate with it.
Make a prediction. Predict what each of the first three prints shows, and whether the last line will work.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cell prints &lt;class 'float'&gt;, &lt;class 'str'&gt;, 5001.0 and 5001.0. The quoted price is text. float() turns it into a number that can be multiplied.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decimals and converting text. I have two questions for you.
Question one. Why does the answer 5001.0 keep a decimal point even though 2 is a whole number? Give it thirty seconds and then we will hear a few answers.
Let me answer it. Multiplying a float by 2 gives a float. Python keeps the decimal point.
Question two. What would happen with float("two")? Talk it over with your neighbour for a minute.
The answer is this. An error. Only text that looks like a number can be converted.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Convert the text "2500.5" to a number with float() and multiply it by 4. Run it, then tell someone what you saw.
What you should find: 10002.0.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trap for almost every beginner. In the first column total is five thousand and one. In the second column we changed quantity to four, but total still says five thousand and one. Python does not update an earlier answer behind your back. Only when we run the line that calculates total again does it become ten thousand and two.
Remember this when your numbers look wrong after an edit. Ask yourself which line you forgot to run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DA02.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NameError: name 'price' is not defined. It means this: Python has not run a line that creates that name in this session. To fix it, Run the cell that creates the name first, and check the spelling and capital letters.
The next one. You will see: TypeError: can't multiply sequence by non-int of type 'float'. It means this: you tried to multiply text by a decimal. To fix it, convert the text with float() or remove the quotation marks.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What kind of thing is each part of a sale?
Write this sentence in your notebook and finish it your own way. A variable is a name that points to a value, and the value stays until I store a new one.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DA02  |  Values, names and types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1.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Values, names and types</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What kind of thing is each part of a sale?</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2 of 24  |  Week 1, Meet the data</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What kind of thing is each part of a sale?</a:t>
            </a:r>
            <a:endParaRPr lang="en-US" sz="3800" dirty="0"/>
          </a:p>
        </p:txBody>
      </p:sp>
      <p:pic>
        <p:nvPicPr>
          <p:cNvPr id="3" name="Image 0" descr="One sale in the shop table with a type under each part">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valu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value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One piece of information, such as 2000 or Juice.</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entry on a receipt.</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integer">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integer</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whole number with no decimal part.</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Counting 3 books.</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float">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float</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number with a decimal part.</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price of 2500.5 shillings.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string">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string</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Text inside quotation marks.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name written on a label.</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variabl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variable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name that points to a value.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label on a box of stock.</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typ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type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kind of value: integer, float or string.</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Knowing whether a box holds pens or juice.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variable is a labelled box that holds a value</a:t>
            </a:r>
            <a:endParaRPr lang="en-US" sz="3800" dirty="0"/>
          </a:p>
        </p:txBody>
      </p:sp>
      <p:pic>
        <p:nvPicPr>
          <p:cNvPr id="3" name="Image 0" descr="A variable is a labelled box that holds a valu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name goes on the label.</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value sits inside the box.</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equals sign stores it there.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value's type decides what you can do with it</a:t>
            </a:r>
            <a:endParaRPr lang="en-US" sz="3800" dirty="0"/>
          </a:p>
        </p:txBody>
      </p:sp>
      <p:pic>
        <p:nvPicPr>
          <p:cNvPr id="3" name="Image 0" descr="A value's type decides what you can do with i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whole number is an integer.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number with a decimal point is a float.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Text in quotation marks is a string.</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Names point to values</a:t>
            </a:r>
            <a:endParaRPr lang="en-US" sz="3800" dirty="0"/>
          </a:p>
        </p:txBody>
      </p:sp>
      <p:sp>
        <p:nvSpPr>
          <p:cNvPr id="3" name="Shape 1"/>
          <p:cNvSpPr/>
          <p:nvPr/>
        </p:nvSpPr>
        <p:spPr>
          <a:xfrm>
            <a:off x="640080" y="1645920"/>
            <a:ext cx="6035040" cy="2618232"/>
          </a:xfrm>
          <a:prstGeom prst="roundRect">
            <a:avLst>
              <a:gd name="adj" fmla="val 2794"/>
            </a:avLst>
          </a:prstGeom>
          <a:solidFill>
            <a:srgbClr val="111111"/>
          </a:solidFill>
          <a:ln/>
        </p:spPr>
      </p:sp>
      <p:sp>
        <p:nvSpPr>
          <p:cNvPr id="4" name="Text 2"/>
          <p:cNvSpPr txBox="1"/>
          <p:nvPr/>
        </p:nvSpPr>
        <p:spPr>
          <a:xfrm>
            <a:off x="841248" y="1847088"/>
            <a:ext cx="5632704" cy="221589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price = 2000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units = 3</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revenue = price * units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print(revenue)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print(type(price))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print(type(</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"2000"</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600"/>
              </a:lnSpc>
              <a:spcAft>
                <a:spcPts val="2160"/>
              </a:spcAft>
              <a:buNone/>
            </a:pPr>
            <a:r>
              <a:rPr lang="en-US" sz="3000" dirty="0">
                <a:solidFill>
                  <a:srgbClr val="111111"/>
                </a:solidFill>
                <a:latin typeface="Lato" pitchFamily="34" charset="0"/>
                <a:ea typeface="Lato" pitchFamily="34" charset="-122"/>
                <a:cs typeface="Lato" pitchFamily="34" charset="-120"/>
              </a:rPr>
              <a:t>Predict the three lines the cell will print.</a:t>
            </a:r>
            <a:endParaRPr lang="en-US" sz="3000" dirty="0"/>
          </a:p>
          <a:p>
            <a:pPr algn="l" indent="0" marL="0">
              <a:lnSpc>
                <a:spcPts val="3600"/>
              </a:lnSpc>
              <a:spcAft>
                <a:spcPts val="2160"/>
              </a:spcAft>
              <a:buNone/>
            </a:pPr>
            <a:r>
              <a:rPr lang="en-US" sz="3000" dirty="0">
                <a:solidFill>
                  <a:srgbClr val="111111"/>
                </a:solidFill>
                <a:latin typeface="Lato" pitchFamily="34" charset="0"/>
                <a:ea typeface="Lato" pitchFamily="34" charset="-122"/>
                <a:cs typeface="Lato" pitchFamily="34" charset="-120"/>
              </a:rPr>
              <a:t>Write your guess on paper before we run it.</a:t>
            </a:r>
            <a:endParaRPr lang="en-US" sz="30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Names point to values</a:t>
            </a:r>
            <a:endParaRPr lang="en-US" sz="3800" dirty="0"/>
          </a:p>
        </p:txBody>
      </p:sp>
      <p:sp>
        <p:nvSpPr>
          <p:cNvPr id="3" name="Shape 1"/>
          <p:cNvSpPr/>
          <p:nvPr/>
        </p:nvSpPr>
        <p:spPr>
          <a:xfrm>
            <a:off x="640080" y="1645920"/>
            <a:ext cx="6035040" cy="1491996"/>
          </a:xfrm>
          <a:prstGeom prst="roundRect">
            <a:avLst>
              <a:gd name="adj" fmla="val 4903"/>
            </a:avLst>
          </a:prstGeom>
          <a:solidFill>
            <a:srgbClr val="FFFFFF"/>
          </a:solidFill>
          <a:ln w="15875">
            <a:solidFill>
              <a:srgbClr val="111111"/>
            </a:solidFill>
            <a:prstDash val="solid"/>
          </a:ln>
        </p:spPr>
      </p:sp>
      <p:sp>
        <p:nvSpPr>
          <p:cNvPr id="4" name="Text 2"/>
          <p:cNvSpPr txBox="1"/>
          <p:nvPr/>
        </p:nvSpPr>
        <p:spPr>
          <a:xfrm>
            <a:off x="822960" y="1828800"/>
            <a:ext cx="5669280" cy="112623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6000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&lt;class 'int'&gt;</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&lt;class 'str'&gt;</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cell prints 6000, then &lt;class 'int'&gt;, then &lt;class 'str'&gt;.</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price and units are variables.</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2000 is an integer.</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quoted "2000" is a string, which is text.</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equals sign stores the value on its right under the name on its left.</a:t>
            </a:r>
            <a:endParaRPr lang="en-US" sz="25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Names point to values</a:t>
            </a:r>
            <a:endParaRPr lang="en-US" sz="3800" dirty="0"/>
          </a:p>
        </p:txBody>
      </p:sp>
      <p:sp>
        <p:nvSpPr>
          <p:cNvPr id="3" name="Shape 1"/>
          <p:cNvSpPr/>
          <p:nvPr/>
        </p:nvSpPr>
        <p:spPr>
          <a:xfrm>
            <a:off x="7498080" y="1737360"/>
            <a:ext cx="4023360" cy="2221992"/>
          </a:xfrm>
          <a:prstGeom prst="roundRect">
            <a:avLst>
              <a:gd name="adj" fmla="val 3292"/>
            </a:avLst>
          </a:prstGeom>
          <a:solidFill>
            <a:srgbClr val="111111"/>
          </a:solidFill>
          <a:ln/>
        </p:spPr>
      </p:sp>
      <p:sp>
        <p:nvSpPr>
          <p:cNvPr id="4" name="Text 2"/>
          <p:cNvSpPr txBox="1"/>
          <p:nvPr/>
        </p:nvSpPr>
        <p:spPr>
          <a:xfrm>
            <a:off x="7699248" y="1938528"/>
            <a:ext cx="3621024" cy="181965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price = 2000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units = 3</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revenue = price * units</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print(revenue)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print(type(price))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print(type(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"2000"</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is type("2000") a string?</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does the equals sign do in revenue = price * units?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units to 5 and run the whole cell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2221992"/>
          </a:xfrm>
          <a:prstGeom prst="roundRect">
            <a:avLst>
              <a:gd name="adj" fmla="val 3292"/>
            </a:avLst>
          </a:prstGeom>
          <a:solidFill>
            <a:srgbClr val="111111"/>
          </a:solidFill>
          <a:ln/>
        </p:spPr>
      </p:sp>
      <p:sp>
        <p:nvSpPr>
          <p:cNvPr id="5" name="Text 3"/>
          <p:cNvSpPr txBox="1"/>
          <p:nvPr/>
        </p:nvSpPr>
        <p:spPr>
          <a:xfrm>
            <a:off x="7424928" y="1938528"/>
            <a:ext cx="3895344" cy="181965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price = 2000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units = 3</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revenue = price * units</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print(revenue)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print(type(price))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print(type(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"2000"</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Quotation marks turn an amount into text</a:t>
            </a:r>
            <a:endParaRPr lang="en-US" sz="3800" dirty="0"/>
          </a:p>
        </p:txBody>
      </p:sp>
      <p:pic>
        <p:nvPicPr>
          <p:cNvPr id="3" name="Image 0" descr="Quotation marks turn an amount into tex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2000 is an amount Python can calculate with.</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"2000" is only characters, like a name.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type tells you which one you have.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float() turns number-like text into a number</a:t>
            </a:r>
            <a:endParaRPr lang="en-US" sz="3800" dirty="0"/>
          </a:p>
        </p:txBody>
      </p:sp>
      <p:pic>
        <p:nvPicPr>
          <p:cNvPr id="3" name="Image 0" descr="float() turns number-like text into a number">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Convert first, then calculate.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Decimals and converting text</a:t>
            </a:r>
            <a:endParaRPr lang="en-US" sz="3800" dirty="0"/>
          </a:p>
        </p:txBody>
      </p:sp>
      <p:sp>
        <p:nvSpPr>
          <p:cNvPr id="3" name="Shape 1"/>
          <p:cNvSpPr/>
          <p:nvPr/>
        </p:nvSpPr>
        <p:spPr>
          <a:xfrm>
            <a:off x="640080" y="1645920"/>
            <a:ext cx="6035040" cy="2618232"/>
          </a:xfrm>
          <a:prstGeom prst="roundRect">
            <a:avLst>
              <a:gd name="adj" fmla="val 2794"/>
            </a:avLst>
          </a:prstGeom>
          <a:solidFill>
            <a:srgbClr val="111111"/>
          </a:solidFill>
          <a:ln/>
        </p:spPr>
      </p:sp>
      <p:sp>
        <p:nvSpPr>
          <p:cNvPr id="4" name="Text 2"/>
          <p:cNvSpPr txBox="1"/>
          <p:nvPr/>
        </p:nvSpPr>
        <p:spPr>
          <a:xfrm>
            <a:off x="841248" y="1847088"/>
            <a:ext cx="5632704" cy="221589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price = 2500.5</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text_price =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"2500.5"</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print(type(price))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print(type(text_price))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print(price * 2)</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print(float(text_price) * 2)</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Predict what each of the first three prints shows, and whether the last line will work.</a:t>
            </a:r>
            <a:endParaRPr lang="en-US" sz="2400" dirty="0"/>
          </a:p>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Decimals and converting text</a:t>
            </a:r>
            <a:endParaRPr lang="en-US" sz="3800" dirty="0"/>
          </a:p>
        </p:txBody>
      </p:sp>
      <p:sp>
        <p:nvSpPr>
          <p:cNvPr id="3" name="Shape 1"/>
          <p:cNvSpPr/>
          <p:nvPr/>
        </p:nvSpPr>
        <p:spPr>
          <a:xfrm>
            <a:off x="640080" y="1645920"/>
            <a:ext cx="6035040" cy="1855216"/>
          </a:xfrm>
          <a:prstGeom prst="roundRect">
            <a:avLst>
              <a:gd name="adj" fmla="val 3943"/>
            </a:avLst>
          </a:prstGeom>
          <a:solidFill>
            <a:srgbClr val="FFFFFF"/>
          </a:solidFill>
          <a:ln w="15875">
            <a:solidFill>
              <a:srgbClr val="111111"/>
            </a:solidFill>
            <a:prstDash val="solid"/>
          </a:ln>
        </p:spPr>
      </p:sp>
      <p:sp>
        <p:nvSpPr>
          <p:cNvPr id="4" name="Text 2"/>
          <p:cNvSpPr txBox="1"/>
          <p:nvPr/>
        </p:nvSpPr>
        <p:spPr>
          <a:xfrm>
            <a:off x="822960" y="1828800"/>
            <a:ext cx="5669280" cy="148945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&lt;class 'float'&gt;</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&lt;class 'str'&gt;</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5001.0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5001.0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&lt;class 'float'&gt;, &lt;class 'str'&gt;, 5001.0 and 5001.0.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quoted price is text.</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float() turns it into a number that can be multiplied.</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Decimals and converting text</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does the answer 5001.0 keep a decimal point even though 2 is a whole number?</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would happen with float("two")?</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Convert the text "2500.5" to a number with float() and multiply it by 4.</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2122932"/>
          </a:xfrm>
          <a:prstGeom prst="roundRect">
            <a:avLst>
              <a:gd name="adj" fmla="val 3446"/>
            </a:avLst>
          </a:prstGeom>
          <a:solidFill>
            <a:srgbClr val="111111"/>
          </a:solidFill>
          <a:ln/>
        </p:spPr>
      </p:sp>
      <p:sp>
        <p:nvSpPr>
          <p:cNvPr id="5" name="Text 3"/>
          <p:cNvSpPr txBox="1"/>
          <p:nvPr/>
        </p:nvSpPr>
        <p:spPr>
          <a:xfrm>
            <a:off x="7424928" y="1938528"/>
            <a:ext cx="3895344" cy="1720596"/>
          </a:xfrm>
          <a:prstGeom prst="rect">
            <a:avLst/>
          </a:prstGeom>
          <a:noFill/>
          <a:ln/>
        </p:spPr>
        <p:txBody>
          <a:bodyPr wrap="square" lIns="0" tIns="0" rIns="0" bIns="0" rtlCol="0" anchor="t"/>
          <a:lstStyle/>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price = 2500.5</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text_price = </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"2500.5"</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print(type(price))</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print(type(text_price))</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print(price * 2)</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print(float(text_price) * 2)</a:t>
            </a:r>
            <a:endParaRPr lang="en-US" sz="17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A calculated value waits until you calculate again</a:t>
            </a:r>
            <a:endParaRPr lang="en-US" sz="3700" dirty="0"/>
          </a:p>
        </p:txBody>
      </p:sp>
      <p:pic>
        <p:nvPicPr>
          <p:cNvPr id="3" name="Image 0" descr="A calculated value waits until you calculate again">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Changing quantity does not change total.</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line that calculates total must run again.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Python reads from the top down.</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Create a decimal price of 2500.5 and a quantity of 2.</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Print the total.</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Write one sentence on why "2500.5" with quotation marks behaves differently.</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Save it as DA02. Write two sentences: what you changed and how you checked it.</a:t>
            </a:r>
            <a:endParaRPr lang="en-US" sz="28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NameError: name 'price' is not defined</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Python has not run a line that creates that name in this session.</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the cell that creates the name first, and check the spelling and capital letters.</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TypeError: can't multiply sequence by non-int of type 'float'</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You tried to multiply text by a decimal.</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Convert the text with float() or remove the quotation marks.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variable is a name that points to a value, and the value stays until I store a new one.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DA02 Values, names and types</dc:title>
  <dc:subject>Python for Data Analysis</dc:subject>
  <dc:creator>KLAi</dc:creator>
  <cp:lastModifiedBy>KLAi</cp:lastModifiedBy>
  <cp:revision>1</cp:revision>
  <dcterms:created xsi:type="dcterms:W3CDTF">2026-10-31T12:44:11Z</dcterms:created>
  <dcterms:modified xsi:type="dcterms:W3CDTF">2026-10-31T12:44:11Z</dcterms:modified>
</cp:coreProperties>
</file>