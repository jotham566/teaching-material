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24b46f-e833-7265-3123-24a0488557e2}">
          <p14:sldIdLst>
            <p14:sldId id="256"/>
            <p14:sldId id="257"/>
            <p14:sldId id="258"/>
            <p14:sldId id="259"/>
            <p14:sldId id="260"/>
            <p14:sldId id="261"/>
            <p14:sldId id="262"/>
          </p14:sldIdLst>
        </p14:section>
        <p14:section name="Block A" id="{e854dde1-189f-25f3-c356-6ed5cfdf6e31}">
          <p14:sldIdLst>
            <p14:sldId id="263"/>
            <p14:sldId id="264"/>
            <p14:sldId id="265"/>
            <p14:sldId id="266"/>
            <p14:sldId id="268"/>
            <p14:sldId id="269"/>
          </p14:sldIdLst>
        </p14:section>
        <p14:section name="Break" id="{1fbd6a76-7d01-be31-7c02-28ee0b5db7da}">
          <p14:sldIdLst>
            <p14:sldId id="267"/>
          </p14:sldIdLst>
        </p14:section>
        <p14:section name="Block A" id="{83af64c5-36b9-7ea2-20dd-25c3f97affb3}">
          <p14:sldIdLst/>
        </p14:section>
        <p14:section name="Block B" id="{9926c18d-4f84-a90f-1eec-ee8b298c10be}">
          <p14:sldIdLst>
            <p14:sldId id="270"/>
            <p14:sldId id="271"/>
            <p14:sldId id="272"/>
            <p14:sldId id="273"/>
            <p14:sldId id="274"/>
            <p14:sldId id="275"/>
          </p14:sldIdLst>
        </p14:section>
        <p14:section name="Make and close" id="{26e660d1-0383-252d-b06e-cd157858f3a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9 and our topic is sort, group, mean and median.
By the end of today you will be able to total a column by group, sort the result, and say when the median describes a column better than the mean.
We will answer one question: Which item earns the most, and what is a typical sale in a small practice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Sunrise Shops sold thousands of items over sixty days. The owner has two questions. Which item earns the most money, and what does a typical sale look like? A single total cannot answer either one. We need to sort the sales into piles, one pile for each item, and then measure each pile. That is what group, sort, mean and median are for, and today you will use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group. Gather rows with the same label before you calculate. Sorting the sales into piles by item.
sort. Put rows in order from smallest to largest or the other way. Think of a shop. Lining up pupils by height.
mean. The total shared out equally: add the values and divide by how many. Imagine it like this. Sharing a bag of mandazi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median. The middle value once the values are in order. An example from everyday life. The pupil standing in the middle of a line sorted by height.
proportion. A part divided by the whole. Times 100 it becomes a percentage. Here is a way to see it. 12 pupils out of 20 passed.
denominator. The whole that a proportion is measured against. A small example. The 20 in 12 out of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happens in three moves. Split means the rows are sorted into piles by the column you name, for example one pile for each item. Apply means we calculate on each pile separately, for example the sum of revenue. Combine means the answers come back together as one small table with one row per pile.
Follow the picture from left to right. Where did the Pen pile go, and what number came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same sixty sales grouped by item, drawn two ways. On the left each bar counts units. Pen sells the most, one hundred and three. On the right each bar adds up money. Now Book is on top with two hundred and ninety seven thousand shillings, because each book costs far more than a pen.
So which item is the best seller? It depends on the question. Before you answer anything, decide whether you are counting units or counting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groupby gathers the rows with the same item. A calculation such as sum then works inside each group.
Make a prediction. Predict which item sold the most units and which earned the most money.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Pen sold the most units, 103. Book earned the most money, 297000 shillings, then Juice 150000 and Pen 103000. The three revenues add to 550000. The item that sells the most units is not the item that earns the most.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group, total and sort. I have two questions for you.
Question one. Why does Pen sell the most units and earn the least money? Give it thirty seconds and then we will hear a few answers.
Let me answer it. A Pen costs 1000 shillings and a Book costs 3000, so each Pen sale brings in less.
Question two. How do you check the grouped totals? Talk it over with your neighbour for a minute.
The answer is this. Add them up and compare with the overall total of 550000.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Group the revenue by date and find the date with the most revenue. Run it, then tell someone what you saw.
What you should find: 2026-12-20 with 47000.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the total divided by how many values there are. The median is the middle value once the values are lined up in order. On the picture the mean sits like a balance point, and when one very large value joins the line, the balance point slides toward it. The middle value hardly moves.
In the Sunrise sales the mean sale is four thousand two hundred and fourteen shillings but the median is two thousand four hundred. Which one describes a typical sale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histogram counts how many sales fall in each range of value. Most of the bars crowd on the left, where the small sales are. A few sales reach out to the right, up to one hundred and eight thousand shillings. That long tail drags the mean to the right of the median.
When a distribution looks like this we call it skewed. For a typical sale, quote the median, and mention the mean as the number the big sales push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meet the bigger Sunrise Shops table: 1513 sales from three shops. The mean can be pulled up by a few huge sales.
Time to commit to an answer. Predict whether the mean sale value is above or below the median.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mean sale value is about 4214 shillings and the median is 2400. A few bulk purchases pull the mean up. 36 of the 1513 sales have 10 units or more, which is 2.4 percent. The 1513 is the denominator.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mean, median and a proportion. I have two questions for you.
Question one. Which number is a better answer to "what does a typical sale bring in"? Talk it over with your neighbour for a minute.
The answer is this. The median, 2400, because a few bulk sales inflate the mean.
Question two. Why must you say that the whole is 1513 sales? Think about it for a moment, then tell the person next to you.
A percentage with no stated whole cannot be compared with another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Find the proportion of sales with 5 units or more. After you run it, say in one sentence what changed and how you checked.
You should see this. About 8.7 percent, 132 of 1513.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proportion tells you how big a part is compared with the whole. The part goes on top. The whole goes underneath, and that bottom number is called the denominator. In the picture the gold squares are the part and all the squares together are the whole.
The denominator is where mistakes hide. Central Market earns two million nine hundred and ninety seven thousand shillings out of six million three hundred and seventy five thousand nine hundred. Divide the first by the second to get its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any grouping, add the pieces and compare with the total you got without grouping. The three branch totals are two million nine hundred and ninety seven thousand, one million nine hundred and eighty five thousand four hundred, and one million three hundred and ninety three thousand five hundred. They add up to six million three hundred and seventy five thousand nine hundred, which is the grand total.
If your pieces do not add up to the whole, something went wrong, and it is better to find that now than after the report is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KeyError: 'revenue_ugx'. It means this: you grouped a column that has not been created yet in this session. To fix it, Run the cell that creates the revenue column before the cell that groups it.
The next one. You will see: The totals do not add to the overall total. It means this: rows were lost or counted twice before grouping. To fix it, compare len() before and after each step to find where rows changed.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Which item earns the most, and what is a typical sale in a small practice shop?
Copy this sentence into your notebook and make it yours. A grouped total answers a question about each group, and the median stays steady when a few sales are huge.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DA09  |  Sort, group, mean and median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Sort, group, mean and median</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item earns the most, and what is a typical sale in a small practice shop?</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9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item earns the most, and what is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typical sale in a small practice shop?</a:t>
            </a:r>
            <a:endParaRPr lang="en-US" sz="3600" dirty="0"/>
          </a:p>
        </p:txBody>
      </p:sp>
      <p:pic>
        <p:nvPicPr>
          <p:cNvPr id="3" name="Image 0" descr="Sales sorted into piles by item, with a typical sale mark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group">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group</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Gather rows with the same label before you calculate.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the sales into piles by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o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sort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Put rows in order from smallest to largest or the other way.</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Lining up pupils by height.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mea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 add the values and divide by how many.</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 equally.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medi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median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middle value once the values are in order.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pupil standing in the middle of a line sorted by height.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por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 Times 100 it becomes a percentage.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12 pupils out of 20 passed.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enominat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denominator</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whole that a proportion is measured against.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20 in 12 out of 20.</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Group splits rows, adds each pile, then combines</a:t>
            </a:r>
            <a:endParaRPr lang="en-US" sz="3700" dirty="0"/>
          </a:p>
        </p:txBody>
      </p:sp>
      <p:pic>
        <p:nvPicPr>
          <p:cNvPr id="3" name="Image 0" descr="Group splits rows, adds each pile, then combine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Split by item, add each pile, combine into one small table.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best seller by units is not the top earner</a:t>
            </a:r>
            <a:endParaRPr lang="en-US" sz="3800" dirty="0"/>
          </a:p>
        </p:txBody>
      </p:sp>
      <p:pic>
        <p:nvPicPr>
          <p:cNvPr id="3" name="Image 0" descr="By units: Pen sells 103, Book 99, Juice 75.">    </p:cNvPr>
          <p:cNvPicPr>
            <a:picLocks noChangeAspect="1"/>
          </p:cNvPicPr>
          <p:nvPr/>
        </p:nvPicPr>
        <p:blipFill>
          <a:blip r:embed="rId1"/>
          <a:stretch>
            <a:fillRect/>
          </a:stretch>
        </p:blipFill>
        <p:spPr>
          <a:xfrm>
            <a:off x="781709" y="1554480"/>
            <a:ext cx="5065983"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By units: Pen sells 103, Book 99, Juice 75.</a:t>
            </a:r>
            <a:endParaRPr lang="en-US" sz="2200" dirty="0"/>
          </a:p>
        </p:txBody>
      </p:sp>
      <p:pic>
        <p:nvPicPr>
          <p:cNvPr id="5" name="Image 1" descr="By revenue: Book earns 297,000, Juice 150,000, Pen 103,000.">    </p:cNvPr>
          <p:cNvPicPr>
            <a:picLocks noChangeAspect="1"/>
          </p:cNvPicPr>
          <p:nvPr/>
        </p:nvPicPr>
        <p:blipFill>
          <a:blip r:embed="rId2"/>
          <a:stretch>
            <a:fillRect/>
          </a:stretch>
        </p:blipFill>
        <p:spPr>
          <a:xfrm>
            <a:off x="6172200" y="1584462"/>
            <a:ext cx="5349240" cy="3369036"/>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By revenue: Book earns 297,000, Juice 150,000, Pen 103,000.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Group, total and sort</a:t>
            </a:r>
            <a:endParaRPr lang="en-US" sz="3800" dirty="0"/>
          </a:p>
        </p:txBody>
      </p:sp>
      <p:sp>
        <p:nvSpPr>
          <p:cNvPr id="3" name="Shape 1"/>
          <p:cNvSpPr/>
          <p:nvPr/>
        </p:nvSpPr>
        <p:spPr>
          <a:xfrm>
            <a:off x="640080" y="1645920"/>
            <a:ext cx="10881360" cy="3344672"/>
          </a:xfrm>
          <a:prstGeom prst="roundRect">
            <a:avLst>
              <a:gd name="adj" fmla="val 2187"/>
            </a:avLst>
          </a:prstGeom>
          <a:solidFill>
            <a:srgbClr val="111111"/>
          </a:solidFill>
          <a:ln/>
        </p:spPr>
      </p:sp>
      <p:sp>
        <p:nvSpPr>
          <p:cNvPr id="4" name="Text 2"/>
          <p:cNvSpPr txBox="1"/>
          <p:nvPr/>
        </p:nvSpPr>
        <p:spPr>
          <a:xfrm>
            <a:off x="841248" y="1847088"/>
            <a:ext cx="10479024" cy="29423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import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pandas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pd</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 = pd.read_csv(</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"camp_shop.csv"</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 shop[</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"unit_price_ugx"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units_by_item =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"units"</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revenue_by_item =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shop.groupby(</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"item"</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pPr algn="l" indent="0" marL="0">
              <a:lnSpc>
                <a:spcPts val="2080"/>
              </a:lnSpc>
              <a:buNone/>
            </a:pPr>
            <a:r>
              <a:rPr lang="en-US" sz="1600" dirty="0">
                <a:solidFill>
                  <a:srgbClr val="E0BE36"/>
                </a:solidFill>
                <a:latin typeface="Courier New" pitchFamily="34" charset="0"/>
                <a:ea typeface="Courier New" pitchFamily="34" charset="-122"/>
                <a:cs typeface="Courier New" pitchFamily="34" charset="-120"/>
              </a:rPr>
              <a:t>"revenue_ugx"</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.sum()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.sort_values(ascending=</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False</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print(units_by_item)</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print(revenue_by_item)</a:t>
            </a:r>
            <a:endParaRPr lang="en-US" sz="1600" dirty="0"/>
          </a:p>
        </p:txBody>
      </p:sp>
      <p:sp>
        <p:nvSpPr>
          <p:cNvPr id="5" name="Text 3"/>
          <p:cNvSpPr txBox="1"/>
          <p:nvPr/>
        </p:nvSpPr>
        <p:spPr>
          <a:xfrm>
            <a:off x="640080" y="5173472"/>
            <a:ext cx="8046720" cy="1090168"/>
          </a:xfrm>
          <a:prstGeom prst="rect">
            <a:avLst/>
          </a:prstGeom>
          <a:noFill/>
          <a:ln/>
        </p:spPr>
        <p:txBody>
          <a:bodyPr wrap="square" lIns="0" tIns="0" rIns="0" bIns="0" rtlCol="0" anchor="t"/>
          <a:lstStyle/>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Predict which item sold the most units and which earned the most money.</a:t>
            </a:r>
            <a:endParaRPr lang="en-US" sz="2000" dirty="0"/>
          </a:p>
          <a:p>
            <a:pPr algn="l" indent="0" marL="0">
              <a:lnSpc>
                <a:spcPts val="2400"/>
              </a:lnSpc>
              <a:spcAft>
                <a:spcPts val="1010"/>
              </a:spcAft>
              <a:buNone/>
            </a:pPr>
            <a:r>
              <a:rPr lang="en-US" sz="2000" dirty="0">
                <a:solidFill>
                  <a:srgbClr val="111111"/>
                </a:solidFill>
                <a:latin typeface="Lato" pitchFamily="34" charset="0"/>
                <a:ea typeface="Lato" pitchFamily="34" charset="-122"/>
                <a:cs typeface="Lato" pitchFamily="34" charset="-120"/>
              </a:rPr>
              <a:t>Write your guess on paper before we run it.</a:t>
            </a:r>
            <a:endParaRPr lang="en-US" sz="2000" dirty="0"/>
          </a:p>
        </p:txBody>
      </p:sp>
      <p:pic>
        <p:nvPicPr>
          <p:cNvPr id="6" name="Image 0" descr="A page and a pen">    </p:cNvPr>
          <p:cNvPicPr>
            <a:picLocks noChangeAspect="1"/>
          </p:cNvPicPr>
          <p:nvPr/>
        </p:nvPicPr>
        <p:blipFill>
          <a:blip r:embed="rId1"/>
          <a:stretch>
            <a:fillRect/>
          </a:stretch>
        </p:blipFill>
        <p:spPr>
          <a:xfrm>
            <a:off x="10241280" y="5175758"/>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Group, total and sort</a:t>
            </a:r>
            <a:endParaRPr lang="en-US" sz="3800" dirty="0"/>
          </a:p>
        </p:txBody>
      </p:sp>
      <p:sp>
        <p:nvSpPr>
          <p:cNvPr id="3" name="Shape 1"/>
          <p:cNvSpPr/>
          <p:nvPr/>
        </p:nvSpPr>
        <p:spPr>
          <a:xfrm>
            <a:off x="640080" y="1645920"/>
            <a:ext cx="6035040" cy="4034536"/>
          </a:xfrm>
          <a:prstGeom prst="roundRect">
            <a:avLst>
              <a:gd name="adj" fmla="val 1813"/>
            </a:avLst>
          </a:prstGeom>
          <a:solidFill>
            <a:srgbClr val="FFFFFF"/>
          </a:solidFill>
          <a:ln w="15875">
            <a:solidFill>
              <a:srgbClr val="111111"/>
            </a:solidFill>
            <a:prstDash val="solid"/>
          </a:ln>
        </p:spPr>
      </p:sp>
      <p:sp>
        <p:nvSpPr>
          <p:cNvPr id="4" name="Text 2"/>
          <p:cNvSpPr txBox="1"/>
          <p:nvPr/>
        </p:nvSpPr>
        <p:spPr>
          <a:xfrm>
            <a:off x="822960" y="1828800"/>
            <a:ext cx="5669280" cy="36687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99</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75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units, dtype: int64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297000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150000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revenue_ugx, dtype: int64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Pen sold the most units, 103.</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Book earned the most money, 297000 shillings, then Juice 150000 and Pen 103000.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three revenues add to 550000.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item that sells the most units is not the item that earns the most.</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Group, total and sort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Pen sell the most units and earn the least money?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check the grouped totals?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Group the revenue by date and find the date with the most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One huge sale lifts the mean but not the median</a:t>
            </a:r>
            <a:endParaRPr lang="en-US" sz="3700" dirty="0"/>
          </a:p>
        </p:txBody>
      </p:sp>
      <p:pic>
        <p:nvPicPr>
          <p:cNvPr id="3" name="Image 0" descr="One huge sale lifts the mean but not the media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mean adds everything and divides by the count.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median is the middle value in sorted order.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big value drags the mean along, and the median holds still.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skewed histogram puts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the mean right of the median</a:t>
            </a:r>
            <a:endParaRPr lang="en-US" sz="3600" dirty="0"/>
          </a:p>
        </p:txBody>
      </p:sp>
      <p:pic>
        <p:nvPicPr>
          <p:cNvPr id="3" name="Image 0" descr="A skewed histogram puts the mean right of the median">    </p:cNvPr>
          <p:cNvPicPr>
            <a:picLocks noChangeAspect="1"/>
          </p:cNvPicPr>
          <p:nvPr/>
        </p:nvPicPr>
        <p:blipFill>
          <a:blip r:embed="rId1"/>
          <a:stretch>
            <a:fillRect/>
          </a:stretch>
        </p:blipFill>
        <p:spPr>
          <a:xfrm>
            <a:off x="1056207" y="1554480"/>
            <a:ext cx="10049106"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sales are small, and a few are very large.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Mean, median and a proportion</a:t>
            </a:r>
            <a:endParaRPr lang="en-US" sz="3800" dirty="0"/>
          </a:p>
        </p:txBody>
      </p:sp>
      <p:sp>
        <p:nvSpPr>
          <p:cNvPr id="3" name="Shape 1"/>
          <p:cNvSpPr/>
          <p:nvPr/>
        </p:nvSpPr>
        <p:spPr>
          <a:xfrm>
            <a:off x="640080" y="1645920"/>
            <a:ext cx="10881360" cy="2816352"/>
          </a:xfrm>
          <a:prstGeom prst="roundRect">
            <a:avLst>
              <a:gd name="adj" fmla="val 2597"/>
            </a:avLst>
          </a:prstGeom>
          <a:solidFill>
            <a:srgbClr val="111111"/>
          </a:solidFill>
          <a:ln/>
        </p:spPr>
      </p:sp>
      <p:sp>
        <p:nvSpPr>
          <p:cNvPr id="4" name="Text 2"/>
          <p:cNvSpPr txBox="1"/>
          <p:nvPr/>
        </p:nvSpPr>
        <p:spPr>
          <a:xfrm>
            <a:off x="841248" y="1847088"/>
            <a:ext cx="1047902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mean_value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median_value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].median()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bulk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&gt;= 10).sum()</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share = bulk / len(sunrise)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print(round(mean_value), median_value)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print(bulk, len(sunrise), round(share * 100, 1))</a:t>
            </a:r>
            <a:endParaRPr lang="en-US" sz="1800" dirty="0"/>
          </a:p>
        </p:txBody>
      </p:sp>
      <p:sp>
        <p:nvSpPr>
          <p:cNvPr id="5" name="Text 3"/>
          <p:cNvSpPr txBox="1"/>
          <p:nvPr/>
        </p:nvSpPr>
        <p:spPr>
          <a:xfrm>
            <a:off x="640080" y="4645152"/>
            <a:ext cx="8046720" cy="16184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whether the mean sale value is above or below the median.</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Mean, median and a proportion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4214 2400.0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36 1513 2.4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mean sale value is about 4214 shillings and the median is 2400.</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A few bulk purchases pull the mean up.</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36 of the 1513 sales have 10 units or more, which is 2.4 percent.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1513 is the denominator.</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Mean, median and a proportion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number is a better answer to "what does a typical sale bring 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must you say that the whole is 1513 sales?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Find the proportion of sales with 5 units or more.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proportion divides a part by its whole</a:t>
            </a:r>
            <a:endParaRPr lang="en-US" sz="3800" dirty="0"/>
          </a:p>
        </p:txBody>
      </p:sp>
      <p:pic>
        <p:nvPicPr>
          <p:cNvPr id="3" name="Image 0" descr="A proportion divides a part by its who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part goes on top.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whole, the denominator, goes underneath.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which whole you divided by.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Branch totals must add up to the grand total</a:t>
            </a:r>
            <a:endParaRPr lang="en-US" sz="3800" dirty="0"/>
          </a:p>
        </p:txBody>
      </p:sp>
      <p:pic>
        <p:nvPicPr>
          <p:cNvPr id="3" name="Image 0" descr="Branch totals must add up to the grand total">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Add the pieces and compare with the total before grouping.</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Add the line_value column and total it for each branch_id in the Sunrise sales.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Sort the three totals from largest to smallest.</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Check that the three totals add up to the overall total.</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DA09.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'revenue_ugx'</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grouped a column that has not been created yet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revenue column before the cell that groups it.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totals do not add to the overall total</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Rows were lost or counted twice before grouping.</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len() before and after each step to find where rows changed.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grouped total answers a question about each group, and the median stays steady when a few sales are huge.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DA09 Sort, group, mean and median</dc:title>
  <dc:subject>Python for Data Analysis</dc:subject>
  <dc:creator>KLAi</dc:creator>
  <cp:lastModifiedBy>KLAi</cp:lastModifiedBy>
  <cp:revision>1</cp:revision>
  <dcterms:created xsi:type="dcterms:W3CDTF">2026-10-31T12:44:18Z</dcterms:created>
  <dcterms:modified xsi:type="dcterms:W3CDTF">2026-10-31T12:44:18Z</dcterms:modified>
</cp:coreProperties>
</file>