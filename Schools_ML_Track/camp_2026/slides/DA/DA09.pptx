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c6ec1a98-a6fa-cc3e-1377-0fbb2faa61d8}">
          <p14:sldIdLst>
            <p14:sldId id="256"/>
            <p14:sldId id="257"/>
            <p14:sldId id="258"/>
            <p14:sldId id="259"/>
            <p14:sldId id="260"/>
            <p14:sldId id="261"/>
            <p14:sldId id="262"/>
          </p14:sldIdLst>
        </p14:section>
        <p14:section name="Block A" id="{d1cd3a73-465d-e421-610d-c8c3212d0d35}">
          <p14:sldIdLst>
            <p14:sldId id="263"/>
            <p14:sldId id="264"/>
            <p14:sldId id="265"/>
            <p14:sldId id="266"/>
            <p14:sldId id="268"/>
            <p14:sldId id="269"/>
          </p14:sldIdLst>
        </p14:section>
        <p14:section name="Break" id="{f5f8c794-9a9f-736e-1f0f-7df5bd14e823}">
          <p14:sldIdLst>
            <p14:sldId id="267"/>
          </p14:sldIdLst>
        </p14:section>
        <p14:section name="Block A" id="{527b5d85-f327-5c9a-32bc-f1bdde6ba359}">
          <p14:sldIdLst/>
        </p14:section>
        <p14:section name="Block B" id="{556f0e09-fa40-1da0-02ed-a82427f19a6c}">
          <p14:sldIdLst>
            <p14:sldId id="270"/>
            <p14:sldId id="271"/>
            <p14:sldId id="272"/>
            <p14:sldId id="273"/>
            <p14:sldId id="274"/>
            <p14:sldId id="275"/>
          </p14:sldIdLst>
        </p14:section>
        <p14:section name="Make and close" id="{6f231fe1-b1d5-89fa-54a9-1c53e36b5a86}">
          <p14:sldIdLst>
            <p14:sldId id="276"/>
            <p14:sldId id="277"/>
            <p14:sldId id="27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begin. Today is session 9 and our topic is sort, group, mean and median.
By the end of today you will be able to total a column by group, sort the result, and say when the median describes a column better than the mean.
We will answer one question: Which item earns the most, and what is a typical sale in a small practice shop?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Sunrise Shops sold thousands of items over sixty days. The owner has two questions. Which item earns the most money, and what does a typical sale look like? A single total cannot answer either one. We need to sort the sales into piles, one pile for each item, and then measure each pile. That is what group, sort, mean and median are for, and today you will use all four.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how the 3 hours go. Each bar is as long as the time we spend on that part.
First, 10 minutes. Recall. Then, 50 minutes. Block A. After that, 15 minutes. Break away from screens. Next, 50 minutes. Block B. Then, 40 minutes. Make. Then, 15 minutes. Exit ticket, save, and an individual check with each learner.
Notice how much of the time is yours. You listen for a short while and then you do. That is on purpose, because you learn this by doing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the words for today. Listen for the picture that goes with each one.
group. Gather rows with the same label before you calculate. Sorting the sales into piles by item.
sort. Put rows in order from smallest to largest or the other way. Think of a shop. Lining up pupils by height.
mean. The total shared out equally: add the values and divide by how many. Imagine it like this. Sharing a bag of mandazi equally.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more words to know before we start.
median. The middle value once the values are in order. An example from everyday life. The pupil standing in the middle of a line sorted by height.
proportion. A part divided by the whole. Times 100 it becomes a percentage. Here is a way to see it. 12 pupils out of 20 passed.
denominator. The whole that a proportion is measured against. A small example. The 20 in 12 out of 20.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Grouping happens in three moves. Split means the rows are sorted into piles by the column you name, for example one pile for each item. Apply means we calculate on each pile separately, for example the sum of revenue. Combine means the answers come back together as one small table with one row per pile.
Follow the picture from left to right. Where did the Pen pile go, and what number came out of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the same sixty sales grouped by item, drawn two ways. On the left each bar counts units. Pen sells the most, one hundred and three. On the right each bar adds up money. Now Book is on top with two hundred and ninety seven thousand shillings, because each book costs far more than a pen.
So which item is the best seller? It depends on the question. Before you answer anything, decide whether you are counting units or counting money.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groupby gathers the rows with the same item. A calculation such as sum then works inside each group.
Make a prediction. Predict which item sold the most units and which earned the most money. Write it on paper. It does not have to be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Running it now. Match each line of the output with the line of code that made it.
Pen sold the most units, 103. Book earned the most money, 297000 shillings, then Juice 150000 and Pen 103000. The three revenues add to 550000. The item that sells the most units is not the item that earns the most.
Keep your guess. We use it in the next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look closely at group, total and sort. I have two questions for you.
Question one. Why does Pen sell the most units and earn the least money? Give it thirty seconds and then we will hear a few answers.
Let me answer it. A Pen costs 1000 shillings and a Book costs 3000, so each Pen sale brings in less.
Question two. How do you check the grouped totals? Talk it over with your neighbour for a minute.
The answer is this. Add them up and compare with the overall total of 550000.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one small change. Group the revenue by date and find the date with the most revenue. Run it, then tell someone what you saw.
What you should find: 2026-12-20 with 47000.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Break time. 15 minutes away from your screens. Stand up, drink some water and tell someone what you guessed in the first half.
When we come back we start the second idea.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mean is the total divided by how many values there are. The median is the middle value once the values are lined up in order. On the picture the mean sits like a balance point, and when one very large value joins the line, the balance point slides toward it. The middle value hardly moves.
In the Sunrise sales the mean sale is four thousand two hundred and fourteen shillings but the median is two thousand four hundred. Which one describes a typical sale better?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histogram counts how many sales fall in each range of value. Most of the bars crowd on the left, where the small sales are. A few sales reach out to the right, up to one hundred and eight thousand shillings. That long tail drags the mean to the right of the median.
When a distribution looks like this we call it skewed. For a typical sale, quote the median, and mention the mean as the number the big sales push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meet the bigger Sunrise Shops table: 1513 sales from three shops. The mean can be pulled up by a few huge sales.
Time to commit to an answer. Predict whether the mean sale value is above or below the median. Put it on paper first. We will check it together in a moment.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run it. Match each line of the output with the line of code that made it.
The mean sale value is about 4214 shillings and the median is 2400. A few bulk purchases pull the mean up. 36 of the 1513 sales have 10 units or more, which is 2.4 percent. The 1513 is the denominator.
If your guess was off, find the line that surprised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look closely at mean, median and a proportion. I have two questions for you.
Question one. Which number is a better answer to "what does a typical sale bring in"? Talk it over with your neighbour for a minute.
The answer is this. The median, 2400, because a few bulk sales inflate the mean.
Question two. Why must you say that the whole is 1513 sales? Think about it for a moment, then tell the person next to you.
A percentage with no stated whole cannot be compared with another percentage.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it is your turn to change something. Find the proportion of sales with 5 units or more. After you run it, say in one sentence what changed and how you checked.
You should see this. About 8.7 percent, 132 of 1513.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proportion tells you how big a part is compared with the whole. The part goes on top. The whole goes underneath, and that bottom number is called the denominator. In the picture the gold squares are the part and all the squares together are the whole.
The denominator is where mistakes hide. Central Market earns two million nine hundred and ninety seven thousand shillings out of six million three hundred and seventy five thousand nine hundred. Divide the first by the second to get its share.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any grouping, add the pieces and compare with the total you got without grouping. The three branch totals are two million nine hundred and ninety seven thousand, one million nine hundred and eighty five thousand four hundred, and one million three hundred and ninety three thousand five hundred. They add up to six million three hundred and seventy five thousand nine hundred, which is the grand total.
If your pieces do not add up to the whole, something went wrong, and it is better to find that now than after the report is written.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you do the real work yourself. Start with the first step. If you get stuck for a few minutes, read your error message, check the error card, and then ask me.
Save it as DA09. I will come round to each of you and ask what you changed and how you checked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things are likely to go wrong today. It helps to know them before they happen.
This is the first one. You will see: KeyError: 'revenue_ugx'. It means this: you grouped a column that has not been created yet in this session. To fix it, Run the cell that creates the revenue column before the cell that groups it.
The next one. You will see: The totals do not add to the overall total. It means this: rows were lost or counted twice before grouping. To fix it, compare len() before and after each step to find where rows changed.
If you meet one of these, fix it and carry on. It happens to everyone.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finish, go back to the question we began with: Which item earns the most, and what is a typical sale in a small practice shop?
Copy this sentence into your notebook and make it yours. A grouped total answers a question about each group, and the median stays steady when a few sales are huge.
Then save your notebook, close it and open it again to check it saved.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KLAI_LIGHT">
    <p:bg>
      <p:bgPr>
        <a:solidFill>
          <a:srgbClr val="FFFFFF"/>
        </a:solidFill>
      </p:bgPr>
    </p:bg>
    <p:spTree>
      <p:nvGrpSpPr>
        <p:cNvPr id="1" name=""/>
        <p:cNvGrpSpPr/>
        <p:nvPr/>
      </p:nvGrpSpPr>
      <p:grpSpPr>
        <a:xfrm>
          <a:off x="0" y="0"/>
          <a:ext cx="0" cy="0"/>
          <a:chOff x="0" y="0"/>
          <a:chExt cx="0" cy="0"/>
        </a:xfrm>
      </p:grpSpPr>
      <p:pic>
        <p:nvPicPr>
          <p:cNvPr id="2" name="Image 0" descr="/sessions/focused-youthful-einstein/mnt/IUEA-Teaching-Resources/Schools_ML_Track/camp_2026/brand/logos/klai_logo_on_white_cropped.png">    </p:cNvPr>
          <p:cNvPicPr>
            <a:picLocks noChangeAspect="1"/>
          </p:cNvPicPr>
          <p:nvPr/>
        </p:nvPicPr>
        <p:blipFill>
          <a:blip r:embed="rId1"/>
          <a:stretch>
            <a:fillRect/>
          </a:stretch>
        </p:blipFill>
        <p:spPr>
          <a:xfrm>
            <a:off x="640080" y="6419088"/>
            <a:ext cx="772668" cy="246888"/>
          </a:xfrm>
          <a:prstGeom prst="rect">
            <a:avLst/>
          </a:prstGeom>
        </p:spPr>
      </p:pic>
      <p:sp>
        <p:nvSpPr>
          <p:cNvPr id="3" name="Text 0"/>
          <p:cNvSpPr/>
          <p:nvPr/>
        </p:nvSpPr>
        <p:spPr>
          <a:xfrm>
            <a:off x="1641348" y="6400800"/>
            <a:ext cx="8229600" cy="274320"/>
          </a:xfrm>
          <a:prstGeom prst="rect">
            <a:avLst/>
          </a:prstGeom>
          <a:noFill/>
          <a:ln/>
        </p:spPr>
        <p:txBody>
          <a:bodyPr wrap="square" lIns="0" tIns="0" rIns="0" bIns="0" rtlCol="0" anchor="ctr"/>
          <a:lstStyle/>
          <a:p>
            <a:pPr indent="0" marL="0">
              <a:buNone/>
            </a:pPr>
            <a:r>
              <a:rPr lang="en-US" sz="1200" dirty="0">
                <a:solidFill>
                  <a:srgbClr val="666666"/>
                </a:solidFill>
                <a:latin typeface="Lato" pitchFamily="34" charset="0"/>
                <a:ea typeface="Lato" pitchFamily="34" charset="-122"/>
                <a:cs typeface="Lato" pitchFamily="34" charset="-120"/>
              </a:rPr>
              <a:t>DA09  |  Sort, group, mean and median</a:t>
            </a:r>
            <a:endParaRPr lang="en-US" sz="1200" dirty="0"/>
          </a:p>
        </p:txBody>
      </p:sp>
      <p:sp>
        <p:nvSpPr>
          <p:cNvPr id="4" name="Text 1"/>
          <p:cNvSpPr/>
          <p:nvPr>
            <p:ph idx="102" type="title" hasCustomPrompt="1"/>
          </p:nvPr>
        </p:nvSpPr>
        <p:spPr>
          <a:xfrm>
            <a:off x="640080" y="384048"/>
            <a:ext cx="10881360" cy="1051560"/>
          </a:xfrm>
          <a:prstGeom prst="rect">
            <a:avLst/>
          </a:prstGeom>
          <a:noFill/>
          <a:ln/>
        </p:spPr>
        <p:txBody>
          <a:bodyPr wrap="square" rtlCol="0"/>
          <a:lstStyle>
            <a:lvl1pPr algn="l" indent="0" marL="0">
              <a:buNone/>
              <a:defRPr lang="en-US" b="1" dirty="0">
                <a:solidFill>
                  <a:srgbClr val="111111"/>
                </a:solidFill>
                <a:latin typeface="Lato" pitchFamily="34" charset="0"/>
                <a:ea typeface="Lato" pitchFamily="34" charset="-122"/>
                <a:cs typeface="Lato" pitchFamily="34" charset="-120"/>
              </a:defRPr>
            </a:lvl1pPr>
          </a:lstStyle>
          <a:p>
            <a:pPr algn="l" indent="0" marL="0">
              <a:buNone/>
            </a:pPr>
            <a:endParaRPr lang="en-US"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KLAI_DARK">
    <p:bg>
      <p:bgPr>
        <a:solidFill>
          <a:srgbClr val="000000"/>
        </a:solidFill>
      </p:bgPr>
    </p:bg>
    <p:spTree>
      <p:nvGrpSpPr>
        <p:cNvPr id="1" name=""/>
        <p:cNvGrpSpPr/>
        <p:nvPr/>
      </p:nvGrpSpPr>
      <p:grpSpPr>
        <a:xfrm>
          <a:off x="0" y="0"/>
          <a:ext cx="0" cy="0"/>
          <a:chOff x="0" y="0"/>
          <a:chExt cx="0" cy="0"/>
        </a:xfrm>
      </p:grpSpPr>
      <p:pic>
        <p:nvPicPr>
          <p:cNvPr id="2" name="Image 0" descr="/sessions/focused-youthful-einstein/mnt/IUEA-Teaching-Resources/Schools_ML_Track/camp_2026/brand/logos/klai_logo_on_black_cropped.png">    </p:cNvPr>
          <p:cNvPicPr>
            <a:picLocks noChangeAspect="1"/>
          </p:cNvPicPr>
          <p:nvPr/>
        </p:nvPicPr>
        <p:blipFill>
          <a:blip r:embed="rId1"/>
          <a:stretch>
            <a:fillRect/>
          </a:stretch>
        </p:blipFill>
        <p:spPr>
          <a:xfrm>
            <a:off x="640080" y="548640"/>
            <a:ext cx="1774850" cy="566928"/>
          </a:xfrm>
          <a:prstGeom prst="rect">
            <a:avLst/>
          </a:prstGeom>
        </p:spPr>
      </p:pic>
      <p:sp>
        <p:nvSpPr>
          <p:cNvPr id="3" name="Text 0"/>
          <p:cNvSpPr/>
          <p:nvPr>
            <p:ph idx="101" type="title" hasCustomPrompt="1"/>
          </p:nvPr>
        </p:nvSpPr>
        <p:spPr>
          <a:xfrm>
            <a:off x="640080" y="2103120"/>
            <a:ext cx="10607040" cy="2286000"/>
          </a:xfrm>
          <a:prstGeom prst="rect">
            <a:avLst/>
          </a:prstGeom>
          <a:noFill/>
          <a:ln/>
        </p:spPr>
        <p:txBody>
          <a:bodyPr wrap="square" rtlCol="0"/>
          <a:lstStyle>
            <a:lvl1pPr algn="l" indent="0" marL="0">
              <a:buNone/>
              <a:defRPr lang="en-US" b="1" dirty="0">
                <a:solidFill>
                  <a:srgbClr val="FFFFFF"/>
                </a:solidFill>
                <a:latin typeface="Lato" pitchFamily="34" charset="0"/>
                <a:ea typeface="Lato" pitchFamily="34" charset="-122"/>
                <a:cs typeface="Lato" pitchFamily="34" charset="-120"/>
              </a:defRPr>
            </a:lvl1pPr>
          </a:lstStyle>
          <a:p>
            <a:pPr algn="l" indent="0" marL="0">
              <a:buNone/>
            </a:pP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2.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2.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2.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1.png"/><Relationship Id="rId3" Type="http://schemas.openxmlformats.org/officeDocument/2006/relationships/slideLayout" Target="../slideLayouts/slideLayout2.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1" type="title" hasCustomPrompt="1"/>
          </p:nvPr>
        </p:nvSpPr>
        <p:spPr>
          <a:xfrm>
            <a:off x="640080" y="2103120"/>
            <a:ext cx="10607040" cy="2286000"/>
          </a:xfrm>
          <a:prstGeom prst="rect">
            <a:avLst/>
          </a:prstGeom>
          <a:noFill/>
          <a:ln/>
        </p:spPr>
        <p:txBody>
          <a:bodyPr wrap="square" lIns="0" tIns="0" rIns="0" bIns="0" rtlCol="0" anchor="t"/>
          <a:lstStyle/>
          <a:p>
            <a:pPr algn="l" indent="0" marL="0">
              <a:buNone/>
            </a:pPr>
            <a:r>
              <a:rPr lang="en-US" sz="5600" b="1" dirty="0">
                <a:solidFill>
                  <a:srgbClr val="FFFFFF"/>
                </a:solidFill>
                <a:latin typeface="Lato" pitchFamily="34" charset="0"/>
                <a:ea typeface="Lato" pitchFamily="34" charset="-122"/>
                <a:cs typeface="Lato" pitchFamily="34" charset="-120"/>
              </a:rPr>
              <a:t>Sort, group, mean and median</a:t>
            </a:r>
            <a:endParaRPr lang="en-US" sz="5600" dirty="0"/>
          </a:p>
        </p:txBody>
      </p:sp>
      <p:sp>
        <p:nvSpPr>
          <p:cNvPr id="3" name="Text 1"/>
          <p:cNvSpPr txBox="1"/>
          <p:nvPr/>
        </p:nvSpPr>
        <p:spPr>
          <a:xfrm>
            <a:off x="640080" y="3388360"/>
            <a:ext cx="10241280" cy="1188720"/>
          </a:xfrm>
          <a:prstGeom prst="rect">
            <a:avLst/>
          </a:prstGeom>
          <a:noFill/>
          <a:ln/>
        </p:spPr>
        <p:txBody>
          <a:bodyPr wrap="square" lIns="0" tIns="0" rIns="0" bIns="0" rtlCol="0" anchor="t"/>
          <a:lstStyle/>
          <a:p>
            <a:pPr algn="l" indent="0" marL="0">
              <a:lnSpc>
                <a:spcPts val="3600"/>
              </a:lnSpc>
              <a:buNone/>
            </a:pPr>
            <a:r>
              <a:rPr lang="en-US" sz="3000" i="1" dirty="0">
                <a:solidFill>
                  <a:srgbClr val="E0BE36"/>
                </a:solidFill>
                <a:latin typeface="Lato" pitchFamily="34" charset="0"/>
                <a:ea typeface="Lato" pitchFamily="34" charset="-122"/>
                <a:cs typeface="Lato" pitchFamily="34" charset="-120"/>
              </a:rPr>
              <a:t>Which item earns the most, and what is a typical sale in a small practice shop?</a:t>
            </a:r>
            <a:endParaRPr lang="en-US" sz="3000" dirty="0"/>
          </a:p>
        </p:txBody>
      </p:sp>
      <p:sp>
        <p:nvSpPr>
          <p:cNvPr id="4" name="Text 2"/>
          <p:cNvSpPr txBox="1"/>
          <p:nvPr/>
        </p:nvSpPr>
        <p:spPr>
          <a:xfrm>
            <a:off x="640080" y="5989320"/>
            <a:ext cx="10789920" cy="457200"/>
          </a:xfrm>
          <a:prstGeom prst="rect">
            <a:avLst/>
          </a:prstGeom>
          <a:noFill/>
          <a:ln/>
        </p:spPr>
        <p:txBody>
          <a:bodyPr wrap="square" lIns="0" tIns="0" rIns="0" bIns="0" rtlCol="0" anchor="t"/>
          <a:lstStyle/>
          <a:p>
            <a:pPr algn="l" indent="0" marL="0">
              <a:lnSpc>
                <a:spcPts val="2320"/>
              </a:lnSpc>
              <a:buNone/>
            </a:pPr>
            <a:r>
              <a:rPr lang="en-US" sz="1600" dirty="0">
                <a:solidFill>
                  <a:srgbClr val="B5B5B5"/>
                </a:solidFill>
                <a:latin typeface="Lato" pitchFamily="34" charset="0"/>
                <a:ea typeface="Lato" pitchFamily="34" charset="-122"/>
                <a:cs typeface="Lato" pitchFamily="34" charset="-120"/>
              </a:rPr>
              <a:t>Python for Data Analysis  |  Session 9 of 24  |  Week 3, Tables in pandas</a:t>
            </a:r>
            <a:endParaRPr lang="en-US" sz="1600" dirty="0"/>
          </a:p>
          <a:p>
            <a:pPr algn="l" indent="0" marL="0">
              <a:lnSpc>
                <a:spcPts val="2320"/>
              </a:lnSpc>
              <a:buNone/>
            </a:pPr>
            <a:r>
              <a:rPr lang="en-US" sz="1600" dirty="0">
                <a:solidFill>
                  <a:srgbClr val="B5B5B5"/>
                </a:solidFill>
                <a:latin typeface="Lato" pitchFamily="34" charset="0"/>
                <a:ea typeface="Lato" pitchFamily="34" charset="-122"/>
                <a:cs typeface="Lato" pitchFamily="34" charset="-120"/>
              </a:rPr>
              <a:t>Holiday Data and AI Camp  |  The National ICT Innovation Hub, Nakawa</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600" b="1" dirty="0">
                <a:solidFill>
                  <a:srgbClr val="111111"/>
                </a:solidFill>
                <a:latin typeface="Lato" pitchFamily="34" charset="0"/>
                <a:ea typeface="Lato" pitchFamily="34" charset="-122"/>
                <a:cs typeface="Lato" pitchFamily="34" charset="-120"/>
              </a:rPr>
              <a:t>Which item earns the most, and what is</a:t>
            </a:r>
            <a:endParaRPr lang="en-US" sz="3600" dirty="0"/>
          </a:p>
          <a:p>
            <a:pPr algn="l" indent="0" marL="0">
              <a:buNone/>
            </a:pPr>
            <a:r>
              <a:rPr lang="en-US" sz="3600" b="1" dirty="0">
                <a:solidFill>
                  <a:srgbClr val="111111"/>
                </a:solidFill>
                <a:latin typeface="Lato" pitchFamily="34" charset="0"/>
                <a:ea typeface="Lato" pitchFamily="34" charset="-122"/>
                <a:cs typeface="Lato" pitchFamily="34" charset="-120"/>
              </a:rPr>
              <a:t>a typical sale in a small practice shop?</a:t>
            </a:r>
            <a:endParaRPr lang="en-US" sz="3600" dirty="0"/>
          </a:p>
        </p:txBody>
      </p:sp>
      <p:pic>
        <p:nvPicPr>
          <p:cNvPr id="3" name="Image 0" descr="Sales sorted into piles by item, with a typical sale marked">    </p:cNvPr>
          <p:cNvPicPr>
            <a:picLocks noChangeAspect="1"/>
          </p:cNvPicPr>
          <p:nvPr/>
        </p:nvPicPr>
        <p:blipFill>
          <a:blip r:embed="rId1"/>
          <a:stretch>
            <a:fillRect/>
          </a:stretch>
        </p:blipFill>
        <p:spPr>
          <a:xfrm>
            <a:off x="640080" y="1691640"/>
            <a:ext cx="10881360" cy="434340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Three hours, mostly doing</a:t>
            </a:r>
            <a:endParaRPr lang="en-US" sz="3800" dirty="0"/>
          </a:p>
        </p:txBody>
      </p:sp>
      <p:pic>
        <p:nvPicPr>
          <p:cNvPr id="3" name="Image 0" descr="The plan for the session: start time, minutes and what we do">    </p:cNvPr>
          <p:cNvPicPr>
            <a:picLocks noChangeAspect="1"/>
          </p:cNvPicPr>
          <p:nvPr/>
        </p:nvPicPr>
        <p:blipFill>
          <a:blip r:embed="rId1"/>
          <a:stretch>
            <a:fillRect/>
          </a:stretch>
        </p:blipFill>
        <p:spPr>
          <a:xfrm>
            <a:off x="640080" y="1600200"/>
            <a:ext cx="10881360" cy="4133088"/>
          </a:xfrm>
          <a:prstGeom prst="rect">
            <a:avLst/>
          </a:prstGeom>
        </p:spPr>
      </p:pic>
      <p:sp>
        <p:nvSpPr>
          <p:cNvPr id="4" name="Text 1"/>
          <p:cNvSpPr txBox="1"/>
          <p:nvPr/>
        </p:nvSpPr>
        <p:spPr>
          <a:xfrm>
            <a:off x="640080" y="5852160"/>
            <a:ext cx="10881360" cy="457200"/>
          </a:xfrm>
          <a:prstGeom prst="rect">
            <a:avLst/>
          </a:prstGeom>
          <a:noFill/>
          <a:ln/>
        </p:spPr>
        <p:txBody>
          <a:bodyPr wrap="square" lIns="0" tIns="0" rIns="0" bIns="0" rtlCol="0" anchor="t"/>
          <a:lstStyle/>
          <a:p>
            <a:pPr algn="l" indent="0" marL="0">
              <a:lnSpc>
                <a:spcPts val="2640"/>
              </a:lnSpc>
              <a:buNone/>
            </a:pPr>
            <a:r>
              <a:rPr lang="en-US" sz="2200" dirty="0">
                <a:solidFill>
                  <a:srgbClr val="333333"/>
                </a:solidFill>
                <a:latin typeface="Lato" pitchFamily="34" charset="0"/>
                <a:ea typeface="Lato" pitchFamily="34" charset="-122"/>
                <a:cs typeface="Lato" pitchFamily="34" charset="-120"/>
              </a:rPr>
              <a:t>Most of our time is spent doing, in small steps, with a guess before every run.</a:t>
            </a:r>
            <a:endParaRPr lang="en-US" sz="22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Words for today (1 of 2)</a:t>
            </a:r>
            <a:endParaRPr lang="en-US" sz="3800" dirty="0"/>
          </a:p>
        </p:txBody>
      </p:sp>
      <p:pic>
        <p:nvPicPr>
          <p:cNvPr id="3" name="Image 0" descr="group">    </p:cNvPr>
          <p:cNvPicPr>
            <a:picLocks noChangeAspect="1"/>
          </p:cNvPicPr>
          <p:nvPr/>
        </p:nvPicPr>
        <p:blipFill>
          <a:blip r:embed="rId1"/>
          <a:stretch>
            <a:fillRect/>
          </a:stretch>
        </p:blipFill>
        <p:spPr>
          <a:xfrm>
            <a:off x="640080" y="1783080"/>
            <a:ext cx="1188720" cy="1188720"/>
          </a:xfrm>
          <a:prstGeom prst="rect">
            <a:avLst/>
          </a:prstGeom>
        </p:spPr>
      </p:pic>
      <p:sp>
        <p:nvSpPr>
          <p:cNvPr id="4" name="Text 1"/>
          <p:cNvSpPr txBox="1"/>
          <p:nvPr/>
        </p:nvSpPr>
        <p:spPr>
          <a:xfrm>
            <a:off x="2011680" y="1737360"/>
            <a:ext cx="2926080" cy="1298448"/>
          </a:xfrm>
          <a:prstGeom prst="rect">
            <a:avLst/>
          </a:prstGeom>
          <a:noFill/>
          <a:ln/>
        </p:spPr>
        <p:txBody>
          <a:bodyPr wrap="square" lIns="0" tIns="0" rIns="0" bIns="0" rtlCol="0" anchor="ctr"/>
          <a:lstStyle/>
          <a:p>
            <a:pPr algn="l" indent="0" marL="0">
              <a:lnSpc>
                <a:spcPts val="4080"/>
              </a:lnSpc>
              <a:buNone/>
            </a:pPr>
            <a:r>
              <a:rPr lang="en-US" sz="3400" b="1" dirty="0">
                <a:solidFill>
                  <a:srgbClr val="111111"/>
                </a:solidFill>
                <a:latin typeface="Lato" pitchFamily="34" charset="0"/>
                <a:ea typeface="Lato" pitchFamily="34" charset="-122"/>
                <a:cs typeface="Lato" pitchFamily="34" charset="-120"/>
              </a:rPr>
              <a:t>group</a:t>
            </a:r>
            <a:endParaRPr lang="en-US" sz="3400" dirty="0"/>
          </a:p>
        </p:txBody>
      </p:sp>
      <p:sp>
        <p:nvSpPr>
          <p:cNvPr id="5" name="Text 2"/>
          <p:cNvSpPr txBox="1"/>
          <p:nvPr/>
        </p:nvSpPr>
        <p:spPr>
          <a:xfrm>
            <a:off x="5120640" y="1783080"/>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Gather rows with the same label before you calculate.</a:t>
            </a:r>
            <a:endParaRPr lang="en-US" sz="2200" dirty="0"/>
          </a:p>
        </p:txBody>
      </p:sp>
      <p:sp>
        <p:nvSpPr>
          <p:cNvPr id="6" name="Text 3"/>
          <p:cNvSpPr txBox="1"/>
          <p:nvPr/>
        </p:nvSpPr>
        <p:spPr>
          <a:xfrm>
            <a:off x="5120640" y="2545080"/>
            <a:ext cx="6400800" cy="566928"/>
          </a:xfrm>
          <a:prstGeom prst="rect">
            <a:avLst/>
          </a:prstGeom>
          <a:noFill/>
          <a:ln/>
        </p:spPr>
        <p:txBody>
          <a:bodyPr wrap="square" lIns="0" tIns="0" rIns="0" bIns="0" rtlCol="0" anchor="t"/>
          <a:lstStyle/>
          <a:p>
            <a:pPr algn="l" indent="0" marL="0">
              <a:lnSpc>
                <a:spcPts val="2280"/>
              </a:lnSpc>
              <a:buNone/>
            </a:pPr>
            <a:r>
              <a:rPr lang="en-US" sz="1900" i="1" dirty="0">
                <a:solidFill>
                  <a:srgbClr val="666666"/>
                </a:solidFill>
                <a:latin typeface="Lato" pitchFamily="34" charset="0"/>
                <a:ea typeface="Lato" pitchFamily="34" charset="-122"/>
                <a:cs typeface="Lato" pitchFamily="34" charset="-120"/>
              </a:rPr>
              <a:t>Sorting the sales into piles by item.</a:t>
            </a:r>
            <a:endParaRPr lang="en-US" sz="1900" dirty="0"/>
          </a:p>
        </p:txBody>
      </p:sp>
      <p:sp>
        <p:nvSpPr>
          <p:cNvPr id="7" name="Shape 4"/>
          <p:cNvSpPr/>
          <p:nvPr/>
        </p:nvSpPr>
        <p:spPr>
          <a:xfrm>
            <a:off x="640080" y="3136392"/>
            <a:ext cx="10881360" cy="0"/>
          </a:xfrm>
          <a:prstGeom prst="line">
            <a:avLst/>
          </a:prstGeom>
          <a:noFill/>
          <a:ln w="12700">
            <a:solidFill>
              <a:srgbClr val="CFCFCF"/>
            </a:solidFill>
            <a:prstDash val="solid"/>
          </a:ln>
        </p:spPr>
      </p:sp>
      <p:pic>
        <p:nvPicPr>
          <p:cNvPr id="8" name="Image 1" descr="sort">    </p:cNvPr>
          <p:cNvPicPr>
            <a:picLocks noChangeAspect="1"/>
          </p:cNvPicPr>
          <p:nvPr/>
        </p:nvPicPr>
        <p:blipFill>
          <a:blip r:embed="rId2"/>
          <a:stretch>
            <a:fillRect/>
          </a:stretch>
        </p:blipFill>
        <p:spPr>
          <a:xfrm>
            <a:off x="640080" y="3264408"/>
            <a:ext cx="1188720" cy="1188720"/>
          </a:xfrm>
          <a:prstGeom prst="rect">
            <a:avLst/>
          </a:prstGeom>
        </p:spPr>
      </p:pic>
      <p:sp>
        <p:nvSpPr>
          <p:cNvPr id="9" name="Text 5"/>
          <p:cNvSpPr txBox="1"/>
          <p:nvPr/>
        </p:nvSpPr>
        <p:spPr>
          <a:xfrm>
            <a:off x="2011680" y="3218688"/>
            <a:ext cx="2926080" cy="1298448"/>
          </a:xfrm>
          <a:prstGeom prst="rect">
            <a:avLst/>
          </a:prstGeom>
          <a:noFill/>
          <a:ln/>
        </p:spPr>
        <p:txBody>
          <a:bodyPr wrap="square" lIns="0" tIns="0" rIns="0" bIns="0" rtlCol="0" anchor="ctr"/>
          <a:lstStyle/>
          <a:p>
            <a:pPr algn="l" indent="0" marL="0">
              <a:lnSpc>
                <a:spcPts val="4080"/>
              </a:lnSpc>
              <a:buNone/>
            </a:pPr>
            <a:r>
              <a:rPr lang="en-US" sz="3400" b="1" dirty="0">
                <a:solidFill>
                  <a:srgbClr val="111111"/>
                </a:solidFill>
                <a:latin typeface="Lato" pitchFamily="34" charset="0"/>
                <a:ea typeface="Lato" pitchFamily="34" charset="-122"/>
                <a:cs typeface="Lato" pitchFamily="34" charset="-120"/>
              </a:rPr>
              <a:t>sort</a:t>
            </a:r>
            <a:endParaRPr lang="en-US" sz="3400" dirty="0"/>
          </a:p>
        </p:txBody>
      </p:sp>
      <p:sp>
        <p:nvSpPr>
          <p:cNvPr id="10" name="Text 6"/>
          <p:cNvSpPr txBox="1"/>
          <p:nvPr/>
        </p:nvSpPr>
        <p:spPr>
          <a:xfrm>
            <a:off x="5120640" y="3264408"/>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Put rows in order from smallest to largest or the other way.</a:t>
            </a:r>
            <a:endParaRPr lang="en-US" sz="2200" dirty="0"/>
          </a:p>
        </p:txBody>
      </p:sp>
      <p:sp>
        <p:nvSpPr>
          <p:cNvPr id="11" name="Text 7"/>
          <p:cNvSpPr txBox="1"/>
          <p:nvPr/>
        </p:nvSpPr>
        <p:spPr>
          <a:xfrm>
            <a:off x="5120640" y="4026408"/>
            <a:ext cx="6400800" cy="566928"/>
          </a:xfrm>
          <a:prstGeom prst="rect">
            <a:avLst/>
          </a:prstGeom>
          <a:noFill/>
          <a:ln/>
        </p:spPr>
        <p:txBody>
          <a:bodyPr wrap="square" lIns="0" tIns="0" rIns="0" bIns="0" rtlCol="0" anchor="t"/>
          <a:lstStyle/>
          <a:p>
            <a:pPr algn="l" indent="0" marL="0">
              <a:lnSpc>
                <a:spcPts val="2280"/>
              </a:lnSpc>
              <a:buNone/>
            </a:pPr>
            <a:r>
              <a:rPr lang="en-US" sz="1900" i="1" dirty="0">
                <a:solidFill>
                  <a:srgbClr val="666666"/>
                </a:solidFill>
                <a:latin typeface="Lato" pitchFamily="34" charset="0"/>
                <a:ea typeface="Lato" pitchFamily="34" charset="-122"/>
                <a:cs typeface="Lato" pitchFamily="34" charset="-120"/>
              </a:rPr>
              <a:t>Lining up pupils by height.</a:t>
            </a:r>
            <a:endParaRPr lang="en-US" sz="1900" dirty="0"/>
          </a:p>
        </p:txBody>
      </p:sp>
      <p:sp>
        <p:nvSpPr>
          <p:cNvPr id="12" name="Shape 8"/>
          <p:cNvSpPr/>
          <p:nvPr/>
        </p:nvSpPr>
        <p:spPr>
          <a:xfrm>
            <a:off x="640080" y="4617720"/>
            <a:ext cx="10881360" cy="0"/>
          </a:xfrm>
          <a:prstGeom prst="line">
            <a:avLst/>
          </a:prstGeom>
          <a:noFill/>
          <a:ln w="12700">
            <a:solidFill>
              <a:srgbClr val="CFCFCF"/>
            </a:solidFill>
            <a:prstDash val="solid"/>
          </a:ln>
        </p:spPr>
      </p:sp>
      <p:pic>
        <p:nvPicPr>
          <p:cNvPr id="13" name="Image 2" descr="mean">    </p:cNvPr>
          <p:cNvPicPr>
            <a:picLocks noChangeAspect="1"/>
          </p:cNvPicPr>
          <p:nvPr/>
        </p:nvPicPr>
        <p:blipFill>
          <a:blip r:embed="rId3"/>
          <a:stretch>
            <a:fillRect/>
          </a:stretch>
        </p:blipFill>
        <p:spPr>
          <a:xfrm>
            <a:off x="640080" y="4745736"/>
            <a:ext cx="1188720" cy="1188720"/>
          </a:xfrm>
          <a:prstGeom prst="rect">
            <a:avLst/>
          </a:prstGeom>
        </p:spPr>
      </p:pic>
      <p:sp>
        <p:nvSpPr>
          <p:cNvPr id="14" name="Text 9"/>
          <p:cNvSpPr txBox="1"/>
          <p:nvPr/>
        </p:nvSpPr>
        <p:spPr>
          <a:xfrm>
            <a:off x="2011680" y="4700016"/>
            <a:ext cx="2926080" cy="1298448"/>
          </a:xfrm>
          <a:prstGeom prst="rect">
            <a:avLst/>
          </a:prstGeom>
          <a:noFill/>
          <a:ln/>
        </p:spPr>
        <p:txBody>
          <a:bodyPr wrap="square" lIns="0" tIns="0" rIns="0" bIns="0" rtlCol="0" anchor="ctr"/>
          <a:lstStyle/>
          <a:p>
            <a:pPr algn="l" indent="0" marL="0">
              <a:lnSpc>
                <a:spcPts val="4080"/>
              </a:lnSpc>
              <a:buNone/>
            </a:pPr>
            <a:r>
              <a:rPr lang="en-US" sz="3400" b="1" dirty="0">
                <a:solidFill>
                  <a:srgbClr val="111111"/>
                </a:solidFill>
                <a:latin typeface="Lato" pitchFamily="34" charset="0"/>
                <a:ea typeface="Lato" pitchFamily="34" charset="-122"/>
                <a:cs typeface="Lato" pitchFamily="34" charset="-120"/>
              </a:rPr>
              <a:t>mean</a:t>
            </a:r>
            <a:endParaRPr lang="en-US" sz="3400" dirty="0"/>
          </a:p>
        </p:txBody>
      </p:sp>
      <p:sp>
        <p:nvSpPr>
          <p:cNvPr id="15" name="Text 10"/>
          <p:cNvSpPr txBox="1"/>
          <p:nvPr/>
        </p:nvSpPr>
        <p:spPr>
          <a:xfrm>
            <a:off x="5120640" y="4745736"/>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The total shared out equally: add the values and divide by how many.</a:t>
            </a:r>
            <a:endParaRPr lang="en-US" sz="2200" dirty="0"/>
          </a:p>
        </p:txBody>
      </p:sp>
      <p:sp>
        <p:nvSpPr>
          <p:cNvPr id="16" name="Text 11"/>
          <p:cNvSpPr txBox="1"/>
          <p:nvPr/>
        </p:nvSpPr>
        <p:spPr>
          <a:xfrm>
            <a:off x="5120640" y="5507736"/>
            <a:ext cx="6400800" cy="566928"/>
          </a:xfrm>
          <a:prstGeom prst="rect">
            <a:avLst/>
          </a:prstGeom>
          <a:noFill/>
          <a:ln/>
        </p:spPr>
        <p:txBody>
          <a:bodyPr wrap="square" lIns="0" tIns="0" rIns="0" bIns="0" rtlCol="0" anchor="t"/>
          <a:lstStyle/>
          <a:p>
            <a:pPr algn="l" indent="0" marL="0">
              <a:lnSpc>
                <a:spcPts val="2280"/>
              </a:lnSpc>
              <a:buNone/>
            </a:pPr>
            <a:r>
              <a:rPr lang="en-US" sz="1900" i="1" dirty="0">
                <a:solidFill>
                  <a:srgbClr val="666666"/>
                </a:solidFill>
                <a:latin typeface="Lato" pitchFamily="34" charset="0"/>
                <a:ea typeface="Lato" pitchFamily="34" charset="-122"/>
                <a:cs typeface="Lato" pitchFamily="34" charset="-120"/>
              </a:rPr>
              <a:t>Sharing a bag of mandazi equally.</a:t>
            </a:r>
            <a:endParaRPr lang="en-US" sz="19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Words for today (2 of 2)</a:t>
            </a:r>
            <a:endParaRPr lang="en-US" sz="3800" dirty="0"/>
          </a:p>
        </p:txBody>
      </p:sp>
      <p:pic>
        <p:nvPicPr>
          <p:cNvPr id="3" name="Image 0" descr="median">    </p:cNvPr>
          <p:cNvPicPr>
            <a:picLocks noChangeAspect="1"/>
          </p:cNvPicPr>
          <p:nvPr/>
        </p:nvPicPr>
        <p:blipFill>
          <a:blip r:embed="rId1"/>
          <a:stretch>
            <a:fillRect/>
          </a:stretch>
        </p:blipFill>
        <p:spPr>
          <a:xfrm>
            <a:off x="640080" y="1783080"/>
            <a:ext cx="1188720" cy="1188720"/>
          </a:xfrm>
          <a:prstGeom prst="rect">
            <a:avLst/>
          </a:prstGeom>
        </p:spPr>
      </p:pic>
      <p:sp>
        <p:nvSpPr>
          <p:cNvPr id="4" name="Text 1"/>
          <p:cNvSpPr txBox="1"/>
          <p:nvPr/>
        </p:nvSpPr>
        <p:spPr>
          <a:xfrm>
            <a:off x="2011680" y="1737360"/>
            <a:ext cx="2926080" cy="1298448"/>
          </a:xfrm>
          <a:prstGeom prst="rect">
            <a:avLst/>
          </a:prstGeom>
          <a:noFill/>
          <a:ln/>
        </p:spPr>
        <p:txBody>
          <a:bodyPr wrap="square" lIns="0" tIns="0" rIns="0" bIns="0" rtlCol="0" anchor="ctr"/>
          <a:lstStyle/>
          <a:p>
            <a:pPr algn="l" indent="0" marL="0">
              <a:lnSpc>
                <a:spcPts val="4080"/>
              </a:lnSpc>
              <a:buNone/>
            </a:pPr>
            <a:r>
              <a:rPr lang="en-US" sz="3400" b="1" dirty="0">
                <a:solidFill>
                  <a:srgbClr val="111111"/>
                </a:solidFill>
                <a:latin typeface="Lato" pitchFamily="34" charset="0"/>
                <a:ea typeface="Lato" pitchFamily="34" charset="-122"/>
                <a:cs typeface="Lato" pitchFamily="34" charset="-120"/>
              </a:rPr>
              <a:t>median</a:t>
            </a:r>
            <a:endParaRPr lang="en-US" sz="3400" dirty="0"/>
          </a:p>
        </p:txBody>
      </p:sp>
      <p:sp>
        <p:nvSpPr>
          <p:cNvPr id="5" name="Text 2"/>
          <p:cNvSpPr txBox="1"/>
          <p:nvPr/>
        </p:nvSpPr>
        <p:spPr>
          <a:xfrm>
            <a:off x="5120640" y="1783080"/>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The middle value once the values are in order.</a:t>
            </a:r>
            <a:endParaRPr lang="en-US" sz="2200" dirty="0"/>
          </a:p>
        </p:txBody>
      </p:sp>
      <p:sp>
        <p:nvSpPr>
          <p:cNvPr id="6" name="Text 3"/>
          <p:cNvSpPr txBox="1"/>
          <p:nvPr/>
        </p:nvSpPr>
        <p:spPr>
          <a:xfrm>
            <a:off x="5120640" y="2209800"/>
            <a:ext cx="6400800" cy="566928"/>
          </a:xfrm>
          <a:prstGeom prst="rect">
            <a:avLst/>
          </a:prstGeom>
          <a:noFill/>
          <a:ln/>
        </p:spPr>
        <p:txBody>
          <a:bodyPr wrap="square" lIns="0" tIns="0" rIns="0" bIns="0" rtlCol="0" anchor="t"/>
          <a:lstStyle/>
          <a:p>
            <a:pPr algn="l" indent="0" marL="0">
              <a:lnSpc>
                <a:spcPts val="2280"/>
              </a:lnSpc>
              <a:buNone/>
            </a:pPr>
            <a:r>
              <a:rPr lang="en-US" sz="1900" i="1" dirty="0">
                <a:solidFill>
                  <a:srgbClr val="666666"/>
                </a:solidFill>
                <a:latin typeface="Lato" pitchFamily="34" charset="0"/>
                <a:ea typeface="Lato" pitchFamily="34" charset="-122"/>
                <a:cs typeface="Lato" pitchFamily="34" charset="-120"/>
              </a:rPr>
              <a:t>The pupil standing in the middle of a line sorted by height.</a:t>
            </a:r>
            <a:endParaRPr lang="en-US" sz="1900" dirty="0"/>
          </a:p>
        </p:txBody>
      </p:sp>
      <p:sp>
        <p:nvSpPr>
          <p:cNvPr id="7" name="Shape 4"/>
          <p:cNvSpPr/>
          <p:nvPr/>
        </p:nvSpPr>
        <p:spPr>
          <a:xfrm>
            <a:off x="640080" y="3136392"/>
            <a:ext cx="10881360" cy="0"/>
          </a:xfrm>
          <a:prstGeom prst="line">
            <a:avLst/>
          </a:prstGeom>
          <a:noFill/>
          <a:ln w="12700">
            <a:solidFill>
              <a:srgbClr val="CFCFCF"/>
            </a:solidFill>
            <a:prstDash val="solid"/>
          </a:ln>
        </p:spPr>
      </p:sp>
      <p:pic>
        <p:nvPicPr>
          <p:cNvPr id="8" name="Image 1" descr="proportion">    </p:cNvPr>
          <p:cNvPicPr>
            <a:picLocks noChangeAspect="1"/>
          </p:cNvPicPr>
          <p:nvPr/>
        </p:nvPicPr>
        <p:blipFill>
          <a:blip r:embed="rId2"/>
          <a:stretch>
            <a:fillRect/>
          </a:stretch>
        </p:blipFill>
        <p:spPr>
          <a:xfrm>
            <a:off x="640080" y="3264408"/>
            <a:ext cx="1188720" cy="1188720"/>
          </a:xfrm>
          <a:prstGeom prst="rect">
            <a:avLst/>
          </a:prstGeom>
        </p:spPr>
      </p:pic>
      <p:sp>
        <p:nvSpPr>
          <p:cNvPr id="9" name="Text 5"/>
          <p:cNvSpPr txBox="1"/>
          <p:nvPr/>
        </p:nvSpPr>
        <p:spPr>
          <a:xfrm>
            <a:off x="2011680" y="3218688"/>
            <a:ext cx="2926080" cy="1298448"/>
          </a:xfrm>
          <a:prstGeom prst="rect">
            <a:avLst/>
          </a:prstGeom>
          <a:noFill/>
          <a:ln/>
        </p:spPr>
        <p:txBody>
          <a:bodyPr wrap="square" lIns="0" tIns="0" rIns="0" bIns="0" rtlCol="0" anchor="ctr"/>
          <a:lstStyle/>
          <a:p>
            <a:pPr algn="l" indent="0" marL="0">
              <a:lnSpc>
                <a:spcPts val="4080"/>
              </a:lnSpc>
              <a:buNone/>
            </a:pPr>
            <a:r>
              <a:rPr lang="en-US" sz="3400" b="1" dirty="0">
                <a:solidFill>
                  <a:srgbClr val="111111"/>
                </a:solidFill>
                <a:latin typeface="Lato" pitchFamily="34" charset="0"/>
                <a:ea typeface="Lato" pitchFamily="34" charset="-122"/>
                <a:cs typeface="Lato" pitchFamily="34" charset="-120"/>
              </a:rPr>
              <a:t>proportion</a:t>
            </a:r>
            <a:endParaRPr lang="en-US" sz="3400" dirty="0"/>
          </a:p>
        </p:txBody>
      </p:sp>
      <p:sp>
        <p:nvSpPr>
          <p:cNvPr id="10" name="Text 6"/>
          <p:cNvSpPr txBox="1"/>
          <p:nvPr/>
        </p:nvSpPr>
        <p:spPr>
          <a:xfrm>
            <a:off x="5120640" y="3264408"/>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A part divided by the whole. Times 100 it becomes a percentage.</a:t>
            </a:r>
            <a:endParaRPr lang="en-US" sz="2200" dirty="0"/>
          </a:p>
        </p:txBody>
      </p:sp>
      <p:sp>
        <p:nvSpPr>
          <p:cNvPr id="11" name="Text 7"/>
          <p:cNvSpPr txBox="1"/>
          <p:nvPr/>
        </p:nvSpPr>
        <p:spPr>
          <a:xfrm>
            <a:off x="5120640" y="4026408"/>
            <a:ext cx="6400800" cy="566928"/>
          </a:xfrm>
          <a:prstGeom prst="rect">
            <a:avLst/>
          </a:prstGeom>
          <a:noFill/>
          <a:ln/>
        </p:spPr>
        <p:txBody>
          <a:bodyPr wrap="square" lIns="0" tIns="0" rIns="0" bIns="0" rtlCol="0" anchor="t"/>
          <a:lstStyle/>
          <a:p>
            <a:pPr algn="l" indent="0" marL="0">
              <a:lnSpc>
                <a:spcPts val="2280"/>
              </a:lnSpc>
              <a:buNone/>
            </a:pPr>
            <a:r>
              <a:rPr lang="en-US" sz="1900" i="1" dirty="0">
                <a:solidFill>
                  <a:srgbClr val="666666"/>
                </a:solidFill>
                <a:latin typeface="Lato" pitchFamily="34" charset="0"/>
                <a:ea typeface="Lato" pitchFamily="34" charset="-122"/>
                <a:cs typeface="Lato" pitchFamily="34" charset="-120"/>
              </a:rPr>
              <a:t>12 pupils out of 20 passed.</a:t>
            </a:r>
            <a:endParaRPr lang="en-US" sz="1900" dirty="0"/>
          </a:p>
        </p:txBody>
      </p:sp>
      <p:sp>
        <p:nvSpPr>
          <p:cNvPr id="12" name="Shape 8"/>
          <p:cNvSpPr/>
          <p:nvPr/>
        </p:nvSpPr>
        <p:spPr>
          <a:xfrm>
            <a:off x="640080" y="4617720"/>
            <a:ext cx="10881360" cy="0"/>
          </a:xfrm>
          <a:prstGeom prst="line">
            <a:avLst/>
          </a:prstGeom>
          <a:noFill/>
          <a:ln w="12700">
            <a:solidFill>
              <a:srgbClr val="CFCFCF"/>
            </a:solidFill>
            <a:prstDash val="solid"/>
          </a:ln>
        </p:spPr>
      </p:sp>
      <p:pic>
        <p:nvPicPr>
          <p:cNvPr id="13" name="Image 2" descr="denominator">    </p:cNvPr>
          <p:cNvPicPr>
            <a:picLocks noChangeAspect="1"/>
          </p:cNvPicPr>
          <p:nvPr/>
        </p:nvPicPr>
        <p:blipFill>
          <a:blip r:embed="rId3"/>
          <a:stretch>
            <a:fillRect/>
          </a:stretch>
        </p:blipFill>
        <p:spPr>
          <a:xfrm>
            <a:off x="640080" y="4745736"/>
            <a:ext cx="1188720" cy="1188720"/>
          </a:xfrm>
          <a:prstGeom prst="rect">
            <a:avLst/>
          </a:prstGeom>
        </p:spPr>
      </p:pic>
      <p:sp>
        <p:nvSpPr>
          <p:cNvPr id="14" name="Text 9"/>
          <p:cNvSpPr txBox="1"/>
          <p:nvPr/>
        </p:nvSpPr>
        <p:spPr>
          <a:xfrm>
            <a:off x="2011680" y="4700016"/>
            <a:ext cx="2926080" cy="1298448"/>
          </a:xfrm>
          <a:prstGeom prst="rect">
            <a:avLst/>
          </a:prstGeom>
          <a:noFill/>
          <a:ln/>
        </p:spPr>
        <p:txBody>
          <a:bodyPr wrap="square" lIns="0" tIns="0" rIns="0" bIns="0" rtlCol="0" anchor="ctr"/>
          <a:lstStyle/>
          <a:p>
            <a:pPr algn="l" indent="0" marL="0">
              <a:lnSpc>
                <a:spcPts val="3840"/>
              </a:lnSpc>
              <a:buNone/>
            </a:pPr>
            <a:r>
              <a:rPr lang="en-US" sz="3200" b="1" dirty="0">
                <a:solidFill>
                  <a:srgbClr val="111111"/>
                </a:solidFill>
                <a:latin typeface="Lato" pitchFamily="34" charset="0"/>
                <a:ea typeface="Lato" pitchFamily="34" charset="-122"/>
                <a:cs typeface="Lato" pitchFamily="34" charset="-120"/>
              </a:rPr>
              <a:t>denominator</a:t>
            </a:r>
            <a:endParaRPr lang="en-US" sz="3200" dirty="0"/>
          </a:p>
        </p:txBody>
      </p:sp>
      <p:sp>
        <p:nvSpPr>
          <p:cNvPr id="15" name="Text 10"/>
          <p:cNvSpPr txBox="1"/>
          <p:nvPr/>
        </p:nvSpPr>
        <p:spPr>
          <a:xfrm>
            <a:off x="5120640" y="4745736"/>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The whole that a proportion is measured against.</a:t>
            </a:r>
            <a:endParaRPr lang="en-US" sz="2200" dirty="0"/>
          </a:p>
        </p:txBody>
      </p:sp>
      <p:sp>
        <p:nvSpPr>
          <p:cNvPr id="16" name="Text 11"/>
          <p:cNvSpPr txBox="1"/>
          <p:nvPr/>
        </p:nvSpPr>
        <p:spPr>
          <a:xfrm>
            <a:off x="5120640" y="5172456"/>
            <a:ext cx="6400800" cy="566928"/>
          </a:xfrm>
          <a:prstGeom prst="rect">
            <a:avLst/>
          </a:prstGeom>
          <a:noFill/>
          <a:ln/>
        </p:spPr>
        <p:txBody>
          <a:bodyPr wrap="square" lIns="0" tIns="0" rIns="0" bIns="0" rtlCol="0" anchor="t"/>
          <a:lstStyle/>
          <a:p>
            <a:pPr algn="l" indent="0" marL="0">
              <a:lnSpc>
                <a:spcPts val="2280"/>
              </a:lnSpc>
              <a:buNone/>
            </a:pPr>
            <a:r>
              <a:rPr lang="en-US" sz="1900" i="1" dirty="0">
                <a:solidFill>
                  <a:srgbClr val="666666"/>
                </a:solidFill>
                <a:latin typeface="Lato" pitchFamily="34" charset="0"/>
                <a:ea typeface="Lato" pitchFamily="34" charset="-122"/>
                <a:cs typeface="Lato" pitchFamily="34" charset="-120"/>
              </a:rPr>
              <a:t>The 20 in 12 out of 20.</a:t>
            </a:r>
            <a:endParaRPr lang="en-US" sz="19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700" b="1" dirty="0">
                <a:solidFill>
                  <a:srgbClr val="111111"/>
                </a:solidFill>
                <a:latin typeface="Lato" pitchFamily="34" charset="0"/>
                <a:ea typeface="Lato" pitchFamily="34" charset="-122"/>
                <a:cs typeface="Lato" pitchFamily="34" charset="-120"/>
              </a:rPr>
              <a:t>Group splits rows, adds each pile, then combines</a:t>
            </a:r>
            <a:endParaRPr lang="en-US" sz="3700" dirty="0"/>
          </a:p>
        </p:txBody>
      </p:sp>
      <p:pic>
        <p:nvPicPr>
          <p:cNvPr id="3" name="Image 0" descr="Group splits rows, adds each pile, then combines">    </p:cNvPr>
          <p:cNvPicPr>
            <a:picLocks noChangeAspect="1"/>
          </p:cNvPicPr>
          <p:nvPr/>
        </p:nvPicPr>
        <p:blipFill>
          <a:blip r:embed="rId1"/>
          <a:stretch>
            <a:fillRect/>
          </a:stretch>
        </p:blipFill>
        <p:spPr>
          <a:xfrm>
            <a:off x="640080" y="1554480"/>
            <a:ext cx="10881360" cy="4069080"/>
          </a:xfrm>
          <a:prstGeom prst="rect">
            <a:avLst/>
          </a:prstGeom>
        </p:spPr>
      </p:pic>
      <p:sp>
        <p:nvSpPr>
          <p:cNvPr id="4" name="Text 1"/>
          <p:cNvSpPr txBox="1"/>
          <p:nvPr/>
        </p:nvSpPr>
        <p:spPr>
          <a:xfrm>
            <a:off x="640080" y="5669280"/>
            <a:ext cx="10881360" cy="640080"/>
          </a:xfrm>
          <a:prstGeom prst="rect">
            <a:avLst/>
          </a:prstGeom>
          <a:noFill/>
          <a:ln/>
        </p:spPr>
        <p:txBody>
          <a:bodyPr wrap="square" lIns="0" tIns="0" rIns="0" bIns="0" rtlCol="0" anchor="t"/>
          <a:lstStyle/>
          <a:p>
            <a:pPr algn="l" indent="0" marL="0">
              <a:lnSpc>
                <a:spcPts val="2640"/>
              </a:lnSpc>
              <a:buNone/>
            </a:pPr>
            <a:r>
              <a:rPr lang="en-US" sz="2200" dirty="0">
                <a:solidFill>
                  <a:srgbClr val="333333"/>
                </a:solidFill>
                <a:latin typeface="Lato" pitchFamily="34" charset="0"/>
                <a:ea typeface="Lato" pitchFamily="34" charset="-122"/>
                <a:cs typeface="Lato" pitchFamily="34" charset="-120"/>
              </a:rPr>
              <a:t>Split by item, add each pile, combine into one small table.</a:t>
            </a:r>
            <a:endParaRPr lang="en-US" sz="22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The best seller by units is not the top earner</a:t>
            </a:r>
            <a:endParaRPr lang="en-US" sz="3800" dirty="0"/>
          </a:p>
        </p:txBody>
      </p:sp>
      <p:pic>
        <p:nvPicPr>
          <p:cNvPr id="3" name="Image 0" descr="By units: Pen sells 103, Book 99, Juice 75.">    </p:cNvPr>
          <p:cNvPicPr>
            <a:picLocks noChangeAspect="1"/>
          </p:cNvPicPr>
          <p:nvPr/>
        </p:nvPicPr>
        <p:blipFill>
          <a:blip r:embed="rId1"/>
          <a:stretch>
            <a:fillRect/>
          </a:stretch>
        </p:blipFill>
        <p:spPr>
          <a:xfrm>
            <a:off x="781709" y="1554480"/>
            <a:ext cx="5065983" cy="3429000"/>
          </a:xfrm>
          <a:prstGeom prst="rect">
            <a:avLst/>
          </a:prstGeom>
        </p:spPr>
      </p:pic>
      <p:sp>
        <p:nvSpPr>
          <p:cNvPr id="4" name="Text 1"/>
          <p:cNvSpPr txBox="1"/>
          <p:nvPr/>
        </p:nvSpPr>
        <p:spPr>
          <a:xfrm>
            <a:off x="640080" y="5074920"/>
            <a:ext cx="5349240" cy="1188720"/>
          </a:xfrm>
          <a:prstGeom prst="rect">
            <a:avLst/>
          </a:prstGeom>
          <a:noFill/>
          <a:ln/>
        </p:spPr>
        <p:txBody>
          <a:bodyPr wrap="square" lIns="0" tIns="0" rIns="0" bIns="0" rtlCol="0" anchor="t"/>
          <a:lstStyle/>
          <a:p>
            <a:pPr algn="l" indent="0" marL="0">
              <a:lnSpc>
                <a:spcPts val="2640"/>
              </a:lnSpc>
              <a:spcAft>
                <a:spcPts val="1010"/>
              </a:spcAft>
              <a:buNone/>
            </a:pPr>
            <a:r>
              <a:rPr lang="en-US" sz="2200" dirty="0">
                <a:solidFill>
                  <a:srgbClr val="111111"/>
                </a:solidFill>
                <a:latin typeface="Lato" pitchFamily="34" charset="0"/>
                <a:ea typeface="Lato" pitchFamily="34" charset="-122"/>
                <a:cs typeface="Lato" pitchFamily="34" charset="-120"/>
              </a:rPr>
              <a:t>By units: Pen sells 103, Book 99, Juice 75.</a:t>
            </a:r>
            <a:endParaRPr lang="en-US" sz="2200" dirty="0"/>
          </a:p>
        </p:txBody>
      </p:sp>
      <p:pic>
        <p:nvPicPr>
          <p:cNvPr id="5" name="Image 1" descr="By revenue: Book earns 297,000, Juice 150,000, Pen 103,000.">    </p:cNvPr>
          <p:cNvPicPr>
            <a:picLocks noChangeAspect="1"/>
          </p:cNvPicPr>
          <p:nvPr/>
        </p:nvPicPr>
        <p:blipFill>
          <a:blip r:embed="rId2"/>
          <a:stretch>
            <a:fillRect/>
          </a:stretch>
        </p:blipFill>
        <p:spPr>
          <a:xfrm>
            <a:off x="6172200" y="1584462"/>
            <a:ext cx="5349240" cy="3369036"/>
          </a:xfrm>
          <a:prstGeom prst="rect">
            <a:avLst/>
          </a:prstGeom>
        </p:spPr>
      </p:pic>
      <p:sp>
        <p:nvSpPr>
          <p:cNvPr id="6" name="Text 2"/>
          <p:cNvSpPr txBox="1"/>
          <p:nvPr/>
        </p:nvSpPr>
        <p:spPr>
          <a:xfrm>
            <a:off x="6172200" y="5074920"/>
            <a:ext cx="5349240" cy="1188720"/>
          </a:xfrm>
          <a:prstGeom prst="rect">
            <a:avLst/>
          </a:prstGeom>
          <a:noFill/>
          <a:ln/>
        </p:spPr>
        <p:txBody>
          <a:bodyPr wrap="square" lIns="0" tIns="0" rIns="0" bIns="0" rtlCol="0" anchor="t"/>
          <a:lstStyle/>
          <a:p>
            <a:pPr algn="l" indent="0" marL="0">
              <a:lnSpc>
                <a:spcPts val="2640"/>
              </a:lnSpc>
              <a:spcAft>
                <a:spcPts val="1010"/>
              </a:spcAft>
              <a:buNone/>
            </a:pPr>
            <a:r>
              <a:rPr lang="en-US" sz="2200" dirty="0">
                <a:solidFill>
                  <a:srgbClr val="111111"/>
                </a:solidFill>
                <a:latin typeface="Lato" pitchFamily="34" charset="0"/>
                <a:ea typeface="Lato" pitchFamily="34" charset="-122"/>
                <a:cs typeface="Lato" pitchFamily="34" charset="-120"/>
              </a:rPr>
              <a:t>By revenue: Book earns 297,000, Juice 150,000, Pen 103,000.</a:t>
            </a:r>
            <a:endParaRPr lang="en-US" sz="22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Predict: Group, total and sort</a:t>
            </a:r>
            <a:endParaRPr lang="en-US" sz="3800" dirty="0"/>
          </a:p>
        </p:txBody>
      </p:sp>
      <p:sp>
        <p:nvSpPr>
          <p:cNvPr id="3" name="Shape 1"/>
          <p:cNvSpPr/>
          <p:nvPr/>
        </p:nvSpPr>
        <p:spPr>
          <a:xfrm>
            <a:off x="640080" y="1645920"/>
            <a:ext cx="10881360" cy="3344672"/>
          </a:xfrm>
          <a:prstGeom prst="roundRect">
            <a:avLst>
              <a:gd name="adj" fmla="val 2187"/>
            </a:avLst>
          </a:prstGeom>
          <a:solidFill>
            <a:srgbClr val="111111"/>
          </a:solidFill>
          <a:ln/>
        </p:spPr>
      </p:sp>
      <p:sp>
        <p:nvSpPr>
          <p:cNvPr id="4" name="Text 2"/>
          <p:cNvSpPr txBox="1"/>
          <p:nvPr/>
        </p:nvSpPr>
        <p:spPr>
          <a:xfrm>
            <a:off x="841248" y="1847088"/>
            <a:ext cx="10479024" cy="2942336"/>
          </a:xfrm>
          <a:prstGeom prst="rect">
            <a:avLst/>
          </a:prstGeom>
          <a:noFill/>
          <a:ln/>
        </p:spPr>
        <p:txBody>
          <a:bodyPr wrap="square" lIns="0" tIns="0" rIns="0" bIns="0" rtlCol="0" anchor="t"/>
          <a:lstStyle/>
          <a:p>
            <a:pPr algn="l" indent="0" marL="0">
              <a:lnSpc>
                <a:spcPts val="2080"/>
              </a:lnSpc>
              <a:buNone/>
            </a:pPr>
            <a:r>
              <a:rPr lang="en-US" sz="1600" b="1" dirty="0">
                <a:solidFill>
                  <a:srgbClr val="FFFFFF"/>
                </a:solidFill>
                <a:latin typeface="Courier New" pitchFamily="34" charset="0"/>
                <a:ea typeface="Courier New" pitchFamily="34" charset="-122"/>
                <a:cs typeface="Courier New" pitchFamily="34" charset="-120"/>
              </a:rPr>
              <a:t>import</a:t>
            </a:r>
            <a:pPr algn="l" indent="0" marL="0">
              <a:lnSpc>
                <a:spcPts val="2080"/>
              </a:lnSpc>
              <a:buNone/>
            </a:pPr>
            <a:r>
              <a:rPr lang="en-US" sz="1600" dirty="0">
                <a:solidFill>
                  <a:srgbClr val="FFFFFF"/>
                </a:solidFill>
                <a:latin typeface="Courier New" pitchFamily="34" charset="0"/>
                <a:ea typeface="Courier New" pitchFamily="34" charset="-122"/>
                <a:cs typeface="Courier New" pitchFamily="34" charset="-120"/>
              </a:rPr>
              <a:t> pandas </a:t>
            </a:r>
            <a:pPr algn="l" indent="0" marL="0">
              <a:lnSpc>
                <a:spcPts val="2080"/>
              </a:lnSpc>
              <a:buNone/>
            </a:pPr>
            <a:r>
              <a:rPr lang="en-US" sz="1600" b="1" dirty="0">
                <a:solidFill>
                  <a:srgbClr val="FFFFFF"/>
                </a:solidFill>
                <a:latin typeface="Courier New" pitchFamily="34" charset="0"/>
                <a:ea typeface="Courier New" pitchFamily="34" charset="-122"/>
                <a:cs typeface="Courier New" pitchFamily="34" charset="-120"/>
              </a:rPr>
              <a:t>as</a:t>
            </a:r>
            <a:pPr algn="l" indent="0" marL="0">
              <a:lnSpc>
                <a:spcPts val="2080"/>
              </a:lnSpc>
              <a:buNone/>
            </a:pPr>
            <a:r>
              <a:rPr lang="en-US" sz="1600" dirty="0">
                <a:solidFill>
                  <a:srgbClr val="FFFFFF"/>
                </a:solidFill>
                <a:latin typeface="Courier New" pitchFamily="34" charset="0"/>
                <a:ea typeface="Courier New" pitchFamily="34" charset="-122"/>
                <a:cs typeface="Courier New" pitchFamily="34" charset="-120"/>
              </a:rPr>
              <a:t> pd</a:t>
            </a:r>
            <a:endParaRPr lang="en-US" sz="1600" dirty="0"/>
          </a:p>
          <a:p>
            <a:pPr algn="l" indent="0" marL="0">
              <a:lnSpc>
                <a:spcPts val="2080"/>
              </a:lnSpc>
              <a:buNone/>
            </a:pPr>
            <a:r>
              <a:rPr lang="en-US" sz="1600" dirty="0">
                <a:solidFill>
                  <a:srgbClr val="FFFFFF"/>
                </a:solidFill>
                <a:latin typeface="Courier New" pitchFamily="34" charset="0"/>
                <a:ea typeface="Courier New" pitchFamily="34" charset="-122"/>
                <a:cs typeface="Courier New" pitchFamily="34" charset="-120"/>
              </a:rPr>
              <a:t>shop = pd.read_csv(</a:t>
            </a:r>
            <a:pPr algn="l" indent="0" marL="0">
              <a:lnSpc>
                <a:spcPts val="2080"/>
              </a:lnSpc>
              <a:buNone/>
            </a:pPr>
            <a:r>
              <a:rPr lang="en-US" sz="1600" dirty="0">
                <a:solidFill>
                  <a:srgbClr val="E0BE36"/>
                </a:solidFill>
                <a:latin typeface="Courier New" pitchFamily="34" charset="0"/>
                <a:ea typeface="Courier New" pitchFamily="34" charset="-122"/>
                <a:cs typeface="Courier New" pitchFamily="34" charset="-120"/>
              </a:rPr>
              <a:t>"camp_shop.csv"</a:t>
            </a:r>
            <a:pPr algn="l" indent="0" marL="0">
              <a:lnSpc>
                <a:spcPts val="2080"/>
              </a:lnSpc>
              <a:buNone/>
            </a:pPr>
            <a:r>
              <a:rPr lang="en-US" sz="1600" dirty="0">
                <a:solidFill>
                  <a:srgbClr val="FFFFFF"/>
                </a:solidFill>
                <a:latin typeface="Courier New" pitchFamily="34" charset="0"/>
                <a:ea typeface="Courier New" pitchFamily="34" charset="-122"/>
                <a:cs typeface="Courier New" pitchFamily="34" charset="-120"/>
              </a:rPr>
              <a:t>)</a:t>
            </a:r>
            <a:endParaRPr lang="en-US" sz="1600" dirty="0"/>
          </a:p>
          <a:p>
            <a:pPr algn="l" indent="0" marL="0">
              <a:lnSpc>
                <a:spcPts val="2080"/>
              </a:lnSpc>
              <a:buNone/>
            </a:pPr>
            <a:r>
              <a:rPr lang="en-US" sz="1600" dirty="0">
                <a:solidFill>
                  <a:srgbClr val="FFFFFF"/>
                </a:solidFill>
                <a:latin typeface="Courier New" pitchFamily="34" charset="0"/>
                <a:ea typeface="Courier New" pitchFamily="34" charset="-122"/>
                <a:cs typeface="Courier New" pitchFamily="34" charset="-120"/>
              </a:rPr>
              <a:t>shop[</a:t>
            </a:r>
            <a:pPr algn="l" indent="0" marL="0">
              <a:lnSpc>
                <a:spcPts val="2080"/>
              </a:lnSpc>
              <a:buNone/>
            </a:pPr>
            <a:r>
              <a:rPr lang="en-US" sz="1600" dirty="0">
                <a:solidFill>
                  <a:srgbClr val="E0BE36"/>
                </a:solidFill>
                <a:latin typeface="Courier New" pitchFamily="34" charset="0"/>
                <a:ea typeface="Courier New" pitchFamily="34" charset="-122"/>
                <a:cs typeface="Courier New" pitchFamily="34" charset="-120"/>
              </a:rPr>
              <a:t>"revenue_ugx"</a:t>
            </a:r>
            <a:pPr algn="l" indent="0" marL="0">
              <a:lnSpc>
                <a:spcPts val="2080"/>
              </a:lnSpc>
              <a:buNone/>
            </a:pPr>
            <a:r>
              <a:rPr lang="en-US" sz="1600" dirty="0">
                <a:solidFill>
                  <a:srgbClr val="FFFFFF"/>
                </a:solidFill>
                <a:latin typeface="Courier New" pitchFamily="34" charset="0"/>
                <a:ea typeface="Courier New" pitchFamily="34" charset="-122"/>
                <a:cs typeface="Courier New" pitchFamily="34" charset="-120"/>
              </a:rPr>
              <a:t>] = shop[</a:t>
            </a:r>
            <a:pPr algn="l" indent="0" marL="0">
              <a:lnSpc>
                <a:spcPts val="2080"/>
              </a:lnSpc>
              <a:buNone/>
            </a:pPr>
            <a:r>
              <a:rPr lang="en-US" sz="1600" dirty="0">
                <a:solidFill>
                  <a:srgbClr val="E0BE36"/>
                </a:solidFill>
                <a:latin typeface="Courier New" pitchFamily="34" charset="0"/>
                <a:ea typeface="Courier New" pitchFamily="34" charset="-122"/>
                <a:cs typeface="Courier New" pitchFamily="34" charset="-120"/>
              </a:rPr>
              <a:t>"units"</a:t>
            </a:r>
            <a:pPr algn="l" indent="0" marL="0">
              <a:lnSpc>
                <a:spcPts val="2080"/>
              </a:lnSpc>
              <a:buNone/>
            </a:pPr>
            <a:r>
              <a:rPr lang="en-US" sz="1600" dirty="0">
                <a:solidFill>
                  <a:srgbClr val="FFFFFF"/>
                </a:solidFill>
                <a:latin typeface="Courier New" pitchFamily="34" charset="0"/>
                <a:ea typeface="Courier New" pitchFamily="34" charset="-122"/>
                <a:cs typeface="Courier New" pitchFamily="34" charset="-120"/>
              </a:rPr>
              <a:t>] * shop[</a:t>
            </a:r>
            <a:pPr algn="l" indent="0" marL="0">
              <a:lnSpc>
                <a:spcPts val="2080"/>
              </a:lnSpc>
              <a:buNone/>
            </a:pPr>
            <a:r>
              <a:rPr lang="en-US" sz="1600" dirty="0">
                <a:solidFill>
                  <a:srgbClr val="E0BE36"/>
                </a:solidFill>
                <a:latin typeface="Courier New" pitchFamily="34" charset="0"/>
                <a:ea typeface="Courier New" pitchFamily="34" charset="-122"/>
                <a:cs typeface="Courier New" pitchFamily="34" charset="-120"/>
              </a:rPr>
              <a:t>"unit_price_ugx"</a:t>
            </a:r>
            <a:pPr algn="l" indent="0" marL="0">
              <a:lnSpc>
                <a:spcPts val="2080"/>
              </a:lnSpc>
              <a:buNone/>
            </a:pPr>
            <a:r>
              <a:rPr lang="en-US" sz="1600" dirty="0">
                <a:solidFill>
                  <a:srgbClr val="FFFFFF"/>
                </a:solidFill>
                <a:latin typeface="Courier New" pitchFamily="34" charset="0"/>
                <a:ea typeface="Courier New" pitchFamily="34" charset="-122"/>
                <a:cs typeface="Courier New" pitchFamily="34" charset="-120"/>
              </a:rPr>
              <a:t>]</a:t>
            </a:r>
            <a:endParaRPr lang="en-US" sz="1600" dirty="0"/>
          </a:p>
          <a:p>
            <a:pPr algn="l" indent="0" marL="0">
              <a:lnSpc>
                <a:spcPts val="2080"/>
              </a:lnSpc>
              <a:buNone/>
            </a:pPr>
            <a:r>
              <a:rPr lang="en-US" sz="1600" dirty="0">
                <a:solidFill>
                  <a:srgbClr val="FFFFFF"/>
                </a:solidFill>
                <a:latin typeface="Courier New" pitchFamily="34" charset="0"/>
                <a:ea typeface="Courier New" pitchFamily="34" charset="-122"/>
                <a:cs typeface="Courier New" pitchFamily="34" charset="-120"/>
              </a:rPr>
              <a:t>units_by_item = shop.groupby(</a:t>
            </a:r>
            <a:pPr algn="l" indent="0" marL="0">
              <a:lnSpc>
                <a:spcPts val="2080"/>
              </a:lnSpc>
              <a:buNone/>
            </a:pPr>
            <a:r>
              <a:rPr lang="en-US" sz="1600" dirty="0">
                <a:solidFill>
                  <a:srgbClr val="E0BE36"/>
                </a:solidFill>
                <a:latin typeface="Courier New" pitchFamily="34" charset="0"/>
                <a:ea typeface="Courier New" pitchFamily="34" charset="-122"/>
                <a:cs typeface="Courier New" pitchFamily="34" charset="-120"/>
              </a:rPr>
              <a:t>"item"</a:t>
            </a:r>
            <a:pPr algn="l" indent="0" marL="0">
              <a:lnSpc>
                <a:spcPts val="2080"/>
              </a:lnSpc>
              <a:buNone/>
            </a:pPr>
            <a:r>
              <a:rPr lang="en-US" sz="1600" dirty="0">
                <a:solidFill>
                  <a:srgbClr val="FFFFFF"/>
                </a:solidFill>
                <a:latin typeface="Courier New" pitchFamily="34" charset="0"/>
                <a:ea typeface="Courier New" pitchFamily="34" charset="-122"/>
                <a:cs typeface="Courier New" pitchFamily="34" charset="-120"/>
              </a:rPr>
              <a:t>)[</a:t>
            </a:r>
            <a:pPr algn="l" indent="0" marL="0">
              <a:lnSpc>
                <a:spcPts val="2080"/>
              </a:lnSpc>
              <a:buNone/>
            </a:pPr>
            <a:r>
              <a:rPr lang="en-US" sz="1600" dirty="0">
                <a:solidFill>
                  <a:srgbClr val="E0BE36"/>
                </a:solidFill>
                <a:latin typeface="Courier New" pitchFamily="34" charset="0"/>
                <a:ea typeface="Courier New" pitchFamily="34" charset="-122"/>
                <a:cs typeface="Courier New" pitchFamily="34" charset="-120"/>
              </a:rPr>
              <a:t>"units"</a:t>
            </a:r>
            <a:pPr algn="l" indent="0" marL="0">
              <a:lnSpc>
                <a:spcPts val="2080"/>
              </a:lnSpc>
              <a:buNone/>
            </a:pPr>
            <a:r>
              <a:rPr lang="en-US" sz="1600" dirty="0">
                <a:solidFill>
                  <a:srgbClr val="FFFFFF"/>
                </a:solidFill>
                <a:latin typeface="Courier New" pitchFamily="34" charset="0"/>
                <a:ea typeface="Courier New" pitchFamily="34" charset="-122"/>
                <a:cs typeface="Courier New" pitchFamily="34" charset="-120"/>
              </a:rPr>
              <a:t>].sum()</a:t>
            </a:r>
            <a:endParaRPr lang="en-US" sz="1600" dirty="0"/>
          </a:p>
          <a:p>
            <a:pPr algn="l" indent="0" marL="0">
              <a:lnSpc>
                <a:spcPts val="2080"/>
              </a:lnSpc>
              <a:buNone/>
            </a:pPr>
            <a:r>
              <a:rPr lang="en-US" sz="1600" dirty="0">
                <a:solidFill>
                  <a:srgbClr val="FFFFFF"/>
                </a:solidFill>
                <a:latin typeface="Courier New" pitchFamily="34" charset="0"/>
                <a:ea typeface="Courier New" pitchFamily="34" charset="-122"/>
                <a:cs typeface="Courier New" pitchFamily="34" charset="-120"/>
              </a:rPr>
              <a:t>revenue_by_item = (</a:t>
            </a:r>
            <a:endParaRPr lang="en-US" sz="1600" dirty="0"/>
          </a:p>
          <a:p>
            <a:pPr algn="l" indent="0" marL="0">
              <a:lnSpc>
                <a:spcPts val="2080"/>
              </a:lnSpc>
              <a:buNone/>
            </a:pPr>
            <a:r>
              <a:rPr lang="en-US" sz="1600" dirty="0">
                <a:solidFill>
                  <a:srgbClr val="FFFFFF"/>
                </a:solidFill>
                <a:latin typeface="Courier New" pitchFamily="34" charset="0"/>
                <a:ea typeface="Courier New" pitchFamily="34" charset="-122"/>
                <a:cs typeface="Courier New" pitchFamily="34" charset="-120"/>
              </a:rPr>
              <a:t>    shop.groupby(</a:t>
            </a:r>
            <a:pPr algn="l" indent="0" marL="0">
              <a:lnSpc>
                <a:spcPts val="2080"/>
              </a:lnSpc>
              <a:buNone/>
            </a:pPr>
            <a:r>
              <a:rPr lang="en-US" sz="1600" dirty="0">
                <a:solidFill>
                  <a:srgbClr val="E0BE36"/>
                </a:solidFill>
                <a:latin typeface="Courier New" pitchFamily="34" charset="0"/>
                <a:ea typeface="Courier New" pitchFamily="34" charset="-122"/>
                <a:cs typeface="Courier New" pitchFamily="34" charset="-120"/>
              </a:rPr>
              <a:t>"item"</a:t>
            </a:r>
            <a:pPr algn="l" indent="0" marL="0">
              <a:lnSpc>
                <a:spcPts val="2080"/>
              </a:lnSpc>
              <a:buNone/>
            </a:pPr>
            <a:r>
              <a:rPr lang="en-US" sz="1600" dirty="0">
                <a:solidFill>
                  <a:srgbClr val="FFFFFF"/>
                </a:solidFill>
                <a:latin typeface="Courier New" pitchFamily="34" charset="0"/>
                <a:ea typeface="Courier New" pitchFamily="34" charset="-122"/>
                <a:cs typeface="Courier New" pitchFamily="34" charset="-120"/>
              </a:rPr>
              <a:t>)[</a:t>
            </a:r>
            <a:pPr algn="l" indent="0" marL="0">
              <a:lnSpc>
                <a:spcPts val="2080"/>
              </a:lnSpc>
              <a:buNone/>
            </a:pPr>
            <a:r>
              <a:rPr lang="en-US" sz="1600" dirty="0">
                <a:solidFill>
                  <a:srgbClr val="E0BE36"/>
                </a:solidFill>
                <a:latin typeface="Courier New" pitchFamily="34" charset="0"/>
                <a:ea typeface="Courier New" pitchFamily="34" charset="-122"/>
                <a:cs typeface="Courier New" pitchFamily="34" charset="-120"/>
              </a:rPr>
              <a:t>"revenue_ugx"</a:t>
            </a:r>
            <a:pPr algn="l" indent="0" marL="0">
              <a:lnSpc>
                <a:spcPts val="2080"/>
              </a:lnSpc>
              <a:buNone/>
            </a:pPr>
            <a:r>
              <a:rPr lang="en-US" sz="1600" dirty="0">
                <a:solidFill>
                  <a:srgbClr val="FFFFFF"/>
                </a:solidFill>
                <a:latin typeface="Courier New" pitchFamily="34" charset="0"/>
                <a:ea typeface="Courier New" pitchFamily="34" charset="-122"/>
                <a:cs typeface="Courier New" pitchFamily="34" charset="-120"/>
              </a:rPr>
              <a:t>]</a:t>
            </a:r>
            <a:endParaRPr lang="en-US" sz="1600" dirty="0"/>
          </a:p>
          <a:p>
            <a:pPr algn="l" indent="0" marL="0">
              <a:lnSpc>
                <a:spcPts val="2080"/>
              </a:lnSpc>
              <a:buNone/>
            </a:pPr>
            <a:r>
              <a:rPr lang="en-US" sz="1600" dirty="0">
                <a:solidFill>
                  <a:srgbClr val="FFFFFF"/>
                </a:solidFill>
                <a:latin typeface="Courier New" pitchFamily="34" charset="0"/>
                <a:ea typeface="Courier New" pitchFamily="34" charset="-122"/>
                <a:cs typeface="Courier New" pitchFamily="34" charset="-120"/>
              </a:rPr>
              <a:t>    .sum()</a:t>
            </a:r>
            <a:endParaRPr lang="en-US" sz="1600" dirty="0"/>
          </a:p>
          <a:p>
            <a:pPr algn="l" indent="0" marL="0">
              <a:lnSpc>
                <a:spcPts val="2080"/>
              </a:lnSpc>
              <a:buNone/>
            </a:pPr>
            <a:r>
              <a:rPr lang="en-US" sz="1600" dirty="0">
                <a:solidFill>
                  <a:srgbClr val="FFFFFF"/>
                </a:solidFill>
                <a:latin typeface="Courier New" pitchFamily="34" charset="0"/>
                <a:ea typeface="Courier New" pitchFamily="34" charset="-122"/>
                <a:cs typeface="Courier New" pitchFamily="34" charset="-120"/>
              </a:rPr>
              <a:t>    .sort_values(ascending=</a:t>
            </a:r>
            <a:pPr algn="l" indent="0" marL="0">
              <a:lnSpc>
                <a:spcPts val="2080"/>
              </a:lnSpc>
              <a:buNone/>
            </a:pPr>
            <a:r>
              <a:rPr lang="en-US" sz="1600" b="1" dirty="0">
                <a:solidFill>
                  <a:srgbClr val="FFFFFF"/>
                </a:solidFill>
                <a:latin typeface="Courier New" pitchFamily="34" charset="0"/>
                <a:ea typeface="Courier New" pitchFamily="34" charset="-122"/>
                <a:cs typeface="Courier New" pitchFamily="34" charset="-120"/>
              </a:rPr>
              <a:t>False</a:t>
            </a:r>
            <a:pPr algn="l" indent="0" marL="0">
              <a:lnSpc>
                <a:spcPts val="2080"/>
              </a:lnSpc>
              <a:buNone/>
            </a:pPr>
            <a:r>
              <a:rPr lang="en-US" sz="1600" dirty="0">
                <a:solidFill>
                  <a:srgbClr val="FFFFFF"/>
                </a:solidFill>
                <a:latin typeface="Courier New" pitchFamily="34" charset="0"/>
                <a:ea typeface="Courier New" pitchFamily="34" charset="-122"/>
                <a:cs typeface="Courier New" pitchFamily="34" charset="-120"/>
              </a:rPr>
              <a:t>)</a:t>
            </a:r>
            <a:endParaRPr lang="en-US" sz="1600" dirty="0"/>
          </a:p>
          <a:p>
            <a:pPr algn="l" indent="0" marL="0">
              <a:lnSpc>
                <a:spcPts val="2080"/>
              </a:lnSpc>
              <a:buNone/>
            </a:pPr>
            <a:r>
              <a:rPr lang="en-US" sz="1600" dirty="0">
                <a:solidFill>
                  <a:srgbClr val="FFFFFF"/>
                </a:solidFill>
                <a:latin typeface="Courier New" pitchFamily="34" charset="0"/>
                <a:ea typeface="Courier New" pitchFamily="34" charset="-122"/>
                <a:cs typeface="Courier New" pitchFamily="34" charset="-120"/>
              </a:rPr>
              <a:t>)</a:t>
            </a:r>
            <a:endParaRPr lang="en-US" sz="1600" dirty="0"/>
          </a:p>
          <a:p>
            <a:pPr algn="l" indent="0" marL="0">
              <a:lnSpc>
                <a:spcPts val="2080"/>
              </a:lnSpc>
              <a:buNone/>
            </a:pPr>
            <a:r>
              <a:rPr lang="en-US" sz="1600" dirty="0">
                <a:solidFill>
                  <a:srgbClr val="FFFFFF"/>
                </a:solidFill>
                <a:latin typeface="Courier New" pitchFamily="34" charset="0"/>
                <a:ea typeface="Courier New" pitchFamily="34" charset="-122"/>
                <a:cs typeface="Courier New" pitchFamily="34" charset="-120"/>
              </a:rPr>
              <a:t>print(units_by_item)</a:t>
            </a:r>
            <a:endParaRPr lang="en-US" sz="1600" dirty="0"/>
          </a:p>
          <a:p>
            <a:pPr algn="l" indent="0" marL="0">
              <a:lnSpc>
                <a:spcPts val="2080"/>
              </a:lnSpc>
              <a:buNone/>
            </a:pPr>
            <a:r>
              <a:rPr lang="en-US" sz="1600" dirty="0">
                <a:solidFill>
                  <a:srgbClr val="FFFFFF"/>
                </a:solidFill>
                <a:latin typeface="Courier New" pitchFamily="34" charset="0"/>
                <a:ea typeface="Courier New" pitchFamily="34" charset="-122"/>
                <a:cs typeface="Courier New" pitchFamily="34" charset="-120"/>
              </a:rPr>
              <a:t>print(revenue_by_item)</a:t>
            </a:r>
            <a:endParaRPr lang="en-US" sz="1600" dirty="0"/>
          </a:p>
        </p:txBody>
      </p:sp>
      <p:sp>
        <p:nvSpPr>
          <p:cNvPr id="5" name="Text 3"/>
          <p:cNvSpPr txBox="1"/>
          <p:nvPr/>
        </p:nvSpPr>
        <p:spPr>
          <a:xfrm>
            <a:off x="640080" y="5173472"/>
            <a:ext cx="8046720" cy="1090168"/>
          </a:xfrm>
          <a:prstGeom prst="rect">
            <a:avLst/>
          </a:prstGeom>
          <a:noFill/>
          <a:ln/>
        </p:spPr>
        <p:txBody>
          <a:bodyPr wrap="square" lIns="0" tIns="0" rIns="0" bIns="0" rtlCol="0" anchor="t"/>
          <a:lstStyle/>
          <a:p>
            <a:pPr algn="l" indent="0" marL="0">
              <a:lnSpc>
                <a:spcPts val="2400"/>
              </a:lnSpc>
              <a:spcAft>
                <a:spcPts val="1010"/>
              </a:spcAft>
              <a:buNone/>
            </a:pPr>
            <a:r>
              <a:rPr lang="en-US" sz="2000" dirty="0">
                <a:solidFill>
                  <a:srgbClr val="111111"/>
                </a:solidFill>
                <a:latin typeface="Lato" pitchFamily="34" charset="0"/>
                <a:ea typeface="Lato" pitchFamily="34" charset="-122"/>
                <a:cs typeface="Lato" pitchFamily="34" charset="-120"/>
              </a:rPr>
              <a:t>Predict which item sold the most units and which earned the most money.</a:t>
            </a:r>
            <a:endParaRPr lang="en-US" sz="2000" dirty="0"/>
          </a:p>
          <a:p>
            <a:pPr algn="l" indent="0" marL="0">
              <a:lnSpc>
                <a:spcPts val="2400"/>
              </a:lnSpc>
              <a:spcAft>
                <a:spcPts val="1010"/>
              </a:spcAft>
              <a:buNone/>
            </a:pPr>
            <a:r>
              <a:rPr lang="en-US" sz="2000" dirty="0">
                <a:solidFill>
                  <a:srgbClr val="111111"/>
                </a:solidFill>
                <a:latin typeface="Lato" pitchFamily="34" charset="0"/>
                <a:ea typeface="Lato" pitchFamily="34" charset="-122"/>
                <a:cs typeface="Lato" pitchFamily="34" charset="-120"/>
              </a:rPr>
              <a:t>Write your guess on paper before we run it.</a:t>
            </a:r>
            <a:endParaRPr lang="en-US" sz="2000" dirty="0"/>
          </a:p>
        </p:txBody>
      </p:sp>
      <p:pic>
        <p:nvPicPr>
          <p:cNvPr id="6" name="Image 0" descr="A page and a pen">    </p:cNvPr>
          <p:cNvPicPr>
            <a:picLocks noChangeAspect="1"/>
          </p:cNvPicPr>
          <p:nvPr/>
        </p:nvPicPr>
        <p:blipFill>
          <a:blip r:embed="rId1"/>
          <a:stretch>
            <a:fillRect/>
          </a:stretch>
        </p:blipFill>
        <p:spPr>
          <a:xfrm>
            <a:off x="10241280" y="5175758"/>
            <a:ext cx="1188720" cy="1046988"/>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Run it: Group, total and sort</a:t>
            </a:r>
            <a:endParaRPr lang="en-US" sz="3800" dirty="0"/>
          </a:p>
        </p:txBody>
      </p:sp>
      <p:sp>
        <p:nvSpPr>
          <p:cNvPr id="3" name="Shape 1"/>
          <p:cNvSpPr/>
          <p:nvPr/>
        </p:nvSpPr>
        <p:spPr>
          <a:xfrm>
            <a:off x="640080" y="1645920"/>
            <a:ext cx="6035040" cy="4034536"/>
          </a:xfrm>
          <a:prstGeom prst="roundRect">
            <a:avLst>
              <a:gd name="adj" fmla="val 1813"/>
            </a:avLst>
          </a:prstGeom>
          <a:solidFill>
            <a:srgbClr val="FFFFFF"/>
          </a:solidFill>
          <a:ln w="15875">
            <a:solidFill>
              <a:srgbClr val="111111"/>
            </a:solidFill>
            <a:prstDash val="solid"/>
          </a:ln>
        </p:spPr>
      </p:sp>
      <p:sp>
        <p:nvSpPr>
          <p:cNvPr id="4" name="Text 2"/>
          <p:cNvSpPr txBox="1"/>
          <p:nvPr/>
        </p:nvSpPr>
        <p:spPr>
          <a:xfrm>
            <a:off x="822960" y="1828800"/>
            <a:ext cx="5669280" cy="3668776"/>
          </a:xfrm>
          <a:prstGeom prst="rect">
            <a:avLst/>
          </a:prstGeom>
          <a:noFill/>
          <a:ln/>
        </p:spPr>
        <p:txBody>
          <a:bodyPr wrap="square" lIns="0" tIns="0" rIns="0" bIns="0" rtlCol="0" anchor="t"/>
          <a:lstStyle/>
          <a:p>
            <a:pPr algn="l" indent="0" marL="0">
              <a:lnSpc>
                <a:spcPts val="2860"/>
              </a:lnSpc>
              <a:buNone/>
            </a:pPr>
            <a:r>
              <a:rPr lang="en-US" sz="2200" dirty="0">
                <a:solidFill>
                  <a:srgbClr val="111111"/>
                </a:solidFill>
                <a:latin typeface="Courier New" pitchFamily="34" charset="0"/>
                <a:ea typeface="Courier New" pitchFamily="34" charset="-122"/>
                <a:cs typeface="Courier New" pitchFamily="34" charset="-120"/>
              </a:rPr>
              <a:t>item</a:t>
            </a:r>
            <a:endParaRPr lang="en-US" sz="2200" dirty="0"/>
          </a:p>
          <a:p>
            <a:pPr algn="l" indent="0" marL="0">
              <a:lnSpc>
                <a:spcPts val="2860"/>
              </a:lnSpc>
              <a:buNone/>
            </a:pPr>
            <a:r>
              <a:rPr lang="en-US" sz="2200" dirty="0">
                <a:solidFill>
                  <a:srgbClr val="111111"/>
                </a:solidFill>
                <a:latin typeface="Courier New" pitchFamily="34" charset="0"/>
                <a:ea typeface="Courier New" pitchFamily="34" charset="-122"/>
                <a:cs typeface="Courier New" pitchFamily="34" charset="-120"/>
              </a:rPr>
              <a:t>Book      99</a:t>
            </a:r>
            <a:endParaRPr lang="en-US" sz="2200" dirty="0"/>
          </a:p>
          <a:p>
            <a:pPr algn="l" indent="0" marL="0">
              <a:lnSpc>
                <a:spcPts val="2860"/>
              </a:lnSpc>
              <a:buNone/>
            </a:pPr>
            <a:r>
              <a:rPr lang="en-US" sz="2200" dirty="0">
                <a:solidFill>
                  <a:srgbClr val="111111"/>
                </a:solidFill>
                <a:latin typeface="Courier New" pitchFamily="34" charset="0"/>
                <a:ea typeface="Courier New" pitchFamily="34" charset="-122"/>
                <a:cs typeface="Courier New" pitchFamily="34" charset="-120"/>
              </a:rPr>
              <a:t>Juice     75</a:t>
            </a:r>
            <a:endParaRPr lang="en-US" sz="2200" dirty="0"/>
          </a:p>
          <a:p>
            <a:pPr algn="l" indent="0" marL="0">
              <a:lnSpc>
                <a:spcPts val="2860"/>
              </a:lnSpc>
              <a:buNone/>
            </a:pPr>
            <a:r>
              <a:rPr lang="en-US" sz="2200" dirty="0">
                <a:solidFill>
                  <a:srgbClr val="111111"/>
                </a:solidFill>
                <a:latin typeface="Courier New" pitchFamily="34" charset="0"/>
                <a:ea typeface="Courier New" pitchFamily="34" charset="-122"/>
                <a:cs typeface="Courier New" pitchFamily="34" charset="-120"/>
              </a:rPr>
              <a:t>Pen      103</a:t>
            </a:r>
            <a:endParaRPr lang="en-US" sz="2200" dirty="0"/>
          </a:p>
          <a:p>
            <a:pPr algn="l" indent="0" marL="0">
              <a:lnSpc>
                <a:spcPts val="2860"/>
              </a:lnSpc>
              <a:buNone/>
            </a:pPr>
            <a:r>
              <a:rPr lang="en-US" sz="2200" dirty="0">
                <a:solidFill>
                  <a:srgbClr val="111111"/>
                </a:solidFill>
                <a:latin typeface="Courier New" pitchFamily="34" charset="0"/>
                <a:ea typeface="Courier New" pitchFamily="34" charset="-122"/>
                <a:cs typeface="Courier New" pitchFamily="34" charset="-120"/>
              </a:rPr>
              <a:t>Name: units, dtype: int64</a:t>
            </a:r>
            <a:endParaRPr lang="en-US" sz="2200" dirty="0"/>
          </a:p>
          <a:p>
            <a:pPr algn="l" indent="0" marL="0">
              <a:lnSpc>
                <a:spcPts val="2860"/>
              </a:lnSpc>
              <a:buNone/>
            </a:pPr>
            <a:r>
              <a:rPr lang="en-US" sz="2200" dirty="0">
                <a:solidFill>
                  <a:srgbClr val="111111"/>
                </a:solidFill>
                <a:latin typeface="Courier New" pitchFamily="34" charset="0"/>
                <a:ea typeface="Courier New" pitchFamily="34" charset="-122"/>
                <a:cs typeface="Courier New" pitchFamily="34" charset="-120"/>
              </a:rPr>
              <a:t>item</a:t>
            </a:r>
            <a:endParaRPr lang="en-US" sz="2200" dirty="0"/>
          </a:p>
          <a:p>
            <a:pPr algn="l" indent="0" marL="0">
              <a:lnSpc>
                <a:spcPts val="2860"/>
              </a:lnSpc>
              <a:buNone/>
            </a:pPr>
            <a:r>
              <a:rPr lang="en-US" sz="2200" dirty="0">
                <a:solidFill>
                  <a:srgbClr val="111111"/>
                </a:solidFill>
                <a:latin typeface="Courier New" pitchFamily="34" charset="0"/>
                <a:ea typeface="Courier New" pitchFamily="34" charset="-122"/>
                <a:cs typeface="Courier New" pitchFamily="34" charset="-120"/>
              </a:rPr>
              <a:t>Book     297000</a:t>
            </a:r>
            <a:endParaRPr lang="en-US" sz="2200" dirty="0"/>
          </a:p>
          <a:p>
            <a:pPr algn="l" indent="0" marL="0">
              <a:lnSpc>
                <a:spcPts val="2860"/>
              </a:lnSpc>
              <a:buNone/>
            </a:pPr>
            <a:r>
              <a:rPr lang="en-US" sz="2200" dirty="0">
                <a:solidFill>
                  <a:srgbClr val="111111"/>
                </a:solidFill>
                <a:latin typeface="Courier New" pitchFamily="34" charset="0"/>
                <a:ea typeface="Courier New" pitchFamily="34" charset="-122"/>
                <a:cs typeface="Courier New" pitchFamily="34" charset="-120"/>
              </a:rPr>
              <a:t>Juice    150000</a:t>
            </a:r>
            <a:endParaRPr lang="en-US" sz="2200" dirty="0"/>
          </a:p>
          <a:p>
            <a:pPr algn="l" indent="0" marL="0">
              <a:lnSpc>
                <a:spcPts val="2860"/>
              </a:lnSpc>
              <a:buNone/>
            </a:pPr>
            <a:r>
              <a:rPr lang="en-US" sz="2200" dirty="0">
                <a:solidFill>
                  <a:srgbClr val="111111"/>
                </a:solidFill>
                <a:latin typeface="Courier New" pitchFamily="34" charset="0"/>
                <a:ea typeface="Courier New" pitchFamily="34" charset="-122"/>
                <a:cs typeface="Courier New" pitchFamily="34" charset="-120"/>
              </a:rPr>
              <a:t>Pen      103000</a:t>
            </a:r>
            <a:endParaRPr lang="en-US" sz="2200" dirty="0"/>
          </a:p>
          <a:p>
            <a:pPr algn="l" indent="0" marL="0">
              <a:lnSpc>
                <a:spcPts val="2860"/>
              </a:lnSpc>
              <a:buNone/>
            </a:pPr>
            <a:r>
              <a:rPr lang="en-US" sz="2200" dirty="0">
                <a:solidFill>
                  <a:srgbClr val="111111"/>
                </a:solidFill>
                <a:latin typeface="Courier New" pitchFamily="34" charset="0"/>
                <a:ea typeface="Courier New" pitchFamily="34" charset="-122"/>
                <a:cs typeface="Courier New" pitchFamily="34" charset="-120"/>
              </a:rPr>
              <a:t>Name: revenue_ugx, dtype: int64</a:t>
            </a:r>
            <a:endParaRPr lang="en-US" sz="2200" dirty="0"/>
          </a:p>
        </p:txBody>
      </p:sp>
      <p:sp>
        <p:nvSpPr>
          <p:cNvPr id="5" name="Text 3"/>
          <p:cNvSpPr txBox="1"/>
          <p:nvPr/>
        </p:nvSpPr>
        <p:spPr>
          <a:xfrm>
            <a:off x="7040880" y="1737360"/>
            <a:ext cx="4480560" cy="4389120"/>
          </a:xfrm>
          <a:prstGeom prst="rect">
            <a:avLst/>
          </a:prstGeom>
          <a:noFill/>
          <a:ln/>
        </p:spPr>
        <p:txBody>
          <a:bodyPr wrap="square" lIns="0" tIns="0" rIns="0" bIns="0" rtlCol="0" anchor="t"/>
          <a:lstStyle/>
          <a:p>
            <a:pPr algn="l" indent="0" marL="0">
              <a:lnSpc>
                <a:spcPts val="3000"/>
              </a:lnSpc>
              <a:spcAft>
                <a:spcPts val="1580"/>
              </a:spcAft>
              <a:buNone/>
            </a:pPr>
            <a:r>
              <a:rPr lang="en-US" sz="2500" dirty="0">
                <a:solidFill>
                  <a:srgbClr val="111111"/>
                </a:solidFill>
                <a:latin typeface="Lato" pitchFamily="34" charset="0"/>
                <a:ea typeface="Lato" pitchFamily="34" charset="-122"/>
                <a:cs typeface="Lato" pitchFamily="34" charset="-120"/>
              </a:rPr>
              <a:t>Pen sold the most units, 103.</a:t>
            </a:r>
            <a:endParaRPr lang="en-US" sz="2500" dirty="0"/>
          </a:p>
          <a:p>
            <a:pPr algn="l" indent="0" marL="0">
              <a:lnSpc>
                <a:spcPts val="3000"/>
              </a:lnSpc>
              <a:spcAft>
                <a:spcPts val="1580"/>
              </a:spcAft>
              <a:buNone/>
            </a:pPr>
            <a:r>
              <a:rPr lang="en-US" sz="2500" dirty="0">
                <a:solidFill>
                  <a:srgbClr val="111111"/>
                </a:solidFill>
                <a:latin typeface="Lato" pitchFamily="34" charset="0"/>
                <a:ea typeface="Lato" pitchFamily="34" charset="-122"/>
                <a:cs typeface="Lato" pitchFamily="34" charset="-120"/>
              </a:rPr>
              <a:t>Book earned the most money, 297000 shillings, then Juice 150000 and Pen 103000.</a:t>
            </a:r>
            <a:endParaRPr lang="en-US" sz="2500" dirty="0"/>
          </a:p>
          <a:p>
            <a:pPr algn="l" indent="0" marL="0">
              <a:lnSpc>
                <a:spcPts val="3000"/>
              </a:lnSpc>
              <a:spcAft>
                <a:spcPts val="1580"/>
              </a:spcAft>
              <a:buNone/>
            </a:pPr>
            <a:r>
              <a:rPr lang="en-US" sz="2500" dirty="0">
                <a:solidFill>
                  <a:srgbClr val="111111"/>
                </a:solidFill>
                <a:latin typeface="Lato" pitchFamily="34" charset="0"/>
                <a:ea typeface="Lato" pitchFamily="34" charset="-122"/>
                <a:cs typeface="Lato" pitchFamily="34" charset="-120"/>
              </a:rPr>
              <a:t>The three revenues add to 550000.</a:t>
            </a:r>
            <a:endParaRPr lang="en-US" sz="2500" dirty="0"/>
          </a:p>
          <a:p>
            <a:pPr algn="l" indent="0" marL="0">
              <a:lnSpc>
                <a:spcPts val="3000"/>
              </a:lnSpc>
              <a:spcAft>
                <a:spcPts val="1580"/>
              </a:spcAft>
              <a:buNone/>
            </a:pPr>
            <a:r>
              <a:rPr lang="en-US" sz="2500" dirty="0">
                <a:solidFill>
                  <a:srgbClr val="111111"/>
                </a:solidFill>
                <a:latin typeface="Lato" pitchFamily="34" charset="0"/>
                <a:ea typeface="Lato" pitchFamily="34" charset="-122"/>
                <a:cs typeface="Lato" pitchFamily="34" charset="-120"/>
              </a:rPr>
              <a:t>The item that sells the most units is not the item that earns the most.</a:t>
            </a:r>
            <a:endParaRPr lang="en-US" sz="25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Investigate: Group, total and sort</a:t>
            </a:r>
            <a:endParaRPr lang="en-US" sz="3800" dirty="0"/>
          </a:p>
        </p:txBody>
      </p:sp>
      <p:pic>
        <p:nvPicPr>
          <p:cNvPr id="3" name="Image 0" descr="Look closely">    </p:cNvPr>
          <p:cNvPicPr>
            <a:picLocks noChangeAspect="1"/>
          </p:cNvPicPr>
          <p:nvPr/>
        </p:nvPicPr>
        <p:blipFill>
          <a:blip r:embed="rId1"/>
          <a:stretch>
            <a:fillRect/>
          </a:stretch>
        </p:blipFill>
        <p:spPr>
          <a:xfrm>
            <a:off x="9875520" y="4480560"/>
            <a:ext cx="1645920" cy="1645920"/>
          </a:xfrm>
          <a:prstGeom prst="rect">
            <a:avLst/>
          </a:prstGeom>
        </p:spPr>
      </p:pic>
      <p:sp>
        <p:nvSpPr>
          <p:cNvPr id="4" name="Text 1"/>
          <p:cNvSpPr txBox="1"/>
          <p:nvPr/>
        </p:nvSpPr>
        <p:spPr>
          <a:xfrm>
            <a:off x="640080" y="1737360"/>
            <a:ext cx="8961120" cy="4389120"/>
          </a:xfrm>
          <a:prstGeom prst="rect">
            <a:avLst/>
          </a:prstGeom>
          <a:noFill/>
          <a:ln/>
        </p:spPr>
        <p:txBody>
          <a:bodyPr wrap="square" lIns="0" tIns="0" rIns="0" bIns="0" rtlCol="0" anchor="t"/>
          <a:lstStyle/>
          <a:p>
            <a:pPr algn="l" indent="0" marL="0">
              <a:lnSpc>
                <a:spcPts val="4320"/>
              </a:lnSpc>
              <a:spcAft>
                <a:spcPts val="3960"/>
              </a:spcAft>
              <a:buNone/>
            </a:pPr>
            <a:r>
              <a:rPr lang="en-US" sz="3600" dirty="0">
                <a:solidFill>
                  <a:srgbClr val="111111"/>
                </a:solidFill>
                <a:latin typeface="Lato" pitchFamily="34" charset="0"/>
                <a:ea typeface="Lato" pitchFamily="34" charset="-122"/>
                <a:cs typeface="Lato" pitchFamily="34" charset="-120"/>
              </a:rPr>
              <a:t>1.  Why does Pen sell the most units and earn the least money?</a:t>
            </a:r>
            <a:endParaRPr lang="en-US" sz="3600" dirty="0"/>
          </a:p>
          <a:p>
            <a:pPr algn="l" indent="0" marL="0">
              <a:lnSpc>
                <a:spcPts val="4320"/>
              </a:lnSpc>
              <a:spcAft>
                <a:spcPts val="3960"/>
              </a:spcAft>
              <a:buNone/>
            </a:pPr>
            <a:r>
              <a:rPr lang="en-US" sz="3600" dirty="0">
                <a:solidFill>
                  <a:srgbClr val="111111"/>
                </a:solidFill>
                <a:latin typeface="Lato" pitchFamily="34" charset="0"/>
                <a:ea typeface="Lato" pitchFamily="34" charset="-122"/>
                <a:cs typeface="Lato" pitchFamily="34" charset="-120"/>
              </a:rPr>
              <a:t>2.  How do you check the grouped totals?</a:t>
            </a:r>
            <a:endParaRPr lang="en-US" sz="36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Modify: change one thing</a:t>
            </a:r>
            <a:endParaRPr lang="en-US" sz="3800" dirty="0"/>
          </a:p>
        </p:txBody>
      </p:sp>
      <p:sp>
        <p:nvSpPr>
          <p:cNvPr id="3" name="Text 1"/>
          <p:cNvSpPr txBox="1"/>
          <p:nvPr/>
        </p:nvSpPr>
        <p:spPr>
          <a:xfrm>
            <a:off x="640080" y="1737360"/>
            <a:ext cx="6035040" cy="4206240"/>
          </a:xfrm>
          <a:prstGeom prst="rect">
            <a:avLst/>
          </a:prstGeom>
          <a:noFill/>
          <a:ln/>
        </p:spPr>
        <p:txBody>
          <a:bodyPr wrap="square" lIns="0" tIns="0" rIns="0" bIns="0" rtlCol="0" anchor="t"/>
          <a:lstStyle/>
          <a:p>
            <a:pPr algn="l" indent="0" marL="0">
              <a:lnSpc>
                <a:spcPts val="4320"/>
              </a:lnSpc>
              <a:spcAft>
                <a:spcPts val="3240"/>
              </a:spcAft>
              <a:buNone/>
            </a:pPr>
            <a:r>
              <a:rPr lang="en-US" sz="3600" dirty="0">
                <a:solidFill>
                  <a:srgbClr val="111111"/>
                </a:solidFill>
                <a:latin typeface="Lato" pitchFamily="34" charset="0"/>
                <a:ea typeface="Lato" pitchFamily="34" charset="-122"/>
                <a:cs typeface="Lato" pitchFamily="34" charset="-120"/>
              </a:rPr>
              <a:t>Group the revenue by date and find the date with the most revenue.</a:t>
            </a:r>
            <a:endParaRPr lang="en-US" sz="3600" dirty="0"/>
          </a:p>
          <a:p>
            <a:pPr algn="l" indent="0" marL="0">
              <a:lnSpc>
                <a:spcPts val="4320"/>
              </a:lnSpc>
              <a:spcAft>
                <a:spcPts val="3240"/>
              </a:spcAft>
              <a:buNone/>
            </a:pPr>
            <a:r>
              <a:rPr lang="en-US" sz="3600" dirty="0">
                <a:solidFill>
                  <a:srgbClr val="111111"/>
                </a:solidFill>
                <a:latin typeface="Lato" pitchFamily="34" charset="0"/>
                <a:ea typeface="Lato" pitchFamily="34" charset="-122"/>
                <a:cs typeface="Lato" pitchFamily="34" charset="-120"/>
              </a:rPr>
              <a:t>Then tell your neighbour what changed and how you know.</a:t>
            </a:r>
            <a:endParaRPr lang="en-US" sz="3600" dirty="0"/>
          </a:p>
        </p:txBody>
      </p:sp>
      <p:pic>
        <p:nvPicPr>
          <p:cNvPr id="4" name="Image 0" descr="Change one thing">    </p:cNvPr>
          <p:cNvPicPr>
            <a:picLocks noChangeAspect="1"/>
          </p:cNvPicPr>
          <p:nvPr/>
        </p:nvPicPr>
        <p:blipFill>
          <a:blip r:embed="rId1"/>
          <a:stretch>
            <a:fillRect/>
          </a:stretch>
        </p:blipFill>
        <p:spPr>
          <a:xfrm>
            <a:off x="9418320" y="2103120"/>
            <a:ext cx="1828800" cy="182880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1" type="title" hasCustomPrompt="1"/>
          </p:nvPr>
        </p:nvSpPr>
        <p:spPr>
          <a:xfrm>
            <a:off x="640080" y="2103120"/>
            <a:ext cx="10607040" cy="2286000"/>
          </a:xfrm>
          <a:prstGeom prst="rect">
            <a:avLst/>
          </a:prstGeom>
          <a:noFill/>
          <a:ln/>
        </p:spPr>
        <p:txBody>
          <a:bodyPr wrap="square" lIns="0" tIns="0" rIns="0" bIns="0" rtlCol="0" anchor="t"/>
          <a:lstStyle/>
          <a:p>
            <a:pPr algn="l" indent="0" marL="0">
              <a:buNone/>
            </a:pPr>
            <a:r>
              <a:rPr lang="en-US" sz="5400" b="1" dirty="0">
                <a:solidFill>
                  <a:srgbClr val="FFFFFF"/>
                </a:solidFill>
                <a:latin typeface="Lato" pitchFamily="34" charset="0"/>
                <a:ea typeface="Lato" pitchFamily="34" charset="-122"/>
                <a:cs typeface="Lato" pitchFamily="34" charset="-120"/>
              </a:rPr>
              <a:t>Break</a:t>
            </a:r>
            <a:endParaRPr lang="en-US" sz="5400" dirty="0"/>
          </a:p>
        </p:txBody>
      </p:sp>
      <p:sp>
        <p:nvSpPr>
          <p:cNvPr id="3" name="Text 1"/>
          <p:cNvSpPr txBox="1"/>
          <p:nvPr/>
        </p:nvSpPr>
        <p:spPr>
          <a:xfrm>
            <a:off x="640080" y="3154680"/>
            <a:ext cx="6858000" cy="914400"/>
          </a:xfrm>
          <a:prstGeom prst="rect">
            <a:avLst/>
          </a:prstGeom>
          <a:noFill/>
          <a:ln/>
        </p:spPr>
        <p:txBody>
          <a:bodyPr wrap="square" lIns="0" tIns="0" rIns="0" bIns="0" rtlCol="0" anchor="t"/>
          <a:lstStyle/>
          <a:p>
            <a:pPr algn="l" indent="0" marL="0">
              <a:lnSpc>
                <a:spcPts val="4080"/>
              </a:lnSpc>
              <a:buNone/>
            </a:pPr>
            <a:r>
              <a:rPr lang="en-US" sz="3400" b="1" dirty="0">
                <a:solidFill>
                  <a:srgbClr val="FFFFFF"/>
                </a:solidFill>
                <a:latin typeface="Lato" pitchFamily="34" charset="0"/>
                <a:ea typeface="Lato" pitchFamily="34" charset="-122"/>
                <a:cs typeface="Lato" pitchFamily="34" charset="-120"/>
              </a:rPr>
              <a:t>15 minutes away from your screen</a:t>
            </a:r>
            <a:endParaRPr lang="en-US" sz="3400" dirty="0"/>
          </a:p>
        </p:txBody>
      </p:sp>
      <p:sp>
        <p:nvSpPr>
          <p:cNvPr id="4" name="Text 2"/>
          <p:cNvSpPr txBox="1"/>
          <p:nvPr/>
        </p:nvSpPr>
        <p:spPr>
          <a:xfrm>
            <a:off x="640080" y="4206240"/>
            <a:ext cx="6400800" cy="1463040"/>
          </a:xfrm>
          <a:prstGeom prst="rect">
            <a:avLst/>
          </a:prstGeom>
          <a:noFill/>
          <a:ln/>
        </p:spPr>
        <p:txBody>
          <a:bodyPr wrap="square" lIns="0" tIns="0" rIns="0" bIns="0" rtlCol="0" anchor="t"/>
          <a:lstStyle/>
          <a:p>
            <a:pPr algn="l" indent="0" marL="0">
              <a:lnSpc>
                <a:spcPts val="3000"/>
              </a:lnSpc>
              <a:buNone/>
            </a:pPr>
            <a:r>
              <a:rPr lang="en-US" sz="2400" dirty="0">
                <a:solidFill>
                  <a:srgbClr val="D8D8D8"/>
                </a:solidFill>
                <a:latin typeface="Lato" pitchFamily="34" charset="0"/>
                <a:ea typeface="Lato" pitchFamily="34" charset="-122"/>
                <a:cs typeface="Lato" pitchFamily="34" charset="-120"/>
              </a:rPr>
              <a:t>Stand up. Drink some water. Tell someone what you guessed in the first half.</a:t>
            </a:r>
            <a:endParaRPr lang="en-US" sz="2400" dirty="0"/>
          </a:p>
        </p:txBody>
      </p:sp>
      <p:pic>
        <p:nvPicPr>
          <p:cNvPr id="5" name="Image 0" descr="A clock">    </p:cNvPr>
          <p:cNvPicPr>
            <a:picLocks noChangeAspect="1"/>
          </p:cNvPicPr>
          <p:nvPr/>
        </p:nvPicPr>
        <p:blipFill>
          <a:blip r:embed="rId1"/>
          <a:stretch>
            <a:fillRect/>
          </a:stretch>
        </p:blipFill>
        <p:spPr>
          <a:xfrm>
            <a:off x="8321040" y="2743200"/>
            <a:ext cx="2926080" cy="292608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700" b="1" dirty="0">
                <a:solidFill>
                  <a:srgbClr val="111111"/>
                </a:solidFill>
                <a:latin typeface="Lato" pitchFamily="34" charset="0"/>
                <a:ea typeface="Lato" pitchFamily="34" charset="-122"/>
                <a:cs typeface="Lato" pitchFamily="34" charset="-120"/>
              </a:rPr>
              <a:t>One huge sale lifts the mean but not the median</a:t>
            </a:r>
            <a:endParaRPr lang="en-US" sz="3700" dirty="0"/>
          </a:p>
        </p:txBody>
      </p:sp>
      <p:pic>
        <p:nvPicPr>
          <p:cNvPr id="3" name="Image 0" descr="One huge sale lifts the mean but not the median">    </p:cNvPr>
          <p:cNvPicPr>
            <a:picLocks noChangeAspect="1"/>
          </p:cNvPicPr>
          <p:nvPr/>
        </p:nvPicPr>
        <p:blipFill>
          <a:blip r:embed="rId1"/>
          <a:stretch>
            <a:fillRect/>
          </a:stretch>
        </p:blipFill>
        <p:spPr>
          <a:xfrm>
            <a:off x="640080" y="1600200"/>
            <a:ext cx="7040880" cy="4526280"/>
          </a:xfrm>
          <a:prstGeom prst="rect">
            <a:avLst/>
          </a:prstGeom>
        </p:spPr>
      </p:pic>
      <p:sp>
        <p:nvSpPr>
          <p:cNvPr id="4" name="Text 1"/>
          <p:cNvSpPr txBox="1"/>
          <p:nvPr/>
        </p:nvSpPr>
        <p:spPr>
          <a:xfrm>
            <a:off x="7955280" y="1783080"/>
            <a:ext cx="3566160" cy="4297680"/>
          </a:xfrm>
          <a:prstGeom prst="rect">
            <a:avLst/>
          </a:prstGeom>
          <a:noFill/>
          <a:ln/>
        </p:spPr>
        <p:txBody>
          <a:bodyPr wrap="square" lIns="0" tIns="0" rIns="0" bIns="0" rtlCol="0" anchor="t"/>
          <a:lstStyle/>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The mean adds everything and divides by the count.</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The median is the middle value in sorted order.</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A big value drags the mean along, and the median holds still.</a:t>
            </a:r>
            <a:endParaRPr lang="en-US" sz="24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600" b="1" dirty="0">
                <a:solidFill>
                  <a:srgbClr val="111111"/>
                </a:solidFill>
                <a:latin typeface="Lato" pitchFamily="34" charset="0"/>
                <a:ea typeface="Lato" pitchFamily="34" charset="-122"/>
                <a:cs typeface="Lato" pitchFamily="34" charset="-120"/>
              </a:rPr>
              <a:t>A skewed histogram puts</a:t>
            </a:r>
            <a:endParaRPr lang="en-US" sz="3600" dirty="0"/>
          </a:p>
          <a:p>
            <a:pPr algn="l" indent="0" marL="0">
              <a:buNone/>
            </a:pPr>
            <a:r>
              <a:rPr lang="en-US" sz="3600" b="1" dirty="0">
                <a:solidFill>
                  <a:srgbClr val="111111"/>
                </a:solidFill>
                <a:latin typeface="Lato" pitchFamily="34" charset="0"/>
                <a:ea typeface="Lato" pitchFamily="34" charset="-122"/>
                <a:cs typeface="Lato" pitchFamily="34" charset="-120"/>
              </a:rPr>
              <a:t>the mean right of the median</a:t>
            </a:r>
            <a:endParaRPr lang="en-US" sz="3600" dirty="0"/>
          </a:p>
        </p:txBody>
      </p:sp>
      <p:pic>
        <p:nvPicPr>
          <p:cNvPr id="3" name="Image 0" descr="A skewed histogram puts the mean right of the median">    </p:cNvPr>
          <p:cNvPicPr>
            <a:picLocks noChangeAspect="1"/>
          </p:cNvPicPr>
          <p:nvPr/>
        </p:nvPicPr>
        <p:blipFill>
          <a:blip r:embed="rId1"/>
          <a:stretch>
            <a:fillRect/>
          </a:stretch>
        </p:blipFill>
        <p:spPr>
          <a:xfrm>
            <a:off x="1056207" y="1554480"/>
            <a:ext cx="10049106" cy="4069080"/>
          </a:xfrm>
          <a:prstGeom prst="rect">
            <a:avLst/>
          </a:prstGeom>
        </p:spPr>
      </p:pic>
      <p:sp>
        <p:nvSpPr>
          <p:cNvPr id="4" name="Text 1"/>
          <p:cNvSpPr txBox="1"/>
          <p:nvPr/>
        </p:nvSpPr>
        <p:spPr>
          <a:xfrm>
            <a:off x="640080" y="5669280"/>
            <a:ext cx="10881360" cy="640080"/>
          </a:xfrm>
          <a:prstGeom prst="rect">
            <a:avLst/>
          </a:prstGeom>
          <a:noFill/>
          <a:ln/>
        </p:spPr>
        <p:txBody>
          <a:bodyPr wrap="square" lIns="0" tIns="0" rIns="0" bIns="0" rtlCol="0" anchor="t"/>
          <a:lstStyle/>
          <a:p>
            <a:pPr algn="l" indent="0" marL="0">
              <a:lnSpc>
                <a:spcPts val="2640"/>
              </a:lnSpc>
              <a:buNone/>
            </a:pPr>
            <a:r>
              <a:rPr lang="en-US" sz="2200" dirty="0">
                <a:solidFill>
                  <a:srgbClr val="333333"/>
                </a:solidFill>
                <a:latin typeface="Lato" pitchFamily="34" charset="0"/>
                <a:ea typeface="Lato" pitchFamily="34" charset="-122"/>
                <a:cs typeface="Lato" pitchFamily="34" charset="-120"/>
              </a:rPr>
              <a:t>Most sales are small, and a few are very large.</a:t>
            </a:r>
            <a:endParaRPr lang="en-US" sz="22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Predict: Mean, median and a proportion</a:t>
            </a:r>
            <a:endParaRPr lang="en-US" sz="3800" dirty="0"/>
          </a:p>
        </p:txBody>
      </p:sp>
      <p:sp>
        <p:nvSpPr>
          <p:cNvPr id="3" name="Shape 1"/>
          <p:cNvSpPr/>
          <p:nvPr/>
        </p:nvSpPr>
        <p:spPr>
          <a:xfrm>
            <a:off x="640080" y="1645920"/>
            <a:ext cx="10881360" cy="3383280"/>
          </a:xfrm>
          <a:prstGeom prst="roundRect">
            <a:avLst>
              <a:gd name="adj" fmla="val 2162"/>
            </a:avLst>
          </a:prstGeom>
          <a:solidFill>
            <a:srgbClr val="111111"/>
          </a:solidFill>
          <a:ln/>
        </p:spPr>
      </p:sp>
      <p:sp>
        <p:nvSpPr>
          <p:cNvPr id="4" name="Text 2"/>
          <p:cNvSpPr txBox="1"/>
          <p:nvPr/>
        </p:nvSpPr>
        <p:spPr>
          <a:xfrm>
            <a:off x="841248" y="1847088"/>
            <a:ext cx="10479024" cy="2980944"/>
          </a:xfrm>
          <a:prstGeom prst="rect">
            <a:avLst/>
          </a:prstGeom>
          <a:noFill/>
          <a:ln/>
        </p:spPr>
        <p:txBody>
          <a:bodyPr wrap="square" lIns="0" tIns="0" rIns="0" bIns="0" rtlCol="0" anchor="t"/>
          <a:lstStyle/>
          <a:p>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sunrise = pd.read_csv(</a:t>
            </a:r>
            <a:pPr algn="l" indent="0" marL="0">
              <a:lnSpc>
                <a:spcPts val="2340"/>
              </a:lnSpc>
              <a:buNone/>
            </a:pPr>
            <a:r>
              <a:rPr lang="en-US" sz="1800" dirty="0">
                <a:solidFill>
                  <a:srgbClr val="E0BE36"/>
                </a:solidFill>
                <a:latin typeface="Courier New" pitchFamily="34" charset="0"/>
                <a:ea typeface="Courier New" pitchFamily="34" charset="-122"/>
                <a:cs typeface="Courier New" pitchFamily="34" charset="-120"/>
              </a:rPr>
              <a:t>"sunrise_sales.csv"</a:t>
            </a:r>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a:t>
            </a:r>
            <a:endParaRPr lang="en-US" sz="1800" dirty="0"/>
          </a:p>
          <a:p>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sunrise[</a:t>
            </a:r>
            <a:pPr algn="l" indent="0" marL="0">
              <a:lnSpc>
                <a:spcPts val="2340"/>
              </a:lnSpc>
              <a:buNone/>
            </a:pPr>
            <a:r>
              <a:rPr lang="en-US" sz="1800" dirty="0">
                <a:solidFill>
                  <a:srgbClr val="E0BE36"/>
                </a:solidFill>
                <a:latin typeface="Courier New" pitchFamily="34" charset="0"/>
                <a:ea typeface="Courier New" pitchFamily="34" charset="-122"/>
                <a:cs typeface="Courier New" pitchFamily="34" charset="-120"/>
              </a:rPr>
              <a:t>"line_value"</a:t>
            </a:r>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 = sunrise[</a:t>
            </a:r>
            <a:pPr algn="l" indent="0" marL="0">
              <a:lnSpc>
                <a:spcPts val="2340"/>
              </a:lnSpc>
              <a:buNone/>
            </a:pPr>
            <a:r>
              <a:rPr lang="en-US" sz="1800" dirty="0">
                <a:solidFill>
                  <a:srgbClr val="E0BE36"/>
                </a:solidFill>
                <a:latin typeface="Courier New" pitchFamily="34" charset="0"/>
                <a:ea typeface="Courier New" pitchFamily="34" charset="-122"/>
                <a:cs typeface="Courier New" pitchFamily="34" charset="-120"/>
              </a:rPr>
              <a:t>"units"</a:t>
            </a:r>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 * sunrise[</a:t>
            </a:r>
            <a:endParaRPr lang="en-US" sz="1800" dirty="0"/>
          </a:p>
          <a:p>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    </a:t>
            </a:r>
            <a:pPr algn="l" indent="0" marL="0">
              <a:lnSpc>
                <a:spcPts val="2340"/>
              </a:lnSpc>
              <a:buNone/>
            </a:pPr>
            <a:r>
              <a:rPr lang="en-US" sz="1800" dirty="0">
                <a:solidFill>
                  <a:srgbClr val="E0BE36"/>
                </a:solidFill>
                <a:latin typeface="Courier New" pitchFamily="34" charset="0"/>
                <a:ea typeface="Courier New" pitchFamily="34" charset="-122"/>
                <a:cs typeface="Courier New" pitchFamily="34" charset="-120"/>
              </a:rPr>
              <a:t>"unit_price_ugx"</a:t>
            </a:r>
            <a:endParaRPr lang="en-US" sz="1800" dirty="0"/>
          </a:p>
          <a:p>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a:t>
            </a:r>
            <a:endParaRPr lang="en-US" sz="1800" dirty="0"/>
          </a:p>
          <a:p>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mean_value = sunrise[</a:t>
            </a:r>
            <a:pPr algn="l" indent="0" marL="0">
              <a:lnSpc>
                <a:spcPts val="2340"/>
              </a:lnSpc>
              <a:buNone/>
            </a:pPr>
            <a:r>
              <a:rPr lang="en-US" sz="1800" dirty="0">
                <a:solidFill>
                  <a:srgbClr val="E0BE36"/>
                </a:solidFill>
                <a:latin typeface="Courier New" pitchFamily="34" charset="0"/>
                <a:ea typeface="Courier New" pitchFamily="34" charset="-122"/>
                <a:cs typeface="Courier New" pitchFamily="34" charset="-120"/>
              </a:rPr>
              <a:t>"line_value"</a:t>
            </a:r>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].mean()</a:t>
            </a:r>
            <a:endParaRPr lang="en-US" sz="1800" dirty="0"/>
          </a:p>
          <a:p>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median_value = sunrise[</a:t>
            </a:r>
            <a:pPr algn="l" indent="0" marL="0">
              <a:lnSpc>
                <a:spcPts val="2340"/>
              </a:lnSpc>
              <a:buNone/>
            </a:pPr>
            <a:r>
              <a:rPr lang="en-US" sz="1800" dirty="0">
                <a:solidFill>
                  <a:srgbClr val="E0BE36"/>
                </a:solidFill>
                <a:latin typeface="Courier New" pitchFamily="34" charset="0"/>
                <a:ea typeface="Courier New" pitchFamily="34" charset="-122"/>
                <a:cs typeface="Courier New" pitchFamily="34" charset="-120"/>
              </a:rPr>
              <a:t>"line_value"</a:t>
            </a:r>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].median()</a:t>
            </a:r>
            <a:endParaRPr lang="en-US" sz="1800" dirty="0"/>
          </a:p>
          <a:p>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bulk = (sunrise[</a:t>
            </a:r>
            <a:pPr algn="l" indent="0" marL="0">
              <a:lnSpc>
                <a:spcPts val="2340"/>
              </a:lnSpc>
              <a:buNone/>
            </a:pPr>
            <a:r>
              <a:rPr lang="en-US" sz="1800" dirty="0">
                <a:solidFill>
                  <a:srgbClr val="E0BE36"/>
                </a:solidFill>
                <a:latin typeface="Courier New" pitchFamily="34" charset="0"/>
                <a:ea typeface="Courier New" pitchFamily="34" charset="-122"/>
                <a:cs typeface="Courier New" pitchFamily="34" charset="-120"/>
              </a:rPr>
              <a:t>"units"</a:t>
            </a:r>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 &gt;= 10).sum()</a:t>
            </a:r>
            <a:endParaRPr lang="en-US" sz="1800" dirty="0"/>
          </a:p>
          <a:p>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share = bulk / len(sunrise)</a:t>
            </a:r>
            <a:endParaRPr lang="en-US" sz="1800" dirty="0"/>
          </a:p>
          <a:p>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print(round(mean_value), median_value)</a:t>
            </a:r>
            <a:endParaRPr lang="en-US" sz="1800" dirty="0"/>
          </a:p>
          <a:p>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print(bulk, len(sunrise), round(share * 100, 1))</a:t>
            </a:r>
            <a:endParaRPr lang="en-US" sz="1800" dirty="0"/>
          </a:p>
        </p:txBody>
      </p:sp>
      <p:sp>
        <p:nvSpPr>
          <p:cNvPr id="5" name="Text 3"/>
          <p:cNvSpPr txBox="1"/>
          <p:nvPr/>
        </p:nvSpPr>
        <p:spPr>
          <a:xfrm>
            <a:off x="640080" y="5212080"/>
            <a:ext cx="8046720" cy="1051560"/>
          </a:xfrm>
          <a:prstGeom prst="rect">
            <a:avLst/>
          </a:prstGeom>
          <a:noFill/>
          <a:ln/>
        </p:spPr>
        <p:txBody>
          <a:bodyPr wrap="square" lIns="0" tIns="0" rIns="0" bIns="0" rtlCol="0" anchor="t"/>
          <a:lstStyle/>
          <a:p>
            <a:pPr algn="l" indent="0" marL="0">
              <a:lnSpc>
                <a:spcPts val="2400"/>
              </a:lnSpc>
              <a:spcAft>
                <a:spcPts val="1010"/>
              </a:spcAft>
              <a:buNone/>
            </a:pPr>
            <a:r>
              <a:rPr lang="en-US" sz="2000" dirty="0">
                <a:solidFill>
                  <a:srgbClr val="111111"/>
                </a:solidFill>
                <a:latin typeface="Lato" pitchFamily="34" charset="0"/>
                <a:ea typeface="Lato" pitchFamily="34" charset="-122"/>
                <a:cs typeface="Lato" pitchFamily="34" charset="-120"/>
              </a:rPr>
              <a:t>Predict whether the mean sale value is above or below the median.</a:t>
            </a:r>
            <a:endParaRPr lang="en-US" sz="2000" dirty="0"/>
          </a:p>
          <a:p>
            <a:pPr algn="l" indent="0" marL="0">
              <a:lnSpc>
                <a:spcPts val="2400"/>
              </a:lnSpc>
              <a:spcAft>
                <a:spcPts val="1010"/>
              </a:spcAft>
              <a:buNone/>
            </a:pPr>
            <a:r>
              <a:rPr lang="en-US" sz="2000" dirty="0">
                <a:solidFill>
                  <a:srgbClr val="111111"/>
                </a:solidFill>
                <a:latin typeface="Lato" pitchFamily="34" charset="0"/>
                <a:ea typeface="Lato" pitchFamily="34" charset="-122"/>
                <a:cs typeface="Lato" pitchFamily="34" charset="-120"/>
              </a:rPr>
              <a:t>Write your guess on paper before we run it.</a:t>
            </a:r>
            <a:endParaRPr lang="en-US" sz="2000" dirty="0"/>
          </a:p>
        </p:txBody>
      </p:sp>
      <p:pic>
        <p:nvPicPr>
          <p:cNvPr id="6" name="Image 0" descr="A page and a pen">    </p:cNvPr>
          <p:cNvPicPr>
            <a:picLocks noChangeAspect="1"/>
          </p:cNvPicPr>
          <p:nvPr/>
        </p:nvPicPr>
        <p:blipFill>
          <a:blip r:embed="rId1"/>
          <a:stretch>
            <a:fillRect/>
          </a:stretch>
        </p:blipFill>
        <p:spPr>
          <a:xfrm>
            <a:off x="10241280" y="5214366"/>
            <a:ext cx="1188720" cy="1046988"/>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Run it: Mean, median and a proportion</a:t>
            </a:r>
            <a:endParaRPr lang="en-US" sz="3800" dirty="0"/>
          </a:p>
        </p:txBody>
      </p:sp>
      <p:sp>
        <p:nvSpPr>
          <p:cNvPr id="3" name="Shape 1"/>
          <p:cNvSpPr/>
          <p:nvPr/>
        </p:nvSpPr>
        <p:spPr>
          <a:xfrm>
            <a:off x="640080" y="1645920"/>
            <a:ext cx="6035040" cy="1128776"/>
          </a:xfrm>
          <a:prstGeom prst="roundRect">
            <a:avLst>
              <a:gd name="adj" fmla="val 6481"/>
            </a:avLst>
          </a:prstGeom>
          <a:solidFill>
            <a:srgbClr val="FFFFFF"/>
          </a:solidFill>
          <a:ln w="15875">
            <a:solidFill>
              <a:srgbClr val="111111"/>
            </a:solidFill>
            <a:prstDash val="solid"/>
          </a:ln>
        </p:spPr>
      </p:sp>
      <p:sp>
        <p:nvSpPr>
          <p:cNvPr id="4" name="Text 2"/>
          <p:cNvSpPr txBox="1"/>
          <p:nvPr/>
        </p:nvSpPr>
        <p:spPr>
          <a:xfrm>
            <a:off x="822960" y="1828800"/>
            <a:ext cx="5669280" cy="763016"/>
          </a:xfrm>
          <a:prstGeom prst="rect">
            <a:avLst/>
          </a:prstGeom>
          <a:noFill/>
          <a:ln/>
        </p:spPr>
        <p:txBody>
          <a:bodyPr wrap="square" lIns="0" tIns="0" rIns="0" bIns="0" rtlCol="0" anchor="t"/>
          <a:lstStyle/>
          <a:p>
            <a:pPr algn="l" indent="0" marL="0">
              <a:lnSpc>
                <a:spcPts val="2860"/>
              </a:lnSpc>
              <a:buNone/>
            </a:pPr>
            <a:r>
              <a:rPr lang="en-US" sz="2200" dirty="0">
                <a:solidFill>
                  <a:srgbClr val="111111"/>
                </a:solidFill>
                <a:latin typeface="Courier New" pitchFamily="34" charset="0"/>
                <a:ea typeface="Courier New" pitchFamily="34" charset="-122"/>
                <a:cs typeface="Courier New" pitchFamily="34" charset="-120"/>
              </a:rPr>
              <a:t>4214 2400.0</a:t>
            </a:r>
            <a:endParaRPr lang="en-US" sz="2200" dirty="0"/>
          </a:p>
          <a:p>
            <a:pPr algn="l" indent="0" marL="0">
              <a:lnSpc>
                <a:spcPts val="2860"/>
              </a:lnSpc>
              <a:buNone/>
            </a:pPr>
            <a:r>
              <a:rPr lang="en-US" sz="2200" dirty="0">
                <a:solidFill>
                  <a:srgbClr val="111111"/>
                </a:solidFill>
                <a:latin typeface="Courier New" pitchFamily="34" charset="0"/>
                <a:ea typeface="Courier New" pitchFamily="34" charset="-122"/>
                <a:cs typeface="Courier New" pitchFamily="34" charset="-120"/>
              </a:rPr>
              <a:t>36 1513 2.4</a:t>
            </a:r>
            <a:endParaRPr lang="en-US" sz="2200" dirty="0"/>
          </a:p>
        </p:txBody>
      </p:sp>
      <p:sp>
        <p:nvSpPr>
          <p:cNvPr id="5" name="Text 3"/>
          <p:cNvSpPr txBox="1"/>
          <p:nvPr/>
        </p:nvSpPr>
        <p:spPr>
          <a:xfrm>
            <a:off x="7040880" y="1737360"/>
            <a:ext cx="4480560" cy="4389120"/>
          </a:xfrm>
          <a:prstGeom prst="rect">
            <a:avLst/>
          </a:prstGeom>
          <a:noFill/>
          <a:ln/>
        </p:spPr>
        <p:txBody>
          <a:bodyPr wrap="square" lIns="0" tIns="0" rIns="0" bIns="0" rtlCol="0" anchor="t"/>
          <a:lstStyle/>
          <a:p>
            <a:pPr algn="l" indent="0" marL="0">
              <a:lnSpc>
                <a:spcPts val="3000"/>
              </a:lnSpc>
              <a:spcAft>
                <a:spcPts val="1580"/>
              </a:spcAft>
              <a:buNone/>
            </a:pPr>
            <a:r>
              <a:rPr lang="en-US" sz="2500" dirty="0">
                <a:solidFill>
                  <a:srgbClr val="111111"/>
                </a:solidFill>
                <a:latin typeface="Lato" pitchFamily="34" charset="0"/>
                <a:ea typeface="Lato" pitchFamily="34" charset="-122"/>
                <a:cs typeface="Lato" pitchFamily="34" charset="-120"/>
              </a:rPr>
              <a:t>The mean sale value is about 4214 shillings and the median is 2400.</a:t>
            </a:r>
            <a:endParaRPr lang="en-US" sz="2500" dirty="0"/>
          </a:p>
          <a:p>
            <a:pPr algn="l" indent="0" marL="0">
              <a:lnSpc>
                <a:spcPts val="3000"/>
              </a:lnSpc>
              <a:spcAft>
                <a:spcPts val="1580"/>
              </a:spcAft>
              <a:buNone/>
            </a:pPr>
            <a:r>
              <a:rPr lang="en-US" sz="2500" dirty="0">
                <a:solidFill>
                  <a:srgbClr val="111111"/>
                </a:solidFill>
                <a:latin typeface="Lato" pitchFamily="34" charset="0"/>
                <a:ea typeface="Lato" pitchFamily="34" charset="-122"/>
                <a:cs typeface="Lato" pitchFamily="34" charset="-120"/>
              </a:rPr>
              <a:t>A few bulk purchases pull the mean up.</a:t>
            </a:r>
            <a:endParaRPr lang="en-US" sz="2500" dirty="0"/>
          </a:p>
          <a:p>
            <a:pPr algn="l" indent="0" marL="0">
              <a:lnSpc>
                <a:spcPts val="3000"/>
              </a:lnSpc>
              <a:spcAft>
                <a:spcPts val="1580"/>
              </a:spcAft>
              <a:buNone/>
            </a:pPr>
            <a:r>
              <a:rPr lang="en-US" sz="2500" dirty="0">
                <a:solidFill>
                  <a:srgbClr val="111111"/>
                </a:solidFill>
                <a:latin typeface="Lato" pitchFamily="34" charset="0"/>
                <a:ea typeface="Lato" pitchFamily="34" charset="-122"/>
                <a:cs typeface="Lato" pitchFamily="34" charset="-120"/>
              </a:rPr>
              <a:t>36 of the 1513 sales have 10 units or more, which is 2.4 percent.</a:t>
            </a:r>
            <a:endParaRPr lang="en-US" sz="2500" dirty="0"/>
          </a:p>
          <a:p>
            <a:pPr algn="l" indent="0" marL="0">
              <a:lnSpc>
                <a:spcPts val="3000"/>
              </a:lnSpc>
              <a:spcAft>
                <a:spcPts val="1580"/>
              </a:spcAft>
              <a:buNone/>
            </a:pPr>
            <a:r>
              <a:rPr lang="en-US" sz="2500" dirty="0">
                <a:solidFill>
                  <a:srgbClr val="111111"/>
                </a:solidFill>
                <a:latin typeface="Lato" pitchFamily="34" charset="0"/>
                <a:ea typeface="Lato" pitchFamily="34" charset="-122"/>
                <a:cs typeface="Lato" pitchFamily="34" charset="-120"/>
              </a:rPr>
              <a:t>The 1513 is the denominator.</a:t>
            </a:r>
            <a:endParaRPr lang="en-US" sz="25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Investigate: Mean, median and a proportion</a:t>
            </a:r>
            <a:endParaRPr lang="en-US" sz="3800" dirty="0"/>
          </a:p>
        </p:txBody>
      </p:sp>
      <p:pic>
        <p:nvPicPr>
          <p:cNvPr id="3" name="Image 0" descr="Look closely">    </p:cNvPr>
          <p:cNvPicPr>
            <a:picLocks noChangeAspect="1"/>
          </p:cNvPicPr>
          <p:nvPr/>
        </p:nvPicPr>
        <p:blipFill>
          <a:blip r:embed="rId1"/>
          <a:stretch>
            <a:fillRect/>
          </a:stretch>
        </p:blipFill>
        <p:spPr>
          <a:xfrm>
            <a:off x="9875520" y="4480560"/>
            <a:ext cx="1645920" cy="1645920"/>
          </a:xfrm>
          <a:prstGeom prst="rect">
            <a:avLst/>
          </a:prstGeom>
        </p:spPr>
      </p:pic>
      <p:sp>
        <p:nvSpPr>
          <p:cNvPr id="4" name="Text 1"/>
          <p:cNvSpPr txBox="1"/>
          <p:nvPr/>
        </p:nvSpPr>
        <p:spPr>
          <a:xfrm>
            <a:off x="640080" y="1737360"/>
            <a:ext cx="8961120" cy="4389120"/>
          </a:xfrm>
          <a:prstGeom prst="rect">
            <a:avLst/>
          </a:prstGeom>
          <a:noFill/>
          <a:ln/>
        </p:spPr>
        <p:txBody>
          <a:bodyPr wrap="square" lIns="0" tIns="0" rIns="0" bIns="0" rtlCol="0" anchor="t"/>
          <a:lstStyle/>
          <a:p>
            <a:pPr algn="l" indent="0" marL="0">
              <a:lnSpc>
                <a:spcPts val="4320"/>
              </a:lnSpc>
              <a:spcAft>
                <a:spcPts val="3960"/>
              </a:spcAft>
              <a:buNone/>
            </a:pPr>
            <a:r>
              <a:rPr lang="en-US" sz="3600" dirty="0">
                <a:solidFill>
                  <a:srgbClr val="111111"/>
                </a:solidFill>
                <a:latin typeface="Lato" pitchFamily="34" charset="0"/>
                <a:ea typeface="Lato" pitchFamily="34" charset="-122"/>
                <a:cs typeface="Lato" pitchFamily="34" charset="-120"/>
              </a:rPr>
              <a:t>1.  Which number is a better answer to "what does a typical sale bring in"?</a:t>
            </a:r>
            <a:endParaRPr lang="en-US" sz="3600" dirty="0"/>
          </a:p>
          <a:p>
            <a:pPr algn="l" indent="0" marL="0">
              <a:lnSpc>
                <a:spcPts val="4320"/>
              </a:lnSpc>
              <a:spcAft>
                <a:spcPts val="3960"/>
              </a:spcAft>
              <a:buNone/>
            </a:pPr>
            <a:r>
              <a:rPr lang="en-US" sz="3600" dirty="0">
                <a:solidFill>
                  <a:srgbClr val="111111"/>
                </a:solidFill>
                <a:latin typeface="Lato" pitchFamily="34" charset="0"/>
                <a:ea typeface="Lato" pitchFamily="34" charset="-122"/>
                <a:cs typeface="Lato" pitchFamily="34" charset="-120"/>
              </a:rPr>
              <a:t>2.  Why must you say that the whole is 1513 sales?</a:t>
            </a:r>
            <a:endParaRPr lang="en-US" sz="36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Modify: change one thing</a:t>
            </a:r>
            <a:endParaRPr lang="en-US" sz="3800" dirty="0"/>
          </a:p>
        </p:txBody>
      </p:sp>
      <p:sp>
        <p:nvSpPr>
          <p:cNvPr id="3" name="Text 1"/>
          <p:cNvSpPr txBox="1"/>
          <p:nvPr/>
        </p:nvSpPr>
        <p:spPr>
          <a:xfrm>
            <a:off x="640080" y="1737360"/>
            <a:ext cx="6035040" cy="4206240"/>
          </a:xfrm>
          <a:prstGeom prst="rect">
            <a:avLst/>
          </a:prstGeom>
          <a:noFill/>
          <a:ln/>
        </p:spPr>
        <p:txBody>
          <a:bodyPr wrap="square" lIns="0" tIns="0" rIns="0" bIns="0" rtlCol="0" anchor="t"/>
          <a:lstStyle/>
          <a:p>
            <a:pPr algn="l" indent="0" marL="0">
              <a:lnSpc>
                <a:spcPts val="4320"/>
              </a:lnSpc>
              <a:spcAft>
                <a:spcPts val="3240"/>
              </a:spcAft>
              <a:buNone/>
            </a:pPr>
            <a:r>
              <a:rPr lang="en-US" sz="3600" dirty="0">
                <a:solidFill>
                  <a:srgbClr val="111111"/>
                </a:solidFill>
                <a:latin typeface="Lato" pitchFamily="34" charset="0"/>
                <a:ea typeface="Lato" pitchFamily="34" charset="-122"/>
                <a:cs typeface="Lato" pitchFamily="34" charset="-120"/>
              </a:rPr>
              <a:t>Find the proportion of sales with 5 units or more.</a:t>
            </a:r>
            <a:endParaRPr lang="en-US" sz="3600" dirty="0"/>
          </a:p>
          <a:p>
            <a:pPr algn="l" indent="0" marL="0">
              <a:lnSpc>
                <a:spcPts val="4320"/>
              </a:lnSpc>
              <a:spcAft>
                <a:spcPts val="3240"/>
              </a:spcAft>
              <a:buNone/>
            </a:pPr>
            <a:r>
              <a:rPr lang="en-US" sz="3600" dirty="0">
                <a:solidFill>
                  <a:srgbClr val="111111"/>
                </a:solidFill>
                <a:latin typeface="Lato" pitchFamily="34" charset="0"/>
                <a:ea typeface="Lato" pitchFamily="34" charset="-122"/>
                <a:cs typeface="Lato" pitchFamily="34" charset="-120"/>
              </a:rPr>
              <a:t>Then tell your neighbour what changed and how you know.</a:t>
            </a:r>
            <a:endParaRPr lang="en-US" sz="3600" dirty="0"/>
          </a:p>
        </p:txBody>
      </p:sp>
      <p:pic>
        <p:nvPicPr>
          <p:cNvPr id="4" name="Image 0" descr="Change one thing">    </p:cNvPr>
          <p:cNvPicPr>
            <a:picLocks noChangeAspect="1"/>
          </p:cNvPicPr>
          <p:nvPr/>
        </p:nvPicPr>
        <p:blipFill>
          <a:blip r:embed="rId1"/>
          <a:stretch>
            <a:fillRect/>
          </a:stretch>
        </p:blipFill>
        <p:spPr>
          <a:xfrm>
            <a:off x="9418320" y="2103120"/>
            <a:ext cx="1828800" cy="182880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A proportion divides a part by its whole</a:t>
            </a:r>
            <a:endParaRPr lang="en-US" sz="3800" dirty="0"/>
          </a:p>
        </p:txBody>
      </p:sp>
      <p:pic>
        <p:nvPicPr>
          <p:cNvPr id="3" name="Image 0" descr="A proportion divides a part by its whole">    </p:cNvPr>
          <p:cNvPicPr>
            <a:picLocks noChangeAspect="1"/>
          </p:cNvPicPr>
          <p:nvPr/>
        </p:nvPicPr>
        <p:blipFill>
          <a:blip r:embed="rId1"/>
          <a:stretch>
            <a:fillRect/>
          </a:stretch>
        </p:blipFill>
        <p:spPr>
          <a:xfrm>
            <a:off x="640080" y="1600200"/>
            <a:ext cx="7040880" cy="4526280"/>
          </a:xfrm>
          <a:prstGeom prst="rect">
            <a:avLst/>
          </a:prstGeom>
        </p:spPr>
      </p:pic>
      <p:sp>
        <p:nvSpPr>
          <p:cNvPr id="4" name="Text 1"/>
          <p:cNvSpPr txBox="1"/>
          <p:nvPr/>
        </p:nvSpPr>
        <p:spPr>
          <a:xfrm>
            <a:off x="7955280" y="1783080"/>
            <a:ext cx="3566160" cy="4297680"/>
          </a:xfrm>
          <a:prstGeom prst="rect">
            <a:avLst/>
          </a:prstGeom>
          <a:noFill/>
          <a:ln/>
        </p:spPr>
        <p:txBody>
          <a:bodyPr wrap="square" lIns="0" tIns="0" rIns="0" bIns="0" rtlCol="0" anchor="t"/>
          <a:lstStyle/>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The part goes on top.</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The whole, the denominator, goes underneath.</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Say which whole you divided by.</a:t>
            </a:r>
            <a:endParaRPr lang="en-US" sz="24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Branch totals must add up to the grand total</a:t>
            </a:r>
            <a:endParaRPr lang="en-US" sz="3800" dirty="0"/>
          </a:p>
        </p:txBody>
      </p:sp>
      <p:pic>
        <p:nvPicPr>
          <p:cNvPr id="3" name="Image 0" descr="Branch totals must add up to the grand total">    </p:cNvPr>
          <p:cNvPicPr>
            <a:picLocks noChangeAspect="1"/>
          </p:cNvPicPr>
          <p:nvPr/>
        </p:nvPicPr>
        <p:blipFill>
          <a:blip r:embed="rId1"/>
          <a:stretch>
            <a:fillRect/>
          </a:stretch>
        </p:blipFill>
        <p:spPr>
          <a:xfrm>
            <a:off x="640080" y="1554480"/>
            <a:ext cx="10881360" cy="4069080"/>
          </a:xfrm>
          <a:prstGeom prst="rect">
            <a:avLst/>
          </a:prstGeom>
        </p:spPr>
      </p:pic>
      <p:sp>
        <p:nvSpPr>
          <p:cNvPr id="4" name="Text 1"/>
          <p:cNvSpPr txBox="1"/>
          <p:nvPr/>
        </p:nvSpPr>
        <p:spPr>
          <a:xfrm>
            <a:off x="640080" y="5669280"/>
            <a:ext cx="10881360" cy="640080"/>
          </a:xfrm>
          <a:prstGeom prst="rect">
            <a:avLst/>
          </a:prstGeom>
          <a:noFill/>
          <a:ln/>
        </p:spPr>
        <p:txBody>
          <a:bodyPr wrap="square" lIns="0" tIns="0" rIns="0" bIns="0" rtlCol="0" anchor="t"/>
          <a:lstStyle/>
          <a:p>
            <a:pPr algn="l" indent="0" marL="0">
              <a:lnSpc>
                <a:spcPts val="2640"/>
              </a:lnSpc>
              <a:buNone/>
            </a:pPr>
            <a:r>
              <a:rPr lang="en-US" sz="2200" dirty="0">
                <a:solidFill>
                  <a:srgbClr val="333333"/>
                </a:solidFill>
                <a:latin typeface="Lato" pitchFamily="34" charset="0"/>
                <a:ea typeface="Lato" pitchFamily="34" charset="-122"/>
                <a:cs typeface="Lato" pitchFamily="34" charset="-120"/>
              </a:rPr>
              <a:t>Add the pieces and compare with the total before grouping.</a:t>
            </a:r>
            <a:endParaRPr lang="en-US" sz="22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Make: your own version</a:t>
            </a:r>
            <a:endParaRPr lang="en-US" sz="3800" dirty="0"/>
          </a:p>
        </p:txBody>
      </p:sp>
      <p:sp>
        <p:nvSpPr>
          <p:cNvPr id="3" name="Text 1"/>
          <p:cNvSpPr txBox="1"/>
          <p:nvPr/>
        </p:nvSpPr>
        <p:spPr>
          <a:xfrm>
            <a:off x="640080" y="1737360"/>
            <a:ext cx="6949440" cy="4480560"/>
          </a:xfrm>
          <a:prstGeom prst="rect">
            <a:avLst/>
          </a:prstGeom>
          <a:noFill/>
          <a:ln/>
        </p:spPr>
        <p:txBody>
          <a:bodyPr wrap="square" lIns="0" tIns="0" rIns="0" bIns="0" rtlCol="0" anchor="t"/>
          <a:lstStyle/>
          <a:p>
            <a:pPr algn="l" indent="0" marL="0">
              <a:lnSpc>
                <a:spcPts val="3600"/>
              </a:lnSpc>
              <a:spcAft>
                <a:spcPts val="2520"/>
              </a:spcAft>
              <a:buNone/>
            </a:pPr>
            <a:r>
              <a:rPr lang="en-US" sz="3000" dirty="0">
                <a:solidFill>
                  <a:srgbClr val="111111"/>
                </a:solidFill>
                <a:latin typeface="Lato" pitchFamily="34" charset="0"/>
                <a:ea typeface="Lato" pitchFamily="34" charset="-122"/>
                <a:cs typeface="Lato" pitchFamily="34" charset="-120"/>
              </a:rPr>
              <a:t>Add the line_value column and total it for each branch_id in the Sunrise sales. Sort the three totals from largest to smallest. Check that the three totals add up to the overall total.</a:t>
            </a:r>
            <a:endParaRPr lang="en-US" sz="3000" dirty="0"/>
          </a:p>
          <a:p>
            <a:pPr algn="l" indent="0" marL="0">
              <a:lnSpc>
                <a:spcPts val="3600"/>
              </a:lnSpc>
              <a:spcAft>
                <a:spcPts val="2520"/>
              </a:spcAft>
              <a:buNone/>
            </a:pPr>
            <a:r>
              <a:rPr lang="en-US" sz="3000" dirty="0">
                <a:solidFill>
                  <a:srgbClr val="111111"/>
                </a:solidFill>
                <a:latin typeface="Lato" pitchFamily="34" charset="0"/>
                <a:ea typeface="Lato" pitchFamily="34" charset="-122"/>
                <a:cs typeface="Lato" pitchFamily="34" charset="-120"/>
              </a:rPr>
              <a:t>Save it as DA09. Write two sentences: what you changed and how you checked it.</a:t>
            </a:r>
            <a:endParaRPr lang="en-US" sz="3000" dirty="0"/>
          </a:p>
        </p:txBody>
      </p:sp>
      <p:pic>
        <p:nvPicPr>
          <p:cNvPr id="4" name="Image 0" descr="A notebook saved with a tick">    </p:cNvPr>
          <p:cNvPicPr>
            <a:picLocks noChangeAspect="1"/>
          </p:cNvPicPr>
          <p:nvPr/>
        </p:nvPicPr>
        <p:blipFill>
          <a:blip r:embed="rId1"/>
          <a:stretch>
            <a:fillRect/>
          </a:stretch>
        </p:blipFill>
        <p:spPr>
          <a:xfrm>
            <a:off x="8138160" y="1920240"/>
            <a:ext cx="3474720" cy="329184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Two errors you may meet today</a:t>
            </a:r>
            <a:endParaRPr lang="en-US" sz="3800" dirty="0"/>
          </a:p>
        </p:txBody>
      </p:sp>
      <p:pic>
        <p:nvPicPr>
          <p:cNvPr id="3" name="Image 0" descr="Error">    </p:cNvPr>
          <p:cNvPicPr>
            <a:picLocks noChangeAspect="1"/>
          </p:cNvPicPr>
          <p:nvPr/>
        </p:nvPicPr>
        <p:blipFill>
          <a:blip r:embed="rId1"/>
          <a:stretch>
            <a:fillRect/>
          </a:stretch>
        </p:blipFill>
        <p:spPr>
          <a:xfrm>
            <a:off x="640080" y="1691640"/>
            <a:ext cx="822960" cy="822960"/>
          </a:xfrm>
          <a:prstGeom prst="rect">
            <a:avLst/>
          </a:prstGeom>
        </p:spPr>
      </p:pic>
      <p:sp>
        <p:nvSpPr>
          <p:cNvPr id="4" name="Shape 1"/>
          <p:cNvSpPr/>
          <p:nvPr/>
        </p:nvSpPr>
        <p:spPr>
          <a:xfrm>
            <a:off x="1645920" y="1828800"/>
            <a:ext cx="4023360" cy="1645920"/>
          </a:xfrm>
          <a:prstGeom prst="roundRect">
            <a:avLst>
              <a:gd name="adj" fmla="val 3333"/>
            </a:avLst>
          </a:prstGeom>
          <a:solidFill>
            <a:srgbClr val="FFFFFF"/>
          </a:solidFill>
          <a:ln w="25400">
            <a:solidFill>
              <a:srgbClr val="AE2525"/>
            </a:solidFill>
            <a:prstDash val="solid"/>
          </a:ln>
        </p:spPr>
      </p:sp>
      <p:sp>
        <p:nvSpPr>
          <p:cNvPr id="5" name="Text 2"/>
          <p:cNvSpPr txBox="1"/>
          <p:nvPr/>
        </p:nvSpPr>
        <p:spPr>
          <a:xfrm>
            <a:off x="1783080" y="1920240"/>
            <a:ext cx="3749040" cy="1463040"/>
          </a:xfrm>
          <a:prstGeom prst="rect">
            <a:avLst/>
          </a:prstGeom>
          <a:noFill/>
          <a:ln/>
        </p:spPr>
        <p:txBody>
          <a:bodyPr wrap="square" lIns="0" tIns="0" rIns="0" bIns="0" rtlCol="0" anchor="ctr"/>
          <a:lstStyle/>
          <a:p>
            <a:pPr algn="l" indent="0" marL="0">
              <a:lnSpc>
                <a:spcPts val="2500"/>
              </a:lnSpc>
              <a:buNone/>
            </a:pPr>
            <a:r>
              <a:rPr lang="en-US" sz="2000" dirty="0">
                <a:solidFill>
                  <a:srgbClr val="AE2525"/>
                </a:solidFill>
                <a:latin typeface="Courier New" pitchFamily="34" charset="0"/>
                <a:ea typeface="Courier New" pitchFamily="34" charset="-122"/>
                <a:cs typeface="Courier New" pitchFamily="34" charset="-120"/>
              </a:rPr>
              <a:t>KeyError: 'revenue_ugx'</a:t>
            </a:r>
            <a:endParaRPr lang="en-US" sz="2000" dirty="0"/>
          </a:p>
        </p:txBody>
      </p:sp>
      <p:sp>
        <p:nvSpPr>
          <p:cNvPr id="6" name="Text 3"/>
          <p:cNvSpPr txBox="1"/>
          <p:nvPr/>
        </p:nvSpPr>
        <p:spPr>
          <a:xfrm>
            <a:off x="6035040" y="1664208"/>
            <a:ext cx="5486400" cy="1965960"/>
          </a:xfrm>
          <a:prstGeom prst="rect">
            <a:avLst/>
          </a:prstGeom>
          <a:noFill/>
          <a:ln/>
        </p:spPr>
        <p:txBody>
          <a:bodyPr wrap="square" lIns="0" tIns="0" rIns="0" bIns="0" rtlCol="0" anchor="t"/>
          <a:lstStyle/>
          <a:p>
            <a:pPr algn="l" indent="0" marL="0">
              <a:lnSpc>
                <a:spcPts val="2640"/>
              </a:lnSpc>
              <a:spcAft>
                <a:spcPts val="1300"/>
              </a:spcAft>
              <a:buNone/>
            </a:pPr>
            <a:r>
              <a:rPr lang="en-US" sz="2200" dirty="0">
                <a:solidFill>
                  <a:srgbClr val="111111"/>
                </a:solidFill>
                <a:latin typeface="Lato" pitchFamily="34" charset="0"/>
                <a:ea typeface="Lato" pitchFamily="34" charset="-122"/>
                <a:cs typeface="Lato" pitchFamily="34" charset="-120"/>
              </a:rPr>
              <a:t>It means: You grouped a column that has not been created yet in this session.</a:t>
            </a:r>
            <a:endParaRPr lang="en-US" sz="2200" dirty="0"/>
          </a:p>
          <a:p>
            <a:pPr algn="l" indent="0" marL="0">
              <a:lnSpc>
                <a:spcPts val="2640"/>
              </a:lnSpc>
              <a:spcAft>
                <a:spcPts val="1300"/>
              </a:spcAft>
              <a:buNone/>
            </a:pPr>
            <a:r>
              <a:rPr lang="en-US" sz="2200" dirty="0">
                <a:solidFill>
                  <a:srgbClr val="111111"/>
                </a:solidFill>
                <a:latin typeface="Lato" pitchFamily="34" charset="0"/>
                <a:ea typeface="Lato" pitchFamily="34" charset="-122"/>
                <a:cs typeface="Lato" pitchFamily="34" charset="-120"/>
              </a:rPr>
              <a:t>Fix: Run the cell that creates the revenue column before the cell that groups it.</a:t>
            </a:r>
            <a:endParaRPr lang="en-US" sz="2200" dirty="0"/>
          </a:p>
        </p:txBody>
      </p:sp>
      <p:sp>
        <p:nvSpPr>
          <p:cNvPr id="7" name="Shape 4"/>
          <p:cNvSpPr/>
          <p:nvPr/>
        </p:nvSpPr>
        <p:spPr>
          <a:xfrm>
            <a:off x="640080" y="3813048"/>
            <a:ext cx="10881360" cy="0"/>
          </a:xfrm>
          <a:prstGeom prst="line">
            <a:avLst/>
          </a:prstGeom>
          <a:noFill/>
          <a:ln w="12700">
            <a:solidFill>
              <a:srgbClr val="CFCFCF"/>
            </a:solidFill>
            <a:prstDash val="solid"/>
          </a:ln>
        </p:spPr>
      </p:sp>
      <p:pic>
        <p:nvPicPr>
          <p:cNvPr id="8" name="Image 1" descr="Error">    </p:cNvPr>
          <p:cNvPicPr>
            <a:picLocks noChangeAspect="1"/>
          </p:cNvPicPr>
          <p:nvPr/>
        </p:nvPicPr>
        <p:blipFill>
          <a:blip r:embed="rId2"/>
          <a:stretch>
            <a:fillRect/>
          </a:stretch>
        </p:blipFill>
        <p:spPr>
          <a:xfrm>
            <a:off x="640080" y="4023360"/>
            <a:ext cx="822960" cy="822960"/>
          </a:xfrm>
          <a:prstGeom prst="rect">
            <a:avLst/>
          </a:prstGeom>
        </p:spPr>
      </p:pic>
      <p:sp>
        <p:nvSpPr>
          <p:cNvPr id="9" name="Shape 5"/>
          <p:cNvSpPr/>
          <p:nvPr/>
        </p:nvSpPr>
        <p:spPr>
          <a:xfrm>
            <a:off x="1645920" y="4160520"/>
            <a:ext cx="4023360" cy="1645920"/>
          </a:xfrm>
          <a:prstGeom prst="roundRect">
            <a:avLst>
              <a:gd name="adj" fmla="val 3333"/>
            </a:avLst>
          </a:prstGeom>
          <a:solidFill>
            <a:srgbClr val="FFFFFF"/>
          </a:solidFill>
          <a:ln w="25400">
            <a:solidFill>
              <a:srgbClr val="AE2525"/>
            </a:solidFill>
            <a:prstDash val="solid"/>
          </a:ln>
        </p:spPr>
      </p:sp>
      <p:sp>
        <p:nvSpPr>
          <p:cNvPr id="10" name="Text 6"/>
          <p:cNvSpPr txBox="1"/>
          <p:nvPr/>
        </p:nvSpPr>
        <p:spPr>
          <a:xfrm>
            <a:off x="1783080" y="4251960"/>
            <a:ext cx="3749040" cy="1463040"/>
          </a:xfrm>
          <a:prstGeom prst="rect">
            <a:avLst/>
          </a:prstGeom>
          <a:noFill/>
          <a:ln/>
        </p:spPr>
        <p:txBody>
          <a:bodyPr wrap="square" lIns="0" tIns="0" rIns="0" bIns="0" rtlCol="0" anchor="ctr"/>
          <a:lstStyle/>
          <a:p>
            <a:pPr algn="l" indent="0" marL="0">
              <a:lnSpc>
                <a:spcPts val="2500"/>
              </a:lnSpc>
              <a:buNone/>
            </a:pPr>
            <a:r>
              <a:rPr lang="en-US" sz="2000" dirty="0">
                <a:solidFill>
                  <a:srgbClr val="AE2525"/>
                </a:solidFill>
                <a:latin typeface="Courier New" pitchFamily="34" charset="0"/>
                <a:ea typeface="Courier New" pitchFamily="34" charset="-122"/>
                <a:cs typeface="Courier New" pitchFamily="34" charset="-120"/>
              </a:rPr>
              <a:t>The totals do not add to the overall total</a:t>
            </a:r>
            <a:endParaRPr lang="en-US" sz="2000" dirty="0"/>
          </a:p>
        </p:txBody>
      </p:sp>
      <p:sp>
        <p:nvSpPr>
          <p:cNvPr id="11" name="Text 7"/>
          <p:cNvSpPr txBox="1"/>
          <p:nvPr/>
        </p:nvSpPr>
        <p:spPr>
          <a:xfrm>
            <a:off x="6035040" y="3995928"/>
            <a:ext cx="5486400" cy="1965960"/>
          </a:xfrm>
          <a:prstGeom prst="rect">
            <a:avLst/>
          </a:prstGeom>
          <a:noFill/>
          <a:ln/>
        </p:spPr>
        <p:txBody>
          <a:bodyPr wrap="square" lIns="0" tIns="0" rIns="0" bIns="0" rtlCol="0" anchor="t"/>
          <a:lstStyle/>
          <a:p>
            <a:pPr algn="l" indent="0" marL="0">
              <a:lnSpc>
                <a:spcPts val="2640"/>
              </a:lnSpc>
              <a:spcAft>
                <a:spcPts val="1300"/>
              </a:spcAft>
              <a:buNone/>
            </a:pPr>
            <a:r>
              <a:rPr lang="en-US" sz="2200" dirty="0">
                <a:solidFill>
                  <a:srgbClr val="111111"/>
                </a:solidFill>
                <a:latin typeface="Lato" pitchFamily="34" charset="0"/>
                <a:ea typeface="Lato" pitchFamily="34" charset="-122"/>
                <a:cs typeface="Lato" pitchFamily="34" charset="-120"/>
              </a:rPr>
              <a:t>It means: Rows were lost or counted twice before grouping.</a:t>
            </a:r>
            <a:endParaRPr lang="en-US" sz="2200" dirty="0"/>
          </a:p>
          <a:p>
            <a:pPr algn="l" indent="0" marL="0">
              <a:lnSpc>
                <a:spcPts val="2640"/>
              </a:lnSpc>
              <a:spcAft>
                <a:spcPts val="1300"/>
              </a:spcAft>
              <a:buNone/>
            </a:pPr>
            <a:r>
              <a:rPr lang="en-US" sz="2200" dirty="0">
                <a:solidFill>
                  <a:srgbClr val="111111"/>
                </a:solidFill>
                <a:latin typeface="Lato" pitchFamily="34" charset="0"/>
                <a:ea typeface="Lato" pitchFamily="34" charset="-122"/>
                <a:cs typeface="Lato" pitchFamily="34" charset="-120"/>
              </a:rPr>
              <a:t>Fix: Compare len() before and after each step to find where rows changed.</a:t>
            </a:r>
            <a:endParaRPr lang="en-US" sz="22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Finish this sentence in your notebook</a:t>
            </a:r>
            <a:endParaRPr lang="en-US" sz="3800" dirty="0"/>
          </a:p>
        </p:txBody>
      </p:sp>
      <p:sp>
        <p:nvSpPr>
          <p:cNvPr id="3" name="Text 1"/>
          <p:cNvSpPr txBox="1"/>
          <p:nvPr/>
        </p:nvSpPr>
        <p:spPr>
          <a:xfrm>
            <a:off x="640080" y="1737360"/>
            <a:ext cx="6949440" cy="2926080"/>
          </a:xfrm>
          <a:prstGeom prst="rect">
            <a:avLst/>
          </a:prstGeom>
          <a:noFill/>
          <a:ln/>
        </p:spPr>
        <p:txBody>
          <a:bodyPr wrap="square" lIns="0" tIns="0" rIns="0" bIns="0" rtlCol="0" anchor="t"/>
          <a:lstStyle/>
          <a:p>
            <a:pPr algn="l" indent="0" marL="0">
              <a:lnSpc>
                <a:spcPts val="4800"/>
              </a:lnSpc>
              <a:spcAft>
                <a:spcPts val="1010"/>
              </a:spcAft>
              <a:buNone/>
            </a:pPr>
            <a:r>
              <a:rPr lang="en-US" sz="4000" dirty="0">
                <a:solidFill>
                  <a:srgbClr val="111111"/>
                </a:solidFill>
                <a:latin typeface="Lato" pitchFamily="34" charset="0"/>
                <a:ea typeface="Lato" pitchFamily="34" charset="-122"/>
                <a:cs typeface="Lato" pitchFamily="34" charset="-120"/>
              </a:rPr>
              <a:t>A grouped total answers a question about each group, and the median stays steady when a few sales are huge.</a:t>
            </a:r>
            <a:endParaRPr lang="en-US" sz="4000" dirty="0"/>
          </a:p>
        </p:txBody>
      </p:sp>
      <p:sp>
        <p:nvSpPr>
          <p:cNvPr id="4" name="Text 2"/>
          <p:cNvSpPr txBox="1"/>
          <p:nvPr/>
        </p:nvSpPr>
        <p:spPr>
          <a:xfrm>
            <a:off x="640080" y="4846320"/>
            <a:ext cx="6949440" cy="1097280"/>
          </a:xfrm>
          <a:prstGeom prst="rect">
            <a:avLst/>
          </a:prstGeom>
          <a:noFill/>
          <a:ln/>
        </p:spPr>
        <p:txBody>
          <a:bodyPr wrap="square" lIns="0" tIns="0" rIns="0" bIns="0" rtlCol="0" anchor="t"/>
          <a:lstStyle/>
          <a:p>
            <a:pPr algn="l" indent="0" marL="0">
              <a:lnSpc>
                <a:spcPts val="2750"/>
              </a:lnSpc>
              <a:buNone/>
            </a:pPr>
            <a:r>
              <a:rPr lang="en-US" sz="2200" dirty="0">
                <a:solidFill>
                  <a:srgbClr val="333333"/>
                </a:solidFill>
                <a:latin typeface="Lato" pitchFamily="34" charset="0"/>
                <a:ea typeface="Lato" pitchFamily="34" charset="-122"/>
                <a:cs typeface="Lato" pitchFamily="34" charset="-120"/>
              </a:rPr>
              <a:t>Then save your notebook, close it and open it again to check it saved.</a:t>
            </a:r>
            <a:endParaRPr lang="en-US" sz="2200" dirty="0"/>
          </a:p>
        </p:txBody>
      </p:sp>
      <p:pic>
        <p:nvPicPr>
          <p:cNvPr id="5" name="Image 0" descr="Finished">    </p:cNvPr>
          <p:cNvPicPr>
            <a:picLocks noChangeAspect="1"/>
          </p:cNvPicPr>
          <p:nvPr/>
        </p:nvPicPr>
        <p:blipFill>
          <a:blip r:embed="rId1"/>
          <a:stretch>
            <a:fillRect/>
          </a:stretch>
        </p:blipFill>
        <p:spPr>
          <a:xfrm>
            <a:off x="8229600" y="1920240"/>
            <a:ext cx="3291840" cy="329184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23</a:t>
            </a:fld>
            <a:endParaRPr lang="en-US"/>
          </a:p>
        </p:txBody>
      </p:sp>
    </p:spTree>
  </p:cSld>
  <p:clrMapOvr>
    <a:masterClrMapping/>
  </p:clrMapOvr>
</p:sld>
</file>

<file path=ppt/theme/theme1.xml><?xml version="1.0" encoding="utf-8"?>
<a:theme xmlns:a="http://schemas.openxmlformats.org/drawingml/2006/main" name="KLAi camp">
  <a:themeElements>
    <a:clrScheme name="KLAi camp">
      <a:dk1>
        <a:srgbClr val="111111"/>
      </a:dk1>
      <a:lt1>
        <a:srgbClr val="FFFFFF"/>
      </a:lt1>
      <a:dk2>
        <a:srgbClr val="333333"/>
      </a:dk2>
      <a:lt2>
        <a:srgbClr val="F1F1F1"/>
      </a:lt2>
      <a:accent1>
        <a:srgbClr val="AE2525"/>
      </a:accent1>
      <a:accent2>
        <a:srgbClr val="E0BE36"/>
      </a:accent2>
      <a:accent3>
        <a:srgbClr val="8C8C8C"/>
      </a:accent3>
      <a:accent4>
        <a:srgbClr val="555555"/>
      </a:accent4>
      <a:accent5>
        <a:srgbClr val="CFCFCF"/>
      </a:accent5>
      <a:accent6>
        <a:srgbClr val="000000"/>
      </a:accent6>
      <a:hlink>
        <a:srgbClr val="AE2525"/>
      </a:hlink>
      <a:folHlink>
        <a:srgbClr val="666666"/>
      </a:folHlink>
    </a:clrScheme>
    <a:fontScheme name="KLAi camp">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KLAi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DA09 Sort, group, mean and median</dc:title>
  <dc:subject>Python for Data Analysis</dc:subject>
  <dc:creator>KLAi</dc:creator>
  <cp:lastModifiedBy>KLAi</cp:lastModifiedBy>
  <cp:revision>1</cp:revision>
  <dcterms:created xsi:type="dcterms:W3CDTF">2026-10-31T12:26:18Z</dcterms:created>
  <dcterms:modified xsi:type="dcterms:W3CDTF">2026-10-31T12:26:18Z</dcterms:modified>
</cp:coreProperties>
</file>