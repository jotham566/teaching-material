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8428c8d-7e18-59f7-faec-1933824d2418}">
          <p14:sldIdLst>
            <p14:sldId id="256"/>
            <p14:sldId id="257"/>
            <p14:sldId id="258"/>
            <p14:sldId id="259"/>
            <p14:sldId id="260"/>
            <p14:sldId id="261"/>
            <p14:sldId id="262"/>
          </p14:sldIdLst>
        </p14:section>
        <p14:section name="Block A" id="{e3a5533a-8060-d107-1887-a468b3932ccd}">
          <p14:sldIdLst>
            <p14:sldId id="263"/>
            <p14:sldId id="264"/>
            <p14:sldId id="265"/>
            <p14:sldId id="266"/>
            <p14:sldId id="268"/>
            <p14:sldId id="269"/>
          </p14:sldIdLst>
        </p14:section>
        <p14:section name="Break" id="{ad9a724c-5215-48d9-55c7-b74cefefc1ba}">
          <p14:sldIdLst>
            <p14:sldId id="267"/>
          </p14:sldIdLst>
        </p14:section>
        <p14:section name="Block A" id="{a5c22d11-28af-dffe-0e66-9859440a2f51}">
          <p14:sldIdLst/>
        </p14:section>
        <p14:section name="Block B" id="{7678056b-64ba-c1a3-d146-78d847b1e471}">
          <p14:sldIdLst>
            <p14:sldId id="270"/>
            <p14:sldId id="271"/>
            <p14:sldId id="272"/>
            <p14:sldId id="273"/>
            <p14:sldId id="274"/>
          </p14:sldIdLst>
        </p14:section>
        <p14:section name="Make and close" id="{26708b40-4cc1-3ab2-8056-c346622077eb}">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Today is session 4 and our topic is conditions and decisions.
By the end of today you will be able to write a decision that gives a different answer for True and False, and test it at the edge.
We will answer one question: Is this sale big enough to count as a large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units sold in the first twelve sales. A shopkeeper wants to treat any sale of five or more units as a large order. The dashed line marks that rule, and the gold bars are the ones that pass it. Looking at the bars takes a second. Python has no eyes, so we have to give it the rule in words it understands. Today we learn how to write that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words, because every one of them is used in the code later.
comparison. A question that gives True or False, such as units &gt;= 5. Think of a shop. Asking whether a pupil is tall enough to ride.
Boolean. A value that is either True or False. Imagine it like this. A light that is on or off.
if. Run the indented lines only when the condition is True. An example from everyday life. Enter only if you have a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rest of today's words.
else. Run these lines when the condition is False. Here is a way to see it. Otherwise, go to the queue.
indentation. Four spaces at the start of a line show which lines belong to the if. A small example. The inside of a bracket in a sentence.
and, or. and needs both conditions True. or needs at least one. Picture this. Entry needs a ticket and an ID. A discount needs a student card or a coupon.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comparison is a question that can only be answered with True or False. The ticket costs five thousand. Is the budget at least five thousand? With four thousand nine hundred and ninety nine the answer is False. With exactly five thousand it is True, because the symbol greater than or equal to includes the edge itself. With five thousand and one it is also True.
The edge is where mistakes hide, so we always test just below it, on it and just above it. Which of the three would you have forgotten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if instruction is a fork in the road. Python asks the question in the box. If the answer is True it takes the path to Buy. If the answer is False it goes down to Save. It never does both. The code above the flow chart is the same decision written for Python.
Trace the path with a budget of four thousand nine hundred and ninety nine. Which box do you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comparison asks a question. == asks whether two values are equal.
Make a prediction. Predict what prints for a budget of 4999, then for 5000, then for 5001. Put it on paper first. We will check it together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it now. Match each line of the output with the line of code that made it.
The cell prints True and then Buy. With a budget of 4999 the comparison is False and the cell prints Save. 5000 and 5001 both print Buy, because &gt;= includes the edge value.
Keep your guess. We use it in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compare and decide. I have two questions for you.
Question one. Why does 5000 print Buy? Talk it over with your neighbour for a minute.
Let me answer it. &gt;= means greater than or equal to, so the edge value passes.
Question two. What is the difference between = and ==? Think about it for a moment, then tell the person next to you.
The answer is this. = stores a value under a name. == asks whether two values are equal.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one small change. Set budget to 4999 and run the cell again. After you run it, say in one sentence what changed and how you checked.
You should see this. It prints Save.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uses spaces to understand your code. The two lines that start with four spaces belong to the if and the else above them. They are inside the fork. The last line has no spaces, so it sits outside the fork and runs every time, whichever path was taken.
If you forget the spaces, Python stops with an IndentationError. Check the gold boxes and tell me which lines run when the answer is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one question is not enough. A sale can be large, expensive, both or neither. The word and joins two questions and is True only when both are True. The word or is True when at least one is True.
Our example has six units at one thousand shillings. It is large but not expensive, so and gives False and or gives True. Find the gold row. Why does and fail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large order needs 5 units or more. An expensive item costs 2000 shillings or more.
Time to commit to an answer. Predict the answer for 6 units of an item at 1000 shillings, for both rules. Put your guess on paper now, even if you are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run it. Match each line of the output with the line of code that made it.
The cell prints False, then True, then Large only. The order is large and not expensive, so and gives False and or gives True. elif means else if: it tests a second condition when the first is False.
If your guess was off, find the line that surprised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two conditions together. I have two questions for you.
Question one. Why is the answer to large and expensive False? Think about it for a moment, then tell the person next to you.
The answer is this. and needs both conditions True. The price is 1000, which is under 2000.
Question two. Which branch runs for 3 units at 2500 shillings? Have a go in your head first.
Neither if nor elif, so else runs and it prints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 is your turn to change something. Change the price to 2500 and run the cell again. Then explain to your neighbour what the change did.
The result: It prints Large and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decisions often have more than two outcomes. This ladder asks its first question. If the answer is True we stop and report a large and expensive sale. If it is False we drop to the next question. Only when every question has said False do we reach the last box. That last box is the else.
Run the ladder in your head for six units at one thousand shillings. Which outcome do you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task is yours. Run your code after every step so you can see where a problem begins. If you get stuck for a few minutes, read your error message, check the error card, and then ask me.
Save it as DA04.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errors from this session, so you recognise them when they appear.
This is the first one. You will see: IndentationError: expected an indented block. It means this: the line under if or else has no spaces in front of it. To fix it, add four spaces to every line that belongs to the if.
The next one. You will see: SyntaxError: invalid syntax at if budget = 5000. It means this: A single = was used where a question needs ==. To fix it, use == or &gt;= to ask a question. Use = only to store a value.
When you are stuck, read the last line of the message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step. Our question for today was: Is this sale big enough to count as a large order?
Finish this sentence in your notebook, in your own words. A comparison gives True or False, and an if runs its indented lines only when it is True.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DA04  |  Conditions and decisions</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Conditions and decisions</a:t>
            </a:r>
            <a:endParaRPr lang="en-US" sz="5600" dirty="0"/>
          </a:p>
        </p:txBody>
      </p:sp>
      <p:sp>
        <p:nvSpPr>
          <p:cNvPr id="3" name="Text 1"/>
          <p:cNvSpPr txBox="1"/>
          <p:nvPr/>
        </p:nvSpPr>
        <p:spPr>
          <a:xfrm>
            <a:off x="640080" y="338836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Is this sale big enough to count as a large order?</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Python for Data Analysis  |  Session 4 of 24  |  Week 2, Python you need</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Is this sale big enough to count as a large order?</a:t>
            </a:r>
            <a:endParaRPr lang="en-US" sz="3800" dirty="0"/>
          </a:p>
        </p:txBody>
      </p:sp>
      <p:pic>
        <p:nvPicPr>
          <p:cNvPr id="3" name="Image 0" descr="Units sold in each of the first twelve sales with a line at five units">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comparison">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comparison</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question that gives True or False, such as units &gt;= 5.</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Asking whether a pupil is tall enough to ride.</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Boolean">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Boolean</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value that is either True or False.</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light that is on or off.</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if">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if</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Run the indented lines only when the condition is True.</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Enter only if you have a ticket.</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else">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else</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Run these lines when the condition is False.</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Otherwise, go to the queue.</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indentation">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3840"/>
              </a:lnSpc>
              <a:buNone/>
            </a:pPr>
            <a:r>
              <a:rPr lang="en-US" sz="3200" b="1" dirty="0">
                <a:solidFill>
                  <a:srgbClr val="111111"/>
                </a:solidFill>
                <a:latin typeface="Lato" pitchFamily="34" charset="0"/>
                <a:ea typeface="Lato" pitchFamily="34" charset="-122"/>
                <a:cs typeface="Lato" pitchFamily="34" charset="-120"/>
              </a:rPr>
              <a:t>indentation</a:t>
            </a:r>
            <a:endParaRPr lang="en-US" sz="32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Four spaces at the start of a line show which lines belong to the if.</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inside of a bracket in a sentence.</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and, or">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and, or</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and needs both conditions True. or needs at least one.</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160"/>
              </a:lnSpc>
              <a:buNone/>
            </a:pPr>
            <a:r>
              <a:rPr lang="en-US" sz="1800" i="1" dirty="0">
                <a:solidFill>
                  <a:srgbClr val="666666"/>
                </a:solidFill>
                <a:latin typeface="Lato" pitchFamily="34" charset="0"/>
                <a:ea typeface="Lato" pitchFamily="34" charset="-122"/>
                <a:cs typeface="Lato" pitchFamily="34" charset="-120"/>
              </a:rPr>
              <a:t>Entry needs a ticket and an ID. A discount needs a student card or a coupon.</a:t>
            </a:r>
            <a:endParaRPr lang="en-US" sz="18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comparison answers True or False</a:t>
            </a:r>
            <a:endParaRPr lang="en-US" sz="3800" dirty="0"/>
          </a:p>
        </p:txBody>
      </p:sp>
      <p:pic>
        <p:nvPicPr>
          <p:cNvPr id="3" name="Image 0" descr="A comparison answers True or Fals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Three budgets meet the same rule.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edge value counts when you write &gt;=.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Always test just below, on and just above the edge.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An if sends the program down one of two paths</a:t>
            </a:r>
            <a:endParaRPr lang="en-US" sz="3800" dirty="0"/>
          </a:p>
        </p:txBody>
      </p:sp>
      <p:pic>
        <p:nvPicPr>
          <p:cNvPr id="3" name="Image 0" descr="An if sends the program down one of two path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True follows the if lines.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False follows the else lines.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Only one path runs each time.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Compare and decide</a:t>
            </a:r>
            <a:endParaRPr lang="en-US" sz="3800" dirty="0"/>
          </a:p>
        </p:txBody>
      </p:sp>
      <p:sp>
        <p:nvSpPr>
          <p:cNvPr id="3" name="Shape 1"/>
          <p:cNvSpPr/>
          <p:nvPr/>
        </p:nvSpPr>
        <p:spPr>
          <a:xfrm>
            <a:off x="640080" y="1645920"/>
            <a:ext cx="6035040" cy="2618232"/>
          </a:xfrm>
          <a:prstGeom prst="roundRect">
            <a:avLst>
              <a:gd name="adj" fmla="val 2794"/>
            </a:avLst>
          </a:prstGeom>
          <a:solidFill>
            <a:srgbClr val="111111"/>
          </a:solidFill>
          <a:ln/>
        </p:spPr>
      </p:sp>
      <p:sp>
        <p:nvSpPr>
          <p:cNvPr id="4" name="Text 2"/>
          <p:cNvSpPr txBox="1"/>
          <p:nvPr/>
        </p:nvSpPr>
        <p:spPr>
          <a:xfrm>
            <a:off x="841248" y="1847088"/>
            <a:ext cx="5632704" cy="2215896"/>
          </a:xfrm>
          <a:prstGeom prst="rect">
            <a:avLst/>
          </a:prstGeom>
          <a:noFill/>
          <a:ln/>
        </p:spPr>
        <p:txBody>
          <a:bodyPr wrap="square" lIns="0" tIns="0" rIns="0" bIns="0" rtlCol="0" anchor="t"/>
          <a:lstStyle/>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budget = 5000</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print(budget &gt;= 5000)</a:t>
            </a:r>
            <a:endParaRPr lang="en-US" sz="2200" dirty="0"/>
          </a:p>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if</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budget &gt;= 5000:</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print(</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"Buy"</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else</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print(</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"Save"</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Predict what prints for a budget of 4999, then for 5000, then for 5001.</a:t>
            </a:r>
            <a:endParaRPr lang="en-US" sz="2900" dirty="0"/>
          </a:p>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Write your guess on paper before we run it.</a:t>
            </a:r>
            <a:endParaRPr lang="en-US" sz="29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Compare and decide</a:t>
            </a:r>
            <a:endParaRPr lang="en-US" sz="3800" dirty="0"/>
          </a:p>
        </p:txBody>
      </p:sp>
      <p:sp>
        <p:nvSpPr>
          <p:cNvPr id="3" name="Shape 1"/>
          <p:cNvSpPr/>
          <p:nvPr/>
        </p:nvSpPr>
        <p:spPr>
          <a:xfrm>
            <a:off x="640080" y="1645920"/>
            <a:ext cx="6035040" cy="1128776"/>
          </a:xfrm>
          <a:prstGeom prst="roundRect">
            <a:avLst>
              <a:gd name="adj" fmla="val 6481"/>
            </a:avLst>
          </a:prstGeom>
          <a:solidFill>
            <a:srgbClr val="FFFFFF"/>
          </a:solidFill>
          <a:ln w="15875">
            <a:solidFill>
              <a:srgbClr val="111111"/>
            </a:solidFill>
            <a:prstDash val="solid"/>
          </a:ln>
        </p:spPr>
      </p:sp>
      <p:sp>
        <p:nvSpPr>
          <p:cNvPr id="4" name="Text 2"/>
          <p:cNvSpPr txBox="1"/>
          <p:nvPr/>
        </p:nvSpPr>
        <p:spPr>
          <a:xfrm>
            <a:off x="822960" y="1828800"/>
            <a:ext cx="5669280" cy="76301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True</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Buy</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cell prints True and then Buy.</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With a budget of 4999 the comparison is False and the cell prints Save.</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5000 and 5001 both print Buy, because &gt;= includes the edge value.</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Compare and decide</a:t>
            </a:r>
            <a:endParaRPr lang="en-US" sz="3800" dirty="0"/>
          </a:p>
        </p:txBody>
      </p:sp>
      <p:sp>
        <p:nvSpPr>
          <p:cNvPr id="3" name="Shape 1"/>
          <p:cNvSpPr/>
          <p:nvPr/>
        </p:nvSpPr>
        <p:spPr>
          <a:xfrm>
            <a:off x="7498080" y="1737360"/>
            <a:ext cx="4023360" cy="2221992"/>
          </a:xfrm>
          <a:prstGeom prst="roundRect">
            <a:avLst>
              <a:gd name="adj" fmla="val 3292"/>
            </a:avLst>
          </a:prstGeom>
          <a:solidFill>
            <a:srgbClr val="111111"/>
          </a:solidFill>
          <a:ln/>
        </p:spPr>
      </p:sp>
      <p:sp>
        <p:nvSpPr>
          <p:cNvPr id="4" name="Text 2"/>
          <p:cNvSpPr txBox="1"/>
          <p:nvPr/>
        </p:nvSpPr>
        <p:spPr>
          <a:xfrm>
            <a:off x="7699248" y="1938528"/>
            <a:ext cx="3621024" cy="1819656"/>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budget = 5000</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print(budget &gt;= 5000)</a:t>
            </a:r>
            <a:endParaRPr lang="en-US" sz="1800" dirty="0"/>
          </a:p>
          <a:p>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if</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budget &gt;= 5000:</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print(</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"Buy"</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else</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print(</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"Save"</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p:txBody>
      </p:sp>
      <p:sp>
        <p:nvSpPr>
          <p:cNvPr id="5" name="Text 3"/>
          <p:cNvSpPr txBox="1"/>
          <p:nvPr/>
        </p:nvSpPr>
        <p:spPr>
          <a:xfrm>
            <a:off x="640080" y="1737360"/>
            <a:ext cx="640080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does 5000 print Buy?</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is the difference between = and ==?</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Set budget to 4999 and run the cell again.</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sp>
        <p:nvSpPr>
          <p:cNvPr id="4" name="Shape 2"/>
          <p:cNvSpPr/>
          <p:nvPr/>
        </p:nvSpPr>
        <p:spPr>
          <a:xfrm>
            <a:off x="7223760" y="1737360"/>
            <a:ext cx="4297680" cy="2221992"/>
          </a:xfrm>
          <a:prstGeom prst="roundRect">
            <a:avLst>
              <a:gd name="adj" fmla="val 3292"/>
            </a:avLst>
          </a:prstGeom>
          <a:solidFill>
            <a:srgbClr val="111111"/>
          </a:solidFill>
          <a:ln/>
        </p:spPr>
      </p:sp>
      <p:sp>
        <p:nvSpPr>
          <p:cNvPr id="5" name="Text 3"/>
          <p:cNvSpPr txBox="1"/>
          <p:nvPr/>
        </p:nvSpPr>
        <p:spPr>
          <a:xfrm>
            <a:off x="7424928" y="1938528"/>
            <a:ext cx="3895344" cy="1819656"/>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budget = 5000</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print(budget &gt;= 5000)</a:t>
            </a:r>
            <a:endParaRPr lang="en-US" sz="1800" dirty="0"/>
          </a:p>
          <a:p>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if</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budget &gt;= 5000:</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print(</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"Buy"</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b="1" dirty="0">
                <a:solidFill>
                  <a:srgbClr val="FFFFFF"/>
                </a:solidFill>
                <a:latin typeface="Courier New" pitchFamily="34" charset="0"/>
                <a:ea typeface="Courier New" pitchFamily="34" charset="-122"/>
                <a:cs typeface="Courier New" pitchFamily="34" charset="-120"/>
              </a:rPr>
              <a:t>else</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    print(</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"Save"</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Four spaces show which lines belong to the if</a:t>
            </a:r>
            <a:endParaRPr lang="en-US" sz="3800" dirty="0"/>
          </a:p>
        </p:txBody>
      </p:sp>
      <p:pic>
        <p:nvPicPr>
          <p:cNvPr id="3" name="Image 0" descr="Four spaces show which lines belong to the if">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Lines pushed in by four spaces belong to the if or else.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unindented line runs every time.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colon ends each if and else line.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and needs both conditions, or needs just one</a:t>
            </a:r>
            <a:endParaRPr lang="en-US" sz="3800" dirty="0"/>
          </a:p>
        </p:txBody>
      </p:sp>
      <p:pic>
        <p:nvPicPr>
          <p:cNvPr id="3" name="Image 0" descr="and needs both conditions, or needs just on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and is True only when both sides are True.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or is True when at least one side is True.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gold row is the sale we are testing.</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Two conditions together</a:t>
            </a:r>
            <a:endParaRPr lang="en-US" sz="3800" dirty="0"/>
          </a:p>
        </p:txBody>
      </p:sp>
      <p:sp>
        <p:nvSpPr>
          <p:cNvPr id="3" name="Shape 1"/>
          <p:cNvSpPr/>
          <p:nvPr/>
        </p:nvSpPr>
        <p:spPr>
          <a:xfrm>
            <a:off x="640080" y="1645920"/>
            <a:ext cx="6035040" cy="4401312"/>
          </a:xfrm>
          <a:prstGeom prst="roundRect">
            <a:avLst>
              <a:gd name="adj" fmla="val 1662"/>
            </a:avLst>
          </a:prstGeom>
          <a:solidFill>
            <a:srgbClr val="111111"/>
          </a:solidFill>
          <a:ln/>
        </p:spPr>
      </p:sp>
      <p:sp>
        <p:nvSpPr>
          <p:cNvPr id="4" name="Text 2"/>
          <p:cNvSpPr txBox="1"/>
          <p:nvPr/>
        </p:nvSpPr>
        <p:spPr>
          <a:xfrm>
            <a:off x="841248" y="1847088"/>
            <a:ext cx="5632704" cy="3998976"/>
          </a:xfrm>
          <a:prstGeom prst="rect">
            <a:avLst/>
          </a:prstGeom>
          <a:noFill/>
          <a:ln/>
        </p:spPr>
        <p:txBody>
          <a:bodyPr wrap="square" lIns="0" tIns="0" rIns="0" bIns="0" rtlCol="0" anchor="t"/>
          <a:lstStyle/>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units = 6</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price = 1000</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large = units &gt;= 5</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expensive = price &gt;= 2000</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print(large </a:t>
            </a:r>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and</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expensive)</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print(large </a:t>
            </a:r>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or</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expensive)</a:t>
            </a:r>
            <a:endParaRPr lang="en-US" sz="2000" dirty="0"/>
          </a:p>
          <a:p>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if</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large </a:t>
            </a:r>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and</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expensive:</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print(</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"Large and expensive"</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a:t>
            </a:r>
            <a:endParaRPr lang="en-US" sz="2000" dirty="0"/>
          </a:p>
          <a:p>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elif</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large:</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print(</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"Large only"</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a:t>
            </a:r>
            <a:endParaRPr lang="en-US" sz="2000" dirty="0"/>
          </a:p>
          <a:p>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else</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print(</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"Small"</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a:t>
            </a:r>
            <a:endParaRPr lang="en-US" sz="20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Predict the answer for 6 units of an item at 1000 shillings, for both rules.</a:t>
            </a:r>
            <a:endParaRPr lang="en-US" sz="2900" dirty="0"/>
          </a:p>
          <a:p>
            <a:pPr algn="l" indent="0" marL="0">
              <a:lnSpc>
                <a:spcPts val="3480"/>
              </a:lnSpc>
              <a:spcAft>
                <a:spcPts val="2160"/>
              </a:spcAft>
              <a:buNone/>
            </a:pPr>
            <a:r>
              <a:rPr lang="en-US" sz="2900" dirty="0">
                <a:solidFill>
                  <a:srgbClr val="111111"/>
                </a:solidFill>
                <a:latin typeface="Lato" pitchFamily="34" charset="0"/>
                <a:ea typeface="Lato" pitchFamily="34" charset="-122"/>
                <a:cs typeface="Lato" pitchFamily="34" charset="-120"/>
              </a:rPr>
              <a:t>Write your guess on paper before we run it.</a:t>
            </a:r>
            <a:endParaRPr lang="en-US" sz="29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Two conditions together</a:t>
            </a:r>
            <a:endParaRPr lang="en-US" sz="3800" dirty="0"/>
          </a:p>
        </p:txBody>
      </p:sp>
      <p:sp>
        <p:nvSpPr>
          <p:cNvPr id="3" name="Shape 1"/>
          <p:cNvSpPr/>
          <p:nvPr/>
        </p:nvSpPr>
        <p:spPr>
          <a:xfrm>
            <a:off x="640080" y="1645920"/>
            <a:ext cx="6035040" cy="1491996"/>
          </a:xfrm>
          <a:prstGeom prst="roundRect">
            <a:avLst>
              <a:gd name="adj" fmla="val 4903"/>
            </a:avLst>
          </a:prstGeom>
          <a:solidFill>
            <a:srgbClr val="FFFFFF"/>
          </a:solidFill>
          <a:ln w="15875">
            <a:solidFill>
              <a:srgbClr val="111111"/>
            </a:solidFill>
            <a:prstDash val="solid"/>
          </a:ln>
        </p:spPr>
      </p:sp>
      <p:sp>
        <p:nvSpPr>
          <p:cNvPr id="4" name="Text 2"/>
          <p:cNvSpPr txBox="1"/>
          <p:nvPr/>
        </p:nvSpPr>
        <p:spPr>
          <a:xfrm>
            <a:off x="822960" y="1828800"/>
            <a:ext cx="5669280" cy="112623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False</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True</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Large only</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cell prints False, then True, then Large only.</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order is large and not expensive, so and gives False and or gives True.</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elif means else if: it tests a second condition when the first is False.</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Two conditions together</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is the answer to large and expensive False?</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Which branch runs for 3 units at 2500 shillings?</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Change the price to 2500 and run the cell again.</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sp>
        <p:nvSpPr>
          <p:cNvPr id="4" name="Shape 2"/>
          <p:cNvSpPr/>
          <p:nvPr/>
        </p:nvSpPr>
        <p:spPr>
          <a:xfrm>
            <a:off x="7223760" y="1737360"/>
            <a:ext cx="4297680" cy="3212592"/>
          </a:xfrm>
          <a:prstGeom prst="roundRect">
            <a:avLst>
              <a:gd name="adj" fmla="val 2277"/>
            </a:avLst>
          </a:prstGeom>
          <a:solidFill>
            <a:srgbClr val="111111"/>
          </a:solidFill>
          <a:ln/>
        </p:spPr>
      </p:sp>
      <p:sp>
        <p:nvSpPr>
          <p:cNvPr id="5" name="Text 3"/>
          <p:cNvSpPr txBox="1"/>
          <p:nvPr/>
        </p:nvSpPr>
        <p:spPr>
          <a:xfrm>
            <a:off x="7424928" y="1938528"/>
            <a:ext cx="3895344" cy="2810256"/>
          </a:xfrm>
          <a:prstGeom prst="rect">
            <a:avLst/>
          </a:prstGeom>
          <a:noFill/>
          <a:ln/>
        </p:spPr>
        <p:txBody>
          <a:bodyPr wrap="square" lIns="0" tIns="0" rIns="0" bIns="0" rtlCol="0" anchor="t"/>
          <a:lstStyle/>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units = 6</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price = 1000</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large = units &gt;= 5</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expensive = price &gt;= 2000</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print(large </a:t>
            </a:r>
            <a:pPr algn="l" indent="0" marL="0">
              <a:lnSpc>
                <a:spcPts val="1820"/>
              </a:lnSpc>
              <a:buNone/>
            </a:pPr>
            <a:r>
              <a:rPr lang="en-US" sz="1400" b="1" dirty="0">
                <a:solidFill>
                  <a:srgbClr val="FFFFFF"/>
                </a:solidFill>
                <a:latin typeface="Courier New" pitchFamily="34" charset="0"/>
                <a:ea typeface="Courier New" pitchFamily="34" charset="-122"/>
                <a:cs typeface="Courier New" pitchFamily="34" charset="-120"/>
              </a:rPr>
              <a:t>and</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expensive)</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print(large </a:t>
            </a:r>
            <a:pPr algn="l" indent="0" marL="0">
              <a:lnSpc>
                <a:spcPts val="1820"/>
              </a:lnSpc>
              <a:buNone/>
            </a:pPr>
            <a:r>
              <a:rPr lang="en-US" sz="1400" b="1" dirty="0">
                <a:solidFill>
                  <a:srgbClr val="FFFFFF"/>
                </a:solidFill>
                <a:latin typeface="Courier New" pitchFamily="34" charset="0"/>
                <a:ea typeface="Courier New" pitchFamily="34" charset="-122"/>
                <a:cs typeface="Courier New" pitchFamily="34" charset="-120"/>
              </a:rPr>
              <a:t>or</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expensive)</a:t>
            </a:r>
            <a:endParaRPr lang="en-US" sz="1400" dirty="0"/>
          </a:p>
          <a:p>
            <a:pPr algn="l" indent="0" marL="0">
              <a:lnSpc>
                <a:spcPts val="1820"/>
              </a:lnSpc>
              <a:buNone/>
            </a:pPr>
            <a:r>
              <a:rPr lang="en-US" sz="1400" b="1" dirty="0">
                <a:solidFill>
                  <a:srgbClr val="FFFFFF"/>
                </a:solidFill>
                <a:latin typeface="Courier New" pitchFamily="34" charset="0"/>
                <a:ea typeface="Courier New" pitchFamily="34" charset="-122"/>
                <a:cs typeface="Courier New" pitchFamily="34" charset="-120"/>
              </a:rPr>
              <a:t>if</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large </a:t>
            </a:r>
            <a:pPr algn="l" indent="0" marL="0">
              <a:lnSpc>
                <a:spcPts val="1820"/>
              </a:lnSpc>
              <a:buNone/>
            </a:pPr>
            <a:r>
              <a:rPr lang="en-US" sz="1400" b="1" dirty="0">
                <a:solidFill>
                  <a:srgbClr val="FFFFFF"/>
                </a:solidFill>
                <a:latin typeface="Courier New" pitchFamily="34" charset="0"/>
                <a:ea typeface="Courier New" pitchFamily="34" charset="-122"/>
                <a:cs typeface="Courier New" pitchFamily="34" charset="-120"/>
              </a:rPr>
              <a:t>and</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expensive:</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print(</a:t>
            </a:r>
            <a:pPr algn="l" indent="0" marL="0">
              <a:lnSpc>
                <a:spcPts val="1820"/>
              </a:lnSpc>
              <a:buNone/>
            </a:pPr>
            <a:r>
              <a:rPr lang="en-US" sz="1400" dirty="0">
                <a:solidFill>
                  <a:srgbClr val="E0BE36"/>
                </a:solidFill>
                <a:latin typeface="Courier New" pitchFamily="34" charset="0"/>
                <a:ea typeface="Courier New" pitchFamily="34" charset="-122"/>
                <a:cs typeface="Courier New" pitchFamily="34" charset="-120"/>
              </a:rPr>
              <a:t>"Large and expensive"</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a:p>
            <a:pPr algn="l" indent="0" marL="0">
              <a:lnSpc>
                <a:spcPts val="1820"/>
              </a:lnSpc>
              <a:buNone/>
            </a:pPr>
            <a:r>
              <a:rPr lang="en-US" sz="1400" b="1" dirty="0">
                <a:solidFill>
                  <a:srgbClr val="FFFFFF"/>
                </a:solidFill>
                <a:latin typeface="Courier New" pitchFamily="34" charset="0"/>
                <a:ea typeface="Courier New" pitchFamily="34" charset="-122"/>
                <a:cs typeface="Courier New" pitchFamily="34" charset="-120"/>
              </a:rPr>
              <a:t>elif</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large:</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print(</a:t>
            </a:r>
            <a:pPr algn="l" indent="0" marL="0">
              <a:lnSpc>
                <a:spcPts val="1820"/>
              </a:lnSpc>
              <a:buNone/>
            </a:pPr>
            <a:r>
              <a:rPr lang="en-US" sz="1400" dirty="0">
                <a:solidFill>
                  <a:srgbClr val="E0BE36"/>
                </a:solidFill>
                <a:latin typeface="Courier New" pitchFamily="34" charset="0"/>
                <a:ea typeface="Courier New" pitchFamily="34" charset="-122"/>
                <a:cs typeface="Courier New" pitchFamily="34" charset="-120"/>
              </a:rPr>
              <a:t>"Large only"</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a:p>
            <a:pPr algn="l" indent="0" marL="0">
              <a:lnSpc>
                <a:spcPts val="1820"/>
              </a:lnSpc>
              <a:buNone/>
            </a:pPr>
            <a:r>
              <a:rPr lang="en-US" sz="1400" b="1" dirty="0">
                <a:solidFill>
                  <a:srgbClr val="FFFFFF"/>
                </a:solidFill>
                <a:latin typeface="Courier New" pitchFamily="34" charset="0"/>
                <a:ea typeface="Courier New" pitchFamily="34" charset="-122"/>
                <a:cs typeface="Courier New" pitchFamily="34" charset="-120"/>
              </a:rPr>
              <a:t>else</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a:p>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    print(</a:t>
            </a:r>
            <a:pPr algn="l" indent="0" marL="0">
              <a:lnSpc>
                <a:spcPts val="1820"/>
              </a:lnSpc>
              <a:buNone/>
            </a:pPr>
            <a:r>
              <a:rPr lang="en-US" sz="1400" dirty="0">
                <a:solidFill>
                  <a:srgbClr val="E0BE36"/>
                </a:solidFill>
                <a:latin typeface="Courier New" pitchFamily="34" charset="0"/>
                <a:ea typeface="Courier New" pitchFamily="34" charset="-122"/>
                <a:cs typeface="Courier New" pitchFamily="34" charset="-120"/>
              </a:rPr>
              <a:t>"Small"</a:t>
            </a:r>
            <a:pPr algn="l" indent="0" marL="0">
              <a:lnSpc>
                <a:spcPts val="1820"/>
              </a:lnSpc>
              <a:buNone/>
            </a:pPr>
            <a:r>
              <a:rPr lang="en-US" sz="1400" dirty="0">
                <a:solidFill>
                  <a:srgbClr val="FFFFFF"/>
                </a:solidFill>
                <a:latin typeface="Courier New" pitchFamily="34" charset="0"/>
                <a:ea typeface="Courier New" pitchFamily="34" charset="-122"/>
                <a:cs typeface="Courier New" pitchFamily="34" charset="-120"/>
              </a:rPr>
              <a:t>)</a:t>
            </a:r>
            <a:endParaRPr lang="en-US" sz="1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An elif adds a second</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question after a False answer</a:t>
            </a:r>
            <a:endParaRPr lang="en-US" sz="3600" dirty="0"/>
          </a:p>
        </p:txBody>
      </p:sp>
      <p:pic>
        <p:nvPicPr>
          <p:cNvPr id="3" name="Image 0" descr="An elif adds a second question after a False answer">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Python asks the questions from the top down.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It stops at the first True answer.</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else catches everything that is left.</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Write a decision for a ticket that costs 5000. Print "Buy" if the budget is at least 5000 and otherwise print "Save". Test 4999, 5000 and 5001.</a:t>
            </a:r>
            <a:endParaRPr lang="en-US" sz="3000" dirty="0"/>
          </a:p>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Save it as DA04. Write two sentences: what you changed and how you checked it.</a:t>
            </a:r>
            <a:endParaRPr lang="en-US" sz="30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IndentationError: expected an indented block</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line under if or else has no spaces in front of it.</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Add four spaces to every line that belongs to the if.</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SyntaxError: invalid syntax at if budget = 5000</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A single = was used where a question needs ==.</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Use == or &gt;= to ask a question. Use = only to store a value.</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A comparison gives True or False, and an if runs its indented lines only when it is True.</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DA04 Conditions and decisions</dc:title>
  <dc:subject>Python for Data Analysis</dc:subject>
  <dc:creator>KLAi</dc:creator>
  <cp:lastModifiedBy>KLAi</cp:lastModifiedBy>
  <cp:revision>1</cp:revision>
  <dcterms:created xsi:type="dcterms:W3CDTF">2026-10-31T12:32:41Z</dcterms:created>
  <dcterms:modified xsi:type="dcterms:W3CDTF">2026-10-31T12:32:41Z</dcterms:modified>
</cp:coreProperties>
</file>