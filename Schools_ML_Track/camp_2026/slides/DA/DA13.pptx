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f096ca-ccd4-d8dd-810c-81213113279b}">
          <p14:sldIdLst>
            <p14:sldId id="256"/>
            <p14:sldId id="257"/>
            <p14:sldId id="258"/>
            <p14:sldId id="259"/>
            <p14:sldId id="260"/>
            <p14:sldId id="261"/>
            <p14:sldId id="262"/>
          </p14:sldIdLst>
        </p14:section>
        <p14:section name="Block A" id="{2b7fba36-aaab-f3fc-c39c-741fc5ce0777}">
          <p14:sldIdLst>
            <p14:sldId id="263"/>
            <p14:sldId id="264"/>
            <p14:sldId id="265"/>
            <p14:sldId id="266"/>
            <p14:sldId id="268"/>
            <p14:sldId id="269"/>
          </p14:sldIdLst>
        </p14:section>
        <p14:section name="Break" id="{880e2fb7-7ca8-c775-f339-7682297228f2}">
          <p14:sldIdLst>
            <p14:sldId id="267"/>
          </p14:sldIdLst>
        </p14:section>
        <p14:section name="Block A" id="{e2c004ca-1965-42b9-da90-a35a31af28c8}">
          <p14:sldIdLst/>
        </p14:section>
        <p14:section name="Block B" id="{565253b1-4620-2b0d-8185-0e60b27de1af}">
          <p14:sldIdLst>
            <p14:sldId id="270"/>
            <p14:sldId id="271"/>
            <p14:sldId id="272"/>
            <p14:sldId id="273"/>
            <p14:sldId id="274"/>
          </p14:sldIdLst>
        </p14:section>
        <p14:section name="Make and close" id="{5388bd13-7e4c-0251-e837-8d390cc6762c}">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13 and our topic is NumPy: the numbers underneath pandas.
By the end of today you will be able to turn a column into a NumPy array, calculate its mean, median, spread and percentiles, and find unusually large values.
We will answer one question: How spread out are the daily customer counts, and which sales are unusually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today. How spread out are the daily customer counts, and which sales are unusually large? Over the sixty days the shops counted on average one hundred and forty three customers, but some days were much quieter and some much busier. And among the sales, a handful are far larger than the rest. To measure spread and spot the outliers we use NumPy, the number tools that pandas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NumPy. The library of fast number tools that pandas is built on. We load it as np. Think of a shop. The calculator inside the register.
array. A row of numbers that NumPy can calculate with all at once. Imagine it like this. A strip of numbers on a ruler.
element-wise. Doing the same calculation to every number in an array at once. An example from everyday life. Adding 100 shillings to every price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percentile. The value below which a given share of the numbers fall. Here is a way to see it. The mark that 75 out of 100 pupils did not beat.
standard deviation. A number for how far values typically sit from their mean. A small example. How far pupils usually stand from the middle of the line.
outlier. A value far from the rest. Picture this. One huge order in a week of small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array is a row of numbers, like a strip of boxes on a ruler. NumPy can act on the whole strip with one instruction. If we add fifty customers to every day in the array, every box rises by fifty. We do not write a loop. NumPy does the work box by box, and it does it fast.
The word for this is element-wise. Each element is changed by the same rule, and you see it in the picture: seven boxes go in, seven changed boxes come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pandas columns are built on top of NumPy arrays, so the two can reach the same answer by different routes. With pandas we name the column and ask for the mean. With NumPy we turn the column into an array and call the NumPy function.
The two numbers should agree. If they differ only in the last decimal places, that is rounding, and it is nothing to worry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shop counted its customers every day for 60 days: 180 counts in all. .to_numpy() turns a column into an array.
Make a prediction. Predict whether the mean or the median of the daily counts is bigger.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array has shape (180,). The mean is 143.0 and the median 131.5, so the mean is bigger. The 25th and 75th percentiles are 86.75 and 203.75: a quarter of the days had fewer than 87 customers and a quarter had more than 204. The range is 332. The last line prints True, because pandas and NumPy give the same mean.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arrays, summaries and percentiles. I have two questions for you.
Question one. Why are the mean and the median different here? Talk it over with your neighbour for a minute.
Let me answer it. Three shops of very different sizes are in the same column. The busy shop pulls the mean up.
Question two. What do the two percentiles tell the owner? Think about it for a moment, then tell the person next to you.
The answer is this. Half of all shop-days fall between 87 and 204 customers. That is the usual range of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Add 50 to every count at once and print the new mean. After you run it, say in one sentence what changed and how you checked.
You should see this. 193.0.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up the daily customer counts from smallest to largest. The twenty fifth percentile is the value that a quarter of the days fall below. For us that is eighty six point seven five customers. The median is the middle, one hundred and thirty one point five. The seventy fifth percentile is two hundred and three point seven five, the value that three quarters of the days fall below.
The gap between the first and third quartile holds the middle half of the days. That gap is a fair measure of the usual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deviation answers a plain question. How far, on a typical day, is the customer count from the mean? The mean is one hundred and forty three. The standard deviation is seventy three point seven, so a typical day is about seventy four customers above or below the mean.
A small standard deviation means the days are all alike. A big one means the days vary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deviation says how far values usually sit from their mean. A common rule marks a value as an outlier when it is more than 1.5 times the gap between the quartiles above the upper quartile.
Time to commit to an answer. Predict how many of the 1513 sales are unusually large by that rule.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quartiles are 1200 and 4500, so the fence is 9450. 137 of the 1513 sales are above it, and the largest is 108000. The standard deviation of the daily customer counts is 73.7. A few large sales sit far out. They are real sales, so we report them and do not delete them.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spread and outliers. I have two questions for you.
Question one. Should we delete the 137 outliers? Think about it for a moment, then tell the person next to you.
The answer is this. No. They are real sales, mostly bulk purchases. We report them and say that they pull the mean up.
Question two. What does a standard deviation of 73.7 customers tell us? Have a go in your head first.
Daily counts typically sit about 74 customers from the mean of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Count the sales with a value above 20000. Then explain to your neighbour what the change did.
The result: A small number that stays unusual.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big is unusually big? We use a fence. Take the third quartile, four thousand five hundred shillings, and add one and a half times the distance between the quartiles. That puts the fence at nine thousand four hundred and fifty shillings. One hundred and thirty seven sales land above it, and the largest is one hundred and eight thousand.
An outlier is a value to look at before you decide anything. Check whether the sale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DA13.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TypeError: 'tuple' object is not callable. It means this: shape is a value you read. It takes no brackets, and brackets try to call it like a function. To fix it, remove the brackets after shape.
The next one. You will see: The mean from NumPy and pandas differ in the last digits. It means this: decimals are stored with tiny rounding differences. To fix it, compare with np.allclose, or round both to the same number of places.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spread out are the daily customer counts, and which sales are unusually large?
Finish this sentence in your notebook, in your own words. NumPy gives me the numbers underneath a column, and an outlier is a real value I report, not one I delete.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DA13  |  NumPy: the numbers underneath pandas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NumPy: the numbers underneath pandas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spread out are the daily customer counts, and which sales are unusually large?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13 of 24  |  Week 5, Explore with NumPy and seaborn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spread out are the daily customer</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counts, and which sales are unusually large?</a:t>
            </a:r>
            <a:endParaRPr lang="en-US" sz="3600" dirty="0"/>
          </a:p>
        </p:txBody>
      </p:sp>
      <p:pic>
        <p:nvPicPr>
          <p:cNvPr id="3" name="Image 0" descr="Dots for each of the 180 daily customer counts, with the mean and the median marked">    </p:cNvPr>
          <p:cNvPicPr>
            <a:picLocks noChangeAspect="1"/>
          </p:cNvPicPr>
          <p:nvPr/>
        </p:nvPicPr>
        <p:blipFill>
          <a:blip r:embed="rId1"/>
          <a:stretch>
            <a:fillRect/>
          </a:stretch>
        </p:blipFill>
        <p:spPr>
          <a:xfrm>
            <a:off x="1843512" y="1691640"/>
            <a:ext cx="8474495"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NumP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NumPy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library of fast number tools that pandas is built on. We load it as np.</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calculator inside the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array">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array</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row of numbers that NumPy can calculate with all at once.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strip of numbers on a ruler.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element-wis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element-wise</a:t>
            </a:r>
            <a:endParaRPr lang="en-US" sz="31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Doing the same calculation to every number in an array at once.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Adding 100 shillings to every price on the board.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percentil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percentile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value below which a given share of the numbers fall.</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mark that 75 out of 100 pupils did not beat.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tandard devia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2880"/>
              </a:lnSpc>
              <a:buNone/>
            </a:pPr>
            <a:r>
              <a:rPr lang="en-US" sz="2400" b="1" dirty="0">
                <a:solidFill>
                  <a:srgbClr val="111111"/>
                </a:solidFill>
                <a:latin typeface="Lato" pitchFamily="34" charset="0"/>
                <a:ea typeface="Lato" pitchFamily="34" charset="-122"/>
                <a:cs typeface="Lato" pitchFamily="34" charset="-120"/>
              </a:rPr>
              <a:t>standard deviation</a:t>
            </a:r>
            <a:endParaRPr lang="en-US" sz="2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for how far values typically sit from their mean.</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far pupils usually stand from the middle of the line.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outlie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outlier</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far from the rest.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huge order in a week of small sales.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NumPy works on a whole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array of numbers at once</a:t>
            </a:r>
            <a:endParaRPr lang="en-US" sz="3600" dirty="0"/>
          </a:p>
        </p:txBody>
      </p:sp>
      <p:pic>
        <p:nvPicPr>
          <p:cNvPr id="3" name="Image 0" descr="NumPy works on a whole array of numbers at onc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box holds one number.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instruction acts on every box.</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Every element changes by the same rule.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NumPy and pandas reach</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the same answer two ways</a:t>
            </a:r>
            <a:endParaRPr lang="en-US" sz="3600" dirty="0"/>
          </a:p>
        </p:txBody>
      </p:sp>
      <p:pic>
        <p:nvPicPr>
          <p:cNvPr id="3" name="Image 0" descr="NumPy and pandas reach the same answer two way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pandas works on named columns.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NumPy works on bare arrays.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Both must agree on the mean and the median.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Arrays, summaries and percentiles</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numpy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np</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pandas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daily = pd.read_csv(</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"sunrise_daily_summary.csv"</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customers = daily[</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"customers_counted"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].to_numpy()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print(customers.shape)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print(round(np.mean(customers), 1), np.median(customers))</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print(np.percentile(customers, [25, 75]))</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print(customers.max() - customers.min())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print(np.mean(customers) == daily[</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"customers_counted"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].mean())</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Predict whether the mean or the median of the daily counts is bigger.</a:t>
            </a:r>
            <a:endParaRPr lang="en-US" sz="1900" dirty="0"/>
          </a:p>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Write your guess on paper before we run it.</a:t>
            </a:r>
            <a:endParaRPr lang="en-US" sz="19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Arrays, summaries and percentiles</a:t>
            </a:r>
            <a:endParaRPr lang="en-US" sz="3800" dirty="0"/>
          </a:p>
        </p:txBody>
      </p:sp>
      <p:sp>
        <p:nvSpPr>
          <p:cNvPr id="3" name="Shape 1"/>
          <p:cNvSpPr/>
          <p:nvPr/>
        </p:nvSpPr>
        <p:spPr>
          <a:xfrm>
            <a:off x="640080" y="1645920"/>
            <a:ext cx="6035040" cy="2218436"/>
          </a:xfrm>
          <a:prstGeom prst="roundRect">
            <a:avLst>
              <a:gd name="adj" fmla="val 3297"/>
            </a:avLst>
          </a:prstGeom>
          <a:solidFill>
            <a:srgbClr val="FFFFFF"/>
          </a:solidFill>
          <a:ln w="15875">
            <a:solidFill>
              <a:srgbClr val="111111"/>
            </a:solidFill>
            <a:prstDash val="solid"/>
          </a:ln>
        </p:spPr>
      </p:sp>
      <p:sp>
        <p:nvSpPr>
          <p:cNvPr id="4" name="Text 2"/>
          <p:cNvSpPr txBox="1"/>
          <p:nvPr/>
        </p:nvSpPr>
        <p:spPr>
          <a:xfrm>
            <a:off x="822960" y="1828800"/>
            <a:ext cx="5669280" cy="185267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(180,)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143.0 131.5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[ 86.75 203.75]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332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True</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array has shape (180,).</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mean is 143.0 and the median 131.5, so the mean is bigger.</a:t>
            </a:r>
            <a:endParaRPr lang="en-US" sz="2500" dirty="0"/>
          </a:p>
          <a:p>
            <a:pPr algn="l" indent="0" marL="0">
              <a:lnSpc>
                <a:spcPts val="3000"/>
              </a:lnSpc>
              <a:spcAft>
                <a:spcPts val="1580"/>
              </a:spcAft>
              <a:buNone/>
            </a:pPr>
            <a:r>
              <a:rPr lang="en-US" sz="2500" dirty="0">
                <a:solidFill>
                  <a:srgbClr val="111111"/>
                </a:solidFill>
                <a:latin typeface="Lato" pitchFamily="34" charset="0"/>
                <a:ea typeface="Lato" pitchFamily="34" charset="-122"/>
                <a:cs typeface="Lato" pitchFamily="34" charset="-120"/>
              </a:rPr>
              <a:t>The 25th and 75th percentiles are 86.75 and 203.75: a quarter of the days had fewer than 87 customers and a quarter had more than 204.</a:t>
            </a:r>
            <a:endParaRPr lang="en-US" sz="25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Arrays, summaries and percentiles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are the mean and the median different here?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 the two percentiles tell the owner?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50 to every count at once and print the new mean.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Percentiles split the sorted values into parts</a:t>
            </a:r>
            <a:endParaRPr lang="en-US" sz="3800" dirty="0"/>
          </a:p>
        </p:txBody>
      </p:sp>
      <p:pic>
        <p:nvPicPr>
          <p:cNvPr id="3" name="Image 0" descr="Percentiles split the sorted values into parts">    </p:cNvPr>
          <p:cNvPicPr>
            <a:picLocks noChangeAspect="1"/>
          </p:cNvPicPr>
          <p:nvPr/>
        </p:nvPicPr>
        <p:blipFill>
          <a:blip r:embed="rId1"/>
          <a:stretch>
            <a:fillRect/>
          </a:stretch>
        </p:blipFill>
        <p:spPr>
          <a:xfrm>
            <a:off x="1565883" y="1554480"/>
            <a:ext cx="9029753"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For customers, the quartiles are 86.75 and 203.75 and the median is 131.5.</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Standard deviation is the typical gap to the mean</a:t>
            </a:r>
            <a:endParaRPr lang="en-US" sz="3700" dirty="0"/>
          </a:p>
        </p:txBody>
      </p:sp>
      <p:pic>
        <p:nvPicPr>
          <p:cNvPr id="3" name="Image 0" descr="Standard deviation is the typical gap to the mean">    </p:cNvPr>
          <p:cNvPicPr>
            <a:picLocks noChangeAspect="1"/>
          </p:cNvPicPr>
          <p:nvPr/>
        </p:nvPicPr>
        <p:blipFill>
          <a:blip r:embed="rId1"/>
          <a:stretch>
            <a:fillRect/>
          </a:stretch>
        </p:blipFill>
        <p:spPr>
          <a:xfrm>
            <a:off x="1269883" y="1600200"/>
            <a:ext cx="5781273"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day sits some distance from the mean.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standard deviation is the typical size of that distance.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For customers it is 73.7.</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Spread and outliers</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sunrise = pd.read_csv(</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"sunrise_sales.csv"</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values = (</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"units"</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 sunrise[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"unit_price_ugx"</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).to_numpy()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q1, q3 = np.percentile(values, [25, 75])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fence = q3 + 1.5 * (q3 - q1)</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big = values[values &gt; fence]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print(q1, q3, fence)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print(len(big), big.max())</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print(round(np.std(customers), 1))</a:t>
            </a:r>
            <a:endParaRPr lang="en-US" sz="18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how many of the 1513 sales are unusually large by that rule.</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Spread and outliers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1200.0 4500.0 9450.0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137 108000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73.7</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quartiles are 1200 and 4500, so the fence is 9450.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137 of the 1513 sales are above it, and the largest is 108000.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standard deviation of the daily customer counts is 73.7.</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 few large sales sit far out.</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Spread and outliers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Should we delete the 137 outliers?</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a standard deviation of 73.7 customers tell us?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Count the sales with a value above 20000.</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4137152"/>
          </a:xfrm>
          <a:prstGeom prst="roundRect">
            <a:avLst>
              <a:gd name="adj" fmla="val 1768"/>
            </a:avLst>
          </a:prstGeom>
          <a:solidFill>
            <a:srgbClr val="111111"/>
          </a:solidFill>
          <a:ln/>
        </p:spPr>
      </p:sp>
      <p:sp>
        <p:nvSpPr>
          <p:cNvPr id="5" name="Text 3"/>
          <p:cNvSpPr txBox="1"/>
          <p:nvPr/>
        </p:nvSpPr>
        <p:spPr>
          <a:xfrm>
            <a:off x="7424928" y="1938528"/>
            <a:ext cx="3895344" cy="3734816"/>
          </a:xfrm>
          <a:prstGeom prst="rect">
            <a:avLst/>
          </a:prstGeom>
          <a:noFill/>
          <a:ln/>
        </p:spPr>
        <p:txBody>
          <a:bodyPr wrap="square" lIns="0" tIns="0" rIns="0" bIns="0" rtlCol="0" anchor="t"/>
          <a:lstStyle/>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sunrise = pd.read_csv(</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"sunrise_sales.csv"</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values =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sunrise[</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"units"</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 sunrise[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"unit_price_ugx"</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).to_numpy()</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q1, q3 = np.percentile(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values, [25, 75]</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fence = q3 + 1.5 * (q3 - q1)</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big = values[values &gt; fence]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print(q1, q3, fence)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print(len(big), big.max())</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print(round(np.std(customers), 1))</a:t>
            </a:r>
            <a:endParaRPr lang="en-US" sz="1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fence at 9,450 flags 137 unusually large sales</a:t>
            </a:r>
            <a:endParaRPr lang="en-US" sz="3800" dirty="0"/>
          </a:p>
        </p:txBody>
      </p:sp>
      <p:pic>
        <p:nvPicPr>
          <p:cNvPr id="3" name="Image 0" descr="A fence at 9,450 flags 137 unusually large sales">    </p:cNvPr>
          <p:cNvPicPr>
            <a:picLocks noChangeAspect="1"/>
          </p:cNvPicPr>
          <p:nvPr/>
        </p:nvPicPr>
        <p:blipFill>
          <a:blip r:embed="rId1"/>
          <a:stretch>
            <a:fillRect/>
          </a:stretch>
        </p:blipFill>
        <p:spPr>
          <a:xfrm>
            <a:off x="1148400" y="1554480"/>
            <a:ext cx="9864719"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Fence: the third quartile plus one and a half times the quartile gap.</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Take the revenue_ugx column of the daily summary as a NumPy array. Find its mean, median and the 25th and 75th percentiles with NumPy. Then find the same four numbers with pandas and check that the two routes agree.</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DA13.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TypeError: 'tuple' object is not callable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shape is a value you read. It takes no brackets, and brackets try to call it like a function.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Remove the brackets after shape.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mean from NumPy and pandas differ in the last digits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Decimals are stored with tiny rounding differences.</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Compare with np.allclose, or round both to the same number of places.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680"/>
              </a:lnSpc>
              <a:spcAft>
                <a:spcPts val="1010"/>
              </a:spcAft>
              <a:buNone/>
            </a:pPr>
            <a:r>
              <a:rPr lang="en-US" sz="3900" dirty="0">
                <a:solidFill>
                  <a:srgbClr val="111111"/>
                </a:solidFill>
                <a:latin typeface="Lato" pitchFamily="34" charset="0"/>
                <a:ea typeface="Lato" pitchFamily="34" charset="-122"/>
                <a:cs typeface="Lato" pitchFamily="34" charset="-120"/>
              </a:rPr>
              <a:t>NumPy gives me the numbers underneath a column, and an outlier is a real value I report, not one I delete.</a:t>
            </a:r>
            <a:endParaRPr lang="en-US" sz="39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DA13 NumPy: the numbers underneath pandas</dc:title>
  <dc:subject>Python for Data Analysis</dc:subject>
  <dc:creator>KLAi</dc:creator>
  <cp:lastModifiedBy>KLAi</cp:lastModifiedBy>
  <cp:revision>1</cp:revision>
  <dcterms:created xsi:type="dcterms:W3CDTF">2026-10-31T12:26:20Z</dcterms:created>
  <dcterms:modified xsi:type="dcterms:W3CDTF">2026-10-31T12:26:20Z</dcterms:modified>
</cp:coreProperties>
</file>