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099a66-a311-a27b-a523-e4ec1e945a99}">
          <p14:sldIdLst>
            <p14:sldId id="256"/>
            <p14:sldId id="257"/>
            <p14:sldId id="258"/>
            <p14:sldId id="259"/>
            <p14:sldId id="260"/>
            <p14:sldId id="261"/>
            <p14:sldId id="262"/>
          </p14:sldIdLst>
        </p14:section>
        <p14:section name="Block A" id="{15d2afa7-dd37-f27d-1d43-e4d53a920dfe}">
          <p14:sldIdLst>
            <p14:sldId id="263"/>
            <p14:sldId id="264"/>
            <p14:sldId id="265"/>
            <p14:sldId id="266"/>
            <p14:sldId id="268"/>
            <p14:sldId id="269"/>
          </p14:sldIdLst>
        </p14:section>
        <p14:section name="Break" id="{a305d6c9-8455-6ba7-319b-9ee9b5d7e829}">
          <p14:sldIdLst>
            <p14:sldId id="267"/>
          </p14:sldIdLst>
        </p14:section>
        <p14:section name="Block A" id="{6f56a75e-e268-49bf-ad11-82ac7e8e5eba}">
          <p14:sldIdLst/>
        </p14:section>
        <p14:section name="Block B" id="{fe995b7a-c66f-2f54-4f7a-43bf9538b092}">
          <p14:sldIdLst>
            <p14:sldId id="270"/>
            <p14:sldId id="271"/>
            <p14:sldId id="272"/>
            <p14:sldId id="273"/>
            <p14:sldId id="274"/>
          </p14:sldIdLst>
        </p14:section>
        <p14:section name="Make and close" id="{9f451665-ba5a-886a-1da6-fa1ed73b6bed}">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3 and our topic is arithmetic, revenue and reading errors.
By the end of today you will be able to calculate revenue for a sale, check it by hand, and read an error message to find the line to fix.
We will answer one question: How much money did the first three sales bring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first three sales in the shop table. A book, a pen and a bottle of juice. Revenue for each sale is the number of units times the price of one unit. You can work these out on paper in under a minute. Today we teach Python to do the same sums, and then we check that its answers agree with our paper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operator. A symbol that calculates: + - * / and **. Picture this. The buttons on a calculator.
expression. A calculation Python can work out, such as 3 * 2000. You have seen this before. One line of working in a maths exercise.
order of operations. Brackets first, then powers, then multiply and divide, then add and subtract. The rule that makes 2 + 3 * 4 equal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comment. A note for people that starts with # and is ignored by Python. Think of a shop. A pencil note in the margin.
error message. Python explaining why it stopped. Read the last line first. Imagine it like this. A teacher's comment on what went wrong.
line number. The place in the cell where Python found the problem. An example from everyday life. The page and line in a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uses the same four sums you know from school, but two of the symbols look different. Plus and minus are the same. Multiplication is written with a star, because a cross would be confused with the letter x. Division is written with a slash.
Look at the last column. Every answer is worked out by Python the moment the cell runs. Which answer has a decimal point, and why do you think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numbers can give two different answers. On the left there are no brackets, so Python multiplies three times four first and then adds two. The answer is fourteen. On the right the brackets force the addition to happen first. Five times four gives twenty.
When you write a long sum in your notebook, use brackets to say exactly what you mean. Then check the answer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units times unit price. The first three sales in the shop table are 1 Book at 3000, 2 Pens at 1000 and 4 Juice at 2000.
Your turn to guess. Predict the three revenues and their total, using paper.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3000 2000 8000, then 13000, then 14 and 20. Multiplication happens before addition. Brackets change the order.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revenue by hand and by Python. I have two questions for you.
Question one. Why does 2 + 3 * 4 give 14 and not 20? Give it thirty seconds and then we will hear a few answers.
Python multiplies first, so it works out 3 * 4 = 12 and then adds 2. Brackets are needed to add first.
Question two. Why do we say revenue and not profit? Talk it over with your neighbour for a minute.
Here is how I would answer it. Revenue is the money received. Profit would need the cost of the stock, which the table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Change the Pen to 5 units and find the new total. Then explain to your neighbour what the change did.
The result: 16000.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Errors are not a sign that you are bad at this. They are Python telling you what it could not do. An error message has a clear shape. At the top is a long heading that you can ignore for now. Near the middle is the line number and the instruction that failed. At the bottom is the part that matters most, the name of the error and a few words about what went wrong.
Always read the bottom line first. What is the name of the error in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error you will see most often. NameError says that Python has never been told what units means. Either you never ran the cell that creates it, or you spelled it a little differently, perhaps with a capital letter.
Python is strict about spelling. Units with a capital U is a different name from units. Can you think of two quick things to check when you see this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error is feedback about an instruction. It is not a judgement about you.
Now your guess. Predict the name of each error before you run the lines.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first line stops with ZeroDivisionError: division by zero, because no number answers 10 divided by 0. The second stops with NameError: name 'units' is not defined, because Python has not met a line that creates units. In both cases the last line of the message says what went wrong.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reading an error message. I have two questions for you.
Question one. Which line of the message do you read first, and why? Talk it over with your neighbour for a minute.
Here is how I would answer it. The last one. It names the error and says what happened.
Question two. How do you fix a NameError? Think about it for a moment, then tell the person next to you.
What I would say is this. Run the cell that creates the name, or correct its spelling and capital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Fix the NameError by creating units = 4 first and then printing units * 2000. When you have run it, tell your neighbour what changed and how you know.
Here is what happens. 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ten coins are shared among five people and everyone gets two. On the right, ten coins are shared among nobody. Who gets the coins? There is no answer, so there is nothing for Python to calculate.
That is why Python stops with a ZeroDivisionError instead of guessing. In the practice task you explain this in your own words, so think of your own picture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DA03.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ZeroDivisionError: division by zero. It means this: you divided by zero, which has no answer. To fix it, check the number you divide by. Change it or guard against zero in a later session.
The next one. You will see: NameError: name 'units' is not defined. It means this: the name was never created in this session or is spelled differently. To fix it, Run the cell that creates it and compare the spelling letter by letter.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How much money did the first three sales bring in?
Copy this sentence into your notebook and make it yours. I read the last line of an error first, find its line number, and fix one thing at a time.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DA03  |  Arithmetic, revenue and reading errors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Arithmetic, revenue and reading errors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much money did the first three sales bring in?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3 of 24  |  Week 1, Meet the data</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much money did the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first three sales bring in?</a:t>
            </a:r>
            <a:endParaRPr lang="en-US" sz="3600" dirty="0"/>
          </a:p>
        </p:txBody>
      </p:sp>
      <p:pic>
        <p:nvPicPr>
          <p:cNvPr id="3" name="Image 0" descr="Three sales with their revenue worked out and added to 13,000 shilling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operator">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operator</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symbol that calculates: + - * / and **.</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buttons on a calculator.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sp>
        <p:nvSpPr>
          <p:cNvPr id="8"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expression</a:t>
            </a:r>
            <a:endParaRPr lang="en-US" sz="3400" dirty="0"/>
          </a:p>
        </p:txBody>
      </p:sp>
      <p:sp>
        <p:nvSpPr>
          <p:cNvPr id="9"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calculation Python can work out, such as 3 * 2000.</a:t>
            </a:r>
            <a:endParaRPr lang="en-US" sz="2200" dirty="0"/>
          </a:p>
        </p:txBody>
      </p:sp>
      <p:sp>
        <p:nvSpPr>
          <p:cNvPr id="10"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line of working in a maths exercise.</a:t>
            </a:r>
            <a:endParaRPr lang="en-US" sz="1900" dirty="0"/>
          </a:p>
        </p:txBody>
      </p:sp>
      <p:sp>
        <p:nvSpPr>
          <p:cNvPr id="11" name="Shape 8"/>
          <p:cNvSpPr/>
          <p:nvPr/>
        </p:nvSpPr>
        <p:spPr>
          <a:xfrm>
            <a:off x="640080" y="4617720"/>
            <a:ext cx="10881360" cy="0"/>
          </a:xfrm>
          <a:prstGeom prst="line">
            <a:avLst/>
          </a:prstGeom>
          <a:noFill/>
          <a:ln w="12700">
            <a:solidFill>
              <a:srgbClr val="CFCFCF"/>
            </a:solidFill>
            <a:prstDash val="solid"/>
          </a:ln>
        </p:spPr>
      </p:sp>
      <p:sp>
        <p:nvSpPr>
          <p:cNvPr id="12"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order of operations</a:t>
            </a:r>
            <a:endParaRPr lang="en-US" sz="2400" dirty="0"/>
          </a:p>
        </p:txBody>
      </p:sp>
      <p:sp>
        <p:nvSpPr>
          <p:cNvPr id="13"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Brackets first, then powers, then multiply and divide, then add and subtract.</a:t>
            </a:r>
            <a:endParaRPr lang="en-US" sz="2200" dirty="0"/>
          </a:p>
        </p:txBody>
      </p:sp>
      <p:sp>
        <p:nvSpPr>
          <p:cNvPr id="14"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rule that makes 2 + 3 * 4 equal 14.</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commen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comment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note for people that starts with # and is ignored by Python.</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pencil note in the margin.</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error messag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error message</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Python explaining why it stopped. Read the last line first.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teacher's comment on what went wrong.</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ine numbe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line number</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place in the cell where Python found the problem.</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page and line in a book.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Four symbols do the arithmetic</a:t>
            </a:r>
            <a:endParaRPr lang="en-US" sz="3800" dirty="0"/>
          </a:p>
        </p:txBody>
      </p:sp>
      <p:pic>
        <p:nvPicPr>
          <p:cNvPr id="3" name="Image 0" descr="Four symbols do the arithmetic">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Plus adds and minus subtracts.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star multiplies.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slash divides.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Multiplication goes before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addition, brackets go first</a:t>
            </a:r>
            <a:endParaRPr lang="en-US" sz="3600" dirty="0"/>
          </a:p>
        </p:txBody>
      </p:sp>
      <p:pic>
        <p:nvPicPr>
          <p:cNvPr id="3" name="Image 0" descr="Multiplication goes before addition, brackets go fir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multiplies and divides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Brackets always go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by hand before you trust a long sum.</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Revenue by hand and by Python</a:t>
            </a:r>
            <a:endParaRPr lang="en-US" sz="3800" dirty="0"/>
          </a:p>
        </p:txBody>
      </p:sp>
      <p:sp>
        <p:nvSpPr>
          <p:cNvPr id="3" name="Shape 1"/>
          <p:cNvSpPr/>
          <p:nvPr/>
        </p:nvSpPr>
        <p:spPr>
          <a:xfrm>
            <a:off x="640080" y="1645920"/>
            <a:ext cx="6035040" cy="3707892"/>
          </a:xfrm>
          <a:prstGeom prst="roundRect">
            <a:avLst>
              <a:gd name="adj" fmla="val 1973"/>
            </a:avLst>
          </a:prstGeom>
          <a:solidFill>
            <a:srgbClr val="111111"/>
          </a:solidFill>
          <a:ln/>
        </p:spPr>
      </p:sp>
      <p:sp>
        <p:nvSpPr>
          <p:cNvPr id="4" name="Text 2"/>
          <p:cNvSpPr txBox="1"/>
          <p:nvPr/>
        </p:nvSpPr>
        <p:spPr>
          <a:xfrm>
            <a:off x="841248" y="1847088"/>
            <a:ext cx="5632704" cy="3305556"/>
          </a:xfrm>
          <a:prstGeom prst="rect">
            <a:avLst/>
          </a:prstGeom>
          <a:noFill/>
          <a:ln/>
        </p:spPr>
        <p:txBody>
          <a:bodyPr wrap="square" lIns="0" tIns="0" rIns="0" bIns="0" rtlCol="0" anchor="t"/>
          <a:lstStyle/>
          <a:p>
            <a:pPr algn="l" indent="0" marL="0">
              <a:lnSpc>
                <a:spcPts val="2860"/>
              </a:lnSpc>
              <a:buNone/>
            </a:pPr>
            <a:r>
              <a:rPr lang="en-US" sz="2200" i="1" dirty="0">
                <a:solidFill>
                  <a:srgbClr val="9A9A9A"/>
                </a:solidFill>
                <a:latin typeface="Courier New" pitchFamily="34" charset="0"/>
                <a:ea typeface="Courier New" pitchFamily="34" charset="-122"/>
                <a:cs typeface="Courier New" pitchFamily="34" charset="-120"/>
              </a:rPr>
              <a:t># revenue = units *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book = 1 * 3000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pen = 2 * 1000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juice = 4 * 2000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book + pen + juice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print(book, pen, juice)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print(2 + 3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print((2 + 3) * 4)</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three revenues and their total, using paper.</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Revenue by hand and by Python</a:t>
            </a:r>
            <a:endParaRPr lang="en-US" sz="3800" dirty="0"/>
          </a:p>
        </p:txBody>
      </p:sp>
      <p:sp>
        <p:nvSpPr>
          <p:cNvPr id="3" name="Shape 1"/>
          <p:cNvSpPr/>
          <p:nvPr/>
        </p:nvSpPr>
        <p:spPr>
          <a:xfrm>
            <a:off x="640080" y="1645920"/>
            <a:ext cx="6035040" cy="1855216"/>
          </a:xfrm>
          <a:prstGeom prst="roundRect">
            <a:avLst>
              <a:gd name="adj" fmla="val 3943"/>
            </a:avLst>
          </a:prstGeom>
          <a:solidFill>
            <a:srgbClr val="FFFFFF"/>
          </a:solidFill>
          <a:ln w="15875">
            <a:solidFill>
              <a:srgbClr val="111111"/>
            </a:solidFill>
            <a:prstDash val="solid"/>
          </a:ln>
        </p:spPr>
      </p:sp>
      <p:sp>
        <p:nvSpPr>
          <p:cNvPr id="4" name="Text 2"/>
          <p:cNvSpPr txBox="1"/>
          <p:nvPr/>
        </p:nvSpPr>
        <p:spPr>
          <a:xfrm>
            <a:off x="822960" y="1828800"/>
            <a:ext cx="5669280" cy="148945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3000 2000 8000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13000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14</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3000 2000 8000, then 13000, then 14 and 20.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Multiplication happens before addition.</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Brackets change the order.</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Revenue by hand and by Python</a:t>
            </a:r>
            <a:endParaRPr lang="en-US" sz="3800" dirty="0"/>
          </a:p>
        </p:txBody>
      </p:sp>
      <p:sp>
        <p:nvSpPr>
          <p:cNvPr id="3" name="Shape 1"/>
          <p:cNvSpPr/>
          <p:nvPr/>
        </p:nvSpPr>
        <p:spPr>
          <a:xfrm>
            <a:off x="7498080" y="1737360"/>
            <a:ext cx="4023360" cy="2964942"/>
          </a:xfrm>
          <a:prstGeom prst="roundRect">
            <a:avLst>
              <a:gd name="adj" fmla="val 2467"/>
            </a:avLst>
          </a:prstGeom>
          <a:solidFill>
            <a:srgbClr val="111111"/>
          </a:solidFill>
          <a:ln/>
        </p:spPr>
      </p:sp>
      <p:sp>
        <p:nvSpPr>
          <p:cNvPr id="4" name="Text 2"/>
          <p:cNvSpPr txBox="1"/>
          <p:nvPr/>
        </p:nvSpPr>
        <p:spPr>
          <a:xfrm>
            <a:off x="7699248" y="1938528"/>
            <a:ext cx="3621024" cy="2562606"/>
          </a:xfrm>
          <a:prstGeom prst="rect">
            <a:avLst/>
          </a:prstGeom>
          <a:noFill/>
          <a:ln/>
        </p:spPr>
        <p:txBody>
          <a:bodyPr wrap="square" lIns="0" tIns="0" rIns="0" bIns="0" rtlCol="0" anchor="t"/>
          <a:lstStyle/>
          <a:p>
            <a:pPr algn="l" indent="0" marL="0">
              <a:lnSpc>
                <a:spcPts val="2210"/>
              </a:lnSpc>
              <a:buNone/>
            </a:pPr>
            <a:r>
              <a:rPr lang="en-US" sz="1700" i="1" dirty="0">
                <a:solidFill>
                  <a:srgbClr val="9A9A9A"/>
                </a:solidFill>
                <a:latin typeface="Courier New" pitchFamily="34" charset="0"/>
                <a:ea typeface="Courier New" pitchFamily="34" charset="-122"/>
                <a:cs typeface="Courier New" pitchFamily="34" charset="-120"/>
              </a:rPr>
              <a:t># revenue = units * price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book = 1 * 3000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pen = 2 * 1000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juice = 4 * 2000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total = book + pen + juice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print(book, pen, juice)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print(total)</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print(2 + 3 * 4)</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print((2 + 3) * 4)</a:t>
            </a:r>
            <a:endParaRPr lang="en-US" sz="17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2 + 3 * 4 give 14 and not 20?</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 we say revenue and not profit?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Pen to 5 units and find the new total.</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3113532"/>
          </a:xfrm>
          <a:prstGeom prst="roundRect">
            <a:avLst>
              <a:gd name="adj" fmla="val 2349"/>
            </a:avLst>
          </a:prstGeom>
          <a:solidFill>
            <a:srgbClr val="111111"/>
          </a:solidFill>
          <a:ln/>
        </p:spPr>
      </p:sp>
      <p:sp>
        <p:nvSpPr>
          <p:cNvPr id="5" name="Text 3"/>
          <p:cNvSpPr txBox="1"/>
          <p:nvPr/>
        </p:nvSpPr>
        <p:spPr>
          <a:xfrm>
            <a:off x="7424928" y="1938528"/>
            <a:ext cx="3895344" cy="2711196"/>
          </a:xfrm>
          <a:prstGeom prst="rect">
            <a:avLst/>
          </a:prstGeom>
          <a:noFill/>
          <a:ln/>
        </p:spPr>
        <p:txBody>
          <a:bodyPr wrap="square" lIns="0" tIns="0" rIns="0" bIns="0" rtlCol="0" anchor="t"/>
          <a:lstStyle/>
          <a:p>
            <a:pPr algn="l" indent="0" marL="0">
              <a:lnSpc>
                <a:spcPts val="2340"/>
              </a:lnSpc>
              <a:buNone/>
            </a:pPr>
            <a:r>
              <a:rPr lang="en-US" sz="1800" i="1" dirty="0">
                <a:solidFill>
                  <a:srgbClr val="9A9A9A"/>
                </a:solidFill>
                <a:latin typeface="Courier New" pitchFamily="34" charset="0"/>
                <a:ea typeface="Courier New" pitchFamily="34" charset="-122"/>
                <a:cs typeface="Courier New" pitchFamily="34" charset="-120"/>
              </a:rPr>
              <a:t># revenue = units * 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book = 1 * 3000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pen = 2 * 1000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juice = 4 * 2000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book + pen + juice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print(book, pen, juice)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print(2 + 3 * 4)</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print((2 + 3) * 4)</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last line of an error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message names the problem</a:t>
            </a:r>
            <a:endParaRPr lang="en-US" sz="3600" dirty="0"/>
          </a:p>
        </p:txBody>
      </p:sp>
      <p:pic>
        <p:nvPicPr>
          <p:cNvPr id="3" name="Image 0" descr="The last line of an error message names the problem">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Read the last line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 names the error and says what happened.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number tells you where to look.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NameError means Python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has never met that name</a:t>
            </a:r>
            <a:endParaRPr lang="en-US" sz="3600" dirty="0"/>
          </a:p>
        </p:txBody>
      </p:sp>
      <p:pic>
        <p:nvPicPr>
          <p:cNvPr id="3" name="Image 0" descr="A NameError means Python has never met that na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name was spelled differently, or never created.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the cell that creates it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capital letters and spelling.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Reading an error message</a:t>
            </a:r>
            <a:endParaRPr lang="en-US" sz="3800" dirty="0"/>
          </a:p>
        </p:txBody>
      </p:sp>
      <p:sp>
        <p:nvSpPr>
          <p:cNvPr id="3" name="Shape 1"/>
          <p:cNvSpPr/>
          <p:nvPr/>
        </p:nvSpPr>
        <p:spPr>
          <a:xfrm>
            <a:off x="640080" y="1645920"/>
            <a:ext cx="6035040" cy="1165352"/>
          </a:xfrm>
          <a:prstGeom prst="roundRect">
            <a:avLst>
              <a:gd name="adj" fmla="val 6277"/>
            </a:avLst>
          </a:prstGeom>
          <a:solidFill>
            <a:srgbClr val="111111"/>
          </a:solidFill>
          <a:ln/>
        </p:spPr>
      </p:sp>
      <p:sp>
        <p:nvSpPr>
          <p:cNvPr id="4" name="Text 2"/>
          <p:cNvSpPr txBox="1"/>
          <p:nvPr/>
        </p:nvSpPr>
        <p:spPr>
          <a:xfrm>
            <a:off x="841248" y="1847088"/>
            <a:ext cx="5632704" cy="7630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print(10 / 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print(units)</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name of each error before you run the lines.</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Reading an error message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first line stops with ZeroDivisionError: division by zero, because no number answers 10 divided by 0.</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second stops with NameError: name 'units' is not defined, because Python has not met a line that creates units.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Reading an error message</a:t>
            </a:r>
            <a:endParaRPr lang="en-US" sz="3800" dirty="0"/>
          </a:p>
        </p:txBody>
      </p:sp>
      <p:sp>
        <p:nvSpPr>
          <p:cNvPr id="3" name="Shape 1"/>
          <p:cNvSpPr/>
          <p:nvPr/>
        </p:nvSpPr>
        <p:spPr>
          <a:xfrm>
            <a:off x="7498080" y="1737360"/>
            <a:ext cx="4023360" cy="1033272"/>
          </a:xfrm>
          <a:prstGeom prst="roundRect">
            <a:avLst>
              <a:gd name="adj" fmla="val 7080"/>
            </a:avLst>
          </a:prstGeom>
          <a:solidFill>
            <a:srgbClr val="111111"/>
          </a:solidFill>
          <a:ln/>
        </p:spPr>
      </p:sp>
      <p:sp>
        <p:nvSpPr>
          <p:cNvPr id="4" name="Text 2"/>
          <p:cNvSpPr txBox="1"/>
          <p:nvPr/>
        </p:nvSpPr>
        <p:spPr>
          <a:xfrm>
            <a:off x="7699248" y="1938528"/>
            <a:ext cx="362102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print(10 / 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print(units)</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line of the message do you read first, and why?</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do you fix a NameError?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Fix the NameError by creating units = 4 first and then printing units * 2000.</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033272"/>
          </a:xfrm>
          <a:prstGeom prst="roundRect">
            <a:avLst>
              <a:gd name="adj" fmla="val 7080"/>
            </a:avLst>
          </a:prstGeom>
          <a:solidFill>
            <a:srgbClr val="111111"/>
          </a:solidFill>
          <a:ln/>
        </p:spPr>
      </p:sp>
      <p:sp>
        <p:nvSpPr>
          <p:cNvPr id="5" name="Text 3"/>
          <p:cNvSpPr txBox="1"/>
          <p:nvPr/>
        </p:nvSpPr>
        <p:spPr>
          <a:xfrm>
            <a:off x="7424928" y="1938528"/>
            <a:ext cx="389534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print(10 / 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print(units)</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Nothing can be shared among zero people</a:t>
            </a:r>
            <a:endParaRPr lang="en-US" sz="3800" dirty="0"/>
          </a:p>
        </p:txBody>
      </p:sp>
      <p:pic>
        <p:nvPicPr>
          <p:cNvPr id="3" name="Image 0" descr="Nothing can be shared among zero peop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Ten coins among five people gives two each.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Ten coins among nobody has no answer.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stops with a ZeroDivisionError.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Convert the text "12.5" to a number and calculate the price of four items at that price. Predict the result before you run it. Write one sentence on why division by zero cannot be answered.</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DA03.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ZeroDivisionError: division by zero</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divided by zero, which has no answer.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number you divide by. Change it or guard against zero in a later session.</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'units' is not defined</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name was never created in this session or is spelled differently.</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it and compare the spelling letter by letter.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read the last line of an error first, find its line number, and fix one thing at a time.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DA03 Arithmetic, revenue and reading errors</dc:title>
  <dc:subject>Python for Data Analysis</dc:subject>
  <dc:creator>KLAi</dc:creator>
  <cp:lastModifiedBy>KLAi</cp:lastModifiedBy>
  <cp:revision>1</cp:revision>
  <dcterms:created xsi:type="dcterms:W3CDTF">2026-10-31T12:26:16Z</dcterms:created>
  <dcterms:modified xsi:type="dcterms:W3CDTF">2026-10-31T12:26:16Z</dcterms:modified>
</cp:coreProperties>
</file>