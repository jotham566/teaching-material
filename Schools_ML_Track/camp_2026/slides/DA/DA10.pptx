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81cf163-4c1e-bb98-6f65-4b2e44fcc14f}">
          <p14:sldIdLst>
            <p14:sldId id="256"/>
            <p14:sldId id="257"/>
            <p14:sldId id="258"/>
            <p14:sldId id="259"/>
            <p14:sldId id="260"/>
            <p14:sldId id="261"/>
            <p14:sldId id="262"/>
          </p14:sldIdLst>
        </p14:section>
        <p14:section name="Block A" id="{29cf806a-2f5c-1cea-2327-92aeb0a9a7c5}">
          <p14:sldIdLst>
            <p14:sldId id="263"/>
            <p14:sldId id="264"/>
            <p14:sldId id="265"/>
            <p14:sldId id="266"/>
            <p14:sldId id="268"/>
            <p14:sldId id="269"/>
          </p14:sldIdLst>
        </p14:section>
        <p14:section name="Break" id="{0a9b625c-9b02-0e3b-664a-b1567ea31d8f}">
          <p14:sldIdLst>
            <p14:sldId id="267"/>
          </p14:sldIdLst>
        </p14:section>
        <p14:section name="Block A" id="{7dc016de-e664-2197-1a10-cc4cb265820e}">
          <p14:sldIdLst/>
        </p14:section>
        <p14:section name="Block B" id="{dd97abaa-39c9-5793-dfa9-7ae0507b9b5a}">
          <p14:sldIdLst>
            <p14:sldId id="270"/>
            <p14:sldId id="271"/>
            <p14:sldId id="272"/>
            <p14:sldId id="273"/>
            <p14:sldId id="274"/>
            <p14:sldId id="275"/>
          </p14:sldIdLst>
        </p14:section>
        <p14:section name="Make and close" id="{9e8a35da-bab6-2faa-831f-aa44e372f2a8}">
          <p14:sldIdLst>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Today is session 10 and our topic is cleaning without hiding evidence.
By the end of today you will be able to find missing values and duplicates, remove the duplicates on a copy, and save a cleaning log that says what you did.
We will answer one question: What is wrong with the raw Sunrise sales file, and how many rows does each problem touch?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raw export of the Sunrise sales, exactly as the shop system produced it. It has one thousand five hundred and thirty eight rows. Some rows are repeated. Some cells are empty. Some dates are written in a different style from the others. Before we can trust any total, we need to know what is wrong and how many rows each problem touches. Today we count the faults and write them down, and we do not delete anything in secret.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the 3 hours go. Each bar is as long as the time we spend on that part.
First, 10 minutes. Recall. Then, 50 minutes. Block A. After that, 15 minutes. Break away from screens. Next, 50 minutes. Block B. Then, 40 minutes. Make. Then, 15 minutes. Exit ticket, save, and an individual check with each learner.
Notice how much of the time is yours. You listen for a short while and then you do. That is on purpose, because you learn this by doing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 words, because every one of them is used in the code later.
raw data. The file exactly as it arrived. You never overwrite it. The original receipt book.
missing value. A cell with nothing recorded. It is not the same as zero. Think of a shop. A blank in the register.
duplicate. A row that repeats another row exactly. Imagine it like this. The same sale written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rest of today's words.
data type. How a column is stored: whole number, decimal or text. An example from everyday life. Whether a box holds numbers or words.
copy. A separate table to work on, so the raw table stays untouched. Here is a way to see it. A photocopy of the receipt book.
cleaning log. A record of each problem found and what was done about it. A small example. The tailor's note of every change to a uniform.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rule of cleaning is to protect the original. The raw file is your evidence of what the shop system really produced. We read it once, make a copy inside Python, and do all the changes on the copy. The file on disk never changes.
If a step goes wrong, we throw the copy away and start again from the raw file. If we had changed the original, we could not do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faults look alike but they are not the same. A missing value is a cell with nothing in it, so we do not know the answer. A duplicate is a whole row that appears more than once, which means a sale could be counted twice. pandas has a separate check for each one, and each gives you a count.
Look at the gold cells on the picture. Which are missing, and which row has been repeated?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raw table unchanged and work on a copy. isna marks missing cells True.
Time to commit to an answer. Predict how many missing prices there are and how many rows stay after the duplicate is removed. Jot it on paper before anyone speaks.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run it. Match each line of the output with the line of code that made it.
The raw table has 2 missing prices. After the duplicate row is removed, 3 rows stay and one price is still missing. The mean of the two known prices is 2000. The missing price is unknown and is not free.
If your guess was off, find the line that surprised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missing values and duplicates in a small table. I have two questions for you.
Question one. Why would replacing the missing price with 0 change the meaning? Write your answer in one line before we compare.
The answer is this. Zero says the item was free. The truth is that nobody recorded the price.
Question two. Could two identical rows be real separate sales? Say it quietly to yourself before anyone answers.
Yes, if two customers bought the same thing. Here the repeated id shows it is a copy.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it is your turn to change something. Count how many rows in clean still have a missing price. Run it, then tell someone what you saw.
What you should find: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time. 15 minutes away from your screens. Stand up, drink some water and tell someone what you guessed in the first half.
When we come back we start the second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counted every fault in the raw file. Twenty five rows are exact repeats. Forty rows have a blank in the units column. Sixty dates use slashes instead of the standard style, and twelve units are written as words, like two or three, instead of digits.
These counts go into the cleaning log. Anyone who reads our report can see how much the file needed, and they can judge for themselves whether we were careful.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cleaning log is a small table. Each line says what we did, how many rows we had before and how many we had after. Reading it from top to bottom, you can follow the file from the raw state to the clean state without having to guess.
We save it as a CSV so it travels with the project. The log is what lets a stranger trust the clean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first part of the code with me before we run anything. ['sunrise_sales_raw.csv is the Sunrise sales as an untidy export.', 'Count the problems.', 'to_csv saves a table to a file.', 'index=False stops pandas adding an extra column of row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sunrise_sales_raw.csv is the Sunrise sales as an untidy export. Count the problems.
Your turn to guess. Predict how many duplicate rows the file holds. The clean version has 1513 sales. Guess on paper first. Surprises are useful.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run it, and you compare with your guess. Match each line of the output with the line of code that made it.
The raw file has 1538 rows. 25 are exact duplicates, so removing them leaves 1513, the same as the clean file. 40 rows have blank units. The log table is saved and read back with two lines: 25 duplicate rows and 40 blank-unit rows.
Check your paper. Were you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the raw Sunrise file. I have two questions for you.
Question one. Why does the cleaned row count of 1513 match the clean file? Say it quietly to yourself before anyone answers.
The 25 extra rows were exact copies. Removing them restores the original count.
Question two. Why not fill the 40 blank units with the mean? Give it thirty seconds and then we will hear a few answers.
Here is how I would answer it. It would invent sales that nobody recorded. We decide in session 16 how to report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to experiment. Count the rows whose date is written with slashes, and add them to the log. After you run it, say in one sentence what changed and how you checked.
You should see this. 60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tempting to replace every blank price with zero, so that the table looks complete. That is a mistake. A zero says the item was free. A blank says we do not know the price.
If we turn blanks into zeros, the average price drops, the totals drop, and nobody can tell that it happened. Leave the blank, count it, write it in the log, and decide on purpose what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task is yours. Run your code after every step so you can see where a problem begins. If you get stuck for a few minutes, read your error message, check the error card, and then ask me.
Save it as DA10. I will come round to each of you and ask what you changed and how you checked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two errors from this session, so you recognise them when they appear.
This is the first one. You will see: SettingWithCopyWarning. It means this: you changed a slice of another table, so pandas is not sure which table you meant. To fix it, Make a real copy with .copy() before you change a table.
The next one. You will see: Row counts differ between steps. It means this: A step removed or added rows without you noticing. To fix it, print len() after every step and write the numbers in the log.
When you are stuck, read the last line of the message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step. Our question for today was: What is wrong with the raw Sunrise sales file, and how many rows does each problem touch?
Finish this sentence in your notebook, in your own words. I keep the raw file untouched, work on a copy, and write down every change I make.
Then save your notebook, close it and open it again to check it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LAI_LIGHT">
    <p:bg>
      <p:bgPr>
        <a:solidFill>
          <a:srgbClr val="FFFFFF"/>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white_cropped.png">    </p:cNvPr>
          <p:cNvPicPr>
            <a:picLocks noChangeAspect="1"/>
          </p:cNvPicPr>
          <p:nvPr/>
        </p:nvPicPr>
        <p:blipFill>
          <a:blip r:embed="rId1"/>
          <a:stretch>
            <a:fillRect/>
          </a:stretch>
        </p:blipFill>
        <p:spPr>
          <a:xfrm>
            <a:off x="640080" y="6419088"/>
            <a:ext cx="772668" cy="246888"/>
          </a:xfrm>
          <a:prstGeom prst="rect">
            <a:avLst/>
          </a:prstGeom>
        </p:spPr>
      </p:pic>
      <p:sp>
        <p:nvSpPr>
          <p:cNvPr id="3" name="Text 0"/>
          <p:cNvSpPr/>
          <p:nvPr/>
        </p:nvSpPr>
        <p:spPr>
          <a:xfrm>
            <a:off x="1641348" y="6400800"/>
            <a:ext cx="8229600" cy="274320"/>
          </a:xfrm>
          <a:prstGeom prst="rect">
            <a:avLst/>
          </a:prstGeom>
          <a:noFill/>
          <a:ln/>
        </p:spPr>
        <p:txBody>
          <a:bodyPr wrap="square" lIns="0" tIns="0" rIns="0" bIns="0" rtlCol="0" anchor="ctr"/>
          <a:lstStyle/>
          <a:p>
            <a:pPr indent="0" marL="0">
              <a:buNone/>
            </a:pPr>
            <a:r>
              <a:rPr lang="en-US" sz="1200" dirty="0">
                <a:solidFill>
                  <a:srgbClr val="666666"/>
                </a:solidFill>
                <a:latin typeface="Lato" pitchFamily="34" charset="0"/>
                <a:ea typeface="Lato" pitchFamily="34" charset="-122"/>
                <a:cs typeface="Lato" pitchFamily="34" charset="-120"/>
              </a:rPr>
              <a:t>DA10  |  Cleaning without hiding evidence</a:t>
            </a:r>
            <a:endParaRPr lang="en-US" sz="1200" dirty="0"/>
          </a:p>
        </p:txBody>
      </p:sp>
      <p:sp>
        <p:nvSpPr>
          <p:cNvPr id="4" name="Text 1"/>
          <p:cNvSpPr/>
          <p:nvPr>
            <p:ph idx="102" type="title" hasCustomPrompt="1"/>
          </p:nvPr>
        </p:nvSpPr>
        <p:spPr>
          <a:xfrm>
            <a:off x="640080" y="384048"/>
            <a:ext cx="10881360" cy="1051560"/>
          </a:xfrm>
          <a:prstGeom prst="rect">
            <a:avLst/>
          </a:prstGeom>
          <a:noFill/>
          <a:ln/>
        </p:spPr>
        <p:txBody>
          <a:bodyPr wrap="square" rtlCol="0"/>
          <a:lstStyle>
            <a:lvl1pPr algn="l" indent="0" marL="0">
              <a:buNone/>
              <a:defRPr lang="en-US" b="1" dirty="0">
                <a:solidFill>
                  <a:srgbClr val="111111"/>
                </a:solidFill>
                <a:latin typeface="Lato" pitchFamily="34" charset="0"/>
                <a:ea typeface="Lato" pitchFamily="34" charset="-122"/>
                <a:cs typeface="Lato"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LAI_DARK">
    <p:bg>
      <p:bgPr>
        <a:solidFill>
          <a:srgbClr val="000000"/>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black_cropped.png">    </p:cNvPr>
          <p:cNvPicPr>
            <a:picLocks noChangeAspect="1"/>
          </p:cNvPicPr>
          <p:nvPr/>
        </p:nvPicPr>
        <p:blipFill>
          <a:blip r:embed="rId1"/>
          <a:stretch>
            <a:fillRect/>
          </a:stretch>
        </p:blipFill>
        <p:spPr>
          <a:xfrm>
            <a:off x="640080" y="548640"/>
            <a:ext cx="1774850" cy="566928"/>
          </a:xfrm>
          <a:prstGeom prst="rect">
            <a:avLst/>
          </a:prstGeom>
        </p:spPr>
      </p:pic>
      <p:sp>
        <p:nvSpPr>
          <p:cNvPr id="3" name="Text 0"/>
          <p:cNvSpPr/>
          <p:nvPr>
            <p:ph idx="101" type="title" hasCustomPrompt="1"/>
          </p:nvPr>
        </p:nvSpPr>
        <p:spPr>
          <a:xfrm>
            <a:off x="640080" y="2103120"/>
            <a:ext cx="10607040" cy="2286000"/>
          </a:xfrm>
          <a:prstGeom prst="rect">
            <a:avLst/>
          </a:prstGeom>
          <a:noFill/>
          <a:ln/>
        </p:spPr>
        <p:txBody>
          <a:bodyPr wrap="square" rtlCol="0"/>
          <a:lstStyle>
            <a:lvl1pPr algn="l" indent="0" marL="0">
              <a:buNone/>
              <a:defRPr lang="en-US" b="1" dirty="0">
                <a:solidFill>
                  <a:srgbClr val="FFFFFF"/>
                </a:solidFill>
                <a:latin typeface="Lato" pitchFamily="34" charset="0"/>
                <a:ea typeface="Lato" pitchFamily="34" charset="-122"/>
                <a:cs typeface="Lato" pitchFamily="34" charset="-120"/>
              </a:defRPr>
            </a:lvl1pPr>
          </a:lstStyle>
          <a:p>
            <a:pPr algn="l" indent="0" marL="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1.png"/><Relationship Id="rId3" Type="http://schemas.openxmlformats.org/officeDocument/2006/relationships/slideLayout" Target="../slideLayouts/slideLayout2.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600" b="1" dirty="0">
                <a:solidFill>
                  <a:srgbClr val="FFFFFF"/>
                </a:solidFill>
                <a:latin typeface="Lato" pitchFamily="34" charset="0"/>
                <a:ea typeface="Lato" pitchFamily="34" charset="-122"/>
                <a:cs typeface="Lato" pitchFamily="34" charset="-120"/>
              </a:rPr>
              <a:t>Cleaning without hiding evidence</a:t>
            </a:r>
            <a:endParaRPr lang="en-US" sz="5600" dirty="0"/>
          </a:p>
        </p:txBody>
      </p:sp>
      <p:sp>
        <p:nvSpPr>
          <p:cNvPr id="3" name="Text 1"/>
          <p:cNvSpPr txBox="1"/>
          <p:nvPr/>
        </p:nvSpPr>
        <p:spPr>
          <a:xfrm>
            <a:off x="640080" y="4170680"/>
            <a:ext cx="10241280" cy="1188720"/>
          </a:xfrm>
          <a:prstGeom prst="rect">
            <a:avLst/>
          </a:prstGeom>
          <a:noFill/>
          <a:ln/>
        </p:spPr>
        <p:txBody>
          <a:bodyPr wrap="square" lIns="0" tIns="0" rIns="0" bIns="0" rtlCol="0" anchor="t"/>
          <a:lstStyle/>
          <a:p>
            <a:pPr algn="l" indent="0" marL="0">
              <a:lnSpc>
                <a:spcPts val="3600"/>
              </a:lnSpc>
              <a:buNone/>
            </a:pPr>
            <a:r>
              <a:rPr lang="en-US" sz="3000" i="1" dirty="0">
                <a:solidFill>
                  <a:srgbClr val="E0BE36"/>
                </a:solidFill>
                <a:latin typeface="Lato" pitchFamily="34" charset="0"/>
                <a:ea typeface="Lato" pitchFamily="34" charset="-122"/>
                <a:cs typeface="Lato" pitchFamily="34" charset="-120"/>
              </a:rPr>
              <a:t>What is wrong with the raw Sunrise sales file, and how many rows does each problem touch?</a:t>
            </a:r>
            <a:endParaRPr lang="en-US" sz="3000" dirty="0"/>
          </a:p>
        </p:txBody>
      </p:sp>
      <p:sp>
        <p:nvSpPr>
          <p:cNvPr id="4" name="Text 2"/>
          <p:cNvSpPr txBox="1"/>
          <p:nvPr/>
        </p:nvSpPr>
        <p:spPr>
          <a:xfrm>
            <a:off x="640080" y="5989320"/>
            <a:ext cx="10789920" cy="457200"/>
          </a:xfrm>
          <a:prstGeom prst="rect">
            <a:avLst/>
          </a:prstGeom>
          <a:noFill/>
          <a:ln/>
        </p:spPr>
        <p:txBody>
          <a:bodyPr wrap="square" lIns="0" tIns="0" rIns="0" bIns="0" rtlCol="0" anchor="t"/>
          <a:lstStyle/>
          <a:p>
            <a:pPr algn="l" indent="0" marL="0">
              <a:lnSpc>
                <a:spcPts val="2320"/>
              </a:lnSpc>
              <a:buNone/>
            </a:pPr>
            <a:r>
              <a:rPr lang="en-US" sz="1600" dirty="0">
                <a:solidFill>
                  <a:srgbClr val="B5B5B5"/>
                </a:solidFill>
                <a:latin typeface="Lato" pitchFamily="34" charset="0"/>
                <a:ea typeface="Lato" pitchFamily="34" charset="-122"/>
                <a:cs typeface="Lato" pitchFamily="34" charset="-120"/>
              </a:rPr>
              <a:t>Python for Data Analysis  |  Session 10 of 24  |  Week 4, Clean and chart</a:t>
            </a:r>
            <a:endParaRPr lang="en-US" sz="1600" dirty="0"/>
          </a:p>
          <a:p>
            <a:pPr algn="l" indent="0" marL="0">
              <a:lnSpc>
                <a:spcPts val="2320"/>
              </a:lnSpc>
              <a:buNone/>
            </a:pPr>
            <a:r>
              <a:rPr lang="en-US" sz="1600" dirty="0">
                <a:solidFill>
                  <a:srgbClr val="B5B5B5"/>
                </a:solidFill>
                <a:latin typeface="Lato" pitchFamily="34" charset="0"/>
                <a:ea typeface="Lato" pitchFamily="34" charset="-122"/>
                <a:cs typeface="Lato" pitchFamily="34" charset="-120"/>
              </a:rPr>
              <a:t>Holiday Data and AI Camp  |  The National ICT Innovation Hub, Nakawa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What is wrong with the raw Sunrise sales file,</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and how many rows does each problem touch?</a:t>
            </a:r>
            <a:endParaRPr lang="en-US" sz="3600" dirty="0"/>
          </a:p>
        </p:txBody>
      </p:sp>
      <p:pic>
        <p:nvPicPr>
          <p:cNvPr id="3" name="Image 0" descr="A raw sales file with repeated rows, blank cells and mixed date styles marked">    </p:cNvPr>
          <p:cNvPicPr>
            <a:picLocks noChangeAspect="1"/>
          </p:cNvPicPr>
          <p:nvPr/>
        </p:nvPicPr>
        <p:blipFill>
          <a:blip r:embed="rId1"/>
          <a:stretch>
            <a:fillRect/>
          </a:stretch>
        </p:blipFill>
        <p:spPr>
          <a:xfrm>
            <a:off x="640080" y="1691640"/>
            <a:ext cx="10881360" cy="43434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Three hours, mostly doing</a:t>
            </a:r>
            <a:endParaRPr lang="en-US" sz="3800" dirty="0"/>
          </a:p>
        </p:txBody>
      </p:sp>
      <p:pic>
        <p:nvPicPr>
          <p:cNvPr id="3" name="Image 0" descr="The plan for the session: start time, minutes and what we do">    </p:cNvPr>
          <p:cNvPicPr>
            <a:picLocks noChangeAspect="1"/>
          </p:cNvPicPr>
          <p:nvPr/>
        </p:nvPicPr>
        <p:blipFill>
          <a:blip r:embed="rId1"/>
          <a:stretch>
            <a:fillRect/>
          </a:stretch>
        </p:blipFill>
        <p:spPr>
          <a:xfrm>
            <a:off x="640080" y="1600200"/>
            <a:ext cx="10881360" cy="4133088"/>
          </a:xfrm>
          <a:prstGeom prst="rect">
            <a:avLst/>
          </a:prstGeom>
        </p:spPr>
      </p:pic>
      <p:sp>
        <p:nvSpPr>
          <p:cNvPr id="4" name="Text 1"/>
          <p:cNvSpPr txBox="1"/>
          <p:nvPr/>
        </p:nvSpPr>
        <p:spPr>
          <a:xfrm>
            <a:off x="640080" y="5852160"/>
            <a:ext cx="10881360" cy="45720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Most of our time is spent doing, in small steps, with a guess before every run.</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(1 of 2)</a:t>
            </a:r>
            <a:endParaRPr lang="en-US" sz="3800" dirty="0"/>
          </a:p>
        </p:txBody>
      </p:sp>
      <p:pic>
        <p:nvPicPr>
          <p:cNvPr id="3" name="Image 0" descr="raw data">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raw data</a:t>
            </a:r>
            <a:endParaRPr lang="en-US" sz="3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The file exactly as it arrived. You never overwrite it.</a:t>
            </a:r>
            <a:endParaRPr lang="en-US" sz="2200" dirty="0"/>
          </a:p>
        </p:txBody>
      </p:sp>
      <p:sp>
        <p:nvSpPr>
          <p:cNvPr id="6" name="Text 3"/>
          <p:cNvSpPr txBox="1"/>
          <p:nvPr/>
        </p:nvSpPr>
        <p:spPr>
          <a:xfrm>
            <a:off x="5120640" y="254508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The original receipt book.</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missing value">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3600"/>
              </a:lnSpc>
              <a:buNone/>
            </a:pPr>
            <a:r>
              <a:rPr lang="en-US" sz="3000" b="1" dirty="0">
                <a:solidFill>
                  <a:srgbClr val="111111"/>
                </a:solidFill>
                <a:latin typeface="Lato" pitchFamily="34" charset="0"/>
                <a:ea typeface="Lato" pitchFamily="34" charset="-122"/>
                <a:cs typeface="Lato" pitchFamily="34" charset="-120"/>
              </a:rPr>
              <a:t>missing value</a:t>
            </a:r>
            <a:endParaRPr lang="en-US" sz="30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cell with nothing recorded. It is not the same as zero.</a:t>
            </a:r>
            <a:endParaRPr lang="en-US" sz="2200" dirty="0"/>
          </a:p>
        </p:txBody>
      </p:sp>
      <p:sp>
        <p:nvSpPr>
          <p:cNvPr id="11" name="Text 7"/>
          <p:cNvSpPr txBox="1"/>
          <p:nvPr/>
        </p:nvSpPr>
        <p:spPr>
          <a:xfrm>
            <a:off x="5120640" y="402640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 blank in the register.</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duplicate">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duplicate</a:t>
            </a:r>
            <a:endParaRPr lang="en-US" sz="34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row that repeats another row exactly.</a:t>
            </a:r>
            <a:endParaRPr lang="en-US" sz="2200" dirty="0"/>
          </a:p>
        </p:txBody>
      </p:sp>
      <p:sp>
        <p:nvSpPr>
          <p:cNvPr id="16" name="Text 11"/>
          <p:cNvSpPr txBox="1"/>
          <p:nvPr/>
        </p:nvSpPr>
        <p:spPr>
          <a:xfrm>
            <a:off x="5120640" y="517245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The same sale written twice.</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(2 of 2)</a:t>
            </a:r>
            <a:endParaRPr lang="en-US" sz="3800" dirty="0"/>
          </a:p>
        </p:txBody>
      </p:sp>
      <p:pic>
        <p:nvPicPr>
          <p:cNvPr id="3" name="Image 0" descr="data type">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data type</a:t>
            </a:r>
            <a:endParaRPr lang="en-US" sz="3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How a column is stored: whole number, decimal or text.</a:t>
            </a:r>
            <a:endParaRPr lang="en-US" sz="2200" dirty="0"/>
          </a:p>
        </p:txBody>
      </p:sp>
      <p:sp>
        <p:nvSpPr>
          <p:cNvPr id="6" name="Text 3"/>
          <p:cNvSpPr txBox="1"/>
          <p:nvPr/>
        </p:nvSpPr>
        <p:spPr>
          <a:xfrm>
            <a:off x="5120640" y="254508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Whether a box holds numbers or words.</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copy">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copy</a:t>
            </a:r>
            <a:endParaRPr lang="en-US" sz="34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separate table to work on, so the raw table stays untouched.</a:t>
            </a:r>
            <a:endParaRPr lang="en-US" sz="2200" dirty="0"/>
          </a:p>
        </p:txBody>
      </p:sp>
      <p:sp>
        <p:nvSpPr>
          <p:cNvPr id="11" name="Text 7"/>
          <p:cNvSpPr txBox="1"/>
          <p:nvPr/>
        </p:nvSpPr>
        <p:spPr>
          <a:xfrm>
            <a:off x="5120640" y="402640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 photocopy of the receipt book.</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cleaning log">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3720"/>
              </a:lnSpc>
              <a:buNone/>
            </a:pPr>
            <a:r>
              <a:rPr lang="en-US" sz="3100" b="1" dirty="0">
                <a:solidFill>
                  <a:srgbClr val="111111"/>
                </a:solidFill>
                <a:latin typeface="Lato" pitchFamily="34" charset="0"/>
                <a:ea typeface="Lato" pitchFamily="34" charset="-122"/>
                <a:cs typeface="Lato" pitchFamily="34" charset="-120"/>
              </a:rPr>
              <a:t>cleaning log</a:t>
            </a:r>
            <a:endParaRPr lang="en-US" sz="31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record of each problem found and what was done about it.</a:t>
            </a:r>
            <a:endParaRPr lang="en-US" sz="2200" dirty="0"/>
          </a:p>
        </p:txBody>
      </p:sp>
      <p:sp>
        <p:nvSpPr>
          <p:cNvPr id="16" name="Text 11"/>
          <p:cNvSpPr txBox="1"/>
          <p:nvPr/>
        </p:nvSpPr>
        <p:spPr>
          <a:xfrm>
            <a:off x="5120640" y="550773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The tailor's note of every change to a uniform.</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Keep the raw file untouched and clean a copy</a:t>
            </a:r>
            <a:endParaRPr lang="en-US" sz="3800" dirty="0"/>
          </a:p>
        </p:txBody>
      </p:sp>
      <p:pic>
        <p:nvPicPr>
          <p:cNvPr id="3" name="Image 0" descr="Keep the raw file untouched and clean a copy">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raw file is the evidence.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Work on a copy with a new name.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You can always start again from the raw file.</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Missing values and repeated</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rows are two problems</a:t>
            </a:r>
            <a:endParaRPr lang="en-US" sz="3600" dirty="0"/>
          </a:p>
        </p:txBody>
      </p:sp>
      <p:pic>
        <p:nvPicPr>
          <p:cNvPr id="3" name="Image 0" descr="Missing values and repeated rows are two problems">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A missing value is an empty cell.</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A duplicate is a row that appears twice.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Each problem needs its own check.</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Predict: Missing values and</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duplicates in a small table</a:t>
            </a:r>
            <a:endParaRPr lang="en-US" sz="3600" dirty="0"/>
          </a:p>
        </p:txBody>
      </p:sp>
      <p:sp>
        <p:nvSpPr>
          <p:cNvPr id="3" name="Shape 1"/>
          <p:cNvSpPr/>
          <p:nvPr/>
        </p:nvSpPr>
        <p:spPr>
          <a:xfrm>
            <a:off x="640080" y="1645920"/>
            <a:ext cx="10881360" cy="3212592"/>
          </a:xfrm>
          <a:prstGeom prst="roundRect">
            <a:avLst>
              <a:gd name="adj" fmla="val 2277"/>
            </a:avLst>
          </a:prstGeom>
          <a:solidFill>
            <a:srgbClr val="111111"/>
          </a:solidFill>
          <a:ln/>
        </p:spPr>
      </p:sp>
      <p:sp>
        <p:nvSpPr>
          <p:cNvPr id="4" name="Text 2"/>
          <p:cNvSpPr txBox="1"/>
          <p:nvPr/>
        </p:nvSpPr>
        <p:spPr>
          <a:xfrm>
            <a:off x="841248" y="1847088"/>
            <a:ext cx="10479024" cy="2810256"/>
          </a:xfrm>
          <a:prstGeom prst="rect">
            <a:avLst/>
          </a:prstGeom>
          <a:noFill/>
          <a:ln/>
        </p:spPr>
        <p:txBody>
          <a:bodyPr wrap="square" lIns="0" tIns="0" rIns="0" bIns="0" rtlCol="0" anchor="t"/>
          <a:lstStyle/>
          <a:p>
            <a:pPr algn="l" indent="0" marL="0">
              <a:lnSpc>
                <a:spcPts val="2730"/>
              </a:lnSpc>
              <a:buNone/>
            </a:pPr>
            <a:r>
              <a:rPr lang="en-US" sz="2100" b="1" dirty="0">
                <a:solidFill>
                  <a:srgbClr val="FFFFFF"/>
                </a:solidFill>
                <a:latin typeface="Courier New" pitchFamily="34" charset="0"/>
                <a:ea typeface="Courier New" pitchFamily="34" charset="-122"/>
                <a:cs typeface="Courier New" pitchFamily="34" charset="-120"/>
              </a:rPr>
              <a:t>import</a:t>
            </a:r>
            <a:pPr algn="l" indent="0" marL="0">
              <a:lnSpc>
                <a:spcPts val="2730"/>
              </a:lnSpc>
              <a:buNone/>
            </a:pPr>
            <a:r>
              <a:rPr lang="en-US" sz="2100" dirty="0">
                <a:solidFill>
                  <a:srgbClr val="FFFFFF"/>
                </a:solidFill>
                <a:latin typeface="Courier New" pitchFamily="34" charset="0"/>
                <a:ea typeface="Courier New" pitchFamily="34" charset="-122"/>
                <a:cs typeface="Courier New" pitchFamily="34" charset="-120"/>
              </a:rPr>
              <a:t> pandas </a:t>
            </a:r>
            <a:pPr algn="l" indent="0" marL="0">
              <a:lnSpc>
                <a:spcPts val="2730"/>
              </a:lnSpc>
              <a:buNone/>
            </a:pPr>
            <a:r>
              <a:rPr lang="en-US" sz="2100" b="1" dirty="0">
                <a:solidFill>
                  <a:srgbClr val="FFFFFF"/>
                </a:solidFill>
                <a:latin typeface="Courier New" pitchFamily="34" charset="0"/>
                <a:ea typeface="Courier New" pitchFamily="34" charset="-122"/>
                <a:cs typeface="Courier New" pitchFamily="34" charset="-120"/>
              </a:rPr>
              <a:t>as</a:t>
            </a:r>
            <a:pPr algn="l" indent="0" marL="0">
              <a:lnSpc>
                <a:spcPts val="2730"/>
              </a:lnSpc>
              <a:buNone/>
            </a:pPr>
            <a:r>
              <a:rPr lang="en-US" sz="2100" dirty="0">
                <a:solidFill>
                  <a:srgbClr val="FFFFFF"/>
                </a:solidFill>
                <a:latin typeface="Courier New" pitchFamily="34" charset="0"/>
                <a:ea typeface="Courier New" pitchFamily="34" charset="-122"/>
                <a:cs typeface="Courier New" pitchFamily="34" charset="-120"/>
              </a:rPr>
              <a:t> pd</a:t>
            </a:r>
            <a:endParaRPr lang="en-US" sz="2100" dirty="0"/>
          </a:p>
          <a:p>
            <a:pPr algn="l" indent="0" marL="0">
              <a:lnSpc>
                <a:spcPts val="2730"/>
              </a:lnSpc>
              <a:buNone/>
            </a:pPr>
            <a:r>
              <a:rPr lang="en-US" sz="2100" dirty="0">
                <a:solidFill>
                  <a:srgbClr val="FFFFFF"/>
                </a:solidFill>
                <a:latin typeface="Courier New" pitchFamily="34" charset="0"/>
                <a:ea typeface="Courier New" pitchFamily="34" charset="-122"/>
                <a:cs typeface="Courier New" pitchFamily="34" charset="-120"/>
              </a:rPr>
              <a:t>raw = pd.DataFrame(</a:t>
            </a:r>
            <a:endParaRPr lang="en-US" sz="2100" dirty="0"/>
          </a:p>
          <a:p>
            <a:pPr algn="l" indent="0" marL="0">
              <a:lnSpc>
                <a:spcPts val="2730"/>
              </a:lnSpc>
              <a:buNone/>
            </a:pPr>
            <a:r>
              <a:rPr lang="en-US" sz="2100" dirty="0">
                <a:solidFill>
                  <a:srgbClr val="FFFFFF"/>
                </a:solidFill>
                <a:latin typeface="Courier New" pitchFamily="34" charset="0"/>
                <a:ea typeface="Courier New" pitchFamily="34" charset="-122"/>
                <a:cs typeface="Courier New" pitchFamily="34" charset="-120"/>
              </a:rPr>
              <a:t>    {</a:t>
            </a:r>
            <a:pPr algn="l" indent="0" marL="0">
              <a:lnSpc>
                <a:spcPts val="2730"/>
              </a:lnSpc>
              <a:buNone/>
            </a:pPr>
            <a:r>
              <a:rPr lang="en-US" sz="2100" dirty="0">
                <a:solidFill>
                  <a:srgbClr val="E0BE36"/>
                </a:solidFill>
                <a:latin typeface="Courier New" pitchFamily="34" charset="0"/>
                <a:ea typeface="Courier New" pitchFamily="34" charset="-122"/>
                <a:cs typeface="Courier New" pitchFamily="34" charset="-120"/>
              </a:rPr>
              <a:t>"id"</a:t>
            </a:r>
            <a:pPr algn="l" indent="0" marL="0">
              <a:lnSpc>
                <a:spcPts val="2730"/>
              </a:lnSpc>
              <a:buNone/>
            </a:pPr>
            <a:r>
              <a:rPr lang="en-US" sz="2100" dirty="0">
                <a:solidFill>
                  <a:srgbClr val="FFFFFF"/>
                </a:solidFill>
                <a:latin typeface="Courier New" pitchFamily="34" charset="0"/>
                <a:ea typeface="Courier New" pitchFamily="34" charset="-122"/>
                <a:cs typeface="Courier New" pitchFamily="34" charset="-120"/>
              </a:rPr>
              <a:t>: [1, 2, 2, 3], </a:t>
            </a:r>
            <a:pPr algn="l" indent="0" marL="0">
              <a:lnSpc>
                <a:spcPts val="2730"/>
              </a:lnSpc>
              <a:buNone/>
            </a:pPr>
            <a:r>
              <a:rPr lang="en-US" sz="2100" dirty="0">
                <a:solidFill>
                  <a:srgbClr val="E0BE36"/>
                </a:solidFill>
                <a:latin typeface="Courier New" pitchFamily="34" charset="0"/>
                <a:ea typeface="Courier New" pitchFamily="34" charset="-122"/>
                <a:cs typeface="Courier New" pitchFamily="34" charset="-120"/>
              </a:rPr>
              <a:t>"price"</a:t>
            </a:r>
            <a:pPr algn="l" indent="0" marL="0">
              <a:lnSpc>
                <a:spcPts val="2730"/>
              </a:lnSpc>
              <a:buNone/>
            </a:pPr>
            <a:r>
              <a:rPr lang="en-US" sz="2100" dirty="0">
                <a:solidFill>
                  <a:srgbClr val="FFFFFF"/>
                </a:solidFill>
                <a:latin typeface="Courier New" pitchFamily="34" charset="0"/>
                <a:ea typeface="Courier New" pitchFamily="34" charset="-122"/>
                <a:cs typeface="Courier New" pitchFamily="34" charset="-120"/>
              </a:rPr>
              <a:t>: [1000, </a:t>
            </a:r>
            <a:pPr algn="l" indent="0" marL="0">
              <a:lnSpc>
                <a:spcPts val="2730"/>
              </a:lnSpc>
              <a:buNone/>
            </a:pPr>
            <a:r>
              <a:rPr lang="en-US" sz="2100" b="1" dirty="0">
                <a:solidFill>
                  <a:srgbClr val="FFFFFF"/>
                </a:solidFill>
                <a:latin typeface="Courier New" pitchFamily="34" charset="0"/>
                <a:ea typeface="Courier New" pitchFamily="34" charset="-122"/>
                <a:cs typeface="Courier New" pitchFamily="34" charset="-120"/>
              </a:rPr>
              <a:t>None</a:t>
            </a:r>
            <a:pPr algn="l" indent="0" marL="0">
              <a:lnSpc>
                <a:spcPts val="2730"/>
              </a:lnSpc>
              <a:buNone/>
            </a:pPr>
            <a:r>
              <a:rPr lang="en-US" sz="2100" dirty="0">
                <a:solidFill>
                  <a:srgbClr val="FFFFFF"/>
                </a:solidFill>
                <a:latin typeface="Courier New" pitchFamily="34" charset="0"/>
                <a:ea typeface="Courier New" pitchFamily="34" charset="-122"/>
                <a:cs typeface="Courier New" pitchFamily="34" charset="-120"/>
              </a:rPr>
              <a:t>, </a:t>
            </a:r>
            <a:pPr algn="l" indent="0" marL="0">
              <a:lnSpc>
                <a:spcPts val="2730"/>
              </a:lnSpc>
              <a:buNone/>
            </a:pPr>
            <a:r>
              <a:rPr lang="en-US" sz="2100" b="1" dirty="0">
                <a:solidFill>
                  <a:srgbClr val="FFFFFF"/>
                </a:solidFill>
                <a:latin typeface="Courier New" pitchFamily="34" charset="0"/>
                <a:ea typeface="Courier New" pitchFamily="34" charset="-122"/>
                <a:cs typeface="Courier New" pitchFamily="34" charset="-120"/>
              </a:rPr>
              <a:t>None</a:t>
            </a:r>
            <a:pPr algn="l" indent="0" marL="0">
              <a:lnSpc>
                <a:spcPts val="2730"/>
              </a:lnSpc>
              <a:buNone/>
            </a:pPr>
            <a:r>
              <a:rPr lang="en-US" sz="2100" dirty="0">
                <a:solidFill>
                  <a:srgbClr val="FFFFFF"/>
                </a:solidFill>
                <a:latin typeface="Courier New" pitchFamily="34" charset="0"/>
                <a:ea typeface="Courier New" pitchFamily="34" charset="-122"/>
                <a:cs typeface="Courier New" pitchFamily="34" charset="-120"/>
              </a:rPr>
              <a:t>, 3000]}</a:t>
            </a:r>
            <a:endParaRPr lang="en-US" sz="2100" dirty="0"/>
          </a:p>
          <a:p>
            <a:pPr algn="l" indent="0" marL="0">
              <a:lnSpc>
                <a:spcPts val="2730"/>
              </a:lnSpc>
              <a:buNone/>
            </a:pPr>
            <a:r>
              <a:rPr lang="en-US" sz="2100" dirty="0">
                <a:solidFill>
                  <a:srgbClr val="FFFFFF"/>
                </a:solidFill>
                <a:latin typeface="Courier New" pitchFamily="34" charset="0"/>
                <a:ea typeface="Courier New" pitchFamily="34" charset="-122"/>
                <a:cs typeface="Courier New" pitchFamily="34" charset="-120"/>
              </a:rPr>
              <a:t>)</a:t>
            </a:r>
            <a:endParaRPr lang="en-US" sz="2100" dirty="0"/>
          </a:p>
          <a:p>
            <a:pPr algn="l" indent="0" marL="0">
              <a:lnSpc>
                <a:spcPts val="2730"/>
              </a:lnSpc>
              <a:buNone/>
            </a:pPr>
            <a:r>
              <a:rPr lang="en-US" sz="2100" dirty="0">
                <a:solidFill>
                  <a:srgbClr val="FFFFFF"/>
                </a:solidFill>
                <a:latin typeface="Courier New" pitchFamily="34" charset="0"/>
                <a:ea typeface="Courier New" pitchFamily="34" charset="-122"/>
                <a:cs typeface="Courier New" pitchFamily="34" charset="-120"/>
              </a:rPr>
              <a:t>clean = raw.drop_duplicates().copy()</a:t>
            </a:r>
            <a:endParaRPr lang="en-US" sz="2100" dirty="0"/>
          </a:p>
          <a:p>
            <a:pPr algn="l" indent="0" marL="0">
              <a:lnSpc>
                <a:spcPts val="2730"/>
              </a:lnSpc>
              <a:buNone/>
            </a:pPr>
            <a:r>
              <a:rPr lang="en-US" sz="2100" dirty="0">
                <a:solidFill>
                  <a:srgbClr val="FFFFFF"/>
                </a:solidFill>
                <a:latin typeface="Courier New" pitchFamily="34" charset="0"/>
                <a:ea typeface="Courier New" pitchFamily="34" charset="-122"/>
                <a:cs typeface="Courier New" pitchFamily="34" charset="-120"/>
              </a:rPr>
              <a:t>print(raw[</a:t>
            </a:r>
            <a:pPr algn="l" indent="0" marL="0">
              <a:lnSpc>
                <a:spcPts val="2730"/>
              </a:lnSpc>
              <a:buNone/>
            </a:pPr>
            <a:r>
              <a:rPr lang="en-US" sz="2100" dirty="0">
                <a:solidFill>
                  <a:srgbClr val="E0BE36"/>
                </a:solidFill>
                <a:latin typeface="Courier New" pitchFamily="34" charset="0"/>
                <a:ea typeface="Courier New" pitchFamily="34" charset="-122"/>
                <a:cs typeface="Courier New" pitchFamily="34" charset="-120"/>
              </a:rPr>
              <a:t>"price"</a:t>
            </a:r>
            <a:pPr algn="l" indent="0" marL="0">
              <a:lnSpc>
                <a:spcPts val="2730"/>
              </a:lnSpc>
              <a:buNone/>
            </a:pPr>
            <a:r>
              <a:rPr lang="en-US" sz="2100" dirty="0">
                <a:solidFill>
                  <a:srgbClr val="FFFFFF"/>
                </a:solidFill>
                <a:latin typeface="Courier New" pitchFamily="34" charset="0"/>
                <a:ea typeface="Courier New" pitchFamily="34" charset="-122"/>
                <a:cs typeface="Courier New" pitchFamily="34" charset="-120"/>
              </a:rPr>
              <a:t>].isna().sum())</a:t>
            </a:r>
            <a:endParaRPr lang="en-US" sz="2100" dirty="0"/>
          </a:p>
          <a:p>
            <a:pPr algn="l" indent="0" marL="0">
              <a:lnSpc>
                <a:spcPts val="2730"/>
              </a:lnSpc>
              <a:buNone/>
            </a:pPr>
            <a:r>
              <a:rPr lang="en-US" sz="2100" dirty="0">
                <a:solidFill>
                  <a:srgbClr val="FFFFFF"/>
                </a:solidFill>
                <a:latin typeface="Courier New" pitchFamily="34" charset="0"/>
                <a:ea typeface="Courier New" pitchFamily="34" charset="-122"/>
                <a:cs typeface="Courier New" pitchFamily="34" charset="-120"/>
              </a:rPr>
              <a:t>print(len(clean))</a:t>
            </a:r>
            <a:endParaRPr lang="en-US" sz="2100" dirty="0"/>
          </a:p>
          <a:p>
            <a:pPr algn="l" indent="0" marL="0">
              <a:lnSpc>
                <a:spcPts val="2730"/>
              </a:lnSpc>
              <a:buNone/>
            </a:pPr>
            <a:r>
              <a:rPr lang="en-US" sz="2100" dirty="0">
                <a:solidFill>
                  <a:srgbClr val="FFFFFF"/>
                </a:solidFill>
                <a:latin typeface="Courier New" pitchFamily="34" charset="0"/>
                <a:ea typeface="Courier New" pitchFamily="34" charset="-122"/>
                <a:cs typeface="Courier New" pitchFamily="34" charset="-120"/>
              </a:rPr>
              <a:t>print(clean[</a:t>
            </a:r>
            <a:pPr algn="l" indent="0" marL="0">
              <a:lnSpc>
                <a:spcPts val="2730"/>
              </a:lnSpc>
              <a:buNone/>
            </a:pPr>
            <a:r>
              <a:rPr lang="en-US" sz="2100" dirty="0">
                <a:solidFill>
                  <a:srgbClr val="E0BE36"/>
                </a:solidFill>
                <a:latin typeface="Courier New" pitchFamily="34" charset="0"/>
                <a:ea typeface="Courier New" pitchFamily="34" charset="-122"/>
                <a:cs typeface="Courier New" pitchFamily="34" charset="-120"/>
              </a:rPr>
              <a:t>"price"</a:t>
            </a:r>
            <a:pPr algn="l" indent="0" marL="0">
              <a:lnSpc>
                <a:spcPts val="2730"/>
              </a:lnSpc>
              <a:buNone/>
            </a:pPr>
            <a:r>
              <a:rPr lang="en-US" sz="2100" dirty="0">
                <a:solidFill>
                  <a:srgbClr val="FFFFFF"/>
                </a:solidFill>
                <a:latin typeface="Courier New" pitchFamily="34" charset="0"/>
                <a:ea typeface="Courier New" pitchFamily="34" charset="-122"/>
                <a:cs typeface="Courier New" pitchFamily="34" charset="-120"/>
              </a:rPr>
              <a:t>].mean())</a:t>
            </a:r>
            <a:endParaRPr lang="en-US" sz="2100" dirty="0"/>
          </a:p>
        </p:txBody>
      </p:sp>
      <p:sp>
        <p:nvSpPr>
          <p:cNvPr id="5" name="Text 3"/>
          <p:cNvSpPr txBox="1"/>
          <p:nvPr/>
        </p:nvSpPr>
        <p:spPr>
          <a:xfrm>
            <a:off x="640080" y="5041392"/>
            <a:ext cx="8046720" cy="1222248"/>
          </a:xfrm>
          <a:prstGeom prst="rect">
            <a:avLst/>
          </a:prstGeom>
          <a:noFill/>
          <a:ln/>
        </p:spPr>
        <p:txBody>
          <a:bodyPr wrap="square" lIns="0" tIns="0" rIns="0" bIns="0" rtlCol="0" anchor="t"/>
          <a:lstStyle/>
          <a:p>
            <a:pPr algn="l" indent="0" marL="0">
              <a:lnSpc>
                <a:spcPts val="2760"/>
              </a:lnSpc>
              <a:spcAft>
                <a:spcPts val="1010"/>
              </a:spcAft>
              <a:buNone/>
            </a:pPr>
            <a:r>
              <a:rPr lang="en-US" sz="2300" dirty="0">
                <a:solidFill>
                  <a:srgbClr val="111111"/>
                </a:solidFill>
                <a:latin typeface="Lato" pitchFamily="34" charset="0"/>
                <a:ea typeface="Lato" pitchFamily="34" charset="-122"/>
                <a:cs typeface="Lato" pitchFamily="34" charset="-120"/>
              </a:rPr>
              <a:t>Predict how many missing prices there are and how many rows stay after the duplicate is removed.</a:t>
            </a:r>
            <a:endParaRPr lang="en-US" sz="2300" dirty="0"/>
          </a:p>
          <a:p>
            <a:pPr algn="l" indent="0" marL="0">
              <a:lnSpc>
                <a:spcPts val="2760"/>
              </a:lnSpc>
              <a:spcAft>
                <a:spcPts val="1010"/>
              </a:spcAft>
              <a:buNone/>
            </a:pPr>
            <a:r>
              <a:rPr lang="en-US" sz="2300" dirty="0">
                <a:solidFill>
                  <a:srgbClr val="111111"/>
                </a:solidFill>
                <a:latin typeface="Lato" pitchFamily="34" charset="0"/>
                <a:ea typeface="Lato" pitchFamily="34" charset="-122"/>
                <a:cs typeface="Lato" pitchFamily="34" charset="-120"/>
              </a:rPr>
              <a:t>Write your guess on paper before we run it.</a:t>
            </a:r>
            <a:endParaRPr lang="en-US" sz="2300" dirty="0"/>
          </a:p>
        </p:txBody>
      </p:sp>
      <p:pic>
        <p:nvPicPr>
          <p:cNvPr id="6" name="Image 0" descr="A page and a pen">    </p:cNvPr>
          <p:cNvPicPr>
            <a:picLocks noChangeAspect="1"/>
          </p:cNvPicPr>
          <p:nvPr/>
        </p:nvPicPr>
        <p:blipFill>
          <a:blip r:embed="rId1"/>
          <a:stretch>
            <a:fillRect/>
          </a:stretch>
        </p:blipFill>
        <p:spPr>
          <a:xfrm>
            <a:off x="10241280" y="5043678"/>
            <a:ext cx="1188720" cy="1046988"/>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Run it: Missing values and</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duplicates in a small table</a:t>
            </a:r>
            <a:endParaRPr lang="en-US" sz="3600" dirty="0"/>
          </a:p>
        </p:txBody>
      </p:sp>
      <p:sp>
        <p:nvSpPr>
          <p:cNvPr id="3" name="Shape 1"/>
          <p:cNvSpPr/>
          <p:nvPr/>
        </p:nvSpPr>
        <p:spPr>
          <a:xfrm>
            <a:off x="640080" y="1645920"/>
            <a:ext cx="6035040" cy="1491996"/>
          </a:xfrm>
          <a:prstGeom prst="roundRect">
            <a:avLst>
              <a:gd name="adj" fmla="val 4903"/>
            </a:avLst>
          </a:prstGeom>
          <a:solidFill>
            <a:srgbClr val="FFFFFF"/>
          </a:solidFill>
          <a:ln w="15875">
            <a:solidFill>
              <a:srgbClr val="111111"/>
            </a:solidFill>
            <a:prstDash val="solid"/>
          </a:ln>
        </p:spPr>
      </p:sp>
      <p:sp>
        <p:nvSpPr>
          <p:cNvPr id="4" name="Text 2"/>
          <p:cNvSpPr txBox="1"/>
          <p:nvPr/>
        </p:nvSpPr>
        <p:spPr>
          <a:xfrm>
            <a:off x="822960" y="1828800"/>
            <a:ext cx="5669280" cy="1126236"/>
          </a:xfrm>
          <a:prstGeom prst="rect">
            <a:avLst/>
          </a:prstGeom>
          <a:noFill/>
          <a:ln/>
        </p:spPr>
        <p:txBody>
          <a:bodyPr wrap="square" lIns="0" tIns="0" rIns="0" bIns="0" rtlCol="0" anchor="t"/>
          <a:lstStyle/>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2</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3</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2000.0</a:t>
            </a:r>
            <a:endParaRPr lang="en-US" sz="2200" dirty="0"/>
          </a:p>
        </p:txBody>
      </p:sp>
      <p:sp>
        <p:nvSpPr>
          <p:cNvPr id="5" name="Text 3"/>
          <p:cNvSpPr txBox="1"/>
          <p:nvPr/>
        </p:nvSpPr>
        <p:spPr>
          <a:xfrm>
            <a:off x="7040880" y="1737360"/>
            <a:ext cx="4480560" cy="4389120"/>
          </a:xfrm>
          <a:prstGeom prst="rect">
            <a:avLst/>
          </a:prstGeom>
          <a:noFill/>
          <a:ln/>
        </p:spPr>
        <p:txBody>
          <a:bodyPr wrap="square" lIns="0" tIns="0" rIns="0" bIns="0" rtlCol="0" anchor="t"/>
          <a:lstStyle/>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The raw table has 2 missing prices.</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After the duplicate row is removed, 3 rows stay and one price is still missing.</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The mean of the two known prices is 2000.</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The missing price is unknown and is not free.</a:t>
            </a:r>
            <a:endParaRPr lang="en-US" sz="2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Investigate: Missing values</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and duplicates in a small table</a:t>
            </a:r>
            <a:endParaRPr lang="en-US" sz="3600" dirty="0"/>
          </a:p>
        </p:txBody>
      </p:sp>
      <p:pic>
        <p:nvPicPr>
          <p:cNvPr id="3" name="Image 0" descr="Look closely">    </p:cNvPr>
          <p:cNvPicPr>
            <a:picLocks noChangeAspect="1"/>
          </p:cNvPicPr>
          <p:nvPr/>
        </p:nvPicPr>
        <p:blipFill>
          <a:blip r:embed="rId1"/>
          <a:stretch>
            <a:fillRect/>
          </a:stretch>
        </p:blipFill>
        <p:spPr>
          <a:xfrm>
            <a:off x="9875520" y="4480560"/>
            <a:ext cx="1645920" cy="1645920"/>
          </a:xfrm>
          <a:prstGeom prst="rect">
            <a:avLst/>
          </a:prstGeom>
        </p:spPr>
      </p:pic>
      <p:sp>
        <p:nvSpPr>
          <p:cNvPr id="4" name="Text 1"/>
          <p:cNvSpPr txBox="1"/>
          <p:nvPr/>
        </p:nvSpPr>
        <p:spPr>
          <a:xfrm>
            <a:off x="640080" y="1737360"/>
            <a:ext cx="896112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Why would replacing the missing price with 0 change the meaning?</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Could two identical rows be real separate sales?</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Count how many rows in clean still have a missing price.</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pic>
        <p:nvPicPr>
          <p:cNvPr id="4" name="Image 0" descr="Change one thing">    </p:cNvPr>
          <p:cNvPicPr>
            <a:picLocks noChangeAspect="1"/>
          </p:cNvPicPr>
          <p:nvPr/>
        </p:nvPicPr>
        <p:blipFill>
          <a:blip r:embed="rId1"/>
          <a:stretch>
            <a:fillRect/>
          </a:stretch>
        </p:blipFill>
        <p:spPr>
          <a:xfrm>
            <a:off x="9418320" y="2103120"/>
            <a:ext cx="1828800"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400" b="1" dirty="0">
                <a:solidFill>
                  <a:srgbClr val="FFFFFF"/>
                </a:solidFill>
                <a:latin typeface="Lato" pitchFamily="34" charset="0"/>
                <a:ea typeface="Lato" pitchFamily="34" charset="-122"/>
                <a:cs typeface="Lato" pitchFamily="34" charset="-120"/>
              </a:rPr>
              <a:t>Break</a:t>
            </a:r>
            <a:endParaRPr lang="en-US" sz="5400" dirty="0"/>
          </a:p>
        </p:txBody>
      </p:sp>
      <p:sp>
        <p:nvSpPr>
          <p:cNvPr id="3" name="Text 1"/>
          <p:cNvSpPr txBox="1"/>
          <p:nvPr/>
        </p:nvSpPr>
        <p:spPr>
          <a:xfrm>
            <a:off x="640080" y="3154680"/>
            <a:ext cx="6858000" cy="914400"/>
          </a:xfrm>
          <a:prstGeom prst="rect">
            <a:avLst/>
          </a:prstGeom>
          <a:noFill/>
          <a:ln/>
        </p:spPr>
        <p:txBody>
          <a:bodyPr wrap="square" lIns="0" tIns="0" rIns="0" bIns="0" rtlCol="0" anchor="t"/>
          <a:lstStyle/>
          <a:p>
            <a:pPr algn="l" indent="0" marL="0">
              <a:lnSpc>
                <a:spcPts val="4080"/>
              </a:lnSpc>
              <a:buNone/>
            </a:pPr>
            <a:r>
              <a:rPr lang="en-US" sz="3400" b="1" dirty="0">
                <a:solidFill>
                  <a:srgbClr val="FFFFFF"/>
                </a:solidFill>
                <a:latin typeface="Lato" pitchFamily="34" charset="0"/>
                <a:ea typeface="Lato" pitchFamily="34" charset="-122"/>
                <a:cs typeface="Lato" pitchFamily="34" charset="-120"/>
              </a:rPr>
              <a:t>15 minutes away from your screen</a:t>
            </a:r>
            <a:endParaRPr lang="en-US" sz="3400" dirty="0"/>
          </a:p>
        </p:txBody>
      </p:sp>
      <p:sp>
        <p:nvSpPr>
          <p:cNvPr id="4" name="Text 2"/>
          <p:cNvSpPr txBox="1"/>
          <p:nvPr/>
        </p:nvSpPr>
        <p:spPr>
          <a:xfrm>
            <a:off x="640080" y="4206240"/>
            <a:ext cx="6400800" cy="1463040"/>
          </a:xfrm>
          <a:prstGeom prst="rect">
            <a:avLst/>
          </a:prstGeom>
          <a:noFill/>
          <a:ln/>
        </p:spPr>
        <p:txBody>
          <a:bodyPr wrap="square" lIns="0" tIns="0" rIns="0" bIns="0" rtlCol="0" anchor="t"/>
          <a:lstStyle/>
          <a:p>
            <a:pPr algn="l" indent="0" marL="0">
              <a:lnSpc>
                <a:spcPts val="3000"/>
              </a:lnSpc>
              <a:buNone/>
            </a:pPr>
            <a:r>
              <a:rPr lang="en-US" sz="2400" dirty="0">
                <a:solidFill>
                  <a:srgbClr val="D8D8D8"/>
                </a:solidFill>
                <a:latin typeface="Lato" pitchFamily="34" charset="0"/>
                <a:ea typeface="Lato" pitchFamily="34" charset="-122"/>
                <a:cs typeface="Lato" pitchFamily="34" charset="-120"/>
              </a:rPr>
              <a:t>Stand up. Drink some water. Tell someone what you guessed in the first half.</a:t>
            </a:r>
            <a:endParaRPr lang="en-US" sz="2400" dirty="0"/>
          </a:p>
        </p:txBody>
      </p:sp>
      <p:pic>
        <p:nvPicPr>
          <p:cNvPr id="5" name="Image 0" descr="A clock">    </p:cNvPr>
          <p:cNvPicPr>
            <a:picLocks noChangeAspect="1"/>
          </p:cNvPicPr>
          <p:nvPr/>
        </p:nvPicPr>
        <p:blipFill>
          <a:blip r:embed="rId1"/>
          <a:stretch>
            <a:fillRect/>
          </a:stretch>
        </p:blipFill>
        <p:spPr>
          <a:xfrm>
            <a:off x="8321040" y="2743200"/>
            <a:ext cx="2926080" cy="29260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Counting each fault shows how big the clean-up is</a:t>
            </a:r>
            <a:endParaRPr lang="en-US" sz="3600" dirty="0"/>
          </a:p>
        </p:txBody>
      </p:sp>
      <p:pic>
        <p:nvPicPr>
          <p:cNvPr id="3" name="Image 0" descr="Counting each fault shows how big the clean-up is">    </p:cNvPr>
          <p:cNvPicPr>
            <a:picLocks noChangeAspect="1"/>
          </p:cNvPicPr>
          <p:nvPr/>
        </p:nvPicPr>
        <p:blipFill>
          <a:blip r:embed="rId1"/>
          <a:stretch>
            <a:fillRect/>
          </a:stretch>
        </p:blipFill>
        <p:spPr>
          <a:xfrm>
            <a:off x="640080" y="1554480"/>
            <a:ext cx="10881360" cy="4069080"/>
          </a:xfrm>
          <a:prstGeom prst="rect">
            <a:avLst/>
          </a:prstGeom>
        </p:spPr>
      </p:pic>
      <p:sp>
        <p:nvSpPr>
          <p:cNvPr id="4" name="Text 1"/>
          <p:cNvSpPr txBox="1"/>
          <p:nvPr/>
        </p:nvSpPr>
        <p:spPr>
          <a:xfrm>
            <a:off x="640080" y="5669280"/>
            <a:ext cx="10881360" cy="64008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25 repeated rows, 40 blank units, 60 slash dates, 12 units written as words.</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A cleaning log records what</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changed and how much</a:t>
            </a:r>
            <a:endParaRPr lang="en-US" sz="3600" dirty="0"/>
          </a:p>
        </p:txBody>
      </p:sp>
      <p:pic>
        <p:nvPicPr>
          <p:cNvPr id="3" name="Image 0" descr="A cleaning log records what changed and how much">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One line for each step.</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Each line states the rows before and after.</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log is saved with to_csv.</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The raw Sunrise file (1 of 2)</a:t>
            </a:r>
            <a:endParaRPr lang="en-US" sz="3800" dirty="0"/>
          </a:p>
        </p:txBody>
      </p:sp>
      <p:sp>
        <p:nvSpPr>
          <p:cNvPr id="3" name="Shape 1"/>
          <p:cNvSpPr/>
          <p:nvPr/>
        </p:nvSpPr>
        <p:spPr>
          <a:xfrm>
            <a:off x="640080" y="1645920"/>
            <a:ext cx="10881360" cy="1891792"/>
          </a:xfrm>
          <a:prstGeom prst="roundRect">
            <a:avLst>
              <a:gd name="adj" fmla="val 3867"/>
            </a:avLst>
          </a:prstGeom>
          <a:solidFill>
            <a:srgbClr val="111111"/>
          </a:solidFill>
          <a:ln/>
        </p:spPr>
      </p:sp>
      <p:sp>
        <p:nvSpPr>
          <p:cNvPr id="4" name="Text 2"/>
          <p:cNvSpPr txBox="1"/>
          <p:nvPr/>
        </p:nvSpPr>
        <p:spPr>
          <a:xfrm>
            <a:off x="841248" y="1847088"/>
            <a:ext cx="10479024" cy="1489456"/>
          </a:xfrm>
          <a:prstGeom prst="rect">
            <a:avLst/>
          </a:prstGeom>
          <a:noFill/>
          <a:ln/>
        </p:spPr>
        <p:txBody>
          <a:bodyPr wrap="square" lIns="0" tIns="0" rIns="0" bIns="0" rtlCol="0" anchor="t"/>
          <a:lstStyle/>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raw_sales = pd.read_csv(</a:t>
            </a:r>
            <a:pPr algn="l" indent="0" marL="0">
              <a:lnSpc>
                <a:spcPts val="2860"/>
              </a:lnSpc>
              <a:buNone/>
            </a:pPr>
            <a:r>
              <a:rPr lang="en-US" sz="2200" dirty="0">
                <a:solidFill>
                  <a:srgbClr val="E0BE36"/>
                </a:solidFill>
                <a:latin typeface="Courier New" pitchFamily="34" charset="0"/>
                <a:ea typeface="Courier New" pitchFamily="34" charset="-122"/>
                <a:cs typeface="Courier New" pitchFamily="34" charset="-120"/>
              </a:rPr>
              <a:t>"sunrise_sales_raw.csv"</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print(raw_sales.shape)</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print(raw_sales.duplicated().sum())</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deduped = raw_sales.drop_duplicates()</a:t>
            </a:r>
            <a:endParaRPr lang="en-US" sz="2200" dirty="0"/>
          </a:p>
        </p:txBody>
      </p:sp>
      <p:sp>
        <p:nvSpPr>
          <p:cNvPr id="5" name="Text 3"/>
          <p:cNvSpPr txBox="1"/>
          <p:nvPr/>
        </p:nvSpPr>
        <p:spPr>
          <a:xfrm>
            <a:off x="640080" y="3720592"/>
            <a:ext cx="8046720" cy="2543048"/>
          </a:xfrm>
          <a:prstGeom prst="rect">
            <a:avLst/>
          </a:prstGeom>
          <a:noFill/>
          <a:ln/>
        </p:spPr>
        <p:txBody>
          <a:bodyPr wrap="square" lIns="0" tIns="0" rIns="0" bIns="0" rtlCol="0" anchor="t"/>
          <a:lstStyle/>
          <a:p>
            <a:pPr algn="l" indent="0" marL="0">
              <a:lnSpc>
                <a:spcPts val="2880"/>
              </a:lnSpc>
              <a:spcAft>
                <a:spcPts val="1010"/>
              </a:spcAft>
              <a:buNone/>
            </a:pPr>
            <a:r>
              <a:rPr lang="en-US" sz="2400" dirty="0">
                <a:solidFill>
                  <a:srgbClr val="111111"/>
                </a:solidFill>
                <a:latin typeface="Lato" pitchFamily="34" charset="0"/>
                <a:ea typeface="Lato" pitchFamily="34" charset="-122"/>
                <a:cs typeface="Lato" pitchFamily="34" charset="-120"/>
              </a:rPr>
              <a:t>Read the first part of the code. 4 lines. Say what each one does.</a:t>
            </a:r>
            <a:endParaRPr lang="en-US" sz="2400" dirty="0"/>
          </a:p>
          <a:p>
            <a:pPr algn="l" indent="0" marL="0">
              <a:lnSpc>
                <a:spcPts val="2880"/>
              </a:lnSpc>
              <a:spcAft>
                <a:spcPts val="1010"/>
              </a:spcAft>
              <a:buNone/>
            </a:pPr>
            <a:r>
              <a:rPr lang="en-US" sz="2400" dirty="0">
                <a:solidFill>
                  <a:srgbClr val="111111"/>
                </a:solidFill>
                <a:latin typeface="Lato" pitchFamily="34" charset="0"/>
                <a:ea typeface="Lato" pitchFamily="34" charset="-122"/>
                <a:cs typeface="Lato" pitchFamily="34" charset="-120"/>
              </a:rPr>
              <a:t>The second part comes next.</a:t>
            </a:r>
            <a:endParaRPr lang="en-US" sz="2400" dirty="0"/>
          </a:p>
        </p:txBody>
      </p:sp>
      <p:pic>
        <p:nvPicPr>
          <p:cNvPr id="6" name="Image 0" descr="A page and a pen">    </p:cNvPr>
          <p:cNvPicPr>
            <a:picLocks noChangeAspect="1"/>
          </p:cNvPicPr>
          <p:nvPr/>
        </p:nvPicPr>
        <p:blipFill>
          <a:blip r:embed="rId1"/>
          <a:stretch>
            <a:fillRect/>
          </a:stretch>
        </p:blipFill>
        <p:spPr>
          <a:xfrm>
            <a:off x="10149840" y="4983480"/>
            <a:ext cx="1371600" cy="118872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The raw Sunrise file (2 of 2)</a:t>
            </a:r>
            <a:endParaRPr lang="en-US" sz="3800" dirty="0"/>
          </a:p>
        </p:txBody>
      </p:sp>
      <p:sp>
        <p:nvSpPr>
          <p:cNvPr id="3" name="Shape 1"/>
          <p:cNvSpPr/>
          <p:nvPr/>
        </p:nvSpPr>
        <p:spPr>
          <a:xfrm>
            <a:off x="640080" y="1645920"/>
            <a:ext cx="10881360" cy="3080512"/>
          </a:xfrm>
          <a:prstGeom prst="roundRect">
            <a:avLst>
              <a:gd name="adj" fmla="val 2375"/>
            </a:avLst>
          </a:prstGeom>
          <a:solidFill>
            <a:srgbClr val="111111"/>
          </a:solidFill>
          <a:ln/>
        </p:spPr>
      </p:sp>
      <p:sp>
        <p:nvSpPr>
          <p:cNvPr id="4" name="Text 2"/>
          <p:cNvSpPr txBox="1"/>
          <p:nvPr/>
        </p:nvSpPr>
        <p:spPr>
          <a:xfrm>
            <a:off x="841248" y="1847088"/>
            <a:ext cx="10479024" cy="2678176"/>
          </a:xfrm>
          <a:prstGeom prst="rect">
            <a:avLst/>
          </a:prstGeom>
          <a:noFill/>
          <a:ln/>
        </p:spPr>
        <p:txBody>
          <a:bodyPr wrap="square" lIns="0" tIns="0" rIns="0" bIns="0" rtlCol="0" anchor="t"/>
          <a:lstStyle/>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print(deduped.shape)</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print(deduped[</a:t>
            </a:r>
            <a:pPr algn="l" indent="0" marL="0">
              <a:lnSpc>
                <a:spcPts val="2080"/>
              </a:lnSpc>
              <a:buNone/>
            </a:pPr>
            <a:r>
              <a:rPr lang="en-US" sz="1600" dirty="0">
                <a:solidFill>
                  <a:srgbClr val="E0BE36"/>
                </a:solidFill>
                <a:latin typeface="Courier New" pitchFamily="34" charset="0"/>
                <a:ea typeface="Courier New" pitchFamily="34" charset="-122"/>
                <a:cs typeface="Courier New" pitchFamily="34" charset="-120"/>
              </a:rPr>
              <a:t>"units"</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].isna().sum())</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log = pd.DataFrame(</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a:t>
            </a:r>
            <a:pPr algn="l" indent="0" marL="0">
              <a:lnSpc>
                <a:spcPts val="2080"/>
              </a:lnSpc>
              <a:buNone/>
            </a:pPr>
            <a:r>
              <a:rPr lang="en-US" sz="1600" dirty="0">
                <a:solidFill>
                  <a:srgbClr val="E0BE36"/>
                </a:solidFill>
                <a:latin typeface="Courier New" pitchFamily="34" charset="0"/>
                <a:ea typeface="Courier New" pitchFamily="34" charset="-122"/>
                <a:cs typeface="Courier New" pitchFamily="34" charset="-120"/>
              </a:rPr>
              <a:t>"problem"</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a:t>
            </a:r>
            <a:pPr algn="l" indent="0" marL="0">
              <a:lnSpc>
                <a:spcPts val="2080"/>
              </a:lnSpc>
              <a:buNone/>
            </a:pPr>
            <a:r>
              <a:rPr lang="en-US" sz="1600" dirty="0">
                <a:solidFill>
                  <a:srgbClr val="E0BE36"/>
                </a:solidFill>
                <a:latin typeface="Courier New" pitchFamily="34" charset="0"/>
                <a:ea typeface="Courier New" pitchFamily="34" charset="-122"/>
                <a:cs typeface="Courier New" pitchFamily="34" charset="-120"/>
              </a:rPr>
              <a:t>"duplicate rows"</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a:t>
            </a:r>
            <a:pPr algn="l" indent="0" marL="0">
              <a:lnSpc>
                <a:spcPts val="2080"/>
              </a:lnSpc>
              <a:buNone/>
            </a:pPr>
            <a:r>
              <a:rPr lang="en-US" sz="1600" dirty="0">
                <a:solidFill>
                  <a:srgbClr val="E0BE36"/>
                </a:solidFill>
                <a:latin typeface="Courier New" pitchFamily="34" charset="0"/>
                <a:ea typeface="Courier New" pitchFamily="34" charset="-122"/>
                <a:cs typeface="Courier New" pitchFamily="34" charset="-120"/>
              </a:rPr>
              <a:t>"blank units"</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a:t>
            </a:r>
            <a:pPr algn="l" indent="0" marL="0">
              <a:lnSpc>
                <a:spcPts val="2080"/>
              </a:lnSpc>
              <a:buNone/>
            </a:pPr>
            <a:r>
              <a:rPr lang="en-US" sz="1600" dirty="0">
                <a:solidFill>
                  <a:srgbClr val="E0BE36"/>
                </a:solidFill>
                <a:latin typeface="Courier New" pitchFamily="34" charset="0"/>
                <a:ea typeface="Courier New" pitchFamily="34" charset="-122"/>
                <a:cs typeface="Courier New" pitchFamily="34" charset="-120"/>
              </a:rPr>
              <a:t>"rows"</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[raw_sales.duplicated().sum(), deduped[</a:t>
            </a:r>
            <a:pPr algn="l" indent="0" marL="0">
              <a:lnSpc>
                <a:spcPts val="2080"/>
              </a:lnSpc>
              <a:buNone/>
            </a:pPr>
            <a:r>
              <a:rPr lang="en-US" sz="1600" dirty="0">
                <a:solidFill>
                  <a:srgbClr val="E0BE36"/>
                </a:solidFill>
                <a:latin typeface="Courier New" pitchFamily="34" charset="0"/>
                <a:ea typeface="Courier New" pitchFamily="34" charset="-122"/>
                <a:cs typeface="Courier New" pitchFamily="34" charset="-120"/>
              </a:rPr>
              <a:t>"units"</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].isna().sum()]</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log.to_csv(</a:t>
            </a:r>
            <a:pPr algn="l" indent="0" marL="0">
              <a:lnSpc>
                <a:spcPts val="2080"/>
              </a:lnSpc>
              <a:buNone/>
            </a:pPr>
            <a:r>
              <a:rPr lang="en-US" sz="1600" dirty="0">
                <a:solidFill>
                  <a:srgbClr val="E0BE36"/>
                </a:solidFill>
                <a:latin typeface="Courier New" pitchFamily="34" charset="0"/>
                <a:ea typeface="Courier New" pitchFamily="34" charset="-122"/>
                <a:cs typeface="Courier New" pitchFamily="34" charset="-120"/>
              </a:rPr>
              <a:t>"cleaning_log.csv"</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index=</a:t>
            </a:r>
            <a:pPr algn="l" indent="0" marL="0">
              <a:lnSpc>
                <a:spcPts val="2080"/>
              </a:lnSpc>
              <a:buNone/>
            </a:pPr>
            <a:r>
              <a:rPr lang="en-US" sz="1600" b="1" dirty="0">
                <a:solidFill>
                  <a:srgbClr val="FFFFFF"/>
                </a:solidFill>
                <a:latin typeface="Courier New" pitchFamily="34" charset="0"/>
                <a:ea typeface="Courier New" pitchFamily="34" charset="-122"/>
                <a:cs typeface="Courier New" pitchFamily="34" charset="-120"/>
              </a:rPr>
              <a:t>False</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print(pd.read_csv(</a:t>
            </a:r>
            <a:pPr algn="l" indent="0" marL="0">
              <a:lnSpc>
                <a:spcPts val="2080"/>
              </a:lnSpc>
              <a:buNone/>
            </a:pPr>
            <a:r>
              <a:rPr lang="en-US" sz="1600" dirty="0">
                <a:solidFill>
                  <a:srgbClr val="E0BE36"/>
                </a:solidFill>
                <a:latin typeface="Courier New" pitchFamily="34" charset="0"/>
                <a:ea typeface="Courier New" pitchFamily="34" charset="-122"/>
                <a:cs typeface="Courier New" pitchFamily="34" charset="-120"/>
              </a:rPr>
              <a:t>"cleaning_log.csv"</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a:t>
            </a:r>
            <a:endParaRPr lang="en-US" sz="1600" dirty="0"/>
          </a:p>
        </p:txBody>
      </p:sp>
      <p:sp>
        <p:nvSpPr>
          <p:cNvPr id="5" name="Text 3"/>
          <p:cNvSpPr txBox="1"/>
          <p:nvPr/>
        </p:nvSpPr>
        <p:spPr>
          <a:xfrm>
            <a:off x="640080" y="4909312"/>
            <a:ext cx="8046720" cy="1354328"/>
          </a:xfrm>
          <a:prstGeom prst="rect">
            <a:avLst/>
          </a:prstGeom>
          <a:noFill/>
          <a:ln/>
        </p:spPr>
        <p:txBody>
          <a:bodyPr wrap="square" lIns="0" tIns="0" rIns="0" bIns="0" rtlCol="0" anchor="t"/>
          <a:lstStyle/>
          <a:p>
            <a:pPr algn="l" indent="0" marL="0">
              <a:lnSpc>
                <a:spcPts val="2880"/>
              </a:lnSpc>
              <a:spcAft>
                <a:spcPts val="1010"/>
              </a:spcAft>
              <a:buNone/>
            </a:pPr>
            <a:r>
              <a:rPr lang="en-US" sz="2400" dirty="0">
                <a:solidFill>
                  <a:srgbClr val="111111"/>
                </a:solidFill>
                <a:latin typeface="Lato" pitchFamily="34" charset="0"/>
                <a:ea typeface="Lato" pitchFamily="34" charset="-122"/>
                <a:cs typeface="Lato" pitchFamily="34" charset="-120"/>
              </a:rPr>
              <a:t>Predict how many duplicate rows the file holds. The clean version has 1513 sales.</a:t>
            </a:r>
            <a:endParaRPr lang="en-US" sz="2400" dirty="0"/>
          </a:p>
          <a:p>
            <a:pPr algn="l" indent="0" marL="0">
              <a:lnSpc>
                <a:spcPts val="2880"/>
              </a:lnSpc>
              <a:spcAft>
                <a:spcPts val="1010"/>
              </a:spcAft>
              <a:buNone/>
            </a:pPr>
            <a:r>
              <a:rPr lang="en-US" sz="2400" dirty="0">
                <a:solidFill>
                  <a:srgbClr val="111111"/>
                </a:solidFill>
                <a:latin typeface="Lato" pitchFamily="34" charset="0"/>
                <a:ea typeface="Lato" pitchFamily="34" charset="-122"/>
                <a:cs typeface="Lato" pitchFamily="34" charset="-120"/>
              </a:rPr>
              <a:t>Write your guess on paper before we run it.</a:t>
            </a:r>
            <a:endParaRPr lang="en-US" sz="2400" dirty="0"/>
          </a:p>
        </p:txBody>
      </p:sp>
      <p:pic>
        <p:nvPicPr>
          <p:cNvPr id="6" name="Image 0" descr="A page and a pen">    </p:cNvPr>
          <p:cNvPicPr>
            <a:picLocks noChangeAspect="1"/>
          </p:cNvPicPr>
          <p:nvPr/>
        </p:nvPicPr>
        <p:blipFill>
          <a:blip r:embed="rId1"/>
          <a:stretch>
            <a:fillRect/>
          </a:stretch>
        </p:blipFill>
        <p:spPr>
          <a:xfrm>
            <a:off x="10149840" y="4983480"/>
            <a:ext cx="1371600" cy="118872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The raw Sunrise file</a:t>
            </a:r>
            <a:endParaRPr lang="en-US" sz="3800" dirty="0"/>
          </a:p>
        </p:txBody>
      </p:sp>
      <p:sp>
        <p:nvSpPr>
          <p:cNvPr id="3" name="Shape 1"/>
          <p:cNvSpPr/>
          <p:nvPr/>
        </p:nvSpPr>
        <p:spPr>
          <a:xfrm>
            <a:off x="640080" y="1645920"/>
            <a:ext cx="6035040" cy="2944876"/>
          </a:xfrm>
          <a:prstGeom prst="roundRect">
            <a:avLst>
              <a:gd name="adj" fmla="val 2484"/>
            </a:avLst>
          </a:prstGeom>
          <a:solidFill>
            <a:srgbClr val="FFFFFF"/>
          </a:solidFill>
          <a:ln w="15875">
            <a:solidFill>
              <a:srgbClr val="111111"/>
            </a:solidFill>
            <a:prstDash val="solid"/>
          </a:ln>
        </p:spPr>
      </p:sp>
      <p:sp>
        <p:nvSpPr>
          <p:cNvPr id="4" name="Text 2"/>
          <p:cNvSpPr txBox="1"/>
          <p:nvPr/>
        </p:nvSpPr>
        <p:spPr>
          <a:xfrm>
            <a:off x="822960" y="1828800"/>
            <a:ext cx="5669280" cy="2579116"/>
          </a:xfrm>
          <a:prstGeom prst="rect">
            <a:avLst/>
          </a:prstGeom>
          <a:noFill/>
          <a:ln/>
        </p:spPr>
        <p:txBody>
          <a:bodyPr wrap="square" lIns="0" tIns="0" rIns="0" bIns="0" rtlCol="0" anchor="t"/>
          <a:lstStyle/>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(1538, 6)</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25</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(1513, 6)</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40</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          problem  rows</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0  duplicate rows    25</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1     blank units    40</a:t>
            </a:r>
            <a:endParaRPr lang="en-US" sz="2200" dirty="0"/>
          </a:p>
        </p:txBody>
      </p:sp>
      <p:sp>
        <p:nvSpPr>
          <p:cNvPr id="5" name="Text 3"/>
          <p:cNvSpPr txBox="1"/>
          <p:nvPr/>
        </p:nvSpPr>
        <p:spPr>
          <a:xfrm>
            <a:off x="7040880" y="1737360"/>
            <a:ext cx="4480560" cy="4389120"/>
          </a:xfrm>
          <a:prstGeom prst="rect">
            <a:avLst/>
          </a:prstGeom>
          <a:noFill/>
          <a:ln/>
        </p:spPr>
        <p:txBody>
          <a:bodyPr wrap="square" lIns="0" tIns="0" rIns="0" bIns="0" rtlCol="0" anchor="t"/>
          <a:lstStyle/>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The raw file has 1538 rows.</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25 are exact duplicates, so removing them leaves 1513, the same as the clean file.</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40 rows have blank units.</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The log table is saved and read back with two lines: 25 duplicate rows and 40 blank-unit rows.</a:t>
            </a:r>
            <a:endParaRPr lang="en-US" sz="2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The raw Sunrise file</a:t>
            </a:r>
            <a:endParaRPr lang="en-US" sz="3800" dirty="0"/>
          </a:p>
        </p:txBody>
      </p:sp>
      <p:pic>
        <p:nvPicPr>
          <p:cNvPr id="3" name="Image 0" descr="Look closely">    </p:cNvPr>
          <p:cNvPicPr>
            <a:picLocks noChangeAspect="1"/>
          </p:cNvPicPr>
          <p:nvPr/>
        </p:nvPicPr>
        <p:blipFill>
          <a:blip r:embed="rId1"/>
          <a:stretch>
            <a:fillRect/>
          </a:stretch>
        </p:blipFill>
        <p:spPr>
          <a:xfrm>
            <a:off x="9875520" y="4480560"/>
            <a:ext cx="1645920" cy="1645920"/>
          </a:xfrm>
          <a:prstGeom prst="rect">
            <a:avLst/>
          </a:prstGeom>
        </p:spPr>
      </p:pic>
      <p:sp>
        <p:nvSpPr>
          <p:cNvPr id="4" name="Text 1"/>
          <p:cNvSpPr txBox="1"/>
          <p:nvPr/>
        </p:nvSpPr>
        <p:spPr>
          <a:xfrm>
            <a:off x="640080" y="1737360"/>
            <a:ext cx="896112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Why does the cleaned row count of 1513 match the clean file?</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Why not fill the 40 blank units with the mean?</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Count the rows whose date is written with slashes, and add them to the log.</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pic>
        <p:nvPicPr>
          <p:cNvPr id="4" name="Image 0" descr="Change one thing">    </p:cNvPr>
          <p:cNvPicPr>
            <a:picLocks noChangeAspect="1"/>
          </p:cNvPicPr>
          <p:nvPr/>
        </p:nvPicPr>
        <p:blipFill>
          <a:blip r:embed="rId1"/>
          <a:stretch>
            <a:fillRect/>
          </a:stretch>
        </p:blipFill>
        <p:spPr>
          <a:xfrm>
            <a:off x="9418320" y="2103120"/>
            <a:ext cx="1828800"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A zero is a fact and a blank is an unknown</a:t>
            </a:r>
            <a:endParaRPr lang="en-US" sz="3800" dirty="0"/>
          </a:p>
        </p:txBody>
      </p:sp>
      <p:pic>
        <p:nvPicPr>
          <p:cNvPr id="3" name="Image 0" descr="A zero is a fact and a blank is an unknown">    </p:cNvPr>
          <p:cNvPicPr>
            <a:picLocks noChangeAspect="1"/>
          </p:cNvPicPr>
          <p:nvPr/>
        </p:nvPicPr>
        <p:blipFill>
          <a:blip r:embed="rId1"/>
          <a:stretch>
            <a:fillRect/>
          </a:stretch>
        </p:blipFill>
        <p:spPr>
          <a:xfrm>
            <a:off x="640080" y="1554480"/>
            <a:ext cx="10881360" cy="4069080"/>
          </a:xfrm>
          <a:prstGeom prst="rect">
            <a:avLst/>
          </a:prstGeom>
        </p:spPr>
      </p:pic>
      <p:sp>
        <p:nvSpPr>
          <p:cNvPr id="4" name="Text 1"/>
          <p:cNvSpPr txBox="1"/>
          <p:nvPr/>
        </p:nvSpPr>
        <p:spPr>
          <a:xfrm>
            <a:off x="640080" y="5669280"/>
            <a:ext cx="10881360" cy="64008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Filling a blank with zero changes the totals and the averages.</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Make: your own version</a:t>
            </a:r>
            <a:endParaRPr lang="en-US" sz="3800" dirty="0"/>
          </a:p>
        </p:txBody>
      </p:sp>
      <p:sp>
        <p:nvSpPr>
          <p:cNvPr id="3" name="Text 1"/>
          <p:cNvSpPr txBox="1"/>
          <p:nvPr/>
        </p:nvSpPr>
        <p:spPr>
          <a:xfrm>
            <a:off x="640080" y="1737360"/>
            <a:ext cx="6949440" cy="4480560"/>
          </a:xfrm>
          <a:prstGeom prst="rect">
            <a:avLst/>
          </a:prstGeom>
          <a:noFill/>
          <a:ln/>
        </p:spPr>
        <p:txBody>
          <a:bodyPr wrap="square" lIns="0" tIns="0" rIns="0" bIns="0" rtlCol="0" anchor="t"/>
          <a:lstStyle/>
          <a:p>
            <a:pPr algn="l" indent="0" marL="0">
              <a:lnSpc>
                <a:spcPts val="3240"/>
              </a:lnSpc>
              <a:spcAft>
                <a:spcPts val="2520"/>
              </a:spcAft>
              <a:buNone/>
            </a:pPr>
            <a:r>
              <a:rPr lang="en-US" sz="2700" dirty="0">
                <a:solidFill>
                  <a:srgbClr val="111111"/>
                </a:solidFill>
                <a:latin typeface="Lato" pitchFamily="34" charset="0"/>
                <a:ea typeface="Lato" pitchFamily="34" charset="-122"/>
                <a:cs typeface="Lato" pitchFamily="34" charset="-120"/>
              </a:rPr>
              <a:t>Write a cleaning log for the four-row table in Block A: four raw rows, one duplicate removed, one price still missing. Save it as a CSV with to_csv. Write one sentence on why replacing the missing price with zero would change what the data says.</a:t>
            </a:r>
            <a:endParaRPr lang="en-US" sz="2700" dirty="0"/>
          </a:p>
          <a:p>
            <a:pPr algn="l" indent="0" marL="0">
              <a:lnSpc>
                <a:spcPts val="3240"/>
              </a:lnSpc>
              <a:spcAft>
                <a:spcPts val="2520"/>
              </a:spcAft>
              <a:buNone/>
            </a:pPr>
            <a:r>
              <a:rPr lang="en-US" sz="2700" dirty="0">
                <a:solidFill>
                  <a:srgbClr val="111111"/>
                </a:solidFill>
                <a:latin typeface="Lato" pitchFamily="34" charset="0"/>
                <a:ea typeface="Lato" pitchFamily="34" charset="-122"/>
                <a:cs typeface="Lato" pitchFamily="34" charset="-120"/>
              </a:rPr>
              <a:t>Save it as DA10. Write two sentences: what you changed and how you checked it.</a:t>
            </a:r>
            <a:endParaRPr lang="en-US" sz="2700" dirty="0"/>
          </a:p>
        </p:txBody>
      </p:sp>
      <p:pic>
        <p:nvPicPr>
          <p:cNvPr id="4" name="Image 0" descr="A notebook saved with a tick">    </p:cNvPr>
          <p:cNvPicPr>
            <a:picLocks noChangeAspect="1"/>
          </p:cNvPicPr>
          <p:nvPr/>
        </p:nvPicPr>
        <p:blipFill>
          <a:blip r:embed="rId1"/>
          <a:stretch>
            <a:fillRect/>
          </a:stretch>
        </p:blipFill>
        <p:spPr>
          <a:xfrm>
            <a:off x="8138160" y="1920240"/>
            <a:ext cx="347472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Two errors you may meet today</a:t>
            </a:r>
            <a:endParaRPr lang="en-US" sz="3800" dirty="0"/>
          </a:p>
        </p:txBody>
      </p:sp>
      <p:pic>
        <p:nvPicPr>
          <p:cNvPr id="3" name="Image 0" descr="Error">    </p:cNvPr>
          <p:cNvPicPr>
            <a:picLocks noChangeAspect="1"/>
          </p:cNvPicPr>
          <p:nvPr/>
        </p:nvPicPr>
        <p:blipFill>
          <a:blip r:embed="rId1"/>
          <a:stretch>
            <a:fillRect/>
          </a:stretch>
        </p:blipFill>
        <p:spPr>
          <a:xfrm>
            <a:off x="640080" y="1691640"/>
            <a:ext cx="822960" cy="822960"/>
          </a:xfrm>
          <a:prstGeom prst="rect">
            <a:avLst/>
          </a:prstGeom>
        </p:spPr>
      </p:pic>
      <p:sp>
        <p:nvSpPr>
          <p:cNvPr id="4" name="Shape 1"/>
          <p:cNvSpPr/>
          <p:nvPr/>
        </p:nvSpPr>
        <p:spPr>
          <a:xfrm>
            <a:off x="1645920" y="1828800"/>
            <a:ext cx="4023360" cy="1645920"/>
          </a:xfrm>
          <a:prstGeom prst="roundRect">
            <a:avLst>
              <a:gd name="adj" fmla="val 3333"/>
            </a:avLst>
          </a:prstGeom>
          <a:solidFill>
            <a:srgbClr val="FFFFFF"/>
          </a:solidFill>
          <a:ln w="25400">
            <a:solidFill>
              <a:srgbClr val="AE2525"/>
            </a:solidFill>
            <a:prstDash val="solid"/>
          </a:ln>
        </p:spPr>
      </p:sp>
      <p:sp>
        <p:nvSpPr>
          <p:cNvPr id="5" name="Text 2"/>
          <p:cNvSpPr txBox="1"/>
          <p:nvPr/>
        </p:nvSpPr>
        <p:spPr>
          <a:xfrm>
            <a:off x="1783080" y="192024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SettingWithCopyWarning</a:t>
            </a:r>
            <a:endParaRPr lang="en-US" sz="2000" dirty="0"/>
          </a:p>
        </p:txBody>
      </p:sp>
      <p:sp>
        <p:nvSpPr>
          <p:cNvPr id="6" name="Text 3"/>
          <p:cNvSpPr txBox="1"/>
          <p:nvPr/>
        </p:nvSpPr>
        <p:spPr>
          <a:xfrm>
            <a:off x="6035040" y="166420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You changed a slice of another table, so pandas is not sure which table you meant.</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Make a real copy with .copy() before you change a table.</a:t>
            </a:r>
            <a:endParaRPr lang="en-US" sz="2200" dirty="0"/>
          </a:p>
        </p:txBody>
      </p:sp>
      <p:sp>
        <p:nvSpPr>
          <p:cNvPr id="7" name="Shape 4"/>
          <p:cNvSpPr/>
          <p:nvPr/>
        </p:nvSpPr>
        <p:spPr>
          <a:xfrm>
            <a:off x="640080" y="3813048"/>
            <a:ext cx="10881360" cy="0"/>
          </a:xfrm>
          <a:prstGeom prst="line">
            <a:avLst/>
          </a:prstGeom>
          <a:noFill/>
          <a:ln w="12700">
            <a:solidFill>
              <a:srgbClr val="CFCFCF"/>
            </a:solidFill>
            <a:prstDash val="solid"/>
          </a:ln>
        </p:spPr>
      </p:sp>
      <p:pic>
        <p:nvPicPr>
          <p:cNvPr id="8" name="Image 1" descr="Error">    </p:cNvPr>
          <p:cNvPicPr>
            <a:picLocks noChangeAspect="1"/>
          </p:cNvPicPr>
          <p:nvPr/>
        </p:nvPicPr>
        <p:blipFill>
          <a:blip r:embed="rId2"/>
          <a:stretch>
            <a:fillRect/>
          </a:stretch>
        </p:blipFill>
        <p:spPr>
          <a:xfrm>
            <a:off x="640080" y="4023360"/>
            <a:ext cx="822960" cy="822960"/>
          </a:xfrm>
          <a:prstGeom prst="rect">
            <a:avLst/>
          </a:prstGeom>
        </p:spPr>
      </p:pic>
      <p:sp>
        <p:nvSpPr>
          <p:cNvPr id="9" name="Shape 5"/>
          <p:cNvSpPr/>
          <p:nvPr/>
        </p:nvSpPr>
        <p:spPr>
          <a:xfrm>
            <a:off x="1645920" y="4160520"/>
            <a:ext cx="4023360" cy="1645920"/>
          </a:xfrm>
          <a:prstGeom prst="roundRect">
            <a:avLst>
              <a:gd name="adj" fmla="val 3333"/>
            </a:avLst>
          </a:prstGeom>
          <a:solidFill>
            <a:srgbClr val="FFFFFF"/>
          </a:solidFill>
          <a:ln w="25400">
            <a:solidFill>
              <a:srgbClr val="AE2525"/>
            </a:solidFill>
            <a:prstDash val="solid"/>
          </a:ln>
        </p:spPr>
      </p:sp>
      <p:sp>
        <p:nvSpPr>
          <p:cNvPr id="10" name="Text 6"/>
          <p:cNvSpPr txBox="1"/>
          <p:nvPr/>
        </p:nvSpPr>
        <p:spPr>
          <a:xfrm>
            <a:off x="1783080" y="425196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Row counts differ between steps</a:t>
            </a:r>
            <a:endParaRPr lang="en-US" sz="2000" dirty="0"/>
          </a:p>
        </p:txBody>
      </p:sp>
      <p:sp>
        <p:nvSpPr>
          <p:cNvPr id="11" name="Text 7"/>
          <p:cNvSpPr txBox="1"/>
          <p:nvPr/>
        </p:nvSpPr>
        <p:spPr>
          <a:xfrm>
            <a:off x="6035040" y="399592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A step removed or added rows without you noticing.</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Print len() after every step and write the numbers in the log.</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Finish this sentence in your notebook</a:t>
            </a:r>
            <a:endParaRPr lang="en-US" sz="3800" dirty="0"/>
          </a:p>
        </p:txBody>
      </p:sp>
      <p:sp>
        <p:nvSpPr>
          <p:cNvPr id="3" name="Text 1"/>
          <p:cNvSpPr txBox="1"/>
          <p:nvPr/>
        </p:nvSpPr>
        <p:spPr>
          <a:xfrm>
            <a:off x="640080" y="1737360"/>
            <a:ext cx="6949440" cy="2926080"/>
          </a:xfrm>
          <a:prstGeom prst="rect">
            <a:avLst/>
          </a:prstGeom>
          <a:noFill/>
          <a:ln/>
        </p:spPr>
        <p:txBody>
          <a:bodyPr wrap="square" lIns="0" tIns="0" rIns="0" bIns="0" rtlCol="0" anchor="t"/>
          <a:lstStyle/>
          <a:p>
            <a:pPr algn="l" indent="0" marL="0">
              <a:lnSpc>
                <a:spcPts val="4800"/>
              </a:lnSpc>
              <a:spcAft>
                <a:spcPts val="1010"/>
              </a:spcAft>
              <a:buNone/>
            </a:pPr>
            <a:r>
              <a:rPr lang="en-US" sz="4000" dirty="0">
                <a:solidFill>
                  <a:srgbClr val="111111"/>
                </a:solidFill>
                <a:latin typeface="Lato" pitchFamily="34" charset="0"/>
                <a:ea typeface="Lato" pitchFamily="34" charset="-122"/>
                <a:cs typeface="Lato" pitchFamily="34" charset="-120"/>
              </a:rPr>
              <a:t>I keep the raw file untouched, work on a copy, and write down every change I make.</a:t>
            </a:r>
            <a:endParaRPr lang="en-US" sz="4000" dirty="0"/>
          </a:p>
        </p:txBody>
      </p:sp>
      <p:sp>
        <p:nvSpPr>
          <p:cNvPr id="4" name="Text 2"/>
          <p:cNvSpPr txBox="1"/>
          <p:nvPr/>
        </p:nvSpPr>
        <p:spPr>
          <a:xfrm>
            <a:off x="640080" y="4846320"/>
            <a:ext cx="6949440" cy="1097280"/>
          </a:xfrm>
          <a:prstGeom prst="rect">
            <a:avLst/>
          </a:prstGeom>
          <a:noFill/>
          <a:ln/>
        </p:spPr>
        <p:txBody>
          <a:bodyPr wrap="square" lIns="0" tIns="0" rIns="0" bIns="0" rtlCol="0" anchor="t"/>
          <a:lstStyle/>
          <a:p>
            <a:pPr algn="l" indent="0" marL="0">
              <a:lnSpc>
                <a:spcPts val="2750"/>
              </a:lnSpc>
              <a:buNone/>
            </a:pPr>
            <a:r>
              <a:rPr lang="en-US" sz="2200" dirty="0">
                <a:solidFill>
                  <a:srgbClr val="333333"/>
                </a:solidFill>
                <a:latin typeface="Lato" pitchFamily="34" charset="0"/>
                <a:ea typeface="Lato" pitchFamily="34" charset="-122"/>
                <a:cs typeface="Lato" pitchFamily="34" charset="-120"/>
              </a:rPr>
              <a:t>Then save your notebook, close it and open it again to check it saved.</a:t>
            </a:r>
            <a:endParaRPr lang="en-US" sz="2200" dirty="0"/>
          </a:p>
        </p:txBody>
      </p:sp>
      <p:pic>
        <p:nvPicPr>
          <p:cNvPr id="5" name="Image 0" descr="Finished">    </p:cNvPr>
          <p:cNvPicPr>
            <a:picLocks noChangeAspect="1"/>
          </p:cNvPicPr>
          <p:nvPr/>
        </p:nvPicPr>
        <p:blipFill>
          <a:blip r:embed="rId1"/>
          <a:stretch>
            <a:fillRect/>
          </a:stretch>
        </p:blipFill>
        <p:spPr>
          <a:xfrm>
            <a:off x="8229600" y="1920240"/>
            <a:ext cx="329184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KLAi camp">
  <a:themeElements>
    <a:clrScheme name="KLAi camp">
      <a:dk1>
        <a:srgbClr val="111111"/>
      </a:dk1>
      <a:lt1>
        <a:srgbClr val="FFFFFF"/>
      </a:lt1>
      <a:dk2>
        <a:srgbClr val="333333"/>
      </a:dk2>
      <a:lt2>
        <a:srgbClr val="F1F1F1"/>
      </a:lt2>
      <a:accent1>
        <a:srgbClr val="AE2525"/>
      </a:accent1>
      <a:accent2>
        <a:srgbClr val="E0BE36"/>
      </a:accent2>
      <a:accent3>
        <a:srgbClr val="8C8C8C"/>
      </a:accent3>
      <a:accent4>
        <a:srgbClr val="555555"/>
      </a:accent4>
      <a:accent5>
        <a:srgbClr val="CFCFCF"/>
      </a:accent5>
      <a:accent6>
        <a:srgbClr val="000000"/>
      </a:accent6>
      <a:hlink>
        <a:srgbClr val="AE2525"/>
      </a:hlink>
      <a:folHlink>
        <a:srgbClr val="666666"/>
      </a:folHlink>
    </a:clrScheme>
    <a:fontScheme name="KLAi camp">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KLAi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DA10 Cleaning without hiding evidence</dc:title>
  <dc:subject>Python for Data Analysis</dc:subject>
  <dc:creator>KLAi</dc:creator>
  <cp:lastModifiedBy>KLAi</cp:lastModifiedBy>
  <cp:revision>1</cp:revision>
  <dcterms:created xsi:type="dcterms:W3CDTF">2026-10-31T12:32:46Z</dcterms:created>
  <dcterms:modified xsi:type="dcterms:W3CDTF">2026-10-31T12:32:46Z</dcterms:modified>
</cp:coreProperties>
</file>