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056fe3-6c03-d8ae-29ee-4aaaa6a892c1}">
          <p14:sldIdLst>
            <p14:sldId id="256"/>
            <p14:sldId id="257"/>
            <p14:sldId id="258"/>
            <p14:sldId id="259"/>
            <p14:sldId id="260"/>
            <p14:sldId id="261"/>
            <p14:sldId id="262"/>
          </p14:sldIdLst>
        </p14:section>
        <p14:section name="Block A" id="{59a5015f-c52a-0deb-0994-ede4dac7f7b5}">
          <p14:sldIdLst>
            <p14:sldId id="263"/>
            <p14:sldId id="264"/>
            <p14:sldId id="265"/>
            <p14:sldId id="266"/>
            <p14:sldId id="268"/>
            <p14:sldId id="269"/>
          </p14:sldIdLst>
        </p14:section>
        <p14:section name="Break" id="{acd261f5-0f5a-f7c5-2a4e-cbfdfde81ff1}">
          <p14:sldIdLst>
            <p14:sldId id="267"/>
          </p14:sldIdLst>
        </p14:section>
        <p14:section name="Block A" id="{efb6f254-4977-b321-3a14-7f8b74195c6d}">
          <p14:sldIdLst/>
        </p14:section>
        <p14:section name="Block B" id="{83942a50-61f5-e16a-cc0b-bf03177de90d}">
          <p14:sldIdLst>
            <p14:sldId id="270"/>
            <p14:sldId id="271"/>
            <p14:sldId id="272"/>
            <p14:sldId id="273"/>
            <p14:sldId id="274"/>
            <p14:sldId id="275"/>
          </p14:sldIdLst>
        </p14:section>
        <p14:section name="Make and close" id="{706ef7f0-1443-6239-de48-9898f5264cb5}">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10 and our topic is cleaning without hiding evidence.
By the end of today you will be able to find missing values and duplicates, remove the duplicates on a copy, and save a cleaning log that says what you did.
We will answer one question: What is wrong with the raw Sunrise sales file, and how many rows does each problem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raw export of the Sunrise sales, exactly as the shop system produced it. It has one thousand five hundred and thirty eight rows. Some rows are repeated. Some cells are empty. Some dates are written in a different style from the others. Before we can trust any total, we need to know what is wrong and how many rows each problem touches. Today we count the faults and write them down, and we do not delete anything in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raw data. The file exactly as it arrived. You never overwrite it. The original receipt book.
missing value. A cell with nothing recorded. It is not the same as zero. Think of a shop. A blank in the register.
duplicate. A row that repeats another row exactly. Imagine it like this. The same sale written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data type. How a column is stored: whole number, decimal or text. An example from everyday life. Whether a box holds numbers or words.
copy. A separate table to work on, so the raw table stays untouched. Here is a way to see it. A photocopy of the receipt book.
cleaning log. A record of each problem found and what was done about it. A small example. The tailor's note of every change to a uniform.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rule of cleaning is to protect the original. The raw file is your evidence of what the shop system really produced. We read it once, make a copy inside Python, and do all the changes on the copy. The file on disk never changes.
If a step goes wrong, we throw the copy away and start again from the raw file. If we had changed the original, we could not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faults look alike but they are not the same. A missing value is a cell with nothing in it, so we do not know the answer. A duplicate is a whole row that appears more than once, which means a sale could be counted twice. pandas has a separate check for each one, and each gives you a count.
Look at the gold cells on the picture. Which are missing, and which row has been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raw table unchanged and work on a copy. isna marks missing cells True.
Time to commit to an answer. Predict how many missing prices there are and how many rows stay after the duplicate is removed.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raw table has 2 missing prices. After the duplicate row is removed, 3 rows stay and one price is still missing. The mean of the two known prices is 2000. The missing price is unknown and is not free.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missing values and duplicates in a small table. I have two questions for you.
Question one. Why would replacing the missing price with 0 change the meaning? Write your answer in one line before we compare.
The answer is this. Zero says the item was free. The truth is that nobody recorded the price.
Question two. Could two identical rows be real separate sales? Say it quietly to yourself before anyone answers.
Yes, if two customers bought the same thing. Here the repeated id shows it is a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Count how many rows in clean still have a missing price. Run it, then tell someone what you saw.
What you should find: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counted every fault in the raw file. Twenty five rows are exact repeats. Forty rows have a blank in the units column. Sixty dates use slashes instead of the standard style, and twelve units are written as words, like two or three, instead of digits.
These counts go into the cleaning log. Anyone who reads our report can see how much the file needed, and they can judge for themselves whether we were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cleaning log is a small table. Each line says what we did, how many rows we had before and how many we had after. Reading it from top to bottom, you can follow the file from the raw state to the clean state without having to guess.
We save it as a CSV so it travels with the project. The log is what lets a stranger trust the clean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['sunrise_sales_raw.csv is the Sunrise sales as an untidy export.', 'Count the problems.', 'to_csv saves a table to a file.', 'index=False stops pandas adding an extra column of row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sunrise_sales_raw.csv is the Sunrise sales as an untidy export. Count the problems.
Your turn to guess. Predict how many duplicate rows the file holds. The clean version has 1513 sales.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raw file has 1538 rows. 25 are exact duplicates, so removing them leaves 1513, the same as the clean file. 40 rows have blank units. The log table is saved and read back with two lines: 25 duplicate rows and 40 blank-unit rows.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raw Sunrise file. I have two questions for you.
Question one. Why does the cleaned row count of 1513 match the clean file? Say it quietly to yourself before anyone answers.
The 25 extra rows were exact copies. Removing them restores the original count.
Question two. Why not fill the 40 blank units with the mean? Give it thirty seconds and then we will hear a few answers.
Here is how I would answer it. It would invent sales that nobody recorded. We decide in session 16 how to report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Count the rows whose date is written with slashes, and add them to the log. After you run it, say in one sentence what changed and how you checked.
You should see this. 60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replace every blank price with zero, so that the table looks complete. That is a mistake. A zero says the item was free. A blank says we do not know the price.
If we turn blanks into zeros, the average price drops, the totals drop, and nobody can tell that it happened. Leave the blank, count it, write it in the log, and decide on purpose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SettingWithCopyWarning. It means this: you changed a slice of another table, so pandas is not sure which table you meant. To fix it, Make a real copy with .copy() before you change a table.
The next one. You will see: Row counts differ between steps. It means this: A step removed or added rows without you noticing. To fix it, print len() after every step and write the numbers in the log.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is wrong with the raw Sunrise sales file, and how many rows does each problem touch?
Finish this sentence in your notebook, in your own words. I keep the raw file untouched, work on a copy, and write down every change I make.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DA10  |  Cleaning without hiding evidence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without hiding evidence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wrong with the raw Sunrise sales file, and how many rows does each problem touch?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10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wrong with the raw Sunrise sales file,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how many rows does each problem touch?</a:t>
            </a:r>
            <a:endParaRPr lang="en-US" sz="3600" dirty="0"/>
          </a:p>
        </p:txBody>
      </p:sp>
      <p:pic>
        <p:nvPicPr>
          <p:cNvPr id="3" name="Image 0" descr="A raw sales file with repeated rows, blank cells and mixed date styles mark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aw data">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raw data</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file exactly as it arrived. You never overwrite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original receipt book.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issing valu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missing value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cell with nothing recorded. It is not the same as zero.</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blank in the register.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uplicat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duplicate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that repeats another row exactly.</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same sale written twice.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data typ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 type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a column is stored: whole number, decimal or text.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Whether a box holds numbers or words.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p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copy</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separate table to work on, so the raw table stays untouched.</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photocopy of the receipt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leaning log">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cleaning log</a:t>
            </a:r>
            <a:endParaRPr lang="en-US" sz="31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record of each problem found and what was done about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tailor's note of every change to a uniform.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the raw file untouched and clean a copy</a:t>
            </a:r>
            <a:endParaRPr lang="en-US" sz="3800" dirty="0"/>
          </a:p>
        </p:txBody>
      </p:sp>
      <p:pic>
        <p:nvPicPr>
          <p:cNvPr id="3" name="Image 0" descr="Keep the raw file untouched and clean a cop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raw file is the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on a copy with a new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You can always start again from the raw file.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Missing values and repeated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rows are two problems</a:t>
            </a:r>
            <a:endParaRPr lang="en-US" sz="3600" dirty="0"/>
          </a:p>
        </p:txBody>
      </p:sp>
      <p:pic>
        <p:nvPicPr>
          <p:cNvPr id="3" name="Image 0" descr="Missing values and repeated rows are two problem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missing value is an empty cell.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duplicate is a row that appears twice.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problem needs its own check.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Missing values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duplicates in a small table</a:t>
            </a:r>
            <a:endParaRPr lang="en-US" sz="3600" dirty="0"/>
          </a:p>
        </p:txBody>
      </p:sp>
      <p:sp>
        <p:nvSpPr>
          <p:cNvPr id="3" name="Shape 1"/>
          <p:cNvSpPr/>
          <p:nvPr/>
        </p:nvSpPr>
        <p:spPr>
          <a:xfrm>
            <a:off x="640080" y="1645920"/>
            <a:ext cx="10881360" cy="3212592"/>
          </a:xfrm>
          <a:prstGeom prst="roundRect">
            <a:avLst>
              <a:gd name="adj" fmla="val 2277"/>
            </a:avLst>
          </a:prstGeom>
          <a:solidFill>
            <a:srgbClr val="111111"/>
          </a:solidFill>
          <a:ln/>
        </p:spPr>
      </p:sp>
      <p:sp>
        <p:nvSpPr>
          <p:cNvPr id="4" name="Text 2"/>
          <p:cNvSpPr txBox="1"/>
          <p:nvPr/>
        </p:nvSpPr>
        <p:spPr>
          <a:xfrm>
            <a:off x="841248" y="1847088"/>
            <a:ext cx="10479024" cy="2810256"/>
          </a:xfrm>
          <a:prstGeom prst="rect">
            <a:avLst/>
          </a:prstGeom>
          <a:noFill/>
          <a:ln/>
        </p:spPr>
        <p:txBody>
          <a:bodyPr wrap="square" lIns="0" tIns="0" rIns="0" bIns="0" rtlCol="0" anchor="t"/>
          <a:lstStyle/>
          <a:p>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import</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pandas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as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pd</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raw = pd.DataFrame(</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"id"</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[1, 2, 2, 3], </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"price"</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[1000,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None</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None</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3000]}</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clean = raw.drop_duplicates().copy()</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print(raw[</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"price"</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].isna().sum())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print(len(clean))</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print(clean[</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"price"</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].mean())</a:t>
            </a:r>
            <a:endParaRPr lang="en-US" sz="2100" dirty="0"/>
          </a:p>
        </p:txBody>
      </p:sp>
      <p:sp>
        <p:nvSpPr>
          <p:cNvPr id="5" name="Text 3"/>
          <p:cNvSpPr txBox="1"/>
          <p:nvPr/>
        </p:nvSpPr>
        <p:spPr>
          <a:xfrm>
            <a:off x="640080" y="5041392"/>
            <a:ext cx="8046720" cy="1222248"/>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Predict how many missing prices there are and how many rows stay after the duplicate is removed.</a:t>
            </a:r>
            <a:endParaRPr lang="en-US" sz="2300" dirty="0"/>
          </a:p>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Write your guess on paper before we run it.</a:t>
            </a:r>
            <a:endParaRPr lang="en-US" sz="2300" dirty="0"/>
          </a:p>
        </p:txBody>
      </p:sp>
      <p:pic>
        <p:nvPicPr>
          <p:cNvPr id="6" name="Image 0" descr="A page and a pen">    </p:cNvPr>
          <p:cNvPicPr>
            <a:picLocks noChangeAspect="1"/>
          </p:cNvPicPr>
          <p:nvPr/>
        </p:nvPicPr>
        <p:blipFill>
          <a:blip r:embed="rId1"/>
          <a:stretch>
            <a:fillRect/>
          </a:stretch>
        </p:blipFill>
        <p:spPr>
          <a:xfrm>
            <a:off x="10241280" y="504367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Missing values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duplicates in a small table</a:t>
            </a:r>
            <a:endParaRPr lang="en-US" sz="36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raw table has 2 missing prices.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After the duplicate row is removed, 3 rows stay and one price is still missing.</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mean of the two known prices is 2000.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missing price is unknown and is not free.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Missing values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duplicates in a small table</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would replacing the missing price with 0 change the meaning?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Could two identical rows be real separate sales?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how many rows in clean still have a missing price.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Counting each fault shows how big the clean-up is</a:t>
            </a:r>
            <a:endParaRPr lang="en-US" sz="3600" dirty="0"/>
          </a:p>
        </p:txBody>
      </p:sp>
      <p:pic>
        <p:nvPicPr>
          <p:cNvPr id="3" name="Image 0" descr="Counting each fault shows how big the clean-up i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25 repeated rows, 40 blank units, 60 slash dates, 12 units written as words.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cleaning log records what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changed and how much</a:t>
            </a:r>
            <a:endParaRPr lang="en-US" sz="3600" dirty="0"/>
          </a:p>
        </p:txBody>
      </p:sp>
      <p:pic>
        <p:nvPicPr>
          <p:cNvPr id="3" name="Image 0" descr="A cleaning log records what changed and how much">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line states the rows before and after.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log is saved with to_csv.</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raw Sunrise file (1 of 2)</a:t>
            </a:r>
            <a:endParaRPr lang="en-US" sz="3800" dirty="0"/>
          </a:p>
        </p:txBody>
      </p:sp>
      <p:sp>
        <p:nvSpPr>
          <p:cNvPr id="3" name="Shape 1"/>
          <p:cNvSpPr/>
          <p:nvPr/>
        </p:nvSpPr>
        <p:spPr>
          <a:xfrm>
            <a:off x="640080" y="1645920"/>
            <a:ext cx="10881360" cy="1891792"/>
          </a:xfrm>
          <a:prstGeom prst="roundRect">
            <a:avLst>
              <a:gd name="adj" fmla="val 3867"/>
            </a:avLst>
          </a:prstGeom>
          <a:solidFill>
            <a:srgbClr val="111111"/>
          </a:solidFill>
          <a:ln/>
        </p:spPr>
      </p:sp>
      <p:sp>
        <p:nvSpPr>
          <p:cNvPr id="4" name="Text 2"/>
          <p:cNvSpPr txBox="1"/>
          <p:nvPr/>
        </p:nvSpPr>
        <p:spPr>
          <a:xfrm>
            <a:off x="841248" y="1847088"/>
            <a:ext cx="10479024" cy="148945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raw_sales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"sunrise_sales_raw.csv"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print(raw_sales.shape)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print(raw_sales.duplicated().sum())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deduped = raw_sales.drop_duplicates()</a:t>
            </a:r>
            <a:endParaRPr lang="en-US" sz="2200" dirty="0"/>
          </a:p>
        </p:txBody>
      </p:sp>
      <p:sp>
        <p:nvSpPr>
          <p:cNvPr id="5" name="Text 3"/>
          <p:cNvSpPr txBox="1"/>
          <p:nvPr/>
        </p:nvSpPr>
        <p:spPr>
          <a:xfrm>
            <a:off x="640080" y="3720592"/>
            <a:ext cx="8046720" cy="25430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4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raw Sunrise file (2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print(deduped.shape)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print(deduped[</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log = pd.DataFrame(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"problem"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"duplicate rows"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"blank 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"rows"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[raw_sales.duplicated().sum(), deduped[</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log.to_csv(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"cleaning_log.csv"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index=</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False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"cleaning_log.csv"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how many duplicate rows the file holds. The clean version has 1513 sales.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raw Sunrise file</a:t>
            </a:r>
            <a:endParaRPr lang="en-US" sz="3800" dirty="0"/>
          </a:p>
        </p:txBody>
      </p:sp>
      <p:sp>
        <p:nvSpPr>
          <p:cNvPr id="3" name="Shape 1"/>
          <p:cNvSpPr/>
          <p:nvPr/>
        </p:nvSpPr>
        <p:spPr>
          <a:xfrm>
            <a:off x="640080" y="1645920"/>
            <a:ext cx="6035040" cy="2944876"/>
          </a:xfrm>
          <a:prstGeom prst="roundRect">
            <a:avLst>
              <a:gd name="adj" fmla="val 2484"/>
            </a:avLst>
          </a:prstGeom>
          <a:solidFill>
            <a:srgbClr val="FFFFFF"/>
          </a:solidFill>
          <a:ln w="15875">
            <a:solidFill>
              <a:srgbClr val="111111"/>
            </a:solidFill>
            <a:prstDash val="solid"/>
          </a:ln>
        </p:spPr>
      </p:sp>
      <p:sp>
        <p:nvSpPr>
          <p:cNvPr id="4" name="Text 2"/>
          <p:cNvSpPr txBox="1"/>
          <p:nvPr/>
        </p:nvSpPr>
        <p:spPr>
          <a:xfrm>
            <a:off x="822960" y="1828800"/>
            <a:ext cx="5669280" cy="25791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(1538, 6)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(1513, 6)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problem  rows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duplicate rows    25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blank units    40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raw file has 1538 rows.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25 are exact duplicates, so removing them leaves 1513, the same as the clean file.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40 rows have blank units.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log table is saved and read back with two lines: 25 duplicate rows and 40 blank-unit rows.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raw Sunrise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cleaned row count of 1513 match the clean file?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not fill the 40 blank units with the mean?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the rows whose date is written with slashes, and add them to the log.</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zero is a fact and a blank is an unknown</a:t>
            </a:r>
            <a:endParaRPr lang="en-US" sz="3800" dirty="0"/>
          </a:p>
        </p:txBody>
      </p:sp>
      <p:pic>
        <p:nvPicPr>
          <p:cNvPr id="3" name="Image 0" descr="A zero is a fact and a blank is an unknow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Filling a blank with zero changes the totals and the averages.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Write a cleaning log for the four-row table in Block A: four raw rows, one duplicate removed, one price still missing. Save it as a CSV with to_csv. Write one sentence on why replacing the missing price with zero would change what the data says.</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DA10.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SettingWithCopyWarning</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changed a slice of another table, so pandas is not sure which table you meant.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Make a real copy with .copy() before you change a table.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Row counts differ between steps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step removed or added rows without you noticing.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len() after every step and write the numbers in the log.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keep the raw file untouched, work on a copy, and write down every change I make.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DA10 Cleaning without hiding evidence</dc:title>
  <dc:subject>Python for Data Analysis</dc:subject>
  <dc:creator>KLAi</dc:creator>
  <cp:lastModifiedBy>KLAi</cp:lastModifiedBy>
  <cp:revision>1</cp:revision>
  <dcterms:created xsi:type="dcterms:W3CDTF">2026-10-31T12:26:19Z</dcterms:created>
  <dcterms:modified xsi:type="dcterms:W3CDTF">2026-10-31T12:26:19Z</dcterms:modified>
</cp:coreProperties>
</file>