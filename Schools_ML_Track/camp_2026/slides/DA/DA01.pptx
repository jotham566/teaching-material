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7c43e61-c1d7-0c5e-d0fa-9112e94352f7}">
          <p14:sldIdLst>
            <p14:sldId id="256"/>
            <p14:sldId id="257"/>
            <p14:sldId id="258"/>
            <p14:sldId id="259"/>
            <p14:sldId id="260"/>
            <p14:sldId id="261"/>
            <p14:sldId id="262"/>
          </p14:sldIdLst>
        </p14:section>
        <p14:section name="Block A" id="{162458a0-6b8d-0455-2254-89536e3201b1}">
          <p14:sldIdLst>
            <p14:sldId id="263"/>
            <p14:sldId id="264"/>
            <p14:sldId id="265"/>
            <p14:sldId id="266"/>
            <p14:sldId id="268"/>
            <p14:sldId id="269"/>
          </p14:sldIdLst>
        </p14:section>
        <p14:section name="Break" id="{0d84829b-ec9a-7ba1-41c5-7681aab90b99}">
          <p14:sldIdLst>
            <p14:sldId id="267"/>
          </p14:sldIdLst>
        </p14:section>
        <p14:section name="Block A" id="{b1eb2326-5620-4609-0f9b-58b656afab8f}">
          <p14:sldIdLst/>
        </p14:section>
        <p14:section name="Block B" id="{3a1941d3-e2f5-2418-1e58-e500a3ecbe66}">
          <p14:sldIdLst>
            <p14:sldId id="270"/>
            <p14:sldId id="271"/>
            <p14:sldId id="272"/>
            <p14:sldId id="273"/>
            <p14:sldId id="274"/>
          </p14:sldIdLst>
        </p14:section>
        <p14:section name="Make and close" id="{8952d309-29b3-507e-be7f-67ed123f8b64}">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 and our topic is open a notebook and read your first table.
By the end of today you will be able to open, run, save and reopen a notebook, and read a table of shop sales into it.
We will answer one question: What does one week of sales in a small shop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small shop. Every sale goes onto a till roll, one line at a time. At the end of the week the owner asks a simple question: which days were busy and which were quiet? Look at the bars. Each bar adds up one day of sales. Today we open a notebook and read the table of sixty sales that these bars come from. By the end of the session you will be able to open a table like this yourself and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20 minutes. Welcome, laptop check, folders and the AI policy. Then, 40 minutes. Block A. After that, 15 minutes. Break away from screens. Next, 45 minutes. Block B. Then, 40 minutes. Make. Then, 20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notebook. A page where you write instructions for the computer and see the answers under them. An exercise book that answers back.
cell. One box in a notebook. A text cell explains. A code cell runs. Think of a shop. One paragraph on a page of the exercise book.
run. Tell the computer to carry out the code in a cell. Click the cell and press Shift and Enter. Imagine it like this. Handing in a question and waiting for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output. What a cell shows after it runs. An example from everyday life. The answer written under the question.
file. A saved piece of work with a name, such as camp_shop.csv. Here is a way to see it. A page stored in a folder.
table. Information arranged in rows and columns. A small example. The sales page of a shop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we will work on for the whole camp. It is called a notebook. A notebook is built from boxes called cells. A text cell holds words, like a heading or a note to yourself. A code cell holds instructions that Python can carry out. When you click a code cell and press Shift and Enter together, Python runs it and the answer appears right underneath. That answer is called the output.
Find the three parts on the picture. Which one does Python read, and which one is only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instruction is print. The word tells Python to show something, and the brackets hold what to show. Look at the first line. Hello, data sits between quotation marks, so Python treats it as plain words and shows them exactly as they are. Now look at the second line. There are no quotation marks, so Python sees a sum, works out three plus two and shows five.
Before we run them, what do you expect to see under each cell? Write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AI_USE_POLICY.md with your instructor now. It explains when AI tools are used in this camp and when they are not.
Time to commit to an answer. Predict the two lines that will appear under the cell.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output is Hello, data on the first line and 5 on the second. Text sits between matching quotation marks. A number such as 3 is an amount.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Run your first cell. I have two questions for you.
Question one. Why does the first line keep its quotation marks in the code and lose them in the output? Write your answer in one line before we compare.
The answer is this. The quotation marks tell Python that the words are text. They are part of the instruction and not part of the message.
Question two. What would print(3 + 2) show if the 3 were written as "3"? Say it quietly to yourself before anyone answers.
It would stop with an error, because Python cannot add text to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Change Hello, data to your nickname and run the cell again. Run it, then tell someone what you saw.
What you should find: The first line now shows the nickname.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data. A file is a piece of saved work with a name, and a folder is a place that keeps files together. Our notebook is a file and the shop sales are a file, so each one needs a home. When Python looks for camp_shop.csv it first looks in the same folder as the notebook. If the two sit side by side, it finds the data straight away.
Before you open the notebook today, check where your camp folder is, and tell me what files are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file exactly as it is stored. It is plain text, with commas between the values. It is hard to read, and nobody wants to count sales that way. The instruction read_csv reads the file and builds a table for us. The first line of the file becomes the column names. Every other line becomes one row.
The gold row is sale number two: two pens at one thousand shillings each. Find the same numbers in the text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camp_shop.csv holds 60 sales from a practice shop. It has to sit in the same folder as this notebook.
Your turn to guess. Predict how many rows the table shows and which columns it has.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output shows the first five sales as a table. The columns are sale_id, date, item, units and unit_price_ugx. Sale 1 is one Book at 3000 shillings.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read the shop table. I have two questions for you.
Question one. How many columns does the table have, and what does each one record? Say it quietly to yourself before anyone answers.
Five. The sale number, the date, the item sold, the units sold and the price of one unit in Uganda shillings.
Question two. Why does the first row show a sale of only 1 unit while the fourth shows 7? Give it thirty seconds and then we will hear a few answers.
Here is how I would answer it. Different customers buy different amounts. The table records each sale as it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Change head() to head(10) and run it again. After you run it, say in one sentence what changed and how you checked.
You should see this. Ten rows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most common problem on day one. On the left, the notebook and the data are in the same folder and everything works. On the right, the notebook is in Downloads and the data is in Documents, so Python looks in the wrong place and stops with a FileNotFoundError.
Notice that the message is not about your code at all. The fix is to move one file so the two sit together. If this happens to you, show me before you try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DA01.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SyntaxError: invalid character. It means this: A curly quotation mark was pasted in. Python only accepts straight quotation marks. To fix it, delete the quotation marks and type them again from the keyboard.
The next one. You will see: FileNotFoundError: camp_shop.csv. It means this: the notebook cannot find the file because it sits in a different folder. To fix it, move the notebook into the folder that holds camp_shop.csv, or ask the instructor to help.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What does one week of sales in a small shop look like?
Finish this sentence in your notebook, in your own words. I can run a cell, read its output, and open a table of sales in a notebook.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DA01  |  Open a notebook and read your first table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Open a notebook and read your first table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does one week of sales in a small shop look like?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 of 24  |  Week 1, Meet the data</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does one week of sales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in a small shop look like?</a:t>
            </a:r>
            <a:endParaRPr lang="en-US" sz="3600" dirty="0"/>
          </a:p>
        </p:txBody>
      </p:sp>
      <p:pic>
        <p:nvPicPr>
          <p:cNvPr id="3" name="Image 0" descr="Bars showing the money a small shop took on each of its first seven day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notebook">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notebook</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page where you write instructions for the computer and see the answers under them.</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An exercise book that answers back.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ell">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cell</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box in a notebook. A text cell explains. A code cell runs.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paragraph on a page of the exercise 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u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run</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Tell the computer to carry out the code in a cell. Click the cell and press Shift and Enter.</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Handing in a question and waiting for the answer.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outpu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output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a cell shows after it runs.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answer written under the question.</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fil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file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saved piece of work with a name, such as camp_shop.csv.</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page stored in a folder.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abl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table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Information arranged in rows and columns.</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sales page of a shop register.</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notebook has text cells, code cells and output</a:t>
            </a:r>
            <a:endParaRPr lang="en-US" sz="3800" dirty="0"/>
          </a:p>
        </p:txBody>
      </p:sp>
      <p:pic>
        <p:nvPicPr>
          <p:cNvPr id="3" name="Image 0" descr="A notebook has text cells, code cells and outpu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Text cells hold words for people.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Code cells hold instructions for Python.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Shift and Enter runs the cell you clicked.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print shows whatever sits inside its brackets</a:t>
            </a:r>
            <a:endParaRPr lang="en-US" sz="3800" dirty="0"/>
          </a:p>
        </p:txBody>
      </p:sp>
      <p:pic>
        <p:nvPicPr>
          <p:cNvPr id="3" name="Image 0" descr="print shows whatever sits inside its bracke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Words go between quotation marks.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Without quotation marks Python works it out.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result shows up under the cell.</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Run your first cell</a:t>
            </a:r>
            <a:endParaRPr lang="en-US" sz="3800" dirty="0"/>
          </a:p>
        </p:txBody>
      </p:sp>
      <p:sp>
        <p:nvSpPr>
          <p:cNvPr id="3" name="Shape 1"/>
          <p:cNvSpPr/>
          <p:nvPr/>
        </p:nvSpPr>
        <p:spPr>
          <a:xfrm>
            <a:off x="640080" y="1645920"/>
            <a:ext cx="6035040" cy="1165352"/>
          </a:xfrm>
          <a:prstGeom prst="roundRect">
            <a:avLst>
              <a:gd name="adj" fmla="val 6277"/>
            </a:avLst>
          </a:prstGeom>
          <a:solidFill>
            <a:srgbClr val="111111"/>
          </a:solidFill>
          <a:ln/>
        </p:spPr>
      </p:sp>
      <p:sp>
        <p:nvSpPr>
          <p:cNvPr id="4" name="Text 2"/>
          <p:cNvSpPr txBox="1"/>
          <p:nvPr/>
        </p:nvSpPr>
        <p:spPr>
          <a:xfrm>
            <a:off x="841248" y="1847088"/>
            <a:ext cx="5632704" cy="7630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"Hello, data"</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print(3 + 2)</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two lines that will appear under the cell.</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Run your first cell</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Hello, data</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output is Hello, data on the first line and 5 on the second.</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Text sits between matching quotation marks.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 number such as 3 is an amount.</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Run your first cell</a:t>
            </a:r>
            <a:endParaRPr lang="en-US" sz="3800" dirty="0"/>
          </a:p>
        </p:txBody>
      </p:sp>
      <p:sp>
        <p:nvSpPr>
          <p:cNvPr id="3" name="Shape 1"/>
          <p:cNvSpPr/>
          <p:nvPr/>
        </p:nvSpPr>
        <p:spPr>
          <a:xfrm>
            <a:off x="7498080" y="1737360"/>
            <a:ext cx="4023360" cy="1033272"/>
          </a:xfrm>
          <a:prstGeom prst="roundRect">
            <a:avLst>
              <a:gd name="adj" fmla="val 7080"/>
            </a:avLst>
          </a:prstGeom>
          <a:solidFill>
            <a:srgbClr val="111111"/>
          </a:solidFill>
          <a:ln/>
        </p:spPr>
      </p:sp>
      <p:sp>
        <p:nvSpPr>
          <p:cNvPr id="4" name="Text 2"/>
          <p:cNvSpPr txBox="1"/>
          <p:nvPr/>
        </p:nvSpPr>
        <p:spPr>
          <a:xfrm>
            <a:off x="7699248" y="1938528"/>
            <a:ext cx="362102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"Hello, data"</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print(3 + 2)</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200"/>
              </a:lnSpc>
              <a:spcAft>
                <a:spcPts val="3960"/>
              </a:spcAft>
              <a:buNone/>
            </a:pPr>
            <a:r>
              <a:rPr lang="en-US" sz="3500" dirty="0">
                <a:solidFill>
                  <a:srgbClr val="111111"/>
                </a:solidFill>
                <a:latin typeface="Lato" pitchFamily="34" charset="0"/>
                <a:ea typeface="Lato" pitchFamily="34" charset="-122"/>
                <a:cs typeface="Lato" pitchFamily="34" charset="-120"/>
              </a:rPr>
              <a:t>1.  Why does the first line keep its quotation marks in the code and lose them in the output?</a:t>
            </a:r>
            <a:endParaRPr lang="en-US" sz="3500" dirty="0"/>
          </a:p>
          <a:p>
            <a:pPr algn="l" indent="0" marL="0">
              <a:lnSpc>
                <a:spcPts val="4200"/>
              </a:lnSpc>
              <a:spcAft>
                <a:spcPts val="3960"/>
              </a:spcAft>
              <a:buNone/>
            </a:pPr>
            <a:r>
              <a:rPr lang="en-US" sz="3500" dirty="0">
                <a:solidFill>
                  <a:srgbClr val="111111"/>
                </a:solidFill>
                <a:latin typeface="Lato" pitchFamily="34" charset="0"/>
                <a:ea typeface="Lato" pitchFamily="34" charset="-122"/>
                <a:cs typeface="Lato" pitchFamily="34" charset="-120"/>
              </a:rPr>
              <a:t>2.  What would print(3 + 2) show if the 3 were written as "3"?</a:t>
            </a:r>
            <a:endParaRPr lang="en-US" sz="3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Hello, data to your nickname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033272"/>
          </a:xfrm>
          <a:prstGeom prst="roundRect">
            <a:avLst>
              <a:gd name="adj" fmla="val 7080"/>
            </a:avLst>
          </a:prstGeom>
          <a:solidFill>
            <a:srgbClr val="111111"/>
          </a:solidFill>
          <a:ln/>
        </p:spPr>
      </p:sp>
      <p:sp>
        <p:nvSpPr>
          <p:cNvPr id="5" name="Text 3"/>
          <p:cNvSpPr txBox="1"/>
          <p:nvPr/>
        </p:nvSpPr>
        <p:spPr>
          <a:xfrm>
            <a:off x="7424928" y="1938528"/>
            <a:ext cx="3895344" cy="63093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"Hello, data"</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print(3 + 2)</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notebook finds a data file in its own folder</a:t>
            </a:r>
            <a:endParaRPr lang="en-US" sz="3800" dirty="0"/>
          </a:p>
        </p:txBody>
      </p:sp>
      <p:pic>
        <p:nvPicPr>
          <p:cNvPr id="3" name="Image 0" descr="The notebook finds a data file in its own fold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file is saved work with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folder keeps files together.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the notebook and the data side by side.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read_csv turns a text file into a table</a:t>
            </a:r>
            <a:endParaRPr lang="en-US" sz="3800" dirty="0"/>
          </a:p>
        </p:txBody>
      </p:sp>
      <p:pic>
        <p:nvPicPr>
          <p:cNvPr id="3" name="Image 0" descr="read_csv turns a text file into a tabl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Each row is one sale and each column is one kind of fact.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Read the shop table</a:t>
            </a:r>
            <a:endParaRPr lang="en-US" sz="3800" dirty="0"/>
          </a:p>
        </p:txBody>
      </p:sp>
      <p:sp>
        <p:nvSpPr>
          <p:cNvPr id="3" name="Shape 1"/>
          <p:cNvSpPr/>
          <p:nvPr/>
        </p:nvSpPr>
        <p:spPr>
          <a:xfrm>
            <a:off x="640080" y="1645920"/>
            <a:ext cx="6035040" cy="1379982"/>
          </a:xfrm>
          <a:prstGeom prst="roundRect">
            <a:avLst>
              <a:gd name="adj" fmla="val 5301"/>
            </a:avLst>
          </a:prstGeom>
          <a:solidFill>
            <a:srgbClr val="111111"/>
          </a:solidFill>
          <a:ln/>
        </p:spPr>
      </p:sp>
      <p:sp>
        <p:nvSpPr>
          <p:cNvPr id="4" name="Text 2"/>
          <p:cNvSpPr txBox="1"/>
          <p:nvPr/>
        </p:nvSpPr>
        <p:spPr>
          <a:xfrm>
            <a:off x="841248" y="1847088"/>
            <a:ext cx="5632704" cy="977646"/>
          </a:xfrm>
          <a:prstGeom prst="rect">
            <a:avLst/>
          </a:prstGeom>
          <a:noFill/>
          <a:ln/>
        </p:spPr>
        <p:txBody>
          <a:bodyPr wrap="square" lIns="0" tIns="0" rIns="0" bIns="0" rtlCol="0" anchor="t"/>
          <a:lstStyle/>
          <a:p>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import</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pandas </a:t>
            </a:r>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as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pd</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shop = pd.read_csv(</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"camp_shop.csv"</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print(shop.head())</a:t>
            </a:r>
            <a:endParaRPr lang="en-US" sz="19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how many rows the table shows and which columns it has.</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Read the shop table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output shows the first five sales as a table.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columns are sale_id, date, item, units and unit_price_ugx.</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Sale 1 is one Book at 3000 shillings.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Read the shop table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How many columns does the table have, and what does each one record?</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does the first row show a sale of only 1 unit while the fourth shows 7?</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head() to head(10) and run it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file Python cannot find is a folder problem</a:t>
            </a:r>
            <a:endParaRPr lang="en-US" sz="3800" dirty="0"/>
          </a:p>
        </p:txBody>
      </p:sp>
      <p:pic>
        <p:nvPicPr>
          <p:cNvPr id="3" name="Image 0" descr="Notebook and data side by side: Python finds the file.">    </p:cNvPr>
          <p:cNvPicPr>
            <a:picLocks noChangeAspect="1"/>
          </p:cNvPicPr>
          <p:nvPr/>
        </p:nvPicPr>
        <p:blipFill>
          <a:blip r:embed="rId1"/>
          <a:stretch>
            <a:fillRect/>
          </a:stretch>
        </p:blipFill>
        <p:spPr>
          <a:xfrm>
            <a:off x="640080" y="1554480"/>
            <a:ext cx="5349240"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Notebook and data side by side: Python finds the file.</a:t>
            </a:r>
            <a:endParaRPr lang="en-US" sz="2200" dirty="0"/>
          </a:p>
        </p:txBody>
      </p:sp>
      <p:pic>
        <p:nvPicPr>
          <p:cNvPr id="5" name="Image 1" descr="Notebook in one folder, data in another: FileNotFoundError.">    </p:cNvPr>
          <p:cNvPicPr>
            <a:picLocks noChangeAspect="1"/>
          </p:cNvPicPr>
          <p:nvPr/>
        </p:nvPicPr>
        <p:blipFill>
          <a:blip r:embed="rId2"/>
          <a:stretch>
            <a:fillRect/>
          </a:stretch>
        </p:blipFill>
        <p:spPr>
          <a:xfrm>
            <a:off x="6172200" y="1554480"/>
            <a:ext cx="5349240"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Notebook in one folder, data in another: FileNotFoundError.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In a new code cell show your nickname and the result of 7 + 4. Then show the first three rows of the shop table with head(3). Save the notebook as DA01.ipynb, close it and open it again.</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DA01.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SyntaxError: invalid character</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curly quotation mark was pasted in. Python only accepts straight quotation marks.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Delete the quotation marks and type them again from the keyboard.</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FileNotFoundError: camp_shop.csv</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notebook cannot find the file because it sits in a different folder.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Move the notebook into the folder that holds camp_shop.csv, or ask the instructor to help.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run a cell, read its output, and open a table of sales in a notebook.</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DA01 Open a notebook and read your first table</dc:title>
  <dc:subject>Python for Data Analysis</dc:subject>
  <dc:creator>KLAi</dc:creator>
  <cp:lastModifiedBy>KLAi</cp:lastModifiedBy>
  <cp:revision>1</cp:revision>
  <dcterms:created xsi:type="dcterms:W3CDTF">2026-10-31T12:32:38Z</dcterms:created>
  <dcterms:modified xsi:type="dcterms:W3CDTF">2026-10-31T12:32:38Z</dcterms:modified>
</cp:coreProperties>
</file>