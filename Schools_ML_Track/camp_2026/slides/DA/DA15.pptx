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626932fb-641e-1ff0-b47f-d57bb63f2555}">
          <p14:sldIdLst>
            <p14:sldId id="256"/>
            <p14:sldId id="257"/>
            <p14:sldId id="258"/>
            <p14:sldId id="259"/>
            <p14:sldId id="260"/>
            <p14:sldId id="261"/>
            <p14:sldId id="262"/>
          </p14:sldIdLst>
        </p14:section>
        <p14:section name="Block A" id="{a3915d96-eded-3a55-7fdd-e076235b472c}">
          <p14:sldIdLst>
            <p14:sldId id="263"/>
            <p14:sldId id="264"/>
            <p14:sldId id="265"/>
            <p14:sldId id="266"/>
            <p14:sldId id="268"/>
            <p14:sldId id="269"/>
          </p14:sldIdLst>
        </p14:section>
        <p14:section name="Break" id="{d5ae77ab-d435-e900-9c1f-356a544f25d3}">
          <p14:sldIdLst>
            <p14:sldId id="267"/>
          </p14:sldIdLst>
        </p14:section>
        <p14:section name="Block A" id="{f7398af2-9dc8-4d38-148d-d7f18a8f0aae}">
          <p14:sldIdLst/>
        </p14:section>
        <p14:section name="Block B" id="{a85e71e4-3da9-53ee-b4e8-e13cbee1e1e0}">
          <p14:sldIdLst>
            <p14:sldId id="270"/>
            <p14:sldId id="271"/>
            <p14:sldId id="272"/>
            <p14:sldId id="273"/>
            <p14:sldId id="274"/>
          </p14:sldIdLst>
        </p14:section>
        <p14:section name="Make and close" id="{e3fd69e1-c7b5-1b7b-80a2-b9a9a6bfecb8}">
          <p14:sldIdLst>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back. Today is session 15 and our topic is exploring relationships: scatter plots, correlation and cause.
By the end of today you will be able to draw a scatter plot coloured by group, read a correlation number, and say why a correlation does not prove one thing causes another.
We will answer one question: Do busier days bring in more money, and does rain keep customers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busier days bring in more money, and does rain keep customers away? Both questions ask whether two columns move together. Today we measure how strongly they move together with a number called the correlation. We will find that busier days do bring in more money, and rain barely matters at all. And we will learn why a link between two columns never proves that one causes the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the 3 hours go. Each bar is as long as the time we spend on that part.
First, 10 minutes. Recall. Then, 50 minutes. Block A. After that, 15 minutes. Break away from screens. Next, 50 minutes. Block B. Then, 40 minutes. Make. Then, 15 minutes. Exit ticket, save, and an individual check with each learner.
Notice how much of the time is yours. You listen for a short while and then you do. That is on purpose, because you learn this by doing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the words for today. Listen for the picture that goes with each one.
correlation. A number from -1 to 1 for how closely two columns move together. You have seen this before. Taller pupils usually have longer feet.
strength. How close the correlation is to 1 or -1. Near 0 means weak. How tightly the dots hug a line.
heatmap. A table of numbers coloured by size. Think of a shop. A map shaded by rainfall.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more words to know before we start.
hue. A colour that shows which group each dot belongs to. Imagine it like this. A different coloured pen for each shop.
cause. One thing makes another happen. A correlation alone does not show it. An example from everyday life. Rain makes the ground wet. Wet ground does not make 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can add a third fact to a scatter plot without a third axis. We give each dot a colour that depends on a column, and seaborn calls that the hue. Here each dot is a day, and the colour says which shop it belongs to. Central Market is black, Campus Gate is red and Roadside is gold, and we keep those three colours for the rest of the course.
Does each shop show the same upward drift? Look for a colour whose dots sit away from the others.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correlation squeezes the link between two columns into one number between minus one and plus one. Close to plus one, the two rise together. Close to zero, there is no straight line link. Close to minus one, one rises while the other falls.
For customers and revenue in the daily summary, the correlation is zero point six two three. That is a fairly strong upward link, though the dots do not all fall on one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sns.scatterplot puts one column on each axis. hue= colours the dots by group.
Time to commit to an answer. Predict whether the correlation between customers and revenue is close to 0, close to 1 or close to -1. Write one line on paper. I will give you a minute.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run it. Match each line of the output with the line of code that made it.
The dots rise from left to right, so more customers usually mean more revenue. The correlation is 0.623: positive and moderately strong. The dots are scattered, so a customer count does not fix the revenue.
If your guess was off, find the line that surprised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A scatter plot and one correlation. I have two questions for you.
Question one. What would a correlation of 1 look like on the chart? Have a go in your head first.
The answer is this. All the dots would lie exactly on one rising line.
Question two. Why do the colours help? Write your answer in one line before we compare.
They show that the three shops sit in different parts of the chart. Central Market is at the busy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it is your turn to change something. Find the correlation between customers and the number of sale lines (sale_lines). When you have run it, tell your neighbour what changed and how you know.
Here is what happens. 0.744, stronger.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Break time. 15 minutes away from your screens. Stand up, drink some water and tell someone what you guessed in the first half.
When we come back we start the second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we have many columns, a heatmap shows all the correlations at once. Each square is one pair of columns, and the colour says how strong the link is. The diagonal is each column compared with itself, so it is always one.
Scan for the darkest squares away from the diagonal. Those are the pairs worth a closer look with a scatter plot.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customers stay home when it rains? Across all the days the correlation between rainfall and customers counted is minus zero point zero one three. That is almost exactly zero. The bars show the same check shop by shop. Roadside is the strongest at minus zero point one five nine, and the other two sit near zero. None of them is a strong link in either direction.
So in this data, rain did little to keep customers away. In your own words, say that and nothing more.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heatmap of .corr() shows every pair at once. annot=True writes the numbers in the squares.
Your turn to guess. Predict whether rain_mm is strongly related to customers. Jot it on paper before anyone speaks.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will run it, and you compare with your guess. Match each line of the output with the line of code that made it.
Rain and customers have a correlation of -0.013, which is essentially zero. Sale lines and revenue have 0.565. In this data the weather barely matters. A weak correlation is a finding too.
Check your paper. Were you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A heatmap of every pair, and the rain question. I have two questions for you.
Question one. What does -0.013 tell us about rain? Write your answer in one line before we compare.
Almost nothing links them in this data. Wet days and dry days look alike.
Question two. Could a strong correlation still be a coincidence? Say it quietly to yourself before anyone answers.
Here is how I would answer it. Yes. Two things can move together without one causing the other, so we look for a reason as 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to experiment. Find the correlation of rain_mm with revenue_ugx. Run it, then tell someone what you saw.
What you should find: -0.054, also close to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famous example. On rainy days more people open umbrellas, and the roads get wet. If we only looked at the umbrellas and the wet roads, they would move together. But umbrellas do not wet the roads. The rain does both.
A correlation tells you that two columns move together. It cannot tell you why. In your report, write that the columns are linked, and leave the cause for a better experiment.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you do the real work yourself. Start with the first step. If you get stuck for a few minutes, read your error message, check the error card, and then ask me.
Save it as DA15. I will come round to each of you and ask what you changed and how you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things are likely to go wrong today. It helps to know them before they happen.
This is the first one. You will see: KeyError: "hue". It means this: the hue column name is not in the table. To fix it, print list(daily.columns) and use the exact name.
The next one. You will see: The heatmap shows all one colour. It means this: vmin and vmax were not set, or only one column was used. To fix it, pass the four numeric columns and set vmin=-1 and vmax=1.
If you meet one of these, fix it and carry on. It happens to everyone.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finish, go back to the question we began with: Do busier days bring in more money, and does rain keep customers away?
Copy this sentence into your notebook and make it yours. A correlation tells me how closely two columns move together, and it does not tell me why.
Then save your notebook, close it and open it again to check it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LAI_LIGHT">
    <p:bg>
      <p:bgPr>
        <a:solidFill>
          <a:srgbClr val="FFFFFF"/>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white_cropped.png">    </p:cNvPr>
          <p:cNvPicPr>
            <a:picLocks noChangeAspect="1"/>
          </p:cNvPicPr>
          <p:nvPr/>
        </p:nvPicPr>
        <p:blipFill>
          <a:blip r:embed="rId1"/>
          <a:stretch>
            <a:fillRect/>
          </a:stretch>
        </p:blipFill>
        <p:spPr>
          <a:xfrm>
            <a:off x="640080" y="6419088"/>
            <a:ext cx="772668" cy="246888"/>
          </a:xfrm>
          <a:prstGeom prst="rect">
            <a:avLst/>
          </a:prstGeom>
        </p:spPr>
      </p:pic>
      <p:sp>
        <p:nvSpPr>
          <p:cNvPr id="3" name="Text 0"/>
          <p:cNvSpPr/>
          <p:nvPr/>
        </p:nvSpPr>
        <p:spPr>
          <a:xfrm>
            <a:off x="1641348" y="6400800"/>
            <a:ext cx="8229600" cy="274320"/>
          </a:xfrm>
          <a:prstGeom prst="rect">
            <a:avLst/>
          </a:prstGeom>
          <a:noFill/>
          <a:ln/>
        </p:spPr>
        <p:txBody>
          <a:bodyPr wrap="square" lIns="0" tIns="0" rIns="0" bIns="0" rtlCol="0" anchor="ctr"/>
          <a:lstStyle/>
          <a:p>
            <a:pPr indent="0" marL="0">
              <a:buNone/>
            </a:pPr>
            <a:r>
              <a:rPr lang="en-US" sz="1200" dirty="0">
                <a:solidFill>
                  <a:srgbClr val="666666"/>
                </a:solidFill>
                <a:latin typeface="Lato" pitchFamily="34" charset="0"/>
                <a:ea typeface="Lato" pitchFamily="34" charset="-122"/>
                <a:cs typeface="Lato" pitchFamily="34" charset="-120"/>
              </a:rPr>
              <a:t>DA15  |  Exploring relationships: scatter plots, correlation and cause</a:t>
            </a:r>
            <a:endParaRPr lang="en-US" sz="1200" dirty="0"/>
          </a:p>
        </p:txBody>
      </p:sp>
      <p:sp>
        <p:nvSpPr>
          <p:cNvPr id="4" name="Text 1"/>
          <p:cNvSpPr/>
          <p:nvPr>
            <p:ph idx="102" type="title" hasCustomPrompt="1"/>
          </p:nvPr>
        </p:nvSpPr>
        <p:spPr>
          <a:xfrm>
            <a:off x="640080" y="384048"/>
            <a:ext cx="10881360" cy="1051560"/>
          </a:xfrm>
          <a:prstGeom prst="rect">
            <a:avLst/>
          </a:prstGeom>
          <a:noFill/>
          <a:ln/>
        </p:spPr>
        <p:txBody>
          <a:bodyPr wrap="square" rtlCol="0"/>
          <a:lstStyle>
            <a:lvl1pPr algn="l" indent="0" marL="0">
              <a:buNone/>
              <a:defRPr lang="en-US" b="1" dirty="0">
                <a:solidFill>
                  <a:srgbClr val="111111"/>
                </a:solidFill>
                <a:latin typeface="Lato" pitchFamily="34" charset="0"/>
                <a:ea typeface="Lato" pitchFamily="34" charset="-122"/>
                <a:cs typeface="Lato"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LAI_DARK">
    <p:bg>
      <p:bgPr>
        <a:solidFill>
          <a:srgbClr val="000000"/>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black_cropped.png">    </p:cNvPr>
          <p:cNvPicPr>
            <a:picLocks noChangeAspect="1"/>
          </p:cNvPicPr>
          <p:nvPr/>
        </p:nvPicPr>
        <p:blipFill>
          <a:blip r:embed="rId1"/>
          <a:stretch>
            <a:fillRect/>
          </a:stretch>
        </p:blipFill>
        <p:spPr>
          <a:xfrm>
            <a:off x="640080" y="548640"/>
            <a:ext cx="1774850" cy="566928"/>
          </a:xfrm>
          <a:prstGeom prst="rect">
            <a:avLst/>
          </a:prstGeom>
        </p:spPr>
      </p:pic>
      <p:sp>
        <p:nvSpPr>
          <p:cNvPr id="3" name="Text 0"/>
          <p:cNvSpPr/>
          <p:nvPr>
            <p:ph idx="101" type="title" hasCustomPrompt="1"/>
          </p:nvPr>
        </p:nvSpPr>
        <p:spPr>
          <a:xfrm>
            <a:off x="640080" y="2103120"/>
            <a:ext cx="10607040" cy="2286000"/>
          </a:xfrm>
          <a:prstGeom prst="rect">
            <a:avLst/>
          </a:prstGeom>
          <a:noFill/>
          <a:ln/>
        </p:spPr>
        <p:txBody>
          <a:bodyPr wrap="square" rtlCol="0"/>
          <a:lstStyle>
            <a:lvl1pPr algn="l" indent="0" marL="0">
              <a:buNone/>
              <a:defRPr lang="en-US" b="1" dirty="0">
                <a:solidFill>
                  <a:srgbClr val="FFFFFF"/>
                </a:solidFill>
                <a:latin typeface="Lato" pitchFamily="34" charset="0"/>
                <a:ea typeface="Lato" pitchFamily="34" charset="-122"/>
                <a:cs typeface="Lato" pitchFamily="34" charset="-120"/>
              </a:defRPr>
            </a:lvl1pPr>
          </a:lstStyle>
          <a:p>
            <a:pPr algn="l" indent="0" marL="0">
              <a:buNone/>
            </a:pP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1.png"/><Relationship Id="rId3"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600" b="1" dirty="0">
                <a:solidFill>
                  <a:srgbClr val="FFFFFF"/>
                </a:solidFill>
                <a:latin typeface="Lato" pitchFamily="34" charset="0"/>
                <a:ea typeface="Lato" pitchFamily="34" charset="-122"/>
                <a:cs typeface="Lato" pitchFamily="34" charset="-120"/>
              </a:rPr>
              <a:t>Exploring relationships: scatter plots, correlation and cause</a:t>
            </a:r>
            <a:endParaRPr lang="en-US" sz="5600" dirty="0"/>
          </a:p>
        </p:txBody>
      </p:sp>
      <p:sp>
        <p:nvSpPr>
          <p:cNvPr id="3" name="Text 1"/>
          <p:cNvSpPr txBox="1"/>
          <p:nvPr/>
        </p:nvSpPr>
        <p:spPr>
          <a:xfrm>
            <a:off x="640080" y="4170680"/>
            <a:ext cx="10241280" cy="1188720"/>
          </a:xfrm>
          <a:prstGeom prst="rect">
            <a:avLst/>
          </a:prstGeom>
          <a:noFill/>
          <a:ln/>
        </p:spPr>
        <p:txBody>
          <a:bodyPr wrap="square" lIns="0" tIns="0" rIns="0" bIns="0" rtlCol="0" anchor="t"/>
          <a:lstStyle/>
          <a:p>
            <a:pPr algn="l" indent="0" marL="0">
              <a:lnSpc>
                <a:spcPts val="3600"/>
              </a:lnSpc>
              <a:buNone/>
            </a:pPr>
            <a:r>
              <a:rPr lang="en-US" sz="3000" i="1" dirty="0">
                <a:solidFill>
                  <a:srgbClr val="E0BE36"/>
                </a:solidFill>
                <a:latin typeface="Lato" pitchFamily="34" charset="0"/>
                <a:ea typeface="Lato" pitchFamily="34" charset="-122"/>
                <a:cs typeface="Lato" pitchFamily="34" charset="-120"/>
              </a:rPr>
              <a:t>Do busier days bring in more money, and does rain keep customers away?</a:t>
            </a:r>
            <a:endParaRPr lang="en-US" sz="3000" dirty="0"/>
          </a:p>
        </p:txBody>
      </p:sp>
      <p:sp>
        <p:nvSpPr>
          <p:cNvPr id="4" name="Text 2"/>
          <p:cNvSpPr txBox="1"/>
          <p:nvPr/>
        </p:nvSpPr>
        <p:spPr>
          <a:xfrm>
            <a:off x="640080" y="5989320"/>
            <a:ext cx="10789920" cy="457200"/>
          </a:xfrm>
          <a:prstGeom prst="rect">
            <a:avLst/>
          </a:prstGeom>
          <a:noFill/>
          <a:ln/>
        </p:spPr>
        <p:txBody>
          <a:bodyPr wrap="square" lIns="0" tIns="0" rIns="0" bIns="0" rtlCol="0" anchor="t"/>
          <a:lstStyle/>
          <a:p>
            <a:pPr algn="l" indent="0" marL="0">
              <a:lnSpc>
                <a:spcPts val="2320"/>
              </a:lnSpc>
              <a:buNone/>
            </a:pPr>
            <a:r>
              <a:rPr lang="en-US" sz="1600" dirty="0">
                <a:solidFill>
                  <a:srgbClr val="B5B5B5"/>
                </a:solidFill>
                <a:latin typeface="Lato" pitchFamily="34" charset="0"/>
                <a:ea typeface="Lato" pitchFamily="34" charset="-122"/>
                <a:cs typeface="Lato" pitchFamily="34" charset="-120"/>
              </a:rPr>
              <a:t>Python for Data Analysis  |  Session 15 of 24  |  Week 5, Explore with NumPy and seaborn</a:t>
            </a:r>
            <a:endParaRPr lang="en-US" sz="1600" dirty="0"/>
          </a:p>
          <a:p>
            <a:pPr algn="l" indent="0" marL="0">
              <a:lnSpc>
                <a:spcPts val="2320"/>
              </a:lnSpc>
              <a:buNone/>
            </a:pPr>
            <a:r>
              <a:rPr lang="en-US" sz="1600" dirty="0">
                <a:solidFill>
                  <a:srgbClr val="B5B5B5"/>
                </a:solidFill>
                <a:latin typeface="Lato" pitchFamily="34" charset="0"/>
                <a:ea typeface="Lato" pitchFamily="34" charset="-122"/>
                <a:cs typeface="Lato" pitchFamily="34" charset="-120"/>
              </a:rPr>
              <a:t>Holiday Data and AI Camp  |  The National ICT Innovation Hub, Nakawa</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Do busier days bring in more money,</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and does rain keep customers away?</a:t>
            </a:r>
            <a:endParaRPr lang="en-US" sz="3600" dirty="0"/>
          </a:p>
        </p:txBody>
      </p:sp>
      <p:pic>
        <p:nvPicPr>
          <p:cNvPr id="3" name="Image 0" descr="A scatter of customers against revenue, and rain against customers">    </p:cNvPr>
          <p:cNvPicPr>
            <a:picLocks noChangeAspect="1"/>
          </p:cNvPicPr>
          <p:nvPr/>
        </p:nvPicPr>
        <p:blipFill>
          <a:blip r:embed="rId1"/>
          <a:stretch>
            <a:fillRect/>
          </a:stretch>
        </p:blipFill>
        <p:spPr>
          <a:xfrm>
            <a:off x="640080" y="1768644"/>
            <a:ext cx="10881360" cy="4189393"/>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Three hours, mostly doing</a:t>
            </a:r>
            <a:endParaRPr lang="en-US" sz="3800" dirty="0"/>
          </a:p>
        </p:txBody>
      </p:sp>
      <p:pic>
        <p:nvPicPr>
          <p:cNvPr id="3" name="Image 0" descr="The plan for the session: start time, minutes and what we do">    </p:cNvPr>
          <p:cNvPicPr>
            <a:picLocks noChangeAspect="1"/>
          </p:cNvPicPr>
          <p:nvPr/>
        </p:nvPicPr>
        <p:blipFill>
          <a:blip r:embed="rId1"/>
          <a:stretch>
            <a:fillRect/>
          </a:stretch>
        </p:blipFill>
        <p:spPr>
          <a:xfrm>
            <a:off x="640080" y="1600200"/>
            <a:ext cx="10881360" cy="4133088"/>
          </a:xfrm>
          <a:prstGeom prst="rect">
            <a:avLst/>
          </a:prstGeom>
        </p:spPr>
      </p:pic>
      <p:sp>
        <p:nvSpPr>
          <p:cNvPr id="4" name="Text 1"/>
          <p:cNvSpPr txBox="1"/>
          <p:nvPr/>
        </p:nvSpPr>
        <p:spPr>
          <a:xfrm>
            <a:off x="640080" y="5852160"/>
            <a:ext cx="10881360" cy="45720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Most of our time is spent doing, in small steps, with a guess before every run.</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(1 of 2)</a:t>
            </a:r>
            <a:endParaRPr lang="en-US" sz="3800" dirty="0"/>
          </a:p>
        </p:txBody>
      </p:sp>
      <p:pic>
        <p:nvPicPr>
          <p:cNvPr id="3" name="Image 0" descr="correlation">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3840"/>
              </a:lnSpc>
              <a:buNone/>
            </a:pPr>
            <a:r>
              <a:rPr lang="en-US" sz="3200" b="1" dirty="0">
                <a:solidFill>
                  <a:srgbClr val="111111"/>
                </a:solidFill>
                <a:latin typeface="Lato" pitchFamily="34" charset="0"/>
                <a:ea typeface="Lato" pitchFamily="34" charset="-122"/>
                <a:cs typeface="Lato" pitchFamily="34" charset="-120"/>
              </a:rPr>
              <a:t>correlation</a:t>
            </a:r>
            <a:endParaRPr lang="en-US" sz="32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number from -1 to 1 for how closely two columns move together.</a:t>
            </a:r>
            <a:endParaRPr lang="en-US" sz="2200" dirty="0"/>
          </a:p>
        </p:txBody>
      </p:sp>
      <p:sp>
        <p:nvSpPr>
          <p:cNvPr id="6" name="Text 3"/>
          <p:cNvSpPr txBox="1"/>
          <p:nvPr/>
        </p:nvSpPr>
        <p:spPr>
          <a:xfrm>
            <a:off x="5120640" y="254508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Taller pupils usually have longer feet.</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strength">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strength</a:t>
            </a:r>
            <a:endParaRPr lang="en-US" sz="34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How close the correlation is to 1 or -1. Near 0 means weak.</a:t>
            </a:r>
            <a:endParaRPr lang="en-US" sz="2200" dirty="0"/>
          </a:p>
        </p:txBody>
      </p:sp>
      <p:sp>
        <p:nvSpPr>
          <p:cNvPr id="11" name="Text 7"/>
          <p:cNvSpPr txBox="1"/>
          <p:nvPr/>
        </p:nvSpPr>
        <p:spPr>
          <a:xfrm>
            <a:off x="5120640" y="402640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How tightly the dots hug a line.</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heatmap">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heatmap</a:t>
            </a:r>
            <a:endParaRPr lang="en-US" sz="34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table of numbers coloured by size.</a:t>
            </a:r>
            <a:endParaRPr lang="en-US" sz="2200" dirty="0"/>
          </a:p>
        </p:txBody>
      </p:sp>
      <p:sp>
        <p:nvSpPr>
          <p:cNvPr id="16" name="Text 11"/>
          <p:cNvSpPr txBox="1"/>
          <p:nvPr/>
        </p:nvSpPr>
        <p:spPr>
          <a:xfrm>
            <a:off x="5120640" y="517245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 map shaded by rainfall.</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(2 of 2)</a:t>
            </a:r>
            <a:endParaRPr lang="en-US" sz="3800" dirty="0"/>
          </a:p>
        </p:txBody>
      </p:sp>
      <p:pic>
        <p:nvPicPr>
          <p:cNvPr id="3" name="Image 0" descr="hue">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554480"/>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hue</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colour that shows which group each dot belongs to.</a:t>
            </a:r>
            <a:endParaRPr lang="en-US" sz="2200" dirty="0"/>
          </a:p>
        </p:txBody>
      </p:sp>
      <p:sp>
        <p:nvSpPr>
          <p:cNvPr id="6" name="Text 3"/>
          <p:cNvSpPr txBox="1"/>
          <p:nvPr/>
        </p:nvSpPr>
        <p:spPr>
          <a:xfrm>
            <a:off x="5120640" y="254508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 different coloured pen for each shop.</a:t>
            </a:r>
            <a:endParaRPr lang="en-US" sz="1900" dirty="0"/>
          </a:p>
        </p:txBody>
      </p:sp>
      <p:sp>
        <p:nvSpPr>
          <p:cNvPr id="7" name="Shape 4"/>
          <p:cNvSpPr/>
          <p:nvPr/>
        </p:nvSpPr>
        <p:spPr>
          <a:xfrm>
            <a:off x="640080" y="3392424"/>
            <a:ext cx="10881360" cy="0"/>
          </a:xfrm>
          <a:prstGeom prst="line">
            <a:avLst/>
          </a:prstGeom>
          <a:noFill/>
          <a:ln w="12700">
            <a:solidFill>
              <a:srgbClr val="CFCFCF"/>
            </a:solidFill>
            <a:prstDash val="solid"/>
          </a:ln>
        </p:spPr>
      </p:sp>
      <p:pic>
        <p:nvPicPr>
          <p:cNvPr id="8" name="Image 1" descr="cause">    </p:cNvPr>
          <p:cNvPicPr>
            <a:picLocks noChangeAspect="1"/>
          </p:cNvPicPr>
          <p:nvPr/>
        </p:nvPicPr>
        <p:blipFill>
          <a:blip r:embed="rId2"/>
          <a:stretch>
            <a:fillRect/>
          </a:stretch>
        </p:blipFill>
        <p:spPr>
          <a:xfrm>
            <a:off x="640080" y="3520440"/>
            <a:ext cx="1188720" cy="1188720"/>
          </a:xfrm>
          <a:prstGeom prst="rect">
            <a:avLst/>
          </a:prstGeom>
        </p:spPr>
      </p:pic>
      <p:sp>
        <p:nvSpPr>
          <p:cNvPr id="9" name="Text 5"/>
          <p:cNvSpPr txBox="1"/>
          <p:nvPr/>
        </p:nvSpPr>
        <p:spPr>
          <a:xfrm>
            <a:off x="2011680" y="3474720"/>
            <a:ext cx="2926080" cy="1554480"/>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cause</a:t>
            </a:r>
            <a:endParaRPr lang="en-US" sz="3400" dirty="0"/>
          </a:p>
        </p:txBody>
      </p:sp>
      <p:sp>
        <p:nvSpPr>
          <p:cNvPr id="10" name="Text 6"/>
          <p:cNvSpPr txBox="1"/>
          <p:nvPr/>
        </p:nvSpPr>
        <p:spPr>
          <a:xfrm>
            <a:off x="5120640" y="352044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One thing makes another happen. A correlation alone does not show it.</a:t>
            </a:r>
            <a:endParaRPr lang="en-US" sz="2200" dirty="0"/>
          </a:p>
        </p:txBody>
      </p:sp>
      <p:sp>
        <p:nvSpPr>
          <p:cNvPr id="11" name="Text 7"/>
          <p:cNvSpPr txBox="1"/>
          <p:nvPr/>
        </p:nvSpPr>
        <p:spPr>
          <a:xfrm>
            <a:off x="5120640" y="428244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Rain makes the ground wet. Wet ground does not make rain.</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Colour adds a third fact to a scatter plot</a:t>
            </a:r>
            <a:endParaRPr lang="en-US" sz="3800" dirty="0"/>
          </a:p>
        </p:txBody>
      </p:sp>
      <p:pic>
        <p:nvPicPr>
          <p:cNvPr id="3" name="Image 0" descr="Colour adds a third fact to a scatter plot">    </p:cNvPr>
          <p:cNvPicPr>
            <a:picLocks noChangeAspect="1"/>
          </p:cNvPicPr>
          <p:nvPr/>
        </p:nvPicPr>
        <p:blipFill>
          <a:blip r:embed="rId1"/>
          <a:stretch>
            <a:fillRect/>
          </a:stretch>
        </p:blipFill>
        <p:spPr>
          <a:xfrm>
            <a:off x="640080" y="1649406"/>
            <a:ext cx="7040880" cy="4427868"/>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Across is one column, up is another.</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hue is a third column.</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Each shop gets its own colour.</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Correlation runs from minus one to plus one</a:t>
            </a:r>
            <a:endParaRPr lang="en-US" sz="3800" dirty="0"/>
          </a:p>
        </p:txBody>
      </p:sp>
      <p:pic>
        <p:nvPicPr>
          <p:cNvPr id="3" name="Image 0" descr="Correlation runs from minus one to plus one">    </p:cNvPr>
          <p:cNvPicPr>
            <a:picLocks noChangeAspect="1"/>
          </p:cNvPicPr>
          <p:nvPr/>
        </p:nvPicPr>
        <p:blipFill>
          <a:blip r:embed="rId1"/>
          <a:stretch>
            <a:fillRect/>
          </a:stretch>
        </p:blipFill>
        <p:spPr>
          <a:xfrm>
            <a:off x="640080" y="1609114"/>
            <a:ext cx="10881360" cy="3959812"/>
          </a:xfrm>
          <a:prstGeom prst="rect">
            <a:avLst/>
          </a:prstGeom>
        </p:spPr>
      </p:pic>
      <p:sp>
        <p:nvSpPr>
          <p:cNvPr id="4" name="Text 1"/>
          <p:cNvSpPr txBox="1"/>
          <p:nvPr/>
        </p:nvSpPr>
        <p:spPr>
          <a:xfrm>
            <a:off x="640080" y="5669280"/>
            <a:ext cx="10881360" cy="64008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Plus one rises together, zero shows no link, minus one moves opposite.</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A scatter plot and one correlation</a:t>
            </a:r>
            <a:endParaRPr lang="en-US" sz="3800" dirty="0"/>
          </a:p>
        </p:txBody>
      </p:sp>
      <p:sp>
        <p:nvSpPr>
          <p:cNvPr id="3" name="Shape 1"/>
          <p:cNvSpPr/>
          <p:nvPr/>
        </p:nvSpPr>
        <p:spPr>
          <a:xfrm>
            <a:off x="640080" y="1645920"/>
            <a:ext cx="10881360" cy="3344672"/>
          </a:xfrm>
          <a:prstGeom prst="roundRect">
            <a:avLst>
              <a:gd name="adj" fmla="val 2187"/>
            </a:avLst>
          </a:prstGeom>
          <a:solidFill>
            <a:srgbClr val="111111"/>
          </a:solidFill>
          <a:ln/>
        </p:spPr>
      </p:sp>
      <p:sp>
        <p:nvSpPr>
          <p:cNvPr id="4" name="Text 2"/>
          <p:cNvSpPr txBox="1"/>
          <p:nvPr/>
        </p:nvSpPr>
        <p:spPr>
          <a:xfrm>
            <a:off x="841248" y="1847088"/>
            <a:ext cx="10479024" cy="2942336"/>
          </a:xfrm>
          <a:prstGeom prst="rect">
            <a:avLst/>
          </a:prstGeom>
          <a:noFill/>
          <a:ln/>
        </p:spPr>
        <p:txBody>
          <a:bodyPr wrap="square" lIns="0" tIns="0" rIns="0" bIns="0" rtlCol="0" anchor="t"/>
          <a:lstStyle/>
          <a:p>
            <a:pPr algn="l" indent="0" marL="0">
              <a:lnSpc>
                <a:spcPts val="2080"/>
              </a:lnSpc>
              <a:buNone/>
            </a:pPr>
            <a:r>
              <a:rPr lang="en-US" sz="1600" b="1" dirty="0">
                <a:solidFill>
                  <a:srgbClr val="FFFFFF"/>
                </a:solidFill>
                <a:latin typeface="Courier New" pitchFamily="34" charset="0"/>
                <a:ea typeface="Courier New" pitchFamily="34" charset="-122"/>
                <a:cs typeface="Courier New" pitchFamily="34" charset="-120"/>
              </a:rPr>
              <a:t>import</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pandas </a:t>
            </a:r>
            <a:pPr algn="l" indent="0" marL="0">
              <a:lnSpc>
                <a:spcPts val="2080"/>
              </a:lnSpc>
              <a:buNone/>
            </a:pPr>
            <a:r>
              <a:rPr lang="en-US" sz="1600" b="1" dirty="0">
                <a:solidFill>
                  <a:srgbClr val="FFFFFF"/>
                </a:solidFill>
                <a:latin typeface="Courier New" pitchFamily="34" charset="0"/>
                <a:ea typeface="Courier New" pitchFamily="34" charset="-122"/>
                <a:cs typeface="Courier New" pitchFamily="34" charset="-120"/>
              </a:rPr>
              <a:t>as</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pd</a:t>
            </a:r>
            <a:endParaRPr lang="en-US" sz="1600" dirty="0"/>
          </a:p>
          <a:p>
            <a:pPr algn="l" indent="0" marL="0">
              <a:lnSpc>
                <a:spcPts val="2080"/>
              </a:lnSpc>
              <a:buNone/>
            </a:pPr>
            <a:r>
              <a:rPr lang="en-US" sz="1600" b="1" dirty="0">
                <a:solidFill>
                  <a:srgbClr val="FFFFFF"/>
                </a:solidFill>
                <a:latin typeface="Courier New" pitchFamily="34" charset="0"/>
                <a:ea typeface="Courier New" pitchFamily="34" charset="-122"/>
                <a:cs typeface="Courier New" pitchFamily="34" charset="-120"/>
              </a:rPr>
              <a:t>import</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seaborn </a:t>
            </a:r>
            <a:pPr algn="l" indent="0" marL="0">
              <a:lnSpc>
                <a:spcPts val="2080"/>
              </a:lnSpc>
              <a:buNone/>
            </a:pPr>
            <a:r>
              <a:rPr lang="en-US" sz="1600" b="1" dirty="0">
                <a:solidFill>
                  <a:srgbClr val="FFFFFF"/>
                </a:solidFill>
                <a:latin typeface="Courier New" pitchFamily="34" charset="0"/>
                <a:ea typeface="Courier New" pitchFamily="34" charset="-122"/>
                <a:cs typeface="Courier New" pitchFamily="34" charset="-120"/>
              </a:rPr>
              <a:t>as</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sns</a:t>
            </a:r>
            <a:endParaRPr lang="en-US" sz="1600" dirty="0"/>
          </a:p>
          <a:p>
            <a:pPr algn="l" indent="0" marL="0">
              <a:lnSpc>
                <a:spcPts val="2080"/>
              </a:lnSpc>
              <a:buNone/>
            </a:pPr>
            <a:r>
              <a:rPr lang="en-US" sz="1600" b="1" dirty="0">
                <a:solidFill>
                  <a:srgbClr val="FFFFFF"/>
                </a:solidFill>
                <a:latin typeface="Courier New" pitchFamily="34" charset="0"/>
                <a:ea typeface="Courier New" pitchFamily="34" charset="-122"/>
                <a:cs typeface="Courier New" pitchFamily="34" charset="-120"/>
              </a:rPr>
              <a:t>import</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matplotlib.pyplot </a:t>
            </a:r>
            <a:pPr algn="l" indent="0" marL="0">
              <a:lnSpc>
                <a:spcPts val="2080"/>
              </a:lnSpc>
              <a:buNone/>
            </a:pPr>
            <a:r>
              <a:rPr lang="en-US" sz="1600" b="1" dirty="0">
                <a:solidFill>
                  <a:srgbClr val="FFFFFF"/>
                </a:solidFill>
                <a:latin typeface="Courier New" pitchFamily="34" charset="0"/>
                <a:ea typeface="Courier New" pitchFamily="34" charset="-122"/>
                <a:cs typeface="Courier New" pitchFamily="34" charset="-120"/>
              </a:rPr>
              <a:t>as</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plt</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daily = pd.read_csv(</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"sunrise_daily_summary.csv"</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sns.scatterplot(</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data=daily, x=</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"customers_counted"</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y=</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"revenue_ugx"</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hue=</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"branch"</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plt.show()</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r = daily[</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"customers_counted"</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].corr(daily[</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"revenue_ugx"</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print(round(r, 3))</a:t>
            </a:r>
            <a:endParaRPr lang="en-US" sz="1600" dirty="0"/>
          </a:p>
        </p:txBody>
      </p:sp>
      <p:sp>
        <p:nvSpPr>
          <p:cNvPr id="5" name="Text 3"/>
          <p:cNvSpPr txBox="1"/>
          <p:nvPr/>
        </p:nvSpPr>
        <p:spPr>
          <a:xfrm>
            <a:off x="640080" y="5173472"/>
            <a:ext cx="8046720" cy="1090168"/>
          </a:xfrm>
          <a:prstGeom prst="rect">
            <a:avLst/>
          </a:prstGeom>
          <a:noFill/>
          <a:ln/>
        </p:spPr>
        <p:txBody>
          <a:bodyPr wrap="square" lIns="0" tIns="0" rIns="0" bIns="0" rtlCol="0" anchor="t"/>
          <a:lstStyle/>
          <a:p>
            <a:pPr algn="l" indent="0" marL="0">
              <a:lnSpc>
                <a:spcPts val="2400"/>
              </a:lnSpc>
              <a:spcAft>
                <a:spcPts val="1010"/>
              </a:spcAft>
              <a:buNone/>
            </a:pPr>
            <a:r>
              <a:rPr lang="en-US" sz="2000" dirty="0">
                <a:solidFill>
                  <a:srgbClr val="111111"/>
                </a:solidFill>
                <a:latin typeface="Lato" pitchFamily="34" charset="0"/>
                <a:ea typeface="Lato" pitchFamily="34" charset="-122"/>
                <a:cs typeface="Lato" pitchFamily="34" charset="-120"/>
              </a:rPr>
              <a:t>Predict whether the correlation between customers and revenue is close to 0, close to 1 or close to -1.</a:t>
            </a:r>
            <a:endParaRPr lang="en-US" sz="2000" dirty="0"/>
          </a:p>
          <a:p>
            <a:pPr algn="l" indent="0" marL="0">
              <a:lnSpc>
                <a:spcPts val="2400"/>
              </a:lnSpc>
              <a:spcAft>
                <a:spcPts val="1010"/>
              </a:spcAft>
              <a:buNone/>
            </a:pPr>
            <a:r>
              <a:rPr lang="en-US" sz="2000" dirty="0">
                <a:solidFill>
                  <a:srgbClr val="111111"/>
                </a:solidFill>
                <a:latin typeface="Lato" pitchFamily="34" charset="0"/>
                <a:ea typeface="Lato" pitchFamily="34" charset="-122"/>
                <a:cs typeface="Lato" pitchFamily="34" charset="-120"/>
              </a:rPr>
              <a:t>Write your guess on paper before we run it.</a:t>
            </a:r>
            <a:endParaRPr lang="en-US" sz="2000" dirty="0"/>
          </a:p>
        </p:txBody>
      </p:sp>
      <p:pic>
        <p:nvPicPr>
          <p:cNvPr id="6" name="Image 0" descr="A page and a pen">    </p:cNvPr>
          <p:cNvPicPr>
            <a:picLocks noChangeAspect="1"/>
          </p:cNvPicPr>
          <p:nvPr/>
        </p:nvPicPr>
        <p:blipFill>
          <a:blip r:embed="rId1"/>
          <a:stretch>
            <a:fillRect/>
          </a:stretch>
        </p:blipFill>
        <p:spPr>
          <a:xfrm>
            <a:off x="10241280" y="5175758"/>
            <a:ext cx="1188720" cy="1046988"/>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A scatter plot and one correlation</a:t>
            </a:r>
            <a:endParaRPr lang="en-US" sz="3800" dirty="0"/>
          </a:p>
        </p:txBody>
      </p:sp>
      <p:pic>
        <p:nvPicPr>
          <p:cNvPr id="3" name="Image 0" descr="The chart the code draws">    </p:cNvPr>
          <p:cNvPicPr>
            <a:picLocks noChangeAspect="1"/>
          </p:cNvPicPr>
          <p:nvPr/>
        </p:nvPicPr>
        <p:blipFill>
          <a:blip r:embed="rId1"/>
          <a:stretch>
            <a:fillRect/>
          </a:stretch>
        </p:blipFill>
        <p:spPr>
          <a:xfrm>
            <a:off x="640080" y="2103714"/>
            <a:ext cx="6035040" cy="3519251"/>
          </a:xfrm>
          <a:prstGeom prst="rect">
            <a:avLst/>
          </a:prstGeom>
        </p:spPr>
      </p:pic>
      <p:sp>
        <p:nvSpPr>
          <p:cNvPr id="4" name="Text 1"/>
          <p:cNvSpPr txBox="1"/>
          <p:nvPr/>
        </p:nvSpPr>
        <p:spPr>
          <a:xfrm>
            <a:off x="7040880" y="1737360"/>
            <a:ext cx="4480560" cy="4389120"/>
          </a:xfrm>
          <a:prstGeom prst="rect">
            <a:avLst/>
          </a:prstGeom>
          <a:noFill/>
          <a:ln/>
        </p:spPr>
        <p:txBody>
          <a:bodyPr wrap="square" lIns="0" tIns="0" rIns="0" bIns="0" rtlCol="0" anchor="t"/>
          <a:lstStyle/>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The dots rise from left to right, so more customers usually mean more revenue.</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The correlation is 0.623: positive and moderately strong.</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The dots are scattered, so a customer count does not fix the revenue.</a:t>
            </a:r>
            <a:endParaRPr lang="en-US" sz="2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A scatter plot and one correlation</a:t>
            </a:r>
            <a:endParaRPr lang="en-US" sz="3800" dirty="0"/>
          </a:p>
        </p:txBody>
      </p:sp>
      <p:pic>
        <p:nvPicPr>
          <p:cNvPr id="3" name="Image 0" descr="Look closely">    </p:cNvPr>
          <p:cNvPicPr>
            <a:picLocks noChangeAspect="1"/>
          </p:cNvPicPr>
          <p:nvPr/>
        </p:nvPicPr>
        <p:blipFill>
          <a:blip r:embed="rId1"/>
          <a:stretch>
            <a:fillRect/>
          </a:stretch>
        </p:blipFill>
        <p:spPr>
          <a:xfrm>
            <a:off x="9875520" y="4480560"/>
            <a:ext cx="1645920" cy="1645920"/>
          </a:xfrm>
          <a:prstGeom prst="rect">
            <a:avLst/>
          </a:prstGeom>
        </p:spPr>
      </p:pic>
      <p:sp>
        <p:nvSpPr>
          <p:cNvPr id="4" name="Text 1"/>
          <p:cNvSpPr txBox="1"/>
          <p:nvPr/>
        </p:nvSpPr>
        <p:spPr>
          <a:xfrm>
            <a:off x="640080" y="1737360"/>
            <a:ext cx="896112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What would a correlation of 1 look like on the chart?</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Why do the colours help?</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200"/>
              </a:lnSpc>
              <a:spcAft>
                <a:spcPts val="3240"/>
              </a:spcAft>
              <a:buNone/>
            </a:pPr>
            <a:r>
              <a:rPr lang="en-US" sz="3500" dirty="0">
                <a:solidFill>
                  <a:srgbClr val="111111"/>
                </a:solidFill>
                <a:latin typeface="Lato" pitchFamily="34" charset="0"/>
                <a:ea typeface="Lato" pitchFamily="34" charset="-122"/>
                <a:cs typeface="Lato" pitchFamily="34" charset="-120"/>
              </a:rPr>
              <a:t>Find the correlation between customers and the number of sale lines (sale_lines).</a:t>
            </a:r>
            <a:endParaRPr lang="en-US" sz="3500" dirty="0"/>
          </a:p>
          <a:p>
            <a:pPr algn="l" indent="0" marL="0">
              <a:lnSpc>
                <a:spcPts val="4200"/>
              </a:lnSpc>
              <a:spcAft>
                <a:spcPts val="3240"/>
              </a:spcAft>
              <a:buNone/>
            </a:pPr>
            <a:r>
              <a:rPr lang="en-US" sz="3500" dirty="0">
                <a:solidFill>
                  <a:srgbClr val="111111"/>
                </a:solidFill>
                <a:latin typeface="Lato" pitchFamily="34" charset="0"/>
                <a:ea typeface="Lato" pitchFamily="34" charset="-122"/>
                <a:cs typeface="Lato" pitchFamily="34" charset="-120"/>
              </a:rPr>
              <a:t>Then tell your neighbour what changed and how you know.</a:t>
            </a:r>
            <a:endParaRPr lang="en-US" sz="3500" dirty="0"/>
          </a:p>
        </p:txBody>
      </p:sp>
      <p:pic>
        <p:nvPicPr>
          <p:cNvPr id="4" name="Image 0" descr="Change one thing">    </p:cNvPr>
          <p:cNvPicPr>
            <a:picLocks noChangeAspect="1"/>
          </p:cNvPicPr>
          <p:nvPr/>
        </p:nvPicPr>
        <p:blipFill>
          <a:blip r:embed="rId1"/>
          <a:stretch>
            <a:fillRect/>
          </a:stretch>
        </p:blipFill>
        <p:spPr>
          <a:xfrm>
            <a:off x="9418320" y="2103120"/>
            <a:ext cx="1828800"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400" b="1" dirty="0">
                <a:solidFill>
                  <a:srgbClr val="FFFFFF"/>
                </a:solidFill>
                <a:latin typeface="Lato" pitchFamily="34" charset="0"/>
                <a:ea typeface="Lato" pitchFamily="34" charset="-122"/>
                <a:cs typeface="Lato" pitchFamily="34" charset="-120"/>
              </a:rPr>
              <a:t>Break</a:t>
            </a:r>
            <a:endParaRPr lang="en-US" sz="5400" dirty="0"/>
          </a:p>
        </p:txBody>
      </p:sp>
      <p:sp>
        <p:nvSpPr>
          <p:cNvPr id="3" name="Text 1"/>
          <p:cNvSpPr txBox="1"/>
          <p:nvPr/>
        </p:nvSpPr>
        <p:spPr>
          <a:xfrm>
            <a:off x="640080" y="3154680"/>
            <a:ext cx="6858000" cy="914400"/>
          </a:xfrm>
          <a:prstGeom prst="rect">
            <a:avLst/>
          </a:prstGeom>
          <a:noFill/>
          <a:ln/>
        </p:spPr>
        <p:txBody>
          <a:bodyPr wrap="square" lIns="0" tIns="0" rIns="0" bIns="0" rtlCol="0" anchor="t"/>
          <a:lstStyle/>
          <a:p>
            <a:pPr algn="l" indent="0" marL="0">
              <a:lnSpc>
                <a:spcPts val="4080"/>
              </a:lnSpc>
              <a:buNone/>
            </a:pPr>
            <a:r>
              <a:rPr lang="en-US" sz="3400" b="1" dirty="0">
                <a:solidFill>
                  <a:srgbClr val="FFFFFF"/>
                </a:solidFill>
                <a:latin typeface="Lato" pitchFamily="34" charset="0"/>
                <a:ea typeface="Lato" pitchFamily="34" charset="-122"/>
                <a:cs typeface="Lato" pitchFamily="34" charset="-120"/>
              </a:rPr>
              <a:t>15 minutes away from your screen</a:t>
            </a:r>
            <a:endParaRPr lang="en-US" sz="3400" dirty="0"/>
          </a:p>
        </p:txBody>
      </p:sp>
      <p:sp>
        <p:nvSpPr>
          <p:cNvPr id="4" name="Text 2"/>
          <p:cNvSpPr txBox="1"/>
          <p:nvPr/>
        </p:nvSpPr>
        <p:spPr>
          <a:xfrm>
            <a:off x="640080" y="4206240"/>
            <a:ext cx="6400800" cy="1463040"/>
          </a:xfrm>
          <a:prstGeom prst="rect">
            <a:avLst/>
          </a:prstGeom>
          <a:noFill/>
          <a:ln/>
        </p:spPr>
        <p:txBody>
          <a:bodyPr wrap="square" lIns="0" tIns="0" rIns="0" bIns="0" rtlCol="0" anchor="t"/>
          <a:lstStyle/>
          <a:p>
            <a:pPr algn="l" indent="0" marL="0">
              <a:lnSpc>
                <a:spcPts val="3000"/>
              </a:lnSpc>
              <a:buNone/>
            </a:pPr>
            <a:r>
              <a:rPr lang="en-US" sz="2400" dirty="0">
                <a:solidFill>
                  <a:srgbClr val="D8D8D8"/>
                </a:solidFill>
                <a:latin typeface="Lato" pitchFamily="34" charset="0"/>
                <a:ea typeface="Lato" pitchFamily="34" charset="-122"/>
                <a:cs typeface="Lato" pitchFamily="34" charset="-120"/>
              </a:rPr>
              <a:t>Stand up. Drink some water. Tell someone what you guessed in the first half.</a:t>
            </a:r>
            <a:endParaRPr lang="en-US" sz="2400" dirty="0"/>
          </a:p>
        </p:txBody>
      </p:sp>
      <p:pic>
        <p:nvPicPr>
          <p:cNvPr id="5" name="Image 0" descr="A clock">    </p:cNvPr>
          <p:cNvPicPr>
            <a:picLocks noChangeAspect="1"/>
          </p:cNvPicPr>
          <p:nvPr/>
        </p:nvPicPr>
        <p:blipFill>
          <a:blip r:embed="rId1"/>
          <a:stretch>
            <a:fillRect/>
          </a:stretch>
        </p:blipFill>
        <p:spPr>
          <a:xfrm>
            <a:off x="8321040" y="2743200"/>
            <a:ext cx="2926080" cy="292608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A heatmap colours every pair of columns</a:t>
            </a:r>
            <a:endParaRPr lang="en-US" sz="3800" dirty="0"/>
          </a:p>
        </p:txBody>
      </p:sp>
      <p:pic>
        <p:nvPicPr>
          <p:cNvPr id="3" name="Image 0" descr="A heatmap colours every pair of columns">    </p:cNvPr>
          <p:cNvPicPr>
            <a:picLocks noChangeAspect="1"/>
          </p:cNvPicPr>
          <p:nvPr/>
        </p:nvPicPr>
        <p:blipFill>
          <a:blip r:embed="rId1"/>
          <a:stretch>
            <a:fillRect/>
          </a:stretch>
        </p:blipFill>
        <p:spPr>
          <a:xfrm>
            <a:off x="1452002" y="1600200"/>
            <a:ext cx="5417035"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Each square is one pair of columns.</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Darker means a stronger link.</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diagonal is always one.</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Rain is weakly linked to customers (−0.16 at most)</a:t>
            </a:r>
            <a:endParaRPr lang="en-US" sz="3600" dirty="0"/>
          </a:p>
        </p:txBody>
      </p:sp>
      <p:pic>
        <p:nvPicPr>
          <p:cNvPr id="3" name="Image 0" descr="Rain is weakly linked to customers (−0.16 at most)">    </p:cNvPr>
          <p:cNvPicPr>
            <a:picLocks noChangeAspect="1"/>
          </p:cNvPicPr>
          <p:nvPr/>
        </p:nvPicPr>
        <p:blipFill>
          <a:blip r:embed="rId1"/>
          <a:stretch>
            <a:fillRect/>
          </a:stretch>
        </p:blipFill>
        <p:spPr>
          <a:xfrm>
            <a:off x="640080" y="1842066"/>
            <a:ext cx="7040880" cy="4042548"/>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Overall, rain and customers correlate at −0.013.</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Roadside is the strongest, at −0.159, and still weak.</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Central Market and Campus Gate are close to zero.</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Predict: A heatmap of every</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pair, and the rain question</a:t>
            </a:r>
            <a:endParaRPr lang="en-US" sz="3600" dirty="0"/>
          </a:p>
        </p:txBody>
      </p:sp>
      <p:sp>
        <p:nvSpPr>
          <p:cNvPr id="3" name="Shape 1"/>
          <p:cNvSpPr/>
          <p:nvPr/>
        </p:nvSpPr>
        <p:spPr>
          <a:xfrm>
            <a:off x="640080" y="1645920"/>
            <a:ext cx="10881360" cy="3383280"/>
          </a:xfrm>
          <a:prstGeom prst="roundRect">
            <a:avLst>
              <a:gd name="adj" fmla="val 2162"/>
            </a:avLst>
          </a:prstGeom>
          <a:solidFill>
            <a:srgbClr val="111111"/>
          </a:solidFill>
          <a:ln/>
        </p:spPr>
      </p:sp>
      <p:sp>
        <p:nvSpPr>
          <p:cNvPr id="4" name="Text 2"/>
          <p:cNvSpPr txBox="1"/>
          <p:nvPr/>
        </p:nvSpPr>
        <p:spPr>
          <a:xfrm>
            <a:off x="841248" y="1847088"/>
            <a:ext cx="10479024" cy="2980944"/>
          </a:xfrm>
          <a:prstGeom prst="rect">
            <a:avLst/>
          </a:prstGeom>
          <a:noFill/>
          <a:ln/>
        </p:spPr>
        <p:txBody>
          <a:bodyPr wrap="square" lIns="0" tIns="0" rIns="0" bIns="0" rtlCol="0" anchor="t"/>
          <a:lstStyle/>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cols = [</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    </a:t>
            </a:r>
            <a:pPr algn="l" indent="0" marL="0">
              <a:lnSpc>
                <a:spcPts val="2600"/>
              </a:lnSpc>
              <a:buNone/>
            </a:pPr>
            <a:r>
              <a:rPr lang="en-US" sz="2000" dirty="0">
                <a:solidFill>
                  <a:srgbClr val="E0BE36"/>
                </a:solidFill>
                <a:latin typeface="Courier New" pitchFamily="34" charset="0"/>
                <a:ea typeface="Courier New" pitchFamily="34" charset="-122"/>
                <a:cs typeface="Courier New" pitchFamily="34" charset="-120"/>
              </a:rPr>
              <a:t>"customers_counted"</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 </a:t>
            </a:r>
            <a:pPr algn="l" indent="0" marL="0">
              <a:lnSpc>
                <a:spcPts val="2600"/>
              </a:lnSpc>
              <a:buNone/>
            </a:pPr>
            <a:r>
              <a:rPr lang="en-US" sz="2000" dirty="0">
                <a:solidFill>
                  <a:srgbClr val="E0BE36"/>
                </a:solidFill>
                <a:latin typeface="Courier New" pitchFamily="34" charset="0"/>
                <a:ea typeface="Courier New" pitchFamily="34" charset="-122"/>
                <a:cs typeface="Courier New" pitchFamily="34" charset="-120"/>
              </a:rPr>
              <a:t>"rain_mm"</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 </a:t>
            </a:r>
            <a:pPr algn="l" indent="0" marL="0">
              <a:lnSpc>
                <a:spcPts val="2600"/>
              </a:lnSpc>
              <a:buNone/>
            </a:pPr>
            <a:r>
              <a:rPr lang="en-US" sz="2000" dirty="0">
                <a:solidFill>
                  <a:srgbClr val="E0BE36"/>
                </a:solidFill>
                <a:latin typeface="Courier New" pitchFamily="34" charset="0"/>
                <a:ea typeface="Courier New" pitchFamily="34" charset="-122"/>
                <a:cs typeface="Courier New" pitchFamily="34" charset="-120"/>
              </a:rPr>
              <a:t>"sale_lines"</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    </a:t>
            </a:r>
            <a:pPr algn="l" indent="0" marL="0">
              <a:lnSpc>
                <a:spcPts val="2600"/>
              </a:lnSpc>
              <a:buNone/>
            </a:pPr>
            <a:r>
              <a:rPr lang="en-US" sz="2000" dirty="0">
                <a:solidFill>
                  <a:srgbClr val="E0BE36"/>
                </a:solidFill>
                <a:latin typeface="Courier New" pitchFamily="34" charset="0"/>
                <a:ea typeface="Courier New" pitchFamily="34" charset="-122"/>
                <a:cs typeface="Courier New" pitchFamily="34" charset="-120"/>
              </a:rPr>
              <a:t>"revenue_ugx"</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table = daily[cols].corr()</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sns.heatmap(table, annot=</a:t>
            </a:r>
            <a:pPr algn="l" indent="0" marL="0">
              <a:lnSpc>
                <a:spcPts val="2600"/>
              </a:lnSpc>
              <a:buNone/>
            </a:pPr>
            <a:r>
              <a:rPr lang="en-US" sz="2000" b="1" dirty="0">
                <a:solidFill>
                  <a:srgbClr val="FFFFFF"/>
                </a:solidFill>
                <a:latin typeface="Courier New" pitchFamily="34" charset="0"/>
                <a:ea typeface="Courier New" pitchFamily="34" charset="-122"/>
                <a:cs typeface="Courier New" pitchFamily="34" charset="-120"/>
              </a:rPr>
              <a:t>True</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 vmin=-1, vmax=1)</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plt.show()</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print(round(table.loc[</a:t>
            </a:r>
            <a:pPr algn="l" indent="0" marL="0">
              <a:lnSpc>
                <a:spcPts val="2600"/>
              </a:lnSpc>
              <a:buNone/>
            </a:pPr>
            <a:r>
              <a:rPr lang="en-US" sz="2000" dirty="0">
                <a:solidFill>
                  <a:srgbClr val="E0BE36"/>
                </a:solidFill>
                <a:latin typeface="Courier New" pitchFamily="34" charset="0"/>
                <a:ea typeface="Courier New" pitchFamily="34" charset="-122"/>
                <a:cs typeface="Courier New" pitchFamily="34" charset="-120"/>
              </a:rPr>
              <a:t>"rain_mm"</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 </a:t>
            </a:r>
            <a:pPr algn="l" indent="0" marL="0">
              <a:lnSpc>
                <a:spcPts val="2600"/>
              </a:lnSpc>
              <a:buNone/>
            </a:pPr>
            <a:r>
              <a:rPr lang="en-US" sz="2000" dirty="0">
                <a:solidFill>
                  <a:srgbClr val="E0BE36"/>
                </a:solidFill>
                <a:latin typeface="Courier New" pitchFamily="34" charset="0"/>
                <a:ea typeface="Courier New" pitchFamily="34" charset="-122"/>
                <a:cs typeface="Courier New" pitchFamily="34" charset="-120"/>
              </a:rPr>
              <a:t>"customers_counted"</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 3))</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print(round(table.loc[</a:t>
            </a:r>
            <a:pPr algn="l" indent="0" marL="0">
              <a:lnSpc>
                <a:spcPts val="2600"/>
              </a:lnSpc>
              <a:buNone/>
            </a:pPr>
            <a:r>
              <a:rPr lang="en-US" sz="2000" dirty="0">
                <a:solidFill>
                  <a:srgbClr val="E0BE36"/>
                </a:solidFill>
                <a:latin typeface="Courier New" pitchFamily="34" charset="0"/>
                <a:ea typeface="Courier New" pitchFamily="34" charset="-122"/>
                <a:cs typeface="Courier New" pitchFamily="34" charset="-120"/>
              </a:rPr>
              <a:t>"sale_lines"</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 </a:t>
            </a:r>
            <a:pPr algn="l" indent="0" marL="0">
              <a:lnSpc>
                <a:spcPts val="2600"/>
              </a:lnSpc>
              <a:buNone/>
            </a:pPr>
            <a:r>
              <a:rPr lang="en-US" sz="2000" dirty="0">
                <a:solidFill>
                  <a:srgbClr val="E0BE36"/>
                </a:solidFill>
                <a:latin typeface="Courier New" pitchFamily="34" charset="0"/>
                <a:ea typeface="Courier New" pitchFamily="34" charset="-122"/>
                <a:cs typeface="Courier New" pitchFamily="34" charset="-120"/>
              </a:rPr>
              <a:t>"revenue_ugx"</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 3))</a:t>
            </a:r>
            <a:endParaRPr lang="en-US" sz="2000" dirty="0"/>
          </a:p>
        </p:txBody>
      </p:sp>
      <p:sp>
        <p:nvSpPr>
          <p:cNvPr id="5" name="Text 3"/>
          <p:cNvSpPr txBox="1"/>
          <p:nvPr/>
        </p:nvSpPr>
        <p:spPr>
          <a:xfrm>
            <a:off x="640080" y="5212080"/>
            <a:ext cx="8046720" cy="1051560"/>
          </a:xfrm>
          <a:prstGeom prst="rect">
            <a:avLst/>
          </a:prstGeom>
          <a:noFill/>
          <a:ln/>
        </p:spPr>
        <p:txBody>
          <a:bodyPr wrap="square" lIns="0" tIns="0" rIns="0" bIns="0" rtlCol="0" anchor="t"/>
          <a:lstStyle/>
          <a:p>
            <a:pPr algn="l" indent="0" marL="0">
              <a:lnSpc>
                <a:spcPts val="2760"/>
              </a:lnSpc>
              <a:spcAft>
                <a:spcPts val="1010"/>
              </a:spcAft>
              <a:buNone/>
            </a:pPr>
            <a:r>
              <a:rPr lang="en-US" sz="2300" dirty="0">
                <a:solidFill>
                  <a:srgbClr val="111111"/>
                </a:solidFill>
                <a:latin typeface="Lato" pitchFamily="34" charset="0"/>
                <a:ea typeface="Lato" pitchFamily="34" charset="-122"/>
                <a:cs typeface="Lato" pitchFamily="34" charset="-120"/>
              </a:rPr>
              <a:t>Predict whether rain_mm is strongly related to customers.</a:t>
            </a:r>
            <a:endParaRPr lang="en-US" sz="2300" dirty="0"/>
          </a:p>
          <a:p>
            <a:pPr algn="l" indent="0" marL="0">
              <a:lnSpc>
                <a:spcPts val="2760"/>
              </a:lnSpc>
              <a:spcAft>
                <a:spcPts val="1010"/>
              </a:spcAft>
              <a:buNone/>
            </a:pPr>
            <a:r>
              <a:rPr lang="en-US" sz="2300" dirty="0">
                <a:solidFill>
                  <a:srgbClr val="111111"/>
                </a:solidFill>
                <a:latin typeface="Lato" pitchFamily="34" charset="0"/>
                <a:ea typeface="Lato" pitchFamily="34" charset="-122"/>
                <a:cs typeface="Lato" pitchFamily="34" charset="-120"/>
              </a:rPr>
              <a:t>Write your guess on paper before we run it.</a:t>
            </a:r>
            <a:endParaRPr lang="en-US" sz="2300" dirty="0"/>
          </a:p>
        </p:txBody>
      </p:sp>
      <p:pic>
        <p:nvPicPr>
          <p:cNvPr id="6" name="Image 0" descr="A page and a pen">    </p:cNvPr>
          <p:cNvPicPr>
            <a:picLocks noChangeAspect="1"/>
          </p:cNvPicPr>
          <p:nvPr/>
        </p:nvPicPr>
        <p:blipFill>
          <a:blip r:embed="rId1"/>
          <a:stretch>
            <a:fillRect/>
          </a:stretch>
        </p:blipFill>
        <p:spPr>
          <a:xfrm>
            <a:off x="10241280" y="5214366"/>
            <a:ext cx="1188720" cy="1046988"/>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Run it: A heatmap of every</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pair, and the rain question</a:t>
            </a:r>
            <a:endParaRPr lang="en-US" sz="3600" dirty="0"/>
          </a:p>
        </p:txBody>
      </p:sp>
      <p:pic>
        <p:nvPicPr>
          <p:cNvPr id="3" name="Image 0" descr="The chart the code draws">    </p:cNvPr>
          <p:cNvPicPr>
            <a:picLocks noChangeAspect="1"/>
          </p:cNvPicPr>
          <p:nvPr/>
        </p:nvPicPr>
        <p:blipFill>
          <a:blip r:embed="rId1"/>
          <a:stretch>
            <a:fillRect/>
          </a:stretch>
        </p:blipFill>
        <p:spPr>
          <a:xfrm>
            <a:off x="640080" y="1676173"/>
            <a:ext cx="6035040" cy="4374334"/>
          </a:xfrm>
          <a:prstGeom prst="rect">
            <a:avLst/>
          </a:prstGeom>
        </p:spPr>
      </p:pic>
      <p:sp>
        <p:nvSpPr>
          <p:cNvPr id="4" name="Text 1"/>
          <p:cNvSpPr txBox="1"/>
          <p:nvPr/>
        </p:nvSpPr>
        <p:spPr>
          <a:xfrm>
            <a:off x="7040880" y="1737360"/>
            <a:ext cx="4480560" cy="4389120"/>
          </a:xfrm>
          <a:prstGeom prst="rect">
            <a:avLst/>
          </a:prstGeom>
          <a:noFill/>
          <a:ln/>
        </p:spPr>
        <p:txBody>
          <a:bodyPr wrap="square" lIns="0" tIns="0" rIns="0" bIns="0" rtlCol="0" anchor="t"/>
          <a:lstStyle/>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Rain and customers have a correlation of -0.013, which is essentially zero.</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Sale lines and revenue have 0.565.</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In this data the weather barely matters.</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A weak correlation is a finding too.</a:t>
            </a:r>
            <a:endParaRPr lang="en-US" sz="2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Investigate: A heatmap of every</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pair, and the rain question</a:t>
            </a:r>
            <a:endParaRPr lang="en-US" sz="3600" dirty="0"/>
          </a:p>
        </p:txBody>
      </p:sp>
      <p:pic>
        <p:nvPicPr>
          <p:cNvPr id="3" name="Image 0" descr="Look closely">    </p:cNvPr>
          <p:cNvPicPr>
            <a:picLocks noChangeAspect="1"/>
          </p:cNvPicPr>
          <p:nvPr/>
        </p:nvPicPr>
        <p:blipFill>
          <a:blip r:embed="rId1"/>
          <a:stretch>
            <a:fillRect/>
          </a:stretch>
        </p:blipFill>
        <p:spPr>
          <a:xfrm>
            <a:off x="9875520" y="4480560"/>
            <a:ext cx="1645920" cy="1645920"/>
          </a:xfrm>
          <a:prstGeom prst="rect">
            <a:avLst/>
          </a:prstGeom>
        </p:spPr>
      </p:pic>
      <p:sp>
        <p:nvSpPr>
          <p:cNvPr id="4" name="Text 1"/>
          <p:cNvSpPr txBox="1"/>
          <p:nvPr/>
        </p:nvSpPr>
        <p:spPr>
          <a:xfrm>
            <a:off x="640080" y="1737360"/>
            <a:ext cx="896112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What does -0.013 tell us about rain?</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Could a strong correlation still be a coincidence?</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Find the correlation of rain_mm with revenue_ugx.</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pic>
        <p:nvPicPr>
          <p:cNvPr id="4" name="Image 0" descr="Change one thing">    </p:cNvPr>
          <p:cNvPicPr>
            <a:picLocks noChangeAspect="1"/>
          </p:cNvPicPr>
          <p:nvPr/>
        </p:nvPicPr>
        <p:blipFill>
          <a:blip r:embed="rId1"/>
          <a:stretch>
            <a:fillRect/>
          </a:stretch>
        </p:blipFill>
        <p:spPr>
          <a:xfrm>
            <a:off x="9418320" y="2103120"/>
            <a:ext cx="1828800"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Moving together does not</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prove one causes the other</a:t>
            </a:r>
            <a:endParaRPr lang="en-US" sz="3600" dirty="0"/>
          </a:p>
        </p:txBody>
      </p:sp>
      <p:pic>
        <p:nvPicPr>
          <p:cNvPr id="3" name="Image 0" descr="Moving together does not prove one causes the other">    </p:cNvPr>
          <p:cNvPicPr>
            <a:picLocks noChangeAspect="1"/>
          </p:cNvPicPr>
          <p:nvPr/>
        </p:nvPicPr>
        <p:blipFill>
          <a:blip r:embed="rId1"/>
          <a:stretch>
            <a:fillRect/>
          </a:stretch>
        </p:blipFill>
        <p:spPr>
          <a:xfrm>
            <a:off x="640080" y="1554480"/>
            <a:ext cx="10881360" cy="4069080"/>
          </a:xfrm>
          <a:prstGeom prst="rect">
            <a:avLst/>
          </a:prstGeom>
        </p:spPr>
      </p:pic>
      <p:sp>
        <p:nvSpPr>
          <p:cNvPr id="4" name="Text 1"/>
          <p:cNvSpPr txBox="1"/>
          <p:nvPr/>
        </p:nvSpPr>
        <p:spPr>
          <a:xfrm>
            <a:off x="640080" y="5669280"/>
            <a:ext cx="10881360" cy="64008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Umbrellas and wet roads both follow the rain.</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Make: your own version</a:t>
            </a:r>
            <a:endParaRPr lang="en-US" sz="3800" dirty="0"/>
          </a:p>
        </p:txBody>
      </p:sp>
      <p:sp>
        <p:nvSpPr>
          <p:cNvPr id="3" name="Text 1"/>
          <p:cNvSpPr txBox="1"/>
          <p:nvPr/>
        </p:nvSpPr>
        <p:spPr>
          <a:xfrm>
            <a:off x="640080" y="1737360"/>
            <a:ext cx="6949440" cy="4480560"/>
          </a:xfrm>
          <a:prstGeom prst="rect">
            <a:avLst/>
          </a:prstGeom>
          <a:noFill/>
          <a:ln/>
        </p:spPr>
        <p:txBody>
          <a:bodyPr wrap="square" lIns="0" tIns="0" rIns="0" bIns="0" rtlCol="0" anchor="t"/>
          <a:lstStyle/>
          <a:p>
            <a:pPr algn="l" indent="0" marL="0">
              <a:lnSpc>
                <a:spcPts val="3480"/>
              </a:lnSpc>
              <a:spcAft>
                <a:spcPts val="2520"/>
              </a:spcAft>
              <a:buNone/>
            </a:pPr>
            <a:r>
              <a:rPr lang="en-US" sz="2900" dirty="0">
                <a:solidFill>
                  <a:srgbClr val="111111"/>
                </a:solidFill>
                <a:latin typeface="Lato" pitchFamily="34" charset="0"/>
                <a:ea typeface="Lato" pitchFamily="34" charset="-122"/>
                <a:cs typeface="Lato" pitchFamily="34" charset="-120"/>
              </a:rPr>
              <a:t>Check the rain question for each shop separately. For each branch find the correlation between rain_mm and customers_counted. Say whether rain matters at any shop and why a correlation could not prove that it does.</a:t>
            </a:r>
            <a:endParaRPr lang="en-US" sz="2900" dirty="0"/>
          </a:p>
          <a:p>
            <a:pPr algn="l" indent="0" marL="0">
              <a:lnSpc>
                <a:spcPts val="3480"/>
              </a:lnSpc>
              <a:spcAft>
                <a:spcPts val="2520"/>
              </a:spcAft>
              <a:buNone/>
            </a:pPr>
            <a:r>
              <a:rPr lang="en-US" sz="2900" dirty="0">
                <a:solidFill>
                  <a:srgbClr val="111111"/>
                </a:solidFill>
                <a:latin typeface="Lato" pitchFamily="34" charset="0"/>
                <a:ea typeface="Lato" pitchFamily="34" charset="-122"/>
                <a:cs typeface="Lato" pitchFamily="34" charset="-120"/>
              </a:rPr>
              <a:t>Save it as DA15. Write two sentences: what you changed and how you checked it.</a:t>
            </a:r>
            <a:endParaRPr lang="en-US" sz="2900" dirty="0"/>
          </a:p>
        </p:txBody>
      </p:sp>
      <p:pic>
        <p:nvPicPr>
          <p:cNvPr id="4" name="Image 0" descr="A notebook saved with a tick">    </p:cNvPr>
          <p:cNvPicPr>
            <a:picLocks noChangeAspect="1"/>
          </p:cNvPicPr>
          <p:nvPr/>
        </p:nvPicPr>
        <p:blipFill>
          <a:blip r:embed="rId1"/>
          <a:stretch>
            <a:fillRect/>
          </a:stretch>
        </p:blipFill>
        <p:spPr>
          <a:xfrm>
            <a:off x="8138160" y="1920240"/>
            <a:ext cx="347472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Two errors you may meet today</a:t>
            </a:r>
            <a:endParaRPr lang="en-US" sz="3800" dirty="0"/>
          </a:p>
        </p:txBody>
      </p:sp>
      <p:pic>
        <p:nvPicPr>
          <p:cNvPr id="3" name="Image 0" descr="Error">    </p:cNvPr>
          <p:cNvPicPr>
            <a:picLocks noChangeAspect="1"/>
          </p:cNvPicPr>
          <p:nvPr/>
        </p:nvPicPr>
        <p:blipFill>
          <a:blip r:embed="rId1"/>
          <a:stretch>
            <a:fillRect/>
          </a:stretch>
        </p:blipFill>
        <p:spPr>
          <a:xfrm>
            <a:off x="640080" y="1691640"/>
            <a:ext cx="822960" cy="822960"/>
          </a:xfrm>
          <a:prstGeom prst="rect">
            <a:avLst/>
          </a:prstGeom>
        </p:spPr>
      </p:pic>
      <p:sp>
        <p:nvSpPr>
          <p:cNvPr id="4" name="Shape 1"/>
          <p:cNvSpPr/>
          <p:nvPr/>
        </p:nvSpPr>
        <p:spPr>
          <a:xfrm>
            <a:off x="1645920" y="1828800"/>
            <a:ext cx="4023360" cy="1645920"/>
          </a:xfrm>
          <a:prstGeom prst="roundRect">
            <a:avLst>
              <a:gd name="adj" fmla="val 3333"/>
            </a:avLst>
          </a:prstGeom>
          <a:solidFill>
            <a:srgbClr val="FFFFFF"/>
          </a:solidFill>
          <a:ln w="25400">
            <a:solidFill>
              <a:srgbClr val="AE2525"/>
            </a:solidFill>
            <a:prstDash val="solid"/>
          </a:ln>
        </p:spPr>
      </p:sp>
      <p:sp>
        <p:nvSpPr>
          <p:cNvPr id="5" name="Text 2"/>
          <p:cNvSpPr txBox="1"/>
          <p:nvPr/>
        </p:nvSpPr>
        <p:spPr>
          <a:xfrm>
            <a:off x="1783080" y="192024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KeyError: "hue"</a:t>
            </a:r>
            <a:endParaRPr lang="en-US" sz="2000" dirty="0"/>
          </a:p>
        </p:txBody>
      </p:sp>
      <p:sp>
        <p:nvSpPr>
          <p:cNvPr id="6" name="Text 3"/>
          <p:cNvSpPr txBox="1"/>
          <p:nvPr/>
        </p:nvSpPr>
        <p:spPr>
          <a:xfrm>
            <a:off x="6035040" y="166420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The hue column name is not in the table.</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Print list(daily.columns) and use the exact name.</a:t>
            </a:r>
            <a:endParaRPr lang="en-US" sz="2200" dirty="0"/>
          </a:p>
        </p:txBody>
      </p:sp>
      <p:sp>
        <p:nvSpPr>
          <p:cNvPr id="7" name="Shape 4"/>
          <p:cNvSpPr/>
          <p:nvPr/>
        </p:nvSpPr>
        <p:spPr>
          <a:xfrm>
            <a:off x="640080" y="3813048"/>
            <a:ext cx="10881360" cy="0"/>
          </a:xfrm>
          <a:prstGeom prst="line">
            <a:avLst/>
          </a:prstGeom>
          <a:noFill/>
          <a:ln w="12700">
            <a:solidFill>
              <a:srgbClr val="CFCFCF"/>
            </a:solidFill>
            <a:prstDash val="solid"/>
          </a:ln>
        </p:spPr>
      </p:sp>
      <p:pic>
        <p:nvPicPr>
          <p:cNvPr id="8" name="Image 1" descr="Error">    </p:cNvPr>
          <p:cNvPicPr>
            <a:picLocks noChangeAspect="1"/>
          </p:cNvPicPr>
          <p:nvPr/>
        </p:nvPicPr>
        <p:blipFill>
          <a:blip r:embed="rId2"/>
          <a:stretch>
            <a:fillRect/>
          </a:stretch>
        </p:blipFill>
        <p:spPr>
          <a:xfrm>
            <a:off x="640080" y="4023360"/>
            <a:ext cx="822960" cy="822960"/>
          </a:xfrm>
          <a:prstGeom prst="rect">
            <a:avLst/>
          </a:prstGeom>
        </p:spPr>
      </p:pic>
      <p:sp>
        <p:nvSpPr>
          <p:cNvPr id="9" name="Shape 5"/>
          <p:cNvSpPr/>
          <p:nvPr/>
        </p:nvSpPr>
        <p:spPr>
          <a:xfrm>
            <a:off x="1645920" y="4160520"/>
            <a:ext cx="4023360" cy="1645920"/>
          </a:xfrm>
          <a:prstGeom prst="roundRect">
            <a:avLst>
              <a:gd name="adj" fmla="val 3333"/>
            </a:avLst>
          </a:prstGeom>
          <a:solidFill>
            <a:srgbClr val="FFFFFF"/>
          </a:solidFill>
          <a:ln w="25400">
            <a:solidFill>
              <a:srgbClr val="AE2525"/>
            </a:solidFill>
            <a:prstDash val="solid"/>
          </a:ln>
        </p:spPr>
      </p:sp>
      <p:sp>
        <p:nvSpPr>
          <p:cNvPr id="10" name="Text 6"/>
          <p:cNvSpPr txBox="1"/>
          <p:nvPr/>
        </p:nvSpPr>
        <p:spPr>
          <a:xfrm>
            <a:off x="1783080" y="425196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The heatmap shows all one colour</a:t>
            </a:r>
            <a:endParaRPr lang="en-US" sz="2000" dirty="0"/>
          </a:p>
        </p:txBody>
      </p:sp>
      <p:sp>
        <p:nvSpPr>
          <p:cNvPr id="11" name="Text 7"/>
          <p:cNvSpPr txBox="1"/>
          <p:nvPr/>
        </p:nvSpPr>
        <p:spPr>
          <a:xfrm>
            <a:off x="6035040" y="399592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vmin and vmax were not set, or only one column was used.</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Pass the four numeric columns and set vmin=-1 and vmax=1.</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Finish this sentence in your notebook</a:t>
            </a:r>
            <a:endParaRPr lang="en-US" sz="3800" dirty="0"/>
          </a:p>
        </p:txBody>
      </p:sp>
      <p:sp>
        <p:nvSpPr>
          <p:cNvPr id="3" name="Text 1"/>
          <p:cNvSpPr txBox="1"/>
          <p:nvPr/>
        </p:nvSpPr>
        <p:spPr>
          <a:xfrm>
            <a:off x="640080" y="1737360"/>
            <a:ext cx="6949440" cy="2926080"/>
          </a:xfrm>
          <a:prstGeom prst="rect">
            <a:avLst/>
          </a:prstGeom>
          <a:noFill/>
          <a:ln/>
        </p:spPr>
        <p:txBody>
          <a:bodyPr wrap="square" lIns="0" tIns="0" rIns="0" bIns="0" rtlCol="0" anchor="t"/>
          <a:lstStyle/>
          <a:p>
            <a:pPr algn="l" indent="0" marL="0">
              <a:lnSpc>
                <a:spcPts val="4800"/>
              </a:lnSpc>
              <a:spcAft>
                <a:spcPts val="1010"/>
              </a:spcAft>
              <a:buNone/>
            </a:pPr>
            <a:r>
              <a:rPr lang="en-US" sz="4000" dirty="0">
                <a:solidFill>
                  <a:srgbClr val="111111"/>
                </a:solidFill>
                <a:latin typeface="Lato" pitchFamily="34" charset="0"/>
                <a:ea typeface="Lato" pitchFamily="34" charset="-122"/>
                <a:cs typeface="Lato" pitchFamily="34" charset="-120"/>
              </a:rPr>
              <a:t>A correlation tells me how closely two columns move together, and it does not tell me why.</a:t>
            </a:r>
            <a:endParaRPr lang="en-US" sz="4000" dirty="0"/>
          </a:p>
        </p:txBody>
      </p:sp>
      <p:sp>
        <p:nvSpPr>
          <p:cNvPr id="4" name="Text 2"/>
          <p:cNvSpPr txBox="1"/>
          <p:nvPr/>
        </p:nvSpPr>
        <p:spPr>
          <a:xfrm>
            <a:off x="640080" y="4846320"/>
            <a:ext cx="6949440" cy="1097280"/>
          </a:xfrm>
          <a:prstGeom prst="rect">
            <a:avLst/>
          </a:prstGeom>
          <a:noFill/>
          <a:ln/>
        </p:spPr>
        <p:txBody>
          <a:bodyPr wrap="square" lIns="0" tIns="0" rIns="0" bIns="0" rtlCol="0" anchor="t"/>
          <a:lstStyle/>
          <a:p>
            <a:pPr algn="l" indent="0" marL="0">
              <a:lnSpc>
                <a:spcPts val="2750"/>
              </a:lnSpc>
              <a:buNone/>
            </a:pPr>
            <a:r>
              <a:rPr lang="en-US" sz="2200" dirty="0">
                <a:solidFill>
                  <a:srgbClr val="333333"/>
                </a:solidFill>
                <a:latin typeface="Lato" pitchFamily="34" charset="0"/>
                <a:ea typeface="Lato" pitchFamily="34" charset="-122"/>
                <a:cs typeface="Lato" pitchFamily="34" charset="-120"/>
              </a:rPr>
              <a:t>Then save your notebook, close it and open it again to check it saved.</a:t>
            </a:r>
            <a:endParaRPr lang="en-US" sz="2200" dirty="0"/>
          </a:p>
        </p:txBody>
      </p:sp>
      <p:pic>
        <p:nvPicPr>
          <p:cNvPr id="5" name="Image 0" descr="Finished">    </p:cNvPr>
          <p:cNvPicPr>
            <a:picLocks noChangeAspect="1"/>
          </p:cNvPicPr>
          <p:nvPr/>
        </p:nvPicPr>
        <p:blipFill>
          <a:blip r:embed="rId1"/>
          <a:stretch>
            <a:fillRect/>
          </a:stretch>
        </p:blipFill>
        <p:spPr>
          <a:xfrm>
            <a:off x="8229600" y="1920240"/>
            <a:ext cx="329184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22</a:t>
            </a:fld>
            <a:endParaRPr lang="en-US"/>
          </a:p>
        </p:txBody>
      </p:sp>
    </p:spTree>
  </p:cSld>
  <p:clrMapOvr>
    <a:masterClrMapping/>
  </p:clrMapOvr>
</p:sld>
</file>

<file path=ppt/theme/theme1.xml><?xml version="1.0" encoding="utf-8"?>
<a:theme xmlns:a="http://schemas.openxmlformats.org/drawingml/2006/main" name="KLAi camp">
  <a:themeElements>
    <a:clrScheme name="KLAi camp">
      <a:dk1>
        <a:srgbClr val="111111"/>
      </a:dk1>
      <a:lt1>
        <a:srgbClr val="FFFFFF"/>
      </a:lt1>
      <a:dk2>
        <a:srgbClr val="333333"/>
      </a:dk2>
      <a:lt2>
        <a:srgbClr val="F1F1F1"/>
      </a:lt2>
      <a:accent1>
        <a:srgbClr val="AE2525"/>
      </a:accent1>
      <a:accent2>
        <a:srgbClr val="E0BE36"/>
      </a:accent2>
      <a:accent3>
        <a:srgbClr val="8C8C8C"/>
      </a:accent3>
      <a:accent4>
        <a:srgbClr val="555555"/>
      </a:accent4>
      <a:accent5>
        <a:srgbClr val="CFCFCF"/>
      </a:accent5>
      <a:accent6>
        <a:srgbClr val="000000"/>
      </a:accent6>
      <a:hlink>
        <a:srgbClr val="AE2525"/>
      </a:hlink>
      <a:folHlink>
        <a:srgbClr val="666666"/>
      </a:folHlink>
    </a:clrScheme>
    <a:fontScheme name="KLAi camp">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KLAi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DA15 Exploring relationships: scatter plots, correlation and cause</dc:title>
  <dc:subject>Python for Data Analysis</dc:subject>
  <dc:creator>KLAi</dc:creator>
  <cp:lastModifiedBy>KLAi</cp:lastModifiedBy>
  <cp:revision>1</cp:revision>
  <dcterms:created xsi:type="dcterms:W3CDTF">2026-10-31T12:26:22Z</dcterms:created>
  <dcterms:modified xsi:type="dcterms:W3CDTF">2026-10-31T12:26:22Z</dcterms:modified>
</cp:coreProperties>
</file>