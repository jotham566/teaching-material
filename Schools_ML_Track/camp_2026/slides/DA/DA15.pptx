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41c982c-76be-afac-21c6-38aa6a1e8ad8}">
          <p14:sldIdLst>
            <p14:sldId id="256"/>
            <p14:sldId id="257"/>
            <p14:sldId id="258"/>
            <p14:sldId id="259"/>
            <p14:sldId id="260"/>
            <p14:sldId id="261"/>
            <p14:sldId id="262"/>
          </p14:sldIdLst>
        </p14:section>
        <p14:section name="Block A" id="{de55da7a-3cf5-af3d-9188-d750d748d02c}">
          <p14:sldIdLst>
            <p14:sldId id="263"/>
            <p14:sldId id="264"/>
            <p14:sldId id="265"/>
            <p14:sldId id="266"/>
            <p14:sldId id="268"/>
            <p14:sldId id="269"/>
          </p14:sldIdLst>
        </p14:section>
        <p14:section name="Break" id="{ef2f244f-3bbc-f85b-65a7-89619aa66592}">
          <p14:sldIdLst>
            <p14:sldId id="267"/>
          </p14:sldIdLst>
        </p14:section>
        <p14:section name="Block A" id="{5cd9396d-ca0f-8f95-9c4d-0986467c2646}">
          <p14:sldIdLst/>
        </p14:section>
        <p14:section name="Block B" id="{9e6807d9-bee2-c6aa-7086-6e1e45112071}">
          <p14:sldIdLst>
            <p14:sldId id="270"/>
            <p14:sldId id="271"/>
            <p14:sldId id="272"/>
            <p14:sldId id="273"/>
            <p14:sldId id="274"/>
          </p14:sldIdLst>
        </p14:section>
        <p14:section name="Make and close" id="{d7f646ce-5a97-6cf1-919c-6c77d1eb62b6}">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is session 15 and our topic is exploring relationships: scatter plots, correlation and cause.
By the end of today you will be able to draw a scatter plot coloured by group, read a correlation number, and say why a correlation does not prove one thing causes another.
We will answer one question: Do busier days bring in more money, and does rain keep customers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busier days bring in more money, and does rain keep customers away? Both questions ask whether two columns move together. Today we measure how strongly they move together with a number called the correlation. We will find that busier days do bring in more money, and rain barely matters at all. And we will learn why a link between two columns never proves that one causes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correlation. A number from -1 to 1 for how closely two columns move together. You have seen this before. Taller pupils usually have longer feet.
strength. How close the correlation is to 1 or -1. Near 0 means weak. How tightly the dots hug a line.
heatmap. A table of numbers coloured by size. Think of a shop. A map shaded by rainfall.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hue. A colour that shows which group each dot belongs to. Imagine it like this. A different coloured pen for each shop.
cause. One thing makes another happen. A correlation alone does not show it. An example from everyday life. Rain makes the ground wet. Wet ground does not make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add a third fact to a scatter plot without a third axis. We give each dot a colour that depends on a column, and seaborn calls that the hue. Here each dot is a day, and the colour says which shop it belongs to. Central Market is black, Campus Gate is red and Roadside is gold, and we keep those three colours for the rest of the course.
Does each shop show the same upward drift? Look for a colour whose dots sit away from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correlation squeezes the link between two columns into one number between minus one and plus one. Close to plus one, the two rise together. Close to zero, there is no straight line link. Close to minus one, one rises while the other falls.
For customers and revenue in the daily summary, the correlation is zero point six two three. That is a fairly strong upward link, though the dots do not all fall on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sns.scatterplot puts one column on each axis. hue= colours the dots by group.
Time to commit to an answer. Predict whether the correlation between customers and revenue is close to 0, close to 1 or close to -1.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dots rise from left to right, so more customers usually mean more revenue. The correlation is 0.623: positive and moderately strong. The dots are scattered, so a customer count does not fix the revenue.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scatter plot and one correlation. I have two questions for you.
Question one. What would a correlation of 1 look like on the chart? Have a go in your head first.
The answer is this. All the dots would lie exactly on one rising line.
Question two. Why do the colours help? Write your answer in one line before we compare.
They show that the three shops sit in different parts of the chart. Central Market is at the busy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Find the correlation between customers and the number of sale lines (sale_lines). When you have run it, tell your neighbour what changed and how you know.
Here is what happens. 0.744,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have many columns, a heatmap shows all the correlations at once. Each square is one pair of columns, and the colour says how strong the link is. The diagonal is each column compared with itself, so it is always one.
Scan for the darkest squares away from the diagonal. Those are the pairs worth a closer look with a scatter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customers stay home when it rains? Across all the days the correlation between rainfall and customers counted is minus zero point zero one three. That is almost exactly zero. The bars show the same check shop by shop. Roadside is the strongest at minus zero point one five nine, and the other two sit near zero. None of them is a strong link in either direction.
So in this data, rain did little to keep customers away. In your own words, say that and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heatmap of .corr() shows every pair at once. annot=True writes the numbers in the squares.
Your turn to guess. Predict whether rain_mm is strongly related to customers.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Rain and customers have a correlation of -0.013, which is essentially zero. Sale lines and revenue have 0.565. In this data the weather barely matters. A weak correlation is a finding too.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heatmap of every pair, and the rain question. I have two questions for you.
Question one. What does -0.013 tell us about rain? Write your answer in one line before we compare.
Almost nothing links them in this data. Wet days and dry days look alike.
Question two. Could a strong correlation still be a coincidence? Say it quietly to yourself before anyone answers.
Here is how I would answer it. Yes. Two things can move together without one causing the other, so we look for a reason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Find the correlation of rain_mm with revenue_ugx. Run it, then tell someone what you saw.
What you should find: -0.054, also close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famous example. On rainy days more people open umbrellas, and the roads get wet. If we only looked at the umbrellas and the wet roads, they would move together. But umbrellas do not wet the roads. The rain does both.
A correlation tells you that two columns move together. It cannot tell you why. In your report, write that the columns are linked, and leave the cause for a better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DA15.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KeyError: "hue". It means this: the hue column name is not in the table. To fix it, print list(daily.columns) and use the exact name.
The next one. You will see: The heatmap shows all one colour. It means this: vmin and vmax were not set, or only one column was used. To fix it, pass the four numeric columns and set vmin=-1 and vmax=1.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Do busier days bring in more money, and does rain keep customers away?
Copy this sentence into your notebook and make it yours. A correlation tells me how closely two columns move together, and it does not tell me why.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DA15  |  Exploring relationships: scatter plots, correlation and cause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Exploring relationships: scatter</a:t>
            </a:r>
            <a:endParaRPr lang="en-US" sz="5600" dirty="0"/>
          </a:p>
          <a:p>
            <a:pPr algn="l" indent="0" marL="0">
              <a:buNone/>
            </a:pPr>
            <a:r>
              <a:rPr lang="en-US" sz="5600" b="1" dirty="0">
                <a:solidFill>
                  <a:srgbClr val="FFFFFF"/>
                </a:solidFill>
                <a:latin typeface="Lato" pitchFamily="34" charset="0"/>
                <a:ea typeface="Lato" pitchFamily="34" charset="-122"/>
                <a:cs typeface="Lato" pitchFamily="34" charset="-120"/>
              </a:rPr>
              <a:t>plots, correlation and cause</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Do busier days bring in more money, and does rain keep customers away?</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15 of 24  |  Week 5, Explore with NumPy and seaborn</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Do busier days bring in more money,</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and does rain keep customers away?</a:t>
            </a:r>
            <a:endParaRPr lang="en-US" sz="3600" dirty="0"/>
          </a:p>
        </p:txBody>
      </p:sp>
      <p:pic>
        <p:nvPicPr>
          <p:cNvPr id="3" name="Image 0" descr="A scatter of customers against revenue, and rain against customers">    </p:cNvPr>
          <p:cNvPicPr>
            <a:picLocks noChangeAspect="1"/>
          </p:cNvPicPr>
          <p:nvPr/>
        </p:nvPicPr>
        <p:blipFill>
          <a:blip r:embed="rId1"/>
          <a:stretch>
            <a:fillRect/>
          </a:stretch>
        </p:blipFill>
        <p:spPr>
          <a:xfrm>
            <a:off x="640080" y="1768644"/>
            <a:ext cx="10881360" cy="4189393"/>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correlatio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correlation</a:t>
            </a:r>
            <a:endParaRPr lang="en-US" sz="32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number from -1 to 1 for how closely two columns move together.</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Taller pupils usually have longer feet.</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strength">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strength</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How close the correlation is to 1 or -1. Near 0 means weak.</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How tightly the dots hug a line.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heatmap">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heatmap</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table of numbers coloured by size.</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map shaded by rainfall.</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hu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554480"/>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hue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colour that shows which group each dot belongs to.</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different coloured pen for each shop.</a:t>
            </a:r>
            <a:endParaRPr lang="en-US" sz="1900" dirty="0"/>
          </a:p>
        </p:txBody>
      </p:sp>
      <p:sp>
        <p:nvSpPr>
          <p:cNvPr id="7" name="Shape 4"/>
          <p:cNvSpPr/>
          <p:nvPr/>
        </p:nvSpPr>
        <p:spPr>
          <a:xfrm>
            <a:off x="640080" y="3392424"/>
            <a:ext cx="10881360" cy="0"/>
          </a:xfrm>
          <a:prstGeom prst="line">
            <a:avLst/>
          </a:prstGeom>
          <a:noFill/>
          <a:ln w="12700">
            <a:solidFill>
              <a:srgbClr val="CFCFCF"/>
            </a:solidFill>
            <a:prstDash val="solid"/>
          </a:ln>
        </p:spPr>
      </p:sp>
      <p:pic>
        <p:nvPicPr>
          <p:cNvPr id="8" name="Image 1" descr="cause">    </p:cNvPr>
          <p:cNvPicPr>
            <a:picLocks noChangeAspect="1"/>
          </p:cNvPicPr>
          <p:nvPr/>
        </p:nvPicPr>
        <p:blipFill>
          <a:blip r:embed="rId2"/>
          <a:stretch>
            <a:fillRect/>
          </a:stretch>
        </p:blipFill>
        <p:spPr>
          <a:xfrm>
            <a:off x="640080" y="3520440"/>
            <a:ext cx="1188720" cy="1188720"/>
          </a:xfrm>
          <a:prstGeom prst="rect">
            <a:avLst/>
          </a:prstGeom>
        </p:spPr>
      </p:pic>
      <p:sp>
        <p:nvSpPr>
          <p:cNvPr id="9" name="Text 5"/>
          <p:cNvSpPr txBox="1"/>
          <p:nvPr/>
        </p:nvSpPr>
        <p:spPr>
          <a:xfrm>
            <a:off x="2011680" y="3474720"/>
            <a:ext cx="2926080" cy="1554480"/>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cause</a:t>
            </a:r>
            <a:endParaRPr lang="en-US" sz="3400" dirty="0"/>
          </a:p>
        </p:txBody>
      </p:sp>
      <p:sp>
        <p:nvSpPr>
          <p:cNvPr id="10" name="Text 6"/>
          <p:cNvSpPr txBox="1"/>
          <p:nvPr/>
        </p:nvSpPr>
        <p:spPr>
          <a:xfrm>
            <a:off x="5120640" y="352044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One thing makes another happen. A correlation alone does not show it.</a:t>
            </a:r>
            <a:endParaRPr lang="en-US" sz="2200" dirty="0"/>
          </a:p>
        </p:txBody>
      </p:sp>
      <p:sp>
        <p:nvSpPr>
          <p:cNvPr id="11" name="Text 7"/>
          <p:cNvSpPr txBox="1"/>
          <p:nvPr/>
        </p:nvSpPr>
        <p:spPr>
          <a:xfrm>
            <a:off x="5120640" y="428244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Rain makes the ground wet. Wet ground does not make rain.</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Colour adds a third fact to a scatter plot</a:t>
            </a:r>
            <a:endParaRPr lang="en-US" sz="3800" dirty="0"/>
          </a:p>
        </p:txBody>
      </p:sp>
      <p:pic>
        <p:nvPicPr>
          <p:cNvPr id="3" name="Image 0" descr="Colour adds a third fact to a scatter plot">    </p:cNvPr>
          <p:cNvPicPr>
            <a:picLocks noChangeAspect="1"/>
          </p:cNvPicPr>
          <p:nvPr/>
        </p:nvPicPr>
        <p:blipFill>
          <a:blip r:embed="rId1"/>
          <a:stretch>
            <a:fillRect/>
          </a:stretch>
        </p:blipFill>
        <p:spPr>
          <a:xfrm>
            <a:off x="640080" y="1649406"/>
            <a:ext cx="7040880" cy="4427868"/>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Across is one column, up is another.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hue is a third column.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shop gets its own colour.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Correlation runs from minus one to plus one</a:t>
            </a:r>
            <a:endParaRPr lang="en-US" sz="3800" dirty="0"/>
          </a:p>
        </p:txBody>
      </p:sp>
      <p:pic>
        <p:nvPicPr>
          <p:cNvPr id="3" name="Image 0" descr="Correlation runs from minus one to plus one">    </p:cNvPr>
          <p:cNvPicPr>
            <a:picLocks noChangeAspect="1"/>
          </p:cNvPicPr>
          <p:nvPr/>
        </p:nvPicPr>
        <p:blipFill>
          <a:blip r:embed="rId1"/>
          <a:stretch>
            <a:fillRect/>
          </a:stretch>
        </p:blipFill>
        <p:spPr>
          <a:xfrm>
            <a:off x="640080" y="1609114"/>
            <a:ext cx="10881360" cy="3959812"/>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Plus one rises together, zero shows no link, minus one moves opposite.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scatter plot and one correlation</a:t>
            </a:r>
            <a:endParaRPr lang="en-US" sz="3800" dirty="0"/>
          </a:p>
        </p:txBody>
      </p:sp>
      <p:sp>
        <p:nvSpPr>
          <p:cNvPr id="3" name="Shape 1"/>
          <p:cNvSpPr/>
          <p:nvPr/>
        </p:nvSpPr>
        <p:spPr>
          <a:xfrm>
            <a:off x="640080" y="1645920"/>
            <a:ext cx="10881360" cy="3344672"/>
          </a:xfrm>
          <a:prstGeom prst="roundRect">
            <a:avLst>
              <a:gd name="adj" fmla="val 2187"/>
            </a:avLst>
          </a:prstGeom>
          <a:solidFill>
            <a:srgbClr val="111111"/>
          </a:solidFill>
          <a:ln/>
        </p:spPr>
      </p:sp>
      <p:sp>
        <p:nvSpPr>
          <p:cNvPr id="4" name="Text 2"/>
          <p:cNvSpPr txBox="1"/>
          <p:nvPr/>
        </p:nvSpPr>
        <p:spPr>
          <a:xfrm>
            <a:off x="841248" y="1847088"/>
            <a:ext cx="10479024" cy="2942336"/>
          </a:xfrm>
          <a:prstGeom prst="rect">
            <a:avLst/>
          </a:prstGeom>
          <a:noFill/>
          <a:ln/>
        </p:spPr>
        <p:txBody>
          <a:bodyPr wrap="square" lIns="0" tIns="0" rIns="0" bIns="0" rtlCol="0" anchor="t"/>
          <a:lstStyle/>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import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pandas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pd</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import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seaborn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sns</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import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matplotlib.pyplot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plt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daily = pd.read_csv(</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"sunrise_daily_summary.csv"</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sns.scatterplot(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data=daily, x=</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"customers_counted"</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y=</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"revenue_ugx"</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hue=</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"branch"</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plt.show()</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r = daily[</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"customers_counted"</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].corr(daily[</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"revenue_ugx"</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print(round(r, 3))</a:t>
            </a:r>
            <a:endParaRPr lang="en-US" sz="1600" dirty="0"/>
          </a:p>
        </p:txBody>
      </p:sp>
      <p:sp>
        <p:nvSpPr>
          <p:cNvPr id="5" name="Text 3"/>
          <p:cNvSpPr txBox="1"/>
          <p:nvPr/>
        </p:nvSpPr>
        <p:spPr>
          <a:xfrm>
            <a:off x="640080" y="5173472"/>
            <a:ext cx="8046720" cy="1090168"/>
          </a:xfrm>
          <a:prstGeom prst="rect">
            <a:avLst/>
          </a:prstGeom>
          <a:noFill/>
          <a:ln/>
        </p:spPr>
        <p:txBody>
          <a:bodyPr wrap="square" lIns="0" tIns="0" rIns="0" bIns="0" rtlCol="0" anchor="t"/>
          <a:lstStyle/>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Predict whether the correlation between customers and revenue is close to 0, close to 1 or close to -1.</a:t>
            </a:r>
            <a:endParaRPr lang="en-US" sz="2000" dirty="0"/>
          </a:p>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Write your guess on paper before we run it.</a:t>
            </a:r>
            <a:endParaRPr lang="en-US" sz="2000" dirty="0"/>
          </a:p>
        </p:txBody>
      </p:sp>
      <p:pic>
        <p:nvPicPr>
          <p:cNvPr id="6" name="Image 0" descr="A page and a pen">    </p:cNvPr>
          <p:cNvPicPr>
            <a:picLocks noChangeAspect="1"/>
          </p:cNvPicPr>
          <p:nvPr/>
        </p:nvPicPr>
        <p:blipFill>
          <a:blip r:embed="rId1"/>
          <a:stretch>
            <a:fillRect/>
          </a:stretch>
        </p:blipFill>
        <p:spPr>
          <a:xfrm>
            <a:off x="10241280" y="5175758"/>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scatter plot and one correlation</a:t>
            </a:r>
            <a:endParaRPr lang="en-US" sz="3800" dirty="0"/>
          </a:p>
        </p:txBody>
      </p:sp>
      <p:pic>
        <p:nvPicPr>
          <p:cNvPr id="3" name="Image 0" descr="The chart the code draws">    </p:cNvPr>
          <p:cNvPicPr>
            <a:picLocks noChangeAspect="1"/>
          </p:cNvPicPr>
          <p:nvPr/>
        </p:nvPicPr>
        <p:blipFill>
          <a:blip r:embed="rId1"/>
          <a:stretch>
            <a:fillRect/>
          </a:stretch>
        </p:blipFill>
        <p:spPr>
          <a:xfrm>
            <a:off x="640080" y="2103714"/>
            <a:ext cx="6035040" cy="3519251"/>
          </a:xfrm>
          <a:prstGeom prst="rect">
            <a:avLst/>
          </a:prstGeom>
        </p:spPr>
      </p:pic>
      <p:sp>
        <p:nvSpPr>
          <p:cNvPr id="4" name="Text 1"/>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dots rise from left to right, so more customers usually mean more revenue.</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correlation is 0.623: positive and moderately strong.</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dots are scattered, so a customer count does not fix the revenue.</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scatter plot and one correlation</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would a correlation of 1 look like on the chart?</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do the colours help?</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200"/>
              </a:lnSpc>
              <a:spcAft>
                <a:spcPts val="3240"/>
              </a:spcAft>
              <a:buNone/>
            </a:pPr>
            <a:r>
              <a:rPr lang="en-US" sz="3500" dirty="0">
                <a:solidFill>
                  <a:srgbClr val="111111"/>
                </a:solidFill>
                <a:latin typeface="Lato" pitchFamily="34" charset="0"/>
                <a:ea typeface="Lato" pitchFamily="34" charset="-122"/>
                <a:cs typeface="Lato" pitchFamily="34" charset="-120"/>
              </a:rPr>
              <a:t>Find the correlation between customers and the number of sale lines (sale_lines).</a:t>
            </a:r>
            <a:endParaRPr lang="en-US" sz="3500" dirty="0"/>
          </a:p>
          <a:p>
            <a:pPr algn="l" indent="0" marL="0">
              <a:lnSpc>
                <a:spcPts val="4200"/>
              </a:lnSpc>
              <a:spcAft>
                <a:spcPts val="3240"/>
              </a:spcAft>
              <a:buNone/>
            </a:pPr>
            <a:r>
              <a:rPr lang="en-US" sz="3500" dirty="0">
                <a:solidFill>
                  <a:srgbClr val="111111"/>
                </a:solidFill>
                <a:latin typeface="Lato" pitchFamily="34" charset="0"/>
                <a:ea typeface="Lato" pitchFamily="34" charset="-122"/>
                <a:cs typeface="Lato" pitchFamily="34" charset="-120"/>
              </a:rPr>
              <a:t>Then tell your neighbour what changed and how you know.</a:t>
            </a:r>
            <a:endParaRPr lang="en-US" sz="35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heatmap colours every pair of columns</a:t>
            </a:r>
            <a:endParaRPr lang="en-US" sz="3800" dirty="0"/>
          </a:p>
        </p:txBody>
      </p:sp>
      <p:pic>
        <p:nvPicPr>
          <p:cNvPr id="3" name="Image 0" descr="A heatmap colours every pair of columns">    </p:cNvPr>
          <p:cNvPicPr>
            <a:picLocks noChangeAspect="1"/>
          </p:cNvPicPr>
          <p:nvPr/>
        </p:nvPicPr>
        <p:blipFill>
          <a:blip r:embed="rId1"/>
          <a:stretch>
            <a:fillRect/>
          </a:stretch>
        </p:blipFill>
        <p:spPr>
          <a:xfrm>
            <a:off x="1452002" y="1600200"/>
            <a:ext cx="5417035"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square is one pair of columns.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Darker means a stronger link.</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diagonal is always one.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Rain is weakly linked to customers (−0.16 at most)</a:t>
            </a:r>
            <a:endParaRPr lang="en-US" sz="3600" dirty="0"/>
          </a:p>
        </p:txBody>
      </p:sp>
      <p:pic>
        <p:nvPicPr>
          <p:cNvPr id="3" name="Image 0" descr="Rain is weakly linked to customers (−0.16 at most)">    </p:cNvPr>
          <p:cNvPicPr>
            <a:picLocks noChangeAspect="1"/>
          </p:cNvPicPr>
          <p:nvPr/>
        </p:nvPicPr>
        <p:blipFill>
          <a:blip r:embed="rId1"/>
          <a:stretch>
            <a:fillRect/>
          </a:stretch>
        </p:blipFill>
        <p:spPr>
          <a:xfrm>
            <a:off x="640080" y="1842066"/>
            <a:ext cx="7040880" cy="4042548"/>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Overall, rain and customers correlate at −0.013.</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Roadside is the strongest, at −0.159, and still weak.</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Central Market and Campus Gate are close to zero.</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Predict: A heatmap of every</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pair, and the rain question</a:t>
            </a:r>
            <a:endParaRPr lang="en-US" sz="3600" dirty="0"/>
          </a:p>
        </p:txBody>
      </p:sp>
      <p:sp>
        <p:nvSpPr>
          <p:cNvPr id="3" name="Shape 1"/>
          <p:cNvSpPr/>
          <p:nvPr/>
        </p:nvSpPr>
        <p:spPr>
          <a:xfrm>
            <a:off x="640080" y="1645920"/>
            <a:ext cx="10881360" cy="2221992"/>
          </a:xfrm>
          <a:prstGeom prst="roundRect">
            <a:avLst>
              <a:gd name="adj" fmla="val 3292"/>
            </a:avLst>
          </a:prstGeom>
          <a:solidFill>
            <a:srgbClr val="111111"/>
          </a:solidFill>
          <a:ln/>
        </p:spPr>
      </p:sp>
      <p:sp>
        <p:nvSpPr>
          <p:cNvPr id="4" name="Text 2"/>
          <p:cNvSpPr txBox="1"/>
          <p:nvPr/>
        </p:nvSpPr>
        <p:spPr>
          <a:xfrm>
            <a:off x="841248" y="1847088"/>
            <a:ext cx="10479024" cy="181965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cols =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"customers_counted"</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"rain_mm"</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"sale_lines"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"revenue_ugx"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table = daily[cols].corr()</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sns.heatmap(table, annot=</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True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vmin=-1, vmax=1)</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plt.show()</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print(round(table.loc[</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"rain_mm"</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"customers_counted"</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3))</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print(round(table.loc[</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"sale_lines"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"revenue_ugx"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3))</a:t>
            </a:r>
            <a:endParaRPr lang="en-US" sz="1800" dirty="0"/>
          </a:p>
        </p:txBody>
      </p:sp>
      <p:sp>
        <p:nvSpPr>
          <p:cNvPr id="5" name="Text 3"/>
          <p:cNvSpPr txBox="1"/>
          <p:nvPr/>
        </p:nvSpPr>
        <p:spPr>
          <a:xfrm>
            <a:off x="640080" y="4050792"/>
            <a:ext cx="8046720" cy="221284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whether rain_mm is strongly related to customers.</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03148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Run it: A heatmap of every</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pair, and the rain question</a:t>
            </a:r>
            <a:endParaRPr lang="en-US" sz="3600" dirty="0"/>
          </a:p>
        </p:txBody>
      </p:sp>
      <p:pic>
        <p:nvPicPr>
          <p:cNvPr id="3" name="Image 0" descr="The chart the code draws">    </p:cNvPr>
          <p:cNvPicPr>
            <a:picLocks noChangeAspect="1"/>
          </p:cNvPicPr>
          <p:nvPr/>
        </p:nvPicPr>
        <p:blipFill>
          <a:blip r:embed="rId1"/>
          <a:stretch>
            <a:fillRect/>
          </a:stretch>
        </p:blipFill>
        <p:spPr>
          <a:xfrm>
            <a:off x="640080" y="1676173"/>
            <a:ext cx="6035040" cy="4374334"/>
          </a:xfrm>
          <a:prstGeom prst="rect">
            <a:avLst/>
          </a:prstGeom>
        </p:spPr>
      </p:pic>
      <p:sp>
        <p:nvSpPr>
          <p:cNvPr id="4" name="Text 1"/>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Rain and customers have a correlation of -0.013, which is essentially zero.</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Sale lines and revenue have 0.565.</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In this data the weather barely matters.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A weak correlation is a finding too.</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Investigate: A heatmap of every</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pair, and the rain question</a:t>
            </a:r>
            <a:endParaRPr lang="en-US" sz="36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-0.013 tell us about rain?</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Could a strong correlation still be a coincidence?</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Find the correlation of rain_mm with revenue_ugx.</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Moving together does not</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prove one causes the other</a:t>
            </a:r>
            <a:endParaRPr lang="en-US" sz="3600" dirty="0"/>
          </a:p>
        </p:txBody>
      </p:sp>
      <p:pic>
        <p:nvPicPr>
          <p:cNvPr id="3" name="Image 0" descr="Moving together does not prove one causes the other">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Umbrellas and wet roads both follow the rain.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120"/>
              </a:lnSpc>
              <a:spcAft>
                <a:spcPts val="2020"/>
              </a:spcAft>
              <a:buNone/>
            </a:pPr>
            <a:r>
              <a:rPr lang="en-US" sz="2600" dirty="0">
                <a:solidFill>
                  <a:srgbClr val="111111"/>
                </a:solidFill>
                <a:latin typeface="Lato" pitchFamily="34" charset="0"/>
                <a:ea typeface="Lato" pitchFamily="34" charset="-122"/>
                <a:cs typeface="Lato" pitchFamily="34" charset="-120"/>
              </a:rPr>
              <a:t>Check the rain question for each shop separately.</a:t>
            </a:r>
            <a:endParaRPr lang="en-US" sz="2600" dirty="0"/>
          </a:p>
          <a:p>
            <a:pPr algn="l" indent="0" marL="0">
              <a:lnSpc>
                <a:spcPts val="3120"/>
              </a:lnSpc>
              <a:spcAft>
                <a:spcPts val="2020"/>
              </a:spcAft>
              <a:buNone/>
            </a:pPr>
            <a:r>
              <a:rPr lang="en-US" sz="2600" dirty="0">
                <a:solidFill>
                  <a:srgbClr val="111111"/>
                </a:solidFill>
                <a:latin typeface="Lato" pitchFamily="34" charset="0"/>
                <a:ea typeface="Lato" pitchFamily="34" charset="-122"/>
                <a:cs typeface="Lato" pitchFamily="34" charset="-120"/>
              </a:rPr>
              <a:t>For each branch find the correlation between rain_mm and customers_counted.</a:t>
            </a:r>
            <a:endParaRPr lang="en-US" sz="2600" dirty="0"/>
          </a:p>
          <a:p>
            <a:pPr algn="l" indent="0" marL="0">
              <a:lnSpc>
                <a:spcPts val="3120"/>
              </a:lnSpc>
              <a:spcAft>
                <a:spcPts val="2020"/>
              </a:spcAft>
              <a:buNone/>
            </a:pPr>
            <a:r>
              <a:rPr lang="en-US" sz="2600" dirty="0">
                <a:solidFill>
                  <a:srgbClr val="111111"/>
                </a:solidFill>
                <a:latin typeface="Lato" pitchFamily="34" charset="0"/>
                <a:ea typeface="Lato" pitchFamily="34" charset="-122"/>
                <a:cs typeface="Lato" pitchFamily="34" charset="-120"/>
              </a:rPr>
              <a:t>Say whether rain matters at any shop and why a correlation could not prove that it does.</a:t>
            </a:r>
            <a:endParaRPr lang="en-US" sz="2600" dirty="0"/>
          </a:p>
          <a:p>
            <a:pPr algn="l" indent="0" marL="0">
              <a:lnSpc>
                <a:spcPts val="3120"/>
              </a:lnSpc>
              <a:spcAft>
                <a:spcPts val="2020"/>
              </a:spcAft>
              <a:buNone/>
            </a:pPr>
            <a:r>
              <a:rPr lang="en-US" sz="2600" dirty="0">
                <a:solidFill>
                  <a:srgbClr val="111111"/>
                </a:solidFill>
                <a:latin typeface="Lato" pitchFamily="34" charset="0"/>
                <a:ea typeface="Lato" pitchFamily="34" charset="-122"/>
                <a:cs typeface="Lato" pitchFamily="34" charset="-120"/>
              </a:rPr>
              <a:t>Save it as DA15. Write two sentences: what you changed and how you checked it.</a:t>
            </a:r>
            <a:endParaRPr lang="en-US" sz="26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KeyError: "hue"</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hue column name is not in the table.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Print list(daily.columns) and use the exact name.</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heatmap shows all one colour</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vmin and vmax were not set, or only one column was used.</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Pass the four numeric columns and set vmin=-1 and vmax=1.</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correlation tells me how closely two columns move together, and it does not tell me why.</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DA15 Exploring relationships: scatter plots, correlation and cause</dc:title>
  <dc:subject>Python for Data Analysis</dc:subject>
  <dc:creator>KLAi</dc:creator>
  <cp:lastModifiedBy>KLAi</cp:lastModifiedBy>
  <cp:revision>1</cp:revision>
  <dcterms:created xsi:type="dcterms:W3CDTF">2026-10-31T12:44:23Z</dcterms:created>
  <dcterms:modified xsi:type="dcterms:W3CDTF">2026-10-31T12:44:23Z</dcterms:modified>
</cp:coreProperties>
</file>