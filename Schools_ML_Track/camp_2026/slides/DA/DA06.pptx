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848167-48f9-90aa-4c17-6875fd2c91c1}">
          <p14:sldIdLst>
            <p14:sldId id="256"/>
            <p14:sldId id="257"/>
            <p14:sldId id="258"/>
            <p14:sldId id="259"/>
            <p14:sldId id="260"/>
            <p14:sldId id="261"/>
            <p14:sldId id="262"/>
          </p14:sldIdLst>
        </p14:section>
        <p14:section name="Block A" id="{00654d12-72f8-f1ca-c482-a4725942779a}">
          <p14:sldIdLst>
            <p14:sldId id="263"/>
            <p14:sldId id="264"/>
            <p14:sldId id="265"/>
            <p14:sldId id="266"/>
            <p14:sldId id="268"/>
            <p14:sldId id="269"/>
          </p14:sldIdLst>
        </p14:section>
        <p14:section name="Break" id="{4c566b84-ff45-eb56-673d-154aa6c06a96}">
          <p14:sldIdLst>
            <p14:sldId id="267"/>
          </p14:sldIdLst>
        </p14:section>
        <p14:section name="Block A" id="{4fa186a3-c6ab-3b7a-7951-01054b9687c2}">
          <p14:sldIdLst/>
        </p14:section>
        <p14:section name="Block B" id="{b41d1b14-96ca-6b7a-02b3-a345f4e6957a}">
          <p14:sldIdLst>
            <p14:sldId id="270"/>
            <p14:sldId id="271"/>
            <p14:sldId id="272"/>
            <p14:sldId id="273"/>
            <p14:sldId id="274"/>
          </p14:sldIdLst>
        </p14:section>
        <p14:section name="Make and close" id="{1994633f-86b3-5f00-7f17-fbfd837954f9}">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6 and our topic is functions and checks that fail loudly.
By the end of today you will be able to write a function that returns a result, and use assert to check it on known cases.
We will answer one question: Can we trust our revenue calculation on cases we already know the answer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trust a calculation, check it on cases where you already know the answer. Three units at two thousand is six thousand. No units is zero. Five units at one thousand is five thousand. If your code agrees with all three, you can trust it more. If it disagrees with one, you have found a bug before it cost anyone money. Today we package a calculation into a reusable machine and write the checks that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function. A named set of instructions you can use again. You have seen this before. A recipe with a name.
parameter. The name for an input inside a function. The blank in a form.
argument. The actual value you give a function when you call it. Think of a shop. The answer you write in the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return. Send the result back to where the function was called. Imagine it like this. The cashier handing you the change.
assert. Stop with an error if a statement is False. Say nothing if it is True. An example from everyday life. A teacher checking the answer without saying well done.
edge case. A value at the boundary where a rule might break, such as zero. Here is a way to see it. A customer who buys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is a machine you build once and use as often as you like. Our machine is called revenue. It has two slots for inputs, called units and price. You drop in the numbers three and two thousand, the machine multiplies them, and out comes six thousand. The code at the bottom describes the machine in two lines.
What would come out if you dropped in five and one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words matter here. The word def starts the description of the machine. The names in brackets on that line, units and price, are the parameters. They are the labels on the input slots. The word return says what comes out. Later, when we use the machine, the real numbers we give it, three and two thousand, are called arguments.
A parameter is the label on the slot and an argument is what you put in the slot. Say that sentence once to your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starts with def. print only shows something on the screen.
Time to commit to an answer. Predict what the function returns for 3 units at 2000 shillings, and what a passing assert prints.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6000. The two asserts print nothing, which means both pass. units and price are the parameters. 3 and 2000 are the arguments.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function and a check. I have two questions for you.
Question one. What is the difference between return and print? Have a go in your head first.
The answer is this. return gives the value to the rest of the program. print only shows it.
Question two. What does it mean that the asserts print nothing? Write your answer in one line before we compare.
The statements are True. Silence means the check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Add a third assert that checks revenue(5, 1000) equals 5000. When you have run it, tell your neighbour what changed and how you know.
Here is what happens. It passes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functions look similar and behave very differently. On the left, the function returns the answer, so the variable a holds eight and we can use it later. On the right, the function prints the answer. Eight appears on the screen, but nothing is handed back, so the variable b holds None.
If your function shows None where you expected a number, look for a missing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learned that dividing by zero stops the program. A function can protect itself with a guard. Before dividing, it asks whether the whole is zero. If it is, the function returns zero straight away and never reaches the division. If it is not, the function goes on and divides.
Is returning zero always the right answer for a share of nothing? Think about it, because a guard is a choice and you should be able to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share is a part divided by a whole. Dividing by zero is an edge case.
Your turn to guess. Predict the result of share(12, 20) and of share(5, 0).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0.6 and then 0. When the whole is zero the function returns before it divides, so no error appears.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edge cases and a guard. I have two questions for you.
Question one. Why does the function check the whole before it divides? Write your answer in one line before we compare.
Dividing by zero stops the program with an error. The check avoids it.
Question two. Is returning 0 for share(5, 0) always the right answer? Say it quietly to yourself before anyone answers.
Here is how I would answer it. Not always. It is a choice that must be stated, because a share of nothing is 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Add an assert that share(1, 4) equals 0.25. Run it, then tell someone what you saw.
What you should find: It passes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lists three checks and a faulty version of the function. For each call we write the answer we expect, run the function, and compare. The assert instruction does the comparing for us. When the answer matches it stays silent, and silence means pass. When it does not match, Python stops and tells you.
In the last row the faulty function added instead of multiplying. Which numbers would have shown that problem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DA06.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AssertionError. It means this: the statement after assert was False, so the function gave a different answer from the one you expected. To fix it, print the function result for that input and compare it with your hand calculation.
The next one. You will see: The function shows None. It means this: the function has no return line, so it gives nothing back. To fix it, add return in front of the value you want back.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Can we trust our revenue calculation on cases we already know the answer to?
Copy this sentence into your notebook and make it yours. A function returns a result, and an assert checks that result on cases I already know.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DA06  |  Functions and checks that fail loudly</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Functions and checks</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that fail loudly</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we trust our revenue calculation on cases we already know the answer to?</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6 of 24  |  Week 2, Python you need</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we trust our revenue calculation on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cases we already know the answer to?</a:t>
            </a:r>
            <a:endParaRPr lang="en-US" sz="3600" dirty="0"/>
          </a:p>
        </p:txBody>
      </p:sp>
      <p:pic>
        <p:nvPicPr>
          <p:cNvPr id="3" name="Image 0" descr="A table of known cases for the revenue function with passes and one failure">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funct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function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named set of instructions you can use again.</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recipe with a name.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aramete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parameter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name for an input inside a function.</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blank in a form.</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argumen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argument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actual value you give a function when you call 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answer you write in the blank.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retur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return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Send the result back to where the function was called.</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cashier handing you the change.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asser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assert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Stop with an error if a statement is False. Say nothing if it is True.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teacher checking the answer without saying well done.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edge cas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edge case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value at the boundary where a rule might break, such as zero.</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customer who buys nothing.</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function turns arguments into an answer</a:t>
            </a:r>
            <a:endParaRPr lang="en-US" sz="3800" dirty="0"/>
          </a:p>
        </p:txBody>
      </p:sp>
      <p:pic>
        <p:nvPicPr>
          <p:cNvPr id="3" name="Image 0" descr="A function turns arguments into an answ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machine has a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input has a name, such as units.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answer comes back out.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Each word in a function has its own job</a:t>
            </a:r>
            <a:endParaRPr lang="en-US" sz="3800" dirty="0"/>
          </a:p>
        </p:txBody>
      </p:sp>
      <p:pic>
        <p:nvPicPr>
          <p:cNvPr id="3" name="Image 0" descr="Each word in a function has its own job">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Parameters are the names inside the machine.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Arguments are the real values you give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return sends the answer back.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function and a check</a:t>
            </a:r>
            <a:endParaRPr lang="en-US" sz="3800" dirty="0"/>
          </a:p>
        </p:txBody>
      </p:sp>
      <p:sp>
        <p:nvSpPr>
          <p:cNvPr id="3" name="Shape 1"/>
          <p:cNvSpPr/>
          <p:nvPr/>
        </p:nvSpPr>
        <p:spPr>
          <a:xfrm>
            <a:off x="640080" y="1645920"/>
            <a:ext cx="6035040" cy="2618232"/>
          </a:xfrm>
          <a:prstGeom prst="roundRect">
            <a:avLst>
              <a:gd name="adj" fmla="val 2794"/>
            </a:avLst>
          </a:prstGeom>
          <a:solidFill>
            <a:srgbClr val="111111"/>
          </a:solidFill>
          <a:ln/>
        </p:spPr>
      </p:sp>
      <p:sp>
        <p:nvSpPr>
          <p:cNvPr id="4" name="Text 2"/>
          <p:cNvSpPr txBox="1"/>
          <p:nvPr/>
        </p:nvSpPr>
        <p:spPr>
          <a:xfrm>
            <a:off x="841248" y="1847088"/>
            <a:ext cx="5632704" cy="221589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def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revenue(units, 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return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units * 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print(revenue(3, 2000))</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assert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revenue(3, 2000) == 6000</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assert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revenue(0, 2000) == 0</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Predict what the function returns for 3 units at 2000 shillings, and what a passing assert prints.</a:t>
            </a:r>
            <a:endParaRPr lang="en-US" sz="2400" dirty="0"/>
          </a:p>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function and a check</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6000.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two asserts print nothing, which means both pass.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units and price are the parameters.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3 and 2000 are the arguments.</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function and a check</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is the difference between return and print?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it mean that the asserts print nothing?</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a third assert that checks revenue(5, 1000) equals 5000.</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return hands the answer back, print only shows it</a:t>
            </a:r>
            <a:endParaRPr lang="en-US" sz="3600" dirty="0"/>
          </a:p>
        </p:txBody>
      </p:sp>
      <p:pic>
        <p:nvPicPr>
          <p:cNvPr id="3" name="Image 0" descr="return hands the answer back, print only shows i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return gives the value to the rest of the program.</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print writes on the screen and gives back nothing.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function with no return holds None.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guard stops the program dividing by zero</a:t>
            </a:r>
            <a:endParaRPr lang="en-US" sz="3800" dirty="0"/>
          </a:p>
        </p:txBody>
      </p:sp>
      <p:pic>
        <p:nvPicPr>
          <p:cNvPr id="3" name="Image 0" descr="A guard stops the program dividing by zero">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Ask the risky question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Return early when the answer is True.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Only divide when it is safe.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Edge cases and a guard</a:t>
            </a:r>
            <a:endParaRPr lang="en-US" sz="3800" dirty="0"/>
          </a:p>
        </p:txBody>
      </p:sp>
      <p:sp>
        <p:nvSpPr>
          <p:cNvPr id="3" name="Shape 1"/>
          <p:cNvSpPr/>
          <p:nvPr/>
        </p:nvSpPr>
        <p:spPr>
          <a:xfrm>
            <a:off x="640080" y="1645920"/>
            <a:ext cx="6035040" cy="3707892"/>
          </a:xfrm>
          <a:prstGeom prst="roundRect">
            <a:avLst>
              <a:gd name="adj" fmla="val 1973"/>
            </a:avLst>
          </a:prstGeom>
          <a:solidFill>
            <a:srgbClr val="111111"/>
          </a:solidFill>
          <a:ln/>
        </p:spPr>
      </p:sp>
      <p:sp>
        <p:nvSpPr>
          <p:cNvPr id="4" name="Text 2"/>
          <p:cNvSpPr txBox="1"/>
          <p:nvPr/>
        </p:nvSpPr>
        <p:spPr>
          <a:xfrm>
            <a:off x="841248" y="1847088"/>
            <a:ext cx="5632704" cy="330555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def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share(part, whole):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whole == 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return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return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part / whole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print(share(12, 20))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print(share(5, 0))</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assert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share(12, 20) == 0.6</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assert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share(5, 0) == 0</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the result of share(12, 20) and of share(5, 0).</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Edge cases and a guard</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0.6</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0.6 and then 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When the whole is zero the function returns before it divides, so no error appears.</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Edge cases and a guard</a:t>
            </a:r>
            <a:endParaRPr lang="en-US" sz="3800" dirty="0"/>
          </a:p>
        </p:txBody>
      </p:sp>
      <p:sp>
        <p:nvSpPr>
          <p:cNvPr id="3" name="Shape 1"/>
          <p:cNvSpPr/>
          <p:nvPr/>
        </p:nvSpPr>
        <p:spPr>
          <a:xfrm>
            <a:off x="7498080" y="1737360"/>
            <a:ext cx="4023360" cy="2816352"/>
          </a:xfrm>
          <a:prstGeom prst="roundRect">
            <a:avLst>
              <a:gd name="adj" fmla="val 2597"/>
            </a:avLst>
          </a:prstGeom>
          <a:solidFill>
            <a:srgbClr val="111111"/>
          </a:solidFill>
          <a:ln/>
        </p:spPr>
      </p:sp>
      <p:sp>
        <p:nvSpPr>
          <p:cNvPr id="4" name="Text 2"/>
          <p:cNvSpPr txBox="1"/>
          <p:nvPr/>
        </p:nvSpPr>
        <p:spPr>
          <a:xfrm>
            <a:off x="7699248" y="1938528"/>
            <a:ext cx="3621024" cy="241401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def</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share(part, whole):</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if</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whole == 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return</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return</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part / whole</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print(share(12, 20))</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print(share(5, 0))</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assert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share(12, 20) == 0.6</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assert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share(5, 0) == 0</a:t>
            </a:r>
            <a:endParaRPr lang="en-US" sz="16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the function check the whole before it divides?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Is returning 0 for share(5, 0) always the right answer?</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an assert that share(1, 4) equals 0.25.</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964942"/>
          </a:xfrm>
          <a:prstGeom prst="roundRect">
            <a:avLst>
              <a:gd name="adj" fmla="val 2467"/>
            </a:avLst>
          </a:prstGeom>
          <a:solidFill>
            <a:srgbClr val="111111"/>
          </a:solidFill>
          <a:ln/>
        </p:spPr>
      </p:sp>
      <p:sp>
        <p:nvSpPr>
          <p:cNvPr id="5" name="Text 3"/>
          <p:cNvSpPr txBox="1"/>
          <p:nvPr/>
        </p:nvSpPr>
        <p:spPr>
          <a:xfrm>
            <a:off x="7424928" y="1938528"/>
            <a:ext cx="3895344" cy="2562606"/>
          </a:xfrm>
          <a:prstGeom prst="rect">
            <a:avLst/>
          </a:prstGeom>
          <a:noFill/>
          <a:ln/>
        </p:spPr>
        <p:txBody>
          <a:bodyPr wrap="square" lIns="0" tIns="0" rIns="0" bIns="0" rtlCol="0" anchor="t"/>
          <a:lstStyle/>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def</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share(part, whole):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if</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whole == 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return</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return</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part / whole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print(share(12, 20))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print(share(5, 0))</a:t>
            </a:r>
            <a:endParaRPr lang="en-US" sz="1700" dirty="0"/>
          </a:p>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assert</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share(12, 20) == 0.6</a:t>
            </a:r>
            <a:endParaRPr lang="en-US" sz="1700" dirty="0"/>
          </a:p>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assert</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share(5, 0) == 0</a:t>
            </a:r>
            <a:endParaRPr lang="en-US" sz="17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assert checks the machine on known answers</a:t>
            </a:r>
            <a:endParaRPr lang="en-US" sz="3800" dirty="0"/>
          </a:p>
        </p:txBody>
      </p:sp>
      <p:pic>
        <p:nvPicPr>
          <p:cNvPr id="3" name="Image 0" descr="assert checks the machine on known answer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Silence is the sign that every check passed.</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Write price_after_discount(price, percent) that returns the price after a percentage discount.</a:t>
            </a:r>
            <a:endParaRPr lang="en-US" sz="2600" dirty="0"/>
          </a:p>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Check it with assert for 0 percent, 10 percent and 100 percent on a price of 2000.</a:t>
            </a:r>
            <a:endParaRPr lang="en-US" sz="2600" dirty="0"/>
          </a:p>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Save the notebook and run all cells from the top.</a:t>
            </a:r>
            <a:endParaRPr lang="en-US" sz="2600" dirty="0"/>
          </a:p>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Write two sentences: what you changed and how you checked it.</a:t>
            </a:r>
            <a:endParaRPr lang="en-US" sz="26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AssertionError</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520"/>
              </a:lnSpc>
              <a:spcAft>
                <a:spcPts val="1300"/>
              </a:spcAft>
              <a:buNone/>
            </a:pPr>
            <a:r>
              <a:rPr lang="en-US" sz="2100" dirty="0">
                <a:solidFill>
                  <a:srgbClr val="111111"/>
                </a:solidFill>
                <a:latin typeface="Lato" pitchFamily="34" charset="0"/>
                <a:ea typeface="Lato" pitchFamily="34" charset="-122"/>
                <a:cs typeface="Lato" pitchFamily="34" charset="-120"/>
              </a:rPr>
              <a:t>It means: The statement after assert was False, so the function gave a different answer from the one you expected.</a:t>
            </a:r>
            <a:endParaRPr lang="en-US" sz="2100" dirty="0"/>
          </a:p>
          <a:p>
            <a:pPr algn="l" indent="0" marL="0">
              <a:lnSpc>
                <a:spcPts val="2520"/>
              </a:lnSpc>
              <a:spcAft>
                <a:spcPts val="1300"/>
              </a:spcAft>
              <a:buNone/>
            </a:pPr>
            <a:r>
              <a:rPr lang="en-US" sz="2100" dirty="0">
                <a:solidFill>
                  <a:srgbClr val="111111"/>
                </a:solidFill>
                <a:latin typeface="Lato" pitchFamily="34" charset="0"/>
                <a:ea typeface="Lato" pitchFamily="34" charset="-122"/>
                <a:cs typeface="Lato" pitchFamily="34" charset="-120"/>
              </a:rPr>
              <a:t>Fix: Print the function result for that input and compare it with your hand calculation.</a:t>
            </a:r>
            <a:endParaRPr lang="en-US" sz="21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function shows None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function has no return line, so it gives nothing back.</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Add return in front of the value you want back.</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function returns a result, and an assert checks that result on cases I already know.</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DA06 Functions and checks that fail loudly</dc:title>
  <dc:subject>Python for Data Analysis</dc:subject>
  <dc:creator>KLAi</dc:creator>
  <cp:lastModifiedBy>KLAi</cp:lastModifiedBy>
  <cp:revision>1</cp:revision>
  <dcterms:created xsi:type="dcterms:W3CDTF">2026-10-31T12:44:14Z</dcterms:created>
  <dcterms:modified xsi:type="dcterms:W3CDTF">2026-10-31T12:44:14Z</dcterms:modified>
</cp:coreProperties>
</file>