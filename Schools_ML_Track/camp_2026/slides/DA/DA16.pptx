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a3b4643-312f-a561-e062-fdb7953673a3}">
          <p14:sldIdLst>
            <p14:sldId id="256"/>
            <p14:sldId id="257"/>
            <p14:sldId id="258"/>
            <p14:sldId id="259"/>
            <p14:sldId id="260"/>
            <p14:sldId id="261"/>
            <p14:sldId id="262"/>
          </p14:sldIdLst>
        </p14:section>
        <p14:section name="Block A" id="{6ada536d-86ae-0f11-e8ad-bfe01d930d2c}">
          <p14:sldIdLst>
            <p14:sldId id="263"/>
            <p14:sldId id="264"/>
            <p14:sldId id="265"/>
            <p14:sldId id="266"/>
            <p14:sldId id="267"/>
            <p14:sldId id="269"/>
            <p14:sldId id="270"/>
          </p14:sldIdLst>
        </p14:section>
        <p14:section name="Break" id="{1cab5082-ac5d-dc1a-3baf-4fb078dd6a08}">
          <p14:sldIdLst>
            <p14:sldId id="268"/>
          </p14:sldIdLst>
        </p14:section>
        <p14:section name="Block A" id="{04ffda06-b89a-cb42-a1b2-4643b879efce}">
          <p14:sldIdLst/>
        </p14:section>
        <p14:section name="Block B" id="{08baba71-405a-9471-c850-16159a5d5539}">
          <p14:sldIdLst>
            <p14:sldId id="271"/>
            <p14:sldId id="272"/>
            <p14:sldId id="273"/>
            <p14:sldId id="274"/>
            <p14:sldId id="275"/>
            <p14:sldId id="276"/>
            <p14:sldId id="277"/>
          </p14:sldIdLst>
        </p14:section>
        <p14:section name="Make and close" id="{a2114cf8-b324-3f99-7d0a-6ffe9cf80849}">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16 and our topic is cleaning the raw export.
By the end of today you will be able to turn a messy export into a clean table with a pipeline that reruns, and explain why its total is lower than the true total.
We will answer one question: If we clean the raw export carefully, does it give back the true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clean the raw export carefully, does it give back the true revenue? The true revenue is six million three hundred and seventy five thousand nine hundred shillings. We know it because we built this data ourselves. The raw file has one thousand five hundred and thirty eight rows, with repeats, mixed dates, messy names and blanks. Today we clean it step by step and see how close we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parse. Read text and turn it into a proper date or number. Imagine it like this. Reading a handwritten date and writing it as a real date.
normalise. Make the same thing look the same everywhere, such as one spelling and one case. An example from everyday life. Writing every name with a capital first letter.
lookup. A dictionary that turns one value into another. Here is a way to see it. The price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exclude. Leave a row out and count it, because it cannot be repaired. A small example. Setting aside the damaged goods and counting them.
residual. The difference that is left after you have done everything right. Picture this. The small change nobody can account for.
pipeline. A series of cleaning steps that always run in the same order. You have seen this before. A production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column has two styles. Most dates are written year, month, day with dashes. Sixty are written day, month, year with slashes. To parse a date is to read the text and turn it into a real date. A single format cannot read both styles.
So we parse with the first format and let the failures come back as empty. Then we parse those with the second format. Every date ends up a real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names are messy. Some have extra spaces, and some have capital letters in the wrong places. To the computer, pen and Pen are different words. Normalising means putting every name into one agreed shape, here with spaces trimmed and the first letters capitalised. Then a lookup against the products table finds each one.
Compare the names before and after on the picture. How many different spellings turned into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first part of the code with me before we run anything. ['The raw export has two date formats in one column: 2026-09-01 and 01/09/2026.', 'Parse each format on its own, and keep the date that worked.', 'Names appear as juice, JUICE and " Juice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raw export has two date formats in one column: 2026-09-01 and 01/09/2026. Parse each format on its own, and keep the date that worked.
This is the part where you decide. Predict how many dates cannot be parsed after both formats have been tried.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0 dates that cannot be parsed, then the range 2026-09-01 to 2026-10-30. The names step prints 0 names left unmatched and 15 different products. Every date and product name is now one consistent form.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dates and names. I have two questions for you.
Question one. Why parse the two formats separately and join the results? Write your answer in one line before we compare.
What I would say is this. Python cannot tell whether 03/09/2026 is 3 September or 9 March. We know the second format is day first, so we say so.
Question two. What does errors="coerce" do? Say it quietly to yourself before anyone answers.
Let me answer it. It turns a date that does not fit the format into a missing value instead of stopping with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Count how many rows used the slash format. Then explain to your neighbour what the change did.
The result: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units are written as words, like two or three. We convert them using a small lookup, so two becomes the number two. Forty units are blank. We cannot guess how many were sold, so we exclude those rows from the clean table and keep them in a separate table.
The excluded rows stay available, so we can report how many there were.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pipeline is the cleaning steps in order. After each step we print the number of rows. The raw file starts at one thousand five hundred and thirty eight. Dropping the twenty five repeats gives one thousand five hundred and thirteen. Leaving out the forty blank units leaves one thousand four hundred and seventy three.
Each count in the pipeline can be checked against the fault counts from session ten. If a number surprises you, the step before it is where to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first part of the code with me before we run anything. ['Some units are written as words, such as two.', 'A lookup turns them into numbers.', 'Blank units cannot be repaired, so we exclude those rows and count them.', 'Then we compare with the true total.', 'The two totals will differ, and the difference has a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units are written as words, such as two. A lookup turns them into numbers.
Make a prediction. Predict whether the cleaned revenue will be above, equal to or below the true revenue of 6375900.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40 rows are excluded and 1473 rows are clean. The cleaned revenue is 6250500, which is 125400 below the true 6375900. The residual of 125400 is the value of the 40 excluded sales. It is not a mistake in the pipeline. It is the cost of rows that cannot be recovered.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units, blanks and the residual. I have two questions for you.
Question one. Why is the cleaned total below the true total? Say it quietly to yourself before anyone answers.
Let me answer it. The 40 blank-unit sales are missing from the clean table, and their value is what is left over.
Question two. Would it be honest to report that the two totals match? Give it thirty seconds and then we will hear a few answers.
The answer is this. No. They differ by 125400, and the report says so and says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Prove that the residual equals the value of the 40 excluded sales, using the true sales table. When you have run it, tell your neighbour what changed and how you know.
Here is what happens. Both are 125400.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cleaning, the revenue totals six million two hundred and fifty thousand five hundred. The true figure is six million three hundred and seventy five thousand nine hundred. The gap is one hundred and twenty five thousand four hundred shillings, and it is called the residual.
The residual is the revenue of the forty rows that had blank units. We left them out on purpose, so a small gap is the honest result. Report the gap in your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wrap the whole pipeline in a function called clean sales. It takes the raw table, runs every step in order, and hands back two tables: the clean rows and the excluded rows.
Now cleaning is one line. A partner can run it on the same file and get the same one thousand four hundred and seventy three rows. We check that with an assert, which stops the notebook if the number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DA16.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ValueError: time data does not match format. It means this: A date is written in a form the format string does not describe. To fix it, use errors="coerce" for one format and fill the gaps with the other format.
The next one. You will see: The clean table has 1538 rows, not 1513 or 1473. It means this: the duplicates were not removed before the other steps. To fix it, call drop_duplicates() first and print len() after every step.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If we clean the raw export carefully, does it give back the true revenue?
Finish this sentence in your notebook, in your own words. A careful clean can still leave a gap, and I report the gap and its cause.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DA16  |  Cleaning the raw export</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1.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Cleaning the raw export</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If we clean the raw export carefully, does it give back the true revenue?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16 of 24  |  Week 6, Messy data and two tables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If we clean the raw export carefully,</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does it give back the true revenue?</a:t>
            </a:r>
            <a:endParaRPr lang="en-US" sz="3600" dirty="0"/>
          </a:p>
        </p:txBody>
      </p:sp>
      <p:pic>
        <p:nvPicPr>
          <p:cNvPr id="3" name="Image 0" descr="The raw export flowing through cleaning steps into a clean table that is compared with the true revenue">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pars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parse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Read text and turn it into a proper date or number.</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Reading a handwritten date and writing it as a real date.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sp>
        <p:nvSpPr>
          <p:cNvPr id="8"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normalise</a:t>
            </a:r>
            <a:endParaRPr lang="en-US" sz="3400" dirty="0"/>
          </a:p>
        </p:txBody>
      </p:sp>
      <p:sp>
        <p:nvSpPr>
          <p:cNvPr id="9"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Make the same thing look the same everywhere, such as one spelling and one case.</a:t>
            </a:r>
            <a:endParaRPr lang="en-US" sz="2200" dirty="0"/>
          </a:p>
        </p:txBody>
      </p:sp>
      <p:sp>
        <p:nvSpPr>
          <p:cNvPr id="10"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Writing every name with a capital first letter.</a:t>
            </a:r>
            <a:endParaRPr lang="en-US" sz="1900" dirty="0"/>
          </a:p>
        </p:txBody>
      </p:sp>
      <p:sp>
        <p:nvSpPr>
          <p:cNvPr id="11" name="Shape 8"/>
          <p:cNvSpPr/>
          <p:nvPr/>
        </p:nvSpPr>
        <p:spPr>
          <a:xfrm>
            <a:off x="640080" y="4617720"/>
            <a:ext cx="10881360" cy="0"/>
          </a:xfrm>
          <a:prstGeom prst="line">
            <a:avLst/>
          </a:prstGeom>
          <a:noFill/>
          <a:ln w="12700">
            <a:solidFill>
              <a:srgbClr val="CFCFCF"/>
            </a:solidFill>
            <a:prstDash val="solid"/>
          </a:ln>
        </p:spPr>
      </p:sp>
      <p:pic>
        <p:nvPicPr>
          <p:cNvPr id="12" name="Image 1" descr="lookup">    </p:cNvPr>
          <p:cNvPicPr>
            <a:picLocks noChangeAspect="1"/>
          </p:cNvPicPr>
          <p:nvPr/>
        </p:nvPicPr>
        <p:blipFill>
          <a:blip r:embed="rId2"/>
          <a:stretch>
            <a:fillRect/>
          </a:stretch>
        </p:blipFill>
        <p:spPr>
          <a:xfrm>
            <a:off x="640080" y="4745736"/>
            <a:ext cx="1188720" cy="1188720"/>
          </a:xfrm>
          <a:prstGeom prst="rect">
            <a:avLst/>
          </a:prstGeom>
        </p:spPr>
      </p:pic>
      <p:sp>
        <p:nvSpPr>
          <p:cNvPr id="13"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lookup</a:t>
            </a:r>
            <a:endParaRPr lang="en-US" sz="3400" dirty="0"/>
          </a:p>
        </p:txBody>
      </p:sp>
      <p:sp>
        <p:nvSpPr>
          <p:cNvPr id="14"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dictionary that turns one value into another.</a:t>
            </a:r>
            <a:endParaRPr lang="en-US" sz="2200" dirty="0"/>
          </a:p>
        </p:txBody>
      </p:sp>
      <p:sp>
        <p:nvSpPr>
          <p:cNvPr id="15"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price board.</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exclud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exclude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Leave a row out and count it, because it cannot be repaired.</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Setting aside the damaged goods and counting them.</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residual">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residual</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difference that is left after you have done everything right.</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small change nobody can account for.</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pipelin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pipeline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series of cleaning steps that always run in the same order.</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production line.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date styles are parsed one at a time</a:t>
            </a:r>
            <a:endParaRPr lang="en-US" sz="3800" dirty="0"/>
          </a:p>
        </p:txBody>
      </p:sp>
      <p:pic>
        <p:nvPicPr>
          <p:cNvPr id="3" name="Image 0" descr="Two date styles are parsed one at a time">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60 dates use slashes. The rest use year, month and day.</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Normalised names let one lookup match them all</a:t>
            </a:r>
            <a:endParaRPr lang="en-US" sz="3700" dirty="0"/>
          </a:p>
        </p:txBody>
      </p:sp>
      <p:pic>
        <p:nvPicPr>
          <p:cNvPr id="3" name="Image 0" descr="Normalised names let one lookup match them all">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Strip spaces and fix capital letters, then look the name up.</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Dates and names (1 of 2)</a:t>
            </a:r>
            <a:endParaRPr lang="en-US" sz="3800" dirty="0"/>
          </a:p>
        </p:txBody>
      </p:sp>
      <p:sp>
        <p:nvSpPr>
          <p:cNvPr id="3" name="Shape 1"/>
          <p:cNvSpPr/>
          <p:nvPr/>
        </p:nvSpPr>
        <p:spPr>
          <a:xfrm>
            <a:off x="640080" y="1645920"/>
            <a:ext cx="10881360" cy="2023872"/>
          </a:xfrm>
          <a:prstGeom prst="roundRect">
            <a:avLst>
              <a:gd name="adj" fmla="val 3614"/>
            </a:avLst>
          </a:prstGeom>
          <a:solidFill>
            <a:srgbClr val="111111"/>
          </a:solidFill>
          <a:ln/>
        </p:spPr>
      </p:sp>
      <p:sp>
        <p:nvSpPr>
          <p:cNvPr id="4" name="Text 2"/>
          <p:cNvSpPr txBox="1"/>
          <p:nvPr/>
        </p:nvSpPr>
        <p:spPr>
          <a:xfrm>
            <a:off x="841248" y="1847088"/>
            <a:ext cx="10479024" cy="162153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pandas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pd</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raw = pd.read_csv(</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"sunrise_sales_raw.csv"</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work = raw.drop_duplicates().copy()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iso = pd.to_datetime(work[</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"sale_date"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format=</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"%Y-%m-%d"</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errors=</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"coerce"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slash = pd.to_datetime(work[</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"sale_date"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format=</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"%d/%m/%Y"</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errors=</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"coerce"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work[</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"sale_date"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iso.fillna(slash)</a:t>
            </a:r>
            <a:endParaRPr lang="en-US" sz="1600" dirty="0"/>
          </a:p>
        </p:txBody>
      </p:sp>
      <p:sp>
        <p:nvSpPr>
          <p:cNvPr id="5" name="Text 3"/>
          <p:cNvSpPr txBox="1"/>
          <p:nvPr/>
        </p:nvSpPr>
        <p:spPr>
          <a:xfrm>
            <a:off x="640080" y="3852672"/>
            <a:ext cx="8046720" cy="241096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Read the first part of the code. 6 lines. Say what each one does.</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second part comes next.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Dates and names (2 of 2)</a:t>
            </a:r>
            <a:endParaRPr lang="en-US" sz="3800" dirty="0"/>
          </a:p>
        </p:txBody>
      </p:sp>
      <p:sp>
        <p:nvSpPr>
          <p:cNvPr id="3" name="Shape 1"/>
          <p:cNvSpPr/>
          <p:nvPr/>
        </p:nvSpPr>
        <p:spPr>
          <a:xfrm>
            <a:off x="640080" y="1645920"/>
            <a:ext cx="10881360" cy="2221992"/>
          </a:xfrm>
          <a:prstGeom prst="roundRect">
            <a:avLst>
              <a:gd name="adj" fmla="val 3292"/>
            </a:avLst>
          </a:prstGeom>
          <a:solidFill>
            <a:srgbClr val="111111"/>
          </a:solidFill>
          <a:ln/>
        </p:spPr>
      </p:sp>
      <p:sp>
        <p:nvSpPr>
          <p:cNvPr id="4" name="Text 2"/>
          <p:cNvSpPr txBox="1"/>
          <p:nvPr/>
        </p:nvSpPr>
        <p:spPr>
          <a:xfrm>
            <a:off x="841248" y="1847088"/>
            <a:ext cx="1047902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print(work[</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"sale_date"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].isna().sum())</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print(work[</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"sale_date"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].min().date(), work[</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"sale_date"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].max().date())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products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"sunrise_products.csv"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lookup = {n.title(): n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for</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n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in</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products[</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"name"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work[</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"product"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work[</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"product"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].str.strip().str.title().map(lookup)</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print(work[</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"product"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].isna().sum(), work[</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"product"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].nunique())</a:t>
            </a:r>
            <a:endParaRPr lang="en-US" sz="1800" dirty="0"/>
          </a:p>
        </p:txBody>
      </p:sp>
      <p:sp>
        <p:nvSpPr>
          <p:cNvPr id="5" name="Text 3"/>
          <p:cNvSpPr txBox="1"/>
          <p:nvPr/>
        </p:nvSpPr>
        <p:spPr>
          <a:xfrm>
            <a:off x="640080" y="4050792"/>
            <a:ext cx="8046720" cy="221284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how many dates cannot be parsed after both formats have been tried.</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Dates and names</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2026-09-01 2026-10-30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0 15</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cell prints 0 dates that cannot be parsed, then the range 2026-09-01 to 2026-10-30.</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names step prints 0 names left unmatched and 15 different products.</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Every date and product name is now one consistent form.</a:t>
            </a:r>
            <a:endParaRPr lang="en-US" sz="2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Dates and names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parse the two formats separately and join the results?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errors="coerce" do?</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Count how many rows used the slash format.</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Words become numbers; blank units are left out</a:t>
            </a:r>
            <a:endParaRPr lang="en-US" sz="3700" dirty="0"/>
          </a:p>
        </p:txBody>
      </p:sp>
      <p:pic>
        <p:nvPicPr>
          <p:cNvPr id="3" name="Image 0" descr="Words become numbers; blank units are left ou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12 units written as words are converted. 40 blank units are excluded and counted.</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pipeline shows the row count after every step</a:t>
            </a:r>
            <a:endParaRPr lang="en-US" sz="3800" dirty="0"/>
          </a:p>
        </p:txBody>
      </p:sp>
      <p:pic>
        <p:nvPicPr>
          <p:cNvPr id="3" name="Image 0" descr="A pipeline shows the row count after every step">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The raw file has 1,538 rows. The clean table keeps 1,473.</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Units, blanks and the residual (1 of 2)</a:t>
            </a:r>
            <a:endParaRPr lang="en-US" sz="3800" dirty="0"/>
          </a:p>
        </p:txBody>
      </p:sp>
      <p:sp>
        <p:nvSpPr>
          <p:cNvPr id="3" name="Shape 1"/>
          <p:cNvSpPr/>
          <p:nvPr/>
        </p:nvSpPr>
        <p:spPr>
          <a:xfrm>
            <a:off x="640080" y="1645920"/>
            <a:ext cx="10881360" cy="2023872"/>
          </a:xfrm>
          <a:prstGeom prst="roundRect">
            <a:avLst>
              <a:gd name="adj" fmla="val 3614"/>
            </a:avLst>
          </a:prstGeom>
          <a:solidFill>
            <a:srgbClr val="111111"/>
          </a:solidFill>
          <a:ln/>
        </p:spPr>
      </p:sp>
      <p:sp>
        <p:nvSpPr>
          <p:cNvPr id="4" name="Text 2"/>
          <p:cNvSpPr txBox="1"/>
          <p:nvPr/>
        </p:nvSpPr>
        <p:spPr>
          <a:xfrm>
            <a:off x="841248" y="1847088"/>
            <a:ext cx="10479024" cy="1621536"/>
          </a:xfrm>
          <a:prstGeom prst="rect">
            <a:avLst/>
          </a:prstGeom>
          <a:noFill/>
          <a:ln/>
        </p:spPr>
        <p:txBody>
          <a:bodyPr wrap="square" lIns="0" tIns="0" rIns="0" bIns="0" rtlCol="0" anchor="t"/>
          <a:lstStyle/>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words =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"one"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1,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"two"</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2,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"three"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3,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"four"</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4, </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"five"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5}</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work[</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pd.to_numeric(work[</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].replace(words), errors=</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"coerce"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excluded = work[work[</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].isna()]</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clean = work.dropna(subset=[</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]).copy()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clean[</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clean[</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].astype(int)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clean[</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"line_value"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clean[</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clean[</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"unit_price_ugx"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5" name="Text 3"/>
          <p:cNvSpPr txBox="1"/>
          <p:nvPr/>
        </p:nvSpPr>
        <p:spPr>
          <a:xfrm>
            <a:off x="640080" y="3852672"/>
            <a:ext cx="8046720" cy="241096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Read the first part of the code. 6 lines. Say what each one does.</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second part comes next.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Units, blanks and the residual (2 of 2)</a:t>
            </a:r>
            <a:endParaRPr lang="en-US" sz="3800" dirty="0"/>
          </a:p>
        </p:txBody>
      </p:sp>
      <p:sp>
        <p:nvSpPr>
          <p:cNvPr id="3" name="Shape 1"/>
          <p:cNvSpPr/>
          <p:nvPr/>
        </p:nvSpPr>
        <p:spPr>
          <a:xfrm>
            <a:off x="640080" y="1645920"/>
            <a:ext cx="10881360" cy="2221992"/>
          </a:xfrm>
          <a:prstGeom prst="roundRect">
            <a:avLst>
              <a:gd name="adj" fmla="val 3292"/>
            </a:avLst>
          </a:prstGeom>
          <a:solidFill>
            <a:srgbClr val="111111"/>
          </a:solidFill>
          <a:ln/>
        </p:spPr>
      </p:sp>
      <p:sp>
        <p:nvSpPr>
          <p:cNvPr id="4" name="Text 2"/>
          <p:cNvSpPr txBox="1"/>
          <p:nvPr/>
        </p:nvSpPr>
        <p:spPr>
          <a:xfrm>
            <a:off x="841248" y="1847088"/>
            <a:ext cx="1047902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print(len(excluded), len(clean))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print(clean[</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"line_value"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].sum())</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true_sales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"sunrise_sales.csv"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true_total = (true_sales[</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true_sales[</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"unit_price_ugx"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]).sum()</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residual = true_total - clean[</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"line_value"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].sum()</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print(residual)</a:t>
            </a:r>
            <a:endParaRPr lang="en-US" sz="1800" dirty="0"/>
          </a:p>
        </p:txBody>
      </p:sp>
      <p:sp>
        <p:nvSpPr>
          <p:cNvPr id="5" name="Text 3"/>
          <p:cNvSpPr txBox="1"/>
          <p:nvPr/>
        </p:nvSpPr>
        <p:spPr>
          <a:xfrm>
            <a:off x="640080" y="4050792"/>
            <a:ext cx="8046720" cy="221284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whether the cleaned revenue will be above, equal to or below the true revenue of 6375900.</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Units, blanks and the residual</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40 1473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6250500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125400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40 rows are excluded and 1473 rows are clean.</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cleaned revenue is 6250500, which is 125400 below the true 6375900.</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residual of 125400 is the value of the 40 excluded sales.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It is not a mistake in the pipeline.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Units, blanks and the residual</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the cleaned total below the true total?</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Would it be honest to report that the two totals match?</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Prove that the residual equals the value of the 40 excluded sales, using the true sales table.</a:t>
            </a:r>
            <a:endParaRPr lang="en-US" sz="3400" dirty="0"/>
          </a:p>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Then tell your neighbour what changed and how you know.</a:t>
            </a:r>
            <a:endParaRPr lang="en-US" sz="34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clean total is 125,400 short of the truth</a:t>
            </a:r>
            <a:endParaRPr lang="en-US" sz="3800" dirty="0"/>
          </a:p>
        </p:txBody>
      </p:sp>
      <p:pic>
        <p:nvPicPr>
          <p:cNvPr id="3" name="Image 0" descr="The clean total is 125,400 short of the truth">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Clean: 6,250,500. True: 6,375,900. Residual: 125,400.</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function lets anyone rerun the cleaning steps</a:t>
            </a:r>
            <a:endParaRPr lang="en-US" sz="3800" dirty="0"/>
          </a:p>
        </p:txBody>
      </p:sp>
      <p:pic>
        <p:nvPicPr>
          <p:cNvPr id="3" name="Image 0" descr="A function lets anyone rerun the cleaning step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function takes the raw table in.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It returns the clean table and the excluded rows.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Calling it twice gives the same answer.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Put the cleaning steps in one function called clean_sales(raw) that returns the clean table and the excluded rows. Run it on the raw export and check with assert that the clean table has 1473 rows and the clean revenue is 6250500. Write one sentence naming the residual and its cause.</a:t>
            </a:r>
            <a:endParaRPr lang="en-US" sz="2700" dirty="0"/>
          </a:p>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Save it as DA16.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ValueError: time data does not match format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date is written in a form the format string does not describe.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errors="coerce" for one format and fill the gaps with the other format.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clean table has 1538 rows, not 1513 or 1473</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duplicates were not removed before the other steps.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Call drop_duplicates() first and print len() after every step.</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careful clean can still leave a gap, and I report the gap and its cause.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DA16 Cleaning the raw export</dc:title>
  <dc:subject>Python for Data Analysis</dc:subject>
  <dc:creator>KLAi</dc:creator>
  <cp:lastModifiedBy>KLAi</cp:lastModifiedBy>
  <cp:revision>1</cp:revision>
  <dcterms:created xsi:type="dcterms:W3CDTF">2026-10-31T12:26:23Z</dcterms:created>
  <dcterms:modified xsi:type="dcterms:W3CDTF">2026-10-31T12:26:23Z</dcterms:modified>
</cp:coreProperties>
</file>