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7ba9d37-ee7a-7136-5c45-ba483cc119d7}">
          <p14:sldIdLst>
            <p14:sldId id="256"/>
            <p14:sldId id="257"/>
            <p14:sldId id="258"/>
            <p14:sldId id="259"/>
            <p14:sldId id="260"/>
            <p14:sldId id="261"/>
            <p14:sldId id="262"/>
          </p14:sldIdLst>
        </p14:section>
        <p14:section name="Block A" id="{2ce6fce8-a738-cacf-d5e0-dd930c0d6401}">
          <p14:sldIdLst>
            <p14:sldId id="263"/>
            <p14:sldId id="264"/>
            <p14:sldId id="265"/>
            <p14:sldId id="266"/>
            <p14:sldId id="267"/>
            <p14:sldId id="269"/>
            <p14:sldId id="270"/>
          </p14:sldIdLst>
        </p14:section>
        <p14:section name="Break" id="{2c90342b-f81e-0a9a-fde6-acc3ac761e9c}">
          <p14:sldIdLst>
            <p14:sldId id="268"/>
          </p14:sldIdLst>
        </p14:section>
        <p14:section name="Block A" id="{978c81d0-c9c8-e1b5-40bf-434d7515bb70}">
          <p14:sldIdLst/>
        </p14:section>
        <p14:section name="Block B" id="{d1ee7480-2778-cf62-2d60-1bfa8e0f0d45}">
          <p14:sldIdLst>
            <p14:sldId id="271"/>
            <p14:sldId id="272"/>
            <p14:sldId id="273"/>
            <p14:sldId id="274"/>
            <p14:sldId id="275"/>
            <p14:sldId id="276"/>
          </p14:sldIdLst>
        </p14:section>
        <p14:section name="Make and close" id="{7e06f54e-99ec-c204-cc70-30afddbfc3e7}">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11 and our topic is charts that say what the numbers say.
By the end of today you will be able to draw a bar chart, a line chart, a histogram and a scatter plot with labelled axes, and state one finding and one limit for each.
We will answer one question: Which chart shows this comparison most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four kinds of question, and the chart that answers each one. Which is bigger? A bar chart. How does something change? A line chart. How are values spread out? A histogram. Do two things go together? A scatter plot. The right chart depends on the comparison you want the reader to make. Today we meet these four charts and practise choosing among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matplotlib. The library that draws charts. We load it as plt. An example from everyday life. A pen and a ruler for drawing.
bar chart. Bars compare amounts between categories. Here is a way to see it. Piles of stock side by side.
line chart. A line shows how one thing changes over ordered dates. A small example. A temperature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histogram. Bars show how many values fall in each range. Picture this. Counting pupils in each height band.
scatter plot. Dots show how two numbers go together. You have seen this before. Each pupil as a dot by height and age.
axis label. The words along an axis that name the quantity and its unit. The heading of a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parts of a chart. The title tells the reader what they are looking at. Each axis has a label, and the label includes the unit, such as shillings or units sold. At the bottom a small note names where the data came from, which for us is the invented Sunrise Shops data.
A reader who gets all of that does not need you standing next to the chart. Check your own charts for all three before you show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pictures show the same three numbers. On the left the vertical axis starts at zero, so a bar twice as tall means twice as much. On the right the axis starts partway up, and the tallest bar looks several times bigger than the shortest, even though the numbers have not changed.
For bar charts we always start the axis at zero. A reader should be able to trust the heights.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first part of the code with me before we run anything. ['plt.bar draws one bar for each category.', 'A bar chart starts its value axis at zero, because the length of a bar stands for the amount.', 'plt.plot joins points in order, which suits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plt.bar draws one bar for each category. A bar chart starts its value axis at zero, because the length of a bar stands for the amount.
This is the part where you decide. Predict which of the three bars will be tallest.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first chart has three bars. Book is tallest at 297000, then Juice and Pen. The second chart is a line of 20 daily revenues, with the highest point on 2026-12-20. Every axis says what it measures and the bar chart starts at zero.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bar and line charts. I have two questions for you.
Question one. Why does the bar chart start at zero? Say it quietly to yourself before anyone answers.
What I would say is this. The length of the bar stands for the amount. A cut-off axis makes small differences look huge.
Question two. Why use a line for dates and bars for items? Give it thirty seconds and then we will hear a few answers.
Let me answer it. Dates have an order, so a line shows change. Items have no order, so separate bars are fairer.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Draw the bar chart of units by item and add its label. When you have run it, tell your neighbour what changed and how you know.
Here is what happens. Pen is tallest with 103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 chart compares groups. A histogram shows the spread of one column of numbers. We cut the values into ranges, and each bar counts how many values land in a range. On this one, most sales are small, so the tall bars are on the left, and a few large sales stretch out a thin tail to the right.
Which range holds the most sales, and where does the tail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scatter plot compares two columns. Each dot is one row. How far across it sits shows the first value, and how far up it sits shows the second. Here one dot is one day, with customers counted across the bottom and revenue up the side. The dots drift upward from left to right, so busier days tend to bring in more money.
We say tend to, because the dots do not sit on a perfect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first part of the code with me before we run anything. ['A histogram shows how the values are spread.', 'A scatter plot puts two numbers on the two axes.', 'These two charts use the Sunrise Shops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histogram shows how the values are spread. A scatter plot puts two numbers on the two axes.
Make a prediction. Predict the shape of the histogram of sale values: balanced, or bunched at the low end with a long tail?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histogram is bunched at the low end with a long tail to the right, because most sales are small and a few are very large. The scatter plot has 180 dots, one for each shop and day. More customers usually mean more revenue, but the dots are scattered, so the link is not exact.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histogram and scatter plot. I have two questions for you.
Question one. What does the long tail in the histogram tell us? Give it thirty seconds and then we will hear a few answers.
Let me answer it. A few sales are far larger than the rest. That is why the mean is above the median.
Question two. Does the scatter plot show that customers cause revenue? Talk it over with your neighbour for a minute.
The answer is this. It shows that they go together. It does not prove cause. That needs more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Change bins=30 to bins=10 and describe what the histogram loses. Run it, then tell someone what you saw.
What you should find: It hides detail in the long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line chart is the right choice when the horizontal axis is time. The line joins each day to the next, so the eye follows the rise and the fall. If the dates are crowded and overlap, rotate them or show fewer of them. That fixes the second item in your errors list.
Use a line only when the order matters. Joining three shops with a line would suggest they follow each other, and they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DA11.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The chart appears empty. It means this: plt.show() ran before the data was added, or the data was empty. To fix it, Run the cell that creates the table first and print its length.
The next one. You will see: The labels on the dates overlap. It means this: there are too many labels to fit side by side. To fix it, rotate them with plt.xticks(rotation=90) or plot fewer dates.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Which chart shows this comparison most clearly?
Write this sentence in your notebook and finish it your own way. I choose the chart by the question, label its axes, and say what it cannot show.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DA11  |  Charts that say what the numbers say</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1.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Charts that say what the numbers say</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Which chart shows this comparison most clearly?</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11 of 24  |  Week 4, Clean and chart</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Which chart shows this comparison most clearly?</a:t>
            </a:r>
            <a:endParaRPr lang="en-US" sz="3600" dirty="0"/>
          </a:p>
        </p:txBody>
      </p:sp>
      <p:pic>
        <p:nvPicPr>
          <p:cNvPr id="3" name="Image 0" descr="Four questions about data, each paired with the chart that answers i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matplotlib">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matplotlib</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library that draws charts. We load it as plt.</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pen and a ruler for drawing.</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bar char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bar chart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Bars compare amounts between categories.</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Piles of stock side by side.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line char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line chart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line shows how one thing changes over ordered dates.</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temperature record.</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histogram">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histogram</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Bars show how many values fall in each range.</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Counting pupils in each height band.</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scatter plo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scatter plot</a:t>
            </a:r>
            <a:endParaRPr lang="en-US" sz="31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Dots show how two numbers go together.</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Each pupil as a dot by height and age.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axis label">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axis label</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words along an axis that name the quantity and its unit.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heading of a column.</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chart needs a title, labelled axes and a source</a:t>
            </a:r>
            <a:endParaRPr lang="en-US" sz="3800" dirty="0"/>
          </a:p>
        </p:txBody>
      </p:sp>
      <p:pic>
        <p:nvPicPr>
          <p:cNvPr id="3" name="Image 0" descr="A chart needs a title, labelled axes and a source">    </p:cNvPr>
          <p:cNvPicPr>
            <a:picLocks noChangeAspect="1"/>
          </p:cNvPicPr>
          <p:nvPr/>
        </p:nvPicPr>
        <p:blipFill>
          <a:blip r:embed="rId1"/>
          <a:stretch>
            <a:fillRect/>
          </a:stretch>
        </p:blipFill>
        <p:spPr>
          <a:xfrm>
            <a:off x="640080" y="1604988"/>
            <a:ext cx="7040880" cy="4516704"/>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title states what is shown.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axis says what it measures and the unit.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note names the data source.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Cutting the axis makes a small gap look huge</a:t>
            </a:r>
            <a:endParaRPr lang="en-US" sz="3800" dirty="0"/>
          </a:p>
        </p:txBody>
      </p:sp>
      <p:pic>
        <p:nvPicPr>
          <p:cNvPr id="3" name="Image 0" descr="The axis starts at zero: the bars are fairly compared.">    </p:cNvPr>
          <p:cNvPicPr>
            <a:picLocks noChangeAspect="1"/>
          </p:cNvPicPr>
          <p:nvPr/>
        </p:nvPicPr>
        <p:blipFill>
          <a:blip r:embed="rId1"/>
          <a:stretch>
            <a:fillRect/>
          </a:stretch>
        </p:blipFill>
        <p:spPr>
          <a:xfrm>
            <a:off x="640080" y="1595662"/>
            <a:ext cx="5349240" cy="3346635"/>
          </a:xfrm>
          <a:prstGeom prst="rect">
            <a:avLst/>
          </a:prstGeom>
        </p:spPr>
      </p:pic>
      <p:sp>
        <p:nvSpPr>
          <p:cNvPr id="4" name="Text 1"/>
          <p:cNvSpPr txBox="1"/>
          <p:nvPr/>
        </p:nvSpPr>
        <p:spPr>
          <a:xfrm>
            <a:off x="64008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The axis starts at zero: the bars are fairly compared.</a:t>
            </a:r>
            <a:endParaRPr lang="en-US" sz="2200" dirty="0"/>
          </a:p>
        </p:txBody>
      </p:sp>
      <p:pic>
        <p:nvPicPr>
          <p:cNvPr id="5" name="Image 1" descr="The axis starts higher up: the gap looks bigger than it is.">    </p:cNvPr>
          <p:cNvPicPr>
            <a:picLocks noChangeAspect="1"/>
          </p:cNvPicPr>
          <p:nvPr/>
        </p:nvPicPr>
        <p:blipFill>
          <a:blip r:embed="rId2"/>
          <a:stretch>
            <a:fillRect/>
          </a:stretch>
        </p:blipFill>
        <p:spPr>
          <a:xfrm>
            <a:off x="6172200" y="1595662"/>
            <a:ext cx="5349240" cy="3346635"/>
          </a:xfrm>
          <a:prstGeom prst="rect">
            <a:avLst/>
          </a:prstGeom>
        </p:spPr>
      </p:pic>
      <p:sp>
        <p:nvSpPr>
          <p:cNvPr id="6" name="Text 2"/>
          <p:cNvSpPr txBox="1"/>
          <p:nvPr/>
        </p:nvSpPr>
        <p:spPr>
          <a:xfrm>
            <a:off x="617220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The axis starts higher up: the gap looks bigger than it is.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Bar and line charts (1 of 2)</a:t>
            </a:r>
            <a:endParaRPr lang="en-US" sz="3800" dirty="0"/>
          </a:p>
        </p:txBody>
      </p:sp>
      <p:sp>
        <p:nvSpPr>
          <p:cNvPr id="3" name="Shape 1"/>
          <p:cNvSpPr/>
          <p:nvPr/>
        </p:nvSpPr>
        <p:spPr>
          <a:xfrm>
            <a:off x="640080" y="1645920"/>
            <a:ext cx="10881360" cy="3080512"/>
          </a:xfrm>
          <a:prstGeom prst="roundRect">
            <a:avLst>
              <a:gd name="adj" fmla="val 2375"/>
            </a:avLst>
          </a:prstGeom>
          <a:solidFill>
            <a:srgbClr val="111111"/>
          </a:solidFill>
          <a:ln/>
        </p:spPr>
      </p:sp>
      <p:sp>
        <p:nvSpPr>
          <p:cNvPr id="4" name="Text 2"/>
          <p:cNvSpPr txBox="1"/>
          <p:nvPr/>
        </p:nvSpPr>
        <p:spPr>
          <a:xfrm>
            <a:off x="841248" y="1847088"/>
            <a:ext cx="10479024" cy="2678176"/>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import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pandas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pd</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import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matplotlib.pyplot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plt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shop = pd.read_csv(</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"camp_shop.csv"</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shop[</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"revenue_ugx"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 shop[</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 shop[</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"unit_price_ugx"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by_item = shop.groupby(</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"item"</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"revenue_ugx"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].sum()</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plt.bar(by_item.index, by_item.values)</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plt.ylabel(</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"Revenue (UGX)"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plt.title(</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"Revenue by item, practice shop"</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plt.ylim(bottom=0)</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plt.show()</a:t>
            </a:r>
            <a:endParaRPr lang="en-US" sz="1600" dirty="0"/>
          </a:p>
        </p:txBody>
      </p:sp>
      <p:sp>
        <p:nvSpPr>
          <p:cNvPr id="5" name="Text 3"/>
          <p:cNvSpPr txBox="1"/>
          <p:nvPr/>
        </p:nvSpPr>
        <p:spPr>
          <a:xfrm>
            <a:off x="640080" y="4909312"/>
            <a:ext cx="8046720" cy="135432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Read the first part of the code. 10 lines. Say what each one does.</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The second part comes next.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Bar and line charts (2 of 2)</a:t>
            </a:r>
            <a:endParaRPr lang="en-US" sz="3800" dirty="0"/>
          </a:p>
        </p:txBody>
      </p:sp>
      <p:sp>
        <p:nvSpPr>
          <p:cNvPr id="3" name="Shape 1"/>
          <p:cNvSpPr/>
          <p:nvPr/>
        </p:nvSpPr>
        <p:spPr>
          <a:xfrm>
            <a:off x="640080" y="1645920"/>
            <a:ext cx="10881360" cy="2255012"/>
          </a:xfrm>
          <a:prstGeom prst="roundRect">
            <a:avLst>
              <a:gd name="adj" fmla="val 3244"/>
            </a:avLst>
          </a:prstGeom>
          <a:solidFill>
            <a:srgbClr val="111111"/>
          </a:solidFill>
          <a:ln/>
        </p:spPr>
      </p:sp>
      <p:sp>
        <p:nvSpPr>
          <p:cNvPr id="4" name="Text 2"/>
          <p:cNvSpPr txBox="1"/>
          <p:nvPr/>
        </p:nvSpPr>
        <p:spPr>
          <a:xfrm>
            <a:off x="841248" y="1847088"/>
            <a:ext cx="10479024" cy="185267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by_date = shop.groupby(</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"date"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"revenue_ugx"</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].sum()</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plt.plot(by_date.index, by_date.values)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plt.ylabel(</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"Revenue (UGX)"</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plt.xticks(rotation=90)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plt.show()</a:t>
            </a:r>
            <a:endParaRPr lang="en-US" sz="2200" dirty="0"/>
          </a:p>
        </p:txBody>
      </p:sp>
      <p:sp>
        <p:nvSpPr>
          <p:cNvPr id="5" name="Text 3"/>
          <p:cNvSpPr txBox="1"/>
          <p:nvPr/>
        </p:nvSpPr>
        <p:spPr>
          <a:xfrm>
            <a:off x="640080" y="4083812"/>
            <a:ext cx="8046720" cy="217982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Predict which of the three bars will be tallest.</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Bar and line charts</a:t>
            </a:r>
            <a:endParaRPr lang="en-US" sz="3800" dirty="0"/>
          </a:p>
        </p:txBody>
      </p:sp>
      <p:pic>
        <p:nvPicPr>
          <p:cNvPr id="3" name="Image 0" descr="A chart the code draws">    </p:cNvPr>
          <p:cNvPicPr>
            <a:picLocks noChangeAspect="1"/>
          </p:cNvPicPr>
          <p:nvPr/>
        </p:nvPicPr>
        <p:blipFill>
          <a:blip r:embed="rId1"/>
          <a:stretch>
            <a:fillRect/>
          </a:stretch>
        </p:blipFill>
        <p:spPr>
          <a:xfrm>
            <a:off x="739263" y="1600200"/>
            <a:ext cx="5150874" cy="3017520"/>
          </a:xfrm>
          <a:prstGeom prst="rect">
            <a:avLst/>
          </a:prstGeom>
        </p:spPr>
      </p:pic>
      <p:pic>
        <p:nvPicPr>
          <p:cNvPr id="4" name="Image 1" descr="A chart the code draws">    </p:cNvPr>
          <p:cNvPicPr>
            <a:picLocks noChangeAspect="1"/>
          </p:cNvPicPr>
          <p:nvPr/>
        </p:nvPicPr>
        <p:blipFill>
          <a:blip r:embed="rId2"/>
          <a:stretch>
            <a:fillRect/>
          </a:stretch>
        </p:blipFill>
        <p:spPr>
          <a:xfrm>
            <a:off x="6693424" y="1600200"/>
            <a:ext cx="4306793" cy="3017520"/>
          </a:xfrm>
          <a:prstGeom prst="rect">
            <a:avLst/>
          </a:prstGeom>
        </p:spPr>
      </p:pic>
      <p:sp>
        <p:nvSpPr>
          <p:cNvPr id="5" name="Text 1"/>
          <p:cNvSpPr txBox="1"/>
          <p:nvPr/>
        </p:nvSpPr>
        <p:spPr>
          <a:xfrm>
            <a:off x="640080" y="4800600"/>
            <a:ext cx="10881360" cy="1463040"/>
          </a:xfrm>
          <a:prstGeom prst="rect">
            <a:avLst/>
          </a:prstGeom>
          <a:noFill/>
          <a:ln/>
        </p:spPr>
        <p:txBody>
          <a:bodyPr wrap="square" lIns="0" tIns="0" rIns="0" bIns="0" rtlCol="0" anchor="t"/>
          <a:lstStyle/>
          <a:p>
            <a:pPr algn="l" indent="0" marL="0">
              <a:lnSpc>
                <a:spcPts val="2760"/>
              </a:lnSpc>
              <a:spcAft>
                <a:spcPts val="1010"/>
              </a:spcAft>
              <a:buNone/>
            </a:pPr>
            <a:r>
              <a:rPr lang="en-US" sz="2300" dirty="0">
                <a:solidFill>
                  <a:srgbClr val="111111"/>
                </a:solidFill>
                <a:latin typeface="Lato" pitchFamily="34" charset="0"/>
                <a:ea typeface="Lato" pitchFamily="34" charset="-122"/>
                <a:cs typeface="Lato" pitchFamily="34" charset="-120"/>
              </a:rPr>
              <a:t>The first chart has three bars. Book is tallest at 297000, then Juice and Pen. The second chart is a line of 20 daily revenues, with the highest point on 2026-12-20. Every axis says what it measures and the bar chart starts at zero.</a:t>
            </a:r>
            <a:endParaRPr lang="en-US" sz="23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Bar and line charts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the bar chart start at zero?</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use a line for dates and bars for items?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Draw the bar chart of units by item and add its label.</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histogram counts how</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many values fall in each range</a:t>
            </a:r>
            <a:endParaRPr lang="en-US" sz="3600" dirty="0"/>
          </a:p>
        </p:txBody>
      </p:sp>
      <p:pic>
        <p:nvPicPr>
          <p:cNvPr id="3" name="Image 0" descr="A histogram counts how many values fall in each range">    </p:cNvPr>
          <p:cNvPicPr>
            <a:picLocks noChangeAspect="1"/>
          </p:cNvPicPr>
          <p:nvPr/>
        </p:nvPicPr>
        <p:blipFill>
          <a:blip r:embed="rId1"/>
          <a:stretch>
            <a:fillRect/>
          </a:stretch>
        </p:blipFill>
        <p:spPr>
          <a:xfrm>
            <a:off x="711233" y="1600200"/>
            <a:ext cx="6898575"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bar is a range of values.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Its height counts the sales in that range.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long tail shows a few very large values.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scatter plot shows one dot for each pair</a:t>
            </a:r>
            <a:endParaRPr lang="en-US" sz="3800" dirty="0"/>
          </a:p>
        </p:txBody>
      </p:sp>
      <p:pic>
        <p:nvPicPr>
          <p:cNvPr id="3" name="Image 0" descr="A scatter plot shows one dot for each pair">    </p:cNvPr>
          <p:cNvPicPr>
            <a:picLocks noChangeAspect="1"/>
          </p:cNvPicPr>
          <p:nvPr/>
        </p:nvPicPr>
        <p:blipFill>
          <a:blip r:embed="rId1"/>
          <a:stretch>
            <a:fillRect/>
          </a:stretch>
        </p:blipFill>
        <p:spPr>
          <a:xfrm>
            <a:off x="640080" y="1649406"/>
            <a:ext cx="7040880" cy="4427868"/>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dot is one day.</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Across is customers, up is revenue.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pattern in the dots shows a link.</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Histogram and scatter plot (1 of 2)</a:t>
            </a:r>
            <a:endParaRPr lang="en-US" sz="3800" dirty="0"/>
          </a:p>
        </p:txBody>
      </p:sp>
      <p:sp>
        <p:nvSpPr>
          <p:cNvPr id="3" name="Shape 1"/>
          <p:cNvSpPr/>
          <p:nvPr/>
        </p:nvSpPr>
        <p:spPr>
          <a:xfrm>
            <a:off x="640080" y="1645920"/>
            <a:ext cx="10881360" cy="2221992"/>
          </a:xfrm>
          <a:prstGeom prst="roundRect">
            <a:avLst>
              <a:gd name="adj" fmla="val 3292"/>
            </a:avLst>
          </a:prstGeom>
          <a:solidFill>
            <a:srgbClr val="111111"/>
          </a:solidFill>
          <a:ln/>
        </p:spPr>
      </p:sp>
      <p:sp>
        <p:nvSpPr>
          <p:cNvPr id="4" name="Text 2"/>
          <p:cNvSpPr txBox="1"/>
          <p:nvPr/>
        </p:nvSpPr>
        <p:spPr>
          <a:xfrm>
            <a:off x="841248" y="1847088"/>
            <a:ext cx="1047902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sunrise = pd.read_csv(</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"sunrise_sales.csv"</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"line_value"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"unit_price_ugx"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plt.hist(sunrise[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"line_value"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bins=30)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plt.xlabel(</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"Value of one sale (UGX)"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plt.ylabel(</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"Number of sales"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plt.show()</a:t>
            </a:r>
            <a:endParaRPr lang="en-US" sz="1800" dirty="0"/>
          </a:p>
        </p:txBody>
      </p:sp>
      <p:sp>
        <p:nvSpPr>
          <p:cNvPr id="5" name="Text 3"/>
          <p:cNvSpPr txBox="1"/>
          <p:nvPr/>
        </p:nvSpPr>
        <p:spPr>
          <a:xfrm>
            <a:off x="640080" y="4050792"/>
            <a:ext cx="8046720" cy="221284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Read the first part of the code. 6 lines. Say what each one does.</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The second part comes next.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Histogram and scatter plot (2 of 2)</a:t>
            </a:r>
            <a:endParaRPr lang="en-US" sz="3800" dirty="0"/>
          </a:p>
        </p:txBody>
      </p:sp>
      <p:sp>
        <p:nvSpPr>
          <p:cNvPr id="3" name="Shape 1"/>
          <p:cNvSpPr/>
          <p:nvPr/>
        </p:nvSpPr>
        <p:spPr>
          <a:xfrm>
            <a:off x="640080" y="1645920"/>
            <a:ext cx="10881360" cy="2172462"/>
          </a:xfrm>
          <a:prstGeom prst="roundRect">
            <a:avLst>
              <a:gd name="adj" fmla="val 3367"/>
            </a:avLst>
          </a:prstGeom>
          <a:solidFill>
            <a:srgbClr val="111111"/>
          </a:solidFill>
          <a:ln/>
        </p:spPr>
      </p:sp>
      <p:sp>
        <p:nvSpPr>
          <p:cNvPr id="4" name="Text 2"/>
          <p:cNvSpPr txBox="1"/>
          <p:nvPr/>
        </p:nvSpPr>
        <p:spPr>
          <a:xfrm>
            <a:off x="841248" y="1847088"/>
            <a:ext cx="10479024" cy="1770126"/>
          </a:xfrm>
          <a:prstGeom prst="rect">
            <a:avLst/>
          </a:prstGeom>
          <a:noFill/>
          <a:ln/>
        </p:spPr>
        <p:txBody>
          <a:bodyPr wrap="square" lIns="0" tIns="0" rIns="0" bIns="0" rtlCol="0" anchor="t"/>
          <a:lstStyle/>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daily = pd.read_csv(</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"sunrise_daily_summary.csv"</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plt.scatter(daily[</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"customers_counted"</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daily[</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"revenue_ugx"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plt.xlabel(</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"Customers counted in a day"</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plt.ylabel(</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"Revenue that day (UGX)"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plt.show()</a:t>
            </a:r>
            <a:endParaRPr lang="en-US" sz="2100" dirty="0"/>
          </a:p>
        </p:txBody>
      </p:sp>
      <p:sp>
        <p:nvSpPr>
          <p:cNvPr id="5" name="Text 3"/>
          <p:cNvSpPr txBox="1"/>
          <p:nvPr/>
        </p:nvSpPr>
        <p:spPr>
          <a:xfrm>
            <a:off x="640080" y="4001262"/>
            <a:ext cx="8046720" cy="226237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Predict the shape of the histogram of sale values: balanced, or bunched at the low end with a long tail?</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Histogram and scatter plot</a:t>
            </a:r>
            <a:endParaRPr lang="en-US" sz="3800" dirty="0"/>
          </a:p>
        </p:txBody>
      </p:sp>
      <p:pic>
        <p:nvPicPr>
          <p:cNvPr id="3" name="Image 0" descr="A chart the code draws">    </p:cNvPr>
          <p:cNvPicPr>
            <a:picLocks noChangeAspect="1"/>
          </p:cNvPicPr>
          <p:nvPr/>
        </p:nvPicPr>
        <p:blipFill>
          <a:blip r:embed="rId1"/>
          <a:stretch>
            <a:fillRect/>
          </a:stretch>
        </p:blipFill>
        <p:spPr>
          <a:xfrm>
            <a:off x="828606" y="1600200"/>
            <a:ext cx="4972189" cy="3017520"/>
          </a:xfrm>
          <a:prstGeom prst="rect">
            <a:avLst/>
          </a:prstGeom>
        </p:spPr>
      </p:pic>
      <p:pic>
        <p:nvPicPr>
          <p:cNvPr id="4" name="Image 1" descr="A chart the code draws">    </p:cNvPr>
          <p:cNvPicPr>
            <a:picLocks noChangeAspect="1"/>
          </p:cNvPicPr>
          <p:nvPr/>
        </p:nvPicPr>
        <p:blipFill>
          <a:blip r:embed="rId2"/>
          <a:stretch>
            <a:fillRect/>
          </a:stretch>
        </p:blipFill>
        <p:spPr>
          <a:xfrm>
            <a:off x="6255423" y="1600200"/>
            <a:ext cx="5182794" cy="3017520"/>
          </a:xfrm>
          <a:prstGeom prst="rect">
            <a:avLst/>
          </a:prstGeom>
        </p:spPr>
      </p:pic>
      <p:sp>
        <p:nvSpPr>
          <p:cNvPr id="5" name="Text 1"/>
          <p:cNvSpPr txBox="1"/>
          <p:nvPr/>
        </p:nvSpPr>
        <p:spPr>
          <a:xfrm>
            <a:off x="640080" y="4800600"/>
            <a:ext cx="10881360" cy="1463040"/>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The histogram is bunched at the low end with a long tail to the right, because most sales are small and a few are very large. The scatter plot has 180 dots, one for each shop and day.</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Histogram and scatter plot</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the long tail in the histogram tell us?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Does the scatter plot show that customers cause revenue?</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bins=30 to bins=10 and describe what the histogram loses.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line chart joins values over time</a:t>
            </a:r>
            <a:endParaRPr lang="en-US" sz="3800" dirty="0"/>
          </a:p>
        </p:txBody>
      </p:sp>
      <p:pic>
        <p:nvPicPr>
          <p:cNvPr id="3" name="Image 0" descr="A line chart joins values over time">    </p:cNvPr>
          <p:cNvPicPr>
            <a:picLocks noChangeAspect="1"/>
          </p:cNvPicPr>
          <p:nvPr/>
        </p:nvPicPr>
        <p:blipFill>
          <a:blip r:embed="rId1"/>
          <a:stretch>
            <a:fillRect/>
          </a:stretch>
        </p:blipFill>
        <p:spPr>
          <a:xfrm>
            <a:off x="640080" y="1604170"/>
            <a:ext cx="7040880" cy="4518341"/>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Time runs along the bottom.</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line joins one day to the next.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Crowded date labels can be rotated or thinned.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Chart the Sunrise revenue by branch. Use a dictionary to turn the ids 1, 2 and 3 into the names Central Market, Campus Gate and Roadside. Label the axis, start it at zero and write one finding and one limitation.</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DA11.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chart appears empty</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plt.show() ran before the data was added, or the data was empty.</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cell that creates the table first and print its length.</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labels on the dates overlap</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There are too many labels to fit side by side.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Rotate them with plt.xticks(rotation=90) or plot fewer dates.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choose the chart by the question, label its axes, and say what it cannot show.</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DA11 Charts that say what the numbers say</dc:title>
  <dc:subject>Python for Data Analysis</dc:subject>
  <dc:creator>KLAi</dc:creator>
  <cp:lastModifiedBy>KLAi</cp:lastModifiedBy>
  <cp:revision>1</cp:revision>
  <dcterms:created xsi:type="dcterms:W3CDTF">2026-10-31T12:32:47Z</dcterms:created>
  <dcterms:modified xsi:type="dcterms:W3CDTF">2026-10-31T12:32:47Z</dcterms:modified>
</cp:coreProperties>
</file>