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bb51071d804e05" /><Relationship Type="http://schemas.openxmlformats.org/officeDocument/2006/relationships/extended-properties" Target="/docProps/app.xml" Id="R9fa7a308478d4172" /><Relationship Type="http://schemas.openxmlformats.org/officeDocument/2006/relationships/officeDocument" Target="/ppt/presentation.xml" Id="R352281321c154b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3388ccdcdf4882"/>
  </p:sldMasterIdLst>
  <p:notesMasterIdLst>
    <p:notesMasterId xmlns:r="http://schemas.openxmlformats.org/officeDocument/2006/relationships" r:id="R47950d4933d34d14"/>
  </p:notesMasterIdLst>
  <p:sldIdLst>
    <p:sldId xmlns:r="http://schemas.openxmlformats.org/officeDocument/2006/relationships" id="256" r:id="R6ae777b7f4b24d1b"/>
  </p:sldIdLst>
  <p:sldSz cx="10287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ee7fb9ddbb40ab" /><Relationship Type="http://schemas.openxmlformats.org/officeDocument/2006/relationships/slideMaster" Target="/ppt/slideMasters/slideMaster1.xml" Id="Rf93388ccdcdf4882" /><Relationship Type="http://schemas.openxmlformats.org/officeDocument/2006/relationships/notesMaster" Target="/ppt/notesMasters/notesMaster1.xml" Id="R47950d4933d34d14" /><Relationship Type="http://schemas.openxmlformats.org/officeDocument/2006/relationships/presProps" Target="/ppt/presProps.xml" Id="R6b65f284efb5480c" /><Relationship Type="http://schemas.openxmlformats.org/officeDocument/2006/relationships/tableStyles" Target="/ppt/tableStyles.xml" Id="Rd3dcca65ae6a4781" /><Relationship Type="http://schemas.openxmlformats.org/officeDocument/2006/relationships/slide" Target="/ppt/slides/slide1.xml" Id="R6ae777b7f4b24d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779d88f9de74a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2daf7322a94d3d" /><Relationship Type="http://schemas.openxmlformats.org/officeDocument/2006/relationships/notesMaster" Target="/ppt/notesMasters/notesMaster1.xml" Id="R6253ae557a074c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Camp details supplied by Jotham Martin Wambi. Programme capacity is 15 total places, not remaining availability. Start date to be confirmed. Two in-person sessions at The National ICT Innovation Hub, Nakawa, and one online session per week. Registration is a request for a place. Photo: Kampus Production, https://www.pexels.com/photo/attentive-young-black-groupmates-using-laptop-while-preparing-for-exams-with-anonymous-teacher-5940713/ . Pexels license https://www.pexels.com/license/ . Photo is illustrative stock photography, not a picture of KLAi learners or coaches; no endorsement implied. Icons: Font Awesome Free https://fontawesome.com/license/free . Library logos: Devicon https://devicon.dev/ . QR: https://forms.gle/n8XLwbK1QxcUsRnx5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28b03f1372485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d84d192079482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05caf62583493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854b90a2bc4a0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e4a7b74feb415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0a00cd01be428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628CC00-BA62-46B9-9817-B5ABD5B149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3886200"/>
            <a:ext cx="82296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4E3E376-6BA0-4B2A-8E6A-A416051EEAF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43050" y="5657850"/>
            <a:ext cx="72009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D78A226-7888-4CB4-9F43-7945F800F8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4286250"/>
            <a:ext cx="82296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2917765-7EC8-4E99-ADC0-EE3D00311C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800100"/>
            <a:ext cx="9129713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B7DF337-BDAB-492C-89E2-3591AB29B2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2857500"/>
            <a:ext cx="9129713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1pPr>
            <a:lvl2pPr marL="4500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2pPr>
            <a:lvl3pPr marL="7072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3pPr>
            <a:lvl4pPr marL="9644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4pPr>
            <a:lvl5pPr marL="12215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5pPr>
            <a:lvl6pPr marL="14787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6pPr>
            <a:lvl7pPr marL="17359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7pPr>
            <a:lvl8pPr marL="19931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8pPr>
            <a:lvl9pPr marL="22502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3D5FB4B-4417-4FB3-A69D-708856A2B7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800100"/>
            <a:ext cx="9129713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3C3876A-2B79-4E23-8EAE-C83DB33ED1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2857500"/>
            <a:ext cx="4243388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1pPr>
            <a:lvl2pPr marL="4500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2pPr>
            <a:lvl3pPr marL="7072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3pPr>
            <a:lvl4pPr marL="9644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4pPr>
            <a:lvl5pPr marL="12215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5pPr>
            <a:lvl6pPr marL="14787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6pPr>
            <a:lvl7pPr marL="17359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7pPr>
            <a:lvl8pPr marL="19931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8pPr>
            <a:lvl9pPr marL="22502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00B37A7-476B-4FEA-A7AE-11FA19378FA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464969" y="2857500"/>
            <a:ext cx="4243388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1pPr>
            <a:lvl2pPr marL="4500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2pPr>
            <a:lvl3pPr marL="7072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3pPr>
            <a:lvl4pPr marL="9644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4pPr>
            <a:lvl5pPr marL="12215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5pPr>
            <a:lvl6pPr marL="14787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6pPr>
            <a:lvl7pPr marL="17359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7pPr>
            <a:lvl8pPr marL="19931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8pPr>
            <a:lvl9pPr marL="22502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907214D-7691-4B37-B9C2-C2F18DF223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800100"/>
            <a:ext cx="9129713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135448E-AFE3-4503-8290-555F2C1475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2857500"/>
            <a:ext cx="4243388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1pPr>
            <a:lvl2pPr marL="4500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2pPr>
            <a:lvl3pPr marL="7072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3pPr>
            <a:lvl4pPr marL="9644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4pPr>
            <a:lvl5pPr marL="12215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5pPr>
            <a:lvl6pPr marL="14787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6pPr>
            <a:lvl7pPr marL="17359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7pPr>
            <a:lvl8pPr marL="19931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8pPr>
            <a:lvl9pPr marL="22502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1a7dd5fc284ad6" /><Relationship Type="http://schemas.openxmlformats.org/officeDocument/2006/relationships/slideLayout" Target="/ppt/slideLayouts/slideLayout1.xml" Id="Rcc005f6163bb4e4f" /><Relationship Type="http://schemas.openxmlformats.org/officeDocument/2006/relationships/slideLayout" Target="/ppt/slideLayouts/slideLayout2.xml" Id="R11234f408cf143f9" /><Relationship Type="http://schemas.openxmlformats.org/officeDocument/2006/relationships/slideLayout" Target="/ppt/slideLayouts/slideLayout3.xml" Id="R69e97f9b91a6494f" /><Relationship Type="http://schemas.openxmlformats.org/officeDocument/2006/relationships/slideLayout" Target="/ppt/slideLayouts/slideLayout4.xml" Id="R98192d90ab49446b" /><Relationship Type="http://schemas.openxmlformats.org/officeDocument/2006/relationships/slideLayout" Target="/ppt/slideLayouts/slideLayout5.xml" Id="Rc5ae04d073b64f68" /><Relationship Type="http://schemas.openxmlformats.org/officeDocument/2006/relationships/slideLayout" Target="/ppt/slideLayouts/slideLayout6.xml" Id="R8d295bb1075843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005f6163bb4e4f"/>
    <p:sldLayoutId xmlns:r="http://schemas.openxmlformats.org/officeDocument/2006/relationships" id="2147483650" r:id="R11234f408cf143f9"/>
    <p:sldLayoutId xmlns:r="http://schemas.openxmlformats.org/officeDocument/2006/relationships" id="2147483651" r:id="R69e97f9b91a6494f"/>
    <p:sldLayoutId xmlns:r="http://schemas.openxmlformats.org/officeDocument/2006/relationships" id="2147483652" r:id="R98192d90ab49446b"/>
    <p:sldLayoutId xmlns:r="http://schemas.openxmlformats.org/officeDocument/2006/relationships" id="2147483653" r:id="Rc5ae04d073b64f68"/>
    <p:sldLayoutId xmlns:r="http://schemas.openxmlformats.org/officeDocument/2006/relationships" id="2147483654" r:id="R8d295bb1075843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f64b2e77794c40" /><Relationship Type="http://schemas.openxmlformats.org/officeDocument/2006/relationships/image" Target="/ppt/media/image.jpeg" Id="Re2c236cbfbaf49cf" /><Relationship Type="http://schemas.openxmlformats.org/officeDocument/2006/relationships/image" Target="/ppt/media/image.png" Id="R44b26e897c59413d" /><Relationship Type="http://schemas.openxmlformats.org/officeDocument/2006/relationships/image" Target="/ppt/media/image2.png" Id="R83f5358d79c44a72" /><Relationship Type="http://schemas.openxmlformats.org/officeDocument/2006/relationships/image" Target="/ppt/media/image3.png" Id="Rf362f66f6ab54b08" /><Relationship Type="http://schemas.openxmlformats.org/officeDocument/2006/relationships/image" Target="/ppt/media/image4.png" Id="R8c5fb71eaa7541c3" /><Relationship Type="http://schemas.openxmlformats.org/officeDocument/2006/relationships/image" Target="/ppt/media/image5.png" Id="R7bd613fb41e64815" /><Relationship Type="http://schemas.openxmlformats.org/officeDocument/2006/relationships/image" Target="/ppt/media/image6.png" Id="R377944a05c204c19" /><Relationship Type="http://schemas.openxmlformats.org/officeDocument/2006/relationships/notesSlide" Target="/ppt/notesSlides/notesSlide1.xml" Id="R5c14416175344fa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Registration footer background">
            <a:extLst xmlns:a="http://schemas.openxmlformats.org/drawingml/2006/main">
              <a:ext uri="{FF2B5EF4-FFF2-40B4-BE49-F238E27FC236}">
                <a16:creationId xmlns:a16="http://schemas.microsoft.com/office/drawing/2014/main" id="{5A16DFF0-64BE-41DD-B207-3DF062DC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540"/>
          </a:solidFill>
          <a:ln xmlns:a="http://schemas.openxmlformats.org/drawingml/2006/main" w="0">
            <a:noFill/>
          </a:ln>
        </p:spPr>
      </p:sp>
      <p:sp>
        <p:nvSpPr>
          <p:cNvPr id="2" name="KLAi">
            <a:extLst xmlns:a="http://schemas.openxmlformats.org/drawingml/2006/main">
              <a:ext uri="{FF2B5EF4-FFF2-40B4-BE49-F238E27FC236}">
                <a16:creationId xmlns:a16="http://schemas.microsoft.com/office/drawing/2014/main" id="{6300EE5B-26C7-41CF-9A38-04FFB67EF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409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5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KLAi</a:t>
            </a:r>
          </a:p>
        </p:txBody>
      </p:sp>
      <p:sp>
        <p:nvSpPr>
          <p:cNvPr id="3" name="KAMPALA AI">
            <a:extLst xmlns:a="http://schemas.openxmlformats.org/drawingml/2006/main">
              <a:ext uri="{FF2B5EF4-FFF2-40B4-BE49-F238E27FC236}">
                <a16:creationId xmlns:a16="http://schemas.microsoft.com/office/drawing/2014/main" id="{965A5383-1CDD-4AF9-BE24-89DD4563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095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FDB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DB5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DB55"/>
                </a:solidFill>
                <a:latin typeface="Arial"/>
                <a:ea typeface="Arial"/>
                <a:cs typeface="Arial"/>
              </a:rPr>
              <a:t>KAMPALA AI</a:t>
            </a:r>
          </a:p>
        </p:txBody>
      </p:sp>
      <p:sp>
        <p:nvSpPr>
          <p:cNvPr id="4" name="DECEMBER 2026">
            <a:extLst xmlns:a="http://schemas.openxmlformats.org/drawingml/2006/main">
              <a:ext uri="{FF2B5EF4-FFF2-40B4-BE49-F238E27FC236}">
                <a16:creationId xmlns:a16="http://schemas.microsoft.com/office/drawing/2014/main" id="{32A8DA4B-F6A7-46A1-9189-A273DC85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19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DECEMBER 2026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FBA8BA-AA1B-4C0C-BABE-4A34236894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c236cbfbaf49cf"/>
          <a:srcRect xmlns:a="http://schemas.openxmlformats.org/drawingml/2006/main" l="355" t="0" r="3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0" y="895350"/>
            <a:ext cx="5334000" cy="3581400"/>
          </a:xfrm>
          <a:prstGeom xmlns:a="http://schemas.openxmlformats.org/drawingml/2006/main" prst="rect">
            <a:avLst/>
          </a:prstGeom>
        </p:spPr>
      </p:pic>
      <p:sp>
        <p:nvSpPr>
          <p:cNvPr id="6" name="What will">
            <a:extLst xmlns:a="http://schemas.openxmlformats.org/drawingml/2006/main">
              <a:ext uri="{FF2B5EF4-FFF2-40B4-BE49-F238E27FC236}">
                <a16:creationId xmlns:a16="http://schemas.microsoft.com/office/drawing/2014/main" id="{017E43EB-8640-4F28-8E43-A09DE726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4524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will</a:t>
            </a:r>
          </a:p>
        </p:txBody>
      </p:sp>
      <p:sp>
        <p:nvSpPr>
          <p:cNvPr id="7" name="you build">
            <a:extLst xmlns:a="http://schemas.openxmlformats.org/drawingml/2006/main">
              <a:ext uri="{FF2B5EF4-FFF2-40B4-BE49-F238E27FC236}">
                <a16:creationId xmlns:a16="http://schemas.microsoft.com/office/drawing/2014/main" id="{7F058BCB-4936-4380-AD17-896EFCCB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85950"/>
            <a:ext cx="4524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build</a:t>
            </a:r>
          </a:p>
        </p:txBody>
      </p:sp>
      <p:sp>
        <p:nvSpPr>
          <p:cNvPr id="8" name="this holiday?">
            <a:extLst xmlns:a="http://schemas.openxmlformats.org/drawingml/2006/main">
              <a:ext uri="{FF2B5EF4-FFF2-40B4-BE49-F238E27FC236}">
                <a16:creationId xmlns:a16="http://schemas.microsoft.com/office/drawing/2014/main" id="{871B3BA4-0C47-4F72-8784-97CF413E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19375"/>
            <a:ext cx="4524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5100" b="1">
                <a:solidFill>
                  <a:srgbClr val="FFDB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100" b="1">
                <a:solidFill>
                  <a:srgbClr val="FFDB55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FDB55"/>
                </a:solidFill>
                <a:latin typeface="Arial"/>
                <a:ea typeface="Arial"/>
                <a:cs typeface="Arial"/>
              </a:rPr>
              <a:t>this holiday?</a:t>
            </a:r>
          </a:p>
        </p:txBody>
      </p:sp>
      <p:sp>
        <p:nvSpPr>
          <p:cNvPr id="9" name="No coding experience needed">
            <a:extLst xmlns:a="http://schemas.openxmlformats.org/drawingml/2006/main">
              <a:ext uri="{FF2B5EF4-FFF2-40B4-BE49-F238E27FC236}">
                <a16:creationId xmlns:a16="http://schemas.microsoft.com/office/drawing/2014/main" id="{66262ADB-EC51-4285-9687-A4E4486A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33775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 coding experience needed</a:t>
            </a:r>
          </a:p>
        </p:txBody>
      </p:sp>
      <p:sp>
        <p:nvSpPr>
          <p:cNvPr id="10" name="Light background for library logos">
            <a:extLst xmlns:a="http://schemas.openxmlformats.org/drawingml/2006/main">
              <a:ext uri="{FF2B5EF4-FFF2-40B4-BE49-F238E27FC236}">
                <a16:creationId xmlns:a16="http://schemas.microsoft.com/office/drawing/2014/main" id="{7781742D-17D3-44E7-BF61-576693C0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95725"/>
            <a:ext cx="2619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1"/>
          </a:solidFill>
          <a:ln xmlns:a="http://schemas.openxmlformats.org/drawingml/2006/main" w="0">
            <a:noFill/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0FC85E-40D6-4AD2-B2FB-811897BD46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b26e897c59413d"/>
          <a:stretch xmlns:a="http://schemas.openxmlformats.org/drawingml/2006/main"/>
        </p:blipFill>
        <p:spPr>
          <a:xfrm xmlns:a="http://schemas.openxmlformats.org/drawingml/2006/main">
            <a:off x="609600" y="3971925"/>
            <a:ext cx="361950" cy="361950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95467F-F50F-4E66-BD9F-1B1B0F929A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f5358d79c44a72"/>
          <a:stretch xmlns:a="http://schemas.openxmlformats.org/drawingml/2006/main"/>
        </p:blipFill>
        <p:spPr>
          <a:xfrm xmlns:a="http://schemas.openxmlformats.org/drawingml/2006/main">
            <a:off x="1362075" y="3971925"/>
            <a:ext cx="361950" cy="361950"/>
          </a:xfrm>
          <a:prstGeom xmlns:a="http://schemas.openxmlformats.org/drawingml/2006/main" prst="rect">
            <a:avLst/>
          </a:prstGeom>
        </p:spPr>
      </p:pic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12293B-F6BA-4A56-8F93-F877C29503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62f66f6ab54b08"/>
          <a:stretch xmlns:a="http://schemas.openxmlformats.org/drawingml/2006/main"/>
        </p:blipFill>
        <p:spPr>
          <a:xfrm xmlns:a="http://schemas.openxmlformats.org/drawingml/2006/main">
            <a:off x="2105025" y="3971925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14" name="Illustrative photo: Kampus Production / Pexels">
            <a:extLst xmlns:a="http://schemas.openxmlformats.org/drawingml/2006/main">
              <a:ext uri="{FF2B5EF4-FFF2-40B4-BE49-F238E27FC236}">
                <a16:creationId xmlns:a16="http://schemas.microsoft.com/office/drawing/2014/main" id="{4032B20F-C3ED-4D33-9A05-0ACDFD05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543425"/>
            <a:ext cx="5095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667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775"/>
                </a:solidFill>
                <a:latin typeface="Arial"/>
                <a:ea typeface="Arial"/>
                <a:cs typeface="Arial"/>
              </a:rPr>
              <a:t>Illustrative photo: Kampus Production / Pexels</a:t>
            </a:r>
          </a:p>
        </p:txBody>
      </p:sp>
      <p:sp>
        <p:nvSpPr>
          <p:cNvPr id="15" name="HOLIDAY DATA &amp; AI CAMP">
            <a:extLst xmlns:a="http://schemas.openxmlformats.org/drawingml/2006/main">
              <a:ext uri="{FF2B5EF4-FFF2-40B4-BE49-F238E27FC236}">
                <a16:creationId xmlns:a16="http://schemas.microsoft.com/office/drawing/2014/main" id="{0A267388-DB01-4A1D-A548-C57522A9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05375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HOLIDAY DATA &amp; AI CAMP</a:t>
            </a:r>
          </a:p>
        </p:txBody>
      </p:sp>
      <p:sp>
        <p:nvSpPr>
          <p:cNvPr id="16" name="For students and school leavers">
            <a:extLst xmlns:a="http://schemas.openxmlformats.org/drawingml/2006/main">
              <a:ext uri="{FF2B5EF4-FFF2-40B4-BE49-F238E27FC236}">
                <a16:creationId xmlns:a16="http://schemas.microsoft.com/office/drawing/2014/main" id="{283EDCEB-F30F-4918-B1F3-FA18860B2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67350"/>
            <a:ext cx="937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2540"/>
                </a:solidFill>
                <a:latin typeface="Arial"/>
                <a:ea typeface="Arial"/>
                <a:cs typeface="Arial"/>
              </a:rPr>
              <a:t>For students and school leavers</a:t>
            </a:r>
          </a:p>
        </p:txBody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4D3E19-881E-4172-82CA-8DB7DE7406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5fb71eaa7541c3"/>
          <a:stretch xmlns:a="http://schemas.openxmlformats.org/drawingml/2006/main"/>
        </p:blipFill>
        <p:spPr>
          <a:xfrm xmlns:a="http://schemas.openxmlformats.org/drawingml/2006/main">
            <a:off x="457200" y="61912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18" name="A data project">
            <a:extLst xmlns:a="http://schemas.openxmlformats.org/drawingml/2006/main">
              <a:ext uri="{FF2B5EF4-FFF2-40B4-BE49-F238E27FC236}">
                <a16:creationId xmlns:a16="http://schemas.microsoft.com/office/drawing/2014/main" id="{E820D886-BCBC-4FC2-9C7D-3772E32E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15315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D9B"/>
                </a:solidFill>
                <a:latin typeface="Arial"/>
                <a:ea typeface="Arial"/>
                <a:cs typeface="Arial"/>
              </a:rPr>
              <a:t>A data project</a:t>
            </a:r>
          </a:p>
        </p:txBody>
      </p:sp>
      <p:sp>
        <p:nvSpPr>
          <p:cNvPr id="19" name="Explore real data.">
            <a:extLst xmlns:a="http://schemas.openxmlformats.org/drawingml/2006/main">
              <a:ext uri="{FF2B5EF4-FFF2-40B4-BE49-F238E27FC236}">
                <a16:creationId xmlns:a16="http://schemas.microsoft.com/office/drawing/2014/main" id="{10667212-CDFA-4C23-B1D1-91BFF364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619875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2540"/>
                </a:solidFill>
                <a:latin typeface="Arial"/>
                <a:ea typeface="Arial"/>
                <a:cs typeface="Arial"/>
              </a:rPr>
              <a:t>Explore real data.</a:t>
            </a:r>
          </a:p>
          <a:p xmlns:a="http://schemas.openxmlformats.org/drawingml/2006/main">
            <a:pPr>
              <a:defRPr sz="1875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2540"/>
                </a:solidFill>
                <a:latin typeface="Arial"/>
                <a:ea typeface="Arial"/>
                <a:cs typeface="Arial"/>
              </a:rPr>
              <a:t>Create charts that explain it.</a:t>
            </a:r>
          </a:p>
        </p:txBody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7A4F4D-5B26-4091-AE41-0FAE560668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d613fb41e64815"/>
          <a:stretch xmlns:a="http://schemas.openxmlformats.org/drawingml/2006/main"/>
        </p:blipFill>
        <p:spPr>
          <a:xfrm xmlns:a="http://schemas.openxmlformats.org/drawingml/2006/main">
            <a:off x="5410200" y="61912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21" name="A prediction model">
            <a:extLst xmlns:a="http://schemas.openxmlformats.org/drawingml/2006/main">
              <a:ext uri="{FF2B5EF4-FFF2-40B4-BE49-F238E27FC236}">
                <a16:creationId xmlns:a16="http://schemas.microsoft.com/office/drawing/2014/main" id="{41F80310-6DD2-4195-B2A7-1B4A2CE2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61531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6500B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6500B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500BC"/>
                </a:solidFill>
                <a:latin typeface="Arial"/>
                <a:ea typeface="Arial"/>
                <a:cs typeface="Arial"/>
              </a:rPr>
              <a:t>A prediction model</a:t>
            </a:r>
          </a:p>
        </p:txBody>
      </p:sp>
      <p:sp>
        <p:nvSpPr>
          <p:cNvPr id="22" name="Train a model.">
            <a:extLst xmlns:a="http://schemas.openxmlformats.org/drawingml/2006/main">
              <a:ext uri="{FF2B5EF4-FFF2-40B4-BE49-F238E27FC236}">
                <a16:creationId xmlns:a16="http://schemas.microsoft.com/office/drawing/2014/main" id="{AE73857A-FF4C-4F89-B019-3537D5035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6619875"/>
            <a:ext cx="371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2540"/>
                </a:solidFill>
                <a:latin typeface="Arial"/>
                <a:ea typeface="Arial"/>
                <a:cs typeface="Arial"/>
              </a:rPr>
              <a:t>Train a model.</a:t>
            </a:r>
          </a:p>
          <a:p xmlns:a="http://schemas.openxmlformats.org/drawingml/2006/main">
            <a:pPr>
              <a:defRPr sz="1875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2540"/>
                </a:solidFill>
                <a:latin typeface="Arial"/>
                <a:ea typeface="Arial"/>
                <a:cs typeface="Arial"/>
              </a:rPr>
              <a:t>Test its predictions.</a:t>
            </a:r>
          </a:p>
        </p:txBody>
      </p:sp>
      <p:sp>
        <p:nvSpPr>
          <p:cNvPr id="23" name="8 weeks">
            <a:extLst xmlns:a="http://schemas.openxmlformats.org/drawingml/2006/main">
              <a:ext uri="{FF2B5EF4-FFF2-40B4-BE49-F238E27FC236}">
                <a16:creationId xmlns:a16="http://schemas.microsoft.com/office/drawing/2014/main" id="{15E65917-A40D-403A-8215-2569C9CD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0570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8 weeks</a:t>
            </a:r>
          </a:p>
        </p:txBody>
      </p:sp>
      <p:sp>
        <p:nvSpPr>
          <p:cNvPr id="24" name="Max. 5 learners per group">
            <a:extLst xmlns:a="http://schemas.openxmlformats.org/drawingml/2006/main">
              <a:ext uri="{FF2B5EF4-FFF2-40B4-BE49-F238E27FC236}">
                <a16:creationId xmlns:a16="http://schemas.microsoft.com/office/drawing/2014/main" id="{081CF377-0183-48D5-95ED-0147D4283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7572375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Max. 5 learners per group</a:t>
            </a:r>
          </a:p>
        </p:txBody>
      </p:sp>
      <p:sp>
        <p:nvSpPr>
          <p:cNvPr id="25" name="15 places">
            <a:extLst xmlns:a="http://schemas.openxmlformats.org/drawingml/2006/main">
              <a:ext uri="{FF2B5EF4-FFF2-40B4-BE49-F238E27FC236}">
                <a16:creationId xmlns:a16="http://schemas.microsoft.com/office/drawing/2014/main" id="{0AFABB5C-0529-4004-8E59-3DA6F15E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747712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25" b="1">
                <a:solidFill>
                  <a:srgbClr val="6500B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6500BC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6500BC"/>
                </a:solidFill>
                <a:latin typeface="Arial"/>
                <a:ea typeface="Arial"/>
                <a:cs typeface="Arial"/>
              </a:rPr>
              <a:t>15 places</a:t>
            </a:r>
          </a:p>
        </p:txBody>
      </p:sp>
      <p:sp>
        <p:nvSpPr>
          <p:cNvPr id="26" name="across the programme">
            <a:extLst xmlns:a="http://schemas.openxmlformats.org/drawingml/2006/main">
              <a:ext uri="{FF2B5EF4-FFF2-40B4-BE49-F238E27FC236}">
                <a16:creationId xmlns:a16="http://schemas.microsoft.com/office/drawing/2014/main" id="{0644D6F9-2697-4511-8EC9-3B1A5861D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795337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2540"/>
                </a:solidFill>
                <a:latin typeface="Arial"/>
                <a:ea typeface="Arial"/>
                <a:cs typeface="Arial"/>
              </a:rPr>
              <a:t>across the programme</a:t>
            </a:r>
          </a:p>
        </p:txBody>
      </p:sp>
      <p:sp>
        <p:nvSpPr>
          <p:cNvPr id="27" name="UGX 1,000,000 per learner">
            <a:extLst xmlns:a="http://schemas.openxmlformats.org/drawingml/2006/main">
              <a:ext uri="{FF2B5EF4-FFF2-40B4-BE49-F238E27FC236}">
                <a16:creationId xmlns:a16="http://schemas.microsoft.com/office/drawing/2014/main" id="{2814FF79-D6DA-4E30-9215-AD968768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972425"/>
            <a:ext cx="9286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UGX 1,000,000 per learner</a:t>
            </a:r>
          </a:p>
        </p:txBody>
      </p:sp>
      <p:sp>
        <p:nvSpPr>
          <p:cNvPr id="28" name="Nakawa + online. Windows or Mac laptop required.">
            <a:extLst xmlns:a="http://schemas.openxmlformats.org/drawingml/2006/main">
              <a:ext uri="{FF2B5EF4-FFF2-40B4-BE49-F238E27FC236}">
                <a16:creationId xmlns:a16="http://schemas.microsoft.com/office/drawing/2014/main" id="{98F7243F-90F2-485C-98ED-744E59C3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420100"/>
            <a:ext cx="928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D9B"/>
                </a:solidFill>
                <a:latin typeface="Arial"/>
                <a:ea typeface="Arial"/>
                <a:cs typeface="Arial"/>
              </a:rPr>
              <a:t>Nakawa + online. Windows or Mac laptop required.</a:t>
            </a:r>
          </a:p>
        </p:txBody>
      </p:sp>
      <p:sp>
        <p:nvSpPr>
          <p:cNvPr id="29" name="Registration footer background">
            <a:extLst xmlns:a="http://schemas.openxmlformats.org/drawingml/2006/main">
              <a:ext uri="{FF2B5EF4-FFF2-40B4-BE49-F238E27FC236}">
                <a16:creationId xmlns:a16="http://schemas.microsoft.com/office/drawing/2014/main" id="{570BE611-A28C-4C07-83CC-77A9E360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848725"/>
            <a:ext cx="1028700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540"/>
          </a:solidFill>
          <a:ln xmlns:a="http://schemas.openxmlformats.org/drawingml/2006/main" w="0">
            <a:noFill/>
          </a:ln>
        </p:spPr>
      </p:sp>
      <p:sp>
        <p:nvSpPr>
          <p:cNvPr id="30" name="Register your interest">
            <a:extLst xmlns:a="http://schemas.openxmlformats.org/drawingml/2006/main">
              <a:ext uri="{FF2B5EF4-FFF2-40B4-BE49-F238E27FC236}">
                <a16:creationId xmlns:a16="http://schemas.microsoft.com/office/drawing/2014/main" id="{7C6F0A63-1974-453A-A082-78E640B9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991600"/>
            <a:ext cx="709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FFDB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FFDB5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DB55"/>
                </a:solidFill>
                <a:latin typeface="Arial"/>
                <a:ea typeface="Arial"/>
                <a:cs typeface="Arial"/>
              </a:rPr>
              <a:t>Register your interest</a:t>
            </a:r>
          </a:p>
        </p:txBody>
      </p:sp>
      <p:sp>
        <p:nvSpPr>
          <p:cNvPr id="31" name="forms.gle/n8XLwbK1QxcUsRnx5">
            <a:extLst xmlns:a="http://schemas.openxmlformats.org/drawingml/2006/main">
              <a:ext uri="{FF2B5EF4-FFF2-40B4-BE49-F238E27FC236}">
                <a16:creationId xmlns:a16="http://schemas.microsoft.com/office/drawing/2014/main" id="{43A599FC-97AF-485D-A98F-8AAC10008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467850"/>
            <a:ext cx="723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forms.gle/n8XLwbK1QxcUsRnx5</a:t>
            </a:r>
          </a:p>
        </p:txBody>
      </p:sp>
      <p:sp>
        <p:nvSpPr>
          <p:cNvPr id="32" name="Calls &amp; WhatsApp: +256 750 990 718">
            <a:extLst xmlns:a="http://schemas.openxmlformats.org/drawingml/2006/main">
              <a:ext uri="{FF2B5EF4-FFF2-40B4-BE49-F238E27FC236}">
                <a16:creationId xmlns:a16="http://schemas.microsoft.com/office/drawing/2014/main" id="{7C7E343C-CBA3-42F6-B98B-58299614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94410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Calls &amp; WhatsApp: +256 750 990 718</a:t>
            </a:r>
          </a:p>
        </p:txBody>
      </p:sp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B19463-658A-4574-A3AA-0A829C67D2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7944a05c204c19"/>
          <a:stretch xmlns:a="http://schemas.openxmlformats.org/drawingml/2006/main"/>
        </p:blipFill>
        <p:spPr>
          <a:xfrm xmlns:a="http://schemas.openxmlformats.org/drawingml/2006/main">
            <a:off x="8172450" y="8982075"/>
            <a:ext cx="1190625" cy="1190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909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2026-10-15T07:30:30.6600000Z</dcterms:created>
  <dcterms:modified xsi:type="dcterms:W3CDTF">2026-10-15T07:30:30.6600000Z</dcterms:modified>
</coreProperties>
</file>