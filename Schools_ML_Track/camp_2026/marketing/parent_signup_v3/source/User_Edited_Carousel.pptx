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287000" cy="12858750"/>
  <p:notesSz cx="6858000" cy="9144000"/>
  <p:defaultTextStyle>
    <a:defPPr>
      <a:defRPr lang="en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0548"/>
  </p:normalViewPr>
  <p:slideViewPr>
    <p:cSldViewPr snapToGrid="0">
      <p:cViewPr varScale="1">
        <p:scale>
          <a:sx n="61" d="100"/>
          <a:sy n="61" d="100"/>
        </p:scale>
        <p:origin x="3448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UNESCO: https://www.unesco.org/en/articles/ai-competency-framework-students</a:t>
            </a:r>
          </a:p>
          <a:p>
            <a:r>
              <a:t>OECD: https://www.oecd.org/en/publications/oecd-digital-education-outlook-2026_062a7394-en.html</a:t>
            </a:r>
          </a:p>
          <a:p>
            <a:r>
              <a:t>NCDC: https://ele.ncdc.go.ug/course/section.php?id=9</a:t>
            </a:r>
          </a:p>
          <a:p>
            <a:r>
              <a:t>Icons: Font Awesome, https://fontawesome.com/license/free; Tabler, https://tabler.io/icons. Licenses included. Camp details supplied by Jotham Martin Wambi. No organisational endorsement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UNESCO: https://www.unesco.org/en/articles/ai-competency-framework-students</a:t>
            </a:r>
          </a:p>
          <a:p>
            <a:r>
              <a:t>OECD: https://www.oecd.org/en/publications/oecd-digital-education-outlook-2026_062a7394-en.html</a:t>
            </a:r>
          </a:p>
          <a:p>
            <a:r>
              <a:t>NCDC: https://ele.ncdc.go.ug/course/section.php?id=9</a:t>
            </a:r>
          </a:p>
          <a:p>
            <a:r>
              <a:t>Icons: Font Awesome, https://fontawesome.com/license/free; Tabler, https://tabler.io/icons. Licenses included. Camp details supplied by Jotham Martin Wambi. No organisational endorsement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UNESCO: https://www.unesco.org/en/articles/ai-competency-framework-students</a:t>
            </a:r>
          </a:p>
          <a:p>
            <a:r>
              <a:t>OECD: https://www.oecd.org/en/publications/oecd-digital-education-outlook-2026_062a7394-en.html</a:t>
            </a:r>
          </a:p>
          <a:p>
            <a:r>
              <a:t>NCDC: https://ele.ncdc.go.ug/course/section.php?id=9</a:t>
            </a:r>
          </a:p>
          <a:p>
            <a:r>
              <a:t>Icons: Font Awesome, https://fontawesome.com/license/free; Tabler, https://tabler.io/icons. Licenses included. Camp details supplied by Jotham Martin Wambi. No organisational endorsement implied.</a:t>
            </a:r>
          </a:p>
          <a:p>
            <a:r>
              <a:t>Actual screenshot of https://scikit-learn.org/stable/_images/sphx_glr_plot_classification_001.png from https://scikit-learn.org/stable/auto_examples/neighbors/plot_classification.html . Copyright scikit-learn developers, BSD-3-Clause. Screenshot unchanged apart from fitting to slide. Dataset: https://archive.ics.uci.edu/dataset/53/iris . This external example is illustrative and is not a promised exact camp project or learner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UNESCO: https://www.unesco.org/en/articles/ai-competency-framework-students</a:t>
            </a:r>
          </a:p>
          <a:p>
            <a:r>
              <a:t>OECD: https://www.oecd.org/en/publications/oecd-digital-education-outlook-2026_062a7394-en.html</a:t>
            </a:r>
          </a:p>
          <a:p>
            <a:r>
              <a:t>NCDC: https://ele.ncdc.go.ug/course/section.php?id=9</a:t>
            </a:r>
          </a:p>
          <a:p>
            <a:r>
              <a:t>Icons: Font Awesome, https://fontawesome.com/license/free; Tabler, https://tabler.io/icons. Licenses included. Camp details supplied by Jotham Martin Wambi. No organisational endorsement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UNESCO: https://www.unesco.org/en/articles/ai-competency-framework-students</a:t>
            </a:r>
          </a:p>
          <a:p>
            <a:r>
              <a:t>OECD: https://www.oecd.org/en/publications/oecd-digital-education-outlook-2026_062a7394-en.html</a:t>
            </a:r>
          </a:p>
          <a:p>
            <a:r>
              <a:t>NCDC: https://ele.ncdc.go.ug/course/section.php?id=9</a:t>
            </a:r>
          </a:p>
          <a:p>
            <a:r>
              <a:t>Icons: Font Awesome, https://fontawesome.com/license/free; Tabler, https://tabler.io/icons. Licenses included. Camp details supplied by Jotham Martin Wambi. No organisational endorsement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UNESCO: https://www.unesco.org/en/articles/ai-competency-framework-students</a:t>
            </a:r>
          </a:p>
          <a:p>
            <a:r>
              <a:t>OECD: https://www.oecd.org/en/publications/oecd-digital-education-outlook-2026_062a7394-en.html</a:t>
            </a:r>
          </a:p>
          <a:p>
            <a:r>
              <a:t>NCDC: https://ele.ncdc.go.ug/course/section.php?id=9</a:t>
            </a:r>
          </a:p>
          <a:p>
            <a:r>
              <a:t>Icons: Font Awesome, https://fontawesome.com/license/free; Tabler, https://tabler.io/icons. Licenses included. Camp details supplied by Jotham Martin Wambi. No organisational endorsement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UNESCO: https://www.unesco.org/en/articles/ai-competency-framework-students</a:t>
            </a:r>
          </a:p>
          <a:p>
            <a:r>
              <a:t>OECD: https://www.oecd.org/en/publications/oecd-digital-education-outlook-2026_062a7394-en.html</a:t>
            </a:r>
          </a:p>
          <a:p>
            <a:r>
              <a:t>NCDC: https://ele.ncdc.go.ug/course/section.php?id=9</a:t>
            </a:r>
          </a:p>
          <a:p>
            <a:r>
              <a:t>Icons: Font Awesome, https://fontawesome.com/license/free; Tabler, https://tabler.io/icons. Licenses included. Camp details supplied by Jotham Martin Wambi. No organisational endorsement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FB8D19E-A522-4141-8A60-2AC4DB602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4857750"/>
            <a:ext cx="8229600" cy="1857375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DC301557-A155-4E10-A118-5777A040AB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3050" y="7072313"/>
            <a:ext cx="7200900" cy="1428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3660A65-903F-435A-A55B-72F771983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5357813"/>
            <a:ext cx="8229600" cy="2143125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19ABFF5-1980-466A-A339-460470F78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644" y="1000125"/>
            <a:ext cx="9129713" cy="1571625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8277851-224E-42E4-858C-C6E558DF7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8644" y="3571875"/>
            <a:ext cx="9129713" cy="8001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0BBA640-5BF9-406C-AEAA-67632A3AB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644" y="1000125"/>
            <a:ext cx="9129713" cy="1571625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6F671F7-3252-460F-915D-A59CD72F1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8644" y="3571875"/>
            <a:ext cx="4243388" cy="8001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AE4E26D9-922E-41FD-A68A-7BEF1744021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464969" y="3571875"/>
            <a:ext cx="4243388" cy="8001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5594B25-BF6A-42F7-BD67-051E05283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644" y="1000125"/>
            <a:ext cx="9129713" cy="1571625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7BAF8BD-F15F-467F-A37B-9A239BA31F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8644" y="3571875"/>
            <a:ext cx="4243388" cy="8001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02A79F1-B619-4A29-8978-49ED51FAA8AA}"/>
              </a:ext>
            </a:extLst>
          </p:cNvPr>
          <p:cNvSpPr>
            <a:spLocks noGrp="1"/>
          </p:cNvSpPr>
          <p:nvPr/>
        </p:nvSpPr>
        <p:spPr>
          <a:xfrm>
            <a:off x="609600" y="523875"/>
            <a:ext cx="63817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75" b="1">
                <a:solidFill>
                  <a:srgbClr val="96DAE9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1">
                <a:solidFill>
                  <a:srgbClr val="96DAE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96DAE9"/>
                </a:solidFill>
                <a:latin typeface="Arial"/>
                <a:ea typeface="Arial"/>
                <a:cs typeface="Arial"/>
              </a:rPr>
              <a:t>SCHOOL TRACK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174029-E206-419E-B6D8-31BFB3B37CB6}"/>
              </a:ext>
            </a:extLst>
          </p:cNvPr>
          <p:cNvSpPr>
            <a:spLocks noGrp="1"/>
          </p:cNvSpPr>
          <p:nvPr/>
        </p:nvSpPr>
        <p:spPr>
          <a:xfrm>
            <a:off x="8724900" y="523875"/>
            <a:ext cx="11430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75" b="0">
                <a:solidFill>
                  <a:srgbClr val="96DAE9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96DAE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96DAE9"/>
                </a:solidFill>
                <a:latin typeface="Arial"/>
                <a:ea typeface="Arial"/>
                <a:cs typeface="Arial"/>
              </a:rPr>
              <a:t>1 / 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F6CBB3-BDDD-4405-8A4F-F0CBFC2521C5}"/>
              </a:ext>
            </a:extLst>
          </p:cNvPr>
          <p:cNvSpPr>
            <a:spLocks noGrp="1"/>
          </p:cNvSpPr>
          <p:nvPr/>
        </p:nvSpPr>
        <p:spPr>
          <a:xfrm>
            <a:off x="609600" y="1009650"/>
            <a:ext cx="85725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725" b="0">
                <a:solidFill>
                  <a:srgbClr val="96DAE9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725" b="0">
                <a:solidFill>
                  <a:srgbClr val="96DAE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6DAE9"/>
                </a:solidFill>
                <a:latin typeface="Arial"/>
                <a:ea typeface="Arial"/>
                <a:cs typeface="Arial"/>
              </a:rPr>
              <a:t>FOR PARENTS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23D3DB-4ACE-4047-8093-11465B75F349}"/>
              </a:ext>
            </a:extLst>
          </p:cNvPr>
          <p:cNvSpPr>
            <a:spLocks noGrp="1"/>
          </p:cNvSpPr>
          <p:nvPr/>
        </p:nvSpPr>
        <p:spPr>
          <a:xfrm>
            <a:off x="609600" y="11963400"/>
            <a:ext cx="71437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HOLIDAY DATA &amp; AI CAMP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4309C5-DB2A-473E-AA48-E1CBA700DFBD}"/>
              </a:ext>
            </a:extLst>
          </p:cNvPr>
          <p:cNvSpPr>
            <a:spLocks noGrp="1"/>
          </p:cNvSpPr>
          <p:nvPr/>
        </p:nvSpPr>
        <p:spPr>
          <a:xfrm>
            <a:off x="8134350" y="11963400"/>
            <a:ext cx="18097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DEBF42-74D0-4A6F-9CE2-0DE4E7457BBE}"/>
              </a:ext>
            </a:extLst>
          </p:cNvPr>
          <p:cNvSpPr>
            <a:spLocks noGrp="1"/>
          </p:cNvSpPr>
          <p:nvPr/>
        </p:nvSpPr>
        <p:spPr>
          <a:xfrm>
            <a:off x="609600" y="2162175"/>
            <a:ext cx="90678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5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This holiday,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B7528C-6B9D-4D7C-A3EE-1BE24239BE7A}"/>
              </a:ext>
            </a:extLst>
          </p:cNvPr>
          <p:cNvSpPr>
            <a:spLocks noGrp="1"/>
          </p:cNvSpPr>
          <p:nvPr/>
        </p:nvSpPr>
        <p:spPr>
          <a:xfrm>
            <a:off x="609600" y="3629025"/>
            <a:ext cx="9067800" cy="342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6300" b="1">
                <a:solidFill>
                  <a:srgbClr val="FFDA49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6300" b="1">
                <a:solidFill>
                  <a:srgbClr val="FFDA49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FFDA49"/>
                </a:solidFill>
                <a:latin typeface="Arial"/>
                <a:ea typeface="Arial"/>
                <a:cs typeface="Arial"/>
              </a:rPr>
              <a:t>your child could</a:t>
            </a:r>
          </a:p>
          <a:p>
            <a:pPr>
              <a:defRPr sz="6300" b="1">
                <a:solidFill>
                  <a:srgbClr val="FFDA49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FFDA49"/>
                </a:solidFill>
                <a:latin typeface="Arial"/>
                <a:ea typeface="Arial"/>
                <a:cs typeface="Arial"/>
              </a:rPr>
              <a:t>build their first</a:t>
            </a:r>
          </a:p>
          <a:p>
            <a:pPr>
              <a:defRPr sz="6300" b="1">
                <a:solidFill>
                  <a:srgbClr val="FFDA49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FFDA49"/>
                </a:solidFill>
                <a:latin typeface="Arial"/>
                <a:ea typeface="Arial"/>
                <a:cs typeface="Arial"/>
              </a:rPr>
              <a:t>data project.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E44EEB-715B-4BAA-A882-C474DA117AA9}"/>
              </a:ext>
            </a:extLst>
          </p:cNvPr>
          <p:cNvSpPr>
            <a:spLocks noGrp="1"/>
          </p:cNvSpPr>
          <p:nvPr/>
        </p:nvSpPr>
        <p:spPr>
          <a:xfrm>
            <a:off x="609600" y="8124825"/>
            <a:ext cx="9067800" cy="1162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31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1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guided start in Data Analysis</a:t>
            </a:r>
          </a:p>
          <a:p>
            <a:pPr>
              <a:defRPr sz="31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Machine Learning.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8BD191-D684-41D3-AF98-9E79165C8EE5}"/>
              </a:ext>
            </a:extLst>
          </p:cNvPr>
          <p:cNvSpPr>
            <a:spLocks noGrp="1"/>
          </p:cNvSpPr>
          <p:nvPr/>
        </p:nvSpPr>
        <p:spPr>
          <a:xfrm>
            <a:off x="609600" y="9925050"/>
            <a:ext cx="9067800" cy="1028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850" b="1">
                <a:solidFill>
                  <a:srgbClr val="BFEAF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850" b="1">
                <a:solidFill>
                  <a:srgbClr val="BFEAF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BFEAF3"/>
                </a:solidFill>
                <a:latin typeface="Arial"/>
                <a:ea typeface="Arial"/>
                <a:cs typeface="Arial"/>
              </a:rPr>
              <a:t>For S.4, S.5 &amp; S.6 students</a:t>
            </a:r>
          </a:p>
          <a:p>
            <a:pPr>
              <a:defRPr sz="2850" b="1">
                <a:solidFill>
                  <a:srgbClr val="BFEAF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BFEAF3"/>
                </a:solidFill>
                <a:latin typeface="Arial"/>
                <a:ea typeface="Arial"/>
                <a:cs typeface="Arial"/>
              </a:rPr>
              <a:t>and school leavers</a:t>
            </a:r>
          </a:p>
        </p:txBody>
      </p:sp>
    </p:spTree>
    <p:extLst>
      <p:ext uri="{BB962C8B-B14F-4D97-AF65-F5344CB8AC3E}">
        <p14:creationId xmlns:p14="http://schemas.microsoft.com/office/powerpoint/2010/main" val="469486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9FEC51C-D209-4332-9BCF-60B6325A647A}"/>
              </a:ext>
            </a:extLst>
          </p:cNvPr>
          <p:cNvSpPr>
            <a:spLocks noGrp="1"/>
          </p:cNvSpPr>
          <p:nvPr/>
        </p:nvSpPr>
        <p:spPr>
          <a:xfrm>
            <a:off x="609600" y="523875"/>
            <a:ext cx="63817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D9B"/>
                </a:solidFill>
                <a:latin typeface="Arial"/>
                <a:ea typeface="Arial"/>
                <a:cs typeface="Arial"/>
              </a:rPr>
              <a:t>SCHOOL TRACK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0737FE-DB0A-4C37-A157-B78C994ACD5A}"/>
              </a:ext>
            </a:extLst>
          </p:cNvPr>
          <p:cNvSpPr>
            <a:spLocks noGrp="1"/>
          </p:cNvSpPr>
          <p:nvPr/>
        </p:nvSpPr>
        <p:spPr>
          <a:xfrm>
            <a:off x="8724900" y="523875"/>
            <a:ext cx="11430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2 / 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650B91-40EF-450B-9DEC-7D055D2235A5}"/>
              </a:ext>
            </a:extLst>
          </p:cNvPr>
          <p:cNvSpPr>
            <a:spLocks noGrp="1"/>
          </p:cNvSpPr>
          <p:nvPr/>
        </p:nvSpPr>
        <p:spPr>
          <a:xfrm>
            <a:off x="609600" y="1009650"/>
            <a:ext cx="85725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72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72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WHY START BEFORE UNIVERSITY?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F93A2C-6B2E-47C8-BE8F-9F0FAFFF19EB}"/>
              </a:ext>
            </a:extLst>
          </p:cNvPr>
          <p:cNvSpPr>
            <a:spLocks noGrp="1"/>
          </p:cNvSpPr>
          <p:nvPr/>
        </p:nvSpPr>
        <p:spPr>
          <a:xfrm>
            <a:off x="609600" y="11963400"/>
            <a:ext cx="71437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HOLIDAY DATA &amp; AI CAMP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8B30D9-01D5-4A69-9982-E2886E3F5677}"/>
              </a:ext>
            </a:extLst>
          </p:cNvPr>
          <p:cNvSpPr>
            <a:spLocks noGrp="1"/>
          </p:cNvSpPr>
          <p:nvPr/>
        </p:nvSpPr>
        <p:spPr>
          <a:xfrm>
            <a:off x="8134350" y="11963400"/>
            <a:ext cx="18097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DEC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5C7755-881B-4B3E-8F75-C9E2FCF4907F}"/>
              </a:ext>
            </a:extLst>
          </p:cNvPr>
          <p:cNvSpPr>
            <a:spLocks noGrp="1"/>
          </p:cNvSpPr>
          <p:nvPr/>
        </p:nvSpPr>
        <p:spPr>
          <a:xfrm>
            <a:off x="609600" y="2019300"/>
            <a:ext cx="9067800" cy="2019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70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570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Give curiosity</a:t>
            </a:r>
          </a:p>
          <a:p>
            <a:pPr>
              <a:defRPr sz="570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a practical outlet.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C4FEA4-E545-499F-BE40-7D04B1B82A57}"/>
              </a:ext>
            </a:extLst>
          </p:cNvPr>
          <p:cNvSpPr>
            <a:spLocks noGrp="1"/>
          </p:cNvSpPr>
          <p:nvPr/>
        </p:nvSpPr>
        <p:spPr>
          <a:xfrm>
            <a:off x="609600" y="4581525"/>
            <a:ext cx="9067800" cy="1095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3000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000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Help your learner practise skills</a:t>
            </a:r>
          </a:p>
          <a:p>
            <a:pPr>
              <a:defRPr sz="3000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they can use across subjects.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2E0085-8116-4AA4-BD56-3F272F040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0202" y="6524625"/>
            <a:ext cx="708422" cy="80962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164948B-9CB7-471A-9D44-F2AA8FF793B0}"/>
              </a:ext>
            </a:extLst>
          </p:cNvPr>
          <p:cNvSpPr>
            <a:spLocks noGrp="1"/>
          </p:cNvSpPr>
          <p:nvPr/>
        </p:nvSpPr>
        <p:spPr>
          <a:xfrm>
            <a:off x="1800225" y="6648450"/>
            <a:ext cx="7743825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315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15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Work with real datasets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2E7002A-A715-4754-8D94-1A9AD3C869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09600" y="7953375"/>
            <a:ext cx="809625" cy="80962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4F213C3-FAF1-4B1A-B80F-F568C30A5969}"/>
              </a:ext>
            </a:extLst>
          </p:cNvPr>
          <p:cNvSpPr>
            <a:spLocks noGrp="1"/>
          </p:cNvSpPr>
          <p:nvPr/>
        </p:nvSpPr>
        <p:spPr>
          <a:xfrm>
            <a:off x="1800225" y="8077200"/>
            <a:ext cx="7743825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30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0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Explain what the numbers show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868C459-3796-44D3-B2FE-FF99B2EC70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09600" y="9382125"/>
            <a:ext cx="809625" cy="80962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AB5BA9B-0E8B-4336-8ED3-9C9B12308F03}"/>
              </a:ext>
            </a:extLst>
          </p:cNvPr>
          <p:cNvSpPr>
            <a:spLocks noGrp="1"/>
          </p:cNvSpPr>
          <p:nvPr/>
        </p:nvSpPr>
        <p:spPr>
          <a:xfrm>
            <a:off x="1800225" y="9505950"/>
            <a:ext cx="7743825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30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0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Question AI-generated answers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64CC2D-723F-4505-A886-B80B58BF8D09}"/>
              </a:ext>
            </a:extLst>
          </p:cNvPr>
          <p:cNvSpPr>
            <a:spLocks noGrp="1"/>
          </p:cNvSpPr>
          <p:nvPr/>
        </p:nvSpPr>
        <p:spPr>
          <a:xfrm>
            <a:off x="609600" y="11087100"/>
            <a:ext cx="906780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An opportunity to explore their interests early.</a:t>
            </a:r>
          </a:p>
        </p:txBody>
      </p:sp>
    </p:spTree>
    <p:extLst>
      <p:ext uri="{BB962C8B-B14F-4D97-AF65-F5344CB8AC3E}">
        <p14:creationId xmlns:p14="http://schemas.microsoft.com/office/powerpoint/2010/main" val="263757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C393787-334F-41C1-B35E-24F841B75923}"/>
              </a:ext>
            </a:extLst>
          </p:cNvPr>
          <p:cNvSpPr>
            <a:spLocks noGrp="1"/>
          </p:cNvSpPr>
          <p:nvPr/>
        </p:nvSpPr>
        <p:spPr>
          <a:xfrm>
            <a:off x="609600" y="523875"/>
            <a:ext cx="63817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D9B"/>
                </a:solidFill>
                <a:latin typeface="Arial"/>
                <a:ea typeface="Arial"/>
                <a:cs typeface="Arial"/>
              </a:rPr>
              <a:t>SCHOOL TRACK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CA8979-7A47-411C-8389-393091A4FDDE}"/>
              </a:ext>
            </a:extLst>
          </p:cNvPr>
          <p:cNvSpPr>
            <a:spLocks noGrp="1"/>
          </p:cNvSpPr>
          <p:nvPr/>
        </p:nvSpPr>
        <p:spPr>
          <a:xfrm>
            <a:off x="8724900" y="523875"/>
            <a:ext cx="11430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3 / 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4A1214-F560-4472-B59A-DF4306B6DAC0}"/>
              </a:ext>
            </a:extLst>
          </p:cNvPr>
          <p:cNvSpPr>
            <a:spLocks noGrp="1"/>
          </p:cNvSpPr>
          <p:nvPr/>
        </p:nvSpPr>
        <p:spPr>
          <a:xfrm>
            <a:off x="609600" y="1009650"/>
            <a:ext cx="85725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72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72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A REAL PUBLIC DEMONSTRATION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492A74-E5DD-43E8-865D-B006AFDBE826}"/>
              </a:ext>
            </a:extLst>
          </p:cNvPr>
          <p:cNvSpPr>
            <a:spLocks noGrp="1"/>
          </p:cNvSpPr>
          <p:nvPr/>
        </p:nvSpPr>
        <p:spPr>
          <a:xfrm>
            <a:off x="609600" y="11963400"/>
            <a:ext cx="71437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HOLIDAY DATA &amp; AI CAMP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EACED2-3E0C-4C16-ACDC-889D48CC9FF8}"/>
              </a:ext>
            </a:extLst>
          </p:cNvPr>
          <p:cNvSpPr>
            <a:spLocks noGrp="1"/>
          </p:cNvSpPr>
          <p:nvPr/>
        </p:nvSpPr>
        <p:spPr>
          <a:xfrm>
            <a:off x="8134350" y="11963400"/>
            <a:ext cx="18097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DEC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1C9824-28C6-4965-9F93-CC589BEAC00E}"/>
              </a:ext>
            </a:extLst>
          </p:cNvPr>
          <p:cNvSpPr>
            <a:spLocks noGrp="1"/>
          </p:cNvSpPr>
          <p:nvPr/>
        </p:nvSpPr>
        <p:spPr>
          <a:xfrm>
            <a:off x="609600" y="1876425"/>
            <a:ext cx="9067800" cy="1838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4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54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Can a computer</a:t>
            </a:r>
          </a:p>
          <a:p>
            <a:pPr>
              <a:defRPr sz="54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identify a flower?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697003-C693-424A-ADAB-AED637B6267E}"/>
              </a:ext>
            </a:extLst>
          </p:cNvPr>
          <p:cNvSpPr>
            <a:spLocks noGrp="1"/>
          </p:cNvSpPr>
          <p:nvPr/>
        </p:nvSpPr>
        <p:spPr>
          <a:xfrm>
            <a:off x="609600" y="4076700"/>
            <a:ext cx="9067800" cy="1028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7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7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This example predicts the flower type</a:t>
            </a:r>
          </a:p>
          <a:p>
            <a:pPr>
              <a:defRPr sz="27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using measurements from the Iris dataset.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780720-E4C7-4324-AD93-88A3E3BFB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" y="5734050"/>
            <a:ext cx="9372600" cy="39052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B3F7405-D3B6-4696-8239-08D4A2086185}"/>
              </a:ext>
            </a:extLst>
          </p:cNvPr>
          <p:cNvSpPr>
            <a:spLocks noGrp="1"/>
          </p:cNvSpPr>
          <p:nvPr/>
        </p:nvSpPr>
        <p:spPr>
          <a:xfrm>
            <a:off x="609600" y="10020300"/>
            <a:ext cx="90678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Dots: measured flowers. Colours: model predictions.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2A9B36-59E1-463B-BFF9-33F034495043}"/>
              </a:ext>
            </a:extLst>
          </p:cNvPr>
          <p:cNvSpPr>
            <a:spLocks noGrp="1"/>
          </p:cNvSpPr>
          <p:nvPr/>
        </p:nvSpPr>
        <p:spPr>
          <a:xfrm>
            <a:off x="609600" y="10829925"/>
            <a:ext cx="90678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007D9B"/>
                </a:solidFill>
                <a:latin typeface="Arial"/>
                <a:ea typeface="Arial"/>
                <a:cs typeface="Arial"/>
              </a:rPr>
              <a:t>Published scikit-learn example using the UCI Iris dataset.</a:t>
            </a:r>
          </a:p>
        </p:txBody>
      </p:sp>
    </p:spTree>
    <p:extLst>
      <p:ext uri="{BB962C8B-B14F-4D97-AF65-F5344CB8AC3E}">
        <p14:creationId xmlns:p14="http://schemas.microsoft.com/office/powerpoint/2010/main" val="1495205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59C6B74-C8BF-4E7D-99B4-00D5A3CD9B6E}"/>
              </a:ext>
            </a:extLst>
          </p:cNvPr>
          <p:cNvSpPr>
            <a:spLocks noGrp="1"/>
          </p:cNvSpPr>
          <p:nvPr/>
        </p:nvSpPr>
        <p:spPr>
          <a:xfrm>
            <a:off x="609600" y="523875"/>
            <a:ext cx="63817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D9B"/>
                </a:solidFill>
                <a:latin typeface="Arial"/>
                <a:ea typeface="Arial"/>
                <a:cs typeface="Arial"/>
              </a:rPr>
              <a:t>SCHOOL TRACK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14A571-4929-4F6F-9F56-E46CF90CBF17}"/>
              </a:ext>
            </a:extLst>
          </p:cNvPr>
          <p:cNvSpPr>
            <a:spLocks noGrp="1"/>
          </p:cNvSpPr>
          <p:nvPr/>
        </p:nvSpPr>
        <p:spPr>
          <a:xfrm>
            <a:off x="8724900" y="523875"/>
            <a:ext cx="11430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4 / 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BB122D-CF2A-4B32-904A-EDCD38452B78}"/>
              </a:ext>
            </a:extLst>
          </p:cNvPr>
          <p:cNvSpPr>
            <a:spLocks noGrp="1"/>
          </p:cNvSpPr>
          <p:nvPr/>
        </p:nvSpPr>
        <p:spPr>
          <a:xfrm>
            <a:off x="609600" y="1009650"/>
            <a:ext cx="85725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72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72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WHAT YOUR CHILD WILL BUILD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A7B55E-5C4C-4D3B-91C2-50AE45B4BA7B}"/>
              </a:ext>
            </a:extLst>
          </p:cNvPr>
          <p:cNvSpPr>
            <a:spLocks noGrp="1"/>
          </p:cNvSpPr>
          <p:nvPr/>
        </p:nvSpPr>
        <p:spPr>
          <a:xfrm>
            <a:off x="609600" y="11963400"/>
            <a:ext cx="71437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HOLIDAY DATA &amp; AI CAMP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B1A55A-EA0A-455F-BB3C-91BD34162DE6}"/>
              </a:ext>
            </a:extLst>
          </p:cNvPr>
          <p:cNvSpPr>
            <a:spLocks noGrp="1"/>
          </p:cNvSpPr>
          <p:nvPr/>
        </p:nvSpPr>
        <p:spPr>
          <a:xfrm>
            <a:off x="8134350" y="11963400"/>
            <a:ext cx="18097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DEC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052BDB-D7BD-408E-AE35-00E57ABC9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2032873"/>
            <a:ext cx="1257300" cy="111585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30DD7A7-F9E4-4DAC-8423-85F50676A262}"/>
              </a:ext>
            </a:extLst>
          </p:cNvPr>
          <p:cNvSpPr>
            <a:spLocks noGrp="1"/>
          </p:cNvSpPr>
          <p:nvPr/>
        </p:nvSpPr>
        <p:spPr>
          <a:xfrm>
            <a:off x="609600" y="3705225"/>
            <a:ext cx="9067800" cy="1952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40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540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A project to show.</a:t>
            </a:r>
          </a:p>
          <a:p>
            <a:pPr>
              <a:defRPr sz="540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Findings to explain.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704F36-D365-4CB4-86E4-50F5547F9096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90678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4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7D9B"/>
                </a:solidFill>
                <a:latin typeface="Arial"/>
                <a:ea typeface="Arial"/>
                <a:cs typeface="Arial"/>
              </a:rPr>
              <a:t>DATA ANALYSIS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B4C71A-3ADE-4E4E-9E57-C459AC5CE373}"/>
              </a:ext>
            </a:extLst>
          </p:cNvPr>
          <p:cNvSpPr>
            <a:spLocks noGrp="1"/>
          </p:cNvSpPr>
          <p:nvPr/>
        </p:nvSpPr>
        <p:spPr>
          <a:xfrm>
            <a:off x="609600" y="7086600"/>
            <a:ext cx="9067800" cy="1123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3000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000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Analyse a dataset, create clear charts</a:t>
            </a:r>
          </a:p>
          <a:p>
            <a:pPr>
              <a:defRPr sz="3000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and present a portfolio project.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01BEE5-EE6B-4288-A18F-77CCB0F67B0D}"/>
              </a:ext>
            </a:extLst>
          </p:cNvPr>
          <p:cNvSpPr>
            <a:spLocks noGrp="1"/>
          </p:cNvSpPr>
          <p:nvPr/>
        </p:nvSpPr>
        <p:spPr>
          <a:xfrm>
            <a:off x="609600" y="8858250"/>
            <a:ext cx="90678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475" b="1">
                <a:solidFill>
                  <a:srgbClr val="6500B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75" b="1">
                <a:solidFill>
                  <a:srgbClr val="6500BC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6500BC"/>
                </a:solidFill>
                <a:latin typeface="Arial"/>
                <a:ea typeface="Arial"/>
                <a:cs typeface="Arial"/>
              </a:rPr>
              <a:t>MACHINE LEARNING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1166DE-A834-4713-AA79-186011EC39CE}"/>
              </a:ext>
            </a:extLst>
          </p:cNvPr>
          <p:cNvSpPr>
            <a:spLocks noGrp="1"/>
          </p:cNvSpPr>
          <p:nvPr/>
        </p:nvSpPr>
        <p:spPr>
          <a:xfrm>
            <a:off x="609600" y="9525000"/>
            <a:ext cx="9067800" cy="1133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3000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000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Build a prediction model, test it</a:t>
            </a:r>
          </a:p>
          <a:p>
            <a:pPr>
              <a:defRPr sz="3000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and explain where it makes mistakes.</a:t>
            </a:r>
          </a:p>
        </p:txBody>
      </p:sp>
    </p:spTree>
    <p:extLst>
      <p:ext uri="{BB962C8B-B14F-4D97-AF65-F5344CB8AC3E}">
        <p14:creationId xmlns:p14="http://schemas.microsoft.com/office/powerpoint/2010/main" val="391286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4EFC167-72F9-43E1-9FB8-F97B4EE0A8C6}"/>
              </a:ext>
            </a:extLst>
          </p:cNvPr>
          <p:cNvSpPr>
            <a:spLocks noGrp="1"/>
          </p:cNvSpPr>
          <p:nvPr/>
        </p:nvSpPr>
        <p:spPr>
          <a:xfrm>
            <a:off x="609600" y="523875"/>
            <a:ext cx="63817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D9B"/>
                </a:solidFill>
                <a:latin typeface="Arial"/>
                <a:ea typeface="Arial"/>
                <a:cs typeface="Arial"/>
              </a:rPr>
              <a:t>SCHOOL TRACK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854774-AF59-448A-8630-E827AD4CD6C1}"/>
              </a:ext>
            </a:extLst>
          </p:cNvPr>
          <p:cNvSpPr>
            <a:spLocks noGrp="1"/>
          </p:cNvSpPr>
          <p:nvPr/>
        </p:nvSpPr>
        <p:spPr>
          <a:xfrm>
            <a:off x="8724900" y="523875"/>
            <a:ext cx="11430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5 / 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0241F1-EB57-4BC7-A391-3AE5789CD6FC}"/>
              </a:ext>
            </a:extLst>
          </p:cNvPr>
          <p:cNvSpPr>
            <a:spLocks noGrp="1"/>
          </p:cNvSpPr>
          <p:nvPr/>
        </p:nvSpPr>
        <p:spPr>
          <a:xfrm>
            <a:off x="609600" y="1009650"/>
            <a:ext cx="85725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72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72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GUIDANCE YOU CAN ASK ABOUT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94A5B4-7828-4005-9B18-712B605E9330}"/>
              </a:ext>
            </a:extLst>
          </p:cNvPr>
          <p:cNvSpPr>
            <a:spLocks noGrp="1"/>
          </p:cNvSpPr>
          <p:nvPr/>
        </p:nvSpPr>
        <p:spPr>
          <a:xfrm>
            <a:off x="609600" y="11963400"/>
            <a:ext cx="71437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HOLIDAY DATA &amp; AI CAMP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F4A7ED-6142-4501-BFA7-0250A09BC58F}"/>
              </a:ext>
            </a:extLst>
          </p:cNvPr>
          <p:cNvSpPr>
            <a:spLocks noGrp="1"/>
          </p:cNvSpPr>
          <p:nvPr/>
        </p:nvSpPr>
        <p:spPr>
          <a:xfrm>
            <a:off x="8134350" y="11963400"/>
            <a:ext cx="18097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DEC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345FB8-E927-4EED-9CB8-5EA43962F9A7}"/>
              </a:ext>
            </a:extLst>
          </p:cNvPr>
          <p:cNvSpPr>
            <a:spLocks noGrp="1"/>
          </p:cNvSpPr>
          <p:nvPr/>
        </p:nvSpPr>
        <p:spPr>
          <a:xfrm>
            <a:off x="609600" y="1905000"/>
            <a:ext cx="9067800" cy="1962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62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562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562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A guided start.</a:t>
            </a:r>
          </a:p>
          <a:p>
            <a:pPr>
              <a:defRPr sz="562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562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A small group.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4C1971-6D61-4711-A99A-D3FDA52D658C}"/>
              </a:ext>
            </a:extLst>
          </p:cNvPr>
          <p:cNvSpPr>
            <a:spLocks noGrp="1"/>
          </p:cNvSpPr>
          <p:nvPr/>
        </p:nvSpPr>
        <p:spPr>
          <a:xfrm>
            <a:off x="609600" y="4438650"/>
            <a:ext cx="9067800" cy="1104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30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0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307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No coding experience needed.</a:t>
            </a:r>
          </a:p>
          <a:p>
            <a:pPr>
              <a:defRPr sz="30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307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Begin with Python programming basics.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97D615-1298-4B29-AD4D-B47ACDE4757A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906780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345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45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Maximum 5 learners per group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07B95E-7EC0-4436-983C-2804C3866409}"/>
              </a:ext>
            </a:extLst>
          </p:cNvPr>
          <p:cNvSpPr>
            <a:spLocks noGrp="1"/>
          </p:cNvSpPr>
          <p:nvPr/>
        </p:nvSpPr>
        <p:spPr>
          <a:xfrm>
            <a:off x="0" y="7343775"/>
            <a:ext cx="10287000" cy="4048125"/>
          </a:xfrm>
          <a:prstGeom prst="rect">
            <a:avLst/>
          </a:prstGeom>
          <a:solidFill>
            <a:srgbClr val="E5F7FC"/>
          </a:solidFill>
          <a:ln w="0"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171FD6-8170-48DD-8795-79E9E18F5642}"/>
              </a:ext>
            </a:extLst>
          </p:cNvPr>
          <p:cNvSpPr>
            <a:spLocks noGrp="1"/>
          </p:cNvSpPr>
          <p:nvPr/>
        </p:nvSpPr>
        <p:spPr>
          <a:xfrm>
            <a:off x="609600" y="7658100"/>
            <a:ext cx="90678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00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D9B"/>
                </a:solidFill>
                <a:latin typeface="Arial"/>
                <a:ea typeface="Arial"/>
                <a:cs typeface="Arial"/>
              </a:rPr>
              <a:t>YOUR TUTOR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7F29A7-AE50-43A2-B348-642525FC21ED}"/>
              </a:ext>
            </a:extLst>
          </p:cNvPr>
          <p:cNvSpPr>
            <a:spLocks noGrp="1"/>
          </p:cNvSpPr>
          <p:nvPr/>
        </p:nvSpPr>
        <p:spPr>
          <a:xfrm>
            <a:off x="609600" y="8267700"/>
            <a:ext cx="90678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36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Jotham Martin Wambi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0643C1-52ED-4A4A-AB82-8C8E2A908406}"/>
              </a:ext>
            </a:extLst>
          </p:cNvPr>
          <p:cNvSpPr>
            <a:spLocks noGrp="1"/>
          </p:cNvSpPr>
          <p:nvPr/>
        </p:nvSpPr>
        <p:spPr>
          <a:xfrm>
            <a:off x="609600" y="9172575"/>
            <a:ext cx="9067800" cy="1647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62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Lecturer in AI &amp; Machine Learning, IUEA</a:t>
            </a:r>
          </a:p>
          <a:p>
            <a:pPr>
              <a:defRPr sz="262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Data Scientist &amp; ML/AI Engineer</a:t>
            </a:r>
          </a:p>
          <a:p>
            <a:pPr>
              <a:defRPr sz="262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Master’s, Yamaguchi University, Japan</a:t>
            </a:r>
          </a:p>
        </p:txBody>
      </p:sp>
    </p:spTree>
    <p:extLst>
      <p:ext uri="{BB962C8B-B14F-4D97-AF65-F5344CB8AC3E}">
        <p14:creationId xmlns:p14="http://schemas.microsoft.com/office/powerpoint/2010/main" val="509949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A20D0EB-B43F-438F-8C85-09689A7428DD}"/>
              </a:ext>
            </a:extLst>
          </p:cNvPr>
          <p:cNvSpPr>
            <a:spLocks noGrp="1"/>
          </p:cNvSpPr>
          <p:nvPr/>
        </p:nvSpPr>
        <p:spPr>
          <a:xfrm>
            <a:off x="609600" y="523875"/>
            <a:ext cx="63817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D9B"/>
                </a:solidFill>
                <a:latin typeface="Arial"/>
                <a:ea typeface="Arial"/>
                <a:cs typeface="Arial"/>
              </a:rPr>
              <a:t>SCHOOL TRACK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AB29EA-8974-4641-A148-6C69288991C8}"/>
              </a:ext>
            </a:extLst>
          </p:cNvPr>
          <p:cNvSpPr>
            <a:spLocks noGrp="1"/>
          </p:cNvSpPr>
          <p:nvPr/>
        </p:nvSpPr>
        <p:spPr>
          <a:xfrm>
            <a:off x="8724900" y="523875"/>
            <a:ext cx="11430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6 / 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76E6AA-C503-4C0D-9224-A0C9585649AF}"/>
              </a:ext>
            </a:extLst>
          </p:cNvPr>
          <p:cNvSpPr>
            <a:spLocks noGrp="1"/>
          </p:cNvSpPr>
          <p:nvPr/>
        </p:nvSpPr>
        <p:spPr>
          <a:xfrm>
            <a:off x="609600" y="1009650"/>
            <a:ext cx="85725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72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72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PLAN THEIR DECEMBER LEARNING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4FF83F-E148-496F-87D1-12FFD51A3047}"/>
              </a:ext>
            </a:extLst>
          </p:cNvPr>
          <p:cNvSpPr>
            <a:spLocks noGrp="1"/>
          </p:cNvSpPr>
          <p:nvPr/>
        </p:nvSpPr>
        <p:spPr>
          <a:xfrm>
            <a:off x="609600" y="11963400"/>
            <a:ext cx="71437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HOLIDAY DATA &amp; AI CAMP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7EF7A3-B8B4-4E83-AB3E-C1EA2B329F19}"/>
              </a:ext>
            </a:extLst>
          </p:cNvPr>
          <p:cNvSpPr>
            <a:spLocks noGrp="1"/>
          </p:cNvSpPr>
          <p:nvPr/>
        </p:nvSpPr>
        <p:spPr>
          <a:xfrm>
            <a:off x="8134350" y="11963400"/>
            <a:ext cx="18097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DEC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610A54-AAB3-4F52-900F-B3C30734E5C5}"/>
              </a:ext>
            </a:extLst>
          </p:cNvPr>
          <p:cNvSpPr>
            <a:spLocks noGrp="1"/>
          </p:cNvSpPr>
          <p:nvPr/>
        </p:nvSpPr>
        <p:spPr>
          <a:xfrm>
            <a:off x="609600" y="2047875"/>
            <a:ext cx="9067800" cy="1971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62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562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562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8 weeks of</a:t>
            </a:r>
          </a:p>
          <a:p>
            <a:pPr>
              <a:defRPr sz="562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562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practical learning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EFDB7B-2B08-4296-89F6-E09B685E015B}"/>
              </a:ext>
            </a:extLst>
          </p:cNvPr>
          <p:cNvSpPr>
            <a:spLocks noGrp="1"/>
          </p:cNvSpPr>
          <p:nvPr/>
        </p:nvSpPr>
        <p:spPr>
          <a:xfrm>
            <a:off x="609600" y="5105400"/>
            <a:ext cx="9067800" cy="971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6150" b="1">
                <a:solidFill>
                  <a:srgbClr val="6500B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6150" b="1">
                <a:solidFill>
                  <a:srgbClr val="6500BC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6500BC"/>
                </a:solidFill>
                <a:latin typeface="Arial"/>
                <a:ea typeface="Arial"/>
                <a:cs typeface="Arial"/>
              </a:rPr>
              <a:t>UGX 1,000,000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4F9037-CF87-4A1B-B3B6-7EEEAED7066A}"/>
              </a:ext>
            </a:extLst>
          </p:cNvPr>
          <p:cNvSpPr>
            <a:spLocks noGrp="1"/>
          </p:cNvSpPr>
          <p:nvPr/>
        </p:nvSpPr>
        <p:spPr>
          <a:xfrm>
            <a:off x="609600" y="6219825"/>
            <a:ext cx="906780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322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22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per learner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81BB52-E238-4557-9AB8-149E7F7BD9F5}"/>
              </a:ext>
            </a:extLst>
          </p:cNvPr>
          <p:cNvSpPr>
            <a:spLocks noGrp="1"/>
          </p:cNvSpPr>
          <p:nvPr/>
        </p:nvSpPr>
        <p:spPr>
          <a:xfrm>
            <a:off x="609600" y="7134225"/>
            <a:ext cx="906780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4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Same fee per learner for groups of 1–5.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8601ED-A612-4F2D-A23F-99BF74D6057C}"/>
              </a:ext>
            </a:extLst>
          </p:cNvPr>
          <p:cNvSpPr>
            <a:spLocks noGrp="1"/>
          </p:cNvSpPr>
          <p:nvPr/>
        </p:nvSpPr>
        <p:spPr>
          <a:xfrm>
            <a:off x="609600" y="7858125"/>
            <a:ext cx="90678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7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7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3 learning days each week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AE14FB-AD79-49BF-94EE-81B4FA4555DA}"/>
              </a:ext>
            </a:extLst>
          </p:cNvPr>
          <p:cNvSpPr>
            <a:spLocks noGrp="1"/>
          </p:cNvSpPr>
          <p:nvPr/>
        </p:nvSpPr>
        <p:spPr>
          <a:xfrm>
            <a:off x="609600" y="8486775"/>
            <a:ext cx="9067800" cy="1000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400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2 in person at The National ICT Innovation Hub,</a:t>
            </a:r>
          </a:p>
          <a:p>
            <a:pPr>
              <a:defRPr sz="2400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Nakawa. 1 online. Other days: project work.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3DCD36-2A9E-4522-8E14-02AA21082A41}"/>
              </a:ext>
            </a:extLst>
          </p:cNvPr>
          <p:cNvSpPr>
            <a:spLocks noGrp="1"/>
          </p:cNvSpPr>
          <p:nvPr/>
        </p:nvSpPr>
        <p:spPr>
          <a:xfrm>
            <a:off x="609600" y="9810750"/>
            <a:ext cx="906780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62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7D9B"/>
                </a:solidFill>
                <a:latin typeface="Arial"/>
                <a:ea typeface="Arial"/>
                <a:cs typeface="Arial"/>
              </a:rPr>
              <a:t>Bring a Windows or Mac laptop.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5C428E-6CC8-4D3D-B45E-B9A42F6E0929}"/>
              </a:ext>
            </a:extLst>
          </p:cNvPr>
          <p:cNvSpPr>
            <a:spLocks noGrp="1"/>
          </p:cNvSpPr>
          <p:nvPr/>
        </p:nvSpPr>
        <p:spPr>
          <a:xfrm>
            <a:off x="609600" y="10763250"/>
            <a:ext cx="90678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Start date and session times: to be confirmed.</a:t>
            </a:r>
          </a:p>
        </p:txBody>
      </p:sp>
    </p:spTree>
    <p:extLst>
      <p:ext uri="{BB962C8B-B14F-4D97-AF65-F5344CB8AC3E}">
        <p14:creationId xmlns:p14="http://schemas.microsoft.com/office/powerpoint/2010/main" val="515174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AFC4830-0A30-4455-8B3D-D6CE5F4BCDF8}"/>
              </a:ext>
            </a:extLst>
          </p:cNvPr>
          <p:cNvSpPr>
            <a:spLocks noGrp="1"/>
          </p:cNvSpPr>
          <p:nvPr/>
        </p:nvSpPr>
        <p:spPr>
          <a:xfrm>
            <a:off x="609600" y="523875"/>
            <a:ext cx="63817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75" b="1">
                <a:solidFill>
                  <a:srgbClr val="96DAE9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1">
                <a:solidFill>
                  <a:srgbClr val="96DAE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96DAE9"/>
                </a:solidFill>
                <a:latin typeface="Arial"/>
                <a:ea typeface="Arial"/>
                <a:cs typeface="Arial"/>
              </a:rPr>
              <a:t>SCHOOL TRACK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CD6334-DD52-42B6-9164-279CB23ADD6C}"/>
              </a:ext>
            </a:extLst>
          </p:cNvPr>
          <p:cNvSpPr>
            <a:spLocks noGrp="1"/>
          </p:cNvSpPr>
          <p:nvPr/>
        </p:nvSpPr>
        <p:spPr>
          <a:xfrm>
            <a:off x="8724900" y="523875"/>
            <a:ext cx="11430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75" b="0">
                <a:solidFill>
                  <a:srgbClr val="96DAE9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96DAE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96DAE9"/>
                </a:solidFill>
                <a:latin typeface="Arial"/>
                <a:ea typeface="Arial"/>
                <a:cs typeface="Arial"/>
              </a:rPr>
              <a:t>7 / 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C2C704-2325-4083-92F0-80B113F21D0D}"/>
              </a:ext>
            </a:extLst>
          </p:cNvPr>
          <p:cNvSpPr>
            <a:spLocks noGrp="1"/>
          </p:cNvSpPr>
          <p:nvPr/>
        </p:nvSpPr>
        <p:spPr>
          <a:xfrm>
            <a:off x="609600" y="1009650"/>
            <a:ext cx="85725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725" b="0">
                <a:solidFill>
                  <a:srgbClr val="96DAE9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725" b="0">
                <a:solidFill>
                  <a:srgbClr val="96DAE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6DAE9"/>
                </a:solidFill>
                <a:latin typeface="Arial"/>
                <a:ea typeface="Arial"/>
                <a:cs typeface="Arial"/>
              </a:rPr>
              <a:t>DECEMBER 2026 REGISTRATION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464B4C-D445-43ED-A859-9938D760B88A}"/>
              </a:ext>
            </a:extLst>
          </p:cNvPr>
          <p:cNvSpPr>
            <a:spLocks noGrp="1"/>
          </p:cNvSpPr>
          <p:nvPr/>
        </p:nvSpPr>
        <p:spPr>
          <a:xfrm>
            <a:off x="609600" y="11963400"/>
            <a:ext cx="71437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HOLIDAY DATA &amp; AI CAMP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D1B5A0-1587-47BC-8E6D-FD74D0F94132}"/>
              </a:ext>
            </a:extLst>
          </p:cNvPr>
          <p:cNvSpPr>
            <a:spLocks noGrp="1"/>
          </p:cNvSpPr>
          <p:nvPr/>
        </p:nvSpPr>
        <p:spPr>
          <a:xfrm>
            <a:off x="8134350" y="11963400"/>
            <a:ext cx="18097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66D480-117B-4C10-947A-4C843C026311}"/>
              </a:ext>
            </a:extLst>
          </p:cNvPr>
          <p:cNvSpPr>
            <a:spLocks noGrp="1"/>
          </p:cNvSpPr>
          <p:nvPr/>
        </p:nvSpPr>
        <p:spPr>
          <a:xfrm>
            <a:off x="609600" y="1895475"/>
            <a:ext cx="9067800" cy="2019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Give your child</a:t>
            </a:r>
          </a:p>
          <a:p>
            <a: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place to begin.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666550-93A6-4934-83A9-65AA9D291693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90678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7500" b="1">
                <a:solidFill>
                  <a:srgbClr val="FFDA49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7500" b="1">
                <a:solidFill>
                  <a:srgbClr val="FFDA49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FFDA49"/>
                </a:solidFill>
                <a:latin typeface="Arial"/>
                <a:ea typeface="Arial"/>
                <a:cs typeface="Arial"/>
              </a:rPr>
              <a:t>15 places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914365-3C57-4062-9AEB-122C0D8263D1}"/>
              </a:ext>
            </a:extLst>
          </p:cNvPr>
          <p:cNvSpPr>
            <a:spLocks noGrp="1"/>
          </p:cNvSpPr>
          <p:nvPr/>
        </p:nvSpPr>
        <p:spPr>
          <a:xfrm>
            <a:off x="609600" y="6172200"/>
            <a:ext cx="90678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across the whole programme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EC0BDF-3173-464D-A390-868FBCBBBB8E}"/>
              </a:ext>
            </a:extLst>
          </p:cNvPr>
          <p:cNvSpPr>
            <a:spLocks noGrp="1"/>
          </p:cNvSpPr>
          <p:nvPr/>
        </p:nvSpPr>
        <p:spPr>
          <a:xfrm>
            <a:off x="609600" y="7534275"/>
            <a:ext cx="9067800" cy="1114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925" b="0">
                <a:solidFill>
                  <a:srgbClr val="BFEAF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925" b="0">
                <a:solidFill>
                  <a:srgbClr val="BFEAF3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BFEAF3"/>
                </a:solidFill>
                <a:latin typeface="Arial"/>
                <a:ea typeface="Arial"/>
                <a:cs typeface="Arial"/>
              </a:rPr>
              <a:t>Register one or more learners</a:t>
            </a:r>
          </a:p>
          <a:p>
            <a:pPr>
              <a:defRPr sz="2925" b="0">
                <a:solidFill>
                  <a:srgbClr val="BFEAF3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BFEAF3"/>
                </a:solidFill>
                <a:latin typeface="Arial"/>
                <a:ea typeface="Arial"/>
                <a:cs typeface="Arial"/>
              </a:rPr>
              <a:t>through the parent/guardian option.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02A0BB-A820-423B-A91C-9C9B9006002A}"/>
              </a:ext>
            </a:extLst>
          </p:cNvPr>
          <p:cNvSpPr>
            <a:spLocks noGrp="1"/>
          </p:cNvSpPr>
          <p:nvPr/>
        </p:nvSpPr>
        <p:spPr>
          <a:xfrm>
            <a:off x="609600" y="9372600"/>
            <a:ext cx="7115175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700" b="1">
                <a:solidFill>
                  <a:srgbClr val="FFDA49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700" b="1">
                <a:solidFill>
                  <a:srgbClr val="FFDA4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DA49"/>
                </a:solidFill>
                <a:latin typeface="Arial"/>
                <a:ea typeface="Arial"/>
                <a:cs typeface="Arial"/>
              </a:rPr>
              <a:t>REGISTER YOUR CHILD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031E34-4A1C-451E-A7C6-1A2BC2944D3A}"/>
              </a:ext>
            </a:extLst>
          </p:cNvPr>
          <p:cNvSpPr>
            <a:spLocks noGrp="1"/>
          </p:cNvSpPr>
          <p:nvPr/>
        </p:nvSpPr>
        <p:spPr>
          <a:xfrm>
            <a:off x="609600" y="10010775"/>
            <a:ext cx="7115175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forms.gle</a:t>
            </a:r>
            <a:r>
              <a:rPr sz="2325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/n8XLwbK1QxcUsRnx5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60048A-43A8-4998-8F81-8989D07BA5F7}"/>
              </a:ext>
            </a:extLst>
          </p:cNvPr>
          <p:cNvSpPr>
            <a:spLocks noGrp="1"/>
          </p:cNvSpPr>
          <p:nvPr/>
        </p:nvSpPr>
        <p:spPr>
          <a:xfrm>
            <a:off x="609600" y="10601325"/>
            <a:ext cx="71628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Calls &amp; WhatsApp: +256 750 990 718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05BBD25-98E8-416E-A2EB-9AB5F7911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62925" y="9372600"/>
            <a:ext cx="1571625" cy="157162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3CA394C-9087-4176-B5B4-41F197641608}"/>
              </a:ext>
            </a:extLst>
          </p:cNvPr>
          <p:cNvSpPr>
            <a:spLocks noGrp="1"/>
          </p:cNvSpPr>
          <p:nvPr/>
        </p:nvSpPr>
        <p:spPr>
          <a:xfrm>
            <a:off x="609600" y="11287125"/>
            <a:ext cx="906780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725" b="0">
                <a:solidFill>
                  <a:srgbClr val="BFEAF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725" b="0">
                <a:solidFill>
                  <a:srgbClr val="BFEAF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FEAF3"/>
                </a:solidFill>
                <a:latin typeface="Arial"/>
                <a:ea typeface="Arial"/>
                <a:cs typeface="Arial"/>
              </a:rPr>
              <a:t>Programme capacity: 15. Availability confirmed after enquiry.</a:t>
            </a:r>
          </a:p>
        </p:txBody>
      </p:sp>
    </p:spTree>
    <p:extLst>
      <p:ext uri="{BB962C8B-B14F-4D97-AF65-F5344CB8AC3E}">
        <p14:creationId xmlns:p14="http://schemas.microsoft.com/office/powerpoint/2010/main" val="195222500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1182</Words>
  <Application>Microsoft Macintosh PowerPoint</Application>
  <DocSecurity>0</DocSecurity>
  <PresentationFormat>Custom</PresentationFormat>
  <Paragraphs>124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Jotham Martin Wambi</cp:lastModifiedBy>
  <cp:revision>2</cp:revision>
  <dcterms:created xsi:type="dcterms:W3CDTF">2026-10-08T09:52:49Z</dcterms:created>
  <dcterms:modified xsi:type="dcterms:W3CDTF">2026-10-08T10:16:04Z</dcterms:modified>
</cp:coreProperties>
</file>