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f7e0e252844aa4" /><Relationship Type="http://schemas.openxmlformats.org/officeDocument/2006/relationships/extended-properties" Target="/docProps/app.xml" Id="Ra2d64bee2728418a" /><Relationship Type="http://schemas.openxmlformats.org/officeDocument/2006/relationships/officeDocument" Target="/ppt/presentation.xml" Id="Rbf85edf823e043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23ca189a8014eaf"/>
  </p:sldMasterIdLst>
  <p:notesMasterIdLst>
    <p:notesMasterId xmlns:r="http://schemas.openxmlformats.org/officeDocument/2006/relationships" r:id="R5d6d12e9a02e4b2a"/>
  </p:notesMasterIdLst>
  <p:sldIdLst>
    <p:sldId xmlns:r="http://schemas.openxmlformats.org/officeDocument/2006/relationships" id="256" r:id="Rf61937cf5b664b8e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1b0bfb3194016" /><Relationship Type="http://schemas.openxmlformats.org/officeDocument/2006/relationships/slideMaster" Target="/ppt/slideMasters/slideMaster1.xml" Id="Rb23ca189a8014eaf" /><Relationship Type="http://schemas.openxmlformats.org/officeDocument/2006/relationships/notesMaster" Target="/ppt/notesMasters/notesMaster1.xml" Id="R5d6d12e9a02e4b2a" /><Relationship Type="http://schemas.openxmlformats.org/officeDocument/2006/relationships/presProps" Target="/ppt/presProps.xml" Id="R1e8cdc8cce8c43fb" /><Relationship Type="http://schemas.openxmlformats.org/officeDocument/2006/relationships/tableStyles" Target="/ppt/tableStyles.xml" Id="R74d91ae04ef04eac" /><Relationship Type="http://schemas.openxmlformats.org/officeDocument/2006/relationships/slide" Target="/ppt/slides/slide1.xml" Id="Rf61937cf5b664b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7f60b197b034b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9ad34c0a1c14f0c" /><Relationship Type="http://schemas.openxmlformats.org/officeDocument/2006/relationships/notesMaster" Target="/ppt/notesMasters/notesMaster1.xml" Id="Ra03677fb479c4da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Camp details supplied by Jotham Martin Wambi. Programme capacity is 15 total places; this is not a claim about remaining availability. Start date remains to be confirmed. In-person sessions at The National ICT Innovation Hub, Nakawa; two in person and one online per week. Registration is a request for a place. Icons sourced previously from Font Awesome Free: https://fontawesome.com/license/free (license included). Registration QR points to https://forms.gle/n8XLwbK1QxcUsRnx5 . KLAi brand is editable text, not a reconstructed logo.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914752e54945d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3b30696a22427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03874241b24c5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0d0c4b7977491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7aff36e89543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2e0ebfae9346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E29C12-4F80-4F6C-9DF5-0FE84E332A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AA3AAA5-B393-470A-A6F2-65696649C16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6D22ECD-6B95-4F86-B231-B7FF379104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423F0A4-D1AD-4ACC-933A-9C81B7B4B4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4DA5D49-A73F-43A7-B1DB-3ED30BF745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014326D-A4BF-4A0D-9B35-14BE303FA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86D98D7-0C58-49E2-A2F1-9F8B633CFF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811264A-54A0-4FAD-90D3-7A9CDDB8FD0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036820A-83FF-4DEE-9A8F-9E8A5BB2DA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904C06-14DF-4043-BC22-6F6AE4B266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1pPr>
            <a:lvl2pPr marL="4500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2pPr>
            <a:lvl3pPr marL="7072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3pPr>
            <a:lvl4pPr marL="9644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4pPr>
            <a:lvl5pPr marL="12215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5pPr>
            <a:lvl6pPr marL="147875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6pPr>
            <a:lvl7pPr marL="173593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7pPr>
            <a:lvl8pPr marL="1993106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8pPr>
            <a:lvl9pPr marL="2250281" indent="-192881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72751a48f548fb" /><Relationship Type="http://schemas.openxmlformats.org/officeDocument/2006/relationships/slideLayout" Target="/ppt/slideLayouts/slideLayout1.xml" Id="R33c706e1c34e413d" /><Relationship Type="http://schemas.openxmlformats.org/officeDocument/2006/relationships/slideLayout" Target="/ppt/slideLayouts/slideLayout2.xml" Id="R15818856059b40ca" /><Relationship Type="http://schemas.openxmlformats.org/officeDocument/2006/relationships/slideLayout" Target="/ppt/slideLayouts/slideLayout3.xml" Id="Rd91055c4da6843ab" /><Relationship Type="http://schemas.openxmlformats.org/officeDocument/2006/relationships/slideLayout" Target="/ppt/slideLayouts/slideLayout4.xml" Id="Rb321c26876234919" /><Relationship Type="http://schemas.openxmlformats.org/officeDocument/2006/relationships/slideLayout" Target="/ppt/slideLayouts/slideLayout5.xml" Id="R69cdf46fe568458a" /><Relationship Type="http://schemas.openxmlformats.org/officeDocument/2006/relationships/slideLayout" Target="/ppt/slideLayouts/slideLayout6.xml" Id="Ra8ee741df260456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c706e1c34e413d"/>
    <p:sldLayoutId xmlns:r="http://schemas.openxmlformats.org/officeDocument/2006/relationships" id="2147483650" r:id="R15818856059b40ca"/>
    <p:sldLayoutId xmlns:r="http://schemas.openxmlformats.org/officeDocument/2006/relationships" id="2147483651" r:id="Rd91055c4da6843ab"/>
    <p:sldLayoutId xmlns:r="http://schemas.openxmlformats.org/officeDocument/2006/relationships" id="2147483652" r:id="Rb321c26876234919"/>
    <p:sldLayoutId xmlns:r="http://schemas.openxmlformats.org/officeDocument/2006/relationships" id="2147483653" r:id="R69cdf46fe568458a"/>
    <p:sldLayoutId xmlns:r="http://schemas.openxmlformats.org/officeDocument/2006/relationships" id="2147483654" r:id="Ra8ee741df260456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61655adac34829" /><Relationship Type="http://schemas.openxmlformats.org/officeDocument/2006/relationships/image" Target="/ppt/media/image.png" Id="R2afa337cac7c4a72" /><Relationship Type="http://schemas.openxmlformats.org/officeDocument/2006/relationships/image" Target="/ppt/media/image2.png" Id="R700afac3dda74da0" /><Relationship Type="http://schemas.openxmlformats.org/officeDocument/2006/relationships/image" Target="/ppt/media/image3.png" Id="R9b1b819813704450" /><Relationship Type="http://schemas.openxmlformats.org/officeDocument/2006/relationships/notesSlide" Target="/ppt/notesSlides/notesSlide1.xml" Id="Rd699f92eefb248b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KLAi">
            <a:extLst xmlns:a="http://schemas.openxmlformats.org/drawingml/2006/main">
              <a:ext uri="{FF2B5EF4-FFF2-40B4-BE49-F238E27FC236}">
                <a16:creationId xmlns:a16="http://schemas.microsoft.com/office/drawing/2014/main" id="{0EE49F12-2219-453C-A1DA-71C5CBEDB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1409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KLAi</a:t>
            </a:r>
          </a:p>
        </p:txBody>
      </p:sp>
      <p:sp>
        <p:nvSpPr>
          <p:cNvPr id="2" name="KAMPALA AI">
            <a:extLst xmlns:a="http://schemas.openxmlformats.org/drawingml/2006/main">
              <a:ext uri="{FF2B5EF4-FFF2-40B4-BE49-F238E27FC236}">
                <a16:creationId xmlns:a16="http://schemas.microsoft.com/office/drawing/2014/main" id="{3D6AEAC9-A845-4660-83F7-AEBD95C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57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7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KAMPALA AI</a:t>
            </a:r>
          </a:p>
        </p:txBody>
      </p:sp>
      <p:sp>
        <p:nvSpPr>
          <p:cNvPr id="3" name="DECEMBER 2026">
            <a:extLst xmlns:a="http://schemas.openxmlformats.org/drawingml/2006/main">
              <a:ext uri="{FF2B5EF4-FFF2-40B4-BE49-F238E27FC236}">
                <a16:creationId xmlns:a16="http://schemas.microsoft.com/office/drawing/2014/main" id="{01D6B4D4-EF13-46B3-8E97-D2FBCE777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57200"/>
            <a:ext cx="295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DECEMBER 2026</a:t>
            </a:r>
          </a:p>
        </p:txBody>
      </p:sp>
      <p:sp>
        <p:nvSpPr>
          <p:cNvPr id="4" name="What will">
            <a:extLst xmlns:a="http://schemas.openxmlformats.org/drawingml/2006/main">
              <a:ext uri="{FF2B5EF4-FFF2-40B4-BE49-F238E27FC236}">
                <a16:creationId xmlns:a16="http://schemas.microsoft.com/office/drawing/2014/main" id="{5A7823B3-E1D6-4EF2-9B31-70417956B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90625"/>
            <a:ext cx="9239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What will</a:t>
            </a:r>
          </a:p>
        </p:txBody>
      </p:sp>
      <p:sp>
        <p:nvSpPr>
          <p:cNvPr id="5" name="you build">
            <a:extLst xmlns:a="http://schemas.openxmlformats.org/drawingml/2006/main">
              <a:ext uri="{FF2B5EF4-FFF2-40B4-BE49-F238E27FC236}">
                <a16:creationId xmlns:a16="http://schemas.microsoft.com/office/drawing/2014/main" id="{7BFABCF7-7177-429F-9A64-4EC46070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9239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you build</a:t>
            </a:r>
          </a:p>
        </p:txBody>
      </p:sp>
      <p:sp>
        <p:nvSpPr>
          <p:cNvPr id="6" name="this holiday?">
            <a:extLst xmlns:a="http://schemas.openxmlformats.org/drawingml/2006/main">
              <a:ext uri="{FF2B5EF4-FFF2-40B4-BE49-F238E27FC236}">
                <a16:creationId xmlns:a16="http://schemas.microsoft.com/office/drawing/2014/main" id="{C183296F-C25C-40DB-B8E3-97F68691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81375"/>
            <a:ext cx="92392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8100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this holiday?</a:t>
            </a:r>
          </a:p>
        </p:txBody>
      </p:sp>
      <p:sp>
        <p:nvSpPr>
          <p:cNvPr id="7" name="HOLIDAY DATA &amp; AI CAMP">
            <a:extLst xmlns:a="http://schemas.openxmlformats.org/drawingml/2006/main">
              <a:ext uri="{FF2B5EF4-FFF2-40B4-BE49-F238E27FC236}">
                <a16:creationId xmlns:a16="http://schemas.microsoft.com/office/drawing/2014/main" id="{1C455980-9E22-4804-A90C-7469E329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38725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HOLIDAY DATA &amp; AI CAMP</a:t>
            </a:r>
          </a:p>
        </p:txBody>
      </p:sp>
      <p:sp>
        <p:nvSpPr>
          <p:cNvPr id="8" name="For students and school leavers">
            <a:extLst xmlns:a="http://schemas.openxmlformats.org/drawingml/2006/main">
              <a:ext uri="{FF2B5EF4-FFF2-40B4-BE49-F238E27FC236}">
                <a16:creationId xmlns:a16="http://schemas.microsoft.com/office/drawing/2014/main" id="{F6190297-ADF3-4DD1-9646-BD68D8F4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9220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For students and school leavers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D3076A-3815-4F7F-99D5-4C49D19567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fa337cac7c4a72"/>
          <a:stretch xmlns:a="http://schemas.openxmlformats.org/drawingml/2006/main"/>
        </p:blipFill>
        <p:spPr>
          <a:xfrm xmlns:a="http://schemas.openxmlformats.org/drawingml/2006/main">
            <a:off x="533400" y="64674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10" name="A data project">
            <a:extLst xmlns:a="http://schemas.openxmlformats.org/drawingml/2006/main">
              <a:ext uri="{FF2B5EF4-FFF2-40B4-BE49-F238E27FC236}">
                <a16:creationId xmlns:a16="http://schemas.microsoft.com/office/drawing/2014/main" id="{C8DE278E-7A57-418C-99B3-5E63976F2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429375"/>
            <a:ext cx="38576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7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A data project</a:t>
            </a:r>
          </a:p>
        </p:txBody>
      </p:sp>
      <p:sp>
        <p:nvSpPr>
          <p:cNvPr id="11" name="Explore real data.">
            <a:extLst xmlns:a="http://schemas.openxmlformats.org/drawingml/2006/main">
              <a:ext uri="{FF2B5EF4-FFF2-40B4-BE49-F238E27FC236}">
                <a16:creationId xmlns:a16="http://schemas.microsoft.com/office/drawing/2014/main" id="{61FEE539-0116-4FB8-984F-7488921D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915150"/>
            <a:ext cx="3905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Explore real data.</a:t>
            </a:r>
          </a:p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Create charts that explain it.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99D46-A565-47C4-A9AF-5BC8BC4473C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0afac3dda74da0"/>
          <a:stretch xmlns:a="http://schemas.openxmlformats.org/drawingml/2006/main"/>
        </p:blipFill>
        <p:spPr>
          <a:xfrm xmlns:a="http://schemas.openxmlformats.org/drawingml/2006/main">
            <a:off x="5476875" y="6467475"/>
            <a:ext cx="638175" cy="638175"/>
          </a:xfrm>
          <a:prstGeom xmlns:a="http://schemas.openxmlformats.org/drawingml/2006/main" prst="rect">
            <a:avLst/>
          </a:prstGeom>
        </p:spPr>
      </p:pic>
      <p:sp>
        <p:nvSpPr>
          <p:cNvPr id="13" name="A prediction model">
            <a:extLst xmlns:a="http://schemas.openxmlformats.org/drawingml/2006/main">
              <a:ext uri="{FF2B5EF4-FFF2-40B4-BE49-F238E27FC236}">
                <a16:creationId xmlns:a16="http://schemas.microsoft.com/office/drawing/2014/main" id="{24073110-F7C7-494F-8696-B4BB0092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429375"/>
            <a:ext cx="34861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A prediction model</a:t>
            </a:r>
          </a:p>
        </p:txBody>
      </p:sp>
      <p:sp>
        <p:nvSpPr>
          <p:cNvPr id="14" name="Train a model.">
            <a:extLst xmlns:a="http://schemas.openxmlformats.org/drawingml/2006/main">
              <a:ext uri="{FF2B5EF4-FFF2-40B4-BE49-F238E27FC236}">
                <a16:creationId xmlns:a16="http://schemas.microsoft.com/office/drawing/2014/main" id="{D2D52CE5-FCA2-444F-B74A-96396341A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915150"/>
            <a:ext cx="34861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Train a model.</a:t>
            </a:r>
          </a:p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Test its predictions.</a:t>
            </a:r>
          </a:p>
        </p:txBody>
      </p:sp>
      <p:sp>
        <p:nvSpPr>
          <p:cNvPr id="15" name="8 weeks">
            <a:extLst xmlns:a="http://schemas.openxmlformats.org/drawingml/2006/main">
              <a:ext uri="{FF2B5EF4-FFF2-40B4-BE49-F238E27FC236}">
                <a16:creationId xmlns:a16="http://schemas.microsoft.com/office/drawing/2014/main" id="{E88AEFC6-9062-4362-B450-00628504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39100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92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8 weeks</a:t>
            </a:r>
          </a:p>
        </p:txBody>
      </p:sp>
      <p:sp>
        <p:nvSpPr>
          <p:cNvPr id="16" name="Max. 5 learners">
            <a:extLst xmlns:a="http://schemas.openxmlformats.org/drawingml/2006/main">
              <a:ext uri="{FF2B5EF4-FFF2-40B4-BE49-F238E27FC236}">
                <a16:creationId xmlns:a16="http://schemas.microsoft.com/office/drawing/2014/main" id="{7D80288A-96A0-4160-9C69-E915E24D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048625"/>
            <a:ext cx="342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Max. 5 learners</a:t>
            </a:r>
          </a:p>
          <a:p xmlns:a="http://schemas.openxmlformats.org/drawingml/2006/main">
            <a:pPr>
              <a:defRPr sz="2175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per group</a:t>
            </a:r>
          </a:p>
        </p:txBody>
      </p:sp>
      <p:sp>
        <p:nvSpPr>
          <p:cNvPr id="17" name="15 places">
            <a:extLst xmlns:a="http://schemas.openxmlformats.org/drawingml/2006/main">
              <a:ext uri="{FF2B5EF4-FFF2-40B4-BE49-F238E27FC236}">
                <a16:creationId xmlns:a16="http://schemas.microsoft.com/office/drawing/2014/main" id="{4B667ADE-23E6-4C23-B633-B6999D70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029575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2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6500B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500BC"/>
                </a:solidFill>
                <a:latin typeface="Arial"/>
                <a:ea typeface="Arial"/>
                <a:cs typeface="Arial"/>
              </a:rPr>
              <a:t>15 places</a:t>
            </a:r>
          </a:p>
        </p:txBody>
      </p:sp>
      <p:sp>
        <p:nvSpPr>
          <p:cNvPr id="18" name="across the programme">
            <a:extLst xmlns:a="http://schemas.openxmlformats.org/drawingml/2006/main">
              <a:ext uri="{FF2B5EF4-FFF2-40B4-BE49-F238E27FC236}">
                <a16:creationId xmlns:a16="http://schemas.microsoft.com/office/drawing/2014/main" id="{1F086638-FFD3-4648-9DBE-D079F2B5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8591550"/>
            <a:ext cx="2686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across the programme</a:t>
            </a:r>
          </a:p>
        </p:txBody>
      </p:sp>
      <p:sp>
        <p:nvSpPr>
          <p:cNvPr id="19" name="UGX 1,000,000 per learner">
            <a:extLst xmlns:a="http://schemas.openxmlformats.org/drawingml/2006/main">
              <a:ext uri="{FF2B5EF4-FFF2-40B4-BE49-F238E27FC236}">
                <a16:creationId xmlns:a16="http://schemas.microsoft.com/office/drawing/2014/main" id="{72A90D93-31AB-4470-9E15-0C2F643D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153525"/>
            <a:ext cx="922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02540"/>
                </a:solidFill>
                <a:latin typeface="Arial"/>
                <a:ea typeface="Arial"/>
                <a:cs typeface="Arial"/>
              </a:rPr>
              <a:t>UGX 1,000,000 per learner</a:t>
            </a:r>
          </a:p>
        </p:txBody>
      </p:sp>
      <p:sp>
        <p:nvSpPr>
          <p:cNvPr id="20" name="No coding experience needed. Bring a Windows or Mac laptop.">
            <a:extLst xmlns:a="http://schemas.openxmlformats.org/drawingml/2006/main">
              <a:ext uri="{FF2B5EF4-FFF2-40B4-BE49-F238E27FC236}">
                <a16:creationId xmlns:a16="http://schemas.microsoft.com/office/drawing/2014/main" id="{2EA5C31C-7F61-4722-91C0-8886FDC3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9677400"/>
            <a:ext cx="923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0025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2540"/>
                </a:solidFill>
                <a:latin typeface="Arial"/>
                <a:ea typeface="Arial"/>
                <a:cs typeface="Arial"/>
              </a:rPr>
              <a:t>No coding experience needed. Bring a Windows or Mac laptop.</a:t>
            </a:r>
          </a:p>
        </p:txBody>
      </p:sp>
      <p:sp>
        <p:nvSpPr>
          <p:cNvPr id="21" name="The National ICT Innovation Hub, Nakawa + online">
            <a:extLst xmlns:a="http://schemas.openxmlformats.org/drawingml/2006/main">
              <a:ext uri="{FF2B5EF4-FFF2-40B4-BE49-F238E27FC236}">
                <a16:creationId xmlns:a16="http://schemas.microsoft.com/office/drawing/2014/main" id="{B42A75A7-4FD4-4C20-8D06-EDBE5E1E6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191750"/>
            <a:ext cx="923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7D9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D9B"/>
                </a:solidFill>
                <a:latin typeface="Arial"/>
                <a:ea typeface="Arial"/>
                <a:cs typeface="Arial"/>
              </a:rPr>
              <a:t>The National ICT Innovation Hub, Nakawa + online</a:t>
            </a:r>
          </a:p>
        </p:txBody>
      </p:sp>
      <p:sp>
        <p:nvSpPr>
          <p:cNvPr id="22" name="Registration footer background">
            <a:extLst xmlns:a="http://schemas.openxmlformats.org/drawingml/2006/main">
              <a:ext uri="{FF2B5EF4-FFF2-40B4-BE49-F238E27FC236}">
                <a16:creationId xmlns:a16="http://schemas.microsoft.com/office/drawing/2014/main" id="{DAA22326-D485-4E5D-92CD-9AE6105C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801350"/>
            <a:ext cx="1028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540"/>
          </a:solidFill>
          <a:ln xmlns:a="http://schemas.openxmlformats.org/drawingml/2006/main" w="0">
            <a:noFill/>
          </a:ln>
        </p:spPr>
      </p:sp>
      <p:sp>
        <p:nvSpPr>
          <p:cNvPr id="23" name="Register your interest">
            <a:extLst xmlns:a="http://schemas.openxmlformats.org/drawingml/2006/main">
              <a:ext uri="{FF2B5EF4-FFF2-40B4-BE49-F238E27FC236}">
                <a16:creationId xmlns:a16="http://schemas.microsoft.com/office/drawing/2014/main" id="{CCCB6045-E4CC-48D7-9CEB-A39A2AF3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020425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DB55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FFDB55"/>
                </a:solidFill>
                <a:latin typeface="Arial"/>
                <a:ea typeface="Arial"/>
                <a:cs typeface="Arial"/>
              </a:rPr>
              <a:t>Register your interest</a:t>
            </a:r>
          </a:p>
        </p:txBody>
      </p:sp>
      <p:sp>
        <p:nvSpPr>
          <p:cNvPr id="24" name="forms.gle/n8XLwbK1QxcUsRnx5">
            <a:extLst xmlns:a="http://schemas.openxmlformats.org/drawingml/2006/main">
              <a:ext uri="{FF2B5EF4-FFF2-40B4-BE49-F238E27FC236}">
                <a16:creationId xmlns:a16="http://schemas.microsoft.com/office/drawing/2014/main" id="{83E898C8-249D-46A2-8400-D71832582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591925"/>
            <a:ext cx="71723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forms.gle/n8XLwbK1QxcUsRnx5</a:t>
            </a:r>
          </a:p>
        </p:txBody>
      </p:sp>
      <p:sp>
        <p:nvSpPr>
          <p:cNvPr id="25" name="Calls &amp; WhatsApp: +256 750 990 718">
            <a:extLst xmlns:a="http://schemas.openxmlformats.org/drawingml/2006/main">
              <a:ext uri="{FF2B5EF4-FFF2-40B4-BE49-F238E27FC236}">
                <a16:creationId xmlns:a16="http://schemas.microsoft.com/office/drawing/2014/main" id="{A7F43C9D-8CA1-4102-98EF-E6A953AE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2125325"/>
            <a:ext cx="71723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Calls &amp; WhatsApp: +256 750 990 718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EBD7F9-7A84-4AE1-A4F2-5C3524F96C0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1b819813704450"/>
          <a:stretch xmlns:a="http://schemas.openxmlformats.org/drawingml/2006/main"/>
        </p:blipFill>
        <p:spPr>
          <a:xfrm xmlns:a="http://schemas.openxmlformats.org/drawingml/2006/main">
            <a:off x="8039100" y="10953750"/>
            <a:ext cx="1562100" cy="1562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424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2026-10-15T05:56:18.3180000Z</dcterms:created>
  <dcterms:modified xsi:type="dcterms:W3CDTF">2026-10-15T05:56:18.3180000Z</dcterms:modified>
</coreProperties>
</file>