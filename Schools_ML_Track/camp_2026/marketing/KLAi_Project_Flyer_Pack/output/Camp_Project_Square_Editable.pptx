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d43e73effe148b2" /><Relationship Type="http://schemas.openxmlformats.org/officeDocument/2006/relationships/extended-properties" Target="/docProps/app.xml" Id="Rd1b55bf7c30a44c0" /><Relationship Type="http://schemas.openxmlformats.org/officeDocument/2006/relationships/officeDocument" Target="/ppt/presentation.xml" Id="R9e87ea7e3bea4b0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e4e0ba6eb994507"/>
  </p:sldMasterIdLst>
  <p:notesMasterIdLst>
    <p:notesMasterId xmlns:r="http://schemas.openxmlformats.org/officeDocument/2006/relationships" r:id="R0a827cec004f46ea"/>
  </p:notesMasterIdLst>
  <p:sldIdLst>
    <p:sldId xmlns:r="http://schemas.openxmlformats.org/officeDocument/2006/relationships" id="256" r:id="R469db488407445fc"/>
  </p:sldIdLst>
  <p:sldSz cx="10287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8eeb7c0e28f4b74" /><Relationship Type="http://schemas.openxmlformats.org/officeDocument/2006/relationships/slideMaster" Target="/ppt/slideMasters/slideMaster1.xml" Id="R8e4e0ba6eb994507" /><Relationship Type="http://schemas.openxmlformats.org/officeDocument/2006/relationships/notesMaster" Target="/ppt/notesMasters/notesMaster1.xml" Id="R0a827cec004f46ea" /><Relationship Type="http://schemas.openxmlformats.org/officeDocument/2006/relationships/presProps" Target="/ppt/presProps.xml" Id="R56f4b950ec054bd3" /><Relationship Type="http://schemas.openxmlformats.org/officeDocument/2006/relationships/tableStyles" Target="/ppt/tableStyles.xml" Id="R5afe9d621a7b4cd2" /><Relationship Type="http://schemas.openxmlformats.org/officeDocument/2006/relationships/slide" Target="/ppt/slides/slide1.xml" Id="R469db488407445f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7edd63007da410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039bfcb1ec24556" /><Relationship Type="http://schemas.openxmlformats.org/officeDocument/2006/relationships/notesMaster" Target="/ppt/notesMasters/notesMaster1.xml" Id="R3ca2edb06ed041c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Camp details supplied by Jotham Martin Wambi. Programme capacity is 15 total places; this is not a claim about remaining availability. Start date remains to be confirmed. In-person sessions at The National ICT Innovation Hub, Nakawa; two in person and one online per week. Registration is a request for a place. Icons sourced previously from Font Awesome Free: https://fontawesome.com/license/free (license included). Registration QR points to https://forms.gle/n8XLwbK1QxcUsRnx5 . KLAi brand is editable text, not a reconstructed logo.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8bb9c30a73447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d89d3fec3594ec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0e25bdb1e9143d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56a380e65b4c1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0883a78fc9a43e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61b6d89bf484ec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CF6A19F-9E44-48F4-8B60-48A98D98B1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3886200"/>
            <a:ext cx="82296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E4F7446-DFD9-4E82-8E89-22C74E0A2F4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43050" y="5657850"/>
            <a:ext cx="72009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8F521A05-78AB-43B8-A7D7-8EF4AD952AC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4286250"/>
            <a:ext cx="82296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F562FD8-A422-4126-99D1-C9AB7EE2253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78644" y="800100"/>
            <a:ext cx="9129713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60FF590-C63D-4806-ACED-E0B31A9D56C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78644" y="2857500"/>
            <a:ext cx="9129713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92881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1pPr>
            <a:lvl2pPr marL="450056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2pPr>
            <a:lvl3pPr marL="707231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3pPr>
            <a:lvl4pPr marL="964406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4pPr>
            <a:lvl5pPr marL="1221581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5pPr>
            <a:lvl6pPr marL="1478756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6pPr>
            <a:lvl7pPr marL="1735931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7pPr>
            <a:lvl8pPr marL="1993106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8pPr>
            <a:lvl9pPr marL="2250281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56F7F31-82ED-4005-82E6-EA89BB203F1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78644" y="800100"/>
            <a:ext cx="9129713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86C79DD-5C40-4FEE-8C24-83AC5265C05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78644" y="2857500"/>
            <a:ext cx="4243388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92881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1pPr>
            <a:lvl2pPr marL="450056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2pPr>
            <a:lvl3pPr marL="707231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3pPr>
            <a:lvl4pPr marL="964406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4pPr>
            <a:lvl5pPr marL="1221581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5pPr>
            <a:lvl6pPr marL="1478756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6pPr>
            <a:lvl7pPr marL="1735931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7pPr>
            <a:lvl8pPr marL="1993106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8pPr>
            <a:lvl9pPr marL="2250281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BC277A6-CE5C-4BAB-B0B3-A94767783D6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5464969" y="2857500"/>
            <a:ext cx="4243388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92881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1pPr>
            <a:lvl2pPr marL="450056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2pPr>
            <a:lvl3pPr marL="707231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3pPr>
            <a:lvl4pPr marL="964406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4pPr>
            <a:lvl5pPr marL="1221581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5pPr>
            <a:lvl6pPr marL="1478756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6pPr>
            <a:lvl7pPr marL="1735931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7pPr>
            <a:lvl8pPr marL="1993106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8pPr>
            <a:lvl9pPr marL="2250281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DB68780-9EA1-4081-B1BB-DBF755DD32B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78644" y="800100"/>
            <a:ext cx="9129713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1F563A2-D835-41DC-9822-46FEA175212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78644" y="2857500"/>
            <a:ext cx="4243388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92881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1pPr>
            <a:lvl2pPr marL="450056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2pPr>
            <a:lvl3pPr marL="707231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3pPr>
            <a:lvl4pPr marL="964406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4pPr>
            <a:lvl5pPr marL="1221581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5pPr>
            <a:lvl6pPr marL="1478756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6pPr>
            <a:lvl7pPr marL="1735931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7pPr>
            <a:lvl8pPr marL="1993106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8pPr>
            <a:lvl9pPr marL="2250281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5c5923f7f1d4dcc" /><Relationship Type="http://schemas.openxmlformats.org/officeDocument/2006/relationships/slideLayout" Target="/ppt/slideLayouts/slideLayout1.xml" Id="Re49ff89423b44cbf" /><Relationship Type="http://schemas.openxmlformats.org/officeDocument/2006/relationships/slideLayout" Target="/ppt/slideLayouts/slideLayout2.xml" Id="Rca53ce3d497a46a4" /><Relationship Type="http://schemas.openxmlformats.org/officeDocument/2006/relationships/slideLayout" Target="/ppt/slideLayouts/slideLayout3.xml" Id="Re5027c991d79420d" /><Relationship Type="http://schemas.openxmlformats.org/officeDocument/2006/relationships/slideLayout" Target="/ppt/slideLayouts/slideLayout4.xml" Id="Raab1572fb5814fd8" /><Relationship Type="http://schemas.openxmlformats.org/officeDocument/2006/relationships/slideLayout" Target="/ppt/slideLayouts/slideLayout5.xml" Id="R4aa6ad4f596c49fb" /><Relationship Type="http://schemas.openxmlformats.org/officeDocument/2006/relationships/slideLayout" Target="/ppt/slideLayouts/slideLayout6.xml" Id="R884c86e50002450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49ff89423b44cbf"/>
    <p:sldLayoutId xmlns:r="http://schemas.openxmlformats.org/officeDocument/2006/relationships" id="2147483650" r:id="Rca53ce3d497a46a4"/>
    <p:sldLayoutId xmlns:r="http://schemas.openxmlformats.org/officeDocument/2006/relationships" id="2147483651" r:id="Re5027c991d79420d"/>
    <p:sldLayoutId xmlns:r="http://schemas.openxmlformats.org/officeDocument/2006/relationships" id="2147483652" r:id="Raab1572fb5814fd8"/>
    <p:sldLayoutId xmlns:r="http://schemas.openxmlformats.org/officeDocument/2006/relationships" id="2147483653" r:id="R4aa6ad4f596c49fb"/>
    <p:sldLayoutId xmlns:r="http://schemas.openxmlformats.org/officeDocument/2006/relationships" id="2147483654" r:id="R884c86e50002450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13ccd5d283a467a" /><Relationship Type="http://schemas.openxmlformats.org/officeDocument/2006/relationships/image" Target="/ppt/media/image.png" Id="Ref4598e7e11d4b5f" /><Relationship Type="http://schemas.openxmlformats.org/officeDocument/2006/relationships/image" Target="/ppt/media/image2.png" Id="Rc638b736d7674a41" /><Relationship Type="http://schemas.openxmlformats.org/officeDocument/2006/relationships/image" Target="/ppt/media/image3.png" Id="R18ed8db42cd8478b" /><Relationship Type="http://schemas.openxmlformats.org/officeDocument/2006/relationships/notesSlide" Target="/ppt/notesSlides/notesSlide1.xml" Id="Rc8104b7513de4b3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8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KLAi">
            <a:extLst xmlns:a="http://schemas.openxmlformats.org/drawingml/2006/main">
              <a:ext uri="{FF2B5EF4-FFF2-40B4-BE49-F238E27FC236}">
                <a16:creationId xmlns:a16="http://schemas.microsoft.com/office/drawing/2014/main" id="{E3424B6B-047F-47B0-ACF0-7A7E8D723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1409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0025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00254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02540"/>
                </a:solidFill>
                <a:latin typeface="Arial"/>
                <a:ea typeface="Arial"/>
                <a:cs typeface="Arial"/>
              </a:rPr>
              <a:t>KLAi</a:t>
            </a:r>
          </a:p>
        </p:txBody>
      </p:sp>
      <p:sp>
        <p:nvSpPr>
          <p:cNvPr id="2" name="KAMPALA AI">
            <a:extLst xmlns:a="http://schemas.openxmlformats.org/drawingml/2006/main">
              <a:ext uri="{FF2B5EF4-FFF2-40B4-BE49-F238E27FC236}">
                <a16:creationId xmlns:a16="http://schemas.microsoft.com/office/drawing/2014/main" id="{F1260466-1BCA-4E56-8C44-6A0A0B240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85775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007D9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007D9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7D9B"/>
                </a:solidFill>
                <a:latin typeface="Arial"/>
                <a:ea typeface="Arial"/>
                <a:cs typeface="Arial"/>
              </a:rPr>
              <a:t>KAMPALA AI</a:t>
            </a:r>
          </a:p>
        </p:txBody>
      </p:sp>
      <p:sp>
        <p:nvSpPr>
          <p:cNvPr id="3" name="DECEMBER 2026">
            <a:extLst xmlns:a="http://schemas.openxmlformats.org/drawingml/2006/main">
              <a:ext uri="{FF2B5EF4-FFF2-40B4-BE49-F238E27FC236}">
                <a16:creationId xmlns:a16="http://schemas.microsoft.com/office/drawing/2014/main" id="{2A9971E7-849F-4765-9800-1703424FF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57200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0025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00254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2540"/>
                </a:solidFill>
                <a:latin typeface="Arial"/>
                <a:ea typeface="Arial"/>
                <a:cs typeface="Arial"/>
              </a:rPr>
              <a:t>DECEMBER 2026</a:t>
            </a:r>
          </a:p>
        </p:txBody>
      </p:sp>
      <p:sp>
        <p:nvSpPr>
          <p:cNvPr id="4" name="What will">
            <a:extLst xmlns:a="http://schemas.openxmlformats.org/drawingml/2006/main">
              <a:ext uri="{FF2B5EF4-FFF2-40B4-BE49-F238E27FC236}">
                <a16:creationId xmlns:a16="http://schemas.microsoft.com/office/drawing/2014/main" id="{08B7395E-15FE-42AB-BE5D-E8AE0838B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95375"/>
            <a:ext cx="9239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6450" b="1">
                <a:solidFill>
                  <a:srgbClr val="0025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6450" b="1">
                <a:solidFill>
                  <a:srgbClr val="002540"/>
                </a:solidFill>
                <a:latin typeface="Arial"/>
                <a:ea typeface="Arial"/>
                <a:cs typeface="Arial"/>
              </a:defRPr>
            </a:pPr>
            <a:r>
              <a:rPr sz="6450" b="1">
                <a:solidFill>
                  <a:srgbClr val="002540"/>
                </a:solidFill>
                <a:latin typeface="Arial"/>
                <a:ea typeface="Arial"/>
                <a:cs typeface="Arial"/>
              </a:rPr>
              <a:t>What will</a:t>
            </a:r>
          </a:p>
        </p:txBody>
      </p:sp>
      <p:sp>
        <p:nvSpPr>
          <p:cNvPr id="5" name="you build">
            <a:extLst xmlns:a="http://schemas.openxmlformats.org/drawingml/2006/main">
              <a:ext uri="{FF2B5EF4-FFF2-40B4-BE49-F238E27FC236}">
                <a16:creationId xmlns:a16="http://schemas.microsoft.com/office/drawing/2014/main" id="{4A5D4BCC-1BD0-4982-96B1-E06B13E55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33575"/>
            <a:ext cx="9239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6450" b="1">
                <a:solidFill>
                  <a:srgbClr val="0025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6450" b="1">
                <a:solidFill>
                  <a:srgbClr val="002540"/>
                </a:solidFill>
                <a:latin typeface="Arial"/>
                <a:ea typeface="Arial"/>
                <a:cs typeface="Arial"/>
              </a:defRPr>
            </a:pPr>
            <a:r>
              <a:rPr sz="6450" b="1">
                <a:solidFill>
                  <a:srgbClr val="002540"/>
                </a:solidFill>
                <a:latin typeface="Arial"/>
                <a:ea typeface="Arial"/>
                <a:cs typeface="Arial"/>
              </a:rPr>
              <a:t>you build</a:t>
            </a:r>
          </a:p>
        </p:txBody>
      </p:sp>
      <p:sp>
        <p:nvSpPr>
          <p:cNvPr id="6" name="this holiday?">
            <a:extLst xmlns:a="http://schemas.openxmlformats.org/drawingml/2006/main">
              <a:ext uri="{FF2B5EF4-FFF2-40B4-BE49-F238E27FC236}">
                <a16:creationId xmlns:a16="http://schemas.microsoft.com/office/drawing/2014/main" id="{E15AC04D-5E59-4551-80F1-0DCD60646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71775"/>
            <a:ext cx="9239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6450" b="1">
                <a:solidFill>
                  <a:srgbClr val="007D9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6450" b="1">
                <a:solidFill>
                  <a:srgbClr val="007D9B"/>
                </a:solidFill>
                <a:latin typeface="Arial"/>
                <a:ea typeface="Arial"/>
                <a:cs typeface="Arial"/>
              </a:defRPr>
            </a:pPr>
            <a:r>
              <a:rPr sz="6450" b="1">
                <a:solidFill>
                  <a:srgbClr val="007D9B"/>
                </a:solidFill>
                <a:latin typeface="Arial"/>
                <a:ea typeface="Arial"/>
                <a:cs typeface="Arial"/>
              </a:rPr>
              <a:t>this holiday?</a:t>
            </a:r>
          </a:p>
        </p:txBody>
      </p:sp>
      <p:sp>
        <p:nvSpPr>
          <p:cNvPr id="7" name="HOLIDAY DATA &amp; AI CAMP">
            <a:extLst xmlns:a="http://schemas.openxmlformats.org/drawingml/2006/main">
              <a:ext uri="{FF2B5EF4-FFF2-40B4-BE49-F238E27FC236}">
                <a16:creationId xmlns:a16="http://schemas.microsoft.com/office/drawing/2014/main" id="{912858BF-6776-4037-BD54-4D7940D34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86200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925" b="1">
                <a:solidFill>
                  <a:srgbClr val="0025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925" b="1">
                <a:solidFill>
                  <a:srgbClr val="002540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002540"/>
                </a:solidFill>
                <a:latin typeface="Arial"/>
                <a:ea typeface="Arial"/>
                <a:cs typeface="Arial"/>
              </a:rPr>
              <a:t>HOLIDAY DATA &amp; AI CAMP</a:t>
            </a:r>
          </a:p>
        </p:txBody>
      </p:sp>
      <p:sp>
        <p:nvSpPr>
          <p:cNvPr id="8" name="For students and school leavers">
            <a:extLst xmlns:a="http://schemas.openxmlformats.org/drawingml/2006/main">
              <a:ext uri="{FF2B5EF4-FFF2-40B4-BE49-F238E27FC236}">
                <a16:creationId xmlns:a16="http://schemas.microsoft.com/office/drawing/2014/main" id="{E19FC675-31C2-4645-A3B8-E3A5AEB26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86275"/>
            <a:ext cx="9220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0025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00254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002540"/>
                </a:solidFill>
                <a:latin typeface="Arial"/>
                <a:ea typeface="Arial"/>
                <a:cs typeface="Arial"/>
              </a:rPr>
              <a:t>For students and school leavers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F77E19-19BD-4F2A-895A-166C4FF8DA1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4598e7e11d4b5f"/>
          <a:stretch xmlns:a="http://schemas.openxmlformats.org/drawingml/2006/main"/>
        </p:blipFill>
        <p:spPr>
          <a:xfrm xmlns:a="http://schemas.openxmlformats.org/drawingml/2006/main">
            <a:off x="533400" y="5267325"/>
            <a:ext cx="638175" cy="638175"/>
          </a:xfrm>
          <a:prstGeom xmlns:a="http://schemas.openxmlformats.org/drawingml/2006/main" prst="rect">
            <a:avLst/>
          </a:prstGeom>
        </p:spPr>
      </p:pic>
      <p:sp>
        <p:nvSpPr>
          <p:cNvPr id="10" name="A data project">
            <a:extLst xmlns:a="http://schemas.openxmlformats.org/drawingml/2006/main">
              <a:ext uri="{FF2B5EF4-FFF2-40B4-BE49-F238E27FC236}">
                <a16:creationId xmlns:a16="http://schemas.microsoft.com/office/drawing/2014/main" id="{4C4681CA-9BEF-49D6-9C87-AE9E63ED7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229225"/>
            <a:ext cx="3857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75" b="1">
                <a:solidFill>
                  <a:srgbClr val="007D9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75" b="1">
                <a:solidFill>
                  <a:srgbClr val="007D9B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007D9B"/>
                </a:solidFill>
                <a:latin typeface="Arial"/>
                <a:ea typeface="Arial"/>
                <a:cs typeface="Arial"/>
              </a:rPr>
              <a:t>A data project</a:t>
            </a:r>
          </a:p>
        </p:txBody>
      </p:sp>
      <p:sp>
        <p:nvSpPr>
          <p:cNvPr id="11" name="Explore real data.">
            <a:extLst xmlns:a="http://schemas.openxmlformats.org/drawingml/2006/main">
              <a:ext uri="{FF2B5EF4-FFF2-40B4-BE49-F238E27FC236}">
                <a16:creationId xmlns:a16="http://schemas.microsoft.com/office/drawing/2014/main" id="{0817C7DF-F729-40EA-BDA1-983FDA244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715000"/>
            <a:ext cx="3905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0025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00254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02540"/>
                </a:solidFill>
                <a:latin typeface="Arial"/>
                <a:ea typeface="Arial"/>
                <a:cs typeface="Arial"/>
              </a:rPr>
              <a:t>Explore real data.</a:t>
            </a:r>
          </a:p>
          <a:p xmlns:a="http://schemas.openxmlformats.org/drawingml/2006/main">
            <a:pPr>
              <a:defRPr sz="2025" b="0">
                <a:solidFill>
                  <a:srgbClr val="00254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02540"/>
                </a:solidFill>
                <a:latin typeface="Arial"/>
                <a:ea typeface="Arial"/>
                <a:cs typeface="Arial"/>
              </a:rPr>
              <a:t>Create charts that explain it.</a:t>
            </a:r>
          </a:p>
        </p:txBody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CC9C25-2465-465E-8768-23BFC05173D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38b736d7674a41"/>
          <a:stretch xmlns:a="http://schemas.openxmlformats.org/drawingml/2006/main"/>
        </p:blipFill>
        <p:spPr>
          <a:xfrm xmlns:a="http://schemas.openxmlformats.org/drawingml/2006/main">
            <a:off x="5476875" y="5267325"/>
            <a:ext cx="638175" cy="638175"/>
          </a:xfrm>
          <a:prstGeom xmlns:a="http://schemas.openxmlformats.org/drawingml/2006/main" prst="rect">
            <a:avLst/>
          </a:prstGeom>
        </p:spPr>
      </p:pic>
      <p:sp>
        <p:nvSpPr>
          <p:cNvPr id="13" name="A prediction model">
            <a:extLst xmlns:a="http://schemas.openxmlformats.org/drawingml/2006/main">
              <a:ext uri="{FF2B5EF4-FFF2-40B4-BE49-F238E27FC236}">
                <a16:creationId xmlns:a16="http://schemas.microsoft.com/office/drawing/2014/main" id="{745389B6-B6F7-4D40-943F-A6425B5CB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229225"/>
            <a:ext cx="34861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6500B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6500BC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6500BC"/>
                </a:solidFill>
                <a:latin typeface="Arial"/>
                <a:ea typeface="Arial"/>
                <a:cs typeface="Arial"/>
              </a:rPr>
              <a:t>A prediction model</a:t>
            </a:r>
          </a:p>
        </p:txBody>
      </p:sp>
      <p:sp>
        <p:nvSpPr>
          <p:cNvPr id="14" name="Train a model.">
            <a:extLst xmlns:a="http://schemas.openxmlformats.org/drawingml/2006/main">
              <a:ext uri="{FF2B5EF4-FFF2-40B4-BE49-F238E27FC236}">
                <a16:creationId xmlns:a16="http://schemas.microsoft.com/office/drawing/2014/main" id="{1FE1D1B0-D9A6-4B69-BFBC-1BB19E995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715000"/>
            <a:ext cx="34861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0025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00254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02540"/>
                </a:solidFill>
                <a:latin typeface="Arial"/>
                <a:ea typeface="Arial"/>
                <a:cs typeface="Arial"/>
              </a:rPr>
              <a:t>Train a model.</a:t>
            </a:r>
          </a:p>
          <a:p xmlns:a="http://schemas.openxmlformats.org/drawingml/2006/main">
            <a:pPr>
              <a:defRPr sz="2025" b="0">
                <a:solidFill>
                  <a:srgbClr val="00254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02540"/>
                </a:solidFill>
                <a:latin typeface="Arial"/>
                <a:ea typeface="Arial"/>
                <a:cs typeface="Arial"/>
              </a:rPr>
              <a:t>Test its predictions.</a:t>
            </a:r>
          </a:p>
        </p:txBody>
      </p:sp>
      <p:sp>
        <p:nvSpPr>
          <p:cNvPr id="15" name="8 weeks">
            <a:extLst xmlns:a="http://schemas.openxmlformats.org/drawingml/2006/main">
              <a:ext uri="{FF2B5EF4-FFF2-40B4-BE49-F238E27FC236}">
                <a16:creationId xmlns:a16="http://schemas.microsoft.com/office/drawing/2014/main" id="{150B4A32-BCF9-4F47-BBDC-1A51E45B3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724650"/>
            <a:ext cx="2190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925" b="1">
                <a:solidFill>
                  <a:srgbClr val="0025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925" b="1">
                <a:solidFill>
                  <a:srgbClr val="002540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002540"/>
                </a:solidFill>
                <a:latin typeface="Arial"/>
                <a:ea typeface="Arial"/>
                <a:cs typeface="Arial"/>
              </a:rPr>
              <a:t>8 weeks</a:t>
            </a:r>
          </a:p>
        </p:txBody>
      </p:sp>
      <p:sp>
        <p:nvSpPr>
          <p:cNvPr id="16" name="Max. 5 learners">
            <a:extLst xmlns:a="http://schemas.openxmlformats.org/drawingml/2006/main">
              <a:ext uri="{FF2B5EF4-FFF2-40B4-BE49-F238E27FC236}">
                <a16:creationId xmlns:a16="http://schemas.microsoft.com/office/drawing/2014/main" id="{7ED18561-134C-4BDE-9EDC-5E01D9F37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6734175"/>
            <a:ext cx="34290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0025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00254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2540"/>
                </a:solidFill>
                <a:latin typeface="Arial"/>
                <a:ea typeface="Arial"/>
                <a:cs typeface="Arial"/>
              </a:rPr>
              <a:t>Max. 5 learners</a:t>
            </a:r>
          </a:p>
          <a:p xmlns:a="http://schemas.openxmlformats.org/drawingml/2006/main">
            <a:pPr>
              <a:defRPr sz="2175" b="1">
                <a:solidFill>
                  <a:srgbClr val="00254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2540"/>
                </a:solidFill>
                <a:latin typeface="Arial"/>
                <a:ea typeface="Arial"/>
                <a:cs typeface="Arial"/>
              </a:rPr>
              <a:t>per group</a:t>
            </a:r>
          </a:p>
        </p:txBody>
      </p:sp>
      <p:sp>
        <p:nvSpPr>
          <p:cNvPr id="17" name="15 places">
            <a:extLst xmlns:a="http://schemas.openxmlformats.org/drawingml/2006/main">
              <a:ext uri="{FF2B5EF4-FFF2-40B4-BE49-F238E27FC236}">
                <a16:creationId xmlns:a16="http://schemas.microsoft.com/office/drawing/2014/main" id="{2B043D7A-EC28-43E6-82E7-C309E4391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6715125"/>
            <a:ext cx="266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6500B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6500BC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6500BC"/>
                </a:solidFill>
                <a:latin typeface="Arial"/>
                <a:ea typeface="Arial"/>
                <a:cs typeface="Arial"/>
              </a:rPr>
              <a:t>15 places</a:t>
            </a:r>
          </a:p>
        </p:txBody>
      </p:sp>
      <p:sp>
        <p:nvSpPr>
          <p:cNvPr id="18" name="across the programme">
            <a:extLst xmlns:a="http://schemas.openxmlformats.org/drawingml/2006/main">
              <a:ext uri="{FF2B5EF4-FFF2-40B4-BE49-F238E27FC236}">
                <a16:creationId xmlns:a16="http://schemas.microsoft.com/office/drawing/2014/main" id="{296C6057-5880-4610-BB5A-DA9F07F14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7277100"/>
            <a:ext cx="26860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0025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00254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2540"/>
                </a:solidFill>
                <a:latin typeface="Arial"/>
                <a:ea typeface="Arial"/>
                <a:cs typeface="Arial"/>
              </a:rPr>
              <a:t>across the programme</a:t>
            </a:r>
          </a:p>
        </p:txBody>
      </p:sp>
      <p:sp>
        <p:nvSpPr>
          <p:cNvPr id="19" name="UGX 1,000,000 per learner">
            <a:extLst xmlns:a="http://schemas.openxmlformats.org/drawingml/2006/main">
              <a:ext uri="{FF2B5EF4-FFF2-40B4-BE49-F238E27FC236}">
                <a16:creationId xmlns:a16="http://schemas.microsoft.com/office/drawing/2014/main" id="{618D0BB5-B219-4C0C-83B5-18C0953DD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581900"/>
            <a:ext cx="9220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25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254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2540"/>
                </a:solidFill>
                <a:latin typeface="Arial"/>
                <a:ea typeface="Arial"/>
                <a:cs typeface="Arial"/>
              </a:rPr>
              <a:t>UGX 1,000,000 per learner</a:t>
            </a:r>
          </a:p>
        </p:txBody>
      </p:sp>
      <p:sp>
        <p:nvSpPr>
          <p:cNvPr id="20" name="No coding experience needed. Bring a Windows or Mac laptop.">
            <a:extLst xmlns:a="http://schemas.openxmlformats.org/drawingml/2006/main">
              <a:ext uri="{FF2B5EF4-FFF2-40B4-BE49-F238E27FC236}">
                <a16:creationId xmlns:a16="http://schemas.microsoft.com/office/drawing/2014/main" id="{565E97A5-9439-4EAD-85AA-3BC04B346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05775"/>
            <a:ext cx="923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0025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00254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02540"/>
                </a:solidFill>
                <a:latin typeface="Arial"/>
                <a:ea typeface="Arial"/>
                <a:cs typeface="Arial"/>
              </a:rPr>
              <a:t>No coding experience needed. Bring a Windows or Mac laptop.</a:t>
            </a:r>
          </a:p>
        </p:txBody>
      </p:sp>
      <p:sp>
        <p:nvSpPr>
          <p:cNvPr id="21" name="Registration footer background">
            <a:extLst xmlns:a="http://schemas.openxmlformats.org/drawingml/2006/main">
              <a:ext uri="{FF2B5EF4-FFF2-40B4-BE49-F238E27FC236}">
                <a16:creationId xmlns:a16="http://schemas.microsoft.com/office/drawing/2014/main" id="{D900F4D5-71A9-4BF7-87B6-7E7654DDA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591550"/>
            <a:ext cx="102870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540"/>
          </a:solidFill>
          <a:ln xmlns:a="http://schemas.openxmlformats.org/drawingml/2006/main" w="0">
            <a:noFill/>
          </a:ln>
        </p:spPr>
      </p:sp>
      <p:sp>
        <p:nvSpPr>
          <p:cNvPr id="22" name="Register your interest">
            <a:extLst xmlns:a="http://schemas.openxmlformats.org/drawingml/2006/main">
              <a:ext uri="{FF2B5EF4-FFF2-40B4-BE49-F238E27FC236}">
                <a16:creationId xmlns:a16="http://schemas.microsoft.com/office/drawing/2014/main" id="{FCA8E548-9B32-410A-854C-D121D71A1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810625"/>
            <a:ext cx="7124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625" b="1">
                <a:solidFill>
                  <a:srgbClr val="FFDB5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625" b="1">
                <a:solidFill>
                  <a:srgbClr val="FFDB55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FFDB55"/>
                </a:solidFill>
                <a:latin typeface="Arial"/>
                <a:ea typeface="Arial"/>
                <a:cs typeface="Arial"/>
              </a:rPr>
              <a:t>Register your interest</a:t>
            </a:r>
          </a:p>
        </p:txBody>
      </p:sp>
      <p:sp>
        <p:nvSpPr>
          <p:cNvPr id="23" name="forms.gle/n8XLwbK1QxcUsRnx5">
            <a:extLst xmlns:a="http://schemas.openxmlformats.org/drawingml/2006/main">
              <a:ext uri="{FF2B5EF4-FFF2-40B4-BE49-F238E27FC236}">
                <a16:creationId xmlns:a16="http://schemas.microsoft.com/office/drawing/2014/main" id="{DC387C8C-9EC1-4DEE-B404-BA182CBA8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382125"/>
            <a:ext cx="71723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forms.gle/n8XLwbK1QxcUsRnx5</a:t>
            </a:r>
          </a:p>
        </p:txBody>
      </p:sp>
      <p:sp>
        <p:nvSpPr>
          <p:cNvPr id="24" name="Calls &amp; WhatsApp: +256 750 990 718">
            <a:extLst xmlns:a="http://schemas.openxmlformats.org/drawingml/2006/main">
              <a:ext uri="{FF2B5EF4-FFF2-40B4-BE49-F238E27FC236}">
                <a16:creationId xmlns:a16="http://schemas.microsoft.com/office/drawing/2014/main" id="{595DC9C7-E101-495A-A526-9BFF0C065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915525"/>
            <a:ext cx="71723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Calls &amp; WhatsApp: +256 750 990 718</a:t>
            </a:r>
          </a:p>
        </p:txBody>
      </p:sp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11DC345-9084-4ECB-A209-9C31AC0880C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ed8db42cd8478b"/>
          <a:stretch xmlns:a="http://schemas.openxmlformats.org/drawingml/2006/main"/>
        </p:blipFill>
        <p:spPr>
          <a:xfrm xmlns:a="http://schemas.openxmlformats.org/drawingml/2006/main">
            <a:off x="8039100" y="8743950"/>
            <a:ext cx="1428750" cy="1428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784187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2026-10-15T05:56:21.4210000Z</dcterms:created>
  <dcterms:modified xsi:type="dcterms:W3CDTF">2026-10-15T05:56:21.4210000Z</dcterms:modified>
</coreProperties>
</file>