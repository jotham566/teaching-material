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839cae210402e" /><Relationship Type="http://schemas.openxmlformats.org/officeDocument/2006/relationships/extended-properties" Target="/docProps/app.xml" Id="R61664e4114724dfc" /><Relationship Type="http://schemas.openxmlformats.org/officeDocument/2006/relationships/officeDocument" Target="/ppt/presentation.xml" Id="Recddf388be8140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981fe02ff74f38"/>
  </p:sldMasterIdLst>
  <p:notesMasterIdLst>
    <p:notesMasterId xmlns:r="http://schemas.openxmlformats.org/officeDocument/2006/relationships" r:id="Rc8f9b9e072984a15"/>
  </p:notesMasterIdLst>
  <p:sldIdLst>
    <p:sldId xmlns:r="http://schemas.openxmlformats.org/officeDocument/2006/relationships" id="256" r:id="Rf1a50f66671248e2"/>
  </p:sldIdLst>
  <p:sldSz cx="9753600" cy="16916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89001439804cc1" /><Relationship Type="http://schemas.openxmlformats.org/officeDocument/2006/relationships/slideMaster" Target="/ppt/slideMasters/slideMaster1.xml" Id="R13981fe02ff74f38" /><Relationship Type="http://schemas.openxmlformats.org/officeDocument/2006/relationships/notesMaster" Target="/ppt/notesMasters/notesMaster1.xml" Id="Rc8f9b9e072984a15" /><Relationship Type="http://schemas.openxmlformats.org/officeDocument/2006/relationships/presProps" Target="/ppt/presProps.xml" Id="Rb5857efd0a87405d" /><Relationship Type="http://schemas.openxmlformats.org/officeDocument/2006/relationships/tableStyles" Target="/ppt/tableStyles.xml" Id="Rae9cbb2ff6824cd6" /><Relationship Type="http://schemas.openxmlformats.org/officeDocument/2006/relationships/slide" Target="/ppt/slides/slide1.xml" Id="Rf1a50f666712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9ea1eb55b347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ac825524e0461d" /><Relationship Type="http://schemas.openxmlformats.org/officeDocument/2006/relationships/notesMaster" Target="/ppt/notesMasters/notesMaster1.xml" Id="R35ba32f4d27049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Sources and artwork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Portrait: the organiser's original `Jotham Martin Wambi Pic.jpeg`, included unchanged as `assets/actual-portrait.jpeg`. `assets/actual-portrait-cutout.png` uses the actual photographic subject with a foreground mask from Apple Vision. The face, clothing and pose were not regenerated or retouched. `source/mask_portrait.swift` records the masking operation. Colour decoding and transparency are part of normal raster compositing.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reference: organiser-supplied `Pasted 2026-09-28 at 10.39.12 AM.png`. The reconstructed classroom, desk, books, mug and brush artwork follows that reference. The background is reconstructed raster artwork, not the original editable design file. The classroom-only plate was prepared using built-in ImageGen, with the generated person removed; the original photographic cutout is a separate layer. See IMAGE_PROMPTS.md.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original top composition, pastel course panels, dark fee/contact blocks and books-and-mug footer are retained. The middle panel is extended by 240 pixels; canvas 1024 × 1776. This creates space for the user's expanded learning lists and Build outcomes without compressing the original top and footer.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copy and examples: organiser's preceding request. Pricing and contact wording follow the supplied reference. “Incoming PhD” refers to April 2027; OMU means Osaka Metropolitan University. No institutional sponsorship is implied. Exact venue and dates are not supplied. The working supplied QR opens https://wa.me/256750990718.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Internet logos/icons: Devicon (Python, pandas and scikit-learn), Font Awesome Free (supporting icons), Tabler (network), Carbon (prediction symbol in prior revision), Microsoft Fluent Emoji (chart in prior revision). Caveat font: Google Fonts. The original URLs and license notices remain in assets/internet-sources.json and the license files. Some earlier unused vector assets are retained for future edits.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c5d499a124a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2ef84a7a44e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a137a1b5342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15758b90749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918ce39aa46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b628a04f64d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76034BE-62AE-4727-921E-8E2E46E2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960" y="5450840"/>
            <a:ext cx="487680" cy="939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F7F384-EFF2-4656-83FB-38045DF9C7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5360" y="6390640"/>
            <a:ext cx="7802880" cy="244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81FF9D6-9B63-4DC2-8DA6-B95DE3CE2D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63040" y="9304020"/>
            <a:ext cx="6827520" cy="187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24DCAB7-3928-47F0-B9CE-BD4CD530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960" y="6108700"/>
            <a:ext cx="487680" cy="939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B87C42-DACB-4D14-84C4-308DA4B930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5360" y="7048500"/>
            <a:ext cx="780288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B6CB464-AD43-4A73-B050-4A887A39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59200"/>
            <a:ext cx="487680" cy="939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EDF9BA-50BE-4A6E-B8E6-4400EE837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1315720"/>
            <a:ext cx="8656320" cy="206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D648A93-8970-4194-B21C-F334EDA727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4699000"/>
            <a:ext cx="8656320" cy="1052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180A011-1659-49E9-AFA5-6FE118B7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59200"/>
            <a:ext cx="487680" cy="939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1CC102-9CC4-4FA1-B7A7-8F03C829A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1315720"/>
            <a:ext cx="8656320" cy="206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DABFAE-FE2C-4F82-BB96-9BFDB4E8AE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4699000"/>
            <a:ext cx="4023360" cy="1052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07B345-DDBC-441E-B4D7-C7C749D875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181600" y="4699000"/>
            <a:ext cx="4023360" cy="1052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A95D517-0633-41E9-BE60-40A6AF1A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59200"/>
            <a:ext cx="487680" cy="939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87167D-5675-4FAB-A089-A5692364EA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1315720"/>
            <a:ext cx="8656320" cy="206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FC765B-3300-40CF-BFE2-BA8295F7D5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4699000"/>
            <a:ext cx="4023360" cy="1052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67c18efdb94b89" /><Relationship Type="http://schemas.openxmlformats.org/officeDocument/2006/relationships/slideLayout" Target="/ppt/slideLayouts/slideLayout1.xml" Id="R7a1cebfa851a4b2c" /><Relationship Type="http://schemas.openxmlformats.org/officeDocument/2006/relationships/slideLayout" Target="/ppt/slideLayouts/slideLayout2.xml" Id="R933dc7f8db3a4c2d" /><Relationship Type="http://schemas.openxmlformats.org/officeDocument/2006/relationships/slideLayout" Target="/ppt/slideLayouts/slideLayout3.xml" Id="R4747145ffeb04705" /><Relationship Type="http://schemas.openxmlformats.org/officeDocument/2006/relationships/slideLayout" Target="/ppt/slideLayouts/slideLayout4.xml" Id="R1e1d6c5a51944c70" /><Relationship Type="http://schemas.openxmlformats.org/officeDocument/2006/relationships/slideLayout" Target="/ppt/slideLayouts/slideLayout5.xml" Id="R9fd1a300a30b45b8" /><Relationship Type="http://schemas.openxmlformats.org/officeDocument/2006/relationships/slideLayout" Target="/ppt/slideLayouts/slideLayout6.xml" Id="Rbc216f1dbec949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1cebfa851a4b2c"/>
    <p:sldLayoutId xmlns:r="http://schemas.openxmlformats.org/officeDocument/2006/relationships" id="2147483650" r:id="R933dc7f8db3a4c2d"/>
    <p:sldLayoutId xmlns:r="http://schemas.openxmlformats.org/officeDocument/2006/relationships" id="2147483651" r:id="R4747145ffeb04705"/>
    <p:sldLayoutId xmlns:r="http://schemas.openxmlformats.org/officeDocument/2006/relationships" id="2147483652" r:id="R1e1d6c5a51944c70"/>
    <p:sldLayoutId xmlns:r="http://schemas.openxmlformats.org/officeDocument/2006/relationships" id="2147483653" r:id="R9fd1a300a30b45b8"/>
    <p:sldLayoutId xmlns:r="http://schemas.openxmlformats.org/officeDocument/2006/relationships" id="2147483654" r:id="Rbc216f1dbec949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0150124c040c9" /><Relationship Type="http://schemas.openxmlformats.org/officeDocument/2006/relationships/image" Target="/ppt/media/image.png" Id="Rf2f2b7e0ee094fec" /><Relationship Type="http://schemas.openxmlformats.org/officeDocument/2006/relationships/image" Target="/ppt/media/image2.png" Id="R0e80bfa40c9e4e14" /><Relationship Type="http://schemas.openxmlformats.org/officeDocument/2006/relationships/image" Target="/ppt/media/image3.png" Id="Rf4f65832299b4f59" /><Relationship Type="http://schemas.openxmlformats.org/officeDocument/2006/relationships/image" Target="/ppt/media/image4.png" Id="R0fe33940296d4888" /><Relationship Type="http://schemas.openxmlformats.org/officeDocument/2006/relationships/image" Target="/ppt/media/image5.png" Id="Ra97dcf3a5d9f459b" /><Relationship Type="http://schemas.openxmlformats.org/officeDocument/2006/relationships/image" Target="/ppt/media/image6.png" Id="Rbd0b3bf0e87b49c4" /><Relationship Type="http://schemas.openxmlformats.org/officeDocument/2006/relationships/image" Target="/ppt/media/image7.png" Id="Ra83da2c6656b453a" /><Relationship Type="http://schemas.openxmlformats.org/officeDocument/2006/relationships/image" Target="/ppt/media/image8.png" Id="R128286d540b94fa8" /><Relationship Type="http://schemas.openxmlformats.org/officeDocument/2006/relationships/image" Target="/ppt/media/image9.png" Id="Raeb35770fff2448e" /><Relationship Type="http://schemas.openxmlformats.org/officeDocument/2006/relationships/image" Target="/ppt/media/image10.png" Id="R2a08f9cd240543d5" /><Relationship Type="http://schemas.openxmlformats.org/officeDocument/2006/relationships/image" Target="/ppt/media/image11.png" Id="Rdf0fbbb423cf4596" /><Relationship Type="http://schemas.openxmlformats.org/officeDocument/2006/relationships/image" Target="/ppt/media/image12.png" Id="Rb18f03290db7444c" /><Relationship Type="http://schemas.openxmlformats.org/officeDocument/2006/relationships/image" Target="/ppt/media/image13.png" Id="R86f4fca14633485e" /><Relationship Type="http://schemas.openxmlformats.org/officeDocument/2006/relationships/image" Target="/ppt/media/image14.png" Id="R2c7cf53ec05b4c35" /><Relationship Type="http://schemas.openxmlformats.org/officeDocument/2006/relationships/image" Target="/ppt/media/image15.png" Id="Re803ae132b33496a" /><Relationship Type="http://schemas.openxmlformats.org/officeDocument/2006/relationships/image" Target="/ppt/media/image16.png" Id="Rf1a22809efd648c0" /><Relationship Type="http://schemas.openxmlformats.org/officeDocument/2006/relationships/image" Target="/ppt/media/image17.png" Id="Ra9f29e404c22461a" /><Relationship Type="http://schemas.openxmlformats.org/officeDocument/2006/relationships/image" Target="/ppt/media/image18.png" Id="R7e6c3e45022a41ce" /><Relationship Type="http://schemas.openxmlformats.org/officeDocument/2006/relationships/image" Target="/ppt/media/image19.png" Id="R1bd71fba325f4da6" /><Relationship Type="http://schemas.openxmlformats.org/officeDocument/2006/relationships/image" Target="/ppt/media/image20.png" Id="R4941554832d44763" /><Relationship Type="http://schemas.openxmlformats.org/officeDocument/2006/relationships/image" Target="/ppt/media/image21.png" Id="R6235f94c55d74bed" /><Relationship Type="http://schemas.openxmlformats.org/officeDocument/2006/relationships/image" Target="/ppt/media/image22.png" Id="Rb176a39b8f71472a" /><Relationship Type="http://schemas.openxmlformats.org/officeDocument/2006/relationships/notesSlide" Target="/ppt/notesSlides/notesSlide1.xml" Id="R65ac8a63868146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2b7e0ee094fec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14630400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0bfa40c9e4e14"/>
          <a:stretch xmlns:a="http://schemas.openxmlformats.org/drawingml/2006/main"/>
        </p:blipFill>
        <p:spPr>
          <a:xfrm xmlns:a="http://schemas.openxmlformats.org/drawingml/2006/main">
            <a:off x="0" y="13525500"/>
            <a:ext cx="9753600" cy="3390900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65832299b4f59"/>
          <a:stretch xmlns:a="http://schemas.openxmlformats.org/drawingml/2006/main"/>
        </p:blipFill>
        <p:spPr>
          <a:xfrm xmlns:a="http://schemas.openxmlformats.org/drawingml/2006/main">
            <a:off x="3581400" y="760"/>
            <a:ext cx="5467350" cy="6751706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33940296d4888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5886450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dcf3a5d9f459b"/>
          <a:stretch xmlns:a="http://schemas.openxmlformats.org/drawingml/2006/main"/>
        </p:blipFill>
        <p:spPr>
          <a:xfrm xmlns:a="http://schemas.openxmlformats.org/drawingml/2006/main">
            <a:off x="0" y="13525500"/>
            <a:ext cx="9753600" cy="3390900"/>
          </a:xfrm>
          <a:prstGeom xmlns:a="http://schemas.openxmlformats.org/drawingml/2006/main" prst="rect">
            <a:avLst/>
          </a:prstGeom>
        </p:spPr>
      </p:pic>
      <p:sp>
        <p:nvSpPr>
          <p:cNvPr id="6" name="Intake">
            <a:extLst xmlns:a="http://schemas.openxmlformats.org/drawingml/2006/main">
              <a:ext uri="{FF2B5EF4-FFF2-40B4-BE49-F238E27FC236}">
                <a16:creationId xmlns:a16="http://schemas.microsoft.com/office/drawing/2014/main" id="{3B2DD500-A011-4D05-9840-40771D7A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428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49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6A"/>
                </a:solidFill>
                <a:latin typeface="Arial"/>
                <a:ea typeface="Arial"/>
                <a:cs typeface="Arial"/>
              </a:rPr>
              <a:t>D E C E M B E R   2 0 2 6   I N T A K E</a:t>
            </a:r>
          </a:p>
        </p:txBody>
      </p:sp>
      <p:sp>
        <p:nvSpPr>
          <p:cNvPr id="7" name="Holiday title">
            <a:extLst xmlns:a="http://schemas.openxmlformats.org/drawingml/2006/main">
              <a:ext uri="{FF2B5EF4-FFF2-40B4-BE49-F238E27FC236}">
                <a16:creationId xmlns:a16="http://schemas.microsoft.com/office/drawing/2014/main" id="{4928FE43-07D3-4DD2-ABFC-41718B71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723900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75" b="0">
                <a:solidFill>
                  <a:srgbClr val="002342"/>
                </a:solidFill>
                <a:latin typeface="Arial Black"/>
                <a:ea typeface="Arial Black"/>
                <a:cs typeface="Arial Black"/>
              </a:defRPr>
            </a:pPr>
            <a:r>
              <a:rPr sz="7575" b="0">
                <a:solidFill>
                  <a:srgbClr val="002342"/>
                </a:solidFill>
                <a:latin typeface="Arial Black"/>
                <a:ea typeface="Arial Black"/>
                <a:cs typeface="Arial Black"/>
              </a:rPr>
              <a:t>HOLIDAY</a:t>
            </a:r>
          </a:p>
        </p:txBody>
      </p:sp>
      <p:sp>
        <p:nvSpPr>
          <p:cNvPr id="8" name="Data title">
            <a:extLst xmlns:a="http://schemas.openxmlformats.org/drawingml/2006/main">
              <a:ext uri="{FF2B5EF4-FFF2-40B4-BE49-F238E27FC236}">
                <a16:creationId xmlns:a16="http://schemas.microsoft.com/office/drawing/2014/main" id="{1F09180F-C8C7-433B-8145-6575F350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1676400"/>
            <a:ext cx="3000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0">
                <a:solidFill>
                  <a:srgbClr val="007DDD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007DDD"/>
                </a:solidFill>
                <a:latin typeface="Arial Black"/>
                <a:ea typeface="Arial Black"/>
                <a:cs typeface="Arial Black"/>
              </a:rPr>
              <a:t>DATA</a:t>
            </a:r>
          </a:p>
        </p:txBody>
      </p:sp>
      <p:sp>
        <p:nvSpPr>
          <p:cNvPr id="9" name="Ampersand">
            <a:extLst xmlns:a="http://schemas.openxmlformats.org/drawingml/2006/main">
              <a:ext uri="{FF2B5EF4-FFF2-40B4-BE49-F238E27FC236}">
                <a16:creationId xmlns:a16="http://schemas.microsoft.com/office/drawing/2014/main" id="{8111263A-06E7-4344-89FB-597821E5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1676400"/>
            <a:ext cx="904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0">
                <a:solidFill>
                  <a:srgbClr val="692BCB"/>
                </a:solidFill>
                <a:latin typeface="Arial Black"/>
                <a:ea typeface="Arial Black"/>
                <a:cs typeface="Arial Black"/>
              </a:defRPr>
            </a:pPr>
            <a:r>
              <a:rPr sz="7500" b="0">
                <a:solidFill>
                  <a:srgbClr val="692BCB"/>
                </a:solidFill>
                <a:latin typeface="Arial Black"/>
                <a:ea typeface="Arial Black"/>
                <a:cs typeface="Arial Black"/>
              </a:rPr>
              <a:t>&amp;</a:t>
            </a:r>
          </a:p>
        </p:txBody>
      </p:sp>
      <p:sp>
        <p:nvSpPr>
          <p:cNvPr id="10" name="AI title">
            <a:extLst xmlns:a="http://schemas.openxmlformats.org/drawingml/2006/main">
              <a:ext uri="{FF2B5EF4-FFF2-40B4-BE49-F238E27FC236}">
                <a16:creationId xmlns:a16="http://schemas.microsoft.com/office/drawing/2014/main" id="{E60A4211-8C2F-4633-82FC-A546E4E6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425" y="1676400"/>
            <a:ext cx="1276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0">
                <a:solidFill>
                  <a:srgbClr val="0349D2"/>
                </a:solidFill>
                <a:latin typeface="Arial Black"/>
                <a:ea typeface="Arial Black"/>
                <a:cs typeface="Arial Black"/>
              </a:defRPr>
            </a:pPr>
            <a:r>
              <a:rPr sz="7500" b="0">
                <a:solidFill>
                  <a:srgbClr val="0349D2"/>
                </a:solidFill>
                <a:latin typeface="Arial Black"/>
                <a:ea typeface="Arial Black"/>
                <a:cs typeface="Arial Black"/>
              </a:rPr>
              <a:t>AI</a:t>
            </a:r>
          </a:p>
        </p:txBody>
      </p:sp>
      <p:sp>
        <p:nvSpPr>
          <p:cNvPr id="11" name="Camp title">
            <a:extLst xmlns:a="http://schemas.openxmlformats.org/drawingml/2006/main">
              <a:ext uri="{FF2B5EF4-FFF2-40B4-BE49-F238E27FC236}">
                <a16:creationId xmlns:a16="http://schemas.microsoft.com/office/drawing/2014/main" id="{BEF71FB4-7E23-42C8-A1FB-B1FF4BF6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2571750"/>
            <a:ext cx="4381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0">
                <a:solidFill>
                  <a:srgbClr val="002342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002342"/>
                </a:solidFill>
                <a:latin typeface="Arial Black"/>
                <a:ea typeface="Arial Black"/>
                <a:cs typeface="Arial Black"/>
              </a:rPr>
              <a:t>CAMP</a:t>
            </a:r>
          </a:p>
        </p:txBody>
      </p:sp>
      <p:sp>
        <p:nvSpPr>
          <p:cNvPr id="12" name="Promise line one">
            <a:extLst xmlns:a="http://schemas.openxmlformats.org/drawingml/2006/main">
              <a:ext uri="{FF2B5EF4-FFF2-40B4-BE49-F238E27FC236}">
                <a16:creationId xmlns:a16="http://schemas.microsoft.com/office/drawing/2014/main" id="{0CF96AB1-3367-4509-9161-018004A3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39909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Practical skills. Real projects.</a:t>
            </a:r>
          </a:p>
        </p:txBody>
      </p:sp>
      <p:sp>
        <p:nvSpPr>
          <p:cNvPr id="13" name="Promise line two">
            <a:extLst xmlns:a="http://schemas.openxmlformats.org/drawingml/2006/main">
              <a:ext uri="{FF2B5EF4-FFF2-40B4-BE49-F238E27FC236}">
                <a16:creationId xmlns:a16="http://schemas.microsoft.com/office/drawing/2014/main" id="{8503659E-DCC9-406A-801A-84EE2810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43624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Greater opportunities.</a:t>
            </a:r>
          </a:p>
        </p:txBody>
      </p:sp>
      <p:sp>
        <p:nvSpPr>
          <p:cNvPr id="14" name="Middle slogan line one">
            <a:extLst xmlns:a="http://schemas.openxmlformats.org/drawingml/2006/main">
              <a:ext uri="{FF2B5EF4-FFF2-40B4-BE49-F238E27FC236}">
                <a16:creationId xmlns:a16="http://schemas.microsoft.com/office/drawing/2014/main" id="{A961290A-9807-4A55-9626-6C058C4C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419100" y="48768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34C5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0034C5"/>
                </a:solidFill>
                <a:latin typeface="Caveat"/>
                <a:ea typeface="Caveat"/>
                <a:cs typeface="Caveat"/>
              </a:rPr>
              <a:t>Skills today.</a:t>
            </a:r>
          </a:p>
        </p:txBody>
      </p:sp>
      <p:sp>
        <p:nvSpPr>
          <p:cNvPr id="15" name="Middle slogan line two">
            <a:extLst xmlns:a="http://schemas.openxmlformats.org/drawingml/2006/main">
              <a:ext uri="{FF2B5EF4-FFF2-40B4-BE49-F238E27FC236}">
                <a16:creationId xmlns:a16="http://schemas.microsoft.com/office/drawing/2014/main" id="{AF045D4F-6E21-4FEF-954A-C6FA7A0C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466725" y="5210175"/>
            <a:ext cx="3781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34C5"/>
                </a:solidFill>
                <a:latin typeface="Caveat"/>
                <a:ea typeface="Caveat"/>
                <a:cs typeface="Caveat"/>
              </a:defRPr>
            </a:pPr>
            <a:r>
              <a:rPr sz="2625" b="1">
                <a:solidFill>
                  <a:srgbClr val="0034C5"/>
                </a:solidFill>
                <a:latin typeface="Caveat"/>
                <a:ea typeface="Caveat"/>
                <a:cs typeface="Caveat"/>
              </a:rPr>
              <a:t>Greater opportunities tomorrow.</a:t>
            </a:r>
          </a:p>
        </p:txBody>
      </p:sp>
      <p:sp>
        <p:nvSpPr>
          <p:cNvPr id="16" name="Top right slogan">
            <a:extLst xmlns:a="http://schemas.openxmlformats.org/drawingml/2006/main">
              <a:ext uri="{FF2B5EF4-FFF2-40B4-BE49-F238E27FC236}">
                <a16:creationId xmlns:a16="http://schemas.microsoft.com/office/drawing/2014/main" id="{4EEC1431-6F8A-4768-9096-6B48D2D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839075" y="933450"/>
            <a:ext cx="178117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Today’s</a:t>
            </a:r>
          </a:p>
          <a:p xmlns:a="http://schemas.openxmlformats.org/drawingml/2006/main">
            <a:pPr algn="ctr">
              <a:defRPr sz="285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Learners.</a:t>
            </a:r>
          </a:p>
          <a:p xmlns:a="http://schemas.openxmlformats.org/drawingml/2006/main">
            <a:pPr algn="ctr">
              <a:defRPr sz="285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Tomorrow’s</a:t>
            </a:r>
          </a:p>
          <a:p xmlns:a="http://schemas.openxmlformats.org/drawingml/2006/main">
            <a:pPr algn="ctr">
              <a:defRPr sz="285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Leaders.</a:t>
            </a:r>
          </a:p>
        </p:txBody>
      </p:sp>
      <p:sp>
        <p:nvSpPr>
          <p:cNvPr id="17" name="Tutor information panel">
            <a:extLst xmlns:a="http://schemas.openxmlformats.org/drawingml/2006/main">
              <a:ext uri="{FF2B5EF4-FFF2-40B4-BE49-F238E27FC236}">
                <a16:creationId xmlns:a16="http://schemas.microsoft.com/office/drawing/2014/main" id="{4F67A0F3-6A3E-4F9C-BA53-69E2B700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3086100"/>
            <a:ext cx="27432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02342"/>
          </a:solidFill>
          <a:ln xmlns:a="http://schemas.openxmlformats.org/drawingml/2006/main" w="0">
            <a:noFill/>
          </a:ln>
        </p:spPr>
      </p:sp>
      <p:sp>
        <p:nvSpPr>
          <p:cNvPr id="18" name="Tutor name">
            <a:extLst xmlns:a="http://schemas.openxmlformats.org/drawingml/2006/main">
              <a:ext uri="{FF2B5EF4-FFF2-40B4-BE49-F238E27FC236}">
                <a16:creationId xmlns:a16="http://schemas.microsoft.com/office/drawing/2014/main" id="{993F59B9-F80C-4C87-A725-EC6C3781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3190875"/>
            <a:ext cx="2524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Jotham Martin Wambi</a:t>
            </a:r>
          </a:p>
        </p:txBody>
      </p:sp>
      <p:sp>
        <p:nvSpPr>
          <p:cNvPr id="19" name="Tutor role">
            <a:extLst xmlns:a="http://schemas.openxmlformats.org/drawingml/2006/main">
              <a:ext uri="{FF2B5EF4-FFF2-40B4-BE49-F238E27FC236}">
                <a16:creationId xmlns:a16="http://schemas.microsoft.com/office/drawing/2014/main" id="{4923550E-7CD1-4506-9D27-44A20C9A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34766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 Tutor</a:t>
            </a:r>
          </a:p>
        </p:txBody>
      </p:sp>
      <p:sp>
        <p:nvSpPr>
          <p:cNvPr id="20" name="Tutor profession">
            <a:extLst xmlns:a="http://schemas.openxmlformats.org/drawingml/2006/main">
              <a:ext uri="{FF2B5EF4-FFF2-40B4-BE49-F238E27FC236}">
                <a16:creationId xmlns:a16="http://schemas.microsoft.com/office/drawing/2014/main" id="{5A0833A9-F456-4116-81D1-2CECB1E1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3762375"/>
            <a:ext cx="251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Scientist &amp; ML/AI Engineer</a:t>
            </a:r>
          </a:p>
        </p:txBody>
      </p:sp>
      <p:sp>
        <p:nvSpPr>
          <p:cNvPr id="21" name="Tutor institution">
            <a:extLst xmlns:a="http://schemas.openxmlformats.org/drawingml/2006/main">
              <a:ext uri="{FF2B5EF4-FFF2-40B4-BE49-F238E27FC236}">
                <a16:creationId xmlns:a16="http://schemas.microsoft.com/office/drawing/2014/main" id="{96B51D86-077C-4738-B909-5C5B0C0B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401002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Lecturer – AI &amp; Machine Learning,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International University of East Africa (IUEA)</a:t>
            </a:r>
          </a:p>
        </p:txBody>
      </p:sp>
      <p:sp>
        <p:nvSpPr>
          <p:cNvPr id="22" name="Tutor masters">
            <a:extLst xmlns:a="http://schemas.openxmlformats.org/drawingml/2006/main">
              <a:ext uri="{FF2B5EF4-FFF2-40B4-BE49-F238E27FC236}">
                <a16:creationId xmlns:a16="http://schemas.microsoft.com/office/drawing/2014/main" id="{FD2294F8-AC6B-4E19-9BB9-5A4B9C0B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4448175"/>
            <a:ext cx="2524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Master’s – Yamaguchi University, Japan</a:t>
            </a:r>
          </a:p>
        </p:txBody>
      </p:sp>
      <p:sp>
        <p:nvSpPr>
          <p:cNvPr id="23" name="Tutor doctorate">
            <a:extLst xmlns:a="http://schemas.openxmlformats.org/drawingml/2006/main">
              <a:ext uri="{FF2B5EF4-FFF2-40B4-BE49-F238E27FC236}">
                <a16:creationId xmlns:a16="http://schemas.microsoft.com/office/drawing/2014/main" id="{AC233BE0-F334-49B2-853E-8F7DEB92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4686300"/>
            <a:ext cx="2524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Incoming PhD Student – OMU, Japan</a:t>
            </a:r>
          </a:p>
        </p:txBody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b3bf0e87b49c4"/>
          <a:stretch xmlns:a="http://schemas.openxmlformats.org/drawingml/2006/main"/>
        </p:blipFill>
        <p:spPr>
          <a:xfrm xmlns:a="http://schemas.openxmlformats.org/drawingml/2006/main">
            <a:off x="7121128" y="4962525"/>
            <a:ext cx="216694" cy="247650"/>
          </a:xfrm>
          <a:prstGeom xmlns:a="http://schemas.openxmlformats.org/drawingml/2006/main" prst="rect">
            <a:avLst/>
          </a:prstGeom>
        </p:spPr>
      </p:pic>
      <p:sp>
        <p:nvSpPr>
          <p:cNvPr id="25" name="Tutor LinkedIn">
            <a:extLst xmlns:a="http://schemas.openxmlformats.org/drawingml/2006/main">
              <a:ext uri="{FF2B5EF4-FFF2-40B4-BE49-F238E27FC236}">
                <a16:creationId xmlns:a16="http://schemas.microsoft.com/office/drawing/2014/main" id="{9E27355B-0049-4919-B5EF-CE3E4185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4991100"/>
            <a:ext cx="2133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linkedin.com/in/jothammartinwambi</a:t>
            </a:r>
          </a:p>
        </p:txBody>
      </p:sp>
      <p:sp>
        <p:nvSpPr>
          <p:cNvPr id="26" name="Central white sheet">
            <a:extLst xmlns:a="http://schemas.openxmlformats.org/drawingml/2006/main">
              <a:ext uri="{FF2B5EF4-FFF2-40B4-BE49-F238E27FC236}">
                <a16:creationId xmlns:a16="http://schemas.microsoft.com/office/drawing/2014/main" id="{0774071C-1EC1-4493-A2FA-1AD0A28D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5886450"/>
            <a:ext cx="9420225" cy="7715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Data Analysis panel">
            <a:extLst xmlns:a="http://schemas.openxmlformats.org/drawingml/2006/main">
              <a:ext uri="{FF2B5EF4-FFF2-40B4-BE49-F238E27FC236}">
                <a16:creationId xmlns:a16="http://schemas.microsoft.com/office/drawing/2014/main" id="{5B29AC13-1A65-4781-926F-430AFA1E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5991225"/>
            <a:ext cx="4524375" cy="48768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6F6FE"/>
          </a:solidFill>
          <a:ln xmlns:a="http://schemas.openxmlformats.org/drawingml/2006/main" w="0">
            <a:noFill/>
          </a:ln>
        </p:spPr>
      </p:sp>
      <p:sp>
        <p:nvSpPr>
          <p:cNvPr id="28" name="Machine Learning panel">
            <a:extLst xmlns:a="http://schemas.openxmlformats.org/drawingml/2006/main">
              <a:ext uri="{FF2B5EF4-FFF2-40B4-BE49-F238E27FC236}">
                <a16:creationId xmlns:a16="http://schemas.microsoft.com/office/drawing/2014/main" id="{99E1AAA0-5745-427E-8AA0-6DE34095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991225"/>
            <a:ext cx="4524375" cy="48768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2E7FD"/>
          </a:solidFill>
          <a:ln xmlns:a="http://schemas.openxmlformats.org/drawingml/2006/main" w="0">
            <a:noFill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da2c6656b453a"/>
          <a:stretch xmlns:a="http://schemas.openxmlformats.org/drawingml/2006/main"/>
        </p:blipFill>
        <p:spPr>
          <a:xfrm xmlns:a="http://schemas.openxmlformats.org/drawingml/2006/main">
            <a:off x="590550" y="6124575"/>
            <a:ext cx="666750" cy="762000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286d540b94fa8"/>
          <a:stretch xmlns:a="http://schemas.openxmlformats.org/drawingml/2006/main"/>
        </p:blipFill>
        <p:spPr>
          <a:xfrm xmlns:a="http://schemas.openxmlformats.org/drawingml/2006/main">
            <a:off x="5219700" y="612457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31" name="Data Analysis title">
            <a:extLst xmlns:a="http://schemas.openxmlformats.org/drawingml/2006/main">
              <a:ext uri="{FF2B5EF4-FFF2-40B4-BE49-F238E27FC236}">
                <a16:creationId xmlns:a16="http://schemas.microsoft.com/office/drawing/2014/main" id="{4FEC844E-5EDD-4560-BCDD-DD181A11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614362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446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4461"/>
                </a:solidFill>
                <a:latin typeface="Arial"/>
                <a:ea typeface="Arial"/>
                <a:cs typeface="Arial"/>
              </a:rPr>
              <a:t>DATA ANALYSIS</a:t>
            </a:r>
          </a:p>
        </p:txBody>
      </p:sp>
      <p:sp>
        <p:nvSpPr>
          <p:cNvPr id="32" name="ML title">
            <a:extLst xmlns:a="http://schemas.openxmlformats.org/drawingml/2006/main">
              <a:ext uri="{FF2B5EF4-FFF2-40B4-BE49-F238E27FC236}">
                <a16:creationId xmlns:a16="http://schemas.microsoft.com/office/drawing/2014/main" id="{B859E405-78B8-44F1-89B8-842A150D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61722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33" name="DA description">
            <a:extLst xmlns:a="http://schemas.openxmlformats.org/drawingml/2006/main">
              <a:ext uri="{FF2B5EF4-FFF2-40B4-BE49-F238E27FC236}">
                <a16:creationId xmlns:a16="http://schemas.microsoft.com/office/drawing/2014/main" id="{113FA860-3D36-483E-9557-4FF5F07B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6581775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34C5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34C5"/>
                </a:solidFill>
                <a:latin typeface="Arial Narrow"/>
                <a:ea typeface="Arial Narrow"/>
                <a:cs typeface="Arial Narrow"/>
              </a:rPr>
              <a:t>Turn real data into</a:t>
            </a:r>
          </a:p>
          <a:p xmlns:a="http://schemas.openxmlformats.org/drawingml/2006/main">
            <a:pPr algn="l">
              <a:defRPr sz="1650" b="0">
                <a:solidFill>
                  <a:srgbClr val="0034C5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34C5"/>
                </a:solidFill>
                <a:latin typeface="Arial Narrow"/>
                <a:ea typeface="Arial Narrow"/>
                <a:cs typeface="Arial Narrow"/>
              </a:rPr>
              <a:t>useful insights</a:t>
            </a:r>
          </a:p>
        </p:txBody>
      </p:sp>
      <p:sp>
        <p:nvSpPr>
          <p:cNvPr id="34" name="ML description">
            <a:extLst xmlns:a="http://schemas.openxmlformats.org/drawingml/2006/main">
              <a:ext uri="{FF2B5EF4-FFF2-40B4-BE49-F238E27FC236}">
                <a16:creationId xmlns:a16="http://schemas.microsoft.com/office/drawing/2014/main" id="{21927706-F936-4743-9641-FE102ECB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6581775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00BC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6500BC"/>
                </a:solidFill>
                <a:latin typeface="Arial Narrow"/>
                <a:ea typeface="Arial Narrow"/>
                <a:cs typeface="Arial Narrow"/>
              </a:rPr>
              <a:t>Teach computers to find patterns</a:t>
            </a:r>
          </a:p>
          <a:p xmlns:a="http://schemas.openxmlformats.org/drawingml/2006/main">
            <a:pPr algn="l">
              <a:defRPr sz="1650" b="0">
                <a:solidFill>
                  <a:srgbClr val="6500BC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6500BC"/>
                </a:solidFill>
                <a:latin typeface="Arial Narrow"/>
                <a:ea typeface="Arial Narrow"/>
                <a:cs typeface="Arial Narrow"/>
              </a:rPr>
              <a:t>&amp; make predictions</a:t>
            </a:r>
          </a:p>
        </p:txBody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35770fff2448e"/>
          <a:stretch xmlns:a="http://schemas.openxmlformats.org/drawingml/2006/main"/>
        </p:blipFill>
        <p:spPr>
          <a:xfrm xmlns:a="http://schemas.openxmlformats.org/drawingml/2006/main">
            <a:off x="942975" y="73914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6" name="Python label 73">
            <a:extLst xmlns:a="http://schemas.openxmlformats.org/drawingml/2006/main">
              <a:ext uri="{FF2B5EF4-FFF2-40B4-BE49-F238E27FC236}">
                <a16:creationId xmlns:a16="http://schemas.microsoft.com/office/drawing/2014/main" id="{57F812BC-89ED-4C58-A2B0-7106E7E3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78962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8f9cd240543d5"/>
          <a:stretch xmlns:a="http://schemas.openxmlformats.org/drawingml/2006/main"/>
        </p:blipFill>
        <p:spPr>
          <a:xfrm xmlns:a="http://schemas.openxmlformats.org/drawingml/2006/main">
            <a:off x="2257425" y="73914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8" name="pandas label 211">
            <a:extLst xmlns:a="http://schemas.openxmlformats.org/drawingml/2006/main">
              <a:ext uri="{FF2B5EF4-FFF2-40B4-BE49-F238E27FC236}">
                <a16:creationId xmlns:a16="http://schemas.microsoft.com/office/drawing/2014/main" id="{71891363-AB86-49F1-B131-64F0F6F5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9775" y="78962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fbbb423cf4596"/>
          <a:stretch xmlns:a="http://schemas.openxmlformats.org/drawingml/2006/main"/>
        </p:blipFill>
        <p:spPr>
          <a:xfrm xmlns:a="http://schemas.openxmlformats.org/drawingml/2006/main">
            <a:off x="3600824" y="7391400"/>
            <a:ext cx="399301" cy="457200"/>
          </a:xfrm>
          <a:prstGeom xmlns:a="http://schemas.openxmlformats.org/drawingml/2006/main" prst="rect">
            <a:avLst/>
          </a:prstGeom>
        </p:spPr>
      </p:pic>
      <p:sp>
        <p:nvSpPr>
          <p:cNvPr id="40" name="SQL label 349">
            <a:extLst xmlns:a="http://schemas.openxmlformats.org/drawingml/2006/main">
              <a:ext uri="{FF2B5EF4-FFF2-40B4-BE49-F238E27FC236}">
                <a16:creationId xmlns:a16="http://schemas.microsoft.com/office/drawing/2014/main" id="{A49106C6-E667-4AFE-B7F1-7F0A5D63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78962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f03290db7444c"/>
          <a:stretch xmlns:a="http://schemas.openxmlformats.org/drawingml/2006/main"/>
        </p:blipFill>
        <p:spPr>
          <a:xfrm xmlns:a="http://schemas.openxmlformats.org/drawingml/2006/main">
            <a:off x="5648325" y="73914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2" name="Python label 567">
            <a:extLst xmlns:a="http://schemas.openxmlformats.org/drawingml/2006/main">
              <a:ext uri="{FF2B5EF4-FFF2-40B4-BE49-F238E27FC236}">
                <a16:creationId xmlns:a16="http://schemas.microsoft.com/office/drawing/2014/main" id="{8433D970-0832-4EEF-A5D0-63EB3BCB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675" y="78962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4fca14633485e"/>
          <a:stretch xmlns:a="http://schemas.openxmlformats.org/drawingml/2006/main"/>
        </p:blipFill>
        <p:spPr>
          <a:xfrm xmlns:a="http://schemas.openxmlformats.org/drawingml/2006/main">
            <a:off x="6962775" y="73914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4" name="pandas label 705">
            <a:extLst xmlns:a="http://schemas.openxmlformats.org/drawingml/2006/main">
              <a:ext uri="{FF2B5EF4-FFF2-40B4-BE49-F238E27FC236}">
                <a16:creationId xmlns:a16="http://schemas.microsoft.com/office/drawing/2014/main" id="{51C125A3-D779-493B-BF16-B382E304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78962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cf53ec05b4c35"/>
          <a:stretch xmlns:a="http://schemas.openxmlformats.org/drawingml/2006/main"/>
        </p:blipFill>
        <p:spPr>
          <a:xfrm xmlns:a="http://schemas.openxmlformats.org/drawingml/2006/main">
            <a:off x="8277225" y="73914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6" name="scikit-learn label 843">
            <a:extLst xmlns:a="http://schemas.openxmlformats.org/drawingml/2006/main">
              <a:ext uri="{FF2B5EF4-FFF2-40B4-BE49-F238E27FC236}">
                <a16:creationId xmlns:a16="http://schemas.microsoft.com/office/drawing/2014/main" id="{596BCEA0-624F-45C5-921D-0B7C3A55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78962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scikit-learn</a:t>
            </a:r>
          </a:p>
        </p:txBody>
      </p:sp>
      <p:sp>
        <p:nvSpPr>
          <p:cNvPr id="47" name="DA rule">
            <a:extLst xmlns:a="http://schemas.openxmlformats.org/drawingml/2006/main">
              <a:ext uri="{FF2B5EF4-FFF2-40B4-BE49-F238E27FC236}">
                <a16:creationId xmlns:a16="http://schemas.microsoft.com/office/drawing/2014/main" id="{D9CCB912-D38B-4CCD-95D0-A3D35A99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8258175"/>
            <a:ext cx="4143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AED"/>
          </a:solidFill>
          <a:ln xmlns:a="http://schemas.openxmlformats.org/drawingml/2006/main" w="0">
            <a:noFill/>
          </a:ln>
        </p:spPr>
      </p:sp>
      <p:sp>
        <p:nvSpPr>
          <p:cNvPr id="48" name="ML rule">
            <a:extLst xmlns:a="http://schemas.openxmlformats.org/drawingml/2006/main">
              <a:ext uri="{FF2B5EF4-FFF2-40B4-BE49-F238E27FC236}">
                <a16:creationId xmlns:a16="http://schemas.microsoft.com/office/drawing/2014/main" id="{E3E7B699-4808-406C-BCA5-43FBE9D9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8258175"/>
            <a:ext cx="4143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CEB"/>
          </a:solidFill>
          <a:ln xmlns:a="http://schemas.openxmlformats.org/drawingml/2006/main" w="0">
            <a:noFill/>
          </a:ln>
        </p:spPr>
      </p:sp>
      <p:sp>
        <p:nvSpPr>
          <p:cNvPr id="49" name="DA learning 1">
            <a:extLst xmlns:a="http://schemas.openxmlformats.org/drawingml/2006/main">
              <a:ext uri="{FF2B5EF4-FFF2-40B4-BE49-F238E27FC236}">
                <a16:creationId xmlns:a16="http://schemas.microsoft.com/office/drawing/2014/main" id="{2EB5250B-D368-4421-AF95-B06E4392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8382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Python (programming basics)</a:t>
            </a:r>
          </a:p>
        </p:txBody>
      </p:sp>
      <p:sp>
        <p:nvSpPr>
          <p:cNvPr id="50" name="ML learning 1">
            <a:extLst xmlns:a="http://schemas.openxmlformats.org/drawingml/2006/main">
              <a:ext uri="{FF2B5EF4-FFF2-40B4-BE49-F238E27FC236}">
                <a16:creationId xmlns:a16="http://schemas.microsoft.com/office/drawing/2014/main" id="{FDD1B027-DE0C-4027-8631-75F2EC2F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8382000"/>
            <a:ext cx="4181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Python</a:t>
            </a:r>
          </a:p>
        </p:txBody>
      </p:sp>
      <p:sp>
        <p:nvSpPr>
          <p:cNvPr id="51" name="DA learning 2">
            <a:extLst xmlns:a="http://schemas.openxmlformats.org/drawingml/2006/main">
              <a:ext uri="{FF2B5EF4-FFF2-40B4-BE49-F238E27FC236}">
                <a16:creationId xmlns:a16="http://schemas.microsoft.com/office/drawing/2014/main" id="{720DD71C-9AE5-413C-91CF-E28386B9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86582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SQL (querying data)</a:t>
            </a:r>
          </a:p>
        </p:txBody>
      </p:sp>
      <p:sp>
        <p:nvSpPr>
          <p:cNvPr id="52" name="ML learning 2">
            <a:extLst xmlns:a="http://schemas.openxmlformats.org/drawingml/2006/main">
              <a:ext uri="{FF2B5EF4-FFF2-40B4-BE49-F238E27FC236}">
                <a16:creationId xmlns:a16="http://schemas.microsoft.com/office/drawing/2014/main" id="{66F36202-C8CE-49F2-80DB-72C95F67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8658225"/>
            <a:ext cx="4181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Machine learning concepts</a:t>
            </a:r>
          </a:p>
        </p:txBody>
      </p:sp>
      <p:sp>
        <p:nvSpPr>
          <p:cNvPr id="53" name="DA learning 3">
            <a:extLst xmlns:a="http://schemas.openxmlformats.org/drawingml/2006/main">
              <a:ext uri="{FF2B5EF4-FFF2-40B4-BE49-F238E27FC236}">
                <a16:creationId xmlns:a16="http://schemas.microsoft.com/office/drawing/2014/main" id="{12D64462-E7A9-47C9-91F2-0C6F6B76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893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Data Cleaning &amp; Preparation</a:t>
            </a:r>
          </a:p>
        </p:txBody>
      </p:sp>
      <p:sp>
        <p:nvSpPr>
          <p:cNvPr id="54" name="ML learning 3">
            <a:extLst xmlns:a="http://schemas.openxmlformats.org/drawingml/2006/main">
              <a:ext uri="{FF2B5EF4-FFF2-40B4-BE49-F238E27FC236}">
                <a16:creationId xmlns:a16="http://schemas.microsoft.com/office/drawing/2014/main" id="{0D5DC1FB-373E-44DE-9F00-5FBD5D4F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8934450"/>
            <a:ext cx="4181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Model training</a:t>
            </a:r>
          </a:p>
        </p:txBody>
      </p:sp>
      <p:sp>
        <p:nvSpPr>
          <p:cNvPr id="55" name="DA learning 4">
            <a:extLst xmlns:a="http://schemas.openxmlformats.org/drawingml/2006/main">
              <a:ext uri="{FF2B5EF4-FFF2-40B4-BE49-F238E27FC236}">
                <a16:creationId xmlns:a16="http://schemas.microsoft.com/office/drawing/2014/main" id="{AB358587-81FE-4A66-A561-10BCC4D9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92106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Data Visualization (dashboards &amp; charts)</a:t>
            </a:r>
          </a:p>
        </p:txBody>
      </p:sp>
      <p:sp>
        <p:nvSpPr>
          <p:cNvPr id="56" name="ML learning 4">
            <a:extLst xmlns:a="http://schemas.openxmlformats.org/drawingml/2006/main">
              <a:ext uri="{FF2B5EF4-FFF2-40B4-BE49-F238E27FC236}">
                <a16:creationId xmlns:a16="http://schemas.microsoft.com/office/drawing/2014/main" id="{300DD128-70C4-4A3C-8BB7-F86FB0B2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9210675"/>
            <a:ext cx="4181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Prediction &amp; evaluation</a:t>
            </a:r>
          </a:p>
        </p:txBody>
      </p:sp>
      <p:sp>
        <p:nvSpPr>
          <p:cNvPr id="57" name="DA learning 5">
            <a:extLst xmlns:a="http://schemas.openxmlformats.org/drawingml/2006/main">
              <a:ext uri="{FF2B5EF4-FFF2-40B4-BE49-F238E27FC236}">
                <a16:creationId xmlns:a16="http://schemas.microsoft.com/office/drawing/2014/main" id="{5EABA950-D310-4081-9BA0-32992E8E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94869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Basic statistics</a:t>
            </a:r>
          </a:p>
        </p:txBody>
      </p:sp>
      <p:sp>
        <p:nvSpPr>
          <p:cNvPr id="58" name="ML learning 5">
            <a:extLst xmlns:a="http://schemas.openxmlformats.org/drawingml/2006/main">
              <a:ext uri="{FF2B5EF4-FFF2-40B4-BE49-F238E27FC236}">
                <a16:creationId xmlns:a16="http://schemas.microsoft.com/office/drawing/2014/main" id="{F00C1F58-DBB0-4C1B-919F-30544BAA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9486900"/>
            <a:ext cx="4181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Real-world datasets</a:t>
            </a:r>
          </a:p>
        </p:txBody>
      </p:sp>
      <p:sp>
        <p:nvSpPr>
          <p:cNvPr id="59" name="DA outcome strip">
            <a:extLst xmlns:a="http://schemas.openxmlformats.org/drawingml/2006/main">
              <a:ext uri="{FF2B5EF4-FFF2-40B4-BE49-F238E27FC236}">
                <a16:creationId xmlns:a16="http://schemas.microsoft.com/office/drawing/2014/main" id="{9EDF6224-4A3C-421C-87CD-32E3B107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9953625"/>
            <a:ext cx="4286250" cy="885825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C7EAF8"/>
          </a:solidFill>
          <a:ln xmlns:a="http://schemas.openxmlformats.org/drawingml/2006/main" w="0">
            <a:noFill/>
          </a:ln>
        </p:spPr>
      </p:sp>
      <p:sp>
        <p:nvSpPr>
          <p:cNvPr id="60" name="ML outcome strip">
            <a:extLst xmlns:a="http://schemas.openxmlformats.org/drawingml/2006/main">
              <a:ext uri="{FF2B5EF4-FFF2-40B4-BE49-F238E27FC236}">
                <a16:creationId xmlns:a16="http://schemas.microsoft.com/office/drawing/2014/main" id="{1C07D262-06B4-42A3-9296-30AE8989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9953625"/>
            <a:ext cx="4286250" cy="885825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E0CBF7"/>
          </a:solidFill>
          <a:ln xmlns:a="http://schemas.openxmlformats.org/drawingml/2006/main" w="0">
            <a:noFill/>
          </a:ln>
        </p:spPr>
      </p:sp>
      <p:sp>
        <p:nvSpPr>
          <p:cNvPr id="61" name="DA Build">
            <a:extLst xmlns:a="http://schemas.openxmlformats.org/drawingml/2006/main">
              <a:ext uri="{FF2B5EF4-FFF2-40B4-BE49-F238E27FC236}">
                <a16:creationId xmlns:a16="http://schemas.microsoft.com/office/drawing/2014/main" id="{17D4C958-2012-48E5-88E1-0734BB2D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10029825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446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004461"/>
                </a:solidFill>
                <a:latin typeface="Arial Narrow"/>
                <a:ea typeface="Arial Narrow"/>
                <a:cs typeface="Arial Narrow"/>
              </a:rPr>
              <a:t>BUILD: A data analysis project</a:t>
            </a:r>
          </a:p>
        </p:txBody>
      </p:sp>
      <p:sp>
        <p:nvSpPr>
          <p:cNvPr id="62" name="DA project examples">
            <a:extLst xmlns:a="http://schemas.openxmlformats.org/drawingml/2006/main">
              <a:ext uri="{FF2B5EF4-FFF2-40B4-BE49-F238E27FC236}">
                <a16:creationId xmlns:a16="http://schemas.microsoft.com/office/drawing/2014/main" id="{AD624120-4D09-4BC6-9AF3-42D0090F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10420350"/>
            <a:ext cx="403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e.g. sales, customer or social media data</a:t>
            </a:r>
          </a:p>
        </p:txBody>
      </p:sp>
      <p:sp>
        <p:nvSpPr>
          <p:cNvPr id="63" name="ML Build">
            <a:extLst xmlns:a="http://schemas.openxmlformats.org/drawingml/2006/main">
              <a:ext uri="{FF2B5EF4-FFF2-40B4-BE49-F238E27FC236}">
                <a16:creationId xmlns:a16="http://schemas.microsoft.com/office/drawing/2014/main" id="{CD186D16-D809-487D-8E47-A1C25410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100298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500BC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6500BC"/>
                </a:solidFill>
                <a:latin typeface="Arial Narrow"/>
                <a:ea typeface="Arial Narrow"/>
                <a:cs typeface="Arial Narrow"/>
              </a:rPr>
              <a:t>BUILD: A prediction model</a:t>
            </a:r>
          </a:p>
        </p:txBody>
      </p:sp>
      <p:sp>
        <p:nvSpPr>
          <p:cNvPr id="64" name="ML project examples">
            <a:extLst xmlns:a="http://schemas.openxmlformats.org/drawingml/2006/main">
              <a:ext uri="{FF2B5EF4-FFF2-40B4-BE49-F238E27FC236}">
                <a16:creationId xmlns:a16="http://schemas.microsoft.com/office/drawing/2014/main" id="{09A6FE80-20F5-4DE4-B6B4-71FB6817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10382250"/>
            <a:ext cx="4029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e.g. house prices, classification</a:t>
            </a:r>
          </a:p>
          <a:p xmlns:a="http://schemas.openxmlformats.org/drawingml/2006/main">
            <a:pPr algn="l">
              <a:defRPr sz="150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or recommendation</a:t>
            </a: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3ae132b33496a"/>
          <a:stretch xmlns:a="http://schemas.openxmlformats.org/drawingml/2006/main"/>
        </p:blipFill>
        <p:spPr>
          <a:xfrm xmlns:a="http://schemas.openxmlformats.org/drawingml/2006/main">
            <a:off x="394097" y="11182350"/>
            <a:ext cx="459581" cy="523875"/>
          </a:xfrm>
          <a:prstGeom xmlns:a="http://schemas.openxmlformats.org/drawingml/2006/main" prst="rect">
            <a:avLst/>
          </a:prstGeom>
        </p:spPr>
      </p:pic>
      <p:sp>
        <p:nvSpPr>
          <p:cNvPr id="66" name="Duration">
            <a:extLst xmlns:a="http://schemas.openxmlformats.org/drawingml/2006/main">
              <a:ext uri="{FF2B5EF4-FFF2-40B4-BE49-F238E27FC236}">
                <a16:creationId xmlns:a16="http://schemas.microsoft.com/office/drawing/2014/main" id="{A1DCBD47-0DAA-4715-AF13-2662CD50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1296650"/>
            <a:ext cx="1152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3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2342"/>
                </a:solidFill>
                <a:latin typeface="Arial"/>
                <a:ea typeface="Arial"/>
                <a:cs typeface="Arial"/>
              </a:rPr>
              <a:t>8 weeks</a:t>
            </a:r>
          </a:p>
        </p:txBody>
      </p:sp>
      <p:sp>
        <p:nvSpPr>
          <p:cNvPr id="67" name="Benefit divider 1">
            <a:extLst xmlns:a="http://schemas.openxmlformats.org/drawingml/2006/main">
              <a:ext uri="{FF2B5EF4-FFF2-40B4-BE49-F238E27FC236}">
                <a16:creationId xmlns:a16="http://schemas.microsoft.com/office/drawing/2014/main" id="{356F6270-76CA-4F65-97C8-9D7DF2FE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11182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DEC"/>
          </a:solidFill>
          <a:ln xmlns:a="http://schemas.openxmlformats.org/drawingml/2006/main" w="0">
            <a:noFill/>
          </a:ln>
        </p:spPr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22809efd648c0"/>
          <a:stretch xmlns:a="http://schemas.openxmlformats.org/drawingml/2006/main"/>
        </p:blipFill>
        <p:spPr>
          <a:xfrm xmlns:a="http://schemas.openxmlformats.org/drawingml/2006/main">
            <a:off x="2438400" y="11223792"/>
            <a:ext cx="552450" cy="440991"/>
          </a:xfrm>
          <a:prstGeom xmlns:a="http://schemas.openxmlformats.org/drawingml/2006/main" prst="rect">
            <a:avLst/>
          </a:prstGeom>
        </p:spPr>
      </p:pic>
      <p:sp>
        <p:nvSpPr>
          <p:cNvPr id="69" name="Group limit">
            <a:extLst xmlns:a="http://schemas.openxmlformats.org/drawingml/2006/main">
              <a:ext uri="{FF2B5EF4-FFF2-40B4-BE49-F238E27FC236}">
                <a16:creationId xmlns:a16="http://schemas.microsoft.com/office/drawing/2014/main" id="{7C3CEB8F-B3DA-4053-B999-5F5FFD87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12204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Max. 5</a:t>
            </a:r>
          </a:p>
          <a:p xmlns:a="http://schemas.openxmlformats.org/drawingml/2006/main">
            <a:pPr algn="l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learners/group</a:t>
            </a:r>
          </a:p>
        </p:txBody>
      </p:sp>
      <p:sp>
        <p:nvSpPr>
          <p:cNvPr id="70" name="Benefit divider 2">
            <a:extLst xmlns:a="http://schemas.openxmlformats.org/drawingml/2006/main">
              <a:ext uri="{FF2B5EF4-FFF2-40B4-BE49-F238E27FC236}">
                <a16:creationId xmlns:a16="http://schemas.microsoft.com/office/drawing/2014/main" id="{43DD364C-3E91-42FE-8211-1A442EDA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11182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DEC"/>
          </a:solidFill>
          <a:ln xmlns:a="http://schemas.openxmlformats.org/drawingml/2006/main" w="0">
            <a:noFill/>
          </a:ln>
        </p:spPr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29e404c22461a"/>
          <a:stretch xmlns:a="http://schemas.openxmlformats.org/drawingml/2006/main"/>
        </p:blipFill>
        <p:spPr>
          <a:xfrm xmlns:a="http://schemas.openxmlformats.org/drawingml/2006/main">
            <a:off x="4800600" y="11224022"/>
            <a:ext cx="561975" cy="450056"/>
          </a:xfrm>
          <a:prstGeom xmlns:a="http://schemas.openxmlformats.org/drawingml/2006/main" prst="rect">
            <a:avLst/>
          </a:prstGeom>
        </p:spPr>
      </p:pic>
      <p:sp>
        <p:nvSpPr>
          <p:cNvPr id="72" name="Beginner access">
            <a:extLst xmlns:a="http://schemas.openxmlformats.org/drawingml/2006/main">
              <a:ext uri="{FF2B5EF4-FFF2-40B4-BE49-F238E27FC236}">
                <a16:creationId xmlns:a16="http://schemas.microsoft.com/office/drawing/2014/main" id="{F9C70053-0B93-4DC2-8625-1AE7CB6E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11220450"/>
            <a:ext cx="166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No coding</a:t>
            </a:r>
          </a:p>
          <a:p xmlns:a="http://schemas.openxmlformats.org/drawingml/2006/main">
            <a:pPr algn="l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experience needed</a:t>
            </a:r>
          </a:p>
        </p:txBody>
      </p:sp>
      <p:sp>
        <p:nvSpPr>
          <p:cNvPr id="73" name="Benefit divider 3">
            <a:extLst xmlns:a="http://schemas.openxmlformats.org/drawingml/2006/main">
              <a:ext uri="{FF2B5EF4-FFF2-40B4-BE49-F238E27FC236}">
                <a16:creationId xmlns:a16="http://schemas.microsoft.com/office/drawing/2014/main" id="{95D2853E-10FC-412D-AE78-BA57A689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11182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DEC"/>
          </a:solidFill>
          <a:ln xmlns:a="http://schemas.openxmlformats.org/drawingml/2006/main" w="0">
            <a:noFill/>
          </a:ln>
        </p:spPr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c3e45022a41ce"/>
          <a:stretch xmlns:a="http://schemas.openxmlformats.org/drawingml/2006/main"/>
        </p:blipFill>
        <p:spPr>
          <a:xfrm xmlns:a="http://schemas.openxmlformats.org/drawingml/2006/main">
            <a:off x="7419975" y="11227594"/>
            <a:ext cx="542925" cy="433388"/>
          </a:xfrm>
          <a:prstGeom xmlns:a="http://schemas.openxmlformats.org/drawingml/2006/main" prst="rect">
            <a:avLst/>
          </a:prstGeom>
        </p:spPr>
      </p:pic>
      <p:sp>
        <p:nvSpPr>
          <p:cNvPr id="75" name="Places">
            <a:extLst xmlns:a="http://schemas.openxmlformats.org/drawingml/2006/main">
              <a:ext uri="{FF2B5EF4-FFF2-40B4-BE49-F238E27FC236}">
                <a16:creationId xmlns:a16="http://schemas.microsoft.com/office/drawing/2014/main" id="{049825C9-C38A-4282-B991-DF998AE0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4825" y="11096625"/>
            <a:ext cx="1362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3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342"/>
                </a:solidFill>
                <a:latin typeface="Arial"/>
                <a:ea typeface="Arial"/>
                <a:cs typeface="Arial"/>
              </a:rPr>
              <a:t>Only 15</a:t>
            </a:r>
          </a:p>
          <a:p xmlns:a="http://schemas.openxmlformats.org/drawingml/2006/main">
            <a:pPr algn="l">
              <a:defRPr sz="1650" b="1">
                <a:solidFill>
                  <a:srgbClr val="0023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342"/>
                </a:solidFill>
                <a:latin typeface="Arial"/>
                <a:ea typeface="Arial"/>
                <a:cs typeface="Arial"/>
              </a:rPr>
              <a:t>places</a:t>
            </a:r>
          </a:p>
        </p:txBody>
      </p:sp>
      <p:sp>
        <p:nvSpPr>
          <p:cNvPr id="76" name="Places qualifier">
            <a:extLst xmlns:a="http://schemas.openxmlformats.org/drawingml/2006/main">
              <a:ext uri="{FF2B5EF4-FFF2-40B4-BE49-F238E27FC236}">
                <a16:creationId xmlns:a16="http://schemas.microsoft.com/office/drawing/2014/main" id="{6D3A2D50-A8B9-498A-9375-C2ABA5A7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4825" y="116300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3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2342"/>
                </a:solidFill>
                <a:latin typeface="Arial"/>
                <a:ea typeface="Arial"/>
                <a:cs typeface="Arial"/>
              </a:rPr>
              <a:t>(whole programme)</a:t>
            </a:r>
          </a:p>
        </p:txBody>
      </p:sp>
      <p:sp>
        <p:nvSpPr>
          <p:cNvPr id="77" name="Programme fee panel">
            <a:extLst xmlns:a="http://schemas.openxmlformats.org/drawingml/2006/main">
              <a:ext uri="{FF2B5EF4-FFF2-40B4-BE49-F238E27FC236}">
                <a16:creationId xmlns:a16="http://schemas.microsoft.com/office/drawing/2014/main" id="{D21EE90F-1F8E-4F14-959C-A01FD676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" y="11963400"/>
            <a:ext cx="46005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02342"/>
          </a:solidFill>
          <a:ln xmlns:a="http://schemas.openxmlformats.org/drawingml/2006/main" w="0">
            <a:noFill/>
          </a:ln>
        </p:spPr>
      </p:sp>
      <p:sp>
        <p:nvSpPr>
          <p:cNvPr id="78" name="Programme fee heading">
            <a:extLst xmlns:a="http://schemas.openxmlformats.org/drawingml/2006/main">
              <a:ext uri="{FF2B5EF4-FFF2-40B4-BE49-F238E27FC236}">
                <a16:creationId xmlns:a16="http://schemas.microsoft.com/office/drawing/2014/main" id="{B928E007-399A-4B3F-8ACA-6A5843DB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1214437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Programme fee (per learner)</a:t>
            </a:r>
          </a:p>
        </p:txBody>
      </p:sp>
      <p:sp>
        <p:nvSpPr>
          <p:cNvPr id="79" name="Small group price">
            <a:extLst xmlns:a="http://schemas.openxmlformats.org/drawingml/2006/main">
              <a:ext uri="{FF2B5EF4-FFF2-40B4-BE49-F238E27FC236}">
                <a16:creationId xmlns:a16="http://schemas.microsoft.com/office/drawing/2014/main" id="{6DC114F0-8C99-4FC4-85BF-AA9312EE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12525375"/>
            <a:ext cx="2124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UGX 800,000</a:t>
            </a:r>
          </a:p>
        </p:txBody>
      </p:sp>
      <p:sp>
        <p:nvSpPr>
          <p:cNvPr id="80" name="Fee divider">
            <a:extLst xmlns:a="http://schemas.openxmlformats.org/drawingml/2006/main">
              <a:ext uri="{FF2B5EF4-FFF2-40B4-BE49-F238E27FC236}">
                <a16:creationId xmlns:a16="http://schemas.microsoft.com/office/drawing/2014/main" id="{7CBDE1A5-AADA-441D-8B14-1EDE2219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12534900"/>
            <a:ext cx="95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3EF"/>
          </a:solidFill>
          <a:ln xmlns:a="http://schemas.openxmlformats.org/drawingml/2006/main" w="0">
            <a:noFill/>
          </a:ln>
        </p:spPr>
      </p:sp>
      <p:sp>
        <p:nvSpPr>
          <p:cNvPr id="81" name="Private price">
            <a:extLst xmlns:a="http://schemas.openxmlformats.org/drawingml/2006/main">
              <a:ext uri="{FF2B5EF4-FFF2-40B4-BE49-F238E27FC236}">
                <a16:creationId xmlns:a16="http://schemas.microsoft.com/office/drawing/2014/main" id="{29C295FD-8A20-4F5D-A328-0AD93423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12525375"/>
            <a:ext cx="2076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UGX 1,000,000</a:t>
            </a:r>
          </a:p>
        </p:txBody>
      </p:sp>
      <p:sp>
        <p:nvSpPr>
          <p:cNvPr id="82" name="Small group condition">
            <a:extLst xmlns:a="http://schemas.openxmlformats.org/drawingml/2006/main">
              <a:ext uri="{FF2B5EF4-FFF2-40B4-BE49-F238E27FC236}">
                <a16:creationId xmlns:a16="http://schemas.microsoft.com/office/drawing/2014/main" id="{42B3D4FB-337B-4FDA-A63E-4C4AA10C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12915900"/>
            <a:ext cx="213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 group · exactly 5 learners</a:t>
            </a:r>
          </a:p>
        </p:txBody>
      </p:sp>
      <p:sp>
        <p:nvSpPr>
          <p:cNvPr id="83" name="Private condition">
            <a:extLst xmlns:a="http://schemas.openxmlformats.org/drawingml/2006/main">
              <a:ext uri="{FF2B5EF4-FFF2-40B4-BE49-F238E27FC236}">
                <a16:creationId xmlns:a16="http://schemas.microsoft.com/office/drawing/2014/main" id="{FC0F7777-19AA-4C8F-AAF0-5255E599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875" y="12868275"/>
            <a:ext cx="2009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/ semi-private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1–4 learners</a:t>
            </a:r>
          </a:p>
        </p:txBody>
      </p:sp>
      <p:sp>
        <p:nvSpPr>
          <p:cNvPr id="84" name="Booking panel">
            <a:extLst xmlns:a="http://schemas.openxmlformats.org/drawingml/2006/main">
              <a:ext uri="{FF2B5EF4-FFF2-40B4-BE49-F238E27FC236}">
                <a16:creationId xmlns:a16="http://schemas.microsoft.com/office/drawing/2014/main" id="{CC8D0E39-D166-4B03-98E2-DFE71D46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2525" y="11963400"/>
            <a:ext cx="29622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02342"/>
          </a:solidFill>
          <a:ln xmlns:a="http://schemas.openxmlformats.org/drawingml/2006/main" w="0">
            <a:noFill/>
          </a:ln>
        </p:spPr>
      </p:sp>
      <p:sp>
        <p:nvSpPr>
          <p:cNvPr id="85" name="Reserve call to action">
            <a:extLst xmlns:a="http://schemas.openxmlformats.org/drawingml/2006/main">
              <a:ext uri="{FF2B5EF4-FFF2-40B4-BE49-F238E27FC236}">
                <a16:creationId xmlns:a16="http://schemas.microsoft.com/office/drawing/2014/main" id="{28FD4BC0-9F32-4A59-B795-8941C09B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2087225"/>
            <a:ext cx="2724150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00B394"/>
          </a:solidFill>
          <a:ln xmlns:a="http://schemas.openxmlformats.org/drawingml/2006/main" w="0">
            <a:noFill/>
          </a:ln>
        </p:spPr>
      </p:sp>
      <p:sp>
        <p:nvSpPr>
          <p:cNvPr id="86" name="Reserve wording">
            <a:extLst xmlns:a="http://schemas.openxmlformats.org/drawingml/2006/main">
              <a:ext uri="{FF2B5EF4-FFF2-40B4-BE49-F238E27FC236}">
                <a16:creationId xmlns:a16="http://schemas.microsoft.com/office/drawing/2014/main" id="{F344FCFA-64C7-4349-99C0-B4AC3690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6850" y="12201525"/>
            <a:ext cx="2457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Reserve your place →</a:t>
            </a:r>
          </a:p>
        </p:txBody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71fba325f4da6"/>
          <a:stretch xmlns:a="http://schemas.openxmlformats.org/drawingml/2006/main"/>
        </p:blipFill>
        <p:spPr>
          <a:xfrm xmlns:a="http://schemas.openxmlformats.org/drawingml/2006/main">
            <a:off x="5098256" y="12734925"/>
            <a:ext cx="300038" cy="342900"/>
          </a:xfrm>
          <a:prstGeom xmlns:a="http://schemas.openxmlformats.org/drawingml/2006/main" prst="rect">
            <a:avLst/>
          </a:prstGeom>
        </p:spPr>
      </p:pic>
      <p:sp>
        <p:nvSpPr>
          <p:cNvPr id="88" name="WhatsApp number">
            <a:extLst xmlns:a="http://schemas.openxmlformats.org/drawingml/2006/main">
              <a:ext uri="{FF2B5EF4-FFF2-40B4-BE49-F238E27FC236}">
                <a16:creationId xmlns:a16="http://schemas.microsoft.com/office/drawing/2014/main" id="{61DC7E5A-C3AF-466A-A2EF-586F2D47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12801600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+256 750 990 718</a:t>
            </a:r>
          </a:p>
        </p:txBody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1554832d44763"/>
          <a:stretch xmlns:a="http://schemas.openxmlformats.org/drawingml/2006/main"/>
        </p:blipFill>
        <p:spPr>
          <a:xfrm xmlns:a="http://schemas.openxmlformats.org/drawingml/2006/main">
            <a:off x="5119688" y="13163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0" name="Email">
            <a:extLst xmlns:a="http://schemas.openxmlformats.org/drawingml/2006/main">
              <a:ext uri="{FF2B5EF4-FFF2-40B4-BE49-F238E27FC236}">
                <a16:creationId xmlns:a16="http://schemas.microsoft.com/office/drawing/2014/main" id="{CB3B639A-8AF5-44EF-91B2-F707EE40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13211175"/>
            <a:ext cx="2295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jothammartin.wambi@gmail.com</a:t>
            </a:r>
          </a:p>
        </p:txBody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5f94c55d74bed"/>
          <a:stretch xmlns:a="http://schemas.openxmlformats.org/drawingml/2006/main"/>
        </p:blipFill>
        <p:spPr>
          <a:xfrm xmlns:a="http://schemas.openxmlformats.org/drawingml/2006/main">
            <a:off x="7943850" y="11953875"/>
            <a:ext cx="1562100" cy="1562100"/>
          </a:xfrm>
          <a:prstGeom xmlns:a="http://schemas.openxmlformats.org/drawingml/2006/main" prst="rect">
            <a:avLst/>
          </a:prstGeom>
        </p:spPr>
      </p:pic>
      <p:sp>
        <p:nvSpPr>
          <p:cNvPr id="92" name="QR caption">
            <a:extLst xmlns:a="http://schemas.openxmlformats.org/drawingml/2006/main">
              <a:ext uri="{FF2B5EF4-FFF2-40B4-BE49-F238E27FC236}">
                <a16:creationId xmlns:a16="http://schemas.microsoft.com/office/drawing/2014/main" id="{39C2A8AA-BDEC-43BA-B19D-056D67E9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13525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3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2342"/>
                </a:solidFill>
                <a:latin typeface="Arial"/>
                <a:ea typeface="Arial"/>
                <a:cs typeface="Arial"/>
              </a:rPr>
              <a:t>Scan to WhatsApp</a:t>
            </a:r>
          </a:p>
        </p:txBody>
      </p:sp>
      <p:sp>
        <p:nvSpPr>
          <p:cNvPr id="93" name="Footer slogan 1">
            <a:extLst xmlns:a="http://schemas.openxmlformats.org/drawingml/2006/main">
              <a:ext uri="{FF2B5EF4-FFF2-40B4-BE49-F238E27FC236}">
                <a16:creationId xmlns:a16="http://schemas.microsoft.com/office/drawing/2014/main" id="{18D918D1-B54A-49D9-9487-4BD23AF0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438150" y="13773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34C5"/>
                </a:solidFill>
                <a:latin typeface="Caveat"/>
                <a:ea typeface="Caveat"/>
                <a:cs typeface="Caveat"/>
              </a:defRPr>
            </a:pPr>
            <a:r>
              <a:rPr sz="3525" b="1">
                <a:solidFill>
                  <a:srgbClr val="0034C5"/>
                </a:solidFill>
                <a:latin typeface="Caveat"/>
                <a:ea typeface="Caveat"/>
                <a:cs typeface="Caveat"/>
              </a:rPr>
              <a:t>Skills today.</a:t>
            </a:r>
          </a:p>
        </p:txBody>
      </p:sp>
      <p:sp>
        <p:nvSpPr>
          <p:cNvPr id="94" name="Footer slogan 2">
            <a:extLst xmlns:a="http://schemas.openxmlformats.org/drawingml/2006/main">
              <a:ext uri="{FF2B5EF4-FFF2-40B4-BE49-F238E27FC236}">
                <a16:creationId xmlns:a16="http://schemas.microsoft.com/office/drawing/2014/main" id="{2333C7AF-A889-4FEC-B54C-9312A915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466725" y="142017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34C5"/>
                </a:solidFill>
                <a:latin typeface="Caveat"/>
                <a:ea typeface="Caveat"/>
                <a:cs typeface="Caveat"/>
              </a:defRPr>
            </a:pPr>
            <a:r>
              <a:rPr sz="2400" b="1">
                <a:solidFill>
                  <a:srgbClr val="0034C5"/>
                </a:solidFill>
                <a:latin typeface="Caveat"/>
                <a:ea typeface="Caveat"/>
                <a:cs typeface="Caveat"/>
              </a:rPr>
              <a:t>Greater opportunities tomorrow.</a:t>
            </a:r>
          </a:p>
        </p:txBody>
      </p:sp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6a39b8f71472a"/>
          <a:stretch xmlns:a="http://schemas.openxmlformats.org/drawingml/2006/main"/>
        </p:blipFill>
        <p:spPr>
          <a:xfrm xmlns:a="http://schemas.openxmlformats.org/drawingml/2006/main">
            <a:off x="381000" y="15419784"/>
            <a:ext cx="704850" cy="564356"/>
          </a:xfrm>
          <a:prstGeom xmlns:a="http://schemas.openxmlformats.org/drawingml/2006/main" prst="rect">
            <a:avLst/>
          </a:prstGeom>
        </p:spPr>
      </p:pic>
      <p:sp>
        <p:nvSpPr>
          <p:cNvPr id="96" name="Audience">
            <a:extLst xmlns:a="http://schemas.openxmlformats.org/drawingml/2006/main">
              <a:ext uri="{FF2B5EF4-FFF2-40B4-BE49-F238E27FC236}">
                <a16:creationId xmlns:a16="http://schemas.microsoft.com/office/drawing/2014/main" id="{6C7229CE-55C2-448C-A667-887B1754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15525750"/>
            <a:ext cx="28670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For S.4, S.5 &amp; S.6 students,</a:t>
            </a:r>
          </a:p>
          <a:p xmlns:a="http://schemas.openxmlformats.org/drawingml/2006/main">
            <a:pPr algn="l">
              <a:defRPr sz="1725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and school leavers.</a:t>
            </a:r>
          </a:p>
        </p:txBody>
      </p:sp>
      <p:sp>
        <p:nvSpPr>
          <p:cNvPr id="97" name="Book Python">
            <a:extLst xmlns:a="http://schemas.openxmlformats.org/drawingml/2006/main">
              <a:ext uri="{FF2B5EF4-FFF2-40B4-BE49-F238E27FC236}">
                <a16:creationId xmlns:a16="http://schemas.microsoft.com/office/drawing/2014/main" id="{01BA3082-6C8F-4D62-B756-52C7F681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276725" y="142303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8" name="Book Data Analysis">
            <a:extLst xmlns:a="http://schemas.openxmlformats.org/drawingml/2006/main">
              <a:ext uri="{FF2B5EF4-FFF2-40B4-BE49-F238E27FC236}">
                <a16:creationId xmlns:a16="http://schemas.microsoft.com/office/drawing/2014/main" id="{162D4473-4820-4AF5-ABA8-4C8E6AF0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191000" y="146494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Analysis</a:t>
            </a:r>
          </a:p>
        </p:txBody>
      </p:sp>
      <p:sp>
        <p:nvSpPr>
          <p:cNvPr id="99" name="Book Machine Learning">
            <a:extLst xmlns:a="http://schemas.openxmlformats.org/drawingml/2006/main">
              <a:ext uri="{FF2B5EF4-FFF2-40B4-BE49-F238E27FC236}">
                <a16:creationId xmlns:a16="http://schemas.microsoft.com/office/drawing/2014/main" id="{A470AACE-7C20-4E90-B33A-107E8897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162425" y="1505902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100" name="Book Future">
            <a:extLst xmlns:a="http://schemas.openxmlformats.org/drawingml/2006/main">
              <a:ext uri="{FF2B5EF4-FFF2-40B4-BE49-F238E27FC236}">
                <a16:creationId xmlns:a16="http://schemas.microsoft.com/office/drawing/2014/main" id="{395A45CC-9C7F-4871-B9E8-7538E26F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171950" y="15525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Brighter Future</a:t>
            </a:r>
          </a:p>
        </p:txBody>
      </p:sp>
      <p:sp>
        <p:nvSpPr>
          <p:cNvPr id="101" name="Mug slogan">
            <a:extLst xmlns:a="http://schemas.openxmlformats.org/drawingml/2006/main">
              <a:ext uri="{FF2B5EF4-FFF2-40B4-BE49-F238E27FC236}">
                <a16:creationId xmlns:a16="http://schemas.microsoft.com/office/drawing/2014/main" id="{DDB86F29-051A-4845-8635-F948F58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7715250" y="14773275"/>
            <a:ext cx="104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10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Good</a:t>
            </a:r>
          </a:p>
          <a:p xmlns:a="http://schemas.openxmlformats.org/drawingml/2006/main">
            <a:pPr algn="ctr">
              <a:defRPr sz="210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10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Data.</a:t>
            </a:r>
          </a:p>
          <a:p xmlns:a="http://schemas.openxmlformats.org/drawingml/2006/main">
            <a:pPr algn="ctr">
              <a:defRPr sz="210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10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Better</a:t>
            </a:r>
          </a:p>
          <a:p xmlns:a="http://schemas.openxmlformats.org/drawingml/2006/main">
            <a:pPr algn="ctr">
              <a:defRPr sz="210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10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Decisions.</a:t>
            </a:r>
          </a:p>
        </p:txBody>
      </p:sp>
    </p:spTree>
    <p:extLst>
      <p:ext uri="{BB962C8B-B14F-4D97-AF65-F5344CB8AC3E}">
        <p14:creationId xmlns:p14="http://schemas.microsoft.com/office/powerpoint/2010/main" val="1084827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2026-09-28T08:50:50.6080000Z</dcterms:created>
  <dcterms:modified xsi:type="dcterms:W3CDTF">2026-09-28T08:50:50.6080000Z</dcterms:modified>
</coreProperties>
</file>