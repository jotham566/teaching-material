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f290c14a8042fd" /><Relationship Type="http://schemas.openxmlformats.org/officeDocument/2006/relationships/extended-properties" Target="/docProps/app.xml" Id="R2458ece2636c4902" /><Relationship Type="http://schemas.openxmlformats.org/officeDocument/2006/relationships/officeDocument" Target="/ppt/presentation.xml" Id="Re70baca9df504932" /></Relationships>
</file>

<file path=ppt/presentation.xml><?xml version="1.0" encoding="utf-8"?>
<p:presentation xmlns:p="http://schemas.openxmlformats.org/presentationml/2006/main">
  <p:sldMasterIdLst>
    <p:sldMasterId xmlns:r="http://schemas.openxmlformats.org/officeDocument/2006/relationships" id="2147483648" r:id="R096cfe83dc8d4976"/>
  </p:sldMasterIdLst>
  <p:notesMasterIdLst>
    <p:notesMasterId xmlns:r="http://schemas.openxmlformats.org/officeDocument/2006/relationships" r:id="R6daf3d14ce124d79"/>
  </p:notesMasterIdLst>
  <p:sldIdLst>
    <p:sldId xmlns:r="http://schemas.openxmlformats.org/officeDocument/2006/relationships" id="256" r:id="R0461b3f0b5654c8f"/>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721fce03264d58" /><Relationship Type="http://schemas.openxmlformats.org/officeDocument/2006/relationships/slideMaster" Target="/ppt/slideMasters/slideMaster1.xml" Id="R096cfe83dc8d4976" /><Relationship Type="http://schemas.openxmlformats.org/officeDocument/2006/relationships/notesMaster" Target="/ppt/notesMasters/notesMaster1.xml" Id="R6daf3d14ce124d79" /><Relationship Type="http://schemas.openxmlformats.org/officeDocument/2006/relationships/presProps" Target="/ppt/presProps.xml" Id="Rbb137a5c4f6e447e" /><Relationship Type="http://schemas.openxmlformats.org/officeDocument/2006/relationships/tableStyles" Target="/ppt/tableStyles.xml" Id="R4c38ff8af452465a" /><Relationship Type="http://schemas.openxmlformats.org/officeDocument/2006/relationships/slide" Target="/ppt/slides/slide1.xml" Id="R0461b3f0b5654c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7e8692722b4c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46f2d1ebc34087" /><Relationship Type="http://schemas.openxmlformats.org/officeDocument/2006/relationships/notesMaster" Target="/ppt/notesMasters/notesMaster1.xml" Id="Rafc5aeda441d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cdc67f04c043a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97812f66e54c3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e6fac2ecc64b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a96e777f0549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6c59f8375b41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ea19546a5b47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1A624C3-BB08-4F5B-A8BA-FB431436A569}"/>
              </a:ext>
            </a:extLst>
          </p:cNvPr>
          <p:cNvSpPr>
            <a:spLocks xmlns:a="http://schemas.openxmlformats.org/drawingml/2006/main" noGrp="1"/>
          </p:cNvSpPr>
          <p:nvPr/>
        </p:nvSpPr>
        <p:spPr>
          <a:xfrm xmlns:a="http://schemas.openxmlformats.org/drawingml/2006/main">
            <a:off x="4632960" y="510709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987A155-C9F7-4B2A-82EA-22C086C20EC3}"/>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4870B77A-63D1-4B7E-91BC-7F7E8EC0B751}"/>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23807B6-4E8C-4E2F-90FB-FB97DB2DC221}"/>
              </a:ext>
            </a:extLst>
          </p:cNvPr>
          <p:cNvSpPr>
            <a:spLocks xmlns:a="http://schemas.openxmlformats.org/drawingml/2006/main" noGrp="1"/>
          </p:cNvSpPr>
          <p:nvPr/>
        </p:nvSpPr>
        <p:spPr>
          <a:xfrm xmlns:a="http://schemas.openxmlformats.org/drawingml/2006/main">
            <a:off x="4632960" y="5723467"/>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5AC3CDD-A7C4-4C17-85AF-9738B45027BD}"/>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342D8E0-D59C-4049-BEA1-DBAE457F81F7}"/>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A01EB81-6AB4-459B-A78E-8251937E08B2}"/>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A70CC2D-0917-4219-A545-352818E300E8}"/>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5A2A2FF-025F-4043-A6EC-E576717396D6}"/>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8A26E9E-980E-48B1-A23D-8EA7B0A3A709}"/>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945B00D-E898-411A-B438-34F95EEED7CF}"/>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7FEA9C4-80F1-489F-ADF8-9B5E9380EB5D}"/>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EA892A-D1F9-4193-A221-337EE8C934E9}"/>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29AEA31-43DE-44D9-BC46-BD9FECBAB743}"/>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999BE07-323C-41A0-8A72-11016461F190}"/>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262620c47b4a0e" /><Relationship Type="http://schemas.openxmlformats.org/officeDocument/2006/relationships/slideLayout" Target="/ppt/slideLayouts/slideLayout1.xml" Id="R5d91885b93844689" /><Relationship Type="http://schemas.openxmlformats.org/officeDocument/2006/relationships/slideLayout" Target="/ppt/slideLayouts/slideLayout2.xml" Id="R99d1b287ba624f08" /><Relationship Type="http://schemas.openxmlformats.org/officeDocument/2006/relationships/slideLayout" Target="/ppt/slideLayouts/slideLayout3.xml" Id="R9c065a94b5b94551" /><Relationship Type="http://schemas.openxmlformats.org/officeDocument/2006/relationships/slideLayout" Target="/ppt/slideLayouts/slideLayout4.xml" Id="R87007fa9508b4b3a" /><Relationship Type="http://schemas.openxmlformats.org/officeDocument/2006/relationships/slideLayout" Target="/ppt/slideLayouts/slideLayout5.xml" Id="Rc647b933122b4662" /><Relationship Type="http://schemas.openxmlformats.org/officeDocument/2006/relationships/slideLayout" Target="/ppt/slideLayouts/slideLayout6.xml" Id="R65cf1256a4ec4a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91885b93844689"/>
    <p:sldLayoutId xmlns:r="http://schemas.openxmlformats.org/officeDocument/2006/relationships" id="2147483650" r:id="R99d1b287ba624f08"/>
    <p:sldLayoutId xmlns:r="http://schemas.openxmlformats.org/officeDocument/2006/relationships" id="2147483651" r:id="R9c065a94b5b94551"/>
    <p:sldLayoutId xmlns:r="http://schemas.openxmlformats.org/officeDocument/2006/relationships" id="2147483652" r:id="R87007fa9508b4b3a"/>
    <p:sldLayoutId xmlns:r="http://schemas.openxmlformats.org/officeDocument/2006/relationships" id="2147483653" r:id="Rc647b933122b4662"/>
    <p:sldLayoutId xmlns:r="http://schemas.openxmlformats.org/officeDocument/2006/relationships" id="2147483654" r:id="R65cf1256a4ec4a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88cd11216b46de" /><Relationship Type="http://schemas.openxmlformats.org/officeDocument/2006/relationships/image" Target="/ppt/media/image.png" Id="Rfff7b46f00e145a8" /><Relationship Type="http://schemas.openxmlformats.org/officeDocument/2006/relationships/image" Target="/ppt/media/image2.png" Id="R7bbec46810614fc5" /><Relationship Type="http://schemas.openxmlformats.org/officeDocument/2006/relationships/image" Target="/ppt/media/image3.png" Id="Ra91b4981d0a04285" /><Relationship Type="http://schemas.openxmlformats.org/officeDocument/2006/relationships/image" Target="/ppt/media/image4.png" Id="R82e336a8f1964d57" /><Relationship Type="http://schemas.openxmlformats.org/officeDocument/2006/relationships/image" Target="/ppt/media/image5.png" Id="Rf4e35b57a3234c65" /><Relationship Type="http://schemas.openxmlformats.org/officeDocument/2006/relationships/image" Target="/ppt/media/image6.png" Id="Rf129b194bdfa41a1" /><Relationship Type="http://schemas.openxmlformats.org/officeDocument/2006/relationships/image" Target="/ppt/media/image7.png" Id="Rc9ab98d4ddbb43d6" /><Relationship Type="http://schemas.openxmlformats.org/officeDocument/2006/relationships/image" Target="/ppt/media/image8.png" Id="Rceba2333dc574e99" /><Relationship Type="http://schemas.openxmlformats.org/officeDocument/2006/relationships/image" Target="/ppt/media/image9.png" Id="Rc43938d0d2204c33" /><Relationship Type="http://schemas.openxmlformats.org/officeDocument/2006/relationships/image" Target="/ppt/media/image10.png" Id="R06394ceaead04fa2" /><Relationship Type="http://schemas.openxmlformats.org/officeDocument/2006/relationships/image" Target="/ppt/media/image11.png" Id="Rc18c3905d15c4e95" /><Relationship Type="http://schemas.openxmlformats.org/officeDocument/2006/relationships/image" Target="/ppt/media/image12.png" Id="R5835b03eb7334426" /><Relationship Type="http://schemas.openxmlformats.org/officeDocument/2006/relationships/image" Target="/ppt/media/image13.png" Id="Ra5c9de972c1e4978" /><Relationship Type="http://schemas.openxmlformats.org/officeDocument/2006/relationships/image" Target="/ppt/media/image14.png" Id="R6fc74a3054fd44dc" /><Relationship Type="http://schemas.openxmlformats.org/officeDocument/2006/relationships/image" Target="/ppt/media/image15.png" Id="R38b1ca5dd65a4e07" /><Relationship Type="http://schemas.openxmlformats.org/officeDocument/2006/relationships/image" Target="/ppt/media/image16.png" Id="R2e77faa1eb6a40b0" /><Relationship Type="http://schemas.openxmlformats.org/officeDocument/2006/relationships/image" Target="/ppt/media/image17.png" Id="Re76889a2346d433a" /><Relationship Type="http://schemas.openxmlformats.org/officeDocument/2006/relationships/image" Target="/ppt/media/image18.png" Id="R894cf19f724d4766" /><Relationship Type="http://schemas.openxmlformats.org/officeDocument/2006/relationships/image" Target="/ppt/media/image19.png" Id="R4938f72173464451" /><Relationship Type="http://schemas.openxmlformats.org/officeDocument/2006/relationships/image" Target="/ppt/media/image20.png" Id="R2fdde475a9a145d9" /><Relationship Type="http://schemas.openxmlformats.org/officeDocument/2006/relationships/image" Target="/ppt/media/image21.png" Id="R989ac21cac904629" /><Relationship Type="http://schemas.openxmlformats.org/officeDocument/2006/relationships/image" Target="/ppt/media/image22.png" Id="R2846b4f9413a44ea" /><Relationship Type="http://schemas.openxmlformats.org/officeDocument/2006/relationships/image" Target="/ppt/media/image23.png" Id="R4a1d9d87deee4535" /><Relationship Type="http://schemas.openxmlformats.org/officeDocument/2006/relationships/image" Target="/ppt/media/image24.png" Id="Rce9a33b8a95f4380" /><Relationship Type="http://schemas.openxmlformats.org/officeDocument/2006/relationships/image" Target="/ppt/media/image25.png" Id="R89ea567d9f0e4ce2" /><Relationship Type="http://schemas.openxmlformats.org/officeDocument/2006/relationships/image" Target="/ppt/media/image26.png" Id="R214f34648d9f4ece" /><Relationship Type="http://schemas.openxmlformats.org/officeDocument/2006/relationships/image" Target="/ppt/media/image27.png" Id="R7a6d0e26f78d4451" /><Relationship Type="http://schemas.openxmlformats.org/officeDocument/2006/relationships/image" Target="/ppt/media/image28.png" Id="R11f3e14fbeae4d0e" /><Relationship Type="http://schemas.openxmlformats.org/officeDocument/2006/relationships/image" Target="/ppt/media/image29.png" Id="R11acbbb9924b42d7" /><Relationship Type="http://schemas.openxmlformats.org/officeDocument/2006/relationships/image" Target="/ppt/media/image30.png" Id="R0325428517a74547" /><Relationship Type="http://schemas.openxmlformats.org/officeDocument/2006/relationships/image" Target="/ppt/media/image31.png" Id="Rb9bc13a14f1c41b5" /><Relationship Type="http://schemas.openxmlformats.org/officeDocument/2006/relationships/notesSlide" Target="/ppt/notesSlides/notesSlide1.xml" Id="Rf219b1ea7762497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fff7b46f00e145a8"/>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7bbec46810614fc5"/>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8A28651B-C0C0-4E77-9616-09650717DC6F}"/>
              </a:ext>
            </a:extLst>
          </p:cNvPr>
          <p:cNvSpPr>
            <a:spLocks xmlns:a="http://schemas.openxmlformats.org/drawingml/2006/main" noGrp="1"/>
          </p:cNvSpPr>
          <p:nvPr/>
        </p:nvSpPr>
        <p:spPr>
          <a:xfrm xmlns:a="http://schemas.openxmlformats.org/drawingml/2006/main" rot="0">
            <a:off x="400050" y="4572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00496A"/>
                </a:solidFill>
                <a:latin typeface="Arial"/>
                <a:ea typeface="Arial"/>
                <a:cs typeface="Arial"/>
              </a:defRPr>
            </a:pPr>
            <a:r>
              <a:rPr sz="1725" b="0">
                <a:solidFill>
                  <a:srgbClr val="00496A"/>
                </a:solidFill>
                <a:latin typeface="Arial"/>
                <a:ea typeface="Arial"/>
                <a:cs typeface="Arial"/>
              </a:rPr>
              <a:t>D E C E M B E R   2 0 2 6   I N T A K E</a:t>
            </a:r>
          </a:p>
        </p:txBody>
      </p:sp>
      <p:sp>
        <p:nvSpPr>
          <p:cNvPr id="4" name="Holiday title">
            <a:extLst xmlns:a="http://schemas.openxmlformats.org/drawingml/2006/main">
              <a:ext uri="{FF2B5EF4-FFF2-40B4-BE49-F238E27FC236}">
                <a16:creationId xmlns:a16="http://schemas.microsoft.com/office/drawing/2014/main" id="{C77C948E-E029-4253-B51A-A82264483747}"/>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26A13C90-9CCF-47A1-8A0F-7A803F494B1C}"/>
              </a:ext>
            </a:extLst>
          </p:cNvPr>
          <p:cNvSpPr>
            <a:spLocks xmlns:a="http://schemas.openxmlformats.org/drawingml/2006/main" noGrp="1"/>
          </p:cNvSpPr>
          <p:nvPr/>
        </p:nvSpPr>
        <p:spPr>
          <a:xfrm xmlns:a="http://schemas.openxmlformats.org/drawingml/2006/main" rot="0">
            <a:off x="342900" y="1676400"/>
            <a:ext cx="3000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C181FC2A-A526-405C-A1D2-14A49B6A2A09}"/>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B7AE87F3-15D7-4ABA-BE50-28D173915EC2}"/>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E818D9D4-3C5B-4D59-9110-3D7461D6D6B3}"/>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3E72C173-2973-42D8-ACC7-5A0B0BF586D1}"/>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Practical skills. Real projects.</a:t>
            </a:r>
          </a:p>
        </p:txBody>
      </p:sp>
      <p:sp>
        <p:nvSpPr>
          <p:cNvPr id="10" name="Promise line two">
            <a:extLst xmlns:a="http://schemas.openxmlformats.org/drawingml/2006/main">
              <a:ext uri="{FF2B5EF4-FFF2-40B4-BE49-F238E27FC236}">
                <a16:creationId xmlns:a16="http://schemas.microsoft.com/office/drawing/2014/main" id="{ED6AAC7C-8091-462F-A648-080B3462977C}"/>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Greater opportunities.</a:t>
            </a:r>
          </a:p>
        </p:txBody>
      </p:sp>
      <p:sp>
        <p:nvSpPr>
          <p:cNvPr id="11" name="Middle slogan line one">
            <a:extLst xmlns:a="http://schemas.openxmlformats.org/drawingml/2006/main">
              <a:ext uri="{FF2B5EF4-FFF2-40B4-BE49-F238E27FC236}">
                <a16:creationId xmlns:a16="http://schemas.microsoft.com/office/drawing/2014/main" id="{6FCC8707-93AB-4B98-9725-FC4EA40D5387}"/>
              </a:ext>
            </a:extLst>
          </p:cNvPr>
          <p:cNvSpPr>
            <a:spLocks xmlns:a="http://schemas.openxmlformats.org/drawingml/2006/main" noGrp="1"/>
          </p:cNvSpPr>
          <p:nvPr/>
        </p:nvSpPr>
        <p:spPr>
          <a:xfrm xmlns:a="http://schemas.openxmlformats.org/drawingml/2006/main" rot="-360000">
            <a:off x="419100" y="4876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0034C5"/>
                </a:solidFill>
                <a:latin typeface="Caveat"/>
                <a:ea typeface="Caveat"/>
                <a:cs typeface="Caveat"/>
              </a:defRPr>
            </a:pPr>
            <a:r>
              <a:rPr sz="3225" b="1">
                <a:solidFill>
                  <a:srgbClr val="0034C5"/>
                </a:solidFill>
                <a:latin typeface="Caveat"/>
                <a:ea typeface="Caveat"/>
                <a:cs typeface="Caveat"/>
              </a:rPr>
              <a:t>Skills today.</a:t>
            </a:r>
          </a:p>
        </p:txBody>
      </p:sp>
      <p:sp>
        <p:nvSpPr>
          <p:cNvPr id="12" name="Middle slogan line two">
            <a:extLst xmlns:a="http://schemas.openxmlformats.org/drawingml/2006/main">
              <a:ext uri="{FF2B5EF4-FFF2-40B4-BE49-F238E27FC236}">
                <a16:creationId xmlns:a16="http://schemas.microsoft.com/office/drawing/2014/main" id="{3FB1AAF9-06EF-4736-91AC-74474C091287}"/>
              </a:ext>
            </a:extLst>
          </p:cNvPr>
          <p:cNvSpPr>
            <a:spLocks xmlns:a="http://schemas.openxmlformats.org/drawingml/2006/main" noGrp="1"/>
          </p:cNvSpPr>
          <p:nvPr/>
        </p:nvSpPr>
        <p:spPr>
          <a:xfrm xmlns:a="http://schemas.openxmlformats.org/drawingml/2006/main" rot="-360000">
            <a:off x="466725" y="5210175"/>
            <a:ext cx="378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0034C5"/>
                </a:solidFill>
                <a:latin typeface="Caveat"/>
                <a:ea typeface="Caveat"/>
                <a:cs typeface="Caveat"/>
              </a:defRPr>
            </a:pPr>
            <a:r>
              <a:rPr sz="2625" b="1">
                <a:solidFill>
                  <a:srgbClr val="0034C5"/>
                </a:solidFill>
                <a:latin typeface="Caveat"/>
                <a:ea typeface="Caveat"/>
                <a:cs typeface="Caveat"/>
              </a:rPr>
              <a:t>Greater opportunities tomorrow.</a:t>
            </a:r>
          </a:p>
        </p:txBody>
      </p:sp>
      <p:sp>
        <p:nvSpPr>
          <p:cNvPr id="13" name="Central white sheet">
            <a:extLst xmlns:a="http://schemas.openxmlformats.org/drawingml/2006/main">
              <a:ext uri="{FF2B5EF4-FFF2-40B4-BE49-F238E27FC236}">
                <a16:creationId xmlns:a16="http://schemas.microsoft.com/office/drawing/2014/main" id="{80F9B8D0-8F39-447D-8BF3-77580E434951}"/>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4" name="Data Analysis panel">
            <a:extLst xmlns:a="http://schemas.openxmlformats.org/drawingml/2006/main">
              <a:ext uri="{FF2B5EF4-FFF2-40B4-BE49-F238E27FC236}">
                <a16:creationId xmlns:a16="http://schemas.microsoft.com/office/drawing/2014/main" id="{7829FC1C-E6B9-4930-812A-7404234F4D9E}"/>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5" name="Machine Learning panel">
            <a:extLst xmlns:a="http://schemas.openxmlformats.org/drawingml/2006/main">
              <a:ext uri="{FF2B5EF4-FFF2-40B4-BE49-F238E27FC236}">
                <a16:creationId xmlns:a16="http://schemas.microsoft.com/office/drawing/2014/main" id="{BBB56BDC-52C7-4045-9B4E-0877E6798FCE}"/>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a91b4981d0a04285"/>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82e336a8f1964d57"/>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8" name="Data Analysis title">
            <a:extLst xmlns:a="http://schemas.openxmlformats.org/drawingml/2006/main">
              <a:ext uri="{FF2B5EF4-FFF2-40B4-BE49-F238E27FC236}">
                <a16:creationId xmlns:a16="http://schemas.microsoft.com/office/drawing/2014/main" id="{E7D528E9-CCC1-43BB-9DDE-9AA44F5FB627}"/>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9" name="ML title">
            <a:extLst xmlns:a="http://schemas.openxmlformats.org/drawingml/2006/main">
              <a:ext uri="{FF2B5EF4-FFF2-40B4-BE49-F238E27FC236}">
                <a16:creationId xmlns:a16="http://schemas.microsoft.com/office/drawing/2014/main" id="{AF0873ED-AC49-4322-99F0-FB3CE438812A}"/>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0" name="DA description">
            <a:extLst xmlns:a="http://schemas.openxmlformats.org/drawingml/2006/main">
              <a:ext uri="{FF2B5EF4-FFF2-40B4-BE49-F238E27FC236}">
                <a16:creationId xmlns:a16="http://schemas.microsoft.com/office/drawing/2014/main" id="{438388DC-BC73-451B-949E-0E936BA9229E}"/>
              </a:ext>
            </a:extLst>
          </p:cNvPr>
          <p:cNvSpPr>
            <a:spLocks xmlns:a="http://schemas.openxmlformats.org/drawingml/2006/main" noGrp="1"/>
          </p:cNvSpPr>
          <p:nvPr/>
        </p:nvSpPr>
        <p:spPr>
          <a:xfrm xmlns:a="http://schemas.openxmlformats.org/drawingml/2006/main" rot="0">
            <a:off x="1581150"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Turn real data into</a:t>
            </a:r>
          </a:p>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useful insights</a:t>
            </a:r>
          </a:p>
        </p:txBody>
      </p:sp>
      <p:sp>
        <p:nvSpPr>
          <p:cNvPr id="21" name="ML description">
            <a:extLst xmlns:a="http://schemas.openxmlformats.org/drawingml/2006/main">
              <a:ext uri="{FF2B5EF4-FFF2-40B4-BE49-F238E27FC236}">
                <a16:creationId xmlns:a16="http://schemas.microsoft.com/office/drawing/2014/main" id="{7CFAA1AE-B883-4D20-8D64-16A3560C9845}"/>
              </a:ext>
            </a:extLst>
          </p:cNvPr>
          <p:cNvSpPr>
            <a:spLocks xmlns:a="http://schemas.openxmlformats.org/drawingml/2006/main" noGrp="1"/>
          </p:cNvSpPr>
          <p:nvPr/>
        </p:nvSpPr>
        <p:spPr>
          <a:xfrm xmlns:a="http://schemas.openxmlformats.org/drawingml/2006/main" rot="0">
            <a:off x="6238875"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Teach computers to find patterns</a:t>
            </a:r>
          </a:p>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&amp; make predictions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f4e35b57a3234c65"/>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3" name="Python label 73">
            <a:extLst xmlns:a="http://schemas.openxmlformats.org/drawingml/2006/main">
              <a:ext uri="{FF2B5EF4-FFF2-40B4-BE49-F238E27FC236}">
                <a16:creationId xmlns:a16="http://schemas.microsoft.com/office/drawing/2014/main" id="{C376EE7C-784D-4731-81F8-6621F531A6B4}"/>
              </a:ext>
            </a:extLst>
          </p:cNvPr>
          <p:cNvSpPr>
            <a:spLocks xmlns:a="http://schemas.openxmlformats.org/drawingml/2006/main" noGrp="1"/>
          </p:cNvSpPr>
          <p:nvPr/>
        </p:nvSpPr>
        <p:spPr>
          <a:xfrm xmlns:a="http://schemas.openxmlformats.org/drawingml/2006/main" rot="0">
            <a:off x="6953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f129b194bdfa41a1"/>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5" name="pandas label 211">
            <a:extLst xmlns:a="http://schemas.openxmlformats.org/drawingml/2006/main">
              <a:ext uri="{FF2B5EF4-FFF2-40B4-BE49-F238E27FC236}">
                <a16:creationId xmlns:a16="http://schemas.microsoft.com/office/drawing/2014/main" id="{426AB356-506D-4266-BA11-3FD3772193B1}"/>
              </a:ext>
            </a:extLst>
          </p:cNvPr>
          <p:cNvSpPr>
            <a:spLocks xmlns:a="http://schemas.openxmlformats.org/drawingml/2006/main" noGrp="1"/>
          </p:cNvSpPr>
          <p:nvPr/>
        </p:nvSpPr>
        <p:spPr>
          <a:xfrm xmlns:a="http://schemas.openxmlformats.org/drawingml/2006/main" rot="0">
            <a:off x="20097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c9ab98d4ddbb43d6"/>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7" name="SQL label 349">
            <a:extLst xmlns:a="http://schemas.openxmlformats.org/drawingml/2006/main">
              <a:ext uri="{FF2B5EF4-FFF2-40B4-BE49-F238E27FC236}">
                <a16:creationId xmlns:a16="http://schemas.microsoft.com/office/drawing/2014/main" id="{A1FF50D2-5C66-448A-BDCB-6D8CB729B84E}"/>
              </a:ext>
            </a:extLst>
          </p:cNvPr>
          <p:cNvSpPr>
            <a:spLocks xmlns:a="http://schemas.openxmlformats.org/drawingml/2006/main" noGrp="1"/>
          </p:cNvSpPr>
          <p:nvPr/>
        </p:nvSpPr>
        <p:spPr>
          <a:xfrm xmlns:a="http://schemas.openxmlformats.org/drawingml/2006/main" rot="0">
            <a:off x="33242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SQL</a:t>
            </a:r>
          </a:p>
        </p:txBody>
      </p:sp>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ceba2333dc574e99"/>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9" name="Python label 567">
            <a:extLst xmlns:a="http://schemas.openxmlformats.org/drawingml/2006/main">
              <a:ext uri="{FF2B5EF4-FFF2-40B4-BE49-F238E27FC236}">
                <a16:creationId xmlns:a16="http://schemas.microsoft.com/office/drawing/2014/main" id="{6F2E8926-0263-46AF-BA34-1A45FE140838}"/>
              </a:ext>
            </a:extLst>
          </p:cNvPr>
          <p:cNvSpPr>
            <a:spLocks xmlns:a="http://schemas.openxmlformats.org/drawingml/2006/main" noGrp="1"/>
          </p:cNvSpPr>
          <p:nvPr/>
        </p:nvSpPr>
        <p:spPr>
          <a:xfrm xmlns:a="http://schemas.openxmlformats.org/drawingml/2006/main" rot="0">
            <a:off x="54006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37" name=""/>
          <p:cNvPicPr>
            <a:picLocks xmlns:a="http://schemas.openxmlformats.org/drawingml/2006/main" noChangeAspect="1"/>
          </p:cNvPicPr>
          <p:nvPr/>
        </p:nvPicPr>
        <p:blipFill>
          <a:blip xmlns:r="http://schemas.openxmlformats.org/officeDocument/2006/relationships" xmlns:a="http://schemas.openxmlformats.org/drawingml/2006/main" r:embed="Rc43938d0d2204c33"/>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1" name="pandas label 705">
            <a:extLst xmlns:a="http://schemas.openxmlformats.org/drawingml/2006/main">
              <a:ext uri="{FF2B5EF4-FFF2-40B4-BE49-F238E27FC236}">
                <a16:creationId xmlns:a16="http://schemas.microsoft.com/office/drawing/2014/main" id="{E3780A15-CDA2-4D47-B895-6090A1CD6AEF}"/>
              </a:ext>
            </a:extLst>
          </p:cNvPr>
          <p:cNvSpPr>
            <a:spLocks xmlns:a="http://schemas.openxmlformats.org/drawingml/2006/main" noGrp="1"/>
          </p:cNvSpPr>
          <p:nvPr/>
        </p:nvSpPr>
        <p:spPr>
          <a:xfrm xmlns:a="http://schemas.openxmlformats.org/drawingml/2006/main" rot="0">
            <a:off x="67151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06394ceaead04fa2"/>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3" name="scikit-learn label 843">
            <a:extLst xmlns:a="http://schemas.openxmlformats.org/drawingml/2006/main">
              <a:ext uri="{FF2B5EF4-FFF2-40B4-BE49-F238E27FC236}">
                <a16:creationId xmlns:a16="http://schemas.microsoft.com/office/drawing/2014/main" id="{51DBFB3F-FA2D-4D1C-BA58-5AE34D63FF56}"/>
              </a:ext>
            </a:extLst>
          </p:cNvPr>
          <p:cNvSpPr>
            <a:spLocks xmlns:a="http://schemas.openxmlformats.org/drawingml/2006/main" noGrp="1"/>
          </p:cNvSpPr>
          <p:nvPr/>
        </p:nvSpPr>
        <p:spPr>
          <a:xfrm xmlns:a="http://schemas.openxmlformats.org/drawingml/2006/main" rot="0">
            <a:off x="80295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scikit-learn</a:t>
            </a:r>
          </a:p>
        </p:txBody>
      </p:sp>
      <p:sp>
        <p:nvSpPr>
          <p:cNvPr id="34" name="DA rule">
            <a:extLst xmlns:a="http://schemas.openxmlformats.org/drawingml/2006/main">
              <a:ext uri="{FF2B5EF4-FFF2-40B4-BE49-F238E27FC236}">
                <a16:creationId xmlns:a16="http://schemas.microsoft.com/office/drawing/2014/main" id="{D20705F0-E7FE-4C4F-9240-71C440E5A668}"/>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5" name="ML rule">
            <a:extLst xmlns:a="http://schemas.openxmlformats.org/drawingml/2006/main">
              <a:ext uri="{FF2B5EF4-FFF2-40B4-BE49-F238E27FC236}">
                <a16:creationId xmlns:a16="http://schemas.microsoft.com/office/drawing/2014/main" id="{4E3BB568-FD9C-45C2-BF26-39FBA009FB0C}"/>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43" name=""/>
          <p:cNvPicPr>
            <a:picLocks xmlns:a="http://schemas.openxmlformats.org/drawingml/2006/main" noChangeAspect="1"/>
          </p:cNvPicPr>
          <p:nvPr/>
        </p:nvPicPr>
        <p:blipFill>
          <a:blip xmlns:r="http://schemas.openxmlformats.org/officeDocument/2006/relationships" xmlns:a="http://schemas.openxmlformats.org/drawingml/2006/main" r:embed="Rc18c3905d15c4e95"/>
          <a:stretch xmlns:a="http://schemas.openxmlformats.org/drawingml/2006/main"/>
        </p:blipFill>
        <p:spPr>
          <a:xfrm xmlns:a="http://schemas.openxmlformats.org/drawingml/2006/main">
            <a:off x="476250" y="8429625"/>
            <a:ext cx="161925" cy="161925"/>
          </a:xfrm>
          <a:prstGeom xmlns:a="http://schemas.openxmlformats.org/drawingml/2006/main" prst="rect">
            <a:avLst/>
          </a:prstGeom>
        </p:spPr>
      </p:pic>
      <p:sp>
        <p:nvSpPr>
          <p:cNvPr id="37" name="DA learning 1">
            <a:extLst xmlns:a="http://schemas.openxmlformats.org/drawingml/2006/main">
              <a:ext uri="{FF2B5EF4-FFF2-40B4-BE49-F238E27FC236}">
                <a16:creationId xmlns:a16="http://schemas.microsoft.com/office/drawing/2014/main" id="{D390734F-B9FD-4DCF-84BF-F1BC35574120}"/>
              </a:ext>
            </a:extLst>
          </p:cNvPr>
          <p:cNvSpPr>
            <a:spLocks xmlns:a="http://schemas.openxmlformats.org/drawingml/2006/main" noGrp="1"/>
          </p:cNvSpPr>
          <p:nvPr/>
        </p:nvSpPr>
        <p:spPr>
          <a:xfrm xmlns:a="http://schemas.openxmlformats.org/drawingml/2006/main" rot="0">
            <a:off x="742950" y="83820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 (programming basics)</a:t>
            </a:r>
          </a:p>
        </p:txBody>
      </p:sp>
      <p:pic>
        <p:nvPicPr>
          <p:cNvPr id="145" name=""/>
          <p:cNvPicPr>
            <a:picLocks xmlns:a="http://schemas.openxmlformats.org/drawingml/2006/main" noChangeAspect="1"/>
          </p:cNvPicPr>
          <p:nvPr/>
        </p:nvPicPr>
        <p:blipFill>
          <a:blip xmlns:r="http://schemas.openxmlformats.org/officeDocument/2006/relationships" xmlns:a="http://schemas.openxmlformats.org/drawingml/2006/main" r:embed="R5835b03eb7334426"/>
          <a:stretch xmlns:a="http://schemas.openxmlformats.org/drawingml/2006/main"/>
        </p:blipFill>
        <p:spPr>
          <a:xfrm xmlns:a="http://schemas.openxmlformats.org/drawingml/2006/main">
            <a:off x="5181600" y="8429625"/>
            <a:ext cx="161925" cy="161925"/>
          </a:xfrm>
          <a:prstGeom xmlns:a="http://schemas.openxmlformats.org/drawingml/2006/main" prst="rect">
            <a:avLst/>
          </a:prstGeom>
        </p:spPr>
      </p:pic>
      <p:sp>
        <p:nvSpPr>
          <p:cNvPr id="39" name="ML learning 1">
            <a:extLst xmlns:a="http://schemas.openxmlformats.org/drawingml/2006/main">
              <a:ext uri="{FF2B5EF4-FFF2-40B4-BE49-F238E27FC236}">
                <a16:creationId xmlns:a16="http://schemas.microsoft.com/office/drawing/2014/main" id="{068FB718-6198-4582-A556-37ED6654489A}"/>
              </a:ext>
            </a:extLst>
          </p:cNvPr>
          <p:cNvSpPr>
            <a:spLocks xmlns:a="http://schemas.openxmlformats.org/drawingml/2006/main" noGrp="1"/>
          </p:cNvSpPr>
          <p:nvPr/>
        </p:nvSpPr>
        <p:spPr>
          <a:xfrm xmlns:a="http://schemas.openxmlformats.org/drawingml/2006/main" rot="0">
            <a:off x="5448300" y="8382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a:t>
            </a:r>
          </a:p>
        </p:txBody>
      </p:sp>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a5c9de972c1e4978"/>
          <a:stretch xmlns:a="http://schemas.openxmlformats.org/drawingml/2006/main"/>
        </p:blipFill>
        <p:spPr>
          <a:xfrm xmlns:a="http://schemas.openxmlformats.org/drawingml/2006/main">
            <a:off x="476250" y="8705850"/>
            <a:ext cx="161925" cy="161925"/>
          </a:xfrm>
          <a:prstGeom xmlns:a="http://schemas.openxmlformats.org/drawingml/2006/main" prst="rect">
            <a:avLst/>
          </a:prstGeom>
        </p:spPr>
      </p:pic>
      <p:sp>
        <p:nvSpPr>
          <p:cNvPr id="41" name="DA learning 2">
            <a:extLst xmlns:a="http://schemas.openxmlformats.org/drawingml/2006/main">
              <a:ext uri="{FF2B5EF4-FFF2-40B4-BE49-F238E27FC236}">
                <a16:creationId xmlns:a16="http://schemas.microsoft.com/office/drawing/2014/main" id="{21B99CB7-7487-46C1-85A0-98D7864FA593}"/>
              </a:ext>
            </a:extLst>
          </p:cNvPr>
          <p:cNvSpPr>
            <a:spLocks xmlns:a="http://schemas.openxmlformats.org/drawingml/2006/main" noGrp="1"/>
          </p:cNvSpPr>
          <p:nvPr/>
        </p:nvSpPr>
        <p:spPr>
          <a:xfrm xmlns:a="http://schemas.openxmlformats.org/drawingml/2006/main" rot="0">
            <a:off x="742950" y="865822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SQL (querying data)</a:t>
            </a:r>
          </a:p>
        </p:txBody>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6fc74a3054fd44dc"/>
          <a:stretch xmlns:a="http://schemas.openxmlformats.org/drawingml/2006/main"/>
        </p:blipFill>
        <p:spPr>
          <a:xfrm xmlns:a="http://schemas.openxmlformats.org/drawingml/2006/main">
            <a:off x="5181600" y="8705850"/>
            <a:ext cx="161925" cy="161925"/>
          </a:xfrm>
          <a:prstGeom xmlns:a="http://schemas.openxmlformats.org/drawingml/2006/main" prst="rect">
            <a:avLst/>
          </a:prstGeom>
        </p:spPr>
      </p:pic>
      <p:sp>
        <p:nvSpPr>
          <p:cNvPr id="43" name="ML learning 2">
            <a:extLst xmlns:a="http://schemas.openxmlformats.org/drawingml/2006/main">
              <a:ext uri="{FF2B5EF4-FFF2-40B4-BE49-F238E27FC236}">
                <a16:creationId xmlns:a16="http://schemas.microsoft.com/office/drawing/2014/main" id="{BD5257F4-F16A-4472-B884-354F6424C455}"/>
              </a:ext>
            </a:extLst>
          </p:cNvPr>
          <p:cNvSpPr>
            <a:spLocks xmlns:a="http://schemas.openxmlformats.org/drawingml/2006/main" noGrp="1"/>
          </p:cNvSpPr>
          <p:nvPr/>
        </p:nvSpPr>
        <p:spPr>
          <a:xfrm xmlns:a="http://schemas.openxmlformats.org/drawingml/2006/main" rot="0">
            <a:off x="5448300" y="8658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Machine learning concepts</a:t>
            </a:r>
          </a:p>
        </p:txBody>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38b1ca5dd65a4e07"/>
          <a:stretch xmlns:a="http://schemas.openxmlformats.org/drawingml/2006/main"/>
        </p:blipFill>
        <p:spPr>
          <a:xfrm xmlns:a="http://schemas.openxmlformats.org/drawingml/2006/main">
            <a:off x="476250" y="8982075"/>
            <a:ext cx="161925" cy="161925"/>
          </a:xfrm>
          <a:prstGeom xmlns:a="http://schemas.openxmlformats.org/drawingml/2006/main" prst="rect">
            <a:avLst/>
          </a:prstGeom>
        </p:spPr>
      </p:pic>
      <p:sp>
        <p:nvSpPr>
          <p:cNvPr id="45" name="DA learning 3">
            <a:extLst xmlns:a="http://schemas.openxmlformats.org/drawingml/2006/main">
              <a:ext uri="{FF2B5EF4-FFF2-40B4-BE49-F238E27FC236}">
                <a16:creationId xmlns:a16="http://schemas.microsoft.com/office/drawing/2014/main" id="{F092564E-D817-4E86-B4C5-8521EAD33621}"/>
              </a:ext>
            </a:extLst>
          </p:cNvPr>
          <p:cNvSpPr>
            <a:spLocks xmlns:a="http://schemas.openxmlformats.org/drawingml/2006/main" noGrp="1"/>
          </p:cNvSpPr>
          <p:nvPr/>
        </p:nvSpPr>
        <p:spPr>
          <a:xfrm xmlns:a="http://schemas.openxmlformats.org/drawingml/2006/main" rot="0">
            <a:off x="742950" y="893445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Cleaning &amp; Preparation</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2e77faa1eb6a40b0"/>
          <a:stretch xmlns:a="http://schemas.openxmlformats.org/drawingml/2006/main"/>
        </p:blipFill>
        <p:spPr>
          <a:xfrm xmlns:a="http://schemas.openxmlformats.org/drawingml/2006/main">
            <a:off x="5181600" y="8982075"/>
            <a:ext cx="161925" cy="161925"/>
          </a:xfrm>
          <a:prstGeom xmlns:a="http://schemas.openxmlformats.org/drawingml/2006/main" prst="rect">
            <a:avLst/>
          </a:prstGeom>
        </p:spPr>
      </p:pic>
      <p:sp>
        <p:nvSpPr>
          <p:cNvPr id="47" name="ML learning 3">
            <a:extLst xmlns:a="http://schemas.openxmlformats.org/drawingml/2006/main">
              <a:ext uri="{FF2B5EF4-FFF2-40B4-BE49-F238E27FC236}">
                <a16:creationId xmlns:a16="http://schemas.microsoft.com/office/drawing/2014/main" id="{1B19E939-AA21-4F8A-956F-93BE732004DF}"/>
              </a:ext>
            </a:extLst>
          </p:cNvPr>
          <p:cNvSpPr>
            <a:spLocks xmlns:a="http://schemas.openxmlformats.org/drawingml/2006/main" noGrp="1"/>
          </p:cNvSpPr>
          <p:nvPr/>
        </p:nvSpPr>
        <p:spPr>
          <a:xfrm xmlns:a="http://schemas.openxmlformats.org/drawingml/2006/main" rot="0">
            <a:off x="5448300" y="89344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Model training</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e76889a2346d433a"/>
          <a:stretch xmlns:a="http://schemas.openxmlformats.org/drawingml/2006/main"/>
        </p:blipFill>
        <p:spPr>
          <a:xfrm xmlns:a="http://schemas.openxmlformats.org/drawingml/2006/main">
            <a:off x="476250" y="9258300"/>
            <a:ext cx="161925" cy="161925"/>
          </a:xfrm>
          <a:prstGeom xmlns:a="http://schemas.openxmlformats.org/drawingml/2006/main" prst="rect">
            <a:avLst/>
          </a:prstGeom>
        </p:spPr>
      </p:pic>
      <p:sp>
        <p:nvSpPr>
          <p:cNvPr id="49" name="DA learning 4">
            <a:extLst xmlns:a="http://schemas.openxmlformats.org/drawingml/2006/main">
              <a:ext uri="{FF2B5EF4-FFF2-40B4-BE49-F238E27FC236}">
                <a16:creationId xmlns:a16="http://schemas.microsoft.com/office/drawing/2014/main" id="{F55AE2B5-47AC-4A90-9AB0-CEF4EC48C1B0}"/>
              </a:ext>
            </a:extLst>
          </p:cNvPr>
          <p:cNvSpPr>
            <a:spLocks xmlns:a="http://schemas.openxmlformats.org/drawingml/2006/main" noGrp="1"/>
          </p:cNvSpPr>
          <p:nvPr/>
        </p:nvSpPr>
        <p:spPr>
          <a:xfrm xmlns:a="http://schemas.openxmlformats.org/drawingml/2006/main" rot="0">
            <a:off x="742950" y="921067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Visualization (dashboards &amp; charts)</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894cf19f724d4766"/>
          <a:stretch xmlns:a="http://schemas.openxmlformats.org/drawingml/2006/main"/>
        </p:blipFill>
        <p:spPr>
          <a:xfrm xmlns:a="http://schemas.openxmlformats.org/drawingml/2006/main">
            <a:off x="5181600" y="9258300"/>
            <a:ext cx="161925" cy="161925"/>
          </a:xfrm>
          <a:prstGeom xmlns:a="http://schemas.openxmlformats.org/drawingml/2006/main" prst="rect">
            <a:avLst/>
          </a:prstGeom>
        </p:spPr>
      </p:pic>
      <p:sp>
        <p:nvSpPr>
          <p:cNvPr id="51" name="ML learning 4">
            <a:extLst xmlns:a="http://schemas.openxmlformats.org/drawingml/2006/main">
              <a:ext uri="{FF2B5EF4-FFF2-40B4-BE49-F238E27FC236}">
                <a16:creationId xmlns:a16="http://schemas.microsoft.com/office/drawing/2014/main" id="{D39CC6DA-148A-4DCD-892F-EB54CDD6A630}"/>
              </a:ext>
            </a:extLst>
          </p:cNvPr>
          <p:cNvSpPr>
            <a:spLocks xmlns:a="http://schemas.openxmlformats.org/drawingml/2006/main" noGrp="1"/>
          </p:cNvSpPr>
          <p:nvPr/>
        </p:nvSpPr>
        <p:spPr>
          <a:xfrm xmlns:a="http://schemas.openxmlformats.org/drawingml/2006/main" rot="0">
            <a:off x="5448300" y="92106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Prediction &amp; evaluation</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4938f72173464451"/>
          <a:stretch xmlns:a="http://schemas.openxmlformats.org/drawingml/2006/main"/>
        </p:blipFill>
        <p:spPr>
          <a:xfrm xmlns:a="http://schemas.openxmlformats.org/drawingml/2006/main">
            <a:off x="476250" y="9534525"/>
            <a:ext cx="161925" cy="161925"/>
          </a:xfrm>
          <a:prstGeom xmlns:a="http://schemas.openxmlformats.org/drawingml/2006/main" prst="rect">
            <a:avLst/>
          </a:prstGeom>
        </p:spPr>
      </p:pic>
      <p:sp>
        <p:nvSpPr>
          <p:cNvPr id="53" name="DA learning 5">
            <a:extLst xmlns:a="http://schemas.openxmlformats.org/drawingml/2006/main">
              <a:ext uri="{FF2B5EF4-FFF2-40B4-BE49-F238E27FC236}">
                <a16:creationId xmlns:a16="http://schemas.microsoft.com/office/drawing/2014/main" id="{9AF62ECC-6427-4741-9CB5-4018D255797A}"/>
              </a:ext>
            </a:extLst>
          </p:cNvPr>
          <p:cNvSpPr>
            <a:spLocks xmlns:a="http://schemas.openxmlformats.org/drawingml/2006/main" noGrp="1"/>
          </p:cNvSpPr>
          <p:nvPr/>
        </p:nvSpPr>
        <p:spPr>
          <a:xfrm xmlns:a="http://schemas.openxmlformats.org/drawingml/2006/main" rot="0">
            <a:off x="742950" y="94869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Basic statistics</a:t>
            </a:r>
          </a:p>
        </p:txBody>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2fdde475a9a145d9"/>
          <a:stretch xmlns:a="http://schemas.openxmlformats.org/drawingml/2006/main"/>
        </p:blipFill>
        <p:spPr>
          <a:xfrm xmlns:a="http://schemas.openxmlformats.org/drawingml/2006/main">
            <a:off x="5181600" y="9534525"/>
            <a:ext cx="161925" cy="161925"/>
          </a:xfrm>
          <a:prstGeom xmlns:a="http://schemas.openxmlformats.org/drawingml/2006/main" prst="rect">
            <a:avLst/>
          </a:prstGeom>
        </p:spPr>
      </p:pic>
      <p:sp>
        <p:nvSpPr>
          <p:cNvPr id="55" name="ML learning 5">
            <a:extLst xmlns:a="http://schemas.openxmlformats.org/drawingml/2006/main">
              <a:ext uri="{FF2B5EF4-FFF2-40B4-BE49-F238E27FC236}">
                <a16:creationId xmlns:a16="http://schemas.microsoft.com/office/drawing/2014/main" id="{F4392E5B-9D1E-4736-945F-D1E9B9A23E73}"/>
              </a:ext>
            </a:extLst>
          </p:cNvPr>
          <p:cNvSpPr>
            <a:spLocks xmlns:a="http://schemas.openxmlformats.org/drawingml/2006/main" noGrp="1"/>
          </p:cNvSpPr>
          <p:nvPr/>
        </p:nvSpPr>
        <p:spPr>
          <a:xfrm xmlns:a="http://schemas.openxmlformats.org/drawingml/2006/main" rot="0">
            <a:off x="5448300" y="94869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Real-world datasets</a:t>
            </a:r>
          </a:p>
        </p:txBody>
      </p:sp>
      <p:sp>
        <p:nvSpPr>
          <p:cNvPr id="56" name="DA outcome strip">
            <a:extLst xmlns:a="http://schemas.openxmlformats.org/drawingml/2006/main">
              <a:ext uri="{FF2B5EF4-FFF2-40B4-BE49-F238E27FC236}">
                <a16:creationId xmlns:a16="http://schemas.microsoft.com/office/drawing/2014/main" id="{C88A951E-9955-4443-81A3-482E8F16C008}"/>
              </a:ext>
            </a:extLst>
          </p:cNvPr>
          <p:cNvSpPr>
            <a:spLocks xmlns:a="http://schemas.openxmlformats.org/drawingml/2006/main" noGrp="1"/>
          </p:cNvSpPr>
          <p:nvPr/>
        </p:nvSpPr>
        <p:spPr>
          <a:xfrm xmlns:a="http://schemas.openxmlformats.org/drawingml/2006/main" rot="0">
            <a:off x="381000" y="9953625"/>
            <a:ext cx="4286250" cy="885825"/>
          </a:xfrm>
          <a:prstGeom xmlns:a="http://schemas.openxmlformats.org/drawingml/2006/main" prst="roundRect">
            <a:avLst>
              <a:gd name="adj" fmla="val 10753"/>
            </a:avLst>
          </a:prstGeom>
          <a:solidFill xmlns:a="http://schemas.openxmlformats.org/drawingml/2006/main">
            <a:srgbClr val="C7EAF8"/>
          </a:solidFill>
          <a:ln xmlns:a="http://schemas.openxmlformats.org/drawingml/2006/main" w="0">
            <a:noFill/>
          </a:ln>
        </p:spPr>
      </p:sp>
      <p:sp>
        <p:nvSpPr>
          <p:cNvPr id="57" name="ML outcome strip">
            <a:extLst xmlns:a="http://schemas.openxmlformats.org/drawingml/2006/main">
              <a:ext uri="{FF2B5EF4-FFF2-40B4-BE49-F238E27FC236}">
                <a16:creationId xmlns:a16="http://schemas.microsoft.com/office/drawing/2014/main" id="{3B8B7D5B-4087-49E6-8DC6-85BA5B2FAB37}"/>
              </a:ext>
            </a:extLst>
          </p:cNvPr>
          <p:cNvSpPr>
            <a:spLocks xmlns:a="http://schemas.openxmlformats.org/drawingml/2006/main" noGrp="1"/>
          </p:cNvSpPr>
          <p:nvPr/>
        </p:nvSpPr>
        <p:spPr>
          <a:xfrm xmlns:a="http://schemas.openxmlformats.org/drawingml/2006/main" rot="0">
            <a:off x="5086350" y="9953625"/>
            <a:ext cx="4286250" cy="885825"/>
          </a:xfrm>
          <a:prstGeom xmlns:a="http://schemas.openxmlformats.org/drawingml/2006/main" prst="roundRect">
            <a:avLst>
              <a:gd name="adj" fmla="val 10753"/>
            </a:avLst>
          </a:prstGeom>
          <a:solidFill xmlns:a="http://schemas.openxmlformats.org/drawingml/2006/main">
            <a:srgbClr val="E0CBF7"/>
          </a:solidFill>
          <a:ln xmlns:a="http://schemas.openxmlformats.org/drawingml/2006/main" w="0">
            <a:noFill/>
          </a:ln>
        </p:spPr>
      </p:sp>
      <p:sp>
        <p:nvSpPr>
          <p:cNvPr id="58" name="DA Build">
            <a:extLst xmlns:a="http://schemas.openxmlformats.org/drawingml/2006/main">
              <a:ext uri="{FF2B5EF4-FFF2-40B4-BE49-F238E27FC236}">
                <a16:creationId xmlns:a16="http://schemas.microsoft.com/office/drawing/2014/main" id="{4DBAB264-49CC-4E02-9590-B23986066A5A}"/>
              </a:ext>
            </a:extLst>
          </p:cNvPr>
          <p:cNvSpPr>
            <a:spLocks xmlns:a="http://schemas.openxmlformats.org/drawingml/2006/main" noGrp="1"/>
          </p:cNvSpPr>
          <p:nvPr/>
        </p:nvSpPr>
        <p:spPr>
          <a:xfrm xmlns:a="http://schemas.openxmlformats.org/drawingml/2006/main" rot="0">
            <a:off x="514350" y="1002982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9" name="DA project examples">
            <a:extLst xmlns:a="http://schemas.openxmlformats.org/drawingml/2006/main">
              <a:ext uri="{FF2B5EF4-FFF2-40B4-BE49-F238E27FC236}">
                <a16:creationId xmlns:a16="http://schemas.microsoft.com/office/drawing/2014/main" id="{2D957A1D-7E95-4A3A-89D8-FEC6265E4375}"/>
              </a:ext>
            </a:extLst>
          </p:cNvPr>
          <p:cNvSpPr>
            <a:spLocks xmlns:a="http://schemas.openxmlformats.org/drawingml/2006/main" noGrp="1"/>
          </p:cNvSpPr>
          <p:nvPr/>
        </p:nvSpPr>
        <p:spPr>
          <a:xfrm xmlns:a="http://schemas.openxmlformats.org/drawingml/2006/main" rot="0">
            <a:off x="514350" y="10420350"/>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sales, customer or social media data</a:t>
            </a:r>
          </a:p>
        </p:txBody>
      </p:sp>
      <p:sp>
        <p:nvSpPr>
          <p:cNvPr id="60" name="ML Build">
            <a:extLst xmlns:a="http://schemas.openxmlformats.org/drawingml/2006/main">
              <a:ext uri="{FF2B5EF4-FFF2-40B4-BE49-F238E27FC236}">
                <a16:creationId xmlns:a16="http://schemas.microsoft.com/office/drawing/2014/main" id="{13FD9E70-0999-4A9A-B9CA-06C201085C62}"/>
              </a:ext>
            </a:extLst>
          </p:cNvPr>
          <p:cNvSpPr>
            <a:spLocks xmlns:a="http://schemas.openxmlformats.org/drawingml/2006/main" noGrp="1"/>
          </p:cNvSpPr>
          <p:nvPr/>
        </p:nvSpPr>
        <p:spPr>
          <a:xfrm xmlns:a="http://schemas.openxmlformats.org/drawingml/2006/main" rot="0">
            <a:off x="5219700" y="10029825"/>
            <a:ext cx="401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1" name="ML project examples">
            <a:extLst xmlns:a="http://schemas.openxmlformats.org/drawingml/2006/main">
              <a:ext uri="{FF2B5EF4-FFF2-40B4-BE49-F238E27FC236}">
                <a16:creationId xmlns:a16="http://schemas.microsoft.com/office/drawing/2014/main" id="{A20E600E-4D2A-4968-B909-5C3481466FA2}"/>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989ac21cac904629"/>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3" name="Duration">
            <a:extLst xmlns:a="http://schemas.openxmlformats.org/drawingml/2006/main">
              <a:ext uri="{FF2B5EF4-FFF2-40B4-BE49-F238E27FC236}">
                <a16:creationId xmlns:a16="http://schemas.microsoft.com/office/drawing/2014/main" id="{188A8678-839E-481B-BD6B-9B3972DA5589}"/>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4" name="Benefit divider 1">
            <a:extLst xmlns:a="http://schemas.openxmlformats.org/drawingml/2006/main">
              <a:ext uri="{FF2B5EF4-FFF2-40B4-BE49-F238E27FC236}">
                <a16:creationId xmlns:a16="http://schemas.microsoft.com/office/drawing/2014/main" id="{C96C4066-66D6-43C0-8FFC-841FC81AD0E8}"/>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2846b4f9413a44ea"/>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6" name="Group limit">
            <a:extLst xmlns:a="http://schemas.openxmlformats.org/drawingml/2006/main">
              <a:ext uri="{FF2B5EF4-FFF2-40B4-BE49-F238E27FC236}">
                <a16:creationId xmlns:a16="http://schemas.microsoft.com/office/drawing/2014/main" id="{F43AF10C-A419-4B2F-8677-E67014CCEF16}"/>
              </a:ext>
            </a:extLst>
          </p:cNvPr>
          <p:cNvSpPr>
            <a:spLocks xmlns:a="http://schemas.openxmlformats.org/drawingml/2006/main" noGrp="1"/>
          </p:cNvSpPr>
          <p:nvPr/>
        </p:nvSpPr>
        <p:spPr>
          <a:xfrm xmlns:a="http://schemas.openxmlformats.org/drawingml/2006/main" rot="0">
            <a:off x="3162300" y="1312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Max. 5</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learners/group</a:t>
            </a:r>
          </a:p>
        </p:txBody>
      </p:sp>
      <p:sp>
        <p:nvSpPr>
          <p:cNvPr id="67" name="Benefit divider 2">
            <a:extLst xmlns:a="http://schemas.openxmlformats.org/drawingml/2006/main">
              <a:ext uri="{FF2B5EF4-FFF2-40B4-BE49-F238E27FC236}">
                <a16:creationId xmlns:a16="http://schemas.microsoft.com/office/drawing/2014/main" id="{B270A739-F38A-45AF-8C8A-15D05CA59D16}"/>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4a1d9d87deee4535"/>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9" name="Beginner access">
            <a:extLst xmlns:a="http://schemas.openxmlformats.org/drawingml/2006/main">
              <a:ext uri="{FF2B5EF4-FFF2-40B4-BE49-F238E27FC236}">
                <a16:creationId xmlns:a16="http://schemas.microsoft.com/office/drawing/2014/main" id="{72C77941-32A4-4FBE-9F3A-C8AD2B4AB15F}"/>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No coding</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experience needed</a:t>
            </a:r>
          </a:p>
        </p:txBody>
      </p:sp>
      <p:sp>
        <p:nvSpPr>
          <p:cNvPr id="70" name="Benefit divider 3">
            <a:extLst xmlns:a="http://schemas.openxmlformats.org/drawingml/2006/main">
              <a:ext uri="{FF2B5EF4-FFF2-40B4-BE49-F238E27FC236}">
                <a16:creationId xmlns:a16="http://schemas.microsoft.com/office/drawing/2014/main" id="{332E0092-5863-4936-801C-5CB55215291D}"/>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71" name="Limited places highlight">
            <a:extLst xmlns:a="http://schemas.openxmlformats.org/drawingml/2006/main">
              <a:ext uri="{FF2B5EF4-FFF2-40B4-BE49-F238E27FC236}">
                <a16:creationId xmlns:a16="http://schemas.microsoft.com/office/drawing/2014/main" id="{BE7D6D0A-BD91-4C23-931F-B7823C9DEE9D}"/>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2" name="Places">
            <a:extLst xmlns:a="http://schemas.openxmlformats.org/drawingml/2006/main">
              <a:ext uri="{FF2B5EF4-FFF2-40B4-BE49-F238E27FC236}">
                <a16:creationId xmlns:a16="http://schemas.microsoft.com/office/drawing/2014/main" id="{DC81A425-7306-4772-A9B4-E14C1D731930}"/>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3" name="Places qualifier">
            <a:extLst xmlns:a="http://schemas.openxmlformats.org/drawingml/2006/main">
              <a:ext uri="{FF2B5EF4-FFF2-40B4-BE49-F238E27FC236}">
                <a16:creationId xmlns:a16="http://schemas.microsoft.com/office/drawing/2014/main" id="{6784C56F-594F-4B8F-8D5F-4263039F6749}"/>
              </a:ext>
            </a:extLst>
          </p:cNvPr>
          <p:cNvSpPr>
            <a:spLocks xmlns:a="http://schemas.openxmlformats.org/drawingml/2006/main" noGrp="1"/>
          </p:cNvSpPr>
          <p:nvPr/>
        </p:nvSpPr>
        <p:spPr>
          <a:xfrm xmlns:a="http://schemas.openxmlformats.org/drawingml/2006/main" rot="0">
            <a:off x="7391400" y="134588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2342"/>
                </a:solidFill>
                <a:latin typeface="Arial"/>
                <a:ea typeface="Arial"/>
                <a:cs typeface="Arial"/>
              </a:defRPr>
            </a:pPr>
            <a:r>
              <a:rPr sz="1125" b="1">
                <a:solidFill>
                  <a:srgbClr val="002342"/>
                </a:solidFill>
                <a:latin typeface="Arial"/>
                <a:ea typeface="Arial"/>
                <a:cs typeface="Arial"/>
              </a:rPr>
              <a:t>(whole programme)</a:t>
            </a:r>
          </a:p>
        </p:txBody>
      </p:sp>
      <p:sp>
        <p:nvSpPr>
          <p:cNvPr id="74" name="Programme fee panel">
            <a:extLst xmlns:a="http://schemas.openxmlformats.org/drawingml/2006/main">
              <a:ext uri="{FF2B5EF4-FFF2-40B4-BE49-F238E27FC236}">
                <a16:creationId xmlns:a16="http://schemas.microsoft.com/office/drawing/2014/main" id="{DBF7D020-B859-4716-9C88-9B42292BF5A9}"/>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5" name="Programme fee heading">
            <a:extLst xmlns:a="http://schemas.openxmlformats.org/drawingml/2006/main">
              <a:ext uri="{FF2B5EF4-FFF2-40B4-BE49-F238E27FC236}">
                <a16:creationId xmlns:a16="http://schemas.microsoft.com/office/drawing/2014/main" id="{35AC8D36-E92D-4C19-9053-65486FD803B8}"/>
              </a:ext>
            </a:extLst>
          </p:cNvPr>
          <p:cNvSpPr>
            <a:spLocks xmlns:a="http://schemas.openxmlformats.org/drawingml/2006/main" noGrp="1"/>
          </p:cNvSpPr>
          <p:nvPr/>
        </p:nvSpPr>
        <p:spPr>
          <a:xfrm xmlns:a="http://schemas.openxmlformats.org/drawingml/2006/main" rot="0">
            <a:off x="466725" y="140493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Programme fee (per learner)</a:t>
            </a:r>
          </a:p>
        </p:txBody>
      </p:sp>
      <p:sp>
        <p:nvSpPr>
          <p:cNvPr id="76" name="Small group price">
            <a:extLst xmlns:a="http://schemas.openxmlformats.org/drawingml/2006/main">
              <a:ext uri="{FF2B5EF4-FFF2-40B4-BE49-F238E27FC236}">
                <a16:creationId xmlns:a16="http://schemas.microsoft.com/office/drawing/2014/main" id="{7AF5C64A-0167-4700-86B9-85F13AEAFD06}"/>
              </a:ext>
            </a:extLst>
          </p:cNvPr>
          <p:cNvSpPr>
            <a:spLocks xmlns:a="http://schemas.openxmlformats.org/drawingml/2006/main" noGrp="1"/>
          </p:cNvSpPr>
          <p:nvPr/>
        </p:nvSpPr>
        <p:spPr>
          <a:xfrm xmlns:a="http://schemas.openxmlformats.org/drawingml/2006/main" rot="0">
            <a:off x="466725" y="144303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UGX 800,000</a:t>
            </a:r>
          </a:p>
        </p:txBody>
      </p:sp>
      <p:sp>
        <p:nvSpPr>
          <p:cNvPr id="77" name="Fee divider">
            <a:extLst xmlns:a="http://schemas.openxmlformats.org/drawingml/2006/main">
              <a:ext uri="{FF2B5EF4-FFF2-40B4-BE49-F238E27FC236}">
                <a16:creationId xmlns:a16="http://schemas.microsoft.com/office/drawing/2014/main" id="{51603356-7148-4C1C-B208-A124C7CB451F}"/>
              </a:ext>
            </a:extLst>
          </p:cNvPr>
          <p:cNvSpPr>
            <a:spLocks xmlns:a="http://schemas.openxmlformats.org/drawingml/2006/main" noGrp="1"/>
          </p:cNvSpPr>
          <p:nvPr/>
        </p:nvSpPr>
        <p:spPr>
          <a:xfrm xmlns:a="http://schemas.openxmlformats.org/drawingml/2006/main" rot="0">
            <a:off x="2657475" y="14439900"/>
            <a:ext cx="9525" cy="6953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78" name="Private price">
            <a:extLst xmlns:a="http://schemas.openxmlformats.org/drawingml/2006/main">
              <a:ext uri="{FF2B5EF4-FFF2-40B4-BE49-F238E27FC236}">
                <a16:creationId xmlns:a16="http://schemas.microsoft.com/office/drawing/2014/main" id="{76EC430B-4A64-4530-8BA6-AFD9D33C9D5F}"/>
              </a:ext>
            </a:extLst>
          </p:cNvPr>
          <p:cNvSpPr>
            <a:spLocks xmlns:a="http://schemas.openxmlformats.org/drawingml/2006/main" noGrp="1"/>
          </p:cNvSpPr>
          <p:nvPr/>
        </p:nvSpPr>
        <p:spPr>
          <a:xfrm xmlns:a="http://schemas.openxmlformats.org/drawingml/2006/main" rot="0">
            <a:off x="2800350" y="1443037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UGX 1,000,000</a:t>
            </a:r>
          </a:p>
        </p:txBody>
      </p:sp>
      <p:sp>
        <p:nvSpPr>
          <p:cNvPr id="79" name="Small group condition">
            <a:extLst xmlns:a="http://schemas.openxmlformats.org/drawingml/2006/main">
              <a:ext uri="{FF2B5EF4-FFF2-40B4-BE49-F238E27FC236}">
                <a16:creationId xmlns:a16="http://schemas.microsoft.com/office/drawing/2014/main" id="{89920586-8D79-4710-A8CF-F043FE75AA86}"/>
              </a:ext>
            </a:extLst>
          </p:cNvPr>
          <p:cNvSpPr>
            <a:spLocks xmlns:a="http://schemas.openxmlformats.org/drawingml/2006/main" noGrp="1"/>
          </p:cNvSpPr>
          <p:nvPr/>
        </p:nvSpPr>
        <p:spPr>
          <a:xfrm xmlns:a="http://schemas.openxmlformats.org/drawingml/2006/main" rot="0">
            <a:off x="466725" y="14820900"/>
            <a:ext cx="2133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Small group · exactly 5 learners</a:t>
            </a:r>
          </a:p>
        </p:txBody>
      </p:sp>
      <p:sp>
        <p:nvSpPr>
          <p:cNvPr id="80" name="Private condition">
            <a:extLst xmlns:a="http://schemas.openxmlformats.org/drawingml/2006/main">
              <a:ext uri="{FF2B5EF4-FFF2-40B4-BE49-F238E27FC236}">
                <a16:creationId xmlns:a16="http://schemas.microsoft.com/office/drawing/2014/main" id="{20165AA9-F3FB-4880-9267-EC6C81D9D66F}"/>
              </a:ext>
            </a:extLst>
          </p:cNvPr>
          <p:cNvSpPr>
            <a:spLocks xmlns:a="http://schemas.openxmlformats.org/drawingml/2006/main" noGrp="1"/>
          </p:cNvSpPr>
          <p:nvPr/>
        </p:nvSpPr>
        <p:spPr>
          <a:xfrm xmlns:a="http://schemas.openxmlformats.org/drawingml/2006/main" rot="0">
            <a:off x="2809875" y="14773275"/>
            <a:ext cx="2009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Private / semi-private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1–4 learners</a:t>
            </a:r>
          </a:p>
        </p:txBody>
      </p:sp>
      <p:sp>
        <p:nvSpPr>
          <p:cNvPr id="81" name="Booking panel">
            <a:extLst xmlns:a="http://schemas.openxmlformats.org/drawingml/2006/main">
              <a:ext uri="{FF2B5EF4-FFF2-40B4-BE49-F238E27FC236}">
                <a16:creationId xmlns:a16="http://schemas.microsoft.com/office/drawing/2014/main" id="{D7326BC6-C179-4ADD-A668-6C9D1A7CF402}"/>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82" name="Reserve call to action">
            <a:extLst xmlns:a="http://schemas.openxmlformats.org/drawingml/2006/main">
              <a:ext uri="{FF2B5EF4-FFF2-40B4-BE49-F238E27FC236}">
                <a16:creationId xmlns:a16="http://schemas.microsoft.com/office/drawing/2014/main" id="{9307A604-CB2E-4929-B2C4-AE73AF8EF814}"/>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3" name="Reserve wording">
            <a:extLst xmlns:a="http://schemas.openxmlformats.org/drawingml/2006/main">
              <a:ext uri="{FF2B5EF4-FFF2-40B4-BE49-F238E27FC236}">
                <a16:creationId xmlns:a16="http://schemas.microsoft.com/office/drawing/2014/main" id="{BB372728-7316-4DF5-BE85-9CC6AB87D899}"/>
              </a:ext>
            </a:extLst>
          </p:cNvPr>
          <p:cNvSpPr>
            <a:spLocks xmlns:a="http://schemas.openxmlformats.org/drawingml/2006/main" noGrp="1"/>
          </p:cNvSpPr>
          <p:nvPr/>
        </p:nvSpPr>
        <p:spPr>
          <a:xfrm xmlns:a="http://schemas.openxmlformats.org/drawingml/2006/main" rot="0">
            <a:off x="5276850" y="14106525"/>
            <a:ext cx="245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Reserve your place →</a:t>
            </a: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ce9a33b8a95f4380"/>
          <a:stretch xmlns:a="http://schemas.openxmlformats.org/drawingml/2006/main"/>
        </p:blipFill>
        <p:spPr>
          <a:xfrm xmlns:a="http://schemas.openxmlformats.org/drawingml/2006/main">
            <a:off x="5098256" y="14639925"/>
            <a:ext cx="300038" cy="342900"/>
          </a:xfrm>
          <a:prstGeom xmlns:a="http://schemas.openxmlformats.org/drawingml/2006/main" prst="rect">
            <a:avLst/>
          </a:prstGeom>
        </p:spPr>
      </p:pic>
      <p:sp>
        <p:nvSpPr>
          <p:cNvPr id="85" name="WhatsApp number">
            <a:extLst xmlns:a="http://schemas.openxmlformats.org/drawingml/2006/main">
              <a:ext uri="{FF2B5EF4-FFF2-40B4-BE49-F238E27FC236}">
                <a16:creationId xmlns:a16="http://schemas.microsoft.com/office/drawing/2014/main" id="{2A7807E2-9463-42EE-A118-4DCD1E674A80}"/>
              </a:ext>
            </a:extLst>
          </p:cNvPr>
          <p:cNvSpPr>
            <a:spLocks xmlns:a="http://schemas.openxmlformats.org/drawingml/2006/main" noGrp="1"/>
          </p:cNvSpPr>
          <p:nvPr/>
        </p:nvSpPr>
        <p:spPr>
          <a:xfrm xmlns:a="http://schemas.openxmlformats.org/drawingml/2006/main" rot="0">
            <a:off x="5572125" y="147066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+256 750 990 718</a:t>
            </a:r>
          </a:p>
        </p:txBody>
      </p:sp>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89ea567d9f0e4ce2"/>
          <a:stretch xmlns:a="http://schemas.openxmlformats.org/drawingml/2006/main"/>
        </p:blipFill>
        <p:spPr>
          <a:xfrm xmlns:a="http://schemas.openxmlformats.org/drawingml/2006/main">
            <a:off x="5119688" y="15068550"/>
            <a:ext cx="228600" cy="228600"/>
          </a:xfrm>
          <a:prstGeom xmlns:a="http://schemas.openxmlformats.org/drawingml/2006/main" prst="rect">
            <a:avLst/>
          </a:prstGeom>
        </p:spPr>
      </p:pic>
      <p:sp>
        <p:nvSpPr>
          <p:cNvPr id="87" name="Email">
            <a:extLst xmlns:a="http://schemas.openxmlformats.org/drawingml/2006/main">
              <a:ext uri="{FF2B5EF4-FFF2-40B4-BE49-F238E27FC236}">
                <a16:creationId xmlns:a16="http://schemas.microsoft.com/office/drawing/2014/main" id="{36713DD9-2095-42A7-8BEF-1C79DB0E7BC9}"/>
              </a:ext>
            </a:extLst>
          </p:cNvPr>
          <p:cNvSpPr>
            <a:spLocks xmlns:a="http://schemas.openxmlformats.org/drawingml/2006/main" noGrp="1"/>
          </p:cNvSpPr>
          <p:nvPr/>
        </p:nvSpPr>
        <p:spPr>
          <a:xfrm xmlns:a="http://schemas.openxmlformats.org/drawingml/2006/main" rot="0">
            <a:off x="5543550" y="15116175"/>
            <a:ext cx="2295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jothammartin.wambi@gmail.com</a:t>
            </a: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214f34648d9f4ece"/>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9" name="QR caption">
            <a:extLst xmlns:a="http://schemas.openxmlformats.org/drawingml/2006/main">
              <a:ext uri="{FF2B5EF4-FFF2-40B4-BE49-F238E27FC236}">
                <a16:creationId xmlns:a16="http://schemas.microsoft.com/office/drawing/2014/main" id="{631C0B44-A710-4931-ABAC-5615662A77FB}"/>
              </a:ext>
            </a:extLst>
          </p:cNvPr>
          <p:cNvSpPr>
            <a:spLocks xmlns:a="http://schemas.openxmlformats.org/drawingml/2006/main" noGrp="1"/>
          </p:cNvSpPr>
          <p:nvPr/>
        </p:nvSpPr>
        <p:spPr>
          <a:xfrm xmlns:a="http://schemas.openxmlformats.org/drawingml/2006/main" rot="0">
            <a:off x="7991475" y="155067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2342"/>
                </a:solidFill>
                <a:latin typeface="Arial"/>
                <a:ea typeface="Arial"/>
                <a:cs typeface="Arial"/>
              </a:defRPr>
            </a:pPr>
            <a:r>
              <a:rPr sz="1350" b="1">
                <a:solidFill>
                  <a:srgbClr val="002342"/>
                </a:solidFill>
                <a:latin typeface="Arial"/>
                <a:ea typeface="Arial"/>
                <a:cs typeface="Arial"/>
              </a:rPr>
              <a:t>Scan to WhatsApp</a:t>
            </a:r>
          </a:p>
        </p:txBody>
      </p:sp>
      <p:pic>
        <p:nvPicPr>
          <p:cNvPr id="197" name=""/>
          <p:cNvPicPr>
            <a:picLocks xmlns:a="http://schemas.openxmlformats.org/drawingml/2006/main" noChangeAspect="1"/>
          </p:cNvPicPr>
          <p:nvPr/>
        </p:nvPicPr>
        <p:blipFill>
          <a:blip xmlns:r="http://schemas.openxmlformats.org/officeDocument/2006/relationships" xmlns:a="http://schemas.openxmlformats.org/drawingml/2006/main" r:embed="R7a6d0e26f78d4451"/>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91" name="Tutor card">
            <a:extLst xmlns:a="http://schemas.openxmlformats.org/drawingml/2006/main">
              <a:ext uri="{FF2B5EF4-FFF2-40B4-BE49-F238E27FC236}">
                <a16:creationId xmlns:a16="http://schemas.microsoft.com/office/drawing/2014/main" id="{05BC19AC-920C-472D-BDBA-E0E0DB22FD4C}"/>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2" name="Tutor name">
            <a:extLst xmlns:a="http://schemas.openxmlformats.org/drawingml/2006/main">
              <a:ext uri="{FF2B5EF4-FFF2-40B4-BE49-F238E27FC236}">
                <a16:creationId xmlns:a16="http://schemas.microsoft.com/office/drawing/2014/main" id="{D5357322-B003-4D16-9A75-E3B754BDD4AB}"/>
              </a:ext>
            </a:extLst>
          </p:cNvPr>
          <p:cNvSpPr>
            <a:spLocks xmlns:a="http://schemas.openxmlformats.org/drawingml/2006/main" noGrp="1"/>
          </p:cNvSpPr>
          <p:nvPr/>
        </p:nvSpPr>
        <p:spPr>
          <a:xfrm xmlns:a="http://schemas.openxmlformats.org/drawingml/2006/main" rot="0">
            <a:off x="5953125" y="499110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Jotham Martin Wambi</a:t>
            </a:r>
          </a:p>
        </p:txBody>
      </p:sp>
      <p:sp>
        <p:nvSpPr>
          <p:cNvPr id="93" name="Tutor profession">
            <a:extLst xmlns:a="http://schemas.openxmlformats.org/drawingml/2006/main">
              <a:ext uri="{FF2B5EF4-FFF2-40B4-BE49-F238E27FC236}">
                <a16:creationId xmlns:a16="http://schemas.microsoft.com/office/drawing/2014/main" id="{158D3668-1863-480C-BBC0-BEB97FF1FA9F}"/>
              </a:ext>
            </a:extLst>
          </p:cNvPr>
          <p:cNvSpPr>
            <a:spLocks xmlns:a="http://schemas.openxmlformats.org/drawingml/2006/main" noGrp="1"/>
          </p:cNvSpPr>
          <p:nvPr/>
        </p:nvSpPr>
        <p:spPr>
          <a:xfrm xmlns:a="http://schemas.openxmlformats.org/drawingml/2006/main" rot="0">
            <a:off x="5953125" y="5343525"/>
            <a:ext cx="3486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FFFFFF"/>
                </a:solidFill>
                <a:latin typeface="Arial Narrow"/>
                <a:ea typeface="Arial Narrow"/>
                <a:cs typeface="Arial Narrow"/>
              </a:defRPr>
            </a:pPr>
            <a:r>
              <a:rPr sz="1200" b="0">
                <a:solidFill>
                  <a:srgbClr val="FFFFFF"/>
                </a:solidFill>
                <a:latin typeface="Arial Narrow"/>
                <a:ea typeface="Arial Narrow"/>
                <a:cs typeface="Arial Narrow"/>
              </a:rPr>
              <a:t>Main Tutor · Data Scientist &amp; ML/AI Engineer</a:t>
            </a:r>
          </a:p>
        </p:txBody>
      </p:sp>
      <p:sp>
        <p:nvSpPr>
          <p:cNvPr id="94" name="Tutor institution">
            <a:extLst xmlns:a="http://schemas.openxmlformats.org/drawingml/2006/main">
              <a:ext uri="{FF2B5EF4-FFF2-40B4-BE49-F238E27FC236}">
                <a16:creationId xmlns:a16="http://schemas.microsoft.com/office/drawing/2014/main" id="{802BC4E8-0D38-4988-91F7-B65F1A2EBC6F}"/>
              </a:ext>
            </a:extLst>
          </p:cNvPr>
          <p:cNvSpPr>
            <a:spLocks xmlns:a="http://schemas.openxmlformats.org/drawingml/2006/main" noGrp="1"/>
          </p:cNvSpPr>
          <p:nvPr/>
        </p:nvSpPr>
        <p:spPr>
          <a:xfrm xmlns:a="http://schemas.openxmlformats.org/drawingml/2006/main" rot="0">
            <a:off x="5953125" y="5581650"/>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Lecturer, AI &amp; Machine Learning, IUEA</a:t>
            </a:r>
          </a:p>
        </p:txBody>
      </p:sp>
      <p:sp>
        <p:nvSpPr>
          <p:cNvPr id="95" name="Outcomes heading">
            <a:extLst xmlns:a="http://schemas.openxmlformats.org/drawingml/2006/main">
              <a:ext uri="{FF2B5EF4-FFF2-40B4-BE49-F238E27FC236}">
                <a16:creationId xmlns:a16="http://schemas.microsoft.com/office/drawing/2014/main" id="{FE33B4D8-935F-4664-8630-2938F5EE1312}"/>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203" name=""/>
          <p:cNvPicPr>
            <a:picLocks xmlns:a="http://schemas.openxmlformats.org/drawingml/2006/main" noChangeAspect="1"/>
          </p:cNvPicPr>
          <p:nvPr/>
        </p:nvPicPr>
        <p:blipFill>
          <a:blip xmlns:r="http://schemas.openxmlformats.org/officeDocument/2006/relationships" xmlns:a="http://schemas.openxmlformats.org/drawingml/2006/main" r:embed="R11f3e14fbeae4d0e"/>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97" name="Outcome 1">
            <a:extLst xmlns:a="http://schemas.openxmlformats.org/drawingml/2006/main">
              <a:ext uri="{FF2B5EF4-FFF2-40B4-BE49-F238E27FC236}">
                <a16:creationId xmlns:a16="http://schemas.microsoft.com/office/drawing/2014/main" id="{6FD0D6BC-0E51-432B-A56F-AAE237B10A36}"/>
              </a:ext>
            </a:extLst>
          </p:cNvPr>
          <p:cNvSpPr>
            <a:spLocks xmlns:a="http://schemas.openxmlformats.org/drawingml/2006/main" noGrp="1"/>
          </p:cNvSpPr>
          <p:nvPr/>
        </p:nvSpPr>
        <p:spPr>
          <a:xfrm xmlns:a="http://schemas.openxmlformats.org/drawingml/2006/main" rot="0">
            <a:off x="58102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Built a practical</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portfolio project</a:t>
            </a:r>
          </a:p>
        </p:txBody>
      </p:sp>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11acbbb9924b42d7"/>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99" name="Outcome 2">
            <a:extLst xmlns:a="http://schemas.openxmlformats.org/drawingml/2006/main">
              <a:ext uri="{FF2B5EF4-FFF2-40B4-BE49-F238E27FC236}">
                <a16:creationId xmlns:a16="http://schemas.microsoft.com/office/drawing/2014/main" id="{B141CFA7-7467-4508-B888-546F24AFF79C}"/>
              </a:ext>
            </a:extLst>
          </p:cNvPr>
          <p:cNvSpPr>
            <a:spLocks xmlns:a="http://schemas.openxmlformats.org/drawingml/2006/main" noGrp="1"/>
          </p:cNvSpPr>
          <p:nvPr/>
        </p:nvSpPr>
        <p:spPr>
          <a:xfrm xmlns:a="http://schemas.openxmlformats.org/drawingml/2006/main" rot="0">
            <a:off x="287655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Analysed</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real datasets</a:t>
            </a:r>
          </a:p>
        </p:txBody>
      </p:sp>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0325428517a74547"/>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101" name="Outcome 3">
            <a:extLst xmlns:a="http://schemas.openxmlformats.org/drawingml/2006/main">
              <a:ext uri="{FF2B5EF4-FFF2-40B4-BE49-F238E27FC236}">
                <a16:creationId xmlns:a16="http://schemas.microsoft.com/office/drawing/2014/main" id="{FD2A49F1-84F4-4945-B96D-9723A53D0E92}"/>
              </a:ext>
            </a:extLst>
          </p:cNvPr>
          <p:cNvSpPr>
            <a:spLocks xmlns:a="http://schemas.openxmlformats.org/drawingml/2006/main" noGrp="1"/>
          </p:cNvSpPr>
          <p:nvPr/>
        </p:nvSpPr>
        <p:spPr>
          <a:xfrm xmlns:a="http://schemas.openxmlformats.org/drawingml/2006/main" rot="0">
            <a:off x="517207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Created data</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visualisations</a:t>
            </a:r>
          </a:p>
        </p:txBody>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b9bc13a14f1c41b5"/>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103" name="Outcome 4">
            <a:extLst xmlns:a="http://schemas.openxmlformats.org/drawingml/2006/main">
              <a:ext uri="{FF2B5EF4-FFF2-40B4-BE49-F238E27FC236}">
                <a16:creationId xmlns:a16="http://schemas.microsoft.com/office/drawing/2014/main" id="{2075866E-865C-429A-AF82-38C40E18565E}"/>
              </a:ext>
            </a:extLst>
          </p:cNvPr>
          <p:cNvSpPr>
            <a:spLocks xmlns:a="http://schemas.openxmlformats.org/drawingml/2006/main" noGrp="1"/>
          </p:cNvSpPr>
          <p:nvPr/>
        </p:nvSpPr>
        <p:spPr>
          <a:xfrm xmlns:a="http://schemas.openxmlformats.org/drawingml/2006/main" rot="0">
            <a:off x="746760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Built a</a:t>
            </a:r>
          </a:p>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prediction model</a:t>
            </a:r>
          </a:p>
        </p:txBody>
      </p:sp>
      <p:sp>
        <p:nvSpPr>
          <p:cNvPr id="104" name="ML outcome qualifier">
            <a:extLst xmlns:a="http://schemas.openxmlformats.org/drawingml/2006/main">
              <a:ext uri="{FF2B5EF4-FFF2-40B4-BE49-F238E27FC236}">
                <a16:creationId xmlns:a16="http://schemas.microsoft.com/office/drawing/2014/main" id="{A3B6E9C6-DD99-4A5E-99DF-21AFAED2986B}"/>
              </a:ext>
            </a:extLst>
          </p:cNvPr>
          <p:cNvSpPr>
            <a:spLocks xmlns:a="http://schemas.openxmlformats.org/drawingml/2006/main" noGrp="1"/>
          </p:cNvSpPr>
          <p:nvPr/>
        </p:nvSpPr>
        <p:spPr>
          <a:xfrm xmlns:a="http://schemas.openxmlformats.org/drawingml/2006/main" rot="0">
            <a:off x="7410450" y="127063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6500BC"/>
                </a:solidFill>
                <a:latin typeface="Arial Narrow"/>
                <a:ea typeface="Arial Narrow"/>
                <a:cs typeface="Arial Narrow"/>
              </a:defRPr>
            </a:pPr>
            <a:r>
              <a:rPr sz="1200" b="0">
                <a:solidFill>
                  <a:srgbClr val="6500BC"/>
                </a:solidFill>
                <a:latin typeface="Arial Narrow"/>
                <a:ea typeface="Arial Narrow"/>
                <a:cs typeface="Arial Narrow"/>
              </a:rPr>
              <a:t>Machine Learning track</a:t>
            </a:r>
          </a:p>
        </p:txBody>
      </p:sp>
      <p:sp>
        <p:nvSpPr>
          <p:cNvPr id="105" name="Outcomes divider">
            <a:extLst xmlns:a="http://schemas.openxmlformats.org/drawingml/2006/main">
              <a:ext uri="{FF2B5EF4-FFF2-40B4-BE49-F238E27FC236}">
                <a16:creationId xmlns:a16="http://schemas.microsoft.com/office/drawing/2014/main" id="{26749303-7E58-4A0A-A9D0-984069DA638C}"/>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106" name="Audience banner">
            <a:extLst xmlns:a="http://schemas.openxmlformats.org/drawingml/2006/main">
              <a:ext uri="{FF2B5EF4-FFF2-40B4-BE49-F238E27FC236}">
                <a16:creationId xmlns:a16="http://schemas.microsoft.com/office/drawing/2014/main" id="{0791A0C4-327A-4F53-ACD4-C419E79528C8}"/>
              </a:ext>
            </a:extLst>
          </p:cNvPr>
          <p:cNvSpPr>
            <a:spLocks xmlns:a="http://schemas.openxmlformats.org/drawingml/2006/main" noGrp="1"/>
          </p:cNvSpPr>
          <p:nvPr/>
        </p:nvSpPr>
        <p:spPr>
          <a:xfrm xmlns:a="http://schemas.openxmlformats.org/drawingml/2006/main" rot="0">
            <a:off x="0" y="0"/>
            <a:ext cx="9753600" cy="409575"/>
          </a:xfrm>
          <a:prstGeom xmlns:a="http://schemas.openxmlformats.org/drawingml/2006/main" prst="rect">
            <a:avLst/>
          </a:prstGeom>
          <a:solidFill xmlns:a="http://schemas.openxmlformats.org/drawingml/2006/main">
            <a:srgbClr val="002342"/>
          </a:solidFill>
          <a:ln xmlns:a="http://schemas.openxmlformats.org/drawingml/2006/main" w="0">
            <a:noFill/>
          </a:ln>
        </p:spPr>
      </p:sp>
      <p:sp>
        <p:nvSpPr>
          <p:cNvPr id="107" name="Audience">
            <a:extLst xmlns:a="http://schemas.openxmlformats.org/drawingml/2006/main">
              <a:ext uri="{FF2B5EF4-FFF2-40B4-BE49-F238E27FC236}">
                <a16:creationId xmlns:a16="http://schemas.microsoft.com/office/drawing/2014/main" id="{C9C69610-6760-4732-B37B-5BE3D2FA653A}"/>
              </a:ext>
            </a:extLst>
          </p:cNvPr>
          <p:cNvSpPr>
            <a:spLocks xmlns:a="http://schemas.openxmlformats.org/drawingml/2006/main" noGrp="1"/>
          </p:cNvSpPr>
          <p:nvPr/>
        </p:nvSpPr>
        <p:spPr>
          <a:xfrm xmlns:a="http://schemas.openxmlformats.org/drawingml/2006/main" rot="0">
            <a:off x="228600" y="85725"/>
            <a:ext cx="9296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For S.4, S.5 &amp; S.6 students and school leavers</a:t>
            </a:r>
          </a:p>
        </p:txBody>
      </p:sp>
    </p:spTree>
    <p:extLst>
      <p:ext uri="{BB962C8B-B14F-4D97-AF65-F5344CB8AC3E}">
        <p14:creationId xmlns:p14="http://schemas.microsoft.com/office/powerpoint/2010/main" val="1462488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2026-09-29T12:23:51.5580000Z</dcterms:created>
  <dcterms:modified xsi:type="dcterms:W3CDTF">2026-09-29T12:23:51.5580000Z</dcterms:modified>
</coreProperties>
</file>