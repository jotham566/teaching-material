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f1e3c711541bf" /><Relationship Type="http://schemas.openxmlformats.org/officeDocument/2006/relationships/extended-properties" Target="/docProps/app.xml" Id="R10ea938042344be4" /><Relationship Type="http://schemas.openxmlformats.org/officeDocument/2006/relationships/officeDocument" Target="/ppt/presentation.xml" Id="R48262ff68bd1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3f2b21bf24b4f"/>
  </p:sldMasterIdLst>
  <p:notesMasterIdLst>
    <p:notesMasterId xmlns:r="http://schemas.openxmlformats.org/officeDocument/2006/relationships" r:id="R2bf7d2f34061452e"/>
  </p:notesMasterIdLst>
  <p:sldIdLst>
    <p:sldId xmlns:r="http://schemas.openxmlformats.org/officeDocument/2006/relationships" id="256" r:id="R1a6dfca6ff2e4eb6"/>
    <p:sldId xmlns:r="http://schemas.openxmlformats.org/officeDocument/2006/relationships" id="257" r:id="Ra22d6a2cbe204a35"/>
    <p:sldId xmlns:r="http://schemas.openxmlformats.org/officeDocument/2006/relationships" id="258" r:id="R6827e0358b494e1b"/>
    <p:sldId xmlns:r="http://schemas.openxmlformats.org/officeDocument/2006/relationships" id="259" r:id="Re2086377bf294982"/>
    <p:sldId xmlns:r="http://schemas.openxmlformats.org/officeDocument/2006/relationships" id="260" r:id="Re9656f1441374b8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4efdcb6684565" /><Relationship Type="http://schemas.openxmlformats.org/officeDocument/2006/relationships/slideMaster" Target="/ppt/slideMasters/slideMaster1.xml" Id="R8403f2b21bf24b4f" /><Relationship Type="http://schemas.openxmlformats.org/officeDocument/2006/relationships/notesMaster" Target="/ppt/notesMasters/notesMaster1.xml" Id="R2bf7d2f34061452e" /><Relationship Type="http://schemas.openxmlformats.org/officeDocument/2006/relationships/presProps" Target="/ppt/presProps.xml" Id="R80a9ed2510bd4f18" /><Relationship Type="http://schemas.openxmlformats.org/officeDocument/2006/relationships/tableStyles" Target="/ppt/tableStyles.xml" Id="R4c4d527e53564c72" /><Relationship Type="http://schemas.openxmlformats.org/officeDocument/2006/relationships/slide" Target="/ppt/slides/slide1.xml" Id="R1a6dfca6ff2e4eb6" /><Relationship Type="http://schemas.openxmlformats.org/officeDocument/2006/relationships/slide" Target="/ppt/slides/slide2.xml" Id="Ra22d6a2cbe204a35" /><Relationship Type="http://schemas.openxmlformats.org/officeDocument/2006/relationships/slide" Target="/ppt/slides/slide3.xml" Id="R6827e0358b494e1b" /><Relationship Type="http://schemas.openxmlformats.org/officeDocument/2006/relationships/slide" Target="/ppt/slides/slide4.xml" Id="Re2086377bf294982" /><Relationship Type="http://schemas.openxmlformats.org/officeDocument/2006/relationships/slide" Target="/ppt/slides/slide5.xml" Id="Re9656f144137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65c972cf6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dba34b3f24e9f" /><Relationship Type="http://schemas.openxmlformats.org/officeDocument/2006/relationships/notesMaster" Target="/ppt/notesMasters/notesMaster1.xml" Id="R6fb6715c0ad24d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d235603a54a8a" /><Relationship Type="http://schemas.openxmlformats.org/officeDocument/2006/relationships/notesMaster" Target="/ppt/notesMasters/notesMaster1.xml" Id="Ra8a44454c39945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625e71ed249c9" /><Relationship Type="http://schemas.openxmlformats.org/officeDocument/2006/relationships/notesMaster" Target="/ppt/notesMasters/notesMaster1.xml" Id="Rafed1264a7ff4d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fb402be3248f5" /><Relationship Type="http://schemas.openxmlformats.org/officeDocument/2006/relationships/notesMaster" Target="/ppt/notesMasters/notesMaster1.xml" Id="R4d9211f08f1741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8dfcd110545a2" /><Relationship Type="http://schemas.openxmlformats.org/officeDocument/2006/relationships/notesMaster" Target="/ppt/notesMasters/notesMaster1.xml" Id="Rce84de393b54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UNESCO: https://www.unesco.org/en/articles/ai-competency-framework-students</a:t>
            </a:r>
          </a:p>
          <a:p xmlns:a="http://schemas.openxmlformats.org/drawingml/2006/main">
            <a:r>
              <a:t>OECD: https://www.oecd.org/en/publications/oecd-digital-education-outlook-2026_062a7394-en.html</a:t>
            </a:r>
          </a:p>
          <a:p xmlns:a="http://schemas.openxmlformats.org/drawingml/2006/main">
            <a:r>
              <a:t>NCDC: https://ele.ncdc.go.ug/course/section.php?id=9</a:t>
            </a:r>
          </a:p>
          <a:p xmlns:a="http://schemas.openxmlformats.org/drawingml/2006/main">
            <a:r>
              <a:t>Icons: Font Awesome, https://fontawesome.com/license/free; Tabler, https://tabler.io/icons. Licenses included. Camp details supplied by Jotham Martin Wambi. No organisational endorsement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b6586755f46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0f9e30f314e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103774cd04d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c936da20a4e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968897e1b4f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5f60f6d2845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34A113-751B-4911-9B6B-C5108BEC8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AB147A-0A6E-45B3-B116-D96E74FD72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C49EFB-6BE3-4204-899A-6BB9FAEE4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F6F736-CB68-4DFD-B4D9-DD187CAB7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95EEAD-1651-43EA-9B88-22762F6D49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AAB54F-5D51-4060-92F1-5D0594A546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7FB23A-6F6D-45C7-8D65-7DDE8A88F0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8F9B78-F79F-4DBA-BB0C-78BCB3D6F1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21F6EF-6DB8-4849-B0A7-069EC675F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ADFDE-6FD0-414A-90B4-8034ED6860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933457b6a4812" /><Relationship Type="http://schemas.openxmlformats.org/officeDocument/2006/relationships/slideLayout" Target="/ppt/slideLayouts/slideLayout1.xml" Id="Re5aa44c0c47248a8" /><Relationship Type="http://schemas.openxmlformats.org/officeDocument/2006/relationships/slideLayout" Target="/ppt/slideLayouts/slideLayout2.xml" Id="R6b8ae1345d974d73" /><Relationship Type="http://schemas.openxmlformats.org/officeDocument/2006/relationships/slideLayout" Target="/ppt/slideLayouts/slideLayout3.xml" Id="R9dfb01c538b24b58" /><Relationship Type="http://schemas.openxmlformats.org/officeDocument/2006/relationships/slideLayout" Target="/ppt/slideLayouts/slideLayout4.xml" Id="R29793e4086294871" /><Relationship Type="http://schemas.openxmlformats.org/officeDocument/2006/relationships/slideLayout" Target="/ppt/slideLayouts/slideLayout5.xml" Id="R985e230f09624a76" /><Relationship Type="http://schemas.openxmlformats.org/officeDocument/2006/relationships/slideLayout" Target="/ppt/slideLayouts/slideLayout6.xml" Id="R366ad4edaf38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aa44c0c47248a8"/>
    <p:sldLayoutId xmlns:r="http://schemas.openxmlformats.org/officeDocument/2006/relationships" id="2147483650" r:id="R6b8ae1345d974d73"/>
    <p:sldLayoutId xmlns:r="http://schemas.openxmlformats.org/officeDocument/2006/relationships" id="2147483651" r:id="R9dfb01c538b24b58"/>
    <p:sldLayoutId xmlns:r="http://schemas.openxmlformats.org/officeDocument/2006/relationships" id="2147483652" r:id="R29793e4086294871"/>
    <p:sldLayoutId xmlns:r="http://schemas.openxmlformats.org/officeDocument/2006/relationships" id="2147483653" r:id="R985e230f09624a76"/>
    <p:sldLayoutId xmlns:r="http://schemas.openxmlformats.org/officeDocument/2006/relationships" id="2147483654" r:id="R366ad4edaf38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1e44814b54982" /><Relationship Type="http://schemas.openxmlformats.org/officeDocument/2006/relationships/notesSlide" Target="/ppt/notesSlides/notesSlide1.xml" Id="Rdabaebdcaa67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a126302734cdd" /><Relationship Type="http://schemas.openxmlformats.org/officeDocument/2006/relationships/notesSlide" Target="/ppt/notesSlides/notesSlide2.xml" Id="R5970b8036659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0c26ad8c1415a" /><Relationship Type="http://schemas.openxmlformats.org/officeDocument/2006/relationships/notesSlide" Target="/ppt/notesSlides/notesSlide3.xml" Id="Rbdac66766e744c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72f0baae248e9" /><Relationship Type="http://schemas.openxmlformats.org/officeDocument/2006/relationships/chart" Target="/ppt/slides/charts/chart1.xml" Id="R958afacc485b4c7d" /><Relationship Type="http://schemas.openxmlformats.org/officeDocument/2006/relationships/notesSlide" Target="/ppt/notesSlides/notesSlide4.xml" Id="R4fb36a6d1a3843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99adbcd7d475c" /><Relationship Type="http://schemas.openxmlformats.org/officeDocument/2006/relationships/image" Target="/ppt/media/image.png" Id="R3360616bd5cc481b" /><Relationship Type="http://schemas.openxmlformats.org/officeDocument/2006/relationships/notesSlide" Target="/ppt/notesSlides/notesSlide5.xml" Id="R984abe92671d49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(UGX)</c:v>
          </c:tx>
          <c:spPr>
            <a:solidFill xmlns:a="http://schemas.openxmlformats.org/drawingml/2006/main">
              <a:srgbClr val="007D9B"/>
            </a:solidFill>
          </c:spPr>
          <c:cat>
            <c:strRef>
              <c:f>'Chart Data'!$A$2:$A$4</c:f>
              <c:strCache>
                <c:ptCount val="3"/>
                <c:pt idx="0">
                  <c:v>Notebooks</c:v>
                </c:pt>
                <c:pt idx="1">
                  <c:v>Pens</c:v>
                </c:pt>
                <c:pt idx="2">
                  <c:v>Juice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60000</c:v>
                </c:pt>
                <c:pt idx="1">
                  <c:v>40000</c:v>
                </c:pt>
                <c:pt idx="2">
                  <c:v>40000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 b="1">
                  <a:solidFill>
                    <a:srgbClr val="0025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2F3D6-635F-499A-B749-87E1D374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D1201-27E3-4AD7-A0CD-12F5558F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ACFA4-DED1-415B-B6CC-67FC28F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SAMPLE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1157C-3B8F-4A04-B730-0E325B49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4BC28-49E0-44C7-BD06-72DE77A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F8A88-92B6-425B-A8E1-078F032F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9067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product</a:t>
            </a:r>
          </a:p>
          <a:p xmlns:a="http://schemas.openxmlformats.org/drawingml/2006/main">
            <a:pPr>
              <a:defRPr sz="6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sold the most?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C0843-F661-4E1B-A53B-65B51FC5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067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And which brought</a:t>
            </a:r>
          </a:p>
          <a:p xmlns:a="http://schemas.openxmlformats.org/drawingml/2006/main">
            <a:pPr>
              <a:defRPr sz="4875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in the most money?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57AF1-99D7-422B-9CCA-B54DB960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67775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small shop. Two different questions.</a:t>
            </a:r>
          </a:p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Let’s explore the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DBF3B-8EAC-487A-B713-95933B3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25175"/>
            <a:ext cx="906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Fictional shop data for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778939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35308-EFAB-488A-89D8-9FCE0E5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C8451-171D-4516-9329-AC5F2A6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729C-E0F7-4785-B789-ED31F60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SAMPLE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8CAB5-134C-445B-B7D0-0B6CFC9F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28EB3-6D95-4FB5-9200-9F6642B7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C443-CA72-4B88-8F6D-F3CB15C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9067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First, clean</a:t>
            </a:r>
          </a:p>
          <a:p xmlns:a="http://schemas.openxmlformats.org/drawingml/2006/main">
            <a: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the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69915-C109-481F-A700-4DD0FDC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906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The same item can appear under</a:t>
            </a:r>
          </a:p>
          <a:p xmlns:a="http://schemas.openxmlformats.org/drawingml/2006/main">
            <a:pPr>
              <a:defRPr sz="30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different names.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A11D4-1EF2-4175-A757-BF60F3B2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67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“Notebook”      “ notebook 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5717D-0967-4355-9DED-327B19CD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77225"/>
            <a:ext cx="9067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Trim extra spaces. Standardise names.</a:t>
            </a:r>
          </a:p>
          <a:p xmlns:a="http://schemas.openxmlformats.org/drawingml/2006/main">
            <a:pPr>
              <a:defRPr sz="31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Then combine matching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BBAA1-25FE-4398-B1A2-661990F7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10875"/>
            <a:ext cx="906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Fictional data: 12 + 8 notebooks = 20</a:t>
            </a:r>
          </a:p>
        </p:txBody>
      </p:sp>
    </p:spTree>
    <p:extLst>
      <p:ext uri="{BB962C8B-B14F-4D97-AF65-F5344CB8AC3E}">
        <p14:creationId xmlns:p14="http://schemas.microsoft.com/office/powerpoint/2010/main" val="68512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BF43B-AF21-4C0E-884D-261DDD4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B8BC3-C436-4298-A35F-E08A2F5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0B3A0-7870-443A-9FE3-B7DD2EC2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SAMPLE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CF090-BC44-41E4-9A81-CAE1803D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A77E7-C986-49C2-944C-EE7E5F70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42FF5-C5FA-4649-B91D-970A93E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9067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Pens sold the</a:t>
            </a:r>
          </a:p>
          <a:p xmlns:a="http://schemas.openxmlformats.org/drawingml/2006/main">
            <a:pPr>
              <a:defRPr sz="58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most units.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6D391-EC01-4C18-992F-CD66BE5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906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Total items sold in our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7AD2E-224B-46D0-B595-AAD5185D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7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7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F0B01-C695-40D0-93B0-4FB735E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7220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43D8-7513-4D15-9E71-900908F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62925"/>
            <a:ext cx="9067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9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20 notebooks</a:t>
            </a:r>
          </a:p>
          <a:p xmlns:a="http://schemas.openxmlformats.org/drawingml/2006/main">
            <a:pPr>
              <a:defRPr sz="39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20 juice cartons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E050C-FA0F-4BAB-B81A-C8BCA34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10875"/>
            <a:ext cx="906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Fictional data. Units sold are not revenue.</a:t>
            </a:r>
          </a:p>
        </p:txBody>
      </p:sp>
    </p:spTree>
    <p:extLst>
      <p:ext uri="{BB962C8B-B14F-4D97-AF65-F5344CB8AC3E}">
        <p14:creationId xmlns:p14="http://schemas.microsoft.com/office/powerpoint/2010/main" val="1095914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6393-5A9F-428D-A89F-F60352C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CFD0-47DC-4E0F-AB8A-5F157AEC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13434-E7E3-4208-ACC4-4CEE7F6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SAMPLE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DD21B-E732-47D1-891A-9795459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A56DE-8AA7-4090-B21F-D8E2624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55C87-D722-43DA-B8A7-2A048D65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9067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Notebooks earned</a:t>
            </a:r>
          </a:p>
          <a:p xmlns:a="http://schemas.openxmlformats.org/drawingml/2006/main">
            <a:pPr>
              <a:defRPr sz="52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the most revenue.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3A9B8-84DF-4724-8E2C-B96016FA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906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Revenue = quantity × selling price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52BF120-53DC-4130-9129-F511D4805F56}"/>
              </a:ext>
            </a:extLst>
          </p:cNvPr>
          <p:cNvGraphicFramePr/>
          <p:nvPr/>
        </p:nvGraphicFramePr>
        <p:xfrm>
          <a:off xmlns:a="http://schemas.openxmlformats.org/drawingml/2006/main" x="609600" y="5638800"/>
          <a:ext xmlns:a="http://schemas.openxmlformats.org/drawingml/2006/main" cx="90678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8afacc485b4c7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9D442-4452-4823-A601-C03739D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9067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20 notebooks × UGX 3,000 = UGX 60,000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DD715-6AE8-4B12-A10C-CE6358D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96600"/>
            <a:ext cx="906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Fictional data. Revenue is not profit.</a:t>
            </a:r>
          </a:p>
        </p:txBody>
      </p:sp>
    </p:spTree>
    <p:extLst>
      <p:ext uri="{BB962C8B-B14F-4D97-AF65-F5344CB8AC3E}">
        <p14:creationId xmlns:p14="http://schemas.microsoft.com/office/powerpoint/2010/main" val="64531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E4BD3-B838-4E5C-AC74-9D2829A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6DAE9"/>
                </a:solidFill>
                <a:latin typeface="Arial"/>
                <a:ea typeface="Arial"/>
                <a:cs typeface="Arial"/>
              </a:rPr>
              <a:t>SCHOOL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D3027-0D45-4901-8EAF-44AC8396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541C8-0A5F-467A-999D-3065D89B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96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6DAE9"/>
                </a:solidFill>
                <a:latin typeface="Arial"/>
                <a:ea typeface="Arial"/>
                <a:cs typeface="Arial"/>
              </a:rPr>
              <a:t>SAMPLE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D132B-4572-4D30-BDE5-7AF154B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634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2F57-0D91-49F6-AC2C-2B2D575C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96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2CD04-C3C8-4364-A2E5-57F2348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06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holiday to build</a:t>
            </a:r>
          </a:p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something useful.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81534-C750-4FF1-A9A1-8A2064A5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067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For S.4, S.5 &amp; S.6 students</a:t>
            </a:r>
          </a:p>
          <a:p xmlns:a="http://schemas.openxmlformats.org/drawingml/2006/main">
            <a:pPr>
              <a:defRPr sz="330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and school leavers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E839E-864C-4E27-8C3F-78379DB0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9067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 &amp; Machine Learning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coding experience needed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C84C3-37A4-478A-BA14-F3F8D84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906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8 weeks     Maximum 5 learners per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32345-BA22-45DD-BDAB-9CABD69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15300"/>
            <a:ext cx="9067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FFB9F-8B58-4E3D-A487-F5B561D8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154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DA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DA49"/>
                </a:solidFill>
                <a:latin typeface="Arial"/>
                <a:ea typeface="Arial"/>
                <a:cs typeface="Arial"/>
              </a:rPr>
              <a:t>REGISTER FOR DECEMBER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22F94-BDDF-4B2D-B4C5-99C8E178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0"/>
            <a:ext cx="693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6B942-E1F6-4F23-AEEA-3D8B4FF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0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5D0BF-2C3E-40A4-A445-262BD2B25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0616bd5cc481b"/>
          <a:stretch xmlns:a="http://schemas.openxmlformats.org/drawingml/2006/main"/>
        </p:blipFill>
        <p:spPr>
          <a:xfrm xmlns:a="http://schemas.openxmlformats.org/drawingml/2006/main">
            <a:off x="8162925" y="9372600"/>
            <a:ext cx="1571625" cy="1571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781C6-2096-40F9-B2C6-C3D597AE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0"/>
            <a:ext cx="9067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FEA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EAF3"/>
                </a:solidFill>
                <a:latin typeface="Arial"/>
                <a:ea typeface="Arial"/>
                <a:cs typeface="Arial"/>
              </a:rPr>
              <a:t>Explore data. Create charts. Explain your findings.</a:t>
            </a:r>
          </a:p>
        </p:txBody>
      </p:sp>
    </p:spTree>
    <p:extLst>
      <p:ext uri="{BB962C8B-B14F-4D97-AF65-F5344CB8AC3E}">
        <p14:creationId xmlns:p14="http://schemas.microsoft.com/office/powerpoint/2010/main" val="1155947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2026-10-08T09:26:26.4910000Z</dcterms:created>
  <dcterms:modified xsi:type="dcterms:W3CDTF">2026-10-08T09:26:26.4910000Z</dcterms:modified>
</coreProperties>
</file>