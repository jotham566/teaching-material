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2dc2afe88b40e1" /><Relationship Type="http://schemas.openxmlformats.org/officeDocument/2006/relationships/extended-properties" Target="/docProps/app.xml" Id="R939b9619dadf4522" /><Relationship Type="http://schemas.openxmlformats.org/officeDocument/2006/relationships/officeDocument" Target="/ppt/presentation.xml" Id="R8369d378b44646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9200e5156544d3"/>
  </p:sldMasterIdLst>
  <p:notesMasterIdLst>
    <p:notesMasterId xmlns:r="http://schemas.openxmlformats.org/officeDocument/2006/relationships" r:id="R4459cf23e6d14bbf"/>
  </p:notesMasterIdLst>
  <p:sldIdLst>
    <p:sldId xmlns:r="http://schemas.openxmlformats.org/officeDocument/2006/relationships" id="256" r:id="R86c95f0126e8448d"/>
  </p:sldIdLst>
  <p:sldSz cx="10287000" cy="15430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b02379fc6945c2" /><Relationship Type="http://schemas.openxmlformats.org/officeDocument/2006/relationships/slideMaster" Target="/ppt/slideMasters/slideMaster1.xml" Id="R219200e5156544d3" /><Relationship Type="http://schemas.openxmlformats.org/officeDocument/2006/relationships/notesMaster" Target="/ppt/notesMasters/notesMaster1.xml" Id="R4459cf23e6d14bbf" /><Relationship Type="http://schemas.openxmlformats.org/officeDocument/2006/relationships/presProps" Target="/ppt/presProps.xml" Id="R2908b72716cd4919" /><Relationship Type="http://schemas.openxmlformats.org/officeDocument/2006/relationships/tableStyles" Target="/ppt/tableStyles.xml" Id="Rabb51c6518214e45" /><Relationship Type="http://schemas.openxmlformats.org/officeDocument/2006/relationships/slide" Target="/ppt/slides/slide1.xml" Id="R86c95f0126e844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a534c0b3f947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6cf523ae224567" /><Relationship Type="http://schemas.openxmlformats.org/officeDocument/2006/relationships/notesMaster" Target="/ppt/notesMasters/notesMaster1.xml" Id="R815245fb62de40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supplied marketing reference dated 28 September 2026. Portrait and WhatsApp QR supplied by organiser. Icons: https://lucide.dev/ and https://github.com/lucide-icons/lucide/tree/main/icons (ISC license, included in assets). Programme details: operations/PROGRAMME_DECISIONS.md; biography: operations/TUTOR_PROFILE.md. The newer supplied flyer gives UGX 1,000,000 for 1–4 learners; earlier notes specify 1–2 and quote-only for 3–4. Reference-image wording retained pending clarification. OMU means Osaka Metropolitan University. The QR opens an enquiry, not automatic booking. Exact dates and venue are not supplied. No institutional sponsorship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c842e43434d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3def01218248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76ddd7137a4a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b624024f4945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7558ea054e48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cd9fff06a49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82065A6-C1D3-44B8-B59D-6A07529A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972050"/>
            <a:ext cx="5143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69AB59-7070-4A79-9158-2441976604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829300"/>
            <a:ext cx="82296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9C95E37-5210-4DFD-8ACE-DB31CD66A5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8486775"/>
            <a:ext cx="72009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638FC4B-8948-45D8-9973-C8DBCCB3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572125"/>
            <a:ext cx="5143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3D9561F-DD54-4B62-8AB5-E421C8AE78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429375"/>
            <a:ext cx="8229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9936EE8-6D50-4396-8679-F5D71FDC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4" y="3429000"/>
            <a:ext cx="5143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5BEBDD-5E95-4027-87E7-996E2E9D1D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200150"/>
            <a:ext cx="9129713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7400FAC-7A88-498A-833B-FA9DEB37AA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4286250"/>
            <a:ext cx="9129713" cy="96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78BA1B1-C909-467C-A7A1-28D8BD93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4" y="3429000"/>
            <a:ext cx="5143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1004DB-A315-4B6B-981E-E28E3C3BBD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200150"/>
            <a:ext cx="9129713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69519D-FD2D-4801-9944-FCA42B528F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4286250"/>
            <a:ext cx="4243388" cy="96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048C1D-C5A4-4A18-870A-A6F2734B02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4286250"/>
            <a:ext cx="4243388" cy="96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27461F5-BC7A-4397-8BDE-96D2E3AF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4" y="3429000"/>
            <a:ext cx="5143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944E151-3C3A-433E-BFF6-511EDE7DAF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200150"/>
            <a:ext cx="9129713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5F0C7B-70AB-4FEF-84AE-EC2BFC1384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4286250"/>
            <a:ext cx="4243388" cy="96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40d7c7fef24d87" /><Relationship Type="http://schemas.openxmlformats.org/officeDocument/2006/relationships/slideLayout" Target="/ppt/slideLayouts/slideLayout1.xml" Id="R282b7d7eff43482d" /><Relationship Type="http://schemas.openxmlformats.org/officeDocument/2006/relationships/slideLayout" Target="/ppt/slideLayouts/slideLayout2.xml" Id="R28196194d48d4b4f" /><Relationship Type="http://schemas.openxmlformats.org/officeDocument/2006/relationships/slideLayout" Target="/ppt/slideLayouts/slideLayout3.xml" Id="R432c8271d1df4a0d" /><Relationship Type="http://schemas.openxmlformats.org/officeDocument/2006/relationships/slideLayout" Target="/ppt/slideLayouts/slideLayout4.xml" Id="R8cfb15b1aded4a51" /><Relationship Type="http://schemas.openxmlformats.org/officeDocument/2006/relationships/slideLayout" Target="/ppt/slideLayouts/slideLayout5.xml" Id="R434c519f8c2448e5" /><Relationship Type="http://schemas.openxmlformats.org/officeDocument/2006/relationships/slideLayout" Target="/ppt/slideLayouts/slideLayout6.xml" Id="R77d8873223df49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2b7d7eff43482d"/>
    <p:sldLayoutId xmlns:r="http://schemas.openxmlformats.org/officeDocument/2006/relationships" id="2147483650" r:id="R28196194d48d4b4f"/>
    <p:sldLayoutId xmlns:r="http://schemas.openxmlformats.org/officeDocument/2006/relationships" id="2147483651" r:id="R432c8271d1df4a0d"/>
    <p:sldLayoutId xmlns:r="http://schemas.openxmlformats.org/officeDocument/2006/relationships" id="2147483652" r:id="R8cfb15b1aded4a51"/>
    <p:sldLayoutId xmlns:r="http://schemas.openxmlformats.org/officeDocument/2006/relationships" id="2147483653" r:id="R434c519f8c2448e5"/>
    <p:sldLayoutId xmlns:r="http://schemas.openxmlformats.org/officeDocument/2006/relationships" id="2147483654" r:id="R77d8873223df49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90fc5bfd9344c3" /><Relationship Type="http://schemas.openxmlformats.org/officeDocument/2006/relationships/image" Target="/ppt/media/image.jpeg" Id="R50f9fadfc82b46b0" /><Relationship Type="http://schemas.openxmlformats.org/officeDocument/2006/relationships/hyperlink" Target="https://www.linkedin.com/in/jothammartinwambi/" TargetMode="External" Id="Rd4b3cd6273034995" /><Relationship Type="http://schemas.openxmlformats.org/officeDocument/2006/relationships/image" Target="/ppt/media/image.png" Id="R67a6a64012e3492c" /><Relationship Type="http://schemas.openxmlformats.org/officeDocument/2006/relationships/image" Target="/ppt/media/image2.png" Id="R622fcdc1d0124f26" /><Relationship Type="http://schemas.openxmlformats.org/officeDocument/2006/relationships/image" Target="/ppt/media/image3.png" Id="R88ebb3f6ad9b47e8" /><Relationship Type="http://schemas.openxmlformats.org/officeDocument/2006/relationships/image" Target="/ppt/media/image4.png" Id="Rc4ea8f4226c84a98" /><Relationship Type="http://schemas.openxmlformats.org/officeDocument/2006/relationships/image" Target="/ppt/media/image5.png" Id="R26a3bb96713c4a6e" /><Relationship Type="http://schemas.openxmlformats.org/officeDocument/2006/relationships/hyperlink" Target="https://wa.me/256750990718" TargetMode="External" Id="R4a471864dc1e43a0" /><Relationship Type="http://schemas.openxmlformats.org/officeDocument/2006/relationships/image" Target="/ppt/media/image6.png" Id="Re57ac0342b2c425c" /><Relationship Type="http://schemas.openxmlformats.org/officeDocument/2006/relationships/hyperlink" Target="https://wa.me/256750990718" TargetMode="External" Id="R72d20910fe0b42a4" /><Relationship Type="http://schemas.openxmlformats.org/officeDocument/2006/relationships/hyperlink" Target="mailto:jothammartin.wambi@gmail.com" TargetMode="External" Id="R2a26b0ee67bc4144" /><Relationship Type="http://schemas.openxmlformats.org/officeDocument/2006/relationships/image" Target="/ppt/media/image7.png" Id="R27c2370e2fb34090" /><Relationship Type="http://schemas.openxmlformats.org/officeDocument/2006/relationships/notesSlide" Target="/ppt/notesSlides/notesSlide1.xml" Id="Ra5064476984f41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Hero background">
            <a:extLst xmlns:a="http://schemas.openxmlformats.org/drawingml/2006/main">
              <a:ext uri="{FF2B5EF4-FFF2-40B4-BE49-F238E27FC236}">
                <a16:creationId xmlns:a16="http://schemas.microsoft.com/office/drawing/2014/main" id="{E31F97A9-B1D2-439B-A77E-06E48C11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693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5"/>
          </a:solidFill>
          <a:ln xmlns:a="http://schemas.openxmlformats.org/drawingml/2006/main" w="0">
            <a:noFill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81C2C205-5E94-43B1-AB48-294251EA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3" name="Intake">
            <a:extLst xmlns:a="http://schemas.openxmlformats.org/drawingml/2006/main">
              <a:ext uri="{FF2B5EF4-FFF2-40B4-BE49-F238E27FC236}">
                <a16:creationId xmlns:a16="http://schemas.microsoft.com/office/drawing/2014/main" id="{289DE6E0-C0C3-4D6C-92EE-75E63EB6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242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E2C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3E2C3"/>
                </a:solidFill>
                <a:latin typeface="Arial"/>
                <a:ea typeface="Arial"/>
                <a:cs typeface="Arial"/>
              </a:rPr>
              <a:t>DECEMBER 2026 INTAKE</a:t>
            </a:r>
          </a:p>
        </p:txBody>
      </p:sp>
      <p:sp>
        <p:nvSpPr>
          <p:cNvPr id="4" name="Holiday">
            <a:extLst xmlns:a="http://schemas.openxmlformats.org/drawingml/2006/main">
              <a:ext uri="{FF2B5EF4-FFF2-40B4-BE49-F238E27FC236}">
                <a16:creationId xmlns:a16="http://schemas.microsoft.com/office/drawing/2014/main" id="{FBC7EEA6-AB7E-488D-AD72-08F0F613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81075"/>
            <a:ext cx="5810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HOLIDAY</a:t>
            </a:r>
          </a:p>
        </p:txBody>
      </p:sp>
      <p:sp>
        <p:nvSpPr>
          <p:cNvPr id="5" name="Data and AI">
            <a:extLst xmlns:a="http://schemas.openxmlformats.org/drawingml/2006/main">
              <a:ext uri="{FF2B5EF4-FFF2-40B4-BE49-F238E27FC236}">
                <a16:creationId xmlns:a16="http://schemas.microsoft.com/office/drawing/2014/main" id="{F4AB1565-D02B-4FE4-8D84-7ABBAF6D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14525"/>
            <a:ext cx="590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75" b="1">
                <a:solidFill>
                  <a:srgbClr val="49CAFF"/>
                </a:solidFill>
                <a:latin typeface="Arial"/>
                <a:ea typeface="Arial"/>
                <a:cs typeface="Arial"/>
              </a:defRPr>
            </a:pPr>
            <a:r>
              <a:rPr sz="7575" b="1">
                <a:solidFill>
                  <a:srgbClr val="49CAFF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6" name="Camp">
            <a:extLst xmlns:a="http://schemas.openxmlformats.org/drawingml/2006/main">
              <a:ext uri="{FF2B5EF4-FFF2-40B4-BE49-F238E27FC236}">
                <a16:creationId xmlns:a16="http://schemas.microsoft.com/office/drawing/2014/main" id="{F982A549-13CA-4FDD-AB49-39295DF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24175"/>
            <a:ext cx="5810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CAMP</a:t>
            </a:r>
          </a:p>
        </p:txBody>
      </p:sp>
      <p:sp>
        <p:nvSpPr>
          <p:cNvPr id="7" name="Promise 1">
            <a:extLst xmlns:a="http://schemas.openxmlformats.org/drawingml/2006/main">
              <a:ext uri="{FF2B5EF4-FFF2-40B4-BE49-F238E27FC236}">
                <a16:creationId xmlns:a16="http://schemas.microsoft.com/office/drawing/2014/main" id="{BC5167F4-16C1-481D-9C27-115083FE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Practical skills. Real projects.</a:t>
            </a:r>
          </a:p>
        </p:txBody>
      </p:sp>
      <p:sp>
        <p:nvSpPr>
          <p:cNvPr id="8" name="Promise 2">
            <a:extLst xmlns:a="http://schemas.openxmlformats.org/drawingml/2006/main">
              <a:ext uri="{FF2B5EF4-FFF2-40B4-BE49-F238E27FC236}">
                <a16:creationId xmlns:a16="http://schemas.microsoft.com/office/drawing/2014/main" id="{0647FA59-EB7E-431A-89E3-14BADF8E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962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Greater opportunities.</a:t>
            </a:r>
          </a:p>
        </p:txBody>
      </p:sp>
      <p:sp>
        <p:nvSpPr>
          <p:cNvPr id="9" name="Audience 1">
            <a:extLst xmlns:a="http://schemas.openxmlformats.org/drawingml/2006/main">
              <a:ext uri="{FF2B5EF4-FFF2-40B4-BE49-F238E27FC236}">
                <a16:creationId xmlns:a16="http://schemas.microsoft.com/office/drawing/2014/main" id="{64063DC3-1D8D-4B19-BCD0-25D9F4F1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721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S.4, S.5 &amp; S.6 students</a:t>
            </a:r>
          </a:p>
        </p:txBody>
      </p:sp>
      <p:sp>
        <p:nvSpPr>
          <p:cNvPr id="10" name="Audience 2">
            <a:extLst xmlns:a="http://schemas.openxmlformats.org/drawingml/2006/main">
              <a:ext uri="{FF2B5EF4-FFF2-40B4-BE49-F238E27FC236}">
                <a16:creationId xmlns:a16="http://schemas.microsoft.com/office/drawing/2014/main" id="{0324B386-B1CF-445A-9DB8-D913E53F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24525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school leavers</a:t>
            </a:r>
          </a:p>
        </p:txBody>
      </p:sp>
      <p:sp>
        <p:nvSpPr>
          <p:cNvPr id="11" name="Beginner reassurance">
            <a:extLst xmlns:a="http://schemas.openxmlformats.org/drawingml/2006/main">
              <a:ext uri="{FF2B5EF4-FFF2-40B4-BE49-F238E27FC236}">
                <a16:creationId xmlns:a16="http://schemas.microsoft.com/office/drawing/2014/main" id="{03133FA7-A1B6-4081-B42C-11C84559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3E2C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3E2C3"/>
                </a:solidFill>
                <a:latin typeface="Arial"/>
                <a:ea typeface="Arial"/>
                <a:cs typeface="Arial"/>
              </a:rPr>
              <a:t>No coding experience needed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9fadfc82b46b0"/>
          <a:stretch xmlns:a="http://schemas.openxmlformats.org/drawingml/2006/main"/>
        </p:blipFill>
        <p:spPr>
          <a:xfrm xmlns:a="http://schemas.openxmlformats.org/drawingml/2006/main">
            <a:off x="6457950" y="1067703"/>
            <a:ext cx="3276600" cy="4046319"/>
          </a:xfrm>
          <a:prstGeom xmlns:a="http://schemas.openxmlformats.org/drawingml/2006/main" prst="rect">
            <a:avLst/>
          </a:prstGeom>
        </p:spPr>
      </p:pic>
      <p:sp>
        <p:nvSpPr>
          <p:cNvPr id="13" name="Tutor name">
            <a:extLst xmlns:a="http://schemas.openxmlformats.org/drawingml/2006/main">
              <a:ext uri="{FF2B5EF4-FFF2-40B4-BE49-F238E27FC236}">
                <a16:creationId xmlns:a16="http://schemas.microsoft.com/office/drawing/2014/main" id="{93F3FE8D-FB24-471E-BCA9-1195F4CF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57800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d4b3cd6273034995"/>
              </a:rPr>
              <a:t>Jotham Martin Wambi</a:t>
            </a:r>
          </a:p>
        </p:txBody>
      </p:sp>
      <p:sp>
        <p:nvSpPr>
          <p:cNvPr id="14" name="Tutor role">
            <a:extLst xmlns:a="http://schemas.openxmlformats.org/drawingml/2006/main">
              <a:ext uri="{FF2B5EF4-FFF2-40B4-BE49-F238E27FC236}">
                <a16:creationId xmlns:a16="http://schemas.microsoft.com/office/drawing/2014/main" id="{1479E3AE-E5D6-477F-B466-C6176C2F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19750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3E2C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E2C3"/>
                </a:solidFill>
                <a:latin typeface="Arial"/>
                <a:ea typeface="Arial"/>
                <a:cs typeface="Arial"/>
              </a:rPr>
              <a:t>MAIN TUTOR</a:t>
            </a:r>
          </a:p>
        </p:txBody>
      </p:sp>
      <p:sp>
        <p:nvSpPr>
          <p:cNvPr id="15" name="Tutor credentials 1">
            <a:extLst xmlns:a="http://schemas.openxmlformats.org/drawingml/2006/main">
              <a:ext uri="{FF2B5EF4-FFF2-40B4-BE49-F238E27FC236}">
                <a16:creationId xmlns:a16="http://schemas.microsoft.com/office/drawing/2014/main" id="{A46A0AC5-9C73-433B-8B0C-046CD083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9150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Scientist &amp; ML/AI Engineer</a:t>
            </a:r>
          </a:p>
        </p:txBody>
      </p:sp>
      <p:sp>
        <p:nvSpPr>
          <p:cNvPr id="16" name="Tutor credentials 2">
            <a:extLst xmlns:a="http://schemas.openxmlformats.org/drawingml/2006/main">
              <a:ext uri="{FF2B5EF4-FFF2-40B4-BE49-F238E27FC236}">
                <a16:creationId xmlns:a16="http://schemas.microsoft.com/office/drawing/2014/main" id="{1FF24067-170C-4BF8-AB22-04357677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172200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Lecturer, AI &amp; Machine Learning, IUEA</a:t>
            </a:r>
          </a:p>
        </p:txBody>
      </p:sp>
      <p:sp>
        <p:nvSpPr>
          <p:cNvPr id="17" name="Tutor credentials 3">
            <a:extLst xmlns:a="http://schemas.openxmlformats.org/drawingml/2006/main">
              <a:ext uri="{FF2B5EF4-FFF2-40B4-BE49-F238E27FC236}">
                <a16:creationId xmlns:a16="http://schemas.microsoft.com/office/drawing/2014/main" id="{DED7BED8-B851-4BC4-9053-715B5341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419850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Master’s, Yamaguchi University, Japan</a:t>
            </a:r>
          </a:p>
        </p:txBody>
      </p:sp>
      <p:sp>
        <p:nvSpPr>
          <p:cNvPr id="18" name="Tutor credentials 4">
            <a:extLst xmlns:a="http://schemas.openxmlformats.org/drawingml/2006/main">
              <a:ext uri="{FF2B5EF4-FFF2-40B4-BE49-F238E27FC236}">
                <a16:creationId xmlns:a16="http://schemas.microsoft.com/office/drawing/2014/main" id="{70964552-400C-4AF9-A2A2-5169E457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667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Incoming PhD student, OMU, Japan (Apr 2027)</a:t>
            </a:r>
          </a:p>
        </p:txBody>
      </p:sp>
      <p:sp>
        <p:nvSpPr>
          <p:cNvPr id="19" name="Track selector">
            <a:extLst xmlns:a="http://schemas.openxmlformats.org/drawingml/2006/main">
              <a:ext uri="{FF2B5EF4-FFF2-40B4-BE49-F238E27FC236}">
                <a16:creationId xmlns:a16="http://schemas.microsoft.com/office/drawing/2014/main" id="{13894D49-6BD1-4C0F-984B-A4DBB07A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771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264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475"/>
                </a:solidFill>
                <a:latin typeface="Arial"/>
                <a:ea typeface="Arial"/>
                <a:cs typeface="Arial"/>
              </a:rPr>
              <a:t>CHOOSE YOUR TRACK</a:t>
            </a:r>
          </a:p>
        </p:txBody>
      </p:sp>
      <p:sp>
        <p:nvSpPr>
          <p:cNvPr id="20" name="Data analysis background">
            <a:extLst xmlns:a="http://schemas.openxmlformats.org/drawingml/2006/main">
              <a:ext uri="{FF2B5EF4-FFF2-40B4-BE49-F238E27FC236}">
                <a16:creationId xmlns:a16="http://schemas.microsoft.com/office/drawing/2014/main" id="{F31F8138-9B10-463F-BF03-AE50F5F2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724775"/>
            <a:ext cx="4667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0">
            <a:noFill/>
          </a:ln>
        </p:spPr>
      </p:sp>
      <p:sp>
        <p:nvSpPr>
          <p:cNvPr id="21" name="Machine learning background">
            <a:extLst xmlns:a="http://schemas.openxmlformats.org/drawingml/2006/main">
              <a:ext uri="{FF2B5EF4-FFF2-40B4-BE49-F238E27FC236}">
                <a16:creationId xmlns:a16="http://schemas.microsoft.com/office/drawing/2014/main" id="{22794EAF-556D-43EC-97B7-E0B31956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724775"/>
            <a:ext cx="4667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FA"/>
          </a:solidFill>
          <a:ln xmlns:a="http://schemas.openxmlformats.org/drawingml/2006/main" w="0">
            <a:noFill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6a64012e3492c"/>
          <a:stretch xmlns:a="http://schemas.openxmlformats.org/drawingml/2006/main"/>
        </p:blipFill>
        <p:spPr>
          <a:xfrm xmlns:a="http://schemas.openxmlformats.org/drawingml/2006/main">
            <a:off x="552450" y="7934325"/>
            <a:ext cx="409575" cy="409575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fcdc1d0124f26"/>
          <a:stretch xmlns:a="http://schemas.openxmlformats.org/drawingml/2006/main"/>
        </p:blipFill>
        <p:spPr>
          <a:xfrm xmlns:a="http://schemas.openxmlformats.org/drawingml/2006/main">
            <a:off x="5429250" y="7934325"/>
            <a:ext cx="409575" cy="409575"/>
          </a:xfrm>
          <a:prstGeom xmlns:a="http://schemas.openxmlformats.org/drawingml/2006/main" prst="rect">
            <a:avLst/>
          </a:prstGeom>
        </p:spPr>
      </p:pic>
      <p:sp>
        <p:nvSpPr>
          <p:cNvPr id="24" name="Data Analysis title">
            <a:extLst xmlns:a="http://schemas.openxmlformats.org/drawingml/2006/main">
              <a:ext uri="{FF2B5EF4-FFF2-40B4-BE49-F238E27FC236}">
                <a16:creationId xmlns:a16="http://schemas.microsoft.com/office/drawing/2014/main" id="{8E769606-5F89-4ABE-870B-260B2CE8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962900"/>
            <a:ext cx="3838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3668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3668D"/>
                </a:solidFill>
                <a:latin typeface="Arial"/>
                <a:ea typeface="Arial"/>
                <a:cs typeface="Arial"/>
              </a:rPr>
              <a:t>DATA ANALYSIS</a:t>
            </a:r>
          </a:p>
        </p:txBody>
      </p:sp>
      <p:sp>
        <p:nvSpPr>
          <p:cNvPr id="25" name="Machine Learning title">
            <a:extLst xmlns:a="http://schemas.openxmlformats.org/drawingml/2006/main">
              <a:ext uri="{FF2B5EF4-FFF2-40B4-BE49-F238E27FC236}">
                <a16:creationId xmlns:a16="http://schemas.microsoft.com/office/drawing/2014/main" id="{231652AE-B047-4112-A9D2-7F77FC06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796290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436C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436C5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26" name="Data Analysis outcome">
            <a:extLst xmlns:a="http://schemas.openxmlformats.org/drawingml/2006/main">
              <a:ext uri="{FF2B5EF4-FFF2-40B4-BE49-F238E27FC236}">
                <a16:creationId xmlns:a16="http://schemas.microsoft.com/office/drawing/2014/main" id="{2CE0ED47-D997-49AE-A7AD-4D7E5A96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53450"/>
            <a:ext cx="440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44"/>
                </a:solidFill>
                <a:latin typeface="Arial"/>
                <a:ea typeface="Arial"/>
                <a:cs typeface="Arial"/>
              </a:rPr>
              <a:t>Turn raw data into clear findings.</a:t>
            </a:r>
          </a:p>
        </p:txBody>
      </p:sp>
      <p:sp>
        <p:nvSpPr>
          <p:cNvPr id="27" name="ML outcome">
            <a:extLst xmlns:a="http://schemas.openxmlformats.org/drawingml/2006/main">
              <a:ext uri="{FF2B5EF4-FFF2-40B4-BE49-F238E27FC236}">
                <a16:creationId xmlns:a16="http://schemas.microsoft.com/office/drawing/2014/main" id="{10C6C365-6894-451F-9A46-67DE4595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553450"/>
            <a:ext cx="442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44"/>
                </a:solidFill>
                <a:latin typeface="Arial"/>
                <a:ea typeface="Arial"/>
                <a:cs typeface="Arial"/>
              </a:rPr>
              <a:t>Build and test prediction models.</a:t>
            </a:r>
          </a:p>
        </p:txBody>
      </p:sp>
      <p:sp>
        <p:nvSpPr>
          <p:cNvPr id="28" name="Data Analysis tools">
            <a:extLst xmlns:a="http://schemas.openxmlformats.org/drawingml/2006/main">
              <a:ext uri="{FF2B5EF4-FFF2-40B4-BE49-F238E27FC236}">
                <a16:creationId xmlns:a16="http://schemas.microsoft.com/office/drawing/2014/main" id="{8432C2AC-0202-4B1A-BDCA-32C6F8DF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7732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3668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3668D"/>
                </a:solidFill>
                <a:latin typeface="Arial"/>
                <a:ea typeface="Arial"/>
                <a:cs typeface="Arial"/>
              </a:rPr>
              <a:t>Python, pandas, SQL &amp; visualisation</a:t>
            </a:r>
          </a:p>
        </p:txBody>
      </p:sp>
      <p:sp>
        <p:nvSpPr>
          <p:cNvPr id="29" name="Machine Learning tools">
            <a:extLst xmlns:a="http://schemas.openxmlformats.org/drawingml/2006/main">
              <a:ext uri="{FF2B5EF4-FFF2-40B4-BE49-F238E27FC236}">
                <a16:creationId xmlns:a16="http://schemas.microsoft.com/office/drawing/2014/main" id="{B9DFCB11-860C-4ED4-9843-B13BACA7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907732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436C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436C5"/>
                </a:solidFill>
                <a:latin typeface="Arial"/>
                <a:ea typeface="Arial"/>
                <a:cs typeface="Arial"/>
              </a:rPr>
              <a:t>Python, pandas &amp; scikit-learn</a:t>
            </a:r>
          </a:p>
        </p:txBody>
      </p:sp>
      <p:sp>
        <p:nvSpPr>
          <p:cNvPr id="30" name="DA project">
            <a:extLst xmlns:a="http://schemas.openxmlformats.org/drawingml/2006/main">
              <a:ext uri="{FF2B5EF4-FFF2-40B4-BE49-F238E27FC236}">
                <a16:creationId xmlns:a16="http://schemas.microsoft.com/office/drawing/2014/main" id="{F34E4947-A780-48E4-BCED-29652624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48690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4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475"/>
                </a:solidFill>
                <a:latin typeface="Arial"/>
                <a:ea typeface="Arial"/>
                <a:cs typeface="Arial"/>
              </a:rPr>
              <a:t>Create an analysis project and chart report.</a:t>
            </a:r>
          </a:p>
        </p:txBody>
      </p:sp>
      <p:sp>
        <p:nvSpPr>
          <p:cNvPr id="31" name="ML project">
            <a:extLst xmlns:a="http://schemas.openxmlformats.org/drawingml/2006/main">
              <a:ext uri="{FF2B5EF4-FFF2-40B4-BE49-F238E27FC236}">
                <a16:creationId xmlns:a16="http://schemas.microsoft.com/office/drawing/2014/main" id="{D070D670-2C1C-48A5-9964-E83F99F0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948690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4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475"/>
                </a:solidFill>
                <a:latin typeface="Arial"/>
                <a:ea typeface="Arial"/>
                <a:cs typeface="Arial"/>
              </a:rPr>
              <a:t>Create and explain a prediction project.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bb3f6ad9b47e8"/>
          <a:stretch xmlns:a="http://schemas.openxmlformats.org/drawingml/2006/main"/>
        </p:blipFill>
        <p:spPr>
          <a:xfrm xmlns:a="http://schemas.openxmlformats.org/drawingml/2006/main">
            <a:off x="552450" y="103155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3" name="Duration">
            <a:extLst xmlns:a="http://schemas.openxmlformats.org/drawingml/2006/main">
              <a:ext uri="{FF2B5EF4-FFF2-40B4-BE49-F238E27FC236}">
                <a16:creationId xmlns:a16="http://schemas.microsoft.com/office/drawing/2014/main" id="{3C641E0D-6159-4B03-852D-878EAFF7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02774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C4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C44"/>
                </a:solidFill>
                <a:latin typeface="Arial"/>
                <a:ea typeface="Arial"/>
                <a:cs typeface="Arial"/>
              </a:rPr>
              <a:t>8 weeks</a:t>
            </a:r>
          </a:p>
        </p:txBody>
      </p:sp>
      <p:sp>
        <p:nvSpPr>
          <p:cNvPr id="34" name="Duration detail">
            <a:extLst xmlns:a="http://schemas.openxmlformats.org/drawingml/2006/main">
              <a:ext uri="{FF2B5EF4-FFF2-40B4-BE49-F238E27FC236}">
                <a16:creationId xmlns:a16="http://schemas.microsoft.com/office/drawing/2014/main" id="{18042CF6-6D66-477C-9FF9-F730D29A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06870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4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5"/>
                </a:solidFill>
                <a:latin typeface="Arial"/>
                <a:ea typeface="Arial"/>
                <a:cs typeface="Arial"/>
              </a:rPr>
              <a:t>December intake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a8f4226c84a98"/>
          <a:stretch xmlns:a="http://schemas.openxmlformats.org/drawingml/2006/main"/>
        </p:blipFill>
        <p:spPr>
          <a:xfrm xmlns:a="http://schemas.openxmlformats.org/drawingml/2006/main">
            <a:off x="3743325" y="103155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6" name="Group size">
            <a:extLst xmlns:a="http://schemas.openxmlformats.org/drawingml/2006/main">
              <a:ext uri="{FF2B5EF4-FFF2-40B4-BE49-F238E27FC236}">
                <a16:creationId xmlns:a16="http://schemas.microsoft.com/office/drawing/2014/main" id="{2817A6D8-E5CE-44D2-9865-418B4E73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02774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C4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C44"/>
                </a:solidFill>
                <a:latin typeface="Arial"/>
                <a:ea typeface="Arial"/>
                <a:cs typeface="Arial"/>
              </a:rPr>
              <a:t>Max. 5</a:t>
            </a:r>
          </a:p>
        </p:txBody>
      </p:sp>
      <p:sp>
        <p:nvSpPr>
          <p:cNvPr id="37" name="Group detail">
            <a:extLst xmlns:a="http://schemas.openxmlformats.org/drawingml/2006/main">
              <a:ext uri="{FF2B5EF4-FFF2-40B4-BE49-F238E27FC236}">
                <a16:creationId xmlns:a16="http://schemas.microsoft.com/office/drawing/2014/main" id="{8636AFF0-CA47-4196-BC0A-828CF9A9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0687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4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5"/>
                </a:solidFill>
                <a:latin typeface="Arial"/>
                <a:ea typeface="Arial"/>
                <a:cs typeface="Arial"/>
              </a:rPr>
              <a:t>learners per group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3bb96713c4a6e"/>
          <a:stretch xmlns:a="http://schemas.openxmlformats.org/drawingml/2006/main"/>
        </p:blipFill>
        <p:spPr>
          <a:xfrm xmlns:a="http://schemas.openxmlformats.org/drawingml/2006/main">
            <a:off x="7134225" y="103155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9" name="Capacity">
            <a:extLst xmlns:a="http://schemas.openxmlformats.org/drawingml/2006/main">
              <a:ext uri="{FF2B5EF4-FFF2-40B4-BE49-F238E27FC236}">
                <a16:creationId xmlns:a16="http://schemas.microsoft.com/office/drawing/2014/main" id="{408DCD5E-FC32-4D25-85E1-2980867A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02774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C4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C44"/>
                </a:solidFill>
                <a:latin typeface="Arial"/>
                <a:ea typeface="Arial"/>
                <a:cs typeface="Arial"/>
              </a:rPr>
              <a:t>15 places</a:t>
            </a:r>
          </a:p>
        </p:txBody>
      </p:sp>
      <p:sp>
        <p:nvSpPr>
          <p:cNvPr id="40" name="Capacity detail">
            <a:extLst xmlns:a="http://schemas.openxmlformats.org/drawingml/2006/main">
              <a:ext uri="{FF2B5EF4-FFF2-40B4-BE49-F238E27FC236}">
                <a16:creationId xmlns:a16="http://schemas.microsoft.com/office/drawing/2014/main" id="{0E283622-B103-486A-B66D-93A196FA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0687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4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5"/>
                </a:solidFill>
                <a:latin typeface="Arial"/>
                <a:ea typeface="Arial"/>
                <a:cs typeface="Arial"/>
              </a:rPr>
              <a:t>across the programme</a:t>
            </a:r>
          </a:p>
        </p:txBody>
      </p:sp>
      <p:sp>
        <p:nvSpPr>
          <p:cNvPr id="41" name="Fee heading">
            <a:extLst xmlns:a="http://schemas.openxmlformats.org/drawingml/2006/main">
              <a:ext uri="{FF2B5EF4-FFF2-40B4-BE49-F238E27FC236}">
                <a16:creationId xmlns:a16="http://schemas.microsoft.com/office/drawing/2014/main" id="{DD5AC513-78A1-4CF2-9EC9-4EC77403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0"/>
            <a:ext cx="923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647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475"/>
                </a:solidFill>
                <a:latin typeface="Arial"/>
                <a:ea typeface="Arial"/>
                <a:cs typeface="Arial"/>
              </a:rPr>
              <a:t>PROGRAMME FEE PER LEARNER</a:t>
            </a:r>
          </a:p>
        </p:txBody>
      </p:sp>
      <p:sp>
        <p:nvSpPr>
          <p:cNvPr id="42" name="Group fee">
            <a:extLst xmlns:a="http://schemas.openxmlformats.org/drawingml/2006/main">
              <a:ext uri="{FF2B5EF4-FFF2-40B4-BE49-F238E27FC236}">
                <a16:creationId xmlns:a16="http://schemas.microsoft.com/office/drawing/2014/main" id="{ED5EE7F5-4DC4-4B12-BF3F-3A78B6AE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44325"/>
            <a:ext cx="442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C4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C44"/>
                </a:solidFill>
                <a:latin typeface="Arial"/>
                <a:ea typeface="Arial"/>
                <a:cs typeface="Arial"/>
              </a:rPr>
              <a:t>UGX 800,000</a:t>
            </a:r>
          </a:p>
        </p:txBody>
      </p:sp>
      <p:sp>
        <p:nvSpPr>
          <p:cNvPr id="43" name="Private fee">
            <a:extLst xmlns:a="http://schemas.openxmlformats.org/drawingml/2006/main">
              <a:ext uri="{FF2B5EF4-FFF2-40B4-BE49-F238E27FC236}">
                <a16:creationId xmlns:a16="http://schemas.microsoft.com/office/drawing/2014/main" id="{FB7C2749-FC2E-4CD5-821F-2FFA700C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1744325"/>
            <a:ext cx="447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C4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C44"/>
                </a:solidFill>
                <a:latin typeface="Arial"/>
                <a:ea typeface="Arial"/>
                <a:cs typeface="Arial"/>
              </a:rPr>
              <a:t>UGX 1,000,000</a:t>
            </a:r>
          </a:p>
        </p:txBody>
      </p:sp>
      <p:sp>
        <p:nvSpPr>
          <p:cNvPr id="44" name="Group fee terms">
            <a:extLst xmlns:a="http://schemas.openxmlformats.org/drawingml/2006/main">
              <a:ext uri="{FF2B5EF4-FFF2-40B4-BE49-F238E27FC236}">
                <a16:creationId xmlns:a16="http://schemas.microsoft.com/office/drawing/2014/main" id="{526D0DF4-D91C-4745-B4EA-1EE7AD1E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543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4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475"/>
                </a:solidFill>
                <a:latin typeface="Arial"/>
                <a:ea typeface="Arial"/>
                <a:cs typeface="Arial"/>
              </a:rPr>
              <a:t>Small group: exactly 5 learners</a:t>
            </a:r>
          </a:p>
        </p:txBody>
      </p:sp>
      <p:sp>
        <p:nvSpPr>
          <p:cNvPr id="45" name="Private fee terms">
            <a:extLst xmlns:a="http://schemas.openxmlformats.org/drawingml/2006/main">
              <a:ext uri="{FF2B5EF4-FFF2-40B4-BE49-F238E27FC236}">
                <a16:creationId xmlns:a16="http://schemas.microsoft.com/office/drawing/2014/main" id="{A61E8583-B03E-41D8-B797-1F915CA6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287250"/>
            <a:ext cx="4495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4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475"/>
                </a:solidFill>
                <a:latin typeface="Arial"/>
                <a:ea typeface="Arial"/>
                <a:cs typeface="Arial"/>
              </a:rPr>
              <a:t>Private / semi-private: 1–4 learners</a:t>
            </a:r>
          </a:p>
        </p:txBody>
      </p:sp>
      <p:sp>
        <p:nvSpPr>
          <p:cNvPr id="46" name="Booking footer">
            <a:extLst xmlns:a="http://schemas.openxmlformats.org/drawingml/2006/main">
              <a:ext uri="{FF2B5EF4-FFF2-40B4-BE49-F238E27FC236}">
                <a16:creationId xmlns:a16="http://schemas.microsoft.com/office/drawing/2014/main" id="{A57B8098-D1CC-4538-B3FF-A538F7AE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58750"/>
            <a:ext cx="10287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5"/>
          </a:solidFill>
          <a:ln xmlns:a="http://schemas.openxmlformats.org/drawingml/2006/main" w="0">
            <a:noFill/>
          </a:ln>
        </p:spPr>
      </p:sp>
      <p:sp>
        <p:nvSpPr>
          <p:cNvPr id="47" name="CTA">
            <a:extLst xmlns:a="http://schemas.openxmlformats.org/drawingml/2006/main">
              <a:ext uri="{FF2B5EF4-FFF2-40B4-BE49-F238E27FC236}">
                <a16:creationId xmlns:a16="http://schemas.microsoft.com/office/drawing/2014/main" id="{B0D0282D-A01E-47A1-BD52-5737CA04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82600"/>
            <a:ext cx="7096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3E2C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63E2C3"/>
                </a:solidFill>
                <a:latin typeface="Arial"/>
                <a:ea typeface="Arial"/>
                <a:cs typeface="Arial"/>
                <a:hlinkClick xmlns:r="http://schemas.openxmlformats.org/officeDocument/2006/relationships" r:id="R4a471864dc1e43a0"/>
              </a:rPr>
              <a:t>Enquire &amp; reserve your place</a:t>
            </a:r>
          </a:p>
        </p:txBody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ac0342b2c425c"/>
          <a:stretch xmlns:a="http://schemas.openxmlformats.org/drawingml/2006/main"/>
        </p:blipFill>
        <p:spPr>
          <a:xfrm xmlns:a="http://schemas.openxmlformats.org/drawingml/2006/main">
            <a:off x="552450" y="138493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9" name="WhatsApp number">
            <a:extLst xmlns:a="http://schemas.openxmlformats.org/drawingml/2006/main">
              <a:ext uri="{FF2B5EF4-FFF2-40B4-BE49-F238E27FC236}">
                <a16:creationId xmlns:a16="http://schemas.microsoft.com/office/drawing/2014/main" id="{6D715429-08A6-4B78-82B3-DE592E9D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7922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72d20910fe0b42a4"/>
              </a:rPr>
              <a:t>+256 750 990 718</a:t>
            </a:r>
          </a:p>
        </p:txBody>
      </p:sp>
      <p:sp>
        <p:nvSpPr>
          <p:cNvPr id="50" name="Email">
            <a:extLst xmlns:a="http://schemas.openxmlformats.org/drawingml/2006/main">
              <a:ext uri="{FF2B5EF4-FFF2-40B4-BE49-F238E27FC236}">
                <a16:creationId xmlns:a16="http://schemas.microsoft.com/office/drawing/2014/main" id="{093EAB62-571A-41A3-BE97-1AD3A4B7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2a26b0ee67bc4144"/>
              </a:rPr>
              <a:t>jothammartin.wambi@gmail.com</a:t>
            </a:r>
          </a:p>
        </p:txBody>
      </p:sp>
      <p:sp>
        <p:nvSpPr>
          <p:cNvPr id="51" name="Laptop requirement">
            <a:extLst xmlns:a="http://schemas.openxmlformats.org/drawingml/2006/main">
              <a:ext uri="{FF2B5EF4-FFF2-40B4-BE49-F238E27FC236}">
                <a16:creationId xmlns:a16="http://schemas.microsoft.com/office/drawing/2014/main" id="{AD0AA071-AFB0-4FE5-A21F-0077DEE4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0"/>
            <a:ext cx="701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3CA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3CADB"/>
                </a:solidFill>
                <a:latin typeface="Arial"/>
                <a:ea typeface="Arial"/>
                <a:cs typeface="Arial"/>
              </a:rPr>
              <a:t>Own laptop required. Ask us for dates &amp; venue.</a:t>
            </a:r>
          </a:p>
        </p:txBody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2370e2fb34090"/>
          <a:stretch xmlns:a="http://schemas.openxmlformats.org/drawingml/2006/main"/>
        </p:blipFill>
        <p:spPr>
          <a:xfrm xmlns:a="http://schemas.openxmlformats.org/drawingml/2006/main">
            <a:off x="7820025" y="13144500"/>
            <a:ext cx="1885950" cy="1885950"/>
          </a:xfrm>
          <a:prstGeom xmlns:a="http://schemas.openxmlformats.org/drawingml/2006/main" prst="rect">
            <a:avLst/>
          </a:prstGeom>
        </p:spPr>
      </p:pic>
      <p:sp>
        <p:nvSpPr>
          <p:cNvPr id="53" name="QR label">
            <a:extLst xmlns:a="http://schemas.openxmlformats.org/drawingml/2006/main">
              <a:ext uri="{FF2B5EF4-FFF2-40B4-BE49-F238E27FC236}">
                <a16:creationId xmlns:a16="http://schemas.microsoft.com/office/drawing/2014/main" id="{481B04BA-5652-4605-987D-1A721F23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5049500"/>
            <a:ext cx="213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 to WhatsApp</a:t>
            </a:r>
          </a:p>
        </p:txBody>
      </p:sp>
    </p:spTree>
    <p:extLst>
      <p:ext uri="{BB962C8B-B14F-4D97-AF65-F5344CB8AC3E}">
        <p14:creationId xmlns:p14="http://schemas.microsoft.com/office/powerpoint/2010/main" val="16893189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2026-09-28T07:52:29.6520000Z</dcterms:created>
  <dcterms:modified xsi:type="dcterms:W3CDTF">2026-09-28T07:52:29.6520000Z</dcterms:modified>
</coreProperties>
</file>