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c7071d34064295" /><Relationship Type="http://schemas.openxmlformats.org/officeDocument/2006/relationships/extended-properties" Target="/docProps/app.xml" Id="R8cde865113774685" /><Relationship Type="http://schemas.openxmlformats.org/officeDocument/2006/relationships/officeDocument" Target="/ppt/presentation.xml" Id="R064e56f8c55c4b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3261768b24aa4"/>
  </p:sldMasterIdLst>
  <p:notesMasterIdLst>
    <p:notesMasterId xmlns:r="http://schemas.openxmlformats.org/officeDocument/2006/relationships" r:id="R0272a799a0404228"/>
  </p:notesMasterIdLst>
  <p:sldIdLst>
    <p:sldId xmlns:r="http://schemas.openxmlformats.org/officeDocument/2006/relationships" id="256" r:id="R50ce47208332442f"/>
  </p:sldIdLst>
  <p:sldSz cx="9753600" cy="14630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67797eee34a04" /><Relationship Type="http://schemas.openxmlformats.org/officeDocument/2006/relationships/slideMaster" Target="/ppt/slideMasters/slideMaster1.xml" Id="Rd213261768b24aa4" /><Relationship Type="http://schemas.openxmlformats.org/officeDocument/2006/relationships/notesMaster" Target="/ppt/notesMasters/notesMaster1.xml" Id="R0272a799a0404228" /><Relationship Type="http://schemas.openxmlformats.org/officeDocument/2006/relationships/presProps" Target="/ppt/presProps.xml" Id="Re679444efcbe4632" /><Relationship Type="http://schemas.openxmlformats.org/officeDocument/2006/relationships/tableStyles" Target="/ppt/tableStyles.xml" Id="R8c1bc164873b4e26" /><Relationship Type="http://schemas.openxmlformats.org/officeDocument/2006/relationships/slide" Target="/ppt/slides/slide1.xml" Id="R50ce4720833244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d9ee17f3a7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6216bd20114b4a" /><Relationship Type="http://schemas.openxmlformats.org/officeDocument/2006/relationships/notesMaster" Target="/ppt/notesMasters/notesMaster1.xml" Id="R9f1f70e6f86d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Reference-faithful reconstruction of supplied flyer. Native editable text and panels; replaceable raster images for photo plate, decorative accents and logos. Photo plate and accent overlay reconstructed with built-in ImageGen from supplied reference. Logos sourced from Devicon; supporting icons from Font Awesome Free, Tabler and Lucide. See source/SOURCES.md and assets/internet-sources.json. Source image pricing retained: UGX 1,000,000 for 1–4 learners. Tutor incoming PhD status refers to April 2027. QR opens https://wa.me/256750990718. Exact logistics remain as in supplied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7e31378a84c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2dc6a03554a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ace303fd848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dd8a980ed4a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6197d55b54d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877c8dbd5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D503E7-BDEF-4211-9AC7-83B2ED4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4714240"/>
            <a:ext cx="487680" cy="81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04925C-D5CE-49B3-A1A1-0A90B4820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5527040"/>
            <a:ext cx="7802880" cy="211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058D52B-40CF-4214-B1E4-5AE267FCBB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63040" y="8046720"/>
            <a:ext cx="6827520" cy="16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76DE5BA-AAC3-482E-907E-8CED0FCD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5283200"/>
            <a:ext cx="487680" cy="81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26D327B-5FF4-41C7-B532-1EDB199E7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75360" y="6096000"/>
            <a:ext cx="780288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FB89B02-9432-4D79-B88D-692C5141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1200"/>
            <a:ext cx="487680" cy="81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A169B3-1BE5-4172-A352-4B6B1D96C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1137920"/>
            <a:ext cx="8656320" cy="17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5ACBDD3-4B31-44DA-B0A4-5E1901C9B5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4064000"/>
            <a:ext cx="8656320" cy="91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3A2AD74-F9DB-40F9-951F-578EF899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1200"/>
            <a:ext cx="487680" cy="81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53ECDD-8F5B-48ED-9CE1-115F2A044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1137920"/>
            <a:ext cx="8656320" cy="17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B9543E-B62C-480F-8011-FF44934976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4064000"/>
            <a:ext cx="4023360" cy="91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5F0051-8D58-4715-970D-5A64614933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181600" y="4064000"/>
            <a:ext cx="4023360" cy="91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F67B9CA-4577-412E-93A1-F660D8A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51200"/>
            <a:ext cx="487680" cy="812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2F1828-0E90-426F-A764-BE11FCB70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640" y="1137920"/>
            <a:ext cx="8656320" cy="178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E1AD11-7C1A-4946-B739-87EEF50AD6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8640" y="4064000"/>
            <a:ext cx="4023360" cy="910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28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1pPr>
            <a:lvl2pPr marL="4267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2pPr>
            <a:lvl3pPr marL="6705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3pPr>
            <a:lvl4pPr marL="9144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4pPr>
            <a:lvl5pPr marL="115824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5pPr>
            <a:lvl6pPr marL="140208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6pPr>
            <a:lvl7pPr marL="164592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7pPr>
            <a:lvl8pPr marL="188976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8pPr>
            <a:lvl9pPr marL="2133600" indent="-182880">
              <a:lnSpc>
                <a:spcPct val="110000"/>
              </a:lnSpc>
              <a:spcBef>
                <a:spcPts val="0"/>
              </a:spcBef>
              <a:spcAft>
                <a:spcPts val="96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4b5e7ca4e04ef4" /><Relationship Type="http://schemas.openxmlformats.org/officeDocument/2006/relationships/slideLayout" Target="/ppt/slideLayouts/slideLayout1.xml" Id="R055db305bb0d4e3f" /><Relationship Type="http://schemas.openxmlformats.org/officeDocument/2006/relationships/slideLayout" Target="/ppt/slideLayouts/slideLayout2.xml" Id="R35468f5ef9de455b" /><Relationship Type="http://schemas.openxmlformats.org/officeDocument/2006/relationships/slideLayout" Target="/ppt/slideLayouts/slideLayout3.xml" Id="R2ade873c4a024d32" /><Relationship Type="http://schemas.openxmlformats.org/officeDocument/2006/relationships/slideLayout" Target="/ppt/slideLayouts/slideLayout4.xml" Id="R777706074e2c49b3" /><Relationship Type="http://schemas.openxmlformats.org/officeDocument/2006/relationships/slideLayout" Target="/ppt/slideLayouts/slideLayout5.xml" Id="R2c9b0d5ab8f447f5" /><Relationship Type="http://schemas.openxmlformats.org/officeDocument/2006/relationships/slideLayout" Target="/ppt/slideLayouts/slideLayout6.xml" Id="R9aa36a4a371c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db305bb0d4e3f"/>
    <p:sldLayoutId xmlns:r="http://schemas.openxmlformats.org/officeDocument/2006/relationships" id="2147483650" r:id="R35468f5ef9de455b"/>
    <p:sldLayoutId xmlns:r="http://schemas.openxmlformats.org/officeDocument/2006/relationships" id="2147483651" r:id="R2ade873c4a024d32"/>
    <p:sldLayoutId xmlns:r="http://schemas.openxmlformats.org/officeDocument/2006/relationships" id="2147483652" r:id="R777706074e2c49b3"/>
    <p:sldLayoutId xmlns:r="http://schemas.openxmlformats.org/officeDocument/2006/relationships" id="2147483653" r:id="R2c9b0d5ab8f447f5"/>
    <p:sldLayoutId xmlns:r="http://schemas.openxmlformats.org/officeDocument/2006/relationships" id="2147483654" r:id="R9aa36a4a371c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4b948fd0947c8" /><Relationship Type="http://schemas.openxmlformats.org/officeDocument/2006/relationships/image" Target="/ppt/media/image.png" Id="R49a4ce407748484f" /><Relationship Type="http://schemas.openxmlformats.org/officeDocument/2006/relationships/image" Target="/ppt/media/image2.png" Id="Rfe8c79d012ed41af" /><Relationship Type="http://schemas.openxmlformats.org/officeDocument/2006/relationships/image" Target="/ppt/media/image3.png" Id="Ra24d9f1003e44d3e" /><Relationship Type="http://schemas.openxmlformats.org/officeDocument/2006/relationships/image" Target="/ppt/media/image4.png" Id="R45f764c716184495" /><Relationship Type="http://schemas.openxmlformats.org/officeDocument/2006/relationships/image" Target="/ppt/media/image5.png" Id="R9936cfca4daa4004" /><Relationship Type="http://schemas.openxmlformats.org/officeDocument/2006/relationships/image" Target="/ppt/media/image6.png" Id="Ra65385de78d24ebb" /><Relationship Type="http://schemas.openxmlformats.org/officeDocument/2006/relationships/image" Target="/ppt/media/image7.png" Id="R9fbec17a8bef41ee" /><Relationship Type="http://schemas.openxmlformats.org/officeDocument/2006/relationships/image" Target="/ppt/media/image8.png" Id="Reccbb2da21ae4915" /><Relationship Type="http://schemas.openxmlformats.org/officeDocument/2006/relationships/image" Target="/ppt/media/image9.png" Id="R5811b96df1b94f83" /><Relationship Type="http://schemas.openxmlformats.org/officeDocument/2006/relationships/image" Target="/ppt/media/image10.png" Id="R4ad59c7f7d284730" /><Relationship Type="http://schemas.openxmlformats.org/officeDocument/2006/relationships/image" Target="/ppt/media/image11.png" Id="R71ad99d30a2b48bd" /><Relationship Type="http://schemas.openxmlformats.org/officeDocument/2006/relationships/image" Target="/ppt/media/image12.png" Id="Rf7bfa6b694584583" /><Relationship Type="http://schemas.openxmlformats.org/officeDocument/2006/relationships/image" Target="/ppt/media/image13.png" Id="R8560ebba5f3541c6" /><Relationship Type="http://schemas.openxmlformats.org/officeDocument/2006/relationships/image" Target="/ppt/media/image14.png" Id="R5eec9978c3c4407e" /><Relationship Type="http://schemas.openxmlformats.org/officeDocument/2006/relationships/image" Target="/ppt/media/image15.png" Id="R5313fc21617b4db4" /><Relationship Type="http://schemas.openxmlformats.org/officeDocument/2006/relationships/image" Target="/ppt/media/image16.png" Id="R6b77cf27805943bc" /><Relationship Type="http://schemas.openxmlformats.org/officeDocument/2006/relationships/image" Target="/ppt/media/image17.png" Id="Re4846f04d66e400b" /><Relationship Type="http://schemas.openxmlformats.org/officeDocument/2006/relationships/image" Target="/ppt/media/image18.png" Id="R3c6d7d0c5dd94aec" /><Relationship Type="http://schemas.openxmlformats.org/officeDocument/2006/relationships/image" Target="/ppt/media/image19.png" Id="R2079bc56f849460a" /><Relationship Type="http://schemas.openxmlformats.org/officeDocument/2006/relationships/image" Target="/ppt/media/image20.png" Id="R739fdaf1459a4db7" /><Relationship Type="http://schemas.openxmlformats.org/officeDocument/2006/relationships/image" Target="/ppt/media/image21.png" Id="R95a92adb7aa2412e" /><Relationship Type="http://schemas.openxmlformats.org/officeDocument/2006/relationships/notesSlide" Target="/ppt/notesSlides/notesSlide1.xml" Id="Rdb8ced8c1c0641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4ce407748484f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14630400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c79d012ed41af"/>
          <a:stretch xmlns:a="http://schemas.openxmlformats.org/drawingml/2006/main"/>
        </p:blipFill>
        <p:spPr>
          <a:xfrm xmlns:a="http://schemas.openxmlformats.org/drawingml/2006/main">
            <a:off x="0" y="0"/>
            <a:ext cx="9753600" cy="14630400"/>
          </a:xfrm>
          <a:prstGeom xmlns:a="http://schemas.openxmlformats.org/drawingml/2006/main" prst="rect">
            <a:avLst/>
          </a:prstGeom>
        </p:spPr>
      </p:pic>
      <p:sp>
        <p:nvSpPr>
          <p:cNvPr id="3" name="Intake">
            <a:extLst xmlns:a="http://schemas.openxmlformats.org/drawingml/2006/main">
              <a:ext uri="{FF2B5EF4-FFF2-40B4-BE49-F238E27FC236}">
                <a16:creationId xmlns:a16="http://schemas.microsoft.com/office/drawing/2014/main" id="{4F7EE780-8100-4D41-AEF7-DFC7ADD4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42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49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496A"/>
                </a:solidFill>
                <a:latin typeface="Arial"/>
                <a:ea typeface="Arial"/>
                <a:cs typeface="Arial"/>
              </a:rPr>
              <a:t>D E C E M B E R   2 0 2 6   I N T A K E</a:t>
            </a:r>
          </a:p>
        </p:txBody>
      </p:sp>
      <p:sp>
        <p:nvSpPr>
          <p:cNvPr id="4" name="Holiday title">
            <a:extLst xmlns:a="http://schemas.openxmlformats.org/drawingml/2006/main">
              <a:ext uri="{FF2B5EF4-FFF2-40B4-BE49-F238E27FC236}">
                <a16:creationId xmlns:a16="http://schemas.microsoft.com/office/drawing/2014/main" id="{B05004DA-634C-4FB0-83A4-088A7367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" y="723900"/>
            <a:ext cx="5238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75" b="0">
                <a:solidFill>
                  <a:srgbClr val="002342"/>
                </a:solidFill>
                <a:latin typeface="Arial Black"/>
                <a:ea typeface="Arial Black"/>
                <a:cs typeface="Arial Black"/>
              </a:defRPr>
            </a:pPr>
            <a:r>
              <a:rPr sz="7575" b="0">
                <a:solidFill>
                  <a:srgbClr val="002342"/>
                </a:solidFill>
                <a:latin typeface="Arial Black"/>
                <a:ea typeface="Arial Black"/>
                <a:cs typeface="Arial Black"/>
              </a:rPr>
              <a:t>HOLIDAY</a:t>
            </a:r>
          </a:p>
        </p:txBody>
      </p:sp>
      <p:sp>
        <p:nvSpPr>
          <p:cNvPr id="5" name="Data title">
            <a:extLst xmlns:a="http://schemas.openxmlformats.org/drawingml/2006/main">
              <a:ext uri="{FF2B5EF4-FFF2-40B4-BE49-F238E27FC236}">
                <a16:creationId xmlns:a16="http://schemas.microsoft.com/office/drawing/2014/main" id="{44AAC0FD-D63F-417A-8659-059D95F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1676400"/>
            <a:ext cx="3000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0">
                <a:solidFill>
                  <a:srgbClr val="007DDD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007DDD"/>
                </a:solidFill>
                <a:latin typeface="Arial Black"/>
                <a:ea typeface="Arial Black"/>
                <a:cs typeface="Arial Black"/>
              </a:rPr>
              <a:t>DATA</a:t>
            </a:r>
          </a:p>
        </p:txBody>
      </p:sp>
      <p:sp>
        <p:nvSpPr>
          <p:cNvPr id="6" name="Ampersand">
            <a:extLst xmlns:a="http://schemas.openxmlformats.org/drawingml/2006/main">
              <a:ext uri="{FF2B5EF4-FFF2-40B4-BE49-F238E27FC236}">
                <a16:creationId xmlns:a16="http://schemas.microsoft.com/office/drawing/2014/main" id="{6545E66B-9275-4618-BD5E-08C05FA6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1676400"/>
            <a:ext cx="904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0">
                <a:solidFill>
                  <a:srgbClr val="692BCB"/>
                </a:solidFill>
                <a:latin typeface="Arial Black"/>
                <a:ea typeface="Arial Black"/>
                <a:cs typeface="Arial Black"/>
              </a:defRPr>
            </a:pPr>
            <a:r>
              <a:rPr sz="7500" b="0">
                <a:solidFill>
                  <a:srgbClr val="692BCB"/>
                </a:solidFill>
                <a:latin typeface="Arial Black"/>
                <a:ea typeface="Arial Black"/>
                <a:cs typeface="Arial Black"/>
              </a:rPr>
              <a:t>&amp;</a:t>
            </a:r>
          </a:p>
        </p:txBody>
      </p:sp>
      <p:sp>
        <p:nvSpPr>
          <p:cNvPr id="7" name="AI title">
            <a:extLst xmlns:a="http://schemas.openxmlformats.org/drawingml/2006/main">
              <a:ext uri="{FF2B5EF4-FFF2-40B4-BE49-F238E27FC236}">
                <a16:creationId xmlns:a16="http://schemas.microsoft.com/office/drawing/2014/main" id="{B6FB628F-CFA6-4DDE-84ED-4BE4E4A9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1676400"/>
            <a:ext cx="1276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0" b="0">
                <a:solidFill>
                  <a:srgbClr val="0349D2"/>
                </a:solidFill>
                <a:latin typeface="Arial Black"/>
                <a:ea typeface="Arial Black"/>
                <a:cs typeface="Arial Black"/>
              </a:defRPr>
            </a:pPr>
            <a:r>
              <a:rPr sz="7500" b="0">
                <a:solidFill>
                  <a:srgbClr val="0349D2"/>
                </a:solidFill>
                <a:latin typeface="Arial Black"/>
                <a:ea typeface="Arial Black"/>
                <a:cs typeface="Arial Black"/>
              </a:rPr>
              <a:t>AI</a:t>
            </a:r>
          </a:p>
        </p:txBody>
      </p:sp>
      <p:sp>
        <p:nvSpPr>
          <p:cNvPr id="8" name="Camp title">
            <a:extLst xmlns:a="http://schemas.openxmlformats.org/drawingml/2006/main">
              <a:ext uri="{FF2B5EF4-FFF2-40B4-BE49-F238E27FC236}">
                <a16:creationId xmlns:a16="http://schemas.microsoft.com/office/drawing/2014/main" id="{61081055-44C5-45D9-A741-DF8D826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2571750"/>
            <a:ext cx="4381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00" b="0">
                <a:solidFill>
                  <a:srgbClr val="002342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002342"/>
                </a:solidFill>
                <a:latin typeface="Arial Black"/>
                <a:ea typeface="Arial Black"/>
                <a:cs typeface="Arial Black"/>
              </a:rPr>
              <a:t>CAMP</a:t>
            </a:r>
          </a:p>
        </p:txBody>
      </p:sp>
      <p:sp>
        <p:nvSpPr>
          <p:cNvPr id="9" name="Promise line one">
            <a:extLst xmlns:a="http://schemas.openxmlformats.org/drawingml/2006/main">
              <a:ext uri="{FF2B5EF4-FFF2-40B4-BE49-F238E27FC236}">
                <a16:creationId xmlns:a16="http://schemas.microsoft.com/office/drawing/2014/main" id="{3005D4B6-07D3-4069-8EFA-A8ACED2F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39909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Practical skills. Real projects.</a:t>
            </a:r>
          </a:p>
        </p:txBody>
      </p:sp>
      <p:sp>
        <p:nvSpPr>
          <p:cNvPr id="10" name="Promise line two">
            <a:extLst xmlns:a="http://schemas.openxmlformats.org/drawingml/2006/main">
              <a:ext uri="{FF2B5EF4-FFF2-40B4-BE49-F238E27FC236}">
                <a16:creationId xmlns:a16="http://schemas.microsoft.com/office/drawing/2014/main" id="{2935284F-7F23-48C9-9B97-37C35F32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" y="4362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>
                <a:solidFill>
                  <a:srgbClr val="002342"/>
                </a:solidFill>
                <a:latin typeface="Arial Narrow"/>
                <a:ea typeface="Arial Narrow"/>
                <a:cs typeface="Arial Narrow"/>
              </a:rPr>
              <a:t>Greater opportunities.</a:t>
            </a:r>
          </a:p>
        </p:txBody>
      </p:sp>
      <p:sp>
        <p:nvSpPr>
          <p:cNvPr id="11" name="Middle slogan line one">
            <a:extLst xmlns:a="http://schemas.openxmlformats.org/drawingml/2006/main">
              <a:ext uri="{FF2B5EF4-FFF2-40B4-BE49-F238E27FC236}">
                <a16:creationId xmlns:a16="http://schemas.microsoft.com/office/drawing/2014/main" id="{9E930B32-22F9-431C-9396-0364DF63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419100" y="48768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3225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Skills today.</a:t>
            </a:r>
          </a:p>
        </p:txBody>
      </p:sp>
      <p:sp>
        <p:nvSpPr>
          <p:cNvPr id="12" name="Middle slogan line two">
            <a:extLst xmlns:a="http://schemas.openxmlformats.org/drawingml/2006/main">
              <a:ext uri="{FF2B5EF4-FFF2-40B4-BE49-F238E27FC236}">
                <a16:creationId xmlns:a16="http://schemas.microsoft.com/office/drawing/2014/main" id="{70DA9880-33BD-4AEE-9E02-18C65C32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466725" y="5210175"/>
            <a:ext cx="3781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2625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Greater opportunities tomorrow.</a:t>
            </a:r>
          </a:p>
        </p:txBody>
      </p:sp>
      <p:sp>
        <p:nvSpPr>
          <p:cNvPr id="13" name="Top right slogan">
            <a:extLst xmlns:a="http://schemas.openxmlformats.org/drawingml/2006/main">
              <a:ext uri="{FF2B5EF4-FFF2-40B4-BE49-F238E27FC236}">
                <a16:creationId xmlns:a16="http://schemas.microsoft.com/office/drawing/2014/main" id="{D177D2DE-0A89-4596-926D-13DD8650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839075" y="933450"/>
            <a:ext cx="1781175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Today’s</a:t>
            </a:r>
          </a:p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Learners.</a:t>
            </a:r>
          </a:p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Tomorrow’s</a:t>
            </a:r>
          </a:p>
          <a:p xmlns:a="http://schemas.openxmlformats.org/drawingml/2006/main">
            <a:pPr algn="ctr">
              <a:defRPr sz="285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85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Leaders.</a:t>
            </a:r>
          </a:p>
        </p:txBody>
      </p:sp>
      <p:sp>
        <p:nvSpPr>
          <p:cNvPr id="14" name="Tutor information panel">
            <a:extLst xmlns:a="http://schemas.openxmlformats.org/drawingml/2006/main">
              <a:ext uri="{FF2B5EF4-FFF2-40B4-BE49-F238E27FC236}">
                <a16:creationId xmlns:a16="http://schemas.microsoft.com/office/drawing/2014/main" id="{022AF56C-CB1A-4816-B349-E72D470B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086100"/>
            <a:ext cx="27432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02342"/>
          </a:solidFill>
          <a:ln xmlns:a="http://schemas.openxmlformats.org/drawingml/2006/main" w="0">
            <a:noFill/>
          </a:ln>
        </p:spPr>
      </p:sp>
      <p:sp>
        <p:nvSpPr>
          <p:cNvPr id="15" name="Tutor name">
            <a:extLst xmlns:a="http://schemas.openxmlformats.org/drawingml/2006/main">
              <a:ext uri="{FF2B5EF4-FFF2-40B4-BE49-F238E27FC236}">
                <a16:creationId xmlns:a16="http://schemas.microsoft.com/office/drawing/2014/main" id="{B55A5CC6-52AB-4B1D-926B-A063730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3190875"/>
            <a:ext cx="2524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Jotham Martin Wambi</a:t>
            </a:r>
          </a:p>
        </p:txBody>
      </p:sp>
      <p:sp>
        <p:nvSpPr>
          <p:cNvPr id="16" name="Tutor role">
            <a:extLst xmlns:a="http://schemas.openxmlformats.org/drawingml/2006/main">
              <a:ext uri="{FF2B5EF4-FFF2-40B4-BE49-F238E27FC236}">
                <a16:creationId xmlns:a16="http://schemas.microsoft.com/office/drawing/2014/main" id="{6ED38585-B54D-44EE-AEC5-5CC833E3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34766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 Tutor</a:t>
            </a:r>
          </a:p>
        </p:txBody>
      </p:sp>
      <p:sp>
        <p:nvSpPr>
          <p:cNvPr id="17" name="Tutor profession">
            <a:extLst xmlns:a="http://schemas.openxmlformats.org/drawingml/2006/main">
              <a:ext uri="{FF2B5EF4-FFF2-40B4-BE49-F238E27FC236}">
                <a16:creationId xmlns:a16="http://schemas.microsoft.com/office/drawing/2014/main" id="{58F46C23-59F3-4936-B5AF-5DCF3A59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3762375"/>
            <a:ext cx="2514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Scientist &amp; ML/AI Engineer</a:t>
            </a:r>
          </a:p>
        </p:txBody>
      </p:sp>
      <p:sp>
        <p:nvSpPr>
          <p:cNvPr id="18" name="Tutor institution">
            <a:extLst xmlns:a="http://schemas.openxmlformats.org/drawingml/2006/main">
              <a:ext uri="{FF2B5EF4-FFF2-40B4-BE49-F238E27FC236}">
                <a16:creationId xmlns:a16="http://schemas.microsoft.com/office/drawing/2014/main" id="{0DFC5031-423C-456C-BDFC-DC51F40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010025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Lecturer – AI &amp; Machine Learning,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International University of East Africa (IUEA)</a:t>
            </a:r>
          </a:p>
        </p:txBody>
      </p:sp>
      <p:sp>
        <p:nvSpPr>
          <p:cNvPr id="19" name="Tutor masters">
            <a:extLst xmlns:a="http://schemas.openxmlformats.org/drawingml/2006/main">
              <a:ext uri="{FF2B5EF4-FFF2-40B4-BE49-F238E27FC236}">
                <a16:creationId xmlns:a16="http://schemas.microsoft.com/office/drawing/2014/main" id="{28A971F4-9D8E-4E84-92C6-74613DD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448175"/>
            <a:ext cx="2524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Master’s – Yamaguchi University, Japan</a:t>
            </a:r>
          </a:p>
        </p:txBody>
      </p:sp>
      <p:sp>
        <p:nvSpPr>
          <p:cNvPr id="20" name="Tutor doctorate">
            <a:extLst xmlns:a="http://schemas.openxmlformats.org/drawingml/2006/main">
              <a:ext uri="{FF2B5EF4-FFF2-40B4-BE49-F238E27FC236}">
                <a16:creationId xmlns:a16="http://schemas.microsoft.com/office/drawing/2014/main" id="{B4CD78B8-9867-4872-BE4B-D9F5540D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6125" y="4686300"/>
            <a:ext cx="2524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Incoming PhD Student – OMU, Japan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d9f1003e44d3e"/>
          <a:stretch xmlns:a="http://schemas.openxmlformats.org/drawingml/2006/main"/>
        </p:blipFill>
        <p:spPr>
          <a:xfrm xmlns:a="http://schemas.openxmlformats.org/drawingml/2006/main">
            <a:off x="7121128" y="4962525"/>
            <a:ext cx="216694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Tutor LinkedIn">
            <a:extLst xmlns:a="http://schemas.openxmlformats.org/drawingml/2006/main">
              <a:ext uri="{FF2B5EF4-FFF2-40B4-BE49-F238E27FC236}">
                <a16:creationId xmlns:a16="http://schemas.microsoft.com/office/drawing/2014/main" id="{860741BC-5F95-4DA0-85FB-D06CA08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991100"/>
            <a:ext cx="2133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linkedin.com/in/jothammartinwambi</a:t>
            </a:r>
          </a:p>
        </p:txBody>
      </p:sp>
      <p:sp>
        <p:nvSpPr>
          <p:cNvPr id="23" name="Central white sheet">
            <a:extLst xmlns:a="http://schemas.openxmlformats.org/drawingml/2006/main">
              <a:ext uri="{FF2B5EF4-FFF2-40B4-BE49-F238E27FC236}">
                <a16:creationId xmlns:a16="http://schemas.microsoft.com/office/drawing/2014/main" id="{6EC2B43D-C1CB-4420-B221-9968AD39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5886450"/>
            <a:ext cx="9420225" cy="54292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Data Analysis panel">
            <a:extLst xmlns:a="http://schemas.openxmlformats.org/drawingml/2006/main">
              <a:ext uri="{FF2B5EF4-FFF2-40B4-BE49-F238E27FC236}">
                <a16:creationId xmlns:a16="http://schemas.microsoft.com/office/drawing/2014/main" id="{5A8FBFAB-0649-4439-A30D-1F107B8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5991225"/>
            <a:ext cx="4524375" cy="2590800"/>
          </a:xfrm>
          <a:prstGeom xmlns:a="http://schemas.openxmlformats.org/drawingml/2006/main" prst="roundRect">
            <a:avLst>
              <a:gd name="adj" fmla="val 5515"/>
            </a:avLst>
          </a:prstGeom>
          <a:solidFill xmlns:a="http://schemas.openxmlformats.org/drawingml/2006/main">
            <a:srgbClr val="E6F6FE"/>
          </a:solidFill>
          <a:ln xmlns:a="http://schemas.openxmlformats.org/drawingml/2006/main" w="0">
            <a:noFill/>
          </a:ln>
        </p:spPr>
      </p:sp>
      <p:sp>
        <p:nvSpPr>
          <p:cNvPr id="25" name="Machine Learning panel">
            <a:extLst xmlns:a="http://schemas.openxmlformats.org/drawingml/2006/main">
              <a:ext uri="{FF2B5EF4-FFF2-40B4-BE49-F238E27FC236}">
                <a16:creationId xmlns:a16="http://schemas.microsoft.com/office/drawing/2014/main" id="{F661D1C7-405E-4D9E-8680-F6A106EF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5991225"/>
            <a:ext cx="4524375" cy="2590800"/>
          </a:xfrm>
          <a:prstGeom xmlns:a="http://schemas.openxmlformats.org/drawingml/2006/main" prst="roundRect">
            <a:avLst>
              <a:gd name="adj" fmla="val 5515"/>
            </a:avLst>
          </a:prstGeom>
          <a:solidFill xmlns:a="http://schemas.openxmlformats.org/drawingml/2006/main">
            <a:srgbClr val="F2E7FD"/>
          </a:solidFill>
          <a:ln xmlns:a="http://schemas.openxmlformats.org/drawingml/2006/main" w="0">
            <a:noFill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764c716184495"/>
          <a:stretch xmlns:a="http://schemas.openxmlformats.org/drawingml/2006/main"/>
        </p:blipFill>
        <p:spPr>
          <a:xfrm xmlns:a="http://schemas.openxmlformats.org/drawingml/2006/main">
            <a:off x="590550" y="6124575"/>
            <a:ext cx="666750" cy="762000"/>
          </a:xfrm>
          <a:prstGeom xmlns:a="http://schemas.openxmlformats.org/drawingml/2006/main" prst="rect">
            <a:avLst/>
          </a:prstGeom>
        </p:spPr>
      </p:pic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6cfca4daa4004"/>
          <a:stretch xmlns:a="http://schemas.openxmlformats.org/drawingml/2006/main"/>
        </p:blipFill>
        <p:spPr>
          <a:xfrm xmlns:a="http://schemas.openxmlformats.org/drawingml/2006/main">
            <a:off x="5219700" y="6124575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8" name="Data Analysis title">
            <a:extLst xmlns:a="http://schemas.openxmlformats.org/drawingml/2006/main">
              <a:ext uri="{FF2B5EF4-FFF2-40B4-BE49-F238E27FC236}">
                <a16:creationId xmlns:a16="http://schemas.microsoft.com/office/drawing/2014/main" id="{C4FB71FE-8799-4030-92B2-22F816D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61436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446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4461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29" name="Data Analysis outcome">
            <a:extLst xmlns:a="http://schemas.openxmlformats.org/drawingml/2006/main">
              <a:ext uri="{FF2B5EF4-FFF2-40B4-BE49-F238E27FC236}">
                <a16:creationId xmlns:a16="http://schemas.microsoft.com/office/drawing/2014/main" id="{A85C6516-3B7A-41C1-B7EF-16C8847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6619875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Turn raw data into clear findings.</a:t>
            </a:r>
          </a:p>
        </p:txBody>
      </p:sp>
      <p:sp>
        <p:nvSpPr>
          <p:cNvPr id="30" name="ML title">
            <a:extLst xmlns:a="http://schemas.openxmlformats.org/drawingml/2006/main">
              <a:ext uri="{FF2B5EF4-FFF2-40B4-BE49-F238E27FC236}">
                <a16:creationId xmlns:a16="http://schemas.microsoft.com/office/drawing/2014/main" id="{A1BB5BC4-C118-4056-9C2B-24DD791D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61722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1" name="ML outcome">
            <a:extLst xmlns:a="http://schemas.openxmlformats.org/drawingml/2006/main">
              <a:ext uri="{FF2B5EF4-FFF2-40B4-BE49-F238E27FC236}">
                <a16:creationId xmlns:a16="http://schemas.microsoft.com/office/drawing/2014/main" id="{DB503F0E-F08D-41FE-967B-104B7DD6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8875" y="6619875"/>
            <a:ext cx="3209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00BC"/>
                </a:solidFill>
                <a:latin typeface="Arial"/>
                <a:ea typeface="Arial"/>
                <a:cs typeface="Arial"/>
              </a:rPr>
              <a:t>Build and test prediction models.</a:t>
            </a:r>
          </a:p>
        </p:txBody>
      </p:sp>
      <p:sp>
        <p:nvSpPr>
          <p:cNvPr id="32" name="DA separator">
            <a:extLst xmlns:a="http://schemas.openxmlformats.org/drawingml/2006/main">
              <a:ext uri="{FF2B5EF4-FFF2-40B4-BE49-F238E27FC236}">
                <a16:creationId xmlns:a16="http://schemas.microsoft.com/office/drawing/2014/main" id="{34E244BB-4E08-438B-82C2-21CD3FC1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7048500"/>
            <a:ext cx="4086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FE5"/>
          </a:solidFill>
          <a:ln xmlns:a="http://schemas.openxmlformats.org/drawingml/2006/main" w="0">
            <a:noFill/>
          </a:ln>
        </p:spPr>
      </p:sp>
      <p:sp>
        <p:nvSpPr>
          <p:cNvPr id="33" name="ML separator">
            <a:extLst xmlns:a="http://schemas.openxmlformats.org/drawingml/2006/main">
              <a:ext uri="{FF2B5EF4-FFF2-40B4-BE49-F238E27FC236}">
                <a16:creationId xmlns:a16="http://schemas.microsoft.com/office/drawing/2014/main" id="{5A623BF7-A2B4-4353-9A65-34500EBB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7048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CE9"/>
          </a:solidFill>
          <a:ln xmlns:a="http://schemas.openxmlformats.org/drawingml/2006/main" w="0">
            <a:noFill/>
          </a:ln>
        </p:spPr>
      </p:sp>
      <p:sp>
        <p:nvSpPr>
          <p:cNvPr id="34" name="DA tool divider 1">
            <a:extLst xmlns:a="http://schemas.openxmlformats.org/drawingml/2006/main">
              <a:ext uri="{FF2B5EF4-FFF2-40B4-BE49-F238E27FC236}">
                <a16:creationId xmlns:a16="http://schemas.microsoft.com/office/drawing/2014/main" id="{F373F1D6-5511-4C15-94C4-08F558B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7353300"/>
            <a:ext cx="9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0F1"/>
          </a:solidFill>
          <a:ln xmlns:a="http://schemas.openxmlformats.org/drawingml/2006/main" w="0">
            <a:noFill/>
          </a:ln>
        </p:spPr>
      </p:sp>
      <p:sp>
        <p:nvSpPr>
          <p:cNvPr id="35" name="DA tool divider 2">
            <a:extLst xmlns:a="http://schemas.openxmlformats.org/drawingml/2006/main">
              <a:ext uri="{FF2B5EF4-FFF2-40B4-BE49-F238E27FC236}">
                <a16:creationId xmlns:a16="http://schemas.microsoft.com/office/drawing/2014/main" id="{98F26D4C-3CD1-44CB-996C-8B02442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7353300"/>
            <a:ext cx="9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0F1"/>
          </a:solidFill>
          <a:ln xmlns:a="http://schemas.openxmlformats.org/drawingml/2006/main" w="0">
            <a:noFill/>
          </a:ln>
        </p:spPr>
      </p:sp>
      <p:sp>
        <p:nvSpPr>
          <p:cNvPr id="36" name="DA tool divider 3">
            <a:extLst xmlns:a="http://schemas.openxmlformats.org/drawingml/2006/main">
              <a:ext uri="{FF2B5EF4-FFF2-40B4-BE49-F238E27FC236}">
                <a16:creationId xmlns:a16="http://schemas.microsoft.com/office/drawing/2014/main" id="{3EC572BA-92FD-4200-AD6B-EB3DE825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7353300"/>
            <a:ext cx="9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0F1"/>
          </a:solidFill>
          <a:ln xmlns:a="http://schemas.openxmlformats.org/drawingml/2006/main" w="0">
            <a:noFill/>
          </a:ln>
        </p:spPr>
      </p:sp>
      <p:sp>
        <p:nvSpPr>
          <p:cNvPr id="37" name="ML tool divider 1">
            <a:extLst xmlns:a="http://schemas.openxmlformats.org/drawingml/2006/main">
              <a:ext uri="{FF2B5EF4-FFF2-40B4-BE49-F238E27FC236}">
                <a16:creationId xmlns:a16="http://schemas.microsoft.com/office/drawing/2014/main" id="{219E7BBD-74F6-46CF-A449-2A2125B3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7353300"/>
            <a:ext cx="9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EEB"/>
          </a:solidFill>
          <a:ln xmlns:a="http://schemas.openxmlformats.org/drawingml/2006/main" w="0">
            <a:noFill/>
          </a:ln>
        </p:spPr>
      </p:sp>
      <p:sp>
        <p:nvSpPr>
          <p:cNvPr id="38" name="ML tool divider 2">
            <a:extLst xmlns:a="http://schemas.openxmlformats.org/drawingml/2006/main">
              <a:ext uri="{FF2B5EF4-FFF2-40B4-BE49-F238E27FC236}">
                <a16:creationId xmlns:a16="http://schemas.microsoft.com/office/drawing/2014/main" id="{7F006777-463A-40A1-8122-E18BA66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7353300"/>
            <a:ext cx="9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EEB"/>
          </a:solidFill>
          <a:ln xmlns:a="http://schemas.openxmlformats.org/drawingml/2006/main" w="0">
            <a:noFill/>
          </a:ln>
        </p:spPr>
      </p:sp>
      <p:sp>
        <p:nvSpPr>
          <p:cNvPr id="39" name="ML tool divider 3">
            <a:extLst xmlns:a="http://schemas.openxmlformats.org/drawingml/2006/main">
              <a:ext uri="{FF2B5EF4-FFF2-40B4-BE49-F238E27FC236}">
                <a16:creationId xmlns:a16="http://schemas.microsoft.com/office/drawing/2014/main" id="{B718E63A-B734-41C5-934C-A329D837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7353300"/>
            <a:ext cx="9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EEB"/>
          </a:solidFill>
          <a:ln xmlns:a="http://schemas.openxmlformats.org/drawingml/2006/main" w="0">
            <a:noFill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385de78d24ebb"/>
          <a:stretch xmlns:a="http://schemas.openxmlformats.org/drawingml/2006/main"/>
        </p:blipFill>
        <p:spPr>
          <a:xfrm xmlns:a="http://schemas.openxmlformats.org/drawingml/2006/main">
            <a:off x="666750" y="7262813"/>
            <a:ext cx="619125" cy="619125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ec17a8bef41ee"/>
          <a:stretch xmlns:a="http://schemas.openxmlformats.org/drawingml/2006/main"/>
        </p:blipFill>
        <p:spPr>
          <a:xfrm xmlns:a="http://schemas.openxmlformats.org/drawingml/2006/main">
            <a:off x="1724025" y="7315200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bb2da21ae4915"/>
          <a:stretch xmlns:a="http://schemas.openxmlformats.org/drawingml/2006/main"/>
        </p:blipFill>
        <p:spPr>
          <a:xfrm xmlns:a="http://schemas.openxmlformats.org/drawingml/2006/main">
            <a:off x="2724150" y="7314009"/>
            <a:ext cx="476250" cy="545306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1b96df1b94f83"/>
          <a:stretch xmlns:a="http://schemas.openxmlformats.org/drawingml/2006/main"/>
        </p:blipFill>
        <p:spPr>
          <a:xfrm xmlns:a="http://schemas.openxmlformats.org/drawingml/2006/main">
            <a:off x="3733800" y="7296150"/>
            <a:ext cx="581025" cy="581025"/>
          </a:xfrm>
          <a:prstGeom xmlns:a="http://schemas.openxmlformats.org/drawingml/2006/main" prst="rect">
            <a:avLst/>
          </a:prstGeom>
        </p:spPr>
      </p:pic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59c7f7d284730"/>
          <a:stretch xmlns:a="http://schemas.openxmlformats.org/drawingml/2006/main"/>
        </p:blipFill>
        <p:spPr>
          <a:xfrm xmlns:a="http://schemas.openxmlformats.org/drawingml/2006/main">
            <a:off x="5295900" y="7262813"/>
            <a:ext cx="619125" cy="619125"/>
          </a:xfrm>
          <a:prstGeom xmlns:a="http://schemas.openxmlformats.org/drawingml/2006/main" prst="rect">
            <a:avLst/>
          </a:prstGeom>
        </p:spPr>
      </p:pic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d99d30a2b48bd"/>
          <a:stretch xmlns:a="http://schemas.openxmlformats.org/drawingml/2006/main"/>
        </p:blipFill>
        <p:spPr>
          <a:xfrm xmlns:a="http://schemas.openxmlformats.org/drawingml/2006/main">
            <a:off x="6362700" y="7315200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fa6b694584583"/>
          <a:stretch xmlns:a="http://schemas.openxmlformats.org/drawingml/2006/main"/>
        </p:blipFill>
        <p:spPr>
          <a:xfrm xmlns:a="http://schemas.openxmlformats.org/drawingml/2006/main">
            <a:off x="7362825" y="7258050"/>
            <a:ext cx="638175" cy="638175"/>
          </a:xfrm>
          <a:prstGeom xmlns:a="http://schemas.openxmlformats.org/drawingml/2006/main" prst="rect">
            <a:avLst/>
          </a:prstGeom>
        </p:spPr>
      </p:pic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0ebba5f3541c6"/>
          <a:stretch xmlns:a="http://schemas.openxmlformats.org/drawingml/2006/main"/>
        </p:blipFill>
        <p:spPr>
          <a:xfrm xmlns:a="http://schemas.openxmlformats.org/drawingml/2006/main">
            <a:off x="8558213" y="7286625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8" name="Python label 52">
            <a:extLst xmlns:a="http://schemas.openxmlformats.org/drawingml/2006/main">
              <a:ext uri="{FF2B5EF4-FFF2-40B4-BE49-F238E27FC236}">
                <a16:creationId xmlns:a16="http://schemas.microsoft.com/office/drawing/2014/main" id="{EB4254E4-A6B1-4FA1-8B78-50294A7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9" name="pandas label 163">
            <a:extLst xmlns:a="http://schemas.openxmlformats.org/drawingml/2006/main">
              <a:ext uri="{FF2B5EF4-FFF2-40B4-BE49-F238E27FC236}">
                <a16:creationId xmlns:a16="http://schemas.microsoft.com/office/drawing/2014/main" id="{F07ED143-F64A-4EE7-8EDB-B62F4FF5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50" name="SQL label 273">
            <a:extLst xmlns:a="http://schemas.openxmlformats.org/drawingml/2006/main">
              <a:ext uri="{FF2B5EF4-FFF2-40B4-BE49-F238E27FC236}">
                <a16:creationId xmlns:a16="http://schemas.microsoft.com/office/drawing/2014/main" id="{D03CE3AC-D502-423B-8087-EEB5377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51" name="visualisation label 383">
            <a:extLst xmlns:a="http://schemas.openxmlformats.org/drawingml/2006/main">
              <a:ext uri="{FF2B5EF4-FFF2-40B4-BE49-F238E27FC236}">
                <a16:creationId xmlns:a16="http://schemas.microsoft.com/office/drawing/2014/main" id="{0E21C1A5-561B-45C5-A792-70664EB7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8075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visualisation</a:t>
            </a:r>
          </a:p>
        </p:txBody>
      </p:sp>
      <p:sp>
        <p:nvSpPr>
          <p:cNvPr id="52" name="Python label 538">
            <a:extLst xmlns:a="http://schemas.openxmlformats.org/drawingml/2006/main">
              <a:ext uri="{FF2B5EF4-FFF2-40B4-BE49-F238E27FC236}">
                <a16:creationId xmlns:a16="http://schemas.microsoft.com/office/drawing/2014/main" id="{0814EF6E-763D-4341-9F42-1A5F686A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53" name="pandas label 649">
            <a:extLst xmlns:a="http://schemas.openxmlformats.org/drawingml/2006/main">
              <a:ext uri="{FF2B5EF4-FFF2-40B4-BE49-F238E27FC236}">
                <a16:creationId xmlns:a16="http://schemas.microsoft.com/office/drawing/2014/main" id="{8A8CA6A6-FEF3-4E82-9341-D925CC2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1725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pandas</a:t>
            </a:r>
          </a:p>
        </p:txBody>
      </p:sp>
      <p:sp>
        <p:nvSpPr>
          <p:cNvPr id="54" name="scikit-learn label 754">
            <a:extLst xmlns:a="http://schemas.openxmlformats.org/drawingml/2006/main">
              <a:ext uri="{FF2B5EF4-FFF2-40B4-BE49-F238E27FC236}">
                <a16:creationId xmlns:a16="http://schemas.microsoft.com/office/drawing/2014/main" id="{73A274F6-929A-4982-A8EA-EDFC7389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8001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scikit-learn</a:t>
            </a:r>
          </a:p>
        </p:txBody>
      </p:sp>
      <p:sp>
        <p:nvSpPr>
          <p:cNvPr id="55" name="Prediction models label">
            <a:extLst xmlns:a="http://schemas.openxmlformats.org/drawingml/2006/main">
              <a:ext uri="{FF2B5EF4-FFF2-40B4-BE49-F238E27FC236}">
                <a16:creationId xmlns:a16="http://schemas.microsoft.com/office/drawing/2014/main" id="{99285636-213A-41AD-9299-D4520903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7991475"/>
            <a:ext cx="981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prediction</a:t>
            </a:r>
          </a:p>
          <a:p xmlns:a="http://schemas.openxmlformats.org/drawingml/2006/main">
            <a:pPr algn="ctr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c9978c3c4407e"/>
          <a:stretch xmlns:a="http://schemas.openxmlformats.org/drawingml/2006/main"/>
        </p:blipFill>
        <p:spPr>
          <a:xfrm xmlns:a="http://schemas.openxmlformats.org/drawingml/2006/main">
            <a:off x="394097" y="8896350"/>
            <a:ext cx="459581" cy="523875"/>
          </a:xfrm>
          <a:prstGeom xmlns:a="http://schemas.openxmlformats.org/drawingml/2006/main" prst="rect">
            <a:avLst/>
          </a:prstGeom>
        </p:spPr>
      </p:pic>
      <p:sp>
        <p:nvSpPr>
          <p:cNvPr id="57" name="Duration">
            <a:extLst xmlns:a="http://schemas.openxmlformats.org/drawingml/2006/main">
              <a:ext uri="{FF2B5EF4-FFF2-40B4-BE49-F238E27FC236}">
                <a16:creationId xmlns:a16="http://schemas.microsoft.com/office/drawing/2014/main" id="{3EB1CD74-5353-4DF5-B7E7-2B9E9C23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9010650"/>
            <a:ext cx="1152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58" name="Benefit divider 1">
            <a:extLst xmlns:a="http://schemas.openxmlformats.org/drawingml/2006/main">
              <a:ext uri="{FF2B5EF4-FFF2-40B4-BE49-F238E27FC236}">
                <a16:creationId xmlns:a16="http://schemas.microsoft.com/office/drawing/2014/main" id="{14D66E14-8672-4F2A-825A-C613513D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8896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DEC"/>
          </a:solidFill>
          <a:ln xmlns:a="http://schemas.openxmlformats.org/drawingml/2006/main" w="0">
            <a:noFill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3fc21617b4db4"/>
          <a:stretch xmlns:a="http://schemas.openxmlformats.org/drawingml/2006/main"/>
        </p:blipFill>
        <p:spPr>
          <a:xfrm xmlns:a="http://schemas.openxmlformats.org/drawingml/2006/main">
            <a:off x="2438400" y="8936831"/>
            <a:ext cx="552450" cy="442913"/>
          </a:xfrm>
          <a:prstGeom xmlns:a="http://schemas.openxmlformats.org/drawingml/2006/main" prst="rect">
            <a:avLst/>
          </a:prstGeom>
        </p:spPr>
      </p:pic>
      <p:sp>
        <p:nvSpPr>
          <p:cNvPr id="60" name="Group limit">
            <a:extLst xmlns:a="http://schemas.openxmlformats.org/drawingml/2006/main">
              <a:ext uri="{FF2B5EF4-FFF2-40B4-BE49-F238E27FC236}">
                <a16:creationId xmlns:a16="http://schemas.microsoft.com/office/drawing/2014/main" id="{4D84D000-0553-43E5-94D4-BA6FA179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893445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Max. 5</a:t>
            </a:r>
          </a:p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learners/group</a:t>
            </a:r>
          </a:p>
        </p:txBody>
      </p:sp>
      <p:sp>
        <p:nvSpPr>
          <p:cNvPr id="61" name="Benefit divider 2">
            <a:extLst xmlns:a="http://schemas.openxmlformats.org/drawingml/2006/main">
              <a:ext uri="{FF2B5EF4-FFF2-40B4-BE49-F238E27FC236}">
                <a16:creationId xmlns:a16="http://schemas.microsoft.com/office/drawing/2014/main" id="{28766F38-EF7A-400C-856B-8A357C22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8896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DEC"/>
          </a:solidFill>
          <a:ln xmlns:a="http://schemas.openxmlformats.org/drawingml/2006/main" w="0">
            <a:noFill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7cf27805943bc"/>
          <a:stretch xmlns:a="http://schemas.openxmlformats.org/drawingml/2006/main"/>
        </p:blipFill>
        <p:spPr>
          <a:xfrm xmlns:a="http://schemas.openxmlformats.org/drawingml/2006/main">
            <a:off x="4800600" y="8938022"/>
            <a:ext cx="561975" cy="450056"/>
          </a:xfrm>
          <a:prstGeom xmlns:a="http://schemas.openxmlformats.org/drawingml/2006/main" prst="rect">
            <a:avLst/>
          </a:prstGeom>
        </p:spPr>
      </p:pic>
      <p:sp>
        <p:nvSpPr>
          <p:cNvPr id="63" name="Beginner access">
            <a:extLst xmlns:a="http://schemas.openxmlformats.org/drawingml/2006/main">
              <a:ext uri="{FF2B5EF4-FFF2-40B4-BE49-F238E27FC236}">
                <a16:creationId xmlns:a16="http://schemas.microsoft.com/office/drawing/2014/main" id="{1818838F-C5B2-452B-A0FB-3ACE0549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8934450"/>
            <a:ext cx="166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No coding</a:t>
            </a:r>
          </a:p>
          <a:p xmlns:a="http://schemas.openxmlformats.org/drawingml/2006/main">
            <a:pPr algn="l">
              <a:defRPr sz="1500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experience needed</a:t>
            </a:r>
          </a:p>
        </p:txBody>
      </p:sp>
      <p:sp>
        <p:nvSpPr>
          <p:cNvPr id="64" name="Benefit divider 3">
            <a:extLst xmlns:a="http://schemas.openxmlformats.org/drawingml/2006/main">
              <a:ext uri="{FF2B5EF4-FFF2-40B4-BE49-F238E27FC236}">
                <a16:creationId xmlns:a16="http://schemas.microsoft.com/office/drawing/2014/main" id="{88A7EAA0-C389-4A86-9FF1-252D6C07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8896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DEC"/>
          </a:solidFill>
          <a:ln xmlns:a="http://schemas.openxmlformats.org/drawingml/2006/main" w="0">
            <a:noFill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46f04d66e400b"/>
          <a:stretch xmlns:a="http://schemas.openxmlformats.org/drawingml/2006/main"/>
        </p:blipFill>
        <p:spPr>
          <a:xfrm xmlns:a="http://schemas.openxmlformats.org/drawingml/2006/main">
            <a:off x="7419975" y="8941594"/>
            <a:ext cx="542925" cy="433388"/>
          </a:xfrm>
          <a:prstGeom xmlns:a="http://schemas.openxmlformats.org/drawingml/2006/main" prst="rect">
            <a:avLst/>
          </a:prstGeom>
        </p:spPr>
      </p:pic>
      <p:sp>
        <p:nvSpPr>
          <p:cNvPr id="66" name="Places">
            <a:extLst xmlns:a="http://schemas.openxmlformats.org/drawingml/2006/main">
              <a:ext uri="{FF2B5EF4-FFF2-40B4-BE49-F238E27FC236}">
                <a16:creationId xmlns:a16="http://schemas.microsoft.com/office/drawing/2014/main" id="{C557D4E3-D90F-4AD5-A90A-E4F441E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8810625"/>
            <a:ext cx="13620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Only 15</a:t>
            </a:r>
          </a:p>
          <a:p xmlns:a="http://schemas.openxmlformats.org/drawingml/2006/main">
            <a:pPr algn="l">
              <a:defRPr sz="1650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places</a:t>
            </a:r>
          </a:p>
        </p:txBody>
      </p:sp>
      <p:sp>
        <p:nvSpPr>
          <p:cNvPr id="67" name="Places qualifier">
            <a:extLst xmlns:a="http://schemas.openxmlformats.org/drawingml/2006/main">
              <a:ext uri="{FF2B5EF4-FFF2-40B4-BE49-F238E27FC236}">
                <a16:creationId xmlns:a16="http://schemas.microsoft.com/office/drawing/2014/main" id="{68490E13-0E36-4CD8-8E19-A5C054A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93440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(whole programme)</a:t>
            </a:r>
          </a:p>
        </p:txBody>
      </p:sp>
      <p:sp>
        <p:nvSpPr>
          <p:cNvPr id="68" name="Programme fee panel">
            <a:extLst xmlns:a="http://schemas.openxmlformats.org/drawingml/2006/main">
              <a:ext uri="{FF2B5EF4-FFF2-40B4-BE49-F238E27FC236}">
                <a16:creationId xmlns:a16="http://schemas.microsoft.com/office/drawing/2014/main" id="{D1D3B690-430C-42B8-B374-2429C557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" y="9677400"/>
            <a:ext cx="46005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2342"/>
          </a:solidFill>
          <a:ln xmlns:a="http://schemas.openxmlformats.org/drawingml/2006/main" w="0">
            <a:noFill/>
          </a:ln>
        </p:spPr>
      </p:sp>
      <p:sp>
        <p:nvSpPr>
          <p:cNvPr id="69" name="Programme fee heading">
            <a:extLst xmlns:a="http://schemas.openxmlformats.org/drawingml/2006/main">
              <a:ext uri="{FF2B5EF4-FFF2-40B4-BE49-F238E27FC236}">
                <a16:creationId xmlns:a16="http://schemas.microsoft.com/office/drawing/2014/main" id="{1C49DB4C-C081-4368-9CAD-5F99397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9858375"/>
            <a:ext cx="428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Programme fee (per learner)</a:t>
            </a:r>
          </a:p>
        </p:txBody>
      </p:sp>
      <p:sp>
        <p:nvSpPr>
          <p:cNvPr id="70" name="Small group price">
            <a:extLst xmlns:a="http://schemas.openxmlformats.org/drawingml/2006/main">
              <a:ext uri="{FF2B5EF4-FFF2-40B4-BE49-F238E27FC236}">
                <a16:creationId xmlns:a16="http://schemas.microsoft.com/office/drawing/2014/main" id="{717AF151-44F7-4309-A98F-43B6AE7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10239375"/>
            <a:ext cx="2124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UGX 800,000</a:t>
            </a:r>
          </a:p>
        </p:txBody>
      </p:sp>
      <p:sp>
        <p:nvSpPr>
          <p:cNvPr id="71" name="Fee divider">
            <a:extLst xmlns:a="http://schemas.openxmlformats.org/drawingml/2006/main">
              <a:ext uri="{FF2B5EF4-FFF2-40B4-BE49-F238E27FC236}">
                <a16:creationId xmlns:a16="http://schemas.microsoft.com/office/drawing/2014/main" id="{04C56ACF-F67E-4525-870F-28F22FA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0248900"/>
            <a:ext cx="95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3EF"/>
          </a:solidFill>
          <a:ln xmlns:a="http://schemas.openxmlformats.org/drawingml/2006/main" w="0">
            <a:noFill/>
          </a:ln>
        </p:spPr>
      </p:sp>
      <p:sp>
        <p:nvSpPr>
          <p:cNvPr id="72" name="Private price">
            <a:extLst xmlns:a="http://schemas.openxmlformats.org/drawingml/2006/main">
              <a:ext uri="{FF2B5EF4-FFF2-40B4-BE49-F238E27FC236}">
                <a16:creationId xmlns:a16="http://schemas.microsoft.com/office/drawing/2014/main" id="{89C636D9-1D45-4CB4-A0B4-7A5E064A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10239375"/>
            <a:ext cx="2076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UGX 1,000,000</a:t>
            </a:r>
          </a:p>
        </p:txBody>
      </p:sp>
      <p:sp>
        <p:nvSpPr>
          <p:cNvPr id="73" name="Small group condition">
            <a:extLst xmlns:a="http://schemas.openxmlformats.org/drawingml/2006/main">
              <a:ext uri="{FF2B5EF4-FFF2-40B4-BE49-F238E27FC236}">
                <a16:creationId xmlns:a16="http://schemas.microsoft.com/office/drawing/2014/main" id="{7F927835-F93E-411C-853C-D8F29F2F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" y="10629900"/>
            <a:ext cx="213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 group · exactly 5 learners</a:t>
            </a:r>
          </a:p>
        </p:txBody>
      </p:sp>
      <p:sp>
        <p:nvSpPr>
          <p:cNvPr id="74" name="Private condition">
            <a:extLst xmlns:a="http://schemas.openxmlformats.org/drawingml/2006/main">
              <a:ext uri="{FF2B5EF4-FFF2-40B4-BE49-F238E27FC236}">
                <a16:creationId xmlns:a16="http://schemas.microsoft.com/office/drawing/2014/main" id="{82D07CB1-6F61-4CCF-8ACB-B362689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10582275"/>
            <a:ext cx="20097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/ semi-private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1–4 learners</a:t>
            </a:r>
          </a:p>
        </p:txBody>
      </p:sp>
      <p:sp>
        <p:nvSpPr>
          <p:cNvPr id="75" name="Booking panel">
            <a:extLst xmlns:a="http://schemas.openxmlformats.org/drawingml/2006/main">
              <a:ext uri="{FF2B5EF4-FFF2-40B4-BE49-F238E27FC236}">
                <a16:creationId xmlns:a16="http://schemas.microsoft.com/office/drawing/2014/main" id="{77DC98DE-6C1D-41A1-8812-BD9E9F8E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525" y="9677400"/>
            <a:ext cx="296227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02342"/>
          </a:solidFill>
          <a:ln xmlns:a="http://schemas.openxmlformats.org/drawingml/2006/main" w="0">
            <a:noFill/>
          </a:ln>
        </p:spPr>
      </p:sp>
      <p:sp>
        <p:nvSpPr>
          <p:cNvPr id="76" name="Reserve call to action">
            <a:extLst xmlns:a="http://schemas.openxmlformats.org/drawingml/2006/main">
              <a:ext uri="{FF2B5EF4-FFF2-40B4-BE49-F238E27FC236}">
                <a16:creationId xmlns:a16="http://schemas.microsoft.com/office/drawing/2014/main" id="{A01E75B4-1BF5-476F-BDFA-6E42CE01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9801225"/>
            <a:ext cx="2724150" cy="504825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00B394"/>
          </a:solidFill>
          <a:ln xmlns:a="http://schemas.openxmlformats.org/drawingml/2006/main" w="0">
            <a:noFill/>
          </a:ln>
        </p:spPr>
      </p:sp>
      <p:sp>
        <p:nvSpPr>
          <p:cNvPr id="77" name="Reserve wording">
            <a:extLst xmlns:a="http://schemas.openxmlformats.org/drawingml/2006/main">
              <a:ext uri="{FF2B5EF4-FFF2-40B4-BE49-F238E27FC236}">
                <a16:creationId xmlns:a16="http://schemas.microsoft.com/office/drawing/2014/main" id="{FD898E88-8540-411C-8416-C095AFD6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9915525"/>
            <a:ext cx="2457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Reserve your place →</a:t>
            </a:r>
          </a:p>
        </p:txBody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d7d0c5dd94aec"/>
          <a:stretch xmlns:a="http://schemas.openxmlformats.org/drawingml/2006/main"/>
        </p:blipFill>
        <p:spPr>
          <a:xfrm xmlns:a="http://schemas.openxmlformats.org/drawingml/2006/main">
            <a:off x="5098256" y="10448925"/>
            <a:ext cx="300038" cy="342900"/>
          </a:xfrm>
          <a:prstGeom xmlns:a="http://schemas.openxmlformats.org/drawingml/2006/main" prst="rect">
            <a:avLst/>
          </a:prstGeom>
        </p:spPr>
      </p:pic>
      <p:sp>
        <p:nvSpPr>
          <p:cNvPr id="79" name="WhatsApp number">
            <a:extLst xmlns:a="http://schemas.openxmlformats.org/drawingml/2006/main">
              <a:ext uri="{FF2B5EF4-FFF2-40B4-BE49-F238E27FC236}">
                <a16:creationId xmlns:a16="http://schemas.microsoft.com/office/drawing/2014/main" id="{016C7E6E-6CC4-4D9F-8B52-27506C49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10515600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+256 750 990 718</a:t>
            </a:r>
          </a:p>
        </p:txBody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9bc56f849460a"/>
          <a:stretch xmlns:a="http://schemas.openxmlformats.org/drawingml/2006/main"/>
        </p:blipFill>
        <p:spPr>
          <a:xfrm xmlns:a="http://schemas.openxmlformats.org/drawingml/2006/main">
            <a:off x="5119688" y="10877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1" name="Email">
            <a:extLst xmlns:a="http://schemas.openxmlformats.org/drawingml/2006/main">
              <a:ext uri="{FF2B5EF4-FFF2-40B4-BE49-F238E27FC236}">
                <a16:creationId xmlns:a16="http://schemas.microsoft.com/office/drawing/2014/main" id="{243AFEDD-8E27-4CDB-A25D-BC86CE5B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10925175"/>
            <a:ext cx="2295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jothammartin.wambi@gmail.com</a:t>
            </a:r>
          </a:p>
        </p:txBody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fdaf1459a4db7"/>
          <a:stretch xmlns:a="http://schemas.openxmlformats.org/drawingml/2006/main"/>
        </p:blipFill>
        <p:spPr>
          <a:xfrm xmlns:a="http://schemas.openxmlformats.org/drawingml/2006/main">
            <a:off x="7943850" y="9667875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83" name="QR caption">
            <a:extLst xmlns:a="http://schemas.openxmlformats.org/drawingml/2006/main">
              <a:ext uri="{FF2B5EF4-FFF2-40B4-BE49-F238E27FC236}">
                <a16:creationId xmlns:a16="http://schemas.microsoft.com/office/drawing/2014/main" id="{812CC66B-4506-4763-ADCC-5F69F0DD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11239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3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2342"/>
                </a:solidFill>
                <a:latin typeface="Arial"/>
                <a:ea typeface="Arial"/>
                <a:cs typeface="Arial"/>
              </a:rPr>
              <a:t>Scan to WhatsApp</a:t>
            </a:r>
          </a:p>
        </p:txBody>
      </p:sp>
      <p:sp>
        <p:nvSpPr>
          <p:cNvPr id="84" name="Footer slogan 1">
            <a:extLst xmlns:a="http://schemas.openxmlformats.org/drawingml/2006/main">
              <a:ext uri="{FF2B5EF4-FFF2-40B4-BE49-F238E27FC236}">
                <a16:creationId xmlns:a16="http://schemas.microsoft.com/office/drawing/2014/main" id="{D68CF6BD-B77D-4872-A3D0-47B2D7D4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438150" y="114871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3525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Skills today.</a:t>
            </a:r>
          </a:p>
        </p:txBody>
      </p:sp>
      <p:sp>
        <p:nvSpPr>
          <p:cNvPr id="85" name="Footer slogan 2">
            <a:extLst xmlns:a="http://schemas.openxmlformats.org/drawingml/2006/main">
              <a:ext uri="{FF2B5EF4-FFF2-40B4-BE49-F238E27FC236}">
                <a16:creationId xmlns:a16="http://schemas.microsoft.com/office/drawing/2014/main" id="{408C1CE3-A2FE-4D36-B5ED-4E5D4FB9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466725" y="11915775"/>
            <a:ext cx="3905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34C5"/>
                </a:solidFill>
                <a:latin typeface="Caveat"/>
                <a:ea typeface="Caveat"/>
                <a:cs typeface="Caveat"/>
              </a:defRPr>
            </a:pPr>
            <a:r>
              <a:rPr sz="2400" b="1">
                <a:solidFill>
                  <a:srgbClr val="0034C5"/>
                </a:solidFill>
                <a:latin typeface="Caveat"/>
                <a:ea typeface="Caveat"/>
                <a:cs typeface="Caveat"/>
              </a:rPr>
              <a:t>Greater opportunities tomorrow.</a:t>
            </a:r>
          </a:p>
        </p:txBody>
      </p:sp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92adb7aa2412e"/>
          <a:stretch xmlns:a="http://schemas.openxmlformats.org/drawingml/2006/main"/>
        </p:blipFill>
        <p:spPr>
          <a:xfrm xmlns:a="http://schemas.openxmlformats.org/drawingml/2006/main">
            <a:off x="381000" y="13133784"/>
            <a:ext cx="704850" cy="564356"/>
          </a:xfrm>
          <a:prstGeom xmlns:a="http://schemas.openxmlformats.org/drawingml/2006/main" prst="rect">
            <a:avLst/>
          </a:prstGeom>
        </p:spPr>
      </p:pic>
      <p:sp>
        <p:nvSpPr>
          <p:cNvPr id="87" name="Audience">
            <a:extLst xmlns:a="http://schemas.openxmlformats.org/drawingml/2006/main">
              <a:ext uri="{FF2B5EF4-FFF2-40B4-BE49-F238E27FC236}">
                <a16:creationId xmlns:a16="http://schemas.microsoft.com/office/drawing/2014/main" id="{6240AEE6-89A8-4C8E-874B-042CD1FD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" y="13239750"/>
            <a:ext cx="28670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For S.4, S.5 &amp; S.6 students,</a:t>
            </a:r>
          </a:p>
          <a:p xmlns:a="http://schemas.openxmlformats.org/drawingml/2006/main">
            <a:pPr algn="l">
              <a:defRPr sz="1725" b="0">
                <a:solidFill>
                  <a:srgbClr val="0034C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34C5"/>
                </a:solidFill>
                <a:latin typeface="Arial"/>
                <a:ea typeface="Arial"/>
                <a:cs typeface="Arial"/>
              </a:rPr>
              <a:t>and school leavers.</a:t>
            </a:r>
          </a:p>
        </p:txBody>
      </p:sp>
      <p:sp>
        <p:nvSpPr>
          <p:cNvPr id="88" name="Book Python">
            <a:extLst xmlns:a="http://schemas.openxmlformats.org/drawingml/2006/main">
              <a:ext uri="{FF2B5EF4-FFF2-40B4-BE49-F238E27FC236}">
                <a16:creationId xmlns:a16="http://schemas.microsoft.com/office/drawing/2014/main" id="{5512E097-DF58-4567-B9B5-F964590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276725" y="11944350"/>
            <a:ext cx="2266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9" name="Book Data Analysis">
            <a:extLst xmlns:a="http://schemas.openxmlformats.org/drawingml/2006/main">
              <a:ext uri="{FF2B5EF4-FFF2-40B4-BE49-F238E27FC236}">
                <a16:creationId xmlns:a16="http://schemas.microsoft.com/office/drawing/2014/main" id="{5B359198-E43E-4ADD-B6AF-1EAB375D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91000" y="123634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Analysis</a:t>
            </a:r>
          </a:p>
        </p:txBody>
      </p:sp>
      <p:sp>
        <p:nvSpPr>
          <p:cNvPr id="90" name="Book Machine Learning">
            <a:extLst xmlns:a="http://schemas.openxmlformats.org/drawingml/2006/main">
              <a:ext uri="{FF2B5EF4-FFF2-40B4-BE49-F238E27FC236}">
                <a16:creationId xmlns:a16="http://schemas.microsoft.com/office/drawing/2014/main" id="{65E06EF5-E3D3-4307-9574-C343FDE4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62425" y="1277302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91" name="Book Future">
            <a:extLst xmlns:a="http://schemas.openxmlformats.org/drawingml/2006/main">
              <a:ext uri="{FF2B5EF4-FFF2-40B4-BE49-F238E27FC236}">
                <a16:creationId xmlns:a16="http://schemas.microsoft.com/office/drawing/2014/main" id="{825CDFE6-49F4-44F2-A42F-AE7CF5B6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171950" y="13239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Brighter Future</a:t>
            </a:r>
          </a:p>
        </p:txBody>
      </p:sp>
      <p:sp>
        <p:nvSpPr>
          <p:cNvPr id="92" name="Mug slogan">
            <a:extLst xmlns:a="http://schemas.openxmlformats.org/drawingml/2006/main">
              <a:ext uri="{FF2B5EF4-FFF2-40B4-BE49-F238E27FC236}">
                <a16:creationId xmlns:a16="http://schemas.microsoft.com/office/drawing/2014/main" id="{42CD355C-67DE-4EA8-A89F-9F59A8D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7715250" y="12487275"/>
            <a:ext cx="104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Good</a:t>
            </a:r>
          </a:p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Data.</a:t>
            </a:r>
          </a:p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Better</a:t>
            </a:r>
          </a:p>
          <a:p xmlns:a="http://schemas.openxmlformats.org/drawingml/2006/main">
            <a:pPr algn="ctr">
              <a:defRPr sz="2100" b="1">
                <a:solidFill>
                  <a:srgbClr val="002342"/>
                </a:solidFill>
                <a:latin typeface="Caveat"/>
                <a:ea typeface="Caveat"/>
                <a:cs typeface="Caveat"/>
              </a:defRPr>
            </a:pPr>
            <a:r>
              <a:rPr sz="2100" b="1">
                <a:solidFill>
                  <a:srgbClr val="002342"/>
                </a:solidFill>
                <a:latin typeface="Caveat"/>
                <a:ea typeface="Caveat"/>
                <a:cs typeface="Caveat"/>
              </a:rPr>
              <a:t>Decisions.</a:t>
            </a:r>
          </a:p>
        </p:txBody>
      </p:sp>
    </p:spTree>
    <p:extLst>
      <p:ext uri="{BB962C8B-B14F-4D97-AF65-F5344CB8AC3E}">
        <p14:creationId xmlns:p14="http://schemas.microsoft.com/office/powerpoint/2010/main" val="1495059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2026-09-28T08:12:30.9800000Z</dcterms:created>
  <dcterms:modified xsi:type="dcterms:W3CDTF">2026-09-28T08:12:30.9800000Z</dcterms:modified>
</coreProperties>
</file>