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79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F2328"/>
                </a:solidFill>
                <a:latin typeface="Cambria"/>
              </a:rPr>
              <a:t>AI and Data Science Professional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9264"/>
            <a:ext cx="69494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B4046"/>
                </a:solidFill>
                <a:latin typeface="Calibri"/>
              </a:rPr>
              <a:t>Twenty-four sessions of two hours. You arrive knowing Excel, and you leave with a model you built, tested and put online.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457200"/>
            <a:ext cx="2325319" cy="1051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Calibri"/>
              </a:rPr>
              <a:t>Bring</a:t>
            </a:r>
          </a:p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laptop with a browser, a free Google account, and one question from your own work that you would like data to answer.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36192"/>
            <a:ext cx="9594799" cy="0"/>
          </a:xfrm>
          <a:prstGeom prst="line">
            <a:avLst/>
          </a:prstGeom>
          <a:ln w="15875">
            <a:solidFill>
              <a:srgbClr val="1F2328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609344"/>
            <a:ext cx="256032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Module and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9344"/>
            <a:ext cx="333756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What 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09344"/>
            <a:ext cx="17830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09344"/>
            <a:ext cx="1456639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What you make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1865376"/>
            <a:ext cx="9594799" cy="0"/>
          </a:xfrm>
          <a:prstGeom prst="line">
            <a:avLst/>
          </a:prstGeom>
          <a:ln w="9525">
            <a:solidFill>
              <a:srgbClr val="C9C5BC"/>
            </a:solidFill>
          </a:ln>
        </p:spPr>
      </p:cxnSp>
      <p:sp>
        <p:nvSpPr>
          <p:cNvPr id="11" name="Module 1"/>
          <p:cNvSpPr txBox="1"/>
          <p:nvPr/>
        </p:nvSpPr>
        <p:spPr>
          <a:xfrm>
            <a:off x="548640" y="1975104"/>
            <a:ext cx="2560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Think with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450592"/>
            <a:ext cx="109728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231343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14399" y="231343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280160" y="231343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1645920" y="231343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984248"/>
            <a:ext cx="333756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Read a table by its grain and keys. Chart data without misleading anyone. Simulate to see how far a sample can be trusted.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984248"/>
            <a:ext cx="17830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Google 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984248"/>
            <a:ext cx="145663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pivot table and two clear charts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2670048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21" name="Module 2"/>
          <p:cNvSpPr txBox="1"/>
          <p:nvPr/>
        </p:nvSpPr>
        <p:spPr>
          <a:xfrm>
            <a:off x="548640" y="2706624"/>
            <a:ext cx="2560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Python for 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182112"/>
            <a:ext cx="146304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548640" y="304495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914399" y="304495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280160" y="304495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7</a:t>
            </a:r>
          </a:p>
        </p:txBody>
      </p:sp>
      <p:sp>
        <p:nvSpPr>
          <p:cNvPr id="26" name="Oval 25"/>
          <p:cNvSpPr/>
          <p:nvPr/>
        </p:nvSpPr>
        <p:spPr>
          <a:xfrm>
            <a:off x="1645920" y="3044952"/>
            <a:ext cx="274320" cy="274320"/>
          </a:xfrm>
          <a:prstGeom prst="ellipse">
            <a:avLst/>
          </a:prstGeom>
          <a:solidFill>
            <a:srgbClr val="B04A2B"/>
          </a:solidFill>
          <a:ln w="15875">
            <a:solidFill>
              <a:srgbClr val="B04A2B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Oval 26"/>
          <p:cNvSpPr/>
          <p:nvPr/>
        </p:nvSpPr>
        <p:spPr>
          <a:xfrm>
            <a:off x="2011680" y="304495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715768"/>
            <a:ext cx="333756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Write your first Python beside the spreadsheet formula it replaces. Load, filter and clean a messy export. Group and join tables.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715768"/>
            <a:ext cx="17830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Google Colab, 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715768"/>
            <a:ext cx="145663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cleaned file that reconciles to a known total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401568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32" name="Module 3"/>
          <p:cNvSpPr txBox="1"/>
          <p:nvPr/>
        </p:nvSpPr>
        <p:spPr>
          <a:xfrm>
            <a:off x="548640" y="3438144"/>
            <a:ext cx="2560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Analyse and explain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3913631"/>
            <a:ext cx="109728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548640" y="377647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10</a:t>
            </a:r>
          </a:p>
        </p:txBody>
      </p:sp>
      <p:sp>
        <p:nvSpPr>
          <p:cNvPr id="35" name="Oval 34"/>
          <p:cNvSpPr/>
          <p:nvPr/>
        </p:nvSpPr>
        <p:spPr>
          <a:xfrm>
            <a:off x="914399" y="377647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11</a:t>
            </a:r>
          </a:p>
        </p:txBody>
      </p:sp>
      <p:sp>
        <p:nvSpPr>
          <p:cNvPr id="36" name="Oval 35"/>
          <p:cNvSpPr/>
          <p:nvPr/>
        </p:nvSpPr>
        <p:spPr>
          <a:xfrm>
            <a:off x="1280160" y="377647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12</a:t>
            </a:r>
          </a:p>
        </p:txBody>
      </p:sp>
      <p:sp>
        <p:nvSpPr>
          <p:cNvPr id="37" name="Oval 36"/>
          <p:cNvSpPr/>
          <p:nvPr/>
        </p:nvSpPr>
        <p:spPr>
          <a:xfrm>
            <a:off x="1645920" y="3776471"/>
            <a:ext cx="274320" cy="274320"/>
          </a:xfrm>
          <a:prstGeom prst="ellipse">
            <a:avLst/>
          </a:prstGeom>
          <a:solidFill>
            <a:srgbClr val="B04A2B"/>
          </a:solidFill>
          <a:ln w="15875">
            <a:solidFill>
              <a:srgbClr val="B04A2B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447287"/>
            <a:ext cx="333756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Query a database with SQL. Explore a new dataset in one sitting. Test whether a difference is real and fit a regression line.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447287"/>
            <a:ext cx="17830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SQLite, matplotlib, statsmodels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447287"/>
            <a:ext cx="145663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one-page analysis report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4133087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42" name="Module 4"/>
          <p:cNvSpPr txBox="1"/>
          <p:nvPr/>
        </p:nvSpPr>
        <p:spPr>
          <a:xfrm>
            <a:off x="548640" y="4169663"/>
            <a:ext cx="2560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Machine learning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" y="4645152"/>
            <a:ext cx="182880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548640" y="45079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14</a:t>
            </a:r>
          </a:p>
        </p:txBody>
      </p:sp>
      <p:sp>
        <p:nvSpPr>
          <p:cNvPr id="45" name="Oval 44"/>
          <p:cNvSpPr/>
          <p:nvPr/>
        </p:nvSpPr>
        <p:spPr>
          <a:xfrm>
            <a:off x="914399" y="45079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15</a:t>
            </a:r>
          </a:p>
        </p:txBody>
      </p:sp>
      <p:sp>
        <p:nvSpPr>
          <p:cNvPr id="46" name="Oval 45"/>
          <p:cNvSpPr/>
          <p:nvPr/>
        </p:nvSpPr>
        <p:spPr>
          <a:xfrm>
            <a:off x="1280160" y="45079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16</a:t>
            </a:r>
          </a:p>
        </p:txBody>
      </p:sp>
      <p:sp>
        <p:nvSpPr>
          <p:cNvPr id="47" name="Oval 46"/>
          <p:cNvSpPr/>
          <p:nvPr/>
        </p:nvSpPr>
        <p:spPr>
          <a:xfrm>
            <a:off x="1645920" y="45079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17</a:t>
            </a:r>
          </a:p>
        </p:txBody>
      </p:sp>
      <p:sp>
        <p:nvSpPr>
          <p:cNvPr id="48" name="Oval 47"/>
          <p:cNvSpPr/>
          <p:nvPr/>
        </p:nvSpPr>
        <p:spPr>
          <a:xfrm>
            <a:off x="2011680" y="45079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18</a:t>
            </a:r>
          </a:p>
        </p:txBody>
      </p:sp>
      <p:sp>
        <p:nvSpPr>
          <p:cNvPr id="49" name="Oval 48"/>
          <p:cNvSpPr/>
          <p:nvPr/>
        </p:nvSpPr>
        <p:spPr>
          <a:xfrm>
            <a:off x="2377440" y="4507992"/>
            <a:ext cx="274320" cy="274320"/>
          </a:xfrm>
          <a:prstGeom prst="ellipse">
            <a:avLst/>
          </a:prstGeom>
          <a:solidFill>
            <a:srgbClr val="B04A2B"/>
          </a:solidFill>
          <a:ln w="15875">
            <a:solidFill>
              <a:srgbClr val="B04A2B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4178807"/>
            <a:ext cx="333756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Split data, fit a model and beat a baseline. Judge it with a confusion matrix and catch leakage. Segment customers, forecast visits.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178807"/>
            <a:ext cx="17830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scikit-learn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178807"/>
            <a:ext cx="145663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tested model with its baseline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4864607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54" name="Module 5"/>
          <p:cNvSpPr txBox="1"/>
          <p:nvPr/>
        </p:nvSpPr>
        <p:spPr>
          <a:xfrm>
            <a:off x="548640" y="4901183"/>
            <a:ext cx="2560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Neural networks and text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5376671"/>
            <a:ext cx="73152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548640" y="523951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20</a:t>
            </a:r>
          </a:p>
        </p:txBody>
      </p:sp>
      <p:sp>
        <p:nvSpPr>
          <p:cNvPr id="57" name="Oval 56"/>
          <p:cNvSpPr/>
          <p:nvPr/>
        </p:nvSpPr>
        <p:spPr>
          <a:xfrm>
            <a:off x="914399" y="523951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21</a:t>
            </a:r>
          </a:p>
        </p:txBody>
      </p:sp>
      <p:sp>
        <p:nvSpPr>
          <p:cNvPr id="58" name="Oval 57"/>
          <p:cNvSpPr/>
          <p:nvPr/>
        </p:nvSpPr>
        <p:spPr>
          <a:xfrm>
            <a:off x="1280160" y="523951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4910327"/>
            <a:ext cx="333756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Watch a neural network learn in your browser. Turn text into numbers and search by meaning. Test a document search.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4910327"/>
            <a:ext cx="17830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TensorFlow Playground, sentence-transformers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910327"/>
            <a:ext cx="145663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test sheet that scores the search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48640" y="5596127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63" name="Module 6"/>
          <p:cNvSpPr txBox="1"/>
          <p:nvPr/>
        </p:nvSpPr>
        <p:spPr>
          <a:xfrm>
            <a:off x="548640" y="5632703"/>
            <a:ext cx="2560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Ship it and present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85800" y="6108192"/>
            <a:ext cx="36576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548640" y="597103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23</a:t>
            </a:r>
          </a:p>
        </p:txBody>
      </p:sp>
      <p:sp>
        <p:nvSpPr>
          <p:cNvPr id="66" name="Oval 65"/>
          <p:cNvSpPr/>
          <p:nvPr/>
        </p:nvSpPr>
        <p:spPr>
          <a:xfrm>
            <a:off x="914399" y="5971031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24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0" y="5641847"/>
            <a:ext cx="333756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Save a model and publish a small app. Check it for fairness and data protection. Present your capstone in ten minutes.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5641847"/>
            <a:ext cx="178308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GitHub, Streamlit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5641847"/>
            <a:ext cx="1456639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Your app and a ten-minute talk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48640" y="6327647"/>
            <a:ext cx="9594799" cy="0"/>
          </a:xfrm>
          <a:prstGeom prst="line">
            <a:avLst/>
          </a:prstGeom>
          <a:ln w="15875">
            <a:solidFill>
              <a:srgbClr val="1F2328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548640" y="6437375"/>
            <a:ext cx="201168" cy="201168"/>
          </a:xfrm>
          <a:prstGeom prst="ellipse">
            <a:avLst/>
          </a:prstGeom>
          <a:solidFill>
            <a:srgbClr val="B04A2B"/>
          </a:solidFill>
          <a:ln w="15875">
            <a:solidFill>
              <a:srgbClr val="B04A2B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7" y="6419087"/>
            <a:ext cx="420624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B4046"/>
                </a:solidFill>
                <a:latin typeface="Calibri"/>
              </a:rPr>
              <a:t>Checkpoint sessions: 8, 13 and 19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693407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Calibri"/>
              </a:rPr>
              <a:t>Capstone. </a:t>
            </a:r>
            <a:r>
              <a:rPr sz="1250" b="0" i="0">
                <a:solidFill>
                  <a:srgbClr val="3B4046"/>
                </a:solidFill>
                <a:latin typeface="Calibri"/>
              </a:rPr>
              <a:t>Question in session 13, dataset in 14, tested model in 19, app in 23, ten-minute talk in 24.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6419087"/>
            <a:ext cx="465703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Calibri"/>
              </a:rPr>
              <a:t>Every session. </a:t>
            </a:r>
            <a:r>
              <a:rPr sz="1250" b="0" i="0">
                <a:solidFill>
                  <a:srgbClr val="3B4046"/>
                </a:solidFill>
                <a:latin typeface="Calibri"/>
              </a:rPr>
              <a:t>Recall 10 minutes, learn 30, see it done live 25, break 5, lab 40, check 10.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6949439"/>
            <a:ext cx="465703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Calibri"/>
              </a:rPr>
              <a:t>Everything is free. </a:t>
            </a:r>
            <a:r>
              <a:rPr sz="1250" b="0" i="0">
                <a:solidFill>
                  <a:srgbClr val="3B4046"/>
                </a:solidFill>
                <a:latin typeface="Calibri"/>
              </a:rPr>
              <a:t>No paid tool, key or graphics card. Windows or Mac, in a browser. All course data is fictional.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7258507"/>
            <a:ext cx="731520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KLAi Professional Learning. Tutor: Jotham Martin Wambi.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