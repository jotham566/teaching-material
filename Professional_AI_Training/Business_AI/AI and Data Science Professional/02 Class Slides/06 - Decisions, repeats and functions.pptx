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code has run straight down the page so far. Today it learns to decide and to repeat. By the end you'll have written a function that turns a customer's spending into a Lakeside Mart loyalty tier, tested it on the awkward values, and used it on a list of customers. Spreadsheets already do all of this. It's IF, fill down, and a formula you give a name. We'll write each one in Python beside the spreadsheet version.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write an if with its elif and else, a for loop, and a function with a name of your own. Then you'll test that function with answers you worked out by hand, including values that sit exactly on a boundary. We build one rule live, the tier table from the Lakeside Mart loyalty policy. In the lab you turn that rule into a function, run it over six customers' totals, and end by finding the fault in a colleague's version.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today, each beside its spreadsheet cousin. A condition is the test inside an IF. A loop is fill down, written as code. A function is a formula you name yourself. An argument is the value you feed into it, and a return value is the answer it gives back. An edge case is a value sitting exactly on a boundary, like two million shillings in our loyalty rules. You've used these ideas for years. Today you learn the Python spelling.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5 first. An error message ends with the line NameError, name price is not defined. Which line of an error do you read first, and what does it tell you? Take a second.</a:t>
            </a:r>
          </a:p>
          <a:p/>
          <a:p>
            <a:r>
              <a:t>You read the last line first. Here it says Python has nothing stored under the name price. Either there's a spelling slip, or the cell that creates price hasn't been run yet.</a:t>
            </a:r>
          </a:p>
          <a:p/>
          <a:p>
            <a:r>
              <a:t>Second. A list and a dictionary both hold several values. How do you find one value in each? Pause on that.</a:t>
            </a:r>
          </a:p>
          <a:p/>
          <a:p>
            <a:r>
              <a:t>In a list you use the position, counting from zero. In a dictionary you use the label, which Python calls the key. Today a list carries customer spending, and in the lab a dictionary holds the orders of each customer.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rule we'll code today. It comes from the Lakeside Mart loyalty programme policy, and it's the rule the programme itself states.</a:t>
            </a:r>
          </a:p>
          <a:p/>
          <a:p>
            <a:r>
              <a:t>Every customer who gives a phone number joins as Basic. They earn one point for every thousand shillings they spend. Silver starts at two thousand points in twelve months, and Gold starts at six thousand points.</a:t>
            </a:r>
          </a:p>
          <a:p/>
          <a:p>
            <a:r>
              <a:t>The last column turns points into shillings. Two thousand points is two million shillings spent. Six thousand points is six million. Keep those two numbers in your head. They're the boundaries we'll test, and one shilling either side of each is where a function most often goes wrong.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already make decisions in a spreadsheet. It's the IF function. Here it is on the left, with the Python version on the right.</a:t>
            </a:r>
          </a:p>
          <a:p/>
          <a:p>
            <a:r>
              <a:t>The Excel formula has three parts. A test, the answer if the test is true, and the answer if it's false. We'll call the test a condition. Here the condition asks whether the points are two thousand or more.</a:t>
            </a:r>
          </a:p>
          <a:p/>
          <a:p>
            <a:r>
              <a:t>Python writes the same thing as if, then the condition, then a colon. The answer goes on the next line, pushed in a few spaces. That push is called the indent, and it tells Python which lines belong to the if.</a:t>
            </a:r>
          </a:p>
          <a:p/>
          <a:p>
            <a:r>
              <a:t>A third tier is where Excel gets untidy, with one IF inside another. Python adds a line that starts with elif, short for else if, and the code stays flat and easy to read.</a:t>
            </a:r>
          </a:p>
          <a:p/>
          <a:p>
            <a:r>
              <a:t>Same decision, written one branch to a line. You'll read it more easily after a long day than a nest of brackets.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watch it run. We store a points value, then decide a tier.</a:t>
            </a:r>
          </a:p>
          <a:p/>
          <a:p>
            <a:r>
              <a:t>Python reads the tests from the top and takes the first one that's true. Two thousand four hundred and fifty points isn't six thousand or more, so Gold is skipped.</a:t>
            </a:r>
          </a:p>
          <a:p/>
          <a:p>
            <a:r>
              <a:t>The elif asks a second question, but only because the first answer was false. This one is true, so the tier becomes Silver and Python jumps past the rest.</a:t>
            </a:r>
          </a:p>
          <a:p/>
          <a:p>
            <a:r>
              <a:t>The else catches everyone left over. Notice the indent again. Every line pushed in belongs to the line above it. The print at the bottom sits at the left edge, so it runs once, whichever branch was taken.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Repeating comes next. In a spreadsheet you write a formula once, then drag it down the column. That's fill down, and it's the picture on the left.</a:t>
            </a:r>
          </a:p>
          <a:p/>
          <a:p>
            <a:r>
              <a:t>The boxes on the left each hold a copy of the formula, one per row, with the row number moving along.</a:t>
            </a:r>
          </a:p>
          <a:p/>
          <a:p>
            <a:r>
              <a:t>On the right is the Python version. A for loop says, for each row in the list, do this step. The step is written once.</a:t>
            </a:r>
          </a:p>
          <a:p/>
          <a:p>
            <a:r>
              <a:t>So fill down becomes write it once and let Python repeat it. The list could hold five items or five thousand. The code doesn't change, and that's why we never copy a formula down five thousand rows by hand.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loop on actual numbers. These five are the 2025 spending totals of five Lakeside Mart customers from the orders file, in shillings.</a:t>
            </a:r>
          </a:p>
          <a:p/>
          <a:p>
            <a:r>
              <a:t>The first line makes a list. The for line takes one item at a time out of the list and calls it spend. Say it as: for each spend in spends.</a:t>
            </a:r>
          </a:p>
          <a:p/>
          <a:p>
            <a:r>
              <a:t>Everything pushed in under the for line runs once for each item. Here that's two lines. We work out the points, and then we print a sentence.</a:t>
            </a:r>
          </a:p>
          <a:p/>
          <a:p>
            <a:r>
              <a:t>The double slash is division that drops the leftover. Forty six thousand six hundred and sixty shillings divided by a thousand is forty six point six, and the double slash keeps the forty six. That matches the policy, which gives a point for each full thousand.</a:t>
            </a:r>
          </a:p>
          <a:p/>
          <a:p>
            <a:r>
              <a:t>Five lines of output from four lines of code. Dragging a formula down would give the same, and you'd redo it on tomorrow's list. Here you rerun the cell.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Spreadsheets also add things up. SUM walks down a column. A loop can do the same, and it's the pattern behind a great deal of code.</a:t>
            </a:r>
          </a:p>
          <a:p/>
          <a:p>
            <a:r>
              <a:t>These are the three 2025 orders of one customer. First we make a running total and set it to zero, like an empty cell.</a:t>
            </a:r>
          </a:p>
          <a:p/>
          <a:p>
            <a:r>
              <a:t>Each pass of the loop adds one order to the total. After the first pass it holds two million two hundred and eighty nine thousand six hundred. After the third it holds the full amount.</a:t>
            </a:r>
          </a:p>
          <a:p/>
          <a:p>
            <a:r>
              <a:t>The print sits at the left edge, outside the loop, so it runs once at the end. The answer is two million three hundred and eighty eight thousand eight hundred and fifty shillings. That's already over the Silver line.</a:t>
            </a:r>
          </a:p>
          <a:p/>
          <a:p>
            <a:r>
              <a:t>Python also has a ready made sum function, and you're free to use it. Writing the loop once shows you what's happening inside.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word is function.</a:t>
            </a:r>
          </a:p>
          <a:p/>
          <a:p>
            <a:r>
              <a:t>In plain words, it's a named set of steps. You hand it a value, it follows the steps, and it hands one answer back.</a:t>
            </a:r>
          </a:p>
          <a:p/>
          <a:p>
            <a:r>
              <a:t>In our work, loyalty tier is the name. Hand it a customer's spending, and it hands back Silver.</a:t>
            </a:r>
          </a:p>
          <a:p/>
          <a:p>
            <a:r>
              <a:t>You already use named formulas. SUM and IF are functions that someone else wrote. Today you write one of your own. It's like making a formula called TIER that you can use on every row.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steps to write a function, and the lab follows them.</a:t>
            </a:r>
          </a:p>
          <a:p/>
          <a:p>
            <a:r>
              <a:t>First, the word def, then the name you choose. Pick a name that says what the function does, such as loyalty tier.</a:t>
            </a:r>
          </a:p>
          <a:p/>
          <a:p>
            <a:r>
              <a:t>Second, the argument. That's the name in brackets after the function name. An argument is the value you feed in. In a spreadsheet formula it's the cell you point at.</a:t>
            </a:r>
          </a:p>
          <a:p/>
          <a:p>
            <a:r>
              <a:t>Third, the body. These are the steps, pushed in with the indent. Everything in the indent belongs to the function.</a:t>
            </a:r>
          </a:p>
          <a:p/>
          <a:p>
            <a:r>
              <a:t>Fourth, return. This sends the answer back to whoever called the function. A function that only prints shows the answer but can't hand it to the next step.</a:t>
            </a:r>
          </a:p>
          <a:p/>
          <a:p>
            <a:r>
              <a:t>Fifth, you call it. Write the name with a value in brackets, and the answer comes back.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loyalty tier function, written from the policy.</a:t>
            </a:r>
          </a:p>
          <a:p/>
          <a:p>
            <a:r>
              <a:t>The def line gives the name and one argument, spend_ugx. That's a placeholder. It stands for whatever value we pass in later. Inside, the first step turns shillings into points.</a:t>
            </a:r>
          </a:p>
          <a:p/>
          <a:p>
            <a:r>
              <a:t>Then the tests, largest first. Two thousand points is the line for Silver, six thousand for Gold. Each branch uses return, which sends the answer back and ends the function.</a:t>
            </a:r>
          </a:p>
          <a:p/>
          <a:p>
            <a:r>
              <a:t>Now we call it. We write the name and give it a value in brackets. Two million three hundred and eighty eight thousand eight hundred and fifty shillings comes back as Silver. Forty six thousand six hundred and sixty comes back as Basic.</a:t>
            </a:r>
          </a:p>
          <a:p/>
          <a:p>
            <a:r>
              <a:t>The function only runs when we call it. Defining it is like writing a formula and not yet putting it in a cell.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word that matters most in testing is edge case.</a:t>
            </a:r>
          </a:p>
          <a:p/>
          <a:p>
            <a:r>
              <a:t>It's a value sitting exactly on a boundary, where the rule changes. In our policy, the boundary for Silver is two million shillings.</a:t>
            </a:r>
          </a:p>
          <a:p/>
          <a:p>
            <a:r>
              <a:t>Which two spends, one shilling apart, give two different tiers? Sit with it for a second.</a:t>
            </a:r>
          </a:p>
          <a:p/>
          <a:p>
            <a:r>
              <a:t>One million nine hundred and ninety nine thousand nine hundred and ninety nine shillings is Basic. Two million shillings is Silver. One shilling apart, two different tiers. Gold has the same pair at six million.</a:t>
            </a:r>
          </a:p>
          <a:p/>
          <a:p>
            <a:r>
              <a:t>In a spreadsheet it's the cell where an IF flips. When you build an IF you try it right on the flip point. A function deserves the same treatment.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means running the function on cases where you already know the answer. You work out the answers by hand first, from the policy, and only then run the code.</a:t>
            </a:r>
          </a:p>
          <a:p/>
          <a:p>
            <a:r>
              <a:t>Each test is a pair, with the spend and the tier it should give. Here are five. Zero spend, then the values beside the two boundaries.</a:t>
            </a:r>
          </a:p>
          <a:p/>
          <a:p>
            <a:r>
              <a:t>The loop takes one pair at a time. The for line names both parts, spend and expected, and Python fills them in from each pair. We call the function and keep what came back as got.</a:t>
            </a:r>
          </a:p>
          <a:p/>
          <a:p>
            <a:r>
              <a:t>Then an if compares got with expected. If they match, we print ok. Otherwise we print the word wrong, and the answer we expected. All five say ok, so the function agrees with the policy at every boundary.</a:t>
            </a:r>
          </a:p>
          <a:p/>
          <a:p>
            <a:r>
              <a:t>This list is worth keeping. You can rerun it any time you touch the function.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one runs without a single error.</a:t>
            </a:r>
          </a:p>
          <a:p/>
          <a:p>
            <a:r>
              <a:t>You write the Silver test with a greater than sign, where the policy needs greater than or equal to. You try forty six thousand shillings. You try two million three hundred thousand. Everything is right, and the function looks finished.</a:t>
            </a:r>
          </a:p>
          <a:p/>
          <a:p>
            <a:r>
              <a:t>But the policy says Silver starts at two thousand points. A customer with exactly two thousand points has earned it, and the greater than test sends that customer to Basic. Typical values almost never land on the boundary, so nothing warns you. A customer finds out at the till.</a:t>
            </a:r>
          </a:p>
          <a:p/>
          <a:p>
            <a:r>
              <a:t>To catch it, test the shilling before and the shilling on each boundary, with answers taken from the policy and never from the function itself.</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meet this error when data comes from a spreadsheet. The value arrives as text, with commas in it, because someone typed it as 2,388,850.</a:t>
            </a:r>
          </a:p>
          <a:p/>
          <a:p>
            <a:r>
              <a:t>We pass that text into the function, and Python stops. Read the last line first, as we did in Session 5. It says unsupported operand types for the double slash, str and int. In plain words, you can't divide text by a number.</a:t>
            </a:r>
          </a:p>
          <a:p/>
          <a:p>
            <a:r>
              <a:t>The fix is to turn the text into a number before it goes in. Remove the commas, then use int. Your function was fine. The data had the wrong type.</a:t>
            </a:r>
          </a:p>
          <a:p/>
          <a:p>
            <a:r>
              <a:t>When a good function fails, look at what you fed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Sooner or later you'll read code someone else wrote. A colleague's notebook, a tutorial, something an assistant produced. Reading code is a skill of its own, and three questions get you through most of it.</a:t>
            </a:r>
          </a:p>
          <a:p/>
          <a:p>
            <a:r>
              <a:t>First, what goes in? Look at the def line. The names in brackets are the inputs.</a:t>
            </a:r>
          </a:p>
          <a:p/>
          <a:p>
            <a:r>
              <a:t>Second, what comes out? Find every return. Each one is a possible answer, so count them.</a:t>
            </a:r>
          </a:p>
          <a:p/>
          <a:p>
            <a:r>
              <a:t>Third, try one example by hand. Pick a value and follow it down the lines, the way Trace Precedents follows a cell in Excel. Write down what each line does to it. You don't need to understand every symbol to do that.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use the three questions on a colleague's function. It's meant to do the same job as ours.</a:t>
            </a:r>
          </a:p>
          <a:p/>
          <a:p>
            <a:r>
              <a:t>What goes in? One argument, the spend in shillings. What comes out? Three possible answers, Silver, Gold and Basic, so it looks complete.</a:t>
            </a:r>
          </a:p>
          <a:p/>
          <a:p>
            <a:r>
              <a:t>Now trace one value. Seven million five hundred thousand shillings is seven thousand five hundred points. That passes the first test, because it's above two thousand, so Silver comes back at once. Python never reaches the Gold line.</a:t>
            </a:r>
          </a:p>
          <a:p/>
          <a:p>
            <a:r>
              <a:t>The Gold branch can never run. A customer who has spent seven and a half million is told Silver. The function ran without an error and gave a wrong answer. Put the largest threshold first, as ours does.</a:t>
            </a:r>
          </a:p>
          <a:p/>
          <a:p>
            <a:r>
              <a:t>Tracing took a minute. A test on six million would have caught it too.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last skill, and it's optional. You can ask a free chat assistant to review your function. Some of you already do. Here's a routine that keeps you in charge.</a:t>
            </a:r>
          </a:p>
          <a:p/>
          <a:p>
            <a:r>
              <a:t>First, paste only the function. Leave out customer names, phone numbers and any customer records. The Data Protection and Privacy Act of 2019 covers personal data, and a chat window is the wrong place for it.</a:t>
            </a:r>
          </a:p>
          <a:p/>
          <a:p>
            <a:r>
              <a:t>Second, ask a specific question, such as what could go wrong at the boundaries.</a:t>
            </a:r>
          </a:p>
          <a:p/>
          <a:p>
            <a:r>
              <a:t>Third, read the reply with care. It might be right, partly right, or confidently wrong, and it sounds the same in every case.</a:t>
            </a:r>
          </a:p>
          <a:p/>
          <a:p>
            <a:r>
              <a:t>Fourth, run your own edge tests on any change it suggests.</a:t>
            </a:r>
          </a:p>
          <a:p/>
          <a:p>
            <a:r>
              <a:t>Fifth, decide. Keep a change only if every test still passes.</a:t>
            </a:r>
          </a:p>
          <a:p/>
          <a:p>
            <a:r>
              <a:t>If you don't use an assistant, nothing in this course needs one.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lab is forty minutes in Google Colab, and the first task is to write loyalty_tier from the policy table.</a:t>
            </a:r>
          </a:p>
          <a:p/>
          <a:p>
            <a:r>
              <a:t>Open the Session 6 notebook and run the setup cell. Then work down the notebook. Each task has a starter with a blank for you, then a check cell that tells you whether you've got it.</a:t>
            </a:r>
          </a:p>
          <a:p/>
          <a:p>
            <a:r>
              <a:t>After the function you test it on the boundary values in a loop. Then you total six customers' orders with another loop, and apply your function to those totals. You'll find the fault in a colleague's function, and finish by building the same rule as a nested IF in Sheets.</a:t>
            </a:r>
          </a:p>
          <a:p/>
          <a:p>
            <a:r>
              <a:t>When an error appears, the last line tells you where to look. Call me over if it doesn't. You're done when every check cell says correct.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comes first. Which spend values do you test first on a tier function, and why? Take your time.</a:t>
            </a:r>
          </a:p>
          <a:p/>
          <a:p>
            <a:r>
              <a:t>Values on each boundary, and one shilling either side. That's where a wrong sign hides, and typical values will never show it.</a:t>
            </a:r>
          </a:p>
          <a:p/>
          <a:p>
            <a:r>
              <a:t>Next, the two new tools. What does a for loop replace in a spreadsheet, and what does a function replace? No rush.</a:t>
            </a:r>
          </a:p>
          <a:p/>
          <a:p>
            <a:r>
              <a:t>A loop replaces dragging a formula down the column. A function replaces a formula that you name once and use again and again.</a:t>
            </a:r>
          </a:p>
          <a:p/>
          <a:p>
            <a:r>
              <a:t>Last, outside advice. An assistant suggests a change to your function. What decides whether you keep it? Work it out.</a:t>
            </a:r>
          </a:p>
          <a:p/>
          <a:p>
            <a:r>
              <a:t>Your tests. Rerun the edge cases, and keep the change only if every one still passes.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elif and else are IF. A for loop is fill down. A function is a formula you give a name. You knew all of this from the spreadsheet already.</a:t>
            </a:r>
          </a:p>
          <a:p/>
          <a:p>
            <a:r>
              <a:t>Test every function on answers you worked out by hand, and include the values sitting on each boundary. One shilling can change a tier.</a:t>
            </a:r>
          </a:p>
          <a:p/>
          <a:p>
            <a:r>
              <a:t>Read code with three questions. What goes in, what comes out, and what happens to one example. If an assistant offers advice, let your tests judge it.</a:t>
            </a:r>
          </a:p>
          <a:p/>
          <a:p>
            <a:r>
              <a:t>Next session is pandas, a table library that applies a calculation to a whole column at once and opens a file of thirty thousand rows in one line. Your loyalty tier function will come in useful there.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6   Decisions, repeats and functions</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06</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6 of 24</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Decisions, repeats and functions</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How do we make Python repeat and decide so we never copy a formula down 5,000 rows?</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Decisions, repeats and functions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Write an if and a for.</a:t>
            </a:r>
          </a:p>
        </p:txBody>
      </p:sp>
      <p:cxnSp>
        <p:nvCxnSpPr>
          <p:cNvPr id="7" name="Connector 6"/>
          <p:cNvCxnSpPr/>
          <p:nvPr/>
        </p:nvCxnSpPr>
        <p:spPr>
          <a:xfrm>
            <a:off x="685800" y="2309774"/>
            <a:ext cx="5394960" cy="0"/>
          </a:xfrm>
          <a:prstGeom prst="line">
            <a:avLst/>
          </a:prstGeom>
          <a:ln w="6350">
            <a:solidFill>
              <a:srgbClr val="C9C5BC"/>
            </a:solidFill>
          </a:ln>
        </p:spPr>
      </p:cxnSp>
      <p:sp>
        <p:nvSpPr>
          <p:cNvPr id="8" name="TextBox 7"/>
          <p:cNvSpPr txBox="1"/>
          <p:nvPr/>
        </p:nvSpPr>
        <p:spPr>
          <a:xfrm>
            <a:off x="685800" y="247436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Wrap steps in a function.</a:t>
            </a:r>
          </a:p>
        </p:txBody>
      </p:sp>
      <p:cxnSp>
        <p:nvCxnSpPr>
          <p:cNvPr id="9" name="Connector 8"/>
          <p:cNvCxnSpPr/>
          <p:nvPr/>
        </p:nvCxnSpPr>
        <p:spPr>
          <a:xfrm>
            <a:off x="685800" y="2982772"/>
            <a:ext cx="5394960" cy="0"/>
          </a:xfrm>
          <a:prstGeom prst="line">
            <a:avLst/>
          </a:prstGeom>
          <a:ln w="6350">
            <a:solidFill>
              <a:srgbClr val="C9C5BC"/>
            </a:solidFill>
          </a:ln>
        </p:spPr>
      </p:cxnSp>
      <p:sp>
        <p:nvSpPr>
          <p:cNvPr id="10" name="TextBox 9"/>
          <p:cNvSpPr txBox="1"/>
          <p:nvPr/>
        </p:nvSpPr>
        <p:spPr>
          <a:xfrm>
            <a:off x="685800" y="3147364"/>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Test a function with three cases.</a:t>
            </a:r>
          </a:p>
        </p:txBody>
      </p:sp>
      <p:cxnSp>
        <p:nvCxnSpPr>
          <p:cNvPr id="11" name="Connector 10"/>
          <p:cNvCxnSpPr/>
          <p:nvPr/>
        </p:nvCxnSpPr>
        <p:spPr>
          <a:xfrm>
            <a:off x="685800" y="3655771"/>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Recall and warm-up</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Concepts and explanation</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Guided lab</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Check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Decisions, repeats and functions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9"/>
        </p:xfrm>
        <a:graphic>
          <a:graphicData uri="http://schemas.openxmlformats.org/drawingml/2006/table">
            <a:tbl>
              <a:tblPr firstRow="0" bandRow="0">
                <a:tableStyleId>{2D5ABB26-0587-4C30-8999-92F81FD0307C}</a:tableStyleId>
              </a:tblPr>
              <a:tblGrid>
                <a:gridCol w="2164019"/>
                <a:gridCol w="5410047"/>
                <a:gridCol w="3246028"/>
              </a:tblGrid>
              <a:tr h="503181">
                <a:tc>
                  <a:txBody>
                    <a:bodyPr wrap="square"/>
                    <a:lstStyle/>
                    <a:p>
                      <a:r>
                        <a:rPr sz="180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80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800" b="1" i="0">
                          <a:solidFill>
                            <a:srgbClr val="1F2328"/>
                          </a:solidFill>
                          <a:latin typeface="Calibri"/>
                        </a:rPr>
                        <a:t>In a spreadsheet</a:t>
                      </a:r>
                    </a:p>
                  </a:txBody>
                  <a:tcPr marL="137160" marR="91440" marT="64008" marB="64008" anchor="ctr">
                    <a:lnL w="0">
                      <a:noFill/>
                    </a:lnL>
                    <a:lnR w="0">
                      <a:noFill/>
                    </a:lnR>
                    <a:lnT w="0">
                      <a:noFill/>
                    </a:lnT>
                    <a:lnB w="15875">
                      <a:solidFill>
                        <a:srgbClr val="1F2328"/>
                      </a:solidFill>
                    </a:lnB>
                    <a:noFill/>
                  </a:tcPr>
                </a:tc>
              </a:tr>
              <a:tr h="788474">
                <a:tc>
                  <a:txBody>
                    <a:bodyPr wrap="square"/>
                    <a:lstStyle/>
                    <a:p>
                      <a:r>
                        <a:rPr sz="1800" b="1" i="0">
                          <a:solidFill>
                            <a:srgbClr val="1F2328"/>
                          </a:solidFill>
                          <a:latin typeface="Calibri"/>
                        </a:rPr>
                        <a:t>Condition</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A test that is either True or False, such as points &gt;= 2000.</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The test inside IF()</a:t>
                      </a:r>
                    </a:p>
                  </a:txBody>
                  <a:tcPr marL="137160" marR="91440" marT="64008" marB="64008" anchor="ctr">
                    <a:lnL w="0">
                      <a:noFill/>
                    </a:lnL>
                    <a:lnR w="0">
                      <a:noFill/>
                    </a:lnR>
                    <a:lnT w="0">
                      <a:noFill/>
                    </a:lnT>
                    <a:lnB w="6350">
                      <a:solidFill>
                        <a:srgbClr val="C9C5BC"/>
                      </a:solidFill>
                    </a:lnB>
                    <a:noFill/>
                  </a:tcPr>
                </a:tc>
              </a:tr>
              <a:tr h="788474">
                <a:tc>
                  <a:txBody>
                    <a:bodyPr wrap="square"/>
                    <a:lstStyle/>
                    <a:p>
                      <a:r>
                        <a:rPr sz="1800" b="1" i="0">
                          <a:solidFill>
                            <a:srgbClr val="1F2328"/>
                          </a:solidFill>
                          <a:latin typeface="Calibri"/>
                        </a:rPr>
                        <a:t>Loop</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Code that repeats the same steps for each item in a list.</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Dragging a formula down a column</a:t>
                      </a:r>
                    </a:p>
                  </a:txBody>
                  <a:tcPr marL="137160" marR="91440" marT="64008" marB="64008" anchor="ctr">
                    <a:lnL w="0">
                      <a:noFill/>
                    </a:lnL>
                    <a:lnR w="0">
                      <a:noFill/>
                    </a:lnR>
                    <a:lnT w="0">
                      <a:noFill/>
                    </a:lnT>
                    <a:lnB w="6350">
                      <a:solidFill>
                        <a:srgbClr val="C9C5BC"/>
                      </a:solidFill>
                    </a:lnB>
                    <a:noFill/>
                  </a:tcPr>
                </a:tc>
              </a:tr>
              <a:tr h="788474">
                <a:tc>
                  <a:txBody>
                    <a:bodyPr wrap="square"/>
                    <a:lstStyle/>
                    <a:p>
                      <a:r>
                        <a:rPr sz="1800" b="1" i="0">
                          <a:solidFill>
                            <a:srgbClr val="1F2328"/>
                          </a:solidFill>
                          <a:latin typeface="Calibri"/>
                        </a:rPr>
                        <a:t>Function</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A named set of steps that takes values in and gives one answer back.</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A formula you name yourself</a:t>
                      </a:r>
                    </a:p>
                  </a:txBody>
                  <a:tcPr marL="137160" marR="91440" marT="64008" marB="64008" anchor="ctr">
                    <a:lnL w="0">
                      <a:noFill/>
                    </a:lnL>
                    <a:lnR w="0">
                      <a:noFill/>
                    </a:lnR>
                    <a:lnT w="0">
                      <a:noFill/>
                    </a:lnT>
                    <a:lnB w="6350">
                      <a:solidFill>
                        <a:srgbClr val="C9C5BC"/>
                      </a:solidFill>
                    </a:lnB>
                    <a:noFill/>
                  </a:tcPr>
                </a:tc>
              </a:tr>
              <a:tr h="503181">
                <a:tc>
                  <a:txBody>
                    <a:bodyPr wrap="square"/>
                    <a:lstStyle/>
                    <a:p>
                      <a:r>
                        <a:rPr sz="1800" b="1" i="0">
                          <a:solidFill>
                            <a:srgbClr val="1F2328"/>
                          </a:solidFill>
                          <a:latin typeface="Calibri"/>
                        </a:rPr>
                        <a:t>Argument</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The value you hand to a function when you call it.</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The cell a formula points at</a:t>
                      </a:r>
                    </a:p>
                  </a:txBody>
                  <a:tcPr marL="137160" marR="91440" marT="64008" marB="64008" anchor="ctr">
                    <a:lnL w="0">
                      <a:noFill/>
                    </a:lnL>
                    <a:lnR w="0">
                      <a:noFill/>
                    </a:lnR>
                    <a:lnT w="0">
                      <a:noFill/>
                    </a:lnT>
                    <a:lnB w="6350">
                      <a:solidFill>
                        <a:srgbClr val="C9C5BC"/>
                      </a:solidFill>
                    </a:lnB>
                    <a:noFill/>
                  </a:tcPr>
                </a:tc>
              </a:tr>
              <a:tr h="788474">
                <a:tc>
                  <a:txBody>
                    <a:bodyPr wrap="square"/>
                    <a:lstStyle/>
                    <a:p>
                      <a:r>
                        <a:rPr sz="1800" b="1" i="0">
                          <a:solidFill>
                            <a:srgbClr val="1F2328"/>
                          </a:solidFill>
                          <a:latin typeface="Calibri"/>
                        </a:rPr>
                        <a:t>Return value</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The answer a function sends back.</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The result shown in the formula's cell</a:t>
                      </a:r>
                    </a:p>
                  </a:txBody>
                  <a:tcPr marL="137160" marR="91440" marT="64008" marB="64008" anchor="ctr">
                    <a:lnL w="0">
                      <a:noFill/>
                    </a:lnL>
                    <a:lnR w="0">
                      <a:noFill/>
                    </a:lnR>
                    <a:lnT w="0">
                      <a:noFill/>
                    </a:lnT>
                    <a:lnB w="6350">
                      <a:solidFill>
                        <a:srgbClr val="C9C5BC"/>
                      </a:solidFill>
                    </a:lnB>
                    <a:noFill/>
                  </a:tcPr>
                </a:tc>
              </a:tr>
              <a:tr h="503181">
                <a:tc>
                  <a:txBody>
                    <a:bodyPr wrap="square"/>
                    <a:lstStyle/>
                    <a:p>
                      <a:r>
                        <a:rPr sz="1800" b="1" i="0">
                          <a:solidFill>
                            <a:srgbClr val="1F2328"/>
                          </a:solidFill>
                          <a:latin typeface="Calibri"/>
                        </a:rPr>
                        <a:t>Edge case</a:t>
                      </a:r>
                    </a:p>
                  </a:txBody>
                  <a:tcPr marL="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A value exactly on a boundary, where the rule changes.</a:t>
                      </a:r>
                    </a:p>
                  </a:txBody>
                  <a:tcPr marL="137160" marR="91440" marT="64008" marB="64008" anchor="ctr">
                    <a:lnL w="0">
                      <a:noFill/>
                    </a:lnL>
                    <a:lnR w="0">
                      <a:noFill/>
                    </a:lnR>
                    <a:lnT w="0">
                      <a:noFill/>
                    </a:lnT>
                    <a:lnB w="6350">
                      <a:solidFill>
                        <a:srgbClr val="C9C5BC"/>
                      </a:solidFill>
                    </a:lnB>
                    <a:noFill/>
                  </a:tcPr>
                </a:tc>
                <a:tc>
                  <a:txBody>
                    <a:bodyPr wrap="square"/>
                    <a:lstStyle/>
                    <a:p>
                      <a:r>
                        <a:rPr sz="1800" b="0" i="0">
                          <a:solidFill>
                            <a:srgbClr val="3B4046"/>
                          </a:solidFill>
                          <a:latin typeface="Calibri"/>
                        </a:rPr>
                        <a:t>The value where an IF flips</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5</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Decisions, repeats and functions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An error ends with: NameError: name 'price' is not defined. Which line do you read first, and what does it tell you?</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The last line. Python has nothing stored under the name price: check the spelling, or run the cell that creates it.</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A list and a dictionary both hold several values. How do you find one value in each?</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In a list by position, counting from zero. In a dictionary by its label, which Python calls the key.</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rule we will code: Lakeside Mart loyalty tiers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Decisions, repeats and functions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graphicFrame>
        <p:nvGraphicFramePr>
          <p:cNvPr id="5" name="Table"/>
          <p:cNvGraphicFramePr>
            <a:graphicFrameLocks noGrp="1"/>
          </p:cNvGraphicFramePr>
          <p:nvPr/>
        </p:nvGraphicFramePr>
        <p:xfrm>
          <a:off x="685800" y="1600200"/>
          <a:ext cx="10820093" cy="3113836"/>
        </p:xfrm>
        <a:graphic>
          <a:graphicData uri="http://schemas.openxmlformats.org/drawingml/2006/table">
            <a:tbl>
              <a:tblPr firstRow="0" bandRow="0">
                <a:tableStyleId>{2D5ABB26-0587-4C30-8999-92F81FD0307C}</a:tableStyleId>
              </a:tblPr>
              <a:tblGrid>
                <a:gridCol w="2071902"/>
                <a:gridCol w="3787977"/>
                <a:gridCol w="4960214"/>
              </a:tblGrid>
              <a:tr h="778459">
                <a:tc>
                  <a:txBody>
                    <a:bodyPr wrap="square"/>
                    <a:lstStyle/>
                    <a:p>
                      <a:r>
                        <a:rPr sz="2200" b="1" i="0">
                          <a:solidFill>
                            <a:srgbClr val="1F2328"/>
                          </a:solidFill>
                          <a:latin typeface="Calibri"/>
                        </a:rPr>
                        <a:t>Tier</a:t>
                      </a:r>
                    </a:p>
                  </a:txBody>
                  <a:tcPr marL="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Points in 12 months</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UGX spent in 12 months</a:t>
                      </a:r>
                    </a:p>
                  </a:txBody>
                  <a:tcPr marL="137160" marR="91440" marT="64008" marB="64008" anchor="ctr">
                    <a:lnL w="0">
                      <a:noFill/>
                    </a:lnL>
                    <a:lnR w="0">
                      <a:noFill/>
                    </a:lnR>
                    <a:lnT w="0">
                      <a:noFill/>
                    </a:lnT>
                    <a:lnB w="15875">
                      <a:solidFill>
                        <a:srgbClr val="1F2328"/>
                      </a:solidFill>
                    </a:lnB>
                    <a:noFill/>
                  </a:tcPr>
                </a:tc>
              </a:tr>
              <a:tr h="778459">
                <a:tc>
                  <a:txBody>
                    <a:bodyPr wrap="square"/>
                    <a:lstStyle/>
                    <a:p>
                      <a:r>
                        <a:rPr sz="2200" b="0" i="0">
                          <a:solidFill>
                            <a:srgbClr val="3B4046"/>
                          </a:solidFill>
                          <a:latin typeface="Calibri"/>
                        </a:rPr>
                        <a:t>Basic</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0 to 1,999</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Under 2,000,000</a:t>
                      </a:r>
                    </a:p>
                  </a:txBody>
                  <a:tcPr marL="137160" marR="91440" marT="64008" marB="64008" anchor="ctr">
                    <a:lnL w="0">
                      <a:noFill/>
                    </a:lnL>
                    <a:lnR w="0">
                      <a:noFill/>
                    </a:lnR>
                    <a:lnT w="0">
                      <a:noFill/>
                    </a:lnT>
                    <a:lnB w="6350">
                      <a:solidFill>
                        <a:srgbClr val="C9C5BC"/>
                      </a:solidFill>
                    </a:lnB>
                    <a:noFill/>
                  </a:tcPr>
                </a:tc>
              </a:tr>
              <a:tr h="778459">
                <a:tc>
                  <a:txBody>
                    <a:bodyPr wrap="square"/>
                    <a:lstStyle/>
                    <a:p>
                      <a:r>
                        <a:rPr sz="2200" b="0" i="0">
                          <a:solidFill>
                            <a:srgbClr val="3B4046"/>
                          </a:solidFill>
                          <a:latin typeface="Calibri"/>
                        </a:rPr>
                        <a:t>Silver</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2,000 to 5,999</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2,000,000 to 5,999,999</a:t>
                      </a:r>
                    </a:p>
                  </a:txBody>
                  <a:tcPr marL="137160" marR="91440" marT="64008" marB="64008" anchor="ctr">
                    <a:lnL w="0">
                      <a:noFill/>
                    </a:lnL>
                    <a:lnR w="0">
                      <a:noFill/>
                    </a:lnR>
                    <a:lnT w="0">
                      <a:noFill/>
                    </a:lnT>
                    <a:lnB w="6350">
                      <a:solidFill>
                        <a:srgbClr val="C9C5BC"/>
                      </a:solidFill>
                    </a:lnB>
                    <a:noFill/>
                  </a:tcPr>
                </a:tc>
              </a:tr>
              <a:tr h="778459">
                <a:tc>
                  <a:txBody>
                    <a:bodyPr wrap="square"/>
                    <a:lstStyle/>
                    <a:p>
                      <a:r>
                        <a:rPr sz="2200" b="0" i="0">
                          <a:solidFill>
                            <a:srgbClr val="3B4046"/>
                          </a:solidFill>
                          <a:latin typeface="Calibri"/>
                        </a:rPr>
                        <a:t>Gold</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6,000 or more</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6,000,000 or more</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1 point for every UGX 1,000 spent. Source: Lakeside Mart loyalty programme policy.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IF in Excel and if in Python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Decisions, repeats and functions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Excel or Sheets</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IF(B2&gt;=2000, "Silver", "Basic")</a:t>
              </a:r>
            </a:p>
          </p:txBody>
        </p:sp>
        <p:cxnSp>
          <p:nvCxnSpPr>
            <p:cNvPr id="10" name="Connector 9"/>
            <p:cNvCxnSpPr/>
            <p:nvPr/>
          </p:nvCxnSpPr>
          <p:spPr>
            <a:xfrm>
              <a:off x="685800" y="3154680"/>
              <a:ext cx="5090007" cy="0"/>
            </a:xfrm>
            <a:prstGeom prst="line">
              <a:avLst/>
            </a:prstGeom>
            <a:ln w="6350">
              <a:solidFill>
                <a:srgbClr val="C9C5BC"/>
              </a:solidFill>
            </a:ln>
          </p:spPr>
        </p:cxnSp>
        <p:sp>
          <p:nvSpPr>
            <p:cNvPr id="11" name="TextBox 10"/>
            <p:cNvSpPr txBox="1"/>
            <p:nvPr/>
          </p:nvSpPr>
          <p:spPr>
            <a:xfrm>
              <a:off x="685800"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A test, the answer if true, the answer if false</a:t>
              </a:r>
            </a:p>
          </p:txBody>
        </p:sp>
        <p:cxnSp>
          <p:nvCxnSpPr>
            <p:cNvPr id="12" name="Connector 11"/>
            <p:cNvCxnSpPr/>
            <p:nvPr/>
          </p:nvCxnSpPr>
          <p:spPr>
            <a:xfrm>
              <a:off x="685800" y="4069080"/>
              <a:ext cx="5090007" cy="0"/>
            </a:xfrm>
            <a:prstGeom prst="line">
              <a:avLst/>
            </a:prstGeom>
            <a:ln w="6350">
              <a:solidFill>
                <a:srgbClr val="C9C5BC"/>
              </a:solidFill>
            </a:ln>
          </p:spPr>
        </p:cxnSp>
        <p:sp>
          <p:nvSpPr>
            <p:cNvPr id="13" name="TextBox 12"/>
            <p:cNvSpPr txBox="1"/>
            <p:nvPr/>
          </p:nvSpPr>
          <p:spPr>
            <a:xfrm>
              <a:off x="685800"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A third tier means an IF inside an IF</a:t>
              </a:r>
            </a:p>
          </p:txBody>
        </p:sp>
      </p:grpSp>
      <p:grpSp>
        <p:nvGrpSpPr>
          <p:cNvPr id="14" name="side-2"/>
          <p:cNvGrpSpPr/>
          <p:nvPr/>
        </p:nvGrpSpPr>
        <p:grpSpPr>
          <a:xfrm>
            <a:off x="6415887" y="1600200"/>
            <a:ext cx="5090008" cy="3364992"/>
            <a:chOff x="6415887" y="1600200"/>
            <a:chExt cx="5090008" cy="3364992"/>
          </a:xfrm>
        </p:grpSpPr>
        <p:sp>
          <p:nvSpPr>
            <p:cNvPr id="15" name="TextBox 14"/>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Python</a:t>
              </a:r>
            </a:p>
          </p:txBody>
        </p:sp>
        <p:cxnSp>
          <p:nvCxnSpPr>
            <p:cNvPr id="16" name="Connector 15"/>
            <p:cNvCxnSpPr/>
            <p:nvPr/>
          </p:nvCxnSpPr>
          <p:spPr>
            <a:xfrm>
              <a:off x="6415887" y="2167128"/>
              <a:ext cx="5090008" cy="0"/>
            </a:xfrm>
            <a:prstGeom prst="line">
              <a:avLst/>
            </a:prstGeom>
            <a:ln w="15875">
              <a:solidFill>
                <a:srgbClr val="1F2328"/>
              </a:solidFill>
            </a:ln>
          </p:spPr>
        </p:cxnSp>
        <p:sp>
          <p:nvSpPr>
            <p:cNvPr id="17" name="TextBox 16"/>
            <p:cNvSpPr txBox="1"/>
            <p:nvPr/>
          </p:nvSpPr>
          <p:spPr>
            <a:xfrm>
              <a:off x="6415887"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if points &gt;= 2000:</a:t>
              </a:r>
            </a:p>
          </p:txBody>
        </p:sp>
        <p:cxnSp>
          <p:nvCxnSpPr>
            <p:cNvPr id="18" name="Connector 17"/>
            <p:cNvCxnSpPr/>
            <p:nvPr/>
          </p:nvCxnSpPr>
          <p:spPr>
            <a:xfrm>
              <a:off x="6415887" y="3154680"/>
              <a:ext cx="5090008" cy="0"/>
            </a:xfrm>
            <a:prstGeom prst="line">
              <a:avLst/>
            </a:prstGeom>
            <a:ln w="6350">
              <a:solidFill>
                <a:srgbClr val="C9C5BC"/>
              </a:solidFill>
            </a:ln>
          </p:spPr>
        </p:cxnSp>
        <p:sp>
          <p:nvSpPr>
            <p:cNvPr id="19" name="TextBox 18"/>
            <p:cNvSpPr txBox="1"/>
            <p:nvPr/>
          </p:nvSpPr>
          <p:spPr>
            <a:xfrm>
              <a:off x="6415887"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The answer goes on the next line, pushed in</a:t>
              </a:r>
            </a:p>
          </p:txBody>
        </p:sp>
        <p:cxnSp>
          <p:nvCxnSpPr>
            <p:cNvPr id="20" name="Connector 19"/>
            <p:cNvCxnSpPr/>
            <p:nvPr/>
          </p:nvCxnSpPr>
          <p:spPr>
            <a:xfrm>
              <a:off x="6415887" y="4069080"/>
              <a:ext cx="5090008" cy="0"/>
            </a:xfrm>
            <a:prstGeom prst="line">
              <a:avLst/>
            </a:prstGeom>
            <a:ln w="6350">
              <a:solidFill>
                <a:srgbClr val="C9C5BC"/>
              </a:solidFill>
            </a:ln>
          </p:spPr>
        </p:cxnSp>
        <p:sp>
          <p:nvSpPr>
            <p:cNvPr id="21" name="TextBox 20"/>
            <p:cNvSpPr txBox="1"/>
            <p:nvPr/>
          </p:nvSpPr>
          <p:spPr>
            <a:xfrm>
              <a:off x="6415887"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elif adds a third tier on a line of its own</a:t>
              </a:r>
            </a:p>
          </p:txBody>
        </p:sp>
      </p:grpSp>
      <p:grpSp>
        <p:nvGrpSpPr>
          <p:cNvPr id="22" name="verdict"/>
          <p:cNvGrpSpPr/>
          <p:nvPr/>
        </p:nvGrpSpPr>
        <p:grpSpPr>
          <a:xfrm>
            <a:off x="685800" y="5257800"/>
            <a:ext cx="10820095" cy="978408"/>
            <a:chOff x="685800" y="5257800"/>
            <a:chExt cx="10820095" cy="978408"/>
          </a:xfrm>
        </p:grpSpPr>
        <p:cxnSp>
          <p:nvCxnSpPr>
            <p:cNvPr id="23" name="Connector 22"/>
            <p:cNvCxnSpPr/>
            <p:nvPr/>
          </p:nvCxnSpPr>
          <p:spPr>
            <a:xfrm>
              <a:off x="685800" y="5257800"/>
              <a:ext cx="10820095" cy="0"/>
            </a:xfrm>
            <a:prstGeom prst="line">
              <a:avLst/>
            </a:prstGeom>
            <a:ln w="15875">
              <a:solidFill>
                <a:srgbClr val="1F2328"/>
              </a:solidFill>
            </a:ln>
          </p:spPr>
        </p:cxnSp>
        <p:sp>
          <p:nvSpPr>
            <p:cNvPr id="24" name="TextBox 23"/>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Same decision. Python writes each branch on its own line, and the indent shows what belongs to it.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Decide a tier with if, elif and else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Decisions, repeats and functions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sp>
        <p:nvSpPr>
          <p:cNvPr id="5" name="Rectangle 4"/>
          <p:cNvSpPr/>
          <p:nvPr/>
        </p:nvSpPr>
        <p:spPr>
          <a:xfrm>
            <a:off x="685800" y="1600200"/>
            <a:ext cx="6949440" cy="287121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596896"/>
          </a:xfrm>
          <a:prstGeom prst="rect">
            <a:avLst/>
          </a:prstGeom>
          <a:noFill/>
        </p:spPr>
        <p:txBody>
          <a:bodyPr wrap="none" lIns="0" rIns="0" tIns="0" bIns="0">
            <a:spAutoFit/>
          </a:bodyPr>
          <a:lstStyle/>
          <a:p>
            <a:r>
              <a:rPr sz="2100" b="0" i="0">
                <a:solidFill>
                  <a:srgbClr val="1F2328"/>
                </a:solidFill>
                <a:latin typeface="Courier New"/>
              </a:rPr>
              <a:t>points</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3B4046"/>
                </a:solidFill>
                <a:latin typeface="Courier New"/>
              </a:rPr>
              <a:t>2450</a:t>
            </a:r>
          </a:p>
          <a:p>
            <a:r>
              <a:rPr sz="2100" b="1" i="0">
                <a:solidFill>
                  <a:srgbClr val="1F2328"/>
                </a:solidFill>
                <a:latin typeface="Courier New"/>
              </a:rPr>
              <a:t>if</a:t>
            </a:r>
            <a:r>
              <a:rPr sz="2100" b="0" i="0">
                <a:solidFill>
                  <a:srgbClr val="1F2328"/>
                </a:solidFill>
                <a:latin typeface="Courier New"/>
              </a:rPr>
              <a:t> </a:t>
            </a:r>
            <a:r>
              <a:rPr sz="2100" b="0" i="0">
                <a:solidFill>
                  <a:srgbClr val="1F2328"/>
                </a:solidFill>
                <a:latin typeface="Courier New"/>
              </a:rPr>
              <a:t>points</a:t>
            </a:r>
            <a:r>
              <a:rPr sz="2100" b="0" i="0">
                <a:solidFill>
                  <a:srgbClr val="1F2328"/>
                </a:solidFill>
                <a:latin typeface="Courier New"/>
              </a:rPr>
              <a:t> </a:t>
            </a:r>
            <a:r>
              <a:rPr sz="2100" b="0" i="0">
                <a:solidFill>
                  <a:srgbClr val="1F2328"/>
                </a:solidFill>
                <a:latin typeface="Courier New"/>
              </a:rPr>
              <a:t>&gt;</a:t>
            </a:r>
            <a:r>
              <a:rPr sz="2100" b="0" i="0">
                <a:solidFill>
                  <a:srgbClr val="1F2328"/>
                </a:solidFill>
                <a:latin typeface="Courier New"/>
              </a:rPr>
              <a:t>=</a:t>
            </a:r>
            <a:r>
              <a:rPr sz="2100" b="0" i="0">
                <a:solidFill>
                  <a:srgbClr val="1F2328"/>
                </a:solidFill>
                <a:latin typeface="Courier New"/>
              </a:rPr>
              <a:t> </a:t>
            </a:r>
            <a:r>
              <a:rPr sz="2100" b="0" i="0">
                <a:solidFill>
                  <a:srgbClr val="3B4046"/>
                </a:solidFill>
                <a:latin typeface="Courier New"/>
              </a:rPr>
              <a:t>6000</a:t>
            </a:r>
            <a:r>
              <a:rPr sz="2100" b="0" i="0">
                <a:solidFill>
                  <a:srgbClr val="1F2328"/>
                </a:solidFill>
                <a:latin typeface="Courier New"/>
              </a:rPr>
              <a:t>:</a:t>
            </a:r>
          </a:p>
          <a:p>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tier</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B04A2B"/>
                </a:solidFill>
                <a:latin typeface="Courier New"/>
              </a:rPr>
              <a:t>"Gold"</a:t>
            </a:r>
          </a:p>
          <a:p>
            <a:r>
              <a:rPr sz="2100" b="1" i="0">
                <a:solidFill>
                  <a:srgbClr val="1F2328"/>
                </a:solidFill>
                <a:latin typeface="Courier New"/>
              </a:rPr>
              <a:t>elif</a:t>
            </a:r>
            <a:r>
              <a:rPr sz="2100" b="0" i="0">
                <a:solidFill>
                  <a:srgbClr val="1F2328"/>
                </a:solidFill>
                <a:latin typeface="Courier New"/>
              </a:rPr>
              <a:t> </a:t>
            </a:r>
            <a:r>
              <a:rPr sz="2100" b="0" i="0">
                <a:solidFill>
                  <a:srgbClr val="1F2328"/>
                </a:solidFill>
                <a:latin typeface="Courier New"/>
              </a:rPr>
              <a:t>points</a:t>
            </a:r>
            <a:r>
              <a:rPr sz="2100" b="0" i="0">
                <a:solidFill>
                  <a:srgbClr val="1F2328"/>
                </a:solidFill>
                <a:latin typeface="Courier New"/>
              </a:rPr>
              <a:t> </a:t>
            </a:r>
            <a:r>
              <a:rPr sz="2100" b="0" i="0">
                <a:solidFill>
                  <a:srgbClr val="1F2328"/>
                </a:solidFill>
                <a:latin typeface="Courier New"/>
              </a:rPr>
              <a:t>&gt;</a:t>
            </a:r>
            <a:r>
              <a:rPr sz="2100" b="0" i="0">
                <a:solidFill>
                  <a:srgbClr val="1F2328"/>
                </a:solidFill>
                <a:latin typeface="Courier New"/>
              </a:rPr>
              <a:t>=</a:t>
            </a:r>
            <a:r>
              <a:rPr sz="2100" b="0" i="0">
                <a:solidFill>
                  <a:srgbClr val="1F2328"/>
                </a:solidFill>
                <a:latin typeface="Courier New"/>
              </a:rPr>
              <a:t> </a:t>
            </a:r>
            <a:r>
              <a:rPr sz="2100" b="0" i="0">
                <a:solidFill>
                  <a:srgbClr val="3B4046"/>
                </a:solidFill>
                <a:latin typeface="Courier New"/>
              </a:rPr>
              <a:t>2000</a:t>
            </a:r>
            <a:r>
              <a:rPr sz="2100" b="0" i="0">
                <a:solidFill>
                  <a:srgbClr val="1F2328"/>
                </a:solidFill>
                <a:latin typeface="Courier New"/>
              </a:rPr>
              <a:t>:</a:t>
            </a:r>
          </a:p>
          <a:p>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tier</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B04A2B"/>
                </a:solidFill>
                <a:latin typeface="Courier New"/>
              </a:rPr>
              <a:t>"Silver"</a:t>
            </a:r>
          </a:p>
          <a:p>
            <a:r>
              <a:rPr sz="2100" b="1" i="0">
                <a:solidFill>
                  <a:srgbClr val="1F2328"/>
                </a:solidFill>
                <a:latin typeface="Courier New"/>
              </a:rPr>
              <a:t>else</a:t>
            </a:r>
            <a:r>
              <a:rPr sz="2100" b="0" i="0">
                <a:solidFill>
                  <a:srgbClr val="1F2328"/>
                </a:solidFill>
                <a:latin typeface="Courier New"/>
              </a:rPr>
              <a:t>:</a:t>
            </a:r>
          </a:p>
          <a:p>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tier</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B04A2B"/>
                </a:solidFill>
                <a:latin typeface="Courier New"/>
              </a:rPr>
              <a:t>"Basic"</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points</a:t>
            </a:r>
            <a:r>
              <a:rPr sz="2100" b="0" i="0">
                <a:solidFill>
                  <a:srgbClr val="1F2328"/>
                </a:solidFill>
                <a:latin typeface="Courier New"/>
              </a:rPr>
              <a:t>,</a:t>
            </a:r>
            <a:r>
              <a:rPr sz="2100" b="0" i="0">
                <a:solidFill>
                  <a:srgbClr val="1F2328"/>
                </a:solidFill>
                <a:latin typeface="Courier New"/>
              </a:rPr>
              <a:t> </a:t>
            </a:r>
            <a:r>
              <a:rPr sz="2100" b="0" i="0">
                <a:solidFill>
                  <a:srgbClr val="B04A2B"/>
                </a:solidFill>
                <a:latin typeface="Courier New"/>
              </a:rPr>
              <a:t>"points is"</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tier</a:t>
            </a:r>
            <a:r>
              <a:rPr sz="2100" b="0" i="0">
                <a:solidFill>
                  <a:srgbClr val="1F2328"/>
                </a:solidFill>
                <a:latin typeface="Courier New"/>
              </a:rPr>
              <a:t>)</a:t>
            </a:r>
          </a:p>
        </p:txBody>
      </p:sp>
      <p:grpSp>
        <p:nvGrpSpPr>
          <p:cNvPr id="7" name="output"/>
          <p:cNvGrpSpPr/>
          <p:nvPr/>
        </p:nvGrpSpPr>
        <p:grpSpPr>
          <a:xfrm>
            <a:off x="685800" y="4581144"/>
            <a:ext cx="6949440" cy="524256"/>
            <a:chOff x="685800" y="4581144"/>
            <a:chExt cx="6949440" cy="524256"/>
          </a:xfrm>
        </p:grpSpPr>
        <p:sp>
          <p:nvSpPr>
            <p:cNvPr id="8" name="TextBox 7"/>
            <p:cNvSpPr txBox="1"/>
            <p:nvPr/>
          </p:nvSpPr>
          <p:spPr>
            <a:xfrm>
              <a:off x="685800" y="45811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837176"/>
              <a:ext cx="6949440"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4928616"/>
              <a:ext cx="6675120" cy="158496"/>
            </a:xfrm>
            <a:prstGeom prst="rect">
              <a:avLst/>
            </a:prstGeom>
            <a:noFill/>
          </p:spPr>
          <p:txBody>
            <a:bodyPr wrap="none" lIns="0" rIns="0" tIns="0" bIns="0">
              <a:spAutoFit/>
            </a:bodyPr>
            <a:lstStyle/>
            <a:p>
              <a:r>
                <a:rPr sz="1400" b="0" i="0">
                  <a:solidFill>
                    <a:srgbClr val="1F2328"/>
                  </a:solidFill>
                  <a:latin typeface="Courier New"/>
                </a:rPr>
                <a:t>2450 points is Silver</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Python checks the tests from the top and stops at the first True one.</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elif means else if. It is asked only when the test above was False.</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else catches everyone left. The indent shows which lines belong to which test.</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for loop is fill-down written as code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Decisions, repeats and functions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pic>
        <p:nvPicPr>
          <p:cNvPr id="5" name="figure-loop_vs_fill" descr="Left: a spreadsheet column with a formula dragged down. Right: a Python for loop doing the same for each item."/>
          <p:cNvPicPr>
            <a:picLocks noChangeAspect="1"/>
          </p:cNvPicPr>
          <p:nvPr/>
        </p:nvPicPr>
        <p:blipFill>
          <a:blip r:embed="rId3"/>
          <a:stretch>
            <a:fillRect/>
          </a:stretch>
        </p:blipFill>
        <p:spPr>
          <a:xfrm>
            <a:off x="685800" y="1600200"/>
            <a:ext cx="7040880" cy="3350754"/>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Left: one formula copied down, one box per row.</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Right: for row in rows runs the same step on each item.</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Five items or five thousand, the code stays the same.</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Write the step once. Python repeats it.</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Loop over a list of spending totals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Decisions, repeats and functions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sp>
        <p:nvSpPr>
          <p:cNvPr id="5" name="Rectangle 4"/>
          <p:cNvSpPr/>
          <p:nvPr/>
        </p:nvSpPr>
        <p:spPr>
          <a:xfrm>
            <a:off x="685800" y="1600200"/>
            <a:ext cx="6949440" cy="13776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103376"/>
          </a:xfrm>
          <a:prstGeom prst="rect">
            <a:avLst/>
          </a:prstGeom>
          <a:noFill/>
        </p:spPr>
        <p:txBody>
          <a:bodyPr wrap="none" lIns="0" rIns="0" tIns="0" bIns="0">
            <a:spAutoFit/>
          </a:bodyPr>
          <a:lstStyle/>
          <a:p>
            <a:r>
              <a:rPr sz="1750" b="0" i="0">
                <a:solidFill>
                  <a:srgbClr val="1F2328"/>
                </a:solidFill>
                <a:latin typeface="Courier New"/>
              </a:rPr>
              <a:t>spends</a:t>
            </a:r>
            <a:r>
              <a:rPr sz="1750" b="0" i="0">
                <a:solidFill>
                  <a:srgbClr val="1F2328"/>
                </a:solidFill>
                <a:latin typeface="Courier New"/>
              </a:rPr>
              <a:t> </a:t>
            </a:r>
            <a:r>
              <a:rPr sz="1750" b="0" i="0">
                <a:solidFill>
                  <a:srgbClr val="1F2328"/>
                </a:solidFill>
                <a:latin typeface="Courier New"/>
              </a:rPr>
              <a:t>=</a:t>
            </a:r>
            <a:r>
              <a:rPr sz="1750" b="0" i="0">
                <a:solidFill>
                  <a:srgbClr val="1F2328"/>
                </a:solidFill>
                <a:latin typeface="Courier New"/>
              </a:rPr>
              <a:t> </a:t>
            </a:r>
            <a:r>
              <a:rPr sz="1750" b="0" i="0">
                <a:solidFill>
                  <a:srgbClr val="1F2328"/>
                </a:solidFill>
                <a:latin typeface="Courier New"/>
              </a:rPr>
              <a:t>[</a:t>
            </a:r>
            <a:r>
              <a:rPr sz="1750" b="0" i="0">
                <a:solidFill>
                  <a:srgbClr val="3B4046"/>
                </a:solidFill>
                <a:latin typeface="Courier New"/>
              </a:rPr>
              <a:t>46660</a:t>
            </a:r>
            <a:r>
              <a:rPr sz="1750" b="0" i="0">
                <a:solidFill>
                  <a:srgbClr val="1F2328"/>
                </a:solidFill>
                <a:latin typeface="Courier New"/>
              </a:rPr>
              <a:t>,</a:t>
            </a:r>
            <a:r>
              <a:rPr sz="1750" b="0" i="0">
                <a:solidFill>
                  <a:srgbClr val="1F2328"/>
                </a:solidFill>
                <a:latin typeface="Courier New"/>
              </a:rPr>
              <a:t> </a:t>
            </a:r>
            <a:r>
              <a:rPr sz="1750" b="0" i="0">
                <a:solidFill>
                  <a:srgbClr val="3B4046"/>
                </a:solidFill>
                <a:latin typeface="Courier New"/>
              </a:rPr>
              <a:t>2388850</a:t>
            </a:r>
            <a:r>
              <a:rPr sz="1750" b="0" i="0">
                <a:solidFill>
                  <a:srgbClr val="1F2328"/>
                </a:solidFill>
                <a:latin typeface="Courier New"/>
              </a:rPr>
              <a:t>,</a:t>
            </a:r>
            <a:r>
              <a:rPr sz="1750" b="0" i="0">
                <a:solidFill>
                  <a:srgbClr val="1F2328"/>
                </a:solidFill>
                <a:latin typeface="Courier New"/>
              </a:rPr>
              <a:t> </a:t>
            </a:r>
            <a:r>
              <a:rPr sz="1750" b="0" i="0">
                <a:solidFill>
                  <a:srgbClr val="3B4046"/>
                </a:solidFill>
                <a:latin typeface="Courier New"/>
              </a:rPr>
              <a:t>82700</a:t>
            </a:r>
            <a:r>
              <a:rPr sz="1750" b="0" i="0">
                <a:solidFill>
                  <a:srgbClr val="1F2328"/>
                </a:solidFill>
                <a:latin typeface="Courier New"/>
              </a:rPr>
              <a:t>,</a:t>
            </a:r>
            <a:r>
              <a:rPr sz="1750" b="0" i="0">
                <a:solidFill>
                  <a:srgbClr val="1F2328"/>
                </a:solidFill>
                <a:latin typeface="Courier New"/>
              </a:rPr>
              <a:t> </a:t>
            </a:r>
            <a:r>
              <a:rPr sz="1750" b="0" i="0">
                <a:solidFill>
                  <a:srgbClr val="3B4046"/>
                </a:solidFill>
                <a:latin typeface="Courier New"/>
              </a:rPr>
              <a:t>2757805</a:t>
            </a:r>
            <a:r>
              <a:rPr sz="1750" b="0" i="0">
                <a:solidFill>
                  <a:srgbClr val="1F2328"/>
                </a:solidFill>
                <a:latin typeface="Courier New"/>
              </a:rPr>
              <a:t>,</a:t>
            </a:r>
            <a:r>
              <a:rPr sz="1750" b="0" i="0">
                <a:solidFill>
                  <a:srgbClr val="1F2328"/>
                </a:solidFill>
                <a:latin typeface="Courier New"/>
              </a:rPr>
              <a:t> </a:t>
            </a:r>
            <a:r>
              <a:rPr sz="1750" b="0" i="0">
                <a:solidFill>
                  <a:srgbClr val="3B4046"/>
                </a:solidFill>
                <a:latin typeface="Courier New"/>
              </a:rPr>
              <a:t>26650</a:t>
            </a:r>
            <a:r>
              <a:rPr sz="1750" b="0" i="0">
                <a:solidFill>
                  <a:srgbClr val="1F2328"/>
                </a:solidFill>
                <a:latin typeface="Courier New"/>
              </a:rPr>
              <a:t>]</a:t>
            </a:r>
          </a:p>
          <a:p>
            <a:r>
              <a:rPr sz="1750" b="1" i="0">
                <a:solidFill>
                  <a:srgbClr val="1F2328"/>
                </a:solidFill>
                <a:latin typeface="Courier New"/>
              </a:rPr>
              <a:t>for</a:t>
            </a:r>
            <a:r>
              <a:rPr sz="1750" b="0" i="0">
                <a:solidFill>
                  <a:srgbClr val="1F2328"/>
                </a:solidFill>
                <a:latin typeface="Courier New"/>
              </a:rPr>
              <a:t> </a:t>
            </a:r>
            <a:r>
              <a:rPr sz="1750" b="0" i="0">
                <a:solidFill>
                  <a:srgbClr val="1F2328"/>
                </a:solidFill>
                <a:latin typeface="Courier New"/>
              </a:rPr>
              <a:t>spend</a:t>
            </a:r>
            <a:r>
              <a:rPr sz="1750" b="0" i="0">
                <a:solidFill>
                  <a:srgbClr val="1F2328"/>
                </a:solidFill>
                <a:latin typeface="Courier New"/>
              </a:rPr>
              <a:t> </a:t>
            </a:r>
            <a:r>
              <a:rPr sz="1750" b="1" i="0">
                <a:solidFill>
                  <a:srgbClr val="1F2328"/>
                </a:solidFill>
                <a:latin typeface="Courier New"/>
              </a:rPr>
              <a:t>in</a:t>
            </a:r>
            <a:r>
              <a:rPr sz="1750" b="0" i="0">
                <a:solidFill>
                  <a:srgbClr val="1F2328"/>
                </a:solidFill>
                <a:latin typeface="Courier New"/>
              </a:rPr>
              <a:t> </a:t>
            </a:r>
            <a:r>
              <a:rPr sz="1750" b="0" i="0">
                <a:solidFill>
                  <a:srgbClr val="1F2328"/>
                </a:solidFill>
                <a:latin typeface="Courier New"/>
              </a:rPr>
              <a:t>spends</a:t>
            </a:r>
            <a:r>
              <a:rPr sz="1750" b="0" i="0">
                <a:solidFill>
                  <a:srgbClr val="1F2328"/>
                </a:solidFill>
                <a:latin typeface="Courier New"/>
              </a:rPr>
              <a:t>:</a:t>
            </a:r>
          </a:p>
          <a:p>
            <a:r>
              <a:rPr sz="1750" b="0" i="0">
                <a:solidFill>
                  <a:srgbClr val="1F2328"/>
                </a:solidFill>
                <a:latin typeface="Courier New"/>
              </a:rPr>
              <a:t> </a:t>
            </a:r>
            <a:r>
              <a:rPr sz="1750" b="0" i="0">
                <a:solidFill>
                  <a:srgbClr val="1F2328"/>
                </a:solidFill>
                <a:latin typeface="Courier New"/>
              </a:rPr>
              <a:t> </a:t>
            </a:r>
            <a:r>
              <a:rPr sz="1750" b="0" i="0">
                <a:solidFill>
                  <a:srgbClr val="1F2328"/>
                </a:solidFill>
                <a:latin typeface="Courier New"/>
              </a:rPr>
              <a:t> </a:t>
            </a:r>
            <a:r>
              <a:rPr sz="1750" b="0" i="0">
                <a:solidFill>
                  <a:srgbClr val="1F2328"/>
                </a:solidFill>
                <a:latin typeface="Courier New"/>
              </a:rPr>
              <a:t> </a:t>
            </a:r>
            <a:r>
              <a:rPr sz="1750" b="0" i="0">
                <a:solidFill>
                  <a:srgbClr val="1F2328"/>
                </a:solidFill>
                <a:latin typeface="Courier New"/>
              </a:rPr>
              <a:t>points</a:t>
            </a:r>
            <a:r>
              <a:rPr sz="1750" b="0" i="0">
                <a:solidFill>
                  <a:srgbClr val="1F2328"/>
                </a:solidFill>
                <a:latin typeface="Courier New"/>
              </a:rPr>
              <a:t> </a:t>
            </a:r>
            <a:r>
              <a:rPr sz="1750" b="0" i="0">
                <a:solidFill>
                  <a:srgbClr val="1F2328"/>
                </a:solidFill>
                <a:latin typeface="Courier New"/>
              </a:rPr>
              <a:t>=</a:t>
            </a:r>
            <a:r>
              <a:rPr sz="1750" b="0" i="0">
                <a:solidFill>
                  <a:srgbClr val="1F2328"/>
                </a:solidFill>
                <a:latin typeface="Courier New"/>
              </a:rPr>
              <a:t> </a:t>
            </a:r>
            <a:r>
              <a:rPr sz="1750" b="0" i="0">
                <a:solidFill>
                  <a:srgbClr val="1F2328"/>
                </a:solidFill>
                <a:latin typeface="Courier New"/>
              </a:rPr>
              <a:t>spend</a:t>
            </a:r>
            <a:r>
              <a:rPr sz="1750" b="0" i="0">
                <a:solidFill>
                  <a:srgbClr val="1F2328"/>
                </a:solidFill>
                <a:latin typeface="Courier New"/>
              </a:rPr>
              <a:t> </a:t>
            </a:r>
            <a:r>
              <a:rPr sz="1750" b="0" i="0">
                <a:solidFill>
                  <a:srgbClr val="1F2328"/>
                </a:solidFill>
                <a:latin typeface="Courier New"/>
              </a:rPr>
              <a:t>/</a:t>
            </a:r>
            <a:r>
              <a:rPr sz="1750" b="0" i="0">
                <a:solidFill>
                  <a:srgbClr val="1F2328"/>
                </a:solidFill>
                <a:latin typeface="Courier New"/>
              </a:rPr>
              <a:t>/</a:t>
            </a:r>
            <a:r>
              <a:rPr sz="1750" b="0" i="0">
                <a:solidFill>
                  <a:srgbClr val="1F2328"/>
                </a:solidFill>
                <a:latin typeface="Courier New"/>
              </a:rPr>
              <a:t> </a:t>
            </a:r>
            <a:r>
              <a:rPr sz="1750" b="0" i="0">
                <a:solidFill>
                  <a:srgbClr val="3B4046"/>
                </a:solidFill>
                <a:latin typeface="Courier New"/>
              </a:rPr>
              <a:t>1000</a:t>
            </a:r>
          </a:p>
          <a:p>
            <a:r>
              <a:rPr sz="1750" b="0" i="0">
                <a:solidFill>
                  <a:srgbClr val="1F2328"/>
                </a:solidFill>
                <a:latin typeface="Courier New"/>
              </a:rPr>
              <a:t> </a:t>
            </a:r>
            <a:r>
              <a:rPr sz="1750" b="0" i="0">
                <a:solidFill>
                  <a:srgbClr val="1F2328"/>
                </a:solidFill>
                <a:latin typeface="Courier New"/>
              </a:rPr>
              <a:t> </a:t>
            </a:r>
            <a:r>
              <a:rPr sz="1750" b="0" i="0">
                <a:solidFill>
                  <a:srgbClr val="1F2328"/>
                </a:solidFill>
                <a:latin typeface="Courier New"/>
              </a:rPr>
              <a:t> </a:t>
            </a:r>
            <a:r>
              <a:rPr sz="1750" b="0" i="0">
                <a:solidFill>
                  <a:srgbClr val="1F2328"/>
                </a:solidFill>
                <a:latin typeface="Courier New"/>
              </a:rPr>
              <a:t> </a:t>
            </a:r>
            <a:r>
              <a:rPr sz="1750" b="0" i="0">
                <a:solidFill>
                  <a:srgbClr val="1F2328"/>
                </a:solidFill>
                <a:latin typeface="Courier New"/>
              </a:rPr>
              <a:t>print</a:t>
            </a:r>
            <a:r>
              <a:rPr sz="1750" b="0" i="0">
                <a:solidFill>
                  <a:srgbClr val="1F2328"/>
                </a:solidFill>
                <a:latin typeface="Courier New"/>
              </a:rPr>
              <a:t>(</a:t>
            </a:r>
            <a:r>
              <a:rPr sz="1750" b="0" i="0">
                <a:solidFill>
                  <a:srgbClr val="1F2328"/>
                </a:solidFill>
                <a:latin typeface="Courier New"/>
              </a:rPr>
              <a:t>spend</a:t>
            </a:r>
            <a:r>
              <a:rPr sz="1750" b="0" i="0">
                <a:solidFill>
                  <a:srgbClr val="1F2328"/>
                </a:solidFill>
                <a:latin typeface="Courier New"/>
              </a:rPr>
              <a:t>,</a:t>
            </a:r>
            <a:r>
              <a:rPr sz="1750" b="0" i="0">
                <a:solidFill>
                  <a:srgbClr val="1F2328"/>
                </a:solidFill>
                <a:latin typeface="Courier New"/>
              </a:rPr>
              <a:t> </a:t>
            </a:r>
            <a:r>
              <a:rPr sz="1750" b="0" i="0">
                <a:solidFill>
                  <a:srgbClr val="B04A2B"/>
                </a:solidFill>
                <a:latin typeface="Courier New"/>
              </a:rPr>
              <a:t>"UGX is"</a:t>
            </a:r>
            <a:r>
              <a:rPr sz="1750" b="0" i="0">
                <a:solidFill>
                  <a:srgbClr val="1F2328"/>
                </a:solidFill>
                <a:latin typeface="Courier New"/>
              </a:rPr>
              <a:t>,</a:t>
            </a:r>
            <a:r>
              <a:rPr sz="1750" b="0" i="0">
                <a:solidFill>
                  <a:srgbClr val="1F2328"/>
                </a:solidFill>
                <a:latin typeface="Courier New"/>
              </a:rPr>
              <a:t> </a:t>
            </a:r>
            <a:r>
              <a:rPr sz="1750" b="0" i="0">
                <a:solidFill>
                  <a:srgbClr val="1F2328"/>
                </a:solidFill>
                <a:latin typeface="Courier New"/>
              </a:rPr>
              <a:t>points</a:t>
            </a:r>
            <a:r>
              <a:rPr sz="1750" b="0" i="0">
                <a:solidFill>
                  <a:srgbClr val="1F2328"/>
                </a:solidFill>
                <a:latin typeface="Courier New"/>
              </a:rPr>
              <a:t>,</a:t>
            </a:r>
            <a:r>
              <a:rPr sz="1750" b="0" i="0">
                <a:solidFill>
                  <a:srgbClr val="1F2328"/>
                </a:solidFill>
                <a:latin typeface="Courier New"/>
              </a:rPr>
              <a:t> </a:t>
            </a:r>
            <a:r>
              <a:rPr sz="1750" b="0" i="0">
                <a:solidFill>
                  <a:srgbClr val="B04A2B"/>
                </a:solidFill>
                <a:latin typeface="Courier New"/>
              </a:rPr>
              <a:t>"points"</a:t>
            </a:r>
            <a:r>
              <a:rPr sz="1750" b="0" i="0">
                <a:solidFill>
                  <a:srgbClr val="1F2328"/>
                </a:solidFill>
                <a:latin typeface="Courier New"/>
              </a:rPr>
              <a:t>)</a:t>
            </a:r>
          </a:p>
        </p:txBody>
      </p:sp>
      <p:grpSp>
        <p:nvGrpSpPr>
          <p:cNvPr id="7" name="output"/>
          <p:cNvGrpSpPr/>
          <p:nvPr/>
        </p:nvGrpSpPr>
        <p:grpSpPr>
          <a:xfrm>
            <a:off x="685800" y="3087624"/>
            <a:ext cx="6949440" cy="1377696"/>
            <a:chOff x="685800" y="3087624"/>
            <a:chExt cx="6949440" cy="1377696"/>
          </a:xfrm>
        </p:grpSpPr>
        <p:sp>
          <p:nvSpPr>
            <p:cNvPr id="8" name="TextBox 7"/>
            <p:cNvSpPr txBox="1"/>
            <p:nvPr/>
          </p:nvSpPr>
          <p:spPr>
            <a:xfrm>
              <a:off x="685800" y="30876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343656"/>
              <a:ext cx="6949440" cy="1121664"/>
            </a:xfrm>
            <a:prstGeom prst="rect">
              <a:avLst/>
            </a:prstGeom>
            <a:solidFill>
              <a:srgbClr val="F5F3EF"/>
            </a:solidFill>
            <a:ln>
              <a:noFill/>
            </a:ln>
          </p:spPr>
          <p:txBody>
            <a:bodyPr rtlCol="0" anchor="ctr"/>
            <a:lstStyle/>
            <a:p>
              <a:pPr algn="ctr"/>
            </a:p>
          </p:txBody>
        </p:sp>
        <p:sp>
          <p:nvSpPr>
            <p:cNvPr id="10" name="TextBox 9"/>
            <p:cNvSpPr txBox="1"/>
            <p:nvPr/>
          </p:nvSpPr>
          <p:spPr>
            <a:xfrm>
              <a:off x="868680" y="3435096"/>
              <a:ext cx="6675120" cy="1011936"/>
            </a:xfrm>
            <a:prstGeom prst="rect">
              <a:avLst/>
            </a:prstGeom>
            <a:noFill/>
          </p:spPr>
          <p:txBody>
            <a:bodyPr wrap="none" lIns="0" rIns="0" tIns="0" bIns="0">
              <a:spAutoFit/>
            </a:bodyPr>
            <a:lstStyle/>
            <a:p>
              <a:r>
                <a:rPr sz="1400" b="0" i="0">
                  <a:solidFill>
                    <a:srgbClr val="1F2328"/>
                  </a:solidFill>
                  <a:latin typeface="Courier New"/>
                </a:rPr>
                <a:t>46660 UGX is 46 points</a:t>
              </a:r>
            </a:p>
            <a:p>
              <a:r>
                <a:rPr sz="1400" b="0" i="0">
                  <a:solidFill>
                    <a:srgbClr val="1F2328"/>
                  </a:solidFill>
                  <a:latin typeface="Courier New"/>
                </a:rPr>
                <a:t>2388850 UGX is 2388 points</a:t>
              </a:r>
            </a:p>
            <a:p>
              <a:r>
                <a:rPr sz="1400" b="0" i="0">
                  <a:solidFill>
                    <a:srgbClr val="1F2328"/>
                  </a:solidFill>
                  <a:latin typeface="Courier New"/>
                </a:rPr>
                <a:t>82700 UGX is 82 points</a:t>
              </a:r>
            </a:p>
            <a:p>
              <a:r>
                <a:rPr sz="1400" b="0" i="0">
                  <a:solidFill>
                    <a:srgbClr val="1F2328"/>
                  </a:solidFill>
                  <a:latin typeface="Courier New"/>
                </a:rPr>
                <a:t>2757805 UGX is 2757 points</a:t>
              </a:r>
            </a:p>
            <a:p>
              <a:r>
                <a:rPr sz="1400" b="0" i="0">
                  <a:solidFill>
                    <a:srgbClr val="1F2328"/>
                  </a:solidFill>
                  <a:latin typeface="Courier New"/>
                </a:rPr>
                <a:t>26650 UGX is 26 points</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spends is a list. The loop takes one item at a time and calls it spend.</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indented lines run once for each item.</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 divides and drops the remainder: one point per full UGX 1,000.</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loop with a running total, like SUM</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Decisions, repeats and functions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sp>
        <p:nvSpPr>
          <p:cNvPr id="5" name="Rectangle 4"/>
          <p:cNvSpPr/>
          <p:nvPr/>
        </p:nvSpPr>
        <p:spPr>
          <a:xfrm>
            <a:off x="685800" y="1600200"/>
            <a:ext cx="6949440" cy="191109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636775"/>
          </a:xfrm>
          <a:prstGeom prst="rect">
            <a:avLst/>
          </a:prstGeom>
          <a:noFill/>
        </p:spPr>
        <p:txBody>
          <a:bodyPr wrap="none" lIns="0" rIns="0" tIns="0" bIns="0">
            <a:spAutoFit/>
          </a:bodyPr>
          <a:lstStyle/>
          <a:p>
            <a:r>
              <a:rPr sz="2100" b="0" i="0">
                <a:solidFill>
                  <a:srgbClr val="1F2328"/>
                </a:solidFill>
                <a:latin typeface="Courier New"/>
              </a:rPr>
              <a:t>orders</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a:t>
            </a:r>
            <a:r>
              <a:rPr sz="2100" b="0" i="0">
                <a:solidFill>
                  <a:srgbClr val="3B4046"/>
                </a:solidFill>
                <a:latin typeface="Courier New"/>
              </a:rPr>
              <a:t>2289600</a:t>
            </a:r>
            <a:r>
              <a:rPr sz="2100" b="0" i="0">
                <a:solidFill>
                  <a:srgbClr val="1F2328"/>
                </a:solidFill>
                <a:latin typeface="Courier New"/>
              </a:rPr>
              <a:t>,</a:t>
            </a:r>
            <a:r>
              <a:rPr sz="2100" b="0" i="0">
                <a:solidFill>
                  <a:srgbClr val="1F2328"/>
                </a:solidFill>
                <a:latin typeface="Courier New"/>
              </a:rPr>
              <a:t> </a:t>
            </a:r>
            <a:r>
              <a:rPr sz="2100" b="0" i="0">
                <a:solidFill>
                  <a:srgbClr val="3B4046"/>
                </a:solidFill>
                <a:latin typeface="Courier New"/>
              </a:rPr>
              <a:t>63300</a:t>
            </a:r>
            <a:r>
              <a:rPr sz="2100" b="0" i="0">
                <a:solidFill>
                  <a:srgbClr val="1F2328"/>
                </a:solidFill>
                <a:latin typeface="Courier New"/>
              </a:rPr>
              <a:t>,</a:t>
            </a:r>
            <a:r>
              <a:rPr sz="2100" b="0" i="0">
                <a:solidFill>
                  <a:srgbClr val="1F2328"/>
                </a:solidFill>
                <a:latin typeface="Courier New"/>
              </a:rPr>
              <a:t> </a:t>
            </a:r>
            <a:r>
              <a:rPr sz="2100" b="0" i="0">
                <a:solidFill>
                  <a:srgbClr val="3B4046"/>
                </a:solidFill>
                <a:latin typeface="Courier New"/>
              </a:rPr>
              <a:t>35950</a:t>
            </a:r>
            <a:r>
              <a:rPr sz="2100" b="0" i="0">
                <a:solidFill>
                  <a:srgbClr val="1F2328"/>
                </a:solidFill>
                <a:latin typeface="Courier New"/>
              </a:rPr>
              <a:t>]</a:t>
            </a:r>
          </a:p>
          <a:p>
            <a:r>
              <a:rPr sz="2100" b="0" i="0">
                <a:solidFill>
                  <a:srgbClr val="1F2328"/>
                </a:solidFill>
                <a:latin typeface="Courier New"/>
              </a:rPr>
              <a:t>total</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3B4046"/>
                </a:solidFill>
                <a:latin typeface="Courier New"/>
              </a:rPr>
              <a:t>0</a:t>
            </a:r>
          </a:p>
          <a:p>
            <a:r>
              <a:rPr sz="2100" b="1" i="0">
                <a:solidFill>
                  <a:srgbClr val="1F2328"/>
                </a:solidFill>
                <a:latin typeface="Courier New"/>
              </a:rPr>
              <a:t>for</a:t>
            </a:r>
            <a:r>
              <a:rPr sz="2100" b="0" i="0">
                <a:solidFill>
                  <a:srgbClr val="1F2328"/>
                </a:solidFill>
                <a:latin typeface="Courier New"/>
              </a:rPr>
              <a:t> </a:t>
            </a:r>
            <a:r>
              <a:rPr sz="2100" b="0" i="0">
                <a:solidFill>
                  <a:srgbClr val="1F2328"/>
                </a:solidFill>
                <a:latin typeface="Courier New"/>
              </a:rPr>
              <a:t>value</a:t>
            </a:r>
            <a:r>
              <a:rPr sz="2100" b="0" i="0">
                <a:solidFill>
                  <a:srgbClr val="1F2328"/>
                </a:solidFill>
                <a:latin typeface="Courier New"/>
              </a:rPr>
              <a:t> </a:t>
            </a:r>
            <a:r>
              <a:rPr sz="2100" b="1" i="0">
                <a:solidFill>
                  <a:srgbClr val="1F2328"/>
                </a:solidFill>
                <a:latin typeface="Courier New"/>
              </a:rPr>
              <a:t>in</a:t>
            </a:r>
            <a:r>
              <a:rPr sz="2100" b="0" i="0">
                <a:solidFill>
                  <a:srgbClr val="1F2328"/>
                </a:solidFill>
                <a:latin typeface="Courier New"/>
              </a:rPr>
              <a:t> </a:t>
            </a:r>
            <a:r>
              <a:rPr sz="2100" b="0" i="0">
                <a:solidFill>
                  <a:srgbClr val="1F2328"/>
                </a:solidFill>
                <a:latin typeface="Courier New"/>
              </a:rPr>
              <a:t>orders</a:t>
            </a:r>
            <a:r>
              <a:rPr sz="2100" b="0" i="0">
                <a:solidFill>
                  <a:srgbClr val="1F2328"/>
                </a:solidFill>
                <a:latin typeface="Courier New"/>
              </a:rPr>
              <a:t>:</a:t>
            </a:r>
          </a:p>
          <a:p>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total</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total</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value</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total</a:t>
            </a:r>
            <a:r>
              <a:rPr sz="2100" b="0" i="0">
                <a:solidFill>
                  <a:srgbClr val="1F2328"/>
                </a:solidFill>
                <a:latin typeface="Courier New"/>
              </a:rPr>
              <a:t>)</a:t>
            </a:r>
          </a:p>
        </p:txBody>
      </p:sp>
      <p:grpSp>
        <p:nvGrpSpPr>
          <p:cNvPr id="7" name="output"/>
          <p:cNvGrpSpPr/>
          <p:nvPr/>
        </p:nvGrpSpPr>
        <p:grpSpPr>
          <a:xfrm>
            <a:off x="685800" y="3621024"/>
            <a:ext cx="6949440" cy="524256"/>
            <a:chOff x="685800" y="3621024"/>
            <a:chExt cx="6949440" cy="524256"/>
          </a:xfrm>
        </p:grpSpPr>
        <p:sp>
          <p:nvSpPr>
            <p:cNvPr id="8" name="TextBox 7"/>
            <p:cNvSpPr txBox="1"/>
            <p:nvPr/>
          </p:nvSpPr>
          <p:spPr>
            <a:xfrm>
              <a:off x="685800" y="36210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877056"/>
              <a:ext cx="6949440"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3968496"/>
              <a:ext cx="6675120" cy="158496"/>
            </a:xfrm>
            <a:prstGeom prst="rect">
              <a:avLst/>
            </a:prstGeom>
            <a:noFill/>
          </p:spPr>
          <p:txBody>
            <a:bodyPr wrap="none" lIns="0" rIns="0" tIns="0" bIns="0">
              <a:spAutoFit/>
            </a:bodyPr>
            <a:lstStyle/>
            <a:p>
              <a:r>
                <a:rPr sz="1400" b="0" i="0">
                  <a:solidFill>
                    <a:srgbClr val="1F2328"/>
                  </a:solidFill>
                  <a:latin typeface="Courier New"/>
                </a:rPr>
                <a:t>2388850</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Start the running total at zero, like an empty cell.</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Each pass adds one order, the way SUM walks down a column.</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print sits at the left edge, so it runs once, after the loop.</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Function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Decisions, repeats and functions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sp>
        <p:nvSpPr>
          <p:cNvPr id="5" name="TextBox 4"/>
          <p:cNvSpPr txBox="1"/>
          <p:nvPr/>
        </p:nvSpPr>
        <p:spPr>
          <a:xfrm>
            <a:off x="685800" y="1600200"/>
            <a:ext cx="9875520" cy="1828800"/>
          </a:xfrm>
          <a:prstGeom prst="rect">
            <a:avLst/>
          </a:prstGeom>
          <a:noFill/>
        </p:spPr>
        <p:txBody>
          <a:bodyPr wrap="square" lIns="0" rIns="0" tIns="18288" bIns="18288" anchor="t">
            <a:spAutoFit/>
          </a:bodyPr>
          <a:lstStyle/>
          <a:p>
            <a:pPr algn="l"/>
            <a:r>
              <a:rPr sz="3200" b="0" i="0">
                <a:solidFill>
                  <a:srgbClr val="1F2328"/>
                </a:solidFill>
                <a:latin typeface="Cambria"/>
              </a:rPr>
              <a:t>A named set of steps. You hand it a value, it follows the steps, and it hands one answer back.</a:t>
            </a:r>
          </a:p>
        </p:txBody>
      </p:sp>
      <p:cxnSp>
        <p:nvCxnSpPr>
          <p:cNvPr id="6" name="Connector 5"/>
          <p:cNvCxnSpPr/>
          <p:nvPr/>
        </p:nvCxnSpPr>
        <p:spPr>
          <a:xfrm>
            <a:off x="6095847" y="2998622"/>
            <a:ext cx="0" cy="3219298"/>
          </a:xfrm>
          <a:prstGeom prst="line">
            <a:avLst/>
          </a:prstGeom>
          <a:ln w="9525">
            <a:solidFill>
              <a:srgbClr val="C9C5BC"/>
            </a:solidFill>
          </a:ln>
        </p:spPr>
      </p:cxnSp>
      <p:cxnSp>
        <p:nvCxnSpPr>
          <p:cNvPr id="7" name="Connector 6"/>
          <p:cNvCxnSpPr/>
          <p:nvPr/>
        </p:nvCxnSpPr>
        <p:spPr>
          <a:xfrm>
            <a:off x="685800" y="2998622"/>
            <a:ext cx="5044287" cy="0"/>
          </a:xfrm>
          <a:prstGeom prst="line">
            <a:avLst/>
          </a:prstGeom>
          <a:ln w="15875">
            <a:solidFill>
              <a:srgbClr val="1F2328"/>
            </a:solidFill>
          </a:ln>
        </p:spPr>
      </p:cxnSp>
      <p:sp>
        <p:nvSpPr>
          <p:cNvPr id="8" name="TextBox 7"/>
          <p:cNvSpPr txBox="1"/>
          <p:nvPr/>
        </p:nvSpPr>
        <p:spPr>
          <a:xfrm>
            <a:off x="685800"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our data</a:t>
            </a:r>
          </a:p>
        </p:txBody>
      </p:sp>
      <p:sp>
        <p:nvSpPr>
          <p:cNvPr id="9" name="TextBox 8"/>
          <p:cNvSpPr txBox="1"/>
          <p:nvPr/>
        </p:nvSpPr>
        <p:spPr>
          <a:xfrm>
            <a:off x="685800"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loyalty_tier(2388850) hands back "Silver". The same function works for any customer's spend.</a:t>
            </a:r>
          </a:p>
        </p:txBody>
      </p:sp>
      <p:cxnSp>
        <p:nvCxnSpPr>
          <p:cNvPr id="10" name="Connector 9"/>
          <p:cNvCxnSpPr/>
          <p:nvPr/>
        </p:nvCxnSpPr>
        <p:spPr>
          <a:xfrm>
            <a:off x="6461607" y="2998622"/>
            <a:ext cx="5044288" cy="0"/>
          </a:xfrm>
          <a:prstGeom prst="line">
            <a:avLst/>
          </a:prstGeom>
          <a:ln w="15875">
            <a:solidFill>
              <a:srgbClr val="1F2328"/>
            </a:solidFill>
          </a:ln>
        </p:spPr>
      </p:cxnSp>
      <p:sp>
        <p:nvSpPr>
          <p:cNvPr id="11" name="TextBox 10"/>
          <p:cNvSpPr txBox="1"/>
          <p:nvPr/>
        </p:nvSpPr>
        <p:spPr>
          <a:xfrm>
            <a:off x="6461607"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a spreadsheet</a:t>
            </a:r>
          </a:p>
        </p:txBody>
      </p:sp>
      <p:sp>
        <p:nvSpPr>
          <p:cNvPr id="12" name="TextBox 11"/>
          <p:cNvSpPr txBox="1"/>
          <p:nvPr/>
        </p:nvSpPr>
        <p:spPr>
          <a:xfrm>
            <a:off x="6461607"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A formula you name yourself, such as =TIER(B2), that you can use on every row.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Writing a function in five steps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Decisions, repeats and functions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cxnSp>
        <p:nvCxnSpPr>
          <p:cNvPr id="5" name="Connector 4"/>
          <p:cNvCxnSpPr/>
          <p:nvPr/>
        </p:nvCxnSpPr>
        <p:spPr>
          <a:xfrm>
            <a:off x="795528" y="2286000"/>
            <a:ext cx="10600639" cy="0"/>
          </a:xfrm>
          <a:prstGeom prst="line">
            <a:avLst/>
          </a:prstGeom>
          <a:ln w="19050">
            <a:solidFill>
              <a:srgbClr val="1F2328"/>
            </a:solidFill>
          </a:ln>
        </p:spPr>
      </p:cxnSp>
      <p:grpSp>
        <p:nvGrpSpPr>
          <p:cNvPr id="6" name="step-1"/>
          <p:cNvGrpSpPr/>
          <p:nvPr/>
        </p:nvGrpSpPr>
        <p:grpSpPr>
          <a:xfrm>
            <a:off x="676656" y="2167128"/>
            <a:ext cx="1944563" cy="2999231"/>
            <a:chOff x="676656" y="2167128"/>
            <a:chExt cx="1944563" cy="2999231"/>
          </a:xfrm>
        </p:grpSpPr>
        <p:sp>
          <p:nvSpPr>
            <p:cNvPr id="7" name="Oval 6"/>
            <p:cNvSpPr/>
            <p:nvPr/>
          </p:nvSpPr>
          <p:spPr>
            <a:xfrm>
              <a:off x="676656" y="2167128"/>
              <a:ext cx="237744" cy="237744"/>
            </a:xfrm>
            <a:prstGeom prst="ellipse">
              <a:avLst/>
            </a:prstGeom>
            <a:solidFill>
              <a:srgbClr val="FFFFFF"/>
            </a:solidFill>
            <a:ln w="19050">
              <a:solidFill>
                <a:srgbClr val="1F2328"/>
              </a:solidFill>
            </a:ln>
          </p:spPr>
          <p:txBody>
            <a:bodyPr rtlCol="0" anchor="ctr"/>
            <a:lstStyle/>
            <a:p>
              <a:pPr algn="ctr"/>
            </a:p>
          </p:txBody>
        </p:sp>
        <p:sp>
          <p:nvSpPr>
            <p:cNvPr id="8" name="TextBox 7"/>
            <p:cNvSpPr txBox="1"/>
            <p:nvPr/>
          </p:nvSpPr>
          <p:spPr>
            <a:xfrm>
              <a:off x="685800"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def</a:t>
              </a:r>
            </a:p>
          </p:txBody>
        </p:sp>
        <p:sp>
          <p:nvSpPr>
            <p:cNvPr id="9" name="TextBox 8"/>
            <p:cNvSpPr txBox="1"/>
            <p:nvPr/>
          </p:nvSpPr>
          <p:spPr>
            <a:xfrm>
              <a:off x="685800"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def and a name that says what it does</a:t>
              </a:r>
            </a:p>
          </p:txBody>
        </p:sp>
      </p:grpSp>
      <p:grpSp>
        <p:nvGrpSpPr>
          <p:cNvPr id="10" name="step-2"/>
          <p:cNvGrpSpPr/>
          <p:nvPr/>
        </p:nvGrpSpPr>
        <p:grpSpPr>
          <a:xfrm>
            <a:off x="2840675" y="2167128"/>
            <a:ext cx="1944563" cy="2999231"/>
            <a:chOff x="2840675" y="2167128"/>
            <a:chExt cx="1944563" cy="2999231"/>
          </a:xfrm>
        </p:grpSpPr>
        <p:sp>
          <p:nvSpPr>
            <p:cNvPr id="11" name="Oval 10"/>
            <p:cNvSpPr/>
            <p:nvPr/>
          </p:nvSpPr>
          <p:spPr>
            <a:xfrm>
              <a:off x="2840675" y="2167128"/>
              <a:ext cx="237744" cy="237744"/>
            </a:xfrm>
            <a:prstGeom prst="ellipse">
              <a:avLst/>
            </a:prstGeom>
            <a:solidFill>
              <a:srgbClr val="FFFFFF"/>
            </a:solidFill>
            <a:ln w="19050">
              <a:solidFill>
                <a:srgbClr val="1F2328"/>
              </a:solidFill>
            </a:ln>
          </p:spPr>
          <p:txBody>
            <a:bodyPr rtlCol="0" anchor="ctr"/>
            <a:lstStyle/>
            <a:p>
              <a:pPr algn="ctr"/>
            </a:p>
          </p:txBody>
        </p:sp>
        <p:sp>
          <p:nvSpPr>
            <p:cNvPr id="12" name="TextBox 11"/>
            <p:cNvSpPr txBox="1"/>
            <p:nvPr/>
          </p:nvSpPr>
          <p:spPr>
            <a:xfrm>
              <a:off x="2849819"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Argument</a:t>
              </a:r>
            </a:p>
          </p:txBody>
        </p:sp>
        <p:sp>
          <p:nvSpPr>
            <p:cNvPr id="13" name="TextBox 12"/>
            <p:cNvSpPr txBox="1"/>
            <p:nvPr/>
          </p:nvSpPr>
          <p:spPr>
            <a:xfrm>
              <a:off x="2849819"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The input goes in brackets</a:t>
              </a:r>
            </a:p>
          </p:txBody>
        </p:sp>
      </p:grpSp>
      <p:grpSp>
        <p:nvGrpSpPr>
          <p:cNvPr id="14" name="step-3"/>
          <p:cNvGrpSpPr/>
          <p:nvPr/>
        </p:nvGrpSpPr>
        <p:grpSpPr>
          <a:xfrm>
            <a:off x="5004694" y="2167128"/>
            <a:ext cx="1944563" cy="2999231"/>
            <a:chOff x="5004694" y="2167128"/>
            <a:chExt cx="1944563" cy="2999231"/>
          </a:xfrm>
        </p:grpSpPr>
        <p:sp>
          <p:nvSpPr>
            <p:cNvPr id="15" name="Oval 14"/>
            <p:cNvSpPr/>
            <p:nvPr/>
          </p:nvSpPr>
          <p:spPr>
            <a:xfrm>
              <a:off x="5004694" y="2167128"/>
              <a:ext cx="237744" cy="237744"/>
            </a:xfrm>
            <a:prstGeom prst="ellipse">
              <a:avLst/>
            </a:prstGeom>
            <a:solidFill>
              <a:srgbClr val="FFFFFF"/>
            </a:solidFill>
            <a:ln w="19050">
              <a:solidFill>
                <a:srgbClr val="1F2328"/>
              </a:solidFill>
            </a:ln>
          </p:spPr>
          <p:txBody>
            <a:bodyPr rtlCol="0" anchor="ctr"/>
            <a:lstStyle/>
            <a:p>
              <a:pPr algn="ctr"/>
            </a:p>
          </p:txBody>
        </p:sp>
        <p:sp>
          <p:nvSpPr>
            <p:cNvPr id="16" name="TextBox 15"/>
            <p:cNvSpPr txBox="1"/>
            <p:nvPr/>
          </p:nvSpPr>
          <p:spPr>
            <a:xfrm>
              <a:off x="5013838"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Body</a:t>
              </a:r>
            </a:p>
          </p:txBody>
        </p:sp>
        <p:sp>
          <p:nvSpPr>
            <p:cNvPr id="17" name="TextBox 16"/>
            <p:cNvSpPr txBox="1"/>
            <p:nvPr/>
          </p:nvSpPr>
          <p:spPr>
            <a:xfrm>
              <a:off x="5013838"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The steps, pushed in with the indent</a:t>
              </a:r>
            </a:p>
          </p:txBody>
        </p:sp>
      </p:grpSp>
      <p:grpSp>
        <p:nvGrpSpPr>
          <p:cNvPr id="18" name="step-4"/>
          <p:cNvGrpSpPr/>
          <p:nvPr/>
        </p:nvGrpSpPr>
        <p:grpSpPr>
          <a:xfrm>
            <a:off x="7168713" y="2167128"/>
            <a:ext cx="1944563" cy="2999231"/>
            <a:chOff x="7168713" y="2167128"/>
            <a:chExt cx="1944563" cy="2999231"/>
          </a:xfrm>
        </p:grpSpPr>
        <p:sp>
          <p:nvSpPr>
            <p:cNvPr id="19" name="Oval 18"/>
            <p:cNvSpPr/>
            <p:nvPr/>
          </p:nvSpPr>
          <p:spPr>
            <a:xfrm>
              <a:off x="7168713" y="2167128"/>
              <a:ext cx="237744" cy="237744"/>
            </a:xfrm>
            <a:prstGeom prst="ellipse">
              <a:avLst/>
            </a:prstGeom>
            <a:solidFill>
              <a:srgbClr val="FFFFFF"/>
            </a:solidFill>
            <a:ln w="19050">
              <a:solidFill>
                <a:srgbClr val="1F2328"/>
              </a:solidFill>
            </a:ln>
          </p:spPr>
          <p:txBody>
            <a:bodyPr rtlCol="0" anchor="ctr"/>
            <a:lstStyle/>
            <a:p>
              <a:pPr algn="ctr"/>
            </a:p>
          </p:txBody>
        </p:sp>
        <p:sp>
          <p:nvSpPr>
            <p:cNvPr id="20" name="TextBox 19"/>
            <p:cNvSpPr txBox="1"/>
            <p:nvPr/>
          </p:nvSpPr>
          <p:spPr>
            <a:xfrm>
              <a:off x="7177857"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return</a:t>
              </a:r>
            </a:p>
          </p:txBody>
        </p:sp>
        <p:sp>
          <p:nvSpPr>
            <p:cNvPr id="21" name="TextBox 20"/>
            <p:cNvSpPr txBox="1"/>
            <p:nvPr/>
          </p:nvSpPr>
          <p:spPr>
            <a:xfrm>
              <a:off x="7177857"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Send the answer back</a:t>
              </a:r>
            </a:p>
          </p:txBody>
        </p:sp>
      </p:grpSp>
      <p:grpSp>
        <p:nvGrpSpPr>
          <p:cNvPr id="22" name="step-5"/>
          <p:cNvGrpSpPr/>
          <p:nvPr/>
        </p:nvGrpSpPr>
        <p:grpSpPr>
          <a:xfrm>
            <a:off x="9332732" y="2167128"/>
            <a:ext cx="1944563" cy="2999231"/>
            <a:chOff x="9332732" y="2167128"/>
            <a:chExt cx="1944563" cy="2999231"/>
          </a:xfrm>
        </p:grpSpPr>
        <p:sp>
          <p:nvSpPr>
            <p:cNvPr id="23" name="Oval 22"/>
            <p:cNvSpPr/>
            <p:nvPr/>
          </p:nvSpPr>
          <p:spPr>
            <a:xfrm>
              <a:off x="9332732" y="2167128"/>
              <a:ext cx="237744" cy="237744"/>
            </a:xfrm>
            <a:prstGeom prst="ellipse">
              <a:avLst/>
            </a:prstGeom>
            <a:solidFill>
              <a:srgbClr val="FFFFFF"/>
            </a:solidFill>
            <a:ln w="19050">
              <a:solidFill>
                <a:srgbClr val="1F2328"/>
              </a:solidFill>
            </a:ln>
          </p:spPr>
          <p:txBody>
            <a:bodyPr rtlCol="0" anchor="ctr"/>
            <a:lstStyle/>
            <a:p>
              <a:pPr algn="ctr"/>
            </a:p>
          </p:txBody>
        </p:sp>
        <p:sp>
          <p:nvSpPr>
            <p:cNvPr id="24" name="TextBox 23"/>
            <p:cNvSpPr txBox="1"/>
            <p:nvPr/>
          </p:nvSpPr>
          <p:spPr>
            <a:xfrm>
              <a:off x="9341876"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Call</a:t>
              </a:r>
            </a:p>
          </p:txBody>
        </p:sp>
        <p:sp>
          <p:nvSpPr>
            <p:cNvPr id="25" name="TextBox 24"/>
            <p:cNvSpPr txBox="1"/>
            <p:nvPr/>
          </p:nvSpPr>
          <p:spPr>
            <a:xfrm>
              <a:off x="9341876"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Use the name with a value in brackets</a:t>
              </a:r>
            </a:p>
          </p:txBody>
        </p:sp>
      </p:grpSp>
      <p:cxnSp>
        <p:nvCxnSpPr>
          <p:cNvPr id="26" name="Connector 25"/>
          <p:cNvCxnSpPr/>
          <p:nvPr/>
        </p:nvCxnSpPr>
        <p:spPr>
          <a:xfrm>
            <a:off x="685800" y="5120640"/>
            <a:ext cx="10820095" cy="0"/>
          </a:xfrm>
          <a:prstGeom prst="line">
            <a:avLst/>
          </a:prstGeom>
          <a:ln w="15875">
            <a:solidFill>
              <a:srgbClr val="1F2328"/>
            </a:solidFill>
          </a:ln>
        </p:spPr>
      </p:cxnSp>
      <p:sp>
        <p:nvSpPr>
          <p:cNvPr id="27" name="TextBox 26"/>
          <p:cNvSpPr txBox="1"/>
          <p:nvPr/>
        </p:nvSpPr>
        <p:spPr>
          <a:xfrm>
            <a:off x="685800" y="5257800"/>
            <a:ext cx="10820095" cy="914400"/>
          </a:xfrm>
          <a:prstGeom prst="rect">
            <a:avLst/>
          </a:prstGeom>
          <a:noFill/>
        </p:spPr>
        <p:txBody>
          <a:bodyPr wrap="square" lIns="0" rIns="0" tIns="18288" bIns="18288" anchor="t">
            <a:spAutoFit/>
          </a:bodyPr>
          <a:lstStyle/>
          <a:p>
            <a:pPr algn="l"/>
            <a:r>
              <a:rPr sz="2200" b="0" i="0">
                <a:solidFill>
                  <a:srgbClr val="1F2328"/>
                </a:solidFill>
                <a:latin typeface="Cambria"/>
              </a:rPr>
              <a:t>Define it once. Call it as often as you like.</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loyalty tier function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Decisions, repeats and functions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sp>
        <p:nvSpPr>
          <p:cNvPr id="5" name="Rectangle 4"/>
          <p:cNvSpPr/>
          <p:nvPr/>
        </p:nvSpPr>
        <p:spPr>
          <a:xfrm>
            <a:off x="685800" y="1600200"/>
            <a:ext cx="6949440" cy="349605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3221735"/>
          </a:xfrm>
          <a:prstGeom prst="rect">
            <a:avLst/>
          </a:prstGeom>
          <a:noFill/>
        </p:spPr>
        <p:txBody>
          <a:bodyPr wrap="none" lIns="0" rIns="0" tIns="0" bIns="0">
            <a:spAutoFit/>
          </a:bodyPr>
          <a:lstStyle/>
          <a:p>
            <a:r>
              <a:rPr sz="1900" b="1" i="0">
                <a:solidFill>
                  <a:srgbClr val="1F2328"/>
                </a:solidFill>
                <a:latin typeface="Courier New"/>
              </a:rPr>
              <a:t>def</a:t>
            </a:r>
            <a:r>
              <a:rPr sz="1900" b="0" i="0">
                <a:solidFill>
                  <a:srgbClr val="1F2328"/>
                </a:solidFill>
                <a:latin typeface="Courier New"/>
              </a:rPr>
              <a:t> </a:t>
            </a:r>
            <a:r>
              <a:rPr sz="1900" b="0" i="0">
                <a:solidFill>
                  <a:srgbClr val="1F2328"/>
                </a:solidFill>
                <a:latin typeface="Courier New"/>
              </a:rPr>
              <a:t>loyalty_tier</a:t>
            </a:r>
            <a:r>
              <a:rPr sz="1900" b="0" i="0">
                <a:solidFill>
                  <a:srgbClr val="1F2328"/>
                </a:solidFill>
                <a:latin typeface="Courier New"/>
              </a:rPr>
              <a:t>(</a:t>
            </a:r>
            <a:r>
              <a:rPr sz="1900" b="0" i="0">
                <a:solidFill>
                  <a:srgbClr val="1F2328"/>
                </a:solidFill>
                <a:latin typeface="Courier New"/>
              </a:rPr>
              <a:t>spend_ugx</a:t>
            </a:r>
            <a:r>
              <a:rPr sz="1900" b="0" i="0">
                <a:solidFill>
                  <a:srgbClr val="1F2328"/>
                </a:solidFill>
                <a:latin typeface="Courier New"/>
              </a:rPr>
              <a:t>)</a:t>
            </a:r>
            <a:r>
              <a:rPr sz="1900" b="0" i="0">
                <a:solidFill>
                  <a:srgbClr val="1F2328"/>
                </a:solidFill>
                <a:latin typeface="Courier New"/>
              </a:rPr>
              <a:t>:</a:t>
            </a:r>
          </a:p>
          <a:p>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points</a:t>
            </a:r>
            <a:r>
              <a:rPr sz="1900" b="0" i="0">
                <a:solidFill>
                  <a:srgbClr val="1F2328"/>
                </a:solidFill>
                <a:latin typeface="Courier New"/>
              </a:rPr>
              <a:t> </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spend_ugx</a:t>
            </a:r>
            <a:r>
              <a:rPr sz="1900" b="0" i="0">
                <a:solidFill>
                  <a:srgbClr val="1F2328"/>
                </a:solidFill>
                <a:latin typeface="Courier New"/>
              </a:rPr>
              <a:t> </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 </a:t>
            </a:r>
            <a:r>
              <a:rPr sz="1900" b="0" i="0">
                <a:solidFill>
                  <a:srgbClr val="3B4046"/>
                </a:solidFill>
                <a:latin typeface="Courier New"/>
              </a:rPr>
              <a:t>1000</a:t>
            </a:r>
          </a:p>
          <a:p>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1" i="0">
                <a:solidFill>
                  <a:srgbClr val="1F2328"/>
                </a:solidFill>
                <a:latin typeface="Courier New"/>
              </a:rPr>
              <a:t>if</a:t>
            </a:r>
            <a:r>
              <a:rPr sz="1900" b="0" i="0">
                <a:solidFill>
                  <a:srgbClr val="1F2328"/>
                </a:solidFill>
                <a:latin typeface="Courier New"/>
              </a:rPr>
              <a:t> </a:t>
            </a:r>
            <a:r>
              <a:rPr sz="1900" b="0" i="0">
                <a:solidFill>
                  <a:srgbClr val="1F2328"/>
                </a:solidFill>
                <a:latin typeface="Courier New"/>
              </a:rPr>
              <a:t>points</a:t>
            </a:r>
            <a:r>
              <a:rPr sz="1900" b="0" i="0">
                <a:solidFill>
                  <a:srgbClr val="1F2328"/>
                </a:solidFill>
                <a:latin typeface="Courier New"/>
              </a:rPr>
              <a:t> </a:t>
            </a:r>
            <a:r>
              <a:rPr sz="1900" b="0" i="0">
                <a:solidFill>
                  <a:srgbClr val="1F2328"/>
                </a:solidFill>
                <a:latin typeface="Courier New"/>
              </a:rPr>
              <a:t>&gt;</a:t>
            </a:r>
            <a:r>
              <a:rPr sz="1900" b="0" i="0">
                <a:solidFill>
                  <a:srgbClr val="1F2328"/>
                </a:solidFill>
                <a:latin typeface="Courier New"/>
              </a:rPr>
              <a:t>=</a:t>
            </a:r>
            <a:r>
              <a:rPr sz="1900" b="0" i="0">
                <a:solidFill>
                  <a:srgbClr val="1F2328"/>
                </a:solidFill>
                <a:latin typeface="Courier New"/>
              </a:rPr>
              <a:t> </a:t>
            </a:r>
            <a:r>
              <a:rPr sz="1900" b="0" i="0">
                <a:solidFill>
                  <a:srgbClr val="3B4046"/>
                </a:solidFill>
                <a:latin typeface="Courier New"/>
              </a:rPr>
              <a:t>6000</a:t>
            </a:r>
            <a:r>
              <a:rPr sz="1900" b="0" i="0">
                <a:solidFill>
                  <a:srgbClr val="1F2328"/>
                </a:solidFill>
                <a:latin typeface="Courier New"/>
              </a:rPr>
              <a:t>:</a:t>
            </a:r>
          </a:p>
          <a:p>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1" i="0">
                <a:solidFill>
                  <a:srgbClr val="1F2328"/>
                </a:solidFill>
                <a:latin typeface="Courier New"/>
              </a:rPr>
              <a:t>return</a:t>
            </a:r>
            <a:r>
              <a:rPr sz="1900" b="0" i="0">
                <a:solidFill>
                  <a:srgbClr val="1F2328"/>
                </a:solidFill>
                <a:latin typeface="Courier New"/>
              </a:rPr>
              <a:t> </a:t>
            </a:r>
            <a:r>
              <a:rPr sz="1900" b="0" i="0">
                <a:solidFill>
                  <a:srgbClr val="B04A2B"/>
                </a:solidFill>
                <a:latin typeface="Courier New"/>
              </a:rPr>
              <a:t>"Gold"</a:t>
            </a:r>
          </a:p>
          <a:p>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1" i="0">
                <a:solidFill>
                  <a:srgbClr val="1F2328"/>
                </a:solidFill>
                <a:latin typeface="Courier New"/>
              </a:rPr>
              <a:t>elif</a:t>
            </a:r>
            <a:r>
              <a:rPr sz="1900" b="0" i="0">
                <a:solidFill>
                  <a:srgbClr val="1F2328"/>
                </a:solidFill>
                <a:latin typeface="Courier New"/>
              </a:rPr>
              <a:t> </a:t>
            </a:r>
            <a:r>
              <a:rPr sz="1900" b="0" i="0">
                <a:solidFill>
                  <a:srgbClr val="1F2328"/>
                </a:solidFill>
                <a:latin typeface="Courier New"/>
              </a:rPr>
              <a:t>points</a:t>
            </a:r>
            <a:r>
              <a:rPr sz="1900" b="0" i="0">
                <a:solidFill>
                  <a:srgbClr val="1F2328"/>
                </a:solidFill>
                <a:latin typeface="Courier New"/>
              </a:rPr>
              <a:t> </a:t>
            </a:r>
            <a:r>
              <a:rPr sz="1900" b="0" i="0">
                <a:solidFill>
                  <a:srgbClr val="1F2328"/>
                </a:solidFill>
                <a:latin typeface="Courier New"/>
              </a:rPr>
              <a:t>&gt;</a:t>
            </a:r>
            <a:r>
              <a:rPr sz="1900" b="0" i="0">
                <a:solidFill>
                  <a:srgbClr val="1F2328"/>
                </a:solidFill>
                <a:latin typeface="Courier New"/>
              </a:rPr>
              <a:t>=</a:t>
            </a:r>
            <a:r>
              <a:rPr sz="1900" b="0" i="0">
                <a:solidFill>
                  <a:srgbClr val="1F2328"/>
                </a:solidFill>
                <a:latin typeface="Courier New"/>
              </a:rPr>
              <a:t> </a:t>
            </a:r>
            <a:r>
              <a:rPr sz="1900" b="0" i="0">
                <a:solidFill>
                  <a:srgbClr val="3B4046"/>
                </a:solidFill>
                <a:latin typeface="Courier New"/>
              </a:rPr>
              <a:t>2000</a:t>
            </a:r>
            <a:r>
              <a:rPr sz="1900" b="0" i="0">
                <a:solidFill>
                  <a:srgbClr val="1F2328"/>
                </a:solidFill>
                <a:latin typeface="Courier New"/>
              </a:rPr>
              <a:t>:</a:t>
            </a:r>
          </a:p>
          <a:p>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1" i="0">
                <a:solidFill>
                  <a:srgbClr val="1F2328"/>
                </a:solidFill>
                <a:latin typeface="Courier New"/>
              </a:rPr>
              <a:t>return</a:t>
            </a:r>
            <a:r>
              <a:rPr sz="1900" b="0" i="0">
                <a:solidFill>
                  <a:srgbClr val="1F2328"/>
                </a:solidFill>
                <a:latin typeface="Courier New"/>
              </a:rPr>
              <a:t> </a:t>
            </a:r>
            <a:r>
              <a:rPr sz="1900" b="0" i="0">
                <a:solidFill>
                  <a:srgbClr val="B04A2B"/>
                </a:solidFill>
                <a:latin typeface="Courier New"/>
              </a:rPr>
              <a:t>"Silver"</a:t>
            </a:r>
          </a:p>
          <a:p>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1" i="0">
                <a:solidFill>
                  <a:srgbClr val="1F2328"/>
                </a:solidFill>
                <a:latin typeface="Courier New"/>
              </a:rPr>
              <a:t>else</a:t>
            </a:r>
            <a:r>
              <a:rPr sz="1900" b="0" i="0">
                <a:solidFill>
                  <a:srgbClr val="1F2328"/>
                </a:solidFill>
                <a:latin typeface="Courier New"/>
              </a:rPr>
              <a:t>:</a:t>
            </a:r>
          </a:p>
          <a:p>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1" i="0">
                <a:solidFill>
                  <a:srgbClr val="1F2328"/>
                </a:solidFill>
                <a:latin typeface="Courier New"/>
              </a:rPr>
              <a:t>return</a:t>
            </a:r>
            <a:r>
              <a:rPr sz="1900" b="0" i="0">
                <a:solidFill>
                  <a:srgbClr val="1F2328"/>
                </a:solidFill>
                <a:latin typeface="Courier New"/>
              </a:rPr>
              <a:t> </a:t>
            </a:r>
            <a:r>
              <a:rPr sz="1900" b="0" i="0">
                <a:solidFill>
                  <a:srgbClr val="B04A2B"/>
                </a:solidFill>
                <a:latin typeface="Courier New"/>
              </a:rPr>
              <a:t>"Basic"</a:t>
            </a:r>
          </a:p>
          <a:p>
            <a:r>
              <a:rPr sz="1900" b="0" i="0">
                <a:solidFill>
                  <a:srgbClr val="1F2328"/>
                </a:solidFill>
                <a:latin typeface="Courier New"/>
              </a:rPr>
              <a:t> </a:t>
            </a:r>
          </a:p>
          <a:p>
            <a:r>
              <a:rPr sz="1900" b="0" i="0">
                <a:solidFill>
                  <a:srgbClr val="1F2328"/>
                </a:solidFill>
                <a:latin typeface="Courier New"/>
              </a:rPr>
              <a:t>print</a:t>
            </a:r>
            <a:r>
              <a:rPr sz="1900" b="0" i="0">
                <a:solidFill>
                  <a:srgbClr val="1F2328"/>
                </a:solidFill>
                <a:latin typeface="Courier New"/>
              </a:rPr>
              <a:t>(</a:t>
            </a:r>
            <a:r>
              <a:rPr sz="1900" b="0" i="0">
                <a:solidFill>
                  <a:srgbClr val="1F2328"/>
                </a:solidFill>
                <a:latin typeface="Courier New"/>
              </a:rPr>
              <a:t>loyalty_tier</a:t>
            </a:r>
            <a:r>
              <a:rPr sz="1900" b="0" i="0">
                <a:solidFill>
                  <a:srgbClr val="1F2328"/>
                </a:solidFill>
                <a:latin typeface="Courier New"/>
              </a:rPr>
              <a:t>(</a:t>
            </a:r>
            <a:r>
              <a:rPr sz="1900" b="0" i="0">
                <a:solidFill>
                  <a:srgbClr val="3B4046"/>
                </a:solidFill>
                <a:latin typeface="Courier New"/>
              </a:rPr>
              <a:t>2388850</a:t>
            </a:r>
            <a:r>
              <a:rPr sz="1900" b="0" i="0">
                <a:solidFill>
                  <a:srgbClr val="1F2328"/>
                </a:solidFill>
                <a:latin typeface="Courier New"/>
              </a:rPr>
              <a:t>)</a:t>
            </a:r>
            <a:r>
              <a:rPr sz="1900" b="0" i="0">
                <a:solidFill>
                  <a:srgbClr val="1F2328"/>
                </a:solidFill>
                <a:latin typeface="Courier New"/>
              </a:rPr>
              <a:t>)</a:t>
            </a:r>
          </a:p>
          <a:p>
            <a:r>
              <a:rPr sz="1900" b="0" i="0">
                <a:solidFill>
                  <a:srgbClr val="1F2328"/>
                </a:solidFill>
                <a:latin typeface="Courier New"/>
              </a:rPr>
              <a:t>print</a:t>
            </a:r>
            <a:r>
              <a:rPr sz="1900" b="0" i="0">
                <a:solidFill>
                  <a:srgbClr val="1F2328"/>
                </a:solidFill>
                <a:latin typeface="Courier New"/>
              </a:rPr>
              <a:t>(</a:t>
            </a:r>
            <a:r>
              <a:rPr sz="1900" b="0" i="0">
                <a:solidFill>
                  <a:srgbClr val="1F2328"/>
                </a:solidFill>
                <a:latin typeface="Courier New"/>
              </a:rPr>
              <a:t>loyalty_tier</a:t>
            </a:r>
            <a:r>
              <a:rPr sz="1900" b="0" i="0">
                <a:solidFill>
                  <a:srgbClr val="1F2328"/>
                </a:solidFill>
                <a:latin typeface="Courier New"/>
              </a:rPr>
              <a:t>(</a:t>
            </a:r>
            <a:r>
              <a:rPr sz="1900" b="0" i="0">
                <a:solidFill>
                  <a:srgbClr val="3B4046"/>
                </a:solidFill>
                <a:latin typeface="Courier New"/>
              </a:rPr>
              <a:t>46660</a:t>
            </a:r>
            <a:r>
              <a:rPr sz="1900" b="0" i="0">
                <a:solidFill>
                  <a:srgbClr val="1F2328"/>
                </a:solidFill>
                <a:latin typeface="Courier New"/>
              </a:rPr>
              <a:t>)</a:t>
            </a:r>
            <a:r>
              <a:rPr sz="1900" b="0" i="0">
                <a:solidFill>
                  <a:srgbClr val="1F2328"/>
                </a:solidFill>
                <a:latin typeface="Courier New"/>
              </a:rPr>
              <a:t>)</a:t>
            </a:r>
          </a:p>
        </p:txBody>
      </p:sp>
      <p:grpSp>
        <p:nvGrpSpPr>
          <p:cNvPr id="7" name="output"/>
          <p:cNvGrpSpPr/>
          <p:nvPr/>
        </p:nvGrpSpPr>
        <p:grpSpPr>
          <a:xfrm>
            <a:off x="685800" y="5205983"/>
            <a:ext cx="6949440" cy="737615"/>
            <a:chOff x="685800" y="5205983"/>
            <a:chExt cx="6949440" cy="737615"/>
          </a:xfrm>
        </p:grpSpPr>
        <p:sp>
          <p:nvSpPr>
            <p:cNvPr id="8" name="TextBox 7"/>
            <p:cNvSpPr txBox="1"/>
            <p:nvPr/>
          </p:nvSpPr>
          <p:spPr>
            <a:xfrm>
              <a:off x="685800" y="5205983"/>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5462015"/>
              <a:ext cx="6949440"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5553455"/>
              <a:ext cx="6675120" cy="371855"/>
            </a:xfrm>
            <a:prstGeom prst="rect">
              <a:avLst/>
            </a:prstGeom>
            <a:noFill/>
          </p:spPr>
          <p:txBody>
            <a:bodyPr wrap="none" lIns="0" rIns="0" tIns="0" bIns="0">
              <a:spAutoFit/>
            </a:bodyPr>
            <a:lstStyle/>
            <a:p>
              <a:r>
                <a:rPr sz="1400" b="0" i="0">
                  <a:solidFill>
                    <a:srgbClr val="1F2328"/>
                  </a:solidFill>
                  <a:latin typeface="Courier New"/>
                </a:rPr>
                <a:t>Silver</a:t>
              </a:r>
            </a:p>
            <a:p>
              <a:r>
                <a:rPr sz="1400" b="0" i="0">
                  <a:solidFill>
                    <a:srgbClr val="1F2328"/>
                  </a:solidFill>
                  <a:latin typeface="Courier New"/>
                </a:rPr>
                <a:t>Basic</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1800" b="0" i="0">
                  <a:solidFill>
                    <a:srgbClr val="1F2328"/>
                  </a:solidFill>
                  <a:latin typeface="Calibri"/>
                </a:rPr>
                <a:t>def names the function. spend_ugx is the argument, a placeholder for the value passed in.</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return sends the answer back and ends the function.</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Call it by name with a value in brackets, like a formula.</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Edge case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Decisions, repeats and functions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sp>
        <p:nvSpPr>
          <p:cNvPr id="5" name="TextBox 4"/>
          <p:cNvSpPr txBox="1"/>
          <p:nvPr/>
        </p:nvSpPr>
        <p:spPr>
          <a:xfrm>
            <a:off x="685800" y="1600200"/>
            <a:ext cx="9875520" cy="1828800"/>
          </a:xfrm>
          <a:prstGeom prst="rect">
            <a:avLst/>
          </a:prstGeom>
          <a:noFill/>
        </p:spPr>
        <p:txBody>
          <a:bodyPr wrap="square" lIns="0" rIns="0" tIns="18288" bIns="18288" anchor="t">
            <a:spAutoFit/>
          </a:bodyPr>
          <a:lstStyle/>
          <a:p>
            <a:pPr algn="l"/>
            <a:r>
              <a:rPr sz="3200" b="0" i="0">
                <a:solidFill>
                  <a:srgbClr val="1F2328"/>
                </a:solidFill>
                <a:latin typeface="Cambria"/>
              </a:rPr>
              <a:t>A value that sits exactly on a boundary, where the rule changes.</a:t>
            </a:r>
          </a:p>
        </p:txBody>
      </p:sp>
      <p:cxnSp>
        <p:nvCxnSpPr>
          <p:cNvPr id="6" name="Connector 5"/>
          <p:cNvCxnSpPr/>
          <p:nvPr/>
        </p:nvCxnSpPr>
        <p:spPr>
          <a:xfrm>
            <a:off x="6095847" y="2998622"/>
            <a:ext cx="0" cy="3219298"/>
          </a:xfrm>
          <a:prstGeom prst="line">
            <a:avLst/>
          </a:prstGeom>
          <a:ln w="9525">
            <a:solidFill>
              <a:srgbClr val="C9C5BC"/>
            </a:solidFill>
          </a:ln>
        </p:spPr>
      </p:cxnSp>
      <p:cxnSp>
        <p:nvCxnSpPr>
          <p:cNvPr id="7" name="Connector 6"/>
          <p:cNvCxnSpPr/>
          <p:nvPr/>
        </p:nvCxnSpPr>
        <p:spPr>
          <a:xfrm>
            <a:off x="685800" y="2998622"/>
            <a:ext cx="5044287" cy="0"/>
          </a:xfrm>
          <a:prstGeom prst="line">
            <a:avLst/>
          </a:prstGeom>
          <a:ln w="15875">
            <a:solidFill>
              <a:srgbClr val="1F2328"/>
            </a:solidFill>
          </a:ln>
        </p:spPr>
      </p:cxnSp>
      <p:sp>
        <p:nvSpPr>
          <p:cNvPr id="8" name="TextBox 7"/>
          <p:cNvSpPr txBox="1"/>
          <p:nvPr/>
        </p:nvSpPr>
        <p:spPr>
          <a:xfrm>
            <a:off x="685800"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our data</a:t>
            </a:r>
          </a:p>
        </p:txBody>
      </p:sp>
      <p:sp>
        <p:nvSpPr>
          <p:cNvPr id="9" name="TextBox 8"/>
          <p:cNvSpPr txBox="1"/>
          <p:nvPr/>
        </p:nvSpPr>
        <p:spPr>
          <a:xfrm>
            <a:off x="685800"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UGX 1,999,999 is Basic and UGX 2,000,000 is Silver. One shilling apart, two different tiers.</a:t>
            </a:r>
          </a:p>
        </p:txBody>
      </p:sp>
      <p:cxnSp>
        <p:nvCxnSpPr>
          <p:cNvPr id="10" name="Connector 9"/>
          <p:cNvCxnSpPr/>
          <p:nvPr/>
        </p:nvCxnSpPr>
        <p:spPr>
          <a:xfrm>
            <a:off x="6461607" y="2998622"/>
            <a:ext cx="5044288" cy="0"/>
          </a:xfrm>
          <a:prstGeom prst="line">
            <a:avLst/>
          </a:prstGeom>
          <a:ln w="15875">
            <a:solidFill>
              <a:srgbClr val="1F2328"/>
            </a:solidFill>
          </a:ln>
        </p:spPr>
      </p:cxnSp>
      <p:sp>
        <p:nvSpPr>
          <p:cNvPr id="11" name="TextBox 10"/>
          <p:cNvSpPr txBox="1"/>
          <p:nvPr/>
        </p:nvSpPr>
        <p:spPr>
          <a:xfrm>
            <a:off x="6461607"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a spreadsheet</a:t>
            </a:r>
          </a:p>
        </p:txBody>
      </p:sp>
      <p:sp>
        <p:nvSpPr>
          <p:cNvPr id="12" name="TextBox 11"/>
          <p:cNvSpPr txBox="1"/>
          <p:nvPr/>
        </p:nvSpPr>
        <p:spPr>
          <a:xfrm>
            <a:off x="6461607"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The cell where an IF flips. You try the formula right on the flip value.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Test the function on values you can check by hand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Decisions, repeats and functions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sp>
        <p:nvSpPr>
          <p:cNvPr id="5" name="Rectangle 4"/>
          <p:cNvSpPr/>
          <p:nvPr/>
        </p:nvSpPr>
        <p:spPr>
          <a:xfrm>
            <a:off x="685800" y="1600200"/>
            <a:ext cx="6766560" cy="32826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492240" cy="3008376"/>
          </a:xfrm>
          <a:prstGeom prst="rect">
            <a:avLst/>
          </a:prstGeom>
          <a:noFill/>
        </p:spPr>
        <p:txBody>
          <a:bodyPr wrap="none" lIns="0" rIns="0" tIns="0" bIns="0">
            <a:spAutoFit/>
          </a:bodyPr>
          <a:lstStyle/>
          <a:p>
            <a:r>
              <a:rPr sz="1500" b="0" i="0">
                <a:solidFill>
                  <a:srgbClr val="1F2328"/>
                </a:solidFill>
                <a:latin typeface="Courier New"/>
              </a:rPr>
              <a:t>tests</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a:t>
            </a:r>
            <a:r>
              <a:rPr sz="1500" b="0" i="0">
                <a:solidFill>
                  <a:srgbClr val="3B4046"/>
                </a:solidFill>
                <a:latin typeface="Courier New"/>
              </a:rPr>
              <a:t>0</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"Basic"</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a:t>
            </a:r>
            <a:r>
              <a:rPr sz="1500" b="0" i="0">
                <a:solidFill>
                  <a:srgbClr val="3B4046"/>
                </a:solidFill>
                <a:latin typeface="Courier New"/>
              </a:rPr>
              <a:t>1999999</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"Basic"</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a:t>
            </a:r>
            <a:r>
              <a:rPr sz="1500" b="0" i="0">
                <a:solidFill>
                  <a:srgbClr val="3B4046"/>
                </a:solidFill>
                <a:latin typeface="Courier New"/>
              </a:rPr>
              <a:t>2000000</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"Silver"</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a:t>
            </a:r>
            <a:r>
              <a:rPr sz="1500" b="0" i="0">
                <a:solidFill>
                  <a:srgbClr val="3B4046"/>
                </a:solidFill>
                <a:latin typeface="Courier New"/>
              </a:rPr>
              <a:t>5999999</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"Silver"</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a:t>
            </a:r>
            <a:r>
              <a:rPr sz="1500" b="0" i="0">
                <a:solidFill>
                  <a:srgbClr val="3B4046"/>
                </a:solidFill>
                <a:latin typeface="Courier New"/>
              </a:rPr>
              <a:t>6000000</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"Gold"</a:t>
            </a:r>
            <a:r>
              <a:rPr sz="1500" b="0" i="0">
                <a:solidFill>
                  <a:srgbClr val="1F2328"/>
                </a:solidFill>
                <a:latin typeface="Courier New"/>
              </a:rPr>
              <a:t>)</a:t>
            </a:r>
            <a:r>
              <a:rPr sz="1500" b="0" i="0">
                <a:solidFill>
                  <a:srgbClr val="1F2328"/>
                </a:solidFill>
                <a:latin typeface="Courier New"/>
              </a:rPr>
              <a:t>,</a:t>
            </a:r>
          </a:p>
          <a:p>
            <a:r>
              <a:rPr sz="1500" b="0" i="0">
                <a:solidFill>
                  <a:srgbClr val="1F2328"/>
                </a:solidFill>
                <a:latin typeface="Courier New"/>
              </a:rPr>
              <a:t>]</a:t>
            </a:r>
          </a:p>
          <a:p>
            <a:r>
              <a:rPr sz="1500" b="1" i="0">
                <a:solidFill>
                  <a:srgbClr val="1F2328"/>
                </a:solidFill>
                <a:latin typeface="Courier New"/>
              </a:rPr>
              <a:t>for</a:t>
            </a:r>
            <a:r>
              <a:rPr sz="1500" b="0" i="0">
                <a:solidFill>
                  <a:srgbClr val="1F2328"/>
                </a:solidFill>
                <a:latin typeface="Courier New"/>
              </a:rPr>
              <a:t> </a:t>
            </a:r>
            <a:r>
              <a:rPr sz="1500" b="0" i="0">
                <a:solidFill>
                  <a:srgbClr val="1F2328"/>
                </a:solidFill>
                <a:latin typeface="Courier New"/>
              </a:rPr>
              <a:t>spend</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expected</a:t>
            </a:r>
            <a:r>
              <a:rPr sz="1500" b="0" i="0">
                <a:solidFill>
                  <a:srgbClr val="1F2328"/>
                </a:solidFill>
                <a:latin typeface="Courier New"/>
              </a:rPr>
              <a:t> </a:t>
            </a:r>
            <a:r>
              <a:rPr sz="1500" b="1" i="0">
                <a:solidFill>
                  <a:srgbClr val="1F2328"/>
                </a:solidFill>
                <a:latin typeface="Courier New"/>
              </a:rPr>
              <a:t>in</a:t>
            </a:r>
            <a:r>
              <a:rPr sz="1500" b="0" i="0">
                <a:solidFill>
                  <a:srgbClr val="1F2328"/>
                </a:solidFill>
                <a:latin typeface="Courier New"/>
              </a:rPr>
              <a:t> </a:t>
            </a:r>
            <a:r>
              <a:rPr sz="1500" b="0" i="0">
                <a:solidFill>
                  <a:srgbClr val="1F2328"/>
                </a:solidFill>
                <a:latin typeface="Courier New"/>
              </a:rPr>
              <a:t>tests</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got</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loyalty_tier</a:t>
            </a:r>
            <a:r>
              <a:rPr sz="1500" b="0" i="0">
                <a:solidFill>
                  <a:srgbClr val="1F2328"/>
                </a:solidFill>
                <a:latin typeface="Courier New"/>
              </a:rPr>
              <a:t>(</a:t>
            </a:r>
            <a:r>
              <a:rPr sz="1500" b="0" i="0">
                <a:solidFill>
                  <a:srgbClr val="1F2328"/>
                </a:solidFill>
                <a:latin typeface="Courier New"/>
              </a:rPr>
              <a:t>spend</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1" i="0">
                <a:solidFill>
                  <a:srgbClr val="1F2328"/>
                </a:solidFill>
                <a:latin typeface="Courier New"/>
              </a:rPr>
              <a:t>if</a:t>
            </a:r>
            <a:r>
              <a:rPr sz="1500" b="0" i="0">
                <a:solidFill>
                  <a:srgbClr val="1F2328"/>
                </a:solidFill>
                <a:latin typeface="Courier New"/>
              </a:rPr>
              <a:t> </a:t>
            </a:r>
            <a:r>
              <a:rPr sz="1500" b="0" i="0">
                <a:solidFill>
                  <a:srgbClr val="1F2328"/>
                </a:solidFill>
                <a:latin typeface="Courier New"/>
              </a:rPr>
              <a:t>got</a:t>
            </a:r>
            <a:r>
              <a:rPr sz="1500" b="0" i="0">
                <a:solidFill>
                  <a:srgbClr val="1F2328"/>
                </a:solidFill>
                <a:latin typeface="Courier New"/>
              </a:rPr>
              <a:t> </a:t>
            </a:r>
            <a:r>
              <a:rPr sz="1500" b="0" i="0">
                <a:solidFill>
                  <a:srgbClr val="1F2328"/>
                </a:solidFill>
                <a:latin typeface="Courier New"/>
              </a:rPr>
              <a:t>=</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expected</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spend</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got</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"ok"</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1" i="0">
                <a:solidFill>
                  <a:srgbClr val="1F2328"/>
                </a:solidFill>
                <a:latin typeface="Courier New"/>
              </a:rPr>
              <a:t>else</a:t>
            </a:r>
            <a:r>
              <a:rPr sz="1500" b="0" i="0">
                <a:solidFill>
                  <a:srgbClr val="1F2328"/>
                </a:solidFill>
                <a:latin typeface="Courier New"/>
              </a:rPr>
              <a:t>:</a:t>
            </a:r>
          </a:p>
          <a:p>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 </a:t>
            </a:r>
            <a:r>
              <a:rPr sz="1500" b="0" i="0">
                <a:solidFill>
                  <a:srgbClr val="1F2328"/>
                </a:solidFill>
                <a:latin typeface="Courier New"/>
              </a:rPr>
              <a:t>print</a:t>
            </a:r>
            <a:r>
              <a:rPr sz="1500" b="0" i="0">
                <a:solidFill>
                  <a:srgbClr val="1F2328"/>
                </a:solidFill>
                <a:latin typeface="Courier New"/>
              </a:rPr>
              <a:t>(</a:t>
            </a:r>
            <a:r>
              <a:rPr sz="1500" b="0" i="0">
                <a:solidFill>
                  <a:srgbClr val="1F2328"/>
                </a:solidFill>
                <a:latin typeface="Courier New"/>
              </a:rPr>
              <a:t>spend</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got</a:t>
            </a:r>
            <a:r>
              <a:rPr sz="1500" b="0" i="0">
                <a:solidFill>
                  <a:srgbClr val="1F2328"/>
                </a:solidFill>
                <a:latin typeface="Courier New"/>
              </a:rPr>
              <a:t>,</a:t>
            </a:r>
            <a:r>
              <a:rPr sz="1500" b="0" i="0">
                <a:solidFill>
                  <a:srgbClr val="1F2328"/>
                </a:solidFill>
                <a:latin typeface="Courier New"/>
              </a:rPr>
              <a:t> </a:t>
            </a:r>
            <a:r>
              <a:rPr sz="1500" b="0" i="0">
                <a:solidFill>
                  <a:srgbClr val="B04A2B"/>
                </a:solidFill>
                <a:latin typeface="Courier New"/>
              </a:rPr>
              <a:t>"WRONG, expected"</a:t>
            </a:r>
            <a:r>
              <a:rPr sz="1500" b="0" i="0">
                <a:solidFill>
                  <a:srgbClr val="1F2328"/>
                </a:solidFill>
                <a:latin typeface="Courier New"/>
              </a:rPr>
              <a:t>,</a:t>
            </a:r>
            <a:r>
              <a:rPr sz="1500" b="0" i="0">
                <a:solidFill>
                  <a:srgbClr val="1F2328"/>
                </a:solidFill>
                <a:latin typeface="Courier New"/>
              </a:rPr>
              <a:t> </a:t>
            </a:r>
            <a:r>
              <a:rPr sz="1500" b="0" i="0">
                <a:solidFill>
                  <a:srgbClr val="1F2328"/>
                </a:solidFill>
                <a:latin typeface="Courier New"/>
              </a:rPr>
              <a:t>expected</a:t>
            </a:r>
            <a:r>
              <a:rPr sz="1500" b="0" i="0">
                <a:solidFill>
                  <a:srgbClr val="1F2328"/>
                </a:solidFill>
                <a:latin typeface="Courier New"/>
              </a:rPr>
              <a:t>)</a:t>
            </a:r>
          </a:p>
        </p:txBody>
      </p:sp>
      <p:grpSp>
        <p:nvGrpSpPr>
          <p:cNvPr id="7" name="output"/>
          <p:cNvGrpSpPr/>
          <p:nvPr/>
        </p:nvGrpSpPr>
        <p:grpSpPr>
          <a:xfrm>
            <a:off x="7863840" y="1600200"/>
            <a:ext cx="3642055" cy="1575815"/>
            <a:chOff x="7863840" y="1600200"/>
            <a:chExt cx="3642055" cy="1575815"/>
          </a:xfrm>
        </p:grpSpPr>
        <p:sp>
          <p:nvSpPr>
            <p:cNvPr id="8" name="TextBox 7"/>
            <p:cNvSpPr txBox="1"/>
            <p:nvPr/>
          </p:nvSpPr>
          <p:spPr>
            <a:xfrm>
              <a:off x="7863840" y="1600200"/>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7863840" y="1856232"/>
              <a:ext cx="3642055" cy="1319783"/>
            </a:xfrm>
            <a:prstGeom prst="rect">
              <a:avLst/>
            </a:prstGeom>
            <a:solidFill>
              <a:srgbClr val="F5F3EF"/>
            </a:solidFill>
            <a:ln>
              <a:noFill/>
            </a:ln>
          </p:spPr>
          <p:txBody>
            <a:bodyPr rtlCol="0" anchor="ctr"/>
            <a:lstStyle/>
            <a:p>
              <a:pPr algn="ctr"/>
            </a:p>
          </p:txBody>
        </p:sp>
        <p:sp>
          <p:nvSpPr>
            <p:cNvPr id="10" name="TextBox 9"/>
            <p:cNvSpPr txBox="1"/>
            <p:nvPr/>
          </p:nvSpPr>
          <p:spPr>
            <a:xfrm>
              <a:off x="8046719" y="1947672"/>
              <a:ext cx="3367735" cy="1210056"/>
            </a:xfrm>
            <a:prstGeom prst="rect">
              <a:avLst/>
            </a:prstGeom>
            <a:noFill/>
          </p:spPr>
          <p:txBody>
            <a:bodyPr wrap="none" lIns="0" rIns="0" tIns="0" bIns="0">
              <a:spAutoFit/>
            </a:bodyPr>
            <a:lstStyle/>
            <a:p>
              <a:r>
                <a:rPr sz="1300" b="0" i="0">
                  <a:solidFill>
                    <a:srgbClr val="1F2328"/>
                  </a:solidFill>
                  <a:latin typeface="Courier New"/>
                </a:rPr>
                <a:t>0 Basic ok</a:t>
              </a:r>
            </a:p>
            <a:p>
              <a:r>
                <a:rPr sz="1300" b="0" i="0">
                  <a:solidFill>
                    <a:srgbClr val="1F2328"/>
                  </a:solidFill>
                  <a:latin typeface="Courier New"/>
                </a:rPr>
                <a:t>1999999 Basic ok</a:t>
              </a:r>
            </a:p>
            <a:p>
              <a:r>
                <a:rPr sz="1300" b="0" i="0">
                  <a:solidFill>
                    <a:srgbClr val="1F2328"/>
                  </a:solidFill>
                  <a:latin typeface="Courier New"/>
                </a:rPr>
                <a:t>2000000 Silver ok</a:t>
              </a:r>
            </a:p>
            <a:p>
              <a:r>
                <a:rPr sz="1300" b="0" i="0">
                  <a:solidFill>
                    <a:srgbClr val="1F2328"/>
                  </a:solidFill>
                  <a:latin typeface="Courier New"/>
                </a:rPr>
                <a:t>5999999 Silver ok</a:t>
              </a:r>
            </a:p>
            <a:p>
              <a:r>
                <a:rPr sz="1300" b="0" i="0">
                  <a:solidFill>
                    <a:srgbClr val="1F2328"/>
                  </a:solidFill>
                  <a:latin typeface="Courier New"/>
                </a:rPr>
                <a:t>6000000 Gold ok</a:t>
              </a:r>
            </a:p>
          </p:txBody>
        </p:sp>
      </p:grpSp>
      <p:cxnSp>
        <p:nvCxnSpPr>
          <p:cNvPr id="11" name="Connector 10"/>
          <p:cNvCxnSpPr/>
          <p:nvPr/>
        </p:nvCxnSpPr>
        <p:spPr>
          <a:xfrm>
            <a:off x="7863840" y="3496056"/>
            <a:ext cx="3642055" cy="0"/>
          </a:xfrm>
          <a:prstGeom prst="line">
            <a:avLst/>
          </a:prstGeom>
          <a:ln w="15875">
            <a:solidFill>
              <a:srgbClr val="1F2328"/>
            </a:solidFill>
          </a:ln>
        </p:spPr>
      </p:cxnSp>
      <p:grpSp>
        <p:nvGrpSpPr>
          <p:cNvPr id="12" name="note-1"/>
          <p:cNvGrpSpPr/>
          <p:nvPr/>
        </p:nvGrpSpPr>
        <p:grpSpPr>
          <a:xfrm>
            <a:off x="7863840" y="3569208"/>
            <a:ext cx="3642055" cy="795528"/>
            <a:chOff x="7863840" y="3569208"/>
            <a:chExt cx="3642055" cy="795528"/>
          </a:xfrm>
        </p:grpSpPr>
        <p:sp>
          <p:nvSpPr>
            <p:cNvPr id="13" name="TextBox 12"/>
            <p:cNvSpPr txBox="1"/>
            <p:nvPr/>
          </p:nvSpPr>
          <p:spPr>
            <a:xfrm>
              <a:off x="7863840" y="3569208"/>
              <a:ext cx="320040" cy="777239"/>
            </a:xfrm>
            <a:prstGeom prst="rect">
              <a:avLst/>
            </a:prstGeom>
            <a:noFill/>
          </p:spPr>
          <p:txBody>
            <a:bodyPr wrap="square" lIns="0" rIns="0" tIns="18288" bIns="18288" anchor="t">
              <a:spAutoFit/>
            </a:bodyPr>
            <a:lstStyle/>
            <a:p>
              <a:pPr algn="l"/>
              <a:r>
                <a:rPr sz="1800" b="1" i="0">
                  <a:solidFill>
                    <a:srgbClr val="B04A2B"/>
                  </a:solidFill>
                  <a:latin typeface="Cambria"/>
                </a:rPr>
                <a:t>1</a:t>
              </a:r>
            </a:p>
          </p:txBody>
        </p:sp>
        <p:sp>
          <p:nvSpPr>
            <p:cNvPr id="14" name="TextBox 13"/>
            <p:cNvSpPr txBox="1"/>
            <p:nvPr/>
          </p:nvSpPr>
          <p:spPr>
            <a:xfrm>
              <a:off x="8229600" y="3569208"/>
              <a:ext cx="3276295" cy="758951"/>
            </a:xfrm>
            <a:prstGeom prst="rect">
              <a:avLst/>
            </a:prstGeom>
            <a:noFill/>
          </p:spPr>
          <p:txBody>
            <a:bodyPr wrap="square" lIns="0" rIns="0" tIns="18288" bIns="18288" anchor="t">
              <a:spAutoFit/>
            </a:bodyPr>
            <a:lstStyle/>
            <a:p>
              <a:pPr algn="l"/>
              <a:r>
                <a:rPr sz="1700" b="0" i="0">
                  <a:solidFill>
                    <a:srgbClr val="1F2328"/>
                  </a:solidFill>
                  <a:latin typeface="Calibri"/>
                </a:rPr>
                <a:t>Each test is a pair: the spend, and the tier you worked out from the policy.</a:t>
              </a:r>
            </a:p>
          </p:txBody>
        </p:sp>
        <p:cxnSp>
          <p:nvCxnSpPr>
            <p:cNvPr id="15" name="Connector 14"/>
            <p:cNvCxnSpPr/>
            <p:nvPr/>
          </p:nvCxnSpPr>
          <p:spPr>
            <a:xfrm>
              <a:off x="7863840" y="4364736"/>
              <a:ext cx="3642055" cy="0"/>
            </a:xfrm>
            <a:prstGeom prst="line">
              <a:avLst/>
            </a:prstGeom>
            <a:ln w="6350">
              <a:solidFill>
                <a:srgbClr val="C9C5BC"/>
              </a:solidFill>
            </a:ln>
          </p:spPr>
        </p:cxnSp>
      </p:grpSp>
      <p:grpSp>
        <p:nvGrpSpPr>
          <p:cNvPr id="16" name="note-2"/>
          <p:cNvGrpSpPr/>
          <p:nvPr/>
        </p:nvGrpSpPr>
        <p:grpSpPr>
          <a:xfrm>
            <a:off x="7863840" y="4437888"/>
            <a:ext cx="3642055" cy="795528"/>
            <a:chOff x="7863840" y="4437888"/>
            <a:chExt cx="3642055" cy="795528"/>
          </a:xfrm>
        </p:grpSpPr>
        <p:sp>
          <p:nvSpPr>
            <p:cNvPr id="17" name="TextBox 16"/>
            <p:cNvSpPr txBox="1"/>
            <p:nvPr/>
          </p:nvSpPr>
          <p:spPr>
            <a:xfrm>
              <a:off x="7863840" y="4437888"/>
              <a:ext cx="320040" cy="777239"/>
            </a:xfrm>
            <a:prstGeom prst="rect">
              <a:avLst/>
            </a:prstGeom>
            <a:noFill/>
          </p:spPr>
          <p:txBody>
            <a:bodyPr wrap="square" lIns="0" rIns="0" tIns="18288" bIns="18288" anchor="t">
              <a:spAutoFit/>
            </a:bodyPr>
            <a:lstStyle/>
            <a:p>
              <a:pPr algn="l"/>
              <a:r>
                <a:rPr sz="1800" b="1" i="0">
                  <a:solidFill>
                    <a:srgbClr val="B04A2B"/>
                  </a:solidFill>
                  <a:latin typeface="Cambria"/>
                </a:rPr>
                <a:t>2</a:t>
              </a:r>
            </a:p>
          </p:txBody>
        </p:sp>
        <p:sp>
          <p:nvSpPr>
            <p:cNvPr id="18" name="TextBox 17"/>
            <p:cNvSpPr txBox="1"/>
            <p:nvPr/>
          </p:nvSpPr>
          <p:spPr>
            <a:xfrm>
              <a:off x="8229600" y="4437888"/>
              <a:ext cx="3276295" cy="758951"/>
            </a:xfrm>
            <a:prstGeom prst="rect">
              <a:avLst/>
            </a:prstGeom>
            <a:noFill/>
          </p:spPr>
          <p:txBody>
            <a:bodyPr wrap="square" lIns="0" rIns="0" tIns="18288" bIns="18288" anchor="t">
              <a:spAutoFit/>
            </a:bodyPr>
            <a:lstStyle/>
            <a:p>
              <a:pPr algn="l"/>
              <a:r>
                <a:rPr sz="1750" b="0" i="0">
                  <a:solidFill>
                    <a:srgbClr val="1F2328"/>
                  </a:solidFill>
                  <a:latin typeface="Calibri"/>
                </a:rPr>
                <a:t>The loop calls the function on every pair and keeps the result as got.</a:t>
              </a:r>
            </a:p>
          </p:txBody>
        </p:sp>
        <p:cxnSp>
          <p:nvCxnSpPr>
            <p:cNvPr id="19" name="Connector 18"/>
            <p:cNvCxnSpPr/>
            <p:nvPr/>
          </p:nvCxnSpPr>
          <p:spPr>
            <a:xfrm>
              <a:off x="7863840" y="5233416"/>
              <a:ext cx="3642055" cy="0"/>
            </a:xfrm>
            <a:prstGeom prst="line">
              <a:avLst/>
            </a:prstGeom>
            <a:ln w="6350">
              <a:solidFill>
                <a:srgbClr val="C9C5BC"/>
              </a:solidFill>
            </a:ln>
          </p:spPr>
        </p:cxnSp>
      </p:grpSp>
      <p:grpSp>
        <p:nvGrpSpPr>
          <p:cNvPr id="20" name="note-3"/>
          <p:cNvGrpSpPr/>
          <p:nvPr/>
        </p:nvGrpSpPr>
        <p:grpSpPr>
          <a:xfrm>
            <a:off x="7863840" y="5306568"/>
            <a:ext cx="3642055" cy="795528"/>
            <a:chOff x="7863840" y="5306568"/>
            <a:chExt cx="3642055" cy="795528"/>
          </a:xfrm>
        </p:grpSpPr>
        <p:sp>
          <p:nvSpPr>
            <p:cNvPr id="21" name="TextBox 20"/>
            <p:cNvSpPr txBox="1"/>
            <p:nvPr/>
          </p:nvSpPr>
          <p:spPr>
            <a:xfrm>
              <a:off x="7863840" y="5306568"/>
              <a:ext cx="320040" cy="777239"/>
            </a:xfrm>
            <a:prstGeom prst="rect">
              <a:avLst/>
            </a:prstGeom>
            <a:noFill/>
          </p:spPr>
          <p:txBody>
            <a:bodyPr wrap="square" lIns="0" rIns="0" tIns="18288" bIns="18288" anchor="t">
              <a:spAutoFit/>
            </a:bodyPr>
            <a:lstStyle/>
            <a:p>
              <a:pPr algn="l"/>
              <a:r>
                <a:rPr sz="1800" b="1" i="0">
                  <a:solidFill>
                    <a:srgbClr val="B04A2B"/>
                  </a:solidFill>
                  <a:latin typeface="Cambria"/>
                </a:rPr>
                <a:t>3</a:t>
              </a:r>
            </a:p>
          </p:txBody>
        </p:sp>
        <p:sp>
          <p:nvSpPr>
            <p:cNvPr id="22" name="TextBox 21"/>
            <p:cNvSpPr txBox="1"/>
            <p:nvPr/>
          </p:nvSpPr>
          <p:spPr>
            <a:xfrm>
              <a:off x="8229600" y="5306568"/>
              <a:ext cx="3276295" cy="758951"/>
            </a:xfrm>
            <a:prstGeom prst="rect">
              <a:avLst/>
            </a:prstGeom>
            <a:noFill/>
          </p:spPr>
          <p:txBody>
            <a:bodyPr wrap="square" lIns="0" rIns="0" tIns="18288" bIns="18288" anchor="t">
              <a:spAutoFit/>
            </a:bodyPr>
            <a:lstStyle/>
            <a:p>
              <a:pPr algn="l"/>
              <a:r>
                <a:rPr sz="1800" b="0" i="0">
                  <a:solidFill>
                    <a:srgbClr val="1F2328"/>
                  </a:solidFill>
                  <a:latin typeface="Calibri"/>
                </a:rPr>
                <a:t>Zero, then both sides of each boundary. All five say ok.</a:t>
              </a:r>
            </a:p>
          </p:txBody>
        </p:sp>
        <p:cxnSp>
          <p:nvCxnSpPr>
            <p:cNvPr id="23" name="Connector 22"/>
            <p:cNvCxnSpPr/>
            <p:nvPr/>
          </p:nvCxnSpPr>
          <p:spPr>
            <a:xfrm>
              <a:off x="7863840" y="6102096"/>
              <a:ext cx="3642055"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A function that passes the easy cases and fails on the line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6   Decisions, repeats and functions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16</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You write points &gt; 2000 instead of points &gt;= 2000. Every spend you try gives the right tier, and no error appears.</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A customer with exactly 2,000 points has earned Silver. The greater-than test sends them to Basic. Typical values almost never land on the boundary, so nothing warns you.</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Test the shilling before and the shilling on each boundary, with answers taken from the policy.</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An error you will meet: the spend arrives as text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Decisions, repeats and functions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sp>
        <p:nvSpPr>
          <p:cNvPr id="5" name="Rectangle 4"/>
          <p:cNvSpPr/>
          <p:nvPr/>
        </p:nvSpPr>
        <p:spPr>
          <a:xfrm>
            <a:off x="685800" y="1600200"/>
            <a:ext cx="10820095" cy="95097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676656"/>
          </a:xfrm>
          <a:prstGeom prst="rect">
            <a:avLst/>
          </a:prstGeom>
          <a:noFill/>
        </p:spPr>
        <p:txBody>
          <a:bodyPr wrap="none" lIns="0" rIns="0" tIns="0" bIns="0">
            <a:spAutoFit/>
          </a:bodyPr>
          <a:lstStyle/>
          <a:p>
            <a:r>
              <a:rPr sz="2100" b="0" i="0">
                <a:solidFill>
                  <a:srgbClr val="1F2328"/>
                </a:solidFill>
                <a:latin typeface="Courier New"/>
              </a:rPr>
              <a:t>spend</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B04A2B"/>
                </a:solidFill>
                <a:latin typeface="Courier New"/>
              </a:rPr>
              <a:t>"2,388,850"</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loyalty_tier</a:t>
            </a:r>
            <a:r>
              <a:rPr sz="2100" b="0" i="0">
                <a:solidFill>
                  <a:srgbClr val="1F2328"/>
                </a:solidFill>
                <a:latin typeface="Courier New"/>
              </a:rPr>
              <a:t>(</a:t>
            </a:r>
            <a:r>
              <a:rPr sz="2100" b="0" i="0">
                <a:solidFill>
                  <a:srgbClr val="1F2328"/>
                </a:solidFill>
                <a:latin typeface="Courier New"/>
              </a:rPr>
              <a:t>spend</a:t>
            </a:r>
            <a:r>
              <a:rPr sz="2100" b="0" i="0">
                <a:solidFill>
                  <a:srgbClr val="1F2328"/>
                </a:solidFill>
                <a:latin typeface="Courier New"/>
              </a:rPr>
              <a:t>)</a:t>
            </a:r>
            <a:r>
              <a:rPr sz="2100" b="0" i="0">
                <a:solidFill>
                  <a:srgbClr val="1F2328"/>
                </a:solidFill>
                <a:latin typeface="Courier New"/>
              </a:rPr>
              <a:t>)</a:t>
            </a:r>
          </a:p>
        </p:txBody>
      </p:sp>
      <p:grpSp>
        <p:nvGrpSpPr>
          <p:cNvPr id="7" name="output"/>
          <p:cNvGrpSpPr/>
          <p:nvPr/>
        </p:nvGrpSpPr>
        <p:grpSpPr>
          <a:xfrm>
            <a:off x="685800" y="2660904"/>
            <a:ext cx="10820095" cy="524256"/>
            <a:chOff x="685800" y="2660904"/>
            <a:chExt cx="10820095" cy="524256"/>
          </a:xfrm>
        </p:grpSpPr>
        <p:sp>
          <p:nvSpPr>
            <p:cNvPr id="8" name="TextBox 7"/>
            <p:cNvSpPr txBox="1"/>
            <p:nvPr/>
          </p:nvSpPr>
          <p:spPr>
            <a:xfrm>
              <a:off x="685800" y="266090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2916936"/>
              <a:ext cx="10820095"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3008376"/>
              <a:ext cx="10545775" cy="158496"/>
            </a:xfrm>
            <a:prstGeom prst="rect">
              <a:avLst/>
            </a:prstGeom>
            <a:noFill/>
          </p:spPr>
          <p:txBody>
            <a:bodyPr wrap="none" lIns="0" rIns="0" tIns="0" bIns="0">
              <a:spAutoFit/>
            </a:bodyPr>
            <a:lstStyle/>
            <a:p>
              <a:r>
                <a:rPr sz="1400" b="0" i="0">
                  <a:solidFill>
                    <a:srgbClr val="1F2328"/>
                  </a:solidFill>
                  <a:latin typeface="Courier New"/>
                </a:rPr>
                <a:t>TypeError: unsupported operand type(s) for //: 'str' and 'int'</a:t>
              </a:r>
            </a:p>
          </p:txBody>
        </p:sp>
      </p:grpSp>
      <p:grpSp>
        <p:nvGrpSpPr>
          <p:cNvPr id="11" name="says-1"/>
          <p:cNvGrpSpPr/>
          <p:nvPr/>
        </p:nvGrpSpPr>
        <p:grpSpPr>
          <a:xfrm>
            <a:off x="685800" y="3368040"/>
            <a:ext cx="5204307" cy="1353312"/>
            <a:chOff x="685800" y="3368040"/>
            <a:chExt cx="5204307" cy="1353312"/>
          </a:xfrm>
        </p:grpSpPr>
        <p:cxnSp>
          <p:nvCxnSpPr>
            <p:cNvPr id="12" name="Connector 11"/>
            <p:cNvCxnSpPr/>
            <p:nvPr/>
          </p:nvCxnSpPr>
          <p:spPr>
            <a:xfrm>
              <a:off x="685800" y="3368040"/>
              <a:ext cx="5204307" cy="0"/>
            </a:xfrm>
            <a:prstGeom prst="line">
              <a:avLst/>
            </a:prstGeom>
            <a:ln w="15875">
              <a:solidFill>
                <a:srgbClr val="1F2328"/>
              </a:solidFill>
            </a:ln>
          </p:spPr>
        </p:cxnSp>
        <p:sp>
          <p:nvSpPr>
            <p:cNvPr id="13" name="TextBox 12"/>
            <p:cNvSpPr txBox="1"/>
            <p:nvPr/>
          </p:nvSpPr>
          <p:spPr>
            <a:xfrm>
              <a:off x="685800" y="344119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3441192"/>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The last line says text was divided by a number.</a:t>
              </a:r>
            </a:p>
          </p:txBody>
        </p:sp>
      </p:grpSp>
      <p:grpSp>
        <p:nvGrpSpPr>
          <p:cNvPr id="15" name="says-2"/>
          <p:cNvGrpSpPr/>
          <p:nvPr/>
        </p:nvGrpSpPr>
        <p:grpSpPr>
          <a:xfrm>
            <a:off x="6301587" y="3368040"/>
            <a:ext cx="5204308" cy="1353312"/>
            <a:chOff x="6301587" y="3368040"/>
            <a:chExt cx="5204308" cy="1353312"/>
          </a:xfrm>
        </p:grpSpPr>
        <p:cxnSp>
          <p:nvCxnSpPr>
            <p:cNvPr id="16" name="Connector 15"/>
            <p:cNvCxnSpPr/>
            <p:nvPr/>
          </p:nvCxnSpPr>
          <p:spPr>
            <a:xfrm>
              <a:off x="6301587" y="3368040"/>
              <a:ext cx="5204308" cy="0"/>
            </a:xfrm>
            <a:prstGeom prst="line">
              <a:avLst/>
            </a:prstGeom>
            <a:ln w="15875">
              <a:solidFill>
                <a:srgbClr val="1F2328"/>
              </a:solidFill>
            </a:ln>
          </p:spPr>
        </p:cxnSp>
        <p:sp>
          <p:nvSpPr>
            <p:cNvPr id="17" name="TextBox 16"/>
            <p:cNvSpPr txBox="1"/>
            <p:nvPr/>
          </p:nvSpPr>
          <p:spPr>
            <a:xfrm>
              <a:off x="6301587" y="344119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6649059" y="3441192"/>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Remove the commas, then int() turns the text into a number.</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Reading code someone else wrote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Decisions, repeats and functions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Start with three questions before the first line of code.</a:t>
            </a:r>
          </a:p>
        </p:txBody>
      </p:sp>
      <p:cxnSp>
        <p:nvCxnSpPr>
          <p:cNvPr id="6" name="Connector 5"/>
          <p:cNvCxnSpPr/>
          <p:nvPr/>
        </p:nvCxnSpPr>
        <p:spPr>
          <a:xfrm>
            <a:off x="685800" y="2350617"/>
            <a:ext cx="10820095" cy="0"/>
          </a:xfrm>
          <a:prstGeom prst="line">
            <a:avLst/>
          </a:prstGeom>
          <a:ln w="15875">
            <a:solidFill>
              <a:srgbClr val="1F2328"/>
            </a:solidFill>
          </a:ln>
        </p:spPr>
      </p:cxnSp>
      <p:sp>
        <p:nvSpPr>
          <p:cNvPr id="7" name="TextBox 6"/>
          <p:cNvSpPr txBox="1"/>
          <p:nvPr/>
        </p:nvSpPr>
        <p:spPr>
          <a:xfrm>
            <a:off x="685800" y="2460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What goes in?</a:t>
            </a:r>
          </a:p>
        </p:txBody>
      </p:sp>
      <p:sp>
        <p:nvSpPr>
          <p:cNvPr id="8" name="TextBox 7"/>
          <p:cNvSpPr txBox="1"/>
          <p:nvPr/>
        </p:nvSpPr>
        <p:spPr>
          <a:xfrm>
            <a:off x="3611880" y="2478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Read the def line. The names in brackets are the inputs.</a:t>
            </a:r>
          </a:p>
        </p:txBody>
      </p:sp>
      <p:cxnSp>
        <p:nvCxnSpPr>
          <p:cNvPr id="9" name="Connector 8"/>
          <p:cNvCxnSpPr/>
          <p:nvPr/>
        </p:nvCxnSpPr>
        <p:spPr>
          <a:xfrm>
            <a:off x="685800" y="3493617"/>
            <a:ext cx="10820095" cy="0"/>
          </a:xfrm>
          <a:prstGeom prst="line">
            <a:avLst/>
          </a:prstGeom>
          <a:ln w="6350">
            <a:solidFill>
              <a:srgbClr val="C9C5BC"/>
            </a:solidFill>
          </a:ln>
        </p:spPr>
      </p:cxnSp>
      <p:sp>
        <p:nvSpPr>
          <p:cNvPr id="10" name="TextBox 9"/>
          <p:cNvSpPr txBox="1"/>
          <p:nvPr/>
        </p:nvSpPr>
        <p:spPr>
          <a:xfrm>
            <a:off x="685800" y="3603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What comes out?</a:t>
            </a:r>
          </a:p>
        </p:txBody>
      </p:sp>
      <p:sp>
        <p:nvSpPr>
          <p:cNvPr id="11" name="TextBox 10"/>
          <p:cNvSpPr txBox="1"/>
          <p:nvPr/>
        </p:nvSpPr>
        <p:spPr>
          <a:xfrm>
            <a:off x="3611880" y="3621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Find every return. Each one is a possible answer.</a:t>
            </a:r>
          </a:p>
        </p:txBody>
      </p:sp>
      <p:cxnSp>
        <p:nvCxnSpPr>
          <p:cNvPr id="12" name="Connector 11"/>
          <p:cNvCxnSpPr/>
          <p:nvPr/>
        </p:nvCxnSpPr>
        <p:spPr>
          <a:xfrm>
            <a:off x="685800" y="4636617"/>
            <a:ext cx="10820095" cy="0"/>
          </a:xfrm>
          <a:prstGeom prst="line">
            <a:avLst/>
          </a:prstGeom>
          <a:ln w="6350">
            <a:solidFill>
              <a:srgbClr val="C9C5BC"/>
            </a:solidFill>
          </a:ln>
        </p:spPr>
      </p:cxnSp>
      <p:sp>
        <p:nvSpPr>
          <p:cNvPr id="13" name="TextBox 12"/>
          <p:cNvSpPr txBox="1"/>
          <p:nvPr/>
        </p:nvSpPr>
        <p:spPr>
          <a:xfrm>
            <a:off x="685800" y="4746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Try one example by hand</a:t>
            </a:r>
          </a:p>
        </p:txBody>
      </p:sp>
      <p:sp>
        <p:nvSpPr>
          <p:cNvPr id="14" name="TextBox 13"/>
          <p:cNvSpPr txBox="1"/>
          <p:nvPr/>
        </p:nvSpPr>
        <p:spPr>
          <a:xfrm>
            <a:off x="3611880" y="4764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Follow one value line by line, like Trace Precedents in Excel.</a:t>
            </a:r>
          </a:p>
        </p:txBody>
      </p:sp>
      <p:cxnSp>
        <p:nvCxnSpPr>
          <p:cNvPr id="15" name="Connector 14"/>
          <p:cNvCxnSpPr/>
          <p:nvPr/>
        </p:nvCxnSpPr>
        <p:spPr>
          <a:xfrm>
            <a:off x="685800" y="5779617"/>
            <a:ext cx="10820095" cy="0"/>
          </a:xfrm>
          <a:prstGeom prst="line">
            <a:avLst/>
          </a:prstGeom>
          <a:ln w="6350">
            <a:solidFill>
              <a:srgbClr val="C9C5BC"/>
            </a:solidFill>
          </a:ln>
        </p:spPr>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colleague's function: trace one value by hand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Decisions, repeats and functions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sp>
        <p:nvSpPr>
          <p:cNvPr id="5" name="Rectangle 4"/>
          <p:cNvSpPr/>
          <p:nvPr/>
        </p:nvSpPr>
        <p:spPr>
          <a:xfrm>
            <a:off x="685800" y="1600200"/>
            <a:ext cx="6949440" cy="35112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3236976"/>
          </a:xfrm>
          <a:prstGeom prst="rect">
            <a:avLst/>
          </a:prstGeom>
          <a:noFill/>
        </p:spPr>
        <p:txBody>
          <a:bodyPr wrap="none" lIns="0" rIns="0" tIns="0" bIns="0">
            <a:spAutoFit/>
          </a:bodyPr>
          <a:lstStyle/>
          <a:p>
            <a:r>
              <a:rPr sz="2100" b="1" i="0">
                <a:solidFill>
                  <a:srgbClr val="1F2328"/>
                </a:solidFill>
                <a:latin typeface="Courier New"/>
              </a:rPr>
              <a:t>def</a:t>
            </a:r>
            <a:r>
              <a:rPr sz="2100" b="0" i="0">
                <a:solidFill>
                  <a:srgbClr val="1F2328"/>
                </a:solidFill>
                <a:latin typeface="Courier New"/>
              </a:rPr>
              <a:t> </a:t>
            </a:r>
            <a:r>
              <a:rPr sz="2100" b="0" i="0">
                <a:solidFill>
                  <a:srgbClr val="1F2328"/>
                </a:solidFill>
                <a:latin typeface="Courier New"/>
              </a:rPr>
              <a:t>tier_v1</a:t>
            </a:r>
            <a:r>
              <a:rPr sz="2100" b="0" i="0">
                <a:solidFill>
                  <a:srgbClr val="1F2328"/>
                </a:solidFill>
                <a:latin typeface="Courier New"/>
              </a:rPr>
              <a:t>(</a:t>
            </a:r>
            <a:r>
              <a:rPr sz="2100" b="0" i="0">
                <a:solidFill>
                  <a:srgbClr val="1F2328"/>
                </a:solidFill>
                <a:latin typeface="Courier New"/>
              </a:rPr>
              <a:t>spend_ugx</a:t>
            </a:r>
            <a:r>
              <a:rPr sz="2100" b="0" i="0">
                <a:solidFill>
                  <a:srgbClr val="1F2328"/>
                </a:solidFill>
                <a:latin typeface="Courier New"/>
              </a:rPr>
              <a:t>)</a:t>
            </a:r>
            <a:r>
              <a:rPr sz="2100" b="0" i="0">
                <a:solidFill>
                  <a:srgbClr val="1F2328"/>
                </a:solidFill>
                <a:latin typeface="Courier New"/>
              </a:rPr>
              <a:t>:</a:t>
            </a:r>
          </a:p>
          <a:p>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points</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 </a:t>
            </a:r>
            <a:r>
              <a:rPr sz="2100" b="0" i="0">
                <a:solidFill>
                  <a:srgbClr val="1F2328"/>
                </a:solidFill>
                <a:latin typeface="Courier New"/>
              </a:rPr>
              <a:t>spend_ugx</a:t>
            </a:r>
            <a:r>
              <a:rPr sz="2100" b="0" i="0">
                <a:solidFill>
                  <a:srgbClr val="1F2328"/>
                </a:solidFill>
                <a:latin typeface="Courier New"/>
              </a:rPr>
              <a:t> </a:t>
            </a:r>
            <a:r>
              <a:rPr sz="2100" b="0" i="0">
                <a:solidFill>
                  <a:srgbClr val="1F2328"/>
                </a:solidFill>
                <a:latin typeface="Courier New"/>
              </a:rPr>
              <a:t>/</a:t>
            </a:r>
            <a:r>
              <a:rPr sz="2100" b="0" i="0">
                <a:solidFill>
                  <a:srgbClr val="1F2328"/>
                </a:solidFill>
                <a:latin typeface="Courier New"/>
              </a:rPr>
              <a:t>/</a:t>
            </a:r>
            <a:r>
              <a:rPr sz="2100" b="0" i="0">
                <a:solidFill>
                  <a:srgbClr val="1F2328"/>
                </a:solidFill>
                <a:latin typeface="Courier New"/>
              </a:rPr>
              <a:t> </a:t>
            </a:r>
            <a:r>
              <a:rPr sz="2100" b="0" i="0">
                <a:solidFill>
                  <a:srgbClr val="3B4046"/>
                </a:solidFill>
                <a:latin typeface="Courier New"/>
              </a:rPr>
              <a:t>1000</a:t>
            </a:r>
          </a:p>
          <a:p>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1" i="0">
                <a:solidFill>
                  <a:srgbClr val="1F2328"/>
                </a:solidFill>
                <a:latin typeface="Courier New"/>
              </a:rPr>
              <a:t>if</a:t>
            </a:r>
            <a:r>
              <a:rPr sz="2100" b="0" i="0">
                <a:solidFill>
                  <a:srgbClr val="1F2328"/>
                </a:solidFill>
                <a:latin typeface="Courier New"/>
              </a:rPr>
              <a:t> </a:t>
            </a:r>
            <a:r>
              <a:rPr sz="2100" b="0" i="0">
                <a:solidFill>
                  <a:srgbClr val="1F2328"/>
                </a:solidFill>
                <a:latin typeface="Courier New"/>
              </a:rPr>
              <a:t>points</a:t>
            </a:r>
            <a:r>
              <a:rPr sz="2100" b="0" i="0">
                <a:solidFill>
                  <a:srgbClr val="1F2328"/>
                </a:solidFill>
                <a:latin typeface="Courier New"/>
              </a:rPr>
              <a:t> </a:t>
            </a:r>
            <a:r>
              <a:rPr sz="2100" b="0" i="0">
                <a:solidFill>
                  <a:srgbClr val="1F2328"/>
                </a:solidFill>
                <a:latin typeface="Courier New"/>
              </a:rPr>
              <a:t>&gt;</a:t>
            </a:r>
            <a:r>
              <a:rPr sz="2100" b="0" i="0">
                <a:solidFill>
                  <a:srgbClr val="1F2328"/>
                </a:solidFill>
                <a:latin typeface="Courier New"/>
              </a:rPr>
              <a:t>=</a:t>
            </a:r>
            <a:r>
              <a:rPr sz="2100" b="0" i="0">
                <a:solidFill>
                  <a:srgbClr val="1F2328"/>
                </a:solidFill>
                <a:latin typeface="Courier New"/>
              </a:rPr>
              <a:t> </a:t>
            </a:r>
            <a:r>
              <a:rPr sz="2100" b="0" i="0">
                <a:solidFill>
                  <a:srgbClr val="3B4046"/>
                </a:solidFill>
                <a:latin typeface="Courier New"/>
              </a:rPr>
              <a:t>2000</a:t>
            </a:r>
            <a:r>
              <a:rPr sz="2100" b="0" i="0">
                <a:solidFill>
                  <a:srgbClr val="1F2328"/>
                </a:solidFill>
                <a:latin typeface="Courier New"/>
              </a:rPr>
              <a:t>:</a:t>
            </a:r>
          </a:p>
          <a:p>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1" i="0">
                <a:solidFill>
                  <a:srgbClr val="1F2328"/>
                </a:solidFill>
                <a:latin typeface="Courier New"/>
              </a:rPr>
              <a:t>return</a:t>
            </a:r>
            <a:r>
              <a:rPr sz="2100" b="0" i="0">
                <a:solidFill>
                  <a:srgbClr val="1F2328"/>
                </a:solidFill>
                <a:latin typeface="Courier New"/>
              </a:rPr>
              <a:t> </a:t>
            </a:r>
            <a:r>
              <a:rPr sz="2100" b="0" i="0">
                <a:solidFill>
                  <a:srgbClr val="B04A2B"/>
                </a:solidFill>
                <a:latin typeface="Courier New"/>
              </a:rPr>
              <a:t>"Silver"</a:t>
            </a:r>
          </a:p>
          <a:p>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1" i="0">
                <a:solidFill>
                  <a:srgbClr val="1F2328"/>
                </a:solidFill>
                <a:latin typeface="Courier New"/>
              </a:rPr>
              <a:t>elif</a:t>
            </a:r>
            <a:r>
              <a:rPr sz="2100" b="0" i="0">
                <a:solidFill>
                  <a:srgbClr val="1F2328"/>
                </a:solidFill>
                <a:latin typeface="Courier New"/>
              </a:rPr>
              <a:t> </a:t>
            </a:r>
            <a:r>
              <a:rPr sz="2100" b="0" i="0">
                <a:solidFill>
                  <a:srgbClr val="1F2328"/>
                </a:solidFill>
                <a:latin typeface="Courier New"/>
              </a:rPr>
              <a:t>points</a:t>
            </a:r>
            <a:r>
              <a:rPr sz="2100" b="0" i="0">
                <a:solidFill>
                  <a:srgbClr val="1F2328"/>
                </a:solidFill>
                <a:latin typeface="Courier New"/>
              </a:rPr>
              <a:t> </a:t>
            </a:r>
            <a:r>
              <a:rPr sz="2100" b="0" i="0">
                <a:solidFill>
                  <a:srgbClr val="1F2328"/>
                </a:solidFill>
                <a:latin typeface="Courier New"/>
              </a:rPr>
              <a:t>&gt;</a:t>
            </a:r>
            <a:r>
              <a:rPr sz="2100" b="0" i="0">
                <a:solidFill>
                  <a:srgbClr val="1F2328"/>
                </a:solidFill>
                <a:latin typeface="Courier New"/>
              </a:rPr>
              <a:t>=</a:t>
            </a:r>
            <a:r>
              <a:rPr sz="2100" b="0" i="0">
                <a:solidFill>
                  <a:srgbClr val="1F2328"/>
                </a:solidFill>
                <a:latin typeface="Courier New"/>
              </a:rPr>
              <a:t> </a:t>
            </a:r>
            <a:r>
              <a:rPr sz="2100" b="0" i="0">
                <a:solidFill>
                  <a:srgbClr val="3B4046"/>
                </a:solidFill>
                <a:latin typeface="Courier New"/>
              </a:rPr>
              <a:t>6000</a:t>
            </a:r>
            <a:r>
              <a:rPr sz="2100" b="0" i="0">
                <a:solidFill>
                  <a:srgbClr val="1F2328"/>
                </a:solidFill>
                <a:latin typeface="Courier New"/>
              </a:rPr>
              <a:t>:</a:t>
            </a:r>
          </a:p>
          <a:p>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1" i="0">
                <a:solidFill>
                  <a:srgbClr val="1F2328"/>
                </a:solidFill>
                <a:latin typeface="Courier New"/>
              </a:rPr>
              <a:t>return</a:t>
            </a:r>
            <a:r>
              <a:rPr sz="2100" b="0" i="0">
                <a:solidFill>
                  <a:srgbClr val="1F2328"/>
                </a:solidFill>
                <a:latin typeface="Courier New"/>
              </a:rPr>
              <a:t> </a:t>
            </a:r>
            <a:r>
              <a:rPr sz="2100" b="0" i="0">
                <a:solidFill>
                  <a:srgbClr val="B04A2B"/>
                </a:solidFill>
                <a:latin typeface="Courier New"/>
              </a:rPr>
              <a:t>"Gold"</a:t>
            </a:r>
          </a:p>
          <a:p>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1" i="0">
                <a:solidFill>
                  <a:srgbClr val="1F2328"/>
                </a:solidFill>
                <a:latin typeface="Courier New"/>
              </a:rPr>
              <a:t>else</a:t>
            </a:r>
            <a:r>
              <a:rPr sz="2100" b="0" i="0">
                <a:solidFill>
                  <a:srgbClr val="1F2328"/>
                </a:solidFill>
                <a:latin typeface="Courier New"/>
              </a:rPr>
              <a:t>:</a:t>
            </a:r>
          </a:p>
          <a:p>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0" i="0">
                <a:solidFill>
                  <a:srgbClr val="1F2328"/>
                </a:solidFill>
                <a:latin typeface="Courier New"/>
              </a:rPr>
              <a:t> </a:t>
            </a:r>
            <a:r>
              <a:rPr sz="2100" b="1" i="0">
                <a:solidFill>
                  <a:srgbClr val="1F2328"/>
                </a:solidFill>
                <a:latin typeface="Courier New"/>
              </a:rPr>
              <a:t>return</a:t>
            </a:r>
            <a:r>
              <a:rPr sz="2100" b="0" i="0">
                <a:solidFill>
                  <a:srgbClr val="1F2328"/>
                </a:solidFill>
                <a:latin typeface="Courier New"/>
              </a:rPr>
              <a:t> </a:t>
            </a:r>
            <a:r>
              <a:rPr sz="2100" b="0" i="0">
                <a:solidFill>
                  <a:srgbClr val="B04A2B"/>
                </a:solidFill>
                <a:latin typeface="Courier New"/>
              </a:rPr>
              <a:t>"Basic"</a:t>
            </a:r>
          </a:p>
          <a:p>
            <a:r>
              <a:rPr sz="2100" b="0" i="0">
                <a:solidFill>
                  <a:srgbClr val="1F2328"/>
                </a:solidFill>
                <a:latin typeface="Courier New"/>
              </a:rPr>
              <a:t> </a:t>
            </a:r>
          </a:p>
          <a:p>
            <a:r>
              <a:rPr sz="2100" b="0" i="0">
                <a:solidFill>
                  <a:srgbClr val="1F2328"/>
                </a:solidFill>
                <a:latin typeface="Courier New"/>
              </a:rPr>
              <a:t>print</a:t>
            </a:r>
            <a:r>
              <a:rPr sz="2100" b="0" i="0">
                <a:solidFill>
                  <a:srgbClr val="1F2328"/>
                </a:solidFill>
                <a:latin typeface="Courier New"/>
              </a:rPr>
              <a:t>(</a:t>
            </a:r>
            <a:r>
              <a:rPr sz="2100" b="0" i="0">
                <a:solidFill>
                  <a:srgbClr val="1F2328"/>
                </a:solidFill>
                <a:latin typeface="Courier New"/>
              </a:rPr>
              <a:t>tier_v1</a:t>
            </a:r>
            <a:r>
              <a:rPr sz="2100" b="0" i="0">
                <a:solidFill>
                  <a:srgbClr val="1F2328"/>
                </a:solidFill>
                <a:latin typeface="Courier New"/>
              </a:rPr>
              <a:t>(</a:t>
            </a:r>
            <a:r>
              <a:rPr sz="2100" b="0" i="0">
                <a:solidFill>
                  <a:srgbClr val="3B4046"/>
                </a:solidFill>
                <a:latin typeface="Courier New"/>
              </a:rPr>
              <a:t>7500000</a:t>
            </a:r>
            <a:r>
              <a:rPr sz="2100" b="0" i="0">
                <a:solidFill>
                  <a:srgbClr val="1F2328"/>
                </a:solidFill>
                <a:latin typeface="Courier New"/>
              </a:rPr>
              <a:t>)</a:t>
            </a:r>
            <a:r>
              <a:rPr sz="2100" b="0" i="0">
                <a:solidFill>
                  <a:srgbClr val="1F2328"/>
                </a:solidFill>
                <a:latin typeface="Courier New"/>
              </a:rPr>
              <a:t>)</a:t>
            </a:r>
          </a:p>
        </p:txBody>
      </p:sp>
      <p:grpSp>
        <p:nvGrpSpPr>
          <p:cNvPr id="7" name="output"/>
          <p:cNvGrpSpPr/>
          <p:nvPr/>
        </p:nvGrpSpPr>
        <p:grpSpPr>
          <a:xfrm>
            <a:off x="685800" y="5221224"/>
            <a:ext cx="6949440" cy="524256"/>
            <a:chOff x="685800" y="5221224"/>
            <a:chExt cx="6949440" cy="524256"/>
          </a:xfrm>
        </p:grpSpPr>
        <p:sp>
          <p:nvSpPr>
            <p:cNvPr id="8" name="TextBox 7"/>
            <p:cNvSpPr txBox="1"/>
            <p:nvPr/>
          </p:nvSpPr>
          <p:spPr>
            <a:xfrm>
              <a:off x="685800" y="52212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5477256"/>
              <a:ext cx="6949440"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5568696"/>
              <a:ext cx="6675120" cy="158496"/>
            </a:xfrm>
            <a:prstGeom prst="rect">
              <a:avLst/>
            </a:prstGeom>
            <a:noFill/>
          </p:spPr>
          <p:txBody>
            <a:bodyPr wrap="none" lIns="0" rIns="0" tIns="0" bIns="0">
              <a:spAutoFit/>
            </a:bodyPr>
            <a:lstStyle/>
            <a:p>
              <a:r>
                <a:rPr sz="1400" b="0" i="0">
                  <a:solidFill>
                    <a:srgbClr val="1F2328"/>
                  </a:solidFill>
                  <a:latin typeface="Courier New"/>
                </a:rPr>
                <a:t>Silver</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Three returns, so three possible answers.</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7,500,000 is 7,500 points. It passes the first test, so Silver comes back.</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Gold line can never run. The biggest threshold goes first.</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Asking an assistant to review your function (optional)</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Decisions, repeats and functions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cxnSp>
        <p:nvCxnSpPr>
          <p:cNvPr id="5" name="Connector 4"/>
          <p:cNvCxnSpPr/>
          <p:nvPr/>
        </p:nvCxnSpPr>
        <p:spPr>
          <a:xfrm>
            <a:off x="795528" y="2286000"/>
            <a:ext cx="10600639" cy="0"/>
          </a:xfrm>
          <a:prstGeom prst="line">
            <a:avLst/>
          </a:prstGeom>
          <a:ln w="19050">
            <a:solidFill>
              <a:srgbClr val="1F2328"/>
            </a:solidFill>
          </a:ln>
        </p:spPr>
      </p:cxnSp>
      <p:grpSp>
        <p:nvGrpSpPr>
          <p:cNvPr id="6" name="step-1"/>
          <p:cNvGrpSpPr/>
          <p:nvPr/>
        </p:nvGrpSpPr>
        <p:grpSpPr>
          <a:xfrm>
            <a:off x="676656" y="2167128"/>
            <a:ext cx="1944563" cy="2999231"/>
            <a:chOff x="676656" y="2167128"/>
            <a:chExt cx="1944563" cy="2999231"/>
          </a:xfrm>
        </p:grpSpPr>
        <p:sp>
          <p:nvSpPr>
            <p:cNvPr id="7" name="Oval 6"/>
            <p:cNvSpPr/>
            <p:nvPr/>
          </p:nvSpPr>
          <p:spPr>
            <a:xfrm>
              <a:off x="676656" y="2167128"/>
              <a:ext cx="237744" cy="237744"/>
            </a:xfrm>
            <a:prstGeom prst="ellipse">
              <a:avLst/>
            </a:prstGeom>
            <a:solidFill>
              <a:srgbClr val="FFFFFF"/>
            </a:solidFill>
            <a:ln w="19050">
              <a:solidFill>
                <a:srgbClr val="1F2328"/>
              </a:solidFill>
            </a:ln>
          </p:spPr>
          <p:txBody>
            <a:bodyPr rtlCol="0" anchor="ctr"/>
            <a:lstStyle/>
            <a:p>
              <a:pPr algn="ctr"/>
            </a:p>
          </p:txBody>
        </p:sp>
        <p:sp>
          <p:nvSpPr>
            <p:cNvPr id="8" name="TextBox 7"/>
            <p:cNvSpPr txBox="1"/>
            <p:nvPr/>
          </p:nvSpPr>
          <p:spPr>
            <a:xfrm>
              <a:off x="685800"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Paste</a:t>
              </a:r>
            </a:p>
          </p:txBody>
        </p:sp>
        <p:sp>
          <p:nvSpPr>
            <p:cNvPr id="9" name="TextBox 8"/>
            <p:cNvSpPr txBox="1"/>
            <p:nvPr/>
          </p:nvSpPr>
          <p:spPr>
            <a:xfrm>
              <a:off x="685800"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Only the function. No customer names or phone numbers.</a:t>
              </a:r>
            </a:p>
          </p:txBody>
        </p:sp>
      </p:grpSp>
      <p:grpSp>
        <p:nvGrpSpPr>
          <p:cNvPr id="10" name="step-2"/>
          <p:cNvGrpSpPr/>
          <p:nvPr/>
        </p:nvGrpSpPr>
        <p:grpSpPr>
          <a:xfrm>
            <a:off x="2840675" y="2167128"/>
            <a:ext cx="1944563" cy="2999231"/>
            <a:chOff x="2840675" y="2167128"/>
            <a:chExt cx="1944563" cy="2999231"/>
          </a:xfrm>
        </p:grpSpPr>
        <p:sp>
          <p:nvSpPr>
            <p:cNvPr id="11" name="Oval 10"/>
            <p:cNvSpPr/>
            <p:nvPr/>
          </p:nvSpPr>
          <p:spPr>
            <a:xfrm>
              <a:off x="2840675" y="2167128"/>
              <a:ext cx="237744" cy="237744"/>
            </a:xfrm>
            <a:prstGeom prst="ellipse">
              <a:avLst/>
            </a:prstGeom>
            <a:solidFill>
              <a:srgbClr val="FFFFFF"/>
            </a:solidFill>
            <a:ln w="19050">
              <a:solidFill>
                <a:srgbClr val="1F2328"/>
              </a:solidFill>
            </a:ln>
          </p:spPr>
          <p:txBody>
            <a:bodyPr rtlCol="0" anchor="ctr"/>
            <a:lstStyle/>
            <a:p>
              <a:pPr algn="ctr"/>
            </a:p>
          </p:txBody>
        </p:sp>
        <p:sp>
          <p:nvSpPr>
            <p:cNvPr id="12" name="TextBox 11"/>
            <p:cNvSpPr txBox="1"/>
            <p:nvPr/>
          </p:nvSpPr>
          <p:spPr>
            <a:xfrm>
              <a:off x="2849819"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Ask</a:t>
              </a:r>
            </a:p>
          </p:txBody>
        </p:sp>
        <p:sp>
          <p:nvSpPr>
            <p:cNvPr id="13" name="TextBox 12"/>
            <p:cNvSpPr txBox="1"/>
            <p:nvPr/>
          </p:nvSpPr>
          <p:spPr>
            <a:xfrm>
              <a:off x="2849819"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What could go wrong at the boundaries?</a:t>
              </a:r>
            </a:p>
          </p:txBody>
        </p:sp>
      </p:grpSp>
      <p:grpSp>
        <p:nvGrpSpPr>
          <p:cNvPr id="14" name="step-3"/>
          <p:cNvGrpSpPr/>
          <p:nvPr/>
        </p:nvGrpSpPr>
        <p:grpSpPr>
          <a:xfrm>
            <a:off x="5004694" y="2167128"/>
            <a:ext cx="1944563" cy="2999231"/>
            <a:chOff x="5004694" y="2167128"/>
            <a:chExt cx="1944563" cy="2999231"/>
          </a:xfrm>
        </p:grpSpPr>
        <p:sp>
          <p:nvSpPr>
            <p:cNvPr id="15" name="Oval 14"/>
            <p:cNvSpPr/>
            <p:nvPr/>
          </p:nvSpPr>
          <p:spPr>
            <a:xfrm>
              <a:off x="5004694" y="2167128"/>
              <a:ext cx="237744" cy="237744"/>
            </a:xfrm>
            <a:prstGeom prst="ellipse">
              <a:avLst/>
            </a:prstGeom>
            <a:solidFill>
              <a:srgbClr val="FFFFFF"/>
            </a:solidFill>
            <a:ln w="19050">
              <a:solidFill>
                <a:srgbClr val="1F2328"/>
              </a:solidFill>
            </a:ln>
          </p:spPr>
          <p:txBody>
            <a:bodyPr rtlCol="0" anchor="ctr"/>
            <a:lstStyle/>
            <a:p>
              <a:pPr algn="ctr"/>
            </a:p>
          </p:txBody>
        </p:sp>
        <p:sp>
          <p:nvSpPr>
            <p:cNvPr id="16" name="TextBox 15"/>
            <p:cNvSpPr txBox="1"/>
            <p:nvPr/>
          </p:nvSpPr>
          <p:spPr>
            <a:xfrm>
              <a:off x="5013838"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Read</a:t>
              </a:r>
            </a:p>
          </p:txBody>
        </p:sp>
        <p:sp>
          <p:nvSpPr>
            <p:cNvPr id="17" name="TextBox 16"/>
            <p:cNvSpPr txBox="1"/>
            <p:nvPr/>
          </p:nvSpPr>
          <p:spPr>
            <a:xfrm>
              <a:off x="5013838"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The reply may be right, partly right or wrong.</a:t>
              </a:r>
            </a:p>
          </p:txBody>
        </p:sp>
      </p:grpSp>
      <p:grpSp>
        <p:nvGrpSpPr>
          <p:cNvPr id="18" name="step-4"/>
          <p:cNvGrpSpPr/>
          <p:nvPr/>
        </p:nvGrpSpPr>
        <p:grpSpPr>
          <a:xfrm>
            <a:off x="7168713" y="2167128"/>
            <a:ext cx="1944563" cy="2999231"/>
            <a:chOff x="7168713" y="2167128"/>
            <a:chExt cx="1944563" cy="2999231"/>
          </a:xfrm>
        </p:grpSpPr>
        <p:sp>
          <p:nvSpPr>
            <p:cNvPr id="19" name="Oval 18"/>
            <p:cNvSpPr/>
            <p:nvPr/>
          </p:nvSpPr>
          <p:spPr>
            <a:xfrm>
              <a:off x="7168713" y="2167128"/>
              <a:ext cx="237744" cy="237744"/>
            </a:xfrm>
            <a:prstGeom prst="ellipse">
              <a:avLst/>
            </a:prstGeom>
            <a:solidFill>
              <a:srgbClr val="FFFFFF"/>
            </a:solidFill>
            <a:ln w="19050">
              <a:solidFill>
                <a:srgbClr val="1F2328"/>
              </a:solidFill>
            </a:ln>
          </p:spPr>
          <p:txBody>
            <a:bodyPr rtlCol="0" anchor="ctr"/>
            <a:lstStyle/>
            <a:p>
              <a:pPr algn="ctr"/>
            </a:p>
          </p:txBody>
        </p:sp>
        <p:sp>
          <p:nvSpPr>
            <p:cNvPr id="20" name="TextBox 19"/>
            <p:cNvSpPr txBox="1"/>
            <p:nvPr/>
          </p:nvSpPr>
          <p:spPr>
            <a:xfrm>
              <a:off x="7177857"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Test</a:t>
              </a:r>
            </a:p>
          </p:txBody>
        </p:sp>
        <p:sp>
          <p:nvSpPr>
            <p:cNvPr id="21" name="TextBox 20"/>
            <p:cNvSpPr txBox="1"/>
            <p:nvPr/>
          </p:nvSpPr>
          <p:spPr>
            <a:xfrm>
              <a:off x="7177857"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Run your edge cases on any change it suggests.</a:t>
              </a:r>
            </a:p>
          </p:txBody>
        </p:sp>
      </p:grpSp>
      <p:grpSp>
        <p:nvGrpSpPr>
          <p:cNvPr id="22" name="step-5"/>
          <p:cNvGrpSpPr/>
          <p:nvPr/>
        </p:nvGrpSpPr>
        <p:grpSpPr>
          <a:xfrm>
            <a:off x="9332732" y="2167128"/>
            <a:ext cx="1944563" cy="2999231"/>
            <a:chOff x="9332732" y="2167128"/>
            <a:chExt cx="1944563" cy="2999231"/>
          </a:xfrm>
        </p:grpSpPr>
        <p:sp>
          <p:nvSpPr>
            <p:cNvPr id="23" name="Oval 22"/>
            <p:cNvSpPr/>
            <p:nvPr/>
          </p:nvSpPr>
          <p:spPr>
            <a:xfrm>
              <a:off x="9332732" y="2167128"/>
              <a:ext cx="237744" cy="237744"/>
            </a:xfrm>
            <a:prstGeom prst="ellipse">
              <a:avLst/>
            </a:prstGeom>
            <a:solidFill>
              <a:srgbClr val="FFFFFF"/>
            </a:solidFill>
            <a:ln w="19050">
              <a:solidFill>
                <a:srgbClr val="1F2328"/>
              </a:solidFill>
            </a:ln>
          </p:spPr>
          <p:txBody>
            <a:bodyPr rtlCol="0" anchor="ctr"/>
            <a:lstStyle/>
            <a:p>
              <a:pPr algn="ctr"/>
            </a:p>
          </p:txBody>
        </p:sp>
        <p:sp>
          <p:nvSpPr>
            <p:cNvPr id="24" name="TextBox 23"/>
            <p:cNvSpPr txBox="1"/>
            <p:nvPr/>
          </p:nvSpPr>
          <p:spPr>
            <a:xfrm>
              <a:off x="9341876" y="2606040"/>
              <a:ext cx="1935419" cy="868680"/>
            </a:xfrm>
            <a:prstGeom prst="rect">
              <a:avLst/>
            </a:prstGeom>
            <a:noFill/>
          </p:spPr>
          <p:txBody>
            <a:bodyPr wrap="square" lIns="0" rIns="0" tIns="18288" bIns="18288" anchor="t">
              <a:spAutoFit/>
            </a:bodyPr>
            <a:lstStyle/>
            <a:p>
              <a:pPr algn="l"/>
              <a:r>
                <a:rPr sz="2400" b="1" i="0">
                  <a:solidFill>
                    <a:srgbClr val="1F2328"/>
                  </a:solidFill>
                  <a:latin typeface="Cambria"/>
                </a:rPr>
                <a:t>Decide</a:t>
              </a:r>
            </a:p>
          </p:txBody>
        </p:sp>
        <p:sp>
          <p:nvSpPr>
            <p:cNvPr id="25" name="TextBox 24"/>
            <p:cNvSpPr txBox="1"/>
            <p:nvPr/>
          </p:nvSpPr>
          <p:spPr>
            <a:xfrm>
              <a:off x="9341876" y="3114446"/>
              <a:ext cx="1935419" cy="2051913"/>
            </a:xfrm>
            <a:prstGeom prst="rect">
              <a:avLst/>
            </a:prstGeom>
            <a:noFill/>
          </p:spPr>
          <p:txBody>
            <a:bodyPr wrap="square" lIns="0" rIns="0" tIns="18288" bIns="18288" anchor="t">
              <a:spAutoFit/>
            </a:bodyPr>
            <a:lstStyle/>
            <a:p>
              <a:pPr algn="l"/>
              <a:r>
                <a:rPr sz="2200" b="0" i="0">
                  <a:solidFill>
                    <a:srgbClr val="3B4046"/>
                  </a:solidFill>
                  <a:latin typeface="Calibri"/>
                </a:rPr>
                <a:t>Keep a change only if every test passes.</a:t>
              </a:r>
            </a:p>
          </p:txBody>
        </p:sp>
      </p:grpSp>
      <p:cxnSp>
        <p:nvCxnSpPr>
          <p:cNvPr id="26" name="Connector 25"/>
          <p:cNvCxnSpPr/>
          <p:nvPr/>
        </p:nvCxnSpPr>
        <p:spPr>
          <a:xfrm>
            <a:off x="685800" y="5120640"/>
            <a:ext cx="10820095" cy="0"/>
          </a:xfrm>
          <a:prstGeom prst="line">
            <a:avLst/>
          </a:prstGeom>
          <a:ln w="15875">
            <a:solidFill>
              <a:srgbClr val="1F2328"/>
            </a:solidFill>
          </a:ln>
        </p:spPr>
      </p:cxnSp>
      <p:sp>
        <p:nvSpPr>
          <p:cNvPr id="27" name="TextBox 26"/>
          <p:cNvSpPr txBox="1"/>
          <p:nvPr/>
        </p:nvSpPr>
        <p:spPr>
          <a:xfrm>
            <a:off x="685800" y="5257800"/>
            <a:ext cx="10820095" cy="914400"/>
          </a:xfrm>
          <a:prstGeom prst="rect">
            <a:avLst/>
          </a:prstGeom>
          <a:noFill/>
        </p:spPr>
        <p:txBody>
          <a:bodyPr wrap="square" lIns="0" rIns="0" tIns="18288" bIns="18288" anchor="t">
            <a:spAutoFit/>
          </a:bodyPr>
          <a:lstStyle/>
          <a:p>
            <a:pPr algn="l"/>
            <a:r>
              <a:rPr sz="2200" b="0" i="0">
                <a:solidFill>
                  <a:srgbClr val="1F2328"/>
                </a:solidFill>
                <a:latin typeface="Cambria"/>
              </a:rPr>
              <a:t>A free chat assistant is optional help. Your tests have the last word.</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Lab: write, test and apply the loyalty tier function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Decisions, repeats and functions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Open the Session 6 notebook and run the setup cell</a:t>
            </a:r>
          </a:p>
        </p:txBody>
      </p:sp>
      <p:cxnSp>
        <p:nvCxnSpPr>
          <p:cNvPr id="8" name="Connector 7"/>
          <p:cNvCxnSpPr/>
          <p:nvPr/>
        </p:nvCxnSpPr>
        <p:spPr>
          <a:xfrm>
            <a:off x="685800" y="2259874"/>
            <a:ext cx="7223760" cy="0"/>
          </a:xfrm>
          <a:prstGeom prst="line">
            <a:avLst/>
          </a:prstGeom>
          <a:ln w="6350">
            <a:solidFill>
              <a:srgbClr val="C9C5BC"/>
            </a:solidFill>
          </a:ln>
        </p:spPr>
      </p:cxnSp>
      <p:sp>
        <p:nvSpPr>
          <p:cNvPr id="9" name="TextBox 8"/>
          <p:cNvSpPr txBox="1"/>
          <p:nvPr/>
        </p:nvSpPr>
        <p:spPr>
          <a:xfrm>
            <a:off x="685800" y="2351314"/>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351314"/>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Write loyalty_tier from the policy</a:t>
            </a:r>
          </a:p>
        </p:txBody>
      </p:sp>
      <p:cxnSp>
        <p:nvCxnSpPr>
          <p:cNvPr id="11" name="Connector 10"/>
          <p:cNvCxnSpPr/>
          <p:nvPr/>
        </p:nvCxnSpPr>
        <p:spPr>
          <a:xfrm>
            <a:off x="685800" y="2919548"/>
            <a:ext cx="7223760" cy="0"/>
          </a:xfrm>
          <a:prstGeom prst="line">
            <a:avLst/>
          </a:prstGeom>
          <a:ln w="6350">
            <a:solidFill>
              <a:srgbClr val="C9C5BC"/>
            </a:solidFill>
          </a:ln>
        </p:spPr>
      </p:cxnSp>
      <p:sp>
        <p:nvSpPr>
          <p:cNvPr id="12" name="TextBox 11"/>
          <p:cNvSpPr txBox="1"/>
          <p:nvPr/>
        </p:nvSpPr>
        <p:spPr>
          <a:xfrm>
            <a:off x="685800" y="3010988"/>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010988"/>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Test it on five edge cases in a loop</a:t>
            </a:r>
          </a:p>
        </p:txBody>
      </p:sp>
      <p:cxnSp>
        <p:nvCxnSpPr>
          <p:cNvPr id="14" name="Connector 13"/>
          <p:cNvCxnSpPr/>
          <p:nvPr/>
        </p:nvCxnSpPr>
        <p:spPr>
          <a:xfrm>
            <a:off x="685800" y="3579222"/>
            <a:ext cx="7223760" cy="0"/>
          </a:xfrm>
          <a:prstGeom prst="line">
            <a:avLst/>
          </a:prstGeom>
          <a:ln w="6350">
            <a:solidFill>
              <a:srgbClr val="C9C5BC"/>
            </a:solidFill>
          </a:ln>
        </p:spPr>
      </p:cxnSp>
      <p:sp>
        <p:nvSpPr>
          <p:cNvPr id="15" name="TextBox 14"/>
          <p:cNvSpPr txBox="1"/>
          <p:nvPr/>
        </p:nvSpPr>
        <p:spPr>
          <a:xfrm>
            <a:off x="685800" y="3670662"/>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670662"/>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Total six customers' orders in a loop</a:t>
            </a:r>
          </a:p>
        </p:txBody>
      </p:sp>
      <p:cxnSp>
        <p:nvCxnSpPr>
          <p:cNvPr id="17" name="Connector 16"/>
          <p:cNvCxnSpPr/>
          <p:nvPr/>
        </p:nvCxnSpPr>
        <p:spPr>
          <a:xfrm>
            <a:off x="685800" y="4238897"/>
            <a:ext cx="7223760" cy="0"/>
          </a:xfrm>
          <a:prstGeom prst="line">
            <a:avLst/>
          </a:prstGeom>
          <a:ln w="6350">
            <a:solidFill>
              <a:srgbClr val="C9C5BC"/>
            </a:solidFill>
          </a:ln>
        </p:spPr>
      </p:cxnSp>
      <p:sp>
        <p:nvSpPr>
          <p:cNvPr id="18" name="TextBox 17"/>
          <p:cNvSpPr txBox="1"/>
          <p:nvPr/>
        </p:nvSpPr>
        <p:spPr>
          <a:xfrm>
            <a:off x="685800" y="4330337"/>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330337"/>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Apply the function to every total</a:t>
            </a:r>
          </a:p>
        </p:txBody>
      </p:sp>
      <p:cxnSp>
        <p:nvCxnSpPr>
          <p:cNvPr id="20" name="Connector 19"/>
          <p:cNvCxnSpPr/>
          <p:nvPr/>
        </p:nvCxnSpPr>
        <p:spPr>
          <a:xfrm>
            <a:off x="685800" y="4898571"/>
            <a:ext cx="7223760" cy="0"/>
          </a:xfrm>
          <a:prstGeom prst="line">
            <a:avLst/>
          </a:prstGeom>
          <a:ln w="6350">
            <a:solidFill>
              <a:srgbClr val="C9C5BC"/>
            </a:solidFill>
          </a:ln>
        </p:spPr>
      </p:cxnSp>
      <p:sp>
        <p:nvSpPr>
          <p:cNvPr id="21" name="TextBox 20"/>
          <p:cNvSpPr txBox="1"/>
          <p:nvPr/>
        </p:nvSpPr>
        <p:spPr>
          <a:xfrm>
            <a:off x="685800" y="4990011"/>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4990011"/>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Find and fix the faulty function</a:t>
            </a:r>
          </a:p>
        </p:txBody>
      </p:sp>
      <p:cxnSp>
        <p:nvCxnSpPr>
          <p:cNvPr id="23" name="Connector 22"/>
          <p:cNvCxnSpPr/>
          <p:nvPr/>
        </p:nvCxnSpPr>
        <p:spPr>
          <a:xfrm>
            <a:off x="685800" y="5558245"/>
            <a:ext cx="7223760" cy="0"/>
          </a:xfrm>
          <a:prstGeom prst="line">
            <a:avLst/>
          </a:prstGeom>
          <a:ln w="6350">
            <a:solidFill>
              <a:srgbClr val="C9C5BC"/>
            </a:solidFill>
          </a:ln>
        </p:spPr>
      </p:cxnSp>
      <p:sp>
        <p:nvSpPr>
          <p:cNvPr id="24" name="TextBox 23"/>
          <p:cNvSpPr txBox="1"/>
          <p:nvPr/>
        </p:nvSpPr>
        <p:spPr>
          <a:xfrm>
            <a:off x="685800" y="5649685"/>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7</a:t>
            </a:r>
          </a:p>
        </p:txBody>
      </p:sp>
      <p:sp>
        <p:nvSpPr>
          <p:cNvPr id="25" name="TextBox 24"/>
          <p:cNvSpPr txBox="1"/>
          <p:nvPr/>
        </p:nvSpPr>
        <p:spPr>
          <a:xfrm>
            <a:off x="1234440" y="5649685"/>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Rebuild the rule as a nested IF in Sheets</a:t>
            </a:r>
          </a:p>
        </p:txBody>
      </p:sp>
      <p:cxnSp>
        <p:nvCxnSpPr>
          <p:cNvPr id="26" name="Connector 25"/>
          <p:cNvCxnSpPr/>
          <p:nvPr/>
        </p:nvCxnSpPr>
        <p:spPr>
          <a:xfrm>
            <a:off x="685800" y="6217920"/>
            <a:ext cx="7223760" cy="0"/>
          </a:xfrm>
          <a:prstGeom prst="line">
            <a:avLst/>
          </a:prstGeom>
          <a:ln w="6350">
            <a:solidFill>
              <a:srgbClr val="C9C5BC"/>
            </a:solidFill>
          </a:ln>
        </p:spPr>
      </p:cxnSp>
      <p:cxnSp>
        <p:nvCxnSpPr>
          <p:cNvPr id="27" name="Connector 26"/>
          <p:cNvCxnSpPr/>
          <p:nvPr/>
        </p:nvCxnSpPr>
        <p:spPr>
          <a:xfrm>
            <a:off x="8458200" y="1600200"/>
            <a:ext cx="3047695" cy="0"/>
          </a:xfrm>
          <a:prstGeom prst="line">
            <a:avLst/>
          </a:prstGeom>
          <a:ln w="15875">
            <a:solidFill>
              <a:srgbClr val="1F2328"/>
            </a:solidFill>
          </a:ln>
        </p:spPr>
      </p:cxnSp>
      <p:sp>
        <p:nvSpPr>
          <p:cNvPr id="28" name="TextBox 27"/>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9" name="TextBox 28"/>
          <p:cNvSpPr txBox="1"/>
          <p:nvPr/>
        </p:nvSpPr>
        <p:spPr>
          <a:xfrm>
            <a:off x="8458200" y="2011680"/>
            <a:ext cx="3047695" cy="1097280"/>
          </a:xfrm>
          <a:prstGeom prst="rect">
            <a:avLst/>
          </a:prstGeom>
          <a:noFill/>
        </p:spPr>
        <p:txBody>
          <a:bodyPr wrap="square" lIns="0" rIns="0" tIns="18288" bIns="18288" anchor="t">
            <a:spAutoFit/>
          </a:bodyPr>
          <a:lstStyle/>
          <a:p>
            <a:pPr algn="l"/>
            <a:r>
              <a:rPr sz="2100" b="1" i="0">
                <a:solidFill>
                  <a:srgbClr val="1F2328"/>
                </a:solidFill>
                <a:latin typeface="Cambria"/>
              </a:rPr>
              <a:t>Google Colab
40 minutes</a:t>
            </a:r>
          </a:p>
        </p:txBody>
      </p:sp>
      <p:cxnSp>
        <p:nvCxnSpPr>
          <p:cNvPr id="30" name="Connector 29"/>
          <p:cNvCxnSpPr/>
          <p:nvPr/>
        </p:nvCxnSpPr>
        <p:spPr>
          <a:xfrm>
            <a:off x="8458200" y="3200400"/>
            <a:ext cx="3047695" cy="0"/>
          </a:xfrm>
          <a:prstGeom prst="line">
            <a:avLst/>
          </a:prstGeom>
          <a:ln w="6350">
            <a:solidFill>
              <a:srgbClr val="C9C5BC"/>
            </a:solidFill>
          </a:ln>
        </p:spPr>
      </p:cxnSp>
      <p:sp>
        <p:nvSpPr>
          <p:cNvPr id="31" name="TextBox 30"/>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32" name="TextBox 31"/>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Every check cell says correct, and Sheets gives the same tiers as Python.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Decisions, repeats and functions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Which spend values do you test first on a tier function, and why?</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050" b="0" i="0">
                  <a:solidFill>
                    <a:srgbClr val="3B4046"/>
                  </a:solidFill>
                  <a:latin typeface="Calibri"/>
                </a:rPr>
                <a:t>Values on each boundary and one shilling either side, because that is where a wrong sign hides.</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What does a for loop replace in a spreadsheet, and what does a function replace?</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2100" b="0" i="0">
                  <a:solidFill>
                    <a:srgbClr val="3B4046"/>
                  </a:solidFill>
                  <a:latin typeface="Calibri"/>
                </a:rPr>
                <a:t>A loop replaces dragging a formula down. A function replaces a formula you name and reuse.</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An assistant suggests a change to your function. What decides whether you keep it?</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Your tests. Rerun the edge cases and keep the change only if every one passes.</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6   Decisions, repeats and functions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if, elif and else are IF(). A for loop is fill down. A function is a formula you name.</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Test a function on answers you worked out by hand, including values on the boundary.</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Read code with three questions, and let your tests judge any assistant's advice.</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pandas I: load, look and filter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