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Seventeen sessions in, and today's question is how to get a stronger model without fooling ourselves. Last session you learned to judge a model and to catch a column that leaks the answer. We start with a curve from Lakeside Mart weekly orders that shows what overfitting looks like. Then come forests and boosting on the Nile Microfinance loans, cross-validation to tune them, and feature importance read with care. The question at the end is a business one. When two models score about the same, which would you ship?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ideas and the code are mixed together today, so you'll see each model run as soon as we meet it. By the end you can explain overfitting, bias and variance from a curve. You can fit a random forest and a gradient boosting model on the loans and tune a few settings with cross-validation. You can read feature importance without claiming more than it shows. The lab ends with a table of train and test scores and one sentence on which model you would ship.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words today. Overfitting is a trendline with so many bends that it passes through every dot. Bias and variance are the two ways to get a model wrong, too simple or too wiggly. Bagging, short for bootstrap aggregating, averages many models trained on resamples. A random forest is bagging applied to decision trees. Boosting adds small trees one after another, each fixing the last one's mistakes. A hyperparameter is a setting you choose before learning, like the periods in a moving average. Permutation importance shuffles one column to see how much the score drops.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Leakage and cross-validation first. Two questions from last session.</a:t>
            </a:r>
          </a:p>
          <a:p/>
          <a:p>
            <a:r>
              <a:t>First. A loan model scored an AUC near zero point nine nine five once one column was added. What did that column do? Have a think.</a:t>
            </a:r>
          </a:p>
          <a:p/>
          <a:p>
            <a:r>
              <a:t>The column was collection_calls. A lender only makes collection calls after a loan has gone bad, so the column holds the answer inside it. That is leakage, and it's why we removed it.</a:t>
            </a:r>
          </a:p>
          <a:p/>
          <a:p>
            <a:r>
              <a:t>Second. Why cross-validate instead of trusting a single train and test split? No rush.</a:t>
            </a:r>
          </a:p>
          <a:p/>
          <a:p>
            <a:r>
              <a:t>One split can be lucky or unlucky. Cross-validation gives every part of the data a turn as the test part, so you get five scores and you average them. Today you'll use that same idea to pick settings for a stronger model.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with a picture from data you know. It's the weekly orders at the Jinja branch of Lakeside Mart, predicted from footfall, which is the number of people through the door.</a:t>
            </a:r>
          </a:p>
          <a:p/>
          <a:p>
            <a:r>
              <a:t>In Excel you can add a trendline to a scatter chart and choose polynomial, then pick an order. Order one is a straight line. Each higher order adds one more bend. On the bottom of this chart, that's the degree. More degree means a more flexible curve.</a:t>
            </a:r>
          </a:p>
          <a:p/>
          <a:p>
            <a:r>
              <a:t>We fitted each curve on thirty five weeks, then measured the error in orders per week on those same weeks. That's the dark line. It stays near six all the way across. The fit to the old weeks barely changes.</a:t>
            </a:r>
          </a:p>
          <a:p/>
          <a:p>
            <a:r>
              <a:t>The red line is the error on sixty nine weeks the curve never saw. Up to degree five it stays close to the blue line, also near six, with one small bump at degree four.</a:t>
            </a:r>
          </a:p>
          <a:p/>
          <a:p>
            <a:r>
              <a:t>Then at degree six it shoots off the top of the chart. The curve has stopped learning the pattern and started following the quirks of those thirty five weeks. That is overfitting.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code behind that chart, so you can see there's no trick. It's only numpy and the Jinja weeks.</a:t>
            </a:r>
          </a:p>
          <a:p/>
          <a:p>
            <a:r>
              <a:t>First we split the weeks. Thirty five go in the learning part, called tr, and the other sixty nine go in the test part, called te. The random generator has a fixed seed, so you'll get the same split I do.</a:t>
            </a:r>
          </a:p>
          <a:p/>
          <a:p>
            <a:r>
              <a:t>Then a loop tries five degrees. polyfit draws a curve of that degree through the learning weeks only.</a:t>
            </a:r>
          </a:p>
          <a:p/>
          <a:p>
            <a:r>
              <a:t>Last, we measure the typical miss, in orders per week, on each part, with the learning weeks first and the test weeks second. Read the output. At degree one the miss is about six on both parts. At degree six, the learning miss is still six, but the test miss is seventy two. At degree nine it's over twenty five thousand. A model can look perfect on the weeks it studied and be useless on next week.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words come up in every machine learning conversation, bias and variance. Here they are in plain speech.</a:t>
            </a:r>
          </a:p>
          <a:p/>
          <a:p>
            <a:r>
              <a:t>A model that's too simple has high bias. It's a straight line through a curved cloud, or one average used for every loan. It misses the real pattern, so it's wrong on the old data and wrong on the new data.</a:t>
            </a:r>
          </a:p>
          <a:p/>
          <a:p>
            <a:r>
              <a:t>A model that's too wiggly has high variance. Imagine a rule for every single borrower, including the odd ones. It follows the noise. On the old data it looks brilliant. On new loans it falls apart, like the degree six curve we just saw.</a:t>
            </a:r>
          </a:p>
          <a:p/>
          <a:p>
            <a:r>
              <a:t>So the goal sits in the middle. Flexible enough to see the real pattern, plain enough to hold up on loans it has never met. Every setting we tune today is a way of sliding along that line between the two.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loans come next. We load the Nile Microfinance file and get it ready, using only pandas, which you know.</a:t>
            </a:r>
          </a:p>
          <a:p/>
          <a:p>
            <a:r>
              <a:t>Two ages in this file are impossible, one is zero and one is a hundred and ninety nine. We replace anything outside eighteen to ninety with the median age. The blank incomes get the median income. Then we make one new column, burden. It's the monthly instalment divided by monthly income, ignoring interest to keep it simple. A loan that eats a big share of someone's income is riskier.</a:t>
            </a:r>
          </a:p>
          <a:p/>
          <a:p>
            <a:r>
              <a:t>We keep the number columns as our features, eleven of them, after dropping the answer column and collection_calls. We removed it last session because it leaks the answer.</a:t>
            </a:r>
          </a:p>
          <a:p/>
          <a:p>
            <a:r>
              <a:t>The output says eight thousand loans and eleven columns. And a thousand and four defaulted out of eight thousand, which is about one loan in eight.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Session 15 you met the decision tree, a set of yes and no questions. One deep tree is very wiggly. It memorises. A forest fixes that by asking many trees and taking the vote. It works like asking twenty colleagues for a forecast and averaging their answers.</a:t>
            </a:r>
          </a:p>
          <a:p/>
          <a:p>
            <a:r>
              <a:t>Step one. Resample. This is the bootstrap idea from Session 12. We draw a random sample of the loans, with repeats allowed, so each tree gets a slightly different version of the data.</a:t>
            </a:r>
          </a:p>
          <a:p/>
          <a:p>
            <a:r>
              <a:t>Step two. Grow a tree on that sample. At each question it only looks at a few of the columns, picked at random, so the trees don't all copy each other.</a:t>
            </a:r>
          </a:p>
          <a:p/>
          <a:p>
            <a:r>
              <a:t>Step three. Repeat, a few hundred times. Every tree is a little different.</a:t>
            </a:r>
          </a:p>
          <a:p/>
          <a:p>
            <a:r>
              <a:t>Step four. Vote. The forest averages the trees' answers into one probability of default.</a:t>
            </a:r>
          </a:p>
          <a:p/>
          <a:p>
            <a:r>
              <a:t>The resample and average trick has a name, bagging. It's short for bootstrap aggregating. A random forest is bagging applied to decision trees. Each tree is wiggly, but their mistakes point in different directions, so the average is steadier.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forest in scikit-learn. The pattern is the one you know, split, fit, predict.</a:t>
            </a:r>
          </a:p>
          <a:p/>
          <a:p>
            <a:r>
              <a:t>First we split the loans, a quarter held back for testing. The word stratify keeps the share of defaults the same in both parts. That matters when only one loan in eight defaults. The seed of forty two makes the split repeatable.</a:t>
            </a:r>
          </a:p>
          <a:p/>
          <a:p>
            <a:r>
              <a:t>Next we make the forest with two hundred trees and fit it on the learning part. Same fit call as every model you've built.</a:t>
            </a:r>
          </a:p>
          <a:p/>
          <a:p>
            <a:r>
              <a:t>Then predict_proba gives a probability for each test loan, and we keep column one, the chance of default. The last line scores it with AUC.</a:t>
            </a:r>
          </a:p>
          <a:p/>
          <a:p>
            <a:r>
              <a:t>In a typical run a forest scores an AUC a little above the logistic regression, around zero point seven six to zero point eight. Your own number will be close to that but won't be identical. Read your own output, and write it down. You'll need it for the lab.</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trap can cost money, and it runs without a single error.</a:t>
            </a:r>
          </a:p>
          <a:p/>
          <a:p>
            <a:r>
              <a:t>You fit the forest, then you score it on the same loans it learned from. The AUC comes out close to one. Perfect. You email your manager.</a:t>
            </a:r>
          </a:p>
          <a:p/>
          <a:p>
            <a:r>
              <a:t>A deep tree can remember every loan it was shown, including the odd ones. Scoring it on those same loans is like marking a student with the exact questions they practised. The forest shows how good its memory is. It tells you very little about the next borrower to walk in.</a:t>
            </a:r>
          </a:p>
          <a:p/>
          <a:p>
            <a:r>
              <a:t>Report the score on the test part, and print the training score right beside it. If training says point nine nine and test says point seven eight, that gap is your overfitting, measured. A small gap means the model is holding up.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of strong models is boosting. A forest grows its trees side by side and averages them. Boosting grows its trees one after another.</a:t>
            </a:r>
          </a:p>
          <a:p/>
          <a:p>
            <a:r>
              <a:t>You start simple. The first tree is tiny and gives a rough guess for every loan.</a:t>
            </a:r>
          </a:p>
          <a:p/>
          <a:p>
            <a:r>
              <a:t>Then you look at the mistakes. Which loans did that guess get wrong?</a:t>
            </a:r>
          </a:p>
          <a:p/>
          <a:p>
            <a:r>
              <a:t>Next you grow a small tree aimed at exactly those mistakes. It's a correction.</a:t>
            </a:r>
          </a:p>
          <a:p/>
          <a:p>
            <a:r>
              <a:t>Finally you add the correction to the running answer, but scaled down to a small share, called the learning rate. Then you go round again, a few hundred times. It works like a forecast sheet with a new column that fixes the errors of the column before it.</a:t>
            </a:r>
          </a:p>
          <a:p/>
          <a:p>
            <a:r>
              <a:t>Because each tree chases the leftover mistakes, boosting can fit very closely. If you add too many trees it starts to chase noise as well, so it can overfit too. That's why we'll tune it with cross-validation.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Boosting in scikit-learn is the same few lines. We use HistGradientBoostingClassifier. It's a fast version that comes with scikit-learn, so there's nothing to install.</a:t>
            </a:r>
          </a:p>
          <a:p/>
          <a:p>
            <a:r>
              <a:t>Three settings matter. The learning rate of zero point zero five means we keep only five percent of each correction. A small step is safer. The max_iter of two hundred is how many small trees we add. And max_depth of three keeps every tree small.</a:t>
            </a:r>
          </a:p>
          <a:p/>
          <a:p>
            <a:r>
              <a:t>Then fit, predict_proba and score, exactly as before.</a:t>
            </a:r>
          </a:p>
          <a:p/>
          <a:p>
            <a:r>
              <a:t>In a typical run the boosted model lands in about the same place as the forest, an AUC around zero point seven six to zero point eight. Don't expect a jump. Run it, then read your own number, and compare it with the forest on your screen.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put the three models side by side. These are typical results, so they're a guide and not a promise.</a:t>
            </a:r>
          </a:p>
          <a:p/>
          <a:p>
            <a:r>
              <a:t>The logistic regression from Session 15 gives an AUC of about zero point seven six without the leaked column. A forest or a boosted model typically scores a little above it, somewhere from zero point seven six to zero point eight.</a:t>
            </a:r>
          </a:p>
          <a:p/>
          <a:p>
            <a:r>
              <a:t>Notice how small the gain is. A step of a few hundredths in AUC. The logistic regression is also easy to explain, because every column has one weight you can read out. A forest has hundreds of trees, and nobody can read those out.</a:t>
            </a:r>
          </a:p>
          <a:p/>
          <a:p>
            <a:r>
              <a:t>So already you can see the question for the end of the session. If the forest gains a little and costs us a lot of clarity, is it worth it? Your own numbers will be close to these but not identical. Fill in your own row in the lab.</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tune, let's name what we're tuning. A setting you choose before the model starts learning is called a hyperparameter. In Excel it's like choosing the number of periods in a moving average. You pick it, and the data doesn't.</a:t>
            </a:r>
          </a:p>
          <a:p/>
          <a:p>
            <a:r>
              <a:t>Three settings matter for a forest.</a:t>
            </a:r>
          </a:p>
          <a:p/>
          <a:p>
            <a:r>
              <a:t>max_depth is how many questions deep each tree may go. A shallow tree is simple and may miss things. A very deep tree can memorise single loans.</a:t>
            </a:r>
          </a:p>
          <a:p/>
          <a:p>
            <a:r>
              <a:t>min_samples_leaf is the fewest loans allowed in a final box at the bottom of a tree. A bigger number forces every box to hold many loans, which smooths out the wiggles.</a:t>
            </a:r>
          </a:p>
          <a:p/>
          <a:p>
            <a:r>
              <a:t>n_estimators is how many trees. More trees give a steadier vote and take longer. It rarely hurts, so we fix it and tune the other two.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computer can try the combinations for us. GridSearchCV is the tool. It's a grid in the spreadsheet sense, with a row for every combination.</a:t>
            </a:r>
          </a:p>
          <a:p/>
          <a:p>
            <a:r>
              <a:t>Our grid has three depths and three leaf sizes, nine combinations. For each one, it runs the five fold cross-validation you met last session, using the learning part only. Nine combinations times five folds is forty five fits. That takes a minute or so in Colab, so be patient.</a:t>
            </a:r>
          </a:p>
          <a:p/>
          <a:p>
            <a:r>
              <a:t>The test part stays untouched. If we peeked at it while choosing, we'd be tuning to it and our final score would be flattering.</a:t>
            </a:r>
          </a:p>
          <a:p/>
          <a:p>
            <a:r>
              <a:t>When it finishes, best_params_ tells you the winning combination and best_score_ is its average AUC across the folds. Notice we keep the grid small. A huge grid finds winners by luck. Write down your winner. In a typical run it picks a limited depth or a larger leaf, and the score sits near the logistic regression.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importance in forests, look at what the simpler model already gives you. This is the weights figure from the logistic regression, drawn without the leaked column.</a:t>
            </a:r>
          </a:p>
          <a:p/>
          <a:p>
            <a:r>
              <a:t>Each bar is one column's weight. Red bars push the chance of default up, green bars pull it down. The longest red bar is repayment burden. The more of a borrower's income the instalment takes, the higher the risk.</a:t>
            </a:r>
          </a:p>
          <a:p/>
          <a:p>
            <a:r>
              <a:t>Next, the earlier late payments also push risk up.</a:t>
            </a:r>
          </a:p>
          <a:p/>
          <a:p>
            <a:r>
              <a:t>Then group loans and savings are in green. A borrower in a group, or with money saved, is less likely to default.</a:t>
            </a:r>
          </a:p>
          <a:p/>
          <a:p>
            <a:r>
              <a:t>The chart gives a size and a direction for every column in one picture. A forest can't give you that. It has hundreds of trees and no single weight per column. For a forest we need another tool, and it comes next.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do we ask a forest which columns it relied on? The tool is permutation importance. A permutation is a shuffle.</a:t>
            </a:r>
          </a:p>
          <a:p/>
          <a:p>
            <a:r>
              <a:t>Take the test part and shuffle one column, so the values no longer belong to the right loans. Then score the model again. If the AUC falls a lot, the model leaned on that column. If it barely moves, the column wasn't doing much. Do this for each column, ten times each, and average.</a:t>
            </a:r>
          </a:p>
          <a:p/>
          <a:p>
            <a:r>
              <a:t>It's like blanking out one column in your spreadsheet and seeing how much your forecast gets worse.</a:t>
            </a:r>
          </a:p>
          <a:p/>
          <a:p>
            <a:r>
              <a:t>The code stores the average drop for each column in a Series, sorted from largest to smallest, and shows the top five. In a typical run, repayment burden comes near the top. Read your own list. The ranking shows size only. For direction, go back to the weights or to the data.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Importance scores are tempting to over read, so here are three cautions.</a:t>
            </a:r>
          </a:p>
          <a:p/>
          <a:p>
            <a:r>
              <a:t>First, shared credit. In our loans, loan amount, income and burden are linked, because burden is built from the other two. When columns carry the same information, the credit is split between them, and each looks less important than the idea behind them really is.</a:t>
            </a:r>
          </a:p>
          <a:p/>
          <a:p>
            <a:r>
              <a:t>Second, no proof of cause. A high score tells you the model used that column to predict. It doesn't tell you that changing the column would change anyone's behaviour. You met this with correlation in Session 4, and it still applies. Giving a borrower more savings is not the same as choosing borrowers who already have savings.</a:t>
            </a:r>
          </a:p>
          <a:p/>
          <a:p>
            <a:r>
              <a:t>Third, today's loans only. The scores were measured on this test part. A new district, or a new year, can reorder them. So treat importance as a clue to investigate, and check it with the people who know the business.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You've built a logistic regression and a forest. Which one goes to the lender?</a:t>
            </a:r>
          </a:p>
          <a:p/>
          <a:p>
            <a:r>
              <a:t>Start with the left side, the simple model. Ship it when the test scores are close, say within about one hundredth of AUC. Ship it when staff must explain each decision to a borrower, because a weight you can read out beats a forest you can't. And ship it when a colleague has to rebuild it six months from now, from a few lines.</a:t>
            </a:r>
          </a:p>
          <a:p/>
          <a:p>
            <a:r>
              <a:t>On the right, the complex model. Ship it when it beats the simple one on the test part by a gain you can count in shillings. A change in the third decimal place is too small to count. Ask how many more bad loans it catches, and what each one costs. Ship it when that gain holds across all five folds, so it isn't luck. And ship it when you can monitor and retrain it, because it'll drift.</a:t>
            </a:r>
          </a:p>
          <a:p/>
          <a:p>
            <a:r>
              <a:t>The verdict is the rule to remember. When scores are equal, ship the simple one.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one rebuilds the loan table you saw earlier, eleven columns and no collection_calls. Open the Session 17 notebook, run the setup cell, and start there. It takes forty minutes in Google Colab.</a:t>
            </a:r>
          </a:p>
          <a:p/>
          <a:p>
            <a:r>
              <a:t>Next you fit a logistic regression and a forest, and put the train score beside the test score for each. The gap between them is your overfitting, in numbers. Then you draw the depth chart, which is the Jinja curve idea again, now with loans.</a:t>
            </a:r>
          </a:p>
          <a:p/>
          <a:p>
            <a:r>
              <a:t>After that you tune the forest with a small grid and fit a boosted model. The grid makes forty five fits, so give it a minute. Then you list the five columns the forest leaned on.</a:t>
            </a:r>
          </a:p>
          <a:p/>
          <a:p>
            <a:r>
              <a:t>The last step is a single sentence. Which model would you ship, and why? Did the complexity pay? Your numbers will land near the typical ones and differ a little, and every check in the notebook accepts a sensible range. If a check fails, read its message, then ask me.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Overfitting, forests against boosting, and one shipping decision. Three questions on those, and I'll give my answers after each.</a:t>
            </a:r>
          </a:p>
          <a:p/>
          <a:p>
            <a:r>
              <a:t>Question one. A model scores zero point nine nine on its training loans and zero point seven five on its test loans. What's happening? Think it over.</a:t>
            </a:r>
          </a:p>
          <a:p/>
          <a:p>
            <a:r>
              <a:t>It's overfitting. The model memorised the training loans and doesn't hold up on new ones. That gap is the sign.</a:t>
            </a:r>
          </a:p>
          <a:p/>
          <a:p>
            <a:r>
              <a:t>Question two. How does a forest differ from boosting? Sit with it for a second.</a:t>
            </a:r>
          </a:p>
          <a:p/>
          <a:p>
            <a:r>
              <a:t>A forest grows many trees side by side and averages their votes. Boosting grows small trees one after another, and each one fixes the mistakes of the one before.</a:t>
            </a:r>
          </a:p>
          <a:p/>
          <a:p>
            <a:r>
              <a:t>Question three. Two models have the same test score. One is a logistic regression and one is a forest. Which do you ship? Let's hear your answer first.</a:t>
            </a:r>
          </a:p>
          <a:p/>
          <a:p>
            <a:r>
              <a:t>The logistic regression. When the scores are equal, the simpler model wins, because it's easier to explain, check and rebuild.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Overfitting is a model that's great on the data it studied and weak on new data. Show the train score beside the test score every time.</a:t>
            </a:r>
          </a:p>
          <a:p/>
          <a:p>
            <a:r>
              <a:t>Two. A forest averages many trees, and boosting adds small trees that fix mistakes. Tune a few settings with cross-validation on the learning part, and keep the test part clean.</a:t>
            </a:r>
          </a:p>
          <a:p/>
          <a:p>
            <a:r>
              <a:t>Three. Importance is a clue and no proof of cause. And when the scores are equal, ship the simpler model.</a:t>
            </a:r>
          </a:p>
          <a:p/>
          <a:p>
            <a:r>
              <a:t>Next session we leave the labelled loans behind. There's no default column and no right answers. We'll group Lakeside Mart customers into segments by their buying habits, and find the odd baskets. Bring a guess for how many kinds of customer a shop has.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17   Forests, boosting and overfitting</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17</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17 of 24</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Forests, boosting and overfitting</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How do we get a stronger model without fooling ourselves?</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17   Forests, boosting and overfitting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Explain bias, variance and overfitting from a curve.</a:t>
            </a:r>
          </a:p>
        </p:txBody>
      </p:sp>
      <p:cxnSp>
        <p:nvCxnSpPr>
          <p:cNvPr id="7" name="Connector 6"/>
          <p:cNvCxnSpPr/>
          <p:nvPr/>
        </p:nvCxnSpPr>
        <p:spPr>
          <a:xfrm>
            <a:off x="685800" y="2690164"/>
            <a:ext cx="5394960" cy="0"/>
          </a:xfrm>
          <a:prstGeom prst="line">
            <a:avLst/>
          </a:prstGeom>
          <a:ln w="6350">
            <a:solidFill>
              <a:srgbClr val="C9C5BC"/>
            </a:solidFill>
          </a:ln>
        </p:spPr>
      </p:cxnSp>
      <p:sp>
        <p:nvSpPr>
          <p:cNvPr id="8" name="TextBox 7"/>
          <p:cNvSpPr txBox="1"/>
          <p:nvPr/>
        </p:nvSpPr>
        <p:spPr>
          <a:xfrm>
            <a:off x="685800" y="285475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Fit a forest and a boosted model.</a:t>
            </a:r>
          </a:p>
        </p:txBody>
      </p:sp>
      <p:cxnSp>
        <p:nvCxnSpPr>
          <p:cNvPr id="9" name="Connector 8"/>
          <p:cNvCxnSpPr/>
          <p:nvPr/>
        </p:nvCxnSpPr>
        <p:spPr>
          <a:xfrm>
            <a:off x="685800" y="3363163"/>
            <a:ext cx="5394960" cy="0"/>
          </a:xfrm>
          <a:prstGeom prst="line">
            <a:avLst/>
          </a:prstGeom>
          <a:ln w="6350">
            <a:solidFill>
              <a:srgbClr val="C9C5BC"/>
            </a:solidFill>
          </a:ln>
        </p:spPr>
      </p:cxnSp>
      <p:sp>
        <p:nvSpPr>
          <p:cNvPr id="10" name="TextBox 9"/>
          <p:cNvSpPr txBox="1"/>
          <p:nvPr/>
        </p:nvSpPr>
        <p:spPr>
          <a:xfrm>
            <a:off x="685800" y="352775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Read feature importance without over-claiming.</a:t>
            </a:r>
          </a:p>
        </p:txBody>
      </p:sp>
      <p:cxnSp>
        <p:nvCxnSpPr>
          <p:cNvPr id="11" name="Connector 10"/>
          <p:cNvCxnSpPr/>
          <p:nvPr/>
        </p:nvCxnSpPr>
        <p:spPr>
          <a:xfrm>
            <a:off x="685800" y="4416552"/>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Recall and warm-up</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Concepts and explanation</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Guided lab</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Check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17   Forests, boosting and overfitting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2"/>
        </p:xfrm>
        <a:graphic>
          <a:graphicData uri="http://schemas.openxmlformats.org/drawingml/2006/table">
            <a:tbl>
              <a:tblPr firstRow="0" bandRow="0">
                <a:tableStyleId>{2D5ABB26-0587-4C30-8999-92F81FD0307C}</a:tableStyleId>
              </a:tblPr>
              <a:tblGrid>
                <a:gridCol w="2164019"/>
                <a:gridCol w="5410047"/>
                <a:gridCol w="3246028"/>
              </a:tblGrid>
              <a:tr h="374903">
                <a:tc>
                  <a:txBody>
                    <a:bodyPr wrap="square"/>
                    <a:lstStyle/>
                    <a:p>
                      <a:r>
                        <a:rPr sz="150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50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500" b="1" i="0">
                          <a:solidFill>
                            <a:srgbClr val="1F2328"/>
                          </a:solidFill>
                          <a:latin typeface="Calibri"/>
                        </a:rPr>
                        <a:t>In a spreadsheet</a:t>
                      </a:r>
                    </a:p>
                  </a:txBody>
                  <a:tcPr marL="137160" marR="91440" marT="64008" marB="64008" anchor="ctr">
                    <a:lnL w="0">
                      <a:noFill/>
                    </a:lnL>
                    <a:lnR w="0">
                      <a:noFill/>
                    </a:lnR>
                    <a:lnT w="0">
                      <a:noFill/>
                    </a:lnT>
                    <a:lnB w="15875">
                      <a:solidFill>
                        <a:srgbClr val="1F2328"/>
                      </a:solidFill>
                    </a:lnB>
                    <a:noFill/>
                  </a:tcPr>
                </a:tc>
              </a:tr>
              <a:tr h="612647">
                <a:tc>
                  <a:txBody>
                    <a:bodyPr wrap="square"/>
                    <a:lstStyle/>
                    <a:p>
                      <a:r>
                        <a:rPr sz="1500" b="1" i="0">
                          <a:solidFill>
                            <a:srgbClr val="1F2328"/>
                          </a:solidFill>
                          <a:latin typeface="Calibri"/>
                        </a:rPr>
                        <a:t>Overfitting</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A model that fits the data it studied very well and does worse on new data.</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A trendline with so many bends it passes through every dot</a:t>
                      </a:r>
                    </a:p>
                  </a:txBody>
                  <a:tcPr marL="137160" marR="91440" marT="64008" marB="64008" anchor="ctr">
                    <a:lnL w="0">
                      <a:noFill/>
                    </a:lnL>
                    <a:lnR w="0">
                      <a:noFill/>
                    </a:lnR>
                    <a:lnT w="0">
                      <a:noFill/>
                    </a:lnT>
                    <a:lnB w="6350">
                      <a:solidFill>
                        <a:srgbClr val="C9C5BC"/>
                      </a:solidFill>
                    </a:lnB>
                    <a:noFill/>
                  </a:tcPr>
                </a:tc>
              </a:tr>
              <a:tr h="612647">
                <a:tc>
                  <a:txBody>
                    <a:bodyPr wrap="square"/>
                    <a:lstStyle/>
                    <a:p>
                      <a:r>
                        <a:rPr sz="1500" b="1" i="0">
                          <a:solidFill>
                            <a:srgbClr val="1F2328"/>
                          </a:solidFill>
                          <a:latin typeface="Calibri"/>
                        </a:rPr>
                        <a:t>Bias and variance</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Bias is error from a model too simple to see the pattern. Variance is error from a model so wiggly it follows the noise.</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No equivalent. A new idea.</a:t>
                      </a:r>
                    </a:p>
                  </a:txBody>
                  <a:tcPr marL="137160" marR="91440" marT="64008" marB="64008" anchor="ctr">
                    <a:lnL w="0">
                      <a:noFill/>
                    </a:lnL>
                    <a:lnR w="0">
                      <a:noFill/>
                    </a:lnR>
                    <a:lnT w="0">
                      <a:noFill/>
                    </a:lnT>
                    <a:lnB w="6350">
                      <a:solidFill>
                        <a:srgbClr val="C9C5BC"/>
                      </a:solidFill>
                    </a:lnB>
                    <a:noFill/>
                  </a:tcPr>
                </a:tc>
              </a:tr>
              <a:tr h="612647">
                <a:tc>
                  <a:txBody>
                    <a:bodyPr wrap="square"/>
                    <a:lstStyle/>
                    <a:p>
                      <a:r>
                        <a:rPr sz="1500" b="1" i="0">
                          <a:solidFill>
                            <a:srgbClr val="1F2328"/>
                          </a:solidFill>
                          <a:latin typeface="Calibri"/>
                        </a:rPr>
                        <a:t>Bagging</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Training many models on random resamples of the data and averaging their answers.</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Asking twenty colleagues for a forecast and averaging</a:t>
                      </a:r>
                    </a:p>
                  </a:txBody>
                  <a:tcPr marL="137160" marR="91440" marT="64008" marB="64008" anchor="ctr">
                    <a:lnL w="0">
                      <a:noFill/>
                    </a:lnL>
                    <a:lnR w="0">
                      <a:noFill/>
                    </a:lnR>
                    <a:lnT w="0">
                      <a:noFill/>
                    </a:lnT>
                    <a:lnB w="6350">
                      <a:solidFill>
                        <a:srgbClr val="C9C5BC"/>
                      </a:solidFill>
                    </a:lnB>
                    <a:noFill/>
                  </a:tcPr>
                </a:tc>
              </a:tr>
              <a:tr h="612647">
                <a:tc>
                  <a:txBody>
                    <a:bodyPr wrap="square"/>
                    <a:lstStyle/>
                    <a:p>
                      <a:r>
                        <a:rPr sz="1500" b="1" i="0">
                          <a:solidFill>
                            <a:srgbClr val="1F2328"/>
                          </a:solidFill>
                          <a:latin typeface="Calibri"/>
                        </a:rPr>
                        <a:t>Random forest</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Bagging applied to decision trees, each seeing a few columns at a time.</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A committee of many different trees voting</a:t>
                      </a:r>
                    </a:p>
                  </a:txBody>
                  <a:tcPr marL="137160" marR="91440" marT="64008" marB="64008" anchor="ctr">
                    <a:lnL w="0">
                      <a:noFill/>
                    </a:lnL>
                    <a:lnR w="0">
                      <a:noFill/>
                    </a:lnR>
                    <a:lnT w="0">
                      <a:noFill/>
                    </a:lnT>
                    <a:lnB w="6350">
                      <a:solidFill>
                        <a:srgbClr val="C9C5BC"/>
                      </a:solidFill>
                    </a:lnB>
                    <a:noFill/>
                  </a:tcPr>
                </a:tc>
              </a:tr>
              <a:tr h="612647">
                <a:tc>
                  <a:txBody>
                    <a:bodyPr wrap="square"/>
                    <a:lstStyle/>
                    <a:p>
                      <a:r>
                        <a:rPr sz="1500" b="1" i="0">
                          <a:solidFill>
                            <a:srgbClr val="1F2328"/>
                          </a:solidFill>
                          <a:latin typeface="Calibri"/>
                        </a:rPr>
                        <a:t>Boosting</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Adding small trees one after another, each aimed at the mistakes of the ones before.</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A new column that corrects the errors in the last column</a:t>
                      </a:r>
                    </a:p>
                  </a:txBody>
                  <a:tcPr marL="137160" marR="91440" marT="64008" marB="64008" anchor="ctr">
                    <a:lnL w="0">
                      <a:noFill/>
                    </a:lnL>
                    <a:lnR w="0">
                      <a:noFill/>
                    </a:lnR>
                    <a:lnT w="0">
                      <a:noFill/>
                    </a:lnT>
                    <a:lnB w="6350">
                      <a:solidFill>
                        <a:srgbClr val="C9C5BC"/>
                      </a:solidFill>
                    </a:lnB>
                    <a:noFill/>
                  </a:tcPr>
                </a:tc>
              </a:tr>
              <a:tr h="612647">
                <a:tc>
                  <a:txBody>
                    <a:bodyPr wrap="square"/>
                    <a:lstStyle/>
                    <a:p>
                      <a:r>
                        <a:rPr sz="1500" b="1" i="0">
                          <a:solidFill>
                            <a:srgbClr val="1F2328"/>
                          </a:solidFill>
                          <a:latin typeface="Calibri"/>
                        </a:rPr>
                        <a:t>Hyperparameter</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A setting you choose before the model learns, such as the depth of a tree.</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The number of periods in a moving average</a:t>
                      </a:r>
                    </a:p>
                  </a:txBody>
                  <a:tcPr marL="137160" marR="91440" marT="64008" marB="64008" anchor="ctr">
                    <a:lnL w="0">
                      <a:noFill/>
                    </a:lnL>
                    <a:lnR w="0">
                      <a:noFill/>
                    </a:lnR>
                    <a:lnT w="0">
                      <a:noFill/>
                    </a:lnT>
                    <a:lnB w="6350">
                      <a:solidFill>
                        <a:srgbClr val="C9C5BC"/>
                      </a:solidFill>
                    </a:lnB>
                    <a:noFill/>
                  </a:tcPr>
                </a:tc>
              </a:tr>
              <a:tr h="612647">
                <a:tc>
                  <a:txBody>
                    <a:bodyPr wrap="square"/>
                    <a:lstStyle/>
                    <a:p>
                      <a:r>
                        <a:rPr sz="1500" b="1" i="0">
                          <a:solidFill>
                            <a:srgbClr val="1F2328"/>
                          </a:solidFill>
                          <a:latin typeface="Calibri"/>
                        </a:rPr>
                        <a:t>Permutation importance</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The drop in score when one column is shuffled, used to see which columns a model relies on.</a:t>
                      </a:r>
                    </a:p>
                  </a:txBody>
                  <a:tcPr marL="13716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Blank out one column and see how much the forecast gets worse</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16</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17   Forests, boosting and overfitting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A loan model scored an AUC near 0.995 once a single column was added. What did that column do?</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collection_calls is recorded only after a loan goes bad, so it leaks the answer.</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Why cross-validate instead of trusting one train and test split?</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Five different test parts give five scores. Their average depends less on luck.</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curve with too many bends fails on new weeks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17   Forests, boosting and overfitting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pic>
        <p:nvPicPr>
          <p:cNvPr id="5" name="figure-overfit_curve" descr="Two lines of error against model flexibility. Training error stays low and flat. Test error is low until degree 5, then jumps far above the top of the chart."/>
          <p:cNvPicPr>
            <a:picLocks noChangeAspect="1"/>
          </p:cNvPicPr>
          <p:nvPr/>
        </p:nvPicPr>
        <p:blipFill>
          <a:blip r:embed="rId3"/>
          <a:stretch>
            <a:fillRect/>
          </a:stretch>
        </p:blipFill>
        <p:spPr>
          <a:xfrm>
            <a:off x="685800" y="1600200"/>
            <a:ext cx="6134792"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Training error sits near 6 orders a week at every degree.</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Test error stays near 6 up to degree 5, apart from a small bump at degree 4.</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From degree 6 the test error shoots off the chart.</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Weekly orders at the Jinja branch against footfall. 35 weeks to learn from, 69 weeks held back to test.</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Train error and test error for five curves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17   Forests, boosting and overfitting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sp>
        <p:nvSpPr>
          <p:cNvPr id="5" name="Rectangle 4"/>
          <p:cNvSpPr/>
          <p:nvPr/>
        </p:nvSpPr>
        <p:spPr>
          <a:xfrm>
            <a:off x="685800" y="1600200"/>
            <a:ext cx="6949440" cy="29626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688336"/>
          </a:xfrm>
          <a:prstGeom prst="rect">
            <a:avLst/>
          </a:prstGeom>
          <a:noFill/>
        </p:spPr>
        <p:txBody>
          <a:bodyPr wrap="none" lIns="0" rIns="0" tIns="0" bIns="0">
            <a:spAutoFit/>
          </a:bodyPr>
          <a:lstStyle/>
          <a:p>
            <a:r>
              <a:rPr sz="1450" b="1" i="0">
                <a:solidFill>
                  <a:srgbClr val="1F2328"/>
                </a:solidFill>
                <a:latin typeface="Courier New"/>
              </a:rPr>
              <a:t>import</a:t>
            </a:r>
            <a:r>
              <a:rPr sz="1450" b="0" i="0">
                <a:solidFill>
                  <a:srgbClr val="1F2328"/>
                </a:solidFill>
                <a:latin typeface="Courier New"/>
              </a:rPr>
              <a:t> </a:t>
            </a:r>
            <a:r>
              <a:rPr sz="1450" b="0" i="0">
                <a:solidFill>
                  <a:srgbClr val="1F2328"/>
                </a:solidFill>
                <a:latin typeface="Courier New"/>
              </a:rPr>
              <a:t>numpy</a:t>
            </a:r>
            <a:r>
              <a:rPr sz="1450" b="0" i="0">
                <a:solidFill>
                  <a:srgbClr val="1F2328"/>
                </a:solidFill>
                <a:latin typeface="Courier New"/>
              </a:rPr>
              <a:t> </a:t>
            </a:r>
            <a:r>
              <a:rPr sz="1450" b="1" i="0">
                <a:solidFill>
                  <a:srgbClr val="1F2328"/>
                </a:solidFill>
                <a:latin typeface="Courier New"/>
              </a:rPr>
              <a:t>as</a:t>
            </a:r>
            <a:r>
              <a:rPr sz="1450" b="0" i="0">
                <a:solidFill>
                  <a:srgbClr val="1F2328"/>
                </a:solidFill>
                <a:latin typeface="Courier New"/>
              </a:rPr>
              <a:t> </a:t>
            </a:r>
            <a:r>
              <a:rPr sz="1450" b="0" i="0">
                <a:solidFill>
                  <a:srgbClr val="1F2328"/>
                </a:solidFill>
                <a:latin typeface="Courier New"/>
              </a:rPr>
              <a:t>np</a:t>
            </a:r>
          </a:p>
          <a:p>
            <a:r>
              <a:rPr sz="1450" b="1" i="0">
                <a:solidFill>
                  <a:srgbClr val="1F2328"/>
                </a:solidFill>
                <a:latin typeface="Courier New"/>
              </a:rPr>
              <a:t>import</a:t>
            </a:r>
            <a:r>
              <a:rPr sz="1450" b="0" i="0">
                <a:solidFill>
                  <a:srgbClr val="1F2328"/>
                </a:solidFill>
                <a:latin typeface="Courier New"/>
              </a:rPr>
              <a:t> </a:t>
            </a:r>
            <a:r>
              <a:rPr sz="1450" b="0" i="0">
                <a:solidFill>
                  <a:srgbClr val="1F2328"/>
                </a:solidFill>
                <a:latin typeface="Courier New"/>
              </a:rPr>
              <a:t>pandas</a:t>
            </a:r>
            <a:r>
              <a:rPr sz="1450" b="0" i="0">
                <a:solidFill>
                  <a:srgbClr val="1F2328"/>
                </a:solidFill>
                <a:latin typeface="Courier New"/>
              </a:rPr>
              <a:t> </a:t>
            </a:r>
            <a:r>
              <a:rPr sz="1450" b="1" i="0">
                <a:solidFill>
                  <a:srgbClr val="1F2328"/>
                </a:solidFill>
                <a:latin typeface="Courier New"/>
              </a:rPr>
              <a:t>as</a:t>
            </a:r>
            <a:r>
              <a:rPr sz="1450" b="0" i="0">
                <a:solidFill>
                  <a:srgbClr val="1F2328"/>
                </a:solidFill>
                <a:latin typeface="Courier New"/>
              </a:rPr>
              <a:t> </a:t>
            </a:r>
            <a:r>
              <a:rPr sz="1450" b="0" i="0">
                <a:solidFill>
                  <a:srgbClr val="1F2328"/>
                </a:solidFill>
                <a:latin typeface="Courier New"/>
              </a:rPr>
              <a:t>pd</a:t>
            </a:r>
          </a:p>
          <a:p>
            <a:r>
              <a:rPr sz="1450" b="0" i="0">
                <a:solidFill>
                  <a:srgbClr val="1F2328"/>
                </a:solidFill>
                <a:latin typeface="Courier New"/>
              </a:rPr>
              <a:t>bw</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pd</a:t>
            </a:r>
            <a:r>
              <a:rPr sz="1450" b="0" i="0">
                <a:solidFill>
                  <a:srgbClr val="1F2328"/>
                </a:solidFill>
                <a:latin typeface="Courier New"/>
              </a:rPr>
              <a:t>.</a:t>
            </a:r>
            <a:r>
              <a:rPr sz="1450" b="0" i="0">
                <a:solidFill>
                  <a:srgbClr val="1F2328"/>
                </a:solidFill>
                <a:latin typeface="Courier New"/>
              </a:rPr>
              <a:t>read_csv</a:t>
            </a:r>
            <a:r>
              <a:rPr sz="1450" b="0" i="0">
                <a:solidFill>
                  <a:srgbClr val="1F2328"/>
                </a:solidFill>
                <a:latin typeface="Courier New"/>
              </a:rPr>
              <a:t>(</a:t>
            </a:r>
            <a:r>
              <a:rPr sz="1450" b="0" i="0">
                <a:solidFill>
                  <a:srgbClr val="B04A2B"/>
                </a:solidFill>
                <a:latin typeface="Courier New"/>
              </a:rPr>
              <a:t>'branch_weeks.csv'</a:t>
            </a:r>
            <a:r>
              <a:rPr sz="1450" b="0" i="0">
                <a:solidFill>
                  <a:srgbClr val="1F2328"/>
                </a:solidFill>
                <a:latin typeface="Courier New"/>
              </a:rPr>
              <a:t>)</a:t>
            </a:r>
          </a:p>
          <a:p>
            <a:r>
              <a:rPr sz="1450" b="0" i="0">
                <a:solidFill>
                  <a:srgbClr val="1F2328"/>
                </a:solidFill>
                <a:latin typeface="Courier New"/>
              </a:rPr>
              <a:t>g</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bw</a:t>
            </a:r>
            <a:r>
              <a:rPr sz="1450" b="0" i="0">
                <a:solidFill>
                  <a:srgbClr val="1F2328"/>
                </a:solidFill>
                <a:latin typeface="Courier New"/>
              </a:rPr>
              <a:t>[</a:t>
            </a:r>
            <a:r>
              <a:rPr sz="1450" b="0" i="0">
                <a:solidFill>
                  <a:srgbClr val="1F2328"/>
                </a:solidFill>
                <a:latin typeface="Courier New"/>
              </a:rPr>
              <a:t>bw</a:t>
            </a:r>
            <a:r>
              <a:rPr sz="1450" b="0" i="0">
                <a:solidFill>
                  <a:srgbClr val="1F2328"/>
                </a:solidFill>
                <a:latin typeface="Courier New"/>
              </a:rPr>
              <a:t>.</a:t>
            </a:r>
            <a:r>
              <a:rPr sz="1450" b="0" i="0">
                <a:solidFill>
                  <a:srgbClr val="1F2328"/>
                </a:solidFill>
                <a:latin typeface="Courier New"/>
              </a:rPr>
              <a:t>branch_id</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'B04'</a:t>
            </a:r>
            <a:r>
              <a:rPr sz="1450" b="0" i="0">
                <a:solidFill>
                  <a:srgbClr val="1F2328"/>
                </a:solidFill>
                <a:latin typeface="Courier New"/>
              </a:rPr>
              <a:t>]</a:t>
            </a:r>
          </a:p>
          <a:p>
            <a:r>
              <a:rPr sz="1450" b="0" i="0">
                <a:solidFill>
                  <a:srgbClr val="1F2328"/>
                </a:solidFill>
                <a:latin typeface="Courier New"/>
              </a:rPr>
              <a:t>f</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g</a:t>
            </a:r>
            <a:r>
              <a:rPr sz="1450" b="0" i="0">
                <a:solidFill>
                  <a:srgbClr val="1F2328"/>
                </a:solidFill>
                <a:latin typeface="Courier New"/>
              </a:rPr>
              <a:t>.</a:t>
            </a:r>
            <a:r>
              <a:rPr sz="1450" b="0" i="0">
                <a:solidFill>
                  <a:srgbClr val="1F2328"/>
                </a:solidFill>
                <a:latin typeface="Courier New"/>
              </a:rPr>
              <a:t>footfall</a:t>
            </a:r>
            <a:r>
              <a:rPr sz="1450" b="0" i="0">
                <a:solidFill>
                  <a:srgbClr val="1F2328"/>
                </a:solidFill>
                <a:latin typeface="Courier New"/>
              </a:rPr>
              <a:t>.</a:t>
            </a:r>
            <a:r>
              <a:rPr sz="1450" b="0" i="0">
                <a:solidFill>
                  <a:srgbClr val="1F2328"/>
                </a:solidFill>
                <a:latin typeface="Courier New"/>
              </a:rPr>
              <a:t>values</a:t>
            </a:r>
          </a:p>
          <a:p>
            <a:r>
              <a:rPr sz="1450" b="0" i="0">
                <a:solidFill>
                  <a:srgbClr val="1F2328"/>
                </a:solidFill>
                <a:latin typeface="Courier New"/>
              </a:rPr>
              <a:t>x</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y</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f</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f</a:t>
            </a:r>
            <a:r>
              <a:rPr sz="1450" b="0" i="0">
                <a:solidFill>
                  <a:srgbClr val="1F2328"/>
                </a:solidFill>
                <a:latin typeface="Courier New"/>
              </a:rPr>
              <a:t>.</a:t>
            </a:r>
            <a:r>
              <a:rPr sz="1450" b="0" i="0">
                <a:solidFill>
                  <a:srgbClr val="1F2328"/>
                </a:solidFill>
                <a:latin typeface="Courier New"/>
              </a:rPr>
              <a:t>mean</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f</a:t>
            </a:r>
            <a:r>
              <a:rPr sz="1450" b="0" i="0">
                <a:solidFill>
                  <a:srgbClr val="1F2328"/>
                </a:solidFill>
                <a:latin typeface="Courier New"/>
              </a:rPr>
              <a:t>.</a:t>
            </a:r>
            <a:r>
              <a:rPr sz="1450" b="0" i="0">
                <a:solidFill>
                  <a:srgbClr val="1F2328"/>
                </a:solidFill>
                <a:latin typeface="Courier New"/>
              </a:rPr>
              <a:t>std</a:t>
            </a:r>
            <a:r>
              <a:rPr sz="1450" b="0" i="0">
                <a:solidFill>
                  <a:srgbClr val="1F2328"/>
                </a:solidFill>
                <a:latin typeface="Courier New"/>
              </a:rPr>
              <a:t>(</a:t>
            </a:r>
            <a:r>
              <a:rPr sz="1450" b="0" i="0">
                <a:solidFill>
                  <a:srgbClr val="1F2328"/>
                </a:solidFill>
                <a:latin typeface="Courier New"/>
              </a:rPr>
              <a:t>ddof</a:t>
            </a:r>
            <a:r>
              <a:rPr sz="1450" b="0" i="0">
                <a:solidFill>
                  <a:srgbClr val="1F2328"/>
                </a:solidFill>
                <a:latin typeface="Courier New"/>
              </a:rPr>
              <a:t>=</a:t>
            </a:r>
            <a:r>
              <a:rPr sz="1450" b="0" i="0">
                <a:solidFill>
                  <a:srgbClr val="3B4046"/>
                </a:solidFill>
                <a:latin typeface="Courier New"/>
              </a:rPr>
              <a:t>1</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g</a:t>
            </a:r>
            <a:r>
              <a:rPr sz="1450" b="0" i="0">
                <a:solidFill>
                  <a:srgbClr val="1F2328"/>
                </a:solidFill>
                <a:latin typeface="Courier New"/>
              </a:rPr>
              <a:t>.</a:t>
            </a:r>
            <a:r>
              <a:rPr sz="1450" b="0" i="0">
                <a:solidFill>
                  <a:srgbClr val="1F2328"/>
                </a:solidFill>
                <a:latin typeface="Courier New"/>
              </a:rPr>
              <a:t>orders</a:t>
            </a:r>
            <a:r>
              <a:rPr sz="1450" b="0" i="0">
                <a:solidFill>
                  <a:srgbClr val="1F2328"/>
                </a:solidFill>
                <a:latin typeface="Courier New"/>
              </a:rPr>
              <a:t>.</a:t>
            </a:r>
            <a:r>
              <a:rPr sz="1450" b="0" i="0">
                <a:solidFill>
                  <a:srgbClr val="1F2328"/>
                </a:solidFill>
                <a:latin typeface="Courier New"/>
              </a:rPr>
              <a:t>values</a:t>
            </a:r>
          </a:p>
          <a:p>
            <a:r>
              <a:rPr sz="1450" b="0" i="0">
                <a:solidFill>
                  <a:srgbClr val="1F2328"/>
                </a:solidFill>
                <a:latin typeface="Courier New"/>
              </a:rPr>
              <a:t>idx</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np</a:t>
            </a:r>
            <a:r>
              <a:rPr sz="1450" b="0" i="0">
                <a:solidFill>
                  <a:srgbClr val="1F2328"/>
                </a:solidFill>
                <a:latin typeface="Courier New"/>
              </a:rPr>
              <a:t>.</a:t>
            </a:r>
            <a:r>
              <a:rPr sz="1450" b="0" i="0">
                <a:solidFill>
                  <a:srgbClr val="1F2328"/>
                </a:solidFill>
                <a:latin typeface="Courier New"/>
              </a:rPr>
              <a:t>random</a:t>
            </a:r>
            <a:r>
              <a:rPr sz="1450" b="0" i="0">
                <a:solidFill>
                  <a:srgbClr val="1F2328"/>
                </a:solidFill>
                <a:latin typeface="Courier New"/>
              </a:rPr>
              <a:t>.</a:t>
            </a:r>
            <a:r>
              <a:rPr sz="1450" b="0" i="0">
                <a:solidFill>
                  <a:srgbClr val="1F2328"/>
                </a:solidFill>
                <a:latin typeface="Courier New"/>
              </a:rPr>
              <a:t>default_rng</a:t>
            </a:r>
            <a:r>
              <a:rPr sz="1450" b="0" i="0">
                <a:solidFill>
                  <a:srgbClr val="1F2328"/>
                </a:solidFill>
                <a:latin typeface="Courier New"/>
              </a:rPr>
              <a:t>(</a:t>
            </a:r>
            <a:r>
              <a:rPr sz="1450" b="0" i="0">
                <a:solidFill>
                  <a:srgbClr val="3B4046"/>
                </a:solidFill>
                <a:latin typeface="Courier New"/>
              </a:rPr>
              <a:t>2</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permutation</a:t>
            </a:r>
            <a:r>
              <a:rPr sz="1450" b="0" i="0">
                <a:solidFill>
                  <a:srgbClr val="1F2328"/>
                </a:solidFill>
                <a:latin typeface="Courier New"/>
              </a:rPr>
              <a:t>(</a:t>
            </a:r>
            <a:r>
              <a:rPr sz="1450" b="0" i="0">
                <a:solidFill>
                  <a:srgbClr val="3B4046"/>
                </a:solidFill>
                <a:latin typeface="Courier New"/>
              </a:rPr>
              <a:t>104</a:t>
            </a:r>
            <a:r>
              <a:rPr sz="1450" b="0" i="0">
                <a:solidFill>
                  <a:srgbClr val="1F2328"/>
                </a:solidFill>
                <a:latin typeface="Courier New"/>
              </a:rPr>
              <a:t>)</a:t>
            </a:r>
          </a:p>
          <a:p>
            <a:r>
              <a:rPr sz="1450" b="0" i="0">
                <a:solidFill>
                  <a:srgbClr val="1F2328"/>
                </a:solidFill>
                <a:latin typeface="Courier New"/>
              </a:rPr>
              <a:t>tr</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te</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idx</a:t>
            </a:r>
            <a:r>
              <a:rPr sz="1450" b="0" i="0">
                <a:solidFill>
                  <a:srgbClr val="1F2328"/>
                </a:solidFill>
                <a:latin typeface="Courier New"/>
              </a:rPr>
              <a:t>[</a:t>
            </a:r>
            <a:r>
              <a:rPr sz="1450" b="0" i="0">
                <a:solidFill>
                  <a:srgbClr val="1F2328"/>
                </a:solidFill>
                <a:latin typeface="Courier New"/>
              </a:rPr>
              <a:t>:</a:t>
            </a:r>
            <a:r>
              <a:rPr sz="1450" b="0" i="0">
                <a:solidFill>
                  <a:srgbClr val="3B4046"/>
                </a:solidFill>
                <a:latin typeface="Courier New"/>
              </a:rPr>
              <a:t>35</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idx</a:t>
            </a:r>
            <a:r>
              <a:rPr sz="1450" b="0" i="0">
                <a:solidFill>
                  <a:srgbClr val="1F2328"/>
                </a:solidFill>
                <a:latin typeface="Courier New"/>
              </a:rPr>
              <a:t>[</a:t>
            </a:r>
            <a:r>
              <a:rPr sz="1450" b="0" i="0">
                <a:solidFill>
                  <a:srgbClr val="3B4046"/>
                </a:solidFill>
                <a:latin typeface="Courier New"/>
              </a:rPr>
              <a:t>35</a:t>
            </a:r>
            <a:r>
              <a:rPr sz="1450" b="0" i="0">
                <a:solidFill>
                  <a:srgbClr val="1F2328"/>
                </a:solidFill>
                <a:latin typeface="Courier New"/>
              </a:rPr>
              <a:t>:</a:t>
            </a:r>
            <a:r>
              <a:rPr sz="1450" b="0" i="0">
                <a:solidFill>
                  <a:srgbClr val="1F2328"/>
                </a:solidFill>
                <a:latin typeface="Courier New"/>
              </a:rPr>
              <a:t>]</a:t>
            </a:r>
          </a:p>
          <a:p>
            <a:r>
              <a:rPr sz="1450" b="1" i="0">
                <a:solidFill>
                  <a:srgbClr val="1F2328"/>
                </a:solidFill>
                <a:latin typeface="Courier New"/>
              </a:rPr>
              <a:t>def</a:t>
            </a:r>
            <a:r>
              <a:rPr sz="1450" b="0" i="0">
                <a:solidFill>
                  <a:srgbClr val="1F2328"/>
                </a:solidFill>
                <a:latin typeface="Courier New"/>
              </a:rPr>
              <a:t> </a:t>
            </a:r>
            <a:r>
              <a:rPr sz="1450" b="0" i="0">
                <a:solidFill>
                  <a:srgbClr val="1F2328"/>
                </a:solidFill>
                <a:latin typeface="Courier New"/>
              </a:rPr>
              <a:t>rmse</a:t>
            </a:r>
            <a:r>
              <a:rPr sz="1450" b="0" i="0">
                <a:solidFill>
                  <a:srgbClr val="1F2328"/>
                </a:solidFill>
                <a:latin typeface="Courier New"/>
              </a:rPr>
              <a:t>(</a:t>
            </a:r>
            <a:r>
              <a:rPr sz="1450" b="0" i="0">
                <a:solidFill>
                  <a:srgbClr val="1F2328"/>
                </a:solidFill>
                <a:latin typeface="Courier New"/>
              </a:rPr>
              <a:t>i</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1" i="0">
                <a:solidFill>
                  <a:srgbClr val="1F2328"/>
                </a:solidFill>
                <a:latin typeface="Courier New"/>
              </a:rPr>
              <a:t>return</a:t>
            </a:r>
            <a:r>
              <a:rPr sz="1450" b="0" i="0">
                <a:solidFill>
                  <a:srgbClr val="1F2328"/>
                </a:solidFill>
                <a:latin typeface="Courier New"/>
              </a:rPr>
              <a:t> </a:t>
            </a:r>
            <a:r>
              <a:rPr sz="1450" b="0" i="0">
                <a:solidFill>
                  <a:srgbClr val="1F2328"/>
                </a:solidFill>
                <a:latin typeface="Courier New"/>
              </a:rPr>
              <a:t>round</a:t>
            </a:r>
            <a:r>
              <a:rPr sz="1450" b="0" i="0">
                <a:solidFill>
                  <a:srgbClr val="1F2328"/>
                </a:solidFill>
                <a:latin typeface="Courier New"/>
              </a:rPr>
              <a:t>(</a:t>
            </a:r>
            <a:r>
              <a:rPr sz="1450" b="0" i="0">
                <a:solidFill>
                  <a:srgbClr val="1F2328"/>
                </a:solidFill>
                <a:latin typeface="Courier New"/>
              </a:rPr>
              <a:t>np</a:t>
            </a:r>
            <a:r>
              <a:rPr sz="1450" b="0" i="0">
                <a:solidFill>
                  <a:srgbClr val="1F2328"/>
                </a:solidFill>
                <a:latin typeface="Courier New"/>
              </a:rPr>
              <a:t>.</a:t>
            </a:r>
            <a:r>
              <a:rPr sz="1450" b="0" i="0">
                <a:solidFill>
                  <a:srgbClr val="1F2328"/>
                </a:solidFill>
                <a:latin typeface="Courier New"/>
              </a:rPr>
              <a:t>sqrt</a:t>
            </a:r>
            <a:r>
              <a:rPr sz="1450" b="0" i="0">
                <a:solidFill>
                  <a:srgbClr val="1F2328"/>
                </a:solidFill>
                <a:latin typeface="Courier New"/>
              </a:rPr>
              <a:t>(</a:t>
            </a:r>
            <a:r>
              <a:rPr sz="1450" b="0" i="0">
                <a:solidFill>
                  <a:srgbClr val="1F2328"/>
                </a:solidFill>
                <a:latin typeface="Courier New"/>
              </a:rPr>
              <a:t>np</a:t>
            </a:r>
            <a:r>
              <a:rPr sz="1450" b="0" i="0">
                <a:solidFill>
                  <a:srgbClr val="1F2328"/>
                </a:solidFill>
                <a:latin typeface="Courier New"/>
              </a:rPr>
              <a:t>.</a:t>
            </a:r>
            <a:r>
              <a:rPr sz="1450" b="0" i="0">
                <a:solidFill>
                  <a:srgbClr val="1F2328"/>
                </a:solidFill>
                <a:latin typeface="Courier New"/>
              </a:rPr>
              <a:t>mean</a:t>
            </a:r>
            <a:r>
              <a:rPr sz="1450" b="0" i="0">
                <a:solidFill>
                  <a:srgbClr val="1F2328"/>
                </a:solidFill>
                <a:latin typeface="Courier New"/>
              </a:rPr>
              <a:t>(</a:t>
            </a:r>
            <a:r>
              <a:rPr sz="1450" b="0" i="0">
                <a:solidFill>
                  <a:srgbClr val="1F2328"/>
                </a:solidFill>
                <a:latin typeface="Courier New"/>
              </a:rPr>
              <a:t>r</a:t>
            </a:r>
            <a:r>
              <a:rPr sz="1450" b="0" i="0">
                <a:solidFill>
                  <a:srgbClr val="1F2328"/>
                </a:solidFill>
                <a:latin typeface="Courier New"/>
              </a:rPr>
              <a:t>[</a:t>
            </a:r>
            <a:r>
              <a:rPr sz="1450" b="0" i="0">
                <a:solidFill>
                  <a:srgbClr val="1F2328"/>
                </a:solidFill>
                <a:latin typeface="Courier New"/>
              </a:rPr>
              <a:t>i</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2</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1</a:t>
            </a:r>
            <a:r>
              <a:rPr sz="1450" b="0" i="0">
                <a:solidFill>
                  <a:srgbClr val="1F2328"/>
                </a:solidFill>
                <a:latin typeface="Courier New"/>
              </a:rPr>
              <a:t>)</a:t>
            </a:r>
          </a:p>
          <a:p>
            <a:r>
              <a:rPr sz="1450" b="1" i="0">
                <a:solidFill>
                  <a:srgbClr val="1F2328"/>
                </a:solidFill>
                <a:latin typeface="Courier New"/>
              </a:rPr>
              <a:t>for</a:t>
            </a:r>
            <a:r>
              <a:rPr sz="1450" b="0" i="0">
                <a:solidFill>
                  <a:srgbClr val="1F2328"/>
                </a:solidFill>
                <a:latin typeface="Courier New"/>
              </a:rPr>
              <a:t> </a:t>
            </a:r>
            <a:r>
              <a:rPr sz="1450" b="0" i="0">
                <a:solidFill>
                  <a:srgbClr val="1F2328"/>
                </a:solidFill>
                <a:latin typeface="Courier New"/>
              </a:rPr>
              <a:t>d</a:t>
            </a:r>
            <a:r>
              <a:rPr sz="1450" b="0" i="0">
                <a:solidFill>
                  <a:srgbClr val="1F2328"/>
                </a:solidFill>
                <a:latin typeface="Courier New"/>
              </a:rPr>
              <a:t> </a:t>
            </a:r>
            <a:r>
              <a:rPr sz="1450" b="1" i="0">
                <a:solidFill>
                  <a:srgbClr val="1F2328"/>
                </a:solidFill>
                <a:latin typeface="Courier New"/>
              </a:rPr>
              <a:t>in</a:t>
            </a:r>
            <a:r>
              <a:rPr sz="1450" b="0" i="0">
                <a:solidFill>
                  <a:srgbClr val="1F2328"/>
                </a:solidFill>
                <a:latin typeface="Courier New"/>
              </a:rPr>
              <a:t> </a:t>
            </a:r>
            <a:r>
              <a:rPr sz="1450" b="0" i="0">
                <a:solidFill>
                  <a:srgbClr val="1F2328"/>
                </a:solidFill>
                <a:latin typeface="Courier New"/>
              </a:rPr>
              <a:t>[</a:t>
            </a:r>
            <a:r>
              <a:rPr sz="1450" b="0" i="0">
                <a:solidFill>
                  <a:srgbClr val="3B4046"/>
                </a:solidFill>
                <a:latin typeface="Courier New"/>
              </a:rPr>
              <a:t>1</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3</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5</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6</a:t>
            </a:r>
            <a:r>
              <a:rPr sz="1450" b="0" i="0">
                <a:solidFill>
                  <a:srgbClr val="1F2328"/>
                </a:solidFill>
                <a:latin typeface="Courier New"/>
              </a:rPr>
              <a:t>,</a:t>
            </a:r>
            <a:r>
              <a:rPr sz="1450" b="0" i="0">
                <a:solidFill>
                  <a:srgbClr val="1F2328"/>
                </a:solidFill>
                <a:latin typeface="Courier New"/>
              </a:rPr>
              <a:t> </a:t>
            </a:r>
            <a:r>
              <a:rPr sz="1450" b="0" i="0">
                <a:solidFill>
                  <a:srgbClr val="3B4046"/>
                </a:solidFill>
                <a:latin typeface="Courier New"/>
              </a:rPr>
              <a:t>9</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r</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np</a:t>
            </a:r>
            <a:r>
              <a:rPr sz="1450" b="0" i="0">
                <a:solidFill>
                  <a:srgbClr val="1F2328"/>
                </a:solidFill>
                <a:latin typeface="Courier New"/>
              </a:rPr>
              <a:t>.</a:t>
            </a:r>
            <a:r>
              <a:rPr sz="1450" b="0" i="0">
                <a:solidFill>
                  <a:srgbClr val="1F2328"/>
                </a:solidFill>
                <a:latin typeface="Courier New"/>
              </a:rPr>
              <a:t>polyval</a:t>
            </a:r>
            <a:r>
              <a:rPr sz="1450" b="0" i="0">
                <a:solidFill>
                  <a:srgbClr val="1F2328"/>
                </a:solidFill>
                <a:latin typeface="Courier New"/>
              </a:rPr>
              <a:t>(</a:t>
            </a:r>
            <a:r>
              <a:rPr sz="1450" b="0" i="0">
                <a:solidFill>
                  <a:srgbClr val="1F2328"/>
                </a:solidFill>
                <a:latin typeface="Courier New"/>
              </a:rPr>
              <a:t>np</a:t>
            </a:r>
            <a:r>
              <a:rPr sz="1450" b="0" i="0">
                <a:solidFill>
                  <a:srgbClr val="1F2328"/>
                </a:solidFill>
                <a:latin typeface="Courier New"/>
              </a:rPr>
              <a:t>.</a:t>
            </a:r>
            <a:r>
              <a:rPr sz="1450" b="0" i="0">
                <a:solidFill>
                  <a:srgbClr val="1F2328"/>
                </a:solidFill>
                <a:latin typeface="Courier New"/>
              </a:rPr>
              <a:t>polyfit</a:t>
            </a:r>
            <a:r>
              <a:rPr sz="1450" b="0" i="0">
                <a:solidFill>
                  <a:srgbClr val="1F2328"/>
                </a:solidFill>
                <a:latin typeface="Courier New"/>
              </a:rPr>
              <a:t>(</a:t>
            </a:r>
            <a:r>
              <a:rPr sz="1450" b="0" i="0">
                <a:solidFill>
                  <a:srgbClr val="1F2328"/>
                </a:solidFill>
                <a:latin typeface="Courier New"/>
              </a:rPr>
              <a:t>x</a:t>
            </a:r>
            <a:r>
              <a:rPr sz="1450" b="0" i="0">
                <a:solidFill>
                  <a:srgbClr val="1F2328"/>
                </a:solidFill>
                <a:latin typeface="Courier New"/>
              </a:rPr>
              <a:t>[</a:t>
            </a:r>
            <a:r>
              <a:rPr sz="1450" b="0" i="0">
                <a:solidFill>
                  <a:srgbClr val="1F2328"/>
                </a:solidFill>
                <a:latin typeface="Courier New"/>
              </a:rPr>
              <a:t>tr</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y</a:t>
            </a:r>
            <a:r>
              <a:rPr sz="1450" b="0" i="0">
                <a:solidFill>
                  <a:srgbClr val="1F2328"/>
                </a:solidFill>
                <a:latin typeface="Courier New"/>
              </a:rPr>
              <a:t>[</a:t>
            </a:r>
            <a:r>
              <a:rPr sz="1450" b="0" i="0">
                <a:solidFill>
                  <a:srgbClr val="1F2328"/>
                </a:solidFill>
                <a:latin typeface="Courier New"/>
              </a:rPr>
              <a:t>tr</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d</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x</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y</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print</a:t>
            </a:r>
            <a:r>
              <a:rPr sz="1450" b="0" i="0">
                <a:solidFill>
                  <a:srgbClr val="1F2328"/>
                </a:solidFill>
                <a:latin typeface="Courier New"/>
              </a:rPr>
              <a:t>(</a:t>
            </a:r>
            <a:r>
              <a:rPr sz="1450" b="0" i="0">
                <a:solidFill>
                  <a:srgbClr val="1F2328"/>
                </a:solidFill>
                <a:latin typeface="Courier New"/>
              </a:rPr>
              <a:t>d</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rmse</a:t>
            </a:r>
            <a:r>
              <a:rPr sz="1450" b="0" i="0">
                <a:solidFill>
                  <a:srgbClr val="1F2328"/>
                </a:solidFill>
                <a:latin typeface="Courier New"/>
              </a:rPr>
              <a:t>(</a:t>
            </a:r>
            <a:r>
              <a:rPr sz="1450" b="0" i="0">
                <a:solidFill>
                  <a:srgbClr val="1F2328"/>
                </a:solidFill>
                <a:latin typeface="Courier New"/>
              </a:rPr>
              <a:t>tr</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rmse</a:t>
            </a:r>
            <a:r>
              <a:rPr sz="1450" b="0" i="0">
                <a:solidFill>
                  <a:srgbClr val="1F2328"/>
                </a:solidFill>
                <a:latin typeface="Courier New"/>
              </a:rPr>
              <a:t>(</a:t>
            </a:r>
            <a:r>
              <a:rPr sz="1450" b="0" i="0">
                <a:solidFill>
                  <a:srgbClr val="1F2328"/>
                </a:solidFill>
                <a:latin typeface="Courier New"/>
              </a:rPr>
              <a:t>te</a:t>
            </a:r>
            <a:r>
              <a:rPr sz="1450" b="0" i="0">
                <a:solidFill>
                  <a:srgbClr val="1F2328"/>
                </a:solidFill>
                <a:latin typeface="Courier New"/>
              </a:rPr>
              <a:t>)</a:t>
            </a:r>
            <a:r>
              <a:rPr sz="1450" b="0" i="0">
                <a:solidFill>
                  <a:srgbClr val="1F2328"/>
                </a:solidFill>
                <a:latin typeface="Courier New"/>
              </a:rPr>
              <a:t>)</a:t>
            </a:r>
          </a:p>
        </p:txBody>
      </p:sp>
      <p:grpSp>
        <p:nvGrpSpPr>
          <p:cNvPr id="7" name="output"/>
          <p:cNvGrpSpPr/>
          <p:nvPr/>
        </p:nvGrpSpPr>
        <p:grpSpPr>
          <a:xfrm>
            <a:off x="685800" y="4672584"/>
            <a:ext cx="6949440" cy="950976"/>
            <a:chOff x="685800" y="4672584"/>
            <a:chExt cx="6949440" cy="950976"/>
          </a:xfrm>
        </p:grpSpPr>
        <p:sp>
          <p:nvSpPr>
            <p:cNvPr id="8" name="TextBox 7"/>
            <p:cNvSpPr txBox="1"/>
            <p:nvPr/>
          </p:nvSpPr>
          <p:spPr>
            <a:xfrm>
              <a:off x="685800" y="46725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928616"/>
              <a:ext cx="6949440"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5020056"/>
              <a:ext cx="6675120" cy="585216"/>
            </a:xfrm>
            <a:prstGeom prst="rect">
              <a:avLst/>
            </a:prstGeom>
            <a:noFill/>
          </p:spPr>
          <p:txBody>
            <a:bodyPr wrap="none" lIns="0" rIns="0" tIns="0" bIns="0">
              <a:spAutoFit/>
            </a:bodyPr>
            <a:lstStyle/>
            <a:p>
              <a:r>
                <a:rPr sz="1400" b="0" i="0">
                  <a:solidFill>
                    <a:srgbClr val="1F2328"/>
                  </a:solidFill>
                  <a:latin typeface="Courier New"/>
                </a:rPr>
                <a:t>5 6.1 6.4</a:t>
              </a:r>
            </a:p>
            <a:p>
              <a:r>
                <a:rPr sz="1400" b="0" i="0">
                  <a:solidFill>
                    <a:srgbClr val="1F2328"/>
                  </a:solidFill>
                  <a:latin typeface="Courier New"/>
                </a:rPr>
                <a:t>6 6.0 72.4</a:t>
              </a:r>
            </a:p>
            <a:p>
              <a:r>
                <a:rPr sz="1400" b="0" i="0">
                  <a:solidFill>
                    <a:srgbClr val="1F2328"/>
                  </a:solidFill>
                  <a:latin typeface="Courier New"/>
                </a:rPr>
                <a:t>9 5.9 25053.4</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Learn from 35 weeks and hold the other 69 back for testing.</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polyfit draws a curve with d bends through the training weeks.</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Error is how far off we are, in orders per week, on each part.</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Too simple and too wiggly are both wrong</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17   Forests, boosting and overfitting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Too simple (bias)</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Misses the real pattern</a:t>
              </a:r>
            </a:p>
          </p:txBody>
        </p:sp>
        <p:cxnSp>
          <p:nvCxnSpPr>
            <p:cNvPr id="10" name="Connector 9"/>
            <p:cNvCxnSpPr/>
            <p:nvPr/>
          </p:nvCxnSpPr>
          <p:spPr>
            <a:xfrm>
              <a:off x="685800" y="3154680"/>
              <a:ext cx="5090007" cy="0"/>
            </a:xfrm>
            <a:prstGeom prst="line">
              <a:avLst/>
            </a:prstGeom>
            <a:ln w="6350">
              <a:solidFill>
                <a:srgbClr val="C9C5BC"/>
              </a:solidFill>
            </a:ln>
          </p:spPr>
        </p:cxnSp>
        <p:sp>
          <p:nvSpPr>
            <p:cNvPr id="11" name="TextBox 10"/>
            <p:cNvSpPr txBox="1"/>
            <p:nvPr/>
          </p:nvSpPr>
          <p:spPr>
            <a:xfrm>
              <a:off x="685800"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Wrong on old data and on new data</a:t>
              </a:r>
            </a:p>
          </p:txBody>
        </p:sp>
        <p:cxnSp>
          <p:nvCxnSpPr>
            <p:cNvPr id="12" name="Connector 11"/>
            <p:cNvCxnSpPr/>
            <p:nvPr/>
          </p:nvCxnSpPr>
          <p:spPr>
            <a:xfrm>
              <a:off x="685800" y="4069080"/>
              <a:ext cx="5090007" cy="0"/>
            </a:xfrm>
            <a:prstGeom prst="line">
              <a:avLst/>
            </a:prstGeom>
            <a:ln w="6350">
              <a:solidFill>
                <a:srgbClr val="C9C5BC"/>
              </a:solidFill>
            </a:ln>
          </p:spPr>
        </p:cxnSp>
        <p:sp>
          <p:nvSpPr>
            <p:cNvPr id="13" name="TextBox 12"/>
            <p:cNvSpPr txBox="1"/>
            <p:nvPr/>
          </p:nvSpPr>
          <p:spPr>
            <a:xfrm>
              <a:off x="685800"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One flat average for every loan</a:t>
              </a:r>
            </a:p>
          </p:txBody>
        </p:sp>
      </p:grpSp>
      <p:grpSp>
        <p:nvGrpSpPr>
          <p:cNvPr id="14" name="side-2"/>
          <p:cNvGrpSpPr/>
          <p:nvPr/>
        </p:nvGrpSpPr>
        <p:grpSpPr>
          <a:xfrm>
            <a:off x="6415887" y="1600200"/>
            <a:ext cx="5090008" cy="3364992"/>
            <a:chOff x="6415887" y="1600200"/>
            <a:chExt cx="5090008" cy="3364992"/>
          </a:xfrm>
        </p:grpSpPr>
        <p:sp>
          <p:nvSpPr>
            <p:cNvPr id="15" name="TextBox 14"/>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Too wiggly (variance)</a:t>
              </a:r>
            </a:p>
          </p:txBody>
        </p:sp>
        <p:cxnSp>
          <p:nvCxnSpPr>
            <p:cNvPr id="16" name="Connector 15"/>
            <p:cNvCxnSpPr/>
            <p:nvPr/>
          </p:nvCxnSpPr>
          <p:spPr>
            <a:xfrm>
              <a:off x="6415887" y="2167128"/>
              <a:ext cx="5090008" cy="0"/>
            </a:xfrm>
            <a:prstGeom prst="line">
              <a:avLst/>
            </a:prstGeom>
            <a:ln w="15875">
              <a:solidFill>
                <a:srgbClr val="1F2328"/>
              </a:solidFill>
            </a:ln>
          </p:spPr>
        </p:cxnSp>
        <p:sp>
          <p:nvSpPr>
            <p:cNvPr id="17" name="TextBox 16"/>
            <p:cNvSpPr txBox="1"/>
            <p:nvPr/>
          </p:nvSpPr>
          <p:spPr>
            <a:xfrm>
              <a:off x="6415887"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Follows the noise in the data</a:t>
              </a:r>
            </a:p>
          </p:txBody>
        </p:sp>
        <p:cxnSp>
          <p:nvCxnSpPr>
            <p:cNvPr id="18" name="Connector 17"/>
            <p:cNvCxnSpPr/>
            <p:nvPr/>
          </p:nvCxnSpPr>
          <p:spPr>
            <a:xfrm>
              <a:off x="6415887" y="3154680"/>
              <a:ext cx="5090008" cy="0"/>
            </a:xfrm>
            <a:prstGeom prst="line">
              <a:avLst/>
            </a:prstGeom>
            <a:ln w="6350">
              <a:solidFill>
                <a:srgbClr val="C9C5BC"/>
              </a:solidFill>
            </a:ln>
          </p:spPr>
        </p:cxnSp>
        <p:sp>
          <p:nvSpPr>
            <p:cNvPr id="19" name="TextBox 18"/>
            <p:cNvSpPr txBox="1"/>
            <p:nvPr/>
          </p:nvSpPr>
          <p:spPr>
            <a:xfrm>
              <a:off x="6415887"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Right on old data, wrong on new data</a:t>
              </a:r>
            </a:p>
          </p:txBody>
        </p:sp>
        <p:cxnSp>
          <p:nvCxnSpPr>
            <p:cNvPr id="20" name="Connector 19"/>
            <p:cNvCxnSpPr/>
            <p:nvPr/>
          </p:nvCxnSpPr>
          <p:spPr>
            <a:xfrm>
              <a:off x="6415887" y="4069080"/>
              <a:ext cx="5090008" cy="0"/>
            </a:xfrm>
            <a:prstGeom prst="line">
              <a:avLst/>
            </a:prstGeom>
            <a:ln w="6350">
              <a:solidFill>
                <a:srgbClr val="C9C5BC"/>
              </a:solidFill>
            </a:ln>
          </p:spPr>
        </p:cxnSp>
        <p:sp>
          <p:nvSpPr>
            <p:cNvPr id="21" name="TextBox 20"/>
            <p:cNvSpPr txBox="1"/>
            <p:nvPr/>
          </p:nvSpPr>
          <p:spPr>
            <a:xfrm>
              <a:off x="6415887"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A special rule for every borrower</a:t>
              </a:r>
            </a:p>
          </p:txBody>
        </p:sp>
      </p:grpSp>
      <p:grpSp>
        <p:nvGrpSpPr>
          <p:cNvPr id="22" name="verdict"/>
          <p:cNvGrpSpPr/>
          <p:nvPr/>
        </p:nvGrpSpPr>
        <p:grpSpPr>
          <a:xfrm>
            <a:off x="685800" y="5257800"/>
            <a:ext cx="10820095" cy="978408"/>
            <a:chOff x="685800" y="5257800"/>
            <a:chExt cx="10820095" cy="978408"/>
          </a:xfrm>
        </p:grpSpPr>
        <p:cxnSp>
          <p:nvCxnSpPr>
            <p:cNvPr id="23" name="Connector 22"/>
            <p:cNvCxnSpPr/>
            <p:nvPr/>
          </p:nvCxnSpPr>
          <p:spPr>
            <a:xfrm>
              <a:off x="685800" y="5257800"/>
              <a:ext cx="10820095" cy="0"/>
            </a:xfrm>
            <a:prstGeom prst="line">
              <a:avLst/>
            </a:prstGeom>
            <a:ln w="15875">
              <a:solidFill>
                <a:srgbClr val="1F2328"/>
              </a:solidFill>
            </a:ln>
          </p:spPr>
        </p:cxnSp>
        <p:sp>
          <p:nvSpPr>
            <p:cNvPr id="24" name="TextBox 23"/>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Aim for the middle: flexible enough to see the pattern, plain enough to hold up on new loans.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Get the loans ready, leaving out the leak</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17   Forests, boosting and overfitting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sp>
        <p:nvSpPr>
          <p:cNvPr id="5" name="Rectangle 4"/>
          <p:cNvSpPr/>
          <p:nvPr/>
        </p:nvSpPr>
        <p:spPr>
          <a:xfrm>
            <a:off x="685800" y="1600200"/>
            <a:ext cx="6949440" cy="329793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3023616"/>
          </a:xfrm>
          <a:prstGeom prst="rect">
            <a:avLst/>
          </a:prstGeom>
          <a:noFill/>
        </p:spPr>
        <p:txBody>
          <a:bodyPr wrap="none" lIns="0" rIns="0" tIns="0" bIns="0">
            <a:spAutoFit/>
          </a:bodyPr>
          <a:lstStyle/>
          <a:p>
            <a:r>
              <a:rPr sz="1400" b="1" i="0">
                <a:solidFill>
                  <a:srgbClr val="1F2328"/>
                </a:solidFill>
                <a:latin typeface="Courier New"/>
              </a:rPr>
              <a:t>import</a:t>
            </a:r>
            <a:r>
              <a:rPr sz="1400" b="0" i="0">
                <a:solidFill>
                  <a:srgbClr val="1F2328"/>
                </a:solidFill>
                <a:latin typeface="Courier New"/>
              </a:rPr>
              <a:t> </a:t>
            </a:r>
            <a:r>
              <a:rPr sz="1400" b="0" i="0">
                <a:solidFill>
                  <a:srgbClr val="1F2328"/>
                </a:solidFill>
                <a:latin typeface="Courier New"/>
              </a:rPr>
              <a:t>pandas</a:t>
            </a:r>
            <a:r>
              <a:rPr sz="1400" b="0" i="0">
                <a:solidFill>
                  <a:srgbClr val="1F2328"/>
                </a:solidFill>
                <a:latin typeface="Courier New"/>
              </a:rPr>
              <a:t> </a:t>
            </a:r>
            <a:r>
              <a:rPr sz="1400" b="1" i="0">
                <a:solidFill>
                  <a:srgbClr val="1F2328"/>
                </a:solidFill>
                <a:latin typeface="Courier New"/>
              </a:rPr>
              <a:t>as</a:t>
            </a:r>
            <a:r>
              <a:rPr sz="1400" b="0" i="0">
                <a:solidFill>
                  <a:srgbClr val="1F2328"/>
                </a:solidFill>
                <a:latin typeface="Courier New"/>
              </a:rPr>
              <a:t> </a:t>
            </a:r>
            <a:r>
              <a:rPr sz="1400" b="0" i="0">
                <a:solidFill>
                  <a:srgbClr val="1F2328"/>
                </a:solidFill>
                <a:latin typeface="Courier New"/>
              </a:rPr>
              <a:t>pd</a:t>
            </a:r>
          </a:p>
          <a:p>
            <a:r>
              <a:rPr sz="1400" b="0" i="0">
                <a:solidFill>
                  <a:srgbClr val="1F2328"/>
                </a:solidFill>
                <a:latin typeface="Courier New"/>
              </a:rPr>
              <a:t> </a:t>
            </a:r>
          </a:p>
          <a:p>
            <a:r>
              <a:rPr sz="1400" b="0" i="0">
                <a:solidFill>
                  <a:srgbClr val="1F2328"/>
                </a:solidFill>
                <a:latin typeface="Courier New"/>
              </a:rPr>
              <a:t>loans</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pd</a:t>
            </a:r>
            <a:r>
              <a:rPr sz="1400" b="0" i="0">
                <a:solidFill>
                  <a:srgbClr val="1F2328"/>
                </a:solidFill>
                <a:latin typeface="Courier New"/>
              </a:rPr>
              <a:t>.</a:t>
            </a:r>
            <a:r>
              <a:rPr sz="1400" b="0" i="0">
                <a:solidFill>
                  <a:srgbClr val="1F2328"/>
                </a:solidFill>
                <a:latin typeface="Courier New"/>
              </a:rPr>
              <a:t>read_csv</a:t>
            </a:r>
            <a:r>
              <a:rPr sz="1400" b="0" i="0">
                <a:solidFill>
                  <a:srgbClr val="1F2328"/>
                </a:solidFill>
                <a:latin typeface="Courier New"/>
              </a:rPr>
              <a:t>(</a:t>
            </a:r>
            <a:r>
              <a:rPr sz="1400" b="0" i="0">
                <a:solidFill>
                  <a:srgbClr val="B04A2B"/>
                </a:solidFill>
                <a:latin typeface="Courier New"/>
              </a:rPr>
              <a:t>'loans.csv'</a:t>
            </a:r>
            <a:r>
              <a:rPr sz="1400" b="0" i="0">
                <a:solidFill>
                  <a:srgbClr val="1F2328"/>
                </a:solidFill>
                <a:latin typeface="Courier New"/>
              </a:rPr>
              <a:t>)</a:t>
            </a:r>
          </a:p>
          <a:p>
            <a:r>
              <a:rPr sz="1400" b="0" i="0">
                <a:solidFill>
                  <a:srgbClr val="1F2328"/>
                </a:solidFill>
                <a:latin typeface="Courier New"/>
              </a:rPr>
              <a:t>age</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loans</a:t>
            </a:r>
            <a:r>
              <a:rPr sz="1400" b="0" i="0">
                <a:solidFill>
                  <a:srgbClr val="1F2328"/>
                </a:solidFill>
                <a:latin typeface="Courier New"/>
              </a:rPr>
              <a:t>.</a:t>
            </a:r>
            <a:r>
              <a:rPr sz="1400" b="0" i="0">
                <a:solidFill>
                  <a:srgbClr val="1F2328"/>
                </a:solidFill>
                <a:latin typeface="Courier New"/>
              </a:rPr>
              <a:t>age</a:t>
            </a:r>
          </a:p>
          <a:p>
            <a:r>
              <a:rPr sz="1400" b="0" i="0">
                <a:solidFill>
                  <a:srgbClr val="1F2328"/>
                </a:solidFill>
                <a:latin typeface="Courier New"/>
              </a:rPr>
              <a:t>loans</a:t>
            </a:r>
            <a:r>
              <a:rPr sz="1400" b="0" i="0">
                <a:solidFill>
                  <a:srgbClr val="1F2328"/>
                </a:solidFill>
                <a:latin typeface="Courier New"/>
              </a:rPr>
              <a:t>[</a:t>
            </a:r>
            <a:r>
              <a:rPr sz="1400" b="0" i="0">
                <a:solidFill>
                  <a:srgbClr val="B04A2B"/>
                </a:solidFill>
                <a:latin typeface="Courier New"/>
              </a:rPr>
              <a:t>'age'</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age</a:t>
            </a:r>
            <a:r>
              <a:rPr sz="1400" b="0" i="0">
                <a:solidFill>
                  <a:srgbClr val="1F2328"/>
                </a:solidFill>
                <a:latin typeface="Courier New"/>
              </a:rPr>
              <a:t>.</a:t>
            </a:r>
            <a:r>
              <a:rPr sz="1400" b="0" i="0">
                <a:solidFill>
                  <a:srgbClr val="1F2328"/>
                </a:solidFill>
                <a:latin typeface="Courier New"/>
              </a:rPr>
              <a:t>where</a:t>
            </a:r>
            <a:r>
              <a:rPr sz="1400" b="0" i="0">
                <a:solidFill>
                  <a:srgbClr val="1F2328"/>
                </a:solidFill>
                <a:latin typeface="Courier New"/>
              </a:rPr>
              <a:t>(</a:t>
            </a:r>
            <a:r>
              <a:rPr sz="1400" b="0" i="0">
                <a:solidFill>
                  <a:srgbClr val="1F2328"/>
                </a:solidFill>
                <a:latin typeface="Courier New"/>
              </a:rPr>
              <a:t>age</a:t>
            </a:r>
            <a:r>
              <a:rPr sz="1400" b="0" i="0">
                <a:solidFill>
                  <a:srgbClr val="1F2328"/>
                </a:solidFill>
                <a:latin typeface="Courier New"/>
              </a:rPr>
              <a:t>.</a:t>
            </a:r>
            <a:r>
              <a:rPr sz="1400" b="0" i="0">
                <a:solidFill>
                  <a:srgbClr val="1F2328"/>
                </a:solidFill>
                <a:latin typeface="Courier New"/>
              </a:rPr>
              <a:t>between</a:t>
            </a:r>
            <a:r>
              <a:rPr sz="1400" b="0" i="0">
                <a:solidFill>
                  <a:srgbClr val="1F2328"/>
                </a:solidFill>
                <a:latin typeface="Courier New"/>
              </a:rPr>
              <a:t>(</a:t>
            </a:r>
            <a:r>
              <a:rPr sz="1400" b="0" i="0">
                <a:solidFill>
                  <a:srgbClr val="3B4046"/>
                </a:solidFill>
                <a:latin typeface="Courier New"/>
              </a:rPr>
              <a:t>18</a:t>
            </a:r>
            <a:r>
              <a:rPr sz="1400" b="0" i="0">
                <a:solidFill>
                  <a:srgbClr val="1F2328"/>
                </a:solidFill>
                <a:latin typeface="Courier New"/>
              </a:rPr>
              <a:t>,</a:t>
            </a:r>
            <a:r>
              <a:rPr sz="1400" b="0" i="0">
                <a:solidFill>
                  <a:srgbClr val="1F2328"/>
                </a:solidFill>
                <a:latin typeface="Courier New"/>
              </a:rPr>
              <a:t> </a:t>
            </a:r>
            <a:r>
              <a:rPr sz="1400" b="0" i="0">
                <a:solidFill>
                  <a:srgbClr val="3B4046"/>
                </a:solidFill>
                <a:latin typeface="Courier New"/>
              </a:rPr>
              <a:t>90</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age</a:t>
            </a:r>
            <a:r>
              <a:rPr sz="1400" b="0" i="0">
                <a:solidFill>
                  <a:srgbClr val="1F2328"/>
                </a:solidFill>
                <a:latin typeface="Courier New"/>
              </a:rPr>
              <a:t>.</a:t>
            </a:r>
            <a:r>
              <a:rPr sz="1400" b="0" i="0">
                <a:solidFill>
                  <a:srgbClr val="1F2328"/>
                </a:solidFill>
                <a:latin typeface="Courier New"/>
              </a:rPr>
              <a:t>median</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inc</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loans</a:t>
            </a:r>
            <a:r>
              <a:rPr sz="1400" b="0" i="0">
                <a:solidFill>
                  <a:srgbClr val="1F2328"/>
                </a:solidFill>
                <a:latin typeface="Courier New"/>
              </a:rPr>
              <a:t>.</a:t>
            </a:r>
            <a:r>
              <a:rPr sz="1400" b="0" i="0">
                <a:solidFill>
                  <a:srgbClr val="1F2328"/>
                </a:solidFill>
                <a:latin typeface="Courier New"/>
              </a:rPr>
              <a:t>monthly_income_ugx</a:t>
            </a:r>
          </a:p>
          <a:p>
            <a:r>
              <a:rPr sz="1400" b="0" i="0">
                <a:solidFill>
                  <a:srgbClr val="1F2328"/>
                </a:solidFill>
                <a:latin typeface="Courier New"/>
              </a:rPr>
              <a:t>loans</a:t>
            </a:r>
            <a:r>
              <a:rPr sz="1400" b="0" i="0">
                <a:solidFill>
                  <a:srgbClr val="1F2328"/>
                </a:solidFill>
                <a:latin typeface="Courier New"/>
              </a:rPr>
              <a:t>[</a:t>
            </a:r>
            <a:r>
              <a:rPr sz="1400" b="0" i="0">
                <a:solidFill>
                  <a:srgbClr val="B04A2B"/>
                </a:solidFill>
                <a:latin typeface="Courier New"/>
              </a:rPr>
              <a:t>'monthly_income_ugx'</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inc</a:t>
            </a:r>
            <a:r>
              <a:rPr sz="1400" b="0" i="0">
                <a:solidFill>
                  <a:srgbClr val="1F2328"/>
                </a:solidFill>
                <a:latin typeface="Courier New"/>
              </a:rPr>
              <a:t>.</a:t>
            </a:r>
            <a:r>
              <a:rPr sz="1400" b="0" i="0">
                <a:solidFill>
                  <a:srgbClr val="1F2328"/>
                </a:solidFill>
                <a:latin typeface="Courier New"/>
              </a:rPr>
              <a:t>fillna</a:t>
            </a:r>
            <a:r>
              <a:rPr sz="1400" b="0" i="0">
                <a:solidFill>
                  <a:srgbClr val="1F2328"/>
                </a:solidFill>
                <a:latin typeface="Courier New"/>
              </a:rPr>
              <a:t>(</a:t>
            </a:r>
            <a:r>
              <a:rPr sz="1400" b="0" i="0">
                <a:solidFill>
                  <a:srgbClr val="1F2328"/>
                </a:solidFill>
                <a:latin typeface="Courier New"/>
              </a:rPr>
              <a:t>inc</a:t>
            </a:r>
            <a:r>
              <a:rPr sz="1400" b="0" i="0">
                <a:solidFill>
                  <a:srgbClr val="1F2328"/>
                </a:solidFill>
                <a:latin typeface="Courier New"/>
              </a:rPr>
              <a:t>.</a:t>
            </a:r>
            <a:r>
              <a:rPr sz="1400" b="0" i="0">
                <a:solidFill>
                  <a:srgbClr val="1F2328"/>
                </a:solidFill>
                <a:latin typeface="Courier New"/>
              </a:rPr>
              <a:t>median</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loans</a:t>
            </a:r>
            <a:r>
              <a:rPr sz="1400" b="0" i="0">
                <a:solidFill>
                  <a:srgbClr val="1F2328"/>
                </a:solidFill>
                <a:latin typeface="Courier New"/>
              </a:rPr>
              <a:t>[</a:t>
            </a:r>
            <a:r>
              <a:rPr sz="1400" b="0" i="0">
                <a:solidFill>
                  <a:srgbClr val="B04A2B"/>
                </a:solidFill>
                <a:latin typeface="Courier New"/>
              </a:rPr>
              <a:t>'burden'</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loans</a:t>
            </a:r>
            <a:r>
              <a:rPr sz="1400" b="0" i="0">
                <a:solidFill>
                  <a:srgbClr val="1F2328"/>
                </a:solidFill>
                <a:latin typeface="Courier New"/>
              </a:rPr>
              <a:t>.</a:t>
            </a:r>
            <a:r>
              <a:rPr sz="1400" b="0" i="0">
                <a:solidFill>
                  <a:srgbClr val="1F2328"/>
                </a:solidFill>
                <a:latin typeface="Courier New"/>
              </a:rPr>
              <a:t>loan_amount_ugx</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loans</a:t>
            </a:r>
            <a:r>
              <a:rPr sz="1400" b="0" i="0">
                <a:solidFill>
                  <a:srgbClr val="1F2328"/>
                </a:solidFill>
                <a:latin typeface="Courier New"/>
              </a:rPr>
              <a:t>.</a:t>
            </a:r>
            <a:r>
              <a:rPr sz="1400" b="0" i="0">
                <a:solidFill>
                  <a:srgbClr val="1F2328"/>
                </a:solidFill>
                <a:latin typeface="Courier New"/>
              </a:rPr>
              <a:t>term_months</a:t>
            </a:r>
          </a:p>
          <a:p>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loans</a:t>
            </a:r>
            <a:r>
              <a:rPr sz="1400" b="0" i="0">
                <a:solidFill>
                  <a:srgbClr val="1F2328"/>
                </a:solidFill>
                <a:latin typeface="Courier New"/>
              </a:rPr>
              <a:t>.</a:t>
            </a:r>
            <a:r>
              <a:rPr sz="1400" b="0" i="0">
                <a:solidFill>
                  <a:srgbClr val="1F2328"/>
                </a:solidFill>
                <a:latin typeface="Courier New"/>
              </a:rPr>
              <a:t>monthly_income_ugx</a:t>
            </a:r>
            <a:r>
              <a:rPr sz="1400" b="0" i="0">
                <a:solidFill>
                  <a:srgbClr val="1F2328"/>
                </a:solidFill>
                <a:latin typeface="Courier New"/>
              </a:rPr>
              <a:t>)</a:t>
            </a:r>
          </a:p>
          <a:p>
            <a:r>
              <a:rPr sz="1400" b="0" i="0">
                <a:solidFill>
                  <a:srgbClr val="1F2328"/>
                </a:solidFill>
                <a:latin typeface="Courier New"/>
              </a:rPr>
              <a:t>X</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loans</a:t>
            </a:r>
            <a:r>
              <a:rPr sz="1400" b="0" i="0">
                <a:solidFill>
                  <a:srgbClr val="1F2328"/>
                </a:solidFill>
                <a:latin typeface="Courier New"/>
              </a:rPr>
              <a:t>.</a:t>
            </a:r>
            <a:r>
              <a:rPr sz="1400" b="0" i="0">
                <a:solidFill>
                  <a:srgbClr val="1F2328"/>
                </a:solidFill>
                <a:latin typeface="Courier New"/>
              </a:rPr>
              <a:t>drop</a:t>
            </a:r>
            <a:r>
              <a:rPr sz="1400" b="0" i="0">
                <a:solidFill>
                  <a:srgbClr val="1F2328"/>
                </a:solidFill>
                <a:latin typeface="Courier New"/>
              </a:rPr>
              <a:t>(</a:t>
            </a:r>
            <a:r>
              <a:rPr sz="1400" b="0" i="0">
                <a:solidFill>
                  <a:srgbClr val="1F2328"/>
                </a:solidFill>
                <a:latin typeface="Courier New"/>
              </a:rPr>
              <a:t>columns</a:t>
            </a:r>
            <a:r>
              <a:rPr sz="1400" b="0" i="0">
                <a:solidFill>
                  <a:srgbClr val="1F2328"/>
                </a:solidFill>
                <a:latin typeface="Courier New"/>
              </a:rPr>
              <a:t>=</a:t>
            </a:r>
            <a:r>
              <a:rPr sz="1400" b="0" i="0">
                <a:solidFill>
                  <a:srgbClr val="1F2328"/>
                </a:solidFill>
                <a:latin typeface="Courier New"/>
              </a:rPr>
              <a:t>[</a:t>
            </a:r>
            <a:r>
              <a:rPr sz="1400" b="0" i="0">
                <a:solidFill>
                  <a:srgbClr val="B04A2B"/>
                </a:solidFill>
                <a:latin typeface="Courier New"/>
              </a:rPr>
              <a:t>'default'</a:t>
            </a:r>
            <a:r>
              <a:rPr sz="1400" b="0" i="0">
                <a:solidFill>
                  <a:srgbClr val="1F2328"/>
                </a:solidFill>
                <a:latin typeface="Courier New"/>
              </a:rPr>
              <a:t>,</a:t>
            </a:r>
            <a:r>
              <a:rPr sz="1400" b="0" i="0">
                <a:solidFill>
                  <a:srgbClr val="1F2328"/>
                </a:solidFill>
                <a:latin typeface="Courier New"/>
              </a:rPr>
              <a:t> </a:t>
            </a:r>
            <a:r>
              <a:rPr sz="1400" b="0" i="0">
                <a:solidFill>
                  <a:srgbClr val="B04A2B"/>
                </a:solidFill>
                <a:latin typeface="Courier New"/>
              </a:rPr>
              <a:t>'collection_calls'</a:t>
            </a:r>
            <a:r>
              <a:rPr sz="1400" b="0" i="0">
                <a:solidFill>
                  <a:srgbClr val="1F2328"/>
                </a:solidFill>
                <a:latin typeface="Courier New"/>
              </a:rPr>
              <a:t>]</a:t>
            </a:r>
            <a:r>
              <a:rPr sz="1400" b="0" i="0">
                <a:solidFill>
                  <a:srgbClr val="1F2328"/>
                </a:solidFill>
                <a:latin typeface="Courier New"/>
              </a:rPr>
              <a:t>)</a:t>
            </a:r>
          </a:p>
          <a:p>
            <a:r>
              <a:rPr sz="1400" b="0" i="0">
                <a:solidFill>
                  <a:srgbClr val="1F2328"/>
                </a:solidFill>
                <a:latin typeface="Courier New"/>
              </a:rPr>
              <a:t>X</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X</a:t>
            </a:r>
            <a:r>
              <a:rPr sz="1400" b="0" i="0">
                <a:solidFill>
                  <a:srgbClr val="1F2328"/>
                </a:solidFill>
                <a:latin typeface="Courier New"/>
              </a:rPr>
              <a:t>.</a:t>
            </a:r>
            <a:r>
              <a:rPr sz="1400" b="0" i="0">
                <a:solidFill>
                  <a:srgbClr val="1F2328"/>
                </a:solidFill>
                <a:latin typeface="Courier New"/>
              </a:rPr>
              <a:t>select_dtypes</a:t>
            </a:r>
            <a:r>
              <a:rPr sz="1400" b="0" i="0">
                <a:solidFill>
                  <a:srgbClr val="1F2328"/>
                </a:solidFill>
                <a:latin typeface="Courier New"/>
              </a:rPr>
              <a:t>(</a:t>
            </a:r>
            <a:r>
              <a:rPr sz="1400" b="0" i="0">
                <a:solidFill>
                  <a:srgbClr val="B04A2B"/>
                </a:solidFill>
                <a:latin typeface="Courier New"/>
              </a:rPr>
              <a:t>'number'</a:t>
            </a:r>
            <a:r>
              <a:rPr sz="1400" b="0" i="0">
                <a:solidFill>
                  <a:srgbClr val="1F2328"/>
                </a:solidFill>
                <a:latin typeface="Courier New"/>
              </a:rPr>
              <a:t>)</a:t>
            </a:r>
          </a:p>
          <a:p>
            <a:r>
              <a:rPr sz="1400" b="0" i="0">
                <a:solidFill>
                  <a:srgbClr val="1F2328"/>
                </a:solidFill>
                <a:latin typeface="Courier New"/>
              </a:rPr>
              <a:t>y</a:t>
            </a:r>
            <a:r>
              <a:rPr sz="1400" b="0" i="0">
                <a:solidFill>
                  <a:srgbClr val="1F2328"/>
                </a:solidFill>
                <a:latin typeface="Courier New"/>
              </a:rPr>
              <a:t> </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loans</a:t>
            </a:r>
            <a:r>
              <a:rPr sz="1400" b="0" i="0">
                <a:solidFill>
                  <a:srgbClr val="1F2328"/>
                </a:solidFill>
                <a:latin typeface="Courier New"/>
              </a:rPr>
              <a:t>[</a:t>
            </a:r>
            <a:r>
              <a:rPr sz="1400" b="0" i="0">
                <a:solidFill>
                  <a:srgbClr val="B04A2B"/>
                </a:solidFill>
                <a:latin typeface="Courier New"/>
              </a:rPr>
              <a:t>'default'</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X</a:t>
            </a:r>
            <a:r>
              <a:rPr sz="1400" b="0" i="0">
                <a:solidFill>
                  <a:srgbClr val="1F2328"/>
                </a:solidFill>
                <a:latin typeface="Courier New"/>
              </a:rPr>
              <a:t>.</a:t>
            </a:r>
            <a:r>
              <a:rPr sz="1400" b="0" i="0">
                <a:solidFill>
                  <a:srgbClr val="1F2328"/>
                </a:solidFill>
                <a:latin typeface="Courier New"/>
              </a:rPr>
              <a:t>shape</a:t>
            </a:r>
            <a:r>
              <a:rPr sz="1400" b="0" i="0">
                <a:solidFill>
                  <a:srgbClr val="1F2328"/>
                </a:solidFill>
                <a:latin typeface="Courier New"/>
              </a:rPr>
              <a:t>)</a:t>
            </a:r>
          </a:p>
          <a:p>
            <a:r>
              <a:rPr sz="1400" b="0" i="0">
                <a:solidFill>
                  <a:srgbClr val="1F2328"/>
                </a:solidFill>
                <a:latin typeface="Courier New"/>
              </a:rPr>
              <a:t>print</a:t>
            </a:r>
            <a:r>
              <a:rPr sz="1400" b="0" i="0">
                <a:solidFill>
                  <a:srgbClr val="1F2328"/>
                </a:solidFill>
                <a:latin typeface="Courier New"/>
              </a:rPr>
              <a:t>(</a:t>
            </a:r>
            <a:r>
              <a:rPr sz="1400" b="0" i="0">
                <a:solidFill>
                  <a:srgbClr val="1F2328"/>
                </a:solidFill>
                <a:latin typeface="Courier New"/>
              </a:rPr>
              <a:t>y</a:t>
            </a:r>
            <a:r>
              <a:rPr sz="1400" b="0" i="0">
                <a:solidFill>
                  <a:srgbClr val="1F2328"/>
                </a:solidFill>
                <a:latin typeface="Courier New"/>
              </a:rPr>
              <a:t>.</a:t>
            </a:r>
            <a:r>
              <a:rPr sz="1400" b="0" i="0">
                <a:solidFill>
                  <a:srgbClr val="1F2328"/>
                </a:solidFill>
                <a:latin typeface="Courier New"/>
              </a:rPr>
              <a:t>sum</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a:t>
            </a:r>
            <a:r>
              <a:rPr sz="1400" b="0" i="0">
                <a:solidFill>
                  <a:srgbClr val="1F2328"/>
                </a:solidFill>
                <a:latin typeface="Courier New"/>
              </a:rPr>
              <a:t> </a:t>
            </a:r>
            <a:r>
              <a:rPr sz="1400" b="0" i="0">
                <a:solidFill>
                  <a:srgbClr val="1F2328"/>
                </a:solidFill>
                <a:latin typeface="Courier New"/>
              </a:rPr>
              <a:t>len</a:t>
            </a:r>
            <a:r>
              <a:rPr sz="1400" b="0" i="0">
                <a:solidFill>
                  <a:srgbClr val="1F2328"/>
                </a:solidFill>
                <a:latin typeface="Courier New"/>
              </a:rPr>
              <a:t>(</a:t>
            </a:r>
            <a:r>
              <a:rPr sz="1400" b="0" i="0">
                <a:solidFill>
                  <a:srgbClr val="1F2328"/>
                </a:solidFill>
                <a:latin typeface="Courier New"/>
              </a:rPr>
              <a:t>y</a:t>
            </a:r>
            <a:r>
              <a:rPr sz="1400" b="0" i="0">
                <a:solidFill>
                  <a:srgbClr val="1F2328"/>
                </a:solidFill>
                <a:latin typeface="Courier New"/>
              </a:rPr>
              <a:t>)</a:t>
            </a:r>
            <a:r>
              <a:rPr sz="1400" b="0" i="0">
                <a:solidFill>
                  <a:srgbClr val="1F2328"/>
                </a:solidFill>
                <a:latin typeface="Courier New"/>
              </a:rPr>
              <a:t>)</a:t>
            </a:r>
          </a:p>
        </p:txBody>
      </p:sp>
      <p:grpSp>
        <p:nvGrpSpPr>
          <p:cNvPr id="7" name="output"/>
          <p:cNvGrpSpPr/>
          <p:nvPr/>
        </p:nvGrpSpPr>
        <p:grpSpPr>
          <a:xfrm>
            <a:off x="685800" y="5007864"/>
            <a:ext cx="6949440" cy="737615"/>
            <a:chOff x="685800" y="5007864"/>
            <a:chExt cx="6949440" cy="737615"/>
          </a:xfrm>
        </p:grpSpPr>
        <p:sp>
          <p:nvSpPr>
            <p:cNvPr id="8" name="TextBox 7"/>
            <p:cNvSpPr txBox="1"/>
            <p:nvPr/>
          </p:nvSpPr>
          <p:spPr>
            <a:xfrm>
              <a:off x="685800" y="500786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5263896"/>
              <a:ext cx="6949440"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5355336"/>
              <a:ext cx="6675120" cy="371855"/>
            </a:xfrm>
            <a:prstGeom prst="rect">
              <a:avLst/>
            </a:prstGeom>
            <a:noFill/>
          </p:spPr>
          <p:txBody>
            <a:bodyPr wrap="none" lIns="0" rIns="0" tIns="0" bIns="0">
              <a:spAutoFit/>
            </a:bodyPr>
            <a:lstStyle/>
            <a:p>
              <a:r>
                <a:rPr sz="1400" b="0" i="0">
                  <a:solidFill>
                    <a:srgbClr val="1F2328"/>
                  </a:solidFill>
                  <a:latin typeface="Courier New"/>
                </a:rPr>
                <a:t>(8000, 11)</a:t>
              </a:r>
            </a:p>
            <a:p>
              <a:r>
                <a:rPr sz="1400" b="0" i="0">
                  <a:solidFill>
                    <a:srgbClr val="1F2328"/>
                  </a:solidFill>
                  <a:latin typeface="Courier New"/>
                </a:rPr>
                <a:t>1004 8000</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Mend the impossible ages and the blank incomes.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burden is the monthly instalment divided by monthly income.</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Keep the number columns. collection_calls is left out.</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forest is many different trees asked to vote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17   Forests, boosting and overfitting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cxnSp>
        <p:nvCxnSpPr>
          <p:cNvPr id="5" name="Connector 4"/>
          <p:cNvCxnSpPr/>
          <p:nvPr/>
        </p:nvCxnSpPr>
        <p:spPr>
          <a:xfrm>
            <a:off x="795528" y="2286000"/>
            <a:ext cx="10600639" cy="0"/>
          </a:xfrm>
          <a:prstGeom prst="line">
            <a:avLst/>
          </a:prstGeom>
          <a:ln w="19050">
            <a:solidFill>
              <a:srgbClr val="1F2328"/>
            </a:solidFill>
          </a:ln>
        </p:spPr>
      </p:cxnSp>
      <p:grpSp>
        <p:nvGrpSpPr>
          <p:cNvPr id="6" name="step-1"/>
          <p:cNvGrpSpPr/>
          <p:nvPr/>
        </p:nvGrpSpPr>
        <p:grpSpPr>
          <a:xfrm>
            <a:off x="676656" y="2167128"/>
            <a:ext cx="2485567" cy="2999231"/>
            <a:chOff x="676656" y="2167128"/>
            <a:chExt cx="2485567" cy="2999231"/>
          </a:xfrm>
        </p:grpSpPr>
        <p:sp>
          <p:nvSpPr>
            <p:cNvPr id="7" name="Oval 6"/>
            <p:cNvSpPr/>
            <p:nvPr/>
          </p:nvSpPr>
          <p:spPr>
            <a:xfrm>
              <a:off x="676656" y="2167128"/>
              <a:ext cx="237744" cy="237744"/>
            </a:xfrm>
            <a:prstGeom prst="ellipse">
              <a:avLst/>
            </a:prstGeom>
            <a:solidFill>
              <a:srgbClr val="FFFFFF"/>
            </a:solidFill>
            <a:ln w="19050">
              <a:solidFill>
                <a:srgbClr val="1F2328"/>
              </a:solidFill>
            </a:ln>
          </p:spPr>
          <p:txBody>
            <a:bodyPr rtlCol="0" anchor="ctr"/>
            <a:lstStyle/>
            <a:p>
              <a:pPr algn="ctr"/>
            </a:p>
          </p:txBody>
        </p:sp>
        <p:sp>
          <p:nvSpPr>
            <p:cNvPr id="8" name="TextBox 7"/>
            <p:cNvSpPr txBox="1"/>
            <p:nvPr/>
          </p:nvSpPr>
          <p:spPr>
            <a:xfrm>
              <a:off x="685800"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Resample</a:t>
              </a:r>
            </a:p>
          </p:txBody>
        </p:sp>
        <p:sp>
          <p:nvSpPr>
            <p:cNvPr id="9" name="TextBox 8"/>
            <p:cNvSpPr txBox="1"/>
            <p:nvPr/>
          </p:nvSpPr>
          <p:spPr>
            <a:xfrm>
              <a:off x="685800"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Draw a random sample of loans, with repeats.</a:t>
              </a:r>
            </a:p>
          </p:txBody>
        </p:sp>
      </p:grpSp>
      <p:grpSp>
        <p:nvGrpSpPr>
          <p:cNvPr id="10" name="step-2"/>
          <p:cNvGrpSpPr/>
          <p:nvPr/>
        </p:nvGrpSpPr>
        <p:grpSpPr>
          <a:xfrm>
            <a:off x="3381679" y="2167128"/>
            <a:ext cx="2485567" cy="2999231"/>
            <a:chOff x="3381679" y="2167128"/>
            <a:chExt cx="2485567" cy="2999231"/>
          </a:xfrm>
        </p:grpSpPr>
        <p:sp>
          <p:nvSpPr>
            <p:cNvPr id="11" name="Oval 10"/>
            <p:cNvSpPr/>
            <p:nvPr/>
          </p:nvSpPr>
          <p:spPr>
            <a:xfrm>
              <a:off x="3381679" y="2167128"/>
              <a:ext cx="237744" cy="237744"/>
            </a:xfrm>
            <a:prstGeom prst="ellipse">
              <a:avLst/>
            </a:prstGeom>
            <a:solidFill>
              <a:srgbClr val="FFFFFF"/>
            </a:solidFill>
            <a:ln w="19050">
              <a:solidFill>
                <a:srgbClr val="1F2328"/>
              </a:solidFill>
            </a:ln>
          </p:spPr>
          <p:txBody>
            <a:bodyPr rtlCol="0" anchor="ctr"/>
            <a:lstStyle/>
            <a:p>
              <a:pPr algn="ctr"/>
            </a:p>
          </p:txBody>
        </p:sp>
        <p:sp>
          <p:nvSpPr>
            <p:cNvPr id="12" name="TextBox 11"/>
            <p:cNvSpPr txBox="1"/>
            <p:nvPr/>
          </p:nvSpPr>
          <p:spPr>
            <a:xfrm>
              <a:off x="3390823"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Grow a tree</a:t>
              </a:r>
            </a:p>
          </p:txBody>
        </p:sp>
        <p:sp>
          <p:nvSpPr>
            <p:cNvPr id="13" name="TextBox 12"/>
            <p:cNvSpPr txBox="1"/>
            <p:nvPr/>
          </p:nvSpPr>
          <p:spPr>
            <a:xfrm>
              <a:off x="3390823"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It sees that sample, and a few columns at each question.</a:t>
              </a:r>
            </a:p>
          </p:txBody>
        </p:sp>
      </p:grpSp>
      <p:grpSp>
        <p:nvGrpSpPr>
          <p:cNvPr id="14" name="step-3"/>
          <p:cNvGrpSpPr/>
          <p:nvPr/>
        </p:nvGrpSpPr>
        <p:grpSpPr>
          <a:xfrm>
            <a:off x="6086703" y="2167128"/>
            <a:ext cx="2485567" cy="2999231"/>
            <a:chOff x="6086703" y="2167128"/>
            <a:chExt cx="2485567" cy="2999231"/>
          </a:xfrm>
        </p:grpSpPr>
        <p:sp>
          <p:nvSpPr>
            <p:cNvPr id="15" name="Oval 14"/>
            <p:cNvSpPr/>
            <p:nvPr/>
          </p:nvSpPr>
          <p:spPr>
            <a:xfrm>
              <a:off x="6086703" y="2167128"/>
              <a:ext cx="237744" cy="237744"/>
            </a:xfrm>
            <a:prstGeom prst="ellipse">
              <a:avLst/>
            </a:prstGeom>
            <a:solidFill>
              <a:srgbClr val="FFFFFF"/>
            </a:solidFill>
            <a:ln w="19050">
              <a:solidFill>
                <a:srgbClr val="1F2328"/>
              </a:solidFill>
            </a:ln>
          </p:spPr>
          <p:txBody>
            <a:bodyPr rtlCol="0" anchor="ctr"/>
            <a:lstStyle/>
            <a:p>
              <a:pPr algn="ctr"/>
            </a:p>
          </p:txBody>
        </p:sp>
        <p:sp>
          <p:nvSpPr>
            <p:cNvPr id="16" name="TextBox 15"/>
            <p:cNvSpPr txBox="1"/>
            <p:nvPr/>
          </p:nvSpPr>
          <p:spPr>
            <a:xfrm>
              <a:off x="6095847"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Repeat</a:t>
              </a:r>
            </a:p>
          </p:txBody>
        </p:sp>
        <p:sp>
          <p:nvSpPr>
            <p:cNvPr id="17" name="TextBox 16"/>
            <p:cNvSpPr txBox="1"/>
            <p:nvPr/>
          </p:nvSpPr>
          <p:spPr>
            <a:xfrm>
              <a:off x="6095847"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Hundreds of trees, each a little different.</a:t>
              </a:r>
            </a:p>
          </p:txBody>
        </p:sp>
      </p:grpSp>
      <p:grpSp>
        <p:nvGrpSpPr>
          <p:cNvPr id="18" name="step-4"/>
          <p:cNvGrpSpPr/>
          <p:nvPr/>
        </p:nvGrpSpPr>
        <p:grpSpPr>
          <a:xfrm>
            <a:off x="8791727" y="2167128"/>
            <a:ext cx="2485567" cy="2999231"/>
            <a:chOff x="8791727" y="2167128"/>
            <a:chExt cx="2485567" cy="2999231"/>
          </a:xfrm>
        </p:grpSpPr>
        <p:sp>
          <p:nvSpPr>
            <p:cNvPr id="19" name="Oval 18"/>
            <p:cNvSpPr/>
            <p:nvPr/>
          </p:nvSpPr>
          <p:spPr>
            <a:xfrm>
              <a:off x="8791727" y="2167128"/>
              <a:ext cx="237744" cy="237744"/>
            </a:xfrm>
            <a:prstGeom prst="ellipse">
              <a:avLst/>
            </a:prstGeom>
            <a:solidFill>
              <a:srgbClr val="FFFFFF"/>
            </a:solidFill>
            <a:ln w="19050">
              <a:solidFill>
                <a:srgbClr val="1F2328"/>
              </a:solidFill>
            </a:ln>
          </p:spPr>
          <p:txBody>
            <a:bodyPr rtlCol="0" anchor="ctr"/>
            <a:lstStyle/>
            <a:p>
              <a:pPr algn="ctr"/>
            </a:p>
          </p:txBody>
        </p:sp>
        <p:sp>
          <p:nvSpPr>
            <p:cNvPr id="20" name="TextBox 19"/>
            <p:cNvSpPr txBox="1"/>
            <p:nvPr/>
          </p:nvSpPr>
          <p:spPr>
            <a:xfrm>
              <a:off x="8800871"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Vote</a:t>
              </a:r>
            </a:p>
          </p:txBody>
        </p:sp>
        <p:sp>
          <p:nvSpPr>
            <p:cNvPr id="21" name="TextBox 20"/>
            <p:cNvSpPr txBox="1"/>
            <p:nvPr/>
          </p:nvSpPr>
          <p:spPr>
            <a:xfrm>
              <a:off x="8800871"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Average their answers into one probability.</a:t>
              </a:r>
            </a:p>
          </p:txBody>
        </p:sp>
      </p:grpSp>
      <p:cxnSp>
        <p:nvCxnSpPr>
          <p:cNvPr id="22" name="Connector 21"/>
          <p:cNvCxnSpPr/>
          <p:nvPr/>
        </p:nvCxnSpPr>
        <p:spPr>
          <a:xfrm>
            <a:off x="685800" y="5120640"/>
            <a:ext cx="10820095" cy="0"/>
          </a:xfrm>
          <a:prstGeom prst="line">
            <a:avLst/>
          </a:prstGeom>
          <a:ln w="15875">
            <a:solidFill>
              <a:srgbClr val="1F2328"/>
            </a:solidFill>
          </a:ln>
        </p:spPr>
      </p:cxnSp>
      <p:sp>
        <p:nvSpPr>
          <p:cNvPr id="23" name="TextBox 22"/>
          <p:cNvSpPr txBox="1"/>
          <p:nvPr/>
        </p:nvSpPr>
        <p:spPr>
          <a:xfrm>
            <a:off x="685800" y="5257800"/>
            <a:ext cx="10820095" cy="914400"/>
          </a:xfrm>
          <a:prstGeom prst="rect">
            <a:avLst/>
          </a:prstGeom>
          <a:noFill/>
        </p:spPr>
        <p:txBody>
          <a:bodyPr wrap="square" lIns="0" rIns="0" tIns="18288" bIns="18288" anchor="t">
            <a:spAutoFit/>
          </a:bodyPr>
          <a:lstStyle/>
          <a:p>
            <a:pPr algn="l"/>
            <a:r>
              <a:rPr sz="2200" b="0" i="0">
                <a:solidFill>
                  <a:srgbClr val="1F2328"/>
                </a:solidFill>
                <a:latin typeface="Cambria"/>
              </a:rPr>
              <a:t>Averaging many wiggly trees cancels out the wiggles. This is bagging.</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Fit a random forest on the loans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17   Forests, boosting and overfitting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sp>
        <p:nvSpPr>
          <p:cNvPr id="5" name="Rectangle 4"/>
          <p:cNvSpPr/>
          <p:nvPr/>
        </p:nvSpPr>
        <p:spPr>
          <a:xfrm>
            <a:off x="685800" y="1600200"/>
            <a:ext cx="10820095" cy="343509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3160776"/>
          </a:xfrm>
          <a:prstGeom prst="rect">
            <a:avLst/>
          </a:prstGeom>
          <a:noFill/>
        </p:spPr>
        <p:txBody>
          <a:bodyPr wrap="none" lIns="0" rIns="0" tIns="0" bIns="0">
            <a:spAutoFit/>
          </a:bodyPr>
          <a:lstStyle/>
          <a:p>
            <a:r>
              <a:rPr sz="2050" b="1" i="0">
                <a:solidFill>
                  <a:srgbClr val="1F2328"/>
                </a:solidFill>
                <a:latin typeface="Courier New"/>
              </a:rPr>
              <a:t>from</a:t>
            </a:r>
            <a:r>
              <a:rPr sz="2050" b="0" i="0">
                <a:solidFill>
                  <a:srgbClr val="1F2328"/>
                </a:solidFill>
                <a:latin typeface="Courier New"/>
              </a:rPr>
              <a:t> </a:t>
            </a:r>
            <a:r>
              <a:rPr sz="2050" b="0" i="0">
                <a:solidFill>
                  <a:srgbClr val="1F2328"/>
                </a:solidFill>
                <a:latin typeface="Courier New"/>
              </a:rPr>
              <a:t>sklearn</a:t>
            </a:r>
            <a:r>
              <a:rPr sz="2050" b="0" i="0">
                <a:solidFill>
                  <a:srgbClr val="1F2328"/>
                </a:solidFill>
                <a:latin typeface="Courier New"/>
              </a:rPr>
              <a:t>.</a:t>
            </a:r>
            <a:r>
              <a:rPr sz="2050" b="0" i="0">
                <a:solidFill>
                  <a:srgbClr val="1F2328"/>
                </a:solidFill>
                <a:latin typeface="Courier New"/>
              </a:rPr>
              <a:t>model_selection</a:t>
            </a:r>
            <a:r>
              <a:rPr sz="2050" b="0" i="0">
                <a:solidFill>
                  <a:srgbClr val="1F2328"/>
                </a:solidFill>
                <a:latin typeface="Courier New"/>
              </a:rPr>
              <a:t> </a:t>
            </a:r>
            <a:r>
              <a:rPr sz="2050" b="1" i="0">
                <a:solidFill>
                  <a:srgbClr val="1F2328"/>
                </a:solidFill>
                <a:latin typeface="Courier New"/>
              </a:rPr>
              <a:t>import</a:t>
            </a:r>
            <a:r>
              <a:rPr sz="2050" b="0" i="0">
                <a:solidFill>
                  <a:srgbClr val="1F2328"/>
                </a:solidFill>
                <a:latin typeface="Courier New"/>
              </a:rPr>
              <a:t> </a:t>
            </a:r>
            <a:r>
              <a:rPr sz="2050" b="0" i="0">
                <a:solidFill>
                  <a:srgbClr val="1F2328"/>
                </a:solidFill>
                <a:latin typeface="Courier New"/>
              </a:rPr>
              <a:t>train_test_split</a:t>
            </a:r>
          </a:p>
          <a:p>
            <a:r>
              <a:rPr sz="2050" b="1" i="0">
                <a:solidFill>
                  <a:srgbClr val="1F2328"/>
                </a:solidFill>
                <a:latin typeface="Courier New"/>
              </a:rPr>
              <a:t>from</a:t>
            </a:r>
            <a:r>
              <a:rPr sz="2050" b="0" i="0">
                <a:solidFill>
                  <a:srgbClr val="1F2328"/>
                </a:solidFill>
                <a:latin typeface="Courier New"/>
              </a:rPr>
              <a:t> </a:t>
            </a:r>
            <a:r>
              <a:rPr sz="2050" b="0" i="0">
                <a:solidFill>
                  <a:srgbClr val="1F2328"/>
                </a:solidFill>
                <a:latin typeface="Courier New"/>
              </a:rPr>
              <a:t>sklearn</a:t>
            </a:r>
            <a:r>
              <a:rPr sz="2050" b="0" i="0">
                <a:solidFill>
                  <a:srgbClr val="1F2328"/>
                </a:solidFill>
                <a:latin typeface="Courier New"/>
              </a:rPr>
              <a:t>.</a:t>
            </a:r>
            <a:r>
              <a:rPr sz="2050" b="0" i="0">
                <a:solidFill>
                  <a:srgbClr val="1F2328"/>
                </a:solidFill>
                <a:latin typeface="Courier New"/>
              </a:rPr>
              <a:t>ensemble</a:t>
            </a:r>
            <a:r>
              <a:rPr sz="2050" b="0" i="0">
                <a:solidFill>
                  <a:srgbClr val="1F2328"/>
                </a:solidFill>
                <a:latin typeface="Courier New"/>
              </a:rPr>
              <a:t> </a:t>
            </a:r>
            <a:r>
              <a:rPr sz="2050" b="1" i="0">
                <a:solidFill>
                  <a:srgbClr val="1F2328"/>
                </a:solidFill>
                <a:latin typeface="Courier New"/>
              </a:rPr>
              <a:t>import</a:t>
            </a:r>
            <a:r>
              <a:rPr sz="2050" b="0" i="0">
                <a:solidFill>
                  <a:srgbClr val="1F2328"/>
                </a:solidFill>
                <a:latin typeface="Courier New"/>
              </a:rPr>
              <a:t> </a:t>
            </a:r>
            <a:r>
              <a:rPr sz="2050" b="0" i="0">
                <a:solidFill>
                  <a:srgbClr val="1F2328"/>
                </a:solidFill>
                <a:latin typeface="Courier New"/>
              </a:rPr>
              <a:t>RandomForestClassifier</a:t>
            </a:r>
          </a:p>
          <a:p>
            <a:r>
              <a:rPr sz="2050" b="1" i="0">
                <a:solidFill>
                  <a:srgbClr val="1F2328"/>
                </a:solidFill>
                <a:latin typeface="Courier New"/>
              </a:rPr>
              <a:t>from</a:t>
            </a:r>
            <a:r>
              <a:rPr sz="2050" b="0" i="0">
                <a:solidFill>
                  <a:srgbClr val="1F2328"/>
                </a:solidFill>
                <a:latin typeface="Courier New"/>
              </a:rPr>
              <a:t> </a:t>
            </a:r>
            <a:r>
              <a:rPr sz="2050" b="0" i="0">
                <a:solidFill>
                  <a:srgbClr val="1F2328"/>
                </a:solidFill>
                <a:latin typeface="Courier New"/>
              </a:rPr>
              <a:t>sklearn</a:t>
            </a:r>
            <a:r>
              <a:rPr sz="2050" b="0" i="0">
                <a:solidFill>
                  <a:srgbClr val="1F2328"/>
                </a:solidFill>
                <a:latin typeface="Courier New"/>
              </a:rPr>
              <a:t>.</a:t>
            </a:r>
            <a:r>
              <a:rPr sz="2050" b="0" i="0">
                <a:solidFill>
                  <a:srgbClr val="1F2328"/>
                </a:solidFill>
                <a:latin typeface="Courier New"/>
              </a:rPr>
              <a:t>metrics</a:t>
            </a:r>
            <a:r>
              <a:rPr sz="2050" b="0" i="0">
                <a:solidFill>
                  <a:srgbClr val="1F2328"/>
                </a:solidFill>
                <a:latin typeface="Courier New"/>
              </a:rPr>
              <a:t> </a:t>
            </a:r>
            <a:r>
              <a:rPr sz="2050" b="1" i="0">
                <a:solidFill>
                  <a:srgbClr val="1F2328"/>
                </a:solidFill>
                <a:latin typeface="Courier New"/>
              </a:rPr>
              <a:t>import</a:t>
            </a:r>
            <a:r>
              <a:rPr sz="2050" b="0" i="0">
                <a:solidFill>
                  <a:srgbClr val="1F2328"/>
                </a:solidFill>
                <a:latin typeface="Courier New"/>
              </a:rPr>
              <a:t> </a:t>
            </a:r>
            <a:r>
              <a:rPr sz="2050" b="0" i="0">
                <a:solidFill>
                  <a:srgbClr val="1F2328"/>
                </a:solidFill>
                <a:latin typeface="Courier New"/>
              </a:rPr>
              <a:t>roc_auc_score</a:t>
            </a:r>
          </a:p>
          <a:p>
            <a:r>
              <a:rPr sz="2050" b="0" i="0">
                <a:solidFill>
                  <a:srgbClr val="1F2328"/>
                </a:solidFill>
                <a:latin typeface="Courier New"/>
              </a:rPr>
              <a:t> </a:t>
            </a:r>
          </a:p>
          <a:p>
            <a:r>
              <a:rPr sz="2050" b="0" i="0">
                <a:solidFill>
                  <a:srgbClr val="1F2328"/>
                </a:solidFill>
                <a:latin typeface="Courier New"/>
              </a:rPr>
              <a:t>X_train</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X_test</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y_train</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y_test</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train_test_split</a:t>
            </a:r>
            <a:r>
              <a:rPr sz="2050" b="0" i="0">
                <a:solidFill>
                  <a:srgbClr val="1F2328"/>
                </a:solidFill>
                <a:latin typeface="Courier New"/>
              </a:rPr>
              <a:t>(</a:t>
            </a:r>
          </a:p>
          <a:p>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 </a:t>
            </a:r>
            <a:r>
              <a:rPr sz="2050" b="0" i="0">
                <a:solidFill>
                  <a:srgbClr val="1F2328"/>
                </a:solidFill>
                <a:latin typeface="Courier New"/>
              </a:rPr>
              <a:t>X</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y</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test_size</a:t>
            </a:r>
            <a:r>
              <a:rPr sz="2050" b="0" i="0">
                <a:solidFill>
                  <a:srgbClr val="1F2328"/>
                </a:solidFill>
                <a:latin typeface="Courier New"/>
              </a:rPr>
              <a:t>=</a:t>
            </a:r>
            <a:r>
              <a:rPr sz="2050" b="0" i="0">
                <a:solidFill>
                  <a:srgbClr val="3B4046"/>
                </a:solidFill>
                <a:latin typeface="Courier New"/>
              </a:rPr>
              <a:t>0.25</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stratify</a:t>
            </a:r>
            <a:r>
              <a:rPr sz="2050" b="0" i="0">
                <a:solidFill>
                  <a:srgbClr val="1F2328"/>
                </a:solidFill>
                <a:latin typeface="Courier New"/>
              </a:rPr>
              <a:t>=</a:t>
            </a:r>
            <a:r>
              <a:rPr sz="2050" b="0" i="0">
                <a:solidFill>
                  <a:srgbClr val="1F2328"/>
                </a:solidFill>
                <a:latin typeface="Courier New"/>
              </a:rPr>
              <a:t>y</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random_state</a:t>
            </a:r>
            <a:r>
              <a:rPr sz="2050" b="0" i="0">
                <a:solidFill>
                  <a:srgbClr val="1F2328"/>
                </a:solidFill>
                <a:latin typeface="Courier New"/>
              </a:rPr>
              <a:t>=</a:t>
            </a:r>
            <a:r>
              <a:rPr sz="2050" b="0" i="0">
                <a:solidFill>
                  <a:srgbClr val="3B4046"/>
                </a:solidFill>
                <a:latin typeface="Courier New"/>
              </a:rPr>
              <a:t>42</a:t>
            </a:r>
            <a:r>
              <a:rPr sz="2050" b="0" i="0">
                <a:solidFill>
                  <a:srgbClr val="1F2328"/>
                </a:solidFill>
                <a:latin typeface="Courier New"/>
              </a:rPr>
              <a:t>)</a:t>
            </a:r>
          </a:p>
          <a:p>
            <a:r>
              <a:rPr sz="2050" b="0" i="0">
                <a:solidFill>
                  <a:srgbClr val="1F2328"/>
                </a:solidFill>
                <a:latin typeface="Courier New"/>
              </a:rPr>
              <a:t>forest</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RandomForestClassifier</a:t>
            </a:r>
            <a:r>
              <a:rPr sz="2050" b="0" i="0">
                <a:solidFill>
                  <a:srgbClr val="1F2328"/>
                </a:solidFill>
                <a:latin typeface="Courier New"/>
              </a:rPr>
              <a:t>(</a:t>
            </a:r>
            <a:r>
              <a:rPr sz="2050" b="0" i="0">
                <a:solidFill>
                  <a:srgbClr val="1F2328"/>
                </a:solidFill>
                <a:latin typeface="Courier New"/>
              </a:rPr>
              <a:t>n_estimators</a:t>
            </a:r>
            <a:r>
              <a:rPr sz="2050" b="0" i="0">
                <a:solidFill>
                  <a:srgbClr val="1F2328"/>
                </a:solidFill>
                <a:latin typeface="Courier New"/>
              </a:rPr>
              <a:t>=</a:t>
            </a:r>
            <a:r>
              <a:rPr sz="2050" b="0" i="0">
                <a:solidFill>
                  <a:srgbClr val="3B4046"/>
                </a:solidFill>
                <a:latin typeface="Courier New"/>
              </a:rPr>
              <a:t>200</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random_state</a:t>
            </a:r>
            <a:r>
              <a:rPr sz="2050" b="0" i="0">
                <a:solidFill>
                  <a:srgbClr val="1F2328"/>
                </a:solidFill>
                <a:latin typeface="Courier New"/>
              </a:rPr>
              <a:t>=</a:t>
            </a:r>
            <a:r>
              <a:rPr sz="2050" b="0" i="0">
                <a:solidFill>
                  <a:srgbClr val="3B4046"/>
                </a:solidFill>
                <a:latin typeface="Courier New"/>
              </a:rPr>
              <a:t>42</a:t>
            </a:r>
            <a:r>
              <a:rPr sz="2050" b="0" i="0">
                <a:solidFill>
                  <a:srgbClr val="1F2328"/>
                </a:solidFill>
                <a:latin typeface="Courier New"/>
              </a:rPr>
              <a:t>)</a:t>
            </a:r>
          </a:p>
          <a:p>
            <a:r>
              <a:rPr sz="2050" b="0" i="0">
                <a:solidFill>
                  <a:srgbClr val="1F2328"/>
                </a:solidFill>
                <a:latin typeface="Courier New"/>
              </a:rPr>
              <a:t>forest</a:t>
            </a:r>
            <a:r>
              <a:rPr sz="2050" b="0" i="0">
                <a:solidFill>
                  <a:srgbClr val="1F2328"/>
                </a:solidFill>
                <a:latin typeface="Courier New"/>
              </a:rPr>
              <a:t>.</a:t>
            </a:r>
            <a:r>
              <a:rPr sz="2050" b="0" i="0">
                <a:solidFill>
                  <a:srgbClr val="1F2328"/>
                </a:solidFill>
                <a:latin typeface="Courier New"/>
              </a:rPr>
              <a:t>fit</a:t>
            </a:r>
            <a:r>
              <a:rPr sz="2050" b="0" i="0">
                <a:solidFill>
                  <a:srgbClr val="1F2328"/>
                </a:solidFill>
                <a:latin typeface="Courier New"/>
              </a:rPr>
              <a:t>(</a:t>
            </a:r>
            <a:r>
              <a:rPr sz="2050" b="0" i="0">
                <a:solidFill>
                  <a:srgbClr val="1F2328"/>
                </a:solidFill>
                <a:latin typeface="Courier New"/>
              </a:rPr>
              <a:t>X_train</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y_train</a:t>
            </a:r>
            <a:r>
              <a:rPr sz="2050" b="0" i="0">
                <a:solidFill>
                  <a:srgbClr val="1F2328"/>
                </a:solidFill>
                <a:latin typeface="Courier New"/>
              </a:rPr>
              <a:t>)</a:t>
            </a:r>
          </a:p>
          <a:p>
            <a:r>
              <a:rPr sz="2050" b="0" i="0">
                <a:solidFill>
                  <a:srgbClr val="1F2328"/>
                </a:solidFill>
                <a:latin typeface="Courier New"/>
              </a:rPr>
              <a:t>p</a:t>
            </a:r>
            <a:r>
              <a:rPr sz="2050" b="0" i="0">
                <a:solidFill>
                  <a:srgbClr val="1F2328"/>
                </a:solidFill>
                <a:latin typeface="Courier New"/>
              </a:rPr>
              <a:t> </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forest</a:t>
            </a:r>
            <a:r>
              <a:rPr sz="2050" b="0" i="0">
                <a:solidFill>
                  <a:srgbClr val="1F2328"/>
                </a:solidFill>
                <a:latin typeface="Courier New"/>
              </a:rPr>
              <a:t>.</a:t>
            </a:r>
            <a:r>
              <a:rPr sz="2050" b="0" i="0">
                <a:solidFill>
                  <a:srgbClr val="1F2328"/>
                </a:solidFill>
                <a:latin typeface="Courier New"/>
              </a:rPr>
              <a:t>predict_proba</a:t>
            </a:r>
            <a:r>
              <a:rPr sz="2050" b="0" i="0">
                <a:solidFill>
                  <a:srgbClr val="1F2328"/>
                </a:solidFill>
                <a:latin typeface="Courier New"/>
              </a:rPr>
              <a:t>(</a:t>
            </a:r>
            <a:r>
              <a:rPr sz="2050" b="0" i="0">
                <a:solidFill>
                  <a:srgbClr val="1F2328"/>
                </a:solidFill>
                <a:latin typeface="Courier New"/>
              </a:rPr>
              <a:t>X_test</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a:t>
            </a:r>
            <a:r>
              <a:rPr sz="2050" b="0" i="0">
                <a:solidFill>
                  <a:srgbClr val="1F2328"/>
                </a:solidFill>
                <a:latin typeface="Courier New"/>
              </a:rPr>
              <a:t> </a:t>
            </a:r>
            <a:r>
              <a:rPr sz="2050" b="0" i="0">
                <a:solidFill>
                  <a:srgbClr val="3B4046"/>
                </a:solidFill>
                <a:latin typeface="Courier New"/>
              </a:rPr>
              <a:t>1</a:t>
            </a:r>
            <a:r>
              <a:rPr sz="2050" b="0" i="0">
                <a:solidFill>
                  <a:srgbClr val="1F2328"/>
                </a:solidFill>
                <a:latin typeface="Courier New"/>
              </a:rPr>
              <a:t>]</a:t>
            </a:r>
          </a:p>
          <a:p>
            <a:r>
              <a:rPr sz="2050" b="0" i="0">
                <a:solidFill>
                  <a:srgbClr val="1F2328"/>
                </a:solidFill>
                <a:latin typeface="Courier New"/>
              </a:rPr>
              <a:t>print</a:t>
            </a:r>
            <a:r>
              <a:rPr sz="2050" b="0" i="0">
                <a:solidFill>
                  <a:srgbClr val="1F2328"/>
                </a:solidFill>
                <a:latin typeface="Courier New"/>
              </a:rPr>
              <a:t>(</a:t>
            </a:r>
            <a:r>
              <a:rPr sz="2050" b="0" i="0">
                <a:solidFill>
                  <a:srgbClr val="1F2328"/>
                </a:solidFill>
                <a:latin typeface="Courier New"/>
              </a:rPr>
              <a:t>roc_auc_score</a:t>
            </a:r>
            <a:r>
              <a:rPr sz="2050" b="0" i="0">
                <a:solidFill>
                  <a:srgbClr val="1F2328"/>
                </a:solidFill>
                <a:latin typeface="Courier New"/>
              </a:rPr>
              <a:t>(</a:t>
            </a:r>
            <a:r>
              <a:rPr sz="2050" b="0" i="0">
                <a:solidFill>
                  <a:srgbClr val="1F2328"/>
                </a:solidFill>
                <a:latin typeface="Courier New"/>
              </a:rPr>
              <a:t>y_test</a:t>
            </a:r>
            <a:r>
              <a:rPr sz="2050" b="0" i="0">
                <a:solidFill>
                  <a:srgbClr val="1F2328"/>
                </a:solidFill>
                <a:latin typeface="Courier New"/>
              </a:rPr>
              <a:t>,</a:t>
            </a:r>
            <a:r>
              <a:rPr sz="2050" b="0" i="0">
                <a:solidFill>
                  <a:srgbClr val="1F2328"/>
                </a:solidFill>
                <a:latin typeface="Courier New"/>
              </a:rPr>
              <a:t> </a:t>
            </a:r>
            <a:r>
              <a:rPr sz="2050" b="0" i="0">
                <a:solidFill>
                  <a:srgbClr val="1F2328"/>
                </a:solidFill>
                <a:latin typeface="Courier New"/>
              </a:rPr>
              <a:t>p</a:t>
            </a:r>
            <a:r>
              <a:rPr sz="2050" b="0" i="0">
                <a:solidFill>
                  <a:srgbClr val="1F2328"/>
                </a:solidFill>
                <a:latin typeface="Courier New"/>
              </a:rPr>
              <a:t>)</a:t>
            </a:r>
            <a:r>
              <a:rPr sz="2050" b="0" i="0">
                <a:solidFill>
                  <a:srgbClr val="1F2328"/>
                </a:solidFill>
                <a:latin typeface="Courier New"/>
              </a:rPr>
              <a:t>)</a:t>
            </a:r>
          </a:p>
        </p:txBody>
      </p:sp>
      <p:grpSp>
        <p:nvGrpSpPr>
          <p:cNvPr id="7" name="says-1"/>
          <p:cNvGrpSpPr/>
          <p:nvPr/>
        </p:nvGrpSpPr>
        <p:grpSpPr>
          <a:xfrm>
            <a:off x="685800" y="5145023"/>
            <a:ext cx="3332378" cy="1054608"/>
            <a:chOff x="685800" y="5145023"/>
            <a:chExt cx="3332378" cy="1054608"/>
          </a:xfrm>
        </p:grpSpPr>
        <p:cxnSp>
          <p:nvCxnSpPr>
            <p:cNvPr id="8" name="Connector 7"/>
            <p:cNvCxnSpPr/>
            <p:nvPr/>
          </p:nvCxnSpPr>
          <p:spPr>
            <a:xfrm>
              <a:off x="685800" y="5145023"/>
              <a:ext cx="3332378" cy="0"/>
            </a:xfrm>
            <a:prstGeom prst="line">
              <a:avLst/>
            </a:prstGeom>
            <a:ln w="15875">
              <a:solidFill>
                <a:srgbClr val="1F2328"/>
              </a:solidFill>
            </a:ln>
          </p:spPr>
        </p:cxnSp>
        <p:sp>
          <p:nvSpPr>
            <p:cNvPr id="9" name="TextBox 8"/>
            <p:cNvSpPr txBox="1"/>
            <p:nvPr/>
          </p:nvSpPr>
          <p:spPr>
            <a:xfrm>
              <a:off x="685800" y="5218175"/>
              <a:ext cx="292608" cy="981456"/>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0" name="TextBox 9"/>
            <p:cNvSpPr txBox="1"/>
            <p:nvPr/>
          </p:nvSpPr>
          <p:spPr>
            <a:xfrm>
              <a:off x="1033271" y="5218175"/>
              <a:ext cx="2984906" cy="981456"/>
            </a:xfrm>
            <a:prstGeom prst="rect">
              <a:avLst/>
            </a:prstGeom>
            <a:noFill/>
          </p:spPr>
          <p:txBody>
            <a:bodyPr wrap="square" lIns="0" rIns="0" tIns="18288" bIns="18288" anchor="t">
              <a:spAutoFit/>
            </a:bodyPr>
            <a:lstStyle/>
            <a:p>
              <a:pPr algn="l"/>
              <a:r>
                <a:rPr sz="1900" b="0" i="0">
                  <a:solidFill>
                    <a:srgbClr val="1F2328"/>
                  </a:solidFill>
                  <a:latin typeface="Calibri"/>
                </a:rPr>
                <a:t>stratify keeps the same share of defaults in both parts.</a:t>
              </a:r>
            </a:p>
          </p:txBody>
        </p:sp>
      </p:grpSp>
      <p:grpSp>
        <p:nvGrpSpPr>
          <p:cNvPr id="11" name="says-2"/>
          <p:cNvGrpSpPr/>
          <p:nvPr/>
        </p:nvGrpSpPr>
        <p:grpSpPr>
          <a:xfrm>
            <a:off x="4429658" y="5145023"/>
            <a:ext cx="3332378" cy="1054608"/>
            <a:chOff x="4429658" y="5145023"/>
            <a:chExt cx="3332378" cy="1054608"/>
          </a:xfrm>
        </p:grpSpPr>
        <p:cxnSp>
          <p:nvCxnSpPr>
            <p:cNvPr id="12" name="Connector 11"/>
            <p:cNvCxnSpPr/>
            <p:nvPr/>
          </p:nvCxnSpPr>
          <p:spPr>
            <a:xfrm>
              <a:off x="4429658" y="5145023"/>
              <a:ext cx="3332378" cy="0"/>
            </a:xfrm>
            <a:prstGeom prst="line">
              <a:avLst/>
            </a:prstGeom>
            <a:ln w="15875">
              <a:solidFill>
                <a:srgbClr val="1F2328"/>
              </a:solidFill>
            </a:ln>
          </p:spPr>
        </p:cxnSp>
        <p:sp>
          <p:nvSpPr>
            <p:cNvPr id="13" name="TextBox 12"/>
            <p:cNvSpPr txBox="1"/>
            <p:nvPr/>
          </p:nvSpPr>
          <p:spPr>
            <a:xfrm>
              <a:off x="4429658" y="5218175"/>
              <a:ext cx="292608" cy="981456"/>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4" name="TextBox 13"/>
            <p:cNvSpPr txBox="1"/>
            <p:nvPr/>
          </p:nvSpPr>
          <p:spPr>
            <a:xfrm>
              <a:off x="4777130" y="5218175"/>
              <a:ext cx="2984906" cy="981456"/>
            </a:xfrm>
            <a:prstGeom prst="rect">
              <a:avLst/>
            </a:prstGeom>
            <a:noFill/>
          </p:spPr>
          <p:txBody>
            <a:bodyPr wrap="square" lIns="0" rIns="0" tIns="18288" bIns="18288" anchor="t">
              <a:spAutoFit/>
            </a:bodyPr>
            <a:lstStyle/>
            <a:p>
              <a:pPr algn="l"/>
              <a:r>
                <a:rPr sz="1900" b="0" i="0">
                  <a:solidFill>
                    <a:srgbClr val="1F2328"/>
                  </a:solidFill>
                  <a:latin typeface="Calibri"/>
                </a:rPr>
                <a:t>200 trees. random_state fixes the dice so you can repeat the run.</a:t>
              </a:r>
            </a:p>
          </p:txBody>
        </p:sp>
      </p:grpSp>
      <p:grpSp>
        <p:nvGrpSpPr>
          <p:cNvPr id="15" name="says-3"/>
          <p:cNvGrpSpPr/>
          <p:nvPr/>
        </p:nvGrpSpPr>
        <p:grpSpPr>
          <a:xfrm>
            <a:off x="8173516" y="5145023"/>
            <a:ext cx="3332379" cy="1054608"/>
            <a:chOff x="8173516" y="5145023"/>
            <a:chExt cx="3332379" cy="1054608"/>
          </a:xfrm>
        </p:grpSpPr>
        <p:cxnSp>
          <p:nvCxnSpPr>
            <p:cNvPr id="16" name="Connector 15"/>
            <p:cNvCxnSpPr/>
            <p:nvPr/>
          </p:nvCxnSpPr>
          <p:spPr>
            <a:xfrm>
              <a:off x="8173516" y="5145023"/>
              <a:ext cx="3332379" cy="0"/>
            </a:xfrm>
            <a:prstGeom prst="line">
              <a:avLst/>
            </a:prstGeom>
            <a:ln w="15875">
              <a:solidFill>
                <a:srgbClr val="1F2328"/>
              </a:solidFill>
            </a:ln>
          </p:spPr>
        </p:cxnSp>
        <p:sp>
          <p:nvSpPr>
            <p:cNvPr id="17" name="TextBox 16"/>
            <p:cNvSpPr txBox="1"/>
            <p:nvPr/>
          </p:nvSpPr>
          <p:spPr>
            <a:xfrm>
              <a:off x="8173516" y="5218175"/>
              <a:ext cx="292608" cy="981456"/>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18" name="TextBox 17"/>
            <p:cNvSpPr txBox="1"/>
            <p:nvPr/>
          </p:nvSpPr>
          <p:spPr>
            <a:xfrm>
              <a:off x="8520988" y="5218175"/>
              <a:ext cx="2984906" cy="981456"/>
            </a:xfrm>
            <a:prstGeom prst="rect">
              <a:avLst/>
            </a:prstGeom>
            <a:noFill/>
          </p:spPr>
          <p:txBody>
            <a:bodyPr wrap="square" lIns="0" rIns="0" tIns="18288" bIns="18288" anchor="t">
              <a:spAutoFit/>
            </a:bodyPr>
            <a:lstStyle/>
            <a:p>
              <a:pPr algn="l"/>
              <a:r>
                <a:rPr sz="1900" b="0" i="0">
                  <a:solidFill>
                    <a:srgbClr val="1F2328"/>
                  </a:solidFill>
                  <a:latin typeface="Calibri"/>
                </a:rPr>
                <a:t>predict_proba gives a probability. Column 1 is default.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near perfect score on the training loans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17   Forests, boosting and overfitting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11</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You fit a forest and score it on the same loans it learned from. The AUC is close to one. It runs with no error and looks like a triumph.</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Deep trees can remember every training loan. The training score shows how well the model memorised, and says little about new borrowers.</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Report the test score, and print the training score beside it. A large gap between the two is the warning sign.</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Boosting: each tree repairs the last one's mistakes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17   Forests, boosting and overfitting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sp>
        <p:nvSpPr>
          <p:cNvPr id="5" name="Oval 4"/>
          <p:cNvSpPr/>
          <p:nvPr/>
        </p:nvSpPr>
        <p:spPr>
          <a:xfrm>
            <a:off x="1234440" y="2263140"/>
            <a:ext cx="4663440" cy="3383280"/>
          </a:xfrm>
          <a:prstGeom prst="ellipse">
            <a:avLst/>
          </a:prstGeom>
          <a:noFill/>
          <a:ln w="15875">
            <a:solidFill>
              <a:srgbClr val="1F2328"/>
            </a:solidFill>
          </a:ln>
        </p:spPr>
        <p:txBody>
          <a:bodyPr rtlCol="0" anchor="ctr"/>
          <a:lstStyle/>
          <a:p>
            <a:pPr algn="ctr"/>
          </a:p>
        </p:txBody>
      </p:sp>
      <p:sp>
        <p:nvSpPr>
          <p:cNvPr id="6" name="TextBox 5"/>
          <p:cNvSpPr txBox="1"/>
          <p:nvPr/>
        </p:nvSpPr>
        <p:spPr>
          <a:xfrm>
            <a:off x="2560320" y="3589020"/>
            <a:ext cx="2011680" cy="731520"/>
          </a:xfrm>
          <a:prstGeom prst="rect">
            <a:avLst/>
          </a:prstGeom>
          <a:noFill/>
        </p:spPr>
        <p:txBody>
          <a:bodyPr wrap="square" lIns="0" rIns="0" tIns="18288" bIns="18288" anchor="ctr">
            <a:spAutoFit/>
          </a:bodyPr>
          <a:lstStyle/>
          <a:p>
            <a:pPr algn="ctr"/>
            <a:r>
              <a:rPr sz="2200" b="0" i="1">
                <a:solidFill>
                  <a:srgbClr val="6A6F75"/>
                </a:solidFill>
                <a:latin typeface="Cambria"/>
              </a:rPr>
              <a:t>Boosting</a:t>
            </a:r>
          </a:p>
        </p:txBody>
      </p:sp>
      <p:grpSp>
        <p:nvGrpSpPr>
          <p:cNvPr id="7" name="step-1"/>
          <p:cNvGrpSpPr/>
          <p:nvPr/>
        </p:nvGrpSpPr>
        <p:grpSpPr>
          <a:xfrm>
            <a:off x="2560320" y="1696212"/>
            <a:ext cx="2011680" cy="685800"/>
            <a:chOff x="2560320" y="1696212"/>
            <a:chExt cx="2011680" cy="685800"/>
          </a:xfrm>
        </p:grpSpPr>
        <p:sp>
          <p:nvSpPr>
            <p:cNvPr id="8" name="Oval 7"/>
            <p:cNvSpPr/>
            <p:nvPr/>
          </p:nvSpPr>
          <p:spPr>
            <a:xfrm>
              <a:off x="3447288" y="2144268"/>
              <a:ext cx="237744" cy="237744"/>
            </a:xfrm>
            <a:prstGeom prst="ellipse">
              <a:avLst/>
            </a:prstGeom>
            <a:solidFill>
              <a:srgbClr val="1F2328"/>
            </a:solidFill>
            <a:ln w="19050">
              <a:solidFill>
                <a:srgbClr val="1F2328"/>
              </a:solidFill>
            </a:ln>
          </p:spPr>
          <p:txBody>
            <a:bodyPr rtlCol="0" anchor="ctr"/>
            <a:lstStyle/>
            <a:p>
              <a:pPr algn="ctr"/>
            </a:p>
          </p:txBody>
        </p:sp>
        <p:sp>
          <p:nvSpPr>
            <p:cNvPr id="9" name="TextBox 8"/>
            <p:cNvSpPr txBox="1"/>
            <p:nvPr/>
          </p:nvSpPr>
          <p:spPr>
            <a:xfrm>
              <a:off x="2560320" y="1696212"/>
              <a:ext cx="2011680" cy="384048"/>
            </a:xfrm>
            <a:prstGeom prst="rect">
              <a:avLst/>
            </a:prstGeom>
            <a:noFill/>
          </p:spPr>
          <p:txBody>
            <a:bodyPr wrap="square" lIns="0" rIns="0" tIns="18288" bIns="18288" anchor="t">
              <a:spAutoFit/>
            </a:bodyPr>
            <a:lstStyle/>
            <a:p>
              <a:pPr algn="ctr"/>
              <a:r>
                <a:rPr sz="2200" b="1" i="0">
                  <a:solidFill>
                    <a:srgbClr val="1F2328"/>
                  </a:solidFill>
                  <a:latin typeface="Cambria"/>
                </a:rPr>
                <a:t>Start simple</a:t>
              </a:r>
            </a:p>
          </p:txBody>
        </p:sp>
      </p:grpSp>
      <p:grpSp>
        <p:nvGrpSpPr>
          <p:cNvPr id="10" name="step-2"/>
          <p:cNvGrpSpPr/>
          <p:nvPr/>
        </p:nvGrpSpPr>
        <p:grpSpPr>
          <a:xfrm>
            <a:off x="5779007" y="3771900"/>
            <a:ext cx="2359152" cy="384048"/>
            <a:chOff x="5779007" y="3771900"/>
            <a:chExt cx="2359152" cy="384048"/>
          </a:xfrm>
        </p:grpSpPr>
        <p:sp>
          <p:nvSpPr>
            <p:cNvPr id="11" name="Oval 10"/>
            <p:cNvSpPr/>
            <p:nvPr/>
          </p:nvSpPr>
          <p:spPr>
            <a:xfrm>
              <a:off x="5779007" y="3835908"/>
              <a:ext cx="237744" cy="237744"/>
            </a:xfrm>
            <a:prstGeom prst="ellipse">
              <a:avLst/>
            </a:prstGeom>
            <a:solidFill>
              <a:srgbClr val="1F2328"/>
            </a:solidFill>
            <a:ln w="19050">
              <a:solidFill>
                <a:srgbClr val="1F2328"/>
              </a:solidFill>
            </a:ln>
          </p:spPr>
          <p:txBody>
            <a:bodyPr rtlCol="0" anchor="ctr"/>
            <a:lstStyle/>
            <a:p>
              <a:pPr algn="ctr"/>
            </a:p>
          </p:txBody>
        </p:sp>
        <p:sp>
          <p:nvSpPr>
            <p:cNvPr id="12" name="TextBox 11"/>
            <p:cNvSpPr txBox="1"/>
            <p:nvPr/>
          </p:nvSpPr>
          <p:spPr>
            <a:xfrm>
              <a:off x="6126479" y="3771900"/>
              <a:ext cx="2011680" cy="384048"/>
            </a:xfrm>
            <a:prstGeom prst="rect">
              <a:avLst/>
            </a:prstGeom>
            <a:noFill/>
          </p:spPr>
          <p:txBody>
            <a:bodyPr wrap="square" lIns="0" rIns="0" tIns="18288" bIns="18288" anchor="t">
              <a:spAutoFit/>
            </a:bodyPr>
            <a:lstStyle/>
            <a:p>
              <a:pPr algn="l"/>
              <a:r>
                <a:rPr sz="2200" b="1" i="0">
                  <a:solidFill>
                    <a:srgbClr val="1F2328"/>
                  </a:solidFill>
                  <a:latin typeface="Cambria"/>
                </a:rPr>
                <a:t>Find the misses</a:t>
              </a:r>
            </a:p>
          </p:txBody>
        </p:sp>
      </p:grpSp>
      <p:grpSp>
        <p:nvGrpSpPr>
          <p:cNvPr id="13" name="step-3"/>
          <p:cNvGrpSpPr/>
          <p:nvPr/>
        </p:nvGrpSpPr>
        <p:grpSpPr>
          <a:xfrm>
            <a:off x="2560320" y="5527548"/>
            <a:ext cx="2011680" cy="685800"/>
            <a:chOff x="2560320" y="5527548"/>
            <a:chExt cx="2011680" cy="685800"/>
          </a:xfrm>
        </p:grpSpPr>
        <p:sp>
          <p:nvSpPr>
            <p:cNvPr id="14" name="Oval 13"/>
            <p:cNvSpPr/>
            <p:nvPr/>
          </p:nvSpPr>
          <p:spPr>
            <a:xfrm>
              <a:off x="3447288" y="5527548"/>
              <a:ext cx="237744" cy="237744"/>
            </a:xfrm>
            <a:prstGeom prst="ellipse">
              <a:avLst/>
            </a:prstGeom>
            <a:solidFill>
              <a:srgbClr val="1F2328"/>
            </a:solidFill>
            <a:ln w="19050">
              <a:solidFill>
                <a:srgbClr val="1F2328"/>
              </a:solidFill>
            </a:ln>
          </p:spPr>
          <p:txBody>
            <a:bodyPr rtlCol="0" anchor="ctr"/>
            <a:lstStyle/>
            <a:p>
              <a:pPr algn="ctr"/>
            </a:p>
          </p:txBody>
        </p:sp>
        <p:sp>
          <p:nvSpPr>
            <p:cNvPr id="15" name="TextBox 14"/>
            <p:cNvSpPr txBox="1"/>
            <p:nvPr/>
          </p:nvSpPr>
          <p:spPr>
            <a:xfrm>
              <a:off x="2560320" y="5829300"/>
              <a:ext cx="2011680" cy="384048"/>
            </a:xfrm>
            <a:prstGeom prst="rect">
              <a:avLst/>
            </a:prstGeom>
            <a:noFill/>
          </p:spPr>
          <p:txBody>
            <a:bodyPr wrap="square" lIns="0" rIns="0" tIns="18288" bIns="18288" anchor="t">
              <a:spAutoFit/>
            </a:bodyPr>
            <a:lstStyle/>
            <a:p>
              <a:pPr algn="ctr"/>
              <a:r>
                <a:rPr sz="2100" b="1" i="0">
                  <a:solidFill>
                    <a:srgbClr val="1F2328"/>
                  </a:solidFill>
                  <a:latin typeface="Cambria"/>
                </a:rPr>
                <a:t>Add a small tree</a:t>
              </a:r>
            </a:p>
          </p:txBody>
        </p:sp>
      </p:grpSp>
      <p:grpSp>
        <p:nvGrpSpPr>
          <p:cNvPr id="16" name="step-4"/>
          <p:cNvGrpSpPr/>
          <p:nvPr/>
        </p:nvGrpSpPr>
        <p:grpSpPr>
          <a:xfrm>
            <a:off x="-1005840" y="3771900"/>
            <a:ext cx="2359152" cy="384048"/>
            <a:chOff x="-1005840" y="3771900"/>
            <a:chExt cx="2359152" cy="384048"/>
          </a:xfrm>
        </p:grpSpPr>
        <p:sp>
          <p:nvSpPr>
            <p:cNvPr id="17" name="Oval 16"/>
            <p:cNvSpPr/>
            <p:nvPr/>
          </p:nvSpPr>
          <p:spPr>
            <a:xfrm>
              <a:off x="1115568" y="3835908"/>
              <a:ext cx="237744" cy="237744"/>
            </a:xfrm>
            <a:prstGeom prst="ellipse">
              <a:avLst/>
            </a:prstGeom>
            <a:solidFill>
              <a:srgbClr val="1F2328"/>
            </a:solidFill>
            <a:ln w="19050">
              <a:solidFill>
                <a:srgbClr val="1F2328"/>
              </a:solidFill>
            </a:ln>
          </p:spPr>
          <p:txBody>
            <a:bodyPr rtlCol="0" anchor="ctr"/>
            <a:lstStyle/>
            <a:p>
              <a:pPr algn="ctr"/>
            </a:p>
          </p:txBody>
        </p:sp>
        <p:sp>
          <p:nvSpPr>
            <p:cNvPr id="18" name="TextBox 17"/>
            <p:cNvSpPr txBox="1"/>
            <p:nvPr/>
          </p:nvSpPr>
          <p:spPr>
            <a:xfrm>
              <a:off x="-1005840" y="3771900"/>
              <a:ext cx="2011680" cy="384048"/>
            </a:xfrm>
            <a:prstGeom prst="rect">
              <a:avLst/>
            </a:prstGeom>
            <a:noFill/>
          </p:spPr>
          <p:txBody>
            <a:bodyPr wrap="square" lIns="0" rIns="0" tIns="18288" bIns="18288" anchor="t">
              <a:spAutoFit/>
            </a:bodyPr>
            <a:lstStyle/>
            <a:p>
              <a:pPr algn="r"/>
              <a:r>
                <a:rPr sz="2050" b="1" i="0">
                  <a:solidFill>
                    <a:srgbClr val="1F2328"/>
                  </a:solidFill>
                  <a:latin typeface="Cambria"/>
                </a:rPr>
                <a:t>Add a bit, repeat</a:t>
              </a:r>
            </a:p>
          </p:txBody>
        </p:sp>
      </p:grpSp>
      <p:cxnSp>
        <p:nvCxnSpPr>
          <p:cNvPr id="19" name="Connector 18"/>
          <p:cNvCxnSpPr/>
          <p:nvPr/>
        </p:nvCxnSpPr>
        <p:spPr>
          <a:xfrm>
            <a:off x="7223760" y="1618488"/>
            <a:ext cx="4282135" cy="0"/>
          </a:xfrm>
          <a:prstGeom prst="line">
            <a:avLst/>
          </a:prstGeom>
          <a:ln w="15875">
            <a:solidFill>
              <a:srgbClr val="1F2328"/>
            </a:solidFill>
          </a:ln>
        </p:spPr>
      </p:cxnSp>
      <p:grpSp>
        <p:nvGrpSpPr>
          <p:cNvPr id="20" name="note-1"/>
          <p:cNvGrpSpPr/>
          <p:nvPr/>
        </p:nvGrpSpPr>
        <p:grpSpPr>
          <a:xfrm>
            <a:off x="7223760" y="1673352"/>
            <a:ext cx="4282135" cy="1076706"/>
            <a:chOff x="7223760" y="1673352"/>
            <a:chExt cx="4282135" cy="1076706"/>
          </a:xfrm>
        </p:grpSpPr>
        <p:sp>
          <p:nvSpPr>
            <p:cNvPr id="21" name="TextBox 20"/>
            <p:cNvSpPr txBox="1"/>
            <p:nvPr/>
          </p:nvSpPr>
          <p:spPr>
            <a:xfrm>
              <a:off x="7223760" y="1673352"/>
              <a:ext cx="4282135" cy="1040130"/>
            </a:xfrm>
            <a:prstGeom prst="rect">
              <a:avLst/>
            </a:prstGeom>
            <a:noFill/>
          </p:spPr>
          <p:txBody>
            <a:bodyPr wrap="square" lIns="0" rIns="0" tIns="18288" bIns="18288" anchor="t">
              <a:spAutoFit/>
            </a:bodyPr>
            <a:lstStyle/>
            <a:p>
              <a:pPr algn="l"/>
              <a:r>
                <a:rPr sz="1900" b="1" i="0">
                  <a:solidFill>
                    <a:srgbClr val="1F2328"/>
                  </a:solidFill>
                  <a:latin typeface="Calibri"/>
                </a:rPr>
                <a:t>Start simple. </a:t>
              </a:r>
              <a:r>
                <a:rPr sz="1900" b="0" i="0">
                  <a:solidFill>
                    <a:srgbClr val="3B4046"/>
                  </a:solidFill>
                  <a:latin typeface="Calibri"/>
                </a:rPr>
                <a:t>A very small first tree, a rough guess.</a:t>
              </a:r>
            </a:p>
          </p:txBody>
        </p:sp>
        <p:cxnSp>
          <p:nvCxnSpPr>
            <p:cNvPr id="22" name="Connector 21"/>
            <p:cNvCxnSpPr/>
            <p:nvPr/>
          </p:nvCxnSpPr>
          <p:spPr>
            <a:xfrm>
              <a:off x="7223760" y="2750058"/>
              <a:ext cx="4282135" cy="0"/>
            </a:xfrm>
            <a:prstGeom prst="line">
              <a:avLst/>
            </a:prstGeom>
            <a:ln w="6350">
              <a:solidFill>
                <a:srgbClr val="C9C5BC"/>
              </a:solidFill>
            </a:ln>
          </p:spPr>
        </p:cxnSp>
      </p:grpSp>
      <p:grpSp>
        <p:nvGrpSpPr>
          <p:cNvPr id="23" name="note-2"/>
          <p:cNvGrpSpPr/>
          <p:nvPr/>
        </p:nvGrpSpPr>
        <p:grpSpPr>
          <a:xfrm>
            <a:off x="7223760" y="2804922"/>
            <a:ext cx="4282135" cy="1076706"/>
            <a:chOff x="7223760" y="2804922"/>
            <a:chExt cx="4282135" cy="1076706"/>
          </a:xfrm>
        </p:grpSpPr>
        <p:sp>
          <p:nvSpPr>
            <p:cNvPr id="24" name="TextBox 23"/>
            <p:cNvSpPr txBox="1"/>
            <p:nvPr/>
          </p:nvSpPr>
          <p:spPr>
            <a:xfrm>
              <a:off x="7223760" y="2804922"/>
              <a:ext cx="4282135" cy="1040130"/>
            </a:xfrm>
            <a:prstGeom prst="rect">
              <a:avLst/>
            </a:prstGeom>
            <a:noFill/>
          </p:spPr>
          <p:txBody>
            <a:bodyPr wrap="square" lIns="0" rIns="0" tIns="18288" bIns="18288" anchor="t">
              <a:spAutoFit/>
            </a:bodyPr>
            <a:lstStyle/>
            <a:p>
              <a:pPr algn="l"/>
              <a:r>
                <a:rPr sz="1900" b="1" i="0">
                  <a:solidFill>
                    <a:srgbClr val="1F2328"/>
                  </a:solidFill>
                  <a:latin typeface="Calibri"/>
                </a:rPr>
                <a:t>Find the misses. </a:t>
              </a:r>
              <a:r>
                <a:rPr sz="1900" b="0" i="0">
                  <a:solidFill>
                    <a:srgbClr val="3B4046"/>
                  </a:solidFill>
                  <a:latin typeface="Calibri"/>
                </a:rPr>
                <a:t>Which loans did it get wrong?</a:t>
              </a:r>
            </a:p>
          </p:txBody>
        </p:sp>
        <p:cxnSp>
          <p:nvCxnSpPr>
            <p:cNvPr id="25" name="Connector 24"/>
            <p:cNvCxnSpPr/>
            <p:nvPr/>
          </p:nvCxnSpPr>
          <p:spPr>
            <a:xfrm>
              <a:off x="7223760" y="3881628"/>
              <a:ext cx="4282135" cy="0"/>
            </a:xfrm>
            <a:prstGeom prst="line">
              <a:avLst/>
            </a:prstGeom>
            <a:ln w="6350">
              <a:solidFill>
                <a:srgbClr val="C9C5BC"/>
              </a:solidFill>
            </a:ln>
          </p:spPr>
        </p:cxnSp>
      </p:grpSp>
      <p:grpSp>
        <p:nvGrpSpPr>
          <p:cNvPr id="26" name="note-3"/>
          <p:cNvGrpSpPr/>
          <p:nvPr/>
        </p:nvGrpSpPr>
        <p:grpSpPr>
          <a:xfrm>
            <a:off x="7223760" y="3936491"/>
            <a:ext cx="4282135" cy="1076707"/>
            <a:chOff x="7223760" y="3936491"/>
            <a:chExt cx="4282135" cy="1076707"/>
          </a:xfrm>
        </p:grpSpPr>
        <p:sp>
          <p:nvSpPr>
            <p:cNvPr id="27" name="TextBox 26"/>
            <p:cNvSpPr txBox="1"/>
            <p:nvPr/>
          </p:nvSpPr>
          <p:spPr>
            <a:xfrm>
              <a:off x="7223760" y="3936491"/>
              <a:ext cx="4282135" cy="1040130"/>
            </a:xfrm>
            <a:prstGeom prst="rect">
              <a:avLst/>
            </a:prstGeom>
            <a:noFill/>
          </p:spPr>
          <p:txBody>
            <a:bodyPr wrap="square" lIns="0" rIns="0" tIns="18288" bIns="18288" anchor="t">
              <a:spAutoFit/>
            </a:bodyPr>
            <a:lstStyle/>
            <a:p>
              <a:pPr algn="l"/>
              <a:r>
                <a:rPr sz="1900" b="1" i="0">
                  <a:solidFill>
                    <a:srgbClr val="1F2328"/>
                  </a:solidFill>
                  <a:latin typeface="Calibri"/>
                </a:rPr>
                <a:t>Add a small tree. </a:t>
              </a:r>
              <a:r>
                <a:rPr sz="1900" b="0" i="0">
                  <a:solidFill>
                    <a:srgbClr val="3B4046"/>
                  </a:solidFill>
                  <a:latin typeface="Calibri"/>
                </a:rPr>
                <a:t>Aim it at those mistakes.</a:t>
              </a:r>
            </a:p>
          </p:txBody>
        </p:sp>
        <p:cxnSp>
          <p:nvCxnSpPr>
            <p:cNvPr id="28" name="Connector 27"/>
            <p:cNvCxnSpPr/>
            <p:nvPr/>
          </p:nvCxnSpPr>
          <p:spPr>
            <a:xfrm>
              <a:off x="7223760" y="5013198"/>
              <a:ext cx="4282135" cy="0"/>
            </a:xfrm>
            <a:prstGeom prst="line">
              <a:avLst/>
            </a:prstGeom>
            <a:ln w="6350">
              <a:solidFill>
                <a:srgbClr val="C9C5BC"/>
              </a:solidFill>
            </a:ln>
          </p:spPr>
        </p:cxnSp>
      </p:grpSp>
      <p:grpSp>
        <p:nvGrpSpPr>
          <p:cNvPr id="29" name="note-4"/>
          <p:cNvGrpSpPr/>
          <p:nvPr/>
        </p:nvGrpSpPr>
        <p:grpSpPr>
          <a:xfrm>
            <a:off x="7223760" y="5068062"/>
            <a:ext cx="4282135" cy="1076706"/>
            <a:chOff x="7223760" y="5068062"/>
            <a:chExt cx="4282135" cy="1076706"/>
          </a:xfrm>
        </p:grpSpPr>
        <p:sp>
          <p:nvSpPr>
            <p:cNvPr id="30" name="TextBox 29"/>
            <p:cNvSpPr txBox="1"/>
            <p:nvPr/>
          </p:nvSpPr>
          <p:spPr>
            <a:xfrm>
              <a:off x="7223760" y="5068062"/>
              <a:ext cx="4282135" cy="1040130"/>
            </a:xfrm>
            <a:prstGeom prst="rect">
              <a:avLst/>
            </a:prstGeom>
            <a:noFill/>
          </p:spPr>
          <p:txBody>
            <a:bodyPr wrap="square" lIns="0" rIns="0" tIns="18288" bIns="18288" anchor="t">
              <a:spAutoFit/>
            </a:bodyPr>
            <a:lstStyle/>
            <a:p>
              <a:pPr algn="l"/>
              <a:r>
                <a:rPr sz="1900" b="1" i="0">
                  <a:solidFill>
                    <a:srgbClr val="1F2328"/>
                  </a:solidFill>
                  <a:latin typeface="Calibri"/>
                </a:rPr>
                <a:t>Add a bit, repeat. </a:t>
              </a:r>
              <a:r>
                <a:rPr sz="1900" b="0" i="0">
                  <a:solidFill>
                    <a:srgbClr val="3B4046"/>
                  </a:solidFill>
                  <a:latin typeface="Calibri"/>
                </a:rPr>
                <a:t>Scale the fix down, then loop a few hundred times.</a:t>
              </a:r>
            </a:p>
          </p:txBody>
        </p:sp>
        <p:cxnSp>
          <p:nvCxnSpPr>
            <p:cNvPr id="31" name="Connector 30"/>
            <p:cNvCxnSpPr/>
            <p:nvPr/>
          </p:nvCxnSpPr>
          <p:spPr>
            <a:xfrm>
              <a:off x="7223760" y="6144768"/>
              <a:ext cx="4282135"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par>
                                <p:cTn id="6" presetID="10" presetClass="entr" presetSubtype="0" fill="hold"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Fit a gradient boosting model</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17   Forests, boosting and overfitting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sp>
        <p:nvSpPr>
          <p:cNvPr id="5" name="Rectangle 4"/>
          <p:cNvSpPr/>
          <p:nvPr/>
        </p:nvSpPr>
        <p:spPr>
          <a:xfrm>
            <a:off x="685800" y="1600200"/>
            <a:ext cx="10820095" cy="274929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2474976"/>
          </a:xfrm>
          <a:prstGeom prst="rect">
            <a:avLst/>
          </a:prstGeom>
          <a:noFill/>
        </p:spPr>
        <p:txBody>
          <a:bodyPr wrap="none" lIns="0" rIns="0" tIns="0" bIns="0">
            <a:spAutoFit/>
          </a:bodyPr>
          <a:lstStyle/>
          <a:p>
            <a:r>
              <a:rPr sz="2000" b="1" i="0">
                <a:solidFill>
                  <a:srgbClr val="1F2328"/>
                </a:solidFill>
                <a:latin typeface="Courier New"/>
              </a:rPr>
              <a:t>from</a:t>
            </a:r>
            <a:r>
              <a:rPr sz="2000" b="0" i="0">
                <a:solidFill>
                  <a:srgbClr val="1F2328"/>
                </a:solidFill>
                <a:latin typeface="Courier New"/>
              </a:rPr>
              <a:t> </a:t>
            </a:r>
            <a:r>
              <a:rPr sz="2000" b="0" i="0">
                <a:solidFill>
                  <a:srgbClr val="1F2328"/>
                </a:solidFill>
                <a:latin typeface="Courier New"/>
              </a:rPr>
              <a:t>sklearn</a:t>
            </a:r>
            <a:r>
              <a:rPr sz="2000" b="0" i="0">
                <a:solidFill>
                  <a:srgbClr val="1F2328"/>
                </a:solidFill>
                <a:latin typeface="Courier New"/>
              </a:rPr>
              <a:t>.</a:t>
            </a:r>
            <a:r>
              <a:rPr sz="2000" b="0" i="0">
                <a:solidFill>
                  <a:srgbClr val="1F2328"/>
                </a:solidFill>
                <a:latin typeface="Courier New"/>
              </a:rPr>
              <a:t>ensemble</a:t>
            </a:r>
            <a:r>
              <a:rPr sz="2000" b="0" i="0">
                <a:solidFill>
                  <a:srgbClr val="1F2328"/>
                </a:solidFill>
                <a:latin typeface="Courier New"/>
              </a:rPr>
              <a:t> </a:t>
            </a:r>
            <a:r>
              <a:rPr sz="2000" b="1" i="0">
                <a:solidFill>
                  <a:srgbClr val="1F2328"/>
                </a:solidFill>
                <a:latin typeface="Courier New"/>
              </a:rPr>
              <a:t>import</a:t>
            </a:r>
            <a:r>
              <a:rPr sz="2000" b="0" i="0">
                <a:solidFill>
                  <a:srgbClr val="1F2328"/>
                </a:solidFill>
                <a:latin typeface="Courier New"/>
              </a:rPr>
              <a:t> </a:t>
            </a:r>
            <a:r>
              <a:rPr sz="2000" b="0" i="0">
                <a:solidFill>
                  <a:srgbClr val="1F2328"/>
                </a:solidFill>
                <a:latin typeface="Courier New"/>
              </a:rPr>
              <a:t>HistGradientBoostingClassifier</a:t>
            </a:r>
          </a:p>
          <a:p>
            <a:r>
              <a:rPr sz="2000" b="1" i="0">
                <a:solidFill>
                  <a:srgbClr val="1F2328"/>
                </a:solidFill>
                <a:latin typeface="Courier New"/>
              </a:rPr>
              <a:t>from</a:t>
            </a:r>
            <a:r>
              <a:rPr sz="2000" b="0" i="0">
                <a:solidFill>
                  <a:srgbClr val="1F2328"/>
                </a:solidFill>
                <a:latin typeface="Courier New"/>
              </a:rPr>
              <a:t> </a:t>
            </a:r>
            <a:r>
              <a:rPr sz="2000" b="0" i="0">
                <a:solidFill>
                  <a:srgbClr val="1F2328"/>
                </a:solidFill>
                <a:latin typeface="Courier New"/>
              </a:rPr>
              <a:t>sklearn</a:t>
            </a:r>
            <a:r>
              <a:rPr sz="2000" b="0" i="0">
                <a:solidFill>
                  <a:srgbClr val="1F2328"/>
                </a:solidFill>
                <a:latin typeface="Courier New"/>
              </a:rPr>
              <a:t>.</a:t>
            </a:r>
            <a:r>
              <a:rPr sz="2000" b="0" i="0">
                <a:solidFill>
                  <a:srgbClr val="1F2328"/>
                </a:solidFill>
                <a:latin typeface="Courier New"/>
              </a:rPr>
              <a:t>metrics</a:t>
            </a:r>
            <a:r>
              <a:rPr sz="2000" b="0" i="0">
                <a:solidFill>
                  <a:srgbClr val="1F2328"/>
                </a:solidFill>
                <a:latin typeface="Courier New"/>
              </a:rPr>
              <a:t> </a:t>
            </a:r>
            <a:r>
              <a:rPr sz="2000" b="1" i="0">
                <a:solidFill>
                  <a:srgbClr val="1F2328"/>
                </a:solidFill>
                <a:latin typeface="Courier New"/>
              </a:rPr>
              <a:t>import</a:t>
            </a:r>
            <a:r>
              <a:rPr sz="2000" b="0" i="0">
                <a:solidFill>
                  <a:srgbClr val="1F2328"/>
                </a:solidFill>
                <a:latin typeface="Courier New"/>
              </a:rPr>
              <a:t> </a:t>
            </a:r>
            <a:r>
              <a:rPr sz="2000" b="0" i="0">
                <a:solidFill>
                  <a:srgbClr val="1F2328"/>
                </a:solidFill>
                <a:latin typeface="Courier New"/>
              </a:rPr>
              <a:t>roc_auc_score</a:t>
            </a:r>
          </a:p>
          <a:p>
            <a:r>
              <a:rPr sz="2000" b="0" i="0">
                <a:solidFill>
                  <a:srgbClr val="1F2328"/>
                </a:solidFill>
                <a:latin typeface="Courier New"/>
              </a:rPr>
              <a:t> </a:t>
            </a:r>
          </a:p>
          <a:p>
            <a:r>
              <a:rPr sz="2000" b="0" i="0">
                <a:solidFill>
                  <a:srgbClr val="1F2328"/>
                </a:solidFill>
                <a:latin typeface="Courier New"/>
              </a:rPr>
              <a:t>boost</a:t>
            </a:r>
            <a:r>
              <a:rPr sz="2000" b="0" i="0">
                <a:solidFill>
                  <a:srgbClr val="1F2328"/>
                </a:solidFill>
                <a:latin typeface="Courier New"/>
              </a:rPr>
              <a:t> </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HistGradientBoostingClassifier</a:t>
            </a:r>
            <a:r>
              <a:rPr sz="2000" b="0" i="0">
                <a:solidFill>
                  <a:srgbClr val="1F2328"/>
                </a:solidFill>
                <a:latin typeface="Courier New"/>
              </a:rPr>
              <a:t>(</a:t>
            </a:r>
          </a:p>
          <a:p>
            <a:r>
              <a:rPr sz="2000" b="0" i="0">
                <a:solidFill>
                  <a:srgbClr val="1F2328"/>
                </a:solidFill>
                <a:latin typeface="Courier New"/>
              </a:rPr>
              <a:t> </a:t>
            </a:r>
            <a:r>
              <a:rPr sz="2000" b="0" i="0">
                <a:solidFill>
                  <a:srgbClr val="1F2328"/>
                </a:solidFill>
                <a:latin typeface="Courier New"/>
              </a:rPr>
              <a:t> </a:t>
            </a:r>
            <a:r>
              <a:rPr sz="2000" b="0" i="0">
                <a:solidFill>
                  <a:srgbClr val="1F2328"/>
                </a:solidFill>
                <a:latin typeface="Courier New"/>
              </a:rPr>
              <a:t> </a:t>
            </a:r>
            <a:r>
              <a:rPr sz="2000" b="0" i="0">
                <a:solidFill>
                  <a:srgbClr val="1F2328"/>
                </a:solidFill>
                <a:latin typeface="Courier New"/>
              </a:rPr>
              <a:t> </a:t>
            </a:r>
            <a:r>
              <a:rPr sz="2000" b="0" i="0">
                <a:solidFill>
                  <a:srgbClr val="1F2328"/>
                </a:solidFill>
                <a:latin typeface="Courier New"/>
              </a:rPr>
              <a:t>learning_rate</a:t>
            </a:r>
            <a:r>
              <a:rPr sz="2000" b="0" i="0">
                <a:solidFill>
                  <a:srgbClr val="1F2328"/>
                </a:solidFill>
                <a:latin typeface="Courier New"/>
              </a:rPr>
              <a:t>=</a:t>
            </a:r>
            <a:r>
              <a:rPr sz="2000" b="0" i="0">
                <a:solidFill>
                  <a:srgbClr val="3B4046"/>
                </a:solidFill>
                <a:latin typeface="Courier New"/>
              </a:rPr>
              <a:t>0.05</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max_iter</a:t>
            </a:r>
            <a:r>
              <a:rPr sz="2000" b="0" i="0">
                <a:solidFill>
                  <a:srgbClr val="1F2328"/>
                </a:solidFill>
                <a:latin typeface="Courier New"/>
              </a:rPr>
              <a:t>=</a:t>
            </a:r>
            <a:r>
              <a:rPr sz="2000" b="0" i="0">
                <a:solidFill>
                  <a:srgbClr val="3B4046"/>
                </a:solidFill>
                <a:latin typeface="Courier New"/>
              </a:rPr>
              <a:t>200</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max_depth</a:t>
            </a:r>
            <a:r>
              <a:rPr sz="2000" b="0" i="0">
                <a:solidFill>
                  <a:srgbClr val="1F2328"/>
                </a:solidFill>
                <a:latin typeface="Courier New"/>
              </a:rPr>
              <a:t>=</a:t>
            </a:r>
            <a:r>
              <a:rPr sz="2000" b="0" i="0">
                <a:solidFill>
                  <a:srgbClr val="3B4046"/>
                </a:solidFill>
                <a:latin typeface="Courier New"/>
              </a:rPr>
              <a:t>3</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random_state</a:t>
            </a:r>
            <a:r>
              <a:rPr sz="2000" b="0" i="0">
                <a:solidFill>
                  <a:srgbClr val="1F2328"/>
                </a:solidFill>
                <a:latin typeface="Courier New"/>
              </a:rPr>
              <a:t>=</a:t>
            </a:r>
            <a:r>
              <a:rPr sz="2000" b="0" i="0">
                <a:solidFill>
                  <a:srgbClr val="3B4046"/>
                </a:solidFill>
                <a:latin typeface="Courier New"/>
              </a:rPr>
              <a:t>42</a:t>
            </a:r>
            <a:r>
              <a:rPr sz="2000" b="0" i="0">
                <a:solidFill>
                  <a:srgbClr val="1F2328"/>
                </a:solidFill>
                <a:latin typeface="Courier New"/>
              </a:rPr>
              <a:t>)</a:t>
            </a:r>
          </a:p>
          <a:p>
            <a:r>
              <a:rPr sz="2000" b="0" i="0">
                <a:solidFill>
                  <a:srgbClr val="1F2328"/>
                </a:solidFill>
                <a:latin typeface="Courier New"/>
              </a:rPr>
              <a:t>boost</a:t>
            </a:r>
            <a:r>
              <a:rPr sz="2000" b="0" i="0">
                <a:solidFill>
                  <a:srgbClr val="1F2328"/>
                </a:solidFill>
                <a:latin typeface="Courier New"/>
              </a:rPr>
              <a:t>.</a:t>
            </a:r>
            <a:r>
              <a:rPr sz="2000" b="0" i="0">
                <a:solidFill>
                  <a:srgbClr val="1F2328"/>
                </a:solidFill>
                <a:latin typeface="Courier New"/>
              </a:rPr>
              <a:t>fit</a:t>
            </a:r>
            <a:r>
              <a:rPr sz="2000" b="0" i="0">
                <a:solidFill>
                  <a:srgbClr val="1F2328"/>
                </a:solidFill>
                <a:latin typeface="Courier New"/>
              </a:rPr>
              <a:t>(</a:t>
            </a:r>
            <a:r>
              <a:rPr sz="2000" b="0" i="0">
                <a:solidFill>
                  <a:srgbClr val="1F2328"/>
                </a:solidFill>
                <a:latin typeface="Courier New"/>
              </a:rPr>
              <a:t>X_train</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y_train</a:t>
            </a:r>
            <a:r>
              <a:rPr sz="2000" b="0" i="0">
                <a:solidFill>
                  <a:srgbClr val="1F2328"/>
                </a:solidFill>
                <a:latin typeface="Courier New"/>
              </a:rPr>
              <a:t>)</a:t>
            </a:r>
          </a:p>
          <a:p>
            <a:r>
              <a:rPr sz="2000" b="0" i="0">
                <a:solidFill>
                  <a:srgbClr val="1F2328"/>
                </a:solidFill>
                <a:latin typeface="Courier New"/>
              </a:rPr>
              <a:t>p_boost</a:t>
            </a:r>
            <a:r>
              <a:rPr sz="2000" b="0" i="0">
                <a:solidFill>
                  <a:srgbClr val="1F2328"/>
                </a:solidFill>
                <a:latin typeface="Courier New"/>
              </a:rPr>
              <a:t> </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boost</a:t>
            </a:r>
            <a:r>
              <a:rPr sz="2000" b="0" i="0">
                <a:solidFill>
                  <a:srgbClr val="1F2328"/>
                </a:solidFill>
                <a:latin typeface="Courier New"/>
              </a:rPr>
              <a:t>.</a:t>
            </a:r>
            <a:r>
              <a:rPr sz="2000" b="0" i="0">
                <a:solidFill>
                  <a:srgbClr val="1F2328"/>
                </a:solidFill>
                <a:latin typeface="Courier New"/>
              </a:rPr>
              <a:t>predict_proba</a:t>
            </a:r>
            <a:r>
              <a:rPr sz="2000" b="0" i="0">
                <a:solidFill>
                  <a:srgbClr val="1F2328"/>
                </a:solidFill>
                <a:latin typeface="Courier New"/>
              </a:rPr>
              <a:t>(</a:t>
            </a:r>
            <a:r>
              <a:rPr sz="2000" b="0" i="0">
                <a:solidFill>
                  <a:srgbClr val="1F2328"/>
                </a:solidFill>
                <a:latin typeface="Courier New"/>
              </a:rPr>
              <a:t>X_test</a:t>
            </a:r>
            <a:r>
              <a:rPr sz="2000" b="0" i="0">
                <a:solidFill>
                  <a:srgbClr val="1F2328"/>
                </a:solidFill>
                <a:latin typeface="Courier New"/>
              </a:rPr>
              <a:t>)</a:t>
            </a:r>
            <a:r>
              <a:rPr sz="2000" b="0" i="0">
                <a:solidFill>
                  <a:srgbClr val="1F2328"/>
                </a:solidFill>
                <a:latin typeface="Courier New"/>
              </a:rPr>
              <a:t>[</a:t>
            </a:r>
            <a:r>
              <a:rPr sz="2000" b="0" i="0">
                <a:solidFill>
                  <a:srgbClr val="1F2328"/>
                </a:solidFill>
                <a:latin typeface="Courier New"/>
              </a:rPr>
              <a:t>:</a:t>
            </a:r>
            <a:r>
              <a:rPr sz="2000" b="0" i="0">
                <a:solidFill>
                  <a:srgbClr val="1F2328"/>
                </a:solidFill>
                <a:latin typeface="Courier New"/>
              </a:rPr>
              <a:t>,</a:t>
            </a:r>
            <a:r>
              <a:rPr sz="2000" b="0" i="0">
                <a:solidFill>
                  <a:srgbClr val="1F2328"/>
                </a:solidFill>
                <a:latin typeface="Courier New"/>
              </a:rPr>
              <a:t> </a:t>
            </a:r>
            <a:r>
              <a:rPr sz="2000" b="0" i="0">
                <a:solidFill>
                  <a:srgbClr val="3B4046"/>
                </a:solidFill>
                <a:latin typeface="Courier New"/>
              </a:rPr>
              <a:t>1</a:t>
            </a:r>
            <a:r>
              <a:rPr sz="2000" b="0" i="0">
                <a:solidFill>
                  <a:srgbClr val="1F2328"/>
                </a:solidFill>
                <a:latin typeface="Courier New"/>
              </a:rPr>
              <a:t>]</a:t>
            </a:r>
          </a:p>
          <a:p>
            <a:r>
              <a:rPr sz="2000" b="0" i="0">
                <a:solidFill>
                  <a:srgbClr val="1F2328"/>
                </a:solidFill>
                <a:latin typeface="Courier New"/>
              </a:rPr>
              <a:t>print</a:t>
            </a:r>
            <a:r>
              <a:rPr sz="2000" b="0" i="0">
                <a:solidFill>
                  <a:srgbClr val="1F2328"/>
                </a:solidFill>
                <a:latin typeface="Courier New"/>
              </a:rPr>
              <a:t>(</a:t>
            </a:r>
            <a:r>
              <a:rPr sz="2000" b="0" i="0">
                <a:solidFill>
                  <a:srgbClr val="1F2328"/>
                </a:solidFill>
                <a:latin typeface="Courier New"/>
              </a:rPr>
              <a:t>roc_auc_score</a:t>
            </a:r>
            <a:r>
              <a:rPr sz="2000" b="0" i="0">
                <a:solidFill>
                  <a:srgbClr val="1F2328"/>
                </a:solidFill>
                <a:latin typeface="Courier New"/>
              </a:rPr>
              <a:t>(</a:t>
            </a:r>
            <a:r>
              <a:rPr sz="2000" b="0" i="0">
                <a:solidFill>
                  <a:srgbClr val="1F2328"/>
                </a:solidFill>
                <a:latin typeface="Courier New"/>
              </a:rPr>
              <a:t>y_test</a:t>
            </a:r>
            <a:r>
              <a:rPr sz="2000" b="0" i="0">
                <a:solidFill>
                  <a:srgbClr val="1F2328"/>
                </a:solidFill>
                <a:latin typeface="Courier New"/>
              </a:rPr>
              <a:t>,</a:t>
            </a:r>
            <a:r>
              <a:rPr sz="2000" b="0" i="0">
                <a:solidFill>
                  <a:srgbClr val="1F2328"/>
                </a:solidFill>
                <a:latin typeface="Courier New"/>
              </a:rPr>
              <a:t> </a:t>
            </a:r>
            <a:r>
              <a:rPr sz="2000" b="0" i="0">
                <a:solidFill>
                  <a:srgbClr val="1F2328"/>
                </a:solidFill>
                <a:latin typeface="Courier New"/>
              </a:rPr>
              <a:t>p_boost</a:t>
            </a:r>
            <a:r>
              <a:rPr sz="2000" b="0" i="0">
                <a:solidFill>
                  <a:srgbClr val="1F2328"/>
                </a:solidFill>
                <a:latin typeface="Courier New"/>
              </a:rPr>
              <a:t>)</a:t>
            </a:r>
            <a:r>
              <a:rPr sz="2000" b="0" i="0">
                <a:solidFill>
                  <a:srgbClr val="1F2328"/>
                </a:solidFill>
                <a:latin typeface="Courier New"/>
              </a:rPr>
              <a:t>)</a:t>
            </a:r>
          </a:p>
        </p:txBody>
      </p:sp>
      <p:grpSp>
        <p:nvGrpSpPr>
          <p:cNvPr id="7" name="says-1"/>
          <p:cNvGrpSpPr/>
          <p:nvPr/>
        </p:nvGrpSpPr>
        <p:grpSpPr>
          <a:xfrm>
            <a:off x="685800" y="4459223"/>
            <a:ext cx="3332378" cy="1353312"/>
            <a:chOff x="685800" y="4459223"/>
            <a:chExt cx="3332378" cy="1353312"/>
          </a:xfrm>
        </p:grpSpPr>
        <p:cxnSp>
          <p:nvCxnSpPr>
            <p:cNvPr id="8" name="Connector 7"/>
            <p:cNvCxnSpPr/>
            <p:nvPr/>
          </p:nvCxnSpPr>
          <p:spPr>
            <a:xfrm>
              <a:off x="685800" y="4459223"/>
              <a:ext cx="3332378" cy="0"/>
            </a:xfrm>
            <a:prstGeom prst="line">
              <a:avLst/>
            </a:prstGeom>
            <a:ln w="15875">
              <a:solidFill>
                <a:srgbClr val="1F2328"/>
              </a:solidFill>
            </a:ln>
          </p:spPr>
        </p:cxnSp>
        <p:sp>
          <p:nvSpPr>
            <p:cNvPr id="9" name="TextBox 8"/>
            <p:cNvSpPr txBox="1"/>
            <p:nvPr/>
          </p:nvSpPr>
          <p:spPr>
            <a:xfrm>
              <a:off x="685800" y="4532375"/>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0" name="TextBox 9"/>
            <p:cNvSpPr txBox="1"/>
            <p:nvPr/>
          </p:nvSpPr>
          <p:spPr>
            <a:xfrm>
              <a:off x="1033271" y="4532375"/>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learning_rate is the share of each correction we keep.</a:t>
              </a:r>
            </a:p>
          </p:txBody>
        </p:sp>
      </p:grpSp>
      <p:grpSp>
        <p:nvGrpSpPr>
          <p:cNvPr id="11" name="says-2"/>
          <p:cNvGrpSpPr/>
          <p:nvPr/>
        </p:nvGrpSpPr>
        <p:grpSpPr>
          <a:xfrm>
            <a:off x="4429658" y="4459223"/>
            <a:ext cx="3332378" cy="1353312"/>
            <a:chOff x="4429658" y="4459223"/>
            <a:chExt cx="3332378" cy="1353312"/>
          </a:xfrm>
        </p:grpSpPr>
        <p:cxnSp>
          <p:nvCxnSpPr>
            <p:cNvPr id="12" name="Connector 11"/>
            <p:cNvCxnSpPr/>
            <p:nvPr/>
          </p:nvCxnSpPr>
          <p:spPr>
            <a:xfrm>
              <a:off x="4429658" y="4459223"/>
              <a:ext cx="3332378" cy="0"/>
            </a:xfrm>
            <a:prstGeom prst="line">
              <a:avLst/>
            </a:prstGeom>
            <a:ln w="15875">
              <a:solidFill>
                <a:srgbClr val="1F2328"/>
              </a:solidFill>
            </a:ln>
          </p:spPr>
        </p:cxnSp>
        <p:sp>
          <p:nvSpPr>
            <p:cNvPr id="13" name="TextBox 12"/>
            <p:cNvSpPr txBox="1"/>
            <p:nvPr/>
          </p:nvSpPr>
          <p:spPr>
            <a:xfrm>
              <a:off x="4429658" y="4532375"/>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4" name="TextBox 13"/>
            <p:cNvSpPr txBox="1"/>
            <p:nvPr/>
          </p:nvSpPr>
          <p:spPr>
            <a:xfrm>
              <a:off x="4777130" y="4532375"/>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max_iter is the number of small trees added, one after another.</a:t>
              </a:r>
            </a:p>
          </p:txBody>
        </p:sp>
      </p:grpSp>
      <p:grpSp>
        <p:nvGrpSpPr>
          <p:cNvPr id="15" name="says-3"/>
          <p:cNvGrpSpPr/>
          <p:nvPr/>
        </p:nvGrpSpPr>
        <p:grpSpPr>
          <a:xfrm>
            <a:off x="8173516" y="4459223"/>
            <a:ext cx="3332379" cy="1353312"/>
            <a:chOff x="8173516" y="4459223"/>
            <a:chExt cx="3332379" cy="1353312"/>
          </a:xfrm>
        </p:grpSpPr>
        <p:cxnSp>
          <p:nvCxnSpPr>
            <p:cNvPr id="16" name="Connector 15"/>
            <p:cNvCxnSpPr/>
            <p:nvPr/>
          </p:nvCxnSpPr>
          <p:spPr>
            <a:xfrm>
              <a:off x="8173516" y="4459223"/>
              <a:ext cx="3332379" cy="0"/>
            </a:xfrm>
            <a:prstGeom prst="line">
              <a:avLst/>
            </a:prstGeom>
            <a:ln w="15875">
              <a:solidFill>
                <a:srgbClr val="1F2328"/>
              </a:solidFill>
            </a:ln>
          </p:spPr>
        </p:cxnSp>
        <p:sp>
          <p:nvSpPr>
            <p:cNvPr id="17" name="TextBox 16"/>
            <p:cNvSpPr txBox="1"/>
            <p:nvPr/>
          </p:nvSpPr>
          <p:spPr>
            <a:xfrm>
              <a:off x="8173516" y="4532375"/>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18" name="TextBox 17"/>
            <p:cNvSpPr txBox="1"/>
            <p:nvPr/>
          </p:nvSpPr>
          <p:spPr>
            <a:xfrm>
              <a:off x="8520988" y="4532375"/>
              <a:ext cx="2984906" cy="1280160"/>
            </a:xfrm>
            <a:prstGeom prst="rect">
              <a:avLst/>
            </a:prstGeom>
            <a:noFill/>
          </p:spPr>
          <p:txBody>
            <a:bodyPr wrap="square" lIns="0" rIns="0" tIns="18288" bIns="18288" anchor="t">
              <a:spAutoFit/>
            </a:bodyPr>
            <a:lstStyle/>
            <a:p>
              <a:pPr algn="l"/>
              <a:r>
                <a:rPr sz="1900" b="0" i="0">
                  <a:solidFill>
                    <a:srgbClr val="1F2328"/>
                  </a:solidFill>
                  <a:latin typeface="Calibri"/>
                </a:rPr>
                <a:t>The same fit and predict_proba as every model before it.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What to expect from three models on the loans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17   Forests, boosting and overfitting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graphicFrame>
        <p:nvGraphicFramePr>
          <p:cNvPr id="5" name="Table"/>
          <p:cNvGraphicFramePr>
            <a:graphicFrameLocks noGrp="1"/>
          </p:cNvGraphicFramePr>
          <p:nvPr/>
        </p:nvGraphicFramePr>
        <p:xfrm>
          <a:off x="685800" y="1600200"/>
          <a:ext cx="10820094" cy="3113836"/>
        </p:xfrm>
        <a:graphic>
          <a:graphicData uri="http://schemas.openxmlformats.org/drawingml/2006/table">
            <a:tbl>
              <a:tblPr firstRow="0" bandRow="0">
                <a:tableStyleId>{2D5ABB26-0587-4C30-8999-92F81FD0307C}</a:tableStyleId>
              </a:tblPr>
              <a:tblGrid>
                <a:gridCol w="3246028"/>
                <a:gridCol w="3246028"/>
                <a:gridCol w="4328038"/>
              </a:tblGrid>
              <a:tr h="778459">
                <a:tc>
                  <a:txBody>
                    <a:bodyPr wrap="square"/>
                    <a:lstStyle/>
                    <a:p>
                      <a:r>
                        <a:rPr sz="2200" b="1" i="0">
                          <a:solidFill>
                            <a:srgbClr val="1F2328"/>
                          </a:solidFill>
                          <a:latin typeface="Calibri"/>
                        </a:rPr>
                        <a:t>Model</a:t>
                      </a:r>
                    </a:p>
                  </a:txBody>
                  <a:tcPr marL="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Test AUC in a typical run</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Easy to explain?</a:t>
                      </a:r>
                    </a:p>
                  </a:txBody>
                  <a:tcPr marL="137160" marR="91440" marT="64008" marB="64008" anchor="ctr">
                    <a:lnL w="0">
                      <a:noFill/>
                    </a:lnL>
                    <a:lnR w="0">
                      <a:noFill/>
                    </a:lnR>
                    <a:lnT w="0">
                      <a:noFill/>
                    </a:lnT>
                    <a:lnB w="15875">
                      <a:solidFill>
                        <a:srgbClr val="1F2328"/>
                      </a:solidFill>
                    </a:lnB>
                    <a:noFill/>
                  </a:tcPr>
                </a:tc>
              </a:tr>
              <a:tr h="778459">
                <a:tc>
                  <a:txBody>
                    <a:bodyPr wrap="square"/>
                    <a:lstStyle/>
                    <a:p>
                      <a:r>
                        <a:rPr sz="2200" b="0" i="0">
                          <a:solidFill>
                            <a:srgbClr val="3B4046"/>
                          </a:solidFill>
                          <a:latin typeface="Calibri"/>
                        </a:rPr>
                        <a:t>Logistic regression</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about 0.76</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Yes. One weight per column.</a:t>
                      </a:r>
                    </a:p>
                  </a:txBody>
                  <a:tcPr marL="137160" marR="91440" marT="64008" marB="64008" anchor="ctr">
                    <a:lnL w="0">
                      <a:noFill/>
                    </a:lnL>
                    <a:lnR w="0">
                      <a:noFill/>
                    </a:lnR>
                    <a:lnT w="0">
                      <a:noFill/>
                    </a:lnT>
                    <a:lnB w="6350">
                      <a:solidFill>
                        <a:srgbClr val="C9C5BC"/>
                      </a:solidFill>
                    </a:lnB>
                    <a:noFill/>
                  </a:tcPr>
                </a:tc>
              </a:tr>
              <a:tr h="778459">
                <a:tc>
                  <a:txBody>
                    <a:bodyPr wrap="square"/>
                    <a:lstStyle/>
                    <a:p>
                      <a:r>
                        <a:rPr sz="2200" b="0" i="0">
                          <a:solidFill>
                            <a:srgbClr val="3B4046"/>
                          </a:solidFill>
                          <a:latin typeface="Calibri"/>
                        </a:rPr>
                        <a:t>Random forest</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around 0.76 to 0.80</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Partly. Hundreds of trees.</a:t>
                      </a:r>
                    </a:p>
                  </a:txBody>
                  <a:tcPr marL="137160" marR="91440" marT="64008" marB="64008" anchor="ctr">
                    <a:lnL w="0">
                      <a:noFill/>
                    </a:lnL>
                    <a:lnR w="0">
                      <a:noFill/>
                    </a:lnR>
                    <a:lnT w="0">
                      <a:noFill/>
                    </a:lnT>
                    <a:lnB w="6350">
                      <a:solidFill>
                        <a:srgbClr val="C9C5BC"/>
                      </a:solidFill>
                    </a:lnB>
                    <a:noFill/>
                  </a:tcPr>
                </a:tc>
              </a:tr>
              <a:tr h="778459">
                <a:tc>
                  <a:txBody>
                    <a:bodyPr wrap="square"/>
                    <a:lstStyle/>
                    <a:p>
                      <a:r>
                        <a:rPr sz="2200" b="0" i="0">
                          <a:solidFill>
                            <a:srgbClr val="3B4046"/>
                          </a:solidFill>
                          <a:latin typeface="Calibri"/>
                        </a:rPr>
                        <a:t>Gradient boosting</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around 0.76 to 0.80</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Partly. Hundreds of trees.</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Your own run will be close to these and will differ a little. Read your own numbers.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Three settings worth knowing on a forest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17   Forests, boosting and overfitting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450" b="0" i="0">
                <a:solidFill>
                  <a:srgbClr val="1F2328"/>
                </a:solidFill>
                <a:latin typeface="Cambria"/>
              </a:rPr>
              <a:t>A setting you choose before the model learns is called a hyperparameter. These three steer a forest between too simple and too wiggly.</a:t>
            </a:r>
          </a:p>
        </p:txBody>
      </p:sp>
      <p:cxnSp>
        <p:nvCxnSpPr>
          <p:cNvPr id="6" name="Connector 5"/>
          <p:cNvCxnSpPr/>
          <p:nvPr/>
        </p:nvCxnSpPr>
        <p:spPr>
          <a:xfrm>
            <a:off x="685800" y="2715158"/>
            <a:ext cx="10820095" cy="0"/>
          </a:xfrm>
          <a:prstGeom prst="line">
            <a:avLst/>
          </a:prstGeom>
          <a:ln w="15875">
            <a:solidFill>
              <a:srgbClr val="1F2328"/>
            </a:solidFill>
          </a:ln>
        </p:spPr>
      </p:cxnSp>
      <p:sp>
        <p:nvSpPr>
          <p:cNvPr id="7" name="TextBox 6"/>
          <p:cNvSpPr txBox="1"/>
          <p:nvPr/>
        </p:nvSpPr>
        <p:spPr>
          <a:xfrm>
            <a:off x="685800" y="2824886"/>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max_depth</a:t>
            </a:r>
          </a:p>
        </p:txBody>
      </p:sp>
      <p:sp>
        <p:nvSpPr>
          <p:cNvPr id="8" name="TextBox 7"/>
          <p:cNvSpPr txBox="1"/>
          <p:nvPr/>
        </p:nvSpPr>
        <p:spPr>
          <a:xfrm>
            <a:off x="3611880" y="2843174"/>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How many questions deep each tree may go. Deeper memorises more.</a:t>
            </a:r>
          </a:p>
        </p:txBody>
      </p:sp>
      <p:cxnSp>
        <p:nvCxnSpPr>
          <p:cNvPr id="9" name="Connector 8"/>
          <p:cNvCxnSpPr/>
          <p:nvPr/>
        </p:nvCxnSpPr>
        <p:spPr>
          <a:xfrm>
            <a:off x="685800" y="3858158"/>
            <a:ext cx="10820095" cy="0"/>
          </a:xfrm>
          <a:prstGeom prst="line">
            <a:avLst/>
          </a:prstGeom>
          <a:ln w="6350">
            <a:solidFill>
              <a:srgbClr val="C9C5BC"/>
            </a:solidFill>
          </a:ln>
        </p:spPr>
      </p:cxnSp>
      <p:sp>
        <p:nvSpPr>
          <p:cNvPr id="10" name="TextBox 9"/>
          <p:cNvSpPr txBox="1"/>
          <p:nvPr/>
        </p:nvSpPr>
        <p:spPr>
          <a:xfrm>
            <a:off x="685800" y="3967886"/>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min_samples_leaf</a:t>
            </a:r>
          </a:p>
        </p:txBody>
      </p:sp>
      <p:sp>
        <p:nvSpPr>
          <p:cNvPr id="11" name="TextBox 10"/>
          <p:cNvSpPr txBox="1"/>
          <p:nvPr/>
        </p:nvSpPr>
        <p:spPr>
          <a:xfrm>
            <a:off x="3611880" y="3986174"/>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The fewest loans allowed in a final box. Larger smooths.</a:t>
            </a:r>
          </a:p>
        </p:txBody>
      </p:sp>
      <p:cxnSp>
        <p:nvCxnSpPr>
          <p:cNvPr id="12" name="Connector 11"/>
          <p:cNvCxnSpPr/>
          <p:nvPr/>
        </p:nvCxnSpPr>
        <p:spPr>
          <a:xfrm>
            <a:off x="685800" y="5001158"/>
            <a:ext cx="10820095" cy="0"/>
          </a:xfrm>
          <a:prstGeom prst="line">
            <a:avLst/>
          </a:prstGeom>
          <a:ln w="6350">
            <a:solidFill>
              <a:srgbClr val="C9C5BC"/>
            </a:solidFill>
          </a:ln>
        </p:spPr>
      </p:cxnSp>
      <p:sp>
        <p:nvSpPr>
          <p:cNvPr id="13" name="TextBox 12"/>
          <p:cNvSpPr txBox="1"/>
          <p:nvPr/>
        </p:nvSpPr>
        <p:spPr>
          <a:xfrm>
            <a:off x="685800" y="5110886"/>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n_estimators</a:t>
            </a:r>
          </a:p>
        </p:txBody>
      </p:sp>
      <p:sp>
        <p:nvSpPr>
          <p:cNvPr id="14" name="TextBox 13"/>
          <p:cNvSpPr txBox="1"/>
          <p:nvPr/>
        </p:nvSpPr>
        <p:spPr>
          <a:xfrm>
            <a:off x="3611880" y="5129174"/>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The number of trees. More is steadier and slower.</a:t>
            </a:r>
          </a:p>
        </p:txBody>
      </p:sp>
      <p:cxnSp>
        <p:nvCxnSpPr>
          <p:cNvPr id="15" name="Connector 14"/>
          <p:cNvCxnSpPr/>
          <p:nvPr/>
        </p:nvCxnSpPr>
        <p:spPr>
          <a:xfrm>
            <a:off x="685800" y="6144158"/>
            <a:ext cx="10820095" cy="0"/>
          </a:xfrm>
          <a:prstGeom prst="line">
            <a:avLst/>
          </a:prstGeom>
          <a:ln w="6350">
            <a:solidFill>
              <a:srgbClr val="C9C5BC"/>
            </a:solidFill>
          </a:ln>
        </p:spPr>
      </p:cxn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Tune two settings with cross-validation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17   Forests, boosting and overfitting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sp>
        <p:nvSpPr>
          <p:cNvPr id="5" name="Rectangle 4"/>
          <p:cNvSpPr/>
          <p:nvPr/>
        </p:nvSpPr>
        <p:spPr>
          <a:xfrm>
            <a:off x="685800" y="1600200"/>
            <a:ext cx="10820095" cy="341223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3137916"/>
          </a:xfrm>
          <a:prstGeom prst="rect">
            <a:avLst/>
          </a:prstGeom>
          <a:noFill/>
        </p:spPr>
        <p:txBody>
          <a:bodyPr wrap="none" lIns="0" rIns="0" tIns="0" bIns="0">
            <a:spAutoFit/>
          </a:bodyPr>
          <a:lstStyle/>
          <a:p>
            <a:r>
              <a:rPr sz="1850" b="1" i="0">
                <a:solidFill>
                  <a:srgbClr val="1F2328"/>
                </a:solidFill>
                <a:latin typeface="Courier New"/>
              </a:rPr>
              <a:t>from</a:t>
            </a:r>
            <a:r>
              <a:rPr sz="1850" b="0" i="0">
                <a:solidFill>
                  <a:srgbClr val="1F2328"/>
                </a:solidFill>
                <a:latin typeface="Courier New"/>
              </a:rPr>
              <a:t> </a:t>
            </a:r>
            <a:r>
              <a:rPr sz="1850" b="0" i="0">
                <a:solidFill>
                  <a:srgbClr val="1F2328"/>
                </a:solidFill>
                <a:latin typeface="Courier New"/>
              </a:rPr>
              <a:t>sklearn</a:t>
            </a:r>
            <a:r>
              <a:rPr sz="1850" b="0" i="0">
                <a:solidFill>
                  <a:srgbClr val="1F2328"/>
                </a:solidFill>
                <a:latin typeface="Courier New"/>
              </a:rPr>
              <a:t>.</a:t>
            </a:r>
            <a:r>
              <a:rPr sz="1850" b="0" i="0">
                <a:solidFill>
                  <a:srgbClr val="1F2328"/>
                </a:solidFill>
                <a:latin typeface="Courier New"/>
              </a:rPr>
              <a:t>model_selection</a:t>
            </a:r>
            <a:r>
              <a:rPr sz="1850" b="0" i="0">
                <a:solidFill>
                  <a:srgbClr val="1F2328"/>
                </a:solidFill>
                <a:latin typeface="Courier New"/>
              </a:rPr>
              <a:t> </a:t>
            </a:r>
            <a:r>
              <a:rPr sz="1850" b="1" i="0">
                <a:solidFill>
                  <a:srgbClr val="1F2328"/>
                </a:solidFill>
                <a:latin typeface="Courier New"/>
              </a:rPr>
              <a:t>import</a:t>
            </a:r>
            <a:r>
              <a:rPr sz="1850" b="0" i="0">
                <a:solidFill>
                  <a:srgbClr val="1F2328"/>
                </a:solidFill>
                <a:latin typeface="Courier New"/>
              </a:rPr>
              <a:t> </a:t>
            </a:r>
            <a:r>
              <a:rPr sz="1850" b="0" i="0">
                <a:solidFill>
                  <a:srgbClr val="1F2328"/>
                </a:solidFill>
                <a:latin typeface="Courier New"/>
              </a:rPr>
              <a:t>GridSearchCV</a:t>
            </a:r>
          </a:p>
          <a:p>
            <a:r>
              <a:rPr sz="1850" b="1" i="0">
                <a:solidFill>
                  <a:srgbClr val="1F2328"/>
                </a:solidFill>
                <a:latin typeface="Courier New"/>
              </a:rPr>
              <a:t>from</a:t>
            </a:r>
            <a:r>
              <a:rPr sz="1850" b="0" i="0">
                <a:solidFill>
                  <a:srgbClr val="1F2328"/>
                </a:solidFill>
                <a:latin typeface="Courier New"/>
              </a:rPr>
              <a:t> </a:t>
            </a:r>
            <a:r>
              <a:rPr sz="1850" b="0" i="0">
                <a:solidFill>
                  <a:srgbClr val="1F2328"/>
                </a:solidFill>
                <a:latin typeface="Courier New"/>
              </a:rPr>
              <a:t>sklearn</a:t>
            </a:r>
            <a:r>
              <a:rPr sz="1850" b="0" i="0">
                <a:solidFill>
                  <a:srgbClr val="1F2328"/>
                </a:solidFill>
                <a:latin typeface="Courier New"/>
              </a:rPr>
              <a:t>.</a:t>
            </a:r>
            <a:r>
              <a:rPr sz="1850" b="0" i="0">
                <a:solidFill>
                  <a:srgbClr val="1F2328"/>
                </a:solidFill>
                <a:latin typeface="Courier New"/>
              </a:rPr>
              <a:t>ensemble</a:t>
            </a:r>
            <a:r>
              <a:rPr sz="1850" b="0" i="0">
                <a:solidFill>
                  <a:srgbClr val="1F2328"/>
                </a:solidFill>
                <a:latin typeface="Courier New"/>
              </a:rPr>
              <a:t> </a:t>
            </a:r>
            <a:r>
              <a:rPr sz="1850" b="1" i="0">
                <a:solidFill>
                  <a:srgbClr val="1F2328"/>
                </a:solidFill>
                <a:latin typeface="Courier New"/>
              </a:rPr>
              <a:t>import</a:t>
            </a:r>
            <a:r>
              <a:rPr sz="1850" b="0" i="0">
                <a:solidFill>
                  <a:srgbClr val="1F2328"/>
                </a:solidFill>
                <a:latin typeface="Courier New"/>
              </a:rPr>
              <a:t> </a:t>
            </a:r>
            <a:r>
              <a:rPr sz="1850" b="0" i="0">
                <a:solidFill>
                  <a:srgbClr val="1F2328"/>
                </a:solidFill>
                <a:latin typeface="Courier New"/>
              </a:rPr>
              <a:t>RandomForestClassifier</a:t>
            </a:r>
          </a:p>
          <a:p>
            <a:r>
              <a:rPr sz="1850" b="0" i="0">
                <a:solidFill>
                  <a:srgbClr val="1F2328"/>
                </a:solidFill>
                <a:latin typeface="Courier New"/>
              </a:rPr>
              <a:t> </a:t>
            </a:r>
          </a:p>
          <a:p>
            <a:r>
              <a:rPr sz="1850" b="0" i="0">
                <a:solidFill>
                  <a:srgbClr val="1F2328"/>
                </a:solidFill>
                <a:latin typeface="Courier New"/>
              </a:rPr>
              <a:t>grid</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a:t>
            </a:r>
            <a:r>
              <a:rPr sz="1850" b="0" i="0">
                <a:solidFill>
                  <a:srgbClr val="B04A2B"/>
                </a:solidFill>
                <a:latin typeface="Courier New"/>
              </a:rPr>
              <a:t>'max_depth'</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a:t>
            </a:r>
            <a:r>
              <a:rPr sz="1850" b="0" i="0">
                <a:solidFill>
                  <a:srgbClr val="3B4046"/>
                </a:solidFill>
                <a:latin typeface="Courier New"/>
              </a:rPr>
              <a:t>3</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6</a:t>
            </a:r>
            <a:r>
              <a:rPr sz="1850" b="0" i="0">
                <a:solidFill>
                  <a:srgbClr val="1F2328"/>
                </a:solidFill>
                <a:latin typeface="Courier New"/>
              </a:rPr>
              <a:t>,</a:t>
            </a:r>
            <a:r>
              <a:rPr sz="1850" b="0" i="0">
                <a:solidFill>
                  <a:srgbClr val="1F2328"/>
                </a:solidFill>
                <a:latin typeface="Courier New"/>
              </a:rPr>
              <a:t> </a:t>
            </a:r>
            <a:r>
              <a:rPr sz="1850" b="1" i="0">
                <a:solidFill>
                  <a:srgbClr val="1F2328"/>
                </a:solidFill>
                <a:latin typeface="Courier New"/>
              </a:rPr>
              <a:t>None</a:t>
            </a:r>
            <a:r>
              <a:rPr sz="1850" b="0" i="0">
                <a:solidFill>
                  <a:srgbClr val="1F2328"/>
                </a:solidFill>
                <a:latin typeface="Courier New"/>
              </a:rPr>
              <a:t>]</a:t>
            </a:r>
            <a:r>
              <a:rPr sz="1850" b="0" i="0">
                <a:solidFill>
                  <a:srgbClr val="1F2328"/>
                </a:solidFill>
                <a:latin typeface="Courier New"/>
              </a:rPr>
              <a:t>,</a:t>
            </a:r>
          </a:p>
          <a:p>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B04A2B"/>
                </a:solidFill>
                <a:latin typeface="Courier New"/>
              </a:rPr>
              <a:t>'min_samples_leaf'</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a:t>
            </a:r>
            <a:r>
              <a:rPr sz="1850" b="0" i="0">
                <a:solidFill>
                  <a:srgbClr val="3B4046"/>
                </a:solidFill>
                <a:latin typeface="Courier New"/>
              </a:rPr>
              <a:t>1</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10</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30</a:t>
            </a:r>
            <a:r>
              <a:rPr sz="1850" b="0" i="0">
                <a:solidFill>
                  <a:srgbClr val="1F2328"/>
                </a:solidFill>
                <a:latin typeface="Courier New"/>
              </a:rPr>
              <a:t>]</a:t>
            </a:r>
            <a:r>
              <a:rPr sz="1850" b="0" i="0">
                <a:solidFill>
                  <a:srgbClr val="1F2328"/>
                </a:solidFill>
                <a:latin typeface="Courier New"/>
              </a:rPr>
              <a:t>}</a:t>
            </a:r>
          </a:p>
          <a:p>
            <a:r>
              <a:rPr sz="1850" b="0" i="0">
                <a:solidFill>
                  <a:srgbClr val="1F2328"/>
                </a:solidFill>
                <a:latin typeface="Courier New"/>
              </a:rPr>
              <a:t>search</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GridSearchCV</a:t>
            </a:r>
            <a:r>
              <a:rPr sz="1850" b="0" i="0">
                <a:solidFill>
                  <a:srgbClr val="1F2328"/>
                </a:solidFill>
                <a:latin typeface="Courier New"/>
              </a:rPr>
              <a:t>(</a:t>
            </a:r>
          </a:p>
          <a:p>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RandomForestClassifier</a:t>
            </a:r>
            <a:r>
              <a:rPr sz="1850" b="0" i="0">
                <a:solidFill>
                  <a:srgbClr val="1F2328"/>
                </a:solidFill>
                <a:latin typeface="Courier New"/>
              </a:rPr>
              <a:t>(</a:t>
            </a:r>
            <a:r>
              <a:rPr sz="1850" b="0" i="0">
                <a:solidFill>
                  <a:srgbClr val="1F2328"/>
                </a:solidFill>
                <a:latin typeface="Courier New"/>
              </a:rPr>
              <a:t>n_estimators</a:t>
            </a:r>
            <a:r>
              <a:rPr sz="1850" b="0" i="0">
                <a:solidFill>
                  <a:srgbClr val="1F2328"/>
                </a:solidFill>
                <a:latin typeface="Courier New"/>
              </a:rPr>
              <a:t>=</a:t>
            </a:r>
            <a:r>
              <a:rPr sz="1850" b="0" i="0">
                <a:solidFill>
                  <a:srgbClr val="3B4046"/>
                </a:solidFill>
                <a:latin typeface="Courier New"/>
              </a:rPr>
              <a:t>200</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random_state</a:t>
            </a:r>
            <a:r>
              <a:rPr sz="1850" b="0" i="0">
                <a:solidFill>
                  <a:srgbClr val="1F2328"/>
                </a:solidFill>
                <a:latin typeface="Courier New"/>
              </a:rPr>
              <a:t>=</a:t>
            </a:r>
            <a:r>
              <a:rPr sz="1850" b="0" i="0">
                <a:solidFill>
                  <a:srgbClr val="3B4046"/>
                </a:solidFill>
                <a:latin typeface="Courier New"/>
              </a:rPr>
              <a:t>42</a:t>
            </a:r>
            <a:r>
              <a:rPr sz="1850" b="0" i="0">
                <a:solidFill>
                  <a:srgbClr val="1F2328"/>
                </a:solidFill>
                <a:latin typeface="Courier New"/>
              </a:rPr>
              <a:t>)</a:t>
            </a:r>
            <a:r>
              <a:rPr sz="1850" b="0" i="0">
                <a:solidFill>
                  <a:srgbClr val="1F2328"/>
                </a:solidFill>
                <a:latin typeface="Courier New"/>
              </a:rPr>
              <a:t>,</a:t>
            </a:r>
          </a:p>
          <a:p>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grid</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scoring</a:t>
            </a:r>
            <a:r>
              <a:rPr sz="1850" b="0" i="0">
                <a:solidFill>
                  <a:srgbClr val="1F2328"/>
                </a:solidFill>
                <a:latin typeface="Courier New"/>
              </a:rPr>
              <a:t>=</a:t>
            </a:r>
            <a:r>
              <a:rPr sz="1850" b="0" i="0">
                <a:solidFill>
                  <a:srgbClr val="B04A2B"/>
                </a:solidFill>
                <a:latin typeface="Courier New"/>
              </a:rPr>
              <a:t>'roc_auc'</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cv</a:t>
            </a:r>
            <a:r>
              <a:rPr sz="1850" b="0" i="0">
                <a:solidFill>
                  <a:srgbClr val="1F2328"/>
                </a:solidFill>
                <a:latin typeface="Courier New"/>
              </a:rPr>
              <a:t>=</a:t>
            </a:r>
            <a:r>
              <a:rPr sz="1850" b="0" i="0">
                <a:solidFill>
                  <a:srgbClr val="3B4046"/>
                </a:solidFill>
                <a:latin typeface="Courier New"/>
              </a:rPr>
              <a:t>5</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n_jobs</a:t>
            </a:r>
            <a:r>
              <a:rPr sz="1850" b="0" i="0">
                <a:solidFill>
                  <a:srgbClr val="1F2328"/>
                </a:solidFill>
                <a:latin typeface="Courier New"/>
              </a:rPr>
              <a:t>=</a:t>
            </a:r>
            <a:r>
              <a:rPr sz="1850" b="0" i="0">
                <a:solidFill>
                  <a:srgbClr val="1F2328"/>
                </a:solidFill>
                <a:latin typeface="Courier New"/>
              </a:rPr>
              <a:t>-</a:t>
            </a:r>
            <a:r>
              <a:rPr sz="1850" b="0" i="0">
                <a:solidFill>
                  <a:srgbClr val="3B4046"/>
                </a:solidFill>
                <a:latin typeface="Courier New"/>
              </a:rPr>
              <a:t>1</a:t>
            </a:r>
            <a:r>
              <a:rPr sz="1850" b="0" i="0">
                <a:solidFill>
                  <a:srgbClr val="1F2328"/>
                </a:solidFill>
                <a:latin typeface="Courier New"/>
              </a:rPr>
              <a:t>)</a:t>
            </a:r>
          </a:p>
          <a:p>
            <a:r>
              <a:rPr sz="1850" b="0" i="0">
                <a:solidFill>
                  <a:srgbClr val="1F2328"/>
                </a:solidFill>
                <a:latin typeface="Courier New"/>
              </a:rPr>
              <a:t>search</a:t>
            </a:r>
            <a:r>
              <a:rPr sz="1850" b="0" i="0">
                <a:solidFill>
                  <a:srgbClr val="1F2328"/>
                </a:solidFill>
                <a:latin typeface="Courier New"/>
              </a:rPr>
              <a:t>.</a:t>
            </a:r>
            <a:r>
              <a:rPr sz="1850" b="0" i="0">
                <a:solidFill>
                  <a:srgbClr val="1F2328"/>
                </a:solidFill>
                <a:latin typeface="Courier New"/>
              </a:rPr>
              <a:t>fit</a:t>
            </a:r>
            <a:r>
              <a:rPr sz="1850" b="0" i="0">
                <a:solidFill>
                  <a:srgbClr val="1F2328"/>
                </a:solidFill>
                <a:latin typeface="Courier New"/>
              </a:rPr>
              <a:t>(</a:t>
            </a:r>
            <a:r>
              <a:rPr sz="1850" b="0" i="0">
                <a:solidFill>
                  <a:srgbClr val="1F2328"/>
                </a:solidFill>
                <a:latin typeface="Courier New"/>
              </a:rPr>
              <a:t>X_train</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y_train</a:t>
            </a:r>
            <a:r>
              <a:rPr sz="1850" b="0" i="0">
                <a:solidFill>
                  <a:srgbClr val="1F2328"/>
                </a:solidFill>
                <a:latin typeface="Courier New"/>
              </a:rPr>
              <a:t>)</a:t>
            </a:r>
          </a:p>
          <a:p>
            <a:r>
              <a:rPr sz="1850" b="0" i="0">
                <a:solidFill>
                  <a:srgbClr val="1F2328"/>
                </a:solidFill>
                <a:latin typeface="Courier New"/>
              </a:rPr>
              <a:t>print</a:t>
            </a:r>
            <a:r>
              <a:rPr sz="1850" b="0" i="0">
                <a:solidFill>
                  <a:srgbClr val="1F2328"/>
                </a:solidFill>
                <a:latin typeface="Courier New"/>
              </a:rPr>
              <a:t>(</a:t>
            </a:r>
            <a:r>
              <a:rPr sz="1850" b="0" i="0">
                <a:solidFill>
                  <a:srgbClr val="1F2328"/>
                </a:solidFill>
                <a:latin typeface="Courier New"/>
              </a:rPr>
              <a:t>search</a:t>
            </a:r>
            <a:r>
              <a:rPr sz="1850" b="0" i="0">
                <a:solidFill>
                  <a:srgbClr val="1F2328"/>
                </a:solidFill>
                <a:latin typeface="Courier New"/>
              </a:rPr>
              <a:t>.</a:t>
            </a:r>
            <a:r>
              <a:rPr sz="1850" b="0" i="0">
                <a:solidFill>
                  <a:srgbClr val="1F2328"/>
                </a:solidFill>
                <a:latin typeface="Courier New"/>
              </a:rPr>
              <a:t>best_params_</a:t>
            </a:r>
            <a:r>
              <a:rPr sz="1850" b="0" i="0">
                <a:solidFill>
                  <a:srgbClr val="1F2328"/>
                </a:solidFill>
                <a:latin typeface="Courier New"/>
              </a:rPr>
              <a:t>)</a:t>
            </a:r>
          </a:p>
          <a:p>
            <a:r>
              <a:rPr sz="1850" b="0" i="0">
                <a:solidFill>
                  <a:srgbClr val="1F2328"/>
                </a:solidFill>
                <a:latin typeface="Courier New"/>
              </a:rPr>
              <a:t>print</a:t>
            </a:r>
            <a:r>
              <a:rPr sz="1850" b="0" i="0">
                <a:solidFill>
                  <a:srgbClr val="1F2328"/>
                </a:solidFill>
                <a:latin typeface="Courier New"/>
              </a:rPr>
              <a:t>(</a:t>
            </a:r>
            <a:r>
              <a:rPr sz="1850" b="0" i="0">
                <a:solidFill>
                  <a:srgbClr val="1F2328"/>
                </a:solidFill>
                <a:latin typeface="Courier New"/>
              </a:rPr>
              <a:t>round</a:t>
            </a:r>
            <a:r>
              <a:rPr sz="1850" b="0" i="0">
                <a:solidFill>
                  <a:srgbClr val="1F2328"/>
                </a:solidFill>
                <a:latin typeface="Courier New"/>
              </a:rPr>
              <a:t>(</a:t>
            </a:r>
            <a:r>
              <a:rPr sz="1850" b="0" i="0">
                <a:solidFill>
                  <a:srgbClr val="1F2328"/>
                </a:solidFill>
                <a:latin typeface="Courier New"/>
              </a:rPr>
              <a:t>search</a:t>
            </a:r>
            <a:r>
              <a:rPr sz="1850" b="0" i="0">
                <a:solidFill>
                  <a:srgbClr val="1F2328"/>
                </a:solidFill>
                <a:latin typeface="Courier New"/>
              </a:rPr>
              <a:t>.</a:t>
            </a:r>
            <a:r>
              <a:rPr sz="1850" b="0" i="0">
                <a:solidFill>
                  <a:srgbClr val="1F2328"/>
                </a:solidFill>
                <a:latin typeface="Courier New"/>
              </a:rPr>
              <a:t>best_score_</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3</a:t>
            </a:r>
            <a:r>
              <a:rPr sz="1850" b="0" i="0">
                <a:solidFill>
                  <a:srgbClr val="1F2328"/>
                </a:solidFill>
                <a:latin typeface="Courier New"/>
              </a:rPr>
              <a:t>)</a:t>
            </a:r>
            <a:r>
              <a:rPr sz="1850" b="0" i="0">
                <a:solidFill>
                  <a:srgbClr val="1F2328"/>
                </a:solidFill>
                <a:latin typeface="Courier New"/>
              </a:rPr>
              <a:t>)</a:t>
            </a:r>
          </a:p>
        </p:txBody>
      </p:sp>
      <p:grpSp>
        <p:nvGrpSpPr>
          <p:cNvPr id="7" name="says-1"/>
          <p:cNvGrpSpPr/>
          <p:nvPr/>
        </p:nvGrpSpPr>
        <p:grpSpPr>
          <a:xfrm>
            <a:off x="685800" y="5122164"/>
            <a:ext cx="3332378" cy="1077467"/>
            <a:chOff x="685800" y="5122164"/>
            <a:chExt cx="3332378" cy="1077467"/>
          </a:xfrm>
        </p:grpSpPr>
        <p:cxnSp>
          <p:nvCxnSpPr>
            <p:cNvPr id="8" name="Connector 7"/>
            <p:cNvCxnSpPr/>
            <p:nvPr/>
          </p:nvCxnSpPr>
          <p:spPr>
            <a:xfrm>
              <a:off x="685800" y="5122164"/>
              <a:ext cx="3332378" cy="0"/>
            </a:xfrm>
            <a:prstGeom prst="line">
              <a:avLst/>
            </a:prstGeom>
            <a:ln w="15875">
              <a:solidFill>
                <a:srgbClr val="1F2328"/>
              </a:solidFill>
            </a:ln>
          </p:spPr>
        </p:cxnSp>
        <p:sp>
          <p:nvSpPr>
            <p:cNvPr id="9" name="TextBox 8"/>
            <p:cNvSpPr txBox="1"/>
            <p:nvPr/>
          </p:nvSpPr>
          <p:spPr>
            <a:xfrm>
              <a:off x="685800" y="5195316"/>
              <a:ext cx="292608" cy="1004315"/>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0" name="TextBox 9"/>
            <p:cNvSpPr txBox="1"/>
            <p:nvPr/>
          </p:nvSpPr>
          <p:spPr>
            <a:xfrm>
              <a:off x="1033271" y="5195316"/>
              <a:ext cx="2984906" cy="1004315"/>
            </a:xfrm>
            <a:prstGeom prst="rect">
              <a:avLst/>
            </a:prstGeom>
            <a:noFill/>
          </p:spPr>
          <p:txBody>
            <a:bodyPr wrap="square" lIns="0" rIns="0" tIns="18288" bIns="18288" anchor="t">
              <a:spAutoFit/>
            </a:bodyPr>
            <a:lstStyle/>
            <a:p>
              <a:pPr algn="l"/>
              <a:r>
                <a:rPr sz="1900" b="0" i="0">
                  <a:solidFill>
                    <a:srgbClr val="1F2328"/>
                  </a:solidFill>
                  <a:latin typeface="Calibri"/>
                </a:rPr>
                <a:t>A small grid: three depths and three leaf sizes, nine combinations.</a:t>
              </a:r>
            </a:p>
          </p:txBody>
        </p:sp>
      </p:grpSp>
      <p:grpSp>
        <p:nvGrpSpPr>
          <p:cNvPr id="11" name="says-2"/>
          <p:cNvGrpSpPr/>
          <p:nvPr/>
        </p:nvGrpSpPr>
        <p:grpSpPr>
          <a:xfrm>
            <a:off x="4429658" y="5122164"/>
            <a:ext cx="3332378" cy="1077467"/>
            <a:chOff x="4429658" y="5122164"/>
            <a:chExt cx="3332378" cy="1077467"/>
          </a:xfrm>
        </p:grpSpPr>
        <p:cxnSp>
          <p:nvCxnSpPr>
            <p:cNvPr id="12" name="Connector 11"/>
            <p:cNvCxnSpPr/>
            <p:nvPr/>
          </p:nvCxnSpPr>
          <p:spPr>
            <a:xfrm>
              <a:off x="4429658" y="5122164"/>
              <a:ext cx="3332378" cy="0"/>
            </a:xfrm>
            <a:prstGeom prst="line">
              <a:avLst/>
            </a:prstGeom>
            <a:ln w="15875">
              <a:solidFill>
                <a:srgbClr val="1F2328"/>
              </a:solidFill>
            </a:ln>
          </p:spPr>
        </p:cxnSp>
        <p:sp>
          <p:nvSpPr>
            <p:cNvPr id="13" name="TextBox 12"/>
            <p:cNvSpPr txBox="1"/>
            <p:nvPr/>
          </p:nvSpPr>
          <p:spPr>
            <a:xfrm>
              <a:off x="4429658" y="5195316"/>
              <a:ext cx="292608" cy="1004315"/>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4" name="TextBox 13"/>
            <p:cNvSpPr txBox="1"/>
            <p:nvPr/>
          </p:nvSpPr>
          <p:spPr>
            <a:xfrm>
              <a:off x="4777130" y="5195316"/>
              <a:ext cx="2984906" cy="1004315"/>
            </a:xfrm>
            <a:prstGeom prst="rect">
              <a:avLst/>
            </a:prstGeom>
            <a:noFill/>
          </p:spPr>
          <p:txBody>
            <a:bodyPr wrap="square" lIns="0" rIns="0" tIns="18288" bIns="18288" anchor="t">
              <a:spAutoFit/>
            </a:bodyPr>
            <a:lstStyle/>
            <a:p>
              <a:pPr algn="l"/>
              <a:r>
                <a:rPr sz="1900" b="0" i="0">
                  <a:solidFill>
                    <a:srgbClr val="1F2328"/>
                  </a:solidFill>
                  <a:latin typeface="Calibri"/>
                </a:rPr>
                <a:t>Each combination is scored on five folds, so 45 fits in all.</a:t>
              </a:r>
            </a:p>
          </p:txBody>
        </p:sp>
      </p:grpSp>
      <p:grpSp>
        <p:nvGrpSpPr>
          <p:cNvPr id="15" name="says-3"/>
          <p:cNvGrpSpPr/>
          <p:nvPr/>
        </p:nvGrpSpPr>
        <p:grpSpPr>
          <a:xfrm>
            <a:off x="8173516" y="5122164"/>
            <a:ext cx="3332379" cy="1077467"/>
            <a:chOff x="8173516" y="5122164"/>
            <a:chExt cx="3332379" cy="1077467"/>
          </a:xfrm>
        </p:grpSpPr>
        <p:cxnSp>
          <p:nvCxnSpPr>
            <p:cNvPr id="16" name="Connector 15"/>
            <p:cNvCxnSpPr/>
            <p:nvPr/>
          </p:nvCxnSpPr>
          <p:spPr>
            <a:xfrm>
              <a:off x="8173516" y="5122164"/>
              <a:ext cx="3332379" cy="0"/>
            </a:xfrm>
            <a:prstGeom prst="line">
              <a:avLst/>
            </a:prstGeom>
            <a:ln w="15875">
              <a:solidFill>
                <a:srgbClr val="1F2328"/>
              </a:solidFill>
            </a:ln>
          </p:spPr>
        </p:cxnSp>
        <p:sp>
          <p:nvSpPr>
            <p:cNvPr id="17" name="TextBox 16"/>
            <p:cNvSpPr txBox="1"/>
            <p:nvPr/>
          </p:nvSpPr>
          <p:spPr>
            <a:xfrm>
              <a:off x="8173516" y="5195316"/>
              <a:ext cx="292608" cy="1004315"/>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18" name="TextBox 17"/>
            <p:cNvSpPr txBox="1"/>
            <p:nvPr/>
          </p:nvSpPr>
          <p:spPr>
            <a:xfrm>
              <a:off x="8520988" y="5195316"/>
              <a:ext cx="2984906" cy="1004315"/>
            </a:xfrm>
            <a:prstGeom prst="rect">
              <a:avLst/>
            </a:prstGeom>
            <a:noFill/>
          </p:spPr>
          <p:txBody>
            <a:bodyPr wrap="square" lIns="0" rIns="0" tIns="18288" bIns="18288" anchor="t">
              <a:spAutoFit/>
            </a:bodyPr>
            <a:lstStyle/>
            <a:p>
              <a:pPr algn="l"/>
              <a:r>
                <a:rPr sz="1900" b="0" i="0">
                  <a:solidFill>
                    <a:srgbClr val="1F2328"/>
                  </a:solidFill>
                  <a:latin typeface="Calibri"/>
                </a:rPr>
                <a:t>best_params_ and best_score_ hold the winner.</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Logistic regression weights show direction and size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17   Forests, boosting and overfitting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pic>
        <p:nvPicPr>
          <p:cNvPr id="5" name="figure-feature_weights" descr="Horizontal bars of the strongest weights in the loan model: repayment burden and late payments push risk up, savings and group loans push it down."/>
          <p:cNvPicPr>
            <a:picLocks noChangeAspect="1"/>
          </p:cNvPicPr>
          <p:nvPr/>
        </p:nvPicPr>
        <p:blipFill>
          <a:blip r:embed="rId3"/>
          <a:stretch>
            <a:fillRect/>
          </a:stretch>
        </p:blipFill>
        <p:spPr>
          <a:xfrm>
            <a:off x="685800" y="1600200"/>
            <a:ext cx="6037626"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Repayment burden pushes default risk up the most.</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Earlier late payments push it up as well.</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Group loans and savings pull the risk down.</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Standardised weights from the logistic regression. A forest has no weights like these.</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Feature importance by shuffling a column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17   Forests, boosting and overfitting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sp>
        <p:nvSpPr>
          <p:cNvPr id="5" name="Rectangle 4"/>
          <p:cNvSpPr/>
          <p:nvPr/>
        </p:nvSpPr>
        <p:spPr>
          <a:xfrm>
            <a:off x="685800" y="1600200"/>
            <a:ext cx="6949440" cy="18577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583436"/>
          </a:xfrm>
          <a:prstGeom prst="rect">
            <a:avLst/>
          </a:prstGeom>
          <a:noFill/>
        </p:spPr>
        <p:txBody>
          <a:bodyPr wrap="none" lIns="0" rIns="0" tIns="0" bIns="0">
            <a:spAutoFit/>
          </a:bodyPr>
          <a:lstStyle/>
          <a:p>
            <a:r>
              <a:rPr sz="1450" b="1" i="0">
                <a:solidFill>
                  <a:srgbClr val="1F2328"/>
                </a:solidFill>
                <a:latin typeface="Courier New"/>
              </a:rPr>
              <a:t>from</a:t>
            </a:r>
            <a:r>
              <a:rPr sz="1450" b="0" i="0">
                <a:solidFill>
                  <a:srgbClr val="1F2328"/>
                </a:solidFill>
                <a:latin typeface="Courier New"/>
              </a:rPr>
              <a:t> </a:t>
            </a:r>
            <a:r>
              <a:rPr sz="1450" b="0" i="0">
                <a:solidFill>
                  <a:srgbClr val="1F2328"/>
                </a:solidFill>
                <a:latin typeface="Courier New"/>
              </a:rPr>
              <a:t>sklearn</a:t>
            </a:r>
            <a:r>
              <a:rPr sz="1450" b="0" i="0">
                <a:solidFill>
                  <a:srgbClr val="1F2328"/>
                </a:solidFill>
                <a:latin typeface="Courier New"/>
              </a:rPr>
              <a:t>.</a:t>
            </a:r>
            <a:r>
              <a:rPr sz="1450" b="0" i="0">
                <a:solidFill>
                  <a:srgbClr val="1F2328"/>
                </a:solidFill>
                <a:latin typeface="Courier New"/>
              </a:rPr>
              <a:t>inspection</a:t>
            </a:r>
            <a:r>
              <a:rPr sz="1450" b="0" i="0">
                <a:solidFill>
                  <a:srgbClr val="1F2328"/>
                </a:solidFill>
                <a:latin typeface="Courier New"/>
              </a:rPr>
              <a:t> </a:t>
            </a:r>
            <a:r>
              <a:rPr sz="1450" b="1" i="0">
                <a:solidFill>
                  <a:srgbClr val="1F2328"/>
                </a:solidFill>
                <a:latin typeface="Courier New"/>
              </a:rPr>
              <a:t>import</a:t>
            </a:r>
            <a:r>
              <a:rPr sz="1450" b="0" i="0">
                <a:solidFill>
                  <a:srgbClr val="1F2328"/>
                </a:solidFill>
                <a:latin typeface="Courier New"/>
              </a:rPr>
              <a:t> </a:t>
            </a:r>
            <a:r>
              <a:rPr sz="1450" b="0" i="0">
                <a:solidFill>
                  <a:srgbClr val="1F2328"/>
                </a:solidFill>
                <a:latin typeface="Courier New"/>
              </a:rPr>
              <a:t>permutation_importance</a:t>
            </a:r>
          </a:p>
          <a:p>
            <a:r>
              <a:rPr sz="1450" b="0" i="0">
                <a:solidFill>
                  <a:srgbClr val="1F2328"/>
                </a:solidFill>
                <a:latin typeface="Courier New"/>
              </a:rPr>
              <a:t> </a:t>
            </a:r>
          </a:p>
          <a:p>
            <a:r>
              <a:rPr sz="1450" b="0" i="0">
                <a:solidFill>
                  <a:srgbClr val="1F2328"/>
                </a:solidFill>
                <a:latin typeface="Courier New"/>
              </a:rPr>
              <a:t>result</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permutation_importance</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forest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X_test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y_test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scoring</a:t>
            </a:r>
            <a:r>
              <a:rPr sz="1450" b="0" i="0">
                <a:solidFill>
                  <a:srgbClr val="1F2328"/>
                </a:solidFill>
                <a:latin typeface="Courier New"/>
              </a:rPr>
              <a:t>=</a:t>
            </a:r>
            <a:r>
              <a:rPr sz="1450" b="0" i="0">
                <a:solidFill>
                  <a:srgbClr val="B04A2B"/>
                </a:solidFill>
                <a:latin typeface="Courier New"/>
              </a:rPr>
              <a:t>'roc_auc'</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n_repeats</a:t>
            </a:r>
            <a:r>
              <a:rPr sz="1450" b="0" i="0">
                <a:solidFill>
                  <a:srgbClr val="1F2328"/>
                </a:solidFill>
                <a:latin typeface="Courier New"/>
              </a:rPr>
              <a:t>=</a:t>
            </a:r>
            <a:r>
              <a:rPr sz="1450" b="0" i="0">
                <a:solidFill>
                  <a:srgbClr val="3B4046"/>
                </a:solidFill>
                <a:latin typeface="Courier New"/>
              </a:rPr>
              <a:t>10</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random_state</a:t>
            </a:r>
            <a:r>
              <a:rPr sz="1450" b="0" i="0">
                <a:solidFill>
                  <a:srgbClr val="1F2328"/>
                </a:solidFill>
                <a:latin typeface="Courier New"/>
              </a:rPr>
              <a:t>=</a:t>
            </a:r>
            <a:r>
              <a:rPr sz="1450" b="0" i="0">
                <a:solidFill>
                  <a:srgbClr val="3B4046"/>
                </a:solidFill>
                <a:latin typeface="Courier New"/>
              </a:rPr>
              <a:t>42</a:t>
            </a:r>
            <a:r>
              <a:rPr sz="1450" b="0" i="0">
                <a:solidFill>
                  <a:srgbClr val="1F2328"/>
                </a:solidFill>
                <a:latin typeface="Courier New"/>
              </a:rPr>
              <a:t>)</a:t>
            </a:r>
          </a:p>
          <a:p>
            <a:r>
              <a:rPr sz="1450" b="0" i="0">
                <a:solidFill>
                  <a:srgbClr val="1F2328"/>
                </a:solidFill>
                <a:latin typeface="Courier New"/>
              </a:rPr>
              <a:t>imp</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pd</a:t>
            </a:r>
            <a:r>
              <a:rPr sz="1450" b="0" i="0">
                <a:solidFill>
                  <a:srgbClr val="1F2328"/>
                </a:solidFill>
                <a:latin typeface="Courier New"/>
              </a:rPr>
              <a:t>.</a:t>
            </a:r>
            <a:r>
              <a:rPr sz="1450" b="0" i="0">
                <a:solidFill>
                  <a:srgbClr val="1F2328"/>
                </a:solidFill>
                <a:latin typeface="Courier New"/>
              </a:rPr>
              <a:t>Series</a:t>
            </a:r>
            <a:r>
              <a:rPr sz="1450" b="0" i="0">
                <a:solidFill>
                  <a:srgbClr val="1F2328"/>
                </a:solidFill>
                <a:latin typeface="Courier New"/>
              </a:rPr>
              <a:t>(</a:t>
            </a:r>
            <a:r>
              <a:rPr sz="1450" b="0" i="0">
                <a:solidFill>
                  <a:srgbClr val="1F2328"/>
                </a:solidFill>
                <a:latin typeface="Courier New"/>
              </a:rPr>
              <a:t>result</a:t>
            </a:r>
            <a:r>
              <a:rPr sz="1450" b="0" i="0">
                <a:solidFill>
                  <a:srgbClr val="1F2328"/>
                </a:solidFill>
                <a:latin typeface="Courier New"/>
              </a:rPr>
              <a:t>.</a:t>
            </a:r>
            <a:r>
              <a:rPr sz="1450" b="0" i="0">
                <a:solidFill>
                  <a:srgbClr val="1F2328"/>
                </a:solidFill>
                <a:latin typeface="Courier New"/>
              </a:rPr>
              <a:t>importances_mean</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index</a:t>
            </a:r>
            <a:r>
              <a:rPr sz="1450" b="0" i="0">
                <a:solidFill>
                  <a:srgbClr val="1F2328"/>
                </a:solidFill>
                <a:latin typeface="Courier New"/>
              </a:rPr>
              <a:t>=</a:t>
            </a:r>
            <a:r>
              <a:rPr sz="1450" b="0" i="0">
                <a:solidFill>
                  <a:srgbClr val="1F2328"/>
                </a:solidFill>
                <a:latin typeface="Courier New"/>
              </a:rPr>
              <a:t>X</a:t>
            </a:r>
            <a:r>
              <a:rPr sz="1450" b="0" i="0">
                <a:solidFill>
                  <a:srgbClr val="1F2328"/>
                </a:solidFill>
                <a:latin typeface="Courier New"/>
              </a:rPr>
              <a:t>.</a:t>
            </a:r>
            <a:r>
              <a:rPr sz="1450" b="0" i="0">
                <a:solidFill>
                  <a:srgbClr val="1F2328"/>
                </a:solidFill>
                <a:latin typeface="Courier New"/>
              </a:rPr>
              <a:t>columns</a:t>
            </a:r>
            <a:r>
              <a:rPr sz="1450" b="0" i="0">
                <a:solidFill>
                  <a:srgbClr val="1F2328"/>
                </a:solidFill>
                <a:latin typeface="Courier New"/>
              </a:rPr>
              <a:t>)</a:t>
            </a:r>
          </a:p>
          <a:p>
            <a:r>
              <a:rPr sz="1450" b="0" i="0">
                <a:solidFill>
                  <a:srgbClr val="1F2328"/>
                </a:solidFill>
                <a:latin typeface="Courier New"/>
              </a:rPr>
              <a:t>imp</a:t>
            </a:r>
            <a:r>
              <a:rPr sz="1450" b="0" i="0">
                <a:solidFill>
                  <a:srgbClr val="1F2328"/>
                </a:solidFill>
                <a:latin typeface="Courier New"/>
              </a:rPr>
              <a:t>.</a:t>
            </a:r>
            <a:r>
              <a:rPr sz="1450" b="0" i="0">
                <a:solidFill>
                  <a:srgbClr val="1F2328"/>
                </a:solidFill>
                <a:latin typeface="Courier New"/>
              </a:rPr>
              <a:t>sort_values</a:t>
            </a:r>
            <a:r>
              <a:rPr sz="1450" b="0" i="0">
                <a:solidFill>
                  <a:srgbClr val="1F2328"/>
                </a:solidFill>
                <a:latin typeface="Courier New"/>
              </a:rPr>
              <a:t>(</a:t>
            </a:r>
            <a:r>
              <a:rPr sz="1450" b="0" i="0">
                <a:solidFill>
                  <a:srgbClr val="1F2328"/>
                </a:solidFill>
                <a:latin typeface="Courier New"/>
              </a:rPr>
              <a:t>ascending</a:t>
            </a:r>
            <a:r>
              <a:rPr sz="1450" b="0" i="0">
                <a:solidFill>
                  <a:srgbClr val="1F2328"/>
                </a:solidFill>
                <a:latin typeface="Courier New"/>
              </a:rPr>
              <a:t>=</a:t>
            </a:r>
            <a:r>
              <a:rPr sz="1450" b="1" i="0">
                <a:solidFill>
                  <a:srgbClr val="1F2328"/>
                </a:solidFill>
                <a:latin typeface="Courier New"/>
              </a:rPr>
              <a:t>False</a:t>
            </a:r>
            <a:r>
              <a:rPr sz="1450" b="0" i="0">
                <a:solidFill>
                  <a:srgbClr val="1F2328"/>
                </a:solidFill>
                <a:latin typeface="Courier New"/>
              </a:rPr>
              <a:t>)</a:t>
            </a:r>
            <a:r>
              <a:rPr sz="1450" b="0" i="0">
                <a:solidFill>
                  <a:srgbClr val="1F2328"/>
                </a:solidFill>
                <a:latin typeface="Courier New"/>
              </a:rPr>
              <a:t>.</a:t>
            </a:r>
            <a:r>
              <a:rPr sz="1450" b="0" i="0">
                <a:solidFill>
                  <a:srgbClr val="1F2328"/>
                </a:solidFill>
                <a:latin typeface="Courier New"/>
              </a:rPr>
              <a:t>head</a:t>
            </a:r>
            <a:r>
              <a:rPr sz="1450" b="0" i="0">
                <a:solidFill>
                  <a:srgbClr val="1F2328"/>
                </a:solidFill>
                <a:latin typeface="Courier New"/>
              </a:rPr>
              <a:t>(</a:t>
            </a:r>
            <a:r>
              <a:rPr sz="1450" b="0" i="0">
                <a:solidFill>
                  <a:srgbClr val="3B4046"/>
                </a:solidFill>
                <a:latin typeface="Courier New"/>
              </a:rPr>
              <a:t>5</a:t>
            </a:r>
            <a:r>
              <a:rPr sz="1450" b="0" i="0">
                <a:solidFill>
                  <a:srgbClr val="1F2328"/>
                </a:solidFill>
                <a:latin typeface="Courier New"/>
              </a:rPr>
              <a:t>)</a:t>
            </a:r>
          </a:p>
        </p:txBody>
      </p:sp>
      <p:cxnSp>
        <p:nvCxnSpPr>
          <p:cNvPr id="7" name="Connector 6"/>
          <p:cNvCxnSpPr/>
          <p:nvPr/>
        </p:nvCxnSpPr>
        <p:spPr>
          <a:xfrm>
            <a:off x="8046719" y="1618488"/>
            <a:ext cx="3459176" cy="0"/>
          </a:xfrm>
          <a:prstGeom prst="line">
            <a:avLst/>
          </a:prstGeom>
          <a:ln w="15875">
            <a:solidFill>
              <a:srgbClr val="1F2328"/>
            </a:solidFill>
          </a:ln>
        </p:spPr>
      </p:cxnSp>
      <p:grpSp>
        <p:nvGrpSpPr>
          <p:cNvPr id="8" name="note-1"/>
          <p:cNvGrpSpPr/>
          <p:nvPr/>
        </p:nvGrpSpPr>
        <p:grpSpPr>
          <a:xfrm>
            <a:off x="8046719" y="1691640"/>
            <a:ext cx="3459176" cy="1207008"/>
            <a:chOff x="8046719" y="1691640"/>
            <a:chExt cx="3459176" cy="1207008"/>
          </a:xfrm>
        </p:grpSpPr>
        <p:sp>
          <p:nvSpPr>
            <p:cNvPr id="9" name="TextBox 8"/>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0" name="TextBox 9"/>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Shuffle one column at a time, on the test part.</a:t>
              </a:r>
            </a:p>
          </p:txBody>
        </p:sp>
        <p:cxnSp>
          <p:nvCxnSpPr>
            <p:cNvPr id="11" name="Connector 10"/>
            <p:cNvCxnSpPr/>
            <p:nvPr/>
          </p:nvCxnSpPr>
          <p:spPr>
            <a:xfrm>
              <a:off x="8046719" y="2898648"/>
              <a:ext cx="3459176" cy="0"/>
            </a:xfrm>
            <a:prstGeom prst="line">
              <a:avLst/>
            </a:prstGeom>
            <a:ln w="6350">
              <a:solidFill>
                <a:srgbClr val="C9C5BC"/>
              </a:solidFill>
            </a:ln>
          </p:spPr>
        </p:cxnSp>
      </p:grpSp>
      <p:grpSp>
        <p:nvGrpSpPr>
          <p:cNvPr id="12" name="note-2"/>
          <p:cNvGrpSpPr/>
          <p:nvPr/>
        </p:nvGrpSpPr>
        <p:grpSpPr>
          <a:xfrm>
            <a:off x="8046719" y="2971800"/>
            <a:ext cx="3459176" cy="1207007"/>
            <a:chOff x="8046719" y="2971800"/>
            <a:chExt cx="3459176" cy="1207007"/>
          </a:xfrm>
        </p:grpSpPr>
        <p:sp>
          <p:nvSpPr>
            <p:cNvPr id="13" name="TextBox 12"/>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4" name="TextBox 13"/>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If the score drops a lot, the model leaned on that column.</a:t>
              </a:r>
            </a:p>
          </p:txBody>
        </p:sp>
        <p:cxnSp>
          <p:nvCxnSpPr>
            <p:cNvPr id="15" name="Connector 14"/>
            <p:cNvCxnSpPr/>
            <p:nvPr/>
          </p:nvCxnSpPr>
          <p:spPr>
            <a:xfrm>
              <a:off x="8046719" y="4178807"/>
              <a:ext cx="3459176" cy="0"/>
            </a:xfrm>
            <a:prstGeom prst="line">
              <a:avLst/>
            </a:prstGeom>
            <a:ln w="6350">
              <a:solidFill>
                <a:srgbClr val="C9C5BC"/>
              </a:solidFill>
            </a:ln>
          </p:spPr>
        </p:cxnSp>
      </p:grpSp>
      <p:grpSp>
        <p:nvGrpSpPr>
          <p:cNvPr id="16" name="note-3"/>
          <p:cNvGrpSpPr/>
          <p:nvPr/>
        </p:nvGrpSpPr>
        <p:grpSpPr>
          <a:xfrm>
            <a:off x="8046719" y="4251959"/>
            <a:ext cx="3459176" cy="1207008"/>
            <a:chOff x="8046719" y="4251959"/>
            <a:chExt cx="3459176" cy="1207008"/>
          </a:xfrm>
        </p:grpSpPr>
        <p:sp>
          <p:nvSpPr>
            <p:cNvPr id="17" name="TextBox 16"/>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18" name="TextBox 17"/>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importances_mean is the average drop over ten shuffles.</a:t>
              </a:r>
            </a:p>
          </p:txBody>
        </p:sp>
        <p:cxnSp>
          <p:nvCxnSpPr>
            <p:cNvPr id="19" name="Connector 18"/>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Feature importance has limits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17   Forests, boosting and overfitting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A ranking of columns is a useful clue. Read it with three cautions.</a:t>
            </a:r>
          </a:p>
        </p:txBody>
      </p:sp>
      <p:cxnSp>
        <p:nvCxnSpPr>
          <p:cNvPr id="6" name="Connector 5"/>
          <p:cNvCxnSpPr/>
          <p:nvPr/>
        </p:nvCxnSpPr>
        <p:spPr>
          <a:xfrm>
            <a:off x="685800" y="2350617"/>
            <a:ext cx="10820095" cy="0"/>
          </a:xfrm>
          <a:prstGeom prst="line">
            <a:avLst/>
          </a:prstGeom>
          <a:ln w="15875">
            <a:solidFill>
              <a:srgbClr val="1F2328"/>
            </a:solidFill>
          </a:ln>
        </p:spPr>
      </p:cxnSp>
      <p:sp>
        <p:nvSpPr>
          <p:cNvPr id="7" name="TextBox 6"/>
          <p:cNvSpPr txBox="1"/>
          <p:nvPr/>
        </p:nvSpPr>
        <p:spPr>
          <a:xfrm>
            <a:off x="685800" y="2460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Shared credit</a:t>
            </a:r>
          </a:p>
        </p:txBody>
      </p:sp>
      <p:sp>
        <p:nvSpPr>
          <p:cNvPr id="8" name="TextBox 7"/>
          <p:cNvSpPr txBox="1"/>
          <p:nvPr/>
        </p:nvSpPr>
        <p:spPr>
          <a:xfrm>
            <a:off x="3611880" y="2478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Two related columns split the credit, so each looks smaller than it is.</a:t>
            </a:r>
          </a:p>
        </p:txBody>
      </p:sp>
      <p:cxnSp>
        <p:nvCxnSpPr>
          <p:cNvPr id="9" name="Connector 8"/>
          <p:cNvCxnSpPr/>
          <p:nvPr/>
        </p:nvCxnSpPr>
        <p:spPr>
          <a:xfrm>
            <a:off x="685800" y="3493617"/>
            <a:ext cx="10820095" cy="0"/>
          </a:xfrm>
          <a:prstGeom prst="line">
            <a:avLst/>
          </a:prstGeom>
          <a:ln w="6350">
            <a:solidFill>
              <a:srgbClr val="C9C5BC"/>
            </a:solidFill>
          </a:ln>
        </p:spPr>
      </p:cxnSp>
      <p:sp>
        <p:nvSpPr>
          <p:cNvPr id="10" name="TextBox 9"/>
          <p:cNvSpPr txBox="1"/>
          <p:nvPr/>
        </p:nvSpPr>
        <p:spPr>
          <a:xfrm>
            <a:off x="685800" y="3603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No proof of cause</a:t>
            </a:r>
          </a:p>
        </p:txBody>
      </p:sp>
      <p:sp>
        <p:nvSpPr>
          <p:cNvPr id="11" name="TextBox 10"/>
          <p:cNvSpPr txBox="1"/>
          <p:nvPr/>
        </p:nvSpPr>
        <p:spPr>
          <a:xfrm>
            <a:off x="3611880" y="3621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A high score says the model used the column. It does not say what changing it would do.</a:t>
            </a:r>
          </a:p>
        </p:txBody>
      </p:sp>
      <p:cxnSp>
        <p:nvCxnSpPr>
          <p:cNvPr id="12" name="Connector 11"/>
          <p:cNvCxnSpPr/>
          <p:nvPr/>
        </p:nvCxnSpPr>
        <p:spPr>
          <a:xfrm>
            <a:off x="685800" y="4636617"/>
            <a:ext cx="10820095" cy="0"/>
          </a:xfrm>
          <a:prstGeom prst="line">
            <a:avLst/>
          </a:prstGeom>
          <a:ln w="6350">
            <a:solidFill>
              <a:srgbClr val="C9C5BC"/>
            </a:solidFill>
          </a:ln>
        </p:spPr>
      </p:cxnSp>
      <p:sp>
        <p:nvSpPr>
          <p:cNvPr id="13" name="TextBox 12"/>
          <p:cNvSpPr txBox="1"/>
          <p:nvPr/>
        </p:nvSpPr>
        <p:spPr>
          <a:xfrm>
            <a:off x="685800" y="474634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Today's loans only</a:t>
            </a:r>
          </a:p>
        </p:txBody>
      </p:sp>
      <p:sp>
        <p:nvSpPr>
          <p:cNvPr id="14" name="TextBox 13"/>
          <p:cNvSpPr txBox="1"/>
          <p:nvPr/>
        </p:nvSpPr>
        <p:spPr>
          <a:xfrm>
            <a:off x="3611880" y="476463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The order can change on a new type of borrower or a new year.</a:t>
            </a:r>
          </a:p>
        </p:txBody>
      </p:sp>
      <p:cxnSp>
        <p:nvCxnSpPr>
          <p:cNvPr id="15" name="Connector 14"/>
          <p:cNvCxnSpPr/>
          <p:nvPr/>
        </p:nvCxnSpPr>
        <p:spPr>
          <a:xfrm>
            <a:off x="685800" y="5779617"/>
            <a:ext cx="10820095" cy="0"/>
          </a:xfrm>
          <a:prstGeom prst="line">
            <a:avLst/>
          </a:prstGeom>
          <a:ln w="6350">
            <a:solidFill>
              <a:srgbClr val="C9C5BC"/>
            </a:solidFill>
          </a:ln>
        </p:spPr>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When would you ship the simpler model?</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17   Forests, boosting and overfitting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Ship the simpler model</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Test scores are close, within about 0.01 AUC</a:t>
              </a:r>
            </a:p>
          </p:txBody>
        </p:sp>
        <p:cxnSp>
          <p:nvCxnSpPr>
            <p:cNvPr id="10" name="Connector 9"/>
            <p:cNvCxnSpPr/>
            <p:nvPr/>
          </p:nvCxnSpPr>
          <p:spPr>
            <a:xfrm>
              <a:off x="685800" y="3154680"/>
              <a:ext cx="5090007" cy="0"/>
            </a:xfrm>
            <a:prstGeom prst="line">
              <a:avLst/>
            </a:prstGeom>
            <a:ln w="6350">
              <a:solidFill>
                <a:srgbClr val="C9C5BC"/>
              </a:solidFill>
            </a:ln>
          </p:spPr>
        </p:cxnSp>
        <p:sp>
          <p:nvSpPr>
            <p:cNvPr id="11" name="TextBox 10"/>
            <p:cNvSpPr txBox="1"/>
            <p:nvPr/>
          </p:nvSpPr>
          <p:spPr>
            <a:xfrm>
              <a:off x="685800"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Staff must explain each decision to a borrower</a:t>
              </a:r>
            </a:p>
          </p:txBody>
        </p:sp>
        <p:cxnSp>
          <p:nvCxnSpPr>
            <p:cNvPr id="12" name="Connector 11"/>
            <p:cNvCxnSpPr/>
            <p:nvPr/>
          </p:nvCxnSpPr>
          <p:spPr>
            <a:xfrm>
              <a:off x="685800" y="4069080"/>
              <a:ext cx="5090007" cy="0"/>
            </a:xfrm>
            <a:prstGeom prst="line">
              <a:avLst/>
            </a:prstGeom>
            <a:ln w="6350">
              <a:solidFill>
                <a:srgbClr val="C9C5BC"/>
              </a:solidFill>
            </a:ln>
          </p:spPr>
        </p:cxnSp>
        <p:sp>
          <p:nvSpPr>
            <p:cNvPr id="13" name="TextBox 12"/>
            <p:cNvSpPr txBox="1"/>
            <p:nvPr/>
          </p:nvSpPr>
          <p:spPr>
            <a:xfrm>
              <a:off x="685800"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A colleague must be able to rebuild it</a:t>
              </a:r>
            </a:p>
          </p:txBody>
        </p:sp>
      </p:grpSp>
      <p:grpSp>
        <p:nvGrpSpPr>
          <p:cNvPr id="14" name="side-2"/>
          <p:cNvGrpSpPr/>
          <p:nvPr/>
        </p:nvGrpSpPr>
        <p:grpSpPr>
          <a:xfrm>
            <a:off x="6415887" y="1600200"/>
            <a:ext cx="5090008" cy="3364992"/>
            <a:chOff x="6415887" y="1600200"/>
            <a:chExt cx="5090008" cy="3364992"/>
          </a:xfrm>
        </p:grpSpPr>
        <p:sp>
          <p:nvSpPr>
            <p:cNvPr id="15" name="TextBox 14"/>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Ship the complex model</a:t>
              </a:r>
            </a:p>
          </p:txBody>
        </p:sp>
        <p:cxnSp>
          <p:nvCxnSpPr>
            <p:cNvPr id="16" name="Connector 15"/>
            <p:cNvCxnSpPr/>
            <p:nvPr/>
          </p:nvCxnSpPr>
          <p:spPr>
            <a:xfrm>
              <a:off x="6415887" y="2167128"/>
              <a:ext cx="5090008" cy="0"/>
            </a:xfrm>
            <a:prstGeom prst="line">
              <a:avLst/>
            </a:prstGeom>
            <a:ln w="15875">
              <a:solidFill>
                <a:srgbClr val="1F2328"/>
              </a:solidFill>
            </a:ln>
          </p:spPr>
        </p:cxnSp>
        <p:sp>
          <p:nvSpPr>
            <p:cNvPr id="17" name="TextBox 16"/>
            <p:cNvSpPr txBox="1"/>
            <p:nvPr/>
          </p:nvSpPr>
          <p:spPr>
            <a:xfrm>
              <a:off x="6415887"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It wins on the test part by a gain that matters in shillings</a:t>
              </a:r>
            </a:p>
          </p:txBody>
        </p:sp>
        <p:cxnSp>
          <p:nvCxnSpPr>
            <p:cNvPr id="18" name="Connector 17"/>
            <p:cNvCxnSpPr/>
            <p:nvPr/>
          </p:nvCxnSpPr>
          <p:spPr>
            <a:xfrm>
              <a:off x="6415887" y="3154680"/>
              <a:ext cx="5090008" cy="0"/>
            </a:xfrm>
            <a:prstGeom prst="line">
              <a:avLst/>
            </a:prstGeom>
            <a:ln w="6350">
              <a:solidFill>
                <a:srgbClr val="C9C5BC"/>
              </a:solidFill>
            </a:ln>
          </p:spPr>
        </p:cxnSp>
        <p:sp>
          <p:nvSpPr>
            <p:cNvPr id="19" name="TextBox 18"/>
            <p:cNvSpPr txBox="1"/>
            <p:nvPr/>
          </p:nvSpPr>
          <p:spPr>
            <a:xfrm>
              <a:off x="6415887"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The gain holds across all five folds</a:t>
              </a:r>
            </a:p>
          </p:txBody>
        </p:sp>
        <p:cxnSp>
          <p:nvCxnSpPr>
            <p:cNvPr id="20" name="Connector 19"/>
            <p:cNvCxnSpPr/>
            <p:nvPr/>
          </p:nvCxnSpPr>
          <p:spPr>
            <a:xfrm>
              <a:off x="6415887" y="4069080"/>
              <a:ext cx="5090008" cy="0"/>
            </a:xfrm>
            <a:prstGeom prst="line">
              <a:avLst/>
            </a:prstGeom>
            <a:ln w="6350">
              <a:solidFill>
                <a:srgbClr val="C9C5BC"/>
              </a:solidFill>
            </a:ln>
          </p:spPr>
        </p:cxnSp>
        <p:sp>
          <p:nvSpPr>
            <p:cNvPr id="21" name="TextBox 20"/>
            <p:cNvSpPr txBox="1"/>
            <p:nvPr/>
          </p:nvSpPr>
          <p:spPr>
            <a:xfrm>
              <a:off x="6415887"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You can monitor it and retrain it</a:t>
              </a:r>
            </a:p>
          </p:txBody>
        </p:sp>
      </p:grpSp>
      <p:grpSp>
        <p:nvGrpSpPr>
          <p:cNvPr id="22" name="verdict"/>
          <p:cNvGrpSpPr/>
          <p:nvPr/>
        </p:nvGrpSpPr>
        <p:grpSpPr>
          <a:xfrm>
            <a:off x="685800" y="5257800"/>
            <a:ext cx="10820095" cy="978408"/>
            <a:chOff x="685800" y="5257800"/>
            <a:chExt cx="10820095" cy="978408"/>
          </a:xfrm>
        </p:grpSpPr>
        <p:cxnSp>
          <p:nvCxnSpPr>
            <p:cNvPr id="23" name="Connector 22"/>
            <p:cNvCxnSpPr/>
            <p:nvPr/>
          </p:nvCxnSpPr>
          <p:spPr>
            <a:xfrm>
              <a:off x="685800" y="5257800"/>
              <a:ext cx="10820095" cy="0"/>
            </a:xfrm>
            <a:prstGeom prst="line">
              <a:avLst/>
            </a:prstGeom>
            <a:ln w="15875">
              <a:solidFill>
                <a:srgbClr val="1F2328"/>
              </a:solidFill>
            </a:ln>
          </p:spPr>
        </p:cxnSp>
        <p:sp>
          <p:nvSpPr>
            <p:cNvPr id="24" name="TextBox 23"/>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When scores are equal, ship the simple one.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Lab: tune a forest and decide if complexity paid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17   Forests, boosting and overfitting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Open the Session 17 notebook and run the setup cell</a:t>
            </a:r>
          </a:p>
        </p:txBody>
      </p:sp>
      <p:cxnSp>
        <p:nvCxnSpPr>
          <p:cNvPr id="8" name="Connector 7"/>
          <p:cNvCxnSpPr/>
          <p:nvPr/>
        </p:nvCxnSpPr>
        <p:spPr>
          <a:xfrm>
            <a:off x="685800" y="2259874"/>
            <a:ext cx="7223760" cy="0"/>
          </a:xfrm>
          <a:prstGeom prst="line">
            <a:avLst/>
          </a:prstGeom>
          <a:ln w="6350">
            <a:solidFill>
              <a:srgbClr val="C9C5BC"/>
            </a:solidFill>
          </a:ln>
        </p:spPr>
      </p:cxnSp>
      <p:sp>
        <p:nvSpPr>
          <p:cNvPr id="9" name="TextBox 8"/>
          <p:cNvSpPr txBox="1"/>
          <p:nvPr/>
        </p:nvSpPr>
        <p:spPr>
          <a:xfrm>
            <a:off x="685800" y="2351314"/>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351314"/>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Prepare the loans and split them 75 to 25</a:t>
            </a:r>
          </a:p>
        </p:txBody>
      </p:sp>
      <p:cxnSp>
        <p:nvCxnSpPr>
          <p:cNvPr id="11" name="Connector 10"/>
          <p:cNvCxnSpPr/>
          <p:nvPr/>
        </p:nvCxnSpPr>
        <p:spPr>
          <a:xfrm>
            <a:off x="685800" y="2919548"/>
            <a:ext cx="7223760" cy="0"/>
          </a:xfrm>
          <a:prstGeom prst="line">
            <a:avLst/>
          </a:prstGeom>
          <a:ln w="6350">
            <a:solidFill>
              <a:srgbClr val="C9C5BC"/>
            </a:solidFill>
          </a:ln>
        </p:spPr>
      </p:cxnSp>
      <p:sp>
        <p:nvSpPr>
          <p:cNvPr id="12" name="TextBox 11"/>
          <p:cNvSpPr txBox="1"/>
          <p:nvPr/>
        </p:nvSpPr>
        <p:spPr>
          <a:xfrm>
            <a:off x="685800" y="3010988"/>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010988"/>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Fit a logistic regression and a default forest</a:t>
            </a:r>
          </a:p>
        </p:txBody>
      </p:sp>
      <p:cxnSp>
        <p:nvCxnSpPr>
          <p:cNvPr id="14" name="Connector 13"/>
          <p:cNvCxnSpPr/>
          <p:nvPr/>
        </p:nvCxnSpPr>
        <p:spPr>
          <a:xfrm>
            <a:off x="685800" y="3579222"/>
            <a:ext cx="7223760" cy="0"/>
          </a:xfrm>
          <a:prstGeom prst="line">
            <a:avLst/>
          </a:prstGeom>
          <a:ln w="6350">
            <a:solidFill>
              <a:srgbClr val="C9C5BC"/>
            </a:solidFill>
          </a:ln>
        </p:spPr>
      </p:cxnSp>
      <p:sp>
        <p:nvSpPr>
          <p:cNvPr id="15" name="TextBox 14"/>
          <p:cNvSpPr txBox="1"/>
          <p:nvPr/>
        </p:nvSpPr>
        <p:spPr>
          <a:xfrm>
            <a:off x="685800" y="3670662"/>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670662"/>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Compare train and test AUC, and plot depth</a:t>
            </a:r>
          </a:p>
        </p:txBody>
      </p:sp>
      <p:cxnSp>
        <p:nvCxnSpPr>
          <p:cNvPr id="17" name="Connector 16"/>
          <p:cNvCxnSpPr/>
          <p:nvPr/>
        </p:nvCxnSpPr>
        <p:spPr>
          <a:xfrm>
            <a:off x="685800" y="4238897"/>
            <a:ext cx="7223760" cy="0"/>
          </a:xfrm>
          <a:prstGeom prst="line">
            <a:avLst/>
          </a:prstGeom>
          <a:ln w="6350">
            <a:solidFill>
              <a:srgbClr val="C9C5BC"/>
            </a:solidFill>
          </a:ln>
        </p:spPr>
      </p:cxnSp>
      <p:sp>
        <p:nvSpPr>
          <p:cNvPr id="18" name="TextBox 17"/>
          <p:cNvSpPr txBox="1"/>
          <p:nvPr/>
        </p:nvSpPr>
        <p:spPr>
          <a:xfrm>
            <a:off x="685800" y="4330337"/>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330337"/>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Tune the forest with GridSearchCV and fit a boosted model</a:t>
            </a:r>
          </a:p>
        </p:txBody>
      </p:sp>
      <p:cxnSp>
        <p:nvCxnSpPr>
          <p:cNvPr id="20" name="Connector 19"/>
          <p:cNvCxnSpPr/>
          <p:nvPr/>
        </p:nvCxnSpPr>
        <p:spPr>
          <a:xfrm>
            <a:off x="685800" y="4898571"/>
            <a:ext cx="7223760" cy="0"/>
          </a:xfrm>
          <a:prstGeom prst="line">
            <a:avLst/>
          </a:prstGeom>
          <a:ln w="6350">
            <a:solidFill>
              <a:srgbClr val="C9C5BC"/>
            </a:solidFill>
          </a:ln>
        </p:spPr>
      </p:cxnSp>
      <p:sp>
        <p:nvSpPr>
          <p:cNvPr id="21" name="TextBox 20"/>
          <p:cNvSpPr txBox="1"/>
          <p:nvPr/>
        </p:nvSpPr>
        <p:spPr>
          <a:xfrm>
            <a:off x="685800" y="4990011"/>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4990011"/>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List the five columns the forest leaned on</a:t>
            </a:r>
          </a:p>
        </p:txBody>
      </p:sp>
      <p:cxnSp>
        <p:nvCxnSpPr>
          <p:cNvPr id="23" name="Connector 22"/>
          <p:cNvCxnSpPr/>
          <p:nvPr/>
        </p:nvCxnSpPr>
        <p:spPr>
          <a:xfrm>
            <a:off x="685800" y="5558245"/>
            <a:ext cx="7223760" cy="0"/>
          </a:xfrm>
          <a:prstGeom prst="line">
            <a:avLst/>
          </a:prstGeom>
          <a:ln w="6350">
            <a:solidFill>
              <a:srgbClr val="C9C5BC"/>
            </a:solidFill>
          </a:ln>
        </p:spPr>
      </p:cxnSp>
      <p:sp>
        <p:nvSpPr>
          <p:cNvPr id="24" name="TextBox 23"/>
          <p:cNvSpPr txBox="1"/>
          <p:nvPr/>
        </p:nvSpPr>
        <p:spPr>
          <a:xfrm>
            <a:off x="685800" y="5649685"/>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7</a:t>
            </a:r>
          </a:p>
        </p:txBody>
      </p:sp>
      <p:sp>
        <p:nvSpPr>
          <p:cNvPr id="25" name="TextBox 24"/>
          <p:cNvSpPr txBox="1"/>
          <p:nvPr/>
        </p:nvSpPr>
        <p:spPr>
          <a:xfrm>
            <a:off x="1234440" y="5649685"/>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Write the shipping decision in one sentence</a:t>
            </a:r>
          </a:p>
        </p:txBody>
      </p:sp>
      <p:cxnSp>
        <p:nvCxnSpPr>
          <p:cNvPr id="26" name="Connector 25"/>
          <p:cNvCxnSpPr/>
          <p:nvPr/>
        </p:nvCxnSpPr>
        <p:spPr>
          <a:xfrm>
            <a:off x="685800" y="6217920"/>
            <a:ext cx="7223760" cy="0"/>
          </a:xfrm>
          <a:prstGeom prst="line">
            <a:avLst/>
          </a:prstGeom>
          <a:ln w="6350">
            <a:solidFill>
              <a:srgbClr val="C9C5BC"/>
            </a:solidFill>
          </a:ln>
        </p:spPr>
      </p:cxnSp>
      <p:cxnSp>
        <p:nvCxnSpPr>
          <p:cNvPr id="27" name="Connector 26"/>
          <p:cNvCxnSpPr/>
          <p:nvPr/>
        </p:nvCxnSpPr>
        <p:spPr>
          <a:xfrm>
            <a:off x="8458200" y="1600200"/>
            <a:ext cx="3047695" cy="0"/>
          </a:xfrm>
          <a:prstGeom prst="line">
            <a:avLst/>
          </a:prstGeom>
          <a:ln w="15875">
            <a:solidFill>
              <a:srgbClr val="1F2328"/>
            </a:solidFill>
          </a:ln>
        </p:spPr>
      </p:cxnSp>
      <p:sp>
        <p:nvSpPr>
          <p:cNvPr id="28" name="TextBox 27"/>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9" name="TextBox 28"/>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Google Colab
40 minutes</a:t>
            </a:r>
          </a:p>
        </p:txBody>
      </p:sp>
      <p:cxnSp>
        <p:nvCxnSpPr>
          <p:cNvPr id="30" name="Connector 29"/>
          <p:cNvCxnSpPr/>
          <p:nvPr/>
        </p:nvCxnSpPr>
        <p:spPr>
          <a:xfrm>
            <a:off x="8458200" y="3200400"/>
            <a:ext cx="3047695" cy="0"/>
          </a:xfrm>
          <a:prstGeom prst="line">
            <a:avLst/>
          </a:prstGeom>
          <a:ln w="6350">
            <a:solidFill>
              <a:srgbClr val="C9C5BC"/>
            </a:solidFill>
          </a:ln>
        </p:spPr>
      </p:cxnSp>
      <p:sp>
        <p:nvSpPr>
          <p:cNvPr id="31" name="TextBox 30"/>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32" name="TextBox 31"/>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A table of train and test scores for each model, and a one sentence decision that names the model you would ship.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17   Forests, boosting and overfitting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A model scores 0.99 on its training loans and 0.75 on its test loans. What is happening?</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It is overfitting: it memorised the training loans and does not hold up on new ones.</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How does a forest differ from boosting?</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A forest grows many trees side by side and averages them. Boosting grows small trees one after another, each fixing the last one's mistakes.</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Two models have the same test score. One is a logistic regression and one is a forest. Which do you ship?</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The logistic regression. When scores are equal, the simpler model wins.</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17   Forests, boosting and overfitting</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Overfitting is a model that is great on the data it studied and weak on new data. Always show the train score beside the test score.</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Forests average many trees. Boosting adds small trees that fix mistakes. Tune a few settings with cross-validation.</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Importance is a clue about the model. It does not prove cause. When scores are equal, ship the simpler model.</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Finding structure without labels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