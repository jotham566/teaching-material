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last session. Over twenty three sessions you've gone from a spreadsheet to a tested model and a small app. Today you present what you built. We'll practise telling the story of a result, saying its limits first, and answering the hard questions a manager or a colleague will ask. We'll also list what this course did not cover, and build your six month plan for what to learn next, using free courses.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leave able to present a result in ten minutes, with its limits, in words a manager can use. You'll answer questions on method and risk without panic, because you'll have prepared three of them in advance. And you'll choose your next free courses from a gap list. There's no code today. The teaching half covers the story, the limits and the likely questions. The lab is a rehearsal where you present to a partner and score each other against a marking guide.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today. A capstone is the big project that finishes a course, and you built yours across the last sessions. A limitation is something your result cannot tell you. An executive summary is the short top paragraph a busy person reads first. A portfolio is a small set of your projects that a stranger can open. A rubric is a marking guide, the way a checklist works in a spreadsheet. A learning path is the plan for what you study next, month by month.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on last session's checks, before we turn to presenting.</a:t>
            </a:r>
          </a:p>
          <a:p/>
          <a:p>
            <a:r>
              <a:t>First. What is data drift, and how do you watch for it? Have a think.</a:t>
            </a:r>
          </a:p>
          <a:p/>
          <a:p>
            <a:r>
              <a:t>The data coming in slowly changes, so a model built on old data gets worse. Each month you compare the key inputs with the training data, and when outcomes arrive you compare predicted with actual. Today you'll learn to say that watch out loud, as part of your limits.</a:t>
            </a:r>
          </a:p>
          <a:p/>
          <a:p>
            <a:r>
              <a:t>Second. A rule never uses gender but flags many more men than women. What is going on? No rush.</a:t>
            </a:r>
          </a:p>
          <a:p/>
          <a:p>
            <a:r>
              <a:t>A proxy variable is at work. In our loans, occupation carries information about gender. You measure the rate for every group, and you report the gap.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good result tells a story with three parts. The question, the evidence, and the decision.</a:t>
            </a:r>
          </a:p>
          <a:p/>
          <a:p>
            <a:r>
              <a:t>The question is what someone needs to decide. In our loan example, the question is which loans may go bad, so that loan officers know where to look first. Notice it's a question about a decision, and it has nothing to do with algorithms.</a:t>
            </a:r>
          </a:p>
          <a:p/>
          <a:p>
            <a:r>
              <a:t>The evidence is what you found, with the baseline beside it. Our model finds defaults among loans it never saw before.</a:t>
            </a:r>
          </a:p>
          <a:p/>
          <a:p>
            <a:r>
              <a:t>The decision is what you recommend. Here, the model chooses which loans get a closer look, and an officer makes the final call. When you hold those three in your head, your presentation almost writes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evidence we'll use for practice. These are the Nile Microfinance loans from Sessions 14 to 17.</a:t>
            </a:r>
          </a:p>
          <a:p/>
          <a:p>
            <a:r>
              <a:t>There are eight thousand loans, and one thousand and four of them defaulted. That's about one in eight.</a:t>
            </a:r>
          </a:p>
          <a:p/>
          <a:p>
            <a:r>
              <a:t>Now the number people forget. If you said repaid for every single loan, you'd be right about eighty seven and a half percent of the time. That's the baseline, and it needs no model at all.</a:t>
            </a:r>
          </a:p>
          <a:p/>
          <a:p>
            <a:r>
              <a:t>Without the leaked column, the model reaches an AUC of about zero point seven six. Your own run will land near that figure. A result like this only means something when the baseline sits beside it, and that's what you'll show a manager.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open a presentation.</a:t>
            </a:r>
          </a:p>
          <a:p/>
          <a:p>
            <a:r>
              <a:t>On the left, the result comes first. You open with your best number. The limits arrive in the last minute, when people have stopped listening, or you run out of time before you reach them.</a:t>
            </a:r>
          </a:p>
          <a:p/>
          <a:p>
            <a:r>
              <a:t>The room has already heard the claim. Anything you say afterwards sounds like a retreat.</a:t>
            </a:r>
          </a:p>
          <a:p/>
          <a:p>
            <a:r>
              <a:t>On the right, you open with what the data covers. Eight thousand loans, ten districts, a few years. Then you name what the model cannot do. It can't tell you why a borrower defaults, and it knows nothing about borrowers who were refused a loan. Then you show the result.</a:t>
            </a:r>
          </a:p>
          <a:p/>
          <a:p>
            <a:r>
              <a:t>At the bottom, the verdict. When you name the limits first, people trust what follows. Try it in your own words in the lab.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trap for today. It runs without an error and the number is true.</a:t>
            </a:r>
          </a:p>
          <a:p/>
          <a:p>
            <a:r>
              <a:t>You tell the manager the loan model is eighty seven point six percent accurate. That sounds strong.</a:t>
            </a:r>
          </a:p>
          <a:p/>
          <a:p>
            <a:r>
              <a:t>Then a careful person asks what a model that always says repaid would score. On the same test loans, it scores eighty six point three percent. Your model is barely ahead. And at the usual cut off, it finds only about fifteen out of every hundred defaults. Your own run will land near these figures.</a:t>
            </a:r>
          </a:p>
          <a:p/>
          <a:p>
            <a:r>
              <a:t>A correct number can still leave the wrong impression.</a:t>
            </a:r>
          </a:p>
          <a:p/>
          <a:p>
            <a:r>
              <a:t>The fix is to put three things in one sentence. The baseline, the share of defaults found, and the limit.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plan for your presentation. Five slides, ten minutes.</a:t>
            </a:r>
          </a:p>
          <a:p/>
          <a:p>
            <a:r>
              <a:t>Slide one is the question. One minute. Who needs to decide what?</a:t>
            </a:r>
          </a:p>
          <a:p/>
          <a:p>
            <a:r>
              <a:t>Slide two is the data. Two minutes. What it covers, and what it leaves out. This is where you say your first limits.</a:t>
            </a:r>
          </a:p>
          <a:p/>
          <a:p>
            <a:r>
              <a:t>Slide three is the evidence. Three minutes, the longest. Show the result beside its baseline, in units the manager cares about, such as loans or shillings.</a:t>
            </a:r>
          </a:p>
          <a:p/>
          <a:p>
            <a:r>
              <a:t>Slide four is the risk. Two minutes. What could go wrong, whether the model treats groups differently, and who will keep checking it.</a:t>
            </a:r>
          </a:p>
          <a:p/>
          <a:p>
            <a:r>
              <a:t>Slide five is the decision. Two minutes. What you recommend and what happens next.</a:t>
            </a:r>
          </a:p>
          <a:p/>
          <a:p>
            <a:r>
              <a:t>One more thing. Open with your executive summary, the answer in one sentence, before slide one. Then rehearse with a timer.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few habits for the room itself. Your audience is a manager, and managers have little time.</a:t>
            </a:r>
          </a:p>
          <a:p/>
          <a:p>
            <a:r>
              <a:t>Start with the answer. One sentence on what you recommend, before any detail. If you get cut off after thirty seconds, they still have what they need.</a:t>
            </a:r>
          </a:p>
          <a:p/>
          <a:p>
            <a:r>
              <a:t>Use plain words. When you mean recall, say the defaults we miss. When you mean the cut off, say how cautious we want to be.</a:t>
            </a:r>
          </a:p>
          <a:p/>
          <a:p>
            <a:r>
              <a:t>Give one number per slide, with its baseline and what it means in loans or shillings. Four numbers on a slide means none of them is heard.</a:t>
            </a:r>
          </a:p>
          <a:p/>
          <a:p>
            <a:r>
              <a:t>And keep code out of the slides. Keep the notebook open in another tab. When someone asks how you did something, you can show them, and that earns respect.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will ask questions after you present. Here are three about method, with answers you can borrow. Answer each in your head first.</a:t>
            </a:r>
          </a:p>
          <a:p/>
          <a:p>
            <a:r>
              <a:t>First. How do you know it works on new loans? Take your time.</a:t>
            </a:r>
          </a:p>
          <a:p/>
          <a:p>
            <a:r>
              <a:t>I kept a test set that the model never saw, and I compared the score with a simple baseline. Both parts matter.</a:t>
            </a:r>
          </a:p>
          <a:p/>
          <a:p>
            <a:r>
              <a:t>Second. Why did you choose that metric? Think it over.</a:t>
            </a:r>
          </a:p>
          <a:p/>
          <a:p>
            <a:r>
              <a:t>Because of the cost. Missing a default costs more than a closer look at a good loan. So I watched recall and AUC, and not accuracy alone.</a:t>
            </a:r>
          </a:p>
          <a:p/>
          <a:p>
            <a:r>
              <a:t>Third. Could this result be luck? Give that a moment.</a:t>
            </a:r>
          </a:p>
          <a:p/>
          <a:p>
            <a:r>
              <a:t>I used cross validation, which tests the model on several different splits of the data. The score held across them, and I report the range. Use your own words and your own numbers.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questions, about risk. These are the ones that separate a careful analyst from an excited one.</a:t>
            </a:r>
          </a:p>
          <a:p/>
          <a:p>
            <a:r>
              <a:t>First. What could go wrong once people use it? Sit with it for a second.</a:t>
            </a:r>
          </a:p>
          <a:p/>
          <a:p>
            <a:r>
              <a:t>The customers will change, and the model will drift. So I would track the error every month, and set a date when someone reviews the model and decides whether to retrain it. Name an owner for that job, too.</a:t>
            </a:r>
          </a:p>
          <a:p/>
          <a:p>
            <a:r>
              <a:t>Second. Is it fair, and are we allowed to use this data? Mull it over.</a:t>
            </a:r>
          </a:p>
          <a:p/>
          <a:p>
            <a:r>
              <a:t>It's two questions, so answer both. I compared the error rates across groups such as district and gender, and I checked our duties under the Data Protection and Privacy Act of 2019. And a person makes the final call. If you have not finished a check, say so. Saying what you have not checked yet is a strength, as long as you also say when you will.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presentation, keep the work. A portfolio is a few projects that a stranger can open and understand in five minutes. GitHub is the free place to put it, and you met it in Session 23.</a:t>
            </a:r>
          </a:p>
          <a:p/>
          <a:p>
            <a:r>
              <a:t>Start each project with a README. It's the front page. The question, the result, the limits and how to run it.</a:t>
            </a:r>
          </a:p>
          <a:p/>
          <a:p>
            <a:r>
              <a:t>Make sure the notebook runs from the top to the bottom on a fresh start. In Colab, restart the session and run everything. If it breaks halfway, so will a stranger's attempt.</a:t>
            </a:r>
          </a:p>
          <a:p/>
          <a:p>
            <a:r>
              <a:t>Use data you're allowed to share. The generated data from this course is fine.</a:t>
            </a:r>
          </a:p>
          <a:p/>
          <a:p>
            <a:r>
              <a:t>And keep it small. Two or three projects you can explain well beat ten you can't.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more trap, and it also runs without any error.</a:t>
            </a:r>
          </a:p>
          <a:p/>
          <a:p>
            <a:r>
              <a:t>You're proud of your project, so you publish it. The repository looks tidy. But one file holds real customer names and phone numbers from your workplace, because that's the data you used when you practised.</a:t>
            </a:r>
          </a:p>
          <a:p/>
          <a:p>
            <a:r>
              <a:t>A public repository can be read by anyone. Copies can be made, and deleting the file later does not undo them. The Data Protection and Privacy Act of 2019 puts duties on whoever holds personal data, and I'm not a lawyer, so if you're unsure, ask your organisation's data protection officer before you publish anything.</a:t>
            </a:r>
          </a:p>
          <a:p/>
          <a:p>
            <a:r>
              <a:t>The fix is simple. Use the generated data from this course, or data you're allowed to share. Open every file before your first push. And keep workplace data inside workplace systems.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this course did not cover.</a:t>
            </a:r>
          </a:p>
          <a:p/>
          <a:p>
            <a:r>
              <a:t>Mathematics by hand. You can read a result and know what it means. You have not derived the formulas or calculated them on paper.</a:t>
            </a:r>
          </a:p>
          <a:p/>
          <a:p>
            <a:r>
              <a:t>Data structures and algorithms. Many job interviews test them with puzzles. That needs its own practice.</a:t>
            </a:r>
          </a:p>
          <a:p/>
          <a:p>
            <a:r>
              <a:t>Big data tools. Everything we used fitted in one notebook.</a:t>
            </a:r>
          </a:p>
          <a:p/>
          <a:p>
            <a:r>
              <a:t>Cloud platforms. We used free browser tools only, so you have not worked on the big paid platforms.</a:t>
            </a:r>
          </a:p>
          <a:p/>
          <a:p>
            <a:r>
              <a:t>Deep learning from scratch. You trained a small network and used a pretrained one. You did not build one from the ground up.</a:t>
            </a:r>
          </a:p>
          <a:p/>
          <a:p>
            <a:r>
              <a:t>And production MLOps with containers. Your app is small and has no container around it.</a:t>
            </a:r>
          </a:p>
          <a:p/>
          <a:p>
            <a:r>
              <a:t>Say these gaps yourself, before anyone asks. It makes the rest of what you say easier to believe.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number to keep in mind. This course is forty eight hours, in twenty four sessions of two hours.</a:t>
            </a:r>
          </a:p>
          <a:p/>
          <a:p>
            <a:r>
              <a:t>The Google and IBM data certificates are often quoted at around one hundred and fifty to two hundred and forty hours each, depending on the source. Providers change their figures, so check the current number on each course page.</a:t>
            </a:r>
          </a:p>
          <a:p/>
          <a:p>
            <a:r>
              <a:t>That is roughly three to five times the time. When you describe your learning, say what you did, which is a focused, practical course that took you from a spreadsheet to a tested model and a small app.</a:t>
            </a:r>
          </a:p>
          <a:p/>
          <a:p>
            <a:r>
              <a:t>It's a good base. The next slides show you how to build on it for free.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gap list, with a free next step for each. You don't need all of them. Pick two.</a:t>
            </a:r>
          </a:p>
          <a:p/>
          <a:p>
            <a:r>
              <a:t>For Python habits, Harvard's CS50P. For everyday data work, the Kaggle Learn Pandas course. For models beyond what we did, Kaggle Learn's Intermediate Machine Learning.</a:t>
            </a:r>
          </a:p>
          <a:p/>
          <a:p>
            <a:r>
              <a:t>Google's Machine Learning Crash Course covers the basics again from a different angle, which helps. For deep learning, fast.ai's Practical Deep Learning for Coders. For AI ideas and ethics in plain language, the University of Helsinki's Elements of AI. And for language models, the DeepLearning.AI materials.</a:t>
            </a:r>
          </a:p>
          <a:p/>
          <a:p>
            <a:r>
              <a:t>One warning. Check the current terms before you start. Free audit and certificate rules change, and a course that was free to certify last year may not be this year.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here's the path, six months in three steps.</a:t>
            </a:r>
          </a:p>
          <a:p/>
          <a:p>
            <a:r>
              <a:t>Months one and two are for repeating what you did on new data. Take the labs again with a different file, say your own sector's data if you can share it. Kaggle Learn's Pandas and data cleaning fit here.</a:t>
            </a:r>
          </a:p>
          <a:p/>
          <a:p>
            <a:r>
              <a:t>Months three and four are for depth in one area. Pick one. The Google Crash Course, or fast.ai, whichever matches the work you do.</a:t>
            </a:r>
          </a:p>
          <a:p/>
          <a:p>
            <a:r>
              <a:t>Months five and six are for publishing. Two projects on GitHub and one deployed app. This is the step that turns learning into evidence.</a:t>
            </a:r>
          </a:p>
          <a:p/>
          <a:p>
            <a:r>
              <a:t>Then choose a weekly hour budget you can keep. Three hours every week beats twenty hours in one weekend and then nothing. In the lab you'll write your own version.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rubric, the marking guide, for your presentation and for the feedback you give.</a:t>
            </a:r>
          </a:p>
          <a:p/>
          <a:p>
            <a:r>
              <a:t>Question and evidence. Your question fits in one sentence, and every claim points back to data.</a:t>
            </a:r>
          </a:p>
          <a:p/>
          <a:p>
            <a:r>
              <a:t>Metric and baseline. You chose a metric because of what a mistake costs. You measured it on data the model never saw, and you put a simple baseline beside it.</a:t>
            </a:r>
          </a:p>
          <a:p/>
          <a:p>
            <a:r>
              <a:t>Limits and fairness. You say the limits first, you name the risks, you compare how the model treats different groups, and you've checked your data protection duties.</a:t>
            </a:r>
          </a:p>
          <a:p/>
          <a:p>
            <a:r>
              <a:t>Clarity. Five slides, ten minutes, plain words, and one decision at the end.</a:t>
            </a:r>
          </a:p>
          <a:p/>
          <a:p>
            <a:r>
              <a:t>In the lab you'll use these same four rows to give a partner feedback. Be kind and be specific. Point to a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lab, a moment to look back. In Session 1 you wrote a business question of your own. Find it and read it again.</a:t>
            </a:r>
          </a:p>
          <a:p/>
          <a:p>
            <a:r>
              <a:t>First, rewrite it using what you know now. You'll probably make it smaller and sharper, and you'll know what data it needs.</a:t>
            </a:r>
          </a:p>
          <a:p/>
          <a:p>
            <a:r>
              <a:t>Second, name one thing you can do today that you could not do in Session 1. Maybe it's loading a file. Maybe it's reading a confusion matrix. Say it plainly.</a:t>
            </a:r>
          </a:p>
          <a:p/>
          <a:p>
            <a:r>
              <a:t>Third, name one thing you cannot do yet. That goes on your gap list, and it tells you where to start your six months.</a:t>
            </a:r>
          </a:p>
          <a:p/>
          <a:p>
            <a:r>
              <a:t>You started this course with a spreadsheet and a question.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the five slide outline for your own capstone, with the minutes beside each slide. There's no code today, only your voice and your slides. Then rehearse aloud with a timer. Everyone runs long the first time, so cut a sentence from the slide that ran longest.</a:t>
            </a:r>
          </a:p>
          <a:p/>
          <a:p>
            <a:r>
              <a:t>Next, write answers to three likely questions. One on method, one on metric, one on risk.</a:t>
            </a:r>
          </a:p>
          <a:p/>
          <a:p>
            <a:r>
              <a:t>Then pair up. Present for ten minutes. Your partner scores you on the four rows of the rubric, and writes one comment for each, pointing to a slide. Then swap.</a:t>
            </a:r>
          </a:p>
          <a:p/>
          <a:p>
            <a:r>
              <a:t>Last, write your six month path. Three blocks, one named free course in each, and a weekly hour budget. Check the current terms for each course.</a:t>
            </a:r>
          </a:p>
          <a:p/>
          <a:p>
            <a:r>
              <a:t>You're done when you finish near ten minutes and hold feedback on all four rows. I'll be walking round to listen.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three parts that turn a result into a story. Which three? Picture it for a second.</a:t>
            </a:r>
          </a:p>
          <a:p/>
          <a:p>
            <a:r>
              <a:t>The question, the evidence and the decision.</a:t>
            </a:r>
          </a:p>
          <a:p/>
          <a:p>
            <a:r>
              <a:t>Second, what to say before you show a result. Name two things. Let it settle.</a:t>
            </a:r>
          </a:p>
          <a:p/>
          <a:p>
            <a:r>
              <a:t>What the data covers, and what the model cannot do. Naming the baseline helps too.</a:t>
            </a:r>
          </a:p>
          <a:p/>
          <a:p>
            <a:r>
              <a:t>Third, where do you confirm the terms of a free course? Pause on that.</a:t>
            </a:r>
          </a:p>
          <a:p/>
          <a:p>
            <a:r>
              <a:t>On the provider's own page, before you start. Free audit and certificate rules change, and you don't want a surprise halfway through.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a result as a question, evidence and a decision, and say the limits first.</a:t>
            </a:r>
          </a:p>
          <a:p/>
          <a:p>
            <a:r>
              <a:t>Report the baseline and the cost beside every number, and answer questions about risk in plain words, including what you haven't checked yet.</a:t>
            </a:r>
          </a:p>
          <a:p/>
          <a:p>
            <a:r>
              <a:t>Pick two free courses from the gap list, check their current terms, and set a weekly hour budget you can keep.</a:t>
            </a:r>
          </a:p>
          <a:p/>
          <a:p>
            <a:r>
              <a:t>This is the last session, so there's no next one. Your six month path starts now. Thank you for the twenty four sessions, and for the questions you asked. Publish your work, keep practising, and tell me what you build.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24   Capstone presentations and your path from here</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24</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24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Capstone presentations and your path from here</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Can you explain what you built, what it can and cannot do, and what you will learn next?</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Present a result with its limits.</a:t>
            </a:r>
          </a:p>
        </p:txBody>
      </p:sp>
      <p:cxnSp>
        <p:nvCxnSpPr>
          <p:cNvPr id="7" name="Connector 6"/>
          <p:cNvCxnSpPr/>
          <p:nvPr/>
        </p:nvCxnSpPr>
        <p:spPr>
          <a:xfrm>
            <a:off x="685800" y="2309774"/>
            <a:ext cx="5394960" cy="0"/>
          </a:xfrm>
          <a:prstGeom prst="line">
            <a:avLst/>
          </a:prstGeom>
          <a:ln w="6350">
            <a:solidFill>
              <a:srgbClr val="C9C5BC"/>
            </a:solidFill>
          </a:ln>
        </p:spPr>
      </p:cxnSp>
      <p:sp>
        <p:nvSpPr>
          <p:cNvPr id="8" name="TextBox 7"/>
          <p:cNvSpPr txBox="1"/>
          <p:nvPr/>
        </p:nvSpPr>
        <p:spPr>
          <a:xfrm>
            <a:off x="685800" y="247436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Answer questions on method and risk.</a:t>
            </a:r>
          </a:p>
        </p:txBody>
      </p:sp>
      <p:cxnSp>
        <p:nvCxnSpPr>
          <p:cNvPr id="9" name="Connector 8"/>
          <p:cNvCxnSpPr/>
          <p:nvPr/>
        </p:nvCxnSpPr>
        <p:spPr>
          <a:xfrm>
            <a:off x="685800" y="2982772"/>
            <a:ext cx="5394960" cy="0"/>
          </a:xfrm>
          <a:prstGeom prst="line">
            <a:avLst/>
          </a:prstGeom>
          <a:ln w="6350">
            <a:solidFill>
              <a:srgbClr val="C9C5BC"/>
            </a:solidFill>
          </a:ln>
        </p:spPr>
      </p:cxnSp>
      <p:sp>
        <p:nvSpPr>
          <p:cNvPr id="10" name="TextBox 9"/>
          <p:cNvSpPr txBox="1"/>
          <p:nvPr/>
        </p:nvSpPr>
        <p:spPr>
          <a:xfrm>
            <a:off x="685800" y="3147364"/>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Choose next free courses from a gap list.</a:t>
            </a:r>
          </a:p>
        </p:txBody>
      </p:sp>
      <p:cxnSp>
        <p:nvCxnSpPr>
          <p:cNvPr id="11" name="Connector 10"/>
          <p:cNvCxnSpPr/>
          <p:nvPr/>
        </p:nvCxnSpPr>
        <p:spPr>
          <a:xfrm>
            <a:off x="685800" y="365577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473746">
                <a:tc>
                  <a:txBody>
                    <a:bodyPr wrap="square"/>
                    <a:lstStyle/>
                    <a:p>
                      <a:r>
                        <a:rPr sz="17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7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743189">
                <a:tc>
                  <a:txBody>
                    <a:bodyPr wrap="square"/>
                    <a:lstStyle/>
                    <a:p>
                      <a:r>
                        <a:rPr sz="1700" b="1" i="0">
                          <a:solidFill>
                            <a:srgbClr val="1F2328"/>
                          </a:solidFill>
                          <a:latin typeface="Calibri"/>
                        </a:rPr>
                        <a:t>Capstone</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larger project that ends a course and shows what you can do with it.</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final workbook that uses every skill</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Limitation</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Something your result cannot tell you, such as who the data left out.</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note under a table saying what it excludes</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Executive summary</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short opening paragraph with the answer and the decision, for a busy reader.</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The summary cell at the top of a report sheet</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Portfolio</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small set of your projects that others can open and judge.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folder of your best workbooks</a:t>
                      </a:r>
                    </a:p>
                  </a:txBody>
                  <a:tcPr marL="137160" marR="91440" marT="64008" marB="64008" anchor="ctr">
                    <a:lnL w="0">
                      <a:noFill/>
                    </a:lnL>
                    <a:lnR w="0">
                      <a:noFill/>
                    </a:lnR>
                    <a:lnT w="0">
                      <a:noFill/>
                    </a:lnT>
                    <a:lnB w="6350">
                      <a:solidFill>
                        <a:srgbClr val="C9C5BC"/>
                      </a:solidFill>
                    </a:lnB>
                    <a:noFill/>
                  </a:tcPr>
                </a:tc>
              </a:tr>
              <a:tr h="743189">
                <a:tc>
                  <a:txBody>
                    <a:bodyPr wrap="square"/>
                    <a:lstStyle/>
                    <a:p>
                      <a:r>
                        <a:rPr sz="1700" b="1" i="0">
                          <a:solidFill>
                            <a:srgbClr val="1F2328"/>
                          </a:solidFill>
                          <a:latin typeface="Calibri"/>
                        </a:rPr>
                        <a:t>Rubric</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marking guide that lists what good work looks like for each criterion.</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checklist column beside a task list</a:t>
                      </a:r>
                    </a:p>
                  </a:txBody>
                  <a:tcPr marL="137160" marR="91440" marT="64008" marB="64008" anchor="ctr">
                    <a:lnL w="0">
                      <a:noFill/>
                    </a:lnL>
                    <a:lnR w="0">
                      <a:noFill/>
                    </a:lnR>
                    <a:lnT w="0">
                      <a:noFill/>
                    </a:lnT>
                    <a:lnB w="6350">
                      <a:solidFill>
                        <a:srgbClr val="C9C5BC"/>
                      </a:solidFill>
                    </a:lnB>
                    <a:noFill/>
                  </a:tcPr>
                </a:tc>
              </a:tr>
              <a:tr h="473746">
                <a:tc>
                  <a:txBody>
                    <a:bodyPr wrap="square"/>
                    <a:lstStyle/>
                    <a:p>
                      <a:r>
                        <a:rPr sz="1700" b="1" i="0">
                          <a:solidFill>
                            <a:srgbClr val="1F2328"/>
                          </a:solidFill>
                          <a:latin typeface="Calibri"/>
                        </a:rPr>
                        <a:t>Learning path</a:t>
                      </a:r>
                    </a:p>
                  </a:txBody>
                  <a:tcPr marL="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plan of what to study next, in order, with time set aside.</a:t>
                      </a:r>
                    </a:p>
                  </a:txBody>
                  <a:tcPr marL="137160" marR="91440" marT="64008" marB="64008" anchor="ctr">
                    <a:lnL w="0">
                      <a:noFill/>
                    </a:lnL>
                    <a:lnR w="0">
                      <a:noFill/>
                    </a:lnR>
                    <a:lnT w="0">
                      <a:noFill/>
                    </a:lnT>
                    <a:lnB w="6350">
                      <a:solidFill>
                        <a:srgbClr val="C9C5BC"/>
                      </a:solidFill>
                    </a:lnB>
                    <a:noFill/>
                  </a:tcPr>
                </a:tc>
                <a:tc>
                  <a:txBody>
                    <a:bodyPr wrap="square"/>
                    <a:lstStyle/>
                    <a:p>
                      <a:r>
                        <a:rPr sz="1700" b="0" i="0">
                          <a:solidFill>
                            <a:srgbClr val="3B4046"/>
                          </a:solidFill>
                          <a:latin typeface="Calibri"/>
                        </a:rPr>
                        <a:t>A project plan with dates</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23</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is data drift, and how do you watch for it?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incoming data slowly changes, so an old model gets worse. Compare key inputs with the training data each month, and predicted with actual outcomes.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A rule never uses gender but flags many more men than women. What is going on?</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proxy variable, such as occupation, carries the information. Measure the rate for every group and report the gap.</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result tells a story in three parts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Question, evidence, decision. If one part is missing, the room will not know what to do with your work.</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Question</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Which loans may go bad, so officers know where to look first?</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Evidence</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A model that finds defaults on loans it never saw, beside a baseline.</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Decision</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Use it to choose which loans get a closer look, with an officer making the call.</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evidence behind the loan story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8,000</a:t>
            </a:r>
          </a:p>
        </p:txBody>
      </p:sp>
      <p:sp>
        <p:nvSpPr>
          <p:cNvPr id="7" name="TextBox 6"/>
          <p:cNvSpPr txBox="1"/>
          <p:nvPr/>
        </p:nvSpPr>
        <p:spPr>
          <a:xfrm>
            <a:off x="5257800" y="164592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loans in the Nile Microfinance file</a:t>
            </a:r>
          </a:p>
        </p:txBody>
      </p:sp>
      <p:cxnSp>
        <p:nvCxnSpPr>
          <p:cNvPr id="8" name="Connector 7"/>
          <p:cNvCxnSpPr/>
          <p:nvPr/>
        </p:nvCxnSpPr>
        <p:spPr>
          <a:xfrm>
            <a:off x="685800" y="2491740"/>
            <a:ext cx="10820095" cy="0"/>
          </a:xfrm>
          <a:prstGeom prst="line">
            <a:avLst/>
          </a:prstGeom>
          <a:ln w="6350">
            <a:solidFill>
              <a:srgbClr val="C9C5BC"/>
            </a:solidFill>
          </a:ln>
        </p:spPr>
      </p:cxnSp>
      <p:sp>
        <p:nvSpPr>
          <p:cNvPr id="9" name="TextBox 8"/>
          <p:cNvSpPr txBox="1"/>
          <p:nvPr/>
        </p:nvSpPr>
        <p:spPr>
          <a:xfrm>
            <a:off x="685800" y="253746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1,004</a:t>
            </a:r>
          </a:p>
        </p:txBody>
      </p:sp>
      <p:sp>
        <p:nvSpPr>
          <p:cNvPr id="10" name="TextBox 9"/>
          <p:cNvSpPr txBox="1"/>
          <p:nvPr/>
        </p:nvSpPr>
        <p:spPr>
          <a:xfrm>
            <a:off x="5257800" y="253746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of them defaulted</a:t>
            </a:r>
          </a:p>
        </p:txBody>
      </p:sp>
      <p:cxnSp>
        <p:nvCxnSpPr>
          <p:cNvPr id="11" name="Connector 10"/>
          <p:cNvCxnSpPr/>
          <p:nvPr/>
        </p:nvCxnSpPr>
        <p:spPr>
          <a:xfrm>
            <a:off x="685800" y="3383280"/>
            <a:ext cx="10820095" cy="0"/>
          </a:xfrm>
          <a:prstGeom prst="line">
            <a:avLst/>
          </a:prstGeom>
          <a:ln w="6350">
            <a:solidFill>
              <a:srgbClr val="C9C5BC"/>
            </a:solidFill>
          </a:ln>
        </p:spPr>
      </p:cxnSp>
      <p:sp>
        <p:nvSpPr>
          <p:cNvPr id="12" name="TextBox 11"/>
          <p:cNvSpPr txBox="1"/>
          <p:nvPr/>
        </p:nvSpPr>
        <p:spPr>
          <a:xfrm>
            <a:off x="685800" y="342900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87.5%</a:t>
            </a:r>
          </a:p>
        </p:txBody>
      </p:sp>
      <p:sp>
        <p:nvSpPr>
          <p:cNvPr id="13" name="TextBox 12"/>
          <p:cNvSpPr txBox="1"/>
          <p:nvPr/>
        </p:nvSpPr>
        <p:spPr>
          <a:xfrm>
            <a:off x="5257800" y="342900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right by always saying repaid</a:t>
            </a:r>
          </a:p>
        </p:txBody>
      </p:sp>
      <p:cxnSp>
        <p:nvCxnSpPr>
          <p:cNvPr id="14" name="Connector 13"/>
          <p:cNvCxnSpPr/>
          <p:nvPr/>
        </p:nvCxnSpPr>
        <p:spPr>
          <a:xfrm>
            <a:off x="685800" y="4274820"/>
            <a:ext cx="10820095" cy="0"/>
          </a:xfrm>
          <a:prstGeom prst="line">
            <a:avLst/>
          </a:prstGeom>
          <a:ln w="6350">
            <a:solidFill>
              <a:srgbClr val="C9C5BC"/>
            </a:solidFill>
          </a:ln>
        </p:spPr>
      </p:cxnSp>
      <p:sp>
        <p:nvSpPr>
          <p:cNvPr id="15" name="TextBox 14"/>
          <p:cNvSpPr txBox="1"/>
          <p:nvPr/>
        </p:nvSpPr>
        <p:spPr>
          <a:xfrm>
            <a:off x="685800" y="4320540"/>
            <a:ext cx="4206240" cy="845819"/>
          </a:xfrm>
          <a:prstGeom prst="rect">
            <a:avLst/>
          </a:prstGeom>
          <a:noFill/>
        </p:spPr>
        <p:txBody>
          <a:bodyPr wrap="square" lIns="0" rIns="0" tIns="18288" bIns="18288" anchor="ctr">
            <a:spAutoFit/>
          </a:bodyPr>
          <a:lstStyle/>
          <a:p>
            <a:pPr algn="l"/>
            <a:r>
              <a:rPr sz="4800" b="1" i="0">
                <a:solidFill>
                  <a:srgbClr val="1F2328"/>
                </a:solidFill>
                <a:latin typeface="Cambria"/>
              </a:rPr>
              <a:t>about 0.76</a:t>
            </a:r>
          </a:p>
        </p:txBody>
      </p:sp>
      <p:sp>
        <p:nvSpPr>
          <p:cNvPr id="16" name="TextBox 15"/>
          <p:cNvSpPr txBox="1"/>
          <p:nvPr/>
        </p:nvSpPr>
        <p:spPr>
          <a:xfrm>
            <a:off x="5257800" y="4320540"/>
            <a:ext cx="6248095" cy="845819"/>
          </a:xfrm>
          <a:prstGeom prst="rect">
            <a:avLst/>
          </a:prstGeom>
          <a:noFill/>
        </p:spPr>
        <p:txBody>
          <a:bodyPr wrap="square" lIns="0" rIns="0" tIns="18288" bIns="18288" anchor="ctr">
            <a:spAutoFit/>
          </a:bodyPr>
          <a:lstStyle/>
          <a:p>
            <a:pPr algn="l"/>
            <a:r>
              <a:rPr sz="2200" b="0" i="0">
                <a:solidFill>
                  <a:srgbClr val="3B4046"/>
                </a:solidFill>
                <a:latin typeface="Calibri"/>
              </a:rPr>
              <a:t>AUC of the model without the leaked column</a:t>
            </a:r>
          </a:p>
        </p:txBody>
      </p:sp>
      <p:cxnSp>
        <p:nvCxnSpPr>
          <p:cNvPr id="17" name="Connector 16"/>
          <p:cNvCxnSpPr/>
          <p:nvPr/>
        </p:nvCxnSpPr>
        <p:spPr>
          <a:xfrm>
            <a:off x="685800" y="5166359"/>
            <a:ext cx="10820095" cy="0"/>
          </a:xfrm>
          <a:prstGeom prst="line">
            <a:avLst/>
          </a:prstGeom>
          <a:ln w="6350">
            <a:solidFill>
              <a:srgbClr val="C9C5BC"/>
            </a:solidFill>
          </a:ln>
        </p:spPr>
      </p:cxnSp>
      <p:sp>
        <p:nvSpPr>
          <p:cNvPr id="18" name="TextBox 17"/>
          <p:cNvSpPr txBox="1"/>
          <p:nvPr/>
        </p:nvSpPr>
        <p:spPr>
          <a:xfrm>
            <a:off x="685800" y="544067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The baseline is the number a model has to beat.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Say the limits before the result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Result first</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Opens with the best number</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Limits squeezed into the last minute</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 room hears the claim before the caveat</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Limits first</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Opens with what the data covers</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Names what the model cannot do</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Then shows the result</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When you name the limits first, the room trusts the result that follows.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model that is 87.6 percent accurate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8</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tell the manager the loan model is 87.6 percent accurate. The number is real and it sounds strong.</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Saying repaid for every loan scores 86.3 percent on the same test loans. At the usual cut off the model finds only about 15 of every 100 defaults.</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Report the baseline, the share of defaults found, and the limit in the same sentence.</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Five slides, ten minutes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graphicFrame>
        <p:nvGraphicFramePr>
          <p:cNvPr id="5" name="Table"/>
          <p:cNvGraphicFramePr>
            <a:graphicFrameLocks noGrp="1"/>
          </p:cNvGraphicFramePr>
          <p:nvPr/>
        </p:nvGraphicFramePr>
        <p:xfrm>
          <a:off x="685800" y="1600200"/>
          <a:ext cx="10820093" cy="3566160"/>
        </p:xfrm>
        <a:graphic>
          <a:graphicData uri="http://schemas.openxmlformats.org/drawingml/2006/table">
            <a:tbl>
              <a:tblPr firstRow="0" bandRow="0">
                <a:tableStyleId>{2D5ABB26-0587-4C30-8999-92F81FD0307C}</a:tableStyleId>
              </a:tblPr>
              <a:tblGrid>
                <a:gridCol w="2653985"/>
                <a:gridCol w="6532887"/>
                <a:gridCol w="1633221"/>
              </a:tblGrid>
              <a:tr h="594360">
                <a:tc>
                  <a:txBody>
                    <a:bodyPr wrap="square"/>
                    <a:lstStyle/>
                    <a:p>
                      <a:r>
                        <a:rPr sz="2200" b="1" i="0">
                          <a:solidFill>
                            <a:srgbClr val="1F2328"/>
                          </a:solidFill>
                          <a:latin typeface="Calibri"/>
                        </a:rPr>
                        <a:t>Slide</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What it says</a:t>
                      </a:r>
                    </a:p>
                  </a:txBody>
                  <a:tcPr marL="13716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Minutes</a:t>
                      </a:r>
                    </a:p>
                  </a:txBody>
                  <a:tcPr marL="137160" marR="91440" marT="64008" marB="64008" anchor="ctr">
                    <a:lnL w="0">
                      <a:noFill/>
                    </a:lnL>
                    <a:lnR w="0">
                      <a:noFill/>
                    </a:lnR>
                    <a:lnT w="0">
                      <a:noFill/>
                    </a:lnT>
                    <a:lnB w="15875">
                      <a:solidFill>
                        <a:srgbClr val="1F2328"/>
                      </a:solidFill>
                    </a:lnB>
                    <a:noFill/>
                  </a:tcPr>
                </a:tc>
              </a:tr>
              <a:tr h="594360">
                <a:tc>
                  <a:txBody>
                    <a:bodyPr wrap="square"/>
                    <a:lstStyle/>
                    <a:p>
                      <a:r>
                        <a:rPr sz="2200" b="0" i="0">
                          <a:solidFill>
                            <a:srgbClr val="3B4046"/>
                          </a:solidFill>
                          <a:latin typeface="Calibri"/>
                        </a:rPr>
                        <a:t>1 Question</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The decision someone faces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1</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2 Data</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What the data covers and leaves out</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3 Evidence</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The result beside its baseline</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3</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4 Risk</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What could go wrong and who checks</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a:t>
                      </a:r>
                    </a:p>
                  </a:txBody>
                  <a:tcPr marL="137160" marR="91440" marT="64008" marB="64008" anchor="ctr">
                    <a:lnL w="0">
                      <a:noFill/>
                    </a:lnL>
                    <a:lnR w="0">
                      <a:noFill/>
                    </a:lnR>
                    <a:lnT w="0">
                      <a:noFill/>
                    </a:lnT>
                    <a:lnB w="6350">
                      <a:solidFill>
                        <a:srgbClr val="C9C5BC"/>
                      </a:solidFill>
                    </a:lnB>
                    <a:noFill/>
                  </a:tcPr>
                </a:tc>
              </a:tr>
              <a:tr h="594360">
                <a:tc>
                  <a:txBody>
                    <a:bodyPr wrap="square"/>
                    <a:lstStyle/>
                    <a:p>
                      <a:r>
                        <a:rPr sz="2200" b="0" i="0">
                          <a:solidFill>
                            <a:srgbClr val="3B4046"/>
                          </a:solidFill>
                          <a:latin typeface="Calibri"/>
                        </a:rPr>
                        <a:t>5 Decision</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What you recommend and the next step</a:t>
                      </a:r>
                    </a:p>
                  </a:txBody>
                  <a:tcPr marL="13716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2</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The executive summary goes in your opening sentence. Rehearse with a timer.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Presenting to a manager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manager has a few minutes of attention and a decision to make.</a:t>
            </a:r>
          </a:p>
        </p:txBody>
      </p:sp>
      <p:cxnSp>
        <p:nvCxnSpPr>
          <p:cNvPr id="6" name="Connector 5"/>
          <p:cNvCxnSpPr/>
          <p:nvPr/>
        </p:nvCxnSpPr>
        <p:spPr>
          <a:xfrm>
            <a:off x="685800" y="2350617"/>
            <a:ext cx="10820095" cy="0"/>
          </a:xfrm>
          <a:prstGeom prst="line">
            <a:avLst/>
          </a:prstGeom>
          <a:ln w="15875">
            <a:solidFill>
              <a:srgbClr val="1F2328"/>
            </a:solidFill>
          </a:ln>
        </p:spPr>
      </p:cxnSp>
      <p:sp>
        <p:nvSpPr>
          <p:cNvPr id="7" name="TextBox 6"/>
          <p:cNvSpPr txBox="1"/>
          <p:nvPr/>
        </p:nvSpPr>
        <p:spPr>
          <a:xfrm>
            <a:off x="685800" y="2460345"/>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Start with the answer</a:t>
            </a:r>
          </a:p>
        </p:txBody>
      </p:sp>
      <p:sp>
        <p:nvSpPr>
          <p:cNvPr id="8" name="TextBox 7"/>
          <p:cNvSpPr txBox="1"/>
          <p:nvPr/>
        </p:nvSpPr>
        <p:spPr>
          <a:xfrm>
            <a:off x="3611880" y="2478633"/>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One sentence on what you recommend, before any detail.</a:t>
            </a:r>
          </a:p>
        </p:txBody>
      </p:sp>
      <p:cxnSp>
        <p:nvCxnSpPr>
          <p:cNvPr id="9" name="Connector 8"/>
          <p:cNvCxnSpPr/>
          <p:nvPr/>
        </p:nvCxnSpPr>
        <p:spPr>
          <a:xfrm>
            <a:off x="685800" y="3317443"/>
            <a:ext cx="10820095" cy="0"/>
          </a:xfrm>
          <a:prstGeom prst="line">
            <a:avLst/>
          </a:prstGeom>
          <a:ln w="6350">
            <a:solidFill>
              <a:srgbClr val="C9C5BC"/>
            </a:solidFill>
          </a:ln>
        </p:spPr>
      </p:cxnSp>
      <p:sp>
        <p:nvSpPr>
          <p:cNvPr id="10" name="TextBox 9"/>
          <p:cNvSpPr txBox="1"/>
          <p:nvPr/>
        </p:nvSpPr>
        <p:spPr>
          <a:xfrm>
            <a:off x="685800" y="3427171"/>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Use plain words</a:t>
            </a:r>
          </a:p>
        </p:txBody>
      </p:sp>
      <p:sp>
        <p:nvSpPr>
          <p:cNvPr id="11" name="TextBox 10"/>
          <p:cNvSpPr txBox="1"/>
          <p:nvPr/>
        </p:nvSpPr>
        <p:spPr>
          <a:xfrm>
            <a:off x="3611880" y="3445459"/>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Say defaults we miss when you mean recall.</a:t>
            </a:r>
          </a:p>
        </p:txBody>
      </p:sp>
      <p:cxnSp>
        <p:nvCxnSpPr>
          <p:cNvPr id="12" name="Connector 11"/>
          <p:cNvCxnSpPr/>
          <p:nvPr/>
        </p:nvCxnSpPr>
        <p:spPr>
          <a:xfrm>
            <a:off x="685800" y="4284268"/>
            <a:ext cx="10820095" cy="0"/>
          </a:xfrm>
          <a:prstGeom prst="line">
            <a:avLst/>
          </a:prstGeom>
          <a:ln w="6350">
            <a:solidFill>
              <a:srgbClr val="C9C5BC"/>
            </a:solidFill>
          </a:ln>
        </p:spPr>
      </p:cxnSp>
      <p:sp>
        <p:nvSpPr>
          <p:cNvPr id="13" name="TextBox 12"/>
          <p:cNvSpPr txBox="1"/>
          <p:nvPr/>
        </p:nvSpPr>
        <p:spPr>
          <a:xfrm>
            <a:off x="685800" y="4393996"/>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One number per slide</a:t>
            </a:r>
          </a:p>
        </p:txBody>
      </p:sp>
      <p:sp>
        <p:nvSpPr>
          <p:cNvPr id="14" name="TextBox 13"/>
          <p:cNvSpPr txBox="1"/>
          <p:nvPr/>
        </p:nvSpPr>
        <p:spPr>
          <a:xfrm>
            <a:off x="3611880" y="4412284"/>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Give the number, its baseline and what it means in loans or shillings.</a:t>
            </a:r>
          </a:p>
        </p:txBody>
      </p:sp>
      <p:cxnSp>
        <p:nvCxnSpPr>
          <p:cNvPr id="15" name="Connector 14"/>
          <p:cNvCxnSpPr/>
          <p:nvPr/>
        </p:nvCxnSpPr>
        <p:spPr>
          <a:xfrm>
            <a:off x="685800" y="5251094"/>
            <a:ext cx="10820095" cy="0"/>
          </a:xfrm>
          <a:prstGeom prst="line">
            <a:avLst/>
          </a:prstGeom>
          <a:ln w="6350">
            <a:solidFill>
              <a:srgbClr val="C9C5BC"/>
            </a:solidFill>
          </a:ln>
        </p:spPr>
      </p:cxnSp>
      <p:sp>
        <p:nvSpPr>
          <p:cNvPr id="16" name="TextBox 15"/>
          <p:cNvSpPr txBox="1"/>
          <p:nvPr/>
        </p:nvSpPr>
        <p:spPr>
          <a:xfrm>
            <a:off x="685800" y="5360822"/>
            <a:ext cx="2651760" cy="857097"/>
          </a:xfrm>
          <a:prstGeom prst="rect">
            <a:avLst/>
          </a:prstGeom>
          <a:noFill/>
        </p:spPr>
        <p:txBody>
          <a:bodyPr wrap="square" lIns="0" rIns="0" tIns="18288" bIns="18288" anchor="t">
            <a:spAutoFit/>
          </a:bodyPr>
          <a:lstStyle/>
          <a:p>
            <a:pPr algn="l"/>
            <a:r>
              <a:rPr sz="2400" b="1" i="0">
                <a:solidFill>
                  <a:srgbClr val="1F2328"/>
                </a:solidFill>
                <a:latin typeface="Cambria"/>
              </a:rPr>
              <a:t>Keep code out</a:t>
            </a:r>
          </a:p>
        </p:txBody>
      </p:sp>
      <p:sp>
        <p:nvSpPr>
          <p:cNvPr id="17" name="TextBox 16"/>
          <p:cNvSpPr txBox="1"/>
          <p:nvPr/>
        </p:nvSpPr>
        <p:spPr>
          <a:xfrm>
            <a:off x="3611880" y="5379110"/>
            <a:ext cx="7894015" cy="838809"/>
          </a:xfrm>
          <a:prstGeom prst="rect">
            <a:avLst/>
          </a:prstGeom>
          <a:noFill/>
        </p:spPr>
        <p:txBody>
          <a:bodyPr wrap="square" lIns="0" rIns="0" tIns="18288" bIns="18288" anchor="t">
            <a:spAutoFit/>
          </a:bodyPr>
          <a:lstStyle/>
          <a:p>
            <a:pPr algn="l"/>
            <a:r>
              <a:rPr sz="2200" b="0" i="0">
                <a:solidFill>
                  <a:srgbClr val="3B4046"/>
                </a:solidFill>
                <a:latin typeface="Calibri"/>
              </a:rPr>
              <a:t>Hold the notebook ready for questions.</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Three questions on method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How do you know it works on new loans?</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I kept a test set the model never saw, and I compared it with a simple baseline.</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did you choose that metric?</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Because of the cost. Missing a default costs more than a closer look at a good loan, so I watched recall and AUC.</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Could this result be luck?</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I used cross validation. The score held across the folds, and I report the range.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Two questions on risk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could go wrong once people use it?</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Customers change and the model drifts. I would track the error monthly and set a date to review.</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Is it fair, and are we allowed to use this data?</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I compared error rates across groups and checked our duties under the Data Protection and Privacy Act of 2019. A person makes the final call.</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portfolio on GitHub</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portfolio is a few projects a stranger can open and understand in five minutes.</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754075"/>
          </a:xfrm>
          <a:prstGeom prst="rect">
            <a:avLst/>
          </a:prstGeom>
          <a:noFill/>
        </p:spPr>
        <p:txBody>
          <a:bodyPr wrap="square" lIns="0" rIns="0" tIns="18288" bIns="18288" anchor="t">
            <a:spAutoFit/>
          </a:bodyPr>
          <a:lstStyle/>
          <a:p>
            <a:pPr algn="l"/>
            <a:r>
              <a:rPr sz="2400" b="1" i="0">
                <a:solidFill>
                  <a:srgbClr val="1F2328"/>
                </a:solidFill>
                <a:latin typeface="Cambria"/>
              </a:rPr>
              <a:t>A README first</a:t>
            </a:r>
          </a:p>
        </p:txBody>
      </p:sp>
      <p:sp>
        <p:nvSpPr>
          <p:cNvPr id="8" name="TextBox 7"/>
          <p:cNvSpPr txBox="1"/>
          <p:nvPr/>
        </p:nvSpPr>
        <p:spPr>
          <a:xfrm>
            <a:off x="3611880" y="2890723"/>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The question, the result, the limits and how to run it.</a:t>
            </a:r>
          </a:p>
        </p:txBody>
      </p:sp>
      <p:cxnSp>
        <p:nvCxnSpPr>
          <p:cNvPr id="9" name="Connector 8"/>
          <p:cNvCxnSpPr/>
          <p:nvPr/>
        </p:nvCxnSpPr>
        <p:spPr>
          <a:xfrm>
            <a:off x="685800" y="3626510"/>
            <a:ext cx="10820095" cy="0"/>
          </a:xfrm>
          <a:prstGeom prst="line">
            <a:avLst/>
          </a:prstGeom>
          <a:ln w="6350">
            <a:solidFill>
              <a:srgbClr val="C9C5BC"/>
            </a:solidFill>
          </a:ln>
        </p:spPr>
      </p:cxnSp>
      <p:sp>
        <p:nvSpPr>
          <p:cNvPr id="10" name="TextBox 9"/>
          <p:cNvSpPr txBox="1"/>
          <p:nvPr/>
        </p:nvSpPr>
        <p:spPr>
          <a:xfrm>
            <a:off x="685800" y="3736238"/>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A notebook that runs</a:t>
            </a:r>
          </a:p>
        </p:txBody>
      </p:sp>
      <p:sp>
        <p:nvSpPr>
          <p:cNvPr id="11" name="TextBox 10"/>
          <p:cNvSpPr txBox="1"/>
          <p:nvPr/>
        </p:nvSpPr>
        <p:spPr>
          <a:xfrm>
            <a:off x="3611880" y="3754526"/>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Restart and run all, top to bottom, before you publish.</a:t>
            </a:r>
          </a:p>
        </p:txBody>
      </p:sp>
      <p:cxnSp>
        <p:nvCxnSpPr>
          <p:cNvPr id="12" name="Connector 11"/>
          <p:cNvCxnSpPr/>
          <p:nvPr/>
        </p:nvCxnSpPr>
        <p:spPr>
          <a:xfrm>
            <a:off x="685800" y="4490313"/>
            <a:ext cx="10820095" cy="0"/>
          </a:xfrm>
          <a:prstGeom prst="line">
            <a:avLst/>
          </a:prstGeom>
          <a:ln w="6350">
            <a:solidFill>
              <a:srgbClr val="C9C5BC"/>
            </a:solidFill>
          </a:ln>
        </p:spPr>
      </p:cxnSp>
      <p:sp>
        <p:nvSpPr>
          <p:cNvPr id="13" name="TextBox 12"/>
          <p:cNvSpPr txBox="1"/>
          <p:nvPr/>
        </p:nvSpPr>
        <p:spPr>
          <a:xfrm>
            <a:off x="685800" y="4600041"/>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Data you may share</a:t>
            </a:r>
          </a:p>
        </p:txBody>
      </p:sp>
      <p:sp>
        <p:nvSpPr>
          <p:cNvPr id="14" name="TextBox 13"/>
          <p:cNvSpPr txBox="1"/>
          <p:nvPr/>
        </p:nvSpPr>
        <p:spPr>
          <a:xfrm>
            <a:off x="3611880" y="4618329"/>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Use generated or public data, and leave out personal data.</a:t>
            </a:r>
          </a:p>
        </p:txBody>
      </p:sp>
      <p:cxnSp>
        <p:nvCxnSpPr>
          <p:cNvPr id="15" name="Connector 14"/>
          <p:cNvCxnSpPr/>
          <p:nvPr/>
        </p:nvCxnSpPr>
        <p:spPr>
          <a:xfrm>
            <a:off x="685800" y="5354116"/>
            <a:ext cx="10820095" cy="0"/>
          </a:xfrm>
          <a:prstGeom prst="line">
            <a:avLst/>
          </a:prstGeom>
          <a:ln w="6350">
            <a:solidFill>
              <a:srgbClr val="C9C5BC"/>
            </a:solidFill>
          </a:ln>
        </p:spPr>
      </p:cxnSp>
      <p:sp>
        <p:nvSpPr>
          <p:cNvPr id="16" name="TextBox 15"/>
          <p:cNvSpPr txBox="1"/>
          <p:nvPr/>
        </p:nvSpPr>
        <p:spPr>
          <a:xfrm>
            <a:off x="685800" y="5463844"/>
            <a:ext cx="2651760" cy="754075"/>
          </a:xfrm>
          <a:prstGeom prst="rect">
            <a:avLst/>
          </a:prstGeom>
          <a:noFill/>
        </p:spPr>
        <p:txBody>
          <a:bodyPr wrap="square" lIns="0" rIns="0" tIns="18288" bIns="18288" anchor="t">
            <a:spAutoFit/>
          </a:bodyPr>
          <a:lstStyle/>
          <a:p>
            <a:pPr algn="l"/>
            <a:r>
              <a:rPr sz="2300" b="1" i="0">
                <a:solidFill>
                  <a:srgbClr val="1F2328"/>
                </a:solidFill>
                <a:latin typeface="Cambria"/>
              </a:rPr>
              <a:t>Two or three projects</a:t>
            </a:r>
          </a:p>
        </p:txBody>
      </p:sp>
      <p:sp>
        <p:nvSpPr>
          <p:cNvPr id="17" name="TextBox 16"/>
          <p:cNvSpPr txBox="1"/>
          <p:nvPr/>
        </p:nvSpPr>
        <p:spPr>
          <a:xfrm>
            <a:off x="3611880" y="5482132"/>
            <a:ext cx="7894015" cy="735787"/>
          </a:xfrm>
          <a:prstGeom prst="rect">
            <a:avLst/>
          </a:prstGeom>
          <a:noFill/>
        </p:spPr>
        <p:txBody>
          <a:bodyPr wrap="square" lIns="0" rIns="0" tIns="18288" bIns="18288" anchor="t">
            <a:spAutoFit/>
          </a:bodyPr>
          <a:lstStyle/>
          <a:p>
            <a:pPr algn="l"/>
            <a:r>
              <a:rPr sz="2200" b="0" i="0">
                <a:solidFill>
                  <a:srgbClr val="3B4046"/>
                </a:solidFill>
                <a:latin typeface="Calibri"/>
              </a:rPr>
              <a:t>Choose the ones you can explain best, with a link to your app.</a:t>
            </a:r>
          </a:p>
        </p:txBody>
      </p:sp>
      <p:cxnSp>
        <p:nvCxnSpPr>
          <p:cNvPr id="18" name="Connector 17"/>
          <p:cNvCxnSpPr/>
          <p:nvPr/>
        </p:nvCxnSpPr>
        <p:spPr>
          <a:xfrm>
            <a:off x="685800" y="6217920"/>
            <a:ext cx="10820095" cy="0"/>
          </a:xfrm>
          <a:prstGeom prst="line">
            <a:avLst/>
          </a:prstGeom>
          <a:ln w="6350">
            <a:solidFill>
              <a:srgbClr val="C9C5BC"/>
            </a:solidFill>
          </a:ln>
        </p:spPr>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A public repository with real customer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14</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publish your project and the repository looks tidy. One file holds real customer names and phone numbers from your workplace.</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Anyone can read a public repository, and copies can outlive your deletion. The Data Protection and Privacy Act of 2019 puts duties on whoever holds personal data.</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Use generated or public data. Open every file before the first push, and keep workplace data in workplace systems.</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What this course did not cover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4083054"/>
                <a:gridCol w="6737040"/>
              </a:tblGrid>
              <a:tr h="509451">
                <a:tc>
                  <a:txBody>
                    <a:bodyPr wrap="square"/>
                    <a:lstStyle/>
                    <a:p>
                      <a:r>
                        <a:rPr sz="1900" b="1" i="0">
                          <a:solidFill>
                            <a:srgbClr val="1F2328"/>
                          </a:solidFill>
                          <a:latin typeface="Calibri"/>
                        </a:rPr>
                        <a:t>Area</a:t>
                      </a:r>
                    </a:p>
                  </a:txBody>
                  <a:tcPr marL="0" marR="91440" marT="64008" marB="64008" anchor="ctr">
                    <a:lnL w="0">
                      <a:noFill/>
                    </a:lnL>
                    <a:lnR w="0">
                      <a:noFill/>
                    </a:lnR>
                    <a:lnT w="0">
                      <a:noFill/>
                    </a:lnT>
                    <a:lnB w="15875">
                      <a:solidFill>
                        <a:srgbClr val="1F2328"/>
                      </a:solidFill>
                    </a:lnB>
                    <a:noFill/>
                  </a:tcPr>
                </a:tc>
                <a:tc>
                  <a:txBody>
                    <a:bodyPr wrap="square"/>
                    <a:lstStyle/>
                    <a:p>
                      <a:r>
                        <a:rPr sz="1900" b="1" i="0">
                          <a:solidFill>
                            <a:srgbClr val="1F2328"/>
                          </a:solidFill>
                          <a:latin typeface="Calibri"/>
                        </a:rPr>
                        <a:t>What that means for you</a:t>
                      </a:r>
                    </a:p>
                  </a:txBody>
                  <a:tcPr marL="137160" marR="91440" marT="64008" marB="64008" anchor="ctr">
                    <a:lnL w="0">
                      <a:noFill/>
                    </a:lnL>
                    <a:lnR w="0">
                      <a:noFill/>
                    </a:lnR>
                    <a:lnT w="0">
                      <a:noFill/>
                    </a:lnT>
                    <a:lnB w="15875">
                      <a:solidFill>
                        <a:srgbClr val="1F2328"/>
                      </a:solidFill>
                    </a:lnB>
                    <a:noFill/>
                  </a:tcPr>
                </a:tc>
              </a:tr>
              <a:tr h="509451">
                <a:tc>
                  <a:txBody>
                    <a:bodyPr wrap="square"/>
                    <a:lstStyle/>
                    <a:p>
                      <a:r>
                        <a:rPr sz="1900" b="0" i="0">
                          <a:solidFill>
                            <a:srgbClr val="3B4046"/>
                          </a:solidFill>
                          <a:latin typeface="Calibri"/>
                        </a:rPr>
                        <a:t>Mathematics by hand</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You can read results. You have not derived them.</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Data structures and algorithms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Interview puzzles need separate practice.</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Big data tools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Your data fitted in one notebook.</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Cloud platforms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You used free browser tools only.</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Deep learning from scratch</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You used a small network and a pretrained model.</a:t>
                      </a:r>
                    </a:p>
                  </a:txBody>
                  <a:tcPr marL="137160" marR="91440" marT="64008" marB="64008" anchor="ctr">
                    <a:lnL w="0">
                      <a:noFill/>
                    </a:lnL>
                    <a:lnR w="0">
                      <a:noFill/>
                    </a:lnR>
                    <a:lnT w="0">
                      <a:noFill/>
                    </a:lnT>
                    <a:lnB w="6350">
                      <a:solidFill>
                        <a:srgbClr val="C9C5BC"/>
                      </a:solidFill>
                    </a:lnB>
                    <a:noFill/>
                  </a:tcPr>
                </a:tc>
              </a:tr>
              <a:tr h="509451">
                <a:tc>
                  <a:txBody>
                    <a:bodyPr wrap="square"/>
                    <a:lstStyle/>
                    <a:p>
                      <a:r>
                        <a:rPr sz="1900" b="0" i="0">
                          <a:solidFill>
                            <a:srgbClr val="3B4046"/>
                          </a:solidFill>
                          <a:latin typeface="Calibri"/>
                        </a:rPr>
                        <a:t>Production MLOps with containers</a:t>
                      </a:r>
                    </a:p>
                  </a:txBody>
                  <a:tcPr marL="0" marR="91440" marT="64008" marB="64008" anchor="ctr">
                    <a:lnL w="0">
                      <a:noFill/>
                    </a:lnL>
                    <a:lnR w="0">
                      <a:noFill/>
                    </a:lnR>
                    <a:lnT w="0">
                      <a:noFill/>
                    </a:lnT>
                    <a:lnB w="6350">
                      <a:solidFill>
                        <a:srgbClr val="C9C5BC"/>
                      </a:solidFill>
                    </a:lnB>
                    <a:noFill/>
                  </a:tcPr>
                </a:tc>
                <a:tc>
                  <a:txBody>
                    <a:bodyPr wrap="square"/>
                    <a:lstStyle/>
                    <a:p>
                      <a:r>
                        <a:rPr sz="1900" b="0" i="0">
                          <a:solidFill>
                            <a:srgbClr val="3B4046"/>
                          </a:solidFill>
                          <a:latin typeface="Calibri"/>
                        </a:rPr>
                        <a:t>Your app is small and has no container.</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Say these gaps yourself, before anyone asks.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size of this course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45920"/>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48</a:t>
            </a:r>
          </a:p>
        </p:txBody>
      </p:sp>
      <p:sp>
        <p:nvSpPr>
          <p:cNvPr id="7" name="TextBox 6"/>
          <p:cNvSpPr txBox="1"/>
          <p:nvPr/>
        </p:nvSpPr>
        <p:spPr>
          <a:xfrm>
            <a:off x="5257800" y="1645920"/>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hours in this course</a:t>
            </a:r>
          </a:p>
        </p:txBody>
      </p:sp>
      <p:cxnSp>
        <p:nvCxnSpPr>
          <p:cNvPr id="8" name="Connector 7"/>
          <p:cNvCxnSpPr/>
          <p:nvPr/>
        </p:nvCxnSpPr>
        <p:spPr>
          <a:xfrm>
            <a:off x="685800" y="2651760"/>
            <a:ext cx="10820095" cy="0"/>
          </a:xfrm>
          <a:prstGeom prst="line">
            <a:avLst/>
          </a:prstGeom>
          <a:ln w="6350">
            <a:solidFill>
              <a:srgbClr val="C9C5BC"/>
            </a:solidFill>
          </a:ln>
        </p:spPr>
      </p:cxnSp>
      <p:sp>
        <p:nvSpPr>
          <p:cNvPr id="9" name="TextBox 8"/>
          <p:cNvSpPr txBox="1"/>
          <p:nvPr/>
        </p:nvSpPr>
        <p:spPr>
          <a:xfrm>
            <a:off x="685800" y="2697479"/>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24</a:t>
            </a:r>
          </a:p>
        </p:txBody>
      </p:sp>
      <p:sp>
        <p:nvSpPr>
          <p:cNvPr id="10" name="TextBox 9"/>
          <p:cNvSpPr txBox="1"/>
          <p:nvPr/>
        </p:nvSpPr>
        <p:spPr>
          <a:xfrm>
            <a:off x="5257800" y="269747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sessions of two hours</a:t>
            </a:r>
          </a:p>
        </p:txBody>
      </p:sp>
      <p:cxnSp>
        <p:nvCxnSpPr>
          <p:cNvPr id="11" name="Connector 10"/>
          <p:cNvCxnSpPr/>
          <p:nvPr/>
        </p:nvCxnSpPr>
        <p:spPr>
          <a:xfrm>
            <a:off x="685800" y="3703320"/>
            <a:ext cx="10820095" cy="0"/>
          </a:xfrm>
          <a:prstGeom prst="line">
            <a:avLst/>
          </a:prstGeom>
          <a:ln w="6350">
            <a:solidFill>
              <a:srgbClr val="C9C5BC"/>
            </a:solidFill>
          </a:ln>
        </p:spPr>
      </p:cxnSp>
      <p:sp>
        <p:nvSpPr>
          <p:cNvPr id="12" name="TextBox 11"/>
          <p:cNvSpPr txBox="1"/>
          <p:nvPr/>
        </p:nvSpPr>
        <p:spPr>
          <a:xfrm>
            <a:off x="685800" y="3749039"/>
            <a:ext cx="4206240" cy="1005839"/>
          </a:xfrm>
          <a:prstGeom prst="rect">
            <a:avLst/>
          </a:prstGeom>
          <a:noFill/>
        </p:spPr>
        <p:txBody>
          <a:bodyPr wrap="square" lIns="0" rIns="0" tIns="18288" bIns="18288" anchor="ctr">
            <a:spAutoFit/>
          </a:bodyPr>
          <a:lstStyle/>
          <a:p>
            <a:pPr algn="l"/>
            <a:r>
              <a:rPr sz="4800" b="1" i="0">
                <a:solidFill>
                  <a:srgbClr val="1F2328"/>
                </a:solidFill>
                <a:latin typeface="Cambria"/>
              </a:rPr>
              <a:t>150 to 240</a:t>
            </a:r>
          </a:p>
        </p:txBody>
      </p:sp>
      <p:sp>
        <p:nvSpPr>
          <p:cNvPr id="13" name="TextBox 12"/>
          <p:cNvSpPr txBox="1"/>
          <p:nvPr/>
        </p:nvSpPr>
        <p:spPr>
          <a:xfrm>
            <a:off x="5257800" y="3749039"/>
            <a:ext cx="6248095" cy="1005839"/>
          </a:xfrm>
          <a:prstGeom prst="rect">
            <a:avLst/>
          </a:prstGeom>
          <a:noFill/>
        </p:spPr>
        <p:txBody>
          <a:bodyPr wrap="square" lIns="0" rIns="0" tIns="18288" bIns="18288" anchor="ctr">
            <a:spAutoFit/>
          </a:bodyPr>
          <a:lstStyle/>
          <a:p>
            <a:pPr algn="l"/>
            <a:r>
              <a:rPr sz="2200" b="0" i="0">
                <a:solidFill>
                  <a:srgbClr val="3B4046"/>
                </a:solidFill>
                <a:latin typeface="Calibri"/>
              </a:rPr>
              <a:t>hours often quoted for the Google and IBM data certificates</a:t>
            </a:r>
          </a:p>
        </p:txBody>
      </p:sp>
      <p:cxnSp>
        <p:nvCxnSpPr>
          <p:cNvPr id="14" name="Connector 13"/>
          <p:cNvCxnSpPr/>
          <p:nvPr/>
        </p:nvCxnSpPr>
        <p:spPr>
          <a:xfrm>
            <a:off x="685800" y="4754879"/>
            <a:ext cx="10820095" cy="0"/>
          </a:xfrm>
          <a:prstGeom prst="line">
            <a:avLst/>
          </a:prstGeom>
          <a:ln w="6350">
            <a:solidFill>
              <a:srgbClr val="C9C5BC"/>
            </a:solidFill>
          </a:ln>
        </p:spPr>
      </p:cxnSp>
      <p:sp>
        <p:nvSpPr>
          <p:cNvPr id="15" name="TextBox 14"/>
          <p:cNvSpPr txBox="1"/>
          <p:nvPr/>
        </p:nvSpPr>
        <p:spPr>
          <a:xfrm>
            <a:off x="685800" y="5029199"/>
            <a:ext cx="10820095" cy="914400"/>
          </a:xfrm>
          <a:prstGeom prst="rect">
            <a:avLst/>
          </a:prstGeom>
          <a:noFill/>
        </p:spPr>
        <p:txBody>
          <a:bodyPr wrap="square" lIns="0" rIns="0" tIns="18288" bIns="18288" anchor="t">
            <a:spAutoFit/>
          </a:bodyPr>
          <a:lstStyle/>
          <a:p>
            <a:pPr algn="l"/>
            <a:r>
              <a:rPr sz="2300" b="0" i="0">
                <a:solidFill>
                  <a:srgbClr val="1F2328"/>
                </a:solidFill>
                <a:latin typeface="Cambria"/>
              </a:rPr>
              <a:t>Check each provider's current figure. This course gave you a base, and the certificates go further.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The gap list and free next steps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graphicFrame>
        <p:nvGraphicFramePr>
          <p:cNvPr id="5" name="Table"/>
          <p:cNvGraphicFramePr>
            <a:graphicFrameLocks noGrp="1"/>
          </p:cNvGraphicFramePr>
          <p:nvPr/>
        </p:nvGraphicFramePr>
        <p:xfrm>
          <a:off x="685800" y="1600200"/>
          <a:ext cx="10820094" cy="3566160"/>
        </p:xfrm>
        <a:graphic>
          <a:graphicData uri="http://schemas.openxmlformats.org/drawingml/2006/table">
            <a:tbl>
              <a:tblPr firstRow="0" bandRow="0">
                <a:tableStyleId>{2D5ABB26-0587-4C30-8999-92F81FD0307C}</a:tableStyleId>
              </a:tblPr>
              <a:tblGrid>
                <a:gridCol w="4491360"/>
                <a:gridCol w="6328734"/>
              </a:tblGrid>
              <a:tr h="445770">
                <a:tc>
                  <a:txBody>
                    <a:bodyPr wrap="square"/>
                    <a:lstStyle/>
                    <a:p>
                      <a:r>
                        <a:rPr sz="1500" b="1" i="0">
                          <a:solidFill>
                            <a:srgbClr val="1F2328"/>
                          </a:solidFill>
                          <a:latin typeface="Calibri"/>
                        </a:rPr>
                        <a:t>Gap</a:t>
                      </a:r>
                    </a:p>
                  </a:txBody>
                  <a:tcPr marL="0" marR="91440" marT="64008" marB="64008" anchor="ctr">
                    <a:lnL w="0">
                      <a:noFill/>
                    </a:lnL>
                    <a:lnR w="0">
                      <a:noFill/>
                    </a:lnR>
                    <a:lnT w="0">
                      <a:noFill/>
                    </a:lnT>
                    <a:lnB w="15875">
                      <a:solidFill>
                        <a:srgbClr val="1F2328"/>
                      </a:solidFill>
                    </a:lnB>
                    <a:noFill/>
                  </a:tcPr>
                </a:tc>
                <a:tc>
                  <a:txBody>
                    <a:bodyPr wrap="square"/>
                    <a:lstStyle/>
                    <a:p>
                      <a:r>
                        <a:rPr sz="1500" b="1" i="0">
                          <a:solidFill>
                            <a:srgbClr val="1F2328"/>
                          </a:solidFill>
                          <a:latin typeface="Calibri"/>
                        </a:rPr>
                        <a:t>Free next step</a:t>
                      </a:r>
                    </a:p>
                  </a:txBody>
                  <a:tcPr marL="137160" marR="91440" marT="64008" marB="64008" anchor="ctr">
                    <a:lnL w="0">
                      <a:noFill/>
                    </a:lnL>
                    <a:lnR w="0">
                      <a:noFill/>
                    </a:lnR>
                    <a:lnT w="0">
                      <a:noFill/>
                    </a:lnT>
                    <a:lnB w="15875">
                      <a:solidFill>
                        <a:srgbClr val="1F2328"/>
                      </a:solidFill>
                    </a:lnB>
                    <a:noFill/>
                  </a:tcPr>
                </a:tc>
              </a:tr>
              <a:tr h="445770">
                <a:tc>
                  <a:txBody>
                    <a:bodyPr wrap="square"/>
                    <a:lstStyle/>
                    <a:p>
                      <a:r>
                        <a:rPr sz="1500" b="0" i="0">
                          <a:solidFill>
                            <a:srgbClr val="3B4046"/>
                          </a:solidFill>
                          <a:latin typeface="Calibri"/>
                        </a:rPr>
                        <a:t>Python habits</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Harvard CS50P</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Everyday data work</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Kaggle Learn: Pandas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Models beyond this course</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Kaggle Learn: Intermediate Machine Learning</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Machine learning basics again</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Google Machine Learning Crash Course</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Deep learning</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fast.ai Practical Deep Learning for Coders</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AI ideas and ethics</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University of Helsinki Elements of AI</a:t>
                      </a:r>
                    </a:p>
                  </a:txBody>
                  <a:tcPr marL="137160" marR="91440" marT="64008" marB="64008" anchor="ctr">
                    <a:lnL w="0">
                      <a:noFill/>
                    </a:lnL>
                    <a:lnR w="0">
                      <a:noFill/>
                    </a:lnR>
                    <a:lnT w="0">
                      <a:noFill/>
                    </a:lnT>
                    <a:lnB w="6350">
                      <a:solidFill>
                        <a:srgbClr val="C9C5BC"/>
                      </a:solidFill>
                    </a:lnB>
                    <a:noFill/>
                  </a:tcPr>
                </a:tc>
              </a:tr>
              <a:tr h="445770">
                <a:tc>
                  <a:txBody>
                    <a:bodyPr wrap="square"/>
                    <a:lstStyle/>
                    <a:p>
                      <a:r>
                        <a:rPr sz="1500" b="0" i="0">
                          <a:solidFill>
                            <a:srgbClr val="3B4046"/>
                          </a:solidFill>
                          <a:latin typeface="Calibri"/>
                        </a:rPr>
                        <a:t>Language models</a:t>
                      </a:r>
                    </a:p>
                  </a:txBody>
                  <a:tcPr marL="0" marR="91440" marT="64008" marB="64008" anchor="ctr">
                    <a:lnL w="0">
                      <a:noFill/>
                    </a:lnL>
                    <a:lnR w="0">
                      <a:noFill/>
                    </a:lnR>
                    <a:lnT w="0">
                      <a:noFill/>
                    </a:lnT>
                    <a:lnB w="6350">
                      <a:solidFill>
                        <a:srgbClr val="C9C5BC"/>
                      </a:solidFill>
                    </a:lnB>
                    <a:noFill/>
                  </a:tcPr>
                </a:tc>
                <a:tc>
                  <a:txBody>
                    <a:bodyPr wrap="square"/>
                    <a:lstStyle/>
                    <a:p>
                      <a:r>
                        <a:rPr sz="1500" b="0" i="0">
                          <a:solidFill>
                            <a:srgbClr val="3B4046"/>
                          </a:solidFill>
                          <a:latin typeface="Calibri"/>
                        </a:rPr>
                        <a:t>DeepLearning.AI materials</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Check the current terms before you start. Free audit and certificate rules change.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Your six month learning path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pic>
        <p:nvPicPr>
          <p:cNvPr id="5" name="figure-learning_path" descr="Three-step path with months one to two, three to four and five to six listing practice, depth and portfolio goals."/>
          <p:cNvPicPr>
            <a:picLocks noChangeAspect="1"/>
          </p:cNvPicPr>
          <p:nvPr/>
        </p:nvPicPr>
        <p:blipFill>
          <a:blip r:embed="rId3"/>
          <a:stretch>
            <a:fillRect/>
          </a:stretch>
        </p:blipFill>
        <p:spPr>
          <a:xfrm>
            <a:off x="685800" y="1600200"/>
            <a:ext cx="7040880" cy="2972816"/>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Months one and two: repeat the labs on new data.</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Months three and four: go deeper in one area.</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Months five and six: publish two projects and one app.</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Set a weekly hour budget you can keep.</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How your presentation is marked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graphicFrame>
        <p:nvGraphicFramePr>
          <p:cNvPr id="5" name="Table"/>
          <p:cNvGraphicFramePr>
            <a:graphicFrameLocks noGrp="1"/>
          </p:cNvGraphicFramePr>
          <p:nvPr/>
        </p:nvGraphicFramePr>
        <p:xfrm>
          <a:off x="685800" y="1600200"/>
          <a:ext cx="10820094" cy="3566157"/>
        </p:xfrm>
        <a:graphic>
          <a:graphicData uri="http://schemas.openxmlformats.org/drawingml/2006/table">
            <a:tbl>
              <a:tblPr firstRow="0" bandRow="0">
                <a:tableStyleId>{2D5ABB26-0587-4C30-8999-92F81FD0307C}</a:tableStyleId>
              </a:tblPr>
              <a:tblGrid>
                <a:gridCol w="3674749"/>
                <a:gridCol w="7145345"/>
              </a:tblGrid>
              <a:tr h="573755">
                <a:tc>
                  <a:txBody>
                    <a:bodyPr wrap="square"/>
                    <a:lstStyle/>
                    <a:p>
                      <a:r>
                        <a:rPr sz="2200" b="1" i="0">
                          <a:solidFill>
                            <a:srgbClr val="1F2328"/>
                          </a:solidFill>
                          <a:latin typeface="Calibri"/>
                        </a:rPr>
                        <a:t>Criterion</a:t>
                      </a:r>
                    </a:p>
                  </a:txBody>
                  <a:tcPr marL="0" marR="91440" marT="64008" marB="64008" anchor="ctr">
                    <a:lnL w="0">
                      <a:noFill/>
                    </a:lnL>
                    <a:lnR w="0">
                      <a:noFill/>
                    </a:lnR>
                    <a:lnT w="0">
                      <a:noFill/>
                    </a:lnT>
                    <a:lnB w="15875">
                      <a:solidFill>
                        <a:srgbClr val="1F2328"/>
                      </a:solidFill>
                    </a:lnB>
                    <a:noFill/>
                  </a:tcPr>
                </a:tc>
                <a:tc>
                  <a:txBody>
                    <a:bodyPr wrap="square"/>
                    <a:lstStyle/>
                    <a:p>
                      <a:r>
                        <a:rPr sz="2200" b="1" i="0">
                          <a:solidFill>
                            <a:srgbClr val="1F2328"/>
                          </a:solidFill>
                          <a:latin typeface="Calibri"/>
                        </a:rPr>
                        <a:t>Strong work looks like</a:t>
                      </a:r>
                    </a:p>
                  </a:txBody>
                  <a:tcPr marL="137160" marR="91440" marT="64008" marB="64008" anchor="ctr">
                    <a:lnL w="0">
                      <a:noFill/>
                    </a:lnL>
                    <a:lnR w="0">
                      <a:noFill/>
                    </a:lnR>
                    <a:lnT w="0">
                      <a:noFill/>
                    </a:lnT>
                    <a:lnB w="15875">
                      <a:solidFill>
                        <a:srgbClr val="1F2328"/>
                      </a:solidFill>
                    </a:lnB>
                    <a:noFill/>
                  </a:tcPr>
                </a:tc>
              </a:tr>
              <a:tr h="573755">
                <a:tc>
                  <a:txBody>
                    <a:bodyPr wrap="square"/>
                    <a:lstStyle/>
                    <a:p>
                      <a:r>
                        <a:rPr sz="2200" b="0" i="0">
                          <a:solidFill>
                            <a:srgbClr val="3B4046"/>
                          </a:solidFill>
                          <a:latin typeface="Calibri"/>
                        </a:rPr>
                        <a:t>Question and evidence</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 one sentence question. Every claim points to data.</a:t>
                      </a:r>
                    </a:p>
                  </a:txBody>
                  <a:tcPr marL="137160" marR="91440" marT="64008" marB="64008" anchor="ctr">
                    <a:lnL w="0">
                      <a:noFill/>
                    </a:lnL>
                    <a:lnR w="0">
                      <a:noFill/>
                    </a:lnR>
                    <a:lnT w="0">
                      <a:noFill/>
                    </a:lnT>
                    <a:lnB w="6350">
                      <a:solidFill>
                        <a:srgbClr val="C9C5BC"/>
                      </a:solidFill>
                    </a:lnB>
                    <a:noFill/>
                  </a:tcPr>
                </a:tc>
              </a:tr>
              <a:tr h="922446">
                <a:tc>
                  <a:txBody>
                    <a:bodyPr wrap="square"/>
                    <a:lstStyle/>
                    <a:p>
                      <a:r>
                        <a:rPr sz="2200" b="0" i="0">
                          <a:solidFill>
                            <a:srgbClr val="3B4046"/>
                          </a:solidFill>
                          <a:latin typeface="Calibri"/>
                        </a:rPr>
                        <a:t>Metric and baseline</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A metric chosen for the cost, on unseen data, beside a simple baseline.</a:t>
                      </a:r>
                    </a:p>
                  </a:txBody>
                  <a:tcPr marL="137160" marR="91440" marT="64008" marB="64008" anchor="ctr">
                    <a:lnL w="0">
                      <a:noFill/>
                    </a:lnL>
                    <a:lnR w="0">
                      <a:noFill/>
                    </a:lnR>
                    <a:lnT w="0">
                      <a:noFill/>
                    </a:lnT>
                    <a:lnB w="6350">
                      <a:solidFill>
                        <a:srgbClr val="C9C5BC"/>
                      </a:solidFill>
                    </a:lnB>
                    <a:noFill/>
                  </a:tcPr>
                </a:tc>
              </a:tr>
              <a:tr h="922446">
                <a:tc>
                  <a:txBody>
                    <a:bodyPr wrap="square"/>
                    <a:lstStyle/>
                    <a:p>
                      <a:r>
                        <a:rPr sz="2200" b="0" i="0">
                          <a:solidFill>
                            <a:srgbClr val="3B4046"/>
                          </a:solidFill>
                          <a:latin typeface="Calibri"/>
                        </a:rPr>
                        <a:t>Limits and fairness</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Limits stated first. Risks named. Groups compared. Data duties checked.</a:t>
                      </a:r>
                    </a:p>
                  </a:txBody>
                  <a:tcPr marL="137160" marR="91440" marT="64008" marB="64008" anchor="ctr">
                    <a:lnL w="0">
                      <a:noFill/>
                    </a:lnL>
                    <a:lnR w="0">
                      <a:noFill/>
                    </a:lnR>
                    <a:lnT w="0">
                      <a:noFill/>
                    </a:lnT>
                    <a:lnB w="6350">
                      <a:solidFill>
                        <a:srgbClr val="C9C5BC"/>
                      </a:solidFill>
                    </a:lnB>
                    <a:noFill/>
                  </a:tcPr>
                </a:tc>
              </a:tr>
              <a:tr h="573755">
                <a:tc>
                  <a:txBody>
                    <a:bodyPr wrap="square"/>
                    <a:lstStyle/>
                    <a:p>
                      <a:r>
                        <a:rPr sz="2200" b="0" i="0">
                          <a:solidFill>
                            <a:srgbClr val="3B4046"/>
                          </a:solidFill>
                          <a:latin typeface="Calibri"/>
                        </a:rPr>
                        <a:t>Clarity</a:t>
                      </a:r>
                    </a:p>
                  </a:txBody>
                  <a:tcPr marL="0" marR="91440" marT="64008" marB="64008" anchor="ctr">
                    <a:lnL w="0">
                      <a:noFill/>
                    </a:lnL>
                    <a:lnR w="0">
                      <a:noFill/>
                    </a:lnR>
                    <a:lnT w="0">
                      <a:noFill/>
                    </a:lnT>
                    <a:lnB w="6350">
                      <a:solidFill>
                        <a:srgbClr val="C9C5BC"/>
                      </a:solidFill>
                    </a:lnB>
                    <a:noFill/>
                  </a:tcPr>
                </a:tc>
                <a:tc>
                  <a:txBody>
                    <a:bodyPr wrap="square"/>
                    <a:lstStyle/>
                    <a:p>
                      <a:r>
                        <a:rPr sz="2200" b="0" i="0">
                          <a:solidFill>
                            <a:srgbClr val="3B4046"/>
                          </a:solidFill>
                          <a:latin typeface="Calibri"/>
                        </a:rPr>
                        <a:t>Five slides, ten minutes, plain words, one decision.</a:t>
                      </a:r>
                    </a:p>
                  </a:txBody>
                  <a:tcPr marL="137160" marR="91440" marT="64008" marB="64008" anchor="ctr">
                    <a:lnL w="0">
                      <a:noFill/>
                    </a:lnL>
                    <a:lnR w="0">
                      <a:noFill/>
                    </a:lnR>
                    <a:lnT w="0">
                      <a:noFill/>
                    </a:lnT>
                    <a:lnB w="6350">
                      <a:solidFill>
                        <a:srgbClr val="C9C5BC"/>
                      </a:solidFill>
                    </a:lnB>
                    <a:noFill/>
                  </a:tcPr>
                </a:tc>
              </a:tr>
            </a:tbl>
          </a:graphicData>
        </a:graphic>
      </p:graphicFrame>
      <p:cxnSp>
        <p:nvCxnSpPr>
          <p:cNvPr id="6" name="Connector 5"/>
          <p:cNvCxnSpPr/>
          <p:nvPr/>
        </p:nvCxnSpPr>
        <p:spPr>
          <a:xfrm>
            <a:off x="685800" y="5440680"/>
            <a:ext cx="10820095" cy="0"/>
          </a:xfrm>
          <a:prstGeom prst="line">
            <a:avLst/>
          </a:prstGeom>
          <a:ln w="15875">
            <a:solidFill>
              <a:srgbClr val="1F2328"/>
            </a:solidFill>
          </a:ln>
        </p:spPr>
      </p:cxnSp>
      <p:sp>
        <p:nvSpPr>
          <p:cNvPr id="7" name="TextBox 6"/>
          <p:cNvSpPr txBox="1"/>
          <p:nvPr/>
        </p:nvSpPr>
        <p:spPr>
          <a:xfrm>
            <a:off x="685800" y="5532120"/>
            <a:ext cx="10820095" cy="685800"/>
          </a:xfrm>
          <a:prstGeom prst="rect">
            <a:avLst/>
          </a:prstGeom>
          <a:noFill/>
        </p:spPr>
        <p:txBody>
          <a:bodyPr wrap="square" lIns="0" rIns="0" tIns="18288" bIns="18288" anchor="t">
            <a:spAutoFit/>
          </a:bodyPr>
          <a:lstStyle/>
          <a:p>
            <a:pPr algn="l"/>
            <a:r>
              <a:rPr sz="2100" b="0" i="0">
                <a:solidFill>
                  <a:srgbClr val="1F2328"/>
                </a:solidFill>
                <a:latin typeface="Cambria"/>
              </a:rPr>
              <a:t>Use the same four rows to give your partner feedback.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Looking back at Session 1</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20</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In Session 1 you wrote a business question of your own. Read it again today.</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Rewrite your question</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Say it with what you know now.</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Name one thing you can do</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Pick a skill you did not have in Session 1.</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Name one thing you cannot do yet</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Put it on your gap list.</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prepare, rehearse and give feedback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the five slide outline with minutes</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Rehearse aloud with a timer</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Prepare answers to three likely questions</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Present for ten minutes to a partner</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Score your partner on the four rubric rows</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your six month path</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Slides, a timer and your capstone notebook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You finish near ten minutes, have three answers written, and hold feedback on all four rubric rows.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Which three parts make a result into a story?</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The question, the evidence and the decision.</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Name two things to say before you show a result.</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What the data covers and what the model cannot do. Name the baseline too.</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Where do you confirm the terms of a free course?</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100" b="0" i="0">
                  <a:solidFill>
                    <a:srgbClr val="3B4046"/>
                  </a:solidFill>
                  <a:latin typeface="Calibri"/>
                </a:rPr>
                <a:t>On the provider's own page, before you start, because free audit and certificate rules change.</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24   Capstone presentations and your path from here</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Tell a result as question, evidence and decision, and say the limits first.</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Report the baseline and the cost with every number, and answer risk questions plainly.</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Pick two free courses from the gap list, check their terms, and keep a weekly hour budget.</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No more sessions. Your six month path starts 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