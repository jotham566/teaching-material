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file gets big. Until now you've worked with a few numbers and a price list. In Session 7 we open the Lakeside Mart orders, thirty thousand two hundred rows of them, and start asking questions in Python. By the end you'll have loaded the file, looked it over before trusting it, and answered six questions that you can check against Sheets.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leave able to load a CSV file into what Python calls a DataFrame, inspect its size, column types and gaps before you trust any answer, and then select columns and filter rows to ask focused questions. The live part sits in the middle, where we load orders.csv together and watch one filter fail on purpose. The lab is six questions about Jinja, mobile money and the biggest orders, and every answer gets checked against Sheets.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today, listed with their spreadsheet cousins on the right. A DataFrame is a worksheet that lives in Python, and a Series is one column of it. The index is the row numbers down the left side. A boolean mask is a helper column of True and False that decides which rows you keep. A method is an action such as head, and an attribute is a fact such as shape. You've used every one of these ideas in a spreadsheet. Only the names are new.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6 first. You wrote a function that gives a loyalty tier from spend. How did you know it worked? Cast your mind back.</a:t>
            </a:r>
          </a:p>
          <a:p/>
          <a:p>
            <a:r>
              <a:t>You tested it on examples where you already knew the right answer, and you included the edge values, such as a spend exactly on a tier boundary. That habit matters even more today, because we'll check every pandas answer against Sheets.</a:t>
            </a:r>
          </a:p>
          <a:p/>
          <a:p>
            <a:r>
              <a:t>Second. What does a for loop replace in a spreadsheet? Take it slowly.</a:t>
            </a:r>
          </a:p>
          <a:p/>
          <a:p>
            <a:r>
              <a:t>It replaces dragging a formula down a column. Today we go a step further. pandas applies a calculation to a whole column without any loop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use this object from here to the end of the course. A DataFrame is a worksheet that lives in Python.</a:t>
            </a:r>
          </a:p>
          <a:p/>
          <a:p>
            <a:r>
              <a:t>On the right are the first five orders in the Lakeside Mart file. The names across the top are the columns. Each column holds one kind of thing, so order_id is text and promo_week is a whole number.</a:t>
            </a:r>
          </a:p>
          <a:p/>
          <a:p>
            <a:r>
              <a:t>Each row is one order. The numbers on the far left are the index, and they start at zero. Excel starts its rows at one, so this takes a day or two to feel natural.</a:t>
            </a:r>
          </a:p>
          <a:p/>
          <a:p>
            <a:r>
              <a:t>One cell is the value where a row meets a column. The red box shows the branch for the row labelled four. Find the row, then the column.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the five jobs you already do in a spreadsheet. On the right, the pandas line for each.</a:t>
            </a:r>
          </a:p>
          <a:p/>
          <a:p>
            <a:r>
              <a:t>Opening the file becomes read_csv. The first rows appear with head.</a:t>
            </a:r>
          </a:p>
          <a:p/>
          <a:p>
            <a:r>
              <a:t>Filtering comes next. Where AutoFilter has you open a dropdown, pandas has you write the condition. After that, sorting a column becomes sort_values.</a:t>
            </a:r>
          </a:p>
          <a:p/>
          <a:p>
            <a:r>
              <a:t>The fifth job is counting. A PivotTable gives you counts by group. In pandas that's value_counts, and we'll use it at the end of the demonstration.</a:t>
            </a:r>
          </a:p>
          <a:p/>
          <a:p>
            <a:r>
              <a:t>The verdict at the bottom says the rest. Same jobs. The difference is that Python writes each step down, so next month you run the same lines on a new file and get the same answers without clicking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it live, with the first thing you do to any file.</a:t>
            </a:r>
          </a:p>
          <a:p/>
          <a:p>
            <a:r>
              <a:t>import pandas as pd brings in the table library and gives it the short name pd. Everyone writes it exactly this way, so you'll recognise it in any code you ever read.</a:t>
            </a:r>
          </a:p>
          <a:p/>
          <a:p>
            <a:r>
              <a:t>read_csv reads the file, and we store the result under a name, orders. The name is ours to choose, so pick one that says what is inside.</a:t>
            </a:r>
          </a:p>
          <a:p/>
          <a:p>
            <a:r>
              <a:t>Then shape gives the size. Thirty thousand two hundred and twenty nine rows and seven columns. And head shows the first rows, so we see what we're dealing with before we ask anything.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look. Types and missing values.</a:t>
            </a:r>
          </a:p>
          <a:p/>
          <a:p>
            <a:r>
              <a:t>The dtypes line gives each column's type. Python calls text object, and whole numbers int64. Notice that order_date is shown as object. Python is treating the date as plain text, and we'll fix that in the next session.</a:t>
            </a:r>
          </a:p>
          <a:p/>
          <a:p>
            <a:r>
              <a:t>The next line asks which cells are empty and counts them for each column. Only customer_id has gaps, nine thousand one hundred and seventy one of them. Those are walk-in customers who didn't give a loyalty number, so the gap tells us something about the shoppers.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calls that you'll use on every new file. info and describe.</a:t>
            </a:r>
          </a:p>
          <a:p/>
          <a:p>
            <a:r>
              <a:t>Start with info. It lists every column with its type and how many cells are filled. Thirty thousand two hundred and twenty nine orders, but customer_id has only twenty one thousand and fifty eight filled. That's the same gap we just counted, seen from the other side.</a:t>
            </a:r>
          </a:p>
          <a:p/>
          <a:p>
            <a:r>
              <a:t>Then describe, which works on a number column. It's the summary row you'd build in Excel with COUNT, AVERAGE, MIN and MAX, all in one go.</a:t>
            </a:r>
          </a:p>
          <a:p/>
          <a:p>
            <a:r>
              <a:t>The 50 percent line is the median, twenty three thousand two hundred shillings. The mean above it is forty seven thousand four hundred and ninety one, and the biggest order is over three million. That gap between mean and median is worth a picture, and we'll draw one shortly.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routine to memorise. Five steps, same order, every file.</a:t>
            </a:r>
          </a:p>
          <a:p/>
          <a:p>
            <a:r>
              <a:t>First you load the file. It sounds obvious, but loading is where wrong separators and wrong file names show up first.</a:t>
            </a:r>
          </a:p>
          <a:p/>
          <a:p>
            <a:r>
              <a:t>Second, size. How many rows and columns?</a:t>
            </a:r>
          </a:p>
          <a:p/>
          <a:p>
            <a:r>
              <a:t>Third, you look, with head. A table that has twelve columns when you expected seven tells you something is off.</a:t>
            </a:r>
          </a:p>
          <a:p/>
          <a:p>
            <a:r>
              <a:t>Fourth, types. A date held as text or a number held as text will quietly break your sums later.</a:t>
            </a:r>
          </a:p>
          <a:p/>
          <a:p>
            <a:r>
              <a:t>Fifth, missing values. Count them by column. After these five steps you know the file well enough to ask it proper questions. Don't skip them just because you're in a hurry.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Square brackets do two jobs, and what you put inside them decides which. This confuses people at first.</a:t>
            </a:r>
          </a:p>
          <a:p/>
          <a:p>
            <a:r>
              <a:t>One name in quotes gives you one column. That column is called a Series. Two names in a list, so double brackets, give you a smaller table with just those columns.</a:t>
            </a:r>
          </a:p>
          <a:p/>
          <a:p>
            <a:r>
              <a:t>The third form is the one you'll use all day. Inside the brackets you put a test. The test runs on every row and gives back True or False. pandas keeps the rows that are True. That column of True and False values is called a boolean mask. It's exactly the helper column you'd add in Excel before filtering, only you never see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Jinja is branch B04, so let's filter for it.</a:t>
            </a:r>
          </a:p>
          <a:p/>
          <a:p>
            <a:r>
              <a:t>The condition says branch_id equals B04. Note the double equals sign. A single equals stores a value. A double equals asks a question. We keep only the rows where the answer is True and store them in a new table called jinja.</a:t>
            </a:r>
          </a:p>
          <a:p/>
          <a:p>
            <a:r>
              <a:t>Next we count the rows with len. Jinja has three thousand five hundred and sixty two orders in the file.</a:t>
            </a:r>
          </a:p>
          <a:p/>
          <a:p>
            <a:r>
              <a:t>Then value_counts on the payment column shows how those orders were paid. Mobile money leads with sixteen hundred and ninety five, cash follows with sixteen hundred and nineteen, and cards are rare at two hundred and forty eight. AutoFilter in Sheets should give you the same counts, and in the lab you'll check that.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conditions at once. Orders from Jinja that were paid by mobile money.</a:t>
            </a:r>
          </a:p>
          <a:p/>
          <a:p>
            <a:r>
              <a:t>Each test sits in its own round brackets, and the ampersand joins them. Ampersand means and. A vertical bar means or. The brackets matter. Without them Python reads the line in the wrong order and stops with an error.</a:t>
            </a:r>
          </a:p>
          <a:p/>
          <a:p>
            <a:r>
              <a:t>The answer is sixteen hundred and ninety five, the same number we saw a moment ago for mobile money in Jinja. When two routes give the same answer, you can trust it more.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mistake nearly everyone makes. You write the English word and between two tests.</a:t>
            </a:r>
          </a:p>
          <a:p/>
          <a:p>
            <a:r>
              <a:t>Python stops with an error that ends: the truth value of a Series is ambiguous. Read that last line, as we practised in Session 5. It says Python can't decide a single True or False for a whole column.</a:t>
            </a:r>
          </a:p>
          <a:p/>
          <a:p>
            <a:r>
              <a:t>The cure is the ampersand with brackets, exactly as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produces no error at all.</a:t>
            </a:r>
          </a:p>
          <a:p/>
          <a:p>
            <a:r>
              <a:t>You filter the orders to promotion weeks, calculate an average, and the number looks perfectly reasonable. Nothing warns you.</a:t>
            </a:r>
          </a:p>
          <a:p/>
          <a:p>
            <a:r>
              <a:t>The trouble is that you've thrown away every order outside promotion weeks. If you then say the average order value is such and such, you've answered a question about promotions and presented it as an answer about everything.</a:t>
            </a:r>
          </a:p>
          <a:p/>
          <a:p>
            <a:r>
              <a:t>So name the filtered table for what it holds, such as promo_orders, and print the row count next to every figure you report. A reader who sees the count knows what the figure covers.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Sorting and keeping the top few. In Excel you'd sort a column from largest to smallest and look at the top.</a:t>
            </a:r>
          </a:p>
          <a:p/>
          <a:p>
            <a:r>
              <a:t>sort_values takes the column name. For largest first, set ascending to False. Then head with five keeps the first five rows.</a:t>
            </a:r>
          </a:p>
          <a:p/>
          <a:p>
            <a:r>
              <a:t>The last line chooses just three columns to show. The biggest order in the file is O014303, from Jinja, at over three million shillings. Remember that number. Next we'll see why a few orders like this change the story.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every order's value drawn as a histogram.</a:t>
            </a:r>
          </a:p>
          <a:p/>
          <a:p>
            <a:r>
              <a:t>Most orders are small. The tallest bars sit on the left side. Then a long tail of large orders stretches to the right.</a:t>
            </a:r>
          </a:p>
          <a:p/>
          <a:p>
            <a:r>
              <a:t>Because of those big orders, the mean, the red line, is pulled to the right. It's forty seven thousand four hundred and ninety one shillings. The median, the gold line, is twenty three thousand two hundred. The mean is more than double the median.</a:t>
            </a:r>
          </a:p>
          <a:p/>
          <a:p>
            <a:r>
              <a:t>So which number do you report to a manager who asks about a typical order? Think about what you would say. The median, because it describes the typical order, and the mean describes a figure that few orders actually look like. You met this in Session 3, and it returns whenever a few big values bend an average.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 for today is boolean mask.</a:t>
            </a:r>
          </a:p>
          <a:p/>
          <a:p>
            <a:r>
              <a:t>In plain words, it's a column of True and False values, one for each row, that decides which rows to keep.</a:t>
            </a:r>
          </a:p>
          <a:p/>
          <a:p>
            <a:r>
              <a:t>In our data, when you ask which orders have branch B04, Python builds that column. True for Jinja orders, False for every other branch. Put that mask inside the square brackets and you keep only the True rows.</a:t>
            </a:r>
          </a:p>
          <a:p/>
          <a:p>
            <a:r>
              <a:t>You already do this in Excel. You add a helper column next to the data that says keep or drop, then filter on it. pandas builds the helper column for you and hides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 is six questions about the orders, and it runs forty minutes in Google Colab.</a:t>
            </a:r>
          </a:p>
          <a:p/>
          <a:p>
            <a:r>
              <a:t>Open the Session 7 notebook and run the setup cell. The first task is to load orders.csv and print its shape, and the check cell tells you straight away if you have it. Each later task has a blank for you to fill and a check underneath.</a:t>
            </a:r>
          </a:p>
          <a:p/>
          <a:p>
            <a:r>
              <a:t>The last step is to take every answer and find it again in Sheets, with AutoFilter or a PivotTable. If Python and Sheets disagree, find out why before you pick one. I'll be around. If you get an error, read the last line first, then ask 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size. Your file has thirty thousand rows. Which two lines tell you its size and its column types? Have a go.</a:t>
            </a:r>
          </a:p>
          <a:p/>
          <a:p>
            <a:r>
              <a:t>The size comes from shape, and the types come from dtypes.</a:t>
            </a:r>
          </a:p>
          <a:p/>
          <a:p>
            <a:r>
              <a:t>Next, a filter that fails. Why does a filter written with the word and fail, and what's the fix? Mull it over.</a:t>
            </a:r>
          </a:p>
          <a:p/>
          <a:p>
            <a:r>
              <a:t>Python's own and can't handle a whole column of True and False values. Use the ampersand, with each test inside round brackets.</a:t>
            </a:r>
          </a:p>
          <a:p/>
          <a:p>
            <a:r>
              <a:t>Last, an average from a filtered table. What must sit beside it? Give it a second.</a:t>
            </a:r>
          </a:p>
          <a:p/>
          <a:p>
            <a:r>
              <a:t>The row count. It tells the reader how many rows the figure covers, and it protects you from reporting a part as if it were the whole.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DataFrame is a worksheet that lives in Python. Its columns have types and its rows have an index.</a:t>
            </a:r>
          </a:p>
          <a:p/>
          <a:p>
            <a:r>
              <a:t>Look before you ask. Size, first rows, types, then missing values, in that order, on every file.</a:t>
            </a:r>
          </a:p>
          <a:p/>
          <a:p>
            <a:r>
              <a:t>A filter is a True or False test for each row. Join tests with an ampersand and brackets, and always report the row count beside any figure from a filtered table.</a:t>
            </a:r>
          </a:p>
          <a:p/>
          <a:p>
            <a:r>
              <a:t>Next session we open the till system's raw export of these orders, with duplicate lines, dates in two formats and prices stored as text, and clean it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7   pandas I: load, look and filter</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07</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7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pandas I: load, look and filter</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open a file of 30,229 rows and ask the first questions of it?</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Load a CSV into a DataFrame.</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Inspect shape, types and missing values.</a:t>
            </a:r>
          </a:p>
        </p:txBody>
      </p:sp>
      <p:cxnSp>
        <p:nvCxnSpPr>
          <p:cNvPr id="9" name="Connector 8"/>
          <p:cNvCxnSpPr/>
          <p:nvPr/>
        </p:nvCxnSpPr>
        <p:spPr>
          <a:xfrm>
            <a:off x="685800" y="2982772"/>
            <a:ext cx="5394960" cy="0"/>
          </a:xfrm>
          <a:prstGeom prst="line">
            <a:avLst/>
          </a:prstGeom>
          <a:ln w="6350">
            <a:solidFill>
              <a:srgbClr val="C9C5BC"/>
            </a:solidFill>
          </a:ln>
        </p:spPr>
      </p:cxnSp>
      <p:sp>
        <p:nvSpPr>
          <p:cNvPr id="10" name="TextBox 9"/>
          <p:cNvSpPr txBox="1"/>
          <p:nvPr/>
        </p:nvSpPr>
        <p:spPr>
          <a:xfrm>
            <a:off x="685800" y="3147364"/>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Select columns and filter rows.</a:t>
            </a:r>
          </a:p>
        </p:txBody>
      </p:sp>
      <p:cxnSp>
        <p:nvCxnSpPr>
          <p:cNvPr id="11" name="Connector 10"/>
          <p:cNvCxnSpPr/>
          <p:nvPr/>
        </p:nvCxnSpPr>
        <p:spPr>
          <a:xfrm>
            <a:off x="685800" y="365577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6"/>
        </p:xfrm>
        <a:graphic>
          <a:graphicData uri="http://schemas.openxmlformats.org/drawingml/2006/table">
            <a:tbl>
              <a:tblPr firstRow="0" bandRow="0">
                <a:tableStyleId>{2D5ABB26-0587-4C30-8999-92F81FD0307C}</a:tableStyleId>
              </a:tblPr>
              <a:tblGrid>
                <a:gridCol w="2164019"/>
                <a:gridCol w="5410047"/>
                <a:gridCol w="3246028"/>
              </a:tblGrid>
              <a:tr h="498652">
                <a:tc>
                  <a:txBody>
                    <a:bodyPr wrap="square"/>
                    <a:lstStyle/>
                    <a:p>
                      <a:r>
                        <a:rPr sz="18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85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791870">
                <a:tc>
                  <a:txBody>
                    <a:bodyPr wrap="square"/>
                    <a:lstStyle/>
                    <a:p>
                      <a:r>
                        <a:rPr sz="1850" b="1" i="0">
                          <a:solidFill>
                            <a:srgbClr val="1F2328"/>
                          </a:solidFill>
                          <a:latin typeface="Calibri"/>
                        </a:rPr>
                        <a:t>DataFrame</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table held in Python's memory, with named columns and numbered rows.</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worksheet</a:t>
                      </a:r>
                    </a:p>
                  </a:txBody>
                  <a:tcPr marL="137160" marR="91440" marT="64008" marB="64008" anchor="ctr">
                    <a:lnL w="0">
                      <a:noFill/>
                    </a:lnL>
                    <a:lnR w="0">
                      <a:noFill/>
                    </a:lnR>
                    <a:lnT w="0">
                      <a:noFill/>
                    </a:lnT>
                    <a:lnB w="6350">
                      <a:solidFill>
                        <a:srgbClr val="C9C5BC"/>
                      </a:solidFill>
                    </a:lnB>
                    <a:noFill/>
                  </a:tcPr>
                </a:tc>
              </a:tr>
              <a:tr h="498652">
                <a:tc>
                  <a:txBody>
                    <a:bodyPr wrap="square"/>
                    <a:lstStyle/>
                    <a:p>
                      <a:r>
                        <a:rPr sz="1850" b="1" i="0">
                          <a:solidFill>
                            <a:srgbClr val="1F2328"/>
                          </a:solidFill>
                          <a:latin typeface="Calibri"/>
                        </a:rPr>
                        <a:t>Series</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One column of a DataFrame.</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column</a:t>
                      </a:r>
                    </a:p>
                  </a:txBody>
                  <a:tcPr marL="137160" marR="91440" marT="64008" marB="64008" anchor="ctr">
                    <a:lnL w="0">
                      <a:noFill/>
                    </a:lnL>
                    <a:lnR w="0">
                      <a:noFill/>
                    </a:lnR>
                    <a:lnT w="0">
                      <a:noFill/>
                    </a:lnT>
                    <a:lnB w="6350">
                      <a:solidFill>
                        <a:srgbClr val="C9C5BC"/>
                      </a:solidFill>
                    </a:lnB>
                    <a:noFill/>
                  </a:tcPr>
                </a:tc>
              </a:tr>
              <a:tr h="498652">
                <a:tc>
                  <a:txBody>
                    <a:bodyPr wrap="square"/>
                    <a:lstStyle/>
                    <a:p>
                      <a:r>
                        <a:rPr sz="1850" b="1" i="0">
                          <a:solidFill>
                            <a:srgbClr val="1F2328"/>
                          </a:solidFill>
                          <a:latin typeface="Calibri"/>
                        </a:rPr>
                        <a:t>Index</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The row labels down the left edge of a DataFrame.</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The row numbers</a:t>
                      </a:r>
                    </a:p>
                  </a:txBody>
                  <a:tcPr marL="137160" marR="91440" marT="64008" marB="64008" anchor="ctr">
                    <a:lnL w="0">
                      <a:noFill/>
                    </a:lnL>
                    <a:lnR w="0">
                      <a:noFill/>
                    </a:lnR>
                    <a:lnT w="0">
                      <a:noFill/>
                    </a:lnT>
                    <a:lnB w="6350">
                      <a:solidFill>
                        <a:srgbClr val="C9C5BC"/>
                      </a:solidFill>
                    </a:lnB>
                    <a:noFill/>
                  </a:tcPr>
                </a:tc>
              </a:tr>
              <a:tr h="791870">
                <a:tc>
                  <a:txBody>
                    <a:bodyPr wrap="square"/>
                    <a:lstStyle/>
                    <a:p>
                      <a:r>
                        <a:rPr sz="1850" b="1" i="0">
                          <a:solidFill>
                            <a:srgbClr val="1F2328"/>
                          </a:solidFill>
                          <a:latin typeface="Calibri"/>
                        </a:rPr>
                        <a:t>Boolean mask</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column of True and False values used to choose rows.</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helper column saying Keep or Drop</a:t>
                      </a:r>
                    </a:p>
                  </a:txBody>
                  <a:tcPr marL="137160" marR="91440" marT="64008" marB="64008" anchor="ctr">
                    <a:lnL w="0">
                      <a:noFill/>
                    </a:lnL>
                    <a:lnR w="0">
                      <a:noFill/>
                    </a:lnR>
                    <a:lnT w="0">
                      <a:noFill/>
                    </a:lnT>
                    <a:lnB w="6350">
                      <a:solidFill>
                        <a:srgbClr val="C9C5BC"/>
                      </a:solidFill>
                    </a:lnB>
                    <a:noFill/>
                  </a:tcPr>
                </a:tc>
              </a:tr>
              <a:tr h="791870">
                <a:tc>
                  <a:txBody>
                    <a:bodyPr wrap="square"/>
                    <a:lstStyle/>
                    <a:p>
                      <a:r>
                        <a:rPr sz="1850" b="1" i="0">
                          <a:solidFill>
                            <a:srgbClr val="1F2328"/>
                          </a:solidFill>
                          <a:latin typeface="Calibri"/>
                        </a:rPr>
                        <a:t>Method</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An action attached to an object, written with a dot and brackets, such as head().</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menu command</a:t>
                      </a:r>
                    </a:p>
                  </a:txBody>
                  <a:tcPr marL="137160" marR="91440" marT="64008" marB="64008" anchor="ctr">
                    <a:lnL w="0">
                      <a:noFill/>
                    </a:lnL>
                    <a:lnR w="0">
                      <a:noFill/>
                    </a:lnR>
                    <a:lnT w="0">
                      <a:noFill/>
                    </a:lnT>
                    <a:lnB w="6350">
                      <a:solidFill>
                        <a:srgbClr val="C9C5BC"/>
                      </a:solidFill>
                    </a:lnB>
                    <a:noFill/>
                  </a:tcPr>
                </a:tc>
              </a:tr>
              <a:tr h="791870">
                <a:tc>
                  <a:txBody>
                    <a:bodyPr wrap="square"/>
                    <a:lstStyle/>
                    <a:p>
                      <a:r>
                        <a:rPr sz="1850" b="1" i="0">
                          <a:solidFill>
                            <a:srgbClr val="1F2328"/>
                          </a:solidFill>
                          <a:latin typeface="Calibri"/>
                        </a:rPr>
                        <a:t>Attribute</a:t>
                      </a:r>
                    </a:p>
                  </a:txBody>
                  <a:tcPr marL="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fact stored on an object, written without brackets, such as shape.</a:t>
                      </a:r>
                    </a:p>
                  </a:txBody>
                  <a:tcPr marL="137160" marR="91440" marT="64008" marB="64008" anchor="ctr">
                    <a:lnL w="0">
                      <a:noFill/>
                    </a:lnL>
                    <a:lnR w="0">
                      <a:noFill/>
                    </a:lnR>
                    <a:lnT w="0">
                      <a:noFill/>
                    </a:lnT>
                    <a:lnB w="6350">
                      <a:solidFill>
                        <a:srgbClr val="C9C5BC"/>
                      </a:solidFill>
                    </a:lnB>
                    <a:noFill/>
                  </a:tcPr>
                </a:tc>
                <a:tc>
                  <a:txBody>
                    <a:bodyPr wrap="square"/>
                    <a:lstStyle/>
                    <a:p>
                      <a:r>
                        <a:rPr sz="1850" b="0" i="0">
                          <a:solidFill>
                            <a:srgbClr val="3B4046"/>
                          </a:solidFill>
                          <a:latin typeface="Calibri"/>
                        </a:rPr>
                        <a:t>A value in the status bar</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6</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You wrote a function that gives a loyalty tier from spend. How did you know it worked?</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Test it on examples where you already know the answer, including the edge values.</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What does a for loop replace in a spreadsheet?</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Dragging a formula down a column, row by row.</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DataFrame is a worksheet that lives in Python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5303520" cy="1188720"/>
          </a:xfrm>
          <a:prstGeom prst="rect">
            <a:avLst/>
          </a:prstGeom>
          <a:noFill/>
        </p:spPr>
        <p:txBody>
          <a:bodyPr wrap="square" lIns="0" rIns="0" tIns="18288" bIns="18288" anchor="t">
            <a:spAutoFit/>
          </a:bodyPr>
          <a:lstStyle/>
          <a:p>
            <a:pPr algn="l"/>
            <a:r>
              <a:rPr sz="2300" b="0" i="0">
                <a:solidFill>
                  <a:srgbClr val="1F2328"/>
                </a:solidFill>
                <a:latin typeface="Cambria"/>
              </a:rPr>
              <a:t>Every pandas job starts with one of these. Learn its four parts and the rest follows.</a:t>
            </a:r>
          </a:p>
        </p:txBody>
      </p:sp>
      <p:cxnSp>
        <p:nvCxnSpPr>
          <p:cNvPr id="6" name="Connector 5"/>
          <p:cNvCxnSpPr/>
          <p:nvPr/>
        </p:nvCxnSpPr>
        <p:spPr>
          <a:xfrm>
            <a:off x="685800" y="2530449"/>
            <a:ext cx="5303520" cy="0"/>
          </a:xfrm>
          <a:prstGeom prst="line">
            <a:avLst/>
          </a:prstGeom>
          <a:ln w="15875">
            <a:solidFill>
              <a:srgbClr val="1F2328"/>
            </a:solidFill>
          </a:ln>
        </p:spPr>
      </p:cxnSp>
      <p:sp>
        <p:nvSpPr>
          <p:cNvPr id="7" name="TextBox 6"/>
          <p:cNvSpPr txBox="1"/>
          <p:nvPr/>
        </p:nvSpPr>
        <p:spPr>
          <a:xfrm>
            <a:off x="685800" y="2603601"/>
            <a:ext cx="5303520" cy="830427"/>
          </a:xfrm>
          <a:prstGeom prst="rect">
            <a:avLst/>
          </a:prstGeom>
          <a:noFill/>
        </p:spPr>
        <p:txBody>
          <a:bodyPr wrap="square" lIns="0" rIns="0" tIns="18288" bIns="18288" anchor="t">
            <a:spAutoFit/>
          </a:bodyPr>
          <a:lstStyle/>
          <a:p>
            <a:pPr algn="l"/>
            <a:r>
              <a:rPr sz="2000" b="1" i="0">
                <a:solidFill>
                  <a:srgbClr val="1F2328"/>
                </a:solidFill>
                <a:latin typeface="Calibri"/>
              </a:rPr>
              <a:t>Columns. </a:t>
            </a:r>
            <a:r>
              <a:rPr sz="2000" b="0" i="0">
                <a:solidFill>
                  <a:srgbClr val="3B4046"/>
                </a:solidFill>
                <a:latin typeface="Calibri"/>
              </a:rPr>
              <a:t>Each has a name and one type, such as text or whole number.</a:t>
            </a:r>
          </a:p>
        </p:txBody>
      </p:sp>
      <p:cxnSp>
        <p:nvCxnSpPr>
          <p:cNvPr id="8" name="Connector 7"/>
          <p:cNvCxnSpPr/>
          <p:nvPr/>
        </p:nvCxnSpPr>
        <p:spPr>
          <a:xfrm>
            <a:off x="685800" y="3452317"/>
            <a:ext cx="5303520" cy="0"/>
          </a:xfrm>
          <a:prstGeom prst="line">
            <a:avLst/>
          </a:prstGeom>
          <a:ln w="6350">
            <a:solidFill>
              <a:srgbClr val="C9C5BC"/>
            </a:solidFill>
          </a:ln>
        </p:spPr>
      </p:cxnSp>
      <p:sp>
        <p:nvSpPr>
          <p:cNvPr id="9" name="TextBox 8"/>
          <p:cNvSpPr txBox="1"/>
          <p:nvPr/>
        </p:nvSpPr>
        <p:spPr>
          <a:xfrm>
            <a:off x="685800" y="3525469"/>
            <a:ext cx="5303520" cy="830427"/>
          </a:xfrm>
          <a:prstGeom prst="rect">
            <a:avLst/>
          </a:prstGeom>
          <a:noFill/>
        </p:spPr>
        <p:txBody>
          <a:bodyPr wrap="square" lIns="0" rIns="0" tIns="18288" bIns="18288" anchor="t">
            <a:spAutoFit/>
          </a:bodyPr>
          <a:lstStyle/>
          <a:p>
            <a:pPr algn="l"/>
            <a:r>
              <a:rPr sz="2000" b="1" i="0">
                <a:solidFill>
                  <a:srgbClr val="1F2328"/>
                </a:solidFill>
                <a:latin typeface="Calibri"/>
              </a:rPr>
              <a:t>Rows. </a:t>
            </a:r>
            <a:r>
              <a:rPr sz="2000" b="0" i="0">
                <a:solidFill>
                  <a:srgbClr val="3B4046"/>
                </a:solidFill>
                <a:latin typeface="Calibri"/>
              </a:rPr>
              <a:t>Each row is one case. Here, one order.</a:t>
            </a:r>
          </a:p>
        </p:txBody>
      </p:sp>
      <p:cxnSp>
        <p:nvCxnSpPr>
          <p:cNvPr id="10" name="Connector 9"/>
          <p:cNvCxnSpPr/>
          <p:nvPr/>
        </p:nvCxnSpPr>
        <p:spPr>
          <a:xfrm>
            <a:off x="685800" y="4374184"/>
            <a:ext cx="5303520" cy="0"/>
          </a:xfrm>
          <a:prstGeom prst="line">
            <a:avLst/>
          </a:prstGeom>
          <a:ln w="6350">
            <a:solidFill>
              <a:srgbClr val="C9C5BC"/>
            </a:solidFill>
          </a:ln>
        </p:spPr>
      </p:cxnSp>
      <p:sp>
        <p:nvSpPr>
          <p:cNvPr id="11" name="TextBox 10"/>
          <p:cNvSpPr txBox="1"/>
          <p:nvPr/>
        </p:nvSpPr>
        <p:spPr>
          <a:xfrm>
            <a:off x="685800" y="4447336"/>
            <a:ext cx="5303520" cy="830427"/>
          </a:xfrm>
          <a:prstGeom prst="rect">
            <a:avLst/>
          </a:prstGeom>
          <a:noFill/>
        </p:spPr>
        <p:txBody>
          <a:bodyPr wrap="square" lIns="0" rIns="0" tIns="18288" bIns="18288" anchor="t">
            <a:spAutoFit/>
          </a:bodyPr>
          <a:lstStyle/>
          <a:p>
            <a:pPr algn="l"/>
            <a:r>
              <a:rPr sz="2000" b="1" i="0">
                <a:solidFill>
                  <a:srgbClr val="1F2328"/>
                </a:solidFill>
                <a:latin typeface="Calibri"/>
              </a:rPr>
              <a:t>Index. </a:t>
            </a:r>
            <a:r>
              <a:rPr sz="2000" b="0" i="0">
                <a:solidFill>
                  <a:srgbClr val="3B4046"/>
                </a:solidFill>
                <a:latin typeface="Calibri"/>
              </a:rPr>
              <a:t>The numbers down the left edge. They start at zero.</a:t>
            </a:r>
          </a:p>
        </p:txBody>
      </p:sp>
      <p:cxnSp>
        <p:nvCxnSpPr>
          <p:cNvPr id="12" name="Connector 11"/>
          <p:cNvCxnSpPr/>
          <p:nvPr/>
        </p:nvCxnSpPr>
        <p:spPr>
          <a:xfrm>
            <a:off x="685800" y="5296052"/>
            <a:ext cx="5303520" cy="0"/>
          </a:xfrm>
          <a:prstGeom prst="line">
            <a:avLst/>
          </a:prstGeom>
          <a:ln w="6350">
            <a:solidFill>
              <a:srgbClr val="C9C5BC"/>
            </a:solidFill>
          </a:ln>
        </p:spPr>
      </p:cxnSp>
      <p:sp>
        <p:nvSpPr>
          <p:cNvPr id="13" name="TextBox 12"/>
          <p:cNvSpPr txBox="1"/>
          <p:nvPr/>
        </p:nvSpPr>
        <p:spPr>
          <a:xfrm>
            <a:off x="685800" y="5369204"/>
            <a:ext cx="5303520" cy="830427"/>
          </a:xfrm>
          <a:prstGeom prst="rect">
            <a:avLst/>
          </a:prstGeom>
          <a:noFill/>
        </p:spPr>
        <p:txBody>
          <a:bodyPr wrap="square" lIns="0" rIns="0" tIns="18288" bIns="18288" anchor="t">
            <a:spAutoFit/>
          </a:bodyPr>
          <a:lstStyle/>
          <a:p>
            <a:pPr algn="l"/>
            <a:r>
              <a:rPr sz="2000" b="1" i="0">
                <a:solidFill>
                  <a:srgbClr val="1F2328"/>
                </a:solidFill>
                <a:latin typeface="Calibri"/>
              </a:rPr>
              <a:t>Cell. </a:t>
            </a:r>
            <a:r>
              <a:rPr sz="2000" b="0" i="0">
                <a:solidFill>
                  <a:srgbClr val="3B4046"/>
                </a:solidFill>
                <a:latin typeface="Calibri"/>
              </a:rPr>
              <a:t>One value, found by its row and column.</a:t>
            </a:r>
          </a:p>
        </p:txBody>
      </p:sp>
      <p:cxnSp>
        <p:nvCxnSpPr>
          <p:cNvPr id="14" name="Connector 13"/>
          <p:cNvCxnSpPr/>
          <p:nvPr/>
        </p:nvCxnSpPr>
        <p:spPr>
          <a:xfrm>
            <a:off x="685800" y="6217920"/>
            <a:ext cx="5303520" cy="0"/>
          </a:xfrm>
          <a:prstGeom prst="line">
            <a:avLst/>
          </a:prstGeom>
          <a:ln w="6350">
            <a:solidFill>
              <a:srgbClr val="C9C5BC"/>
            </a:solidFill>
          </a:ln>
        </p:spPr>
      </p:cxnSp>
      <p:pic>
        <p:nvPicPr>
          <p:cNvPr id="15" name="figure-dataframe_anatomy" descr="The first five rows of the orders table with column names, the index and one cell labelled."/>
          <p:cNvPicPr>
            <a:picLocks noChangeAspect="1"/>
          </p:cNvPicPr>
          <p:nvPr/>
        </p:nvPicPr>
        <p:blipFill>
          <a:blip r:embed="rId3"/>
          <a:stretch>
            <a:fillRect/>
          </a:stretch>
        </p:blipFill>
        <p:spPr>
          <a:xfrm>
            <a:off x="6355080" y="2351955"/>
            <a:ext cx="5150815" cy="311420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five jobs in Excel and in pandas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Excel or Sheets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493776"/>
            </a:xfrm>
            <a:prstGeom prst="rect">
              <a:avLst/>
            </a:prstGeom>
            <a:noFill/>
          </p:spPr>
          <p:txBody>
            <a:bodyPr wrap="square" lIns="0" rIns="0" tIns="18288" bIns="18288" anchor="ctr">
              <a:spAutoFit/>
            </a:bodyPr>
            <a:lstStyle/>
            <a:p>
              <a:pPr algn="l"/>
              <a:r>
                <a:rPr sz="2200" b="0" i="0">
                  <a:solidFill>
                    <a:srgbClr val="3B4046"/>
                  </a:solidFill>
                  <a:latin typeface="Calibri"/>
                </a:rPr>
                <a:t>Open the file</a:t>
              </a:r>
            </a:p>
          </p:txBody>
        </p:sp>
        <p:cxnSp>
          <p:nvCxnSpPr>
            <p:cNvPr id="10" name="Connector 9"/>
            <p:cNvCxnSpPr/>
            <p:nvPr/>
          </p:nvCxnSpPr>
          <p:spPr>
            <a:xfrm>
              <a:off x="685800" y="2788920"/>
              <a:ext cx="5090007" cy="0"/>
            </a:xfrm>
            <a:prstGeom prst="line">
              <a:avLst/>
            </a:prstGeom>
            <a:ln w="6350">
              <a:solidFill>
                <a:srgbClr val="C9C5BC"/>
              </a:solidFill>
            </a:ln>
          </p:spPr>
        </p:cxnSp>
        <p:sp>
          <p:nvSpPr>
            <p:cNvPr id="11" name="TextBox 10"/>
            <p:cNvSpPr txBox="1"/>
            <p:nvPr/>
          </p:nvSpPr>
          <p:spPr>
            <a:xfrm>
              <a:off x="685800" y="2825496"/>
              <a:ext cx="5090007" cy="493776"/>
            </a:xfrm>
            <a:prstGeom prst="rect">
              <a:avLst/>
            </a:prstGeom>
            <a:noFill/>
          </p:spPr>
          <p:txBody>
            <a:bodyPr wrap="square" lIns="0" rIns="0" tIns="18288" bIns="18288" anchor="ctr">
              <a:spAutoFit/>
            </a:bodyPr>
            <a:lstStyle/>
            <a:p>
              <a:pPr algn="l"/>
              <a:r>
                <a:rPr sz="2200" b="0" i="0">
                  <a:solidFill>
                    <a:srgbClr val="3B4046"/>
                  </a:solidFill>
                  <a:latin typeface="Calibri"/>
                </a:rPr>
                <a:t>Look at the first rows</a:t>
              </a:r>
            </a:p>
          </p:txBody>
        </p:sp>
        <p:cxnSp>
          <p:nvCxnSpPr>
            <p:cNvPr id="12" name="Connector 11"/>
            <p:cNvCxnSpPr/>
            <p:nvPr/>
          </p:nvCxnSpPr>
          <p:spPr>
            <a:xfrm>
              <a:off x="685800" y="3337560"/>
              <a:ext cx="5090007" cy="0"/>
            </a:xfrm>
            <a:prstGeom prst="line">
              <a:avLst/>
            </a:prstGeom>
            <a:ln w="6350">
              <a:solidFill>
                <a:srgbClr val="C9C5BC"/>
              </a:solidFill>
            </a:ln>
          </p:spPr>
        </p:cxnSp>
        <p:sp>
          <p:nvSpPr>
            <p:cNvPr id="13" name="TextBox 12"/>
            <p:cNvSpPr txBox="1"/>
            <p:nvPr/>
          </p:nvSpPr>
          <p:spPr>
            <a:xfrm>
              <a:off x="685800" y="3374136"/>
              <a:ext cx="5090007" cy="493776"/>
            </a:xfrm>
            <a:prstGeom prst="rect">
              <a:avLst/>
            </a:prstGeom>
            <a:noFill/>
          </p:spPr>
          <p:txBody>
            <a:bodyPr wrap="square" lIns="0" rIns="0" tIns="18288" bIns="18288" anchor="ctr">
              <a:spAutoFit/>
            </a:bodyPr>
            <a:lstStyle/>
            <a:p>
              <a:pPr algn="l"/>
              <a:r>
                <a:rPr sz="2200" b="0" i="0">
                  <a:solidFill>
                    <a:srgbClr val="3B4046"/>
                  </a:solidFill>
                  <a:latin typeface="Calibri"/>
                </a:rPr>
                <a:t>Filter with AutoFilter</a:t>
              </a:r>
            </a:p>
          </p:txBody>
        </p:sp>
        <p:cxnSp>
          <p:nvCxnSpPr>
            <p:cNvPr id="14" name="Connector 13"/>
            <p:cNvCxnSpPr/>
            <p:nvPr/>
          </p:nvCxnSpPr>
          <p:spPr>
            <a:xfrm>
              <a:off x="685800" y="3886200"/>
              <a:ext cx="5090007" cy="0"/>
            </a:xfrm>
            <a:prstGeom prst="line">
              <a:avLst/>
            </a:prstGeom>
            <a:ln w="6350">
              <a:solidFill>
                <a:srgbClr val="C9C5BC"/>
              </a:solidFill>
            </a:ln>
          </p:spPr>
        </p:cxnSp>
        <p:sp>
          <p:nvSpPr>
            <p:cNvPr id="15" name="TextBox 14"/>
            <p:cNvSpPr txBox="1"/>
            <p:nvPr/>
          </p:nvSpPr>
          <p:spPr>
            <a:xfrm>
              <a:off x="685800" y="3922776"/>
              <a:ext cx="5090007" cy="493776"/>
            </a:xfrm>
            <a:prstGeom prst="rect">
              <a:avLst/>
            </a:prstGeom>
            <a:noFill/>
          </p:spPr>
          <p:txBody>
            <a:bodyPr wrap="square" lIns="0" rIns="0" tIns="18288" bIns="18288" anchor="ctr">
              <a:spAutoFit/>
            </a:bodyPr>
            <a:lstStyle/>
            <a:p>
              <a:pPr algn="l"/>
              <a:r>
                <a:rPr sz="2200" b="0" i="0">
                  <a:solidFill>
                    <a:srgbClr val="3B4046"/>
                  </a:solidFill>
                  <a:latin typeface="Calibri"/>
                </a:rPr>
                <a:t>Sort a column</a:t>
              </a:r>
            </a:p>
          </p:txBody>
        </p:sp>
        <p:cxnSp>
          <p:nvCxnSpPr>
            <p:cNvPr id="16" name="Connector 15"/>
            <p:cNvCxnSpPr/>
            <p:nvPr/>
          </p:nvCxnSpPr>
          <p:spPr>
            <a:xfrm>
              <a:off x="685800" y="4434840"/>
              <a:ext cx="5090007" cy="0"/>
            </a:xfrm>
            <a:prstGeom prst="line">
              <a:avLst/>
            </a:prstGeom>
            <a:ln w="6350">
              <a:solidFill>
                <a:srgbClr val="C9C5BC"/>
              </a:solidFill>
            </a:ln>
          </p:spPr>
        </p:cxnSp>
        <p:sp>
          <p:nvSpPr>
            <p:cNvPr id="17" name="TextBox 16"/>
            <p:cNvSpPr txBox="1"/>
            <p:nvPr/>
          </p:nvSpPr>
          <p:spPr>
            <a:xfrm>
              <a:off x="685800" y="4471416"/>
              <a:ext cx="5090007" cy="493776"/>
            </a:xfrm>
            <a:prstGeom prst="rect">
              <a:avLst/>
            </a:prstGeom>
            <a:noFill/>
          </p:spPr>
          <p:txBody>
            <a:bodyPr wrap="square" lIns="0" rIns="0" tIns="18288" bIns="18288" anchor="ctr">
              <a:spAutoFit/>
            </a:bodyPr>
            <a:lstStyle/>
            <a:p>
              <a:pPr algn="l"/>
              <a:r>
                <a:rPr sz="2200" b="0" i="0">
                  <a:solidFill>
                    <a:srgbClr val="3B4046"/>
                  </a:solidFill>
                  <a:latin typeface="Calibri"/>
                </a:rPr>
                <a:t>Count with a PivotTable</a:t>
              </a:r>
            </a:p>
          </p:txBody>
        </p:sp>
      </p:grpSp>
      <p:grpSp>
        <p:nvGrpSpPr>
          <p:cNvPr id="18" name="side-2"/>
          <p:cNvGrpSpPr/>
          <p:nvPr/>
        </p:nvGrpSpPr>
        <p:grpSpPr>
          <a:xfrm>
            <a:off x="6415887" y="1600200"/>
            <a:ext cx="5090008" cy="3364992"/>
            <a:chOff x="6415887" y="1600200"/>
            <a:chExt cx="5090008" cy="3364992"/>
          </a:xfrm>
        </p:grpSpPr>
        <p:sp>
          <p:nvSpPr>
            <p:cNvPr id="19" name="TextBox 18"/>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pandas</a:t>
              </a:r>
            </a:p>
          </p:txBody>
        </p:sp>
        <p:cxnSp>
          <p:nvCxnSpPr>
            <p:cNvPr id="20" name="Connector 19"/>
            <p:cNvCxnSpPr/>
            <p:nvPr/>
          </p:nvCxnSpPr>
          <p:spPr>
            <a:xfrm>
              <a:off x="6415887" y="2167128"/>
              <a:ext cx="5090008" cy="0"/>
            </a:xfrm>
            <a:prstGeom prst="line">
              <a:avLst/>
            </a:prstGeom>
            <a:ln w="15875">
              <a:solidFill>
                <a:srgbClr val="1F2328"/>
              </a:solidFill>
            </a:ln>
          </p:spPr>
        </p:cxnSp>
        <p:sp>
          <p:nvSpPr>
            <p:cNvPr id="21" name="TextBox 20"/>
            <p:cNvSpPr txBox="1"/>
            <p:nvPr/>
          </p:nvSpPr>
          <p:spPr>
            <a:xfrm>
              <a:off x="6415887" y="2276856"/>
              <a:ext cx="5090007" cy="493776"/>
            </a:xfrm>
            <a:prstGeom prst="rect">
              <a:avLst/>
            </a:prstGeom>
            <a:noFill/>
          </p:spPr>
          <p:txBody>
            <a:bodyPr wrap="square" lIns="0" rIns="0" tIns="18288" bIns="18288" anchor="ctr">
              <a:spAutoFit/>
            </a:bodyPr>
            <a:lstStyle/>
            <a:p>
              <a:pPr algn="l"/>
              <a:r>
                <a:rPr sz="2200" b="0" i="0">
                  <a:solidFill>
                    <a:srgbClr val="3B4046"/>
                  </a:solidFill>
                  <a:latin typeface="Calibri"/>
                </a:rPr>
                <a:t>read_csv('orders.csv')</a:t>
              </a:r>
            </a:p>
          </p:txBody>
        </p:sp>
        <p:cxnSp>
          <p:nvCxnSpPr>
            <p:cNvPr id="22" name="Connector 21"/>
            <p:cNvCxnSpPr/>
            <p:nvPr/>
          </p:nvCxnSpPr>
          <p:spPr>
            <a:xfrm>
              <a:off x="6415887" y="2788920"/>
              <a:ext cx="5090008" cy="0"/>
            </a:xfrm>
            <a:prstGeom prst="line">
              <a:avLst/>
            </a:prstGeom>
            <a:ln w="6350">
              <a:solidFill>
                <a:srgbClr val="C9C5BC"/>
              </a:solidFill>
            </a:ln>
          </p:spPr>
        </p:cxnSp>
        <p:sp>
          <p:nvSpPr>
            <p:cNvPr id="23" name="TextBox 22"/>
            <p:cNvSpPr txBox="1"/>
            <p:nvPr/>
          </p:nvSpPr>
          <p:spPr>
            <a:xfrm>
              <a:off x="6415887" y="2825496"/>
              <a:ext cx="5090007" cy="493776"/>
            </a:xfrm>
            <a:prstGeom prst="rect">
              <a:avLst/>
            </a:prstGeom>
            <a:noFill/>
          </p:spPr>
          <p:txBody>
            <a:bodyPr wrap="square" lIns="0" rIns="0" tIns="18288" bIns="18288" anchor="ctr">
              <a:spAutoFit/>
            </a:bodyPr>
            <a:lstStyle/>
            <a:p>
              <a:pPr algn="l"/>
              <a:r>
                <a:rPr sz="2200" b="0" i="0">
                  <a:solidFill>
                    <a:srgbClr val="3B4046"/>
                  </a:solidFill>
                  <a:latin typeface="Calibri"/>
                </a:rPr>
                <a:t>.head()</a:t>
              </a:r>
            </a:p>
          </p:txBody>
        </p:sp>
        <p:cxnSp>
          <p:nvCxnSpPr>
            <p:cNvPr id="24" name="Connector 23"/>
            <p:cNvCxnSpPr/>
            <p:nvPr/>
          </p:nvCxnSpPr>
          <p:spPr>
            <a:xfrm>
              <a:off x="6415887" y="3337560"/>
              <a:ext cx="5090008" cy="0"/>
            </a:xfrm>
            <a:prstGeom prst="line">
              <a:avLst/>
            </a:prstGeom>
            <a:ln w="6350">
              <a:solidFill>
                <a:srgbClr val="C9C5BC"/>
              </a:solidFill>
            </a:ln>
          </p:spPr>
        </p:cxnSp>
        <p:sp>
          <p:nvSpPr>
            <p:cNvPr id="25" name="TextBox 24"/>
            <p:cNvSpPr txBox="1"/>
            <p:nvPr/>
          </p:nvSpPr>
          <p:spPr>
            <a:xfrm>
              <a:off x="6415887" y="3374136"/>
              <a:ext cx="5090007" cy="493776"/>
            </a:xfrm>
            <a:prstGeom prst="rect">
              <a:avLst/>
            </a:prstGeom>
            <a:noFill/>
          </p:spPr>
          <p:txBody>
            <a:bodyPr wrap="square" lIns="0" rIns="0" tIns="18288" bIns="18288" anchor="ctr">
              <a:spAutoFit/>
            </a:bodyPr>
            <a:lstStyle/>
            <a:p>
              <a:pPr algn="l"/>
              <a:r>
                <a:rPr sz="2200" b="0" i="0">
                  <a:solidFill>
                    <a:srgbClr val="3B4046"/>
                  </a:solidFill>
                  <a:latin typeface="Calibri"/>
                </a:rPr>
                <a:t>orders[orders.branch_id == 'B04']</a:t>
              </a:r>
            </a:p>
          </p:txBody>
        </p:sp>
        <p:cxnSp>
          <p:nvCxnSpPr>
            <p:cNvPr id="26" name="Connector 25"/>
            <p:cNvCxnSpPr/>
            <p:nvPr/>
          </p:nvCxnSpPr>
          <p:spPr>
            <a:xfrm>
              <a:off x="6415887" y="3886200"/>
              <a:ext cx="5090008" cy="0"/>
            </a:xfrm>
            <a:prstGeom prst="line">
              <a:avLst/>
            </a:prstGeom>
            <a:ln w="6350">
              <a:solidFill>
                <a:srgbClr val="C9C5BC"/>
              </a:solidFill>
            </a:ln>
          </p:spPr>
        </p:cxnSp>
        <p:sp>
          <p:nvSpPr>
            <p:cNvPr id="27" name="TextBox 26"/>
            <p:cNvSpPr txBox="1"/>
            <p:nvPr/>
          </p:nvSpPr>
          <p:spPr>
            <a:xfrm>
              <a:off x="6415887" y="3922776"/>
              <a:ext cx="5090007" cy="493776"/>
            </a:xfrm>
            <a:prstGeom prst="rect">
              <a:avLst/>
            </a:prstGeom>
            <a:noFill/>
          </p:spPr>
          <p:txBody>
            <a:bodyPr wrap="square" lIns="0" rIns="0" tIns="18288" bIns="18288" anchor="ctr">
              <a:spAutoFit/>
            </a:bodyPr>
            <a:lstStyle/>
            <a:p>
              <a:pPr algn="l"/>
              <a:r>
                <a:rPr sz="2200" b="0" i="0">
                  <a:solidFill>
                    <a:srgbClr val="3B4046"/>
                  </a:solidFill>
                  <a:latin typeface="Calibri"/>
                </a:rPr>
                <a:t>.sort_values('order_value_ugx')</a:t>
              </a:r>
            </a:p>
          </p:txBody>
        </p:sp>
        <p:cxnSp>
          <p:nvCxnSpPr>
            <p:cNvPr id="28" name="Connector 27"/>
            <p:cNvCxnSpPr/>
            <p:nvPr/>
          </p:nvCxnSpPr>
          <p:spPr>
            <a:xfrm>
              <a:off x="6415887" y="4434840"/>
              <a:ext cx="5090008" cy="0"/>
            </a:xfrm>
            <a:prstGeom prst="line">
              <a:avLst/>
            </a:prstGeom>
            <a:ln w="6350">
              <a:solidFill>
                <a:srgbClr val="C9C5BC"/>
              </a:solidFill>
            </a:ln>
          </p:spPr>
        </p:cxnSp>
        <p:sp>
          <p:nvSpPr>
            <p:cNvPr id="29" name="TextBox 28"/>
            <p:cNvSpPr txBox="1"/>
            <p:nvPr/>
          </p:nvSpPr>
          <p:spPr>
            <a:xfrm>
              <a:off x="6415887" y="4471416"/>
              <a:ext cx="5090007" cy="493776"/>
            </a:xfrm>
            <a:prstGeom prst="rect">
              <a:avLst/>
            </a:prstGeom>
            <a:noFill/>
          </p:spPr>
          <p:txBody>
            <a:bodyPr wrap="square" lIns="0" rIns="0" tIns="18288" bIns="18288" anchor="ctr">
              <a:spAutoFit/>
            </a:bodyPr>
            <a:lstStyle/>
            <a:p>
              <a:pPr algn="l"/>
              <a:r>
                <a:rPr sz="2200" b="0" i="0">
                  <a:solidFill>
                    <a:srgbClr val="3B4046"/>
                  </a:solidFill>
                  <a:latin typeface="Calibri"/>
                </a:rPr>
                <a:t>.value_counts()</a:t>
              </a:r>
            </a:p>
          </p:txBody>
        </p:sp>
      </p:grpSp>
      <p:grpSp>
        <p:nvGrpSpPr>
          <p:cNvPr id="30" name="verdict"/>
          <p:cNvGrpSpPr/>
          <p:nvPr/>
        </p:nvGrpSpPr>
        <p:grpSpPr>
          <a:xfrm>
            <a:off x="685800" y="5257800"/>
            <a:ext cx="10820095" cy="978408"/>
            <a:chOff x="685800" y="5257800"/>
            <a:chExt cx="10820095" cy="978408"/>
          </a:xfrm>
        </p:grpSpPr>
        <p:cxnSp>
          <p:nvCxnSpPr>
            <p:cNvPr id="31" name="Connector 30"/>
            <p:cNvCxnSpPr/>
            <p:nvPr/>
          </p:nvCxnSpPr>
          <p:spPr>
            <a:xfrm>
              <a:off x="685800" y="5257800"/>
              <a:ext cx="10820095" cy="0"/>
            </a:xfrm>
            <a:prstGeom prst="line">
              <a:avLst/>
            </a:prstGeom>
            <a:ln w="15875">
              <a:solidFill>
                <a:srgbClr val="1F2328"/>
              </a:solidFill>
            </a:ln>
          </p:spPr>
        </p:cxnSp>
        <p:sp>
          <p:nvSpPr>
            <p:cNvPr id="32" name="TextBox 31"/>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Same jobs. Python writes each step down, so you can repeat it on tomorrow's file.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Load the file, then look before you ask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Rectangle 4"/>
          <p:cNvSpPr/>
          <p:nvPr/>
        </p:nvSpPr>
        <p:spPr>
          <a:xfrm>
            <a:off x="685800" y="1600200"/>
            <a:ext cx="10820095"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636775"/>
          </a:xfrm>
          <a:prstGeom prst="rect">
            <a:avLst/>
          </a:prstGeom>
          <a:noFill/>
        </p:spPr>
        <p:txBody>
          <a:bodyPr wrap="none" lIns="0" rIns="0" tIns="0" bIns="0">
            <a:spAutoFit/>
          </a:bodyPr>
          <a:lstStyle/>
          <a:p>
            <a:r>
              <a:rPr sz="2100" b="1" i="0">
                <a:solidFill>
                  <a:srgbClr val="1F2328"/>
                </a:solidFill>
                <a:latin typeface="Courier New"/>
              </a:rPr>
              <a:t>import</a:t>
            </a:r>
            <a:r>
              <a:rPr sz="2100" b="0" i="0">
                <a:solidFill>
                  <a:srgbClr val="1F2328"/>
                </a:solidFill>
                <a:latin typeface="Courier New"/>
              </a:rPr>
              <a:t> </a:t>
            </a:r>
            <a:r>
              <a:rPr sz="2100" b="0" i="0">
                <a:solidFill>
                  <a:srgbClr val="1F2328"/>
                </a:solidFill>
                <a:latin typeface="Courier New"/>
              </a:rPr>
              <a:t>pandas</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pd</a:t>
            </a:r>
          </a:p>
          <a:p>
            <a:r>
              <a:rPr sz="2100" b="0" i="0">
                <a:solidFill>
                  <a:srgbClr val="1F2328"/>
                </a:solidFill>
                <a:latin typeface="Courier New"/>
              </a:rPr>
              <a:t> </a:t>
            </a:r>
          </a:p>
          <a:p>
            <a:r>
              <a:rPr sz="2100" b="0" i="0">
                <a:solidFill>
                  <a:srgbClr val="1F2328"/>
                </a:solidFill>
                <a:latin typeface="Courier New"/>
              </a:rPr>
              <a:t>orders</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pd</a:t>
            </a:r>
            <a:r>
              <a:rPr sz="2100" b="0" i="0">
                <a:solidFill>
                  <a:srgbClr val="1F2328"/>
                </a:solidFill>
                <a:latin typeface="Courier New"/>
              </a:rPr>
              <a:t>.</a:t>
            </a:r>
            <a:r>
              <a:rPr sz="2100" b="0" i="0">
                <a:solidFill>
                  <a:srgbClr val="1F2328"/>
                </a:solidFill>
                <a:latin typeface="Courier New"/>
              </a:rPr>
              <a:t>read_csv</a:t>
            </a:r>
            <a:r>
              <a:rPr sz="2100" b="0" i="0">
                <a:solidFill>
                  <a:srgbClr val="1F2328"/>
                </a:solidFill>
                <a:latin typeface="Courier New"/>
              </a:rPr>
              <a:t>(</a:t>
            </a:r>
            <a:r>
              <a:rPr sz="2100" b="0" i="0">
                <a:solidFill>
                  <a:srgbClr val="B04A2B"/>
                </a:solidFill>
                <a:latin typeface="Courier New"/>
              </a:rPr>
              <a:t>'orders.csv'</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orders</a:t>
            </a:r>
            <a:r>
              <a:rPr sz="2100" b="0" i="0">
                <a:solidFill>
                  <a:srgbClr val="1F2328"/>
                </a:solidFill>
                <a:latin typeface="Courier New"/>
              </a:rPr>
              <a:t>.</a:t>
            </a:r>
            <a:r>
              <a:rPr sz="2100" b="0" i="0">
                <a:solidFill>
                  <a:srgbClr val="1F2328"/>
                </a:solidFill>
                <a:latin typeface="Courier New"/>
              </a:rPr>
              <a:t>shape</a:t>
            </a:r>
            <a:r>
              <a:rPr sz="2100" b="0" i="0">
                <a:solidFill>
                  <a:srgbClr val="1F2328"/>
                </a:solidFill>
                <a:latin typeface="Courier New"/>
              </a:rPr>
              <a:t>)</a:t>
            </a:r>
          </a:p>
          <a:p>
            <a:r>
              <a:rPr sz="2100" b="0" i="0">
                <a:solidFill>
                  <a:srgbClr val="1F2328"/>
                </a:solidFill>
                <a:latin typeface="Courier New"/>
              </a:rPr>
              <a:t>orders</a:t>
            </a:r>
            <a:r>
              <a:rPr sz="2100" b="0" i="0">
                <a:solidFill>
                  <a:srgbClr val="1F2328"/>
                </a:solidFill>
                <a:latin typeface="Courier New"/>
              </a:rPr>
              <a:t>.</a:t>
            </a:r>
            <a:r>
              <a:rPr sz="2100" b="0" i="0">
                <a:solidFill>
                  <a:srgbClr val="1F2328"/>
                </a:solidFill>
                <a:latin typeface="Courier New"/>
              </a:rPr>
              <a:t>head</a:t>
            </a:r>
            <a:r>
              <a:rPr sz="2100" b="0" i="0">
                <a:solidFill>
                  <a:srgbClr val="1F2328"/>
                </a:solidFill>
                <a:latin typeface="Courier New"/>
              </a:rPr>
              <a:t>(</a:t>
            </a:r>
            <a:r>
              <a:rPr sz="2100" b="0" i="0">
                <a:solidFill>
                  <a:srgbClr val="3B4046"/>
                </a:solidFill>
                <a:latin typeface="Courier New"/>
              </a:rPr>
              <a:t>3</a:t>
            </a:r>
            <a:r>
              <a:rPr sz="2100" b="0" i="0">
                <a:solidFill>
                  <a:srgbClr val="1F2328"/>
                </a:solidFill>
                <a:latin typeface="Courier New"/>
              </a:rPr>
              <a:t>)</a:t>
            </a:r>
          </a:p>
        </p:txBody>
      </p:sp>
      <p:grpSp>
        <p:nvGrpSpPr>
          <p:cNvPr id="7" name="output"/>
          <p:cNvGrpSpPr/>
          <p:nvPr/>
        </p:nvGrpSpPr>
        <p:grpSpPr>
          <a:xfrm>
            <a:off x="685800" y="3621024"/>
            <a:ext cx="10820095" cy="950976"/>
            <a:chOff x="685800" y="3621024"/>
            <a:chExt cx="10820095" cy="950976"/>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10545775" cy="585216"/>
            </a:xfrm>
            <a:prstGeom prst="rect">
              <a:avLst/>
            </a:prstGeom>
            <a:noFill/>
          </p:spPr>
          <p:txBody>
            <a:bodyPr wrap="none" lIns="0" rIns="0" tIns="0" bIns="0">
              <a:spAutoFit/>
            </a:bodyPr>
            <a:lstStyle/>
            <a:p>
              <a:r>
                <a:rPr sz="1400" b="0" i="0">
                  <a:solidFill>
                    <a:srgbClr val="1F2328"/>
                  </a:solidFill>
                  <a:latin typeface="Courier New"/>
                </a:rPr>
                <a:t>(30229, 7)</a:t>
              </a:r>
            </a:p>
            <a:p>
              <a:r>
                <a:rPr sz="1400" b="0" i="0">
                  <a:solidFill>
                    <a:srgbClr val="1F2328"/>
                  </a:solidFill>
                  <a:latin typeface="Courier New"/>
                </a:rPr>
                <a:t>  order_id  order_date branch_id customer_id payment_method  promo_week  order_value_ugx</a:t>
              </a:r>
            </a:p>
            <a:p>
              <a:r>
                <a:rPr sz="1400" b="0" i="0">
                  <a:solidFill>
                    <a:srgbClr val="1F2328"/>
                  </a:solidFill>
                  <a:latin typeface="Courier New"/>
                </a:rPr>
                <a:t>O000001  2024-01-06 B01 C0495 Card 0 56000</a:t>
              </a:r>
            </a:p>
          </p:txBody>
        </p:sp>
      </p:grpSp>
      <p:grpSp>
        <p:nvGrpSpPr>
          <p:cNvPr id="11" name="says-1"/>
          <p:cNvGrpSpPr/>
          <p:nvPr/>
        </p:nvGrpSpPr>
        <p:grpSpPr>
          <a:xfrm>
            <a:off x="685800" y="4754880"/>
            <a:ext cx="3332378" cy="1353312"/>
            <a:chOff x="685800" y="4754880"/>
            <a:chExt cx="3332378" cy="1353312"/>
          </a:xfrm>
        </p:grpSpPr>
        <p:cxnSp>
          <p:nvCxnSpPr>
            <p:cNvPr id="12" name="Connector 11"/>
            <p:cNvCxnSpPr/>
            <p:nvPr/>
          </p:nvCxnSpPr>
          <p:spPr>
            <a:xfrm>
              <a:off x="685800" y="4754880"/>
              <a:ext cx="3332378" cy="0"/>
            </a:xfrm>
            <a:prstGeom prst="line">
              <a:avLst/>
            </a:prstGeom>
            <a:ln w="15875">
              <a:solidFill>
                <a:srgbClr val="1F2328"/>
              </a:solidFill>
            </a:ln>
          </p:spPr>
        </p:cxnSp>
        <p:sp>
          <p:nvSpPr>
            <p:cNvPr id="13" name="TextBox 12"/>
            <p:cNvSpPr txBox="1"/>
            <p:nvPr/>
          </p:nvSpPr>
          <p:spPr>
            <a:xfrm>
              <a:off x="685800"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Bring in pandas and call it pd, the name everyone uses.</a:t>
              </a:r>
            </a:p>
          </p:txBody>
        </p:sp>
      </p:grpSp>
      <p:grpSp>
        <p:nvGrpSpPr>
          <p:cNvPr id="15" name="says-2"/>
          <p:cNvGrpSpPr/>
          <p:nvPr/>
        </p:nvGrpSpPr>
        <p:grpSpPr>
          <a:xfrm>
            <a:off x="4429658" y="4754880"/>
            <a:ext cx="3332378" cy="1353312"/>
            <a:chOff x="4429658" y="4754880"/>
            <a:chExt cx="3332378" cy="1353312"/>
          </a:xfrm>
        </p:grpSpPr>
        <p:cxnSp>
          <p:nvCxnSpPr>
            <p:cNvPr id="16" name="Connector 15"/>
            <p:cNvCxnSpPr/>
            <p:nvPr/>
          </p:nvCxnSpPr>
          <p:spPr>
            <a:xfrm>
              <a:off x="4429658" y="4754880"/>
              <a:ext cx="3332378" cy="0"/>
            </a:xfrm>
            <a:prstGeom prst="line">
              <a:avLst/>
            </a:prstGeom>
            <a:ln w="15875">
              <a:solidFill>
                <a:srgbClr val="1F2328"/>
              </a:solidFill>
            </a:ln>
          </p:spPr>
        </p:cxnSp>
        <p:sp>
          <p:nvSpPr>
            <p:cNvPr id="17" name="TextBox 16"/>
            <p:cNvSpPr txBox="1"/>
            <p:nvPr/>
          </p:nvSpPr>
          <p:spPr>
            <a:xfrm>
              <a:off x="4429658"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Read the file into a DataFrame and name it orders.</a:t>
              </a:r>
            </a:p>
          </p:txBody>
        </p:sp>
      </p:grpSp>
      <p:grpSp>
        <p:nvGrpSpPr>
          <p:cNvPr id="19" name="says-3"/>
          <p:cNvGrpSpPr/>
          <p:nvPr/>
        </p:nvGrpSpPr>
        <p:grpSpPr>
          <a:xfrm>
            <a:off x="8173516" y="4754880"/>
            <a:ext cx="3332379" cy="1353312"/>
            <a:chOff x="8173516" y="4754880"/>
            <a:chExt cx="3332379" cy="1353312"/>
          </a:xfrm>
        </p:grpSpPr>
        <p:cxnSp>
          <p:nvCxnSpPr>
            <p:cNvPr id="20" name="Connector 19"/>
            <p:cNvCxnSpPr/>
            <p:nvPr/>
          </p:nvCxnSpPr>
          <p:spPr>
            <a:xfrm>
              <a:off x="8173516" y="4754880"/>
              <a:ext cx="3332379" cy="0"/>
            </a:xfrm>
            <a:prstGeom prst="line">
              <a:avLst/>
            </a:prstGeom>
            <a:ln w="15875">
              <a:solidFill>
                <a:srgbClr val="1F2328"/>
              </a:solidFill>
            </a:ln>
          </p:spPr>
        </p:cxnSp>
        <p:sp>
          <p:nvSpPr>
            <p:cNvPr id="21" name="TextBox 20"/>
            <p:cNvSpPr txBox="1"/>
            <p:nvPr/>
          </p:nvSpPr>
          <p:spPr>
            <a:xfrm>
              <a:off x="8173516"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shape is an attribute with rows then columns. head shows the first rows.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Check the types and what is missing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12710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996695"/>
          </a:xfrm>
          <a:prstGeom prst="rect">
            <a:avLst/>
          </a:prstGeom>
          <a:noFill/>
        </p:spPr>
        <p:txBody>
          <a:bodyPr wrap="none" lIns="0" rIns="0" tIns="0" bIns="0">
            <a:spAutoFit/>
          </a:bodyPr>
          <a:lstStyle/>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orders</a:t>
            </a:r>
            <a:r>
              <a:rPr sz="2100" b="0" i="0">
                <a:solidFill>
                  <a:srgbClr val="1F2328"/>
                </a:solidFill>
                <a:latin typeface="Courier New"/>
              </a:rPr>
              <a:t>.</a:t>
            </a:r>
            <a:r>
              <a:rPr sz="2100" b="0" i="0">
                <a:solidFill>
                  <a:srgbClr val="1F2328"/>
                </a:solidFill>
                <a:latin typeface="Courier New"/>
              </a:rPr>
              <a:t>dtypes</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orders</a:t>
            </a:r>
            <a:r>
              <a:rPr sz="2100" b="0" i="0">
                <a:solidFill>
                  <a:srgbClr val="1F2328"/>
                </a:solidFill>
                <a:latin typeface="Courier New"/>
              </a:rPr>
              <a:t>.</a:t>
            </a:r>
            <a:r>
              <a:rPr sz="2100" b="0" i="0">
                <a:solidFill>
                  <a:srgbClr val="1F2328"/>
                </a:solidFill>
                <a:latin typeface="Courier New"/>
              </a:rPr>
              <a:t>isna</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p>
        </p:txBody>
      </p:sp>
      <p:grpSp>
        <p:nvGrpSpPr>
          <p:cNvPr id="7" name="output"/>
          <p:cNvGrpSpPr/>
          <p:nvPr/>
        </p:nvGrpSpPr>
        <p:grpSpPr>
          <a:xfrm>
            <a:off x="685800" y="2980944"/>
            <a:ext cx="6949440" cy="2017775"/>
            <a:chOff x="685800" y="2980944"/>
            <a:chExt cx="6949440" cy="2017775"/>
          </a:xfrm>
        </p:grpSpPr>
        <p:sp>
          <p:nvSpPr>
            <p:cNvPr id="8" name="TextBox 7"/>
            <p:cNvSpPr txBox="1"/>
            <p:nvPr/>
          </p:nvSpPr>
          <p:spPr>
            <a:xfrm>
              <a:off x="685800" y="29809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236976"/>
              <a:ext cx="6949440" cy="1761743"/>
            </a:xfrm>
            <a:prstGeom prst="rect">
              <a:avLst/>
            </a:prstGeom>
            <a:solidFill>
              <a:srgbClr val="F5F3EF"/>
            </a:solidFill>
            <a:ln>
              <a:noFill/>
            </a:ln>
          </p:spPr>
          <p:txBody>
            <a:bodyPr rtlCol="0" anchor="ctr"/>
            <a:lstStyle/>
            <a:p>
              <a:pPr algn="ctr"/>
            </a:p>
          </p:txBody>
        </p:sp>
        <p:sp>
          <p:nvSpPr>
            <p:cNvPr id="10" name="TextBox 9"/>
            <p:cNvSpPr txBox="1"/>
            <p:nvPr/>
          </p:nvSpPr>
          <p:spPr>
            <a:xfrm>
              <a:off x="868680" y="3328416"/>
              <a:ext cx="6675120" cy="1652016"/>
            </a:xfrm>
            <a:prstGeom prst="rect">
              <a:avLst/>
            </a:prstGeom>
            <a:noFill/>
          </p:spPr>
          <p:txBody>
            <a:bodyPr wrap="none" lIns="0" rIns="0" tIns="0" bIns="0">
              <a:spAutoFit/>
            </a:bodyPr>
            <a:lstStyle/>
            <a:p>
              <a:r>
                <a:rPr sz="1400" b="0" i="0">
                  <a:solidFill>
                    <a:srgbClr val="1F2328"/>
                  </a:solidFill>
                  <a:latin typeface="Courier New"/>
                </a:rPr>
                <a:t>order_id           object</a:t>
              </a:r>
            </a:p>
            <a:p>
              <a:r>
                <a:rPr sz="1400" b="0" i="0">
                  <a:solidFill>
                    <a:srgbClr val="1F2328"/>
                  </a:solidFill>
                  <a:latin typeface="Courier New"/>
                </a:rPr>
                <a:t>order_date         object</a:t>
              </a:r>
            </a:p>
            <a:p>
              <a:r>
                <a:rPr sz="1400" b="0" i="0">
                  <a:solidFill>
                    <a:srgbClr val="1F2328"/>
                  </a:solidFill>
                  <a:latin typeface="Courier New"/>
                </a:rPr>
                <a:t>branch_id          object</a:t>
              </a:r>
            </a:p>
            <a:p>
              <a:r>
                <a:rPr sz="1400" b="0" i="0">
                  <a:solidFill>
                    <a:srgbClr val="1F2328"/>
                  </a:solidFill>
                  <a:latin typeface="Courier New"/>
                </a:rPr>
                <a:t>customer_id        object</a:t>
              </a:r>
            </a:p>
            <a:p>
              <a:r>
                <a:rPr sz="1400" b="0" i="0">
                  <a:solidFill>
                    <a:srgbClr val="1F2328"/>
                  </a:solidFill>
                  <a:latin typeface="Courier New"/>
                </a:rPr>
                <a:t>payment_method     object</a:t>
              </a:r>
            </a:p>
            <a:p>
              <a:r>
                <a:rPr sz="1400" b="0" i="0">
                  <a:solidFill>
                    <a:srgbClr val="1F2328"/>
                  </a:solidFill>
                  <a:latin typeface="Courier New"/>
                </a:rPr>
                <a:t>promo_week          int64</a:t>
              </a:r>
            </a:p>
            <a:p>
              <a:r>
                <a:rPr sz="1400" b="0" i="0">
                  <a:solidFill>
                    <a:srgbClr val="1F2328"/>
                  </a:solidFill>
                  <a:latin typeface="Courier New"/>
                </a:rPr>
                <a:t>order_value_ugx     int64</a:t>
              </a:r>
            </a:p>
            <a:p>
              <a:r>
                <a:rPr sz="1400" b="0" i="0">
                  <a:solidFill>
                    <a:srgbClr val="1F2328"/>
                  </a:solidFill>
                  <a:latin typeface="Courier New"/>
                </a:rPr>
                <a:t>customer_id    9171</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dtypes lists each column's type. Text shows as object.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isna marks the empty cells. sum counts them for each column.</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info and describe: two summaries in one line each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6949440" cy="10424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768095"/>
          </a:xfrm>
          <a:prstGeom prst="rect">
            <a:avLst/>
          </a:prstGeom>
          <a:noFill/>
        </p:spPr>
        <p:txBody>
          <a:bodyPr wrap="none" lIns="0" rIns="0" tIns="0" bIns="0">
            <a:spAutoFit/>
          </a:bodyPr>
          <a:lstStyle/>
          <a:p>
            <a:r>
              <a:rPr sz="1600" b="0" i="0">
                <a:solidFill>
                  <a:srgbClr val="1F2328"/>
                </a:solidFill>
                <a:latin typeface="Courier New"/>
              </a:rPr>
              <a:t>orders</a:t>
            </a:r>
            <a:r>
              <a:rPr sz="1600" b="0" i="0">
                <a:solidFill>
                  <a:srgbClr val="1F2328"/>
                </a:solidFill>
                <a:latin typeface="Courier New"/>
              </a:rPr>
              <a:t>.</a:t>
            </a:r>
            <a:r>
              <a:rPr sz="1600" b="0" i="0">
                <a:solidFill>
                  <a:srgbClr val="1F2328"/>
                </a:solidFill>
                <a:latin typeface="Courier New"/>
              </a:rPr>
              <a:t>info</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orders</a:t>
            </a:r>
            <a:r>
              <a:rPr sz="1600" b="0" i="0">
                <a:solidFill>
                  <a:srgbClr val="1F2328"/>
                </a:solidFill>
                <a:latin typeface="Courier New"/>
              </a:rPr>
              <a:t>.</a:t>
            </a:r>
            <a:r>
              <a:rPr sz="1600" b="0" i="0">
                <a:solidFill>
                  <a:srgbClr val="1F2328"/>
                </a:solidFill>
                <a:latin typeface="Courier New"/>
              </a:rPr>
              <a:t>order_value_ugx</a:t>
            </a:r>
            <a:r>
              <a:rPr sz="1600" b="0" i="0">
                <a:solidFill>
                  <a:srgbClr val="1F2328"/>
                </a:solidFill>
                <a:latin typeface="Courier New"/>
              </a:rPr>
              <a:t>.</a:t>
            </a:r>
            <a:r>
              <a:rPr sz="1600" b="0" i="0">
                <a:solidFill>
                  <a:srgbClr val="1F2328"/>
                </a:solidFill>
                <a:latin typeface="Courier New"/>
              </a:rPr>
              <a:t>describe</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round</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astype</a:t>
            </a:r>
            <a:r>
              <a:rPr sz="1600" b="0" i="0">
                <a:solidFill>
                  <a:srgbClr val="1F2328"/>
                </a:solidFill>
                <a:latin typeface="Courier New"/>
              </a:rPr>
              <a:t>(</a:t>
            </a:r>
            <a:r>
              <a:rPr sz="1600" b="0" i="0">
                <a:solidFill>
                  <a:srgbClr val="1F2328"/>
                </a:solidFill>
                <a:latin typeface="Courier New"/>
              </a:rPr>
              <a:t>int</a:t>
            </a:r>
            <a:r>
              <a:rPr sz="1600" b="0" i="0">
                <a:solidFill>
                  <a:srgbClr val="1F2328"/>
                </a:solidFill>
                <a:latin typeface="Courier New"/>
              </a:rPr>
              <a:t>)</a:t>
            </a:r>
          </a:p>
        </p:txBody>
      </p:sp>
      <p:grpSp>
        <p:nvGrpSpPr>
          <p:cNvPr id="7" name="output"/>
          <p:cNvGrpSpPr/>
          <p:nvPr/>
        </p:nvGrpSpPr>
        <p:grpSpPr>
          <a:xfrm>
            <a:off x="685800" y="2752344"/>
            <a:ext cx="6949440" cy="2871215"/>
            <a:chOff x="685800" y="2752344"/>
            <a:chExt cx="6949440" cy="2871215"/>
          </a:xfrm>
        </p:grpSpPr>
        <p:sp>
          <p:nvSpPr>
            <p:cNvPr id="8" name="TextBox 7"/>
            <p:cNvSpPr txBox="1"/>
            <p:nvPr/>
          </p:nvSpPr>
          <p:spPr>
            <a:xfrm>
              <a:off x="685800" y="27523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008376"/>
              <a:ext cx="6949440" cy="2615183"/>
            </a:xfrm>
            <a:prstGeom prst="rect">
              <a:avLst/>
            </a:prstGeom>
            <a:solidFill>
              <a:srgbClr val="F5F3EF"/>
            </a:solidFill>
            <a:ln>
              <a:noFill/>
            </a:ln>
          </p:spPr>
          <p:txBody>
            <a:bodyPr rtlCol="0" anchor="ctr"/>
            <a:lstStyle/>
            <a:p>
              <a:pPr algn="ctr"/>
            </a:p>
          </p:txBody>
        </p:sp>
        <p:sp>
          <p:nvSpPr>
            <p:cNvPr id="10" name="TextBox 9"/>
            <p:cNvSpPr txBox="1"/>
            <p:nvPr/>
          </p:nvSpPr>
          <p:spPr>
            <a:xfrm>
              <a:off x="868680" y="3099816"/>
              <a:ext cx="6675120" cy="2505456"/>
            </a:xfrm>
            <a:prstGeom prst="rect">
              <a:avLst/>
            </a:prstGeom>
            <a:noFill/>
          </p:spPr>
          <p:txBody>
            <a:bodyPr wrap="none" lIns="0" rIns="0" tIns="0" bIns="0">
              <a:spAutoFit/>
            </a:bodyPr>
            <a:lstStyle/>
            <a:p>
              <a:r>
                <a:rPr sz="1400" b="0" i="0">
                  <a:solidFill>
                    <a:srgbClr val="1F2328"/>
                  </a:solidFill>
                  <a:latin typeface="Courier New"/>
                </a:rPr>
                <a:t>RangeIndex: 30229 entries, 0 to 30228</a:t>
              </a:r>
            </a:p>
            <a:p>
              <a:r>
                <a:rPr sz="1400" b="0" i="0">
                  <a:solidFill>
                    <a:srgbClr val="1F2328"/>
                  </a:solidFill>
                  <a:latin typeface="Courier New"/>
                </a:rPr>
                <a:t> 3   customer_id      21058 non-null  object</a:t>
              </a:r>
            </a:p>
            <a:p>
              <a:r>
                <a:rPr sz="1400" b="0" i="0">
                  <a:solidFill>
                    <a:srgbClr val="1F2328"/>
                  </a:solidFill>
                  <a:latin typeface="Courier New"/>
                </a:rPr>
                <a:t> 6   order_value_ugx  30229 non-null  int64</a:t>
              </a:r>
            </a:p>
            <a:p>
              <a:r>
                <a:rPr sz="1400" b="0" i="0">
                  <a:solidFill>
                    <a:srgbClr val="1F2328"/>
                  </a:solidFill>
                  <a:latin typeface="Courier New"/>
                </a:rPr>
                <a:t> </a:t>
              </a:r>
            </a:p>
            <a:p>
              <a:r>
                <a:rPr sz="1400" b="0" i="0">
                  <a:solidFill>
                    <a:srgbClr val="1F2328"/>
                  </a:solidFill>
                  <a:latin typeface="Courier New"/>
                </a:rPr>
                <a:t>count      30229</a:t>
              </a:r>
            </a:p>
            <a:p>
              <a:r>
                <a:rPr sz="1400" b="0" i="0">
                  <a:solidFill>
                    <a:srgbClr val="1F2328"/>
                  </a:solidFill>
                  <a:latin typeface="Courier New"/>
                </a:rPr>
                <a:t>mean       47491</a:t>
              </a:r>
            </a:p>
            <a:p>
              <a:r>
                <a:rPr sz="1400" b="0" i="0">
                  <a:solidFill>
                    <a:srgbClr val="1F2328"/>
                  </a:solidFill>
                  <a:latin typeface="Courier New"/>
                </a:rPr>
                <a:t>std       123574</a:t>
              </a:r>
            </a:p>
            <a:p>
              <a:r>
                <a:rPr sz="1400" b="0" i="0">
                  <a:solidFill>
                    <a:srgbClr val="1F2328"/>
                  </a:solidFill>
                  <a:latin typeface="Courier New"/>
                </a:rPr>
                <a:t>min          800</a:t>
              </a:r>
            </a:p>
            <a:p>
              <a:r>
                <a:rPr sz="1400" b="0" i="0">
                  <a:solidFill>
                    <a:srgbClr val="1F2328"/>
                  </a:solidFill>
                  <a:latin typeface="Courier New"/>
                </a:rPr>
                <a:t>25%         9940</a:t>
              </a:r>
            </a:p>
            <a:p>
              <a:r>
                <a:rPr sz="1400" b="0" i="0">
                  <a:solidFill>
                    <a:srgbClr val="1F2328"/>
                  </a:solidFill>
                  <a:latin typeface="Courier New"/>
                </a:rPr>
                <a:t>50%        23200</a:t>
              </a:r>
            </a:p>
            <a:p>
              <a:r>
                <a:rPr sz="1400" b="0" i="0">
                  <a:solidFill>
                    <a:srgbClr val="1F2328"/>
                  </a:solidFill>
                  <a:latin typeface="Courier New"/>
                </a:rPr>
                <a:t>75%        47300</a:t>
              </a:r>
            </a:p>
            <a:p>
              <a:r>
                <a:rPr sz="1400" b="0" i="0">
                  <a:solidFill>
                    <a:srgbClr val="1F2328"/>
                  </a:solidFill>
                  <a:latin typeface="Courier New"/>
                </a:rPr>
                <a:t>max      3104000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info lists every column with its count of filled cells and its type.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describe gives count, mean, spread and quartiles for one number column.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50% row is the median. It is 23,200 here.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first five minutes with any new file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944563" cy="2999231"/>
            <a:chOff x="676656" y="2167128"/>
            <a:chExt cx="194456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Load</a:t>
              </a:r>
            </a:p>
          </p:txBody>
        </p:sp>
        <p:sp>
          <p:nvSpPr>
            <p:cNvPr id="9" name="TextBox 8"/>
            <p:cNvSpPr txBox="1"/>
            <p:nvPr/>
          </p:nvSpPr>
          <p:spPr>
            <a:xfrm>
              <a:off x="685800" y="3114446"/>
              <a:ext cx="1935419" cy="2051913"/>
            </a:xfrm>
            <a:prstGeom prst="rect">
              <a:avLst/>
            </a:prstGeom>
            <a:noFill/>
          </p:spPr>
          <p:txBody>
            <a:bodyPr wrap="square" lIns="0" rIns="0" tIns="18288" bIns="18288" anchor="t">
              <a:spAutoFit/>
            </a:bodyPr>
            <a:lstStyle/>
            <a:p>
              <a:pPr algn="l"/>
              <a:r>
                <a:rPr sz="1750" b="0" i="0">
                  <a:solidFill>
                    <a:srgbClr val="3B4046"/>
                  </a:solidFill>
                  <a:latin typeface="Calibri"/>
                </a:rPr>
                <a:t>pd.read_csv('file.csv')</a:t>
              </a:r>
            </a:p>
          </p:txBody>
        </p:sp>
      </p:grpSp>
      <p:grpSp>
        <p:nvGrpSpPr>
          <p:cNvPr id="10" name="step-2"/>
          <p:cNvGrpSpPr/>
          <p:nvPr/>
        </p:nvGrpSpPr>
        <p:grpSpPr>
          <a:xfrm>
            <a:off x="2840675" y="2167128"/>
            <a:ext cx="1944563" cy="2999231"/>
            <a:chOff x="2840675" y="2167128"/>
            <a:chExt cx="1944563" cy="2999231"/>
          </a:xfrm>
        </p:grpSpPr>
        <p:sp>
          <p:nvSpPr>
            <p:cNvPr id="11" name="Oval 10"/>
            <p:cNvSpPr/>
            <p:nvPr/>
          </p:nvSpPr>
          <p:spPr>
            <a:xfrm>
              <a:off x="284067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849819"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Size</a:t>
              </a:r>
            </a:p>
          </p:txBody>
        </p:sp>
        <p:sp>
          <p:nvSpPr>
            <p:cNvPr id="13" name="TextBox 12"/>
            <p:cNvSpPr txBox="1"/>
            <p:nvPr/>
          </p:nvSpPr>
          <p:spPr>
            <a:xfrm>
              <a:off x="2849819"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.shape</a:t>
              </a:r>
            </a:p>
          </p:txBody>
        </p:sp>
      </p:grpSp>
      <p:grpSp>
        <p:nvGrpSpPr>
          <p:cNvPr id="14" name="step-3"/>
          <p:cNvGrpSpPr/>
          <p:nvPr/>
        </p:nvGrpSpPr>
        <p:grpSpPr>
          <a:xfrm>
            <a:off x="5004694" y="2167128"/>
            <a:ext cx="1944563" cy="2999231"/>
            <a:chOff x="5004694" y="2167128"/>
            <a:chExt cx="1944563" cy="2999231"/>
          </a:xfrm>
        </p:grpSpPr>
        <p:sp>
          <p:nvSpPr>
            <p:cNvPr id="15" name="Oval 14"/>
            <p:cNvSpPr/>
            <p:nvPr/>
          </p:nvSpPr>
          <p:spPr>
            <a:xfrm>
              <a:off x="500469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5013838"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Look</a:t>
              </a:r>
            </a:p>
          </p:txBody>
        </p:sp>
        <p:sp>
          <p:nvSpPr>
            <p:cNvPr id="17" name="TextBox 16"/>
            <p:cNvSpPr txBox="1"/>
            <p:nvPr/>
          </p:nvSpPr>
          <p:spPr>
            <a:xfrm>
              <a:off x="5013838"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.head()</a:t>
              </a:r>
            </a:p>
          </p:txBody>
        </p:sp>
      </p:grpSp>
      <p:grpSp>
        <p:nvGrpSpPr>
          <p:cNvPr id="18" name="step-4"/>
          <p:cNvGrpSpPr/>
          <p:nvPr/>
        </p:nvGrpSpPr>
        <p:grpSpPr>
          <a:xfrm>
            <a:off x="7168713" y="2167128"/>
            <a:ext cx="1944563" cy="2999231"/>
            <a:chOff x="7168713" y="2167128"/>
            <a:chExt cx="1944563" cy="2999231"/>
          </a:xfrm>
        </p:grpSpPr>
        <p:sp>
          <p:nvSpPr>
            <p:cNvPr id="19" name="Oval 18"/>
            <p:cNvSpPr/>
            <p:nvPr/>
          </p:nvSpPr>
          <p:spPr>
            <a:xfrm>
              <a:off x="716871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7177857"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Types</a:t>
              </a:r>
            </a:p>
          </p:txBody>
        </p:sp>
        <p:sp>
          <p:nvSpPr>
            <p:cNvPr id="21" name="TextBox 20"/>
            <p:cNvSpPr txBox="1"/>
            <p:nvPr/>
          </p:nvSpPr>
          <p:spPr>
            <a:xfrm>
              <a:off x="7177857"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.dtypes</a:t>
              </a:r>
            </a:p>
          </p:txBody>
        </p:sp>
      </p:grpSp>
      <p:grpSp>
        <p:nvGrpSpPr>
          <p:cNvPr id="22" name="step-5"/>
          <p:cNvGrpSpPr/>
          <p:nvPr/>
        </p:nvGrpSpPr>
        <p:grpSpPr>
          <a:xfrm>
            <a:off x="9332732" y="2167128"/>
            <a:ext cx="1944563" cy="2999231"/>
            <a:chOff x="9332732" y="2167128"/>
            <a:chExt cx="1944563" cy="2999231"/>
          </a:xfrm>
        </p:grpSpPr>
        <p:sp>
          <p:nvSpPr>
            <p:cNvPr id="23" name="Oval 22"/>
            <p:cNvSpPr/>
            <p:nvPr/>
          </p:nvSpPr>
          <p:spPr>
            <a:xfrm>
              <a:off x="9332732" y="2167128"/>
              <a:ext cx="237744" cy="237744"/>
            </a:xfrm>
            <a:prstGeom prst="ellipse">
              <a:avLst/>
            </a:prstGeom>
            <a:solidFill>
              <a:srgbClr val="FFFFFF"/>
            </a:solidFill>
            <a:ln w="19050">
              <a:solidFill>
                <a:srgbClr val="1F2328"/>
              </a:solidFill>
            </a:ln>
          </p:spPr>
          <p:txBody>
            <a:bodyPr rtlCol="0" anchor="ctr"/>
            <a:lstStyle/>
            <a:p>
              <a:pPr algn="ctr"/>
            </a:p>
          </p:txBody>
        </p:sp>
        <p:sp>
          <p:nvSpPr>
            <p:cNvPr id="24" name="TextBox 23"/>
            <p:cNvSpPr txBox="1"/>
            <p:nvPr/>
          </p:nvSpPr>
          <p:spPr>
            <a:xfrm>
              <a:off x="9341876"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Missing</a:t>
              </a:r>
            </a:p>
          </p:txBody>
        </p:sp>
        <p:sp>
          <p:nvSpPr>
            <p:cNvPr id="25" name="TextBox 24"/>
            <p:cNvSpPr txBox="1"/>
            <p:nvPr/>
          </p:nvSpPr>
          <p:spPr>
            <a:xfrm>
              <a:off x="9341876"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.isna().sum()</a:t>
              </a:r>
            </a:p>
          </p:txBody>
        </p:sp>
      </p:grpSp>
      <p:cxnSp>
        <p:nvCxnSpPr>
          <p:cNvPr id="26" name="Connector 25"/>
          <p:cNvCxnSpPr/>
          <p:nvPr/>
        </p:nvCxnSpPr>
        <p:spPr>
          <a:xfrm>
            <a:off x="685800" y="5120640"/>
            <a:ext cx="10820095" cy="0"/>
          </a:xfrm>
          <a:prstGeom prst="line">
            <a:avLst/>
          </a:prstGeom>
          <a:ln w="15875">
            <a:solidFill>
              <a:srgbClr val="1F2328"/>
            </a:solidFill>
          </a:ln>
        </p:spPr>
      </p:cxnSp>
      <p:sp>
        <p:nvSpPr>
          <p:cNvPr id="27" name="TextBox 26"/>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Run these five in this order on every file you ever meet.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Choosing columns and rows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Square brackets do both jobs. What goes inside decides which.</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One column</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orders['branch_id'] gives a Series.</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Several columns</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orders[['branch_id', 'payment_method']] uses a list inside the brackets.</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Some rows</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orders[orders.branch_id == 'B04'] keeps the rows where the test is True.</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Filter rows with a test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6949440" cy="12481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973836"/>
          </a:xfrm>
          <a:prstGeom prst="rect">
            <a:avLst/>
          </a:prstGeom>
          <a:noFill/>
        </p:spPr>
        <p:txBody>
          <a:bodyPr wrap="none" lIns="0" rIns="0" tIns="0" bIns="0">
            <a:spAutoFit/>
          </a:bodyPr>
          <a:lstStyle/>
          <a:p>
            <a:r>
              <a:rPr sz="2050" b="0" i="0">
                <a:solidFill>
                  <a:srgbClr val="1F2328"/>
                </a:solidFill>
                <a:latin typeface="Courier New"/>
              </a:rPr>
              <a:t>jinja</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orders</a:t>
            </a:r>
            <a:r>
              <a:rPr sz="2050" b="0" i="0">
                <a:solidFill>
                  <a:srgbClr val="1F2328"/>
                </a:solidFill>
                <a:latin typeface="Courier New"/>
              </a:rPr>
              <a:t>[</a:t>
            </a:r>
            <a:r>
              <a:rPr sz="2050" b="0" i="0">
                <a:solidFill>
                  <a:srgbClr val="1F2328"/>
                </a:solidFill>
                <a:latin typeface="Courier New"/>
              </a:rPr>
              <a:t>orders</a:t>
            </a:r>
            <a:r>
              <a:rPr sz="2050" b="0" i="0">
                <a:solidFill>
                  <a:srgbClr val="1F2328"/>
                </a:solidFill>
                <a:latin typeface="Courier New"/>
              </a:rPr>
              <a:t>.</a:t>
            </a:r>
            <a:r>
              <a:rPr sz="2050" b="0" i="0">
                <a:solidFill>
                  <a:srgbClr val="1F2328"/>
                </a:solidFill>
                <a:latin typeface="Courier New"/>
              </a:rPr>
              <a:t>branch_id</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B04A2B"/>
                </a:solidFill>
                <a:latin typeface="Courier New"/>
              </a:rPr>
              <a:t>'B04'</a:t>
            </a:r>
            <a:r>
              <a:rPr sz="2050" b="0" i="0">
                <a:solidFill>
                  <a:srgbClr val="1F2328"/>
                </a:solidFill>
                <a:latin typeface="Courier New"/>
              </a:rPr>
              <a:t>]</a:t>
            </a:r>
          </a:p>
          <a:p>
            <a:r>
              <a:rPr sz="2050" b="0" i="0">
                <a:solidFill>
                  <a:srgbClr val="1F2328"/>
                </a:solidFill>
                <a:latin typeface="Courier New"/>
              </a:rPr>
              <a:t>print</a:t>
            </a:r>
            <a:r>
              <a:rPr sz="2050" b="0" i="0">
                <a:solidFill>
                  <a:srgbClr val="1F2328"/>
                </a:solidFill>
                <a:latin typeface="Courier New"/>
              </a:rPr>
              <a:t>(</a:t>
            </a:r>
            <a:r>
              <a:rPr sz="2050" b="0" i="0">
                <a:solidFill>
                  <a:srgbClr val="1F2328"/>
                </a:solidFill>
                <a:latin typeface="Courier New"/>
              </a:rPr>
              <a:t>len</a:t>
            </a:r>
            <a:r>
              <a:rPr sz="2050" b="0" i="0">
                <a:solidFill>
                  <a:srgbClr val="1F2328"/>
                </a:solidFill>
                <a:latin typeface="Courier New"/>
              </a:rPr>
              <a:t>(</a:t>
            </a:r>
            <a:r>
              <a:rPr sz="2050" b="0" i="0">
                <a:solidFill>
                  <a:srgbClr val="1F2328"/>
                </a:solidFill>
                <a:latin typeface="Courier New"/>
              </a:rPr>
              <a:t>jinja</a:t>
            </a:r>
            <a:r>
              <a:rPr sz="2050" b="0" i="0">
                <a:solidFill>
                  <a:srgbClr val="1F2328"/>
                </a:solidFill>
                <a:latin typeface="Courier New"/>
              </a:rPr>
              <a:t>)</a:t>
            </a:r>
            <a:r>
              <a:rPr sz="2050" b="0" i="0">
                <a:solidFill>
                  <a:srgbClr val="1F2328"/>
                </a:solidFill>
                <a:latin typeface="Courier New"/>
              </a:rPr>
              <a:t>)</a:t>
            </a:r>
          </a:p>
          <a:p>
            <a:r>
              <a:rPr sz="2050" b="0" i="0">
                <a:solidFill>
                  <a:srgbClr val="1F2328"/>
                </a:solidFill>
                <a:latin typeface="Courier New"/>
              </a:rPr>
              <a:t>jinja</a:t>
            </a:r>
            <a:r>
              <a:rPr sz="2050" b="0" i="0">
                <a:solidFill>
                  <a:srgbClr val="1F2328"/>
                </a:solidFill>
                <a:latin typeface="Courier New"/>
              </a:rPr>
              <a:t>.</a:t>
            </a:r>
            <a:r>
              <a:rPr sz="2050" b="0" i="0">
                <a:solidFill>
                  <a:srgbClr val="1F2328"/>
                </a:solidFill>
                <a:latin typeface="Courier New"/>
              </a:rPr>
              <a:t>payment_method</a:t>
            </a:r>
            <a:r>
              <a:rPr sz="2050" b="0" i="0">
                <a:solidFill>
                  <a:srgbClr val="1F2328"/>
                </a:solidFill>
                <a:latin typeface="Courier New"/>
              </a:rPr>
              <a:t>.</a:t>
            </a:r>
            <a:r>
              <a:rPr sz="2050" b="0" i="0">
                <a:solidFill>
                  <a:srgbClr val="1F2328"/>
                </a:solidFill>
                <a:latin typeface="Courier New"/>
              </a:rPr>
              <a:t>value_counts</a:t>
            </a:r>
            <a:r>
              <a:rPr sz="2050" b="0" i="0">
                <a:solidFill>
                  <a:srgbClr val="1F2328"/>
                </a:solidFill>
                <a:latin typeface="Courier New"/>
              </a:rPr>
              <a:t>(</a:t>
            </a:r>
            <a:r>
              <a:rPr sz="2050" b="0" i="0">
                <a:solidFill>
                  <a:srgbClr val="1F2328"/>
                </a:solidFill>
                <a:latin typeface="Courier New"/>
              </a:rPr>
              <a:t>)</a:t>
            </a:r>
          </a:p>
        </p:txBody>
      </p:sp>
      <p:grpSp>
        <p:nvGrpSpPr>
          <p:cNvPr id="7" name="output"/>
          <p:cNvGrpSpPr/>
          <p:nvPr/>
        </p:nvGrpSpPr>
        <p:grpSpPr>
          <a:xfrm>
            <a:off x="685800" y="2958084"/>
            <a:ext cx="6949440" cy="1164336"/>
            <a:chOff x="685800" y="2958084"/>
            <a:chExt cx="6949440" cy="1164336"/>
          </a:xfrm>
        </p:grpSpPr>
        <p:sp>
          <p:nvSpPr>
            <p:cNvPr id="8" name="TextBox 7"/>
            <p:cNvSpPr txBox="1"/>
            <p:nvPr/>
          </p:nvSpPr>
          <p:spPr>
            <a:xfrm>
              <a:off x="685800" y="29580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21411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3305556"/>
              <a:ext cx="6675120" cy="798576"/>
            </a:xfrm>
            <a:prstGeom prst="rect">
              <a:avLst/>
            </a:prstGeom>
            <a:noFill/>
          </p:spPr>
          <p:txBody>
            <a:bodyPr wrap="none" lIns="0" rIns="0" tIns="0" bIns="0">
              <a:spAutoFit/>
            </a:bodyPr>
            <a:lstStyle/>
            <a:p>
              <a:r>
                <a:rPr sz="1400" b="0" i="0">
                  <a:solidFill>
                    <a:srgbClr val="1F2328"/>
                  </a:solidFill>
                  <a:latin typeface="Courier New"/>
                </a:rPr>
                <a:t>3562</a:t>
              </a:r>
            </a:p>
            <a:p>
              <a:r>
                <a:rPr sz="1400" b="0" i="0">
                  <a:solidFill>
                    <a:srgbClr val="1F2328"/>
                  </a:solidFill>
                  <a:latin typeface="Courier New"/>
                </a:rPr>
                <a:t>Mobile money    1695</a:t>
              </a:r>
            </a:p>
            <a:p>
              <a:r>
                <a:rPr sz="1400" b="0" i="0">
                  <a:solidFill>
                    <a:srgbClr val="1F2328"/>
                  </a:solidFill>
                  <a:latin typeface="Courier New"/>
                </a:rPr>
                <a:t>Cash            1619</a:t>
              </a:r>
            </a:p>
            <a:p>
              <a:r>
                <a:rPr sz="1400" b="0" i="0">
                  <a:solidFill>
                    <a:srgbClr val="1F2328"/>
                  </a:solidFill>
                  <a:latin typeface="Courier New"/>
                </a:rPr>
                <a:t>Card             248</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test gives True or False for every row. Only True rows are kept.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len counts rows. B04 is the Jinja branch.</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the payment methods inside that filtered table.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conditions: use &amp; and brackets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10820095" cy="768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493776"/>
          </a:xfrm>
          <a:prstGeom prst="rect">
            <a:avLst/>
          </a:prstGeom>
          <a:noFill/>
        </p:spPr>
        <p:txBody>
          <a:bodyPr wrap="none" lIns="0" rIns="0" tIns="0" bIns="0">
            <a:spAutoFit/>
          </a:bodyPr>
          <a:lstStyle/>
          <a:p>
            <a:r>
              <a:rPr sz="1500" b="0" i="0">
                <a:solidFill>
                  <a:srgbClr val="1F2328"/>
                </a:solidFill>
                <a:latin typeface="Courier New"/>
              </a:rPr>
              <a:t>mm_jinja</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orders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orders</a:t>
            </a:r>
            <a:r>
              <a:rPr sz="1500" b="0" i="0">
                <a:solidFill>
                  <a:srgbClr val="1F2328"/>
                </a:solidFill>
                <a:latin typeface="Courier New"/>
              </a:rPr>
              <a:t>.</a:t>
            </a:r>
            <a:r>
              <a:rPr sz="1500" b="0" i="0">
                <a:solidFill>
                  <a:srgbClr val="1F2328"/>
                </a:solidFill>
                <a:latin typeface="Courier New"/>
              </a:rPr>
              <a:t>branch_id</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'B04'</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&amp;</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orders</a:t>
            </a:r>
            <a:r>
              <a:rPr sz="1500" b="0" i="0">
                <a:solidFill>
                  <a:srgbClr val="1F2328"/>
                </a:solidFill>
                <a:latin typeface="Courier New"/>
              </a:rPr>
              <a:t>.</a:t>
            </a:r>
            <a:r>
              <a:rPr sz="1500" b="0" i="0">
                <a:solidFill>
                  <a:srgbClr val="1F2328"/>
                </a:solidFill>
                <a:latin typeface="Courier New"/>
              </a:rPr>
              <a:t>payment_method</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'Mobile money'</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len</a:t>
            </a:r>
            <a:r>
              <a:rPr sz="1500" b="0" i="0">
                <a:solidFill>
                  <a:srgbClr val="1F2328"/>
                </a:solidFill>
                <a:latin typeface="Courier New"/>
              </a:rPr>
              <a:t>(</a:t>
            </a:r>
            <a:r>
              <a:rPr sz="1500" b="0" i="0">
                <a:solidFill>
                  <a:srgbClr val="1F2328"/>
                </a:solidFill>
                <a:latin typeface="Courier New"/>
              </a:rPr>
              <a:t>mm_jinja</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2478024"/>
            <a:ext cx="10820095" cy="524256"/>
            <a:chOff x="685800" y="2478024"/>
            <a:chExt cx="10820095" cy="524256"/>
          </a:xfrm>
        </p:grpSpPr>
        <p:sp>
          <p:nvSpPr>
            <p:cNvPr id="8" name="TextBox 7"/>
            <p:cNvSpPr txBox="1"/>
            <p:nvPr/>
          </p:nvSpPr>
          <p:spPr>
            <a:xfrm>
              <a:off x="685800" y="2478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73405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2825496"/>
              <a:ext cx="10545775" cy="158496"/>
            </a:xfrm>
            <a:prstGeom prst="rect">
              <a:avLst/>
            </a:prstGeom>
            <a:noFill/>
          </p:spPr>
          <p:txBody>
            <a:bodyPr wrap="none" lIns="0" rIns="0" tIns="0" bIns="0">
              <a:spAutoFit/>
            </a:bodyPr>
            <a:lstStyle/>
            <a:p>
              <a:r>
                <a:rPr sz="1400" b="0" i="0">
                  <a:solidFill>
                    <a:srgbClr val="1F2328"/>
                  </a:solidFill>
                  <a:latin typeface="Courier New"/>
                </a:rPr>
                <a:t>1695</a:t>
              </a:r>
            </a:p>
          </p:txBody>
        </p:sp>
      </p:grpSp>
      <p:grpSp>
        <p:nvGrpSpPr>
          <p:cNvPr id="11" name="says-1"/>
          <p:cNvGrpSpPr/>
          <p:nvPr/>
        </p:nvGrpSpPr>
        <p:grpSpPr>
          <a:xfrm>
            <a:off x="685800" y="3185160"/>
            <a:ext cx="5204307" cy="1353312"/>
            <a:chOff x="685800" y="3185160"/>
            <a:chExt cx="5204307" cy="1353312"/>
          </a:xfrm>
        </p:grpSpPr>
        <p:cxnSp>
          <p:nvCxnSpPr>
            <p:cNvPr id="12" name="Connector 11"/>
            <p:cNvCxnSpPr/>
            <p:nvPr/>
          </p:nvCxnSpPr>
          <p:spPr>
            <a:xfrm>
              <a:off x="685800" y="3185160"/>
              <a:ext cx="5204307" cy="0"/>
            </a:xfrm>
            <a:prstGeom prst="line">
              <a:avLst/>
            </a:prstGeom>
            <a:ln w="15875">
              <a:solidFill>
                <a:srgbClr val="1F2328"/>
              </a:solidFill>
            </a:ln>
          </p:spPr>
        </p:cxnSp>
        <p:sp>
          <p:nvSpPr>
            <p:cNvPr id="13" name="TextBox 12"/>
            <p:cNvSpPr txBox="1"/>
            <p:nvPr/>
          </p:nvSpPr>
          <p:spPr>
            <a:xfrm>
              <a:off x="685800" y="325831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25831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Each test goes in its own brackets.</a:t>
              </a:r>
            </a:p>
          </p:txBody>
        </p:sp>
      </p:grpSp>
      <p:grpSp>
        <p:nvGrpSpPr>
          <p:cNvPr id="15" name="says-2"/>
          <p:cNvGrpSpPr/>
          <p:nvPr/>
        </p:nvGrpSpPr>
        <p:grpSpPr>
          <a:xfrm>
            <a:off x="6301587" y="3185160"/>
            <a:ext cx="5204308" cy="1353312"/>
            <a:chOff x="6301587" y="3185160"/>
            <a:chExt cx="5204308" cy="1353312"/>
          </a:xfrm>
        </p:grpSpPr>
        <p:cxnSp>
          <p:nvCxnSpPr>
            <p:cNvPr id="16" name="Connector 15"/>
            <p:cNvCxnSpPr/>
            <p:nvPr/>
          </p:nvCxnSpPr>
          <p:spPr>
            <a:xfrm>
              <a:off x="6301587" y="3185160"/>
              <a:ext cx="5204308" cy="0"/>
            </a:xfrm>
            <a:prstGeom prst="line">
              <a:avLst/>
            </a:prstGeom>
            <a:ln w="15875">
              <a:solidFill>
                <a:srgbClr val="1F2328"/>
              </a:solidFill>
            </a:ln>
          </p:spPr>
        </p:cxnSp>
        <p:sp>
          <p:nvSpPr>
            <p:cNvPr id="17" name="TextBox 16"/>
            <p:cNvSpPr txBox="1"/>
            <p:nvPr/>
          </p:nvSpPr>
          <p:spPr>
            <a:xfrm>
              <a:off x="6301587" y="325831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325831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&amp; means AND. A bar, |, means OR.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happens if you write and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10820095" cy="5775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303276"/>
          </a:xfrm>
          <a:prstGeom prst="rect">
            <a:avLst/>
          </a:prstGeom>
          <a:noFill/>
        </p:spPr>
        <p:txBody>
          <a:bodyPr wrap="none" lIns="0" rIns="0" tIns="0" bIns="0">
            <a:spAutoFit/>
          </a:bodyPr>
          <a:lstStyle/>
          <a:p>
            <a:r>
              <a:rPr sz="1750" b="0" i="0">
                <a:solidFill>
                  <a:srgbClr val="1F2328"/>
                </a:solidFill>
                <a:latin typeface="Courier New"/>
              </a:rPr>
              <a:t>orders</a:t>
            </a:r>
            <a:r>
              <a:rPr sz="1750" b="0" i="0">
                <a:solidFill>
                  <a:srgbClr val="1F2328"/>
                </a:solidFill>
                <a:latin typeface="Courier New"/>
              </a:rPr>
              <a:t>[</a:t>
            </a:r>
            <a:r>
              <a:rPr sz="1750" b="0" i="0">
                <a:solidFill>
                  <a:srgbClr val="1F2328"/>
                </a:solidFill>
                <a:latin typeface="Courier New"/>
              </a:rPr>
              <a:t>orders</a:t>
            </a:r>
            <a:r>
              <a:rPr sz="1750" b="0" i="0">
                <a:solidFill>
                  <a:srgbClr val="1F2328"/>
                </a:solidFill>
                <a:latin typeface="Courier New"/>
              </a:rPr>
              <a:t>.</a:t>
            </a:r>
            <a:r>
              <a:rPr sz="1750" b="0" i="0">
                <a:solidFill>
                  <a:srgbClr val="1F2328"/>
                </a:solidFill>
                <a:latin typeface="Courier New"/>
              </a:rPr>
              <a:t>branch_id</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 </a:t>
            </a:r>
            <a:r>
              <a:rPr sz="1750" b="0" i="0">
                <a:solidFill>
                  <a:srgbClr val="B04A2B"/>
                </a:solidFill>
                <a:latin typeface="Courier New"/>
              </a:rPr>
              <a:t>'B04'</a:t>
            </a:r>
            <a:r>
              <a:rPr sz="1750" b="0" i="0">
                <a:solidFill>
                  <a:srgbClr val="1F2328"/>
                </a:solidFill>
                <a:latin typeface="Courier New"/>
              </a:rPr>
              <a:t> </a:t>
            </a:r>
            <a:r>
              <a:rPr sz="1750" b="1" i="0">
                <a:solidFill>
                  <a:srgbClr val="1F2328"/>
                </a:solidFill>
                <a:latin typeface="Courier New"/>
              </a:rPr>
              <a:t>and</a:t>
            </a:r>
            <a:r>
              <a:rPr sz="1750" b="0" i="0">
                <a:solidFill>
                  <a:srgbClr val="1F2328"/>
                </a:solidFill>
                <a:latin typeface="Courier New"/>
              </a:rPr>
              <a:t> </a:t>
            </a:r>
            <a:r>
              <a:rPr sz="1750" b="0" i="0">
                <a:solidFill>
                  <a:srgbClr val="1F2328"/>
                </a:solidFill>
                <a:latin typeface="Courier New"/>
              </a:rPr>
              <a:t>orders</a:t>
            </a:r>
            <a:r>
              <a:rPr sz="1750" b="0" i="0">
                <a:solidFill>
                  <a:srgbClr val="1F2328"/>
                </a:solidFill>
                <a:latin typeface="Courier New"/>
              </a:rPr>
              <a:t>.</a:t>
            </a:r>
            <a:r>
              <a:rPr sz="1750" b="0" i="0">
                <a:solidFill>
                  <a:srgbClr val="1F2328"/>
                </a:solidFill>
                <a:latin typeface="Courier New"/>
              </a:rPr>
              <a:t>payment_method</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 </a:t>
            </a:r>
            <a:r>
              <a:rPr sz="1750" b="0" i="0">
                <a:solidFill>
                  <a:srgbClr val="B04A2B"/>
                </a:solidFill>
                <a:latin typeface="Courier New"/>
              </a:rPr>
              <a:t>'Mobile money'</a:t>
            </a:r>
            <a:r>
              <a:rPr sz="1750" b="0" i="0">
                <a:solidFill>
                  <a:srgbClr val="1F2328"/>
                </a:solidFill>
                <a:latin typeface="Courier New"/>
              </a:rPr>
              <a:t>]</a:t>
            </a:r>
          </a:p>
        </p:txBody>
      </p:sp>
      <p:grpSp>
        <p:nvGrpSpPr>
          <p:cNvPr id="7" name="output"/>
          <p:cNvGrpSpPr/>
          <p:nvPr/>
        </p:nvGrpSpPr>
        <p:grpSpPr>
          <a:xfrm>
            <a:off x="685800" y="2287524"/>
            <a:ext cx="10820095" cy="524256"/>
            <a:chOff x="685800" y="2287524"/>
            <a:chExt cx="10820095" cy="524256"/>
          </a:xfrm>
        </p:grpSpPr>
        <p:sp>
          <p:nvSpPr>
            <p:cNvPr id="8" name="TextBox 7"/>
            <p:cNvSpPr txBox="1"/>
            <p:nvPr/>
          </p:nvSpPr>
          <p:spPr>
            <a:xfrm>
              <a:off x="685800" y="22875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54355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2634996"/>
              <a:ext cx="10545775" cy="158496"/>
            </a:xfrm>
            <a:prstGeom prst="rect">
              <a:avLst/>
            </a:prstGeom>
            <a:noFill/>
          </p:spPr>
          <p:txBody>
            <a:bodyPr wrap="none" lIns="0" rIns="0" tIns="0" bIns="0">
              <a:spAutoFit/>
            </a:bodyPr>
            <a:lstStyle/>
            <a:p>
              <a:r>
                <a:rPr sz="1400" b="0" i="0">
                  <a:solidFill>
                    <a:srgbClr val="1F2328"/>
                  </a:solidFill>
                  <a:latin typeface="Courier New"/>
                </a:rPr>
                <a:t>ValueError: The truth value of a Series is ambiguous.</a:t>
              </a:r>
            </a:p>
          </p:txBody>
        </p:sp>
      </p:grpSp>
      <p:grpSp>
        <p:nvGrpSpPr>
          <p:cNvPr id="11" name="says-1"/>
          <p:cNvGrpSpPr/>
          <p:nvPr/>
        </p:nvGrpSpPr>
        <p:grpSpPr>
          <a:xfrm>
            <a:off x="685800" y="2994660"/>
            <a:ext cx="10820095" cy="1353312"/>
            <a:chOff x="685800" y="2994660"/>
            <a:chExt cx="10820095" cy="1353312"/>
          </a:xfrm>
        </p:grpSpPr>
        <p:cxnSp>
          <p:nvCxnSpPr>
            <p:cNvPr id="12" name="Connector 11"/>
            <p:cNvCxnSpPr/>
            <p:nvPr/>
          </p:nvCxnSpPr>
          <p:spPr>
            <a:xfrm>
              <a:off x="685800" y="2994660"/>
              <a:ext cx="10820095" cy="0"/>
            </a:xfrm>
            <a:prstGeom prst="line">
              <a:avLst/>
            </a:prstGeom>
            <a:ln w="15875">
              <a:solidFill>
                <a:srgbClr val="1F2328"/>
              </a:solidFill>
            </a:ln>
          </p:spPr>
        </p:cxnSp>
        <p:sp>
          <p:nvSpPr>
            <p:cNvPr id="13" name="TextBox 12"/>
            <p:cNvSpPr txBox="1"/>
            <p:nvPr/>
          </p:nvSpPr>
          <p:spPr>
            <a:xfrm>
              <a:off x="685800" y="306781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067812"/>
              <a:ext cx="10472623" cy="1280160"/>
            </a:xfrm>
            <a:prstGeom prst="rect">
              <a:avLst/>
            </a:prstGeom>
            <a:noFill/>
          </p:spPr>
          <p:txBody>
            <a:bodyPr wrap="square" lIns="0" rIns="0" tIns="18288" bIns="18288" anchor="t">
              <a:spAutoFit/>
            </a:bodyPr>
            <a:lstStyle/>
            <a:p>
              <a:pPr algn="l"/>
              <a:r>
                <a:rPr sz="1900" b="0" i="0">
                  <a:solidFill>
                    <a:srgbClr val="1F2328"/>
                  </a:solidFill>
                  <a:latin typeface="Calibri"/>
                </a:rPr>
                <a:t>Python's own word and is for single True or False values.</a:t>
              </a:r>
            </a:p>
          </p:txBody>
        </p: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filter that quietly drops the wrong rows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15</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filter orders with promo_week == 1 and report the average. It runs, with no error, and the number looks sensible.</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 filter keeps only part of the data. If you forget the rest is gone, you report a figure for promo weeks as if it were all weeks.</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Name the filtered table something that says what it holds, such as promo_orders, and print len() beside every figure you report.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Sort and keep the top five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10820095" cy="9052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630936"/>
          </a:xfrm>
          <a:prstGeom prst="rect">
            <a:avLst/>
          </a:prstGeom>
          <a:noFill/>
        </p:spPr>
        <p:txBody>
          <a:bodyPr wrap="none" lIns="0" rIns="0" tIns="0" bIns="0">
            <a:spAutoFit/>
          </a:bodyPr>
          <a:lstStyle/>
          <a:p>
            <a:r>
              <a:rPr sz="1950" b="0" i="0">
                <a:solidFill>
                  <a:srgbClr val="1F2328"/>
                </a:solidFill>
                <a:latin typeface="Courier New"/>
              </a:rPr>
              <a:t>top5</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orders</a:t>
            </a:r>
            <a:r>
              <a:rPr sz="1950" b="0" i="0">
                <a:solidFill>
                  <a:srgbClr val="1F2328"/>
                </a:solidFill>
                <a:latin typeface="Courier New"/>
              </a:rPr>
              <a:t>.</a:t>
            </a:r>
            <a:r>
              <a:rPr sz="1950" b="0" i="0">
                <a:solidFill>
                  <a:srgbClr val="1F2328"/>
                </a:solidFill>
                <a:latin typeface="Courier New"/>
              </a:rPr>
              <a:t>sort_values</a:t>
            </a:r>
            <a:r>
              <a:rPr sz="1950" b="0" i="0">
                <a:solidFill>
                  <a:srgbClr val="1F2328"/>
                </a:solidFill>
                <a:latin typeface="Courier New"/>
              </a:rPr>
              <a:t>(</a:t>
            </a:r>
            <a:r>
              <a:rPr sz="1950" b="0" i="0">
                <a:solidFill>
                  <a:srgbClr val="B04A2B"/>
                </a:solidFill>
                <a:latin typeface="Courier New"/>
              </a:rPr>
              <a:t>'order_value_ugx'</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ascending</a:t>
            </a:r>
            <a:r>
              <a:rPr sz="1950" b="0" i="0">
                <a:solidFill>
                  <a:srgbClr val="1F2328"/>
                </a:solidFill>
                <a:latin typeface="Courier New"/>
              </a:rPr>
              <a:t>=</a:t>
            </a:r>
            <a:r>
              <a:rPr sz="1950" b="1" i="0">
                <a:solidFill>
                  <a:srgbClr val="1F2328"/>
                </a:solidFill>
                <a:latin typeface="Courier New"/>
              </a:rPr>
              <a:t>False</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head</a:t>
            </a:r>
            <a:r>
              <a:rPr sz="1950" b="0" i="0">
                <a:solidFill>
                  <a:srgbClr val="1F2328"/>
                </a:solidFill>
                <a:latin typeface="Courier New"/>
              </a:rPr>
              <a:t>(</a:t>
            </a:r>
            <a:r>
              <a:rPr sz="1950" b="0" i="0">
                <a:solidFill>
                  <a:srgbClr val="3B4046"/>
                </a:solidFill>
                <a:latin typeface="Courier New"/>
              </a:rPr>
              <a:t>5</a:t>
            </a:r>
            <a:r>
              <a:rPr sz="1950" b="0" i="0">
                <a:solidFill>
                  <a:srgbClr val="1F2328"/>
                </a:solidFill>
                <a:latin typeface="Courier New"/>
              </a:rPr>
              <a:t>)</a:t>
            </a:r>
          </a:p>
          <a:p>
            <a:r>
              <a:rPr sz="1950" b="0" i="0">
                <a:solidFill>
                  <a:srgbClr val="1F2328"/>
                </a:solidFill>
                <a:latin typeface="Courier New"/>
              </a:rPr>
              <a:t>top5</a:t>
            </a:r>
            <a:r>
              <a:rPr sz="1950" b="0" i="0">
                <a:solidFill>
                  <a:srgbClr val="1F2328"/>
                </a:solidFill>
                <a:latin typeface="Courier New"/>
              </a:rPr>
              <a:t>[</a:t>
            </a:r>
            <a:r>
              <a:rPr sz="1950" b="0" i="0">
                <a:solidFill>
                  <a:srgbClr val="1F2328"/>
                </a:solidFill>
                <a:latin typeface="Courier New"/>
              </a:rPr>
              <a:t>[</a:t>
            </a:r>
            <a:r>
              <a:rPr sz="1950" b="0" i="0">
                <a:solidFill>
                  <a:srgbClr val="B04A2B"/>
                </a:solidFill>
                <a:latin typeface="Courier New"/>
              </a:rPr>
              <a:t>'order_id'</a:t>
            </a:r>
            <a:r>
              <a:rPr sz="1950" b="0" i="0">
                <a:solidFill>
                  <a:srgbClr val="1F2328"/>
                </a:solidFill>
                <a:latin typeface="Courier New"/>
              </a:rPr>
              <a:t>,</a:t>
            </a:r>
            <a:r>
              <a:rPr sz="1950" b="0" i="0">
                <a:solidFill>
                  <a:srgbClr val="1F2328"/>
                </a:solidFill>
                <a:latin typeface="Courier New"/>
              </a:rPr>
              <a:t> </a:t>
            </a:r>
            <a:r>
              <a:rPr sz="1950" b="0" i="0">
                <a:solidFill>
                  <a:srgbClr val="B04A2B"/>
                </a:solidFill>
                <a:latin typeface="Courier New"/>
              </a:rPr>
              <a:t>'branch_id'</a:t>
            </a:r>
            <a:r>
              <a:rPr sz="1950" b="0" i="0">
                <a:solidFill>
                  <a:srgbClr val="1F2328"/>
                </a:solidFill>
                <a:latin typeface="Courier New"/>
              </a:rPr>
              <a:t>,</a:t>
            </a:r>
            <a:r>
              <a:rPr sz="1950" b="0" i="0">
                <a:solidFill>
                  <a:srgbClr val="1F2328"/>
                </a:solidFill>
                <a:latin typeface="Courier New"/>
              </a:rPr>
              <a:t> </a:t>
            </a:r>
            <a:r>
              <a:rPr sz="1950" b="0" i="0">
                <a:solidFill>
                  <a:srgbClr val="B04A2B"/>
                </a:solidFill>
                <a:latin typeface="Courier New"/>
              </a:rPr>
              <a:t>'order_value_ugx'</a:t>
            </a:r>
            <a:r>
              <a:rPr sz="1950" b="0" i="0">
                <a:solidFill>
                  <a:srgbClr val="1F2328"/>
                </a:solidFill>
                <a:latin typeface="Courier New"/>
              </a:rPr>
              <a:t>]</a:t>
            </a:r>
            <a:r>
              <a:rPr sz="1950" b="0" i="0">
                <a:solidFill>
                  <a:srgbClr val="1F2328"/>
                </a:solidFill>
                <a:latin typeface="Courier New"/>
              </a:rPr>
              <a:t>]</a:t>
            </a:r>
          </a:p>
        </p:txBody>
      </p:sp>
      <p:grpSp>
        <p:nvGrpSpPr>
          <p:cNvPr id="7" name="output"/>
          <p:cNvGrpSpPr/>
          <p:nvPr/>
        </p:nvGrpSpPr>
        <p:grpSpPr>
          <a:xfrm>
            <a:off x="685800" y="2615184"/>
            <a:ext cx="10820095" cy="1164336"/>
            <a:chOff x="685800" y="2615184"/>
            <a:chExt cx="10820095" cy="1164336"/>
          </a:xfrm>
        </p:grpSpPr>
        <p:sp>
          <p:nvSpPr>
            <p:cNvPr id="8" name="TextBox 7"/>
            <p:cNvSpPr txBox="1"/>
            <p:nvPr/>
          </p:nvSpPr>
          <p:spPr>
            <a:xfrm>
              <a:off x="685800" y="26151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871216"/>
              <a:ext cx="10820095"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2962656"/>
              <a:ext cx="10545775" cy="798576"/>
            </a:xfrm>
            <a:prstGeom prst="rect">
              <a:avLst/>
            </a:prstGeom>
            <a:noFill/>
          </p:spPr>
          <p:txBody>
            <a:bodyPr wrap="none" lIns="0" rIns="0" tIns="0" bIns="0">
              <a:spAutoFit/>
            </a:bodyPr>
            <a:lstStyle/>
            <a:p>
              <a:r>
                <a:rPr sz="1400" b="0" i="0">
                  <a:solidFill>
                    <a:srgbClr val="1F2328"/>
                  </a:solidFill>
                  <a:latin typeface="Courier New"/>
                </a:rPr>
                <a:t>order_id branch_id order_value_ugx</a:t>
              </a:r>
            </a:p>
            <a:p>
              <a:r>
                <a:rPr sz="1400" b="0" i="0">
                  <a:solidFill>
                    <a:srgbClr val="1F2328"/>
                  </a:solidFill>
                  <a:latin typeface="Courier New"/>
                </a:rPr>
                <a:t>O014303 B04 3104000</a:t>
              </a:r>
            </a:p>
            <a:p>
              <a:r>
                <a:rPr sz="1400" b="0" i="0">
                  <a:solidFill>
                    <a:srgbClr val="1F2328"/>
                  </a:solidFill>
                  <a:latin typeface="Courier New"/>
                </a:rPr>
                <a:t>O029299 B08 2795740</a:t>
              </a:r>
            </a:p>
            <a:p>
              <a:r>
                <a:rPr sz="1400" b="0" i="0">
                  <a:solidFill>
                    <a:srgbClr val="1F2328"/>
                  </a:solidFill>
                  <a:latin typeface="Courier New"/>
                </a:rPr>
                <a:t>O003810 B01 2771200</a:t>
              </a:r>
            </a:p>
          </p:txBody>
        </p:sp>
      </p:grpSp>
      <p:grpSp>
        <p:nvGrpSpPr>
          <p:cNvPr id="11" name="says-1"/>
          <p:cNvGrpSpPr/>
          <p:nvPr/>
        </p:nvGrpSpPr>
        <p:grpSpPr>
          <a:xfrm>
            <a:off x="685800" y="3962400"/>
            <a:ext cx="5204307" cy="1353312"/>
            <a:chOff x="685800" y="3962400"/>
            <a:chExt cx="5204307" cy="1353312"/>
          </a:xfrm>
        </p:grpSpPr>
        <p:cxnSp>
          <p:nvCxnSpPr>
            <p:cNvPr id="12" name="Connector 11"/>
            <p:cNvCxnSpPr/>
            <p:nvPr/>
          </p:nvCxnSpPr>
          <p:spPr>
            <a:xfrm>
              <a:off x="685800" y="3962400"/>
              <a:ext cx="5204307" cy="0"/>
            </a:xfrm>
            <a:prstGeom prst="line">
              <a:avLst/>
            </a:prstGeom>
            <a:ln w="15875">
              <a:solidFill>
                <a:srgbClr val="1F2328"/>
              </a:solidFill>
            </a:ln>
          </p:spPr>
        </p:cxnSp>
        <p:sp>
          <p:nvSpPr>
            <p:cNvPr id="13" name="TextBox 12"/>
            <p:cNvSpPr txBox="1"/>
            <p:nvPr/>
          </p:nvSpPr>
          <p:spPr>
            <a:xfrm>
              <a:off x="685800" y="4035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03555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Sort by value, largest first.</a:t>
              </a:r>
            </a:p>
          </p:txBody>
        </p:sp>
      </p:grpSp>
      <p:grpSp>
        <p:nvGrpSpPr>
          <p:cNvPr id="15" name="says-2"/>
          <p:cNvGrpSpPr/>
          <p:nvPr/>
        </p:nvGrpSpPr>
        <p:grpSpPr>
          <a:xfrm>
            <a:off x="6301587" y="3962400"/>
            <a:ext cx="5204308" cy="1353312"/>
            <a:chOff x="6301587" y="3962400"/>
            <a:chExt cx="5204308" cy="1353312"/>
          </a:xfrm>
        </p:grpSpPr>
        <p:cxnSp>
          <p:nvCxnSpPr>
            <p:cNvPr id="16" name="Connector 15"/>
            <p:cNvCxnSpPr/>
            <p:nvPr/>
          </p:nvCxnSpPr>
          <p:spPr>
            <a:xfrm>
              <a:off x="6301587" y="3962400"/>
              <a:ext cx="5204308" cy="0"/>
            </a:xfrm>
            <a:prstGeom prst="line">
              <a:avLst/>
            </a:prstGeom>
            <a:ln w="15875">
              <a:solidFill>
                <a:srgbClr val="1F2328"/>
              </a:solidFill>
            </a:ln>
          </p:spPr>
        </p:cxnSp>
        <p:sp>
          <p:nvSpPr>
            <p:cNvPr id="17" name="TextBox 16"/>
            <p:cNvSpPr txBox="1"/>
            <p:nvPr/>
          </p:nvSpPr>
          <p:spPr>
            <a:xfrm>
              <a:off x="6301587" y="4035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403555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Keep five rows, then show three columns.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few very large orders pull the average up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pic>
        <p:nvPicPr>
          <p:cNvPr id="5" name="figure-order_value_hist" descr="order value hist"/>
          <p:cNvPicPr>
            <a:picLocks noChangeAspect="1"/>
          </p:cNvPicPr>
          <p:nvPr/>
        </p:nvPicPr>
        <p:blipFill>
          <a:blip r:embed="rId3"/>
          <a:stretch>
            <a:fillRect/>
          </a:stretch>
        </p:blipFill>
        <p:spPr>
          <a:xfrm>
            <a:off x="685800" y="1600200"/>
            <a:ext cx="599846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Most orders are small. The tallest bars sit on the left.</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long tail of large orders runs to the right.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mean is more than double the median.</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Median 23,200 UGX. Mean 47,491 UGX. Use the median when a few big orders distort the average.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Boolean mask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A column of True and False values, one per row, that decides which rows to keep.</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orders.branch_id == 'B04' gives True for every Jinja order and False for all others. orders[mask] keeps the True rows.</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The helper column you add next to the data, with Keep or Drop in each row, before you filter on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six questions, six checks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the Session 7 notebook and run the setup cell</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Load orders.csv, print its shape and missing values</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Count the orders from Jinja (branch B04)</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List the ten largest orders by value</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Count Jinja orders paid by mobile money</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Count all orders by payment method</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Compare every answer with Sheets</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All six answers match Sheets. Where they differ, you can say why.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200" b="1" i="0">
                <a:solidFill>
                  <a:srgbClr val="1F2328"/>
                </a:solidFill>
                <a:latin typeface="Cambria"/>
              </a:rPr>
              <a:t>Your file has 30,229 rows. Which two lines tell you its size and its column types?</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orders.shape for the size, and orders.dtypes for the types.</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does orders[a == 1 and b == 2] fail, and what is the fix?</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Python's and cannot handle a whole column. Use &amp; with each test in brackets.</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You report an average from a filtered table. What must sit beside it?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row count, so the reader knows what the figure covers.</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7   pandas I: load, look and filter</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DataFrame is a worksheet in Python: columns have types, rows have an index.</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Look before you ask: shape, head, dtypes, missing values, in that order.</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filter is a True or False test per row. Use &amp; and brackets, and report the row count.</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pandas II: cleaning the mess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