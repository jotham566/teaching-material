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 10 moves from files to databases. Until now your data came as one file at a time. In a company it sits in a database, with many tables that link together, and you ask it questions in a language called SQL. Today you'll write SQL on the Lakeside Mart database, and for every idea we'll put the pandas version or the PivotTable beside it. By the end you'll have written queries and checked three of them in pandas.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you'll write SELECT, WHERE, GROUP BY and ORDER BY to ask a database a question. You'll write a join, and say which rows it keeps and which it loses. And you'll check a SQL answer against pandas. Most of the demonstration is SQL typed live, and in the lab you write ten queries and rebuild three of them in pandas.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words come with SQL. A database is a file that holds several tables, like a workbook with many sheets. A query is one question written in SQL. A clause is one part of a query, such as WHERE. NULL is how SQL writes an empty cell. A subquery is a query inside another query. An alias is a short name you give a column or a table. Each has a spreadsheet cousin, and the right-hand column names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questions on Session 9, the joins and the groups, before we meet SQL.</a:t>
            </a:r>
          </a:p>
          <a:p/>
          <a:p>
            <a:r>
              <a:t>First. In Session 9 a join made our revenue jump from about one point four billion shillings to over seven billion. What went wrong? Have a think.</a:t>
            </a:r>
          </a:p>
          <a:p/>
          <a:p>
            <a:r>
              <a:t>Each order matched several order lines, and the order value was added once for every line. The lesson was to check the row count after every join. We'll meet that same trap again today, in a new language.</a:t>
            </a:r>
          </a:p>
          <a:p/>
          <a:p>
            <a:r>
              <a:t>Second. Which spreadsheet tool is groupby in pandas? No rush.</a:t>
            </a:r>
          </a:p>
          <a:p/>
          <a:p>
            <a:r>
              <a:t>A PivotTable. You group the rows, then summarise each group. Today's new language does exactly the same job, and you'll see the two side by side.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far each file has been one table. A database is a file that holds several tables, and they connect through keys. Think of an Excel workbook with many sheets, where one sheet's ID column matches another's.</a:t>
            </a:r>
          </a:p>
          <a:p/>
          <a:p>
            <a:r>
              <a:t>Here are six of the nine Lakeside Mart tables. Branches holds one row per branch. Orders holds one row per till order, and it carries the branch ID, so each order can find its branch. Order lines holds one row per product on an order. Products holds the price and category.</a:t>
            </a:r>
          </a:p>
          <a:p/>
          <a:p>
            <a:r>
              <a:t>The arrows show which tables link. The language that asks questions of a database is called SQL. We'll write it in SQLite, a small free database that lives inside Python, so there is nothing to install.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write our first query. A query is one question that we send to a database, written in SQL.</a:t>
            </a:r>
          </a:p>
          <a:p/>
          <a:p>
            <a:r>
              <a:t>SELECT lists the columns we want, in the order we want them. It's the same as choosing which columns to look at in a sheet.</a:t>
            </a:r>
          </a:p>
          <a:p/>
          <a:p>
            <a:r>
              <a:t>FROM says which table to read. WHERE keeps only the rows that pass a test, exactly as AutoFilter does. Here we keep the branches in the Central region. Notice that a single equals sign is the test in SQL, and that text sits in single quotes.</a:t>
            </a:r>
          </a:p>
          <a:p/>
          <a:p>
            <a:r>
              <a:t>ORDER BY sorts the result. Three branches come back, Entebbe and the two Kampala branches. Each part of a query, such as SELECT or WHERE, is called a clause, and we'll use that word all session.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habit for the whole session. Ask the question in SQL, ask it again in pandas, and compare.</a:t>
            </a:r>
          </a:p>
          <a:p/>
          <a:p>
            <a:r>
              <a:t>Python can talk to SQLite directly. connect opens the database file, and read_sql_query sends a query to it and hands back a DataFrame. Your Session 7 skills still work on that table.</a:t>
            </a:r>
          </a:p>
          <a:p/>
          <a:p>
            <a:r>
              <a:t>The SQL query counts the orders from Jinja, branch B04, and gets three thousand five hundred and sixty two. The pandas filter from Session 7 gets three thousand five hundred and sixty two as well. When two languages agree, you can trust the number.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one idea I most want you to keep from today. SQL has no concept of the order of rows. A table in a database is a pile of rows. Row two has no fixed place above row three, as it does in a sheet.</a:t>
            </a:r>
          </a:p>
          <a:p/>
          <a:p>
            <a:r>
              <a:t>In Excel, the rows stay where you put them. In a database there's no first row and no last row. Today a query might happen to return rows in the order they were stored. Tomorrow, after the database reorganises itself, it may not.</a:t>
            </a:r>
          </a:p>
          <a:p/>
          <a:p>
            <a:r>
              <a:t>The only way to be sure is ORDER BY. Write it whenever the order matters, and always when you use LIMIT. Without it, LIMIT three gives you any three rows.</a:t>
            </a:r>
          </a:p>
          <a:p/>
          <a:p>
            <a:r>
              <a:t>Here we sort by order value, largest first. The biggest order is O014303, at three million one hundred and four thousand shillings, the same order we found in Session 7. We add order_id as a second sort, so that two equal values still come out in the same order every time. LIMIT keeps the top three.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PivotTable. Which branch earns the most?</a:t>
            </a:r>
          </a:p>
          <a:p/>
          <a:p>
            <a:r>
              <a:t>GROUP BY branch_id makes one row for each branch. That's the same as dragging branch into the Rows box of a PivotTable.</a:t>
            </a:r>
          </a:p>
          <a:p/>
          <a:p>
            <a:r>
              <a:t>Then COUNT and SUM summarise each group. They're the Values box. Every column in SELECT must either be in the GROUP BY or be summarised.</a:t>
            </a:r>
          </a:p>
          <a:p/>
          <a:p>
            <a:r>
              <a:t>The word AS gives a result column a short name, called an alias. We use revenue as an alias, and then ORDER BY can use it. Kampala Central leads with five thousand eight hundred and eighty five orders and about two hundred and eighty three million shillings. Remember, orders is a five percent sample, so these are sample figures.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twin in pandas, from Session 9.</a:t>
            </a:r>
          </a:p>
          <a:p/>
          <a:p>
            <a:r>
              <a:t>groupby on branch, then two summaries, the count and the sum. We sort the sum from largest to smallest and keep three rows.</a:t>
            </a:r>
          </a:p>
          <a:p/>
          <a:p>
            <a:r>
              <a:t>The numbers match the SQL query line for line. You can write the question either way. SQL is what you'll meet in most company databases, and pandas is what you use once the data is in your notebook.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branches have more than four thousand orders? That question is about groups, and it says nothing about single rows.</a:t>
            </a:r>
          </a:p>
          <a:p/>
          <a:p>
            <a:r>
              <a:t>WHERE can only look at one row at a time. To test a total such as a count, we need HAVING, which tests each group after the grouping is done.</a:t>
            </a:r>
          </a:p>
          <a:p/>
          <a:p>
            <a:r>
              <a:t>In pandas you'd group first, then filter the grouped table. In a PivotTable it's the filter on a value. Two branches pass, Kampala Central and Kampala Ntinda.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error you'll meet first. We put the count in WHERE.</a:t>
            </a:r>
          </a:p>
          <a:p/>
          <a:p>
            <a:r>
              <a:t>Read the end of the message, as we practised in Session 5. It says misuse of aggregate. An aggregate is a total such as COUNT or SUM. WHERE runs before any groups exist, so there's no count to test yet.</a:t>
            </a:r>
          </a:p>
          <a:p/>
          <a:p>
            <a:r>
              <a:t>The cure is HAVING, as on the last slide. And that raises a question. In what order does the database really run the clauses?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picture explains the error we just saw. On the left is the order you write the clauses. On the right is the order the database runs them.</a:t>
            </a:r>
          </a:p>
          <a:p/>
          <a:p>
            <a:r>
              <a:t>The database starts with FROM. It picks the table before it does anything else.</a:t>
            </a:r>
          </a:p>
          <a:p/>
          <a:p>
            <a:r>
              <a:t>Then WHERE throws away rows. After that GROUP BY makes the groups, and HAVING throws away groups. That's why HAVING can test a count, and WHERE can't.</a:t>
            </a:r>
          </a:p>
          <a:p/>
          <a:p>
            <a:r>
              <a:t>SELECT only runs fifth. That has a surprise. In standard SQL, a short name you create in SELECT doesn't exist yet when WHERE runs. SQLite is relaxed about this, but other databases will refuse, so don't rely on it. ORDER BY comes last, which is why it can use that name.</a:t>
            </a:r>
          </a:p>
          <a:p/>
          <a:p>
            <a:r>
              <a:t>Keep this picture. When a query gives a strange error, ask which clause ran before the thing it needs.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idea that connects tables. A join glues two tables together using a matching column, such as branch_id in both orders and branches. The join type decides what happens to rows that find no match.</a:t>
            </a:r>
          </a:p>
          <a:p/>
          <a:p>
            <a:r>
              <a:t>An inner join keeps only the rows that match on both sides. Rows with no partner disappear.</a:t>
            </a:r>
          </a:p>
          <a:p/>
          <a:p>
            <a:r>
              <a:t>A left join keeps every row from the first table, the left one, whether it matched or not. Where there's no match, the new columns are empty.</a:t>
            </a:r>
          </a:p>
          <a:p/>
          <a:p>
            <a:r>
              <a:t>A right join is the mirror image, and a full outer join keeps everything from both sides. In practice you can swap the table order and use a left join, so we'll use inner and left today.</a:t>
            </a:r>
          </a:p>
          <a:p/>
          <a:p>
            <a:r>
              <a:t>Think of VLOOKUP. When it finds no match you see an error. A left join keeps the row. An inner join quietly drops it, and that's the one to watch.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join. The earlier result showed branch codes. A manager wants names.</a:t>
            </a:r>
          </a:p>
          <a:p/>
          <a:p>
            <a:r>
              <a:t>After FROM and INNER JOIN, we give each table a short alias, o for orders and b for branches. Then b dot branch_name means the branch_name column of the branches table.</a:t>
            </a:r>
          </a:p>
          <a:p/>
          <a:p>
            <a:r>
              <a:t>ON says which columns must match. An order is joined to the branch whose branch_id is the same. In Excel, that's a VLOOKUP that brings the branch name next to each order.</a:t>
            </a:r>
          </a:p>
          <a:p/>
          <a:p>
            <a:r>
              <a:t>The counts and revenues are identical to the earlier query. The join added names and lost no rows, because every order has a valid branch.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word to hold on to before the next query. NULL.</a:t>
            </a:r>
          </a:p>
          <a:p/>
          <a:p>
            <a:r>
              <a:t>In SQL an empty cell is called NULL. It means the value is unknown. Because it's unknown, it isn't equal to anything, and it isn't different from anything either. To find it you must write IS NULL.</a:t>
            </a:r>
          </a:p>
          <a:p/>
          <a:p>
            <a:r>
              <a:t>In our orders, walk-in customers have no loyalty number, so the customer ID is NULL. That's nine thousand one hundred and seventy one orders out of thirty thousand two hundred and twenty nine.</a:t>
            </a:r>
          </a:p>
          <a:p/>
          <a:p>
            <a:r>
              <a:t>In Excel it's a blank cell, and the test is ISBLANK. In SQL the test is IS NULL.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every order belong to a loyalty customer? Let's find out with a left join.</a:t>
            </a:r>
          </a:p>
          <a:p/>
          <a:p>
            <a:r>
              <a:t>LEFT JOIN keeps every order, thirty thousand two hundred and twenty nine of them. For walk-ins, the customer columns come back as NULL.</a:t>
            </a:r>
          </a:p>
          <a:p/>
          <a:p>
            <a:r>
              <a:t>COUNT of star counts rows. COUNT of one column counts only the rows where that column isn't NULL. So the second number, twenty one thousand and fifty eight, is the orders that matched a loyalty customer.</a:t>
            </a:r>
          </a:p>
          <a:p/>
          <a:p>
            <a:r>
              <a:t>Had we written INNER JOIN, we'd have kept twenty one thousand and fifty eight orders and lost over nine thousand without any warning. The pandas twin is merge with how equals left. Always ask which rows a join might silently remove.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Sometimes you need a label that isn't in the data. Here we sort orders into small, medium and large.</a:t>
            </a:r>
          </a:p>
          <a:p/>
          <a:p>
            <a:r>
              <a:t>CASE is the IF function from Session 6 and from Excel. It checks each WHEN in order and takes the first one that is true. Under twenty thousand shillings is small. Under a hundred thousand is medium.</a:t>
            </a:r>
          </a:p>
          <a:p/>
          <a:p>
            <a:r>
              <a:t>ELSE catches whatever is left, which is large. Then we group by the new label and count.</a:t>
            </a:r>
          </a:p>
          <a:p/>
          <a:p>
            <a:r>
              <a:t>Medium has fourteen thousand four hundred and eighty six orders, small has thirteen thousand five hundred and twenty nine, and large has two thousand two hundred and fourteen. The pandas twin is a function called cut, which sorts numbers into bands. You'll try it in the lab.</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many orders are bigger than the average order? That takes two steps.</a:t>
            </a:r>
          </a:p>
          <a:p/>
          <a:p>
            <a:r>
              <a:t>First we need the average. Then we count the orders above it. A subquery lets you write both in one statement. It's a query inside brackets, and the database runs the inside first.</a:t>
            </a:r>
          </a:p>
          <a:p/>
          <a:p>
            <a:r>
              <a:t>The inside query returns one number, the average order value, which is about forty seven thousand five hundred shillings. The outside query counts the orders above that number.</a:t>
            </a:r>
          </a:p>
          <a:p/>
          <a:p>
            <a:r>
              <a:t>The answer is seven thousand five hundred and twenty three, about one order in four. In Excel you'd calculate the average in a cell, then use COUNTIF against that cell. A subquery does both at once.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trap that runs without an error. We want all orders except the ones from customer C0495.</a:t>
            </a:r>
          </a:p>
          <a:p/>
          <a:p>
            <a:r>
              <a:t>You write WHERE customer_id not equal to C0495. The query runs. It returns twenty one thousand and fifty rows, and nothing warns you. You'd expect thirty thousand two hundred and twenty one, since only eight orders belong to that customer.</a:t>
            </a:r>
          </a:p>
          <a:p/>
          <a:p>
            <a:r>
              <a:t>NULL is unknown. When the customer ID is unknown, the database can't say it differs from C0495, so the test isn't true and the row is dropped. Every walk-in order disappears.</a:t>
            </a:r>
          </a:p>
          <a:p/>
          <a:p>
            <a:r>
              <a:t>The fix is to handle blanks on purpose. Write IS NULL or IS NOT NULL when they matter. And compare your row count with the size of the table. If nine thousand rows vanished, you'll see it. You'll check this one in the lab.</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lab is forty minutes in Google Colab. The first task is to open lakeside.db and ask SQLite to list its nine tables, so you see for yourself that a database is a workbook of sheets. Run the setup cell first.</a:t>
            </a:r>
          </a:p>
          <a:p/>
          <a:p>
            <a:r>
              <a:t>The notebook has eight tasks and ten queries in all. Each task gives you a question, a blank for your query and a check cell.</a:t>
            </a:r>
          </a:p>
          <a:p/>
          <a:p>
            <a:r>
              <a:t>For three of the tasks you write the answer twice, once in SQL and once in pandas, and the check cell compares them. That comparison is the skill we are building.</a:t>
            </a:r>
          </a:p>
          <a:p/>
          <a:p>
            <a:r>
              <a:t>The last task is the walk-in trap, so you can watch nine thousand rows go missing. If a query fails, read the end of the error message and fix that clause first.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questions on SQL.</a:t>
            </a:r>
          </a:p>
          <a:p/>
          <a:p>
            <a:r>
              <a:t>Question one. A query has no ORDER BY. Can you rely on the rows coming back in the same order? Think it over.</a:t>
            </a:r>
          </a:p>
          <a:p/>
          <a:p>
            <a:r>
              <a:t>No. SQL has no row order unless you write ORDER BY. Write it whenever order matters.</a:t>
            </a:r>
          </a:p>
          <a:p/>
          <a:p>
            <a:r>
              <a:t>Question two. You want the branches with more than four thousand orders. WHERE or HAVING? Give that a moment.</a:t>
            </a:r>
          </a:p>
          <a:p/>
          <a:p>
            <a:r>
              <a:t>HAVING. WHERE runs before the groups exist, so it can't test a total.</a:t>
            </a:r>
          </a:p>
          <a:p/>
          <a:p>
            <a:r>
              <a:t>Question three. Which join keeps the orders of walk-in customers who have no match in the customers table? Sit with it for a second.</a:t>
            </a:r>
          </a:p>
          <a:p/>
          <a:p>
            <a:r>
              <a:t>A left join, starting from orders. An inner join drops those orders, and it does so quietly.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A database is several tables joined by keys. SELECT, FROM and WHERE choose columns and rows, and GROUP BY with HAVING does the work of a PivotTable.</a:t>
            </a:r>
          </a:p>
          <a:p/>
          <a:p>
            <a:r>
              <a:t>Two. SQL has no row order unless you write ORDER BY. And remember the run order, FROM first, SELECT fifth.</a:t>
            </a:r>
          </a:p>
          <a:p/>
          <a:p>
            <a:r>
              <a:t>Three. The join type decides which rows survive, and NULL is unknown, so a filter on it can drop rows without a warning. Always compare your row counts.</a:t>
            </a:r>
          </a:p>
          <a:p/>
          <a:p>
            <a:r>
              <a:t>Next session we make charts. Bring a question about the returns, and we'll see which branches look worst, and whether the answer changes when you count them differently.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10   SQL for analysts</a:t>
            </a:r>
          </a:p>
        </p:txBody>
      </p:sp>
      <p:sp>
        <p:nvSpPr>
          <p:cNvPr id="3"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a:t>
            </a:r>
          </a:p>
        </p:txBody>
      </p:sp>
      <p:sp>
        <p:nvSpPr>
          <p:cNvPr id="4" name="Session number"/>
          <p:cNvSpPr txBox="1"/>
          <p:nvPr/>
        </p:nvSpPr>
        <p:spPr>
          <a:xfrm>
            <a:off x="6949440" y="502920"/>
            <a:ext cx="4754880" cy="4023360"/>
          </a:xfrm>
          <a:prstGeom prst="rect">
            <a:avLst/>
          </a:prstGeom>
          <a:noFill/>
        </p:spPr>
        <p:txBody>
          <a:bodyPr wrap="square" lIns="0" rIns="0" tIns="18288" bIns="18288" anchor="t">
            <a:spAutoFit/>
          </a:bodyPr>
          <a:lstStyle/>
          <a:p>
            <a:pPr algn="r"/>
            <a:r>
              <a:rPr sz="23000" b="1" i="0">
                <a:solidFill>
                  <a:srgbClr val="33383E"/>
                </a:solidFill>
                <a:latin typeface="Cambria"/>
              </a:rPr>
              <a:t>10</a:t>
            </a:r>
          </a:p>
        </p:txBody>
      </p:sp>
      <p:sp>
        <p:nvSpPr>
          <p:cNvPr id="5" name="TextBox 4"/>
          <p:cNvSpPr txBox="1"/>
          <p:nvPr/>
        </p:nvSpPr>
        <p:spPr>
          <a:xfrm>
            <a:off x="685800" y="960120"/>
            <a:ext cx="7315200" cy="411480"/>
          </a:xfrm>
          <a:prstGeom prst="rect">
            <a:avLst/>
          </a:prstGeom>
          <a:noFill/>
        </p:spPr>
        <p:txBody>
          <a:bodyPr wrap="square" lIns="0" rIns="0" tIns="18288" bIns="18288" anchor="t">
            <a:spAutoFit/>
          </a:bodyPr>
          <a:lstStyle/>
          <a:p>
            <a:pPr algn="l"/>
            <a:r>
              <a:rPr sz="1800" b="0" i="1">
                <a:solidFill>
                  <a:srgbClr val="E3A78F"/>
                </a:solidFill>
                <a:latin typeface="Cambria"/>
              </a:rPr>
              <a:t>Session 10 of 24</a:t>
            </a:r>
          </a:p>
        </p:txBody>
      </p:sp>
      <p:sp>
        <p:nvSpPr>
          <p:cNvPr id="6" name="TextBox 5"/>
          <p:cNvSpPr txBox="1"/>
          <p:nvPr/>
        </p:nvSpPr>
        <p:spPr>
          <a:xfrm>
            <a:off x="685800" y="1554480"/>
            <a:ext cx="7498079" cy="2286000"/>
          </a:xfrm>
          <a:prstGeom prst="rect">
            <a:avLst/>
          </a:prstGeom>
          <a:noFill/>
        </p:spPr>
        <p:txBody>
          <a:bodyPr wrap="square" lIns="0" rIns="0" tIns="18288" bIns="18288" anchor="t">
            <a:spAutoFit/>
          </a:bodyPr>
          <a:lstStyle/>
          <a:p>
            <a:pPr algn="l"/>
            <a:r>
              <a:rPr sz="4600" b="1" i="0">
                <a:solidFill>
                  <a:srgbClr val="F3F0EA"/>
                </a:solidFill>
                <a:latin typeface="Cambria"/>
              </a:rPr>
              <a:t>SQL for analysts</a:t>
            </a:r>
          </a:p>
        </p:txBody>
      </p:sp>
      <p:sp>
        <p:nvSpPr>
          <p:cNvPr id="7" name="TextBox 6"/>
          <p:cNvSpPr txBox="1"/>
          <p:nvPr/>
        </p:nvSpPr>
        <p:spPr>
          <a:xfrm>
            <a:off x="685800" y="4160520"/>
            <a:ext cx="6766560" cy="1280160"/>
          </a:xfrm>
          <a:prstGeom prst="rect">
            <a:avLst/>
          </a:prstGeom>
          <a:noFill/>
        </p:spPr>
        <p:txBody>
          <a:bodyPr wrap="square" lIns="0" rIns="0" tIns="18288" bIns="18288" anchor="t">
            <a:spAutoFit/>
          </a:bodyPr>
          <a:lstStyle/>
          <a:p>
            <a:pPr algn="l"/>
            <a:r>
              <a:rPr sz="2200" b="0" i="0">
                <a:solidFill>
                  <a:srgbClr val="B8B2A7"/>
                </a:solidFill>
                <a:latin typeface="Calibri"/>
              </a:rPr>
              <a:t>How do we ask a database the same questions in the language every employer uses?</a:t>
            </a:r>
          </a:p>
        </p:txBody>
      </p:sp>
      <p:sp>
        <p:nvSpPr>
          <p:cNvPr id="8" name="TextBox 7"/>
          <p:cNvSpPr txBox="1"/>
          <p:nvPr/>
        </p:nvSpPr>
        <p:spPr>
          <a:xfrm>
            <a:off x="685800" y="5897880"/>
            <a:ext cx="8229600" cy="365760"/>
          </a:xfrm>
          <a:prstGeom prst="rect">
            <a:avLst/>
          </a:prstGeom>
          <a:noFill/>
        </p:spPr>
        <p:txBody>
          <a:bodyPr wrap="square" lIns="0" rIns="0" tIns="18288" bIns="18288" anchor="t">
            <a:spAutoFit/>
          </a:bodyPr>
          <a:lstStyle/>
          <a:p>
            <a:pPr algn="l"/>
            <a:r>
              <a:rPr sz="1400" b="0" i="0">
                <a:solidFill>
                  <a:srgbClr val="B8B2A7"/>
                </a:solidFill>
                <a:latin typeface="Calibri"/>
              </a:rPr>
              <a:t>Jotham Martin Wambi, KLAi Professional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By the end of today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SQL for analysts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a:t>
            </a:r>
          </a:p>
        </p:txBody>
      </p:sp>
      <p:cxnSp>
        <p:nvCxnSpPr>
          <p:cNvPr id="5" name="Connector 4"/>
          <p:cNvCxnSpPr/>
          <p:nvPr/>
        </p:nvCxnSpPr>
        <p:spPr>
          <a:xfrm>
            <a:off x="685800" y="1645920"/>
            <a:ext cx="5394960" cy="0"/>
          </a:xfrm>
          <a:prstGeom prst="line">
            <a:avLst/>
          </a:prstGeom>
          <a:ln w="15875">
            <a:solidFill>
              <a:srgbClr val="1F2328"/>
            </a:solidFill>
          </a:ln>
        </p:spPr>
      </p:cxnSp>
      <p:sp>
        <p:nvSpPr>
          <p:cNvPr id="6" name="TextBox 5"/>
          <p:cNvSpPr txBox="1"/>
          <p:nvPr/>
        </p:nvSpPr>
        <p:spPr>
          <a:xfrm>
            <a:off x="685800" y="1801368"/>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Write SELECT, WHERE, GROUP BY and ORDER BY.</a:t>
            </a:r>
          </a:p>
        </p:txBody>
      </p:sp>
      <p:cxnSp>
        <p:nvCxnSpPr>
          <p:cNvPr id="7" name="Connector 6"/>
          <p:cNvCxnSpPr/>
          <p:nvPr/>
        </p:nvCxnSpPr>
        <p:spPr>
          <a:xfrm>
            <a:off x="685800" y="2690164"/>
            <a:ext cx="5394960" cy="0"/>
          </a:xfrm>
          <a:prstGeom prst="line">
            <a:avLst/>
          </a:prstGeom>
          <a:ln w="6350">
            <a:solidFill>
              <a:srgbClr val="C9C5BC"/>
            </a:solidFill>
          </a:ln>
        </p:spPr>
      </p:cxnSp>
      <p:sp>
        <p:nvSpPr>
          <p:cNvPr id="8" name="TextBox 7"/>
          <p:cNvSpPr txBox="1"/>
          <p:nvPr/>
        </p:nvSpPr>
        <p:spPr>
          <a:xfrm>
            <a:off x="685800" y="2854756"/>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Write a JOIN and say what it keeps.</a:t>
            </a:r>
          </a:p>
        </p:txBody>
      </p:sp>
      <p:cxnSp>
        <p:nvCxnSpPr>
          <p:cNvPr id="9" name="Connector 8"/>
          <p:cNvCxnSpPr/>
          <p:nvPr/>
        </p:nvCxnSpPr>
        <p:spPr>
          <a:xfrm>
            <a:off x="685800" y="3363163"/>
            <a:ext cx="5394960" cy="0"/>
          </a:xfrm>
          <a:prstGeom prst="line">
            <a:avLst/>
          </a:prstGeom>
          <a:ln w="6350">
            <a:solidFill>
              <a:srgbClr val="C9C5BC"/>
            </a:solidFill>
          </a:ln>
        </p:spPr>
      </p:cxnSp>
      <p:sp>
        <p:nvSpPr>
          <p:cNvPr id="10" name="TextBox 9"/>
          <p:cNvSpPr txBox="1"/>
          <p:nvPr/>
        </p:nvSpPr>
        <p:spPr>
          <a:xfrm>
            <a:off x="685800" y="3527755"/>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Check a SQL result against pandas.</a:t>
            </a:r>
          </a:p>
        </p:txBody>
      </p:sp>
      <p:cxnSp>
        <p:nvCxnSpPr>
          <p:cNvPr id="11" name="Connector 10"/>
          <p:cNvCxnSpPr/>
          <p:nvPr/>
        </p:nvCxnSpPr>
        <p:spPr>
          <a:xfrm>
            <a:off x="685800" y="4036161"/>
            <a:ext cx="5394960" cy="0"/>
          </a:xfrm>
          <a:prstGeom prst="line">
            <a:avLst/>
          </a:prstGeom>
          <a:ln w="6350">
            <a:solidFill>
              <a:srgbClr val="C9C5BC"/>
            </a:solidFill>
          </a:ln>
        </p:spPr>
      </p:cxnSp>
      <p:sp>
        <p:nvSpPr>
          <p:cNvPr id="12" name="TextBox 11"/>
          <p:cNvSpPr txBox="1"/>
          <p:nvPr/>
        </p:nvSpPr>
        <p:spPr>
          <a:xfrm>
            <a:off x="6949440" y="1325880"/>
            <a:ext cx="4556455" cy="274320"/>
          </a:xfrm>
          <a:prstGeom prst="rect">
            <a:avLst/>
          </a:prstGeom>
          <a:noFill/>
        </p:spPr>
        <p:txBody>
          <a:bodyPr wrap="square" lIns="0" rIns="0" tIns="18288" bIns="18288" anchor="t">
            <a:spAutoFit/>
          </a:bodyPr>
          <a:lstStyle/>
          <a:p>
            <a:pPr algn="l"/>
            <a:r>
              <a:rPr sz="1400" b="0" i="0">
                <a:solidFill>
                  <a:srgbClr val="6A6F75"/>
                </a:solidFill>
                <a:latin typeface="Calibri"/>
              </a:rPr>
              <a:t>How the two hours run</a:t>
            </a:r>
          </a:p>
        </p:txBody>
      </p:sp>
      <p:cxnSp>
        <p:nvCxnSpPr>
          <p:cNvPr id="13" name="Connector 12"/>
          <p:cNvCxnSpPr/>
          <p:nvPr/>
        </p:nvCxnSpPr>
        <p:spPr>
          <a:xfrm>
            <a:off x="6949440" y="1645920"/>
            <a:ext cx="4556455" cy="0"/>
          </a:xfrm>
          <a:prstGeom prst="line">
            <a:avLst/>
          </a:prstGeom>
          <a:ln w="15875">
            <a:solidFill>
              <a:srgbClr val="1F2328"/>
            </a:solidFill>
          </a:ln>
        </p:spPr>
      </p:cxnSp>
      <p:sp>
        <p:nvSpPr>
          <p:cNvPr id="14" name="TextBox 13"/>
          <p:cNvSpPr txBox="1"/>
          <p:nvPr/>
        </p:nvSpPr>
        <p:spPr>
          <a:xfrm>
            <a:off x="6949440" y="180136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Recall and warm-up</a:t>
            </a:r>
          </a:p>
        </p:txBody>
      </p:sp>
      <p:sp>
        <p:nvSpPr>
          <p:cNvPr id="15" name="TextBox 14"/>
          <p:cNvSpPr txBox="1"/>
          <p:nvPr/>
        </p:nvSpPr>
        <p:spPr>
          <a:xfrm>
            <a:off x="10408615" y="180136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16" name="Connector 15"/>
          <p:cNvCxnSpPr/>
          <p:nvPr/>
        </p:nvCxnSpPr>
        <p:spPr>
          <a:xfrm>
            <a:off x="6949440" y="2313432"/>
            <a:ext cx="4556455" cy="0"/>
          </a:xfrm>
          <a:prstGeom prst="line">
            <a:avLst/>
          </a:prstGeom>
          <a:ln w="6350">
            <a:solidFill>
              <a:srgbClr val="C9C5BC"/>
            </a:solidFill>
          </a:ln>
        </p:spPr>
      </p:cxnSp>
      <p:sp>
        <p:nvSpPr>
          <p:cNvPr id="17" name="TextBox 16"/>
          <p:cNvSpPr txBox="1"/>
          <p:nvPr/>
        </p:nvSpPr>
        <p:spPr>
          <a:xfrm>
            <a:off x="6949440" y="2404872"/>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Concepts and explanation</a:t>
            </a:r>
          </a:p>
        </p:txBody>
      </p:sp>
      <p:sp>
        <p:nvSpPr>
          <p:cNvPr id="18" name="TextBox 17"/>
          <p:cNvSpPr txBox="1"/>
          <p:nvPr/>
        </p:nvSpPr>
        <p:spPr>
          <a:xfrm>
            <a:off x="10408615" y="2404872"/>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30 min</a:t>
            </a:r>
          </a:p>
        </p:txBody>
      </p:sp>
      <p:cxnSp>
        <p:nvCxnSpPr>
          <p:cNvPr id="19" name="Connector 18"/>
          <p:cNvCxnSpPr/>
          <p:nvPr/>
        </p:nvCxnSpPr>
        <p:spPr>
          <a:xfrm>
            <a:off x="6949440" y="2916936"/>
            <a:ext cx="4556455" cy="0"/>
          </a:xfrm>
          <a:prstGeom prst="line">
            <a:avLst/>
          </a:prstGeom>
          <a:ln w="6350">
            <a:solidFill>
              <a:srgbClr val="C9C5BC"/>
            </a:solidFill>
          </a:ln>
        </p:spPr>
      </p:cxnSp>
      <p:sp>
        <p:nvSpPr>
          <p:cNvPr id="20" name="TextBox 19"/>
          <p:cNvSpPr txBox="1"/>
          <p:nvPr/>
        </p:nvSpPr>
        <p:spPr>
          <a:xfrm>
            <a:off x="6949440" y="3008376"/>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Live demonstration</a:t>
            </a:r>
          </a:p>
        </p:txBody>
      </p:sp>
      <p:sp>
        <p:nvSpPr>
          <p:cNvPr id="21" name="TextBox 20"/>
          <p:cNvSpPr txBox="1"/>
          <p:nvPr/>
        </p:nvSpPr>
        <p:spPr>
          <a:xfrm>
            <a:off x="10408615" y="3008376"/>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25 min</a:t>
            </a:r>
          </a:p>
        </p:txBody>
      </p:sp>
      <p:cxnSp>
        <p:nvCxnSpPr>
          <p:cNvPr id="22" name="Connector 21"/>
          <p:cNvCxnSpPr/>
          <p:nvPr/>
        </p:nvCxnSpPr>
        <p:spPr>
          <a:xfrm>
            <a:off x="6949440" y="3520440"/>
            <a:ext cx="4556455" cy="0"/>
          </a:xfrm>
          <a:prstGeom prst="line">
            <a:avLst/>
          </a:prstGeom>
          <a:ln w="6350">
            <a:solidFill>
              <a:srgbClr val="C9C5BC"/>
            </a:solidFill>
          </a:ln>
        </p:spPr>
      </p:cxnSp>
      <p:sp>
        <p:nvSpPr>
          <p:cNvPr id="23" name="TextBox 22"/>
          <p:cNvSpPr txBox="1"/>
          <p:nvPr/>
        </p:nvSpPr>
        <p:spPr>
          <a:xfrm>
            <a:off x="6949440" y="3611880"/>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Break</a:t>
            </a:r>
          </a:p>
        </p:txBody>
      </p:sp>
      <p:sp>
        <p:nvSpPr>
          <p:cNvPr id="24" name="TextBox 23"/>
          <p:cNvSpPr txBox="1"/>
          <p:nvPr/>
        </p:nvSpPr>
        <p:spPr>
          <a:xfrm>
            <a:off x="10408615" y="3611880"/>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5 min</a:t>
            </a:r>
          </a:p>
        </p:txBody>
      </p:sp>
      <p:cxnSp>
        <p:nvCxnSpPr>
          <p:cNvPr id="25" name="Connector 24"/>
          <p:cNvCxnSpPr/>
          <p:nvPr/>
        </p:nvCxnSpPr>
        <p:spPr>
          <a:xfrm>
            <a:off x="6949440" y="4123944"/>
            <a:ext cx="4556455" cy="0"/>
          </a:xfrm>
          <a:prstGeom prst="line">
            <a:avLst/>
          </a:prstGeom>
          <a:ln w="6350">
            <a:solidFill>
              <a:srgbClr val="C9C5BC"/>
            </a:solidFill>
          </a:ln>
        </p:spPr>
      </p:cxnSp>
      <p:sp>
        <p:nvSpPr>
          <p:cNvPr id="26" name="TextBox 25"/>
          <p:cNvSpPr txBox="1"/>
          <p:nvPr/>
        </p:nvSpPr>
        <p:spPr>
          <a:xfrm>
            <a:off x="6949440" y="4215384"/>
            <a:ext cx="3367735" cy="512064"/>
          </a:xfrm>
          <a:prstGeom prst="rect">
            <a:avLst/>
          </a:prstGeom>
          <a:noFill/>
        </p:spPr>
        <p:txBody>
          <a:bodyPr wrap="square" lIns="0" rIns="0" tIns="18288" bIns="18288" anchor="t">
            <a:spAutoFit/>
          </a:bodyPr>
          <a:lstStyle/>
          <a:p>
            <a:pPr algn="l"/>
            <a:r>
              <a:rPr sz="1900" b="1" i="0">
                <a:solidFill>
                  <a:srgbClr val="1F2328"/>
                </a:solidFill>
                <a:latin typeface="Calibri"/>
              </a:rPr>
              <a:t>Guided lab</a:t>
            </a:r>
          </a:p>
        </p:txBody>
      </p:sp>
      <p:sp>
        <p:nvSpPr>
          <p:cNvPr id="27" name="TextBox 26"/>
          <p:cNvSpPr txBox="1"/>
          <p:nvPr/>
        </p:nvSpPr>
        <p:spPr>
          <a:xfrm>
            <a:off x="10408615" y="4215384"/>
            <a:ext cx="1097280" cy="512064"/>
          </a:xfrm>
          <a:prstGeom prst="rect">
            <a:avLst/>
          </a:prstGeom>
          <a:noFill/>
        </p:spPr>
        <p:txBody>
          <a:bodyPr wrap="square" lIns="0" rIns="0" tIns="18288" bIns="18288" anchor="t">
            <a:spAutoFit/>
          </a:bodyPr>
          <a:lstStyle/>
          <a:p>
            <a:pPr algn="r"/>
            <a:r>
              <a:rPr sz="1900" b="1" i="0">
                <a:solidFill>
                  <a:srgbClr val="B04A2B"/>
                </a:solidFill>
                <a:latin typeface="Calibri"/>
              </a:rPr>
              <a:t>40 min</a:t>
            </a:r>
          </a:p>
        </p:txBody>
      </p:sp>
      <p:cxnSp>
        <p:nvCxnSpPr>
          <p:cNvPr id="28" name="Connector 27"/>
          <p:cNvCxnSpPr/>
          <p:nvPr/>
        </p:nvCxnSpPr>
        <p:spPr>
          <a:xfrm>
            <a:off x="6949440" y="4727448"/>
            <a:ext cx="4556455" cy="0"/>
          </a:xfrm>
          <a:prstGeom prst="line">
            <a:avLst/>
          </a:prstGeom>
          <a:ln w="6350">
            <a:solidFill>
              <a:srgbClr val="C9C5BC"/>
            </a:solidFill>
          </a:ln>
        </p:spPr>
      </p:cxnSp>
      <p:sp>
        <p:nvSpPr>
          <p:cNvPr id="29" name="TextBox 28"/>
          <p:cNvSpPr txBox="1"/>
          <p:nvPr/>
        </p:nvSpPr>
        <p:spPr>
          <a:xfrm>
            <a:off x="6949440" y="481888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Check and wrap-up</a:t>
            </a:r>
          </a:p>
        </p:txBody>
      </p:sp>
      <p:sp>
        <p:nvSpPr>
          <p:cNvPr id="30" name="TextBox 29"/>
          <p:cNvSpPr txBox="1"/>
          <p:nvPr/>
        </p:nvSpPr>
        <p:spPr>
          <a:xfrm>
            <a:off x="10408615" y="481888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31" name="Connector 30"/>
          <p:cNvCxnSpPr/>
          <p:nvPr/>
        </p:nvCxnSpPr>
        <p:spPr>
          <a:xfrm>
            <a:off x="6949440" y="5330952"/>
            <a:ext cx="4556455" cy="0"/>
          </a:xfrm>
          <a:prstGeom prst="line">
            <a:avLst/>
          </a:prstGeom>
          <a:ln w="6350">
            <a:solidFill>
              <a:srgbClr val="C9C5BC"/>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Vocabulary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SQL for analysts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3</a:t>
            </a:r>
          </a:p>
        </p:txBody>
      </p:sp>
      <p:graphicFrame>
        <p:nvGraphicFramePr>
          <p:cNvPr id="5" name="Table"/>
          <p:cNvGraphicFramePr>
            <a:graphicFrameLocks noGrp="1"/>
          </p:cNvGraphicFramePr>
          <p:nvPr/>
        </p:nvGraphicFramePr>
        <p:xfrm>
          <a:off x="685800" y="1554480"/>
          <a:ext cx="10820094" cy="4663436"/>
        </p:xfrm>
        <a:graphic>
          <a:graphicData uri="http://schemas.openxmlformats.org/drawingml/2006/table">
            <a:tbl>
              <a:tblPr firstRow="0" bandRow="0">
                <a:tableStyleId>{2D5ABB26-0587-4C30-8999-92F81FD0307C}</a:tableStyleId>
              </a:tblPr>
              <a:tblGrid>
                <a:gridCol w="2164019"/>
                <a:gridCol w="5410047"/>
                <a:gridCol w="3246028"/>
              </a:tblGrid>
              <a:tr h="498652">
                <a:tc>
                  <a:txBody>
                    <a:bodyPr wrap="square"/>
                    <a:lstStyle/>
                    <a:p>
                      <a:r>
                        <a:rPr sz="1850" b="1" i="0">
                          <a:solidFill>
                            <a:srgbClr val="1F2328"/>
                          </a:solidFill>
                          <a:latin typeface="Calibri"/>
                        </a:rPr>
                        <a:t>Word</a:t>
                      </a:r>
                    </a:p>
                  </a:txBody>
                  <a:tcPr marL="0" marR="91440" marT="64008" marB="64008" anchor="ctr">
                    <a:lnL w="0">
                      <a:noFill/>
                    </a:lnL>
                    <a:lnR w="0">
                      <a:noFill/>
                    </a:lnR>
                    <a:lnT w="0">
                      <a:noFill/>
                    </a:lnT>
                    <a:lnB w="15875">
                      <a:solidFill>
                        <a:srgbClr val="1F2328"/>
                      </a:solidFill>
                    </a:lnB>
                    <a:noFill/>
                  </a:tcPr>
                </a:tc>
                <a:tc>
                  <a:txBody>
                    <a:bodyPr wrap="square"/>
                    <a:lstStyle/>
                    <a:p>
                      <a:r>
                        <a:rPr sz="1850" b="1" i="0">
                          <a:solidFill>
                            <a:srgbClr val="1F2328"/>
                          </a:solidFill>
                          <a:latin typeface="Calibri"/>
                        </a:rPr>
                        <a:t>Plain meaning</a:t>
                      </a:r>
                    </a:p>
                  </a:txBody>
                  <a:tcPr marL="137160" marR="91440" marT="64008" marB="64008" anchor="ctr">
                    <a:lnL w="0">
                      <a:noFill/>
                    </a:lnL>
                    <a:lnR w="0">
                      <a:noFill/>
                    </a:lnR>
                    <a:lnT w="0">
                      <a:noFill/>
                    </a:lnT>
                    <a:lnB w="15875">
                      <a:solidFill>
                        <a:srgbClr val="1F2328"/>
                      </a:solidFill>
                    </a:lnB>
                    <a:noFill/>
                  </a:tcPr>
                </a:tc>
                <a:tc>
                  <a:txBody>
                    <a:bodyPr wrap="square"/>
                    <a:lstStyle/>
                    <a:p>
                      <a:r>
                        <a:rPr sz="1850" b="1" i="0">
                          <a:solidFill>
                            <a:srgbClr val="1F2328"/>
                          </a:solidFill>
                          <a:latin typeface="Calibri"/>
                        </a:rPr>
                        <a:t>In a spreadsheet</a:t>
                      </a:r>
                    </a:p>
                  </a:txBody>
                  <a:tcPr marL="137160" marR="91440" marT="64008" marB="64008" anchor="ctr">
                    <a:lnL w="0">
                      <a:noFill/>
                    </a:lnL>
                    <a:lnR w="0">
                      <a:noFill/>
                    </a:lnR>
                    <a:lnT w="0">
                      <a:noFill/>
                    </a:lnT>
                    <a:lnB w="15875">
                      <a:solidFill>
                        <a:srgbClr val="1F2328"/>
                      </a:solidFill>
                    </a:lnB>
                    <a:noFill/>
                  </a:tcPr>
                </a:tc>
              </a:tr>
              <a:tr h="498652">
                <a:tc>
                  <a:txBody>
                    <a:bodyPr wrap="square"/>
                    <a:lstStyle/>
                    <a:p>
                      <a:r>
                        <a:rPr sz="1850" b="1" i="0">
                          <a:solidFill>
                            <a:srgbClr val="1F2328"/>
                          </a:solidFill>
                          <a:latin typeface="Calibri"/>
                        </a:rPr>
                        <a:t>Database</a:t>
                      </a:r>
                    </a:p>
                  </a:txBody>
                  <a:tcPr marL="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A file that holds several tables linked by keys.</a:t>
                      </a:r>
                    </a:p>
                  </a:txBody>
                  <a:tcPr marL="13716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A workbook with many sheets</a:t>
                      </a:r>
                    </a:p>
                  </a:txBody>
                  <a:tcPr marL="137160" marR="91440" marT="64008" marB="64008" anchor="ctr">
                    <a:lnL w="0">
                      <a:noFill/>
                    </a:lnL>
                    <a:lnR w="0">
                      <a:noFill/>
                    </a:lnR>
                    <a:lnT w="0">
                      <a:noFill/>
                    </a:lnT>
                    <a:lnB w="6350">
                      <a:solidFill>
                        <a:srgbClr val="C9C5BC"/>
                      </a:solidFill>
                    </a:lnB>
                    <a:noFill/>
                  </a:tcPr>
                </a:tc>
              </a:tr>
              <a:tr h="791870">
                <a:tc>
                  <a:txBody>
                    <a:bodyPr wrap="square"/>
                    <a:lstStyle/>
                    <a:p>
                      <a:r>
                        <a:rPr sz="1850" b="1" i="0">
                          <a:solidFill>
                            <a:srgbClr val="1F2328"/>
                          </a:solidFill>
                          <a:latin typeface="Calibri"/>
                        </a:rPr>
                        <a:t>Query</a:t>
                      </a:r>
                    </a:p>
                  </a:txBody>
                  <a:tcPr marL="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One question written in SQL and sent to a database.</a:t>
                      </a:r>
                    </a:p>
                  </a:txBody>
                  <a:tcPr marL="13716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A PivotTable or a filter you set up</a:t>
                      </a:r>
                    </a:p>
                  </a:txBody>
                  <a:tcPr marL="137160" marR="91440" marT="64008" marB="64008" anchor="ctr">
                    <a:lnL w="0">
                      <a:noFill/>
                    </a:lnL>
                    <a:lnR w="0">
                      <a:noFill/>
                    </a:lnR>
                    <a:lnT w="0">
                      <a:noFill/>
                    </a:lnT>
                    <a:lnB w="6350">
                      <a:solidFill>
                        <a:srgbClr val="C9C5BC"/>
                      </a:solidFill>
                    </a:lnB>
                    <a:noFill/>
                  </a:tcPr>
                </a:tc>
              </a:tr>
              <a:tr h="791870">
                <a:tc>
                  <a:txBody>
                    <a:bodyPr wrap="square"/>
                    <a:lstStyle/>
                    <a:p>
                      <a:r>
                        <a:rPr sz="1850" b="1" i="0">
                          <a:solidFill>
                            <a:srgbClr val="1F2328"/>
                          </a:solidFill>
                          <a:latin typeface="Calibri"/>
                        </a:rPr>
                        <a:t>Clause</a:t>
                      </a:r>
                    </a:p>
                  </a:txBody>
                  <a:tcPr marL="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One part of a query, such as SELECT, WHERE or ORDER BY.</a:t>
                      </a:r>
                    </a:p>
                  </a:txBody>
                  <a:tcPr marL="13716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One box of the PivotTable field list</a:t>
                      </a:r>
                    </a:p>
                  </a:txBody>
                  <a:tcPr marL="137160" marR="91440" marT="64008" marB="64008" anchor="ctr">
                    <a:lnL w="0">
                      <a:noFill/>
                    </a:lnL>
                    <a:lnR w="0">
                      <a:noFill/>
                    </a:lnR>
                    <a:lnT w="0">
                      <a:noFill/>
                    </a:lnT>
                    <a:lnB w="6350">
                      <a:solidFill>
                        <a:srgbClr val="C9C5BC"/>
                      </a:solidFill>
                    </a:lnB>
                    <a:noFill/>
                  </a:tcPr>
                </a:tc>
              </a:tr>
              <a:tr h="791870">
                <a:tc>
                  <a:txBody>
                    <a:bodyPr wrap="square"/>
                    <a:lstStyle/>
                    <a:p>
                      <a:r>
                        <a:rPr sz="1850" b="1" i="0">
                          <a:solidFill>
                            <a:srgbClr val="1F2328"/>
                          </a:solidFill>
                          <a:latin typeface="Calibri"/>
                        </a:rPr>
                        <a:t>NULL</a:t>
                      </a:r>
                    </a:p>
                  </a:txBody>
                  <a:tcPr marL="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SQL's value for an empty cell. It is unknown and equals nothing.</a:t>
                      </a:r>
                    </a:p>
                  </a:txBody>
                  <a:tcPr marL="13716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A blank cell</a:t>
                      </a:r>
                    </a:p>
                  </a:txBody>
                  <a:tcPr marL="137160" marR="91440" marT="64008" marB="64008" anchor="ctr">
                    <a:lnL w="0">
                      <a:noFill/>
                    </a:lnL>
                    <a:lnR w="0">
                      <a:noFill/>
                    </a:lnR>
                    <a:lnT w="0">
                      <a:noFill/>
                    </a:lnT>
                    <a:lnB w="6350">
                      <a:solidFill>
                        <a:srgbClr val="C9C5BC"/>
                      </a:solidFill>
                    </a:lnB>
                    <a:noFill/>
                  </a:tcPr>
                </a:tc>
              </a:tr>
              <a:tr h="791870">
                <a:tc>
                  <a:txBody>
                    <a:bodyPr wrap="square"/>
                    <a:lstStyle/>
                    <a:p>
                      <a:r>
                        <a:rPr sz="1850" b="1" i="0">
                          <a:solidFill>
                            <a:srgbClr val="1F2328"/>
                          </a:solidFill>
                          <a:latin typeface="Calibri"/>
                        </a:rPr>
                        <a:t>Subquery</a:t>
                      </a:r>
                    </a:p>
                  </a:txBody>
                  <a:tcPr marL="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A query written inside brackets within another query.</a:t>
                      </a:r>
                    </a:p>
                  </a:txBody>
                  <a:tcPr marL="13716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A helper cell that holds an average</a:t>
                      </a:r>
                    </a:p>
                  </a:txBody>
                  <a:tcPr marL="137160" marR="91440" marT="64008" marB="64008" anchor="ctr">
                    <a:lnL w="0">
                      <a:noFill/>
                    </a:lnL>
                    <a:lnR w="0">
                      <a:noFill/>
                    </a:lnR>
                    <a:lnT w="0">
                      <a:noFill/>
                    </a:lnT>
                    <a:lnB w="6350">
                      <a:solidFill>
                        <a:srgbClr val="C9C5BC"/>
                      </a:solidFill>
                    </a:lnB>
                    <a:noFill/>
                  </a:tcPr>
                </a:tc>
              </a:tr>
              <a:tr h="498652">
                <a:tc>
                  <a:txBody>
                    <a:bodyPr wrap="square"/>
                    <a:lstStyle/>
                    <a:p>
                      <a:r>
                        <a:rPr sz="1850" b="1" i="0">
                          <a:solidFill>
                            <a:srgbClr val="1F2328"/>
                          </a:solidFill>
                          <a:latin typeface="Calibri"/>
                        </a:rPr>
                        <a:t>Alias</a:t>
                      </a:r>
                    </a:p>
                  </a:txBody>
                  <a:tcPr marL="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A short name for a column or a table, given with AS.</a:t>
                      </a:r>
                    </a:p>
                  </a:txBody>
                  <a:tcPr marL="13716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A renamed column header</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Warm-up from Session 9</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SQL for analysts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4</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In Session 9, a join made revenue jump from 1.4 billion to 7.6 billion. What went wrong?</a:t>
            </a:r>
          </a:p>
        </p:txBody>
      </p:sp>
      <p:grpSp>
        <p:nvGrpSpPr>
          <p:cNvPr id="8" name="answer-1"/>
          <p:cNvGrpSpPr/>
          <p:nvPr/>
        </p:nvGrpSpPr>
        <p:grpSpPr>
          <a:xfrm>
            <a:off x="1234440" y="2753715"/>
            <a:ext cx="10271455" cy="1063904"/>
            <a:chOff x="1234440" y="2753715"/>
            <a:chExt cx="10271455" cy="1063904"/>
          </a:xfrm>
        </p:grpSpPr>
        <p:sp>
          <p:nvSpPr>
            <p:cNvPr id="9" name="TextBox 8"/>
            <p:cNvSpPr txBox="1"/>
            <p:nvPr/>
          </p:nvSpPr>
          <p:spPr>
            <a:xfrm>
              <a:off x="1234440" y="275371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Each order matched several order lines, so the order value was added once per line. Check row counts after every join.</a:t>
              </a:r>
            </a:p>
          </p:txBody>
        </p:sp>
      </p:grpSp>
      <p:cxnSp>
        <p:nvCxnSpPr>
          <p:cNvPr id="10" name="Connector 9"/>
          <p:cNvCxnSpPr/>
          <p:nvPr/>
        </p:nvCxnSpPr>
        <p:spPr>
          <a:xfrm>
            <a:off x="685800" y="3909060"/>
            <a:ext cx="10820095" cy="0"/>
          </a:xfrm>
          <a:prstGeom prst="line">
            <a:avLst/>
          </a:prstGeom>
          <a:ln w="6350">
            <a:solidFill>
              <a:srgbClr val="C9C5BC"/>
            </a:solidFill>
          </a:ln>
        </p:spPr>
      </p:cxnSp>
      <p:sp>
        <p:nvSpPr>
          <p:cNvPr id="11" name="TextBox 10"/>
          <p:cNvSpPr txBox="1"/>
          <p:nvPr/>
        </p:nvSpPr>
        <p:spPr>
          <a:xfrm>
            <a:off x="685800" y="400050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400050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Which spreadsheet tool is groupby in pandas?</a:t>
            </a:r>
          </a:p>
        </p:txBody>
      </p:sp>
      <p:grpSp>
        <p:nvGrpSpPr>
          <p:cNvPr id="13" name="answer-2"/>
          <p:cNvGrpSpPr/>
          <p:nvPr/>
        </p:nvGrpSpPr>
        <p:grpSpPr>
          <a:xfrm>
            <a:off x="1234440" y="5062575"/>
            <a:ext cx="10271455" cy="1063904"/>
            <a:chOff x="1234440" y="5062575"/>
            <a:chExt cx="10271455" cy="1063904"/>
          </a:xfrm>
        </p:grpSpPr>
        <p:sp>
          <p:nvSpPr>
            <p:cNvPr id="14" name="TextBox 13"/>
            <p:cNvSpPr txBox="1"/>
            <p:nvPr/>
          </p:nvSpPr>
          <p:spPr>
            <a:xfrm>
              <a:off x="1234440" y="506257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A PivotTable: group the rows, then summarise each group.</a:t>
              </a:r>
            </a:p>
          </p:txBody>
        </p:sp>
      </p:grpSp>
      <p:cxnSp>
        <p:nvCxnSpPr>
          <p:cNvPr id="15" name="Connector 14"/>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database is several tables that share keys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SQL for analysts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5</a:t>
            </a:r>
          </a:p>
        </p:txBody>
      </p:sp>
      <p:sp>
        <p:nvSpPr>
          <p:cNvPr id="5" name="Rectangle 4"/>
          <p:cNvSpPr/>
          <p:nvPr/>
        </p:nvSpPr>
        <p:spPr>
          <a:xfrm>
            <a:off x="685800" y="1645920"/>
            <a:ext cx="3154680" cy="1783080"/>
          </a:xfrm>
          <a:prstGeom prst="rect">
            <a:avLst/>
          </a:prstGeom>
          <a:noFill/>
          <a:ln w="12700">
            <a:solidFill>
              <a:srgbClr val="1F2328"/>
            </a:solidFill>
          </a:ln>
        </p:spPr>
        <p:txBody>
          <a:bodyPr rtlCol="0" anchor="ctr"/>
          <a:lstStyle/>
          <a:p>
            <a:pPr algn="ctr"/>
          </a:p>
        </p:txBody>
      </p:sp>
      <p:sp>
        <p:nvSpPr>
          <p:cNvPr id="6" name="TextBox 5"/>
          <p:cNvSpPr txBox="1"/>
          <p:nvPr/>
        </p:nvSpPr>
        <p:spPr>
          <a:xfrm>
            <a:off x="822960" y="1700784"/>
            <a:ext cx="2880360" cy="365760"/>
          </a:xfrm>
          <a:prstGeom prst="rect">
            <a:avLst/>
          </a:prstGeom>
          <a:noFill/>
        </p:spPr>
        <p:txBody>
          <a:bodyPr wrap="square" lIns="0" rIns="0" tIns="18288" bIns="18288" anchor="t">
            <a:spAutoFit/>
          </a:bodyPr>
          <a:lstStyle/>
          <a:p>
            <a:pPr algn="l"/>
            <a:r>
              <a:rPr sz="2000" b="1" i="0">
                <a:solidFill>
                  <a:srgbClr val="1F2328"/>
                </a:solidFill>
                <a:latin typeface="Cambria"/>
              </a:rPr>
              <a:t>branches</a:t>
            </a:r>
          </a:p>
        </p:txBody>
      </p:sp>
      <p:cxnSp>
        <p:nvCxnSpPr>
          <p:cNvPr id="7" name="Connector 6"/>
          <p:cNvCxnSpPr/>
          <p:nvPr/>
        </p:nvCxnSpPr>
        <p:spPr>
          <a:xfrm>
            <a:off x="685800" y="2103120"/>
            <a:ext cx="3154680" cy="0"/>
          </a:xfrm>
          <a:prstGeom prst="line">
            <a:avLst/>
          </a:prstGeom>
          <a:ln w="9525">
            <a:solidFill>
              <a:srgbClr val="1F2328"/>
            </a:solidFill>
          </a:ln>
        </p:spPr>
      </p:cxnSp>
      <p:sp>
        <p:nvSpPr>
          <p:cNvPr id="8" name="TextBox 7"/>
          <p:cNvSpPr txBox="1"/>
          <p:nvPr/>
        </p:nvSpPr>
        <p:spPr>
          <a:xfrm>
            <a:off x="822960" y="2176272"/>
            <a:ext cx="2880360" cy="1188719"/>
          </a:xfrm>
          <a:prstGeom prst="rect">
            <a:avLst/>
          </a:prstGeom>
          <a:noFill/>
        </p:spPr>
        <p:txBody>
          <a:bodyPr wrap="square" lIns="0" rIns="0" tIns="18288" bIns="18288" anchor="t">
            <a:spAutoFit/>
          </a:bodyPr>
          <a:lstStyle/>
          <a:p>
            <a:pPr algn="l"/>
            <a:r>
              <a:rPr sz="1800" b="0" i="0">
                <a:solidFill>
                  <a:srgbClr val="3B4046"/>
                </a:solidFill>
                <a:latin typeface="Calibri"/>
              </a:rPr>
              <a:t/>
            </a:r>
            <a:r>
              <a:rPr sz="1800" b="1" i="0">
                <a:solidFill>
                  <a:srgbClr val="1F2328"/>
                </a:solidFill>
                <a:latin typeface="Calibri"/>
              </a:rPr>
              <a:t>branch_id</a:t>
            </a:r>
          </a:p>
          <a:p>
            <a:pPr algn="l"/>
            <a:r>
              <a:rPr sz="1800" b="0" i="0">
                <a:solidFill>
                  <a:srgbClr val="3B4046"/>
                </a:solidFill>
                <a:latin typeface="Calibri"/>
              </a:rPr>
              <a:t/>
            </a:r>
            <a:r>
              <a:rPr sz="1800" b="0" i="0">
                <a:solidFill>
                  <a:srgbClr val="3B4046"/>
                </a:solidFill>
                <a:latin typeface="Calibri"/>
              </a:rPr>
              <a:t>branch_name</a:t>
            </a:r>
          </a:p>
          <a:p>
            <a:pPr algn="l"/>
            <a:r>
              <a:rPr sz="1800" b="0" i="0">
                <a:solidFill>
                  <a:srgbClr val="3B4046"/>
                </a:solidFill>
                <a:latin typeface="Calibri"/>
              </a:rPr>
              <a:t/>
            </a:r>
            <a:r>
              <a:rPr sz="1800" b="0" i="0">
                <a:solidFill>
                  <a:srgbClr val="3B4046"/>
                </a:solidFill>
                <a:latin typeface="Calibri"/>
              </a:rPr>
              <a:t>region</a:t>
            </a:r>
          </a:p>
        </p:txBody>
      </p:sp>
      <p:sp>
        <p:nvSpPr>
          <p:cNvPr id="9" name="Rectangle 8"/>
          <p:cNvSpPr/>
          <p:nvPr/>
        </p:nvSpPr>
        <p:spPr>
          <a:xfrm>
            <a:off x="4526280" y="1645920"/>
            <a:ext cx="3154680" cy="1783080"/>
          </a:xfrm>
          <a:prstGeom prst="rect">
            <a:avLst/>
          </a:prstGeom>
          <a:noFill/>
          <a:ln w="12700">
            <a:solidFill>
              <a:srgbClr val="1F2328"/>
            </a:solidFill>
          </a:ln>
        </p:spPr>
        <p:txBody>
          <a:bodyPr rtlCol="0" anchor="ctr"/>
          <a:lstStyle/>
          <a:p>
            <a:pPr algn="ctr"/>
          </a:p>
        </p:txBody>
      </p:sp>
      <p:sp>
        <p:nvSpPr>
          <p:cNvPr id="10" name="TextBox 9"/>
          <p:cNvSpPr txBox="1"/>
          <p:nvPr/>
        </p:nvSpPr>
        <p:spPr>
          <a:xfrm>
            <a:off x="4663440" y="1700784"/>
            <a:ext cx="2880360" cy="365760"/>
          </a:xfrm>
          <a:prstGeom prst="rect">
            <a:avLst/>
          </a:prstGeom>
          <a:noFill/>
        </p:spPr>
        <p:txBody>
          <a:bodyPr wrap="square" lIns="0" rIns="0" tIns="18288" bIns="18288" anchor="t">
            <a:spAutoFit/>
          </a:bodyPr>
          <a:lstStyle/>
          <a:p>
            <a:pPr algn="l"/>
            <a:r>
              <a:rPr sz="2000" b="1" i="0">
                <a:solidFill>
                  <a:srgbClr val="1F2328"/>
                </a:solidFill>
                <a:latin typeface="Cambria"/>
              </a:rPr>
              <a:t>orders</a:t>
            </a:r>
          </a:p>
        </p:txBody>
      </p:sp>
      <p:cxnSp>
        <p:nvCxnSpPr>
          <p:cNvPr id="11" name="Connector 10"/>
          <p:cNvCxnSpPr/>
          <p:nvPr/>
        </p:nvCxnSpPr>
        <p:spPr>
          <a:xfrm>
            <a:off x="4526280" y="2103120"/>
            <a:ext cx="3154680" cy="0"/>
          </a:xfrm>
          <a:prstGeom prst="line">
            <a:avLst/>
          </a:prstGeom>
          <a:ln w="9525">
            <a:solidFill>
              <a:srgbClr val="1F2328"/>
            </a:solidFill>
          </a:ln>
        </p:spPr>
      </p:cxnSp>
      <p:sp>
        <p:nvSpPr>
          <p:cNvPr id="12" name="TextBox 11"/>
          <p:cNvSpPr txBox="1"/>
          <p:nvPr/>
        </p:nvSpPr>
        <p:spPr>
          <a:xfrm>
            <a:off x="4663440" y="2176272"/>
            <a:ext cx="2880360" cy="1188719"/>
          </a:xfrm>
          <a:prstGeom prst="rect">
            <a:avLst/>
          </a:prstGeom>
          <a:noFill/>
        </p:spPr>
        <p:txBody>
          <a:bodyPr wrap="square" lIns="0" rIns="0" tIns="18288" bIns="18288" anchor="t">
            <a:spAutoFit/>
          </a:bodyPr>
          <a:lstStyle/>
          <a:p>
            <a:pPr algn="l"/>
            <a:r>
              <a:rPr sz="1800" b="0" i="0">
                <a:solidFill>
                  <a:srgbClr val="3B4046"/>
                </a:solidFill>
                <a:latin typeface="Calibri"/>
              </a:rPr>
              <a:t/>
            </a:r>
            <a:r>
              <a:rPr sz="1800" b="1" i="0">
                <a:solidFill>
                  <a:srgbClr val="1F2328"/>
                </a:solidFill>
                <a:latin typeface="Calibri"/>
              </a:rPr>
              <a:t>order_id</a:t>
            </a:r>
          </a:p>
          <a:p>
            <a:pPr algn="l"/>
            <a:r>
              <a:rPr sz="1800" b="0" i="0">
                <a:solidFill>
                  <a:srgbClr val="3B4046"/>
                </a:solidFill>
                <a:latin typeface="Calibri"/>
              </a:rPr>
              <a:t/>
            </a:r>
            <a:r>
              <a:rPr sz="1800" b="0" i="0">
                <a:solidFill>
                  <a:srgbClr val="3B4046"/>
                </a:solidFill>
                <a:latin typeface="Calibri"/>
              </a:rPr>
              <a:t>branch_id</a:t>
            </a:r>
          </a:p>
          <a:p>
            <a:pPr algn="l"/>
            <a:r>
              <a:rPr sz="1800" b="0" i="0">
                <a:solidFill>
                  <a:srgbClr val="3B4046"/>
                </a:solidFill>
                <a:latin typeface="Calibri"/>
              </a:rPr>
              <a:t/>
            </a:r>
            <a:r>
              <a:rPr sz="1800" b="0" i="0">
                <a:solidFill>
                  <a:srgbClr val="3B4046"/>
                </a:solidFill>
                <a:latin typeface="Calibri"/>
              </a:rPr>
              <a:t>customer_id</a:t>
            </a:r>
          </a:p>
          <a:p>
            <a:pPr algn="l"/>
            <a:r>
              <a:rPr sz="1800" b="0" i="0">
                <a:solidFill>
                  <a:srgbClr val="3B4046"/>
                </a:solidFill>
                <a:latin typeface="Calibri"/>
              </a:rPr>
              <a:t/>
            </a:r>
            <a:r>
              <a:rPr sz="1800" b="0" i="0">
                <a:solidFill>
                  <a:srgbClr val="3B4046"/>
                </a:solidFill>
                <a:latin typeface="Calibri"/>
              </a:rPr>
              <a:t>order_value_ugx</a:t>
            </a:r>
          </a:p>
        </p:txBody>
      </p:sp>
      <p:sp>
        <p:nvSpPr>
          <p:cNvPr id="13" name="Rectangle 12"/>
          <p:cNvSpPr/>
          <p:nvPr/>
        </p:nvSpPr>
        <p:spPr>
          <a:xfrm>
            <a:off x="8366760" y="1645920"/>
            <a:ext cx="3154680" cy="1783080"/>
          </a:xfrm>
          <a:prstGeom prst="rect">
            <a:avLst/>
          </a:prstGeom>
          <a:noFill/>
          <a:ln w="12700">
            <a:solidFill>
              <a:srgbClr val="1F2328"/>
            </a:solidFill>
          </a:ln>
        </p:spPr>
        <p:txBody>
          <a:bodyPr rtlCol="0" anchor="ctr"/>
          <a:lstStyle/>
          <a:p>
            <a:pPr algn="ctr"/>
          </a:p>
        </p:txBody>
      </p:sp>
      <p:sp>
        <p:nvSpPr>
          <p:cNvPr id="14" name="TextBox 13"/>
          <p:cNvSpPr txBox="1"/>
          <p:nvPr/>
        </p:nvSpPr>
        <p:spPr>
          <a:xfrm>
            <a:off x="8503920" y="1700784"/>
            <a:ext cx="2880360" cy="365760"/>
          </a:xfrm>
          <a:prstGeom prst="rect">
            <a:avLst/>
          </a:prstGeom>
          <a:noFill/>
        </p:spPr>
        <p:txBody>
          <a:bodyPr wrap="square" lIns="0" rIns="0" tIns="18288" bIns="18288" anchor="t">
            <a:spAutoFit/>
          </a:bodyPr>
          <a:lstStyle/>
          <a:p>
            <a:pPr algn="l"/>
            <a:r>
              <a:rPr sz="2000" b="1" i="0">
                <a:solidFill>
                  <a:srgbClr val="1F2328"/>
                </a:solidFill>
                <a:latin typeface="Cambria"/>
              </a:rPr>
              <a:t>customers</a:t>
            </a:r>
          </a:p>
        </p:txBody>
      </p:sp>
      <p:cxnSp>
        <p:nvCxnSpPr>
          <p:cNvPr id="15" name="Connector 14"/>
          <p:cNvCxnSpPr/>
          <p:nvPr/>
        </p:nvCxnSpPr>
        <p:spPr>
          <a:xfrm>
            <a:off x="8366760" y="2103120"/>
            <a:ext cx="3154680" cy="0"/>
          </a:xfrm>
          <a:prstGeom prst="line">
            <a:avLst/>
          </a:prstGeom>
          <a:ln w="9525">
            <a:solidFill>
              <a:srgbClr val="1F2328"/>
            </a:solidFill>
          </a:ln>
        </p:spPr>
      </p:cxnSp>
      <p:sp>
        <p:nvSpPr>
          <p:cNvPr id="16" name="TextBox 15"/>
          <p:cNvSpPr txBox="1"/>
          <p:nvPr/>
        </p:nvSpPr>
        <p:spPr>
          <a:xfrm>
            <a:off x="8503920" y="2176272"/>
            <a:ext cx="2880360" cy="1188719"/>
          </a:xfrm>
          <a:prstGeom prst="rect">
            <a:avLst/>
          </a:prstGeom>
          <a:noFill/>
        </p:spPr>
        <p:txBody>
          <a:bodyPr wrap="square" lIns="0" rIns="0" tIns="18288" bIns="18288" anchor="t">
            <a:spAutoFit/>
          </a:bodyPr>
          <a:lstStyle/>
          <a:p>
            <a:pPr algn="l"/>
            <a:r>
              <a:rPr sz="1800" b="0" i="0">
                <a:solidFill>
                  <a:srgbClr val="3B4046"/>
                </a:solidFill>
                <a:latin typeface="Calibri"/>
              </a:rPr>
              <a:t/>
            </a:r>
            <a:r>
              <a:rPr sz="1800" b="1" i="0">
                <a:solidFill>
                  <a:srgbClr val="1F2328"/>
                </a:solidFill>
                <a:latin typeface="Calibri"/>
              </a:rPr>
              <a:t>customer_id</a:t>
            </a:r>
          </a:p>
          <a:p>
            <a:pPr algn="l"/>
            <a:r>
              <a:rPr sz="1800" b="0" i="0">
                <a:solidFill>
                  <a:srgbClr val="3B4046"/>
                </a:solidFill>
                <a:latin typeface="Calibri"/>
              </a:rPr>
              <a:t/>
            </a:r>
            <a:r>
              <a:rPr sz="1800" b="0" i="0">
                <a:solidFill>
                  <a:srgbClr val="3B4046"/>
                </a:solidFill>
                <a:latin typeface="Calibri"/>
              </a:rPr>
              <a:t>home_branch_id</a:t>
            </a:r>
          </a:p>
          <a:p>
            <a:pPr algn="l"/>
            <a:r>
              <a:rPr sz="1800" b="0" i="0">
                <a:solidFill>
                  <a:srgbClr val="3B4046"/>
                </a:solidFill>
                <a:latin typeface="Calibri"/>
              </a:rPr>
              <a:t/>
            </a:r>
            <a:r>
              <a:rPr sz="1800" b="0" i="0">
                <a:solidFill>
                  <a:srgbClr val="3B4046"/>
                </a:solidFill>
                <a:latin typeface="Calibri"/>
              </a:rPr>
              <a:t>loyalty_tier</a:t>
            </a:r>
          </a:p>
        </p:txBody>
      </p:sp>
      <p:sp>
        <p:nvSpPr>
          <p:cNvPr id="17" name="Rectangle 16"/>
          <p:cNvSpPr/>
          <p:nvPr/>
        </p:nvSpPr>
        <p:spPr>
          <a:xfrm>
            <a:off x="685800" y="3794760"/>
            <a:ext cx="3154680" cy="1783080"/>
          </a:xfrm>
          <a:prstGeom prst="rect">
            <a:avLst/>
          </a:prstGeom>
          <a:noFill/>
          <a:ln w="12700">
            <a:solidFill>
              <a:srgbClr val="1F2328"/>
            </a:solidFill>
          </a:ln>
        </p:spPr>
        <p:txBody>
          <a:bodyPr rtlCol="0" anchor="ctr"/>
          <a:lstStyle/>
          <a:p>
            <a:pPr algn="ctr"/>
          </a:p>
        </p:txBody>
      </p:sp>
      <p:sp>
        <p:nvSpPr>
          <p:cNvPr id="18" name="TextBox 17"/>
          <p:cNvSpPr txBox="1"/>
          <p:nvPr/>
        </p:nvSpPr>
        <p:spPr>
          <a:xfrm>
            <a:off x="822960" y="3849624"/>
            <a:ext cx="2880360" cy="365760"/>
          </a:xfrm>
          <a:prstGeom prst="rect">
            <a:avLst/>
          </a:prstGeom>
          <a:noFill/>
        </p:spPr>
        <p:txBody>
          <a:bodyPr wrap="square" lIns="0" rIns="0" tIns="18288" bIns="18288" anchor="t">
            <a:spAutoFit/>
          </a:bodyPr>
          <a:lstStyle/>
          <a:p>
            <a:pPr algn="l"/>
            <a:r>
              <a:rPr sz="2000" b="1" i="0">
                <a:solidFill>
                  <a:srgbClr val="1F2328"/>
                </a:solidFill>
                <a:latin typeface="Cambria"/>
              </a:rPr>
              <a:t>returns</a:t>
            </a:r>
          </a:p>
        </p:txBody>
      </p:sp>
      <p:cxnSp>
        <p:nvCxnSpPr>
          <p:cNvPr id="19" name="Connector 18"/>
          <p:cNvCxnSpPr/>
          <p:nvPr/>
        </p:nvCxnSpPr>
        <p:spPr>
          <a:xfrm>
            <a:off x="685800" y="4251960"/>
            <a:ext cx="3154680" cy="0"/>
          </a:xfrm>
          <a:prstGeom prst="line">
            <a:avLst/>
          </a:prstGeom>
          <a:ln w="9525">
            <a:solidFill>
              <a:srgbClr val="1F2328"/>
            </a:solidFill>
          </a:ln>
        </p:spPr>
      </p:cxnSp>
      <p:sp>
        <p:nvSpPr>
          <p:cNvPr id="20" name="TextBox 19"/>
          <p:cNvSpPr txBox="1"/>
          <p:nvPr/>
        </p:nvSpPr>
        <p:spPr>
          <a:xfrm>
            <a:off x="822960" y="4325112"/>
            <a:ext cx="2880360" cy="1188719"/>
          </a:xfrm>
          <a:prstGeom prst="rect">
            <a:avLst/>
          </a:prstGeom>
          <a:noFill/>
        </p:spPr>
        <p:txBody>
          <a:bodyPr wrap="square" lIns="0" rIns="0" tIns="18288" bIns="18288" anchor="t">
            <a:spAutoFit/>
          </a:bodyPr>
          <a:lstStyle/>
          <a:p>
            <a:pPr algn="l"/>
            <a:r>
              <a:rPr sz="1800" b="0" i="0">
                <a:solidFill>
                  <a:srgbClr val="3B4046"/>
                </a:solidFill>
                <a:latin typeface="Calibri"/>
              </a:rPr>
              <a:t/>
            </a:r>
            <a:r>
              <a:rPr sz="1800" b="1" i="0">
                <a:solidFill>
                  <a:srgbClr val="1F2328"/>
                </a:solidFill>
                <a:latin typeface="Calibri"/>
              </a:rPr>
              <a:t>return_id</a:t>
            </a:r>
          </a:p>
          <a:p>
            <a:pPr algn="l"/>
            <a:r>
              <a:rPr sz="1800" b="0" i="0">
                <a:solidFill>
                  <a:srgbClr val="3B4046"/>
                </a:solidFill>
                <a:latin typeface="Calibri"/>
              </a:rPr>
              <a:t/>
            </a:r>
            <a:r>
              <a:rPr sz="1800" b="0" i="0">
                <a:solidFill>
                  <a:srgbClr val="3B4046"/>
                </a:solidFill>
                <a:latin typeface="Calibri"/>
              </a:rPr>
              <a:t>order_id</a:t>
            </a:r>
          </a:p>
          <a:p>
            <a:pPr algn="l"/>
            <a:r>
              <a:rPr sz="1800" b="0" i="0">
                <a:solidFill>
                  <a:srgbClr val="3B4046"/>
                </a:solidFill>
                <a:latin typeface="Calibri"/>
              </a:rPr>
              <a:t/>
            </a:r>
            <a:r>
              <a:rPr sz="1800" b="0" i="0">
                <a:solidFill>
                  <a:srgbClr val="3B4046"/>
                </a:solidFill>
                <a:latin typeface="Calibri"/>
              </a:rPr>
              <a:t>reason</a:t>
            </a:r>
          </a:p>
        </p:txBody>
      </p:sp>
      <p:sp>
        <p:nvSpPr>
          <p:cNvPr id="21" name="Rectangle 20"/>
          <p:cNvSpPr/>
          <p:nvPr/>
        </p:nvSpPr>
        <p:spPr>
          <a:xfrm>
            <a:off x="4526280" y="3794760"/>
            <a:ext cx="3154680" cy="1783080"/>
          </a:xfrm>
          <a:prstGeom prst="rect">
            <a:avLst/>
          </a:prstGeom>
          <a:noFill/>
          <a:ln w="12700">
            <a:solidFill>
              <a:srgbClr val="1F2328"/>
            </a:solidFill>
          </a:ln>
        </p:spPr>
        <p:txBody>
          <a:bodyPr rtlCol="0" anchor="ctr"/>
          <a:lstStyle/>
          <a:p>
            <a:pPr algn="ctr"/>
          </a:p>
        </p:txBody>
      </p:sp>
      <p:sp>
        <p:nvSpPr>
          <p:cNvPr id="22" name="TextBox 21"/>
          <p:cNvSpPr txBox="1"/>
          <p:nvPr/>
        </p:nvSpPr>
        <p:spPr>
          <a:xfrm>
            <a:off x="4663440" y="3849624"/>
            <a:ext cx="2880360" cy="365760"/>
          </a:xfrm>
          <a:prstGeom prst="rect">
            <a:avLst/>
          </a:prstGeom>
          <a:noFill/>
        </p:spPr>
        <p:txBody>
          <a:bodyPr wrap="square" lIns="0" rIns="0" tIns="18288" bIns="18288" anchor="t">
            <a:spAutoFit/>
          </a:bodyPr>
          <a:lstStyle/>
          <a:p>
            <a:pPr algn="l"/>
            <a:r>
              <a:rPr sz="2000" b="1" i="0">
                <a:solidFill>
                  <a:srgbClr val="1F2328"/>
                </a:solidFill>
                <a:latin typeface="Cambria"/>
              </a:rPr>
              <a:t>order_lines</a:t>
            </a:r>
          </a:p>
        </p:txBody>
      </p:sp>
      <p:cxnSp>
        <p:nvCxnSpPr>
          <p:cNvPr id="23" name="Connector 22"/>
          <p:cNvCxnSpPr/>
          <p:nvPr/>
        </p:nvCxnSpPr>
        <p:spPr>
          <a:xfrm>
            <a:off x="4526280" y="4251960"/>
            <a:ext cx="3154680" cy="0"/>
          </a:xfrm>
          <a:prstGeom prst="line">
            <a:avLst/>
          </a:prstGeom>
          <a:ln w="9525">
            <a:solidFill>
              <a:srgbClr val="1F2328"/>
            </a:solidFill>
          </a:ln>
        </p:spPr>
      </p:cxnSp>
      <p:sp>
        <p:nvSpPr>
          <p:cNvPr id="24" name="TextBox 23"/>
          <p:cNvSpPr txBox="1"/>
          <p:nvPr/>
        </p:nvSpPr>
        <p:spPr>
          <a:xfrm>
            <a:off x="4663440" y="4325112"/>
            <a:ext cx="2880360" cy="1188719"/>
          </a:xfrm>
          <a:prstGeom prst="rect">
            <a:avLst/>
          </a:prstGeom>
          <a:noFill/>
        </p:spPr>
        <p:txBody>
          <a:bodyPr wrap="square" lIns="0" rIns="0" tIns="18288" bIns="18288" anchor="t">
            <a:spAutoFit/>
          </a:bodyPr>
          <a:lstStyle/>
          <a:p>
            <a:pPr algn="l"/>
            <a:r>
              <a:rPr sz="1800" b="0" i="0">
                <a:solidFill>
                  <a:srgbClr val="3B4046"/>
                </a:solidFill>
                <a:latin typeface="Calibri"/>
              </a:rPr>
              <a:t/>
            </a:r>
            <a:r>
              <a:rPr sz="1800" b="1" i="0">
                <a:solidFill>
                  <a:srgbClr val="1F2328"/>
                </a:solidFill>
                <a:latin typeface="Calibri"/>
              </a:rPr>
              <a:t>line_id</a:t>
            </a:r>
          </a:p>
          <a:p>
            <a:pPr algn="l"/>
            <a:r>
              <a:rPr sz="1800" b="0" i="0">
                <a:solidFill>
                  <a:srgbClr val="3B4046"/>
                </a:solidFill>
                <a:latin typeface="Calibri"/>
              </a:rPr>
              <a:t/>
            </a:r>
            <a:r>
              <a:rPr sz="1800" b="0" i="0">
                <a:solidFill>
                  <a:srgbClr val="3B4046"/>
                </a:solidFill>
                <a:latin typeface="Calibri"/>
              </a:rPr>
              <a:t>order_id</a:t>
            </a:r>
          </a:p>
          <a:p>
            <a:pPr algn="l"/>
            <a:r>
              <a:rPr sz="1800" b="0" i="0">
                <a:solidFill>
                  <a:srgbClr val="3B4046"/>
                </a:solidFill>
                <a:latin typeface="Calibri"/>
              </a:rPr>
              <a:t/>
            </a:r>
            <a:r>
              <a:rPr sz="1800" b="0" i="0">
                <a:solidFill>
                  <a:srgbClr val="3B4046"/>
                </a:solidFill>
                <a:latin typeface="Calibri"/>
              </a:rPr>
              <a:t>product_id</a:t>
            </a:r>
          </a:p>
          <a:p>
            <a:pPr algn="l"/>
            <a:r>
              <a:rPr sz="1800" b="0" i="0">
                <a:solidFill>
                  <a:srgbClr val="3B4046"/>
                </a:solidFill>
                <a:latin typeface="Calibri"/>
              </a:rPr>
              <a:t/>
            </a:r>
            <a:r>
              <a:rPr sz="1800" b="0" i="0">
                <a:solidFill>
                  <a:srgbClr val="3B4046"/>
                </a:solidFill>
                <a:latin typeface="Calibri"/>
              </a:rPr>
              <a:t>line_revenue_ugx</a:t>
            </a:r>
          </a:p>
        </p:txBody>
      </p:sp>
      <p:sp>
        <p:nvSpPr>
          <p:cNvPr id="25" name="Rectangle 24"/>
          <p:cNvSpPr/>
          <p:nvPr/>
        </p:nvSpPr>
        <p:spPr>
          <a:xfrm>
            <a:off x="8366760" y="3794760"/>
            <a:ext cx="3154680" cy="1783080"/>
          </a:xfrm>
          <a:prstGeom prst="rect">
            <a:avLst/>
          </a:prstGeom>
          <a:noFill/>
          <a:ln w="12700">
            <a:solidFill>
              <a:srgbClr val="1F2328"/>
            </a:solidFill>
          </a:ln>
        </p:spPr>
        <p:txBody>
          <a:bodyPr rtlCol="0" anchor="ctr"/>
          <a:lstStyle/>
          <a:p>
            <a:pPr algn="ctr"/>
          </a:p>
        </p:txBody>
      </p:sp>
      <p:sp>
        <p:nvSpPr>
          <p:cNvPr id="26" name="TextBox 25"/>
          <p:cNvSpPr txBox="1"/>
          <p:nvPr/>
        </p:nvSpPr>
        <p:spPr>
          <a:xfrm>
            <a:off x="8503920" y="3849624"/>
            <a:ext cx="2880360" cy="365760"/>
          </a:xfrm>
          <a:prstGeom prst="rect">
            <a:avLst/>
          </a:prstGeom>
          <a:noFill/>
        </p:spPr>
        <p:txBody>
          <a:bodyPr wrap="square" lIns="0" rIns="0" tIns="18288" bIns="18288" anchor="t">
            <a:spAutoFit/>
          </a:bodyPr>
          <a:lstStyle/>
          <a:p>
            <a:pPr algn="l"/>
            <a:r>
              <a:rPr sz="2000" b="1" i="0">
                <a:solidFill>
                  <a:srgbClr val="1F2328"/>
                </a:solidFill>
                <a:latin typeface="Cambria"/>
              </a:rPr>
              <a:t>products</a:t>
            </a:r>
          </a:p>
        </p:txBody>
      </p:sp>
      <p:cxnSp>
        <p:nvCxnSpPr>
          <p:cNvPr id="27" name="Connector 26"/>
          <p:cNvCxnSpPr/>
          <p:nvPr/>
        </p:nvCxnSpPr>
        <p:spPr>
          <a:xfrm>
            <a:off x="8366760" y="4251960"/>
            <a:ext cx="3154680" cy="0"/>
          </a:xfrm>
          <a:prstGeom prst="line">
            <a:avLst/>
          </a:prstGeom>
          <a:ln w="9525">
            <a:solidFill>
              <a:srgbClr val="1F2328"/>
            </a:solidFill>
          </a:ln>
        </p:spPr>
      </p:cxnSp>
      <p:sp>
        <p:nvSpPr>
          <p:cNvPr id="28" name="TextBox 27"/>
          <p:cNvSpPr txBox="1"/>
          <p:nvPr/>
        </p:nvSpPr>
        <p:spPr>
          <a:xfrm>
            <a:off x="8503920" y="4325112"/>
            <a:ext cx="2880360" cy="1188719"/>
          </a:xfrm>
          <a:prstGeom prst="rect">
            <a:avLst/>
          </a:prstGeom>
          <a:noFill/>
        </p:spPr>
        <p:txBody>
          <a:bodyPr wrap="square" lIns="0" rIns="0" tIns="18288" bIns="18288" anchor="t">
            <a:spAutoFit/>
          </a:bodyPr>
          <a:lstStyle/>
          <a:p>
            <a:pPr algn="l"/>
            <a:r>
              <a:rPr sz="1800" b="0" i="0">
                <a:solidFill>
                  <a:srgbClr val="3B4046"/>
                </a:solidFill>
                <a:latin typeface="Calibri"/>
              </a:rPr>
              <a:t/>
            </a:r>
            <a:r>
              <a:rPr sz="1800" b="1" i="0">
                <a:solidFill>
                  <a:srgbClr val="1F2328"/>
                </a:solidFill>
                <a:latin typeface="Calibri"/>
              </a:rPr>
              <a:t>product_id</a:t>
            </a:r>
          </a:p>
          <a:p>
            <a:pPr algn="l"/>
            <a:r>
              <a:rPr sz="1800" b="0" i="0">
                <a:solidFill>
                  <a:srgbClr val="3B4046"/>
                </a:solidFill>
                <a:latin typeface="Calibri"/>
              </a:rPr>
              <a:t/>
            </a:r>
            <a:r>
              <a:rPr sz="1800" b="0" i="0">
                <a:solidFill>
                  <a:srgbClr val="3B4046"/>
                </a:solidFill>
                <a:latin typeface="Calibri"/>
              </a:rPr>
              <a:t>category</a:t>
            </a:r>
          </a:p>
          <a:p>
            <a:pPr algn="l"/>
            <a:r>
              <a:rPr sz="1800" b="0" i="0">
                <a:solidFill>
                  <a:srgbClr val="3B4046"/>
                </a:solidFill>
                <a:latin typeface="Calibri"/>
              </a:rPr>
              <a:t/>
            </a:r>
            <a:r>
              <a:rPr sz="1800" b="0" i="0">
                <a:solidFill>
                  <a:srgbClr val="3B4046"/>
                </a:solidFill>
                <a:latin typeface="Calibri"/>
              </a:rPr>
              <a:t>unit_price_ugx</a:t>
            </a:r>
          </a:p>
        </p:txBody>
      </p:sp>
      <p:cxnSp>
        <p:nvCxnSpPr>
          <p:cNvPr id="29" name="Connector 28"/>
          <p:cNvCxnSpPr/>
          <p:nvPr/>
        </p:nvCxnSpPr>
        <p:spPr>
          <a:xfrm>
            <a:off x="3840480" y="2560320"/>
            <a:ext cx="685800" cy="0"/>
          </a:xfrm>
          <a:prstGeom prst="line">
            <a:avLst/>
          </a:prstGeom>
          <a:ln w="22225">
            <a:solidFill>
              <a:srgbClr val="B04A2B"/>
            </a:solidFill>
          </a:ln>
        </p:spPr>
      </p:cxnSp>
      <p:cxnSp>
        <p:nvCxnSpPr>
          <p:cNvPr id="30" name="Connector 29"/>
          <p:cNvCxnSpPr/>
          <p:nvPr/>
        </p:nvCxnSpPr>
        <p:spPr>
          <a:xfrm>
            <a:off x="7680960" y="2560320"/>
            <a:ext cx="685800" cy="0"/>
          </a:xfrm>
          <a:prstGeom prst="line">
            <a:avLst/>
          </a:prstGeom>
          <a:ln w="22225">
            <a:solidFill>
              <a:srgbClr val="B04A2B"/>
            </a:solidFill>
          </a:ln>
        </p:spPr>
      </p:cxnSp>
      <p:cxnSp>
        <p:nvCxnSpPr>
          <p:cNvPr id="31" name="Connector 30"/>
          <p:cNvCxnSpPr/>
          <p:nvPr/>
        </p:nvCxnSpPr>
        <p:spPr>
          <a:xfrm>
            <a:off x="6103620" y="3429000"/>
            <a:ext cx="0" cy="365760"/>
          </a:xfrm>
          <a:prstGeom prst="line">
            <a:avLst/>
          </a:prstGeom>
          <a:ln w="22225">
            <a:solidFill>
              <a:srgbClr val="B04A2B"/>
            </a:solidFill>
          </a:ln>
        </p:spPr>
      </p:cxnSp>
      <p:cxnSp>
        <p:nvCxnSpPr>
          <p:cNvPr id="32" name="Connector 31"/>
          <p:cNvCxnSpPr/>
          <p:nvPr/>
        </p:nvCxnSpPr>
        <p:spPr>
          <a:xfrm>
            <a:off x="7680960" y="4709160"/>
            <a:ext cx="685800" cy="0"/>
          </a:xfrm>
          <a:prstGeom prst="line">
            <a:avLst/>
          </a:prstGeom>
          <a:ln w="22225">
            <a:solidFill>
              <a:srgbClr val="B04A2B"/>
            </a:solidFill>
          </a:ln>
        </p:spPr>
      </p:cxnSp>
      <p:cxnSp>
        <p:nvCxnSpPr>
          <p:cNvPr id="33" name="Connector 32"/>
          <p:cNvCxnSpPr/>
          <p:nvPr/>
        </p:nvCxnSpPr>
        <p:spPr>
          <a:xfrm>
            <a:off x="3840480" y="4709160"/>
            <a:ext cx="685800" cy="0"/>
          </a:xfrm>
          <a:prstGeom prst="line">
            <a:avLst/>
          </a:prstGeom>
          <a:ln w="22225">
            <a:solidFill>
              <a:srgbClr val="B04A2B"/>
            </a:solidFill>
          </a:ln>
        </p:spPr>
      </p:cxnSp>
      <p:cxnSp>
        <p:nvCxnSpPr>
          <p:cNvPr id="34" name="Connector 33"/>
          <p:cNvCxnSpPr/>
          <p:nvPr/>
        </p:nvCxnSpPr>
        <p:spPr>
          <a:xfrm>
            <a:off x="685800" y="5715000"/>
            <a:ext cx="10820095" cy="0"/>
          </a:xfrm>
          <a:prstGeom prst="line">
            <a:avLst/>
          </a:prstGeom>
          <a:ln w="9525">
            <a:solidFill>
              <a:srgbClr val="C9C5BC"/>
            </a:solidFill>
          </a:ln>
        </p:spPr>
      </p:cxnSp>
      <p:sp>
        <p:nvSpPr>
          <p:cNvPr id="35" name="TextBox 34"/>
          <p:cNvSpPr txBox="1"/>
          <p:nvPr/>
        </p:nvSpPr>
        <p:spPr>
          <a:xfrm>
            <a:off x="685800" y="5760720"/>
            <a:ext cx="10820095" cy="457200"/>
          </a:xfrm>
          <a:prstGeom prst="rect">
            <a:avLst/>
          </a:prstGeom>
          <a:noFill/>
        </p:spPr>
        <p:txBody>
          <a:bodyPr wrap="square" lIns="0" rIns="0" tIns="18288" bIns="18288" anchor="t">
            <a:spAutoFit/>
          </a:bodyPr>
          <a:lstStyle/>
          <a:p>
            <a:pPr algn="l"/>
            <a:r>
              <a:rPr sz="1800" b="0" i="1">
                <a:solidFill>
                  <a:srgbClr val="1F2328"/>
                </a:solidFill>
                <a:latin typeface="Cambria"/>
              </a:rPr>
              <a:t>Think of one Excel workbook with many sheets. The database file holds nine tables, six shown here.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SELECT picks columns, WHERE keeps rows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SQL for analysts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6</a:t>
            </a:r>
          </a:p>
        </p:txBody>
      </p:sp>
      <p:sp>
        <p:nvSpPr>
          <p:cNvPr id="5" name="Rectangle 4"/>
          <p:cNvSpPr/>
          <p:nvPr/>
        </p:nvSpPr>
        <p:spPr>
          <a:xfrm>
            <a:off x="685800" y="1600200"/>
            <a:ext cx="6949440" cy="159105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316736"/>
          </a:xfrm>
          <a:prstGeom prst="rect">
            <a:avLst/>
          </a:prstGeom>
          <a:noFill/>
        </p:spPr>
        <p:txBody>
          <a:bodyPr wrap="none" lIns="0" rIns="0" tIns="0" bIns="0">
            <a:spAutoFit/>
          </a:bodyPr>
          <a:lstStyle/>
          <a:p>
            <a:r>
              <a:rPr sz="2100" b="1" i="0">
                <a:solidFill>
                  <a:srgbClr val="1F2328"/>
                </a:solidFill>
                <a:latin typeface="Courier New"/>
              </a:rPr>
              <a:t>SELECT</a:t>
            </a:r>
            <a:r>
              <a:rPr sz="2100" b="0" i="0">
                <a:solidFill>
                  <a:srgbClr val="1F2328"/>
                </a:solidFill>
                <a:latin typeface="Courier New"/>
              </a:rPr>
              <a:t> </a:t>
            </a:r>
            <a:r>
              <a:rPr sz="2100" b="0" i="0">
                <a:solidFill>
                  <a:srgbClr val="1F2328"/>
                </a:solidFill>
                <a:latin typeface="Courier New"/>
              </a:rPr>
              <a:t>branch_name</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region</a:t>
            </a:r>
          </a:p>
          <a:p>
            <a:r>
              <a:rPr sz="2100" b="1" i="0">
                <a:solidFill>
                  <a:srgbClr val="1F2328"/>
                </a:solidFill>
                <a:latin typeface="Courier New"/>
              </a:rPr>
              <a:t>FROM</a:t>
            </a:r>
            <a:r>
              <a:rPr sz="2100" b="0" i="0">
                <a:solidFill>
                  <a:srgbClr val="1F2328"/>
                </a:solidFill>
                <a:latin typeface="Courier New"/>
              </a:rPr>
              <a:t> </a:t>
            </a:r>
            <a:r>
              <a:rPr sz="2100" b="0" i="0">
                <a:solidFill>
                  <a:srgbClr val="1F2328"/>
                </a:solidFill>
                <a:latin typeface="Courier New"/>
              </a:rPr>
              <a:t>branches</a:t>
            </a:r>
          </a:p>
          <a:p>
            <a:r>
              <a:rPr sz="2100" b="1" i="0">
                <a:solidFill>
                  <a:srgbClr val="1F2328"/>
                </a:solidFill>
                <a:latin typeface="Courier New"/>
              </a:rPr>
              <a:t>WHERE</a:t>
            </a:r>
            <a:r>
              <a:rPr sz="2100" b="0" i="0">
                <a:solidFill>
                  <a:srgbClr val="1F2328"/>
                </a:solidFill>
                <a:latin typeface="Courier New"/>
              </a:rPr>
              <a:t> </a:t>
            </a:r>
            <a:r>
              <a:rPr sz="2100" b="0" i="0">
                <a:solidFill>
                  <a:srgbClr val="1F2328"/>
                </a:solidFill>
                <a:latin typeface="Courier New"/>
              </a:rPr>
              <a:t>region</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B04A2B"/>
                </a:solidFill>
                <a:latin typeface="Courier New"/>
              </a:rPr>
              <a:t>'Central'</a:t>
            </a:r>
          </a:p>
          <a:p>
            <a:r>
              <a:rPr sz="2100" b="1" i="0">
                <a:solidFill>
                  <a:srgbClr val="1F2328"/>
                </a:solidFill>
                <a:latin typeface="Courier New"/>
              </a:rPr>
              <a:t>ORDER</a:t>
            </a:r>
            <a:r>
              <a:rPr sz="2100" b="0" i="0">
                <a:solidFill>
                  <a:srgbClr val="1F2328"/>
                </a:solidFill>
                <a:latin typeface="Courier New"/>
              </a:rPr>
              <a:t> </a:t>
            </a:r>
            <a:r>
              <a:rPr sz="2100" b="1" i="0">
                <a:solidFill>
                  <a:srgbClr val="1F2328"/>
                </a:solidFill>
                <a:latin typeface="Courier New"/>
              </a:rPr>
              <a:t>BY</a:t>
            </a:r>
            <a:r>
              <a:rPr sz="2100" b="0" i="0">
                <a:solidFill>
                  <a:srgbClr val="1F2328"/>
                </a:solidFill>
                <a:latin typeface="Courier New"/>
              </a:rPr>
              <a:t> </a:t>
            </a:r>
            <a:r>
              <a:rPr sz="2100" b="0" i="0">
                <a:solidFill>
                  <a:srgbClr val="1F2328"/>
                </a:solidFill>
                <a:latin typeface="Courier New"/>
              </a:rPr>
              <a:t>branch_name</a:t>
            </a:r>
          </a:p>
        </p:txBody>
      </p:sp>
      <p:grpSp>
        <p:nvGrpSpPr>
          <p:cNvPr id="7" name="output"/>
          <p:cNvGrpSpPr/>
          <p:nvPr/>
        </p:nvGrpSpPr>
        <p:grpSpPr>
          <a:xfrm>
            <a:off x="685800" y="3300984"/>
            <a:ext cx="6949440" cy="1164336"/>
            <a:chOff x="685800" y="3300984"/>
            <a:chExt cx="6949440" cy="1164336"/>
          </a:xfrm>
        </p:grpSpPr>
        <p:sp>
          <p:nvSpPr>
            <p:cNvPr id="8" name="TextBox 7"/>
            <p:cNvSpPr txBox="1"/>
            <p:nvPr/>
          </p:nvSpPr>
          <p:spPr>
            <a:xfrm>
              <a:off x="685800" y="330098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557016"/>
              <a:ext cx="6949440" cy="908304"/>
            </a:xfrm>
            <a:prstGeom prst="rect">
              <a:avLst/>
            </a:prstGeom>
            <a:solidFill>
              <a:srgbClr val="F5F3EF"/>
            </a:solidFill>
            <a:ln>
              <a:noFill/>
            </a:ln>
          </p:spPr>
          <p:txBody>
            <a:bodyPr rtlCol="0" anchor="ctr"/>
            <a:lstStyle/>
            <a:p>
              <a:pPr algn="ctr"/>
            </a:p>
          </p:txBody>
        </p:sp>
        <p:sp>
          <p:nvSpPr>
            <p:cNvPr id="10" name="TextBox 9"/>
            <p:cNvSpPr txBox="1"/>
            <p:nvPr/>
          </p:nvSpPr>
          <p:spPr>
            <a:xfrm>
              <a:off x="868680" y="3648456"/>
              <a:ext cx="6675120" cy="798576"/>
            </a:xfrm>
            <a:prstGeom prst="rect">
              <a:avLst/>
            </a:prstGeom>
            <a:noFill/>
          </p:spPr>
          <p:txBody>
            <a:bodyPr wrap="none" lIns="0" rIns="0" tIns="0" bIns="0">
              <a:spAutoFit/>
            </a:bodyPr>
            <a:lstStyle/>
            <a:p>
              <a:r>
                <a:rPr sz="1400" b="0" i="0">
                  <a:solidFill>
                    <a:srgbClr val="1F2328"/>
                  </a:solidFill>
                  <a:latin typeface="Courier New"/>
                </a:rPr>
                <a:t>branch_name region</a:t>
              </a:r>
            </a:p>
            <a:p>
              <a:r>
                <a:rPr sz="1400" b="0" i="0">
                  <a:solidFill>
                    <a:srgbClr val="1F2328"/>
                  </a:solidFill>
                  <a:latin typeface="Courier New"/>
                </a:rPr>
                <a:t>Entebbe Central</a:t>
              </a:r>
            </a:p>
            <a:p>
              <a:r>
                <a:rPr sz="1400" b="0" i="0">
                  <a:solidFill>
                    <a:srgbClr val="1F2328"/>
                  </a:solidFill>
                  <a:latin typeface="Courier New"/>
                </a:rPr>
                <a:t>Kampala Central Central</a:t>
              </a:r>
            </a:p>
            <a:p>
              <a:r>
                <a:rPr sz="1400" b="0" i="0">
                  <a:solidFill>
                    <a:srgbClr val="1F2328"/>
                  </a:solidFill>
                  <a:latin typeface="Courier New"/>
                </a:rPr>
                <a:t>Kampala Ntinda Central</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SELECT names the columns, like picking columns in a sheet.</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FROM names the table. WHERE keeps matching rows, like AutoFilter.</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ORDER BY sorts. We'll come back to why that line matters.</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same count in SQL and in pandas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SQL for analysts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7</a:t>
            </a:r>
          </a:p>
        </p:txBody>
      </p:sp>
      <p:sp>
        <p:nvSpPr>
          <p:cNvPr id="5" name="Rectangle 4"/>
          <p:cNvSpPr/>
          <p:nvPr/>
        </p:nvSpPr>
        <p:spPr>
          <a:xfrm>
            <a:off x="685800" y="1600200"/>
            <a:ext cx="10820095" cy="23682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2093976"/>
          </a:xfrm>
          <a:prstGeom prst="rect">
            <a:avLst/>
          </a:prstGeom>
          <a:noFill/>
        </p:spPr>
        <p:txBody>
          <a:bodyPr wrap="none" lIns="0" rIns="0" tIns="0" bIns="0">
            <a:spAutoFit/>
          </a:bodyPr>
          <a:lstStyle/>
          <a:p>
            <a:r>
              <a:rPr sz="1500" b="1" i="0">
                <a:solidFill>
                  <a:srgbClr val="1F2328"/>
                </a:solidFill>
                <a:latin typeface="Courier New"/>
              </a:rPr>
              <a:t>import</a:t>
            </a:r>
            <a:r>
              <a:rPr sz="1500" b="0" i="0">
                <a:solidFill>
                  <a:srgbClr val="1F2328"/>
                </a:solidFill>
                <a:latin typeface="Courier New"/>
              </a:rPr>
              <a:t> </a:t>
            </a:r>
            <a:r>
              <a:rPr sz="1500" b="0" i="0">
                <a:solidFill>
                  <a:srgbClr val="1F2328"/>
                </a:solidFill>
                <a:latin typeface="Courier New"/>
              </a:rPr>
              <a:t>sqlite3</a:t>
            </a:r>
          </a:p>
          <a:p>
            <a:r>
              <a:rPr sz="1500" b="1" i="0">
                <a:solidFill>
                  <a:srgbClr val="1F2328"/>
                </a:solidFill>
                <a:latin typeface="Courier New"/>
              </a:rPr>
              <a:t>import</a:t>
            </a:r>
            <a:r>
              <a:rPr sz="1500" b="0" i="0">
                <a:solidFill>
                  <a:srgbClr val="1F2328"/>
                </a:solidFill>
                <a:latin typeface="Courier New"/>
              </a:rPr>
              <a:t> </a:t>
            </a:r>
            <a:r>
              <a:rPr sz="1500" b="0" i="0">
                <a:solidFill>
                  <a:srgbClr val="1F2328"/>
                </a:solidFill>
                <a:latin typeface="Courier New"/>
              </a:rPr>
              <a:t>pandas</a:t>
            </a:r>
            <a:r>
              <a:rPr sz="1500" b="0" i="0">
                <a:solidFill>
                  <a:srgbClr val="1F2328"/>
                </a:solidFill>
                <a:latin typeface="Courier New"/>
              </a:rPr>
              <a:t> </a:t>
            </a:r>
            <a:r>
              <a:rPr sz="1500" b="1" i="0">
                <a:solidFill>
                  <a:srgbClr val="1F2328"/>
                </a:solidFill>
                <a:latin typeface="Courier New"/>
              </a:rPr>
              <a:t>as</a:t>
            </a:r>
            <a:r>
              <a:rPr sz="1500" b="0" i="0">
                <a:solidFill>
                  <a:srgbClr val="1F2328"/>
                </a:solidFill>
                <a:latin typeface="Courier New"/>
              </a:rPr>
              <a:t> </a:t>
            </a:r>
            <a:r>
              <a:rPr sz="1500" b="0" i="0">
                <a:solidFill>
                  <a:srgbClr val="1F2328"/>
                </a:solidFill>
                <a:latin typeface="Courier New"/>
              </a:rPr>
              <a:t>pd</a:t>
            </a:r>
          </a:p>
          <a:p>
            <a:r>
              <a:rPr sz="1500" b="0" i="0">
                <a:solidFill>
                  <a:srgbClr val="1F2328"/>
                </a:solidFill>
                <a:latin typeface="Courier New"/>
              </a:rPr>
              <a:t> </a:t>
            </a:r>
          </a:p>
          <a:p>
            <a:r>
              <a:rPr sz="1500" b="0" i="0">
                <a:solidFill>
                  <a:srgbClr val="1F2328"/>
                </a:solidFill>
                <a:latin typeface="Courier New"/>
              </a:rPr>
              <a:t>con</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sqlite3</a:t>
            </a:r>
            <a:r>
              <a:rPr sz="1500" b="0" i="0">
                <a:solidFill>
                  <a:srgbClr val="1F2328"/>
                </a:solidFill>
                <a:latin typeface="Courier New"/>
              </a:rPr>
              <a:t>.</a:t>
            </a:r>
            <a:r>
              <a:rPr sz="1500" b="0" i="0">
                <a:solidFill>
                  <a:srgbClr val="1F2328"/>
                </a:solidFill>
                <a:latin typeface="Courier New"/>
              </a:rPr>
              <a:t>connect</a:t>
            </a:r>
            <a:r>
              <a:rPr sz="1500" b="0" i="0">
                <a:solidFill>
                  <a:srgbClr val="1F2328"/>
                </a:solidFill>
                <a:latin typeface="Courier New"/>
              </a:rPr>
              <a:t>(</a:t>
            </a:r>
            <a:r>
              <a:rPr sz="1500" b="0" i="0">
                <a:solidFill>
                  <a:srgbClr val="B04A2B"/>
                </a:solidFill>
                <a:latin typeface="Courier New"/>
              </a:rPr>
              <a:t>'lakeside.db'</a:t>
            </a:r>
            <a:r>
              <a:rPr sz="1500" b="0" i="0">
                <a:solidFill>
                  <a:srgbClr val="1F2328"/>
                </a:solidFill>
                <a:latin typeface="Courier New"/>
              </a:rPr>
              <a:t>)</a:t>
            </a:r>
          </a:p>
          <a:p>
            <a:r>
              <a:rPr sz="1500" b="0" i="0">
                <a:solidFill>
                  <a:srgbClr val="1F2328"/>
                </a:solidFill>
                <a:latin typeface="Courier New"/>
              </a:rPr>
              <a:t>q</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B04A2B"/>
                </a:solidFill>
                <a:latin typeface="Courier New"/>
              </a:rPr>
              <a:t>"SELECT COUNT(*) AS n FROM orders WHERE branch_id = 'B04'"</a:t>
            </a:r>
          </a:p>
          <a:p>
            <a:r>
              <a:rPr sz="1500" b="0" i="0">
                <a:solidFill>
                  <a:srgbClr val="1F2328"/>
                </a:solidFill>
                <a:latin typeface="Courier New"/>
              </a:rPr>
              <a:t>print</a:t>
            </a:r>
            <a:r>
              <a:rPr sz="1500" b="0" i="0">
                <a:solidFill>
                  <a:srgbClr val="1F2328"/>
                </a:solidFill>
                <a:latin typeface="Courier New"/>
              </a:rPr>
              <a:t>(</a:t>
            </a:r>
            <a:r>
              <a:rPr sz="1500" b="0" i="0">
                <a:solidFill>
                  <a:srgbClr val="B04A2B"/>
                </a:solidFill>
                <a:latin typeface="Courier New"/>
              </a:rPr>
              <a:t>'SQL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pd</a:t>
            </a:r>
            <a:r>
              <a:rPr sz="1500" b="0" i="0">
                <a:solidFill>
                  <a:srgbClr val="1F2328"/>
                </a:solidFill>
                <a:latin typeface="Courier New"/>
              </a:rPr>
              <a:t>.</a:t>
            </a:r>
            <a:r>
              <a:rPr sz="1500" b="0" i="0">
                <a:solidFill>
                  <a:srgbClr val="1F2328"/>
                </a:solidFill>
                <a:latin typeface="Courier New"/>
              </a:rPr>
              <a:t>read_sql_query</a:t>
            </a:r>
            <a:r>
              <a:rPr sz="1500" b="0" i="0">
                <a:solidFill>
                  <a:srgbClr val="1F2328"/>
                </a:solidFill>
                <a:latin typeface="Courier New"/>
              </a:rPr>
              <a:t>(</a:t>
            </a:r>
            <a:r>
              <a:rPr sz="1500" b="0" i="0">
                <a:solidFill>
                  <a:srgbClr val="1F2328"/>
                </a:solidFill>
                <a:latin typeface="Courier New"/>
              </a:rPr>
              <a:t>q</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con</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n</a:t>
            </a:r>
            <a:r>
              <a:rPr sz="1500" b="0" i="0">
                <a:solidFill>
                  <a:srgbClr val="1F2328"/>
                </a:solidFill>
                <a:latin typeface="Courier New"/>
              </a:rPr>
              <a:t>[</a:t>
            </a:r>
            <a:r>
              <a:rPr sz="1500" b="0" i="0">
                <a:solidFill>
                  <a:srgbClr val="3B4046"/>
                </a:solidFill>
                <a:latin typeface="Courier New"/>
              </a:rPr>
              <a:t>0</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 </a:t>
            </a:r>
          </a:p>
          <a:p>
            <a:r>
              <a:rPr sz="1500" b="0" i="0">
                <a:solidFill>
                  <a:srgbClr val="1F2328"/>
                </a:solidFill>
                <a:latin typeface="Courier New"/>
              </a:rPr>
              <a:t>orders</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pd</a:t>
            </a:r>
            <a:r>
              <a:rPr sz="1500" b="0" i="0">
                <a:solidFill>
                  <a:srgbClr val="1F2328"/>
                </a:solidFill>
                <a:latin typeface="Courier New"/>
              </a:rPr>
              <a:t>.</a:t>
            </a:r>
            <a:r>
              <a:rPr sz="1500" b="0" i="0">
                <a:solidFill>
                  <a:srgbClr val="1F2328"/>
                </a:solidFill>
                <a:latin typeface="Courier New"/>
              </a:rPr>
              <a:t>read_sql_query</a:t>
            </a:r>
            <a:r>
              <a:rPr sz="1500" b="0" i="0">
                <a:solidFill>
                  <a:srgbClr val="1F2328"/>
                </a:solidFill>
                <a:latin typeface="Courier New"/>
              </a:rPr>
              <a:t>(</a:t>
            </a:r>
            <a:r>
              <a:rPr sz="1500" b="0" i="0">
                <a:solidFill>
                  <a:srgbClr val="B04A2B"/>
                </a:solidFill>
                <a:latin typeface="Courier New"/>
              </a:rPr>
              <a:t>'SELECT * FROM orders'</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con</a:t>
            </a:r>
            <a:r>
              <a:rPr sz="1500" b="0" i="0">
                <a:solidFill>
                  <a:srgbClr val="1F2328"/>
                </a:solidFill>
                <a:latin typeface="Courier New"/>
              </a:rPr>
              <a:t>)</a:t>
            </a:r>
          </a:p>
          <a:p>
            <a:r>
              <a:rPr sz="1500" b="0" i="0">
                <a:solidFill>
                  <a:srgbClr val="1F2328"/>
                </a:solidFill>
                <a:latin typeface="Courier New"/>
              </a:rPr>
              <a:t>print</a:t>
            </a:r>
            <a:r>
              <a:rPr sz="1500" b="0" i="0">
                <a:solidFill>
                  <a:srgbClr val="1F2328"/>
                </a:solidFill>
                <a:latin typeface="Courier New"/>
              </a:rPr>
              <a:t>(</a:t>
            </a:r>
            <a:r>
              <a:rPr sz="1500" b="0" i="0">
                <a:solidFill>
                  <a:srgbClr val="B04A2B"/>
                </a:solidFill>
                <a:latin typeface="Courier New"/>
              </a:rPr>
              <a:t>'pandas'</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orders</a:t>
            </a:r>
            <a:r>
              <a:rPr sz="1500" b="0" i="0">
                <a:solidFill>
                  <a:srgbClr val="1F2328"/>
                </a:solidFill>
                <a:latin typeface="Courier New"/>
              </a:rPr>
              <a:t>.</a:t>
            </a:r>
            <a:r>
              <a:rPr sz="1500" b="0" i="0">
                <a:solidFill>
                  <a:srgbClr val="1F2328"/>
                </a:solidFill>
                <a:latin typeface="Courier New"/>
              </a:rPr>
              <a:t>branch_id</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 </a:t>
            </a:r>
            <a:r>
              <a:rPr sz="1500" b="0" i="0">
                <a:solidFill>
                  <a:srgbClr val="B04A2B"/>
                </a:solidFill>
                <a:latin typeface="Courier New"/>
              </a:rPr>
              <a:t>'B04'</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sum</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a:t>
            </a:r>
          </a:p>
        </p:txBody>
      </p:sp>
      <p:grpSp>
        <p:nvGrpSpPr>
          <p:cNvPr id="7" name="output"/>
          <p:cNvGrpSpPr/>
          <p:nvPr/>
        </p:nvGrpSpPr>
        <p:grpSpPr>
          <a:xfrm>
            <a:off x="685800" y="4078224"/>
            <a:ext cx="10820095" cy="737615"/>
            <a:chOff x="685800" y="4078224"/>
            <a:chExt cx="10820095" cy="737615"/>
          </a:xfrm>
        </p:grpSpPr>
        <p:sp>
          <p:nvSpPr>
            <p:cNvPr id="8" name="TextBox 7"/>
            <p:cNvSpPr txBox="1"/>
            <p:nvPr/>
          </p:nvSpPr>
          <p:spPr>
            <a:xfrm>
              <a:off x="685800" y="40782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334256"/>
              <a:ext cx="10820095"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4425696"/>
              <a:ext cx="10545775" cy="371855"/>
            </a:xfrm>
            <a:prstGeom prst="rect">
              <a:avLst/>
            </a:prstGeom>
            <a:noFill/>
          </p:spPr>
          <p:txBody>
            <a:bodyPr wrap="none" lIns="0" rIns="0" tIns="0" bIns="0">
              <a:spAutoFit/>
            </a:bodyPr>
            <a:lstStyle/>
            <a:p>
              <a:r>
                <a:rPr sz="1400" b="0" i="0">
                  <a:solidFill>
                    <a:srgbClr val="1F2328"/>
                  </a:solidFill>
                  <a:latin typeface="Courier New"/>
                </a:rPr>
                <a:t>SQL    3562</a:t>
              </a:r>
            </a:p>
            <a:p>
              <a:r>
                <a:rPr sz="1400" b="0" i="0">
                  <a:solidFill>
                    <a:srgbClr val="1F2328"/>
                  </a:solidFill>
                  <a:latin typeface="Courier New"/>
                </a:rPr>
                <a:t>pandas 3562</a:t>
              </a:r>
            </a:p>
          </p:txBody>
        </p:sp>
      </p:grpSp>
      <p:grpSp>
        <p:nvGrpSpPr>
          <p:cNvPr id="11" name="says-1"/>
          <p:cNvGrpSpPr/>
          <p:nvPr/>
        </p:nvGrpSpPr>
        <p:grpSpPr>
          <a:xfrm>
            <a:off x="685800" y="4998720"/>
            <a:ext cx="5204307" cy="1200911"/>
            <a:chOff x="685800" y="4998720"/>
            <a:chExt cx="5204307" cy="1200911"/>
          </a:xfrm>
        </p:grpSpPr>
        <p:cxnSp>
          <p:nvCxnSpPr>
            <p:cNvPr id="12" name="Connector 11"/>
            <p:cNvCxnSpPr/>
            <p:nvPr/>
          </p:nvCxnSpPr>
          <p:spPr>
            <a:xfrm>
              <a:off x="685800" y="4998720"/>
              <a:ext cx="5204307" cy="0"/>
            </a:xfrm>
            <a:prstGeom prst="line">
              <a:avLst/>
            </a:prstGeom>
            <a:ln w="15875">
              <a:solidFill>
                <a:srgbClr val="1F2328"/>
              </a:solidFill>
            </a:ln>
          </p:spPr>
        </p:cxnSp>
        <p:sp>
          <p:nvSpPr>
            <p:cNvPr id="13" name="TextBox 12"/>
            <p:cNvSpPr txBox="1"/>
            <p:nvPr/>
          </p:nvSpPr>
          <p:spPr>
            <a:xfrm>
              <a:off x="685800" y="5071872"/>
              <a:ext cx="292608" cy="1127759"/>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5071872"/>
              <a:ext cx="4856835" cy="1127759"/>
            </a:xfrm>
            <a:prstGeom prst="rect">
              <a:avLst/>
            </a:prstGeom>
            <a:noFill/>
          </p:spPr>
          <p:txBody>
            <a:bodyPr wrap="square" lIns="0" rIns="0" tIns="18288" bIns="18288" anchor="t">
              <a:spAutoFit/>
            </a:bodyPr>
            <a:lstStyle/>
            <a:p>
              <a:pPr algn="l"/>
              <a:r>
                <a:rPr sz="1900" b="0" i="0">
                  <a:solidFill>
                    <a:srgbClr val="1F2328"/>
                  </a:solidFill>
                  <a:latin typeface="Calibri"/>
                </a:rPr>
                <a:t>connect opens the database file. read_sql_query runs SQL and returns a DataFrame.</a:t>
              </a:r>
            </a:p>
          </p:txBody>
        </p:sp>
      </p:grpSp>
      <p:grpSp>
        <p:nvGrpSpPr>
          <p:cNvPr id="15" name="says-2"/>
          <p:cNvGrpSpPr/>
          <p:nvPr/>
        </p:nvGrpSpPr>
        <p:grpSpPr>
          <a:xfrm>
            <a:off x="6301587" y="4998720"/>
            <a:ext cx="5204308" cy="1200911"/>
            <a:chOff x="6301587" y="4998720"/>
            <a:chExt cx="5204308" cy="1200911"/>
          </a:xfrm>
        </p:grpSpPr>
        <p:cxnSp>
          <p:nvCxnSpPr>
            <p:cNvPr id="16" name="Connector 15"/>
            <p:cNvCxnSpPr/>
            <p:nvPr/>
          </p:nvCxnSpPr>
          <p:spPr>
            <a:xfrm>
              <a:off x="6301587" y="4998720"/>
              <a:ext cx="5204308" cy="0"/>
            </a:xfrm>
            <a:prstGeom prst="line">
              <a:avLst/>
            </a:prstGeom>
            <a:ln w="15875">
              <a:solidFill>
                <a:srgbClr val="1F2328"/>
              </a:solidFill>
            </a:ln>
          </p:spPr>
        </p:cxnSp>
        <p:sp>
          <p:nvSpPr>
            <p:cNvPr id="17" name="TextBox 16"/>
            <p:cNvSpPr txBox="1"/>
            <p:nvPr/>
          </p:nvSpPr>
          <p:spPr>
            <a:xfrm>
              <a:off x="6301587" y="5071872"/>
              <a:ext cx="292608" cy="1127759"/>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6649059" y="5071872"/>
              <a:ext cx="4856835" cy="1127759"/>
            </a:xfrm>
            <a:prstGeom prst="rect">
              <a:avLst/>
            </a:prstGeom>
            <a:noFill/>
          </p:spPr>
          <p:txBody>
            <a:bodyPr wrap="square" lIns="0" rIns="0" tIns="18288" bIns="18288" anchor="t">
              <a:spAutoFit/>
            </a:bodyPr>
            <a:lstStyle/>
            <a:p>
              <a:pPr algn="l"/>
              <a:r>
                <a:rPr sz="1900" b="0" i="0">
                  <a:solidFill>
                    <a:srgbClr val="1F2328"/>
                  </a:solidFill>
                  <a:latin typeface="Calibri"/>
                </a:rPr>
                <a:t>The pandas filter from Session 7 gives the same answer.</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SQL has no row order unless you write ORDER BY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SQL for analysts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8</a:t>
            </a:r>
          </a:p>
        </p:txBody>
      </p:sp>
      <p:sp>
        <p:nvSpPr>
          <p:cNvPr id="5" name="Rectangle 4"/>
          <p:cNvSpPr/>
          <p:nvPr/>
        </p:nvSpPr>
        <p:spPr>
          <a:xfrm>
            <a:off x="685800" y="1600200"/>
            <a:ext cx="6949440" cy="159105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316736"/>
          </a:xfrm>
          <a:prstGeom prst="rect">
            <a:avLst/>
          </a:prstGeom>
          <a:noFill/>
        </p:spPr>
        <p:txBody>
          <a:bodyPr wrap="none" lIns="0" rIns="0" tIns="0" bIns="0">
            <a:spAutoFit/>
          </a:bodyPr>
          <a:lstStyle/>
          <a:p>
            <a:r>
              <a:rPr sz="2100" b="1" i="0">
                <a:solidFill>
                  <a:srgbClr val="1F2328"/>
                </a:solidFill>
                <a:latin typeface="Courier New"/>
              </a:rPr>
              <a:t>SELECT</a:t>
            </a:r>
            <a:r>
              <a:rPr sz="2100" b="0" i="0">
                <a:solidFill>
                  <a:srgbClr val="1F2328"/>
                </a:solidFill>
                <a:latin typeface="Courier New"/>
              </a:rPr>
              <a:t> </a:t>
            </a:r>
            <a:r>
              <a:rPr sz="2100" b="0" i="0">
                <a:solidFill>
                  <a:srgbClr val="1F2328"/>
                </a:solidFill>
                <a:latin typeface="Courier New"/>
              </a:rPr>
              <a:t>order_id</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order_value_ugx</a:t>
            </a:r>
          </a:p>
          <a:p>
            <a:r>
              <a:rPr sz="2100" b="1" i="0">
                <a:solidFill>
                  <a:srgbClr val="1F2328"/>
                </a:solidFill>
                <a:latin typeface="Courier New"/>
              </a:rPr>
              <a:t>FROM</a:t>
            </a:r>
            <a:r>
              <a:rPr sz="2100" b="0" i="0">
                <a:solidFill>
                  <a:srgbClr val="1F2328"/>
                </a:solidFill>
                <a:latin typeface="Courier New"/>
              </a:rPr>
              <a:t> </a:t>
            </a:r>
            <a:r>
              <a:rPr sz="2100" b="0" i="0">
                <a:solidFill>
                  <a:srgbClr val="1F2328"/>
                </a:solidFill>
                <a:latin typeface="Courier New"/>
              </a:rPr>
              <a:t>orders</a:t>
            </a:r>
          </a:p>
          <a:p>
            <a:r>
              <a:rPr sz="2100" b="1" i="0">
                <a:solidFill>
                  <a:srgbClr val="1F2328"/>
                </a:solidFill>
                <a:latin typeface="Courier New"/>
              </a:rPr>
              <a:t>ORDER</a:t>
            </a:r>
            <a:r>
              <a:rPr sz="2100" b="0" i="0">
                <a:solidFill>
                  <a:srgbClr val="1F2328"/>
                </a:solidFill>
                <a:latin typeface="Courier New"/>
              </a:rPr>
              <a:t> </a:t>
            </a:r>
            <a:r>
              <a:rPr sz="2100" b="1" i="0">
                <a:solidFill>
                  <a:srgbClr val="1F2328"/>
                </a:solidFill>
                <a:latin typeface="Courier New"/>
              </a:rPr>
              <a:t>BY</a:t>
            </a:r>
            <a:r>
              <a:rPr sz="2100" b="0" i="0">
                <a:solidFill>
                  <a:srgbClr val="1F2328"/>
                </a:solidFill>
                <a:latin typeface="Courier New"/>
              </a:rPr>
              <a:t> </a:t>
            </a:r>
            <a:r>
              <a:rPr sz="2100" b="0" i="0">
                <a:solidFill>
                  <a:srgbClr val="1F2328"/>
                </a:solidFill>
                <a:latin typeface="Courier New"/>
              </a:rPr>
              <a:t>order_value_ugx</a:t>
            </a:r>
            <a:r>
              <a:rPr sz="2100" b="0" i="0">
                <a:solidFill>
                  <a:srgbClr val="1F2328"/>
                </a:solidFill>
                <a:latin typeface="Courier New"/>
              </a:rPr>
              <a:t> </a:t>
            </a:r>
            <a:r>
              <a:rPr sz="2100" b="1" i="0">
                <a:solidFill>
                  <a:srgbClr val="1F2328"/>
                </a:solidFill>
                <a:latin typeface="Courier New"/>
              </a:rPr>
              <a:t>DESC</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order_id</a:t>
            </a:r>
          </a:p>
          <a:p>
            <a:r>
              <a:rPr sz="2100" b="1" i="0">
                <a:solidFill>
                  <a:srgbClr val="1F2328"/>
                </a:solidFill>
                <a:latin typeface="Courier New"/>
              </a:rPr>
              <a:t>LIMIT</a:t>
            </a:r>
            <a:r>
              <a:rPr sz="2100" b="0" i="0">
                <a:solidFill>
                  <a:srgbClr val="1F2328"/>
                </a:solidFill>
                <a:latin typeface="Courier New"/>
              </a:rPr>
              <a:t> </a:t>
            </a:r>
            <a:r>
              <a:rPr sz="2100" b="0" i="0">
                <a:solidFill>
                  <a:srgbClr val="3B4046"/>
                </a:solidFill>
                <a:latin typeface="Courier New"/>
              </a:rPr>
              <a:t>3</a:t>
            </a:r>
          </a:p>
        </p:txBody>
      </p:sp>
      <p:grpSp>
        <p:nvGrpSpPr>
          <p:cNvPr id="7" name="output"/>
          <p:cNvGrpSpPr/>
          <p:nvPr/>
        </p:nvGrpSpPr>
        <p:grpSpPr>
          <a:xfrm>
            <a:off x="685800" y="3300984"/>
            <a:ext cx="6949440" cy="1164336"/>
            <a:chOff x="685800" y="3300984"/>
            <a:chExt cx="6949440" cy="1164336"/>
          </a:xfrm>
        </p:grpSpPr>
        <p:sp>
          <p:nvSpPr>
            <p:cNvPr id="8" name="TextBox 7"/>
            <p:cNvSpPr txBox="1"/>
            <p:nvPr/>
          </p:nvSpPr>
          <p:spPr>
            <a:xfrm>
              <a:off x="685800" y="330098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557016"/>
              <a:ext cx="6949440" cy="908304"/>
            </a:xfrm>
            <a:prstGeom prst="rect">
              <a:avLst/>
            </a:prstGeom>
            <a:solidFill>
              <a:srgbClr val="F5F3EF"/>
            </a:solidFill>
            <a:ln>
              <a:noFill/>
            </a:ln>
          </p:spPr>
          <p:txBody>
            <a:bodyPr rtlCol="0" anchor="ctr"/>
            <a:lstStyle/>
            <a:p>
              <a:pPr algn="ctr"/>
            </a:p>
          </p:txBody>
        </p:sp>
        <p:sp>
          <p:nvSpPr>
            <p:cNvPr id="10" name="TextBox 9"/>
            <p:cNvSpPr txBox="1"/>
            <p:nvPr/>
          </p:nvSpPr>
          <p:spPr>
            <a:xfrm>
              <a:off x="868680" y="3648456"/>
              <a:ext cx="6675120" cy="798576"/>
            </a:xfrm>
            <a:prstGeom prst="rect">
              <a:avLst/>
            </a:prstGeom>
            <a:noFill/>
          </p:spPr>
          <p:txBody>
            <a:bodyPr wrap="none" lIns="0" rIns="0" tIns="0" bIns="0">
              <a:spAutoFit/>
            </a:bodyPr>
            <a:lstStyle/>
            <a:p>
              <a:r>
                <a:rPr sz="1400" b="0" i="0">
                  <a:solidFill>
                    <a:srgbClr val="1F2328"/>
                  </a:solidFill>
                  <a:latin typeface="Courier New"/>
                </a:rPr>
                <a:t>order_id order_value_ugx</a:t>
              </a:r>
            </a:p>
            <a:p>
              <a:r>
                <a:rPr sz="1400" b="0" i="0">
                  <a:solidFill>
                    <a:srgbClr val="1F2328"/>
                  </a:solidFill>
                  <a:latin typeface="Courier New"/>
                </a:rPr>
                <a:t>O014303 3104000</a:t>
              </a:r>
            </a:p>
            <a:p>
              <a:r>
                <a:rPr sz="1400" b="0" i="0">
                  <a:solidFill>
                    <a:srgbClr val="1F2328"/>
                  </a:solidFill>
                  <a:latin typeface="Courier New"/>
                </a:rPr>
                <a:t>O029299 2795740</a:t>
              </a:r>
            </a:p>
            <a:p>
              <a:r>
                <a:rPr sz="1400" b="0" i="0">
                  <a:solidFill>
                    <a:srgbClr val="1F2328"/>
                  </a:solidFill>
                  <a:latin typeface="Courier New"/>
                </a:rPr>
                <a:t>O003810 2771200</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A database table is a set of rows. It has no first row and no last row.</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ORDER BY is the only way to get a guaranteed order.</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LIMIT keeps the first rows of the sorted result.</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GROUP BY is a PivotTable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SQL for analysts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9</a:t>
            </a:r>
          </a:p>
        </p:txBody>
      </p:sp>
      <p:sp>
        <p:nvSpPr>
          <p:cNvPr id="5" name="Rectangle 4"/>
          <p:cNvSpPr/>
          <p:nvPr/>
        </p:nvSpPr>
        <p:spPr>
          <a:xfrm>
            <a:off x="685800" y="1600200"/>
            <a:ext cx="6949440" cy="223113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956815"/>
          </a:xfrm>
          <a:prstGeom prst="rect">
            <a:avLst/>
          </a:prstGeom>
          <a:noFill/>
        </p:spPr>
        <p:txBody>
          <a:bodyPr wrap="none" lIns="0" rIns="0" tIns="0" bIns="0">
            <a:spAutoFit/>
          </a:bodyPr>
          <a:lstStyle/>
          <a:p>
            <a:r>
              <a:rPr sz="2100" b="1" i="0">
                <a:solidFill>
                  <a:srgbClr val="1F2328"/>
                </a:solidFill>
                <a:latin typeface="Courier New"/>
              </a:rPr>
              <a:t>SELECT</a:t>
            </a:r>
            <a:r>
              <a:rPr sz="2100" b="0" i="0">
                <a:solidFill>
                  <a:srgbClr val="1F2328"/>
                </a:solidFill>
                <a:latin typeface="Courier New"/>
              </a:rPr>
              <a:t> </a:t>
            </a:r>
            <a:r>
              <a:rPr sz="2100" b="0" i="0">
                <a:solidFill>
                  <a:srgbClr val="1F2328"/>
                </a:solidFill>
                <a:latin typeface="Courier New"/>
              </a:rPr>
              <a:t>branch_id</a:t>
            </a:r>
            <a:r>
              <a:rPr sz="2100" b="0" i="0">
                <a:solidFill>
                  <a:srgbClr val="1F2328"/>
                </a:solidFill>
                <a:latin typeface="Courier New"/>
              </a:rPr>
              <a:t>,</a:t>
            </a:r>
          </a:p>
          <a:p>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1" i="0">
                <a:solidFill>
                  <a:srgbClr val="1F2328"/>
                </a:solidFill>
                <a:latin typeface="Courier New"/>
              </a:rPr>
              <a:t>COUNT</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 </a:t>
            </a:r>
            <a:r>
              <a:rPr sz="2100" b="1" i="0">
                <a:solidFill>
                  <a:srgbClr val="1F2328"/>
                </a:solidFill>
                <a:latin typeface="Courier New"/>
              </a:rPr>
              <a:t>AS</a:t>
            </a:r>
            <a:r>
              <a:rPr sz="2100" b="0" i="0">
                <a:solidFill>
                  <a:srgbClr val="1F2328"/>
                </a:solidFill>
                <a:latin typeface="Courier New"/>
              </a:rPr>
              <a:t> </a:t>
            </a:r>
            <a:r>
              <a:rPr sz="2100" b="0" i="0">
                <a:solidFill>
                  <a:srgbClr val="1F2328"/>
                </a:solidFill>
                <a:latin typeface="Courier New"/>
              </a:rPr>
              <a:t>n_orders</a:t>
            </a:r>
            <a:r>
              <a:rPr sz="2100" b="0" i="0">
                <a:solidFill>
                  <a:srgbClr val="1F2328"/>
                </a:solidFill>
                <a:latin typeface="Courier New"/>
              </a:rPr>
              <a:t>,</a:t>
            </a:r>
          </a:p>
          <a:p>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1" i="0">
                <a:solidFill>
                  <a:srgbClr val="1F2328"/>
                </a:solidFill>
                <a:latin typeface="Courier New"/>
              </a:rPr>
              <a:t>SUM</a:t>
            </a:r>
            <a:r>
              <a:rPr sz="2100" b="0" i="0">
                <a:solidFill>
                  <a:srgbClr val="1F2328"/>
                </a:solidFill>
                <a:latin typeface="Courier New"/>
              </a:rPr>
              <a:t>(</a:t>
            </a:r>
            <a:r>
              <a:rPr sz="2100" b="0" i="0">
                <a:solidFill>
                  <a:srgbClr val="1F2328"/>
                </a:solidFill>
                <a:latin typeface="Courier New"/>
              </a:rPr>
              <a:t>order_value_ugx</a:t>
            </a:r>
            <a:r>
              <a:rPr sz="2100" b="0" i="0">
                <a:solidFill>
                  <a:srgbClr val="1F2328"/>
                </a:solidFill>
                <a:latin typeface="Courier New"/>
              </a:rPr>
              <a:t>)</a:t>
            </a:r>
            <a:r>
              <a:rPr sz="2100" b="0" i="0">
                <a:solidFill>
                  <a:srgbClr val="1F2328"/>
                </a:solidFill>
                <a:latin typeface="Courier New"/>
              </a:rPr>
              <a:t> </a:t>
            </a:r>
            <a:r>
              <a:rPr sz="2100" b="1" i="0">
                <a:solidFill>
                  <a:srgbClr val="1F2328"/>
                </a:solidFill>
                <a:latin typeface="Courier New"/>
              </a:rPr>
              <a:t>AS</a:t>
            </a:r>
            <a:r>
              <a:rPr sz="2100" b="0" i="0">
                <a:solidFill>
                  <a:srgbClr val="1F2328"/>
                </a:solidFill>
                <a:latin typeface="Courier New"/>
              </a:rPr>
              <a:t> </a:t>
            </a:r>
            <a:r>
              <a:rPr sz="2100" b="0" i="0">
                <a:solidFill>
                  <a:srgbClr val="1F2328"/>
                </a:solidFill>
                <a:latin typeface="Courier New"/>
              </a:rPr>
              <a:t>revenue</a:t>
            </a:r>
          </a:p>
          <a:p>
            <a:r>
              <a:rPr sz="2100" b="1" i="0">
                <a:solidFill>
                  <a:srgbClr val="1F2328"/>
                </a:solidFill>
                <a:latin typeface="Courier New"/>
              </a:rPr>
              <a:t>FROM</a:t>
            </a:r>
            <a:r>
              <a:rPr sz="2100" b="0" i="0">
                <a:solidFill>
                  <a:srgbClr val="1F2328"/>
                </a:solidFill>
                <a:latin typeface="Courier New"/>
              </a:rPr>
              <a:t> </a:t>
            </a:r>
            <a:r>
              <a:rPr sz="2100" b="0" i="0">
                <a:solidFill>
                  <a:srgbClr val="1F2328"/>
                </a:solidFill>
                <a:latin typeface="Courier New"/>
              </a:rPr>
              <a:t>orders</a:t>
            </a:r>
          </a:p>
          <a:p>
            <a:r>
              <a:rPr sz="2100" b="1" i="0">
                <a:solidFill>
                  <a:srgbClr val="1F2328"/>
                </a:solidFill>
                <a:latin typeface="Courier New"/>
              </a:rPr>
              <a:t>GROUP</a:t>
            </a:r>
            <a:r>
              <a:rPr sz="2100" b="0" i="0">
                <a:solidFill>
                  <a:srgbClr val="1F2328"/>
                </a:solidFill>
                <a:latin typeface="Courier New"/>
              </a:rPr>
              <a:t> </a:t>
            </a:r>
            <a:r>
              <a:rPr sz="2100" b="1" i="0">
                <a:solidFill>
                  <a:srgbClr val="1F2328"/>
                </a:solidFill>
                <a:latin typeface="Courier New"/>
              </a:rPr>
              <a:t>BY</a:t>
            </a:r>
            <a:r>
              <a:rPr sz="2100" b="0" i="0">
                <a:solidFill>
                  <a:srgbClr val="1F2328"/>
                </a:solidFill>
                <a:latin typeface="Courier New"/>
              </a:rPr>
              <a:t> </a:t>
            </a:r>
            <a:r>
              <a:rPr sz="2100" b="0" i="0">
                <a:solidFill>
                  <a:srgbClr val="1F2328"/>
                </a:solidFill>
                <a:latin typeface="Courier New"/>
              </a:rPr>
              <a:t>branch_id</a:t>
            </a:r>
          </a:p>
          <a:p>
            <a:r>
              <a:rPr sz="2100" b="1" i="0">
                <a:solidFill>
                  <a:srgbClr val="1F2328"/>
                </a:solidFill>
                <a:latin typeface="Courier New"/>
              </a:rPr>
              <a:t>ORDER</a:t>
            </a:r>
            <a:r>
              <a:rPr sz="2100" b="0" i="0">
                <a:solidFill>
                  <a:srgbClr val="1F2328"/>
                </a:solidFill>
                <a:latin typeface="Courier New"/>
              </a:rPr>
              <a:t> </a:t>
            </a:r>
            <a:r>
              <a:rPr sz="2100" b="1" i="0">
                <a:solidFill>
                  <a:srgbClr val="1F2328"/>
                </a:solidFill>
                <a:latin typeface="Courier New"/>
              </a:rPr>
              <a:t>BY</a:t>
            </a:r>
            <a:r>
              <a:rPr sz="2100" b="0" i="0">
                <a:solidFill>
                  <a:srgbClr val="1F2328"/>
                </a:solidFill>
                <a:latin typeface="Courier New"/>
              </a:rPr>
              <a:t> </a:t>
            </a:r>
            <a:r>
              <a:rPr sz="2100" b="0" i="0">
                <a:solidFill>
                  <a:srgbClr val="1F2328"/>
                </a:solidFill>
                <a:latin typeface="Courier New"/>
              </a:rPr>
              <a:t>revenue</a:t>
            </a:r>
            <a:r>
              <a:rPr sz="2100" b="0" i="0">
                <a:solidFill>
                  <a:srgbClr val="1F2328"/>
                </a:solidFill>
                <a:latin typeface="Courier New"/>
              </a:rPr>
              <a:t> </a:t>
            </a:r>
            <a:r>
              <a:rPr sz="2100" b="1" i="0">
                <a:solidFill>
                  <a:srgbClr val="1F2328"/>
                </a:solidFill>
                <a:latin typeface="Courier New"/>
              </a:rPr>
              <a:t>DESC</a:t>
            </a:r>
          </a:p>
        </p:txBody>
      </p:sp>
      <p:grpSp>
        <p:nvGrpSpPr>
          <p:cNvPr id="7" name="output"/>
          <p:cNvGrpSpPr/>
          <p:nvPr/>
        </p:nvGrpSpPr>
        <p:grpSpPr>
          <a:xfrm>
            <a:off x="685800" y="3941063"/>
            <a:ext cx="6949440" cy="1164337"/>
            <a:chOff x="685800" y="3941063"/>
            <a:chExt cx="6949440" cy="1164337"/>
          </a:xfrm>
        </p:grpSpPr>
        <p:sp>
          <p:nvSpPr>
            <p:cNvPr id="8" name="TextBox 7"/>
            <p:cNvSpPr txBox="1"/>
            <p:nvPr/>
          </p:nvSpPr>
          <p:spPr>
            <a:xfrm>
              <a:off x="685800" y="3941063"/>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197096"/>
              <a:ext cx="6949440" cy="908304"/>
            </a:xfrm>
            <a:prstGeom prst="rect">
              <a:avLst/>
            </a:prstGeom>
            <a:solidFill>
              <a:srgbClr val="F5F3EF"/>
            </a:solidFill>
            <a:ln>
              <a:noFill/>
            </a:ln>
          </p:spPr>
          <p:txBody>
            <a:bodyPr rtlCol="0" anchor="ctr"/>
            <a:lstStyle/>
            <a:p>
              <a:pPr algn="ctr"/>
            </a:p>
          </p:txBody>
        </p:sp>
        <p:sp>
          <p:nvSpPr>
            <p:cNvPr id="10" name="TextBox 9"/>
            <p:cNvSpPr txBox="1"/>
            <p:nvPr/>
          </p:nvSpPr>
          <p:spPr>
            <a:xfrm>
              <a:off x="868680" y="4288536"/>
              <a:ext cx="6675120" cy="798576"/>
            </a:xfrm>
            <a:prstGeom prst="rect">
              <a:avLst/>
            </a:prstGeom>
            <a:noFill/>
          </p:spPr>
          <p:txBody>
            <a:bodyPr wrap="none" lIns="0" rIns="0" tIns="0" bIns="0">
              <a:spAutoFit/>
            </a:bodyPr>
            <a:lstStyle/>
            <a:p>
              <a:r>
                <a:rPr sz="1400" b="0" i="0">
                  <a:solidFill>
                    <a:srgbClr val="1F2328"/>
                  </a:solidFill>
                  <a:latin typeface="Courier New"/>
                </a:rPr>
                <a:t>branch_id n_orders revenue</a:t>
              </a:r>
            </a:p>
            <a:p>
              <a:r>
                <a:rPr sz="1400" b="0" i="0">
                  <a:solidFill>
                    <a:srgbClr val="1F2328"/>
                  </a:solidFill>
                  <a:latin typeface="Courier New"/>
                </a:rPr>
                <a:t>B01 5885 283331305</a:t>
              </a:r>
            </a:p>
            <a:p>
              <a:r>
                <a:rPr sz="1400" b="0" i="0">
                  <a:solidFill>
                    <a:srgbClr val="1F2328"/>
                  </a:solidFill>
                  <a:latin typeface="Courier New"/>
                </a:rPr>
                <a:t>B02 4830 238222000</a:t>
              </a:r>
            </a:p>
            <a:p>
              <a:r>
                <a:rPr sz="1400" b="0" i="0">
                  <a:solidFill>
                    <a:srgbClr val="1F2328"/>
                  </a:solidFill>
                  <a:latin typeface="Courier New"/>
                </a:rPr>
                <a:t>B04 3562 176738325</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GROUP BY makes one result row for each branch.</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COUNT and SUM summarise each group, like PivotTable values.</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AS gives a result column a short name.</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same table with groupby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SQL for analysts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10</a:t>
            </a:r>
          </a:p>
        </p:txBody>
      </p:sp>
      <p:sp>
        <p:nvSpPr>
          <p:cNvPr id="5" name="Rectangle 4"/>
          <p:cNvSpPr/>
          <p:nvPr/>
        </p:nvSpPr>
        <p:spPr>
          <a:xfrm>
            <a:off x="685800" y="1600200"/>
            <a:ext cx="10820095" cy="8442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569976"/>
          </a:xfrm>
          <a:prstGeom prst="rect">
            <a:avLst/>
          </a:prstGeom>
          <a:noFill/>
        </p:spPr>
        <p:txBody>
          <a:bodyPr wrap="none" lIns="0" rIns="0" tIns="0" bIns="0">
            <a:spAutoFit/>
          </a:bodyPr>
          <a:lstStyle/>
          <a:p>
            <a:r>
              <a:rPr sz="1750" b="0" i="0">
                <a:solidFill>
                  <a:srgbClr val="1F2328"/>
                </a:solidFill>
                <a:latin typeface="Courier New"/>
              </a:rPr>
              <a:t>by_branch</a:t>
            </a:r>
            <a:r>
              <a:rPr sz="1750" b="0" i="0">
                <a:solidFill>
                  <a:srgbClr val="1F2328"/>
                </a:solidFill>
                <a:latin typeface="Courier New"/>
              </a:rPr>
              <a:t> </a:t>
            </a:r>
            <a:r>
              <a:rPr sz="1750" b="0" i="0">
                <a:solidFill>
                  <a:srgbClr val="1F2328"/>
                </a:solidFill>
                <a:latin typeface="Courier New"/>
              </a:rPr>
              <a:t>=</a:t>
            </a:r>
            <a:r>
              <a:rPr sz="1750" b="0" i="0">
                <a:solidFill>
                  <a:srgbClr val="1F2328"/>
                </a:solidFill>
                <a:latin typeface="Courier New"/>
              </a:rPr>
              <a:t> </a:t>
            </a:r>
            <a:r>
              <a:rPr sz="1750" b="0" i="0">
                <a:solidFill>
                  <a:srgbClr val="1F2328"/>
                </a:solidFill>
                <a:latin typeface="Courier New"/>
              </a:rPr>
              <a:t>orders</a:t>
            </a:r>
            <a:r>
              <a:rPr sz="1750" b="0" i="0">
                <a:solidFill>
                  <a:srgbClr val="1F2328"/>
                </a:solidFill>
                <a:latin typeface="Courier New"/>
              </a:rPr>
              <a:t>.</a:t>
            </a:r>
            <a:r>
              <a:rPr sz="1750" b="0" i="0">
                <a:solidFill>
                  <a:srgbClr val="1F2328"/>
                </a:solidFill>
                <a:latin typeface="Courier New"/>
              </a:rPr>
              <a:t>groupby</a:t>
            </a:r>
            <a:r>
              <a:rPr sz="1750" b="0" i="0">
                <a:solidFill>
                  <a:srgbClr val="1F2328"/>
                </a:solidFill>
                <a:latin typeface="Courier New"/>
              </a:rPr>
              <a:t>(</a:t>
            </a:r>
            <a:r>
              <a:rPr sz="1750" b="0" i="0">
                <a:solidFill>
                  <a:srgbClr val="B04A2B"/>
                </a:solidFill>
                <a:latin typeface="Courier New"/>
              </a:rPr>
              <a:t>'branch_id'</a:t>
            </a:r>
            <a:r>
              <a:rPr sz="1750" b="0" i="0">
                <a:solidFill>
                  <a:srgbClr val="1F2328"/>
                </a:solidFill>
                <a:latin typeface="Courier New"/>
              </a:rPr>
              <a:t>)</a:t>
            </a:r>
            <a:r>
              <a:rPr sz="1750" b="0" i="0">
                <a:solidFill>
                  <a:srgbClr val="1F2328"/>
                </a:solidFill>
                <a:latin typeface="Courier New"/>
              </a:rPr>
              <a:t>.</a:t>
            </a:r>
            <a:r>
              <a:rPr sz="1750" b="0" i="0">
                <a:solidFill>
                  <a:srgbClr val="1F2328"/>
                </a:solidFill>
                <a:latin typeface="Courier New"/>
              </a:rPr>
              <a:t>order_value_ugx</a:t>
            </a:r>
            <a:r>
              <a:rPr sz="1750" b="0" i="0">
                <a:solidFill>
                  <a:srgbClr val="1F2328"/>
                </a:solidFill>
                <a:latin typeface="Courier New"/>
              </a:rPr>
              <a:t>.</a:t>
            </a:r>
            <a:r>
              <a:rPr sz="1750" b="0" i="0">
                <a:solidFill>
                  <a:srgbClr val="1F2328"/>
                </a:solidFill>
                <a:latin typeface="Courier New"/>
              </a:rPr>
              <a:t>agg</a:t>
            </a:r>
            <a:r>
              <a:rPr sz="1750" b="0" i="0">
                <a:solidFill>
                  <a:srgbClr val="1F2328"/>
                </a:solidFill>
                <a:latin typeface="Courier New"/>
              </a:rPr>
              <a:t>(</a:t>
            </a:r>
            <a:r>
              <a:rPr sz="1750" b="0" i="0">
                <a:solidFill>
                  <a:srgbClr val="1F2328"/>
                </a:solidFill>
                <a:latin typeface="Courier New"/>
              </a:rPr>
              <a:t>[</a:t>
            </a:r>
            <a:r>
              <a:rPr sz="1750" b="0" i="0">
                <a:solidFill>
                  <a:srgbClr val="B04A2B"/>
                </a:solidFill>
                <a:latin typeface="Courier New"/>
              </a:rPr>
              <a:t>'count'</a:t>
            </a:r>
            <a:r>
              <a:rPr sz="1750" b="0" i="0">
                <a:solidFill>
                  <a:srgbClr val="1F2328"/>
                </a:solidFill>
                <a:latin typeface="Courier New"/>
              </a:rPr>
              <a:t>,</a:t>
            </a:r>
            <a:r>
              <a:rPr sz="1750" b="0" i="0">
                <a:solidFill>
                  <a:srgbClr val="1F2328"/>
                </a:solidFill>
                <a:latin typeface="Courier New"/>
              </a:rPr>
              <a:t> </a:t>
            </a:r>
            <a:r>
              <a:rPr sz="1750" b="0" i="0">
                <a:solidFill>
                  <a:srgbClr val="B04A2B"/>
                </a:solidFill>
                <a:latin typeface="Courier New"/>
              </a:rPr>
              <a:t>'sum'</a:t>
            </a:r>
            <a:r>
              <a:rPr sz="1750" b="0" i="0">
                <a:solidFill>
                  <a:srgbClr val="1F2328"/>
                </a:solidFill>
                <a:latin typeface="Courier New"/>
              </a:rPr>
              <a:t>]</a:t>
            </a:r>
            <a:r>
              <a:rPr sz="1750" b="0" i="0">
                <a:solidFill>
                  <a:srgbClr val="1F2328"/>
                </a:solidFill>
                <a:latin typeface="Courier New"/>
              </a:rPr>
              <a:t>)</a:t>
            </a:r>
          </a:p>
          <a:p>
            <a:r>
              <a:rPr sz="1750" b="0" i="0">
                <a:solidFill>
                  <a:srgbClr val="1F2328"/>
                </a:solidFill>
                <a:latin typeface="Courier New"/>
              </a:rPr>
              <a:t>print</a:t>
            </a:r>
            <a:r>
              <a:rPr sz="1750" b="0" i="0">
                <a:solidFill>
                  <a:srgbClr val="1F2328"/>
                </a:solidFill>
                <a:latin typeface="Courier New"/>
              </a:rPr>
              <a:t>(</a:t>
            </a:r>
            <a:r>
              <a:rPr sz="1750" b="0" i="0">
                <a:solidFill>
                  <a:srgbClr val="1F2328"/>
                </a:solidFill>
                <a:latin typeface="Courier New"/>
              </a:rPr>
              <a:t>by_branch</a:t>
            </a:r>
            <a:r>
              <a:rPr sz="1750" b="0" i="0">
                <a:solidFill>
                  <a:srgbClr val="1F2328"/>
                </a:solidFill>
                <a:latin typeface="Courier New"/>
              </a:rPr>
              <a:t>.</a:t>
            </a:r>
            <a:r>
              <a:rPr sz="1750" b="0" i="0">
                <a:solidFill>
                  <a:srgbClr val="1F2328"/>
                </a:solidFill>
                <a:latin typeface="Courier New"/>
              </a:rPr>
              <a:t>sort_values</a:t>
            </a:r>
            <a:r>
              <a:rPr sz="1750" b="0" i="0">
                <a:solidFill>
                  <a:srgbClr val="1F2328"/>
                </a:solidFill>
                <a:latin typeface="Courier New"/>
              </a:rPr>
              <a:t>(</a:t>
            </a:r>
            <a:r>
              <a:rPr sz="1750" b="0" i="0">
                <a:solidFill>
                  <a:srgbClr val="B04A2B"/>
                </a:solidFill>
                <a:latin typeface="Courier New"/>
              </a:rPr>
              <a:t>'sum'</a:t>
            </a:r>
            <a:r>
              <a:rPr sz="1750" b="0" i="0">
                <a:solidFill>
                  <a:srgbClr val="1F2328"/>
                </a:solidFill>
                <a:latin typeface="Courier New"/>
              </a:rPr>
              <a:t>,</a:t>
            </a:r>
            <a:r>
              <a:rPr sz="1750" b="0" i="0">
                <a:solidFill>
                  <a:srgbClr val="1F2328"/>
                </a:solidFill>
                <a:latin typeface="Courier New"/>
              </a:rPr>
              <a:t> </a:t>
            </a:r>
            <a:r>
              <a:rPr sz="1750" b="0" i="0">
                <a:solidFill>
                  <a:srgbClr val="1F2328"/>
                </a:solidFill>
                <a:latin typeface="Courier New"/>
              </a:rPr>
              <a:t>ascending</a:t>
            </a:r>
            <a:r>
              <a:rPr sz="1750" b="0" i="0">
                <a:solidFill>
                  <a:srgbClr val="1F2328"/>
                </a:solidFill>
                <a:latin typeface="Courier New"/>
              </a:rPr>
              <a:t>=</a:t>
            </a:r>
            <a:r>
              <a:rPr sz="1750" b="1" i="0">
                <a:solidFill>
                  <a:srgbClr val="1F2328"/>
                </a:solidFill>
                <a:latin typeface="Courier New"/>
              </a:rPr>
              <a:t>False</a:t>
            </a:r>
            <a:r>
              <a:rPr sz="1750" b="0" i="0">
                <a:solidFill>
                  <a:srgbClr val="1F2328"/>
                </a:solidFill>
                <a:latin typeface="Courier New"/>
              </a:rPr>
              <a:t>)</a:t>
            </a:r>
            <a:r>
              <a:rPr sz="1750" b="0" i="0">
                <a:solidFill>
                  <a:srgbClr val="1F2328"/>
                </a:solidFill>
                <a:latin typeface="Courier New"/>
              </a:rPr>
              <a:t>.</a:t>
            </a:r>
            <a:r>
              <a:rPr sz="1750" b="0" i="0">
                <a:solidFill>
                  <a:srgbClr val="1F2328"/>
                </a:solidFill>
                <a:latin typeface="Courier New"/>
              </a:rPr>
              <a:t>head</a:t>
            </a:r>
            <a:r>
              <a:rPr sz="1750" b="0" i="0">
                <a:solidFill>
                  <a:srgbClr val="1F2328"/>
                </a:solidFill>
                <a:latin typeface="Courier New"/>
              </a:rPr>
              <a:t>(</a:t>
            </a:r>
            <a:r>
              <a:rPr sz="1750" b="0" i="0">
                <a:solidFill>
                  <a:srgbClr val="3B4046"/>
                </a:solidFill>
                <a:latin typeface="Courier New"/>
              </a:rPr>
              <a:t>3</a:t>
            </a:r>
            <a:r>
              <a:rPr sz="1750" b="0" i="0">
                <a:solidFill>
                  <a:srgbClr val="1F2328"/>
                </a:solidFill>
                <a:latin typeface="Courier New"/>
              </a:rPr>
              <a:t>)</a:t>
            </a:r>
            <a:r>
              <a:rPr sz="1750" b="0" i="0">
                <a:solidFill>
                  <a:srgbClr val="1F2328"/>
                </a:solidFill>
                <a:latin typeface="Courier New"/>
              </a:rPr>
              <a:t>)</a:t>
            </a:r>
          </a:p>
        </p:txBody>
      </p:sp>
      <p:grpSp>
        <p:nvGrpSpPr>
          <p:cNvPr id="7" name="output"/>
          <p:cNvGrpSpPr/>
          <p:nvPr/>
        </p:nvGrpSpPr>
        <p:grpSpPr>
          <a:xfrm>
            <a:off x="685800" y="2554224"/>
            <a:ext cx="10820095" cy="950976"/>
            <a:chOff x="685800" y="2554224"/>
            <a:chExt cx="10820095" cy="950976"/>
          </a:xfrm>
        </p:grpSpPr>
        <p:sp>
          <p:nvSpPr>
            <p:cNvPr id="8" name="TextBox 7"/>
            <p:cNvSpPr txBox="1"/>
            <p:nvPr/>
          </p:nvSpPr>
          <p:spPr>
            <a:xfrm>
              <a:off x="685800" y="25542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2810256"/>
              <a:ext cx="10820095" cy="694944"/>
            </a:xfrm>
            <a:prstGeom prst="rect">
              <a:avLst/>
            </a:prstGeom>
            <a:solidFill>
              <a:srgbClr val="F5F3EF"/>
            </a:solidFill>
            <a:ln>
              <a:noFill/>
            </a:ln>
          </p:spPr>
          <p:txBody>
            <a:bodyPr rtlCol="0" anchor="ctr"/>
            <a:lstStyle/>
            <a:p>
              <a:pPr algn="ctr"/>
            </a:p>
          </p:txBody>
        </p:sp>
        <p:sp>
          <p:nvSpPr>
            <p:cNvPr id="10" name="TextBox 9"/>
            <p:cNvSpPr txBox="1"/>
            <p:nvPr/>
          </p:nvSpPr>
          <p:spPr>
            <a:xfrm>
              <a:off x="868680" y="2901696"/>
              <a:ext cx="10545775" cy="585216"/>
            </a:xfrm>
            <a:prstGeom prst="rect">
              <a:avLst/>
            </a:prstGeom>
            <a:noFill/>
          </p:spPr>
          <p:txBody>
            <a:bodyPr wrap="none" lIns="0" rIns="0" tIns="0" bIns="0">
              <a:spAutoFit/>
            </a:bodyPr>
            <a:lstStyle/>
            <a:p>
              <a:r>
                <a:rPr sz="1400" b="0" i="0">
                  <a:solidFill>
                    <a:srgbClr val="1F2328"/>
                  </a:solidFill>
                  <a:latin typeface="Courier New"/>
                </a:rPr>
                <a:t>B01 5885 283331305</a:t>
              </a:r>
            </a:p>
            <a:p>
              <a:r>
                <a:rPr sz="1400" b="0" i="0">
                  <a:solidFill>
                    <a:srgbClr val="1F2328"/>
                  </a:solidFill>
                  <a:latin typeface="Courier New"/>
                </a:rPr>
                <a:t>B02 4830 238222000</a:t>
              </a:r>
            </a:p>
            <a:p>
              <a:r>
                <a:rPr sz="1400" b="0" i="0">
                  <a:solidFill>
                    <a:srgbClr val="1F2328"/>
                  </a:solidFill>
                  <a:latin typeface="Courier New"/>
                </a:rPr>
                <a:t>B04 3562 176738325</a:t>
              </a:r>
            </a:p>
          </p:txBody>
        </p:sp>
      </p:grpSp>
      <p:grpSp>
        <p:nvGrpSpPr>
          <p:cNvPr id="11" name="says-1"/>
          <p:cNvGrpSpPr/>
          <p:nvPr/>
        </p:nvGrpSpPr>
        <p:grpSpPr>
          <a:xfrm>
            <a:off x="685800" y="3688080"/>
            <a:ext cx="10820095" cy="1353312"/>
            <a:chOff x="685800" y="3688080"/>
            <a:chExt cx="10820095" cy="1353312"/>
          </a:xfrm>
        </p:grpSpPr>
        <p:cxnSp>
          <p:nvCxnSpPr>
            <p:cNvPr id="12" name="Connector 11"/>
            <p:cNvCxnSpPr/>
            <p:nvPr/>
          </p:nvCxnSpPr>
          <p:spPr>
            <a:xfrm>
              <a:off x="685800" y="3688080"/>
              <a:ext cx="10820095" cy="0"/>
            </a:xfrm>
            <a:prstGeom prst="line">
              <a:avLst/>
            </a:prstGeom>
            <a:ln w="15875">
              <a:solidFill>
                <a:srgbClr val="1F2328"/>
              </a:solidFill>
            </a:ln>
          </p:spPr>
        </p:cxnSp>
        <p:sp>
          <p:nvSpPr>
            <p:cNvPr id="13" name="TextBox 12"/>
            <p:cNvSpPr txBox="1"/>
            <p:nvPr/>
          </p:nvSpPr>
          <p:spPr>
            <a:xfrm>
              <a:off x="685800" y="376123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3761232"/>
              <a:ext cx="10472623" cy="1280160"/>
            </a:xfrm>
            <a:prstGeom prst="rect">
              <a:avLst/>
            </a:prstGeom>
            <a:noFill/>
          </p:spPr>
          <p:txBody>
            <a:bodyPr wrap="square" lIns="0" rIns="0" tIns="18288" bIns="18288" anchor="t">
              <a:spAutoFit/>
            </a:bodyPr>
            <a:lstStyle/>
            <a:p>
              <a:pPr algn="l"/>
              <a:r>
                <a:rPr sz="1900" b="0" i="0">
                  <a:solidFill>
                    <a:srgbClr val="1F2328"/>
                  </a:solidFill>
                  <a:latin typeface="Calibri"/>
                </a:rPr>
                <a:t>groupby, then agg for two summaries. Same numbers as the SQL.</a:t>
              </a:r>
            </a:p>
          </p:txBody>
        </p:sp>
      </p:gr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HAVING filters groups, WHERE filters rows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SQL for analysts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11</a:t>
            </a:r>
          </a:p>
        </p:txBody>
      </p:sp>
      <p:sp>
        <p:nvSpPr>
          <p:cNvPr id="5" name="Rectangle 4"/>
          <p:cNvSpPr/>
          <p:nvPr/>
        </p:nvSpPr>
        <p:spPr>
          <a:xfrm>
            <a:off x="685800" y="1600200"/>
            <a:ext cx="6949440" cy="191109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636775"/>
          </a:xfrm>
          <a:prstGeom prst="rect">
            <a:avLst/>
          </a:prstGeom>
          <a:noFill/>
        </p:spPr>
        <p:txBody>
          <a:bodyPr wrap="none" lIns="0" rIns="0" tIns="0" bIns="0">
            <a:spAutoFit/>
          </a:bodyPr>
          <a:lstStyle/>
          <a:p>
            <a:r>
              <a:rPr sz="2100" b="1" i="0">
                <a:solidFill>
                  <a:srgbClr val="1F2328"/>
                </a:solidFill>
                <a:latin typeface="Courier New"/>
              </a:rPr>
              <a:t>SELECT</a:t>
            </a:r>
            <a:r>
              <a:rPr sz="2100" b="0" i="0">
                <a:solidFill>
                  <a:srgbClr val="1F2328"/>
                </a:solidFill>
                <a:latin typeface="Courier New"/>
              </a:rPr>
              <a:t> </a:t>
            </a:r>
            <a:r>
              <a:rPr sz="2100" b="0" i="0">
                <a:solidFill>
                  <a:srgbClr val="1F2328"/>
                </a:solidFill>
                <a:latin typeface="Courier New"/>
              </a:rPr>
              <a:t>branch_id</a:t>
            </a:r>
            <a:r>
              <a:rPr sz="2100" b="0" i="0">
                <a:solidFill>
                  <a:srgbClr val="1F2328"/>
                </a:solidFill>
                <a:latin typeface="Courier New"/>
              </a:rPr>
              <a:t>,</a:t>
            </a:r>
          </a:p>
          <a:p>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1" i="0">
                <a:solidFill>
                  <a:srgbClr val="1F2328"/>
                </a:solidFill>
                <a:latin typeface="Courier New"/>
              </a:rPr>
              <a:t>COUNT</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 </a:t>
            </a:r>
            <a:r>
              <a:rPr sz="2100" b="1" i="0">
                <a:solidFill>
                  <a:srgbClr val="1F2328"/>
                </a:solidFill>
                <a:latin typeface="Courier New"/>
              </a:rPr>
              <a:t>AS</a:t>
            </a:r>
            <a:r>
              <a:rPr sz="2100" b="0" i="0">
                <a:solidFill>
                  <a:srgbClr val="1F2328"/>
                </a:solidFill>
                <a:latin typeface="Courier New"/>
              </a:rPr>
              <a:t> </a:t>
            </a:r>
            <a:r>
              <a:rPr sz="2100" b="0" i="0">
                <a:solidFill>
                  <a:srgbClr val="1F2328"/>
                </a:solidFill>
                <a:latin typeface="Courier New"/>
              </a:rPr>
              <a:t>n_orders</a:t>
            </a:r>
          </a:p>
          <a:p>
            <a:r>
              <a:rPr sz="2100" b="1" i="0">
                <a:solidFill>
                  <a:srgbClr val="1F2328"/>
                </a:solidFill>
                <a:latin typeface="Courier New"/>
              </a:rPr>
              <a:t>FROM</a:t>
            </a:r>
            <a:r>
              <a:rPr sz="2100" b="0" i="0">
                <a:solidFill>
                  <a:srgbClr val="1F2328"/>
                </a:solidFill>
                <a:latin typeface="Courier New"/>
              </a:rPr>
              <a:t> </a:t>
            </a:r>
            <a:r>
              <a:rPr sz="2100" b="0" i="0">
                <a:solidFill>
                  <a:srgbClr val="1F2328"/>
                </a:solidFill>
                <a:latin typeface="Courier New"/>
              </a:rPr>
              <a:t>orders</a:t>
            </a:r>
          </a:p>
          <a:p>
            <a:r>
              <a:rPr sz="2100" b="1" i="0">
                <a:solidFill>
                  <a:srgbClr val="1F2328"/>
                </a:solidFill>
                <a:latin typeface="Courier New"/>
              </a:rPr>
              <a:t>GROUP</a:t>
            </a:r>
            <a:r>
              <a:rPr sz="2100" b="0" i="0">
                <a:solidFill>
                  <a:srgbClr val="1F2328"/>
                </a:solidFill>
                <a:latin typeface="Courier New"/>
              </a:rPr>
              <a:t> </a:t>
            </a:r>
            <a:r>
              <a:rPr sz="2100" b="1" i="0">
                <a:solidFill>
                  <a:srgbClr val="1F2328"/>
                </a:solidFill>
                <a:latin typeface="Courier New"/>
              </a:rPr>
              <a:t>BY</a:t>
            </a:r>
            <a:r>
              <a:rPr sz="2100" b="0" i="0">
                <a:solidFill>
                  <a:srgbClr val="1F2328"/>
                </a:solidFill>
                <a:latin typeface="Courier New"/>
              </a:rPr>
              <a:t> </a:t>
            </a:r>
            <a:r>
              <a:rPr sz="2100" b="0" i="0">
                <a:solidFill>
                  <a:srgbClr val="1F2328"/>
                </a:solidFill>
                <a:latin typeface="Courier New"/>
              </a:rPr>
              <a:t>branch_id</a:t>
            </a:r>
          </a:p>
          <a:p>
            <a:r>
              <a:rPr sz="2100" b="1" i="0">
                <a:solidFill>
                  <a:srgbClr val="1F2328"/>
                </a:solidFill>
                <a:latin typeface="Courier New"/>
              </a:rPr>
              <a:t>HAVING</a:t>
            </a:r>
            <a:r>
              <a:rPr sz="2100" b="0" i="0">
                <a:solidFill>
                  <a:srgbClr val="1F2328"/>
                </a:solidFill>
                <a:latin typeface="Courier New"/>
              </a:rPr>
              <a:t> </a:t>
            </a:r>
            <a:r>
              <a:rPr sz="2100" b="1" i="0">
                <a:solidFill>
                  <a:srgbClr val="1F2328"/>
                </a:solidFill>
                <a:latin typeface="Courier New"/>
              </a:rPr>
              <a:t>COUNT</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&gt;</a:t>
            </a:r>
            <a:r>
              <a:rPr sz="2100" b="0" i="0">
                <a:solidFill>
                  <a:srgbClr val="1F2328"/>
                </a:solidFill>
                <a:latin typeface="Courier New"/>
              </a:rPr>
              <a:t> </a:t>
            </a:r>
            <a:r>
              <a:rPr sz="2100" b="0" i="0">
                <a:solidFill>
                  <a:srgbClr val="3B4046"/>
                </a:solidFill>
                <a:latin typeface="Courier New"/>
              </a:rPr>
              <a:t>4000</a:t>
            </a:r>
          </a:p>
        </p:txBody>
      </p:sp>
      <p:grpSp>
        <p:nvGrpSpPr>
          <p:cNvPr id="7" name="output"/>
          <p:cNvGrpSpPr/>
          <p:nvPr/>
        </p:nvGrpSpPr>
        <p:grpSpPr>
          <a:xfrm>
            <a:off x="685800" y="3621024"/>
            <a:ext cx="6949440" cy="950976"/>
            <a:chOff x="685800" y="3621024"/>
            <a:chExt cx="6949440" cy="950976"/>
          </a:xfrm>
        </p:grpSpPr>
        <p:sp>
          <p:nvSpPr>
            <p:cNvPr id="8" name="TextBox 7"/>
            <p:cNvSpPr txBox="1"/>
            <p:nvPr/>
          </p:nvSpPr>
          <p:spPr>
            <a:xfrm>
              <a:off x="685800" y="36210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877056"/>
              <a:ext cx="6949440" cy="694944"/>
            </a:xfrm>
            <a:prstGeom prst="rect">
              <a:avLst/>
            </a:prstGeom>
            <a:solidFill>
              <a:srgbClr val="F5F3EF"/>
            </a:solidFill>
            <a:ln>
              <a:noFill/>
            </a:ln>
          </p:spPr>
          <p:txBody>
            <a:bodyPr rtlCol="0" anchor="ctr"/>
            <a:lstStyle/>
            <a:p>
              <a:pPr algn="ctr"/>
            </a:p>
          </p:txBody>
        </p:sp>
        <p:sp>
          <p:nvSpPr>
            <p:cNvPr id="10" name="TextBox 9"/>
            <p:cNvSpPr txBox="1"/>
            <p:nvPr/>
          </p:nvSpPr>
          <p:spPr>
            <a:xfrm>
              <a:off x="868680" y="3968496"/>
              <a:ext cx="6675120" cy="585216"/>
            </a:xfrm>
            <a:prstGeom prst="rect">
              <a:avLst/>
            </a:prstGeom>
            <a:noFill/>
          </p:spPr>
          <p:txBody>
            <a:bodyPr wrap="none" lIns="0" rIns="0" tIns="0" bIns="0">
              <a:spAutoFit/>
            </a:bodyPr>
            <a:lstStyle/>
            <a:p>
              <a:r>
                <a:rPr sz="1400" b="0" i="0">
                  <a:solidFill>
                    <a:srgbClr val="1F2328"/>
                  </a:solidFill>
                  <a:latin typeface="Courier New"/>
                </a:rPr>
                <a:t>branch_id n_orders</a:t>
              </a:r>
            </a:p>
            <a:p>
              <a:r>
                <a:rPr sz="1400" b="0" i="0">
                  <a:solidFill>
                    <a:srgbClr val="1F2328"/>
                  </a:solidFill>
                  <a:latin typeface="Courier New"/>
                </a:rPr>
                <a:t>B01 5885</a:t>
              </a:r>
            </a:p>
            <a:p>
              <a:r>
                <a:rPr sz="1400" b="0" i="0">
                  <a:solidFill>
                    <a:srgbClr val="1F2328"/>
                  </a:solidFill>
                  <a:latin typeface="Courier New"/>
                </a:rPr>
                <a:t>B02 4830</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Rows are grouped first. Then HAVING keeps the groups that pass.</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8"/>
            <a:chOff x="8046719" y="2971800"/>
            <a:chExt cx="3459176" cy="1207008"/>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In pandas this is a filter on the grouped table.</a:t>
              </a:r>
            </a:p>
          </p:txBody>
        </p:sp>
        <p:cxnSp>
          <p:nvCxnSpPr>
            <p:cNvPr id="19" name="Connector 18"/>
            <p:cNvCxnSpPr/>
            <p:nvPr/>
          </p:nvCxnSpPr>
          <p:spPr>
            <a:xfrm>
              <a:off x="8046719" y="4178808"/>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What happens if you put a total in WHERE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SQL for analysts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12</a:t>
            </a:r>
          </a:p>
        </p:txBody>
      </p:sp>
      <p:sp>
        <p:nvSpPr>
          <p:cNvPr id="5" name="Rectangle 4"/>
          <p:cNvSpPr/>
          <p:nvPr/>
        </p:nvSpPr>
        <p:spPr>
          <a:xfrm>
            <a:off x="685800" y="1600200"/>
            <a:ext cx="6949440" cy="191109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636775"/>
          </a:xfrm>
          <a:prstGeom prst="rect">
            <a:avLst/>
          </a:prstGeom>
          <a:noFill/>
        </p:spPr>
        <p:txBody>
          <a:bodyPr wrap="none" lIns="0" rIns="0" tIns="0" bIns="0">
            <a:spAutoFit/>
          </a:bodyPr>
          <a:lstStyle/>
          <a:p>
            <a:r>
              <a:rPr sz="2100" b="0" i="0">
                <a:solidFill>
                  <a:srgbClr val="1F2328"/>
                </a:solidFill>
                <a:latin typeface="Courier New"/>
              </a:rPr>
              <a:t>q</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B04A2B"/>
                </a:solidFill>
                <a:latin typeface="Courier New"/>
              </a:rPr>
              <a:t>""</a:t>
            </a:r>
            <a:r>
              <a:rPr sz="2100" b="0" i="0">
                <a:solidFill>
                  <a:srgbClr val="B04A2B"/>
                </a:solidFill>
                <a:latin typeface="Courier New"/>
              </a:rPr>
              <a:t>"SELECT branch_id, COUNT(*) AS n</a:t>
            </a:r>
          </a:p>
          <a:p>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FROM</a:t>
            </a:r>
            <a:r>
              <a:rPr sz="2100" b="0" i="0">
                <a:solidFill>
                  <a:srgbClr val="1F2328"/>
                </a:solidFill>
                <a:latin typeface="Courier New"/>
              </a:rPr>
              <a:t> </a:t>
            </a:r>
            <a:r>
              <a:rPr sz="2100" b="0" i="0">
                <a:solidFill>
                  <a:srgbClr val="1F2328"/>
                </a:solidFill>
                <a:latin typeface="Courier New"/>
              </a:rPr>
              <a:t>orders</a:t>
            </a:r>
          </a:p>
          <a:p>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WHERE</a:t>
            </a:r>
            <a:r>
              <a:rPr sz="2100" b="0" i="0">
                <a:solidFill>
                  <a:srgbClr val="1F2328"/>
                </a:solidFill>
                <a:latin typeface="Courier New"/>
              </a:rPr>
              <a:t> </a:t>
            </a:r>
            <a:r>
              <a:rPr sz="2100" b="0" i="0">
                <a:solidFill>
                  <a:srgbClr val="1F2328"/>
                </a:solidFill>
                <a:latin typeface="Courier New"/>
              </a:rPr>
              <a:t>COUNT</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&gt;</a:t>
            </a:r>
            <a:r>
              <a:rPr sz="2100" b="0" i="0">
                <a:solidFill>
                  <a:srgbClr val="1F2328"/>
                </a:solidFill>
                <a:latin typeface="Courier New"/>
              </a:rPr>
              <a:t> </a:t>
            </a:r>
            <a:r>
              <a:rPr sz="2100" b="0" i="0">
                <a:solidFill>
                  <a:srgbClr val="3B4046"/>
                </a:solidFill>
                <a:latin typeface="Courier New"/>
              </a:rPr>
              <a:t>4000</a:t>
            </a:r>
          </a:p>
          <a:p>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GROUP</a:t>
            </a:r>
            <a:r>
              <a:rPr sz="2100" b="0" i="0">
                <a:solidFill>
                  <a:srgbClr val="1F2328"/>
                </a:solidFill>
                <a:latin typeface="Courier New"/>
              </a:rPr>
              <a:t> </a:t>
            </a:r>
            <a:r>
              <a:rPr sz="2100" b="0" i="0">
                <a:solidFill>
                  <a:srgbClr val="1F2328"/>
                </a:solidFill>
                <a:latin typeface="Courier New"/>
              </a:rPr>
              <a:t>BY</a:t>
            </a:r>
            <a:r>
              <a:rPr sz="2100" b="0" i="0">
                <a:solidFill>
                  <a:srgbClr val="1F2328"/>
                </a:solidFill>
                <a:latin typeface="Courier New"/>
              </a:rPr>
              <a:t> </a:t>
            </a:r>
            <a:r>
              <a:rPr sz="2100" b="0" i="0">
                <a:solidFill>
                  <a:srgbClr val="1F2328"/>
                </a:solidFill>
                <a:latin typeface="Courier New"/>
              </a:rPr>
              <a:t>branch_id</a:t>
            </a:r>
            <a:r>
              <a:rPr sz="2100" b="0" i="0">
                <a:solidFill>
                  <a:srgbClr val="B04A2B"/>
                </a:solidFill>
                <a:latin typeface="Courier New"/>
              </a:rPr>
              <a:t>""</a:t>
            </a:r>
            <a:r>
              <a:rPr sz="2100" b="0" i="0">
                <a:solidFill>
                  <a:srgbClr val="B04A2B"/>
                </a:solidFill>
                <a:latin typeface="Courier New"/>
              </a:rPr>
              <a:t>"</a:t>
            </a:r>
          </a:p>
          <a:p>
            <a:r>
              <a:rPr sz="2100" b="0" i="0">
                <a:solidFill>
                  <a:srgbClr val="1F2328"/>
                </a:solidFill>
                <a:latin typeface="Courier New"/>
              </a:rPr>
              <a:t>pd</a:t>
            </a:r>
            <a:r>
              <a:rPr sz="2100" b="0" i="0">
                <a:solidFill>
                  <a:srgbClr val="1F2328"/>
                </a:solidFill>
                <a:latin typeface="Courier New"/>
              </a:rPr>
              <a:t>.</a:t>
            </a:r>
            <a:r>
              <a:rPr sz="2100" b="0" i="0">
                <a:solidFill>
                  <a:srgbClr val="1F2328"/>
                </a:solidFill>
                <a:latin typeface="Courier New"/>
              </a:rPr>
              <a:t>read_sql_query</a:t>
            </a:r>
            <a:r>
              <a:rPr sz="2100" b="0" i="0">
                <a:solidFill>
                  <a:srgbClr val="1F2328"/>
                </a:solidFill>
                <a:latin typeface="Courier New"/>
              </a:rPr>
              <a:t>(</a:t>
            </a:r>
            <a:r>
              <a:rPr sz="2100" b="0" i="0">
                <a:solidFill>
                  <a:srgbClr val="1F2328"/>
                </a:solidFill>
                <a:latin typeface="Courier New"/>
              </a:rPr>
              <a:t>q</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con</a:t>
            </a:r>
            <a:r>
              <a:rPr sz="2100" b="0" i="0">
                <a:solidFill>
                  <a:srgbClr val="1F2328"/>
                </a:solidFill>
                <a:latin typeface="Courier New"/>
              </a:rPr>
              <a:t>)</a:t>
            </a:r>
          </a:p>
        </p:txBody>
      </p:sp>
      <p:grpSp>
        <p:nvGrpSpPr>
          <p:cNvPr id="7" name="output"/>
          <p:cNvGrpSpPr/>
          <p:nvPr/>
        </p:nvGrpSpPr>
        <p:grpSpPr>
          <a:xfrm>
            <a:off x="685800" y="3621024"/>
            <a:ext cx="6949440" cy="524256"/>
            <a:chOff x="685800" y="3621024"/>
            <a:chExt cx="6949440" cy="524256"/>
          </a:xfrm>
        </p:grpSpPr>
        <p:sp>
          <p:nvSpPr>
            <p:cNvPr id="8" name="TextBox 7"/>
            <p:cNvSpPr txBox="1"/>
            <p:nvPr/>
          </p:nvSpPr>
          <p:spPr>
            <a:xfrm>
              <a:off x="685800" y="36210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877056"/>
              <a:ext cx="6949440" cy="268224"/>
            </a:xfrm>
            <a:prstGeom prst="rect">
              <a:avLst/>
            </a:prstGeom>
            <a:solidFill>
              <a:srgbClr val="F5F3EF"/>
            </a:solidFill>
            <a:ln>
              <a:noFill/>
            </a:ln>
          </p:spPr>
          <p:txBody>
            <a:bodyPr rtlCol="0" anchor="ctr"/>
            <a:lstStyle/>
            <a:p>
              <a:pPr algn="ctr"/>
            </a:p>
          </p:txBody>
        </p:sp>
        <p:sp>
          <p:nvSpPr>
            <p:cNvPr id="10" name="TextBox 9"/>
            <p:cNvSpPr txBox="1"/>
            <p:nvPr/>
          </p:nvSpPr>
          <p:spPr>
            <a:xfrm>
              <a:off x="868680" y="3968496"/>
              <a:ext cx="6675120" cy="158496"/>
            </a:xfrm>
            <a:prstGeom prst="rect">
              <a:avLst/>
            </a:prstGeom>
            <a:noFill/>
          </p:spPr>
          <p:txBody>
            <a:bodyPr wrap="none" lIns="0" rIns="0" tIns="0" bIns="0">
              <a:spAutoFit/>
            </a:bodyPr>
            <a:lstStyle/>
            <a:p>
              <a:r>
                <a:rPr sz="1400" b="0" i="0">
                  <a:solidFill>
                    <a:srgbClr val="1F2328"/>
                  </a:solidFill>
                  <a:latin typeface="Courier New"/>
                </a:rPr>
                <a:t>misuse of aggregate: COUNT()</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The database reads WHERE before any group exists.</a:t>
              </a:r>
            </a:p>
          </p:txBody>
        </p:sp>
        <p:cxnSp>
          <p:nvCxnSpPr>
            <p:cNvPr id="15" name="Connector 14"/>
            <p:cNvCxnSpPr/>
            <p:nvPr/>
          </p:nvCxnSpPr>
          <p:spPr>
            <a:xfrm>
              <a:off x="8046719" y="2898648"/>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2950" b="1" i="0">
                <a:solidFill>
                  <a:srgbClr val="1F2328"/>
                </a:solidFill>
                <a:latin typeface="Cambria"/>
              </a:rPr>
              <a:t>You write SQL in one order and the database runs it in another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SQL for analysts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13</a:t>
            </a:r>
          </a:p>
        </p:txBody>
      </p:sp>
      <p:pic>
        <p:nvPicPr>
          <p:cNvPr id="5" name="figure-sql_order" descr="Two lists side by side: the written order of SQL clauses and the order the database actually runs them."/>
          <p:cNvPicPr>
            <a:picLocks noChangeAspect="1"/>
          </p:cNvPicPr>
          <p:nvPr/>
        </p:nvPicPr>
        <p:blipFill>
          <a:blip r:embed="rId3"/>
          <a:stretch>
            <a:fillRect/>
          </a:stretch>
        </p:blipFill>
        <p:spPr>
          <a:xfrm>
            <a:off x="685800" y="1600200"/>
            <a:ext cx="6527164"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FROM runs first. The database finds the table.</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WHERE filters rows, then GROUP BY and HAVING work on groups.</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SELECT runs fifth, so WHERE cannot see an alias.</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Written: SELECT, FROM, WHERE, GROUP BY, HAVING, ORDER BY. Run: FROM, WHERE, GROUP BY, HAVING, SELECT, ORDER BY.</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join keeps different rows depending on its type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SQL for analysts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14</a:t>
            </a:r>
          </a:p>
        </p:txBody>
      </p:sp>
      <p:pic>
        <p:nvPicPr>
          <p:cNvPr id="5" name="figure-join_types" descr="Four small Venn diagrams for inner, left, right and outer joins with the kept area shaded."/>
          <p:cNvPicPr>
            <a:picLocks noChangeAspect="1"/>
          </p:cNvPicPr>
          <p:nvPr/>
        </p:nvPicPr>
        <p:blipFill>
          <a:blip r:embed="rId3"/>
          <a:stretch>
            <a:fillRect/>
          </a:stretch>
        </p:blipFill>
        <p:spPr>
          <a:xfrm>
            <a:off x="685800" y="1600200"/>
            <a:ext cx="7040880" cy="2176272"/>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Inner keeps only the rows that match on both sides.</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Left keeps every row of table A, matched or not.</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1950" b="0" i="0">
                  <a:solidFill>
                    <a:srgbClr val="1F2328"/>
                  </a:solidFill>
                  <a:latin typeface="Calibri"/>
                </a:rPr>
                <a:t>Right and full outer exist too. Swap the tables and a left join does the job of a right join.</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Excel twin: VLOOKUP shows #N/A for no match. A left join keeps the row. An inner join drops it.</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INNER JOIN adds the branch name to every order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SQL for analysts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15</a:t>
            </a:r>
          </a:p>
        </p:txBody>
      </p:sp>
      <p:sp>
        <p:nvSpPr>
          <p:cNvPr id="5" name="Rectangle 4"/>
          <p:cNvSpPr/>
          <p:nvPr/>
        </p:nvSpPr>
        <p:spPr>
          <a:xfrm>
            <a:off x="685800" y="1600200"/>
            <a:ext cx="6949440" cy="287121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2596896"/>
          </a:xfrm>
          <a:prstGeom prst="rect">
            <a:avLst/>
          </a:prstGeom>
          <a:noFill/>
        </p:spPr>
        <p:txBody>
          <a:bodyPr wrap="none" lIns="0" rIns="0" tIns="0" bIns="0">
            <a:spAutoFit/>
          </a:bodyPr>
          <a:lstStyle/>
          <a:p>
            <a:r>
              <a:rPr sz="2100" b="1" i="0">
                <a:solidFill>
                  <a:srgbClr val="1F2328"/>
                </a:solidFill>
                <a:latin typeface="Courier New"/>
              </a:rPr>
              <a:t>SELECT</a:t>
            </a:r>
            <a:r>
              <a:rPr sz="2100" b="0" i="0">
                <a:solidFill>
                  <a:srgbClr val="1F2328"/>
                </a:solidFill>
                <a:latin typeface="Courier New"/>
              </a:rPr>
              <a:t> </a:t>
            </a:r>
            <a:r>
              <a:rPr sz="2100" b="0" i="0">
                <a:solidFill>
                  <a:srgbClr val="1F2328"/>
                </a:solidFill>
                <a:latin typeface="Courier New"/>
              </a:rPr>
              <a:t>b</a:t>
            </a:r>
            <a:r>
              <a:rPr sz="2100" b="0" i="0">
                <a:solidFill>
                  <a:srgbClr val="1F2328"/>
                </a:solidFill>
                <a:latin typeface="Courier New"/>
              </a:rPr>
              <a:t>.</a:t>
            </a:r>
            <a:r>
              <a:rPr sz="2100" b="0" i="0">
                <a:solidFill>
                  <a:srgbClr val="1F2328"/>
                </a:solidFill>
                <a:latin typeface="Courier New"/>
              </a:rPr>
              <a:t>branch_name</a:t>
            </a:r>
            <a:r>
              <a:rPr sz="2100" b="0" i="0">
                <a:solidFill>
                  <a:srgbClr val="1F2328"/>
                </a:solidFill>
                <a:latin typeface="Courier New"/>
              </a:rPr>
              <a:t>,</a:t>
            </a:r>
          </a:p>
          <a:p>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1" i="0">
                <a:solidFill>
                  <a:srgbClr val="1F2328"/>
                </a:solidFill>
                <a:latin typeface="Courier New"/>
              </a:rPr>
              <a:t>COUNT</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 </a:t>
            </a:r>
            <a:r>
              <a:rPr sz="2100" b="1" i="0">
                <a:solidFill>
                  <a:srgbClr val="1F2328"/>
                </a:solidFill>
                <a:latin typeface="Courier New"/>
              </a:rPr>
              <a:t>AS</a:t>
            </a:r>
            <a:r>
              <a:rPr sz="2100" b="0" i="0">
                <a:solidFill>
                  <a:srgbClr val="1F2328"/>
                </a:solidFill>
                <a:latin typeface="Courier New"/>
              </a:rPr>
              <a:t> </a:t>
            </a:r>
            <a:r>
              <a:rPr sz="2100" b="0" i="0">
                <a:solidFill>
                  <a:srgbClr val="1F2328"/>
                </a:solidFill>
                <a:latin typeface="Courier New"/>
              </a:rPr>
              <a:t>n_orders</a:t>
            </a:r>
            <a:r>
              <a:rPr sz="2100" b="0" i="0">
                <a:solidFill>
                  <a:srgbClr val="1F2328"/>
                </a:solidFill>
                <a:latin typeface="Courier New"/>
              </a:rPr>
              <a:t>,</a:t>
            </a:r>
          </a:p>
          <a:p>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1" i="0">
                <a:solidFill>
                  <a:srgbClr val="1F2328"/>
                </a:solidFill>
                <a:latin typeface="Courier New"/>
              </a:rPr>
              <a:t>SUM</a:t>
            </a:r>
            <a:r>
              <a:rPr sz="2100" b="0" i="0">
                <a:solidFill>
                  <a:srgbClr val="1F2328"/>
                </a:solidFill>
                <a:latin typeface="Courier New"/>
              </a:rPr>
              <a:t>(</a:t>
            </a:r>
            <a:r>
              <a:rPr sz="2100" b="0" i="0">
                <a:solidFill>
                  <a:srgbClr val="1F2328"/>
                </a:solidFill>
                <a:latin typeface="Courier New"/>
              </a:rPr>
              <a:t>o</a:t>
            </a:r>
            <a:r>
              <a:rPr sz="2100" b="0" i="0">
                <a:solidFill>
                  <a:srgbClr val="1F2328"/>
                </a:solidFill>
                <a:latin typeface="Courier New"/>
              </a:rPr>
              <a:t>.</a:t>
            </a:r>
            <a:r>
              <a:rPr sz="2100" b="0" i="0">
                <a:solidFill>
                  <a:srgbClr val="1F2328"/>
                </a:solidFill>
                <a:latin typeface="Courier New"/>
              </a:rPr>
              <a:t>order_value_ugx</a:t>
            </a:r>
            <a:r>
              <a:rPr sz="2100" b="0" i="0">
                <a:solidFill>
                  <a:srgbClr val="1F2328"/>
                </a:solidFill>
                <a:latin typeface="Courier New"/>
              </a:rPr>
              <a:t>)</a:t>
            </a:r>
            <a:r>
              <a:rPr sz="2100" b="0" i="0">
                <a:solidFill>
                  <a:srgbClr val="1F2328"/>
                </a:solidFill>
                <a:latin typeface="Courier New"/>
              </a:rPr>
              <a:t> </a:t>
            </a:r>
            <a:r>
              <a:rPr sz="2100" b="1" i="0">
                <a:solidFill>
                  <a:srgbClr val="1F2328"/>
                </a:solidFill>
                <a:latin typeface="Courier New"/>
              </a:rPr>
              <a:t>AS</a:t>
            </a:r>
            <a:r>
              <a:rPr sz="2100" b="0" i="0">
                <a:solidFill>
                  <a:srgbClr val="1F2328"/>
                </a:solidFill>
                <a:latin typeface="Courier New"/>
              </a:rPr>
              <a:t> </a:t>
            </a:r>
            <a:r>
              <a:rPr sz="2100" b="0" i="0">
                <a:solidFill>
                  <a:srgbClr val="1F2328"/>
                </a:solidFill>
                <a:latin typeface="Courier New"/>
              </a:rPr>
              <a:t>revenue</a:t>
            </a:r>
          </a:p>
          <a:p>
            <a:r>
              <a:rPr sz="2100" b="1" i="0">
                <a:solidFill>
                  <a:srgbClr val="1F2328"/>
                </a:solidFill>
                <a:latin typeface="Courier New"/>
              </a:rPr>
              <a:t>FROM</a:t>
            </a:r>
            <a:r>
              <a:rPr sz="2100" b="0" i="0">
                <a:solidFill>
                  <a:srgbClr val="1F2328"/>
                </a:solidFill>
                <a:latin typeface="Courier New"/>
              </a:rPr>
              <a:t> </a:t>
            </a:r>
            <a:r>
              <a:rPr sz="2100" b="0" i="0">
                <a:solidFill>
                  <a:srgbClr val="1F2328"/>
                </a:solidFill>
                <a:latin typeface="Courier New"/>
              </a:rPr>
              <a:t>orders</a:t>
            </a:r>
            <a:r>
              <a:rPr sz="2100" b="0" i="0">
                <a:solidFill>
                  <a:srgbClr val="1F2328"/>
                </a:solidFill>
                <a:latin typeface="Courier New"/>
              </a:rPr>
              <a:t> </a:t>
            </a:r>
            <a:r>
              <a:rPr sz="2100" b="1" i="0">
                <a:solidFill>
                  <a:srgbClr val="1F2328"/>
                </a:solidFill>
                <a:latin typeface="Courier New"/>
              </a:rPr>
              <a:t>AS</a:t>
            </a:r>
            <a:r>
              <a:rPr sz="2100" b="0" i="0">
                <a:solidFill>
                  <a:srgbClr val="1F2328"/>
                </a:solidFill>
                <a:latin typeface="Courier New"/>
              </a:rPr>
              <a:t> </a:t>
            </a:r>
            <a:r>
              <a:rPr sz="2100" b="0" i="0">
                <a:solidFill>
                  <a:srgbClr val="1F2328"/>
                </a:solidFill>
                <a:latin typeface="Courier New"/>
              </a:rPr>
              <a:t>o</a:t>
            </a:r>
          </a:p>
          <a:p>
            <a:r>
              <a:rPr sz="2100" b="1" i="0">
                <a:solidFill>
                  <a:srgbClr val="1F2328"/>
                </a:solidFill>
                <a:latin typeface="Courier New"/>
              </a:rPr>
              <a:t>INNER</a:t>
            </a:r>
            <a:r>
              <a:rPr sz="2100" b="0" i="0">
                <a:solidFill>
                  <a:srgbClr val="1F2328"/>
                </a:solidFill>
                <a:latin typeface="Courier New"/>
              </a:rPr>
              <a:t> </a:t>
            </a:r>
            <a:r>
              <a:rPr sz="2100" b="1" i="0">
                <a:solidFill>
                  <a:srgbClr val="1F2328"/>
                </a:solidFill>
                <a:latin typeface="Courier New"/>
              </a:rPr>
              <a:t>JOIN</a:t>
            </a:r>
            <a:r>
              <a:rPr sz="2100" b="0" i="0">
                <a:solidFill>
                  <a:srgbClr val="1F2328"/>
                </a:solidFill>
                <a:latin typeface="Courier New"/>
              </a:rPr>
              <a:t> </a:t>
            </a:r>
            <a:r>
              <a:rPr sz="2100" b="0" i="0">
                <a:solidFill>
                  <a:srgbClr val="1F2328"/>
                </a:solidFill>
                <a:latin typeface="Courier New"/>
              </a:rPr>
              <a:t>branches</a:t>
            </a:r>
            <a:r>
              <a:rPr sz="2100" b="0" i="0">
                <a:solidFill>
                  <a:srgbClr val="1F2328"/>
                </a:solidFill>
                <a:latin typeface="Courier New"/>
              </a:rPr>
              <a:t> </a:t>
            </a:r>
            <a:r>
              <a:rPr sz="2100" b="1" i="0">
                <a:solidFill>
                  <a:srgbClr val="1F2328"/>
                </a:solidFill>
                <a:latin typeface="Courier New"/>
              </a:rPr>
              <a:t>AS</a:t>
            </a:r>
            <a:r>
              <a:rPr sz="2100" b="0" i="0">
                <a:solidFill>
                  <a:srgbClr val="1F2328"/>
                </a:solidFill>
                <a:latin typeface="Courier New"/>
              </a:rPr>
              <a:t> </a:t>
            </a:r>
            <a:r>
              <a:rPr sz="2100" b="0" i="0">
                <a:solidFill>
                  <a:srgbClr val="1F2328"/>
                </a:solidFill>
                <a:latin typeface="Courier New"/>
              </a:rPr>
              <a:t>b</a:t>
            </a:r>
          </a:p>
          <a:p>
            <a:r>
              <a:rPr sz="2100" b="0" i="0">
                <a:solidFill>
                  <a:srgbClr val="1F2328"/>
                </a:solidFill>
                <a:latin typeface="Courier New"/>
              </a:rPr>
              <a:t> </a:t>
            </a:r>
            <a:r>
              <a:rPr sz="2100" b="0" i="0">
                <a:solidFill>
                  <a:srgbClr val="1F2328"/>
                </a:solidFill>
                <a:latin typeface="Courier New"/>
              </a:rPr>
              <a:t> </a:t>
            </a:r>
            <a:r>
              <a:rPr sz="2100" b="1" i="0">
                <a:solidFill>
                  <a:srgbClr val="1F2328"/>
                </a:solidFill>
                <a:latin typeface="Courier New"/>
              </a:rPr>
              <a:t>ON</a:t>
            </a:r>
            <a:r>
              <a:rPr sz="2100" b="0" i="0">
                <a:solidFill>
                  <a:srgbClr val="1F2328"/>
                </a:solidFill>
                <a:latin typeface="Courier New"/>
              </a:rPr>
              <a:t> </a:t>
            </a:r>
            <a:r>
              <a:rPr sz="2100" b="0" i="0">
                <a:solidFill>
                  <a:srgbClr val="1F2328"/>
                </a:solidFill>
                <a:latin typeface="Courier New"/>
              </a:rPr>
              <a:t>o</a:t>
            </a:r>
            <a:r>
              <a:rPr sz="2100" b="0" i="0">
                <a:solidFill>
                  <a:srgbClr val="1F2328"/>
                </a:solidFill>
                <a:latin typeface="Courier New"/>
              </a:rPr>
              <a:t>.</a:t>
            </a:r>
            <a:r>
              <a:rPr sz="2100" b="0" i="0">
                <a:solidFill>
                  <a:srgbClr val="1F2328"/>
                </a:solidFill>
                <a:latin typeface="Courier New"/>
              </a:rPr>
              <a:t>branch_id</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b</a:t>
            </a:r>
            <a:r>
              <a:rPr sz="2100" b="0" i="0">
                <a:solidFill>
                  <a:srgbClr val="1F2328"/>
                </a:solidFill>
                <a:latin typeface="Courier New"/>
              </a:rPr>
              <a:t>.</a:t>
            </a:r>
            <a:r>
              <a:rPr sz="2100" b="0" i="0">
                <a:solidFill>
                  <a:srgbClr val="1F2328"/>
                </a:solidFill>
                <a:latin typeface="Courier New"/>
              </a:rPr>
              <a:t>branch_id</a:t>
            </a:r>
          </a:p>
          <a:p>
            <a:r>
              <a:rPr sz="2100" b="1" i="0">
                <a:solidFill>
                  <a:srgbClr val="1F2328"/>
                </a:solidFill>
                <a:latin typeface="Courier New"/>
              </a:rPr>
              <a:t>GROUP</a:t>
            </a:r>
            <a:r>
              <a:rPr sz="2100" b="0" i="0">
                <a:solidFill>
                  <a:srgbClr val="1F2328"/>
                </a:solidFill>
                <a:latin typeface="Courier New"/>
              </a:rPr>
              <a:t> </a:t>
            </a:r>
            <a:r>
              <a:rPr sz="2100" b="1" i="0">
                <a:solidFill>
                  <a:srgbClr val="1F2328"/>
                </a:solidFill>
                <a:latin typeface="Courier New"/>
              </a:rPr>
              <a:t>BY</a:t>
            </a:r>
            <a:r>
              <a:rPr sz="2100" b="0" i="0">
                <a:solidFill>
                  <a:srgbClr val="1F2328"/>
                </a:solidFill>
                <a:latin typeface="Courier New"/>
              </a:rPr>
              <a:t> </a:t>
            </a:r>
            <a:r>
              <a:rPr sz="2100" b="0" i="0">
                <a:solidFill>
                  <a:srgbClr val="1F2328"/>
                </a:solidFill>
                <a:latin typeface="Courier New"/>
              </a:rPr>
              <a:t>b</a:t>
            </a:r>
            <a:r>
              <a:rPr sz="2100" b="0" i="0">
                <a:solidFill>
                  <a:srgbClr val="1F2328"/>
                </a:solidFill>
                <a:latin typeface="Courier New"/>
              </a:rPr>
              <a:t>.</a:t>
            </a:r>
            <a:r>
              <a:rPr sz="2100" b="0" i="0">
                <a:solidFill>
                  <a:srgbClr val="1F2328"/>
                </a:solidFill>
                <a:latin typeface="Courier New"/>
              </a:rPr>
              <a:t>branch_name</a:t>
            </a:r>
          </a:p>
          <a:p>
            <a:r>
              <a:rPr sz="2100" b="1" i="0">
                <a:solidFill>
                  <a:srgbClr val="1F2328"/>
                </a:solidFill>
                <a:latin typeface="Courier New"/>
              </a:rPr>
              <a:t>ORDER</a:t>
            </a:r>
            <a:r>
              <a:rPr sz="2100" b="0" i="0">
                <a:solidFill>
                  <a:srgbClr val="1F2328"/>
                </a:solidFill>
                <a:latin typeface="Courier New"/>
              </a:rPr>
              <a:t> </a:t>
            </a:r>
            <a:r>
              <a:rPr sz="2100" b="1" i="0">
                <a:solidFill>
                  <a:srgbClr val="1F2328"/>
                </a:solidFill>
                <a:latin typeface="Courier New"/>
              </a:rPr>
              <a:t>BY</a:t>
            </a:r>
            <a:r>
              <a:rPr sz="2100" b="0" i="0">
                <a:solidFill>
                  <a:srgbClr val="1F2328"/>
                </a:solidFill>
                <a:latin typeface="Courier New"/>
              </a:rPr>
              <a:t> </a:t>
            </a:r>
            <a:r>
              <a:rPr sz="2100" b="0" i="0">
                <a:solidFill>
                  <a:srgbClr val="1F2328"/>
                </a:solidFill>
                <a:latin typeface="Courier New"/>
              </a:rPr>
              <a:t>revenue</a:t>
            </a:r>
            <a:r>
              <a:rPr sz="2100" b="0" i="0">
                <a:solidFill>
                  <a:srgbClr val="1F2328"/>
                </a:solidFill>
                <a:latin typeface="Courier New"/>
              </a:rPr>
              <a:t> </a:t>
            </a:r>
            <a:r>
              <a:rPr sz="2100" b="1" i="0">
                <a:solidFill>
                  <a:srgbClr val="1F2328"/>
                </a:solidFill>
                <a:latin typeface="Courier New"/>
              </a:rPr>
              <a:t>DESC</a:t>
            </a:r>
          </a:p>
        </p:txBody>
      </p:sp>
      <p:grpSp>
        <p:nvGrpSpPr>
          <p:cNvPr id="7" name="output"/>
          <p:cNvGrpSpPr/>
          <p:nvPr/>
        </p:nvGrpSpPr>
        <p:grpSpPr>
          <a:xfrm>
            <a:off x="685800" y="4581144"/>
            <a:ext cx="6949440" cy="1164336"/>
            <a:chOff x="685800" y="4581144"/>
            <a:chExt cx="6949440" cy="1164336"/>
          </a:xfrm>
        </p:grpSpPr>
        <p:sp>
          <p:nvSpPr>
            <p:cNvPr id="8" name="TextBox 7"/>
            <p:cNvSpPr txBox="1"/>
            <p:nvPr/>
          </p:nvSpPr>
          <p:spPr>
            <a:xfrm>
              <a:off x="685800" y="458114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837176"/>
              <a:ext cx="6949440" cy="908304"/>
            </a:xfrm>
            <a:prstGeom prst="rect">
              <a:avLst/>
            </a:prstGeom>
            <a:solidFill>
              <a:srgbClr val="F5F3EF"/>
            </a:solidFill>
            <a:ln>
              <a:noFill/>
            </a:ln>
          </p:spPr>
          <p:txBody>
            <a:bodyPr rtlCol="0" anchor="ctr"/>
            <a:lstStyle/>
            <a:p>
              <a:pPr algn="ctr"/>
            </a:p>
          </p:txBody>
        </p:sp>
        <p:sp>
          <p:nvSpPr>
            <p:cNvPr id="10" name="TextBox 9"/>
            <p:cNvSpPr txBox="1"/>
            <p:nvPr/>
          </p:nvSpPr>
          <p:spPr>
            <a:xfrm>
              <a:off x="868680" y="4928616"/>
              <a:ext cx="6675120" cy="798576"/>
            </a:xfrm>
            <a:prstGeom prst="rect">
              <a:avLst/>
            </a:prstGeom>
            <a:noFill/>
          </p:spPr>
          <p:txBody>
            <a:bodyPr wrap="none" lIns="0" rIns="0" tIns="0" bIns="0">
              <a:spAutoFit/>
            </a:bodyPr>
            <a:lstStyle/>
            <a:p>
              <a:r>
                <a:rPr sz="1400" b="0" i="0">
                  <a:solidFill>
                    <a:srgbClr val="1F2328"/>
                  </a:solidFill>
                  <a:latin typeface="Courier New"/>
                </a:rPr>
                <a:t>branch_name n_orders revenue</a:t>
              </a:r>
            </a:p>
            <a:p>
              <a:r>
                <a:rPr sz="1400" b="0" i="0">
                  <a:solidFill>
                    <a:srgbClr val="1F2328"/>
                  </a:solidFill>
                  <a:latin typeface="Courier New"/>
                </a:rPr>
                <a:t>Kampala Central 5885 283331305</a:t>
              </a:r>
            </a:p>
            <a:p>
              <a:r>
                <a:rPr sz="1400" b="0" i="0">
                  <a:solidFill>
                    <a:srgbClr val="1F2328"/>
                  </a:solidFill>
                  <a:latin typeface="Courier New"/>
                </a:rPr>
                <a:t>Kampala Ntinda 4830 238222000</a:t>
              </a:r>
            </a:p>
            <a:p>
              <a:r>
                <a:rPr sz="1400" b="0" i="0">
                  <a:solidFill>
                    <a:srgbClr val="1F2328"/>
                  </a:solidFill>
                  <a:latin typeface="Courier New"/>
                </a:rPr>
                <a:t>Jinja 3562 176738325</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o and b are short aliases for the two tables.</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ON says which columns must match.</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Same numbers as before, now with names instead of codes.</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NULL</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SQL for analysts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16</a:t>
            </a:r>
          </a:p>
        </p:txBody>
      </p:sp>
      <p:sp>
        <p:nvSpPr>
          <p:cNvPr id="5" name="TextBox 4"/>
          <p:cNvSpPr txBox="1"/>
          <p:nvPr/>
        </p:nvSpPr>
        <p:spPr>
          <a:xfrm>
            <a:off x="685800" y="1600200"/>
            <a:ext cx="9875520" cy="1828800"/>
          </a:xfrm>
          <a:prstGeom prst="rect">
            <a:avLst/>
          </a:prstGeom>
          <a:noFill/>
        </p:spPr>
        <p:txBody>
          <a:bodyPr wrap="square" lIns="0" rIns="0" tIns="18288" bIns="18288" anchor="t">
            <a:spAutoFit/>
          </a:bodyPr>
          <a:lstStyle/>
          <a:p>
            <a:pPr algn="l"/>
            <a:r>
              <a:rPr sz="3200" b="0" i="0">
                <a:solidFill>
                  <a:srgbClr val="1F2328"/>
                </a:solidFill>
                <a:latin typeface="Cambria"/>
              </a:rPr>
              <a:t>The value SQL uses for an empty cell. NULL means unknown, and it equals nothing, even another NULL.</a:t>
            </a:r>
          </a:p>
        </p:txBody>
      </p:sp>
      <p:cxnSp>
        <p:nvCxnSpPr>
          <p:cNvPr id="6" name="Connector 5"/>
          <p:cNvCxnSpPr/>
          <p:nvPr/>
        </p:nvCxnSpPr>
        <p:spPr>
          <a:xfrm>
            <a:off x="6095847" y="2998622"/>
            <a:ext cx="0" cy="3219298"/>
          </a:xfrm>
          <a:prstGeom prst="line">
            <a:avLst/>
          </a:prstGeom>
          <a:ln w="9525">
            <a:solidFill>
              <a:srgbClr val="C9C5BC"/>
            </a:solidFill>
          </a:ln>
        </p:spPr>
      </p:cxnSp>
      <p:cxnSp>
        <p:nvCxnSpPr>
          <p:cNvPr id="7" name="Connector 6"/>
          <p:cNvCxnSpPr/>
          <p:nvPr/>
        </p:nvCxnSpPr>
        <p:spPr>
          <a:xfrm>
            <a:off x="685800" y="2998622"/>
            <a:ext cx="5044287" cy="0"/>
          </a:xfrm>
          <a:prstGeom prst="line">
            <a:avLst/>
          </a:prstGeom>
          <a:ln w="15875">
            <a:solidFill>
              <a:srgbClr val="1F2328"/>
            </a:solidFill>
          </a:ln>
        </p:spPr>
      </p:cxnSp>
      <p:sp>
        <p:nvSpPr>
          <p:cNvPr id="8" name="TextBox 7"/>
          <p:cNvSpPr txBox="1"/>
          <p:nvPr/>
        </p:nvSpPr>
        <p:spPr>
          <a:xfrm>
            <a:off x="685800" y="3090062"/>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In our data</a:t>
            </a:r>
          </a:p>
        </p:txBody>
      </p:sp>
      <p:sp>
        <p:nvSpPr>
          <p:cNvPr id="9" name="TextBox 8"/>
          <p:cNvSpPr txBox="1"/>
          <p:nvPr/>
        </p:nvSpPr>
        <p:spPr>
          <a:xfrm>
            <a:off x="685800" y="3410102"/>
            <a:ext cx="5044287" cy="2762097"/>
          </a:xfrm>
          <a:prstGeom prst="rect">
            <a:avLst/>
          </a:prstGeom>
          <a:noFill/>
        </p:spPr>
        <p:txBody>
          <a:bodyPr wrap="square" lIns="0" rIns="0" tIns="18288" bIns="18288" anchor="t">
            <a:spAutoFit/>
          </a:bodyPr>
          <a:lstStyle/>
          <a:p>
            <a:pPr algn="l"/>
            <a:r>
              <a:rPr sz="2200" b="0" i="0">
                <a:solidFill>
                  <a:srgbClr val="3B4046"/>
                </a:solidFill>
                <a:latin typeface="Calibri"/>
              </a:rPr>
              <a:t>Walk-in customers give no loyalty number. In orders, 9,171 of 30,229 rows have a NULL customer_id.</a:t>
            </a:r>
          </a:p>
        </p:txBody>
      </p:sp>
      <p:cxnSp>
        <p:nvCxnSpPr>
          <p:cNvPr id="10" name="Connector 9"/>
          <p:cNvCxnSpPr/>
          <p:nvPr/>
        </p:nvCxnSpPr>
        <p:spPr>
          <a:xfrm>
            <a:off x="6461607" y="2998622"/>
            <a:ext cx="5044288" cy="0"/>
          </a:xfrm>
          <a:prstGeom prst="line">
            <a:avLst/>
          </a:prstGeom>
          <a:ln w="15875">
            <a:solidFill>
              <a:srgbClr val="1F2328"/>
            </a:solidFill>
          </a:ln>
        </p:spPr>
      </p:cxnSp>
      <p:sp>
        <p:nvSpPr>
          <p:cNvPr id="11" name="TextBox 10"/>
          <p:cNvSpPr txBox="1"/>
          <p:nvPr/>
        </p:nvSpPr>
        <p:spPr>
          <a:xfrm>
            <a:off x="6461607" y="3090062"/>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In a spreadsheet</a:t>
            </a:r>
          </a:p>
        </p:txBody>
      </p:sp>
      <p:sp>
        <p:nvSpPr>
          <p:cNvPr id="12" name="TextBox 11"/>
          <p:cNvSpPr txBox="1"/>
          <p:nvPr/>
        </p:nvSpPr>
        <p:spPr>
          <a:xfrm>
            <a:off x="6461607" y="3410102"/>
            <a:ext cx="5044287" cy="2762097"/>
          </a:xfrm>
          <a:prstGeom prst="rect">
            <a:avLst/>
          </a:prstGeom>
          <a:noFill/>
        </p:spPr>
        <p:txBody>
          <a:bodyPr wrap="square" lIns="0" rIns="0" tIns="18288" bIns="18288" anchor="t">
            <a:spAutoFit/>
          </a:bodyPr>
          <a:lstStyle/>
          <a:p>
            <a:pPr algn="l"/>
            <a:r>
              <a:rPr sz="2200" b="0" i="0">
                <a:solidFill>
                  <a:srgbClr val="3B4046"/>
                </a:solidFill>
                <a:latin typeface="Calibri"/>
              </a:rPr>
              <a:t>A blank cell. Test for it with IS NULL, the way you would use ISBLANK.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LEFT JOIN keeps the walk-in orders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SQL for analysts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17</a:t>
            </a:r>
          </a:p>
        </p:txBody>
      </p:sp>
      <p:sp>
        <p:nvSpPr>
          <p:cNvPr id="5" name="Rectangle 4"/>
          <p:cNvSpPr/>
          <p:nvPr/>
        </p:nvSpPr>
        <p:spPr>
          <a:xfrm>
            <a:off x="685800" y="1600200"/>
            <a:ext cx="6949440" cy="191109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636775"/>
          </a:xfrm>
          <a:prstGeom prst="rect">
            <a:avLst/>
          </a:prstGeom>
          <a:noFill/>
        </p:spPr>
        <p:txBody>
          <a:bodyPr wrap="none" lIns="0" rIns="0" tIns="0" bIns="0">
            <a:spAutoFit/>
          </a:bodyPr>
          <a:lstStyle/>
          <a:p>
            <a:r>
              <a:rPr sz="2100" b="1" i="0">
                <a:solidFill>
                  <a:srgbClr val="1F2328"/>
                </a:solidFill>
                <a:latin typeface="Courier New"/>
              </a:rPr>
              <a:t>SELECT</a:t>
            </a:r>
            <a:r>
              <a:rPr sz="2100" b="0" i="0">
                <a:solidFill>
                  <a:srgbClr val="1F2328"/>
                </a:solidFill>
                <a:latin typeface="Courier New"/>
              </a:rPr>
              <a:t> </a:t>
            </a:r>
            <a:r>
              <a:rPr sz="2100" b="1" i="0">
                <a:solidFill>
                  <a:srgbClr val="1F2328"/>
                </a:solidFill>
                <a:latin typeface="Courier New"/>
              </a:rPr>
              <a:t>COUNT</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 </a:t>
            </a:r>
            <a:r>
              <a:rPr sz="2100" b="1" i="0">
                <a:solidFill>
                  <a:srgbClr val="1F2328"/>
                </a:solidFill>
                <a:latin typeface="Courier New"/>
              </a:rPr>
              <a:t>AS</a:t>
            </a:r>
            <a:r>
              <a:rPr sz="2100" b="0" i="0">
                <a:solidFill>
                  <a:srgbClr val="1F2328"/>
                </a:solidFill>
                <a:latin typeface="Courier New"/>
              </a:rPr>
              <a:t> </a:t>
            </a:r>
            <a:r>
              <a:rPr sz="2100" b="0" i="0">
                <a:solidFill>
                  <a:srgbClr val="1F2328"/>
                </a:solidFill>
                <a:latin typeface="Courier New"/>
              </a:rPr>
              <a:t>all_orders</a:t>
            </a:r>
            <a:r>
              <a:rPr sz="2100" b="0" i="0">
                <a:solidFill>
                  <a:srgbClr val="1F2328"/>
                </a:solidFill>
                <a:latin typeface="Courier New"/>
              </a:rPr>
              <a:t>,</a:t>
            </a:r>
          </a:p>
          <a:p>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1" i="0">
                <a:solidFill>
                  <a:srgbClr val="1F2328"/>
                </a:solidFill>
                <a:latin typeface="Courier New"/>
              </a:rPr>
              <a:t>COUNT</a:t>
            </a:r>
            <a:r>
              <a:rPr sz="2100" b="0" i="0">
                <a:solidFill>
                  <a:srgbClr val="1F2328"/>
                </a:solidFill>
                <a:latin typeface="Courier New"/>
              </a:rPr>
              <a:t>(</a:t>
            </a:r>
            <a:r>
              <a:rPr sz="2100" b="0" i="0">
                <a:solidFill>
                  <a:srgbClr val="1F2328"/>
                </a:solidFill>
                <a:latin typeface="Courier New"/>
              </a:rPr>
              <a:t>c</a:t>
            </a:r>
            <a:r>
              <a:rPr sz="2100" b="0" i="0">
                <a:solidFill>
                  <a:srgbClr val="1F2328"/>
                </a:solidFill>
                <a:latin typeface="Courier New"/>
              </a:rPr>
              <a:t>.</a:t>
            </a:r>
            <a:r>
              <a:rPr sz="2100" b="0" i="0">
                <a:solidFill>
                  <a:srgbClr val="1F2328"/>
                </a:solidFill>
                <a:latin typeface="Courier New"/>
              </a:rPr>
              <a:t>customer_id</a:t>
            </a:r>
            <a:r>
              <a:rPr sz="2100" b="0" i="0">
                <a:solidFill>
                  <a:srgbClr val="1F2328"/>
                </a:solidFill>
                <a:latin typeface="Courier New"/>
              </a:rPr>
              <a:t>)</a:t>
            </a:r>
            <a:r>
              <a:rPr sz="2100" b="0" i="0">
                <a:solidFill>
                  <a:srgbClr val="1F2328"/>
                </a:solidFill>
                <a:latin typeface="Courier New"/>
              </a:rPr>
              <a:t> </a:t>
            </a:r>
            <a:r>
              <a:rPr sz="2100" b="1" i="0">
                <a:solidFill>
                  <a:srgbClr val="1F2328"/>
                </a:solidFill>
                <a:latin typeface="Courier New"/>
              </a:rPr>
              <a:t>AS</a:t>
            </a:r>
            <a:r>
              <a:rPr sz="2100" b="0" i="0">
                <a:solidFill>
                  <a:srgbClr val="1F2328"/>
                </a:solidFill>
                <a:latin typeface="Courier New"/>
              </a:rPr>
              <a:t> </a:t>
            </a:r>
            <a:r>
              <a:rPr sz="2100" b="0" i="0">
                <a:solidFill>
                  <a:srgbClr val="1F2328"/>
                </a:solidFill>
                <a:latin typeface="Courier New"/>
              </a:rPr>
              <a:t>matched</a:t>
            </a:r>
          </a:p>
          <a:p>
            <a:r>
              <a:rPr sz="2100" b="1" i="0">
                <a:solidFill>
                  <a:srgbClr val="1F2328"/>
                </a:solidFill>
                <a:latin typeface="Courier New"/>
              </a:rPr>
              <a:t>FROM</a:t>
            </a:r>
            <a:r>
              <a:rPr sz="2100" b="0" i="0">
                <a:solidFill>
                  <a:srgbClr val="1F2328"/>
                </a:solidFill>
                <a:latin typeface="Courier New"/>
              </a:rPr>
              <a:t> </a:t>
            </a:r>
            <a:r>
              <a:rPr sz="2100" b="0" i="0">
                <a:solidFill>
                  <a:srgbClr val="1F2328"/>
                </a:solidFill>
                <a:latin typeface="Courier New"/>
              </a:rPr>
              <a:t>orders</a:t>
            </a:r>
            <a:r>
              <a:rPr sz="2100" b="0" i="0">
                <a:solidFill>
                  <a:srgbClr val="1F2328"/>
                </a:solidFill>
                <a:latin typeface="Courier New"/>
              </a:rPr>
              <a:t> </a:t>
            </a:r>
            <a:r>
              <a:rPr sz="2100" b="1" i="0">
                <a:solidFill>
                  <a:srgbClr val="1F2328"/>
                </a:solidFill>
                <a:latin typeface="Courier New"/>
              </a:rPr>
              <a:t>AS</a:t>
            </a:r>
            <a:r>
              <a:rPr sz="2100" b="0" i="0">
                <a:solidFill>
                  <a:srgbClr val="1F2328"/>
                </a:solidFill>
                <a:latin typeface="Courier New"/>
              </a:rPr>
              <a:t> </a:t>
            </a:r>
            <a:r>
              <a:rPr sz="2100" b="0" i="0">
                <a:solidFill>
                  <a:srgbClr val="1F2328"/>
                </a:solidFill>
                <a:latin typeface="Courier New"/>
              </a:rPr>
              <a:t>o</a:t>
            </a:r>
          </a:p>
          <a:p>
            <a:r>
              <a:rPr sz="2100" b="1" i="0">
                <a:solidFill>
                  <a:srgbClr val="1F2328"/>
                </a:solidFill>
                <a:latin typeface="Courier New"/>
              </a:rPr>
              <a:t>LEFT</a:t>
            </a:r>
            <a:r>
              <a:rPr sz="2100" b="0" i="0">
                <a:solidFill>
                  <a:srgbClr val="1F2328"/>
                </a:solidFill>
                <a:latin typeface="Courier New"/>
              </a:rPr>
              <a:t> </a:t>
            </a:r>
            <a:r>
              <a:rPr sz="2100" b="1" i="0">
                <a:solidFill>
                  <a:srgbClr val="1F2328"/>
                </a:solidFill>
                <a:latin typeface="Courier New"/>
              </a:rPr>
              <a:t>JOIN</a:t>
            </a:r>
            <a:r>
              <a:rPr sz="2100" b="0" i="0">
                <a:solidFill>
                  <a:srgbClr val="1F2328"/>
                </a:solidFill>
                <a:latin typeface="Courier New"/>
              </a:rPr>
              <a:t> </a:t>
            </a:r>
            <a:r>
              <a:rPr sz="2100" b="0" i="0">
                <a:solidFill>
                  <a:srgbClr val="1F2328"/>
                </a:solidFill>
                <a:latin typeface="Courier New"/>
              </a:rPr>
              <a:t>customers</a:t>
            </a:r>
            <a:r>
              <a:rPr sz="2100" b="0" i="0">
                <a:solidFill>
                  <a:srgbClr val="1F2328"/>
                </a:solidFill>
                <a:latin typeface="Courier New"/>
              </a:rPr>
              <a:t> </a:t>
            </a:r>
            <a:r>
              <a:rPr sz="2100" b="1" i="0">
                <a:solidFill>
                  <a:srgbClr val="1F2328"/>
                </a:solidFill>
                <a:latin typeface="Courier New"/>
              </a:rPr>
              <a:t>AS</a:t>
            </a:r>
            <a:r>
              <a:rPr sz="2100" b="0" i="0">
                <a:solidFill>
                  <a:srgbClr val="1F2328"/>
                </a:solidFill>
                <a:latin typeface="Courier New"/>
              </a:rPr>
              <a:t> </a:t>
            </a:r>
            <a:r>
              <a:rPr sz="2100" b="0" i="0">
                <a:solidFill>
                  <a:srgbClr val="1F2328"/>
                </a:solidFill>
                <a:latin typeface="Courier New"/>
              </a:rPr>
              <a:t>c</a:t>
            </a:r>
          </a:p>
          <a:p>
            <a:r>
              <a:rPr sz="2100" b="0" i="0">
                <a:solidFill>
                  <a:srgbClr val="1F2328"/>
                </a:solidFill>
                <a:latin typeface="Courier New"/>
              </a:rPr>
              <a:t> </a:t>
            </a:r>
            <a:r>
              <a:rPr sz="2100" b="0" i="0">
                <a:solidFill>
                  <a:srgbClr val="1F2328"/>
                </a:solidFill>
                <a:latin typeface="Courier New"/>
              </a:rPr>
              <a:t> </a:t>
            </a:r>
            <a:r>
              <a:rPr sz="2100" b="1" i="0">
                <a:solidFill>
                  <a:srgbClr val="1F2328"/>
                </a:solidFill>
                <a:latin typeface="Courier New"/>
              </a:rPr>
              <a:t>ON</a:t>
            </a:r>
            <a:r>
              <a:rPr sz="2100" b="0" i="0">
                <a:solidFill>
                  <a:srgbClr val="1F2328"/>
                </a:solidFill>
                <a:latin typeface="Courier New"/>
              </a:rPr>
              <a:t> </a:t>
            </a:r>
            <a:r>
              <a:rPr sz="2100" b="0" i="0">
                <a:solidFill>
                  <a:srgbClr val="1F2328"/>
                </a:solidFill>
                <a:latin typeface="Courier New"/>
              </a:rPr>
              <a:t>o</a:t>
            </a:r>
            <a:r>
              <a:rPr sz="2100" b="0" i="0">
                <a:solidFill>
                  <a:srgbClr val="1F2328"/>
                </a:solidFill>
                <a:latin typeface="Courier New"/>
              </a:rPr>
              <a:t>.</a:t>
            </a:r>
            <a:r>
              <a:rPr sz="2100" b="0" i="0">
                <a:solidFill>
                  <a:srgbClr val="1F2328"/>
                </a:solidFill>
                <a:latin typeface="Courier New"/>
              </a:rPr>
              <a:t>customer_id</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c</a:t>
            </a:r>
            <a:r>
              <a:rPr sz="2100" b="0" i="0">
                <a:solidFill>
                  <a:srgbClr val="1F2328"/>
                </a:solidFill>
                <a:latin typeface="Courier New"/>
              </a:rPr>
              <a:t>.</a:t>
            </a:r>
            <a:r>
              <a:rPr sz="2100" b="0" i="0">
                <a:solidFill>
                  <a:srgbClr val="1F2328"/>
                </a:solidFill>
                <a:latin typeface="Courier New"/>
              </a:rPr>
              <a:t>customer_id</a:t>
            </a:r>
          </a:p>
        </p:txBody>
      </p:sp>
      <p:grpSp>
        <p:nvGrpSpPr>
          <p:cNvPr id="7" name="output"/>
          <p:cNvGrpSpPr/>
          <p:nvPr/>
        </p:nvGrpSpPr>
        <p:grpSpPr>
          <a:xfrm>
            <a:off x="685800" y="3621024"/>
            <a:ext cx="6949440" cy="737615"/>
            <a:chOff x="685800" y="3621024"/>
            <a:chExt cx="6949440" cy="737615"/>
          </a:xfrm>
        </p:grpSpPr>
        <p:sp>
          <p:nvSpPr>
            <p:cNvPr id="8" name="TextBox 7"/>
            <p:cNvSpPr txBox="1"/>
            <p:nvPr/>
          </p:nvSpPr>
          <p:spPr>
            <a:xfrm>
              <a:off x="685800" y="36210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877056"/>
              <a:ext cx="6949440"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3968496"/>
              <a:ext cx="6675120" cy="371855"/>
            </a:xfrm>
            <a:prstGeom prst="rect">
              <a:avLst/>
            </a:prstGeom>
            <a:noFill/>
          </p:spPr>
          <p:txBody>
            <a:bodyPr wrap="none" lIns="0" rIns="0" tIns="0" bIns="0">
              <a:spAutoFit/>
            </a:bodyPr>
            <a:lstStyle/>
            <a:p>
              <a:r>
                <a:rPr sz="1400" b="0" i="0">
                  <a:solidFill>
                    <a:srgbClr val="1F2328"/>
                  </a:solidFill>
                  <a:latin typeface="Courier New"/>
                </a:rPr>
                <a:t>all_orders matched</a:t>
              </a:r>
            </a:p>
            <a:p>
              <a:r>
                <a:rPr sz="1400" b="0" i="0">
                  <a:solidFill>
                    <a:srgbClr val="1F2328"/>
                  </a:solidFill>
                  <a:latin typeface="Courier New"/>
                </a:rPr>
                <a:t>30229 21058</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LEFT JOIN keeps every order.</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COUNT of one column skips NULLs, so it counts the matches.</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An INNER JOIN here would keep only 21,058 rows.</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CASE is IF for a column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SQL for analysts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18</a:t>
            </a:r>
          </a:p>
        </p:txBody>
      </p:sp>
      <p:sp>
        <p:nvSpPr>
          <p:cNvPr id="5" name="Rectangle 4"/>
          <p:cNvSpPr/>
          <p:nvPr/>
        </p:nvSpPr>
        <p:spPr>
          <a:xfrm>
            <a:off x="685800" y="1600200"/>
            <a:ext cx="6949440" cy="191109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636775"/>
          </a:xfrm>
          <a:prstGeom prst="rect">
            <a:avLst/>
          </a:prstGeom>
          <a:noFill/>
        </p:spPr>
        <p:txBody>
          <a:bodyPr wrap="none" lIns="0" rIns="0" tIns="0" bIns="0">
            <a:spAutoFit/>
          </a:bodyPr>
          <a:lstStyle/>
          <a:p>
            <a:r>
              <a:rPr sz="1500" b="1" i="0">
                <a:solidFill>
                  <a:srgbClr val="1F2328"/>
                </a:solidFill>
                <a:latin typeface="Courier New"/>
              </a:rPr>
              <a:t>SELECT</a:t>
            </a:r>
            <a:r>
              <a:rPr sz="1500" b="0" i="0">
                <a:solidFill>
                  <a:srgbClr val="1F2328"/>
                </a:solidFill>
                <a:latin typeface="Courier New"/>
              </a:rPr>
              <a:t> </a:t>
            </a:r>
            <a:r>
              <a:rPr sz="1500" b="1" i="0">
                <a:solidFill>
                  <a:srgbClr val="1F2328"/>
                </a:solidFill>
                <a:latin typeface="Courier New"/>
              </a:rPr>
              <a:t>CASE</a:t>
            </a:r>
            <a:r>
              <a:rPr sz="1500" b="0" i="0">
                <a:solidFill>
                  <a:srgbClr val="1F2328"/>
                </a:solidFill>
                <a:latin typeface="Courier New"/>
              </a:rPr>
              <a:t> </a:t>
            </a:r>
            <a:r>
              <a:rPr sz="1500" b="1" i="0">
                <a:solidFill>
                  <a:srgbClr val="1F2328"/>
                </a:solidFill>
                <a:latin typeface="Courier New"/>
              </a:rPr>
              <a:t>WHEN</a:t>
            </a:r>
            <a:r>
              <a:rPr sz="1500" b="0" i="0">
                <a:solidFill>
                  <a:srgbClr val="1F2328"/>
                </a:solidFill>
                <a:latin typeface="Courier New"/>
              </a:rPr>
              <a:t> </a:t>
            </a:r>
            <a:r>
              <a:rPr sz="1500" b="0" i="0">
                <a:solidFill>
                  <a:srgbClr val="1F2328"/>
                </a:solidFill>
                <a:latin typeface="Courier New"/>
              </a:rPr>
              <a:t>order_value_ugx</a:t>
            </a:r>
            <a:r>
              <a:rPr sz="1500" b="0" i="0">
                <a:solidFill>
                  <a:srgbClr val="1F2328"/>
                </a:solidFill>
                <a:latin typeface="Courier New"/>
              </a:rPr>
              <a:t> </a:t>
            </a:r>
            <a:r>
              <a:rPr sz="1500" b="0" i="0">
                <a:solidFill>
                  <a:srgbClr val="1F2328"/>
                </a:solidFill>
                <a:latin typeface="Courier New"/>
              </a:rPr>
              <a:t>&lt;</a:t>
            </a:r>
            <a:r>
              <a:rPr sz="1500" b="0" i="0">
                <a:solidFill>
                  <a:srgbClr val="1F2328"/>
                </a:solidFill>
                <a:latin typeface="Courier New"/>
              </a:rPr>
              <a:t> </a:t>
            </a:r>
            <a:r>
              <a:rPr sz="1500" b="0" i="0">
                <a:solidFill>
                  <a:srgbClr val="3B4046"/>
                </a:solidFill>
                <a:latin typeface="Courier New"/>
              </a:rPr>
              <a:t>20000</a:t>
            </a:r>
            <a:r>
              <a:rPr sz="1500" b="0" i="0">
                <a:solidFill>
                  <a:srgbClr val="1F2328"/>
                </a:solidFill>
                <a:latin typeface="Courier New"/>
              </a:rPr>
              <a:t> </a:t>
            </a:r>
            <a:r>
              <a:rPr sz="1500" b="1" i="0">
                <a:solidFill>
                  <a:srgbClr val="1F2328"/>
                </a:solidFill>
                <a:latin typeface="Courier New"/>
              </a:rPr>
              <a:t>THEN</a:t>
            </a:r>
            <a:r>
              <a:rPr sz="1500" b="0" i="0">
                <a:solidFill>
                  <a:srgbClr val="1F2328"/>
                </a:solidFill>
                <a:latin typeface="Courier New"/>
              </a:rPr>
              <a:t> </a:t>
            </a:r>
            <a:r>
              <a:rPr sz="1500" b="0" i="0">
                <a:solidFill>
                  <a:srgbClr val="B04A2B"/>
                </a:solidFill>
                <a:latin typeface="Courier New"/>
              </a:rPr>
              <a:t>'Small'</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1" i="0">
                <a:solidFill>
                  <a:srgbClr val="1F2328"/>
                </a:solidFill>
                <a:latin typeface="Courier New"/>
              </a:rPr>
              <a:t>WHEN</a:t>
            </a:r>
            <a:r>
              <a:rPr sz="1500" b="0" i="0">
                <a:solidFill>
                  <a:srgbClr val="1F2328"/>
                </a:solidFill>
                <a:latin typeface="Courier New"/>
              </a:rPr>
              <a:t> </a:t>
            </a:r>
            <a:r>
              <a:rPr sz="1500" b="0" i="0">
                <a:solidFill>
                  <a:srgbClr val="1F2328"/>
                </a:solidFill>
                <a:latin typeface="Courier New"/>
              </a:rPr>
              <a:t>order_value_ugx</a:t>
            </a:r>
            <a:r>
              <a:rPr sz="1500" b="0" i="0">
                <a:solidFill>
                  <a:srgbClr val="1F2328"/>
                </a:solidFill>
                <a:latin typeface="Courier New"/>
              </a:rPr>
              <a:t> </a:t>
            </a:r>
            <a:r>
              <a:rPr sz="1500" b="0" i="0">
                <a:solidFill>
                  <a:srgbClr val="1F2328"/>
                </a:solidFill>
                <a:latin typeface="Courier New"/>
              </a:rPr>
              <a:t>&lt;</a:t>
            </a:r>
            <a:r>
              <a:rPr sz="1500" b="0" i="0">
                <a:solidFill>
                  <a:srgbClr val="1F2328"/>
                </a:solidFill>
                <a:latin typeface="Courier New"/>
              </a:rPr>
              <a:t> </a:t>
            </a:r>
            <a:r>
              <a:rPr sz="1500" b="0" i="0">
                <a:solidFill>
                  <a:srgbClr val="3B4046"/>
                </a:solidFill>
                <a:latin typeface="Courier New"/>
              </a:rPr>
              <a:t>100000</a:t>
            </a:r>
            <a:r>
              <a:rPr sz="1500" b="0" i="0">
                <a:solidFill>
                  <a:srgbClr val="1F2328"/>
                </a:solidFill>
                <a:latin typeface="Courier New"/>
              </a:rPr>
              <a:t> </a:t>
            </a:r>
            <a:r>
              <a:rPr sz="1500" b="1" i="0">
                <a:solidFill>
                  <a:srgbClr val="1F2328"/>
                </a:solidFill>
                <a:latin typeface="Courier New"/>
              </a:rPr>
              <a:t>THEN</a:t>
            </a:r>
            <a:r>
              <a:rPr sz="1500" b="0" i="0">
                <a:solidFill>
                  <a:srgbClr val="1F2328"/>
                </a:solidFill>
                <a:latin typeface="Courier New"/>
              </a:rPr>
              <a:t> </a:t>
            </a:r>
            <a:r>
              <a:rPr sz="1500" b="0" i="0">
                <a:solidFill>
                  <a:srgbClr val="B04A2B"/>
                </a:solidFill>
                <a:latin typeface="Courier New"/>
              </a:rPr>
              <a:t>'Medium'</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1" i="0">
                <a:solidFill>
                  <a:srgbClr val="1F2328"/>
                </a:solidFill>
                <a:latin typeface="Courier New"/>
              </a:rPr>
              <a:t>ELSE</a:t>
            </a:r>
            <a:r>
              <a:rPr sz="1500" b="0" i="0">
                <a:solidFill>
                  <a:srgbClr val="1F2328"/>
                </a:solidFill>
                <a:latin typeface="Courier New"/>
              </a:rPr>
              <a:t> </a:t>
            </a:r>
            <a:r>
              <a:rPr sz="1500" b="0" i="0">
                <a:solidFill>
                  <a:srgbClr val="B04A2B"/>
                </a:solidFill>
                <a:latin typeface="Courier New"/>
              </a:rPr>
              <a:t>'Large'</a:t>
            </a:r>
            <a:r>
              <a:rPr sz="1500" b="0" i="0">
                <a:solidFill>
                  <a:srgbClr val="1F2328"/>
                </a:solidFill>
                <a:latin typeface="Courier New"/>
              </a:rPr>
              <a:t> </a:t>
            </a:r>
            <a:r>
              <a:rPr sz="1500" b="1" i="0">
                <a:solidFill>
                  <a:srgbClr val="1F2328"/>
                </a:solidFill>
                <a:latin typeface="Courier New"/>
              </a:rPr>
              <a:t>END</a:t>
            </a:r>
            <a:r>
              <a:rPr sz="1500" b="0" i="0">
                <a:solidFill>
                  <a:srgbClr val="1F2328"/>
                </a:solidFill>
                <a:latin typeface="Courier New"/>
              </a:rPr>
              <a:t> </a:t>
            </a:r>
            <a:r>
              <a:rPr sz="1500" b="1" i="0">
                <a:solidFill>
                  <a:srgbClr val="1F2328"/>
                </a:solidFill>
                <a:latin typeface="Courier New"/>
              </a:rPr>
              <a:t>AS</a:t>
            </a:r>
            <a:r>
              <a:rPr sz="1500" b="0" i="0">
                <a:solidFill>
                  <a:srgbClr val="1F2328"/>
                </a:solidFill>
                <a:latin typeface="Courier New"/>
              </a:rPr>
              <a:t> </a:t>
            </a:r>
            <a:r>
              <a:rPr sz="1500" b="0" i="0">
                <a:solidFill>
                  <a:srgbClr val="1F2328"/>
                </a:solidFill>
                <a:latin typeface="Courier New"/>
              </a:rPr>
              <a:t>band</a:t>
            </a:r>
            <a:r>
              <a:rPr sz="1500" b="0" i="0">
                <a:solidFill>
                  <a:srgbClr val="1F2328"/>
                </a:solidFill>
                <a:latin typeface="Courier New"/>
              </a:rPr>
              <a:t>,</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1" i="0">
                <a:solidFill>
                  <a:srgbClr val="1F2328"/>
                </a:solidFill>
                <a:latin typeface="Courier New"/>
              </a:rPr>
              <a:t>COUNT</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 </a:t>
            </a:r>
            <a:r>
              <a:rPr sz="1500" b="1" i="0">
                <a:solidFill>
                  <a:srgbClr val="1F2328"/>
                </a:solidFill>
                <a:latin typeface="Courier New"/>
              </a:rPr>
              <a:t>AS</a:t>
            </a:r>
            <a:r>
              <a:rPr sz="1500" b="0" i="0">
                <a:solidFill>
                  <a:srgbClr val="1F2328"/>
                </a:solidFill>
                <a:latin typeface="Courier New"/>
              </a:rPr>
              <a:t> </a:t>
            </a:r>
            <a:r>
              <a:rPr sz="1500" b="0" i="0">
                <a:solidFill>
                  <a:srgbClr val="1F2328"/>
                </a:solidFill>
                <a:latin typeface="Courier New"/>
              </a:rPr>
              <a:t>n</a:t>
            </a:r>
          </a:p>
          <a:p>
            <a:r>
              <a:rPr sz="1500" b="1" i="0">
                <a:solidFill>
                  <a:srgbClr val="1F2328"/>
                </a:solidFill>
                <a:latin typeface="Courier New"/>
              </a:rPr>
              <a:t>FROM</a:t>
            </a:r>
            <a:r>
              <a:rPr sz="1500" b="0" i="0">
                <a:solidFill>
                  <a:srgbClr val="1F2328"/>
                </a:solidFill>
                <a:latin typeface="Courier New"/>
              </a:rPr>
              <a:t> </a:t>
            </a:r>
            <a:r>
              <a:rPr sz="1500" b="0" i="0">
                <a:solidFill>
                  <a:srgbClr val="1F2328"/>
                </a:solidFill>
                <a:latin typeface="Courier New"/>
              </a:rPr>
              <a:t>orders</a:t>
            </a:r>
          </a:p>
          <a:p>
            <a:r>
              <a:rPr sz="1500" b="1" i="0">
                <a:solidFill>
                  <a:srgbClr val="1F2328"/>
                </a:solidFill>
                <a:latin typeface="Courier New"/>
              </a:rPr>
              <a:t>GROUP</a:t>
            </a:r>
            <a:r>
              <a:rPr sz="1500" b="0" i="0">
                <a:solidFill>
                  <a:srgbClr val="1F2328"/>
                </a:solidFill>
                <a:latin typeface="Courier New"/>
              </a:rPr>
              <a:t> </a:t>
            </a:r>
            <a:r>
              <a:rPr sz="1500" b="1" i="0">
                <a:solidFill>
                  <a:srgbClr val="1F2328"/>
                </a:solidFill>
                <a:latin typeface="Courier New"/>
              </a:rPr>
              <a:t>BY</a:t>
            </a:r>
            <a:r>
              <a:rPr sz="1500" b="0" i="0">
                <a:solidFill>
                  <a:srgbClr val="1F2328"/>
                </a:solidFill>
                <a:latin typeface="Courier New"/>
              </a:rPr>
              <a:t> </a:t>
            </a:r>
            <a:r>
              <a:rPr sz="1500" b="0" i="0">
                <a:solidFill>
                  <a:srgbClr val="1F2328"/>
                </a:solidFill>
                <a:latin typeface="Courier New"/>
              </a:rPr>
              <a:t>band</a:t>
            </a:r>
          </a:p>
          <a:p>
            <a:r>
              <a:rPr sz="1500" b="1" i="0">
                <a:solidFill>
                  <a:srgbClr val="1F2328"/>
                </a:solidFill>
                <a:latin typeface="Courier New"/>
              </a:rPr>
              <a:t>ORDER</a:t>
            </a:r>
            <a:r>
              <a:rPr sz="1500" b="0" i="0">
                <a:solidFill>
                  <a:srgbClr val="1F2328"/>
                </a:solidFill>
                <a:latin typeface="Courier New"/>
              </a:rPr>
              <a:t> </a:t>
            </a:r>
            <a:r>
              <a:rPr sz="1500" b="1" i="0">
                <a:solidFill>
                  <a:srgbClr val="1F2328"/>
                </a:solidFill>
                <a:latin typeface="Courier New"/>
              </a:rPr>
              <a:t>BY</a:t>
            </a:r>
            <a:r>
              <a:rPr sz="1500" b="0" i="0">
                <a:solidFill>
                  <a:srgbClr val="1F2328"/>
                </a:solidFill>
                <a:latin typeface="Courier New"/>
              </a:rPr>
              <a:t> </a:t>
            </a:r>
            <a:r>
              <a:rPr sz="1500" b="0" i="0">
                <a:solidFill>
                  <a:srgbClr val="1F2328"/>
                </a:solidFill>
                <a:latin typeface="Courier New"/>
              </a:rPr>
              <a:t>n</a:t>
            </a:r>
            <a:r>
              <a:rPr sz="1500" b="0" i="0">
                <a:solidFill>
                  <a:srgbClr val="1F2328"/>
                </a:solidFill>
                <a:latin typeface="Courier New"/>
              </a:rPr>
              <a:t> </a:t>
            </a:r>
            <a:r>
              <a:rPr sz="1500" b="1" i="0">
                <a:solidFill>
                  <a:srgbClr val="1F2328"/>
                </a:solidFill>
                <a:latin typeface="Courier New"/>
              </a:rPr>
              <a:t>DESC</a:t>
            </a:r>
          </a:p>
        </p:txBody>
      </p:sp>
      <p:grpSp>
        <p:nvGrpSpPr>
          <p:cNvPr id="7" name="output"/>
          <p:cNvGrpSpPr/>
          <p:nvPr/>
        </p:nvGrpSpPr>
        <p:grpSpPr>
          <a:xfrm>
            <a:off x="685800" y="3621024"/>
            <a:ext cx="6949440" cy="1164336"/>
            <a:chOff x="685800" y="3621024"/>
            <a:chExt cx="6949440" cy="1164336"/>
          </a:xfrm>
        </p:grpSpPr>
        <p:sp>
          <p:nvSpPr>
            <p:cNvPr id="8" name="TextBox 7"/>
            <p:cNvSpPr txBox="1"/>
            <p:nvPr/>
          </p:nvSpPr>
          <p:spPr>
            <a:xfrm>
              <a:off x="685800" y="36210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877056"/>
              <a:ext cx="6949440" cy="908304"/>
            </a:xfrm>
            <a:prstGeom prst="rect">
              <a:avLst/>
            </a:prstGeom>
            <a:solidFill>
              <a:srgbClr val="F5F3EF"/>
            </a:solidFill>
            <a:ln>
              <a:noFill/>
            </a:ln>
          </p:spPr>
          <p:txBody>
            <a:bodyPr rtlCol="0" anchor="ctr"/>
            <a:lstStyle/>
            <a:p>
              <a:pPr algn="ctr"/>
            </a:p>
          </p:txBody>
        </p:sp>
        <p:sp>
          <p:nvSpPr>
            <p:cNvPr id="10" name="TextBox 9"/>
            <p:cNvSpPr txBox="1"/>
            <p:nvPr/>
          </p:nvSpPr>
          <p:spPr>
            <a:xfrm>
              <a:off x="868680" y="3968496"/>
              <a:ext cx="6675120" cy="798576"/>
            </a:xfrm>
            <a:prstGeom prst="rect">
              <a:avLst/>
            </a:prstGeom>
            <a:noFill/>
          </p:spPr>
          <p:txBody>
            <a:bodyPr wrap="none" lIns="0" rIns="0" tIns="0" bIns="0">
              <a:spAutoFit/>
            </a:bodyPr>
            <a:lstStyle/>
            <a:p>
              <a:r>
                <a:rPr sz="1400" b="0" i="0">
                  <a:solidFill>
                    <a:srgbClr val="1F2328"/>
                  </a:solidFill>
                  <a:latin typeface="Courier New"/>
                </a:rPr>
                <a:t>band n</a:t>
              </a:r>
            </a:p>
            <a:p>
              <a:r>
                <a:rPr sz="1400" b="0" i="0">
                  <a:solidFill>
                    <a:srgbClr val="1F2328"/>
                  </a:solidFill>
                  <a:latin typeface="Courier New"/>
                </a:rPr>
                <a:t>Medium 14486</a:t>
              </a:r>
            </a:p>
            <a:p>
              <a:r>
                <a:rPr sz="1400" b="0" i="0">
                  <a:solidFill>
                    <a:srgbClr val="1F2328"/>
                  </a:solidFill>
                  <a:latin typeface="Courier New"/>
                </a:rPr>
                <a:t>Small 13529</a:t>
              </a:r>
            </a:p>
            <a:p>
              <a:r>
                <a:rPr sz="1400" b="0" i="0">
                  <a:solidFill>
                    <a:srgbClr val="1F2328"/>
                  </a:solidFill>
                  <a:latin typeface="Courier New"/>
                </a:rPr>
                <a:t>Large 2214</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CASE tests each WHEN in order and uses the first that is true.</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8"/>
            <a:chOff x="8046719" y="2971800"/>
            <a:chExt cx="3459176" cy="1207008"/>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ELSE catches everything left.</a:t>
              </a:r>
            </a:p>
          </p:txBody>
        </p:sp>
        <p:cxnSp>
          <p:nvCxnSpPr>
            <p:cNvPr id="19" name="Connector 18"/>
            <p:cNvCxnSpPr/>
            <p:nvPr/>
          </p:nvCxnSpPr>
          <p:spPr>
            <a:xfrm>
              <a:off x="8046719" y="4178808"/>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subquery asks a question inside a question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SQL for analysts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19</a:t>
            </a:r>
          </a:p>
        </p:txBody>
      </p:sp>
      <p:sp>
        <p:nvSpPr>
          <p:cNvPr id="5" name="Rectangle 4"/>
          <p:cNvSpPr/>
          <p:nvPr/>
        </p:nvSpPr>
        <p:spPr>
          <a:xfrm>
            <a:off x="685800" y="1600200"/>
            <a:ext cx="6949440" cy="140817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133856"/>
          </a:xfrm>
          <a:prstGeom prst="rect">
            <a:avLst/>
          </a:prstGeom>
          <a:noFill/>
        </p:spPr>
        <p:txBody>
          <a:bodyPr wrap="none" lIns="0" rIns="0" tIns="0" bIns="0">
            <a:spAutoFit/>
          </a:bodyPr>
          <a:lstStyle/>
          <a:p>
            <a:r>
              <a:rPr sz="1800" b="1" i="0">
                <a:solidFill>
                  <a:srgbClr val="1F2328"/>
                </a:solidFill>
                <a:latin typeface="Courier New"/>
              </a:rPr>
              <a:t>SELECT</a:t>
            </a:r>
            <a:r>
              <a:rPr sz="1800" b="0" i="0">
                <a:solidFill>
                  <a:srgbClr val="1F2328"/>
                </a:solidFill>
                <a:latin typeface="Courier New"/>
              </a:rPr>
              <a:t> </a:t>
            </a:r>
            <a:r>
              <a:rPr sz="1800" b="1" i="0">
                <a:solidFill>
                  <a:srgbClr val="1F2328"/>
                </a:solidFill>
                <a:latin typeface="Courier New"/>
              </a:rPr>
              <a:t>COUNT</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 </a:t>
            </a:r>
            <a:r>
              <a:rPr sz="1800" b="1" i="0">
                <a:solidFill>
                  <a:srgbClr val="1F2328"/>
                </a:solidFill>
                <a:latin typeface="Courier New"/>
              </a:rPr>
              <a:t>AS</a:t>
            </a:r>
            <a:r>
              <a:rPr sz="1800" b="0" i="0">
                <a:solidFill>
                  <a:srgbClr val="1F2328"/>
                </a:solidFill>
                <a:latin typeface="Courier New"/>
              </a:rPr>
              <a:t> </a:t>
            </a:r>
            <a:r>
              <a:rPr sz="1800" b="0" i="0">
                <a:solidFill>
                  <a:srgbClr val="1F2328"/>
                </a:solidFill>
                <a:latin typeface="Courier New"/>
              </a:rPr>
              <a:t>above_average</a:t>
            </a:r>
          </a:p>
          <a:p>
            <a:r>
              <a:rPr sz="1800" b="1" i="0">
                <a:solidFill>
                  <a:srgbClr val="1F2328"/>
                </a:solidFill>
                <a:latin typeface="Courier New"/>
              </a:rPr>
              <a:t>FROM</a:t>
            </a:r>
            <a:r>
              <a:rPr sz="1800" b="0" i="0">
                <a:solidFill>
                  <a:srgbClr val="1F2328"/>
                </a:solidFill>
                <a:latin typeface="Courier New"/>
              </a:rPr>
              <a:t> </a:t>
            </a:r>
            <a:r>
              <a:rPr sz="1800" b="0" i="0">
                <a:solidFill>
                  <a:srgbClr val="1F2328"/>
                </a:solidFill>
                <a:latin typeface="Courier New"/>
              </a:rPr>
              <a:t>orders</a:t>
            </a:r>
          </a:p>
          <a:p>
            <a:r>
              <a:rPr sz="1800" b="1" i="0">
                <a:solidFill>
                  <a:srgbClr val="1F2328"/>
                </a:solidFill>
                <a:latin typeface="Courier New"/>
              </a:rPr>
              <a:t>WHERE</a:t>
            </a:r>
            <a:r>
              <a:rPr sz="1800" b="0" i="0">
                <a:solidFill>
                  <a:srgbClr val="1F2328"/>
                </a:solidFill>
                <a:latin typeface="Courier New"/>
              </a:rPr>
              <a:t> </a:t>
            </a:r>
            <a:r>
              <a:rPr sz="1800" b="0" i="0">
                <a:solidFill>
                  <a:srgbClr val="1F2328"/>
                </a:solidFill>
                <a:latin typeface="Courier New"/>
              </a:rPr>
              <a:t>order_value_ugx</a:t>
            </a:r>
            <a:r>
              <a:rPr sz="1800" b="0" i="0">
                <a:solidFill>
                  <a:srgbClr val="1F2328"/>
                </a:solidFill>
                <a:latin typeface="Courier New"/>
              </a:rPr>
              <a:t> </a:t>
            </a:r>
            <a:r>
              <a:rPr sz="1800" b="0" i="0">
                <a:solidFill>
                  <a:srgbClr val="1F2328"/>
                </a:solidFill>
                <a:latin typeface="Courier New"/>
              </a:rPr>
              <a:t>&gt;</a:t>
            </a:r>
          </a:p>
          <a:p>
            <a:r>
              <a:rPr sz="1800" b="0" i="0">
                <a:solidFill>
                  <a:srgbClr val="1F2328"/>
                </a:solidFill>
                <a:latin typeface="Courier New"/>
              </a:rPr>
              <a:t> </a:t>
            </a:r>
            <a:r>
              <a:rPr sz="1800" b="0" i="0">
                <a:solidFill>
                  <a:srgbClr val="1F2328"/>
                </a:solidFill>
                <a:latin typeface="Courier New"/>
              </a:rPr>
              <a:t> </a:t>
            </a:r>
            <a:r>
              <a:rPr sz="1800" b="0" i="0">
                <a:solidFill>
                  <a:srgbClr val="1F2328"/>
                </a:solidFill>
                <a:latin typeface="Courier New"/>
              </a:rPr>
              <a:t> </a:t>
            </a:r>
            <a:r>
              <a:rPr sz="1800" b="0" i="0">
                <a:solidFill>
                  <a:srgbClr val="1F2328"/>
                </a:solidFill>
                <a:latin typeface="Courier New"/>
              </a:rPr>
              <a:t> </a:t>
            </a:r>
            <a:r>
              <a:rPr sz="1800" b="0" i="0">
                <a:solidFill>
                  <a:srgbClr val="1F2328"/>
                </a:solidFill>
                <a:latin typeface="Courier New"/>
              </a:rPr>
              <a:t> </a:t>
            </a:r>
            <a:r>
              <a:rPr sz="1800" b="0" i="0">
                <a:solidFill>
                  <a:srgbClr val="1F2328"/>
                </a:solidFill>
                <a:latin typeface="Courier New"/>
              </a:rPr>
              <a:t> </a:t>
            </a:r>
            <a:r>
              <a:rPr sz="1800" b="0" i="0">
                <a:solidFill>
                  <a:srgbClr val="1F2328"/>
                </a:solidFill>
                <a:latin typeface="Courier New"/>
              </a:rPr>
              <a:t>(</a:t>
            </a:r>
            <a:r>
              <a:rPr sz="1800" b="1" i="0">
                <a:solidFill>
                  <a:srgbClr val="1F2328"/>
                </a:solidFill>
                <a:latin typeface="Courier New"/>
              </a:rPr>
              <a:t>SELECT</a:t>
            </a:r>
            <a:r>
              <a:rPr sz="1800" b="0" i="0">
                <a:solidFill>
                  <a:srgbClr val="1F2328"/>
                </a:solidFill>
                <a:latin typeface="Courier New"/>
              </a:rPr>
              <a:t> </a:t>
            </a:r>
            <a:r>
              <a:rPr sz="1800" b="1" i="0">
                <a:solidFill>
                  <a:srgbClr val="1F2328"/>
                </a:solidFill>
                <a:latin typeface="Courier New"/>
              </a:rPr>
              <a:t>AVG</a:t>
            </a:r>
            <a:r>
              <a:rPr sz="1800" b="0" i="0">
                <a:solidFill>
                  <a:srgbClr val="1F2328"/>
                </a:solidFill>
                <a:latin typeface="Courier New"/>
              </a:rPr>
              <a:t>(</a:t>
            </a:r>
            <a:r>
              <a:rPr sz="1800" b="0" i="0">
                <a:solidFill>
                  <a:srgbClr val="1F2328"/>
                </a:solidFill>
                <a:latin typeface="Courier New"/>
              </a:rPr>
              <a:t>order_value_ugx</a:t>
            </a:r>
            <a:r>
              <a:rPr sz="1800" b="0" i="0">
                <a:solidFill>
                  <a:srgbClr val="1F2328"/>
                </a:solidFill>
                <a:latin typeface="Courier New"/>
              </a:rPr>
              <a:t>)</a:t>
            </a:r>
            <a:r>
              <a:rPr sz="1800" b="0" i="0">
                <a:solidFill>
                  <a:srgbClr val="1F2328"/>
                </a:solidFill>
                <a:latin typeface="Courier New"/>
              </a:rPr>
              <a:t> </a:t>
            </a:r>
            <a:r>
              <a:rPr sz="1800" b="1" i="0">
                <a:solidFill>
                  <a:srgbClr val="1F2328"/>
                </a:solidFill>
                <a:latin typeface="Courier New"/>
              </a:rPr>
              <a:t>FROM</a:t>
            </a:r>
            <a:r>
              <a:rPr sz="1800" b="0" i="0">
                <a:solidFill>
                  <a:srgbClr val="1F2328"/>
                </a:solidFill>
                <a:latin typeface="Courier New"/>
              </a:rPr>
              <a:t> </a:t>
            </a:r>
            <a:r>
              <a:rPr sz="1800" b="0" i="0">
                <a:solidFill>
                  <a:srgbClr val="1F2328"/>
                </a:solidFill>
                <a:latin typeface="Courier New"/>
              </a:rPr>
              <a:t>orders</a:t>
            </a:r>
            <a:r>
              <a:rPr sz="1800" b="0" i="0">
                <a:solidFill>
                  <a:srgbClr val="1F2328"/>
                </a:solidFill>
                <a:latin typeface="Courier New"/>
              </a:rPr>
              <a:t>)</a:t>
            </a:r>
          </a:p>
        </p:txBody>
      </p:sp>
      <p:grpSp>
        <p:nvGrpSpPr>
          <p:cNvPr id="7" name="output"/>
          <p:cNvGrpSpPr/>
          <p:nvPr/>
        </p:nvGrpSpPr>
        <p:grpSpPr>
          <a:xfrm>
            <a:off x="685800" y="3118104"/>
            <a:ext cx="6949440" cy="737615"/>
            <a:chOff x="685800" y="3118104"/>
            <a:chExt cx="6949440" cy="737615"/>
          </a:xfrm>
        </p:grpSpPr>
        <p:sp>
          <p:nvSpPr>
            <p:cNvPr id="8" name="TextBox 7"/>
            <p:cNvSpPr txBox="1"/>
            <p:nvPr/>
          </p:nvSpPr>
          <p:spPr>
            <a:xfrm>
              <a:off x="685800" y="311810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374136"/>
              <a:ext cx="6949440"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3465576"/>
              <a:ext cx="6675120" cy="371855"/>
            </a:xfrm>
            <a:prstGeom prst="rect">
              <a:avLst/>
            </a:prstGeom>
            <a:noFill/>
          </p:spPr>
          <p:txBody>
            <a:bodyPr wrap="none" lIns="0" rIns="0" tIns="0" bIns="0">
              <a:spAutoFit/>
            </a:bodyPr>
            <a:lstStyle/>
            <a:p>
              <a:r>
                <a:rPr sz="1400" b="0" i="0">
                  <a:solidFill>
                    <a:srgbClr val="1F2328"/>
                  </a:solidFill>
                  <a:latin typeface="Courier New"/>
                </a:rPr>
                <a:t>above_average</a:t>
              </a:r>
            </a:p>
            <a:p>
              <a:r>
                <a:rPr sz="1400" b="0" i="0">
                  <a:solidFill>
                    <a:srgbClr val="1F2328"/>
                  </a:solidFill>
                  <a:latin typeface="Courier New"/>
                </a:rPr>
                <a:t>7523</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The bracketed query runs first and returns one number, the average.</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8"/>
            <a:chOff x="8046719" y="2971800"/>
            <a:chExt cx="3459176" cy="1207008"/>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The outer query then counts orders above it.</a:t>
              </a:r>
            </a:p>
          </p:txBody>
        </p:sp>
        <p:cxnSp>
          <p:nvCxnSpPr>
            <p:cNvPr id="19" name="Connector 18"/>
            <p:cNvCxnSpPr/>
            <p:nvPr/>
          </p:nvCxnSpPr>
          <p:spPr>
            <a:xfrm>
              <a:off x="8046719" y="4178808"/>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A filter that quietly drops the walk-ins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10   SQL for analysts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20</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You ask for all orders where customer_id is not C0495. Only 8 of 30,229 orders belong to C0495. The query returns 21,050 rows and shows no error.</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NULL is unknown, so the test NULL not equal to C0495 is never true. SQL drops every walk-in order, over nine thousand rows.</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Test for blanks on purpose with IS NULL or IS NOT NULL. Compare the count with the table size before you trust a filter.</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Lab: eight tasks, three answers rebuilt in pandas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SQL for analysts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21</a:t>
            </a:r>
          </a:p>
        </p:txBody>
      </p:sp>
      <p:cxnSp>
        <p:nvCxnSpPr>
          <p:cNvPr id="5" name="Connector 4"/>
          <p:cNvCxnSpPr/>
          <p:nvPr/>
        </p:nvCxnSpPr>
        <p:spPr>
          <a:xfrm>
            <a:off x="685800" y="1600200"/>
            <a:ext cx="7223760" cy="0"/>
          </a:xfrm>
          <a:prstGeom prst="line">
            <a:avLst/>
          </a:prstGeom>
          <a:ln w="15875">
            <a:solidFill>
              <a:srgbClr val="1F2328"/>
            </a:solidFill>
          </a:ln>
        </p:spPr>
      </p:cxnSp>
      <p:sp>
        <p:nvSpPr>
          <p:cNvPr id="6" name="TextBox 5"/>
          <p:cNvSpPr txBox="1"/>
          <p:nvPr/>
        </p:nvSpPr>
        <p:spPr>
          <a:xfrm>
            <a:off x="685800" y="1691640"/>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1</a:t>
            </a:r>
          </a:p>
        </p:txBody>
      </p:sp>
      <p:sp>
        <p:nvSpPr>
          <p:cNvPr id="7" name="TextBox 6"/>
          <p:cNvSpPr txBox="1"/>
          <p:nvPr/>
        </p:nvSpPr>
        <p:spPr>
          <a:xfrm>
            <a:off x="1234440" y="1691640"/>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Open the Session 10 notebook and run the setup cell</a:t>
            </a:r>
          </a:p>
        </p:txBody>
      </p:sp>
      <p:cxnSp>
        <p:nvCxnSpPr>
          <p:cNvPr id="8" name="Connector 7"/>
          <p:cNvCxnSpPr/>
          <p:nvPr/>
        </p:nvCxnSpPr>
        <p:spPr>
          <a:xfrm>
            <a:off x="685800" y="2331720"/>
            <a:ext cx="7223760" cy="0"/>
          </a:xfrm>
          <a:prstGeom prst="line">
            <a:avLst/>
          </a:prstGeom>
          <a:ln w="6350">
            <a:solidFill>
              <a:srgbClr val="C9C5BC"/>
            </a:solidFill>
          </a:ln>
        </p:spPr>
      </p:cxnSp>
      <p:sp>
        <p:nvSpPr>
          <p:cNvPr id="9" name="TextBox 8"/>
          <p:cNvSpPr txBox="1"/>
          <p:nvPr/>
        </p:nvSpPr>
        <p:spPr>
          <a:xfrm>
            <a:off x="685800" y="2423160"/>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2</a:t>
            </a:r>
          </a:p>
        </p:txBody>
      </p:sp>
      <p:sp>
        <p:nvSpPr>
          <p:cNvPr id="10" name="TextBox 9"/>
          <p:cNvSpPr txBox="1"/>
          <p:nvPr/>
        </p:nvSpPr>
        <p:spPr>
          <a:xfrm>
            <a:off x="1234440" y="2423160"/>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Connect to lakeside.db and list its tables</a:t>
            </a:r>
          </a:p>
        </p:txBody>
      </p:sp>
      <p:cxnSp>
        <p:nvCxnSpPr>
          <p:cNvPr id="11" name="Connector 10"/>
          <p:cNvCxnSpPr/>
          <p:nvPr/>
        </p:nvCxnSpPr>
        <p:spPr>
          <a:xfrm>
            <a:off x="685800" y="3063239"/>
            <a:ext cx="7223760" cy="0"/>
          </a:xfrm>
          <a:prstGeom prst="line">
            <a:avLst/>
          </a:prstGeom>
          <a:ln w="6350">
            <a:solidFill>
              <a:srgbClr val="C9C5BC"/>
            </a:solidFill>
          </a:ln>
        </p:spPr>
      </p:cxnSp>
      <p:sp>
        <p:nvSpPr>
          <p:cNvPr id="12" name="TextBox 11"/>
          <p:cNvSpPr txBox="1"/>
          <p:nvPr/>
        </p:nvSpPr>
        <p:spPr>
          <a:xfrm>
            <a:off x="685800" y="315467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3</a:t>
            </a:r>
          </a:p>
        </p:txBody>
      </p:sp>
      <p:sp>
        <p:nvSpPr>
          <p:cNvPr id="13" name="TextBox 12"/>
          <p:cNvSpPr txBox="1"/>
          <p:nvPr/>
        </p:nvSpPr>
        <p:spPr>
          <a:xfrm>
            <a:off x="1234440" y="3154679"/>
            <a:ext cx="6675120" cy="640080"/>
          </a:xfrm>
          <a:prstGeom prst="rect">
            <a:avLst/>
          </a:prstGeom>
          <a:noFill/>
        </p:spPr>
        <p:txBody>
          <a:bodyPr wrap="square" lIns="0" rIns="0" tIns="18288" bIns="18288" anchor="t">
            <a:spAutoFit/>
          </a:bodyPr>
          <a:lstStyle/>
          <a:p>
            <a:pPr algn="l"/>
            <a:r>
              <a:rPr sz="2000" b="0" i="0">
                <a:solidFill>
                  <a:srgbClr val="1F2328"/>
                </a:solidFill>
                <a:latin typeface="Calibri"/>
              </a:rPr>
              <a:t>Write the queries: WHERE, ORDER BY, GROUP BY, HAVING, CASE</a:t>
            </a:r>
          </a:p>
        </p:txBody>
      </p:sp>
      <p:cxnSp>
        <p:nvCxnSpPr>
          <p:cNvPr id="14" name="Connector 13"/>
          <p:cNvCxnSpPr/>
          <p:nvPr/>
        </p:nvCxnSpPr>
        <p:spPr>
          <a:xfrm>
            <a:off x="685800" y="3794759"/>
            <a:ext cx="7223760" cy="0"/>
          </a:xfrm>
          <a:prstGeom prst="line">
            <a:avLst/>
          </a:prstGeom>
          <a:ln w="6350">
            <a:solidFill>
              <a:srgbClr val="C9C5BC"/>
            </a:solidFill>
          </a:ln>
        </p:spPr>
      </p:cxnSp>
      <p:sp>
        <p:nvSpPr>
          <p:cNvPr id="15" name="TextBox 14"/>
          <p:cNvSpPr txBox="1"/>
          <p:nvPr/>
        </p:nvSpPr>
        <p:spPr>
          <a:xfrm>
            <a:off x="685800" y="388619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4</a:t>
            </a:r>
          </a:p>
        </p:txBody>
      </p:sp>
      <p:sp>
        <p:nvSpPr>
          <p:cNvPr id="16" name="TextBox 15"/>
          <p:cNvSpPr txBox="1"/>
          <p:nvPr/>
        </p:nvSpPr>
        <p:spPr>
          <a:xfrm>
            <a:off x="1234440" y="388619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Join orders to branches</a:t>
            </a:r>
          </a:p>
        </p:txBody>
      </p:sp>
      <p:cxnSp>
        <p:nvCxnSpPr>
          <p:cNvPr id="17" name="Connector 16"/>
          <p:cNvCxnSpPr/>
          <p:nvPr/>
        </p:nvCxnSpPr>
        <p:spPr>
          <a:xfrm>
            <a:off x="685800" y="4526279"/>
            <a:ext cx="7223760" cy="0"/>
          </a:xfrm>
          <a:prstGeom prst="line">
            <a:avLst/>
          </a:prstGeom>
          <a:ln w="6350">
            <a:solidFill>
              <a:srgbClr val="C9C5BC"/>
            </a:solidFill>
          </a:ln>
        </p:spPr>
      </p:cxnSp>
      <p:sp>
        <p:nvSpPr>
          <p:cNvPr id="18" name="TextBox 17"/>
          <p:cNvSpPr txBox="1"/>
          <p:nvPr/>
        </p:nvSpPr>
        <p:spPr>
          <a:xfrm>
            <a:off x="685800" y="461771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5</a:t>
            </a:r>
          </a:p>
        </p:txBody>
      </p:sp>
      <p:sp>
        <p:nvSpPr>
          <p:cNvPr id="19" name="TextBox 18"/>
          <p:cNvSpPr txBox="1"/>
          <p:nvPr/>
        </p:nvSpPr>
        <p:spPr>
          <a:xfrm>
            <a:off x="1234440" y="461771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Rebuild three answers in pandas and compare</a:t>
            </a:r>
          </a:p>
        </p:txBody>
      </p:sp>
      <p:cxnSp>
        <p:nvCxnSpPr>
          <p:cNvPr id="20" name="Connector 19"/>
          <p:cNvCxnSpPr/>
          <p:nvPr/>
        </p:nvCxnSpPr>
        <p:spPr>
          <a:xfrm>
            <a:off x="685800" y="5257799"/>
            <a:ext cx="7223760" cy="0"/>
          </a:xfrm>
          <a:prstGeom prst="line">
            <a:avLst/>
          </a:prstGeom>
          <a:ln w="6350">
            <a:solidFill>
              <a:srgbClr val="C9C5BC"/>
            </a:solidFill>
          </a:ln>
        </p:spPr>
      </p:cxnSp>
      <p:sp>
        <p:nvSpPr>
          <p:cNvPr id="21" name="TextBox 20"/>
          <p:cNvSpPr txBox="1"/>
          <p:nvPr/>
        </p:nvSpPr>
        <p:spPr>
          <a:xfrm>
            <a:off x="685800" y="534923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6</a:t>
            </a:r>
          </a:p>
        </p:txBody>
      </p:sp>
      <p:sp>
        <p:nvSpPr>
          <p:cNvPr id="22" name="TextBox 21"/>
          <p:cNvSpPr txBox="1"/>
          <p:nvPr/>
        </p:nvSpPr>
        <p:spPr>
          <a:xfrm>
            <a:off x="1234440" y="534923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Run the walk-in trap and explain the gap</a:t>
            </a:r>
          </a:p>
        </p:txBody>
      </p:sp>
      <p:cxnSp>
        <p:nvCxnSpPr>
          <p:cNvPr id="23" name="Connector 22"/>
          <p:cNvCxnSpPr/>
          <p:nvPr/>
        </p:nvCxnSpPr>
        <p:spPr>
          <a:xfrm>
            <a:off x="685800" y="5989319"/>
            <a:ext cx="7223760" cy="0"/>
          </a:xfrm>
          <a:prstGeom prst="line">
            <a:avLst/>
          </a:prstGeom>
          <a:ln w="6350">
            <a:solidFill>
              <a:srgbClr val="C9C5BC"/>
            </a:solidFill>
          </a:ln>
        </p:spPr>
      </p:cxnSp>
      <p:cxnSp>
        <p:nvCxnSpPr>
          <p:cNvPr id="24" name="Connector 23"/>
          <p:cNvCxnSpPr/>
          <p:nvPr/>
        </p:nvCxnSpPr>
        <p:spPr>
          <a:xfrm>
            <a:off x="8458200" y="1600200"/>
            <a:ext cx="3047695" cy="0"/>
          </a:xfrm>
          <a:prstGeom prst="line">
            <a:avLst/>
          </a:prstGeom>
          <a:ln w="15875">
            <a:solidFill>
              <a:srgbClr val="1F2328"/>
            </a:solidFill>
          </a:ln>
        </p:spPr>
      </p:cxnSp>
      <p:sp>
        <p:nvSpPr>
          <p:cNvPr id="25" name="TextBox 24"/>
          <p:cNvSpPr txBox="1"/>
          <p:nvPr/>
        </p:nvSpPr>
        <p:spPr>
          <a:xfrm>
            <a:off x="8458200" y="17099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Tool and time</a:t>
            </a:r>
          </a:p>
        </p:txBody>
      </p:sp>
      <p:sp>
        <p:nvSpPr>
          <p:cNvPr id="26" name="TextBox 25"/>
          <p:cNvSpPr txBox="1"/>
          <p:nvPr/>
        </p:nvSpPr>
        <p:spPr>
          <a:xfrm>
            <a:off x="8458200" y="2011680"/>
            <a:ext cx="3047695" cy="1097280"/>
          </a:xfrm>
          <a:prstGeom prst="rect">
            <a:avLst/>
          </a:prstGeom>
          <a:noFill/>
        </p:spPr>
        <p:txBody>
          <a:bodyPr wrap="square" lIns="0" rIns="0" tIns="18288" bIns="18288" anchor="t">
            <a:spAutoFit/>
          </a:bodyPr>
          <a:lstStyle/>
          <a:p>
            <a:pPr algn="l"/>
            <a:r>
              <a:rPr sz="2100" b="1" i="0">
                <a:solidFill>
                  <a:srgbClr val="1F2328"/>
                </a:solidFill>
                <a:latin typeface="Cambria"/>
              </a:rPr>
              <a:t>Google Colab
40 minutes</a:t>
            </a:r>
          </a:p>
        </p:txBody>
      </p:sp>
      <p:cxnSp>
        <p:nvCxnSpPr>
          <p:cNvPr id="27" name="Connector 26"/>
          <p:cNvCxnSpPr/>
          <p:nvPr/>
        </p:nvCxnSpPr>
        <p:spPr>
          <a:xfrm>
            <a:off x="8458200" y="3200400"/>
            <a:ext cx="3047695" cy="0"/>
          </a:xfrm>
          <a:prstGeom prst="line">
            <a:avLst/>
          </a:prstGeom>
          <a:ln w="6350">
            <a:solidFill>
              <a:srgbClr val="C9C5BC"/>
            </a:solidFill>
          </a:ln>
        </p:spPr>
      </p:cxnSp>
      <p:sp>
        <p:nvSpPr>
          <p:cNvPr id="28" name="TextBox 27"/>
          <p:cNvSpPr txBox="1"/>
          <p:nvPr/>
        </p:nvSpPr>
        <p:spPr>
          <a:xfrm>
            <a:off x="8458200" y="33101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You are done when</a:t>
            </a:r>
          </a:p>
        </p:txBody>
      </p:sp>
      <p:sp>
        <p:nvSpPr>
          <p:cNvPr id="29" name="TextBox 28"/>
          <p:cNvSpPr txBox="1"/>
          <p:nvPr/>
        </p:nvSpPr>
        <p:spPr>
          <a:xfrm>
            <a:off x="8458200" y="3611880"/>
            <a:ext cx="3047695" cy="2606039"/>
          </a:xfrm>
          <a:prstGeom prst="rect">
            <a:avLst/>
          </a:prstGeom>
          <a:noFill/>
        </p:spPr>
        <p:txBody>
          <a:bodyPr wrap="square" lIns="0" rIns="0" tIns="18288" bIns="18288" anchor="t">
            <a:spAutoFit/>
          </a:bodyPr>
          <a:lstStyle/>
          <a:p>
            <a:pPr algn="l"/>
            <a:r>
              <a:rPr sz="2100" b="0" i="0">
                <a:solidFill>
                  <a:srgbClr val="1F2328"/>
                </a:solidFill>
                <a:latin typeface="Calibri"/>
              </a:rPr>
              <a:t>Three SQL answers equal their pandas twins. You can say which rows a join dropped.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Questions to finish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SQL for analysts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22</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A query has no ORDER BY. Can you rely on the rows coming back in the same order?</a:t>
            </a:r>
          </a:p>
        </p:txBody>
      </p:sp>
      <p:grpSp>
        <p:nvGrpSpPr>
          <p:cNvPr id="8" name="answer-1"/>
          <p:cNvGrpSpPr/>
          <p:nvPr/>
        </p:nvGrpSpPr>
        <p:grpSpPr>
          <a:xfrm>
            <a:off x="1234440" y="2399690"/>
            <a:ext cx="10271455" cy="648309"/>
            <a:chOff x="1234440" y="2399690"/>
            <a:chExt cx="10271455" cy="648309"/>
          </a:xfrm>
        </p:grpSpPr>
        <p:sp>
          <p:nvSpPr>
            <p:cNvPr id="9" name="TextBox 8"/>
            <p:cNvSpPr txBox="1"/>
            <p:nvPr/>
          </p:nvSpPr>
          <p:spPr>
            <a:xfrm>
              <a:off x="1234440" y="239969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No. SQL has no row order unless you write ORDER BY.</a:t>
              </a:r>
            </a:p>
          </p:txBody>
        </p:sp>
      </p:grpSp>
      <p:cxnSp>
        <p:nvCxnSpPr>
          <p:cNvPr id="10" name="Connector 9"/>
          <p:cNvCxnSpPr/>
          <p:nvPr/>
        </p:nvCxnSpPr>
        <p:spPr>
          <a:xfrm>
            <a:off x="685800" y="3139440"/>
            <a:ext cx="10820095" cy="0"/>
          </a:xfrm>
          <a:prstGeom prst="line">
            <a:avLst/>
          </a:prstGeom>
          <a:ln w="6350">
            <a:solidFill>
              <a:srgbClr val="C9C5BC"/>
            </a:solidFill>
          </a:ln>
        </p:spPr>
      </p:cxnSp>
      <p:sp>
        <p:nvSpPr>
          <p:cNvPr id="11" name="TextBox 10"/>
          <p:cNvSpPr txBox="1"/>
          <p:nvPr/>
        </p:nvSpPr>
        <p:spPr>
          <a:xfrm>
            <a:off x="685800" y="323088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323088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You want branches with more than 4,000 orders. WHERE or HAVING?</a:t>
            </a:r>
          </a:p>
        </p:txBody>
      </p:sp>
      <p:grpSp>
        <p:nvGrpSpPr>
          <p:cNvPr id="13" name="answer-2"/>
          <p:cNvGrpSpPr/>
          <p:nvPr/>
        </p:nvGrpSpPr>
        <p:grpSpPr>
          <a:xfrm>
            <a:off x="1234440" y="3938930"/>
            <a:ext cx="10271455" cy="648309"/>
            <a:chOff x="1234440" y="3938930"/>
            <a:chExt cx="10271455" cy="648309"/>
          </a:xfrm>
        </p:grpSpPr>
        <p:sp>
          <p:nvSpPr>
            <p:cNvPr id="14" name="TextBox 13"/>
            <p:cNvSpPr txBox="1"/>
            <p:nvPr/>
          </p:nvSpPr>
          <p:spPr>
            <a:xfrm>
              <a:off x="1234440" y="393893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HAVING. WHERE runs before the groups exist.</a:t>
              </a:r>
            </a:p>
          </p:txBody>
        </p:sp>
      </p:grpSp>
      <p:cxnSp>
        <p:nvCxnSpPr>
          <p:cNvPr id="15" name="Connector 14"/>
          <p:cNvCxnSpPr/>
          <p:nvPr/>
        </p:nvCxnSpPr>
        <p:spPr>
          <a:xfrm>
            <a:off x="685800" y="4678680"/>
            <a:ext cx="10820095" cy="0"/>
          </a:xfrm>
          <a:prstGeom prst="line">
            <a:avLst/>
          </a:prstGeom>
          <a:ln w="6350">
            <a:solidFill>
              <a:srgbClr val="C9C5BC"/>
            </a:solidFill>
          </a:ln>
        </p:spPr>
      </p:cxnSp>
      <p:sp>
        <p:nvSpPr>
          <p:cNvPr id="16" name="TextBox 15"/>
          <p:cNvSpPr txBox="1"/>
          <p:nvPr/>
        </p:nvSpPr>
        <p:spPr>
          <a:xfrm>
            <a:off x="685800" y="477012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3</a:t>
            </a:r>
          </a:p>
        </p:txBody>
      </p:sp>
      <p:sp>
        <p:nvSpPr>
          <p:cNvPr id="17" name="TextBox 16"/>
          <p:cNvSpPr txBox="1"/>
          <p:nvPr/>
        </p:nvSpPr>
        <p:spPr>
          <a:xfrm>
            <a:off x="1234440" y="477012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Which join keeps the orders of walk-in customers who have no match?</a:t>
            </a:r>
          </a:p>
        </p:txBody>
      </p:sp>
      <p:grpSp>
        <p:nvGrpSpPr>
          <p:cNvPr id="18" name="answer-3"/>
          <p:cNvGrpSpPr/>
          <p:nvPr/>
        </p:nvGrpSpPr>
        <p:grpSpPr>
          <a:xfrm>
            <a:off x="1234440" y="5478170"/>
            <a:ext cx="10271455" cy="648309"/>
            <a:chOff x="1234440" y="5478170"/>
            <a:chExt cx="10271455" cy="648309"/>
          </a:xfrm>
        </p:grpSpPr>
        <p:sp>
          <p:nvSpPr>
            <p:cNvPr id="19" name="TextBox 18"/>
            <p:cNvSpPr txBox="1"/>
            <p:nvPr/>
          </p:nvSpPr>
          <p:spPr>
            <a:xfrm>
              <a:off x="1234440" y="547817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A LEFT JOIN from orders. An INNER JOIN drops them.</a:t>
              </a:r>
            </a:p>
          </p:txBody>
        </p:sp>
      </p:grpSp>
      <p:cxnSp>
        <p:nvCxnSpPr>
          <p:cNvPr id="20" name="Connector 19"/>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Summary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10   SQL for analysts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23</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A database is several tables. SELECT, FROM and WHERE pick columns and rows. GROUP BY and HAVING are a PivotTable.</a:t>
            </a:r>
          </a:p>
        </p:txBody>
      </p:sp>
      <p:cxnSp>
        <p:nvCxnSpPr>
          <p:cNvPr id="7" name="Connector 6"/>
          <p:cNvCxnSpPr/>
          <p:nvPr/>
        </p:nvCxnSpPr>
        <p:spPr>
          <a:xfrm>
            <a:off x="685800" y="2834639"/>
            <a:ext cx="10820095" cy="0"/>
          </a:xfrm>
          <a:prstGeom prst="line">
            <a:avLst/>
          </a:prstGeom>
          <a:ln w="6350">
            <a:solidFill>
              <a:srgbClr val="C9C5BC"/>
            </a:solidFill>
          </a:ln>
        </p:spPr>
      </p:cxnSp>
      <p:sp>
        <p:nvSpPr>
          <p:cNvPr id="8" name="TextBox 7"/>
          <p:cNvSpPr txBox="1"/>
          <p:nvPr/>
        </p:nvSpPr>
        <p:spPr>
          <a:xfrm>
            <a:off x="685800" y="292607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SQL has no row order unless you write ORDER BY. The database runs FROM first and SELECT fifth.</a:t>
            </a:r>
          </a:p>
        </p:txBody>
      </p:sp>
      <p:cxnSp>
        <p:nvCxnSpPr>
          <p:cNvPr id="9" name="Connector 8"/>
          <p:cNvCxnSpPr/>
          <p:nvPr/>
        </p:nvCxnSpPr>
        <p:spPr>
          <a:xfrm>
            <a:off x="685800" y="4069079"/>
            <a:ext cx="10820095" cy="0"/>
          </a:xfrm>
          <a:prstGeom prst="line">
            <a:avLst/>
          </a:prstGeom>
          <a:ln w="6350">
            <a:solidFill>
              <a:srgbClr val="C9C5BC"/>
            </a:solidFill>
          </a:ln>
        </p:spPr>
      </p:cxnSp>
      <p:sp>
        <p:nvSpPr>
          <p:cNvPr id="10" name="TextBox 9"/>
          <p:cNvSpPr txBox="1"/>
          <p:nvPr/>
        </p:nvSpPr>
        <p:spPr>
          <a:xfrm>
            <a:off x="685800" y="416051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A join type decides which rows survive. NULL is unknown, so a test on it can drop rows silently.</a:t>
            </a:r>
          </a:p>
        </p:txBody>
      </p:sp>
      <p:cxnSp>
        <p:nvCxnSpPr>
          <p:cNvPr id="11" name="Connector 10"/>
          <p:cNvCxnSpPr/>
          <p:nvPr/>
        </p:nvCxnSpPr>
        <p:spPr>
          <a:xfrm>
            <a:off x="685800" y="5303519"/>
            <a:ext cx="10820095" cy="0"/>
          </a:xfrm>
          <a:prstGeom prst="line">
            <a:avLst/>
          </a:prstGeom>
          <a:ln w="6350">
            <a:solidFill>
              <a:srgbClr val="C9C5BC"/>
            </a:solidFill>
          </a:ln>
        </p:spPr>
      </p:cxnSp>
      <p:sp>
        <p:nvSpPr>
          <p:cNvPr id="12" name="TextBox 11"/>
          <p:cNvSpPr txBox="1"/>
          <p:nvPr/>
        </p:nvSpPr>
        <p:spPr>
          <a:xfrm>
            <a:off x="685800" y="5623559"/>
            <a:ext cx="10820095" cy="548640"/>
          </a:xfrm>
          <a:prstGeom prst="rect">
            <a:avLst/>
          </a:prstGeom>
          <a:noFill/>
        </p:spPr>
        <p:txBody>
          <a:bodyPr wrap="square" lIns="0" rIns="0" tIns="18288" bIns="18288" anchor="t">
            <a:spAutoFit/>
          </a:bodyPr>
          <a:lstStyle/>
          <a:p>
            <a:pPr algn="l"/>
            <a:r>
              <a:rPr sz="2200" b="1" i="0">
                <a:solidFill>
                  <a:srgbClr val="B04A2B"/>
                </a:solidFill>
                <a:latin typeface="Calibri"/>
              </a:rPr>
              <a:t>Next session. </a:t>
            </a:r>
            <a:r>
              <a:rPr sz="2200" b="0" i="0">
                <a:solidFill>
                  <a:srgbClr val="1F2328"/>
                </a:solidFill>
                <a:latin typeface="Calibri"/>
              </a:rPr>
              <a:t>Exploring and visualising with Python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