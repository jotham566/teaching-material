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gap between two averages is easy to find. Deciding whether it is luck is today's job. Last time you explored data and found findings worth reporting. Today we test one, from Lakeside Mart. Did a loyalty offer raise how much customers spend? By the end you'll have a confidence interval, a p-value and a decision you can defend to a manager, and you'll know the two ways these tests mislead people.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build and read a confidence interval, starting from how much an average wobbles. You'll run and read a t test and a proportion test, and say what a p-value does and doesn't tell you. And you'll state a decision with its effect size and its uncertainty, and know why many tests and early peeks create false alarms. Most of the two hours is live code, and in the lab you rerun the offer question with a fixed seed so your numbers repeat.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Standard error is how much an average wobbles. A confidence interval is a range built to catch the true value. The bootstrap re-draws your own data to measure that wobble. The null hypothesis is the claim that nothing is going on, and the p-value tells you how surprising your data would be if it were true. Effect size says how big the gap is in useful units. Multiple testing is the trap of running many tests until one looks good. Read the right-hand column. Most of these have a cousin in your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on rates and findings, from Session 11, before we test anything.</a:t>
            </a:r>
          </a:p>
          <a:p/>
          <a:p>
            <a:r>
              <a:t>First. One branch has the most returns of all the branches. Does that make it the branch with the worst return problem? Have a think.</a:t>
            </a:r>
          </a:p>
          <a:p/>
          <a:p>
            <a:r>
              <a:t>We can't tell yet. A bigger branch sells more, so it has more returns even when its customers return things less often. Divide the returns by the lines sold to get a rate, then compare the rates. That was the lesson on rates and counts.</a:t>
            </a:r>
          </a:p>
          <a:p/>
          <a:p>
            <a:r>
              <a:t>Second. What should every written finding contain? No rush.</a:t>
            </a:r>
          </a:p>
          <a:p/>
          <a:p>
            <a:r>
              <a:t>A number, a comparison and a limit. The number says how big the thing is, the comparison says against what, and the limit says what the data can't tell us. Today we use both, because a test result with no limit is easy to misuse.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question comes from a manager. We gave some customers a loyalty offer. Did it work?</a:t>
            </a:r>
          </a:p>
          <a:p/>
          <a:p>
            <a:r>
              <a:t>The test was set up by chance. Lakeside Mart took twenty five hundred loyalty customers and gave a random half the offer. The other half got nothing. We call them the offer group and the control group. Because chance chose who got what, the two groups should be alike in everything except the offer. The file has one row per customer. It holds the group, the spend next month, and whether they came back to shop within thirty days.</a:t>
            </a:r>
          </a:p>
          <a:p/>
          <a:p>
            <a:r>
              <a:t>Group size first. Twelve hundred and forty five in the offer group, twelve hundred and fifty five in control.</a:t>
            </a:r>
          </a:p>
          <a:p/>
          <a:p>
            <a:r>
              <a:t>Now the averages. Offer customers spent sixty six thousand seven hundred and four shillings. Control customers spent sixty one thousand six hundred and sixty. A gap of about five thousand shillings. In Sheets this is an AVERAGEIF. The question is whether the five thousand comes from the offer or from the luck of who landed in which group.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judge a gap we first need to see how much an average wobbles. You met this in Session 4 with RAND in Sheets. Here it is again, with Lakeside Mart orders.</a:t>
            </a:r>
          </a:p>
          <a:p/>
          <a:p>
            <a:r>
              <a:t>Take thirty orders at random and find their average. Do it two hundred times. Every bar in this picture counts how many of those samples gave an average in that range. Same shop, two hundred different answers.</a:t>
            </a:r>
          </a:p>
          <a:p/>
          <a:p>
            <a:r>
              <a:t>Most averages sit close to the red line, which is the true average of all the orders. But look at how far some land. Any one sample is a guess.</a:t>
            </a:r>
          </a:p>
          <a:p/>
          <a:p>
            <a:r>
              <a:t>The long tail on the right comes from samples that happened to catch a few very large orders. Remember the three million shilling order from Session 7.</a:t>
            </a:r>
          </a:p>
          <a:p/>
          <a:p>
            <a:r>
              <a:t>So when we compare two groups, each average carries this wobble, and the gap carries it too.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same experiment with three different sample sizes. The letter n means how many orders are in each sample.</a:t>
            </a:r>
          </a:p>
          <a:p/>
          <a:p>
            <a:r>
              <a:t>With five orders in each sample, the averages scatter all over the place. The label says the spread is sixty four thousand four hundred shillings.</a:t>
            </a:r>
          </a:p>
          <a:p/>
          <a:p>
            <a:r>
              <a:t>With thirty orders, the hill gets narrower. The spread is twenty two thousand eight hundred.</a:t>
            </a:r>
          </a:p>
          <a:p/>
          <a:p>
            <a:r>
              <a:t>With two hundred orders, the averages crowd around the true value. The spread drops to eight thousand four hundred. Notice too that the shape turns into a neat bell.</a:t>
            </a:r>
          </a:p>
          <a:p/>
          <a:p>
            <a:r>
              <a:t>So a bigger sample wobbles less. That is why a test with twenty five hundred customers can say more than one with fifty. The size of the wobble has a name, and we measure it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wobble as a number. We call it the standard error. It is how much a sample average wobbles from one sample to the next.</a:t>
            </a:r>
          </a:p>
          <a:p/>
          <a:p>
            <a:r>
              <a:t>The code draws thirty orders at random, takes the average, and does that a thousand times. The name rng is a random number maker, and the seed forty two makes it repeat the same draws every time you run it.</a:t>
            </a:r>
          </a:p>
          <a:p/>
          <a:p>
            <a:r>
              <a:t>The spread of those thousand averages, using the standard deviation from Session 3, is the standard error. We get twenty four thousand six hundred and sixty three shillings.</a:t>
            </a:r>
          </a:p>
          <a:p/>
          <a:p>
            <a:r>
              <a:t>You don't have to simulate it. The standard deviation of the orders divided by the square root of the sample size gives twenty two thousand five hundred and sixty one. Close, but not equal, because order values are so skewed. In Sheets that formula is STDEV.S of the column divided by SQRT of COUNT.</a:t>
            </a:r>
          </a:p>
          <a:p/>
          <a:p>
            <a:r>
              <a:t>Notice the square root of n. A sample four times bigger halves the wobble.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use the standard error to build a confidence interval. A confidence interval is a range around your result that is built to catch the true value most of the time. We use the 95 percent kind.</a:t>
            </a:r>
          </a:p>
          <a:p/>
          <a:p>
            <a:r>
              <a:t>First we split the spend into the two groups. The lift is the offer average minus the control average. It is five thousand and forty four shillings.</a:t>
            </a:r>
          </a:p>
          <a:p/>
          <a:p>
            <a:r>
              <a:t>The standard error of that gap combines the wobble of both groups. It comes out at fifteen hundred and twenty six.</a:t>
            </a:r>
          </a:p>
          <a:p/>
          <a:p>
            <a:r>
              <a:t>Then the interval. Averages from big samples form a bell shape, as you saw with n of two hundred, and ninety five percent of a bell lies within one point nine six standard errors of the middle. So we go that far each side of the lift.</a:t>
            </a:r>
          </a:p>
          <a:p/>
          <a:p>
            <a:r>
              <a:t>The interval runs from two thousand and fifty four to eight thousand and thirty five shillings. We estimate that the true lift per customer sits somewhere in that range.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two groups drawn side by side. The light grey bar is control, and the dark bar is the offer group.</a:t>
            </a:r>
          </a:p>
          <a:p/>
          <a:p>
            <a:r>
              <a:t>The control average is about sixty one thousand seven hundred shillings. The offer average is about sixty six thousand seven hundred.</a:t>
            </a:r>
          </a:p>
          <a:p/>
          <a:p>
            <a:r>
              <a:t>Each bar has a whisker. The whisker is that group's own ninety five percent interval for its average.</a:t>
            </a:r>
          </a:p>
          <a:p/>
          <a:p>
            <a:r>
              <a:t>See how the whiskers nearly touch. Some people use overlap as a quick test. It's a rough guide only. The better move is to build one interval for the gap itself, which is what we did on the last slide, and draw that next.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picture a manager can read in five seconds.</a:t>
            </a:r>
          </a:p>
          <a:p/>
          <a:p>
            <a:r>
              <a:t>The dot is our best estimate of the lift. Five thousand and forty four shillings per customer.</a:t>
            </a:r>
          </a:p>
          <a:p/>
          <a:p>
            <a:r>
              <a:t>The line around it is the ninety five percent interval, from two thousand and fifty four to eight thousand and thirty five.</a:t>
            </a:r>
          </a:p>
          <a:p/>
          <a:p>
            <a:r>
              <a:t>And the dashed line is zero, which means no difference at all. It sits to the left of the whole interval. So a gap of zero doesn't fit our data well. The data point to a real rise in spend.</a:t>
            </a:r>
          </a:p>
          <a:p/>
          <a:p>
            <a:r>
              <a:t>Now picture the same chart where the interval crossed the dashed line. Then zero would still be a possible answer, and we couldn't say the offer worked. Always check where zero falls.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second way to get an interval, and it needs no formula. It's called the bootstrap. You re-draw your own data many times, and see how much the answer wobbles.</a:t>
            </a:r>
          </a:p>
          <a:p/>
          <a:p>
            <a:r>
              <a:t>Inside the loop, we pick customers at random from the offer group, as many as the group holds. Each customer goes back after being picked, so the same customer can appear twice. We do the same for the control group. Then we record the gap between the two averages.</a:t>
            </a:r>
          </a:p>
          <a:p/>
          <a:p>
            <a:r>
              <a:t>We repeat that five thousand times. In Sheets you could do the same with RAND, but you would copy the sheet five thousand times.</a:t>
            </a:r>
          </a:p>
          <a:p/>
          <a:p>
            <a:r>
              <a:t>At the end we sort the five thousand gaps and cut off the lowest two and a half percent and the highest two and a half percent. What remains runs from nineteen hundred and fifty nine to eight thousand and four. The standard error is fifteen hundred and twenty two. Both are close to what the formula gave. Two routes, one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way to judge a gap starts from a pretend world. In that world the offer did nothing at all. That starting claim has a name, the null hypothesis. Null means nothing.</a:t>
            </a:r>
          </a:p>
          <a:p/>
          <a:p>
            <a:r>
              <a:t>If the null were true, any gap between the groups would be pure luck. Most of the time luck gives small gaps, and the bell in the middle shows that. Now and then it gives a big one. Those are the two shaded tails.</a:t>
            </a:r>
          </a:p>
          <a:p/>
          <a:p>
            <a:r>
              <a:t>The p-value is the chance of landing in the shaded tails, which means a gap at least as big as ours, if the null were true.</a:t>
            </a:r>
          </a:p>
          <a:p/>
          <a:p>
            <a:r>
              <a:t>A small p-value says luck is a poor explanation for what we saw. People often draw the line at zero point zero five. The p-value describes how surprising the data would be in the pretend world. It gives no chance that the offer 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build that pretend world on the computer. If the offer did nothing, then the labels offer and control are just names. So we shuffle them, like shuffling a deck of cards.</a:t>
            </a:r>
          </a:p>
          <a:p/>
          <a:p>
            <a:r>
              <a:t>After each shuffle we find the gap between the two groups. Because the labels were shuffled, any gap we get is pure luck. We shuffle five thousand times. This is called a permutation test.</a:t>
            </a:r>
          </a:p>
          <a:p/>
          <a:p>
            <a:r>
              <a:t>Then we count how often luck alone gave a gap as big as ours, either way round. The answer is seven times in five thousand.</a:t>
            </a:r>
          </a:p>
          <a:p/>
          <a:p>
            <a:r>
              <a:t>Seven over five thousand is zero point zero zero one four. That is our p-value, about one in seven hundred. Our gap of five thousand shillings is very hard to explain by luck.</a:t>
            </a:r>
          </a:p>
          <a:p/>
          <a:p>
            <a:r>
              <a:t>The shuffled gaps wobble by about fifteen hundred, which matches the standard error. Same wobble, seen from a different side.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file holds a second outcome. Did the customer come back to shop within thirty days? Each row says one or zero. The average of ones and zeros is a share, so this is a question about shares.</a:t>
            </a:r>
          </a:p>
          <a:p/>
          <a:p>
            <a:r>
              <a:t>Comparing two shares has its own name, a proportion test. Comparing two averages, like spend, is usually done with a t test. Same idea, different recipe.</a:t>
            </a:r>
          </a:p>
          <a:p/>
          <a:p>
            <a:r>
              <a:t>The offer group came back at forty five point one percent. The control group came back at forty two point nine percent. The gap is two point two percentage points.</a:t>
            </a:r>
          </a:p>
          <a:p/>
          <a:p>
            <a:r>
              <a:t>The same recipe gives the interval. From minus one point seven points to plus six point one points. This interval crosses zero. So the true gap could be a small drop or a decent gain. A test that gives a p-value near zero point two seven, as this one does, can't tell us.</a:t>
            </a:r>
          </a:p>
          <a:p/>
          <a:p>
            <a:r>
              <a:t>This is a result in its own right. With these customers we can't tell,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 built by hand has a ready made version in the libraries. In Colab they are already installed. You'll reach for these in any analysis you do at work.</a:t>
            </a:r>
          </a:p>
          <a:p/>
          <a:p>
            <a:r>
              <a:t>The first call is the t test for two groups. We set equal_var to False, which lets the two groups have different spread. It gives a test statistic and a p-value. The statistic is the gap divided by its standard error, so it's about three point three here. The p-value comes out near one in a thousand, matching our permutation test.</a:t>
            </a:r>
          </a:p>
          <a:p/>
          <a:p>
            <a:r>
              <a:t>The second line gives the confidence interval for the gap. It needs SciPy version one point eleven or newer, which Colab has. Expect a range very close to two thousand and fifty four to eight thousand and thirty five. Your run will be close to our numbers, and may differ in the last digits.</a:t>
            </a:r>
          </a:p>
          <a:p/>
          <a:p>
            <a:r>
              <a:t>The last call is the proportion test. Give it the counts of customers who came back, five hundred and sixty two and five hundred and thirty nine, and the group sizes. The p-value will be near zero point two seven.</a:t>
            </a:r>
          </a:p>
          <a:p/>
          <a:p>
            <a:r>
              <a:t>Whichever route you take, the reading of the answer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both results in one table, the way you would show a manager.</a:t>
            </a:r>
          </a:p>
          <a:p/>
          <a:p>
            <a:r>
              <a:t>The first row is spend. The lift is five thousand and forty four shillings. The interval stays above zero and the p-value is about one in a thousand. A clear lift.</a:t>
            </a:r>
          </a:p>
          <a:p/>
          <a:p>
            <a:r>
              <a:t>The second row is customers coming back. The gap is two point two percentage points. The interval runs from below zero to above zero, and the p-value is about zero point two seven. We can't tell.</a:t>
            </a:r>
          </a:p>
          <a:p/>
          <a:p>
            <a:r>
              <a:t>Look at the caption, because this is where people trip. When an interval includes zero, the right words are that we can't tell. They aren't that the offer failed. With more customers in the test, the interval might shrink to one side of zero. Only a bigger test can settle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p-value tells us luck is a poor explanation for the gap. It does not tell us the gap is worth having. For that we look at the effect size, which is the size of the gap in units a person can feel.</a:t>
            </a:r>
          </a:p>
          <a:p/>
          <a:p>
            <a:r>
              <a:t>Five thousand and forty four shillings more per customer. Against the control average, that is eight point two percent more.</a:t>
            </a:r>
          </a:p>
          <a:p/>
          <a:p>
            <a:r>
              <a:t>Now compare the gap with how much customers differ from each other. Spend varies a lot between customers, and the gap is only about zero point one three of one standard deviation. That is a small effect on this scale.</a:t>
            </a:r>
          </a:p>
          <a:p/>
          <a:p>
            <a:r>
              <a:t>Multiply the lift by the twelve hundred and forty five customers in the offer group and you get about six point three million shillings of extra spend in the month.</a:t>
            </a:r>
          </a:p>
          <a:p/>
          <a:p>
            <a:r>
              <a:t>So is that big? Think about it. It depends on what the offer costs. If the discounts cost more than six million shillings, the lift loses money. Only the business can answer that, and your job is to put the number in front of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problem of multiple testing. Running many tests until one looks good.</a:t>
            </a:r>
          </a:p>
          <a:p/>
          <a:p>
            <a:r>
              <a:t>Watch what happens when nothing is going on. The code splits the customers into two random halves. There's no offer here, the halves are just names. Then it runs the same test as before. It does this a hundred times.</a:t>
            </a:r>
          </a:p>
          <a:p/>
          <a:p>
            <a:r>
              <a:t>Seven of the hundred fake tests came out with a p-value below zero point zero five. If you draw the line at zero point zero five, you expect about five in a hundred by luck alone. We got seven, which is near that.</a:t>
            </a:r>
          </a:p>
          <a:p/>
          <a:p>
            <a:r>
              <a:t>Think of it this way. Test twenty ideas on one dataset, such as twenty branches, twenty products or twenty customer groups, and the chance of at least one false alarm is about sixty four percent. Say a report lists fifty things and highlights the three with small p-values. Without a plan for this, those three may be luck.</a:t>
            </a:r>
          </a:p>
          <a:p/>
          <a:p>
            <a:r>
              <a:t>The fix is to decide your questions before you look, and to treat a lone surprise as a lead worth testing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and it runs with no error at all.</a:t>
            </a:r>
          </a:p>
          <a:p/>
          <a:p>
            <a:r>
              <a:t>You start a test and check it every morning. On day nine the p-value dips below zero point zero five, so you stop and announce a win. It feels careful, and it misleads you.</a:t>
            </a:r>
          </a:p>
          <a:p/>
          <a:p>
            <a:r>
              <a:t>The gap between two groups drifts up and down from day to day, just from luck. If you look every day, you give luck many chances to cross the line, and you stop the moment it does. That is the same as running many tests and keeping the best one.</a:t>
            </a:r>
          </a:p>
          <a:p/>
          <a:p>
            <a:r>
              <a:t>The fix needs discipline. Decide how many customers you need, and the day you will stop, before the test begins. Then look once, at the end. If your manager wants to check along the way, check by all means, but don't act on early p-values.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is forty minutes in Google Colab and it asks the question we started with. Did the loyalty offer work? The first task is to split offer_test.csv into the two groups and print how many customers each has.</a:t>
            </a:r>
          </a:p>
          <a:p/>
          <a:p>
            <a:r>
              <a:t>Run the setup cell in the Session 12 notebook, then work down the tasks. You'll find the lift, bootstrap it five thousand times with a fixed seed so your numbers repeat, and cut the interval from the bootstrap.</a:t>
            </a:r>
          </a:p>
          <a:p/>
          <a:p>
            <a:r>
              <a:t>Then you apply a decision rule that the notebook states before you see the answer. You use it on spend and again on customers coming back.</a:t>
            </a:r>
          </a:p>
          <a:p/>
          <a:p>
            <a:r>
              <a:t>The last coding task is a permutation test, with a t test from SciPy as a cross check. Finish by checking the lift against the Sheets formula for the standard error.</a:t>
            </a:r>
          </a:p>
          <a:p/>
          <a:p>
            <a:r>
              <a:t>You're done when you can say, in two sentences, what the lift is, how sure we are, and what the decision is. I'll be around if an error stops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on intervals and p-values. Answer each in your head first.</a:t>
            </a:r>
          </a:p>
          <a:p/>
          <a:p>
            <a:r>
              <a:t>Question one. The lift is five thousand and forty four shillings, with an interval from two thousand and fifty four to eight thousand and thirty five. What does that tell a manager? Take your time.</a:t>
            </a:r>
          </a:p>
          <a:p/>
          <a:p>
            <a:r>
              <a:t>The true lift plausibly sits anywhere in that range, and zero lies outside it. So the data point to a real rise in spend, by somewhere between two thousand and eight thousand shillings per customer.</a:t>
            </a:r>
          </a:p>
          <a:p/>
          <a:p>
            <a:r>
              <a:t>Question two. What does a p-value of zero point zero zero one measure? Think it over.</a:t>
            </a:r>
          </a:p>
          <a:p/>
          <a:p>
            <a:r>
              <a:t>How often luck alone would give a gap this big, or bigger, if the offer did nothing. It says nothing about how big the effect is.</a:t>
            </a:r>
          </a:p>
          <a:p/>
          <a:p>
            <a:r>
              <a:t>Question three. You test twenty ideas and one has a p-value of zero point zero four. What do you say? Give that a moment.</a:t>
            </a:r>
          </a:p>
          <a:p/>
          <a:p>
            <a:r>
              <a:t>Expect about one false alarm in twenty tests. Call it a lead, and test it again on fresh data before anyone acts.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error measures how much an average wobbles. Bigger samples wobble less, by the square root of the sample size.</a:t>
            </a:r>
          </a:p>
          <a:p/>
          <a:p>
            <a:r>
              <a:t>Two. Report the gap together with its ninety five percent interval, and check where zero falls. If zero is inside, say you can't tell.</a:t>
            </a:r>
          </a:p>
          <a:p/>
          <a:p>
            <a:r>
              <a:t>Three. A small p-value says luck explains the gap badly. The effect size says whether it matters. And many tests, or early peeks at one test, create false alarms.</a:t>
            </a:r>
          </a:p>
          <a:p/>
          <a:p>
            <a:r>
              <a:t>Next session we move from comparing two groups to explaining a number with other numbers. We'll ask how much weekly orders change when footfall changes, and draw a line through the cloud. Bring a pair of things at work that you suspect move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12   Inference: is the difference real?</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12</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12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Inference: is the difference real?</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When two groups differ, how do we know it is not just luck?</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Build and read a confidence interval.</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Run and read a t test and a proportion test.</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State a decision with effect size and uncertainty.</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9"/>
        </p:xfrm>
        <a:graphic>
          <a:graphicData uri="http://schemas.openxmlformats.org/drawingml/2006/table">
            <a:tbl>
              <a:tblPr firstRow="0" bandRow="0">
                <a:tableStyleId>{2D5ABB26-0587-4C30-8999-92F81FD0307C}</a:tableStyleId>
              </a:tblPr>
              <a:tblGrid>
                <a:gridCol w="2164019"/>
                <a:gridCol w="5410047"/>
                <a:gridCol w="3246028"/>
              </a:tblGrid>
              <a:tr h="439293">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69112">
                <a:tc>
                  <a:txBody>
                    <a:bodyPr wrap="square"/>
                    <a:lstStyle/>
                    <a:p>
                      <a:r>
                        <a:rPr sz="1450" b="1" i="0">
                          <a:solidFill>
                            <a:srgbClr val="1F2328"/>
                          </a:solidFill>
                          <a:latin typeface="Calibri"/>
                        </a:rPr>
                        <a:t>Standard error</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How much a sample average wobbles from one sample to the next. It shrinks as the sample grows.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STDEV.S of a column divided by SQRT of COUNT</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Confidence interval</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range built from the data to catch the true value most of the time, usually at 95 percent.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low and a high column either side of the average</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Bootstrap</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Re-drawing your own data many times, putting each row back after it is picked, to see how much a result wobbles.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Re-drawing rows with RAND thousands of times</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Null hypothesis</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starting claim that nothing is going on, so any gap is luck.</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zero in the difference column</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p-value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How often luck alone would give a gap at least this big if the null hypothesis were true.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result of the T.TEST function</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Effect size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size of the gap in units a person can feel, such as shillings or percent.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difference column itself</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Multiple testing</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Running many tests so that some look like findings by luck alone.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11</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One branch has the most returns of all. Is it the branch with the worst return problem?</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Not yet known. Bigger branches sell more, so divide returns by lines sold and compare the rates.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should every written finding contain?</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number, a comparison and a limit.</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groups, two averages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Rectangle 4"/>
          <p:cNvSpPr/>
          <p:nvPr/>
        </p:nvSpPr>
        <p:spPr>
          <a:xfrm>
            <a:off x="685800" y="1600200"/>
            <a:ext cx="10820095" cy="19568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82495"/>
          </a:xfrm>
          <a:prstGeom prst="rect">
            <a:avLst/>
          </a:prstGeom>
          <a:noFill/>
        </p:spPr>
        <p:txBody>
          <a:bodyPr wrap="none" lIns="0" rIns="0" tIns="0" bIns="0">
            <a:spAutoFit/>
          </a:bodyPr>
          <a:lstStyle/>
          <a:p>
            <a:r>
              <a:rPr sz="1800" b="1" i="0">
                <a:solidFill>
                  <a:srgbClr val="1F2328"/>
                </a:solidFill>
                <a:latin typeface="Courier New"/>
              </a:rPr>
              <a:t>import</a:t>
            </a:r>
            <a:r>
              <a:rPr sz="1800" b="0" i="0">
                <a:solidFill>
                  <a:srgbClr val="1F2328"/>
                </a:solidFill>
                <a:latin typeface="Courier New"/>
              </a:rPr>
              <a:t> </a:t>
            </a:r>
            <a:r>
              <a:rPr sz="1800" b="0" i="0">
                <a:solidFill>
                  <a:srgbClr val="1F2328"/>
                </a:solidFill>
                <a:latin typeface="Courier New"/>
              </a:rPr>
              <a:t>pandas</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pd</a:t>
            </a:r>
          </a:p>
          <a:p>
            <a:r>
              <a:rPr sz="1800" b="1" i="0">
                <a:solidFill>
                  <a:srgbClr val="1F2328"/>
                </a:solidFill>
                <a:latin typeface="Courier New"/>
              </a:rPr>
              <a:t>import</a:t>
            </a:r>
            <a:r>
              <a:rPr sz="1800" b="0" i="0">
                <a:solidFill>
                  <a:srgbClr val="1F2328"/>
                </a:solidFill>
                <a:latin typeface="Courier New"/>
              </a:rPr>
              <a:t> </a:t>
            </a:r>
            <a:r>
              <a:rPr sz="1800" b="0" i="0">
                <a:solidFill>
                  <a:srgbClr val="1F2328"/>
                </a:solidFill>
                <a:latin typeface="Courier New"/>
              </a:rPr>
              <a:t>numpy</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np</a:t>
            </a:r>
          </a:p>
          <a:p>
            <a:r>
              <a:rPr sz="1800" b="0" i="0">
                <a:solidFill>
                  <a:srgbClr val="1F2328"/>
                </a:solidFill>
                <a:latin typeface="Courier New"/>
              </a:rPr>
              <a:t> </a:t>
            </a:r>
          </a:p>
          <a:p>
            <a:r>
              <a:rPr sz="1800" b="0" i="0">
                <a:solidFill>
                  <a:srgbClr val="1F2328"/>
                </a:solidFill>
                <a:latin typeface="Courier New"/>
              </a:rPr>
              <a:t>test</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pd</a:t>
            </a:r>
            <a:r>
              <a:rPr sz="1800" b="0" i="0">
                <a:solidFill>
                  <a:srgbClr val="1F2328"/>
                </a:solidFill>
                <a:latin typeface="Courier New"/>
              </a:rPr>
              <a:t>.</a:t>
            </a:r>
            <a:r>
              <a:rPr sz="1800" b="0" i="0">
                <a:solidFill>
                  <a:srgbClr val="1F2328"/>
                </a:solidFill>
                <a:latin typeface="Courier New"/>
              </a:rPr>
              <a:t>read_csv</a:t>
            </a:r>
            <a:r>
              <a:rPr sz="1800" b="0" i="0">
                <a:solidFill>
                  <a:srgbClr val="1F2328"/>
                </a:solidFill>
                <a:latin typeface="Courier New"/>
              </a:rPr>
              <a:t>(</a:t>
            </a:r>
            <a:r>
              <a:rPr sz="1800" b="0" i="0">
                <a:solidFill>
                  <a:srgbClr val="B04A2B"/>
                </a:solidFill>
                <a:latin typeface="Courier New"/>
              </a:rPr>
              <a:t>'offer_test.csv'</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test</a:t>
            </a:r>
            <a:r>
              <a:rPr sz="1800" b="0" i="0">
                <a:solidFill>
                  <a:srgbClr val="1F2328"/>
                </a:solidFill>
                <a:latin typeface="Courier New"/>
              </a:rPr>
              <a:t>.</a:t>
            </a:r>
            <a:r>
              <a:rPr sz="1800" b="0" i="0">
                <a:solidFill>
                  <a:srgbClr val="1F2328"/>
                </a:solidFill>
                <a:latin typeface="Courier New"/>
              </a:rPr>
              <a:t>groupby</a:t>
            </a:r>
            <a:r>
              <a:rPr sz="1800" b="0" i="0">
                <a:solidFill>
                  <a:srgbClr val="1F2328"/>
                </a:solidFill>
                <a:latin typeface="Courier New"/>
              </a:rPr>
              <a:t>(</a:t>
            </a:r>
            <a:r>
              <a:rPr sz="1800" b="0" i="0">
                <a:solidFill>
                  <a:srgbClr val="B04A2B"/>
                </a:solidFill>
                <a:latin typeface="Courier New"/>
              </a:rPr>
              <a:t>'group'</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size</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test</a:t>
            </a:r>
            <a:r>
              <a:rPr sz="1800" b="0" i="0">
                <a:solidFill>
                  <a:srgbClr val="1F2328"/>
                </a:solidFill>
                <a:latin typeface="Courier New"/>
              </a:rPr>
              <a:t>.</a:t>
            </a:r>
            <a:r>
              <a:rPr sz="1800" b="0" i="0">
                <a:solidFill>
                  <a:srgbClr val="1F2328"/>
                </a:solidFill>
                <a:latin typeface="Courier New"/>
              </a:rPr>
              <a:t>groupby</a:t>
            </a:r>
            <a:r>
              <a:rPr sz="1800" b="0" i="0">
                <a:solidFill>
                  <a:srgbClr val="1F2328"/>
                </a:solidFill>
                <a:latin typeface="Courier New"/>
              </a:rPr>
              <a:t>(</a:t>
            </a:r>
            <a:r>
              <a:rPr sz="1800" b="0" i="0">
                <a:solidFill>
                  <a:srgbClr val="B04A2B"/>
                </a:solidFill>
                <a:latin typeface="Courier New"/>
              </a:rPr>
              <a:t>'group'</a:t>
            </a:r>
            <a:r>
              <a:rPr sz="1800" b="0" i="0">
                <a:solidFill>
                  <a:srgbClr val="1F2328"/>
                </a:solidFill>
                <a:latin typeface="Courier New"/>
              </a:rPr>
              <a:t>)</a:t>
            </a:r>
            <a:r>
              <a:rPr sz="1800" b="0" i="0">
                <a:solidFill>
                  <a:srgbClr val="1F2328"/>
                </a:solidFill>
                <a:latin typeface="Courier New"/>
              </a:rPr>
              <a:t>[</a:t>
            </a:r>
            <a:r>
              <a:rPr sz="1800" b="0" i="0">
                <a:solidFill>
                  <a:srgbClr val="B04A2B"/>
                </a:solidFill>
                <a:latin typeface="Courier New"/>
              </a:rPr>
              <a:t>'next_month_spend_ugx'</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mean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round</a:t>
            </a:r>
            <a:r>
              <a:rPr sz="1800" b="0" i="0">
                <a:solidFill>
                  <a:srgbClr val="1F2328"/>
                </a:solidFill>
                <a:latin typeface="Courier New"/>
              </a:rPr>
              <a:t>(</a:t>
            </a:r>
            <a:r>
              <a:rPr sz="1800" b="0" i="0">
                <a:solidFill>
                  <a:srgbClr val="3B4046"/>
                </a:solidFill>
                <a:latin typeface="Courier New"/>
              </a:rPr>
              <a:t>0</a:t>
            </a:r>
            <a:r>
              <a:rPr sz="1800" b="0" i="0">
                <a:solidFill>
                  <a:srgbClr val="1F2328"/>
                </a:solidFill>
                <a:latin typeface="Courier New"/>
              </a:rPr>
              <a:t>)</a:t>
            </a:r>
          </a:p>
        </p:txBody>
      </p:sp>
      <p:grpSp>
        <p:nvGrpSpPr>
          <p:cNvPr id="7" name="output"/>
          <p:cNvGrpSpPr/>
          <p:nvPr/>
        </p:nvGrpSpPr>
        <p:grpSpPr>
          <a:xfrm>
            <a:off x="685800" y="3666744"/>
            <a:ext cx="10820095" cy="1164336"/>
            <a:chOff x="685800" y="3666744"/>
            <a:chExt cx="10820095" cy="1164336"/>
          </a:xfrm>
        </p:grpSpPr>
        <p:sp>
          <p:nvSpPr>
            <p:cNvPr id="8" name="TextBox 7"/>
            <p:cNvSpPr txBox="1"/>
            <p:nvPr/>
          </p:nvSpPr>
          <p:spPr>
            <a:xfrm>
              <a:off x="685800" y="3666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2277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014215"/>
              <a:ext cx="10545775" cy="798576"/>
            </a:xfrm>
            <a:prstGeom prst="rect">
              <a:avLst/>
            </a:prstGeom>
            <a:noFill/>
          </p:spPr>
          <p:txBody>
            <a:bodyPr wrap="none" lIns="0" rIns="0" tIns="0" bIns="0">
              <a:spAutoFit/>
            </a:bodyPr>
            <a:lstStyle/>
            <a:p>
              <a:r>
                <a:rPr sz="1400" b="0" i="0">
                  <a:solidFill>
                    <a:srgbClr val="1F2328"/>
                  </a:solidFill>
                  <a:latin typeface="Courier New"/>
                </a:rPr>
                <a:t>control 1255</a:t>
              </a:r>
            </a:p>
            <a:p>
              <a:r>
                <a:rPr sz="1400" b="0" i="0">
                  <a:solidFill>
                    <a:srgbClr val="1F2328"/>
                  </a:solidFill>
                  <a:latin typeface="Courier New"/>
                </a:rPr>
                <a:t>offer 1245</a:t>
              </a:r>
            </a:p>
            <a:p>
              <a:r>
                <a:rPr sz="1400" b="0" i="0">
                  <a:solidFill>
                    <a:srgbClr val="1F2328"/>
                  </a:solidFill>
                  <a:latin typeface="Courier New"/>
                </a:rPr>
                <a:t>control 61660.0</a:t>
              </a:r>
            </a:p>
            <a:p>
              <a:r>
                <a:rPr sz="1400" b="0" i="0">
                  <a:solidFill>
                    <a:srgbClr val="1F2328"/>
                  </a:solidFill>
                  <a:latin typeface="Courier New"/>
                </a:rPr>
                <a:t>offer 66704.0</a:t>
              </a:r>
            </a:p>
          </p:txBody>
        </p:sp>
      </p:grpSp>
      <p:grpSp>
        <p:nvGrpSpPr>
          <p:cNvPr id="11" name="says-1"/>
          <p:cNvGrpSpPr/>
          <p:nvPr/>
        </p:nvGrpSpPr>
        <p:grpSpPr>
          <a:xfrm>
            <a:off x="685800" y="5013960"/>
            <a:ext cx="3332378" cy="1185671"/>
            <a:chOff x="685800" y="5013960"/>
            <a:chExt cx="3332378" cy="1185671"/>
          </a:xfrm>
        </p:grpSpPr>
        <p:cxnSp>
          <p:nvCxnSpPr>
            <p:cNvPr id="12" name="Connector 11"/>
            <p:cNvCxnSpPr/>
            <p:nvPr/>
          </p:nvCxnSpPr>
          <p:spPr>
            <a:xfrm>
              <a:off x="685800" y="5013960"/>
              <a:ext cx="3332378"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Each row is one loyalty customer. group says who got the offer.</a:t>
              </a:r>
            </a:p>
          </p:txBody>
        </p:sp>
      </p:grpSp>
      <p:grpSp>
        <p:nvGrpSpPr>
          <p:cNvPr id="15" name="says-2"/>
          <p:cNvGrpSpPr/>
          <p:nvPr/>
        </p:nvGrpSpPr>
        <p:grpSpPr>
          <a:xfrm>
            <a:off x="4429658" y="5013960"/>
            <a:ext cx="3332378" cy="1185671"/>
            <a:chOff x="4429658" y="5013960"/>
            <a:chExt cx="3332378" cy="1185671"/>
          </a:xfrm>
        </p:grpSpPr>
        <p:cxnSp>
          <p:nvCxnSpPr>
            <p:cNvPr id="16" name="Connector 15"/>
            <p:cNvCxnSpPr/>
            <p:nvPr/>
          </p:nvCxnSpPr>
          <p:spPr>
            <a:xfrm>
              <a:off x="4429658" y="5013960"/>
              <a:ext cx="3332378" cy="0"/>
            </a:xfrm>
            <a:prstGeom prst="line">
              <a:avLst/>
            </a:prstGeom>
            <a:ln w="15875">
              <a:solidFill>
                <a:srgbClr val="1F2328"/>
              </a:solidFill>
            </a:ln>
          </p:spPr>
        </p:cxnSp>
        <p:sp>
          <p:nvSpPr>
            <p:cNvPr id="17" name="TextBox 16"/>
            <p:cNvSpPr txBox="1"/>
            <p:nvPr/>
          </p:nvSpPr>
          <p:spPr>
            <a:xfrm>
              <a:off x="4429658"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size counts the customers in each group.</a:t>
              </a:r>
            </a:p>
          </p:txBody>
        </p:sp>
      </p:grpSp>
      <p:grpSp>
        <p:nvGrpSpPr>
          <p:cNvPr id="19" name="says-3"/>
          <p:cNvGrpSpPr/>
          <p:nvPr/>
        </p:nvGrpSpPr>
        <p:grpSpPr>
          <a:xfrm>
            <a:off x="8173516" y="5013960"/>
            <a:ext cx="3332379" cy="1185671"/>
            <a:chOff x="8173516" y="5013960"/>
            <a:chExt cx="3332379" cy="1185671"/>
          </a:xfrm>
        </p:grpSpPr>
        <p:cxnSp>
          <p:nvCxnSpPr>
            <p:cNvPr id="20" name="Connector 19"/>
            <p:cNvCxnSpPr/>
            <p:nvPr/>
          </p:nvCxnSpPr>
          <p:spPr>
            <a:xfrm>
              <a:off x="8173516" y="5013960"/>
              <a:ext cx="3332379" cy="0"/>
            </a:xfrm>
            <a:prstGeom prst="line">
              <a:avLst/>
            </a:prstGeom>
            <a:ln w="15875">
              <a:solidFill>
                <a:srgbClr val="1F2328"/>
              </a:solidFill>
            </a:ln>
          </p:spPr>
        </p:cxnSp>
        <p:sp>
          <p:nvSpPr>
            <p:cNvPr id="21" name="TextBox 20"/>
            <p:cNvSpPr txBox="1"/>
            <p:nvPr/>
          </p:nvSpPr>
          <p:spPr>
            <a:xfrm>
              <a:off x="8173516"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The average spend next month, for each group.</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sample's average is a guess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pic>
        <p:nvPicPr>
          <p:cNvPr id="5" name="figure-sampling_means" descr="Histogram of 200 sample means, each from 30 random orders, centred near the true mean and spread out around it."/>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bar counts samples of 30 orders. Same shop, 200 different averages.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Most averages sit near the red line. Some land far away.</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long right tail comes from samples that caught a few huge orders.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Same shop, same true mean, 200 different answers.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Bigger samples wobble less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sampling_n_compare" descr="Three histograms of sample means for sample sizes 5, 30 and 200. The spread narrows as the sample grows."/>
          <p:cNvPicPr>
            <a:picLocks noChangeAspect="1"/>
          </p:cNvPicPr>
          <p:nvPr/>
        </p:nvPicPr>
        <p:blipFill>
          <a:blip r:embed="rId3"/>
          <a:stretch>
            <a:fillRect/>
          </a:stretch>
        </p:blipFill>
        <p:spPr>
          <a:xfrm>
            <a:off x="685800" y="1600200"/>
            <a:ext cx="7040880" cy="2615184"/>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 = 5 means five orders per sample. The averages scatter widely.</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 = 30 is tighter. The hill is narrower.</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 = 200 gives a narrow hill around the red line.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spread falls from 64.4 thousand shillings to 8.4 thousand as the sample grows from 5 to 200.</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Standard error: the wobble, measured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16824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408176"/>
          </a:xfrm>
          <a:prstGeom prst="rect">
            <a:avLst/>
          </a:prstGeom>
          <a:noFill/>
        </p:spPr>
        <p:txBody>
          <a:bodyPr wrap="none" lIns="0" rIns="0" tIns="0" bIns="0">
            <a:spAutoFit/>
          </a:bodyPr>
          <a:lstStyle/>
          <a:p>
            <a:r>
              <a:rPr sz="1500" b="0" i="0">
                <a:solidFill>
                  <a:srgbClr val="1F2328"/>
                </a:solidFill>
                <a:latin typeface="Courier New"/>
              </a:rPr>
              <a:t>orders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pd</a:t>
            </a:r>
            <a:r>
              <a:rPr sz="1500" b="0" i="0">
                <a:solidFill>
                  <a:srgbClr val="1F2328"/>
                </a:solidFill>
                <a:latin typeface="Courier New"/>
              </a:rPr>
              <a:t>.</a:t>
            </a:r>
            <a:r>
              <a:rPr sz="1500" b="0" i="0">
                <a:solidFill>
                  <a:srgbClr val="1F2328"/>
                </a:solidFill>
                <a:latin typeface="Courier New"/>
              </a:rPr>
              <a:t>read_csv</a:t>
            </a:r>
            <a:r>
              <a:rPr sz="1500" b="0" i="0">
                <a:solidFill>
                  <a:srgbClr val="1F2328"/>
                </a:solidFill>
                <a:latin typeface="Courier New"/>
              </a:rPr>
              <a:t>(</a:t>
            </a:r>
            <a:r>
              <a:rPr sz="1500" b="0" i="0">
                <a:solidFill>
                  <a:srgbClr val="B04A2B"/>
                </a:solidFill>
                <a:latin typeface="Courier New"/>
              </a:rPr>
              <a:t>'orders.csv'</a:t>
            </a:r>
            <a:r>
              <a:rPr sz="1500" b="0" i="0">
                <a:solidFill>
                  <a:srgbClr val="1F2328"/>
                </a:solidFill>
                <a:latin typeface="Courier New"/>
              </a:rPr>
              <a:t>)</a:t>
            </a:r>
          </a:p>
          <a:p>
            <a:r>
              <a:rPr sz="1500" b="0" i="0">
                <a:solidFill>
                  <a:srgbClr val="1F2328"/>
                </a:solidFill>
                <a:latin typeface="Courier New"/>
              </a:rPr>
              <a:t>v</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order_value_ugx</a:t>
            </a:r>
            <a:r>
              <a:rPr sz="1500" b="0" i="0">
                <a:solidFill>
                  <a:srgbClr val="1F2328"/>
                </a:solidFill>
                <a:latin typeface="Courier New"/>
              </a:rPr>
              <a:t>.</a:t>
            </a:r>
            <a:r>
              <a:rPr sz="1500" b="0" i="0">
                <a:solidFill>
                  <a:srgbClr val="1F2328"/>
                </a:solidFill>
                <a:latin typeface="Courier New"/>
              </a:rPr>
              <a:t>values</a:t>
            </a:r>
          </a:p>
          <a:p>
            <a:r>
              <a:rPr sz="1500" b="0" i="0">
                <a:solidFill>
                  <a:srgbClr val="1F2328"/>
                </a:solidFill>
                <a:latin typeface="Courier New"/>
              </a:rPr>
              <a:t>rng</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random</a:t>
            </a:r>
            <a:r>
              <a:rPr sz="1500" b="0" i="0">
                <a:solidFill>
                  <a:srgbClr val="1F2328"/>
                </a:solidFill>
                <a:latin typeface="Courier New"/>
              </a:rPr>
              <a:t>.</a:t>
            </a:r>
            <a:r>
              <a:rPr sz="1500" b="0" i="0">
                <a:solidFill>
                  <a:srgbClr val="1F2328"/>
                </a:solidFill>
                <a:latin typeface="Courier New"/>
              </a:rPr>
              <a:t>default_rng</a:t>
            </a:r>
            <a:r>
              <a:rPr sz="1500" b="0" i="0">
                <a:solidFill>
                  <a:srgbClr val="1F2328"/>
                </a:solidFill>
                <a:latin typeface="Courier New"/>
              </a:rPr>
              <a:t>(</a:t>
            </a:r>
            <a:r>
              <a:rPr sz="1500" b="0" i="0">
                <a:solidFill>
                  <a:srgbClr val="3B4046"/>
                </a:solidFill>
                <a:latin typeface="Courier New"/>
              </a:rPr>
              <a:t>42</a:t>
            </a:r>
            <a:r>
              <a:rPr sz="1500" b="0" i="0">
                <a:solidFill>
                  <a:srgbClr val="1F2328"/>
                </a:solidFill>
                <a:latin typeface="Courier New"/>
              </a:rPr>
              <a:t>)</a:t>
            </a:r>
          </a:p>
          <a:p>
            <a:r>
              <a:rPr sz="1500" b="0" i="0">
                <a:solidFill>
                  <a:srgbClr val="1F2328"/>
                </a:solidFill>
                <a:latin typeface="Courier New"/>
              </a:rPr>
              <a:t>means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rng</a:t>
            </a:r>
            <a:r>
              <a:rPr sz="1500" b="0" i="0">
                <a:solidFill>
                  <a:srgbClr val="1F2328"/>
                </a:solidFill>
                <a:latin typeface="Courier New"/>
              </a:rPr>
              <a:t>.</a:t>
            </a:r>
            <a:r>
              <a:rPr sz="1500" b="0" i="0">
                <a:solidFill>
                  <a:srgbClr val="1F2328"/>
                </a:solidFill>
                <a:latin typeface="Courier New"/>
              </a:rPr>
              <a:t>choice</a:t>
            </a:r>
            <a:r>
              <a:rPr sz="1500" b="0" i="0">
                <a:solidFill>
                  <a:srgbClr val="1F2328"/>
                </a:solidFill>
                <a:latin typeface="Courier New"/>
              </a:rPr>
              <a:t>(</a:t>
            </a:r>
            <a:r>
              <a:rPr sz="1500" b="0" i="0">
                <a:solidFill>
                  <a:srgbClr val="1F2328"/>
                </a:solidFill>
                <a:latin typeface="Courier New"/>
              </a:rPr>
              <a:t>v</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30</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mean</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_</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range</a:t>
            </a:r>
            <a:r>
              <a:rPr sz="1500" b="0" i="0">
                <a:solidFill>
                  <a:srgbClr val="1F2328"/>
                </a:solidFill>
                <a:latin typeface="Courier New"/>
              </a:rPr>
              <a:t>(</a:t>
            </a:r>
            <a:r>
              <a:rPr sz="1500" b="0" i="0">
                <a:solidFill>
                  <a:srgbClr val="3B4046"/>
                </a:solidFill>
                <a:latin typeface="Courier New"/>
              </a:rPr>
              <a:t>1000</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B04A2B"/>
                </a:solidFill>
                <a:latin typeface="Courier New"/>
              </a:rPr>
              <a:t>'simulated:'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std</a:t>
            </a:r>
            <a:r>
              <a:rPr sz="1500" b="0" i="0">
                <a:solidFill>
                  <a:srgbClr val="1F2328"/>
                </a:solidFill>
                <a:latin typeface="Courier New"/>
              </a:rPr>
              <a:t>(</a:t>
            </a:r>
            <a:r>
              <a:rPr sz="1500" b="0" i="0">
                <a:solidFill>
                  <a:srgbClr val="1F2328"/>
                </a:solidFill>
                <a:latin typeface="Courier New"/>
              </a:rPr>
              <a:t>means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B04A2B"/>
                </a:solidFill>
                <a:latin typeface="Courier New"/>
              </a:rPr>
              <a:t>'formula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v</a:t>
            </a:r>
            <a:r>
              <a:rPr sz="1500" b="0" i="0">
                <a:solidFill>
                  <a:srgbClr val="1F2328"/>
                </a:solidFill>
                <a:latin typeface="Courier New"/>
              </a:rPr>
              <a:t>.</a:t>
            </a:r>
            <a:r>
              <a:rPr sz="1500" b="0" i="0">
                <a:solidFill>
                  <a:srgbClr val="1F2328"/>
                </a:solidFill>
                <a:latin typeface="Courier New"/>
              </a:rPr>
              <a:t>std</a:t>
            </a:r>
            <a:r>
              <a:rPr sz="1500" b="0" i="0">
                <a:solidFill>
                  <a:srgbClr val="1F2328"/>
                </a:solidFill>
                <a:latin typeface="Courier New"/>
              </a:rPr>
              <a:t>(</a:t>
            </a:r>
            <a:r>
              <a:rPr sz="1500" b="0" i="0">
                <a:solidFill>
                  <a:srgbClr val="1F2328"/>
                </a:solidFill>
                <a:latin typeface="Courier New"/>
              </a:rPr>
              <a:t>ddof</a:t>
            </a:r>
            <a:r>
              <a:rPr sz="1500" b="0" i="0">
                <a:solidFill>
                  <a:srgbClr val="1F2328"/>
                </a:solidFill>
                <a:latin typeface="Courier New"/>
              </a:rPr>
              <a:t>=</a:t>
            </a:r>
            <a:r>
              <a:rPr sz="1500" b="0" i="0">
                <a:solidFill>
                  <a:srgbClr val="3B4046"/>
                </a:solidFill>
                <a:latin typeface="Courier New"/>
              </a:rPr>
              <a:t>1</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sqrt</a:t>
            </a:r>
            <a:r>
              <a:rPr sz="1500" b="0" i="0">
                <a:solidFill>
                  <a:srgbClr val="1F2328"/>
                </a:solidFill>
                <a:latin typeface="Courier New"/>
              </a:rPr>
              <a:t>(</a:t>
            </a:r>
            <a:r>
              <a:rPr sz="1500" b="0" i="0">
                <a:solidFill>
                  <a:srgbClr val="3B4046"/>
                </a:solidFill>
                <a:latin typeface="Courier New"/>
              </a:rPr>
              <a:t>30</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3392424"/>
            <a:ext cx="6949440" cy="737615"/>
            <a:chOff x="685800" y="3392424"/>
            <a:chExt cx="6949440" cy="737615"/>
          </a:xfrm>
        </p:grpSpPr>
        <p:sp>
          <p:nvSpPr>
            <p:cNvPr id="8" name="TextBox 7"/>
            <p:cNvSpPr txBox="1"/>
            <p:nvPr/>
          </p:nvSpPr>
          <p:spPr>
            <a:xfrm>
              <a:off x="685800" y="33924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6484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739896"/>
              <a:ext cx="6675120" cy="371855"/>
            </a:xfrm>
            <a:prstGeom prst="rect">
              <a:avLst/>
            </a:prstGeom>
            <a:noFill/>
          </p:spPr>
          <p:txBody>
            <a:bodyPr wrap="none" lIns="0" rIns="0" tIns="0" bIns="0">
              <a:spAutoFit/>
            </a:bodyPr>
            <a:lstStyle/>
            <a:p>
              <a:r>
                <a:rPr sz="1400" b="0" i="0">
                  <a:solidFill>
                    <a:srgbClr val="1F2328"/>
                  </a:solidFill>
                  <a:latin typeface="Courier New"/>
                </a:rPr>
                <a:t>simulated: 24663</a:t>
              </a:r>
            </a:p>
            <a:p>
              <a:r>
                <a:rPr sz="1400" b="0" i="0">
                  <a:solidFill>
                    <a:srgbClr val="1F2328"/>
                  </a:solidFill>
                  <a:latin typeface="Courier New"/>
                </a:rPr>
                <a:t>formula : 22561</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Draw 30 orders at random, take the average, and repeat 1,000 times.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spread of those 1,000 averages is the standard error.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formula gets close without any simulation.</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95 percent interval for the lift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21854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11095"/>
          </a:xfrm>
          <a:prstGeom prst="rect">
            <a:avLst/>
          </a:prstGeom>
          <a:noFill/>
        </p:spPr>
        <p:txBody>
          <a:bodyPr wrap="none" lIns="0" rIns="0" tIns="0" bIns="0">
            <a:spAutoFit/>
          </a:bodyPr>
          <a:lstStyle/>
          <a:p>
            <a:r>
              <a:rPr sz="2050" b="0" i="0">
                <a:solidFill>
                  <a:srgbClr val="1F2328"/>
                </a:solidFill>
                <a:latin typeface="Courier New"/>
              </a:rPr>
              <a:t>offer</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test</a:t>
            </a:r>
            <a:r>
              <a:rPr sz="2050" b="0" i="0">
                <a:solidFill>
                  <a:srgbClr val="1F2328"/>
                </a:solidFill>
                <a:latin typeface="Courier New"/>
              </a:rPr>
              <a:t>[</a:t>
            </a:r>
            <a:r>
              <a:rPr sz="2050" b="0" i="0">
                <a:solidFill>
                  <a:srgbClr val="1F2328"/>
                </a:solidFill>
                <a:latin typeface="Courier New"/>
              </a:rPr>
              <a:t>test</a:t>
            </a:r>
            <a:r>
              <a:rPr sz="2050" b="0" i="0">
                <a:solidFill>
                  <a:srgbClr val="1F2328"/>
                </a:solidFill>
                <a:latin typeface="Courier New"/>
              </a:rPr>
              <a:t>.</a:t>
            </a:r>
            <a:r>
              <a:rPr sz="2050" b="0" i="0">
                <a:solidFill>
                  <a:srgbClr val="1F2328"/>
                </a:solidFill>
                <a:latin typeface="Courier New"/>
              </a:rPr>
              <a:t>group</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B04A2B"/>
                </a:solidFill>
                <a:latin typeface="Courier New"/>
              </a:rPr>
              <a:t>'offer'</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next_month_spend_ugx</a:t>
            </a:r>
          </a:p>
          <a:p>
            <a:r>
              <a:rPr sz="2050" b="0" i="0">
                <a:solidFill>
                  <a:srgbClr val="1F2328"/>
                </a:solidFill>
                <a:latin typeface="Courier New"/>
              </a:rPr>
              <a:t>control</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test</a:t>
            </a:r>
            <a:r>
              <a:rPr sz="2050" b="0" i="0">
                <a:solidFill>
                  <a:srgbClr val="1F2328"/>
                </a:solidFill>
                <a:latin typeface="Courier New"/>
              </a:rPr>
              <a:t>[</a:t>
            </a:r>
            <a:r>
              <a:rPr sz="2050" b="0" i="0">
                <a:solidFill>
                  <a:srgbClr val="1F2328"/>
                </a:solidFill>
                <a:latin typeface="Courier New"/>
              </a:rPr>
              <a:t>test</a:t>
            </a:r>
            <a:r>
              <a:rPr sz="2050" b="0" i="0">
                <a:solidFill>
                  <a:srgbClr val="1F2328"/>
                </a:solidFill>
                <a:latin typeface="Courier New"/>
              </a:rPr>
              <a:t>.</a:t>
            </a:r>
            <a:r>
              <a:rPr sz="2050" b="0" i="0">
                <a:solidFill>
                  <a:srgbClr val="1F2328"/>
                </a:solidFill>
                <a:latin typeface="Courier New"/>
              </a:rPr>
              <a:t>group</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B04A2B"/>
                </a:solidFill>
                <a:latin typeface="Courier New"/>
              </a:rPr>
              <a:t>'control'</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next_month_spend_ugx</a:t>
            </a:r>
          </a:p>
          <a:p>
            <a:r>
              <a:rPr sz="2050" b="0" i="0">
                <a:solidFill>
                  <a:srgbClr val="1F2328"/>
                </a:solidFill>
                <a:latin typeface="Courier New"/>
              </a:rPr>
              <a:t>diff</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offer</a:t>
            </a:r>
            <a:r>
              <a:rPr sz="2050" b="0" i="0">
                <a:solidFill>
                  <a:srgbClr val="1F2328"/>
                </a:solidFill>
                <a:latin typeface="Courier New"/>
              </a:rPr>
              <a:t>.</a:t>
            </a:r>
            <a:r>
              <a:rPr sz="2050" b="0" i="0">
                <a:solidFill>
                  <a:srgbClr val="1F2328"/>
                </a:solidFill>
                <a:latin typeface="Courier New"/>
              </a:rPr>
              <a:t>mean</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control</a:t>
            </a:r>
            <a:r>
              <a:rPr sz="2050" b="0" i="0">
                <a:solidFill>
                  <a:srgbClr val="1F2328"/>
                </a:solidFill>
                <a:latin typeface="Courier New"/>
              </a:rPr>
              <a:t>.</a:t>
            </a:r>
            <a:r>
              <a:rPr sz="2050" b="0" i="0">
                <a:solidFill>
                  <a:srgbClr val="1F2328"/>
                </a:solidFill>
                <a:latin typeface="Courier New"/>
              </a:rPr>
              <a:t>mean</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se</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np</a:t>
            </a:r>
            <a:r>
              <a:rPr sz="2050" b="0" i="0">
                <a:solidFill>
                  <a:srgbClr val="1F2328"/>
                </a:solidFill>
                <a:latin typeface="Courier New"/>
              </a:rPr>
              <a:t>.</a:t>
            </a:r>
            <a:r>
              <a:rPr sz="2050" b="0" i="0">
                <a:solidFill>
                  <a:srgbClr val="1F2328"/>
                </a:solidFill>
                <a:latin typeface="Courier New"/>
              </a:rPr>
              <a:t>sqrt</a:t>
            </a:r>
            <a:r>
              <a:rPr sz="2050" b="0" i="0">
                <a:solidFill>
                  <a:srgbClr val="1F2328"/>
                </a:solidFill>
                <a:latin typeface="Courier New"/>
              </a:rPr>
              <a:t>(</a:t>
            </a:r>
            <a:r>
              <a:rPr sz="2050" b="0" i="0">
                <a:solidFill>
                  <a:srgbClr val="1F2328"/>
                </a:solidFill>
                <a:latin typeface="Courier New"/>
              </a:rPr>
              <a:t>offer</a:t>
            </a:r>
            <a:r>
              <a:rPr sz="2050" b="0" i="0">
                <a:solidFill>
                  <a:srgbClr val="1F2328"/>
                </a:solidFill>
                <a:latin typeface="Courier New"/>
              </a:rPr>
              <a:t>.</a:t>
            </a:r>
            <a:r>
              <a:rPr sz="2050" b="0" i="0">
                <a:solidFill>
                  <a:srgbClr val="1F2328"/>
                </a:solidFill>
                <a:latin typeface="Courier New"/>
              </a:rPr>
              <a:t>var</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len</a:t>
            </a:r>
            <a:r>
              <a:rPr sz="2050" b="0" i="0">
                <a:solidFill>
                  <a:srgbClr val="1F2328"/>
                </a:solidFill>
                <a:latin typeface="Courier New"/>
              </a:rPr>
              <a:t>(</a:t>
            </a:r>
            <a:r>
              <a:rPr sz="2050" b="0" i="0">
                <a:solidFill>
                  <a:srgbClr val="1F2328"/>
                </a:solidFill>
                <a:latin typeface="Courier New"/>
              </a:rPr>
              <a:t>offer</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control</a:t>
            </a:r>
            <a:r>
              <a:rPr sz="2050" b="0" i="0">
                <a:solidFill>
                  <a:srgbClr val="1F2328"/>
                </a:solidFill>
                <a:latin typeface="Courier New"/>
              </a:rPr>
              <a:t>.</a:t>
            </a:r>
            <a:r>
              <a:rPr sz="2050" b="0" i="0">
                <a:solidFill>
                  <a:srgbClr val="1F2328"/>
                </a:solidFill>
                <a:latin typeface="Courier New"/>
              </a:rPr>
              <a:t>var</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len</a:t>
            </a:r>
            <a:r>
              <a:rPr sz="2050" b="0" i="0">
                <a:solidFill>
                  <a:srgbClr val="1F2328"/>
                </a:solidFill>
                <a:latin typeface="Courier New"/>
              </a:rPr>
              <a:t>(</a:t>
            </a:r>
            <a:r>
              <a:rPr sz="2050" b="0" i="0">
                <a:solidFill>
                  <a:srgbClr val="1F2328"/>
                </a:solidFill>
                <a:latin typeface="Courier New"/>
              </a:rPr>
              <a:t>control</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1F2328"/>
                </a:solidFill>
                <a:latin typeface="Courier New"/>
              </a:rPr>
              <a:t>diff</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round</a:t>
            </a:r>
            <a:r>
              <a:rPr sz="2050" b="0" i="0">
                <a:solidFill>
                  <a:srgbClr val="1F2328"/>
                </a:solidFill>
                <a:latin typeface="Courier New"/>
              </a:rPr>
              <a:t>(</a:t>
            </a:r>
            <a:r>
              <a:rPr sz="2050" b="0" i="0">
                <a:solidFill>
                  <a:srgbClr val="1F2328"/>
                </a:solidFill>
                <a:latin typeface="Courier New"/>
              </a:rPr>
              <a:t>se</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1F2328"/>
                </a:solidFill>
                <a:latin typeface="Courier New"/>
              </a:rPr>
              <a:t>diff</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1.96</a:t>
            </a:r>
            <a:r>
              <a:rPr sz="2050" b="0" i="0">
                <a:solidFill>
                  <a:srgbClr val="1F2328"/>
                </a:solidFill>
                <a:latin typeface="Courier New"/>
              </a:rPr>
              <a:t>*</a:t>
            </a:r>
            <a:r>
              <a:rPr sz="2050" b="0" i="0">
                <a:solidFill>
                  <a:srgbClr val="1F2328"/>
                </a:solidFill>
                <a:latin typeface="Courier New"/>
              </a:rPr>
              <a:t>se</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round</a:t>
            </a:r>
            <a:r>
              <a:rPr sz="2050" b="0" i="0">
                <a:solidFill>
                  <a:srgbClr val="1F2328"/>
                </a:solidFill>
                <a:latin typeface="Courier New"/>
              </a:rPr>
              <a:t>(</a:t>
            </a:r>
            <a:r>
              <a:rPr sz="2050" b="0" i="0">
                <a:solidFill>
                  <a:srgbClr val="1F2328"/>
                </a:solidFill>
                <a:latin typeface="Courier New"/>
              </a:rPr>
              <a:t>diff</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1.96</a:t>
            </a:r>
            <a:r>
              <a:rPr sz="2050" b="0" i="0">
                <a:solidFill>
                  <a:srgbClr val="1F2328"/>
                </a:solidFill>
                <a:latin typeface="Courier New"/>
              </a:rPr>
              <a:t>*</a:t>
            </a:r>
            <a:r>
              <a:rPr sz="2050" b="0" i="0">
                <a:solidFill>
                  <a:srgbClr val="1F2328"/>
                </a:solidFill>
                <a:latin typeface="Courier New"/>
              </a:rPr>
              <a:t>se</a:t>
            </a:r>
            <a:r>
              <a:rPr sz="2050" b="0" i="0">
                <a:solidFill>
                  <a:srgbClr val="1F2328"/>
                </a:solidFill>
                <a:latin typeface="Courier New"/>
              </a:rPr>
              <a:t>)</a:t>
            </a:r>
            <a:r>
              <a:rPr sz="2050" b="0" i="0">
                <a:solidFill>
                  <a:srgbClr val="1F2328"/>
                </a:solidFill>
                <a:latin typeface="Courier New"/>
              </a:rPr>
              <a:t>)</a:t>
            </a:r>
          </a:p>
        </p:txBody>
      </p:sp>
      <p:grpSp>
        <p:nvGrpSpPr>
          <p:cNvPr id="7" name="output"/>
          <p:cNvGrpSpPr/>
          <p:nvPr/>
        </p:nvGrpSpPr>
        <p:grpSpPr>
          <a:xfrm>
            <a:off x="685800" y="3895344"/>
            <a:ext cx="10820095" cy="737615"/>
            <a:chOff x="685800" y="3895344"/>
            <a:chExt cx="10820095" cy="737615"/>
          </a:xfrm>
        </p:grpSpPr>
        <p:sp>
          <p:nvSpPr>
            <p:cNvPr id="8" name="TextBox 7"/>
            <p:cNvSpPr txBox="1"/>
            <p:nvPr/>
          </p:nvSpPr>
          <p:spPr>
            <a:xfrm>
              <a:off x="685800" y="3895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5137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242816"/>
              <a:ext cx="10545775" cy="371855"/>
            </a:xfrm>
            <a:prstGeom prst="rect">
              <a:avLst/>
            </a:prstGeom>
            <a:noFill/>
          </p:spPr>
          <p:txBody>
            <a:bodyPr wrap="none" lIns="0" rIns="0" tIns="0" bIns="0">
              <a:spAutoFit/>
            </a:bodyPr>
            <a:lstStyle/>
            <a:p>
              <a:r>
                <a:rPr sz="1400" b="0" i="0">
                  <a:solidFill>
                    <a:srgbClr val="1F2328"/>
                  </a:solidFill>
                  <a:latin typeface="Courier New"/>
                </a:rPr>
                <a:t>5044 1526</a:t>
              </a:r>
            </a:p>
            <a:p>
              <a:r>
                <a:rPr sz="1400" b="0" i="0">
                  <a:solidFill>
                    <a:srgbClr val="1F2328"/>
                  </a:solidFill>
                  <a:latin typeface="Courier New"/>
                </a:rPr>
                <a:t>2054 8035</a:t>
              </a:r>
            </a:p>
          </p:txBody>
        </p:sp>
      </p:grpSp>
      <p:grpSp>
        <p:nvGrpSpPr>
          <p:cNvPr id="11" name="says-1"/>
          <p:cNvGrpSpPr/>
          <p:nvPr/>
        </p:nvGrpSpPr>
        <p:grpSpPr>
          <a:xfrm>
            <a:off x="685800" y="4815840"/>
            <a:ext cx="3332378" cy="1353312"/>
            <a:chOff x="685800" y="4815840"/>
            <a:chExt cx="3332378" cy="1353312"/>
          </a:xfrm>
        </p:grpSpPr>
        <p:cxnSp>
          <p:nvCxnSpPr>
            <p:cNvPr id="12" name="Connector 11"/>
            <p:cNvCxnSpPr/>
            <p:nvPr/>
          </p:nvCxnSpPr>
          <p:spPr>
            <a:xfrm>
              <a:off x="685800" y="4815840"/>
              <a:ext cx="3332378" cy="0"/>
            </a:xfrm>
            <a:prstGeom prst="line">
              <a:avLst/>
            </a:prstGeom>
            <a:ln w="15875">
              <a:solidFill>
                <a:srgbClr val="1F2328"/>
              </a:solidFill>
            </a:ln>
          </p:spPr>
        </p:cxnSp>
        <p:sp>
          <p:nvSpPr>
            <p:cNvPr id="13" name="TextBox 12"/>
            <p:cNvSpPr txBox="1"/>
            <p:nvPr/>
          </p:nvSpPr>
          <p:spPr>
            <a:xfrm>
              <a:off x="685800" y="48889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889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lift is the offer average minus the control average.</a:t>
              </a:r>
            </a:p>
          </p:txBody>
        </p:sp>
      </p:grpSp>
      <p:grpSp>
        <p:nvGrpSpPr>
          <p:cNvPr id="15" name="says-2"/>
          <p:cNvGrpSpPr/>
          <p:nvPr/>
        </p:nvGrpSpPr>
        <p:grpSpPr>
          <a:xfrm>
            <a:off x="4429658" y="4815840"/>
            <a:ext cx="3332378" cy="1353312"/>
            <a:chOff x="4429658" y="4815840"/>
            <a:chExt cx="3332378" cy="1353312"/>
          </a:xfrm>
        </p:grpSpPr>
        <p:cxnSp>
          <p:nvCxnSpPr>
            <p:cNvPr id="16" name="Connector 15"/>
            <p:cNvCxnSpPr/>
            <p:nvPr/>
          </p:nvCxnSpPr>
          <p:spPr>
            <a:xfrm>
              <a:off x="4429658" y="4815840"/>
              <a:ext cx="3332378" cy="0"/>
            </a:xfrm>
            <a:prstGeom prst="line">
              <a:avLst/>
            </a:prstGeom>
            <a:ln w="15875">
              <a:solidFill>
                <a:srgbClr val="1F2328"/>
              </a:solidFill>
            </a:ln>
          </p:spPr>
        </p:cxnSp>
        <p:sp>
          <p:nvSpPr>
            <p:cNvPr id="17" name="TextBox 16"/>
            <p:cNvSpPr txBox="1"/>
            <p:nvPr/>
          </p:nvSpPr>
          <p:spPr>
            <a:xfrm>
              <a:off x="4429658" y="48889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889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standard error of a gap combines the wobble of both groups.</a:t>
              </a:r>
            </a:p>
          </p:txBody>
        </p:sp>
      </p:grpSp>
      <p:grpSp>
        <p:nvGrpSpPr>
          <p:cNvPr id="19" name="says-3"/>
          <p:cNvGrpSpPr/>
          <p:nvPr/>
        </p:nvGrpSpPr>
        <p:grpSpPr>
          <a:xfrm>
            <a:off x="8173516" y="4815840"/>
            <a:ext cx="3332379" cy="1353312"/>
            <a:chOff x="8173516" y="4815840"/>
            <a:chExt cx="3332379" cy="1353312"/>
          </a:xfrm>
        </p:grpSpPr>
        <p:cxnSp>
          <p:nvCxnSpPr>
            <p:cNvPr id="20" name="Connector 19"/>
            <p:cNvCxnSpPr/>
            <p:nvPr/>
          </p:nvCxnSpPr>
          <p:spPr>
            <a:xfrm>
              <a:off x="8173516" y="4815840"/>
              <a:ext cx="3332379" cy="0"/>
            </a:xfrm>
            <a:prstGeom prst="line">
              <a:avLst/>
            </a:prstGeom>
            <a:ln w="15875">
              <a:solidFill>
                <a:srgbClr val="1F2328"/>
              </a:solidFill>
            </a:ln>
          </p:spPr>
        </p:cxnSp>
        <p:sp>
          <p:nvSpPr>
            <p:cNvPr id="21" name="TextBox 20"/>
            <p:cNvSpPr txBox="1"/>
            <p:nvPr/>
          </p:nvSpPr>
          <p:spPr>
            <a:xfrm>
              <a:off x="8173516" y="48889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889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Go 1.96 standard errors either side of the lift.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Each group's average with its own interval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ab_test_ci" descr="Two bars with error bars of next-month spend for offer and control groups; the intervals nearly touch."/>
          <p:cNvPicPr>
            <a:picLocks noChangeAspect="1"/>
          </p:cNvPicPr>
          <p:nvPr/>
        </p:nvPicPr>
        <p:blipFill>
          <a:blip r:embed="rId3"/>
          <a:stretch>
            <a:fillRect/>
          </a:stretch>
        </p:blipFill>
        <p:spPr>
          <a:xfrm>
            <a:off x="685800" y="1600200"/>
            <a:ext cx="5665215"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Control averages 61.7 thousand shillings, offer 66.7 thousand.</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whisker is a 95 percent interval for that group's average.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whiskers nearly touch, which hints at a real gap.</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Next-month spend per customer. Control 61,660 UGX, offer 66,704 UGX.</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lift with its interval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difference_ci" descr="A point with an interval showing the spend difference between offer and control, entirely to the right of zero."/>
          <p:cNvPicPr>
            <a:picLocks noChangeAspect="1"/>
          </p:cNvPicPr>
          <p:nvPr/>
        </p:nvPicPr>
        <p:blipFill>
          <a:blip r:embed="rId3"/>
          <a:stretch>
            <a:fillRect/>
          </a:stretch>
        </p:blipFill>
        <p:spPr>
          <a:xfrm>
            <a:off x="685800" y="1600200"/>
            <a:ext cx="7040880" cy="332486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dot is the lift, 5,044 shillings.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line runs from 2,054 to 8,035.</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dashed line at zero sits outside the interval.</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Zero is outside the interval. Every gap from 2 thousand to 8 thousand shillings fits the data.</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bootstrap: re-draw your own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22616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87296"/>
          </a:xfrm>
          <a:prstGeom prst="rect">
            <a:avLst/>
          </a:prstGeom>
          <a:noFill/>
        </p:spPr>
        <p:txBody>
          <a:bodyPr wrap="none" lIns="0" rIns="0" tIns="0" bIns="0">
            <a:spAutoFit/>
          </a:bodyPr>
          <a:lstStyle/>
          <a:p>
            <a:r>
              <a:rPr sz="1600" b="0" i="0">
                <a:solidFill>
                  <a:srgbClr val="1F2328"/>
                </a:solidFill>
                <a:latin typeface="Courier New"/>
              </a:rPr>
              <a:t>rng</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np</a:t>
            </a:r>
            <a:r>
              <a:rPr sz="1600" b="0" i="0">
                <a:solidFill>
                  <a:srgbClr val="1F2328"/>
                </a:solidFill>
                <a:latin typeface="Courier New"/>
              </a:rPr>
              <a:t>.</a:t>
            </a:r>
            <a:r>
              <a:rPr sz="1600" b="0" i="0">
                <a:solidFill>
                  <a:srgbClr val="1F2328"/>
                </a:solidFill>
                <a:latin typeface="Courier New"/>
              </a:rPr>
              <a:t>random</a:t>
            </a:r>
            <a:r>
              <a:rPr sz="1600" b="0" i="0">
                <a:solidFill>
                  <a:srgbClr val="1F2328"/>
                </a:solidFill>
                <a:latin typeface="Courier New"/>
              </a:rPr>
              <a:t>.</a:t>
            </a:r>
            <a:r>
              <a:rPr sz="1600" b="0" i="0">
                <a:solidFill>
                  <a:srgbClr val="1F2328"/>
                </a:solidFill>
                <a:latin typeface="Courier New"/>
              </a:rPr>
              <a:t>default_rng</a:t>
            </a:r>
            <a:r>
              <a:rPr sz="1600" b="0" i="0">
                <a:solidFill>
                  <a:srgbClr val="1F2328"/>
                </a:solidFill>
                <a:latin typeface="Courier New"/>
              </a:rPr>
              <a:t>(</a:t>
            </a:r>
            <a:r>
              <a:rPr sz="1600" b="0" i="0">
                <a:solidFill>
                  <a:srgbClr val="3B4046"/>
                </a:solidFill>
                <a:latin typeface="Courier New"/>
              </a:rPr>
              <a:t>42</a:t>
            </a:r>
            <a:r>
              <a:rPr sz="1600" b="0" i="0">
                <a:solidFill>
                  <a:srgbClr val="1F2328"/>
                </a:solidFill>
                <a:latin typeface="Courier New"/>
              </a:rPr>
              <a:t>)</a:t>
            </a:r>
          </a:p>
          <a:p>
            <a:r>
              <a:rPr sz="1600" b="0" i="0">
                <a:solidFill>
                  <a:srgbClr val="1F2328"/>
                </a:solidFill>
                <a:latin typeface="Courier New"/>
              </a:rPr>
              <a:t>lifts</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a:t>
            </a:r>
          </a:p>
          <a:p>
            <a:r>
              <a:rPr sz="1600" b="1" i="0">
                <a:solidFill>
                  <a:srgbClr val="1F2328"/>
                </a:solidFill>
                <a:latin typeface="Courier New"/>
              </a:rPr>
              <a:t>for</a:t>
            </a:r>
            <a:r>
              <a:rPr sz="1600" b="0" i="0">
                <a:solidFill>
                  <a:srgbClr val="1F2328"/>
                </a:solidFill>
                <a:latin typeface="Courier New"/>
              </a:rPr>
              <a:t> </a:t>
            </a:r>
            <a:r>
              <a:rPr sz="1600" b="0" i="0">
                <a:solidFill>
                  <a:srgbClr val="1F2328"/>
                </a:solidFill>
                <a:latin typeface="Courier New"/>
              </a:rPr>
              <a:t>_</a:t>
            </a:r>
            <a:r>
              <a:rPr sz="1600" b="0" i="0">
                <a:solidFill>
                  <a:srgbClr val="1F2328"/>
                </a:solidFill>
                <a:latin typeface="Courier New"/>
              </a:rPr>
              <a:t> </a:t>
            </a:r>
            <a:r>
              <a:rPr sz="1600" b="1" i="0">
                <a:solidFill>
                  <a:srgbClr val="1F2328"/>
                </a:solidFill>
                <a:latin typeface="Courier New"/>
              </a:rPr>
              <a:t>in</a:t>
            </a:r>
            <a:r>
              <a:rPr sz="1600" b="0" i="0">
                <a:solidFill>
                  <a:srgbClr val="1F2328"/>
                </a:solidFill>
                <a:latin typeface="Courier New"/>
              </a:rPr>
              <a:t> </a:t>
            </a:r>
            <a:r>
              <a:rPr sz="1600" b="0" i="0">
                <a:solidFill>
                  <a:srgbClr val="1F2328"/>
                </a:solidFill>
                <a:latin typeface="Courier New"/>
              </a:rPr>
              <a:t>range</a:t>
            </a:r>
            <a:r>
              <a:rPr sz="1600" b="0" i="0">
                <a:solidFill>
                  <a:srgbClr val="1F2328"/>
                </a:solidFill>
                <a:latin typeface="Courier New"/>
              </a:rPr>
              <a:t>(</a:t>
            </a:r>
            <a:r>
              <a:rPr sz="1600" b="0" i="0">
                <a:solidFill>
                  <a:srgbClr val="3B4046"/>
                </a:solidFill>
                <a:latin typeface="Courier New"/>
              </a:rPr>
              <a:t>5000</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a</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rng</a:t>
            </a:r>
            <a:r>
              <a:rPr sz="1600" b="0" i="0">
                <a:solidFill>
                  <a:srgbClr val="1F2328"/>
                </a:solidFill>
                <a:latin typeface="Courier New"/>
              </a:rPr>
              <a:t>.</a:t>
            </a:r>
            <a:r>
              <a:rPr sz="1600" b="0" i="0">
                <a:solidFill>
                  <a:srgbClr val="1F2328"/>
                </a:solidFill>
                <a:latin typeface="Courier New"/>
              </a:rPr>
              <a:t>choice</a:t>
            </a:r>
            <a:r>
              <a:rPr sz="1600" b="0" i="0">
                <a:solidFill>
                  <a:srgbClr val="1F2328"/>
                </a:solidFill>
                <a:latin typeface="Courier New"/>
              </a:rPr>
              <a:t>(</a:t>
            </a:r>
            <a:r>
              <a:rPr sz="1600" b="0" i="0">
                <a:solidFill>
                  <a:srgbClr val="1F2328"/>
                </a:solidFill>
                <a:latin typeface="Courier New"/>
              </a:rPr>
              <a:t>offer</a:t>
            </a:r>
            <a:r>
              <a:rPr sz="1600" b="0" i="0">
                <a:solidFill>
                  <a:srgbClr val="1F2328"/>
                </a:solidFill>
                <a:latin typeface="Courier New"/>
              </a:rPr>
              <a:t>.</a:t>
            </a:r>
            <a:r>
              <a:rPr sz="1600" b="0" i="0">
                <a:solidFill>
                  <a:srgbClr val="1F2328"/>
                </a:solidFill>
                <a:latin typeface="Courier New"/>
              </a:rPr>
              <a:t>values</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len</a:t>
            </a:r>
            <a:r>
              <a:rPr sz="1600" b="0" i="0">
                <a:solidFill>
                  <a:srgbClr val="1F2328"/>
                </a:solidFill>
                <a:latin typeface="Courier New"/>
              </a:rPr>
              <a:t>(</a:t>
            </a:r>
            <a:r>
              <a:rPr sz="1600" b="0" i="0">
                <a:solidFill>
                  <a:srgbClr val="1F2328"/>
                </a:solidFill>
                <a:latin typeface="Courier New"/>
              </a:rPr>
              <a:t>offer</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b</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rng</a:t>
            </a:r>
            <a:r>
              <a:rPr sz="1600" b="0" i="0">
                <a:solidFill>
                  <a:srgbClr val="1F2328"/>
                </a:solidFill>
                <a:latin typeface="Courier New"/>
              </a:rPr>
              <a:t>.</a:t>
            </a:r>
            <a:r>
              <a:rPr sz="1600" b="0" i="0">
                <a:solidFill>
                  <a:srgbClr val="1F2328"/>
                </a:solidFill>
                <a:latin typeface="Courier New"/>
              </a:rPr>
              <a:t>choice</a:t>
            </a:r>
            <a:r>
              <a:rPr sz="1600" b="0" i="0">
                <a:solidFill>
                  <a:srgbClr val="1F2328"/>
                </a:solidFill>
                <a:latin typeface="Courier New"/>
              </a:rPr>
              <a:t>(</a:t>
            </a:r>
            <a:r>
              <a:rPr sz="1600" b="0" i="0">
                <a:solidFill>
                  <a:srgbClr val="1F2328"/>
                </a:solidFill>
                <a:latin typeface="Courier New"/>
              </a:rPr>
              <a:t>control</a:t>
            </a:r>
            <a:r>
              <a:rPr sz="1600" b="0" i="0">
                <a:solidFill>
                  <a:srgbClr val="1F2328"/>
                </a:solidFill>
                <a:latin typeface="Courier New"/>
              </a:rPr>
              <a:t>.</a:t>
            </a:r>
            <a:r>
              <a:rPr sz="1600" b="0" i="0">
                <a:solidFill>
                  <a:srgbClr val="1F2328"/>
                </a:solidFill>
                <a:latin typeface="Courier New"/>
              </a:rPr>
              <a:t>values</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len</a:t>
            </a:r>
            <a:r>
              <a:rPr sz="1600" b="0" i="0">
                <a:solidFill>
                  <a:srgbClr val="1F2328"/>
                </a:solidFill>
                <a:latin typeface="Courier New"/>
              </a:rPr>
              <a:t>(</a:t>
            </a:r>
            <a:r>
              <a:rPr sz="1600" b="0" i="0">
                <a:solidFill>
                  <a:srgbClr val="1F2328"/>
                </a:solidFill>
                <a:latin typeface="Courier New"/>
              </a:rPr>
              <a:t>control</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lifts</a:t>
            </a:r>
            <a:r>
              <a:rPr sz="1600" b="0" i="0">
                <a:solidFill>
                  <a:srgbClr val="1F2328"/>
                </a:solidFill>
                <a:latin typeface="Courier New"/>
              </a:rPr>
              <a:t>.</a:t>
            </a:r>
            <a:r>
              <a:rPr sz="1600" b="0" i="0">
                <a:solidFill>
                  <a:srgbClr val="1F2328"/>
                </a:solidFill>
                <a:latin typeface="Courier New"/>
              </a:rPr>
              <a:t>append</a:t>
            </a:r>
            <a:r>
              <a:rPr sz="1600" b="0" i="0">
                <a:solidFill>
                  <a:srgbClr val="1F2328"/>
                </a:solidFill>
                <a:latin typeface="Courier New"/>
              </a:rPr>
              <a:t>(</a:t>
            </a:r>
            <a:r>
              <a:rPr sz="1600" b="0" i="0">
                <a:solidFill>
                  <a:srgbClr val="1F2328"/>
                </a:solidFill>
                <a:latin typeface="Courier New"/>
              </a:rPr>
              <a:t>a</a:t>
            </a:r>
            <a:r>
              <a:rPr sz="1600" b="0" i="0">
                <a:solidFill>
                  <a:srgbClr val="1F2328"/>
                </a:solidFill>
                <a:latin typeface="Courier New"/>
              </a:rPr>
              <a:t>.</a:t>
            </a:r>
            <a:r>
              <a:rPr sz="1600" b="0" i="0">
                <a:solidFill>
                  <a:srgbClr val="1F2328"/>
                </a:solidFill>
                <a:latin typeface="Courier New"/>
              </a:rPr>
              <a:t>mean</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b</a:t>
            </a:r>
            <a:r>
              <a:rPr sz="1600" b="0" i="0">
                <a:solidFill>
                  <a:srgbClr val="1F2328"/>
                </a:solidFill>
                <a:latin typeface="Courier New"/>
              </a:rPr>
              <a:t>.</a:t>
            </a:r>
            <a:r>
              <a:rPr sz="1600" b="0" i="0">
                <a:solidFill>
                  <a:srgbClr val="1F2328"/>
                </a:solidFill>
                <a:latin typeface="Courier New"/>
              </a:rPr>
              <a:t>mean</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low</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high</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np</a:t>
            </a:r>
            <a:r>
              <a:rPr sz="1600" b="0" i="0">
                <a:solidFill>
                  <a:srgbClr val="1F2328"/>
                </a:solidFill>
                <a:latin typeface="Courier New"/>
              </a:rPr>
              <a:t>.</a:t>
            </a:r>
            <a:r>
              <a:rPr sz="1600" b="0" i="0">
                <a:solidFill>
                  <a:srgbClr val="1F2328"/>
                </a:solidFill>
                <a:latin typeface="Courier New"/>
              </a:rPr>
              <a:t>percentile</a:t>
            </a:r>
            <a:r>
              <a:rPr sz="1600" b="0" i="0">
                <a:solidFill>
                  <a:srgbClr val="1F2328"/>
                </a:solidFill>
                <a:latin typeface="Courier New"/>
              </a:rPr>
              <a:t>(</a:t>
            </a:r>
            <a:r>
              <a:rPr sz="1600" b="0" i="0">
                <a:solidFill>
                  <a:srgbClr val="1F2328"/>
                </a:solidFill>
                <a:latin typeface="Courier New"/>
              </a:rPr>
              <a:t>lifts</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3B4046"/>
                </a:solidFill>
                <a:latin typeface="Courier New"/>
              </a:rPr>
              <a:t>2.5</a:t>
            </a:r>
            <a:r>
              <a:rPr sz="1600" b="0" i="0">
                <a:solidFill>
                  <a:srgbClr val="1F2328"/>
                </a:solidFill>
                <a:latin typeface="Courier New"/>
              </a:rPr>
              <a:t>,</a:t>
            </a:r>
            <a:r>
              <a:rPr sz="1600" b="0" i="0">
                <a:solidFill>
                  <a:srgbClr val="1F2328"/>
                </a:solidFill>
                <a:latin typeface="Courier New"/>
              </a:rPr>
              <a:t> </a:t>
            </a:r>
            <a:r>
              <a:rPr sz="1600" b="0" i="0">
                <a:solidFill>
                  <a:srgbClr val="3B4046"/>
                </a:solidFill>
                <a:latin typeface="Courier New"/>
              </a:rPr>
              <a:t>97.5</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1F2328"/>
                </a:solidFill>
                <a:latin typeface="Courier New"/>
              </a:rPr>
              <a:t>np</a:t>
            </a:r>
            <a:r>
              <a:rPr sz="1600" b="0" i="0">
                <a:solidFill>
                  <a:srgbClr val="1F2328"/>
                </a:solidFill>
                <a:latin typeface="Courier New"/>
              </a:rPr>
              <a:t>.</a:t>
            </a:r>
            <a:r>
              <a:rPr sz="1600" b="0" i="0">
                <a:solidFill>
                  <a:srgbClr val="1F2328"/>
                </a:solidFill>
                <a:latin typeface="Courier New"/>
              </a:rPr>
              <a:t>std</a:t>
            </a:r>
            <a:r>
              <a:rPr sz="1600" b="0" i="0">
                <a:solidFill>
                  <a:srgbClr val="1F2328"/>
                </a:solidFill>
                <a:latin typeface="Courier New"/>
              </a:rPr>
              <a:t>(</a:t>
            </a:r>
            <a:r>
              <a:rPr sz="1600" b="0" i="0">
                <a:solidFill>
                  <a:srgbClr val="1F2328"/>
                </a:solidFill>
                <a:latin typeface="Courier New"/>
              </a:rPr>
              <a:t>lifts</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round</a:t>
            </a:r>
            <a:r>
              <a:rPr sz="1600" b="0" i="0">
                <a:solidFill>
                  <a:srgbClr val="1F2328"/>
                </a:solidFill>
                <a:latin typeface="Courier New"/>
              </a:rPr>
              <a:t>(</a:t>
            </a:r>
            <a:r>
              <a:rPr sz="1600" b="0" i="0">
                <a:solidFill>
                  <a:srgbClr val="1F2328"/>
                </a:solidFill>
                <a:latin typeface="Courier New"/>
              </a:rPr>
              <a:t>low</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round</a:t>
            </a:r>
            <a:r>
              <a:rPr sz="1600" b="0" i="0">
                <a:solidFill>
                  <a:srgbClr val="1F2328"/>
                </a:solidFill>
                <a:latin typeface="Courier New"/>
              </a:rPr>
              <a:t>(</a:t>
            </a:r>
            <a:r>
              <a:rPr sz="1600" b="0" i="0">
                <a:solidFill>
                  <a:srgbClr val="1F2328"/>
                </a:solidFill>
                <a:latin typeface="Courier New"/>
              </a:rPr>
              <a:t>high</a:t>
            </a:r>
            <a:r>
              <a:rPr sz="1600" b="0" i="0">
                <a:solidFill>
                  <a:srgbClr val="1F2328"/>
                </a:solidFill>
                <a:latin typeface="Courier New"/>
              </a:rPr>
              <a:t>)</a:t>
            </a:r>
            <a:r>
              <a:rPr sz="1600" b="0" i="0">
                <a:solidFill>
                  <a:srgbClr val="1F2328"/>
                </a:solidFill>
                <a:latin typeface="Courier New"/>
              </a:rPr>
              <a:t>)</a:t>
            </a:r>
          </a:p>
        </p:txBody>
      </p:sp>
      <p:grpSp>
        <p:nvGrpSpPr>
          <p:cNvPr id="7" name="output"/>
          <p:cNvGrpSpPr/>
          <p:nvPr/>
        </p:nvGrpSpPr>
        <p:grpSpPr>
          <a:xfrm>
            <a:off x="685800" y="3971543"/>
            <a:ext cx="6949440" cy="524257"/>
            <a:chOff x="685800" y="3971543"/>
            <a:chExt cx="6949440" cy="524257"/>
          </a:xfrm>
        </p:grpSpPr>
        <p:sp>
          <p:nvSpPr>
            <p:cNvPr id="8" name="TextBox 7"/>
            <p:cNvSpPr txBox="1"/>
            <p:nvPr/>
          </p:nvSpPr>
          <p:spPr>
            <a:xfrm>
              <a:off x="685800" y="397154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22757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319015"/>
              <a:ext cx="6675120" cy="158496"/>
            </a:xfrm>
            <a:prstGeom prst="rect">
              <a:avLst/>
            </a:prstGeom>
            <a:noFill/>
          </p:spPr>
          <p:txBody>
            <a:bodyPr wrap="none" lIns="0" rIns="0" tIns="0" bIns="0">
              <a:spAutoFit/>
            </a:bodyPr>
            <a:lstStyle/>
            <a:p>
              <a:r>
                <a:rPr sz="1400" b="0" i="0">
                  <a:solidFill>
                    <a:srgbClr val="1F2328"/>
                  </a:solidFill>
                  <a:latin typeface="Courier New"/>
                </a:rPr>
                <a:t>1522 1959 8004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Pick customers at random from each group. Each one goes back after it is picked.</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Repeat 5,000 times and keep the gap each time.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Cut off the lowest 2.5 percent and the highest 2.5 percent of gaps.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null idea and the p-value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TextBox 4"/>
          <p:cNvSpPr txBox="1"/>
          <p:nvPr/>
        </p:nvSpPr>
        <p:spPr>
          <a:xfrm>
            <a:off x="685800" y="1600200"/>
            <a:ext cx="5303520" cy="1188720"/>
          </a:xfrm>
          <a:prstGeom prst="rect">
            <a:avLst/>
          </a:prstGeom>
          <a:noFill/>
        </p:spPr>
        <p:txBody>
          <a:bodyPr wrap="square" lIns="0" rIns="0" tIns="18288" bIns="18288" anchor="t">
            <a:spAutoFit/>
          </a:bodyPr>
          <a:lstStyle/>
          <a:p>
            <a:pPr algn="l"/>
            <a:r>
              <a:rPr sz="2300" b="0" i="0">
                <a:solidFill>
                  <a:srgbClr val="1F2328"/>
                </a:solidFill>
                <a:latin typeface="Cambria"/>
              </a:rPr>
              <a:t>Another way to ask if a gap is real: pretend the offer did nothing and see how surprising the data look.</a:t>
            </a:r>
          </a:p>
        </p:txBody>
      </p:sp>
      <p:cxnSp>
        <p:nvCxnSpPr>
          <p:cNvPr id="6" name="Connector 5"/>
          <p:cNvCxnSpPr/>
          <p:nvPr/>
        </p:nvCxnSpPr>
        <p:spPr>
          <a:xfrm>
            <a:off x="685800" y="2894990"/>
            <a:ext cx="5303520" cy="0"/>
          </a:xfrm>
          <a:prstGeom prst="line">
            <a:avLst/>
          </a:prstGeom>
          <a:ln w="15875">
            <a:solidFill>
              <a:srgbClr val="1F2328"/>
            </a:solidFill>
          </a:ln>
        </p:spPr>
      </p:cxnSp>
      <p:sp>
        <p:nvSpPr>
          <p:cNvPr id="7" name="TextBox 6"/>
          <p:cNvSpPr txBox="1"/>
          <p:nvPr/>
        </p:nvSpPr>
        <p:spPr>
          <a:xfrm>
            <a:off x="685800" y="2968142"/>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Null hypothesis. </a:t>
            </a:r>
            <a:r>
              <a:rPr sz="2000" b="0" i="0">
                <a:solidFill>
                  <a:srgbClr val="3B4046"/>
                </a:solidFill>
                <a:latin typeface="Calibri"/>
              </a:rPr>
              <a:t>The starting claim that nothing is going on. Any gap is luck.</a:t>
            </a:r>
          </a:p>
        </p:txBody>
      </p:sp>
      <p:cxnSp>
        <p:nvCxnSpPr>
          <p:cNvPr id="8" name="Connector 7"/>
          <p:cNvCxnSpPr/>
          <p:nvPr/>
        </p:nvCxnSpPr>
        <p:spPr>
          <a:xfrm>
            <a:off x="685800" y="4002633"/>
            <a:ext cx="5303520" cy="0"/>
          </a:xfrm>
          <a:prstGeom prst="line">
            <a:avLst/>
          </a:prstGeom>
          <a:ln w="6350">
            <a:solidFill>
              <a:srgbClr val="C9C5BC"/>
            </a:solidFill>
          </a:ln>
        </p:spPr>
      </p:cxnSp>
      <p:sp>
        <p:nvSpPr>
          <p:cNvPr id="9" name="TextBox 8"/>
          <p:cNvSpPr txBox="1"/>
          <p:nvPr/>
        </p:nvSpPr>
        <p:spPr>
          <a:xfrm>
            <a:off x="685800" y="4075785"/>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p-value. </a:t>
            </a:r>
            <a:r>
              <a:rPr sz="2000" b="0" i="0">
                <a:solidFill>
                  <a:srgbClr val="3B4046"/>
                </a:solidFill>
                <a:latin typeface="Calibri"/>
              </a:rPr>
              <a:t>How often luck alone gives a gap at least this big.</a:t>
            </a:r>
          </a:p>
        </p:txBody>
      </p:sp>
      <p:cxnSp>
        <p:nvCxnSpPr>
          <p:cNvPr id="10" name="Connector 9"/>
          <p:cNvCxnSpPr/>
          <p:nvPr/>
        </p:nvCxnSpPr>
        <p:spPr>
          <a:xfrm>
            <a:off x="685800" y="5110276"/>
            <a:ext cx="5303520" cy="0"/>
          </a:xfrm>
          <a:prstGeom prst="line">
            <a:avLst/>
          </a:prstGeom>
          <a:ln w="6350">
            <a:solidFill>
              <a:srgbClr val="C9C5BC"/>
            </a:solidFill>
          </a:ln>
        </p:spPr>
      </p:cxnSp>
      <p:sp>
        <p:nvSpPr>
          <p:cNvPr id="11" name="TextBox 10"/>
          <p:cNvSpPr txBox="1"/>
          <p:nvPr/>
        </p:nvSpPr>
        <p:spPr>
          <a:xfrm>
            <a:off x="685800" y="5183428"/>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Small p. </a:t>
            </a:r>
            <a:r>
              <a:rPr sz="2000" b="0" i="0">
                <a:solidFill>
                  <a:srgbClr val="3B4046"/>
                </a:solidFill>
                <a:latin typeface="Calibri"/>
              </a:rPr>
              <a:t>Luck explains the gap badly. Below 0.05 is the usual line.</a:t>
            </a:r>
          </a:p>
        </p:txBody>
      </p:sp>
      <p:cxnSp>
        <p:nvCxnSpPr>
          <p:cNvPr id="12" name="Connector 11"/>
          <p:cNvCxnSpPr/>
          <p:nvPr/>
        </p:nvCxnSpPr>
        <p:spPr>
          <a:xfrm>
            <a:off x="685800" y="6217920"/>
            <a:ext cx="5303520" cy="0"/>
          </a:xfrm>
          <a:prstGeom prst="line">
            <a:avLst/>
          </a:prstGeom>
          <a:ln w="6350">
            <a:solidFill>
              <a:srgbClr val="C9C5BC"/>
            </a:solidFill>
          </a:ln>
        </p:spPr>
      </p:cxnSp>
      <p:pic>
        <p:nvPicPr>
          <p:cNvPr id="13" name="figure-pvalue_curve" descr="A bell curve with both tails shaded to show the chance of a result at least this extreme if nothing is going on."/>
          <p:cNvPicPr>
            <a:picLocks noChangeAspect="1"/>
          </p:cNvPicPr>
          <p:nvPr/>
        </p:nvPicPr>
        <p:blipFill>
          <a:blip r:embed="rId3"/>
          <a:stretch>
            <a:fillRect/>
          </a:stretch>
        </p:blipFill>
        <p:spPr>
          <a:xfrm>
            <a:off x="6355080" y="2406738"/>
            <a:ext cx="5150815" cy="300464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permutation test by shuffling labels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6949440" cy="25740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299715"/>
          </a:xfrm>
          <a:prstGeom prst="rect">
            <a:avLst/>
          </a:prstGeom>
          <a:noFill/>
        </p:spPr>
        <p:txBody>
          <a:bodyPr wrap="none" lIns="0" rIns="0" tIns="0" bIns="0">
            <a:spAutoFit/>
          </a:bodyPr>
          <a:lstStyle/>
          <a:p>
            <a:r>
              <a:rPr sz="1650" b="0" i="0">
                <a:solidFill>
                  <a:srgbClr val="1F2328"/>
                </a:solidFill>
                <a:latin typeface="Courier New"/>
              </a:rPr>
              <a:t>spend</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test</a:t>
            </a:r>
            <a:r>
              <a:rPr sz="1650" b="0" i="0">
                <a:solidFill>
                  <a:srgbClr val="1F2328"/>
                </a:solidFill>
                <a:latin typeface="Courier New"/>
              </a:rPr>
              <a:t>.</a:t>
            </a:r>
            <a:r>
              <a:rPr sz="1650" b="0" i="0">
                <a:solidFill>
                  <a:srgbClr val="1F2328"/>
                </a:solidFill>
                <a:latin typeface="Courier New"/>
              </a:rPr>
              <a:t>next_month_spend_ugx</a:t>
            </a:r>
            <a:r>
              <a:rPr sz="1650" b="0" i="0">
                <a:solidFill>
                  <a:srgbClr val="1F2328"/>
                </a:solidFill>
                <a:latin typeface="Courier New"/>
              </a:rPr>
              <a:t>.</a:t>
            </a:r>
            <a:r>
              <a:rPr sz="1650" b="0" i="0">
                <a:solidFill>
                  <a:srgbClr val="1F2328"/>
                </a:solidFill>
                <a:latin typeface="Courier New"/>
              </a:rPr>
              <a:t>values</a:t>
            </a:r>
          </a:p>
          <a:p>
            <a:r>
              <a:rPr sz="1650" b="0" i="0">
                <a:solidFill>
                  <a:srgbClr val="1F2328"/>
                </a:solidFill>
                <a:latin typeface="Courier New"/>
              </a:rPr>
              <a:t>is_off</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test</a:t>
            </a:r>
            <a:r>
              <a:rPr sz="1650" b="0" i="0">
                <a:solidFill>
                  <a:srgbClr val="1F2328"/>
                </a:solidFill>
                <a:latin typeface="Courier New"/>
              </a:rPr>
              <a:t>.</a:t>
            </a:r>
            <a:r>
              <a:rPr sz="1650" b="0" i="0">
                <a:solidFill>
                  <a:srgbClr val="1F2328"/>
                </a:solidFill>
                <a:latin typeface="Courier New"/>
              </a:rPr>
              <a:t>group</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'offer'</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values</a:t>
            </a:r>
          </a:p>
          <a:p>
            <a:r>
              <a:rPr sz="1650" b="0" i="0">
                <a:solidFill>
                  <a:srgbClr val="1F2328"/>
                </a:solidFill>
                <a:latin typeface="Courier New"/>
              </a:rPr>
              <a:t>rng</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random</a:t>
            </a:r>
            <a:r>
              <a:rPr sz="1650" b="0" i="0">
                <a:solidFill>
                  <a:srgbClr val="1F2328"/>
                </a:solidFill>
                <a:latin typeface="Courier New"/>
              </a:rPr>
              <a:t>.</a:t>
            </a:r>
            <a:r>
              <a:rPr sz="1650" b="0" i="0">
                <a:solidFill>
                  <a:srgbClr val="1F2328"/>
                </a:solidFill>
                <a:latin typeface="Courier New"/>
              </a:rPr>
              <a:t>default_rng</a:t>
            </a:r>
            <a:r>
              <a:rPr sz="1650" b="0" i="0">
                <a:solidFill>
                  <a:srgbClr val="1F2328"/>
                </a:solidFill>
                <a:latin typeface="Courier New"/>
              </a:rPr>
              <a:t>(</a:t>
            </a:r>
            <a:r>
              <a:rPr sz="1650" b="0" i="0">
                <a:solidFill>
                  <a:srgbClr val="3B4046"/>
                </a:solidFill>
                <a:latin typeface="Courier New"/>
              </a:rPr>
              <a:t>42</a:t>
            </a:r>
            <a:r>
              <a:rPr sz="1650" b="0" i="0">
                <a:solidFill>
                  <a:srgbClr val="1F2328"/>
                </a:solidFill>
                <a:latin typeface="Courier New"/>
              </a:rPr>
              <a:t>)</a:t>
            </a:r>
          </a:p>
          <a:p>
            <a:r>
              <a:rPr sz="1650" b="0" i="0">
                <a:solidFill>
                  <a:srgbClr val="1F2328"/>
                </a:solidFill>
                <a:latin typeface="Courier New"/>
              </a:rPr>
              <a:t>gaps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a:t>
            </a:r>
          </a:p>
          <a:p>
            <a:r>
              <a:rPr sz="1650" b="1" i="0">
                <a:solidFill>
                  <a:srgbClr val="1F2328"/>
                </a:solidFill>
                <a:latin typeface="Courier New"/>
              </a:rPr>
              <a:t>for</a:t>
            </a:r>
            <a:r>
              <a:rPr sz="1650" b="0" i="0">
                <a:solidFill>
                  <a:srgbClr val="1F2328"/>
                </a:solidFill>
                <a:latin typeface="Courier New"/>
              </a:rPr>
              <a:t> </a:t>
            </a:r>
            <a:r>
              <a:rPr sz="1650" b="0" i="0">
                <a:solidFill>
                  <a:srgbClr val="1F2328"/>
                </a:solidFill>
                <a:latin typeface="Courier New"/>
              </a:rPr>
              <a:t>_</a:t>
            </a:r>
            <a:r>
              <a:rPr sz="1650" b="0" i="0">
                <a:solidFill>
                  <a:srgbClr val="1F2328"/>
                </a:solidFill>
                <a:latin typeface="Courier New"/>
              </a:rPr>
              <a:t> </a:t>
            </a:r>
            <a:r>
              <a:rPr sz="1650" b="1" i="0">
                <a:solidFill>
                  <a:srgbClr val="1F2328"/>
                </a:solidFill>
                <a:latin typeface="Courier New"/>
              </a:rPr>
              <a:t>in</a:t>
            </a:r>
            <a:r>
              <a:rPr sz="1650" b="0" i="0">
                <a:solidFill>
                  <a:srgbClr val="1F2328"/>
                </a:solidFill>
                <a:latin typeface="Courier New"/>
              </a:rPr>
              <a:t> </a:t>
            </a:r>
            <a:r>
              <a:rPr sz="1650" b="0" i="0">
                <a:solidFill>
                  <a:srgbClr val="1F2328"/>
                </a:solidFill>
                <a:latin typeface="Courier New"/>
              </a:rPr>
              <a:t>range</a:t>
            </a:r>
            <a:r>
              <a:rPr sz="1650" b="0" i="0">
                <a:solidFill>
                  <a:srgbClr val="1F2328"/>
                </a:solidFill>
                <a:latin typeface="Courier New"/>
              </a:rPr>
              <a:t>(</a:t>
            </a:r>
            <a:r>
              <a:rPr sz="1650" b="0" i="0">
                <a:solidFill>
                  <a:srgbClr val="3B4046"/>
                </a:solidFill>
                <a:latin typeface="Courier New"/>
              </a:rPr>
              <a:t>5000</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rng</a:t>
            </a:r>
            <a:r>
              <a:rPr sz="1650" b="0" i="0">
                <a:solidFill>
                  <a:srgbClr val="1F2328"/>
                </a:solidFill>
                <a:latin typeface="Courier New"/>
              </a:rPr>
              <a:t>.</a:t>
            </a:r>
            <a:r>
              <a:rPr sz="1650" b="0" i="0">
                <a:solidFill>
                  <a:srgbClr val="1F2328"/>
                </a:solidFill>
                <a:latin typeface="Courier New"/>
              </a:rPr>
              <a:t>permutation</a:t>
            </a:r>
            <a:r>
              <a:rPr sz="1650" b="0" i="0">
                <a:solidFill>
                  <a:srgbClr val="1F2328"/>
                </a:solidFill>
                <a:latin typeface="Courier New"/>
              </a:rPr>
              <a:t>(</a:t>
            </a:r>
            <a:r>
              <a:rPr sz="1650" b="0" i="0">
                <a:solidFill>
                  <a:srgbClr val="1F2328"/>
                </a:solidFill>
                <a:latin typeface="Courier New"/>
              </a:rPr>
              <a:t>is_off</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gaps</a:t>
            </a:r>
            <a:r>
              <a:rPr sz="1650" b="0" i="0">
                <a:solidFill>
                  <a:srgbClr val="1F2328"/>
                </a:solidFill>
                <a:latin typeface="Courier New"/>
              </a:rPr>
              <a:t>.</a:t>
            </a:r>
            <a:r>
              <a:rPr sz="1650" b="0" i="0">
                <a:solidFill>
                  <a:srgbClr val="1F2328"/>
                </a:solidFill>
                <a:latin typeface="Courier New"/>
              </a:rPr>
              <a:t>append</a:t>
            </a:r>
            <a:r>
              <a:rPr sz="1650" b="0" i="0">
                <a:solidFill>
                  <a:srgbClr val="1F2328"/>
                </a:solidFill>
                <a:latin typeface="Courier New"/>
              </a:rPr>
              <a:t>(</a:t>
            </a:r>
            <a:r>
              <a:rPr sz="1650" b="0" i="0">
                <a:solidFill>
                  <a:srgbClr val="1F2328"/>
                </a:solidFill>
                <a:latin typeface="Courier New"/>
              </a:rPr>
              <a:t>spend</a:t>
            </a:r>
            <a:r>
              <a:rPr sz="1650" b="0" i="0">
                <a:solidFill>
                  <a:srgbClr val="1F2328"/>
                </a:solidFill>
                <a:latin typeface="Courier New"/>
              </a:rPr>
              <a:t>[</a:t>
            </a:r>
            <a:r>
              <a:rPr sz="1650" b="0" i="0">
                <a:solidFill>
                  <a:srgbClr val="1F2328"/>
                </a:solidFill>
                <a:latin typeface="Courier New"/>
              </a:rPr>
              <a:t>s</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spend</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s</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hits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abs</a:t>
            </a:r>
            <a:r>
              <a:rPr sz="1650" b="0" i="0">
                <a:solidFill>
                  <a:srgbClr val="1F2328"/>
                </a:solidFill>
                <a:latin typeface="Courier New"/>
              </a:rPr>
              <a:t>(</a:t>
            </a:r>
            <a:r>
              <a:rPr sz="1650" b="0" i="0">
                <a:solidFill>
                  <a:srgbClr val="1F2328"/>
                </a:solidFill>
                <a:latin typeface="Courier New"/>
              </a:rPr>
              <a:t>gaps</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&gt;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abs</a:t>
            </a:r>
            <a:r>
              <a:rPr sz="1650" b="0" i="0">
                <a:solidFill>
                  <a:srgbClr val="1F2328"/>
                </a:solidFill>
                <a:latin typeface="Courier New"/>
              </a:rPr>
              <a:t>(</a:t>
            </a:r>
            <a:r>
              <a:rPr sz="1650" b="0" i="0">
                <a:solidFill>
                  <a:srgbClr val="1F2328"/>
                </a:solidFill>
                <a:latin typeface="Courier New"/>
              </a:rPr>
              <a:t>diff</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hits</a:t>
            </a:r>
            <a:r>
              <a:rPr sz="1650" b="0" i="0">
                <a:solidFill>
                  <a:srgbClr val="1F2328"/>
                </a:solidFill>
                <a:latin typeface="Courier New"/>
              </a:rPr>
              <a:t>.</a:t>
            </a:r>
            <a:r>
              <a:rPr sz="1650" b="0" i="0">
                <a:solidFill>
                  <a:srgbClr val="1F2328"/>
                </a:solidFill>
                <a:latin typeface="Courier New"/>
              </a:rPr>
              <a:t>sum</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'of 5000'</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hits</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p>
        </p:txBody>
      </p:sp>
      <p:grpSp>
        <p:nvGrpSpPr>
          <p:cNvPr id="7" name="output"/>
          <p:cNvGrpSpPr/>
          <p:nvPr/>
        </p:nvGrpSpPr>
        <p:grpSpPr>
          <a:xfrm>
            <a:off x="685800" y="4283964"/>
            <a:ext cx="6949440" cy="524256"/>
            <a:chOff x="685800" y="4283964"/>
            <a:chExt cx="6949440" cy="524256"/>
          </a:xfrm>
        </p:grpSpPr>
        <p:sp>
          <p:nvSpPr>
            <p:cNvPr id="8" name="TextBox 7"/>
            <p:cNvSpPr txBox="1"/>
            <p:nvPr/>
          </p:nvSpPr>
          <p:spPr>
            <a:xfrm>
              <a:off x="685800" y="42839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53999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631436"/>
              <a:ext cx="6675120" cy="158496"/>
            </a:xfrm>
            <a:prstGeom prst="rect">
              <a:avLst/>
            </a:prstGeom>
            <a:noFill/>
          </p:spPr>
          <p:txBody>
            <a:bodyPr wrap="none" lIns="0" rIns="0" tIns="0" bIns="0">
              <a:spAutoFit/>
            </a:bodyPr>
            <a:lstStyle/>
            <a:p>
              <a:r>
                <a:rPr sz="1400" b="0" i="0">
                  <a:solidFill>
                    <a:srgbClr val="1F2328"/>
                  </a:solidFill>
                  <a:latin typeface="Courier New"/>
                </a:rPr>
                <a:t>7 of 5000 0.0014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Shuffle who is labelled offer. Now the label means nothing.</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Record the gap each shuffle gives, 5,000 times.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how often luck gives a gap as big as 5,044.</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proportion test: did more customers come back?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2368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0939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math</a:t>
            </a:r>
          </a:p>
          <a:p>
            <a:r>
              <a:rPr sz="1500" b="0" i="0">
                <a:solidFill>
                  <a:srgbClr val="1F2328"/>
                </a:solidFill>
                <a:latin typeface="Courier New"/>
              </a:rPr>
              <a:t>offer_df</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test</a:t>
            </a:r>
            <a:r>
              <a:rPr sz="1500" b="0" i="0">
                <a:solidFill>
                  <a:srgbClr val="1F2328"/>
                </a:solidFill>
                <a:latin typeface="Courier New"/>
              </a:rPr>
              <a:t>[</a:t>
            </a:r>
            <a:r>
              <a:rPr sz="1500" b="0" i="0">
                <a:solidFill>
                  <a:srgbClr val="1F2328"/>
                </a:solidFill>
                <a:latin typeface="Courier New"/>
              </a:rPr>
              <a:t>test</a:t>
            </a:r>
            <a:r>
              <a:rPr sz="1500" b="0" i="0">
                <a:solidFill>
                  <a:srgbClr val="1F2328"/>
                </a:solidFill>
                <a:latin typeface="Courier New"/>
              </a:rPr>
              <a:t>.</a:t>
            </a:r>
            <a:r>
              <a:rPr sz="1500" b="0" i="0">
                <a:solidFill>
                  <a:srgbClr val="1F2328"/>
                </a:solidFill>
                <a:latin typeface="Courier New"/>
              </a:rPr>
              <a:t>group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'offer'</a:t>
            </a:r>
            <a:r>
              <a:rPr sz="1500" b="0" i="0">
                <a:solidFill>
                  <a:srgbClr val="1F2328"/>
                </a:solidFill>
                <a:latin typeface="Courier New"/>
              </a:rPr>
              <a:t>]</a:t>
            </a:r>
          </a:p>
          <a:p>
            <a:r>
              <a:rPr sz="1500" b="0" i="0">
                <a:solidFill>
                  <a:srgbClr val="1F2328"/>
                </a:solidFill>
                <a:latin typeface="Courier New"/>
              </a:rPr>
              <a:t>control_df</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test</a:t>
            </a:r>
            <a:r>
              <a:rPr sz="1500" b="0" i="0">
                <a:solidFill>
                  <a:srgbClr val="1F2328"/>
                </a:solidFill>
                <a:latin typeface="Courier New"/>
              </a:rPr>
              <a:t>[</a:t>
            </a:r>
            <a:r>
              <a:rPr sz="1500" b="0" i="0">
                <a:solidFill>
                  <a:srgbClr val="1F2328"/>
                </a:solidFill>
                <a:latin typeface="Courier New"/>
              </a:rPr>
              <a:t>test</a:t>
            </a:r>
            <a:r>
              <a:rPr sz="1500" b="0" i="0">
                <a:solidFill>
                  <a:srgbClr val="1F2328"/>
                </a:solidFill>
                <a:latin typeface="Courier New"/>
              </a:rPr>
              <a:t>.</a:t>
            </a:r>
            <a:r>
              <a:rPr sz="1500" b="0" i="0">
                <a:solidFill>
                  <a:srgbClr val="1F2328"/>
                </a:solidFill>
                <a:latin typeface="Courier New"/>
              </a:rPr>
              <a:t>group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'control'</a:t>
            </a:r>
            <a:r>
              <a:rPr sz="1500" b="0" i="0">
                <a:solidFill>
                  <a:srgbClr val="1F2328"/>
                </a:solidFill>
                <a:latin typeface="Courier New"/>
              </a:rPr>
              <a:t>]</a:t>
            </a:r>
          </a:p>
          <a:p>
            <a:r>
              <a:rPr sz="1500" b="0" i="0">
                <a:solidFill>
                  <a:srgbClr val="1F2328"/>
                </a:solidFill>
                <a:latin typeface="Courier New"/>
              </a:rPr>
              <a:t>p1</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offer_df</a:t>
            </a:r>
            <a:r>
              <a:rPr sz="1500" b="0" i="0">
                <a:solidFill>
                  <a:srgbClr val="1F2328"/>
                </a:solidFill>
                <a:latin typeface="Courier New"/>
              </a:rPr>
              <a:t>.</a:t>
            </a:r>
            <a:r>
              <a:rPr sz="1500" b="0" i="0">
                <a:solidFill>
                  <a:srgbClr val="1F2328"/>
                </a:solidFill>
                <a:latin typeface="Courier New"/>
              </a:rPr>
              <a:t>returned_within_30d</a:t>
            </a:r>
            <a:r>
              <a:rPr sz="1500" b="0" i="0">
                <a:solidFill>
                  <a:srgbClr val="1F2328"/>
                </a:solidFill>
                <a:latin typeface="Courier New"/>
              </a:rPr>
              <a:t>.</a:t>
            </a:r>
            <a:r>
              <a:rPr sz="1500" b="0" i="0">
                <a:solidFill>
                  <a:srgbClr val="1F2328"/>
                </a:solidFill>
                <a:latin typeface="Courier New"/>
              </a:rPr>
              <a:t>mean</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p2</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control_df</a:t>
            </a:r>
            <a:r>
              <a:rPr sz="1500" b="0" i="0">
                <a:solidFill>
                  <a:srgbClr val="1F2328"/>
                </a:solidFill>
                <a:latin typeface="Courier New"/>
              </a:rPr>
              <a:t>.</a:t>
            </a:r>
            <a:r>
              <a:rPr sz="1500" b="0" i="0">
                <a:solidFill>
                  <a:srgbClr val="1F2328"/>
                </a:solidFill>
                <a:latin typeface="Courier New"/>
              </a:rPr>
              <a:t>returned_within_30d</a:t>
            </a:r>
            <a:r>
              <a:rPr sz="1500" b="0" i="0">
                <a:solidFill>
                  <a:srgbClr val="1F2328"/>
                </a:solidFill>
                <a:latin typeface="Courier New"/>
              </a:rPr>
              <a:t>.</a:t>
            </a:r>
            <a:r>
              <a:rPr sz="1500" b="0" i="0">
                <a:solidFill>
                  <a:srgbClr val="1F2328"/>
                </a:solidFill>
                <a:latin typeface="Courier New"/>
              </a:rPr>
              <a:t>mean</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gap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p1</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p2</a:t>
            </a:r>
          </a:p>
          <a:p>
            <a:r>
              <a:rPr sz="1500" b="0" i="0">
                <a:solidFill>
                  <a:srgbClr val="1F2328"/>
                </a:solidFill>
                <a:latin typeface="Courier New"/>
              </a:rPr>
              <a:t>se_p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math</a:t>
            </a:r>
            <a:r>
              <a:rPr sz="1500" b="0" i="0">
                <a:solidFill>
                  <a:srgbClr val="1F2328"/>
                </a:solidFill>
                <a:latin typeface="Courier New"/>
              </a:rPr>
              <a:t>.</a:t>
            </a:r>
            <a:r>
              <a:rPr sz="1500" b="0" i="0">
                <a:solidFill>
                  <a:srgbClr val="1F2328"/>
                </a:solidFill>
                <a:latin typeface="Courier New"/>
              </a:rPr>
              <a:t>sqrt</a:t>
            </a:r>
            <a:r>
              <a:rPr sz="1500" b="0" i="0">
                <a:solidFill>
                  <a:srgbClr val="1F2328"/>
                </a:solidFill>
                <a:latin typeface="Courier New"/>
              </a:rPr>
              <a:t>(</a:t>
            </a:r>
            <a:r>
              <a:rPr sz="1500" b="0" i="0">
                <a:solidFill>
                  <a:srgbClr val="1F2328"/>
                </a:solidFill>
                <a:latin typeface="Courier New"/>
              </a:rPr>
              <a:t>p1</a:t>
            </a:r>
            <a:r>
              <a:rPr sz="1500" b="0" i="0">
                <a:solidFill>
                  <a:srgbClr val="1F2328"/>
                </a:solidFill>
                <a:latin typeface="Courier New"/>
              </a:rPr>
              <a:t>*</a:t>
            </a:r>
            <a:r>
              <a:rPr sz="1500" b="0" i="0">
                <a:solidFill>
                  <a:srgbClr val="1F2328"/>
                </a:solidFill>
                <a:latin typeface="Courier New"/>
              </a:rPr>
              <a:t>(</a:t>
            </a:r>
            <a:r>
              <a:rPr sz="1500" b="0" i="0">
                <a:solidFill>
                  <a:srgbClr val="3B4046"/>
                </a:solidFill>
                <a:latin typeface="Courier New"/>
              </a:rPr>
              <a:t>1</a:t>
            </a:r>
            <a:r>
              <a:rPr sz="1500" b="0" i="0">
                <a:solidFill>
                  <a:srgbClr val="1F2328"/>
                </a:solidFill>
                <a:latin typeface="Courier New"/>
              </a:rPr>
              <a:t>-</a:t>
            </a:r>
            <a:r>
              <a:rPr sz="1500" b="0" i="0">
                <a:solidFill>
                  <a:srgbClr val="1F2328"/>
                </a:solidFill>
                <a:latin typeface="Courier New"/>
              </a:rPr>
              <a:t>p1</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offer_df</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p2</a:t>
            </a:r>
            <a:r>
              <a:rPr sz="1500" b="0" i="0">
                <a:solidFill>
                  <a:srgbClr val="1F2328"/>
                </a:solidFill>
                <a:latin typeface="Courier New"/>
              </a:rPr>
              <a:t>*</a:t>
            </a:r>
            <a:r>
              <a:rPr sz="1500" b="0" i="0">
                <a:solidFill>
                  <a:srgbClr val="1F2328"/>
                </a:solidFill>
                <a:latin typeface="Courier New"/>
              </a:rPr>
              <a:t>(</a:t>
            </a:r>
            <a:r>
              <a:rPr sz="1500" b="0" i="0">
                <a:solidFill>
                  <a:srgbClr val="3B4046"/>
                </a:solidFill>
                <a:latin typeface="Courier New"/>
              </a:rPr>
              <a:t>1</a:t>
            </a:r>
            <a:r>
              <a:rPr sz="1500" b="0" i="0">
                <a:solidFill>
                  <a:srgbClr val="1F2328"/>
                </a:solidFill>
                <a:latin typeface="Courier New"/>
              </a:rPr>
              <a:t>-</a:t>
            </a:r>
            <a:r>
              <a:rPr sz="1500" b="0" i="0">
                <a:solidFill>
                  <a:srgbClr val="1F2328"/>
                </a:solidFill>
                <a:latin typeface="Courier New"/>
              </a:rPr>
              <a:t>p2</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control_df</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p1</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p2</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gap</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gap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1.96</a:t>
            </a:r>
            <a:r>
              <a:rPr sz="1500" b="0" i="0">
                <a:solidFill>
                  <a:srgbClr val="1F2328"/>
                </a:solidFill>
                <a:latin typeface="Courier New"/>
              </a:rPr>
              <a:t>*</a:t>
            </a:r>
            <a:r>
              <a:rPr sz="1500" b="0" i="0">
                <a:solidFill>
                  <a:srgbClr val="1F2328"/>
                </a:solidFill>
                <a:latin typeface="Courier New"/>
              </a:rPr>
              <a:t>se_p</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gap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1.96</a:t>
            </a:r>
            <a:r>
              <a:rPr sz="1500" b="0" i="0">
                <a:solidFill>
                  <a:srgbClr val="1F2328"/>
                </a:solidFill>
                <a:latin typeface="Courier New"/>
              </a:rPr>
              <a:t>*</a:t>
            </a:r>
            <a:r>
              <a:rPr sz="1500" b="0" i="0">
                <a:solidFill>
                  <a:srgbClr val="1F2328"/>
                </a:solidFill>
                <a:latin typeface="Courier New"/>
              </a:rPr>
              <a:t>se_p</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4078224"/>
            <a:ext cx="10820095" cy="737615"/>
            <a:chOff x="685800" y="4078224"/>
            <a:chExt cx="10820095" cy="737615"/>
          </a:xfrm>
        </p:grpSpPr>
        <p:sp>
          <p:nvSpPr>
            <p:cNvPr id="8" name="TextBox 7"/>
            <p:cNvSpPr txBox="1"/>
            <p:nvPr/>
          </p:nvSpPr>
          <p:spPr>
            <a:xfrm>
              <a:off x="685800" y="4078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342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425696"/>
              <a:ext cx="10545775" cy="371855"/>
            </a:xfrm>
            <a:prstGeom prst="rect">
              <a:avLst/>
            </a:prstGeom>
            <a:noFill/>
          </p:spPr>
          <p:txBody>
            <a:bodyPr wrap="none" lIns="0" rIns="0" tIns="0" bIns="0">
              <a:spAutoFit/>
            </a:bodyPr>
            <a:lstStyle/>
            <a:p>
              <a:r>
                <a:rPr sz="1400" b="0" i="0">
                  <a:solidFill>
                    <a:srgbClr val="1F2328"/>
                  </a:solidFill>
                  <a:latin typeface="Courier New"/>
                </a:rPr>
                <a:t>0.4514 0.4295 0.0219</a:t>
              </a:r>
            </a:p>
            <a:p>
              <a:r>
                <a:rPr sz="1400" b="0" i="0">
                  <a:solidFill>
                    <a:srgbClr val="1F2328"/>
                  </a:solidFill>
                  <a:latin typeface="Courier New"/>
                </a:rPr>
                <a:t>-0.017 0.0608</a:t>
              </a:r>
            </a:p>
          </p:txBody>
        </p:sp>
      </p:grpSp>
      <p:grpSp>
        <p:nvGrpSpPr>
          <p:cNvPr id="11" name="says-1"/>
          <p:cNvGrpSpPr/>
          <p:nvPr/>
        </p:nvGrpSpPr>
        <p:grpSpPr>
          <a:xfrm>
            <a:off x="685800" y="4998720"/>
            <a:ext cx="5204307" cy="1200911"/>
            <a:chOff x="685800" y="4998720"/>
            <a:chExt cx="5204307" cy="1200911"/>
          </a:xfrm>
        </p:grpSpPr>
        <p:cxnSp>
          <p:nvCxnSpPr>
            <p:cNvPr id="12" name="Connector 11"/>
            <p:cNvCxnSpPr/>
            <p:nvPr/>
          </p:nvCxnSpPr>
          <p:spPr>
            <a:xfrm>
              <a:off x="685800" y="4998720"/>
              <a:ext cx="5204307" cy="0"/>
            </a:xfrm>
            <a:prstGeom prst="line">
              <a:avLst/>
            </a:prstGeom>
            <a:ln w="15875">
              <a:solidFill>
                <a:srgbClr val="1F2328"/>
              </a:solidFill>
            </a:ln>
          </p:spPr>
        </p:cxnSp>
        <p:sp>
          <p:nvSpPr>
            <p:cNvPr id="13" name="TextBox 12"/>
            <p:cNvSpPr txBox="1"/>
            <p:nvPr/>
          </p:nvSpPr>
          <p:spPr>
            <a:xfrm>
              <a:off x="685800"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71872"/>
              <a:ext cx="4856835" cy="1127759"/>
            </a:xfrm>
            <a:prstGeom prst="rect">
              <a:avLst/>
            </a:prstGeom>
            <a:noFill/>
          </p:spPr>
          <p:txBody>
            <a:bodyPr wrap="square" lIns="0" rIns="0" tIns="18288" bIns="18288" anchor="t">
              <a:spAutoFit/>
            </a:bodyPr>
            <a:lstStyle/>
            <a:p>
              <a:pPr algn="l"/>
              <a:r>
                <a:rPr sz="1900" b="0" i="0">
                  <a:solidFill>
                    <a:srgbClr val="1F2328"/>
                  </a:solidFill>
                  <a:latin typeface="Calibri"/>
                </a:rPr>
                <a:t>The share who came back within 30 days, in each group.</a:t>
              </a:r>
            </a:p>
          </p:txBody>
        </p:sp>
      </p:grpSp>
      <p:grpSp>
        <p:nvGrpSpPr>
          <p:cNvPr id="15" name="says-2"/>
          <p:cNvGrpSpPr/>
          <p:nvPr/>
        </p:nvGrpSpPr>
        <p:grpSpPr>
          <a:xfrm>
            <a:off x="6301587" y="4998720"/>
            <a:ext cx="5204308" cy="1200911"/>
            <a:chOff x="6301587" y="4998720"/>
            <a:chExt cx="5204308" cy="1200911"/>
          </a:xfrm>
        </p:grpSpPr>
        <p:cxnSp>
          <p:nvCxnSpPr>
            <p:cNvPr id="16" name="Connector 15"/>
            <p:cNvCxnSpPr/>
            <p:nvPr/>
          </p:nvCxnSpPr>
          <p:spPr>
            <a:xfrm>
              <a:off x="6301587" y="4998720"/>
              <a:ext cx="5204308" cy="0"/>
            </a:xfrm>
            <a:prstGeom prst="line">
              <a:avLst/>
            </a:prstGeom>
            <a:ln w="15875">
              <a:solidFill>
                <a:srgbClr val="1F2328"/>
              </a:solidFill>
            </a:ln>
          </p:spPr>
        </p:cxnSp>
        <p:sp>
          <p:nvSpPr>
            <p:cNvPr id="17" name="TextBox 16"/>
            <p:cNvSpPr txBox="1"/>
            <p:nvPr/>
          </p:nvSpPr>
          <p:spPr>
            <a:xfrm>
              <a:off x="6301587"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5071872"/>
              <a:ext cx="4856835" cy="1127759"/>
            </a:xfrm>
            <a:prstGeom prst="rect">
              <a:avLst/>
            </a:prstGeom>
            <a:noFill/>
          </p:spPr>
          <p:txBody>
            <a:bodyPr wrap="square" lIns="0" rIns="0" tIns="18288" bIns="18288" anchor="t">
              <a:spAutoFit/>
            </a:bodyPr>
            <a:lstStyle/>
            <a:p>
              <a:pPr algn="l"/>
              <a:r>
                <a:rPr sz="1900" b="0" i="0">
                  <a:solidFill>
                    <a:srgbClr val="1F2328"/>
                  </a:solidFill>
                  <a:latin typeface="Calibri"/>
                </a:rPr>
                <a:t>The same recipe: the gap, its standard error, then 1.96 either side.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tests in SciPy and statsmodels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25206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246376"/>
          </a:xfrm>
          <a:prstGeom prst="rect">
            <a:avLst/>
          </a:prstGeom>
          <a:noFill/>
        </p:spPr>
        <p:txBody>
          <a:bodyPr wrap="none" lIns="0" rIns="0" tIns="0" bIns="0">
            <a:spAutoFit/>
          </a:bodyPr>
          <a:lstStyle/>
          <a:p>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scipy</a:t>
            </a:r>
            <a:r>
              <a:rPr sz="1450" b="0" i="0">
                <a:solidFill>
                  <a:srgbClr val="1F2328"/>
                </a:solidFill>
                <a:latin typeface="Courier New"/>
              </a:rPr>
              <a:t> </a:t>
            </a:r>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stats</a:t>
            </a:r>
          </a:p>
          <a:p>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statsmodels</a:t>
            </a:r>
            <a:r>
              <a:rPr sz="1450" b="0" i="0">
                <a:solidFill>
                  <a:srgbClr val="1F2328"/>
                </a:solidFill>
                <a:latin typeface="Courier New"/>
              </a:rPr>
              <a:t>.</a:t>
            </a:r>
            <a:r>
              <a:rPr sz="1450" b="0" i="0">
                <a:solidFill>
                  <a:srgbClr val="1F2328"/>
                </a:solidFill>
                <a:latin typeface="Courier New"/>
              </a:rPr>
              <a:t>stats</a:t>
            </a:r>
            <a:r>
              <a:rPr sz="1450" b="0" i="0">
                <a:solidFill>
                  <a:srgbClr val="1F2328"/>
                </a:solidFill>
                <a:latin typeface="Courier New"/>
              </a:rPr>
              <a:t>.</a:t>
            </a:r>
            <a:r>
              <a:rPr sz="1450" b="0" i="0">
                <a:solidFill>
                  <a:srgbClr val="1F2328"/>
                </a:solidFill>
                <a:latin typeface="Courier New"/>
              </a:rPr>
              <a:t>proportion</a:t>
            </a:r>
            <a:r>
              <a:rPr sz="1450" b="0" i="0">
                <a:solidFill>
                  <a:srgbClr val="1F2328"/>
                </a:solidFill>
                <a:latin typeface="Courier New"/>
              </a:rPr>
              <a:t> </a:t>
            </a:r>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proportions_ztest</a:t>
            </a:r>
          </a:p>
          <a:p>
            <a:r>
              <a:rPr sz="1450" b="0" i="0">
                <a:solidFill>
                  <a:srgbClr val="1F2328"/>
                </a:solidFill>
                <a:latin typeface="Courier New"/>
              </a:rPr>
              <a:t> </a:t>
            </a:r>
          </a:p>
          <a:p>
            <a:r>
              <a:rPr sz="1450" b="0" i="0">
                <a:solidFill>
                  <a:srgbClr val="1F2328"/>
                </a:solidFill>
                <a:latin typeface="Courier New"/>
              </a:rPr>
              <a:t>res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stats</a:t>
            </a:r>
            <a:r>
              <a:rPr sz="1450" b="0" i="0">
                <a:solidFill>
                  <a:srgbClr val="1F2328"/>
                </a:solidFill>
                <a:latin typeface="Courier New"/>
              </a:rPr>
              <a:t>.</a:t>
            </a:r>
            <a:r>
              <a:rPr sz="1450" b="0" i="0">
                <a:solidFill>
                  <a:srgbClr val="1F2328"/>
                </a:solidFill>
                <a:latin typeface="Courier New"/>
              </a:rPr>
              <a:t>ttest_ind</a:t>
            </a:r>
            <a:r>
              <a:rPr sz="1450" b="0" i="0">
                <a:solidFill>
                  <a:srgbClr val="1F2328"/>
                </a:solidFill>
                <a:latin typeface="Courier New"/>
              </a:rPr>
              <a:t>(</a:t>
            </a:r>
            <a:r>
              <a:rPr sz="1450" b="0" i="0">
                <a:solidFill>
                  <a:srgbClr val="1F2328"/>
                </a:solidFill>
                <a:latin typeface="Courier New"/>
              </a:rPr>
              <a:t>offer</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control</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equal_var</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res</a:t>
            </a:r>
            <a:r>
              <a:rPr sz="1450" b="0" i="0">
                <a:solidFill>
                  <a:srgbClr val="1F2328"/>
                </a:solidFill>
                <a:latin typeface="Courier New"/>
              </a:rPr>
              <a:t>.</a:t>
            </a:r>
            <a:r>
              <a:rPr sz="1450" b="0" i="0">
                <a:solidFill>
                  <a:srgbClr val="1F2328"/>
                </a:solidFill>
                <a:latin typeface="Courier New"/>
              </a:rPr>
              <a:t>statistic</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res</a:t>
            </a:r>
            <a:r>
              <a:rPr sz="1450" b="0" i="0">
                <a:solidFill>
                  <a:srgbClr val="1F2328"/>
                </a:solidFill>
                <a:latin typeface="Courier New"/>
              </a:rPr>
              <a:t>.</a:t>
            </a:r>
            <a:r>
              <a:rPr sz="1450" b="0" i="0">
                <a:solidFill>
                  <a:srgbClr val="1F2328"/>
                </a:solidFill>
                <a:latin typeface="Courier New"/>
              </a:rPr>
              <a:t>pvalue</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res</a:t>
            </a:r>
            <a:r>
              <a:rPr sz="1450" b="0" i="0">
                <a:solidFill>
                  <a:srgbClr val="1F2328"/>
                </a:solidFill>
                <a:latin typeface="Courier New"/>
              </a:rPr>
              <a:t>.</a:t>
            </a:r>
            <a:r>
              <a:rPr sz="1450" b="0" i="0">
                <a:solidFill>
                  <a:srgbClr val="1F2328"/>
                </a:solidFill>
                <a:latin typeface="Courier New"/>
              </a:rPr>
              <a:t>confidence_interval</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p>
          <a:p>
            <a:r>
              <a:rPr sz="1450" b="0" i="0">
                <a:solidFill>
                  <a:srgbClr val="1F2328"/>
                </a:solidFill>
                <a:latin typeface="Courier New"/>
              </a:rPr>
              <a:t>counts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3B4046"/>
                </a:solidFill>
                <a:latin typeface="Courier New"/>
              </a:rPr>
              <a:t>562</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539</a:t>
            </a:r>
            <a:r>
              <a:rPr sz="1450" b="0" i="0">
                <a:solidFill>
                  <a:srgbClr val="1F2328"/>
                </a:solidFill>
                <a:latin typeface="Courier New"/>
              </a:rPr>
              <a:t>]</a:t>
            </a:r>
          </a:p>
          <a:p>
            <a:r>
              <a:rPr sz="1450" b="0" i="0">
                <a:solidFill>
                  <a:srgbClr val="1F2328"/>
                </a:solidFill>
                <a:latin typeface="Courier New"/>
              </a:rPr>
              <a:t>sizes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3B4046"/>
                </a:solidFill>
                <a:latin typeface="Courier New"/>
              </a:rPr>
              <a:t>1245</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1255</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proportions_ztest</a:t>
            </a:r>
            <a:r>
              <a:rPr sz="1450" b="0" i="0">
                <a:solidFill>
                  <a:srgbClr val="1F2328"/>
                </a:solidFill>
                <a:latin typeface="Courier New"/>
              </a:rPr>
              <a:t>(</a:t>
            </a:r>
            <a:r>
              <a:rPr sz="1450" b="0" i="0">
                <a:solidFill>
                  <a:srgbClr val="1F2328"/>
                </a:solidFill>
                <a:latin typeface="Courier New"/>
              </a:rPr>
              <a:t>counts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sizes</a:t>
            </a:r>
            <a:r>
              <a:rPr sz="1450" b="0" i="0">
                <a:solidFill>
                  <a:srgbClr val="1F2328"/>
                </a:solidFill>
                <a:latin typeface="Courier New"/>
              </a:rPr>
              <a:t>)</a:t>
            </a:r>
            <a:r>
              <a:rPr sz="14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ttest_ind is the t test for two groups. It gives a statistic and a p-value.</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confidence_interval gives the interval for the gap in averages.</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proportions_ztest compares two shares from counts and sizes.</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questions, two different answers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graphicFrame>
        <p:nvGraphicFramePr>
          <p:cNvPr id="5" name="Table"/>
          <p:cNvGraphicFramePr>
            <a:graphicFrameLocks noGrp="1"/>
          </p:cNvGraphicFramePr>
          <p:nvPr/>
        </p:nvGraphicFramePr>
        <p:xfrm>
          <a:off x="685800" y="1600200"/>
          <a:ext cx="10820093" cy="2684068"/>
        </p:xfrm>
        <a:graphic>
          <a:graphicData uri="http://schemas.openxmlformats.org/drawingml/2006/table">
            <a:tbl>
              <a:tblPr firstRow="0" bandRow="0">
                <a:tableStyleId>{2D5ABB26-0587-4C30-8999-92F81FD0307C}</a:tableStyleId>
              </a:tblPr>
              <a:tblGrid>
                <a:gridCol w="2959342"/>
                <a:gridCol w="1664630"/>
                <a:gridCol w="2404465"/>
                <a:gridCol w="1849588"/>
                <a:gridCol w="1942068"/>
              </a:tblGrid>
              <a:tr h="778459">
                <a:tc>
                  <a:txBody>
                    <a:bodyPr wrap="square"/>
                    <a:lstStyle/>
                    <a:p>
                      <a:r>
                        <a:rPr sz="2200" b="1" i="0">
                          <a:solidFill>
                            <a:srgbClr val="1F2328"/>
                          </a:solidFill>
                          <a:latin typeface="Calibri"/>
                        </a:rPr>
                        <a:t>Question</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Gap</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95% interval</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p-value</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Reading</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0" i="0">
                          <a:solidFill>
                            <a:srgbClr val="3B4046"/>
                          </a:solidFill>
                          <a:latin typeface="Calibri"/>
                        </a:rPr>
                        <a:t>Spend next month</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5,044 UGX</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2,054 to 8,035</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about 0.001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 clear lift</a:t>
                      </a:r>
                    </a:p>
                  </a:txBody>
                  <a:tcPr marL="137160" marR="91440" marT="64008" marB="64008" anchor="ctr">
                    <a:lnL w="0">
                      <a:noFill/>
                    </a:lnL>
                    <a:lnR w="0">
                      <a:noFill/>
                    </a:lnR>
                    <a:lnT w="0">
                      <a:noFill/>
                    </a:lnT>
                    <a:lnB w="6350">
                      <a:solidFill>
                        <a:srgbClr val="C9C5BC"/>
                      </a:solidFill>
                    </a:lnB>
                    <a:noFill/>
                  </a:tcPr>
                </a:tc>
              </a:tr>
              <a:tr h="1127150">
                <a:tc>
                  <a:txBody>
                    <a:bodyPr wrap="square"/>
                    <a:lstStyle/>
                    <a:p>
                      <a:r>
                        <a:rPr sz="2200" b="0" i="0">
                          <a:solidFill>
                            <a:srgbClr val="3B4046"/>
                          </a:solidFill>
                          <a:latin typeface="Calibri"/>
                        </a:rPr>
                        <a:t>Came back within 30 days</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2.2 points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-1.7 to 6.1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about 0.27</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Cannot tell</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Cannot tell means the test is too small to say. It does not show the offer did nothing.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lift is clear. Is it big enough to matter?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5,044 UGX</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more per customer</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8.2%</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above the control average</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0.13</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standard deviations apart</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6.3 million</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extra UGX across the 1,245 offer customers</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Effect size is the gap in useful units. A small p-value says luck explains the gap badly. It does not say the gap is big.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hundred fake tests and seven false alarms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10820095" cy="25740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299715"/>
          </a:xfrm>
          <a:prstGeom prst="rect">
            <a:avLst/>
          </a:prstGeom>
          <a:noFill/>
        </p:spPr>
        <p:txBody>
          <a:bodyPr wrap="none" lIns="0" rIns="0" tIns="0" bIns="0">
            <a:spAutoFit/>
          </a:bodyPr>
          <a:lstStyle/>
          <a:p>
            <a:r>
              <a:rPr sz="1650" b="0" i="0">
                <a:solidFill>
                  <a:srgbClr val="1F2328"/>
                </a:solidFill>
                <a:latin typeface="Courier New"/>
              </a:rPr>
              <a:t>rng</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random</a:t>
            </a:r>
            <a:r>
              <a:rPr sz="1650" b="0" i="0">
                <a:solidFill>
                  <a:srgbClr val="1F2328"/>
                </a:solidFill>
                <a:latin typeface="Courier New"/>
              </a:rPr>
              <a:t>.</a:t>
            </a:r>
            <a:r>
              <a:rPr sz="1650" b="0" i="0">
                <a:solidFill>
                  <a:srgbClr val="1F2328"/>
                </a:solidFill>
                <a:latin typeface="Courier New"/>
              </a:rPr>
              <a:t>default_rng</a:t>
            </a:r>
            <a:r>
              <a:rPr sz="1650" b="0" i="0">
                <a:solidFill>
                  <a:srgbClr val="1F2328"/>
                </a:solidFill>
                <a:latin typeface="Courier New"/>
              </a:rPr>
              <a:t>(</a:t>
            </a:r>
            <a:r>
              <a:rPr sz="1650" b="0" i="0">
                <a:solidFill>
                  <a:srgbClr val="3B4046"/>
                </a:solidFill>
                <a:latin typeface="Courier New"/>
              </a:rPr>
              <a:t>42</a:t>
            </a:r>
            <a:r>
              <a:rPr sz="1650" b="0" i="0">
                <a:solidFill>
                  <a:srgbClr val="1F2328"/>
                </a:solidFill>
                <a:latin typeface="Courier New"/>
              </a:rPr>
              <a:t>)</a:t>
            </a:r>
          </a:p>
          <a:p>
            <a:r>
              <a:rPr sz="1650" b="0" i="0">
                <a:solidFill>
                  <a:srgbClr val="1F2328"/>
                </a:solidFill>
                <a:latin typeface="Courier New"/>
              </a:rPr>
              <a:t>false_alarms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3B4046"/>
                </a:solidFill>
                <a:latin typeface="Courier New"/>
              </a:rPr>
              <a:t>0</a:t>
            </a:r>
          </a:p>
          <a:p>
            <a:r>
              <a:rPr sz="1650" b="1" i="0">
                <a:solidFill>
                  <a:srgbClr val="1F2328"/>
                </a:solidFill>
                <a:latin typeface="Courier New"/>
              </a:rPr>
              <a:t>for</a:t>
            </a:r>
            <a:r>
              <a:rPr sz="1650" b="0" i="0">
                <a:solidFill>
                  <a:srgbClr val="1F2328"/>
                </a:solidFill>
                <a:latin typeface="Courier New"/>
              </a:rPr>
              <a:t> </a:t>
            </a:r>
            <a:r>
              <a:rPr sz="1650" b="0" i="0">
                <a:solidFill>
                  <a:srgbClr val="1F2328"/>
                </a:solidFill>
                <a:latin typeface="Courier New"/>
              </a:rPr>
              <a:t>_</a:t>
            </a:r>
            <a:r>
              <a:rPr sz="1650" b="0" i="0">
                <a:solidFill>
                  <a:srgbClr val="1F2328"/>
                </a:solidFill>
                <a:latin typeface="Courier New"/>
              </a:rPr>
              <a:t> </a:t>
            </a:r>
            <a:r>
              <a:rPr sz="1650" b="1" i="0">
                <a:solidFill>
                  <a:srgbClr val="1F2328"/>
                </a:solidFill>
                <a:latin typeface="Courier New"/>
              </a:rPr>
              <a:t>in</a:t>
            </a:r>
            <a:r>
              <a:rPr sz="1650" b="0" i="0">
                <a:solidFill>
                  <a:srgbClr val="1F2328"/>
                </a:solidFill>
                <a:latin typeface="Courier New"/>
              </a:rPr>
              <a:t> </a:t>
            </a:r>
            <a:r>
              <a:rPr sz="1650" b="0" i="0">
                <a:solidFill>
                  <a:srgbClr val="1F2328"/>
                </a:solidFill>
                <a:latin typeface="Courier New"/>
              </a:rPr>
              <a:t>range</a:t>
            </a:r>
            <a:r>
              <a:rPr sz="1650" b="0" i="0">
                <a:solidFill>
                  <a:srgbClr val="1F2328"/>
                </a:solidFill>
                <a:latin typeface="Courier New"/>
              </a:rPr>
              <a:t>(</a:t>
            </a:r>
            <a:r>
              <a:rPr sz="1650" b="0" i="0">
                <a:solidFill>
                  <a:srgbClr val="3B4046"/>
                </a:solidFill>
                <a:latin typeface="Courier New"/>
              </a:rPr>
              <a:t>100</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half</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rng</a:t>
            </a:r>
            <a:r>
              <a:rPr sz="1650" b="0" i="0">
                <a:solidFill>
                  <a:srgbClr val="1F2328"/>
                </a:solidFill>
                <a:latin typeface="Courier New"/>
              </a:rPr>
              <a:t>.</a:t>
            </a:r>
            <a:r>
              <a:rPr sz="1650" b="0" i="0">
                <a:solidFill>
                  <a:srgbClr val="1F2328"/>
                </a:solidFill>
                <a:latin typeface="Courier New"/>
              </a:rPr>
              <a:t>permutation</a:t>
            </a:r>
            <a:r>
              <a:rPr sz="1650" b="0" i="0">
                <a:solidFill>
                  <a:srgbClr val="1F2328"/>
                </a:solidFill>
                <a:latin typeface="Courier New"/>
              </a:rPr>
              <a:t>(</a:t>
            </a:r>
            <a:r>
              <a:rPr sz="1650" b="0" i="0">
                <a:solidFill>
                  <a:srgbClr val="1F2328"/>
                </a:solidFill>
                <a:latin typeface="Courier New"/>
              </a:rPr>
              <a:t>len</a:t>
            </a:r>
            <a:r>
              <a:rPr sz="1650" b="0" i="0">
                <a:solidFill>
                  <a:srgbClr val="1F2328"/>
                </a:solidFill>
                <a:latin typeface="Courier New"/>
              </a:rPr>
              <a:t>(</a:t>
            </a:r>
            <a:r>
              <a:rPr sz="1650" b="0" i="0">
                <a:solidFill>
                  <a:srgbClr val="1F2328"/>
                </a:solidFill>
                <a:latin typeface="Courier New"/>
              </a:rPr>
              <a:t>spend</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&lt;</a:t>
            </a:r>
            <a:r>
              <a:rPr sz="1650" b="0" i="0">
                <a:solidFill>
                  <a:srgbClr val="1F2328"/>
                </a:solidFill>
                <a:latin typeface="Courier New"/>
              </a:rPr>
              <a:t> </a:t>
            </a:r>
            <a:r>
              <a:rPr sz="1650" b="0" i="0">
                <a:solidFill>
                  <a:srgbClr val="3B4046"/>
                </a:solidFill>
                <a:latin typeface="Courier New"/>
              </a:rPr>
              <a:t>1250</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spend</a:t>
            </a:r>
            <a:r>
              <a:rPr sz="1650" b="0" i="0">
                <a:solidFill>
                  <a:srgbClr val="1F2328"/>
                </a:solidFill>
                <a:latin typeface="Courier New"/>
              </a:rPr>
              <a:t>[</a:t>
            </a:r>
            <a:r>
              <a:rPr sz="1650" b="0" i="0">
                <a:solidFill>
                  <a:srgbClr val="1F2328"/>
                </a:solidFill>
                <a:latin typeface="Courier New"/>
              </a:rPr>
              <a:t>half</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spend</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half</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se_ab</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sqrt</a:t>
            </a:r>
            <a:r>
              <a:rPr sz="1650" b="0" i="0">
                <a:solidFill>
                  <a:srgbClr val="1F2328"/>
                </a:solidFill>
                <a:latin typeface="Courier New"/>
              </a:rPr>
              <a:t>(</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var</a:t>
            </a:r>
            <a:r>
              <a:rPr sz="1650" b="0" i="0">
                <a:solidFill>
                  <a:srgbClr val="1F2328"/>
                </a:solidFill>
                <a:latin typeface="Courier New"/>
              </a:rPr>
              <a:t>(</a:t>
            </a:r>
            <a:r>
              <a:rPr sz="1650" b="0" i="0">
                <a:solidFill>
                  <a:srgbClr val="1F2328"/>
                </a:solidFill>
                <a:latin typeface="Courier New"/>
              </a:rPr>
              <a:t>ddof</a:t>
            </a:r>
            <a:r>
              <a:rPr sz="1650" b="0" i="0">
                <a:solidFill>
                  <a:srgbClr val="1F2328"/>
                </a:solidFill>
                <a:latin typeface="Courier New"/>
              </a:rPr>
              <a:t>=</a:t>
            </a:r>
            <a:r>
              <a:rPr sz="1650" b="0" i="0">
                <a:solidFill>
                  <a:srgbClr val="3B4046"/>
                </a:solidFill>
                <a:latin typeface="Courier New"/>
              </a:rPr>
              <a:t>1</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len</a:t>
            </a:r>
            <a:r>
              <a:rPr sz="1650" b="0" i="0">
                <a:solidFill>
                  <a:srgbClr val="1F2328"/>
                </a:solidFill>
                <a:latin typeface="Courier New"/>
              </a:rPr>
              <a:t>(</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a:t>
            </a:r>
            <a:r>
              <a:rPr sz="1650" b="0" i="0">
                <a:solidFill>
                  <a:srgbClr val="1F2328"/>
                </a:solidFill>
                <a:latin typeface="Courier New"/>
              </a:rPr>
              <a:t>.</a:t>
            </a:r>
            <a:r>
              <a:rPr sz="1650" b="0" i="0">
                <a:solidFill>
                  <a:srgbClr val="1F2328"/>
                </a:solidFill>
                <a:latin typeface="Courier New"/>
              </a:rPr>
              <a:t>var</a:t>
            </a:r>
            <a:r>
              <a:rPr sz="1650" b="0" i="0">
                <a:solidFill>
                  <a:srgbClr val="1F2328"/>
                </a:solidFill>
                <a:latin typeface="Courier New"/>
              </a:rPr>
              <a:t>(</a:t>
            </a:r>
            <a:r>
              <a:rPr sz="1650" b="0" i="0">
                <a:solidFill>
                  <a:srgbClr val="1F2328"/>
                </a:solidFill>
                <a:latin typeface="Courier New"/>
              </a:rPr>
              <a:t>ddof</a:t>
            </a:r>
            <a:r>
              <a:rPr sz="1650" b="0" i="0">
                <a:solidFill>
                  <a:srgbClr val="1F2328"/>
                </a:solidFill>
                <a:latin typeface="Courier New"/>
              </a:rPr>
              <a:t>=</a:t>
            </a:r>
            <a:r>
              <a:rPr sz="1650" b="0" i="0">
                <a:solidFill>
                  <a:srgbClr val="3B4046"/>
                </a:solidFill>
                <a:latin typeface="Courier New"/>
              </a:rPr>
              <a:t>1</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len</a:t>
            </a:r>
            <a:r>
              <a:rPr sz="1650" b="0" i="0">
                <a:solidFill>
                  <a:srgbClr val="1F2328"/>
                </a:solidFill>
                <a:latin typeface="Courier New"/>
              </a:rPr>
              <a:t>(</a:t>
            </a:r>
            <a:r>
              <a:rPr sz="1650" b="0" i="0">
                <a:solidFill>
                  <a:srgbClr val="1F2328"/>
                </a:solidFill>
                <a:latin typeface="Courier New"/>
              </a:rPr>
              <a:t>b</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z</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se_ab</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false_alarms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int</a:t>
            </a:r>
            <a:r>
              <a:rPr sz="1650" b="0" i="0">
                <a:solidFill>
                  <a:srgbClr val="1F2328"/>
                </a:solidFill>
                <a:latin typeface="Courier New"/>
              </a:rPr>
              <a:t>(</a:t>
            </a:r>
            <a:r>
              <a:rPr sz="1650" b="0" i="0">
                <a:solidFill>
                  <a:srgbClr val="1F2328"/>
                </a:solidFill>
                <a:latin typeface="Courier New"/>
              </a:rPr>
              <a:t>abs</a:t>
            </a:r>
            <a:r>
              <a:rPr sz="1650" b="0" i="0">
                <a:solidFill>
                  <a:srgbClr val="1F2328"/>
                </a:solidFill>
                <a:latin typeface="Courier New"/>
              </a:rPr>
              <a:t>(</a:t>
            </a:r>
            <a:r>
              <a:rPr sz="1650" b="0" i="0">
                <a:solidFill>
                  <a:srgbClr val="1F2328"/>
                </a:solidFill>
                <a:latin typeface="Courier New"/>
              </a:rPr>
              <a:t>z</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&gt;</a:t>
            </a:r>
            <a:r>
              <a:rPr sz="1650" b="0" i="0">
                <a:solidFill>
                  <a:srgbClr val="1F2328"/>
                </a:solidFill>
                <a:latin typeface="Courier New"/>
              </a:rPr>
              <a:t> </a:t>
            </a:r>
            <a:r>
              <a:rPr sz="1650" b="0" i="0">
                <a:solidFill>
                  <a:srgbClr val="3B4046"/>
                </a:solidFill>
                <a:latin typeface="Courier New"/>
              </a:rPr>
              <a:t>1.96</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false_alarms</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'of 100 fake tests had p below 0.05'</a:t>
            </a:r>
            <a:r>
              <a:rPr sz="1650" b="0" i="0">
                <a:solidFill>
                  <a:srgbClr val="1F2328"/>
                </a:solidFill>
                <a:latin typeface="Courier New"/>
              </a:rPr>
              <a:t>)</a:t>
            </a:r>
          </a:p>
        </p:txBody>
      </p:sp>
      <p:grpSp>
        <p:nvGrpSpPr>
          <p:cNvPr id="7" name="output"/>
          <p:cNvGrpSpPr/>
          <p:nvPr/>
        </p:nvGrpSpPr>
        <p:grpSpPr>
          <a:xfrm>
            <a:off x="685800" y="4283964"/>
            <a:ext cx="10820095" cy="524256"/>
            <a:chOff x="685800" y="4283964"/>
            <a:chExt cx="10820095" cy="524256"/>
          </a:xfrm>
        </p:grpSpPr>
        <p:sp>
          <p:nvSpPr>
            <p:cNvPr id="8" name="TextBox 7"/>
            <p:cNvSpPr txBox="1"/>
            <p:nvPr/>
          </p:nvSpPr>
          <p:spPr>
            <a:xfrm>
              <a:off x="685800" y="42839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53999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631436"/>
              <a:ext cx="10545775" cy="158496"/>
            </a:xfrm>
            <a:prstGeom prst="rect">
              <a:avLst/>
            </a:prstGeom>
            <a:noFill/>
          </p:spPr>
          <p:txBody>
            <a:bodyPr wrap="none" lIns="0" rIns="0" tIns="0" bIns="0">
              <a:spAutoFit/>
            </a:bodyPr>
            <a:lstStyle/>
            <a:p>
              <a:r>
                <a:rPr sz="1400" b="0" i="0">
                  <a:solidFill>
                    <a:srgbClr val="1F2328"/>
                  </a:solidFill>
                  <a:latin typeface="Courier New"/>
                </a:rPr>
                <a:t>7 of 100 fake tests had p below 0.05</a:t>
              </a:r>
            </a:p>
          </p:txBody>
        </p:sp>
      </p:grpSp>
      <p:grpSp>
        <p:nvGrpSpPr>
          <p:cNvPr id="11" name="says-1"/>
          <p:cNvGrpSpPr/>
          <p:nvPr/>
        </p:nvGrpSpPr>
        <p:grpSpPr>
          <a:xfrm>
            <a:off x="685800" y="4991100"/>
            <a:ext cx="3332378" cy="1208532"/>
            <a:chOff x="685800" y="4991100"/>
            <a:chExt cx="3332378" cy="1208532"/>
          </a:xfrm>
        </p:grpSpPr>
        <p:cxnSp>
          <p:nvCxnSpPr>
            <p:cNvPr id="12" name="Connector 11"/>
            <p:cNvCxnSpPr/>
            <p:nvPr/>
          </p:nvCxnSpPr>
          <p:spPr>
            <a:xfrm>
              <a:off x="685800" y="4991100"/>
              <a:ext cx="3332378" cy="0"/>
            </a:xfrm>
            <a:prstGeom prst="line">
              <a:avLst/>
            </a:prstGeom>
            <a:ln w="15875">
              <a:solidFill>
                <a:srgbClr val="1F2328"/>
              </a:solidFill>
            </a:ln>
          </p:spPr>
        </p:cxnSp>
        <p:sp>
          <p:nvSpPr>
            <p:cNvPr id="13" name="TextBox 12"/>
            <p:cNvSpPr txBox="1"/>
            <p:nvPr/>
          </p:nvSpPr>
          <p:spPr>
            <a:xfrm>
              <a:off x="685800" y="5064252"/>
              <a:ext cx="292608" cy="113538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64252"/>
              <a:ext cx="2984906" cy="1135380"/>
            </a:xfrm>
            <a:prstGeom prst="rect">
              <a:avLst/>
            </a:prstGeom>
            <a:noFill/>
          </p:spPr>
          <p:txBody>
            <a:bodyPr wrap="square" lIns="0" rIns="0" tIns="18288" bIns="18288" anchor="t">
              <a:spAutoFit/>
            </a:bodyPr>
            <a:lstStyle/>
            <a:p>
              <a:pPr algn="l"/>
              <a:r>
                <a:rPr sz="1900" b="0" i="0">
                  <a:solidFill>
                    <a:srgbClr val="1F2328"/>
                  </a:solidFill>
                  <a:latin typeface="Calibri"/>
                </a:rPr>
                <a:t>Split the customers into two random halves. No offer at all.</a:t>
              </a:r>
            </a:p>
          </p:txBody>
        </p:sp>
      </p:grpSp>
      <p:grpSp>
        <p:nvGrpSpPr>
          <p:cNvPr id="15" name="says-2"/>
          <p:cNvGrpSpPr/>
          <p:nvPr/>
        </p:nvGrpSpPr>
        <p:grpSpPr>
          <a:xfrm>
            <a:off x="4429658" y="4991100"/>
            <a:ext cx="3332378" cy="1208532"/>
            <a:chOff x="4429658" y="4991100"/>
            <a:chExt cx="3332378" cy="1208532"/>
          </a:xfrm>
        </p:grpSpPr>
        <p:cxnSp>
          <p:nvCxnSpPr>
            <p:cNvPr id="16" name="Connector 15"/>
            <p:cNvCxnSpPr/>
            <p:nvPr/>
          </p:nvCxnSpPr>
          <p:spPr>
            <a:xfrm>
              <a:off x="4429658" y="4991100"/>
              <a:ext cx="3332378" cy="0"/>
            </a:xfrm>
            <a:prstGeom prst="line">
              <a:avLst/>
            </a:prstGeom>
            <a:ln w="15875">
              <a:solidFill>
                <a:srgbClr val="1F2328"/>
              </a:solidFill>
            </a:ln>
          </p:spPr>
        </p:cxnSp>
        <p:sp>
          <p:nvSpPr>
            <p:cNvPr id="17" name="TextBox 16"/>
            <p:cNvSpPr txBox="1"/>
            <p:nvPr/>
          </p:nvSpPr>
          <p:spPr>
            <a:xfrm>
              <a:off x="4429658" y="5064252"/>
              <a:ext cx="292608" cy="113538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64252"/>
              <a:ext cx="2984906" cy="1135380"/>
            </a:xfrm>
            <a:prstGeom prst="rect">
              <a:avLst/>
            </a:prstGeom>
            <a:noFill/>
          </p:spPr>
          <p:txBody>
            <a:bodyPr wrap="square" lIns="0" rIns="0" tIns="18288" bIns="18288" anchor="t">
              <a:spAutoFit/>
            </a:bodyPr>
            <a:lstStyle/>
            <a:p>
              <a:pPr algn="l"/>
              <a:r>
                <a:rPr sz="1900" b="0" i="0">
                  <a:solidFill>
                    <a:srgbClr val="1F2328"/>
                  </a:solidFill>
                  <a:latin typeface="Calibri"/>
                </a:rPr>
                <a:t>Run the same test on the two halves, 100 times.</a:t>
              </a:r>
            </a:p>
          </p:txBody>
        </p:sp>
      </p:grpSp>
      <p:grpSp>
        <p:nvGrpSpPr>
          <p:cNvPr id="19" name="says-3"/>
          <p:cNvGrpSpPr/>
          <p:nvPr/>
        </p:nvGrpSpPr>
        <p:grpSpPr>
          <a:xfrm>
            <a:off x="8173516" y="4991100"/>
            <a:ext cx="3332379" cy="1208532"/>
            <a:chOff x="8173516" y="4991100"/>
            <a:chExt cx="3332379" cy="1208532"/>
          </a:xfrm>
        </p:grpSpPr>
        <p:cxnSp>
          <p:nvCxnSpPr>
            <p:cNvPr id="20" name="Connector 19"/>
            <p:cNvCxnSpPr/>
            <p:nvPr/>
          </p:nvCxnSpPr>
          <p:spPr>
            <a:xfrm>
              <a:off x="8173516" y="4991100"/>
              <a:ext cx="3332379" cy="0"/>
            </a:xfrm>
            <a:prstGeom prst="line">
              <a:avLst/>
            </a:prstGeom>
            <a:ln w="15875">
              <a:solidFill>
                <a:srgbClr val="1F2328"/>
              </a:solidFill>
            </a:ln>
          </p:spPr>
        </p:cxnSp>
        <p:sp>
          <p:nvSpPr>
            <p:cNvPr id="21" name="TextBox 20"/>
            <p:cNvSpPr txBox="1"/>
            <p:nvPr/>
          </p:nvSpPr>
          <p:spPr>
            <a:xfrm>
              <a:off x="8173516" y="5064252"/>
              <a:ext cx="292608" cy="113538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64252"/>
              <a:ext cx="2984906" cy="1135380"/>
            </a:xfrm>
            <a:prstGeom prst="rect">
              <a:avLst/>
            </a:prstGeom>
            <a:noFill/>
          </p:spPr>
          <p:txBody>
            <a:bodyPr wrap="square" lIns="0" rIns="0" tIns="18288" bIns="18288" anchor="t">
              <a:spAutoFit/>
            </a:bodyPr>
            <a:lstStyle/>
            <a:p>
              <a:pPr algn="l"/>
              <a:r>
                <a:rPr sz="1900" b="0" i="0">
                  <a:solidFill>
                    <a:srgbClr val="1F2328"/>
                  </a:solidFill>
                  <a:latin typeface="Calibri"/>
                </a:rPr>
                <a:t>Count how many fake tests look like a finding.</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Peeking: stopping the test when it looks good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20</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Each morning you check the test. On day nine the p-value dips below 0.05, so you stop and announce a win.</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Every look is another chance for luck to cross the line. Checking often turns one test into many.</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Fix the sample size and the stopping day before you start. Look once, at the end.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did the offer work?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12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Split offer_test.csv and find the lift</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Bootstrap the lift 5,000 times with a fixed seed</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Cut the 95 percent interval from the bootstrap</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Apply the decision rule to spend, then to coming back</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150" b="0" i="0">
                <a:solidFill>
                  <a:srgbClr val="1F2328"/>
                </a:solidFill>
                <a:latin typeface="Calibri"/>
              </a:rPr>
              <a:t>Run a permutation test and a t test, and read both p-values</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 can state the lift, the interval and the decision in two sentences for a manager.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The lift is 5,044 UGX with an interval of 2,054 to 8,035. What does that tell a manager?</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true lift plausibly sits anywhere in that range, and zero is outside it.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does a p-value of 0.001 measure?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How often luck alone would give a gap this big if the offer did nothing.</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You test twenty ideas and one has p of 0.04. What do you say?</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Expect about one false alarm in twenty tests. Treat it as a lead and retest it.</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Inference: is the difference real?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Standard error measures the wobble of an average. Bigger samples wobble less.</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Report the gap with its 95 percent interval, and check where zero falls.</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small p-value says luck explains the gap badly. Effect size says if it matters. Many tests and early peeks create false alarms.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Regression: explaining and predicting a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