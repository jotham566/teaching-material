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predict next month, and today is Checkpoint 3. We use the District Clinics file, twelve districts and five years of malaria cases, and we ask a plain question. Can we beat the simplest possible guess? By the end you'll have a seasonal baseline, a model that uses last month's rain and last month's cases, and an error you can state in cases. It's also the third step of your capstone.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split a time series by the calendar, beat a seasonal naive forecast, and say by how much, in cases. You'll also read the syntax of a Pipeline, which packs a whole modelling job into one object. The model itself is short enough to write with numpy, so the lab spends its time on judging the result carefully. All of it counts toward Checkpoint 3, and the capstone brief sits near the end of the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A time series is a column of numbers recorded month after month. Seasonal naive means guessing the same month last year. A lag feature is a column that holds an earlier value beside today's row. A forecast horizon is how far ahead you predict. A pipeline is a saved list of steps that always run in the same order. And mean absolute error is the average size of a miss, which I'll call the average miss. I'll give the spreadsheet cousin of each word as it comes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Segments and scaling, from Session 18, before we turn to forecasts.</a:t>
            </a:r>
          </a:p>
          <a:p/>
          <a:p>
            <a:r>
              <a:t>First. Your customer segments had no right answer to check against. What do we call learning without labels? Have a think.</a:t>
            </a:r>
          </a:p>
          <a:p/>
          <a:p>
            <a:r>
              <a:t>It's called unsupervised learning. Because nobody gave us the answers, we judged the segments by one test above all. Could we describe each one to a manager in plain words, and say what to do for it? The elbow plot only helped us choose how many groups.</a:t>
            </a:r>
          </a:p>
          <a:p/>
          <a:p>
            <a:r>
              <a:t>Second. Why did we scale the columns before running k-means? No rush.</a:t>
            </a:r>
          </a:p>
          <a:p/>
          <a:p>
            <a:r>
              <a:t>So that a column of big numbers, such as spend in shillings, doesn't drown out a column of small numbers, such as the count of visits. Today the answers come back. We'll predict a number we can check against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question is how to predict next month. We start with what the data looks like. Our file is clinic_visits.csv, the District Clinics data. Twelve districts, sixty months, January 2021 to December 2025. One row is one district in one month.</a:t>
            </a:r>
          </a:p>
          <a:p/>
          <a:p>
            <a:r>
              <a:t>A column of numbers recorded month after month is called a time series. In Excel it's the column of monthly figures with the dates running down beside it.</a:t>
            </a:r>
          </a:p>
          <a:p/>
          <a:p>
            <a:r>
              <a:t>The picture adds up all twelve districts and pulls them apart into three pieces. The top panel is the trend, the slow drift. Monthly cases creep up from about twenty six thousand to about twenty nine thousand over the five years. The middle panel is the season, a shape that repeats every year. The bottom panel is the noise, the wiggle left over. A forecast can use the first two. It can never use the third.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season on its own. Every January across five years and twelve districts is added into one bar, every February into the next, and so on.</a:t>
            </a:r>
          </a:p>
          <a:p/>
          <a:p>
            <a:r>
              <a:t>December is the tallest, shown in the lighter bar. About one hundred and fifty three thousand cases.</a:t>
            </a:r>
          </a:p>
          <a:p/>
          <a:p>
            <a:r>
              <a:t>And the bars are far from equal. April to June and October to December run higher than the months around them, by about twenty thousand cases. That repeating shape is what makes forecasting possible. If every month looked the same, last month would tell us everything. Because the year has a shape, the same month a year ago becomes a very good guess.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open the file. Same routine as Session 7.</a:t>
            </a:r>
          </a:p>
          <a:p/>
          <a:p>
            <a:r>
              <a:t>read_csv with parse_dates turns the month column into real dates, which we met in Session 8. Then we sort by district and by month. That sort matters a lot today. Everything we do next looks backwards in time, so the rows must be in time order inside each district.</a:t>
            </a:r>
          </a:p>
          <a:p/>
          <a:p>
            <a:r>
              <a:t>The file has seven hundred and twenty rows. Twelve districts times sixty months. The file's total_visits column has eighteen blank months, and we will leave that column alone today. malaria_cases has no blanks, and it's the number we want to predict.</a:t>
            </a:r>
          </a:p>
          <a:p/>
          <a:p>
            <a:r>
              <a:t>Last, the yearly totals. Three hundred and fifteen thousand in 2021, rising to three hundred and forty six thousand in 2025. That's the trend, in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forecast there is comes first. The seasonal naive forecast. To predict a month, you copy the same month from last year. January 2025 gets the January 2024 number. In Excel, it's a formula that points twelve rows up.</a:t>
            </a:r>
          </a:p>
          <a:p/>
          <a:p>
            <a:r>
              <a:t>The function takes a district name. It picks that district's cases, and sets the forecast for 2025 to the 2024 values. Then it compares forecast with actual.</a:t>
            </a:r>
          </a:p>
          <a:p/>
          <a:p>
            <a:r>
              <a:t>The miss for each month is the gap between the two with the sign dropped, because a miss of plus five hundred and a miss of minus five hundred are both misses. The average of those gaps is the mean absolute error. I'll just call it the average miss.</a:t>
            </a:r>
          </a:p>
          <a:p/>
          <a:p>
            <a:r>
              <a:t>Mbarara misses by about six hundred and twenty three cases a month. Gulu by nine hundred and eighty. Kampala by only one hundred and twenty one, but Kampala is a much smaller district. Any model we build has to beat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that Mbarara forecast drawn out. The solid line is what happened in 2025. The dashed line is last year's numbers moved forward.</a:t>
            </a:r>
          </a:p>
          <a:p/>
          <a:p>
            <a:r>
              <a:t>In many months the two lines move together. The dashed line has the right shape, the dips and the rises. That's the season doing its work.</a:t>
            </a:r>
          </a:p>
          <a:p/>
          <a:p>
            <a:r>
              <a:t>The biggest gaps come in October and November. Last year the peak ended in October. In 2025 it ran on through November, and higher. A copy of last year can't know that.</a:t>
            </a:r>
          </a:p>
          <a:p/>
          <a:p>
            <a:r>
              <a:t>The label in the corner says an average miss of six hundred and twenty three cases. Keep that number in mind. It is the bar to beat.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met the train and test split in Session 14. For a time series the rule changes. The split must follow the calendar.</a:t>
            </a:r>
          </a:p>
          <a:p/>
          <a:p>
            <a:r>
              <a:t>The early months are the training data. The later months are the test data. Here, training runs to December 2024 and the test is the twelve months of 2025.</a:t>
            </a:r>
          </a:p>
          <a:p/>
          <a:p>
            <a:r>
              <a:t>Why does it matter? In real life, next month always lies after everything you know. A test that mimics that is fair. A test that mixes months at random isn't, as the trap in a moment shows.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makes no error at all.</a:t>
            </a:r>
          </a:p>
          <a:p/>
          <a:p>
            <a:r>
              <a:t>You split the months at random, as you did with the loans in Session 14. You fit a model and test it. Everything runs and the miss looks small.</a:t>
            </a:r>
          </a:p>
          <a:p/>
          <a:p>
            <a:r>
              <a:t>The trouble is that your training rows now include months that come after your test months. For a test month in June, the model has seen May and also July. Real forecasting never gives you that. You've tested the model on a question that it will never be asked.</a:t>
            </a:r>
          </a:p>
          <a:p/>
          <a:p>
            <a:r>
              <a:t>The fix is a cut date. Everything before it trains the model, everything after it tests the model. You lose some data that way, and you get a score you can believe.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finding here helps us build a better forecast. The question is whether rain predicts malaria.</a:t>
            </a:r>
          </a:p>
          <a:p/>
          <a:p>
            <a:r>
              <a:t>On the left, each dot is one district in one month, with that month's rain across the bottom and malaria cases up the side. The line is flat. The correlation, which you met in Session 4, is about zero. Rain in the same month tells us nothing.</a:t>
            </a:r>
          </a:p>
          <a:p/>
          <a:p>
            <a:r>
              <a:t>On the right, the same cases, but now plotted against the rain from the month before. The line climbs. The correlation is thirty seven in a hundred. Mosquitoes need standing water and time to breed, so the cases follow the rain by a few weeks.</a:t>
            </a:r>
          </a:p>
          <a:p/>
          <a:p>
            <a:r>
              <a:t>So a number from last month can help to predict this month. That idea has a name.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lag feature is a column that holds an earlier value, moved down to sit beside today's row. In Excel you would put =B2 in C3, so each row shows the row above.</a:t>
            </a:r>
          </a:p>
          <a:p/>
          <a:p>
            <a:r>
              <a:t>Here, shift of one moves a column down one row. Shift of twelve moves it down a year. We make three. Last month's rain, last month's cases and the cases from the same month last year.</a:t>
            </a:r>
          </a:p>
          <a:p/>
          <a:p>
            <a:r>
              <a:t>The group by district comes before the shift, and a trap in a moment shows why.</a:t>
            </a:r>
          </a:p>
          <a:p/>
          <a:p>
            <a:r>
              <a:t>The first month of each district has no month before it, so the blank is dropped before we compute correlations. The same month's rain gives zero, and last month's rain gives zero point three seven, exactly as in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trap, and again Python raises no error.</a:t>
            </a:r>
          </a:p>
          <a:p/>
          <a:p>
            <a:r>
              <a:t>You write shift of one on the whole column, without grouping by district. Every row gets a lag value and it all looks fine.</a:t>
            </a:r>
          </a:p>
          <a:p/>
          <a:p>
            <a:r>
              <a:t>But the file is stacked, one district after another. The first month of Gulu would be given a past value from the last month of the district above it. That number belongs to a different place.</a:t>
            </a:r>
          </a:p>
          <a:p/>
          <a:p>
            <a:r>
              <a:t>The cure is to sort by district and month, then group by district before you shift. And check one row by hand. Pick a district, find its first row, and see that the lag is blank.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the split, we start with the three lag columns we made. Rows with a blank in any of them can't be used, so we drop them. The first year of each district goes, because it has no twelve months of past.</a:t>
            </a:r>
          </a:p>
          <a:p/>
          <a:p>
            <a:r>
              <a:t>Then the cut date. Everything before the first of January 2025 is training. Everything from then on is the test.</a:t>
            </a:r>
          </a:p>
          <a:p/>
          <a:p>
            <a:r>
              <a:t>Four hundred and thirty two training rows, and one hundred and forty four test rows. That's twelve districts times twelve months. Not a single test month appears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regression like the one in Session 13, with three inputs. Last month's cases, the cases a year ago, and last month's rain.</a:t>
            </a:r>
          </a:p>
          <a:p/>
          <a:p>
            <a:r>
              <a:t>We fit the line on the training rows only. The model never sees 2025.</a:t>
            </a:r>
          </a:p>
          <a:p/>
          <a:p>
            <a:r>
              <a:t>Then we predict the test rows. This is the whole model, a handful of lines with numpy.</a:t>
            </a:r>
          </a:p>
          <a:p/>
          <a:p>
            <a:r>
              <a:t>And we score the naive forecast and the model the same way, with the average miss in cases. Across all twelve districts, the seasonal naive misses by four hundred and sixty one cases a month. The model misses by three hundred and thirty eight. So the model beats the baseline, by about a quarter. Your own run in the lab will give the same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numbers side by side. The naive forecast misses by four hundred and sixty one cases a month. The model misses by three hundred and thirty eight. And in 2025, a typical district month had two thousand four hundred and three cases.</a:t>
            </a:r>
          </a:p>
          <a:p/>
          <a:p>
            <a:r>
              <a:t>So what does the model's miss mean? Three hundred and thirty eight against two thousand four hundred is about fourteen percent. The naive miss is about nineteen percent.</a:t>
            </a:r>
          </a:p>
          <a:p/>
          <a:p>
            <a:r>
              <a:t>This is what we mean by error in the units of the business. A manager wants to hear that the forecast is usually within about three hundred and forty cases, so keep enough medicine for that many more. One caution. It's an average. Some months and some districts miss by much more, and we say so when we report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did each step by hand. That works, but it's easy to forget a step on the test data, or to run the steps in a different order next month.</a:t>
            </a:r>
          </a:p>
          <a:p/>
          <a:p>
            <a:r>
              <a:t>A pipeline fixes that. It's a list of steps that always run in the same order. Fill the blanks, turn text columns into numbers, then fit the model. The picture shows the blocks in a row.</a:t>
            </a:r>
          </a:p>
          <a:p/>
          <a:p>
            <a:r>
              <a:t>In a spreadsheet, this is a recorded macro, a set of steps you run again on tomorrow's file. It also stops the test data leaking in, because every step is learned from the training rows only, then applied to the test rows.</a:t>
            </a:r>
          </a:p>
          <a:p/>
          <a:p>
            <a:r>
              <a:t>In a moment you'll see the syntax, and you'll write it in the lab. It uses scikit-learn, which runs in Colab.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syntax. Your job today is to read it, and the lab gives you the pieces.</a:t>
            </a:r>
          </a:p>
          <a:p/>
          <a:p>
            <a:r>
              <a:t>The ColumnTransformer says which columns get which treatment. The three number columns get a median filler for blanks. The district column is turned into one column of zeros and ones per district.</a:t>
            </a:r>
          </a:p>
          <a:p/>
          <a:p>
            <a:r>
              <a:t>Then the Pipeline puts that preparation and the line model into one object. You give each step a name, and a tool.</a:t>
            </a:r>
          </a:p>
          <a:p/>
          <a:p>
            <a:r>
              <a:t>The last line fits the whole thing on the training rows. To predict, you call predict on the test rows, and every step runs again by itself, in the right order. With districts added, the average miss should land near two hundred and twenty cases. Your own run will be close to that, and may differ by a few cases.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capstone timeline, and today is the third step. In Session 13 you wrote and scoped your question. In Session 14 you chose your dataset. Today, in Session 19, you build a baseline and a tested model, and that is Checkpoint 3. In Session 23 you publish your app and write the model card. In Session 24 you present for ten minutes.</a:t>
            </a:r>
          </a:p>
          <a:p/>
          <a:p>
            <a:r>
              <a:t>The finished project has seven parts. A question. Cleaned data. One analysis. One model, with a baseline and a metric. The limits of what you found. The app. And the presentation. Your dataset is one of four, Lakeside Mart, Nile Microfinance, District Clinics or the Lakeside Mart feedback messages.</a:t>
            </a:r>
          </a:p>
          <a:p/>
          <a:p>
            <a:r>
              <a:t>Checkpoint 3 is worth fifteen percent of the marks, and the capstone is worth forty. A tested model means a baseline, a score on data the model has not seen, and an error in the units of the business. Today's lab shows the pattern on the clinic file. Your capstone needs the same three moves on your own dataset.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to load the clinic file, sort it by district and month, and count the blank total_visits. Open the Session 19 notebook, run the setup cell and start there. You have forty minutes in Google Colab, and every task has a check cell that tells you whether you've got it.</a:t>
            </a:r>
          </a:p>
          <a:p/>
          <a:p>
            <a:r>
              <a:t>Next comes the seasonal naive guess for Gulu, because every model must beat it. Then you build the lag features and confirm the zero point three seven yourself. After that you split by time, fit the model, and compare the two misses in cases.</a:t>
            </a:r>
          </a:p>
          <a:p/>
          <a:p>
            <a:r>
              <a:t>The Pipeline cell is next. Read it and run it.</a:t>
            </a:r>
          </a:p>
          <a:p/>
          <a:p>
            <a:r>
              <a:t>The last task is three sentences. How far off is the model, does it beat the baseline, and what could go wrong. Those sentences are your Checkpoint 3 write up, so write them carefully.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forecast for March 2026, a random split, and a number for the manager. My answers follow each question.</a:t>
            </a:r>
          </a:p>
          <a:p/>
          <a:p>
            <a:r>
              <a:t>Question one. A seasonal naive forecast for March 2026. Which number does it use? Sit with it for a second.</a:t>
            </a:r>
          </a:p>
          <a:p/>
          <a:p>
            <a:r>
              <a:t>The March value from 2025. The same month, last year.</a:t>
            </a:r>
          </a:p>
          <a:p/>
          <a:p>
            <a:r>
              <a:t>Question two. Why test a forecast on later months, and not on random ones? Give that a moment.</a:t>
            </a:r>
          </a:p>
          <a:p/>
          <a:p>
            <a:r>
              <a:t>Because next month always lies after the data you have. A random split lets the model see months on both sides of the test month. It can never do that in real life.</a:t>
            </a:r>
          </a:p>
          <a:p/>
          <a:p>
            <a:r>
              <a:t>Question three. Your model misses by three hundred and thirty eight cases, the baseline by four hundred and sixty one. What do you tell the manager? Pause on that.</a:t>
            </a:r>
          </a:p>
          <a:p/>
          <a:p>
            <a:r>
              <a:t>It beats the baseline by about a quarter, and the average miss is near three hundred and forty cases. Then add the caveat. Some months and districts miss by more.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 time series has a trend, a season and noise. The guess of the same month last year is the baseline every model must beat.</a:t>
            </a:r>
          </a:p>
          <a:p/>
          <a:p>
            <a:r>
              <a:t>Two. Split by time, never at random. Make lag features inside each district, and report the error in cases, the units the manager uses.</a:t>
            </a:r>
          </a:p>
          <a:p/>
          <a:p>
            <a:r>
              <a:t>Three. A Pipeline packs the filling, encoding and fitting into one object, so the same steps run every time. Your baseline and tested model are Checkpoint 3, and the app and model card come in Session 23.</a:t>
            </a:r>
          </a:p>
          <a:p/>
          <a:p>
            <a:r>
              <a:t>Next time we open the black box of neural networks, with no maths wall. We'll watch a small one learn in the browser, and ask when a simple model is the better choice.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19   Forecasting and a first end-to-end model</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19</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19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Forecasting and a first end-to-end model</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predict next month, and how do we package a whole modelling job?</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Split time series by time, never at random.</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Beat a seasonal naive forecast.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Build a Pipeline that cleans, encodes and models.</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4"/>
        </p:xfrm>
        <a:graphic>
          <a:graphicData uri="http://schemas.openxmlformats.org/drawingml/2006/table">
            <a:tbl>
              <a:tblPr firstRow="0" bandRow="0">
                <a:tableStyleId>{2D5ABB26-0587-4C30-8999-92F81FD0307C}</a:tableStyleId>
              </a:tblPr>
              <a:tblGrid>
                <a:gridCol w="2164019"/>
                <a:gridCol w="5410047"/>
                <a:gridCol w="3246028"/>
              </a:tblGrid>
              <a:tr h="490727">
                <a:tc>
                  <a:txBody>
                    <a:bodyPr wrap="square"/>
                    <a:lstStyle/>
                    <a:p>
                      <a:r>
                        <a:rPr sz="15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36396">
                <a:tc>
                  <a:txBody>
                    <a:bodyPr wrap="square"/>
                    <a:lstStyle/>
                    <a:p>
                      <a:r>
                        <a:rPr sz="1550" b="1" i="0">
                          <a:solidFill>
                            <a:srgbClr val="1F2328"/>
                          </a:solidFill>
                          <a:latin typeface="Calibri"/>
                        </a:rPr>
                        <a:t>Time series</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number recorded at regular times, such as cases each month.</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column of monthly figures with dates beside it</a:t>
                      </a:r>
                    </a:p>
                  </a:txBody>
                  <a:tcPr marL="137160" marR="91440" marT="64008" marB="64008" anchor="ctr">
                    <a:lnL w="0">
                      <a:noFill/>
                    </a:lnL>
                    <a:lnR w="0">
                      <a:noFill/>
                    </a:lnR>
                    <a:lnT w="0">
                      <a:noFill/>
                    </a:lnT>
                    <a:lnB w="6350">
                      <a:solidFill>
                        <a:srgbClr val="C9C5BC"/>
                      </a:solidFill>
                    </a:lnB>
                    <a:noFill/>
                  </a:tcPr>
                </a:tc>
              </a:tr>
              <a:tr h="490727">
                <a:tc>
                  <a:txBody>
                    <a:bodyPr wrap="square"/>
                    <a:lstStyle/>
                    <a:p>
                      <a:r>
                        <a:rPr sz="1550" b="1" i="0">
                          <a:solidFill>
                            <a:srgbClr val="1F2328"/>
                          </a:solidFill>
                          <a:latin typeface="Calibri"/>
                        </a:rPr>
                        <a:t>Seasonal naive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forecast that copies the same period from last year.</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formula that points twelve rows up</a:t>
                      </a:r>
                    </a:p>
                  </a:txBody>
                  <a:tcPr marL="137160" marR="91440" marT="64008" marB="64008" anchor="ctr">
                    <a:lnL w="0">
                      <a:noFill/>
                    </a:lnL>
                    <a:lnR w="0">
                      <a:noFill/>
                    </a:lnR>
                    <a:lnT w="0">
                      <a:noFill/>
                    </a:lnT>
                    <a:lnB w="6350">
                      <a:solidFill>
                        <a:srgbClr val="C9C5BC"/>
                      </a:solidFill>
                    </a:lnB>
                    <a:noFill/>
                  </a:tcPr>
                </a:tc>
              </a:tr>
              <a:tr h="736396">
                <a:tc>
                  <a:txBody>
                    <a:bodyPr wrap="square"/>
                    <a:lstStyle/>
                    <a:p>
                      <a:r>
                        <a:rPr sz="1550" b="1" i="0">
                          <a:solidFill>
                            <a:srgbClr val="1F2328"/>
                          </a:solidFill>
                          <a:latin typeface="Calibri"/>
                        </a:rPr>
                        <a:t>Lag feature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column holding an earlier value, placed beside today's row.</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Typing =B2 into row 3 so each row shows the row above</a:t>
                      </a:r>
                    </a:p>
                  </a:txBody>
                  <a:tcPr marL="137160" marR="91440" marT="64008" marB="64008" anchor="ctr">
                    <a:lnL w="0">
                      <a:noFill/>
                    </a:lnL>
                    <a:lnR w="0">
                      <a:noFill/>
                    </a:lnR>
                    <a:lnT w="0">
                      <a:noFill/>
                    </a:lnT>
                    <a:lnB w="6350">
                      <a:solidFill>
                        <a:srgbClr val="C9C5BC"/>
                      </a:solidFill>
                    </a:lnB>
                    <a:noFill/>
                  </a:tcPr>
                </a:tc>
              </a:tr>
              <a:tr h="736396">
                <a:tc>
                  <a:txBody>
                    <a:bodyPr wrap="square"/>
                    <a:lstStyle/>
                    <a:p>
                      <a:r>
                        <a:rPr sz="1550" b="1" i="0">
                          <a:solidFill>
                            <a:srgbClr val="1F2328"/>
                          </a:solidFill>
                          <a:latin typeface="Calibri"/>
                        </a:rPr>
                        <a:t>Forecast horizon</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How far ahead the forecast looks, such as one month.</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How many rows below the last date you fill</a:t>
                      </a:r>
                    </a:p>
                  </a:txBody>
                  <a:tcPr marL="137160" marR="91440" marT="64008" marB="64008" anchor="ctr">
                    <a:lnL w="0">
                      <a:noFill/>
                    </a:lnL>
                    <a:lnR w="0">
                      <a:noFill/>
                    </a:lnR>
                    <a:lnT w="0">
                      <a:noFill/>
                    </a:lnT>
                    <a:lnB w="6350">
                      <a:solidFill>
                        <a:srgbClr val="C9C5BC"/>
                      </a:solidFill>
                    </a:lnB>
                    <a:noFill/>
                  </a:tcPr>
                </a:tc>
              </a:tr>
              <a:tr h="736396">
                <a:tc>
                  <a:txBody>
                    <a:bodyPr wrap="square"/>
                    <a:lstStyle/>
                    <a:p>
                      <a:r>
                        <a:rPr sz="1550" b="1" i="0">
                          <a:solidFill>
                            <a:srgbClr val="1F2328"/>
                          </a:solidFill>
                          <a:latin typeface="Calibri"/>
                        </a:rPr>
                        <a:t>Pipeline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list of steps that always run in the same order, packed into one object.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recorded macro</a:t>
                      </a:r>
                    </a:p>
                  </a:txBody>
                  <a:tcPr marL="137160" marR="91440" marT="64008" marB="64008" anchor="ctr">
                    <a:lnL w="0">
                      <a:noFill/>
                    </a:lnL>
                    <a:lnR w="0">
                      <a:noFill/>
                    </a:lnR>
                    <a:lnT w="0">
                      <a:noFill/>
                    </a:lnT>
                    <a:lnB w="6350">
                      <a:solidFill>
                        <a:srgbClr val="C9C5BC"/>
                      </a:solidFill>
                    </a:lnB>
                    <a:noFill/>
                  </a:tcPr>
                </a:tc>
              </a:tr>
              <a:tr h="736396">
                <a:tc>
                  <a:txBody>
                    <a:bodyPr wrap="square"/>
                    <a:lstStyle/>
                    <a:p>
                      <a:r>
                        <a:rPr sz="1550" b="1" i="0">
                          <a:solidFill>
                            <a:srgbClr val="1F2328"/>
                          </a:solidFill>
                          <a:latin typeface="Calibri"/>
                        </a:rPr>
                        <a:t>Mean absolute error</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average size of the misses, with the sign ignored, in the units of the target.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AVERAGE of the ABS of actual minus forecast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18</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Segments had no right answer to check against. What is learning without labels called?</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Unsupervised learning. We judged the segments by whether each could be described and acted on. The elbow plot only helped choose k.</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did we scale the columns before running k-means?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So a column of large numbers, such as spend in shillings, does not drown out a column of small numbers, such as visits.</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monthly count has a trend, a season and noise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A time series is a number recorded at regular times. Pull one apart and each piece has a job.</a:t>
            </a:r>
          </a:p>
        </p:txBody>
      </p:sp>
      <p:cxnSp>
        <p:nvCxnSpPr>
          <p:cNvPr id="6" name="Connector 5"/>
          <p:cNvCxnSpPr/>
          <p:nvPr/>
        </p:nvCxnSpPr>
        <p:spPr>
          <a:xfrm>
            <a:off x="685800" y="2894990"/>
            <a:ext cx="5303520" cy="0"/>
          </a:xfrm>
          <a:prstGeom prst="line">
            <a:avLst/>
          </a:prstGeom>
          <a:ln w="15875">
            <a:solidFill>
              <a:srgbClr val="1F2328"/>
            </a:solidFill>
          </a:ln>
        </p:spPr>
      </p:cxnSp>
      <p:sp>
        <p:nvSpPr>
          <p:cNvPr id="7" name="TextBox 6"/>
          <p:cNvSpPr txBox="1"/>
          <p:nvPr/>
        </p:nvSpPr>
        <p:spPr>
          <a:xfrm>
            <a:off x="685800" y="2968142"/>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Trend. </a:t>
            </a:r>
            <a:r>
              <a:rPr sz="2000" b="0" i="0">
                <a:solidFill>
                  <a:srgbClr val="3B4046"/>
                </a:solidFill>
                <a:latin typeface="Calibri"/>
              </a:rPr>
              <a:t>The slow drift up or down over the years.</a:t>
            </a:r>
          </a:p>
        </p:txBody>
      </p:sp>
      <p:cxnSp>
        <p:nvCxnSpPr>
          <p:cNvPr id="8" name="Connector 7"/>
          <p:cNvCxnSpPr/>
          <p:nvPr/>
        </p:nvCxnSpPr>
        <p:spPr>
          <a:xfrm>
            <a:off x="685800" y="4002633"/>
            <a:ext cx="5303520" cy="0"/>
          </a:xfrm>
          <a:prstGeom prst="line">
            <a:avLst/>
          </a:prstGeom>
          <a:ln w="6350">
            <a:solidFill>
              <a:srgbClr val="C9C5BC"/>
            </a:solidFill>
          </a:ln>
        </p:spPr>
      </p:cxnSp>
      <p:sp>
        <p:nvSpPr>
          <p:cNvPr id="9" name="TextBox 8"/>
          <p:cNvSpPr txBox="1"/>
          <p:nvPr/>
        </p:nvSpPr>
        <p:spPr>
          <a:xfrm>
            <a:off x="685800" y="4075785"/>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Season. </a:t>
            </a:r>
            <a:r>
              <a:rPr sz="2000" b="0" i="0">
                <a:solidFill>
                  <a:srgbClr val="3B4046"/>
                </a:solidFill>
                <a:latin typeface="Calibri"/>
              </a:rPr>
              <a:t>The pattern that repeats every year.</a:t>
            </a:r>
          </a:p>
        </p:txBody>
      </p:sp>
      <p:cxnSp>
        <p:nvCxnSpPr>
          <p:cNvPr id="10" name="Connector 9"/>
          <p:cNvCxnSpPr/>
          <p:nvPr/>
        </p:nvCxnSpPr>
        <p:spPr>
          <a:xfrm>
            <a:off x="685800" y="5110276"/>
            <a:ext cx="5303520" cy="0"/>
          </a:xfrm>
          <a:prstGeom prst="line">
            <a:avLst/>
          </a:prstGeom>
          <a:ln w="6350">
            <a:solidFill>
              <a:srgbClr val="C9C5BC"/>
            </a:solidFill>
          </a:ln>
        </p:spPr>
      </p:cxnSp>
      <p:sp>
        <p:nvSpPr>
          <p:cNvPr id="11" name="TextBox 10"/>
          <p:cNvSpPr txBox="1"/>
          <p:nvPr/>
        </p:nvSpPr>
        <p:spPr>
          <a:xfrm>
            <a:off x="685800" y="5183428"/>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Noise. </a:t>
            </a:r>
            <a:r>
              <a:rPr sz="2000" b="0" i="0">
                <a:solidFill>
                  <a:srgbClr val="3B4046"/>
                </a:solidFill>
                <a:latin typeface="Calibri"/>
              </a:rPr>
              <a:t>What is left over. No model predicts it.</a:t>
            </a:r>
          </a:p>
        </p:txBody>
      </p:sp>
      <p:cxnSp>
        <p:nvCxnSpPr>
          <p:cNvPr id="12" name="Connector 11"/>
          <p:cNvCxnSpPr/>
          <p:nvPr/>
        </p:nvCxnSpPr>
        <p:spPr>
          <a:xfrm>
            <a:off x="685800" y="6217920"/>
            <a:ext cx="5303520" cy="0"/>
          </a:xfrm>
          <a:prstGeom prst="line">
            <a:avLst/>
          </a:prstGeom>
          <a:ln w="6350">
            <a:solidFill>
              <a:srgbClr val="C9C5BC"/>
            </a:solidFill>
          </a:ln>
        </p:spPr>
      </p:cxnSp>
      <p:pic>
        <p:nvPicPr>
          <p:cNvPr id="13" name="figure-ts_decomposition" descr="Three stacked panels for monthly malaria cases: a rising trend, a repeating yearly season and small leftover noise."/>
          <p:cNvPicPr>
            <a:picLocks noChangeAspect="1"/>
          </p:cNvPicPr>
          <p:nvPr/>
        </p:nvPicPr>
        <p:blipFill>
          <a:blip r:embed="rId3"/>
          <a:stretch>
            <a:fillRect/>
          </a:stretch>
        </p:blipFill>
        <p:spPr>
          <a:xfrm>
            <a:off x="6355080" y="2146939"/>
            <a:ext cx="5150815" cy="352424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Malaria cases by calendar month, all districts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pic>
        <p:nvPicPr>
          <p:cNvPr id="5" name="figure-clinic_season" descr="Bar chart of malaria cases for each calendar month, with December highlighted as the tallest."/>
          <p:cNvPicPr>
            <a:picLocks noChangeAspect="1"/>
          </p:cNvPicPr>
          <p:nvPr/>
        </p:nvPicPr>
        <p:blipFill>
          <a:blip r:embed="rId3"/>
          <a:stretch>
            <a:fillRect/>
          </a:stretch>
        </p:blipFill>
        <p:spPr>
          <a:xfrm>
            <a:off x="685800" y="1600200"/>
            <a:ext cx="6626210"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December is the tallest month, in the lighter bar.</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000" b="0" i="0">
                  <a:solidFill>
                    <a:srgbClr val="1F2328"/>
                  </a:solidFill>
                  <a:latin typeface="Calibri"/>
                </a:rPr>
                <a:t>April to June and October to December run higher than the months around them.</a:t>
              </a:r>
            </a:p>
          </p:txBody>
        </p:sp>
        <p:cxnSp>
          <p:nvCxnSpPr>
            <p:cNvPr id="14" name="Connector 13"/>
            <p:cNvCxnSpPr/>
            <p:nvPr/>
          </p:nvCxnSpPr>
          <p:spPr>
            <a:xfrm>
              <a:off x="8183879" y="4361688"/>
              <a:ext cx="3322016" cy="0"/>
            </a:xfrm>
            <a:prstGeom prst="line">
              <a:avLst/>
            </a:prstGeom>
            <a:ln w="6350">
              <a:solidFill>
                <a:srgbClr val="C9C5BC"/>
              </a:solidFill>
            </a:ln>
          </p:spPr>
        </p:cxnSp>
      </p:grpSp>
      <p:cxnSp>
        <p:nvCxnSpPr>
          <p:cNvPr id="15" name="Connector 14"/>
          <p:cNvCxnSpPr/>
          <p:nvPr/>
        </p:nvCxnSpPr>
        <p:spPr>
          <a:xfrm>
            <a:off x="685800" y="5486400"/>
            <a:ext cx="10820095" cy="0"/>
          </a:xfrm>
          <a:prstGeom prst="line">
            <a:avLst/>
          </a:prstGeom>
          <a:ln w="9525">
            <a:solidFill>
              <a:srgbClr val="C9C5BC"/>
            </a:solidFill>
          </a:ln>
        </p:spPr>
      </p:cxnSp>
      <p:sp>
        <p:nvSpPr>
          <p:cNvPr id="16" name="TextBox 15"/>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Cases added over five years and twelve districts, by calendar month.</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clinic file and total each year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10820095" cy="1530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55776"/>
          </a:xfrm>
          <a:prstGeom prst="rect">
            <a:avLst/>
          </a:prstGeom>
          <a:noFill/>
        </p:spPr>
        <p:txBody>
          <a:bodyPr wrap="none" lIns="0" rIns="0" tIns="0" bIns="0">
            <a:spAutoFit/>
          </a:bodyPr>
          <a:lstStyle/>
          <a:p>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pandas</a:t>
            </a:r>
            <a:r>
              <a:rPr sz="1600" b="0" i="0">
                <a:solidFill>
                  <a:srgbClr val="1F2328"/>
                </a:solidFill>
                <a:latin typeface="Courier New"/>
              </a:rPr>
              <a:t> </a:t>
            </a:r>
            <a:r>
              <a:rPr sz="1600" b="1" i="0">
                <a:solidFill>
                  <a:srgbClr val="1F2328"/>
                </a:solidFill>
                <a:latin typeface="Courier New"/>
              </a:rPr>
              <a:t>as</a:t>
            </a:r>
            <a:r>
              <a:rPr sz="1600" b="0" i="0">
                <a:solidFill>
                  <a:srgbClr val="1F2328"/>
                </a:solidFill>
                <a:latin typeface="Courier New"/>
              </a:rPr>
              <a:t> </a:t>
            </a:r>
            <a:r>
              <a:rPr sz="1600" b="0" i="0">
                <a:solidFill>
                  <a:srgbClr val="1F2328"/>
                </a:solidFill>
                <a:latin typeface="Courier New"/>
              </a:rPr>
              <a:t>pd</a:t>
            </a:r>
          </a:p>
          <a:p>
            <a:r>
              <a:rPr sz="1600" b="0" i="0">
                <a:solidFill>
                  <a:srgbClr val="1F2328"/>
                </a:solidFill>
                <a:latin typeface="Courier New"/>
              </a:rPr>
              <a:t> </a:t>
            </a:r>
          </a:p>
          <a:p>
            <a:r>
              <a:rPr sz="1600" b="0" i="0">
                <a:solidFill>
                  <a:srgbClr val="1F2328"/>
                </a:solidFill>
                <a:latin typeface="Courier New"/>
              </a:rPr>
              <a:t>clinic</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pd</a:t>
            </a:r>
            <a:r>
              <a:rPr sz="1600" b="0" i="0">
                <a:solidFill>
                  <a:srgbClr val="1F2328"/>
                </a:solidFill>
                <a:latin typeface="Courier New"/>
              </a:rPr>
              <a:t>.</a:t>
            </a:r>
            <a:r>
              <a:rPr sz="1600" b="0" i="0">
                <a:solidFill>
                  <a:srgbClr val="1F2328"/>
                </a:solidFill>
                <a:latin typeface="Courier New"/>
              </a:rPr>
              <a:t>read_csv</a:t>
            </a:r>
            <a:r>
              <a:rPr sz="1600" b="0" i="0">
                <a:solidFill>
                  <a:srgbClr val="1F2328"/>
                </a:solidFill>
                <a:latin typeface="Courier New"/>
              </a:rPr>
              <a:t>(</a:t>
            </a:r>
            <a:r>
              <a:rPr sz="1600" b="0" i="0">
                <a:solidFill>
                  <a:srgbClr val="B04A2B"/>
                </a:solidFill>
                <a:latin typeface="Courier New"/>
              </a:rPr>
              <a:t>'clinic_visits.csv'</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parse_dates</a:t>
            </a:r>
            <a:r>
              <a:rPr sz="1600" b="0" i="0">
                <a:solidFill>
                  <a:srgbClr val="1F2328"/>
                </a:solidFill>
                <a:latin typeface="Courier New"/>
              </a:rPr>
              <a:t>=</a:t>
            </a:r>
            <a:r>
              <a:rPr sz="1600" b="0" i="0">
                <a:solidFill>
                  <a:srgbClr val="1F2328"/>
                </a:solidFill>
                <a:latin typeface="Courier New"/>
              </a:rPr>
              <a:t>[</a:t>
            </a:r>
            <a:r>
              <a:rPr sz="1600" b="0" i="0">
                <a:solidFill>
                  <a:srgbClr val="B04A2B"/>
                </a:solidFill>
                <a:latin typeface="Courier New"/>
              </a:rPr>
              <a:t>'month'</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clinic</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clinic</a:t>
            </a:r>
            <a:r>
              <a:rPr sz="1600" b="0" i="0">
                <a:solidFill>
                  <a:srgbClr val="1F2328"/>
                </a:solidFill>
                <a:latin typeface="Courier New"/>
              </a:rPr>
              <a:t>.</a:t>
            </a:r>
            <a:r>
              <a:rPr sz="1600" b="0" i="0">
                <a:solidFill>
                  <a:srgbClr val="1F2328"/>
                </a:solidFill>
                <a:latin typeface="Courier New"/>
              </a:rPr>
              <a:t>sort_values</a:t>
            </a:r>
            <a:r>
              <a:rPr sz="1600" b="0" i="0">
                <a:solidFill>
                  <a:srgbClr val="1F2328"/>
                </a:solidFill>
                <a:latin typeface="Courier New"/>
              </a:rPr>
              <a:t>(</a:t>
            </a:r>
            <a:r>
              <a:rPr sz="1600" b="0" i="0">
                <a:solidFill>
                  <a:srgbClr val="1F2328"/>
                </a:solidFill>
                <a:latin typeface="Courier New"/>
              </a:rPr>
              <a:t>[</a:t>
            </a:r>
            <a:r>
              <a:rPr sz="1600" b="0" i="0">
                <a:solidFill>
                  <a:srgbClr val="B04A2B"/>
                </a:solidFill>
                <a:latin typeface="Courier New"/>
              </a:rPr>
              <a:t>'district'</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'month'</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clinic</a:t>
            </a:r>
            <a:r>
              <a:rPr sz="1600" b="0" i="0">
                <a:solidFill>
                  <a:srgbClr val="1F2328"/>
                </a:solidFill>
                <a:latin typeface="Courier New"/>
              </a:rPr>
              <a:t>.</a:t>
            </a:r>
            <a:r>
              <a:rPr sz="1600" b="0" i="0">
                <a:solidFill>
                  <a:srgbClr val="1F2328"/>
                </a:solidFill>
                <a:latin typeface="Courier New"/>
              </a:rPr>
              <a:t>groupby</a:t>
            </a:r>
            <a:r>
              <a:rPr sz="1600" b="0" i="0">
                <a:solidFill>
                  <a:srgbClr val="1F2328"/>
                </a:solidFill>
                <a:latin typeface="Courier New"/>
              </a:rPr>
              <a:t>(</a:t>
            </a:r>
            <a:r>
              <a:rPr sz="1600" b="0" i="0">
                <a:solidFill>
                  <a:srgbClr val="1F2328"/>
                </a:solidFill>
                <a:latin typeface="Courier New"/>
              </a:rPr>
              <a:t>clinic</a:t>
            </a:r>
            <a:r>
              <a:rPr sz="1600" b="0" i="0">
                <a:solidFill>
                  <a:srgbClr val="1F2328"/>
                </a:solidFill>
                <a:latin typeface="Courier New"/>
              </a:rPr>
              <a:t>.</a:t>
            </a:r>
            <a:r>
              <a:rPr sz="1600" b="0" i="0">
                <a:solidFill>
                  <a:srgbClr val="1F2328"/>
                </a:solidFill>
                <a:latin typeface="Courier New"/>
              </a:rPr>
              <a:t>month</a:t>
            </a:r>
            <a:r>
              <a:rPr sz="1600" b="0" i="0">
                <a:solidFill>
                  <a:srgbClr val="1F2328"/>
                </a:solidFill>
                <a:latin typeface="Courier New"/>
              </a:rPr>
              <a:t>.</a:t>
            </a:r>
            <a:r>
              <a:rPr sz="1600" b="0" i="0">
                <a:solidFill>
                  <a:srgbClr val="1F2328"/>
                </a:solidFill>
                <a:latin typeface="Courier New"/>
              </a:rPr>
              <a:t>dt</a:t>
            </a:r>
            <a:r>
              <a:rPr sz="1600" b="0" i="0">
                <a:solidFill>
                  <a:srgbClr val="1F2328"/>
                </a:solidFill>
                <a:latin typeface="Courier New"/>
              </a:rPr>
              <a:t>.</a:t>
            </a:r>
            <a:r>
              <a:rPr sz="1600" b="0" i="0">
                <a:solidFill>
                  <a:srgbClr val="1F2328"/>
                </a:solidFill>
                <a:latin typeface="Courier New"/>
              </a:rPr>
              <a:t>year</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malaria_cases</a:t>
            </a:r>
            <a:r>
              <a:rPr sz="1600" b="0" i="0">
                <a:solidFill>
                  <a:srgbClr val="1F2328"/>
                </a:solidFill>
                <a:latin typeface="Courier New"/>
              </a:rPr>
              <a:t>.</a:t>
            </a:r>
            <a:r>
              <a:rPr sz="1600" b="0" i="0">
                <a:solidFill>
                  <a:srgbClr val="1F2328"/>
                </a:solidFill>
                <a:latin typeface="Courier New"/>
              </a:rPr>
              <a:t>sum</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240024"/>
            <a:ext cx="10820095" cy="1591056"/>
            <a:chOff x="685800" y="3240024"/>
            <a:chExt cx="10820095" cy="1591056"/>
          </a:xfrm>
        </p:grpSpPr>
        <p:sp>
          <p:nvSpPr>
            <p:cNvPr id="8" name="TextBox 7"/>
            <p:cNvSpPr txBox="1"/>
            <p:nvPr/>
          </p:nvSpPr>
          <p:spPr>
            <a:xfrm>
              <a:off x="685800" y="3240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96056"/>
              <a:ext cx="10820095"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587496"/>
              <a:ext cx="10545775" cy="1225295"/>
            </a:xfrm>
            <a:prstGeom prst="rect">
              <a:avLst/>
            </a:prstGeom>
            <a:noFill/>
          </p:spPr>
          <p:txBody>
            <a:bodyPr wrap="none" lIns="0" rIns="0" tIns="0" bIns="0">
              <a:spAutoFit/>
            </a:bodyPr>
            <a:lstStyle/>
            <a:p>
              <a:r>
                <a:rPr sz="1400" b="0" i="0">
                  <a:solidFill>
                    <a:srgbClr val="1F2328"/>
                  </a:solidFill>
                  <a:latin typeface="Courier New"/>
                </a:rPr>
                <a:t>month</a:t>
              </a:r>
            </a:p>
            <a:p>
              <a:r>
                <a:rPr sz="1400" b="0" i="0">
                  <a:solidFill>
                    <a:srgbClr val="1F2328"/>
                  </a:solidFill>
                  <a:latin typeface="Courier New"/>
                </a:rPr>
                <a:t>2021    315282</a:t>
              </a:r>
            </a:p>
            <a:p>
              <a:r>
                <a:rPr sz="1400" b="0" i="0">
                  <a:solidFill>
                    <a:srgbClr val="1F2328"/>
                  </a:solidFill>
                  <a:latin typeface="Courier New"/>
                </a:rPr>
                <a:t>2022    313225</a:t>
              </a:r>
            </a:p>
            <a:p>
              <a:r>
                <a:rPr sz="1400" b="0" i="0">
                  <a:solidFill>
                    <a:srgbClr val="1F2328"/>
                  </a:solidFill>
                  <a:latin typeface="Courier New"/>
                </a:rPr>
                <a:t>2023    331706</a:t>
              </a:r>
            </a:p>
            <a:p>
              <a:r>
                <a:rPr sz="1400" b="0" i="0">
                  <a:solidFill>
                    <a:srgbClr val="1F2328"/>
                  </a:solidFill>
                  <a:latin typeface="Courier New"/>
                </a:rPr>
                <a:t>2024    338833</a:t>
              </a:r>
            </a:p>
            <a:p>
              <a:r>
                <a:rPr sz="1400" b="0" i="0">
                  <a:solidFill>
                    <a:srgbClr val="1F2328"/>
                  </a:solidFill>
                  <a:latin typeface="Courier New"/>
                </a:rPr>
                <a:t>2025    346039</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Read the dates as dates, then sort by district and month.</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Add the cases for each year to see the trend.</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2025 is above 2021. That is the trend in numbers.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Seasonal naive: guess the same month last year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10820095"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26335"/>
          </a:xfrm>
          <a:prstGeom prst="rect">
            <a:avLst/>
          </a:prstGeom>
          <a:noFill/>
        </p:spPr>
        <p:txBody>
          <a:bodyPr wrap="none" lIns="0" rIns="0" tIns="0" bIns="0">
            <a:spAutoFit/>
          </a:bodyPr>
          <a:lstStyle/>
          <a:p>
            <a:r>
              <a:rPr sz="1550" b="1" i="0">
                <a:solidFill>
                  <a:srgbClr val="1F2328"/>
                </a:solidFill>
                <a:latin typeface="Courier New"/>
              </a:rPr>
              <a:t>def</a:t>
            </a:r>
            <a:r>
              <a:rPr sz="1550" b="0" i="0">
                <a:solidFill>
                  <a:srgbClr val="1F2328"/>
                </a:solidFill>
                <a:latin typeface="Courier New"/>
              </a:rPr>
              <a:t> </a:t>
            </a:r>
            <a:r>
              <a:rPr sz="1550" b="0" i="0">
                <a:solidFill>
                  <a:srgbClr val="1F2328"/>
                </a:solidFill>
                <a:latin typeface="Courier New"/>
              </a:rPr>
              <a:t>naive_miss</a:t>
            </a:r>
            <a:r>
              <a:rPr sz="1550" b="0" i="0">
                <a:solidFill>
                  <a:srgbClr val="1F2328"/>
                </a:solidFill>
                <a:latin typeface="Courier New"/>
              </a:rPr>
              <a:t>(</a:t>
            </a:r>
            <a:r>
              <a:rPr sz="1550" b="0" i="0">
                <a:solidFill>
                  <a:srgbClr val="1F2328"/>
                </a:solidFill>
                <a:latin typeface="Courier New"/>
              </a:rPr>
              <a:t>name</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m</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clinic</a:t>
            </a:r>
            <a:r>
              <a:rPr sz="1550" b="0" i="0">
                <a:solidFill>
                  <a:srgbClr val="1F2328"/>
                </a:solidFill>
                <a:latin typeface="Courier New"/>
              </a:rPr>
              <a:t>[</a:t>
            </a:r>
            <a:r>
              <a:rPr sz="1550" b="0" i="0">
                <a:solidFill>
                  <a:srgbClr val="1F2328"/>
                </a:solidFill>
                <a:latin typeface="Courier New"/>
              </a:rPr>
              <a:t>clinic</a:t>
            </a:r>
            <a:r>
              <a:rPr sz="1550" b="0" i="0">
                <a:solidFill>
                  <a:srgbClr val="1F2328"/>
                </a:solidFill>
                <a:latin typeface="Courier New"/>
              </a:rPr>
              <a:t>.</a:t>
            </a:r>
            <a:r>
              <a:rPr sz="1550" b="0" i="0">
                <a:solidFill>
                  <a:srgbClr val="1F2328"/>
                </a:solidFill>
                <a:latin typeface="Courier New"/>
              </a:rPr>
              <a:t>district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name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set_index</a:t>
            </a:r>
            <a:r>
              <a:rPr sz="1550" b="0" i="0">
                <a:solidFill>
                  <a:srgbClr val="1F2328"/>
                </a:solidFill>
                <a:latin typeface="Courier New"/>
              </a:rPr>
              <a:t>(</a:t>
            </a:r>
            <a:r>
              <a:rPr sz="1550" b="0" i="0">
                <a:solidFill>
                  <a:srgbClr val="B04A2B"/>
                </a:solidFill>
                <a:latin typeface="Courier New"/>
              </a:rPr>
              <a:t>'month'</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malaria_cases</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forecast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a:t>
            </a:r>
            <a:r>
              <a:rPr sz="1550" b="0" i="0">
                <a:solidFill>
                  <a:srgbClr val="1F2328"/>
                </a:solidFill>
                <a:latin typeface="Courier New"/>
              </a:rPr>
              <a:t>[</a:t>
            </a:r>
            <a:r>
              <a:rPr sz="1550" b="0" i="0">
                <a:solidFill>
                  <a:srgbClr val="B04A2B"/>
                </a:solidFill>
                <a:latin typeface="Courier New"/>
              </a:rPr>
              <a:t>'2024'</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values</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actual</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a:t>
            </a:r>
            <a:r>
              <a:rPr sz="1550" b="0" i="0">
                <a:solidFill>
                  <a:srgbClr val="1F2328"/>
                </a:solidFill>
                <a:latin typeface="Courier New"/>
              </a:rPr>
              <a:t>[</a:t>
            </a:r>
            <a:r>
              <a:rPr sz="1550" b="0" i="0">
                <a:solidFill>
                  <a:srgbClr val="B04A2B"/>
                </a:solidFill>
                <a:latin typeface="Courier New"/>
              </a:rPr>
              <a:t>'2025'</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values</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return</a:t>
            </a:r>
            <a:r>
              <a:rPr sz="1550" b="0" i="0">
                <a:solidFill>
                  <a:srgbClr val="1F2328"/>
                </a:solidFill>
                <a:latin typeface="Courier New"/>
              </a:rPr>
              <a:t> </a:t>
            </a:r>
            <a:r>
              <a:rPr sz="1550" b="0" i="0">
                <a:solidFill>
                  <a:srgbClr val="1F2328"/>
                </a:solidFill>
                <a:latin typeface="Courier New"/>
              </a:rPr>
              <a:t>abs</a:t>
            </a:r>
            <a:r>
              <a:rPr sz="1550" b="0" i="0">
                <a:solidFill>
                  <a:srgbClr val="1F2328"/>
                </a:solidFill>
                <a:latin typeface="Courier New"/>
              </a:rPr>
              <a:t>(</a:t>
            </a:r>
            <a:r>
              <a:rPr sz="1550" b="0" i="0">
                <a:solidFill>
                  <a:srgbClr val="1F2328"/>
                </a:solidFill>
                <a:latin typeface="Courier New"/>
              </a:rPr>
              <a:t>actual</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forecast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mean</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p>
          <a:p>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name</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a:t>
            </a:r>
            <a:r>
              <a:rPr sz="1550" b="0" i="0">
                <a:solidFill>
                  <a:srgbClr val="B04A2B"/>
                </a:solidFill>
                <a:latin typeface="Courier New"/>
              </a:rPr>
              <a:t>'Mbarara'</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'Gulu'</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'Kampala'</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name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round</a:t>
            </a:r>
            <a:r>
              <a:rPr sz="1550" b="0" i="0">
                <a:solidFill>
                  <a:srgbClr val="1F2328"/>
                </a:solidFill>
                <a:latin typeface="Courier New"/>
              </a:rPr>
              <a:t>(</a:t>
            </a:r>
            <a:r>
              <a:rPr sz="1550" b="0" i="0">
                <a:solidFill>
                  <a:srgbClr val="1F2328"/>
                </a:solidFill>
                <a:latin typeface="Courier New"/>
              </a:rPr>
              <a:t>naive_miss</a:t>
            </a:r>
            <a:r>
              <a:rPr sz="1550" b="0" i="0">
                <a:solidFill>
                  <a:srgbClr val="1F2328"/>
                </a:solidFill>
                <a:latin typeface="Courier New"/>
              </a:rPr>
              <a:t>(</a:t>
            </a:r>
            <a:r>
              <a:rPr sz="1550" b="0" i="0">
                <a:solidFill>
                  <a:srgbClr val="1F2328"/>
                </a:solidFill>
                <a:latin typeface="Courier New"/>
              </a:rPr>
              <a:t>name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910583"/>
            <a:ext cx="10820095" cy="950977"/>
            <a:chOff x="685800" y="3910583"/>
            <a:chExt cx="10820095" cy="95097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10545775" cy="585216"/>
            </a:xfrm>
            <a:prstGeom prst="rect">
              <a:avLst/>
            </a:prstGeom>
            <a:noFill/>
          </p:spPr>
          <p:txBody>
            <a:bodyPr wrap="none" lIns="0" rIns="0" tIns="0" bIns="0">
              <a:spAutoFit/>
            </a:bodyPr>
            <a:lstStyle/>
            <a:p>
              <a:r>
                <a:rPr sz="1400" b="0" i="0">
                  <a:solidFill>
                    <a:srgbClr val="1F2328"/>
                  </a:solidFill>
                  <a:latin typeface="Courier New"/>
                </a:rPr>
                <a:t>Mbarara 623</a:t>
              </a:r>
            </a:p>
            <a:p>
              <a:r>
                <a:rPr sz="1400" b="0" i="0">
                  <a:solidFill>
                    <a:srgbClr val="1F2328"/>
                  </a:solidFill>
                  <a:latin typeface="Courier New"/>
                </a:rPr>
                <a:t>Gulu 980</a:t>
              </a:r>
            </a:p>
            <a:p>
              <a:r>
                <a:rPr sz="1400" b="0" i="0">
                  <a:solidFill>
                    <a:srgbClr val="1F2328"/>
                  </a:solidFill>
                  <a:latin typeface="Courier New"/>
                </a:rPr>
                <a:t>Kampala 121</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Keep one district. The forecast for 2025 is simply the 2024 values.</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The miss is the gap between actual and forecast, ignoring the sign, then averaged.</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Run it for three districts.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Mbarara in 2025: forecast against what happened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pic>
        <p:nvPicPr>
          <p:cNvPr id="5" name="figure-clinic_forecast" descr="Line chart of actual Mbarara cases in 2025 and a seasonal naive forecast that repeats 2024, with the average miss of 623 cases."/>
          <p:cNvPicPr>
            <a:picLocks noChangeAspect="1"/>
          </p:cNvPicPr>
          <p:nvPr/>
        </p:nvPicPr>
        <p:blipFill>
          <a:blip r:embed="rId3"/>
          <a:stretch>
            <a:fillRect/>
          </a:stretch>
        </p:blipFill>
        <p:spPr>
          <a:xfrm>
            <a:off x="685800" y="1600200"/>
            <a:ext cx="647561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The dashed line repeats last year's shape. In many months it follows the real line closely.</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October and November show the biggest gaps. The real peak ran longer and higher.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average miss is 623 cases.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Seasonal naive for Mbarara. Average miss 623 cases a month.</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Split by time, never at random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10820095" cy="914400"/>
          </a:xfrm>
          <a:prstGeom prst="rect">
            <a:avLst/>
          </a:prstGeom>
          <a:noFill/>
        </p:spPr>
        <p:txBody>
          <a:bodyPr wrap="square" lIns="0" rIns="0" tIns="18288" bIns="18288" anchor="t">
            <a:spAutoFit/>
          </a:bodyPr>
          <a:lstStyle/>
          <a:p>
            <a:pPr algn="l"/>
            <a:r>
              <a:rPr sz="2400" b="0" i="0">
                <a:solidFill>
                  <a:srgbClr val="1F2328"/>
                </a:solidFill>
                <a:latin typeface="Cambria"/>
              </a:rPr>
              <a:t>To test a forecast, hide the future and ask the model to predict it.</a:t>
            </a:r>
          </a:p>
        </p:txBody>
      </p:sp>
      <p:pic>
        <p:nvPicPr>
          <p:cNvPr id="6" name="figure-time_split" descr="A timeline where the early months are training data and the later months are the test data."/>
          <p:cNvPicPr>
            <a:picLocks noChangeAspect="1"/>
          </p:cNvPicPr>
          <p:nvPr/>
        </p:nvPicPr>
        <p:blipFill>
          <a:blip r:embed="rId3"/>
          <a:stretch>
            <a:fillRect/>
          </a:stretch>
        </p:blipFill>
        <p:spPr>
          <a:xfrm>
            <a:off x="685800" y="2090318"/>
            <a:ext cx="5990896" cy="2286000"/>
          </a:xfrm>
          <a:prstGeom prst="rect">
            <a:avLst/>
          </a:prstGeom>
        </p:spPr>
      </p:pic>
      <p:cxnSp>
        <p:nvCxnSpPr>
          <p:cNvPr id="7" name="Connector 6"/>
          <p:cNvCxnSpPr/>
          <p:nvPr/>
        </p:nvCxnSpPr>
        <p:spPr>
          <a:xfrm>
            <a:off x="685800" y="4559198"/>
            <a:ext cx="3362858" cy="0"/>
          </a:xfrm>
          <a:prstGeom prst="line">
            <a:avLst/>
          </a:prstGeom>
          <a:ln w="15875">
            <a:solidFill>
              <a:srgbClr val="1F2328"/>
            </a:solidFill>
          </a:ln>
        </p:spPr>
      </p:cxnSp>
      <p:sp>
        <p:nvSpPr>
          <p:cNvPr id="8" name="TextBox 7"/>
          <p:cNvSpPr txBox="1"/>
          <p:nvPr/>
        </p:nvSpPr>
        <p:spPr>
          <a:xfrm>
            <a:off x="685800" y="4650638"/>
            <a:ext cx="3362858" cy="1567281"/>
          </a:xfrm>
          <a:prstGeom prst="rect">
            <a:avLst/>
          </a:prstGeom>
          <a:noFill/>
        </p:spPr>
        <p:txBody>
          <a:bodyPr wrap="square" lIns="0" rIns="0" tIns="18288" bIns="18288" anchor="t">
            <a:spAutoFit/>
          </a:bodyPr>
          <a:lstStyle/>
          <a:p>
            <a:pPr algn="l"/>
            <a:r>
              <a:rPr sz="2000" b="1" i="0">
                <a:solidFill>
                  <a:srgbClr val="1F2328"/>
                </a:solidFill>
                <a:latin typeface="Calibri"/>
              </a:rPr>
              <a:t>Train. </a:t>
            </a:r>
            <a:r>
              <a:rPr sz="2000" b="0" i="0">
                <a:solidFill>
                  <a:srgbClr val="3B4046"/>
                </a:solidFill>
                <a:latin typeface="Calibri"/>
              </a:rPr>
              <a:t>Every month up to December 2024.</a:t>
            </a:r>
          </a:p>
        </p:txBody>
      </p:sp>
      <p:cxnSp>
        <p:nvCxnSpPr>
          <p:cNvPr id="9" name="Connector 8"/>
          <p:cNvCxnSpPr/>
          <p:nvPr/>
        </p:nvCxnSpPr>
        <p:spPr>
          <a:xfrm>
            <a:off x="4414418" y="4559198"/>
            <a:ext cx="3362858" cy="0"/>
          </a:xfrm>
          <a:prstGeom prst="line">
            <a:avLst/>
          </a:prstGeom>
          <a:ln w="15875">
            <a:solidFill>
              <a:srgbClr val="1F2328"/>
            </a:solidFill>
          </a:ln>
        </p:spPr>
      </p:cxnSp>
      <p:sp>
        <p:nvSpPr>
          <p:cNvPr id="10" name="TextBox 9"/>
          <p:cNvSpPr txBox="1"/>
          <p:nvPr/>
        </p:nvSpPr>
        <p:spPr>
          <a:xfrm>
            <a:off x="4414418" y="4650638"/>
            <a:ext cx="3362858" cy="1567281"/>
          </a:xfrm>
          <a:prstGeom prst="rect">
            <a:avLst/>
          </a:prstGeom>
          <a:noFill/>
        </p:spPr>
        <p:txBody>
          <a:bodyPr wrap="square" lIns="0" rIns="0" tIns="18288" bIns="18288" anchor="t">
            <a:spAutoFit/>
          </a:bodyPr>
          <a:lstStyle/>
          <a:p>
            <a:pPr algn="l"/>
            <a:r>
              <a:rPr sz="2000" b="1" i="0">
                <a:solidFill>
                  <a:srgbClr val="1F2328"/>
                </a:solidFill>
                <a:latin typeface="Calibri"/>
              </a:rPr>
              <a:t>Test. </a:t>
            </a:r>
            <a:r>
              <a:rPr sz="2000" b="0" i="0">
                <a:solidFill>
                  <a:srgbClr val="3B4046"/>
                </a:solidFill>
                <a:latin typeface="Calibri"/>
              </a:rPr>
              <a:t>The twelve months of 2025, never seen in training.</a:t>
            </a:r>
          </a:p>
        </p:txBody>
      </p:sp>
      <p:cxnSp>
        <p:nvCxnSpPr>
          <p:cNvPr id="11" name="Connector 10"/>
          <p:cNvCxnSpPr/>
          <p:nvPr/>
        </p:nvCxnSpPr>
        <p:spPr>
          <a:xfrm>
            <a:off x="8143036" y="4559198"/>
            <a:ext cx="3362859" cy="0"/>
          </a:xfrm>
          <a:prstGeom prst="line">
            <a:avLst/>
          </a:prstGeom>
          <a:ln w="15875">
            <a:solidFill>
              <a:srgbClr val="1F2328"/>
            </a:solidFill>
          </a:ln>
        </p:spPr>
      </p:cxnSp>
      <p:sp>
        <p:nvSpPr>
          <p:cNvPr id="12" name="TextBox 11"/>
          <p:cNvSpPr txBox="1"/>
          <p:nvPr/>
        </p:nvSpPr>
        <p:spPr>
          <a:xfrm>
            <a:off x="8143036" y="4650638"/>
            <a:ext cx="3362858" cy="1567281"/>
          </a:xfrm>
          <a:prstGeom prst="rect">
            <a:avLst/>
          </a:prstGeom>
          <a:noFill/>
        </p:spPr>
        <p:txBody>
          <a:bodyPr wrap="square" lIns="0" rIns="0" tIns="18288" bIns="18288" anchor="t">
            <a:spAutoFit/>
          </a:bodyPr>
          <a:lstStyle/>
          <a:p>
            <a:pPr algn="l"/>
            <a:r>
              <a:rPr sz="2000" b="1" i="0">
                <a:solidFill>
                  <a:srgbClr val="1F2328"/>
                </a:solidFill>
                <a:latin typeface="Calibri"/>
              </a:rPr>
              <a:t>Why. </a:t>
            </a:r>
            <a:r>
              <a:rPr sz="2000" b="0" i="0">
                <a:solidFill>
                  <a:srgbClr val="3B4046"/>
                </a:solidFill>
                <a:latin typeface="Calibri"/>
              </a:rPr>
              <a:t>Next month will always lie after the data you have.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random split lets the model peek at the future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11</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split the months at random, fit the model, and test on the held-back rows. It runs without error and the miss looks small.</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Some training rows come after the test rows. The model has seen both sides of every test month, and in real life it never will.</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Pick a cut date. Train on everything before it. Test on everything after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Last month's rain relates to malaria, this month's does not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pic>
        <p:nvPicPr>
          <p:cNvPr id="5" name="figure-rain_lag_scatter" descr="Two scatter plots. Same-month rainfall shows no pattern; last month rainfall shows an upward pattern."/>
          <p:cNvPicPr>
            <a:picLocks noChangeAspect="1"/>
          </p:cNvPicPr>
          <p:nvPr/>
        </p:nvPicPr>
        <p:blipFill>
          <a:blip r:embed="rId3"/>
          <a:stretch>
            <a:fillRect/>
          </a:stretch>
        </p:blipFill>
        <p:spPr>
          <a:xfrm>
            <a:off x="685800" y="1600200"/>
            <a:ext cx="7040880" cy="2883408"/>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rain in the same month. The line is flat, r is about zero.</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Right: rain in the month before. The line climbs, r is 0.37.</a:t>
              </a:r>
            </a:p>
          </p:txBody>
        </p:sp>
        <p:cxnSp>
          <p:nvCxnSpPr>
            <p:cNvPr id="14" name="Connector 13"/>
            <p:cNvCxnSpPr/>
            <p:nvPr/>
          </p:nvCxnSpPr>
          <p:spPr>
            <a:xfrm>
              <a:off x="8183879" y="4361688"/>
              <a:ext cx="3322016" cy="0"/>
            </a:xfrm>
            <a:prstGeom prst="line">
              <a:avLst/>
            </a:prstGeom>
            <a:ln w="6350">
              <a:solidFill>
                <a:srgbClr val="C9C5BC"/>
              </a:solidFill>
            </a:ln>
          </p:spPr>
        </p:cxnSp>
      </p:grpSp>
      <p:cxnSp>
        <p:nvCxnSpPr>
          <p:cNvPr id="15" name="Connector 14"/>
          <p:cNvCxnSpPr/>
          <p:nvPr/>
        </p:nvCxnSpPr>
        <p:spPr>
          <a:xfrm>
            <a:off x="685800" y="5486400"/>
            <a:ext cx="10820095" cy="0"/>
          </a:xfrm>
          <a:prstGeom prst="line">
            <a:avLst/>
          </a:prstGeom>
          <a:ln w="9525">
            <a:solidFill>
              <a:srgbClr val="C9C5BC"/>
            </a:solidFill>
          </a:ln>
        </p:spPr>
      </p:cxnSp>
      <p:sp>
        <p:nvSpPr>
          <p:cNvPr id="16" name="TextBox 15"/>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Each dot is one district in one month, after losing the first month of each district.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Lag features: bring last month's numbers into this row</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26335"/>
          </a:xfrm>
          <a:prstGeom prst="rect">
            <a:avLst/>
          </a:prstGeom>
          <a:noFill/>
        </p:spPr>
        <p:txBody>
          <a:bodyPr wrap="none" lIns="0" rIns="0" tIns="0" bIns="0">
            <a:spAutoFit/>
          </a:bodyPr>
          <a:lstStyle/>
          <a:p>
            <a:r>
              <a:rPr sz="1550" b="0" i="0">
                <a:solidFill>
                  <a:srgbClr val="1F2328"/>
                </a:solidFill>
                <a:latin typeface="Courier New"/>
              </a:rPr>
              <a:t>g</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clinic</a:t>
            </a:r>
            <a:r>
              <a:rPr sz="1550" b="0" i="0">
                <a:solidFill>
                  <a:srgbClr val="1F2328"/>
                </a:solidFill>
                <a:latin typeface="Courier New"/>
              </a:rPr>
              <a:t>.</a:t>
            </a:r>
            <a:r>
              <a:rPr sz="1550" b="0" i="0">
                <a:solidFill>
                  <a:srgbClr val="1F2328"/>
                </a:solidFill>
                <a:latin typeface="Courier New"/>
              </a:rPr>
              <a:t>groupby</a:t>
            </a:r>
            <a:r>
              <a:rPr sz="1550" b="0" i="0">
                <a:solidFill>
                  <a:srgbClr val="1F2328"/>
                </a:solidFill>
                <a:latin typeface="Courier New"/>
              </a:rPr>
              <a:t>(</a:t>
            </a:r>
            <a:r>
              <a:rPr sz="1550" b="0" i="0">
                <a:solidFill>
                  <a:srgbClr val="B04A2B"/>
                </a:solidFill>
                <a:latin typeface="Courier New"/>
              </a:rPr>
              <a:t>'district'</a:t>
            </a:r>
            <a:r>
              <a:rPr sz="1550" b="0" i="0">
                <a:solidFill>
                  <a:srgbClr val="1F2328"/>
                </a:solidFill>
                <a:latin typeface="Courier New"/>
              </a:rPr>
              <a:t>)</a:t>
            </a:r>
          </a:p>
          <a:p>
            <a:r>
              <a:rPr sz="1550" b="0" i="0">
                <a:solidFill>
                  <a:srgbClr val="1F2328"/>
                </a:solidFill>
                <a:latin typeface="Courier New"/>
              </a:rPr>
              <a:t>clinic</a:t>
            </a:r>
            <a:r>
              <a:rPr sz="1550" b="0" i="0">
                <a:solidFill>
                  <a:srgbClr val="1F2328"/>
                </a:solidFill>
                <a:latin typeface="Courier New"/>
              </a:rPr>
              <a:t>[</a:t>
            </a:r>
            <a:r>
              <a:rPr sz="1550" b="0" i="0">
                <a:solidFill>
                  <a:srgbClr val="B04A2B"/>
                </a:solidFill>
                <a:latin typeface="Courier New"/>
              </a:rPr>
              <a:t>'rain_lag1'</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a:t>
            </a:r>
            <a:r>
              <a:rPr sz="1550" b="0" i="0">
                <a:solidFill>
                  <a:srgbClr val="1F2328"/>
                </a:solidFill>
                <a:latin typeface="Courier New"/>
              </a:rPr>
              <a:t>.</a:t>
            </a:r>
            <a:r>
              <a:rPr sz="1550" b="0" i="0">
                <a:solidFill>
                  <a:srgbClr val="1F2328"/>
                </a:solidFill>
                <a:latin typeface="Courier New"/>
              </a:rPr>
              <a:t>rainfall_mm</a:t>
            </a:r>
            <a:r>
              <a:rPr sz="1550" b="0" i="0">
                <a:solidFill>
                  <a:srgbClr val="1F2328"/>
                </a:solidFill>
                <a:latin typeface="Courier New"/>
              </a:rPr>
              <a:t>.</a:t>
            </a:r>
            <a:r>
              <a:rPr sz="1550" b="0" i="0">
                <a:solidFill>
                  <a:srgbClr val="1F2328"/>
                </a:solidFill>
                <a:latin typeface="Courier New"/>
              </a:rPr>
              <a:t>shift</a:t>
            </a:r>
            <a:r>
              <a:rPr sz="1550" b="0" i="0">
                <a:solidFill>
                  <a:srgbClr val="1F2328"/>
                </a:solidFill>
                <a:latin typeface="Courier New"/>
              </a:rPr>
              <a:t>(</a:t>
            </a:r>
            <a:r>
              <a:rPr sz="1550" b="0" i="0">
                <a:solidFill>
                  <a:srgbClr val="3B4046"/>
                </a:solidFill>
                <a:latin typeface="Courier New"/>
              </a:rPr>
              <a:t>1</a:t>
            </a:r>
            <a:r>
              <a:rPr sz="1550" b="0" i="0">
                <a:solidFill>
                  <a:srgbClr val="1F2328"/>
                </a:solidFill>
                <a:latin typeface="Courier New"/>
              </a:rPr>
              <a:t>)</a:t>
            </a:r>
          </a:p>
          <a:p>
            <a:r>
              <a:rPr sz="1550" b="0" i="0">
                <a:solidFill>
                  <a:srgbClr val="1F2328"/>
                </a:solidFill>
                <a:latin typeface="Courier New"/>
              </a:rPr>
              <a:t>clinic</a:t>
            </a:r>
            <a:r>
              <a:rPr sz="1550" b="0" i="0">
                <a:solidFill>
                  <a:srgbClr val="1F2328"/>
                </a:solidFill>
                <a:latin typeface="Courier New"/>
              </a:rPr>
              <a:t>[</a:t>
            </a:r>
            <a:r>
              <a:rPr sz="1550" b="0" i="0">
                <a:solidFill>
                  <a:srgbClr val="B04A2B"/>
                </a:solidFill>
                <a:latin typeface="Courier New"/>
              </a:rPr>
              <a:t>'cases_lag1'</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a:t>
            </a:r>
            <a:r>
              <a:rPr sz="1550" b="0" i="0">
                <a:solidFill>
                  <a:srgbClr val="1F2328"/>
                </a:solidFill>
                <a:latin typeface="Courier New"/>
              </a:rPr>
              <a:t>.</a:t>
            </a:r>
            <a:r>
              <a:rPr sz="1550" b="0" i="0">
                <a:solidFill>
                  <a:srgbClr val="1F2328"/>
                </a:solidFill>
                <a:latin typeface="Courier New"/>
              </a:rPr>
              <a:t>malaria_cases</a:t>
            </a:r>
            <a:r>
              <a:rPr sz="1550" b="0" i="0">
                <a:solidFill>
                  <a:srgbClr val="1F2328"/>
                </a:solidFill>
                <a:latin typeface="Courier New"/>
              </a:rPr>
              <a:t>.</a:t>
            </a:r>
            <a:r>
              <a:rPr sz="1550" b="0" i="0">
                <a:solidFill>
                  <a:srgbClr val="1F2328"/>
                </a:solidFill>
                <a:latin typeface="Courier New"/>
              </a:rPr>
              <a:t>shift</a:t>
            </a:r>
            <a:r>
              <a:rPr sz="1550" b="0" i="0">
                <a:solidFill>
                  <a:srgbClr val="1F2328"/>
                </a:solidFill>
                <a:latin typeface="Courier New"/>
              </a:rPr>
              <a:t>(</a:t>
            </a:r>
            <a:r>
              <a:rPr sz="1550" b="0" i="0">
                <a:solidFill>
                  <a:srgbClr val="3B4046"/>
                </a:solidFill>
                <a:latin typeface="Courier New"/>
              </a:rPr>
              <a:t>1</a:t>
            </a:r>
            <a:r>
              <a:rPr sz="1550" b="0" i="0">
                <a:solidFill>
                  <a:srgbClr val="1F2328"/>
                </a:solidFill>
                <a:latin typeface="Courier New"/>
              </a:rPr>
              <a:t>)</a:t>
            </a:r>
          </a:p>
          <a:p>
            <a:r>
              <a:rPr sz="1550" b="0" i="0">
                <a:solidFill>
                  <a:srgbClr val="1F2328"/>
                </a:solidFill>
                <a:latin typeface="Courier New"/>
              </a:rPr>
              <a:t>clinic</a:t>
            </a:r>
            <a:r>
              <a:rPr sz="1550" b="0" i="0">
                <a:solidFill>
                  <a:srgbClr val="1F2328"/>
                </a:solidFill>
                <a:latin typeface="Courier New"/>
              </a:rPr>
              <a:t>[</a:t>
            </a:r>
            <a:r>
              <a:rPr sz="1550" b="0" i="0">
                <a:solidFill>
                  <a:srgbClr val="B04A2B"/>
                </a:solidFill>
                <a:latin typeface="Courier New"/>
              </a:rPr>
              <a:t>'cases_lag12'</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a:t>
            </a:r>
            <a:r>
              <a:rPr sz="1550" b="0" i="0">
                <a:solidFill>
                  <a:srgbClr val="1F2328"/>
                </a:solidFill>
                <a:latin typeface="Courier New"/>
              </a:rPr>
              <a:t>.</a:t>
            </a:r>
            <a:r>
              <a:rPr sz="1550" b="0" i="0">
                <a:solidFill>
                  <a:srgbClr val="1F2328"/>
                </a:solidFill>
                <a:latin typeface="Courier New"/>
              </a:rPr>
              <a:t>malaria_cases</a:t>
            </a:r>
            <a:r>
              <a:rPr sz="1550" b="0" i="0">
                <a:solidFill>
                  <a:srgbClr val="1F2328"/>
                </a:solidFill>
                <a:latin typeface="Courier New"/>
              </a:rPr>
              <a:t>.</a:t>
            </a:r>
            <a:r>
              <a:rPr sz="1550" b="0" i="0">
                <a:solidFill>
                  <a:srgbClr val="1F2328"/>
                </a:solidFill>
                <a:latin typeface="Courier New"/>
              </a:rPr>
              <a:t>shift</a:t>
            </a:r>
            <a:r>
              <a:rPr sz="1550" b="0" i="0">
                <a:solidFill>
                  <a:srgbClr val="1F2328"/>
                </a:solidFill>
                <a:latin typeface="Courier New"/>
              </a:rPr>
              <a:t>(</a:t>
            </a:r>
            <a:r>
              <a:rPr sz="1550" b="0" i="0">
                <a:solidFill>
                  <a:srgbClr val="3B4046"/>
                </a:solidFill>
                <a:latin typeface="Courier New"/>
              </a:rPr>
              <a:t>12</a:t>
            </a:r>
            <a:r>
              <a:rPr sz="1550" b="0" i="0">
                <a:solidFill>
                  <a:srgbClr val="1F2328"/>
                </a:solidFill>
                <a:latin typeface="Courier New"/>
              </a:rPr>
              <a:t>)</a:t>
            </a:r>
          </a:p>
          <a:p>
            <a:r>
              <a:rPr sz="1550" b="0" i="0">
                <a:solidFill>
                  <a:srgbClr val="1F2328"/>
                </a:solidFill>
                <a:latin typeface="Courier New"/>
              </a:rPr>
              <a:t> </a:t>
            </a:r>
          </a:p>
          <a:p>
            <a:r>
              <a:rPr sz="1550" b="0" i="0">
                <a:solidFill>
                  <a:srgbClr val="1F2328"/>
                </a:solidFill>
                <a:latin typeface="Courier New"/>
              </a:rPr>
              <a:t>ok</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clinic</a:t>
            </a:r>
            <a:r>
              <a:rPr sz="1550" b="0" i="0">
                <a:solidFill>
                  <a:srgbClr val="1F2328"/>
                </a:solidFill>
                <a:latin typeface="Courier New"/>
              </a:rPr>
              <a:t>.</a:t>
            </a:r>
            <a:r>
              <a:rPr sz="1550" b="0" i="0">
                <a:solidFill>
                  <a:srgbClr val="1F2328"/>
                </a:solidFill>
                <a:latin typeface="Courier New"/>
              </a:rPr>
              <a:t>dropna</a:t>
            </a:r>
            <a:r>
              <a:rPr sz="1550" b="0" i="0">
                <a:solidFill>
                  <a:srgbClr val="1F2328"/>
                </a:solidFill>
                <a:latin typeface="Courier New"/>
              </a:rPr>
              <a:t>(</a:t>
            </a:r>
            <a:r>
              <a:rPr sz="1550" b="0" i="0">
                <a:solidFill>
                  <a:srgbClr val="1F2328"/>
                </a:solidFill>
                <a:latin typeface="Courier New"/>
              </a:rPr>
              <a:t>subset</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'rain_lag1'</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round</a:t>
            </a:r>
            <a:r>
              <a:rPr sz="1550" b="0" i="0">
                <a:solidFill>
                  <a:srgbClr val="1F2328"/>
                </a:solidFill>
                <a:latin typeface="Courier New"/>
              </a:rPr>
              <a:t>(</a:t>
            </a:r>
            <a:r>
              <a:rPr sz="1550" b="0" i="0">
                <a:solidFill>
                  <a:srgbClr val="1F2328"/>
                </a:solidFill>
                <a:latin typeface="Courier New"/>
              </a:rPr>
              <a:t>ok</a:t>
            </a:r>
            <a:r>
              <a:rPr sz="1550" b="0" i="0">
                <a:solidFill>
                  <a:srgbClr val="1F2328"/>
                </a:solidFill>
                <a:latin typeface="Courier New"/>
              </a:rPr>
              <a:t>.</a:t>
            </a:r>
            <a:r>
              <a:rPr sz="1550" b="0" i="0">
                <a:solidFill>
                  <a:srgbClr val="1F2328"/>
                </a:solidFill>
                <a:latin typeface="Courier New"/>
              </a:rPr>
              <a:t>rainfall_mm</a:t>
            </a:r>
            <a:r>
              <a:rPr sz="1550" b="0" i="0">
                <a:solidFill>
                  <a:srgbClr val="1F2328"/>
                </a:solidFill>
                <a:latin typeface="Courier New"/>
              </a:rPr>
              <a:t>.</a:t>
            </a:r>
            <a:r>
              <a:rPr sz="1550" b="0" i="0">
                <a:solidFill>
                  <a:srgbClr val="1F2328"/>
                </a:solidFill>
                <a:latin typeface="Courier New"/>
              </a:rPr>
              <a:t>corr</a:t>
            </a:r>
            <a:r>
              <a:rPr sz="1550" b="0" i="0">
                <a:solidFill>
                  <a:srgbClr val="1F2328"/>
                </a:solidFill>
                <a:latin typeface="Courier New"/>
              </a:rPr>
              <a:t>(</a:t>
            </a:r>
            <a:r>
              <a:rPr sz="1550" b="0" i="0">
                <a:solidFill>
                  <a:srgbClr val="1F2328"/>
                </a:solidFill>
                <a:latin typeface="Courier New"/>
              </a:rPr>
              <a:t>ok</a:t>
            </a:r>
            <a:r>
              <a:rPr sz="1550" b="0" i="0">
                <a:solidFill>
                  <a:srgbClr val="1F2328"/>
                </a:solidFill>
                <a:latin typeface="Courier New"/>
              </a:rPr>
              <a:t>.</a:t>
            </a:r>
            <a:r>
              <a:rPr sz="1550" b="0" i="0">
                <a:solidFill>
                  <a:srgbClr val="1F2328"/>
                </a:solidFill>
                <a:latin typeface="Courier New"/>
              </a:rPr>
              <a:t>malaria_cases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2</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round</a:t>
            </a:r>
            <a:r>
              <a:rPr sz="1550" b="0" i="0">
                <a:solidFill>
                  <a:srgbClr val="1F2328"/>
                </a:solidFill>
                <a:latin typeface="Courier New"/>
              </a:rPr>
              <a:t>(</a:t>
            </a:r>
            <a:r>
              <a:rPr sz="1550" b="0" i="0">
                <a:solidFill>
                  <a:srgbClr val="1F2328"/>
                </a:solidFill>
                <a:latin typeface="Courier New"/>
              </a:rPr>
              <a:t>ok</a:t>
            </a:r>
            <a:r>
              <a:rPr sz="1550" b="0" i="0">
                <a:solidFill>
                  <a:srgbClr val="1F2328"/>
                </a:solidFill>
                <a:latin typeface="Courier New"/>
              </a:rPr>
              <a:t>.</a:t>
            </a:r>
            <a:r>
              <a:rPr sz="1550" b="0" i="0">
                <a:solidFill>
                  <a:srgbClr val="1F2328"/>
                </a:solidFill>
                <a:latin typeface="Courier New"/>
              </a:rPr>
              <a:t>rain_lag1</a:t>
            </a:r>
            <a:r>
              <a:rPr sz="1550" b="0" i="0">
                <a:solidFill>
                  <a:srgbClr val="1F2328"/>
                </a:solidFill>
                <a:latin typeface="Courier New"/>
              </a:rPr>
              <a:t>.</a:t>
            </a:r>
            <a:r>
              <a:rPr sz="1550" b="0" i="0">
                <a:solidFill>
                  <a:srgbClr val="1F2328"/>
                </a:solidFill>
                <a:latin typeface="Courier New"/>
              </a:rPr>
              <a:t>corr</a:t>
            </a:r>
            <a:r>
              <a:rPr sz="1550" b="0" i="0">
                <a:solidFill>
                  <a:srgbClr val="1F2328"/>
                </a:solidFill>
                <a:latin typeface="Courier New"/>
              </a:rPr>
              <a:t>(</a:t>
            </a:r>
            <a:r>
              <a:rPr sz="1550" b="0" i="0">
                <a:solidFill>
                  <a:srgbClr val="1F2328"/>
                </a:solidFill>
                <a:latin typeface="Courier New"/>
              </a:rPr>
              <a:t>ok</a:t>
            </a:r>
            <a:r>
              <a:rPr sz="1550" b="0" i="0">
                <a:solidFill>
                  <a:srgbClr val="1F2328"/>
                </a:solidFill>
                <a:latin typeface="Courier New"/>
              </a:rPr>
              <a:t>.</a:t>
            </a:r>
            <a:r>
              <a:rPr sz="1550" b="0" i="0">
                <a:solidFill>
                  <a:srgbClr val="1F2328"/>
                </a:solidFill>
                <a:latin typeface="Courier New"/>
              </a:rPr>
              <a:t>malaria_cases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2</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910583"/>
            <a:ext cx="6949440" cy="737616"/>
            <a:chOff x="685800" y="3910583"/>
            <a:chExt cx="6949440" cy="737616"/>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6675120" cy="371855"/>
            </a:xfrm>
            <a:prstGeom prst="rect">
              <a:avLst/>
            </a:prstGeom>
            <a:noFill/>
          </p:spPr>
          <p:txBody>
            <a:bodyPr wrap="none" lIns="0" rIns="0" tIns="0" bIns="0">
              <a:spAutoFit/>
            </a:bodyPr>
            <a:lstStyle/>
            <a:p>
              <a:r>
                <a:rPr sz="1400" b="0" i="0">
                  <a:solidFill>
                    <a:srgbClr val="1F2328"/>
                  </a:solidFill>
                  <a:latin typeface="Courier New"/>
                </a:rPr>
                <a:t>0.0</a:t>
              </a:r>
            </a:p>
            <a:p>
              <a:r>
                <a:rPr sz="1400" b="0" i="0">
                  <a:solidFill>
                    <a:srgbClr val="1F2328"/>
                  </a:solidFill>
                  <a:latin typeface="Courier New"/>
                </a:rPr>
                <a:t>0.37</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Group by district, then shift each column down by 1 or 12 rows.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first rows of each district have no past, so they are dropped.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Compare the two correlations.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lag that borrows from the wrong district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14</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300" b="0" i="0">
                  <a:solidFill>
                    <a:srgbClr val="F3F0EA"/>
                  </a:solidFill>
                  <a:latin typeface="Calibri"/>
                </a:rPr>
                <a:t>You write clinic.malaria_cases.shift(1) without grouping. It runs with no error and fills every row.</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first month of Gulu would get its value from the last month of the district above it in the file.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Sort by district and month, then group by district before you shift. Check one row by hand.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Cut the calendar at 1 January 2025</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606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31976"/>
          </a:xfrm>
          <a:prstGeom prst="rect">
            <a:avLst/>
          </a:prstGeom>
          <a:noFill/>
        </p:spPr>
        <p:txBody>
          <a:bodyPr wrap="none" lIns="0" rIns="0" tIns="0" bIns="0">
            <a:spAutoFit/>
          </a:bodyPr>
          <a:lstStyle/>
          <a:p>
            <a:r>
              <a:rPr sz="1700" b="0" i="0">
                <a:solidFill>
                  <a:srgbClr val="1F2328"/>
                </a:solidFill>
                <a:latin typeface="Courier New"/>
              </a:rPr>
              <a:t>feats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'cases_lag1'</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'cases_lag12'</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'rain_lag1'</a:t>
            </a:r>
            <a:r>
              <a:rPr sz="1700" b="0" i="0">
                <a:solidFill>
                  <a:srgbClr val="1F2328"/>
                </a:solidFill>
                <a:latin typeface="Courier New"/>
              </a:rPr>
              <a:t>]</a:t>
            </a:r>
          </a:p>
          <a:p>
            <a:r>
              <a:rPr sz="1700" b="0" i="0">
                <a:solidFill>
                  <a:srgbClr val="1F2328"/>
                </a:solidFill>
                <a:latin typeface="Courier New"/>
              </a:rPr>
              <a:t>ready</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clinic</a:t>
            </a:r>
            <a:r>
              <a:rPr sz="1700" b="0" i="0">
                <a:solidFill>
                  <a:srgbClr val="1F2328"/>
                </a:solidFill>
                <a:latin typeface="Courier New"/>
              </a:rPr>
              <a:t>.</a:t>
            </a:r>
            <a:r>
              <a:rPr sz="1700" b="0" i="0">
                <a:solidFill>
                  <a:srgbClr val="1F2328"/>
                </a:solidFill>
                <a:latin typeface="Courier New"/>
              </a:rPr>
              <a:t>dropna</a:t>
            </a:r>
            <a:r>
              <a:rPr sz="1700" b="0" i="0">
                <a:solidFill>
                  <a:srgbClr val="1F2328"/>
                </a:solidFill>
                <a:latin typeface="Courier New"/>
              </a:rPr>
              <a:t>(</a:t>
            </a:r>
            <a:r>
              <a:rPr sz="1700" b="0" i="0">
                <a:solidFill>
                  <a:srgbClr val="1F2328"/>
                </a:solidFill>
                <a:latin typeface="Courier New"/>
              </a:rPr>
              <a:t>subset</a:t>
            </a:r>
            <a:r>
              <a:rPr sz="1700" b="0" i="0">
                <a:solidFill>
                  <a:srgbClr val="1F2328"/>
                </a:solidFill>
                <a:latin typeface="Courier New"/>
              </a:rPr>
              <a:t>=</a:t>
            </a:r>
            <a:r>
              <a:rPr sz="1700" b="0" i="0">
                <a:solidFill>
                  <a:srgbClr val="1F2328"/>
                </a:solidFill>
                <a:latin typeface="Courier New"/>
              </a:rPr>
              <a:t>feats</a:t>
            </a:r>
            <a:r>
              <a:rPr sz="1700" b="0" i="0">
                <a:solidFill>
                  <a:srgbClr val="1F2328"/>
                </a:solidFill>
                <a:latin typeface="Courier New"/>
              </a:rPr>
              <a:t>)</a:t>
            </a:r>
          </a:p>
          <a:p>
            <a:r>
              <a:rPr sz="1700" b="0" i="0">
                <a:solidFill>
                  <a:srgbClr val="1F2328"/>
                </a:solidFill>
                <a:latin typeface="Courier New"/>
              </a:rPr>
              <a:t>train</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ready</a:t>
            </a:r>
            <a:r>
              <a:rPr sz="1700" b="0" i="0">
                <a:solidFill>
                  <a:srgbClr val="1F2328"/>
                </a:solidFill>
                <a:latin typeface="Courier New"/>
              </a:rPr>
              <a:t>[</a:t>
            </a:r>
            <a:r>
              <a:rPr sz="1700" b="0" i="0">
                <a:solidFill>
                  <a:srgbClr val="1F2328"/>
                </a:solidFill>
                <a:latin typeface="Courier New"/>
              </a:rPr>
              <a:t>ready</a:t>
            </a:r>
            <a:r>
              <a:rPr sz="1700" b="0" i="0">
                <a:solidFill>
                  <a:srgbClr val="1F2328"/>
                </a:solidFill>
                <a:latin typeface="Courier New"/>
              </a:rPr>
              <a:t>.</a:t>
            </a:r>
            <a:r>
              <a:rPr sz="1700" b="0" i="0">
                <a:solidFill>
                  <a:srgbClr val="1F2328"/>
                </a:solidFill>
                <a:latin typeface="Courier New"/>
              </a:rPr>
              <a:t>month</a:t>
            </a:r>
            <a:r>
              <a:rPr sz="1700" b="0" i="0">
                <a:solidFill>
                  <a:srgbClr val="1F2328"/>
                </a:solidFill>
                <a:latin typeface="Courier New"/>
              </a:rPr>
              <a:t> </a:t>
            </a:r>
            <a:r>
              <a:rPr sz="1700" b="0" i="0">
                <a:solidFill>
                  <a:srgbClr val="1F2328"/>
                </a:solidFill>
                <a:latin typeface="Courier New"/>
              </a:rPr>
              <a:t>&lt;</a:t>
            </a:r>
            <a:r>
              <a:rPr sz="1700" b="0" i="0">
                <a:solidFill>
                  <a:srgbClr val="1F2328"/>
                </a:solidFill>
                <a:latin typeface="Courier New"/>
              </a:rPr>
              <a:t> </a:t>
            </a:r>
            <a:r>
              <a:rPr sz="1700" b="0" i="0">
                <a:solidFill>
                  <a:srgbClr val="B04A2B"/>
                </a:solidFill>
                <a:latin typeface="Courier New"/>
              </a:rPr>
              <a:t>'2025-01-01'</a:t>
            </a:r>
            <a:r>
              <a:rPr sz="1700" b="0" i="0">
                <a:solidFill>
                  <a:srgbClr val="1F2328"/>
                </a:solidFill>
                <a:latin typeface="Courier New"/>
              </a:rPr>
              <a:t>]</a:t>
            </a:r>
          </a:p>
          <a:p>
            <a:r>
              <a:rPr sz="1700" b="0" i="0">
                <a:solidFill>
                  <a:srgbClr val="1F2328"/>
                </a:solidFill>
                <a:latin typeface="Courier New"/>
              </a:rPr>
              <a:t>test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ready</a:t>
            </a:r>
            <a:r>
              <a:rPr sz="1700" b="0" i="0">
                <a:solidFill>
                  <a:srgbClr val="1F2328"/>
                </a:solidFill>
                <a:latin typeface="Courier New"/>
              </a:rPr>
              <a:t>[</a:t>
            </a:r>
            <a:r>
              <a:rPr sz="1700" b="0" i="0">
                <a:solidFill>
                  <a:srgbClr val="1F2328"/>
                </a:solidFill>
                <a:latin typeface="Courier New"/>
              </a:rPr>
              <a:t>ready</a:t>
            </a:r>
            <a:r>
              <a:rPr sz="1700" b="0" i="0">
                <a:solidFill>
                  <a:srgbClr val="1F2328"/>
                </a:solidFill>
                <a:latin typeface="Courier New"/>
              </a:rPr>
              <a:t>.</a:t>
            </a:r>
            <a:r>
              <a:rPr sz="1700" b="0" i="0">
                <a:solidFill>
                  <a:srgbClr val="1F2328"/>
                </a:solidFill>
                <a:latin typeface="Courier New"/>
              </a:rPr>
              <a:t>month</a:t>
            </a:r>
            <a:r>
              <a:rPr sz="1700" b="0" i="0">
                <a:solidFill>
                  <a:srgbClr val="1F2328"/>
                </a:solidFill>
                <a:latin typeface="Courier New"/>
              </a:rPr>
              <a:t> </a:t>
            </a:r>
            <a:r>
              <a:rPr sz="1700" b="0" i="0">
                <a:solidFill>
                  <a:srgbClr val="1F2328"/>
                </a:solidFill>
                <a:latin typeface="Courier New"/>
              </a:rPr>
              <a:t>&gt;</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'2025-01-01'</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test</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3316224"/>
            <a:ext cx="6949440" cy="524256"/>
            <a:chOff x="685800" y="3316224"/>
            <a:chExt cx="6949440" cy="524256"/>
          </a:xfrm>
        </p:grpSpPr>
        <p:sp>
          <p:nvSpPr>
            <p:cNvPr id="8" name="TextBox 7"/>
            <p:cNvSpPr txBox="1"/>
            <p:nvPr/>
          </p:nvSpPr>
          <p:spPr>
            <a:xfrm>
              <a:off x="685800" y="3316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722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663696"/>
              <a:ext cx="6675120" cy="158496"/>
            </a:xfrm>
            <a:prstGeom prst="rect">
              <a:avLst/>
            </a:prstGeom>
            <a:noFill/>
          </p:spPr>
          <p:txBody>
            <a:bodyPr wrap="none" lIns="0" rIns="0" tIns="0" bIns="0">
              <a:spAutoFit/>
            </a:bodyPr>
            <a:lstStyle/>
            <a:p>
              <a:r>
                <a:rPr sz="1400" b="0" i="0">
                  <a:solidFill>
                    <a:srgbClr val="1F2328"/>
                  </a:solidFill>
                  <a:latin typeface="Courier New"/>
                </a:rPr>
                <a:t>432 144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Keep only the rows that have all three lag features.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Earlier months train the model. The twelve months of 2025 test it.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on the past, test on 2025</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2383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10921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numpy</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np</a:t>
            </a:r>
          </a:p>
          <a:p>
            <a:r>
              <a:rPr sz="1700" b="0" i="0">
                <a:solidFill>
                  <a:srgbClr val="1F2328"/>
                </a:solidFill>
                <a:latin typeface="Courier New"/>
              </a:rPr>
              <a:t> </a:t>
            </a:r>
          </a:p>
          <a:p>
            <a:r>
              <a:rPr sz="1700" b="0" i="0">
                <a:solidFill>
                  <a:srgbClr val="1F2328"/>
                </a:solidFill>
                <a:latin typeface="Courier New"/>
              </a:rPr>
              <a:t>X</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c_</a:t>
            </a:r>
            <a:r>
              <a:rPr sz="1700" b="0" i="0">
                <a:solidFill>
                  <a:srgbClr val="1F2328"/>
                </a:solidFill>
                <a:latin typeface="Courier New"/>
              </a:rPr>
              <a:t>[</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ones</a:t>
            </a:r>
            <a:r>
              <a:rPr sz="1700" b="0" i="0">
                <a:solidFill>
                  <a:srgbClr val="1F2328"/>
                </a:solidFill>
                <a:latin typeface="Courier New"/>
              </a:rPr>
              <a:t>(</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feats</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coef</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linalg</a:t>
            </a:r>
            <a:r>
              <a:rPr sz="1700" b="0" i="0">
                <a:solidFill>
                  <a:srgbClr val="1F2328"/>
                </a:solidFill>
                <a:latin typeface="Courier New"/>
              </a:rPr>
              <a:t>.</a:t>
            </a:r>
            <a:r>
              <a:rPr sz="1700" b="0" i="0">
                <a:solidFill>
                  <a:srgbClr val="1F2328"/>
                </a:solidFill>
                <a:latin typeface="Courier New"/>
              </a:rPr>
              <a:t>lstsq</a:t>
            </a:r>
            <a:r>
              <a:rPr sz="1700" b="0" i="0">
                <a:solidFill>
                  <a:srgbClr val="1F2328"/>
                </a:solidFill>
                <a:latin typeface="Courier New"/>
              </a:rPr>
              <a:t>(</a:t>
            </a:r>
            <a:r>
              <a:rPr sz="1700" b="0" i="0">
                <a:solidFill>
                  <a:srgbClr val="1F2328"/>
                </a:solidFill>
                <a:latin typeface="Courier New"/>
              </a:rPr>
              <a:t>X</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malaria_cases</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rcond</a:t>
            </a:r>
            <a:r>
              <a:rPr sz="1700" b="0" i="0">
                <a:solidFill>
                  <a:srgbClr val="1F2328"/>
                </a:solidFill>
                <a:latin typeface="Courier New"/>
              </a:rPr>
              <a:t>=</a:t>
            </a:r>
            <a:r>
              <a:rPr sz="1700" b="1" i="0">
                <a:solidFill>
                  <a:srgbClr val="1F2328"/>
                </a:solidFill>
                <a:latin typeface="Courier New"/>
              </a:rPr>
              <a:t>None</a:t>
            </a:r>
            <a:r>
              <a:rPr sz="1700" b="0" i="0">
                <a:solidFill>
                  <a:srgbClr val="1F2328"/>
                </a:solidFill>
                <a:latin typeface="Courier New"/>
              </a:rPr>
              <a:t>)</a:t>
            </a:r>
            <a:r>
              <a:rPr sz="1700" b="0" i="0">
                <a:solidFill>
                  <a:srgbClr val="1F2328"/>
                </a:solidFill>
                <a:latin typeface="Courier New"/>
              </a:rPr>
              <a:t>[</a:t>
            </a:r>
            <a:r>
              <a:rPr sz="1700" b="0" i="0">
                <a:solidFill>
                  <a:srgbClr val="3B4046"/>
                </a:solidFill>
                <a:latin typeface="Courier New"/>
              </a:rPr>
              <a:t>0</a:t>
            </a:r>
            <a:r>
              <a:rPr sz="1700" b="0" i="0">
                <a:solidFill>
                  <a:srgbClr val="1F2328"/>
                </a:solidFill>
                <a:latin typeface="Courier New"/>
              </a:rPr>
              <a:t>]</a:t>
            </a:r>
          </a:p>
          <a:p>
            <a:r>
              <a:rPr sz="1700" b="0" i="0">
                <a:solidFill>
                  <a:srgbClr val="1F2328"/>
                </a:solidFill>
                <a:latin typeface="Courier New"/>
              </a:rPr>
              <a:t>pred</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c_</a:t>
            </a:r>
            <a:r>
              <a:rPr sz="1700" b="0" i="0">
                <a:solidFill>
                  <a:srgbClr val="1F2328"/>
                </a:solidFill>
                <a:latin typeface="Courier New"/>
              </a:rPr>
              <a:t>[</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ones</a:t>
            </a:r>
            <a:r>
              <a:rPr sz="1700" b="0" i="0">
                <a:solidFill>
                  <a:srgbClr val="1F2328"/>
                </a:solidFill>
                <a:latin typeface="Courier New"/>
              </a:rPr>
              <a:t>(</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test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test</a:t>
            </a:r>
            <a:r>
              <a:rPr sz="1700" b="0" i="0">
                <a:solidFill>
                  <a:srgbClr val="1F2328"/>
                </a:solidFill>
                <a:latin typeface="Courier New"/>
              </a:rPr>
              <a:t>[</a:t>
            </a:r>
            <a:r>
              <a:rPr sz="1700" b="0" i="0">
                <a:solidFill>
                  <a:srgbClr val="1F2328"/>
                </a:solidFill>
                <a:latin typeface="Courier New"/>
              </a:rPr>
              <a:t>feats</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coef</a:t>
            </a:r>
          </a:p>
          <a:p>
            <a:r>
              <a:rPr sz="1700" b="0" i="0">
                <a:solidFill>
                  <a:srgbClr val="1F2328"/>
                </a:solidFill>
                <a:latin typeface="Courier New"/>
              </a:rPr>
              <a:t>y</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test</a:t>
            </a:r>
            <a:r>
              <a:rPr sz="1700" b="0" i="0">
                <a:solidFill>
                  <a:srgbClr val="1F2328"/>
                </a:solidFill>
                <a:latin typeface="Courier New"/>
              </a:rPr>
              <a:t>.</a:t>
            </a:r>
            <a:r>
              <a:rPr sz="1700" b="0" i="0">
                <a:solidFill>
                  <a:srgbClr val="1F2328"/>
                </a:solidFill>
                <a:latin typeface="Courier New"/>
              </a:rPr>
              <a:t>malaria_cases</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'naive'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round</a:t>
            </a:r>
            <a:r>
              <a:rPr sz="1700" b="0" i="0">
                <a:solidFill>
                  <a:srgbClr val="1F2328"/>
                </a:solidFill>
                <a:latin typeface="Courier New"/>
              </a:rPr>
              <a:t>(</a:t>
            </a:r>
            <a:r>
              <a:rPr sz="1700" b="0" i="0">
                <a:solidFill>
                  <a:srgbClr val="1F2328"/>
                </a:solidFill>
                <a:latin typeface="Courier New"/>
              </a:rPr>
              <a:t>abs</a:t>
            </a:r>
            <a:r>
              <a:rPr sz="1700" b="0" i="0">
                <a:solidFill>
                  <a:srgbClr val="1F2328"/>
                </a:solidFill>
                <a:latin typeface="Courier New"/>
              </a:rPr>
              <a:t>(</a:t>
            </a:r>
            <a:r>
              <a:rPr sz="1700" b="0" i="0">
                <a:solidFill>
                  <a:srgbClr val="1F2328"/>
                </a:solidFill>
                <a:latin typeface="Courier New"/>
              </a:rPr>
              <a:t>y</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test</a:t>
            </a:r>
            <a:r>
              <a:rPr sz="1700" b="0" i="0">
                <a:solidFill>
                  <a:srgbClr val="1F2328"/>
                </a:solidFill>
                <a:latin typeface="Courier New"/>
              </a:rPr>
              <a:t>.</a:t>
            </a:r>
            <a:r>
              <a:rPr sz="1700" b="0" i="0">
                <a:solidFill>
                  <a:srgbClr val="1F2328"/>
                </a:solidFill>
                <a:latin typeface="Courier New"/>
              </a:rPr>
              <a:t>cases_lag12</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mean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'model'</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round</a:t>
            </a:r>
            <a:r>
              <a:rPr sz="1700" b="0" i="0">
                <a:solidFill>
                  <a:srgbClr val="1F2328"/>
                </a:solidFill>
                <a:latin typeface="Courier New"/>
              </a:rPr>
              <a:t>(</a:t>
            </a:r>
            <a:r>
              <a:rPr sz="1700" b="0" i="0">
                <a:solidFill>
                  <a:srgbClr val="1F2328"/>
                </a:solidFill>
                <a:latin typeface="Courier New"/>
              </a:rPr>
              <a:t>abs</a:t>
            </a:r>
            <a:r>
              <a:rPr sz="1700" b="0" i="0">
                <a:solidFill>
                  <a:srgbClr val="1F2328"/>
                </a:solidFill>
                <a:latin typeface="Courier New"/>
              </a:rPr>
              <a:t>(</a:t>
            </a:r>
            <a:r>
              <a:rPr sz="1700" b="0" i="0">
                <a:solidFill>
                  <a:srgbClr val="1F2328"/>
                </a:solidFill>
                <a:latin typeface="Courier New"/>
              </a:rPr>
              <a:t>y</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pred</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mean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4093464"/>
            <a:ext cx="10820095" cy="737615"/>
            <a:chOff x="685800" y="4093464"/>
            <a:chExt cx="10820095" cy="737615"/>
          </a:xfrm>
        </p:grpSpPr>
        <p:sp>
          <p:nvSpPr>
            <p:cNvPr id="8" name="TextBox 7"/>
            <p:cNvSpPr txBox="1"/>
            <p:nvPr/>
          </p:nvSpPr>
          <p:spPr>
            <a:xfrm>
              <a:off x="685800" y="40934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4949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40936"/>
              <a:ext cx="10545775" cy="371855"/>
            </a:xfrm>
            <a:prstGeom prst="rect">
              <a:avLst/>
            </a:prstGeom>
            <a:noFill/>
          </p:spPr>
          <p:txBody>
            <a:bodyPr wrap="none" lIns="0" rIns="0" tIns="0" bIns="0">
              <a:spAutoFit/>
            </a:bodyPr>
            <a:lstStyle/>
            <a:p>
              <a:r>
                <a:rPr sz="1400" b="0" i="0">
                  <a:solidFill>
                    <a:srgbClr val="1F2328"/>
                  </a:solidFill>
                  <a:latin typeface="Courier New"/>
                </a:rPr>
                <a:t>naive 461</a:t>
              </a:r>
            </a:p>
            <a:p>
              <a:r>
                <a:rPr sz="1400" b="0" i="0">
                  <a:solidFill>
                    <a:srgbClr val="1F2328"/>
                  </a:solidFill>
                  <a:latin typeface="Courier New"/>
                </a:rPr>
                <a:t>model 338</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Fit a straight-line model on the training rows only.</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Predict the test rows. This is the whole model.</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Score the naive forecast and the model the same way.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Judge the error in cases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461</a:t>
            </a:r>
          </a:p>
        </p:txBody>
      </p:sp>
      <p:sp>
        <p:nvSpPr>
          <p:cNvPr id="7" name="TextBox 6"/>
          <p:cNvSpPr txBox="1"/>
          <p:nvPr/>
        </p:nvSpPr>
        <p:spPr>
          <a:xfrm>
            <a:off x="5257800" y="1645920"/>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Seasonal naive: average miss in cases</a:t>
            </a:r>
          </a:p>
        </p:txBody>
      </p:sp>
      <p:cxnSp>
        <p:nvCxnSpPr>
          <p:cNvPr id="8" name="Connector 7"/>
          <p:cNvCxnSpPr/>
          <p:nvPr/>
        </p:nvCxnSpPr>
        <p:spPr>
          <a:xfrm>
            <a:off x="685800" y="2651760"/>
            <a:ext cx="10820095" cy="0"/>
          </a:xfrm>
          <a:prstGeom prst="line">
            <a:avLst/>
          </a:prstGeom>
          <a:ln w="6350">
            <a:solidFill>
              <a:srgbClr val="C9C5BC"/>
            </a:solidFill>
          </a:ln>
        </p:spPr>
      </p:cxnSp>
      <p:sp>
        <p:nvSpPr>
          <p:cNvPr id="9" name="TextBox 8"/>
          <p:cNvSpPr txBox="1"/>
          <p:nvPr/>
        </p:nvSpPr>
        <p:spPr>
          <a:xfrm>
            <a:off x="685800" y="269747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338</a:t>
            </a:r>
          </a:p>
        </p:txBody>
      </p:sp>
      <p:sp>
        <p:nvSpPr>
          <p:cNvPr id="10" name="TextBox 9"/>
          <p:cNvSpPr txBox="1"/>
          <p:nvPr/>
        </p:nvSpPr>
        <p:spPr>
          <a:xfrm>
            <a:off x="5257800" y="269747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Lag model: average miss in cases</a:t>
            </a:r>
          </a:p>
        </p:txBody>
      </p:sp>
      <p:cxnSp>
        <p:nvCxnSpPr>
          <p:cNvPr id="11" name="Connector 10"/>
          <p:cNvCxnSpPr/>
          <p:nvPr/>
        </p:nvCxnSpPr>
        <p:spPr>
          <a:xfrm>
            <a:off x="685800" y="3703320"/>
            <a:ext cx="10820095" cy="0"/>
          </a:xfrm>
          <a:prstGeom prst="line">
            <a:avLst/>
          </a:prstGeom>
          <a:ln w="6350">
            <a:solidFill>
              <a:srgbClr val="C9C5BC"/>
            </a:solidFill>
          </a:ln>
        </p:spPr>
      </p:cxnSp>
      <p:sp>
        <p:nvSpPr>
          <p:cNvPr id="12" name="TextBox 11"/>
          <p:cNvSpPr txBox="1"/>
          <p:nvPr/>
        </p:nvSpPr>
        <p:spPr>
          <a:xfrm>
            <a:off x="685800" y="374903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2,403</a:t>
            </a:r>
          </a:p>
        </p:txBody>
      </p:sp>
      <p:sp>
        <p:nvSpPr>
          <p:cNvPr id="13" name="TextBox 12"/>
          <p:cNvSpPr txBox="1"/>
          <p:nvPr/>
        </p:nvSpPr>
        <p:spPr>
          <a:xfrm>
            <a:off x="5257800" y="374903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Average cases per district-month in 2025</a:t>
            </a:r>
          </a:p>
        </p:txBody>
      </p:sp>
      <p:cxnSp>
        <p:nvCxnSpPr>
          <p:cNvPr id="14" name="Connector 13"/>
          <p:cNvCxnSpPr/>
          <p:nvPr/>
        </p:nvCxnSpPr>
        <p:spPr>
          <a:xfrm>
            <a:off x="685800" y="4754879"/>
            <a:ext cx="10820095" cy="0"/>
          </a:xfrm>
          <a:prstGeom prst="line">
            <a:avLst/>
          </a:prstGeom>
          <a:ln w="6350">
            <a:solidFill>
              <a:srgbClr val="C9C5BC"/>
            </a:solidFill>
          </a:ln>
        </p:spPr>
      </p:cxnSp>
      <p:sp>
        <p:nvSpPr>
          <p:cNvPr id="15" name="TextBox 14"/>
          <p:cNvSpPr txBox="1"/>
          <p:nvPr/>
        </p:nvSpPr>
        <p:spPr>
          <a:xfrm>
            <a:off x="685800" y="502919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A miss of 338 against 2,403 is about 14 percent. A district manager can plan stock around that.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pipeline packs the whole job into one object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TextBox 4"/>
          <p:cNvSpPr txBox="1"/>
          <p:nvPr/>
        </p:nvSpPr>
        <p:spPr>
          <a:xfrm>
            <a:off x="685800" y="1600200"/>
            <a:ext cx="10820095" cy="914400"/>
          </a:xfrm>
          <a:prstGeom prst="rect">
            <a:avLst/>
          </a:prstGeom>
          <a:noFill/>
        </p:spPr>
        <p:txBody>
          <a:bodyPr wrap="square" lIns="0" rIns="0" tIns="18288" bIns="18288" anchor="t">
            <a:spAutoFit/>
          </a:bodyPr>
          <a:lstStyle/>
          <a:p>
            <a:pPr algn="l"/>
            <a:r>
              <a:rPr sz="2400" b="0" i="0">
                <a:solidFill>
                  <a:srgbClr val="1F2328"/>
                </a:solidFill>
                <a:latin typeface="Cambria"/>
              </a:rPr>
              <a:t>A Pipeline is a list of steps that always run in the same order, on training data and test data alike.</a:t>
            </a:r>
          </a:p>
        </p:txBody>
      </p:sp>
      <p:pic>
        <p:nvPicPr>
          <p:cNvPr id="6" name="figure-sklearn_pipeline" descr="Blocks in a row: impute missing values, scale numbers, encode categories, then fit a model, all packed into one pipeline."/>
          <p:cNvPicPr>
            <a:picLocks noChangeAspect="1"/>
          </p:cNvPicPr>
          <p:nvPr/>
        </p:nvPicPr>
        <p:blipFill>
          <a:blip r:embed="rId3"/>
          <a:stretch>
            <a:fillRect/>
          </a:stretch>
        </p:blipFill>
        <p:spPr>
          <a:xfrm>
            <a:off x="685800" y="2470708"/>
            <a:ext cx="5334000" cy="2286000"/>
          </a:xfrm>
          <a:prstGeom prst="rect">
            <a:avLst/>
          </a:prstGeom>
        </p:spPr>
      </p:pic>
      <p:cxnSp>
        <p:nvCxnSpPr>
          <p:cNvPr id="7" name="Connector 6"/>
          <p:cNvCxnSpPr/>
          <p:nvPr/>
        </p:nvCxnSpPr>
        <p:spPr>
          <a:xfrm>
            <a:off x="685800" y="4939588"/>
            <a:ext cx="3362858" cy="0"/>
          </a:xfrm>
          <a:prstGeom prst="line">
            <a:avLst/>
          </a:prstGeom>
          <a:ln w="15875">
            <a:solidFill>
              <a:srgbClr val="1F2328"/>
            </a:solidFill>
          </a:ln>
        </p:spPr>
      </p:cxnSp>
      <p:sp>
        <p:nvSpPr>
          <p:cNvPr id="8" name="TextBox 7"/>
          <p:cNvSpPr txBox="1"/>
          <p:nvPr/>
        </p:nvSpPr>
        <p:spPr>
          <a:xfrm>
            <a:off x="685800"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Fill. </a:t>
            </a:r>
            <a:r>
              <a:rPr sz="2000" b="0" i="0">
                <a:solidFill>
                  <a:srgbClr val="3B4046"/>
                </a:solidFill>
                <a:latin typeface="Calibri"/>
              </a:rPr>
              <a:t>Replace blanks with a stated rule.</a:t>
            </a:r>
          </a:p>
        </p:txBody>
      </p:sp>
      <p:cxnSp>
        <p:nvCxnSpPr>
          <p:cNvPr id="9" name="Connector 8"/>
          <p:cNvCxnSpPr/>
          <p:nvPr/>
        </p:nvCxnSpPr>
        <p:spPr>
          <a:xfrm>
            <a:off x="4414418" y="4939588"/>
            <a:ext cx="3362858" cy="0"/>
          </a:xfrm>
          <a:prstGeom prst="line">
            <a:avLst/>
          </a:prstGeom>
          <a:ln w="15875">
            <a:solidFill>
              <a:srgbClr val="1F2328"/>
            </a:solidFill>
          </a:ln>
        </p:spPr>
      </p:cxnSp>
      <p:sp>
        <p:nvSpPr>
          <p:cNvPr id="10" name="TextBox 9"/>
          <p:cNvSpPr txBox="1"/>
          <p:nvPr/>
        </p:nvSpPr>
        <p:spPr>
          <a:xfrm>
            <a:off x="4414418"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Encode. </a:t>
            </a:r>
            <a:r>
              <a:rPr sz="2000" b="0" i="0">
                <a:solidFill>
                  <a:srgbClr val="3B4046"/>
                </a:solidFill>
                <a:latin typeface="Calibri"/>
              </a:rPr>
              <a:t>Turn the district name into columns of 0 and 1.</a:t>
            </a:r>
          </a:p>
        </p:txBody>
      </p:sp>
      <p:cxnSp>
        <p:nvCxnSpPr>
          <p:cNvPr id="11" name="Connector 10"/>
          <p:cNvCxnSpPr/>
          <p:nvPr/>
        </p:nvCxnSpPr>
        <p:spPr>
          <a:xfrm>
            <a:off x="8143036" y="4939588"/>
            <a:ext cx="3362859" cy="0"/>
          </a:xfrm>
          <a:prstGeom prst="line">
            <a:avLst/>
          </a:prstGeom>
          <a:ln w="15875">
            <a:solidFill>
              <a:srgbClr val="1F2328"/>
            </a:solidFill>
          </a:ln>
        </p:spPr>
      </p:cxnSp>
      <p:sp>
        <p:nvSpPr>
          <p:cNvPr id="12" name="TextBox 11"/>
          <p:cNvSpPr txBox="1"/>
          <p:nvPr/>
        </p:nvSpPr>
        <p:spPr>
          <a:xfrm>
            <a:off x="8143036"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Fit. </a:t>
            </a:r>
            <a:r>
              <a:rPr sz="2000" b="0" i="0">
                <a:solidFill>
                  <a:srgbClr val="3B4046"/>
                </a:solidFill>
                <a:latin typeface="Calibri"/>
              </a:rPr>
              <a:t>The model comes last, in the same object.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Pipeline syntax in scikit-learn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34198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45536"/>
          </a:xfrm>
          <a:prstGeom prst="rect">
            <a:avLst/>
          </a:prstGeom>
          <a:noFill/>
        </p:spPr>
        <p:txBody>
          <a:bodyPr wrap="none" lIns="0" rIns="0" tIns="0" bIns="0">
            <a:spAutoFit/>
          </a:bodyPr>
          <a:lstStyle/>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pipeline</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Pipeline</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compose</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ColumnTransformer</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impute</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SimpleImputer</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preprocessing</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OneHotEncoder</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linear_model</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LinearRegression</a:t>
            </a:r>
          </a:p>
          <a:p>
            <a:r>
              <a:rPr sz="1700" b="0" i="0">
                <a:solidFill>
                  <a:srgbClr val="1F2328"/>
                </a:solidFill>
                <a:latin typeface="Courier New"/>
              </a:rPr>
              <a:t> </a:t>
            </a:r>
          </a:p>
          <a:p>
            <a:r>
              <a:rPr sz="1700" b="0" i="0">
                <a:solidFill>
                  <a:srgbClr val="1F2328"/>
                </a:solidFill>
                <a:latin typeface="Courier New"/>
              </a:rPr>
              <a:t>num</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'cases_lag1'</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'cases_lag12'</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'rain_lag1'</a:t>
            </a:r>
            <a:r>
              <a:rPr sz="1700" b="0" i="0">
                <a:solidFill>
                  <a:srgbClr val="1F2328"/>
                </a:solidFill>
                <a:latin typeface="Courier New"/>
              </a:rPr>
              <a:t>]</a:t>
            </a:r>
          </a:p>
          <a:p>
            <a:r>
              <a:rPr sz="1700" b="0" i="0">
                <a:solidFill>
                  <a:srgbClr val="1F2328"/>
                </a:solidFill>
                <a:latin typeface="Courier New"/>
              </a:rPr>
              <a:t>prep</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ColumnTransformer</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'num'</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SimpleImputer</a:t>
            </a:r>
            <a:r>
              <a:rPr sz="1700" b="0" i="0">
                <a:solidFill>
                  <a:srgbClr val="1F2328"/>
                </a:solidFill>
                <a:latin typeface="Courier New"/>
              </a:rPr>
              <a:t>(</a:t>
            </a:r>
            <a:r>
              <a:rPr sz="1700" b="0" i="0">
                <a:solidFill>
                  <a:srgbClr val="1F2328"/>
                </a:solidFill>
                <a:latin typeface="Courier New"/>
              </a:rPr>
              <a:t>strategy</a:t>
            </a:r>
            <a:r>
              <a:rPr sz="1700" b="0" i="0">
                <a:solidFill>
                  <a:srgbClr val="1F2328"/>
                </a:solidFill>
                <a:latin typeface="Courier New"/>
              </a:rPr>
              <a:t>=</a:t>
            </a:r>
            <a:r>
              <a:rPr sz="1700" b="0" i="0">
                <a:solidFill>
                  <a:srgbClr val="B04A2B"/>
                </a:solidFill>
                <a:latin typeface="Courier New"/>
              </a:rPr>
              <a:t>'median'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num</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'cat'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OneHotEncoder</a:t>
            </a:r>
            <a:r>
              <a:rPr sz="1700" b="0" i="0">
                <a:solidFill>
                  <a:srgbClr val="1F2328"/>
                </a:solidFill>
                <a:latin typeface="Courier New"/>
              </a:rPr>
              <a:t>(</a:t>
            </a:r>
            <a:r>
              <a:rPr sz="1700" b="0" i="0">
                <a:solidFill>
                  <a:srgbClr val="1F2328"/>
                </a:solidFill>
                <a:latin typeface="Courier New"/>
              </a:rPr>
              <a:t>handle_unknown</a:t>
            </a:r>
            <a:r>
              <a:rPr sz="1700" b="0" i="0">
                <a:solidFill>
                  <a:srgbClr val="1F2328"/>
                </a:solidFill>
                <a:latin typeface="Courier New"/>
              </a:rPr>
              <a:t>=</a:t>
            </a:r>
            <a:r>
              <a:rPr sz="1700" b="0" i="0">
                <a:solidFill>
                  <a:srgbClr val="B04A2B"/>
                </a:solidFill>
                <a:latin typeface="Courier New"/>
              </a:rPr>
              <a:t>'ignore'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'district'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model</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Pipeline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'prep'</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prep</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'fit'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LinearRegression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model</a:t>
            </a:r>
            <a:r>
              <a:rPr sz="1700" b="0" i="0">
                <a:solidFill>
                  <a:srgbClr val="1F2328"/>
                </a:solidFill>
                <a:latin typeface="Courier New"/>
              </a:rPr>
              <a:t>.</a:t>
            </a:r>
            <a:r>
              <a:rPr sz="1700" b="0" i="0">
                <a:solidFill>
                  <a:srgbClr val="1F2328"/>
                </a:solidFill>
                <a:latin typeface="Courier New"/>
              </a:rPr>
              <a:t>fit</a:t>
            </a:r>
            <a:r>
              <a:rPr sz="1700" b="0" i="0">
                <a:solidFill>
                  <a:srgbClr val="1F2328"/>
                </a:solidFill>
                <a:latin typeface="Courier New"/>
              </a:rPr>
              <a:t>(</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num</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B04A2B"/>
                </a:solidFill>
                <a:latin typeface="Courier New"/>
              </a:rPr>
              <a:t>'district'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train</a:t>
            </a:r>
            <a:r>
              <a:rPr sz="1700" b="0" i="0">
                <a:solidFill>
                  <a:srgbClr val="1F2328"/>
                </a:solidFill>
                <a:latin typeface="Courier New"/>
              </a:rPr>
              <a:t>.</a:t>
            </a:r>
            <a:r>
              <a:rPr sz="1700" b="0" i="0">
                <a:solidFill>
                  <a:srgbClr val="1F2328"/>
                </a:solidFill>
                <a:latin typeface="Courier New"/>
              </a:rPr>
              <a:t>malaria_cases</a:t>
            </a:r>
            <a:r>
              <a:rPr sz="1700" b="0" i="0">
                <a:solidFill>
                  <a:srgbClr val="1F2328"/>
                </a:solidFill>
                <a:latin typeface="Courier New"/>
              </a:rPr>
              <a:t>)</a:t>
            </a:r>
          </a:p>
        </p:txBody>
      </p:sp>
      <p:grpSp>
        <p:nvGrpSpPr>
          <p:cNvPr id="7" name="says-1"/>
          <p:cNvGrpSpPr/>
          <p:nvPr/>
        </p:nvGrpSpPr>
        <p:grpSpPr>
          <a:xfrm>
            <a:off x="685800" y="5129784"/>
            <a:ext cx="3332378" cy="1069847"/>
            <a:chOff x="685800" y="5129784"/>
            <a:chExt cx="3332378" cy="1069847"/>
          </a:xfrm>
        </p:grpSpPr>
        <p:cxnSp>
          <p:nvCxnSpPr>
            <p:cNvPr id="8" name="Connector 7"/>
            <p:cNvCxnSpPr/>
            <p:nvPr/>
          </p:nvCxnSpPr>
          <p:spPr>
            <a:xfrm>
              <a:off x="685800" y="5129784"/>
              <a:ext cx="3332378" cy="0"/>
            </a:xfrm>
            <a:prstGeom prst="line">
              <a:avLst/>
            </a:prstGeom>
            <a:ln w="15875">
              <a:solidFill>
                <a:srgbClr val="1F2328"/>
              </a:solidFill>
            </a:ln>
          </p:spPr>
        </p:cxnSp>
        <p:sp>
          <p:nvSpPr>
            <p:cNvPr id="9" name="TextBox 8"/>
            <p:cNvSpPr txBox="1"/>
            <p:nvPr/>
          </p:nvSpPr>
          <p:spPr>
            <a:xfrm>
              <a:off x="685800"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202936"/>
              <a:ext cx="2984906" cy="996695"/>
            </a:xfrm>
            <a:prstGeom prst="rect">
              <a:avLst/>
            </a:prstGeom>
            <a:noFill/>
          </p:spPr>
          <p:txBody>
            <a:bodyPr wrap="square" lIns="0" rIns="0" tIns="18288" bIns="18288" anchor="t">
              <a:spAutoFit/>
            </a:bodyPr>
            <a:lstStyle/>
            <a:p>
              <a:pPr algn="l"/>
              <a:r>
                <a:rPr sz="1900" b="0" i="0">
                  <a:solidFill>
                    <a:srgbClr val="1F2328"/>
                  </a:solidFill>
                  <a:latin typeface="Calibri"/>
                </a:rPr>
                <a:t>A ColumnTransformer gives each group of columns its own treatment.</a:t>
              </a:r>
            </a:p>
          </p:txBody>
        </p:sp>
      </p:grpSp>
      <p:grpSp>
        <p:nvGrpSpPr>
          <p:cNvPr id="11" name="says-2"/>
          <p:cNvGrpSpPr/>
          <p:nvPr/>
        </p:nvGrpSpPr>
        <p:grpSpPr>
          <a:xfrm>
            <a:off x="4429658" y="5129784"/>
            <a:ext cx="3332378" cy="1069847"/>
            <a:chOff x="4429658" y="5129784"/>
            <a:chExt cx="3332378" cy="1069847"/>
          </a:xfrm>
        </p:grpSpPr>
        <p:cxnSp>
          <p:nvCxnSpPr>
            <p:cNvPr id="12" name="Connector 11"/>
            <p:cNvCxnSpPr/>
            <p:nvPr/>
          </p:nvCxnSpPr>
          <p:spPr>
            <a:xfrm>
              <a:off x="4429658" y="5129784"/>
              <a:ext cx="3332378" cy="0"/>
            </a:xfrm>
            <a:prstGeom prst="line">
              <a:avLst/>
            </a:prstGeom>
            <a:ln w="15875">
              <a:solidFill>
                <a:srgbClr val="1F2328"/>
              </a:solidFill>
            </a:ln>
          </p:spPr>
        </p:cxnSp>
        <p:sp>
          <p:nvSpPr>
            <p:cNvPr id="13" name="TextBox 12"/>
            <p:cNvSpPr txBox="1"/>
            <p:nvPr/>
          </p:nvSpPr>
          <p:spPr>
            <a:xfrm>
              <a:off x="4429658"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202936"/>
              <a:ext cx="2984906" cy="996695"/>
            </a:xfrm>
            <a:prstGeom prst="rect">
              <a:avLst/>
            </a:prstGeom>
            <a:noFill/>
          </p:spPr>
          <p:txBody>
            <a:bodyPr wrap="square" lIns="0" rIns="0" tIns="18288" bIns="18288" anchor="t">
              <a:spAutoFit/>
            </a:bodyPr>
            <a:lstStyle/>
            <a:p>
              <a:pPr algn="l"/>
              <a:r>
                <a:rPr sz="1900" b="0" i="0">
                  <a:solidFill>
                    <a:srgbClr val="1F2328"/>
                  </a:solidFill>
                  <a:latin typeface="Calibri"/>
                </a:rPr>
                <a:t>Pipeline chains the preparation and the model in one object.</a:t>
              </a:r>
            </a:p>
          </p:txBody>
        </p:sp>
      </p:grpSp>
      <p:grpSp>
        <p:nvGrpSpPr>
          <p:cNvPr id="15" name="says-3"/>
          <p:cNvGrpSpPr/>
          <p:nvPr/>
        </p:nvGrpSpPr>
        <p:grpSpPr>
          <a:xfrm>
            <a:off x="8173516" y="5129784"/>
            <a:ext cx="3332379" cy="1069847"/>
            <a:chOff x="8173516" y="5129784"/>
            <a:chExt cx="3332379" cy="1069847"/>
          </a:xfrm>
        </p:grpSpPr>
        <p:cxnSp>
          <p:nvCxnSpPr>
            <p:cNvPr id="16" name="Connector 15"/>
            <p:cNvCxnSpPr/>
            <p:nvPr/>
          </p:nvCxnSpPr>
          <p:spPr>
            <a:xfrm>
              <a:off x="8173516" y="5129784"/>
              <a:ext cx="3332379" cy="0"/>
            </a:xfrm>
            <a:prstGeom prst="line">
              <a:avLst/>
            </a:prstGeom>
            <a:ln w="15875">
              <a:solidFill>
                <a:srgbClr val="1F2328"/>
              </a:solidFill>
            </a:ln>
          </p:spPr>
        </p:cxnSp>
        <p:sp>
          <p:nvSpPr>
            <p:cNvPr id="17" name="TextBox 16"/>
            <p:cNvSpPr txBox="1"/>
            <p:nvPr/>
          </p:nvSpPr>
          <p:spPr>
            <a:xfrm>
              <a:off x="8173516"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202936"/>
              <a:ext cx="2984906" cy="996695"/>
            </a:xfrm>
            <a:prstGeom prst="rect">
              <a:avLst/>
            </a:prstGeom>
            <a:noFill/>
          </p:spPr>
          <p:txBody>
            <a:bodyPr wrap="square" lIns="0" rIns="0" tIns="18288" bIns="18288" anchor="t">
              <a:spAutoFit/>
            </a:bodyPr>
            <a:lstStyle/>
            <a:p>
              <a:pPr algn="l"/>
              <a:r>
                <a:rPr sz="1900" b="0" i="0">
                  <a:solidFill>
                    <a:srgbClr val="1F2328"/>
                  </a:solidFill>
                  <a:latin typeface="Calibri"/>
                </a:rPr>
                <a:t>fit learns from the training rows only.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00" b="1" i="0">
                <a:solidFill>
                  <a:srgbClr val="1F2328"/>
                </a:solidFill>
                <a:latin typeface="Cambria"/>
              </a:rPr>
              <a:t>The capstone timeline: today is the baseline and tested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graphicFrame>
        <p:nvGraphicFramePr>
          <p:cNvPr id="5" name="Table"/>
          <p:cNvGraphicFramePr>
            <a:graphicFrameLocks noGrp="1"/>
          </p:cNvGraphicFramePr>
          <p:nvPr/>
        </p:nvGraphicFramePr>
        <p:xfrm>
          <a:off x="685800" y="1600200"/>
          <a:ext cx="10820095" cy="3566160"/>
        </p:xfrm>
        <a:graphic>
          <a:graphicData uri="http://schemas.openxmlformats.org/drawingml/2006/table">
            <a:tbl>
              <a:tblPr firstRow="0" bandRow="0">
                <a:tableStyleId>{2D5ABB26-0587-4C30-8999-92F81FD0307C}</a:tableStyleId>
              </a:tblPr>
              <a:tblGrid>
                <a:gridCol w="1803349"/>
                <a:gridCol w="9016746"/>
              </a:tblGrid>
              <a:tr h="594360">
                <a:tc>
                  <a:txBody>
                    <a:bodyPr wrap="square"/>
                    <a:lstStyle/>
                    <a:p>
                      <a:r>
                        <a:rPr sz="2200" b="1" i="0">
                          <a:solidFill>
                            <a:srgbClr val="1F2328"/>
                          </a:solidFill>
                          <a:latin typeface="Calibri"/>
                        </a:rPr>
                        <a:t>Session</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Capstone step</a:t>
                      </a:r>
                    </a:p>
                  </a:txBody>
                  <a:tcPr marL="137160" marR="91440" marT="64008" marB="64008" anchor="ctr">
                    <a:lnL w="0">
                      <a:noFill/>
                    </a:lnL>
                    <a:lnR w="0">
                      <a:noFill/>
                    </a:lnR>
                    <a:lnT w="0">
                      <a:noFill/>
                    </a:lnT>
                    <a:lnB w="15875">
                      <a:solidFill>
                        <a:srgbClr val="1F2328"/>
                      </a:solidFill>
                    </a:lnB>
                    <a:noFill/>
                  </a:tcPr>
                </a:tc>
              </a:tr>
              <a:tr h="594360">
                <a:tc>
                  <a:txBody>
                    <a:bodyPr wrap="square"/>
                    <a:lstStyle/>
                    <a:p>
                      <a:r>
                        <a:rPr sz="2200" b="0" i="0">
                          <a:solidFill>
                            <a:srgbClr val="3B4046"/>
                          </a:solidFill>
                          <a:latin typeface="Calibri"/>
                        </a:rPr>
                        <a:t>13</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Write and scope the question</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14</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Choose the dataset</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1" i="0">
                          <a:solidFill>
                            <a:srgbClr val="1F2328"/>
                          </a:solidFill>
                          <a:latin typeface="Calibri"/>
                        </a:rPr>
                        <a:t>19</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Baseline and tested model (Checkpoint 3)</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23</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Publish the app and the model card</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24</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Present for ten minutes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Checkpoint 3 is worth 15 percent of the marks. The capstone is worth 40 percent.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forecast, lag, test, compare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19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Load and sort the clinic file, then seasonal naive for Gulu</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Make the lag features and check the 0.37</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Split at 1 January 2025 and fit the lag model</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Compare the model and the baseline in cases</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Run the Pipeline cell and write three sentences</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model has an average miss in cases, a baseline to compare it with, and a sentence on whether it won.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seasonal naive forecast for March 2026 uses which number?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March 2025 value. The same month last year.</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must a forecast be tested on later months and not on random ones?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00" b="0" i="0">
                  <a:solidFill>
                    <a:srgbClr val="3B4046"/>
                  </a:solidFill>
                  <a:latin typeface="Calibri"/>
                </a:rPr>
                <a:t>Next month always lies after the data you have. A random split lets the model see the future.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Your model misses by 338 cases and the baseline by 461. What do you tell the manager?</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beats the baseline by about a quarter, with an average miss near 340 cases, but some months miss by more.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19   Forecasting and a first end-to-end model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time series has a trend, a season and noise. A same-month-last-year guess is the baseline to beat.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Split by time. Build lag features inside each district, and judge the error in cases.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Pipeline packs fill, encode and fit into one object. Your baseline and tested model are Checkpoint 3.</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Neural networks and deep learning, without the maths wall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