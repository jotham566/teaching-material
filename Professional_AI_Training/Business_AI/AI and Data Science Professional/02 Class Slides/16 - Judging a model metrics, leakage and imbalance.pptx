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time you built models that give each loan a probability of default. Today's question is harder. How do we tell a model that works from one that only looks good? We stay with the Nile Microfinance loans. By the end you'll read a confusion matrix, say what precision and recall mean in plain words, and catch a model that cheats.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read a confusion matrix and work out precision and recall from its four counts. You'll choose between precision, recall and AUC by asking what each mistake costs. And you'll find and remove a leaked column, then test the model with cross-validation. The live part does the division by hand before any library appears, and the leak hunt comes after the ROC curve. In the lab you hunt the leak yourself and then draw the ROC curve for the model without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words today. A confusion matrix is a count table of right and wrong answers, like a COUNTIFS table. Precision asks how many of our flags were right. Recall asks how many real defaulters we caught. The ROC curve and its area, AUC, judge a model at every threshold at once. Class weight makes rare cases count more. Data leakage means a column hides the answer. Cross-validation means testing several times on different parts of the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session's probabilities and thresholds come first, then we judge those models properly.</a:t>
            </a:r>
          </a:p>
          <a:p/>
          <a:p>
            <a:r>
              <a:t>First. A logistic regression gives every loan a number between zero and one. What is that number? Have a think.</a:t>
            </a:r>
          </a:p>
          <a:p/>
          <a:p>
            <a:r>
              <a:t>It's the model's probability that the loan defaults. A threshold turns that probability into a yes or no. Pick a threshold of point two and every loan at or above point two gets flagged.</a:t>
            </a:r>
          </a:p>
          <a:p/>
          <a:p>
            <a:r>
              <a:t>Second. How did you choose your threshold? Sit with it for a second.</a:t>
            </a:r>
          </a:p>
          <a:p/>
          <a:p>
            <a:r>
              <a:t>You chose it from costs. Missing a defaulter costs one thing. Turning away a good customer costs another. Today we put numbers on both mistakes, and we find out why a model that looks wonderful can still be useless.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a trick question. Take a model that does no work at all.</a:t>
            </a:r>
          </a:p>
          <a:p/>
          <a:p>
            <a:r>
              <a:t>We load the Nile Microfinance loans and count the outcomes. Six thousand nine hundred and ninety six loans were repaid, and one thousand and four defaulted.</a:t>
            </a:r>
          </a:p>
          <a:p/>
          <a:p>
            <a:r>
              <a:t>Now imagine a lazy model that says no default for every single loan. It's right whenever the loan is repaid. That's about eighty seven and a half percent of the time. It never finds one defaulter, and it still gets a score that looks like a good exam mark.</a:t>
            </a:r>
          </a:p>
          <a:p/>
          <a:p>
            <a:r>
              <a:t>So the score called accuracy, which is the share of answers that are right, can't tell us whether a model is any use when the thing we hunt for is rare.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split makes a picture. You've met this lopsided split before. It's the class imbalance we saw in Session 14, where one outcome is much rarer than the other.</a:t>
            </a:r>
          </a:p>
          <a:p/>
          <a:p>
            <a:r>
              <a:t>The tall bar is the repaid loans. Nearly everything sits there.</a:t>
            </a:r>
          </a:p>
          <a:p/>
          <a:p>
            <a:r>
              <a:t>The short bar is the defaults. About one loan in eight, and that's the group the lender worries about.</a:t>
            </a:r>
          </a:p>
          <a:p/>
          <a:p>
            <a:r>
              <a:t>A model can ignore that short bar entirely and still score high. In a spreadsheet, it's like averaging a whole column and never looking at the few rows that matter. We need measures that look at the short bar on purpose.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most useful picture in model judging. It's called a confusion matrix, and it's just a count table. In Excel you'd build it with COUNTIFS.</a:t>
            </a:r>
          </a:p>
          <a:p/>
          <a:p>
            <a:r>
              <a:t>The columns are what the model said, and the rows are what really happened. These numbers come from a typical run at a threshold of point two on two thousand test loans. Yours will be close but not identical.</a:t>
            </a:r>
          </a:p>
          <a:p/>
          <a:p>
            <a:r>
              <a:t>Top left. One hundred and twenty defaulters that the model flagged. Good catches.</a:t>
            </a:r>
          </a:p>
          <a:p/>
          <a:p>
            <a:r>
              <a:t>Top right. One hundred and fifty five defaulters the model missed. These are the expensive ones, because the lender lends and never gets the money back.</a:t>
            </a:r>
          </a:p>
          <a:p/>
          <a:p>
            <a:r>
              <a:t>Bottom left. One hundred and forty two good customers flagged by mistake. These are false alarms, and each one is a customer we might turn away.</a:t>
            </a:r>
          </a:p>
          <a:p/>
          <a:p>
            <a:r>
              <a:t>Bottom right. Fifteen hundred and eighty three good customers rightly cleared.</a:t>
            </a:r>
          </a:p>
          <a:p/>
          <a:p>
            <a:r>
              <a:t>Notice the total of defaulters in the test set is one hundred and twenty plus one hundred and fifty five, which is two hundred and seventy five. The matrix shows us what accuracy hid.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name any measure, look at what each mistake costs the lender.</a:t>
            </a:r>
          </a:p>
          <a:p/>
          <a:p>
            <a:r>
              <a:t>A missed default means the money goes out and doesn't come back. The typical defaulted loan in our file is about one point six million shillings. You learn about it months later, when it's too late to act.</a:t>
            </a:r>
          </a:p>
          <a:p/>
          <a:p>
            <a:r>
              <a:t>A false alarm turns away a good customer. The lender loses the interest on that loan, and the customer might walk to a rival.</a:t>
            </a:r>
          </a:p>
          <a:p/>
          <a:p>
            <a:r>
              <a:t>In most lending, the first mistake costs more than the second, but not always. A lender short of cash may fear false alarms more. Which mistake you fear decides which measure you watch.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compute the measures ourselves, with just the four counts and some division.</a:t>
            </a:r>
          </a:p>
          <a:p/>
          <a:p>
            <a:r>
              <a:t>Here are the four counts from the matrix, stored under their short names. TP means true positive, a defaulter we flagged. FP is a false alarm. FN is a missed default. TN is a good customer cleared.</a:t>
            </a:r>
          </a:p>
          <a:p/>
          <a:p>
            <a:r>
              <a:t>Precision is flagged defaulters divided by everything we flagged. Recall is flagged defaulters divided by all the defaulters there were. You could write both as a COUNTIFS over a COUNTIF in Sheets.</a:t>
            </a:r>
          </a:p>
          <a:p/>
          <a:p>
            <a:r>
              <a:t>Accuracy is everything right divided by everything. The answers are point four five eight for precision, point four three six for recall, and point eight five two for accuracy. Compare that accuracy with the lazy model's. The lazy model beats it, at about eighty six percent on this test set. Yet this model finds defaulters and the lazy one finds none.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say both in plain words.</a:t>
            </a:r>
          </a:p>
          <a:p/>
          <a:p>
            <a:r>
              <a:t>Precision asks, when the model raises a flag, how often is it right? Of the two hundred and sixty two loans flagged, one hundred and twenty really defaulted. Think of a smoke alarm. High precision means when it rings, there's a fire.</a:t>
            </a:r>
          </a:p>
          <a:p/>
          <a:p>
            <a:r>
              <a:t>Recall asks, of all the real defaulters, how many did we catch? Of two hundred and seventy five, we caught one hundred and twenty. High recall means the alarm rarely stays silent during a fire.</a:t>
            </a:r>
          </a:p>
          <a:p/>
          <a:p>
            <a:r>
              <a:t>You choose by cost. If missing a defaulter hurts most, watch recall. If turning away good customers hurts most, watch precision. You can almost never push both to the top at once, and the next picture shows why.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met this trade last session. Now both lines have names. The red line is recall and the blue line is precision.</a:t>
            </a:r>
          </a:p>
          <a:p/>
          <a:p>
            <a:r>
              <a:t>Start at the left, where the threshold is low. We flag almost every loan, so we catch most defaulters, and recall is high. But most of our flags are false alarms, so precision is low.</a:t>
            </a:r>
          </a:p>
          <a:p/>
          <a:p>
            <a:r>
              <a:t>Move right. We flag only the loans we're very sure about. Precision climbs, because those flags are mostly right. Recall falls, because many defaulters slip below the line.</a:t>
            </a:r>
          </a:p>
          <a:p/>
          <a:p>
            <a:r>
              <a:t>The two lines cross close to point two. That's the threshold we chose for the matrix. Where you stand on this picture is a business decision, and it comes from the costs we just talked about.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Precision and recall describe one threshold. Often we want one number that judges the model before we choose a threshold at all. That's the job of the ROC curve.</a:t>
            </a:r>
          </a:p>
          <a:p/>
          <a:p>
            <a:r>
              <a:t>Imagine sliding the threshold from very high to very low. At each position you note two things. How many defaulters you caught, and how many good customers you wrongly flagged. Plot those points and join them. That's the ROC curve.</a:t>
            </a:r>
          </a:p>
          <a:p/>
          <a:p>
            <a:r>
              <a:t>The area under the curve is called AUC. A coin flip gives point five. A perfect model gives one.</a:t>
            </a:r>
          </a:p>
          <a:p/>
          <a:p>
            <a:r>
              <a:t>A plain way to read it is this. Pick one defaulter and one repaid loan at random. AUC is the chance that the model gave the defaulter the higher risk score. In a spreadsheet you'd sort by risk score and look at how well the defaulters rise to the top.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two models drawn on the same picture, on the same loans. Which one would you rather deploy? Give that a moment.</a:t>
            </a:r>
          </a:p>
          <a:p/>
          <a:p>
            <a:r>
              <a:t>The blue line is the model without the extra column. Its AUC is about point seven six. That's decent. It ranks defaulters above repaid loans about three times in four.</a:t>
            </a:r>
          </a:p>
          <a:p/>
          <a:p>
            <a:r>
              <a:t>The red line leaps up the left edge and runs along the top. Its AUC is about point nine nine five. It's almost perfect.</a:t>
            </a:r>
          </a:p>
          <a:p/>
          <a:p>
            <a:r>
              <a:t>Both used the same loans and the same method. The red one had one extra column. Predicting who defaults from a customer's file is hard, and nobody gets near perfect. When a result looks too good, our first thought must be that something is wrong. Let's find that column.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investigate with pandas. First, the average number of collection calls for repaid loans and for defaulted loans.</a:t>
            </a:r>
          </a:p>
          <a:p/>
          <a:p>
            <a:r>
              <a:t>A repaid loan averages about a quarter of a call. A defaulted loan averages four and a half calls. That's roughly nineteen times as many.</a:t>
            </a:r>
          </a:p>
          <a:p/>
          <a:p>
            <a:r>
              <a:t>The second block ranks the number columns by how strongly they move with default. Default matches itself perfectly, so it comes first. Then collection calls at about point eight seven. The next column, the loan amount, is only about point two one.</a:t>
            </a:r>
          </a:p>
          <a:p/>
          <a:p>
            <a:r>
              <a:t>That one column stands far above the rest. And then comes the key question. When is a collection call made? Think about the answer before you read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look, to be sure.</a:t>
            </a:r>
          </a:p>
          <a:p/>
          <a:p>
            <a:r>
              <a:t>The first result gives the most calls in each group. Repaid loans top out at five, and defaulters reach twelve.</a:t>
            </a:r>
          </a:p>
          <a:p/>
          <a:p>
            <a:r>
              <a:t>The second result is the fewest calls any defaulter had. It's one, so every defaulter was called at least once.</a:t>
            </a:r>
          </a:p>
          <a:p/>
          <a:p>
            <a:r>
              <a:t>The third is the share of repaid loans that had a call, about twenty one percent. So a loan with zero calls is almost surely fine.</a:t>
            </a:r>
          </a:p>
          <a:p/>
          <a:p>
            <a:r>
              <a:t>The data dictionary explains why. Collection calls are made only after a loan goes bad. When we use that column to predict default, we hand the model the answer. And when the lender needs a prediction, at the moment of approval, that column doesn't exist yet.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trap throws no error at all.</a:t>
            </a:r>
          </a:p>
          <a:p/>
          <a:p>
            <a:r>
              <a:t>You add every column to the model, as you might add every column to a pivot table. The score comes back near point nine nine five. It looks like a triumph, and you might send it to your manager.</a:t>
            </a:r>
          </a:p>
          <a:p/>
          <a:p>
            <a:r>
              <a:t>The problem is that collection calls happen after the loan goes bad. The model isn't predicting default. It's reading the result of default through a side door. We call this data leakage. On the day a new loan is approved, no calls have been made, and the model collapses.</a:t>
            </a:r>
          </a:p>
          <a:p/>
          <a:p>
            <a:r>
              <a:t>The fix is a question you ask about every column. Would I know this at the moment I make the prediction? If not, drop it.</a:t>
            </a:r>
          </a:p>
          <a:p/>
          <a:p>
            <a:r>
              <a:t>A model that looks too good is a warning sign. Data about people is messy, so a near perfect score is suspect. When the result is that good, look for the leak first.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tools help when one outcome is rare. This code is for you to read now and run in the lab. The numbers will be close to those on our slides but not identical.</a:t>
            </a:r>
          </a:p>
          <a:p/>
          <a:p>
            <a:r>
              <a:t>The first model is the one you know. The second adds class weight set to balanced.</a:t>
            </a:r>
          </a:p>
          <a:p/>
          <a:p>
            <a:r>
              <a:t>The setting is called class weight. It tells the model to treat each default as more important, in proportion to how rare defaults are. Here, one default counts about as much as seven repaid loans. The model then pays attention to the short bar.</a:t>
            </a:r>
          </a:p>
          <a:p/>
          <a:p>
            <a:r>
              <a:t>The second tool is the threshold. We take the probabilities and flag any loan at or above point two. Lowering the threshold is the quickest way to catch more defaulters, and we pay with more false alarms.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idea. So far we split once, into training and test. One split can be lucky. Cross-validation is a fix for that. It means testing the model several times on different parts.</a:t>
            </a:r>
          </a:p>
          <a:p/>
          <a:p>
            <a:r>
              <a:t>We cut the loans into five equal parts. Statisticians call each part a fold.</a:t>
            </a:r>
          </a:p>
          <a:p/>
          <a:p>
            <a:r>
              <a:t>In round one, the gold part is the test and the blue parts train the model. In round two, a different part takes the test seat. After five rounds, every loan has been in a test part exactly once.</a:t>
            </a:r>
          </a:p>
          <a:p/>
          <a:p>
            <a:r>
              <a:t>Then we average the five scores. If the five scores are close, we trust the result. If they jump around, the model is shaky. It's like checking a sum five times with five different calculators.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call does all five rounds.</a:t>
            </a:r>
          </a:p>
          <a:p/>
          <a:p>
            <a:r>
              <a:t>First we build a small pipeline, which is a chain of steps that run in order. Session 19 returns to it. This one fills the blank incomes with the median, scales the numbers to a similar size, and fits the logistic regression. You met the median in Session 3.</a:t>
            </a:r>
          </a:p>
          <a:p/>
          <a:p>
            <a:r>
              <a:t>Then cross_val_score does the five rounds. We set cv to five, and ask for the AUC as the score.</a:t>
            </a:r>
          </a:p>
          <a:p/>
          <a:p>
            <a:r>
              <a:t>It returns five numbers, and we print them with their average. Without the leaked column, expect an average near point seven six, with the five scores close together. Add collection calls to X, and the average jumps above point nine five. You know what that jump means.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task asks how rare defaults are. You load loans.csv and find the share that were repaid, the eighty seven percent we saw earlier. Run the setup cell in the Session 16 notebook first. Task two hunts for the leaking column with correlations, and task three shows why it leaks.</a:t>
            </a:r>
          </a:p>
          <a:p/>
          <a:p>
            <a:r>
              <a:t>Task four is my favourite. A simple rule flags any loan with a previous late payment, and you count the four cells of the confusion matrix in numpy and work out precision and recall yourself.</a:t>
            </a:r>
          </a:p>
          <a:p/>
          <a:p>
            <a:r>
              <a:t>Tasks five and six cross-validate the model, first without the leaked column and then with it, and you compare the two AUC averages. Task seven draws the ROC curve for the model without the leak and counts its confusion matrix at a threshold of point two. The checks accept a range, because your numbers will be close to mine but will differ a little.</a:t>
            </a:r>
          </a:p>
          <a:p/>
          <a:p>
            <a:r>
              <a:t>The last task is a few sentences, including whether you would watch precision or recall. You have forty minutes, and I'm around when an error stops you.</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one is about an accuracy score, question two about a pair of counts, and question three about an AUC that jumped. Answer each in your head before I give mine.</a:t>
            </a:r>
          </a:p>
          <a:p/>
          <a:p>
            <a:r>
              <a:t>One. A model is right eighty seven percent of the time on loans where one in eight defaults. Is that good? No rush.</a:t>
            </a:r>
          </a:p>
          <a:p/>
          <a:p>
            <a:r>
              <a:t>Not on its own. A model that always says no scores the same. Look at precision and recall.</a:t>
            </a:r>
          </a:p>
          <a:p/>
          <a:p>
            <a:r>
              <a:t>Two. Your model finds one hundred and twenty of two hundred and seventy five defaulters, and flags two hundred and sixty two loans. Give the precision and the recall. Think it over.</a:t>
            </a:r>
          </a:p>
          <a:p/>
          <a:p>
            <a:r>
              <a:t>Precision is one hundred and twenty out of two hundred and sixty two, about point four six. Recall is one hundred and twenty out of two hundred and seventy five, about point four four.</a:t>
            </a:r>
          </a:p>
          <a:p/>
          <a:p>
            <a:r>
              <a:t>Three. Your AUC jumps from point seven six to point nine nine five after you add one column. What do you do? Work it through first.</a:t>
            </a:r>
          </a:p>
          <a:p/>
          <a:p>
            <a:r>
              <a:t>Suspect leakage. Ask whether you would know that column at the moment of prediction. If you wouldn't, drop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Accuracy fails on rare events. Open the confusion matrix and read precision, recall and AUC.</a:t>
            </a:r>
          </a:p>
          <a:p/>
          <a:p>
            <a:r>
              <a:t>Two. Choose between precision and recall by the cost of each mistake, and move the threshold to match. That's a business decision and you make it.</a:t>
            </a:r>
          </a:p>
          <a:p/>
          <a:p>
            <a:r>
              <a:t>Three. A score that looks too good is a warning sign. Check every column against the question, would I know this at prediction time, and cross-validate before you trust a number.</a:t>
            </a:r>
          </a:p>
          <a:p/>
          <a:p>
            <a:r>
              <a:t>Next session we build stronger models, forests and boosting, and meet the opposite danger. A model can learn the training data too well and fail on new loans. Bring today's matrix, because we'll use it all the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16   Judging a model: metrics, leakage and imbalance</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16</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16 of 24</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Judging a model: metrics, leakage and imbalance</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How do we tell a model that works from one that merely looks good?</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16   Judging a model: metrics, leakage and imbalance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Read a confusion matrix.</a:t>
            </a:r>
          </a:p>
        </p:txBody>
      </p:sp>
      <p:cxnSp>
        <p:nvCxnSpPr>
          <p:cNvPr id="7" name="Connector 6"/>
          <p:cNvCxnSpPr/>
          <p:nvPr/>
        </p:nvCxnSpPr>
        <p:spPr>
          <a:xfrm>
            <a:off x="685800" y="2309774"/>
            <a:ext cx="5394960" cy="0"/>
          </a:xfrm>
          <a:prstGeom prst="line">
            <a:avLst/>
          </a:prstGeom>
          <a:ln w="6350">
            <a:solidFill>
              <a:srgbClr val="C9C5BC"/>
            </a:solidFill>
          </a:ln>
        </p:spPr>
      </p:cxnSp>
      <p:sp>
        <p:nvSpPr>
          <p:cNvPr id="8" name="TextBox 7"/>
          <p:cNvSpPr txBox="1"/>
          <p:nvPr/>
        </p:nvSpPr>
        <p:spPr>
          <a:xfrm>
            <a:off x="685800" y="247436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Choose precision, recall or AUC for a business cost.</a:t>
            </a:r>
          </a:p>
        </p:txBody>
      </p:sp>
      <p:cxnSp>
        <p:nvCxnSpPr>
          <p:cNvPr id="9" name="Connector 8"/>
          <p:cNvCxnSpPr/>
          <p:nvPr/>
        </p:nvCxnSpPr>
        <p:spPr>
          <a:xfrm>
            <a:off x="685800" y="3363163"/>
            <a:ext cx="5394960" cy="0"/>
          </a:xfrm>
          <a:prstGeom prst="line">
            <a:avLst/>
          </a:prstGeom>
          <a:ln w="6350">
            <a:solidFill>
              <a:srgbClr val="C9C5BC"/>
            </a:solidFill>
          </a:ln>
        </p:spPr>
      </p:cxnSp>
      <p:sp>
        <p:nvSpPr>
          <p:cNvPr id="10" name="TextBox 9"/>
          <p:cNvSpPr txBox="1"/>
          <p:nvPr/>
        </p:nvSpPr>
        <p:spPr>
          <a:xfrm>
            <a:off x="685800" y="352775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Find and remove leakage; use cross-validation.</a:t>
            </a:r>
          </a:p>
        </p:txBody>
      </p:sp>
      <p:cxnSp>
        <p:nvCxnSpPr>
          <p:cNvPr id="11" name="Connector 10"/>
          <p:cNvCxnSpPr/>
          <p:nvPr/>
        </p:nvCxnSpPr>
        <p:spPr>
          <a:xfrm>
            <a:off x="685800" y="4416552"/>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Recall and warm-up</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Concepts and explanation</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Guided lab</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Check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16   Judging a model: metrics, leakage and imbalance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6"/>
        </p:xfrm>
        <a:graphic>
          <a:graphicData uri="http://schemas.openxmlformats.org/drawingml/2006/table">
            <a:tbl>
              <a:tblPr firstRow="0" bandRow="0">
                <a:tableStyleId>{2D5ABB26-0587-4C30-8999-92F81FD0307C}</a:tableStyleId>
              </a:tblPr>
              <a:tblGrid>
                <a:gridCol w="2164019"/>
                <a:gridCol w="5410047"/>
                <a:gridCol w="3246028"/>
              </a:tblGrid>
              <a:tr h="489102">
                <a:tc>
                  <a:txBody>
                    <a:bodyPr wrap="square"/>
                    <a:lstStyle/>
                    <a:p>
                      <a:r>
                        <a:rPr sz="165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65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650" b="1" i="0">
                          <a:solidFill>
                            <a:srgbClr val="1F2328"/>
                          </a:solidFill>
                          <a:latin typeface="Calibri"/>
                        </a:rPr>
                        <a:t>In a spreadsheet</a:t>
                      </a:r>
                    </a:p>
                  </a:txBody>
                  <a:tcPr marL="137160" marR="91440" marT="64008" marB="64008" anchor="ctr">
                    <a:lnL w="0">
                      <a:noFill/>
                    </a:lnL>
                    <a:lnR w="0">
                      <a:noFill/>
                    </a:lnR>
                    <a:lnT w="0">
                      <a:noFill/>
                    </a:lnT>
                    <a:lnB w="15875">
                      <a:solidFill>
                        <a:srgbClr val="1F2328"/>
                      </a:solidFill>
                    </a:lnB>
                    <a:noFill/>
                  </a:tcPr>
                </a:tc>
              </a:tr>
              <a:tr h="489102">
                <a:tc>
                  <a:txBody>
                    <a:bodyPr wrap="square"/>
                    <a:lstStyle/>
                    <a:p>
                      <a:r>
                        <a:rPr sz="1650" b="1" i="0">
                          <a:solidFill>
                            <a:srgbClr val="1F2328"/>
                          </a:solidFill>
                          <a:latin typeface="Calibri"/>
                        </a:rPr>
                        <a:t>Confusion matrix</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A count table of right and wrong answers.</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A COUNTIFS table</a:t>
                      </a:r>
                    </a:p>
                  </a:txBody>
                  <a:tcPr marL="137160" marR="91440" marT="64008" marB="64008" anchor="ctr">
                    <a:lnL w="0">
                      <a:noFill/>
                    </a:lnL>
                    <a:lnR w="0">
                      <a:noFill/>
                    </a:lnR>
                    <a:lnT w="0">
                      <a:noFill/>
                    </a:lnT>
                    <a:lnB w="6350">
                      <a:solidFill>
                        <a:srgbClr val="C9C5BC"/>
                      </a:solidFill>
                    </a:lnB>
                    <a:noFill/>
                  </a:tcPr>
                </a:tc>
              </a:tr>
              <a:tr h="489102">
                <a:tc>
                  <a:txBody>
                    <a:bodyPr wrap="square"/>
                    <a:lstStyle/>
                    <a:p>
                      <a:r>
                        <a:rPr sz="1650" b="1" i="0">
                          <a:solidFill>
                            <a:srgbClr val="1F2328"/>
                          </a:solidFill>
                          <a:latin typeface="Calibri"/>
                        </a:rPr>
                        <a:t>Precision</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Of the loans flagged, the share that defaulted.</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Hits divided by flags</a:t>
                      </a:r>
                    </a:p>
                  </a:txBody>
                  <a:tcPr marL="137160" marR="91440" marT="64008" marB="64008" anchor="ctr">
                    <a:lnL w="0">
                      <a:noFill/>
                    </a:lnL>
                    <a:lnR w="0">
                      <a:noFill/>
                    </a:lnR>
                    <a:lnT w="0">
                      <a:noFill/>
                    </a:lnT>
                    <a:lnB w="6350">
                      <a:solidFill>
                        <a:srgbClr val="C9C5BC"/>
                      </a:solidFill>
                    </a:lnB>
                    <a:noFill/>
                  </a:tcPr>
                </a:tc>
              </a:tr>
              <a:tr h="489102">
                <a:tc>
                  <a:txBody>
                    <a:bodyPr wrap="square"/>
                    <a:lstStyle/>
                    <a:p>
                      <a:r>
                        <a:rPr sz="1650" b="1" i="0">
                          <a:solidFill>
                            <a:srgbClr val="1F2328"/>
                          </a:solidFill>
                          <a:latin typeface="Calibri"/>
                        </a:rPr>
                        <a:t>Recall</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Of the loans that defaulted, the share flagged.</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Hits divided by defaults</a:t>
                      </a:r>
                    </a:p>
                  </a:txBody>
                  <a:tcPr marL="137160" marR="91440" marT="64008" marB="64008" anchor="ctr">
                    <a:lnL w="0">
                      <a:noFill/>
                    </a:lnL>
                    <a:lnR w="0">
                      <a:noFill/>
                    </a:lnR>
                    <a:lnT w="0">
                      <a:noFill/>
                    </a:lnT>
                    <a:lnB w="6350">
                      <a:solidFill>
                        <a:srgbClr val="C9C5BC"/>
                      </a:solidFill>
                    </a:lnB>
                    <a:noFill/>
                  </a:tcPr>
                </a:tc>
              </a:tr>
              <a:tr h="489102">
                <a:tc>
                  <a:txBody>
                    <a:bodyPr wrap="square"/>
                    <a:lstStyle/>
                    <a:p>
                      <a:r>
                        <a:rPr sz="1650" b="1" i="0">
                          <a:solidFill>
                            <a:srgbClr val="1F2328"/>
                          </a:solidFill>
                          <a:latin typeface="Calibri"/>
                        </a:rPr>
                        <a:t>ROC curve</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Defaults caught against false alarms, at every threshold.</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No equivalent. A new idea.</a:t>
                      </a:r>
                    </a:p>
                  </a:txBody>
                  <a:tcPr marL="137160" marR="91440" marT="64008" marB="64008" anchor="ctr">
                    <a:lnL w="0">
                      <a:noFill/>
                    </a:lnL>
                    <a:lnR w="0">
                      <a:noFill/>
                    </a:lnR>
                    <a:lnT w="0">
                      <a:noFill/>
                    </a:lnT>
                    <a:lnB w="6350">
                      <a:solidFill>
                        <a:srgbClr val="C9C5BC"/>
                      </a:solidFill>
                    </a:lnB>
                    <a:noFill/>
                  </a:tcPr>
                </a:tc>
              </a:tr>
              <a:tr h="489102">
                <a:tc>
                  <a:txBody>
                    <a:bodyPr wrap="square"/>
                    <a:lstStyle/>
                    <a:p>
                      <a:r>
                        <a:rPr sz="1650" b="1" i="0">
                          <a:solidFill>
                            <a:srgbClr val="1F2328"/>
                          </a:solidFill>
                          <a:latin typeface="Calibri"/>
                        </a:rPr>
                        <a:t>AUC</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The area under the ROC curve. 0.5 is a coin flip.</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No equivalent. A new idea.</a:t>
                      </a:r>
                    </a:p>
                  </a:txBody>
                  <a:tcPr marL="137160" marR="91440" marT="64008" marB="64008" anchor="ctr">
                    <a:lnL w="0">
                      <a:noFill/>
                    </a:lnL>
                    <a:lnR w="0">
                      <a:noFill/>
                    </a:lnR>
                    <a:lnT w="0">
                      <a:noFill/>
                    </a:lnT>
                    <a:lnB w="6350">
                      <a:solidFill>
                        <a:srgbClr val="C9C5BC"/>
                      </a:solidFill>
                    </a:lnB>
                    <a:noFill/>
                  </a:tcPr>
                </a:tc>
              </a:tr>
              <a:tr h="750620">
                <a:tc>
                  <a:txBody>
                    <a:bodyPr wrap="square"/>
                    <a:lstStyle/>
                    <a:p>
                      <a:r>
                        <a:rPr sz="1650" b="1" i="0">
                          <a:solidFill>
                            <a:srgbClr val="1F2328"/>
                          </a:solidFill>
                          <a:latin typeface="Calibri"/>
                        </a:rPr>
                        <a:t>Class weight</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A setting that makes rare cases count more as the model learns.</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No equivalent. A new idea.</a:t>
                      </a:r>
                    </a:p>
                  </a:txBody>
                  <a:tcPr marL="137160" marR="91440" marT="64008" marB="64008" anchor="ctr">
                    <a:lnL w="0">
                      <a:noFill/>
                    </a:lnL>
                    <a:lnR w="0">
                      <a:noFill/>
                    </a:lnR>
                    <a:lnT w="0">
                      <a:noFill/>
                    </a:lnT>
                    <a:lnB w="6350">
                      <a:solidFill>
                        <a:srgbClr val="C9C5BC"/>
                      </a:solidFill>
                    </a:lnB>
                    <a:noFill/>
                  </a:tcPr>
                </a:tc>
              </a:tr>
              <a:tr h="489102">
                <a:tc>
                  <a:txBody>
                    <a:bodyPr wrap="square"/>
                    <a:lstStyle/>
                    <a:p>
                      <a:r>
                        <a:rPr sz="1650" b="1" i="0">
                          <a:solidFill>
                            <a:srgbClr val="1F2328"/>
                          </a:solidFill>
                          <a:latin typeface="Calibri"/>
                        </a:rPr>
                        <a:t>Data leakage</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A column that hides the answer.</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A Paid column predicting payment</a:t>
                      </a:r>
                    </a:p>
                  </a:txBody>
                  <a:tcPr marL="137160" marR="91440" marT="64008" marB="64008" anchor="ctr">
                    <a:lnL w="0">
                      <a:noFill/>
                    </a:lnL>
                    <a:lnR w="0">
                      <a:noFill/>
                    </a:lnR>
                    <a:lnT w="0">
                      <a:noFill/>
                    </a:lnT>
                    <a:lnB w="6350">
                      <a:solidFill>
                        <a:srgbClr val="C9C5BC"/>
                      </a:solidFill>
                    </a:lnB>
                    <a:noFill/>
                  </a:tcPr>
                </a:tc>
              </a:tr>
              <a:tr h="489102">
                <a:tc>
                  <a:txBody>
                    <a:bodyPr wrap="square"/>
                    <a:lstStyle/>
                    <a:p>
                      <a:r>
                        <a:rPr sz="1650" b="1" i="0">
                          <a:solidFill>
                            <a:srgbClr val="1F2328"/>
                          </a:solidFill>
                          <a:latin typeface="Calibri"/>
                        </a:rPr>
                        <a:t>Cross-validation</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Testing several times on different parts.</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No equivalent. A new idea.</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15</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16   Judging a model: metrics, leakage and imbalance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A logistic regression gives each loan a number between 0 and 1. What is that number?</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A probability of default. A threshold turns it into a yes or no.</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How did you choose your threshold last time?</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From the cost of a missed default compared with the cost of turning away a good customer.</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model that never works can score 87 percent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16   Judging a model: metrics, leakage and imbalance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sp>
        <p:nvSpPr>
          <p:cNvPr id="5" name="Rectangle 4"/>
          <p:cNvSpPr/>
          <p:nvPr/>
        </p:nvSpPr>
        <p:spPr>
          <a:xfrm>
            <a:off x="685800" y="1600200"/>
            <a:ext cx="6949440" cy="204825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773935"/>
          </a:xfrm>
          <a:prstGeom prst="rect">
            <a:avLst/>
          </a:prstGeom>
          <a:noFill/>
        </p:spPr>
        <p:txBody>
          <a:bodyPr wrap="none" lIns="0" rIns="0" tIns="0" bIns="0">
            <a:spAutoFit/>
          </a:bodyPr>
          <a:lstStyle/>
          <a:p>
            <a:r>
              <a:rPr sz="1900" b="1" i="0">
                <a:solidFill>
                  <a:srgbClr val="1F2328"/>
                </a:solidFill>
                <a:latin typeface="Courier New"/>
              </a:rPr>
              <a:t>import</a:t>
            </a:r>
            <a:r>
              <a:rPr sz="1900" b="0" i="0">
                <a:solidFill>
                  <a:srgbClr val="1F2328"/>
                </a:solidFill>
                <a:latin typeface="Courier New"/>
              </a:rPr>
              <a:t> </a:t>
            </a:r>
            <a:r>
              <a:rPr sz="1900" b="0" i="0">
                <a:solidFill>
                  <a:srgbClr val="1F2328"/>
                </a:solidFill>
                <a:latin typeface="Courier New"/>
              </a:rPr>
              <a:t>pandas</a:t>
            </a:r>
            <a:r>
              <a:rPr sz="1900" b="0" i="0">
                <a:solidFill>
                  <a:srgbClr val="1F2328"/>
                </a:solidFill>
                <a:latin typeface="Courier New"/>
              </a:rPr>
              <a:t> </a:t>
            </a:r>
            <a:r>
              <a:rPr sz="1900" b="1" i="0">
                <a:solidFill>
                  <a:srgbClr val="1F2328"/>
                </a:solidFill>
                <a:latin typeface="Courier New"/>
              </a:rPr>
              <a:t>as</a:t>
            </a:r>
            <a:r>
              <a:rPr sz="1900" b="0" i="0">
                <a:solidFill>
                  <a:srgbClr val="1F2328"/>
                </a:solidFill>
                <a:latin typeface="Courier New"/>
              </a:rPr>
              <a:t> </a:t>
            </a:r>
            <a:r>
              <a:rPr sz="1900" b="0" i="0">
                <a:solidFill>
                  <a:srgbClr val="1F2328"/>
                </a:solidFill>
                <a:latin typeface="Courier New"/>
              </a:rPr>
              <a:t>pd</a:t>
            </a:r>
          </a:p>
          <a:p>
            <a:r>
              <a:rPr sz="1900" b="0" i="0">
                <a:solidFill>
                  <a:srgbClr val="1F2328"/>
                </a:solidFill>
                <a:latin typeface="Courier New"/>
              </a:rPr>
              <a:t> </a:t>
            </a:r>
          </a:p>
          <a:p>
            <a:r>
              <a:rPr sz="1900" b="0" i="0">
                <a:solidFill>
                  <a:srgbClr val="1F2328"/>
                </a:solidFill>
                <a:latin typeface="Courier New"/>
              </a:rPr>
              <a:t>loans</a:t>
            </a:r>
            <a:r>
              <a:rPr sz="1900" b="0" i="0">
                <a:solidFill>
                  <a:srgbClr val="1F2328"/>
                </a:solidFill>
                <a:latin typeface="Courier New"/>
              </a:rPr>
              <a:t> </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pd</a:t>
            </a:r>
            <a:r>
              <a:rPr sz="1900" b="0" i="0">
                <a:solidFill>
                  <a:srgbClr val="1F2328"/>
                </a:solidFill>
                <a:latin typeface="Courier New"/>
              </a:rPr>
              <a:t>.</a:t>
            </a:r>
            <a:r>
              <a:rPr sz="1900" b="0" i="0">
                <a:solidFill>
                  <a:srgbClr val="1F2328"/>
                </a:solidFill>
                <a:latin typeface="Courier New"/>
              </a:rPr>
              <a:t>read_csv</a:t>
            </a:r>
            <a:r>
              <a:rPr sz="1900" b="0" i="0">
                <a:solidFill>
                  <a:srgbClr val="1F2328"/>
                </a:solidFill>
                <a:latin typeface="Courier New"/>
              </a:rPr>
              <a:t>(</a:t>
            </a:r>
            <a:r>
              <a:rPr sz="1900" b="0" i="0">
                <a:solidFill>
                  <a:srgbClr val="B04A2B"/>
                </a:solidFill>
                <a:latin typeface="Courier New"/>
              </a:rPr>
              <a:t>'loans.csv'</a:t>
            </a:r>
            <a:r>
              <a:rPr sz="1900" b="0" i="0">
                <a:solidFill>
                  <a:srgbClr val="1F2328"/>
                </a:solidFill>
                <a:latin typeface="Courier New"/>
              </a:rPr>
              <a:t>)</a:t>
            </a:r>
          </a:p>
          <a:p>
            <a:r>
              <a:rPr sz="1900" b="0" i="0">
                <a:solidFill>
                  <a:srgbClr val="1F2328"/>
                </a:solidFill>
                <a:latin typeface="Courier New"/>
              </a:rPr>
              <a:t>print</a:t>
            </a:r>
            <a:r>
              <a:rPr sz="1900" b="0" i="0">
                <a:solidFill>
                  <a:srgbClr val="1F2328"/>
                </a:solidFill>
                <a:latin typeface="Courier New"/>
              </a:rPr>
              <a:t>(</a:t>
            </a:r>
            <a:r>
              <a:rPr sz="1900" b="0" i="0">
                <a:solidFill>
                  <a:srgbClr val="1F2328"/>
                </a:solidFill>
                <a:latin typeface="Courier New"/>
              </a:rPr>
              <a:t>loans</a:t>
            </a:r>
            <a:r>
              <a:rPr sz="1900" b="0" i="0">
                <a:solidFill>
                  <a:srgbClr val="1F2328"/>
                </a:solidFill>
                <a:latin typeface="Courier New"/>
              </a:rPr>
              <a:t>.</a:t>
            </a:r>
            <a:r>
              <a:rPr sz="1900" b="0" i="0">
                <a:solidFill>
                  <a:srgbClr val="1F2328"/>
                </a:solidFill>
                <a:latin typeface="Courier New"/>
              </a:rPr>
              <a:t>default</a:t>
            </a:r>
            <a:r>
              <a:rPr sz="1900" b="0" i="0">
                <a:solidFill>
                  <a:srgbClr val="1F2328"/>
                </a:solidFill>
                <a:latin typeface="Courier New"/>
              </a:rPr>
              <a:t>.</a:t>
            </a:r>
            <a:r>
              <a:rPr sz="1900" b="0" i="0">
                <a:solidFill>
                  <a:srgbClr val="1F2328"/>
                </a:solidFill>
                <a:latin typeface="Courier New"/>
              </a:rPr>
              <a:t>value_counts</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a:t>
            </a:r>
          </a:p>
          <a:p>
            <a:r>
              <a:rPr sz="1900" b="0" i="0">
                <a:solidFill>
                  <a:srgbClr val="1F2328"/>
                </a:solidFill>
                <a:latin typeface="Courier New"/>
              </a:rPr>
              <a:t>always_no</a:t>
            </a:r>
            <a:r>
              <a:rPr sz="1900" b="0" i="0">
                <a:solidFill>
                  <a:srgbClr val="1F2328"/>
                </a:solidFill>
                <a:latin typeface="Courier New"/>
              </a:rPr>
              <a:t> </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a:t>
            </a:r>
            <a:r>
              <a:rPr sz="1900" b="0" i="0">
                <a:solidFill>
                  <a:srgbClr val="1F2328"/>
                </a:solidFill>
                <a:latin typeface="Courier New"/>
              </a:rPr>
              <a:t>loans</a:t>
            </a:r>
            <a:r>
              <a:rPr sz="1900" b="0" i="0">
                <a:solidFill>
                  <a:srgbClr val="1F2328"/>
                </a:solidFill>
                <a:latin typeface="Courier New"/>
              </a:rPr>
              <a:t>.</a:t>
            </a:r>
            <a:r>
              <a:rPr sz="1900" b="0" i="0">
                <a:solidFill>
                  <a:srgbClr val="1F2328"/>
                </a:solidFill>
                <a:latin typeface="Courier New"/>
              </a:rPr>
              <a:t>default</a:t>
            </a:r>
            <a:r>
              <a:rPr sz="1900" b="0" i="0">
                <a:solidFill>
                  <a:srgbClr val="1F2328"/>
                </a:solidFill>
                <a:latin typeface="Courier New"/>
              </a:rPr>
              <a:t> </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 </a:t>
            </a:r>
            <a:r>
              <a:rPr sz="1900" b="0" i="0">
                <a:solidFill>
                  <a:srgbClr val="3B4046"/>
                </a:solidFill>
                <a:latin typeface="Courier New"/>
              </a:rPr>
              <a:t>0</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mean</a:t>
            </a:r>
            <a:r>
              <a:rPr sz="1900" b="0" i="0">
                <a:solidFill>
                  <a:srgbClr val="1F2328"/>
                </a:solidFill>
                <a:latin typeface="Courier New"/>
              </a:rPr>
              <a:t>(</a:t>
            </a:r>
            <a:r>
              <a:rPr sz="1900" b="0" i="0">
                <a:solidFill>
                  <a:srgbClr val="1F2328"/>
                </a:solidFill>
                <a:latin typeface="Courier New"/>
              </a:rPr>
              <a:t>)</a:t>
            </a:r>
          </a:p>
          <a:p>
            <a:r>
              <a:rPr sz="1900" b="0" i="0">
                <a:solidFill>
                  <a:srgbClr val="1F2328"/>
                </a:solidFill>
                <a:latin typeface="Courier New"/>
              </a:rPr>
              <a:t>print</a:t>
            </a:r>
            <a:r>
              <a:rPr sz="1900" b="0" i="0">
                <a:solidFill>
                  <a:srgbClr val="1F2328"/>
                </a:solidFill>
                <a:latin typeface="Courier New"/>
              </a:rPr>
              <a:t>(</a:t>
            </a:r>
            <a:r>
              <a:rPr sz="1900" b="0" i="0">
                <a:solidFill>
                  <a:srgbClr val="B04A2B"/>
                </a:solidFill>
                <a:latin typeface="Courier New"/>
              </a:rPr>
              <a:t>'Always say no:'</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round</a:t>
            </a:r>
            <a:r>
              <a:rPr sz="1900" b="0" i="0">
                <a:solidFill>
                  <a:srgbClr val="1F2328"/>
                </a:solidFill>
                <a:latin typeface="Courier New"/>
              </a:rPr>
              <a:t>(</a:t>
            </a:r>
            <a:r>
              <a:rPr sz="1900" b="0" i="0">
                <a:solidFill>
                  <a:srgbClr val="1F2328"/>
                </a:solidFill>
                <a:latin typeface="Courier New"/>
              </a:rPr>
              <a:t>always_no</a:t>
            </a:r>
            <a:r>
              <a:rPr sz="1900" b="0" i="0">
                <a:solidFill>
                  <a:srgbClr val="1F2328"/>
                </a:solidFill>
                <a:latin typeface="Courier New"/>
              </a:rPr>
              <a:t>,</a:t>
            </a:r>
            <a:r>
              <a:rPr sz="1900" b="0" i="0">
                <a:solidFill>
                  <a:srgbClr val="1F2328"/>
                </a:solidFill>
                <a:latin typeface="Courier New"/>
              </a:rPr>
              <a:t> </a:t>
            </a:r>
            <a:r>
              <a:rPr sz="1900" b="0" i="0">
                <a:solidFill>
                  <a:srgbClr val="3B4046"/>
                </a:solidFill>
                <a:latin typeface="Courier New"/>
              </a:rPr>
              <a:t>4</a:t>
            </a:r>
            <a:r>
              <a:rPr sz="1900" b="0" i="0">
                <a:solidFill>
                  <a:srgbClr val="1F2328"/>
                </a:solidFill>
                <a:latin typeface="Courier New"/>
              </a:rPr>
              <a:t>)</a:t>
            </a:r>
            <a:r>
              <a:rPr sz="1900" b="0" i="0">
                <a:solidFill>
                  <a:srgbClr val="1F2328"/>
                </a:solidFill>
                <a:latin typeface="Courier New"/>
              </a:rPr>
              <a:t>)</a:t>
            </a:r>
          </a:p>
        </p:txBody>
      </p:sp>
      <p:grpSp>
        <p:nvGrpSpPr>
          <p:cNvPr id="7" name="output"/>
          <p:cNvGrpSpPr/>
          <p:nvPr/>
        </p:nvGrpSpPr>
        <p:grpSpPr>
          <a:xfrm>
            <a:off x="685800" y="3758183"/>
            <a:ext cx="6949440" cy="1377696"/>
            <a:chOff x="685800" y="3758183"/>
            <a:chExt cx="6949440" cy="1377696"/>
          </a:xfrm>
        </p:grpSpPr>
        <p:sp>
          <p:nvSpPr>
            <p:cNvPr id="8" name="TextBox 7"/>
            <p:cNvSpPr txBox="1"/>
            <p:nvPr/>
          </p:nvSpPr>
          <p:spPr>
            <a:xfrm>
              <a:off x="685800" y="375818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014215"/>
              <a:ext cx="6949440" cy="1121664"/>
            </a:xfrm>
            <a:prstGeom prst="rect">
              <a:avLst/>
            </a:prstGeom>
            <a:solidFill>
              <a:srgbClr val="F5F3EF"/>
            </a:solidFill>
            <a:ln>
              <a:noFill/>
            </a:ln>
          </p:spPr>
          <p:txBody>
            <a:bodyPr rtlCol="0" anchor="ctr"/>
            <a:lstStyle/>
            <a:p>
              <a:pPr algn="ctr"/>
            </a:p>
          </p:txBody>
        </p:sp>
        <p:sp>
          <p:nvSpPr>
            <p:cNvPr id="10" name="TextBox 9"/>
            <p:cNvSpPr txBox="1"/>
            <p:nvPr/>
          </p:nvSpPr>
          <p:spPr>
            <a:xfrm>
              <a:off x="868680" y="4105655"/>
              <a:ext cx="6675120" cy="1011936"/>
            </a:xfrm>
            <a:prstGeom prst="rect">
              <a:avLst/>
            </a:prstGeom>
            <a:noFill/>
          </p:spPr>
          <p:txBody>
            <a:bodyPr wrap="none" lIns="0" rIns="0" tIns="0" bIns="0">
              <a:spAutoFit/>
            </a:bodyPr>
            <a:lstStyle/>
            <a:p>
              <a:r>
                <a:rPr sz="1400" b="0" i="0">
                  <a:solidFill>
                    <a:srgbClr val="1F2328"/>
                  </a:solidFill>
                  <a:latin typeface="Courier New"/>
                </a:rPr>
                <a:t>default</a:t>
              </a:r>
            </a:p>
            <a:p>
              <a:r>
                <a:rPr sz="1400" b="0" i="0">
                  <a:solidFill>
                    <a:srgbClr val="1F2328"/>
                  </a:solidFill>
                  <a:latin typeface="Courier New"/>
                </a:rPr>
                <a:t>0    6996</a:t>
              </a:r>
            </a:p>
            <a:p>
              <a:r>
                <a:rPr sz="1400" b="0" i="0">
                  <a:solidFill>
                    <a:srgbClr val="1F2328"/>
                  </a:solidFill>
                  <a:latin typeface="Courier New"/>
                </a:rPr>
                <a:t>1    1004</a:t>
              </a:r>
            </a:p>
            <a:p>
              <a:r>
                <a:rPr sz="1400" b="0" i="0">
                  <a:solidFill>
                    <a:srgbClr val="1F2328"/>
                  </a:solidFill>
                  <a:latin typeface="Courier New"/>
                </a:rPr>
                <a:t>Name: count, dtype: int64</a:t>
              </a:r>
            </a:p>
            <a:p>
              <a:r>
                <a:rPr sz="1400" b="0" i="0">
                  <a:solidFill>
                    <a:srgbClr val="1F2328"/>
                  </a:solidFill>
                  <a:latin typeface="Courier New"/>
                </a:rPr>
                <a:t>Always say no: 0.8745</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Count the loans that were repaid (0) and defaulted (1).</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8"/>
            <a:chOff x="8046719" y="2971800"/>
            <a:chExt cx="3459176" cy="1207008"/>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A lazy model says no default for every loan. This is how often it is right.</a:t>
              </a:r>
            </a:p>
          </p:txBody>
        </p:sp>
        <p:cxnSp>
          <p:nvCxnSpPr>
            <p:cNvPr id="19" name="Connector 18"/>
            <p:cNvCxnSpPr/>
            <p:nvPr/>
          </p:nvCxnSpPr>
          <p:spPr>
            <a:xfrm>
              <a:off x="8046719" y="4178808"/>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Defaults are rare, so accuracy flatters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16   Judging a model: metrics, leakage and imbalance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pic>
        <p:nvPicPr>
          <p:cNvPr id="5" name="figure-class_imbalance" descr="Two bars showing most loans are repaid and about one in eight defaults."/>
          <p:cNvPicPr>
            <a:picLocks noChangeAspect="1"/>
          </p:cNvPicPr>
          <p:nvPr/>
        </p:nvPicPr>
        <p:blipFill>
          <a:blip r:embed="rId3"/>
          <a:stretch>
            <a:fillRect/>
          </a:stretch>
        </p:blipFill>
        <p:spPr>
          <a:xfrm>
            <a:off x="685800" y="1600200"/>
            <a:ext cx="5712822"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Most loans are repaid. That bar is tall.</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About one loan in eight defaults.</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A model can ignore the short bar and still look good.</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87.5 percent repaid, 12.5 percent defaulted. This lopsided split is class imbalance.</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150" b="1" i="0">
                <a:solidFill>
                  <a:srgbClr val="1F2328"/>
                </a:solidFill>
                <a:latin typeface="Cambria"/>
              </a:rPr>
              <a:t>The confusion matrix counts every kind of right and wrong</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16   Judging a model: metrics, leakage and imbalance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sp>
        <p:nvSpPr>
          <p:cNvPr id="5" name="TextBox 4"/>
          <p:cNvSpPr txBox="1"/>
          <p:nvPr/>
        </p:nvSpPr>
        <p:spPr>
          <a:xfrm>
            <a:off x="2743200" y="1645920"/>
            <a:ext cx="5669280" cy="274320"/>
          </a:xfrm>
          <a:prstGeom prst="rect">
            <a:avLst/>
          </a:prstGeom>
          <a:noFill/>
        </p:spPr>
        <p:txBody>
          <a:bodyPr wrap="square" lIns="0" rIns="0" tIns="18288" bIns="18288" anchor="t">
            <a:spAutoFit/>
          </a:bodyPr>
          <a:lstStyle/>
          <a:p>
            <a:pPr algn="ctr"/>
            <a:r>
              <a:rPr sz="1400" b="0" i="0">
                <a:solidFill>
                  <a:srgbClr val="6A6F75"/>
                </a:solidFill>
                <a:latin typeface="Calibri"/>
              </a:rPr>
              <a:t>What the model said</a:t>
            </a:r>
          </a:p>
        </p:txBody>
      </p:sp>
      <p:sp>
        <p:nvSpPr>
          <p:cNvPr id="6" name="TextBox 5"/>
          <p:cNvSpPr txBox="1"/>
          <p:nvPr/>
        </p:nvSpPr>
        <p:spPr>
          <a:xfrm>
            <a:off x="2743200" y="1965960"/>
            <a:ext cx="2834640" cy="365760"/>
          </a:xfrm>
          <a:prstGeom prst="rect">
            <a:avLst/>
          </a:prstGeom>
          <a:noFill/>
        </p:spPr>
        <p:txBody>
          <a:bodyPr wrap="square" lIns="0" rIns="0" tIns="18288" bIns="18288" anchor="t">
            <a:spAutoFit/>
          </a:bodyPr>
          <a:lstStyle/>
          <a:p>
            <a:pPr algn="ctr"/>
            <a:r>
              <a:rPr sz="1900" b="1" i="0">
                <a:solidFill>
                  <a:srgbClr val="1F2328"/>
                </a:solidFill>
                <a:latin typeface="Cambria"/>
              </a:rPr>
              <a:t>Default</a:t>
            </a:r>
          </a:p>
        </p:txBody>
      </p:sp>
      <p:sp>
        <p:nvSpPr>
          <p:cNvPr id="7" name="TextBox 6"/>
          <p:cNvSpPr txBox="1"/>
          <p:nvPr/>
        </p:nvSpPr>
        <p:spPr>
          <a:xfrm>
            <a:off x="5577840" y="1965960"/>
            <a:ext cx="2834640" cy="365760"/>
          </a:xfrm>
          <a:prstGeom prst="rect">
            <a:avLst/>
          </a:prstGeom>
          <a:noFill/>
        </p:spPr>
        <p:txBody>
          <a:bodyPr wrap="square" lIns="0" rIns="0" tIns="18288" bIns="18288" anchor="t">
            <a:spAutoFit/>
          </a:bodyPr>
          <a:lstStyle/>
          <a:p>
            <a:pPr algn="ctr"/>
            <a:r>
              <a:rPr sz="1900" b="1" i="0">
                <a:solidFill>
                  <a:srgbClr val="1F2328"/>
                </a:solidFill>
                <a:latin typeface="Cambria"/>
              </a:rPr>
              <a:t>No default</a:t>
            </a:r>
          </a:p>
        </p:txBody>
      </p:sp>
      <p:sp>
        <p:nvSpPr>
          <p:cNvPr id="8" name="TextBox 7"/>
          <p:cNvSpPr txBox="1"/>
          <p:nvPr/>
        </p:nvSpPr>
        <p:spPr>
          <a:xfrm>
            <a:off x="685800" y="2651760"/>
            <a:ext cx="1920240" cy="1234440"/>
          </a:xfrm>
          <a:prstGeom prst="rect">
            <a:avLst/>
          </a:prstGeom>
          <a:noFill/>
        </p:spPr>
        <p:txBody>
          <a:bodyPr wrap="square" lIns="0" rIns="0" tIns="18288" bIns="18288" anchor="ctr">
            <a:spAutoFit/>
          </a:bodyPr>
          <a:lstStyle/>
          <a:p>
            <a:pPr algn="r"/>
            <a:r>
              <a:rPr sz="1600" b="0" i="0">
                <a:solidFill>
                  <a:srgbClr val="6A6F75"/>
                </a:solidFill>
                <a:latin typeface="Calibri"/>
              </a:rPr>
              <a:t>What really happened:
Default</a:t>
            </a:r>
          </a:p>
        </p:txBody>
      </p:sp>
      <p:sp>
        <p:nvSpPr>
          <p:cNvPr id="9" name="TextBox 8"/>
          <p:cNvSpPr txBox="1"/>
          <p:nvPr/>
        </p:nvSpPr>
        <p:spPr>
          <a:xfrm>
            <a:off x="685800" y="4251960"/>
            <a:ext cx="1920240" cy="1234440"/>
          </a:xfrm>
          <a:prstGeom prst="rect">
            <a:avLst/>
          </a:prstGeom>
          <a:noFill/>
        </p:spPr>
        <p:txBody>
          <a:bodyPr wrap="square" lIns="0" rIns="0" tIns="18288" bIns="18288" anchor="ctr">
            <a:spAutoFit/>
          </a:bodyPr>
          <a:lstStyle/>
          <a:p>
            <a:pPr algn="r"/>
            <a:r>
              <a:rPr sz="1600" b="0" i="0">
                <a:solidFill>
                  <a:srgbClr val="6A6F75"/>
                </a:solidFill>
                <a:latin typeface="Calibri"/>
              </a:rPr>
              <a:t>What really happened:
No default</a:t>
            </a:r>
          </a:p>
        </p:txBody>
      </p:sp>
      <p:grpSp>
        <p:nvGrpSpPr>
          <p:cNvPr id="10" name="cell-tp"/>
          <p:cNvGrpSpPr/>
          <p:nvPr/>
        </p:nvGrpSpPr>
        <p:grpSpPr>
          <a:xfrm>
            <a:off x="2743200" y="2468880"/>
            <a:ext cx="2834640" cy="1600200"/>
            <a:chOff x="2743200" y="2468880"/>
            <a:chExt cx="2834640" cy="1600200"/>
          </a:xfrm>
        </p:grpSpPr>
        <p:sp>
          <p:nvSpPr>
            <p:cNvPr id="11" name="Rectangle 10"/>
            <p:cNvSpPr/>
            <p:nvPr/>
          </p:nvSpPr>
          <p:spPr>
            <a:xfrm>
              <a:off x="2743200" y="2468880"/>
              <a:ext cx="2834640" cy="1600200"/>
            </a:xfrm>
            <a:prstGeom prst="rect">
              <a:avLst/>
            </a:prstGeom>
            <a:noFill/>
            <a:ln w="12700">
              <a:solidFill>
                <a:srgbClr val="1F2328"/>
              </a:solidFill>
            </a:ln>
          </p:spPr>
          <p:txBody>
            <a:bodyPr rtlCol="0" anchor="ctr"/>
            <a:lstStyle/>
            <a:p>
              <a:pPr algn="ctr"/>
            </a:p>
          </p:txBody>
        </p:sp>
        <p:sp>
          <p:nvSpPr>
            <p:cNvPr id="12" name="TextBox 11"/>
            <p:cNvSpPr txBox="1"/>
            <p:nvPr/>
          </p:nvSpPr>
          <p:spPr>
            <a:xfrm>
              <a:off x="2880360" y="2606040"/>
              <a:ext cx="2560320" cy="777240"/>
            </a:xfrm>
            <a:prstGeom prst="rect">
              <a:avLst/>
            </a:prstGeom>
            <a:noFill/>
          </p:spPr>
          <p:txBody>
            <a:bodyPr wrap="square" lIns="0" rIns="0" tIns="18288" bIns="18288" anchor="ctr">
              <a:spAutoFit/>
            </a:bodyPr>
            <a:lstStyle/>
            <a:p>
              <a:pPr algn="ctr"/>
              <a:r>
                <a:rPr sz="4400" b="1" i="0">
                  <a:solidFill>
                    <a:srgbClr val="1F2328"/>
                  </a:solidFill>
                  <a:latin typeface="Cambria"/>
                </a:rPr>
                <a:t>120</a:t>
              </a:r>
            </a:p>
          </p:txBody>
        </p:sp>
        <p:sp>
          <p:nvSpPr>
            <p:cNvPr id="13" name="TextBox 12"/>
            <p:cNvSpPr txBox="1"/>
            <p:nvPr/>
          </p:nvSpPr>
          <p:spPr>
            <a:xfrm>
              <a:off x="2880360" y="3429000"/>
              <a:ext cx="2560320" cy="594359"/>
            </a:xfrm>
            <a:prstGeom prst="rect">
              <a:avLst/>
            </a:prstGeom>
            <a:noFill/>
          </p:spPr>
          <p:txBody>
            <a:bodyPr wrap="square" lIns="0" rIns="0" tIns="18288" bIns="18288" anchor="t">
              <a:spAutoFit/>
            </a:bodyPr>
            <a:lstStyle/>
            <a:p>
              <a:pPr algn="ctr"/>
              <a:r>
                <a:rPr sz="1900" b="0" i="0">
                  <a:solidFill>
                    <a:srgbClr val="3B4046"/>
                  </a:solidFill>
                  <a:latin typeface="Calibri"/>
                </a:rPr>
                <a:t>Defaulter, flagged</a:t>
              </a:r>
            </a:p>
          </p:txBody>
        </p:sp>
      </p:grpSp>
      <p:grpSp>
        <p:nvGrpSpPr>
          <p:cNvPr id="14" name="cell-fn"/>
          <p:cNvGrpSpPr/>
          <p:nvPr/>
        </p:nvGrpSpPr>
        <p:grpSpPr>
          <a:xfrm>
            <a:off x="5577840" y="2468880"/>
            <a:ext cx="2834640" cy="1600200"/>
            <a:chOff x="5577840" y="2468880"/>
            <a:chExt cx="2834640" cy="1600200"/>
          </a:xfrm>
        </p:grpSpPr>
        <p:sp>
          <p:nvSpPr>
            <p:cNvPr id="15" name="Rectangle 14"/>
            <p:cNvSpPr/>
            <p:nvPr/>
          </p:nvSpPr>
          <p:spPr>
            <a:xfrm>
              <a:off x="5577840" y="2468880"/>
              <a:ext cx="2834640" cy="1600200"/>
            </a:xfrm>
            <a:prstGeom prst="rect">
              <a:avLst/>
            </a:prstGeom>
            <a:noFill/>
            <a:ln w="19050">
              <a:solidFill>
                <a:srgbClr val="B04A2B"/>
              </a:solidFill>
            </a:ln>
          </p:spPr>
          <p:txBody>
            <a:bodyPr rtlCol="0" anchor="ctr"/>
            <a:lstStyle/>
            <a:p>
              <a:pPr algn="ctr"/>
            </a:p>
          </p:txBody>
        </p:sp>
        <p:sp>
          <p:nvSpPr>
            <p:cNvPr id="16" name="TextBox 15"/>
            <p:cNvSpPr txBox="1"/>
            <p:nvPr/>
          </p:nvSpPr>
          <p:spPr>
            <a:xfrm>
              <a:off x="5715000" y="2606040"/>
              <a:ext cx="2560320" cy="777240"/>
            </a:xfrm>
            <a:prstGeom prst="rect">
              <a:avLst/>
            </a:prstGeom>
            <a:noFill/>
          </p:spPr>
          <p:txBody>
            <a:bodyPr wrap="square" lIns="0" rIns="0" tIns="18288" bIns="18288" anchor="ctr">
              <a:spAutoFit/>
            </a:bodyPr>
            <a:lstStyle/>
            <a:p>
              <a:pPr algn="ctr"/>
              <a:r>
                <a:rPr sz="4400" b="1" i="0">
                  <a:solidFill>
                    <a:srgbClr val="B04A2B"/>
                  </a:solidFill>
                  <a:latin typeface="Cambria"/>
                </a:rPr>
                <a:t>155</a:t>
              </a:r>
            </a:p>
          </p:txBody>
        </p:sp>
        <p:sp>
          <p:nvSpPr>
            <p:cNvPr id="17" name="TextBox 16"/>
            <p:cNvSpPr txBox="1"/>
            <p:nvPr/>
          </p:nvSpPr>
          <p:spPr>
            <a:xfrm>
              <a:off x="5715000" y="3429000"/>
              <a:ext cx="2560320" cy="594359"/>
            </a:xfrm>
            <a:prstGeom prst="rect">
              <a:avLst/>
            </a:prstGeom>
            <a:noFill/>
          </p:spPr>
          <p:txBody>
            <a:bodyPr wrap="square" lIns="0" rIns="0" tIns="18288" bIns="18288" anchor="t">
              <a:spAutoFit/>
            </a:bodyPr>
            <a:lstStyle/>
            <a:p>
              <a:pPr algn="ctr"/>
              <a:r>
                <a:rPr sz="1900" b="0" i="0">
                  <a:solidFill>
                    <a:srgbClr val="3B4046"/>
                  </a:solidFill>
                  <a:latin typeface="Calibri"/>
                </a:rPr>
                <a:t>Defaulter, missed</a:t>
              </a:r>
            </a:p>
          </p:txBody>
        </p:sp>
      </p:grpSp>
      <p:grpSp>
        <p:nvGrpSpPr>
          <p:cNvPr id="18" name="cell-fp"/>
          <p:cNvGrpSpPr/>
          <p:nvPr/>
        </p:nvGrpSpPr>
        <p:grpSpPr>
          <a:xfrm>
            <a:off x="2743200" y="4069080"/>
            <a:ext cx="2834640" cy="1600200"/>
            <a:chOff x="2743200" y="4069080"/>
            <a:chExt cx="2834640" cy="1600200"/>
          </a:xfrm>
        </p:grpSpPr>
        <p:sp>
          <p:nvSpPr>
            <p:cNvPr id="19" name="Rectangle 18"/>
            <p:cNvSpPr/>
            <p:nvPr/>
          </p:nvSpPr>
          <p:spPr>
            <a:xfrm>
              <a:off x="2743200" y="4069080"/>
              <a:ext cx="2834640" cy="1600200"/>
            </a:xfrm>
            <a:prstGeom prst="rect">
              <a:avLst/>
            </a:prstGeom>
            <a:noFill/>
            <a:ln w="19050">
              <a:solidFill>
                <a:srgbClr val="B04A2B"/>
              </a:solidFill>
            </a:ln>
          </p:spPr>
          <p:txBody>
            <a:bodyPr rtlCol="0" anchor="ctr"/>
            <a:lstStyle/>
            <a:p>
              <a:pPr algn="ctr"/>
            </a:p>
          </p:txBody>
        </p:sp>
        <p:sp>
          <p:nvSpPr>
            <p:cNvPr id="20" name="TextBox 19"/>
            <p:cNvSpPr txBox="1"/>
            <p:nvPr/>
          </p:nvSpPr>
          <p:spPr>
            <a:xfrm>
              <a:off x="2880360" y="4206240"/>
              <a:ext cx="2560320" cy="777240"/>
            </a:xfrm>
            <a:prstGeom prst="rect">
              <a:avLst/>
            </a:prstGeom>
            <a:noFill/>
          </p:spPr>
          <p:txBody>
            <a:bodyPr wrap="square" lIns="0" rIns="0" tIns="18288" bIns="18288" anchor="ctr">
              <a:spAutoFit/>
            </a:bodyPr>
            <a:lstStyle/>
            <a:p>
              <a:pPr algn="ctr"/>
              <a:r>
                <a:rPr sz="4400" b="1" i="0">
                  <a:solidFill>
                    <a:srgbClr val="B04A2B"/>
                  </a:solidFill>
                  <a:latin typeface="Cambria"/>
                </a:rPr>
                <a:t>142</a:t>
              </a:r>
            </a:p>
          </p:txBody>
        </p:sp>
        <p:sp>
          <p:nvSpPr>
            <p:cNvPr id="21" name="TextBox 20"/>
            <p:cNvSpPr txBox="1"/>
            <p:nvPr/>
          </p:nvSpPr>
          <p:spPr>
            <a:xfrm>
              <a:off x="2880360" y="5029200"/>
              <a:ext cx="2560320" cy="594359"/>
            </a:xfrm>
            <a:prstGeom prst="rect">
              <a:avLst/>
            </a:prstGeom>
            <a:noFill/>
          </p:spPr>
          <p:txBody>
            <a:bodyPr wrap="square" lIns="0" rIns="0" tIns="18288" bIns="18288" anchor="t">
              <a:spAutoFit/>
            </a:bodyPr>
            <a:lstStyle/>
            <a:p>
              <a:pPr algn="ctr"/>
              <a:r>
                <a:rPr sz="1900" b="0" i="0">
                  <a:solidFill>
                    <a:srgbClr val="3B4046"/>
                  </a:solidFill>
                  <a:latin typeface="Calibri"/>
                </a:rPr>
                <a:t>Repaid, flagged</a:t>
              </a:r>
            </a:p>
          </p:txBody>
        </p:sp>
      </p:grpSp>
      <p:grpSp>
        <p:nvGrpSpPr>
          <p:cNvPr id="22" name="cell-tn"/>
          <p:cNvGrpSpPr/>
          <p:nvPr/>
        </p:nvGrpSpPr>
        <p:grpSpPr>
          <a:xfrm>
            <a:off x="5577840" y="4069080"/>
            <a:ext cx="2834640" cy="1600200"/>
            <a:chOff x="5577840" y="4069080"/>
            <a:chExt cx="2834640" cy="1600200"/>
          </a:xfrm>
        </p:grpSpPr>
        <p:sp>
          <p:nvSpPr>
            <p:cNvPr id="23" name="Rectangle 22"/>
            <p:cNvSpPr/>
            <p:nvPr/>
          </p:nvSpPr>
          <p:spPr>
            <a:xfrm>
              <a:off x="5577840" y="4069080"/>
              <a:ext cx="2834640" cy="1600200"/>
            </a:xfrm>
            <a:prstGeom prst="rect">
              <a:avLst/>
            </a:prstGeom>
            <a:noFill/>
            <a:ln w="12700">
              <a:solidFill>
                <a:srgbClr val="1F2328"/>
              </a:solidFill>
            </a:ln>
          </p:spPr>
          <p:txBody>
            <a:bodyPr rtlCol="0" anchor="ctr"/>
            <a:lstStyle/>
            <a:p>
              <a:pPr algn="ctr"/>
            </a:p>
          </p:txBody>
        </p:sp>
        <p:sp>
          <p:nvSpPr>
            <p:cNvPr id="24" name="TextBox 23"/>
            <p:cNvSpPr txBox="1"/>
            <p:nvPr/>
          </p:nvSpPr>
          <p:spPr>
            <a:xfrm>
              <a:off x="5715000" y="4206240"/>
              <a:ext cx="2560320" cy="777240"/>
            </a:xfrm>
            <a:prstGeom prst="rect">
              <a:avLst/>
            </a:prstGeom>
            <a:noFill/>
          </p:spPr>
          <p:txBody>
            <a:bodyPr wrap="square" lIns="0" rIns="0" tIns="18288" bIns="18288" anchor="ctr">
              <a:spAutoFit/>
            </a:bodyPr>
            <a:lstStyle/>
            <a:p>
              <a:pPr algn="ctr"/>
              <a:r>
                <a:rPr sz="4400" b="1" i="0">
                  <a:solidFill>
                    <a:srgbClr val="1F2328"/>
                  </a:solidFill>
                  <a:latin typeface="Cambria"/>
                </a:rPr>
                <a:t>1583</a:t>
              </a:r>
            </a:p>
          </p:txBody>
        </p:sp>
        <p:sp>
          <p:nvSpPr>
            <p:cNvPr id="25" name="TextBox 24"/>
            <p:cNvSpPr txBox="1"/>
            <p:nvPr/>
          </p:nvSpPr>
          <p:spPr>
            <a:xfrm>
              <a:off x="5715000" y="5029200"/>
              <a:ext cx="2560320" cy="594359"/>
            </a:xfrm>
            <a:prstGeom prst="rect">
              <a:avLst/>
            </a:prstGeom>
            <a:noFill/>
          </p:spPr>
          <p:txBody>
            <a:bodyPr wrap="square" lIns="0" rIns="0" tIns="18288" bIns="18288" anchor="t">
              <a:spAutoFit/>
            </a:bodyPr>
            <a:lstStyle/>
            <a:p>
              <a:pPr algn="ctr"/>
              <a:r>
                <a:rPr sz="1900" b="0" i="0">
                  <a:solidFill>
                    <a:srgbClr val="3B4046"/>
                  </a:solidFill>
                  <a:latin typeface="Calibri"/>
                </a:rPr>
                <a:t>Repaid, cleared</a:t>
              </a:r>
            </a:p>
          </p:txBody>
        </p:sp>
      </p:grpSp>
      <p:cxnSp>
        <p:nvCxnSpPr>
          <p:cNvPr id="26" name="Connector 25"/>
          <p:cNvCxnSpPr/>
          <p:nvPr/>
        </p:nvCxnSpPr>
        <p:spPr>
          <a:xfrm>
            <a:off x="8869680" y="2468880"/>
            <a:ext cx="2636215" cy="0"/>
          </a:xfrm>
          <a:prstGeom prst="line">
            <a:avLst/>
          </a:prstGeom>
          <a:ln w="15875">
            <a:solidFill>
              <a:srgbClr val="1F2328"/>
            </a:solidFill>
          </a:ln>
        </p:spPr>
      </p:cxnSp>
      <p:sp>
        <p:nvSpPr>
          <p:cNvPr id="27" name="TextBox 26"/>
          <p:cNvSpPr txBox="1"/>
          <p:nvPr/>
        </p:nvSpPr>
        <p:spPr>
          <a:xfrm>
            <a:off x="8869680" y="2578608"/>
            <a:ext cx="2636215" cy="3108960"/>
          </a:xfrm>
          <a:prstGeom prst="rect">
            <a:avLst/>
          </a:prstGeom>
          <a:noFill/>
        </p:spPr>
        <p:txBody>
          <a:bodyPr wrap="square" lIns="0" rIns="0" tIns="18288" bIns="18288" anchor="t">
            <a:spAutoFit/>
          </a:bodyPr>
          <a:lstStyle/>
          <a:p>
            <a:pPr algn="l"/>
            <a:r>
              <a:rPr sz="2200" b="0" i="0">
                <a:solidFill>
                  <a:srgbClr val="1F2328"/>
                </a:solidFill>
                <a:latin typeface="Cambria"/>
              </a:rPr>
              <a:t>A typical run: yours will be close but not identical. 2,000 test loans, flagged at threshold 0.2.</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Two mistakes with two different costs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16   Judging a model: metrics, leakage and imbalance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A missed default</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The loan is not repaid</a:t>
              </a:r>
            </a:p>
          </p:txBody>
        </p:sp>
        <p:cxnSp>
          <p:nvCxnSpPr>
            <p:cNvPr id="10" name="Connector 9"/>
            <p:cNvCxnSpPr/>
            <p:nvPr/>
          </p:nvCxnSpPr>
          <p:spPr>
            <a:xfrm>
              <a:off x="685800" y="3154680"/>
              <a:ext cx="5090007" cy="0"/>
            </a:xfrm>
            <a:prstGeom prst="line">
              <a:avLst/>
            </a:prstGeom>
            <a:ln w="6350">
              <a:solidFill>
                <a:srgbClr val="C9C5BC"/>
              </a:solidFill>
            </a:ln>
          </p:spPr>
        </p:cxnSp>
        <p:sp>
          <p:nvSpPr>
            <p:cNvPr id="11" name="TextBox 10"/>
            <p:cNvSpPr txBox="1"/>
            <p:nvPr/>
          </p:nvSpPr>
          <p:spPr>
            <a:xfrm>
              <a:off x="685800"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A typical defaulted loan is about 1.6 million UGX</a:t>
              </a:r>
            </a:p>
          </p:txBody>
        </p:sp>
        <p:cxnSp>
          <p:nvCxnSpPr>
            <p:cNvPr id="12" name="Connector 11"/>
            <p:cNvCxnSpPr/>
            <p:nvPr/>
          </p:nvCxnSpPr>
          <p:spPr>
            <a:xfrm>
              <a:off x="685800" y="4069080"/>
              <a:ext cx="5090007" cy="0"/>
            </a:xfrm>
            <a:prstGeom prst="line">
              <a:avLst/>
            </a:prstGeom>
            <a:ln w="6350">
              <a:solidFill>
                <a:srgbClr val="C9C5BC"/>
              </a:solidFill>
            </a:ln>
          </p:spPr>
        </p:cxnSp>
        <p:sp>
          <p:nvSpPr>
            <p:cNvPr id="13" name="TextBox 12"/>
            <p:cNvSpPr txBox="1"/>
            <p:nvPr/>
          </p:nvSpPr>
          <p:spPr>
            <a:xfrm>
              <a:off x="685800"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Learned months later</a:t>
              </a:r>
            </a:p>
          </p:txBody>
        </p:sp>
      </p:grpSp>
      <p:grpSp>
        <p:nvGrpSpPr>
          <p:cNvPr id="14" name="side-2"/>
          <p:cNvGrpSpPr/>
          <p:nvPr/>
        </p:nvGrpSpPr>
        <p:grpSpPr>
          <a:xfrm>
            <a:off x="6415887" y="1600200"/>
            <a:ext cx="5090008" cy="3364992"/>
            <a:chOff x="6415887" y="1600200"/>
            <a:chExt cx="5090008" cy="3364992"/>
          </a:xfrm>
        </p:grpSpPr>
        <p:sp>
          <p:nvSpPr>
            <p:cNvPr id="15" name="TextBox 14"/>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A false alarm</a:t>
              </a:r>
            </a:p>
          </p:txBody>
        </p:sp>
        <p:cxnSp>
          <p:nvCxnSpPr>
            <p:cNvPr id="16" name="Connector 15"/>
            <p:cNvCxnSpPr/>
            <p:nvPr/>
          </p:nvCxnSpPr>
          <p:spPr>
            <a:xfrm>
              <a:off x="6415887" y="2167128"/>
              <a:ext cx="5090008" cy="0"/>
            </a:xfrm>
            <a:prstGeom prst="line">
              <a:avLst/>
            </a:prstGeom>
            <a:ln w="15875">
              <a:solidFill>
                <a:srgbClr val="1F2328"/>
              </a:solidFill>
            </a:ln>
          </p:spPr>
        </p:cxnSp>
        <p:sp>
          <p:nvSpPr>
            <p:cNvPr id="17" name="TextBox 16"/>
            <p:cNvSpPr txBox="1"/>
            <p:nvPr/>
          </p:nvSpPr>
          <p:spPr>
            <a:xfrm>
              <a:off x="6415887"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A good customer is turned away</a:t>
              </a:r>
            </a:p>
          </p:txBody>
        </p:sp>
        <p:cxnSp>
          <p:nvCxnSpPr>
            <p:cNvPr id="18" name="Connector 17"/>
            <p:cNvCxnSpPr/>
            <p:nvPr/>
          </p:nvCxnSpPr>
          <p:spPr>
            <a:xfrm>
              <a:off x="6415887" y="3154680"/>
              <a:ext cx="5090008" cy="0"/>
            </a:xfrm>
            <a:prstGeom prst="line">
              <a:avLst/>
            </a:prstGeom>
            <a:ln w="6350">
              <a:solidFill>
                <a:srgbClr val="C9C5BC"/>
              </a:solidFill>
            </a:ln>
          </p:spPr>
        </p:cxnSp>
        <p:sp>
          <p:nvSpPr>
            <p:cNvPr id="19" name="TextBox 18"/>
            <p:cNvSpPr txBox="1"/>
            <p:nvPr/>
          </p:nvSpPr>
          <p:spPr>
            <a:xfrm>
              <a:off x="6415887"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Interest income is lost</a:t>
              </a:r>
            </a:p>
          </p:txBody>
        </p:sp>
        <p:cxnSp>
          <p:nvCxnSpPr>
            <p:cNvPr id="20" name="Connector 19"/>
            <p:cNvCxnSpPr/>
            <p:nvPr/>
          </p:nvCxnSpPr>
          <p:spPr>
            <a:xfrm>
              <a:off x="6415887" y="4069080"/>
              <a:ext cx="5090008" cy="0"/>
            </a:xfrm>
            <a:prstGeom prst="line">
              <a:avLst/>
            </a:prstGeom>
            <a:ln w="6350">
              <a:solidFill>
                <a:srgbClr val="C9C5BC"/>
              </a:solidFill>
            </a:ln>
          </p:spPr>
        </p:cxnSp>
        <p:sp>
          <p:nvSpPr>
            <p:cNvPr id="21" name="TextBox 20"/>
            <p:cNvSpPr txBox="1"/>
            <p:nvPr/>
          </p:nvSpPr>
          <p:spPr>
            <a:xfrm>
              <a:off x="6415887"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The customer may go to a rival</a:t>
              </a:r>
            </a:p>
          </p:txBody>
        </p:sp>
      </p:grpSp>
      <p:grpSp>
        <p:nvGrpSpPr>
          <p:cNvPr id="22" name="verdict"/>
          <p:cNvGrpSpPr/>
          <p:nvPr/>
        </p:nvGrpSpPr>
        <p:grpSpPr>
          <a:xfrm>
            <a:off x="685800" y="5257800"/>
            <a:ext cx="10820095" cy="978408"/>
            <a:chOff x="685800" y="5257800"/>
            <a:chExt cx="10820095" cy="978408"/>
          </a:xfrm>
        </p:grpSpPr>
        <p:cxnSp>
          <p:nvCxnSpPr>
            <p:cNvPr id="23" name="Connector 22"/>
            <p:cNvCxnSpPr/>
            <p:nvPr/>
          </p:nvCxnSpPr>
          <p:spPr>
            <a:xfrm>
              <a:off x="685800" y="5257800"/>
              <a:ext cx="10820095" cy="0"/>
            </a:xfrm>
            <a:prstGeom prst="line">
              <a:avLst/>
            </a:prstGeom>
            <a:ln w="15875">
              <a:solidFill>
                <a:srgbClr val="1F2328"/>
              </a:solidFill>
            </a:ln>
          </p:spPr>
        </p:cxnSp>
        <p:sp>
          <p:nvSpPr>
            <p:cNvPr id="24" name="TextBox 23"/>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The costs differ. The cost you fear more decides which number you watch.</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Precision and recall from the four counts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16   Judging a model: metrics, leakage and imbalance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sp>
        <p:nvSpPr>
          <p:cNvPr id="5" name="Rectangle 4"/>
          <p:cNvSpPr/>
          <p:nvPr/>
        </p:nvSpPr>
        <p:spPr>
          <a:xfrm>
            <a:off x="685800" y="1600200"/>
            <a:ext cx="6949440" cy="30540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779776"/>
          </a:xfrm>
          <a:prstGeom prst="rect">
            <a:avLst/>
          </a:prstGeom>
          <a:noFill/>
        </p:spPr>
        <p:txBody>
          <a:bodyPr wrap="none" lIns="0" rIns="0" tIns="0" bIns="0">
            <a:spAutoFit/>
          </a:bodyPr>
          <a:lstStyle/>
          <a:p>
            <a:r>
              <a:rPr sz="2000" b="0" i="0">
                <a:solidFill>
                  <a:srgbClr val="1F2328"/>
                </a:solidFill>
                <a:latin typeface="Courier New"/>
              </a:rPr>
              <a:t>tp</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fp</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fn</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tn</a:t>
            </a:r>
            <a:r>
              <a:rPr sz="2000" b="0" i="0">
                <a:solidFill>
                  <a:srgbClr val="1F2328"/>
                </a:solidFill>
                <a:latin typeface="Courier New"/>
              </a:rPr>
              <a:t> </a:t>
            </a:r>
            <a:r>
              <a:rPr sz="2000" b="0" i="0">
                <a:solidFill>
                  <a:srgbClr val="1F2328"/>
                </a:solidFill>
                <a:latin typeface="Courier New"/>
              </a:rPr>
              <a:t>=</a:t>
            </a:r>
            <a:r>
              <a:rPr sz="2000" b="0" i="0">
                <a:solidFill>
                  <a:srgbClr val="1F2328"/>
                </a:solidFill>
                <a:latin typeface="Courier New"/>
              </a:rPr>
              <a:t> </a:t>
            </a:r>
            <a:r>
              <a:rPr sz="2000" b="0" i="0">
                <a:solidFill>
                  <a:srgbClr val="3B4046"/>
                </a:solidFill>
                <a:latin typeface="Courier New"/>
              </a:rPr>
              <a:t>120</a:t>
            </a:r>
            <a:r>
              <a:rPr sz="2000" b="0" i="0">
                <a:solidFill>
                  <a:srgbClr val="1F2328"/>
                </a:solidFill>
                <a:latin typeface="Courier New"/>
              </a:rPr>
              <a:t>,</a:t>
            </a:r>
            <a:r>
              <a:rPr sz="2000" b="0" i="0">
                <a:solidFill>
                  <a:srgbClr val="1F2328"/>
                </a:solidFill>
                <a:latin typeface="Courier New"/>
              </a:rPr>
              <a:t> </a:t>
            </a:r>
            <a:r>
              <a:rPr sz="2000" b="0" i="0">
                <a:solidFill>
                  <a:srgbClr val="3B4046"/>
                </a:solidFill>
                <a:latin typeface="Courier New"/>
              </a:rPr>
              <a:t>142</a:t>
            </a:r>
            <a:r>
              <a:rPr sz="2000" b="0" i="0">
                <a:solidFill>
                  <a:srgbClr val="1F2328"/>
                </a:solidFill>
                <a:latin typeface="Courier New"/>
              </a:rPr>
              <a:t>,</a:t>
            </a:r>
            <a:r>
              <a:rPr sz="2000" b="0" i="0">
                <a:solidFill>
                  <a:srgbClr val="1F2328"/>
                </a:solidFill>
                <a:latin typeface="Courier New"/>
              </a:rPr>
              <a:t> </a:t>
            </a:r>
            <a:r>
              <a:rPr sz="2000" b="0" i="0">
                <a:solidFill>
                  <a:srgbClr val="3B4046"/>
                </a:solidFill>
                <a:latin typeface="Courier New"/>
              </a:rPr>
              <a:t>155</a:t>
            </a:r>
            <a:r>
              <a:rPr sz="2000" b="0" i="0">
                <a:solidFill>
                  <a:srgbClr val="1F2328"/>
                </a:solidFill>
                <a:latin typeface="Courier New"/>
              </a:rPr>
              <a:t>,</a:t>
            </a:r>
            <a:r>
              <a:rPr sz="2000" b="0" i="0">
                <a:solidFill>
                  <a:srgbClr val="1F2328"/>
                </a:solidFill>
                <a:latin typeface="Courier New"/>
              </a:rPr>
              <a:t> </a:t>
            </a:r>
            <a:r>
              <a:rPr sz="2000" b="0" i="0">
                <a:solidFill>
                  <a:srgbClr val="3B4046"/>
                </a:solidFill>
                <a:latin typeface="Courier New"/>
              </a:rPr>
              <a:t>1583</a:t>
            </a:r>
          </a:p>
          <a:p>
            <a:r>
              <a:rPr sz="2000" b="0" i="0">
                <a:solidFill>
                  <a:srgbClr val="1F2328"/>
                </a:solidFill>
                <a:latin typeface="Courier New"/>
              </a:rPr>
              <a:t> </a:t>
            </a:r>
          </a:p>
          <a:p>
            <a:r>
              <a:rPr sz="2000" b="0" i="0">
                <a:solidFill>
                  <a:srgbClr val="1F2328"/>
                </a:solidFill>
                <a:latin typeface="Courier New"/>
              </a:rPr>
              <a:t>precision</a:t>
            </a:r>
            <a:r>
              <a:rPr sz="2000" b="0" i="0">
                <a:solidFill>
                  <a:srgbClr val="1F2328"/>
                </a:solidFill>
                <a:latin typeface="Courier New"/>
              </a:rPr>
              <a:t> </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tp</a:t>
            </a:r>
            <a:r>
              <a:rPr sz="2000" b="0" i="0">
                <a:solidFill>
                  <a:srgbClr val="1F2328"/>
                </a:solidFill>
                <a:latin typeface="Courier New"/>
              </a:rPr>
              <a:t> </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a:t>
            </a:r>
            <a:r>
              <a:rPr sz="2000" b="0" i="0">
                <a:solidFill>
                  <a:srgbClr val="1F2328"/>
                </a:solidFill>
                <a:latin typeface="Courier New"/>
              </a:rPr>
              <a:t>tp</a:t>
            </a:r>
            <a:r>
              <a:rPr sz="2000" b="0" i="0">
                <a:solidFill>
                  <a:srgbClr val="1F2328"/>
                </a:solidFill>
                <a:latin typeface="Courier New"/>
              </a:rPr>
              <a:t> </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fp</a:t>
            </a:r>
            <a:r>
              <a:rPr sz="2000" b="0" i="0">
                <a:solidFill>
                  <a:srgbClr val="1F2328"/>
                </a:solidFill>
                <a:latin typeface="Courier New"/>
              </a:rPr>
              <a:t>)</a:t>
            </a:r>
          </a:p>
          <a:p>
            <a:r>
              <a:rPr sz="2000" b="0" i="0">
                <a:solidFill>
                  <a:srgbClr val="1F2328"/>
                </a:solidFill>
                <a:latin typeface="Courier New"/>
              </a:rPr>
              <a:t>recall</a:t>
            </a:r>
            <a:r>
              <a:rPr sz="2000" b="0" i="0">
                <a:solidFill>
                  <a:srgbClr val="1F2328"/>
                </a:solidFill>
                <a:latin typeface="Courier New"/>
              </a:rPr>
              <a:t> </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tp</a:t>
            </a:r>
            <a:r>
              <a:rPr sz="2000" b="0" i="0">
                <a:solidFill>
                  <a:srgbClr val="1F2328"/>
                </a:solidFill>
                <a:latin typeface="Courier New"/>
              </a:rPr>
              <a:t> </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a:t>
            </a:r>
            <a:r>
              <a:rPr sz="2000" b="0" i="0">
                <a:solidFill>
                  <a:srgbClr val="1F2328"/>
                </a:solidFill>
                <a:latin typeface="Courier New"/>
              </a:rPr>
              <a:t>tp</a:t>
            </a:r>
            <a:r>
              <a:rPr sz="2000" b="0" i="0">
                <a:solidFill>
                  <a:srgbClr val="1F2328"/>
                </a:solidFill>
                <a:latin typeface="Courier New"/>
              </a:rPr>
              <a:t> </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fn</a:t>
            </a:r>
            <a:r>
              <a:rPr sz="2000" b="0" i="0">
                <a:solidFill>
                  <a:srgbClr val="1F2328"/>
                </a:solidFill>
                <a:latin typeface="Courier New"/>
              </a:rPr>
              <a:t>)</a:t>
            </a:r>
          </a:p>
          <a:p>
            <a:r>
              <a:rPr sz="2000" b="0" i="0">
                <a:solidFill>
                  <a:srgbClr val="1F2328"/>
                </a:solidFill>
                <a:latin typeface="Courier New"/>
              </a:rPr>
              <a:t>accuracy</a:t>
            </a:r>
            <a:r>
              <a:rPr sz="2000" b="0" i="0">
                <a:solidFill>
                  <a:srgbClr val="1F2328"/>
                </a:solidFill>
                <a:latin typeface="Courier New"/>
              </a:rPr>
              <a:t> </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a:t>
            </a:r>
            <a:r>
              <a:rPr sz="2000" b="0" i="0">
                <a:solidFill>
                  <a:srgbClr val="1F2328"/>
                </a:solidFill>
                <a:latin typeface="Courier New"/>
              </a:rPr>
              <a:t>tp</a:t>
            </a:r>
            <a:r>
              <a:rPr sz="2000" b="0" i="0">
                <a:solidFill>
                  <a:srgbClr val="1F2328"/>
                </a:solidFill>
                <a:latin typeface="Courier New"/>
              </a:rPr>
              <a:t> </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tn</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a:t>
            </a:r>
            <a:r>
              <a:rPr sz="2000" b="0" i="0">
                <a:solidFill>
                  <a:srgbClr val="1F2328"/>
                </a:solidFill>
                <a:latin typeface="Courier New"/>
              </a:rPr>
              <a:t>tp</a:t>
            </a:r>
            <a:r>
              <a:rPr sz="2000" b="0" i="0">
                <a:solidFill>
                  <a:srgbClr val="1F2328"/>
                </a:solidFill>
                <a:latin typeface="Courier New"/>
              </a:rPr>
              <a:t> </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fp</a:t>
            </a:r>
            <a:r>
              <a:rPr sz="2000" b="0" i="0">
                <a:solidFill>
                  <a:srgbClr val="1F2328"/>
                </a:solidFill>
                <a:latin typeface="Courier New"/>
              </a:rPr>
              <a:t> </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fn</a:t>
            </a:r>
            <a:r>
              <a:rPr sz="2000" b="0" i="0">
                <a:solidFill>
                  <a:srgbClr val="1F2328"/>
                </a:solidFill>
                <a:latin typeface="Courier New"/>
              </a:rPr>
              <a:t> </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tn</a:t>
            </a:r>
            <a:r>
              <a:rPr sz="2000" b="0" i="0">
                <a:solidFill>
                  <a:srgbClr val="1F2328"/>
                </a:solidFill>
                <a:latin typeface="Courier New"/>
              </a:rPr>
              <a:t>)</a:t>
            </a:r>
          </a:p>
          <a:p>
            <a:r>
              <a:rPr sz="2000" b="0" i="0">
                <a:solidFill>
                  <a:srgbClr val="1F2328"/>
                </a:solidFill>
                <a:latin typeface="Courier New"/>
              </a:rPr>
              <a:t> </a:t>
            </a:r>
          </a:p>
          <a:p>
            <a:r>
              <a:rPr sz="2000" b="0" i="0">
                <a:solidFill>
                  <a:srgbClr val="1F2328"/>
                </a:solidFill>
                <a:latin typeface="Courier New"/>
              </a:rPr>
              <a:t>print</a:t>
            </a:r>
            <a:r>
              <a:rPr sz="2000" b="0" i="0">
                <a:solidFill>
                  <a:srgbClr val="1F2328"/>
                </a:solidFill>
                <a:latin typeface="Courier New"/>
              </a:rPr>
              <a:t>(</a:t>
            </a:r>
            <a:r>
              <a:rPr sz="2000" b="0" i="0">
                <a:solidFill>
                  <a:srgbClr val="B04A2B"/>
                </a:solidFill>
                <a:latin typeface="Courier New"/>
              </a:rPr>
              <a:t>'precision'</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round</a:t>
            </a:r>
            <a:r>
              <a:rPr sz="2000" b="0" i="0">
                <a:solidFill>
                  <a:srgbClr val="1F2328"/>
                </a:solidFill>
                <a:latin typeface="Courier New"/>
              </a:rPr>
              <a:t>(</a:t>
            </a:r>
            <a:r>
              <a:rPr sz="2000" b="0" i="0">
                <a:solidFill>
                  <a:srgbClr val="1F2328"/>
                </a:solidFill>
                <a:latin typeface="Courier New"/>
              </a:rPr>
              <a:t>precision</a:t>
            </a:r>
            <a:r>
              <a:rPr sz="2000" b="0" i="0">
                <a:solidFill>
                  <a:srgbClr val="1F2328"/>
                </a:solidFill>
                <a:latin typeface="Courier New"/>
              </a:rPr>
              <a:t>,</a:t>
            </a:r>
            <a:r>
              <a:rPr sz="2000" b="0" i="0">
                <a:solidFill>
                  <a:srgbClr val="1F2328"/>
                </a:solidFill>
                <a:latin typeface="Courier New"/>
              </a:rPr>
              <a:t> </a:t>
            </a:r>
            <a:r>
              <a:rPr sz="2000" b="0" i="0">
                <a:solidFill>
                  <a:srgbClr val="3B4046"/>
                </a:solidFill>
                <a:latin typeface="Courier New"/>
              </a:rPr>
              <a:t>3</a:t>
            </a:r>
            <a:r>
              <a:rPr sz="2000" b="0" i="0">
                <a:solidFill>
                  <a:srgbClr val="1F2328"/>
                </a:solidFill>
                <a:latin typeface="Courier New"/>
              </a:rPr>
              <a:t>)</a:t>
            </a:r>
            <a:r>
              <a:rPr sz="2000" b="0" i="0">
                <a:solidFill>
                  <a:srgbClr val="1F2328"/>
                </a:solidFill>
                <a:latin typeface="Courier New"/>
              </a:rPr>
              <a:t>)</a:t>
            </a:r>
          </a:p>
          <a:p>
            <a:r>
              <a:rPr sz="2000" b="0" i="0">
                <a:solidFill>
                  <a:srgbClr val="1F2328"/>
                </a:solidFill>
                <a:latin typeface="Courier New"/>
              </a:rPr>
              <a:t>print</a:t>
            </a:r>
            <a:r>
              <a:rPr sz="2000" b="0" i="0">
                <a:solidFill>
                  <a:srgbClr val="1F2328"/>
                </a:solidFill>
                <a:latin typeface="Courier New"/>
              </a:rPr>
              <a:t>(</a:t>
            </a:r>
            <a:r>
              <a:rPr sz="2000" b="0" i="0">
                <a:solidFill>
                  <a:srgbClr val="B04A2B"/>
                </a:solidFill>
                <a:latin typeface="Courier New"/>
              </a:rPr>
              <a:t>'recall'</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round</a:t>
            </a:r>
            <a:r>
              <a:rPr sz="2000" b="0" i="0">
                <a:solidFill>
                  <a:srgbClr val="1F2328"/>
                </a:solidFill>
                <a:latin typeface="Courier New"/>
              </a:rPr>
              <a:t>(</a:t>
            </a:r>
            <a:r>
              <a:rPr sz="2000" b="0" i="0">
                <a:solidFill>
                  <a:srgbClr val="1F2328"/>
                </a:solidFill>
                <a:latin typeface="Courier New"/>
              </a:rPr>
              <a:t>recall</a:t>
            </a:r>
            <a:r>
              <a:rPr sz="2000" b="0" i="0">
                <a:solidFill>
                  <a:srgbClr val="1F2328"/>
                </a:solidFill>
                <a:latin typeface="Courier New"/>
              </a:rPr>
              <a:t>,</a:t>
            </a:r>
            <a:r>
              <a:rPr sz="2000" b="0" i="0">
                <a:solidFill>
                  <a:srgbClr val="1F2328"/>
                </a:solidFill>
                <a:latin typeface="Courier New"/>
              </a:rPr>
              <a:t> </a:t>
            </a:r>
            <a:r>
              <a:rPr sz="2000" b="0" i="0">
                <a:solidFill>
                  <a:srgbClr val="3B4046"/>
                </a:solidFill>
                <a:latin typeface="Courier New"/>
              </a:rPr>
              <a:t>3</a:t>
            </a:r>
            <a:r>
              <a:rPr sz="2000" b="0" i="0">
                <a:solidFill>
                  <a:srgbClr val="1F2328"/>
                </a:solidFill>
                <a:latin typeface="Courier New"/>
              </a:rPr>
              <a:t>)</a:t>
            </a:r>
            <a:r>
              <a:rPr sz="2000" b="0" i="0">
                <a:solidFill>
                  <a:srgbClr val="1F2328"/>
                </a:solidFill>
                <a:latin typeface="Courier New"/>
              </a:rPr>
              <a:t>)</a:t>
            </a:r>
          </a:p>
          <a:p>
            <a:r>
              <a:rPr sz="2000" b="0" i="0">
                <a:solidFill>
                  <a:srgbClr val="1F2328"/>
                </a:solidFill>
                <a:latin typeface="Courier New"/>
              </a:rPr>
              <a:t>print</a:t>
            </a:r>
            <a:r>
              <a:rPr sz="2000" b="0" i="0">
                <a:solidFill>
                  <a:srgbClr val="1F2328"/>
                </a:solidFill>
                <a:latin typeface="Courier New"/>
              </a:rPr>
              <a:t>(</a:t>
            </a:r>
            <a:r>
              <a:rPr sz="2000" b="0" i="0">
                <a:solidFill>
                  <a:srgbClr val="B04A2B"/>
                </a:solidFill>
                <a:latin typeface="Courier New"/>
              </a:rPr>
              <a:t>'accuracy'</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round</a:t>
            </a:r>
            <a:r>
              <a:rPr sz="2000" b="0" i="0">
                <a:solidFill>
                  <a:srgbClr val="1F2328"/>
                </a:solidFill>
                <a:latin typeface="Courier New"/>
              </a:rPr>
              <a:t>(</a:t>
            </a:r>
            <a:r>
              <a:rPr sz="2000" b="0" i="0">
                <a:solidFill>
                  <a:srgbClr val="1F2328"/>
                </a:solidFill>
                <a:latin typeface="Courier New"/>
              </a:rPr>
              <a:t>accuracy</a:t>
            </a:r>
            <a:r>
              <a:rPr sz="2000" b="0" i="0">
                <a:solidFill>
                  <a:srgbClr val="1F2328"/>
                </a:solidFill>
                <a:latin typeface="Courier New"/>
              </a:rPr>
              <a:t>,</a:t>
            </a:r>
            <a:r>
              <a:rPr sz="2000" b="0" i="0">
                <a:solidFill>
                  <a:srgbClr val="1F2328"/>
                </a:solidFill>
                <a:latin typeface="Courier New"/>
              </a:rPr>
              <a:t> </a:t>
            </a:r>
            <a:r>
              <a:rPr sz="2000" b="0" i="0">
                <a:solidFill>
                  <a:srgbClr val="3B4046"/>
                </a:solidFill>
                <a:latin typeface="Courier New"/>
              </a:rPr>
              <a:t>3</a:t>
            </a:r>
            <a:r>
              <a:rPr sz="2000" b="0" i="0">
                <a:solidFill>
                  <a:srgbClr val="1F2328"/>
                </a:solidFill>
                <a:latin typeface="Courier New"/>
              </a:rPr>
              <a:t>)</a:t>
            </a:r>
            <a:r>
              <a:rPr sz="2000" b="0" i="0">
                <a:solidFill>
                  <a:srgbClr val="1F2328"/>
                </a:solidFill>
                <a:latin typeface="Courier New"/>
              </a:rPr>
              <a:t>)</a:t>
            </a:r>
          </a:p>
        </p:txBody>
      </p:sp>
      <p:grpSp>
        <p:nvGrpSpPr>
          <p:cNvPr id="7" name="output"/>
          <p:cNvGrpSpPr/>
          <p:nvPr/>
        </p:nvGrpSpPr>
        <p:grpSpPr>
          <a:xfrm>
            <a:off x="685800" y="4764024"/>
            <a:ext cx="6949440" cy="950976"/>
            <a:chOff x="685800" y="4764024"/>
            <a:chExt cx="6949440" cy="950976"/>
          </a:xfrm>
        </p:grpSpPr>
        <p:sp>
          <p:nvSpPr>
            <p:cNvPr id="8" name="TextBox 7"/>
            <p:cNvSpPr txBox="1"/>
            <p:nvPr/>
          </p:nvSpPr>
          <p:spPr>
            <a:xfrm>
              <a:off x="685800" y="47640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5020056"/>
              <a:ext cx="6949440"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5111496"/>
              <a:ext cx="6675120" cy="585216"/>
            </a:xfrm>
            <a:prstGeom prst="rect">
              <a:avLst/>
            </a:prstGeom>
            <a:noFill/>
          </p:spPr>
          <p:txBody>
            <a:bodyPr wrap="none" lIns="0" rIns="0" tIns="0" bIns="0">
              <a:spAutoFit/>
            </a:bodyPr>
            <a:lstStyle/>
            <a:p>
              <a:r>
                <a:rPr sz="1400" b="0" i="0">
                  <a:solidFill>
                    <a:srgbClr val="1F2328"/>
                  </a:solidFill>
                  <a:latin typeface="Courier New"/>
                </a:rPr>
                <a:t>precision 0.458</a:t>
              </a:r>
            </a:p>
            <a:p>
              <a:r>
                <a:rPr sz="1400" b="0" i="0">
                  <a:solidFill>
                    <a:srgbClr val="1F2328"/>
                  </a:solidFill>
                  <a:latin typeface="Courier New"/>
                </a:rPr>
                <a:t>recall 0.436</a:t>
              </a:r>
            </a:p>
            <a:p>
              <a:r>
                <a:rPr sz="1400" b="0" i="0">
                  <a:solidFill>
                    <a:srgbClr val="1F2328"/>
                  </a:solidFill>
                  <a:latin typeface="Courier New"/>
                </a:rPr>
                <a:t>accuracy 0.852</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Type in the four counts from the matrix.</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Each measure is one division.</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Accuracy is the one we already knew.</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Precision and recall in plain words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16   Judging a model: metrics, leakage and imbalance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Each answers a different question about the same flags.</a:t>
            </a:r>
          </a:p>
        </p:txBody>
      </p:sp>
      <p:cxnSp>
        <p:nvCxnSpPr>
          <p:cNvPr id="6" name="Connector 5"/>
          <p:cNvCxnSpPr/>
          <p:nvPr/>
        </p:nvCxnSpPr>
        <p:spPr>
          <a:xfrm>
            <a:off x="685800" y="2350617"/>
            <a:ext cx="10820095" cy="0"/>
          </a:xfrm>
          <a:prstGeom prst="line">
            <a:avLst/>
          </a:prstGeom>
          <a:ln w="15875">
            <a:solidFill>
              <a:srgbClr val="1F2328"/>
            </a:solidFill>
          </a:ln>
        </p:spPr>
      </p:cxnSp>
      <p:sp>
        <p:nvSpPr>
          <p:cNvPr id="7" name="TextBox 6"/>
          <p:cNvSpPr txBox="1"/>
          <p:nvPr/>
        </p:nvSpPr>
        <p:spPr>
          <a:xfrm>
            <a:off x="685800" y="2460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Precision</a:t>
            </a:r>
          </a:p>
        </p:txBody>
      </p:sp>
      <p:sp>
        <p:nvSpPr>
          <p:cNvPr id="8" name="TextBox 7"/>
          <p:cNvSpPr txBox="1"/>
          <p:nvPr/>
        </p:nvSpPr>
        <p:spPr>
          <a:xfrm>
            <a:off x="3611880" y="2478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Of the loans we flagged, how many really defaulted? Here 120 of 262.</a:t>
            </a:r>
          </a:p>
        </p:txBody>
      </p:sp>
      <p:cxnSp>
        <p:nvCxnSpPr>
          <p:cNvPr id="9" name="Connector 8"/>
          <p:cNvCxnSpPr/>
          <p:nvPr/>
        </p:nvCxnSpPr>
        <p:spPr>
          <a:xfrm>
            <a:off x="685800" y="3493617"/>
            <a:ext cx="10820095" cy="0"/>
          </a:xfrm>
          <a:prstGeom prst="line">
            <a:avLst/>
          </a:prstGeom>
          <a:ln w="6350">
            <a:solidFill>
              <a:srgbClr val="C9C5BC"/>
            </a:solidFill>
          </a:ln>
        </p:spPr>
      </p:cxnSp>
      <p:sp>
        <p:nvSpPr>
          <p:cNvPr id="10" name="TextBox 9"/>
          <p:cNvSpPr txBox="1"/>
          <p:nvPr/>
        </p:nvSpPr>
        <p:spPr>
          <a:xfrm>
            <a:off x="685800" y="3603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Recall</a:t>
            </a:r>
          </a:p>
        </p:txBody>
      </p:sp>
      <p:sp>
        <p:nvSpPr>
          <p:cNvPr id="11" name="TextBox 10"/>
          <p:cNvSpPr txBox="1"/>
          <p:nvPr/>
        </p:nvSpPr>
        <p:spPr>
          <a:xfrm>
            <a:off x="3611880" y="3621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Of the loans that really defaulted, how many did we catch? Here 120 of 275.</a:t>
            </a:r>
          </a:p>
        </p:txBody>
      </p:sp>
      <p:cxnSp>
        <p:nvCxnSpPr>
          <p:cNvPr id="12" name="Connector 11"/>
          <p:cNvCxnSpPr/>
          <p:nvPr/>
        </p:nvCxnSpPr>
        <p:spPr>
          <a:xfrm>
            <a:off x="685800" y="4636617"/>
            <a:ext cx="10820095" cy="0"/>
          </a:xfrm>
          <a:prstGeom prst="line">
            <a:avLst/>
          </a:prstGeom>
          <a:ln w="6350">
            <a:solidFill>
              <a:srgbClr val="C9C5BC"/>
            </a:solidFill>
          </a:ln>
        </p:spPr>
      </p:cxnSp>
      <p:sp>
        <p:nvSpPr>
          <p:cNvPr id="13" name="TextBox 12"/>
          <p:cNvSpPr txBox="1"/>
          <p:nvPr/>
        </p:nvSpPr>
        <p:spPr>
          <a:xfrm>
            <a:off x="685800" y="4746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Choose by cost</a:t>
            </a:r>
          </a:p>
        </p:txBody>
      </p:sp>
      <p:sp>
        <p:nvSpPr>
          <p:cNvPr id="14" name="TextBox 13"/>
          <p:cNvSpPr txBox="1"/>
          <p:nvPr/>
        </p:nvSpPr>
        <p:spPr>
          <a:xfrm>
            <a:off x="3611880" y="4764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Fear missed defaults? Watch recall. Fear false alarms? Watch precision.</a:t>
            </a:r>
          </a:p>
        </p:txBody>
      </p:sp>
      <p:cxnSp>
        <p:nvCxnSpPr>
          <p:cNvPr id="15" name="Connector 14"/>
          <p:cNvCxnSpPr/>
          <p:nvPr/>
        </p:nvCxnSpPr>
        <p:spPr>
          <a:xfrm>
            <a:off x="685800" y="5779617"/>
            <a:ext cx="10820095" cy="0"/>
          </a:xfrm>
          <a:prstGeom prst="line">
            <a:avLst/>
          </a:prstGeom>
          <a:ln w="6350">
            <a:solidFill>
              <a:srgbClr val="C9C5BC"/>
            </a:solidFill>
          </a:ln>
        </p:spPr>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Moving the threshold trades precision for recall</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16   Judging a model: metrics, leakage and imbalance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pic>
        <p:nvPicPr>
          <p:cNvPr id="5" name="figure-threshold_tradeoff" descr="Two curves: recall falls and precision rises as the decision threshold increases."/>
          <p:cNvPicPr>
            <a:picLocks noChangeAspect="1"/>
          </p:cNvPicPr>
          <p:nvPr/>
        </p:nvPicPr>
        <p:blipFill>
          <a:blip r:embed="rId3"/>
          <a:stretch>
            <a:fillRect/>
          </a:stretch>
        </p:blipFill>
        <p:spPr>
          <a:xfrm>
            <a:off x="685800" y="1600200"/>
            <a:ext cx="7040880" cy="4302760"/>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At a low threshold we flag many loans. Recall is high and precision is low.</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At a high threshold we flag few loans. Precision rises and recall falls.</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lines cross near 0.2, the threshold we used.</a:t>
              </a:r>
            </a:p>
          </p:txBody>
        </p:sp>
        <p:cxnSp>
          <p:nvCxnSpPr>
            <p:cNvPr id="18" name="Connector 17"/>
            <p:cNvCxnSpPr/>
            <p:nvPr/>
          </p:nvCxnSpPr>
          <p:spPr>
            <a:xfrm>
              <a:off x="8183879" y="5733288"/>
              <a:ext cx="332201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ROC and AUC judge the model at every threshold at once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16   Judging a model: metrics, leakage and imbalance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Precision and recall depend on one threshold. The ROC curve removes that choice.</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ROC curve</a:t>
            </a:r>
          </a:p>
        </p:txBody>
      </p:sp>
      <p:sp>
        <p:nvSpPr>
          <p:cNvPr id="8" name="TextBox 7"/>
          <p:cNvSpPr txBox="1"/>
          <p:nvPr/>
        </p:nvSpPr>
        <p:spPr>
          <a:xfrm>
            <a:off x="3611880" y="2890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Slide the threshold from high to low. Plot defaults caught against false alarms.</a:t>
            </a:r>
          </a:p>
        </p:txBody>
      </p:sp>
      <p:cxnSp>
        <p:nvCxnSpPr>
          <p:cNvPr id="9" name="Connector 8"/>
          <p:cNvCxnSpPr/>
          <p:nvPr/>
        </p:nvCxnSpPr>
        <p:spPr>
          <a:xfrm>
            <a:off x="685800" y="3905707"/>
            <a:ext cx="10820095" cy="0"/>
          </a:xfrm>
          <a:prstGeom prst="line">
            <a:avLst/>
          </a:prstGeom>
          <a:ln w="6350">
            <a:solidFill>
              <a:srgbClr val="C9C5BC"/>
            </a:solidFill>
          </a:ln>
        </p:spPr>
      </p:cxnSp>
      <p:sp>
        <p:nvSpPr>
          <p:cNvPr id="10" name="TextBox 9"/>
          <p:cNvSpPr txBox="1"/>
          <p:nvPr/>
        </p:nvSpPr>
        <p:spPr>
          <a:xfrm>
            <a:off x="685800" y="4015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AUC</a:t>
            </a:r>
          </a:p>
        </p:txBody>
      </p:sp>
      <p:sp>
        <p:nvSpPr>
          <p:cNvPr id="11" name="TextBox 10"/>
          <p:cNvSpPr txBox="1"/>
          <p:nvPr/>
        </p:nvSpPr>
        <p:spPr>
          <a:xfrm>
            <a:off x="3611880" y="4033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The area under that curve. 0.5 is a coin flip. 1.0 is perfect.</a:t>
            </a:r>
          </a:p>
        </p:txBody>
      </p:sp>
      <p:cxnSp>
        <p:nvCxnSpPr>
          <p:cNvPr id="12" name="Connector 11"/>
          <p:cNvCxnSpPr/>
          <p:nvPr/>
        </p:nvCxnSpPr>
        <p:spPr>
          <a:xfrm>
            <a:off x="685800" y="5048707"/>
            <a:ext cx="10820095" cy="0"/>
          </a:xfrm>
          <a:prstGeom prst="line">
            <a:avLst/>
          </a:prstGeom>
          <a:ln w="6350">
            <a:solidFill>
              <a:srgbClr val="C9C5BC"/>
            </a:solidFill>
          </a:ln>
        </p:spPr>
      </p:cxnSp>
      <p:sp>
        <p:nvSpPr>
          <p:cNvPr id="13" name="TextBox 12"/>
          <p:cNvSpPr txBox="1"/>
          <p:nvPr/>
        </p:nvSpPr>
        <p:spPr>
          <a:xfrm>
            <a:off x="685800" y="5158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Read it</a:t>
            </a:r>
          </a:p>
        </p:txBody>
      </p:sp>
      <p:sp>
        <p:nvSpPr>
          <p:cNvPr id="14" name="TextBox 13"/>
          <p:cNvSpPr txBox="1"/>
          <p:nvPr/>
        </p:nvSpPr>
        <p:spPr>
          <a:xfrm>
            <a:off x="3611880" y="5176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AUC is the chance that a random defaulter scores higher than a random repaid loan.</a:t>
            </a:r>
          </a:p>
        </p:txBody>
      </p:sp>
      <p:cxnSp>
        <p:nvCxnSpPr>
          <p:cNvPr id="15" name="Connector 14"/>
          <p:cNvCxnSpPr/>
          <p:nvPr/>
        </p:nvCxnSpPr>
        <p:spPr>
          <a:xfrm>
            <a:off x="685800" y="6191707"/>
            <a:ext cx="10820095" cy="0"/>
          </a:xfrm>
          <a:prstGeom prst="line">
            <a:avLst/>
          </a:prstGeom>
          <a:ln w="6350">
            <a:solidFill>
              <a:srgbClr val="C9C5BC"/>
            </a:solidFill>
          </a:ln>
        </p:spPr>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An AUC of 0.995 should make you suspicious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16   Judging a model: metrics, leakage and imbalance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pic>
        <p:nvPicPr>
          <p:cNvPr id="5" name="figure-roc_honest_vs_leaky" descr="Two ROC curves. The leaky model hugs the top-left corner, far above the honest model."/>
          <p:cNvPicPr>
            <a:picLocks noChangeAspect="1"/>
          </p:cNvPicPr>
          <p:nvPr/>
        </p:nvPicPr>
        <p:blipFill>
          <a:blip r:embed="rId3"/>
          <a:stretch>
            <a:fillRect/>
          </a:stretch>
        </p:blipFill>
        <p:spPr>
          <a:xfrm>
            <a:off x="685800" y="1600200"/>
            <a:ext cx="4614203"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050" b="0" i="0">
                  <a:solidFill>
                    <a:srgbClr val="1F2328"/>
                  </a:solidFill>
                  <a:latin typeface="Calibri"/>
                </a:rPr>
                <a:t>The blue curve is the model without the extra column. Its AUC is about 0.76.</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red curve hugs the top left corner. Its AUC is about 0.995.</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Same loans, same method. One extra column made the difference.</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Typical run. Your numbers will be close and will differ a little.</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Defaulters have far more collection calls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16   Judging a model: metrics, leakage and imbalance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sp>
        <p:nvSpPr>
          <p:cNvPr id="5" name="Rectangle 4"/>
          <p:cNvSpPr/>
          <p:nvPr/>
        </p:nvSpPr>
        <p:spPr>
          <a:xfrm>
            <a:off x="685800" y="1600200"/>
            <a:ext cx="10820095" cy="11338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859536"/>
          </a:xfrm>
          <a:prstGeom prst="rect">
            <a:avLst/>
          </a:prstGeom>
          <a:noFill/>
        </p:spPr>
        <p:txBody>
          <a:bodyPr wrap="none" lIns="0" rIns="0" tIns="0" bIns="0">
            <a:spAutoFit/>
          </a:bodyPr>
          <a:lstStyle/>
          <a:p>
            <a:r>
              <a:rPr sz="1800" b="0" i="0">
                <a:solidFill>
                  <a:srgbClr val="1F2328"/>
                </a:solidFill>
                <a:latin typeface="Courier New"/>
              </a:rPr>
              <a:t>print</a:t>
            </a:r>
            <a:r>
              <a:rPr sz="1800" b="0" i="0">
                <a:solidFill>
                  <a:srgbClr val="1F2328"/>
                </a:solidFill>
                <a:latin typeface="Courier New"/>
              </a:rPr>
              <a:t>(</a:t>
            </a:r>
            <a:r>
              <a:rPr sz="1800" b="0" i="0">
                <a:solidFill>
                  <a:srgbClr val="1F2328"/>
                </a:solidFill>
                <a:latin typeface="Courier New"/>
              </a:rPr>
              <a:t>loans</a:t>
            </a:r>
            <a:r>
              <a:rPr sz="1800" b="0" i="0">
                <a:solidFill>
                  <a:srgbClr val="1F2328"/>
                </a:solidFill>
                <a:latin typeface="Courier New"/>
              </a:rPr>
              <a:t>.</a:t>
            </a:r>
            <a:r>
              <a:rPr sz="1800" b="0" i="0">
                <a:solidFill>
                  <a:srgbClr val="1F2328"/>
                </a:solidFill>
                <a:latin typeface="Courier New"/>
              </a:rPr>
              <a:t>groupby</a:t>
            </a:r>
            <a:r>
              <a:rPr sz="1800" b="0" i="0">
                <a:solidFill>
                  <a:srgbClr val="1F2328"/>
                </a:solidFill>
                <a:latin typeface="Courier New"/>
              </a:rPr>
              <a:t>(</a:t>
            </a:r>
            <a:r>
              <a:rPr sz="1800" b="0" i="0">
                <a:solidFill>
                  <a:srgbClr val="B04A2B"/>
                </a:solidFill>
                <a:latin typeface="Courier New"/>
              </a:rPr>
              <a:t>'default'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collection_calls</a:t>
            </a:r>
            <a:r>
              <a:rPr sz="1800" b="0" i="0">
                <a:solidFill>
                  <a:srgbClr val="1F2328"/>
                </a:solidFill>
                <a:latin typeface="Courier New"/>
              </a:rPr>
              <a:t>.</a:t>
            </a:r>
            <a:r>
              <a:rPr sz="1800" b="0" i="0">
                <a:solidFill>
                  <a:srgbClr val="1F2328"/>
                </a:solidFill>
                <a:latin typeface="Courier New"/>
              </a:rPr>
              <a:t>mean</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round</a:t>
            </a:r>
            <a:r>
              <a:rPr sz="1800" b="0" i="0">
                <a:solidFill>
                  <a:srgbClr val="1F2328"/>
                </a:solidFill>
                <a:latin typeface="Courier New"/>
              </a:rPr>
              <a:t>(</a:t>
            </a:r>
            <a:r>
              <a:rPr sz="1800" b="0" i="0">
                <a:solidFill>
                  <a:srgbClr val="3B4046"/>
                </a:solidFill>
                <a:latin typeface="Courier New"/>
              </a:rPr>
              <a:t>2</a:t>
            </a:r>
            <a:r>
              <a:rPr sz="1800" b="0" i="0">
                <a:solidFill>
                  <a:srgbClr val="1F2328"/>
                </a:solidFill>
                <a:latin typeface="Courier New"/>
              </a:rPr>
              <a:t>)</a:t>
            </a:r>
            <a:r>
              <a:rPr sz="1800" b="0" i="0">
                <a:solidFill>
                  <a:srgbClr val="1F2328"/>
                </a:solidFill>
                <a:latin typeface="Courier New"/>
              </a:rPr>
              <a:t>)</a:t>
            </a:r>
          </a:p>
          <a:p>
            <a:r>
              <a:rPr sz="1800" b="0" i="0">
                <a:solidFill>
                  <a:srgbClr val="1F2328"/>
                </a:solidFill>
                <a:latin typeface="Courier New"/>
              </a:rPr>
              <a:t>corr</a:t>
            </a:r>
            <a:r>
              <a:rPr sz="1800" b="0" i="0">
                <a:solidFill>
                  <a:srgbClr val="1F2328"/>
                </a:solidFill>
                <a:latin typeface="Courier New"/>
              </a:rPr>
              <a:t> </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loans</a:t>
            </a:r>
            <a:r>
              <a:rPr sz="1800" b="0" i="0">
                <a:solidFill>
                  <a:srgbClr val="1F2328"/>
                </a:solidFill>
                <a:latin typeface="Courier New"/>
              </a:rPr>
              <a:t>.</a:t>
            </a:r>
            <a:r>
              <a:rPr sz="1800" b="0" i="0">
                <a:solidFill>
                  <a:srgbClr val="1F2328"/>
                </a:solidFill>
                <a:latin typeface="Courier New"/>
              </a:rPr>
              <a:t>corr</a:t>
            </a:r>
            <a:r>
              <a:rPr sz="1800" b="0" i="0">
                <a:solidFill>
                  <a:srgbClr val="1F2328"/>
                </a:solidFill>
                <a:latin typeface="Courier New"/>
              </a:rPr>
              <a:t>(</a:t>
            </a:r>
            <a:r>
              <a:rPr sz="1800" b="0" i="0">
                <a:solidFill>
                  <a:srgbClr val="1F2328"/>
                </a:solidFill>
                <a:latin typeface="Courier New"/>
              </a:rPr>
              <a:t>numeric_only</a:t>
            </a:r>
            <a:r>
              <a:rPr sz="1800" b="0" i="0">
                <a:solidFill>
                  <a:srgbClr val="1F2328"/>
                </a:solidFill>
                <a:latin typeface="Courier New"/>
              </a:rPr>
              <a:t>=</a:t>
            </a:r>
            <a:r>
              <a:rPr sz="1800" b="1" i="0">
                <a:solidFill>
                  <a:srgbClr val="1F2328"/>
                </a:solidFill>
                <a:latin typeface="Courier New"/>
              </a:rPr>
              <a:t>True</a:t>
            </a:r>
            <a:r>
              <a:rPr sz="1800" b="0" i="0">
                <a:solidFill>
                  <a:srgbClr val="1F2328"/>
                </a:solidFill>
                <a:latin typeface="Courier New"/>
              </a:rPr>
              <a:t>)</a:t>
            </a:r>
            <a:r>
              <a:rPr sz="1800" b="0" i="0">
                <a:solidFill>
                  <a:srgbClr val="1F2328"/>
                </a:solidFill>
                <a:latin typeface="Courier New"/>
              </a:rPr>
              <a:t>[</a:t>
            </a:r>
            <a:r>
              <a:rPr sz="1800" b="0" i="0">
                <a:solidFill>
                  <a:srgbClr val="B04A2B"/>
                </a:solidFill>
                <a:latin typeface="Courier New"/>
              </a:rPr>
              <a:t>'default'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abs</a:t>
            </a:r>
            <a:r>
              <a:rPr sz="1800" b="0" i="0">
                <a:solidFill>
                  <a:srgbClr val="1F2328"/>
                </a:solidFill>
                <a:latin typeface="Courier New"/>
              </a:rPr>
              <a:t>(</a:t>
            </a:r>
            <a:r>
              <a:rPr sz="1800" b="0" i="0">
                <a:solidFill>
                  <a:srgbClr val="1F2328"/>
                </a:solidFill>
                <a:latin typeface="Courier New"/>
              </a:rPr>
              <a:t>)</a:t>
            </a:r>
          </a:p>
          <a:p>
            <a:r>
              <a:rPr sz="1800" b="0" i="0">
                <a:solidFill>
                  <a:srgbClr val="1F2328"/>
                </a:solidFill>
                <a:latin typeface="Courier New"/>
              </a:rPr>
              <a:t>print</a:t>
            </a:r>
            <a:r>
              <a:rPr sz="1800" b="0" i="0">
                <a:solidFill>
                  <a:srgbClr val="1F2328"/>
                </a:solidFill>
                <a:latin typeface="Courier New"/>
              </a:rPr>
              <a:t>(</a:t>
            </a:r>
            <a:r>
              <a:rPr sz="1800" b="0" i="0">
                <a:solidFill>
                  <a:srgbClr val="1F2328"/>
                </a:solidFill>
                <a:latin typeface="Courier New"/>
              </a:rPr>
              <a:t>corr</a:t>
            </a:r>
            <a:r>
              <a:rPr sz="1800" b="0" i="0">
                <a:solidFill>
                  <a:srgbClr val="1F2328"/>
                </a:solidFill>
                <a:latin typeface="Courier New"/>
              </a:rPr>
              <a:t>.</a:t>
            </a:r>
            <a:r>
              <a:rPr sz="1800" b="0" i="0">
                <a:solidFill>
                  <a:srgbClr val="1F2328"/>
                </a:solidFill>
                <a:latin typeface="Courier New"/>
              </a:rPr>
              <a:t>nlargest</a:t>
            </a:r>
            <a:r>
              <a:rPr sz="1800" b="0" i="0">
                <a:solidFill>
                  <a:srgbClr val="1F2328"/>
                </a:solidFill>
                <a:latin typeface="Courier New"/>
              </a:rPr>
              <a:t>(</a:t>
            </a:r>
            <a:r>
              <a:rPr sz="1800" b="0" i="0">
                <a:solidFill>
                  <a:srgbClr val="3B4046"/>
                </a:solidFill>
                <a:latin typeface="Courier New"/>
              </a:rPr>
              <a:t>3</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round</a:t>
            </a:r>
            <a:r>
              <a:rPr sz="1800" b="0" i="0">
                <a:solidFill>
                  <a:srgbClr val="1F2328"/>
                </a:solidFill>
                <a:latin typeface="Courier New"/>
              </a:rPr>
              <a:t>(</a:t>
            </a:r>
            <a:r>
              <a:rPr sz="1800" b="0" i="0">
                <a:solidFill>
                  <a:srgbClr val="3B4046"/>
                </a:solidFill>
                <a:latin typeface="Courier New"/>
              </a:rPr>
              <a:t>3</a:t>
            </a:r>
            <a:r>
              <a:rPr sz="1800" b="0" i="0">
                <a:solidFill>
                  <a:srgbClr val="1F2328"/>
                </a:solidFill>
                <a:latin typeface="Courier New"/>
              </a:rPr>
              <a:t>)</a:t>
            </a:r>
            <a:r>
              <a:rPr sz="1800" b="0" i="0">
                <a:solidFill>
                  <a:srgbClr val="1F2328"/>
                </a:solidFill>
                <a:latin typeface="Courier New"/>
              </a:rPr>
              <a:t>)</a:t>
            </a:r>
          </a:p>
        </p:txBody>
      </p:sp>
      <p:grpSp>
        <p:nvGrpSpPr>
          <p:cNvPr id="7" name="output"/>
          <p:cNvGrpSpPr/>
          <p:nvPr/>
        </p:nvGrpSpPr>
        <p:grpSpPr>
          <a:xfrm>
            <a:off x="685800" y="2843784"/>
            <a:ext cx="10820095" cy="2017775"/>
            <a:chOff x="685800" y="2843784"/>
            <a:chExt cx="10820095" cy="2017775"/>
          </a:xfrm>
        </p:grpSpPr>
        <p:sp>
          <p:nvSpPr>
            <p:cNvPr id="8" name="TextBox 7"/>
            <p:cNvSpPr txBox="1"/>
            <p:nvPr/>
          </p:nvSpPr>
          <p:spPr>
            <a:xfrm>
              <a:off x="685800" y="28437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099816"/>
              <a:ext cx="10820095" cy="1761743"/>
            </a:xfrm>
            <a:prstGeom prst="rect">
              <a:avLst/>
            </a:prstGeom>
            <a:solidFill>
              <a:srgbClr val="F5F3EF"/>
            </a:solidFill>
            <a:ln>
              <a:noFill/>
            </a:ln>
          </p:spPr>
          <p:txBody>
            <a:bodyPr rtlCol="0" anchor="ctr"/>
            <a:lstStyle/>
            <a:p>
              <a:pPr algn="ctr"/>
            </a:p>
          </p:txBody>
        </p:sp>
        <p:sp>
          <p:nvSpPr>
            <p:cNvPr id="10" name="TextBox 9"/>
            <p:cNvSpPr txBox="1"/>
            <p:nvPr/>
          </p:nvSpPr>
          <p:spPr>
            <a:xfrm>
              <a:off x="868680" y="3191256"/>
              <a:ext cx="10545775" cy="1652016"/>
            </a:xfrm>
            <a:prstGeom prst="rect">
              <a:avLst/>
            </a:prstGeom>
            <a:noFill/>
          </p:spPr>
          <p:txBody>
            <a:bodyPr wrap="none" lIns="0" rIns="0" tIns="0" bIns="0">
              <a:spAutoFit/>
            </a:bodyPr>
            <a:lstStyle/>
            <a:p>
              <a:r>
                <a:rPr sz="1400" b="0" i="0">
                  <a:solidFill>
                    <a:srgbClr val="1F2328"/>
                  </a:solidFill>
                  <a:latin typeface="Courier New"/>
                </a:rPr>
                <a:t>default</a:t>
              </a:r>
            </a:p>
            <a:p>
              <a:r>
                <a:rPr sz="1400" b="0" i="0">
                  <a:solidFill>
                    <a:srgbClr val="1F2328"/>
                  </a:solidFill>
                  <a:latin typeface="Courier New"/>
                </a:rPr>
                <a:t>0    0.24</a:t>
              </a:r>
            </a:p>
            <a:p>
              <a:r>
                <a:rPr sz="1400" b="0" i="0">
                  <a:solidFill>
                    <a:srgbClr val="1F2328"/>
                  </a:solidFill>
                  <a:latin typeface="Courier New"/>
                </a:rPr>
                <a:t>1    4.55</a:t>
              </a:r>
            </a:p>
            <a:p>
              <a:r>
                <a:rPr sz="1400" b="0" i="0">
                  <a:solidFill>
                    <a:srgbClr val="1F2328"/>
                  </a:solidFill>
                  <a:latin typeface="Courier New"/>
                </a:rPr>
                <a:t>Name: collection_calls, dtype: float64</a:t>
              </a:r>
            </a:p>
            <a:p>
              <a:r>
                <a:rPr sz="1400" b="0" i="0">
                  <a:solidFill>
                    <a:srgbClr val="1F2328"/>
                  </a:solidFill>
                  <a:latin typeface="Courier New"/>
                </a:rPr>
                <a:t>default             1.000</a:t>
              </a:r>
            </a:p>
            <a:p>
              <a:r>
                <a:rPr sz="1400" b="0" i="0">
                  <a:solidFill>
                    <a:srgbClr val="1F2328"/>
                  </a:solidFill>
                  <a:latin typeface="Courier New"/>
                </a:rPr>
                <a:t>collection_calls    0.872</a:t>
              </a:r>
            </a:p>
            <a:p>
              <a:r>
                <a:rPr sz="1400" b="0" i="0">
                  <a:solidFill>
                    <a:srgbClr val="1F2328"/>
                  </a:solidFill>
                  <a:latin typeface="Courier New"/>
                </a:rPr>
                <a:t>loan_amount_ugx     0.211</a:t>
              </a:r>
            </a:p>
            <a:p>
              <a:r>
                <a:rPr sz="1400" b="0" i="0">
                  <a:solidFill>
                    <a:srgbClr val="1F2328"/>
                  </a:solidFill>
                  <a:latin typeface="Courier New"/>
                </a:rPr>
                <a:t>Name: default, dtype: float64</a:t>
              </a:r>
            </a:p>
          </p:txBody>
        </p:sp>
      </p:grpSp>
      <p:grpSp>
        <p:nvGrpSpPr>
          <p:cNvPr id="11" name="says-1"/>
          <p:cNvGrpSpPr/>
          <p:nvPr/>
        </p:nvGrpSpPr>
        <p:grpSpPr>
          <a:xfrm>
            <a:off x="685800" y="5044440"/>
            <a:ext cx="5204307" cy="1155191"/>
            <a:chOff x="685800" y="5044440"/>
            <a:chExt cx="5204307" cy="1155191"/>
          </a:xfrm>
        </p:grpSpPr>
        <p:cxnSp>
          <p:nvCxnSpPr>
            <p:cNvPr id="12" name="Connector 11"/>
            <p:cNvCxnSpPr/>
            <p:nvPr/>
          </p:nvCxnSpPr>
          <p:spPr>
            <a:xfrm>
              <a:off x="685800" y="5044440"/>
              <a:ext cx="5204307" cy="0"/>
            </a:xfrm>
            <a:prstGeom prst="line">
              <a:avLst/>
            </a:prstGeom>
            <a:ln w="15875">
              <a:solidFill>
                <a:srgbClr val="1F2328"/>
              </a:solidFill>
            </a:ln>
          </p:spPr>
        </p:cxnSp>
        <p:sp>
          <p:nvSpPr>
            <p:cNvPr id="13" name="TextBox 12"/>
            <p:cNvSpPr txBox="1"/>
            <p:nvPr/>
          </p:nvSpPr>
          <p:spPr>
            <a:xfrm>
              <a:off x="685800"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117592"/>
              <a:ext cx="4856835" cy="1082039"/>
            </a:xfrm>
            <a:prstGeom prst="rect">
              <a:avLst/>
            </a:prstGeom>
            <a:noFill/>
          </p:spPr>
          <p:txBody>
            <a:bodyPr wrap="square" lIns="0" rIns="0" tIns="18288" bIns="18288" anchor="t">
              <a:spAutoFit/>
            </a:bodyPr>
            <a:lstStyle/>
            <a:p>
              <a:pPr algn="l"/>
              <a:r>
                <a:rPr sz="1900" b="0" i="0">
                  <a:solidFill>
                    <a:srgbClr val="1F2328"/>
                  </a:solidFill>
                  <a:latin typeface="Calibri"/>
                </a:rPr>
                <a:t>Average collection calls for repaid (0) and defaulted (1) loans.</a:t>
              </a:r>
            </a:p>
          </p:txBody>
        </p:sp>
      </p:grpSp>
      <p:grpSp>
        <p:nvGrpSpPr>
          <p:cNvPr id="15" name="says-2"/>
          <p:cNvGrpSpPr/>
          <p:nvPr/>
        </p:nvGrpSpPr>
        <p:grpSpPr>
          <a:xfrm>
            <a:off x="6301587" y="5044440"/>
            <a:ext cx="5204308" cy="1155191"/>
            <a:chOff x="6301587" y="5044440"/>
            <a:chExt cx="5204308" cy="1155191"/>
          </a:xfrm>
        </p:grpSpPr>
        <p:cxnSp>
          <p:nvCxnSpPr>
            <p:cNvPr id="16" name="Connector 15"/>
            <p:cNvCxnSpPr/>
            <p:nvPr/>
          </p:nvCxnSpPr>
          <p:spPr>
            <a:xfrm>
              <a:off x="6301587" y="5044440"/>
              <a:ext cx="5204308" cy="0"/>
            </a:xfrm>
            <a:prstGeom prst="line">
              <a:avLst/>
            </a:prstGeom>
            <a:ln w="15875">
              <a:solidFill>
                <a:srgbClr val="1F2328"/>
              </a:solidFill>
            </a:ln>
          </p:spPr>
        </p:cxnSp>
        <p:sp>
          <p:nvSpPr>
            <p:cNvPr id="17" name="TextBox 16"/>
            <p:cNvSpPr txBox="1"/>
            <p:nvPr/>
          </p:nvSpPr>
          <p:spPr>
            <a:xfrm>
              <a:off x="6301587"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6649059" y="5117592"/>
              <a:ext cx="4856835" cy="1082039"/>
            </a:xfrm>
            <a:prstGeom prst="rect">
              <a:avLst/>
            </a:prstGeom>
            <a:noFill/>
          </p:spPr>
          <p:txBody>
            <a:bodyPr wrap="square" lIns="0" rIns="0" tIns="18288" bIns="18288" anchor="t">
              <a:spAutoFit/>
            </a:bodyPr>
            <a:lstStyle/>
            <a:p>
              <a:pPr algn="l"/>
              <a:r>
                <a:rPr sz="1900" b="0" i="0">
                  <a:solidFill>
                    <a:srgbClr val="1F2328"/>
                  </a:solidFill>
                  <a:latin typeface="Calibri"/>
                </a:rPr>
                <a:t>Rank the columns by how strongly they move with default.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Every defaulter had at least one call</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16   Judging a model: metrics, leakage and imbalance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sp>
        <p:nvSpPr>
          <p:cNvPr id="5" name="Rectangle 4"/>
          <p:cNvSpPr/>
          <p:nvPr/>
        </p:nvSpPr>
        <p:spPr>
          <a:xfrm>
            <a:off x="685800" y="1600200"/>
            <a:ext cx="6949440" cy="116433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890016"/>
          </a:xfrm>
          <a:prstGeom prst="rect">
            <a:avLst/>
          </a:prstGeom>
          <a:noFill/>
        </p:spPr>
        <p:txBody>
          <a:bodyPr wrap="none" lIns="0" rIns="0" tIns="0" bIns="0">
            <a:spAutoFit/>
          </a:bodyPr>
          <a:lstStyle/>
          <a:p>
            <a:r>
              <a:rPr sz="1400" b="0" i="0">
                <a:solidFill>
                  <a:srgbClr val="1F2328"/>
                </a:solidFill>
                <a:latin typeface="Courier New"/>
              </a:rPr>
              <a:t>flagged_by_calls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loans</a:t>
            </a:r>
            <a:r>
              <a:rPr sz="1400" b="0" i="0">
                <a:solidFill>
                  <a:srgbClr val="1F2328"/>
                </a:solidFill>
                <a:latin typeface="Courier New"/>
              </a:rPr>
              <a:t>.</a:t>
            </a:r>
            <a:r>
              <a:rPr sz="1400" b="0" i="0">
                <a:solidFill>
                  <a:srgbClr val="1F2328"/>
                </a:solidFill>
                <a:latin typeface="Courier New"/>
              </a:rPr>
              <a:t>collection_calls</a:t>
            </a:r>
            <a:r>
              <a:rPr sz="1400" b="0" i="0">
                <a:solidFill>
                  <a:srgbClr val="1F2328"/>
                </a:solidFill>
                <a:latin typeface="Courier New"/>
              </a:rPr>
              <a:t> </a:t>
            </a:r>
            <a:r>
              <a:rPr sz="1400" b="0" i="0">
                <a:solidFill>
                  <a:srgbClr val="1F2328"/>
                </a:solidFill>
                <a:latin typeface="Courier New"/>
              </a:rPr>
              <a:t>&gt;</a:t>
            </a:r>
            <a:r>
              <a:rPr sz="1400" b="0" i="0">
                <a:solidFill>
                  <a:srgbClr val="1F2328"/>
                </a:solidFill>
                <a:latin typeface="Courier New"/>
              </a:rPr>
              <a:t> </a:t>
            </a:r>
            <a:r>
              <a:rPr sz="1400" b="0" i="0">
                <a:solidFill>
                  <a:srgbClr val="3B4046"/>
                </a:solidFill>
                <a:latin typeface="Courier New"/>
              </a:rPr>
              <a:t>0</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loans</a:t>
            </a:r>
            <a:r>
              <a:rPr sz="1400" b="0" i="0">
                <a:solidFill>
                  <a:srgbClr val="1F2328"/>
                </a:solidFill>
                <a:latin typeface="Courier New"/>
              </a:rPr>
              <a:t>.</a:t>
            </a:r>
            <a:r>
              <a:rPr sz="1400" b="0" i="0">
                <a:solidFill>
                  <a:srgbClr val="1F2328"/>
                </a:solidFill>
                <a:latin typeface="Courier New"/>
              </a:rPr>
              <a:t>groupby</a:t>
            </a:r>
            <a:r>
              <a:rPr sz="1400" b="0" i="0">
                <a:solidFill>
                  <a:srgbClr val="1F2328"/>
                </a:solidFill>
                <a:latin typeface="Courier New"/>
              </a:rPr>
              <a:t>(</a:t>
            </a:r>
            <a:r>
              <a:rPr sz="1400" b="0" i="0">
                <a:solidFill>
                  <a:srgbClr val="B04A2B"/>
                </a:solidFill>
                <a:latin typeface="Courier New"/>
              </a:rPr>
              <a:t>'default'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collection_calls</a:t>
            </a:r>
            <a:r>
              <a:rPr sz="1400" b="0" i="0">
                <a:solidFill>
                  <a:srgbClr val="1F2328"/>
                </a:solidFill>
                <a:latin typeface="Courier New"/>
              </a:rPr>
              <a:t>.</a:t>
            </a:r>
            <a:r>
              <a:rPr sz="1400" b="0" i="0">
                <a:solidFill>
                  <a:srgbClr val="1F2328"/>
                </a:solidFill>
                <a:latin typeface="Courier New"/>
              </a:rPr>
              <a:t>max</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loans</a:t>
            </a:r>
            <a:r>
              <a:rPr sz="1400" b="0" i="0">
                <a:solidFill>
                  <a:srgbClr val="1F2328"/>
                </a:solidFill>
                <a:latin typeface="Courier New"/>
              </a:rPr>
              <a:t>[</a:t>
            </a:r>
            <a:r>
              <a:rPr sz="1400" b="0" i="0">
                <a:solidFill>
                  <a:srgbClr val="1F2328"/>
                </a:solidFill>
                <a:latin typeface="Courier New"/>
              </a:rPr>
              <a:t>loans</a:t>
            </a:r>
            <a:r>
              <a:rPr sz="1400" b="0" i="0">
                <a:solidFill>
                  <a:srgbClr val="1F2328"/>
                </a:solidFill>
                <a:latin typeface="Courier New"/>
              </a:rPr>
              <a:t>.</a:t>
            </a:r>
            <a:r>
              <a:rPr sz="1400" b="0" i="0">
                <a:solidFill>
                  <a:srgbClr val="1F2328"/>
                </a:solidFill>
                <a:latin typeface="Courier New"/>
              </a:rPr>
              <a:t>default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1</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collection_calls</a:t>
            </a:r>
            <a:r>
              <a:rPr sz="1400" b="0" i="0">
                <a:solidFill>
                  <a:srgbClr val="1F2328"/>
                </a:solidFill>
                <a:latin typeface="Courier New"/>
              </a:rPr>
              <a:t>.</a:t>
            </a:r>
            <a:r>
              <a:rPr sz="1400" b="0" i="0">
                <a:solidFill>
                  <a:srgbClr val="1F2328"/>
                </a:solidFill>
                <a:latin typeface="Courier New"/>
              </a:rPr>
              <a:t>min</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round</a:t>
            </a:r>
            <a:r>
              <a:rPr sz="1400" b="0" i="0">
                <a:solidFill>
                  <a:srgbClr val="1F2328"/>
                </a:solidFill>
                <a:latin typeface="Courier New"/>
              </a:rPr>
              <a:t>(</a:t>
            </a:r>
            <a:r>
              <a:rPr sz="1400" b="0" i="0">
                <a:solidFill>
                  <a:srgbClr val="1F2328"/>
                </a:solidFill>
                <a:latin typeface="Courier New"/>
              </a:rPr>
              <a:t>flagged_by_calls</a:t>
            </a:r>
            <a:r>
              <a:rPr sz="1400" b="0" i="0">
                <a:solidFill>
                  <a:srgbClr val="1F2328"/>
                </a:solidFill>
                <a:latin typeface="Courier New"/>
              </a:rPr>
              <a:t>[</a:t>
            </a:r>
            <a:r>
              <a:rPr sz="1400" b="0" i="0">
                <a:solidFill>
                  <a:srgbClr val="1F2328"/>
                </a:solidFill>
                <a:latin typeface="Courier New"/>
              </a:rPr>
              <a:t>loans</a:t>
            </a:r>
            <a:r>
              <a:rPr sz="1400" b="0" i="0">
                <a:solidFill>
                  <a:srgbClr val="1F2328"/>
                </a:solidFill>
                <a:latin typeface="Courier New"/>
              </a:rPr>
              <a:t>.</a:t>
            </a:r>
            <a:r>
              <a:rPr sz="1400" b="0" i="0">
                <a:solidFill>
                  <a:srgbClr val="1F2328"/>
                </a:solidFill>
                <a:latin typeface="Courier New"/>
              </a:rPr>
              <a:t>default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0</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mean</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2</a:t>
            </a:r>
            <a:r>
              <a:rPr sz="1400" b="0" i="0">
                <a:solidFill>
                  <a:srgbClr val="1F2328"/>
                </a:solidFill>
                <a:latin typeface="Courier New"/>
              </a:rPr>
              <a:t>)</a:t>
            </a:r>
            <a:r>
              <a:rPr sz="1400" b="0" i="0">
                <a:solidFill>
                  <a:srgbClr val="1F2328"/>
                </a:solidFill>
                <a:latin typeface="Courier New"/>
              </a:rPr>
              <a:t>)</a:t>
            </a:r>
          </a:p>
        </p:txBody>
      </p:sp>
      <p:grpSp>
        <p:nvGrpSpPr>
          <p:cNvPr id="7" name="output"/>
          <p:cNvGrpSpPr/>
          <p:nvPr/>
        </p:nvGrpSpPr>
        <p:grpSpPr>
          <a:xfrm>
            <a:off x="685800" y="2874264"/>
            <a:ext cx="6949440" cy="1591056"/>
            <a:chOff x="685800" y="2874264"/>
            <a:chExt cx="6949440" cy="1591056"/>
          </a:xfrm>
        </p:grpSpPr>
        <p:sp>
          <p:nvSpPr>
            <p:cNvPr id="8" name="TextBox 7"/>
            <p:cNvSpPr txBox="1"/>
            <p:nvPr/>
          </p:nvSpPr>
          <p:spPr>
            <a:xfrm>
              <a:off x="685800" y="287426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130296"/>
              <a:ext cx="6949440" cy="1335024"/>
            </a:xfrm>
            <a:prstGeom prst="rect">
              <a:avLst/>
            </a:prstGeom>
            <a:solidFill>
              <a:srgbClr val="F5F3EF"/>
            </a:solidFill>
            <a:ln>
              <a:noFill/>
            </a:ln>
          </p:spPr>
          <p:txBody>
            <a:bodyPr rtlCol="0" anchor="ctr"/>
            <a:lstStyle/>
            <a:p>
              <a:pPr algn="ctr"/>
            </a:p>
          </p:txBody>
        </p:sp>
        <p:sp>
          <p:nvSpPr>
            <p:cNvPr id="10" name="TextBox 9"/>
            <p:cNvSpPr txBox="1"/>
            <p:nvPr/>
          </p:nvSpPr>
          <p:spPr>
            <a:xfrm>
              <a:off x="868680" y="3221736"/>
              <a:ext cx="6675120" cy="1225295"/>
            </a:xfrm>
            <a:prstGeom prst="rect">
              <a:avLst/>
            </a:prstGeom>
            <a:noFill/>
          </p:spPr>
          <p:txBody>
            <a:bodyPr wrap="none" lIns="0" rIns="0" tIns="0" bIns="0">
              <a:spAutoFit/>
            </a:bodyPr>
            <a:lstStyle/>
            <a:p>
              <a:r>
                <a:rPr sz="1400" b="0" i="0">
                  <a:solidFill>
                    <a:srgbClr val="1F2328"/>
                  </a:solidFill>
                  <a:latin typeface="Courier New"/>
                </a:rPr>
                <a:t>default</a:t>
              </a:r>
            </a:p>
            <a:p>
              <a:r>
                <a:rPr sz="1400" b="0" i="0">
                  <a:solidFill>
                    <a:srgbClr val="1F2328"/>
                  </a:solidFill>
                  <a:latin typeface="Courier New"/>
                </a:rPr>
                <a:t>0     5</a:t>
              </a:r>
            </a:p>
            <a:p>
              <a:r>
                <a:rPr sz="1400" b="0" i="0">
                  <a:solidFill>
                    <a:srgbClr val="1F2328"/>
                  </a:solidFill>
                  <a:latin typeface="Courier New"/>
                </a:rPr>
                <a:t>1    12</a:t>
              </a:r>
            </a:p>
            <a:p>
              <a:r>
                <a:rPr sz="1400" b="0" i="0">
                  <a:solidFill>
                    <a:srgbClr val="1F2328"/>
                  </a:solidFill>
                  <a:latin typeface="Courier New"/>
                </a:rPr>
                <a:t>Name: collection_calls, dtype: int64</a:t>
              </a:r>
            </a:p>
            <a:p>
              <a:r>
                <a:rPr sz="1400" b="0" i="0">
                  <a:solidFill>
                    <a:srgbClr val="1F2328"/>
                  </a:solidFill>
                  <a:latin typeface="Courier New"/>
                </a:rPr>
                <a:t>1</a:t>
              </a:r>
            </a:p>
            <a:p>
              <a:r>
                <a:rPr sz="1400" b="0" i="0">
                  <a:solidFill>
                    <a:srgbClr val="1F2328"/>
                  </a:solidFill>
                  <a:latin typeface="Courier New"/>
                </a:rPr>
                <a:t>0.21</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most calls in each group.</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fewest calls any defaulter had.</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Share of repaid loans that had a call.</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Data leakage: the model that peeks at the answer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16   Judging a model: metrics, leakage and imbalance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16</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You add every column, train, and see an AUC near 0.995. It runs with no error and the score looks like a triumph.</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A column such as collection_calls is only recorded after a loan goes bad. The model reads the outcome through it. This is data leakage. It will fail on new loans, where that column is still empty.</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Ask of every column: would I know this at the moment I make the prediction? Drop any that fail. Treat a score that is too good as a warning and look for the leak before you celebrate.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Class weights and thresholds handle rare events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16   Judging a model: metrics, leakage and imbalance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sp>
        <p:nvSpPr>
          <p:cNvPr id="5" name="Rectangle 4"/>
          <p:cNvSpPr/>
          <p:nvPr/>
        </p:nvSpPr>
        <p:spPr>
          <a:xfrm>
            <a:off x="685800" y="1600200"/>
            <a:ext cx="10820095" cy="23911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2116836"/>
          </a:xfrm>
          <a:prstGeom prst="rect">
            <a:avLst/>
          </a:prstGeom>
          <a:noFill/>
        </p:spPr>
        <p:txBody>
          <a:bodyPr wrap="none" lIns="0" rIns="0" tIns="0" bIns="0">
            <a:spAutoFit/>
          </a:bodyPr>
          <a:lstStyle/>
          <a:p>
            <a:r>
              <a:rPr sz="1950" b="1" i="0">
                <a:solidFill>
                  <a:srgbClr val="1F2328"/>
                </a:solidFill>
                <a:latin typeface="Courier New"/>
              </a:rPr>
              <a:t>from</a:t>
            </a:r>
            <a:r>
              <a:rPr sz="1950" b="0" i="0">
                <a:solidFill>
                  <a:srgbClr val="1F2328"/>
                </a:solidFill>
                <a:latin typeface="Courier New"/>
              </a:rPr>
              <a:t> </a:t>
            </a:r>
            <a:r>
              <a:rPr sz="1950" b="0" i="0">
                <a:solidFill>
                  <a:srgbClr val="1F2328"/>
                </a:solidFill>
                <a:latin typeface="Courier New"/>
              </a:rPr>
              <a:t>sklearn</a:t>
            </a:r>
            <a:r>
              <a:rPr sz="1950" b="0" i="0">
                <a:solidFill>
                  <a:srgbClr val="1F2328"/>
                </a:solidFill>
                <a:latin typeface="Courier New"/>
              </a:rPr>
              <a:t>.</a:t>
            </a:r>
            <a:r>
              <a:rPr sz="1950" b="0" i="0">
                <a:solidFill>
                  <a:srgbClr val="1F2328"/>
                </a:solidFill>
                <a:latin typeface="Courier New"/>
              </a:rPr>
              <a:t>linear_model</a:t>
            </a:r>
            <a:r>
              <a:rPr sz="1950" b="0" i="0">
                <a:solidFill>
                  <a:srgbClr val="1F2328"/>
                </a:solidFill>
                <a:latin typeface="Courier New"/>
              </a:rPr>
              <a:t> </a:t>
            </a:r>
            <a:r>
              <a:rPr sz="1950" b="1" i="0">
                <a:solidFill>
                  <a:srgbClr val="1F2328"/>
                </a:solidFill>
                <a:latin typeface="Courier New"/>
              </a:rPr>
              <a:t>import</a:t>
            </a:r>
            <a:r>
              <a:rPr sz="1950" b="0" i="0">
                <a:solidFill>
                  <a:srgbClr val="1F2328"/>
                </a:solidFill>
                <a:latin typeface="Courier New"/>
              </a:rPr>
              <a:t> </a:t>
            </a:r>
            <a:r>
              <a:rPr sz="1950" b="0" i="0">
                <a:solidFill>
                  <a:srgbClr val="1F2328"/>
                </a:solidFill>
                <a:latin typeface="Courier New"/>
              </a:rPr>
              <a:t>LogisticRegression</a:t>
            </a:r>
          </a:p>
          <a:p>
            <a:r>
              <a:rPr sz="1950" b="0" i="0">
                <a:solidFill>
                  <a:srgbClr val="1F2328"/>
                </a:solidFill>
                <a:latin typeface="Courier New"/>
              </a:rPr>
              <a:t> </a:t>
            </a:r>
          </a:p>
          <a:p>
            <a:r>
              <a:rPr sz="1950" b="0" i="0">
                <a:solidFill>
                  <a:srgbClr val="1F2328"/>
                </a:solidFill>
                <a:latin typeface="Courier New"/>
              </a:rPr>
              <a:t>plain</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LogisticRegression</a:t>
            </a:r>
            <a:r>
              <a:rPr sz="1950" b="0" i="0">
                <a:solidFill>
                  <a:srgbClr val="1F2328"/>
                </a:solidFill>
                <a:latin typeface="Courier New"/>
              </a:rPr>
              <a:t>(</a:t>
            </a:r>
            <a:r>
              <a:rPr sz="1950" b="0" i="0">
                <a:solidFill>
                  <a:srgbClr val="1F2328"/>
                </a:solidFill>
                <a:latin typeface="Courier New"/>
              </a:rPr>
              <a:t>max_iter</a:t>
            </a:r>
            <a:r>
              <a:rPr sz="1950" b="0" i="0">
                <a:solidFill>
                  <a:srgbClr val="1F2328"/>
                </a:solidFill>
                <a:latin typeface="Courier New"/>
              </a:rPr>
              <a:t>=</a:t>
            </a:r>
            <a:r>
              <a:rPr sz="1950" b="0" i="0">
                <a:solidFill>
                  <a:srgbClr val="3B4046"/>
                </a:solidFill>
                <a:latin typeface="Courier New"/>
              </a:rPr>
              <a:t>1000</a:t>
            </a:r>
            <a:r>
              <a:rPr sz="1950" b="0" i="0">
                <a:solidFill>
                  <a:srgbClr val="1F2328"/>
                </a:solidFill>
                <a:latin typeface="Courier New"/>
              </a:rPr>
              <a:t>)</a:t>
            </a:r>
          </a:p>
          <a:p>
            <a:r>
              <a:rPr sz="1950" b="0" i="0">
                <a:solidFill>
                  <a:srgbClr val="1F2328"/>
                </a:solidFill>
                <a:latin typeface="Courier New"/>
              </a:rPr>
              <a:t>weighted</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LogisticRegression</a:t>
            </a:r>
            <a:r>
              <a:rPr sz="1950" b="0" i="0">
                <a:solidFill>
                  <a:srgbClr val="1F2328"/>
                </a:solidFill>
                <a:latin typeface="Courier New"/>
              </a:rPr>
              <a:t>(</a:t>
            </a:r>
            <a:r>
              <a:rPr sz="1950" b="0" i="0">
                <a:solidFill>
                  <a:srgbClr val="1F2328"/>
                </a:solidFill>
                <a:latin typeface="Courier New"/>
              </a:rPr>
              <a:t>max_iter</a:t>
            </a:r>
            <a:r>
              <a:rPr sz="1950" b="0" i="0">
                <a:solidFill>
                  <a:srgbClr val="1F2328"/>
                </a:solidFill>
                <a:latin typeface="Courier New"/>
              </a:rPr>
              <a:t>=</a:t>
            </a:r>
            <a:r>
              <a:rPr sz="1950" b="0" i="0">
                <a:solidFill>
                  <a:srgbClr val="3B4046"/>
                </a:solidFill>
                <a:latin typeface="Courier New"/>
              </a:rPr>
              <a:t>1000</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class_weight</a:t>
            </a:r>
            <a:r>
              <a:rPr sz="1950" b="0" i="0">
                <a:solidFill>
                  <a:srgbClr val="1F2328"/>
                </a:solidFill>
                <a:latin typeface="Courier New"/>
              </a:rPr>
              <a:t>=</a:t>
            </a:r>
            <a:r>
              <a:rPr sz="1950" b="0" i="0">
                <a:solidFill>
                  <a:srgbClr val="B04A2B"/>
                </a:solidFill>
                <a:latin typeface="Courier New"/>
              </a:rPr>
              <a:t>'balanced'</a:t>
            </a:r>
            <a:r>
              <a:rPr sz="1950" b="0" i="0">
                <a:solidFill>
                  <a:srgbClr val="1F2328"/>
                </a:solidFill>
                <a:latin typeface="Courier New"/>
              </a:rPr>
              <a:t>)</a:t>
            </a:r>
          </a:p>
          <a:p>
            <a:r>
              <a:rPr sz="1950" b="0" i="0">
                <a:solidFill>
                  <a:srgbClr val="1F2328"/>
                </a:solidFill>
                <a:latin typeface="Courier New"/>
              </a:rPr>
              <a:t>weighted</a:t>
            </a:r>
            <a:r>
              <a:rPr sz="1950" b="0" i="0">
                <a:solidFill>
                  <a:srgbClr val="1F2328"/>
                </a:solidFill>
                <a:latin typeface="Courier New"/>
              </a:rPr>
              <a:t>.</a:t>
            </a:r>
            <a:r>
              <a:rPr sz="1950" b="0" i="0">
                <a:solidFill>
                  <a:srgbClr val="1F2328"/>
                </a:solidFill>
                <a:latin typeface="Courier New"/>
              </a:rPr>
              <a:t>fit</a:t>
            </a:r>
            <a:r>
              <a:rPr sz="1950" b="0" i="0">
                <a:solidFill>
                  <a:srgbClr val="1F2328"/>
                </a:solidFill>
                <a:latin typeface="Courier New"/>
              </a:rPr>
              <a:t>(</a:t>
            </a:r>
            <a:r>
              <a:rPr sz="1950" b="0" i="0">
                <a:solidFill>
                  <a:srgbClr val="1F2328"/>
                </a:solidFill>
                <a:latin typeface="Courier New"/>
              </a:rPr>
              <a:t>X_train</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y_train</a:t>
            </a:r>
            <a:r>
              <a:rPr sz="1950" b="0" i="0">
                <a:solidFill>
                  <a:srgbClr val="1F2328"/>
                </a:solidFill>
                <a:latin typeface="Courier New"/>
              </a:rPr>
              <a:t>)</a:t>
            </a:r>
          </a:p>
          <a:p>
            <a:r>
              <a:rPr sz="1950" b="0" i="0">
                <a:solidFill>
                  <a:srgbClr val="1F2328"/>
                </a:solidFill>
                <a:latin typeface="Courier New"/>
              </a:rPr>
              <a:t>prob</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weighted</a:t>
            </a:r>
            <a:r>
              <a:rPr sz="1950" b="0" i="0">
                <a:solidFill>
                  <a:srgbClr val="1F2328"/>
                </a:solidFill>
                <a:latin typeface="Courier New"/>
              </a:rPr>
              <a:t>.</a:t>
            </a:r>
            <a:r>
              <a:rPr sz="1950" b="0" i="0">
                <a:solidFill>
                  <a:srgbClr val="1F2328"/>
                </a:solidFill>
                <a:latin typeface="Courier New"/>
              </a:rPr>
              <a:t>predict_proba</a:t>
            </a:r>
            <a:r>
              <a:rPr sz="1950" b="0" i="0">
                <a:solidFill>
                  <a:srgbClr val="1F2328"/>
                </a:solidFill>
                <a:latin typeface="Courier New"/>
              </a:rPr>
              <a:t>(</a:t>
            </a:r>
            <a:r>
              <a:rPr sz="1950" b="0" i="0">
                <a:solidFill>
                  <a:srgbClr val="1F2328"/>
                </a:solidFill>
                <a:latin typeface="Courier New"/>
              </a:rPr>
              <a:t>X_test</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 </a:t>
            </a:r>
            <a:r>
              <a:rPr sz="1950" b="0" i="0">
                <a:solidFill>
                  <a:srgbClr val="3B4046"/>
                </a:solidFill>
                <a:latin typeface="Courier New"/>
              </a:rPr>
              <a:t>1</a:t>
            </a:r>
            <a:r>
              <a:rPr sz="1950" b="0" i="0">
                <a:solidFill>
                  <a:srgbClr val="1F2328"/>
                </a:solidFill>
                <a:latin typeface="Courier New"/>
              </a:rPr>
              <a:t>]</a:t>
            </a:r>
          </a:p>
          <a:p>
            <a:r>
              <a:rPr sz="1950" b="0" i="0">
                <a:solidFill>
                  <a:srgbClr val="1F2328"/>
                </a:solidFill>
                <a:latin typeface="Courier New"/>
              </a:rPr>
              <a:t>flag</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prob</a:t>
            </a:r>
            <a:r>
              <a:rPr sz="1950" b="0" i="0">
                <a:solidFill>
                  <a:srgbClr val="1F2328"/>
                </a:solidFill>
                <a:latin typeface="Courier New"/>
              </a:rPr>
              <a:t> </a:t>
            </a:r>
            <a:r>
              <a:rPr sz="1950" b="0" i="0">
                <a:solidFill>
                  <a:srgbClr val="1F2328"/>
                </a:solidFill>
                <a:latin typeface="Courier New"/>
              </a:rPr>
              <a:t>&gt;</a:t>
            </a:r>
            <a:r>
              <a:rPr sz="1950" b="0" i="0">
                <a:solidFill>
                  <a:srgbClr val="1F2328"/>
                </a:solidFill>
                <a:latin typeface="Courier New"/>
              </a:rPr>
              <a:t>=</a:t>
            </a:r>
            <a:r>
              <a:rPr sz="1950" b="0" i="0">
                <a:solidFill>
                  <a:srgbClr val="1F2328"/>
                </a:solidFill>
                <a:latin typeface="Courier New"/>
              </a:rPr>
              <a:t> </a:t>
            </a:r>
            <a:r>
              <a:rPr sz="1950" b="0" i="0">
                <a:solidFill>
                  <a:srgbClr val="3B4046"/>
                </a:solidFill>
                <a:latin typeface="Courier New"/>
              </a:rPr>
              <a:t>0.2</a:t>
            </a:r>
          </a:p>
        </p:txBody>
      </p:sp>
      <p:grpSp>
        <p:nvGrpSpPr>
          <p:cNvPr id="7" name="says-1"/>
          <p:cNvGrpSpPr/>
          <p:nvPr/>
        </p:nvGrpSpPr>
        <p:grpSpPr>
          <a:xfrm>
            <a:off x="685800" y="4101084"/>
            <a:ext cx="3332378" cy="1353312"/>
            <a:chOff x="685800" y="4101084"/>
            <a:chExt cx="3332378" cy="1353312"/>
          </a:xfrm>
        </p:grpSpPr>
        <p:cxnSp>
          <p:nvCxnSpPr>
            <p:cNvPr id="8" name="Connector 7"/>
            <p:cNvCxnSpPr/>
            <p:nvPr/>
          </p:nvCxnSpPr>
          <p:spPr>
            <a:xfrm>
              <a:off x="685800" y="4101084"/>
              <a:ext cx="3332378" cy="0"/>
            </a:xfrm>
            <a:prstGeom prst="line">
              <a:avLst/>
            </a:prstGeom>
            <a:ln w="15875">
              <a:solidFill>
                <a:srgbClr val="1F2328"/>
              </a:solidFill>
            </a:ln>
          </p:spPr>
        </p:cxnSp>
        <p:sp>
          <p:nvSpPr>
            <p:cNvPr id="9" name="TextBox 8"/>
            <p:cNvSpPr txBox="1"/>
            <p:nvPr/>
          </p:nvSpPr>
          <p:spPr>
            <a:xfrm>
              <a:off x="685800" y="4174236"/>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0" name="TextBox 9"/>
            <p:cNvSpPr txBox="1"/>
            <p:nvPr/>
          </p:nvSpPr>
          <p:spPr>
            <a:xfrm>
              <a:off x="1033271" y="4174236"/>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The usual model, and one that is told defaults matter more.</a:t>
              </a:r>
            </a:p>
          </p:txBody>
        </p:sp>
      </p:grpSp>
      <p:grpSp>
        <p:nvGrpSpPr>
          <p:cNvPr id="11" name="says-2"/>
          <p:cNvGrpSpPr/>
          <p:nvPr/>
        </p:nvGrpSpPr>
        <p:grpSpPr>
          <a:xfrm>
            <a:off x="4429658" y="4101084"/>
            <a:ext cx="3332378" cy="1353312"/>
            <a:chOff x="4429658" y="4101084"/>
            <a:chExt cx="3332378" cy="1353312"/>
          </a:xfrm>
        </p:grpSpPr>
        <p:cxnSp>
          <p:nvCxnSpPr>
            <p:cNvPr id="12" name="Connector 11"/>
            <p:cNvCxnSpPr/>
            <p:nvPr/>
          </p:nvCxnSpPr>
          <p:spPr>
            <a:xfrm>
              <a:off x="4429658" y="4101084"/>
              <a:ext cx="3332378" cy="0"/>
            </a:xfrm>
            <a:prstGeom prst="line">
              <a:avLst/>
            </a:prstGeom>
            <a:ln w="15875">
              <a:solidFill>
                <a:srgbClr val="1F2328"/>
              </a:solidFill>
            </a:ln>
          </p:spPr>
        </p:cxnSp>
        <p:sp>
          <p:nvSpPr>
            <p:cNvPr id="13" name="TextBox 12"/>
            <p:cNvSpPr txBox="1"/>
            <p:nvPr/>
          </p:nvSpPr>
          <p:spPr>
            <a:xfrm>
              <a:off x="4429658" y="4174236"/>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4" name="TextBox 13"/>
            <p:cNvSpPr txBox="1"/>
            <p:nvPr/>
          </p:nvSpPr>
          <p:spPr>
            <a:xfrm>
              <a:off x="4777130" y="4174236"/>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balanced makes each default count about as much as seven repaid loans.</a:t>
              </a:r>
            </a:p>
          </p:txBody>
        </p:sp>
      </p:grpSp>
      <p:grpSp>
        <p:nvGrpSpPr>
          <p:cNvPr id="15" name="says-3"/>
          <p:cNvGrpSpPr/>
          <p:nvPr/>
        </p:nvGrpSpPr>
        <p:grpSpPr>
          <a:xfrm>
            <a:off x="8173516" y="4101084"/>
            <a:ext cx="3332379" cy="1353312"/>
            <a:chOff x="8173516" y="4101084"/>
            <a:chExt cx="3332379" cy="1353312"/>
          </a:xfrm>
        </p:grpSpPr>
        <p:cxnSp>
          <p:nvCxnSpPr>
            <p:cNvPr id="16" name="Connector 15"/>
            <p:cNvCxnSpPr/>
            <p:nvPr/>
          </p:nvCxnSpPr>
          <p:spPr>
            <a:xfrm>
              <a:off x="8173516" y="4101084"/>
              <a:ext cx="3332379" cy="0"/>
            </a:xfrm>
            <a:prstGeom prst="line">
              <a:avLst/>
            </a:prstGeom>
            <a:ln w="15875">
              <a:solidFill>
                <a:srgbClr val="1F2328"/>
              </a:solidFill>
            </a:ln>
          </p:spPr>
        </p:cxnSp>
        <p:sp>
          <p:nvSpPr>
            <p:cNvPr id="17" name="TextBox 16"/>
            <p:cNvSpPr txBox="1"/>
            <p:nvPr/>
          </p:nvSpPr>
          <p:spPr>
            <a:xfrm>
              <a:off x="8173516" y="4174236"/>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18" name="TextBox 17"/>
            <p:cNvSpPr txBox="1"/>
            <p:nvPr/>
          </p:nvSpPr>
          <p:spPr>
            <a:xfrm>
              <a:off x="8520988" y="4174236"/>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Then choose the threshold yourself from the costs.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Cross-validation tests the model five times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16   Judging a model: metrics, leakage and imbalance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pic>
        <p:nvPicPr>
          <p:cNvPr id="5" name="figure-cv_folds" descr="Five bars, each with a different fifth highlighted as the test fold."/>
          <p:cNvPicPr>
            <a:picLocks noChangeAspect="1"/>
          </p:cNvPicPr>
          <p:nvPr/>
        </p:nvPicPr>
        <p:blipFill>
          <a:blip r:embed="rId3"/>
          <a:stretch>
            <a:fillRect/>
          </a:stretch>
        </p:blipFill>
        <p:spPr>
          <a:xfrm>
            <a:off x="685800" y="1600200"/>
            <a:ext cx="7040880" cy="3613083"/>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Split the loans into five equal parts.</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Each part takes one turn as the test part.</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Average the five scores.</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One split can be lucky or unlucky. Five give a steadier score.</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Cross-validation in one line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16   Judging a model: metrics, leakage and imbalance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sp>
        <p:nvSpPr>
          <p:cNvPr id="5" name="Rectangle 4"/>
          <p:cNvSpPr/>
          <p:nvPr/>
        </p:nvSpPr>
        <p:spPr>
          <a:xfrm>
            <a:off x="685800" y="1600200"/>
            <a:ext cx="10820095" cy="31302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2855976"/>
          </a:xfrm>
          <a:prstGeom prst="rect">
            <a:avLst/>
          </a:prstGeom>
          <a:noFill/>
        </p:spPr>
        <p:txBody>
          <a:bodyPr wrap="none" lIns="0" rIns="0" tIns="0" bIns="0">
            <a:spAutoFit/>
          </a:bodyPr>
          <a:lstStyle/>
          <a:p>
            <a:r>
              <a:rPr sz="1850" b="1" i="0">
                <a:solidFill>
                  <a:srgbClr val="1F2328"/>
                </a:solidFill>
                <a:latin typeface="Courier New"/>
              </a:rPr>
              <a:t>from</a:t>
            </a:r>
            <a:r>
              <a:rPr sz="1850" b="0" i="0">
                <a:solidFill>
                  <a:srgbClr val="1F2328"/>
                </a:solidFill>
                <a:latin typeface="Courier New"/>
              </a:rPr>
              <a:t> </a:t>
            </a:r>
            <a:r>
              <a:rPr sz="1850" b="0" i="0">
                <a:solidFill>
                  <a:srgbClr val="1F2328"/>
                </a:solidFill>
                <a:latin typeface="Courier New"/>
              </a:rPr>
              <a:t>sklearn</a:t>
            </a:r>
            <a:r>
              <a:rPr sz="1850" b="0" i="0">
                <a:solidFill>
                  <a:srgbClr val="1F2328"/>
                </a:solidFill>
                <a:latin typeface="Courier New"/>
              </a:rPr>
              <a:t>.</a:t>
            </a:r>
            <a:r>
              <a:rPr sz="1850" b="0" i="0">
                <a:solidFill>
                  <a:srgbClr val="1F2328"/>
                </a:solidFill>
                <a:latin typeface="Courier New"/>
              </a:rPr>
              <a:t>model_selection</a:t>
            </a:r>
            <a:r>
              <a:rPr sz="1850" b="0" i="0">
                <a:solidFill>
                  <a:srgbClr val="1F2328"/>
                </a:solidFill>
                <a:latin typeface="Courier New"/>
              </a:rPr>
              <a:t> </a:t>
            </a:r>
            <a:r>
              <a:rPr sz="1850" b="1" i="0">
                <a:solidFill>
                  <a:srgbClr val="1F2328"/>
                </a:solidFill>
                <a:latin typeface="Courier New"/>
              </a:rPr>
              <a:t>import</a:t>
            </a:r>
            <a:r>
              <a:rPr sz="1850" b="0" i="0">
                <a:solidFill>
                  <a:srgbClr val="1F2328"/>
                </a:solidFill>
                <a:latin typeface="Courier New"/>
              </a:rPr>
              <a:t> </a:t>
            </a:r>
            <a:r>
              <a:rPr sz="1850" b="0" i="0">
                <a:solidFill>
                  <a:srgbClr val="1F2328"/>
                </a:solidFill>
                <a:latin typeface="Courier New"/>
              </a:rPr>
              <a:t>cross_val_score</a:t>
            </a:r>
          </a:p>
          <a:p>
            <a:r>
              <a:rPr sz="1850" b="1" i="0">
                <a:solidFill>
                  <a:srgbClr val="1F2328"/>
                </a:solidFill>
                <a:latin typeface="Courier New"/>
              </a:rPr>
              <a:t>from</a:t>
            </a:r>
            <a:r>
              <a:rPr sz="1850" b="0" i="0">
                <a:solidFill>
                  <a:srgbClr val="1F2328"/>
                </a:solidFill>
                <a:latin typeface="Courier New"/>
              </a:rPr>
              <a:t> </a:t>
            </a:r>
            <a:r>
              <a:rPr sz="1850" b="0" i="0">
                <a:solidFill>
                  <a:srgbClr val="1F2328"/>
                </a:solidFill>
                <a:latin typeface="Courier New"/>
              </a:rPr>
              <a:t>sklearn</a:t>
            </a:r>
            <a:r>
              <a:rPr sz="1850" b="0" i="0">
                <a:solidFill>
                  <a:srgbClr val="1F2328"/>
                </a:solidFill>
                <a:latin typeface="Courier New"/>
              </a:rPr>
              <a:t>.</a:t>
            </a:r>
            <a:r>
              <a:rPr sz="1850" b="0" i="0">
                <a:solidFill>
                  <a:srgbClr val="1F2328"/>
                </a:solidFill>
                <a:latin typeface="Courier New"/>
              </a:rPr>
              <a:t>pipeline</a:t>
            </a:r>
            <a:r>
              <a:rPr sz="1850" b="0" i="0">
                <a:solidFill>
                  <a:srgbClr val="1F2328"/>
                </a:solidFill>
                <a:latin typeface="Courier New"/>
              </a:rPr>
              <a:t> </a:t>
            </a:r>
            <a:r>
              <a:rPr sz="1850" b="1" i="0">
                <a:solidFill>
                  <a:srgbClr val="1F2328"/>
                </a:solidFill>
                <a:latin typeface="Courier New"/>
              </a:rPr>
              <a:t>import</a:t>
            </a:r>
            <a:r>
              <a:rPr sz="1850" b="0" i="0">
                <a:solidFill>
                  <a:srgbClr val="1F2328"/>
                </a:solidFill>
                <a:latin typeface="Courier New"/>
              </a:rPr>
              <a:t> </a:t>
            </a:r>
            <a:r>
              <a:rPr sz="1850" b="0" i="0">
                <a:solidFill>
                  <a:srgbClr val="1F2328"/>
                </a:solidFill>
                <a:latin typeface="Courier New"/>
              </a:rPr>
              <a:t>make_pipeline</a:t>
            </a:r>
          </a:p>
          <a:p>
            <a:r>
              <a:rPr sz="1850" b="1" i="0">
                <a:solidFill>
                  <a:srgbClr val="1F2328"/>
                </a:solidFill>
                <a:latin typeface="Courier New"/>
              </a:rPr>
              <a:t>from</a:t>
            </a:r>
            <a:r>
              <a:rPr sz="1850" b="0" i="0">
                <a:solidFill>
                  <a:srgbClr val="1F2328"/>
                </a:solidFill>
                <a:latin typeface="Courier New"/>
              </a:rPr>
              <a:t> </a:t>
            </a:r>
            <a:r>
              <a:rPr sz="1850" b="0" i="0">
                <a:solidFill>
                  <a:srgbClr val="1F2328"/>
                </a:solidFill>
                <a:latin typeface="Courier New"/>
              </a:rPr>
              <a:t>sklearn</a:t>
            </a:r>
            <a:r>
              <a:rPr sz="1850" b="0" i="0">
                <a:solidFill>
                  <a:srgbClr val="1F2328"/>
                </a:solidFill>
                <a:latin typeface="Courier New"/>
              </a:rPr>
              <a:t>.</a:t>
            </a:r>
            <a:r>
              <a:rPr sz="1850" b="0" i="0">
                <a:solidFill>
                  <a:srgbClr val="1F2328"/>
                </a:solidFill>
                <a:latin typeface="Courier New"/>
              </a:rPr>
              <a:t>impute</a:t>
            </a:r>
            <a:r>
              <a:rPr sz="1850" b="0" i="0">
                <a:solidFill>
                  <a:srgbClr val="1F2328"/>
                </a:solidFill>
                <a:latin typeface="Courier New"/>
              </a:rPr>
              <a:t> </a:t>
            </a:r>
            <a:r>
              <a:rPr sz="1850" b="1" i="0">
                <a:solidFill>
                  <a:srgbClr val="1F2328"/>
                </a:solidFill>
                <a:latin typeface="Courier New"/>
              </a:rPr>
              <a:t>import</a:t>
            </a:r>
            <a:r>
              <a:rPr sz="1850" b="0" i="0">
                <a:solidFill>
                  <a:srgbClr val="1F2328"/>
                </a:solidFill>
                <a:latin typeface="Courier New"/>
              </a:rPr>
              <a:t> </a:t>
            </a:r>
            <a:r>
              <a:rPr sz="1850" b="0" i="0">
                <a:solidFill>
                  <a:srgbClr val="1F2328"/>
                </a:solidFill>
                <a:latin typeface="Courier New"/>
              </a:rPr>
              <a:t>SimpleImputer</a:t>
            </a:r>
          </a:p>
          <a:p>
            <a:r>
              <a:rPr sz="1850" b="1" i="0">
                <a:solidFill>
                  <a:srgbClr val="1F2328"/>
                </a:solidFill>
                <a:latin typeface="Courier New"/>
              </a:rPr>
              <a:t>from</a:t>
            </a:r>
            <a:r>
              <a:rPr sz="1850" b="0" i="0">
                <a:solidFill>
                  <a:srgbClr val="1F2328"/>
                </a:solidFill>
                <a:latin typeface="Courier New"/>
              </a:rPr>
              <a:t> </a:t>
            </a:r>
            <a:r>
              <a:rPr sz="1850" b="0" i="0">
                <a:solidFill>
                  <a:srgbClr val="1F2328"/>
                </a:solidFill>
                <a:latin typeface="Courier New"/>
              </a:rPr>
              <a:t>sklearn</a:t>
            </a:r>
            <a:r>
              <a:rPr sz="1850" b="0" i="0">
                <a:solidFill>
                  <a:srgbClr val="1F2328"/>
                </a:solidFill>
                <a:latin typeface="Courier New"/>
              </a:rPr>
              <a:t>.</a:t>
            </a:r>
            <a:r>
              <a:rPr sz="1850" b="0" i="0">
                <a:solidFill>
                  <a:srgbClr val="1F2328"/>
                </a:solidFill>
                <a:latin typeface="Courier New"/>
              </a:rPr>
              <a:t>preprocessing</a:t>
            </a:r>
            <a:r>
              <a:rPr sz="1850" b="0" i="0">
                <a:solidFill>
                  <a:srgbClr val="1F2328"/>
                </a:solidFill>
                <a:latin typeface="Courier New"/>
              </a:rPr>
              <a:t> </a:t>
            </a:r>
            <a:r>
              <a:rPr sz="1850" b="1" i="0">
                <a:solidFill>
                  <a:srgbClr val="1F2328"/>
                </a:solidFill>
                <a:latin typeface="Courier New"/>
              </a:rPr>
              <a:t>import</a:t>
            </a:r>
            <a:r>
              <a:rPr sz="1850" b="0" i="0">
                <a:solidFill>
                  <a:srgbClr val="1F2328"/>
                </a:solidFill>
                <a:latin typeface="Courier New"/>
              </a:rPr>
              <a:t> </a:t>
            </a:r>
            <a:r>
              <a:rPr sz="1850" b="0" i="0">
                <a:solidFill>
                  <a:srgbClr val="1F2328"/>
                </a:solidFill>
                <a:latin typeface="Courier New"/>
              </a:rPr>
              <a:t>StandardScaler</a:t>
            </a:r>
          </a:p>
          <a:p>
            <a:r>
              <a:rPr sz="1850" b="1" i="0">
                <a:solidFill>
                  <a:srgbClr val="1F2328"/>
                </a:solidFill>
                <a:latin typeface="Courier New"/>
              </a:rPr>
              <a:t>from</a:t>
            </a:r>
            <a:r>
              <a:rPr sz="1850" b="0" i="0">
                <a:solidFill>
                  <a:srgbClr val="1F2328"/>
                </a:solidFill>
                <a:latin typeface="Courier New"/>
              </a:rPr>
              <a:t> </a:t>
            </a:r>
            <a:r>
              <a:rPr sz="1850" b="0" i="0">
                <a:solidFill>
                  <a:srgbClr val="1F2328"/>
                </a:solidFill>
                <a:latin typeface="Courier New"/>
              </a:rPr>
              <a:t>sklearn</a:t>
            </a:r>
            <a:r>
              <a:rPr sz="1850" b="0" i="0">
                <a:solidFill>
                  <a:srgbClr val="1F2328"/>
                </a:solidFill>
                <a:latin typeface="Courier New"/>
              </a:rPr>
              <a:t>.</a:t>
            </a:r>
            <a:r>
              <a:rPr sz="1850" b="0" i="0">
                <a:solidFill>
                  <a:srgbClr val="1F2328"/>
                </a:solidFill>
                <a:latin typeface="Courier New"/>
              </a:rPr>
              <a:t>linear_model</a:t>
            </a:r>
            <a:r>
              <a:rPr sz="1850" b="0" i="0">
                <a:solidFill>
                  <a:srgbClr val="1F2328"/>
                </a:solidFill>
                <a:latin typeface="Courier New"/>
              </a:rPr>
              <a:t> </a:t>
            </a:r>
            <a:r>
              <a:rPr sz="1850" b="1" i="0">
                <a:solidFill>
                  <a:srgbClr val="1F2328"/>
                </a:solidFill>
                <a:latin typeface="Courier New"/>
              </a:rPr>
              <a:t>import</a:t>
            </a:r>
            <a:r>
              <a:rPr sz="1850" b="0" i="0">
                <a:solidFill>
                  <a:srgbClr val="1F2328"/>
                </a:solidFill>
                <a:latin typeface="Courier New"/>
              </a:rPr>
              <a:t> </a:t>
            </a:r>
            <a:r>
              <a:rPr sz="1850" b="0" i="0">
                <a:solidFill>
                  <a:srgbClr val="1F2328"/>
                </a:solidFill>
                <a:latin typeface="Courier New"/>
              </a:rPr>
              <a:t>LogisticRegression</a:t>
            </a:r>
          </a:p>
          <a:p>
            <a:r>
              <a:rPr sz="1850" b="0" i="0">
                <a:solidFill>
                  <a:srgbClr val="1F2328"/>
                </a:solidFill>
                <a:latin typeface="Courier New"/>
              </a:rPr>
              <a:t> </a:t>
            </a:r>
          </a:p>
          <a:p>
            <a:r>
              <a:rPr sz="1850" b="0" i="0">
                <a:solidFill>
                  <a:srgbClr val="1F2328"/>
                </a:solidFill>
                <a:latin typeface="Courier New"/>
              </a:rPr>
              <a:t>model</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make_pipeline</a:t>
            </a:r>
            <a:r>
              <a:rPr sz="1850" b="0" i="0">
                <a:solidFill>
                  <a:srgbClr val="1F2328"/>
                </a:solidFill>
                <a:latin typeface="Courier New"/>
              </a:rPr>
              <a:t>(</a:t>
            </a:r>
            <a:r>
              <a:rPr sz="1850" b="0" i="0">
                <a:solidFill>
                  <a:srgbClr val="1F2328"/>
                </a:solidFill>
                <a:latin typeface="Courier New"/>
              </a:rPr>
              <a:t>SimpleImputer</a:t>
            </a:r>
            <a:r>
              <a:rPr sz="1850" b="0" i="0">
                <a:solidFill>
                  <a:srgbClr val="1F2328"/>
                </a:solidFill>
                <a:latin typeface="Courier New"/>
              </a:rPr>
              <a:t>(</a:t>
            </a:r>
            <a:r>
              <a:rPr sz="1850" b="0" i="0">
                <a:solidFill>
                  <a:srgbClr val="1F2328"/>
                </a:solidFill>
                <a:latin typeface="Courier New"/>
              </a:rPr>
              <a:t>strategy</a:t>
            </a:r>
            <a:r>
              <a:rPr sz="1850" b="0" i="0">
                <a:solidFill>
                  <a:srgbClr val="1F2328"/>
                </a:solidFill>
                <a:latin typeface="Courier New"/>
              </a:rPr>
              <a:t>=</a:t>
            </a:r>
            <a:r>
              <a:rPr sz="1850" b="0" i="0">
                <a:solidFill>
                  <a:srgbClr val="B04A2B"/>
                </a:solidFill>
                <a:latin typeface="Courier New"/>
              </a:rPr>
              <a:t>'median'</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StandardScaler</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p>
          <a:p>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LogisticRegression</a:t>
            </a:r>
            <a:r>
              <a:rPr sz="1850" b="0" i="0">
                <a:solidFill>
                  <a:srgbClr val="1F2328"/>
                </a:solidFill>
                <a:latin typeface="Courier New"/>
              </a:rPr>
              <a:t>(</a:t>
            </a:r>
            <a:r>
              <a:rPr sz="1850" b="0" i="0">
                <a:solidFill>
                  <a:srgbClr val="1F2328"/>
                </a:solidFill>
                <a:latin typeface="Courier New"/>
              </a:rPr>
              <a:t>max_iter</a:t>
            </a:r>
            <a:r>
              <a:rPr sz="1850" b="0" i="0">
                <a:solidFill>
                  <a:srgbClr val="1F2328"/>
                </a:solidFill>
                <a:latin typeface="Courier New"/>
              </a:rPr>
              <a:t>=</a:t>
            </a:r>
            <a:r>
              <a:rPr sz="1850" b="0" i="0">
                <a:solidFill>
                  <a:srgbClr val="3B4046"/>
                </a:solidFill>
                <a:latin typeface="Courier New"/>
              </a:rPr>
              <a:t>1000</a:t>
            </a:r>
            <a:r>
              <a:rPr sz="1850" b="0" i="0">
                <a:solidFill>
                  <a:srgbClr val="1F2328"/>
                </a:solidFill>
                <a:latin typeface="Courier New"/>
              </a:rPr>
              <a:t>)</a:t>
            </a:r>
            <a:r>
              <a:rPr sz="1850" b="0" i="0">
                <a:solidFill>
                  <a:srgbClr val="1F2328"/>
                </a:solidFill>
                <a:latin typeface="Courier New"/>
              </a:rPr>
              <a:t>)</a:t>
            </a:r>
          </a:p>
          <a:p>
            <a:r>
              <a:rPr sz="1850" b="0" i="0">
                <a:solidFill>
                  <a:srgbClr val="1F2328"/>
                </a:solidFill>
                <a:latin typeface="Courier New"/>
              </a:rPr>
              <a:t>scores</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cross_val_score</a:t>
            </a:r>
            <a:r>
              <a:rPr sz="1850" b="0" i="0">
                <a:solidFill>
                  <a:srgbClr val="1F2328"/>
                </a:solidFill>
                <a:latin typeface="Courier New"/>
              </a:rPr>
              <a:t>(</a:t>
            </a:r>
            <a:r>
              <a:rPr sz="1850" b="0" i="0">
                <a:solidFill>
                  <a:srgbClr val="1F2328"/>
                </a:solidFill>
                <a:latin typeface="Courier New"/>
              </a:rPr>
              <a:t>model</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X</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y</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cv</a:t>
            </a:r>
            <a:r>
              <a:rPr sz="1850" b="0" i="0">
                <a:solidFill>
                  <a:srgbClr val="1F2328"/>
                </a:solidFill>
                <a:latin typeface="Courier New"/>
              </a:rPr>
              <a:t>=</a:t>
            </a:r>
            <a:r>
              <a:rPr sz="1850" b="0" i="0">
                <a:solidFill>
                  <a:srgbClr val="3B4046"/>
                </a:solidFill>
                <a:latin typeface="Courier New"/>
              </a:rPr>
              <a:t>5</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scoring</a:t>
            </a:r>
            <a:r>
              <a:rPr sz="1850" b="0" i="0">
                <a:solidFill>
                  <a:srgbClr val="1F2328"/>
                </a:solidFill>
                <a:latin typeface="Courier New"/>
              </a:rPr>
              <a:t>=</a:t>
            </a:r>
            <a:r>
              <a:rPr sz="1850" b="0" i="0">
                <a:solidFill>
                  <a:srgbClr val="B04A2B"/>
                </a:solidFill>
                <a:latin typeface="Courier New"/>
              </a:rPr>
              <a:t>'roc_auc'</a:t>
            </a:r>
            <a:r>
              <a:rPr sz="1850" b="0" i="0">
                <a:solidFill>
                  <a:srgbClr val="1F2328"/>
                </a:solidFill>
                <a:latin typeface="Courier New"/>
              </a:rPr>
              <a:t>)</a:t>
            </a:r>
          </a:p>
          <a:p>
            <a:r>
              <a:rPr sz="1850" b="0" i="0">
                <a:solidFill>
                  <a:srgbClr val="1F2328"/>
                </a:solidFill>
                <a:latin typeface="Courier New"/>
              </a:rPr>
              <a:t>print</a:t>
            </a:r>
            <a:r>
              <a:rPr sz="1850" b="0" i="0">
                <a:solidFill>
                  <a:srgbClr val="1F2328"/>
                </a:solidFill>
                <a:latin typeface="Courier New"/>
              </a:rPr>
              <a:t>(</a:t>
            </a:r>
            <a:r>
              <a:rPr sz="1850" b="0" i="0">
                <a:solidFill>
                  <a:srgbClr val="1F2328"/>
                </a:solidFill>
                <a:latin typeface="Courier New"/>
              </a:rPr>
              <a:t>scores</a:t>
            </a:r>
            <a:r>
              <a:rPr sz="1850" b="0" i="0">
                <a:solidFill>
                  <a:srgbClr val="1F2328"/>
                </a:solidFill>
                <a:latin typeface="Courier New"/>
              </a:rPr>
              <a:t>.</a:t>
            </a:r>
            <a:r>
              <a:rPr sz="1850" b="0" i="0">
                <a:solidFill>
                  <a:srgbClr val="1F2328"/>
                </a:solidFill>
                <a:latin typeface="Courier New"/>
              </a:rPr>
              <a:t>round</a:t>
            </a:r>
            <a:r>
              <a:rPr sz="1850" b="0" i="0">
                <a:solidFill>
                  <a:srgbClr val="1F2328"/>
                </a:solidFill>
                <a:latin typeface="Courier New"/>
              </a:rPr>
              <a:t>(</a:t>
            </a:r>
            <a:r>
              <a:rPr sz="1850" b="0" i="0">
                <a:solidFill>
                  <a:srgbClr val="3B4046"/>
                </a:solidFill>
                <a:latin typeface="Courier New"/>
              </a:rPr>
              <a:t>2</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scores</a:t>
            </a:r>
            <a:r>
              <a:rPr sz="1850" b="0" i="0">
                <a:solidFill>
                  <a:srgbClr val="1F2328"/>
                </a:solidFill>
                <a:latin typeface="Courier New"/>
              </a:rPr>
              <a:t>.</a:t>
            </a:r>
            <a:r>
              <a:rPr sz="1850" b="0" i="0">
                <a:solidFill>
                  <a:srgbClr val="1F2328"/>
                </a:solidFill>
                <a:latin typeface="Courier New"/>
              </a:rPr>
              <a:t>mean</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round</a:t>
            </a:r>
            <a:r>
              <a:rPr sz="1850" b="0" i="0">
                <a:solidFill>
                  <a:srgbClr val="1F2328"/>
                </a:solidFill>
                <a:latin typeface="Courier New"/>
              </a:rPr>
              <a:t>(</a:t>
            </a:r>
            <a:r>
              <a:rPr sz="1850" b="0" i="0">
                <a:solidFill>
                  <a:srgbClr val="3B4046"/>
                </a:solidFill>
                <a:latin typeface="Courier New"/>
              </a:rPr>
              <a:t>2</a:t>
            </a:r>
            <a:r>
              <a:rPr sz="1850" b="0" i="0">
                <a:solidFill>
                  <a:srgbClr val="1F2328"/>
                </a:solidFill>
                <a:latin typeface="Courier New"/>
              </a:rPr>
              <a:t>)</a:t>
            </a:r>
            <a:r>
              <a:rPr sz="1850" b="0" i="0">
                <a:solidFill>
                  <a:srgbClr val="1F2328"/>
                </a:solidFill>
                <a:latin typeface="Courier New"/>
              </a:rPr>
              <a:t>)</a:t>
            </a:r>
          </a:p>
        </p:txBody>
      </p:sp>
      <p:grpSp>
        <p:nvGrpSpPr>
          <p:cNvPr id="7" name="says-1"/>
          <p:cNvGrpSpPr/>
          <p:nvPr/>
        </p:nvGrpSpPr>
        <p:grpSpPr>
          <a:xfrm>
            <a:off x="685800" y="4840224"/>
            <a:ext cx="3332378" cy="1353312"/>
            <a:chOff x="685800" y="4840224"/>
            <a:chExt cx="3332378" cy="1353312"/>
          </a:xfrm>
        </p:grpSpPr>
        <p:cxnSp>
          <p:nvCxnSpPr>
            <p:cNvPr id="8" name="Connector 7"/>
            <p:cNvCxnSpPr/>
            <p:nvPr/>
          </p:nvCxnSpPr>
          <p:spPr>
            <a:xfrm>
              <a:off x="685800" y="4840224"/>
              <a:ext cx="3332378" cy="0"/>
            </a:xfrm>
            <a:prstGeom prst="line">
              <a:avLst/>
            </a:prstGeom>
            <a:ln w="15875">
              <a:solidFill>
                <a:srgbClr val="1F2328"/>
              </a:solidFill>
            </a:ln>
          </p:spPr>
        </p:cxnSp>
        <p:sp>
          <p:nvSpPr>
            <p:cNvPr id="9" name="TextBox 8"/>
            <p:cNvSpPr txBox="1"/>
            <p:nvPr/>
          </p:nvSpPr>
          <p:spPr>
            <a:xfrm>
              <a:off x="685800" y="4913376"/>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0" name="TextBox 9"/>
            <p:cNvSpPr txBox="1"/>
            <p:nvPr/>
          </p:nvSpPr>
          <p:spPr>
            <a:xfrm>
              <a:off x="1033271" y="4913376"/>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The pipeline fills blanks, scales the numbers, then fits the model.</a:t>
              </a:r>
            </a:p>
          </p:txBody>
        </p:sp>
      </p:grpSp>
      <p:grpSp>
        <p:nvGrpSpPr>
          <p:cNvPr id="11" name="says-2"/>
          <p:cNvGrpSpPr/>
          <p:nvPr/>
        </p:nvGrpSpPr>
        <p:grpSpPr>
          <a:xfrm>
            <a:off x="4429658" y="4840224"/>
            <a:ext cx="3332378" cy="1353312"/>
            <a:chOff x="4429658" y="4840224"/>
            <a:chExt cx="3332378" cy="1353312"/>
          </a:xfrm>
        </p:grpSpPr>
        <p:cxnSp>
          <p:nvCxnSpPr>
            <p:cNvPr id="12" name="Connector 11"/>
            <p:cNvCxnSpPr/>
            <p:nvPr/>
          </p:nvCxnSpPr>
          <p:spPr>
            <a:xfrm>
              <a:off x="4429658" y="4840224"/>
              <a:ext cx="3332378" cy="0"/>
            </a:xfrm>
            <a:prstGeom prst="line">
              <a:avLst/>
            </a:prstGeom>
            <a:ln w="15875">
              <a:solidFill>
                <a:srgbClr val="1F2328"/>
              </a:solidFill>
            </a:ln>
          </p:spPr>
        </p:cxnSp>
        <p:sp>
          <p:nvSpPr>
            <p:cNvPr id="13" name="TextBox 12"/>
            <p:cNvSpPr txBox="1"/>
            <p:nvPr/>
          </p:nvSpPr>
          <p:spPr>
            <a:xfrm>
              <a:off x="4429658" y="4913376"/>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4" name="TextBox 13"/>
            <p:cNvSpPr txBox="1"/>
            <p:nvPr/>
          </p:nvSpPr>
          <p:spPr>
            <a:xfrm>
              <a:off x="4777130" y="4913376"/>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cv=5 means five folds. roc_auc asks for AUC.</a:t>
              </a:r>
            </a:p>
          </p:txBody>
        </p:sp>
      </p:grpSp>
      <p:grpSp>
        <p:nvGrpSpPr>
          <p:cNvPr id="15" name="says-3"/>
          <p:cNvGrpSpPr/>
          <p:nvPr/>
        </p:nvGrpSpPr>
        <p:grpSpPr>
          <a:xfrm>
            <a:off x="8173516" y="4840224"/>
            <a:ext cx="3332379" cy="1353312"/>
            <a:chOff x="8173516" y="4840224"/>
            <a:chExt cx="3332379" cy="1353312"/>
          </a:xfrm>
        </p:grpSpPr>
        <p:cxnSp>
          <p:nvCxnSpPr>
            <p:cNvPr id="16" name="Connector 15"/>
            <p:cNvCxnSpPr/>
            <p:nvPr/>
          </p:nvCxnSpPr>
          <p:spPr>
            <a:xfrm>
              <a:off x="8173516" y="4840224"/>
              <a:ext cx="3332379" cy="0"/>
            </a:xfrm>
            <a:prstGeom prst="line">
              <a:avLst/>
            </a:prstGeom>
            <a:ln w="15875">
              <a:solidFill>
                <a:srgbClr val="1F2328"/>
              </a:solidFill>
            </a:ln>
          </p:spPr>
        </p:cxnSp>
        <p:sp>
          <p:nvSpPr>
            <p:cNvPr id="17" name="TextBox 16"/>
            <p:cNvSpPr txBox="1"/>
            <p:nvPr/>
          </p:nvSpPr>
          <p:spPr>
            <a:xfrm>
              <a:off x="8173516" y="4913376"/>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18" name="TextBox 17"/>
            <p:cNvSpPr txBox="1"/>
            <p:nvPr/>
          </p:nvSpPr>
          <p:spPr>
            <a:xfrm>
              <a:off x="8520988" y="4913376"/>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Five scores, then their average.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Lab: catch the leak and judge the model</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16   Judging a model: metrics, leakage and imbalance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Open the Session 16 notebook and run the setup cell</a:t>
            </a:r>
          </a:p>
        </p:txBody>
      </p:sp>
      <p:cxnSp>
        <p:nvCxnSpPr>
          <p:cNvPr id="8" name="Connector 7"/>
          <p:cNvCxnSpPr/>
          <p:nvPr/>
        </p:nvCxnSpPr>
        <p:spPr>
          <a:xfrm>
            <a:off x="685800" y="2331720"/>
            <a:ext cx="7223760" cy="0"/>
          </a:xfrm>
          <a:prstGeom prst="line">
            <a:avLst/>
          </a:prstGeom>
          <a:ln w="6350">
            <a:solidFill>
              <a:srgbClr val="C9C5BC"/>
            </a:solidFill>
          </a:ln>
        </p:spPr>
      </p:cxnSp>
      <p:sp>
        <p:nvSpPr>
          <p:cNvPr id="9" name="TextBox 8"/>
          <p:cNvSpPr txBox="1"/>
          <p:nvPr/>
        </p:nvSpPr>
        <p:spPr>
          <a:xfrm>
            <a:off x="685800" y="242316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423160"/>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Check how rare defaults are</a:t>
            </a:r>
          </a:p>
        </p:txBody>
      </p:sp>
      <p:cxnSp>
        <p:nvCxnSpPr>
          <p:cNvPr id="11" name="Connector 10"/>
          <p:cNvCxnSpPr/>
          <p:nvPr/>
        </p:nvCxnSpPr>
        <p:spPr>
          <a:xfrm>
            <a:off x="685800" y="3063239"/>
            <a:ext cx="7223760" cy="0"/>
          </a:xfrm>
          <a:prstGeom prst="line">
            <a:avLst/>
          </a:prstGeom>
          <a:ln w="6350">
            <a:solidFill>
              <a:srgbClr val="C9C5BC"/>
            </a:solidFill>
          </a:ln>
        </p:spPr>
      </p:cxnSp>
      <p:sp>
        <p:nvSpPr>
          <p:cNvPr id="12" name="TextBox 11"/>
          <p:cNvSpPr txBox="1"/>
          <p:nvPr/>
        </p:nvSpPr>
        <p:spPr>
          <a:xfrm>
            <a:off x="685800" y="315467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15467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Find the leaking column with pandas</a:t>
            </a:r>
          </a:p>
        </p:txBody>
      </p:sp>
      <p:cxnSp>
        <p:nvCxnSpPr>
          <p:cNvPr id="14" name="Connector 13"/>
          <p:cNvCxnSpPr/>
          <p:nvPr/>
        </p:nvCxnSpPr>
        <p:spPr>
          <a:xfrm>
            <a:off x="685800" y="3794759"/>
            <a:ext cx="7223760" cy="0"/>
          </a:xfrm>
          <a:prstGeom prst="line">
            <a:avLst/>
          </a:prstGeom>
          <a:ln w="6350">
            <a:solidFill>
              <a:srgbClr val="C9C5BC"/>
            </a:solidFill>
          </a:ln>
        </p:spPr>
      </p:cxnSp>
      <p:sp>
        <p:nvSpPr>
          <p:cNvPr id="15" name="TextBox 14"/>
          <p:cNvSpPr txBox="1"/>
          <p:nvPr/>
        </p:nvSpPr>
        <p:spPr>
          <a:xfrm>
            <a:off x="685800" y="388619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88619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Work out precision and recall by hand with numpy</a:t>
            </a:r>
          </a:p>
        </p:txBody>
      </p:sp>
      <p:cxnSp>
        <p:nvCxnSpPr>
          <p:cNvPr id="17" name="Connector 16"/>
          <p:cNvCxnSpPr/>
          <p:nvPr/>
        </p:nvCxnSpPr>
        <p:spPr>
          <a:xfrm>
            <a:off x="685800" y="4526279"/>
            <a:ext cx="7223760" cy="0"/>
          </a:xfrm>
          <a:prstGeom prst="line">
            <a:avLst/>
          </a:prstGeom>
          <a:ln w="6350">
            <a:solidFill>
              <a:srgbClr val="C9C5BC"/>
            </a:solidFill>
          </a:ln>
        </p:spPr>
      </p:cxnSp>
      <p:sp>
        <p:nvSpPr>
          <p:cNvPr id="18" name="TextBox 17"/>
          <p:cNvSpPr txBox="1"/>
          <p:nvPr/>
        </p:nvSpPr>
        <p:spPr>
          <a:xfrm>
            <a:off x="685800" y="461771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61771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Cross-validate without the leak, then with it</a:t>
            </a:r>
          </a:p>
        </p:txBody>
      </p:sp>
      <p:cxnSp>
        <p:nvCxnSpPr>
          <p:cNvPr id="20" name="Connector 19"/>
          <p:cNvCxnSpPr/>
          <p:nvPr/>
        </p:nvCxnSpPr>
        <p:spPr>
          <a:xfrm>
            <a:off x="685800" y="5257799"/>
            <a:ext cx="7223760" cy="0"/>
          </a:xfrm>
          <a:prstGeom prst="line">
            <a:avLst/>
          </a:prstGeom>
          <a:ln w="6350">
            <a:solidFill>
              <a:srgbClr val="C9C5BC"/>
            </a:solidFill>
          </a:ln>
        </p:spPr>
      </p:cxnSp>
      <p:sp>
        <p:nvSpPr>
          <p:cNvPr id="21" name="TextBox 20"/>
          <p:cNvSpPr txBox="1"/>
          <p:nvPr/>
        </p:nvSpPr>
        <p:spPr>
          <a:xfrm>
            <a:off x="685800" y="534923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534923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Draw the ROC and count the matrix at 0.2</a:t>
            </a:r>
          </a:p>
        </p:txBody>
      </p:sp>
      <p:cxnSp>
        <p:nvCxnSpPr>
          <p:cNvPr id="23" name="Connector 22"/>
          <p:cNvCxnSpPr/>
          <p:nvPr/>
        </p:nvCxnSpPr>
        <p:spPr>
          <a:xfrm>
            <a:off x="685800" y="5989319"/>
            <a:ext cx="7223760" cy="0"/>
          </a:xfrm>
          <a:prstGeom prst="line">
            <a:avLst/>
          </a:prstGeom>
          <a:ln w="6350">
            <a:solidFill>
              <a:srgbClr val="C9C5BC"/>
            </a:solidFill>
          </a:ln>
        </p:spPr>
      </p:cxnSp>
      <p:cxnSp>
        <p:nvCxnSpPr>
          <p:cNvPr id="24" name="Connector 23"/>
          <p:cNvCxnSpPr/>
          <p:nvPr/>
        </p:nvCxnSpPr>
        <p:spPr>
          <a:xfrm>
            <a:off x="8458200" y="1600200"/>
            <a:ext cx="3047695" cy="0"/>
          </a:xfrm>
          <a:prstGeom prst="line">
            <a:avLst/>
          </a:prstGeom>
          <a:ln w="15875">
            <a:solidFill>
              <a:srgbClr val="1F2328"/>
            </a:solidFill>
          </a:ln>
        </p:spPr>
      </p:cxnSp>
      <p:sp>
        <p:nvSpPr>
          <p:cNvPr id="25" name="TextBox 24"/>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6" name="TextBox 25"/>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Google Colab
40 minutes</a:t>
            </a:r>
          </a:p>
        </p:txBody>
      </p:sp>
      <p:cxnSp>
        <p:nvCxnSpPr>
          <p:cNvPr id="27" name="Connector 26"/>
          <p:cNvCxnSpPr/>
          <p:nvPr/>
        </p:nvCxnSpPr>
        <p:spPr>
          <a:xfrm>
            <a:off x="8458200" y="3200400"/>
            <a:ext cx="3047695" cy="0"/>
          </a:xfrm>
          <a:prstGeom prst="line">
            <a:avLst/>
          </a:prstGeom>
          <a:ln w="6350">
            <a:solidFill>
              <a:srgbClr val="C9C5BC"/>
            </a:solidFill>
          </a:ln>
        </p:spPr>
      </p:cxnSp>
      <p:sp>
        <p:nvSpPr>
          <p:cNvPr id="28" name="TextBox 27"/>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29" name="TextBox 28"/>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You can name the leaking column, say why, and show the AUC before and after.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16   Judging a model: metrics, leakage and imbalance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A model is right 87 percent of the time on loans where 12.5 percent default. Is that good?</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Not on its own. Always saying no scores the same. Look at precision and recall.</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Your model finds 120 of 275 defaulters and flags 262 loans. Give precision and recall.</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Precision is 120 out of 262, about 0.46. Recall is 120 out of 275, about 0.44.</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250" b="1" i="0">
                <a:solidFill>
                  <a:srgbClr val="1F2328"/>
                </a:solidFill>
                <a:latin typeface="Cambria"/>
              </a:rPr>
              <a:t>Your AUC jumps from 0.76 to 0.995 after adding one column. What do you do?</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Suspect leakage. Ask whether you would know that column at prediction time.</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16   Judging a model: metrics, leakage and imbalance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Accuracy fails on rare events. Read the confusion matrix, then precision, recall and AUC.</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Choose precision or recall by the cost of each mistake, and move the threshold to match.</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A score that is too good is a warning. Hunt for leakage, and cross-validate.</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Forests, boosting and overfitting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