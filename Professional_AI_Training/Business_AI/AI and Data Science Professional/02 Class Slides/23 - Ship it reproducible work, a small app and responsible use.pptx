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your work leaves the notebook. Until now everything you built lived in Colab, and only you could run it. We'll make it something a colleague can repeat, open and use. You'll set seeds, save a model, put code on GitHub, and see a small app. Then comes the part that decides whether anyone should use it: a model card, a watch for drift, a fairness check, and a short tour of Uganda's data protection law. After today, only the capstone presentations remain.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today you can make a notebook reproducible, save and reload a model, publish code and a small app for free, write a model card, check a rule for fairness, and name the main duties in the Uganda Data Protection and Privacy Act of 2019. The live part builds a loan app in about twenty five lines, and the fairness checks come after it. In the lab the numbers run and the app file gets written, and you deploy it afterwards with your own free accounts. This is the capstone step where you publish your app and model card.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Eight words today. Reproducibility means a colleague can repeat your result. A repository is the project folder on GitHub, and a commit is one saved version of it. A model card is the one page that explains a model to someone who didn't build it. Data drift is the slow change in the data coming in. A proxy variable is a column that stands in for another one. Personal data is information that identifies a person, and the data subject is the person it describes. Read the right hand column and you'll find the spreadsheet cousin of each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questions on language models and testing, before the new material.</a:t>
            </a:r>
          </a:p>
          <a:p/>
          <a:p>
            <a:r>
              <a:t>First. A language model gives a confident answer that appears in none of your documents. What is that, and what did we add to reduce it? Have a think.</a:t>
            </a:r>
          </a:p>
          <a:p/>
          <a:p>
            <a:r>
              <a:t>The model invented it. Models do that when they have nothing solid to go on. We added retrieval, so the model answers from passages we found in our own documents.</a:t>
            </a:r>
          </a:p>
          <a:p/>
          <a:p>
            <a:r>
              <a:t>Second. Why did we write twelve test questions with checked answers? No rush.</a:t>
            </a:r>
          </a:p>
          <a:p/>
          <a:p>
            <a:r>
              <a:t>So we can run them again after any change and see whether the answers got better or worse. Today's habit is the same one. Anything you ship, you can repeat and you can check.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first problem with sharing a notebook. It can give you one answer today and a slightly different one tomorrow. Reproducibility means the same notebook gives the same result to whoever runs it. Three habits get you there.</a:t>
            </a:r>
          </a:p>
          <a:p/>
          <a:p>
            <a:r>
              <a:t>The first is the seed. In Sheets, RAND gives new numbers every time the sheet recalculates, and you freeze them by pasting them as values. Python's random choices behave the same way. A random seed is a number that fixes the choices, so the same seed gives the same numbers. We've used forty two all course.</a:t>
            </a:r>
          </a:p>
          <a:p/>
          <a:p>
            <a:r>
              <a:t>The second is the versions. Libraries change over time. In Colab, a cell with an exclamation mark and pip freeze lists every installed package. That's a long list, so for a small project you keep only the libraries you import, and save them in a file called requirements dot txt.</a:t>
            </a:r>
          </a:p>
          <a:p/>
          <a:p>
            <a:r>
              <a:t>The third is the order. Run the notebook from the top before you share 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see it. Two small experiments in one cell.</a:t>
            </a:r>
          </a:p>
          <a:p/>
          <a:p>
            <a:r>
              <a:t>We make a random number generator with the seed forty two, and ask it for five whole numbers between one and ninety nine. Then we do it all again with a fresh generator and the same seed.</a:t>
            </a:r>
          </a:p>
          <a:p/>
          <a:p>
            <a:r>
              <a:t>The all part checks every pair of numbers. It prints True. Both runs gave nine, seventy seven, sixty five, forty four and forty three. Change the seed to forty three and you'd get a different five.</a:t>
            </a:r>
          </a:p>
          <a:p/>
          <a:p>
            <a:r>
              <a:t>The last line prints the library versions. On the machine I prepared this on, numpy is two point two point six and pandas is two point three point three. Your Colab will show its own numbers, and that's fine. Write them down beside your results, so if something differs later you know where to look.</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trap gives you no warning at all.</a:t>
            </a:r>
          </a:p>
          <a:p/>
          <a:p>
            <a:r>
              <a:t>You finish a notebook and everything works. You send it to a colleague. They run it from the top and it stops, with an error saying a name isn't defined.</a:t>
            </a:r>
          </a:p>
          <a:p/>
          <a:p>
            <a:r>
              <a:t>What happened? While you worked, you ran cells in a different order, or you deleted the cell that made a variable. Your session still remembered it, so nothing complained. Your colleague's session starts empty, so it can't find it.</a:t>
            </a:r>
          </a:p>
          <a:p/>
          <a:p>
            <a:r>
              <a:t>The fix takes about a minute. In Colab choose Runtime, then Restart session and run all. If it stops, fix the first error it meets, then do it again. Only share a notebook that runs from top to bottom with no help from you.</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trained a model. Now you want to keep it, so nobody has to train it again. In a spreadsheet you'd press Save As. For a model, the same idea is one file.</a:t>
            </a:r>
          </a:p>
          <a:p/>
          <a:p>
            <a:r>
              <a:t>The library is joblib. The dump line takes the trained model and a file name and writes the file. By habit the name ends in dot joblib.</a:t>
            </a:r>
          </a:p>
          <a:p/>
          <a:p>
            <a:r>
              <a:t>The load line reads the file back. The loaded model works exactly like the one you trained, and no training happens.</a:t>
            </a:r>
          </a:p>
          <a:p/>
          <a:p>
            <a:r>
              <a:t>Then predict_proba gives the model's probabilities for a row. The first number is the chance the loan is repaid, and the second is the chance it defaults.</a:t>
            </a:r>
          </a:p>
          <a:p/>
          <a:p>
            <a:r>
              <a:t>Two cautions. Load only files you trust, because loading can run code. And load with the same library versions you saved with, which is why we wrote the versions down.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Git keeps versions of your project folder. Think of Version history in Sheets, except that you choose when to save a version and you give it a name. GitHub is the free website where you keep a copy online.</a:t>
            </a:r>
          </a:p>
          <a:p/>
          <a:p>
            <a:r>
              <a:t>A repository is the project folder that Git tracks. A commit is one saved version of it, with a short message about what changed.</a:t>
            </a:r>
          </a:p>
          <a:p/>
          <a:p>
            <a:r>
              <a:t>Five steps. Init starts tracking the folder. Add chooses the files for the next version, and the dot means all of them. Commit saves the version with your message. Branch main names the main line of work, main. Then you link the folder to an empty repository you created on GitHub, with remote add, and push uploads it.</a:t>
            </a:r>
          </a:p>
          <a:p/>
          <a:p>
            <a:r>
              <a:t>You need a free GitHub account, and the simplest way to let Streamlit read your repository is to make it public. If the command line is new to you, GitHub's website also lets you drag files in.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public repository can be read by anyone in the world. So decide what goes in before you push.</a:t>
            </a:r>
          </a:p>
          <a:p/>
          <a:p>
            <a:r>
              <a:t>On the left, what belongs. Your notebook, the app file, and the requirements file. The saved model, if it's small. And a README and your model card, so a visitor knows what they're looking at.</a:t>
            </a:r>
          </a:p>
          <a:p/>
          <a:p>
            <a:r>
              <a:t>On the right, what stays out. Any file with names, phone numbers or addresses. Our course data is fictional, so it's safe to share. Real customer data is a different matter, and you never push it.</a:t>
            </a:r>
          </a:p>
          <a:p/>
          <a:p>
            <a:r>
              <a:t>Passwords and keys also stay out. Once something is pushed, assume it can be copied.</a:t>
            </a:r>
          </a:p>
          <a:p/>
          <a:p>
            <a:r>
              <a:t>The last item is the test I use. If you wouldn't print it on a poster and stick it at the taxi park, don't put it in a public repository.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app comes next. Streamlit turns a Python file into a web page. You write ordinary Python, and each line that starts with st draws something on the page. Think of a form with a few input cells and one answer cell, without the spreadsheet around it. The top of the file loads the saved model.</a:t>
            </a:r>
          </a:p>
          <a:p/>
          <a:p>
            <a:r>
              <a:t>Next come the inputs. Two number boxes and two sliders, each with a label and limits that match our data.</a:t>
            </a:r>
          </a:p>
          <a:p/>
          <a:p>
            <a:r>
              <a:t>The values go into a one row table. The column names must match the ones the model was trained on. A different name or order gives an error or a wrong answer.</a:t>
            </a:r>
          </a:p>
          <a:p/>
          <a:p>
            <a:r>
              <a:t>The button runs predict_proba and shows the chance of default as a percentage. A person still decides. The caption at the top says so.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Your app can live on the internet for free. Five steps.</a:t>
            </a:r>
          </a:p>
          <a:p/>
          <a:p>
            <a:r>
              <a:t>First, a public GitHub repository holding the app file, your saved model, and a requirements file. That file lists the libraries the app needs, ideally with the versions you printed.</a:t>
            </a:r>
          </a:p>
          <a:p/>
          <a:p>
            <a:r>
              <a:t>Second, sign in to Streamlit Community Cloud with your GitHub account. It costs nothing.</a:t>
            </a:r>
          </a:p>
          <a:p/>
          <a:p>
            <a:r>
              <a:t>Third, choose New app. Pick the repository, the branch, which is main, and the file name, app dot py.</a:t>
            </a:r>
          </a:p>
          <a:p/>
          <a:p>
            <a:r>
              <a:t>Fourth, press Deploy. It installs the libraries and gives you a web address you can send to a colleague.</a:t>
            </a:r>
          </a:p>
          <a:p/>
          <a:p>
            <a:r>
              <a:t>Fifth, a free app sleeps after twelve hours without visitors. The next visitor wakes it, and that takes a short while.</a:t>
            </a:r>
          </a:p>
          <a:p/>
          <a:p>
            <a:r>
              <a:t>The free service has limits on its resources, so keep your app small and simple. It suits a demonstration. Treat it as one.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model card is one page that tells a reader what a model is for and where it can fail. Think of the notes tab in a workbook, the one that explains how the numbers were made and who should be careful with them.</a:t>
            </a:r>
          </a:p>
          <a:p/>
          <a:p>
            <a:r>
              <a:t>Five rows. Purpose is the job it does. Ours ranks loan applications for a loan officer to review, and it makes no final decision.</a:t>
            </a:r>
          </a:p>
          <a:p/>
          <a:p>
            <a:r>
              <a:t>Data says where it came from and what we removed. We removed collection calls, because that column leaks the answer.</a:t>
            </a:r>
          </a:p>
          <a:p/>
          <a:p>
            <a:r>
              <a:t>Metrics gives plain numbers. An AUC of about zero point seven six, and at a threshold of zero point five it finds about fifteen in every hundred defaults. Your own run will be close to these, and not identical.</a:t>
            </a:r>
          </a:p>
          <a:p/>
          <a:p>
            <a:r>
              <a:t>Limits lists the weak spots. Who must review names the people or roles who sign off before each release. Update the card whenever the model changes.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a line chart of the average income of loan applicants, month by month, since a model went live. This chart is simulated. It's drawn for teaching, and it isn't Nile Microfinance data.</a:t>
            </a:r>
          </a:p>
          <a:p/>
          <a:p>
            <a:r>
              <a:t>For the first eighteen months the average moves around between about ninety three and a hundred and five.</a:t>
            </a:r>
          </a:p>
          <a:p/>
          <a:p>
            <a:r>
              <a:t>Then at month nineteen it drops, to somewhere between eighty two and ninety three, and stays down.</a:t>
            </a:r>
          </a:p>
          <a:p/>
          <a:p>
            <a:r>
              <a:t>The model learned from the old picture, so it may now be wrong about the new applicants. This slow or sudden change in the incoming data is called data drift. The red line marks the point where a watch would tell you to check the model.</a:t>
            </a:r>
          </a:p>
          <a:p/>
          <a:p>
            <a:r>
              <a:t>In practice you do what you'd do in Sheets. Each month, compare the average of the key inputs with the training data. When outcomes arrive, compare predicted and actual defaults. Agree who looks, how often, and what happens when the line moves.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Fairness checks need no special library. You need a group column and a rate. In Excel it's a pivot table with the group down the side and the average of a one or zero column.</a:t>
            </a:r>
          </a:p>
          <a:p/>
          <a:p>
            <a:r>
              <a:t>First, the default rate by group. Women default on twelve point one percent of loans and men on thirteen point one. By district, the lowest is Fort Portal at ten point six percent and the highest is Masaka at fourteen point eight. These match the answer key. District came in with three spellings, so we tidied it first.</a:t>
            </a:r>
          </a:p>
          <a:p/>
          <a:p>
            <a:r>
              <a:t>Now a simple rule. We flag a loan for extra review when the monthly instalment is more than thirty five percent of income. Flag simply means a person looks again. We drop the three hundred and seventy nine loans with no income.</a:t>
            </a:r>
          </a:p>
          <a:p/>
          <a:p>
            <a:r>
              <a:t>The flag rate is the share of each group that gets flagged. Thirty five point three percent of women and thirty six point three of men. A gap of one point. That's a rule you can defend.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a second rule, and gender isn't in it anywhere. We give each loan the default rate of its occupation, and flag the loan if that rate is above twelve and a half percent.</a:t>
            </a:r>
          </a:p>
          <a:p/>
          <a:p>
            <a:r>
              <a:t>Look at the flag rate by gender. Twenty nine percent of women are flagged, against forty six point four percent of men. A gap of more than seventeen points, from a rule that never saw the gender column.</a:t>
            </a:r>
          </a:p>
          <a:p/>
          <a:p>
            <a:r>
              <a:t>Why? Occupation is linked to gender in this data. Women are seventy seven percent of tailors and seventy three percent of salon owners, and those occupations sit below the line. A column that carries information about another column is called a proxy variable.</a:t>
            </a:r>
          </a:p>
          <a:p/>
          <a:p>
            <a:r>
              <a:t>Occupation does predict default here, so the rule isn't random. But it moves the burden onto one group, and someone must decide whether that's acceptable.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trap has no error message either, and it's a common fairness mistake.</a:t>
            </a:r>
          </a:p>
          <a:p/>
          <a:p>
            <a:r>
              <a:t>You remove the gender column, run your rule, and tell your manager it treats everyone alike. The code ran, so it feels finished.</a:t>
            </a:r>
          </a:p>
          <a:p/>
          <a:p>
            <a:r>
              <a:t>But a column you removed can come back through the columns you kept. In our data occupation stands in for gender, and the occupation rule flagged forty six percent of men and twenty nine percent of women.</a:t>
            </a:r>
          </a:p>
          <a:p/>
          <a:p>
            <a:r>
              <a:t>The fix is to measure. Compute the rate for every group, whether or not the column was used in the rule. Ask what each column stands in for. And write any gap you find on the model card. A gap doesn't prove the rule is wrong, because groups can really differ. It tells you to look, and to explain your choice to the reviewer.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law. A word first. This is a teaching summary, and it isn't legal advice. If you handle real personal data at work, ask a lawyer or your data protection officer about your own situation. For the exact wording, read the Act itself.</a:t>
            </a:r>
          </a:p>
          <a:p/>
          <a:p>
            <a:r>
              <a:t>The Data Protection and Privacy Act of 2019 applies to anyone who collects, processes, holds or uses personal data in Uganda. That includes companies, banks, clinics, schools, and you.</a:t>
            </a:r>
          </a:p>
          <a:p/>
          <a:p>
            <a:r>
              <a:t>Personal data is information from which a person can be identified. A name, a phone number, a loan record with an address. The person the data is about is the data subject.</a:t>
            </a:r>
          </a:p>
          <a:p/>
          <a:p>
            <a:r>
              <a:t>The regulator is the Personal Data Protection Office, which sits under NITA. Our course data is fictional, but the same loan file in real life would count.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Act rests on seven principles. Here they are in plain words, with a thought for our loan model beside each.</a:t>
            </a:r>
          </a:p>
          <a:p/>
          <a:p>
            <a:r>
              <a:t>Accountability. Someone is responsible, and can show what was done. That's your model card.</a:t>
            </a:r>
          </a:p>
          <a:p/>
          <a:p>
            <a:r>
              <a:t>Fair and lawful processing. Use data fairly and within the law. That's why we checked flag rates by group.</a:t>
            </a:r>
          </a:p>
          <a:p/>
          <a:p>
            <a:r>
              <a:t>Collect only adequate and relevant data. If the model doesn't need a column, don't collect it.</a:t>
            </a:r>
          </a:p>
          <a:p/>
          <a:p>
            <a:r>
              <a:t>Keep data only as long as needed. Delete it when the purpose ends.</a:t>
            </a:r>
          </a:p>
          <a:p/>
          <a:p>
            <a:r>
              <a:t>Quality of information. Keep it accurate and up to date. We saw missing incomes and odd ages in Session 14.</a:t>
            </a:r>
          </a:p>
          <a:p/>
          <a:p>
            <a:r>
              <a:t>Openness and participation. Tell people what you hold and why.</a:t>
            </a:r>
          </a:p>
          <a:p/>
          <a:p>
            <a:r>
              <a:t>Safety and security. Protect data from loss, leaks and misuse. A public repository with real customer files breaks this one at once.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subjects have rights. Four matter most for what we build.</a:t>
            </a:r>
          </a:p>
          <a:p/>
          <a:p>
            <a:r>
              <a:t>The right of access. A borrower can ask what data you hold about them. So you need to know where it is.</a:t>
            </a:r>
          </a:p>
          <a:p/>
          <a:p>
            <a:r>
              <a:t>The right of correction. If a record is wrong, they can ask for it to be fixed. A wrong income could change a loan decision.</a:t>
            </a:r>
          </a:p>
          <a:p/>
          <a:p>
            <a:r>
              <a:t>The right of erasure. In the cases the law allows, they can ask for their data to be deleted. Think about whether your saved files and repository could ever comply.</a:t>
            </a:r>
          </a:p>
          <a:p/>
          <a:p>
            <a:r>
              <a:t>And the right to prevent automated decision taking. A person can ask that an important decision about them isn't made only by a computer.</a:t>
            </a:r>
          </a:p>
          <a:p/>
          <a:p>
            <a:r>
              <a:t>That's why our app shows a probability and says a person decides. A loan officer reviews, can explain the reason, and can change the outcome. Before you use real data, ask your data protection officer. Again, this is a teaching summary and not legal advice.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task draws five loan ids twice with the same seed, and a check cell confirms the two lists match. The next three tasks run real numbers: default rates, the flag rates for the instalment rule, and the flag rates for the occupation rule. Each has a check cell that tells you if you've got it.</a:t>
            </a:r>
          </a:p>
          <a:p/>
          <a:p>
            <a:r>
              <a:t>The joblib task runs in Colab, and the app task writes the app file as text. To deploy it, you'll make a free GitHub account and a Streamlit account in your own time, using the steps we just saw. Don't push anything with personal details.</a:t>
            </a:r>
          </a:p>
          <a:p/>
          <a:p>
            <a:r>
              <a:t>The model card comes last, with a short data protection checklist beside it. Then a PivotTable check and one sentence on what a gap between groups does and doesn't show. When an error appears, start with its last line, then call me over.</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the habits that make a notebook repeatable. Name three. Sit with it for a second.</a:t>
            </a:r>
          </a:p>
          <a:p/>
          <a:p>
            <a:r>
              <a:t>Set the seed, write down the library versions, and restart and run all from the top.</a:t>
            </a:r>
          </a:p>
          <a:p/>
          <a:p>
            <a:r>
              <a:t>Second, a rule that never uses gender yet flags forty six percent of men and twenty nine percent of women. What is going on, and what do you do? Take your time.</a:t>
            </a:r>
          </a:p>
          <a:p/>
          <a:p>
            <a:r>
              <a:t>Occupation is acting as a proxy for gender. You measure the rate for each group, report the gap, and justify the rule to the reviewer.</a:t>
            </a:r>
          </a:p>
          <a:p/>
          <a:p>
            <a:r>
              <a:t>Third, data protection in Uganda. Which office regulates it, and what are two rights of a data subject? Think it over.</a:t>
            </a:r>
          </a:p>
          <a:p/>
          <a:p>
            <a:r>
              <a:t>The Personal Data Protection Office, which sits under NITA. The rights are access, correction, erasure, and preventing a decision taken only by a computer. Any two will do.</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Make your work repeatable by setting the seed, writing down the versions and running it top to bottom. Then save the model with joblib, share the code on GitHub, and serve it with Streamlit.</a:t>
            </a:r>
          </a:p>
          <a:p/>
          <a:p>
            <a:r>
              <a:t>Govern it. Write a model card, watch for drift, and compute the rates for every group, including through proxies like occupation.</a:t>
            </a:r>
          </a:p>
          <a:p/>
          <a:p>
            <a:r>
              <a:t>Know your duty. The Data Protection and Privacy Act of 2019 protects personal data in Uganda. What I gave you is a teaching summary and not legal advice, so ask your data protection officer about real data.</a:t>
            </a:r>
          </a:p>
          <a:p/>
          <a:p>
            <a:r>
              <a:t>Next session is the last. You present your capstone, say what it can and can't do, and choose your path from here. Bring your model card.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2328"/>
        </a:solidFill>
        <a:effectLst/>
      </p:bgPr>
    </p:bg>
    <p:spTree>
      <p:nvGrpSpPr>
        <p:cNvPr id="1" name=""/>
        <p:cNvGrpSpPr/>
        <p:nvPr/>
      </p:nvGrpSpPr>
      <p:grpSpPr/>
      <p:sp>
        <p:nvSpPr>
          <p:cNvPr id="2"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B8B2A7"/>
                </a:solidFill>
                <a:latin typeface="Calibri"/>
              </a:rPr>
              <a:t>Session 23   Ship it: reproducible work, a small app and responsible use</a:t>
            </a:r>
          </a:p>
        </p:txBody>
      </p:sp>
      <p:sp>
        <p:nvSpPr>
          <p:cNvPr id="3"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B8B2A7"/>
                </a:solidFill>
                <a:latin typeface="Calibri"/>
              </a:rPr>
              <a:t>1</a:t>
            </a:r>
          </a:p>
        </p:txBody>
      </p:sp>
      <p:sp>
        <p:nvSpPr>
          <p:cNvPr id="4" name="Session number"/>
          <p:cNvSpPr txBox="1"/>
          <p:nvPr/>
        </p:nvSpPr>
        <p:spPr>
          <a:xfrm>
            <a:off x="6949440" y="502920"/>
            <a:ext cx="4754880" cy="4023360"/>
          </a:xfrm>
          <a:prstGeom prst="rect">
            <a:avLst/>
          </a:prstGeom>
          <a:noFill/>
        </p:spPr>
        <p:txBody>
          <a:bodyPr wrap="square" lIns="0" rIns="0" tIns="18288" bIns="18288" anchor="t">
            <a:spAutoFit/>
          </a:bodyPr>
          <a:lstStyle/>
          <a:p>
            <a:pPr algn="r"/>
            <a:r>
              <a:rPr sz="23000" b="1" i="0">
                <a:solidFill>
                  <a:srgbClr val="33383E"/>
                </a:solidFill>
                <a:latin typeface="Cambria"/>
              </a:rPr>
              <a:t>23</a:t>
            </a:r>
          </a:p>
        </p:txBody>
      </p:sp>
      <p:sp>
        <p:nvSpPr>
          <p:cNvPr id="5" name="TextBox 4"/>
          <p:cNvSpPr txBox="1"/>
          <p:nvPr/>
        </p:nvSpPr>
        <p:spPr>
          <a:xfrm>
            <a:off x="685800" y="960120"/>
            <a:ext cx="7315200" cy="411480"/>
          </a:xfrm>
          <a:prstGeom prst="rect">
            <a:avLst/>
          </a:prstGeom>
          <a:noFill/>
        </p:spPr>
        <p:txBody>
          <a:bodyPr wrap="square" lIns="0" rIns="0" tIns="18288" bIns="18288" anchor="t">
            <a:spAutoFit/>
          </a:bodyPr>
          <a:lstStyle/>
          <a:p>
            <a:pPr algn="l"/>
            <a:r>
              <a:rPr sz="1800" b="0" i="1">
                <a:solidFill>
                  <a:srgbClr val="E3A78F"/>
                </a:solidFill>
                <a:latin typeface="Cambria"/>
              </a:rPr>
              <a:t>Session 23 of 24</a:t>
            </a:r>
          </a:p>
        </p:txBody>
      </p:sp>
      <p:sp>
        <p:nvSpPr>
          <p:cNvPr id="6" name="TextBox 5"/>
          <p:cNvSpPr txBox="1"/>
          <p:nvPr/>
        </p:nvSpPr>
        <p:spPr>
          <a:xfrm>
            <a:off x="685800" y="1554480"/>
            <a:ext cx="7498079" cy="2286000"/>
          </a:xfrm>
          <a:prstGeom prst="rect">
            <a:avLst/>
          </a:prstGeom>
          <a:noFill/>
        </p:spPr>
        <p:txBody>
          <a:bodyPr wrap="square" lIns="0" rIns="0" tIns="18288" bIns="18288" anchor="t">
            <a:spAutoFit/>
          </a:bodyPr>
          <a:lstStyle/>
          <a:p>
            <a:pPr algn="l"/>
            <a:r>
              <a:rPr sz="4600" b="1" i="0">
                <a:solidFill>
                  <a:srgbClr val="F3F0EA"/>
                </a:solidFill>
                <a:latin typeface="Cambria"/>
              </a:rPr>
              <a:t>Ship it: reproducible work, a small app and responsible use</a:t>
            </a:r>
          </a:p>
        </p:txBody>
      </p:sp>
      <p:sp>
        <p:nvSpPr>
          <p:cNvPr id="7" name="TextBox 6"/>
          <p:cNvSpPr txBox="1"/>
          <p:nvPr/>
        </p:nvSpPr>
        <p:spPr>
          <a:xfrm>
            <a:off x="685800" y="4160520"/>
            <a:ext cx="6766560" cy="1280160"/>
          </a:xfrm>
          <a:prstGeom prst="rect">
            <a:avLst/>
          </a:prstGeom>
          <a:noFill/>
        </p:spPr>
        <p:txBody>
          <a:bodyPr wrap="square" lIns="0" rIns="0" tIns="18288" bIns="18288" anchor="t">
            <a:spAutoFit/>
          </a:bodyPr>
          <a:lstStyle/>
          <a:p>
            <a:pPr algn="l"/>
            <a:r>
              <a:rPr sz="2200" b="0" i="0">
                <a:solidFill>
                  <a:srgbClr val="B8B2A7"/>
                </a:solidFill>
                <a:latin typeface="Calibri"/>
              </a:rPr>
              <a:t>How do we turn a notebook into something a colleague can use and trust?</a:t>
            </a:r>
          </a:p>
        </p:txBody>
      </p:sp>
      <p:sp>
        <p:nvSpPr>
          <p:cNvPr id="8" name="TextBox 7"/>
          <p:cNvSpPr txBox="1"/>
          <p:nvPr/>
        </p:nvSpPr>
        <p:spPr>
          <a:xfrm>
            <a:off x="685800" y="5897880"/>
            <a:ext cx="8229600" cy="365760"/>
          </a:xfrm>
          <a:prstGeom prst="rect">
            <a:avLst/>
          </a:prstGeom>
          <a:noFill/>
        </p:spPr>
        <p:txBody>
          <a:bodyPr wrap="square" lIns="0" rIns="0" tIns="18288" bIns="18288" anchor="t">
            <a:spAutoFit/>
          </a:bodyPr>
          <a:lstStyle/>
          <a:p>
            <a:pPr algn="l"/>
            <a:r>
              <a:rPr sz="1400" b="0" i="0">
                <a:solidFill>
                  <a:srgbClr val="B8B2A7"/>
                </a:solidFill>
                <a:latin typeface="Calibri"/>
              </a:rPr>
              <a:t>Jotham Martin Wambi, KLAi Professional Learning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By the end of today</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23   Ship it: reproducible work, a small app and responsible use</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a:t>
            </a:r>
          </a:p>
        </p:txBody>
      </p:sp>
      <p:cxnSp>
        <p:nvCxnSpPr>
          <p:cNvPr id="5" name="Connector 4"/>
          <p:cNvCxnSpPr/>
          <p:nvPr/>
        </p:nvCxnSpPr>
        <p:spPr>
          <a:xfrm>
            <a:off x="685800" y="1645920"/>
            <a:ext cx="5394960" cy="0"/>
          </a:xfrm>
          <a:prstGeom prst="line">
            <a:avLst/>
          </a:prstGeom>
          <a:ln w="15875">
            <a:solidFill>
              <a:srgbClr val="1F2328"/>
            </a:solidFill>
          </a:ln>
        </p:spPr>
      </p:cxnSp>
      <p:sp>
        <p:nvSpPr>
          <p:cNvPr id="6" name="TextBox 5"/>
          <p:cNvSpPr txBox="1"/>
          <p:nvPr/>
        </p:nvSpPr>
        <p:spPr>
          <a:xfrm>
            <a:off x="685800" y="1801368"/>
            <a:ext cx="5394960" cy="1005840"/>
          </a:xfrm>
          <a:prstGeom prst="rect">
            <a:avLst/>
          </a:prstGeom>
          <a:noFill/>
        </p:spPr>
        <p:txBody>
          <a:bodyPr wrap="square" lIns="0" rIns="0" tIns="18288" bIns="18288" anchor="t">
            <a:spAutoFit/>
          </a:bodyPr>
          <a:lstStyle/>
          <a:p>
            <a:pPr algn="l"/>
            <a:r>
              <a:rPr sz="2400" b="0" i="0">
                <a:solidFill>
                  <a:srgbClr val="1F2328"/>
                </a:solidFill>
                <a:latin typeface="Cambria"/>
              </a:rPr>
              <a:t>Save and reload a model.</a:t>
            </a:r>
          </a:p>
        </p:txBody>
      </p:sp>
      <p:cxnSp>
        <p:nvCxnSpPr>
          <p:cNvPr id="7" name="Connector 6"/>
          <p:cNvCxnSpPr/>
          <p:nvPr/>
        </p:nvCxnSpPr>
        <p:spPr>
          <a:xfrm>
            <a:off x="685800" y="2309774"/>
            <a:ext cx="5394960" cy="0"/>
          </a:xfrm>
          <a:prstGeom prst="line">
            <a:avLst/>
          </a:prstGeom>
          <a:ln w="6350">
            <a:solidFill>
              <a:srgbClr val="C9C5BC"/>
            </a:solidFill>
          </a:ln>
        </p:spPr>
      </p:cxnSp>
      <p:sp>
        <p:nvSpPr>
          <p:cNvPr id="8" name="TextBox 7"/>
          <p:cNvSpPr txBox="1"/>
          <p:nvPr/>
        </p:nvSpPr>
        <p:spPr>
          <a:xfrm>
            <a:off x="685800" y="2474366"/>
            <a:ext cx="5394960" cy="1005840"/>
          </a:xfrm>
          <a:prstGeom prst="rect">
            <a:avLst/>
          </a:prstGeom>
          <a:noFill/>
        </p:spPr>
        <p:txBody>
          <a:bodyPr wrap="square" lIns="0" rIns="0" tIns="18288" bIns="18288" anchor="t">
            <a:spAutoFit/>
          </a:bodyPr>
          <a:lstStyle/>
          <a:p>
            <a:pPr algn="l"/>
            <a:r>
              <a:rPr sz="2400" b="0" i="0">
                <a:solidFill>
                  <a:srgbClr val="1F2328"/>
                </a:solidFill>
                <a:latin typeface="Cambria"/>
              </a:rPr>
              <a:t>Publish code and a small app for free.</a:t>
            </a:r>
          </a:p>
        </p:txBody>
      </p:sp>
      <p:cxnSp>
        <p:nvCxnSpPr>
          <p:cNvPr id="9" name="Connector 8"/>
          <p:cNvCxnSpPr/>
          <p:nvPr/>
        </p:nvCxnSpPr>
        <p:spPr>
          <a:xfrm>
            <a:off x="685800" y="2982772"/>
            <a:ext cx="5394960" cy="0"/>
          </a:xfrm>
          <a:prstGeom prst="line">
            <a:avLst/>
          </a:prstGeom>
          <a:ln w="6350">
            <a:solidFill>
              <a:srgbClr val="C9C5BC"/>
            </a:solidFill>
          </a:ln>
        </p:spPr>
      </p:cxnSp>
      <p:sp>
        <p:nvSpPr>
          <p:cNvPr id="10" name="TextBox 9"/>
          <p:cNvSpPr txBox="1"/>
          <p:nvPr/>
        </p:nvSpPr>
        <p:spPr>
          <a:xfrm>
            <a:off x="685800" y="3147364"/>
            <a:ext cx="5394960" cy="1005840"/>
          </a:xfrm>
          <a:prstGeom prst="rect">
            <a:avLst/>
          </a:prstGeom>
          <a:noFill/>
        </p:spPr>
        <p:txBody>
          <a:bodyPr wrap="square" lIns="0" rIns="0" tIns="18288" bIns="18288" anchor="t">
            <a:spAutoFit/>
          </a:bodyPr>
          <a:lstStyle/>
          <a:p>
            <a:pPr algn="l"/>
            <a:r>
              <a:rPr sz="2400" b="0" i="0">
                <a:solidFill>
                  <a:srgbClr val="1F2328"/>
                </a:solidFill>
                <a:latin typeface="Cambria"/>
              </a:rPr>
              <a:t>Write a model card and check data-protection duties.</a:t>
            </a:r>
          </a:p>
        </p:txBody>
      </p:sp>
      <p:cxnSp>
        <p:nvCxnSpPr>
          <p:cNvPr id="11" name="Connector 10"/>
          <p:cNvCxnSpPr/>
          <p:nvPr/>
        </p:nvCxnSpPr>
        <p:spPr>
          <a:xfrm>
            <a:off x="685800" y="4036161"/>
            <a:ext cx="5394960" cy="0"/>
          </a:xfrm>
          <a:prstGeom prst="line">
            <a:avLst/>
          </a:prstGeom>
          <a:ln w="6350">
            <a:solidFill>
              <a:srgbClr val="C9C5BC"/>
            </a:solidFill>
          </a:ln>
        </p:spPr>
      </p:cxnSp>
      <p:sp>
        <p:nvSpPr>
          <p:cNvPr id="12" name="TextBox 11"/>
          <p:cNvSpPr txBox="1"/>
          <p:nvPr/>
        </p:nvSpPr>
        <p:spPr>
          <a:xfrm>
            <a:off x="6949440" y="1325880"/>
            <a:ext cx="4556455" cy="274320"/>
          </a:xfrm>
          <a:prstGeom prst="rect">
            <a:avLst/>
          </a:prstGeom>
          <a:noFill/>
        </p:spPr>
        <p:txBody>
          <a:bodyPr wrap="square" lIns="0" rIns="0" tIns="18288" bIns="18288" anchor="t">
            <a:spAutoFit/>
          </a:bodyPr>
          <a:lstStyle/>
          <a:p>
            <a:pPr algn="l"/>
            <a:r>
              <a:rPr sz="1400" b="0" i="0">
                <a:solidFill>
                  <a:srgbClr val="6A6F75"/>
                </a:solidFill>
                <a:latin typeface="Calibri"/>
              </a:rPr>
              <a:t>How the two hours run</a:t>
            </a:r>
          </a:p>
        </p:txBody>
      </p:sp>
      <p:cxnSp>
        <p:nvCxnSpPr>
          <p:cNvPr id="13" name="Connector 12"/>
          <p:cNvCxnSpPr/>
          <p:nvPr/>
        </p:nvCxnSpPr>
        <p:spPr>
          <a:xfrm>
            <a:off x="6949440" y="1645920"/>
            <a:ext cx="4556455" cy="0"/>
          </a:xfrm>
          <a:prstGeom prst="line">
            <a:avLst/>
          </a:prstGeom>
          <a:ln w="15875">
            <a:solidFill>
              <a:srgbClr val="1F2328"/>
            </a:solidFill>
          </a:ln>
        </p:spPr>
      </p:cxnSp>
      <p:sp>
        <p:nvSpPr>
          <p:cNvPr id="14" name="TextBox 13"/>
          <p:cNvSpPr txBox="1"/>
          <p:nvPr/>
        </p:nvSpPr>
        <p:spPr>
          <a:xfrm>
            <a:off x="6949440" y="1801368"/>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Recall and warm-up</a:t>
            </a:r>
          </a:p>
        </p:txBody>
      </p:sp>
      <p:sp>
        <p:nvSpPr>
          <p:cNvPr id="15" name="TextBox 14"/>
          <p:cNvSpPr txBox="1"/>
          <p:nvPr/>
        </p:nvSpPr>
        <p:spPr>
          <a:xfrm>
            <a:off x="10408615" y="1801368"/>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10 min</a:t>
            </a:r>
          </a:p>
        </p:txBody>
      </p:sp>
      <p:cxnSp>
        <p:nvCxnSpPr>
          <p:cNvPr id="16" name="Connector 15"/>
          <p:cNvCxnSpPr/>
          <p:nvPr/>
        </p:nvCxnSpPr>
        <p:spPr>
          <a:xfrm>
            <a:off x="6949440" y="2313432"/>
            <a:ext cx="4556455" cy="0"/>
          </a:xfrm>
          <a:prstGeom prst="line">
            <a:avLst/>
          </a:prstGeom>
          <a:ln w="6350">
            <a:solidFill>
              <a:srgbClr val="C9C5BC"/>
            </a:solidFill>
          </a:ln>
        </p:spPr>
      </p:cxnSp>
      <p:sp>
        <p:nvSpPr>
          <p:cNvPr id="17" name="TextBox 16"/>
          <p:cNvSpPr txBox="1"/>
          <p:nvPr/>
        </p:nvSpPr>
        <p:spPr>
          <a:xfrm>
            <a:off x="6949440" y="2404872"/>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Concepts and explanation</a:t>
            </a:r>
          </a:p>
        </p:txBody>
      </p:sp>
      <p:sp>
        <p:nvSpPr>
          <p:cNvPr id="18" name="TextBox 17"/>
          <p:cNvSpPr txBox="1"/>
          <p:nvPr/>
        </p:nvSpPr>
        <p:spPr>
          <a:xfrm>
            <a:off x="10408615" y="2404872"/>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30 min</a:t>
            </a:r>
          </a:p>
        </p:txBody>
      </p:sp>
      <p:cxnSp>
        <p:nvCxnSpPr>
          <p:cNvPr id="19" name="Connector 18"/>
          <p:cNvCxnSpPr/>
          <p:nvPr/>
        </p:nvCxnSpPr>
        <p:spPr>
          <a:xfrm>
            <a:off x="6949440" y="2916936"/>
            <a:ext cx="4556455" cy="0"/>
          </a:xfrm>
          <a:prstGeom prst="line">
            <a:avLst/>
          </a:prstGeom>
          <a:ln w="6350">
            <a:solidFill>
              <a:srgbClr val="C9C5BC"/>
            </a:solidFill>
          </a:ln>
        </p:spPr>
      </p:cxnSp>
      <p:sp>
        <p:nvSpPr>
          <p:cNvPr id="20" name="TextBox 19"/>
          <p:cNvSpPr txBox="1"/>
          <p:nvPr/>
        </p:nvSpPr>
        <p:spPr>
          <a:xfrm>
            <a:off x="6949440" y="3008376"/>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Live demonstration</a:t>
            </a:r>
          </a:p>
        </p:txBody>
      </p:sp>
      <p:sp>
        <p:nvSpPr>
          <p:cNvPr id="21" name="TextBox 20"/>
          <p:cNvSpPr txBox="1"/>
          <p:nvPr/>
        </p:nvSpPr>
        <p:spPr>
          <a:xfrm>
            <a:off x="10408615" y="3008376"/>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25 min</a:t>
            </a:r>
          </a:p>
        </p:txBody>
      </p:sp>
      <p:cxnSp>
        <p:nvCxnSpPr>
          <p:cNvPr id="22" name="Connector 21"/>
          <p:cNvCxnSpPr/>
          <p:nvPr/>
        </p:nvCxnSpPr>
        <p:spPr>
          <a:xfrm>
            <a:off x="6949440" y="3520440"/>
            <a:ext cx="4556455" cy="0"/>
          </a:xfrm>
          <a:prstGeom prst="line">
            <a:avLst/>
          </a:prstGeom>
          <a:ln w="6350">
            <a:solidFill>
              <a:srgbClr val="C9C5BC"/>
            </a:solidFill>
          </a:ln>
        </p:spPr>
      </p:cxnSp>
      <p:sp>
        <p:nvSpPr>
          <p:cNvPr id="23" name="TextBox 22"/>
          <p:cNvSpPr txBox="1"/>
          <p:nvPr/>
        </p:nvSpPr>
        <p:spPr>
          <a:xfrm>
            <a:off x="6949440" y="3611880"/>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Break</a:t>
            </a:r>
          </a:p>
        </p:txBody>
      </p:sp>
      <p:sp>
        <p:nvSpPr>
          <p:cNvPr id="24" name="TextBox 23"/>
          <p:cNvSpPr txBox="1"/>
          <p:nvPr/>
        </p:nvSpPr>
        <p:spPr>
          <a:xfrm>
            <a:off x="10408615" y="3611880"/>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5 min</a:t>
            </a:r>
          </a:p>
        </p:txBody>
      </p:sp>
      <p:cxnSp>
        <p:nvCxnSpPr>
          <p:cNvPr id="25" name="Connector 24"/>
          <p:cNvCxnSpPr/>
          <p:nvPr/>
        </p:nvCxnSpPr>
        <p:spPr>
          <a:xfrm>
            <a:off x="6949440" y="4123944"/>
            <a:ext cx="4556455" cy="0"/>
          </a:xfrm>
          <a:prstGeom prst="line">
            <a:avLst/>
          </a:prstGeom>
          <a:ln w="6350">
            <a:solidFill>
              <a:srgbClr val="C9C5BC"/>
            </a:solidFill>
          </a:ln>
        </p:spPr>
      </p:cxnSp>
      <p:sp>
        <p:nvSpPr>
          <p:cNvPr id="26" name="TextBox 25"/>
          <p:cNvSpPr txBox="1"/>
          <p:nvPr/>
        </p:nvSpPr>
        <p:spPr>
          <a:xfrm>
            <a:off x="6949440" y="4215384"/>
            <a:ext cx="3367735" cy="512064"/>
          </a:xfrm>
          <a:prstGeom prst="rect">
            <a:avLst/>
          </a:prstGeom>
          <a:noFill/>
        </p:spPr>
        <p:txBody>
          <a:bodyPr wrap="square" lIns="0" rIns="0" tIns="18288" bIns="18288" anchor="t">
            <a:spAutoFit/>
          </a:bodyPr>
          <a:lstStyle/>
          <a:p>
            <a:pPr algn="l"/>
            <a:r>
              <a:rPr sz="1900" b="1" i="0">
                <a:solidFill>
                  <a:srgbClr val="1F2328"/>
                </a:solidFill>
                <a:latin typeface="Calibri"/>
              </a:rPr>
              <a:t>Guided lab</a:t>
            </a:r>
          </a:p>
        </p:txBody>
      </p:sp>
      <p:sp>
        <p:nvSpPr>
          <p:cNvPr id="27" name="TextBox 26"/>
          <p:cNvSpPr txBox="1"/>
          <p:nvPr/>
        </p:nvSpPr>
        <p:spPr>
          <a:xfrm>
            <a:off x="10408615" y="4215384"/>
            <a:ext cx="1097280" cy="512064"/>
          </a:xfrm>
          <a:prstGeom prst="rect">
            <a:avLst/>
          </a:prstGeom>
          <a:noFill/>
        </p:spPr>
        <p:txBody>
          <a:bodyPr wrap="square" lIns="0" rIns="0" tIns="18288" bIns="18288" anchor="t">
            <a:spAutoFit/>
          </a:bodyPr>
          <a:lstStyle/>
          <a:p>
            <a:pPr algn="r"/>
            <a:r>
              <a:rPr sz="1900" b="1" i="0">
                <a:solidFill>
                  <a:srgbClr val="B04A2B"/>
                </a:solidFill>
                <a:latin typeface="Calibri"/>
              </a:rPr>
              <a:t>40 min</a:t>
            </a:r>
          </a:p>
        </p:txBody>
      </p:sp>
      <p:cxnSp>
        <p:nvCxnSpPr>
          <p:cNvPr id="28" name="Connector 27"/>
          <p:cNvCxnSpPr/>
          <p:nvPr/>
        </p:nvCxnSpPr>
        <p:spPr>
          <a:xfrm>
            <a:off x="6949440" y="4727448"/>
            <a:ext cx="4556455" cy="0"/>
          </a:xfrm>
          <a:prstGeom prst="line">
            <a:avLst/>
          </a:prstGeom>
          <a:ln w="6350">
            <a:solidFill>
              <a:srgbClr val="C9C5BC"/>
            </a:solidFill>
          </a:ln>
        </p:spPr>
      </p:cxnSp>
      <p:sp>
        <p:nvSpPr>
          <p:cNvPr id="29" name="TextBox 28"/>
          <p:cNvSpPr txBox="1"/>
          <p:nvPr/>
        </p:nvSpPr>
        <p:spPr>
          <a:xfrm>
            <a:off x="6949440" y="4818888"/>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Check and wrap-up</a:t>
            </a:r>
          </a:p>
        </p:txBody>
      </p:sp>
      <p:sp>
        <p:nvSpPr>
          <p:cNvPr id="30" name="TextBox 29"/>
          <p:cNvSpPr txBox="1"/>
          <p:nvPr/>
        </p:nvSpPr>
        <p:spPr>
          <a:xfrm>
            <a:off x="10408615" y="4818888"/>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10 min</a:t>
            </a:r>
          </a:p>
        </p:txBody>
      </p:sp>
      <p:cxnSp>
        <p:nvCxnSpPr>
          <p:cNvPr id="31" name="Connector 30"/>
          <p:cNvCxnSpPr/>
          <p:nvPr/>
        </p:nvCxnSpPr>
        <p:spPr>
          <a:xfrm>
            <a:off x="6949440" y="5330952"/>
            <a:ext cx="4556455" cy="0"/>
          </a:xfrm>
          <a:prstGeom prst="line">
            <a:avLst/>
          </a:prstGeom>
          <a:ln w="6350">
            <a:solidFill>
              <a:srgbClr val="C9C5BC"/>
            </a:solidFill>
          </a:ln>
        </p:spPr>
      </p:cxn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Vocabulary</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23   Ship it: reproducible work, a small app and responsible use</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3</a:t>
            </a:r>
          </a:p>
        </p:txBody>
      </p:sp>
      <p:graphicFrame>
        <p:nvGraphicFramePr>
          <p:cNvPr id="5" name="Table"/>
          <p:cNvGraphicFramePr>
            <a:graphicFrameLocks noGrp="1"/>
          </p:cNvGraphicFramePr>
          <p:nvPr/>
        </p:nvGraphicFramePr>
        <p:xfrm>
          <a:off x="685800" y="1554480"/>
          <a:ext cx="10820094" cy="4702448"/>
        </p:xfrm>
        <a:graphic>
          <a:graphicData uri="http://schemas.openxmlformats.org/drawingml/2006/table">
            <a:tbl>
              <a:tblPr firstRow="0" bandRow="0">
                <a:tableStyleId>{2D5ABB26-0587-4C30-8999-92F81FD0307C}</a:tableStyleId>
              </a:tblPr>
              <a:tblGrid>
                <a:gridCol w="2164019"/>
                <a:gridCol w="5410047"/>
                <a:gridCol w="3246028"/>
              </a:tblGrid>
              <a:tr h="349910">
                <a:tc>
                  <a:txBody>
                    <a:bodyPr wrap="square"/>
                    <a:lstStyle/>
                    <a:p>
                      <a:r>
                        <a:rPr sz="1400" b="1" i="0">
                          <a:solidFill>
                            <a:srgbClr val="1F2328"/>
                          </a:solidFill>
                          <a:latin typeface="Calibri"/>
                        </a:rPr>
                        <a:t>Word</a:t>
                      </a:r>
                    </a:p>
                  </a:txBody>
                  <a:tcPr marL="0" marR="91440" marT="64008" marB="64008" anchor="ctr">
                    <a:lnL w="0">
                      <a:noFill/>
                    </a:lnL>
                    <a:lnR w="0">
                      <a:noFill/>
                    </a:lnR>
                    <a:lnT w="0">
                      <a:noFill/>
                    </a:lnT>
                    <a:lnB w="15875">
                      <a:solidFill>
                        <a:srgbClr val="1F2328"/>
                      </a:solidFill>
                    </a:lnB>
                    <a:noFill/>
                  </a:tcPr>
                </a:tc>
                <a:tc>
                  <a:txBody>
                    <a:bodyPr wrap="square"/>
                    <a:lstStyle/>
                    <a:p>
                      <a:r>
                        <a:rPr sz="1400" b="1" i="0">
                          <a:solidFill>
                            <a:srgbClr val="1F2328"/>
                          </a:solidFill>
                          <a:latin typeface="Calibri"/>
                        </a:rPr>
                        <a:t>Plain meaning</a:t>
                      </a:r>
                    </a:p>
                  </a:txBody>
                  <a:tcPr marL="137160" marR="91440" marT="64008" marB="64008" anchor="ctr">
                    <a:lnL w="0">
                      <a:noFill/>
                    </a:lnL>
                    <a:lnR w="0">
                      <a:noFill/>
                    </a:lnR>
                    <a:lnT w="0">
                      <a:noFill/>
                    </a:lnT>
                    <a:lnB w="15875">
                      <a:solidFill>
                        <a:srgbClr val="1F2328"/>
                      </a:solidFill>
                    </a:lnB>
                    <a:noFill/>
                  </a:tcPr>
                </a:tc>
                <a:tc>
                  <a:txBody>
                    <a:bodyPr wrap="square"/>
                    <a:lstStyle/>
                    <a:p>
                      <a:r>
                        <a:rPr sz="1400" b="1" i="0">
                          <a:solidFill>
                            <a:srgbClr val="1F2328"/>
                          </a:solidFill>
                          <a:latin typeface="Calibri"/>
                        </a:rPr>
                        <a:t>In a spreadsheet</a:t>
                      </a:r>
                    </a:p>
                  </a:txBody>
                  <a:tcPr marL="137160" marR="91440" marT="64008" marB="64008" anchor="ctr">
                    <a:lnL w="0">
                      <a:noFill/>
                    </a:lnL>
                    <a:lnR w="0">
                      <a:noFill/>
                    </a:lnR>
                    <a:lnT w="0">
                      <a:noFill/>
                    </a:lnT>
                    <a:lnB w="15875">
                      <a:solidFill>
                        <a:srgbClr val="1F2328"/>
                      </a:solidFill>
                    </a:lnB>
                    <a:noFill/>
                  </a:tcPr>
                </a:tc>
              </a:tr>
              <a:tr h="571804">
                <a:tc>
                  <a:txBody>
                    <a:bodyPr wrap="square"/>
                    <a:lstStyle/>
                    <a:p>
                      <a:r>
                        <a:rPr sz="1400" b="1" i="0">
                          <a:solidFill>
                            <a:srgbClr val="1F2328"/>
                          </a:solidFill>
                          <a:latin typeface="Calibri"/>
                        </a:rPr>
                        <a:t>Reproducibility</a:t>
                      </a:r>
                    </a:p>
                  </a:txBody>
                  <a:tcPr marL="0" marR="91440" marT="64008" marB="64008" anchor="ctr">
                    <a:lnL w="0">
                      <a:noFill/>
                    </a:lnL>
                    <a:lnR w="0">
                      <a:noFill/>
                    </a:lnR>
                    <a:lnT w="0">
                      <a:noFill/>
                    </a:lnT>
                    <a:lnB w="6350">
                      <a:solidFill>
                        <a:srgbClr val="C9C5BC"/>
                      </a:solidFill>
                    </a:lnB>
                    <a:noFill/>
                  </a:tcPr>
                </a:tc>
                <a:tc>
                  <a:txBody>
                    <a:bodyPr wrap="square"/>
                    <a:lstStyle/>
                    <a:p>
                      <a:r>
                        <a:rPr sz="1400" b="0" i="0">
                          <a:solidFill>
                            <a:srgbClr val="3B4046"/>
                          </a:solidFill>
                          <a:latin typeface="Calibri"/>
                        </a:rPr>
                        <a:t>The same notebook gives the same result to anyone who runs it.</a:t>
                      </a:r>
                    </a:p>
                  </a:txBody>
                  <a:tcPr marL="137160" marR="91440" marT="64008" marB="64008" anchor="ctr">
                    <a:lnL w="0">
                      <a:noFill/>
                    </a:lnL>
                    <a:lnR w="0">
                      <a:noFill/>
                    </a:lnR>
                    <a:lnT w="0">
                      <a:noFill/>
                    </a:lnT>
                    <a:lnB w="6350">
                      <a:solidFill>
                        <a:srgbClr val="C9C5BC"/>
                      </a:solidFill>
                    </a:lnB>
                    <a:noFill/>
                  </a:tcPr>
                </a:tc>
                <a:tc>
                  <a:txBody>
                    <a:bodyPr wrap="square"/>
                    <a:lstStyle/>
                    <a:p>
                      <a:r>
                        <a:rPr sz="1400" b="0" i="0">
                          <a:solidFill>
                            <a:srgbClr val="3B4046"/>
                          </a:solidFill>
                          <a:latin typeface="Calibri"/>
                        </a:rPr>
                        <a:t>Pasting RAND as values and noting the file version</a:t>
                      </a:r>
                    </a:p>
                  </a:txBody>
                  <a:tcPr marL="137160" marR="91440" marT="64008" marB="64008" anchor="ctr">
                    <a:lnL w="0">
                      <a:noFill/>
                    </a:lnL>
                    <a:lnR w="0">
                      <a:noFill/>
                    </a:lnR>
                    <a:lnT w="0">
                      <a:noFill/>
                    </a:lnT>
                    <a:lnB w="6350">
                      <a:solidFill>
                        <a:srgbClr val="C9C5BC"/>
                      </a:solidFill>
                    </a:lnB>
                    <a:noFill/>
                  </a:tcPr>
                </a:tc>
              </a:tr>
              <a:tr h="571804">
                <a:tc>
                  <a:txBody>
                    <a:bodyPr wrap="square"/>
                    <a:lstStyle/>
                    <a:p>
                      <a:r>
                        <a:rPr sz="1400" b="1" i="0">
                          <a:solidFill>
                            <a:srgbClr val="1F2328"/>
                          </a:solidFill>
                          <a:latin typeface="Calibri"/>
                        </a:rPr>
                        <a:t>Repository</a:t>
                      </a:r>
                    </a:p>
                  </a:txBody>
                  <a:tcPr marL="0" marR="91440" marT="64008" marB="64008" anchor="ctr">
                    <a:lnL w="0">
                      <a:noFill/>
                    </a:lnL>
                    <a:lnR w="0">
                      <a:noFill/>
                    </a:lnR>
                    <a:lnT w="0">
                      <a:noFill/>
                    </a:lnT>
                    <a:lnB w="6350">
                      <a:solidFill>
                        <a:srgbClr val="C9C5BC"/>
                      </a:solidFill>
                    </a:lnB>
                    <a:noFill/>
                  </a:tcPr>
                </a:tc>
                <a:tc>
                  <a:txBody>
                    <a:bodyPr wrap="square"/>
                    <a:lstStyle/>
                    <a:p>
                      <a:r>
                        <a:rPr sz="1400" b="0" i="0">
                          <a:solidFill>
                            <a:srgbClr val="3B4046"/>
                          </a:solidFill>
                          <a:latin typeface="Calibri"/>
                        </a:rPr>
                        <a:t>A project folder tracked by Git, kept online on GitHub.</a:t>
                      </a:r>
                    </a:p>
                  </a:txBody>
                  <a:tcPr marL="137160" marR="91440" marT="64008" marB="64008" anchor="ctr">
                    <a:lnL w="0">
                      <a:noFill/>
                    </a:lnL>
                    <a:lnR w="0">
                      <a:noFill/>
                    </a:lnR>
                    <a:lnT w="0">
                      <a:noFill/>
                    </a:lnT>
                    <a:lnB w="6350">
                      <a:solidFill>
                        <a:srgbClr val="C9C5BC"/>
                      </a:solidFill>
                    </a:lnB>
                    <a:noFill/>
                  </a:tcPr>
                </a:tc>
                <a:tc>
                  <a:txBody>
                    <a:bodyPr wrap="square"/>
                    <a:lstStyle/>
                    <a:p>
                      <a:r>
                        <a:rPr sz="1400" b="0" i="0">
                          <a:solidFill>
                            <a:srgbClr val="3B4046"/>
                          </a:solidFill>
                          <a:latin typeface="Calibri"/>
                        </a:rPr>
                        <a:t>A shared Drive folder with version history</a:t>
                      </a:r>
                    </a:p>
                  </a:txBody>
                  <a:tcPr marL="137160" marR="91440" marT="64008" marB="64008" anchor="ctr">
                    <a:lnL w="0">
                      <a:noFill/>
                    </a:lnL>
                    <a:lnR w="0">
                      <a:noFill/>
                    </a:lnR>
                    <a:lnT w="0">
                      <a:noFill/>
                    </a:lnT>
                    <a:lnB w="6350">
                      <a:solidFill>
                        <a:srgbClr val="C9C5BC"/>
                      </a:solidFill>
                    </a:lnB>
                    <a:noFill/>
                  </a:tcPr>
                </a:tc>
              </a:tr>
              <a:tr h="571804">
                <a:tc>
                  <a:txBody>
                    <a:bodyPr wrap="square"/>
                    <a:lstStyle/>
                    <a:p>
                      <a:r>
                        <a:rPr sz="1400" b="1" i="0">
                          <a:solidFill>
                            <a:srgbClr val="1F2328"/>
                          </a:solidFill>
                          <a:latin typeface="Calibri"/>
                        </a:rPr>
                        <a:t>Commit</a:t>
                      </a:r>
                    </a:p>
                  </a:txBody>
                  <a:tcPr marL="0" marR="91440" marT="64008" marB="64008" anchor="ctr">
                    <a:lnL w="0">
                      <a:noFill/>
                    </a:lnL>
                    <a:lnR w="0">
                      <a:noFill/>
                    </a:lnR>
                    <a:lnT w="0">
                      <a:noFill/>
                    </a:lnT>
                    <a:lnB w="6350">
                      <a:solidFill>
                        <a:srgbClr val="C9C5BC"/>
                      </a:solidFill>
                    </a:lnB>
                    <a:noFill/>
                  </a:tcPr>
                </a:tc>
                <a:tc>
                  <a:txBody>
                    <a:bodyPr wrap="square"/>
                    <a:lstStyle/>
                    <a:p>
                      <a:r>
                        <a:rPr sz="1400" b="0" i="0">
                          <a:solidFill>
                            <a:srgbClr val="3B4046"/>
                          </a:solidFill>
                          <a:latin typeface="Calibri"/>
                        </a:rPr>
                        <a:t>One saved version of a repository, with a message saying what changed.</a:t>
                      </a:r>
                    </a:p>
                  </a:txBody>
                  <a:tcPr marL="137160" marR="91440" marT="64008" marB="64008" anchor="ctr">
                    <a:lnL w="0">
                      <a:noFill/>
                    </a:lnL>
                    <a:lnR w="0">
                      <a:noFill/>
                    </a:lnR>
                    <a:lnT w="0">
                      <a:noFill/>
                    </a:lnT>
                    <a:lnB w="6350">
                      <a:solidFill>
                        <a:srgbClr val="C9C5BC"/>
                      </a:solidFill>
                    </a:lnB>
                    <a:noFill/>
                  </a:tcPr>
                </a:tc>
                <a:tc>
                  <a:txBody>
                    <a:bodyPr wrap="square"/>
                    <a:lstStyle/>
                    <a:p>
                      <a:r>
                        <a:rPr sz="1400" b="0" i="0">
                          <a:solidFill>
                            <a:srgbClr val="3B4046"/>
                          </a:solidFill>
                          <a:latin typeface="Calibri"/>
                        </a:rPr>
                        <a:t>A named version in Version history</a:t>
                      </a:r>
                    </a:p>
                  </a:txBody>
                  <a:tcPr marL="137160" marR="91440" marT="64008" marB="64008" anchor="ctr">
                    <a:lnL w="0">
                      <a:noFill/>
                    </a:lnL>
                    <a:lnR w="0">
                      <a:noFill/>
                    </a:lnR>
                    <a:lnT w="0">
                      <a:noFill/>
                    </a:lnT>
                    <a:lnB w="6350">
                      <a:solidFill>
                        <a:srgbClr val="C9C5BC"/>
                      </a:solidFill>
                    </a:lnB>
                    <a:noFill/>
                  </a:tcPr>
                </a:tc>
              </a:tr>
              <a:tr h="571804">
                <a:tc>
                  <a:txBody>
                    <a:bodyPr wrap="square"/>
                    <a:lstStyle/>
                    <a:p>
                      <a:r>
                        <a:rPr sz="1400" b="1" i="0">
                          <a:solidFill>
                            <a:srgbClr val="1F2328"/>
                          </a:solidFill>
                          <a:latin typeface="Calibri"/>
                        </a:rPr>
                        <a:t>Model card</a:t>
                      </a:r>
                    </a:p>
                  </a:txBody>
                  <a:tcPr marL="0" marR="91440" marT="64008" marB="64008" anchor="ctr">
                    <a:lnL w="0">
                      <a:noFill/>
                    </a:lnL>
                    <a:lnR w="0">
                      <a:noFill/>
                    </a:lnR>
                    <a:lnT w="0">
                      <a:noFill/>
                    </a:lnT>
                    <a:lnB w="6350">
                      <a:solidFill>
                        <a:srgbClr val="C9C5BC"/>
                      </a:solidFill>
                    </a:lnB>
                    <a:noFill/>
                  </a:tcPr>
                </a:tc>
                <a:tc>
                  <a:txBody>
                    <a:bodyPr wrap="square"/>
                    <a:lstStyle/>
                    <a:p>
                      <a:r>
                        <a:rPr sz="1400" b="0" i="0">
                          <a:solidFill>
                            <a:srgbClr val="3B4046"/>
                          </a:solidFill>
                          <a:latin typeface="Calibri"/>
                        </a:rPr>
                        <a:t>A one page note on what a model is for, its data, its scores, its limits and who reviews it.</a:t>
                      </a:r>
                    </a:p>
                  </a:txBody>
                  <a:tcPr marL="137160" marR="91440" marT="64008" marB="64008" anchor="ctr">
                    <a:lnL w="0">
                      <a:noFill/>
                    </a:lnL>
                    <a:lnR w="0">
                      <a:noFill/>
                    </a:lnR>
                    <a:lnT w="0">
                      <a:noFill/>
                    </a:lnT>
                    <a:lnB w="6350">
                      <a:solidFill>
                        <a:srgbClr val="C9C5BC"/>
                      </a:solidFill>
                    </a:lnB>
                    <a:noFill/>
                  </a:tcPr>
                </a:tc>
                <a:tc>
                  <a:txBody>
                    <a:bodyPr wrap="square"/>
                    <a:lstStyle/>
                    <a:p>
                      <a:r>
                        <a:rPr sz="1400" b="0" i="0">
                          <a:solidFill>
                            <a:srgbClr val="3B4046"/>
                          </a:solidFill>
                          <a:latin typeface="Calibri"/>
                        </a:rPr>
                        <a:t>The notes tab that explains a workbook</a:t>
                      </a:r>
                    </a:p>
                  </a:txBody>
                  <a:tcPr marL="137160" marR="91440" marT="64008" marB="64008" anchor="ctr">
                    <a:lnL w="0">
                      <a:noFill/>
                    </a:lnL>
                    <a:lnR w="0">
                      <a:noFill/>
                    </a:lnR>
                    <a:lnT w="0">
                      <a:noFill/>
                    </a:lnT>
                    <a:lnB w="6350">
                      <a:solidFill>
                        <a:srgbClr val="C9C5BC"/>
                      </a:solidFill>
                    </a:lnB>
                    <a:noFill/>
                  </a:tcPr>
                </a:tc>
              </a:tr>
              <a:tr h="571804">
                <a:tc>
                  <a:txBody>
                    <a:bodyPr wrap="square"/>
                    <a:lstStyle/>
                    <a:p>
                      <a:r>
                        <a:rPr sz="1400" b="1" i="0">
                          <a:solidFill>
                            <a:srgbClr val="1F2328"/>
                          </a:solidFill>
                          <a:latin typeface="Calibri"/>
                        </a:rPr>
                        <a:t>Data drift</a:t>
                      </a:r>
                    </a:p>
                  </a:txBody>
                  <a:tcPr marL="0" marR="91440" marT="64008" marB="64008" anchor="ctr">
                    <a:lnL w="0">
                      <a:noFill/>
                    </a:lnL>
                    <a:lnR w="0">
                      <a:noFill/>
                    </a:lnR>
                    <a:lnT w="0">
                      <a:noFill/>
                    </a:lnT>
                    <a:lnB w="6350">
                      <a:solidFill>
                        <a:srgbClr val="C9C5BC"/>
                      </a:solidFill>
                    </a:lnB>
                    <a:noFill/>
                  </a:tcPr>
                </a:tc>
                <a:tc>
                  <a:txBody>
                    <a:bodyPr wrap="square"/>
                    <a:lstStyle/>
                    <a:p>
                      <a:r>
                        <a:rPr sz="1400" b="0" i="0">
                          <a:solidFill>
                            <a:srgbClr val="3B4046"/>
                          </a:solidFill>
                          <a:latin typeface="Calibri"/>
                        </a:rPr>
                        <a:t>A change over time in the data coming in, which can make an old model wrong.</a:t>
                      </a:r>
                    </a:p>
                  </a:txBody>
                  <a:tcPr marL="137160" marR="91440" marT="64008" marB="64008" anchor="ctr">
                    <a:lnL w="0">
                      <a:noFill/>
                    </a:lnL>
                    <a:lnR w="0">
                      <a:noFill/>
                    </a:lnR>
                    <a:lnT w="0">
                      <a:noFill/>
                    </a:lnT>
                    <a:lnB w="6350">
                      <a:solidFill>
                        <a:srgbClr val="C9C5BC"/>
                      </a:solidFill>
                    </a:lnB>
                    <a:noFill/>
                  </a:tcPr>
                </a:tc>
                <a:tc>
                  <a:txBody>
                    <a:bodyPr wrap="square"/>
                    <a:lstStyle/>
                    <a:p>
                      <a:r>
                        <a:rPr sz="1400" b="0" i="0">
                          <a:solidFill>
                            <a:srgbClr val="3B4046"/>
                          </a:solidFill>
                          <a:latin typeface="Calibri"/>
                        </a:rPr>
                        <a:t>A monthly average that moves away from the one you built on</a:t>
                      </a:r>
                    </a:p>
                  </a:txBody>
                  <a:tcPr marL="137160" marR="91440" marT="64008" marB="64008" anchor="ctr">
                    <a:lnL w="0">
                      <a:noFill/>
                    </a:lnL>
                    <a:lnR w="0">
                      <a:noFill/>
                    </a:lnR>
                    <a:lnT w="0">
                      <a:noFill/>
                    </a:lnT>
                    <a:lnB w="6350">
                      <a:solidFill>
                        <a:srgbClr val="C9C5BC"/>
                      </a:solidFill>
                    </a:lnB>
                    <a:noFill/>
                  </a:tcPr>
                </a:tc>
              </a:tr>
              <a:tr h="571804">
                <a:tc>
                  <a:txBody>
                    <a:bodyPr wrap="square"/>
                    <a:lstStyle/>
                    <a:p>
                      <a:r>
                        <a:rPr sz="1400" b="1" i="0">
                          <a:solidFill>
                            <a:srgbClr val="1F2328"/>
                          </a:solidFill>
                          <a:latin typeface="Calibri"/>
                        </a:rPr>
                        <a:t>Proxy variable</a:t>
                      </a:r>
                    </a:p>
                  </a:txBody>
                  <a:tcPr marL="0" marR="91440" marT="64008" marB="64008" anchor="ctr">
                    <a:lnL w="0">
                      <a:noFill/>
                    </a:lnL>
                    <a:lnR w="0">
                      <a:noFill/>
                    </a:lnR>
                    <a:lnT w="0">
                      <a:noFill/>
                    </a:lnT>
                    <a:lnB w="6350">
                      <a:solidFill>
                        <a:srgbClr val="C9C5BC"/>
                      </a:solidFill>
                    </a:lnB>
                    <a:noFill/>
                  </a:tcPr>
                </a:tc>
                <a:tc>
                  <a:txBody>
                    <a:bodyPr wrap="square"/>
                    <a:lstStyle/>
                    <a:p>
                      <a:r>
                        <a:rPr sz="1400" b="0" i="0">
                          <a:solidFill>
                            <a:srgbClr val="3B4046"/>
                          </a:solidFill>
                          <a:latin typeface="Calibri"/>
                        </a:rPr>
                        <a:t>A column that carries information about another column, such as gender.</a:t>
                      </a:r>
                    </a:p>
                  </a:txBody>
                  <a:tcPr marL="137160" marR="91440" marT="64008" marB="64008" anchor="ctr">
                    <a:lnL w="0">
                      <a:noFill/>
                    </a:lnL>
                    <a:lnR w="0">
                      <a:noFill/>
                    </a:lnR>
                    <a:lnT w="0">
                      <a:noFill/>
                    </a:lnT>
                    <a:lnB w="6350">
                      <a:solidFill>
                        <a:srgbClr val="C9C5BC"/>
                      </a:solidFill>
                    </a:lnB>
                    <a:noFill/>
                  </a:tcPr>
                </a:tc>
                <a:tc>
                  <a:txBody>
                    <a:bodyPr wrap="square"/>
                    <a:lstStyle/>
                    <a:p>
                      <a:r>
                        <a:rPr sz="1400" b="0" i="0">
                          <a:solidFill>
                            <a:srgbClr val="3B4046"/>
                          </a:solidFill>
                          <a:latin typeface="Calibri"/>
                        </a:rPr>
                        <a:t>A postcode column standing in for income</a:t>
                      </a:r>
                    </a:p>
                  </a:txBody>
                  <a:tcPr marL="137160" marR="91440" marT="64008" marB="64008" anchor="ctr">
                    <a:lnL w="0">
                      <a:noFill/>
                    </a:lnL>
                    <a:lnR w="0">
                      <a:noFill/>
                    </a:lnR>
                    <a:lnT w="0">
                      <a:noFill/>
                    </a:lnT>
                    <a:lnB w="6350">
                      <a:solidFill>
                        <a:srgbClr val="C9C5BC"/>
                      </a:solidFill>
                    </a:lnB>
                    <a:noFill/>
                  </a:tcPr>
                </a:tc>
              </a:tr>
              <a:tr h="571804">
                <a:tc>
                  <a:txBody>
                    <a:bodyPr wrap="square"/>
                    <a:lstStyle/>
                    <a:p>
                      <a:r>
                        <a:rPr sz="1400" b="1" i="0">
                          <a:solidFill>
                            <a:srgbClr val="1F2328"/>
                          </a:solidFill>
                          <a:latin typeface="Calibri"/>
                        </a:rPr>
                        <a:t>Personal data</a:t>
                      </a:r>
                    </a:p>
                  </a:txBody>
                  <a:tcPr marL="0" marR="91440" marT="64008" marB="64008" anchor="ctr">
                    <a:lnL w="0">
                      <a:noFill/>
                    </a:lnL>
                    <a:lnR w="0">
                      <a:noFill/>
                    </a:lnR>
                    <a:lnT w="0">
                      <a:noFill/>
                    </a:lnT>
                    <a:lnB w="6350">
                      <a:solidFill>
                        <a:srgbClr val="C9C5BC"/>
                      </a:solidFill>
                    </a:lnB>
                    <a:noFill/>
                  </a:tcPr>
                </a:tc>
                <a:tc>
                  <a:txBody>
                    <a:bodyPr wrap="square"/>
                    <a:lstStyle/>
                    <a:p>
                      <a:r>
                        <a:rPr sz="1400" b="0" i="0">
                          <a:solidFill>
                            <a:srgbClr val="3B4046"/>
                          </a:solidFill>
                          <a:latin typeface="Calibri"/>
                        </a:rPr>
                        <a:t>Information from which a person can be identified.</a:t>
                      </a:r>
                    </a:p>
                  </a:txBody>
                  <a:tcPr marL="137160" marR="91440" marT="64008" marB="64008" anchor="ctr">
                    <a:lnL w="0">
                      <a:noFill/>
                    </a:lnL>
                    <a:lnR w="0">
                      <a:noFill/>
                    </a:lnR>
                    <a:lnT w="0">
                      <a:noFill/>
                    </a:lnT>
                    <a:lnB w="6350">
                      <a:solidFill>
                        <a:srgbClr val="C9C5BC"/>
                      </a:solidFill>
                    </a:lnB>
                    <a:noFill/>
                  </a:tcPr>
                </a:tc>
                <a:tc>
                  <a:txBody>
                    <a:bodyPr wrap="square"/>
                    <a:lstStyle/>
                    <a:p>
                      <a:r>
                        <a:rPr sz="1400" b="0" i="0">
                          <a:solidFill>
                            <a:srgbClr val="3B4046"/>
                          </a:solidFill>
                          <a:latin typeface="Calibri"/>
                        </a:rPr>
                        <a:t>The name and phone columns of a customer list</a:t>
                      </a:r>
                    </a:p>
                  </a:txBody>
                  <a:tcPr marL="137160" marR="91440" marT="64008" marB="64008" anchor="ctr">
                    <a:lnL w="0">
                      <a:noFill/>
                    </a:lnL>
                    <a:lnR w="0">
                      <a:noFill/>
                    </a:lnR>
                    <a:lnT w="0">
                      <a:noFill/>
                    </a:lnT>
                    <a:lnB w="6350">
                      <a:solidFill>
                        <a:srgbClr val="C9C5BC"/>
                      </a:solidFill>
                    </a:lnB>
                    <a:noFill/>
                  </a:tcPr>
                </a:tc>
              </a:tr>
              <a:tr h="349910">
                <a:tc>
                  <a:txBody>
                    <a:bodyPr wrap="square"/>
                    <a:lstStyle/>
                    <a:p>
                      <a:r>
                        <a:rPr sz="1400" b="1" i="0">
                          <a:solidFill>
                            <a:srgbClr val="1F2328"/>
                          </a:solidFill>
                          <a:latin typeface="Calibri"/>
                        </a:rPr>
                        <a:t>Data subject</a:t>
                      </a:r>
                    </a:p>
                  </a:txBody>
                  <a:tcPr marL="0" marR="91440" marT="64008" marB="64008" anchor="ctr">
                    <a:lnL w="0">
                      <a:noFill/>
                    </a:lnL>
                    <a:lnR w="0">
                      <a:noFill/>
                    </a:lnR>
                    <a:lnT w="0">
                      <a:noFill/>
                    </a:lnT>
                    <a:lnB w="6350">
                      <a:solidFill>
                        <a:srgbClr val="C9C5BC"/>
                      </a:solidFill>
                    </a:lnB>
                    <a:noFill/>
                  </a:tcPr>
                </a:tc>
                <a:tc>
                  <a:txBody>
                    <a:bodyPr wrap="square"/>
                    <a:lstStyle/>
                    <a:p>
                      <a:r>
                        <a:rPr sz="1400" b="0" i="0">
                          <a:solidFill>
                            <a:srgbClr val="3B4046"/>
                          </a:solidFill>
                          <a:latin typeface="Calibri"/>
                        </a:rPr>
                        <a:t>The person that personal data is about.</a:t>
                      </a:r>
                    </a:p>
                  </a:txBody>
                  <a:tcPr marL="137160" marR="91440" marT="64008" marB="64008" anchor="ctr">
                    <a:lnL w="0">
                      <a:noFill/>
                    </a:lnL>
                    <a:lnR w="0">
                      <a:noFill/>
                    </a:lnR>
                    <a:lnT w="0">
                      <a:noFill/>
                    </a:lnT>
                    <a:lnB w="6350">
                      <a:solidFill>
                        <a:srgbClr val="C9C5BC"/>
                      </a:solidFill>
                    </a:lnB>
                    <a:noFill/>
                  </a:tcPr>
                </a:tc>
                <a:tc>
                  <a:txBody>
                    <a:bodyPr wrap="square"/>
                    <a:lstStyle/>
                    <a:p>
                      <a:r>
                        <a:rPr sz="1400" b="0" i="0">
                          <a:solidFill>
                            <a:srgbClr val="3B4046"/>
                          </a:solidFill>
                          <a:latin typeface="Calibri"/>
                        </a:rPr>
                        <a:t>The person on each row of the list</a:t>
                      </a:r>
                    </a:p>
                  </a:txBody>
                  <a:tcPr marL="137160" marR="91440" marT="64008" marB="64008" anchor="ctr">
                    <a:lnL w="0">
                      <a:noFill/>
                    </a:lnL>
                    <a:lnR w="0">
                      <a:noFill/>
                    </a:lnR>
                    <a:lnT w="0">
                      <a:noFill/>
                    </a:lnT>
                    <a:lnB w="6350">
                      <a:solidFill>
                        <a:srgbClr val="C9C5BC"/>
                      </a:solidFill>
                    </a:lnB>
                    <a:no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Warm-up from Session 22</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23   Ship it: reproducible work, a small app and responsible use</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4</a:t>
            </a:r>
          </a:p>
        </p:txBody>
      </p:sp>
      <p:cxnSp>
        <p:nvCxnSpPr>
          <p:cNvPr id="5" name="Connector 4"/>
          <p:cNvCxnSpPr/>
          <p:nvPr/>
        </p:nvCxnSpPr>
        <p:spPr>
          <a:xfrm>
            <a:off x="685800" y="1600200"/>
            <a:ext cx="10820095" cy="0"/>
          </a:xfrm>
          <a:prstGeom prst="line">
            <a:avLst/>
          </a:prstGeom>
          <a:ln w="15875">
            <a:solidFill>
              <a:srgbClr val="1F2328"/>
            </a:solidFill>
          </a:ln>
        </p:spPr>
      </p:cxnSp>
      <p:sp>
        <p:nvSpPr>
          <p:cNvPr id="6" name="TextBox 5"/>
          <p:cNvSpPr txBox="1"/>
          <p:nvPr/>
        </p:nvSpPr>
        <p:spPr>
          <a:xfrm>
            <a:off x="685800" y="1691640"/>
            <a:ext cx="457200" cy="1062075"/>
          </a:xfrm>
          <a:prstGeom prst="rect">
            <a:avLst/>
          </a:prstGeom>
          <a:noFill/>
        </p:spPr>
        <p:txBody>
          <a:bodyPr wrap="square" lIns="0" rIns="0" tIns="18288" bIns="18288" anchor="t">
            <a:spAutoFit/>
          </a:bodyPr>
          <a:lstStyle/>
          <a:p>
            <a:pPr algn="l"/>
            <a:r>
              <a:rPr sz="2600" b="1" i="0">
                <a:solidFill>
                  <a:srgbClr val="B04A2B"/>
                </a:solidFill>
                <a:latin typeface="Cambria"/>
              </a:rPr>
              <a:t>1</a:t>
            </a:r>
          </a:p>
        </p:txBody>
      </p:sp>
      <p:sp>
        <p:nvSpPr>
          <p:cNvPr id="7" name="TextBox 6"/>
          <p:cNvSpPr txBox="1"/>
          <p:nvPr/>
        </p:nvSpPr>
        <p:spPr>
          <a:xfrm>
            <a:off x="1234440" y="1691640"/>
            <a:ext cx="10271455" cy="1062075"/>
          </a:xfrm>
          <a:prstGeom prst="rect">
            <a:avLst/>
          </a:prstGeom>
          <a:noFill/>
        </p:spPr>
        <p:txBody>
          <a:bodyPr wrap="square" lIns="0" rIns="0" tIns="18288" bIns="18288" anchor="t">
            <a:spAutoFit/>
          </a:bodyPr>
          <a:lstStyle/>
          <a:p>
            <a:pPr algn="l"/>
            <a:r>
              <a:rPr sz="2400" b="1" i="0">
                <a:solidFill>
                  <a:srgbClr val="1F2328"/>
                </a:solidFill>
                <a:latin typeface="Cambria"/>
              </a:rPr>
              <a:t>A language model gives a confident answer that is in none of your documents. What is that, and what did we add to reduce it?</a:t>
            </a:r>
          </a:p>
        </p:txBody>
      </p:sp>
      <p:grpSp>
        <p:nvGrpSpPr>
          <p:cNvPr id="8" name="answer-1"/>
          <p:cNvGrpSpPr/>
          <p:nvPr/>
        </p:nvGrpSpPr>
        <p:grpSpPr>
          <a:xfrm>
            <a:off x="1234440" y="2753715"/>
            <a:ext cx="10271455" cy="1063904"/>
            <a:chOff x="1234440" y="2753715"/>
            <a:chExt cx="10271455" cy="1063904"/>
          </a:xfrm>
        </p:grpSpPr>
        <p:sp>
          <p:nvSpPr>
            <p:cNvPr id="9" name="TextBox 8"/>
            <p:cNvSpPr txBox="1"/>
            <p:nvPr/>
          </p:nvSpPr>
          <p:spPr>
            <a:xfrm>
              <a:off x="1234440" y="2753715"/>
              <a:ext cx="10271455" cy="1063904"/>
            </a:xfrm>
            <a:prstGeom prst="rect">
              <a:avLst/>
            </a:prstGeom>
            <a:noFill/>
          </p:spPr>
          <p:txBody>
            <a:bodyPr wrap="square" lIns="0" rIns="0" tIns="18288" bIns="18288" anchor="t">
              <a:spAutoFit/>
            </a:bodyPr>
            <a:lstStyle/>
            <a:p>
              <a:pPr algn="l"/>
              <a:r>
                <a:rPr sz="2200" b="0" i="0">
                  <a:solidFill>
                    <a:srgbClr val="3B4046"/>
                  </a:solidFill>
                  <a:latin typeface="Calibri"/>
                </a:rPr>
                <a:t>The model invented it. We added retrieval, so it answers from passages found in our own documents.</a:t>
              </a:r>
            </a:p>
          </p:txBody>
        </p:sp>
      </p:grpSp>
      <p:cxnSp>
        <p:nvCxnSpPr>
          <p:cNvPr id="10" name="Connector 9"/>
          <p:cNvCxnSpPr/>
          <p:nvPr/>
        </p:nvCxnSpPr>
        <p:spPr>
          <a:xfrm>
            <a:off x="685800" y="3909060"/>
            <a:ext cx="10820095" cy="0"/>
          </a:xfrm>
          <a:prstGeom prst="line">
            <a:avLst/>
          </a:prstGeom>
          <a:ln w="6350">
            <a:solidFill>
              <a:srgbClr val="C9C5BC"/>
            </a:solidFill>
          </a:ln>
        </p:spPr>
      </p:cxnSp>
      <p:sp>
        <p:nvSpPr>
          <p:cNvPr id="11" name="TextBox 10"/>
          <p:cNvSpPr txBox="1"/>
          <p:nvPr/>
        </p:nvSpPr>
        <p:spPr>
          <a:xfrm>
            <a:off x="685800" y="4000500"/>
            <a:ext cx="457200" cy="1062075"/>
          </a:xfrm>
          <a:prstGeom prst="rect">
            <a:avLst/>
          </a:prstGeom>
          <a:noFill/>
        </p:spPr>
        <p:txBody>
          <a:bodyPr wrap="square" lIns="0" rIns="0" tIns="18288" bIns="18288" anchor="t">
            <a:spAutoFit/>
          </a:bodyPr>
          <a:lstStyle/>
          <a:p>
            <a:pPr algn="l"/>
            <a:r>
              <a:rPr sz="2600" b="1" i="0">
                <a:solidFill>
                  <a:srgbClr val="B04A2B"/>
                </a:solidFill>
                <a:latin typeface="Cambria"/>
              </a:rPr>
              <a:t>2</a:t>
            </a:r>
          </a:p>
        </p:txBody>
      </p:sp>
      <p:sp>
        <p:nvSpPr>
          <p:cNvPr id="12" name="TextBox 11"/>
          <p:cNvSpPr txBox="1"/>
          <p:nvPr/>
        </p:nvSpPr>
        <p:spPr>
          <a:xfrm>
            <a:off x="1234440" y="4000500"/>
            <a:ext cx="10271455" cy="1062075"/>
          </a:xfrm>
          <a:prstGeom prst="rect">
            <a:avLst/>
          </a:prstGeom>
          <a:noFill/>
        </p:spPr>
        <p:txBody>
          <a:bodyPr wrap="square" lIns="0" rIns="0" tIns="18288" bIns="18288" anchor="t">
            <a:spAutoFit/>
          </a:bodyPr>
          <a:lstStyle/>
          <a:p>
            <a:pPr algn="l"/>
            <a:r>
              <a:rPr sz="2400" b="1" i="0">
                <a:solidFill>
                  <a:srgbClr val="1F2328"/>
                </a:solidFill>
                <a:latin typeface="Cambria"/>
              </a:rPr>
              <a:t>Why did we write twelve test questions with checked answers?</a:t>
            </a:r>
          </a:p>
        </p:txBody>
      </p:sp>
      <p:grpSp>
        <p:nvGrpSpPr>
          <p:cNvPr id="13" name="answer-2"/>
          <p:cNvGrpSpPr/>
          <p:nvPr/>
        </p:nvGrpSpPr>
        <p:grpSpPr>
          <a:xfrm>
            <a:off x="1234440" y="5062575"/>
            <a:ext cx="10271455" cy="1063904"/>
            <a:chOff x="1234440" y="5062575"/>
            <a:chExt cx="10271455" cy="1063904"/>
          </a:xfrm>
        </p:grpSpPr>
        <p:sp>
          <p:nvSpPr>
            <p:cNvPr id="14" name="TextBox 13"/>
            <p:cNvSpPr txBox="1"/>
            <p:nvPr/>
          </p:nvSpPr>
          <p:spPr>
            <a:xfrm>
              <a:off x="1234440" y="5062575"/>
              <a:ext cx="10271455" cy="1063904"/>
            </a:xfrm>
            <a:prstGeom prst="rect">
              <a:avLst/>
            </a:prstGeom>
            <a:noFill/>
          </p:spPr>
          <p:txBody>
            <a:bodyPr wrap="square" lIns="0" rIns="0" tIns="18288" bIns="18288" anchor="t">
              <a:spAutoFit/>
            </a:bodyPr>
            <a:lstStyle/>
            <a:p>
              <a:pPr algn="l"/>
              <a:r>
                <a:rPr sz="2200" b="0" i="0">
                  <a:solidFill>
                    <a:srgbClr val="3B4046"/>
                  </a:solidFill>
                  <a:latin typeface="Calibri"/>
                </a:rPr>
                <a:t>So we can run them again after any change and see whether answers got better or worse.</a:t>
              </a:r>
            </a:p>
          </p:txBody>
        </p:sp>
      </p:grpSp>
      <p:cxnSp>
        <p:nvCxnSpPr>
          <p:cNvPr id="15" name="Connector 14"/>
          <p:cNvCxnSpPr/>
          <p:nvPr/>
        </p:nvCxnSpPr>
        <p:spPr>
          <a:xfrm>
            <a:off x="685800" y="6217920"/>
            <a:ext cx="10820095" cy="0"/>
          </a:xfrm>
          <a:prstGeom prst="line">
            <a:avLst/>
          </a:prstGeom>
          <a:ln w="6350">
            <a:solidFill>
              <a:srgbClr val="C9C5BC"/>
            </a:solidFill>
          </a:ln>
        </p:spPr>
      </p:cxn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Three habits make a notebook reproducible</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23   Ship it: reproducible work, a small app and responsible use</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5</a:t>
            </a:r>
          </a:p>
        </p:txBody>
      </p:sp>
      <p:sp>
        <p:nvSpPr>
          <p:cNvPr id="5" name="TextBox 4"/>
          <p:cNvSpPr txBox="1"/>
          <p:nvPr/>
        </p:nvSpPr>
        <p:spPr>
          <a:xfrm>
            <a:off x="685800" y="1600200"/>
            <a:ext cx="9601200" cy="1097280"/>
          </a:xfrm>
          <a:prstGeom prst="rect">
            <a:avLst/>
          </a:prstGeom>
          <a:noFill/>
        </p:spPr>
        <p:txBody>
          <a:bodyPr wrap="square" lIns="0" rIns="0" tIns="18288" bIns="18288" anchor="t">
            <a:spAutoFit/>
          </a:bodyPr>
          <a:lstStyle/>
          <a:p>
            <a:pPr algn="l"/>
            <a:r>
              <a:rPr sz="2600" b="0" i="0">
                <a:solidFill>
                  <a:srgbClr val="1F2328"/>
                </a:solidFill>
                <a:latin typeface="Cambria"/>
              </a:rPr>
              <a:t>Reproducible means a colleague gets your result from your notebook, on another laptop, next month.</a:t>
            </a:r>
          </a:p>
        </p:txBody>
      </p:sp>
      <p:cxnSp>
        <p:nvCxnSpPr>
          <p:cNvPr id="6" name="Connector 5"/>
          <p:cNvCxnSpPr/>
          <p:nvPr/>
        </p:nvCxnSpPr>
        <p:spPr>
          <a:xfrm>
            <a:off x="685800" y="2762707"/>
            <a:ext cx="10820095" cy="0"/>
          </a:xfrm>
          <a:prstGeom prst="line">
            <a:avLst/>
          </a:prstGeom>
          <a:ln w="15875">
            <a:solidFill>
              <a:srgbClr val="1F2328"/>
            </a:solidFill>
          </a:ln>
        </p:spPr>
      </p:cxnSp>
      <p:sp>
        <p:nvSpPr>
          <p:cNvPr id="7" name="TextBox 6"/>
          <p:cNvSpPr txBox="1"/>
          <p:nvPr/>
        </p:nvSpPr>
        <p:spPr>
          <a:xfrm>
            <a:off x="685800" y="2872435"/>
            <a:ext cx="2651760" cy="1033271"/>
          </a:xfrm>
          <a:prstGeom prst="rect">
            <a:avLst/>
          </a:prstGeom>
          <a:noFill/>
        </p:spPr>
        <p:txBody>
          <a:bodyPr wrap="square" lIns="0" rIns="0" tIns="18288" bIns="18288" anchor="t">
            <a:spAutoFit/>
          </a:bodyPr>
          <a:lstStyle/>
          <a:p>
            <a:pPr algn="l"/>
            <a:r>
              <a:rPr sz="2400" b="1" i="0">
                <a:solidFill>
                  <a:srgbClr val="1F2328"/>
                </a:solidFill>
                <a:latin typeface="Cambria"/>
              </a:rPr>
              <a:t>Seed</a:t>
            </a:r>
          </a:p>
        </p:txBody>
      </p:sp>
      <p:sp>
        <p:nvSpPr>
          <p:cNvPr id="8" name="TextBox 7"/>
          <p:cNvSpPr txBox="1"/>
          <p:nvPr/>
        </p:nvSpPr>
        <p:spPr>
          <a:xfrm>
            <a:off x="3611880" y="2890723"/>
            <a:ext cx="7894015" cy="1014983"/>
          </a:xfrm>
          <a:prstGeom prst="rect">
            <a:avLst/>
          </a:prstGeom>
          <a:noFill/>
        </p:spPr>
        <p:txBody>
          <a:bodyPr wrap="square" lIns="0" rIns="0" tIns="18288" bIns="18288" anchor="t">
            <a:spAutoFit/>
          </a:bodyPr>
          <a:lstStyle/>
          <a:p>
            <a:pPr algn="l"/>
            <a:r>
              <a:rPr sz="2200" b="0" i="0">
                <a:solidFill>
                  <a:srgbClr val="3B4046"/>
                </a:solidFill>
                <a:latin typeface="Calibri"/>
              </a:rPr>
              <a:t>A seed fixes the random choices. In Sheets, paste RAND as values to freeze them.</a:t>
            </a:r>
          </a:p>
        </p:txBody>
      </p:sp>
      <p:cxnSp>
        <p:nvCxnSpPr>
          <p:cNvPr id="9" name="Connector 8"/>
          <p:cNvCxnSpPr/>
          <p:nvPr/>
        </p:nvCxnSpPr>
        <p:spPr>
          <a:xfrm>
            <a:off x="685800" y="3905707"/>
            <a:ext cx="10820095" cy="0"/>
          </a:xfrm>
          <a:prstGeom prst="line">
            <a:avLst/>
          </a:prstGeom>
          <a:ln w="6350">
            <a:solidFill>
              <a:srgbClr val="C9C5BC"/>
            </a:solidFill>
          </a:ln>
        </p:spPr>
      </p:cxnSp>
      <p:sp>
        <p:nvSpPr>
          <p:cNvPr id="10" name="TextBox 9"/>
          <p:cNvSpPr txBox="1"/>
          <p:nvPr/>
        </p:nvSpPr>
        <p:spPr>
          <a:xfrm>
            <a:off x="685800" y="4015435"/>
            <a:ext cx="2651760" cy="1033271"/>
          </a:xfrm>
          <a:prstGeom prst="rect">
            <a:avLst/>
          </a:prstGeom>
          <a:noFill/>
        </p:spPr>
        <p:txBody>
          <a:bodyPr wrap="square" lIns="0" rIns="0" tIns="18288" bIns="18288" anchor="t">
            <a:spAutoFit/>
          </a:bodyPr>
          <a:lstStyle/>
          <a:p>
            <a:pPr algn="l"/>
            <a:r>
              <a:rPr sz="2400" b="1" i="0">
                <a:solidFill>
                  <a:srgbClr val="1F2328"/>
                </a:solidFill>
                <a:latin typeface="Cambria"/>
              </a:rPr>
              <a:t>Versions</a:t>
            </a:r>
          </a:p>
        </p:txBody>
      </p:sp>
      <p:sp>
        <p:nvSpPr>
          <p:cNvPr id="11" name="TextBox 10"/>
          <p:cNvSpPr txBox="1"/>
          <p:nvPr/>
        </p:nvSpPr>
        <p:spPr>
          <a:xfrm>
            <a:off x="3611880" y="4033723"/>
            <a:ext cx="7894015" cy="1014983"/>
          </a:xfrm>
          <a:prstGeom prst="rect">
            <a:avLst/>
          </a:prstGeom>
          <a:noFill/>
        </p:spPr>
        <p:txBody>
          <a:bodyPr wrap="square" lIns="0" rIns="0" tIns="18288" bIns="18288" anchor="t">
            <a:spAutoFit/>
          </a:bodyPr>
          <a:lstStyle/>
          <a:p>
            <a:pPr algn="l"/>
            <a:r>
              <a:rPr sz="2200" b="0" i="0">
                <a:solidFill>
                  <a:srgbClr val="3B4046"/>
                </a:solidFill>
                <a:latin typeface="Calibri"/>
              </a:rPr>
              <a:t>Print the library versions. pip freeze lists them, and you keep the lines you need.</a:t>
            </a:r>
          </a:p>
        </p:txBody>
      </p:sp>
      <p:cxnSp>
        <p:nvCxnSpPr>
          <p:cNvPr id="12" name="Connector 11"/>
          <p:cNvCxnSpPr/>
          <p:nvPr/>
        </p:nvCxnSpPr>
        <p:spPr>
          <a:xfrm>
            <a:off x="685800" y="5048707"/>
            <a:ext cx="10820095" cy="0"/>
          </a:xfrm>
          <a:prstGeom prst="line">
            <a:avLst/>
          </a:prstGeom>
          <a:ln w="6350">
            <a:solidFill>
              <a:srgbClr val="C9C5BC"/>
            </a:solidFill>
          </a:ln>
        </p:spPr>
      </p:cxnSp>
      <p:sp>
        <p:nvSpPr>
          <p:cNvPr id="13" name="TextBox 12"/>
          <p:cNvSpPr txBox="1"/>
          <p:nvPr/>
        </p:nvSpPr>
        <p:spPr>
          <a:xfrm>
            <a:off x="685800" y="5158435"/>
            <a:ext cx="2651760" cy="1033271"/>
          </a:xfrm>
          <a:prstGeom prst="rect">
            <a:avLst/>
          </a:prstGeom>
          <a:noFill/>
        </p:spPr>
        <p:txBody>
          <a:bodyPr wrap="square" lIns="0" rIns="0" tIns="18288" bIns="18288" anchor="t">
            <a:spAutoFit/>
          </a:bodyPr>
          <a:lstStyle/>
          <a:p>
            <a:pPr algn="l"/>
            <a:r>
              <a:rPr sz="2400" b="1" i="0">
                <a:solidFill>
                  <a:srgbClr val="1F2328"/>
                </a:solidFill>
                <a:latin typeface="Cambria"/>
              </a:rPr>
              <a:t>Order</a:t>
            </a:r>
          </a:p>
        </p:txBody>
      </p:sp>
      <p:sp>
        <p:nvSpPr>
          <p:cNvPr id="14" name="TextBox 13"/>
          <p:cNvSpPr txBox="1"/>
          <p:nvPr/>
        </p:nvSpPr>
        <p:spPr>
          <a:xfrm>
            <a:off x="3611880" y="5176723"/>
            <a:ext cx="7894015" cy="1014983"/>
          </a:xfrm>
          <a:prstGeom prst="rect">
            <a:avLst/>
          </a:prstGeom>
          <a:noFill/>
        </p:spPr>
        <p:txBody>
          <a:bodyPr wrap="square" lIns="0" rIns="0" tIns="18288" bIns="18288" anchor="t">
            <a:spAutoFit/>
          </a:bodyPr>
          <a:lstStyle/>
          <a:p>
            <a:pPr algn="l"/>
            <a:r>
              <a:rPr sz="2200" b="0" i="0">
                <a:solidFill>
                  <a:srgbClr val="3B4046"/>
                </a:solidFill>
                <a:latin typeface="Calibri"/>
              </a:rPr>
              <a:t>Restart and run all, top to bottom, before you share.</a:t>
            </a:r>
          </a:p>
        </p:txBody>
      </p:sp>
      <p:cxnSp>
        <p:nvCxnSpPr>
          <p:cNvPr id="15" name="Connector 14"/>
          <p:cNvCxnSpPr/>
          <p:nvPr/>
        </p:nvCxnSpPr>
        <p:spPr>
          <a:xfrm>
            <a:off x="685800" y="6191707"/>
            <a:ext cx="10820095" cy="0"/>
          </a:xfrm>
          <a:prstGeom prst="line">
            <a:avLst/>
          </a:prstGeom>
          <a:ln w="6350">
            <a:solidFill>
              <a:srgbClr val="C9C5BC"/>
            </a:solidFill>
          </a:ln>
        </p:spPr>
      </p:cxn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Same seed, same numbers, and the versions printed</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23   Ship it: reproducible work, a small app and responsible use</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6</a:t>
            </a:r>
          </a:p>
        </p:txBody>
      </p:sp>
      <p:sp>
        <p:nvSpPr>
          <p:cNvPr id="5" name="Rectangle 4"/>
          <p:cNvSpPr/>
          <p:nvPr/>
        </p:nvSpPr>
        <p:spPr>
          <a:xfrm>
            <a:off x="685800" y="1600200"/>
            <a:ext cx="6949440" cy="212445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6675120" cy="1850136"/>
          </a:xfrm>
          <a:prstGeom prst="rect">
            <a:avLst/>
          </a:prstGeom>
          <a:noFill/>
        </p:spPr>
        <p:txBody>
          <a:bodyPr wrap="none" lIns="0" rIns="0" tIns="0" bIns="0">
            <a:spAutoFit/>
          </a:bodyPr>
          <a:lstStyle/>
          <a:p>
            <a:r>
              <a:rPr sz="1700" b="1" i="0">
                <a:solidFill>
                  <a:srgbClr val="1F2328"/>
                </a:solidFill>
                <a:latin typeface="Courier New"/>
              </a:rPr>
              <a:t>import</a:t>
            </a:r>
            <a:r>
              <a:rPr sz="1700" b="0" i="0">
                <a:solidFill>
                  <a:srgbClr val="1F2328"/>
                </a:solidFill>
                <a:latin typeface="Courier New"/>
              </a:rPr>
              <a:t> </a:t>
            </a:r>
            <a:r>
              <a:rPr sz="1700" b="0" i="0">
                <a:solidFill>
                  <a:srgbClr val="1F2328"/>
                </a:solidFill>
                <a:latin typeface="Courier New"/>
              </a:rPr>
              <a:t>numpy</a:t>
            </a:r>
            <a:r>
              <a:rPr sz="1700" b="0" i="0">
                <a:solidFill>
                  <a:srgbClr val="1F2328"/>
                </a:solidFill>
                <a:latin typeface="Courier New"/>
              </a:rPr>
              <a:t> </a:t>
            </a:r>
            <a:r>
              <a:rPr sz="1700" b="1" i="0">
                <a:solidFill>
                  <a:srgbClr val="1F2328"/>
                </a:solidFill>
                <a:latin typeface="Courier New"/>
              </a:rPr>
              <a:t>as</a:t>
            </a:r>
            <a:r>
              <a:rPr sz="1700" b="0" i="0">
                <a:solidFill>
                  <a:srgbClr val="1F2328"/>
                </a:solidFill>
                <a:latin typeface="Courier New"/>
              </a:rPr>
              <a:t> </a:t>
            </a:r>
            <a:r>
              <a:rPr sz="1700" b="0" i="0">
                <a:solidFill>
                  <a:srgbClr val="1F2328"/>
                </a:solidFill>
                <a:latin typeface="Courier New"/>
              </a:rPr>
              <a:t>np</a:t>
            </a:r>
          </a:p>
          <a:p>
            <a:r>
              <a:rPr sz="1700" b="1" i="0">
                <a:solidFill>
                  <a:srgbClr val="1F2328"/>
                </a:solidFill>
                <a:latin typeface="Courier New"/>
              </a:rPr>
              <a:t>import</a:t>
            </a:r>
            <a:r>
              <a:rPr sz="1700" b="0" i="0">
                <a:solidFill>
                  <a:srgbClr val="1F2328"/>
                </a:solidFill>
                <a:latin typeface="Courier New"/>
              </a:rPr>
              <a:t> </a:t>
            </a:r>
            <a:r>
              <a:rPr sz="1700" b="0" i="0">
                <a:solidFill>
                  <a:srgbClr val="1F2328"/>
                </a:solidFill>
                <a:latin typeface="Courier New"/>
              </a:rPr>
              <a:t>pandas</a:t>
            </a:r>
            <a:r>
              <a:rPr sz="1700" b="0" i="0">
                <a:solidFill>
                  <a:srgbClr val="1F2328"/>
                </a:solidFill>
                <a:latin typeface="Courier New"/>
              </a:rPr>
              <a:t> </a:t>
            </a:r>
            <a:r>
              <a:rPr sz="1700" b="1" i="0">
                <a:solidFill>
                  <a:srgbClr val="1F2328"/>
                </a:solidFill>
                <a:latin typeface="Courier New"/>
              </a:rPr>
              <a:t>as</a:t>
            </a:r>
            <a:r>
              <a:rPr sz="1700" b="0" i="0">
                <a:solidFill>
                  <a:srgbClr val="1F2328"/>
                </a:solidFill>
                <a:latin typeface="Courier New"/>
              </a:rPr>
              <a:t> </a:t>
            </a:r>
            <a:r>
              <a:rPr sz="1700" b="0" i="0">
                <a:solidFill>
                  <a:srgbClr val="1F2328"/>
                </a:solidFill>
                <a:latin typeface="Courier New"/>
              </a:rPr>
              <a:t>pd</a:t>
            </a:r>
          </a:p>
          <a:p>
            <a:r>
              <a:rPr sz="1700" b="0" i="0">
                <a:solidFill>
                  <a:srgbClr val="1F2328"/>
                </a:solidFill>
                <a:latin typeface="Courier New"/>
              </a:rPr>
              <a:t> </a:t>
            </a:r>
          </a:p>
          <a:p>
            <a:r>
              <a:rPr sz="1700" b="0" i="0">
                <a:solidFill>
                  <a:srgbClr val="1F2328"/>
                </a:solidFill>
                <a:latin typeface="Courier New"/>
              </a:rPr>
              <a:t>a</a:t>
            </a:r>
            <a:r>
              <a:rPr sz="1700" b="0" i="0">
                <a:solidFill>
                  <a:srgbClr val="1F2328"/>
                </a:solidFill>
                <a:latin typeface="Courier New"/>
              </a:rPr>
              <a:t> </a:t>
            </a:r>
            <a:r>
              <a:rPr sz="1700" b="0" i="0">
                <a:solidFill>
                  <a:srgbClr val="1F2328"/>
                </a:solidFill>
                <a:latin typeface="Courier New"/>
              </a:rPr>
              <a:t>=</a:t>
            </a:r>
            <a:r>
              <a:rPr sz="1700" b="0" i="0">
                <a:solidFill>
                  <a:srgbClr val="1F2328"/>
                </a:solidFill>
                <a:latin typeface="Courier New"/>
              </a:rPr>
              <a:t> </a:t>
            </a:r>
            <a:r>
              <a:rPr sz="1700" b="0" i="0">
                <a:solidFill>
                  <a:srgbClr val="1F2328"/>
                </a:solidFill>
                <a:latin typeface="Courier New"/>
              </a:rPr>
              <a:t>np</a:t>
            </a:r>
            <a:r>
              <a:rPr sz="1700" b="0" i="0">
                <a:solidFill>
                  <a:srgbClr val="1F2328"/>
                </a:solidFill>
                <a:latin typeface="Courier New"/>
              </a:rPr>
              <a:t>.</a:t>
            </a:r>
            <a:r>
              <a:rPr sz="1700" b="0" i="0">
                <a:solidFill>
                  <a:srgbClr val="1F2328"/>
                </a:solidFill>
                <a:latin typeface="Courier New"/>
              </a:rPr>
              <a:t>random</a:t>
            </a:r>
            <a:r>
              <a:rPr sz="1700" b="0" i="0">
                <a:solidFill>
                  <a:srgbClr val="1F2328"/>
                </a:solidFill>
                <a:latin typeface="Courier New"/>
              </a:rPr>
              <a:t>.</a:t>
            </a:r>
            <a:r>
              <a:rPr sz="1700" b="0" i="0">
                <a:solidFill>
                  <a:srgbClr val="1F2328"/>
                </a:solidFill>
                <a:latin typeface="Courier New"/>
              </a:rPr>
              <a:t>default_rng</a:t>
            </a:r>
            <a:r>
              <a:rPr sz="1700" b="0" i="0">
                <a:solidFill>
                  <a:srgbClr val="1F2328"/>
                </a:solidFill>
                <a:latin typeface="Courier New"/>
              </a:rPr>
              <a:t>(</a:t>
            </a:r>
            <a:r>
              <a:rPr sz="1700" b="0" i="0">
                <a:solidFill>
                  <a:srgbClr val="3B4046"/>
                </a:solidFill>
                <a:latin typeface="Courier New"/>
              </a:rPr>
              <a:t>42</a:t>
            </a:r>
            <a:r>
              <a:rPr sz="1700" b="0" i="0">
                <a:solidFill>
                  <a:srgbClr val="1F2328"/>
                </a:solidFill>
                <a:latin typeface="Courier New"/>
              </a:rPr>
              <a:t>)</a:t>
            </a:r>
            <a:r>
              <a:rPr sz="1700" b="0" i="0">
                <a:solidFill>
                  <a:srgbClr val="1F2328"/>
                </a:solidFill>
                <a:latin typeface="Courier New"/>
              </a:rPr>
              <a:t>.</a:t>
            </a:r>
            <a:r>
              <a:rPr sz="1700" b="0" i="0">
                <a:solidFill>
                  <a:srgbClr val="1F2328"/>
                </a:solidFill>
                <a:latin typeface="Courier New"/>
              </a:rPr>
              <a:t>integers</a:t>
            </a:r>
            <a:r>
              <a:rPr sz="1700" b="0" i="0">
                <a:solidFill>
                  <a:srgbClr val="1F2328"/>
                </a:solidFill>
                <a:latin typeface="Courier New"/>
              </a:rPr>
              <a:t>(</a:t>
            </a:r>
            <a:r>
              <a:rPr sz="1700" b="0" i="0">
                <a:solidFill>
                  <a:srgbClr val="3B4046"/>
                </a:solidFill>
                <a:latin typeface="Courier New"/>
              </a:rPr>
              <a:t>1</a:t>
            </a:r>
            <a:r>
              <a:rPr sz="1700" b="0" i="0">
                <a:solidFill>
                  <a:srgbClr val="1F2328"/>
                </a:solidFill>
                <a:latin typeface="Courier New"/>
              </a:rPr>
              <a:t>,</a:t>
            </a:r>
            <a:r>
              <a:rPr sz="1700" b="0" i="0">
                <a:solidFill>
                  <a:srgbClr val="1F2328"/>
                </a:solidFill>
                <a:latin typeface="Courier New"/>
              </a:rPr>
              <a:t> </a:t>
            </a:r>
            <a:r>
              <a:rPr sz="1700" b="0" i="0">
                <a:solidFill>
                  <a:srgbClr val="3B4046"/>
                </a:solidFill>
                <a:latin typeface="Courier New"/>
              </a:rPr>
              <a:t>100</a:t>
            </a:r>
            <a:r>
              <a:rPr sz="1700" b="0" i="0">
                <a:solidFill>
                  <a:srgbClr val="1F2328"/>
                </a:solidFill>
                <a:latin typeface="Courier New"/>
              </a:rPr>
              <a:t>,</a:t>
            </a:r>
            <a:r>
              <a:rPr sz="1700" b="0" i="0">
                <a:solidFill>
                  <a:srgbClr val="1F2328"/>
                </a:solidFill>
                <a:latin typeface="Courier New"/>
              </a:rPr>
              <a:t> </a:t>
            </a:r>
            <a:r>
              <a:rPr sz="1700" b="0" i="0">
                <a:solidFill>
                  <a:srgbClr val="3B4046"/>
                </a:solidFill>
                <a:latin typeface="Courier New"/>
              </a:rPr>
              <a:t>5</a:t>
            </a:r>
            <a:r>
              <a:rPr sz="1700" b="0" i="0">
                <a:solidFill>
                  <a:srgbClr val="1F2328"/>
                </a:solidFill>
                <a:latin typeface="Courier New"/>
              </a:rPr>
              <a:t>)</a:t>
            </a:r>
          </a:p>
          <a:p>
            <a:r>
              <a:rPr sz="1700" b="0" i="0">
                <a:solidFill>
                  <a:srgbClr val="1F2328"/>
                </a:solidFill>
                <a:latin typeface="Courier New"/>
              </a:rPr>
              <a:t>b</a:t>
            </a:r>
            <a:r>
              <a:rPr sz="1700" b="0" i="0">
                <a:solidFill>
                  <a:srgbClr val="1F2328"/>
                </a:solidFill>
                <a:latin typeface="Courier New"/>
              </a:rPr>
              <a:t> </a:t>
            </a:r>
            <a:r>
              <a:rPr sz="1700" b="0" i="0">
                <a:solidFill>
                  <a:srgbClr val="1F2328"/>
                </a:solidFill>
                <a:latin typeface="Courier New"/>
              </a:rPr>
              <a:t>=</a:t>
            </a:r>
            <a:r>
              <a:rPr sz="1700" b="0" i="0">
                <a:solidFill>
                  <a:srgbClr val="1F2328"/>
                </a:solidFill>
                <a:latin typeface="Courier New"/>
              </a:rPr>
              <a:t> </a:t>
            </a:r>
            <a:r>
              <a:rPr sz="1700" b="0" i="0">
                <a:solidFill>
                  <a:srgbClr val="1F2328"/>
                </a:solidFill>
                <a:latin typeface="Courier New"/>
              </a:rPr>
              <a:t>np</a:t>
            </a:r>
            <a:r>
              <a:rPr sz="1700" b="0" i="0">
                <a:solidFill>
                  <a:srgbClr val="1F2328"/>
                </a:solidFill>
                <a:latin typeface="Courier New"/>
              </a:rPr>
              <a:t>.</a:t>
            </a:r>
            <a:r>
              <a:rPr sz="1700" b="0" i="0">
                <a:solidFill>
                  <a:srgbClr val="1F2328"/>
                </a:solidFill>
                <a:latin typeface="Courier New"/>
              </a:rPr>
              <a:t>random</a:t>
            </a:r>
            <a:r>
              <a:rPr sz="1700" b="0" i="0">
                <a:solidFill>
                  <a:srgbClr val="1F2328"/>
                </a:solidFill>
                <a:latin typeface="Courier New"/>
              </a:rPr>
              <a:t>.</a:t>
            </a:r>
            <a:r>
              <a:rPr sz="1700" b="0" i="0">
                <a:solidFill>
                  <a:srgbClr val="1F2328"/>
                </a:solidFill>
                <a:latin typeface="Courier New"/>
              </a:rPr>
              <a:t>default_rng</a:t>
            </a:r>
            <a:r>
              <a:rPr sz="1700" b="0" i="0">
                <a:solidFill>
                  <a:srgbClr val="1F2328"/>
                </a:solidFill>
                <a:latin typeface="Courier New"/>
              </a:rPr>
              <a:t>(</a:t>
            </a:r>
            <a:r>
              <a:rPr sz="1700" b="0" i="0">
                <a:solidFill>
                  <a:srgbClr val="3B4046"/>
                </a:solidFill>
                <a:latin typeface="Courier New"/>
              </a:rPr>
              <a:t>42</a:t>
            </a:r>
            <a:r>
              <a:rPr sz="1700" b="0" i="0">
                <a:solidFill>
                  <a:srgbClr val="1F2328"/>
                </a:solidFill>
                <a:latin typeface="Courier New"/>
              </a:rPr>
              <a:t>)</a:t>
            </a:r>
            <a:r>
              <a:rPr sz="1700" b="0" i="0">
                <a:solidFill>
                  <a:srgbClr val="1F2328"/>
                </a:solidFill>
                <a:latin typeface="Courier New"/>
              </a:rPr>
              <a:t>.</a:t>
            </a:r>
            <a:r>
              <a:rPr sz="1700" b="0" i="0">
                <a:solidFill>
                  <a:srgbClr val="1F2328"/>
                </a:solidFill>
                <a:latin typeface="Courier New"/>
              </a:rPr>
              <a:t>integers</a:t>
            </a:r>
            <a:r>
              <a:rPr sz="1700" b="0" i="0">
                <a:solidFill>
                  <a:srgbClr val="1F2328"/>
                </a:solidFill>
                <a:latin typeface="Courier New"/>
              </a:rPr>
              <a:t>(</a:t>
            </a:r>
            <a:r>
              <a:rPr sz="1700" b="0" i="0">
                <a:solidFill>
                  <a:srgbClr val="3B4046"/>
                </a:solidFill>
                <a:latin typeface="Courier New"/>
              </a:rPr>
              <a:t>1</a:t>
            </a:r>
            <a:r>
              <a:rPr sz="1700" b="0" i="0">
                <a:solidFill>
                  <a:srgbClr val="1F2328"/>
                </a:solidFill>
                <a:latin typeface="Courier New"/>
              </a:rPr>
              <a:t>,</a:t>
            </a:r>
            <a:r>
              <a:rPr sz="1700" b="0" i="0">
                <a:solidFill>
                  <a:srgbClr val="1F2328"/>
                </a:solidFill>
                <a:latin typeface="Courier New"/>
              </a:rPr>
              <a:t> </a:t>
            </a:r>
            <a:r>
              <a:rPr sz="1700" b="0" i="0">
                <a:solidFill>
                  <a:srgbClr val="3B4046"/>
                </a:solidFill>
                <a:latin typeface="Courier New"/>
              </a:rPr>
              <a:t>100</a:t>
            </a:r>
            <a:r>
              <a:rPr sz="1700" b="0" i="0">
                <a:solidFill>
                  <a:srgbClr val="1F2328"/>
                </a:solidFill>
                <a:latin typeface="Courier New"/>
              </a:rPr>
              <a:t>,</a:t>
            </a:r>
            <a:r>
              <a:rPr sz="1700" b="0" i="0">
                <a:solidFill>
                  <a:srgbClr val="1F2328"/>
                </a:solidFill>
                <a:latin typeface="Courier New"/>
              </a:rPr>
              <a:t> </a:t>
            </a:r>
            <a:r>
              <a:rPr sz="1700" b="0" i="0">
                <a:solidFill>
                  <a:srgbClr val="3B4046"/>
                </a:solidFill>
                <a:latin typeface="Courier New"/>
              </a:rPr>
              <a:t>5</a:t>
            </a:r>
            <a:r>
              <a:rPr sz="1700" b="0" i="0">
                <a:solidFill>
                  <a:srgbClr val="1F2328"/>
                </a:solidFill>
                <a:latin typeface="Courier New"/>
              </a:rPr>
              <a:t>)</a:t>
            </a:r>
          </a:p>
          <a:p>
            <a:r>
              <a:rPr sz="1700" b="0" i="0">
                <a:solidFill>
                  <a:srgbClr val="1F2328"/>
                </a:solidFill>
                <a:latin typeface="Courier New"/>
              </a:rPr>
              <a:t>print</a:t>
            </a:r>
            <a:r>
              <a:rPr sz="1700" b="0" i="0">
                <a:solidFill>
                  <a:srgbClr val="1F2328"/>
                </a:solidFill>
                <a:latin typeface="Courier New"/>
              </a:rPr>
              <a:t>(</a:t>
            </a:r>
            <a:r>
              <a:rPr sz="1700" b="0" i="0">
                <a:solidFill>
                  <a:srgbClr val="1F2328"/>
                </a:solidFill>
                <a:latin typeface="Courier New"/>
              </a:rPr>
              <a:t>a</a:t>
            </a:r>
            <a:r>
              <a:rPr sz="1700" b="0" i="0">
                <a:solidFill>
                  <a:srgbClr val="1F2328"/>
                </a:solidFill>
                <a:latin typeface="Courier New"/>
              </a:rPr>
              <a:t>,</a:t>
            </a:r>
            <a:r>
              <a:rPr sz="1700" b="0" i="0">
                <a:solidFill>
                  <a:srgbClr val="1F2328"/>
                </a:solidFill>
                <a:latin typeface="Courier New"/>
              </a:rPr>
              <a:t> </a:t>
            </a:r>
            <a:r>
              <a:rPr sz="1700" b="0" i="0">
                <a:solidFill>
                  <a:srgbClr val="1F2328"/>
                </a:solidFill>
                <a:latin typeface="Courier New"/>
              </a:rPr>
              <a:t>b</a:t>
            </a:r>
            <a:r>
              <a:rPr sz="1700" b="0" i="0">
                <a:solidFill>
                  <a:srgbClr val="1F2328"/>
                </a:solidFill>
                <a:latin typeface="Courier New"/>
              </a:rPr>
              <a:t>,</a:t>
            </a:r>
            <a:r>
              <a:rPr sz="1700" b="0" i="0">
                <a:solidFill>
                  <a:srgbClr val="1F2328"/>
                </a:solidFill>
                <a:latin typeface="Courier New"/>
              </a:rPr>
              <a:t> </a:t>
            </a:r>
            <a:r>
              <a:rPr sz="1700" b="0" i="0">
                <a:solidFill>
                  <a:srgbClr val="1F2328"/>
                </a:solidFill>
                <a:latin typeface="Courier New"/>
              </a:rPr>
              <a:t>(</a:t>
            </a:r>
            <a:r>
              <a:rPr sz="1700" b="0" i="0">
                <a:solidFill>
                  <a:srgbClr val="1F2328"/>
                </a:solidFill>
                <a:latin typeface="Courier New"/>
              </a:rPr>
              <a:t>a</a:t>
            </a:r>
            <a:r>
              <a:rPr sz="1700" b="0" i="0">
                <a:solidFill>
                  <a:srgbClr val="1F2328"/>
                </a:solidFill>
                <a:latin typeface="Courier New"/>
              </a:rPr>
              <a:t> </a:t>
            </a:r>
            <a:r>
              <a:rPr sz="1700" b="0" i="0">
                <a:solidFill>
                  <a:srgbClr val="1F2328"/>
                </a:solidFill>
                <a:latin typeface="Courier New"/>
              </a:rPr>
              <a:t>=</a:t>
            </a:r>
            <a:r>
              <a:rPr sz="1700" b="0" i="0">
                <a:solidFill>
                  <a:srgbClr val="1F2328"/>
                </a:solidFill>
                <a:latin typeface="Courier New"/>
              </a:rPr>
              <a:t>=</a:t>
            </a:r>
            <a:r>
              <a:rPr sz="1700" b="0" i="0">
                <a:solidFill>
                  <a:srgbClr val="1F2328"/>
                </a:solidFill>
                <a:latin typeface="Courier New"/>
              </a:rPr>
              <a:t> </a:t>
            </a:r>
            <a:r>
              <a:rPr sz="1700" b="0" i="0">
                <a:solidFill>
                  <a:srgbClr val="1F2328"/>
                </a:solidFill>
                <a:latin typeface="Courier New"/>
              </a:rPr>
              <a:t>b</a:t>
            </a:r>
            <a:r>
              <a:rPr sz="1700" b="0" i="0">
                <a:solidFill>
                  <a:srgbClr val="1F2328"/>
                </a:solidFill>
                <a:latin typeface="Courier New"/>
              </a:rPr>
              <a:t>)</a:t>
            </a:r>
            <a:r>
              <a:rPr sz="1700" b="0" i="0">
                <a:solidFill>
                  <a:srgbClr val="1F2328"/>
                </a:solidFill>
                <a:latin typeface="Courier New"/>
              </a:rPr>
              <a:t>.</a:t>
            </a:r>
            <a:r>
              <a:rPr sz="1700" b="0" i="0">
                <a:solidFill>
                  <a:srgbClr val="1F2328"/>
                </a:solidFill>
                <a:latin typeface="Courier New"/>
              </a:rPr>
              <a:t>all</a:t>
            </a:r>
            <a:r>
              <a:rPr sz="1700" b="0" i="0">
                <a:solidFill>
                  <a:srgbClr val="1F2328"/>
                </a:solidFill>
                <a:latin typeface="Courier New"/>
              </a:rPr>
              <a:t>(</a:t>
            </a:r>
            <a:r>
              <a:rPr sz="1700" b="0" i="0">
                <a:solidFill>
                  <a:srgbClr val="1F2328"/>
                </a:solidFill>
                <a:latin typeface="Courier New"/>
              </a:rPr>
              <a:t>)</a:t>
            </a:r>
            <a:r>
              <a:rPr sz="1700" b="0" i="0">
                <a:solidFill>
                  <a:srgbClr val="1F2328"/>
                </a:solidFill>
                <a:latin typeface="Courier New"/>
              </a:rPr>
              <a:t>)</a:t>
            </a:r>
          </a:p>
          <a:p>
            <a:r>
              <a:rPr sz="1700" b="0" i="0">
                <a:solidFill>
                  <a:srgbClr val="1F2328"/>
                </a:solidFill>
                <a:latin typeface="Courier New"/>
              </a:rPr>
              <a:t>print</a:t>
            </a:r>
            <a:r>
              <a:rPr sz="1700" b="0" i="0">
                <a:solidFill>
                  <a:srgbClr val="1F2328"/>
                </a:solidFill>
                <a:latin typeface="Courier New"/>
              </a:rPr>
              <a:t>(</a:t>
            </a:r>
            <a:r>
              <a:rPr sz="1700" b="0" i="0">
                <a:solidFill>
                  <a:srgbClr val="1F2328"/>
                </a:solidFill>
                <a:latin typeface="Courier New"/>
              </a:rPr>
              <a:t>np</a:t>
            </a:r>
            <a:r>
              <a:rPr sz="1700" b="0" i="0">
                <a:solidFill>
                  <a:srgbClr val="1F2328"/>
                </a:solidFill>
                <a:latin typeface="Courier New"/>
              </a:rPr>
              <a:t>.</a:t>
            </a:r>
            <a:r>
              <a:rPr sz="1700" b="0" i="0">
                <a:solidFill>
                  <a:srgbClr val="1F2328"/>
                </a:solidFill>
                <a:latin typeface="Courier New"/>
              </a:rPr>
              <a:t>__version__</a:t>
            </a:r>
            <a:r>
              <a:rPr sz="1700" b="0" i="0">
                <a:solidFill>
                  <a:srgbClr val="1F2328"/>
                </a:solidFill>
                <a:latin typeface="Courier New"/>
              </a:rPr>
              <a:t>,</a:t>
            </a:r>
            <a:r>
              <a:rPr sz="1700" b="0" i="0">
                <a:solidFill>
                  <a:srgbClr val="1F2328"/>
                </a:solidFill>
                <a:latin typeface="Courier New"/>
              </a:rPr>
              <a:t> </a:t>
            </a:r>
            <a:r>
              <a:rPr sz="1700" b="0" i="0">
                <a:solidFill>
                  <a:srgbClr val="1F2328"/>
                </a:solidFill>
                <a:latin typeface="Courier New"/>
              </a:rPr>
              <a:t>pd</a:t>
            </a:r>
            <a:r>
              <a:rPr sz="1700" b="0" i="0">
                <a:solidFill>
                  <a:srgbClr val="1F2328"/>
                </a:solidFill>
                <a:latin typeface="Courier New"/>
              </a:rPr>
              <a:t>.</a:t>
            </a:r>
            <a:r>
              <a:rPr sz="1700" b="0" i="0">
                <a:solidFill>
                  <a:srgbClr val="1F2328"/>
                </a:solidFill>
                <a:latin typeface="Courier New"/>
              </a:rPr>
              <a:t>__version__</a:t>
            </a:r>
            <a:r>
              <a:rPr sz="1700" b="0" i="0">
                <a:solidFill>
                  <a:srgbClr val="1F2328"/>
                </a:solidFill>
                <a:latin typeface="Courier New"/>
              </a:rPr>
              <a:t>)</a:t>
            </a:r>
          </a:p>
        </p:txBody>
      </p:sp>
      <p:grpSp>
        <p:nvGrpSpPr>
          <p:cNvPr id="7" name="output"/>
          <p:cNvGrpSpPr/>
          <p:nvPr/>
        </p:nvGrpSpPr>
        <p:grpSpPr>
          <a:xfrm>
            <a:off x="685800" y="3834384"/>
            <a:ext cx="6949440" cy="737615"/>
            <a:chOff x="685800" y="3834384"/>
            <a:chExt cx="6949440" cy="737615"/>
          </a:xfrm>
        </p:grpSpPr>
        <p:sp>
          <p:nvSpPr>
            <p:cNvPr id="8" name="TextBox 7"/>
            <p:cNvSpPr txBox="1"/>
            <p:nvPr/>
          </p:nvSpPr>
          <p:spPr>
            <a:xfrm>
              <a:off x="685800" y="383438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4090416"/>
              <a:ext cx="6949440" cy="481583"/>
            </a:xfrm>
            <a:prstGeom prst="rect">
              <a:avLst/>
            </a:prstGeom>
            <a:solidFill>
              <a:srgbClr val="F5F3EF"/>
            </a:solidFill>
            <a:ln>
              <a:noFill/>
            </a:ln>
          </p:spPr>
          <p:txBody>
            <a:bodyPr rtlCol="0" anchor="ctr"/>
            <a:lstStyle/>
            <a:p>
              <a:pPr algn="ctr"/>
            </a:p>
          </p:txBody>
        </p:sp>
        <p:sp>
          <p:nvSpPr>
            <p:cNvPr id="10" name="TextBox 9"/>
            <p:cNvSpPr txBox="1"/>
            <p:nvPr/>
          </p:nvSpPr>
          <p:spPr>
            <a:xfrm>
              <a:off x="868680" y="4181856"/>
              <a:ext cx="6675120" cy="371855"/>
            </a:xfrm>
            <a:prstGeom prst="rect">
              <a:avLst/>
            </a:prstGeom>
            <a:noFill/>
          </p:spPr>
          <p:txBody>
            <a:bodyPr wrap="none" lIns="0" rIns="0" tIns="0" bIns="0">
              <a:spAutoFit/>
            </a:bodyPr>
            <a:lstStyle/>
            <a:p>
              <a:r>
                <a:rPr sz="1400" b="0" i="0">
                  <a:solidFill>
                    <a:srgbClr val="1F2328"/>
                  </a:solidFill>
                  <a:latin typeface="Courier New"/>
                </a:rPr>
                <a:t>[ 9 77 65 44 43] [ 9 77 65 44 43] True</a:t>
              </a:r>
            </a:p>
            <a:p>
              <a:r>
                <a:rPr sz="1400" b="0" i="0">
                  <a:solidFill>
                    <a:srgbClr val="1F2328"/>
                  </a:solidFill>
                  <a:latin typeface="Courier New"/>
                </a:rPr>
                <a:t>2.2.6 2.3.3</a:t>
              </a:r>
            </a:p>
          </p:txBody>
        </p:sp>
      </p:grpSp>
      <p:cxnSp>
        <p:nvCxnSpPr>
          <p:cNvPr id="11" name="Connector 10"/>
          <p:cNvCxnSpPr/>
          <p:nvPr/>
        </p:nvCxnSpPr>
        <p:spPr>
          <a:xfrm>
            <a:off x="8046719" y="1618488"/>
            <a:ext cx="3459176" cy="0"/>
          </a:xfrm>
          <a:prstGeom prst="line">
            <a:avLst/>
          </a:prstGeom>
          <a:ln w="15875">
            <a:solidFill>
              <a:srgbClr val="1F2328"/>
            </a:solidFill>
          </a:ln>
        </p:spPr>
      </p:cxnSp>
      <p:grpSp>
        <p:nvGrpSpPr>
          <p:cNvPr id="12" name="note-1"/>
          <p:cNvGrpSpPr/>
          <p:nvPr/>
        </p:nvGrpSpPr>
        <p:grpSpPr>
          <a:xfrm>
            <a:off x="8046719" y="1691640"/>
            <a:ext cx="3459176" cy="1207008"/>
            <a:chOff x="8046719" y="1691640"/>
            <a:chExt cx="3459176" cy="1207008"/>
          </a:xfrm>
        </p:grpSpPr>
        <p:sp>
          <p:nvSpPr>
            <p:cNvPr id="13" name="TextBox 12"/>
            <p:cNvSpPr txBox="1"/>
            <p:nvPr/>
          </p:nvSpPr>
          <p:spPr>
            <a:xfrm>
              <a:off x="8046719" y="169164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1</a:t>
              </a:r>
            </a:p>
          </p:txBody>
        </p:sp>
        <p:sp>
          <p:nvSpPr>
            <p:cNvPr id="14" name="TextBox 13"/>
            <p:cNvSpPr txBox="1"/>
            <p:nvPr/>
          </p:nvSpPr>
          <p:spPr>
            <a:xfrm>
              <a:off x="8412480" y="169164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Two generators with seed 42 each draw five whole numbers.</a:t>
              </a:r>
            </a:p>
          </p:txBody>
        </p:sp>
        <p:cxnSp>
          <p:nvCxnSpPr>
            <p:cNvPr id="15" name="Connector 14"/>
            <p:cNvCxnSpPr/>
            <p:nvPr/>
          </p:nvCxnSpPr>
          <p:spPr>
            <a:xfrm>
              <a:off x="8046719" y="2898648"/>
              <a:ext cx="3459176" cy="0"/>
            </a:xfrm>
            <a:prstGeom prst="line">
              <a:avLst/>
            </a:prstGeom>
            <a:ln w="6350">
              <a:solidFill>
                <a:srgbClr val="C9C5BC"/>
              </a:solidFill>
            </a:ln>
          </p:spPr>
        </p:cxnSp>
      </p:grpSp>
      <p:grpSp>
        <p:nvGrpSpPr>
          <p:cNvPr id="16" name="note-2"/>
          <p:cNvGrpSpPr/>
          <p:nvPr/>
        </p:nvGrpSpPr>
        <p:grpSpPr>
          <a:xfrm>
            <a:off x="8046719" y="2971800"/>
            <a:ext cx="3459176" cy="1207007"/>
            <a:chOff x="8046719" y="2971800"/>
            <a:chExt cx="3459176" cy="1207007"/>
          </a:xfrm>
        </p:grpSpPr>
        <p:sp>
          <p:nvSpPr>
            <p:cNvPr id="17" name="TextBox 16"/>
            <p:cNvSpPr txBox="1"/>
            <p:nvPr/>
          </p:nvSpPr>
          <p:spPr>
            <a:xfrm>
              <a:off x="8046719" y="297180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2</a:t>
              </a:r>
            </a:p>
          </p:txBody>
        </p:sp>
        <p:sp>
          <p:nvSpPr>
            <p:cNvPr id="18" name="TextBox 17"/>
            <p:cNvSpPr txBox="1"/>
            <p:nvPr/>
          </p:nvSpPr>
          <p:spPr>
            <a:xfrm>
              <a:off x="8412480" y="297180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all checks that every pair of numbers matches.</a:t>
              </a:r>
            </a:p>
          </p:txBody>
        </p:sp>
        <p:cxnSp>
          <p:nvCxnSpPr>
            <p:cNvPr id="19" name="Connector 18"/>
            <p:cNvCxnSpPr/>
            <p:nvPr/>
          </p:nvCxnSpPr>
          <p:spPr>
            <a:xfrm>
              <a:off x="8046719" y="4178807"/>
              <a:ext cx="3459176" cy="0"/>
            </a:xfrm>
            <a:prstGeom prst="line">
              <a:avLst/>
            </a:prstGeom>
            <a:ln w="6350">
              <a:solidFill>
                <a:srgbClr val="C9C5BC"/>
              </a:solidFill>
            </a:ln>
          </p:spPr>
        </p:cxnSp>
      </p:grpSp>
      <p:grpSp>
        <p:nvGrpSpPr>
          <p:cNvPr id="20" name="note-3"/>
          <p:cNvGrpSpPr/>
          <p:nvPr/>
        </p:nvGrpSpPr>
        <p:grpSpPr>
          <a:xfrm>
            <a:off x="8046719" y="4251959"/>
            <a:ext cx="3459176" cy="1207008"/>
            <a:chOff x="8046719" y="4251959"/>
            <a:chExt cx="3459176" cy="1207008"/>
          </a:xfrm>
        </p:grpSpPr>
        <p:sp>
          <p:nvSpPr>
            <p:cNvPr id="21" name="TextBox 20"/>
            <p:cNvSpPr txBox="1"/>
            <p:nvPr/>
          </p:nvSpPr>
          <p:spPr>
            <a:xfrm>
              <a:off x="8046719" y="4251959"/>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3</a:t>
              </a:r>
            </a:p>
          </p:txBody>
        </p:sp>
        <p:sp>
          <p:nvSpPr>
            <p:cNvPr id="22" name="TextBox 21"/>
            <p:cNvSpPr txBox="1"/>
            <p:nvPr/>
          </p:nvSpPr>
          <p:spPr>
            <a:xfrm>
              <a:off x="8412480" y="4251959"/>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__version__ prints the version of each library.</a:t>
              </a:r>
            </a:p>
          </p:txBody>
        </p:sp>
        <p:cxnSp>
          <p:nvCxnSpPr>
            <p:cNvPr id="23" name="Connector 22"/>
            <p:cNvCxnSpPr/>
            <p:nvPr/>
          </p:nvCxnSpPr>
          <p:spPr>
            <a:xfrm>
              <a:off x="8046719" y="5458967"/>
              <a:ext cx="3459176" cy="0"/>
            </a:xfrm>
            <a:prstGeom prst="line">
              <a:avLst/>
            </a:prstGeom>
            <a:ln w="6350">
              <a:solidFill>
                <a:srgbClr val="C9C5BC"/>
              </a:solidFill>
            </a:ln>
          </p:spPr>
        </p:cxn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F2328"/>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F3F0EA"/>
                </a:solidFill>
                <a:latin typeface="Cambria"/>
              </a:rPr>
              <a:t>A notebook that only works in your order</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B8B2A7"/>
                </a:solidFill>
                <a:latin typeface="Calibri"/>
              </a:rPr>
              <a:t>Session 23   Ship it: reproducible work, a small app and responsible use</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B8B2A7"/>
                </a:solidFill>
                <a:latin typeface="Calibri"/>
              </a:rPr>
              <a:t>7</a:t>
            </a:r>
          </a:p>
        </p:txBody>
      </p:sp>
      <p:grpSp>
        <p:nvGrpSpPr>
          <p:cNvPr id="5" name="trap-1"/>
          <p:cNvGrpSpPr/>
          <p:nvPr/>
        </p:nvGrpSpPr>
        <p:grpSpPr>
          <a:xfrm>
            <a:off x="685800" y="1691640"/>
            <a:ext cx="3271418" cy="4434839"/>
            <a:chOff x="685800" y="1691640"/>
            <a:chExt cx="3271418" cy="4434839"/>
          </a:xfrm>
        </p:grpSpPr>
        <p:cxnSp>
          <p:nvCxnSpPr>
            <p:cNvPr id="6" name="Connector 5"/>
            <p:cNvCxnSpPr/>
            <p:nvPr/>
          </p:nvCxnSpPr>
          <p:spPr>
            <a:xfrm>
              <a:off x="685800" y="1691640"/>
              <a:ext cx="3271418" cy="0"/>
            </a:xfrm>
            <a:prstGeom prst="line">
              <a:avLst/>
            </a:prstGeom>
            <a:ln w="12700">
              <a:solidFill>
                <a:srgbClr val="B8B2A7"/>
              </a:solidFill>
            </a:ln>
          </p:spPr>
        </p:cxnSp>
        <p:sp>
          <p:nvSpPr>
            <p:cNvPr id="7" name="TextBox 6"/>
            <p:cNvSpPr txBox="1"/>
            <p:nvPr/>
          </p:nvSpPr>
          <p:spPr>
            <a:xfrm>
              <a:off x="685800" y="1828800"/>
              <a:ext cx="3271418" cy="365760"/>
            </a:xfrm>
            <a:prstGeom prst="rect">
              <a:avLst/>
            </a:prstGeom>
            <a:noFill/>
          </p:spPr>
          <p:txBody>
            <a:bodyPr wrap="square" lIns="0" rIns="0" tIns="18288" bIns="18288" anchor="t">
              <a:spAutoFit/>
            </a:bodyPr>
            <a:lstStyle/>
            <a:p>
              <a:pPr algn="l"/>
              <a:r>
                <a:rPr sz="1800" b="1" i="0">
                  <a:solidFill>
                    <a:srgbClr val="E3A78F"/>
                  </a:solidFill>
                  <a:latin typeface="Cambria"/>
                </a:rPr>
                <a:t>What it looks like</a:t>
              </a:r>
            </a:p>
          </p:txBody>
        </p:sp>
        <p:sp>
          <p:nvSpPr>
            <p:cNvPr id="8" name="TextBox 7"/>
            <p:cNvSpPr txBox="1"/>
            <p:nvPr/>
          </p:nvSpPr>
          <p:spPr>
            <a:xfrm>
              <a:off x="685800" y="2331720"/>
              <a:ext cx="3271418" cy="3794759"/>
            </a:xfrm>
            <a:prstGeom prst="rect">
              <a:avLst/>
            </a:prstGeom>
            <a:noFill/>
          </p:spPr>
          <p:txBody>
            <a:bodyPr wrap="square" lIns="0" rIns="0" tIns="18288" bIns="18288" anchor="t">
              <a:spAutoFit/>
            </a:bodyPr>
            <a:lstStyle/>
            <a:p>
              <a:pPr algn="l"/>
              <a:r>
                <a:rPr sz="2400" b="0" i="0">
                  <a:solidFill>
                    <a:srgbClr val="F3F0EA"/>
                  </a:solidFill>
                  <a:latin typeface="Calibri"/>
                </a:rPr>
                <a:t>It ran perfectly for you. Your colleague opens it, runs it from the top, and it stops with NameError: name 'loans_clean' is not defined.</a:t>
              </a:r>
            </a:p>
          </p:txBody>
        </p:sp>
      </p:grpSp>
      <p:grpSp>
        <p:nvGrpSpPr>
          <p:cNvPr id="9" name="trap-2"/>
          <p:cNvGrpSpPr/>
          <p:nvPr/>
        </p:nvGrpSpPr>
        <p:grpSpPr>
          <a:xfrm>
            <a:off x="4460138" y="1691640"/>
            <a:ext cx="3271418" cy="4434839"/>
            <a:chOff x="4460138" y="1691640"/>
            <a:chExt cx="3271418" cy="4434839"/>
          </a:xfrm>
        </p:grpSpPr>
        <p:cxnSp>
          <p:nvCxnSpPr>
            <p:cNvPr id="10" name="Connector 9"/>
            <p:cNvCxnSpPr/>
            <p:nvPr/>
          </p:nvCxnSpPr>
          <p:spPr>
            <a:xfrm>
              <a:off x="4460138" y="1691640"/>
              <a:ext cx="3271418" cy="0"/>
            </a:xfrm>
            <a:prstGeom prst="line">
              <a:avLst/>
            </a:prstGeom>
            <a:ln w="12700">
              <a:solidFill>
                <a:srgbClr val="B8B2A7"/>
              </a:solidFill>
            </a:ln>
          </p:spPr>
        </p:cxnSp>
        <p:sp>
          <p:nvSpPr>
            <p:cNvPr id="11" name="TextBox 10"/>
            <p:cNvSpPr txBox="1"/>
            <p:nvPr/>
          </p:nvSpPr>
          <p:spPr>
            <a:xfrm>
              <a:off x="4460138" y="1828800"/>
              <a:ext cx="3271418" cy="365760"/>
            </a:xfrm>
            <a:prstGeom prst="rect">
              <a:avLst/>
            </a:prstGeom>
            <a:noFill/>
          </p:spPr>
          <p:txBody>
            <a:bodyPr wrap="square" lIns="0" rIns="0" tIns="18288" bIns="18288" anchor="t">
              <a:spAutoFit/>
            </a:bodyPr>
            <a:lstStyle/>
            <a:p>
              <a:pPr algn="l"/>
              <a:r>
                <a:rPr sz="1800" b="1" i="0">
                  <a:solidFill>
                    <a:srgbClr val="E3A78F"/>
                  </a:solidFill>
                  <a:latin typeface="Cambria"/>
                </a:rPr>
                <a:t>Why it goes wrong</a:t>
              </a:r>
            </a:p>
          </p:txBody>
        </p:sp>
        <p:sp>
          <p:nvSpPr>
            <p:cNvPr id="12" name="TextBox 11"/>
            <p:cNvSpPr txBox="1"/>
            <p:nvPr/>
          </p:nvSpPr>
          <p:spPr>
            <a:xfrm>
              <a:off x="4460138" y="2331720"/>
              <a:ext cx="3271418" cy="3794759"/>
            </a:xfrm>
            <a:prstGeom prst="rect">
              <a:avLst/>
            </a:prstGeom>
            <a:noFill/>
          </p:spPr>
          <p:txBody>
            <a:bodyPr wrap="square" lIns="0" rIns="0" tIns="18288" bIns="18288" anchor="t">
              <a:spAutoFit/>
            </a:bodyPr>
            <a:lstStyle/>
            <a:p>
              <a:pPr algn="l"/>
              <a:r>
                <a:rPr sz="2400" b="0" i="0">
                  <a:solidFill>
                    <a:srgbClr val="F3F0EA"/>
                  </a:solidFill>
                  <a:latin typeface="Calibri"/>
                </a:rPr>
                <a:t>You ran cells in a different order, or deleted the cell that made that name. Your session still remembered it. Theirs starts empty.</a:t>
              </a:r>
            </a:p>
          </p:txBody>
        </p:sp>
      </p:grpSp>
      <p:grpSp>
        <p:nvGrpSpPr>
          <p:cNvPr id="13" name="trap-3"/>
          <p:cNvGrpSpPr/>
          <p:nvPr/>
        </p:nvGrpSpPr>
        <p:grpSpPr>
          <a:xfrm>
            <a:off x="8234476" y="1691640"/>
            <a:ext cx="3271419" cy="4434839"/>
            <a:chOff x="8234476" y="1691640"/>
            <a:chExt cx="3271419" cy="4434839"/>
          </a:xfrm>
        </p:grpSpPr>
        <p:cxnSp>
          <p:nvCxnSpPr>
            <p:cNvPr id="14" name="Connector 13"/>
            <p:cNvCxnSpPr/>
            <p:nvPr/>
          </p:nvCxnSpPr>
          <p:spPr>
            <a:xfrm>
              <a:off x="8234476" y="1691640"/>
              <a:ext cx="3271419" cy="0"/>
            </a:xfrm>
            <a:prstGeom prst="line">
              <a:avLst/>
            </a:prstGeom>
            <a:ln w="12700">
              <a:solidFill>
                <a:srgbClr val="B8B2A7"/>
              </a:solidFill>
            </a:ln>
          </p:spPr>
        </p:cxnSp>
        <p:sp>
          <p:nvSpPr>
            <p:cNvPr id="15" name="TextBox 14"/>
            <p:cNvSpPr txBox="1"/>
            <p:nvPr/>
          </p:nvSpPr>
          <p:spPr>
            <a:xfrm>
              <a:off x="8234476" y="1828800"/>
              <a:ext cx="3271418" cy="365760"/>
            </a:xfrm>
            <a:prstGeom prst="rect">
              <a:avLst/>
            </a:prstGeom>
            <a:noFill/>
          </p:spPr>
          <p:txBody>
            <a:bodyPr wrap="square" lIns="0" rIns="0" tIns="18288" bIns="18288" anchor="t">
              <a:spAutoFit/>
            </a:bodyPr>
            <a:lstStyle/>
            <a:p>
              <a:pPr algn="l"/>
              <a:r>
                <a:rPr sz="1800" b="1" i="0">
                  <a:solidFill>
                    <a:srgbClr val="F3F0EA"/>
                  </a:solidFill>
                  <a:latin typeface="Cambria"/>
                </a:rPr>
                <a:t>The fix</a:t>
              </a:r>
            </a:p>
          </p:txBody>
        </p:sp>
        <p:sp>
          <p:nvSpPr>
            <p:cNvPr id="16" name="TextBox 15"/>
            <p:cNvSpPr txBox="1"/>
            <p:nvPr/>
          </p:nvSpPr>
          <p:spPr>
            <a:xfrm>
              <a:off x="8234476" y="2331720"/>
              <a:ext cx="3271418" cy="3794759"/>
            </a:xfrm>
            <a:prstGeom prst="rect">
              <a:avLst/>
            </a:prstGeom>
            <a:noFill/>
          </p:spPr>
          <p:txBody>
            <a:bodyPr wrap="square" lIns="0" rIns="0" tIns="18288" bIns="18288" anchor="t">
              <a:spAutoFit/>
            </a:bodyPr>
            <a:lstStyle/>
            <a:p>
              <a:pPr algn="l"/>
              <a:r>
                <a:rPr sz="2400" b="0" i="0">
                  <a:solidFill>
                    <a:srgbClr val="F3F0EA"/>
                  </a:solidFill>
                  <a:latin typeface="Calibri"/>
                </a:rPr>
                <a:t>In Colab choose Runtime, then Restart session and run all. Fix the first error it meets, and repeat until it runs top to bottom.</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Save a trained model to a file and load it back</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23   Ship it: reproducible work, a small app and responsible use</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8</a:t>
            </a:r>
          </a:p>
        </p:txBody>
      </p:sp>
      <p:sp>
        <p:nvSpPr>
          <p:cNvPr id="5" name="Rectangle 4"/>
          <p:cNvSpPr/>
          <p:nvPr/>
        </p:nvSpPr>
        <p:spPr>
          <a:xfrm>
            <a:off x="685800" y="1600200"/>
            <a:ext cx="6949440" cy="209397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6675120" cy="1819656"/>
          </a:xfrm>
          <a:prstGeom prst="rect">
            <a:avLst/>
          </a:prstGeom>
          <a:noFill/>
        </p:spPr>
        <p:txBody>
          <a:bodyPr wrap="none" lIns="0" rIns="0" tIns="0" bIns="0">
            <a:spAutoFit/>
          </a:bodyPr>
          <a:lstStyle/>
          <a:p>
            <a:r>
              <a:rPr sz="1950" b="1" i="0">
                <a:solidFill>
                  <a:srgbClr val="1F2328"/>
                </a:solidFill>
                <a:latin typeface="Courier New"/>
              </a:rPr>
              <a:t>import</a:t>
            </a:r>
            <a:r>
              <a:rPr sz="1950" b="0" i="0">
                <a:solidFill>
                  <a:srgbClr val="1F2328"/>
                </a:solidFill>
                <a:latin typeface="Courier New"/>
              </a:rPr>
              <a:t> </a:t>
            </a:r>
            <a:r>
              <a:rPr sz="1950" b="0" i="0">
                <a:solidFill>
                  <a:srgbClr val="1F2328"/>
                </a:solidFill>
                <a:latin typeface="Courier New"/>
              </a:rPr>
              <a:t>joblib</a:t>
            </a:r>
          </a:p>
          <a:p>
            <a:r>
              <a:rPr sz="1950" b="0" i="0">
                <a:solidFill>
                  <a:srgbClr val="1F2328"/>
                </a:solidFill>
                <a:latin typeface="Courier New"/>
              </a:rPr>
              <a:t> </a:t>
            </a:r>
          </a:p>
          <a:p>
            <a:r>
              <a:rPr sz="1950" b="0" i="0">
                <a:solidFill>
                  <a:srgbClr val="1F2328"/>
                </a:solidFill>
                <a:latin typeface="Courier New"/>
              </a:rPr>
              <a:t>joblib</a:t>
            </a:r>
            <a:r>
              <a:rPr sz="1950" b="0" i="0">
                <a:solidFill>
                  <a:srgbClr val="1F2328"/>
                </a:solidFill>
                <a:latin typeface="Courier New"/>
              </a:rPr>
              <a:t>.</a:t>
            </a:r>
            <a:r>
              <a:rPr sz="1950" b="0" i="0">
                <a:solidFill>
                  <a:srgbClr val="1F2328"/>
                </a:solidFill>
                <a:latin typeface="Courier New"/>
              </a:rPr>
              <a:t>dump</a:t>
            </a:r>
            <a:r>
              <a:rPr sz="1950" b="0" i="0">
                <a:solidFill>
                  <a:srgbClr val="1F2328"/>
                </a:solidFill>
                <a:latin typeface="Courier New"/>
              </a:rPr>
              <a:t>(</a:t>
            </a:r>
            <a:r>
              <a:rPr sz="1950" b="0" i="0">
                <a:solidFill>
                  <a:srgbClr val="1F2328"/>
                </a:solidFill>
                <a:latin typeface="Courier New"/>
              </a:rPr>
              <a:t>model</a:t>
            </a:r>
            <a:r>
              <a:rPr sz="1950" b="0" i="0">
                <a:solidFill>
                  <a:srgbClr val="1F2328"/>
                </a:solidFill>
                <a:latin typeface="Courier New"/>
              </a:rPr>
              <a:t>,</a:t>
            </a:r>
            <a:r>
              <a:rPr sz="1950" b="0" i="0">
                <a:solidFill>
                  <a:srgbClr val="1F2328"/>
                </a:solidFill>
                <a:latin typeface="Courier New"/>
              </a:rPr>
              <a:t> </a:t>
            </a:r>
            <a:r>
              <a:rPr sz="1950" b="0" i="0">
                <a:solidFill>
                  <a:srgbClr val="B04A2B"/>
                </a:solidFill>
                <a:latin typeface="Courier New"/>
              </a:rPr>
              <a:t>'loan_model.joblib'</a:t>
            </a:r>
            <a:r>
              <a:rPr sz="1950" b="0" i="0">
                <a:solidFill>
                  <a:srgbClr val="1F2328"/>
                </a:solidFill>
                <a:latin typeface="Courier New"/>
              </a:rPr>
              <a:t>)</a:t>
            </a:r>
          </a:p>
          <a:p>
            <a:r>
              <a:rPr sz="1950" b="0" i="0">
                <a:solidFill>
                  <a:srgbClr val="1F2328"/>
                </a:solidFill>
                <a:latin typeface="Courier New"/>
              </a:rPr>
              <a:t> </a:t>
            </a:r>
          </a:p>
          <a:p>
            <a:r>
              <a:rPr sz="1950" b="0" i="0">
                <a:solidFill>
                  <a:srgbClr val="1F2328"/>
                </a:solidFill>
                <a:latin typeface="Courier New"/>
              </a:rPr>
              <a:t>loaded</a:t>
            </a:r>
            <a:r>
              <a:rPr sz="1950" b="0" i="0">
                <a:solidFill>
                  <a:srgbClr val="1F2328"/>
                </a:solidFill>
                <a:latin typeface="Courier New"/>
              </a:rPr>
              <a:t> </a:t>
            </a:r>
            <a:r>
              <a:rPr sz="1950" b="0" i="0">
                <a:solidFill>
                  <a:srgbClr val="1F2328"/>
                </a:solidFill>
                <a:latin typeface="Courier New"/>
              </a:rPr>
              <a:t>=</a:t>
            </a:r>
            <a:r>
              <a:rPr sz="1950" b="0" i="0">
                <a:solidFill>
                  <a:srgbClr val="1F2328"/>
                </a:solidFill>
                <a:latin typeface="Courier New"/>
              </a:rPr>
              <a:t> </a:t>
            </a:r>
            <a:r>
              <a:rPr sz="1950" b="0" i="0">
                <a:solidFill>
                  <a:srgbClr val="1F2328"/>
                </a:solidFill>
                <a:latin typeface="Courier New"/>
              </a:rPr>
              <a:t>joblib</a:t>
            </a:r>
            <a:r>
              <a:rPr sz="1950" b="0" i="0">
                <a:solidFill>
                  <a:srgbClr val="1F2328"/>
                </a:solidFill>
                <a:latin typeface="Courier New"/>
              </a:rPr>
              <a:t>.</a:t>
            </a:r>
            <a:r>
              <a:rPr sz="1950" b="0" i="0">
                <a:solidFill>
                  <a:srgbClr val="1F2328"/>
                </a:solidFill>
                <a:latin typeface="Courier New"/>
              </a:rPr>
              <a:t>load</a:t>
            </a:r>
            <a:r>
              <a:rPr sz="1950" b="0" i="0">
                <a:solidFill>
                  <a:srgbClr val="1F2328"/>
                </a:solidFill>
                <a:latin typeface="Courier New"/>
              </a:rPr>
              <a:t>(</a:t>
            </a:r>
            <a:r>
              <a:rPr sz="1950" b="0" i="0">
                <a:solidFill>
                  <a:srgbClr val="B04A2B"/>
                </a:solidFill>
                <a:latin typeface="Courier New"/>
              </a:rPr>
              <a:t>'loan_model.joblib'</a:t>
            </a:r>
            <a:r>
              <a:rPr sz="1950" b="0" i="0">
                <a:solidFill>
                  <a:srgbClr val="1F2328"/>
                </a:solidFill>
                <a:latin typeface="Courier New"/>
              </a:rPr>
              <a:t>)</a:t>
            </a:r>
          </a:p>
          <a:p>
            <a:r>
              <a:rPr sz="1950" b="0" i="0">
                <a:solidFill>
                  <a:srgbClr val="1F2328"/>
                </a:solidFill>
                <a:latin typeface="Courier New"/>
              </a:rPr>
              <a:t>print</a:t>
            </a:r>
            <a:r>
              <a:rPr sz="1950" b="0" i="0">
                <a:solidFill>
                  <a:srgbClr val="1F2328"/>
                </a:solidFill>
                <a:latin typeface="Courier New"/>
              </a:rPr>
              <a:t>(</a:t>
            </a:r>
            <a:r>
              <a:rPr sz="1950" b="0" i="0">
                <a:solidFill>
                  <a:srgbClr val="1F2328"/>
                </a:solidFill>
                <a:latin typeface="Courier New"/>
              </a:rPr>
              <a:t>loaded</a:t>
            </a:r>
            <a:r>
              <a:rPr sz="1950" b="0" i="0">
                <a:solidFill>
                  <a:srgbClr val="1F2328"/>
                </a:solidFill>
                <a:latin typeface="Courier New"/>
              </a:rPr>
              <a:t>.</a:t>
            </a:r>
            <a:r>
              <a:rPr sz="1950" b="0" i="0">
                <a:solidFill>
                  <a:srgbClr val="1F2328"/>
                </a:solidFill>
                <a:latin typeface="Courier New"/>
              </a:rPr>
              <a:t>predict_proba</a:t>
            </a:r>
            <a:r>
              <a:rPr sz="1950" b="0" i="0">
                <a:solidFill>
                  <a:srgbClr val="1F2328"/>
                </a:solidFill>
                <a:latin typeface="Courier New"/>
              </a:rPr>
              <a:t>(</a:t>
            </a:r>
            <a:r>
              <a:rPr sz="1950" b="0" i="0">
                <a:solidFill>
                  <a:srgbClr val="1F2328"/>
                </a:solidFill>
                <a:latin typeface="Courier New"/>
              </a:rPr>
              <a:t>X_test</a:t>
            </a:r>
            <a:r>
              <a:rPr sz="1950" b="0" i="0">
                <a:solidFill>
                  <a:srgbClr val="1F2328"/>
                </a:solidFill>
                <a:latin typeface="Courier New"/>
              </a:rPr>
              <a:t>.</a:t>
            </a:r>
            <a:r>
              <a:rPr sz="1950" b="0" i="0">
                <a:solidFill>
                  <a:srgbClr val="1F2328"/>
                </a:solidFill>
                <a:latin typeface="Courier New"/>
              </a:rPr>
              <a:t>head</a:t>
            </a:r>
            <a:r>
              <a:rPr sz="1950" b="0" i="0">
                <a:solidFill>
                  <a:srgbClr val="1F2328"/>
                </a:solidFill>
                <a:latin typeface="Courier New"/>
              </a:rPr>
              <a:t>(</a:t>
            </a:r>
            <a:r>
              <a:rPr sz="1950" b="0" i="0">
                <a:solidFill>
                  <a:srgbClr val="3B4046"/>
                </a:solidFill>
                <a:latin typeface="Courier New"/>
              </a:rPr>
              <a:t>1</a:t>
            </a:r>
            <a:r>
              <a:rPr sz="1950" b="0" i="0">
                <a:solidFill>
                  <a:srgbClr val="1F2328"/>
                </a:solidFill>
                <a:latin typeface="Courier New"/>
              </a:rPr>
              <a:t>)</a:t>
            </a:r>
            <a:r>
              <a:rPr sz="1950" b="0" i="0">
                <a:solidFill>
                  <a:srgbClr val="1F2328"/>
                </a:solidFill>
                <a:latin typeface="Courier New"/>
              </a:rPr>
              <a:t>)</a:t>
            </a:r>
            <a:r>
              <a:rPr sz="1950" b="0" i="0">
                <a:solidFill>
                  <a:srgbClr val="1F2328"/>
                </a:solidFill>
                <a:latin typeface="Courier New"/>
              </a:rPr>
              <a:t>)</a:t>
            </a:r>
          </a:p>
        </p:txBody>
      </p:sp>
      <p:cxnSp>
        <p:nvCxnSpPr>
          <p:cNvPr id="7" name="Connector 6"/>
          <p:cNvCxnSpPr/>
          <p:nvPr/>
        </p:nvCxnSpPr>
        <p:spPr>
          <a:xfrm>
            <a:off x="8046719" y="1618488"/>
            <a:ext cx="3459176" cy="0"/>
          </a:xfrm>
          <a:prstGeom prst="line">
            <a:avLst/>
          </a:prstGeom>
          <a:ln w="15875">
            <a:solidFill>
              <a:srgbClr val="1F2328"/>
            </a:solidFill>
          </a:ln>
        </p:spPr>
      </p:cxnSp>
      <p:grpSp>
        <p:nvGrpSpPr>
          <p:cNvPr id="8" name="note-1"/>
          <p:cNvGrpSpPr/>
          <p:nvPr/>
        </p:nvGrpSpPr>
        <p:grpSpPr>
          <a:xfrm>
            <a:off x="8046719" y="1691640"/>
            <a:ext cx="3459176" cy="1207008"/>
            <a:chOff x="8046719" y="1691640"/>
            <a:chExt cx="3459176" cy="1207008"/>
          </a:xfrm>
        </p:grpSpPr>
        <p:sp>
          <p:nvSpPr>
            <p:cNvPr id="9" name="TextBox 8"/>
            <p:cNvSpPr txBox="1"/>
            <p:nvPr/>
          </p:nvSpPr>
          <p:spPr>
            <a:xfrm>
              <a:off x="8046719" y="169164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1</a:t>
              </a:r>
            </a:p>
          </p:txBody>
        </p:sp>
        <p:sp>
          <p:nvSpPr>
            <p:cNvPr id="10" name="TextBox 9"/>
            <p:cNvSpPr txBox="1"/>
            <p:nvPr/>
          </p:nvSpPr>
          <p:spPr>
            <a:xfrm>
              <a:off x="8412480" y="169164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dump writes the trained model to a file.</a:t>
              </a:r>
            </a:p>
          </p:txBody>
        </p:sp>
        <p:cxnSp>
          <p:nvCxnSpPr>
            <p:cNvPr id="11" name="Connector 10"/>
            <p:cNvCxnSpPr/>
            <p:nvPr/>
          </p:nvCxnSpPr>
          <p:spPr>
            <a:xfrm>
              <a:off x="8046719" y="2898648"/>
              <a:ext cx="3459176" cy="0"/>
            </a:xfrm>
            <a:prstGeom prst="line">
              <a:avLst/>
            </a:prstGeom>
            <a:ln w="6350">
              <a:solidFill>
                <a:srgbClr val="C9C5BC"/>
              </a:solidFill>
            </a:ln>
          </p:spPr>
        </p:cxnSp>
      </p:grpSp>
      <p:grpSp>
        <p:nvGrpSpPr>
          <p:cNvPr id="12" name="note-2"/>
          <p:cNvGrpSpPr/>
          <p:nvPr/>
        </p:nvGrpSpPr>
        <p:grpSpPr>
          <a:xfrm>
            <a:off x="8046719" y="2971800"/>
            <a:ext cx="3459176" cy="1207007"/>
            <a:chOff x="8046719" y="2971800"/>
            <a:chExt cx="3459176" cy="1207007"/>
          </a:xfrm>
        </p:grpSpPr>
        <p:sp>
          <p:nvSpPr>
            <p:cNvPr id="13" name="TextBox 12"/>
            <p:cNvSpPr txBox="1"/>
            <p:nvPr/>
          </p:nvSpPr>
          <p:spPr>
            <a:xfrm>
              <a:off x="8046719" y="297180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2</a:t>
              </a:r>
            </a:p>
          </p:txBody>
        </p:sp>
        <p:sp>
          <p:nvSpPr>
            <p:cNvPr id="14" name="TextBox 13"/>
            <p:cNvSpPr txBox="1"/>
            <p:nvPr/>
          </p:nvSpPr>
          <p:spPr>
            <a:xfrm>
              <a:off x="8412480" y="297180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load reads it back with no retraining.</a:t>
              </a:r>
            </a:p>
          </p:txBody>
        </p:sp>
        <p:cxnSp>
          <p:nvCxnSpPr>
            <p:cNvPr id="15" name="Connector 14"/>
            <p:cNvCxnSpPr/>
            <p:nvPr/>
          </p:nvCxnSpPr>
          <p:spPr>
            <a:xfrm>
              <a:off x="8046719" y="4178807"/>
              <a:ext cx="3459176" cy="0"/>
            </a:xfrm>
            <a:prstGeom prst="line">
              <a:avLst/>
            </a:prstGeom>
            <a:ln w="6350">
              <a:solidFill>
                <a:srgbClr val="C9C5BC"/>
              </a:solidFill>
            </a:ln>
          </p:spPr>
        </p:cxnSp>
      </p:grpSp>
      <p:grpSp>
        <p:nvGrpSpPr>
          <p:cNvPr id="16" name="note-3"/>
          <p:cNvGrpSpPr/>
          <p:nvPr/>
        </p:nvGrpSpPr>
        <p:grpSpPr>
          <a:xfrm>
            <a:off x="8046719" y="4251959"/>
            <a:ext cx="3459176" cy="1207008"/>
            <a:chOff x="8046719" y="4251959"/>
            <a:chExt cx="3459176" cy="1207008"/>
          </a:xfrm>
        </p:grpSpPr>
        <p:sp>
          <p:nvSpPr>
            <p:cNvPr id="17" name="TextBox 16"/>
            <p:cNvSpPr txBox="1"/>
            <p:nvPr/>
          </p:nvSpPr>
          <p:spPr>
            <a:xfrm>
              <a:off x="8046719" y="4251959"/>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3</a:t>
              </a:r>
            </a:p>
          </p:txBody>
        </p:sp>
        <p:sp>
          <p:nvSpPr>
            <p:cNvPr id="18" name="TextBox 17"/>
            <p:cNvSpPr txBox="1"/>
            <p:nvPr/>
          </p:nvSpPr>
          <p:spPr>
            <a:xfrm>
              <a:off x="8412480" y="4251959"/>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predict_proba gives the chance of repaid, then of default.</a:t>
              </a:r>
            </a:p>
          </p:txBody>
        </p:sp>
        <p:cxnSp>
          <p:nvCxnSpPr>
            <p:cNvPr id="19" name="Connector 18"/>
            <p:cNvCxnSpPr/>
            <p:nvPr/>
          </p:nvCxnSpPr>
          <p:spPr>
            <a:xfrm>
              <a:off x="8046719" y="5458967"/>
              <a:ext cx="3459176" cy="0"/>
            </a:xfrm>
            <a:prstGeom prst="line">
              <a:avLst/>
            </a:prstGeom>
            <a:ln w="6350">
              <a:solidFill>
                <a:srgbClr val="C9C5BC"/>
              </a:solidFill>
            </a:ln>
          </p:spPr>
        </p:cxn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Git and GitHub in five steps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23   Ship it: reproducible work, a small app and responsible use</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9</a:t>
            </a:r>
          </a:p>
        </p:txBody>
      </p:sp>
      <p:graphicFrame>
        <p:nvGraphicFramePr>
          <p:cNvPr id="5" name="Table"/>
          <p:cNvGraphicFramePr>
            <a:graphicFrameLocks noGrp="1"/>
          </p:cNvGraphicFramePr>
          <p:nvPr/>
        </p:nvGraphicFramePr>
        <p:xfrm>
          <a:off x="685800" y="1600200"/>
          <a:ext cx="10820095" cy="3566157"/>
        </p:xfrm>
        <a:graphic>
          <a:graphicData uri="http://schemas.openxmlformats.org/drawingml/2006/table">
            <a:tbl>
              <a:tblPr firstRow="0" bandRow="0">
                <a:tableStyleId>{2D5ABB26-0587-4C30-8999-92F81FD0307C}</a:tableStyleId>
              </a:tblPr>
              <a:tblGrid>
                <a:gridCol w="786916"/>
                <a:gridCol w="5508412"/>
                <a:gridCol w="4524767"/>
              </a:tblGrid>
              <a:tr h="538886">
                <a:tc>
                  <a:txBody>
                    <a:bodyPr wrap="square"/>
                    <a:lstStyle/>
                    <a:p>
                      <a:r>
                        <a:rPr sz="2100" b="1" i="0">
                          <a:solidFill>
                            <a:srgbClr val="1F2328"/>
                          </a:solidFill>
                          <a:latin typeface="Calibri"/>
                        </a:rPr>
                        <a:t>Step</a:t>
                      </a:r>
                    </a:p>
                  </a:txBody>
                  <a:tcPr marL="0" marR="91440" marT="64008" marB="64008" anchor="ctr">
                    <a:lnL w="0">
                      <a:noFill/>
                    </a:lnL>
                    <a:lnR w="0">
                      <a:noFill/>
                    </a:lnR>
                    <a:lnT w="0">
                      <a:noFill/>
                    </a:lnT>
                    <a:lnB w="15875">
                      <a:solidFill>
                        <a:srgbClr val="1F2328"/>
                      </a:solidFill>
                    </a:lnB>
                    <a:noFill/>
                  </a:tcPr>
                </a:tc>
                <a:tc>
                  <a:txBody>
                    <a:bodyPr wrap="square"/>
                    <a:lstStyle/>
                    <a:p>
                      <a:r>
                        <a:rPr sz="2100" b="1" i="0">
                          <a:solidFill>
                            <a:srgbClr val="1F2328"/>
                          </a:solidFill>
                          <a:latin typeface="Calibri"/>
                        </a:rPr>
                        <a:t>Type this</a:t>
                      </a:r>
                    </a:p>
                  </a:txBody>
                  <a:tcPr marL="137160" marR="91440" marT="64008" marB="64008" anchor="ctr">
                    <a:lnL w="0">
                      <a:noFill/>
                    </a:lnL>
                    <a:lnR w="0">
                      <a:noFill/>
                    </a:lnR>
                    <a:lnT w="0">
                      <a:noFill/>
                    </a:lnT>
                    <a:lnB w="15875">
                      <a:solidFill>
                        <a:srgbClr val="1F2328"/>
                      </a:solidFill>
                    </a:lnB>
                    <a:noFill/>
                  </a:tcPr>
                </a:tc>
                <a:tc>
                  <a:txBody>
                    <a:bodyPr wrap="square"/>
                    <a:lstStyle/>
                    <a:p>
                      <a:r>
                        <a:rPr sz="2100" b="1" i="0">
                          <a:solidFill>
                            <a:srgbClr val="1F2328"/>
                          </a:solidFill>
                          <a:latin typeface="Calibri"/>
                        </a:rPr>
                        <a:t>What it does</a:t>
                      </a:r>
                    </a:p>
                  </a:txBody>
                  <a:tcPr marL="137160" marR="91440" marT="64008" marB="64008" anchor="ctr">
                    <a:lnL w="0">
                      <a:noFill/>
                    </a:lnL>
                    <a:lnR w="0">
                      <a:noFill/>
                    </a:lnR>
                    <a:lnT w="0">
                      <a:noFill/>
                    </a:lnT>
                    <a:lnB w="15875">
                      <a:solidFill>
                        <a:srgbClr val="1F2328"/>
                      </a:solidFill>
                    </a:lnB>
                    <a:noFill/>
                  </a:tcPr>
                </a:tc>
              </a:tr>
              <a:tr h="538886">
                <a:tc>
                  <a:txBody>
                    <a:bodyPr wrap="square"/>
                    <a:lstStyle/>
                    <a:p>
                      <a:r>
                        <a:rPr sz="2100" b="0" i="0">
                          <a:solidFill>
                            <a:srgbClr val="3B4046"/>
                          </a:solidFill>
                          <a:latin typeface="Calibri"/>
                        </a:rPr>
                        <a:t>1</a:t>
                      </a:r>
                    </a:p>
                  </a:txBody>
                  <a:tcPr marL="0" marR="91440" marT="64008" marB="64008" anchor="ctr">
                    <a:lnL w="0">
                      <a:noFill/>
                    </a:lnL>
                    <a:lnR w="0">
                      <a:noFill/>
                    </a:lnR>
                    <a:lnT w="0">
                      <a:noFill/>
                    </a:lnT>
                    <a:lnB w="6350">
                      <a:solidFill>
                        <a:srgbClr val="C9C5BC"/>
                      </a:solidFill>
                    </a:lnB>
                    <a:noFill/>
                  </a:tcPr>
                </a:tc>
                <a:tc>
                  <a:txBody>
                    <a:bodyPr wrap="square"/>
                    <a:lstStyle/>
                    <a:p>
                      <a:r>
                        <a:rPr sz="2100" b="0" i="0">
                          <a:solidFill>
                            <a:srgbClr val="3B4046"/>
                          </a:solidFill>
                          <a:latin typeface="Calibri"/>
                        </a:rPr>
                        <a:t>git init</a:t>
                      </a:r>
                    </a:p>
                  </a:txBody>
                  <a:tcPr marL="137160" marR="91440" marT="64008" marB="64008" anchor="ctr">
                    <a:lnL w="0">
                      <a:noFill/>
                    </a:lnL>
                    <a:lnR w="0">
                      <a:noFill/>
                    </a:lnR>
                    <a:lnT w="0">
                      <a:noFill/>
                    </a:lnT>
                    <a:lnB w="6350">
                      <a:solidFill>
                        <a:srgbClr val="C9C5BC"/>
                      </a:solidFill>
                    </a:lnB>
                    <a:noFill/>
                  </a:tcPr>
                </a:tc>
                <a:tc>
                  <a:txBody>
                    <a:bodyPr wrap="square"/>
                    <a:lstStyle/>
                    <a:p>
                      <a:r>
                        <a:rPr sz="2100" b="0" i="0">
                          <a:solidFill>
                            <a:srgbClr val="3B4046"/>
                          </a:solidFill>
                          <a:latin typeface="Calibri"/>
                        </a:rPr>
                        <a:t>Start tracking this folder</a:t>
                      </a:r>
                    </a:p>
                  </a:txBody>
                  <a:tcPr marL="137160" marR="91440" marT="64008" marB="64008" anchor="ctr">
                    <a:lnL w="0">
                      <a:noFill/>
                    </a:lnL>
                    <a:lnR w="0">
                      <a:noFill/>
                    </a:lnR>
                    <a:lnT w="0">
                      <a:noFill/>
                    </a:lnT>
                    <a:lnB w="6350">
                      <a:solidFill>
                        <a:srgbClr val="C9C5BC"/>
                      </a:solidFill>
                    </a:lnB>
                    <a:noFill/>
                  </a:tcPr>
                </a:tc>
              </a:tr>
              <a:tr h="538886">
                <a:tc>
                  <a:txBody>
                    <a:bodyPr wrap="square"/>
                    <a:lstStyle/>
                    <a:p>
                      <a:r>
                        <a:rPr sz="2100" b="0" i="0">
                          <a:solidFill>
                            <a:srgbClr val="3B4046"/>
                          </a:solidFill>
                          <a:latin typeface="Calibri"/>
                        </a:rPr>
                        <a:t>2</a:t>
                      </a:r>
                    </a:p>
                  </a:txBody>
                  <a:tcPr marL="0" marR="91440" marT="64008" marB="64008" anchor="ctr">
                    <a:lnL w="0">
                      <a:noFill/>
                    </a:lnL>
                    <a:lnR w="0">
                      <a:noFill/>
                    </a:lnR>
                    <a:lnT w="0">
                      <a:noFill/>
                    </a:lnT>
                    <a:lnB w="6350">
                      <a:solidFill>
                        <a:srgbClr val="C9C5BC"/>
                      </a:solidFill>
                    </a:lnB>
                    <a:noFill/>
                  </a:tcPr>
                </a:tc>
                <a:tc>
                  <a:txBody>
                    <a:bodyPr wrap="square"/>
                    <a:lstStyle/>
                    <a:p>
                      <a:r>
                        <a:rPr sz="2100" b="0" i="0">
                          <a:solidFill>
                            <a:srgbClr val="3B4046"/>
                          </a:solidFill>
                          <a:latin typeface="Calibri"/>
                        </a:rPr>
                        <a:t>git add .</a:t>
                      </a:r>
                    </a:p>
                  </a:txBody>
                  <a:tcPr marL="137160" marR="91440" marT="64008" marB="64008" anchor="ctr">
                    <a:lnL w="0">
                      <a:noFill/>
                    </a:lnL>
                    <a:lnR w="0">
                      <a:noFill/>
                    </a:lnR>
                    <a:lnT w="0">
                      <a:noFill/>
                    </a:lnT>
                    <a:lnB w="6350">
                      <a:solidFill>
                        <a:srgbClr val="C9C5BC"/>
                      </a:solidFill>
                    </a:lnB>
                    <a:noFill/>
                  </a:tcPr>
                </a:tc>
                <a:tc>
                  <a:txBody>
                    <a:bodyPr wrap="square"/>
                    <a:lstStyle/>
                    <a:p>
                      <a:r>
                        <a:rPr sz="2100" b="0" i="0">
                          <a:solidFill>
                            <a:srgbClr val="3B4046"/>
                          </a:solidFill>
                          <a:latin typeface="Calibri"/>
                        </a:rPr>
                        <a:t>Choose every file for the next version</a:t>
                      </a:r>
                    </a:p>
                  </a:txBody>
                  <a:tcPr marL="137160" marR="91440" marT="64008" marB="64008" anchor="ctr">
                    <a:lnL w="0">
                      <a:noFill/>
                    </a:lnL>
                    <a:lnR w="0">
                      <a:noFill/>
                    </a:lnR>
                    <a:lnT w="0">
                      <a:noFill/>
                    </a:lnT>
                    <a:lnB w="6350">
                      <a:solidFill>
                        <a:srgbClr val="C9C5BC"/>
                      </a:solidFill>
                    </a:lnB>
                    <a:noFill/>
                  </a:tcPr>
                </a:tc>
              </a:tr>
              <a:tr h="538886">
                <a:tc>
                  <a:txBody>
                    <a:bodyPr wrap="square"/>
                    <a:lstStyle/>
                    <a:p>
                      <a:r>
                        <a:rPr sz="2100" b="0" i="0">
                          <a:solidFill>
                            <a:srgbClr val="3B4046"/>
                          </a:solidFill>
                          <a:latin typeface="Calibri"/>
                        </a:rPr>
                        <a:t>3</a:t>
                      </a:r>
                    </a:p>
                  </a:txBody>
                  <a:tcPr marL="0" marR="91440" marT="64008" marB="64008" anchor="ctr">
                    <a:lnL w="0">
                      <a:noFill/>
                    </a:lnL>
                    <a:lnR w="0">
                      <a:noFill/>
                    </a:lnR>
                    <a:lnT w="0">
                      <a:noFill/>
                    </a:lnT>
                    <a:lnB w="6350">
                      <a:solidFill>
                        <a:srgbClr val="C9C5BC"/>
                      </a:solidFill>
                    </a:lnB>
                    <a:noFill/>
                  </a:tcPr>
                </a:tc>
                <a:tc>
                  <a:txBody>
                    <a:bodyPr wrap="square"/>
                    <a:lstStyle/>
                    <a:p>
                      <a:r>
                        <a:rPr sz="2100" b="0" i="0">
                          <a:solidFill>
                            <a:srgbClr val="3B4046"/>
                          </a:solidFill>
                          <a:latin typeface="Calibri"/>
                        </a:rPr>
                        <a:t>git commit -m "first version"</a:t>
                      </a:r>
                    </a:p>
                  </a:txBody>
                  <a:tcPr marL="137160" marR="91440" marT="64008" marB="64008" anchor="ctr">
                    <a:lnL w="0">
                      <a:noFill/>
                    </a:lnL>
                    <a:lnR w="0">
                      <a:noFill/>
                    </a:lnR>
                    <a:lnT w="0">
                      <a:noFill/>
                    </a:lnT>
                    <a:lnB w="6350">
                      <a:solidFill>
                        <a:srgbClr val="C9C5BC"/>
                      </a:solidFill>
                    </a:lnB>
                    <a:noFill/>
                  </a:tcPr>
                </a:tc>
                <a:tc>
                  <a:txBody>
                    <a:bodyPr wrap="square"/>
                    <a:lstStyle/>
                    <a:p>
                      <a:r>
                        <a:rPr sz="2100" b="0" i="0">
                          <a:solidFill>
                            <a:srgbClr val="3B4046"/>
                          </a:solidFill>
                          <a:latin typeface="Calibri"/>
                        </a:rPr>
                        <a:t>Save a version with a message</a:t>
                      </a:r>
                    </a:p>
                  </a:txBody>
                  <a:tcPr marL="137160" marR="91440" marT="64008" marB="64008" anchor="ctr">
                    <a:lnL w="0">
                      <a:noFill/>
                    </a:lnL>
                    <a:lnR w="0">
                      <a:noFill/>
                    </a:lnR>
                    <a:lnT w="0">
                      <a:noFill/>
                    </a:lnT>
                    <a:lnB w="6350">
                      <a:solidFill>
                        <a:srgbClr val="C9C5BC"/>
                      </a:solidFill>
                    </a:lnB>
                    <a:noFill/>
                  </a:tcPr>
                </a:tc>
              </a:tr>
              <a:tr h="538886">
                <a:tc>
                  <a:txBody>
                    <a:bodyPr wrap="square"/>
                    <a:lstStyle/>
                    <a:p>
                      <a:r>
                        <a:rPr sz="2100" b="0" i="0">
                          <a:solidFill>
                            <a:srgbClr val="3B4046"/>
                          </a:solidFill>
                          <a:latin typeface="Calibri"/>
                        </a:rPr>
                        <a:t>4</a:t>
                      </a:r>
                    </a:p>
                  </a:txBody>
                  <a:tcPr marL="0" marR="91440" marT="64008" marB="64008" anchor="ctr">
                    <a:lnL w="0">
                      <a:noFill/>
                    </a:lnL>
                    <a:lnR w="0">
                      <a:noFill/>
                    </a:lnR>
                    <a:lnT w="0">
                      <a:noFill/>
                    </a:lnT>
                    <a:lnB w="6350">
                      <a:solidFill>
                        <a:srgbClr val="C9C5BC"/>
                      </a:solidFill>
                    </a:lnB>
                    <a:noFill/>
                  </a:tcPr>
                </a:tc>
                <a:tc>
                  <a:txBody>
                    <a:bodyPr wrap="square"/>
                    <a:lstStyle/>
                    <a:p>
                      <a:r>
                        <a:rPr sz="2100" b="0" i="0">
                          <a:solidFill>
                            <a:srgbClr val="3B4046"/>
                          </a:solidFill>
                          <a:latin typeface="Calibri"/>
                        </a:rPr>
                        <a:t>git branch -M main</a:t>
                      </a:r>
                    </a:p>
                  </a:txBody>
                  <a:tcPr marL="137160" marR="91440" marT="64008" marB="64008" anchor="ctr">
                    <a:lnL w="0">
                      <a:noFill/>
                    </a:lnL>
                    <a:lnR w="0">
                      <a:noFill/>
                    </a:lnR>
                    <a:lnT w="0">
                      <a:noFill/>
                    </a:lnT>
                    <a:lnB w="6350">
                      <a:solidFill>
                        <a:srgbClr val="C9C5BC"/>
                      </a:solidFill>
                    </a:lnB>
                    <a:noFill/>
                  </a:tcPr>
                </a:tc>
                <a:tc>
                  <a:txBody>
                    <a:bodyPr wrap="square"/>
                    <a:lstStyle/>
                    <a:p>
                      <a:r>
                        <a:rPr sz="2100" b="0" i="0">
                          <a:solidFill>
                            <a:srgbClr val="3B4046"/>
                          </a:solidFill>
                          <a:latin typeface="Calibri"/>
                        </a:rPr>
                        <a:t>Name the main line of work main</a:t>
                      </a:r>
                    </a:p>
                  </a:txBody>
                  <a:tcPr marL="137160" marR="91440" marT="64008" marB="64008" anchor="ctr">
                    <a:lnL w="0">
                      <a:noFill/>
                    </a:lnL>
                    <a:lnR w="0">
                      <a:noFill/>
                    </a:lnR>
                    <a:lnT w="0">
                      <a:noFill/>
                    </a:lnT>
                    <a:lnB w="6350">
                      <a:solidFill>
                        <a:srgbClr val="C9C5BC"/>
                      </a:solidFill>
                    </a:lnB>
                    <a:noFill/>
                  </a:tcPr>
                </a:tc>
              </a:tr>
              <a:tr h="871727">
                <a:tc>
                  <a:txBody>
                    <a:bodyPr wrap="square"/>
                    <a:lstStyle/>
                    <a:p>
                      <a:r>
                        <a:rPr sz="2100" b="0" i="0">
                          <a:solidFill>
                            <a:srgbClr val="3B4046"/>
                          </a:solidFill>
                          <a:latin typeface="Calibri"/>
                        </a:rPr>
                        <a:t>5</a:t>
                      </a:r>
                    </a:p>
                  </a:txBody>
                  <a:tcPr marL="0" marR="91440" marT="64008" marB="64008" anchor="ctr">
                    <a:lnL w="0">
                      <a:noFill/>
                    </a:lnL>
                    <a:lnR w="0">
                      <a:noFill/>
                    </a:lnR>
                    <a:lnT w="0">
                      <a:noFill/>
                    </a:lnT>
                    <a:lnB w="6350">
                      <a:solidFill>
                        <a:srgbClr val="C9C5BC"/>
                      </a:solidFill>
                    </a:lnB>
                    <a:noFill/>
                  </a:tcPr>
                </a:tc>
                <a:tc>
                  <a:txBody>
                    <a:bodyPr wrap="square"/>
                    <a:lstStyle/>
                    <a:p>
                      <a:r>
                        <a:rPr sz="2100" b="0" i="0">
                          <a:solidFill>
                            <a:srgbClr val="3B4046"/>
                          </a:solidFill>
                          <a:latin typeface="Calibri"/>
                        </a:rPr>
                        <a:t>git remote add origin URL, then git push -u origin main</a:t>
                      </a:r>
                    </a:p>
                  </a:txBody>
                  <a:tcPr marL="137160" marR="91440" marT="64008" marB="64008" anchor="ctr">
                    <a:lnL w="0">
                      <a:noFill/>
                    </a:lnL>
                    <a:lnR w="0">
                      <a:noFill/>
                    </a:lnR>
                    <a:lnT w="0">
                      <a:noFill/>
                    </a:lnT>
                    <a:lnB w="6350">
                      <a:solidFill>
                        <a:srgbClr val="C9C5BC"/>
                      </a:solidFill>
                    </a:lnB>
                    <a:noFill/>
                  </a:tcPr>
                </a:tc>
                <a:tc>
                  <a:txBody>
                    <a:bodyPr wrap="square"/>
                    <a:lstStyle/>
                    <a:p>
                      <a:r>
                        <a:rPr sz="2100" b="0" i="0">
                          <a:solidFill>
                            <a:srgbClr val="3B4046"/>
                          </a:solidFill>
                          <a:latin typeface="Calibri"/>
                        </a:rPr>
                        <a:t>Link your GitHub repository and upload</a:t>
                      </a:r>
                    </a:p>
                  </a:txBody>
                  <a:tcPr marL="137160" marR="91440" marT="64008" marB="64008" anchor="ctr">
                    <a:lnL w="0">
                      <a:noFill/>
                    </a:lnL>
                    <a:lnR w="0">
                      <a:noFill/>
                    </a:lnR>
                    <a:lnT w="0">
                      <a:noFill/>
                    </a:lnT>
                    <a:lnB w="6350">
                      <a:solidFill>
                        <a:srgbClr val="C9C5BC"/>
                      </a:solidFill>
                    </a:lnB>
                    <a:noFill/>
                  </a:tcPr>
                </a:tc>
              </a:tr>
            </a:tbl>
          </a:graphicData>
        </a:graphic>
      </p:graphicFrame>
      <p:cxnSp>
        <p:nvCxnSpPr>
          <p:cNvPr id="6" name="Connector 5"/>
          <p:cNvCxnSpPr/>
          <p:nvPr/>
        </p:nvCxnSpPr>
        <p:spPr>
          <a:xfrm>
            <a:off x="685800" y="5440680"/>
            <a:ext cx="10820095" cy="0"/>
          </a:xfrm>
          <a:prstGeom prst="line">
            <a:avLst/>
          </a:prstGeom>
          <a:ln w="15875">
            <a:solidFill>
              <a:srgbClr val="1F2328"/>
            </a:solidFill>
          </a:ln>
        </p:spPr>
      </p:cxnSp>
      <p:sp>
        <p:nvSpPr>
          <p:cNvPr id="7" name="TextBox 6"/>
          <p:cNvSpPr txBox="1"/>
          <p:nvPr/>
        </p:nvSpPr>
        <p:spPr>
          <a:xfrm>
            <a:off x="685800" y="5532120"/>
            <a:ext cx="10820095" cy="685800"/>
          </a:xfrm>
          <a:prstGeom prst="rect">
            <a:avLst/>
          </a:prstGeom>
          <a:noFill/>
        </p:spPr>
        <p:txBody>
          <a:bodyPr wrap="square" lIns="0" rIns="0" tIns="18288" bIns="18288" anchor="t">
            <a:spAutoFit/>
          </a:bodyPr>
          <a:lstStyle/>
          <a:p>
            <a:pPr algn="l"/>
            <a:r>
              <a:rPr sz="2100" b="0" i="0">
                <a:solidFill>
                  <a:srgbClr val="1F2328"/>
                </a:solidFill>
                <a:latin typeface="Cambria"/>
              </a:rPr>
              <a:t>Free GitHub account. Public repository. Never push data with personal details.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What goes into a public repository</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23   Ship it: reproducible work, a small app and responsible use</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10</a:t>
            </a:r>
          </a:p>
        </p:txBody>
      </p:sp>
      <p:cxnSp>
        <p:nvCxnSpPr>
          <p:cNvPr id="5" name="Connector 4"/>
          <p:cNvCxnSpPr/>
          <p:nvPr/>
        </p:nvCxnSpPr>
        <p:spPr>
          <a:xfrm>
            <a:off x="6095847" y="1645920"/>
            <a:ext cx="0" cy="3337560"/>
          </a:xfrm>
          <a:prstGeom prst="line">
            <a:avLst/>
          </a:prstGeom>
          <a:ln w="9525">
            <a:solidFill>
              <a:srgbClr val="C9C5BC"/>
            </a:solidFill>
          </a:ln>
        </p:spPr>
      </p:cxnSp>
      <p:grpSp>
        <p:nvGrpSpPr>
          <p:cNvPr id="6" name="side-1"/>
          <p:cNvGrpSpPr/>
          <p:nvPr/>
        </p:nvGrpSpPr>
        <p:grpSpPr>
          <a:xfrm>
            <a:off x="685800" y="1600200"/>
            <a:ext cx="5090007" cy="3364992"/>
            <a:chOff x="685800" y="1600200"/>
            <a:chExt cx="5090007" cy="3364992"/>
          </a:xfrm>
        </p:grpSpPr>
        <p:sp>
          <p:nvSpPr>
            <p:cNvPr id="7" name="TextBox 6"/>
            <p:cNvSpPr txBox="1"/>
            <p:nvPr/>
          </p:nvSpPr>
          <p:spPr>
            <a:xfrm>
              <a:off x="685800" y="1600200"/>
              <a:ext cx="5090007" cy="548640"/>
            </a:xfrm>
            <a:prstGeom prst="rect">
              <a:avLst/>
            </a:prstGeom>
            <a:noFill/>
          </p:spPr>
          <p:txBody>
            <a:bodyPr wrap="square" lIns="0" rIns="0" tIns="18288" bIns="18288" anchor="t">
              <a:spAutoFit/>
            </a:bodyPr>
            <a:lstStyle/>
            <a:p>
              <a:pPr algn="l"/>
              <a:r>
                <a:rPr sz="2800" b="1" i="0">
                  <a:solidFill>
                    <a:srgbClr val="1F2328"/>
                  </a:solidFill>
                  <a:latin typeface="Cambria"/>
                </a:rPr>
                <a:t>Put in</a:t>
              </a:r>
            </a:p>
          </p:txBody>
        </p:sp>
        <p:cxnSp>
          <p:nvCxnSpPr>
            <p:cNvPr id="8" name="Connector 7"/>
            <p:cNvCxnSpPr/>
            <p:nvPr/>
          </p:nvCxnSpPr>
          <p:spPr>
            <a:xfrm>
              <a:off x="685800" y="2167128"/>
              <a:ext cx="5090007" cy="0"/>
            </a:xfrm>
            <a:prstGeom prst="line">
              <a:avLst/>
            </a:prstGeom>
            <a:ln w="15875">
              <a:solidFill>
                <a:srgbClr val="1F2328"/>
              </a:solidFill>
            </a:ln>
          </p:spPr>
        </p:cxnSp>
        <p:sp>
          <p:nvSpPr>
            <p:cNvPr id="9" name="TextBox 8"/>
            <p:cNvSpPr txBox="1"/>
            <p:nvPr/>
          </p:nvSpPr>
          <p:spPr>
            <a:xfrm>
              <a:off x="685800" y="2276856"/>
              <a:ext cx="5090007" cy="630936"/>
            </a:xfrm>
            <a:prstGeom prst="rect">
              <a:avLst/>
            </a:prstGeom>
            <a:noFill/>
          </p:spPr>
          <p:txBody>
            <a:bodyPr wrap="square" lIns="0" rIns="0" tIns="18288" bIns="18288" anchor="ctr">
              <a:spAutoFit/>
            </a:bodyPr>
            <a:lstStyle/>
            <a:p>
              <a:pPr algn="l"/>
              <a:r>
                <a:rPr sz="2200" b="0" i="0">
                  <a:solidFill>
                    <a:srgbClr val="3B4046"/>
                  </a:solidFill>
                  <a:latin typeface="Calibri"/>
                </a:rPr>
                <a:t>Your notebook</a:t>
              </a:r>
            </a:p>
          </p:txBody>
        </p:sp>
        <p:cxnSp>
          <p:nvCxnSpPr>
            <p:cNvPr id="10" name="Connector 9"/>
            <p:cNvCxnSpPr/>
            <p:nvPr/>
          </p:nvCxnSpPr>
          <p:spPr>
            <a:xfrm>
              <a:off x="685800" y="2926080"/>
              <a:ext cx="5090007" cy="0"/>
            </a:xfrm>
            <a:prstGeom prst="line">
              <a:avLst/>
            </a:prstGeom>
            <a:ln w="6350">
              <a:solidFill>
                <a:srgbClr val="C9C5BC"/>
              </a:solidFill>
            </a:ln>
          </p:spPr>
        </p:cxnSp>
        <p:sp>
          <p:nvSpPr>
            <p:cNvPr id="11" name="TextBox 10"/>
            <p:cNvSpPr txBox="1"/>
            <p:nvPr/>
          </p:nvSpPr>
          <p:spPr>
            <a:xfrm>
              <a:off x="685800" y="2962656"/>
              <a:ext cx="5090007" cy="630936"/>
            </a:xfrm>
            <a:prstGeom prst="rect">
              <a:avLst/>
            </a:prstGeom>
            <a:noFill/>
          </p:spPr>
          <p:txBody>
            <a:bodyPr wrap="square" lIns="0" rIns="0" tIns="18288" bIns="18288" anchor="ctr">
              <a:spAutoFit/>
            </a:bodyPr>
            <a:lstStyle/>
            <a:p>
              <a:pPr algn="l"/>
              <a:r>
                <a:rPr sz="2200" b="0" i="0">
                  <a:solidFill>
                    <a:srgbClr val="3B4046"/>
                  </a:solidFill>
                  <a:latin typeface="Calibri"/>
                </a:rPr>
                <a:t>app.py and requirements.txt</a:t>
              </a:r>
            </a:p>
          </p:txBody>
        </p:sp>
        <p:cxnSp>
          <p:nvCxnSpPr>
            <p:cNvPr id="12" name="Connector 11"/>
            <p:cNvCxnSpPr/>
            <p:nvPr/>
          </p:nvCxnSpPr>
          <p:spPr>
            <a:xfrm>
              <a:off x="685800" y="3611880"/>
              <a:ext cx="5090007" cy="0"/>
            </a:xfrm>
            <a:prstGeom prst="line">
              <a:avLst/>
            </a:prstGeom>
            <a:ln w="6350">
              <a:solidFill>
                <a:srgbClr val="C9C5BC"/>
              </a:solidFill>
            </a:ln>
          </p:spPr>
        </p:cxnSp>
        <p:sp>
          <p:nvSpPr>
            <p:cNvPr id="13" name="TextBox 12"/>
            <p:cNvSpPr txBox="1"/>
            <p:nvPr/>
          </p:nvSpPr>
          <p:spPr>
            <a:xfrm>
              <a:off x="685800" y="3648456"/>
              <a:ext cx="5090007" cy="630936"/>
            </a:xfrm>
            <a:prstGeom prst="rect">
              <a:avLst/>
            </a:prstGeom>
            <a:noFill/>
          </p:spPr>
          <p:txBody>
            <a:bodyPr wrap="square" lIns="0" rIns="0" tIns="18288" bIns="18288" anchor="ctr">
              <a:spAutoFit/>
            </a:bodyPr>
            <a:lstStyle/>
            <a:p>
              <a:pPr algn="l"/>
              <a:r>
                <a:rPr sz="2200" b="0" i="0">
                  <a:solidFill>
                    <a:srgbClr val="3B4046"/>
                  </a:solidFill>
                  <a:latin typeface="Calibri"/>
                </a:rPr>
                <a:t>The saved model, if it is small</a:t>
              </a:r>
            </a:p>
          </p:txBody>
        </p:sp>
        <p:cxnSp>
          <p:nvCxnSpPr>
            <p:cNvPr id="14" name="Connector 13"/>
            <p:cNvCxnSpPr/>
            <p:nvPr/>
          </p:nvCxnSpPr>
          <p:spPr>
            <a:xfrm>
              <a:off x="685800" y="4297680"/>
              <a:ext cx="5090007" cy="0"/>
            </a:xfrm>
            <a:prstGeom prst="line">
              <a:avLst/>
            </a:prstGeom>
            <a:ln w="6350">
              <a:solidFill>
                <a:srgbClr val="C9C5BC"/>
              </a:solidFill>
            </a:ln>
          </p:spPr>
        </p:cxnSp>
        <p:sp>
          <p:nvSpPr>
            <p:cNvPr id="15" name="TextBox 14"/>
            <p:cNvSpPr txBox="1"/>
            <p:nvPr/>
          </p:nvSpPr>
          <p:spPr>
            <a:xfrm>
              <a:off x="685800" y="4334256"/>
              <a:ext cx="5090007" cy="630936"/>
            </a:xfrm>
            <a:prstGeom prst="rect">
              <a:avLst/>
            </a:prstGeom>
            <a:noFill/>
          </p:spPr>
          <p:txBody>
            <a:bodyPr wrap="square" lIns="0" rIns="0" tIns="18288" bIns="18288" anchor="ctr">
              <a:spAutoFit/>
            </a:bodyPr>
            <a:lstStyle/>
            <a:p>
              <a:pPr algn="l"/>
              <a:r>
                <a:rPr sz="2200" b="0" i="0">
                  <a:solidFill>
                    <a:srgbClr val="3B4046"/>
                  </a:solidFill>
                  <a:latin typeface="Calibri"/>
                </a:rPr>
                <a:t>A README and the model card</a:t>
              </a:r>
            </a:p>
          </p:txBody>
        </p:sp>
      </p:grpSp>
      <p:grpSp>
        <p:nvGrpSpPr>
          <p:cNvPr id="16" name="side-2"/>
          <p:cNvGrpSpPr/>
          <p:nvPr/>
        </p:nvGrpSpPr>
        <p:grpSpPr>
          <a:xfrm>
            <a:off x="6415887" y="1600200"/>
            <a:ext cx="5090008" cy="3364992"/>
            <a:chOff x="6415887" y="1600200"/>
            <a:chExt cx="5090008" cy="3364992"/>
          </a:xfrm>
        </p:grpSpPr>
        <p:sp>
          <p:nvSpPr>
            <p:cNvPr id="17" name="TextBox 16"/>
            <p:cNvSpPr txBox="1"/>
            <p:nvPr/>
          </p:nvSpPr>
          <p:spPr>
            <a:xfrm>
              <a:off x="6415887" y="1600200"/>
              <a:ext cx="5090007" cy="548640"/>
            </a:xfrm>
            <a:prstGeom prst="rect">
              <a:avLst/>
            </a:prstGeom>
            <a:noFill/>
          </p:spPr>
          <p:txBody>
            <a:bodyPr wrap="square" lIns="0" rIns="0" tIns="18288" bIns="18288" anchor="t">
              <a:spAutoFit/>
            </a:bodyPr>
            <a:lstStyle/>
            <a:p>
              <a:pPr algn="l"/>
              <a:r>
                <a:rPr sz="2800" b="1" i="0">
                  <a:solidFill>
                    <a:srgbClr val="B04A2B"/>
                  </a:solidFill>
                  <a:latin typeface="Cambria"/>
                </a:rPr>
                <a:t>Leave out</a:t>
              </a:r>
            </a:p>
          </p:txBody>
        </p:sp>
        <p:cxnSp>
          <p:nvCxnSpPr>
            <p:cNvPr id="18" name="Connector 17"/>
            <p:cNvCxnSpPr/>
            <p:nvPr/>
          </p:nvCxnSpPr>
          <p:spPr>
            <a:xfrm>
              <a:off x="6415887" y="2167128"/>
              <a:ext cx="5090008" cy="0"/>
            </a:xfrm>
            <a:prstGeom prst="line">
              <a:avLst/>
            </a:prstGeom>
            <a:ln w="15875">
              <a:solidFill>
                <a:srgbClr val="1F2328"/>
              </a:solidFill>
            </a:ln>
          </p:spPr>
        </p:cxnSp>
        <p:sp>
          <p:nvSpPr>
            <p:cNvPr id="19" name="TextBox 18"/>
            <p:cNvSpPr txBox="1"/>
            <p:nvPr/>
          </p:nvSpPr>
          <p:spPr>
            <a:xfrm>
              <a:off x="6415887" y="2276856"/>
              <a:ext cx="5090007" cy="630936"/>
            </a:xfrm>
            <a:prstGeom prst="rect">
              <a:avLst/>
            </a:prstGeom>
            <a:noFill/>
          </p:spPr>
          <p:txBody>
            <a:bodyPr wrap="square" lIns="0" rIns="0" tIns="18288" bIns="18288" anchor="ctr">
              <a:spAutoFit/>
            </a:bodyPr>
            <a:lstStyle/>
            <a:p>
              <a:pPr algn="l"/>
              <a:r>
                <a:rPr sz="2200" b="0" i="0">
                  <a:solidFill>
                    <a:srgbClr val="3B4046"/>
                  </a:solidFill>
                  <a:latin typeface="Calibri"/>
                </a:rPr>
                <a:t>Files with names, phones or addresses</a:t>
              </a:r>
            </a:p>
          </p:txBody>
        </p:sp>
        <p:cxnSp>
          <p:nvCxnSpPr>
            <p:cNvPr id="20" name="Connector 19"/>
            <p:cNvCxnSpPr/>
            <p:nvPr/>
          </p:nvCxnSpPr>
          <p:spPr>
            <a:xfrm>
              <a:off x="6415887" y="2926080"/>
              <a:ext cx="5090008" cy="0"/>
            </a:xfrm>
            <a:prstGeom prst="line">
              <a:avLst/>
            </a:prstGeom>
            <a:ln w="6350">
              <a:solidFill>
                <a:srgbClr val="C9C5BC"/>
              </a:solidFill>
            </a:ln>
          </p:spPr>
        </p:cxnSp>
        <p:sp>
          <p:nvSpPr>
            <p:cNvPr id="21" name="TextBox 20"/>
            <p:cNvSpPr txBox="1"/>
            <p:nvPr/>
          </p:nvSpPr>
          <p:spPr>
            <a:xfrm>
              <a:off x="6415887" y="2962656"/>
              <a:ext cx="5090007" cy="630936"/>
            </a:xfrm>
            <a:prstGeom prst="rect">
              <a:avLst/>
            </a:prstGeom>
            <a:noFill/>
          </p:spPr>
          <p:txBody>
            <a:bodyPr wrap="square" lIns="0" rIns="0" tIns="18288" bIns="18288" anchor="ctr">
              <a:spAutoFit/>
            </a:bodyPr>
            <a:lstStyle/>
            <a:p>
              <a:pPr algn="l"/>
              <a:r>
                <a:rPr sz="2200" b="0" i="0">
                  <a:solidFill>
                    <a:srgbClr val="3B4046"/>
                  </a:solidFill>
                  <a:latin typeface="Calibri"/>
                </a:rPr>
                <a:t>Passwords and keys</a:t>
              </a:r>
            </a:p>
          </p:txBody>
        </p:sp>
        <p:cxnSp>
          <p:nvCxnSpPr>
            <p:cNvPr id="22" name="Connector 21"/>
            <p:cNvCxnSpPr/>
            <p:nvPr/>
          </p:nvCxnSpPr>
          <p:spPr>
            <a:xfrm>
              <a:off x="6415887" y="3611880"/>
              <a:ext cx="5090008" cy="0"/>
            </a:xfrm>
            <a:prstGeom prst="line">
              <a:avLst/>
            </a:prstGeom>
            <a:ln w="6350">
              <a:solidFill>
                <a:srgbClr val="C9C5BC"/>
              </a:solidFill>
            </a:ln>
          </p:spPr>
        </p:cxnSp>
        <p:sp>
          <p:nvSpPr>
            <p:cNvPr id="23" name="TextBox 22"/>
            <p:cNvSpPr txBox="1"/>
            <p:nvPr/>
          </p:nvSpPr>
          <p:spPr>
            <a:xfrm>
              <a:off x="6415887" y="3648456"/>
              <a:ext cx="5090007" cy="630936"/>
            </a:xfrm>
            <a:prstGeom prst="rect">
              <a:avLst/>
            </a:prstGeom>
            <a:noFill/>
          </p:spPr>
          <p:txBody>
            <a:bodyPr wrap="square" lIns="0" rIns="0" tIns="18288" bIns="18288" anchor="ctr">
              <a:spAutoFit/>
            </a:bodyPr>
            <a:lstStyle/>
            <a:p>
              <a:pPr algn="l"/>
              <a:r>
                <a:rPr sz="2200" b="0" i="0">
                  <a:solidFill>
                    <a:srgbClr val="3B4046"/>
                  </a:solidFill>
                  <a:latin typeface="Calibri"/>
                </a:rPr>
                <a:t>Data you may not share</a:t>
              </a:r>
            </a:p>
          </p:txBody>
        </p:sp>
        <p:cxnSp>
          <p:nvCxnSpPr>
            <p:cNvPr id="24" name="Connector 23"/>
            <p:cNvCxnSpPr/>
            <p:nvPr/>
          </p:nvCxnSpPr>
          <p:spPr>
            <a:xfrm>
              <a:off x="6415887" y="4297680"/>
              <a:ext cx="5090008" cy="0"/>
            </a:xfrm>
            <a:prstGeom prst="line">
              <a:avLst/>
            </a:prstGeom>
            <a:ln w="6350">
              <a:solidFill>
                <a:srgbClr val="C9C5BC"/>
              </a:solidFill>
            </a:ln>
          </p:spPr>
        </p:cxnSp>
        <p:sp>
          <p:nvSpPr>
            <p:cNvPr id="25" name="TextBox 24"/>
            <p:cNvSpPr txBox="1"/>
            <p:nvPr/>
          </p:nvSpPr>
          <p:spPr>
            <a:xfrm>
              <a:off x="6415887" y="4334256"/>
              <a:ext cx="5090007" cy="630936"/>
            </a:xfrm>
            <a:prstGeom prst="rect">
              <a:avLst/>
            </a:prstGeom>
            <a:noFill/>
          </p:spPr>
          <p:txBody>
            <a:bodyPr wrap="square" lIns="0" rIns="0" tIns="18288" bIns="18288" anchor="ctr">
              <a:spAutoFit/>
            </a:bodyPr>
            <a:lstStyle/>
            <a:p>
              <a:pPr algn="l"/>
              <a:r>
                <a:rPr sz="2200" b="0" i="0">
                  <a:solidFill>
                    <a:srgbClr val="3B4046"/>
                  </a:solidFill>
                  <a:latin typeface="Calibri"/>
                </a:rPr>
                <a:t>Anything you would not print on a poster</a:t>
              </a:r>
            </a:p>
          </p:txBody>
        </p:sp>
      </p:grpSp>
      <p:grpSp>
        <p:nvGrpSpPr>
          <p:cNvPr id="26" name="verdict"/>
          <p:cNvGrpSpPr/>
          <p:nvPr/>
        </p:nvGrpSpPr>
        <p:grpSpPr>
          <a:xfrm>
            <a:off x="685800" y="5257800"/>
            <a:ext cx="10820095" cy="978408"/>
            <a:chOff x="685800" y="5257800"/>
            <a:chExt cx="10820095" cy="978408"/>
          </a:xfrm>
        </p:grpSpPr>
        <p:cxnSp>
          <p:nvCxnSpPr>
            <p:cNvPr id="27" name="Connector 26"/>
            <p:cNvCxnSpPr/>
            <p:nvPr/>
          </p:nvCxnSpPr>
          <p:spPr>
            <a:xfrm>
              <a:off x="685800" y="5257800"/>
              <a:ext cx="10820095" cy="0"/>
            </a:xfrm>
            <a:prstGeom prst="line">
              <a:avLst/>
            </a:prstGeom>
            <a:ln w="15875">
              <a:solidFill>
                <a:srgbClr val="1F2328"/>
              </a:solidFill>
            </a:ln>
          </p:spPr>
        </p:cxnSp>
        <p:sp>
          <p:nvSpPr>
            <p:cNvPr id="28" name="TextBox 27"/>
            <p:cNvSpPr txBox="1"/>
            <p:nvPr/>
          </p:nvSpPr>
          <p:spPr>
            <a:xfrm>
              <a:off x="685800" y="5367528"/>
              <a:ext cx="10820095" cy="868680"/>
            </a:xfrm>
            <a:prstGeom prst="rect">
              <a:avLst/>
            </a:prstGeom>
            <a:noFill/>
          </p:spPr>
          <p:txBody>
            <a:bodyPr wrap="square" lIns="0" rIns="0" tIns="18288" bIns="18288" anchor="t">
              <a:spAutoFit/>
            </a:bodyPr>
            <a:lstStyle/>
            <a:p>
              <a:pPr algn="l"/>
              <a:r>
                <a:rPr sz="2400" b="0" i="0">
                  <a:solidFill>
                    <a:srgbClr val="1F2328"/>
                  </a:solidFill>
                  <a:latin typeface="Cambria"/>
                </a:rPr>
                <a:t>Public means anyone can read and copy it. Check before you push.</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6"/>
                                        </p:tgtEl>
                                        <p:attrNameLst>
                                          <p:attrName>style.visibility</p:attrName>
                                        </p:attrNameLst>
                                      </p:cBhvr>
                                      <p:to>
                                        <p:strVal val="visible"/>
                                      </p:to>
                                    </p:set>
                                    <p:animEffect transition="in" filter="fade">
                                      <p:cBhvr>
                                        <p:cTn id="5" dur="500"/>
                                        <p:tgtEl>
                                          <p:spTgt spid="16"/>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26"/>
                                        </p:tgtEl>
                                        <p:attrNameLst>
                                          <p:attrName>style.visibility</p:attrName>
                                        </p:attrNameLst>
                                      </p:cBhvr>
                                      <p:to>
                                        <p:strVal val="visible"/>
                                      </p:to>
                                    </p:set>
                                    <p:animEffect transition="in" filter="fade">
                                      <p:cBhvr>
                                        <p:cTn id="10"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A loan app in about 25 lines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23   Ship it: reproducible work, a small app and responsible use</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11</a:t>
            </a:r>
          </a:p>
        </p:txBody>
      </p:sp>
      <p:sp>
        <p:nvSpPr>
          <p:cNvPr id="5" name="Rectangle 4"/>
          <p:cNvSpPr/>
          <p:nvPr/>
        </p:nvSpPr>
        <p:spPr>
          <a:xfrm>
            <a:off x="685800" y="1600200"/>
            <a:ext cx="10820095" cy="4509515"/>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10545775" cy="4235195"/>
          </a:xfrm>
          <a:prstGeom prst="rect">
            <a:avLst/>
          </a:prstGeom>
          <a:noFill/>
        </p:spPr>
        <p:txBody>
          <a:bodyPr wrap="none" lIns="0" rIns="0" tIns="0" bIns="0">
            <a:spAutoFit/>
          </a:bodyPr>
          <a:lstStyle/>
          <a:p>
            <a:r>
              <a:rPr sz="1450" b="1" i="0">
                <a:solidFill>
                  <a:srgbClr val="1F2328"/>
                </a:solidFill>
                <a:latin typeface="Courier New"/>
              </a:rPr>
              <a:t>import</a:t>
            </a:r>
            <a:r>
              <a:rPr sz="1450" b="0" i="0">
                <a:solidFill>
                  <a:srgbClr val="1F2328"/>
                </a:solidFill>
                <a:latin typeface="Courier New"/>
              </a:rPr>
              <a:t> </a:t>
            </a:r>
            <a:r>
              <a:rPr sz="1450" b="0" i="0">
                <a:solidFill>
                  <a:srgbClr val="1F2328"/>
                </a:solidFill>
                <a:latin typeface="Courier New"/>
              </a:rPr>
              <a:t>joblib</a:t>
            </a:r>
          </a:p>
          <a:p>
            <a:r>
              <a:rPr sz="1450" b="1" i="0">
                <a:solidFill>
                  <a:srgbClr val="1F2328"/>
                </a:solidFill>
                <a:latin typeface="Courier New"/>
              </a:rPr>
              <a:t>import</a:t>
            </a:r>
            <a:r>
              <a:rPr sz="1450" b="0" i="0">
                <a:solidFill>
                  <a:srgbClr val="1F2328"/>
                </a:solidFill>
                <a:latin typeface="Courier New"/>
              </a:rPr>
              <a:t> </a:t>
            </a:r>
            <a:r>
              <a:rPr sz="1450" b="0" i="0">
                <a:solidFill>
                  <a:srgbClr val="1F2328"/>
                </a:solidFill>
                <a:latin typeface="Courier New"/>
              </a:rPr>
              <a:t>pandas</a:t>
            </a:r>
            <a:r>
              <a:rPr sz="1450" b="0" i="0">
                <a:solidFill>
                  <a:srgbClr val="1F2328"/>
                </a:solidFill>
                <a:latin typeface="Courier New"/>
              </a:rPr>
              <a:t> </a:t>
            </a:r>
            <a:r>
              <a:rPr sz="1450" b="1" i="0">
                <a:solidFill>
                  <a:srgbClr val="1F2328"/>
                </a:solidFill>
                <a:latin typeface="Courier New"/>
              </a:rPr>
              <a:t>as</a:t>
            </a:r>
            <a:r>
              <a:rPr sz="1450" b="0" i="0">
                <a:solidFill>
                  <a:srgbClr val="1F2328"/>
                </a:solidFill>
                <a:latin typeface="Courier New"/>
              </a:rPr>
              <a:t> </a:t>
            </a:r>
            <a:r>
              <a:rPr sz="1450" b="0" i="0">
                <a:solidFill>
                  <a:srgbClr val="1F2328"/>
                </a:solidFill>
                <a:latin typeface="Courier New"/>
              </a:rPr>
              <a:t>pd</a:t>
            </a:r>
          </a:p>
          <a:p>
            <a:r>
              <a:rPr sz="1450" b="1" i="0">
                <a:solidFill>
                  <a:srgbClr val="1F2328"/>
                </a:solidFill>
                <a:latin typeface="Courier New"/>
              </a:rPr>
              <a:t>import</a:t>
            </a:r>
            <a:r>
              <a:rPr sz="1450" b="0" i="0">
                <a:solidFill>
                  <a:srgbClr val="1F2328"/>
                </a:solidFill>
                <a:latin typeface="Courier New"/>
              </a:rPr>
              <a:t> </a:t>
            </a:r>
            <a:r>
              <a:rPr sz="1450" b="0" i="0">
                <a:solidFill>
                  <a:srgbClr val="1F2328"/>
                </a:solidFill>
                <a:latin typeface="Courier New"/>
              </a:rPr>
              <a:t>streamlit</a:t>
            </a:r>
            <a:r>
              <a:rPr sz="1450" b="0" i="0">
                <a:solidFill>
                  <a:srgbClr val="1F2328"/>
                </a:solidFill>
                <a:latin typeface="Courier New"/>
              </a:rPr>
              <a:t> </a:t>
            </a:r>
            <a:r>
              <a:rPr sz="1450" b="1" i="0">
                <a:solidFill>
                  <a:srgbClr val="1F2328"/>
                </a:solidFill>
                <a:latin typeface="Courier New"/>
              </a:rPr>
              <a:t>as</a:t>
            </a:r>
            <a:r>
              <a:rPr sz="1450" b="0" i="0">
                <a:solidFill>
                  <a:srgbClr val="1F2328"/>
                </a:solidFill>
                <a:latin typeface="Courier New"/>
              </a:rPr>
              <a:t> </a:t>
            </a:r>
            <a:r>
              <a:rPr sz="1450" b="0" i="0">
                <a:solidFill>
                  <a:srgbClr val="1F2328"/>
                </a:solidFill>
                <a:latin typeface="Courier New"/>
              </a:rPr>
              <a:t>st</a:t>
            </a:r>
          </a:p>
          <a:p>
            <a:r>
              <a:rPr sz="1450" b="0" i="0">
                <a:solidFill>
                  <a:srgbClr val="1F2328"/>
                </a:solidFill>
                <a:latin typeface="Courier New"/>
              </a:rPr>
              <a:t>model</a:t>
            </a:r>
            <a:r>
              <a:rPr sz="1450" b="0" i="0">
                <a:solidFill>
                  <a:srgbClr val="1F2328"/>
                </a:solidFill>
                <a:latin typeface="Courier New"/>
              </a:rPr>
              <a:t> </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joblib</a:t>
            </a:r>
            <a:r>
              <a:rPr sz="1450" b="0" i="0">
                <a:solidFill>
                  <a:srgbClr val="1F2328"/>
                </a:solidFill>
                <a:latin typeface="Courier New"/>
              </a:rPr>
              <a:t>.</a:t>
            </a:r>
            <a:r>
              <a:rPr sz="1450" b="0" i="0">
                <a:solidFill>
                  <a:srgbClr val="1F2328"/>
                </a:solidFill>
                <a:latin typeface="Courier New"/>
              </a:rPr>
              <a:t>load</a:t>
            </a:r>
            <a:r>
              <a:rPr sz="1450" b="0" i="0">
                <a:solidFill>
                  <a:srgbClr val="1F2328"/>
                </a:solidFill>
                <a:latin typeface="Courier New"/>
              </a:rPr>
              <a:t>(</a:t>
            </a:r>
            <a:r>
              <a:rPr sz="1450" b="0" i="0">
                <a:solidFill>
                  <a:srgbClr val="B04A2B"/>
                </a:solidFill>
                <a:latin typeface="Courier New"/>
              </a:rPr>
              <a:t>'loan_model.joblib'</a:t>
            </a:r>
            <a:r>
              <a:rPr sz="1450" b="0" i="0">
                <a:solidFill>
                  <a:srgbClr val="1F2328"/>
                </a:solidFill>
                <a:latin typeface="Courier New"/>
              </a:rPr>
              <a:t>)</a:t>
            </a:r>
          </a:p>
          <a:p>
            <a:r>
              <a:rPr sz="1450" b="0" i="0">
                <a:solidFill>
                  <a:srgbClr val="1F2328"/>
                </a:solidFill>
                <a:latin typeface="Courier New"/>
              </a:rPr>
              <a:t>st</a:t>
            </a:r>
            <a:r>
              <a:rPr sz="1450" b="0" i="0">
                <a:solidFill>
                  <a:srgbClr val="1F2328"/>
                </a:solidFill>
                <a:latin typeface="Courier New"/>
              </a:rPr>
              <a:t>.</a:t>
            </a:r>
            <a:r>
              <a:rPr sz="1450" b="0" i="0">
                <a:solidFill>
                  <a:srgbClr val="1F2328"/>
                </a:solidFill>
                <a:latin typeface="Courier New"/>
              </a:rPr>
              <a:t>title</a:t>
            </a:r>
            <a:r>
              <a:rPr sz="1450" b="0" i="0">
                <a:solidFill>
                  <a:srgbClr val="1F2328"/>
                </a:solidFill>
                <a:latin typeface="Courier New"/>
              </a:rPr>
              <a:t>(</a:t>
            </a:r>
            <a:r>
              <a:rPr sz="1450" b="0" i="0">
                <a:solidFill>
                  <a:srgbClr val="B04A2B"/>
                </a:solidFill>
                <a:latin typeface="Courier New"/>
              </a:rPr>
              <a:t>'Loan risk checker'</a:t>
            </a:r>
            <a:r>
              <a:rPr sz="1450" b="0" i="0">
                <a:solidFill>
                  <a:srgbClr val="1F2328"/>
                </a:solidFill>
                <a:latin typeface="Courier New"/>
              </a:rPr>
              <a:t>)</a:t>
            </a:r>
          </a:p>
          <a:p>
            <a:r>
              <a:rPr sz="1450" b="0" i="0">
                <a:solidFill>
                  <a:srgbClr val="1F2328"/>
                </a:solidFill>
                <a:latin typeface="Courier New"/>
              </a:rPr>
              <a:t>st</a:t>
            </a:r>
            <a:r>
              <a:rPr sz="1450" b="0" i="0">
                <a:solidFill>
                  <a:srgbClr val="1F2328"/>
                </a:solidFill>
                <a:latin typeface="Courier New"/>
              </a:rPr>
              <a:t>.</a:t>
            </a:r>
            <a:r>
              <a:rPr sz="1450" b="0" i="0">
                <a:solidFill>
                  <a:srgbClr val="1F2328"/>
                </a:solidFill>
                <a:latin typeface="Courier New"/>
              </a:rPr>
              <a:t>caption</a:t>
            </a:r>
            <a:r>
              <a:rPr sz="1450" b="0" i="0">
                <a:solidFill>
                  <a:srgbClr val="1F2328"/>
                </a:solidFill>
                <a:latin typeface="Courier New"/>
              </a:rPr>
              <a:t>(</a:t>
            </a:r>
            <a:r>
              <a:rPr sz="1450" b="0" i="0">
                <a:solidFill>
                  <a:srgbClr val="B04A2B"/>
                </a:solidFill>
                <a:latin typeface="Courier New"/>
              </a:rPr>
              <a:t>'Teaching model, fictional data. A person decides.'</a:t>
            </a:r>
            <a:r>
              <a:rPr sz="1450" b="0" i="0">
                <a:solidFill>
                  <a:srgbClr val="1F2328"/>
                </a:solidFill>
                <a:latin typeface="Courier New"/>
              </a:rPr>
              <a:t>)</a:t>
            </a:r>
          </a:p>
          <a:p>
            <a:r>
              <a:rPr sz="1450" b="0" i="0">
                <a:solidFill>
                  <a:srgbClr val="1F2328"/>
                </a:solidFill>
                <a:latin typeface="Courier New"/>
              </a:rPr>
              <a:t>income</a:t>
            </a:r>
            <a:r>
              <a:rPr sz="1450" b="0" i="0">
                <a:solidFill>
                  <a:srgbClr val="1F2328"/>
                </a:solidFill>
                <a:latin typeface="Courier New"/>
              </a:rPr>
              <a:t> </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st</a:t>
            </a:r>
            <a:r>
              <a:rPr sz="1450" b="0" i="0">
                <a:solidFill>
                  <a:srgbClr val="1F2328"/>
                </a:solidFill>
                <a:latin typeface="Courier New"/>
              </a:rPr>
              <a:t>.</a:t>
            </a:r>
            <a:r>
              <a:rPr sz="1450" b="0" i="0">
                <a:solidFill>
                  <a:srgbClr val="1F2328"/>
                </a:solidFill>
                <a:latin typeface="Courier New"/>
              </a:rPr>
              <a:t>number_input</a:t>
            </a:r>
            <a:r>
              <a:rPr sz="1450" b="0" i="0">
                <a:solidFill>
                  <a:srgbClr val="1F2328"/>
                </a:solidFill>
                <a:latin typeface="Courier New"/>
              </a:rPr>
              <a:t>(</a:t>
            </a:r>
            <a:r>
              <a:rPr sz="1450" b="0" i="0">
                <a:solidFill>
                  <a:srgbClr val="B04A2B"/>
                </a:solidFill>
                <a:latin typeface="Courier New"/>
              </a:rPr>
              <a:t>'Monthly income (UGX)'</a:t>
            </a:r>
            <a:r>
              <a:rPr sz="1450" b="0" i="0">
                <a:solidFill>
                  <a:srgbClr val="1F2328"/>
                </a:solidFill>
                <a:latin typeface="Courier New"/>
              </a:rPr>
              <a:t>,</a:t>
            </a:r>
            <a:r>
              <a:rPr sz="1450" b="0" i="0">
                <a:solidFill>
                  <a:srgbClr val="1F2328"/>
                </a:solidFill>
                <a:latin typeface="Courier New"/>
              </a:rPr>
              <a:t> </a:t>
            </a:r>
            <a:r>
              <a:rPr sz="1450" b="0" i="0">
                <a:solidFill>
                  <a:srgbClr val="3B4046"/>
                </a:solidFill>
                <a:latin typeface="Courier New"/>
              </a:rPr>
              <a:t>100000</a:t>
            </a:r>
            <a:r>
              <a:rPr sz="1450" b="0" i="0">
                <a:solidFill>
                  <a:srgbClr val="1F2328"/>
                </a:solidFill>
                <a:latin typeface="Courier New"/>
              </a:rPr>
              <a:t>,</a:t>
            </a:r>
            <a:r>
              <a:rPr sz="1450" b="0" i="0">
                <a:solidFill>
                  <a:srgbClr val="1F2328"/>
                </a:solidFill>
                <a:latin typeface="Courier New"/>
              </a:rPr>
              <a:t> </a:t>
            </a:r>
            <a:r>
              <a:rPr sz="1450" b="0" i="0">
                <a:solidFill>
                  <a:srgbClr val="3B4046"/>
                </a:solidFill>
                <a:latin typeface="Courier New"/>
              </a:rPr>
              <a:t>5000000</a:t>
            </a:r>
            <a:r>
              <a:rPr sz="1450" b="0" i="0">
                <a:solidFill>
                  <a:srgbClr val="1F2328"/>
                </a:solidFill>
                <a:latin typeface="Courier New"/>
              </a:rPr>
              <a:t>,</a:t>
            </a:r>
            <a:r>
              <a:rPr sz="1450" b="0" i="0">
                <a:solidFill>
                  <a:srgbClr val="1F2328"/>
                </a:solidFill>
                <a:latin typeface="Courier New"/>
              </a:rPr>
              <a:t> </a:t>
            </a:r>
            <a:r>
              <a:rPr sz="1450" b="0" i="0">
                <a:solidFill>
                  <a:srgbClr val="3B4046"/>
                </a:solidFill>
                <a:latin typeface="Courier New"/>
              </a:rPr>
              <a:t>600000</a:t>
            </a:r>
            <a:r>
              <a:rPr sz="1450" b="0" i="0">
                <a:solidFill>
                  <a:srgbClr val="1F2328"/>
                </a:solidFill>
                <a:latin typeface="Courier New"/>
              </a:rPr>
              <a:t>)</a:t>
            </a:r>
          </a:p>
          <a:p>
            <a:r>
              <a:rPr sz="1450" b="0" i="0">
                <a:solidFill>
                  <a:srgbClr val="1F2328"/>
                </a:solidFill>
                <a:latin typeface="Courier New"/>
              </a:rPr>
              <a:t>amount</a:t>
            </a:r>
            <a:r>
              <a:rPr sz="1450" b="0" i="0">
                <a:solidFill>
                  <a:srgbClr val="1F2328"/>
                </a:solidFill>
                <a:latin typeface="Courier New"/>
              </a:rPr>
              <a:t> </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st</a:t>
            </a:r>
            <a:r>
              <a:rPr sz="1450" b="0" i="0">
                <a:solidFill>
                  <a:srgbClr val="1F2328"/>
                </a:solidFill>
                <a:latin typeface="Courier New"/>
              </a:rPr>
              <a:t>.</a:t>
            </a:r>
            <a:r>
              <a:rPr sz="1450" b="0" i="0">
                <a:solidFill>
                  <a:srgbClr val="1F2328"/>
                </a:solidFill>
                <a:latin typeface="Courier New"/>
              </a:rPr>
              <a:t>number_input</a:t>
            </a:r>
            <a:r>
              <a:rPr sz="1450" b="0" i="0">
                <a:solidFill>
                  <a:srgbClr val="1F2328"/>
                </a:solidFill>
                <a:latin typeface="Courier New"/>
              </a:rPr>
              <a:t>(</a:t>
            </a:r>
            <a:r>
              <a:rPr sz="1450" b="0" i="0">
                <a:solidFill>
                  <a:srgbClr val="B04A2B"/>
                </a:solidFill>
                <a:latin typeface="Courier New"/>
              </a:rPr>
              <a:t>'Loan amount (UGX)'</a:t>
            </a:r>
            <a:r>
              <a:rPr sz="1450" b="0" i="0">
                <a:solidFill>
                  <a:srgbClr val="1F2328"/>
                </a:solidFill>
                <a:latin typeface="Courier New"/>
              </a:rPr>
              <a:t>,</a:t>
            </a:r>
            <a:r>
              <a:rPr sz="1450" b="0" i="0">
                <a:solidFill>
                  <a:srgbClr val="1F2328"/>
                </a:solidFill>
                <a:latin typeface="Courier New"/>
              </a:rPr>
              <a:t> </a:t>
            </a:r>
            <a:r>
              <a:rPr sz="1450" b="0" i="0">
                <a:solidFill>
                  <a:srgbClr val="3B4046"/>
                </a:solidFill>
                <a:latin typeface="Courier New"/>
              </a:rPr>
              <a:t>200000</a:t>
            </a:r>
            <a:r>
              <a:rPr sz="1450" b="0" i="0">
                <a:solidFill>
                  <a:srgbClr val="1F2328"/>
                </a:solidFill>
                <a:latin typeface="Courier New"/>
              </a:rPr>
              <a:t>,</a:t>
            </a:r>
            <a:r>
              <a:rPr sz="1450" b="0" i="0">
                <a:solidFill>
                  <a:srgbClr val="1F2328"/>
                </a:solidFill>
                <a:latin typeface="Courier New"/>
              </a:rPr>
              <a:t> </a:t>
            </a:r>
            <a:r>
              <a:rPr sz="1450" b="0" i="0">
                <a:solidFill>
                  <a:srgbClr val="3B4046"/>
                </a:solidFill>
                <a:latin typeface="Courier New"/>
              </a:rPr>
              <a:t>6000000</a:t>
            </a:r>
            <a:r>
              <a:rPr sz="1450" b="0" i="0">
                <a:solidFill>
                  <a:srgbClr val="1F2328"/>
                </a:solidFill>
                <a:latin typeface="Courier New"/>
              </a:rPr>
              <a:t>,</a:t>
            </a:r>
            <a:r>
              <a:rPr sz="1450" b="0" i="0">
                <a:solidFill>
                  <a:srgbClr val="1F2328"/>
                </a:solidFill>
                <a:latin typeface="Courier New"/>
              </a:rPr>
              <a:t> </a:t>
            </a:r>
            <a:r>
              <a:rPr sz="1450" b="0" i="0">
                <a:solidFill>
                  <a:srgbClr val="3B4046"/>
                </a:solidFill>
                <a:latin typeface="Courier New"/>
              </a:rPr>
              <a:t>1500000</a:t>
            </a:r>
            <a:r>
              <a:rPr sz="1450" b="0" i="0">
                <a:solidFill>
                  <a:srgbClr val="1F2328"/>
                </a:solidFill>
                <a:latin typeface="Courier New"/>
              </a:rPr>
              <a:t>)</a:t>
            </a:r>
          </a:p>
          <a:p>
            <a:r>
              <a:rPr sz="1450" b="0" i="0">
                <a:solidFill>
                  <a:srgbClr val="1F2328"/>
                </a:solidFill>
                <a:latin typeface="Courier New"/>
              </a:rPr>
              <a:t>months</a:t>
            </a:r>
            <a:r>
              <a:rPr sz="1450" b="0" i="0">
                <a:solidFill>
                  <a:srgbClr val="1F2328"/>
                </a:solidFill>
                <a:latin typeface="Courier New"/>
              </a:rPr>
              <a:t> </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st</a:t>
            </a:r>
            <a:r>
              <a:rPr sz="1450" b="0" i="0">
                <a:solidFill>
                  <a:srgbClr val="1F2328"/>
                </a:solidFill>
                <a:latin typeface="Courier New"/>
              </a:rPr>
              <a:t>.</a:t>
            </a:r>
            <a:r>
              <a:rPr sz="1450" b="0" i="0">
                <a:solidFill>
                  <a:srgbClr val="1F2328"/>
                </a:solidFill>
                <a:latin typeface="Courier New"/>
              </a:rPr>
              <a:t>slider</a:t>
            </a:r>
            <a:r>
              <a:rPr sz="1450" b="0" i="0">
                <a:solidFill>
                  <a:srgbClr val="1F2328"/>
                </a:solidFill>
                <a:latin typeface="Courier New"/>
              </a:rPr>
              <a:t>(</a:t>
            </a:r>
            <a:r>
              <a:rPr sz="1450" b="0" i="0">
                <a:solidFill>
                  <a:srgbClr val="B04A2B"/>
                </a:solidFill>
                <a:latin typeface="Courier New"/>
              </a:rPr>
              <a:t>'Term in months'</a:t>
            </a:r>
            <a:r>
              <a:rPr sz="1450" b="0" i="0">
                <a:solidFill>
                  <a:srgbClr val="1F2328"/>
                </a:solidFill>
                <a:latin typeface="Courier New"/>
              </a:rPr>
              <a:t>,</a:t>
            </a:r>
            <a:r>
              <a:rPr sz="1450" b="0" i="0">
                <a:solidFill>
                  <a:srgbClr val="1F2328"/>
                </a:solidFill>
                <a:latin typeface="Courier New"/>
              </a:rPr>
              <a:t> </a:t>
            </a:r>
            <a:r>
              <a:rPr sz="1450" b="0" i="0">
                <a:solidFill>
                  <a:srgbClr val="3B4046"/>
                </a:solidFill>
                <a:latin typeface="Courier New"/>
              </a:rPr>
              <a:t>3</a:t>
            </a:r>
            <a:r>
              <a:rPr sz="1450" b="0" i="0">
                <a:solidFill>
                  <a:srgbClr val="1F2328"/>
                </a:solidFill>
                <a:latin typeface="Courier New"/>
              </a:rPr>
              <a:t>,</a:t>
            </a:r>
            <a:r>
              <a:rPr sz="1450" b="0" i="0">
                <a:solidFill>
                  <a:srgbClr val="1F2328"/>
                </a:solidFill>
                <a:latin typeface="Courier New"/>
              </a:rPr>
              <a:t> </a:t>
            </a:r>
            <a:r>
              <a:rPr sz="1450" b="0" i="0">
                <a:solidFill>
                  <a:srgbClr val="3B4046"/>
                </a:solidFill>
                <a:latin typeface="Courier New"/>
              </a:rPr>
              <a:t>12</a:t>
            </a:r>
            <a:r>
              <a:rPr sz="1450" b="0" i="0">
                <a:solidFill>
                  <a:srgbClr val="1F2328"/>
                </a:solidFill>
                <a:latin typeface="Courier New"/>
              </a:rPr>
              <a:t>,</a:t>
            </a:r>
            <a:r>
              <a:rPr sz="1450" b="0" i="0">
                <a:solidFill>
                  <a:srgbClr val="1F2328"/>
                </a:solidFill>
                <a:latin typeface="Courier New"/>
              </a:rPr>
              <a:t> </a:t>
            </a:r>
            <a:r>
              <a:rPr sz="1450" b="0" i="0">
                <a:solidFill>
                  <a:srgbClr val="3B4046"/>
                </a:solidFill>
                <a:latin typeface="Courier New"/>
              </a:rPr>
              <a:t>6</a:t>
            </a:r>
            <a:r>
              <a:rPr sz="1450" b="0" i="0">
                <a:solidFill>
                  <a:srgbClr val="1F2328"/>
                </a:solidFill>
                <a:latin typeface="Courier New"/>
              </a:rPr>
              <a:t>)</a:t>
            </a:r>
          </a:p>
          <a:p>
            <a:r>
              <a:rPr sz="1450" b="0" i="0">
                <a:solidFill>
                  <a:srgbClr val="1F2328"/>
                </a:solidFill>
                <a:latin typeface="Courier New"/>
              </a:rPr>
              <a:t>late</a:t>
            </a:r>
            <a:r>
              <a:rPr sz="1450" b="0" i="0">
                <a:solidFill>
                  <a:srgbClr val="1F2328"/>
                </a:solidFill>
                <a:latin typeface="Courier New"/>
              </a:rPr>
              <a:t> </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st</a:t>
            </a:r>
            <a:r>
              <a:rPr sz="1450" b="0" i="0">
                <a:solidFill>
                  <a:srgbClr val="1F2328"/>
                </a:solidFill>
                <a:latin typeface="Courier New"/>
              </a:rPr>
              <a:t>.</a:t>
            </a:r>
            <a:r>
              <a:rPr sz="1450" b="0" i="0">
                <a:solidFill>
                  <a:srgbClr val="1F2328"/>
                </a:solidFill>
                <a:latin typeface="Courier New"/>
              </a:rPr>
              <a:t>slider</a:t>
            </a:r>
            <a:r>
              <a:rPr sz="1450" b="0" i="0">
                <a:solidFill>
                  <a:srgbClr val="1F2328"/>
                </a:solidFill>
                <a:latin typeface="Courier New"/>
              </a:rPr>
              <a:t>(</a:t>
            </a:r>
            <a:r>
              <a:rPr sz="1450" b="0" i="0">
                <a:solidFill>
                  <a:srgbClr val="B04A2B"/>
                </a:solidFill>
                <a:latin typeface="Courier New"/>
              </a:rPr>
              <a:t>'Previous late payments'</a:t>
            </a:r>
            <a:r>
              <a:rPr sz="1450" b="0" i="0">
                <a:solidFill>
                  <a:srgbClr val="1F2328"/>
                </a:solidFill>
                <a:latin typeface="Courier New"/>
              </a:rPr>
              <a:t>,</a:t>
            </a:r>
            <a:r>
              <a:rPr sz="1450" b="0" i="0">
                <a:solidFill>
                  <a:srgbClr val="1F2328"/>
                </a:solidFill>
                <a:latin typeface="Courier New"/>
              </a:rPr>
              <a:t> </a:t>
            </a:r>
            <a:r>
              <a:rPr sz="1450" b="0" i="0">
                <a:solidFill>
                  <a:srgbClr val="3B4046"/>
                </a:solidFill>
                <a:latin typeface="Courier New"/>
              </a:rPr>
              <a:t>0</a:t>
            </a:r>
            <a:r>
              <a:rPr sz="1450" b="0" i="0">
                <a:solidFill>
                  <a:srgbClr val="1F2328"/>
                </a:solidFill>
                <a:latin typeface="Courier New"/>
              </a:rPr>
              <a:t>,</a:t>
            </a:r>
            <a:r>
              <a:rPr sz="1450" b="0" i="0">
                <a:solidFill>
                  <a:srgbClr val="1F2328"/>
                </a:solidFill>
                <a:latin typeface="Courier New"/>
              </a:rPr>
              <a:t> </a:t>
            </a:r>
            <a:r>
              <a:rPr sz="1450" b="0" i="0">
                <a:solidFill>
                  <a:srgbClr val="3B4046"/>
                </a:solidFill>
                <a:latin typeface="Courier New"/>
              </a:rPr>
              <a:t>6</a:t>
            </a:r>
            <a:r>
              <a:rPr sz="1450" b="0" i="0">
                <a:solidFill>
                  <a:srgbClr val="1F2328"/>
                </a:solidFill>
                <a:latin typeface="Courier New"/>
              </a:rPr>
              <a:t>,</a:t>
            </a:r>
            <a:r>
              <a:rPr sz="1450" b="0" i="0">
                <a:solidFill>
                  <a:srgbClr val="1F2328"/>
                </a:solidFill>
                <a:latin typeface="Courier New"/>
              </a:rPr>
              <a:t> </a:t>
            </a:r>
            <a:r>
              <a:rPr sz="1450" b="0" i="0">
                <a:solidFill>
                  <a:srgbClr val="3B4046"/>
                </a:solidFill>
                <a:latin typeface="Courier New"/>
              </a:rPr>
              <a:t>0</a:t>
            </a:r>
            <a:r>
              <a:rPr sz="1450" b="0" i="0">
                <a:solidFill>
                  <a:srgbClr val="1F2328"/>
                </a:solidFill>
                <a:latin typeface="Courier New"/>
              </a:rPr>
              <a:t>)</a:t>
            </a:r>
          </a:p>
          <a:p>
            <a:r>
              <a:rPr sz="1450" b="0" i="0">
                <a:solidFill>
                  <a:srgbClr val="1F2328"/>
                </a:solidFill>
                <a:latin typeface="Courier New"/>
              </a:rPr>
              <a:t>row</a:t>
            </a:r>
            <a:r>
              <a:rPr sz="1450" b="0" i="0">
                <a:solidFill>
                  <a:srgbClr val="1F2328"/>
                </a:solidFill>
                <a:latin typeface="Courier New"/>
              </a:rPr>
              <a:t> </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pd</a:t>
            </a:r>
            <a:r>
              <a:rPr sz="1450" b="0" i="0">
                <a:solidFill>
                  <a:srgbClr val="1F2328"/>
                </a:solidFill>
                <a:latin typeface="Courier New"/>
              </a:rPr>
              <a:t>.</a:t>
            </a:r>
            <a:r>
              <a:rPr sz="1450" b="0" i="0">
                <a:solidFill>
                  <a:srgbClr val="1F2328"/>
                </a:solidFill>
                <a:latin typeface="Courier New"/>
              </a:rPr>
              <a:t>DataFrame</a:t>
            </a:r>
            <a:r>
              <a:rPr sz="1450" b="0" i="0">
                <a:solidFill>
                  <a:srgbClr val="1F2328"/>
                </a:solidFill>
                <a:latin typeface="Courier New"/>
              </a:rPr>
              <a:t>(</a:t>
            </a:r>
            <a:r>
              <a:rPr sz="1450" b="0" i="0">
                <a:solidFill>
                  <a:srgbClr val="1F2328"/>
                </a:solidFill>
                <a:latin typeface="Courier New"/>
              </a:rPr>
              <a:t>{</a:t>
            </a:r>
          </a:p>
          <a:p>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 </a:t>
            </a:r>
            <a:r>
              <a:rPr sz="1450" b="0" i="0">
                <a:solidFill>
                  <a:srgbClr val="B04A2B"/>
                </a:solidFill>
                <a:latin typeface="Courier New"/>
              </a:rPr>
              <a:t>'monthly_income_ugx'</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a:t>
            </a:r>
            <a:r>
              <a:rPr sz="1450" b="0" i="0">
                <a:solidFill>
                  <a:srgbClr val="1F2328"/>
                </a:solidFill>
                <a:latin typeface="Courier New"/>
              </a:rPr>
              <a:t>income</a:t>
            </a:r>
            <a:r>
              <a:rPr sz="1450" b="0" i="0">
                <a:solidFill>
                  <a:srgbClr val="1F2328"/>
                </a:solidFill>
                <a:latin typeface="Courier New"/>
              </a:rPr>
              <a:t>]</a:t>
            </a:r>
            <a:r>
              <a:rPr sz="1450" b="0" i="0">
                <a:solidFill>
                  <a:srgbClr val="1F2328"/>
                </a:solidFill>
                <a:latin typeface="Courier New"/>
              </a:rPr>
              <a:t>,</a:t>
            </a:r>
          </a:p>
          <a:p>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 </a:t>
            </a:r>
            <a:r>
              <a:rPr sz="1450" b="0" i="0">
                <a:solidFill>
                  <a:srgbClr val="B04A2B"/>
                </a:solidFill>
                <a:latin typeface="Courier New"/>
              </a:rPr>
              <a:t>'loan_amount_ugx'</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a:t>
            </a:r>
            <a:r>
              <a:rPr sz="1450" b="0" i="0">
                <a:solidFill>
                  <a:srgbClr val="1F2328"/>
                </a:solidFill>
                <a:latin typeface="Courier New"/>
              </a:rPr>
              <a:t>amount</a:t>
            </a:r>
            <a:r>
              <a:rPr sz="1450" b="0" i="0">
                <a:solidFill>
                  <a:srgbClr val="1F2328"/>
                </a:solidFill>
                <a:latin typeface="Courier New"/>
              </a:rPr>
              <a:t>]</a:t>
            </a:r>
            <a:r>
              <a:rPr sz="1450" b="0" i="0">
                <a:solidFill>
                  <a:srgbClr val="1F2328"/>
                </a:solidFill>
                <a:latin typeface="Courier New"/>
              </a:rPr>
              <a:t>,</a:t>
            </a:r>
          </a:p>
          <a:p>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 </a:t>
            </a:r>
            <a:r>
              <a:rPr sz="1450" b="0" i="0">
                <a:solidFill>
                  <a:srgbClr val="B04A2B"/>
                </a:solidFill>
                <a:latin typeface="Courier New"/>
              </a:rPr>
              <a:t>'term_months'</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a:t>
            </a:r>
            <a:r>
              <a:rPr sz="1450" b="0" i="0">
                <a:solidFill>
                  <a:srgbClr val="1F2328"/>
                </a:solidFill>
                <a:latin typeface="Courier New"/>
              </a:rPr>
              <a:t>months</a:t>
            </a:r>
            <a:r>
              <a:rPr sz="1450" b="0" i="0">
                <a:solidFill>
                  <a:srgbClr val="1F2328"/>
                </a:solidFill>
                <a:latin typeface="Courier New"/>
              </a:rPr>
              <a:t>]</a:t>
            </a:r>
            <a:r>
              <a:rPr sz="1450" b="0" i="0">
                <a:solidFill>
                  <a:srgbClr val="1F2328"/>
                </a:solidFill>
                <a:latin typeface="Courier New"/>
              </a:rPr>
              <a:t>,</a:t>
            </a:r>
          </a:p>
          <a:p>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 </a:t>
            </a:r>
            <a:r>
              <a:rPr sz="1450" b="0" i="0">
                <a:solidFill>
                  <a:srgbClr val="B04A2B"/>
                </a:solidFill>
                <a:latin typeface="Courier New"/>
              </a:rPr>
              <a:t>'previous_late_payments'</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a:t>
            </a:r>
            <a:r>
              <a:rPr sz="1450" b="0" i="0">
                <a:solidFill>
                  <a:srgbClr val="1F2328"/>
                </a:solidFill>
                <a:latin typeface="Courier New"/>
              </a:rPr>
              <a:t>late</a:t>
            </a:r>
            <a:r>
              <a:rPr sz="1450" b="0" i="0">
                <a:solidFill>
                  <a:srgbClr val="1F2328"/>
                </a:solidFill>
                <a:latin typeface="Courier New"/>
              </a:rPr>
              <a:t>]</a:t>
            </a:r>
            <a:r>
              <a:rPr sz="1450" b="0" i="0">
                <a:solidFill>
                  <a:srgbClr val="1F2328"/>
                </a:solidFill>
                <a:latin typeface="Courier New"/>
              </a:rPr>
              <a:t>,</a:t>
            </a:r>
          </a:p>
          <a:p>
            <a:r>
              <a:rPr sz="1450" b="0" i="0">
                <a:solidFill>
                  <a:srgbClr val="1F2328"/>
                </a:solidFill>
                <a:latin typeface="Courier New"/>
              </a:rPr>
              <a:t>}</a:t>
            </a:r>
            <a:r>
              <a:rPr sz="1450" b="0" i="0">
                <a:solidFill>
                  <a:srgbClr val="1F2328"/>
                </a:solidFill>
                <a:latin typeface="Courier New"/>
              </a:rPr>
              <a:t>)</a:t>
            </a:r>
          </a:p>
          <a:p>
            <a:r>
              <a:rPr sz="1450" b="1" i="0">
                <a:solidFill>
                  <a:srgbClr val="1F2328"/>
                </a:solidFill>
                <a:latin typeface="Courier New"/>
              </a:rPr>
              <a:t>if</a:t>
            </a:r>
            <a:r>
              <a:rPr sz="1450" b="0" i="0">
                <a:solidFill>
                  <a:srgbClr val="1F2328"/>
                </a:solidFill>
                <a:latin typeface="Courier New"/>
              </a:rPr>
              <a:t> </a:t>
            </a:r>
            <a:r>
              <a:rPr sz="1450" b="0" i="0">
                <a:solidFill>
                  <a:srgbClr val="1F2328"/>
                </a:solidFill>
                <a:latin typeface="Courier New"/>
              </a:rPr>
              <a:t>st</a:t>
            </a:r>
            <a:r>
              <a:rPr sz="1450" b="0" i="0">
                <a:solidFill>
                  <a:srgbClr val="1F2328"/>
                </a:solidFill>
                <a:latin typeface="Courier New"/>
              </a:rPr>
              <a:t>.</a:t>
            </a:r>
            <a:r>
              <a:rPr sz="1450" b="0" i="0">
                <a:solidFill>
                  <a:srgbClr val="1F2328"/>
                </a:solidFill>
                <a:latin typeface="Courier New"/>
              </a:rPr>
              <a:t>button</a:t>
            </a:r>
            <a:r>
              <a:rPr sz="1450" b="0" i="0">
                <a:solidFill>
                  <a:srgbClr val="1F2328"/>
                </a:solidFill>
                <a:latin typeface="Courier New"/>
              </a:rPr>
              <a:t>(</a:t>
            </a:r>
            <a:r>
              <a:rPr sz="1450" b="0" i="0">
                <a:solidFill>
                  <a:srgbClr val="B04A2B"/>
                </a:solidFill>
                <a:latin typeface="Courier New"/>
              </a:rPr>
              <a:t>'Show probability'</a:t>
            </a:r>
            <a:r>
              <a:rPr sz="1450" b="0" i="0">
                <a:solidFill>
                  <a:srgbClr val="1F2328"/>
                </a:solidFill>
                <a:latin typeface="Courier New"/>
              </a:rPr>
              <a:t>)</a:t>
            </a:r>
            <a:r>
              <a:rPr sz="1450" b="0" i="0">
                <a:solidFill>
                  <a:srgbClr val="1F2328"/>
                </a:solidFill>
                <a:latin typeface="Courier New"/>
              </a:rPr>
              <a:t>:</a:t>
            </a:r>
          </a:p>
          <a:p>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p</a:t>
            </a:r>
            <a:r>
              <a:rPr sz="1450" b="0" i="0">
                <a:solidFill>
                  <a:srgbClr val="1F2328"/>
                </a:solidFill>
                <a:latin typeface="Courier New"/>
              </a:rPr>
              <a:t> </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model</a:t>
            </a:r>
            <a:r>
              <a:rPr sz="1450" b="0" i="0">
                <a:solidFill>
                  <a:srgbClr val="1F2328"/>
                </a:solidFill>
                <a:latin typeface="Courier New"/>
              </a:rPr>
              <a:t>.</a:t>
            </a:r>
            <a:r>
              <a:rPr sz="1450" b="0" i="0">
                <a:solidFill>
                  <a:srgbClr val="1F2328"/>
                </a:solidFill>
                <a:latin typeface="Courier New"/>
              </a:rPr>
              <a:t>predict_proba</a:t>
            </a:r>
            <a:r>
              <a:rPr sz="1450" b="0" i="0">
                <a:solidFill>
                  <a:srgbClr val="1F2328"/>
                </a:solidFill>
                <a:latin typeface="Courier New"/>
              </a:rPr>
              <a:t>(</a:t>
            </a:r>
            <a:r>
              <a:rPr sz="1450" b="0" i="0">
                <a:solidFill>
                  <a:srgbClr val="1F2328"/>
                </a:solidFill>
                <a:latin typeface="Courier New"/>
              </a:rPr>
              <a:t>row</a:t>
            </a:r>
            <a:r>
              <a:rPr sz="1450" b="0" i="0">
                <a:solidFill>
                  <a:srgbClr val="1F2328"/>
                </a:solidFill>
                <a:latin typeface="Courier New"/>
              </a:rPr>
              <a:t>)</a:t>
            </a:r>
            <a:r>
              <a:rPr sz="1450" b="0" i="0">
                <a:solidFill>
                  <a:srgbClr val="1F2328"/>
                </a:solidFill>
                <a:latin typeface="Courier New"/>
              </a:rPr>
              <a:t>[</a:t>
            </a:r>
            <a:r>
              <a:rPr sz="1450" b="0" i="0">
                <a:solidFill>
                  <a:srgbClr val="3B4046"/>
                </a:solidFill>
                <a:latin typeface="Courier New"/>
              </a:rPr>
              <a:t>0</a:t>
            </a:r>
            <a:r>
              <a:rPr sz="1450" b="0" i="0">
                <a:solidFill>
                  <a:srgbClr val="1F2328"/>
                </a:solidFill>
                <a:latin typeface="Courier New"/>
              </a:rPr>
              <a:t>,</a:t>
            </a:r>
            <a:r>
              <a:rPr sz="1450" b="0" i="0">
                <a:solidFill>
                  <a:srgbClr val="1F2328"/>
                </a:solidFill>
                <a:latin typeface="Courier New"/>
              </a:rPr>
              <a:t> </a:t>
            </a:r>
            <a:r>
              <a:rPr sz="1450" b="0" i="0">
                <a:solidFill>
                  <a:srgbClr val="3B4046"/>
                </a:solidFill>
                <a:latin typeface="Courier New"/>
              </a:rPr>
              <a:t>1</a:t>
            </a:r>
            <a:r>
              <a:rPr sz="1450" b="0" i="0">
                <a:solidFill>
                  <a:srgbClr val="1F2328"/>
                </a:solidFill>
                <a:latin typeface="Courier New"/>
              </a:rPr>
              <a:t>]</a:t>
            </a:r>
          </a:p>
          <a:p>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st</a:t>
            </a:r>
            <a:r>
              <a:rPr sz="1450" b="0" i="0">
                <a:solidFill>
                  <a:srgbClr val="1F2328"/>
                </a:solidFill>
                <a:latin typeface="Courier New"/>
              </a:rPr>
              <a:t>.</a:t>
            </a:r>
            <a:r>
              <a:rPr sz="1450" b="0" i="0">
                <a:solidFill>
                  <a:srgbClr val="1F2328"/>
                </a:solidFill>
                <a:latin typeface="Courier New"/>
              </a:rPr>
              <a:t>metric</a:t>
            </a:r>
            <a:r>
              <a:rPr sz="1450" b="0" i="0">
                <a:solidFill>
                  <a:srgbClr val="1F2328"/>
                </a:solidFill>
                <a:latin typeface="Courier New"/>
              </a:rPr>
              <a:t>(</a:t>
            </a:r>
            <a:r>
              <a:rPr sz="1450" b="0" i="0">
                <a:solidFill>
                  <a:srgbClr val="B04A2B"/>
                </a:solidFill>
                <a:latin typeface="Courier New"/>
              </a:rPr>
              <a:t>'Chance of default'</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f</a:t>
            </a:r>
            <a:r>
              <a:rPr sz="1450" b="0" i="0">
                <a:solidFill>
                  <a:srgbClr val="B04A2B"/>
                </a:solidFill>
                <a:latin typeface="Courier New"/>
              </a:rPr>
              <a:t>'{p:.0%}'</a:t>
            </a:r>
            <a:r>
              <a:rPr sz="1450" b="0" i="0">
                <a:solidFill>
                  <a:srgbClr val="1F2328"/>
                </a:solidFill>
                <a:latin typeface="Courier New"/>
              </a:rPr>
              <a: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Put the app on the internet for free</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23   Ship it: reproducible work, a small app and responsible use</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12</a:t>
            </a:r>
          </a:p>
        </p:txBody>
      </p:sp>
      <p:cxnSp>
        <p:nvCxnSpPr>
          <p:cNvPr id="5" name="Connector 4"/>
          <p:cNvCxnSpPr/>
          <p:nvPr/>
        </p:nvCxnSpPr>
        <p:spPr>
          <a:xfrm>
            <a:off x="795528" y="2286000"/>
            <a:ext cx="10600639" cy="0"/>
          </a:xfrm>
          <a:prstGeom prst="line">
            <a:avLst/>
          </a:prstGeom>
          <a:ln w="19050">
            <a:solidFill>
              <a:srgbClr val="1F2328"/>
            </a:solidFill>
          </a:ln>
        </p:spPr>
      </p:cxnSp>
      <p:grpSp>
        <p:nvGrpSpPr>
          <p:cNvPr id="6" name="step-1"/>
          <p:cNvGrpSpPr/>
          <p:nvPr/>
        </p:nvGrpSpPr>
        <p:grpSpPr>
          <a:xfrm>
            <a:off x="676656" y="2167128"/>
            <a:ext cx="1944563" cy="2999231"/>
            <a:chOff x="676656" y="2167128"/>
            <a:chExt cx="1944563" cy="2999231"/>
          </a:xfrm>
        </p:grpSpPr>
        <p:sp>
          <p:nvSpPr>
            <p:cNvPr id="7" name="Oval 6"/>
            <p:cNvSpPr/>
            <p:nvPr/>
          </p:nvSpPr>
          <p:spPr>
            <a:xfrm>
              <a:off x="676656" y="2167128"/>
              <a:ext cx="237744" cy="237744"/>
            </a:xfrm>
            <a:prstGeom prst="ellipse">
              <a:avLst/>
            </a:prstGeom>
            <a:solidFill>
              <a:srgbClr val="FFFFFF"/>
            </a:solidFill>
            <a:ln w="19050">
              <a:solidFill>
                <a:srgbClr val="1F2328"/>
              </a:solidFill>
            </a:ln>
          </p:spPr>
          <p:txBody>
            <a:bodyPr rtlCol="0" anchor="ctr"/>
            <a:lstStyle/>
            <a:p>
              <a:pPr algn="ctr"/>
            </a:p>
          </p:txBody>
        </p:sp>
        <p:sp>
          <p:nvSpPr>
            <p:cNvPr id="8" name="TextBox 7"/>
            <p:cNvSpPr txBox="1"/>
            <p:nvPr/>
          </p:nvSpPr>
          <p:spPr>
            <a:xfrm>
              <a:off x="685800" y="2606040"/>
              <a:ext cx="1935419" cy="868680"/>
            </a:xfrm>
            <a:prstGeom prst="rect">
              <a:avLst/>
            </a:prstGeom>
            <a:noFill/>
          </p:spPr>
          <p:txBody>
            <a:bodyPr wrap="square" lIns="0" rIns="0" tIns="18288" bIns="18288" anchor="t">
              <a:spAutoFit/>
            </a:bodyPr>
            <a:lstStyle/>
            <a:p>
              <a:pPr algn="l"/>
              <a:r>
                <a:rPr sz="2400" b="1" i="0">
                  <a:solidFill>
                    <a:srgbClr val="1F2328"/>
                  </a:solidFill>
                  <a:latin typeface="Cambria"/>
                </a:rPr>
                <a:t>Repository</a:t>
              </a:r>
            </a:p>
          </p:txBody>
        </p:sp>
        <p:sp>
          <p:nvSpPr>
            <p:cNvPr id="9" name="TextBox 8"/>
            <p:cNvSpPr txBox="1"/>
            <p:nvPr/>
          </p:nvSpPr>
          <p:spPr>
            <a:xfrm>
              <a:off x="685800" y="3114446"/>
              <a:ext cx="1935419" cy="2051913"/>
            </a:xfrm>
            <a:prstGeom prst="rect">
              <a:avLst/>
            </a:prstGeom>
            <a:noFill/>
          </p:spPr>
          <p:txBody>
            <a:bodyPr wrap="square" lIns="0" rIns="0" tIns="18288" bIns="18288" anchor="t">
              <a:spAutoFit/>
            </a:bodyPr>
            <a:lstStyle/>
            <a:p>
              <a:pPr algn="l"/>
              <a:r>
                <a:rPr sz="2200" b="0" i="0">
                  <a:solidFill>
                    <a:srgbClr val="3B4046"/>
                  </a:solidFill>
                  <a:latin typeface="Calibri"/>
                </a:rPr>
                <a:t>Public, with app.py, the model file and requirements.txt</a:t>
              </a:r>
            </a:p>
          </p:txBody>
        </p:sp>
      </p:grpSp>
      <p:grpSp>
        <p:nvGrpSpPr>
          <p:cNvPr id="10" name="step-2"/>
          <p:cNvGrpSpPr/>
          <p:nvPr/>
        </p:nvGrpSpPr>
        <p:grpSpPr>
          <a:xfrm>
            <a:off x="2840675" y="2167128"/>
            <a:ext cx="1944563" cy="2999231"/>
            <a:chOff x="2840675" y="2167128"/>
            <a:chExt cx="1944563" cy="2999231"/>
          </a:xfrm>
        </p:grpSpPr>
        <p:sp>
          <p:nvSpPr>
            <p:cNvPr id="11" name="Oval 10"/>
            <p:cNvSpPr/>
            <p:nvPr/>
          </p:nvSpPr>
          <p:spPr>
            <a:xfrm>
              <a:off x="2840675" y="2167128"/>
              <a:ext cx="237744" cy="237744"/>
            </a:xfrm>
            <a:prstGeom prst="ellipse">
              <a:avLst/>
            </a:prstGeom>
            <a:solidFill>
              <a:srgbClr val="FFFFFF"/>
            </a:solidFill>
            <a:ln w="19050">
              <a:solidFill>
                <a:srgbClr val="1F2328"/>
              </a:solidFill>
            </a:ln>
          </p:spPr>
          <p:txBody>
            <a:bodyPr rtlCol="0" anchor="ctr"/>
            <a:lstStyle/>
            <a:p>
              <a:pPr algn="ctr"/>
            </a:p>
          </p:txBody>
        </p:sp>
        <p:sp>
          <p:nvSpPr>
            <p:cNvPr id="12" name="TextBox 11"/>
            <p:cNvSpPr txBox="1"/>
            <p:nvPr/>
          </p:nvSpPr>
          <p:spPr>
            <a:xfrm>
              <a:off x="2849819" y="2606040"/>
              <a:ext cx="1935419" cy="868680"/>
            </a:xfrm>
            <a:prstGeom prst="rect">
              <a:avLst/>
            </a:prstGeom>
            <a:noFill/>
          </p:spPr>
          <p:txBody>
            <a:bodyPr wrap="square" lIns="0" rIns="0" tIns="18288" bIns="18288" anchor="t">
              <a:spAutoFit/>
            </a:bodyPr>
            <a:lstStyle/>
            <a:p>
              <a:pPr algn="l"/>
              <a:r>
                <a:rPr sz="2400" b="1" i="0">
                  <a:solidFill>
                    <a:srgbClr val="1F2328"/>
                  </a:solidFill>
                  <a:latin typeface="Cambria"/>
                </a:rPr>
                <a:t>Sign in</a:t>
              </a:r>
            </a:p>
          </p:txBody>
        </p:sp>
        <p:sp>
          <p:nvSpPr>
            <p:cNvPr id="13" name="TextBox 12"/>
            <p:cNvSpPr txBox="1"/>
            <p:nvPr/>
          </p:nvSpPr>
          <p:spPr>
            <a:xfrm>
              <a:off x="2849819" y="3114446"/>
              <a:ext cx="1935419" cy="2051913"/>
            </a:xfrm>
            <a:prstGeom prst="rect">
              <a:avLst/>
            </a:prstGeom>
            <a:noFill/>
          </p:spPr>
          <p:txBody>
            <a:bodyPr wrap="square" lIns="0" rIns="0" tIns="18288" bIns="18288" anchor="t">
              <a:spAutoFit/>
            </a:bodyPr>
            <a:lstStyle/>
            <a:p>
              <a:pPr algn="l"/>
              <a:r>
                <a:rPr sz="2200" b="0" i="0">
                  <a:solidFill>
                    <a:srgbClr val="3B4046"/>
                  </a:solidFill>
                  <a:latin typeface="Calibri"/>
                </a:rPr>
                <a:t>Streamlit Community Cloud, with your GitHub account</a:t>
              </a:r>
            </a:p>
          </p:txBody>
        </p:sp>
      </p:grpSp>
      <p:grpSp>
        <p:nvGrpSpPr>
          <p:cNvPr id="14" name="step-3"/>
          <p:cNvGrpSpPr/>
          <p:nvPr/>
        </p:nvGrpSpPr>
        <p:grpSpPr>
          <a:xfrm>
            <a:off x="5004694" y="2167128"/>
            <a:ext cx="1944563" cy="2999231"/>
            <a:chOff x="5004694" y="2167128"/>
            <a:chExt cx="1944563" cy="2999231"/>
          </a:xfrm>
        </p:grpSpPr>
        <p:sp>
          <p:nvSpPr>
            <p:cNvPr id="15" name="Oval 14"/>
            <p:cNvSpPr/>
            <p:nvPr/>
          </p:nvSpPr>
          <p:spPr>
            <a:xfrm>
              <a:off x="5004694" y="2167128"/>
              <a:ext cx="237744" cy="237744"/>
            </a:xfrm>
            <a:prstGeom prst="ellipse">
              <a:avLst/>
            </a:prstGeom>
            <a:solidFill>
              <a:srgbClr val="FFFFFF"/>
            </a:solidFill>
            <a:ln w="19050">
              <a:solidFill>
                <a:srgbClr val="1F2328"/>
              </a:solidFill>
            </a:ln>
          </p:spPr>
          <p:txBody>
            <a:bodyPr rtlCol="0" anchor="ctr"/>
            <a:lstStyle/>
            <a:p>
              <a:pPr algn="ctr"/>
            </a:p>
          </p:txBody>
        </p:sp>
        <p:sp>
          <p:nvSpPr>
            <p:cNvPr id="16" name="TextBox 15"/>
            <p:cNvSpPr txBox="1"/>
            <p:nvPr/>
          </p:nvSpPr>
          <p:spPr>
            <a:xfrm>
              <a:off x="5013838" y="2606040"/>
              <a:ext cx="1935419" cy="868680"/>
            </a:xfrm>
            <a:prstGeom prst="rect">
              <a:avLst/>
            </a:prstGeom>
            <a:noFill/>
          </p:spPr>
          <p:txBody>
            <a:bodyPr wrap="square" lIns="0" rIns="0" tIns="18288" bIns="18288" anchor="t">
              <a:spAutoFit/>
            </a:bodyPr>
            <a:lstStyle/>
            <a:p>
              <a:pPr algn="l"/>
              <a:r>
                <a:rPr sz="2400" b="1" i="0">
                  <a:solidFill>
                    <a:srgbClr val="1F2328"/>
                  </a:solidFill>
                  <a:latin typeface="Cambria"/>
                </a:rPr>
                <a:t>New app</a:t>
              </a:r>
            </a:p>
          </p:txBody>
        </p:sp>
        <p:sp>
          <p:nvSpPr>
            <p:cNvPr id="17" name="TextBox 16"/>
            <p:cNvSpPr txBox="1"/>
            <p:nvPr/>
          </p:nvSpPr>
          <p:spPr>
            <a:xfrm>
              <a:off x="5013838" y="3114446"/>
              <a:ext cx="1935419" cy="2051913"/>
            </a:xfrm>
            <a:prstGeom prst="rect">
              <a:avLst/>
            </a:prstGeom>
            <a:noFill/>
          </p:spPr>
          <p:txBody>
            <a:bodyPr wrap="square" lIns="0" rIns="0" tIns="18288" bIns="18288" anchor="t">
              <a:spAutoFit/>
            </a:bodyPr>
            <a:lstStyle/>
            <a:p>
              <a:pPr algn="l"/>
              <a:r>
                <a:rPr sz="2200" b="0" i="0">
                  <a:solidFill>
                    <a:srgbClr val="3B4046"/>
                  </a:solidFill>
                  <a:latin typeface="Calibri"/>
                </a:rPr>
                <a:t>Pick the repository, branch main, file app.py</a:t>
              </a:r>
            </a:p>
          </p:txBody>
        </p:sp>
      </p:grpSp>
      <p:grpSp>
        <p:nvGrpSpPr>
          <p:cNvPr id="18" name="step-4"/>
          <p:cNvGrpSpPr/>
          <p:nvPr/>
        </p:nvGrpSpPr>
        <p:grpSpPr>
          <a:xfrm>
            <a:off x="7168713" y="2167128"/>
            <a:ext cx="1944563" cy="2999231"/>
            <a:chOff x="7168713" y="2167128"/>
            <a:chExt cx="1944563" cy="2999231"/>
          </a:xfrm>
        </p:grpSpPr>
        <p:sp>
          <p:nvSpPr>
            <p:cNvPr id="19" name="Oval 18"/>
            <p:cNvSpPr/>
            <p:nvPr/>
          </p:nvSpPr>
          <p:spPr>
            <a:xfrm>
              <a:off x="7168713" y="2167128"/>
              <a:ext cx="237744" cy="237744"/>
            </a:xfrm>
            <a:prstGeom prst="ellipse">
              <a:avLst/>
            </a:prstGeom>
            <a:solidFill>
              <a:srgbClr val="FFFFFF"/>
            </a:solidFill>
            <a:ln w="19050">
              <a:solidFill>
                <a:srgbClr val="1F2328"/>
              </a:solidFill>
            </a:ln>
          </p:spPr>
          <p:txBody>
            <a:bodyPr rtlCol="0" anchor="ctr"/>
            <a:lstStyle/>
            <a:p>
              <a:pPr algn="ctr"/>
            </a:p>
          </p:txBody>
        </p:sp>
        <p:sp>
          <p:nvSpPr>
            <p:cNvPr id="20" name="TextBox 19"/>
            <p:cNvSpPr txBox="1"/>
            <p:nvPr/>
          </p:nvSpPr>
          <p:spPr>
            <a:xfrm>
              <a:off x="7177857" y="2606040"/>
              <a:ext cx="1935419" cy="868680"/>
            </a:xfrm>
            <a:prstGeom prst="rect">
              <a:avLst/>
            </a:prstGeom>
            <a:noFill/>
          </p:spPr>
          <p:txBody>
            <a:bodyPr wrap="square" lIns="0" rIns="0" tIns="18288" bIns="18288" anchor="t">
              <a:spAutoFit/>
            </a:bodyPr>
            <a:lstStyle/>
            <a:p>
              <a:pPr algn="l"/>
              <a:r>
                <a:rPr sz="2400" b="1" i="0">
                  <a:solidFill>
                    <a:srgbClr val="1F2328"/>
                  </a:solidFill>
                  <a:latin typeface="Cambria"/>
                </a:rPr>
                <a:t>Deploy</a:t>
              </a:r>
            </a:p>
          </p:txBody>
        </p:sp>
        <p:sp>
          <p:nvSpPr>
            <p:cNvPr id="21" name="TextBox 20"/>
            <p:cNvSpPr txBox="1"/>
            <p:nvPr/>
          </p:nvSpPr>
          <p:spPr>
            <a:xfrm>
              <a:off x="7177857" y="3114446"/>
              <a:ext cx="1935419" cy="2051913"/>
            </a:xfrm>
            <a:prstGeom prst="rect">
              <a:avLst/>
            </a:prstGeom>
            <a:noFill/>
          </p:spPr>
          <p:txBody>
            <a:bodyPr wrap="square" lIns="0" rIns="0" tIns="18288" bIns="18288" anchor="t">
              <a:spAutoFit/>
            </a:bodyPr>
            <a:lstStyle/>
            <a:p>
              <a:pPr algn="l"/>
              <a:r>
                <a:rPr sz="2200" b="0" i="0">
                  <a:solidFill>
                    <a:srgbClr val="3B4046"/>
                  </a:solidFill>
                  <a:latin typeface="Calibri"/>
                </a:rPr>
                <a:t>It installs the libraries and gives a web address</a:t>
              </a:r>
            </a:p>
          </p:txBody>
        </p:sp>
      </p:grpSp>
      <p:grpSp>
        <p:nvGrpSpPr>
          <p:cNvPr id="22" name="step-5"/>
          <p:cNvGrpSpPr/>
          <p:nvPr/>
        </p:nvGrpSpPr>
        <p:grpSpPr>
          <a:xfrm>
            <a:off x="9332732" y="2167128"/>
            <a:ext cx="1944563" cy="2999231"/>
            <a:chOff x="9332732" y="2167128"/>
            <a:chExt cx="1944563" cy="2999231"/>
          </a:xfrm>
        </p:grpSpPr>
        <p:sp>
          <p:nvSpPr>
            <p:cNvPr id="23" name="Oval 22"/>
            <p:cNvSpPr/>
            <p:nvPr/>
          </p:nvSpPr>
          <p:spPr>
            <a:xfrm>
              <a:off x="9332732" y="2167128"/>
              <a:ext cx="237744" cy="237744"/>
            </a:xfrm>
            <a:prstGeom prst="ellipse">
              <a:avLst/>
            </a:prstGeom>
            <a:solidFill>
              <a:srgbClr val="FFFFFF"/>
            </a:solidFill>
            <a:ln w="19050">
              <a:solidFill>
                <a:srgbClr val="1F2328"/>
              </a:solidFill>
            </a:ln>
          </p:spPr>
          <p:txBody>
            <a:bodyPr rtlCol="0" anchor="ctr"/>
            <a:lstStyle/>
            <a:p>
              <a:pPr algn="ctr"/>
            </a:p>
          </p:txBody>
        </p:sp>
        <p:sp>
          <p:nvSpPr>
            <p:cNvPr id="24" name="TextBox 23"/>
            <p:cNvSpPr txBox="1"/>
            <p:nvPr/>
          </p:nvSpPr>
          <p:spPr>
            <a:xfrm>
              <a:off x="9341876" y="2606040"/>
              <a:ext cx="1935419" cy="868680"/>
            </a:xfrm>
            <a:prstGeom prst="rect">
              <a:avLst/>
            </a:prstGeom>
            <a:noFill/>
          </p:spPr>
          <p:txBody>
            <a:bodyPr wrap="square" lIns="0" rIns="0" tIns="18288" bIns="18288" anchor="t">
              <a:spAutoFit/>
            </a:bodyPr>
            <a:lstStyle/>
            <a:p>
              <a:pPr algn="l"/>
              <a:r>
                <a:rPr sz="2400" b="1" i="0">
                  <a:solidFill>
                    <a:srgbClr val="1F2328"/>
                  </a:solidFill>
                  <a:latin typeface="Cambria"/>
                </a:rPr>
                <a:t>Sleep</a:t>
              </a:r>
            </a:p>
          </p:txBody>
        </p:sp>
        <p:sp>
          <p:nvSpPr>
            <p:cNvPr id="25" name="TextBox 24"/>
            <p:cNvSpPr txBox="1"/>
            <p:nvPr/>
          </p:nvSpPr>
          <p:spPr>
            <a:xfrm>
              <a:off x="9341876" y="3114446"/>
              <a:ext cx="1935419" cy="2051913"/>
            </a:xfrm>
            <a:prstGeom prst="rect">
              <a:avLst/>
            </a:prstGeom>
            <a:noFill/>
          </p:spPr>
          <p:txBody>
            <a:bodyPr wrap="square" lIns="0" rIns="0" tIns="18288" bIns="18288" anchor="t">
              <a:spAutoFit/>
            </a:bodyPr>
            <a:lstStyle/>
            <a:p>
              <a:pPr algn="l"/>
              <a:r>
                <a:rPr sz="2200" b="0" i="0">
                  <a:solidFill>
                    <a:srgbClr val="3B4046"/>
                  </a:solidFill>
                  <a:latin typeface="Calibri"/>
                </a:rPr>
                <a:t>After 12 hours without visitors, the app sleeps</a:t>
              </a:r>
            </a:p>
          </p:txBody>
        </p:sp>
      </p:grpSp>
      <p:cxnSp>
        <p:nvCxnSpPr>
          <p:cNvPr id="26" name="Connector 25"/>
          <p:cNvCxnSpPr/>
          <p:nvPr/>
        </p:nvCxnSpPr>
        <p:spPr>
          <a:xfrm>
            <a:off x="685800" y="5120640"/>
            <a:ext cx="10820095" cy="0"/>
          </a:xfrm>
          <a:prstGeom prst="line">
            <a:avLst/>
          </a:prstGeom>
          <a:ln w="15875">
            <a:solidFill>
              <a:srgbClr val="1F2328"/>
            </a:solidFill>
          </a:ln>
        </p:spPr>
      </p:cxnSp>
      <p:sp>
        <p:nvSpPr>
          <p:cNvPr id="27" name="TextBox 26"/>
          <p:cNvSpPr txBox="1"/>
          <p:nvPr/>
        </p:nvSpPr>
        <p:spPr>
          <a:xfrm>
            <a:off x="685800" y="5257800"/>
            <a:ext cx="10820095" cy="914400"/>
          </a:xfrm>
          <a:prstGeom prst="rect">
            <a:avLst/>
          </a:prstGeom>
          <a:noFill/>
        </p:spPr>
        <p:txBody>
          <a:bodyPr wrap="square" lIns="0" rIns="0" tIns="18288" bIns="18288" anchor="t">
            <a:spAutoFit/>
          </a:bodyPr>
          <a:lstStyle/>
          <a:p>
            <a:pPr algn="l"/>
            <a:r>
              <a:rPr sz="2200" b="0" i="0">
                <a:solidFill>
                  <a:srgbClr val="1F2328"/>
                </a:solidFill>
                <a:latin typeface="Cambria"/>
              </a:rPr>
              <a:t>Free for public repositories. Keep the app small, because the free service has limits.</a:t>
            </a:r>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childTnLst>
                          </p:cTn>
                        </p:par>
                      </p:childTnLst>
                    </p:cTn>
                  </p:par>
                  <p:par>
                    <p:cTn id="21" fill="hold">
                      <p:stCondLst>
                        <p:cond delay="indefinite"/>
                      </p:stCondLst>
                      <p:childTnLst>
                        <p:par>
                          <p:cTn id="22"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500"/>
                                        <p:tgtEl>
                                          <p:spTgt spid="18"/>
                                        </p:tgtEl>
                                      </p:cBhvr>
                                    </p:animEffect>
                                  </p:childTnLst>
                                </p:cTn>
                              </p:par>
                            </p:childTnLst>
                          </p:cTn>
                        </p:par>
                      </p:childTnLst>
                    </p:cTn>
                  </p:par>
                  <p:par>
                    <p:cTn id="26" fill="hold">
                      <p:stCondLst>
                        <p:cond delay="indefinite"/>
                      </p:stCondLst>
                      <p:childTnLst>
                        <p:par>
                          <p:cTn id="27"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22"/>
                                        </p:tgtEl>
                                        <p:attrNameLst>
                                          <p:attrName>style.visibility</p:attrName>
                                        </p:attrNameLst>
                                      </p:cBhvr>
                                      <p:to>
                                        <p:strVal val="visible"/>
                                      </p:to>
                                    </p:set>
                                    <p:animEffect transition="in" filter="fade">
                                      <p:cBhvr>
                                        <p:cTn id="25"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A model card fits on one page</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23   Ship it: reproducible work, a small app and responsible use</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13</a:t>
            </a:r>
          </a:p>
        </p:txBody>
      </p:sp>
      <p:graphicFrame>
        <p:nvGraphicFramePr>
          <p:cNvPr id="5" name="Table"/>
          <p:cNvGraphicFramePr>
            <a:graphicFrameLocks noGrp="1"/>
          </p:cNvGraphicFramePr>
          <p:nvPr/>
        </p:nvGraphicFramePr>
        <p:xfrm>
          <a:off x="685800" y="1600200"/>
          <a:ext cx="10820095" cy="3566156"/>
        </p:xfrm>
        <a:graphic>
          <a:graphicData uri="http://schemas.openxmlformats.org/drawingml/2006/table">
            <a:tbl>
              <a:tblPr firstRow="0" bandRow="0">
                <a:tableStyleId>{2D5ABB26-0587-4C30-8999-92F81FD0307C}</a:tableStyleId>
              </a:tblPr>
              <a:tblGrid>
                <a:gridCol w="2557477"/>
                <a:gridCol w="8262618"/>
              </a:tblGrid>
              <a:tr h="496620">
                <a:tc>
                  <a:txBody>
                    <a:bodyPr wrap="square"/>
                    <a:lstStyle/>
                    <a:p>
                      <a:r>
                        <a:rPr sz="1850" b="1" i="0">
                          <a:solidFill>
                            <a:srgbClr val="1F2328"/>
                          </a:solidFill>
                          <a:latin typeface="Calibri"/>
                        </a:rPr>
                        <a:t>Section</a:t>
                      </a:r>
                    </a:p>
                  </a:txBody>
                  <a:tcPr marL="0" marR="91440" marT="64008" marB="64008" anchor="ctr">
                    <a:lnL w="0">
                      <a:noFill/>
                    </a:lnL>
                    <a:lnR w="0">
                      <a:noFill/>
                    </a:lnR>
                    <a:lnT w="0">
                      <a:noFill/>
                    </a:lnT>
                    <a:lnB w="15875">
                      <a:solidFill>
                        <a:srgbClr val="1F2328"/>
                      </a:solidFill>
                    </a:lnB>
                    <a:noFill/>
                  </a:tcPr>
                </a:tc>
                <a:tc>
                  <a:txBody>
                    <a:bodyPr wrap="square"/>
                    <a:lstStyle/>
                    <a:p>
                      <a:r>
                        <a:rPr sz="1850" b="1" i="0">
                          <a:solidFill>
                            <a:srgbClr val="1F2328"/>
                          </a:solidFill>
                          <a:latin typeface="Calibri"/>
                        </a:rPr>
                        <a:t>The loan model</a:t>
                      </a:r>
                    </a:p>
                  </a:txBody>
                  <a:tcPr marL="137160" marR="91440" marT="64008" marB="64008" anchor="ctr">
                    <a:lnL w="0">
                      <a:noFill/>
                    </a:lnL>
                    <a:lnR w="0">
                      <a:noFill/>
                    </a:lnR>
                    <a:lnT w="0">
                      <a:noFill/>
                    </a:lnT>
                    <a:lnB w="15875">
                      <a:solidFill>
                        <a:srgbClr val="1F2328"/>
                      </a:solidFill>
                    </a:lnB>
                    <a:noFill/>
                  </a:tcPr>
                </a:tc>
              </a:tr>
              <a:tr h="496620">
                <a:tc>
                  <a:txBody>
                    <a:bodyPr wrap="square"/>
                    <a:lstStyle/>
                    <a:p>
                      <a:r>
                        <a:rPr sz="1850" b="0" i="0">
                          <a:solidFill>
                            <a:srgbClr val="3B4046"/>
                          </a:solidFill>
                          <a:latin typeface="Calibri"/>
                        </a:rPr>
                        <a:t>Purpose</a:t>
                      </a:r>
                    </a:p>
                  </a:txBody>
                  <a:tcPr marL="0" marR="91440" marT="64008" marB="64008" anchor="ctr">
                    <a:lnL w="0">
                      <a:noFill/>
                    </a:lnL>
                    <a:lnR w="0">
                      <a:noFill/>
                    </a:lnR>
                    <a:lnT w="0">
                      <a:noFill/>
                    </a:lnT>
                    <a:lnB w="6350">
                      <a:solidFill>
                        <a:srgbClr val="C9C5BC"/>
                      </a:solidFill>
                    </a:lnB>
                    <a:noFill/>
                  </a:tcPr>
                </a:tc>
                <a:tc>
                  <a:txBody>
                    <a:bodyPr wrap="square"/>
                    <a:lstStyle/>
                    <a:p>
                      <a:r>
                        <a:rPr sz="1850" b="0" i="0">
                          <a:solidFill>
                            <a:srgbClr val="3B4046"/>
                          </a:solidFill>
                          <a:latin typeface="Calibri"/>
                        </a:rPr>
                        <a:t>Ranks loan applications for a loan officer to review. It does not approve or refuse.</a:t>
                      </a:r>
                    </a:p>
                  </a:txBody>
                  <a:tcPr marL="137160" marR="91440" marT="64008" marB="64008" anchor="ctr">
                    <a:lnL w="0">
                      <a:noFill/>
                    </a:lnL>
                    <a:lnR w="0">
                      <a:noFill/>
                    </a:lnR>
                    <a:lnT w="0">
                      <a:noFill/>
                    </a:lnT>
                    <a:lnB w="6350">
                      <a:solidFill>
                        <a:srgbClr val="C9C5BC"/>
                      </a:solidFill>
                    </a:lnB>
                    <a:noFill/>
                  </a:tcPr>
                </a:tc>
              </a:tr>
              <a:tr h="789838">
                <a:tc>
                  <a:txBody>
                    <a:bodyPr wrap="square"/>
                    <a:lstStyle/>
                    <a:p>
                      <a:r>
                        <a:rPr sz="1850" b="0" i="0">
                          <a:solidFill>
                            <a:srgbClr val="3B4046"/>
                          </a:solidFill>
                          <a:latin typeface="Calibri"/>
                        </a:rPr>
                        <a:t>Data</a:t>
                      </a:r>
                    </a:p>
                  </a:txBody>
                  <a:tcPr marL="0" marR="91440" marT="64008" marB="64008" anchor="ctr">
                    <a:lnL w="0">
                      <a:noFill/>
                    </a:lnL>
                    <a:lnR w="0">
                      <a:noFill/>
                    </a:lnR>
                    <a:lnT w="0">
                      <a:noFill/>
                    </a:lnT>
                    <a:lnB w="6350">
                      <a:solidFill>
                        <a:srgbClr val="C9C5BC"/>
                      </a:solidFill>
                    </a:lnB>
                    <a:noFill/>
                  </a:tcPr>
                </a:tc>
                <a:tc>
                  <a:txBody>
                    <a:bodyPr wrap="square"/>
                    <a:lstStyle/>
                    <a:p>
                      <a:r>
                        <a:rPr sz="1850" b="0" i="0">
                          <a:solidFill>
                            <a:srgbClr val="3B4046"/>
                          </a:solidFill>
                          <a:latin typeface="Calibri"/>
                        </a:rPr>
                        <a:t>8,000 fictional loans, 2023 to 2025. collection_calls removed because it leaks the answer.</a:t>
                      </a:r>
                    </a:p>
                  </a:txBody>
                  <a:tcPr marL="137160" marR="91440" marT="64008" marB="64008" anchor="ctr">
                    <a:lnL w="0">
                      <a:noFill/>
                    </a:lnL>
                    <a:lnR w="0">
                      <a:noFill/>
                    </a:lnR>
                    <a:lnT w="0">
                      <a:noFill/>
                    </a:lnT>
                    <a:lnB w="6350">
                      <a:solidFill>
                        <a:srgbClr val="C9C5BC"/>
                      </a:solidFill>
                    </a:lnB>
                    <a:noFill/>
                  </a:tcPr>
                </a:tc>
              </a:tr>
              <a:tr h="496620">
                <a:tc>
                  <a:txBody>
                    <a:bodyPr wrap="square"/>
                    <a:lstStyle/>
                    <a:p>
                      <a:r>
                        <a:rPr sz="1850" b="0" i="0">
                          <a:solidFill>
                            <a:srgbClr val="3B4046"/>
                          </a:solidFill>
                          <a:latin typeface="Calibri"/>
                        </a:rPr>
                        <a:t>Metrics</a:t>
                      </a:r>
                    </a:p>
                  </a:txBody>
                  <a:tcPr marL="0" marR="91440" marT="64008" marB="64008" anchor="ctr">
                    <a:lnL w="0">
                      <a:noFill/>
                    </a:lnL>
                    <a:lnR w="0">
                      <a:noFill/>
                    </a:lnR>
                    <a:lnT w="0">
                      <a:noFill/>
                    </a:lnT>
                    <a:lnB w="6350">
                      <a:solidFill>
                        <a:srgbClr val="C9C5BC"/>
                      </a:solidFill>
                    </a:lnB>
                    <a:noFill/>
                  </a:tcPr>
                </a:tc>
                <a:tc>
                  <a:txBody>
                    <a:bodyPr wrap="square"/>
                    <a:lstStyle/>
                    <a:p>
                      <a:r>
                        <a:rPr sz="1850" b="0" i="0">
                          <a:solidFill>
                            <a:srgbClr val="3B4046"/>
                          </a:solidFill>
                          <a:latin typeface="Calibri"/>
                        </a:rPr>
                        <a:t>AUC about 0.76. At threshold 0.5 it finds about 15 in 100 defaults.</a:t>
                      </a:r>
                    </a:p>
                  </a:txBody>
                  <a:tcPr marL="137160" marR="91440" marT="64008" marB="64008" anchor="ctr">
                    <a:lnL w="0">
                      <a:noFill/>
                    </a:lnL>
                    <a:lnR w="0">
                      <a:noFill/>
                    </a:lnR>
                    <a:lnT w="0">
                      <a:noFill/>
                    </a:lnT>
                    <a:lnB w="6350">
                      <a:solidFill>
                        <a:srgbClr val="C9C5BC"/>
                      </a:solidFill>
                    </a:lnB>
                    <a:noFill/>
                  </a:tcPr>
                </a:tc>
              </a:tr>
              <a:tr h="789838">
                <a:tc>
                  <a:txBody>
                    <a:bodyPr wrap="square"/>
                    <a:lstStyle/>
                    <a:p>
                      <a:r>
                        <a:rPr sz="1850" b="0" i="0">
                          <a:solidFill>
                            <a:srgbClr val="3B4046"/>
                          </a:solidFill>
                          <a:latin typeface="Calibri"/>
                        </a:rPr>
                        <a:t>Limits</a:t>
                      </a:r>
                    </a:p>
                  </a:txBody>
                  <a:tcPr marL="0" marR="91440" marT="64008" marB="64008" anchor="ctr">
                    <a:lnL w="0">
                      <a:noFill/>
                    </a:lnL>
                    <a:lnR w="0">
                      <a:noFill/>
                    </a:lnR>
                    <a:lnT w="0">
                      <a:noFill/>
                    </a:lnT>
                    <a:lnB w="6350">
                      <a:solidFill>
                        <a:srgbClr val="C9C5BC"/>
                      </a:solidFill>
                    </a:lnB>
                    <a:noFill/>
                  </a:tcPr>
                </a:tc>
                <a:tc>
                  <a:txBody>
                    <a:bodyPr wrap="square"/>
                    <a:lstStyle/>
                    <a:p>
                      <a:r>
                        <a:rPr sz="1850" b="0" i="0">
                          <a:solidFill>
                            <a:srgbClr val="3B4046"/>
                          </a:solidFill>
                          <a:latin typeface="Calibri"/>
                        </a:rPr>
                        <a:t>Fictional data. 379 loans lack income. Gaps by gender and district are measured and reported.</a:t>
                      </a:r>
                    </a:p>
                  </a:txBody>
                  <a:tcPr marL="137160" marR="91440" marT="64008" marB="64008" anchor="ctr">
                    <a:lnL w="0">
                      <a:noFill/>
                    </a:lnL>
                    <a:lnR w="0">
                      <a:noFill/>
                    </a:lnR>
                    <a:lnT w="0">
                      <a:noFill/>
                    </a:lnT>
                    <a:lnB w="6350">
                      <a:solidFill>
                        <a:srgbClr val="C9C5BC"/>
                      </a:solidFill>
                    </a:lnB>
                    <a:noFill/>
                  </a:tcPr>
                </a:tc>
              </a:tr>
              <a:tr h="496620">
                <a:tc>
                  <a:txBody>
                    <a:bodyPr wrap="square"/>
                    <a:lstStyle/>
                    <a:p>
                      <a:r>
                        <a:rPr sz="1850" b="0" i="0">
                          <a:solidFill>
                            <a:srgbClr val="3B4046"/>
                          </a:solidFill>
                          <a:latin typeface="Calibri"/>
                        </a:rPr>
                        <a:t>Who must review</a:t>
                      </a:r>
                    </a:p>
                  </a:txBody>
                  <a:tcPr marL="0" marR="91440" marT="64008" marB="64008" anchor="ctr">
                    <a:lnL w="0">
                      <a:noFill/>
                    </a:lnL>
                    <a:lnR w="0">
                      <a:noFill/>
                    </a:lnR>
                    <a:lnT w="0">
                      <a:noFill/>
                    </a:lnT>
                    <a:lnB w="6350">
                      <a:solidFill>
                        <a:srgbClr val="C9C5BC"/>
                      </a:solidFill>
                    </a:lnB>
                    <a:noFill/>
                  </a:tcPr>
                </a:tc>
                <a:tc>
                  <a:txBody>
                    <a:bodyPr wrap="square"/>
                    <a:lstStyle/>
                    <a:p>
                      <a:r>
                        <a:rPr sz="1850" b="0" i="0">
                          <a:solidFill>
                            <a:srgbClr val="3B4046"/>
                          </a:solidFill>
                          <a:latin typeface="Calibri"/>
                        </a:rPr>
                        <a:t>The credit manager and the data protection officer, before each release.</a:t>
                      </a:r>
                    </a:p>
                  </a:txBody>
                  <a:tcPr marL="137160" marR="91440" marT="64008" marB="64008" anchor="ctr">
                    <a:lnL w="0">
                      <a:noFill/>
                    </a:lnL>
                    <a:lnR w="0">
                      <a:noFill/>
                    </a:lnR>
                    <a:lnT w="0">
                      <a:noFill/>
                    </a:lnT>
                    <a:lnB w="6350">
                      <a:solidFill>
                        <a:srgbClr val="C9C5BC"/>
                      </a:solidFill>
                    </a:lnB>
                    <a:noFill/>
                  </a:tcPr>
                </a:tc>
              </a:tr>
            </a:tbl>
          </a:graphicData>
        </a:graphic>
      </p:graphicFrame>
      <p:cxnSp>
        <p:nvCxnSpPr>
          <p:cNvPr id="6" name="Connector 5"/>
          <p:cNvCxnSpPr/>
          <p:nvPr/>
        </p:nvCxnSpPr>
        <p:spPr>
          <a:xfrm>
            <a:off x="685800" y="5440680"/>
            <a:ext cx="10820095" cy="0"/>
          </a:xfrm>
          <a:prstGeom prst="line">
            <a:avLst/>
          </a:prstGeom>
          <a:ln w="15875">
            <a:solidFill>
              <a:srgbClr val="1F2328"/>
            </a:solidFill>
          </a:ln>
        </p:spPr>
      </p:cxnSp>
      <p:sp>
        <p:nvSpPr>
          <p:cNvPr id="7" name="TextBox 6"/>
          <p:cNvSpPr txBox="1"/>
          <p:nvPr/>
        </p:nvSpPr>
        <p:spPr>
          <a:xfrm>
            <a:off x="685800" y="5532120"/>
            <a:ext cx="10820095" cy="685800"/>
          </a:xfrm>
          <a:prstGeom prst="rect">
            <a:avLst/>
          </a:prstGeom>
          <a:noFill/>
        </p:spPr>
        <p:txBody>
          <a:bodyPr wrap="square" lIns="0" rIns="0" tIns="18288" bIns="18288" anchor="t">
            <a:spAutoFit/>
          </a:bodyPr>
          <a:lstStyle/>
          <a:p>
            <a:pPr algn="l"/>
            <a:r>
              <a:rPr sz="2100" b="0" i="0">
                <a:solidFill>
                  <a:srgbClr val="1F2328"/>
                </a:solidFill>
                <a:latin typeface="Cambria"/>
              </a:rPr>
              <a:t>Update the card every time the model changes.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050" b="1" i="0">
                <a:solidFill>
                  <a:srgbClr val="1F2328"/>
                </a:solidFill>
                <a:latin typeface="Cambria"/>
              </a:rPr>
              <a:t>Data drift: today's applicants stop matching the training data</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23   Ship it: reproducible work, a small app and responsible use</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14</a:t>
            </a:r>
          </a:p>
        </p:txBody>
      </p:sp>
      <p:pic>
        <p:nvPicPr>
          <p:cNvPr id="5" name="figure-drift_chart" descr="Line chart of a monthly average that is steady and then drops, with a label showing the point where the model should be re-checked."/>
          <p:cNvPicPr>
            <a:picLocks noChangeAspect="1"/>
          </p:cNvPicPr>
          <p:nvPr/>
        </p:nvPicPr>
        <p:blipFill>
          <a:blip r:embed="rId3"/>
          <a:stretch>
            <a:fillRect/>
          </a:stretch>
        </p:blipFill>
        <p:spPr>
          <a:xfrm>
            <a:off x="685800" y="1600200"/>
            <a:ext cx="6783977" cy="3749039"/>
          </a:xfrm>
          <a:prstGeom prst="rect">
            <a:avLst/>
          </a:prstGeom>
        </p:spPr>
      </p:pic>
      <p:cxnSp>
        <p:nvCxnSpPr>
          <p:cNvPr id="6" name="Connector 5"/>
          <p:cNvCxnSpPr/>
          <p:nvPr/>
        </p:nvCxnSpPr>
        <p:spPr>
          <a:xfrm>
            <a:off x="8183879" y="1618488"/>
            <a:ext cx="3322016" cy="0"/>
          </a:xfrm>
          <a:prstGeom prst="line">
            <a:avLst/>
          </a:prstGeom>
          <a:ln w="15875">
            <a:solidFill>
              <a:srgbClr val="1F2328"/>
            </a:solidFill>
          </a:ln>
        </p:spPr>
      </p:cxnSp>
      <p:grpSp>
        <p:nvGrpSpPr>
          <p:cNvPr id="7" name="note-1"/>
          <p:cNvGrpSpPr/>
          <p:nvPr/>
        </p:nvGrpSpPr>
        <p:grpSpPr>
          <a:xfrm>
            <a:off x="8183879" y="1691640"/>
            <a:ext cx="3322016" cy="1298448"/>
            <a:chOff x="8183879" y="1691640"/>
            <a:chExt cx="3322016" cy="1298448"/>
          </a:xfrm>
        </p:grpSpPr>
        <p:sp>
          <p:nvSpPr>
            <p:cNvPr id="8" name="TextBox 7"/>
            <p:cNvSpPr txBox="1"/>
            <p:nvPr/>
          </p:nvSpPr>
          <p:spPr>
            <a:xfrm>
              <a:off x="8183879" y="16916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1</a:t>
              </a:r>
            </a:p>
          </p:txBody>
        </p:sp>
        <p:sp>
          <p:nvSpPr>
            <p:cNvPr id="9" name="TextBox 8"/>
            <p:cNvSpPr txBox="1"/>
            <p:nvPr/>
          </p:nvSpPr>
          <p:spPr>
            <a:xfrm>
              <a:off x="8549640" y="1691640"/>
              <a:ext cx="2956255" cy="1261872"/>
            </a:xfrm>
            <a:prstGeom prst="rect">
              <a:avLst/>
            </a:prstGeom>
            <a:noFill/>
          </p:spPr>
          <p:txBody>
            <a:bodyPr wrap="square" lIns="0" rIns="0" tIns="18288" bIns="18288" anchor="t">
              <a:spAutoFit/>
            </a:bodyPr>
            <a:lstStyle/>
            <a:p>
              <a:pPr algn="l"/>
              <a:r>
                <a:rPr sz="2050" b="0" i="0">
                  <a:solidFill>
                    <a:srgbClr val="1F2328"/>
                  </a:solidFill>
                  <a:latin typeface="Calibri"/>
                </a:rPr>
                <a:t>For 18 months the average income index moves between about 93 and 105.</a:t>
              </a:r>
            </a:p>
          </p:txBody>
        </p:sp>
        <p:cxnSp>
          <p:nvCxnSpPr>
            <p:cNvPr id="10" name="Connector 9"/>
            <p:cNvCxnSpPr/>
            <p:nvPr/>
          </p:nvCxnSpPr>
          <p:spPr>
            <a:xfrm>
              <a:off x="8183879" y="2990088"/>
              <a:ext cx="3322016" cy="0"/>
            </a:xfrm>
            <a:prstGeom prst="line">
              <a:avLst/>
            </a:prstGeom>
            <a:ln w="6350">
              <a:solidFill>
                <a:srgbClr val="C9C5BC"/>
              </a:solidFill>
            </a:ln>
          </p:spPr>
        </p:cxnSp>
      </p:grpSp>
      <p:grpSp>
        <p:nvGrpSpPr>
          <p:cNvPr id="11" name="note-2"/>
          <p:cNvGrpSpPr/>
          <p:nvPr/>
        </p:nvGrpSpPr>
        <p:grpSpPr>
          <a:xfrm>
            <a:off x="8183879" y="3063240"/>
            <a:ext cx="3322016" cy="1298448"/>
            <a:chOff x="8183879" y="3063240"/>
            <a:chExt cx="3322016" cy="1298448"/>
          </a:xfrm>
        </p:grpSpPr>
        <p:sp>
          <p:nvSpPr>
            <p:cNvPr id="12" name="TextBox 11"/>
            <p:cNvSpPr txBox="1"/>
            <p:nvPr/>
          </p:nvSpPr>
          <p:spPr>
            <a:xfrm>
              <a:off x="8183879" y="30632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2</a:t>
              </a:r>
            </a:p>
          </p:txBody>
        </p:sp>
        <p:sp>
          <p:nvSpPr>
            <p:cNvPr id="13" name="TextBox 12"/>
            <p:cNvSpPr txBox="1"/>
            <p:nvPr/>
          </p:nvSpPr>
          <p:spPr>
            <a:xfrm>
              <a:off x="8549640" y="30632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Then it drops to between about 82 and 93 and stays there.</a:t>
              </a:r>
            </a:p>
          </p:txBody>
        </p:sp>
        <p:cxnSp>
          <p:nvCxnSpPr>
            <p:cNvPr id="14" name="Connector 13"/>
            <p:cNvCxnSpPr/>
            <p:nvPr/>
          </p:nvCxnSpPr>
          <p:spPr>
            <a:xfrm>
              <a:off x="8183879" y="4361688"/>
              <a:ext cx="3322016" cy="0"/>
            </a:xfrm>
            <a:prstGeom prst="line">
              <a:avLst/>
            </a:prstGeom>
            <a:ln w="6350">
              <a:solidFill>
                <a:srgbClr val="C9C5BC"/>
              </a:solidFill>
            </a:ln>
          </p:spPr>
        </p:cxnSp>
      </p:grpSp>
      <p:grpSp>
        <p:nvGrpSpPr>
          <p:cNvPr id="15" name="note-3"/>
          <p:cNvGrpSpPr/>
          <p:nvPr/>
        </p:nvGrpSpPr>
        <p:grpSpPr>
          <a:xfrm>
            <a:off x="8183879" y="4434840"/>
            <a:ext cx="3322016" cy="1298448"/>
            <a:chOff x="8183879" y="4434840"/>
            <a:chExt cx="3322016" cy="1298448"/>
          </a:xfrm>
        </p:grpSpPr>
        <p:sp>
          <p:nvSpPr>
            <p:cNvPr id="16" name="TextBox 15"/>
            <p:cNvSpPr txBox="1"/>
            <p:nvPr/>
          </p:nvSpPr>
          <p:spPr>
            <a:xfrm>
              <a:off x="8183879" y="44348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3</a:t>
              </a:r>
            </a:p>
          </p:txBody>
        </p:sp>
        <p:sp>
          <p:nvSpPr>
            <p:cNvPr id="17" name="TextBox 16"/>
            <p:cNvSpPr txBox="1"/>
            <p:nvPr/>
          </p:nvSpPr>
          <p:spPr>
            <a:xfrm>
              <a:off x="8549640" y="44348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The model learned the old picture, so check it at the red line.</a:t>
              </a:r>
            </a:p>
          </p:txBody>
        </p:sp>
        <p:cxnSp>
          <p:nvCxnSpPr>
            <p:cNvPr id="18" name="Connector 17"/>
            <p:cNvCxnSpPr/>
            <p:nvPr/>
          </p:nvCxnSpPr>
          <p:spPr>
            <a:xfrm>
              <a:off x="8183879" y="5733288"/>
              <a:ext cx="3322016" cy="0"/>
            </a:xfrm>
            <a:prstGeom prst="line">
              <a:avLst/>
            </a:prstGeom>
            <a:ln w="6350">
              <a:solidFill>
                <a:srgbClr val="C9C5BC"/>
              </a:solidFill>
            </a:ln>
          </p:spPr>
        </p:cxnSp>
      </p:grpSp>
      <p:cxnSp>
        <p:nvCxnSpPr>
          <p:cNvPr id="19" name="Connector 18"/>
          <p:cNvCxnSpPr/>
          <p:nvPr/>
        </p:nvCxnSpPr>
        <p:spPr>
          <a:xfrm>
            <a:off x="685800" y="5486400"/>
            <a:ext cx="10820095" cy="0"/>
          </a:xfrm>
          <a:prstGeom prst="line">
            <a:avLst/>
          </a:prstGeom>
          <a:ln w="9525">
            <a:solidFill>
              <a:srgbClr val="C9C5BC"/>
            </a:solidFill>
          </a:ln>
        </p:spPr>
      </p:cxnSp>
      <p:sp>
        <p:nvSpPr>
          <p:cNvPr id="20" name="TextBox 19"/>
          <p:cNvSpPr txBox="1"/>
          <p:nvPr/>
        </p:nvSpPr>
        <p:spPr>
          <a:xfrm>
            <a:off x="685800" y="5559552"/>
            <a:ext cx="10820095" cy="658368"/>
          </a:xfrm>
          <a:prstGeom prst="rect">
            <a:avLst/>
          </a:prstGeom>
          <a:noFill/>
        </p:spPr>
        <p:txBody>
          <a:bodyPr wrap="square" lIns="0" rIns="0" tIns="18288" bIns="18288" anchor="t">
            <a:spAutoFit/>
          </a:bodyPr>
          <a:lstStyle/>
          <a:p>
            <a:pPr algn="l"/>
            <a:r>
              <a:rPr sz="2000" b="0" i="1">
                <a:solidFill>
                  <a:srgbClr val="1F2328"/>
                </a:solidFill>
                <a:latin typeface="Cambria"/>
              </a:rPr>
              <a:t>Simulated for teaching. This is not Nile Microfinance data.</a:t>
            </a:r>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Default rate and flag rate for each group</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23   Ship it: reproducible work, a small app and responsible use</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15</a:t>
            </a:r>
          </a:p>
        </p:txBody>
      </p:sp>
      <p:sp>
        <p:nvSpPr>
          <p:cNvPr id="5" name="Rectangle 4"/>
          <p:cNvSpPr/>
          <p:nvPr/>
        </p:nvSpPr>
        <p:spPr>
          <a:xfrm>
            <a:off x="685800" y="1600200"/>
            <a:ext cx="10820095" cy="3328415"/>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10545775" cy="3054096"/>
          </a:xfrm>
          <a:prstGeom prst="rect">
            <a:avLst/>
          </a:prstGeom>
          <a:noFill/>
        </p:spPr>
        <p:txBody>
          <a:bodyPr wrap="none" lIns="0" rIns="0" tIns="0" bIns="0">
            <a:spAutoFit/>
          </a:bodyPr>
          <a:lstStyle/>
          <a:p>
            <a:r>
              <a:rPr sz="1800" b="1" i="0">
                <a:solidFill>
                  <a:srgbClr val="1F2328"/>
                </a:solidFill>
                <a:latin typeface="Courier New"/>
              </a:rPr>
              <a:t>import</a:t>
            </a:r>
            <a:r>
              <a:rPr sz="1800" b="0" i="0">
                <a:solidFill>
                  <a:srgbClr val="1F2328"/>
                </a:solidFill>
                <a:latin typeface="Courier New"/>
              </a:rPr>
              <a:t> </a:t>
            </a:r>
            <a:r>
              <a:rPr sz="1800" b="0" i="0">
                <a:solidFill>
                  <a:srgbClr val="1F2328"/>
                </a:solidFill>
                <a:latin typeface="Courier New"/>
              </a:rPr>
              <a:t>numpy</a:t>
            </a:r>
            <a:r>
              <a:rPr sz="1800" b="0" i="0">
                <a:solidFill>
                  <a:srgbClr val="1F2328"/>
                </a:solidFill>
                <a:latin typeface="Courier New"/>
              </a:rPr>
              <a:t> </a:t>
            </a:r>
            <a:r>
              <a:rPr sz="1800" b="1" i="0">
                <a:solidFill>
                  <a:srgbClr val="1F2328"/>
                </a:solidFill>
                <a:latin typeface="Courier New"/>
              </a:rPr>
              <a:t>as</a:t>
            </a:r>
            <a:r>
              <a:rPr sz="1800" b="0" i="0">
                <a:solidFill>
                  <a:srgbClr val="1F2328"/>
                </a:solidFill>
                <a:latin typeface="Courier New"/>
              </a:rPr>
              <a:t> </a:t>
            </a:r>
            <a:r>
              <a:rPr sz="1800" b="0" i="0">
                <a:solidFill>
                  <a:srgbClr val="1F2328"/>
                </a:solidFill>
                <a:latin typeface="Courier New"/>
              </a:rPr>
              <a:t>np</a:t>
            </a:r>
          </a:p>
          <a:p>
            <a:r>
              <a:rPr sz="1800" b="1" i="0">
                <a:solidFill>
                  <a:srgbClr val="1F2328"/>
                </a:solidFill>
                <a:latin typeface="Courier New"/>
              </a:rPr>
              <a:t>import</a:t>
            </a:r>
            <a:r>
              <a:rPr sz="1800" b="0" i="0">
                <a:solidFill>
                  <a:srgbClr val="1F2328"/>
                </a:solidFill>
                <a:latin typeface="Courier New"/>
              </a:rPr>
              <a:t> </a:t>
            </a:r>
            <a:r>
              <a:rPr sz="1800" b="0" i="0">
                <a:solidFill>
                  <a:srgbClr val="1F2328"/>
                </a:solidFill>
                <a:latin typeface="Courier New"/>
              </a:rPr>
              <a:t>pandas</a:t>
            </a:r>
            <a:r>
              <a:rPr sz="1800" b="0" i="0">
                <a:solidFill>
                  <a:srgbClr val="1F2328"/>
                </a:solidFill>
                <a:latin typeface="Courier New"/>
              </a:rPr>
              <a:t> </a:t>
            </a:r>
            <a:r>
              <a:rPr sz="1800" b="1" i="0">
                <a:solidFill>
                  <a:srgbClr val="1F2328"/>
                </a:solidFill>
                <a:latin typeface="Courier New"/>
              </a:rPr>
              <a:t>as</a:t>
            </a:r>
            <a:r>
              <a:rPr sz="1800" b="0" i="0">
                <a:solidFill>
                  <a:srgbClr val="1F2328"/>
                </a:solidFill>
                <a:latin typeface="Courier New"/>
              </a:rPr>
              <a:t> </a:t>
            </a:r>
            <a:r>
              <a:rPr sz="1800" b="0" i="0">
                <a:solidFill>
                  <a:srgbClr val="1F2328"/>
                </a:solidFill>
                <a:latin typeface="Courier New"/>
              </a:rPr>
              <a:t>pd</a:t>
            </a:r>
          </a:p>
          <a:p>
            <a:r>
              <a:rPr sz="1800" b="0" i="0">
                <a:solidFill>
                  <a:srgbClr val="1F2328"/>
                </a:solidFill>
                <a:latin typeface="Courier New"/>
              </a:rPr>
              <a:t>loans</a:t>
            </a:r>
            <a:r>
              <a:rPr sz="1800" b="0" i="0">
                <a:solidFill>
                  <a:srgbClr val="1F2328"/>
                </a:solidFill>
                <a:latin typeface="Courier New"/>
              </a:rPr>
              <a:t> </a:t>
            </a:r>
            <a:r>
              <a:rPr sz="1800" b="0" i="0">
                <a:solidFill>
                  <a:srgbClr val="1F2328"/>
                </a:solidFill>
                <a:latin typeface="Courier New"/>
              </a:rPr>
              <a:t>=</a:t>
            </a:r>
            <a:r>
              <a:rPr sz="1800" b="0" i="0">
                <a:solidFill>
                  <a:srgbClr val="1F2328"/>
                </a:solidFill>
                <a:latin typeface="Courier New"/>
              </a:rPr>
              <a:t> </a:t>
            </a:r>
            <a:r>
              <a:rPr sz="1800" b="0" i="0">
                <a:solidFill>
                  <a:srgbClr val="1F2328"/>
                </a:solidFill>
                <a:latin typeface="Courier New"/>
              </a:rPr>
              <a:t>pd</a:t>
            </a:r>
            <a:r>
              <a:rPr sz="1800" b="0" i="0">
                <a:solidFill>
                  <a:srgbClr val="1F2328"/>
                </a:solidFill>
                <a:latin typeface="Courier New"/>
              </a:rPr>
              <a:t>.</a:t>
            </a:r>
            <a:r>
              <a:rPr sz="1800" b="0" i="0">
                <a:solidFill>
                  <a:srgbClr val="1F2328"/>
                </a:solidFill>
                <a:latin typeface="Courier New"/>
              </a:rPr>
              <a:t>read_csv</a:t>
            </a:r>
            <a:r>
              <a:rPr sz="1800" b="0" i="0">
                <a:solidFill>
                  <a:srgbClr val="1F2328"/>
                </a:solidFill>
                <a:latin typeface="Courier New"/>
              </a:rPr>
              <a:t>(</a:t>
            </a:r>
            <a:r>
              <a:rPr sz="1800" b="0" i="0">
                <a:solidFill>
                  <a:srgbClr val="B04A2B"/>
                </a:solidFill>
                <a:latin typeface="Courier New"/>
              </a:rPr>
              <a:t>'loans.csv'</a:t>
            </a:r>
            <a:r>
              <a:rPr sz="1800" b="0" i="0">
                <a:solidFill>
                  <a:srgbClr val="1F2328"/>
                </a:solidFill>
                <a:latin typeface="Courier New"/>
              </a:rPr>
              <a:t>)</a:t>
            </a:r>
          </a:p>
          <a:p>
            <a:r>
              <a:rPr sz="1800" b="0" i="0">
                <a:solidFill>
                  <a:srgbClr val="1F2328"/>
                </a:solidFill>
                <a:latin typeface="Courier New"/>
              </a:rPr>
              <a:t>loans</a:t>
            </a:r>
            <a:r>
              <a:rPr sz="1800" b="0" i="0">
                <a:solidFill>
                  <a:srgbClr val="1F2328"/>
                </a:solidFill>
                <a:latin typeface="Courier New"/>
              </a:rPr>
              <a:t>[</a:t>
            </a:r>
            <a:r>
              <a:rPr sz="1800" b="0" i="0">
                <a:solidFill>
                  <a:srgbClr val="B04A2B"/>
                </a:solidFill>
                <a:latin typeface="Courier New"/>
              </a:rPr>
              <a:t>'district'</a:t>
            </a:r>
            <a:r>
              <a:rPr sz="1800" b="0" i="0">
                <a:solidFill>
                  <a:srgbClr val="1F2328"/>
                </a:solidFill>
                <a:latin typeface="Courier New"/>
              </a:rPr>
              <a:t>]</a:t>
            </a:r>
            <a:r>
              <a:rPr sz="1800" b="0" i="0">
                <a:solidFill>
                  <a:srgbClr val="1F2328"/>
                </a:solidFill>
                <a:latin typeface="Courier New"/>
              </a:rPr>
              <a:t> </a:t>
            </a:r>
            <a:r>
              <a:rPr sz="1800" b="0" i="0">
                <a:solidFill>
                  <a:srgbClr val="1F2328"/>
                </a:solidFill>
                <a:latin typeface="Courier New"/>
              </a:rPr>
              <a:t>=</a:t>
            </a:r>
            <a:r>
              <a:rPr sz="1800" b="0" i="0">
                <a:solidFill>
                  <a:srgbClr val="1F2328"/>
                </a:solidFill>
                <a:latin typeface="Courier New"/>
              </a:rPr>
              <a:t> </a:t>
            </a:r>
            <a:r>
              <a:rPr sz="1800" b="0" i="0">
                <a:solidFill>
                  <a:srgbClr val="1F2328"/>
                </a:solidFill>
                <a:latin typeface="Courier New"/>
              </a:rPr>
              <a:t>loans</a:t>
            </a:r>
            <a:r>
              <a:rPr sz="1800" b="0" i="0">
                <a:solidFill>
                  <a:srgbClr val="1F2328"/>
                </a:solidFill>
                <a:latin typeface="Courier New"/>
              </a:rPr>
              <a:t>.</a:t>
            </a:r>
            <a:r>
              <a:rPr sz="1800" b="0" i="0">
                <a:solidFill>
                  <a:srgbClr val="1F2328"/>
                </a:solidFill>
                <a:latin typeface="Courier New"/>
              </a:rPr>
              <a:t>district</a:t>
            </a:r>
            <a:r>
              <a:rPr sz="1800" b="0" i="0">
                <a:solidFill>
                  <a:srgbClr val="1F2328"/>
                </a:solidFill>
                <a:latin typeface="Courier New"/>
              </a:rPr>
              <a:t>.</a:t>
            </a:r>
            <a:r>
              <a:rPr sz="1800" b="0" i="0">
                <a:solidFill>
                  <a:srgbClr val="1F2328"/>
                </a:solidFill>
                <a:latin typeface="Courier New"/>
              </a:rPr>
              <a:t>str</a:t>
            </a:r>
            <a:r>
              <a:rPr sz="1800" b="0" i="0">
                <a:solidFill>
                  <a:srgbClr val="1F2328"/>
                </a:solidFill>
                <a:latin typeface="Courier New"/>
              </a:rPr>
              <a:t>.</a:t>
            </a:r>
            <a:r>
              <a:rPr sz="1800" b="0" i="0">
                <a:solidFill>
                  <a:srgbClr val="1F2328"/>
                </a:solidFill>
                <a:latin typeface="Courier New"/>
              </a:rPr>
              <a:t>strip</a:t>
            </a:r>
            <a:r>
              <a:rPr sz="1800" b="0" i="0">
                <a:solidFill>
                  <a:srgbClr val="1F2328"/>
                </a:solidFill>
                <a:latin typeface="Courier New"/>
              </a:rPr>
              <a:t>(</a:t>
            </a:r>
            <a:r>
              <a:rPr sz="1800" b="0" i="0">
                <a:solidFill>
                  <a:srgbClr val="1F2328"/>
                </a:solidFill>
                <a:latin typeface="Courier New"/>
              </a:rPr>
              <a:t>)</a:t>
            </a:r>
            <a:r>
              <a:rPr sz="1800" b="0" i="0">
                <a:solidFill>
                  <a:srgbClr val="1F2328"/>
                </a:solidFill>
                <a:latin typeface="Courier New"/>
              </a:rPr>
              <a:t>.</a:t>
            </a:r>
            <a:r>
              <a:rPr sz="1800" b="0" i="0">
                <a:solidFill>
                  <a:srgbClr val="1F2328"/>
                </a:solidFill>
                <a:latin typeface="Courier New"/>
              </a:rPr>
              <a:t>str</a:t>
            </a:r>
            <a:r>
              <a:rPr sz="1800" b="0" i="0">
                <a:solidFill>
                  <a:srgbClr val="1F2328"/>
                </a:solidFill>
                <a:latin typeface="Courier New"/>
              </a:rPr>
              <a:t>.</a:t>
            </a:r>
            <a:r>
              <a:rPr sz="1800" b="0" i="0">
                <a:solidFill>
                  <a:srgbClr val="1F2328"/>
                </a:solidFill>
                <a:latin typeface="Courier New"/>
              </a:rPr>
              <a:t>title</a:t>
            </a:r>
            <a:r>
              <a:rPr sz="1800" b="0" i="0">
                <a:solidFill>
                  <a:srgbClr val="1F2328"/>
                </a:solidFill>
                <a:latin typeface="Courier New"/>
              </a:rPr>
              <a:t>(</a:t>
            </a:r>
            <a:r>
              <a:rPr sz="1800" b="0" i="0">
                <a:solidFill>
                  <a:srgbClr val="1F2328"/>
                </a:solidFill>
                <a:latin typeface="Courier New"/>
              </a:rPr>
              <a:t>)</a:t>
            </a:r>
          </a:p>
          <a:p>
            <a:r>
              <a:rPr sz="1800" b="0" i="0">
                <a:solidFill>
                  <a:srgbClr val="1F2328"/>
                </a:solidFill>
                <a:latin typeface="Courier New"/>
              </a:rPr>
              <a:t>print</a:t>
            </a:r>
            <a:r>
              <a:rPr sz="1800" b="0" i="0">
                <a:solidFill>
                  <a:srgbClr val="1F2328"/>
                </a:solidFill>
                <a:latin typeface="Courier New"/>
              </a:rPr>
              <a:t>(</a:t>
            </a:r>
            <a:r>
              <a:rPr sz="1800" b="0" i="0">
                <a:solidFill>
                  <a:srgbClr val="1F2328"/>
                </a:solidFill>
                <a:latin typeface="Courier New"/>
              </a:rPr>
              <a:t>loans</a:t>
            </a:r>
            <a:r>
              <a:rPr sz="1800" b="0" i="0">
                <a:solidFill>
                  <a:srgbClr val="1F2328"/>
                </a:solidFill>
                <a:latin typeface="Courier New"/>
              </a:rPr>
              <a:t>.</a:t>
            </a:r>
            <a:r>
              <a:rPr sz="1800" b="0" i="0">
                <a:solidFill>
                  <a:srgbClr val="1F2328"/>
                </a:solidFill>
                <a:latin typeface="Courier New"/>
              </a:rPr>
              <a:t>groupby</a:t>
            </a:r>
            <a:r>
              <a:rPr sz="1800" b="0" i="0">
                <a:solidFill>
                  <a:srgbClr val="1F2328"/>
                </a:solidFill>
                <a:latin typeface="Courier New"/>
              </a:rPr>
              <a:t>(</a:t>
            </a:r>
            <a:r>
              <a:rPr sz="1800" b="0" i="0">
                <a:solidFill>
                  <a:srgbClr val="B04A2B"/>
                </a:solidFill>
                <a:latin typeface="Courier New"/>
              </a:rPr>
              <a:t>'gender'</a:t>
            </a:r>
            <a:r>
              <a:rPr sz="1800" b="0" i="0">
                <a:solidFill>
                  <a:srgbClr val="1F2328"/>
                </a:solidFill>
                <a:latin typeface="Courier New"/>
              </a:rPr>
              <a:t>)</a:t>
            </a:r>
            <a:r>
              <a:rPr sz="1800" b="0" i="0">
                <a:solidFill>
                  <a:srgbClr val="1F2328"/>
                </a:solidFill>
                <a:latin typeface="Courier New"/>
              </a:rPr>
              <a:t>.</a:t>
            </a:r>
            <a:r>
              <a:rPr sz="1800" b="0" i="0">
                <a:solidFill>
                  <a:srgbClr val="1F2328"/>
                </a:solidFill>
                <a:latin typeface="Courier New"/>
              </a:rPr>
              <a:t>default</a:t>
            </a:r>
            <a:r>
              <a:rPr sz="1800" b="0" i="0">
                <a:solidFill>
                  <a:srgbClr val="1F2328"/>
                </a:solidFill>
                <a:latin typeface="Courier New"/>
              </a:rPr>
              <a:t>.</a:t>
            </a:r>
            <a:r>
              <a:rPr sz="1800" b="0" i="0">
                <a:solidFill>
                  <a:srgbClr val="1F2328"/>
                </a:solidFill>
                <a:latin typeface="Courier New"/>
              </a:rPr>
              <a:t>mean</a:t>
            </a:r>
            <a:r>
              <a:rPr sz="1800" b="0" i="0">
                <a:solidFill>
                  <a:srgbClr val="1F2328"/>
                </a:solidFill>
                <a:latin typeface="Courier New"/>
              </a:rPr>
              <a:t>(</a:t>
            </a:r>
            <a:r>
              <a:rPr sz="1800" b="0" i="0">
                <a:solidFill>
                  <a:srgbClr val="1F2328"/>
                </a:solidFill>
                <a:latin typeface="Courier New"/>
              </a:rPr>
              <a:t>)</a:t>
            </a:r>
            <a:r>
              <a:rPr sz="1800" b="0" i="0">
                <a:solidFill>
                  <a:srgbClr val="1F2328"/>
                </a:solidFill>
                <a:latin typeface="Courier New"/>
              </a:rPr>
              <a:t>.</a:t>
            </a:r>
            <a:r>
              <a:rPr sz="1800" b="0" i="0">
                <a:solidFill>
                  <a:srgbClr val="1F2328"/>
                </a:solidFill>
                <a:latin typeface="Courier New"/>
              </a:rPr>
              <a:t>round</a:t>
            </a:r>
            <a:r>
              <a:rPr sz="1800" b="0" i="0">
                <a:solidFill>
                  <a:srgbClr val="1F2328"/>
                </a:solidFill>
                <a:latin typeface="Courier New"/>
              </a:rPr>
              <a:t>(</a:t>
            </a:r>
            <a:r>
              <a:rPr sz="1800" b="0" i="0">
                <a:solidFill>
                  <a:srgbClr val="3B4046"/>
                </a:solidFill>
                <a:latin typeface="Courier New"/>
              </a:rPr>
              <a:t>3</a:t>
            </a:r>
            <a:r>
              <a:rPr sz="1800" b="0" i="0">
                <a:solidFill>
                  <a:srgbClr val="1F2328"/>
                </a:solidFill>
                <a:latin typeface="Courier New"/>
              </a:rPr>
              <a:t>)</a:t>
            </a:r>
            <a:r>
              <a:rPr sz="1800" b="0" i="0">
                <a:solidFill>
                  <a:srgbClr val="1F2328"/>
                </a:solidFill>
                <a:latin typeface="Courier New"/>
              </a:rPr>
              <a:t>.</a:t>
            </a:r>
            <a:r>
              <a:rPr sz="1800" b="0" i="0">
                <a:solidFill>
                  <a:srgbClr val="1F2328"/>
                </a:solidFill>
                <a:latin typeface="Courier New"/>
              </a:rPr>
              <a:t>to_dict</a:t>
            </a:r>
            <a:r>
              <a:rPr sz="1800" b="0" i="0">
                <a:solidFill>
                  <a:srgbClr val="1F2328"/>
                </a:solidFill>
                <a:latin typeface="Courier New"/>
              </a:rPr>
              <a:t>(</a:t>
            </a:r>
            <a:r>
              <a:rPr sz="1800" b="0" i="0">
                <a:solidFill>
                  <a:srgbClr val="1F2328"/>
                </a:solidFill>
                <a:latin typeface="Courier New"/>
              </a:rPr>
              <a:t>)</a:t>
            </a:r>
            <a:r>
              <a:rPr sz="1800" b="0" i="0">
                <a:solidFill>
                  <a:srgbClr val="1F2328"/>
                </a:solidFill>
                <a:latin typeface="Courier New"/>
              </a:rPr>
              <a:t>)</a:t>
            </a:r>
          </a:p>
          <a:p>
            <a:r>
              <a:rPr sz="1800" b="0" i="0">
                <a:solidFill>
                  <a:srgbClr val="1F2328"/>
                </a:solidFill>
                <a:latin typeface="Courier New"/>
              </a:rPr>
              <a:t>d</a:t>
            </a:r>
            <a:r>
              <a:rPr sz="1800" b="0" i="0">
                <a:solidFill>
                  <a:srgbClr val="1F2328"/>
                </a:solidFill>
                <a:latin typeface="Courier New"/>
              </a:rPr>
              <a:t> </a:t>
            </a:r>
            <a:r>
              <a:rPr sz="1800" b="0" i="0">
                <a:solidFill>
                  <a:srgbClr val="1F2328"/>
                </a:solidFill>
                <a:latin typeface="Courier New"/>
              </a:rPr>
              <a:t>=</a:t>
            </a:r>
            <a:r>
              <a:rPr sz="1800" b="0" i="0">
                <a:solidFill>
                  <a:srgbClr val="1F2328"/>
                </a:solidFill>
                <a:latin typeface="Courier New"/>
              </a:rPr>
              <a:t> </a:t>
            </a:r>
            <a:r>
              <a:rPr sz="1800" b="0" i="0">
                <a:solidFill>
                  <a:srgbClr val="1F2328"/>
                </a:solidFill>
                <a:latin typeface="Courier New"/>
              </a:rPr>
              <a:t>loans</a:t>
            </a:r>
            <a:r>
              <a:rPr sz="1800" b="0" i="0">
                <a:solidFill>
                  <a:srgbClr val="1F2328"/>
                </a:solidFill>
                <a:latin typeface="Courier New"/>
              </a:rPr>
              <a:t>.</a:t>
            </a:r>
            <a:r>
              <a:rPr sz="1800" b="0" i="0">
                <a:solidFill>
                  <a:srgbClr val="1F2328"/>
                </a:solidFill>
                <a:latin typeface="Courier New"/>
              </a:rPr>
              <a:t>groupby</a:t>
            </a:r>
            <a:r>
              <a:rPr sz="1800" b="0" i="0">
                <a:solidFill>
                  <a:srgbClr val="1F2328"/>
                </a:solidFill>
                <a:latin typeface="Courier New"/>
              </a:rPr>
              <a:t>(</a:t>
            </a:r>
            <a:r>
              <a:rPr sz="1800" b="0" i="0">
                <a:solidFill>
                  <a:srgbClr val="B04A2B"/>
                </a:solidFill>
                <a:latin typeface="Courier New"/>
              </a:rPr>
              <a:t>'district'</a:t>
            </a:r>
            <a:r>
              <a:rPr sz="1800" b="0" i="0">
                <a:solidFill>
                  <a:srgbClr val="1F2328"/>
                </a:solidFill>
                <a:latin typeface="Courier New"/>
              </a:rPr>
              <a:t>)</a:t>
            </a:r>
            <a:r>
              <a:rPr sz="1800" b="0" i="0">
                <a:solidFill>
                  <a:srgbClr val="1F2328"/>
                </a:solidFill>
                <a:latin typeface="Courier New"/>
              </a:rPr>
              <a:t>.</a:t>
            </a:r>
            <a:r>
              <a:rPr sz="1800" b="0" i="0">
                <a:solidFill>
                  <a:srgbClr val="1F2328"/>
                </a:solidFill>
                <a:latin typeface="Courier New"/>
              </a:rPr>
              <a:t>default</a:t>
            </a:r>
            <a:r>
              <a:rPr sz="1800" b="0" i="0">
                <a:solidFill>
                  <a:srgbClr val="1F2328"/>
                </a:solidFill>
                <a:latin typeface="Courier New"/>
              </a:rPr>
              <a:t>.</a:t>
            </a:r>
            <a:r>
              <a:rPr sz="1800" b="0" i="0">
                <a:solidFill>
                  <a:srgbClr val="1F2328"/>
                </a:solidFill>
                <a:latin typeface="Courier New"/>
              </a:rPr>
              <a:t>mean</a:t>
            </a:r>
            <a:r>
              <a:rPr sz="1800" b="0" i="0">
                <a:solidFill>
                  <a:srgbClr val="1F2328"/>
                </a:solidFill>
                <a:latin typeface="Courier New"/>
              </a:rPr>
              <a:t>(</a:t>
            </a:r>
            <a:r>
              <a:rPr sz="1800" b="0" i="0">
                <a:solidFill>
                  <a:srgbClr val="1F2328"/>
                </a:solidFill>
                <a:latin typeface="Courier New"/>
              </a:rPr>
              <a:t>)</a:t>
            </a:r>
            <a:r>
              <a:rPr sz="1800" b="0" i="0">
                <a:solidFill>
                  <a:srgbClr val="1F2328"/>
                </a:solidFill>
                <a:latin typeface="Courier New"/>
              </a:rPr>
              <a:t>.</a:t>
            </a:r>
            <a:r>
              <a:rPr sz="1800" b="0" i="0">
                <a:solidFill>
                  <a:srgbClr val="1F2328"/>
                </a:solidFill>
                <a:latin typeface="Courier New"/>
              </a:rPr>
              <a:t>round</a:t>
            </a:r>
            <a:r>
              <a:rPr sz="1800" b="0" i="0">
                <a:solidFill>
                  <a:srgbClr val="1F2328"/>
                </a:solidFill>
                <a:latin typeface="Courier New"/>
              </a:rPr>
              <a:t>(</a:t>
            </a:r>
            <a:r>
              <a:rPr sz="1800" b="0" i="0">
                <a:solidFill>
                  <a:srgbClr val="3B4046"/>
                </a:solidFill>
                <a:latin typeface="Courier New"/>
              </a:rPr>
              <a:t>3</a:t>
            </a:r>
            <a:r>
              <a:rPr sz="1800" b="0" i="0">
                <a:solidFill>
                  <a:srgbClr val="1F2328"/>
                </a:solidFill>
                <a:latin typeface="Courier New"/>
              </a:rPr>
              <a:t>)</a:t>
            </a:r>
          </a:p>
          <a:p>
            <a:r>
              <a:rPr sz="1800" b="0" i="0">
                <a:solidFill>
                  <a:srgbClr val="1F2328"/>
                </a:solidFill>
                <a:latin typeface="Courier New"/>
              </a:rPr>
              <a:t>print</a:t>
            </a:r>
            <a:r>
              <a:rPr sz="1800" b="0" i="0">
                <a:solidFill>
                  <a:srgbClr val="1F2328"/>
                </a:solidFill>
                <a:latin typeface="Courier New"/>
              </a:rPr>
              <a:t>(</a:t>
            </a:r>
            <a:r>
              <a:rPr sz="1800" b="0" i="0">
                <a:solidFill>
                  <a:srgbClr val="1F2328"/>
                </a:solidFill>
                <a:latin typeface="Courier New"/>
              </a:rPr>
              <a:t>d</a:t>
            </a:r>
            <a:r>
              <a:rPr sz="1800" b="0" i="0">
                <a:solidFill>
                  <a:srgbClr val="1F2328"/>
                </a:solidFill>
                <a:latin typeface="Courier New"/>
              </a:rPr>
              <a:t>.</a:t>
            </a:r>
            <a:r>
              <a:rPr sz="1800" b="0" i="0">
                <a:solidFill>
                  <a:srgbClr val="1F2328"/>
                </a:solidFill>
                <a:latin typeface="Courier New"/>
              </a:rPr>
              <a:t>idxmin</a:t>
            </a:r>
            <a:r>
              <a:rPr sz="1800" b="0" i="0">
                <a:solidFill>
                  <a:srgbClr val="1F2328"/>
                </a:solidFill>
                <a:latin typeface="Courier New"/>
              </a:rPr>
              <a:t>(</a:t>
            </a:r>
            <a:r>
              <a:rPr sz="1800" b="0" i="0">
                <a:solidFill>
                  <a:srgbClr val="1F2328"/>
                </a:solidFill>
                <a:latin typeface="Courier New"/>
              </a:rPr>
              <a:t>)</a:t>
            </a:r>
            <a:r>
              <a:rPr sz="1800" b="0" i="0">
                <a:solidFill>
                  <a:srgbClr val="1F2328"/>
                </a:solidFill>
                <a:latin typeface="Courier New"/>
              </a:rPr>
              <a:t>,</a:t>
            </a:r>
            <a:r>
              <a:rPr sz="1800" b="0" i="0">
                <a:solidFill>
                  <a:srgbClr val="1F2328"/>
                </a:solidFill>
                <a:latin typeface="Courier New"/>
              </a:rPr>
              <a:t> </a:t>
            </a:r>
            <a:r>
              <a:rPr sz="1800" b="0" i="0">
                <a:solidFill>
                  <a:srgbClr val="1F2328"/>
                </a:solidFill>
                <a:latin typeface="Courier New"/>
              </a:rPr>
              <a:t>d</a:t>
            </a:r>
            <a:r>
              <a:rPr sz="1800" b="0" i="0">
                <a:solidFill>
                  <a:srgbClr val="1F2328"/>
                </a:solidFill>
                <a:latin typeface="Courier New"/>
              </a:rPr>
              <a:t>.</a:t>
            </a:r>
            <a:r>
              <a:rPr sz="1800" b="0" i="0">
                <a:solidFill>
                  <a:srgbClr val="1F2328"/>
                </a:solidFill>
                <a:latin typeface="Courier New"/>
              </a:rPr>
              <a:t>idxmax</a:t>
            </a:r>
            <a:r>
              <a:rPr sz="1800" b="0" i="0">
                <a:solidFill>
                  <a:srgbClr val="1F2328"/>
                </a:solidFill>
                <a:latin typeface="Courier New"/>
              </a:rPr>
              <a:t>(</a:t>
            </a:r>
            <a:r>
              <a:rPr sz="1800" b="0" i="0">
                <a:solidFill>
                  <a:srgbClr val="1F2328"/>
                </a:solidFill>
                <a:latin typeface="Courier New"/>
              </a:rPr>
              <a:t>)</a:t>
            </a:r>
            <a:r>
              <a:rPr sz="1800" b="0" i="0">
                <a:solidFill>
                  <a:srgbClr val="1F2328"/>
                </a:solidFill>
                <a:latin typeface="Courier New"/>
              </a:rPr>
              <a:t>)</a:t>
            </a:r>
          </a:p>
          <a:p>
            <a:r>
              <a:rPr sz="1800" b="0" i="0">
                <a:solidFill>
                  <a:srgbClr val="1F2328"/>
                </a:solidFill>
                <a:latin typeface="Courier New"/>
              </a:rPr>
              <a:t>known</a:t>
            </a:r>
            <a:r>
              <a:rPr sz="1800" b="0" i="0">
                <a:solidFill>
                  <a:srgbClr val="1F2328"/>
                </a:solidFill>
                <a:latin typeface="Courier New"/>
              </a:rPr>
              <a:t> </a:t>
            </a:r>
            <a:r>
              <a:rPr sz="1800" b="0" i="0">
                <a:solidFill>
                  <a:srgbClr val="1F2328"/>
                </a:solidFill>
                <a:latin typeface="Courier New"/>
              </a:rPr>
              <a:t>=</a:t>
            </a:r>
            <a:r>
              <a:rPr sz="1800" b="0" i="0">
                <a:solidFill>
                  <a:srgbClr val="1F2328"/>
                </a:solidFill>
                <a:latin typeface="Courier New"/>
              </a:rPr>
              <a:t> </a:t>
            </a:r>
            <a:r>
              <a:rPr sz="1800" b="0" i="0">
                <a:solidFill>
                  <a:srgbClr val="1F2328"/>
                </a:solidFill>
                <a:latin typeface="Courier New"/>
              </a:rPr>
              <a:t>loans</a:t>
            </a:r>
            <a:r>
              <a:rPr sz="1800" b="0" i="0">
                <a:solidFill>
                  <a:srgbClr val="1F2328"/>
                </a:solidFill>
                <a:latin typeface="Courier New"/>
              </a:rPr>
              <a:t>.</a:t>
            </a:r>
            <a:r>
              <a:rPr sz="1800" b="0" i="0">
                <a:solidFill>
                  <a:srgbClr val="1F2328"/>
                </a:solidFill>
                <a:latin typeface="Courier New"/>
              </a:rPr>
              <a:t>dropna</a:t>
            </a:r>
            <a:r>
              <a:rPr sz="1800" b="0" i="0">
                <a:solidFill>
                  <a:srgbClr val="1F2328"/>
                </a:solidFill>
                <a:latin typeface="Courier New"/>
              </a:rPr>
              <a:t>(</a:t>
            </a:r>
            <a:r>
              <a:rPr sz="1800" b="0" i="0">
                <a:solidFill>
                  <a:srgbClr val="1F2328"/>
                </a:solidFill>
                <a:latin typeface="Courier New"/>
              </a:rPr>
              <a:t>subset</a:t>
            </a:r>
            <a:r>
              <a:rPr sz="1800" b="0" i="0">
                <a:solidFill>
                  <a:srgbClr val="1F2328"/>
                </a:solidFill>
                <a:latin typeface="Courier New"/>
              </a:rPr>
              <a:t>=</a:t>
            </a:r>
            <a:r>
              <a:rPr sz="1800" b="0" i="0">
                <a:solidFill>
                  <a:srgbClr val="1F2328"/>
                </a:solidFill>
                <a:latin typeface="Courier New"/>
              </a:rPr>
              <a:t>[</a:t>
            </a:r>
            <a:r>
              <a:rPr sz="1800" b="0" i="0">
                <a:solidFill>
                  <a:srgbClr val="B04A2B"/>
                </a:solidFill>
                <a:latin typeface="Courier New"/>
              </a:rPr>
              <a:t>'monthly_income_ugx'</a:t>
            </a:r>
            <a:r>
              <a:rPr sz="1800" b="0" i="0">
                <a:solidFill>
                  <a:srgbClr val="1F2328"/>
                </a:solidFill>
                <a:latin typeface="Courier New"/>
              </a:rPr>
              <a:t>]</a:t>
            </a:r>
            <a:r>
              <a:rPr sz="1800" b="0" i="0">
                <a:solidFill>
                  <a:srgbClr val="1F2328"/>
                </a:solidFill>
                <a:latin typeface="Courier New"/>
              </a:rPr>
              <a:t>)</a:t>
            </a:r>
            <a:r>
              <a:rPr sz="1800" b="0" i="0">
                <a:solidFill>
                  <a:srgbClr val="1F2328"/>
                </a:solidFill>
                <a:latin typeface="Courier New"/>
              </a:rPr>
              <a:t>.</a:t>
            </a:r>
            <a:r>
              <a:rPr sz="1800" b="0" i="0">
                <a:solidFill>
                  <a:srgbClr val="1F2328"/>
                </a:solidFill>
                <a:latin typeface="Courier New"/>
              </a:rPr>
              <a:t>copy</a:t>
            </a:r>
            <a:r>
              <a:rPr sz="1800" b="0" i="0">
                <a:solidFill>
                  <a:srgbClr val="1F2328"/>
                </a:solidFill>
                <a:latin typeface="Courier New"/>
              </a:rPr>
              <a:t>(</a:t>
            </a:r>
            <a:r>
              <a:rPr sz="1800" b="0" i="0">
                <a:solidFill>
                  <a:srgbClr val="1F2328"/>
                </a:solidFill>
                <a:latin typeface="Courier New"/>
              </a:rPr>
              <a:t>)</a:t>
            </a:r>
          </a:p>
          <a:p>
            <a:r>
              <a:rPr sz="1800" b="0" i="0">
                <a:solidFill>
                  <a:srgbClr val="1F2328"/>
                </a:solidFill>
                <a:latin typeface="Courier New"/>
              </a:rPr>
              <a:t>b</a:t>
            </a:r>
            <a:r>
              <a:rPr sz="1800" b="0" i="0">
                <a:solidFill>
                  <a:srgbClr val="1F2328"/>
                </a:solidFill>
                <a:latin typeface="Courier New"/>
              </a:rPr>
              <a:t> </a:t>
            </a:r>
            <a:r>
              <a:rPr sz="1800" b="0" i="0">
                <a:solidFill>
                  <a:srgbClr val="1F2328"/>
                </a:solidFill>
                <a:latin typeface="Courier New"/>
              </a:rPr>
              <a:t>=</a:t>
            </a:r>
            <a:r>
              <a:rPr sz="1800" b="0" i="0">
                <a:solidFill>
                  <a:srgbClr val="1F2328"/>
                </a:solidFill>
                <a:latin typeface="Courier New"/>
              </a:rPr>
              <a:t> </a:t>
            </a:r>
            <a:r>
              <a:rPr sz="1800" b="0" i="0">
                <a:solidFill>
                  <a:srgbClr val="1F2328"/>
                </a:solidFill>
                <a:latin typeface="Courier New"/>
              </a:rPr>
              <a:t>known</a:t>
            </a:r>
            <a:r>
              <a:rPr sz="1800" b="0" i="0">
                <a:solidFill>
                  <a:srgbClr val="1F2328"/>
                </a:solidFill>
                <a:latin typeface="Courier New"/>
              </a:rPr>
              <a:t>.</a:t>
            </a:r>
            <a:r>
              <a:rPr sz="1800" b="0" i="0">
                <a:solidFill>
                  <a:srgbClr val="1F2328"/>
                </a:solidFill>
                <a:latin typeface="Courier New"/>
              </a:rPr>
              <a:t>loan_amount_ugx</a:t>
            </a:r>
            <a:r>
              <a:rPr sz="1800" b="0" i="0">
                <a:solidFill>
                  <a:srgbClr val="1F2328"/>
                </a:solidFill>
                <a:latin typeface="Courier New"/>
              </a:rPr>
              <a:t> </a:t>
            </a:r>
            <a:r>
              <a:rPr sz="1800" b="0" i="0">
                <a:solidFill>
                  <a:srgbClr val="1F2328"/>
                </a:solidFill>
                <a:latin typeface="Courier New"/>
              </a:rPr>
              <a:t>/</a:t>
            </a:r>
            <a:r>
              <a:rPr sz="1800" b="0" i="0">
                <a:solidFill>
                  <a:srgbClr val="1F2328"/>
                </a:solidFill>
                <a:latin typeface="Courier New"/>
              </a:rPr>
              <a:t> </a:t>
            </a:r>
            <a:r>
              <a:rPr sz="1800" b="0" i="0">
                <a:solidFill>
                  <a:srgbClr val="1F2328"/>
                </a:solidFill>
                <a:latin typeface="Courier New"/>
              </a:rPr>
              <a:t>known</a:t>
            </a:r>
            <a:r>
              <a:rPr sz="1800" b="0" i="0">
                <a:solidFill>
                  <a:srgbClr val="1F2328"/>
                </a:solidFill>
                <a:latin typeface="Courier New"/>
              </a:rPr>
              <a:t>.</a:t>
            </a:r>
            <a:r>
              <a:rPr sz="1800" b="0" i="0">
                <a:solidFill>
                  <a:srgbClr val="1F2328"/>
                </a:solidFill>
                <a:latin typeface="Courier New"/>
              </a:rPr>
              <a:t>term_months</a:t>
            </a:r>
            <a:r>
              <a:rPr sz="1800" b="0" i="0">
                <a:solidFill>
                  <a:srgbClr val="1F2328"/>
                </a:solidFill>
                <a:latin typeface="Courier New"/>
              </a:rPr>
              <a:t> </a:t>
            </a:r>
            <a:r>
              <a:rPr sz="1800" b="0" i="0">
                <a:solidFill>
                  <a:srgbClr val="1F2328"/>
                </a:solidFill>
                <a:latin typeface="Courier New"/>
              </a:rPr>
              <a:t>/</a:t>
            </a:r>
            <a:r>
              <a:rPr sz="1800" b="0" i="0">
                <a:solidFill>
                  <a:srgbClr val="1F2328"/>
                </a:solidFill>
                <a:latin typeface="Courier New"/>
              </a:rPr>
              <a:t> </a:t>
            </a:r>
            <a:r>
              <a:rPr sz="1800" b="0" i="0">
                <a:solidFill>
                  <a:srgbClr val="1F2328"/>
                </a:solidFill>
                <a:latin typeface="Courier New"/>
              </a:rPr>
              <a:t>known</a:t>
            </a:r>
            <a:r>
              <a:rPr sz="1800" b="0" i="0">
                <a:solidFill>
                  <a:srgbClr val="1F2328"/>
                </a:solidFill>
                <a:latin typeface="Courier New"/>
              </a:rPr>
              <a:t>.</a:t>
            </a:r>
            <a:r>
              <a:rPr sz="1800" b="0" i="0">
                <a:solidFill>
                  <a:srgbClr val="1F2328"/>
                </a:solidFill>
                <a:latin typeface="Courier New"/>
              </a:rPr>
              <a:t>monthly_income_ugx</a:t>
            </a:r>
          </a:p>
          <a:p>
            <a:r>
              <a:rPr sz="1800" b="0" i="0">
                <a:solidFill>
                  <a:srgbClr val="1F2328"/>
                </a:solidFill>
                <a:latin typeface="Courier New"/>
              </a:rPr>
              <a:t>known</a:t>
            </a:r>
            <a:r>
              <a:rPr sz="1800" b="0" i="0">
                <a:solidFill>
                  <a:srgbClr val="1F2328"/>
                </a:solidFill>
                <a:latin typeface="Courier New"/>
              </a:rPr>
              <a:t>[</a:t>
            </a:r>
            <a:r>
              <a:rPr sz="1800" b="0" i="0">
                <a:solidFill>
                  <a:srgbClr val="B04A2B"/>
                </a:solidFill>
                <a:latin typeface="Courier New"/>
              </a:rPr>
              <a:t>'flag'</a:t>
            </a:r>
            <a:r>
              <a:rPr sz="1800" b="0" i="0">
                <a:solidFill>
                  <a:srgbClr val="1F2328"/>
                </a:solidFill>
                <a:latin typeface="Courier New"/>
              </a:rPr>
              <a:t>]</a:t>
            </a:r>
            <a:r>
              <a:rPr sz="1800" b="0" i="0">
                <a:solidFill>
                  <a:srgbClr val="1F2328"/>
                </a:solidFill>
                <a:latin typeface="Courier New"/>
              </a:rPr>
              <a:t> </a:t>
            </a:r>
            <a:r>
              <a:rPr sz="1800" b="0" i="0">
                <a:solidFill>
                  <a:srgbClr val="1F2328"/>
                </a:solidFill>
                <a:latin typeface="Courier New"/>
              </a:rPr>
              <a:t>=</a:t>
            </a:r>
            <a:r>
              <a:rPr sz="1800" b="0" i="0">
                <a:solidFill>
                  <a:srgbClr val="1F2328"/>
                </a:solidFill>
                <a:latin typeface="Courier New"/>
              </a:rPr>
              <a:t> </a:t>
            </a:r>
            <a:r>
              <a:rPr sz="1800" b="0" i="0">
                <a:solidFill>
                  <a:srgbClr val="1F2328"/>
                </a:solidFill>
                <a:latin typeface="Courier New"/>
              </a:rPr>
              <a:t>np</a:t>
            </a:r>
            <a:r>
              <a:rPr sz="1800" b="0" i="0">
                <a:solidFill>
                  <a:srgbClr val="1F2328"/>
                </a:solidFill>
                <a:latin typeface="Courier New"/>
              </a:rPr>
              <a:t>.</a:t>
            </a:r>
            <a:r>
              <a:rPr sz="1800" b="0" i="0">
                <a:solidFill>
                  <a:srgbClr val="1F2328"/>
                </a:solidFill>
                <a:latin typeface="Courier New"/>
              </a:rPr>
              <a:t>where</a:t>
            </a:r>
            <a:r>
              <a:rPr sz="1800" b="0" i="0">
                <a:solidFill>
                  <a:srgbClr val="1F2328"/>
                </a:solidFill>
                <a:latin typeface="Courier New"/>
              </a:rPr>
              <a:t>(</a:t>
            </a:r>
            <a:r>
              <a:rPr sz="1800" b="0" i="0">
                <a:solidFill>
                  <a:srgbClr val="1F2328"/>
                </a:solidFill>
                <a:latin typeface="Courier New"/>
              </a:rPr>
              <a:t>b</a:t>
            </a:r>
            <a:r>
              <a:rPr sz="1800" b="0" i="0">
                <a:solidFill>
                  <a:srgbClr val="1F2328"/>
                </a:solidFill>
                <a:latin typeface="Courier New"/>
              </a:rPr>
              <a:t> </a:t>
            </a:r>
            <a:r>
              <a:rPr sz="1800" b="0" i="0">
                <a:solidFill>
                  <a:srgbClr val="1F2328"/>
                </a:solidFill>
                <a:latin typeface="Courier New"/>
              </a:rPr>
              <a:t>&gt;</a:t>
            </a:r>
            <a:r>
              <a:rPr sz="1800" b="0" i="0">
                <a:solidFill>
                  <a:srgbClr val="1F2328"/>
                </a:solidFill>
                <a:latin typeface="Courier New"/>
              </a:rPr>
              <a:t> </a:t>
            </a:r>
            <a:r>
              <a:rPr sz="1800" b="0" i="0">
                <a:solidFill>
                  <a:srgbClr val="3B4046"/>
                </a:solidFill>
                <a:latin typeface="Courier New"/>
              </a:rPr>
              <a:t>0.35</a:t>
            </a:r>
            <a:r>
              <a:rPr sz="1800" b="0" i="0">
                <a:solidFill>
                  <a:srgbClr val="1F2328"/>
                </a:solidFill>
                <a:latin typeface="Courier New"/>
              </a:rPr>
              <a:t>,</a:t>
            </a:r>
            <a:r>
              <a:rPr sz="1800" b="0" i="0">
                <a:solidFill>
                  <a:srgbClr val="1F2328"/>
                </a:solidFill>
                <a:latin typeface="Courier New"/>
              </a:rPr>
              <a:t> </a:t>
            </a:r>
            <a:r>
              <a:rPr sz="1800" b="0" i="0">
                <a:solidFill>
                  <a:srgbClr val="3B4046"/>
                </a:solidFill>
                <a:latin typeface="Courier New"/>
              </a:rPr>
              <a:t>1</a:t>
            </a:r>
            <a:r>
              <a:rPr sz="1800" b="0" i="0">
                <a:solidFill>
                  <a:srgbClr val="1F2328"/>
                </a:solidFill>
                <a:latin typeface="Courier New"/>
              </a:rPr>
              <a:t>,</a:t>
            </a:r>
            <a:r>
              <a:rPr sz="1800" b="0" i="0">
                <a:solidFill>
                  <a:srgbClr val="1F2328"/>
                </a:solidFill>
                <a:latin typeface="Courier New"/>
              </a:rPr>
              <a:t> </a:t>
            </a:r>
            <a:r>
              <a:rPr sz="1800" b="0" i="0">
                <a:solidFill>
                  <a:srgbClr val="3B4046"/>
                </a:solidFill>
                <a:latin typeface="Courier New"/>
              </a:rPr>
              <a:t>0</a:t>
            </a:r>
            <a:r>
              <a:rPr sz="1800" b="0" i="0">
                <a:solidFill>
                  <a:srgbClr val="1F2328"/>
                </a:solidFill>
                <a:latin typeface="Courier New"/>
              </a:rPr>
              <a:t>)</a:t>
            </a:r>
          </a:p>
          <a:p>
            <a:r>
              <a:rPr sz="1800" b="0" i="0">
                <a:solidFill>
                  <a:srgbClr val="1F2328"/>
                </a:solidFill>
                <a:latin typeface="Courier New"/>
              </a:rPr>
              <a:t>print</a:t>
            </a:r>
            <a:r>
              <a:rPr sz="1800" b="0" i="0">
                <a:solidFill>
                  <a:srgbClr val="1F2328"/>
                </a:solidFill>
                <a:latin typeface="Courier New"/>
              </a:rPr>
              <a:t>(</a:t>
            </a:r>
            <a:r>
              <a:rPr sz="1800" b="0" i="0">
                <a:solidFill>
                  <a:srgbClr val="1F2328"/>
                </a:solidFill>
                <a:latin typeface="Courier New"/>
              </a:rPr>
              <a:t>known</a:t>
            </a:r>
            <a:r>
              <a:rPr sz="1800" b="0" i="0">
                <a:solidFill>
                  <a:srgbClr val="1F2328"/>
                </a:solidFill>
                <a:latin typeface="Courier New"/>
              </a:rPr>
              <a:t>.</a:t>
            </a:r>
            <a:r>
              <a:rPr sz="1800" b="0" i="0">
                <a:solidFill>
                  <a:srgbClr val="1F2328"/>
                </a:solidFill>
                <a:latin typeface="Courier New"/>
              </a:rPr>
              <a:t>groupby</a:t>
            </a:r>
            <a:r>
              <a:rPr sz="1800" b="0" i="0">
                <a:solidFill>
                  <a:srgbClr val="1F2328"/>
                </a:solidFill>
                <a:latin typeface="Courier New"/>
              </a:rPr>
              <a:t>(</a:t>
            </a:r>
            <a:r>
              <a:rPr sz="1800" b="0" i="0">
                <a:solidFill>
                  <a:srgbClr val="B04A2B"/>
                </a:solidFill>
                <a:latin typeface="Courier New"/>
              </a:rPr>
              <a:t>'gender'</a:t>
            </a:r>
            <a:r>
              <a:rPr sz="1800" b="0" i="0">
                <a:solidFill>
                  <a:srgbClr val="1F2328"/>
                </a:solidFill>
                <a:latin typeface="Courier New"/>
              </a:rPr>
              <a:t>)</a:t>
            </a:r>
            <a:r>
              <a:rPr sz="1800" b="0" i="0">
                <a:solidFill>
                  <a:srgbClr val="1F2328"/>
                </a:solidFill>
                <a:latin typeface="Courier New"/>
              </a:rPr>
              <a:t>.</a:t>
            </a:r>
            <a:r>
              <a:rPr sz="1800" b="0" i="0">
                <a:solidFill>
                  <a:srgbClr val="1F2328"/>
                </a:solidFill>
                <a:latin typeface="Courier New"/>
              </a:rPr>
              <a:t>flag</a:t>
            </a:r>
            <a:r>
              <a:rPr sz="1800" b="0" i="0">
                <a:solidFill>
                  <a:srgbClr val="1F2328"/>
                </a:solidFill>
                <a:latin typeface="Courier New"/>
              </a:rPr>
              <a:t>.</a:t>
            </a:r>
            <a:r>
              <a:rPr sz="1800" b="0" i="0">
                <a:solidFill>
                  <a:srgbClr val="1F2328"/>
                </a:solidFill>
                <a:latin typeface="Courier New"/>
              </a:rPr>
              <a:t>mean</a:t>
            </a:r>
            <a:r>
              <a:rPr sz="1800" b="0" i="0">
                <a:solidFill>
                  <a:srgbClr val="1F2328"/>
                </a:solidFill>
                <a:latin typeface="Courier New"/>
              </a:rPr>
              <a:t>(</a:t>
            </a:r>
            <a:r>
              <a:rPr sz="1800" b="0" i="0">
                <a:solidFill>
                  <a:srgbClr val="1F2328"/>
                </a:solidFill>
                <a:latin typeface="Courier New"/>
              </a:rPr>
              <a:t>)</a:t>
            </a:r>
            <a:r>
              <a:rPr sz="1800" b="0" i="0">
                <a:solidFill>
                  <a:srgbClr val="1F2328"/>
                </a:solidFill>
                <a:latin typeface="Courier New"/>
              </a:rPr>
              <a:t>.</a:t>
            </a:r>
            <a:r>
              <a:rPr sz="1800" b="0" i="0">
                <a:solidFill>
                  <a:srgbClr val="1F2328"/>
                </a:solidFill>
                <a:latin typeface="Courier New"/>
              </a:rPr>
              <a:t>round</a:t>
            </a:r>
            <a:r>
              <a:rPr sz="1800" b="0" i="0">
                <a:solidFill>
                  <a:srgbClr val="1F2328"/>
                </a:solidFill>
                <a:latin typeface="Courier New"/>
              </a:rPr>
              <a:t>(</a:t>
            </a:r>
            <a:r>
              <a:rPr sz="1800" b="0" i="0">
                <a:solidFill>
                  <a:srgbClr val="3B4046"/>
                </a:solidFill>
                <a:latin typeface="Courier New"/>
              </a:rPr>
              <a:t>3</a:t>
            </a:r>
            <a:r>
              <a:rPr sz="1800" b="0" i="0">
                <a:solidFill>
                  <a:srgbClr val="1F2328"/>
                </a:solidFill>
                <a:latin typeface="Courier New"/>
              </a:rPr>
              <a:t>)</a:t>
            </a:r>
            <a:r>
              <a:rPr sz="1800" b="0" i="0">
                <a:solidFill>
                  <a:srgbClr val="1F2328"/>
                </a:solidFill>
                <a:latin typeface="Courier New"/>
              </a:rPr>
              <a:t>.</a:t>
            </a:r>
            <a:r>
              <a:rPr sz="1800" b="0" i="0">
                <a:solidFill>
                  <a:srgbClr val="1F2328"/>
                </a:solidFill>
                <a:latin typeface="Courier New"/>
              </a:rPr>
              <a:t>to_dict</a:t>
            </a:r>
            <a:r>
              <a:rPr sz="1800" b="0" i="0">
                <a:solidFill>
                  <a:srgbClr val="1F2328"/>
                </a:solidFill>
                <a:latin typeface="Courier New"/>
              </a:rPr>
              <a:t>(</a:t>
            </a:r>
            <a:r>
              <a:rPr sz="1800" b="0" i="0">
                <a:solidFill>
                  <a:srgbClr val="1F2328"/>
                </a:solidFill>
                <a:latin typeface="Courier New"/>
              </a:rPr>
              <a:t>)</a:t>
            </a:r>
            <a:r>
              <a:rPr sz="1800" b="0" i="0">
                <a:solidFill>
                  <a:srgbClr val="1F2328"/>
                </a:solidFill>
                <a:latin typeface="Courier New"/>
              </a:rPr>
              <a:t>)</a:t>
            </a:r>
          </a:p>
        </p:txBody>
      </p:sp>
      <p:grpSp>
        <p:nvGrpSpPr>
          <p:cNvPr id="7" name="output"/>
          <p:cNvGrpSpPr/>
          <p:nvPr/>
        </p:nvGrpSpPr>
        <p:grpSpPr>
          <a:xfrm>
            <a:off x="685800" y="5038344"/>
            <a:ext cx="10820095" cy="950976"/>
            <a:chOff x="685800" y="5038344"/>
            <a:chExt cx="10820095" cy="950976"/>
          </a:xfrm>
        </p:grpSpPr>
        <p:sp>
          <p:nvSpPr>
            <p:cNvPr id="8" name="TextBox 7"/>
            <p:cNvSpPr txBox="1"/>
            <p:nvPr/>
          </p:nvSpPr>
          <p:spPr>
            <a:xfrm>
              <a:off x="685800" y="503834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5294376"/>
              <a:ext cx="10820095" cy="694944"/>
            </a:xfrm>
            <a:prstGeom prst="rect">
              <a:avLst/>
            </a:prstGeom>
            <a:solidFill>
              <a:srgbClr val="F5F3EF"/>
            </a:solidFill>
            <a:ln>
              <a:noFill/>
            </a:ln>
          </p:spPr>
          <p:txBody>
            <a:bodyPr rtlCol="0" anchor="ctr"/>
            <a:lstStyle/>
            <a:p>
              <a:pPr algn="ctr"/>
            </a:p>
          </p:txBody>
        </p:sp>
        <p:sp>
          <p:nvSpPr>
            <p:cNvPr id="10" name="TextBox 9"/>
            <p:cNvSpPr txBox="1"/>
            <p:nvPr/>
          </p:nvSpPr>
          <p:spPr>
            <a:xfrm>
              <a:off x="868680" y="5385816"/>
              <a:ext cx="10545775" cy="585216"/>
            </a:xfrm>
            <a:prstGeom prst="rect">
              <a:avLst/>
            </a:prstGeom>
            <a:noFill/>
          </p:spPr>
          <p:txBody>
            <a:bodyPr wrap="none" lIns="0" rIns="0" tIns="0" bIns="0">
              <a:spAutoFit/>
            </a:bodyPr>
            <a:lstStyle/>
            <a:p>
              <a:r>
                <a:rPr sz="1400" b="0" i="0">
                  <a:solidFill>
                    <a:srgbClr val="1F2328"/>
                  </a:solidFill>
                  <a:latin typeface="Courier New"/>
                </a:rPr>
                <a:t>{'F': 0.121, 'M': 0.131}</a:t>
              </a:r>
            </a:p>
            <a:p>
              <a:r>
                <a:rPr sz="1400" b="0" i="0">
                  <a:solidFill>
                    <a:srgbClr val="1F2328"/>
                  </a:solidFill>
                  <a:latin typeface="Courier New"/>
                </a:rPr>
                <a:t>Fort Portal Masaka</a:t>
              </a:r>
            </a:p>
            <a:p>
              <a:r>
                <a:rPr sz="1400" b="0" i="0">
                  <a:solidFill>
                    <a:srgbClr val="1F2328"/>
                  </a:solidFill>
                  <a:latin typeface="Courier New"/>
                </a:rPr>
                <a:t>{'F': 0.353, 'M': 0.363}</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2900" b="1" i="0">
                <a:solidFill>
                  <a:srgbClr val="1F2328"/>
                </a:solidFill>
                <a:latin typeface="Cambria"/>
              </a:rPr>
              <a:t>A rule that never sees gender can still treat the sexes differently</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23   Ship it: reproducible work, a small app and responsible use</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16</a:t>
            </a:r>
          </a:p>
        </p:txBody>
      </p:sp>
      <p:sp>
        <p:nvSpPr>
          <p:cNvPr id="5" name="Rectangle 4"/>
          <p:cNvSpPr/>
          <p:nvPr/>
        </p:nvSpPr>
        <p:spPr>
          <a:xfrm>
            <a:off x="685800" y="1600200"/>
            <a:ext cx="10820095" cy="2231135"/>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10545775" cy="1956815"/>
          </a:xfrm>
          <a:prstGeom prst="rect">
            <a:avLst/>
          </a:prstGeom>
          <a:noFill/>
        </p:spPr>
        <p:txBody>
          <a:bodyPr wrap="none" lIns="0" rIns="0" tIns="0" bIns="0">
            <a:spAutoFit/>
          </a:bodyPr>
          <a:lstStyle/>
          <a:p>
            <a:r>
              <a:rPr sz="2100" b="0" i="0">
                <a:solidFill>
                  <a:srgbClr val="1F2328"/>
                </a:solidFill>
                <a:latin typeface="Courier New"/>
              </a:rPr>
              <a:t>occ_rate</a:t>
            </a:r>
            <a:r>
              <a:rPr sz="2100" b="0" i="0">
                <a:solidFill>
                  <a:srgbClr val="1F2328"/>
                </a:solidFill>
                <a:latin typeface="Courier New"/>
              </a:rPr>
              <a:t> </a:t>
            </a:r>
            <a:r>
              <a:rPr sz="2100" b="0" i="0">
                <a:solidFill>
                  <a:srgbClr val="1F2328"/>
                </a:solidFill>
                <a:latin typeface="Courier New"/>
              </a:rPr>
              <a:t>=</a:t>
            </a:r>
            <a:r>
              <a:rPr sz="2100" b="0" i="0">
                <a:solidFill>
                  <a:srgbClr val="1F2328"/>
                </a:solidFill>
                <a:latin typeface="Courier New"/>
              </a:rPr>
              <a:t> </a:t>
            </a:r>
            <a:r>
              <a:rPr sz="2100" b="0" i="0">
                <a:solidFill>
                  <a:srgbClr val="1F2328"/>
                </a:solidFill>
                <a:latin typeface="Courier New"/>
              </a:rPr>
              <a:t>known</a:t>
            </a:r>
            <a:r>
              <a:rPr sz="2100" b="0" i="0">
                <a:solidFill>
                  <a:srgbClr val="1F2328"/>
                </a:solidFill>
                <a:latin typeface="Courier New"/>
              </a:rPr>
              <a:t>.</a:t>
            </a:r>
            <a:r>
              <a:rPr sz="2100" b="0" i="0">
                <a:solidFill>
                  <a:srgbClr val="1F2328"/>
                </a:solidFill>
                <a:latin typeface="Courier New"/>
              </a:rPr>
              <a:t>groupby</a:t>
            </a:r>
            <a:r>
              <a:rPr sz="2100" b="0" i="0">
                <a:solidFill>
                  <a:srgbClr val="1F2328"/>
                </a:solidFill>
                <a:latin typeface="Courier New"/>
              </a:rPr>
              <a:t>(</a:t>
            </a:r>
            <a:r>
              <a:rPr sz="2100" b="0" i="0">
                <a:solidFill>
                  <a:srgbClr val="B04A2B"/>
                </a:solidFill>
                <a:latin typeface="Courier New"/>
              </a:rPr>
              <a:t>'occupation'</a:t>
            </a:r>
            <a:r>
              <a:rPr sz="2100" b="0" i="0">
                <a:solidFill>
                  <a:srgbClr val="1F2328"/>
                </a:solidFill>
                <a:latin typeface="Courier New"/>
              </a:rPr>
              <a:t>)</a:t>
            </a:r>
            <a:r>
              <a:rPr sz="2100" b="0" i="0">
                <a:solidFill>
                  <a:srgbClr val="1F2328"/>
                </a:solidFill>
                <a:latin typeface="Courier New"/>
              </a:rPr>
              <a:t>.</a:t>
            </a:r>
            <a:r>
              <a:rPr sz="2100" b="0" i="0">
                <a:solidFill>
                  <a:srgbClr val="1F2328"/>
                </a:solidFill>
                <a:latin typeface="Courier New"/>
              </a:rPr>
              <a:t>default</a:t>
            </a:r>
            <a:r>
              <a:rPr sz="2100" b="0" i="0">
                <a:solidFill>
                  <a:srgbClr val="1F2328"/>
                </a:solidFill>
                <a:latin typeface="Courier New"/>
              </a:rPr>
              <a:t>.</a:t>
            </a:r>
            <a:r>
              <a:rPr sz="2100" b="0" i="0">
                <a:solidFill>
                  <a:srgbClr val="1F2328"/>
                </a:solidFill>
                <a:latin typeface="Courier New"/>
              </a:rPr>
              <a:t>transform</a:t>
            </a:r>
            <a:r>
              <a:rPr sz="2100" b="0" i="0">
                <a:solidFill>
                  <a:srgbClr val="1F2328"/>
                </a:solidFill>
                <a:latin typeface="Courier New"/>
              </a:rPr>
              <a:t>(</a:t>
            </a:r>
            <a:r>
              <a:rPr sz="2100" b="0" i="0">
                <a:solidFill>
                  <a:srgbClr val="B04A2B"/>
                </a:solidFill>
                <a:latin typeface="Courier New"/>
              </a:rPr>
              <a:t>'mean'</a:t>
            </a:r>
            <a:r>
              <a:rPr sz="2100" b="0" i="0">
                <a:solidFill>
                  <a:srgbClr val="1F2328"/>
                </a:solidFill>
                <a:latin typeface="Courier New"/>
              </a:rPr>
              <a:t>)</a:t>
            </a:r>
          </a:p>
          <a:p>
            <a:r>
              <a:rPr sz="2100" b="0" i="0">
                <a:solidFill>
                  <a:srgbClr val="1F2328"/>
                </a:solidFill>
                <a:latin typeface="Courier New"/>
              </a:rPr>
              <a:t>known</a:t>
            </a:r>
            <a:r>
              <a:rPr sz="2100" b="0" i="0">
                <a:solidFill>
                  <a:srgbClr val="1F2328"/>
                </a:solidFill>
                <a:latin typeface="Courier New"/>
              </a:rPr>
              <a:t>[</a:t>
            </a:r>
            <a:r>
              <a:rPr sz="2100" b="0" i="0">
                <a:solidFill>
                  <a:srgbClr val="B04A2B"/>
                </a:solidFill>
                <a:latin typeface="Courier New"/>
              </a:rPr>
              <a:t>'flag2'</a:t>
            </a:r>
            <a:r>
              <a:rPr sz="2100" b="0" i="0">
                <a:solidFill>
                  <a:srgbClr val="1F2328"/>
                </a:solidFill>
                <a:latin typeface="Courier New"/>
              </a:rPr>
              <a:t>]</a:t>
            </a:r>
            <a:r>
              <a:rPr sz="2100" b="0" i="0">
                <a:solidFill>
                  <a:srgbClr val="1F2328"/>
                </a:solidFill>
                <a:latin typeface="Courier New"/>
              </a:rPr>
              <a:t> </a:t>
            </a:r>
            <a:r>
              <a:rPr sz="2100" b="0" i="0">
                <a:solidFill>
                  <a:srgbClr val="1F2328"/>
                </a:solidFill>
                <a:latin typeface="Courier New"/>
              </a:rPr>
              <a:t>=</a:t>
            </a:r>
            <a:r>
              <a:rPr sz="2100" b="0" i="0">
                <a:solidFill>
                  <a:srgbClr val="1F2328"/>
                </a:solidFill>
                <a:latin typeface="Courier New"/>
              </a:rPr>
              <a:t> </a:t>
            </a:r>
            <a:r>
              <a:rPr sz="2100" b="0" i="0">
                <a:solidFill>
                  <a:srgbClr val="1F2328"/>
                </a:solidFill>
                <a:latin typeface="Courier New"/>
              </a:rPr>
              <a:t>np</a:t>
            </a:r>
            <a:r>
              <a:rPr sz="2100" b="0" i="0">
                <a:solidFill>
                  <a:srgbClr val="1F2328"/>
                </a:solidFill>
                <a:latin typeface="Courier New"/>
              </a:rPr>
              <a:t>.</a:t>
            </a:r>
            <a:r>
              <a:rPr sz="2100" b="0" i="0">
                <a:solidFill>
                  <a:srgbClr val="1F2328"/>
                </a:solidFill>
                <a:latin typeface="Courier New"/>
              </a:rPr>
              <a:t>where</a:t>
            </a:r>
            <a:r>
              <a:rPr sz="2100" b="0" i="0">
                <a:solidFill>
                  <a:srgbClr val="1F2328"/>
                </a:solidFill>
                <a:latin typeface="Courier New"/>
              </a:rPr>
              <a:t>(</a:t>
            </a:r>
            <a:r>
              <a:rPr sz="2100" b="0" i="0">
                <a:solidFill>
                  <a:srgbClr val="1F2328"/>
                </a:solidFill>
                <a:latin typeface="Courier New"/>
              </a:rPr>
              <a:t>occ_rate</a:t>
            </a:r>
            <a:r>
              <a:rPr sz="2100" b="0" i="0">
                <a:solidFill>
                  <a:srgbClr val="1F2328"/>
                </a:solidFill>
                <a:latin typeface="Courier New"/>
              </a:rPr>
              <a:t> </a:t>
            </a:r>
            <a:r>
              <a:rPr sz="2100" b="0" i="0">
                <a:solidFill>
                  <a:srgbClr val="1F2328"/>
                </a:solidFill>
                <a:latin typeface="Courier New"/>
              </a:rPr>
              <a:t>&gt;</a:t>
            </a:r>
            <a:r>
              <a:rPr sz="2100" b="0" i="0">
                <a:solidFill>
                  <a:srgbClr val="1F2328"/>
                </a:solidFill>
                <a:latin typeface="Courier New"/>
              </a:rPr>
              <a:t> </a:t>
            </a:r>
            <a:r>
              <a:rPr sz="2100" b="0" i="0">
                <a:solidFill>
                  <a:srgbClr val="3B4046"/>
                </a:solidFill>
                <a:latin typeface="Courier New"/>
              </a:rPr>
              <a:t>0.125</a:t>
            </a:r>
            <a:r>
              <a:rPr sz="2100" b="0" i="0">
                <a:solidFill>
                  <a:srgbClr val="1F2328"/>
                </a:solidFill>
                <a:latin typeface="Courier New"/>
              </a:rPr>
              <a:t>,</a:t>
            </a:r>
            <a:r>
              <a:rPr sz="2100" b="0" i="0">
                <a:solidFill>
                  <a:srgbClr val="1F2328"/>
                </a:solidFill>
                <a:latin typeface="Courier New"/>
              </a:rPr>
              <a:t> </a:t>
            </a:r>
            <a:r>
              <a:rPr sz="2100" b="0" i="0">
                <a:solidFill>
                  <a:srgbClr val="3B4046"/>
                </a:solidFill>
                <a:latin typeface="Courier New"/>
              </a:rPr>
              <a:t>1</a:t>
            </a:r>
            <a:r>
              <a:rPr sz="2100" b="0" i="0">
                <a:solidFill>
                  <a:srgbClr val="1F2328"/>
                </a:solidFill>
                <a:latin typeface="Courier New"/>
              </a:rPr>
              <a:t>,</a:t>
            </a:r>
            <a:r>
              <a:rPr sz="2100" b="0" i="0">
                <a:solidFill>
                  <a:srgbClr val="1F2328"/>
                </a:solidFill>
                <a:latin typeface="Courier New"/>
              </a:rPr>
              <a:t> </a:t>
            </a:r>
            <a:r>
              <a:rPr sz="2100" b="0" i="0">
                <a:solidFill>
                  <a:srgbClr val="3B4046"/>
                </a:solidFill>
                <a:latin typeface="Courier New"/>
              </a:rPr>
              <a:t>0</a:t>
            </a:r>
            <a:r>
              <a:rPr sz="2100" b="0" i="0">
                <a:solidFill>
                  <a:srgbClr val="1F2328"/>
                </a:solidFill>
                <a:latin typeface="Courier New"/>
              </a:rPr>
              <a:t>)</a:t>
            </a:r>
          </a:p>
          <a:p>
            <a:r>
              <a:rPr sz="2100" b="0" i="0">
                <a:solidFill>
                  <a:srgbClr val="1F2328"/>
                </a:solidFill>
                <a:latin typeface="Courier New"/>
              </a:rPr>
              <a:t>print</a:t>
            </a:r>
            <a:r>
              <a:rPr sz="2100" b="0" i="0">
                <a:solidFill>
                  <a:srgbClr val="1F2328"/>
                </a:solidFill>
                <a:latin typeface="Courier New"/>
              </a:rPr>
              <a:t>(</a:t>
            </a:r>
            <a:r>
              <a:rPr sz="2100" b="0" i="0">
                <a:solidFill>
                  <a:srgbClr val="1F2328"/>
                </a:solidFill>
                <a:latin typeface="Courier New"/>
              </a:rPr>
              <a:t>known</a:t>
            </a:r>
            <a:r>
              <a:rPr sz="2100" b="0" i="0">
                <a:solidFill>
                  <a:srgbClr val="1F2328"/>
                </a:solidFill>
                <a:latin typeface="Courier New"/>
              </a:rPr>
              <a:t>.</a:t>
            </a:r>
            <a:r>
              <a:rPr sz="2100" b="0" i="0">
                <a:solidFill>
                  <a:srgbClr val="1F2328"/>
                </a:solidFill>
                <a:latin typeface="Courier New"/>
              </a:rPr>
              <a:t>groupby</a:t>
            </a:r>
            <a:r>
              <a:rPr sz="2100" b="0" i="0">
                <a:solidFill>
                  <a:srgbClr val="1F2328"/>
                </a:solidFill>
                <a:latin typeface="Courier New"/>
              </a:rPr>
              <a:t>(</a:t>
            </a:r>
            <a:r>
              <a:rPr sz="2100" b="0" i="0">
                <a:solidFill>
                  <a:srgbClr val="B04A2B"/>
                </a:solidFill>
                <a:latin typeface="Courier New"/>
              </a:rPr>
              <a:t>'gender'</a:t>
            </a:r>
            <a:r>
              <a:rPr sz="2100" b="0" i="0">
                <a:solidFill>
                  <a:srgbClr val="1F2328"/>
                </a:solidFill>
                <a:latin typeface="Courier New"/>
              </a:rPr>
              <a:t>)</a:t>
            </a:r>
            <a:r>
              <a:rPr sz="2100" b="0" i="0">
                <a:solidFill>
                  <a:srgbClr val="1F2328"/>
                </a:solidFill>
                <a:latin typeface="Courier New"/>
              </a:rPr>
              <a:t>.</a:t>
            </a:r>
            <a:r>
              <a:rPr sz="2100" b="0" i="0">
                <a:solidFill>
                  <a:srgbClr val="1F2328"/>
                </a:solidFill>
                <a:latin typeface="Courier New"/>
              </a:rPr>
              <a:t>flag2</a:t>
            </a:r>
            <a:r>
              <a:rPr sz="2100" b="0" i="0">
                <a:solidFill>
                  <a:srgbClr val="1F2328"/>
                </a:solidFill>
                <a:latin typeface="Courier New"/>
              </a:rPr>
              <a:t>.</a:t>
            </a:r>
            <a:r>
              <a:rPr sz="2100" b="0" i="0">
                <a:solidFill>
                  <a:srgbClr val="1F2328"/>
                </a:solidFill>
                <a:latin typeface="Courier New"/>
              </a:rPr>
              <a:t>mean</a:t>
            </a:r>
            <a:r>
              <a:rPr sz="2100" b="0" i="0">
                <a:solidFill>
                  <a:srgbClr val="1F2328"/>
                </a:solidFill>
                <a:latin typeface="Courier New"/>
              </a:rPr>
              <a:t>(</a:t>
            </a:r>
            <a:r>
              <a:rPr sz="2100" b="0" i="0">
                <a:solidFill>
                  <a:srgbClr val="1F2328"/>
                </a:solidFill>
                <a:latin typeface="Courier New"/>
              </a:rPr>
              <a:t>)</a:t>
            </a:r>
            <a:r>
              <a:rPr sz="2100" b="0" i="0">
                <a:solidFill>
                  <a:srgbClr val="1F2328"/>
                </a:solidFill>
                <a:latin typeface="Courier New"/>
              </a:rPr>
              <a:t>.</a:t>
            </a:r>
            <a:r>
              <a:rPr sz="2100" b="0" i="0">
                <a:solidFill>
                  <a:srgbClr val="1F2328"/>
                </a:solidFill>
                <a:latin typeface="Courier New"/>
              </a:rPr>
              <a:t>round</a:t>
            </a:r>
            <a:r>
              <a:rPr sz="2100" b="0" i="0">
                <a:solidFill>
                  <a:srgbClr val="1F2328"/>
                </a:solidFill>
                <a:latin typeface="Courier New"/>
              </a:rPr>
              <a:t>(</a:t>
            </a:r>
            <a:r>
              <a:rPr sz="2100" b="0" i="0">
                <a:solidFill>
                  <a:srgbClr val="3B4046"/>
                </a:solidFill>
                <a:latin typeface="Courier New"/>
              </a:rPr>
              <a:t>3</a:t>
            </a:r>
            <a:r>
              <a:rPr sz="2100" b="0" i="0">
                <a:solidFill>
                  <a:srgbClr val="1F2328"/>
                </a:solidFill>
                <a:latin typeface="Courier New"/>
              </a:rPr>
              <a:t>)</a:t>
            </a:r>
            <a:r>
              <a:rPr sz="2100" b="0" i="0">
                <a:solidFill>
                  <a:srgbClr val="1F2328"/>
                </a:solidFill>
                <a:latin typeface="Courier New"/>
              </a:rPr>
              <a:t>.</a:t>
            </a:r>
            <a:r>
              <a:rPr sz="2100" b="0" i="0">
                <a:solidFill>
                  <a:srgbClr val="1F2328"/>
                </a:solidFill>
                <a:latin typeface="Courier New"/>
              </a:rPr>
              <a:t>to_dict</a:t>
            </a:r>
            <a:r>
              <a:rPr sz="2100" b="0" i="0">
                <a:solidFill>
                  <a:srgbClr val="1F2328"/>
                </a:solidFill>
                <a:latin typeface="Courier New"/>
              </a:rPr>
              <a:t>(</a:t>
            </a:r>
            <a:r>
              <a:rPr sz="2100" b="0" i="0">
                <a:solidFill>
                  <a:srgbClr val="1F2328"/>
                </a:solidFill>
                <a:latin typeface="Courier New"/>
              </a:rPr>
              <a:t>)</a:t>
            </a:r>
            <a:r>
              <a:rPr sz="2100" b="0" i="0">
                <a:solidFill>
                  <a:srgbClr val="1F2328"/>
                </a:solidFill>
                <a:latin typeface="Courier New"/>
              </a:rPr>
              <a:t>)</a:t>
            </a:r>
          </a:p>
          <a:p>
            <a:r>
              <a:rPr sz="2100" b="0" i="0">
                <a:solidFill>
                  <a:srgbClr val="1F2328"/>
                </a:solidFill>
                <a:latin typeface="Courier New"/>
              </a:rPr>
              <a:t> </a:t>
            </a:r>
          </a:p>
          <a:p>
            <a:r>
              <a:rPr sz="2100" b="0" i="0">
                <a:solidFill>
                  <a:srgbClr val="1F2328"/>
                </a:solidFill>
                <a:latin typeface="Courier New"/>
              </a:rPr>
              <a:t>share_f</a:t>
            </a:r>
            <a:r>
              <a:rPr sz="2100" b="0" i="0">
                <a:solidFill>
                  <a:srgbClr val="1F2328"/>
                </a:solidFill>
                <a:latin typeface="Courier New"/>
              </a:rPr>
              <a:t> </a:t>
            </a:r>
            <a:r>
              <a:rPr sz="2100" b="0" i="0">
                <a:solidFill>
                  <a:srgbClr val="1F2328"/>
                </a:solidFill>
                <a:latin typeface="Courier New"/>
              </a:rPr>
              <a:t>=</a:t>
            </a:r>
            <a:r>
              <a:rPr sz="2100" b="0" i="0">
                <a:solidFill>
                  <a:srgbClr val="1F2328"/>
                </a:solidFill>
                <a:latin typeface="Courier New"/>
              </a:rPr>
              <a:t> </a:t>
            </a:r>
            <a:r>
              <a:rPr sz="2100" b="0" i="0">
                <a:solidFill>
                  <a:srgbClr val="1F2328"/>
                </a:solidFill>
                <a:latin typeface="Courier New"/>
              </a:rPr>
              <a:t>(</a:t>
            </a:r>
            <a:r>
              <a:rPr sz="2100" b="0" i="0">
                <a:solidFill>
                  <a:srgbClr val="1F2328"/>
                </a:solidFill>
                <a:latin typeface="Courier New"/>
              </a:rPr>
              <a:t>known</a:t>
            </a:r>
            <a:r>
              <a:rPr sz="2100" b="0" i="0">
                <a:solidFill>
                  <a:srgbClr val="1F2328"/>
                </a:solidFill>
                <a:latin typeface="Courier New"/>
              </a:rPr>
              <a:t>.</a:t>
            </a:r>
            <a:r>
              <a:rPr sz="2100" b="0" i="0">
                <a:solidFill>
                  <a:srgbClr val="1F2328"/>
                </a:solidFill>
                <a:latin typeface="Courier New"/>
              </a:rPr>
              <a:t>gender</a:t>
            </a:r>
            <a:r>
              <a:rPr sz="2100" b="0" i="0">
                <a:solidFill>
                  <a:srgbClr val="1F2328"/>
                </a:solidFill>
                <a:latin typeface="Courier New"/>
              </a:rPr>
              <a:t> </a:t>
            </a:r>
            <a:r>
              <a:rPr sz="2100" b="0" i="0">
                <a:solidFill>
                  <a:srgbClr val="1F2328"/>
                </a:solidFill>
                <a:latin typeface="Courier New"/>
              </a:rPr>
              <a:t>=</a:t>
            </a:r>
            <a:r>
              <a:rPr sz="2100" b="0" i="0">
                <a:solidFill>
                  <a:srgbClr val="1F2328"/>
                </a:solidFill>
                <a:latin typeface="Courier New"/>
              </a:rPr>
              <a:t>=</a:t>
            </a:r>
            <a:r>
              <a:rPr sz="2100" b="0" i="0">
                <a:solidFill>
                  <a:srgbClr val="1F2328"/>
                </a:solidFill>
                <a:latin typeface="Courier New"/>
              </a:rPr>
              <a:t> </a:t>
            </a:r>
            <a:r>
              <a:rPr sz="2100" b="0" i="0">
                <a:solidFill>
                  <a:srgbClr val="B04A2B"/>
                </a:solidFill>
                <a:latin typeface="Courier New"/>
              </a:rPr>
              <a:t>'F'</a:t>
            </a:r>
            <a:r>
              <a:rPr sz="2100" b="0" i="0">
                <a:solidFill>
                  <a:srgbClr val="1F2328"/>
                </a:solidFill>
                <a:latin typeface="Courier New"/>
              </a:rPr>
              <a:t>)</a:t>
            </a:r>
            <a:r>
              <a:rPr sz="2100" b="0" i="0">
                <a:solidFill>
                  <a:srgbClr val="1F2328"/>
                </a:solidFill>
                <a:latin typeface="Courier New"/>
              </a:rPr>
              <a:t>.</a:t>
            </a:r>
            <a:r>
              <a:rPr sz="2100" b="0" i="0">
                <a:solidFill>
                  <a:srgbClr val="1F2328"/>
                </a:solidFill>
                <a:latin typeface="Courier New"/>
              </a:rPr>
              <a:t>groupby</a:t>
            </a:r>
            <a:r>
              <a:rPr sz="2100" b="0" i="0">
                <a:solidFill>
                  <a:srgbClr val="1F2328"/>
                </a:solidFill>
                <a:latin typeface="Courier New"/>
              </a:rPr>
              <a:t>(</a:t>
            </a:r>
            <a:r>
              <a:rPr sz="2100" b="0" i="0">
                <a:solidFill>
                  <a:srgbClr val="1F2328"/>
                </a:solidFill>
                <a:latin typeface="Courier New"/>
              </a:rPr>
              <a:t>known</a:t>
            </a:r>
            <a:r>
              <a:rPr sz="2100" b="0" i="0">
                <a:solidFill>
                  <a:srgbClr val="1F2328"/>
                </a:solidFill>
                <a:latin typeface="Courier New"/>
              </a:rPr>
              <a:t>.</a:t>
            </a:r>
            <a:r>
              <a:rPr sz="2100" b="0" i="0">
                <a:solidFill>
                  <a:srgbClr val="1F2328"/>
                </a:solidFill>
                <a:latin typeface="Courier New"/>
              </a:rPr>
              <a:t>occupation</a:t>
            </a:r>
            <a:r>
              <a:rPr sz="2100" b="0" i="0">
                <a:solidFill>
                  <a:srgbClr val="1F2328"/>
                </a:solidFill>
                <a:latin typeface="Courier New"/>
              </a:rPr>
              <a:t>)</a:t>
            </a:r>
            <a:r>
              <a:rPr sz="2100" b="0" i="0">
                <a:solidFill>
                  <a:srgbClr val="1F2328"/>
                </a:solidFill>
                <a:latin typeface="Courier New"/>
              </a:rPr>
              <a:t>.</a:t>
            </a:r>
            <a:r>
              <a:rPr sz="2100" b="0" i="0">
                <a:solidFill>
                  <a:srgbClr val="1F2328"/>
                </a:solidFill>
                <a:latin typeface="Courier New"/>
              </a:rPr>
              <a:t>mean</a:t>
            </a:r>
            <a:r>
              <a:rPr sz="2100" b="0" i="0">
                <a:solidFill>
                  <a:srgbClr val="1F2328"/>
                </a:solidFill>
                <a:latin typeface="Courier New"/>
              </a:rPr>
              <a:t>(</a:t>
            </a:r>
            <a:r>
              <a:rPr sz="2100" b="0" i="0">
                <a:solidFill>
                  <a:srgbClr val="1F2328"/>
                </a:solidFill>
                <a:latin typeface="Courier New"/>
              </a:rPr>
              <a:t>)</a:t>
            </a:r>
          </a:p>
          <a:p>
            <a:r>
              <a:rPr sz="2100" b="0" i="0">
                <a:solidFill>
                  <a:srgbClr val="1F2328"/>
                </a:solidFill>
                <a:latin typeface="Courier New"/>
              </a:rPr>
              <a:t>print</a:t>
            </a:r>
            <a:r>
              <a:rPr sz="2100" b="0" i="0">
                <a:solidFill>
                  <a:srgbClr val="1F2328"/>
                </a:solidFill>
                <a:latin typeface="Courier New"/>
              </a:rPr>
              <a:t>(</a:t>
            </a:r>
            <a:r>
              <a:rPr sz="2100" b="0" i="0">
                <a:solidFill>
                  <a:srgbClr val="1F2328"/>
                </a:solidFill>
                <a:latin typeface="Courier New"/>
              </a:rPr>
              <a:t>share_f</a:t>
            </a:r>
            <a:r>
              <a:rPr sz="2100" b="0" i="0">
                <a:solidFill>
                  <a:srgbClr val="1F2328"/>
                </a:solidFill>
                <a:latin typeface="Courier New"/>
              </a:rPr>
              <a:t>.</a:t>
            </a:r>
            <a:r>
              <a:rPr sz="2100" b="0" i="0">
                <a:solidFill>
                  <a:srgbClr val="1F2328"/>
                </a:solidFill>
                <a:latin typeface="Courier New"/>
              </a:rPr>
              <a:t>round</a:t>
            </a:r>
            <a:r>
              <a:rPr sz="2100" b="0" i="0">
                <a:solidFill>
                  <a:srgbClr val="1F2328"/>
                </a:solidFill>
                <a:latin typeface="Courier New"/>
              </a:rPr>
              <a:t>(</a:t>
            </a:r>
            <a:r>
              <a:rPr sz="2100" b="0" i="0">
                <a:solidFill>
                  <a:srgbClr val="3B4046"/>
                </a:solidFill>
                <a:latin typeface="Courier New"/>
              </a:rPr>
              <a:t>2</a:t>
            </a:r>
            <a:r>
              <a:rPr sz="2100" b="0" i="0">
                <a:solidFill>
                  <a:srgbClr val="1F2328"/>
                </a:solidFill>
                <a:latin typeface="Courier New"/>
              </a:rPr>
              <a:t>)</a:t>
            </a:r>
            <a:r>
              <a:rPr sz="2100" b="0" i="0">
                <a:solidFill>
                  <a:srgbClr val="1F2328"/>
                </a:solidFill>
                <a:latin typeface="Courier New"/>
              </a:rPr>
              <a:t>[</a:t>
            </a:r>
            <a:r>
              <a:rPr sz="2100" b="0" i="0">
                <a:solidFill>
                  <a:srgbClr val="1F2328"/>
                </a:solidFill>
                <a:latin typeface="Courier New"/>
              </a:rPr>
              <a:t>[</a:t>
            </a:r>
            <a:r>
              <a:rPr sz="2100" b="0" i="0">
                <a:solidFill>
                  <a:srgbClr val="B04A2B"/>
                </a:solidFill>
                <a:latin typeface="Courier New"/>
              </a:rPr>
              <a:t>'Tailor'</a:t>
            </a:r>
            <a:r>
              <a:rPr sz="2100" b="0" i="0">
                <a:solidFill>
                  <a:srgbClr val="1F2328"/>
                </a:solidFill>
                <a:latin typeface="Courier New"/>
              </a:rPr>
              <a:t>,</a:t>
            </a:r>
            <a:r>
              <a:rPr sz="2100" b="0" i="0">
                <a:solidFill>
                  <a:srgbClr val="1F2328"/>
                </a:solidFill>
                <a:latin typeface="Courier New"/>
              </a:rPr>
              <a:t> </a:t>
            </a:r>
            <a:r>
              <a:rPr sz="2100" b="0" i="0">
                <a:solidFill>
                  <a:srgbClr val="B04A2B"/>
                </a:solidFill>
                <a:latin typeface="Courier New"/>
              </a:rPr>
              <a:t>'Salon owner'</a:t>
            </a:r>
            <a:r>
              <a:rPr sz="2100" b="0" i="0">
                <a:solidFill>
                  <a:srgbClr val="1F2328"/>
                </a:solidFill>
                <a:latin typeface="Courier New"/>
              </a:rPr>
              <a:t>]</a:t>
            </a:r>
            <a:r>
              <a:rPr sz="2100" b="0" i="0">
                <a:solidFill>
                  <a:srgbClr val="1F2328"/>
                </a:solidFill>
                <a:latin typeface="Courier New"/>
              </a:rPr>
              <a:t>]</a:t>
            </a:r>
            <a:r>
              <a:rPr sz="2100" b="0" i="0">
                <a:solidFill>
                  <a:srgbClr val="1F2328"/>
                </a:solidFill>
                <a:latin typeface="Courier New"/>
              </a:rPr>
              <a:t>.</a:t>
            </a:r>
            <a:r>
              <a:rPr sz="2100" b="0" i="0">
                <a:solidFill>
                  <a:srgbClr val="1F2328"/>
                </a:solidFill>
                <a:latin typeface="Courier New"/>
              </a:rPr>
              <a:t>to_dict</a:t>
            </a:r>
            <a:r>
              <a:rPr sz="2100" b="0" i="0">
                <a:solidFill>
                  <a:srgbClr val="1F2328"/>
                </a:solidFill>
                <a:latin typeface="Courier New"/>
              </a:rPr>
              <a:t>(</a:t>
            </a:r>
            <a:r>
              <a:rPr sz="2100" b="0" i="0">
                <a:solidFill>
                  <a:srgbClr val="1F2328"/>
                </a:solidFill>
                <a:latin typeface="Courier New"/>
              </a:rPr>
              <a:t>)</a:t>
            </a:r>
            <a:r>
              <a:rPr sz="2100" b="0" i="0">
                <a:solidFill>
                  <a:srgbClr val="1F2328"/>
                </a:solidFill>
                <a:latin typeface="Courier New"/>
              </a:rPr>
              <a:t>)</a:t>
            </a:r>
          </a:p>
        </p:txBody>
      </p:sp>
      <p:grpSp>
        <p:nvGrpSpPr>
          <p:cNvPr id="7" name="output"/>
          <p:cNvGrpSpPr/>
          <p:nvPr/>
        </p:nvGrpSpPr>
        <p:grpSpPr>
          <a:xfrm>
            <a:off x="685800" y="3941063"/>
            <a:ext cx="10820095" cy="737616"/>
            <a:chOff x="685800" y="3941063"/>
            <a:chExt cx="10820095" cy="737616"/>
          </a:xfrm>
        </p:grpSpPr>
        <p:sp>
          <p:nvSpPr>
            <p:cNvPr id="8" name="TextBox 7"/>
            <p:cNvSpPr txBox="1"/>
            <p:nvPr/>
          </p:nvSpPr>
          <p:spPr>
            <a:xfrm>
              <a:off x="685800" y="3941063"/>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4197096"/>
              <a:ext cx="10820095" cy="481583"/>
            </a:xfrm>
            <a:prstGeom prst="rect">
              <a:avLst/>
            </a:prstGeom>
            <a:solidFill>
              <a:srgbClr val="F5F3EF"/>
            </a:solidFill>
            <a:ln>
              <a:noFill/>
            </a:ln>
          </p:spPr>
          <p:txBody>
            <a:bodyPr rtlCol="0" anchor="ctr"/>
            <a:lstStyle/>
            <a:p>
              <a:pPr algn="ctr"/>
            </a:p>
          </p:txBody>
        </p:sp>
        <p:sp>
          <p:nvSpPr>
            <p:cNvPr id="10" name="TextBox 9"/>
            <p:cNvSpPr txBox="1"/>
            <p:nvPr/>
          </p:nvSpPr>
          <p:spPr>
            <a:xfrm>
              <a:off x="868680" y="4288536"/>
              <a:ext cx="10545775" cy="371855"/>
            </a:xfrm>
            <a:prstGeom prst="rect">
              <a:avLst/>
            </a:prstGeom>
            <a:noFill/>
          </p:spPr>
          <p:txBody>
            <a:bodyPr wrap="none" lIns="0" rIns="0" tIns="0" bIns="0">
              <a:spAutoFit/>
            </a:bodyPr>
            <a:lstStyle/>
            <a:p>
              <a:r>
                <a:rPr sz="1400" b="0" i="0">
                  <a:solidFill>
                    <a:srgbClr val="1F2328"/>
                  </a:solidFill>
                  <a:latin typeface="Courier New"/>
                </a:rPr>
                <a:t>{'F': 0.29, 'M': 0.464}</a:t>
              </a:r>
            </a:p>
            <a:p>
              <a:r>
                <a:rPr sz="1400" b="0" i="0">
                  <a:solidFill>
                    <a:srgbClr val="1F2328"/>
                  </a:solidFill>
                  <a:latin typeface="Courier New"/>
                </a:rPr>
                <a:t>{'Tailor': 0.77, 'Salon owner': 0.73}</a:t>
              </a:r>
            </a:p>
          </p:txBody>
        </p:sp>
      </p:grpSp>
      <p:grpSp>
        <p:nvGrpSpPr>
          <p:cNvPr id="11" name="says-1"/>
          <p:cNvGrpSpPr/>
          <p:nvPr/>
        </p:nvGrpSpPr>
        <p:grpSpPr>
          <a:xfrm>
            <a:off x="685800" y="4861560"/>
            <a:ext cx="3332378" cy="1338072"/>
            <a:chOff x="685800" y="4861560"/>
            <a:chExt cx="3332378" cy="1338072"/>
          </a:xfrm>
        </p:grpSpPr>
        <p:cxnSp>
          <p:nvCxnSpPr>
            <p:cNvPr id="12" name="Connector 11"/>
            <p:cNvCxnSpPr/>
            <p:nvPr/>
          </p:nvCxnSpPr>
          <p:spPr>
            <a:xfrm>
              <a:off x="685800" y="4861560"/>
              <a:ext cx="3332378" cy="0"/>
            </a:xfrm>
            <a:prstGeom prst="line">
              <a:avLst/>
            </a:prstGeom>
            <a:ln w="15875">
              <a:solidFill>
                <a:srgbClr val="1F2328"/>
              </a:solidFill>
            </a:ln>
          </p:spPr>
        </p:cxnSp>
        <p:sp>
          <p:nvSpPr>
            <p:cNvPr id="13" name="TextBox 12"/>
            <p:cNvSpPr txBox="1"/>
            <p:nvPr/>
          </p:nvSpPr>
          <p:spPr>
            <a:xfrm>
              <a:off x="685800" y="4934712"/>
              <a:ext cx="292608" cy="1264920"/>
            </a:xfrm>
            <a:prstGeom prst="rect">
              <a:avLst/>
            </a:prstGeom>
            <a:noFill/>
          </p:spPr>
          <p:txBody>
            <a:bodyPr wrap="square" lIns="0" rIns="0" tIns="18288" bIns="18288" anchor="t">
              <a:spAutoFit/>
            </a:bodyPr>
            <a:lstStyle/>
            <a:p>
              <a:pPr algn="l"/>
              <a:r>
                <a:rPr sz="1900" b="1" i="0">
                  <a:solidFill>
                    <a:srgbClr val="B04A2B"/>
                  </a:solidFill>
                  <a:latin typeface="Cambria"/>
                </a:rPr>
                <a:t>1</a:t>
              </a:r>
            </a:p>
          </p:txBody>
        </p:sp>
        <p:sp>
          <p:nvSpPr>
            <p:cNvPr id="14" name="TextBox 13"/>
            <p:cNvSpPr txBox="1"/>
            <p:nvPr/>
          </p:nvSpPr>
          <p:spPr>
            <a:xfrm>
              <a:off x="1033271" y="4934712"/>
              <a:ext cx="2984906" cy="1264920"/>
            </a:xfrm>
            <a:prstGeom prst="rect">
              <a:avLst/>
            </a:prstGeom>
            <a:noFill/>
          </p:spPr>
          <p:txBody>
            <a:bodyPr wrap="square" lIns="0" rIns="0" tIns="18288" bIns="18288" anchor="t">
              <a:spAutoFit/>
            </a:bodyPr>
            <a:lstStyle/>
            <a:p>
              <a:pPr algn="l"/>
              <a:r>
                <a:rPr sz="1900" b="0" i="0">
                  <a:solidFill>
                    <a:srgbClr val="1F2328"/>
                  </a:solidFill>
                  <a:latin typeface="Calibri"/>
                </a:rPr>
                <a:t>Give each loan its occupation's default rate. Flag it above 12.5 percent.</a:t>
              </a:r>
            </a:p>
          </p:txBody>
        </p:sp>
      </p:grpSp>
      <p:grpSp>
        <p:nvGrpSpPr>
          <p:cNvPr id="15" name="says-2"/>
          <p:cNvGrpSpPr/>
          <p:nvPr/>
        </p:nvGrpSpPr>
        <p:grpSpPr>
          <a:xfrm>
            <a:off x="4429658" y="4861560"/>
            <a:ext cx="3332378" cy="1338072"/>
            <a:chOff x="4429658" y="4861560"/>
            <a:chExt cx="3332378" cy="1338072"/>
          </a:xfrm>
        </p:grpSpPr>
        <p:cxnSp>
          <p:nvCxnSpPr>
            <p:cNvPr id="16" name="Connector 15"/>
            <p:cNvCxnSpPr/>
            <p:nvPr/>
          </p:nvCxnSpPr>
          <p:spPr>
            <a:xfrm>
              <a:off x="4429658" y="4861560"/>
              <a:ext cx="3332378" cy="0"/>
            </a:xfrm>
            <a:prstGeom prst="line">
              <a:avLst/>
            </a:prstGeom>
            <a:ln w="15875">
              <a:solidFill>
                <a:srgbClr val="1F2328"/>
              </a:solidFill>
            </a:ln>
          </p:spPr>
        </p:cxnSp>
        <p:sp>
          <p:nvSpPr>
            <p:cNvPr id="17" name="TextBox 16"/>
            <p:cNvSpPr txBox="1"/>
            <p:nvPr/>
          </p:nvSpPr>
          <p:spPr>
            <a:xfrm>
              <a:off x="4429658" y="4934712"/>
              <a:ext cx="292608" cy="1264920"/>
            </a:xfrm>
            <a:prstGeom prst="rect">
              <a:avLst/>
            </a:prstGeom>
            <a:noFill/>
          </p:spPr>
          <p:txBody>
            <a:bodyPr wrap="square" lIns="0" rIns="0" tIns="18288" bIns="18288" anchor="t">
              <a:spAutoFit/>
            </a:bodyPr>
            <a:lstStyle/>
            <a:p>
              <a:pPr algn="l"/>
              <a:r>
                <a:rPr sz="1900" b="1" i="0">
                  <a:solidFill>
                    <a:srgbClr val="B04A2B"/>
                  </a:solidFill>
                  <a:latin typeface="Cambria"/>
                </a:rPr>
                <a:t>2</a:t>
              </a:r>
            </a:p>
          </p:txBody>
        </p:sp>
        <p:sp>
          <p:nvSpPr>
            <p:cNvPr id="18" name="TextBox 17"/>
            <p:cNvSpPr txBox="1"/>
            <p:nvPr/>
          </p:nvSpPr>
          <p:spPr>
            <a:xfrm>
              <a:off x="4777130" y="4934712"/>
              <a:ext cx="2984906" cy="1264920"/>
            </a:xfrm>
            <a:prstGeom prst="rect">
              <a:avLst/>
            </a:prstGeom>
            <a:noFill/>
          </p:spPr>
          <p:txBody>
            <a:bodyPr wrap="square" lIns="0" rIns="0" tIns="18288" bIns="18288" anchor="t">
              <a:spAutoFit/>
            </a:bodyPr>
            <a:lstStyle/>
            <a:p>
              <a:pPr algn="l"/>
              <a:r>
                <a:rPr sz="1900" b="0" i="0">
                  <a:solidFill>
                    <a:srgbClr val="1F2328"/>
                  </a:solidFill>
                  <a:latin typeface="Calibri"/>
                </a:rPr>
                <a:t>Flag rate by gender: 29 percent of women, 46.4 percent of men.</a:t>
              </a:r>
            </a:p>
          </p:txBody>
        </p:sp>
      </p:grpSp>
      <p:grpSp>
        <p:nvGrpSpPr>
          <p:cNvPr id="19" name="says-3"/>
          <p:cNvGrpSpPr/>
          <p:nvPr/>
        </p:nvGrpSpPr>
        <p:grpSpPr>
          <a:xfrm>
            <a:off x="8173516" y="4861560"/>
            <a:ext cx="3332379" cy="1338072"/>
            <a:chOff x="8173516" y="4861560"/>
            <a:chExt cx="3332379" cy="1338072"/>
          </a:xfrm>
        </p:grpSpPr>
        <p:cxnSp>
          <p:nvCxnSpPr>
            <p:cNvPr id="20" name="Connector 19"/>
            <p:cNvCxnSpPr/>
            <p:nvPr/>
          </p:nvCxnSpPr>
          <p:spPr>
            <a:xfrm>
              <a:off x="8173516" y="4861560"/>
              <a:ext cx="3332379" cy="0"/>
            </a:xfrm>
            <a:prstGeom prst="line">
              <a:avLst/>
            </a:prstGeom>
            <a:ln w="15875">
              <a:solidFill>
                <a:srgbClr val="1F2328"/>
              </a:solidFill>
            </a:ln>
          </p:spPr>
        </p:cxnSp>
        <p:sp>
          <p:nvSpPr>
            <p:cNvPr id="21" name="TextBox 20"/>
            <p:cNvSpPr txBox="1"/>
            <p:nvPr/>
          </p:nvSpPr>
          <p:spPr>
            <a:xfrm>
              <a:off x="8173516" y="4934712"/>
              <a:ext cx="292608" cy="1264920"/>
            </a:xfrm>
            <a:prstGeom prst="rect">
              <a:avLst/>
            </a:prstGeom>
            <a:noFill/>
          </p:spPr>
          <p:txBody>
            <a:bodyPr wrap="square" lIns="0" rIns="0" tIns="18288" bIns="18288" anchor="t">
              <a:spAutoFit/>
            </a:bodyPr>
            <a:lstStyle/>
            <a:p>
              <a:pPr algn="l"/>
              <a:r>
                <a:rPr sz="1900" b="1" i="0">
                  <a:solidFill>
                    <a:srgbClr val="B04A2B"/>
                  </a:solidFill>
                  <a:latin typeface="Cambria"/>
                </a:rPr>
                <a:t>3</a:t>
              </a:r>
            </a:p>
          </p:txBody>
        </p:sp>
        <p:sp>
          <p:nvSpPr>
            <p:cNvPr id="22" name="TextBox 21"/>
            <p:cNvSpPr txBox="1"/>
            <p:nvPr/>
          </p:nvSpPr>
          <p:spPr>
            <a:xfrm>
              <a:off x="8520988" y="4934712"/>
              <a:ext cx="2984906" cy="1264920"/>
            </a:xfrm>
            <a:prstGeom prst="rect">
              <a:avLst/>
            </a:prstGeom>
            <a:noFill/>
          </p:spPr>
          <p:txBody>
            <a:bodyPr wrap="square" lIns="0" rIns="0" tIns="18288" bIns="18288" anchor="t">
              <a:spAutoFit/>
            </a:bodyPr>
            <a:lstStyle/>
            <a:p>
              <a:pPr algn="l"/>
              <a:r>
                <a:rPr sz="1900" b="0" i="0">
                  <a:solidFill>
                    <a:srgbClr val="1F2328"/>
                  </a:solidFill>
                  <a:latin typeface="Calibri"/>
                </a:rPr>
                <a:t>Women are 77 percent of tailors and 73 percent of salon owners.</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childTnLst>
                          </p:cTn>
                        </p:par>
                      </p:childTnLst>
                    </p:cTn>
                  </p:par>
                  <p:par>
                    <p:cTn id="19" fill="hold">
                      <p:stCondLst>
                        <p:cond delay="indefinite"/>
                      </p:stCondLst>
                      <p:childTnLst>
                        <p:par>
                          <p:cTn id="20"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500"/>
                                        <p:tgtEl>
                                          <p:spTgt spid="19"/>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F2328"/>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F3F0EA"/>
                </a:solidFill>
                <a:latin typeface="Cambria"/>
              </a:rPr>
              <a:t>Dropping the gender column does not make a rule fair</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B8B2A7"/>
                </a:solidFill>
                <a:latin typeface="Calibri"/>
              </a:rPr>
              <a:t>Session 23   Ship it: reproducible work, a small app and responsible use</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B8B2A7"/>
                </a:solidFill>
                <a:latin typeface="Calibri"/>
              </a:rPr>
              <a:t>17</a:t>
            </a:r>
          </a:p>
        </p:txBody>
      </p:sp>
      <p:grpSp>
        <p:nvGrpSpPr>
          <p:cNvPr id="5" name="trap-1"/>
          <p:cNvGrpSpPr/>
          <p:nvPr/>
        </p:nvGrpSpPr>
        <p:grpSpPr>
          <a:xfrm>
            <a:off x="685800" y="1691640"/>
            <a:ext cx="3271418" cy="4434839"/>
            <a:chOff x="685800" y="1691640"/>
            <a:chExt cx="3271418" cy="4434839"/>
          </a:xfrm>
        </p:grpSpPr>
        <p:cxnSp>
          <p:nvCxnSpPr>
            <p:cNvPr id="6" name="Connector 5"/>
            <p:cNvCxnSpPr/>
            <p:nvPr/>
          </p:nvCxnSpPr>
          <p:spPr>
            <a:xfrm>
              <a:off x="685800" y="1691640"/>
              <a:ext cx="3271418" cy="0"/>
            </a:xfrm>
            <a:prstGeom prst="line">
              <a:avLst/>
            </a:prstGeom>
            <a:ln w="12700">
              <a:solidFill>
                <a:srgbClr val="B8B2A7"/>
              </a:solidFill>
            </a:ln>
          </p:spPr>
        </p:cxnSp>
        <p:sp>
          <p:nvSpPr>
            <p:cNvPr id="7" name="TextBox 6"/>
            <p:cNvSpPr txBox="1"/>
            <p:nvPr/>
          </p:nvSpPr>
          <p:spPr>
            <a:xfrm>
              <a:off x="685800" y="1828800"/>
              <a:ext cx="3271418" cy="365760"/>
            </a:xfrm>
            <a:prstGeom prst="rect">
              <a:avLst/>
            </a:prstGeom>
            <a:noFill/>
          </p:spPr>
          <p:txBody>
            <a:bodyPr wrap="square" lIns="0" rIns="0" tIns="18288" bIns="18288" anchor="t">
              <a:spAutoFit/>
            </a:bodyPr>
            <a:lstStyle/>
            <a:p>
              <a:pPr algn="l"/>
              <a:r>
                <a:rPr sz="1800" b="1" i="0">
                  <a:solidFill>
                    <a:srgbClr val="E3A78F"/>
                  </a:solidFill>
                  <a:latin typeface="Cambria"/>
                </a:rPr>
                <a:t>What it looks like</a:t>
              </a:r>
            </a:p>
          </p:txBody>
        </p:sp>
        <p:sp>
          <p:nvSpPr>
            <p:cNvPr id="8" name="TextBox 7"/>
            <p:cNvSpPr txBox="1"/>
            <p:nvPr/>
          </p:nvSpPr>
          <p:spPr>
            <a:xfrm>
              <a:off x="685800" y="2331720"/>
              <a:ext cx="3271418" cy="3794759"/>
            </a:xfrm>
            <a:prstGeom prst="rect">
              <a:avLst/>
            </a:prstGeom>
            <a:noFill/>
          </p:spPr>
          <p:txBody>
            <a:bodyPr wrap="square" lIns="0" rIns="0" tIns="18288" bIns="18288" anchor="t">
              <a:spAutoFit/>
            </a:bodyPr>
            <a:lstStyle/>
            <a:p>
              <a:pPr algn="l"/>
              <a:r>
                <a:rPr sz="2400" b="0" i="0">
                  <a:solidFill>
                    <a:srgbClr val="F3F0EA"/>
                  </a:solidFill>
                  <a:latin typeface="Calibri"/>
                </a:rPr>
                <a:t>You remove gender from the data, run your rule, and report that it treats everyone alike. No error, no warning.</a:t>
              </a:r>
            </a:p>
          </p:txBody>
        </p:sp>
      </p:grpSp>
      <p:grpSp>
        <p:nvGrpSpPr>
          <p:cNvPr id="9" name="trap-2"/>
          <p:cNvGrpSpPr/>
          <p:nvPr/>
        </p:nvGrpSpPr>
        <p:grpSpPr>
          <a:xfrm>
            <a:off x="4460138" y="1691640"/>
            <a:ext cx="3271418" cy="4434839"/>
            <a:chOff x="4460138" y="1691640"/>
            <a:chExt cx="3271418" cy="4434839"/>
          </a:xfrm>
        </p:grpSpPr>
        <p:cxnSp>
          <p:nvCxnSpPr>
            <p:cNvPr id="10" name="Connector 9"/>
            <p:cNvCxnSpPr/>
            <p:nvPr/>
          </p:nvCxnSpPr>
          <p:spPr>
            <a:xfrm>
              <a:off x="4460138" y="1691640"/>
              <a:ext cx="3271418" cy="0"/>
            </a:xfrm>
            <a:prstGeom prst="line">
              <a:avLst/>
            </a:prstGeom>
            <a:ln w="12700">
              <a:solidFill>
                <a:srgbClr val="B8B2A7"/>
              </a:solidFill>
            </a:ln>
          </p:spPr>
        </p:cxnSp>
        <p:sp>
          <p:nvSpPr>
            <p:cNvPr id="11" name="TextBox 10"/>
            <p:cNvSpPr txBox="1"/>
            <p:nvPr/>
          </p:nvSpPr>
          <p:spPr>
            <a:xfrm>
              <a:off x="4460138" y="1828800"/>
              <a:ext cx="3271418" cy="365760"/>
            </a:xfrm>
            <a:prstGeom prst="rect">
              <a:avLst/>
            </a:prstGeom>
            <a:noFill/>
          </p:spPr>
          <p:txBody>
            <a:bodyPr wrap="square" lIns="0" rIns="0" tIns="18288" bIns="18288" anchor="t">
              <a:spAutoFit/>
            </a:bodyPr>
            <a:lstStyle/>
            <a:p>
              <a:pPr algn="l"/>
              <a:r>
                <a:rPr sz="1800" b="1" i="0">
                  <a:solidFill>
                    <a:srgbClr val="E3A78F"/>
                  </a:solidFill>
                  <a:latin typeface="Cambria"/>
                </a:rPr>
                <a:t>Why it goes wrong</a:t>
              </a:r>
            </a:p>
          </p:txBody>
        </p:sp>
        <p:sp>
          <p:nvSpPr>
            <p:cNvPr id="12" name="TextBox 11"/>
            <p:cNvSpPr txBox="1"/>
            <p:nvPr/>
          </p:nvSpPr>
          <p:spPr>
            <a:xfrm>
              <a:off x="4460138" y="2331720"/>
              <a:ext cx="3271418" cy="3794759"/>
            </a:xfrm>
            <a:prstGeom prst="rect">
              <a:avLst/>
            </a:prstGeom>
            <a:noFill/>
          </p:spPr>
          <p:txBody>
            <a:bodyPr wrap="square" lIns="0" rIns="0" tIns="18288" bIns="18288" anchor="t">
              <a:spAutoFit/>
            </a:bodyPr>
            <a:lstStyle/>
            <a:p>
              <a:pPr algn="l"/>
              <a:r>
                <a:rPr sz="2400" b="0" i="0">
                  <a:solidFill>
                    <a:srgbClr val="F3F0EA"/>
                  </a:solidFill>
                  <a:latin typeface="Calibri"/>
                </a:rPr>
                <a:t>Other columns carry the same information. Occupation does here: the occupation rule flags 46 percent of men and 29 percent of women.</a:t>
              </a:r>
            </a:p>
          </p:txBody>
        </p:sp>
      </p:grpSp>
      <p:grpSp>
        <p:nvGrpSpPr>
          <p:cNvPr id="13" name="trap-3"/>
          <p:cNvGrpSpPr/>
          <p:nvPr/>
        </p:nvGrpSpPr>
        <p:grpSpPr>
          <a:xfrm>
            <a:off x="8234476" y="1691640"/>
            <a:ext cx="3271419" cy="4434839"/>
            <a:chOff x="8234476" y="1691640"/>
            <a:chExt cx="3271419" cy="4434839"/>
          </a:xfrm>
        </p:grpSpPr>
        <p:cxnSp>
          <p:nvCxnSpPr>
            <p:cNvPr id="14" name="Connector 13"/>
            <p:cNvCxnSpPr/>
            <p:nvPr/>
          </p:nvCxnSpPr>
          <p:spPr>
            <a:xfrm>
              <a:off x="8234476" y="1691640"/>
              <a:ext cx="3271419" cy="0"/>
            </a:xfrm>
            <a:prstGeom prst="line">
              <a:avLst/>
            </a:prstGeom>
            <a:ln w="12700">
              <a:solidFill>
                <a:srgbClr val="B8B2A7"/>
              </a:solidFill>
            </a:ln>
          </p:spPr>
        </p:cxnSp>
        <p:sp>
          <p:nvSpPr>
            <p:cNvPr id="15" name="TextBox 14"/>
            <p:cNvSpPr txBox="1"/>
            <p:nvPr/>
          </p:nvSpPr>
          <p:spPr>
            <a:xfrm>
              <a:off x="8234476" y="1828800"/>
              <a:ext cx="3271418" cy="365760"/>
            </a:xfrm>
            <a:prstGeom prst="rect">
              <a:avLst/>
            </a:prstGeom>
            <a:noFill/>
          </p:spPr>
          <p:txBody>
            <a:bodyPr wrap="square" lIns="0" rIns="0" tIns="18288" bIns="18288" anchor="t">
              <a:spAutoFit/>
            </a:bodyPr>
            <a:lstStyle/>
            <a:p>
              <a:pPr algn="l"/>
              <a:r>
                <a:rPr sz="1800" b="1" i="0">
                  <a:solidFill>
                    <a:srgbClr val="F3F0EA"/>
                  </a:solidFill>
                  <a:latin typeface="Cambria"/>
                </a:rPr>
                <a:t>The fix</a:t>
              </a:r>
            </a:p>
          </p:txBody>
        </p:sp>
        <p:sp>
          <p:nvSpPr>
            <p:cNvPr id="16" name="TextBox 15"/>
            <p:cNvSpPr txBox="1"/>
            <p:nvPr/>
          </p:nvSpPr>
          <p:spPr>
            <a:xfrm>
              <a:off x="8234476" y="2331720"/>
              <a:ext cx="3271418" cy="3794759"/>
            </a:xfrm>
            <a:prstGeom prst="rect">
              <a:avLst/>
            </a:prstGeom>
            <a:noFill/>
          </p:spPr>
          <p:txBody>
            <a:bodyPr wrap="square" lIns="0" rIns="0" tIns="18288" bIns="18288" anchor="t">
              <a:spAutoFit/>
            </a:bodyPr>
            <a:lstStyle/>
            <a:p>
              <a:pPr algn="l"/>
              <a:r>
                <a:rPr sz="2400" b="0" i="0">
                  <a:solidFill>
                    <a:srgbClr val="F3F0EA"/>
                  </a:solidFill>
                  <a:latin typeface="Calibri"/>
                </a:rPr>
                <a:t>Compute the rate for every group, whether or not the column was used. Ask what each column stands in for. Report any gap on the model card.</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000" b="1" i="0">
                <a:solidFill>
                  <a:srgbClr val="1F2328"/>
                </a:solidFill>
                <a:latin typeface="Cambria"/>
              </a:rPr>
              <a:t>Uganda's Data Protection and Privacy Act, 2019: who it covers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23   Ship it: reproducible work, a small app and responsible use</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18</a:t>
            </a:r>
          </a:p>
        </p:txBody>
      </p:sp>
      <p:sp>
        <p:nvSpPr>
          <p:cNvPr id="5" name="TextBox 4"/>
          <p:cNvSpPr txBox="1"/>
          <p:nvPr/>
        </p:nvSpPr>
        <p:spPr>
          <a:xfrm>
            <a:off x="685800" y="1600200"/>
            <a:ext cx="9601200" cy="1097280"/>
          </a:xfrm>
          <a:prstGeom prst="rect">
            <a:avLst/>
          </a:prstGeom>
          <a:noFill/>
        </p:spPr>
        <p:txBody>
          <a:bodyPr wrap="square" lIns="0" rIns="0" tIns="18288" bIns="18288" anchor="t">
            <a:spAutoFit/>
          </a:bodyPr>
          <a:lstStyle/>
          <a:p>
            <a:pPr algn="l"/>
            <a:r>
              <a:rPr sz="2600" b="0" i="0">
                <a:solidFill>
                  <a:srgbClr val="1F2328"/>
                </a:solidFill>
                <a:latin typeface="Cambria"/>
              </a:rPr>
              <a:t>This is a teaching summary and not legal advice. For your own case, ask a lawyer or your data protection officer.</a:t>
            </a:r>
          </a:p>
        </p:txBody>
      </p:sp>
      <p:cxnSp>
        <p:nvCxnSpPr>
          <p:cNvPr id="6" name="Connector 5"/>
          <p:cNvCxnSpPr/>
          <p:nvPr/>
        </p:nvCxnSpPr>
        <p:spPr>
          <a:xfrm>
            <a:off x="685800" y="2762707"/>
            <a:ext cx="10820095" cy="0"/>
          </a:xfrm>
          <a:prstGeom prst="line">
            <a:avLst/>
          </a:prstGeom>
          <a:ln w="15875">
            <a:solidFill>
              <a:srgbClr val="1F2328"/>
            </a:solidFill>
          </a:ln>
        </p:spPr>
      </p:cxnSp>
      <p:sp>
        <p:nvSpPr>
          <p:cNvPr id="7" name="TextBox 6"/>
          <p:cNvSpPr txBox="1"/>
          <p:nvPr/>
        </p:nvSpPr>
        <p:spPr>
          <a:xfrm>
            <a:off x="685800" y="2872435"/>
            <a:ext cx="2651760" cy="754075"/>
          </a:xfrm>
          <a:prstGeom prst="rect">
            <a:avLst/>
          </a:prstGeom>
          <a:noFill/>
        </p:spPr>
        <p:txBody>
          <a:bodyPr wrap="square" lIns="0" rIns="0" tIns="18288" bIns="18288" anchor="t">
            <a:spAutoFit/>
          </a:bodyPr>
          <a:lstStyle/>
          <a:p>
            <a:pPr algn="l"/>
            <a:r>
              <a:rPr sz="2400" b="1" i="0">
                <a:solidFill>
                  <a:srgbClr val="1F2328"/>
                </a:solidFill>
                <a:latin typeface="Cambria"/>
              </a:rPr>
              <a:t>Who</a:t>
            </a:r>
          </a:p>
        </p:txBody>
      </p:sp>
      <p:sp>
        <p:nvSpPr>
          <p:cNvPr id="8" name="TextBox 7"/>
          <p:cNvSpPr txBox="1"/>
          <p:nvPr/>
        </p:nvSpPr>
        <p:spPr>
          <a:xfrm>
            <a:off x="3611880" y="2890723"/>
            <a:ext cx="7894015" cy="735787"/>
          </a:xfrm>
          <a:prstGeom prst="rect">
            <a:avLst/>
          </a:prstGeom>
          <a:noFill/>
        </p:spPr>
        <p:txBody>
          <a:bodyPr wrap="square" lIns="0" rIns="0" tIns="18288" bIns="18288" anchor="t">
            <a:spAutoFit/>
          </a:bodyPr>
          <a:lstStyle/>
          <a:p>
            <a:pPr algn="l"/>
            <a:r>
              <a:rPr sz="2200" b="0" i="0">
                <a:solidFill>
                  <a:srgbClr val="3B4046"/>
                </a:solidFill>
                <a:latin typeface="Calibri"/>
              </a:rPr>
              <a:t>Anyone who collects, processes, holds or uses personal data in Uganda.</a:t>
            </a:r>
          </a:p>
        </p:txBody>
      </p:sp>
      <p:cxnSp>
        <p:nvCxnSpPr>
          <p:cNvPr id="9" name="Connector 8"/>
          <p:cNvCxnSpPr/>
          <p:nvPr/>
        </p:nvCxnSpPr>
        <p:spPr>
          <a:xfrm>
            <a:off x="685800" y="3626510"/>
            <a:ext cx="10820095" cy="0"/>
          </a:xfrm>
          <a:prstGeom prst="line">
            <a:avLst/>
          </a:prstGeom>
          <a:ln w="6350">
            <a:solidFill>
              <a:srgbClr val="C9C5BC"/>
            </a:solidFill>
          </a:ln>
        </p:spPr>
      </p:cxnSp>
      <p:sp>
        <p:nvSpPr>
          <p:cNvPr id="10" name="TextBox 9"/>
          <p:cNvSpPr txBox="1"/>
          <p:nvPr/>
        </p:nvSpPr>
        <p:spPr>
          <a:xfrm>
            <a:off x="685800" y="3736238"/>
            <a:ext cx="2651760" cy="754075"/>
          </a:xfrm>
          <a:prstGeom prst="rect">
            <a:avLst/>
          </a:prstGeom>
          <a:noFill/>
        </p:spPr>
        <p:txBody>
          <a:bodyPr wrap="square" lIns="0" rIns="0" tIns="18288" bIns="18288" anchor="t">
            <a:spAutoFit/>
          </a:bodyPr>
          <a:lstStyle/>
          <a:p>
            <a:pPr algn="l"/>
            <a:r>
              <a:rPr sz="2400" b="1" i="0">
                <a:solidFill>
                  <a:srgbClr val="1F2328"/>
                </a:solidFill>
                <a:latin typeface="Cambria"/>
              </a:rPr>
              <a:t>Personal data</a:t>
            </a:r>
          </a:p>
        </p:txBody>
      </p:sp>
      <p:sp>
        <p:nvSpPr>
          <p:cNvPr id="11" name="TextBox 10"/>
          <p:cNvSpPr txBox="1"/>
          <p:nvPr/>
        </p:nvSpPr>
        <p:spPr>
          <a:xfrm>
            <a:off x="3611880" y="3754526"/>
            <a:ext cx="7894015" cy="735787"/>
          </a:xfrm>
          <a:prstGeom prst="rect">
            <a:avLst/>
          </a:prstGeom>
          <a:noFill/>
        </p:spPr>
        <p:txBody>
          <a:bodyPr wrap="square" lIns="0" rIns="0" tIns="18288" bIns="18288" anchor="t">
            <a:spAutoFit/>
          </a:bodyPr>
          <a:lstStyle/>
          <a:p>
            <a:pPr algn="l"/>
            <a:r>
              <a:rPr sz="2200" b="0" i="0">
                <a:solidFill>
                  <a:srgbClr val="3B4046"/>
                </a:solidFill>
                <a:latin typeface="Calibri"/>
              </a:rPr>
              <a:t>Information from which a person can be identified, such as a name, phone number or loan record.</a:t>
            </a:r>
          </a:p>
        </p:txBody>
      </p:sp>
      <p:cxnSp>
        <p:nvCxnSpPr>
          <p:cNvPr id="12" name="Connector 11"/>
          <p:cNvCxnSpPr/>
          <p:nvPr/>
        </p:nvCxnSpPr>
        <p:spPr>
          <a:xfrm>
            <a:off x="685800" y="4490313"/>
            <a:ext cx="10820095" cy="0"/>
          </a:xfrm>
          <a:prstGeom prst="line">
            <a:avLst/>
          </a:prstGeom>
          <a:ln w="6350">
            <a:solidFill>
              <a:srgbClr val="C9C5BC"/>
            </a:solidFill>
          </a:ln>
        </p:spPr>
      </p:cxnSp>
      <p:sp>
        <p:nvSpPr>
          <p:cNvPr id="13" name="TextBox 12"/>
          <p:cNvSpPr txBox="1"/>
          <p:nvPr/>
        </p:nvSpPr>
        <p:spPr>
          <a:xfrm>
            <a:off x="685800" y="4600041"/>
            <a:ext cx="2651760" cy="754075"/>
          </a:xfrm>
          <a:prstGeom prst="rect">
            <a:avLst/>
          </a:prstGeom>
          <a:noFill/>
        </p:spPr>
        <p:txBody>
          <a:bodyPr wrap="square" lIns="0" rIns="0" tIns="18288" bIns="18288" anchor="t">
            <a:spAutoFit/>
          </a:bodyPr>
          <a:lstStyle/>
          <a:p>
            <a:pPr algn="l"/>
            <a:r>
              <a:rPr sz="2400" b="1" i="0">
                <a:solidFill>
                  <a:srgbClr val="1F2328"/>
                </a:solidFill>
                <a:latin typeface="Cambria"/>
              </a:rPr>
              <a:t>Data subject</a:t>
            </a:r>
          </a:p>
        </p:txBody>
      </p:sp>
      <p:sp>
        <p:nvSpPr>
          <p:cNvPr id="14" name="TextBox 13"/>
          <p:cNvSpPr txBox="1"/>
          <p:nvPr/>
        </p:nvSpPr>
        <p:spPr>
          <a:xfrm>
            <a:off x="3611880" y="4618329"/>
            <a:ext cx="7894015" cy="735787"/>
          </a:xfrm>
          <a:prstGeom prst="rect">
            <a:avLst/>
          </a:prstGeom>
          <a:noFill/>
        </p:spPr>
        <p:txBody>
          <a:bodyPr wrap="square" lIns="0" rIns="0" tIns="18288" bIns="18288" anchor="t">
            <a:spAutoFit/>
          </a:bodyPr>
          <a:lstStyle/>
          <a:p>
            <a:pPr algn="l"/>
            <a:r>
              <a:rPr sz="2200" b="0" i="0">
                <a:solidFill>
                  <a:srgbClr val="3B4046"/>
                </a:solidFill>
                <a:latin typeface="Calibri"/>
              </a:rPr>
              <a:t>The person the data is about.</a:t>
            </a:r>
          </a:p>
        </p:txBody>
      </p:sp>
      <p:cxnSp>
        <p:nvCxnSpPr>
          <p:cNvPr id="15" name="Connector 14"/>
          <p:cNvCxnSpPr/>
          <p:nvPr/>
        </p:nvCxnSpPr>
        <p:spPr>
          <a:xfrm>
            <a:off x="685800" y="5354116"/>
            <a:ext cx="10820095" cy="0"/>
          </a:xfrm>
          <a:prstGeom prst="line">
            <a:avLst/>
          </a:prstGeom>
          <a:ln w="6350">
            <a:solidFill>
              <a:srgbClr val="C9C5BC"/>
            </a:solidFill>
          </a:ln>
        </p:spPr>
      </p:cxnSp>
      <p:sp>
        <p:nvSpPr>
          <p:cNvPr id="16" name="TextBox 15"/>
          <p:cNvSpPr txBox="1"/>
          <p:nvPr/>
        </p:nvSpPr>
        <p:spPr>
          <a:xfrm>
            <a:off x="685800" y="5463844"/>
            <a:ext cx="2651760" cy="754075"/>
          </a:xfrm>
          <a:prstGeom prst="rect">
            <a:avLst/>
          </a:prstGeom>
          <a:noFill/>
        </p:spPr>
        <p:txBody>
          <a:bodyPr wrap="square" lIns="0" rIns="0" tIns="18288" bIns="18288" anchor="t">
            <a:spAutoFit/>
          </a:bodyPr>
          <a:lstStyle/>
          <a:p>
            <a:pPr algn="l"/>
            <a:r>
              <a:rPr sz="2400" b="1" i="0">
                <a:solidFill>
                  <a:srgbClr val="1F2328"/>
                </a:solidFill>
                <a:latin typeface="Cambria"/>
              </a:rPr>
              <a:t>Regulator</a:t>
            </a:r>
          </a:p>
        </p:txBody>
      </p:sp>
      <p:sp>
        <p:nvSpPr>
          <p:cNvPr id="17" name="TextBox 16"/>
          <p:cNvSpPr txBox="1"/>
          <p:nvPr/>
        </p:nvSpPr>
        <p:spPr>
          <a:xfrm>
            <a:off x="3611880" y="5482132"/>
            <a:ext cx="7894015" cy="735787"/>
          </a:xfrm>
          <a:prstGeom prst="rect">
            <a:avLst/>
          </a:prstGeom>
          <a:noFill/>
        </p:spPr>
        <p:txBody>
          <a:bodyPr wrap="square" lIns="0" rIns="0" tIns="18288" bIns="18288" anchor="t">
            <a:spAutoFit/>
          </a:bodyPr>
          <a:lstStyle/>
          <a:p>
            <a:pPr algn="l"/>
            <a:r>
              <a:rPr sz="2200" b="0" i="0">
                <a:solidFill>
                  <a:srgbClr val="3B4046"/>
                </a:solidFill>
                <a:latin typeface="Calibri"/>
              </a:rPr>
              <a:t>The Personal Data Protection Office, under NITA.</a:t>
            </a:r>
          </a:p>
        </p:txBody>
      </p:sp>
      <p:cxnSp>
        <p:nvCxnSpPr>
          <p:cNvPr id="18" name="Connector 17"/>
          <p:cNvCxnSpPr/>
          <p:nvPr/>
        </p:nvCxnSpPr>
        <p:spPr>
          <a:xfrm>
            <a:off x="685800" y="6217920"/>
            <a:ext cx="10820095" cy="0"/>
          </a:xfrm>
          <a:prstGeom prst="line">
            <a:avLst/>
          </a:prstGeom>
          <a:ln w="6350">
            <a:solidFill>
              <a:srgbClr val="C9C5BC"/>
            </a:solidFill>
          </a:ln>
        </p:spPr>
      </p:cxn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The seven principles in plain words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23   Ship it: reproducible work, a small app and responsible use</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19</a:t>
            </a:r>
          </a:p>
        </p:txBody>
      </p:sp>
      <p:graphicFrame>
        <p:nvGraphicFramePr>
          <p:cNvPr id="5" name="Table"/>
          <p:cNvGraphicFramePr>
            <a:graphicFrameLocks noGrp="1"/>
          </p:cNvGraphicFramePr>
          <p:nvPr/>
        </p:nvGraphicFramePr>
        <p:xfrm>
          <a:off x="685800" y="1600200"/>
          <a:ext cx="10820095" cy="3566160"/>
        </p:xfrm>
        <a:graphic>
          <a:graphicData uri="http://schemas.openxmlformats.org/drawingml/2006/table">
            <a:tbl>
              <a:tblPr firstRow="0" bandRow="0">
                <a:tableStyleId>{2D5ABB26-0587-4C30-8999-92F81FD0307C}</a:tableStyleId>
              </a:tblPr>
              <a:tblGrid>
                <a:gridCol w="4328038"/>
                <a:gridCol w="6492057"/>
              </a:tblGrid>
              <a:tr h="445770">
                <a:tc>
                  <a:txBody>
                    <a:bodyPr wrap="square"/>
                    <a:lstStyle/>
                    <a:p>
                      <a:r>
                        <a:rPr sz="1500" b="1" i="0">
                          <a:solidFill>
                            <a:srgbClr val="1F2328"/>
                          </a:solidFill>
                          <a:latin typeface="Calibri"/>
                        </a:rPr>
                        <a:t>Principle</a:t>
                      </a:r>
                    </a:p>
                  </a:txBody>
                  <a:tcPr marL="0" marR="91440" marT="64008" marB="64008" anchor="ctr">
                    <a:lnL w="0">
                      <a:noFill/>
                    </a:lnL>
                    <a:lnR w="0">
                      <a:noFill/>
                    </a:lnR>
                    <a:lnT w="0">
                      <a:noFill/>
                    </a:lnT>
                    <a:lnB w="15875">
                      <a:solidFill>
                        <a:srgbClr val="1F2328"/>
                      </a:solidFill>
                    </a:lnB>
                    <a:noFill/>
                  </a:tcPr>
                </a:tc>
                <a:tc>
                  <a:txBody>
                    <a:bodyPr wrap="square"/>
                    <a:lstStyle/>
                    <a:p>
                      <a:r>
                        <a:rPr sz="1500" b="1" i="0">
                          <a:solidFill>
                            <a:srgbClr val="1F2328"/>
                          </a:solidFill>
                          <a:latin typeface="Calibri"/>
                        </a:rPr>
                        <a:t>In plain words</a:t>
                      </a:r>
                    </a:p>
                  </a:txBody>
                  <a:tcPr marL="137160" marR="91440" marT="64008" marB="64008" anchor="ctr">
                    <a:lnL w="0">
                      <a:noFill/>
                    </a:lnL>
                    <a:lnR w="0">
                      <a:noFill/>
                    </a:lnR>
                    <a:lnT w="0">
                      <a:noFill/>
                    </a:lnT>
                    <a:lnB w="15875">
                      <a:solidFill>
                        <a:srgbClr val="1F2328"/>
                      </a:solidFill>
                    </a:lnB>
                    <a:noFill/>
                  </a:tcPr>
                </a:tc>
              </a:tr>
              <a:tr h="445770">
                <a:tc>
                  <a:txBody>
                    <a:bodyPr wrap="square"/>
                    <a:lstStyle/>
                    <a:p>
                      <a:r>
                        <a:rPr sz="1500" b="0" i="0">
                          <a:solidFill>
                            <a:srgbClr val="3B4046"/>
                          </a:solidFill>
                          <a:latin typeface="Calibri"/>
                        </a:rPr>
                        <a:t>Accountability</a:t>
                      </a:r>
                    </a:p>
                  </a:txBody>
                  <a:tcPr marL="0" marR="91440" marT="64008" marB="64008" anchor="ctr">
                    <a:lnL w="0">
                      <a:noFill/>
                    </a:lnL>
                    <a:lnR w="0">
                      <a:noFill/>
                    </a:lnR>
                    <a:lnT w="0">
                      <a:noFill/>
                    </a:lnT>
                    <a:lnB w="6350">
                      <a:solidFill>
                        <a:srgbClr val="C9C5BC"/>
                      </a:solidFill>
                    </a:lnB>
                    <a:noFill/>
                  </a:tcPr>
                </a:tc>
                <a:tc>
                  <a:txBody>
                    <a:bodyPr wrap="square"/>
                    <a:lstStyle/>
                    <a:p>
                      <a:r>
                        <a:rPr sz="1500" b="0" i="0">
                          <a:solidFill>
                            <a:srgbClr val="3B4046"/>
                          </a:solidFill>
                          <a:latin typeface="Calibri"/>
                        </a:rPr>
                        <a:t>Someone is responsible and can show what was done.</a:t>
                      </a:r>
                    </a:p>
                  </a:txBody>
                  <a:tcPr marL="137160" marR="91440" marT="64008" marB="64008" anchor="ctr">
                    <a:lnL w="0">
                      <a:noFill/>
                    </a:lnL>
                    <a:lnR w="0">
                      <a:noFill/>
                    </a:lnR>
                    <a:lnT w="0">
                      <a:noFill/>
                    </a:lnT>
                    <a:lnB w="6350">
                      <a:solidFill>
                        <a:srgbClr val="C9C5BC"/>
                      </a:solidFill>
                    </a:lnB>
                    <a:noFill/>
                  </a:tcPr>
                </a:tc>
              </a:tr>
              <a:tr h="445770">
                <a:tc>
                  <a:txBody>
                    <a:bodyPr wrap="square"/>
                    <a:lstStyle/>
                    <a:p>
                      <a:r>
                        <a:rPr sz="1500" b="0" i="0">
                          <a:solidFill>
                            <a:srgbClr val="3B4046"/>
                          </a:solidFill>
                          <a:latin typeface="Calibri"/>
                        </a:rPr>
                        <a:t>Fair and lawful processing</a:t>
                      </a:r>
                    </a:p>
                  </a:txBody>
                  <a:tcPr marL="0" marR="91440" marT="64008" marB="64008" anchor="ctr">
                    <a:lnL w="0">
                      <a:noFill/>
                    </a:lnL>
                    <a:lnR w="0">
                      <a:noFill/>
                    </a:lnR>
                    <a:lnT w="0">
                      <a:noFill/>
                    </a:lnT>
                    <a:lnB w="6350">
                      <a:solidFill>
                        <a:srgbClr val="C9C5BC"/>
                      </a:solidFill>
                    </a:lnB>
                    <a:noFill/>
                  </a:tcPr>
                </a:tc>
                <a:tc>
                  <a:txBody>
                    <a:bodyPr wrap="square"/>
                    <a:lstStyle/>
                    <a:p>
                      <a:r>
                        <a:rPr sz="1500" b="0" i="0">
                          <a:solidFill>
                            <a:srgbClr val="3B4046"/>
                          </a:solidFill>
                          <a:latin typeface="Calibri"/>
                        </a:rPr>
                        <a:t>Use data fairly and within the law.</a:t>
                      </a:r>
                    </a:p>
                  </a:txBody>
                  <a:tcPr marL="137160" marR="91440" marT="64008" marB="64008" anchor="ctr">
                    <a:lnL w="0">
                      <a:noFill/>
                    </a:lnL>
                    <a:lnR w="0">
                      <a:noFill/>
                    </a:lnR>
                    <a:lnT w="0">
                      <a:noFill/>
                    </a:lnT>
                    <a:lnB w="6350">
                      <a:solidFill>
                        <a:srgbClr val="C9C5BC"/>
                      </a:solidFill>
                    </a:lnB>
                    <a:noFill/>
                  </a:tcPr>
                </a:tc>
              </a:tr>
              <a:tr h="445770">
                <a:tc>
                  <a:txBody>
                    <a:bodyPr wrap="square"/>
                    <a:lstStyle/>
                    <a:p>
                      <a:r>
                        <a:rPr sz="1500" b="0" i="0">
                          <a:solidFill>
                            <a:srgbClr val="3B4046"/>
                          </a:solidFill>
                          <a:latin typeface="Calibri"/>
                        </a:rPr>
                        <a:t>Adequate and relevant data</a:t>
                      </a:r>
                    </a:p>
                  </a:txBody>
                  <a:tcPr marL="0" marR="91440" marT="64008" marB="64008" anchor="ctr">
                    <a:lnL w="0">
                      <a:noFill/>
                    </a:lnL>
                    <a:lnR w="0">
                      <a:noFill/>
                    </a:lnR>
                    <a:lnT w="0">
                      <a:noFill/>
                    </a:lnT>
                    <a:lnB w="6350">
                      <a:solidFill>
                        <a:srgbClr val="C9C5BC"/>
                      </a:solidFill>
                    </a:lnB>
                    <a:noFill/>
                  </a:tcPr>
                </a:tc>
                <a:tc>
                  <a:txBody>
                    <a:bodyPr wrap="square"/>
                    <a:lstStyle/>
                    <a:p>
                      <a:r>
                        <a:rPr sz="1500" b="0" i="0">
                          <a:solidFill>
                            <a:srgbClr val="3B4046"/>
                          </a:solidFill>
                          <a:latin typeface="Calibri"/>
                        </a:rPr>
                        <a:t>Collect only what the purpose needs.</a:t>
                      </a:r>
                    </a:p>
                  </a:txBody>
                  <a:tcPr marL="137160" marR="91440" marT="64008" marB="64008" anchor="ctr">
                    <a:lnL w="0">
                      <a:noFill/>
                    </a:lnL>
                    <a:lnR w="0">
                      <a:noFill/>
                    </a:lnR>
                    <a:lnT w="0">
                      <a:noFill/>
                    </a:lnT>
                    <a:lnB w="6350">
                      <a:solidFill>
                        <a:srgbClr val="C9C5BC"/>
                      </a:solidFill>
                    </a:lnB>
                    <a:noFill/>
                  </a:tcPr>
                </a:tc>
              </a:tr>
              <a:tr h="445770">
                <a:tc>
                  <a:txBody>
                    <a:bodyPr wrap="square"/>
                    <a:lstStyle/>
                    <a:p>
                      <a:r>
                        <a:rPr sz="1500" b="0" i="0">
                          <a:solidFill>
                            <a:srgbClr val="3B4046"/>
                          </a:solidFill>
                          <a:latin typeface="Calibri"/>
                        </a:rPr>
                        <a:t>Kept only as long as needed</a:t>
                      </a:r>
                    </a:p>
                  </a:txBody>
                  <a:tcPr marL="0" marR="91440" marT="64008" marB="64008" anchor="ctr">
                    <a:lnL w="0">
                      <a:noFill/>
                    </a:lnL>
                    <a:lnR w="0">
                      <a:noFill/>
                    </a:lnR>
                    <a:lnT w="0">
                      <a:noFill/>
                    </a:lnT>
                    <a:lnB w="6350">
                      <a:solidFill>
                        <a:srgbClr val="C9C5BC"/>
                      </a:solidFill>
                    </a:lnB>
                    <a:noFill/>
                  </a:tcPr>
                </a:tc>
                <a:tc>
                  <a:txBody>
                    <a:bodyPr wrap="square"/>
                    <a:lstStyle/>
                    <a:p>
                      <a:r>
                        <a:rPr sz="1500" b="0" i="0">
                          <a:solidFill>
                            <a:srgbClr val="3B4046"/>
                          </a:solidFill>
                          <a:latin typeface="Calibri"/>
                        </a:rPr>
                        <a:t>Delete data when the purpose ends.</a:t>
                      </a:r>
                    </a:p>
                  </a:txBody>
                  <a:tcPr marL="137160" marR="91440" marT="64008" marB="64008" anchor="ctr">
                    <a:lnL w="0">
                      <a:noFill/>
                    </a:lnL>
                    <a:lnR w="0">
                      <a:noFill/>
                    </a:lnR>
                    <a:lnT w="0">
                      <a:noFill/>
                    </a:lnT>
                    <a:lnB w="6350">
                      <a:solidFill>
                        <a:srgbClr val="C9C5BC"/>
                      </a:solidFill>
                    </a:lnB>
                    <a:noFill/>
                  </a:tcPr>
                </a:tc>
              </a:tr>
              <a:tr h="445770">
                <a:tc>
                  <a:txBody>
                    <a:bodyPr wrap="square"/>
                    <a:lstStyle/>
                    <a:p>
                      <a:r>
                        <a:rPr sz="1500" b="0" i="0">
                          <a:solidFill>
                            <a:srgbClr val="3B4046"/>
                          </a:solidFill>
                          <a:latin typeface="Calibri"/>
                        </a:rPr>
                        <a:t>Quality of information</a:t>
                      </a:r>
                    </a:p>
                  </a:txBody>
                  <a:tcPr marL="0" marR="91440" marT="64008" marB="64008" anchor="ctr">
                    <a:lnL w="0">
                      <a:noFill/>
                    </a:lnL>
                    <a:lnR w="0">
                      <a:noFill/>
                    </a:lnR>
                    <a:lnT w="0">
                      <a:noFill/>
                    </a:lnT>
                    <a:lnB w="6350">
                      <a:solidFill>
                        <a:srgbClr val="C9C5BC"/>
                      </a:solidFill>
                    </a:lnB>
                    <a:noFill/>
                  </a:tcPr>
                </a:tc>
                <a:tc>
                  <a:txBody>
                    <a:bodyPr wrap="square"/>
                    <a:lstStyle/>
                    <a:p>
                      <a:r>
                        <a:rPr sz="1500" b="0" i="0">
                          <a:solidFill>
                            <a:srgbClr val="3B4046"/>
                          </a:solidFill>
                          <a:latin typeface="Calibri"/>
                        </a:rPr>
                        <a:t>Keep data accurate and up to date.</a:t>
                      </a:r>
                    </a:p>
                  </a:txBody>
                  <a:tcPr marL="137160" marR="91440" marT="64008" marB="64008" anchor="ctr">
                    <a:lnL w="0">
                      <a:noFill/>
                    </a:lnL>
                    <a:lnR w="0">
                      <a:noFill/>
                    </a:lnR>
                    <a:lnT w="0">
                      <a:noFill/>
                    </a:lnT>
                    <a:lnB w="6350">
                      <a:solidFill>
                        <a:srgbClr val="C9C5BC"/>
                      </a:solidFill>
                    </a:lnB>
                    <a:noFill/>
                  </a:tcPr>
                </a:tc>
              </a:tr>
              <a:tr h="445770">
                <a:tc>
                  <a:txBody>
                    <a:bodyPr wrap="square"/>
                    <a:lstStyle/>
                    <a:p>
                      <a:r>
                        <a:rPr sz="1500" b="0" i="0">
                          <a:solidFill>
                            <a:srgbClr val="3B4046"/>
                          </a:solidFill>
                          <a:latin typeface="Calibri"/>
                        </a:rPr>
                        <a:t>Openness and participation</a:t>
                      </a:r>
                    </a:p>
                  </a:txBody>
                  <a:tcPr marL="0" marR="91440" marT="64008" marB="64008" anchor="ctr">
                    <a:lnL w="0">
                      <a:noFill/>
                    </a:lnL>
                    <a:lnR w="0">
                      <a:noFill/>
                    </a:lnR>
                    <a:lnT w="0">
                      <a:noFill/>
                    </a:lnT>
                    <a:lnB w="6350">
                      <a:solidFill>
                        <a:srgbClr val="C9C5BC"/>
                      </a:solidFill>
                    </a:lnB>
                    <a:noFill/>
                  </a:tcPr>
                </a:tc>
                <a:tc>
                  <a:txBody>
                    <a:bodyPr wrap="square"/>
                    <a:lstStyle/>
                    <a:p>
                      <a:r>
                        <a:rPr sz="1500" b="0" i="0">
                          <a:solidFill>
                            <a:srgbClr val="3B4046"/>
                          </a:solidFill>
                          <a:latin typeface="Calibri"/>
                        </a:rPr>
                        <a:t>Tell people what you hold and why.</a:t>
                      </a:r>
                    </a:p>
                  </a:txBody>
                  <a:tcPr marL="137160" marR="91440" marT="64008" marB="64008" anchor="ctr">
                    <a:lnL w="0">
                      <a:noFill/>
                    </a:lnL>
                    <a:lnR w="0">
                      <a:noFill/>
                    </a:lnR>
                    <a:lnT w="0">
                      <a:noFill/>
                    </a:lnT>
                    <a:lnB w="6350">
                      <a:solidFill>
                        <a:srgbClr val="C9C5BC"/>
                      </a:solidFill>
                    </a:lnB>
                    <a:noFill/>
                  </a:tcPr>
                </a:tc>
              </a:tr>
              <a:tr h="445770">
                <a:tc>
                  <a:txBody>
                    <a:bodyPr wrap="square"/>
                    <a:lstStyle/>
                    <a:p>
                      <a:r>
                        <a:rPr sz="1500" b="0" i="0">
                          <a:solidFill>
                            <a:srgbClr val="3B4046"/>
                          </a:solidFill>
                          <a:latin typeface="Calibri"/>
                        </a:rPr>
                        <a:t>Safety and security</a:t>
                      </a:r>
                    </a:p>
                  </a:txBody>
                  <a:tcPr marL="0" marR="91440" marT="64008" marB="64008" anchor="ctr">
                    <a:lnL w="0">
                      <a:noFill/>
                    </a:lnL>
                    <a:lnR w="0">
                      <a:noFill/>
                    </a:lnR>
                    <a:lnT w="0">
                      <a:noFill/>
                    </a:lnT>
                    <a:lnB w="6350">
                      <a:solidFill>
                        <a:srgbClr val="C9C5BC"/>
                      </a:solidFill>
                    </a:lnB>
                    <a:noFill/>
                  </a:tcPr>
                </a:tc>
                <a:tc>
                  <a:txBody>
                    <a:bodyPr wrap="square"/>
                    <a:lstStyle/>
                    <a:p>
                      <a:r>
                        <a:rPr sz="1500" b="0" i="0">
                          <a:solidFill>
                            <a:srgbClr val="3B4046"/>
                          </a:solidFill>
                          <a:latin typeface="Calibri"/>
                        </a:rPr>
                        <a:t>Protect data from loss, leaks and misuse.</a:t>
                      </a:r>
                    </a:p>
                  </a:txBody>
                  <a:tcPr marL="137160" marR="91440" marT="64008" marB="64008" anchor="ctr">
                    <a:lnL w="0">
                      <a:noFill/>
                    </a:lnL>
                    <a:lnR w="0">
                      <a:noFill/>
                    </a:lnR>
                    <a:lnT w="0">
                      <a:noFill/>
                    </a:lnT>
                    <a:lnB w="6350">
                      <a:solidFill>
                        <a:srgbClr val="C9C5BC"/>
                      </a:solidFill>
                    </a:lnB>
                    <a:noFill/>
                  </a:tcPr>
                </a:tc>
              </a:tr>
            </a:tbl>
          </a:graphicData>
        </a:graphic>
      </p:graphicFrame>
      <p:cxnSp>
        <p:nvCxnSpPr>
          <p:cNvPr id="6" name="Connector 5"/>
          <p:cNvCxnSpPr/>
          <p:nvPr/>
        </p:nvCxnSpPr>
        <p:spPr>
          <a:xfrm>
            <a:off x="685800" y="5440680"/>
            <a:ext cx="10820095" cy="0"/>
          </a:xfrm>
          <a:prstGeom prst="line">
            <a:avLst/>
          </a:prstGeom>
          <a:ln w="15875">
            <a:solidFill>
              <a:srgbClr val="1F2328"/>
            </a:solidFill>
          </a:ln>
        </p:spPr>
      </p:cxnSp>
      <p:sp>
        <p:nvSpPr>
          <p:cNvPr id="7" name="TextBox 6"/>
          <p:cNvSpPr txBox="1"/>
          <p:nvPr/>
        </p:nvSpPr>
        <p:spPr>
          <a:xfrm>
            <a:off x="685800" y="5532120"/>
            <a:ext cx="10820095" cy="685800"/>
          </a:xfrm>
          <a:prstGeom prst="rect">
            <a:avLst/>
          </a:prstGeom>
          <a:noFill/>
        </p:spPr>
        <p:txBody>
          <a:bodyPr wrap="square" lIns="0" rIns="0" tIns="18288" bIns="18288" anchor="t">
            <a:spAutoFit/>
          </a:bodyPr>
          <a:lstStyle/>
          <a:p>
            <a:pPr algn="l"/>
            <a:r>
              <a:rPr sz="2100" b="0" i="0">
                <a:solidFill>
                  <a:srgbClr val="1F2328"/>
                </a:solidFill>
                <a:latin typeface="Cambria"/>
              </a:rPr>
              <a:t>Teaching summary. Not legal advice. Read the Act itself for the exact wording.</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What data subjects can ask for</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23   Ship it: reproducible work, a small app and responsible use</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20</a:t>
            </a:r>
          </a:p>
        </p:txBody>
      </p:sp>
      <p:sp>
        <p:nvSpPr>
          <p:cNvPr id="5" name="TextBox 4"/>
          <p:cNvSpPr txBox="1"/>
          <p:nvPr/>
        </p:nvSpPr>
        <p:spPr>
          <a:xfrm>
            <a:off x="685800" y="1600200"/>
            <a:ext cx="9601200" cy="1097280"/>
          </a:xfrm>
          <a:prstGeom prst="rect">
            <a:avLst/>
          </a:prstGeom>
          <a:noFill/>
        </p:spPr>
        <p:txBody>
          <a:bodyPr wrap="square" lIns="0" rIns="0" tIns="18288" bIns="18288" anchor="t">
            <a:spAutoFit/>
          </a:bodyPr>
          <a:lstStyle/>
          <a:p>
            <a:pPr algn="l"/>
            <a:r>
              <a:rPr sz="2600" b="0" i="0">
                <a:solidFill>
                  <a:srgbClr val="1F2328"/>
                </a:solidFill>
                <a:latin typeface="Cambria"/>
              </a:rPr>
              <a:t>Four rights that matter for any model that touches personal data.</a:t>
            </a:r>
          </a:p>
        </p:txBody>
      </p:sp>
      <p:cxnSp>
        <p:nvCxnSpPr>
          <p:cNvPr id="6" name="Connector 5"/>
          <p:cNvCxnSpPr/>
          <p:nvPr/>
        </p:nvCxnSpPr>
        <p:spPr>
          <a:xfrm>
            <a:off x="685800" y="2350617"/>
            <a:ext cx="10820095" cy="0"/>
          </a:xfrm>
          <a:prstGeom prst="line">
            <a:avLst/>
          </a:prstGeom>
          <a:ln w="15875">
            <a:solidFill>
              <a:srgbClr val="1F2328"/>
            </a:solidFill>
          </a:ln>
        </p:spPr>
      </p:cxnSp>
      <p:sp>
        <p:nvSpPr>
          <p:cNvPr id="7" name="TextBox 6"/>
          <p:cNvSpPr txBox="1"/>
          <p:nvPr/>
        </p:nvSpPr>
        <p:spPr>
          <a:xfrm>
            <a:off x="685800" y="2460345"/>
            <a:ext cx="2651760" cy="857097"/>
          </a:xfrm>
          <a:prstGeom prst="rect">
            <a:avLst/>
          </a:prstGeom>
          <a:noFill/>
        </p:spPr>
        <p:txBody>
          <a:bodyPr wrap="square" lIns="0" rIns="0" tIns="18288" bIns="18288" anchor="t">
            <a:spAutoFit/>
          </a:bodyPr>
          <a:lstStyle/>
          <a:p>
            <a:pPr algn="l"/>
            <a:r>
              <a:rPr sz="2400" b="1" i="0">
                <a:solidFill>
                  <a:srgbClr val="1F2328"/>
                </a:solidFill>
                <a:latin typeface="Cambria"/>
              </a:rPr>
              <a:t>Access</a:t>
            </a:r>
          </a:p>
        </p:txBody>
      </p:sp>
      <p:sp>
        <p:nvSpPr>
          <p:cNvPr id="8" name="TextBox 7"/>
          <p:cNvSpPr txBox="1"/>
          <p:nvPr/>
        </p:nvSpPr>
        <p:spPr>
          <a:xfrm>
            <a:off x="3611880" y="2478633"/>
            <a:ext cx="7894015" cy="838809"/>
          </a:xfrm>
          <a:prstGeom prst="rect">
            <a:avLst/>
          </a:prstGeom>
          <a:noFill/>
        </p:spPr>
        <p:txBody>
          <a:bodyPr wrap="square" lIns="0" rIns="0" tIns="18288" bIns="18288" anchor="t">
            <a:spAutoFit/>
          </a:bodyPr>
          <a:lstStyle/>
          <a:p>
            <a:pPr algn="l"/>
            <a:r>
              <a:rPr sz="2200" b="0" i="0">
                <a:solidFill>
                  <a:srgbClr val="3B4046"/>
                </a:solidFill>
                <a:latin typeface="Calibri"/>
              </a:rPr>
              <a:t>Ask what data an organisation holds about you.</a:t>
            </a:r>
          </a:p>
        </p:txBody>
      </p:sp>
      <p:cxnSp>
        <p:nvCxnSpPr>
          <p:cNvPr id="9" name="Connector 8"/>
          <p:cNvCxnSpPr/>
          <p:nvPr/>
        </p:nvCxnSpPr>
        <p:spPr>
          <a:xfrm>
            <a:off x="685800" y="3317443"/>
            <a:ext cx="10820095" cy="0"/>
          </a:xfrm>
          <a:prstGeom prst="line">
            <a:avLst/>
          </a:prstGeom>
          <a:ln w="6350">
            <a:solidFill>
              <a:srgbClr val="C9C5BC"/>
            </a:solidFill>
          </a:ln>
        </p:spPr>
      </p:cxnSp>
      <p:sp>
        <p:nvSpPr>
          <p:cNvPr id="10" name="TextBox 9"/>
          <p:cNvSpPr txBox="1"/>
          <p:nvPr/>
        </p:nvSpPr>
        <p:spPr>
          <a:xfrm>
            <a:off x="685800" y="3427171"/>
            <a:ext cx="2651760" cy="857097"/>
          </a:xfrm>
          <a:prstGeom prst="rect">
            <a:avLst/>
          </a:prstGeom>
          <a:noFill/>
        </p:spPr>
        <p:txBody>
          <a:bodyPr wrap="square" lIns="0" rIns="0" tIns="18288" bIns="18288" anchor="t">
            <a:spAutoFit/>
          </a:bodyPr>
          <a:lstStyle/>
          <a:p>
            <a:pPr algn="l"/>
            <a:r>
              <a:rPr sz="2400" b="1" i="0">
                <a:solidFill>
                  <a:srgbClr val="1F2328"/>
                </a:solidFill>
                <a:latin typeface="Cambria"/>
              </a:rPr>
              <a:t>Correction</a:t>
            </a:r>
          </a:p>
        </p:txBody>
      </p:sp>
      <p:sp>
        <p:nvSpPr>
          <p:cNvPr id="11" name="TextBox 10"/>
          <p:cNvSpPr txBox="1"/>
          <p:nvPr/>
        </p:nvSpPr>
        <p:spPr>
          <a:xfrm>
            <a:off x="3611880" y="3445459"/>
            <a:ext cx="7894015" cy="838809"/>
          </a:xfrm>
          <a:prstGeom prst="rect">
            <a:avLst/>
          </a:prstGeom>
          <a:noFill/>
        </p:spPr>
        <p:txBody>
          <a:bodyPr wrap="square" lIns="0" rIns="0" tIns="18288" bIns="18288" anchor="t">
            <a:spAutoFit/>
          </a:bodyPr>
          <a:lstStyle/>
          <a:p>
            <a:pPr algn="l"/>
            <a:r>
              <a:rPr sz="2200" b="0" i="0">
                <a:solidFill>
                  <a:srgbClr val="3B4046"/>
                </a:solidFill>
                <a:latin typeface="Calibri"/>
              </a:rPr>
              <a:t>Ask for wrong data to be fixed.</a:t>
            </a:r>
          </a:p>
        </p:txBody>
      </p:sp>
      <p:cxnSp>
        <p:nvCxnSpPr>
          <p:cNvPr id="12" name="Connector 11"/>
          <p:cNvCxnSpPr/>
          <p:nvPr/>
        </p:nvCxnSpPr>
        <p:spPr>
          <a:xfrm>
            <a:off x="685800" y="4284268"/>
            <a:ext cx="10820095" cy="0"/>
          </a:xfrm>
          <a:prstGeom prst="line">
            <a:avLst/>
          </a:prstGeom>
          <a:ln w="6350">
            <a:solidFill>
              <a:srgbClr val="C9C5BC"/>
            </a:solidFill>
          </a:ln>
        </p:spPr>
      </p:cxnSp>
      <p:sp>
        <p:nvSpPr>
          <p:cNvPr id="13" name="TextBox 12"/>
          <p:cNvSpPr txBox="1"/>
          <p:nvPr/>
        </p:nvSpPr>
        <p:spPr>
          <a:xfrm>
            <a:off x="685800" y="4393996"/>
            <a:ext cx="2651760" cy="857097"/>
          </a:xfrm>
          <a:prstGeom prst="rect">
            <a:avLst/>
          </a:prstGeom>
          <a:noFill/>
        </p:spPr>
        <p:txBody>
          <a:bodyPr wrap="square" lIns="0" rIns="0" tIns="18288" bIns="18288" anchor="t">
            <a:spAutoFit/>
          </a:bodyPr>
          <a:lstStyle/>
          <a:p>
            <a:pPr algn="l"/>
            <a:r>
              <a:rPr sz="2400" b="1" i="0">
                <a:solidFill>
                  <a:srgbClr val="1F2328"/>
                </a:solidFill>
                <a:latin typeface="Cambria"/>
              </a:rPr>
              <a:t>Erasure</a:t>
            </a:r>
          </a:p>
        </p:txBody>
      </p:sp>
      <p:sp>
        <p:nvSpPr>
          <p:cNvPr id="14" name="TextBox 13"/>
          <p:cNvSpPr txBox="1"/>
          <p:nvPr/>
        </p:nvSpPr>
        <p:spPr>
          <a:xfrm>
            <a:off x="3611880" y="4412284"/>
            <a:ext cx="7894015" cy="838809"/>
          </a:xfrm>
          <a:prstGeom prst="rect">
            <a:avLst/>
          </a:prstGeom>
          <a:noFill/>
        </p:spPr>
        <p:txBody>
          <a:bodyPr wrap="square" lIns="0" rIns="0" tIns="18288" bIns="18288" anchor="t">
            <a:spAutoFit/>
          </a:bodyPr>
          <a:lstStyle/>
          <a:p>
            <a:pPr algn="l"/>
            <a:r>
              <a:rPr sz="2200" b="0" i="0">
                <a:solidFill>
                  <a:srgbClr val="3B4046"/>
                </a:solidFill>
                <a:latin typeface="Calibri"/>
              </a:rPr>
              <a:t>Ask for data to be deleted, in the cases the law allows.</a:t>
            </a:r>
          </a:p>
        </p:txBody>
      </p:sp>
      <p:cxnSp>
        <p:nvCxnSpPr>
          <p:cNvPr id="15" name="Connector 14"/>
          <p:cNvCxnSpPr/>
          <p:nvPr/>
        </p:nvCxnSpPr>
        <p:spPr>
          <a:xfrm>
            <a:off x="685800" y="5251094"/>
            <a:ext cx="10820095" cy="0"/>
          </a:xfrm>
          <a:prstGeom prst="line">
            <a:avLst/>
          </a:prstGeom>
          <a:ln w="6350">
            <a:solidFill>
              <a:srgbClr val="C9C5BC"/>
            </a:solidFill>
          </a:ln>
        </p:spPr>
      </p:cxnSp>
      <p:sp>
        <p:nvSpPr>
          <p:cNvPr id="16" name="TextBox 15"/>
          <p:cNvSpPr txBox="1"/>
          <p:nvPr/>
        </p:nvSpPr>
        <p:spPr>
          <a:xfrm>
            <a:off x="685800" y="5360822"/>
            <a:ext cx="2651760" cy="857097"/>
          </a:xfrm>
          <a:prstGeom prst="rect">
            <a:avLst/>
          </a:prstGeom>
          <a:noFill/>
        </p:spPr>
        <p:txBody>
          <a:bodyPr wrap="square" lIns="0" rIns="0" tIns="18288" bIns="18288" anchor="t">
            <a:spAutoFit/>
          </a:bodyPr>
          <a:lstStyle/>
          <a:p>
            <a:pPr algn="l"/>
            <a:r>
              <a:rPr sz="2400" b="1" i="0">
                <a:solidFill>
                  <a:srgbClr val="1F2328"/>
                </a:solidFill>
                <a:latin typeface="Cambria"/>
              </a:rPr>
              <a:t>Automated decisions</a:t>
            </a:r>
          </a:p>
        </p:txBody>
      </p:sp>
      <p:sp>
        <p:nvSpPr>
          <p:cNvPr id="17" name="TextBox 16"/>
          <p:cNvSpPr txBox="1"/>
          <p:nvPr/>
        </p:nvSpPr>
        <p:spPr>
          <a:xfrm>
            <a:off x="3611880" y="5379110"/>
            <a:ext cx="7894015" cy="838809"/>
          </a:xfrm>
          <a:prstGeom prst="rect">
            <a:avLst/>
          </a:prstGeom>
          <a:noFill/>
        </p:spPr>
        <p:txBody>
          <a:bodyPr wrap="square" lIns="0" rIns="0" tIns="18288" bIns="18288" anchor="t">
            <a:spAutoFit/>
          </a:bodyPr>
          <a:lstStyle/>
          <a:p>
            <a:pPr algn="l"/>
            <a:r>
              <a:rPr sz="2200" b="0" i="0">
                <a:solidFill>
                  <a:srgbClr val="3B4046"/>
                </a:solidFill>
                <a:latin typeface="Calibri"/>
              </a:rPr>
              <a:t>Ask to prevent a decision about you being taken only by a computer.</a:t>
            </a:r>
          </a:p>
        </p:txBody>
      </p:sp>
      <p:cxnSp>
        <p:nvCxnSpPr>
          <p:cNvPr id="18" name="Connector 17"/>
          <p:cNvCxnSpPr/>
          <p:nvPr/>
        </p:nvCxnSpPr>
        <p:spPr>
          <a:xfrm>
            <a:off x="685800" y="6217920"/>
            <a:ext cx="10820095" cy="0"/>
          </a:xfrm>
          <a:prstGeom prst="line">
            <a:avLst/>
          </a:prstGeom>
          <a:ln w="6350">
            <a:solidFill>
              <a:srgbClr val="C9C5BC"/>
            </a:solidFill>
          </a:ln>
        </p:spPr>
      </p:cxn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Lab: repeat it, check it, save it, document it</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23   Ship it: reproducible work, a small app and responsible use</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21</a:t>
            </a:r>
          </a:p>
        </p:txBody>
      </p:sp>
      <p:cxnSp>
        <p:nvCxnSpPr>
          <p:cNvPr id="5" name="Connector 4"/>
          <p:cNvCxnSpPr/>
          <p:nvPr/>
        </p:nvCxnSpPr>
        <p:spPr>
          <a:xfrm>
            <a:off x="685800" y="1600200"/>
            <a:ext cx="7223760" cy="0"/>
          </a:xfrm>
          <a:prstGeom prst="line">
            <a:avLst/>
          </a:prstGeom>
          <a:ln w="15875">
            <a:solidFill>
              <a:srgbClr val="1F2328"/>
            </a:solidFill>
          </a:ln>
        </p:spPr>
      </p:cxnSp>
      <p:sp>
        <p:nvSpPr>
          <p:cNvPr id="6" name="TextBox 5"/>
          <p:cNvSpPr txBox="1"/>
          <p:nvPr/>
        </p:nvSpPr>
        <p:spPr>
          <a:xfrm>
            <a:off x="685800" y="1691640"/>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1</a:t>
            </a:r>
          </a:p>
        </p:txBody>
      </p:sp>
      <p:sp>
        <p:nvSpPr>
          <p:cNvPr id="7" name="TextBox 6"/>
          <p:cNvSpPr txBox="1"/>
          <p:nvPr/>
        </p:nvSpPr>
        <p:spPr>
          <a:xfrm>
            <a:off x="1234440" y="1691640"/>
            <a:ext cx="6675120" cy="568234"/>
          </a:xfrm>
          <a:prstGeom prst="rect">
            <a:avLst/>
          </a:prstGeom>
          <a:noFill/>
        </p:spPr>
        <p:txBody>
          <a:bodyPr wrap="square" lIns="0" rIns="0" tIns="18288" bIns="18288" anchor="t">
            <a:spAutoFit/>
          </a:bodyPr>
          <a:lstStyle/>
          <a:p>
            <a:pPr algn="l"/>
            <a:r>
              <a:rPr sz="2200" b="0" i="0">
                <a:solidFill>
                  <a:srgbClr val="1F2328"/>
                </a:solidFill>
                <a:latin typeface="Calibri"/>
              </a:rPr>
              <a:t>Draw twice with a seed and print the library versions</a:t>
            </a:r>
          </a:p>
        </p:txBody>
      </p:sp>
      <p:cxnSp>
        <p:nvCxnSpPr>
          <p:cNvPr id="8" name="Connector 7"/>
          <p:cNvCxnSpPr/>
          <p:nvPr/>
        </p:nvCxnSpPr>
        <p:spPr>
          <a:xfrm>
            <a:off x="685800" y="2259874"/>
            <a:ext cx="7223760" cy="0"/>
          </a:xfrm>
          <a:prstGeom prst="line">
            <a:avLst/>
          </a:prstGeom>
          <a:ln w="6350">
            <a:solidFill>
              <a:srgbClr val="C9C5BC"/>
            </a:solidFill>
          </a:ln>
        </p:spPr>
      </p:cxnSp>
      <p:sp>
        <p:nvSpPr>
          <p:cNvPr id="9" name="TextBox 8"/>
          <p:cNvSpPr txBox="1"/>
          <p:nvPr/>
        </p:nvSpPr>
        <p:spPr>
          <a:xfrm>
            <a:off x="685800" y="2351314"/>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2</a:t>
            </a:r>
          </a:p>
        </p:txBody>
      </p:sp>
      <p:sp>
        <p:nvSpPr>
          <p:cNvPr id="10" name="TextBox 9"/>
          <p:cNvSpPr txBox="1"/>
          <p:nvPr/>
        </p:nvSpPr>
        <p:spPr>
          <a:xfrm>
            <a:off x="1234440" y="2351314"/>
            <a:ext cx="6675120" cy="568234"/>
          </a:xfrm>
          <a:prstGeom prst="rect">
            <a:avLst/>
          </a:prstGeom>
          <a:noFill/>
        </p:spPr>
        <p:txBody>
          <a:bodyPr wrap="square" lIns="0" rIns="0" tIns="18288" bIns="18288" anchor="t">
            <a:spAutoFit/>
          </a:bodyPr>
          <a:lstStyle/>
          <a:p>
            <a:pPr algn="l"/>
            <a:r>
              <a:rPr sz="2200" b="0" i="0">
                <a:solidFill>
                  <a:srgbClr val="1F2328"/>
                </a:solidFill>
                <a:latin typeface="Calibri"/>
              </a:rPr>
              <a:t>Default rates by gender and district</a:t>
            </a:r>
          </a:p>
        </p:txBody>
      </p:sp>
      <p:cxnSp>
        <p:nvCxnSpPr>
          <p:cNvPr id="11" name="Connector 10"/>
          <p:cNvCxnSpPr/>
          <p:nvPr/>
        </p:nvCxnSpPr>
        <p:spPr>
          <a:xfrm>
            <a:off x="685800" y="2919548"/>
            <a:ext cx="7223760" cy="0"/>
          </a:xfrm>
          <a:prstGeom prst="line">
            <a:avLst/>
          </a:prstGeom>
          <a:ln w="6350">
            <a:solidFill>
              <a:srgbClr val="C9C5BC"/>
            </a:solidFill>
          </a:ln>
        </p:spPr>
      </p:cxnSp>
      <p:sp>
        <p:nvSpPr>
          <p:cNvPr id="12" name="TextBox 11"/>
          <p:cNvSpPr txBox="1"/>
          <p:nvPr/>
        </p:nvSpPr>
        <p:spPr>
          <a:xfrm>
            <a:off x="685800" y="3010988"/>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3</a:t>
            </a:r>
          </a:p>
        </p:txBody>
      </p:sp>
      <p:sp>
        <p:nvSpPr>
          <p:cNvPr id="13" name="TextBox 12"/>
          <p:cNvSpPr txBox="1"/>
          <p:nvPr/>
        </p:nvSpPr>
        <p:spPr>
          <a:xfrm>
            <a:off x="1234440" y="3010988"/>
            <a:ext cx="6675120" cy="568234"/>
          </a:xfrm>
          <a:prstGeom prst="rect">
            <a:avLst/>
          </a:prstGeom>
          <a:noFill/>
        </p:spPr>
        <p:txBody>
          <a:bodyPr wrap="square" lIns="0" rIns="0" tIns="18288" bIns="18288" anchor="t">
            <a:spAutoFit/>
          </a:bodyPr>
          <a:lstStyle/>
          <a:p>
            <a:pPr algn="l"/>
            <a:r>
              <a:rPr sz="2200" b="0" i="0">
                <a:solidFill>
                  <a:srgbClr val="1F2328"/>
                </a:solidFill>
                <a:latin typeface="Calibri"/>
              </a:rPr>
              <a:t>Flag rates by gender for the instalment rule</a:t>
            </a:r>
          </a:p>
        </p:txBody>
      </p:sp>
      <p:cxnSp>
        <p:nvCxnSpPr>
          <p:cNvPr id="14" name="Connector 13"/>
          <p:cNvCxnSpPr/>
          <p:nvPr/>
        </p:nvCxnSpPr>
        <p:spPr>
          <a:xfrm>
            <a:off x="685800" y="3579222"/>
            <a:ext cx="7223760" cy="0"/>
          </a:xfrm>
          <a:prstGeom prst="line">
            <a:avLst/>
          </a:prstGeom>
          <a:ln w="6350">
            <a:solidFill>
              <a:srgbClr val="C9C5BC"/>
            </a:solidFill>
          </a:ln>
        </p:spPr>
      </p:cxnSp>
      <p:sp>
        <p:nvSpPr>
          <p:cNvPr id="15" name="TextBox 14"/>
          <p:cNvSpPr txBox="1"/>
          <p:nvPr/>
        </p:nvSpPr>
        <p:spPr>
          <a:xfrm>
            <a:off x="685800" y="3670662"/>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4</a:t>
            </a:r>
          </a:p>
        </p:txBody>
      </p:sp>
      <p:sp>
        <p:nvSpPr>
          <p:cNvPr id="16" name="TextBox 15"/>
          <p:cNvSpPr txBox="1"/>
          <p:nvPr/>
        </p:nvSpPr>
        <p:spPr>
          <a:xfrm>
            <a:off x="1234440" y="3670662"/>
            <a:ext cx="6675120" cy="568234"/>
          </a:xfrm>
          <a:prstGeom prst="rect">
            <a:avLst/>
          </a:prstGeom>
          <a:noFill/>
        </p:spPr>
        <p:txBody>
          <a:bodyPr wrap="square" lIns="0" rIns="0" tIns="18288" bIns="18288" anchor="t">
            <a:spAutoFit/>
          </a:bodyPr>
          <a:lstStyle/>
          <a:p>
            <a:pPr algn="l"/>
            <a:r>
              <a:rPr sz="2200" b="0" i="0">
                <a:solidFill>
                  <a:srgbClr val="1F2328"/>
                </a:solidFill>
                <a:latin typeface="Calibri"/>
              </a:rPr>
              <a:t>Test the occupation rule for a proxy gap</a:t>
            </a:r>
          </a:p>
        </p:txBody>
      </p:sp>
      <p:cxnSp>
        <p:nvCxnSpPr>
          <p:cNvPr id="17" name="Connector 16"/>
          <p:cNvCxnSpPr/>
          <p:nvPr/>
        </p:nvCxnSpPr>
        <p:spPr>
          <a:xfrm>
            <a:off x="685800" y="4238897"/>
            <a:ext cx="7223760" cy="0"/>
          </a:xfrm>
          <a:prstGeom prst="line">
            <a:avLst/>
          </a:prstGeom>
          <a:ln w="6350">
            <a:solidFill>
              <a:srgbClr val="C9C5BC"/>
            </a:solidFill>
          </a:ln>
        </p:spPr>
      </p:cxnSp>
      <p:sp>
        <p:nvSpPr>
          <p:cNvPr id="18" name="TextBox 17"/>
          <p:cNvSpPr txBox="1"/>
          <p:nvPr/>
        </p:nvSpPr>
        <p:spPr>
          <a:xfrm>
            <a:off x="685800" y="4330337"/>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5</a:t>
            </a:r>
          </a:p>
        </p:txBody>
      </p:sp>
      <p:sp>
        <p:nvSpPr>
          <p:cNvPr id="19" name="TextBox 18"/>
          <p:cNvSpPr txBox="1"/>
          <p:nvPr/>
        </p:nvSpPr>
        <p:spPr>
          <a:xfrm>
            <a:off x="1234440" y="4330337"/>
            <a:ext cx="6675120" cy="568234"/>
          </a:xfrm>
          <a:prstGeom prst="rect">
            <a:avLst/>
          </a:prstGeom>
          <a:noFill/>
        </p:spPr>
        <p:txBody>
          <a:bodyPr wrap="square" lIns="0" rIns="0" tIns="18288" bIns="18288" anchor="t">
            <a:spAutoFit/>
          </a:bodyPr>
          <a:lstStyle/>
          <a:p>
            <a:pPr algn="l"/>
            <a:r>
              <a:rPr sz="2200" b="0" i="0">
                <a:solidFill>
                  <a:srgbClr val="1F2328"/>
                </a:solidFill>
                <a:latin typeface="Calibri"/>
              </a:rPr>
              <a:t>Save and reload the model, then write app.py</a:t>
            </a:r>
          </a:p>
        </p:txBody>
      </p:sp>
      <p:cxnSp>
        <p:nvCxnSpPr>
          <p:cNvPr id="20" name="Connector 19"/>
          <p:cNvCxnSpPr/>
          <p:nvPr/>
        </p:nvCxnSpPr>
        <p:spPr>
          <a:xfrm>
            <a:off x="685800" y="4898571"/>
            <a:ext cx="7223760" cy="0"/>
          </a:xfrm>
          <a:prstGeom prst="line">
            <a:avLst/>
          </a:prstGeom>
          <a:ln w="6350">
            <a:solidFill>
              <a:srgbClr val="C9C5BC"/>
            </a:solidFill>
          </a:ln>
        </p:spPr>
      </p:cxnSp>
      <p:sp>
        <p:nvSpPr>
          <p:cNvPr id="21" name="TextBox 20"/>
          <p:cNvSpPr txBox="1"/>
          <p:nvPr/>
        </p:nvSpPr>
        <p:spPr>
          <a:xfrm>
            <a:off x="685800" y="4990011"/>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6</a:t>
            </a:r>
          </a:p>
        </p:txBody>
      </p:sp>
      <p:sp>
        <p:nvSpPr>
          <p:cNvPr id="22" name="TextBox 21"/>
          <p:cNvSpPr txBox="1"/>
          <p:nvPr/>
        </p:nvSpPr>
        <p:spPr>
          <a:xfrm>
            <a:off x="1234440" y="4990011"/>
            <a:ext cx="6675120" cy="568234"/>
          </a:xfrm>
          <a:prstGeom prst="rect">
            <a:avLst/>
          </a:prstGeom>
          <a:noFill/>
        </p:spPr>
        <p:txBody>
          <a:bodyPr wrap="square" lIns="0" rIns="0" tIns="18288" bIns="18288" anchor="t">
            <a:spAutoFit/>
          </a:bodyPr>
          <a:lstStyle/>
          <a:p>
            <a:pPr algn="l"/>
            <a:r>
              <a:rPr sz="2200" b="0" i="0">
                <a:solidFill>
                  <a:srgbClr val="1F2328"/>
                </a:solidFill>
                <a:latin typeface="Calibri"/>
              </a:rPr>
              <a:t>Complete the model card and data protection checklist</a:t>
            </a:r>
          </a:p>
        </p:txBody>
      </p:sp>
      <p:cxnSp>
        <p:nvCxnSpPr>
          <p:cNvPr id="23" name="Connector 22"/>
          <p:cNvCxnSpPr/>
          <p:nvPr/>
        </p:nvCxnSpPr>
        <p:spPr>
          <a:xfrm>
            <a:off x="685800" y="5558245"/>
            <a:ext cx="7223760" cy="0"/>
          </a:xfrm>
          <a:prstGeom prst="line">
            <a:avLst/>
          </a:prstGeom>
          <a:ln w="6350">
            <a:solidFill>
              <a:srgbClr val="C9C5BC"/>
            </a:solidFill>
          </a:ln>
        </p:spPr>
      </p:cxnSp>
      <p:sp>
        <p:nvSpPr>
          <p:cNvPr id="24" name="TextBox 23"/>
          <p:cNvSpPr txBox="1"/>
          <p:nvPr/>
        </p:nvSpPr>
        <p:spPr>
          <a:xfrm>
            <a:off x="685800" y="5649685"/>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7</a:t>
            </a:r>
          </a:p>
        </p:txBody>
      </p:sp>
      <p:sp>
        <p:nvSpPr>
          <p:cNvPr id="25" name="TextBox 24"/>
          <p:cNvSpPr txBox="1"/>
          <p:nvPr/>
        </p:nvSpPr>
        <p:spPr>
          <a:xfrm>
            <a:off x="1234440" y="5649685"/>
            <a:ext cx="6675120" cy="568234"/>
          </a:xfrm>
          <a:prstGeom prst="rect">
            <a:avLst/>
          </a:prstGeom>
          <a:noFill/>
        </p:spPr>
        <p:txBody>
          <a:bodyPr wrap="square" lIns="0" rIns="0" tIns="18288" bIns="18288" anchor="t">
            <a:spAutoFit/>
          </a:bodyPr>
          <a:lstStyle/>
          <a:p>
            <a:pPr algn="l"/>
            <a:r>
              <a:rPr sz="2200" b="0" i="0">
                <a:solidFill>
                  <a:srgbClr val="1F2328"/>
                </a:solidFill>
                <a:latin typeface="Calibri"/>
              </a:rPr>
              <a:t>Check Task 2 in a PivotTable and write one sentence</a:t>
            </a:r>
          </a:p>
        </p:txBody>
      </p:sp>
      <p:cxnSp>
        <p:nvCxnSpPr>
          <p:cNvPr id="26" name="Connector 25"/>
          <p:cNvCxnSpPr/>
          <p:nvPr/>
        </p:nvCxnSpPr>
        <p:spPr>
          <a:xfrm>
            <a:off x="685800" y="6217920"/>
            <a:ext cx="7223760" cy="0"/>
          </a:xfrm>
          <a:prstGeom prst="line">
            <a:avLst/>
          </a:prstGeom>
          <a:ln w="6350">
            <a:solidFill>
              <a:srgbClr val="C9C5BC"/>
            </a:solidFill>
          </a:ln>
        </p:spPr>
      </p:cxnSp>
      <p:cxnSp>
        <p:nvCxnSpPr>
          <p:cNvPr id="27" name="Connector 26"/>
          <p:cNvCxnSpPr/>
          <p:nvPr/>
        </p:nvCxnSpPr>
        <p:spPr>
          <a:xfrm>
            <a:off x="8458200" y="1600200"/>
            <a:ext cx="3047695" cy="0"/>
          </a:xfrm>
          <a:prstGeom prst="line">
            <a:avLst/>
          </a:prstGeom>
          <a:ln w="15875">
            <a:solidFill>
              <a:srgbClr val="1F2328"/>
            </a:solidFill>
          </a:ln>
        </p:spPr>
      </p:cxnSp>
      <p:sp>
        <p:nvSpPr>
          <p:cNvPr id="28" name="TextBox 27"/>
          <p:cNvSpPr txBox="1"/>
          <p:nvPr/>
        </p:nvSpPr>
        <p:spPr>
          <a:xfrm>
            <a:off x="8458200" y="1709928"/>
            <a:ext cx="3047695" cy="274320"/>
          </a:xfrm>
          <a:prstGeom prst="rect">
            <a:avLst/>
          </a:prstGeom>
          <a:noFill/>
        </p:spPr>
        <p:txBody>
          <a:bodyPr wrap="square" lIns="0" rIns="0" tIns="18288" bIns="18288" anchor="t">
            <a:spAutoFit/>
          </a:bodyPr>
          <a:lstStyle/>
          <a:p>
            <a:pPr algn="l"/>
            <a:r>
              <a:rPr sz="1400" b="0" i="0">
                <a:solidFill>
                  <a:srgbClr val="6A6F75"/>
                </a:solidFill>
                <a:latin typeface="Calibri"/>
              </a:rPr>
              <a:t>Tool and time</a:t>
            </a:r>
          </a:p>
        </p:txBody>
      </p:sp>
      <p:sp>
        <p:nvSpPr>
          <p:cNvPr id="29" name="TextBox 28"/>
          <p:cNvSpPr txBox="1"/>
          <p:nvPr/>
        </p:nvSpPr>
        <p:spPr>
          <a:xfrm>
            <a:off x="8458200" y="2011680"/>
            <a:ext cx="3047695" cy="1097280"/>
          </a:xfrm>
          <a:prstGeom prst="rect">
            <a:avLst/>
          </a:prstGeom>
          <a:noFill/>
        </p:spPr>
        <p:txBody>
          <a:bodyPr wrap="square" lIns="0" rIns="0" tIns="18288" bIns="18288" anchor="t">
            <a:spAutoFit/>
          </a:bodyPr>
          <a:lstStyle/>
          <a:p>
            <a:pPr algn="l"/>
            <a:r>
              <a:rPr sz="2100" b="1" i="0">
                <a:solidFill>
                  <a:srgbClr val="1F2328"/>
                </a:solidFill>
                <a:latin typeface="Cambria"/>
              </a:rPr>
              <a:t>Google Colab
40 minutes</a:t>
            </a:r>
          </a:p>
        </p:txBody>
      </p:sp>
      <p:cxnSp>
        <p:nvCxnSpPr>
          <p:cNvPr id="30" name="Connector 29"/>
          <p:cNvCxnSpPr/>
          <p:nvPr/>
        </p:nvCxnSpPr>
        <p:spPr>
          <a:xfrm>
            <a:off x="8458200" y="3200400"/>
            <a:ext cx="3047695" cy="0"/>
          </a:xfrm>
          <a:prstGeom prst="line">
            <a:avLst/>
          </a:prstGeom>
          <a:ln w="6350">
            <a:solidFill>
              <a:srgbClr val="C9C5BC"/>
            </a:solidFill>
          </a:ln>
        </p:spPr>
      </p:cxnSp>
      <p:sp>
        <p:nvSpPr>
          <p:cNvPr id="31" name="TextBox 30"/>
          <p:cNvSpPr txBox="1"/>
          <p:nvPr/>
        </p:nvSpPr>
        <p:spPr>
          <a:xfrm>
            <a:off x="8458200" y="3310128"/>
            <a:ext cx="3047695" cy="274320"/>
          </a:xfrm>
          <a:prstGeom prst="rect">
            <a:avLst/>
          </a:prstGeom>
          <a:noFill/>
        </p:spPr>
        <p:txBody>
          <a:bodyPr wrap="square" lIns="0" rIns="0" tIns="18288" bIns="18288" anchor="t">
            <a:spAutoFit/>
          </a:bodyPr>
          <a:lstStyle/>
          <a:p>
            <a:pPr algn="l"/>
            <a:r>
              <a:rPr sz="1400" b="0" i="0">
                <a:solidFill>
                  <a:srgbClr val="6A6F75"/>
                </a:solidFill>
                <a:latin typeface="Calibri"/>
              </a:rPr>
              <a:t>You are done when</a:t>
            </a:r>
          </a:p>
        </p:txBody>
      </p:sp>
      <p:sp>
        <p:nvSpPr>
          <p:cNvPr id="32" name="TextBox 31"/>
          <p:cNvSpPr txBox="1"/>
          <p:nvPr/>
        </p:nvSpPr>
        <p:spPr>
          <a:xfrm>
            <a:off x="8458200" y="3611880"/>
            <a:ext cx="3047695" cy="2606039"/>
          </a:xfrm>
          <a:prstGeom prst="rect">
            <a:avLst/>
          </a:prstGeom>
          <a:noFill/>
        </p:spPr>
        <p:txBody>
          <a:bodyPr wrap="square" lIns="0" rIns="0" tIns="18288" bIns="18288" anchor="t">
            <a:spAutoFit/>
          </a:bodyPr>
          <a:lstStyle/>
          <a:p>
            <a:pPr algn="l"/>
            <a:r>
              <a:rPr sz="2100" b="0" i="0">
                <a:solidFill>
                  <a:srgbClr val="1F2328"/>
                </a:solidFill>
                <a:latin typeface="Calibri"/>
              </a:rPr>
              <a:t>Your seeded draws match, your gaps are measured, and your model card has all five sections.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Questions to finish</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23   Ship it: reproducible work, a small app and responsible use</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22</a:t>
            </a:r>
          </a:p>
        </p:txBody>
      </p:sp>
      <p:cxnSp>
        <p:nvCxnSpPr>
          <p:cNvPr id="5" name="Connector 4"/>
          <p:cNvCxnSpPr/>
          <p:nvPr/>
        </p:nvCxnSpPr>
        <p:spPr>
          <a:xfrm>
            <a:off x="685800" y="1600200"/>
            <a:ext cx="10820095" cy="0"/>
          </a:xfrm>
          <a:prstGeom prst="line">
            <a:avLst/>
          </a:prstGeom>
          <a:ln w="15875">
            <a:solidFill>
              <a:srgbClr val="1F2328"/>
            </a:solidFill>
          </a:ln>
        </p:spPr>
      </p:cxnSp>
      <p:sp>
        <p:nvSpPr>
          <p:cNvPr id="6" name="TextBox 5"/>
          <p:cNvSpPr txBox="1"/>
          <p:nvPr/>
        </p:nvSpPr>
        <p:spPr>
          <a:xfrm>
            <a:off x="685800" y="1691640"/>
            <a:ext cx="457200" cy="708050"/>
          </a:xfrm>
          <a:prstGeom prst="rect">
            <a:avLst/>
          </a:prstGeom>
          <a:noFill/>
        </p:spPr>
        <p:txBody>
          <a:bodyPr wrap="square" lIns="0" rIns="0" tIns="18288" bIns="18288" anchor="t">
            <a:spAutoFit/>
          </a:bodyPr>
          <a:lstStyle/>
          <a:p>
            <a:pPr algn="l"/>
            <a:r>
              <a:rPr sz="2600" b="1" i="0">
                <a:solidFill>
                  <a:srgbClr val="B04A2B"/>
                </a:solidFill>
                <a:latin typeface="Cambria"/>
              </a:rPr>
              <a:t>1</a:t>
            </a:r>
          </a:p>
        </p:txBody>
      </p:sp>
      <p:sp>
        <p:nvSpPr>
          <p:cNvPr id="7" name="TextBox 6"/>
          <p:cNvSpPr txBox="1"/>
          <p:nvPr/>
        </p:nvSpPr>
        <p:spPr>
          <a:xfrm>
            <a:off x="1234440" y="1691640"/>
            <a:ext cx="10271455" cy="708050"/>
          </a:xfrm>
          <a:prstGeom prst="rect">
            <a:avLst/>
          </a:prstGeom>
          <a:noFill/>
        </p:spPr>
        <p:txBody>
          <a:bodyPr wrap="square" lIns="0" rIns="0" tIns="18288" bIns="18288" anchor="t">
            <a:spAutoFit/>
          </a:bodyPr>
          <a:lstStyle/>
          <a:p>
            <a:pPr algn="l"/>
            <a:r>
              <a:rPr sz="2400" b="1" i="0">
                <a:solidFill>
                  <a:srgbClr val="1F2328"/>
                </a:solidFill>
                <a:latin typeface="Cambria"/>
              </a:rPr>
              <a:t>Name three habits that let a colleague repeat your notebook.</a:t>
            </a:r>
          </a:p>
        </p:txBody>
      </p:sp>
      <p:grpSp>
        <p:nvGrpSpPr>
          <p:cNvPr id="8" name="answer-1"/>
          <p:cNvGrpSpPr/>
          <p:nvPr/>
        </p:nvGrpSpPr>
        <p:grpSpPr>
          <a:xfrm>
            <a:off x="1234440" y="2399690"/>
            <a:ext cx="10271455" cy="648309"/>
            <a:chOff x="1234440" y="2399690"/>
            <a:chExt cx="10271455" cy="648309"/>
          </a:xfrm>
        </p:grpSpPr>
        <p:sp>
          <p:nvSpPr>
            <p:cNvPr id="9" name="TextBox 8"/>
            <p:cNvSpPr txBox="1"/>
            <p:nvPr/>
          </p:nvSpPr>
          <p:spPr>
            <a:xfrm>
              <a:off x="1234440" y="2399690"/>
              <a:ext cx="10271455" cy="648309"/>
            </a:xfrm>
            <a:prstGeom prst="rect">
              <a:avLst/>
            </a:prstGeom>
            <a:noFill/>
          </p:spPr>
          <p:txBody>
            <a:bodyPr wrap="square" lIns="0" rIns="0" tIns="18288" bIns="18288" anchor="t">
              <a:spAutoFit/>
            </a:bodyPr>
            <a:lstStyle/>
            <a:p>
              <a:pPr algn="l"/>
              <a:r>
                <a:rPr sz="2200" b="0" i="0">
                  <a:solidFill>
                    <a:srgbClr val="3B4046"/>
                  </a:solidFill>
                  <a:latin typeface="Calibri"/>
                </a:rPr>
                <a:t>Set the seed, write down the library versions, and restart and run all from the top.</a:t>
              </a:r>
            </a:p>
          </p:txBody>
        </p:sp>
      </p:grpSp>
      <p:cxnSp>
        <p:nvCxnSpPr>
          <p:cNvPr id="10" name="Connector 9"/>
          <p:cNvCxnSpPr/>
          <p:nvPr/>
        </p:nvCxnSpPr>
        <p:spPr>
          <a:xfrm>
            <a:off x="685800" y="3139440"/>
            <a:ext cx="10820095" cy="0"/>
          </a:xfrm>
          <a:prstGeom prst="line">
            <a:avLst/>
          </a:prstGeom>
          <a:ln w="6350">
            <a:solidFill>
              <a:srgbClr val="C9C5BC"/>
            </a:solidFill>
          </a:ln>
        </p:spPr>
      </p:cxnSp>
      <p:sp>
        <p:nvSpPr>
          <p:cNvPr id="11" name="TextBox 10"/>
          <p:cNvSpPr txBox="1"/>
          <p:nvPr/>
        </p:nvSpPr>
        <p:spPr>
          <a:xfrm>
            <a:off x="685800" y="3230880"/>
            <a:ext cx="457200" cy="708050"/>
          </a:xfrm>
          <a:prstGeom prst="rect">
            <a:avLst/>
          </a:prstGeom>
          <a:noFill/>
        </p:spPr>
        <p:txBody>
          <a:bodyPr wrap="square" lIns="0" rIns="0" tIns="18288" bIns="18288" anchor="t">
            <a:spAutoFit/>
          </a:bodyPr>
          <a:lstStyle/>
          <a:p>
            <a:pPr algn="l"/>
            <a:r>
              <a:rPr sz="2600" b="1" i="0">
                <a:solidFill>
                  <a:srgbClr val="B04A2B"/>
                </a:solidFill>
                <a:latin typeface="Cambria"/>
              </a:rPr>
              <a:t>2</a:t>
            </a:r>
          </a:p>
        </p:txBody>
      </p:sp>
      <p:sp>
        <p:nvSpPr>
          <p:cNvPr id="12" name="TextBox 11"/>
          <p:cNvSpPr txBox="1"/>
          <p:nvPr/>
        </p:nvSpPr>
        <p:spPr>
          <a:xfrm>
            <a:off x="1234440" y="3230880"/>
            <a:ext cx="10271455" cy="708050"/>
          </a:xfrm>
          <a:prstGeom prst="rect">
            <a:avLst/>
          </a:prstGeom>
          <a:noFill/>
        </p:spPr>
        <p:txBody>
          <a:bodyPr wrap="square" lIns="0" rIns="0" tIns="18288" bIns="18288" anchor="t">
            <a:spAutoFit/>
          </a:bodyPr>
          <a:lstStyle/>
          <a:p>
            <a:pPr algn="l"/>
            <a:r>
              <a:rPr sz="2150" b="1" i="0">
                <a:solidFill>
                  <a:srgbClr val="1F2328"/>
                </a:solidFill>
                <a:latin typeface="Cambria"/>
              </a:rPr>
              <a:t>A rule never uses gender but flags 46 percent of men and 29 percent of women. What is going on, and what do you do?</a:t>
            </a:r>
          </a:p>
        </p:txBody>
      </p:sp>
      <p:grpSp>
        <p:nvGrpSpPr>
          <p:cNvPr id="13" name="answer-2"/>
          <p:cNvGrpSpPr/>
          <p:nvPr/>
        </p:nvGrpSpPr>
        <p:grpSpPr>
          <a:xfrm>
            <a:off x="1234440" y="3938930"/>
            <a:ext cx="10271455" cy="648309"/>
            <a:chOff x="1234440" y="3938930"/>
            <a:chExt cx="10271455" cy="648309"/>
          </a:xfrm>
        </p:grpSpPr>
        <p:sp>
          <p:nvSpPr>
            <p:cNvPr id="14" name="TextBox 13"/>
            <p:cNvSpPr txBox="1"/>
            <p:nvPr/>
          </p:nvSpPr>
          <p:spPr>
            <a:xfrm>
              <a:off x="1234440" y="3938930"/>
              <a:ext cx="10271455" cy="648309"/>
            </a:xfrm>
            <a:prstGeom prst="rect">
              <a:avLst/>
            </a:prstGeom>
            <a:noFill/>
          </p:spPr>
          <p:txBody>
            <a:bodyPr wrap="square" lIns="0" rIns="0" tIns="18288" bIns="18288" anchor="t">
              <a:spAutoFit/>
            </a:bodyPr>
            <a:lstStyle/>
            <a:p>
              <a:pPr algn="l"/>
              <a:r>
                <a:rPr sz="2100" b="0" i="0">
                  <a:solidFill>
                    <a:srgbClr val="3B4046"/>
                  </a:solidFill>
                  <a:latin typeface="Calibri"/>
                </a:rPr>
                <a:t>Occupation is a proxy for gender. Measure rates by group, report the gap, and justify the rule.</a:t>
              </a:r>
            </a:p>
          </p:txBody>
        </p:sp>
      </p:grpSp>
      <p:cxnSp>
        <p:nvCxnSpPr>
          <p:cNvPr id="15" name="Connector 14"/>
          <p:cNvCxnSpPr/>
          <p:nvPr/>
        </p:nvCxnSpPr>
        <p:spPr>
          <a:xfrm>
            <a:off x="685800" y="4678680"/>
            <a:ext cx="10820095" cy="0"/>
          </a:xfrm>
          <a:prstGeom prst="line">
            <a:avLst/>
          </a:prstGeom>
          <a:ln w="6350">
            <a:solidFill>
              <a:srgbClr val="C9C5BC"/>
            </a:solidFill>
          </a:ln>
        </p:spPr>
      </p:cxnSp>
      <p:sp>
        <p:nvSpPr>
          <p:cNvPr id="16" name="TextBox 15"/>
          <p:cNvSpPr txBox="1"/>
          <p:nvPr/>
        </p:nvSpPr>
        <p:spPr>
          <a:xfrm>
            <a:off x="685800" y="4770120"/>
            <a:ext cx="457200" cy="708050"/>
          </a:xfrm>
          <a:prstGeom prst="rect">
            <a:avLst/>
          </a:prstGeom>
          <a:noFill/>
        </p:spPr>
        <p:txBody>
          <a:bodyPr wrap="square" lIns="0" rIns="0" tIns="18288" bIns="18288" anchor="t">
            <a:spAutoFit/>
          </a:bodyPr>
          <a:lstStyle/>
          <a:p>
            <a:pPr algn="l"/>
            <a:r>
              <a:rPr sz="2600" b="1" i="0">
                <a:solidFill>
                  <a:srgbClr val="B04A2B"/>
                </a:solidFill>
                <a:latin typeface="Cambria"/>
              </a:rPr>
              <a:t>3</a:t>
            </a:r>
          </a:p>
        </p:txBody>
      </p:sp>
      <p:sp>
        <p:nvSpPr>
          <p:cNvPr id="17" name="TextBox 16"/>
          <p:cNvSpPr txBox="1"/>
          <p:nvPr/>
        </p:nvSpPr>
        <p:spPr>
          <a:xfrm>
            <a:off x="1234440" y="4770120"/>
            <a:ext cx="10271455" cy="708050"/>
          </a:xfrm>
          <a:prstGeom prst="rect">
            <a:avLst/>
          </a:prstGeom>
          <a:noFill/>
        </p:spPr>
        <p:txBody>
          <a:bodyPr wrap="square" lIns="0" rIns="0" tIns="18288" bIns="18288" anchor="t">
            <a:spAutoFit/>
          </a:bodyPr>
          <a:lstStyle/>
          <a:p>
            <a:pPr algn="l"/>
            <a:r>
              <a:rPr sz="2150" b="1" i="0">
                <a:solidFill>
                  <a:srgbClr val="1F2328"/>
                </a:solidFill>
                <a:latin typeface="Cambria"/>
              </a:rPr>
              <a:t>Which office regulates data protection in Uganda, and name two rights of a data subject.</a:t>
            </a:r>
          </a:p>
        </p:txBody>
      </p:sp>
      <p:grpSp>
        <p:nvGrpSpPr>
          <p:cNvPr id="18" name="answer-3"/>
          <p:cNvGrpSpPr/>
          <p:nvPr/>
        </p:nvGrpSpPr>
        <p:grpSpPr>
          <a:xfrm>
            <a:off x="1234440" y="5478170"/>
            <a:ext cx="10271455" cy="648309"/>
            <a:chOff x="1234440" y="5478170"/>
            <a:chExt cx="10271455" cy="648309"/>
          </a:xfrm>
        </p:grpSpPr>
        <p:sp>
          <p:nvSpPr>
            <p:cNvPr id="19" name="TextBox 18"/>
            <p:cNvSpPr txBox="1"/>
            <p:nvPr/>
          </p:nvSpPr>
          <p:spPr>
            <a:xfrm>
              <a:off x="1234440" y="5478170"/>
              <a:ext cx="10271455" cy="648309"/>
            </a:xfrm>
            <a:prstGeom prst="rect">
              <a:avLst/>
            </a:prstGeom>
            <a:noFill/>
          </p:spPr>
          <p:txBody>
            <a:bodyPr wrap="square" lIns="0" rIns="0" tIns="18288" bIns="18288" anchor="t">
              <a:spAutoFit/>
            </a:bodyPr>
            <a:lstStyle/>
            <a:p>
              <a:pPr algn="l"/>
              <a:r>
                <a:rPr sz="1950" b="0" i="0">
                  <a:solidFill>
                    <a:srgbClr val="3B4046"/>
                  </a:solidFill>
                  <a:latin typeface="Calibri"/>
                </a:rPr>
                <a:t>The Personal Data Protection Office, under NITA. Rights: access, correction, erasure, preventing automated decisions.</a:t>
              </a:r>
            </a:p>
          </p:txBody>
        </p:sp>
      </p:grpSp>
      <p:cxnSp>
        <p:nvCxnSpPr>
          <p:cNvPr id="20" name="Connector 19"/>
          <p:cNvCxnSpPr/>
          <p:nvPr/>
        </p:nvCxnSpPr>
        <p:spPr>
          <a:xfrm>
            <a:off x="685800" y="6217920"/>
            <a:ext cx="10820095" cy="0"/>
          </a:xfrm>
          <a:prstGeom prst="line">
            <a:avLst/>
          </a:prstGeom>
          <a:ln w="6350">
            <a:solidFill>
              <a:srgbClr val="C9C5BC"/>
            </a:solidFill>
          </a:ln>
        </p:spPr>
      </p:cxn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Summary</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23   Ship it: reproducible work, a small app and responsible use</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23</a:t>
            </a:r>
          </a:p>
        </p:txBody>
      </p:sp>
      <p:cxnSp>
        <p:nvCxnSpPr>
          <p:cNvPr id="5" name="Connector 4"/>
          <p:cNvCxnSpPr/>
          <p:nvPr/>
        </p:nvCxnSpPr>
        <p:spPr>
          <a:xfrm>
            <a:off x="685800" y="1600200"/>
            <a:ext cx="10820095" cy="0"/>
          </a:xfrm>
          <a:prstGeom prst="line">
            <a:avLst/>
          </a:prstGeom>
          <a:ln w="15875">
            <a:solidFill>
              <a:srgbClr val="1F2328"/>
            </a:solidFill>
          </a:ln>
        </p:spPr>
      </p:cxnSp>
      <p:sp>
        <p:nvSpPr>
          <p:cNvPr id="6" name="TextBox 5"/>
          <p:cNvSpPr txBox="1"/>
          <p:nvPr/>
        </p:nvSpPr>
        <p:spPr>
          <a:xfrm>
            <a:off x="685800" y="1691640"/>
            <a:ext cx="9875520" cy="1142999"/>
          </a:xfrm>
          <a:prstGeom prst="rect">
            <a:avLst/>
          </a:prstGeom>
          <a:noFill/>
        </p:spPr>
        <p:txBody>
          <a:bodyPr wrap="square" lIns="0" rIns="0" tIns="18288" bIns="18288" anchor="ctr">
            <a:spAutoFit/>
          </a:bodyPr>
          <a:lstStyle/>
          <a:p>
            <a:pPr algn="l"/>
            <a:r>
              <a:rPr sz="2600" b="0" i="0">
                <a:solidFill>
                  <a:srgbClr val="1F2328"/>
                </a:solidFill>
                <a:latin typeface="Cambria"/>
              </a:rPr>
              <a:t>Make it repeatable: seed, versions, run top to bottom. Save with joblib, share on GitHub, serve with Streamlit.</a:t>
            </a:r>
          </a:p>
        </p:txBody>
      </p:sp>
      <p:cxnSp>
        <p:nvCxnSpPr>
          <p:cNvPr id="7" name="Connector 6"/>
          <p:cNvCxnSpPr/>
          <p:nvPr/>
        </p:nvCxnSpPr>
        <p:spPr>
          <a:xfrm>
            <a:off x="685800" y="2834639"/>
            <a:ext cx="10820095" cy="0"/>
          </a:xfrm>
          <a:prstGeom prst="line">
            <a:avLst/>
          </a:prstGeom>
          <a:ln w="6350">
            <a:solidFill>
              <a:srgbClr val="C9C5BC"/>
            </a:solidFill>
          </a:ln>
        </p:spPr>
      </p:cxnSp>
      <p:sp>
        <p:nvSpPr>
          <p:cNvPr id="8" name="TextBox 7"/>
          <p:cNvSpPr txBox="1"/>
          <p:nvPr/>
        </p:nvSpPr>
        <p:spPr>
          <a:xfrm>
            <a:off x="685800" y="2926079"/>
            <a:ext cx="9875520" cy="1142999"/>
          </a:xfrm>
          <a:prstGeom prst="rect">
            <a:avLst/>
          </a:prstGeom>
          <a:noFill/>
        </p:spPr>
        <p:txBody>
          <a:bodyPr wrap="square" lIns="0" rIns="0" tIns="18288" bIns="18288" anchor="ctr">
            <a:spAutoFit/>
          </a:bodyPr>
          <a:lstStyle/>
          <a:p>
            <a:pPr algn="l"/>
            <a:r>
              <a:rPr sz="2600" b="0" i="0">
                <a:solidFill>
                  <a:srgbClr val="1F2328"/>
                </a:solidFill>
                <a:latin typeface="Cambria"/>
              </a:rPr>
              <a:t>Govern it: a model card, a drift watch, and rates for every group, including through proxies.</a:t>
            </a:r>
          </a:p>
        </p:txBody>
      </p:sp>
      <p:cxnSp>
        <p:nvCxnSpPr>
          <p:cNvPr id="9" name="Connector 8"/>
          <p:cNvCxnSpPr/>
          <p:nvPr/>
        </p:nvCxnSpPr>
        <p:spPr>
          <a:xfrm>
            <a:off x="685800" y="4069079"/>
            <a:ext cx="10820095" cy="0"/>
          </a:xfrm>
          <a:prstGeom prst="line">
            <a:avLst/>
          </a:prstGeom>
          <a:ln w="6350">
            <a:solidFill>
              <a:srgbClr val="C9C5BC"/>
            </a:solidFill>
          </a:ln>
        </p:spPr>
      </p:cxnSp>
      <p:sp>
        <p:nvSpPr>
          <p:cNvPr id="10" name="TextBox 9"/>
          <p:cNvSpPr txBox="1"/>
          <p:nvPr/>
        </p:nvSpPr>
        <p:spPr>
          <a:xfrm>
            <a:off x="685800" y="4160519"/>
            <a:ext cx="9875520" cy="1142999"/>
          </a:xfrm>
          <a:prstGeom prst="rect">
            <a:avLst/>
          </a:prstGeom>
          <a:noFill/>
        </p:spPr>
        <p:txBody>
          <a:bodyPr wrap="square" lIns="0" rIns="0" tIns="18288" bIns="18288" anchor="ctr">
            <a:spAutoFit/>
          </a:bodyPr>
          <a:lstStyle/>
          <a:p>
            <a:pPr algn="l"/>
            <a:r>
              <a:rPr sz="2600" b="0" i="0">
                <a:solidFill>
                  <a:srgbClr val="1F2328"/>
                </a:solidFill>
                <a:latin typeface="Cambria"/>
              </a:rPr>
              <a:t>Know the duty: Uganda's 2019 Act protects personal data. This is a summary and not legal advice.</a:t>
            </a:r>
          </a:p>
        </p:txBody>
      </p:sp>
      <p:cxnSp>
        <p:nvCxnSpPr>
          <p:cNvPr id="11" name="Connector 10"/>
          <p:cNvCxnSpPr/>
          <p:nvPr/>
        </p:nvCxnSpPr>
        <p:spPr>
          <a:xfrm>
            <a:off x="685800" y="5303519"/>
            <a:ext cx="10820095" cy="0"/>
          </a:xfrm>
          <a:prstGeom prst="line">
            <a:avLst/>
          </a:prstGeom>
          <a:ln w="6350">
            <a:solidFill>
              <a:srgbClr val="C9C5BC"/>
            </a:solidFill>
          </a:ln>
        </p:spPr>
      </p:cxnSp>
      <p:sp>
        <p:nvSpPr>
          <p:cNvPr id="12" name="TextBox 11"/>
          <p:cNvSpPr txBox="1"/>
          <p:nvPr/>
        </p:nvSpPr>
        <p:spPr>
          <a:xfrm>
            <a:off x="685800" y="5623559"/>
            <a:ext cx="10820095" cy="548640"/>
          </a:xfrm>
          <a:prstGeom prst="rect">
            <a:avLst/>
          </a:prstGeom>
          <a:noFill/>
        </p:spPr>
        <p:txBody>
          <a:bodyPr wrap="square" lIns="0" rIns="0" tIns="18288" bIns="18288" anchor="t">
            <a:spAutoFit/>
          </a:bodyPr>
          <a:lstStyle/>
          <a:p>
            <a:pPr algn="l"/>
            <a:r>
              <a:rPr sz="2200" b="1" i="0">
                <a:solidFill>
                  <a:srgbClr val="B04A2B"/>
                </a:solidFill>
                <a:latin typeface="Calibri"/>
              </a:rPr>
              <a:t>Next session. </a:t>
            </a:r>
            <a:r>
              <a:rPr sz="2200" b="0" i="0">
                <a:solidFill>
                  <a:srgbClr val="1F2328"/>
                </a:solidFill>
                <a:latin typeface="Calibri"/>
              </a:rPr>
              <a:t>Capstone presentations and your path from here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