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question is what the law requires when an AI system reads personal data. Kitara's thirty claims letters hold phone numbers, customer numbers and national identity numbers, and one letter holds a health detail. You'll watch a short program find that data and mask it, and then delete one customer's letter from the search index and prove it is gone. We also compare how Uganda, Kenya, Rwanda and Tanzania treat data that moves abroad. This session moves the protection and law dimension, and it leans on people and governance, because every rule here asks who answers for the data. Everything is a teaching summary and is not legal advice.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ends with three abilities. You'll name the principles and rights in the Uganda Data Protection and Privacy Act, 2019, and say what each one means for a search index. You'll compare the rules on registration and on moving data abroad in four East African countries. And you'll find personal data with patterns, mask it, and check a list of chunks before anything enters the index. The live part runs on Kitara's claims letters and customer table. The workshop is your own data protection map, which shows where personal data sits, which law applies and what leaves the country.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terms, and the first three come straight from the law. Personal data is information that identifies a living person. Special categories are kinds that the law treats with extra care, such as health. The controller is the organisation that decides why and how the data is used. A cross border transfer is storing or processing data in another country. Masking replaces a value with a labelled token. Data minimisation means using only what the purpose needs. An erasure request is a person asking for their data to be deleted. The data protection map is today's workpiece.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about the pipeline from last session. A nightly job failed halfway and was run again. What does idempotent mean, and how did the Kitara test show it? Have a think.</a:t>
            </a:r>
          </a:p>
          <a:p/>
          <a:p>
            <a:r>
              <a:t>It means safe to run twice and get the same result. With a key on the transaction number, the cleaned file held nineteen thousand seven hundred rows after one run and after two. Without the key, the second run gave thirty nine thousand four hundred. Second question. Our reference path had a personal data check before the serving zone. Why does it sit there? Let's hear your answer first.</a:t>
            </a:r>
          </a:p>
          <a:p/>
          <a:p>
            <a:r>
              <a:t>Because anything that reaches the serving zone can reach the search index and the dashboards, so the data has to be found and masked before that point. The permission filter from Session 7 decides who sees a chunk. It says nothing about what the chunk contains. Today we find that data, mask it, and look at what the law says about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term that the whole law rests on. Personal data is any information that identifies a living person, or could identify that person when you put it together with other data. A name is obvious. A phone number, a customer number and a national identity number are just as clear. A date and a place can be enough when they sit side by side.</a:t>
            </a:r>
          </a:p>
          <a:p/>
          <a:p>
            <a:r>
              <a:t>Some kinds need extra care. Health details are the clearest case, and most laws list a few more. At Kitara, thirty of the thirty two flagged documents are claims letters. All thirty hold a customer number and a name. Twenty hold a national identity number. One of them, Letter 11, tells us about an illness and dialysis.</a:t>
            </a:r>
          </a:p>
          <a:p/>
          <a:p>
            <a:r>
              <a:t>Now think about your own organisation. Which three kinds of personal data could a member of your staff paste into an AI tool tomorrow morning?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Uganda Data Protection and Privacy Act, 2019 rests on seven principles. This is a teaching summary, so check the current text with your legal adviser. I've added the third column because a principle matters only when it changes what you build.</a:t>
            </a:r>
          </a:p>
          <a:p/>
          <a:p>
            <a:r>
              <a:t>Three of them hit a search index hardest. Collecting data that is adequate, relevant and not excessive means you don't index a customer table with fourteen columns when a product question needs four. Keeping data only as long as needed means every chunk carries a retention date. Safety and security means the permission filter you built last session, the masking you'll see today, and a log that few people can read.</a:t>
            </a:r>
          </a:p>
          <a:p/>
          <a:p>
            <a:r>
              <a:t>Accountability sits over the rest. Someone must answer to the person whose data it is. Who is that for your index? In the workshop you will write that name down.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 also gives people rights, and each one turns into a task for whoever runs the search. A person can ask to see their data, so you must be able to find every chunk that names them. A person can ask you to stop processing it, and to stop using it for direct marketing.</a:t>
            </a:r>
          </a:p>
          <a:p/>
          <a:p>
            <a:r>
              <a:t>A person can ask for correction, blocking, erasure and destruction. That one surprises teams. Deleting a letter from the shared drive does nothing to its copy in the index, and we test that in the demonstration.</a:t>
            </a:r>
          </a:p>
          <a:p/>
          <a:p>
            <a:r>
              <a:t>The fourth right concerns automated decisions. A person has rights when a machine takes a decision about them. At Kitara a claims assistant can sort letters and draft replies. A claims officer decides. Design it that way from the start, and write down who the officer 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duties sit with the organisation, which the law calls the controller. For Kitara that means Kitara Bank and Kitara Assurance.</a:t>
            </a:r>
          </a:p>
          <a:p/>
          <a:p>
            <a:r>
              <a:t>The first is to register. Controllers register with the Personal Data Protection Office, the PDPO, an independent office under NITA-U. The reach goes beyond Uganda. In July 2025 the PDPO was reported to have found Google in breach for not registering, as CIPESA and DLA Piper reported.</a:t>
            </a:r>
          </a:p>
          <a:p/>
          <a:p>
            <a:r>
              <a:t>The second is to keep records. Processing or storage outside Uganda is reported to need equivalent protection or the person's consent. DLA Piper reports that the PDPO does not approve each transfer, and expects your reasons on file.</a:t>
            </a:r>
          </a:p>
          <a:p/>
          <a:p>
            <a:r>
              <a:t>The third is to report breaches to the PDPO promptly. Kitara's own security policy says seventy two hours, and our document set holds a notice from a fictional regulator that says the same. Neither is the real law, so use the wording of the current Act and the PDPO guidance.</a:t>
            </a:r>
          </a:p>
          <a:p/>
          <a:p>
            <a:r>
              <a:t>Put all three on your map as questions. Are we registered, where are our reasons kept, and who files a breach report?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four regimes side by side. Everything on the table comes from secondary sources, such as law firm notes and guidance pages, so check the current text before you rely on any row.</a:t>
            </a:r>
          </a:p>
          <a:p/>
          <a:p>
            <a:r>
              <a:t>Uganda we have just covered. Controllers register, and data sent abroad needs equivalent protection or consent.</a:t>
            </a:r>
          </a:p>
          <a:p/>
          <a:p>
            <a:r>
              <a:t>Kenya's Data Protection Act of 2019 has the Office of the Data Protection Commissioner as regulator. Registration is reported to be mandatory. A targeted localisation rule covers some categories of data, and the exact categories are unconfirmed. The office is reported to have issued cross border guidance in 2026.</a:t>
            </a:r>
          </a:p>
          <a:p/>
          <a:p>
            <a:r>
              <a:t>Rwanda's Law fifty eight of 2021 sends transfers abroad through authorisation from the National Cyber Security Authority, or another listed ground. Offshore storage needs a registration certificate, and the Authority can suspend transfers.</a:t>
            </a:r>
          </a:p>
          <a:p/>
          <a:p>
            <a:r>
              <a:t>Tanzania's Act of 2022 asks for adequacy or safeguards plus a permit from the Commission. Registration is mandatory, and its window is reported to have closed in April 2026, with enforcement after it. Check the current position.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Kitara's hosting_options.csv lists a regional cloud in South Africa as one of four ways to run the search. It sits outside Uganda and Kenya, and the legal check written beside it reads: check the legal basis and safeguards for sending Ugandan and Kenyan personal data abroad. Session 10 prices that option. Today we ask what it needs in law.</a:t>
            </a:r>
          </a:p>
          <a:p/>
          <a:p>
            <a:r>
              <a:t>Uganda wants equivalent protection or consent. Commentary reports that there is no list of approved countries, so a firm makes its own assessment and keeps it on file.</a:t>
            </a:r>
          </a:p>
          <a:p/>
          <a:p>
            <a:r>
              <a:t>For Kenya, ask whether any of the data must stay in the country, and read the 2026 guidance for your route.</a:t>
            </a:r>
          </a:p>
          <a:p/>
          <a:p>
            <a:r>
              <a:t>Rwanda and Tanzania matter once you serve customers there, and both ask for permission in advance. Rwanda wants a certificate and an authorisation. Tanzania wants a permit.</a:t>
            </a:r>
          </a:p>
          <a:p/>
          <a:p>
            <a:r>
              <a:t>Four countries give four different answers, and one question comes back to you. Who signs off a transfer? That person needs the authority to accept the legal risk, and should hear from your data protection officer first.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law, for firms with customers in Europe. The EU AI Act has an Article 10 on data and data governance. It matters to you only if you place a high-risk AI system on the European market, or use one there. A staff search over policies looks unlikely to count as high-risk, and your legal adviser should confirm it.</a:t>
            </a:r>
          </a:p>
          <a:p/>
          <a:p>
            <a:r>
              <a:t>On the left is what Article 10 asks of high-risk systems. Written practices for how data is collected, labelled and cleaned. Checks for bias. And data sets that are relevant, representative, and as complete and error free as possible. It is good practice for any firm.</a:t>
            </a:r>
          </a:p>
          <a:p/>
          <a:p>
            <a:r>
              <a:t>On the right are the dates, as reported. A law called the Digital Omnibus on AI, reported as Regulation 2026 slash 1744, came into force on 27 July 2026. It is reported to move the high-risk duties for the Annex III uses, which include Article 10, to 2 December 2027, and for product systems to 2 August 2028. Those dates come from law firm notes and other secondary sources, so read the text itself before you plan around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write any code, here is what a pattern search finds in the thirty claims letters. Letters 1 to 30, documents D092 to D121.</a:t>
            </a:r>
          </a:p>
          <a:p/>
          <a:p>
            <a:r>
              <a:t>Phone numbers lead with forty nine matches, and titled names such as Mr or Mrs come second with thirty seven. The name pattern is a rough one, and I'll come back to its limits.</a:t>
            </a:r>
          </a:p>
          <a:p/>
          <a:p>
            <a:r>
              <a:t>Customer ids are next. Thirty matches, one in every letter. The clay bar is the national identity number, twenty matches. The twenty letters that contain one are the ones where a leak would hurt most, because a national identity number is the most sensitive of the five.</a:t>
            </a:r>
          </a:p>
          <a:p/>
          <a:p>
            <a:r>
              <a:t>Emails show zero. None of the letters gives an email address, and that zero is a finding. The pattern has nothing to catch here, and the emails sit in the customer table. customers.csv has three thousand three hundred and seventy seven emails in its five thousand rows, and four thousand four hundred and fifty national identity numbers. That table is why Task 5 in the notebook exists.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program behind the chart. It takes about twenty seconds, because eight of the documents are scans and the computer has to read them first.</a:t>
            </a:r>
          </a:p>
          <a:p/>
          <a:p>
            <a:r>
              <a:t>We keep the documents that docs_metadata.csv flags as holding personal data. That's thirty two. Thirty of them are text letters, and the two scans come back later.</a:t>
            </a:r>
          </a:p>
          <a:p/>
          <a:p>
            <a:r>
              <a:t>Each pattern is a regular expression, a short rule that describes the shape of what we want. A Kitara phone number has a plus, 256 or 254, then 700 and six more digits. A national identity number is the letters KX and twelve digits. A customer id is KT, a hyphen and seven digits.</a:t>
            </a:r>
          </a:p>
          <a:p/>
          <a:p>
            <a:r>
              <a:t>We print two numbers for each pattern, the matches and the letters with at least one. The phone line says forty nine matches in twenty six letters, so four letters give no phone number. The last two lines look for the health detail with two words, and find it in one letter, D102, which is Letter 11. A pattern is good at the shape of an identifier. It knows nothing about meaning.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Masking comes next, and the order matters. We mask the text first and cut it into chunks afterwards, so a number can never be split across two chunks and escape.</a:t>
            </a:r>
          </a:p>
          <a:p/>
          <a:p>
            <a:r>
              <a:t>The mask function finds each titled name and replaces it with a name token. It does the same for that name without its title, which catches the signature at the bottom of a letter.</a:t>
            </a:r>
          </a:p>
          <a:p/>
          <a:p>
            <a:r>
              <a:t>Every other pattern is replaced by a token that carries its label. A phone number becomes the word PHONE in square brackets, and an identity number becomes national id in the same way.</a:t>
            </a:r>
          </a:p>
          <a:p/>
          <a:p>
            <a:r>
              <a:t>We run it on the thirty two documents and cut the result into thirty two chunks. The start of Letter 1 shows the name and the phone number gone. The claim number and the policy number lower down are still there, because a claims officer may need them to find the file. Keeping them is a decision, so write it down.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fails on purpose, and the failure is the lesson.</a:t>
            </a:r>
          </a:p>
          <a:p/>
          <a:p>
            <a:r>
              <a:t>We write the check separately from the masker, and we make it looser. It ignores capital letters. It also accepts a letter O or an at sign where a zero should be, because that's the kind of mistake OCR makes.</a:t>
            </a:r>
          </a:p>
          <a:p/>
          <a:p>
            <a:r>
              <a:t>The leaks function goes through every chunk and collects the ids of those that still match. Then comes an assert, the check written as code. If the list isn't empty, stop.</a:t>
            </a:r>
          </a:p>
          <a:p/>
          <a:p>
            <a:r>
              <a:t>It stopped. Two chunks leak, D084 and D087, which are the two scans. The scans were read with OCR, and OCR makes slips. The claim form's identity number came out in lower case, and a zero in its phone number became an at sign. The complaint letter's customer id begins with a lower case k. The strict masker did not see them. The looser check did, and so the index stayed closed. A masker and a check that use the same patterns would both have missed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give the masker the looser patterns too, and run it again.</a:t>
            </a:r>
          </a:p>
          <a:p/>
          <a:p>
            <a:r>
              <a:t>The check finds no leaks in all thirty two chunks. The token count is something a leader can quote. Sixty two names, fifty one phone numbers and thirty two customer ids became tokens, and so did twenty one national ids.</a:t>
            </a:r>
          </a:p>
          <a:p/>
          <a:p>
            <a:r>
              <a:t>Because the masker and the check now share patterns, a pass means only that those patterns are gone. That's the limit of the check, and the reason for reading a sample.</a:t>
            </a:r>
          </a:p>
          <a:p/>
          <a:p>
            <a:r>
              <a:t>Read the start of Letter 11 as it would sit in the index. The sender's name and phone are gone. The late husband's name and the policy number are still there, and the lines after them carry the amount and the illness. In the Data Classification Standard, a life claim with a medical report is confidential. I'd keep it out of the index and let a claims officer open it from the claims system.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trap catches teams that did everything right up to this point.</a:t>
            </a:r>
          </a:p>
          <a:p/>
          <a:p>
            <a:r>
              <a:t>The masking ran, the check passed, and the report says the index holds no personal data. Nothing in that sentence is false about phone numbers and identity numbers.</a:t>
            </a:r>
          </a:p>
          <a:p/>
          <a:p>
            <a:r>
              <a:t>The patterns miss a lot. Letter 11 is a life claim. After masking, it still names the late Henry Kamya, and it still describes kidney failure and dialysis. The scanned claim form still carries Ruth Nankya Kasozi, because a name with no title in front of it has no fixed shape. Anyone who knows the family knows who this is.</a:t>
            </a:r>
          </a:p>
          <a:p/>
          <a:p>
            <a:r>
              <a:t>So masked text is not anonymous text. It is personal data with the easy identifiers removed.</a:t>
            </a:r>
          </a:p>
          <a:p/>
          <a:p>
            <a:r>
              <a:t>Three steps repair it. Give the masked chunks an owner and a retention date, like any other personal data. Keep the health letters out of the index altogether. And have a person read twenty or thirty masked chunks, because the check can only confirm what you told it to look for.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customer asks for their data to be deleted. Here is what that takes in a search system.</a:t>
            </a:r>
          </a:p>
          <a:p/>
          <a:p>
            <a:r>
              <a:t>We find every chunk that holds the customer number KT-8782200. It sits in one chunk, D102-01, which is Letter 11. We search for the illness, as a claims officer would, and the letter comes first.</a:t>
            </a:r>
          </a:p>
          <a:p/>
          <a:p>
            <a:r>
              <a:t>Now we delete that document's rows from the chunk table. A hundred and thirty eight chunks are left. We search again with the old index, and the letter still comes first. The index was built from a copy of the table, and deleting the rows did nothing to it.</a:t>
            </a:r>
          </a:p>
          <a:p/>
          <a:p>
            <a:r>
              <a:t>So we rebuild the index from the smaller table and search a third time. The letter is gone, and an unrelated regulatory notice takes its place. That is the proof you can show a regulator.</a:t>
            </a:r>
          </a:p>
          <a:p/>
          <a:p>
            <a:r>
              <a:t>One more caution. The source record may have to stay. The Data Retention Schedule keeps life claim files for fifteen years after settlement. Erasing it from the index is the part we control.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search system has more places than the one we cleaned. Here are six.</a:t>
            </a:r>
          </a:p>
          <a:p/>
          <a:p>
            <a:r>
              <a:t>The source file is the original. The Data Retention Schedule says each head of department names a records owner, and that records owner signs the destruction list. A customer who asks for deletion is told which records the law makes you keep, and for how long.</a:t>
            </a:r>
          </a:p>
          <a:p/>
          <a:p>
            <a:r>
              <a:t>The chunk table and the index are the AI copies, and they go first. The query log is easy to forget. A question such as what happened to my claim can carry a customer's name. Caches and exports, such as a spreadsheet of test results, hold copies too.</a:t>
            </a:r>
          </a:p>
          <a:p/>
          <a:p>
            <a:r>
              <a:t>Backups come last. The schedule says IT removes backups on the same timetable.</a:t>
            </a:r>
          </a:p>
          <a:p/>
          <a:p>
            <a:r>
              <a:t>Write the six places on the request form, tick each one, and file the before and after search with it. A regulator will ask for evidence, and a before and after search is easy to produce.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Presidio is a free library that finds and masks personal data. It's a good next step once the patterns in your own code get long. As of October twenty twenty six it carries the MIT licence. The project has moved from Microsoft to a community organisation called Data Privacy Stack, so check the repository for its current home. This code was not run on this machine. Read it as the shape of the calls.</a:t>
            </a:r>
          </a:p>
          <a:p/>
          <a:p>
            <a:r>
              <a:t>First we teach the analyzer Kitara's identity number with a pattern recognizer. It's the same regular expression as before, with a name and a score. By default the analyzer uses a language model to find names and places, and that model has to be downloaded first. Check the documentation for which one.</a:t>
            </a:r>
          </a:p>
          <a:p/>
          <a:p>
            <a:r>
              <a:t>We analyze a letter. Each finding has a type, a score and a position in the text. The score is its confidence.</a:t>
            </a:r>
          </a:p>
          <a:p/>
          <a:p>
            <a:r>
              <a:t>The anonymizer then replaces each finding, by default with its type. Detection is model based, so it misses some things and flags others wrongly. Keep the check and the sample reading.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 of the next forty minutes is your data protection map. Open Data Inventory.xlsx, then open the page called Data protection map in the Participant Workbook. The columns are source, personal data kinds, law that applies, where stored, leaves the country, legal basis or check needed, and owner.</a:t>
            </a:r>
          </a:p>
          <a:p/>
          <a:p>
            <a:r>
              <a:t>Start from the inventory you built in Session 3. Copy every source onto the map. If the personal data column on a source is blank, write yes until someone proves otherwise. Leaders, you know where the customers are and which countries you serve. That decides which law applies.</a:t>
            </a:r>
          </a:p>
          <a:p/>
          <a:p>
            <a:r>
              <a:t>For where it is stored, include the cloud region you are considering. Mark yes for leaves the country when the data crosses a border, even if it is only for a backup.</a:t>
            </a:r>
          </a:p>
          <a:p/>
          <a:p>
            <a:r>
              <a:t>Your data colleague can run the team notebook on Kitara's letters if you want to see the masking again. Finish with the three rows that worry you most, and write a name next to each transfer. I will come to each table and ask who signs your riskiest 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customer asks Kitara to delete their letter. Besides the file, where must the deletion reach in the search system? Think it over.</a:t>
            </a:r>
          </a:p>
          <a:p/>
          <a:p>
            <a:r>
              <a:t>The chunk table, the index or vector store, the query log, caches and exports, and the backups. You prove it with a search before and after. Second question. The check on the masked chunks passes. Does that prove no personal data remains? Take your time.</a:t>
            </a:r>
          </a:p>
          <a:p/>
          <a:p>
            <a:r>
              <a:t>It proves that the patterns you listed are gone and nothing more. Names with no title and health details can remain, so a person reads a sample. Last question, and it is for the leaders. Who in your organisation signs off that personal data may be stored in a cloud region in another country, and what must that person see first? No rush.</a:t>
            </a:r>
          </a:p>
          <a:p/>
          <a:p>
            <a:r>
              <a:t>It should be a named executive who owns the data, advised by the data protection officer. Before signing, that person sees the row on your map, the legal basis or the consent, the registration, and the provider contract. If nobody can say who signs today, fix that first.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Uganda Data Protection and Privacy Act has seven principles. It gives people rights to see, stop, correct and erase their data. It asks controllers to register with the PDPO and to report breaches. Kenya, Rwanda and Tanzania each set their own rules for registration and for moving data abroad, and none of the four answers is the same.</a:t>
            </a:r>
          </a:p>
          <a:p/>
          <a:p>
            <a:r>
              <a:t>On Kitara's data, patterns found forty nine phone numbers, twenty national identity numbers and thirty customer ids in the claims letters. Masking replaced them, a check caught two scans that leaked, and the masked text still counted as personal data.</a:t>
            </a:r>
          </a:p>
          <a:p/>
          <a:p>
            <a:r>
              <a:t>An erasure removed Letter 11 from the index, and we proved it with a search. Your workpiece is the data protection map, with an owner and a signer for the three riskiest rows. Next session we ask where the search system should run and what it will cost, and the map you drew today tells you which options are allowed.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9   Privacy and East African law</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09</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9 of 12</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Privacy and East African law</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What does the law require when AI reads personal data?</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200" b="0" i="0">
                <a:solidFill>
                  <a:srgbClr val="1F2328"/>
                </a:solidFill>
                <a:latin typeface="Cambria"/>
              </a:rPr>
              <a:t>Name the principles and rights in the Uganda Data Protection and Privacy Act, 2019</a:t>
            </a:r>
          </a:p>
        </p:txBody>
      </p:sp>
      <p:cxnSp>
        <p:nvCxnSpPr>
          <p:cNvPr id="7" name="Connector 6"/>
          <p:cNvCxnSpPr/>
          <p:nvPr/>
        </p:nvCxnSpPr>
        <p:spPr>
          <a:xfrm>
            <a:off x="685800" y="2626766"/>
            <a:ext cx="5394960" cy="0"/>
          </a:xfrm>
          <a:prstGeom prst="line">
            <a:avLst/>
          </a:prstGeom>
          <a:ln w="6350">
            <a:solidFill>
              <a:srgbClr val="C9C5BC"/>
            </a:solidFill>
          </a:ln>
        </p:spPr>
      </p:cxnSp>
      <p:sp>
        <p:nvSpPr>
          <p:cNvPr id="8" name="TextBox 7"/>
          <p:cNvSpPr txBox="1"/>
          <p:nvPr/>
        </p:nvSpPr>
        <p:spPr>
          <a:xfrm>
            <a:off x="685800" y="279135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Compare transfer and registration rules in Uganda, Kenya, Rwanda and Tanzania</a:t>
            </a:r>
          </a:p>
        </p:txBody>
      </p:sp>
      <p:cxnSp>
        <p:nvCxnSpPr>
          <p:cNvPr id="9" name="Connector 8"/>
          <p:cNvCxnSpPr/>
          <p:nvPr/>
        </p:nvCxnSpPr>
        <p:spPr>
          <a:xfrm>
            <a:off x="685800" y="3680155"/>
            <a:ext cx="5394960" cy="0"/>
          </a:xfrm>
          <a:prstGeom prst="line">
            <a:avLst/>
          </a:prstGeom>
          <a:ln w="6350">
            <a:solidFill>
              <a:srgbClr val="C9C5BC"/>
            </a:solidFill>
          </a:ln>
        </p:spPr>
      </p:cxnSp>
      <p:sp>
        <p:nvSpPr>
          <p:cNvPr id="10" name="TextBox 9"/>
          <p:cNvSpPr txBox="1"/>
          <p:nvPr/>
        </p:nvSpPr>
        <p:spPr>
          <a:xfrm>
            <a:off x="685800" y="3844747"/>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Find and mask personal data before it enters a search index</a:t>
            </a:r>
          </a:p>
        </p:txBody>
      </p:sp>
      <p:cxnSp>
        <p:nvCxnSpPr>
          <p:cNvPr id="11" name="Connector 10"/>
          <p:cNvCxnSpPr/>
          <p:nvPr/>
        </p:nvCxnSpPr>
        <p:spPr>
          <a:xfrm>
            <a:off x="685800" y="4733544"/>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Case and recall</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Teaching</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Workshop on your organisation</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Decision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702448"/>
        </p:xfrm>
        <a:graphic>
          <a:graphicData uri="http://schemas.openxmlformats.org/drawingml/2006/table">
            <a:tbl>
              <a:tblPr firstRow="0" bandRow="0">
                <a:tableStyleId>{2D5ABB26-0587-4C30-8999-92F81FD0307C}</a:tableStyleId>
              </a:tblPr>
              <a:tblGrid>
                <a:gridCol w="2164019"/>
                <a:gridCol w="5410047"/>
                <a:gridCol w="3246028"/>
              </a:tblGrid>
              <a:tr h="349910">
                <a:tc>
                  <a:txBody>
                    <a:bodyPr wrap="square"/>
                    <a:lstStyle/>
                    <a:p>
                      <a:r>
                        <a:rPr sz="14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4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400" b="1" i="0">
                          <a:solidFill>
                            <a:srgbClr val="1F2328"/>
                          </a:solidFill>
                          <a:latin typeface="Calibri"/>
                        </a:rPr>
                        <a:t>Where you meet it</a:t>
                      </a:r>
                    </a:p>
                  </a:txBody>
                  <a:tcPr marL="137160" marR="91440" marT="64008" marB="64008" anchor="ctr">
                    <a:lnL w="0">
                      <a:noFill/>
                    </a:lnL>
                    <a:lnR w="0">
                      <a:noFill/>
                    </a:lnR>
                    <a:lnT w="0">
                      <a:noFill/>
                    </a:lnT>
                    <a:lnB w="15875">
                      <a:solidFill>
                        <a:srgbClr val="1F2328"/>
                      </a:solidFill>
                    </a:lnB>
                    <a:noFill/>
                  </a:tcPr>
                </a:tc>
              </a:tr>
              <a:tr h="571804">
                <a:tc>
                  <a:txBody>
                    <a:bodyPr wrap="square"/>
                    <a:lstStyle/>
                    <a:p>
                      <a:r>
                        <a:rPr sz="1400" b="1" i="0">
                          <a:solidFill>
                            <a:srgbClr val="1F2328"/>
                          </a:solidFill>
                          <a:latin typeface="Calibri"/>
                        </a:rPr>
                        <a:t>Personal data</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Information that identifies a living person, or could identify that person when combined with other data.</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30 claims letters, documents D092 to D121</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Special categories</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Kinds of personal data that the law treats with extra care, such as health details.</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dialysis detail in claims letter D102</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Controller</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organisation that decides why and how personal data is used. In Uganda it registers with the regulator.</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Kitara Bank and Kitara Assurance</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Cross-border transfer</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Storing or processing personal data in another country, including in a cloud region there.</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South African cloud option in hosting_options.csv</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Masking</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Replacing personal data with a labelled token, such as the word PHONE in square brackets. The token stays and the value goes.</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masked claims letters in today's demonstration</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Data minimisation</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Using only the data the purpose needs and leaving the rest out.</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4 of the 14 columns of customers.csv, in Task 5</a:t>
                      </a:r>
                    </a:p>
                  </a:txBody>
                  <a:tcPr marL="137160" marR="91440" marT="64008" marB="64008" anchor="ctr">
                    <a:lnL w="0">
                      <a:noFill/>
                    </a:lnL>
                    <a:lnR w="0">
                      <a:noFill/>
                    </a:lnR>
                    <a:lnT w="0">
                      <a:noFill/>
                    </a:lnT>
                    <a:lnB w="6350">
                      <a:solidFill>
                        <a:srgbClr val="C9C5BC"/>
                      </a:solidFill>
                    </a:lnB>
                    <a:noFill/>
                  </a:tcPr>
                </a:tc>
              </a:tr>
              <a:tr h="349910">
                <a:tc>
                  <a:txBody>
                    <a:bodyPr wrap="square"/>
                    <a:lstStyle/>
                    <a:p>
                      <a:r>
                        <a:rPr sz="1400" b="1" i="0">
                          <a:solidFill>
                            <a:srgbClr val="1F2328"/>
                          </a:solidFill>
                          <a:latin typeface="Calibri"/>
                        </a:rPr>
                        <a:t>Erasure request</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person's request to have their personal data deleted.</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Letter 11 and customer KT-8782200</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Data protection map</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table of where personal data sits, which law applies and what leaves the country.</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Today's workpiece, a page in the Participant Workbook</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8</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A nightly job failed halfway and was run again. What does idempotent mean, and how did the Kitara test show it?</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It means safe to run twice with the same result. With a key on txn_id the cleaned file held 19,700 rows after one run and after two. Without the key the second run gave 39,400.</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The reference path had a personal data check before the serving zone. Why does it sit there?</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Anything that reaches the serving zone can reach the search index and the dashboards. Personal data has to be found and masked before that point.</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Personal data</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2900" b="0" i="0">
                <a:solidFill>
                  <a:srgbClr val="1F2328"/>
                </a:solidFill>
                <a:latin typeface="Cambria"/>
              </a:rPr>
              <a:t>Personal data is any information that identifies a living person, or could identify that person when combined with other data. Some kinds, such as health details, need extra care.</a:t>
            </a:r>
          </a:p>
        </p:txBody>
      </p:sp>
      <p:cxnSp>
        <p:nvCxnSpPr>
          <p:cNvPr id="6" name="Connector 5"/>
          <p:cNvCxnSpPr/>
          <p:nvPr/>
        </p:nvCxnSpPr>
        <p:spPr>
          <a:xfrm>
            <a:off x="6095847" y="3363163"/>
            <a:ext cx="0" cy="2854757"/>
          </a:xfrm>
          <a:prstGeom prst="line">
            <a:avLst/>
          </a:prstGeom>
          <a:ln w="9525">
            <a:solidFill>
              <a:srgbClr val="C9C5BC"/>
            </a:solidFill>
          </a:ln>
        </p:spPr>
      </p:cxnSp>
      <p:cxnSp>
        <p:nvCxnSpPr>
          <p:cNvPr id="7" name="Connector 6"/>
          <p:cNvCxnSpPr/>
          <p:nvPr/>
        </p:nvCxnSpPr>
        <p:spPr>
          <a:xfrm>
            <a:off x="685800" y="3363163"/>
            <a:ext cx="5044287" cy="0"/>
          </a:xfrm>
          <a:prstGeom prst="line">
            <a:avLst/>
          </a:prstGeom>
          <a:ln w="15875">
            <a:solidFill>
              <a:srgbClr val="1F2328"/>
            </a:solidFill>
          </a:ln>
        </p:spPr>
      </p:cxnSp>
      <p:sp>
        <p:nvSpPr>
          <p:cNvPr id="8" name="TextBox 7"/>
          <p:cNvSpPr txBox="1"/>
          <p:nvPr/>
        </p:nvSpPr>
        <p:spPr>
          <a:xfrm>
            <a:off x="685800" y="3454603"/>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At Kitara Group</a:t>
            </a:r>
          </a:p>
        </p:txBody>
      </p:sp>
      <p:sp>
        <p:nvSpPr>
          <p:cNvPr id="9" name="TextBox 8"/>
          <p:cNvSpPr txBox="1"/>
          <p:nvPr/>
        </p:nvSpPr>
        <p:spPr>
          <a:xfrm>
            <a:off x="685800" y="3774643"/>
            <a:ext cx="5044287" cy="2397556"/>
          </a:xfrm>
          <a:prstGeom prst="rect">
            <a:avLst/>
          </a:prstGeom>
          <a:noFill/>
        </p:spPr>
        <p:txBody>
          <a:bodyPr wrap="square" lIns="0" rIns="0" tIns="18288" bIns="18288" anchor="t">
            <a:spAutoFit/>
          </a:bodyPr>
          <a:lstStyle/>
          <a:p>
            <a:pPr algn="l"/>
            <a:r>
              <a:rPr sz="2200" b="0" i="0">
                <a:solidFill>
                  <a:srgbClr val="3B4046"/>
                </a:solidFill>
                <a:latin typeface="Calibri"/>
              </a:rPr>
              <a:t>A claims letter holds a name, a customer number and often a phone and a national identity number. Letter 11 also holds a health detail: an illness and dialysis.</a:t>
            </a:r>
          </a:p>
        </p:txBody>
      </p:sp>
      <p:cxnSp>
        <p:nvCxnSpPr>
          <p:cNvPr id="10" name="Connector 9"/>
          <p:cNvCxnSpPr/>
          <p:nvPr/>
        </p:nvCxnSpPr>
        <p:spPr>
          <a:xfrm>
            <a:off x="6461607" y="3363163"/>
            <a:ext cx="5044288" cy="0"/>
          </a:xfrm>
          <a:prstGeom prst="line">
            <a:avLst/>
          </a:prstGeom>
          <a:ln w="15875">
            <a:solidFill>
              <a:srgbClr val="1F2328"/>
            </a:solidFill>
          </a:ln>
        </p:spPr>
      </p:cxnSp>
      <p:sp>
        <p:nvSpPr>
          <p:cNvPr id="11" name="TextBox 10"/>
          <p:cNvSpPr txBox="1"/>
          <p:nvPr/>
        </p:nvSpPr>
        <p:spPr>
          <a:xfrm>
            <a:off x="6461607" y="3454603"/>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your organisation</a:t>
            </a:r>
          </a:p>
        </p:txBody>
      </p:sp>
      <p:sp>
        <p:nvSpPr>
          <p:cNvPr id="12" name="TextBox 11"/>
          <p:cNvSpPr txBox="1"/>
          <p:nvPr/>
        </p:nvSpPr>
        <p:spPr>
          <a:xfrm>
            <a:off x="6461607" y="3774643"/>
            <a:ext cx="5044287" cy="2397556"/>
          </a:xfrm>
          <a:prstGeom prst="rect">
            <a:avLst/>
          </a:prstGeom>
          <a:noFill/>
        </p:spPr>
        <p:txBody>
          <a:bodyPr wrap="square" lIns="0" rIns="0" tIns="18288" bIns="18288" anchor="t">
            <a:spAutoFit/>
          </a:bodyPr>
          <a:lstStyle/>
          <a:p>
            <a:pPr algn="l"/>
            <a:r>
              <a:rPr sz="2200" b="0" i="0">
                <a:solidFill>
                  <a:srgbClr val="3B4046"/>
                </a:solidFill>
                <a:latin typeface="Calibri"/>
              </a:rPr>
              <a:t>Which three kinds of personal data could a member of your staff paste into an AI tool tomorrow morning?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Seven principles of the Uganda Act and a search index</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graphicFrame>
        <p:nvGraphicFramePr>
          <p:cNvPr id="5" name="Table"/>
          <p:cNvGraphicFramePr>
            <a:graphicFrameLocks noGrp="1"/>
          </p:cNvGraphicFramePr>
          <p:nvPr/>
        </p:nvGraphicFramePr>
        <p:xfrm>
          <a:off x="685800" y="1600200"/>
          <a:ext cx="10820094" cy="3566160"/>
        </p:xfrm>
        <a:graphic>
          <a:graphicData uri="http://schemas.openxmlformats.org/drawingml/2006/table">
            <a:tbl>
              <a:tblPr firstRow="0" bandRow="0">
                <a:tableStyleId>{2D5ABB26-0587-4C30-8999-92F81FD0307C}</a:tableStyleId>
              </a:tblPr>
              <a:tblGrid>
                <a:gridCol w="3246028"/>
                <a:gridCol w="3246028"/>
                <a:gridCol w="4328038"/>
              </a:tblGrid>
              <a:tr h="445770">
                <a:tc>
                  <a:txBody>
                    <a:bodyPr wrap="square"/>
                    <a:lstStyle/>
                    <a:p>
                      <a:r>
                        <a:rPr sz="1500" b="1" i="0">
                          <a:solidFill>
                            <a:srgbClr val="1F2328"/>
                          </a:solidFill>
                          <a:latin typeface="Calibri"/>
                        </a:rPr>
                        <a:t>Principle</a:t>
                      </a:r>
                    </a:p>
                  </a:txBody>
                  <a:tcPr marL="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What it asks</a:t>
                      </a:r>
                    </a:p>
                  </a:txBody>
                  <a:tcPr marL="13716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For Kitara's index</a:t>
                      </a:r>
                    </a:p>
                  </a:txBody>
                  <a:tcPr marL="137160" marR="91440" marT="64008" marB="64008" anchor="ctr">
                    <a:lnL w="0">
                      <a:noFill/>
                    </a:lnL>
                    <a:lnR w="0">
                      <a:noFill/>
                    </a:lnR>
                    <a:lnT w="0">
                      <a:noFill/>
                    </a:lnT>
                    <a:lnB w="15875">
                      <a:solidFill>
                        <a:srgbClr val="1F2328"/>
                      </a:solidFill>
                    </a:lnB>
                    <a:noFill/>
                  </a:tcPr>
                </a:tc>
              </a:tr>
              <a:tr h="445770">
                <a:tc>
                  <a:txBody>
                    <a:bodyPr wrap="square"/>
                    <a:lstStyle/>
                    <a:p>
                      <a:r>
                        <a:rPr sz="1500" b="0" i="0">
                          <a:solidFill>
                            <a:srgbClr val="3B4046"/>
                          </a:solidFill>
                          <a:latin typeface="Calibri"/>
                        </a:rPr>
                        <a:t>Accountability</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Answer to the person</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 named owner of the index</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Fair and lawful</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 lawful reason to use it</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 reason for each use of a letter</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Adequate, relevant, not excessive</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Take only what the purpose needs</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Index 4 customer columns, not 14</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Kept only as long as needed</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 limit on how long</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 retention date on every chunk</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Quality of information</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Accurate and current</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Correct the index when the source changes</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Transparency and participation</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The person knows and can act</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Tell customers how letters are used</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Safety and security</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Protect against loss and misuse</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Masking, permission filter, short log access</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A teaching summary of the Data Protection and Privacy Act, 2019. Not legal advice. Check the current 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Rights a person holds over their data</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Each right becomes a task for whoever runs the search.</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See it</a:t>
            </a:r>
          </a:p>
        </p:txBody>
      </p:sp>
      <p:sp>
        <p:nvSpPr>
          <p:cNvPr id="8" name="TextBox 7"/>
          <p:cNvSpPr txBox="1"/>
          <p:nvPr/>
        </p:nvSpPr>
        <p:spPr>
          <a:xfrm>
            <a:off x="3611880" y="2478633"/>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A person can ask what Kitara holds. You must be able to find every chunk that names them.</a:t>
            </a:r>
          </a:p>
        </p:txBody>
      </p:sp>
      <p:cxnSp>
        <p:nvCxnSpPr>
          <p:cNvPr id="9" name="Connector 8"/>
          <p:cNvCxnSpPr/>
          <p:nvPr/>
        </p:nvCxnSpPr>
        <p:spPr>
          <a:xfrm>
            <a:off x="685800" y="3317443"/>
            <a:ext cx="10820095" cy="0"/>
          </a:xfrm>
          <a:prstGeom prst="line">
            <a:avLst/>
          </a:prstGeom>
          <a:ln w="6350">
            <a:solidFill>
              <a:srgbClr val="C9C5BC"/>
            </a:solidFill>
          </a:ln>
        </p:spPr>
      </p:cxnSp>
      <p:sp>
        <p:nvSpPr>
          <p:cNvPr id="10" name="TextBox 9"/>
          <p:cNvSpPr txBox="1"/>
          <p:nvPr/>
        </p:nvSpPr>
        <p:spPr>
          <a:xfrm>
            <a:off x="685800" y="3427171"/>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Stop it</a:t>
            </a:r>
          </a:p>
        </p:txBody>
      </p:sp>
      <p:sp>
        <p:nvSpPr>
          <p:cNvPr id="11" name="TextBox 10"/>
          <p:cNvSpPr txBox="1"/>
          <p:nvPr/>
        </p:nvSpPr>
        <p:spPr>
          <a:xfrm>
            <a:off x="3611880" y="3445459"/>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A person can prevent processing, and prevent use for direct marketing.</a:t>
            </a:r>
          </a:p>
        </p:txBody>
      </p:sp>
      <p:cxnSp>
        <p:nvCxnSpPr>
          <p:cNvPr id="12" name="Connector 11"/>
          <p:cNvCxnSpPr/>
          <p:nvPr/>
        </p:nvCxnSpPr>
        <p:spPr>
          <a:xfrm>
            <a:off x="685800" y="4284268"/>
            <a:ext cx="10820095" cy="0"/>
          </a:xfrm>
          <a:prstGeom prst="line">
            <a:avLst/>
          </a:prstGeom>
          <a:ln w="6350">
            <a:solidFill>
              <a:srgbClr val="C9C5BC"/>
            </a:solidFill>
          </a:ln>
        </p:spPr>
      </p:cxnSp>
      <p:sp>
        <p:nvSpPr>
          <p:cNvPr id="13" name="TextBox 12"/>
          <p:cNvSpPr txBox="1"/>
          <p:nvPr/>
        </p:nvSpPr>
        <p:spPr>
          <a:xfrm>
            <a:off x="685800" y="4393996"/>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Fix or erase it</a:t>
            </a:r>
          </a:p>
        </p:txBody>
      </p:sp>
      <p:sp>
        <p:nvSpPr>
          <p:cNvPr id="14" name="TextBox 13"/>
          <p:cNvSpPr txBox="1"/>
          <p:nvPr/>
        </p:nvSpPr>
        <p:spPr>
          <a:xfrm>
            <a:off x="3611880" y="4412284"/>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Rectification, blocking, erasure and destruction. A deleted letter must leave the index too.</a:t>
            </a:r>
          </a:p>
        </p:txBody>
      </p:sp>
      <p:cxnSp>
        <p:nvCxnSpPr>
          <p:cNvPr id="15" name="Connector 14"/>
          <p:cNvCxnSpPr/>
          <p:nvPr/>
        </p:nvCxnSpPr>
        <p:spPr>
          <a:xfrm>
            <a:off x="685800" y="5251094"/>
            <a:ext cx="10820095" cy="0"/>
          </a:xfrm>
          <a:prstGeom prst="line">
            <a:avLst/>
          </a:prstGeom>
          <a:ln w="6350">
            <a:solidFill>
              <a:srgbClr val="C9C5BC"/>
            </a:solidFill>
          </a:ln>
        </p:spPr>
      </p:cxnSp>
      <p:sp>
        <p:nvSpPr>
          <p:cNvPr id="16" name="TextBox 15"/>
          <p:cNvSpPr txBox="1"/>
          <p:nvPr/>
        </p:nvSpPr>
        <p:spPr>
          <a:xfrm>
            <a:off x="685800" y="5360822"/>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No machine alone</a:t>
            </a:r>
          </a:p>
        </p:txBody>
      </p:sp>
      <p:sp>
        <p:nvSpPr>
          <p:cNvPr id="17" name="TextBox 16"/>
          <p:cNvSpPr txBox="1"/>
          <p:nvPr/>
        </p:nvSpPr>
        <p:spPr>
          <a:xfrm>
            <a:off x="3611880" y="5379110"/>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Rights apply to automated decisions. Let the assistant draft and a claims officer decide.</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Register, keep records, report breaches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3387242" cy="2999231"/>
            <a:chOff x="676656" y="2167128"/>
            <a:chExt cx="3387242"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3378098" cy="868680"/>
            </a:xfrm>
            <a:prstGeom prst="rect">
              <a:avLst/>
            </a:prstGeom>
            <a:noFill/>
          </p:spPr>
          <p:txBody>
            <a:bodyPr wrap="square" lIns="0" rIns="0" tIns="18288" bIns="18288" anchor="t">
              <a:spAutoFit/>
            </a:bodyPr>
            <a:lstStyle/>
            <a:p>
              <a:pPr algn="l"/>
              <a:r>
                <a:rPr sz="2400" b="1" i="0">
                  <a:solidFill>
                    <a:srgbClr val="1F2328"/>
                  </a:solidFill>
                  <a:latin typeface="Cambria"/>
                </a:rPr>
                <a:t>Register</a:t>
              </a:r>
            </a:p>
          </p:txBody>
        </p:sp>
        <p:sp>
          <p:nvSpPr>
            <p:cNvPr id="9" name="TextBox 8"/>
            <p:cNvSpPr txBox="1"/>
            <p:nvPr/>
          </p:nvSpPr>
          <p:spPr>
            <a:xfrm>
              <a:off x="685800" y="3114446"/>
              <a:ext cx="3378098" cy="2051913"/>
            </a:xfrm>
            <a:prstGeom prst="rect">
              <a:avLst/>
            </a:prstGeom>
            <a:noFill/>
          </p:spPr>
          <p:txBody>
            <a:bodyPr wrap="square" lIns="0" rIns="0" tIns="18288" bIns="18288" anchor="t">
              <a:spAutoFit/>
            </a:bodyPr>
            <a:lstStyle/>
            <a:p>
              <a:pPr algn="l"/>
              <a:r>
                <a:rPr sz="2200" b="0" i="0">
                  <a:solidFill>
                    <a:srgbClr val="3B4046"/>
                  </a:solidFill>
                  <a:latin typeface="Calibri"/>
                </a:rPr>
                <a:t>Controllers register with the Personal Data Protection Office, the PDPO, an independent office under NITA-U.</a:t>
              </a:r>
            </a:p>
          </p:txBody>
        </p:sp>
      </p:grpSp>
      <p:grpSp>
        <p:nvGrpSpPr>
          <p:cNvPr id="10" name="step-2"/>
          <p:cNvGrpSpPr/>
          <p:nvPr/>
        </p:nvGrpSpPr>
        <p:grpSpPr>
          <a:xfrm>
            <a:off x="4283354" y="2167128"/>
            <a:ext cx="3387242" cy="2999231"/>
            <a:chOff x="4283354" y="2167128"/>
            <a:chExt cx="3387242" cy="2999231"/>
          </a:xfrm>
        </p:grpSpPr>
        <p:sp>
          <p:nvSpPr>
            <p:cNvPr id="11" name="Oval 10"/>
            <p:cNvSpPr/>
            <p:nvPr/>
          </p:nvSpPr>
          <p:spPr>
            <a:xfrm>
              <a:off x="4283354"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4292498" y="2606040"/>
              <a:ext cx="3378098" cy="868680"/>
            </a:xfrm>
            <a:prstGeom prst="rect">
              <a:avLst/>
            </a:prstGeom>
            <a:noFill/>
          </p:spPr>
          <p:txBody>
            <a:bodyPr wrap="square" lIns="0" rIns="0" tIns="18288" bIns="18288" anchor="t">
              <a:spAutoFit/>
            </a:bodyPr>
            <a:lstStyle/>
            <a:p>
              <a:pPr algn="l"/>
              <a:r>
                <a:rPr sz="2400" b="1" i="0">
                  <a:solidFill>
                    <a:srgbClr val="1F2328"/>
                  </a:solidFill>
                  <a:latin typeface="Cambria"/>
                </a:rPr>
                <a:t>Keep records</a:t>
              </a:r>
            </a:p>
          </p:txBody>
        </p:sp>
        <p:sp>
          <p:nvSpPr>
            <p:cNvPr id="13" name="TextBox 12"/>
            <p:cNvSpPr txBox="1"/>
            <p:nvPr/>
          </p:nvSpPr>
          <p:spPr>
            <a:xfrm>
              <a:off x="4292498" y="3114446"/>
              <a:ext cx="3378098" cy="2051913"/>
            </a:xfrm>
            <a:prstGeom prst="rect">
              <a:avLst/>
            </a:prstGeom>
            <a:noFill/>
          </p:spPr>
          <p:txBody>
            <a:bodyPr wrap="square" lIns="0" rIns="0" tIns="18288" bIns="18288" anchor="t">
              <a:spAutoFit/>
            </a:bodyPr>
            <a:lstStyle/>
            <a:p>
              <a:pPr algn="l"/>
              <a:r>
                <a:rPr sz="2200" b="0" i="0">
                  <a:solidFill>
                    <a:srgbClr val="3B4046"/>
                  </a:solidFill>
                  <a:latin typeface="Calibri"/>
                </a:rPr>
                <a:t>Processing or storage outside Uganda is reported to need equivalent protection or consent. Record the reason.</a:t>
              </a:r>
            </a:p>
          </p:txBody>
        </p:sp>
      </p:grpSp>
      <p:grpSp>
        <p:nvGrpSpPr>
          <p:cNvPr id="14" name="step-3"/>
          <p:cNvGrpSpPr/>
          <p:nvPr/>
        </p:nvGrpSpPr>
        <p:grpSpPr>
          <a:xfrm>
            <a:off x="7890052" y="2167128"/>
            <a:ext cx="3387242" cy="2999231"/>
            <a:chOff x="7890052" y="2167128"/>
            <a:chExt cx="3387242" cy="2999231"/>
          </a:xfrm>
        </p:grpSpPr>
        <p:sp>
          <p:nvSpPr>
            <p:cNvPr id="15" name="Oval 14"/>
            <p:cNvSpPr/>
            <p:nvPr/>
          </p:nvSpPr>
          <p:spPr>
            <a:xfrm>
              <a:off x="7890052"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7899196" y="2606040"/>
              <a:ext cx="3378098" cy="868680"/>
            </a:xfrm>
            <a:prstGeom prst="rect">
              <a:avLst/>
            </a:prstGeom>
            <a:noFill/>
          </p:spPr>
          <p:txBody>
            <a:bodyPr wrap="square" lIns="0" rIns="0" tIns="18288" bIns="18288" anchor="t">
              <a:spAutoFit/>
            </a:bodyPr>
            <a:lstStyle/>
            <a:p>
              <a:pPr algn="l"/>
              <a:r>
                <a:rPr sz="2400" b="1" i="0">
                  <a:solidFill>
                    <a:srgbClr val="1F2328"/>
                  </a:solidFill>
                  <a:latin typeface="Cambria"/>
                </a:rPr>
                <a:t>Report breaches</a:t>
              </a:r>
            </a:p>
          </p:txBody>
        </p:sp>
        <p:sp>
          <p:nvSpPr>
            <p:cNvPr id="17" name="TextBox 16"/>
            <p:cNvSpPr txBox="1"/>
            <p:nvPr/>
          </p:nvSpPr>
          <p:spPr>
            <a:xfrm>
              <a:off x="7899196" y="3114446"/>
              <a:ext cx="3378098" cy="2051913"/>
            </a:xfrm>
            <a:prstGeom prst="rect">
              <a:avLst/>
            </a:prstGeom>
            <a:noFill/>
          </p:spPr>
          <p:txBody>
            <a:bodyPr wrap="square" lIns="0" rIns="0" tIns="18288" bIns="18288" anchor="t">
              <a:spAutoFit/>
            </a:bodyPr>
            <a:lstStyle/>
            <a:p>
              <a:pPr algn="l"/>
              <a:r>
                <a:rPr sz="2200" b="0" i="0">
                  <a:solidFill>
                    <a:srgbClr val="3B4046"/>
                  </a:solidFill>
                  <a:latin typeface="Calibri"/>
                </a:rPr>
                <a:t>Tell the PDPO promptly when personal data is lost or reached by the wrong people.</a:t>
              </a:r>
            </a:p>
          </p:txBody>
        </p:sp>
      </p:grpSp>
      <p:cxnSp>
        <p:nvCxnSpPr>
          <p:cNvPr id="18" name="Connector 17"/>
          <p:cNvCxnSpPr/>
          <p:nvPr/>
        </p:nvCxnSpPr>
        <p:spPr>
          <a:xfrm>
            <a:off x="685800" y="5120640"/>
            <a:ext cx="10820095" cy="0"/>
          </a:xfrm>
          <a:prstGeom prst="line">
            <a:avLst/>
          </a:prstGeom>
          <a:ln w="15875">
            <a:solidFill>
              <a:srgbClr val="1F2328"/>
            </a:solidFill>
          </a:ln>
        </p:spPr>
      </p:cxnSp>
      <p:sp>
        <p:nvSpPr>
          <p:cNvPr id="19" name="TextBox 18"/>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Teaching summary. Not legal advice. Check the current text and the PDPO guidance.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Four East African regimes compared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graphicFrame>
        <p:nvGraphicFramePr>
          <p:cNvPr id="5" name="Table"/>
          <p:cNvGraphicFramePr>
            <a:graphicFrameLocks noGrp="1"/>
          </p:cNvGraphicFramePr>
          <p:nvPr/>
        </p:nvGraphicFramePr>
        <p:xfrm>
          <a:off x="685800" y="1600200"/>
          <a:ext cx="10820093" cy="3566157"/>
        </p:xfrm>
        <a:graphic>
          <a:graphicData uri="http://schemas.openxmlformats.org/drawingml/2006/table">
            <a:tbl>
              <a:tblPr firstRow="0" bandRow="0">
                <a:tableStyleId>{2D5ABB26-0587-4C30-8999-92F81FD0307C}</a:tableStyleId>
              </a:tblPr>
              <a:tblGrid>
                <a:gridCol w="2614856"/>
                <a:gridCol w="2344353"/>
                <a:gridCol w="3065693"/>
                <a:gridCol w="2795191"/>
              </a:tblGrid>
              <a:tr h="491337">
                <a:tc>
                  <a:txBody>
                    <a:bodyPr wrap="square"/>
                    <a:lstStyle/>
                    <a:p>
                      <a:r>
                        <a:rPr sz="1750" b="1" i="0">
                          <a:solidFill>
                            <a:srgbClr val="1F2328"/>
                          </a:solidFill>
                          <a:latin typeface="Calibri"/>
                        </a:rPr>
                        <a:t>Country and law</a:t>
                      </a:r>
                    </a:p>
                  </a:txBody>
                  <a:tcPr marL="0" marR="91440" marT="64008" marB="64008" anchor="ctr">
                    <a:lnL w="0">
                      <a:noFill/>
                    </a:lnL>
                    <a:lnR w="0">
                      <a:noFill/>
                    </a:lnR>
                    <a:lnT w="0">
                      <a:noFill/>
                    </a:lnT>
                    <a:lnB w="15875">
                      <a:solidFill>
                        <a:srgbClr val="1F2328"/>
                      </a:solidFill>
                    </a:lnB>
                    <a:noFill/>
                  </a:tcPr>
                </a:tc>
                <a:tc>
                  <a:txBody>
                    <a:bodyPr wrap="square"/>
                    <a:lstStyle/>
                    <a:p>
                      <a:r>
                        <a:rPr sz="1750" b="1" i="0">
                          <a:solidFill>
                            <a:srgbClr val="1F2328"/>
                          </a:solidFill>
                          <a:latin typeface="Calibri"/>
                        </a:rPr>
                        <a:t>Registration</a:t>
                      </a:r>
                    </a:p>
                  </a:txBody>
                  <a:tcPr marL="137160" marR="91440" marT="64008" marB="64008" anchor="ctr">
                    <a:lnL w="0">
                      <a:noFill/>
                    </a:lnL>
                    <a:lnR w="0">
                      <a:noFill/>
                    </a:lnR>
                    <a:lnT w="0">
                      <a:noFill/>
                    </a:lnT>
                    <a:lnB w="15875">
                      <a:solidFill>
                        <a:srgbClr val="1F2328"/>
                      </a:solidFill>
                    </a:lnB>
                    <a:noFill/>
                  </a:tcPr>
                </a:tc>
                <a:tc>
                  <a:txBody>
                    <a:bodyPr wrap="square"/>
                    <a:lstStyle/>
                    <a:p>
                      <a:r>
                        <a:rPr sz="1750" b="1" i="0">
                          <a:solidFill>
                            <a:srgbClr val="1F2328"/>
                          </a:solidFill>
                          <a:latin typeface="Calibri"/>
                        </a:rPr>
                        <a:t>Moving data abroad</a:t>
                      </a:r>
                    </a:p>
                  </a:txBody>
                  <a:tcPr marL="137160" marR="91440" marT="64008" marB="64008" anchor="ctr">
                    <a:lnL w="0">
                      <a:noFill/>
                    </a:lnL>
                    <a:lnR w="0">
                      <a:noFill/>
                    </a:lnR>
                    <a:lnT w="0">
                      <a:noFill/>
                    </a:lnT>
                    <a:lnB w="15875">
                      <a:solidFill>
                        <a:srgbClr val="1F2328"/>
                      </a:solidFill>
                    </a:lnB>
                    <a:noFill/>
                  </a:tcPr>
                </a:tc>
                <a:tc>
                  <a:txBody>
                    <a:bodyPr wrap="square"/>
                    <a:lstStyle/>
                    <a:p>
                      <a:r>
                        <a:rPr sz="1750" b="1" i="0">
                          <a:solidFill>
                            <a:srgbClr val="1F2328"/>
                          </a:solidFill>
                          <a:latin typeface="Calibri"/>
                        </a:rPr>
                        <a:t>Notes, as reported</a:t>
                      </a:r>
                    </a:p>
                  </a:txBody>
                  <a:tcPr marL="137160" marR="91440" marT="64008" marB="64008" anchor="ctr">
                    <a:lnL w="0">
                      <a:noFill/>
                    </a:lnL>
                    <a:lnR w="0">
                      <a:noFill/>
                    </a:lnR>
                    <a:lnT w="0">
                      <a:noFill/>
                    </a:lnT>
                    <a:lnB w="15875">
                      <a:solidFill>
                        <a:srgbClr val="1F2328"/>
                      </a:solidFill>
                    </a:lnB>
                    <a:noFill/>
                  </a:tcPr>
                </a:tc>
              </a:tr>
              <a:tr h="768705">
                <a:tc>
                  <a:txBody>
                    <a:bodyPr wrap="square"/>
                    <a:lstStyle/>
                    <a:p>
                      <a:r>
                        <a:rPr sz="1750" b="0" i="0">
                          <a:solidFill>
                            <a:srgbClr val="3B4046"/>
                          </a:solidFill>
                          <a:latin typeface="Calibri"/>
                        </a:rPr>
                        <a:t>Uganda: Act of 2019</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Register with the PDPO</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Equivalent protection or consent</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Google found in breach in July 2025</a:t>
                      </a:r>
                    </a:p>
                  </a:txBody>
                  <a:tcPr marL="137160" marR="91440" marT="64008" marB="64008" anchor="ctr">
                    <a:lnL w="0">
                      <a:noFill/>
                    </a:lnL>
                    <a:lnR w="0">
                      <a:noFill/>
                    </a:lnR>
                    <a:lnT w="0">
                      <a:noFill/>
                    </a:lnT>
                    <a:lnB w="6350">
                      <a:solidFill>
                        <a:srgbClr val="C9C5BC"/>
                      </a:solidFill>
                    </a:lnB>
                    <a:noFill/>
                  </a:tcPr>
                </a:tc>
              </a:tr>
              <a:tr h="768705">
                <a:tc>
                  <a:txBody>
                    <a:bodyPr wrap="square"/>
                    <a:lstStyle/>
                    <a:p>
                      <a:r>
                        <a:rPr sz="1750" b="0" i="0">
                          <a:solidFill>
                            <a:srgbClr val="3B4046"/>
                          </a:solidFill>
                          <a:latin typeface="Calibri"/>
                        </a:rPr>
                        <a:t>Kenya: Act of 2019</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Register with the ODPC</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Targeted localisation for some data</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Cross-border guidance in 2026</a:t>
                      </a:r>
                    </a:p>
                  </a:txBody>
                  <a:tcPr marL="137160" marR="91440" marT="64008" marB="64008" anchor="ctr">
                    <a:lnL w="0">
                      <a:noFill/>
                    </a:lnL>
                    <a:lnR w="0">
                      <a:noFill/>
                    </a:lnR>
                    <a:lnT w="0">
                      <a:noFill/>
                    </a:lnT>
                    <a:lnB w="6350">
                      <a:solidFill>
                        <a:srgbClr val="C9C5BC"/>
                      </a:solidFill>
                    </a:lnB>
                    <a:noFill/>
                  </a:tcPr>
                </a:tc>
              </a:tr>
              <a:tr h="768705">
                <a:tc>
                  <a:txBody>
                    <a:bodyPr wrap="square"/>
                    <a:lstStyle/>
                    <a:p>
                      <a:r>
                        <a:rPr sz="1750" b="0" i="0">
                          <a:solidFill>
                            <a:srgbClr val="3B4046"/>
                          </a:solidFill>
                          <a:latin typeface="Calibri"/>
                        </a:rPr>
                        <a:t>Rwanda: Law 058/2021</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Register with the NCSA</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Authorisation or another listed ground</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Offshore storage needs a certificate</a:t>
                      </a:r>
                    </a:p>
                  </a:txBody>
                  <a:tcPr marL="137160" marR="91440" marT="64008" marB="64008" anchor="ctr">
                    <a:lnL w="0">
                      <a:noFill/>
                    </a:lnL>
                    <a:lnR w="0">
                      <a:noFill/>
                    </a:lnR>
                    <a:lnT w="0">
                      <a:noFill/>
                    </a:lnT>
                    <a:lnB w="6350">
                      <a:solidFill>
                        <a:srgbClr val="C9C5BC"/>
                      </a:solidFill>
                    </a:lnB>
                    <a:noFill/>
                  </a:tcPr>
                </a:tc>
              </a:tr>
              <a:tr h="768705">
                <a:tc>
                  <a:txBody>
                    <a:bodyPr wrap="square"/>
                    <a:lstStyle/>
                    <a:p>
                      <a:r>
                        <a:rPr sz="1750" b="0" i="0">
                          <a:solidFill>
                            <a:srgbClr val="3B4046"/>
                          </a:solidFill>
                          <a:latin typeface="Calibri"/>
                        </a:rPr>
                        <a:t>Tanzania: Act of 2022</a:t>
                      </a:r>
                    </a:p>
                  </a:txBody>
                  <a:tcPr marL="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Mandatory, with the PDPC</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Adequacy or safeguards, and a permit</a:t>
                      </a:r>
                    </a:p>
                  </a:txBody>
                  <a:tcPr marL="137160" marR="91440" marT="64008" marB="64008" anchor="ctr">
                    <a:lnL w="0">
                      <a:noFill/>
                    </a:lnL>
                    <a:lnR w="0">
                      <a:noFill/>
                    </a:lnR>
                    <a:lnT w="0">
                      <a:noFill/>
                    </a:lnT>
                    <a:lnB w="6350">
                      <a:solidFill>
                        <a:srgbClr val="C9C5BC"/>
                      </a:solidFill>
                    </a:lnB>
                    <a:noFill/>
                  </a:tcPr>
                </a:tc>
                <a:tc>
                  <a:txBody>
                    <a:bodyPr wrap="square"/>
                    <a:lstStyle/>
                    <a:p>
                      <a:r>
                        <a:rPr sz="1750" b="0" i="0">
                          <a:solidFill>
                            <a:srgbClr val="3B4046"/>
                          </a:solidFill>
                          <a:latin typeface="Calibri"/>
                        </a:rPr>
                        <a:t>Closure of the registration window reported</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Reported from secondary sources in October 2026. Teaching summary, not legal advice. Check the current text.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050" b="1" i="0">
                <a:solidFill>
                  <a:srgbClr val="1F2328"/>
                </a:solidFill>
                <a:latin typeface="Cambria"/>
              </a:rPr>
              <a:t>Data in a South African cloud region: what each country asks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graphicFrame>
        <p:nvGraphicFramePr>
          <p:cNvPr id="5" name="Table"/>
          <p:cNvGraphicFramePr>
            <a:graphicFrameLocks noGrp="1"/>
          </p:cNvGraphicFramePr>
          <p:nvPr/>
        </p:nvGraphicFramePr>
        <p:xfrm>
          <a:off x="685800" y="1600200"/>
          <a:ext cx="10820095" cy="3566159"/>
        </p:xfrm>
        <a:graphic>
          <a:graphicData uri="http://schemas.openxmlformats.org/drawingml/2006/table">
            <a:tbl>
              <a:tblPr firstRow="0" bandRow="0">
                <a:tableStyleId>{2D5ABB26-0587-4C30-8999-92F81FD0307C}</a:tableStyleId>
              </a:tblPr>
              <a:tblGrid>
                <a:gridCol w="2164019"/>
                <a:gridCol w="8656076"/>
              </a:tblGrid>
              <a:tr h="583265">
                <a:tc>
                  <a:txBody>
                    <a:bodyPr wrap="square"/>
                    <a:lstStyle/>
                    <a:p>
                      <a:r>
                        <a:rPr sz="2050" b="1" i="0">
                          <a:solidFill>
                            <a:srgbClr val="1F2328"/>
                          </a:solidFill>
                          <a:latin typeface="Calibri"/>
                        </a:rPr>
                        <a:t>Country</a:t>
                      </a:r>
                    </a:p>
                  </a:txBody>
                  <a:tcPr marL="0" marR="91440" marT="64008" marB="64008" anchor="ctr">
                    <a:lnL w="0">
                      <a:noFill/>
                    </a:lnL>
                    <a:lnR w="0">
                      <a:noFill/>
                    </a:lnR>
                    <a:lnT w="0">
                      <a:noFill/>
                    </a:lnT>
                    <a:lnB w="15875">
                      <a:solidFill>
                        <a:srgbClr val="1F2328"/>
                      </a:solidFill>
                    </a:lnB>
                    <a:noFill/>
                  </a:tcPr>
                </a:tc>
                <a:tc>
                  <a:txBody>
                    <a:bodyPr wrap="square"/>
                    <a:lstStyle/>
                    <a:p>
                      <a:r>
                        <a:rPr sz="2050" b="1" i="0">
                          <a:solidFill>
                            <a:srgbClr val="1F2328"/>
                          </a:solidFill>
                          <a:latin typeface="Calibri"/>
                        </a:rPr>
                        <a:t>Before the data sits in a South African region</a:t>
                      </a:r>
                    </a:p>
                  </a:txBody>
                  <a:tcPr marL="137160" marR="91440" marT="64008" marB="64008" anchor="ctr">
                    <a:lnL w="0">
                      <a:noFill/>
                    </a:lnL>
                    <a:lnR w="0">
                      <a:noFill/>
                    </a:lnR>
                    <a:lnT w="0">
                      <a:noFill/>
                    </a:lnT>
                    <a:lnB w="15875">
                      <a:solidFill>
                        <a:srgbClr val="1F2328"/>
                      </a:solidFill>
                    </a:lnB>
                    <a:noFill/>
                  </a:tcPr>
                </a:tc>
              </a:tr>
              <a:tr h="583265">
                <a:tc>
                  <a:txBody>
                    <a:bodyPr wrap="square"/>
                    <a:lstStyle/>
                    <a:p>
                      <a:r>
                        <a:rPr sz="2050" b="0" i="0">
                          <a:solidFill>
                            <a:srgbClr val="3B4046"/>
                          </a:solidFill>
                          <a:latin typeface="Calibri"/>
                        </a:rPr>
                        <a:t>Uganda</a:t>
                      </a:r>
                    </a:p>
                  </a:txBody>
                  <a:tcPr marL="0" marR="91440" marT="64008" marB="64008" anchor="ctr">
                    <a:lnL w="0">
                      <a:noFill/>
                    </a:lnL>
                    <a:lnR w="0">
                      <a:noFill/>
                    </a:lnR>
                    <a:lnT w="0">
                      <a:noFill/>
                    </a:lnT>
                    <a:lnB w="6350">
                      <a:solidFill>
                        <a:srgbClr val="C9C5BC"/>
                      </a:solidFill>
                    </a:lnB>
                    <a:noFill/>
                  </a:tcPr>
                </a:tc>
                <a:tc>
                  <a:txBody>
                    <a:bodyPr wrap="square"/>
                    <a:lstStyle/>
                    <a:p>
                      <a:r>
                        <a:rPr sz="2050" b="0" i="0">
                          <a:solidFill>
                            <a:srgbClr val="3B4046"/>
                          </a:solidFill>
                          <a:latin typeface="Calibri"/>
                        </a:rPr>
                        <a:t>Show equivalent protection in the destination, or get consent. Keep the record.</a:t>
                      </a:r>
                    </a:p>
                  </a:txBody>
                  <a:tcPr marL="137160" marR="91440" marT="64008" marB="64008" anchor="ctr">
                    <a:lnL w="0">
                      <a:noFill/>
                    </a:lnL>
                    <a:lnR w="0">
                      <a:noFill/>
                    </a:lnR>
                    <a:lnT w="0">
                      <a:noFill/>
                    </a:lnT>
                    <a:lnB w="6350">
                      <a:solidFill>
                        <a:srgbClr val="C9C5BC"/>
                      </a:solidFill>
                    </a:lnB>
                    <a:noFill/>
                  </a:tcPr>
                </a:tc>
              </a:tr>
              <a:tr h="583265">
                <a:tc>
                  <a:txBody>
                    <a:bodyPr wrap="square"/>
                    <a:lstStyle/>
                    <a:p>
                      <a:r>
                        <a:rPr sz="2050" b="0" i="0">
                          <a:solidFill>
                            <a:srgbClr val="3B4046"/>
                          </a:solidFill>
                          <a:latin typeface="Calibri"/>
                        </a:rPr>
                        <a:t>Kenya</a:t>
                      </a:r>
                    </a:p>
                  </a:txBody>
                  <a:tcPr marL="0" marR="91440" marT="64008" marB="64008" anchor="ctr">
                    <a:lnL w="0">
                      <a:noFill/>
                    </a:lnL>
                    <a:lnR w="0">
                      <a:noFill/>
                    </a:lnR>
                    <a:lnT w="0">
                      <a:noFill/>
                    </a:lnT>
                    <a:lnB w="6350">
                      <a:solidFill>
                        <a:srgbClr val="C9C5BC"/>
                      </a:solidFill>
                    </a:lnB>
                    <a:noFill/>
                  </a:tcPr>
                </a:tc>
                <a:tc>
                  <a:txBody>
                    <a:bodyPr wrap="square"/>
                    <a:lstStyle/>
                    <a:p>
                      <a:r>
                        <a:rPr sz="2050" b="0" i="0">
                          <a:solidFill>
                            <a:srgbClr val="3B4046"/>
                          </a:solidFill>
                          <a:latin typeface="Calibri"/>
                        </a:rPr>
                        <a:t>Check whether any data must stay in Kenya, and read the 2026 guidance.</a:t>
                      </a:r>
                    </a:p>
                  </a:txBody>
                  <a:tcPr marL="137160" marR="91440" marT="64008" marB="64008" anchor="ctr">
                    <a:lnL w="0">
                      <a:noFill/>
                    </a:lnL>
                    <a:lnR w="0">
                      <a:noFill/>
                    </a:lnR>
                    <a:lnT w="0">
                      <a:noFill/>
                    </a:lnT>
                    <a:lnB w="6350">
                      <a:solidFill>
                        <a:srgbClr val="C9C5BC"/>
                      </a:solidFill>
                    </a:lnB>
                    <a:noFill/>
                  </a:tcPr>
                </a:tc>
              </a:tr>
              <a:tr h="908182">
                <a:tc>
                  <a:txBody>
                    <a:bodyPr wrap="square"/>
                    <a:lstStyle/>
                    <a:p>
                      <a:r>
                        <a:rPr sz="2050" b="0" i="0">
                          <a:solidFill>
                            <a:srgbClr val="3B4046"/>
                          </a:solidFill>
                          <a:latin typeface="Calibri"/>
                        </a:rPr>
                        <a:t>Rwanda</a:t>
                      </a:r>
                    </a:p>
                  </a:txBody>
                  <a:tcPr marL="0" marR="91440" marT="64008" marB="64008" anchor="ctr">
                    <a:lnL w="0">
                      <a:noFill/>
                    </a:lnL>
                    <a:lnR w="0">
                      <a:noFill/>
                    </a:lnR>
                    <a:lnT w="0">
                      <a:noFill/>
                    </a:lnT>
                    <a:lnB w="6350">
                      <a:solidFill>
                        <a:srgbClr val="C9C5BC"/>
                      </a:solidFill>
                    </a:lnB>
                    <a:noFill/>
                  </a:tcPr>
                </a:tc>
                <a:tc>
                  <a:txBody>
                    <a:bodyPr wrap="square"/>
                    <a:lstStyle/>
                    <a:p>
                      <a:r>
                        <a:rPr sz="2050" b="0" i="0">
                          <a:solidFill>
                            <a:srgbClr val="3B4046"/>
                          </a:solidFill>
                          <a:latin typeface="Calibri"/>
                        </a:rPr>
                        <a:t>Hold a certificate that allows offshore storage, and the Authority's authorisation.</a:t>
                      </a:r>
                    </a:p>
                  </a:txBody>
                  <a:tcPr marL="137160" marR="91440" marT="64008" marB="64008" anchor="ctr">
                    <a:lnL w="0">
                      <a:noFill/>
                    </a:lnL>
                    <a:lnR w="0">
                      <a:noFill/>
                    </a:lnR>
                    <a:lnT w="0">
                      <a:noFill/>
                    </a:lnT>
                    <a:lnB w="6350">
                      <a:solidFill>
                        <a:srgbClr val="C9C5BC"/>
                      </a:solidFill>
                    </a:lnB>
                    <a:noFill/>
                  </a:tcPr>
                </a:tc>
              </a:tr>
              <a:tr h="908182">
                <a:tc>
                  <a:txBody>
                    <a:bodyPr wrap="square"/>
                    <a:lstStyle/>
                    <a:p>
                      <a:r>
                        <a:rPr sz="2050" b="0" i="0">
                          <a:solidFill>
                            <a:srgbClr val="3B4046"/>
                          </a:solidFill>
                          <a:latin typeface="Calibri"/>
                        </a:rPr>
                        <a:t>Tanzania</a:t>
                      </a:r>
                    </a:p>
                  </a:txBody>
                  <a:tcPr marL="0" marR="91440" marT="64008" marB="64008" anchor="ctr">
                    <a:lnL w="0">
                      <a:noFill/>
                    </a:lnL>
                    <a:lnR w="0">
                      <a:noFill/>
                    </a:lnR>
                    <a:lnT w="0">
                      <a:noFill/>
                    </a:lnT>
                    <a:lnB w="6350">
                      <a:solidFill>
                        <a:srgbClr val="C9C5BC"/>
                      </a:solidFill>
                    </a:lnB>
                    <a:noFill/>
                  </a:tcPr>
                </a:tc>
                <a:tc>
                  <a:txBody>
                    <a:bodyPr wrap="square"/>
                    <a:lstStyle/>
                    <a:p>
                      <a:r>
                        <a:rPr sz="2050" b="0" i="0">
                          <a:solidFill>
                            <a:srgbClr val="3B4046"/>
                          </a:solidFill>
                          <a:latin typeface="Calibri"/>
                        </a:rPr>
                        <a:t>Obtain the Commission's permit. A bank is reported to need Bank of Tanzania approval too.</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Decision question: who signs off a transfer? Teaching summary. Check the current text of each law.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2900" b="1" i="0">
                <a:solidFill>
                  <a:srgbClr val="1F2328"/>
                </a:solidFill>
                <a:latin typeface="Cambria"/>
              </a:rPr>
              <a:t>The EU AI Act and Article 10 for firms with European customers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What Article 10 asks</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Applies to high-risk AI systems</a:t>
              </a:r>
            </a:p>
          </p:txBody>
        </p:sp>
        <p:cxnSp>
          <p:nvCxnSpPr>
            <p:cNvPr id="10" name="Connector 9"/>
            <p:cNvCxnSpPr/>
            <p:nvPr/>
          </p:nvCxnSpPr>
          <p:spPr>
            <a:xfrm>
              <a:off x="685800" y="2926080"/>
              <a:ext cx="5090007" cy="0"/>
            </a:xfrm>
            <a:prstGeom prst="line">
              <a:avLst/>
            </a:prstGeom>
            <a:ln w="6350">
              <a:solidFill>
                <a:srgbClr val="C9C5BC"/>
              </a:solidFill>
            </a:ln>
          </p:spPr>
        </p:cxnSp>
        <p:sp>
          <p:nvSpPr>
            <p:cNvPr id="11" name="TextBox 10"/>
            <p:cNvSpPr txBox="1"/>
            <p:nvPr/>
          </p:nvSpPr>
          <p:spPr>
            <a:xfrm>
              <a:off x="685800" y="2962656"/>
              <a:ext cx="5090007" cy="630936"/>
            </a:xfrm>
            <a:prstGeom prst="rect">
              <a:avLst/>
            </a:prstGeom>
            <a:noFill/>
          </p:spPr>
          <p:txBody>
            <a:bodyPr wrap="square" lIns="0" rIns="0" tIns="18288" bIns="18288" anchor="ctr">
              <a:spAutoFit/>
            </a:bodyPr>
            <a:lstStyle/>
            <a:p>
              <a:pPr algn="l"/>
              <a:r>
                <a:rPr sz="1900" b="0" i="0">
                  <a:solidFill>
                    <a:srgbClr val="3B4046"/>
                  </a:solidFill>
                  <a:latin typeface="Calibri"/>
                </a:rPr>
                <a:t>Written practices for collecting, labelling and cleaning data</a:t>
              </a:r>
            </a:p>
          </p:txBody>
        </p:sp>
        <p:cxnSp>
          <p:nvCxnSpPr>
            <p:cNvPr id="12" name="Connector 11"/>
            <p:cNvCxnSpPr/>
            <p:nvPr/>
          </p:nvCxnSpPr>
          <p:spPr>
            <a:xfrm>
              <a:off x="685800" y="3611880"/>
              <a:ext cx="5090007" cy="0"/>
            </a:xfrm>
            <a:prstGeom prst="line">
              <a:avLst/>
            </a:prstGeom>
            <a:ln w="6350">
              <a:solidFill>
                <a:srgbClr val="C9C5BC"/>
              </a:solidFill>
            </a:ln>
          </p:spPr>
        </p:cxnSp>
        <p:sp>
          <p:nvSpPr>
            <p:cNvPr id="13" name="TextBox 12"/>
            <p:cNvSpPr txBox="1"/>
            <p:nvPr/>
          </p:nvSpPr>
          <p:spPr>
            <a:xfrm>
              <a:off x="685800"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Checks for bias in the data</a:t>
              </a:r>
            </a:p>
          </p:txBody>
        </p:sp>
        <p:cxnSp>
          <p:nvCxnSpPr>
            <p:cNvPr id="14" name="Connector 13"/>
            <p:cNvCxnSpPr/>
            <p:nvPr/>
          </p:nvCxnSpPr>
          <p:spPr>
            <a:xfrm>
              <a:off x="685800" y="4297680"/>
              <a:ext cx="5090007" cy="0"/>
            </a:xfrm>
            <a:prstGeom prst="line">
              <a:avLst/>
            </a:prstGeom>
            <a:ln w="6350">
              <a:solidFill>
                <a:srgbClr val="C9C5BC"/>
              </a:solidFill>
            </a:ln>
          </p:spPr>
        </p:cxnSp>
        <p:sp>
          <p:nvSpPr>
            <p:cNvPr id="15" name="TextBox 14"/>
            <p:cNvSpPr txBox="1"/>
            <p:nvPr/>
          </p:nvSpPr>
          <p:spPr>
            <a:xfrm>
              <a:off x="685800" y="4334256"/>
              <a:ext cx="5090007" cy="630936"/>
            </a:xfrm>
            <a:prstGeom prst="rect">
              <a:avLst/>
            </a:prstGeom>
            <a:noFill/>
          </p:spPr>
          <p:txBody>
            <a:bodyPr wrap="square" lIns="0" rIns="0" tIns="18288" bIns="18288" anchor="ctr">
              <a:spAutoFit/>
            </a:bodyPr>
            <a:lstStyle/>
            <a:p>
              <a:pPr algn="l"/>
              <a:r>
                <a:rPr sz="1900" b="0" i="0">
                  <a:solidFill>
                    <a:srgbClr val="3B4046"/>
                  </a:solidFill>
                  <a:latin typeface="Calibri"/>
                </a:rPr>
                <a:t>Data that is relevant, representative and as complete and error free as possible</a:t>
              </a:r>
            </a:p>
          </p:txBody>
        </p:sp>
      </p:grpSp>
      <p:grpSp>
        <p:nvGrpSpPr>
          <p:cNvPr id="16" name="side-2"/>
          <p:cNvGrpSpPr/>
          <p:nvPr/>
        </p:nvGrpSpPr>
        <p:grpSpPr>
          <a:xfrm>
            <a:off x="6415887" y="1600200"/>
            <a:ext cx="5090008" cy="3364992"/>
            <a:chOff x="6415887" y="1600200"/>
            <a:chExt cx="5090008" cy="3364992"/>
          </a:xfrm>
        </p:grpSpPr>
        <p:sp>
          <p:nvSpPr>
            <p:cNvPr id="17" name="TextBox 16"/>
            <p:cNvSpPr txBox="1"/>
            <p:nvPr/>
          </p:nvSpPr>
          <p:spPr>
            <a:xfrm>
              <a:off x="6415887" y="1600200"/>
              <a:ext cx="5090007" cy="548640"/>
            </a:xfrm>
            <a:prstGeom prst="rect">
              <a:avLst/>
            </a:prstGeom>
            <a:noFill/>
          </p:spPr>
          <p:txBody>
            <a:bodyPr wrap="square" lIns="0" rIns="0" tIns="18288" bIns="18288" anchor="t">
              <a:spAutoFit/>
            </a:bodyPr>
            <a:lstStyle/>
            <a:p>
              <a:pPr algn="l"/>
              <a:r>
                <a:rPr sz="2500" b="1" i="0">
                  <a:solidFill>
                    <a:srgbClr val="B04A2B"/>
                  </a:solidFill>
                  <a:latin typeface="Cambria"/>
                </a:rPr>
                <a:t>Dates, as reported in October 2026</a:t>
              </a:r>
            </a:p>
          </p:txBody>
        </p:sp>
        <p:cxnSp>
          <p:nvCxnSpPr>
            <p:cNvPr id="18" name="Connector 17"/>
            <p:cNvCxnSpPr/>
            <p:nvPr/>
          </p:nvCxnSpPr>
          <p:spPr>
            <a:xfrm>
              <a:off x="6415887" y="2167128"/>
              <a:ext cx="5090008" cy="0"/>
            </a:xfrm>
            <a:prstGeom prst="line">
              <a:avLst/>
            </a:prstGeom>
            <a:ln w="15875">
              <a:solidFill>
                <a:srgbClr val="1F2328"/>
              </a:solidFill>
            </a:ln>
          </p:spPr>
        </p:cxnSp>
        <p:sp>
          <p:nvSpPr>
            <p:cNvPr id="19" name="TextBox 18"/>
            <p:cNvSpPr txBox="1"/>
            <p:nvPr/>
          </p:nvSpPr>
          <p:spPr>
            <a:xfrm>
              <a:off x="6415887" y="2276856"/>
              <a:ext cx="5090007" cy="630936"/>
            </a:xfrm>
            <a:prstGeom prst="rect">
              <a:avLst/>
            </a:prstGeom>
            <a:noFill/>
          </p:spPr>
          <p:txBody>
            <a:bodyPr wrap="square" lIns="0" rIns="0" tIns="18288" bIns="18288" anchor="ctr">
              <a:spAutoFit/>
            </a:bodyPr>
            <a:lstStyle/>
            <a:p>
              <a:pPr algn="l"/>
              <a:r>
                <a:rPr sz="1900" b="0" i="0">
                  <a:solidFill>
                    <a:srgbClr val="3B4046"/>
                  </a:solidFill>
                  <a:latin typeface="Calibri"/>
                </a:rPr>
                <a:t>Digital Omnibus on AI, reported as Regulation (EU) 2026/1744, in force 27 July 2026</a:t>
              </a:r>
            </a:p>
          </p:txBody>
        </p:sp>
        <p:cxnSp>
          <p:nvCxnSpPr>
            <p:cNvPr id="20" name="Connector 19"/>
            <p:cNvCxnSpPr/>
            <p:nvPr/>
          </p:nvCxnSpPr>
          <p:spPr>
            <a:xfrm>
              <a:off x="6415887" y="2926080"/>
              <a:ext cx="5090008" cy="0"/>
            </a:xfrm>
            <a:prstGeom prst="line">
              <a:avLst/>
            </a:prstGeom>
            <a:ln w="6350">
              <a:solidFill>
                <a:srgbClr val="C9C5BC"/>
              </a:solidFill>
            </a:ln>
          </p:spPr>
        </p:cxnSp>
        <p:sp>
          <p:nvSpPr>
            <p:cNvPr id="21" name="TextBox 20"/>
            <p:cNvSpPr txBox="1"/>
            <p:nvPr/>
          </p:nvSpPr>
          <p:spPr>
            <a:xfrm>
              <a:off x="6415887" y="2962656"/>
              <a:ext cx="5090007" cy="630936"/>
            </a:xfrm>
            <a:prstGeom prst="rect">
              <a:avLst/>
            </a:prstGeom>
            <a:noFill/>
          </p:spPr>
          <p:txBody>
            <a:bodyPr wrap="square" lIns="0" rIns="0" tIns="18288" bIns="18288" anchor="ctr">
              <a:spAutoFit/>
            </a:bodyPr>
            <a:lstStyle/>
            <a:p>
              <a:pPr algn="l"/>
              <a:r>
                <a:rPr sz="1900" b="0" i="0">
                  <a:solidFill>
                    <a:srgbClr val="3B4046"/>
                  </a:solidFill>
                  <a:latin typeface="Calibri"/>
                </a:rPr>
                <a:t>Annex III high-risk duties moved to 2 December 2027</a:t>
              </a:r>
            </a:p>
          </p:txBody>
        </p:sp>
        <p:cxnSp>
          <p:nvCxnSpPr>
            <p:cNvPr id="22" name="Connector 21"/>
            <p:cNvCxnSpPr/>
            <p:nvPr/>
          </p:nvCxnSpPr>
          <p:spPr>
            <a:xfrm>
              <a:off x="6415887" y="3611880"/>
              <a:ext cx="5090008" cy="0"/>
            </a:xfrm>
            <a:prstGeom prst="line">
              <a:avLst/>
            </a:prstGeom>
            <a:ln w="6350">
              <a:solidFill>
                <a:srgbClr val="C9C5BC"/>
              </a:solidFill>
            </a:ln>
          </p:spPr>
        </p:cxnSp>
        <p:sp>
          <p:nvSpPr>
            <p:cNvPr id="23" name="TextBox 22"/>
            <p:cNvSpPr txBox="1"/>
            <p:nvPr/>
          </p:nvSpPr>
          <p:spPr>
            <a:xfrm>
              <a:off x="6415887"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Product systems moved to 2 August 2028</a:t>
              </a:r>
            </a:p>
          </p:txBody>
        </p:sp>
        <p:cxnSp>
          <p:nvCxnSpPr>
            <p:cNvPr id="24" name="Connector 23"/>
            <p:cNvCxnSpPr/>
            <p:nvPr/>
          </p:nvCxnSpPr>
          <p:spPr>
            <a:xfrm>
              <a:off x="6415887" y="4297680"/>
              <a:ext cx="5090008" cy="0"/>
            </a:xfrm>
            <a:prstGeom prst="line">
              <a:avLst/>
            </a:prstGeom>
            <a:ln w="6350">
              <a:solidFill>
                <a:srgbClr val="C9C5BC"/>
              </a:solidFill>
            </a:ln>
          </p:spPr>
        </p:cxnSp>
        <p:sp>
          <p:nvSpPr>
            <p:cNvPr id="25" name="TextBox 24"/>
            <p:cNvSpPr txBox="1"/>
            <p:nvPr/>
          </p:nvSpPr>
          <p:spPr>
            <a:xfrm>
              <a:off x="6415887"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Read the Official Journal text</a:t>
              </a:r>
            </a:p>
          </p:txBody>
        </p:sp>
      </p:grpSp>
      <p:grpSp>
        <p:nvGrpSpPr>
          <p:cNvPr id="26" name="verdict"/>
          <p:cNvGrpSpPr/>
          <p:nvPr/>
        </p:nvGrpSpPr>
        <p:grpSpPr>
          <a:xfrm>
            <a:off x="685800" y="5257800"/>
            <a:ext cx="10820095" cy="978408"/>
            <a:chOff x="685800" y="5257800"/>
            <a:chExt cx="10820095" cy="978408"/>
          </a:xfrm>
        </p:grpSpPr>
        <p:cxnSp>
          <p:nvCxnSpPr>
            <p:cNvPr id="27" name="Connector 26"/>
            <p:cNvCxnSpPr/>
            <p:nvPr/>
          </p:nvCxnSpPr>
          <p:spPr>
            <a:xfrm>
              <a:off x="685800" y="5257800"/>
              <a:ext cx="10820095" cy="0"/>
            </a:xfrm>
            <a:prstGeom prst="line">
              <a:avLst/>
            </a:prstGeom>
            <a:ln w="15875">
              <a:solidFill>
                <a:srgbClr val="1F2328"/>
              </a:solidFill>
            </a:ln>
          </p:spPr>
        </p:cxnSp>
        <p:sp>
          <p:nvSpPr>
            <p:cNvPr id="28" name="TextBox 27"/>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It reaches Kitara only if it sells into the EU or runs a high-risk use there. Check the current text.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Kitara's claims letters: personal data found by pattern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pic>
        <p:nvPicPr>
          <p:cNvPr id="5" name="figure-pii_counts" descr="Bar chart of personal data patterns found in the claims letters: 49 phone numbers, 37 names, 30 customer ids, 20 national ids and 0 emails."/>
          <p:cNvPicPr>
            <a:picLocks noChangeAspect="1"/>
          </p:cNvPicPr>
          <p:nvPr/>
        </p:nvPicPr>
        <p:blipFill>
          <a:blip r:embed="rId3"/>
          <a:stretch>
            <a:fillRect/>
          </a:stretch>
        </p:blipFill>
        <p:spPr>
          <a:xfrm>
            <a:off x="685800" y="1600200"/>
            <a:ext cx="5964381"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Phone numbers lead with 49 matches, then names after a title with 37.</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Customer ids appear 30 times, once in each letter.</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1950" b="0" i="0">
                  <a:solidFill>
                    <a:srgbClr val="1F2328"/>
                  </a:solidFill>
                  <a:latin typeface="Calibri"/>
                </a:rPr>
                <a:t>National ids appear 20 times, and emails never. Every letter holds at least one match.</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Regular expressions on the text of the 30 claims letters. Names are a rough pattern.</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Finding personal data with patterns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Rectangle 4"/>
          <p:cNvSpPr/>
          <p:nvPr/>
        </p:nvSpPr>
        <p:spPr>
          <a:xfrm>
            <a:off x="685800" y="1600200"/>
            <a:ext cx="6766560" cy="45780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492240" cy="4303776"/>
          </a:xfrm>
          <a:prstGeom prst="rect">
            <a:avLst/>
          </a:prstGeom>
          <a:noFill/>
        </p:spPr>
        <p:txBody>
          <a:bodyPr wrap="none" lIns="0" rIns="0" tIns="0" bIns="0">
            <a:spAutoFit/>
          </a:bodyPr>
          <a:lstStyle/>
          <a:p>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re</a:t>
            </a:r>
          </a:p>
          <a:p>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pandas</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pd</a:t>
            </a:r>
          </a:p>
          <a:p>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kitara_search</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ks</a:t>
            </a:r>
          </a:p>
          <a:p>
            <a:r>
              <a:rPr sz="1400" b="0" i="0">
                <a:solidFill>
                  <a:srgbClr val="1F2328"/>
                </a:solidFill>
                <a:latin typeface="Courier New"/>
              </a:rPr>
              <a:t> </a:t>
            </a:r>
          </a:p>
          <a:p>
            <a:r>
              <a:rPr sz="1400" b="0" i="0">
                <a:solidFill>
                  <a:srgbClr val="1F2328"/>
                </a:solidFill>
                <a:latin typeface="Courier New"/>
              </a:rPr>
              <a:t>corpus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ks</a:t>
            </a:r>
            <a:r>
              <a:rPr sz="1400" b="0" i="0">
                <a:solidFill>
                  <a:srgbClr val="1F2328"/>
                </a:solidFill>
                <a:latin typeface="Courier New"/>
              </a:rPr>
              <a:t>.</a:t>
            </a:r>
            <a:r>
              <a:rPr sz="1400" b="0" i="0">
                <a:solidFill>
                  <a:srgbClr val="1F2328"/>
                </a:solidFill>
                <a:latin typeface="Courier New"/>
              </a:rPr>
              <a:t>load_corpus</a:t>
            </a:r>
            <a:r>
              <a:rPr sz="1400" b="0" i="0">
                <a:solidFill>
                  <a:srgbClr val="1F2328"/>
                </a:solidFill>
                <a:latin typeface="Courier New"/>
              </a:rPr>
              <a:t>(</a:t>
            </a:r>
            <a:r>
              <a:rPr sz="1400" b="0" i="0">
                <a:solidFill>
                  <a:srgbClr val="B04A2B"/>
                </a:solidFill>
                <a:latin typeface="Courier New"/>
              </a:rPr>
              <a:t>'.'</a:t>
            </a:r>
            <a:r>
              <a:rPr sz="1400" b="0" i="0">
                <a:solidFill>
                  <a:srgbClr val="1F2328"/>
                </a:solidFill>
                <a:latin typeface="Courier New"/>
              </a:rPr>
              <a:t>)</a:t>
            </a:r>
          </a:p>
          <a:p>
            <a:r>
              <a:rPr sz="1400" b="0" i="0">
                <a:solidFill>
                  <a:srgbClr val="1F2328"/>
                </a:solidFill>
                <a:latin typeface="Courier New"/>
              </a:rPr>
              <a:t>flag</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corpus</a:t>
            </a:r>
            <a:r>
              <a:rPr sz="1400" b="0" i="0">
                <a:solidFill>
                  <a:srgbClr val="1F2328"/>
                </a:solidFill>
                <a:latin typeface="Courier New"/>
              </a:rPr>
              <a:t>[</a:t>
            </a:r>
            <a:r>
              <a:rPr sz="1400" b="0" i="0">
                <a:solidFill>
                  <a:srgbClr val="1F2328"/>
                </a:solidFill>
                <a:latin typeface="Courier New"/>
              </a:rPr>
              <a:t>corpus</a:t>
            </a:r>
            <a:r>
              <a:rPr sz="1400" b="0" i="0">
                <a:solidFill>
                  <a:srgbClr val="1F2328"/>
                </a:solidFill>
                <a:latin typeface="Courier New"/>
              </a:rPr>
              <a:t>.</a:t>
            </a:r>
            <a:r>
              <a:rPr sz="1400" b="0" i="0">
                <a:solidFill>
                  <a:srgbClr val="1F2328"/>
                </a:solidFill>
                <a:latin typeface="Courier New"/>
              </a:rPr>
              <a:t>contains_personal_data</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'Y'</a:t>
            </a:r>
            <a:r>
              <a:rPr sz="1400" b="0" i="0">
                <a:solidFill>
                  <a:srgbClr val="1F2328"/>
                </a:solidFill>
                <a:latin typeface="Courier New"/>
              </a:rPr>
              <a:t>]</a:t>
            </a:r>
          </a:p>
          <a:p>
            <a:r>
              <a:rPr sz="1400" b="0" i="0">
                <a:solidFill>
                  <a:srgbClr val="1F2328"/>
                </a:solidFill>
                <a:latin typeface="Courier New"/>
              </a:rPr>
              <a:t>letters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flag</a:t>
            </a:r>
            <a:r>
              <a:rPr sz="1400" b="0" i="0">
                <a:solidFill>
                  <a:srgbClr val="1F2328"/>
                </a:solidFill>
                <a:latin typeface="Courier New"/>
              </a:rPr>
              <a:t>[</a:t>
            </a:r>
            <a:r>
              <a:rPr sz="1400" b="0" i="0">
                <a:solidFill>
                  <a:srgbClr val="1F2328"/>
                </a:solidFill>
                <a:latin typeface="Courier New"/>
              </a:rPr>
              <a:t>flag</a:t>
            </a:r>
            <a:r>
              <a:rPr sz="1400" b="0" i="0">
                <a:solidFill>
                  <a:srgbClr val="1F2328"/>
                </a:solidFill>
                <a:latin typeface="Courier New"/>
              </a:rPr>
              <a:t>.</a:t>
            </a:r>
            <a:r>
              <a:rPr sz="1400" b="0" i="0">
                <a:solidFill>
                  <a:srgbClr val="1F2328"/>
                </a:solidFill>
                <a:latin typeface="Courier New"/>
              </a:rPr>
              <a:t>format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'text_pdf'</a:t>
            </a:r>
            <a:r>
              <a:rPr sz="1400" b="0" i="0">
                <a:solidFill>
                  <a:srgbClr val="1F2328"/>
                </a:solidFill>
                <a:latin typeface="Courier New"/>
              </a:rPr>
              <a:t>]</a:t>
            </a:r>
          </a:p>
          <a:p>
            <a:r>
              <a:rPr sz="1400" b="0" i="0">
                <a:solidFill>
                  <a:srgbClr val="1F2328"/>
                </a:solidFill>
                <a:latin typeface="Courier New"/>
              </a:rPr>
              <a:t>PATTERNS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B04A2B"/>
                </a:solidFill>
                <a:latin typeface="Courier New"/>
              </a:rPr>
              <a:t>'PHONE'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a:t>
            </a:r>
            <a:r>
              <a:rPr sz="1400" b="0" i="0">
                <a:solidFill>
                  <a:srgbClr val="B04A2B"/>
                </a:solidFill>
                <a:latin typeface="Courier New"/>
              </a:rPr>
              <a:t>'\+25[46] ?700 ?0\d\d ?\d{3}'</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B04A2B"/>
                </a:solidFill>
                <a:latin typeface="Courier New"/>
              </a:rPr>
              <a:t>'NATIONAL_ID'</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a:t>
            </a:r>
            <a:r>
              <a:rPr sz="1400" b="0" i="0">
                <a:solidFill>
                  <a:srgbClr val="B04A2B"/>
                </a:solidFill>
                <a:latin typeface="Courier New"/>
              </a:rPr>
              <a:t>'KX\d{12}'</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B04A2B"/>
                </a:solidFill>
                <a:latin typeface="Courier New"/>
              </a:rPr>
              <a:t>'CUSTOMER_ID'</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a:t>
            </a:r>
            <a:r>
              <a:rPr sz="1400" b="0" i="0">
                <a:solidFill>
                  <a:srgbClr val="B04A2B"/>
                </a:solidFill>
                <a:latin typeface="Courier New"/>
              </a:rPr>
              <a:t>'KT-\d{7}'</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B04A2B"/>
                </a:solidFill>
                <a:latin typeface="Courier New"/>
              </a:rPr>
              <a:t>'EMAIL'</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a:t>
            </a:r>
            <a:r>
              <a:rPr sz="1400" b="0" i="0">
                <a:solidFill>
                  <a:srgbClr val="B04A2B"/>
                </a:solidFill>
                <a:latin typeface="Courier New"/>
              </a:rPr>
              <a:t>'[\w.]+@[\w.]+\.\w+'</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B04A2B"/>
                </a:solidFill>
                <a:latin typeface="Courier New"/>
              </a:rPr>
              <a:t>'NAME'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a:t>
            </a:r>
            <a:r>
              <a:rPr sz="1400" b="0" i="0">
                <a:solidFill>
                  <a:srgbClr val="B04A2B"/>
                </a:solidFill>
                <a:latin typeface="Courier New"/>
              </a:rPr>
              <a:t>'\b(?:Mr|Mrs|Ms|Dr) [A-Z]\w+(?: [A-Z]\w+)*'</a:t>
            </a:r>
            <a:r>
              <a:rPr sz="1400" b="0" i="0">
                <a:solidFill>
                  <a:srgbClr val="1F2328"/>
                </a:solidFill>
                <a:latin typeface="Courier New"/>
              </a:rPr>
              <a:t>,</a:t>
            </a:r>
          </a:p>
          <a:p>
            <a:r>
              <a:rPr sz="1400" b="0" i="0">
                <a:solidFill>
                  <a:srgbClr val="1F2328"/>
                </a:solidFill>
                <a:latin typeface="Courier New"/>
              </a:rPr>
              <a:t>}</a:t>
            </a:r>
          </a:p>
          <a:p>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tag</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rx</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PATTERNS</a:t>
            </a:r>
            <a:r>
              <a:rPr sz="1400" b="0" i="0">
                <a:solidFill>
                  <a:srgbClr val="1F2328"/>
                </a:solidFill>
                <a:latin typeface="Courier New"/>
              </a:rPr>
              <a:t>.</a:t>
            </a:r>
            <a:r>
              <a:rPr sz="1400" b="0" i="0">
                <a:solidFill>
                  <a:srgbClr val="1F2328"/>
                </a:solidFill>
                <a:latin typeface="Courier New"/>
              </a:rPr>
              <a:t>items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n</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letters</a:t>
            </a:r>
            <a:r>
              <a:rPr sz="1400" b="0" i="0">
                <a:solidFill>
                  <a:srgbClr val="1F2328"/>
                </a:solidFill>
                <a:latin typeface="Courier New"/>
              </a:rPr>
              <a:t>.</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str</a:t>
            </a:r>
            <a:r>
              <a:rPr sz="1400" b="0" i="0">
                <a:solidFill>
                  <a:srgbClr val="1F2328"/>
                </a:solidFill>
                <a:latin typeface="Courier New"/>
              </a:rPr>
              <a:t>.</a:t>
            </a:r>
            <a:r>
              <a:rPr sz="1400" b="0" i="0">
                <a:solidFill>
                  <a:srgbClr val="1F2328"/>
                </a:solidFill>
                <a:latin typeface="Courier New"/>
              </a:rPr>
              <a:t>count</a:t>
            </a:r>
            <a:r>
              <a:rPr sz="1400" b="0" i="0">
                <a:solidFill>
                  <a:srgbClr val="1F2328"/>
                </a:solidFill>
                <a:latin typeface="Courier New"/>
              </a:rPr>
              <a:t>(</a:t>
            </a:r>
            <a:r>
              <a:rPr sz="1400" b="0" i="0">
                <a:solidFill>
                  <a:srgbClr val="1F2328"/>
                </a:solidFill>
                <a:latin typeface="Courier New"/>
              </a:rPr>
              <a:t>rx</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m</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k</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n</a:t>
            </a:r>
            <a:r>
              <a:rPr sz="1400" b="0" i="0">
                <a:solidFill>
                  <a:srgbClr val="1F2328"/>
                </a:solidFill>
                <a:latin typeface="Courier New"/>
              </a:rPr>
              <a:t>.</a:t>
            </a:r>
            <a:r>
              <a:rPr sz="1400" b="0" i="0">
                <a:solidFill>
                  <a:srgbClr val="1F2328"/>
                </a:solidFill>
                <a:latin typeface="Courier New"/>
              </a:rPr>
              <a:t>sum</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n</a:t>
            </a:r>
            <a:r>
              <a:rPr sz="1400" b="0" i="0">
                <a:solidFill>
                  <a:srgbClr val="1F2328"/>
                </a:solidFill>
                <a:latin typeface="Courier New"/>
              </a:rPr>
              <a:t> </a:t>
            </a:r>
            <a:r>
              <a:rPr sz="1400" b="0" i="0">
                <a:solidFill>
                  <a:srgbClr val="1F2328"/>
                </a:solidFill>
                <a:latin typeface="Courier New"/>
              </a:rPr>
              <a:t>&gt;</a:t>
            </a:r>
            <a:r>
              <a:rPr sz="1400" b="0" i="0">
                <a:solidFill>
                  <a:srgbClr val="1F2328"/>
                </a:solidFill>
                <a:latin typeface="Courier New"/>
              </a:rPr>
              <a:t> </a:t>
            </a:r>
            <a:r>
              <a:rPr sz="1400" b="0" i="0">
                <a:solidFill>
                  <a:srgbClr val="3B4046"/>
                </a:solidFill>
                <a:latin typeface="Courier New"/>
              </a:rPr>
              <a:t>0</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sum</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f</a:t>
            </a:r>
            <a:r>
              <a:rPr sz="1400" b="0" i="0">
                <a:solidFill>
                  <a:srgbClr val="B04A2B"/>
                </a:solidFill>
                <a:latin typeface="Courier New"/>
              </a:rPr>
              <a:t>'{tag:12}{m:3} in {k:2}'</a:t>
            </a:r>
            <a:r>
              <a:rPr sz="1400" b="0" i="0">
                <a:solidFill>
                  <a:srgbClr val="1F2328"/>
                </a:solidFill>
                <a:latin typeface="Courier New"/>
              </a:rPr>
              <a:t>)</a:t>
            </a:r>
          </a:p>
          <a:p>
            <a:r>
              <a:rPr sz="1400" b="0" i="0">
                <a:solidFill>
                  <a:srgbClr val="1F2328"/>
                </a:solidFill>
                <a:latin typeface="Courier New"/>
              </a:rPr>
              <a:t>sick</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letters</a:t>
            </a:r>
            <a:r>
              <a:rPr sz="1400" b="0" i="0">
                <a:solidFill>
                  <a:srgbClr val="1F2328"/>
                </a:solidFill>
                <a:latin typeface="Courier New"/>
              </a:rPr>
              <a:t>.</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str</a:t>
            </a:r>
            <a:r>
              <a:rPr sz="1400" b="0" i="0">
                <a:solidFill>
                  <a:srgbClr val="1F2328"/>
                </a:solidFill>
                <a:latin typeface="Courier New"/>
              </a:rPr>
              <a:t>.</a:t>
            </a:r>
            <a:r>
              <a:rPr sz="1400" b="0" i="0">
                <a:solidFill>
                  <a:srgbClr val="1F2328"/>
                </a:solidFill>
                <a:latin typeface="Courier New"/>
              </a:rPr>
              <a:t>contains</a:t>
            </a:r>
            <a:r>
              <a:rPr sz="1400" b="0" i="0">
                <a:solidFill>
                  <a:srgbClr val="1F2328"/>
                </a:solidFill>
                <a:latin typeface="Courier New"/>
              </a:rPr>
              <a:t>(</a:t>
            </a:r>
            <a:r>
              <a:rPr sz="1400" b="0" i="0">
                <a:solidFill>
                  <a:srgbClr val="B04A2B"/>
                </a:solidFill>
                <a:latin typeface="Courier New"/>
              </a:rPr>
              <a:t>'dialysis|kidney'</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B04A2B"/>
                </a:solidFill>
                <a:latin typeface="Courier New"/>
              </a:rPr>
              <a:t>'health'</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letters</a:t>
            </a:r>
            <a:r>
              <a:rPr sz="1400" b="0" i="0">
                <a:solidFill>
                  <a:srgbClr val="1F2328"/>
                </a:solidFill>
                <a:latin typeface="Courier New"/>
              </a:rPr>
              <a:t>[</a:t>
            </a:r>
            <a:r>
              <a:rPr sz="1400" b="0" i="0">
                <a:solidFill>
                  <a:srgbClr val="1F2328"/>
                </a:solidFill>
                <a:latin typeface="Courier New"/>
              </a:rPr>
              <a:t>sick</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doc_id</a:t>
            </a:r>
            <a:r>
              <a:rPr sz="1400" b="0" i="0">
                <a:solidFill>
                  <a:srgbClr val="1F2328"/>
                </a:solidFill>
                <a:latin typeface="Courier New"/>
              </a:rPr>
              <a:t>.</a:t>
            </a:r>
            <a:r>
              <a:rPr sz="1400" b="0" i="0">
                <a:solidFill>
                  <a:srgbClr val="1F2328"/>
                </a:solidFill>
                <a:latin typeface="Courier New"/>
              </a:rPr>
              <a:t>tolist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p:txBody>
      </p:sp>
      <p:grpSp>
        <p:nvGrpSpPr>
          <p:cNvPr id="7" name="output"/>
          <p:cNvGrpSpPr/>
          <p:nvPr/>
        </p:nvGrpSpPr>
        <p:grpSpPr>
          <a:xfrm>
            <a:off x="7863840" y="1600200"/>
            <a:ext cx="3642055" cy="1773936"/>
            <a:chOff x="7863840" y="1600200"/>
            <a:chExt cx="3642055" cy="1773936"/>
          </a:xfrm>
        </p:grpSpPr>
        <p:sp>
          <p:nvSpPr>
            <p:cNvPr id="8" name="TextBox 7"/>
            <p:cNvSpPr txBox="1"/>
            <p:nvPr/>
          </p:nvSpPr>
          <p:spPr>
            <a:xfrm>
              <a:off x="7863840" y="1600200"/>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7863840" y="1856232"/>
              <a:ext cx="3642055" cy="1517904"/>
            </a:xfrm>
            <a:prstGeom prst="rect">
              <a:avLst/>
            </a:prstGeom>
            <a:solidFill>
              <a:srgbClr val="F5F3EF"/>
            </a:solidFill>
            <a:ln>
              <a:noFill/>
            </a:ln>
          </p:spPr>
          <p:txBody>
            <a:bodyPr rtlCol="0" anchor="ctr"/>
            <a:lstStyle/>
            <a:p>
              <a:pPr algn="ctr"/>
            </a:p>
          </p:txBody>
        </p:sp>
        <p:sp>
          <p:nvSpPr>
            <p:cNvPr id="10" name="TextBox 9"/>
            <p:cNvSpPr txBox="1"/>
            <p:nvPr/>
          </p:nvSpPr>
          <p:spPr>
            <a:xfrm>
              <a:off x="8046719" y="1947672"/>
              <a:ext cx="3367735" cy="1408176"/>
            </a:xfrm>
            <a:prstGeom prst="rect">
              <a:avLst/>
            </a:prstGeom>
            <a:noFill/>
          </p:spPr>
          <p:txBody>
            <a:bodyPr wrap="none" lIns="0" rIns="0" tIns="0" bIns="0">
              <a:spAutoFit/>
            </a:bodyPr>
            <a:lstStyle/>
            <a:p>
              <a:r>
                <a:rPr sz="1300" b="0" i="0">
                  <a:solidFill>
                    <a:srgbClr val="1F2328"/>
                  </a:solidFill>
                  <a:latin typeface="Courier New"/>
                </a:rPr>
                <a:t>PHONE        49 in 26</a:t>
              </a:r>
            </a:p>
            <a:p>
              <a:r>
                <a:rPr sz="1300" b="0" i="0">
                  <a:solidFill>
                    <a:srgbClr val="1F2328"/>
                  </a:solidFill>
                  <a:latin typeface="Courier New"/>
                </a:rPr>
                <a:t>NATIONAL_ID  20 in 20</a:t>
              </a:r>
            </a:p>
            <a:p>
              <a:r>
                <a:rPr sz="1300" b="0" i="0">
                  <a:solidFill>
                    <a:srgbClr val="1F2328"/>
                  </a:solidFill>
                  <a:latin typeface="Courier New"/>
                </a:rPr>
                <a:t>CUSTOMER_ID  30 in 30</a:t>
              </a:r>
            </a:p>
            <a:p>
              <a:r>
                <a:rPr sz="1300" b="0" i="0">
                  <a:solidFill>
                    <a:srgbClr val="1F2328"/>
                  </a:solidFill>
                  <a:latin typeface="Courier New"/>
                </a:rPr>
                <a:t>EMAIL         0 in  0</a:t>
              </a:r>
            </a:p>
            <a:p>
              <a:r>
                <a:rPr sz="1300" b="0" i="0">
                  <a:solidFill>
                    <a:srgbClr val="1F2328"/>
                  </a:solidFill>
                  <a:latin typeface="Courier New"/>
                </a:rPr>
                <a:t>NAME         37 in 30</a:t>
              </a:r>
            </a:p>
            <a:p>
              <a:r>
                <a:rPr sz="1300" b="0" i="0">
                  <a:solidFill>
                    <a:srgbClr val="1F2328"/>
                  </a:solidFill>
                  <a:latin typeface="Courier New"/>
                </a:rPr>
                <a:t>health ['D102']</a:t>
              </a:r>
            </a:p>
          </p:txBody>
        </p:sp>
      </p:grpSp>
      <p:cxnSp>
        <p:nvCxnSpPr>
          <p:cNvPr id="11" name="Connector 10"/>
          <p:cNvCxnSpPr/>
          <p:nvPr/>
        </p:nvCxnSpPr>
        <p:spPr>
          <a:xfrm>
            <a:off x="7863840" y="3694176"/>
            <a:ext cx="3642055" cy="0"/>
          </a:xfrm>
          <a:prstGeom prst="line">
            <a:avLst/>
          </a:prstGeom>
          <a:ln w="15875">
            <a:solidFill>
              <a:srgbClr val="1F2328"/>
            </a:solidFill>
          </a:ln>
        </p:spPr>
      </p:cxnSp>
      <p:grpSp>
        <p:nvGrpSpPr>
          <p:cNvPr id="12" name="note-1"/>
          <p:cNvGrpSpPr/>
          <p:nvPr/>
        </p:nvGrpSpPr>
        <p:grpSpPr>
          <a:xfrm>
            <a:off x="7863840" y="3767328"/>
            <a:ext cx="3642055" cy="768096"/>
            <a:chOff x="7863840" y="3767328"/>
            <a:chExt cx="3642055" cy="768096"/>
          </a:xfrm>
        </p:grpSpPr>
        <p:sp>
          <p:nvSpPr>
            <p:cNvPr id="13" name="TextBox 12"/>
            <p:cNvSpPr txBox="1"/>
            <p:nvPr/>
          </p:nvSpPr>
          <p:spPr>
            <a:xfrm>
              <a:off x="7863840" y="3767328"/>
              <a:ext cx="320040" cy="749808"/>
            </a:xfrm>
            <a:prstGeom prst="rect">
              <a:avLst/>
            </a:prstGeom>
            <a:noFill/>
          </p:spPr>
          <p:txBody>
            <a:bodyPr wrap="square" lIns="0" rIns="0" tIns="18288" bIns="18288" anchor="t">
              <a:spAutoFit/>
            </a:bodyPr>
            <a:lstStyle/>
            <a:p>
              <a:pPr algn="l"/>
              <a:r>
                <a:rPr sz="1800" b="1" i="0">
                  <a:solidFill>
                    <a:srgbClr val="B04A2B"/>
                  </a:solidFill>
                  <a:latin typeface="Cambria"/>
                </a:rPr>
                <a:t>1</a:t>
              </a:r>
            </a:p>
          </p:txBody>
        </p:sp>
        <p:sp>
          <p:nvSpPr>
            <p:cNvPr id="14" name="TextBox 13"/>
            <p:cNvSpPr txBox="1"/>
            <p:nvPr/>
          </p:nvSpPr>
          <p:spPr>
            <a:xfrm>
              <a:off x="8229600" y="3767328"/>
              <a:ext cx="3276295" cy="731519"/>
            </a:xfrm>
            <a:prstGeom prst="rect">
              <a:avLst/>
            </a:prstGeom>
            <a:noFill/>
          </p:spPr>
          <p:txBody>
            <a:bodyPr wrap="square" lIns="0" rIns="0" tIns="18288" bIns="18288" anchor="t">
              <a:spAutoFit/>
            </a:bodyPr>
            <a:lstStyle/>
            <a:p>
              <a:pPr algn="l"/>
              <a:r>
                <a:rPr sz="1800" b="0" i="0">
                  <a:solidFill>
                    <a:srgbClr val="1F2328"/>
                  </a:solidFill>
                  <a:latin typeface="Calibri"/>
                </a:rPr>
                <a:t>Keep the 32 flagged documents, and the 30 that are text letters.</a:t>
              </a:r>
            </a:p>
          </p:txBody>
        </p:sp>
        <p:cxnSp>
          <p:nvCxnSpPr>
            <p:cNvPr id="15" name="Connector 14"/>
            <p:cNvCxnSpPr/>
            <p:nvPr/>
          </p:nvCxnSpPr>
          <p:spPr>
            <a:xfrm>
              <a:off x="7863840" y="4535424"/>
              <a:ext cx="3642055" cy="0"/>
            </a:xfrm>
            <a:prstGeom prst="line">
              <a:avLst/>
            </a:prstGeom>
            <a:ln w="6350">
              <a:solidFill>
                <a:srgbClr val="C9C5BC"/>
              </a:solidFill>
            </a:ln>
          </p:spPr>
        </p:cxnSp>
      </p:grpSp>
      <p:grpSp>
        <p:nvGrpSpPr>
          <p:cNvPr id="16" name="note-2"/>
          <p:cNvGrpSpPr/>
          <p:nvPr/>
        </p:nvGrpSpPr>
        <p:grpSpPr>
          <a:xfrm>
            <a:off x="7863840" y="4608576"/>
            <a:ext cx="3642055" cy="768096"/>
            <a:chOff x="7863840" y="4608576"/>
            <a:chExt cx="3642055" cy="768096"/>
          </a:xfrm>
        </p:grpSpPr>
        <p:sp>
          <p:nvSpPr>
            <p:cNvPr id="17" name="TextBox 16"/>
            <p:cNvSpPr txBox="1"/>
            <p:nvPr/>
          </p:nvSpPr>
          <p:spPr>
            <a:xfrm>
              <a:off x="7863840" y="4608576"/>
              <a:ext cx="320040" cy="749808"/>
            </a:xfrm>
            <a:prstGeom prst="rect">
              <a:avLst/>
            </a:prstGeom>
            <a:noFill/>
          </p:spPr>
          <p:txBody>
            <a:bodyPr wrap="square" lIns="0" rIns="0" tIns="18288" bIns="18288" anchor="t">
              <a:spAutoFit/>
            </a:bodyPr>
            <a:lstStyle/>
            <a:p>
              <a:pPr algn="l"/>
              <a:r>
                <a:rPr sz="1800" b="1" i="0">
                  <a:solidFill>
                    <a:srgbClr val="B04A2B"/>
                  </a:solidFill>
                  <a:latin typeface="Cambria"/>
                </a:rPr>
                <a:t>2</a:t>
              </a:r>
            </a:p>
          </p:txBody>
        </p:sp>
        <p:sp>
          <p:nvSpPr>
            <p:cNvPr id="18" name="TextBox 17"/>
            <p:cNvSpPr txBox="1"/>
            <p:nvPr/>
          </p:nvSpPr>
          <p:spPr>
            <a:xfrm>
              <a:off x="8229600" y="4608576"/>
              <a:ext cx="3276295" cy="731519"/>
            </a:xfrm>
            <a:prstGeom prst="rect">
              <a:avLst/>
            </a:prstGeom>
            <a:noFill/>
          </p:spPr>
          <p:txBody>
            <a:bodyPr wrap="square" lIns="0" rIns="0" tIns="18288" bIns="18288" anchor="t">
              <a:spAutoFit/>
            </a:bodyPr>
            <a:lstStyle/>
            <a:p>
              <a:pPr algn="l"/>
              <a:r>
                <a:rPr sz="1750" b="0" i="0">
                  <a:solidFill>
                    <a:srgbClr val="1F2328"/>
                  </a:solidFill>
                  <a:latin typeface="Calibri"/>
                </a:rPr>
                <a:t>Each pattern is a short rule that describes the shape of what to find.</a:t>
              </a:r>
            </a:p>
          </p:txBody>
        </p:sp>
        <p:cxnSp>
          <p:nvCxnSpPr>
            <p:cNvPr id="19" name="Connector 18"/>
            <p:cNvCxnSpPr/>
            <p:nvPr/>
          </p:nvCxnSpPr>
          <p:spPr>
            <a:xfrm>
              <a:off x="7863840" y="5376672"/>
              <a:ext cx="3642055" cy="0"/>
            </a:xfrm>
            <a:prstGeom prst="line">
              <a:avLst/>
            </a:prstGeom>
            <a:ln w="6350">
              <a:solidFill>
                <a:srgbClr val="C9C5BC"/>
              </a:solidFill>
            </a:ln>
          </p:spPr>
        </p:cxnSp>
      </p:grpSp>
      <p:grpSp>
        <p:nvGrpSpPr>
          <p:cNvPr id="20" name="note-3"/>
          <p:cNvGrpSpPr/>
          <p:nvPr/>
        </p:nvGrpSpPr>
        <p:grpSpPr>
          <a:xfrm>
            <a:off x="7863840" y="5449824"/>
            <a:ext cx="3642055" cy="768096"/>
            <a:chOff x="7863840" y="5449824"/>
            <a:chExt cx="3642055" cy="768096"/>
          </a:xfrm>
        </p:grpSpPr>
        <p:sp>
          <p:nvSpPr>
            <p:cNvPr id="21" name="TextBox 20"/>
            <p:cNvSpPr txBox="1"/>
            <p:nvPr/>
          </p:nvSpPr>
          <p:spPr>
            <a:xfrm>
              <a:off x="7863840" y="5449824"/>
              <a:ext cx="320040" cy="749808"/>
            </a:xfrm>
            <a:prstGeom prst="rect">
              <a:avLst/>
            </a:prstGeom>
            <a:noFill/>
          </p:spPr>
          <p:txBody>
            <a:bodyPr wrap="square" lIns="0" rIns="0" tIns="18288" bIns="18288" anchor="t">
              <a:spAutoFit/>
            </a:bodyPr>
            <a:lstStyle/>
            <a:p>
              <a:pPr algn="l"/>
              <a:r>
                <a:rPr sz="1800" b="1" i="0">
                  <a:solidFill>
                    <a:srgbClr val="B04A2B"/>
                  </a:solidFill>
                  <a:latin typeface="Cambria"/>
                </a:rPr>
                <a:t>3</a:t>
              </a:r>
            </a:p>
          </p:txBody>
        </p:sp>
        <p:sp>
          <p:nvSpPr>
            <p:cNvPr id="22" name="TextBox 21"/>
            <p:cNvSpPr txBox="1"/>
            <p:nvPr/>
          </p:nvSpPr>
          <p:spPr>
            <a:xfrm>
              <a:off x="8229600" y="5449824"/>
              <a:ext cx="3276295" cy="731519"/>
            </a:xfrm>
            <a:prstGeom prst="rect">
              <a:avLst/>
            </a:prstGeom>
            <a:noFill/>
          </p:spPr>
          <p:txBody>
            <a:bodyPr wrap="square" lIns="0" rIns="0" tIns="18288" bIns="18288" anchor="t">
              <a:spAutoFit/>
            </a:bodyPr>
            <a:lstStyle/>
            <a:p>
              <a:pPr algn="l"/>
              <a:r>
                <a:rPr sz="1800" b="0" i="0">
                  <a:solidFill>
                    <a:srgbClr val="1F2328"/>
                  </a:solidFill>
                  <a:latin typeface="Calibri"/>
                </a:rPr>
                <a:t>Print matches, then letters with a match, then the health check.</a:t>
              </a:r>
            </a:p>
          </p:txBody>
        </p:sp>
        <p:cxnSp>
          <p:nvCxnSpPr>
            <p:cNvPr id="23" name="Connector 22"/>
            <p:cNvCxnSpPr/>
            <p:nvPr/>
          </p:nvCxnSpPr>
          <p:spPr>
            <a:xfrm>
              <a:off x="7863840" y="6217920"/>
              <a:ext cx="3642055"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Mask first, then cut into chunks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Rectangle 4"/>
          <p:cNvSpPr/>
          <p:nvPr/>
        </p:nvSpPr>
        <p:spPr>
          <a:xfrm>
            <a:off x="685800" y="1600200"/>
            <a:ext cx="6949440" cy="32979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3023616"/>
          </a:xfrm>
          <a:prstGeom prst="rect">
            <a:avLst/>
          </a:prstGeom>
          <a:noFill/>
        </p:spPr>
        <p:txBody>
          <a:bodyPr wrap="none" lIns="0" rIns="0" tIns="0" bIns="0">
            <a:spAutoFit/>
          </a:bodyPr>
          <a:lstStyle/>
          <a:p>
            <a:r>
              <a:rPr sz="1400" b="1" i="0">
                <a:solidFill>
                  <a:srgbClr val="1F2328"/>
                </a:solidFill>
                <a:latin typeface="Courier New"/>
              </a:rPr>
              <a:t>def</a:t>
            </a:r>
            <a:r>
              <a:rPr sz="1400" b="0" i="0">
                <a:solidFill>
                  <a:srgbClr val="1F2328"/>
                </a:solidFill>
                <a:latin typeface="Courier New"/>
              </a:rPr>
              <a:t> </a:t>
            </a:r>
            <a:r>
              <a:rPr sz="1400" b="0" i="0">
                <a:solidFill>
                  <a:srgbClr val="1F2328"/>
                </a:solidFill>
                <a:latin typeface="Courier New"/>
              </a:rPr>
              <a:t>mask</a:t>
            </a:r>
            <a:r>
              <a:rPr sz="1400" b="0" i="0">
                <a:solidFill>
                  <a:srgbClr val="1F2328"/>
                </a:solidFill>
                <a:latin typeface="Courier New"/>
              </a:rPr>
              <a:t>(</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patterns</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names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set</a:t>
            </a:r>
            <a:r>
              <a:rPr sz="1400" b="0" i="0">
                <a:solidFill>
                  <a:srgbClr val="1F2328"/>
                </a:solidFill>
                <a:latin typeface="Courier New"/>
              </a:rPr>
              <a:t>(</a:t>
            </a:r>
            <a:r>
              <a:rPr sz="1400" b="0" i="0">
                <a:solidFill>
                  <a:srgbClr val="1F2328"/>
                </a:solidFill>
                <a:latin typeface="Courier New"/>
              </a:rPr>
              <a:t>re</a:t>
            </a:r>
            <a:r>
              <a:rPr sz="1400" b="0" i="0">
                <a:solidFill>
                  <a:srgbClr val="1F2328"/>
                </a:solidFill>
                <a:latin typeface="Courier New"/>
              </a:rPr>
              <a:t>.</a:t>
            </a:r>
            <a:r>
              <a:rPr sz="1400" b="0" i="0">
                <a:solidFill>
                  <a:srgbClr val="1F2328"/>
                </a:solidFill>
                <a:latin typeface="Courier New"/>
              </a:rPr>
              <a:t>findall</a:t>
            </a:r>
            <a:r>
              <a:rPr sz="1400" b="0" i="0">
                <a:solidFill>
                  <a:srgbClr val="1F2328"/>
                </a:solidFill>
                <a:latin typeface="Courier New"/>
              </a:rPr>
              <a:t>(</a:t>
            </a:r>
            <a:r>
              <a:rPr sz="1400" b="0" i="0">
                <a:solidFill>
                  <a:srgbClr val="1F2328"/>
                </a:solidFill>
                <a:latin typeface="Courier New"/>
              </a:rPr>
              <a:t>patterns</a:t>
            </a:r>
            <a:r>
              <a:rPr sz="1400" b="0" i="0">
                <a:solidFill>
                  <a:srgbClr val="1F2328"/>
                </a:solidFill>
                <a:latin typeface="Courier New"/>
              </a:rPr>
              <a:t>[</a:t>
            </a:r>
            <a:r>
              <a:rPr sz="1400" b="0" i="0">
                <a:solidFill>
                  <a:srgbClr val="B04A2B"/>
                </a:solidFill>
                <a:latin typeface="Courier New"/>
              </a:rPr>
              <a:t>'NAME'</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who</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sorted</a:t>
            </a:r>
            <a:r>
              <a:rPr sz="1400" b="0" i="0">
                <a:solidFill>
                  <a:srgbClr val="1F2328"/>
                </a:solidFill>
                <a:latin typeface="Courier New"/>
              </a:rPr>
              <a:t>(</a:t>
            </a:r>
            <a:r>
              <a:rPr sz="1400" b="0" i="0">
                <a:solidFill>
                  <a:srgbClr val="1F2328"/>
                </a:solidFill>
                <a:latin typeface="Courier New"/>
              </a:rPr>
              <a:t>names</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key</a:t>
            </a:r>
            <a:r>
              <a:rPr sz="1400" b="0" i="0">
                <a:solidFill>
                  <a:srgbClr val="1F2328"/>
                </a:solidFill>
                <a:latin typeface="Courier New"/>
              </a:rPr>
              <a:t>=</a:t>
            </a:r>
            <a:r>
              <a:rPr sz="1400" b="1" i="0">
                <a:solidFill>
                  <a:srgbClr val="1F2328"/>
                </a:solidFill>
                <a:latin typeface="Courier New"/>
              </a:rPr>
              <a:t>lambda</a:t>
            </a:r>
            <a:r>
              <a:rPr sz="1400" b="0" i="0">
                <a:solidFill>
                  <a:srgbClr val="1F2328"/>
                </a:solidFill>
                <a:latin typeface="Courier New"/>
              </a:rPr>
              <a:t> </a:t>
            </a:r>
            <a:r>
              <a:rPr sz="1400" b="0" i="0">
                <a:solidFill>
                  <a:srgbClr val="1F2328"/>
                </a:solidFill>
                <a:latin typeface="Courier New"/>
              </a:rPr>
              <a:t>w</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w</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w</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text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replace</a:t>
            </a:r>
            <a:r>
              <a:rPr sz="1400" b="0" i="0">
                <a:solidFill>
                  <a:srgbClr val="1F2328"/>
                </a:solidFill>
                <a:latin typeface="Courier New"/>
              </a:rPr>
              <a:t>(</a:t>
            </a:r>
            <a:r>
              <a:rPr sz="1400" b="0" i="0">
                <a:solidFill>
                  <a:srgbClr val="1F2328"/>
                </a:solidFill>
                <a:latin typeface="Courier New"/>
              </a:rPr>
              <a:t>who</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'[NAME]'</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text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replace</a:t>
            </a:r>
            <a:r>
              <a:rPr sz="1400" b="0" i="0">
                <a:solidFill>
                  <a:srgbClr val="1F2328"/>
                </a:solidFill>
                <a:latin typeface="Courier New"/>
              </a:rPr>
              <a:t>(</a:t>
            </a:r>
            <a:r>
              <a:rPr sz="1400" b="0" i="0">
                <a:solidFill>
                  <a:srgbClr val="1F2328"/>
                </a:solidFill>
                <a:latin typeface="Courier New"/>
              </a:rPr>
              <a:t>who</a:t>
            </a:r>
            <a:r>
              <a:rPr sz="1400" b="0" i="0">
                <a:solidFill>
                  <a:srgbClr val="1F2328"/>
                </a:solidFill>
                <a:latin typeface="Courier New"/>
              </a:rPr>
              <a:t>.</a:t>
            </a:r>
            <a:r>
              <a:rPr sz="1400" b="0" i="0">
                <a:solidFill>
                  <a:srgbClr val="1F2328"/>
                </a:solidFill>
                <a:latin typeface="Courier New"/>
              </a:rPr>
              <a:t>split</a:t>
            </a:r>
            <a:r>
              <a:rPr sz="1400" b="0" i="0">
                <a:solidFill>
                  <a:srgbClr val="1F2328"/>
                </a:solidFill>
                <a:latin typeface="Courier New"/>
              </a:rPr>
              <a:t>(</a:t>
            </a:r>
            <a:r>
              <a:rPr sz="1400" b="0" i="0">
                <a:solidFill>
                  <a:srgbClr val="B04A2B"/>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1</a:t>
            </a:r>
            <a:r>
              <a:rPr sz="1400" b="0" i="0">
                <a:solidFill>
                  <a:srgbClr val="1F2328"/>
                </a:solidFill>
                <a:latin typeface="Courier New"/>
              </a:rPr>
              <a:t>)</a:t>
            </a:r>
            <a:r>
              <a:rPr sz="1400" b="0" i="0">
                <a:solidFill>
                  <a:srgbClr val="1F2328"/>
                </a:solidFill>
                <a:latin typeface="Courier New"/>
              </a:rPr>
              <a:t>[</a:t>
            </a:r>
            <a:r>
              <a:rPr sz="1400" b="0" i="0">
                <a:solidFill>
                  <a:srgbClr val="3B4046"/>
                </a:solidFill>
                <a:latin typeface="Courier New"/>
              </a:rPr>
              <a:t>1</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'[NAME]'</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tag</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rx</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patterns</a:t>
            </a:r>
            <a:r>
              <a:rPr sz="1400" b="0" i="0">
                <a:solidFill>
                  <a:srgbClr val="1F2328"/>
                </a:solidFill>
                <a:latin typeface="Courier New"/>
              </a:rPr>
              <a:t>.</a:t>
            </a:r>
            <a:r>
              <a:rPr sz="1400" b="0" i="0">
                <a:solidFill>
                  <a:srgbClr val="1F2328"/>
                </a:solidFill>
                <a:latin typeface="Courier New"/>
              </a:rPr>
              <a:t>items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text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re</a:t>
            </a:r>
            <a:r>
              <a:rPr sz="1400" b="0" i="0">
                <a:solidFill>
                  <a:srgbClr val="1F2328"/>
                </a:solidFill>
                <a:latin typeface="Courier New"/>
              </a:rPr>
              <a:t>.</a:t>
            </a:r>
            <a:r>
              <a:rPr sz="1400" b="0" i="0">
                <a:solidFill>
                  <a:srgbClr val="1F2328"/>
                </a:solidFill>
                <a:latin typeface="Courier New"/>
              </a:rPr>
              <a:t>sub</a:t>
            </a:r>
            <a:r>
              <a:rPr sz="1400" b="0" i="0">
                <a:solidFill>
                  <a:srgbClr val="1F2328"/>
                </a:solidFill>
                <a:latin typeface="Courier New"/>
              </a:rPr>
              <a:t>(</a:t>
            </a:r>
            <a:r>
              <a:rPr sz="1400" b="0" i="0">
                <a:solidFill>
                  <a:srgbClr val="1F2328"/>
                </a:solidFill>
                <a:latin typeface="Courier New"/>
              </a:rPr>
              <a:t>rx</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f</a:t>
            </a:r>
            <a:r>
              <a:rPr sz="1400" b="0" i="0">
                <a:solidFill>
                  <a:srgbClr val="B04A2B"/>
                </a:solidFill>
                <a:latin typeface="Courier New"/>
              </a:rPr>
              <a:t>'[{tag}]'</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text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return</a:t>
            </a:r>
            <a:r>
              <a:rPr sz="1400" b="0" i="0">
                <a:solidFill>
                  <a:srgbClr val="1F2328"/>
                </a:solidFill>
                <a:latin typeface="Courier New"/>
              </a:rPr>
              <a:t> </a:t>
            </a:r>
            <a:r>
              <a:rPr sz="1400" b="0" i="0">
                <a:solidFill>
                  <a:srgbClr val="1F2328"/>
                </a:solidFill>
                <a:latin typeface="Courier New"/>
              </a:rPr>
              <a:t>text</a:t>
            </a:r>
          </a:p>
          <a:p>
            <a:r>
              <a:rPr sz="1400" b="0" i="0">
                <a:solidFill>
                  <a:srgbClr val="1F2328"/>
                </a:solidFill>
                <a:latin typeface="Courier New"/>
              </a:rPr>
              <a:t> </a:t>
            </a:r>
          </a:p>
          <a:p>
            <a:r>
              <a:rPr sz="1400" b="0" i="0">
                <a:solidFill>
                  <a:srgbClr val="1F2328"/>
                </a:solidFill>
                <a:latin typeface="Courier New"/>
              </a:rPr>
              <a:t>safe</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flag</a:t>
            </a:r>
            <a:r>
              <a:rPr sz="1400" b="0" i="0">
                <a:solidFill>
                  <a:srgbClr val="1F2328"/>
                </a:solidFill>
                <a:latin typeface="Courier New"/>
              </a:rPr>
              <a:t>.</a:t>
            </a:r>
            <a:r>
              <a:rPr sz="1400" b="0" i="0">
                <a:solidFill>
                  <a:srgbClr val="1F2328"/>
                </a:solidFill>
                <a:latin typeface="Courier New"/>
              </a:rPr>
              <a:t>copy</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safe</a:t>
            </a:r>
            <a:r>
              <a:rPr sz="1400" b="0" i="0">
                <a:solidFill>
                  <a:srgbClr val="1F2328"/>
                </a:solidFill>
                <a:latin typeface="Courier New"/>
              </a:rPr>
              <a:t>[</a:t>
            </a:r>
            <a:r>
              <a:rPr sz="1400" b="0" i="0">
                <a:solidFill>
                  <a:srgbClr val="B04A2B"/>
                </a:solidFill>
                <a:latin typeface="Courier New"/>
              </a:rPr>
              <a:t>'text'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flag</a:t>
            </a:r>
            <a:r>
              <a:rPr sz="1400" b="0" i="0">
                <a:solidFill>
                  <a:srgbClr val="1F2328"/>
                </a:solidFill>
                <a:latin typeface="Courier New"/>
              </a:rPr>
              <a:t>.</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map</a:t>
            </a:r>
            <a:r>
              <a:rPr sz="1400" b="0" i="0">
                <a:solidFill>
                  <a:srgbClr val="1F2328"/>
                </a:solidFill>
                <a:latin typeface="Courier New"/>
              </a:rPr>
              <a:t>(</a:t>
            </a:r>
            <a:r>
              <a:rPr sz="1400" b="1" i="0">
                <a:solidFill>
                  <a:srgbClr val="1F2328"/>
                </a:solidFill>
                <a:latin typeface="Courier New"/>
              </a:rPr>
              <a:t>lambda</a:t>
            </a:r>
            <a:r>
              <a:rPr sz="1400" b="0" i="0">
                <a:solidFill>
                  <a:srgbClr val="1F2328"/>
                </a:solidFill>
                <a:latin typeface="Courier New"/>
              </a:rPr>
              <a:t> </a:t>
            </a:r>
            <a:r>
              <a:rPr sz="1400" b="0" i="0">
                <a:solidFill>
                  <a:srgbClr val="1F2328"/>
                </a:solidFill>
                <a:latin typeface="Courier New"/>
              </a:rPr>
              <a:t>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mask</a:t>
            </a:r>
            <a:r>
              <a:rPr sz="1400" b="0" i="0">
                <a:solidFill>
                  <a:srgbClr val="1F2328"/>
                </a:solidFill>
                <a:latin typeface="Courier New"/>
              </a:rPr>
              <a:t>(</a:t>
            </a:r>
            <a:r>
              <a:rPr sz="1400" b="0" i="0">
                <a:solidFill>
                  <a:srgbClr val="1F2328"/>
                </a:solidFill>
                <a:latin typeface="Courier New"/>
              </a:rPr>
              <a:t>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PATTERNS</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safe_chunks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ks</a:t>
            </a:r>
            <a:r>
              <a:rPr sz="1400" b="0" i="0">
                <a:solidFill>
                  <a:srgbClr val="1F2328"/>
                </a:solidFill>
                <a:latin typeface="Courier New"/>
              </a:rPr>
              <a:t>.</a:t>
            </a:r>
            <a:r>
              <a:rPr sz="1400" b="0" i="0">
                <a:solidFill>
                  <a:srgbClr val="1F2328"/>
                </a:solidFill>
                <a:latin typeface="Courier New"/>
              </a:rPr>
              <a:t>build_chunks</a:t>
            </a:r>
            <a:r>
              <a:rPr sz="1400" b="0" i="0">
                <a:solidFill>
                  <a:srgbClr val="1F2328"/>
                </a:solidFill>
                <a:latin typeface="Courier New"/>
              </a:rPr>
              <a:t>(</a:t>
            </a:r>
            <a:r>
              <a:rPr sz="1400" b="0" i="0">
                <a:solidFill>
                  <a:srgbClr val="1F2328"/>
                </a:solidFill>
                <a:latin typeface="Courier New"/>
              </a:rPr>
              <a:t>safe</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safe_chunks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'chunks masked'</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safe_chunks</a:t>
            </a:r>
            <a:r>
              <a:rPr sz="1400" b="0" i="0">
                <a:solidFill>
                  <a:srgbClr val="1F2328"/>
                </a:solidFill>
                <a:latin typeface="Courier New"/>
              </a:rPr>
              <a:t>.</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iloc</a:t>
            </a:r>
            <a:r>
              <a:rPr sz="1400" b="0" i="0">
                <a:solidFill>
                  <a:srgbClr val="1F2328"/>
                </a:solidFill>
                <a:latin typeface="Courier New"/>
              </a:rPr>
              <a:t>[</a:t>
            </a:r>
            <a:r>
              <a:rPr sz="1400" b="0" i="0">
                <a:solidFill>
                  <a:srgbClr val="3B4046"/>
                </a:solidFill>
                <a:latin typeface="Courier New"/>
              </a:rPr>
              <a:t>2</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3B4046"/>
                </a:solidFill>
                <a:latin typeface="Courier New"/>
              </a:rPr>
              <a:t>60</a:t>
            </a:r>
            <a:r>
              <a:rPr sz="1400" b="0" i="0">
                <a:solidFill>
                  <a:srgbClr val="1F2328"/>
                </a:solidFill>
                <a:latin typeface="Courier New"/>
              </a:rPr>
              <a:t>]</a:t>
            </a:r>
            <a:r>
              <a:rPr sz="1400" b="0" i="0">
                <a:solidFill>
                  <a:srgbClr val="1F2328"/>
                </a:solidFill>
                <a:latin typeface="Courier New"/>
              </a:rPr>
              <a:t>)</a:t>
            </a:r>
          </a:p>
        </p:txBody>
      </p:sp>
      <p:grpSp>
        <p:nvGrpSpPr>
          <p:cNvPr id="7" name="output"/>
          <p:cNvGrpSpPr/>
          <p:nvPr/>
        </p:nvGrpSpPr>
        <p:grpSpPr>
          <a:xfrm>
            <a:off x="685800" y="5007864"/>
            <a:ext cx="6949440" cy="737615"/>
            <a:chOff x="685800" y="5007864"/>
            <a:chExt cx="6949440" cy="737615"/>
          </a:xfrm>
        </p:grpSpPr>
        <p:sp>
          <p:nvSpPr>
            <p:cNvPr id="8" name="TextBox 7"/>
            <p:cNvSpPr txBox="1"/>
            <p:nvPr/>
          </p:nvSpPr>
          <p:spPr>
            <a:xfrm>
              <a:off x="685800" y="50078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526389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5355336"/>
              <a:ext cx="6675120" cy="371855"/>
            </a:xfrm>
            <a:prstGeom prst="rect">
              <a:avLst/>
            </a:prstGeom>
            <a:noFill/>
          </p:spPr>
          <p:txBody>
            <a:bodyPr wrap="none" lIns="0" rIns="0" tIns="0" bIns="0">
              <a:spAutoFit/>
            </a:bodyPr>
            <a:lstStyle/>
            <a:p>
              <a:r>
                <a:rPr sz="1400" b="0" i="0">
                  <a:solidFill>
                    <a:srgbClr val="1F2328"/>
                  </a:solidFill>
                  <a:latin typeface="Courier New"/>
                </a:rPr>
                <a:t>32 chunks masked</a:t>
              </a:r>
            </a:p>
            <a:p>
              <a:r>
                <a:rPr sz="1400" b="0" i="0">
                  <a:solidFill>
                    <a:srgbClr val="1F2328"/>
                  </a:solidFill>
                  <a:latin typeface="Courier New"/>
                </a:rPr>
                <a:t>[NAME] Bugolobi, Uganda Phone: [PHONE] 20 May 2026 The Claim</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1950" b="0" i="0">
                  <a:solidFill>
                    <a:srgbClr val="1F2328"/>
                  </a:solidFill>
                  <a:latin typeface="Calibri"/>
                </a:rPr>
                <a:t>mask replaces each titled name, and the same name elsewhere, with a name token.</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Every other pattern is replaced by a token that carries its label.</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Mask the 32 documents, chunk them and print the start of Letter 1.</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separate check stops two chunks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6949440" cy="37398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3465576"/>
          </a:xfrm>
          <a:prstGeom prst="rect">
            <a:avLst/>
          </a:prstGeom>
          <a:noFill/>
        </p:spPr>
        <p:txBody>
          <a:bodyPr wrap="none" lIns="0" rIns="0" tIns="0" bIns="0">
            <a:spAutoFit/>
          </a:bodyPr>
          <a:lstStyle/>
          <a:p>
            <a:r>
              <a:rPr sz="1500" b="0" i="0">
                <a:solidFill>
                  <a:srgbClr val="1F2328"/>
                </a:solidFill>
                <a:latin typeface="Courier New"/>
              </a:rPr>
              <a:t>LOOSE</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B04A2B"/>
                </a:solidFill>
                <a:latin typeface="Courier New"/>
              </a:rPr>
              <a:t>'PHONE'</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a:t>
            </a:r>
            <a:r>
              <a:rPr sz="1500" b="0" i="0">
                <a:solidFill>
                  <a:srgbClr val="B04A2B"/>
                </a:solidFill>
                <a:latin typeface="Courier New"/>
              </a:rPr>
              <a:t>'\+25[46] ?(?:[\dO@]{3} ?){2}[\dO@]{3}'</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B04A2B"/>
                </a:solidFill>
                <a:latin typeface="Courier New"/>
              </a:rPr>
              <a:t>'NATIONAL_ID'</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a:t>
            </a:r>
            <a:r>
              <a:rPr sz="1500" b="0" i="0">
                <a:solidFill>
                  <a:srgbClr val="B04A2B"/>
                </a:solidFill>
                <a:latin typeface="Courier New"/>
              </a:rPr>
              <a:t>'(?i)kx ?\d{12}'</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B04A2B"/>
                </a:solidFill>
                <a:latin typeface="Courier New"/>
              </a:rPr>
              <a:t>'CUSTOMER_ID'</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a:t>
            </a:r>
            <a:r>
              <a:rPr sz="1500" b="0" i="0">
                <a:solidFill>
                  <a:srgbClr val="B04A2B"/>
                </a:solidFill>
                <a:latin typeface="Courier New"/>
              </a:rPr>
              <a:t>'(?i)kt-\d{7}'</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B04A2B"/>
                </a:solidFill>
                <a:latin typeface="Courier New"/>
              </a:rPr>
              <a:t>'EMAIL'</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PATTERNS</a:t>
            </a:r>
            <a:r>
              <a:rPr sz="1500" b="0" i="0">
                <a:solidFill>
                  <a:srgbClr val="1F2328"/>
                </a:solidFill>
                <a:latin typeface="Courier New"/>
              </a:rPr>
              <a:t>[</a:t>
            </a:r>
            <a:r>
              <a:rPr sz="1500" b="0" i="0">
                <a:solidFill>
                  <a:srgbClr val="B04A2B"/>
                </a:solidFill>
                <a:latin typeface="Courier New"/>
              </a:rPr>
              <a:t>'EMAIL'</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a:t>
            </a:r>
          </a:p>
          <a:p>
            <a:r>
              <a:rPr sz="1500" b="1" i="0">
                <a:solidFill>
                  <a:srgbClr val="1F2328"/>
                </a:solidFill>
                <a:latin typeface="Courier New"/>
              </a:rPr>
              <a:t>def</a:t>
            </a:r>
            <a:r>
              <a:rPr sz="1500" b="0" i="0">
                <a:solidFill>
                  <a:srgbClr val="1F2328"/>
                </a:solidFill>
                <a:latin typeface="Courier New"/>
              </a:rPr>
              <a:t> </a:t>
            </a:r>
            <a:r>
              <a:rPr sz="1500" b="0" i="0">
                <a:solidFill>
                  <a:srgbClr val="1F2328"/>
                </a:solidFill>
                <a:latin typeface="Courier New"/>
              </a:rPr>
              <a:t>leaks</a:t>
            </a:r>
            <a:r>
              <a:rPr sz="1500" b="0" i="0">
                <a:solidFill>
                  <a:srgbClr val="1F2328"/>
                </a:solidFill>
                <a:latin typeface="Courier New"/>
              </a:rPr>
              <a:t>(</a:t>
            </a:r>
            <a:r>
              <a:rPr sz="1500" b="0" i="0">
                <a:solidFill>
                  <a:srgbClr val="1F2328"/>
                </a:solidFill>
                <a:latin typeface="Courier New"/>
              </a:rPr>
              <a:t>table</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ids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set</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1" i="0">
                <a:solidFill>
                  <a:srgbClr val="1F2328"/>
                </a:solidFill>
                <a:latin typeface="Courier New"/>
              </a:rPr>
              <a:t>for</a:t>
            </a:r>
            <a:r>
              <a:rPr sz="1500" b="0" i="0">
                <a:solidFill>
                  <a:srgbClr val="1F2328"/>
                </a:solidFill>
                <a:latin typeface="Courier New"/>
              </a:rPr>
              <a:t> </a:t>
            </a:r>
            <a:r>
              <a:rPr sz="1500" b="0" i="0">
                <a:solidFill>
                  <a:srgbClr val="1F2328"/>
                </a:solidFill>
                <a:latin typeface="Courier New"/>
              </a:rPr>
              <a:t>rx</a:t>
            </a:r>
            <a:r>
              <a:rPr sz="1500" b="0" i="0">
                <a:solidFill>
                  <a:srgbClr val="1F2328"/>
                </a:solidFill>
                <a:latin typeface="Courier New"/>
              </a:rPr>
              <a:t> </a:t>
            </a:r>
            <a:r>
              <a:rPr sz="1500" b="1" i="0">
                <a:solidFill>
                  <a:srgbClr val="1F2328"/>
                </a:solidFill>
                <a:latin typeface="Courier New"/>
              </a:rPr>
              <a:t>in</a:t>
            </a:r>
            <a:r>
              <a:rPr sz="1500" b="0" i="0">
                <a:solidFill>
                  <a:srgbClr val="1F2328"/>
                </a:solidFill>
                <a:latin typeface="Courier New"/>
              </a:rPr>
              <a:t> </a:t>
            </a:r>
            <a:r>
              <a:rPr sz="1500" b="0" i="0">
                <a:solidFill>
                  <a:srgbClr val="1F2328"/>
                </a:solidFill>
                <a:latin typeface="Courier New"/>
              </a:rPr>
              <a:t>LOOSE</a:t>
            </a:r>
            <a:r>
              <a:rPr sz="1500" b="0" i="0">
                <a:solidFill>
                  <a:srgbClr val="1F2328"/>
                </a:solidFill>
                <a:latin typeface="Courier New"/>
              </a:rPr>
              <a:t>.</a:t>
            </a:r>
            <a:r>
              <a:rPr sz="1500" b="0" i="0">
                <a:solidFill>
                  <a:srgbClr val="1F2328"/>
                </a:solidFill>
                <a:latin typeface="Courier New"/>
              </a:rPr>
              <a:t>values</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found</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table</a:t>
            </a:r>
            <a:r>
              <a:rPr sz="1500" b="0" i="0">
                <a:solidFill>
                  <a:srgbClr val="1F2328"/>
                </a:solidFill>
                <a:latin typeface="Courier New"/>
              </a:rPr>
              <a:t>.</a:t>
            </a:r>
            <a:r>
              <a:rPr sz="1500" b="0" i="0">
                <a:solidFill>
                  <a:srgbClr val="1F2328"/>
                </a:solidFill>
                <a:latin typeface="Courier New"/>
              </a:rPr>
              <a:t>text</a:t>
            </a:r>
            <a:r>
              <a:rPr sz="1500" b="0" i="0">
                <a:solidFill>
                  <a:srgbClr val="1F2328"/>
                </a:solidFill>
                <a:latin typeface="Courier New"/>
              </a:rPr>
              <a:t>.</a:t>
            </a:r>
            <a:r>
              <a:rPr sz="1500" b="0" i="0">
                <a:solidFill>
                  <a:srgbClr val="1F2328"/>
                </a:solidFill>
                <a:latin typeface="Courier New"/>
              </a:rPr>
              <a:t>str</a:t>
            </a:r>
            <a:r>
              <a:rPr sz="1500" b="0" i="0">
                <a:solidFill>
                  <a:srgbClr val="1F2328"/>
                </a:solidFill>
                <a:latin typeface="Courier New"/>
              </a:rPr>
              <a:t>.</a:t>
            </a:r>
            <a:r>
              <a:rPr sz="1500" b="0" i="0">
                <a:solidFill>
                  <a:srgbClr val="1F2328"/>
                </a:solidFill>
                <a:latin typeface="Courier New"/>
              </a:rPr>
              <a:t>contains</a:t>
            </a:r>
            <a:r>
              <a:rPr sz="1500" b="0" i="0">
                <a:solidFill>
                  <a:srgbClr val="1F2328"/>
                </a:solidFill>
                <a:latin typeface="Courier New"/>
              </a:rPr>
              <a:t>(</a:t>
            </a:r>
            <a:r>
              <a:rPr sz="1500" b="0" i="0">
                <a:solidFill>
                  <a:srgbClr val="1F2328"/>
                </a:solidFill>
                <a:latin typeface="Courier New"/>
              </a:rPr>
              <a:t>rx</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ids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set</a:t>
            </a:r>
            <a:r>
              <a:rPr sz="1500" b="0" i="0">
                <a:solidFill>
                  <a:srgbClr val="1F2328"/>
                </a:solidFill>
                <a:latin typeface="Courier New"/>
              </a:rPr>
              <a:t>(</a:t>
            </a:r>
            <a:r>
              <a:rPr sz="1500" b="0" i="0">
                <a:solidFill>
                  <a:srgbClr val="1F2328"/>
                </a:solidFill>
                <a:latin typeface="Courier New"/>
              </a:rPr>
              <a:t>table</a:t>
            </a:r>
            <a:r>
              <a:rPr sz="1500" b="0" i="0">
                <a:solidFill>
                  <a:srgbClr val="1F2328"/>
                </a:solidFill>
                <a:latin typeface="Courier New"/>
              </a:rPr>
              <a:t>.</a:t>
            </a:r>
            <a:r>
              <a:rPr sz="1500" b="0" i="0">
                <a:solidFill>
                  <a:srgbClr val="1F2328"/>
                </a:solidFill>
                <a:latin typeface="Courier New"/>
              </a:rPr>
              <a:t>chunk_id</a:t>
            </a:r>
            <a:r>
              <a:rPr sz="1500" b="0" i="0">
                <a:solidFill>
                  <a:srgbClr val="1F2328"/>
                </a:solidFill>
                <a:latin typeface="Courier New"/>
              </a:rPr>
              <a:t>[</a:t>
            </a:r>
            <a:r>
              <a:rPr sz="1500" b="0" i="0">
                <a:solidFill>
                  <a:srgbClr val="1F2328"/>
                </a:solidFill>
                <a:latin typeface="Courier New"/>
              </a:rPr>
              <a:t>found</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1" i="0">
                <a:solidFill>
                  <a:srgbClr val="1F2328"/>
                </a:solidFill>
                <a:latin typeface="Courier New"/>
              </a:rPr>
              <a:t>return</a:t>
            </a:r>
            <a:r>
              <a:rPr sz="1500" b="0" i="0">
                <a:solidFill>
                  <a:srgbClr val="1F2328"/>
                </a:solidFill>
                <a:latin typeface="Courier New"/>
              </a:rPr>
              <a:t> </a:t>
            </a:r>
            <a:r>
              <a:rPr sz="1500" b="0" i="0">
                <a:solidFill>
                  <a:srgbClr val="1F2328"/>
                </a:solidFill>
                <a:latin typeface="Courier New"/>
              </a:rPr>
              <a:t>sorted</a:t>
            </a:r>
            <a:r>
              <a:rPr sz="1500" b="0" i="0">
                <a:solidFill>
                  <a:srgbClr val="1F2328"/>
                </a:solidFill>
                <a:latin typeface="Courier New"/>
              </a:rPr>
              <a:t>(</a:t>
            </a:r>
            <a:r>
              <a:rPr sz="1500" b="0" i="0">
                <a:solidFill>
                  <a:srgbClr val="1F2328"/>
                </a:solidFill>
                <a:latin typeface="Courier New"/>
              </a:rPr>
              <a:t>ids</a:t>
            </a:r>
            <a:r>
              <a:rPr sz="1500" b="0" i="0">
                <a:solidFill>
                  <a:srgbClr val="1F2328"/>
                </a:solidFill>
                <a:latin typeface="Courier New"/>
              </a:rPr>
              <a:t>)</a:t>
            </a:r>
          </a:p>
          <a:p>
            <a:r>
              <a:rPr sz="1500" b="0" i="0">
                <a:solidFill>
                  <a:srgbClr val="1F2328"/>
                </a:solidFill>
                <a:latin typeface="Courier New"/>
              </a:rPr>
              <a:t> </a:t>
            </a:r>
          </a:p>
          <a:p>
            <a:r>
              <a:rPr sz="1500" b="0" i="0">
                <a:solidFill>
                  <a:srgbClr val="1F2328"/>
                </a:solidFill>
                <a:latin typeface="Courier New"/>
              </a:rPr>
              <a:t>bad</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leaks</a:t>
            </a:r>
            <a:r>
              <a:rPr sz="1500" b="0" i="0">
                <a:solidFill>
                  <a:srgbClr val="1F2328"/>
                </a:solidFill>
                <a:latin typeface="Courier New"/>
              </a:rPr>
              <a:t>(</a:t>
            </a:r>
            <a:r>
              <a:rPr sz="1500" b="0" i="0">
                <a:solidFill>
                  <a:srgbClr val="1F2328"/>
                </a:solidFill>
                <a:latin typeface="Courier New"/>
              </a:rPr>
              <a:t>safe_chunks</a:t>
            </a:r>
            <a:r>
              <a:rPr sz="1500" b="0" i="0">
                <a:solidFill>
                  <a:srgbClr val="1F2328"/>
                </a:solidFill>
                <a:latin typeface="Courier New"/>
              </a:rPr>
              <a:t>)</a:t>
            </a:r>
          </a:p>
          <a:p>
            <a:r>
              <a:rPr sz="1500" b="1" i="0">
                <a:solidFill>
                  <a:srgbClr val="1F2328"/>
                </a:solidFill>
                <a:latin typeface="Courier New"/>
              </a:rPr>
              <a:t>assert</a:t>
            </a:r>
            <a:r>
              <a:rPr sz="1500" b="0" i="0">
                <a:solidFill>
                  <a:srgbClr val="1F2328"/>
                </a:solidFill>
                <a:latin typeface="Courier New"/>
              </a:rPr>
              <a:t> </a:t>
            </a:r>
            <a:r>
              <a:rPr sz="1500" b="1" i="0">
                <a:solidFill>
                  <a:srgbClr val="1F2328"/>
                </a:solidFill>
                <a:latin typeface="Courier New"/>
              </a:rPr>
              <a:t>not</a:t>
            </a:r>
            <a:r>
              <a:rPr sz="1500" b="0" i="0">
                <a:solidFill>
                  <a:srgbClr val="1F2328"/>
                </a:solidFill>
                <a:latin typeface="Courier New"/>
              </a:rPr>
              <a:t> </a:t>
            </a:r>
            <a:r>
              <a:rPr sz="1500" b="0" i="0">
                <a:solidFill>
                  <a:srgbClr val="1F2328"/>
                </a:solidFill>
                <a:latin typeface="Courier New"/>
              </a:rPr>
              <a:t>bad</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f</a:t>
            </a:r>
            <a:r>
              <a:rPr sz="1500" b="0" i="0">
                <a:solidFill>
                  <a:srgbClr val="B04A2B"/>
                </a:solidFill>
                <a:latin typeface="Courier New"/>
              </a:rPr>
              <a:t>'{len(bad)} chunks leak: {bad}'</a:t>
            </a:r>
          </a:p>
        </p:txBody>
      </p:sp>
      <p:grpSp>
        <p:nvGrpSpPr>
          <p:cNvPr id="7" name="output"/>
          <p:cNvGrpSpPr/>
          <p:nvPr/>
        </p:nvGrpSpPr>
        <p:grpSpPr>
          <a:xfrm>
            <a:off x="685800" y="5449824"/>
            <a:ext cx="6949440" cy="524256"/>
            <a:chOff x="685800" y="5449824"/>
            <a:chExt cx="6949440" cy="524256"/>
          </a:xfrm>
        </p:grpSpPr>
        <p:sp>
          <p:nvSpPr>
            <p:cNvPr id="8" name="TextBox 7"/>
            <p:cNvSpPr txBox="1"/>
            <p:nvPr/>
          </p:nvSpPr>
          <p:spPr>
            <a:xfrm>
              <a:off x="685800" y="54498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5705856"/>
              <a:ext cx="6949440"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5797296"/>
              <a:ext cx="6675120" cy="158496"/>
            </a:xfrm>
            <a:prstGeom prst="rect">
              <a:avLst/>
            </a:prstGeom>
            <a:noFill/>
          </p:spPr>
          <p:txBody>
            <a:bodyPr wrap="none" lIns="0" rIns="0" tIns="0" bIns="0">
              <a:spAutoFit/>
            </a:bodyPr>
            <a:lstStyle/>
            <a:p>
              <a:r>
                <a:rPr sz="1400" b="0" i="0">
                  <a:solidFill>
                    <a:srgbClr val="1F2328"/>
                  </a:solidFill>
                  <a:latin typeface="Courier New"/>
                </a:rPr>
                <a:t>AssertionError: 2 chunks leak: ['D084-01', 'D087-01']</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1950" b="0" i="0">
                  <a:solidFill>
                    <a:srgbClr val="1F2328"/>
                  </a:solidFill>
                  <a:latin typeface="Calibri"/>
                </a:rPr>
                <a:t>Looser patterns allow capitals and the slips a scanner makes, such as an at sign for a zero.</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leaks lists every chunk that still matches any loose pattern.</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assert stops the pipeline when the list is not empty.</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With looser patterns in the masker, the check passes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sp>
        <p:nvSpPr>
          <p:cNvPr id="5" name="Rectangle 4"/>
          <p:cNvSpPr/>
          <p:nvPr/>
        </p:nvSpPr>
        <p:spPr>
          <a:xfrm>
            <a:off x="685800" y="1600200"/>
            <a:ext cx="6949440" cy="22997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025395"/>
          </a:xfrm>
          <a:prstGeom prst="rect">
            <a:avLst/>
          </a:prstGeom>
          <a:noFill/>
        </p:spPr>
        <p:txBody>
          <a:bodyPr wrap="none" lIns="0" rIns="0" tIns="0" bIns="0">
            <a:spAutoFit/>
          </a:bodyPr>
          <a:lstStyle/>
          <a:p>
            <a:r>
              <a:rPr sz="1450" b="0" i="0">
                <a:solidFill>
                  <a:srgbClr val="1F2328"/>
                </a:solidFill>
                <a:latin typeface="Courier New"/>
              </a:rPr>
              <a:t>MASKER</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dict</a:t>
            </a:r>
            <a:r>
              <a:rPr sz="1450" b="0" i="0">
                <a:solidFill>
                  <a:srgbClr val="1F2328"/>
                </a:solidFill>
                <a:latin typeface="Courier New"/>
              </a:rPr>
              <a:t>(</a:t>
            </a:r>
            <a:r>
              <a:rPr sz="1450" b="0" i="0">
                <a:solidFill>
                  <a:srgbClr val="1F2328"/>
                </a:solidFill>
                <a:latin typeface="Courier New"/>
              </a:rPr>
              <a:t>PATTERNS</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LOOSE</a:t>
            </a:r>
            <a:r>
              <a:rPr sz="1450" b="0" i="0">
                <a:solidFill>
                  <a:srgbClr val="1F2328"/>
                </a:solidFill>
                <a:latin typeface="Courier New"/>
              </a:rPr>
              <a:t>)</a:t>
            </a:r>
          </a:p>
          <a:p>
            <a:r>
              <a:rPr sz="1450" b="0" i="0">
                <a:solidFill>
                  <a:srgbClr val="1F2328"/>
                </a:solidFill>
                <a:latin typeface="Courier New"/>
              </a:rPr>
              <a:t>safe</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flag</a:t>
            </a:r>
            <a:r>
              <a:rPr sz="1450" b="0" i="0">
                <a:solidFill>
                  <a:srgbClr val="1F2328"/>
                </a:solidFill>
                <a:latin typeface="Courier New"/>
              </a:rPr>
              <a:t>.</a:t>
            </a:r>
            <a:r>
              <a:rPr sz="1450" b="0" i="0">
                <a:solidFill>
                  <a:srgbClr val="1F2328"/>
                </a:solidFill>
                <a:latin typeface="Courier New"/>
              </a:rPr>
              <a:t>copy</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safe</a:t>
            </a:r>
            <a:r>
              <a:rPr sz="1450" b="0" i="0">
                <a:solidFill>
                  <a:srgbClr val="1F2328"/>
                </a:solidFill>
                <a:latin typeface="Courier New"/>
              </a:rPr>
              <a:t>[</a:t>
            </a:r>
            <a:r>
              <a:rPr sz="1450" b="0" i="0">
                <a:solidFill>
                  <a:srgbClr val="B04A2B"/>
                </a:solidFill>
                <a:latin typeface="Courier New"/>
              </a:rPr>
              <a:t>'text'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flag</a:t>
            </a:r>
            <a:r>
              <a:rPr sz="1450" b="0" i="0">
                <a:solidFill>
                  <a:srgbClr val="1F2328"/>
                </a:solidFill>
                <a:latin typeface="Courier New"/>
              </a:rPr>
              <a:t>.</a:t>
            </a:r>
            <a:r>
              <a:rPr sz="1450" b="0" i="0">
                <a:solidFill>
                  <a:srgbClr val="1F2328"/>
                </a:solidFill>
                <a:latin typeface="Courier New"/>
              </a:rPr>
              <a:t>text</a:t>
            </a:r>
            <a:r>
              <a:rPr sz="1450" b="0" i="0">
                <a:solidFill>
                  <a:srgbClr val="1F2328"/>
                </a:solidFill>
                <a:latin typeface="Courier New"/>
              </a:rPr>
              <a:t>.</a:t>
            </a:r>
            <a:r>
              <a:rPr sz="1450" b="0" i="0">
                <a:solidFill>
                  <a:srgbClr val="1F2328"/>
                </a:solidFill>
                <a:latin typeface="Courier New"/>
              </a:rPr>
              <a:t>map</a:t>
            </a:r>
            <a:r>
              <a:rPr sz="1450" b="0" i="0">
                <a:solidFill>
                  <a:srgbClr val="1F2328"/>
                </a:solidFill>
                <a:latin typeface="Courier New"/>
              </a:rPr>
              <a:t>(</a:t>
            </a:r>
            <a:r>
              <a:rPr sz="1450" b="1" i="0">
                <a:solidFill>
                  <a:srgbClr val="1F2328"/>
                </a:solidFill>
                <a:latin typeface="Courier New"/>
              </a:rPr>
              <a:t>lambda</a:t>
            </a:r>
            <a:r>
              <a:rPr sz="1450" b="0" i="0">
                <a:solidFill>
                  <a:srgbClr val="1F2328"/>
                </a:solidFill>
                <a:latin typeface="Courier New"/>
              </a:rPr>
              <a:t> </a:t>
            </a:r>
            <a:r>
              <a:rPr sz="1450" b="0" i="0">
                <a:solidFill>
                  <a:srgbClr val="1F2328"/>
                </a:solidFill>
                <a:latin typeface="Courier New"/>
              </a:rPr>
              <a:t>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mask</a:t>
            </a:r>
            <a:r>
              <a:rPr sz="1450" b="0" i="0">
                <a:solidFill>
                  <a:srgbClr val="1F2328"/>
                </a:solidFill>
                <a:latin typeface="Courier New"/>
              </a:rPr>
              <a:t>(</a:t>
            </a:r>
            <a:r>
              <a:rPr sz="1450" b="0" i="0">
                <a:solidFill>
                  <a:srgbClr val="1F2328"/>
                </a:solidFill>
                <a:latin typeface="Courier New"/>
              </a:rPr>
              <a:t>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MASKER</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safe_chunks</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ks</a:t>
            </a:r>
            <a:r>
              <a:rPr sz="1450" b="0" i="0">
                <a:solidFill>
                  <a:srgbClr val="1F2328"/>
                </a:solidFill>
                <a:latin typeface="Courier New"/>
              </a:rPr>
              <a:t>.</a:t>
            </a:r>
            <a:r>
              <a:rPr sz="1450" b="0" i="0">
                <a:solidFill>
                  <a:srgbClr val="1F2328"/>
                </a:solidFill>
                <a:latin typeface="Courier New"/>
              </a:rPr>
              <a:t>build_chunks</a:t>
            </a:r>
            <a:r>
              <a:rPr sz="1450" b="0" i="0">
                <a:solidFill>
                  <a:srgbClr val="1F2328"/>
                </a:solidFill>
                <a:latin typeface="Courier New"/>
              </a:rPr>
              <a:t>(</a:t>
            </a:r>
            <a:r>
              <a:rPr sz="1450" b="0" i="0">
                <a:solidFill>
                  <a:srgbClr val="1F2328"/>
                </a:solidFill>
                <a:latin typeface="Courier New"/>
              </a:rPr>
              <a:t>safe</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B04A2B"/>
                </a:solidFill>
                <a:latin typeface="Courier New"/>
              </a:rPr>
              <a:t>'leaks:'</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leaks</a:t>
            </a:r>
            <a:r>
              <a:rPr sz="1450" b="0" i="0">
                <a:solidFill>
                  <a:srgbClr val="1F2328"/>
                </a:solidFill>
                <a:latin typeface="Courier New"/>
              </a:rPr>
              <a:t>(</a:t>
            </a:r>
            <a:r>
              <a:rPr sz="1450" b="0" i="0">
                <a:solidFill>
                  <a:srgbClr val="1F2328"/>
                </a:solidFill>
                <a:latin typeface="Courier New"/>
              </a:rPr>
              <a:t>safe_chunks</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tok</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safe_chunks</a:t>
            </a:r>
            <a:r>
              <a:rPr sz="1450" b="0" i="0">
                <a:solidFill>
                  <a:srgbClr val="1F2328"/>
                </a:solidFill>
                <a:latin typeface="Courier New"/>
              </a:rPr>
              <a:t>.</a:t>
            </a:r>
            <a:r>
              <a:rPr sz="1450" b="0" i="0">
                <a:solidFill>
                  <a:srgbClr val="1F2328"/>
                </a:solidFill>
                <a:latin typeface="Courier New"/>
              </a:rPr>
              <a:t>text</a:t>
            </a:r>
            <a:r>
              <a:rPr sz="1450" b="0" i="0">
                <a:solidFill>
                  <a:srgbClr val="1F2328"/>
                </a:solidFill>
                <a:latin typeface="Courier New"/>
              </a:rPr>
              <a:t>.</a:t>
            </a:r>
            <a:r>
              <a:rPr sz="1450" b="0" i="0">
                <a:solidFill>
                  <a:srgbClr val="1F2328"/>
                </a:solidFill>
                <a:latin typeface="Courier New"/>
              </a:rPr>
              <a:t>str</a:t>
            </a:r>
            <a:r>
              <a:rPr sz="1450" b="0" i="0">
                <a:solidFill>
                  <a:srgbClr val="1F2328"/>
                </a:solidFill>
                <a:latin typeface="Courier New"/>
              </a:rPr>
              <a:t>.</a:t>
            </a:r>
            <a:r>
              <a:rPr sz="1450" b="0" i="0">
                <a:solidFill>
                  <a:srgbClr val="1F2328"/>
                </a:solidFill>
                <a:latin typeface="Courier New"/>
              </a:rPr>
              <a:t>extractall</a:t>
            </a:r>
            <a:r>
              <a:rPr sz="1450" b="0" i="0">
                <a:solidFill>
                  <a:srgbClr val="1F2328"/>
                </a:solidFill>
                <a:latin typeface="Courier New"/>
              </a:rPr>
              <a:t>(</a:t>
            </a:r>
            <a:r>
              <a:rPr sz="1450" b="0" i="0">
                <a:solidFill>
                  <a:srgbClr val="1F2328"/>
                </a:solidFill>
                <a:latin typeface="Courier New"/>
              </a:rPr>
              <a:t>r</a:t>
            </a:r>
            <a:r>
              <a:rPr sz="1450" b="0" i="0">
                <a:solidFill>
                  <a:srgbClr val="B04A2B"/>
                </a:solidFill>
                <a:latin typeface="Courier New"/>
              </a:rPr>
              <a:t>'\[([A-Z_]+)\]'</a:t>
            </a:r>
            <a:r>
              <a:rPr sz="1450" b="0" i="0">
                <a:solidFill>
                  <a:srgbClr val="1F2328"/>
                </a:solidFill>
                <a:latin typeface="Courier New"/>
              </a:rPr>
              <a:t>)</a:t>
            </a:r>
            <a:r>
              <a:rPr sz="1450" b="0" i="0">
                <a:solidFill>
                  <a:srgbClr val="1F2328"/>
                </a:solidFill>
                <a:latin typeface="Courier New"/>
              </a:rPr>
              <a:t>[</a:t>
            </a:r>
            <a:r>
              <a:rPr sz="1450" b="0" i="0">
                <a:solidFill>
                  <a:srgbClr val="3B4046"/>
                </a:solidFill>
                <a:latin typeface="Courier New"/>
              </a:rPr>
              <a:t>0</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tok</a:t>
            </a:r>
            <a:r>
              <a:rPr sz="1450" b="0" i="0">
                <a:solidFill>
                  <a:srgbClr val="1F2328"/>
                </a:solidFill>
                <a:latin typeface="Courier New"/>
              </a:rPr>
              <a:t>.</a:t>
            </a:r>
            <a:r>
              <a:rPr sz="1450" b="0" i="0">
                <a:solidFill>
                  <a:srgbClr val="1F2328"/>
                </a:solidFill>
                <a:latin typeface="Courier New"/>
              </a:rPr>
              <a:t>value_counts</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head</a:t>
            </a:r>
            <a:r>
              <a:rPr sz="1450" b="0" i="0">
                <a:solidFill>
                  <a:srgbClr val="1F2328"/>
                </a:solidFill>
                <a:latin typeface="Courier New"/>
              </a:rPr>
              <a:t>(</a:t>
            </a:r>
            <a:r>
              <a:rPr sz="1450" b="0" i="0">
                <a:solidFill>
                  <a:srgbClr val="3B4046"/>
                </a:solidFill>
                <a:latin typeface="Courier New"/>
              </a:rPr>
              <a:t>3</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to_dict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d</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safe_chunks</a:t>
            </a:r>
            <a:r>
              <a:rPr sz="1450" b="0" i="0">
                <a:solidFill>
                  <a:srgbClr val="1F2328"/>
                </a:solidFill>
                <a:latin typeface="Courier New"/>
              </a:rPr>
              <a:t>[</a:t>
            </a:r>
            <a:r>
              <a:rPr sz="1450" b="0" i="0">
                <a:solidFill>
                  <a:srgbClr val="1F2328"/>
                </a:solidFill>
                <a:latin typeface="Courier New"/>
              </a:rPr>
              <a:t>safe_chunks</a:t>
            </a:r>
            <a:r>
              <a:rPr sz="1450" b="0" i="0">
                <a:solidFill>
                  <a:srgbClr val="1F2328"/>
                </a:solidFill>
                <a:latin typeface="Courier New"/>
              </a:rPr>
              <a:t>.</a:t>
            </a:r>
            <a:r>
              <a:rPr sz="1450" b="0" i="0">
                <a:solidFill>
                  <a:srgbClr val="1F2328"/>
                </a:solidFill>
                <a:latin typeface="Courier New"/>
              </a:rPr>
              <a:t>doc_id</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'D102'</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text</a:t>
            </a:r>
            <a:r>
              <a:rPr sz="1450" b="0" i="0">
                <a:solidFill>
                  <a:srgbClr val="1F2328"/>
                </a:solidFill>
                <a:latin typeface="Courier New"/>
              </a:rPr>
              <a:t>.</a:t>
            </a:r>
            <a:r>
              <a:rPr sz="1450" b="0" i="0">
                <a:solidFill>
                  <a:srgbClr val="1F2328"/>
                </a:solidFill>
                <a:latin typeface="Courier New"/>
              </a:rPr>
              <a:t>iloc</a:t>
            </a:r>
            <a:r>
              <a:rPr sz="1450" b="0" i="0">
                <a:solidFill>
                  <a:srgbClr val="1F2328"/>
                </a:solidFill>
                <a:latin typeface="Courier New"/>
              </a:rPr>
              <a:t>[</a:t>
            </a:r>
            <a:r>
              <a:rPr sz="1450" b="0" i="0">
                <a:solidFill>
                  <a:srgbClr val="3B4046"/>
                </a:solidFill>
                <a:latin typeface="Courier New"/>
              </a:rPr>
              <a:t>0</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d</a:t>
            </a:r>
            <a:r>
              <a:rPr sz="1450" b="0" i="0">
                <a:solidFill>
                  <a:srgbClr val="1F2328"/>
                </a:solidFill>
                <a:latin typeface="Courier New"/>
              </a:rPr>
              <a:t>[</a:t>
            </a:r>
            <a:r>
              <a:rPr sz="1450" b="0" i="0">
                <a:solidFill>
                  <a:srgbClr val="3B4046"/>
                </a:solidFill>
                <a:latin typeface="Courier New"/>
              </a:rPr>
              <a:t>208</a:t>
            </a:r>
            <a:r>
              <a:rPr sz="1450" b="0" i="0">
                <a:solidFill>
                  <a:srgbClr val="1F2328"/>
                </a:solidFill>
                <a:latin typeface="Courier New"/>
              </a:rPr>
              <a:t>:</a:t>
            </a:r>
            <a:r>
              <a:rPr sz="1450" b="0" i="0">
                <a:solidFill>
                  <a:srgbClr val="3B4046"/>
                </a:solidFill>
                <a:latin typeface="Courier New"/>
              </a:rPr>
              <a:t>268</a:t>
            </a:r>
            <a:r>
              <a:rPr sz="1450" b="0" i="0">
                <a:solidFill>
                  <a:srgbClr val="1F2328"/>
                </a:solidFill>
                <a:latin typeface="Courier New"/>
              </a:rPr>
              <a:t>]</a:t>
            </a:r>
            <a:r>
              <a:rPr sz="1450" b="0" i="0">
                <a:solidFill>
                  <a:srgbClr val="1F2328"/>
                </a:solidFill>
                <a:latin typeface="Courier New"/>
              </a:rPr>
              <a:t>)</a:t>
            </a:r>
          </a:p>
        </p:txBody>
      </p:sp>
      <p:grpSp>
        <p:nvGrpSpPr>
          <p:cNvPr id="7" name="output"/>
          <p:cNvGrpSpPr/>
          <p:nvPr/>
        </p:nvGrpSpPr>
        <p:grpSpPr>
          <a:xfrm>
            <a:off x="685800" y="4009644"/>
            <a:ext cx="6949440" cy="950976"/>
            <a:chOff x="685800" y="4009644"/>
            <a:chExt cx="6949440" cy="950976"/>
          </a:xfrm>
        </p:grpSpPr>
        <p:sp>
          <p:nvSpPr>
            <p:cNvPr id="8" name="TextBox 7"/>
            <p:cNvSpPr txBox="1"/>
            <p:nvPr/>
          </p:nvSpPr>
          <p:spPr>
            <a:xfrm>
              <a:off x="685800" y="40096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26567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4357116"/>
              <a:ext cx="6675120" cy="585216"/>
            </a:xfrm>
            <a:prstGeom prst="rect">
              <a:avLst/>
            </a:prstGeom>
            <a:noFill/>
          </p:spPr>
          <p:txBody>
            <a:bodyPr wrap="none" lIns="0" rIns="0" tIns="0" bIns="0">
              <a:spAutoFit/>
            </a:bodyPr>
            <a:lstStyle/>
            <a:p>
              <a:r>
                <a:rPr sz="1400" b="0" i="0">
                  <a:solidFill>
                    <a:srgbClr val="1F2328"/>
                  </a:solidFill>
                  <a:latin typeface="Courier New"/>
                </a:rPr>
                <a:t>leaks: []</a:t>
              </a:r>
            </a:p>
            <a:p>
              <a:r>
                <a:rPr sz="1400" b="0" i="0">
                  <a:solidFill>
                    <a:srgbClr val="1F2328"/>
                  </a:solidFill>
                  <a:latin typeface="Courier New"/>
                </a:rPr>
                <a:t>{'NAME': 62, 'PHONE': 51, 'CUSTOMER_ID': 32}</a:t>
              </a:r>
            </a:p>
            <a:p>
              <a:r>
                <a:rPr sz="1400" b="0" i="0">
                  <a:solidFill>
                    <a:srgbClr val="1F2328"/>
                  </a:solidFill>
                  <a:latin typeface="Courier New"/>
                </a:rPr>
                <a:t>late Henry Kamya, policy LP-2024-75516, cover UGX 155,000,00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Give the masker the looser patterns as well, then mask and chunk again.</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check finds no leaks. Count the tokens that replaced personal data.</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Read the start of masked Letter 11 for yourself.</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Masked is not the same as anonymous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17</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The check passes. The masked chunks hold no phone, no national id and no customer id, so the team calls the index anonymous.</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Patterns miss what has no fixed shape. Masked Letter 11 still names the late Henry Kamya and describes kidney failure and dialysis. The scanned form still names Ruth Nankya Kasozi.</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Treat masked text as personal data with an owner and a retention date. Keep health letters out. Read a sample of masked chunks by eye.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An erasure request: search before and after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sp>
        <p:nvSpPr>
          <p:cNvPr id="5" name="Rectangle 4"/>
          <p:cNvSpPr/>
          <p:nvPr/>
        </p:nvSpPr>
        <p:spPr>
          <a:xfrm>
            <a:off x="685800" y="1600200"/>
            <a:ext cx="6766560" cy="384657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492240" cy="3572255"/>
          </a:xfrm>
          <a:prstGeom prst="rect">
            <a:avLst/>
          </a:prstGeom>
          <a:noFill/>
        </p:spPr>
        <p:txBody>
          <a:bodyPr wrap="none" lIns="0" rIns="0" tIns="0" bIns="0">
            <a:spAutoFit/>
          </a:bodyPr>
          <a:lstStyle/>
          <a:p>
            <a:r>
              <a:rPr sz="1450" b="0" i="0">
                <a:solidFill>
                  <a:srgbClr val="1F2328"/>
                </a:solidFill>
                <a:latin typeface="Courier New"/>
              </a:rPr>
              <a:t>chunks</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ks</a:t>
            </a:r>
            <a:r>
              <a:rPr sz="1450" b="0" i="0">
                <a:solidFill>
                  <a:srgbClr val="1F2328"/>
                </a:solidFill>
                <a:latin typeface="Courier New"/>
              </a:rPr>
              <a:t>.</a:t>
            </a:r>
            <a:r>
              <a:rPr sz="1450" b="0" i="0">
                <a:solidFill>
                  <a:srgbClr val="1F2328"/>
                </a:solidFill>
                <a:latin typeface="Courier New"/>
              </a:rPr>
              <a:t>build_chunks</a:t>
            </a:r>
            <a:r>
              <a:rPr sz="1450" b="0" i="0">
                <a:solidFill>
                  <a:srgbClr val="1F2328"/>
                </a:solidFill>
                <a:latin typeface="Courier New"/>
              </a:rPr>
              <a:t>(</a:t>
            </a:r>
            <a:r>
              <a:rPr sz="1450" b="0" i="0">
                <a:solidFill>
                  <a:srgbClr val="1F2328"/>
                </a:solidFill>
                <a:latin typeface="Courier New"/>
              </a:rPr>
              <a:t>corpus</a:t>
            </a:r>
            <a:r>
              <a:rPr sz="1450" b="0" i="0">
                <a:solidFill>
                  <a:srgbClr val="1F2328"/>
                </a:solidFill>
                <a:latin typeface="Courier New"/>
              </a:rPr>
              <a:t>)</a:t>
            </a:r>
          </a:p>
          <a:p>
            <a:r>
              <a:rPr sz="1450" b="0" i="0">
                <a:solidFill>
                  <a:srgbClr val="1F2328"/>
                </a:solidFill>
                <a:latin typeface="Courier New"/>
              </a:rPr>
              <a:t>search</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ks</a:t>
            </a:r>
            <a:r>
              <a:rPr sz="1450" b="0" i="0">
                <a:solidFill>
                  <a:srgbClr val="1F2328"/>
                </a:solidFill>
                <a:latin typeface="Courier New"/>
              </a:rPr>
              <a:t>.</a:t>
            </a:r>
            <a:r>
              <a:rPr sz="1450" b="0" i="0">
                <a:solidFill>
                  <a:srgbClr val="1F2328"/>
                </a:solidFill>
                <a:latin typeface="Courier New"/>
              </a:rPr>
              <a:t>Searcher</a:t>
            </a:r>
            <a:r>
              <a:rPr sz="1450" b="0" i="0">
                <a:solidFill>
                  <a:srgbClr val="1F2328"/>
                </a:solidFill>
                <a:latin typeface="Courier New"/>
              </a:rPr>
              <a:t>(</a:t>
            </a:r>
            <a:r>
              <a:rPr sz="1450" b="0" i="0">
                <a:solidFill>
                  <a:srgbClr val="1F2328"/>
                </a:solidFill>
                <a:latin typeface="Courier New"/>
              </a:rPr>
              <a:t>chunks</a:t>
            </a:r>
            <a:r>
              <a:rPr sz="1450" b="0" i="0">
                <a:solidFill>
                  <a:srgbClr val="1F2328"/>
                </a:solidFill>
                <a:latin typeface="Courier New"/>
              </a:rPr>
              <a:t>)</a:t>
            </a:r>
          </a:p>
          <a:p>
            <a:r>
              <a:rPr sz="1450" b="0" i="0">
                <a:solidFill>
                  <a:srgbClr val="1F2328"/>
                </a:solidFill>
                <a:latin typeface="Courier New"/>
              </a:rPr>
              <a:t>who</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'KT-8782200'</a:t>
            </a:r>
          </a:p>
          <a:p>
            <a:r>
              <a:rPr sz="1450" b="0" i="0">
                <a:solidFill>
                  <a:srgbClr val="1F2328"/>
                </a:solidFill>
                <a:latin typeface="Courier New"/>
              </a:rPr>
              <a:t>q</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'dialysis twice a week kidney failure'</a:t>
            </a:r>
          </a:p>
          <a:p>
            <a:r>
              <a:rPr sz="1450" b="1" i="0">
                <a:solidFill>
                  <a:srgbClr val="1F2328"/>
                </a:solidFill>
                <a:latin typeface="Courier New"/>
              </a:rPr>
              <a:t>def</a:t>
            </a:r>
            <a:r>
              <a:rPr sz="1450" b="0" i="0">
                <a:solidFill>
                  <a:srgbClr val="1F2328"/>
                </a:solidFill>
                <a:latin typeface="Courier New"/>
              </a:rPr>
              <a:t> </a:t>
            </a:r>
            <a:r>
              <a:rPr sz="1450" b="0" i="0">
                <a:solidFill>
                  <a:srgbClr val="1F2328"/>
                </a:solidFill>
                <a:latin typeface="Courier New"/>
              </a:rPr>
              <a:t>top</a:t>
            </a:r>
            <a:r>
              <a:rPr sz="1450" b="0" i="0">
                <a:solidFill>
                  <a:srgbClr val="1F2328"/>
                </a:solidFill>
                <a:latin typeface="Courier New"/>
              </a:rPr>
              <a:t>(</a:t>
            </a:r>
            <a:r>
              <a:rPr sz="1450" b="0" i="0">
                <a:solidFill>
                  <a:srgbClr val="1F2328"/>
                </a:solidFill>
                <a:latin typeface="Courier New"/>
              </a:rPr>
              <a:t>s</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r</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a:t>
            </a:r>
            <a:r>
              <a:rPr sz="1450" b="0" i="0">
                <a:solidFill>
                  <a:srgbClr val="1F2328"/>
                </a:solidFill>
                <a:latin typeface="Courier New"/>
              </a:rPr>
              <a:t>.</a:t>
            </a:r>
            <a:r>
              <a:rPr sz="1450" b="0" i="0">
                <a:solidFill>
                  <a:srgbClr val="1F2328"/>
                </a:solidFill>
                <a:latin typeface="Courier New"/>
              </a:rPr>
              <a:t>search</a:t>
            </a:r>
            <a:r>
              <a:rPr sz="1450" b="0" i="0">
                <a:solidFill>
                  <a:srgbClr val="1F2328"/>
                </a:solidFill>
                <a:latin typeface="Courier New"/>
              </a:rPr>
              <a:t>(</a:t>
            </a:r>
            <a:r>
              <a:rPr sz="1450" b="0" i="0">
                <a:solidFill>
                  <a:srgbClr val="1F2328"/>
                </a:solidFill>
                <a:latin typeface="Courier New"/>
              </a:rPr>
              <a:t>q</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'hybrid'</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k</a:t>
            </a:r>
            <a:r>
              <a:rPr sz="1450" b="0" i="0">
                <a:solidFill>
                  <a:srgbClr val="1F2328"/>
                </a:solidFill>
                <a:latin typeface="Courier New"/>
              </a:rPr>
              <a:t>=</a:t>
            </a:r>
            <a:r>
              <a:rPr sz="1450" b="0" i="0">
                <a:solidFill>
                  <a:srgbClr val="3B4046"/>
                </a:solidFill>
                <a:latin typeface="Courier New"/>
              </a:rPr>
              <a:t>1</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user_groups</a:t>
            </a:r>
            <a:r>
              <a:rPr sz="1450" b="0" i="0">
                <a:solidFill>
                  <a:srgbClr val="1F2328"/>
                </a:solidFill>
                <a:latin typeface="Courier New"/>
              </a:rPr>
              <a:t>=</a:t>
            </a:r>
            <a:r>
              <a:rPr sz="1450" b="0" i="0">
                <a:solidFill>
                  <a:srgbClr val="B04A2B"/>
                </a:solidFill>
                <a:latin typeface="Courier New"/>
              </a:rPr>
              <a:t>'claims'</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1" i="0">
                <a:solidFill>
                  <a:srgbClr val="1F2328"/>
                </a:solidFill>
                <a:latin typeface="Courier New"/>
              </a:rPr>
              <a:t>return</a:t>
            </a:r>
            <a:r>
              <a:rPr sz="1450" b="0" i="0">
                <a:solidFill>
                  <a:srgbClr val="1F2328"/>
                </a:solidFill>
                <a:latin typeface="Courier New"/>
              </a:rPr>
              <a:t> </a:t>
            </a:r>
            <a:r>
              <a:rPr sz="1450" b="0" i="0">
                <a:solidFill>
                  <a:srgbClr val="1F2328"/>
                </a:solidFill>
                <a:latin typeface="Courier New"/>
              </a:rPr>
              <a:t>r</a:t>
            </a:r>
            <a:r>
              <a:rPr sz="1450" b="0" i="0">
                <a:solidFill>
                  <a:srgbClr val="1F2328"/>
                </a:solidFill>
                <a:latin typeface="Courier New"/>
              </a:rPr>
              <a:t>.</a:t>
            </a:r>
            <a:r>
              <a:rPr sz="1450" b="0" i="0">
                <a:solidFill>
                  <a:srgbClr val="1F2328"/>
                </a:solidFill>
                <a:latin typeface="Courier New"/>
              </a:rPr>
              <a:t>chunk_id</a:t>
            </a:r>
            <a:r>
              <a:rPr sz="1450" b="0" i="0">
                <a:solidFill>
                  <a:srgbClr val="1F2328"/>
                </a:solidFill>
                <a:latin typeface="Courier New"/>
              </a:rPr>
              <a:t>.</a:t>
            </a:r>
            <a:r>
              <a:rPr sz="1450" b="0" i="0">
                <a:solidFill>
                  <a:srgbClr val="1F2328"/>
                </a:solidFill>
                <a:latin typeface="Courier New"/>
              </a:rPr>
              <a:t>iloc</a:t>
            </a:r>
            <a:r>
              <a:rPr sz="1450" b="0" i="0">
                <a:solidFill>
                  <a:srgbClr val="1F2328"/>
                </a:solidFill>
                <a:latin typeface="Courier New"/>
              </a:rPr>
              <a:t>[</a:t>
            </a:r>
            <a:r>
              <a:rPr sz="1450" b="0" i="0">
                <a:solidFill>
                  <a:srgbClr val="3B4046"/>
                </a:solidFill>
                <a:latin typeface="Courier New"/>
              </a:rPr>
              <a:t>0</a:t>
            </a:r>
            <a:r>
              <a:rPr sz="1450" b="0" i="0">
                <a:solidFill>
                  <a:srgbClr val="1F2328"/>
                </a:solidFill>
                <a:latin typeface="Courier New"/>
              </a:rPr>
              <a:t>]</a:t>
            </a:r>
          </a:p>
          <a:p>
            <a:r>
              <a:rPr sz="1450" b="0" i="0">
                <a:solidFill>
                  <a:srgbClr val="1F2328"/>
                </a:solidFill>
                <a:latin typeface="Courier New"/>
              </a:rPr>
              <a:t> </a:t>
            </a:r>
          </a:p>
          <a:p>
            <a:r>
              <a:rPr sz="1450" b="0" i="0">
                <a:solidFill>
                  <a:srgbClr val="1F2328"/>
                </a:solidFill>
                <a:latin typeface="Courier New"/>
              </a:rPr>
              <a:t>hit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chunks</a:t>
            </a:r>
            <a:r>
              <a:rPr sz="1450" b="0" i="0">
                <a:solidFill>
                  <a:srgbClr val="1F2328"/>
                </a:solidFill>
                <a:latin typeface="Courier New"/>
              </a:rPr>
              <a:t>[</a:t>
            </a:r>
            <a:r>
              <a:rPr sz="1450" b="0" i="0">
                <a:solidFill>
                  <a:srgbClr val="1F2328"/>
                </a:solidFill>
                <a:latin typeface="Courier New"/>
              </a:rPr>
              <a:t>chunks</a:t>
            </a:r>
            <a:r>
              <a:rPr sz="1450" b="0" i="0">
                <a:solidFill>
                  <a:srgbClr val="1F2328"/>
                </a:solidFill>
                <a:latin typeface="Courier New"/>
              </a:rPr>
              <a:t>.</a:t>
            </a:r>
            <a:r>
              <a:rPr sz="1450" b="0" i="0">
                <a:solidFill>
                  <a:srgbClr val="1F2328"/>
                </a:solidFill>
                <a:latin typeface="Courier New"/>
              </a:rPr>
              <a:t>text</a:t>
            </a:r>
            <a:r>
              <a:rPr sz="1450" b="0" i="0">
                <a:solidFill>
                  <a:srgbClr val="1F2328"/>
                </a:solidFill>
                <a:latin typeface="Courier New"/>
              </a:rPr>
              <a:t>.</a:t>
            </a:r>
            <a:r>
              <a:rPr sz="1450" b="0" i="0">
                <a:solidFill>
                  <a:srgbClr val="1F2328"/>
                </a:solidFill>
                <a:latin typeface="Courier New"/>
              </a:rPr>
              <a:t>str</a:t>
            </a:r>
            <a:r>
              <a:rPr sz="1450" b="0" i="0">
                <a:solidFill>
                  <a:srgbClr val="1F2328"/>
                </a:solidFill>
                <a:latin typeface="Courier New"/>
              </a:rPr>
              <a:t>.</a:t>
            </a:r>
            <a:r>
              <a:rPr sz="1450" b="0" i="0">
                <a:solidFill>
                  <a:srgbClr val="1F2328"/>
                </a:solidFill>
                <a:latin typeface="Courier New"/>
              </a:rPr>
              <a:t>contains</a:t>
            </a:r>
            <a:r>
              <a:rPr sz="1450" b="0" i="0">
                <a:solidFill>
                  <a:srgbClr val="1F2328"/>
                </a:solidFill>
                <a:latin typeface="Courier New"/>
              </a:rPr>
              <a:t>(</a:t>
            </a:r>
            <a:r>
              <a:rPr sz="1450" b="0" i="0">
                <a:solidFill>
                  <a:srgbClr val="1F2328"/>
                </a:solidFill>
                <a:latin typeface="Courier New"/>
              </a:rPr>
              <a:t>who</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who</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'sits in'</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hit</a:t>
            </a:r>
            <a:r>
              <a:rPr sz="1450" b="0" i="0">
                <a:solidFill>
                  <a:srgbClr val="1F2328"/>
                </a:solidFill>
                <a:latin typeface="Courier New"/>
              </a:rPr>
              <a:t>.</a:t>
            </a:r>
            <a:r>
              <a:rPr sz="1450" b="0" i="0">
                <a:solidFill>
                  <a:srgbClr val="1F2328"/>
                </a:solidFill>
                <a:latin typeface="Courier New"/>
              </a:rPr>
              <a:t>chunk_id</a:t>
            </a:r>
            <a:r>
              <a:rPr sz="1450" b="0" i="0">
                <a:solidFill>
                  <a:srgbClr val="1F2328"/>
                </a:solidFill>
                <a:latin typeface="Courier New"/>
              </a:rPr>
              <a:t>.</a:t>
            </a:r>
            <a:r>
              <a:rPr sz="1450" b="0" i="0">
                <a:solidFill>
                  <a:srgbClr val="1F2328"/>
                </a:solidFill>
                <a:latin typeface="Courier New"/>
              </a:rPr>
              <a:t>iloc</a:t>
            </a:r>
            <a:r>
              <a:rPr sz="1450" b="0" i="0">
                <a:solidFill>
                  <a:srgbClr val="1F2328"/>
                </a:solidFill>
                <a:latin typeface="Courier New"/>
              </a:rPr>
              <a:t>[</a:t>
            </a:r>
            <a:r>
              <a:rPr sz="1450" b="0" i="0">
                <a:solidFill>
                  <a:srgbClr val="3B4046"/>
                </a:solidFill>
                <a:latin typeface="Courier New"/>
              </a:rPr>
              <a:t>0</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B04A2B"/>
                </a:solidFill>
                <a:latin typeface="Courier New"/>
              </a:rPr>
              <a:t>'before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top</a:t>
            </a:r>
            <a:r>
              <a:rPr sz="1450" b="0" i="0">
                <a:solidFill>
                  <a:srgbClr val="1F2328"/>
                </a:solidFill>
                <a:latin typeface="Courier New"/>
              </a:rPr>
              <a:t>(</a:t>
            </a:r>
            <a:r>
              <a:rPr sz="1450" b="0" i="0">
                <a:solidFill>
                  <a:srgbClr val="1F2328"/>
                </a:solidFill>
                <a:latin typeface="Courier New"/>
              </a:rPr>
              <a:t>search</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chunks</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chunks</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chunks</a:t>
            </a:r>
            <a:r>
              <a:rPr sz="1450" b="0" i="0">
                <a:solidFill>
                  <a:srgbClr val="1F2328"/>
                </a:solidFill>
                <a:latin typeface="Courier New"/>
              </a:rPr>
              <a:t>.</a:t>
            </a:r>
            <a:r>
              <a:rPr sz="1450" b="0" i="0">
                <a:solidFill>
                  <a:srgbClr val="1F2328"/>
                </a:solidFill>
                <a:latin typeface="Courier New"/>
              </a:rPr>
              <a:t>doc_id</a:t>
            </a:r>
            <a:r>
              <a:rPr sz="1450" b="0" i="0">
                <a:solidFill>
                  <a:srgbClr val="1F2328"/>
                </a:solidFill>
                <a:latin typeface="Courier New"/>
              </a:rPr>
              <a:t>.</a:t>
            </a:r>
            <a:r>
              <a:rPr sz="1450" b="0" i="0">
                <a:solidFill>
                  <a:srgbClr val="1F2328"/>
                </a:solidFill>
                <a:latin typeface="Courier New"/>
              </a:rPr>
              <a:t>isin</a:t>
            </a:r>
            <a:r>
              <a:rPr sz="1450" b="0" i="0">
                <a:solidFill>
                  <a:srgbClr val="1F2328"/>
                </a:solidFill>
                <a:latin typeface="Courier New"/>
              </a:rPr>
              <a:t>(</a:t>
            </a:r>
            <a:r>
              <a:rPr sz="1450" b="0" i="0">
                <a:solidFill>
                  <a:srgbClr val="1F2328"/>
                </a:solidFill>
                <a:latin typeface="Courier New"/>
              </a:rPr>
              <a:t>hit</a:t>
            </a:r>
            <a:r>
              <a:rPr sz="1450" b="0" i="0">
                <a:solidFill>
                  <a:srgbClr val="1F2328"/>
                </a:solidFill>
                <a:latin typeface="Courier New"/>
              </a:rPr>
              <a:t>.</a:t>
            </a:r>
            <a:r>
              <a:rPr sz="1450" b="0" i="0">
                <a:solidFill>
                  <a:srgbClr val="1F2328"/>
                </a:solidFill>
                <a:latin typeface="Courier New"/>
              </a:rPr>
              <a:t>doc_id</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B04A2B"/>
                </a:solidFill>
                <a:latin typeface="Courier New"/>
              </a:rPr>
              <a:t>'table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len</a:t>
            </a:r>
            <a:r>
              <a:rPr sz="1450" b="0" i="0">
                <a:solidFill>
                  <a:srgbClr val="1F2328"/>
                </a:solidFill>
                <a:latin typeface="Courier New"/>
              </a:rPr>
              <a:t>(</a:t>
            </a:r>
            <a:r>
              <a:rPr sz="1450" b="0" i="0">
                <a:solidFill>
                  <a:srgbClr val="1F2328"/>
                </a:solidFill>
                <a:latin typeface="Courier New"/>
              </a:rPr>
              <a:t>chunks</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'chunks'</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B04A2B"/>
                </a:solidFill>
                <a:latin typeface="Courier New"/>
              </a:rPr>
              <a:t>'old index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top</a:t>
            </a:r>
            <a:r>
              <a:rPr sz="1450" b="0" i="0">
                <a:solidFill>
                  <a:srgbClr val="1F2328"/>
                </a:solidFill>
                <a:latin typeface="Courier New"/>
              </a:rPr>
              <a:t>(</a:t>
            </a:r>
            <a:r>
              <a:rPr sz="1450" b="0" i="0">
                <a:solidFill>
                  <a:srgbClr val="1F2328"/>
                </a:solidFill>
                <a:latin typeface="Courier New"/>
              </a:rPr>
              <a:t>search</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search</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ks</a:t>
            </a:r>
            <a:r>
              <a:rPr sz="1450" b="0" i="0">
                <a:solidFill>
                  <a:srgbClr val="1F2328"/>
                </a:solidFill>
                <a:latin typeface="Courier New"/>
              </a:rPr>
              <a:t>.</a:t>
            </a:r>
            <a:r>
              <a:rPr sz="1450" b="0" i="0">
                <a:solidFill>
                  <a:srgbClr val="1F2328"/>
                </a:solidFill>
                <a:latin typeface="Courier New"/>
              </a:rPr>
              <a:t>Searcher</a:t>
            </a:r>
            <a:r>
              <a:rPr sz="1450" b="0" i="0">
                <a:solidFill>
                  <a:srgbClr val="1F2328"/>
                </a:solidFill>
                <a:latin typeface="Courier New"/>
              </a:rPr>
              <a:t>(</a:t>
            </a:r>
            <a:r>
              <a:rPr sz="1450" b="0" i="0">
                <a:solidFill>
                  <a:srgbClr val="1F2328"/>
                </a:solidFill>
                <a:latin typeface="Courier New"/>
              </a:rPr>
              <a:t>chunks</a:t>
            </a:r>
            <a:r>
              <a:rPr sz="1450" b="0" i="0">
                <a:solidFill>
                  <a:srgbClr val="1F2328"/>
                </a:solidFill>
                <a:latin typeface="Courier New"/>
              </a:rPr>
              <a:t>.</a:t>
            </a:r>
            <a:r>
              <a:rPr sz="1450" b="0" i="0">
                <a:solidFill>
                  <a:srgbClr val="1F2328"/>
                </a:solidFill>
                <a:latin typeface="Courier New"/>
              </a:rPr>
              <a:t>reset_index</a:t>
            </a:r>
            <a:r>
              <a:rPr sz="1450" b="0" i="0">
                <a:solidFill>
                  <a:srgbClr val="1F2328"/>
                </a:solidFill>
                <a:latin typeface="Courier New"/>
              </a:rPr>
              <a:t>(</a:t>
            </a:r>
            <a:r>
              <a:rPr sz="1450" b="0" i="0">
                <a:solidFill>
                  <a:srgbClr val="1F2328"/>
                </a:solidFill>
                <a:latin typeface="Courier New"/>
              </a:rPr>
              <a:t>drop</a:t>
            </a:r>
            <a:r>
              <a:rPr sz="1450" b="0" i="0">
                <a:solidFill>
                  <a:srgbClr val="1F2328"/>
                </a:solidFill>
                <a:latin typeface="Courier New"/>
              </a:rPr>
              <a:t>=</a:t>
            </a:r>
            <a:r>
              <a:rPr sz="1450" b="1" i="0">
                <a:solidFill>
                  <a:srgbClr val="1F2328"/>
                </a:solidFill>
                <a:latin typeface="Courier New"/>
              </a:rPr>
              <a:t>True</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B04A2B"/>
                </a:solidFill>
                <a:latin typeface="Courier New"/>
              </a:rPr>
              <a:t>'rebuilt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top</a:t>
            </a:r>
            <a:r>
              <a:rPr sz="1450" b="0" i="0">
                <a:solidFill>
                  <a:srgbClr val="1F2328"/>
                </a:solidFill>
                <a:latin typeface="Courier New"/>
              </a:rPr>
              <a:t>(</a:t>
            </a:r>
            <a:r>
              <a:rPr sz="1450" b="0" i="0">
                <a:solidFill>
                  <a:srgbClr val="1F2328"/>
                </a:solidFill>
                <a:latin typeface="Courier New"/>
              </a:rPr>
              <a:t>search</a:t>
            </a:r>
            <a:r>
              <a:rPr sz="1450" b="0" i="0">
                <a:solidFill>
                  <a:srgbClr val="1F2328"/>
                </a:solidFill>
                <a:latin typeface="Courier New"/>
              </a:rPr>
              <a:t>)</a:t>
            </a:r>
            <a:r>
              <a:rPr sz="1450" b="0" i="0">
                <a:solidFill>
                  <a:srgbClr val="1F2328"/>
                </a:solidFill>
                <a:latin typeface="Courier New"/>
              </a:rPr>
              <a:t>)</a:t>
            </a:r>
          </a:p>
        </p:txBody>
      </p:sp>
      <p:grpSp>
        <p:nvGrpSpPr>
          <p:cNvPr id="7" name="output"/>
          <p:cNvGrpSpPr/>
          <p:nvPr/>
        </p:nvGrpSpPr>
        <p:grpSpPr>
          <a:xfrm>
            <a:off x="7863840" y="1600200"/>
            <a:ext cx="3642055" cy="1575815"/>
            <a:chOff x="7863840" y="1600200"/>
            <a:chExt cx="3642055" cy="1575815"/>
          </a:xfrm>
        </p:grpSpPr>
        <p:sp>
          <p:nvSpPr>
            <p:cNvPr id="8" name="TextBox 7"/>
            <p:cNvSpPr txBox="1"/>
            <p:nvPr/>
          </p:nvSpPr>
          <p:spPr>
            <a:xfrm>
              <a:off x="7863840" y="1600200"/>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7863840" y="1856232"/>
              <a:ext cx="3642055" cy="1319783"/>
            </a:xfrm>
            <a:prstGeom prst="rect">
              <a:avLst/>
            </a:prstGeom>
            <a:solidFill>
              <a:srgbClr val="F5F3EF"/>
            </a:solidFill>
            <a:ln>
              <a:noFill/>
            </a:ln>
          </p:spPr>
          <p:txBody>
            <a:bodyPr rtlCol="0" anchor="ctr"/>
            <a:lstStyle/>
            <a:p>
              <a:pPr algn="ctr"/>
            </a:p>
          </p:txBody>
        </p:sp>
        <p:sp>
          <p:nvSpPr>
            <p:cNvPr id="10" name="TextBox 9"/>
            <p:cNvSpPr txBox="1"/>
            <p:nvPr/>
          </p:nvSpPr>
          <p:spPr>
            <a:xfrm>
              <a:off x="8046719" y="1947672"/>
              <a:ext cx="3367735" cy="1210056"/>
            </a:xfrm>
            <a:prstGeom prst="rect">
              <a:avLst/>
            </a:prstGeom>
            <a:noFill/>
          </p:spPr>
          <p:txBody>
            <a:bodyPr wrap="none" lIns="0" rIns="0" tIns="0" bIns="0">
              <a:spAutoFit/>
            </a:bodyPr>
            <a:lstStyle/>
            <a:p>
              <a:r>
                <a:rPr sz="1300" b="0" i="0">
                  <a:solidFill>
                    <a:srgbClr val="1F2328"/>
                  </a:solidFill>
                  <a:latin typeface="Courier New"/>
                </a:rPr>
                <a:t>KT-8782200 sits in D102-01</a:t>
              </a:r>
            </a:p>
            <a:p>
              <a:r>
                <a:rPr sz="1300" b="0" i="0">
                  <a:solidFill>
                    <a:srgbClr val="1F2328"/>
                  </a:solidFill>
                  <a:latin typeface="Courier New"/>
                </a:rPr>
                <a:t>before     D102-01</a:t>
              </a:r>
            </a:p>
            <a:p>
              <a:r>
                <a:rPr sz="1300" b="0" i="0">
                  <a:solidFill>
                    <a:srgbClr val="1F2328"/>
                  </a:solidFill>
                  <a:latin typeface="Courier New"/>
                </a:rPr>
                <a:t>table      138 chunks</a:t>
              </a:r>
            </a:p>
            <a:p>
              <a:r>
                <a:rPr sz="1300" b="0" i="0">
                  <a:solidFill>
                    <a:srgbClr val="1F2328"/>
                  </a:solidFill>
                  <a:latin typeface="Courier New"/>
                </a:rPr>
                <a:t>old index  D102-01</a:t>
              </a:r>
            </a:p>
            <a:p>
              <a:r>
                <a:rPr sz="1300" b="0" i="0">
                  <a:solidFill>
                    <a:srgbClr val="1F2328"/>
                  </a:solidFill>
                  <a:latin typeface="Courier New"/>
                </a:rPr>
                <a:t>rebuilt    D078-01</a:t>
              </a:r>
            </a:p>
          </p:txBody>
        </p:sp>
      </p:grpSp>
      <p:cxnSp>
        <p:nvCxnSpPr>
          <p:cNvPr id="11" name="Connector 10"/>
          <p:cNvCxnSpPr/>
          <p:nvPr/>
        </p:nvCxnSpPr>
        <p:spPr>
          <a:xfrm>
            <a:off x="7863840" y="3496056"/>
            <a:ext cx="3642055" cy="0"/>
          </a:xfrm>
          <a:prstGeom prst="line">
            <a:avLst/>
          </a:prstGeom>
          <a:ln w="15875">
            <a:solidFill>
              <a:srgbClr val="1F2328"/>
            </a:solidFill>
          </a:ln>
        </p:spPr>
      </p:cxnSp>
      <p:grpSp>
        <p:nvGrpSpPr>
          <p:cNvPr id="12" name="note-1"/>
          <p:cNvGrpSpPr/>
          <p:nvPr/>
        </p:nvGrpSpPr>
        <p:grpSpPr>
          <a:xfrm>
            <a:off x="7863840" y="3569208"/>
            <a:ext cx="3642055" cy="795528"/>
            <a:chOff x="7863840" y="3569208"/>
            <a:chExt cx="3642055" cy="795528"/>
          </a:xfrm>
        </p:grpSpPr>
        <p:sp>
          <p:nvSpPr>
            <p:cNvPr id="13" name="TextBox 12"/>
            <p:cNvSpPr txBox="1"/>
            <p:nvPr/>
          </p:nvSpPr>
          <p:spPr>
            <a:xfrm>
              <a:off x="7863840" y="3569208"/>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1</a:t>
              </a:r>
            </a:p>
          </p:txBody>
        </p:sp>
        <p:sp>
          <p:nvSpPr>
            <p:cNvPr id="14" name="TextBox 13"/>
            <p:cNvSpPr txBox="1"/>
            <p:nvPr/>
          </p:nvSpPr>
          <p:spPr>
            <a:xfrm>
              <a:off x="8229600" y="3569208"/>
              <a:ext cx="3276295" cy="758951"/>
            </a:xfrm>
            <a:prstGeom prst="rect">
              <a:avLst/>
            </a:prstGeom>
            <a:noFill/>
          </p:spPr>
          <p:txBody>
            <a:bodyPr wrap="square" lIns="0" rIns="0" tIns="18288" bIns="18288" anchor="t">
              <a:spAutoFit/>
            </a:bodyPr>
            <a:lstStyle/>
            <a:p>
              <a:pPr algn="l"/>
              <a:r>
                <a:rPr sz="1550" b="0" i="0">
                  <a:solidFill>
                    <a:srgbClr val="1F2328"/>
                  </a:solidFill>
                  <a:latin typeface="Calibri"/>
                </a:rPr>
                <a:t>Find the chunk that holds the customer's number and search for the illness.</a:t>
              </a:r>
            </a:p>
          </p:txBody>
        </p:sp>
        <p:cxnSp>
          <p:nvCxnSpPr>
            <p:cNvPr id="15" name="Connector 14"/>
            <p:cNvCxnSpPr/>
            <p:nvPr/>
          </p:nvCxnSpPr>
          <p:spPr>
            <a:xfrm>
              <a:off x="7863840" y="4364736"/>
              <a:ext cx="3642055" cy="0"/>
            </a:xfrm>
            <a:prstGeom prst="line">
              <a:avLst/>
            </a:prstGeom>
            <a:ln w="6350">
              <a:solidFill>
                <a:srgbClr val="C9C5BC"/>
              </a:solidFill>
            </a:ln>
          </p:spPr>
        </p:cxnSp>
      </p:grpSp>
      <p:grpSp>
        <p:nvGrpSpPr>
          <p:cNvPr id="16" name="note-2"/>
          <p:cNvGrpSpPr/>
          <p:nvPr/>
        </p:nvGrpSpPr>
        <p:grpSpPr>
          <a:xfrm>
            <a:off x="7863840" y="4437888"/>
            <a:ext cx="3642055" cy="795528"/>
            <a:chOff x="7863840" y="4437888"/>
            <a:chExt cx="3642055" cy="795528"/>
          </a:xfrm>
        </p:grpSpPr>
        <p:sp>
          <p:nvSpPr>
            <p:cNvPr id="17" name="TextBox 16"/>
            <p:cNvSpPr txBox="1"/>
            <p:nvPr/>
          </p:nvSpPr>
          <p:spPr>
            <a:xfrm>
              <a:off x="7863840" y="4437888"/>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2</a:t>
              </a:r>
            </a:p>
          </p:txBody>
        </p:sp>
        <p:sp>
          <p:nvSpPr>
            <p:cNvPr id="18" name="TextBox 17"/>
            <p:cNvSpPr txBox="1"/>
            <p:nvPr/>
          </p:nvSpPr>
          <p:spPr>
            <a:xfrm>
              <a:off x="8229600" y="4437888"/>
              <a:ext cx="3276295" cy="758951"/>
            </a:xfrm>
            <a:prstGeom prst="rect">
              <a:avLst/>
            </a:prstGeom>
            <a:noFill/>
          </p:spPr>
          <p:txBody>
            <a:bodyPr wrap="square" lIns="0" rIns="0" tIns="18288" bIns="18288" anchor="t">
              <a:spAutoFit/>
            </a:bodyPr>
            <a:lstStyle/>
            <a:p>
              <a:pPr algn="l"/>
              <a:r>
                <a:rPr sz="1600" b="0" i="0">
                  <a:solidFill>
                    <a:srgbClr val="1F2328"/>
                  </a:solidFill>
                  <a:latin typeface="Calibri"/>
                </a:rPr>
                <a:t>Delete the document's rows from the chunk table. The old index still answers.</a:t>
              </a:r>
            </a:p>
          </p:txBody>
        </p:sp>
        <p:cxnSp>
          <p:nvCxnSpPr>
            <p:cNvPr id="19" name="Connector 18"/>
            <p:cNvCxnSpPr/>
            <p:nvPr/>
          </p:nvCxnSpPr>
          <p:spPr>
            <a:xfrm>
              <a:off x="7863840" y="5233416"/>
              <a:ext cx="3642055" cy="0"/>
            </a:xfrm>
            <a:prstGeom prst="line">
              <a:avLst/>
            </a:prstGeom>
            <a:ln w="6350">
              <a:solidFill>
                <a:srgbClr val="C9C5BC"/>
              </a:solidFill>
            </a:ln>
          </p:spPr>
        </p:cxnSp>
      </p:grpSp>
      <p:grpSp>
        <p:nvGrpSpPr>
          <p:cNvPr id="20" name="note-3"/>
          <p:cNvGrpSpPr/>
          <p:nvPr/>
        </p:nvGrpSpPr>
        <p:grpSpPr>
          <a:xfrm>
            <a:off x="7863840" y="5306568"/>
            <a:ext cx="3642055" cy="795528"/>
            <a:chOff x="7863840" y="5306568"/>
            <a:chExt cx="3642055" cy="795528"/>
          </a:xfrm>
        </p:grpSpPr>
        <p:sp>
          <p:nvSpPr>
            <p:cNvPr id="21" name="TextBox 20"/>
            <p:cNvSpPr txBox="1"/>
            <p:nvPr/>
          </p:nvSpPr>
          <p:spPr>
            <a:xfrm>
              <a:off x="7863840" y="5306568"/>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3</a:t>
              </a:r>
            </a:p>
          </p:txBody>
        </p:sp>
        <p:sp>
          <p:nvSpPr>
            <p:cNvPr id="22" name="TextBox 21"/>
            <p:cNvSpPr txBox="1"/>
            <p:nvPr/>
          </p:nvSpPr>
          <p:spPr>
            <a:xfrm>
              <a:off x="8229600" y="5306568"/>
              <a:ext cx="3276295" cy="758951"/>
            </a:xfrm>
            <a:prstGeom prst="rect">
              <a:avLst/>
            </a:prstGeom>
            <a:noFill/>
          </p:spPr>
          <p:txBody>
            <a:bodyPr wrap="square" lIns="0" rIns="0" tIns="18288" bIns="18288" anchor="t">
              <a:spAutoFit/>
            </a:bodyPr>
            <a:lstStyle/>
            <a:p>
              <a:pPr algn="l"/>
              <a:r>
                <a:rPr sz="1800" b="0" i="0">
                  <a:solidFill>
                    <a:srgbClr val="1F2328"/>
                  </a:solidFill>
                  <a:latin typeface="Calibri"/>
                </a:rPr>
                <a:t>Rebuild the index from the smaller table and search again.</a:t>
              </a:r>
            </a:p>
          </p:txBody>
        </p:sp>
        <p:cxnSp>
          <p:nvCxnSpPr>
            <p:cNvPr id="23" name="Connector 22"/>
            <p:cNvCxnSpPr/>
            <p:nvPr/>
          </p:nvCxnSpPr>
          <p:spPr>
            <a:xfrm>
              <a:off x="7863840" y="6102096"/>
              <a:ext cx="3642055"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An erasure request has to reach six places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graphicFrame>
        <p:nvGraphicFramePr>
          <p:cNvPr id="5" name="Table"/>
          <p:cNvGraphicFramePr>
            <a:graphicFrameLocks noGrp="1"/>
          </p:cNvGraphicFramePr>
          <p:nvPr/>
        </p:nvGraphicFramePr>
        <p:xfrm>
          <a:off x="685800" y="1600200"/>
          <a:ext cx="10820094" cy="3566157"/>
        </p:xfrm>
        <a:graphic>
          <a:graphicData uri="http://schemas.openxmlformats.org/drawingml/2006/table">
            <a:tbl>
              <a:tblPr firstRow="0" bandRow="0">
                <a:tableStyleId>{2D5ABB26-0587-4C30-8999-92F81FD0307C}</a:tableStyleId>
              </a:tblPr>
              <a:tblGrid>
                <a:gridCol w="3967368"/>
                <a:gridCol w="6852726"/>
              </a:tblGrid>
              <a:tr h="509451">
                <a:tc>
                  <a:txBody>
                    <a:bodyPr wrap="square"/>
                    <a:lstStyle/>
                    <a:p>
                      <a:r>
                        <a:rPr sz="1900" b="1" i="0">
                          <a:solidFill>
                            <a:srgbClr val="1F2328"/>
                          </a:solidFill>
                          <a:latin typeface="Calibri"/>
                        </a:rPr>
                        <a:t>Place</a:t>
                      </a:r>
                    </a:p>
                  </a:txBody>
                  <a:tcPr marL="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What to do</a:t>
                      </a:r>
                    </a:p>
                  </a:txBody>
                  <a:tcPr marL="137160" marR="91440" marT="64008" marB="64008" anchor="ctr">
                    <a:lnL w="0">
                      <a:noFill/>
                    </a:lnL>
                    <a:lnR w="0">
                      <a:noFill/>
                    </a:lnR>
                    <a:lnT w="0">
                      <a:noFill/>
                    </a:lnT>
                    <a:lnB w="15875">
                      <a:solidFill>
                        <a:srgbClr val="1F2328"/>
                      </a:solidFill>
                    </a:lnB>
                    <a:noFill/>
                  </a:tcPr>
                </a:tc>
              </a:tr>
              <a:tr h="509451">
                <a:tc>
                  <a:txBody>
                    <a:bodyPr wrap="square"/>
                    <a:lstStyle/>
                    <a:p>
                      <a:r>
                        <a:rPr sz="1900" b="0" i="0">
                          <a:solidFill>
                            <a:srgbClr val="3B4046"/>
                          </a:solidFill>
                          <a:latin typeface="Calibri"/>
                        </a:rPr>
                        <a:t>The source file</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Keep or destroy as the retention schedule says</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The chunk table</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Delete every chunk of the document</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The search index and vector store</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Rebuild or delete the entries</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The query log</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Delete entries that name the person, or let them expire</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Caches and exports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Clear them</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Backups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Remove on the same schedule as the source</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Prove it with a search before and after, and file the result with the request.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Presidio: a library that finds personal data for you</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sp>
        <p:nvSpPr>
          <p:cNvPr id="5" name="Rectangle 4"/>
          <p:cNvSpPr/>
          <p:nvPr/>
        </p:nvSpPr>
        <p:spPr>
          <a:xfrm>
            <a:off x="685800" y="1600200"/>
            <a:ext cx="6949440" cy="45780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4303776"/>
          </a:xfrm>
          <a:prstGeom prst="rect">
            <a:avLst/>
          </a:prstGeom>
          <a:noFill/>
        </p:spPr>
        <p:txBody>
          <a:bodyPr wrap="none" lIns="0" rIns="0" tIns="0" bIns="0">
            <a:spAutoFit/>
          </a:bodyPr>
          <a:lstStyle/>
          <a:p>
            <a:r>
              <a:rPr sz="1400" b="1" i="0">
                <a:solidFill>
                  <a:srgbClr val="1F2328"/>
                </a:solidFill>
                <a:latin typeface="Courier New"/>
              </a:rPr>
              <a:t>from</a:t>
            </a:r>
            <a:r>
              <a:rPr sz="1400" b="0" i="0">
                <a:solidFill>
                  <a:srgbClr val="1F2328"/>
                </a:solidFill>
                <a:latin typeface="Courier New"/>
              </a:rPr>
              <a:t> </a:t>
            </a:r>
            <a:r>
              <a:rPr sz="1400" b="0" i="0">
                <a:solidFill>
                  <a:srgbClr val="1F2328"/>
                </a:solidFill>
                <a:latin typeface="Courier New"/>
              </a:rPr>
              <a:t>presidio_analyzer</a:t>
            </a:r>
            <a:r>
              <a:rPr sz="1400" b="0" i="0">
                <a:solidFill>
                  <a:srgbClr val="1F2328"/>
                </a:solidFill>
                <a:latin typeface="Courier New"/>
              </a:rPr>
              <a:t> </a:t>
            </a:r>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AnalyzerEngine</a:t>
            </a:r>
          </a:p>
          <a:p>
            <a:r>
              <a:rPr sz="1400" b="1" i="0">
                <a:solidFill>
                  <a:srgbClr val="1F2328"/>
                </a:solidFill>
                <a:latin typeface="Courier New"/>
              </a:rPr>
              <a:t>from</a:t>
            </a:r>
            <a:r>
              <a:rPr sz="1400" b="0" i="0">
                <a:solidFill>
                  <a:srgbClr val="1F2328"/>
                </a:solidFill>
                <a:latin typeface="Courier New"/>
              </a:rPr>
              <a:t> </a:t>
            </a:r>
            <a:r>
              <a:rPr sz="1400" b="0" i="0">
                <a:solidFill>
                  <a:srgbClr val="1F2328"/>
                </a:solidFill>
                <a:latin typeface="Courier New"/>
              </a:rPr>
              <a:t>presidio_analyzer</a:t>
            </a:r>
            <a:r>
              <a:rPr sz="1400" b="0" i="0">
                <a:solidFill>
                  <a:srgbClr val="1F2328"/>
                </a:solidFill>
                <a:latin typeface="Courier New"/>
              </a:rPr>
              <a:t> </a:t>
            </a:r>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Pattern</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PatternRecognizer</a:t>
            </a:r>
          </a:p>
          <a:p>
            <a:r>
              <a:rPr sz="1400" b="1" i="0">
                <a:solidFill>
                  <a:srgbClr val="1F2328"/>
                </a:solidFill>
                <a:latin typeface="Courier New"/>
              </a:rPr>
              <a:t>from</a:t>
            </a:r>
            <a:r>
              <a:rPr sz="1400" b="0" i="0">
                <a:solidFill>
                  <a:srgbClr val="1F2328"/>
                </a:solidFill>
                <a:latin typeface="Courier New"/>
              </a:rPr>
              <a:t> </a:t>
            </a:r>
            <a:r>
              <a:rPr sz="1400" b="0" i="0">
                <a:solidFill>
                  <a:srgbClr val="1F2328"/>
                </a:solidFill>
                <a:latin typeface="Courier New"/>
              </a:rPr>
              <a:t>presidio_anonymizer</a:t>
            </a:r>
            <a:r>
              <a:rPr sz="1400" b="0" i="0">
                <a:solidFill>
                  <a:srgbClr val="1F2328"/>
                </a:solidFill>
                <a:latin typeface="Courier New"/>
              </a:rPr>
              <a:t> </a:t>
            </a:r>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AnonymizerEngine</a:t>
            </a:r>
          </a:p>
          <a:p>
            <a:r>
              <a:rPr sz="1400" b="0" i="0">
                <a:solidFill>
                  <a:srgbClr val="1F2328"/>
                </a:solidFill>
                <a:latin typeface="Courier New"/>
              </a:rPr>
              <a:t> </a:t>
            </a:r>
          </a:p>
          <a:p>
            <a:r>
              <a:rPr sz="1400" b="0" i="0">
                <a:solidFill>
                  <a:srgbClr val="1F2328"/>
                </a:solidFill>
                <a:latin typeface="Courier New"/>
              </a:rPr>
              <a:t>kx</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PatternRecognizer</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supported_entity</a:t>
            </a:r>
            <a:r>
              <a:rPr sz="1400" b="0" i="0">
                <a:solidFill>
                  <a:srgbClr val="1F2328"/>
                </a:solidFill>
                <a:latin typeface="Courier New"/>
              </a:rPr>
              <a:t>=</a:t>
            </a:r>
            <a:r>
              <a:rPr sz="1400" b="0" i="0">
                <a:solidFill>
                  <a:srgbClr val="B04A2B"/>
                </a:solidFill>
                <a:latin typeface="Courier New"/>
              </a:rPr>
              <a:t>'KX_IDENTITY'</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patterns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Pattern</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name</a:t>
            </a:r>
            <a:r>
              <a:rPr sz="1400" b="0" i="0">
                <a:solidFill>
                  <a:srgbClr val="1F2328"/>
                </a:solidFill>
                <a:latin typeface="Courier New"/>
              </a:rPr>
              <a:t>=</a:t>
            </a:r>
            <a:r>
              <a:rPr sz="1400" b="0" i="0">
                <a:solidFill>
                  <a:srgbClr val="B04A2B"/>
                </a:solidFill>
                <a:latin typeface="Courier New"/>
              </a:rPr>
              <a:t>'kx'</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regex</a:t>
            </a:r>
            <a:r>
              <a:rPr sz="1400" b="0" i="0">
                <a:solidFill>
                  <a:srgbClr val="1F2328"/>
                </a:solidFill>
                <a:latin typeface="Courier New"/>
              </a:rPr>
              <a:t>=</a:t>
            </a:r>
            <a:r>
              <a:rPr sz="1400" b="0" i="0">
                <a:solidFill>
                  <a:srgbClr val="1F2328"/>
                </a:solidFill>
                <a:latin typeface="Courier New"/>
              </a:rPr>
              <a:t>r</a:t>
            </a:r>
            <a:r>
              <a:rPr sz="1400" b="0" i="0">
                <a:solidFill>
                  <a:srgbClr val="B04A2B"/>
                </a:solidFill>
                <a:latin typeface="Courier New"/>
              </a:rPr>
              <a:t>'KX\d{12}'</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score</a:t>
            </a:r>
            <a:r>
              <a:rPr sz="1400" b="0" i="0">
                <a:solidFill>
                  <a:srgbClr val="1F2328"/>
                </a:solidFill>
                <a:latin typeface="Courier New"/>
              </a:rPr>
              <a:t>=</a:t>
            </a:r>
            <a:r>
              <a:rPr sz="1400" b="0" i="0">
                <a:solidFill>
                  <a:srgbClr val="3B4046"/>
                </a:solidFill>
                <a:latin typeface="Courier New"/>
              </a:rPr>
              <a:t>0.9</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analyzer</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AnalyzerEngine</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analyzer</a:t>
            </a:r>
            <a:r>
              <a:rPr sz="1400" b="0" i="0">
                <a:solidFill>
                  <a:srgbClr val="1F2328"/>
                </a:solidFill>
                <a:latin typeface="Courier New"/>
              </a:rPr>
              <a:t>.</a:t>
            </a:r>
            <a:r>
              <a:rPr sz="1400" b="0" i="0">
                <a:solidFill>
                  <a:srgbClr val="1F2328"/>
                </a:solidFill>
                <a:latin typeface="Courier New"/>
              </a:rPr>
              <a:t>registry</a:t>
            </a:r>
            <a:r>
              <a:rPr sz="1400" b="0" i="0">
                <a:solidFill>
                  <a:srgbClr val="1F2328"/>
                </a:solidFill>
                <a:latin typeface="Courier New"/>
              </a:rPr>
              <a:t>.</a:t>
            </a:r>
            <a:r>
              <a:rPr sz="1400" b="0" i="0">
                <a:solidFill>
                  <a:srgbClr val="1F2328"/>
                </a:solidFill>
                <a:latin typeface="Courier New"/>
              </a:rPr>
              <a:t>add_recognizer</a:t>
            </a:r>
            <a:r>
              <a:rPr sz="1400" b="0" i="0">
                <a:solidFill>
                  <a:srgbClr val="1F2328"/>
                </a:solidFill>
                <a:latin typeface="Courier New"/>
              </a:rPr>
              <a:t>(</a:t>
            </a:r>
            <a:r>
              <a:rPr sz="1400" b="0" i="0">
                <a:solidFill>
                  <a:srgbClr val="1F2328"/>
                </a:solidFill>
                <a:latin typeface="Courier New"/>
              </a:rPr>
              <a:t>kx</a:t>
            </a:r>
            <a:r>
              <a:rPr sz="1400" b="0" i="0">
                <a:solidFill>
                  <a:srgbClr val="1F2328"/>
                </a:solidFill>
                <a:latin typeface="Courier New"/>
              </a:rPr>
              <a:t>)</a:t>
            </a:r>
          </a:p>
          <a:p>
            <a:r>
              <a:rPr sz="1400" b="0" i="0">
                <a:solidFill>
                  <a:srgbClr val="1F2328"/>
                </a:solidFill>
                <a:latin typeface="Courier New"/>
              </a:rPr>
              <a:t> </a:t>
            </a:r>
          </a:p>
          <a:p>
            <a:r>
              <a:rPr sz="1400" b="0" i="0">
                <a:solidFill>
                  <a:srgbClr val="1F2328"/>
                </a:solidFill>
                <a:latin typeface="Courier New"/>
              </a:rPr>
              <a:t>text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letters</a:t>
            </a:r>
            <a:r>
              <a:rPr sz="1400" b="0" i="0">
                <a:solidFill>
                  <a:srgbClr val="1F2328"/>
                </a:solidFill>
                <a:latin typeface="Courier New"/>
              </a:rPr>
              <a:t>.</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iloc</a:t>
            </a:r>
            <a:r>
              <a:rPr sz="1400" b="0" i="0">
                <a:solidFill>
                  <a:srgbClr val="1F2328"/>
                </a:solidFill>
                <a:latin typeface="Courier New"/>
              </a:rPr>
              <a:t>[</a:t>
            </a:r>
            <a:r>
              <a:rPr sz="1400" b="0" i="0">
                <a:solidFill>
                  <a:srgbClr val="3B4046"/>
                </a:solidFill>
                <a:latin typeface="Courier New"/>
              </a:rPr>
              <a:t>0</a:t>
            </a:r>
            <a:r>
              <a:rPr sz="1400" b="0" i="0">
                <a:solidFill>
                  <a:srgbClr val="1F2328"/>
                </a:solidFill>
                <a:latin typeface="Courier New"/>
              </a:rPr>
              <a:t>]</a:t>
            </a:r>
          </a:p>
          <a:p>
            <a:r>
              <a:rPr sz="1400" b="0" i="0">
                <a:solidFill>
                  <a:srgbClr val="1F2328"/>
                </a:solidFill>
                <a:latin typeface="Courier New"/>
              </a:rPr>
              <a:t>found</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analyzer</a:t>
            </a:r>
            <a:r>
              <a:rPr sz="1400" b="0" i="0">
                <a:solidFill>
                  <a:srgbClr val="1F2328"/>
                </a:solidFill>
                <a:latin typeface="Courier New"/>
              </a:rPr>
              <a:t>.</a:t>
            </a:r>
            <a:r>
              <a:rPr sz="1400" b="0" i="0">
                <a:solidFill>
                  <a:srgbClr val="1F2328"/>
                </a:solidFill>
                <a:latin typeface="Courier New"/>
              </a:rPr>
              <a:t>analyze</a:t>
            </a:r>
            <a:r>
              <a:rPr sz="1400" b="0" i="0">
                <a:solidFill>
                  <a:srgbClr val="1F2328"/>
                </a:solidFill>
                <a:latin typeface="Courier New"/>
              </a:rPr>
              <a:t>(</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language</a:t>
            </a:r>
            <a:r>
              <a:rPr sz="1400" b="0" i="0">
                <a:solidFill>
                  <a:srgbClr val="1F2328"/>
                </a:solidFill>
                <a:latin typeface="Courier New"/>
              </a:rPr>
              <a:t>=</a:t>
            </a:r>
            <a:r>
              <a:rPr sz="1400" b="0" i="0">
                <a:solidFill>
                  <a:srgbClr val="B04A2B"/>
                </a:solidFill>
                <a:latin typeface="Courier New"/>
              </a:rPr>
              <a:t>'en'</a:t>
            </a:r>
            <a:r>
              <a:rPr sz="1400" b="0" i="0">
                <a:solidFill>
                  <a:srgbClr val="1F2328"/>
                </a:solidFill>
                <a:latin typeface="Courier New"/>
              </a:rPr>
              <a:t>)</a:t>
            </a:r>
          </a:p>
          <a:p>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f</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found</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f</a:t>
            </a:r>
            <a:r>
              <a:rPr sz="1400" b="0" i="0">
                <a:solidFill>
                  <a:srgbClr val="1F2328"/>
                </a:solidFill>
                <a:latin typeface="Courier New"/>
              </a:rPr>
              <a:t>.</a:t>
            </a:r>
            <a:r>
              <a:rPr sz="1400" b="0" i="0">
                <a:solidFill>
                  <a:srgbClr val="1F2328"/>
                </a:solidFill>
                <a:latin typeface="Courier New"/>
              </a:rPr>
              <a:t>entity_type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f</a:t>
            </a:r>
            <a:r>
              <a:rPr sz="1400" b="0" i="0">
                <a:solidFill>
                  <a:srgbClr val="1F2328"/>
                </a:solidFill>
                <a:latin typeface="Courier New"/>
              </a:rPr>
              <a:t>.</a:t>
            </a:r>
            <a:r>
              <a:rPr sz="1400" b="0" i="0">
                <a:solidFill>
                  <a:srgbClr val="1F2328"/>
                </a:solidFill>
                <a:latin typeface="Courier New"/>
              </a:rPr>
              <a:t>score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f</a:t>
            </a:r>
            <a:r>
              <a:rPr sz="1400" b="0" i="0">
                <a:solidFill>
                  <a:srgbClr val="1F2328"/>
                </a:solidFill>
                <a:latin typeface="Courier New"/>
              </a:rPr>
              <a:t>.</a:t>
            </a:r>
            <a:r>
              <a:rPr sz="1400" b="0" i="0">
                <a:solidFill>
                  <a:srgbClr val="1F2328"/>
                </a:solidFill>
                <a:latin typeface="Courier New"/>
              </a:rPr>
              <a:t>start</a:t>
            </a:r>
            <a:r>
              <a:rPr sz="1400" b="0" i="0">
                <a:solidFill>
                  <a:srgbClr val="1F2328"/>
                </a:solidFill>
                <a:latin typeface="Courier New"/>
              </a:rPr>
              <a:t>:</a:t>
            </a:r>
            <a:r>
              <a:rPr sz="1400" b="0" i="0">
                <a:solidFill>
                  <a:srgbClr val="1F2328"/>
                </a:solidFill>
                <a:latin typeface="Courier New"/>
              </a:rPr>
              <a:t>f</a:t>
            </a:r>
            <a:r>
              <a:rPr sz="1400" b="0" i="0">
                <a:solidFill>
                  <a:srgbClr val="1F2328"/>
                </a:solidFill>
                <a:latin typeface="Courier New"/>
              </a:rPr>
              <a:t>.</a:t>
            </a:r>
            <a:r>
              <a:rPr sz="1400" b="0" i="0">
                <a:solidFill>
                  <a:srgbClr val="1F2328"/>
                </a:solidFill>
                <a:latin typeface="Courier New"/>
              </a:rPr>
              <a:t>end</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p>
          <a:p>
            <a:r>
              <a:rPr sz="1400" b="0" i="0">
                <a:solidFill>
                  <a:srgbClr val="1F2328"/>
                </a:solidFill>
                <a:latin typeface="Courier New"/>
              </a:rPr>
              <a:t>anonymizer</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AnonymizerEngine</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masked</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anonymizer</a:t>
            </a:r>
            <a:r>
              <a:rPr sz="1400" b="0" i="0">
                <a:solidFill>
                  <a:srgbClr val="1F2328"/>
                </a:solidFill>
                <a:latin typeface="Courier New"/>
              </a:rPr>
              <a:t>.</a:t>
            </a:r>
            <a:r>
              <a:rPr sz="1400" b="0" i="0">
                <a:solidFill>
                  <a:srgbClr val="1F2328"/>
                </a:solidFill>
                <a:latin typeface="Courier New"/>
              </a:rPr>
              <a:t>anonymize</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analyzer_results</a:t>
            </a:r>
            <a:r>
              <a:rPr sz="1400" b="0" i="0">
                <a:solidFill>
                  <a:srgbClr val="1F2328"/>
                </a:solidFill>
                <a:latin typeface="Courier New"/>
              </a:rPr>
              <a:t>=</a:t>
            </a:r>
            <a:r>
              <a:rPr sz="1400" b="0" i="0">
                <a:solidFill>
                  <a:srgbClr val="1F2328"/>
                </a:solidFill>
                <a:latin typeface="Courier New"/>
              </a:rPr>
              <a:t>found</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masked</a:t>
            </a:r>
            <a:r>
              <a:rPr sz="1400" b="0" i="0">
                <a:solidFill>
                  <a:srgbClr val="1F2328"/>
                </a:solidFill>
                <a:latin typeface="Courier New"/>
              </a:rPr>
              <a:t>.</a:t>
            </a:r>
            <a:r>
              <a:rPr sz="1400" b="0" i="0">
                <a:solidFill>
                  <a:srgbClr val="1F2328"/>
                </a:solidFill>
                <a:latin typeface="Courier New"/>
              </a:rPr>
              <a:t>text</a:t>
            </a:r>
            <a:r>
              <a:rPr sz="1400" b="0" i="0">
                <a:solidFill>
                  <a:srgbClr val="1F2328"/>
                </a:solidFill>
                <a:latin typeface="Courier New"/>
              </a:rPr>
              <a:t>)</a:t>
            </a:r>
          </a:p>
        </p:txBody>
      </p:sp>
      <p:cxnSp>
        <p:nvCxnSpPr>
          <p:cNvPr id="7" name="Connector 6"/>
          <p:cNvCxnSpPr/>
          <p:nvPr/>
        </p:nvCxnSpPr>
        <p:spPr>
          <a:xfrm>
            <a:off x="8046719" y="1618488"/>
            <a:ext cx="3459176" cy="0"/>
          </a:xfrm>
          <a:prstGeom prst="line">
            <a:avLst/>
          </a:prstGeom>
          <a:ln w="15875">
            <a:solidFill>
              <a:srgbClr val="1F2328"/>
            </a:solidFill>
          </a:ln>
        </p:spPr>
      </p:cxnSp>
      <p:grpSp>
        <p:nvGrpSpPr>
          <p:cNvPr id="8" name="note-1"/>
          <p:cNvGrpSpPr/>
          <p:nvPr/>
        </p:nvGrpSpPr>
        <p:grpSpPr>
          <a:xfrm>
            <a:off x="8046719" y="1691640"/>
            <a:ext cx="3459176" cy="1207008"/>
            <a:chOff x="8046719" y="1691640"/>
            <a:chExt cx="3459176" cy="1207008"/>
          </a:xfrm>
        </p:grpSpPr>
        <p:sp>
          <p:nvSpPr>
            <p:cNvPr id="9" name="TextBox 8"/>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0" name="TextBox 9"/>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Teach the analyzer Kitara's KX identity number with one pattern.</a:t>
              </a:r>
            </a:p>
          </p:txBody>
        </p:sp>
        <p:cxnSp>
          <p:nvCxnSpPr>
            <p:cNvPr id="11" name="Connector 10"/>
            <p:cNvCxnSpPr/>
            <p:nvPr/>
          </p:nvCxnSpPr>
          <p:spPr>
            <a:xfrm>
              <a:off x="8046719" y="2898648"/>
              <a:ext cx="3459176" cy="0"/>
            </a:xfrm>
            <a:prstGeom prst="line">
              <a:avLst/>
            </a:prstGeom>
            <a:ln w="6350">
              <a:solidFill>
                <a:srgbClr val="C9C5BC"/>
              </a:solidFill>
            </a:ln>
          </p:spPr>
        </p:cxnSp>
      </p:grpSp>
      <p:grpSp>
        <p:nvGrpSpPr>
          <p:cNvPr id="12" name="note-2"/>
          <p:cNvGrpSpPr/>
          <p:nvPr/>
        </p:nvGrpSpPr>
        <p:grpSpPr>
          <a:xfrm>
            <a:off x="8046719" y="2971800"/>
            <a:ext cx="3459176" cy="1207007"/>
            <a:chOff x="8046719" y="2971800"/>
            <a:chExt cx="3459176" cy="1207007"/>
          </a:xfrm>
        </p:grpSpPr>
        <p:sp>
          <p:nvSpPr>
            <p:cNvPr id="13" name="TextBox 12"/>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4" name="TextBox 13"/>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Analyze a letter. Each finding has a type, a score and a position.</a:t>
              </a:r>
            </a:p>
          </p:txBody>
        </p:sp>
        <p:cxnSp>
          <p:nvCxnSpPr>
            <p:cNvPr id="15" name="Connector 14"/>
            <p:cNvCxnSpPr/>
            <p:nvPr/>
          </p:nvCxnSpPr>
          <p:spPr>
            <a:xfrm>
              <a:off x="8046719" y="4178807"/>
              <a:ext cx="3459176" cy="0"/>
            </a:xfrm>
            <a:prstGeom prst="line">
              <a:avLst/>
            </a:prstGeom>
            <a:ln w="6350">
              <a:solidFill>
                <a:srgbClr val="C9C5BC"/>
              </a:solidFill>
            </a:ln>
          </p:spPr>
        </p:cxnSp>
      </p:grpSp>
      <p:grpSp>
        <p:nvGrpSpPr>
          <p:cNvPr id="16" name="note-3"/>
          <p:cNvGrpSpPr/>
          <p:nvPr/>
        </p:nvGrpSpPr>
        <p:grpSpPr>
          <a:xfrm>
            <a:off x="8046719" y="4251959"/>
            <a:ext cx="3459176" cy="1207008"/>
            <a:chOff x="8046719" y="4251959"/>
            <a:chExt cx="3459176" cy="1207008"/>
          </a:xfrm>
        </p:grpSpPr>
        <p:sp>
          <p:nvSpPr>
            <p:cNvPr id="17" name="TextBox 16"/>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18" name="TextBox 17"/>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Anonymize the findings. By default each one is replaced by its type.</a:t>
              </a:r>
            </a:p>
          </p:txBody>
        </p:sp>
        <p:cxnSp>
          <p:nvCxnSpPr>
            <p:cNvPr id="19" name="Connector 18"/>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Workshop: draw your data protection map</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640080"/>
          </a:xfrm>
          <a:prstGeom prst="rect">
            <a:avLst/>
          </a:prstGeom>
          <a:noFill/>
        </p:spPr>
        <p:txBody>
          <a:bodyPr wrap="square" lIns="0" rIns="0" tIns="18288" bIns="18288" anchor="t">
            <a:spAutoFit/>
          </a:bodyPr>
          <a:lstStyle/>
          <a:p>
            <a:pPr algn="l"/>
            <a:r>
              <a:rPr sz="1950" b="0" i="0">
                <a:solidFill>
                  <a:srgbClr val="1F2328"/>
                </a:solidFill>
                <a:latin typeface="Calibri"/>
              </a:rPr>
              <a:t>Copy every source from Data Inventory.xlsx into the source column</a:t>
            </a:r>
          </a:p>
        </p:txBody>
      </p:sp>
      <p:cxnSp>
        <p:nvCxnSpPr>
          <p:cNvPr id="8" name="Connector 7"/>
          <p:cNvCxnSpPr/>
          <p:nvPr/>
        </p:nvCxnSpPr>
        <p:spPr>
          <a:xfrm>
            <a:off x="685800" y="2331720"/>
            <a:ext cx="7223760" cy="0"/>
          </a:xfrm>
          <a:prstGeom prst="line">
            <a:avLst/>
          </a:prstGeom>
          <a:ln w="6350">
            <a:solidFill>
              <a:srgbClr val="C9C5BC"/>
            </a:solidFill>
          </a:ln>
        </p:spPr>
      </p:cxnSp>
      <p:sp>
        <p:nvSpPr>
          <p:cNvPr id="9" name="TextBox 8"/>
          <p:cNvSpPr txBox="1"/>
          <p:nvPr/>
        </p:nvSpPr>
        <p:spPr>
          <a:xfrm>
            <a:off x="685800" y="242316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423160"/>
            <a:ext cx="6675120" cy="640080"/>
          </a:xfrm>
          <a:prstGeom prst="rect">
            <a:avLst/>
          </a:prstGeom>
          <a:noFill/>
        </p:spPr>
        <p:txBody>
          <a:bodyPr wrap="square" lIns="0" rIns="0" tIns="18288" bIns="18288" anchor="t">
            <a:spAutoFit/>
          </a:bodyPr>
          <a:lstStyle/>
          <a:p>
            <a:pPr algn="l"/>
            <a:r>
              <a:rPr sz="1950" b="0" i="0">
                <a:solidFill>
                  <a:srgbClr val="1F2328"/>
                </a:solidFill>
                <a:latin typeface="Calibri"/>
              </a:rPr>
              <a:t>Write the kinds of personal data each source holds, and flag special categories</a:t>
            </a:r>
          </a:p>
        </p:txBody>
      </p:sp>
      <p:cxnSp>
        <p:nvCxnSpPr>
          <p:cNvPr id="11" name="Connector 10"/>
          <p:cNvCxnSpPr/>
          <p:nvPr/>
        </p:nvCxnSpPr>
        <p:spPr>
          <a:xfrm>
            <a:off x="685800" y="3063239"/>
            <a:ext cx="7223760" cy="0"/>
          </a:xfrm>
          <a:prstGeom prst="line">
            <a:avLst/>
          </a:prstGeom>
          <a:ln w="6350">
            <a:solidFill>
              <a:srgbClr val="C9C5BC"/>
            </a:solidFill>
          </a:ln>
        </p:spPr>
      </p:cxnSp>
      <p:sp>
        <p:nvSpPr>
          <p:cNvPr id="12" name="TextBox 11"/>
          <p:cNvSpPr txBox="1"/>
          <p:nvPr/>
        </p:nvSpPr>
        <p:spPr>
          <a:xfrm>
            <a:off x="685800" y="315467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154679"/>
            <a:ext cx="6675120" cy="640080"/>
          </a:xfrm>
          <a:prstGeom prst="rect">
            <a:avLst/>
          </a:prstGeom>
          <a:noFill/>
        </p:spPr>
        <p:txBody>
          <a:bodyPr wrap="square" lIns="0" rIns="0" tIns="18288" bIns="18288" anchor="t">
            <a:spAutoFit/>
          </a:bodyPr>
          <a:lstStyle/>
          <a:p>
            <a:pPr algn="l"/>
            <a:r>
              <a:rPr sz="1950" b="0" i="0">
                <a:solidFill>
                  <a:srgbClr val="1F2328"/>
                </a:solidFill>
                <a:latin typeface="Calibri"/>
              </a:rPr>
              <a:t>Name the law that applies: where are the people, and where is the data processed</a:t>
            </a:r>
          </a:p>
        </p:txBody>
      </p:sp>
      <p:cxnSp>
        <p:nvCxnSpPr>
          <p:cNvPr id="14" name="Connector 13"/>
          <p:cNvCxnSpPr/>
          <p:nvPr/>
        </p:nvCxnSpPr>
        <p:spPr>
          <a:xfrm>
            <a:off x="685800" y="3794759"/>
            <a:ext cx="7223760" cy="0"/>
          </a:xfrm>
          <a:prstGeom prst="line">
            <a:avLst/>
          </a:prstGeom>
          <a:ln w="6350">
            <a:solidFill>
              <a:srgbClr val="C9C5BC"/>
            </a:solidFill>
          </a:ln>
        </p:spPr>
      </p:cxnSp>
      <p:sp>
        <p:nvSpPr>
          <p:cNvPr id="15" name="TextBox 14"/>
          <p:cNvSpPr txBox="1"/>
          <p:nvPr/>
        </p:nvSpPr>
        <p:spPr>
          <a:xfrm>
            <a:off x="685800" y="388619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886199"/>
            <a:ext cx="6675120" cy="640080"/>
          </a:xfrm>
          <a:prstGeom prst="rect">
            <a:avLst/>
          </a:prstGeom>
          <a:noFill/>
        </p:spPr>
        <p:txBody>
          <a:bodyPr wrap="square" lIns="0" rIns="0" tIns="18288" bIns="18288" anchor="t">
            <a:spAutoFit/>
          </a:bodyPr>
          <a:lstStyle/>
          <a:p>
            <a:pPr algn="l"/>
            <a:r>
              <a:rPr sz="2050" b="0" i="0">
                <a:solidFill>
                  <a:srgbClr val="1F2328"/>
                </a:solidFill>
                <a:latin typeface="Calibri"/>
              </a:rPr>
              <a:t>Write where it is stored, and mark Y or N for leaves the country</a:t>
            </a:r>
          </a:p>
        </p:txBody>
      </p:sp>
      <p:cxnSp>
        <p:nvCxnSpPr>
          <p:cNvPr id="17" name="Connector 16"/>
          <p:cNvCxnSpPr/>
          <p:nvPr/>
        </p:nvCxnSpPr>
        <p:spPr>
          <a:xfrm>
            <a:off x="685800" y="4526279"/>
            <a:ext cx="7223760" cy="0"/>
          </a:xfrm>
          <a:prstGeom prst="line">
            <a:avLst/>
          </a:prstGeom>
          <a:ln w="6350">
            <a:solidFill>
              <a:srgbClr val="C9C5BC"/>
            </a:solidFill>
          </a:ln>
        </p:spPr>
      </p:cxnSp>
      <p:sp>
        <p:nvSpPr>
          <p:cNvPr id="18" name="TextBox 17"/>
          <p:cNvSpPr txBox="1"/>
          <p:nvPr/>
        </p:nvSpPr>
        <p:spPr>
          <a:xfrm>
            <a:off x="685800" y="461771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617719"/>
            <a:ext cx="6675120" cy="640080"/>
          </a:xfrm>
          <a:prstGeom prst="rect">
            <a:avLst/>
          </a:prstGeom>
          <a:noFill/>
        </p:spPr>
        <p:txBody>
          <a:bodyPr wrap="square" lIns="0" rIns="0" tIns="18288" bIns="18288" anchor="t">
            <a:spAutoFit/>
          </a:bodyPr>
          <a:lstStyle/>
          <a:p>
            <a:pPr algn="l"/>
            <a:r>
              <a:rPr sz="1950" b="0" i="0">
                <a:solidFill>
                  <a:srgbClr val="1F2328"/>
                </a:solidFill>
                <a:latin typeface="Calibri"/>
              </a:rPr>
              <a:t>Write the legal basis or the check still needed, and name an owner</a:t>
            </a:r>
          </a:p>
        </p:txBody>
      </p:sp>
      <p:cxnSp>
        <p:nvCxnSpPr>
          <p:cNvPr id="20" name="Connector 19"/>
          <p:cNvCxnSpPr/>
          <p:nvPr/>
        </p:nvCxnSpPr>
        <p:spPr>
          <a:xfrm>
            <a:off x="685800" y="5257799"/>
            <a:ext cx="7223760" cy="0"/>
          </a:xfrm>
          <a:prstGeom prst="line">
            <a:avLst/>
          </a:prstGeom>
          <a:ln w="6350">
            <a:solidFill>
              <a:srgbClr val="C9C5BC"/>
            </a:solidFill>
          </a:ln>
        </p:spPr>
      </p:cxnSp>
      <p:sp>
        <p:nvSpPr>
          <p:cNvPr id="21" name="TextBox 20"/>
          <p:cNvSpPr txBox="1"/>
          <p:nvPr/>
        </p:nvSpPr>
        <p:spPr>
          <a:xfrm>
            <a:off x="685800" y="534923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5349239"/>
            <a:ext cx="6675120" cy="640080"/>
          </a:xfrm>
          <a:prstGeom prst="rect">
            <a:avLst/>
          </a:prstGeom>
          <a:noFill/>
        </p:spPr>
        <p:txBody>
          <a:bodyPr wrap="square" lIns="0" rIns="0" tIns="18288" bIns="18288" anchor="t">
            <a:spAutoFit/>
          </a:bodyPr>
          <a:lstStyle/>
          <a:p>
            <a:pPr algn="l"/>
            <a:r>
              <a:rPr sz="1950" b="0" i="0">
                <a:solidFill>
                  <a:srgbClr val="1F2328"/>
                </a:solidFill>
                <a:latin typeface="Calibri"/>
              </a:rPr>
              <a:t>Pick the three riskiest rows and name who signs off each transfer</a:t>
            </a:r>
          </a:p>
        </p:txBody>
      </p:sp>
      <p:cxnSp>
        <p:nvCxnSpPr>
          <p:cNvPr id="23" name="Connector 22"/>
          <p:cNvCxnSpPr/>
          <p:nvPr/>
        </p:nvCxnSpPr>
        <p:spPr>
          <a:xfrm>
            <a:off x="685800" y="5989319"/>
            <a:ext cx="7223760" cy="0"/>
          </a:xfrm>
          <a:prstGeom prst="line">
            <a:avLst/>
          </a:prstGeom>
          <a:ln w="6350">
            <a:solidFill>
              <a:srgbClr val="C9C5BC"/>
            </a:solidFill>
          </a:ln>
        </p:spPr>
      </p:cxnSp>
      <p:cxnSp>
        <p:nvCxnSpPr>
          <p:cNvPr id="24" name="Connector 23"/>
          <p:cNvCxnSpPr/>
          <p:nvPr/>
        </p:nvCxnSpPr>
        <p:spPr>
          <a:xfrm>
            <a:off x="8458200" y="1600200"/>
            <a:ext cx="3047695" cy="0"/>
          </a:xfrm>
          <a:prstGeom prst="line">
            <a:avLst/>
          </a:prstGeom>
          <a:ln w="15875">
            <a:solidFill>
              <a:srgbClr val="1F2328"/>
            </a:solidFill>
          </a:ln>
        </p:spPr>
      </p:cxnSp>
      <p:sp>
        <p:nvSpPr>
          <p:cNvPr id="25" name="TextBox 24"/>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6" name="TextBox 25"/>
          <p:cNvSpPr txBox="1"/>
          <p:nvPr/>
        </p:nvSpPr>
        <p:spPr>
          <a:xfrm>
            <a:off x="8458200" y="2011680"/>
            <a:ext cx="3047695" cy="1097280"/>
          </a:xfrm>
          <a:prstGeom prst="rect">
            <a:avLst/>
          </a:prstGeom>
          <a:noFill/>
        </p:spPr>
        <p:txBody>
          <a:bodyPr wrap="square" lIns="0" rIns="0" tIns="18288" bIns="18288" anchor="t">
            <a:spAutoFit/>
          </a:bodyPr>
          <a:lstStyle/>
          <a:p>
            <a:pPr algn="l"/>
            <a:r>
              <a:rPr sz="1700" b="1" i="0">
                <a:solidFill>
                  <a:srgbClr val="1F2328"/>
                </a:solidFill>
                <a:latin typeface="Cambria"/>
              </a:rPr>
              <a:t>Data Inventory workbook, Participant Workbook and team notebook
40 minutes</a:t>
            </a:r>
          </a:p>
        </p:txBody>
      </p:sp>
      <p:cxnSp>
        <p:nvCxnSpPr>
          <p:cNvPr id="27" name="Connector 26"/>
          <p:cNvCxnSpPr/>
          <p:nvPr/>
        </p:nvCxnSpPr>
        <p:spPr>
          <a:xfrm>
            <a:off x="8458200" y="3200400"/>
            <a:ext cx="3047695" cy="0"/>
          </a:xfrm>
          <a:prstGeom prst="line">
            <a:avLst/>
          </a:prstGeom>
          <a:ln w="6350">
            <a:solidFill>
              <a:srgbClr val="C9C5BC"/>
            </a:solidFill>
          </a:ln>
        </p:spPr>
      </p:cxnSp>
      <p:sp>
        <p:nvSpPr>
          <p:cNvPr id="28" name="TextBox 27"/>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29" name="TextBox 28"/>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A data protection map with one row for every source that holds personal data, a Y or N for leaving the country, and a named owner and signer for the three riskiest rows.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A customer asks Kitara to delete their letter. Besides the file, where must the deletion reach in the search system?</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The chunk table, the index or vector store, the query log, caches and exports, and backups. Prove it with a search before and after.</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The check on the masked chunks passes. Does that prove no personal data remains?</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No. It proves that the patterns you listed are gone. Names without a title and health details can remain, so read a sample.</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Who in your organisation signs off that personal data may be stored in a cloud region in another country, and what must that person see first?</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A named executive who owns the data, advised by the data protection officer. They see the map row, the legal basis or consent, the registration and the provider contract.</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9   Privacy and East African law</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The Uganda Act has seven principles and gives people rights to see, stop, correct and erase their data. Check the current text.</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Kenya, Rwanda and Tanzania each set their own rules for registration and for moving data abroad.</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Patterns find identifiers and masking replaces them. Masked text is still personal data, and an erasure must reach six places.</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Hosting, cost and licences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