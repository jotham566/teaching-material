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Fourteen data sources, and four of them have nobody who answers for them. That is Kitara's position today, and it blocks the first AI use. In this session you give every source an owner, a steward and a sensitivity class. We find where personal data hides, look at a folder tree and six branch spreadsheets, and see what a data catalogue adds. By the end you have an inventory of ten sources from your own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you can list data sources with the fields an inventory needs, tell an owner from a steward and a custodian, classify sources by sensitivity and spot personal data. The first half hour teaches the roles and the classes. In the live part we find Kitara's gaps in code, scan a shared drive and read six branch reports. The catalogue tools come after that. Then you work on your own sources, and the last ten minutes belong to a decision about who names the owners.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terms today. A data owner decides who may use a source. A data steward looks after its quality day to day. A data custodian runs the system. A sensitivity class says how carefully the data is handled. Metadata is data about the data. A data catalogue is software that holds the inventory and lets staff search it. Lineage records where a number came from. And shadow data is data that sits outside any inventory. Each one comes back in the inventory workbook.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from Session 2 first. The scorecard asked for evidence behind every score. What does the evidence rule say? Take your time.</a:t>
            </a:r>
          </a:p>
          <a:p/>
          <a:p>
            <a:r>
              <a:t>Every score needs one piece of evidence that someone outside your team could check. A policy, a catalogue entry, a test result. Second question. Two dimensions tied for lowest at Kitara after the self reported rows came out. Which two, and what was the overall adjusted mean? Have a think.</a:t>
            </a:r>
          </a:p>
          <a:p/>
          <a:p>
            <a:r>
              <a:t>Data, and People and governance, each at one point three three. The overall adjusted mean was two point oh one. Today we open the first of those two. Data scored low partly because nobody could say who owns what, and we have a list of fourteen sources to prove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Kitara's data inventory as it stands today. Fourteen sources, one row each, and five basic questions about every one. A filled dot means somebody wrote an answer. A ring means the cell is blank.</a:t>
            </a:r>
          </a:p>
          <a:p/>
          <a:p>
            <a:r>
              <a:t>The first column is the owner. Four sources have none. The call centre transcripts, the shared drive of policies, the email archive and the branch report spreadsheets. If nobody answers for a source, nobody can say whether an AI may read it.</a:t>
            </a:r>
          </a:p>
          <a:p/>
          <a:p>
            <a:r>
              <a:t>The second and third columns hold the steward and the sensitivity class. Seven sources have no steward, and five have no class. Hold on to those words. In ten minutes you can use them precisely.</a:t>
            </a:r>
          </a:p>
          <a:p/>
          <a:p>
            <a:r>
              <a:t>The last column is the quality check. Six sources have no check on record at all. Seven of the fourteen rows have at least one gap, and that is the finding your workshop will reproduce on your own list.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word owner, because everything else hangs from it. The data owner is the person with the authority to decide who may use a data source, and what sensitivity class it carries. Authority is the key word. The owner is one named person with a job title.</a:t>
            </a:r>
          </a:p>
          <a:p/>
          <a:p>
            <a:r>
              <a:t>At Kitara the loan origination system has an owner. It is the Head of SME Lending, and when an AI team wants loan documents, that is who says yes or no. The call centre transcripts have no owner. Three hundred and eighty thousand records, and nobody can give permission.</a:t>
            </a:r>
          </a:p>
          <a:p/>
          <a:p>
            <a:r>
              <a:t>Pick one data source you rely on in your own organisation. Who could say yes or no if an AI project asked to read it? Have a guess before you look at the person next to you.</a:t>
            </a:r>
          </a:p>
          <a:p/>
          <a:p>
            <a:r>
              <a:t>If the answer takes more than a few seconds, you've found your first gap.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roles, and they get mixed up all the time. Here they are on one Kitara source, the loan origination system.</a:t>
            </a:r>
          </a:p>
          <a:p/>
          <a:p>
            <a:r>
              <a:t>The owner decides who may use the data and what class it carries. At Kitara that is the Head of SME Lending. It is a business decision, so a business leader holds it.</a:t>
            </a:r>
          </a:p>
          <a:p/>
          <a:p>
            <a:r>
              <a:t>The steward looks after quality from day to day. They notice when a field is empty, chase the fix and keep the definitions straight. For this source it is the Credit Operations Analyst. Seven of Kitara's fourteen sources have no steward, so on those the quality work has no home.</a:t>
            </a:r>
          </a:p>
          <a:p/>
          <a:p>
            <a:r>
              <a:t>The custodian runs the technology. Storage, backups and who can log in. At Kitara that is IT. A custodian looks after the data safely. It does not decide who may see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inventory the way an auditor would.</a:t>
            </a:r>
          </a:p>
          <a:p/>
          <a:p>
            <a:r>
              <a:t>The mobile money switch log and the claims document archive each show IT as owner. The cell is filled, so the row counts as complete. Nobody flags it.</a:t>
            </a:r>
          </a:p>
          <a:p/>
          <a:p>
            <a:r>
              <a:t>But IT runs both systems. That makes it the custodian, which is a different job. The notes column says Digital Channels also claims the mobile money log, and the Claims Department claims the archive. Each source has two parties who say it is theirs and nobody who has signed.</a:t>
            </a:r>
          </a:p>
          <a:p/>
          <a:p>
            <a:r>
              <a:t>The fix is simple to say and hard to do. Name the business head as the owner and keep IT as the custodian. If two heads claim one source, a senior leader settles it, in writing. An AI team that asks for the claims archive then has one person to ask.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sensitivity class says how carefully a source must be handled. Kitara's Data Classification Standard uses four.</a:t>
            </a:r>
          </a:p>
          <a:p/>
          <a:p>
            <a:r>
              <a:t>Public is information meant for the public, such as the product guides. Internal is for staff only, such as circulars and procedures. Restricted is limited to named departments. That covers customer account data, claims files and loan files. Confidential is limited to named people. Salary data sits there, and so do national identity numbers held in bulk.</a:t>
            </a:r>
          </a:p>
          <a:p/>
          <a:p>
            <a:r>
              <a:t>Three rules in the standard matter for AI. The owner chooses the class, and when in doubt chooses the higher one. Lowering a class needs the written agreement of Legal and Compliance. And a data set that mixes classes takes the highest class of any field in it.</a:t>
            </a:r>
          </a:p>
          <a:p/>
          <a:p>
            <a:r>
              <a:t>A source with no class is treated as restricted until the owner decides. For an AI project, restricted means a permission list, which is the subject of Session 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find the gaps in code. This is the inventory your data colleague would run in a minute, and the result matches the grid we saw.</a:t>
            </a:r>
          </a:p>
          <a:p/>
          <a:p>
            <a:r>
              <a:t>The first line reads sources dot csv into a table called src. Then we keep the rows where the owner is blank, or the sensitivity is blank. The vertical bar means or. Five sources come out.</a:t>
            </a:r>
          </a:p>
          <a:p/>
          <a:p>
            <a:r>
              <a:t>We print three columns, and the dash marks a blank cell. The claims document archive has an owner, recorded as IT, but no class. The other four, the call centre transcripts, the shared drive, the email archive and the branch spreadsheets, have neither owner nor class.</a:t>
            </a:r>
          </a:p>
          <a:p/>
          <a:p>
            <a:r>
              <a:t>Those five rows match the rings on the grid, and this time the file produced them. The workshop notebook counts the blanks column by column.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check that fails on purpose, and it's one a leader can ask for.</a:t>
            </a:r>
          </a:p>
          <a:p/>
          <a:p>
            <a:r>
              <a:t>The line says every source must have an owner. The assert word makes Python test that claim. If it is false, Python stops and prints our own message, with the number of missing owners worked out for us.</a:t>
            </a:r>
          </a:p>
          <a:p/>
          <a:p>
            <a:r>
              <a:t>It stops with four. Four sources have no owner.</a:t>
            </a:r>
          </a:p>
          <a:p/>
          <a:p>
            <a:r>
              <a:t>Imagine this running every Monday on your inventory. Nobody has to read a spreadsheet to know the list is incomplete. The check goes red until every source has a named owner, and a leader can ask to see it go green before an AI project starts.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inventory also holds classes that someone wrote down and that are wrong. Which two sources do you expect the standard to catch? No rush.</a:t>
            </a:r>
          </a:p>
          <a:p/>
          <a:p>
            <a:r>
              <a:t>The Data Classification Standard says salary data and national identity numbers held in bulk are confidential. The first line searches the notes column for the words salary or national ID. It returns two rows. The loan origination system is recorded as internal, yet its notes say it holds scanned national ID copies. The HR system is recorded as restricted, yet it holds salary data.</a:t>
            </a:r>
          </a:p>
          <a:p/>
          <a:p>
            <a:r>
              <a:t>Both should be confidential. Lowering a class needs Legal and Compliance, but raising it needs only the owner, so both owners can fix their rows today.</a:t>
            </a:r>
          </a:p>
          <a:p/>
          <a:p>
            <a:r>
              <a:t>The second line counts personal data. Eight sources say yes, three say no, and three are undecided. We look at the undecided ones next.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 data is any information that identifies a living person. A name, a phone number, a national identity number, a voice on a recording. Uganda's Data Protection and Privacy Act, 2019 applies to anyone who collects, holds or uses personal data in Uganda, and the Personal Data Protection Office is the regulator. This is a teaching summary and not legal advice.</a:t>
            </a:r>
          </a:p>
          <a:p/>
          <a:p>
            <a:r>
              <a:t>Where does it hide at Kitara? In the call centre transcripts, where nobody has reviewed the content. In the email archive, which mixes personal and business messages. On the shared drive. In our document set, thirty two of the one hundred and twenty one documents carry personal data. And inside systems, like the scanned national ID copies in the loan system.</a:t>
            </a:r>
          </a:p>
          <a:p/>
          <a:p>
            <a:r>
              <a:t>You cannot protect, or keep to a retention period, data you have not found. An undecided flag is acceptable on day one. It should not stay undecided.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is data about the data. It does not hold a customer's balance. It tells you what the balance table is, where it lives, who owns it and when it was last checked.</a:t>
            </a:r>
          </a:p>
          <a:p/>
          <a:p>
            <a:r>
              <a:t>It comes in three kinds. Business metadata is what a manager needs. The name, the owner, the steward, the sensitivity class and the AI use in mind. Technical metadata is what an engineer needs. The type of system, the file format, the number of records. The core banking system is a relational database with six hundred and forty thousand records.</a:t>
            </a:r>
          </a:p>
          <a:p/>
          <a:p>
            <a:r>
              <a:t>Operational metadata says how the data behaves. How often it refreshes, and when anyone last checked its quality. Six of Kitara's fourteen sources have no quality check on record, which means nobody knows if the data is any good.</a:t>
            </a:r>
          </a:p>
          <a:p/>
          <a:p>
            <a:r>
              <a:t>Every column in your inventory is one of these three kinds. Session 4 returns to metadata that makes data easy to find.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Shadow data is data that lives outside any inventory, such as files on a shared drive that nobody listed and nobody owns. A shared drive is where it grows. Let's count what sits in one folder tree, the docs folder of Kitara's shared drive.</a:t>
            </a:r>
          </a:p>
          <a:p/>
          <a:p>
            <a:r>
              <a:t>The function os dot walk visits every folder and sub folder for us. For each file we note its type, from the ending of its name, and the name of the folder it sits in. Counter is a tally sheet. We keep one for types and one for folders.</a:t>
            </a:r>
          </a:p>
          <a:p/>
          <a:p>
            <a:r>
              <a:t>The total is one hundred and twenty one files. By type, one hundred and five PDFs, ten Word files and six text files. Eight of those PDFs are scans, which Session 5 deals with.</a:t>
            </a:r>
          </a:p>
          <a:p/>
          <a:p>
            <a:r>
              <a:t>By folder, the three largest are thirty seven policies, thirty claims letters and twenty circulars. This is a first, rough map of a shared drive. Your colleague can run it on your own drive in a few minutes, and the totals will probably surprise you.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branch report spreadsheets are the fourth source with no owner. Each branch sends a monthly workbook. How different can they be? Let's look.</a:t>
            </a:r>
          </a:p>
          <a:p/>
          <a:p>
            <a:r>
              <a:t>The code opens every Excel file in the branch reports folder. For each one it prints a piece of the file name, the used area of the first sheet, how many merged blocks there are, and a list of hidden columns.</a:t>
            </a:r>
          </a:p>
          <a:p/>
          <a:p>
            <a:r>
              <a:t>Six files and six different shapes. Entebbe is a small block of four columns. Kampala Road merges its title across six columns. Nairobi Westlands hides column B, which shows in the list, and reports in Kenyan shillings. Ntinda's quarterly return merges two blocks of columns. Jinja runs down in sections and Mbarara is a short table with formulas in it. Entebbe also has a second sheet for loans.</a:t>
            </a:r>
          </a:p>
          <a:p/>
          <a:p>
            <a:r>
              <a:t>One analyst has to read six layouts to build one group report, and a seventh arrives with every new branch. With no owner to say what the standard layout is, that work repeats every month. This is the cost of a source with no owner.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of you will ask whether you need a catalogue. A data catalogue is software that holds the inventory, and reads details from your systems itself, so the list does not depend on one person typing.</a:t>
            </a:r>
          </a:p>
          <a:p/>
          <a:p>
            <a:r>
              <a:t>On the left, the spreadsheet. One person types and updates it. It costs nothing and you can start this afternoon. Its weakness is age. A spreadsheet is accurate on the day it is filled and starts to drift the week after. For fourteen sources it is enough.</a:t>
            </a:r>
          </a:p>
          <a:p/>
          <a:p>
            <a:r>
              <a:t>On the right, the catalogue. Connectors read table names and columns from your systems, as the vendors describe it. Staff search it by name or topic. The owner and the class sit on every entry, and lineage can be drawn from it. The price is somebody to install it and run it.</a:t>
            </a:r>
          </a:p>
          <a:p/>
          <a:p>
            <a:r>
              <a:t>In a moment I'll show you the two open source ones. First, the choice. A catalogue helps most when the list grows past what one person can keep current.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two open source catalogues I'll show you. Both are free to run yourselves. DataHub started at LinkedIn. OpenMetadata is built by a company called Collate.</a:t>
            </a:r>
          </a:p>
          <a:p/>
          <a:p>
            <a:r>
              <a:t>DataHub's repository says it is released under the Apache License, version two, and GitHub identifies the licence file the same way. That allows commercial use.</a:t>
            </a:r>
          </a:p>
          <a:p/>
          <a:p>
            <a:r>
              <a:t>OpenMetadata is less simple, so read carefully. Its repository says Apache two at the root. But reports, from the project's own folders and from a vendor comparison, say the ingestion folder and the user interface folder carry a separate Collate Community Licence, version one. The reported restriction is on offering the software as a competing hosted service. The sources I found disagree on details, so treat this as reported.</a:t>
            </a:r>
          </a:p>
          <a:p/>
          <a:p>
            <a:r>
              <a:t>My advice is the same for any tool. Open the LICENSE files in the folders you will use, and read them before you install. A paid hosted version exists for each, and we do not use either.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Lineage is the record of where a number came from and every step it went through. Here is Kitara's, drawn from lineage_edges.csv. Twenty seven assets and twenty five steps.</a:t>
            </a:r>
          </a:p>
          <a:p/>
          <a:p>
            <a:r>
              <a:t>Read it from left to right. Source systems on the left, like the claims system and core banking. Then staging copies, cleaned tables, a mart that joins them, then reports and returns, and last the quarterly board pack.</a:t>
            </a:r>
          </a:p>
          <a:p/>
          <a:p>
            <a:r>
              <a:t>The dashed lines are steps where a person copies the numbers by hand. The monthly claims ratio is copied into the insurance return. Two dashboard screenshots are pasted into the board pack. Three hand steps, and this file is the only record of them.</a:t>
            </a:r>
          </a:p>
          <a:p/>
          <a:p>
            <a:r>
              <a:t>The clay line is the claims document chain. It runs from the archive, through OCR, which is software that reads scanned pages, into a search index, the list a search tool looks things up in. It starts at an archive whose owner is still in dispute. If an owner changes a source, lineage shows what breaks downstream.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forty minutes. Open Data Inventory dot xlsx. Start with Kitara. Type or paste the fourteen rows from sources dot csv into the Inventory tab, and read the Missing fields column. It counts the blanks in owner, steward, class and personal data for you.</a:t>
            </a:r>
          </a:p>
          <a:p/>
          <a:p>
            <a:r>
              <a:t>Then fix what we found. Raise the two wrong classes, name a business owner for the two sources where IT is recorded, and propose a person for the four unowned sources. Then turn to your own organisation. List ten sources, one row each, with an owner, a steward and a class. Use a blank for a name you cannot give. A blank is the finding. Finish with one sentence naming who settles a dispute when two heads claim one source.</a:t>
            </a:r>
          </a:p>
          <a:p/>
          <a:p>
            <a:r>
              <a:t>Leaders, you hold the pen on owners and classes. Data colleagues, once the list is drafted, run the team notebook on a folder of your own. I'll be circulating, so call me over if an owner or a class has you stuck.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Kitara records IT as the owner of the claims document archive. Which role is IT really, and who should own it? Say it out loud.</a:t>
            </a:r>
          </a:p>
          <a:p/>
          <a:p>
            <a:r>
              <a:t>IT is the custodian. It runs the system. The owner should be a business head, most likely the Head of Claims, once the claimants agree in writing. Second question. Two Kitara sources have the wrong sensitivity class. Which two, and what should the class be? Give that a moment.</a:t>
            </a:r>
          </a:p>
          <a:p/>
          <a:p>
            <a:r>
              <a:t>The loan origination system and the HR system. One holds scanned national ID copies and the other holds salary data. Both should be confidential. Last question, for the leaders. Who in your organisation will name the owner of each data source, and settle it when two heads claim one? Sit with it for a second.</a:t>
            </a:r>
          </a:p>
          <a:p/>
          <a:p>
            <a:r>
              <a:t>Pick one named person. A chief data officer, or the executive who chairs your data council. If you cannot name that person today, the inventory will stay full of blanks.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inventory lists every source with an owner, a steward and a sensitivity class. Kitara's has four owners, seven stewards and five classes missing.</a:t>
            </a:r>
          </a:p>
          <a:p/>
          <a:p>
            <a:r>
              <a:t>The owner decides who may use the data. The steward looks after its quality day to day. The custodian runs the system and keeps it safe.</a:t>
            </a:r>
          </a:p>
          <a:p/>
          <a:p>
            <a:r>
              <a:t>Two of Kitara's classes break its own standard, and personal data hides in places nobody has looked, like call transcripts, email and scans.</a:t>
            </a:r>
          </a:p>
          <a:p/>
          <a:p>
            <a:r>
              <a:t>A spreadsheet is enough for fourteen sources. A catalogue starts to pay when the list outgrows one person.</a:t>
            </a:r>
          </a:p>
          <a:p/>
          <a:p>
            <a:r>
              <a:t>Next session we ask how you know a dataset is fit for AI use. You will measure completeness, validity and uniqueness on a real table, and write a data contract for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3   Find, own and catalogue your data</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03</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3 of 12</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Find, own and catalogue your data</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Who owns each source, and who may see it?</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List data sources with the fields an inventory needs</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Tell an owner from a steward and a custodian</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Classify sources by sensitivity and spot personal data</a:t>
            </a:r>
          </a:p>
        </p:txBody>
      </p:sp>
      <p:cxnSp>
        <p:nvCxnSpPr>
          <p:cNvPr id="11" name="Connector 10"/>
          <p:cNvCxnSpPr/>
          <p:nvPr/>
        </p:nvCxnSpPr>
        <p:spPr>
          <a:xfrm>
            <a:off x="685800" y="479694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Case and recall</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Teaching</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Workshop on your organisation</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Decision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4"/>
        </p:xfrm>
        <a:graphic>
          <a:graphicData uri="http://schemas.openxmlformats.org/drawingml/2006/table">
            <a:tbl>
              <a:tblPr firstRow="0" bandRow="0">
                <a:tableStyleId>{2D5ABB26-0587-4C30-8999-92F81FD0307C}</a:tableStyleId>
              </a:tblPr>
              <a:tblGrid>
                <a:gridCol w="2164019"/>
                <a:gridCol w="5410047"/>
                <a:gridCol w="3246028"/>
              </a:tblGrid>
              <a:tr h="441553">
                <a:tc>
                  <a:txBody>
                    <a:bodyPr wrap="square"/>
                    <a:lstStyle/>
                    <a:p>
                      <a:r>
                        <a:rPr sz="14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Where you meet it</a:t>
                      </a:r>
                    </a:p>
                  </a:txBody>
                  <a:tcPr marL="137160" marR="91440" marT="64008" marB="64008" anchor="ctr">
                    <a:lnL w="0">
                      <a:noFill/>
                    </a:lnL>
                    <a:lnR w="0">
                      <a:noFill/>
                    </a:lnR>
                    <a:lnT w="0">
                      <a:noFill/>
                    </a:lnT>
                    <a:lnB w="15875">
                      <a:solidFill>
                        <a:srgbClr val="1F2328"/>
                      </a:solidFill>
                    </a:lnB>
                    <a:noFill/>
                  </a:tcPr>
                </a:tc>
              </a:tr>
              <a:tr h="671372">
                <a:tc>
                  <a:txBody>
                    <a:bodyPr wrap="square"/>
                    <a:lstStyle/>
                    <a:p>
                      <a:r>
                        <a:rPr sz="1450" b="1" i="0">
                          <a:solidFill>
                            <a:srgbClr val="1F2328"/>
                          </a:solidFill>
                          <a:latin typeface="Calibri"/>
                        </a:rPr>
                        <a:t>Data owner</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Decides who may use a source and its class.</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S03: the Head of SME Lending. Four sources have none.</a:t>
                      </a:r>
                    </a:p>
                  </a:txBody>
                  <a:tcPr marL="137160" marR="91440" marT="64008" marB="64008" anchor="ctr">
                    <a:lnL w="0">
                      <a:noFill/>
                    </a:lnL>
                    <a:lnR w="0">
                      <a:noFill/>
                    </a:lnR>
                    <a:lnT w="0">
                      <a:noFill/>
                    </a:lnT>
                    <a:lnB w="6350">
                      <a:solidFill>
                        <a:srgbClr val="C9C5BC"/>
                      </a:solidFill>
                    </a:lnB>
                    <a:noFill/>
                  </a:tcPr>
                </a:tc>
              </a:tr>
              <a:tr h="441553">
                <a:tc>
                  <a:txBody>
                    <a:bodyPr wrap="square"/>
                    <a:lstStyle/>
                    <a:p>
                      <a:r>
                        <a:rPr sz="1450" b="1" i="0">
                          <a:solidFill>
                            <a:srgbClr val="1F2328"/>
                          </a:solidFill>
                          <a:latin typeface="Calibri"/>
                        </a:rPr>
                        <a:t>Data steward</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Looks after a source's quality day to day.</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Seven of the 14 sources have none.</a:t>
                      </a:r>
                    </a:p>
                  </a:txBody>
                  <a:tcPr marL="137160" marR="91440" marT="64008" marB="64008" anchor="ctr">
                    <a:lnL w="0">
                      <a:noFill/>
                    </a:lnL>
                    <a:lnR w="0">
                      <a:noFill/>
                    </a:lnR>
                    <a:lnT w="0">
                      <a:noFill/>
                    </a:lnT>
                    <a:lnB w="6350">
                      <a:solidFill>
                        <a:srgbClr val="C9C5BC"/>
                      </a:solidFill>
                    </a:lnB>
                    <a:noFill/>
                  </a:tcPr>
                </a:tc>
              </a:tr>
              <a:tr h="671372">
                <a:tc>
                  <a:txBody>
                    <a:bodyPr wrap="square"/>
                    <a:lstStyle/>
                    <a:p>
                      <a:r>
                        <a:rPr sz="1450" b="1" i="0">
                          <a:solidFill>
                            <a:srgbClr val="1F2328"/>
                          </a:solidFill>
                          <a:latin typeface="Calibri"/>
                        </a:rPr>
                        <a:t>Data custodian</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Runs the system: storage, backup, access.</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IT, wrongly recorded as owner of S02 and S06.</a:t>
                      </a:r>
                    </a:p>
                  </a:txBody>
                  <a:tcPr marL="137160" marR="91440" marT="64008" marB="64008" anchor="ctr">
                    <a:lnL w="0">
                      <a:noFill/>
                    </a:lnL>
                    <a:lnR w="0">
                      <a:noFill/>
                    </a:lnR>
                    <a:lnT w="0">
                      <a:noFill/>
                    </a:lnT>
                    <a:lnB w="6350">
                      <a:solidFill>
                        <a:srgbClr val="C9C5BC"/>
                      </a:solidFill>
                    </a:lnB>
                    <a:noFill/>
                  </a:tcPr>
                </a:tc>
              </a:tr>
              <a:tr h="671372">
                <a:tc>
                  <a:txBody>
                    <a:bodyPr wrap="square"/>
                    <a:lstStyle/>
                    <a:p>
                      <a:r>
                        <a:rPr sz="1450" b="1" i="0">
                          <a:solidFill>
                            <a:srgbClr val="1F2328"/>
                          </a:solidFill>
                          <a:latin typeface="Calibri"/>
                        </a:rPr>
                        <a:t>Sensitivity class</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How carefully data is handled: public, internal, restricted, confidential.</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S03 and S10 are one class too low.</a:t>
                      </a:r>
                    </a:p>
                  </a:txBody>
                  <a:tcPr marL="137160" marR="91440" marT="64008" marB="64008" anchor="ctr">
                    <a:lnL w="0">
                      <a:noFill/>
                    </a:lnL>
                    <a:lnR w="0">
                      <a:noFill/>
                    </a:lnR>
                    <a:lnT w="0">
                      <a:noFill/>
                    </a:lnT>
                    <a:lnB w="6350">
                      <a:solidFill>
                        <a:srgbClr val="C9C5BC"/>
                      </a:solidFill>
                    </a:lnB>
                    <a:noFill/>
                  </a:tcPr>
                </a:tc>
              </a:tr>
              <a:tr h="441553">
                <a:tc>
                  <a:txBody>
                    <a:bodyPr wrap="square"/>
                    <a:lstStyle/>
                    <a:p>
                      <a:r>
                        <a:rPr sz="1450" b="1" i="0">
                          <a:solidFill>
                            <a:srgbClr val="1F2328"/>
                          </a:solidFill>
                          <a:latin typeface="Calibri"/>
                        </a:rPr>
                        <a:t>Metadata</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Data about the data: what, where, who, when checked.</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Every column of sources.csv.</a:t>
                      </a:r>
                    </a:p>
                  </a:txBody>
                  <a:tcPr marL="137160" marR="91440" marT="64008" marB="64008" anchor="ctr">
                    <a:lnL w="0">
                      <a:noFill/>
                    </a:lnL>
                    <a:lnR w="0">
                      <a:noFill/>
                    </a:lnR>
                    <a:lnT w="0">
                      <a:noFill/>
                    </a:lnT>
                    <a:lnB w="6350">
                      <a:solidFill>
                        <a:srgbClr val="C9C5BC"/>
                      </a:solidFill>
                    </a:lnB>
                    <a:noFill/>
                  </a:tcPr>
                </a:tc>
              </a:tr>
              <a:tr h="441553">
                <a:tc>
                  <a:txBody>
                    <a:bodyPr wrap="square"/>
                    <a:lstStyle/>
                    <a:p>
                      <a:r>
                        <a:rPr sz="1450" b="1" i="0">
                          <a:solidFill>
                            <a:srgbClr val="1F2328"/>
                          </a:solidFill>
                          <a:latin typeface="Calibri"/>
                        </a:rPr>
                        <a:t>Data catalogue</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Software that holds the inventory and lets staff search it.</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None yet. in_catalogue is N on all 14.</a:t>
                      </a:r>
                    </a:p>
                  </a:txBody>
                  <a:tcPr marL="137160" marR="91440" marT="64008" marB="64008" anchor="ctr">
                    <a:lnL w="0">
                      <a:noFill/>
                    </a:lnL>
                    <a:lnR w="0">
                      <a:noFill/>
                    </a:lnR>
                    <a:lnT w="0">
                      <a:noFill/>
                    </a:lnT>
                    <a:lnB w="6350">
                      <a:solidFill>
                        <a:srgbClr val="C9C5BC"/>
                      </a:solidFill>
                    </a:lnB>
                    <a:noFill/>
                  </a:tcPr>
                </a:tc>
              </a:tr>
              <a:tr h="441553">
                <a:tc>
                  <a:txBody>
                    <a:bodyPr wrap="square"/>
                    <a:lstStyle/>
                    <a:p>
                      <a:r>
                        <a:rPr sz="1450" b="1" i="0">
                          <a:solidFill>
                            <a:srgbClr val="1F2328"/>
                          </a:solidFill>
                          <a:latin typeface="Calibri"/>
                        </a:rPr>
                        <a:t>Lineage</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Where a number came from, and each step on the way.</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lineage_edges.csv: 25 steps, 3 by hand.</a:t>
                      </a:r>
                    </a:p>
                  </a:txBody>
                  <a:tcPr marL="137160" marR="91440" marT="64008" marB="64008" anchor="ctr">
                    <a:lnL w="0">
                      <a:noFill/>
                    </a:lnL>
                    <a:lnR w="0">
                      <a:noFill/>
                    </a:lnR>
                    <a:lnT w="0">
                      <a:noFill/>
                    </a:lnT>
                    <a:lnB w="6350">
                      <a:solidFill>
                        <a:srgbClr val="C9C5BC"/>
                      </a:solidFill>
                    </a:lnB>
                    <a:noFill/>
                  </a:tcPr>
                </a:tc>
              </a:tr>
              <a:tr h="441553">
                <a:tc>
                  <a:txBody>
                    <a:bodyPr wrap="square"/>
                    <a:lstStyle/>
                    <a:p>
                      <a:r>
                        <a:rPr sz="1450" b="1" i="0">
                          <a:solidFill>
                            <a:srgbClr val="1F2328"/>
                          </a:solidFill>
                          <a:latin typeface="Calibri"/>
                        </a:rPr>
                        <a:t>Shadow data</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Data that sits outside any inventory.</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S09, the shared drive of 14,000 files.</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2</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Session 2 asked for evidence behind every score. What does the evidence rule say?</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Every score needs one piece of evidence that someone outside your team could check.</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Which two dimensions tied for lowest at Kitara, and what was the evidence-adjusted overall mean?</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Data and People and governance, each at 1.33. The overall adjusted mean was 2.01.</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Seven of Kitara's 14 sources lack a basic field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pic>
        <p:nvPicPr>
          <p:cNvPr id="5" name="figure-source_status" descr="A fourteen row grid showing which data sources have an owner, steward, sensitivity class, personal data flag and quality check, with missing entries ringed in clay."/>
          <p:cNvPicPr>
            <a:picLocks noChangeAspect="1"/>
          </p:cNvPicPr>
          <p:nvPr/>
        </p:nvPicPr>
        <p:blipFill>
          <a:blip r:embed="rId3"/>
          <a:stretch>
            <a:fillRect/>
          </a:stretch>
        </p:blipFill>
        <p:spPr>
          <a:xfrm>
            <a:off x="685800" y="1600200"/>
            <a:ext cx="7040880" cy="3009408"/>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Four sources have no owner: S08, S09, S12 and S13.</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Seven have no steward, and five have no sensitivity class.</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Six have no quality check on record.</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Each ring is a blank cell in sources.csv. S08, S09 and S12 also have no personal data flag.</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data owner answers for the data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The data owner is the person with the authority to decide who may use a data source, and at what sensitivity class. One named role with a job title.</a:t>
            </a:r>
          </a:p>
        </p:txBody>
      </p:sp>
      <p:cxnSp>
        <p:nvCxnSpPr>
          <p:cNvPr id="6" name="Connector 5"/>
          <p:cNvCxnSpPr/>
          <p:nvPr/>
        </p:nvCxnSpPr>
        <p:spPr>
          <a:xfrm>
            <a:off x="6095847" y="3505809"/>
            <a:ext cx="0" cy="2712111"/>
          </a:xfrm>
          <a:prstGeom prst="line">
            <a:avLst/>
          </a:prstGeom>
          <a:ln w="9525">
            <a:solidFill>
              <a:srgbClr val="C9C5BC"/>
            </a:solidFill>
          </a:ln>
        </p:spPr>
      </p:cxnSp>
      <p:cxnSp>
        <p:nvCxnSpPr>
          <p:cNvPr id="7" name="Connector 6"/>
          <p:cNvCxnSpPr/>
          <p:nvPr/>
        </p:nvCxnSpPr>
        <p:spPr>
          <a:xfrm>
            <a:off x="685800" y="3505809"/>
            <a:ext cx="5044287" cy="0"/>
          </a:xfrm>
          <a:prstGeom prst="line">
            <a:avLst/>
          </a:prstGeom>
          <a:ln w="15875">
            <a:solidFill>
              <a:srgbClr val="1F2328"/>
            </a:solidFill>
          </a:ln>
        </p:spPr>
      </p:cxnSp>
      <p:sp>
        <p:nvSpPr>
          <p:cNvPr id="8" name="TextBox 7"/>
          <p:cNvSpPr txBox="1"/>
          <p:nvPr/>
        </p:nvSpPr>
        <p:spPr>
          <a:xfrm>
            <a:off x="685800" y="3597249"/>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At Kitara Group</a:t>
            </a:r>
          </a:p>
        </p:txBody>
      </p:sp>
      <p:sp>
        <p:nvSpPr>
          <p:cNvPr id="9" name="TextBox 8"/>
          <p:cNvSpPr txBox="1"/>
          <p:nvPr/>
        </p:nvSpPr>
        <p:spPr>
          <a:xfrm>
            <a:off x="685800" y="3917289"/>
            <a:ext cx="5044287" cy="2254910"/>
          </a:xfrm>
          <a:prstGeom prst="rect">
            <a:avLst/>
          </a:prstGeom>
          <a:noFill/>
        </p:spPr>
        <p:txBody>
          <a:bodyPr wrap="square" lIns="0" rIns="0" tIns="18288" bIns="18288" anchor="t">
            <a:spAutoFit/>
          </a:bodyPr>
          <a:lstStyle/>
          <a:p>
            <a:pPr algn="l"/>
            <a:r>
              <a:rPr sz="2200" b="0" i="0">
                <a:solidFill>
                  <a:srgbClr val="3B4046"/>
                </a:solidFill>
                <a:latin typeface="Calibri"/>
              </a:rPr>
              <a:t>S03, the loan origination system, has an owner: the Head of SME Lending. S08, the call centre transcripts, has none.</a:t>
            </a:r>
          </a:p>
        </p:txBody>
      </p:sp>
      <p:cxnSp>
        <p:nvCxnSpPr>
          <p:cNvPr id="10" name="Connector 9"/>
          <p:cNvCxnSpPr/>
          <p:nvPr/>
        </p:nvCxnSpPr>
        <p:spPr>
          <a:xfrm>
            <a:off x="6461607" y="3505809"/>
            <a:ext cx="5044288" cy="0"/>
          </a:xfrm>
          <a:prstGeom prst="line">
            <a:avLst/>
          </a:prstGeom>
          <a:ln w="15875">
            <a:solidFill>
              <a:srgbClr val="1F2328"/>
            </a:solidFill>
          </a:ln>
        </p:spPr>
      </p:cxnSp>
      <p:sp>
        <p:nvSpPr>
          <p:cNvPr id="11" name="TextBox 10"/>
          <p:cNvSpPr txBox="1"/>
          <p:nvPr/>
        </p:nvSpPr>
        <p:spPr>
          <a:xfrm>
            <a:off x="6461607" y="3597249"/>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your organisation</a:t>
            </a:r>
          </a:p>
        </p:txBody>
      </p:sp>
      <p:sp>
        <p:nvSpPr>
          <p:cNvPr id="12" name="TextBox 11"/>
          <p:cNvSpPr txBox="1"/>
          <p:nvPr/>
        </p:nvSpPr>
        <p:spPr>
          <a:xfrm>
            <a:off x="6461607" y="3917289"/>
            <a:ext cx="5044287" cy="2254910"/>
          </a:xfrm>
          <a:prstGeom prst="rect">
            <a:avLst/>
          </a:prstGeom>
          <a:noFill/>
        </p:spPr>
        <p:txBody>
          <a:bodyPr wrap="square" lIns="0" rIns="0" tIns="18288" bIns="18288" anchor="t">
            <a:spAutoFit/>
          </a:bodyPr>
          <a:lstStyle/>
          <a:p>
            <a:pPr algn="l"/>
            <a:r>
              <a:rPr sz="2200" b="0" i="0">
                <a:solidFill>
                  <a:srgbClr val="3B4046"/>
                </a:solidFill>
                <a:latin typeface="Calibri"/>
              </a:rPr>
              <a:t>Pick one data source you rely on. Who could say yes or no if an AI project asked to read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Owner, steward and custodian do three different jobs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graphicFrame>
        <p:nvGraphicFramePr>
          <p:cNvPr id="5" name="Table"/>
          <p:cNvGraphicFramePr>
            <a:graphicFrameLocks noGrp="1"/>
          </p:cNvGraphicFramePr>
          <p:nvPr/>
        </p:nvGraphicFramePr>
        <p:xfrm>
          <a:off x="685800" y="1600200"/>
          <a:ext cx="10820093" cy="3566158"/>
        </p:xfrm>
        <a:graphic>
          <a:graphicData uri="http://schemas.openxmlformats.org/drawingml/2006/table">
            <a:tbl>
              <a:tblPr firstRow="0" bandRow="0">
                <a:tableStyleId>{2D5ABB26-0587-4C30-8999-92F81FD0307C}</a:tableStyleId>
              </a:tblPr>
              <a:tblGrid>
                <a:gridCol w="2287174"/>
                <a:gridCol w="4750285"/>
                <a:gridCol w="3782634"/>
              </a:tblGrid>
              <a:tr h="1065885">
                <a:tc>
                  <a:txBody>
                    <a:bodyPr wrap="square"/>
                    <a:lstStyle/>
                    <a:p>
                      <a:r>
                        <a:rPr sz="2200" b="1" i="0">
                          <a:solidFill>
                            <a:srgbClr val="1F2328"/>
                          </a:solidFill>
                          <a:latin typeface="Calibri"/>
                        </a:rPr>
                        <a:t>Role</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What it decides or does</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At Kitara, loan origination (S03)</a:t>
                      </a:r>
                    </a:p>
                  </a:txBody>
                  <a:tcPr marL="137160" marR="91440" marT="64008" marB="64008" anchor="ctr">
                    <a:lnL w="0">
                      <a:noFill/>
                    </a:lnL>
                    <a:lnR w="0">
                      <a:noFill/>
                    </a:lnR>
                    <a:lnT w="0">
                      <a:noFill/>
                    </a:lnT>
                    <a:lnB w="15875">
                      <a:solidFill>
                        <a:srgbClr val="1F2328"/>
                      </a:solidFill>
                    </a:lnB>
                    <a:noFill/>
                  </a:tcPr>
                </a:tc>
              </a:tr>
              <a:tr h="717194">
                <a:tc>
                  <a:txBody>
                    <a:bodyPr wrap="square"/>
                    <a:lstStyle/>
                    <a:p>
                      <a:r>
                        <a:rPr sz="2200" b="1" i="0">
                          <a:solidFill>
                            <a:srgbClr val="1F2328"/>
                          </a:solidFill>
                          <a:latin typeface="Calibri"/>
                        </a:rPr>
                        <a:t>Owner</a:t>
                      </a:r>
                    </a:p>
                  </a:txBody>
                  <a:tcPr marL="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Who may use the data, and its class</a:t>
                      </a:r>
                    </a:p>
                  </a:txBody>
                  <a:tcPr marL="13716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Head of SME Lending</a:t>
                      </a:r>
                    </a:p>
                  </a:txBody>
                  <a:tcPr marL="137160" marR="91440" marT="64008" marB="64008" anchor="ctr">
                    <a:lnL w="0">
                      <a:noFill/>
                    </a:lnL>
                    <a:lnR w="0">
                      <a:noFill/>
                    </a:lnR>
                    <a:lnT w="0">
                      <a:noFill/>
                    </a:lnT>
                    <a:lnB w="6350">
                      <a:solidFill>
                        <a:srgbClr val="C9C5BC"/>
                      </a:solidFill>
                    </a:lnB>
                    <a:noFill/>
                  </a:tcPr>
                </a:tc>
              </a:tr>
              <a:tr h="717194">
                <a:tc>
                  <a:txBody>
                    <a:bodyPr wrap="square"/>
                    <a:lstStyle/>
                    <a:p>
                      <a:r>
                        <a:rPr sz="2200" b="0" i="0">
                          <a:solidFill>
                            <a:srgbClr val="3B4046"/>
                          </a:solidFill>
                          <a:latin typeface="Calibri"/>
                        </a:rPr>
                        <a:t>Steward</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Looks after quality day to day</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Credit Operations Analyst</a:t>
                      </a:r>
                    </a:p>
                  </a:txBody>
                  <a:tcPr marL="137160" marR="91440" marT="64008" marB="64008" anchor="ctr">
                    <a:lnL w="0">
                      <a:noFill/>
                    </a:lnL>
                    <a:lnR w="0">
                      <a:noFill/>
                    </a:lnR>
                    <a:lnT w="0">
                      <a:noFill/>
                    </a:lnT>
                    <a:lnB w="6350">
                      <a:solidFill>
                        <a:srgbClr val="C9C5BC"/>
                      </a:solidFill>
                    </a:lnB>
                    <a:noFill/>
                  </a:tcPr>
                </a:tc>
              </a:tr>
              <a:tr h="1065885">
                <a:tc>
                  <a:txBody>
                    <a:bodyPr wrap="square"/>
                    <a:lstStyle/>
                    <a:p>
                      <a:r>
                        <a:rPr sz="2200" b="0" i="0">
                          <a:solidFill>
                            <a:srgbClr val="3B4046"/>
                          </a:solidFill>
                          <a:latin typeface="Calibri"/>
                        </a:rPr>
                        <a:t>Custodian</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Runs the system: storage, backup, access</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IT</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Three roles on every source. One person can hold two, but each job needs a name.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IT recorded as the owner of two sources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8</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mobile money switch log (S02) and the claims document archive (S06) both show IT as owner. The inventory has an owner for each, so the row looks complete.</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IT runs both systems, which makes it the custodian. Digital Channels also says it owns S02, and the Claims Department says it owns S06. Two parties claim each source, and none has signed.</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Name the business head as owner and keep IT as custodian. Leave the row open until the claimants agree in writing.</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sensitivity classes, from public to confidential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graphicFrame>
        <p:nvGraphicFramePr>
          <p:cNvPr id="5" name="Table"/>
          <p:cNvGraphicFramePr>
            <a:graphicFrameLocks noGrp="1"/>
          </p:cNvGraphicFramePr>
          <p:nvPr/>
        </p:nvGraphicFramePr>
        <p:xfrm>
          <a:off x="685800" y="1600200"/>
          <a:ext cx="10820093" cy="3566160"/>
        </p:xfrm>
        <a:graphic>
          <a:graphicData uri="http://schemas.openxmlformats.org/drawingml/2006/table">
            <a:tbl>
              <a:tblPr firstRow="0" bandRow="0">
                <a:tableStyleId>{2D5ABB26-0587-4C30-8999-92F81FD0307C}</a:tableStyleId>
              </a:tblPr>
              <a:tblGrid>
                <a:gridCol w="2375142"/>
                <a:gridCol w="3342793"/>
                <a:gridCol w="5102158"/>
              </a:tblGrid>
              <a:tr h="713232">
                <a:tc>
                  <a:txBody>
                    <a:bodyPr wrap="square"/>
                    <a:lstStyle/>
                    <a:p>
                      <a:r>
                        <a:rPr sz="2200" b="1" i="0">
                          <a:solidFill>
                            <a:srgbClr val="1F2328"/>
                          </a:solidFill>
                          <a:latin typeface="Calibri"/>
                        </a:rPr>
                        <a:t>Class</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Who may see it</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Kitara example</a:t>
                      </a:r>
                    </a:p>
                  </a:txBody>
                  <a:tcPr marL="137160" marR="91440" marT="64008" marB="64008" anchor="ctr">
                    <a:lnL w="0">
                      <a:noFill/>
                    </a:lnL>
                    <a:lnR w="0">
                      <a:noFill/>
                    </a:lnR>
                    <a:lnT w="0">
                      <a:noFill/>
                    </a:lnT>
                    <a:lnB w="15875">
                      <a:solidFill>
                        <a:srgbClr val="1F2328"/>
                      </a:solidFill>
                    </a:lnB>
                    <a:noFill/>
                  </a:tcPr>
                </a:tc>
              </a:tr>
              <a:tr h="713232">
                <a:tc>
                  <a:txBody>
                    <a:bodyPr wrap="square"/>
                    <a:lstStyle/>
                    <a:p>
                      <a:r>
                        <a:rPr sz="2200" b="0" i="0">
                          <a:solidFill>
                            <a:srgbClr val="3B4046"/>
                          </a:solidFill>
                          <a:latin typeface="Calibri"/>
                        </a:rPr>
                        <a:t>Public</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Anyone</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Product guides</a:t>
                      </a:r>
                    </a:p>
                  </a:txBody>
                  <a:tcPr marL="137160" marR="91440" marT="64008" marB="64008" anchor="ctr">
                    <a:lnL w="0">
                      <a:noFill/>
                    </a:lnL>
                    <a:lnR w="0">
                      <a:noFill/>
                    </a:lnR>
                    <a:lnT w="0">
                      <a:noFill/>
                    </a:lnT>
                    <a:lnB w="6350">
                      <a:solidFill>
                        <a:srgbClr val="C9C5BC"/>
                      </a:solidFill>
                    </a:lnB>
                    <a:noFill/>
                  </a:tcPr>
                </a:tc>
              </a:tr>
              <a:tr h="713232">
                <a:tc>
                  <a:txBody>
                    <a:bodyPr wrap="square"/>
                    <a:lstStyle/>
                    <a:p>
                      <a:r>
                        <a:rPr sz="2200" b="0" i="0">
                          <a:solidFill>
                            <a:srgbClr val="3B4046"/>
                          </a:solidFill>
                          <a:latin typeface="Calibri"/>
                        </a:rPr>
                        <a:t>Internal</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Kitara staff</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Circulars and procedures</a:t>
                      </a:r>
                    </a:p>
                  </a:txBody>
                  <a:tcPr marL="137160" marR="91440" marT="64008" marB="64008" anchor="ctr">
                    <a:lnL w="0">
                      <a:noFill/>
                    </a:lnL>
                    <a:lnR w="0">
                      <a:noFill/>
                    </a:lnR>
                    <a:lnT w="0">
                      <a:noFill/>
                    </a:lnT>
                    <a:lnB w="6350">
                      <a:solidFill>
                        <a:srgbClr val="C9C5BC"/>
                      </a:solidFill>
                    </a:lnB>
                    <a:noFill/>
                  </a:tcPr>
                </a:tc>
              </a:tr>
              <a:tr h="713232">
                <a:tc>
                  <a:txBody>
                    <a:bodyPr wrap="square"/>
                    <a:lstStyle/>
                    <a:p>
                      <a:r>
                        <a:rPr sz="2200" b="0" i="0">
                          <a:solidFill>
                            <a:srgbClr val="3B4046"/>
                          </a:solidFill>
                          <a:latin typeface="Calibri"/>
                        </a:rPr>
                        <a:t>Restricted</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Named departments</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Customer account data, claims files</a:t>
                      </a:r>
                    </a:p>
                  </a:txBody>
                  <a:tcPr marL="137160" marR="91440" marT="64008" marB="64008" anchor="ctr">
                    <a:lnL w="0">
                      <a:noFill/>
                    </a:lnL>
                    <a:lnR w="0">
                      <a:noFill/>
                    </a:lnR>
                    <a:lnT w="0">
                      <a:noFill/>
                    </a:lnT>
                    <a:lnB w="6350">
                      <a:solidFill>
                        <a:srgbClr val="C9C5BC"/>
                      </a:solidFill>
                    </a:lnB>
                    <a:noFill/>
                  </a:tcPr>
                </a:tc>
              </a:tr>
              <a:tr h="713232">
                <a:tc>
                  <a:txBody>
                    <a:bodyPr wrap="square"/>
                    <a:lstStyle/>
                    <a:p>
                      <a:r>
                        <a:rPr sz="2200" b="0" i="0">
                          <a:solidFill>
                            <a:srgbClr val="3B4046"/>
                          </a:solidFill>
                          <a:latin typeface="Calibri"/>
                        </a:rPr>
                        <a:t>Confidential</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Named people</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Salary data, national ID numbers in bulk</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From Kitara's Data Classification Standard. No class? Treat it as restricted until the owner decides.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List the sources with no owner or no class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6949440" cy="15300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255776"/>
          </a:xfrm>
          <a:prstGeom prst="rect">
            <a:avLst/>
          </a:prstGeom>
          <a:noFill/>
        </p:spPr>
        <p:txBody>
          <a:bodyPr wrap="none" lIns="0" rIns="0" tIns="0" bIns="0">
            <a:spAutoFit/>
          </a:bodyPr>
          <a:lstStyle/>
          <a:p>
            <a:r>
              <a:rPr sz="1600" b="1" i="0">
                <a:solidFill>
                  <a:srgbClr val="1F2328"/>
                </a:solidFill>
                <a:latin typeface="Courier New"/>
              </a:rPr>
              <a:t>import</a:t>
            </a:r>
            <a:r>
              <a:rPr sz="1600" b="0" i="0">
                <a:solidFill>
                  <a:srgbClr val="1F2328"/>
                </a:solidFill>
                <a:latin typeface="Courier New"/>
              </a:rPr>
              <a:t> </a:t>
            </a:r>
            <a:r>
              <a:rPr sz="1600" b="0" i="0">
                <a:solidFill>
                  <a:srgbClr val="1F2328"/>
                </a:solidFill>
                <a:latin typeface="Courier New"/>
              </a:rPr>
              <a:t>pandas</a:t>
            </a:r>
            <a:r>
              <a:rPr sz="1600" b="0" i="0">
                <a:solidFill>
                  <a:srgbClr val="1F2328"/>
                </a:solidFill>
                <a:latin typeface="Courier New"/>
              </a:rPr>
              <a:t> </a:t>
            </a:r>
            <a:r>
              <a:rPr sz="1600" b="1" i="0">
                <a:solidFill>
                  <a:srgbClr val="1F2328"/>
                </a:solidFill>
                <a:latin typeface="Courier New"/>
              </a:rPr>
              <a:t>as</a:t>
            </a:r>
            <a:r>
              <a:rPr sz="1600" b="0" i="0">
                <a:solidFill>
                  <a:srgbClr val="1F2328"/>
                </a:solidFill>
                <a:latin typeface="Courier New"/>
              </a:rPr>
              <a:t> </a:t>
            </a:r>
            <a:r>
              <a:rPr sz="1600" b="0" i="0">
                <a:solidFill>
                  <a:srgbClr val="1F2328"/>
                </a:solidFill>
                <a:latin typeface="Courier New"/>
              </a:rPr>
              <a:t>pd</a:t>
            </a:r>
          </a:p>
          <a:p>
            <a:r>
              <a:rPr sz="1600" b="0" i="0">
                <a:solidFill>
                  <a:srgbClr val="1F2328"/>
                </a:solidFill>
                <a:latin typeface="Courier New"/>
              </a:rPr>
              <a:t>src</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pd</a:t>
            </a:r>
            <a:r>
              <a:rPr sz="1600" b="0" i="0">
                <a:solidFill>
                  <a:srgbClr val="1F2328"/>
                </a:solidFill>
                <a:latin typeface="Courier New"/>
              </a:rPr>
              <a:t>.</a:t>
            </a:r>
            <a:r>
              <a:rPr sz="1600" b="0" i="0">
                <a:solidFill>
                  <a:srgbClr val="1F2328"/>
                </a:solidFill>
                <a:latin typeface="Courier New"/>
              </a:rPr>
              <a:t>read_csv</a:t>
            </a:r>
            <a:r>
              <a:rPr sz="1600" b="0" i="0">
                <a:solidFill>
                  <a:srgbClr val="1F2328"/>
                </a:solidFill>
                <a:latin typeface="Courier New"/>
              </a:rPr>
              <a:t>(</a:t>
            </a:r>
            <a:r>
              <a:rPr sz="1600" b="0" i="0">
                <a:solidFill>
                  <a:srgbClr val="B04A2B"/>
                </a:solidFill>
                <a:latin typeface="Courier New"/>
              </a:rPr>
              <a:t>'sources.csv'</a:t>
            </a:r>
            <a:r>
              <a:rPr sz="1600" b="0" i="0">
                <a:solidFill>
                  <a:srgbClr val="1F2328"/>
                </a:solidFill>
                <a:latin typeface="Courier New"/>
              </a:rPr>
              <a:t>)</a:t>
            </a:r>
          </a:p>
          <a:p>
            <a:r>
              <a:rPr sz="1600" b="0" i="0">
                <a:solidFill>
                  <a:srgbClr val="1F2328"/>
                </a:solidFill>
                <a:latin typeface="Courier New"/>
              </a:rPr>
              <a:t>gaps</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src</a:t>
            </a:r>
            <a:r>
              <a:rPr sz="1600" b="0" i="0">
                <a:solidFill>
                  <a:srgbClr val="1F2328"/>
                </a:solidFill>
                <a:latin typeface="Courier New"/>
              </a:rPr>
              <a:t>[</a:t>
            </a:r>
            <a:r>
              <a:rPr sz="1600" b="0" i="0">
                <a:solidFill>
                  <a:srgbClr val="1F2328"/>
                </a:solidFill>
                <a:latin typeface="Courier New"/>
              </a:rPr>
              <a:t>src</a:t>
            </a:r>
            <a:r>
              <a:rPr sz="1600" b="0" i="0">
                <a:solidFill>
                  <a:srgbClr val="1F2328"/>
                </a:solidFill>
                <a:latin typeface="Courier New"/>
              </a:rPr>
              <a:t>.</a:t>
            </a:r>
            <a:r>
              <a:rPr sz="1600" b="0" i="0">
                <a:solidFill>
                  <a:srgbClr val="1F2328"/>
                </a:solidFill>
                <a:latin typeface="Courier New"/>
              </a:rPr>
              <a:t>owner</a:t>
            </a:r>
            <a:r>
              <a:rPr sz="1600" b="0" i="0">
                <a:solidFill>
                  <a:srgbClr val="1F2328"/>
                </a:solidFill>
                <a:latin typeface="Courier New"/>
              </a:rPr>
              <a:t>.</a:t>
            </a:r>
            <a:r>
              <a:rPr sz="1600" b="0" i="0">
                <a:solidFill>
                  <a:srgbClr val="1F2328"/>
                </a:solidFill>
                <a:latin typeface="Courier New"/>
              </a:rPr>
              <a:t>isna</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src</a:t>
            </a:r>
            <a:r>
              <a:rPr sz="1600" b="0" i="0">
                <a:solidFill>
                  <a:srgbClr val="1F2328"/>
                </a:solidFill>
                <a:latin typeface="Courier New"/>
              </a:rPr>
              <a:t>.</a:t>
            </a:r>
            <a:r>
              <a:rPr sz="1600" b="0" i="0">
                <a:solidFill>
                  <a:srgbClr val="1F2328"/>
                </a:solidFill>
                <a:latin typeface="Courier New"/>
              </a:rPr>
              <a:t>sensitivity</a:t>
            </a:r>
            <a:r>
              <a:rPr sz="1600" b="0" i="0">
                <a:solidFill>
                  <a:srgbClr val="1F2328"/>
                </a:solidFill>
                <a:latin typeface="Courier New"/>
              </a:rPr>
              <a:t>.</a:t>
            </a:r>
            <a:r>
              <a:rPr sz="1600" b="0" i="0">
                <a:solidFill>
                  <a:srgbClr val="1F2328"/>
                </a:solidFill>
                <a:latin typeface="Courier New"/>
              </a:rPr>
              <a:t>isna</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show</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gaps</a:t>
            </a:r>
            <a:r>
              <a:rPr sz="1600" b="0" i="0">
                <a:solidFill>
                  <a:srgbClr val="1F2328"/>
                </a:solidFill>
                <a:latin typeface="Courier New"/>
              </a:rPr>
              <a:t>[</a:t>
            </a:r>
            <a:r>
              <a:rPr sz="1600" b="0" i="0">
                <a:solidFill>
                  <a:srgbClr val="1F2328"/>
                </a:solidFill>
                <a:latin typeface="Courier New"/>
              </a:rPr>
              <a:t>[</a:t>
            </a:r>
            <a:r>
              <a:rPr sz="1600" b="0" i="0">
                <a:solidFill>
                  <a:srgbClr val="B04A2B"/>
                </a:solidFill>
                <a:latin typeface="Courier New"/>
              </a:rPr>
              <a:t>'source_id'</a:t>
            </a:r>
            <a:r>
              <a:rPr sz="1600" b="0" i="0">
                <a:solidFill>
                  <a:srgbClr val="1F2328"/>
                </a:solidFill>
                <a:latin typeface="Courier New"/>
              </a:rPr>
              <a:t>,</a:t>
            </a:r>
            <a:r>
              <a:rPr sz="1600" b="0" i="0">
                <a:solidFill>
                  <a:srgbClr val="1F2328"/>
                </a:solidFill>
                <a:latin typeface="Courier New"/>
              </a:rPr>
              <a:t> </a:t>
            </a:r>
            <a:r>
              <a:rPr sz="1600" b="0" i="0">
                <a:solidFill>
                  <a:srgbClr val="B04A2B"/>
                </a:solidFill>
                <a:latin typeface="Courier New"/>
              </a:rPr>
              <a:t>'owner'</a:t>
            </a:r>
            <a:r>
              <a:rPr sz="1600" b="0" i="0">
                <a:solidFill>
                  <a:srgbClr val="1F2328"/>
                </a:solidFill>
                <a:latin typeface="Courier New"/>
              </a:rPr>
              <a:t>,</a:t>
            </a:r>
            <a:r>
              <a:rPr sz="1600" b="0" i="0">
                <a:solidFill>
                  <a:srgbClr val="1F2328"/>
                </a:solidFill>
                <a:latin typeface="Courier New"/>
              </a:rPr>
              <a:t> </a:t>
            </a:r>
            <a:r>
              <a:rPr sz="1600" b="0" i="0">
                <a:solidFill>
                  <a:srgbClr val="B04A2B"/>
                </a:solidFill>
                <a:latin typeface="Courier New"/>
              </a:rPr>
              <a:t>'sensitivity'</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print</a:t>
            </a:r>
            <a:r>
              <a:rPr sz="1600" b="0" i="0">
                <a:solidFill>
                  <a:srgbClr val="1F2328"/>
                </a:solidFill>
                <a:latin typeface="Courier New"/>
              </a:rPr>
              <a:t>(</a:t>
            </a:r>
            <a:r>
              <a:rPr sz="1600" b="0" i="0">
                <a:solidFill>
                  <a:srgbClr val="1F2328"/>
                </a:solidFill>
                <a:latin typeface="Courier New"/>
              </a:rPr>
              <a:t>show</a:t>
            </a:r>
            <a:r>
              <a:rPr sz="1600" b="0" i="0">
                <a:solidFill>
                  <a:srgbClr val="1F2328"/>
                </a:solidFill>
                <a:latin typeface="Courier New"/>
              </a:rPr>
              <a:t>.</a:t>
            </a:r>
            <a:r>
              <a:rPr sz="1600" b="0" i="0">
                <a:solidFill>
                  <a:srgbClr val="1F2328"/>
                </a:solidFill>
                <a:latin typeface="Courier New"/>
              </a:rPr>
              <a:t>fillna</a:t>
            </a:r>
            <a:r>
              <a:rPr sz="1600" b="0" i="0">
                <a:solidFill>
                  <a:srgbClr val="1F2328"/>
                </a:solidFill>
                <a:latin typeface="Courier New"/>
              </a:rPr>
              <a:t>(</a:t>
            </a:r>
            <a:r>
              <a:rPr sz="1600" b="0" i="0">
                <a:solidFill>
                  <a:srgbClr val="B04A2B"/>
                </a:solidFill>
                <a:latin typeface="Courier New"/>
              </a:rPr>
              <a:t>'-'</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to_string</a:t>
            </a:r>
            <a:r>
              <a:rPr sz="1600" b="0" i="0">
                <a:solidFill>
                  <a:srgbClr val="1F2328"/>
                </a:solidFill>
                <a:latin typeface="Courier New"/>
              </a:rPr>
              <a:t>(</a:t>
            </a:r>
            <a:r>
              <a:rPr sz="1600" b="0" i="0">
                <a:solidFill>
                  <a:srgbClr val="1F2328"/>
                </a:solidFill>
                <a:latin typeface="Courier New"/>
              </a:rPr>
              <a:t>index</a:t>
            </a:r>
            <a:r>
              <a:rPr sz="1600" b="0" i="0">
                <a:solidFill>
                  <a:srgbClr val="1F2328"/>
                </a:solidFill>
                <a:latin typeface="Courier New"/>
              </a:rPr>
              <a:t>=</a:t>
            </a:r>
            <a:r>
              <a:rPr sz="1600" b="1" i="0">
                <a:solidFill>
                  <a:srgbClr val="1F2328"/>
                </a:solidFill>
                <a:latin typeface="Courier New"/>
              </a:rPr>
              <a:t>False</a:t>
            </a:r>
            <a:r>
              <a:rPr sz="1600" b="0" i="0">
                <a:solidFill>
                  <a:srgbClr val="1F2328"/>
                </a:solidFill>
                <a:latin typeface="Courier New"/>
              </a:rPr>
              <a:t>)</a:t>
            </a:r>
            <a:r>
              <a:rPr sz="1600" b="0" i="0">
                <a:solidFill>
                  <a:srgbClr val="1F2328"/>
                </a:solidFill>
                <a:latin typeface="Courier New"/>
              </a:rPr>
              <a:t>)</a:t>
            </a:r>
          </a:p>
        </p:txBody>
      </p:sp>
      <p:grpSp>
        <p:nvGrpSpPr>
          <p:cNvPr id="7" name="output"/>
          <p:cNvGrpSpPr/>
          <p:nvPr/>
        </p:nvGrpSpPr>
        <p:grpSpPr>
          <a:xfrm>
            <a:off x="685800" y="3240024"/>
            <a:ext cx="6949440" cy="1591056"/>
            <a:chOff x="685800" y="3240024"/>
            <a:chExt cx="6949440" cy="1591056"/>
          </a:xfrm>
        </p:grpSpPr>
        <p:sp>
          <p:nvSpPr>
            <p:cNvPr id="8" name="TextBox 7"/>
            <p:cNvSpPr txBox="1"/>
            <p:nvPr/>
          </p:nvSpPr>
          <p:spPr>
            <a:xfrm>
              <a:off x="685800" y="3240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496056"/>
              <a:ext cx="6949440" cy="1335024"/>
            </a:xfrm>
            <a:prstGeom prst="rect">
              <a:avLst/>
            </a:prstGeom>
            <a:solidFill>
              <a:srgbClr val="F5F3EF"/>
            </a:solidFill>
            <a:ln>
              <a:noFill/>
            </a:ln>
          </p:spPr>
          <p:txBody>
            <a:bodyPr rtlCol="0" anchor="ctr"/>
            <a:lstStyle/>
            <a:p>
              <a:pPr algn="ctr"/>
            </a:p>
          </p:txBody>
        </p:sp>
        <p:sp>
          <p:nvSpPr>
            <p:cNvPr id="10" name="TextBox 9"/>
            <p:cNvSpPr txBox="1"/>
            <p:nvPr/>
          </p:nvSpPr>
          <p:spPr>
            <a:xfrm>
              <a:off x="868680" y="3587496"/>
              <a:ext cx="6675120" cy="1225295"/>
            </a:xfrm>
            <a:prstGeom prst="rect">
              <a:avLst/>
            </a:prstGeom>
            <a:noFill/>
          </p:spPr>
          <p:txBody>
            <a:bodyPr wrap="none" lIns="0" rIns="0" tIns="0" bIns="0">
              <a:spAutoFit/>
            </a:bodyPr>
            <a:lstStyle/>
            <a:p>
              <a:r>
                <a:rPr sz="1400" b="0" i="0">
                  <a:solidFill>
                    <a:srgbClr val="1F2328"/>
                  </a:solidFill>
                  <a:latin typeface="Courier New"/>
                </a:rPr>
                <a:t>source_id owner sensitivity</a:t>
              </a:r>
            </a:p>
            <a:p>
              <a:r>
                <a:rPr sz="1400" b="0" i="0">
                  <a:solidFill>
                    <a:srgbClr val="1F2328"/>
                  </a:solidFill>
                  <a:latin typeface="Courier New"/>
                </a:rPr>
                <a:t>      S06    IT           -</a:t>
              </a:r>
            </a:p>
            <a:p>
              <a:r>
                <a:rPr sz="1400" b="0" i="0">
                  <a:solidFill>
                    <a:srgbClr val="1F2328"/>
                  </a:solidFill>
                  <a:latin typeface="Courier New"/>
                </a:rPr>
                <a:t>      S08     -           -</a:t>
              </a:r>
            </a:p>
            <a:p>
              <a:r>
                <a:rPr sz="1400" b="0" i="0">
                  <a:solidFill>
                    <a:srgbClr val="1F2328"/>
                  </a:solidFill>
                  <a:latin typeface="Courier New"/>
                </a:rPr>
                <a:t>      S09     -           -</a:t>
              </a:r>
            </a:p>
            <a:p>
              <a:r>
                <a:rPr sz="1400" b="0" i="0">
                  <a:solidFill>
                    <a:srgbClr val="1F2328"/>
                  </a:solidFill>
                  <a:latin typeface="Courier New"/>
                </a:rPr>
                <a:t>      S12     -           -</a:t>
              </a:r>
            </a:p>
            <a:p>
              <a:r>
                <a:rPr sz="1400" b="0" i="0">
                  <a:solidFill>
                    <a:srgbClr val="1F2328"/>
                  </a:solidFill>
                  <a:latin typeface="Courier New"/>
                </a:rPr>
                <a:t>      S13     -           -</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Read the source list and keep the rows where the owner or the class is blank.</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Show three columns. A dash marks a blank cell.</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check that stops when a source has no owner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10820095" cy="5623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88036"/>
          </a:xfrm>
          <a:prstGeom prst="rect">
            <a:avLst/>
          </a:prstGeom>
          <a:noFill/>
        </p:spPr>
        <p:txBody>
          <a:bodyPr wrap="none" lIns="0" rIns="0" tIns="0" bIns="0">
            <a:spAutoFit/>
          </a:bodyPr>
          <a:lstStyle/>
          <a:p>
            <a:r>
              <a:rPr sz="1650" b="1" i="0">
                <a:solidFill>
                  <a:srgbClr val="1F2328"/>
                </a:solidFill>
                <a:latin typeface="Courier New"/>
              </a:rPr>
              <a:t>assert</a:t>
            </a:r>
            <a:r>
              <a:rPr sz="1650" b="0" i="0">
                <a:solidFill>
                  <a:srgbClr val="1F2328"/>
                </a:solidFill>
                <a:latin typeface="Courier New"/>
              </a:rPr>
              <a:t> </a:t>
            </a:r>
            <a:r>
              <a:rPr sz="1650" b="0" i="0">
                <a:solidFill>
                  <a:srgbClr val="1F2328"/>
                </a:solidFill>
                <a:latin typeface="Courier New"/>
              </a:rPr>
              <a:t>src</a:t>
            </a:r>
            <a:r>
              <a:rPr sz="1650" b="0" i="0">
                <a:solidFill>
                  <a:srgbClr val="1F2328"/>
                </a:solidFill>
                <a:latin typeface="Courier New"/>
              </a:rPr>
              <a:t>.</a:t>
            </a:r>
            <a:r>
              <a:rPr sz="1650" b="0" i="0">
                <a:solidFill>
                  <a:srgbClr val="1F2328"/>
                </a:solidFill>
                <a:latin typeface="Courier New"/>
              </a:rPr>
              <a:t>owner</a:t>
            </a:r>
            <a:r>
              <a:rPr sz="1650" b="0" i="0">
                <a:solidFill>
                  <a:srgbClr val="1F2328"/>
                </a:solidFill>
                <a:latin typeface="Courier New"/>
              </a:rPr>
              <a:t>.</a:t>
            </a:r>
            <a:r>
              <a:rPr sz="1650" b="0" i="0">
                <a:solidFill>
                  <a:srgbClr val="1F2328"/>
                </a:solidFill>
                <a:latin typeface="Courier New"/>
              </a:rPr>
              <a:t>notna</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all</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f</a:t>
            </a:r>
            <a:r>
              <a:rPr sz="1650" b="0" i="0">
                <a:solidFill>
                  <a:srgbClr val="B04A2B"/>
                </a:solidFill>
                <a:latin typeface="Courier New"/>
              </a:rPr>
              <a:t>"{src.owner.isna().sum()} sources have no owner"</a:t>
            </a:r>
          </a:p>
        </p:txBody>
      </p:sp>
      <p:grpSp>
        <p:nvGrpSpPr>
          <p:cNvPr id="7" name="output"/>
          <p:cNvGrpSpPr/>
          <p:nvPr/>
        </p:nvGrpSpPr>
        <p:grpSpPr>
          <a:xfrm>
            <a:off x="685800" y="2272284"/>
            <a:ext cx="10820095" cy="524256"/>
            <a:chOff x="685800" y="2272284"/>
            <a:chExt cx="10820095" cy="524256"/>
          </a:xfrm>
        </p:grpSpPr>
        <p:sp>
          <p:nvSpPr>
            <p:cNvPr id="8" name="TextBox 7"/>
            <p:cNvSpPr txBox="1"/>
            <p:nvPr/>
          </p:nvSpPr>
          <p:spPr>
            <a:xfrm>
              <a:off x="685800" y="22722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52831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2619756"/>
              <a:ext cx="10545775" cy="158496"/>
            </a:xfrm>
            <a:prstGeom prst="rect">
              <a:avLst/>
            </a:prstGeom>
            <a:noFill/>
          </p:spPr>
          <p:txBody>
            <a:bodyPr wrap="none" lIns="0" rIns="0" tIns="0" bIns="0">
              <a:spAutoFit/>
            </a:bodyPr>
            <a:lstStyle/>
            <a:p>
              <a:r>
                <a:rPr sz="1400" b="0" i="0">
                  <a:solidFill>
                    <a:srgbClr val="1F2328"/>
                  </a:solidFill>
                  <a:latin typeface="Courier New"/>
                </a:rPr>
                <a:t>AssertionError: 4 sources have no owner</a:t>
              </a:r>
            </a:p>
          </p:txBody>
        </p:sp>
      </p:grpSp>
      <p:grpSp>
        <p:nvGrpSpPr>
          <p:cNvPr id="11" name="says-1"/>
          <p:cNvGrpSpPr/>
          <p:nvPr/>
        </p:nvGrpSpPr>
        <p:grpSpPr>
          <a:xfrm>
            <a:off x="685800" y="2979420"/>
            <a:ext cx="10820095" cy="1353312"/>
            <a:chOff x="685800" y="2979420"/>
            <a:chExt cx="10820095" cy="1353312"/>
          </a:xfrm>
        </p:grpSpPr>
        <p:cxnSp>
          <p:nvCxnSpPr>
            <p:cNvPr id="12" name="Connector 11"/>
            <p:cNvCxnSpPr/>
            <p:nvPr/>
          </p:nvCxnSpPr>
          <p:spPr>
            <a:xfrm>
              <a:off x="685800" y="2979420"/>
              <a:ext cx="10820095" cy="0"/>
            </a:xfrm>
            <a:prstGeom prst="line">
              <a:avLst/>
            </a:prstGeom>
            <a:ln w="15875">
              <a:solidFill>
                <a:srgbClr val="1F2328"/>
              </a:solidFill>
            </a:ln>
          </p:spPr>
        </p:cxnSp>
        <p:sp>
          <p:nvSpPr>
            <p:cNvPr id="13" name="TextBox 12"/>
            <p:cNvSpPr txBox="1"/>
            <p:nvPr/>
          </p:nvSpPr>
          <p:spPr>
            <a:xfrm>
              <a:off x="685800" y="30525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3052572"/>
              <a:ext cx="10472623" cy="1280160"/>
            </a:xfrm>
            <a:prstGeom prst="rect">
              <a:avLst/>
            </a:prstGeom>
            <a:noFill/>
          </p:spPr>
          <p:txBody>
            <a:bodyPr wrap="square" lIns="0" rIns="0" tIns="18288" bIns="18288" anchor="t">
              <a:spAutoFit/>
            </a:bodyPr>
            <a:lstStyle/>
            <a:p>
              <a:pPr algn="l"/>
              <a:r>
                <a:rPr sz="1900" b="0" i="0">
                  <a:solidFill>
                    <a:srgbClr val="1F2328"/>
                  </a:solidFill>
                  <a:latin typeface="Calibri"/>
                </a:rPr>
                <a:t>Insist that every source has an owner. If not, stop and say how many are missing.</a:t>
              </a:r>
            </a:p>
          </p:txBody>
        </p:sp>
      </p:gr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Find classes that break Kitara's own standard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10820095" cy="10881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813815"/>
          </a:xfrm>
          <a:prstGeom prst="rect">
            <a:avLst/>
          </a:prstGeom>
          <a:noFill/>
        </p:spPr>
        <p:txBody>
          <a:bodyPr wrap="none" lIns="0" rIns="0" tIns="0" bIns="0">
            <a:spAutoFit/>
          </a:bodyPr>
          <a:lstStyle/>
          <a:p>
            <a:r>
              <a:rPr sz="1700" b="0" i="0">
                <a:solidFill>
                  <a:srgbClr val="1F2328"/>
                </a:solidFill>
                <a:latin typeface="Courier New"/>
              </a:rPr>
              <a:t>risky</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src</a:t>
            </a:r>
            <a:r>
              <a:rPr sz="1700" b="0" i="0">
                <a:solidFill>
                  <a:srgbClr val="1F2328"/>
                </a:solidFill>
                <a:latin typeface="Courier New"/>
              </a:rPr>
              <a:t>[</a:t>
            </a:r>
            <a:r>
              <a:rPr sz="1700" b="0" i="0">
                <a:solidFill>
                  <a:srgbClr val="1F2328"/>
                </a:solidFill>
                <a:latin typeface="Courier New"/>
              </a:rPr>
              <a:t>src</a:t>
            </a:r>
            <a:r>
              <a:rPr sz="1700" b="0" i="0">
                <a:solidFill>
                  <a:srgbClr val="1F2328"/>
                </a:solidFill>
                <a:latin typeface="Courier New"/>
              </a:rPr>
              <a:t>.</a:t>
            </a:r>
            <a:r>
              <a:rPr sz="1700" b="0" i="0">
                <a:solidFill>
                  <a:srgbClr val="1F2328"/>
                </a:solidFill>
                <a:latin typeface="Courier New"/>
              </a:rPr>
              <a:t>notes</a:t>
            </a:r>
            <a:r>
              <a:rPr sz="1700" b="0" i="0">
                <a:solidFill>
                  <a:srgbClr val="1F2328"/>
                </a:solidFill>
                <a:latin typeface="Courier New"/>
              </a:rPr>
              <a:t>.</a:t>
            </a:r>
            <a:r>
              <a:rPr sz="1700" b="0" i="0">
                <a:solidFill>
                  <a:srgbClr val="1F2328"/>
                </a:solidFill>
                <a:latin typeface="Courier New"/>
              </a:rPr>
              <a:t>str</a:t>
            </a:r>
            <a:r>
              <a:rPr sz="1700" b="0" i="0">
                <a:solidFill>
                  <a:srgbClr val="1F2328"/>
                </a:solidFill>
                <a:latin typeface="Courier New"/>
              </a:rPr>
              <a:t>.</a:t>
            </a:r>
            <a:r>
              <a:rPr sz="1700" b="0" i="0">
                <a:solidFill>
                  <a:srgbClr val="1F2328"/>
                </a:solidFill>
                <a:latin typeface="Courier New"/>
              </a:rPr>
              <a:t>contains</a:t>
            </a:r>
            <a:r>
              <a:rPr sz="1700" b="0" i="0">
                <a:solidFill>
                  <a:srgbClr val="1F2328"/>
                </a:solidFill>
                <a:latin typeface="Courier New"/>
              </a:rPr>
              <a:t>(</a:t>
            </a:r>
            <a:r>
              <a:rPr sz="1700" b="0" i="0">
                <a:solidFill>
                  <a:srgbClr val="B04A2B"/>
                </a:solidFill>
                <a:latin typeface="Courier New"/>
              </a:rPr>
              <a:t>'salary|national ID'</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case</a:t>
            </a:r>
            <a:r>
              <a:rPr sz="1700" b="0" i="0">
                <a:solidFill>
                  <a:srgbClr val="1F2328"/>
                </a:solidFill>
                <a:latin typeface="Courier New"/>
              </a:rPr>
              <a:t>=</a:t>
            </a:r>
            <a:r>
              <a:rPr sz="1700" b="1" i="0">
                <a:solidFill>
                  <a:srgbClr val="1F2328"/>
                </a:solidFill>
                <a:latin typeface="Courier New"/>
              </a:rPr>
              <a:t>False</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na</a:t>
            </a:r>
            <a:r>
              <a:rPr sz="1700" b="0" i="0">
                <a:solidFill>
                  <a:srgbClr val="1F2328"/>
                </a:solidFill>
                <a:latin typeface="Courier New"/>
              </a:rPr>
              <a:t>=</a:t>
            </a:r>
            <a:r>
              <a:rPr sz="1700" b="1" i="0">
                <a:solidFill>
                  <a:srgbClr val="1F2328"/>
                </a:solidFill>
                <a:latin typeface="Courier New"/>
              </a:rPr>
              <a:t>False</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risky</a:t>
            </a:r>
            <a:r>
              <a:rPr sz="1700" b="0" i="0">
                <a:solidFill>
                  <a:srgbClr val="1F2328"/>
                </a:solidFill>
                <a:latin typeface="Courier New"/>
              </a:rPr>
              <a:t>[</a:t>
            </a:r>
            <a:r>
              <a:rPr sz="1700" b="0" i="0">
                <a:solidFill>
                  <a:srgbClr val="1F2328"/>
                </a:solidFill>
                <a:latin typeface="Courier New"/>
              </a:rPr>
              <a:t>[</a:t>
            </a:r>
            <a:r>
              <a:rPr sz="1700" b="0" i="0">
                <a:solidFill>
                  <a:srgbClr val="B04A2B"/>
                </a:solidFill>
                <a:latin typeface="Courier New"/>
              </a:rPr>
              <a:t>'source_id'</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'name'</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'sensitivity'</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to_string</a:t>
            </a:r>
            <a:r>
              <a:rPr sz="1700" b="0" i="0">
                <a:solidFill>
                  <a:srgbClr val="1F2328"/>
                </a:solidFill>
                <a:latin typeface="Courier New"/>
              </a:rPr>
              <a:t>(</a:t>
            </a:r>
            <a:r>
              <a:rPr sz="1700" b="0" i="0">
                <a:solidFill>
                  <a:srgbClr val="1F2328"/>
                </a:solidFill>
                <a:latin typeface="Courier New"/>
              </a:rPr>
              <a:t>index</a:t>
            </a:r>
            <a:r>
              <a:rPr sz="1700" b="0" i="0">
                <a:solidFill>
                  <a:srgbClr val="1F2328"/>
                </a:solidFill>
                <a:latin typeface="Courier New"/>
              </a:rPr>
              <a:t>=</a:t>
            </a:r>
            <a:r>
              <a:rPr sz="1700" b="1" i="0">
                <a:solidFill>
                  <a:srgbClr val="1F2328"/>
                </a:solidFill>
                <a:latin typeface="Courier New"/>
              </a:rPr>
              <a:t>False</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src</a:t>
            </a:r>
            <a:r>
              <a:rPr sz="1700" b="0" i="0">
                <a:solidFill>
                  <a:srgbClr val="1F2328"/>
                </a:solidFill>
                <a:latin typeface="Courier New"/>
              </a:rPr>
              <a:t>.</a:t>
            </a:r>
            <a:r>
              <a:rPr sz="1700" b="0" i="0">
                <a:solidFill>
                  <a:srgbClr val="1F2328"/>
                </a:solidFill>
                <a:latin typeface="Courier New"/>
              </a:rPr>
              <a:t>personal_data</a:t>
            </a:r>
            <a:r>
              <a:rPr sz="1700" b="0" i="0">
                <a:solidFill>
                  <a:srgbClr val="1F2328"/>
                </a:solidFill>
                <a:latin typeface="Courier New"/>
              </a:rPr>
              <a:t>.</a:t>
            </a:r>
            <a:r>
              <a:rPr sz="1700" b="0" i="0">
                <a:solidFill>
                  <a:srgbClr val="1F2328"/>
                </a:solidFill>
                <a:latin typeface="Courier New"/>
              </a:rPr>
              <a:t>fillna</a:t>
            </a:r>
            <a:r>
              <a:rPr sz="1700" b="0" i="0">
                <a:solidFill>
                  <a:srgbClr val="1F2328"/>
                </a:solidFill>
                <a:latin typeface="Courier New"/>
              </a:rPr>
              <a:t>(</a:t>
            </a:r>
            <a:r>
              <a:rPr sz="1700" b="0" i="0">
                <a:solidFill>
                  <a:srgbClr val="B04A2B"/>
                </a:solidFill>
                <a:latin typeface="Courier New"/>
              </a:rPr>
              <a:t>'undecided'</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value_counts</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to_dict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p:txBody>
      </p:sp>
      <p:grpSp>
        <p:nvGrpSpPr>
          <p:cNvPr id="7" name="output"/>
          <p:cNvGrpSpPr/>
          <p:nvPr/>
        </p:nvGrpSpPr>
        <p:grpSpPr>
          <a:xfrm>
            <a:off x="685800" y="2798064"/>
            <a:ext cx="10820095" cy="1164336"/>
            <a:chOff x="685800" y="2798064"/>
            <a:chExt cx="10820095" cy="1164336"/>
          </a:xfrm>
        </p:grpSpPr>
        <p:sp>
          <p:nvSpPr>
            <p:cNvPr id="8" name="TextBox 7"/>
            <p:cNvSpPr txBox="1"/>
            <p:nvPr/>
          </p:nvSpPr>
          <p:spPr>
            <a:xfrm>
              <a:off x="685800" y="27980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054096"/>
              <a:ext cx="10820095"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3145536"/>
              <a:ext cx="10545775" cy="798576"/>
            </a:xfrm>
            <a:prstGeom prst="rect">
              <a:avLst/>
            </a:prstGeom>
            <a:noFill/>
          </p:spPr>
          <p:txBody>
            <a:bodyPr wrap="none" lIns="0" rIns="0" tIns="0" bIns="0">
              <a:spAutoFit/>
            </a:bodyPr>
            <a:lstStyle/>
            <a:p>
              <a:r>
                <a:rPr sz="1400" b="0" i="0">
                  <a:solidFill>
                    <a:srgbClr val="1F2328"/>
                  </a:solidFill>
                  <a:latin typeface="Courier New"/>
                </a:rPr>
                <a:t>source_id                    name sensitivity</a:t>
              </a:r>
            </a:p>
            <a:p>
              <a:r>
                <a:rPr sz="1400" b="0" i="0">
                  <a:solidFill>
                    <a:srgbClr val="1F2328"/>
                  </a:solidFill>
                  <a:latin typeface="Courier New"/>
                </a:rPr>
                <a:t>      S03 Loan origination system    internal</a:t>
              </a:r>
            </a:p>
            <a:p>
              <a:r>
                <a:rPr sz="1400" b="0" i="0">
                  <a:solidFill>
                    <a:srgbClr val="1F2328"/>
                  </a:solidFill>
                  <a:latin typeface="Courier New"/>
                </a:rPr>
                <a:t>      S10               HR system  restricted</a:t>
              </a:r>
            </a:p>
            <a:p>
              <a:r>
                <a:rPr sz="1400" b="0" i="0">
                  <a:solidFill>
                    <a:srgbClr val="1F2328"/>
                  </a:solidFill>
                  <a:latin typeface="Courier New"/>
                </a:rPr>
                <a:t>{'Y': 8, 'undecided': 3, 'N': 3}</a:t>
              </a:r>
            </a:p>
          </p:txBody>
        </p:sp>
      </p:grpSp>
      <p:grpSp>
        <p:nvGrpSpPr>
          <p:cNvPr id="11" name="says-1"/>
          <p:cNvGrpSpPr/>
          <p:nvPr/>
        </p:nvGrpSpPr>
        <p:grpSpPr>
          <a:xfrm>
            <a:off x="685800" y="4145280"/>
            <a:ext cx="5204307" cy="1353312"/>
            <a:chOff x="685800" y="4145280"/>
            <a:chExt cx="5204307" cy="1353312"/>
          </a:xfrm>
        </p:grpSpPr>
        <p:cxnSp>
          <p:nvCxnSpPr>
            <p:cNvPr id="12" name="Connector 11"/>
            <p:cNvCxnSpPr/>
            <p:nvPr/>
          </p:nvCxnSpPr>
          <p:spPr>
            <a:xfrm>
              <a:off x="685800" y="4145280"/>
              <a:ext cx="5204307" cy="0"/>
            </a:xfrm>
            <a:prstGeom prst="line">
              <a:avLst/>
            </a:prstGeom>
            <a:ln w="15875">
              <a:solidFill>
                <a:srgbClr val="1F2328"/>
              </a:solidFill>
            </a:ln>
          </p:spPr>
        </p:cxnSp>
        <p:sp>
          <p:nvSpPr>
            <p:cNvPr id="13" name="TextBox 12"/>
            <p:cNvSpPr txBox="1"/>
            <p:nvPr/>
          </p:nvSpPr>
          <p:spPr>
            <a:xfrm>
              <a:off x="685800" y="42184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21843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Find sources whose notes mention salary data or national ID copies.</a:t>
              </a:r>
            </a:p>
          </p:txBody>
        </p:sp>
      </p:grpSp>
      <p:grpSp>
        <p:nvGrpSpPr>
          <p:cNvPr id="15" name="says-2"/>
          <p:cNvGrpSpPr/>
          <p:nvPr/>
        </p:nvGrpSpPr>
        <p:grpSpPr>
          <a:xfrm>
            <a:off x="6301587" y="4145280"/>
            <a:ext cx="5204308" cy="1353312"/>
            <a:chOff x="6301587" y="4145280"/>
            <a:chExt cx="5204308" cy="1353312"/>
          </a:xfrm>
        </p:grpSpPr>
        <p:cxnSp>
          <p:nvCxnSpPr>
            <p:cNvPr id="16" name="Connector 15"/>
            <p:cNvCxnSpPr/>
            <p:nvPr/>
          </p:nvCxnSpPr>
          <p:spPr>
            <a:xfrm>
              <a:off x="6301587" y="4145280"/>
              <a:ext cx="5204308" cy="0"/>
            </a:xfrm>
            <a:prstGeom prst="line">
              <a:avLst/>
            </a:prstGeom>
            <a:ln w="15875">
              <a:solidFill>
                <a:srgbClr val="1F2328"/>
              </a:solidFill>
            </a:ln>
          </p:spPr>
        </p:cxnSp>
        <p:sp>
          <p:nvSpPr>
            <p:cNvPr id="17" name="TextBox 16"/>
            <p:cNvSpPr txBox="1"/>
            <p:nvPr/>
          </p:nvSpPr>
          <p:spPr>
            <a:xfrm>
              <a:off x="6301587" y="42184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421843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Count how many sources hold personal data: yes, no or undecided.</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Personal data hides where nobody has looked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Personal data is any information that identifies a living person. Eight of Kitara's sources say yes. Three have not been decided.</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754075"/>
          </a:xfrm>
          <a:prstGeom prst="rect">
            <a:avLst/>
          </a:prstGeom>
          <a:noFill/>
        </p:spPr>
        <p:txBody>
          <a:bodyPr wrap="square" lIns="0" rIns="0" tIns="18288" bIns="18288" anchor="t">
            <a:spAutoFit/>
          </a:bodyPr>
          <a:lstStyle/>
          <a:p>
            <a:pPr algn="l"/>
            <a:r>
              <a:rPr sz="2300" b="1" i="0">
                <a:solidFill>
                  <a:srgbClr val="1F2328"/>
                </a:solidFill>
                <a:latin typeface="Cambria"/>
              </a:rPr>
              <a:t>Call centre transcripts (S08)</a:t>
            </a:r>
          </a:p>
        </p:txBody>
      </p:sp>
      <p:sp>
        <p:nvSpPr>
          <p:cNvPr id="8" name="TextBox 7"/>
          <p:cNvSpPr txBox="1"/>
          <p:nvPr/>
        </p:nvSpPr>
        <p:spPr>
          <a:xfrm>
            <a:off x="3611880" y="2890723"/>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380,000 records. Nobody has reviewed what they contain.</a:t>
            </a:r>
          </a:p>
        </p:txBody>
      </p:sp>
      <p:cxnSp>
        <p:nvCxnSpPr>
          <p:cNvPr id="9" name="Connector 8"/>
          <p:cNvCxnSpPr/>
          <p:nvPr/>
        </p:nvCxnSpPr>
        <p:spPr>
          <a:xfrm>
            <a:off x="685800" y="3626510"/>
            <a:ext cx="10820095" cy="0"/>
          </a:xfrm>
          <a:prstGeom prst="line">
            <a:avLst/>
          </a:prstGeom>
          <a:ln w="6350">
            <a:solidFill>
              <a:srgbClr val="C9C5BC"/>
            </a:solidFill>
          </a:ln>
        </p:spPr>
      </p:cxnSp>
      <p:sp>
        <p:nvSpPr>
          <p:cNvPr id="10" name="TextBox 9"/>
          <p:cNvSpPr txBox="1"/>
          <p:nvPr/>
        </p:nvSpPr>
        <p:spPr>
          <a:xfrm>
            <a:off x="685800" y="3736238"/>
            <a:ext cx="2651760" cy="754075"/>
          </a:xfrm>
          <a:prstGeom prst="rect">
            <a:avLst/>
          </a:prstGeom>
          <a:noFill/>
        </p:spPr>
        <p:txBody>
          <a:bodyPr wrap="square" lIns="0" rIns="0" tIns="18288" bIns="18288" anchor="t">
            <a:spAutoFit/>
          </a:bodyPr>
          <a:lstStyle/>
          <a:p>
            <a:pPr algn="l"/>
            <a:r>
              <a:rPr sz="2300" b="1" i="0">
                <a:solidFill>
                  <a:srgbClr val="1F2328"/>
                </a:solidFill>
                <a:latin typeface="Cambria"/>
              </a:rPr>
              <a:t>Email archive (S12)</a:t>
            </a:r>
          </a:p>
        </p:txBody>
      </p:sp>
      <p:sp>
        <p:nvSpPr>
          <p:cNvPr id="11" name="TextBox 10"/>
          <p:cNvSpPr txBox="1"/>
          <p:nvPr/>
        </p:nvSpPr>
        <p:spPr>
          <a:xfrm>
            <a:off x="3611880" y="3754526"/>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22 million messages, with personal and business content mixed.</a:t>
            </a:r>
          </a:p>
        </p:txBody>
      </p:sp>
      <p:cxnSp>
        <p:nvCxnSpPr>
          <p:cNvPr id="12" name="Connector 11"/>
          <p:cNvCxnSpPr/>
          <p:nvPr/>
        </p:nvCxnSpPr>
        <p:spPr>
          <a:xfrm>
            <a:off x="685800" y="4490313"/>
            <a:ext cx="10820095" cy="0"/>
          </a:xfrm>
          <a:prstGeom prst="line">
            <a:avLst/>
          </a:prstGeom>
          <a:ln w="6350">
            <a:solidFill>
              <a:srgbClr val="C9C5BC"/>
            </a:solidFill>
          </a:ln>
        </p:spPr>
      </p:cxnSp>
      <p:sp>
        <p:nvSpPr>
          <p:cNvPr id="13" name="TextBox 12"/>
          <p:cNvSpPr txBox="1"/>
          <p:nvPr/>
        </p:nvSpPr>
        <p:spPr>
          <a:xfrm>
            <a:off x="685800" y="4600041"/>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Shared drive (S09)</a:t>
            </a:r>
          </a:p>
        </p:txBody>
      </p:sp>
      <p:sp>
        <p:nvSpPr>
          <p:cNvPr id="14" name="TextBox 13"/>
          <p:cNvSpPr txBox="1"/>
          <p:nvPr/>
        </p:nvSpPr>
        <p:spPr>
          <a:xfrm>
            <a:off x="3611880" y="4618329"/>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14,000 files. 32 of the 121 documents in our docs folder carry personal data.</a:t>
            </a:r>
          </a:p>
        </p:txBody>
      </p:sp>
      <p:cxnSp>
        <p:nvCxnSpPr>
          <p:cNvPr id="15" name="Connector 14"/>
          <p:cNvCxnSpPr/>
          <p:nvPr/>
        </p:nvCxnSpPr>
        <p:spPr>
          <a:xfrm>
            <a:off x="685800" y="5354116"/>
            <a:ext cx="10820095" cy="0"/>
          </a:xfrm>
          <a:prstGeom prst="line">
            <a:avLst/>
          </a:prstGeom>
          <a:ln w="6350">
            <a:solidFill>
              <a:srgbClr val="C9C5BC"/>
            </a:solidFill>
          </a:ln>
        </p:spPr>
      </p:cxnSp>
      <p:sp>
        <p:nvSpPr>
          <p:cNvPr id="16" name="TextBox 15"/>
          <p:cNvSpPr txBox="1"/>
          <p:nvPr/>
        </p:nvSpPr>
        <p:spPr>
          <a:xfrm>
            <a:off x="685800" y="5463844"/>
            <a:ext cx="2651760" cy="754075"/>
          </a:xfrm>
          <a:prstGeom prst="rect">
            <a:avLst/>
          </a:prstGeom>
          <a:noFill/>
        </p:spPr>
        <p:txBody>
          <a:bodyPr wrap="square" lIns="0" rIns="0" tIns="18288" bIns="18288" anchor="t">
            <a:spAutoFit/>
          </a:bodyPr>
          <a:lstStyle/>
          <a:p>
            <a:pPr algn="l"/>
            <a:r>
              <a:rPr sz="2300" b="1" i="0">
                <a:solidFill>
                  <a:srgbClr val="1F2328"/>
                </a:solidFill>
                <a:latin typeface="Cambria"/>
              </a:rPr>
              <a:t>Scans inside systems (S03)</a:t>
            </a:r>
          </a:p>
        </p:txBody>
      </p:sp>
      <p:sp>
        <p:nvSpPr>
          <p:cNvPr id="17" name="TextBox 16"/>
          <p:cNvSpPr txBox="1"/>
          <p:nvPr/>
        </p:nvSpPr>
        <p:spPr>
          <a:xfrm>
            <a:off x="3611880" y="5482132"/>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National ID copies sit inside a loan system recorded as internal.</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Metadata is data about the data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Each inventory column is one piece of metadata. It comes in three kinds.</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Business metadata</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Name, owner, steward, sensitivity class, AI use case. Kitara has 4 owners missing.</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Technical metadata</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System type, format, record count. S01 holds 640,000 relational records.</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Operational metadata</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How often it refreshes and when it was last checked. Six sources have no quality check.</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Shadow data: count the shared drive by type and folder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6949440" cy="3130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855976"/>
          </a:xfrm>
          <a:prstGeom prst="rect">
            <a:avLst/>
          </a:prstGeom>
          <a:noFill/>
        </p:spPr>
        <p:txBody>
          <a:bodyPr wrap="none" lIns="0" rIns="0" tIns="0" bIns="0">
            <a:spAutoFit/>
          </a:bodyPr>
          <a:lstStyle/>
          <a:p>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os</a:t>
            </a:r>
          </a:p>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collections</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Counter</a:t>
            </a:r>
          </a:p>
          <a:p>
            <a:r>
              <a:rPr sz="1850" b="0" i="0">
                <a:solidFill>
                  <a:srgbClr val="1F2328"/>
                </a:solidFill>
                <a:latin typeface="Courier New"/>
              </a:rPr>
              <a:t> </a:t>
            </a:r>
          </a:p>
          <a:p>
            <a:r>
              <a:rPr sz="1850" b="0" i="0">
                <a:solidFill>
                  <a:srgbClr val="1F2328"/>
                </a:solidFill>
                <a:latin typeface="Courier New"/>
              </a:rPr>
              <a:t>types</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folders</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Counter</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Counter</a:t>
            </a:r>
            <a:r>
              <a:rPr sz="1850" b="0" i="0">
                <a:solidFill>
                  <a:srgbClr val="1F2328"/>
                </a:solidFill>
                <a:latin typeface="Courier New"/>
              </a:rPr>
              <a:t>(</a:t>
            </a:r>
            <a:r>
              <a:rPr sz="1850" b="0" i="0">
                <a:solidFill>
                  <a:srgbClr val="1F2328"/>
                </a:solidFill>
                <a:latin typeface="Courier New"/>
              </a:rPr>
              <a:t>)</a:t>
            </a:r>
          </a:p>
          <a:p>
            <a:r>
              <a:rPr sz="1850" b="1" i="0">
                <a:solidFill>
                  <a:srgbClr val="1F2328"/>
                </a:solidFill>
                <a:latin typeface="Courier New"/>
              </a:rPr>
              <a:t>for</a:t>
            </a:r>
            <a:r>
              <a:rPr sz="1850" b="0" i="0">
                <a:solidFill>
                  <a:srgbClr val="1F2328"/>
                </a:solidFill>
                <a:latin typeface="Courier New"/>
              </a:rPr>
              <a:t> </a:t>
            </a:r>
            <a:r>
              <a:rPr sz="1850" b="0" i="0">
                <a:solidFill>
                  <a:srgbClr val="1F2328"/>
                </a:solidFill>
                <a:latin typeface="Courier New"/>
              </a:rPr>
              <a:t>folder</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_</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files</a:t>
            </a:r>
            <a:r>
              <a:rPr sz="1850" b="0" i="0">
                <a:solidFill>
                  <a:srgbClr val="1F2328"/>
                </a:solidFill>
                <a:latin typeface="Courier New"/>
              </a:rPr>
              <a:t> </a:t>
            </a:r>
            <a:r>
              <a:rPr sz="1850" b="1" i="0">
                <a:solidFill>
                  <a:srgbClr val="1F2328"/>
                </a:solidFill>
                <a:latin typeface="Courier New"/>
              </a:rPr>
              <a:t>in</a:t>
            </a:r>
            <a:r>
              <a:rPr sz="1850" b="0" i="0">
                <a:solidFill>
                  <a:srgbClr val="1F2328"/>
                </a:solidFill>
                <a:latin typeface="Courier New"/>
              </a:rPr>
              <a:t> </a:t>
            </a:r>
            <a:r>
              <a:rPr sz="1850" b="0" i="0">
                <a:solidFill>
                  <a:srgbClr val="1F2328"/>
                </a:solidFill>
                <a:latin typeface="Courier New"/>
              </a:rPr>
              <a:t>os</a:t>
            </a:r>
            <a:r>
              <a:rPr sz="1850" b="0" i="0">
                <a:solidFill>
                  <a:srgbClr val="1F2328"/>
                </a:solidFill>
                <a:latin typeface="Courier New"/>
              </a:rPr>
              <a:t>.</a:t>
            </a:r>
            <a:r>
              <a:rPr sz="1850" b="0" i="0">
                <a:solidFill>
                  <a:srgbClr val="1F2328"/>
                </a:solidFill>
                <a:latin typeface="Courier New"/>
              </a:rPr>
              <a:t>walk</a:t>
            </a:r>
            <a:r>
              <a:rPr sz="1850" b="0" i="0">
                <a:solidFill>
                  <a:srgbClr val="1F2328"/>
                </a:solidFill>
                <a:latin typeface="Courier New"/>
              </a:rPr>
              <a:t>(</a:t>
            </a:r>
            <a:r>
              <a:rPr sz="1850" b="0" i="0">
                <a:solidFill>
                  <a:srgbClr val="B04A2B"/>
                </a:solidFill>
                <a:latin typeface="Courier New"/>
              </a:rPr>
              <a:t>'docs'</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1" i="0">
                <a:solidFill>
                  <a:srgbClr val="1F2328"/>
                </a:solidFill>
                <a:latin typeface="Courier New"/>
              </a:rPr>
              <a:t>for</a:t>
            </a:r>
            <a:r>
              <a:rPr sz="1850" b="0" i="0">
                <a:solidFill>
                  <a:srgbClr val="1F2328"/>
                </a:solidFill>
                <a:latin typeface="Courier New"/>
              </a:rPr>
              <a:t> </a:t>
            </a:r>
            <a:r>
              <a:rPr sz="1850" b="0" i="0">
                <a:solidFill>
                  <a:srgbClr val="1F2328"/>
                </a:solidFill>
                <a:latin typeface="Courier New"/>
              </a:rPr>
              <a:t>f</a:t>
            </a:r>
            <a:r>
              <a:rPr sz="1850" b="0" i="0">
                <a:solidFill>
                  <a:srgbClr val="1F2328"/>
                </a:solidFill>
                <a:latin typeface="Courier New"/>
              </a:rPr>
              <a:t> </a:t>
            </a:r>
            <a:r>
              <a:rPr sz="1850" b="1" i="0">
                <a:solidFill>
                  <a:srgbClr val="1F2328"/>
                </a:solidFill>
                <a:latin typeface="Courier New"/>
              </a:rPr>
              <a:t>in</a:t>
            </a:r>
            <a:r>
              <a:rPr sz="1850" b="0" i="0">
                <a:solidFill>
                  <a:srgbClr val="1F2328"/>
                </a:solidFill>
                <a:latin typeface="Courier New"/>
              </a:rPr>
              <a:t> </a:t>
            </a:r>
            <a:r>
              <a:rPr sz="1850" b="0" i="0">
                <a:solidFill>
                  <a:srgbClr val="1F2328"/>
                </a:solidFill>
                <a:latin typeface="Courier New"/>
              </a:rPr>
              <a:t>files</a:t>
            </a:r>
            <a:r>
              <a:rPr sz="1850" b="0" i="0">
                <a:solidFill>
                  <a:srgbClr val="1F2328"/>
                </a:solidFill>
                <a:latin typeface="Courier New"/>
              </a:rPr>
              <a:t>:</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types</a:t>
            </a:r>
            <a:r>
              <a:rPr sz="1850" b="0" i="0">
                <a:solidFill>
                  <a:srgbClr val="1F2328"/>
                </a:solidFill>
                <a:latin typeface="Courier New"/>
              </a:rPr>
              <a:t>[</a:t>
            </a:r>
            <a:r>
              <a:rPr sz="1850" b="0" i="0">
                <a:solidFill>
                  <a:srgbClr val="1F2328"/>
                </a:solidFill>
                <a:latin typeface="Courier New"/>
              </a:rPr>
              <a:t>os</a:t>
            </a:r>
            <a:r>
              <a:rPr sz="1850" b="0" i="0">
                <a:solidFill>
                  <a:srgbClr val="1F2328"/>
                </a:solidFill>
                <a:latin typeface="Courier New"/>
              </a:rPr>
              <a:t>.</a:t>
            </a:r>
            <a:r>
              <a:rPr sz="1850" b="0" i="0">
                <a:solidFill>
                  <a:srgbClr val="1F2328"/>
                </a:solidFill>
                <a:latin typeface="Courier New"/>
              </a:rPr>
              <a:t>path</a:t>
            </a:r>
            <a:r>
              <a:rPr sz="1850" b="0" i="0">
                <a:solidFill>
                  <a:srgbClr val="1F2328"/>
                </a:solidFill>
                <a:latin typeface="Courier New"/>
              </a:rPr>
              <a:t>.</a:t>
            </a:r>
            <a:r>
              <a:rPr sz="1850" b="0" i="0">
                <a:solidFill>
                  <a:srgbClr val="1F2328"/>
                </a:solidFill>
                <a:latin typeface="Courier New"/>
              </a:rPr>
              <a:t>splitext</a:t>
            </a:r>
            <a:r>
              <a:rPr sz="1850" b="0" i="0">
                <a:solidFill>
                  <a:srgbClr val="1F2328"/>
                </a:solidFill>
                <a:latin typeface="Courier New"/>
              </a:rPr>
              <a:t>(</a:t>
            </a:r>
            <a:r>
              <a:rPr sz="1850" b="0" i="0">
                <a:solidFill>
                  <a:srgbClr val="1F2328"/>
                </a:solidFill>
                <a:latin typeface="Courier New"/>
              </a:rPr>
              <a:t>f</a:t>
            </a:r>
            <a:r>
              <a:rPr sz="1850" b="0" i="0">
                <a:solidFill>
                  <a:srgbClr val="1F2328"/>
                </a:solidFill>
                <a:latin typeface="Courier New"/>
              </a:rPr>
              <a:t>)</a:t>
            </a:r>
            <a:r>
              <a:rPr sz="1850" b="0" i="0">
                <a:solidFill>
                  <a:srgbClr val="1F2328"/>
                </a:solidFill>
                <a:latin typeface="Courier New"/>
              </a:rPr>
              <a:t>[</a:t>
            </a:r>
            <a:r>
              <a:rPr sz="1850" b="0" i="0">
                <a:solidFill>
                  <a:srgbClr val="3B4046"/>
                </a:solidFill>
                <a:latin typeface="Courier New"/>
              </a:rPr>
              <a:t>1</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1</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folders</a:t>
            </a:r>
            <a:r>
              <a:rPr sz="1850" b="0" i="0">
                <a:solidFill>
                  <a:srgbClr val="1F2328"/>
                </a:solidFill>
                <a:latin typeface="Courier New"/>
              </a:rPr>
              <a:t>[</a:t>
            </a:r>
            <a:r>
              <a:rPr sz="1850" b="0" i="0">
                <a:solidFill>
                  <a:srgbClr val="1F2328"/>
                </a:solidFill>
                <a:latin typeface="Courier New"/>
              </a:rPr>
              <a:t>os</a:t>
            </a:r>
            <a:r>
              <a:rPr sz="1850" b="0" i="0">
                <a:solidFill>
                  <a:srgbClr val="1F2328"/>
                </a:solidFill>
                <a:latin typeface="Courier New"/>
              </a:rPr>
              <a:t>.</a:t>
            </a:r>
            <a:r>
              <a:rPr sz="1850" b="0" i="0">
                <a:solidFill>
                  <a:srgbClr val="1F2328"/>
                </a:solidFill>
                <a:latin typeface="Courier New"/>
              </a:rPr>
              <a:t>path</a:t>
            </a:r>
            <a:r>
              <a:rPr sz="1850" b="0" i="0">
                <a:solidFill>
                  <a:srgbClr val="1F2328"/>
                </a:solidFill>
                <a:latin typeface="Courier New"/>
              </a:rPr>
              <a:t>.</a:t>
            </a:r>
            <a:r>
              <a:rPr sz="1850" b="0" i="0">
                <a:solidFill>
                  <a:srgbClr val="1F2328"/>
                </a:solidFill>
                <a:latin typeface="Courier New"/>
              </a:rPr>
              <a:t>basename</a:t>
            </a:r>
            <a:r>
              <a:rPr sz="1850" b="0" i="0">
                <a:solidFill>
                  <a:srgbClr val="1F2328"/>
                </a:solidFill>
                <a:latin typeface="Courier New"/>
              </a:rPr>
              <a:t>(</a:t>
            </a:r>
            <a:r>
              <a:rPr sz="1850" b="0" i="0">
                <a:solidFill>
                  <a:srgbClr val="1F2328"/>
                </a:solidFill>
                <a:latin typeface="Courier New"/>
              </a:rPr>
              <a:t>folder</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1</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sum</a:t>
            </a:r>
            <a:r>
              <a:rPr sz="1850" b="0" i="0">
                <a:solidFill>
                  <a:srgbClr val="1F2328"/>
                </a:solidFill>
                <a:latin typeface="Courier New"/>
              </a:rPr>
              <a:t>(</a:t>
            </a:r>
            <a:r>
              <a:rPr sz="1850" b="0" i="0">
                <a:solidFill>
                  <a:srgbClr val="1F2328"/>
                </a:solidFill>
                <a:latin typeface="Courier New"/>
              </a:rPr>
              <a:t>types</a:t>
            </a:r>
            <a:r>
              <a:rPr sz="1850" b="0" i="0">
                <a:solidFill>
                  <a:srgbClr val="1F2328"/>
                </a:solidFill>
                <a:latin typeface="Courier New"/>
              </a:rPr>
              <a:t>.</a:t>
            </a:r>
            <a:r>
              <a:rPr sz="1850" b="0" i="0">
                <a:solidFill>
                  <a:srgbClr val="1F2328"/>
                </a:solidFill>
                <a:latin typeface="Courier New"/>
              </a:rPr>
              <a:t>values</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dict</a:t>
            </a:r>
            <a:r>
              <a:rPr sz="1850" b="0" i="0">
                <a:solidFill>
                  <a:srgbClr val="1F2328"/>
                </a:solidFill>
                <a:latin typeface="Courier New"/>
              </a:rPr>
              <a:t>(</a:t>
            </a:r>
            <a:r>
              <a:rPr sz="1850" b="0" i="0">
                <a:solidFill>
                  <a:srgbClr val="1F2328"/>
                </a:solidFill>
                <a:latin typeface="Courier New"/>
              </a:rPr>
              <a:t>types</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folders</a:t>
            </a:r>
            <a:r>
              <a:rPr sz="1850" b="0" i="0">
                <a:solidFill>
                  <a:srgbClr val="1F2328"/>
                </a:solidFill>
                <a:latin typeface="Courier New"/>
              </a:rPr>
              <a:t>.</a:t>
            </a:r>
            <a:r>
              <a:rPr sz="1850" b="0" i="0">
                <a:solidFill>
                  <a:srgbClr val="1F2328"/>
                </a:solidFill>
                <a:latin typeface="Courier New"/>
              </a:rPr>
              <a:t>most_common</a:t>
            </a:r>
            <a:r>
              <a:rPr sz="1850" b="0" i="0">
                <a:solidFill>
                  <a:srgbClr val="1F2328"/>
                </a:solidFill>
                <a:latin typeface="Courier New"/>
              </a:rPr>
              <a:t>(</a:t>
            </a:r>
            <a:r>
              <a:rPr sz="1850" b="0" i="0">
                <a:solidFill>
                  <a:srgbClr val="3B4046"/>
                </a:solidFill>
                <a:latin typeface="Courier New"/>
              </a:rPr>
              <a:t>3</a:t>
            </a:r>
            <a:r>
              <a:rPr sz="1850" b="0" i="0">
                <a:solidFill>
                  <a:srgbClr val="1F2328"/>
                </a:solidFill>
                <a:latin typeface="Courier New"/>
              </a:rPr>
              <a:t>)</a:t>
            </a:r>
            <a:r>
              <a:rPr sz="1850" b="0" i="0">
                <a:solidFill>
                  <a:srgbClr val="1F2328"/>
                </a:solidFill>
                <a:latin typeface="Courier New"/>
              </a:rPr>
              <a:t>)</a:t>
            </a:r>
          </a:p>
        </p:txBody>
      </p:sp>
      <p:grpSp>
        <p:nvGrpSpPr>
          <p:cNvPr id="7" name="output"/>
          <p:cNvGrpSpPr/>
          <p:nvPr/>
        </p:nvGrpSpPr>
        <p:grpSpPr>
          <a:xfrm>
            <a:off x="685800" y="4840224"/>
            <a:ext cx="6949440" cy="737615"/>
            <a:chOff x="685800" y="4840224"/>
            <a:chExt cx="6949440" cy="737615"/>
          </a:xfrm>
        </p:grpSpPr>
        <p:sp>
          <p:nvSpPr>
            <p:cNvPr id="8" name="TextBox 7"/>
            <p:cNvSpPr txBox="1"/>
            <p:nvPr/>
          </p:nvSpPr>
          <p:spPr>
            <a:xfrm>
              <a:off x="685800" y="48402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09625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5187696"/>
              <a:ext cx="6675120" cy="371855"/>
            </a:xfrm>
            <a:prstGeom prst="rect">
              <a:avLst/>
            </a:prstGeom>
            <a:noFill/>
          </p:spPr>
          <p:txBody>
            <a:bodyPr wrap="none" lIns="0" rIns="0" tIns="0" bIns="0">
              <a:spAutoFit/>
            </a:bodyPr>
            <a:lstStyle/>
            <a:p>
              <a:r>
                <a:rPr sz="1400" b="0" i="0">
                  <a:solidFill>
                    <a:srgbClr val="1F2328"/>
                  </a:solidFill>
                  <a:latin typeface="Courier New"/>
                </a:rPr>
                <a:t>121 {'.pdf': 105, '.txt': 6, '.docx': 10}</a:t>
              </a:r>
            </a:p>
            <a:p>
              <a:r>
                <a:rPr sz="1400" b="0" i="0">
                  <a:solidFill>
                    <a:srgbClr val="1F2328"/>
                  </a:solidFill>
                  <a:latin typeface="Courier New"/>
                </a:rPr>
                <a:t>[('policies', 37), ('claims letters', 30), ('circulars', 20)]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Walk through every folder under docs. Tally each file by its type and its folder.</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Print the total, then the count by type. Most are PDF.</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Print the three largest folders.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How many layouts must one analyst read?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6949440" cy="19110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636775"/>
          </a:xfrm>
          <a:prstGeom prst="rect">
            <a:avLst/>
          </a:prstGeom>
          <a:noFill/>
        </p:spPr>
        <p:txBody>
          <a:bodyPr wrap="none" lIns="0" rIns="0" tIns="0" bIns="0">
            <a:spAutoFit/>
          </a:bodyPr>
          <a:lstStyle/>
          <a:p>
            <a:r>
              <a:rPr sz="1500" b="1" i="0">
                <a:solidFill>
                  <a:srgbClr val="1F2328"/>
                </a:solidFill>
                <a:latin typeface="Courier New"/>
              </a:rPr>
              <a:t>import</a:t>
            </a:r>
            <a:r>
              <a:rPr sz="1500" b="0" i="0">
                <a:solidFill>
                  <a:srgbClr val="1F2328"/>
                </a:solidFill>
                <a:latin typeface="Courier New"/>
              </a:rPr>
              <a:t> </a:t>
            </a:r>
            <a:r>
              <a:rPr sz="1500" b="0" i="0">
                <a:solidFill>
                  <a:srgbClr val="1F2328"/>
                </a:solidFill>
                <a:latin typeface="Courier New"/>
              </a:rPr>
              <a:t>glob</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openpyxl</a:t>
            </a:r>
          </a:p>
          <a:p>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path</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sorted</a:t>
            </a:r>
            <a:r>
              <a:rPr sz="1500" b="0" i="0">
                <a:solidFill>
                  <a:srgbClr val="1F2328"/>
                </a:solidFill>
                <a:latin typeface="Courier New"/>
              </a:rPr>
              <a:t>(</a:t>
            </a:r>
            <a:r>
              <a:rPr sz="1500" b="0" i="0">
                <a:solidFill>
                  <a:srgbClr val="1F2328"/>
                </a:solidFill>
                <a:latin typeface="Courier New"/>
              </a:rPr>
              <a:t>glob</a:t>
            </a:r>
            <a:r>
              <a:rPr sz="1500" b="0" i="0">
                <a:solidFill>
                  <a:srgbClr val="1F2328"/>
                </a:solidFill>
                <a:latin typeface="Courier New"/>
              </a:rPr>
              <a:t>.</a:t>
            </a:r>
            <a:r>
              <a:rPr sz="1500" b="0" i="0">
                <a:solidFill>
                  <a:srgbClr val="1F2328"/>
                </a:solidFill>
                <a:latin typeface="Courier New"/>
              </a:rPr>
              <a:t>glob</a:t>
            </a:r>
            <a:r>
              <a:rPr sz="1500" b="0" i="0">
                <a:solidFill>
                  <a:srgbClr val="1F2328"/>
                </a:solidFill>
                <a:latin typeface="Courier New"/>
              </a:rPr>
              <a:t>(</a:t>
            </a:r>
            <a:r>
              <a:rPr sz="1500" b="0" i="0">
                <a:solidFill>
                  <a:srgbClr val="B04A2B"/>
                </a:solidFill>
                <a:latin typeface="Courier New"/>
              </a:rPr>
              <a:t>'branch_reports/*.xlsx'</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ws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openpyxl</a:t>
            </a:r>
            <a:r>
              <a:rPr sz="1500" b="0" i="0">
                <a:solidFill>
                  <a:srgbClr val="1F2328"/>
                </a:solidFill>
                <a:latin typeface="Courier New"/>
              </a:rPr>
              <a:t>.</a:t>
            </a:r>
            <a:r>
              <a:rPr sz="1500" b="0" i="0">
                <a:solidFill>
                  <a:srgbClr val="1F2328"/>
                </a:solidFill>
                <a:latin typeface="Courier New"/>
              </a:rPr>
              <a:t>load_workbook</a:t>
            </a:r>
            <a:r>
              <a:rPr sz="1500" b="0" i="0">
                <a:solidFill>
                  <a:srgbClr val="1F2328"/>
                </a:solidFill>
                <a:latin typeface="Courier New"/>
              </a:rPr>
              <a:t>(</a:t>
            </a:r>
            <a:r>
              <a:rPr sz="1500" b="0" i="0">
                <a:solidFill>
                  <a:srgbClr val="1F2328"/>
                </a:solidFill>
                <a:latin typeface="Courier New"/>
              </a:rPr>
              <a:t>path</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worksheets</a:t>
            </a:r>
            <a:r>
              <a:rPr sz="1500" b="0" i="0">
                <a:solidFill>
                  <a:srgbClr val="1F2328"/>
                </a:solidFill>
                <a:latin typeface="Courier New"/>
              </a:rPr>
              <a:t>[</a:t>
            </a:r>
            <a:r>
              <a:rPr sz="1500" b="0" i="0">
                <a:solidFill>
                  <a:srgbClr val="3B4046"/>
                </a:solidFill>
                <a:latin typeface="Courier New"/>
              </a:rPr>
              <a:t>0</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dims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ws</a:t>
            </a:r>
            <a:r>
              <a:rPr sz="1500" b="0" i="0">
                <a:solidFill>
                  <a:srgbClr val="1F2328"/>
                </a:solidFill>
                <a:latin typeface="Courier New"/>
              </a:rPr>
              <a:t>.</a:t>
            </a:r>
            <a:r>
              <a:rPr sz="1500" b="0" i="0">
                <a:solidFill>
                  <a:srgbClr val="1F2328"/>
                </a:solidFill>
                <a:latin typeface="Courier New"/>
              </a:rPr>
              <a:t>column_dimensions</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hid</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c</a:t>
            </a:r>
            <a:r>
              <a:rPr sz="1500" b="0" i="0">
                <a:solidFill>
                  <a:srgbClr val="1F2328"/>
                </a:solidFill>
                <a:latin typeface="Courier New"/>
              </a:rPr>
              <a:t> </a:t>
            </a:r>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c</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dims</a:t>
            </a:r>
            <a:r>
              <a:rPr sz="1500" b="0" i="0">
                <a:solidFill>
                  <a:srgbClr val="1F2328"/>
                </a:solidFill>
                <a:latin typeface="Courier New"/>
              </a:rPr>
              <a:t> </a:t>
            </a:r>
            <a:r>
              <a:rPr sz="1500" b="1" i="0">
                <a:solidFill>
                  <a:srgbClr val="1F2328"/>
                </a:solidFill>
                <a:latin typeface="Courier New"/>
              </a:rPr>
              <a:t>if</a:t>
            </a:r>
            <a:r>
              <a:rPr sz="1500" b="0" i="0">
                <a:solidFill>
                  <a:srgbClr val="1F2328"/>
                </a:solidFill>
                <a:latin typeface="Courier New"/>
              </a:rPr>
              <a:t> </a:t>
            </a:r>
            <a:r>
              <a:rPr sz="1500" b="0" i="0">
                <a:solidFill>
                  <a:srgbClr val="1F2328"/>
                </a:solidFill>
                <a:latin typeface="Courier New"/>
              </a:rPr>
              <a:t>dims</a:t>
            </a:r>
            <a:r>
              <a:rPr sz="1500" b="0" i="0">
                <a:solidFill>
                  <a:srgbClr val="1F2328"/>
                </a:solidFill>
                <a:latin typeface="Courier New"/>
              </a:rPr>
              <a:t>[</a:t>
            </a:r>
            <a:r>
              <a:rPr sz="1500" b="0" i="0">
                <a:solidFill>
                  <a:srgbClr val="1F2328"/>
                </a:solidFill>
                <a:latin typeface="Courier New"/>
              </a:rPr>
              <a:t>c</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hidden</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m</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len</a:t>
            </a:r>
            <a:r>
              <a:rPr sz="1500" b="0" i="0">
                <a:solidFill>
                  <a:srgbClr val="1F2328"/>
                </a:solidFill>
                <a:latin typeface="Courier New"/>
              </a:rPr>
              <a:t>(</a:t>
            </a:r>
            <a:r>
              <a:rPr sz="1500" b="0" i="0">
                <a:solidFill>
                  <a:srgbClr val="1F2328"/>
                </a:solidFill>
                <a:latin typeface="Courier New"/>
              </a:rPr>
              <a:t>ws</a:t>
            </a:r>
            <a:r>
              <a:rPr sz="1500" b="0" i="0">
                <a:solidFill>
                  <a:srgbClr val="1F2328"/>
                </a:solidFill>
                <a:latin typeface="Courier New"/>
              </a:rPr>
              <a:t>.</a:t>
            </a:r>
            <a:r>
              <a:rPr sz="1500" b="0" i="0">
                <a:solidFill>
                  <a:srgbClr val="1F2328"/>
                </a:solidFill>
                <a:latin typeface="Courier New"/>
              </a:rPr>
              <a:t>merged_cells</a:t>
            </a:r>
            <a:r>
              <a:rPr sz="1500" b="0" i="0">
                <a:solidFill>
                  <a:srgbClr val="1F2328"/>
                </a:solidFill>
                <a:latin typeface="Courier New"/>
              </a:rPr>
              <a:t>.</a:t>
            </a:r>
            <a:r>
              <a:rPr sz="1500" b="0" i="0">
                <a:solidFill>
                  <a:srgbClr val="1F2328"/>
                </a:solidFill>
                <a:latin typeface="Courier New"/>
              </a:rPr>
              <a:t>ranges</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path</a:t>
            </a:r>
            <a:r>
              <a:rPr sz="1500" b="0" i="0">
                <a:solidFill>
                  <a:srgbClr val="1F2328"/>
                </a:solidFill>
                <a:latin typeface="Courier New"/>
              </a:rPr>
              <a:t>[</a:t>
            </a:r>
            <a:r>
              <a:rPr sz="1500" b="0" i="0">
                <a:solidFill>
                  <a:srgbClr val="3B4046"/>
                </a:solidFill>
                <a:latin typeface="Courier New"/>
              </a:rPr>
              <a:t>15</a:t>
            </a:r>
            <a:r>
              <a:rPr sz="1500" b="0" i="0">
                <a:solidFill>
                  <a:srgbClr val="1F2328"/>
                </a:solidFill>
                <a:latin typeface="Courier New"/>
              </a:rPr>
              <a:t>:</a:t>
            </a:r>
            <a:r>
              <a:rPr sz="1500" b="0" i="0">
                <a:solidFill>
                  <a:srgbClr val="3B4046"/>
                </a:solidFill>
                <a:latin typeface="Courier New"/>
              </a:rPr>
              <a:t>35</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ws</a:t>
            </a:r>
            <a:r>
              <a:rPr sz="1500" b="0" i="0">
                <a:solidFill>
                  <a:srgbClr val="1F2328"/>
                </a:solidFill>
                <a:latin typeface="Courier New"/>
              </a:rPr>
              <a:t>.</a:t>
            </a:r>
            <a:r>
              <a:rPr sz="1500" b="0" i="0">
                <a:solidFill>
                  <a:srgbClr val="1F2328"/>
                </a:solidFill>
                <a:latin typeface="Courier New"/>
              </a:rPr>
              <a:t>dimensions</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m</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hid</a:t>
            </a:r>
            <a:r>
              <a:rPr sz="1500" b="0" i="0">
                <a:solidFill>
                  <a:srgbClr val="1F2328"/>
                </a:solidFill>
                <a:latin typeface="Courier New"/>
              </a:rPr>
              <a:t>)</a:t>
            </a:r>
          </a:p>
        </p:txBody>
      </p:sp>
      <p:grpSp>
        <p:nvGrpSpPr>
          <p:cNvPr id="7" name="output"/>
          <p:cNvGrpSpPr/>
          <p:nvPr/>
        </p:nvGrpSpPr>
        <p:grpSpPr>
          <a:xfrm>
            <a:off x="685800" y="3621024"/>
            <a:ext cx="6949440" cy="1591056"/>
            <a:chOff x="685800" y="3621024"/>
            <a:chExt cx="6949440" cy="1591056"/>
          </a:xfrm>
        </p:grpSpPr>
        <p:sp>
          <p:nvSpPr>
            <p:cNvPr id="8" name="TextBox 7"/>
            <p:cNvSpPr txBox="1"/>
            <p:nvPr/>
          </p:nvSpPr>
          <p:spPr>
            <a:xfrm>
              <a:off x="685800" y="3621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77056"/>
              <a:ext cx="6949440" cy="1335024"/>
            </a:xfrm>
            <a:prstGeom prst="rect">
              <a:avLst/>
            </a:prstGeom>
            <a:solidFill>
              <a:srgbClr val="F5F3EF"/>
            </a:solidFill>
            <a:ln>
              <a:noFill/>
            </a:ln>
          </p:spPr>
          <p:txBody>
            <a:bodyPr rtlCol="0" anchor="ctr"/>
            <a:lstStyle/>
            <a:p>
              <a:pPr algn="ctr"/>
            </a:p>
          </p:txBody>
        </p:sp>
        <p:sp>
          <p:nvSpPr>
            <p:cNvPr id="10" name="TextBox 9"/>
            <p:cNvSpPr txBox="1"/>
            <p:nvPr/>
          </p:nvSpPr>
          <p:spPr>
            <a:xfrm>
              <a:off x="868680" y="3968496"/>
              <a:ext cx="6675120" cy="1225295"/>
            </a:xfrm>
            <a:prstGeom prst="rect">
              <a:avLst/>
            </a:prstGeom>
            <a:noFill/>
          </p:spPr>
          <p:txBody>
            <a:bodyPr wrap="none" lIns="0" rIns="0" tIns="0" bIns="0">
              <a:spAutoFit/>
            </a:bodyPr>
            <a:lstStyle/>
            <a:p>
              <a:r>
                <a:rPr sz="1400" b="0" i="0">
                  <a:solidFill>
                    <a:srgbClr val="1F2328"/>
                  </a:solidFill>
                  <a:latin typeface="Courier New"/>
                </a:rPr>
                <a:t>Branch Report - Kamp A1:F16 1 []</a:t>
              </a:r>
            </a:p>
            <a:p>
              <a:r>
                <a:rPr sz="1400" b="0" i="0">
                  <a:solidFill>
                    <a:srgbClr val="1F2328"/>
                  </a:solidFill>
                  <a:latin typeface="Courier New"/>
                </a:rPr>
                <a:t>Entebbe Sep26.xlsx A1:D15 0 []</a:t>
              </a:r>
            </a:p>
            <a:p>
              <a:r>
                <a:rPr sz="1400" b="0" i="0">
                  <a:solidFill>
                    <a:srgbClr val="1F2328"/>
                  </a:solidFill>
                  <a:latin typeface="Courier New"/>
                </a:rPr>
                <a:t>Jinja_main_branch_re A1:C20 0 []</a:t>
              </a:r>
            </a:p>
            <a:p>
              <a:r>
                <a:rPr sz="1400" b="0" i="0">
                  <a:solidFill>
                    <a:srgbClr val="1F2328"/>
                  </a:solidFill>
                  <a:latin typeface="Courier New"/>
                </a:rPr>
                <a:t>Mbarara Branch KPI.x A1:F8 0 []</a:t>
              </a:r>
            </a:p>
            <a:p>
              <a:r>
                <a:rPr sz="1400" b="0" i="0">
                  <a:solidFill>
                    <a:srgbClr val="1F2328"/>
                  </a:solidFill>
                  <a:latin typeface="Courier New"/>
                </a:rPr>
                <a:t>Nairobi Westlands -  A1:E13 1 ['B']</a:t>
              </a:r>
            </a:p>
            <a:p>
              <a:r>
                <a:rPr sz="1400" b="0" i="0">
                  <a:solidFill>
                    <a:srgbClr val="1F2328"/>
                  </a:solidFill>
                  <a:latin typeface="Courier New"/>
                </a:rPr>
                <a:t>Ntinda Branch Quarte A1:G14 2 []</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1800" b="0" i="0">
                  <a:solidFill>
                    <a:srgbClr val="1F2328"/>
                  </a:solidFill>
                  <a:latin typeface="Calibri"/>
                </a:rPr>
                <a:t>Open the first sheet of each branch report. Print its used area, merged blocks and hidden columns.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Six files, six different layouts.</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spreadsheet or a catalogue for the inventory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Spreadsheet</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One person types and updates it</a:t>
              </a:r>
            </a:p>
          </p:txBody>
        </p:sp>
        <p:cxnSp>
          <p:nvCxnSpPr>
            <p:cNvPr id="10" name="Connector 9"/>
            <p:cNvCxnSpPr/>
            <p:nvPr/>
          </p:nvCxnSpPr>
          <p:spPr>
            <a:xfrm>
              <a:off x="685800" y="2926080"/>
              <a:ext cx="5090007" cy="0"/>
            </a:xfrm>
            <a:prstGeom prst="line">
              <a:avLst/>
            </a:prstGeom>
            <a:ln w="6350">
              <a:solidFill>
                <a:srgbClr val="C9C5BC"/>
              </a:solidFill>
            </a:ln>
          </p:spPr>
        </p:cxnSp>
        <p:sp>
          <p:nvSpPr>
            <p:cNvPr id="11" name="TextBox 10"/>
            <p:cNvSpPr txBox="1"/>
            <p:nvPr/>
          </p:nvSpPr>
          <p:spPr>
            <a:xfrm>
              <a:off x="685800"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Free, and ready this afternoon</a:t>
              </a:r>
            </a:p>
          </p:txBody>
        </p:sp>
        <p:cxnSp>
          <p:nvCxnSpPr>
            <p:cNvPr id="12" name="Connector 11"/>
            <p:cNvCxnSpPr/>
            <p:nvPr/>
          </p:nvCxnSpPr>
          <p:spPr>
            <a:xfrm>
              <a:off x="685800" y="3611880"/>
              <a:ext cx="5090007" cy="0"/>
            </a:xfrm>
            <a:prstGeom prst="line">
              <a:avLst/>
            </a:prstGeom>
            <a:ln w="6350">
              <a:solidFill>
                <a:srgbClr val="C9C5BC"/>
              </a:solidFill>
            </a:ln>
          </p:spPr>
        </p:cxnSp>
        <p:sp>
          <p:nvSpPr>
            <p:cNvPr id="13" name="TextBox 12"/>
            <p:cNvSpPr txBox="1"/>
            <p:nvPr/>
          </p:nvSpPr>
          <p:spPr>
            <a:xfrm>
              <a:off x="685800"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Goes stale the week after it is filled</a:t>
              </a:r>
            </a:p>
          </p:txBody>
        </p:sp>
        <p:cxnSp>
          <p:nvCxnSpPr>
            <p:cNvPr id="14" name="Connector 13"/>
            <p:cNvCxnSpPr/>
            <p:nvPr/>
          </p:nvCxnSpPr>
          <p:spPr>
            <a:xfrm>
              <a:off x="685800" y="4297680"/>
              <a:ext cx="5090007" cy="0"/>
            </a:xfrm>
            <a:prstGeom prst="line">
              <a:avLst/>
            </a:prstGeom>
            <a:ln w="6350">
              <a:solidFill>
                <a:srgbClr val="C9C5BC"/>
              </a:solidFill>
            </a:ln>
          </p:spPr>
        </p:cxnSp>
        <p:sp>
          <p:nvSpPr>
            <p:cNvPr id="15" name="TextBox 14"/>
            <p:cNvSpPr txBox="1"/>
            <p:nvPr/>
          </p:nvSpPr>
          <p:spPr>
            <a:xfrm>
              <a:off x="685800"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Enough for Kitara's 14 sources</a:t>
              </a:r>
            </a:p>
          </p:txBody>
        </p:sp>
      </p:grpSp>
      <p:grpSp>
        <p:nvGrpSpPr>
          <p:cNvPr id="16" name="side-2"/>
          <p:cNvGrpSpPr/>
          <p:nvPr/>
        </p:nvGrpSpPr>
        <p:grpSpPr>
          <a:xfrm>
            <a:off x="6415887" y="1600200"/>
            <a:ext cx="5090008" cy="3364992"/>
            <a:chOff x="6415887" y="1600200"/>
            <a:chExt cx="5090008" cy="3364992"/>
          </a:xfrm>
        </p:grpSpPr>
        <p:sp>
          <p:nvSpPr>
            <p:cNvPr id="17" name="TextBox 16"/>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Data catalogue</a:t>
              </a:r>
            </a:p>
          </p:txBody>
        </p:sp>
        <p:cxnSp>
          <p:nvCxnSpPr>
            <p:cNvPr id="18" name="Connector 17"/>
            <p:cNvCxnSpPr/>
            <p:nvPr/>
          </p:nvCxnSpPr>
          <p:spPr>
            <a:xfrm>
              <a:off x="6415887" y="2167128"/>
              <a:ext cx="5090008" cy="0"/>
            </a:xfrm>
            <a:prstGeom prst="line">
              <a:avLst/>
            </a:prstGeom>
            <a:ln w="15875">
              <a:solidFill>
                <a:srgbClr val="1F2328"/>
              </a:solidFill>
            </a:ln>
          </p:spPr>
        </p:cxnSp>
        <p:sp>
          <p:nvSpPr>
            <p:cNvPr id="19" name="TextBox 18"/>
            <p:cNvSpPr txBox="1"/>
            <p:nvPr/>
          </p:nvSpPr>
          <p:spPr>
            <a:xfrm>
              <a:off x="6415887"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Software that reads system details itself</a:t>
              </a:r>
            </a:p>
          </p:txBody>
        </p:sp>
        <p:cxnSp>
          <p:nvCxnSpPr>
            <p:cNvPr id="20" name="Connector 19"/>
            <p:cNvCxnSpPr/>
            <p:nvPr/>
          </p:nvCxnSpPr>
          <p:spPr>
            <a:xfrm>
              <a:off x="6415887" y="2926080"/>
              <a:ext cx="5090008" cy="0"/>
            </a:xfrm>
            <a:prstGeom prst="line">
              <a:avLst/>
            </a:prstGeom>
            <a:ln w="6350">
              <a:solidFill>
                <a:srgbClr val="C9C5BC"/>
              </a:solidFill>
            </a:ln>
          </p:spPr>
        </p:cxnSp>
        <p:sp>
          <p:nvSpPr>
            <p:cNvPr id="21" name="TextBox 20"/>
            <p:cNvSpPr txBox="1"/>
            <p:nvPr/>
          </p:nvSpPr>
          <p:spPr>
            <a:xfrm>
              <a:off x="6415887"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Staff search it by name or topic</a:t>
              </a:r>
            </a:p>
          </p:txBody>
        </p:sp>
        <p:cxnSp>
          <p:nvCxnSpPr>
            <p:cNvPr id="22" name="Connector 21"/>
            <p:cNvCxnSpPr/>
            <p:nvPr/>
          </p:nvCxnSpPr>
          <p:spPr>
            <a:xfrm>
              <a:off x="6415887" y="3611880"/>
              <a:ext cx="5090008" cy="0"/>
            </a:xfrm>
            <a:prstGeom prst="line">
              <a:avLst/>
            </a:prstGeom>
            <a:ln w="6350">
              <a:solidFill>
                <a:srgbClr val="C9C5BC"/>
              </a:solidFill>
            </a:ln>
          </p:spPr>
        </p:cxnSp>
        <p:sp>
          <p:nvSpPr>
            <p:cNvPr id="23" name="TextBox 22"/>
            <p:cNvSpPr txBox="1"/>
            <p:nvPr/>
          </p:nvSpPr>
          <p:spPr>
            <a:xfrm>
              <a:off x="6415887"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Owner and class sit on each entry</a:t>
              </a:r>
            </a:p>
          </p:txBody>
        </p:sp>
        <p:cxnSp>
          <p:nvCxnSpPr>
            <p:cNvPr id="24" name="Connector 23"/>
            <p:cNvCxnSpPr/>
            <p:nvPr/>
          </p:nvCxnSpPr>
          <p:spPr>
            <a:xfrm>
              <a:off x="6415887" y="4297680"/>
              <a:ext cx="5090008" cy="0"/>
            </a:xfrm>
            <a:prstGeom prst="line">
              <a:avLst/>
            </a:prstGeom>
            <a:ln w="6350">
              <a:solidFill>
                <a:srgbClr val="C9C5BC"/>
              </a:solidFill>
            </a:ln>
          </p:spPr>
        </p:cxnSp>
        <p:sp>
          <p:nvSpPr>
            <p:cNvPr id="25" name="TextBox 24"/>
            <p:cNvSpPr txBox="1"/>
            <p:nvPr/>
          </p:nvSpPr>
          <p:spPr>
            <a:xfrm>
              <a:off x="6415887"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Worth it when no one person can keep up</a:t>
              </a:r>
            </a:p>
          </p:txBody>
        </p:sp>
      </p:grpSp>
      <p:grpSp>
        <p:nvGrpSpPr>
          <p:cNvPr id="26" name="verdict"/>
          <p:cNvGrpSpPr/>
          <p:nvPr/>
        </p:nvGrpSpPr>
        <p:grpSpPr>
          <a:xfrm>
            <a:off x="685800" y="5257800"/>
            <a:ext cx="10820095" cy="978408"/>
            <a:chOff x="685800" y="5257800"/>
            <a:chExt cx="10820095" cy="978408"/>
          </a:xfrm>
        </p:grpSpPr>
        <p:cxnSp>
          <p:nvCxnSpPr>
            <p:cNvPr id="27" name="Connector 26"/>
            <p:cNvCxnSpPr/>
            <p:nvPr/>
          </p:nvCxnSpPr>
          <p:spPr>
            <a:xfrm>
              <a:off x="685800" y="5257800"/>
              <a:ext cx="10820095" cy="0"/>
            </a:xfrm>
            <a:prstGeom prst="line">
              <a:avLst/>
            </a:prstGeom>
            <a:ln w="15875">
              <a:solidFill>
                <a:srgbClr val="1F2328"/>
              </a:solidFill>
            </a:ln>
          </p:spPr>
        </p:cxnSp>
        <p:sp>
          <p:nvSpPr>
            <p:cNvPr id="28" name="TextBox 27"/>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Start with the spreadsheet. Move to a catalogue when the list outgrows the person who keeps it.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Two free catalogues and what to check on their licences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graphicFrame>
        <p:nvGraphicFramePr>
          <p:cNvPr id="5" name="Table"/>
          <p:cNvGraphicFramePr>
            <a:graphicFrameLocks noGrp="1"/>
          </p:cNvGraphicFramePr>
          <p:nvPr/>
        </p:nvGraphicFramePr>
        <p:xfrm>
          <a:off x="685800" y="1600200"/>
          <a:ext cx="10820094" cy="3381450"/>
        </p:xfrm>
        <a:graphic>
          <a:graphicData uri="http://schemas.openxmlformats.org/drawingml/2006/table">
            <a:tbl>
              <a:tblPr firstRow="0" bandRow="0">
                <a:tableStyleId>{2D5ABB26-0587-4C30-8999-92F81FD0307C}</a:tableStyleId>
              </a:tblPr>
              <a:tblGrid>
                <a:gridCol w="2287174"/>
                <a:gridCol w="3958571"/>
                <a:gridCol w="4574349"/>
              </a:tblGrid>
              <a:tr h="778459">
                <a:tc>
                  <a:txBody>
                    <a:bodyPr wrap="square"/>
                    <a:lstStyle/>
                    <a:p>
                      <a:r>
                        <a:rPr sz="2200" b="1" i="0">
                          <a:solidFill>
                            <a:srgbClr val="1F2328"/>
                          </a:solidFill>
                          <a:latin typeface="Calibri"/>
                        </a:rPr>
                        <a:t>Tool</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What it is</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Licence, as reported in October 2026</a:t>
                      </a:r>
                    </a:p>
                  </a:txBody>
                  <a:tcPr marL="137160" marR="91440" marT="64008" marB="64008" anchor="ctr">
                    <a:lnL w="0">
                      <a:noFill/>
                    </a:lnL>
                    <a:lnR w="0">
                      <a:noFill/>
                    </a:lnR>
                    <a:lnT w="0">
                      <a:noFill/>
                    </a:lnT>
                    <a:lnB w="15875">
                      <a:solidFill>
                        <a:srgbClr val="1F2328"/>
                      </a:solidFill>
                    </a:lnB>
                    <a:noFill/>
                  </a:tcPr>
                </a:tc>
              </a:tr>
              <a:tr h="1127150">
                <a:tc>
                  <a:txBody>
                    <a:bodyPr wrap="square"/>
                    <a:lstStyle/>
                    <a:p>
                      <a:r>
                        <a:rPr sz="2200" b="0" i="0">
                          <a:solidFill>
                            <a:srgbClr val="3B4046"/>
                          </a:solidFill>
                          <a:latin typeface="Calibri"/>
                        </a:rPr>
                        <a:t>DataHub</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Open source metadata platform</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Apache 2.0. The repository's LICENSE file says so</a:t>
                      </a:r>
                    </a:p>
                  </a:txBody>
                  <a:tcPr marL="137160" marR="91440" marT="64008" marB="64008" anchor="ctr">
                    <a:lnL w="0">
                      <a:noFill/>
                    </a:lnL>
                    <a:lnR w="0">
                      <a:noFill/>
                    </a:lnR>
                    <a:lnT w="0">
                      <a:noFill/>
                    </a:lnT>
                    <a:lnB w="6350">
                      <a:solidFill>
                        <a:srgbClr val="C9C5BC"/>
                      </a:solidFill>
                    </a:lnB>
                    <a:noFill/>
                  </a:tcPr>
                </a:tc>
              </a:tr>
              <a:tr h="1475841">
                <a:tc>
                  <a:txBody>
                    <a:bodyPr wrap="square"/>
                    <a:lstStyle/>
                    <a:p>
                      <a:r>
                        <a:rPr sz="2200" b="0" i="0">
                          <a:solidFill>
                            <a:srgbClr val="3B4046"/>
                          </a:solidFill>
                          <a:latin typeface="Calibri"/>
                        </a:rPr>
                        <a:t>OpenMetadata</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Open source catalogue with lineage and quality</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Apache 2.0 at the root. Ingestion and UI folders reported under the Collate Community Licence</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Read the LICENSE files in each repository yourself before you install. Paid hosted versions exist. We use none.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Lineage: where the board pack numbers come from</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pic>
        <p:nvPicPr>
          <p:cNvPr id="5" name="figure-lineage_graph" descr="A left to right graph of the Kitara data assets from source systems to reports and the board pack, with the document search chain in clay and manual copy steps dashed."/>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1950" b="0" i="0">
                  <a:solidFill>
                    <a:srgbClr val="1F2328"/>
                  </a:solidFill>
                  <a:latin typeface="Calibri"/>
                </a:rPr>
                <a:t>Reading left to right: source systems, staging, cleaned tables, a mart, reports and the board pack.</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Dashed lines are steps where a person copies the numbers by hand.</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000" b="0" i="0">
                  <a:solidFill>
                    <a:srgbClr val="1F2328"/>
                  </a:solidFill>
                  <a:latin typeface="Calibri"/>
                </a:rPr>
                <a:t>The clay line, the claims documents chain, is the only path into a search index.</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27 assets and 25 edges from lineage_edges.csv.</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Workshop: build your inventory of ten sources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1800" b="0" i="0">
                <a:solidFill>
                  <a:srgbClr val="1F2328"/>
                </a:solidFill>
                <a:latin typeface="Calibri"/>
              </a:rPr>
              <a:t>Open Data Inventory.xlsx and load the 14 Kitara rows from sources.csv</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1950" b="0" i="0">
                <a:solidFill>
                  <a:srgbClr val="1F2328"/>
                </a:solidFill>
                <a:latin typeface="Calibri"/>
              </a:rPr>
              <a:t>Read the Missing fields column and the summary under the table</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Fix the two wrong classes and the two doubled owners</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050" b="0" i="0">
                <a:solidFill>
                  <a:srgbClr val="1F2328"/>
                </a:solidFill>
                <a:latin typeface="Calibri"/>
              </a:rPr>
              <a:t>Propose an owner, steward and class for each unowned source</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1950" b="0" i="0">
                <a:solidFill>
                  <a:srgbClr val="1F2328"/>
                </a:solidFill>
                <a:latin typeface="Calibri"/>
              </a:rPr>
              <a:t>List ten of your own sources with an owner, a steward and a class</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050" b="0" i="0">
                <a:solidFill>
                  <a:srgbClr val="1F2328"/>
                </a:solidFill>
                <a:latin typeface="Calibri"/>
              </a:rPr>
              <a:t>Write who settles a dispute when two heads claim one source</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100" b="0" i="0">
                <a:solidFill>
                  <a:srgbClr val="1F2328"/>
                </a:solidFill>
                <a:latin typeface="Calibri"/>
              </a:rPr>
              <a:t>Count your blanks, and run the notebook on a folder of yours</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000" b="1" i="0">
                <a:solidFill>
                  <a:srgbClr val="1F2328"/>
                </a:solidFill>
                <a:latin typeface="Cambria"/>
              </a:rPr>
              <a:t>Data Inventory workbook and team notebook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The inventory lists ten of your sources, each with an owner, a steward and a sensitivity class, and you know your blank count.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Kitara records IT as the owner of the claims document archive. Which role is IT really, and who should own it?</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IT is the custodian. The Head of Claims, or whoever Kitara's leaders agree, should own it.</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Which two Kitara sources have the wrong sensitivity class, and what should it be?</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S03 loan origination and S10 HR system. Both should be confidential.</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Who in your organisation will name the owner of each data source, and settle a dispute when two heads claim one?</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000" b="0" i="0">
                  <a:solidFill>
                    <a:srgbClr val="3B4046"/>
                  </a:solidFill>
                  <a:latin typeface="Calibri"/>
                </a:rPr>
                <a:t>A named senior leader, such as the chief data officer or the executive who chairs the data council.</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3   Find, own and catalogue your data</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834390"/>
          </a:xfrm>
          <a:prstGeom prst="rect">
            <a:avLst/>
          </a:prstGeom>
          <a:noFill/>
        </p:spPr>
        <p:txBody>
          <a:bodyPr wrap="square" lIns="0" rIns="0" tIns="18288" bIns="18288" anchor="ctr">
            <a:spAutoFit/>
          </a:bodyPr>
          <a:lstStyle/>
          <a:p>
            <a:pPr algn="l"/>
            <a:r>
              <a:rPr sz="2500" b="0" i="0">
                <a:solidFill>
                  <a:srgbClr val="1F2328"/>
                </a:solidFill>
                <a:latin typeface="Cambria"/>
              </a:rPr>
              <a:t>An inventory lists every source with an owner, a steward and a sensitivity class. Kitara's has 4 owners, 7 stewards and 5 classes missing.</a:t>
            </a:r>
          </a:p>
        </p:txBody>
      </p:sp>
      <p:cxnSp>
        <p:nvCxnSpPr>
          <p:cNvPr id="7" name="Connector 6"/>
          <p:cNvCxnSpPr/>
          <p:nvPr/>
        </p:nvCxnSpPr>
        <p:spPr>
          <a:xfrm>
            <a:off x="685800" y="2526030"/>
            <a:ext cx="10820095" cy="0"/>
          </a:xfrm>
          <a:prstGeom prst="line">
            <a:avLst/>
          </a:prstGeom>
          <a:ln w="6350">
            <a:solidFill>
              <a:srgbClr val="C9C5BC"/>
            </a:solidFill>
          </a:ln>
        </p:spPr>
      </p:cxnSp>
      <p:sp>
        <p:nvSpPr>
          <p:cNvPr id="8" name="TextBox 7"/>
          <p:cNvSpPr txBox="1"/>
          <p:nvPr/>
        </p:nvSpPr>
        <p:spPr>
          <a:xfrm>
            <a:off x="685800" y="2617470"/>
            <a:ext cx="9875520" cy="834390"/>
          </a:xfrm>
          <a:prstGeom prst="rect">
            <a:avLst/>
          </a:prstGeom>
          <a:noFill/>
        </p:spPr>
        <p:txBody>
          <a:bodyPr wrap="square" lIns="0" rIns="0" tIns="18288" bIns="18288" anchor="ctr">
            <a:spAutoFit/>
          </a:bodyPr>
          <a:lstStyle/>
          <a:p>
            <a:pPr algn="l"/>
            <a:r>
              <a:rPr sz="2550" b="0" i="0">
                <a:solidFill>
                  <a:srgbClr val="1F2328"/>
                </a:solidFill>
                <a:latin typeface="Cambria"/>
              </a:rPr>
              <a:t>The owner decides who may use the data. The steward looks after quality. The custodian runs the system.</a:t>
            </a:r>
          </a:p>
        </p:txBody>
      </p:sp>
      <p:cxnSp>
        <p:nvCxnSpPr>
          <p:cNvPr id="9" name="Connector 8"/>
          <p:cNvCxnSpPr/>
          <p:nvPr/>
        </p:nvCxnSpPr>
        <p:spPr>
          <a:xfrm>
            <a:off x="685800" y="3451860"/>
            <a:ext cx="10820095" cy="0"/>
          </a:xfrm>
          <a:prstGeom prst="line">
            <a:avLst/>
          </a:prstGeom>
          <a:ln w="6350">
            <a:solidFill>
              <a:srgbClr val="C9C5BC"/>
            </a:solidFill>
          </a:ln>
        </p:spPr>
      </p:cxnSp>
      <p:sp>
        <p:nvSpPr>
          <p:cNvPr id="10" name="TextBox 9"/>
          <p:cNvSpPr txBox="1"/>
          <p:nvPr/>
        </p:nvSpPr>
        <p:spPr>
          <a:xfrm>
            <a:off x="685800" y="3543300"/>
            <a:ext cx="9875520" cy="834390"/>
          </a:xfrm>
          <a:prstGeom prst="rect">
            <a:avLst/>
          </a:prstGeom>
          <a:noFill/>
        </p:spPr>
        <p:txBody>
          <a:bodyPr wrap="square" lIns="0" rIns="0" tIns="18288" bIns="18288" anchor="ctr">
            <a:spAutoFit/>
          </a:bodyPr>
          <a:lstStyle/>
          <a:p>
            <a:pPr algn="l"/>
            <a:r>
              <a:rPr sz="2550" b="0" i="0">
                <a:solidFill>
                  <a:srgbClr val="1F2328"/>
                </a:solidFill>
                <a:latin typeface="Cambria"/>
              </a:rPr>
              <a:t>Two Kitara classes break its own standard. Personal data hides in transcripts, email and scans.</a:t>
            </a:r>
          </a:p>
        </p:txBody>
      </p:sp>
      <p:cxnSp>
        <p:nvCxnSpPr>
          <p:cNvPr id="11" name="Connector 10"/>
          <p:cNvCxnSpPr/>
          <p:nvPr/>
        </p:nvCxnSpPr>
        <p:spPr>
          <a:xfrm>
            <a:off x="685800" y="4377690"/>
            <a:ext cx="10820095" cy="0"/>
          </a:xfrm>
          <a:prstGeom prst="line">
            <a:avLst/>
          </a:prstGeom>
          <a:ln w="6350">
            <a:solidFill>
              <a:srgbClr val="C9C5BC"/>
            </a:solidFill>
          </a:ln>
        </p:spPr>
      </p:cxnSp>
      <p:sp>
        <p:nvSpPr>
          <p:cNvPr id="12" name="TextBox 11"/>
          <p:cNvSpPr txBox="1"/>
          <p:nvPr/>
        </p:nvSpPr>
        <p:spPr>
          <a:xfrm>
            <a:off x="685800" y="4469130"/>
            <a:ext cx="9875520" cy="834390"/>
          </a:xfrm>
          <a:prstGeom prst="rect">
            <a:avLst/>
          </a:prstGeom>
          <a:noFill/>
        </p:spPr>
        <p:txBody>
          <a:bodyPr wrap="square" lIns="0" rIns="0" tIns="18288" bIns="18288" anchor="ctr">
            <a:spAutoFit/>
          </a:bodyPr>
          <a:lstStyle/>
          <a:p>
            <a:pPr algn="l"/>
            <a:r>
              <a:rPr sz="2550" b="0" i="0">
                <a:solidFill>
                  <a:srgbClr val="1F2328"/>
                </a:solidFill>
                <a:latin typeface="Cambria"/>
              </a:rPr>
              <a:t>A spreadsheet is enough for 14 sources. A catalogue helps when the list outgrows one person.</a:t>
            </a:r>
          </a:p>
        </p:txBody>
      </p:sp>
      <p:cxnSp>
        <p:nvCxnSpPr>
          <p:cNvPr id="13" name="Connector 12"/>
          <p:cNvCxnSpPr/>
          <p:nvPr/>
        </p:nvCxnSpPr>
        <p:spPr>
          <a:xfrm>
            <a:off x="685800" y="5303520"/>
            <a:ext cx="10820095" cy="0"/>
          </a:xfrm>
          <a:prstGeom prst="line">
            <a:avLst/>
          </a:prstGeom>
          <a:ln w="6350">
            <a:solidFill>
              <a:srgbClr val="C9C5BC"/>
            </a:solidFill>
          </a:ln>
        </p:spPr>
      </p:cxnSp>
      <p:sp>
        <p:nvSpPr>
          <p:cNvPr id="14" name="TextBox 13"/>
          <p:cNvSpPr txBox="1"/>
          <p:nvPr/>
        </p:nvSpPr>
        <p:spPr>
          <a:xfrm>
            <a:off x="685800" y="5623560"/>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Quality, metadata and data contracts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