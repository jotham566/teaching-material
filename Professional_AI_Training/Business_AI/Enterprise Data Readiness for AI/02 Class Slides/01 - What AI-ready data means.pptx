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Enterprise Data Readiness for AI. Over twelve sessions you and a colleague from your organisation will build a scored baseline, a tested search over your own documents, and a twelve month plan for the board. Today is Session 1, what AI-ready data means. You'll meet Kitara Group, a bank and insurer in Kampala with a subsidiary in Nairobi, and you'll find three versions of one leave policy sitting in the same folder. By the end you'll have three AI uses written down, each with the data it needs, where it lives and who owns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closing time you'll be able to name an AI use and say which data it depends on. You'll explain, in plain words, how data that is old, missing or out of reach produces a wrong answer, and say where your structured and unstructured data live. The timetable is simple. Ten minutes of warm-up, thirty of teaching, twenty five of live demonstration, a short break, then forty minutes on your own organisation with the canvas, and ten minutes at the end for one decision that only the leader can make.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words today, each with an example from Kitara. A use case is one job you want AI to do. AI-ready data is data the AI can safely read, which means relevant, current, owned, readable and allowed. Structured data sits in rows and columns. Unstructured data is documents, scans, audio and email. Stale data exists but is out of date, and superseded means a newer version has replaced it. A forecast is a prediction by analysts, which matters when we look at published figures.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Before we meet any case study, I'd like to hear from you. First question. Where in your organisation is someone already using AI today? It might be a chatbot on a phone, a fraud rule, a tool in the call centre. And what data goes into it? Take your time.</a:t>
            </a:r>
          </a:p>
          <a:p/>
          <a:p>
            <a:r>
              <a:t>Whatever you named, the data it touches is our subject today. Often I hear that staff paste customer text into a free chatbot, and nobody has asked what that text contains. Second question. Think of the last time a system or a document gave you an answer that turned out to be wrong. Where did that answer come from? No rush.</a:t>
            </a:r>
          </a:p>
          <a:p/>
          <a:p>
            <a:r>
              <a:t>Most of the time it comes from an old version, a record that was never captured, or a source nobody looks after. Those are the failures we'll name today, and we'll watch one happen on Kitara's own files.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organisation we'll work with for all twelve sessions. Kitara Group is a bank and an insurer in Kampala, with a subsidiary in Nairobi. About eighteen hundred staff, thirty eight branches in Uganda and nine in Kenya. It is fictional, so we can open every file without worrying about anyone's privacy.</a:t>
            </a:r>
          </a:p>
          <a:p/>
          <a:p>
            <a:r>
              <a:t>Behind those numbers sit fourteen data sources in the inventory and a shared set of one hundred and twenty one documents. Eleven of those documents have been replaced by newer ones, and the documents themselves don't say so. Keep that in mind. It explains the trouble we'll find in a few minutes.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talk about data, let's be clear about what AI does with it. I find it helps to sort every proposal into one of three jobs.</a:t>
            </a:r>
          </a:p>
          <a:p/>
          <a:p>
            <a:r>
              <a:t>The first is to predict. The system studies past records and estimates what comes next. For Kitara that could be how long a claim will take to settle. It needs many past cases with the outcome written down.</a:t>
            </a:r>
          </a:p>
          <a:p/>
          <a:p>
            <a:r>
              <a:t>The second is to search. Someone asks a question and the system finds the passage or record that answers it. A staff member asks about annual leave and gets the handbook paragraph. It needs documents that are readable and current.</a:t>
            </a:r>
          </a:p>
          <a:p/>
          <a:p>
            <a:r>
              <a:t>The third is to generate. The system writes new text from what it is given, such as a draft reply to a complaint letter. It needs the right letter and the right policy in front of it.</a:t>
            </a:r>
          </a:p>
          <a:p/>
          <a:p>
            <a:r>
              <a:t>When someone in your organisation says we want AI, ask which of the three they mean. The answer tells you which data to look at first.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of you already have data that is good enough for reports. For AI the standard is higher. On the left, data that is ready for analytics. It sits in a system as rows and columns, the totals reconcile, and an analyst looks at the chart and notices when something is odd. One report owner is enough to keep it honest.</a:t>
            </a:r>
          </a:p>
          <a:p/>
          <a:p>
            <a:r>
              <a:t>On the right, data that is ready for AI. The AI reads the actual records or passages, down to the line. So it needs the current version marked as current, a named owner, a known sensitivity, and text that a machine can read. Nobody stands beside it to notice a flaw.</a:t>
            </a:r>
          </a:p>
          <a:p/>
          <a:p>
            <a:r>
              <a:t>The difference shows up in old data. A report can hide it inside a total. An AI answers straight from it, in a confident sentence.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list I'd like you to carry out of the room. Four ways data fails an AI use, each taken from Kitara's files.</a:t>
            </a:r>
          </a:p>
          <a:p/>
          <a:p>
            <a:r>
              <a:t>Missing. The data the use needs was never captured. In the customer table, five hundred and fifty of five thousand records have no national ID. A model that checks identity cannot learn from a blank.</a:t>
            </a:r>
          </a:p>
          <a:p/>
          <a:p>
            <a:r>
              <a:t>Stale. The data exists but is out of date. The 2019 Staff Handbook gives twenty one days of annual leave and the 2025 edition gives twenty eight. All the editions sit in one folder. We'll watch that one fail in a few minutes.</a:t>
            </a:r>
          </a:p>
          <a:p/>
          <a:p>
            <a:r>
              <a:t>Unowned. Nobody answers for the data. Four of Kitara's fourteen sources name no owner, and one of them is the shared drive of policies. When it goes wrong, nobody is asked to fix it.</a:t>
            </a:r>
          </a:p>
          <a:p/>
          <a:p>
            <a:r>
              <a:t>Unreachable. The data exists but the system cannot read it. Eight scanned documents return no text at all to a text reader.</a:t>
            </a:r>
          </a:p>
          <a:p/>
          <a:p>
            <a:r>
              <a:t>When an AI use disappoints, ask which of these four it is. It's usually one of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all this sit? Data comes in three broad kinds. Structured data is rows and columns with fixed fields. The core banking system is the clearest case, six hundred and forty thousand records, each with the same fields.</a:t>
            </a:r>
          </a:p>
          <a:p/>
          <a:p>
            <a:r>
              <a:t>Semi-structured data has some labels but no fixed table. The mobile money log holds forty six million lines. The branch report spreadsheets look alike, yet in a sample of six branches we found six different layouts.</a:t>
            </a:r>
          </a:p>
          <a:p/>
          <a:p>
            <a:r>
              <a:t>Unstructured data is free text, scans, audio and email. The claims archive holds three hundred and ten thousand files. The call centre has three hundred and eighty thousand transcripts, and the shared drive holds fourteen thousand policy documents. Search and generate uses read this third kind, so most of today's examples come from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phrase AI-ready data gets used loosely, so here is the working definition for this course. Data that is relevant to the use, current, owned, readable by the system, and allowed to be used. Five tests.</a:t>
            </a:r>
          </a:p>
          <a:p/>
          <a:p>
            <a:r>
              <a:t>At Kitara, take the staff policy assistant. The 2025 Staff Handbook passes the first tests. But the shared drive around it has no owner and still holds the 2019 and 2022 editions, so the data as a whole is not ready.</a:t>
            </a:r>
          </a:p>
          <a:p/>
          <a:p>
            <a:r>
              <a:t>Think about your own first AI use. Which of the five tests would your data pass today? Say it out loud if it helps. Most tables find at least one test they can't answer, and that's a useful discovery to make before spending money.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check that claim on the files themselves. Three handbook editions, one question: how many days of annual leave?</a:t>
            </a:r>
          </a:p>
          <a:p/>
          <a:p>
            <a:r>
              <a:t>The first lines bring in the tools and read docs_metadata.csv, the spreadsheet that records each document's status. Remember that file.</a:t>
            </a:r>
          </a:p>
          <a:p/>
          <a:p>
            <a:r>
              <a:t>The loop opens each handbook and pulls the text out, whether it's a Word file or a PDF.</a:t>
            </a:r>
          </a:p>
          <a:p/>
          <a:p>
            <a:r>
              <a:t>Then a pattern finds the number just before the words working days of annual leave, and we print it with the document's status.</a:t>
            </a:r>
          </a:p>
          <a:p/>
          <a:p>
            <a:r>
              <a:t>Twenty one, twenty four and twenty eight. Three answers to one question, and the two oldest are marked superseded only in that spreadsheet. The handbooks themselves don't say so.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ask a search system the question an employee would type. This is keyword search, which ranks passages by the words they share with the question.</a:t>
            </a:r>
          </a:p>
          <a:p/>
          <a:p>
            <a:r>
              <a:t>The first two lines read every document and cut the text into passages. The eight scanned files give back no text yet. That's a problem for Session 5.</a:t>
            </a:r>
          </a:p>
          <a:p/>
          <a:p>
            <a:r>
              <a:t>Then we ask the question and keep the top three passages. A keyword search has no idea that one handbook is older than another. It only counts words.</a:t>
            </a:r>
          </a:p>
          <a:p/>
          <a:p>
            <a:r>
              <a:t>First run, on everything. D001, the 2019 handbook, comes first, and D002, the 2022 one, second. The current handbook, D003, comes third. An employee who reads only the top answer is told twenty one days.</a:t>
            </a:r>
          </a:p>
          <a:p/>
          <a:p>
            <a:r>
              <a:t>Second run, with a filter that keeps only current documents. D003, the 2025 handbook, comes first and the old editions are gone. The filter works because the status sits in the spreadsheet and someone wired it in.</a:t>
            </a:r>
          </a:p>
          <a:p/>
          <a:p>
            <a:r>
              <a:t>A document's own text never says it is stale. Someone has to record that fact, and someone has to answer for the record.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the staff policy assistant six months from now, live on the intranet.</a:t>
            </a:r>
          </a:p>
          <a:p/>
          <a:p>
            <a:r>
              <a:t>An employee asks about annual leave and the assistant answers, you get twenty one days, and quotes a handbook. It reads well. Few people check a quotation, so nobody does.</a:t>
            </a:r>
          </a:p>
          <a:p/>
          <a:p>
            <a:r>
              <a:t>The search matches words, and the 2019 handbook uses almost the same words as the 2025 one. Whether a document is still in force is held in a spreadsheet that the search never reads. So the old answer can rise to the top, in a confident sentence.</a:t>
            </a:r>
          </a:p>
          <a:p/>
          <a:p>
            <a:r>
              <a:t>Three repairs. Mark which version is current. Keep superseded editions out of what the search can reach. And give the shared drive an owner who retires old editions when new ones arrive. Your data colleague can do the first two. The third is a decision for you.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one fails on purpose, and I'd like you to read the failure the way a leader should.</a:t>
            </a:r>
          </a:p>
          <a:p/>
          <a:p>
            <a:r>
              <a:t>We read the source inventory, sources.csv, and list every source whose owner column is blank. Four come back. The call centre transcripts, the shared drive of policies, the email archive and the branch report spreadsheets.</a:t>
            </a:r>
          </a:p>
          <a:p/>
          <a:p>
            <a:r>
              <a:t>Then comes an assert, which is a check written as code. It says the list of ownerless sources must be empty. If it isn't, stop and say why.</a:t>
            </a:r>
          </a:p>
          <a:p/>
          <a:p>
            <a:r>
              <a:t>It stopped. Four sources have no named owner, and that message is the finding. We'll build checks like this properly in Session 4. A failed check is useful. A pipeline that carries on without one will feed these four sources to an AI without anyone asking who answers for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hear numbers about stalled AI projects in board rooms and conference talks. Four of them come up again and again, so let's put each in its place.</a:t>
            </a:r>
          </a:p>
          <a:p/>
          <a:p>
            <a:r>
              <a:t>Gartner, in February 2025, forecast that through 2026 organisations will abandon sixty percent of AI projects that lack AI-ready data. That's a forecast. Gartner, in July 2024, forecast that thirty percent of generative AI projects would be abandoned after the proof of concept by the end of 2025. Also a forecast.</a:t>
            </a:r>
          </a:p>
          <a:p/>
          <a:p>
            <a:r>
              <a:t>S&amp;P Global Market Intelligence surveyed about a thousand people in North America and Europe. It reported that forty two percent of companies had abandoned most of their AI initiatives before production. That's a survey.</a:t>
            </a:r>
          </a:p>
          <a:p/>
          <a:p>
            <a:r>
              <a:t>MIT's NANDA group said in July 2025 that ninety five percent of organisations saw no return on generative AI. It labels itself preliminary research, with a hundred and fifty three survey responses and fifty two interviews. Each figure measures something different, and the next table says what to watch for.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I'd use each one. The Gartner sixty percent is a prediction, and it's repeated far more often than it's checked. The more useful part of that release is a survey of data management leaders. Sixty three percent said they lack, or are unsure they have, the right data practices for AI. Reports quote the sample as two hundred and forty eight leaders in one place and one thousand two hundred and three in another, so check the release before you repeat a sample size.</a:t>
            </a:r>
          </a:p>
          <a:p/>
          <a:p>
            <a:r>
              <a:t>Gartner's thirty percent is also a prediction, and I found nothing that checks whether it came true.</a:t>
            </a:r>
          </a:p>
          <a:p/>
          <a:p>
            <a:r>
              <a:t>The S&amp;P number is a share of companies, and it's often repeated as forty two percent abandoning AI altogether. What the companies said was that they abandoned most of their initiatives before production.</a:t>
            </a:r>
          </a:p>
          <a:p/>
          <a:p>
            <a:r>
              <a:t>MIT's ninety five percent comes from a small group of conference attendees, and critics say it treats no profit impact as failure. Call it preliminary research and never quote it as a failure rate. If someone quotes any of these in your board room, ask what it measured and who was asked. Then show them your own files.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numbers, both about data itself. Cisco's AI Readiness Index, published in October 2025, surveyed about eight thousand senior leaders at companies with more than five hundred staff. Nineteen percent said their data infrastructure was fully centralised. The leaders rated themselves, in a vendor's survey, so read it as a self-assessment. Cisco also reported that the thirteen percent of organisations it calls Pacesetters were about four times as likely to move pilots into production.</a:t>
            </a:r>
          </a:p>
          <a:p/>
          <a:p>
            <a:r>
              <a:t>The second is the claim that eighty to ninety percent of enterprise data is unstructured. You'll see it credited to Gartner and to IDC. I could find no original document behind it, and the IDC figures I found, as reported, cover all data created worldwide, which differs from what one company holds. Nobody counts files, so treat it as an estimate.</a:t>
            </a:r>
          </a:p>
          <a:p/>
          <a:p>
            <a:r>
              <a:t>In Session 5 you'll count your own documents. Until then, use both numbers as context and treat your own inventory as the evidence.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connect the failures to four AI uses Kitara could pick. Each column is a use case and each row is something the use needs. A filled dot means it's there, a half dot means there but with a known flaw, and a ring means it's missing.</a:t>
            </a:r>
          </a:p>
          <a:p/>
          <a:p>
            <a:r>
              <a:t>The staff policy assistant has the text. The version question is only partly answered, and nobody owns the shared drive.</a:t>
            </a:r>
          </a:p>
          <a:p/>
          <a:p>
            <a:r>
              <a:t>Claims triage and fraud flagging both need known outcomes to learn from, and no file holds a claim outcome or a fraud flag. A model with no outcomes has nothing to be taught with, however many letters we have.</a:t>
            </a:r>
          </a:p>
          <a:p/>
          <a:p>
            <a:r>
              <a:t>Churn prediction has an owner for its data. It cannot link the transaction log to customers, because the phone numbers in the log are hashed.</a:t>
            </a:r>
          </a:p>
          <a:p/>
          <a:p>
            <a:r>
              <a:t>None of these is ruled out. The grid tells us what to repair first, and the canvas is where you'll draw the same grid for your own organisation.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Use Case Canvas, the workbook called Use Case Canvas dot xlsx that you'll fill in during the workshop. One column per use case, three columns in all, filled from top to bottom in four blocks. Today moves the first of our five dimensions, use cases and sponsorship, and touches the second, data.</a:t>
            </a:r>
          </a:p>
          <a:p/>
          <a:p>
            <a:r>
              <a:t>First, the problem. Give the use case a name your board would recognise. Name the business owner who answers for the result, and write what goes wrong today, with a number if you have one. Say whether the AI task is predict, search or generate.</a:t>
            </a:r>
          </a:p>
          <a:p/>
          <a:p>
            <a:r>
              <a:t>Second, the data. List each data set the use needs, where it lives and who owns it. Then its sensitivity, which is how carefully it must be handled, and whether it holds personal data. If you're unsure about personal data, write yes.</a:t>
            </a:r>
          </a:p>
          <a:p/>
          <a:p>
            <a:r>
              <a:t>Third, the measure. One success measure with a unit, the number today, and the target.</a:t>
            </a:r>
          </a:p>
          <a:p/>
          <a:p>
            <a:r>
              <a:t>Fourth, the decision. Score effort and value from one to five. The sheet divides value by effort to give a priority, and a higher number is a better first use. Then name the main risk and what you need from your sponsor.</a:t>
            </a:r>
          </a:p>
          <a:p/>
          <a:p>
            <a:r>
              <a:t>Spend most of your forty minutes on the second block. Most of the surprises turn up there.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forty minutes, and it is about your own organisation. Open the Use Case Canvas workbook and give each of your three uses a business owner you could name out loud.</a:t>
            </a:r>
          </a:p>
          <a:p/>
          <a:p>
            <a:r>
              <a:t>Write the problem with a number if you have one, and mark whether the job is predict, search or generate. Then list the data each use needs, one line per data set, with where it lives and who owns it. If you can't name an owner, write unknown. An unknown owner is a finding. Next, test every data line against the four failures, missing, stale, unowned and unreachable, and write the main risk under each use.</a:t>
            </a:r>
          </a:p>
          <a:p/>
          <a:p>
            <a:r>
              <a:t>While the leader and the data colleague fill the canvas, the data colleague also opens the team notebook. It walks through the three handbook editions, the stale search answer, the four sources with no owner and the eight scans. Whoever finishes first helps the other.</a:t>
            </a:r>
          </a:p>
          <a:p/>
          <a:p>
            <a:r>
              <a:t>I'll be around the room. Call me over if a data line has you stuck.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Kitara's search put the 2019 handbook first. Which of the four ways data fails is that? Have a think.</a:t>
            </a:r>
          </a:p>
          <a:p/>
          <a:p>
            <a:r>
              <a:t>Stale. The data exists and is out of date, and its status sat in a spreadsheet the search never read.</a:t>
            </a:r>
          </a:p>
          <a:p/>
          <a:p>
            <a:r>
              <a:t>Second. Gartner says sixty percent of AI projects without AI-ready data will be abandoned. What kind of figure is that? Sit with it for a second.</a:t>
            </a:r>
          </a:p>
          <a:p/>
          <a:p>
            <a:r>
              <a:t>A forecast. It's a prediction by analysts, and nobody has counted what happened.</a:t>
            </a:r>
          </a:p>
          <a:p/>
          <a:p>
            <a:r>
              <a:t>Last, and this one is for the leaders. Who in your organisation signs off your first AI use, and who answers for the data it reads? Think it over.</a:t>
            </a:r>
          </a:p>
          <a:p/>
          <a:p>
            <a:r>
              <a:t>Two named people, who may or may not be the same person. If you can't name them yet, that's your first finding, and Session 2 is where we start turning findings like that into scores.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does three jobs with data. It predicts, it searches and it generates, and each one reads different data.</a:t>
            </a:r>
          </a:p>
          <a:p/>
          <a:p>
            <a:r>
              <a:t>Data fails in four ways. It's missing, stale, unowned or unreachable. Kitara showed us all four in its own files, and the 2019 handbook came first in the search.</a:t>
            </a:r>
          </a:p>
          <a:p/>
          <a:p>
            <a:r>
              <a:t>The published figures are forecasts, surveys and estimates, so ask what each one measured and who was asked.</a:t>
            </a:r>
          </a:p>
          <a:p/>
          <a:p>
            <a:r>
              <a:t>And the canvas ties each use to its data, where it lives and who owns it. Keep it close, because the first dimension on next session's scorecard asks about these uses.</a:t>
            </a:r>
          </a:p>
          <a:p/>
          <a:p>
            <a:r>
              <a:t>Next session we score where your organisation stands today, on five dimensions and five levels, with evidence behind every score. It's the first of your three workpieces.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   What AI-ready data means</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01</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1 of 12</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What AI-ready data means</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Which AI uses do we want, and what data does each one need?</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AI-ready data means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Name an AI use and the data it depends on</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350" b="0" i="0">
                <a:solidFill>
                  <a:srgbClr val="1F2328"/>
                </a:solidFill>
                <a:latin typeface="Cambria"/>
              </a:rPr>
              <a:t>Explain how stale, missing or unreachable data produces a wrong answer</a:t>
            </a:r>
          </a:p>
        </p:txBody>
      </p:sp>
      <p:cxnSp>
        <p:nvCxnSpPr>
          <p:cNvPr id="9" name="Connector 8"/>
          <p:cNvCxnSpPr/>
          <p:nvPr/>
        </p:nvCxnSpPr>
        <p:spPr>
          <a:xfrm>
            <a:off x="685800" y="3727704"/>
            <a:ext cx="5394960" cy="0"/>
          </a:xfrm>
          <a:prstGeom prst="line">
            <a:avLst/>
          </a:prstGeom>
          <a:ln w="6350">
            <a:solidFill>
              <a:srgbClr val="C9C5BC"/>
            </a:solidFill>
          </a:ln>
        </p:spPr>
      </p:cxnSp>
      <p:sp>
        <p:nvSpPr>
          <p:cNvPr id="10" name="TextBox 9"/>
          <p:cNvSpPr txBox="1"/>
          <p:nvPr/>
        </p:nvSpPr>
        <p:spPr>
          <a:xfrm>
            <a:off x="685800" y="389229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Say where structured and unstructured data live in your organisation</a:t>
            </a:r>
          </a:p>
        </p:txBody>
      </p:sp>
      <p:cxnSp>
        <p:nvCxnSpPr>
          <p:cNvPr id="11" name="Connector 10"/>
          <p:cNvCxnSpPr/>
          <p:nvPr/>
        </p:nvCxnSpPr>
        <p:spPr>
          <a:xfrm>
            <a:off x="685800" y="4781092"/>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Case and recall</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Teaching</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Workshop on your organisation</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Decision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AI-ready data means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5"/>
        </p:xfrm>
        <a:graphic>
          <a:graphicData uri="http://schemas.openxmlformats.org/drawingml/2006/table">
            <a:tbl>
              <a:tblPr firstRow="0" bandRow="0">
                <a:tableStyleId>{2D5ABB26-0587-4C30-8999-92F81FD0307C}</a:tableStyleId>
              </a:tblPr>
              <a:tblGrid>
                <a:gridCol w="2164019"/>
                <a:gridCol w="5410047"/>
                <a:gridCol w="3246028"/>
              </a:tblGrid>
              <a:tr h="444245">
                <a:tc>
                  <a:txBody>
                    <a:bodyPr wrap="square"/>
                    <a:lstStyle/>
                    <a:p>
                      <a:r>
                        <a:rPr sz="140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40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400" b="1" i="0">
                          <a:solidFill>
                            <a:srgbClr val="1F2328"/>
                          </a:solidFill>
                          <a:latin typeface="Calibri"/>
                        </a:rPr>
                        <a:t>Where you meet it</a:t>
                      </a:r>
                    </a:p>
                  </a:txBody>
                  <a:tcPr marL="137160" marR="91440" marT="64008" marB="64008" anchor="ctr">
                    <a:lnL w="0">
                      <a:noFill/>
                    </a:lnL>
                    <a:lnR w="0">
                      <a:noFill/>
                    </a:lnR>
                    <a:lnT w="0">
                      <a:noFill/>
                    </a:lnT>
                    <a:lnB w="15875">
                      <a:solidFill>
                        <a:srgbClr val="1F2328"/>
                      </a:solidFill>
                    </a:lnB>
                    <a:noFill/>
                  </a:tcPr>
                </a:tc>
              </a:tr>
              <a:tr h="666140">
                <a:tc>
                  <a:txBody>
                    <a:bodyPr wrap="square"/>
                    <a:lstStyle/>
                    <a:p>
                      <a:r>
                        <a:rPr sz="1400" b="1" i="0">
                          <a:solidFill>
                            <a:srgbClr val="1F2328"/>
                          </a:solidFill>
                          <a:latin typeface="Calibri"/>
                        </a:rPr>
                        <a:t>Use case</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One job you want AI to do, with a person who answers for the result.</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Staff policy question answering on the shared drive</a:t>
                      </a:r>
                    </a:p>
                  </a:txBody>
                  <a:tcPr marL="137160" marR="91440" marT="64008" marB="64008" anchor="ctr">
                    <a:lnL w="0">
                      <a:noFill/>
                    </a:lnL>
                    <a:lnR w="0">
                      <a:noFill/>
                    </a:lnR>
                    <a:lnT w="0">
                      <a:noFill/>
                    </a:lnT>
                    <a:lnB w="6350">
                      <a:solidFill>
                        <a:srgbClr val="C9C5BC"/>
                      </a:solidFill>
                    </a:lnB>
                    <a:noFill/>
                  </a:tcPr>
                </a:tc>
              </a:tr>
              <a:tr h="666140">
                <a:tc>
                  <a:txBody>
                    <a:bodyPr wrap="square"/>
                    <a:lstStyle/>
                    <a:p>
                      <a:r>
                        <a:rPr sz="1400" b="1" i="0">
                          <a:solidFill>
                            <a:srgbClr val="1F2328"/>
                          </a:solidFill>
                          <a:latin typeface="Calibri"/>
                        </a:rPr>
                        <a:t>AI-ready data</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Data that is relevant, current, owned, readable by the system and allowed to be used.</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2025 Staff Handbook, but not the shared drive around it</a:t>
                      </a:r>
                    </a:p>
                  </a:txBody>
                  <a:tcPr marL="137160" marR="91440" marT="64008" marB="64008" anchor="ctr">
                    <a:lnL w="0">
                      <a:noFill/>
                    </a:lnL>
                    <a:lnR w="0">
                      <a:noFill/>
                    </a:lnR>
                    <a:lnT w="0">
                      <a:noFill/>
                    </a:lnT>
                    <a:lnB w="6350">
                      <a:solidFill>
                        <a:srgbClr val="C9C5BC"/>
                      </a:solidFill>
                    </a:lnB>
                    <a:noFill/>
                  </a:tcPr>
                </a:tc>
              </a:tr>
              <a:tr h="444245">
                <a:tc>
                  <a:txBody>
                    <a:bodyPr wrap="square"/>
                    <a:lstStyle/>
                    <a:p>
                      <a:r>
                        <a:rPr sz="1400" b="1" i="0">
                          <a:solidFill>
                            <a:srgbClr val="1F2328"/>
                          </a:solidFill>
                          <a:latin typeface="Calibri"/>
                        </a:rPr>
                        <a:t>Structured data</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Data in rows and columns with fixed fields.</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core banking system, S01</a:t>
                      </a:r>
                    </a:p>
                  </a:txBody>
                  <a:tcPr marL="137160" marR="91440" marT="64008" marB="64008" anchor="ctr">
                    <a:lnL w="0">
                      <a:noFill/>
                    </a:lnL>
                    <a:lnR w="0">
                      <a:noFill/>
                    </a:lnR>
                    <a:lnT w="0">
                      <a:noFill/>
                    </a:lnT>
                    <a:lnB w="6350">
                      <a:solidFill>
                        <a:srgbClr val="C9C5BC"/>
                      </a:solidFill>
                    </a:lnB>
                    <a:noFill/>
                  </a:tcPr>
                </a:tc>
              </a:tr>
              <a:tr h="666140">
                <a:tc>
                  <a:txBody>
                    <a:bodyPr wrap="square"/>
                    <a:lstStyle/>
                    <a:p>
                      <a:r>
                        <a:rPr sz="1400" b="1" i="0">
                          <a:solidFill>
                            <a:srgbClr val="1F2328"/>
                          </a:solidFill>
                          <a:latin typeface="Calibri"/>
                        </a:rPr>
                        <a:t>Unstructured data</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Free text, scans, audio and email with no fixed fields.</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121 documents and the claims archive, S06</a:t>
                      </a:r>
                    </a:p>
                  </a:txBody>
                  <a:tcPr marL="137160" marR="91440" marT="64008" marB="64008" anchor="ctr">
                    <a:lnL w="0">
                      <a:noFill/>
                    </a:lnL>
                    <a:lnR w="0">
                      <a:noFill/>
                    </a:lnR>
                    <a:lnT w="0">
                      <a:noFill/>
                    </a:lnT>
                    <a:lnB w="6350">
                      <a:solidFill>
                        <a:srgbClr val="C9C5BC"/>
                      </a:solidFill>
                    </a:lnB>
                    <a:noFill/>
                  </a:tcPr>
                </a:tc>
              </a:tr>
              <a:tr h="444245">
                <a:tc>
                  <a:txBody>
                    <a:bodyPr wrap="square"/>
                    <a:lstStyle/>
                    <a:p>
                      <a:r>
                        <a:rPr sz="1400" b="1" i="0">
                          <a:solidFill>
                            <a:srgbClr val="1F2328"/>
                          </a:solidFill>
                          <a:latin typeface="Calibri"/>
                        </a:rPr>
                        <a:t>Stale data</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Data that exists but is out of date.</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2019 handbook says 21 days of leave</a:t>
                      </a:r>
                    </a:p>
                  </a:txBody>
                  <a:tcPr marL="137160" marR="91440" marT="64008" marB="64008" anchor="ctr">
                    <a:lnL w="0">
                      <a:noFill/>
                    </a:lnL>
                    <a:lnR w="0">
                      <a:noFill/>
                    </a:lnR>
                    <a:lnT w="0">
                      <a:noFill/>
                    </a:lnT>
                    <a:lnB w="6350">
                      <a:solidFill>
                        <a:srgbClr val="C9C5BC"/>
                      </a:solidFill>
                    </a:lnB>
                    <a:noFill/>
                  </a:tcPr>
                </a:tc>
              </a:tr>
              <a:tr h="666140">
                <a:tc>
                  <a:txBody>
                    <a:bodyPr wrap="square"/>
                    <a:lstStyle/>
                    <a:p>
                      <a:r>
                        <a:rPr sz="1400" b="1" i="0">
                          <a:solidFill>
                            <a:srgbClr val="1F2328"/>
                          </a:solidFill>
                          <a:latin typeface="Calibri"/>
                        </a:rPr>
                        <a:t>Superseded</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Replaced by a newer version. The old file usually stays in the folder.</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11 of 121 documents, recorded in docs_metadata.csv</a:t>
                      </a:r>
                    </a:p>
                  </a:txBody>
                  <a:tcPr marL="137160" marR="91440" marT="64008" marB="64008" anchor="ctr">
                    <a:lnL w="0">
                      <a:noFill/>
                    </a:lnL>
                    <a:lnR w="0">
                      <a:noFill/>
                    </a:lnR>
                    <a:lnT w="0">
                      <a:noFill/>
                    </a:lnT>
                    <a:lnB w="6350">
                      <a:solidFill>
                        <a:srgbClr val="C9C5BC"/>
                      </a:solidFill>
                    </a:lnB>
                    <a:noFill/>
                  </a:tcPr>
                </a:tc>
              </a:tr>
              <a:tr h="666140">
                <a:tc>
                  <a:txBody>
                    <a:bodyPr wrap="square"/>
                    <a:lstStyle/>
                    <a:p>
                      <a:r>
                        <a:rPr sz="1400" b="1" i="0">
                          <a:solidFill>
                            <a:srgbClr val="1F2328"/>
                          </a:solidFill>
                          <a:latin typeface="Calibri"/>
                        </a:rPr>
                        <a:t>Forecast</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prediction by analysts about what will happen. Nobody has counted it yet.</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Gartner's 60 percent figure</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your own data and AI</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AI-ready data means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Where is someone in your organisation already using AI, even a free chatbot, and what data goes into it?</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Whatever you name, the data it touches is today's subject.</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Think of the last wrong answer a system or document gave you. Where did that answer come from?</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Usually an old version, a record never captured, or a source nobody looks after.</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Kitara Group, the case for all twelve sessions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AI-ready data means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4592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About 1,800</a:t>
            </a:r>
          </a:p>
        </p:txBody>
      </p:sp>
      <p:sp>
        <p:nvSpPr>
          <p:cNvPr id="7" name="TextBox 6"/>
          <p:cNvSpPr txBox="1"/>
          <p:nvPr/>
        </p:nvSpPr>
        <p:spPr>
          <a:xfrm>
            <a:off x="5257800" y="164592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staff in Kampala and Nairobi</a:t>
            </a:r>
          </a:p>
        </p:txBody>
      </p:sp>
      <p:cxnSp>
        <p:nvCxnSpPr>
          <p:cNvPr id="8" name="Connector 7"/>
          <p:cNvCxnSpPr/>
          <p:nvPr/>
        </p:nvCxnSpPr>
        <p:spPr>
          <a:xfrm>
            <a:off x="685800" y="2491740"/>
            <a:ext cx="10820095" cy="0"/>
          </a:xfrm>
          <a:prstGeom prst="line">
            <a:avLst/>
          </a:prstGeom>
          <a:ln w="6350">
            <a:solidFill>
              <a:srgbClr val="C9C5BC"/>
            </a:solidFill>
          </a:ln>
        </p:spPr>
      </p:cxnSp>
      <p:sp>
        <p:nvSpPr>
          <p:cNvPr id="9" name="TextBox 8"/>
          <p:cNvSpPr txBox="1"/>
          <p:nvPr/>
        </p:nvSpPr>
        <p:spPr>
          <a:xfrm>
            <a:off x="685800" y="253746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47</a:t>
            </a:r>
          </a:p>
        </p:txBody>
      </p:sp>
      <p:sp>
        <p:nvSpPr>
          <p:cNvPr id="10" name="TextBox 9"/>
          <p:cNvSpPr txBox="1"/>
          <p:nvPr/>
        </p:nvSpPr>
        <p:spPr>
          <a:xfrm>
            <a:off x="5257800" y="253746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branches: 38 in Uganda and 9 in Kenya</a:t>
            </a:r>
          </a:p>
        </p:txBody>
      </p:sp>
      <p:cxnSp>
        <p:nvCxnSpPr>
          <p:cNvPr id="11" name="Connector 10"/>
          <p:cNvCxnSpPr/>
          <p:nvPr/>
        </p:nvCxnSpPr>
        <p:spPr>
          <a:xfrm>
            <a:off x="685800" y="3383280"/>
            <a:ext cx="10820095" cy="0"/>
          </a:xfrm>
          <a:prstGeom prst="line">
            <a:avLst/>
          </a:prstGeom>
          <a:ln w="6350">
            <a:solidFill>
              <a:srgbClr val="C9C5BC"/>
            </a:solidFill>
          </a:ln>
        </p:spPr>
      </p:cxnSp>
      <p:sp>
        <p:nvSpPr>
          <p:cNvPr id="12" name="TextBox 11"/>
          <p:cNvSpPr txBox="1"/>
          <p:nvPr/>
        </p:nvSpPr>
        <p:spPr>
          <a:xfrm>
            <a:off x="685800" y="342900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14</a:t>
            </a:r>
          </a:p>
        </p:txBody>
      </p:sp>
      <p:sp>
        <p:nvSpPr>
          <p:cNvPr id="13" name="TextBox 12"/>
          <p:cNvSpPr txBox="1"/>
          <p:nvPr/>
        </p:nvSpPr>
        <p:spPr>
          <a:xfrm>
            <a:off x="5257800" y="342900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data sources in the inventory, sources.csv</a:t>
            </a:r>
          </a:p>
        </p:txBody>
      </p:sp>
      <p:cxnSp>
        <p:nvCxnSpPr>
          <p:cNvPr id="14" name="Connector 13"/>
          <p:cNvCxnSpPr/>
          <p:nvPr/>
        </p:nvCxnSpPr>
        <p:spPr>
          <a:xfrm>
            <a:off x="685800" y="4274820"/>
            <a:ext cx="10820095" cy="0"/>
          </a:xfrm>
          <a:prstGeom prst="line">
            <a:avLst/>
          </a:prstGeom>
          <a:ln w="6350">
            <a:solidFill>
              <a:srgbClr val="C9C5BC"/>
            </a:solidFill>
          </a:ln>
        </p:spPr>
      </p:cxnSp>
      <p:sp>
        <p:nvSpPr>
          <p:cNvPr id="15" name="TextBox 14"/>
          <p:cNvSpPr txBox="1"/>
          <p:nvPr/>
        </p:nvSpPr>
        <p:spPr>
          <a:xfrm>
            <a:off x="685800" y="432054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121</a:t>
            </a:r>
          </a:p>
        </p:txBody>
      </p:sp>
      <p:sp>
        <p:nvSpPr>
          <p:cNvPr id="16" name="TextBox 15"/>
          <p:cNvSpPr txBox="1"/>
          <p:nvPr/>
        </p:nvSpPr>
        <p:spPr>
          <a:xfrm>
            <a:off x="5257800" y="432054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documents in the shared set, 11 of them replaced by newer ones</a:t>
            </a:r>
          </a:p>
        </p:txBody>
      </p:sp>
      <p:cxnSp>
        <p:nvCxnSpPr>
          <p:cNvPr id="17" name="Connector 16"/>
          <p:cNvCxnSpPr/>
          <p:nvPr/>
        </p:nvCxnSpPr>
        <p:spPr>
          <a:xfrm>
            <a:off x="685800" y="5166359"/>
            <a:ext cx="10820095" cy="0"/>
          </a:xfrm>
          <a:prstGeom prst="line">
            <a:avLst/>
          </a:prstGeom>
          <a:ln w="6350">
            <a:solidFill>
              <a:srgbClr val="C9C5BC"/>
            </a:solidFill>
          </a:ln>
        </p:spPr>
      </p:cxnSp>
      <p:sp>
        <p:nvSpPr>
          <p:cNvPr id="18" name="TextBox 17"/>
          <p:cNvSpPr txBox="1"/>
          <p:nvPr/>
        </p:nvSpPr>
        <p:spPr>
          <a:xfrm>
            <a:off x="685800" y="5440679"/>
            <a:ext cx="10820095" cy="914400"/>
          </a:xfrm>
          <a:prstGeom prst="rect">
            <a:avLst/>
          </a:prstGeom>
          <a:noFill/>
        </p:spPr>
        <p:txBody>
          <a:bodyPr wrap="square" lIns="0" rIns="0" tIns="18288" bIns="18288" anchor="t">
            <a:spAutoFit/>
          </a:bodyPr>
          <a:lstStyle/>
          <a:p>
            <a:pPr algn="l"/>
            <a:r>
              <a:rPr sz="2300" b="0" i="0">
                <a:solidFill>
                  <a:srgbClr val="1F2328"/>
                </a:solidFill>
                <a:latin typeface="Cambria"/>
              </a:rPr>
              <a:t>A bank and an insurer with a Kenyan subsidiary. Fictional, built for this course.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Three jobs AI does with data</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AI-ready data means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3387242" cy="2999231"/>
            <a:chOff x="676656" y="2167128"/>
            <a:chExt cx="3387242"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3378098" cy="868680"/>
            </a:xfrm>
            <a:prstGeom prst="rect">
              <a:avLst/>
            </a:prstGeom>
            <a:noFill/>
          </p:spPr>
          <p:txBody>
            <a:bodyPr wrap="square" lIns="0" rIns="0" tIns="18288" bIns="18288" anchor="t">
              <a:spAutoFit/>
            </a:bodyPr>
            <a:lstStyle/>
            <a:p>
              <a:pPr algn="l"/>
              <a:r>
                <a:rPr sz="2400" b="1" i="0">
                  <a:solidFill>
                    <a:srgbClr val="1F2328"/>
                  </a:solidFill>
                  <a:latin typeface="Cambria"/>
                </a:rPr>
                <a:t>Predict</a:t>
              </a:r>
            </a:p>
          </p:txBody>
        </p:sp>
        <p:sp>
          <p:nvSpPr>
            <p:cNvPr id="9" name="TextBox 8"/>
            <p:cNvSpPr txBox="1"/>
            <p:nvPr/>
          </p:nvSpPr>
          <p:spPr>
            <a:xfrm>
              <a:off x="685800" y="3114446"/>
              <a:ext cx="3378098" cy="2051913"/>
            </a:xfrm>
            <a:prstGeom prst="rect">
              <a:avLst/>
            </a:prstGeom>
            <a:noFill/>
          </p:spPr>
          <p:txBody>
            <a:bodyPr wrap="square" lIns="0" rIns="0" tIns="18288" bIns="18288" anchor="t">
              <a:spAutoFit/>
            </a:bodyPr>
            <a:lstStyle/>
            <a:p>
              <a:pPr algn="l"/>
              <a:r>
                <a:rPr sz="2200" b="0" i="0">
                  <a:solidFill>
                    <a:srgbClr val="3B4046"/>
                  </a:solidFill>
                  <a:latin typeface="Calibri"/>
                </a:rPr>
                <a:t>Learns from past records to estimate what comes next. At Kitara, how long a claim will take to settle.</a:t>
              </a:r>
            </a:p>
          </p:txBody>
        </p:sp>
      </p:grpSp>
      <p:grpSp>
        <p:nvGrpSpPr>
          <p:cNvPr id="10" name="step-2"/>
          <p:cNvGrpSpPr/>
          <p:nvPr/>
        </p:nvGrpSpPr>
        <p:grpSpPr>
          <a:xfrm>
            <a:off x="4283354" y="2167128"/>
            <a:ext cx="3387242" cy="2999231"/>
            <a:chOff x="4283354" y="2167128"/>
            <a:chExt cx="3387242" cy="2999231"/>
          </a:xfrm>
        </p:grpSpPr>
        <p:sp>
          <p:nvSpPr>
            <p:cNvPr id="11" name="Oval 10"/>
            <p:cNvSpPr/>
            <p:nvPr/>
          </p:nvSpPr>
          <p:spPr>
            <a:xfrm>
              <a:off x="4283354"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4292498" y="2606040"/>
              <a:ext cx="3378098" cy="868680"/>
            </a:xfrm>
            <a:prstGeom prst="rect">
              <a:avLst/>
            </a:prstGeom>
            <a:noFill/>
          </p:spPr>
          <p:txBody>
            <a:bodyPr wrap="square" lIns="0" rIns="0" tIns="18288" bIns="18288" anchor="t">
              <a:spAutoFit/>
            </a:bodyPr>
            <a:lstStyle/>
            <a:p>
              <a:pPr algn="l"/>
              <a:r>
                <a:rPr sz="2400" b="1" i="0">
                  <a:solidFill>
                    <a:srgbClr val="1F2328"/>
                  </a:solidFill>
                  <a:latin typeface="Cambria"/>
                </a:rPr>
                <a:t>Search</a:t>
              </a:r>
            </a:p>
          </p:txBody>
        </p:sp>
        <p:sp>
          <p:nvSpPr>
            <p:cNvPr id="13" name="TextBox 12"/>
            <p:cNvSpPr txBox="1"/>
            <p:nvPr/>
          </p:nvSpPr>
          <p:spPr>
            <a:xfrm>
              <a:off x="4292498" y="3114446"/>
              <a:ext cx="3378098" cy="2051913"/>
            </a:xfrm>
            <a:prstGeom prst="rect">
              <a:avLst/>
            </a:prstGeom>
            <a:noFill/>
          </p:spPr>
          <p:txBody>
            <a:bodyPr wrap="square" lIns="0" rIns="0" tIns="18288" bIns="18288" anchor="t">
              <a:spAutoFit/>
            </a:bodyPr>
            <a:lstStyle/>
            <a:p>
              <a:pPr algn="l"/>
              <a:r>
                <a:rPr sz="2200" b="0" i="0">
                  <a:solidFill>
                    <a:srgbClr val="3B4046"/>
                  </a:solidFill>
                  <a:latin typeface="Calibri"/>
                </a:rPr>
                <a:t>Finds the passage or record that answers a question. At Kitara, the annual leave rule.</a:t>
              </a:r>
            </a:p>
          </p:txBody>
        </p:sp>
      </p:grpSp>
      <p:grpSp>
        <p:nvGrpSpPr>
          <p:cNvPr id="14" name="step-3"/>
          <p:cNvGrpSpPr/>
          <p:nvPr/>
        </p:nvGrpSpPr>
        <p:grpSpPr>
          <a:xfrm>
            <a:off x="7890052" y="2167128"/>
            <a:ext cx="3387242" cy="2999231"/>
            <a:chOff x="7890052" y="2167128"/>
            <a:chExt cx="3387242" cy="2999231"/>
          </a:xfrm>
        </p:grpSpPr>
        <p:sp>
          <p:nvSpPr>
            <p:cNvPr id="15" name="Oval 14"/>
            <p:cNvSpPr/>
            <p:nvPr/>
          </p:nvSpPr>
          <p:spPr>
            <a:xfrm>
              <a:off x="7890052"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7899196" y="2606040"/>
              <a:ext cx="3378098" cy="868680"/>
            </a:xfrm>
            <a:prstGeom prst="rect">
              <a:avLst/>
            </a:prstGeom>
            <a:noFill/>
          </p:spPr>
          <p:txBody>
            <a:bodyPr wrap="square" lIns="0" rIns="0" tIns="18288" bIns="18288" anchor="t">
              <a:spAutoFit/>
            </a:bodyPr>
            <a:lstStyle/>
            <a:p>
              <a:pPr algn="l"/>
              <a:r>
                <a:rPr sz="2400" b="1" i="0">
                  <a:solidFill>
                    <a:srgbClr val="1F2328"/>
                  </a:solidFill>
                  <a:latin typeface="Cambria"/>
                </a:rPr>
                <a:t>Generate</a:t>
              </a:r>
            </a:p>
          </p:txBody>
        </p:sp>
        <p:sp>
          <p:nvSpPr>
            <p:cNvPr id="17" name="TextBox 16"/>
            <p:cNvSpPr txBox="1"/>
            <p:nvPr/>
          </p:nvSpPr>
          <p:spPr>
            <a:xfrm>
              <a:off x="7899196" y="3114446"/>
              <a:ext cx="3378098" cy="2051913"/>
            </a:xfrm>
            <a:prstGeom prst="rect">
              <a:avLst/>
            </a:prstGeom>
            <a:noFill/>
          </p:spPr>
          <p:txBody>
            <a:bodyPr wrap="square" lIns="0" rIns="0" tIns="18288" bIns="18288" anchor="t">
              <a:spAutoFit/>
            </a:bodyPr>
            <a:lstStyle/>
            <a:p>
              <a:pPr algn="l"/>
              <a:r>
                <a:rPr sz="2200" b="0" i="0">
                  <a:solidFill>
                    <a:srgbClr val="3B4046"/>
                  </a:solidFill>
                  <a:latin typeface="Calibri"/>
                </a:rPr>
                <a:t>Writes new text from what it is given. At Kitara, a draft reply to a complaint letter.</a:t>
              </a:r>
            </a:p>
          </p:txBody>
        </p:sp>
      </p:grpSp>
      <p:cxnSp>
        <p:nvCxnSpPr>
          <p:cNvPr id="18" name="Connector 17"/>
          <p:cNvCxnSpPr/>
          <p:nvPr/>
        </p:nvCxnSpPr>
        <p:spPr>
          <a:xfrm>
            <a:off x="685800" y="5120640"/>
            <a:ext cx="10820095" cy="0"/>
          </a:xfrm>
          <a:prstGeom prst="line">
            <a:avLst/>
          </a:prstGeom>
          <a:ln w="15875">
            <a:solidFill>
              <a:srgbClr val="1F2328"/>
            </a:solidFill>
          </a:ln>
        </p:spPr>
      </p:cxnSp>
      <p:sp>
        <p:nvSpPr>
          <p:cNvPr id="19" name="TextBox 18"/>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Each job reads different data. The data decides how good the output is.</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Data that suits a report does not always suit AI</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AI-ready data means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Ready for analytics</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Rows and columns in one system</a:t>
              </a:r>
            </a:p>
          </p:txBody>
        </p:sp>
        <p:cxnSp>
          <p:nvCxnSpPr>
            <p:cNvPr id="10" name="Connector 9"/>
            <p:cNvCxnSpPr/>
            <p:nvPr/>
          </p:nvCxnSpPr>
          <p:spPr>
            <a:xfrm>
              <a:off x="685800" y="2926080"/>
              <a:ext cx="5090007" cy="0"/>
            </a:xfrm>
            <a:prstGeom prst="line">
              <a:avLst/>
            </a:prstGeom>
            <a:ln w="6350">
              <a:solidFill>
                <a:srgbClr val="C9C5BC"/>
              </a:solidFill>
            </a:ln>
          </p:spPr>
        </p:cxnSp>
        <p:sp>
          <p:nvSpPr>
            <p:cNvPr id="11" name="TextBox 10"/>
            <p:cNvSpPr txBox="1"/>
            <p:nvPr/>
          </p:nvSpPr>
          <p:spPr>
            <a:xfrm>
              <a:off x="685800" y="29626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Totals that reconcile</a:t>
              </a:r>
            </a:p>
          </p:txBody>
        </p:sp>
        <p:cxnSp>
          <p:nvCxnSpPr>
            <p:cNvPr id="12" name="Connector 11"/>
            <p:cNvCxnSpPr/>
            <p:nvPr/>
          </p:nvCxnSpPr>
          <p:spPr>
            <a:xfrm>
              <a:off x="685800" y="3611880"/>
              <a:ext cx="5090007" cy="0"/>
            </a:xfrm>
            <a:prstGeom prst="line">
              <a:avLst/>
            </a:prstGeom>
            <a:ln w="6350">
              <a:solidFill>
                <a:srgbClr val="C9C5BC"/>
              </a:solidFill>
            </a:ln>
          </p:spPr>
        </p:cxnSp>
        <p:sp>
          <p:nvSpPr>
            <p:cNvPr id="13" name="TextBox 12"/>
            <p:cNvSpPr txBox="1"/>
            <p:nvPr/>
          </p:nvSpPr>
          <p:spPr>
            <a:xfrm>
              <a:off x="685800" y="36484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An analyst spots the odd chart</a:t>
              </a:r>
            </a:p>
          </p:txBody>
        </p:sp>
        <p:cxnSp>
          <p:nvCxnSpPr>
            <p:cNvPr id="14" name="Connector 13"/>
            <p:cNvCxnSpPr/>
            <p:nvPr/>
          </p:nvCxnSpPr>
          <p:spPr>
            <a:xfrm>
              <a:off x="685800" y="4297680"/>
              <a:ext cx="5090007" cy="0"/>
            </a:xfrm>
            <a:prstGeom prst="line">
              <a:avLst/>
            </a:prstGeom>
            <a:ln w="6350">
              <a:solidFill>
                <a:srgbClr val="C9C5BC"/>
              </a:solidFill>
            </a:ln>
          </p:spPr>
        </p:cxnSp>
        <p:sp>
          <p:nvSpPr>
            <p:cNvPr id="15" name="TextBox 14"/>
            <p:cNvSpPr txBox="1"/>
            <p:nvPr/>
          </p:nvSpPr>
          <p:spPr>
            <a:xfrm>
              <a:off x="685800" y="43342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One report owner keeps it honest</a:t>
              </a:r>
            </a:p>
          </p:txBody>
        </p:sp>
      </p:grpSp>
      <p:grpSp>
        <p:nvGrpSpPr>
          <p:cNvPr id="16" name="side-2"/>
          <p:cNvGrpSpPr/>
          <p:nvPr/>
        </p:nvGrpSpPr>
        <p:grpSpPr>
          <a:xfrm>
            <a:off x="6415887" y="1600200"/>
            <a:ext cx="5090008" cy="3364992"/>
            <a:chOff x="6415887" y="1600200"/>
            <a:chExt cx="5090008" cy="3364992"/>
          </a:xfrm>
        </p:grpSpPr>
        <p:sp>
          <p:nvSpPr>
            <p:cNvPr id="17" name="TextBox 16"/>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Ready for AI</a:t>
              </a:r>
            </a:p>
          </p:txBody>
        </p:sp>
        <p:cxnSp>
          <p:nvCxnSpPr>
            <p:cNvPr id="18" name="Connector 17"/>
            <p:cNvCxnSpPr/>
            <p:nvPr/>
          </p:nvCxnSpPr>
          <p:spPr>
            <a:xfrm>
              <a:off x="6415887" y="2167128"/>
              <a:ext cx="5090008" cy="0"/>
            </a:xfrm>
            <a:prstGeom prst="line">
              <a:avLst/>
            </a:prstGeom>
            <a:ln w="15875">
              <a:solidFill>
                <a:srgbClr val="1F2328"/>
              </a:solidFill>
            </a:ln>
          </p:spPr>
        </p:cxnSp>
        <p:sp>
          <p:nvSpPr>
            <p:cNvPr id="19" name="TextBox 18"/>
            <p:cNvSpPr txBox="1"/>
            <p:nvPr/>
          </p:nvSpPr>
          <p:spPr>
            <a:xfrm>
              <a:off x="6415887" y="22768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The exact records or passages it reads</a:t>
              </a:r>
            </a:p>
          </p:txBody>
        </p:sp>
        <p:cxnSp>
          <p:nvCxnSpPr>
            <p:cNvPr id="20" name="Connector 19"/>
            <p:cNvCxnSpPr/>
            <p:nvPr/>
          </p:nvCxnSpPr>
          <p:spPr>
            <a:xfrm>
              <a:off x="6415887" y="2926080"/>
              <a:ext cx="5090008" cy="0"/>
            </a:xfrm>
            <a:prstGeom prst="line">
              <a:avLst/>
            </a:prstGeom>
            <a:ln w="6350">
              <a:solidFill>
                <a:srgbClr val="C9C5BC"/>
              </a:solidFill>
            </a:ln>
          </p:spPr>
        </p:cxnSp>
        <p:sp>
          <p:nvSpPr>
            <p:cNvPr id="21" name="TextBox 20"/>
            <p:cNvSpPr txBox="1"/>
            <p:nvPr/>
          </p:nvSpPr>
          <p:spPr>
            <a:xfrm>
              <a:off x="6415887" y="29626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The current version, marked as current</a:t>
              </a:r>
            </a:p>
          </p:txBody>
        </p:sp>
        <p:cxnSp>
          <p:nvCxnSpPr>
            <p:cNvPr id="22" name="Connector 21"/>
            <p:cNvCxnSpPr/>
            <p:nvPr/>
          </p:nvCxnSpPr>
          <p:spPr>
            <a:xfrm>
              <a:off x="6415887" y="3611880"/>
              <a:ext cx="5090008" cy="0"/>
            </a:xfrm>
            <a:prstGeom prst="line">
              <a:avLst/>
            </a:prstGeom>
            <a:ln w="6350">
              <a:solidFill>
                <a:srgbClr val="C9C5BC"/>
              </a:solidFill>
            </a:ln>
          </p:spPr>
        </p:cxnSp>
        <p:sp>
          <p:nvSpPr>
            <p:cNvPr id="23" name="TextBox 22"/>
            <p:cNvSpPr txBox="1"/>
            <p:nvPr/>
          </p:nvSpPr>
          <p:spPr>
            <a:xfrm>
              <a:off x="6415887" y="36484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A named owner and a known sensitivity</a:t>
              </a:r>
            </a:p>
          </p:txBody>
        </p:sp>
        <p:cxnSp>
          <p:nvCxnSpPr>
            <p:cNvPr id="24" name="Connector 23"/>
            <p:cNvCxnSpPr/>
            <p:nvPr/>
          </p:nvCxnSpPr>
          <p:spPr>
            <a:xfrm>
              <a:off x="6415887" y="4297680"/>
              <a:ext cx="5090008" cy="0"/>
            </a:xfrm>
            <a:prstGeom prst="line">
              <a:avLst/>
            </a:prstGeom>
            <a:ln w="6350">
              <a:solidFill>
                <a:srgbClr val="C9C5BC"/>
              </a:solidFill>
            </a:ln>
          </p:spPr>
        </p:cxnSp>
        <p:sp>
          <p:nvSpPr>
            <p:cNvPr id="25" name="TextBox 24"/>
            <p:cNvSpPr txBox="1"/>
            <p:nvPr/>
          </p:nvSpPr>
          <p:spPr>
            <a:xfrm>
              <a:off x="6415887" y="43342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Text a machine can read</a:t>
              </a:r>
            </a:p>
          </p:txBody>
        </p:sp>
      </p:grpSp>
      <p:grpSp>
        <p:nvGrpSpPr>
          <p:cNvPr id="26" name="verdict"/>
          <p:cNvGrpSpPr/>
          <p:nvPr/>
        </p:nvGrpSpPr>
        <p:grpSpPr>
          <a:xfrm>
            <a:off x="685800" y="5257800"/>
            <a:ext cx="10820095" cy="978408"/>
            <a:chOff x="685800" y="5257800"/>
            <a:chExt cx="10820095" cy="978408"/>
          </a:xfrm>
        </p:grpSpPr>
        <p:cxnSp>
          <p:nvCxnSpPr>
            <p:cNvPr id="27" name="Connector 26"/>
            <p:cNvCxnSpPr/>
            <p:nvPr/>
          </p:nvCxnSpPr>
          <p:spPr>
            <a:xfrm>
              <a:off x="685800" y="5257800"/>
              <a:ext cx="10820095" cy="0"/>
            </a:xfrm>
            <a:prstGeom prst="line">
              <a:avLst/>
            </a:prstGeom>
            <a:ln w="15875">
              <a:solidFill>
                <a:srgbClr val="1F2328"/>
              </a:solidFill>
            </a:ln>
          </p:spPr>
        </p:cxnSp>
        <p:sp>
          <p:nvSpPr>
            <p:cNvPr id="28" name="TextBox 27"/>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A report can hide old data inside a total. An AI answers straight from it, in a confident sentence.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Four ways data fails an AI use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AI-ready data means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pic>
        <p:nvPicPr>
          <p:cNvPr id="5" name="figure-data_failure_modes" descr="Four columns naming the ways data fails an AI use: missing, stale, unowned and unreachable, each with a Kitara example and a number."/>
          <p:cNvPicPr>
            <a:picLocks noChangeAspect="1"/>
          </p:cNvPicPr>
          <p:nvPr/>
        </p:nvPicPr>
        <p:blipFill>
          <a:blip r:embed="rId3"/>
          <a:stretch>
            <a:fillRect/>
          </a:stretch>
        </p:blipFill>
        <p:spPr>
          <a:xfrm>
            <a:off x="685800" y="1600200"/>
            <a:ext cx="7040880" cy="2609100"/>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978408"/>
            <a:chOff x="8183879" y="1691640"/>
            <a:chExt cx="3322016" cy="978408"/>
          </a:xfrm>
        </p:grpSpPr>
        <p:sp>
          <p:nvSpPr>
            <p:cNvPr id="8" name="TextBox 7"/>
            <p:cNvSpPr txBox="1"/>
            <p:nvPr/>
          </p:nvSpPr>
          <p:spPr>
            <a:xfrm>
              <a:off x="8183879" y="1691640"/>
              <a:ext cx="320040" cy="960119"/>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941831"/>
            </a:xfrm>
            <a:prstGeom prst="rect">
              <a:avLst/>
            </a:prstGeom>
            <a:noFill/>
          </p:spPr>
          <p:txBody>
            <a:bodyPr wrap="square" lIns="0" rIns="0" tIns="18288" bIns="18288" anchor="t">
              <a:spAutoFit/>
            </a:bodyPr>
            <a:lstStyle/>
            <a:p>
              <a:pPr algn="l"/>
              <a:r>
                <a:rPr sz="1900" b="0" i="0">
                  <a:solidFill>
                    <a:srgbClr val="1F2328"/>
                  </a:solidFill>
                  <a:latin typeface="Calibri"/>
                </a:rPr>
                <a:t>Missing: 550 of 5,000 customer records have no national ID.</a:t>
              </a:r>
            </a:p>
          </p:txBody>
        </p:sp>
        <p:cxnSp>
          <p:nvCxnSpPr>
            <p:cNvPr id="10" name="Connector 9"/>
            <p:cNvCxnSpPr/>
            <p:nvPr/>
          </p:nvCxnSpPr>
          <p:spPr>
            <a:xfrm>
              <a:off x="8183879" y="2670048"/>
              <a:ext cx="3322016" cy="0"/>
            </a:xfrm>
            <a:prstGeom prst="line">
              <a:avLst/>
            </a:prstGeom>
            <a:ln w="6350">
              <a:solidFill>
                <a:srgbClr val="C9C5BC"/>
              </a:solidFill>
            </a:ln>
          </p:spPr>
        </p:cxnSp>
      </p:grpSp>
      <p:grpSp>
        <p:nvGrpSpPr>
          <p:cNvPr id="11" name="note-2"/>
          <p:cNvGrpSpPr/>
          <p:nvPr/>
        </p:nvGrpSpPr>
        <p:grpSpPr>
          <a:xfrm>
            <a:off x="8183879" y="2743200"/>
            <a:ext cx="3322016" cy="978408"/>
            <a:chOff x="8183879" y="2743200"/>
            <a:chExt cx="3322016" cy="978408"/>
          </a:xfrm>
        </p:grpSpPr>
        <p:sp>
          <p:nvSpPr>
            <p:cNvPr id="12" name="TextBox 11"/>
            <p:cNvSpPr txBox="1"/>
            <p:nvPr/>
          </p:nvSpPr>
          <p:spPr>
            <a:xfrm>
              <a:off x="8183879" y="2743200"/>
              <a:ext cx="320040" cy="960119"/>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2743200"/>
              <a:ext cx="2956255" cy="941831"/>
            </a:xfrm>
            <a:prstGeom prst="rect">
              <a:avLst/>
            </a:prstGeom>
            <a:noFill/>
          </p:spPr>
          <p:txBody>
            <a:bodyPr wrap="square" lIns="0" rIns="0" tIns="18288" bIns="18288" anchor="t">
              <a:spAutoFit/>
            </a:bodyPr>
            <a:lstStyle/>
            <a:p>
              <a:pPr algn="l"/>
              <a:r>
                <a:rPr sz="1900" b="0" i="0">
                  <a:solidFill>
                    <a:srgbClr val="1F2328"/>
                  </a:solidFill>
                  <a:latin typeface="Calibri"/>
                </a:rPr>
                <a:t>Stale: 21 days of leave in the 2019 handbook, 28 in 2025, one folder.</a:t>
              </a:r>
            </a:p>
          </p:txBody>
        </p:sp>
        <p:cxnSp>
          <p:nvCxnSpPr>
            <p:cNvPr id="14" name="Connector 13"/>
            <p:cNvCxnSpPr/>
            <p:nvPr/>
          </p:nvCxnSpPr>
          <p:spPr>
            <a:xfrm>
              <a:off x="8183879" y="3721608"/>
              <a:ext cx="3322016" cy="0"/>
            </a:xfrm>
            <a:prstGeom prst="line">
              <a:avLst/>
            </a:prstGeom>
            <a:ln w="6350">
              <a:solidFill>
                <a:srgbClr val="C9C5BC"/>
              </a:solidFill>
            </a:ln>
          </p:spPr>
        </p:cxnSp>
      </p:grpSp>
      <p:grpSp>
        <p:nvGrpSpPr>
          <p:cNvPr id="15" name="note-3"/>
          <p:cNvGrpSpPr/>
          <p:nvPr/>
        </p:nvGrpSpPr>
        <p:grpSpPr>
          <a:xfrm>
            <a:off x="8183879" y="3794760"/>
            <a:ext cx="3322016" cy="978408"/>
            <a:chOff x="8183879" y="3794760"/>
            <a:chExt cx="3322016" cy="978408"/>
          </a:xfrm>
        </p:grpSpPr>
        <p:sp>
          <p:nvSpPr>
            <p:cNvPr id="16" name="TextBox 15"/>
            <p:cNvSpPr txBox="1"/>
            <p:nvPr/>
          </p:nvSpPr>
          <p:spPr>
            <a:xfrm>
              <a:off x="8183879" y="3794760"/>
              <a:ext cx="320040" cy="960119"/>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3794760"/>
              <a:ext cx="2956255" cy="941831"/>
            </a:xfrm>
            <a:prstGeom prst="rect">
              <a:avLst/>
            </a:prstGeom>
            <a:noFill/>
          </p:spPr>
          <p:txBody>
            <a:bodyPr wrap="square" lIns="0" rIns="0" tIns="18288" bIns="18288" anchor="t">
              <a:spAutoFit/>
            </a:bodyPr>
            <a:lstStyle/>
            <a:p>
              <a:pPr algn="l"/>
              <a:r>
                <a:rPr sz="2100" b="0" i="0">
                  <a:solidFill>
                    <a:srgbClr val="1F2328"/>
                  </a:solidFill>
                  <a:latin typeface="Calibri"/>
                </a:rPr>
                <a:t>Unowned: 4 of 14 sources name no owner.</a:t>
              </a:r>
            </a:p>
          </p:txBody>
        </p:sp>
        <p:cxnSp>
          <p:nvCxnSpPr>
            <p:cNvPr id="18" name="Connector 17"/>
            <p:cNvCxnSpPr/>
            <p:nvPr/>
          </p:nvCxnSpPr>
          <p:spPr>
            <a:xfrm>
              <a:off x="8183879" y="4773168"/>
              <a:ext cx="3322016" cy="0"/>
            </a:xfrm>
            <a:prstGeom prst="line">
              <a:avLst/>
            </a:prstGeom>
            <a:ln w="6350">
              <a:solidFill>
                <a:srgbClr val="C9C5BC"/>
              </a:solidFill>
            </a:ln>
          </p:spPr>
        </p:cxnSp>
      </p:grpSp>
      <p:grpSp>
        <p:nvGrpSpPr>
          <p:cNvPr id="19" name="note-4"/>
          <p:cNvGrpSpPr/>
          <p:nvPr/>
        </p:nvGrpSpPr>
        <p:grpSpPr>
          <a:xfrm>
            <a:off x="8183879" y="4846320"/>
            <a:ext cx="3322016" cy="978408"/>
            <a:chOff x="8183879" y="4846320"/>
            <a:chExt cx="3322016" cy="978408"/>
          </a:xfrm>
        </p:grpSpPr>
        <p:sp>
          <p:nvSpPr>
            <p:cNvPr id="20" name="TextBox 19"/>
            <p:cNvSpPr txBox="1"/>
            <p:nvPr/>
          </p:nvSpPr>
          <p:spPr>
            <a:xfrm>
              <a:off x="8183879" y="4846320"/>
              <a:ext cx="320040" cy="960119"/>
            </a:xfrm>
            <a:prstGeom prst="rect">
              <a:avLst/>
            </a:prstGeom>
            <a:noFill/>
          </p:spPr>
          <p:txBody>
            <a:bodyPr wrap="square" lIns="0" rIns="0" tIns="18288" bIns="18288" anchor="t">
              <a:spAutoFit/>
            </a:bodyPr>
            <a:lstStyle/>
            <a:p>
              <a:pPr algn="l"/>
              <a:r>
                <a:rPr sz="2100" b="1" i="0">
                  <a:solidFill>
                    <a:srgbClr val="B04A2B"/>
                  </a:solidFill>
                  <a:latin typeface="Cambria"/>
                </a:rPr>
                <a:t>4</a:t>
              </a:r>
            </a:p>
          </p:txBody>
        </p:sp>
        <p:sp>
          <p:nvSpPr>
            <p:cNvPr id="21" name="TextBox 20"/>
            <p:cNvSpPr txBox="1"/>
            <p:nvPr/>
          </p:nvSpPr>
          <p:spPr>
            <a:xfrm>
              <a:off x="8549640" y="4846320"/>
              <a:ext cx="2956255" cy="941831"/>
            </a:xfrm>
            <a:prstGeom prst="rect">
              <a:avLst/>
            </a:prstGeom>
            <a:noFill/>
          </p:spPr>
          <p:txBody>
            <a:bodyPr wrap="square" lIns="0" rIns="0" tIns="18288" bIns="18288" anchor="t">
              <a:spAutoFit/>
            </a:bodyPr>
            <a:lstStyle/>
            <a:p>
              <a:pPr algn="l"/>
              <a:r>
                <a:rPr sz="2100" b="0" i="0">
                  <a:solidFill>
                    <a:srgbClr val="1F2328"/>
                  </a:solidFill>
                  <a:latin typeface="Calibri"/>
                </a:rPr>
                <a:t>Unreachable: 8 scanned documents return no text.</a:t>
              </a:r>
            </a:p>
          </p:txBody>
        </p:sp>
        <p:cxnSp>
          <p:nvCxnSpPr>
            <p:cNvPr id="22" name="Connector 21"/>
            <p:cNvCxnSpPr/>
            <p:nvPr/>
          </p:nvCxnSpPr>
          <p:spPr>
            <a:xfrm>
              <a:off x="8183879" y="5824728"/>
              <a:ext cx="332201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Where Kitara's data sits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AI-ready data means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graphicFrame>
        <p:nvGraphicFramePr>
          <p:cNvPr id="5" name="Table"/>
          <p:cNvGraphicFramePr>
            <a:graphicFrameLocks noGrp="1"/>
          </p:cNvGraphicFramePr>
          <p:nvPr/>
        </p:nvGraphicFramePr>
        <p:xfrm>
          <a:off x="685800" y="1600200"/>
          <a:ext cx="10820093" cy="3811218"/>
        </p:xfrm>
        <a:graphic>
          <a:graphicData uri="http://schemas.openxmlformats.org/drawingml/2006/table">
            <a:tbl>
              <a:tblPr firstRow="0" bandRow="0">
                <a:tableStyleId>{2D5ABB26-0587-4C30-8999-92F81FD0307C}</a:tableStyleId>
              </a:tblPr>
              <a:tblGrid>
                <a:gridCol w="2344353"/>
                <a:gridCol w="3787033"/>
                <a:gridCol w="4688707"/>
              </a:tblGrid>
              <a:tr h="778459">
                <a:tc>
                  <a:txBody>
                    <a:bodyPr wrap="square"/>
                    <a:lstStyle/>
                    <a:p>
                      <a:r>
                        <a:rPr sz="2200" b="1" i="0">
                          <a:solidFill>
                            <a:srgbClr val="1F2328"/>
                          </a:solidFill>
                          <a:latin typeface="Calibri"/>
                        </a:rPr>
                        <a:t>Kind</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What it looks like</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At Kitara</a:t>
                      </a:r>
                    </a:p>
                  </a:txBody>
                  <a:tcPr marL="137160" marR="91440" marT="64008" marB="64008" anchor="ctr">
                    <a:lnL w="0">
                      <a:noFill/>
                    </a:lnL>
                    <a:lnR w="0">
                      <a:noFill/>
                    </a:lnR>
                    <a:lnT w="0">
                      <a:noFill/>
                    </a:lnT>
                    <a:lnB w="15875">
                      <a:solidFill>
                        <a:srgbClr val="1F2328"/>
                      </a:solidFill>
                    </a:lnB>
                    <a:noFill/>
                  </a:tcPr>
                </a:tc>
              </a:tr>
              <a:tr h="778459">
                <a:tc>
                  <a:txBody>
                    <a:bodyPr wrap="square"/>
                    <a:lstStyle/>
                    <a:p>
                      <a:r>
                        <a:rPr sz="2200" b="0" i="0">
                          <a:solidFill>
                            <a:srgbClr val="3B4046"/>
                          </a:solidFill>
                          <a:latin typeface="Calibri"/>
                        </a:rPr>
                        <a:t>Structured</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Rows and columns, fixed fields</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Core banking S01: 640,000 records</a:t>
                      </a:r>
                    </a:p>
                  </a:txBody>
                  <a:tcPr marL="137160" marR="91440" marT="64008" marB="64008" anchor="ctr">
                    <a:lnL w="0">
                      <a:noFill/>
                    </a:lnL>
                    <a:lnR w="0">
                      <a:noFill/>
                    </a:lnR>
                    <a:lnT w="0">
                      <a:noFill/>
                    </a:lnT>
                    <a:lnB w="6350">
                      <a:solidFill>
                        <a:srgbClr val="C9C5BC"/>
                      </a:solidFill>
                    </a:lnB>
                    <a:noFill/>
                  </a:tcPr>
                </a:tc>
              </a:tr>
              <a:tr h="1127150">
                <a:tc>
                  <a:txBody>
                    <a:bodyPr wrap="square"/>
                    <a:lstStyle/>
                    <a:p>
                      <a:r>
                        <a:rPr sz="2200" b="0" i="0">
                          <a:solidFill>
                            <a:srgbClr val="3B4046"/>
                          </a:solidFill>
                          <a:latin typeface="Calibri"/>
                        </a:rPr>
                        <a:t>Semi-structured</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Some labels, no fixed table</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Mobile money log S02: 46 million lines. Branch spreadsheets S13</a:t>
                      </a:r>
                    </a:p>
                  </a:txBody>
                  <a:tcPr marL="137160" marR="91440" marT="64008" marB="64008" anchor="ctr">
                    <a:lnL w="0">
                      <a:noFill/>
                    </a:lnL>
                    <a:lnR w="0">
                      <a:noFill/>
                    </a:lnR>
                    <a:lnT w="0">
                      <a:noFill/>
                    </a:lnT>
                    <a:lnB w="6350">
                      <a:solidFill>
                        <a:srgbClr val="C9C5BC"/>
                      </a:solidFill>
                    </a:lnB>
                    <a:noFill/>
                  </a:tcPr>
                </a:tc>
              </a:tr>
              <a:tr h="1127150">
                <a:tc>
                  <a:txBody>
                    <a:bodyPr wrap="square"/>
                    <a:lstStyle/>
                    <a:p>
                      <a:r>
                        <a:rPr sz="2200" b="0" i="0">
                          <a:solidFill>
                            <a:srgbClr val="3B4046"/>
                          </a:solidFill>
                          <a:latin typeface="Calibri"/>
                        </a:rPr>
                        <a:t>Unstructured</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Free text, scans, audio, email</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Claims archive S06: 310,000 files. Shared drive S09: 14,000 documents</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AI-ready data</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AI-ready data means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TextBox 4"/>
          <p:cNvSpPr txBox="1"/>
          <p:nvPr/>
        </p:nvSpPr>
        <p:spPr>
          <a:xfrm>
            <a:off x="685800" y="1600200"/>
            <a:ext cx="9875520" cy="1828800"/>
          </a:xfrm>
          <a:prstGeom prst="rect">
            <a:avLst/>
          </a:prstGeom>
          <a:noFill/>
        </p:spPr>
        <p:txBody>
          <a:bodyPr wrap="square" lIns="0" rIns="0" tIns="18288" bIns="18288" anchor="t">
            <a:spAutoFit/>
          </a:bodyPr>
          <a:lstStyle/>
          <a:p>
            <a:pPr algn="l"/>
            <a:r>
              <a:rPr sz="3200" b="0" i="0">
                <a:solidFill>
                  <a:srgbClr val="1F2328"/>
                </a:solidFill>
                <a:latin typeface="Cambria"/>
              </a:rPr>
              <a:t>Data that is relevant to the use, current, owned, readable by the system, and allowed to be used.</a:t>
            </a:r>
          </a:p>
        </p:txBody>
      </p:sp>
      <p:cxnSp>
        <p:nvCxnSpPr>
          <p:cNvPr id="6" name="Connector 5"/>
          <p:cNvCxnSpPr/>
          <p:nvPr/>
        </p:nvCxnSpPr>
        <p:spPr>
          <a:xfrm>
            <a:off x="6095847" y="2998622"/>
            <a:ext cx="0" cy="3219298"/>
          </a:xfrm>
          <a:prstGeom prst="line">
            <a:avLst/>
          </a:prstGeom>
          <a:ln w="9525">
            <a:solidFill>
              <a:srgbClr val="C9C5BC"/>
            </a:solidFill>
          </a:ln>
        </p:spPr>
      </p:cxnSp>
      <p:cxnSp>
        <p:nvCxnSpPr>
          <p:cNvPr id="7" name="Connector 6"/>
          <p:cNvCxnSpPr/>
          <p:nvPr/>
        </p:nvCxnSpPr>
        <p:spPr>
          <a:xfrm>
            <a:off x="685800" y="2998622"/>
            <a:ext cx="5044287" cy="0"/>
          </a:xfrm>
          <a:prstGeom prst="line">
            <a:avLst/>
          </a:prstGeom>
          <a:ln w="15875">
            <a:solidFill>
              <a:srgbClr val="1F2328"/>
            </a:solidFill>
          </a:ln>
        </p:spPr>
      </p:cxnSp>
      <p:sp>
        <p:nvSpPr>
          <p:cNvPr id="8" name="TextBox 7"/>
          <p:cNvSpPr txBox="1"/>
          <p:nvPr/>
        </p:nvSpPr>
        <p:spPr>
          <a:xfrm>
            <a:off x="685800"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At Kitara Group</a:t>
            </a:r>
          </a:p>
        </p:txBody>
      </p:sp>
      <p:sp>
        <p:nvSpPr>
          <p:cNvPr id="9" name="TextBox 8"/>
          <p:cNvSpPr txBox="1"/>
          <p:nvPr/>
        </p:nvSpPr>
        <p:spPr>
          <a:xfrm>
            <a:off x="685800"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The 2025 Staff Handbook passes the tests. The shared drive around it has no owner and still holds the 2019 and 2022 editions.</a:t>
            </a:r>
          </a:p>
        </p:txBody>
      </p:sp>
      <p:cxnSp>
        <p:nvCxnSpPr>
          <p:cNvPr id="10" name="Connector 9"/>
          <p:cNvCxnSpPr/>
          <p:nvPr/>
        </p:nvCxnSpPr>
        <p:spPr>
          <a:xfrm>
            <a:off x="6461607" y="2998622"/>
            <a:ext cx="5044288" cy="0"/>
          </a:xfrm>
          <a:prstGeom prst="line">
            <a:avLst/>
          </a:prstGeom>
          <a:ln w="15875">
            <a:solidFill>
              <a:srgbClr val="1F2328"/>
            </a:solidFill>
          </a:ln>
        </p:spPr>
      </p:cxnSp>
      <p:sp>
        <p:nvSpPr>
          <p:cNvPr id="11" name="TextBox 10"/>
          <p:cNvSpPr txBox="1"/>
          <p:nvPr/>
        </p:nvSpPr>
        <p:spPr>
          <a:xfrm>
            <a:off x="6461607" y="3090062"/>
            <a:ext cx="5044287" cy="274320"/>
          </a:xfrm>
          <a:prstGeom prst="rect">
            <a:avLst/>
          </a:prstGeom>
          <a:noFill/>
        </p:spPr>
        <p:txBody>
          <a:bodyPr wrap="square" lIns="0" rIns="0" tIns="18288" bIns="18288" anchor="t">
            <a:spAutoFit/>
          </a:bodyPr>
          <a:lstStyle/>
          <a:p>
            <a:pPr algn="l"/>
            <a:r>
              <a:rPr sz="1400" b="0" i="0">
                <a:solidFill>
                  <a:srgbClr val="6A6F75"/>
                </a:solidFill>
                <a:latin typeface="Calibri"/>
              </a:rPr>
              <a:t>In your organisation</a:t>
            </a:r>
          </a:p>
        </p:txBody>
      </p:sp>
      <p:sp>
        <p:nvSpPr>
          <p:cNvPr id="12" name="TextBox 11"/>
          <p:cNvSpPr txBox="1"/>
          <p:nvPr/>
        </p:nvSpPr>
        <p:spPr>
          <a:xfrm>
            <a:off x="6461607" y="3410102"/>
            <a:ext cx="5044287" cy="2762097"/>
          </a:xfrm>
          <a:prstGeom prst="rect">
            <a:avLst/>
          </a:prstGeom>
          <a:noFill/>
        </p:spPr>
        <p:txBody>
          <a:bodyPr wrap="square" lIns="0" rIns="0" tIns="18288" bIns="18288" anchor="t">
            <a:spAutoFit/>
          </a:bodyPr>
          <a:lstStyle/>
          <a:p>
            <a:pPr algn="l"/>
            <a:r>
              <a:rPr sz="2200" b="0" i="0">
                <a:solidFill>
                  <a:srgbClr val="3B4046"/>
                </a:solidFill>
                <a:latin typeface="Calibri"/>
              </a:rPr>
              <a:t>Pick the first AI use you want. Which of the five tests would your data pass today?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Three handbooks, three answers to one question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AI-ready data means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sp>
        <p:nvSpPr>
          <p:cNvPr id="5" name="Rectangle 4"/>
          <p:cNvSpPr/>
          <p:nvPr/>
        </p:nvSpPr>
        <p:spPr>
          <a:xfrm>
            <a:off x="685800" y="1600200"/>
            <a:ext cx="10820095" cy="2200655"/>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926335"/>
          </a:xfrm>
          <a:prstGeom prst="rect">
            <a:avLst/>
          </a:prstGeom>
          <a:noFill/>
        </p:spPr>
        <p:txBody>
          <a:bodyPr wrap="none" lIns="0" rIns="0" tIns="0" bIns="0">
            <a:spAutoFit/>
          </a:bodyPr>
          <a:lstStyle/>
          <a:p>
            <a:r>
              <a:rPr sz="1550" b="1" i="0">
                <a:solidFill>
                  <a:srgbClr val="1F2328"/>
                </a:solidFill>
                <a:latin typeface="Courier New"/>
              </a:rPr>
              <a:t>import</a:t>
            </a:r>
            <a:r>
              <a:rPr sz="1550" b="0" i="0">
                <a:solidFill>
                  <a:srgbClr val="1F2328"/>
                </a:solidFill>
                <a:latin typeface="Courier New"/>
              </a:rPr>
              <a:t> </a:t>
            </a:r>
            <a:r>
              <a:rPr sz="1550" b="0" i="0">
                <a:solidFill>
                  <a:srgbClr val="1F2328"/>
                </a:solidFill>
                <a:latin typeface="Courier New"/>
              </a:rPr>
              <a:t>re</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pandas</a:t>
            </a:r>
            <a:r>
              <a:rPr sz="1550" b="0" i="0">
                <a:solidFill>
                  <a:srgbClr val="1F2328"/>
                </a:solidFill>
                <a:latin typeface="Courier New"/>
              </a:rPr>
              <a:t> </a:t>
            </a:r>
            <a:r>
              <a:rPr sz="1550" b="1" i="0">
                <a:solidFill>
                  <a:srgbClr val="1F2328"/>
                </a:solidFill>
                <a:latin typeface="Courier New"/>
              </a:rPr>
              <a:t>as</a:t>
            </a:r>
            <a:r>
              <a:rPr sz="1550" b="0" i="0">
                <a:solidFill>
                  <a:srgbClr val="1F2328"/>
                </a:solidFill>
                <a:latin typeface="Courier New"/>
              </a:rPr>
              <a:t> </a:t>
            </a:r>
            <a:r>
              <a:rPr sz="1550" b="0" i="0">
                <a:solidFill>
                  <a:srgbClr val="1F2328"/>
                </a:solidFill>
                <a:latin typeface="Courier New"/>
              </a:rPr>
              <a:t>pd</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kitara_search</a:t>
            </a:r>
            <a:r>
              <a:rPr sz="1550" b="0" i="0">
                <a:solidFill>
                  <a:srgbClr val="1F2328"/>
                </a:solidFill>
                <a:latin typeface="Courier New"/>
              </a:rPr>
              <a:t> </a:t>
            </a:r>
            <a:r>
              <a:rPr sz="1550" b="1" i="0">
                <a:solidFill>
                  <a:srgbClr val="1F2328"/>
                </a:solidFill>
                <a:latin typeface="Courier New"/>
              </a:rPr>
              <a:t>as</a:t>
            </a:r>
            <a:r>
              <a:rPr sz="1550" b="0" i="0">
                <a:solidFill>
                  <a:srgbClr val="1F2328"/>
                </a:solidFill>
                <a:latin typeface="Courier New"/>
              </a:rPr>
              <a:t> </a:t>
            </a:r>
            <a:r>
              <a:rPr sz="1550" b="0" i="0">
                <a:solidFill>
                  <a:srgbClr val="1F2328"/>
                </a:solidFill>
                <a:latin typeface="Courier New"/>
              </a:rPr>
              <a:t>ks</a:t>
            </a:r>
          </a:p>
          <a:p>
            <a:r>
              <a:rPr sz="1550" b="0" i="0">
                <a:solidFill>
                  <a:srgbClr val="1F2328"/>
                </a:solidFill>
                <a:latin typeface="Courier New"/>
              </a:rPr>
              <a:t> </a:t>
            </a:r>
          </a:p>
          <a:p>
            <a:r>
              <a:rPr sz="1550" b="0" i="0">
                <a:solidFill>
                  <a:srgbClr val="1F2328"/>
                </a:solidFill>
                <a:latin typeface="Courier New"/>
              </a:rPr>
              <a:t>meta</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pd</a:t>
            </a:r>
            <a:r>
              <a:rPr sz="1550" b="0" i="0">
                <a:solidFill>
                  <a:srgbClr val="1F2328"/>
                </a:solidFill>
                <a:latin typeface="Courier New"/>
              </a:rPr>
              <a:t>.</a:t>
            </a:r>
            <a:r>
              <a:rPr sz="1550" b="0" i="0">
                <a:solidFill>
                  <a:srgbClr val="1F2328"/>
                </a:solidFill>
                <a:latin typeface="Courier New"/>
              </a:rPr>
              <a:t>read_csv</a:t>
            </a:r>
            <a:r>
              <a:rPr sz="1550" b="0" i="0">
                <a:solidFill>
                  <a:srgbClr val="1F2328"/>
                </a:solidFill>
                <a:latin typeface="Courier New"/>
              </a:rPr>
              <a:t>(</a:t>
            </a:r>
            <a:r>
              <a:rPr sz="1550" b="0" i="0">
                <a:solidFill>
                  <a:srgbClr val="B04A2B"/>
                </a:solidFill>
                <a:latin typeface="Courier New"/>
              </a:rPr>
              <a:t>'docs_metadata.csv'</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set_index</a:t>
            </a:r>
            <a:r>
              <a:rPr sz="1550" b="0" i="0">
                <a:solidFill>
                  <a:srgbClr val="1F2328"/>
                </a:solidFill>
                <a:latin typeface="Courier New"/>
              </a:rPr>
              <a:t>(</a:t>
            </a:r>
            <a:r>
              <a:rPr sz="1550" b="0" i="0">
                <a:solidFill>
                  <a:srgbClr val="B04A2B"/>
                </a:solidFill>
                <a:latin typeface="Courier New"/>
              </a:rPr>
              <a:t>'file'</a:t>
            </a:r>
            <a:r>
              <a:rPr sz="1550" b="0" i="0">
                <a:solidFill>
                  <a:srgbClr val="1F2328"/>
                </a:solidFill>
                <a:latin typeface="Courier New"/>
              </a:rPr>
              <a:t>)</a:t>
            </a:r>
          </a:p>
          <a:p>
            <a:r>
              <a:rPr sz="1550" b="1" i="0">
                <a:solidFill>
                  <a:srgbClr val="1F2328"/>
                </a:solidFill>
                <a:latin typeface="Courier New"/>
              </a:rPr>
              <a:t>for</a:t>
            </a:r>
            <a:r>
              <a:rPr sz="1550" b="0" i="0">
                <a:solidFill>
                  <a:srgbClr val="1F2328"/>
                </a:solidFill>
                <a:latin typeface="Courier New"/>
              </a:rPr>
              <a:t> </a:t>
            </a:r>
            <a:r>
              <a:rPr sz="1550" b="0" i="0">
                <a:solidFill>
                  <a:srgbClr val="1F2328"/>
                </a:solidFill>
                <a:latin typeface="Courier New"/>
              </a:rPr>
              <a:t>y</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ext</a:t>
            </a:r>
            <a:r>
              <a:rPr sz="1550" b="0" i="0">
                <a:solidFill>
                  <a:srgbClr val="1F2328"/>
                </a:solidFill>
                <a:latin typeface="Courier New"/>
              </a:rPr>
              <a:t> </a:t>
            </a:r>
            <a:r>
              <a:rPr sz="1550" b="1" i="0">
                <a:solidFill>
                  <a:srgbClr val="1F2328"/>
                </a:solidFill>
                <a:latin typeface="Courier New"/>
              </a:rPr>
              <a:t>in</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a:t>
            </a:r>
            <a:r>
              <a:rPr sz="1550" b="0" i="0">
                <a:solidFill>
                  <a:srgbClr val="3B4046"/>
                </a:solidFill>
                <a:latin typeface="Courier New"/>
              </a:rPr>
              <a:t>2019</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'docx'</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3B4046"/>
                </a:solidFill>
                <a:latin typeface="Courier New"/>
              </a:rPr>
              <a:t>2022</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'docx'</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a:t>
            </a:r>
            <a:r>
              <a:rPr sz="1550" b="0" i="0">
                <a:solidFill>
                  <a:srgbClr val="3B4046"/>
                </a:solidFill>
                <a:latin typeface="Courier New"/>
              </a:rPr>
              <a:t>2025</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'pdf'</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f</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f</a:t>
            </a:r>
            <a:r>
              <a:rPr sz="1550" b="0" i="0">
                <a:solidFill>
                  <a:srgbClr val="B04A2B"/>
                </a:solidFill>
                <a:latin typeface="Courier New"/>
              </a:rPr>
              <a:t>'policies/Staff Handbook {y}.{ext}'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text</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ks</a:t>
            </a:r>
            <a:r>
              <a:rPr sz="1550" b="0" i="0">
                <a:solidFill>
                  <a:srgbClr val="1F2328"/>
                </a:solidFill>
                <a:latin typeface="Courier New"/>
              </a:rPr>
              <a:t>.</a:t>
            </a:r>
            <a:r>
              <a:rPr sz="1550" b="0" i="0">
                <a:solidFill>
                  <a:srgbClr val="1F2328"/>
                </a:solidFill>
                <a:latin typeface="Courier New"/>
              </a:rPr>
              <a:t>extract_text</a:t>
            </a:r>
            <a:r>
              <a:rPr sz="1550" b="0" i="0">
                <a:solidFill>
                  <a:srgbClr val="1F2328"/>
                </a:solidFill>
                <a:latin typeface="Courier New"/>
              </a:rPr>
              <a:t>(</a:t>
            </a:r>
            <a:r>
              <a:rPr sz="1550" b="0" i="0">
                <a:solidFill>
                  <a:srgbClr val="B04A2B"/>
                </a:solidFill>
                <a:latin typeface="Courier New"/>
              </a:rPr>
              <a:t>'docs/'</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f</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ocr</a:t>
            </a:r>
            <a:r>
              <a:rPr sz="1550" b="0" i="0">
                <a:solidFill>
                  <a:srgbClr val="1F2328"/>
                </a:solidFill>
                <a:latin typeface="Courier New"/>
              </a:rPr>
              <a:t>=</a:t>
            </a:r>
            <a:r>
              <a:rPr sz="1550" b="1" i="0">
                <a:solidFill>
                  <a:srgbClr val="1F2328"/>
                </a:solidFill>
                <a:latin typeface="Courier New"/>
              </a:rPr>
              <a:t>False</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days</a:t>
            </a:r>
            <a:r>
              <a:rPr sz="1550" b="0" i="0">
                <a:solidFill>
                  <a:srgbClr val="1F2328"/>
                </a:solidFill>
                <a:latin typeface="Courier New"/>
              </a:rPr>
              <a:t> </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re</a:t>
            </a:r>
            <a:r>
              <a:rPr sz="1550" b="0" i="0">
                <a:solidFill>
                  <a:srgbClr val="1F2328"/>
                </a:solidFill>
                <a:latin typeface="Courier New"/>
              </a:rPr>
              <a:t>.</a:t>
            </a:r>
            <a:r>
              <a:rPr sz="1550" b="0" i="0">
                <a:solidFill>
                  <a:srgbClr val="1F2328"/>
                </a:solidFill>
                <a:latin typeface="Courier New"/>
              </a:rPr>
              <a:t>search</a:t>
            </a:r>
            <a:r>
              <a:rPr sz="1550" b="0" i="0">
                <a:solidFill>
                  <a:srgbClr val="1F2328"/>
                </a:solidFill>
                <a:latin typeface="Courier New"/>
              </a:rPr>
              <a:t>(</a:t>
            </a:r>
            <a:r>
              <a:rPr sz="1550" b="0" i="0">
                <a:solidFill>
                  <a:srgbClr val="1F2328"/>
                </a:solidFill>
                <a:latin typeface="Courier New"/>
              </a:rPr>
              <a:t>r</a:t>
            </a:r>
            <a:r>
              <a:rPr sz="1550" b="0" i="0">
                <a:solidFill>
                  <a:srgbClr val="B04A2B"/>
                </a:solidFill>
                <a:latin typeface="Courier New"/>
              </a:rPr>
              <a:t>'(\d+) working days of annual'</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text</a:t>
            </a:r>
            <a:r>
              <a:rPr sz="1550" b="0" i="0">
                <a:solidFill>
                  <a:srgbClr val="1F2328"/>
                </a:solidFill>
                <a:latin typeface="Courier New"/>
              </a:rPr>
              <a:t>)</a:t>
            </a:r>
            <a:r>
              <a:rPr sz="1550" b="0" i="0">
                <a:solidFill>
                  <a:srgbClr val="1F2328"/>
                </a:solidFill>
                <a:latin typeface="Courier New"/>
              </a:rPr>
              <a:t>.</a:t>
            </a:r>
            <a:r>
              <a:rPr sz="1550" b="0" i="0">
                <a:solidFill>
                  <a:srgbClr val="1F2328"/>
                </a:solidFill>
                <a:latin typeface="Courier New"/>
              </a:rPr>
              <a:t>group</a:t>
            </a:r>
            <a:r>
              <a:rPr sz="1550" b="0" i="0">
                <a:solidFill>
                  <a:srgbClr val="1F2328"/>
                </a:solidFill>
                <a:latin typeface="Courier New"/>
              </a:rPr>
              <a:t>(</a:t>
            </a:r>
            <a:r>
              <a:rPr sz="1550" b="0" i="0">
                <a:solidFill>
                  <a:srgbClr val="3B4046"/>
                </a:solidFill>
                <a:latin typeface="Courier New"/>
              </a:rPr>
              <a:t>1</a:t>
            </a:r>
            <a:r>
              <a:rPr sz="1550" b="0" i="0">
                <a:solidFill>
                  <a:srgbClr val="1F2328"/>
                </a:solidFill>
                <a:latin typeface="Courier New"/>
              </a:rPr>
              <a:t>)</a:t>
            </a:r>
          </a:p>
          <a:p>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 </a:t>
            </a:r>
            <a:r>
              <a:rPr sz="1550" b="0" i="0">
                <a:solidFill>
                  <a:srgbClr val="1F2328"/>
                </a:solidFill>
                <a:latin typeface="Courier New"/>
              </a:rPr>
              <a:t>print</a:t>
            </a:r>
            <a:r>
              <a:rPr sz="1550" b="0" i="0">
                <a:solidFill>
                  <a:srgbClr val="1F2328"/>
                </a:solidFill>
                <a:latin typeface="Courier New"/>
              </a:rPr>
              <a:t>(</a:t>
            </a:r>
            <a:r>
              <a:rPr sz="1550" b="0" i="0">
                <a:solidFill>
                  <a:srgbClr val="1F2328"/>
                </a:solidFill>
                <a:latin typeface="Courier New"/>
              </a:rPr>
              <a:t>y</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days</a:t>
            </a:r>
            <a:r>
              <a:rPr sz="1550" b="0" i="0">
                <a:solidFill>
                  <a:srgbClr val="1F2328"/>
                </a:solidFill>
                <a:latin typeface="Courier New"/>
              </a:rPr>
              <a:t>,</a:t>
            </a:r>
            <a:r>
              <a:rPr sz="1550" b="0" i="0">
                <a:solidFill>
                  <a:srgbClr val="1F2328"/>
                </a:solidFill>
                <a:latin typeface="Courier New"/>
              </a:rPr>
              <a:t> </a:t>
            </a:r>
            <a:r>
              <a:rPr sz="1550" b="0" i="0">
                <a:solidFill>
                  <a:srgbClr val="1F2328"/>
                </a:solidFill>
                <a:latin typeface="Courier New"/>
              </a:rPr>
              <a:t>meta</a:t>
            </a:r>
            <a:r>
              <a:rPr sz="1550" b="0" i="0">
                <a:solidFill>
                  <a:srgbClr val="1F2328"/>
                </a:solidFill>
                <a:latin typeface="Courier New"/>
              </a:rPr>
              <a:t>.</a:t>
            </a:r>
            <a:r>
              <a:rPr sz="1550" b="0" i="0">
                <a:solidFill>
                  <a:srgbClr val="1F2328"/>
                </a:solidFill>
                <a:latin typeface="Courier New"/>
              </a:rPr>
              <a:t>loc</a:t>
            </a:r>
            <a:r>
              <a:rPr sz="1550" b="0" i="0">
                <a:solidFill>
                  <a:srgbClr val="1F2328"/>
                </a:solidFill>
                <a:latin typeface="Courier New"/>
              </a:rPr>
              <a:t>[</a:t>
            </a:r>
            <a:r>
              <a:rPr sz="1550" b="0" i="0">
                <a:solidFill>
                  <a:srgbClr val="1F2328"/>
                </a:solidFill>
                <a:latin typeface="Courier New"/>
              </a:rPr>
              <a:t>f</a:t>
            </a:r>
            <a:r>
              <a:rPr sz="1550" b="0" i="0">
                <a:solidFill>
                  <a:srgbClr val="1F2328"/>
                </a:solidFill>
                <a:latin typeface="Courier New"/>
              </a:rPr>
              <a:t>,</a:t>
            </a:r>
            <a:r>
              <a:rPr sz="1550" b="0" i="0">
                <a:solidFill>
                  <a:srgbClr val="1F2328"/>
                </a:solidFill>
                <a:latin typeface="Courier New"/>
              </a:rPr>
              <a:t> </a:t>
            </a:r>
            <a:r>
              <a:rPr sz="1550" b="0" i="0">
                <a:solidFill>
                  <a:srgbClr val="B04A2B"/>
                </a:solidFill>
                <a:latin typeface="Courier New"/>
              </a:rPr>
              <a:t>'status'</a:t>
            </a:r>
            <a:r>
              <a:rPr sz="1550" b="0" i="0">
                <a:solidFill>
                  <a:srgbClr val="1F2328"/>
                </a:solidFill>
                <a:latin typeface="Courier New"/>
              </a:rPr>
              <a:t>]</a:t>
            </a:r>
            <a:r>
              <a:rPr sz="1550" b="0" i="0">
                <a:solidFill>
                  <a:srgbClr val="1F2328"/>
                </a:solidFill>
                <a:latin typeface="Courier New"/>
              </a:rPr>
              <a:t>)</a:t>
            </a:r>
          </a:p>
        </p:txBody>
      </p:sp>
      <p:grpSp>
        <p:nvGrpSpPr>
          <p:cNvPr id="7" name="output"/>
          <p:cNvGrpSpPr/>
          <p:nvPr/>
        </p:nvGrpSpPr>
        <p:grpSpPr>
          <a:xfrm>
            <a:off x="685800" y="3910583"/>
            <a:ext cx="10820095" cy="950977"/>
            <a:chOff x="685800" y="3910583"/>
            <a:chExt cx="10820095" cy="950977"/>
          </a:xfrm>
        </p:grpSpPr>
        <p:sp>
          <p:nvSpPr>
            <p:cNvPr id="8" name="TextBox 7"/>
            <p:cNvSpPr txBox="1"/>
            <p:nvPr/>
          </p:nvSpPr>
          <p:spPr>
            <a:xfrm>
              <a:off x="685800" y="3910583"/>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166616"/>
              <a:ext cx="10820095" cy="694944"/>
            </a:xfrm>
            <a:prstGeom prst="rect">
              <a:avLst/>
            </a:prstGeom>
            <a:solidFill>
              <a:srgbClr val="F5F3EF"/>
            </a:solidFill>
            <a:ln>
              <a:noFill/>
            </a:ln>
          </p:spPr>
          <p:txBody>
            <a:bodyPr rtlCol="0" anchor="ctr"/>
            <a:lstStyle/>
            <a:p>
              <a:pPr algn="ctr"/>
            </a:p>
          </p:txBody>
        </p:sp>
        <p:sp>
          <p:nvSpPr>
            <p:cNvPr id="10" name="TextBox 9"/>
            <p:cNvSpPr txBox="1"/>
            <p:nvPr/>
          </p:nvSpPr>
          <p:spPr>
            <a:xfrm>
              <a:off x="868680" y="4258056"/>
              <a:ext cx="10545775" cy="585216"/>
            </a:xfrm>
            <a:prstGeom prst="rect">
              <a:avLst/>
            </a:prstGeom>
            <a:noFill/>
          </p:spPr>
          <p:txBody>
            <a:bodyPr wrap="none" lIns="0" rIns="0" tIns="0" bIns="0">
              <a:spAutoFit/>
            </a:bodyPr>
            <a:lstStyle/>
            <a:p>
              <a:r>
                <a:rPr sz="1400" b="0" i="0">
                  <a:solidFill>
                    <a:srgbClr val="1F2328"/>
                  </a:solidFill>
                  <a:latin typeface="Courier New"/>
                </a:rPr>
                <a:t>2019 21 superseded</a:t>
              </a:r>
            </a:p>
            <a:p>
              <a:r>
                <a:rPr sz="1400" b="0" i="0">
                  <a:solidFill>
                    <a:srgbClr val="1F2328"/>
                  </a:solidFill>
                  <a:latin typeface="Courier New"/>
                </a:rPr>
                <a:t>2022 24 superseded</a:t>
              </a:r>
            </a:p>
            <a:p>
              <a:r>
                <a:rPr sz="1400" b="0" i="0">
                  <a:solidFill>
                    <a:srgbClr val="1F2328"/>
                  </a:solidFill>
                  <a:latin typeface="Courier New"/>
                </a:rPr>
                <a:t>2025 28 current</a:t>
              </a:r>
            </a:p>
          </p:txBody>
        </p:sp>
      </p:grpSp>
      <p:grpSp>
        <p:nvGrpSpPr>
          <p:cNvPr id="11" name="says-1"/>
          <p:cNvGrpSpPr/>
          <p:nvPr/>
        </p:nvGrpSpPr>
        <p:grpSpPr>
          <a:xfrm>
            <a:off x="685800" y="5044440"/>
            <a:ext cx="3332378" cy="1155191"/>
            <a:chOff x="685800" y="5044440"/>
            <a:chExt cx="3332378" cy="1155191"/>
          </a:xfrm>
        </p:grpSpPr>
        <p:cxnSp>
          <p:nvCxnSpPr>
            <p:cNvPr id="12" name="Connector 11"/>
            <p:cNvCxnSpPr/>
            <p:nvPr/>
          </p:nvCxnSpPr>
          <p:spPr>
            <a:xfrm>
              <a:off x="685800" y="5044440"/>
              <a:ext cx="3332378" cy="0"/>
            </a:xfrm>
            <a:prstGeom prst="line">
              <a:avLst/>
            </a:prstGeom>
            <a:ln w="15875">
              <a:solidFill>
                <a:srgbClr val="1F2328"/>
              </a:solidFill>
            </a:ln>
          </p:spPr>
        </p:cxnSp>
        <p:sp>
          <p:nvSpPr>
            <p:cNvPr id="13" name="TextBox 12"/>
            <p:cNvSpPr txBox="1"/>
            <p:nvPr/>
          </p:nvSpPr>
          <p:spPr>
            <a:xfrm>
              <a:off x="685800"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Read the table of document facts. The status of each file is held only here.</a:t>
              </a:r>
            </a:p>
          </p:txBody>
        </p:sp>
      </p:grpSp>
      <p:grpSp>
        <p:nvGrpSpPr>
          <p:cNvPr id="15" name="says-2"/>
          <p:cNvGrpSpPr/>
          <p:nvPr/>
        </p:nvGrpSpPr>
        <p:grpSpPr>
          <a:xfrm>
            <a:off x="4429658" y="5044440"/>
            <a:ext cx="3332378" cy="1155191"/>
            <a:chOff x="4429658" y="5044440"/>
            <a:chExt cx="3332378" cy="1155191"/>
          </a:xfrm>
        </p:grpSpPr>
        <p:cxnSp>
          <p:nvCxnSpPr>
            <p:cNvPr id="16" name="Connector 15"/>
            <p:cNvCxnSpPr/>
            <p:nvPr/>
          </p:nvCxnSpPr>
          <p:spPr>
            <a:xfrm>
              <a:off x="4429658" y="5044440"/>
              <a:ext cx="3332378" cy="0"/>
            </a:xfrm>
            <a:prstGeom prst="line">
              <a:avLst/>
            </a:prstGeom>
            <a:ln w="15875">
              <a:solidFill>
                <a:srgbClr val="1F2328"/>
              </a:solidFill>
            </a:ln>
          </p:spPr>
        </p:cxnSp>
        <p:sp>
          <p:nvSpPr>
            <p:cNvPr id="17" name="TextBox 16"/>
            <p:cNvSpPr txBox="1"/>
            <p:nvPr/>
          </p:nvSpPr>
          <p:spPr>
            <a:xfrm>
              <a:off x="4429658"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4777130"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Pull the words out of each handbook, whether it is Word or PDF.</a:t>
              </a:r>
            </a:p>
          </p:txBody>
        </p:sp>
      </p:grpSp>
      <p:grpSp>
        <p:nvGrpSpPr>
          <p:cNvPr id="19" name="says-3"/>
          <p:cNvGrpSpPr/>
          <p:nvPr/>
        </p:nvGrpSpPr>
        <p:grpSpPr>
          <a:xfrm>
            <a:off x="8173516" y="5044440"/>
            <a:ext cx="3332379" cy="1155191"/>
            <a:chOff x="8173516" y="5044440"/>
            <a:chExt cx="3332379" cy="1155191"/>
          </a:xfrm>
        </p:grpSpPr>
        <p:cxnSp>
          <p:nvCxnSpPr>
            <p:cNvPr id="20" name="Connector 19"/>
            <p:cNvCxnSpPr/>
            <p:nvPr/>
          </p:nvCxnSpPr>
          <p:spPr>
            <a:xfrm>
              <a:off x="8173516" y="5044440"/>
              <a:ext cx="3332379" cy="0"/>
            </a:xfrm>
            <a:prstGeom prst="line">
              <a:avLst/>
            </a:prstGeom>
            <a:ln w="15875">
              <a:solidFill>
                <a:srgbClr val="1F2328"/>
              </a:solidFill>
            </a:ln>
          </p:spPr>
        </p:cxnSp>
        <p:sp>
          <p:nvSpPr>
            <p:cNvPr id="21" name="TextBox 20"/>
            <p:cNvSpPr txBox="1"/>
            <p:nvPr/>
          </p:nvSpPr>
          <p:spPr>
            <a:xfrm>
              <a:off x="8173516" y="5117592"/>
              <a:ext cx="292608" cy="1082039"/>
            </a:xfrm>
            <a:prstGeom prst="rect">
              <a:avLst/>
            </a:prstGeom>
            <a:noFill/>
          </p:spPr>
          <p:txBody>
            <a:bodyPr wrap="square" lIns="0" rIns="0" tIns="18288" bIns="18288" anchor="t">
              <a:spAutoFit/>
            </a:bodyPr>
            <a:lstStyle/>
            <a:p>
              <a:pPr algn="l"/>
              <a:r>
                <a:rPr sz="1900" b="1" i="0">
                  <a:solidFill>
                    <a:srgbClr val="B04A2B"/>
                  </a:solidFill>
                  <a:latin typeface="Cambria"/>
                </a:rPr>
                <a:t>3</a:t>
              </a:r>
            </a:p>
          </p:txBody>
        </p:sp>
        <p:sp>
          <p:nvSpPr>
            <p:cNvPr id="22" name="TextBox 21"/>
            <p:cNvSpPr txBox="1"/>
            <p:nvPr/>
          </p:nvSpPr>
          <p:spPr>
            <a:xfrm>
              <a:off x="8520988" y="5117592"/>
              <a:ext cx="2984906" cy="1082039"/>
            </a:xfrm>
            <a:prstGeom prst="rect">
              <a:avLst/>
            </a:prstGeom>
            <a:noFill/>
          </p:spPr>
          <p:txBody>
            <a:bodyPr wrap="square" lIns="0" rIns="0" tIns="18288" bIns="18288" anchor="t">
              <a:spAutoFit/>
            </a:bodyPr>
            <a:lstStyle/>
            <a:p>
              <a:pPr algn="l"/>
              <a:r>
                <a:rPr sz="1900" b="0" i="0">
                  <a:solidFill>
                    <a:srgbClr val="1F2328"/>
                  </a:solidFill>
                  <a:latin typeface="Calibri"/>
                </a:rPr>
                <a:t>A pattern finds the number before the words working days of annual leave.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Keyword search puts the old handbook first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AI-ready data means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sp>
        <p:nvSpPr>
          <p:cNvPr id="5" name="Rectangle 4"/>
          <p:cNvSpPr/>
          <p:nvPr/>
        </p:nvSpPr>
        <p:spPr>
          <a:xfrm>
            <a:off x="685800" y="1600200"/>
            <a:ext cx="6949440" cy="163677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362456"/>
          </a:xfrm>
          <a:prstGeom prst="rect">
            <a:avLst/>
          </a:prstGeom>
          <a:noFill/>
        </p:spPr>
        <p:txBody>
          <a:bodyPr wrap="none" lIns="0" rIns="0" tIns="0" bIns="0">
            <a:spAutoFit/>
          </a:bodyPr>
          <a:lstStyle/>
          <a:p>
            <a:r>
              <a:rPr sz="1450" b="0" i="0">
                <a:solidFill>
                  <a:srgbClr val="1F2328"/>
                </a:solidFill>
                <a:latin typeface="Courier New"/>
              </a:rPr>
              <a:t>corpus</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ks</a:t>
            </a:r>
            <a:r>
              <a:rPr sz="1450" b="0" i="0">
                <a:solidFill>
                  <a:srgbClr val="1F2328"/>
                </a:solidFill>
                <a:latin typeface="Courier New"/>
              </a:rPr>
              <a:t>.</a:t>
            </a:r>
            <a:r>
              <a:rPr sz="1450" b="0" i="0">
                <a:solidFill>
                  <a:srgbClr val="1F2328"/>
                </a:solidFill>
                <a:latin typeface="Courier New"/>
              </a:rPr>
              <a:t>load_corpus</a:t>
            </a:r>
            <a:r>
              <a:rPr sz="1450" b="0" i="0">
                <a:solidFill>
                  <a:srgbClr val="1F2328"/>
                </a:solidFill>
                <a:latin typeface="Courier New"/>
              </a:rPr>
              <a:t>(</a:t>
            </a:r>
            <a:r>
              <a:rPr sz="1450" b="0" i="0">
                <a:solidFill>
                  <a:srgbClr val="B04A2B"/>
                </a:solidFill>
                <a:latin typeface="Courier New"/>
              </a:rPr>
              <a:t>'.'</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ocr</a:t>
            </a:r>
            <a:r>
              <a:rPr sz="1450" b="0" i="0">
                <a:solidFill>
                  <a:srgbClr val="1F2328"/>
                </a:solidFill>
                <a:latin typeface="Courier New"/>
              </a:rPr>
              <a:t>=</a:t>
            </a:r>
            <a:r>
              <a:rPr sz="1450" b="1" i="0">
                <a:solidFill>
                  <a:srgbClr val="1F2328"/>
                </a:solidFill>
                <a:latin typeface="Courier New"/>
              </a:rPr>
              <a:t>False</a:t>
            </a:r>
            <a:r>
              <a:rPr sz="1450" b="0" i="0">
                <a:solidFill>
                  <a:srgbClr val="1F2328"/>
                </a:solidFill>
                <a:latin typeface="Courier New"/>
              </a:rPr>
              <a:t>)</a:t>
            </a:r>
          </a:p>
          <a:p>
            <a:r>
              <a:rPr sz="1450" b="0" i="0">
                <a:solidFill>
                  <a:srgbClr val="1F2328"/>
                </a:solidFill>
                <a:latin typeface="Courier New"/>
              </a:rPr>
              <a:t>search</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ks</a:t>
            </a:r>
            <a:r>
              <a:rPr sz="1450" b="0" i="0">
                <a:solidFill>
                  <a:srgbClr val="1F2328"/>
                </a:solidFill>
                <a:latin typeface="Courier New"/>
              </a:rPr>
              <a:t>.</a:t>
            </a:r>
            <a:r>
              <a:rPr sz="1450" b="0" i="0">
                <a:solidFill>
                  <a:srgbClr val="1F2328"/>
                </a:solidFill>
                <a:latin typeface="Courier New"/>
              </a:rPr>
              <a:t>Searcher</a:t>
            </a:r>
            <a:r>
              <a:rPr sz="1450" b="0" i="0">
                <a:solidFill>
                  <a:srgbClr val="1F2328"/>
                </a:solidFill>
                <a:latin typeface="Courier New"/>
              </a:rPr>
              <a:t>(</a:t>
            </a:r>
            <a:r>
              <a:rPr sz="1450" b="0" i="0">
                <a:solidFill>
                  <a:srgbClr val="1F2328"/>
                </a:solidFill>
                <a:latin typeface="Courier New"/>
              </a:rPr>
              <a:t>ks</a:t>
            </a:r>
            <a:r>
              <a:rPr sz="1450" b="0" i="0">
                <a:solidFill>
                  <a:srgbClr val="1F2328"/>
                </a:solidFill>
                <a:latin typeface="Courier New"/>
              </a:rPr>
              <a:t>.</a:t>
            </a:r>
            <a:r>
              <a:rPr sz="1450" b="0" i="0">
                <a:solidFill>
                  <a:srgbClr val="1F2328"/>
                </a:solidFill>
                <a:latin typeface="Courier New"/>
              </a:rPr>
              <a:t>build_chunks</a:t>
            </a:r>
            <a:r>
              <a:rPr sz="1450" b="0" i="0">
                <a:solidFill>
                  <a:srgbClr val="1F2328"/>
                </a:solidFill>
                <a:latin typeface="Courier New"/>
              </a:rPr>
              <a:t>(</a:t>
            </a:r>
            <a:r>
              <a:rPr sz="1450" b="0" i="0">
                <a:solidFill>
                  <a:srgbClr val="1F2328"/>
                </a:solidFill>
                <a:latin typeface="Courier New"/>
              </a:rPr>
              <a:t>corpus</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q</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'How many days of annual leave am I entitled to?'</a:t>
            </a:r>
          </a:p>
          <a:p>
            <a:r>
              <a:rPr sz="1450" b="1" i="0">
                <a:solidFill>
                  <a:srgbClr val="1F2328"/>
                </a:solidFill>
                <a:latin typeface="Courier New"/>
              </a:rPr>
              <a:t>for</a:t>
            </a:r>
            <a:r>
              <a:rPr sz="1450" b="0" i="0">
                <a:solidFill>
                  <a:srgbClr val="1F2328"/>
                </a:solidFill>
                <a:latin typeface="Courier New"/>
              </a:rPr>
              <a:t> </a:t>
            </a:r>
            <a:r>
              <a:rPr sz="1450" b="0" i="0">
                <a:solidFill>
                  <a:srgbClr val="1F2328"/>
                </a:solidFill>
                <a:latin typeface="Courier New"/>
              </a:rPr>
              <a:t>cur</a:t>
            </a:r>
            <a:r>
              <a:rPr sz="1450" b="0" i="0">
                <a:solidFill>
                  <a:srgbClr val="1F2328"/>
                </a:solidFill>
                <a:latin typeface="Courier New"/>
              </a:rPr>
              <a:t> </a:t>
            </a:r>
            <a:r>
              <a:rPr sz="1450" b="1" i="0">
                <a:solidFill>
                  <a:srgbClr val="1F2328"/>
                </a:solidFill>
                <a:latin typeface="Courier New"/>
              </a:rPr>
              <a:t>in</a:t>
            </a:r>
            <a:r>
              <a:rPr sz="1450" b="0" i="0">
                <a:solidFill>
                  <a:srgbClr val="1F2328"/>
                </a:solidFill>
                <a:latin typeface="Courier New"/>
              </a:rPr>
              <a:t> </a:t>
            </a:r>
            <a:r>
              <a:rPr sz="1450" b="0" i="0">
                <a:solidFill>
                  <a:srgbClr val="1F2328"/>
                </a:solidFill>
                <a:latin typeface="Courier New"/>
              </a:rPr>
              <a:t>(</a:t>
            </a:r>
            <a:r>
              <a:rPr sz="1450" b="1" i="0">
                <a:solidFill>
                  <a:srgbClr val="1F2328"/>
                </a:solidFill>
                <a:latin typeface="Courier New"/>
              </a:rPr>
              <a:t>False</a:t>
            </a:r>
            <a:r>
              <a:rPr sz="1450" b="0" i="0">
                <a:solidFill>
                  <a:srgbClr val="1F2328"/>
                </a:solidFill>
                <a:latin typeface="Courier New"/>
              </a:rPr>
              <a:t>,</a:t>
            </a:r>
            <a:r>
              <a:rPr sz="1450" b="0" i="0">
                <a:solidFill>
                  <a:srgbClr val="1F2328"/>
                </a:solidFill>
                <a:latin typeface="Courier New"/>
              </a:rPr>
              <a:t> </a:t>
            </a:r>
            <a:r>
              <a:rPr sz="1450" b="1" i="0">
                <a:solidFill>
                  <a:srgbClr val="1F2328"/>
                </a:solidFill>
                <a:latin typeface="Courier New"/>
              </a:rPr>
              <a:t>True</a:t>
            </a:r>
            <a:r>
              <a:rPr sz="1450" b="0" i="0">
                <a:solidFill>
                  <a:srgbClr val="1F2328"/>
                </a:solidFill>
                <a:latin typeface="Courier New"/>
              </a:rPr>
              <a:t>)</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rows</a:t>
            </a:r>
            <a:r>
              <a:rPr sz="1450" b="0" i="0">
                <a:solidFill>
                  <a:srgbClr val="1F2328"/>
                </a:solidFill>
                <a:latin typeface="Courier New"/>
              </a:rPr>
              <a:t> </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search</a:t>
            </a:r>
            <a:r>
              <a:rPr sz="1450" b="0" i="0">
                <a:solidFill>
                  <a:srgbClr val="1F2328"/>
                </a:solidFill>
                <a:latin typeface="Courier New"/>
              </a:rPr>
              <a:t>.</a:t>
            </a:r>
            <a:r>
              <a:rPr sz="1450" b="0" i="0">
                <a:solidFill>
                  <a:srgbClr val="1F2328"/>
                </a:solidFill>
                <a:latin typeface="Courier New"/>
              </a:rPr>
              <a:t>search</a:t>
            </a:r>
            <a:r>
              <a:rPr sz="1450" b="0" i="0">
                <a:solidFill>
                  <a:srgbClr val="1F2328"/>
                </a:solidFill>
                <a:latin typeface="Courier New"/>
              </a:rPr>
              <a:t>(</a:t>
            </a:r>
            <a:r>
              <a:rPr sz="1450" b="0" i="0">
                <a:solidFill>
                  <a:srgbClr val="1F2328"/>
                </a:solidFill>
                <a:latin typeface="Courier New"/>
              </a:rPr>
              <a:t>q</a:t>
            </a:r>
            <a:r>
              <a:rPr sz="1450" b="0" i="0">
                <a:solidFill>
                  <a:srgbClr val="1F2328"/>
                </a:solidFill>
                <a:latin typeface="Courier New"/>
              </a:rPr>
              <a:t>,</a:t>
            </a:r>
            <a:r>
              <a:rPr sz="1450" b="0" i="0">
                <a:solidFill>
                  <a:srgbClr val="1F2328"/>
                </a:solidFill>
                <a:latin typeface="Courier New"/>
              </a:rPr>
              <a:t> </a:t>
            </a:r>
            <a:r>
              <a:rPr sz="1450" b="0" i="0">
                <a:solidFill>
                  <a:srgbClr val="B04A2B"/>
                </a:solidFill>
                <a:latin typeface="Courier New"/>
              </a:rPr>
              <a:t>'bm25'</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k</a:t>
            </a:r>
            <a:r>
              <a:rPr sz="1450" b="0" i="0">
                <a:solidFill>
                  <a:srgbClr val="1F2328"/>
                </a:solidFill>
                <a:latin typeface="Courier New"/>
              </a:rPr>
              <a:t>=</a:t>
            </a:r>
            <a:r>
              <a:rPr sz="1450" b="0" i="0">
                <a:solidFill>
                  <a:srgbClr val="3B4046"/>
                </a:solidFill>
                <a:latin typeface="Courier New"/>
              </a:rPr>
              <a:t>3</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current_only</a:t>
            </a:r>
            <a:r>
              <a:rPr sz="1450" b="0" i="0">
                <a:solidFill>
                  <a:srgbClr val="1F2328"/>
                </a:solidFill>
                <a:latin typeface="Courier New"/>
              </a:rPr>
              <a:t>=</a:t>
            </a:r>
            <a:r>
              <a:rPr sz="1450" b="0" i="0">
                <a:solidFill>
                  <a:srgbClr val="1F2328"/>
                </a:solidFill>
                <a:latin typeface="Courier New"/>
              </a:rPr>
              <a:t>cur</a:t>
            </a:r>
            <a:r>
              <a:rPr sz="1450" b="0" i="0">
                <a:solidFill>
                  <a:srgbClr val="1F2328"/>
                </a:solidFill>
                <a:latin typeface="Courier New"/>
              </a:rPr>
              <a:t>)</a:t>
            </a:r>
          </a:p>
          <a:p>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 </a:t>
            </a:r>
            <a:r>
              <a:rPr sz="1450" b="0" i="0">
                <a:solidFill>
                  <a:srgbClr val="1F2328"/>
                </a:solidFill>
                <a:latin typeface="Courier New"/>
              </a:rPr>
              <a:t>print</a:t>
            </a:r>
            <a:r>
              <a:rPr sz="1450" b="0" i="0">
                <a:solidFill>
                  <a:srgbClr val="1F2328"/>
                </a:solidFill>
                <a:latin typeface="Courier New"/>
              </a:rPr>
              <a:t>(</a:t>
            </a:r>
            <a:r>
              <a:rPr sz="1450" b="0" i="0">
                <a:solidFill>
                  <a:srgbClr val="B04A2B"/>
                </a:solidFill>
                <a:latin typeface="Courier New"/>
              </a:rPr>
              <a:t>'current only:'</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cur</a:t>
            </a:r>
            <a:r>
              <a:rPr sz="1450" b="0" i="0">
                <a:solidFill>
                  <a:srgbClr val="1F2328"/>
                </a:solidFill>
                <a:latin typeface="Courier New"/>
              </a:rPr>
              <a:t>,</a:t>
            </a:r>
            <a:r>
              <a:rPr sz="1450" b="0" i="0">
                <a:solidFill>
                  <a:srgbClr val="1F2328"/>
                </a:solidFill>
                <a:latin typeface="Courier New"/>
              </a:rPr>
              <a:t> </a:t>
            </a:r>
            <a:r>
              <a:rPr sz="1450" b="0" i="0">
                <a:solidFill>
                  <a:srgbClr val="1F2328"/>
                </a:solidFill>
                <a:latin typeface="Courier New"/>
              </a:rPr>
              <a:t>list</a:t>
            </a:r>
            <a:r>
              <a:rPr sz="1450" b="0" i="0">
                <a:solidFill>
                  <a:srgbClr val="1F2328"/>
                </a:solidFill>
                <a:latin typeface="Courier New"/>
              </a:rPr>
              <a:t>(</a:t>
            </a:r>
            <a:r>
              <a:rPr sz="1450" b="0" i="0">
                <a:solidFill>
                  <a:srgbClr val="1F2328"/>
                </a:solidFill>
                <a:latin typeface="Courier New"/>
              </a:rPr>
              <a:t>rows</a:t>
            </a:r>
            <a:r>
              <a:rPr sz="1450" b="0" i="0">
                <a:solidFill>
                  <a:srgbClr val="1F2328"/>
                </a:solidFill>
                <a:latin typeface="Courier New"/>
              </a:rPr>
              <a:t>.</a:t>
            </a:r>
            <a:r>
              <a:rPr sz="1450" b="0" i="0">
                <a:solidFill>
                  <a:srgbClr val="1F2328"/>
                </a:solidFill>
                <a:latin typeface="Courier New"/>
              </a:rPr>
              <a:t>chunk_id</a:t>
            </a:r>
            <a:r>
              <a:rPr sz="1450" b="0" i="0">
                <a:solidFill>
                  <a:srgbClr val="1F2328"/>
                </a:solidFill>
                <a:latin typeface="Courier New"/>
              </a:rPr>
              <a:t>)</a:t>
            </a:r>
            <a:r>
              <a:rPr sz="1450" b="0" i="0">
                <a:solidFill>
                  <a:srgbClr val="1F2328"/>
                </a:solidFill>
                <a:latin typeface="Courier New"/>
              </a:rPr>
              <a:t>)</a:t>
            </a:r>
          </a:p>
        </p:txBody>
      </p:sp>
      <p:grpSp>
        <p:nvGrpSpPr>
          <p:cNvPr id="7" name="output"/>
          <p:cNvGrpSpPr/>
          <p:nvPr/>
        </p:nvGrpSpPr>
        <p:grpSpPr>
          <a:xfrm>
            <a:off x="685800" y="3346704"/>
            <a:ext cx="6949440" cy="737615"/>
            <a:chOff x="685800" y="3346704"/>
            <a:chExt cx="6949440" cy="737615"/>
          </a:xfrm>
        </p:grpSpPr>
        <p:sp>
          <p:nvSpPr>
            <p:cNvPr id="8" name="TextBox 7"/>
            <p:cNvSpPr txBox="1"/>
            <p:nvPr/>
          </p:nvSpPr>
          <p:spPr>
            <a:xfrm>
              <a:off x="685800" y="334670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602736"/>
              <a:ext cx="6949440"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3694176"/>
              <a:ext cx="6675120" cy="371855"/>
            </a:xfrm>
            <a:prstGeom prst="rect">
              <a:avLst/>
            </a:prstGeom>
            <a:noFill/>
          </p:spPr>
          <p:txBody>
            <a:bodyPr wrap="none" lIns="0" rIns="0" tIns="0" bIns="0">
              <a:spAutoFit/>
            </a:bodyPr>
            <a:lstStyle/>
            <a:p>
              <a:r>
                <a:rPr sz="1400" b="0" i="0">
                  <a:solidFill>
                    <a:srgbClr val="1F2328"/>
                  </a:solidFill>
                  <a:latin typeface="Courier New"/>
                </a:rPr>
                <a:t>current only: False ['D001-01', 'D002-01', 'D003-01']</a:t>
              </a:r>
            </a:p>
            <a:p>
              <a:r>
                <a:rPr sz="1400" b="0" i="0">
                  <a:solidFill>
                    <a:srgbClr val="1F2328"/>
                  </a:solidFill>
                  <a:latin typeface="Courier New"/>
                </a:rPr>
                <a:t>current only: True ['D003-01', 'D041-01', 'D043-01']</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058418"/>
            <a:chOff x="8046719" y="1691640"/>
            <a:chExt cx="3459176" cy="1058418"/>
          </a:xfrm>
        </p:grpSpPr>
        <p:sp>
          <p:nvSpPr>
            <p:cNvPr id="13" name="TextBox 12"/>
            <p:cNvSpPr txBox="1"/>
            <p:nvPr/>
          </p:nvSpPr>
          <p:spPr>
            <a:xfrm>
              <a:off x="8046719" y="1691640"/>
              <a:ext cx="320040" cy="1040130"/>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021842"/>
            </a:xfrm>
            <a:prstGeom prst="rect">
              <a:avLst/>
            </a:prstGeom>
            <a:noFill/>
          </p:spPr>
          <p:txBody>
            <a:bodyPr wrap="square" lIns="0" rIns="0" tIns="18288" bIns="18288" anchor="t">
              <a:spAutoFit/>
            </a:bodyPr>
            <a:lstStyle/>
            <a:p>
              <a:pPr algn="l"/>
              <a:r>
                <a:rPr sz="2000" b="0" i="0">
                  <a:solidFill>
                    <a:srgbClr val="1F2328"/>
                  </a:solidFill>
                  <a:latin typeface="Calibri"/>
                </a:rPr>
                <a:t>Read every document and cut it into passages. The scans give no text yet.</a:t>
              </a:r>
            </a:p>
          </p:txBody>
        </p:sp>
        <p:cxnSp>
          <p:nvCxnSpPr>
            <p:cNvPr id="15" name="Connector 14"/>
            <p:cNvCxnSpPr/>
            <p:nvPr/>
          </p:nvCxnSpPr>
          <p:spPr>
            <a:xfrm>
              <a:off x="8046719" y="2750058"/>
              <a:ext cx="3459176" cy="0"/>
            </a:xfrm>
            <a:prstGeom prst="line">
              <a:avLst/>
            </a:prstGeom>
            <a:ln w="6350">
              <a:solidFill>
                <a:srgbClr val="C9C5BC"/>
              </a:solidFill>
            </a:ln>
          </p:spPr>
        </p:cxnSp>
      </p:grpSp>
      <p:grpSp>
        <p:nvGrpSpPr>
          <p:cNvPr id="16" name="note-2"/>
          <p:cNvGrpSpPr/>
          <p:nvPr/>
        </p:nvGrpSpPr>
        <p:grpSpPr>
          <a:xfrm>
            <a:off x="8046719" y="2823210"/>
            <a:ext cx="3459176" cy="1058418"/>
            <a:chOff x="8046719" y="2823210"/>
            <a:chExt cx="3459176" cy="1058418"/>
          </a:xfrm>
        </p:grpSpPr>
        <p:sp>
          <p:nvSpPr>
            <p:cNvPr id="17" name="TextBox 16"/>
            <p:cNvSpPr txBox="1"/>
            <p:nvPr/>
          </p:nvSpPr>
          <p:spPr>
            <a:xfrm>
              <a:off x="8046719" y="2823210"/>
              <a:ext cx="320040" cy="1040130"/>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823210"/>
              <a:ext cx="3093415" cy="1021842"/>
            </a:xfrm>
            <a:prstGeom prst="rect">
              <a:avLst/>
            </a:prstGeom>
            <a:noFill/>
          </p:spPr>
          <p:txBody>
            <a:bodyPr wrap="square" lIns="0" rIns="0" tIns="18288" bIns="18288" anchor="t">
              <a:spAutoFit/>
            </a:bodyPr>
            <a:lstStyle/>
            <a:p>
              <a:pPr algn="l"/>
              <a:r>
                <a:rPr sz="2000" b="0" i="0">
                  <a:solidFill>
                    <a:srgbClr val="1F2328"/>
                  </a:solidFill>
                  <a:latin typeface="Calibri"/>
                </a:rPr>
                <a:t>Ask the question as an employee would. Keep the top three passages.</a:t>
              </a:r>
            </a:p>
          </p:txBody>
        </p:sp>
        <p:cxnSp>
          <p:nvCxnSpPr>
            <p:cNvPr id="19" name="Connector 18"/>
            <p:cNvCxnSpPr/>
            <p:nvPr/>
          </p:nvCxnSpPr>
          <p:spPr>
            <a:xfrm>
              <a:off x="8046719" y="3881628"/>
              <a:ext cx="3459176" cy="0"/>
            </a:xfrm>
            <a:prstGeom prst="line">
              <a:avLst/>
            </a:prstGeom>
            <a:ln w="6350">
              <a:solidFill>
                <a:srgbClr val="C9C5BC"/>
              </a:solidFill>
            </a:ln>
          </p:spPr>
        </p:cxnSp>
      </p:grpSp>
      <p:grpSp>
        <p:nvGrpSpPr>
          <p:cNvPr id="20" name="note-3"/>
          <p:cNvGrpSpPr/>
          <p:nvPr/>
        </p:nvGrpSpPr>
        <p:grpSpPr>
          <a:xfrm>
            <a:off x="8046719" y="3954780"/>
            <a:ext cx="3459176" cy="1058418"/>
            <a:chOff x="8046719" y="3954780"/>
            <a:chExt cx="3459176" cy="1058418"/>
          </a:xfrm>
        </p:grpSpPr>
        <p:sp>
          <p:nvSpPr>
            <p:cNvPr id="21" name="TextBox 20"/>
            <p:cNvSpPr txBox="1"/>
            <p:nvPr/>
          </p:nvSpPr>
          <p:spPr>
            <a:xfrm>
              <a:off x="8046719" y="3954780"/>
              <a:ext cx="320040" cy="1040130"/>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3954780"/>
              <a:ext cx="3093415" cy="1021842"/>
            </a:xfrm>
            <a:prstGeom prst="rect">
              <a:avLst/>
            </a:prstGeom>
            <a:noFill/>
          </p:spPr>
          <p:txBody>
            <a:bodyPr wrap="square" lIns="0" rIns="0" tIns="18288" bIns="18288" anchor="t">
              <a:spAutoFit/>
            </a:bodyPr>
            <a:lstStyle/>
            <a:p>
              <a:pPr algn="l"/>
              <a:r>
                <a:rPr sz="2000" b="0" i="0">
                  <a:solidFill>
                    <a:srgbClr val="1F2328"/>
                  </a:solidFill>
                  <a:latin typeface="Calibri"/>
                </a:rPr>
                <a:t>First run, everything. D001, the 2019 handbook, ranks first.</a:t>
              </a:r>
            </a:p>
          </p:txBody>
        </p:sp>
        <p:cxnSp>
          <p:nvCxnSpPr>
            <p:cNvPr id="23" name="Connector 22"/>
            <p:cNvCxnSpPr/>
            <p:nvPr/>
          </p:nvCxnSpPr>
          <p:spPr>
            <a:xfrm>
              <a:off x="8046719" y="5013198"/>
              <a:ext cx="3459176" cy="0"/>
            </a:xfrm>
            <a:prstGeom prst="line">
              <a:avLst/>
            </a:prstGeom>
            <a:ln w="6350">
              <a:solidFill>
                <a:srgbClr val="C9C5BC"/>
              </a:solidFill>
            </a:ln>
          </p:spPr>
        </p:cxnSp>
      </p:grpSp>
      <p:grpSp>
        <p:nvGrpSpPr>
          <p:cNvPr id="24" name="note-4"/>
          <p:cNvGrpSpPr/>
          <p:nvPr/>
        </p:nvGrpSpPr>
        <p:grpSpPr>
          <a:xfrm>
            <a:off x="8046719" y="5086350"/>
            <a:ext cx="3459176" cy="1058418"/>
            <a:chOff x="8046719" y="5086350"/>
            <a:chExt cx="3459176" cy="1058418"/>
          </a:xfrm>
        </p:grpSpPr>
        <p:sp>
          <p:nvSpPr>
            <p:cNvPr id="25" name="TextBox 24"/>
            <p:cNvSpPr txBox="1"/>
            <p:nvPr/>
          </p:nvSpPr>
          <p:spPr>
            <a:xfrm>
              <a:off x="8046719" y="5086350"/>
              <a:ext cx="320040" cy="1040130"/>
            </a:xfrm>
            <a:prstGeom prst="rect">
              <a:avLst/>
            </a:prstGeom>
            <a:noFill/>
          </p:spPr>
          <p:txBody>
            <a:bodyPr wrap="square" lIns="0" rIns="0" tIns="18288" bIns="18288" anchor="t">
              <a:spAutoFit/>
            </a:bodyPr>
            <a:lstStyle/>
            <a:p>
              <a:pPr algn="l"/>
              <a:r>
                <a:rPr sz="2000" b="1" i="0">
                  <a:solidFill>
                    <a:srgbClr val="B04A2B"/>
                  </a:solidFill>
                  <a:latin typeface="Cambria"/>
                </a:rPr>
                <a:t>4</a:t>
              </a:r>
            </a:p>
          </p:txBody>
        </p:sp>
        <p:sp>
          <p:nvSpPr>
            <p:cNvPr id="26" name="TextBox 25"/>
            <p:cNvSpPr txBox="1"/>
            <p:nvPr/>
          </p:nvSpPr>
          <p:spPr>
            <a:xfrm>
              <a:off x="8412480" y="5086350"/>
              <a:ext cx="3093415" cy="1021842"/>
            </a:xfrm>
            <a:prstGeom prst="rect">
              <a:avLst/>
            </a:prstGeom>
            <a:noFill/>
          </p:spPr>
          <p:txBody>
            <a:bodyPr wrap="square" lIns="0" rIns="0" tIns="18288" bIns="18288" anchor="t">
              <a:spAutoFit/>
            </a:bodyPr>
            <a:lstStyle/>
            <a:p>
              <a:pPr algn="l"/>
              <a:r>
                <a:rPr sz="2000" b="0" i="0">
                  <a:solidFill>
                    <a:srgbClr val="1F2328"/>
                  </a:solidFill>
                  <a:latin typeface="Calibri"/>
                </a:rPr>
                <a:t>Second run, current documents only. D003, the 2025 handbook, ranks first.</a:t>
              </a:r>
            </a:p>
          </p:txBody>
        </p:sp>
        <p:cxnSp>
          <p:nvCxnSpPr>
            <p:cNvPr id="27" name="Connector 26"/>
            <p:cNvCxnSpPr/>
            <p:nvPr/>
          </p:nvCxnSpPr>
          <p:spPr>
            <a:xfrm>
              <a:off x="8046719" y="614476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childTnLst>
                    </p:cTn>
                  </p:par>
                  <p:par>
                    <p:cTn id="24" fill="hold">
                      <p:stCondLst>
                        <p:cond delay="indefinite"/>
                      </p:stCondLst>
                      <p:childTnLst>
                        <p:par>
                          <p:cTn id="25"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par>
                                <p:cTn id="21" presetID="10"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confident answer from last year's handbook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1   What AI-ready data means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13</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The assistant says you get 21 days of annual leave and quotes a handbook. It reads well, so nobody checks.</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Search matches words. The 2019 handbook uses almost the same words as the 2025 one, and its status sits in a spreadsheet the search never reads.</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Mark the current version. Keep old editions out of the search. Give the shared drive an owner who retires old editions.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check that stops on a missing owner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AI-ready data means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sp>
        <p:nvSpPr>
          <p:cNvPr id="5" name="Rectangle 4"/>
          <p:cNvSpPr/>
          <p:nvPr/>
        </p:nvSpPr>
        <p:spPr>
          <a:xfrm>
            <a:off x="685800" y="1600200"/>
            <a:ext cx="10820095" cy="186537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10545775" cy="1591056"/>
          </a:xfrm>
          <a:prstGeom prst="rect">
            <a:avLst/>
          </a:prstGeom>
          <a:noFill/>
        </p:spPr>
        <p:txBody>
          <a:bodyPr wrap="none" lIns="0" rIns="0" tIns="0" bIns="0">
            <a:spAutoFit/>
          </a:bodyPr>
          <a:lstStyle/>
          <a:p>
            <a:r>
              <a:rPr sz="1700" b="1" i="0">
                <a:solidFill>
                  <a:srgbClr val="1F2328"/>
                </a:solidFill>
                <a:latin typeface="Courier New"/>
              </a:rPr>
              <a:t>import</a:t>
            </a:r>
            <a:r>
              <a:rPr sz="1700" b="0" i="0">
                <a:solidFill>
                  <a:srgbClr val="1F2328"/>
                </a:solidFill>
                <a:latin typeface="Courier New"/>
              </a:rPr>
              <a:t> </a:t>
            </a:r>
            <a:r>
              <a:rPr sz="1700" b="0" i="0">
                <a:solidFill>
                  <a:srgbClr val="1F2328"/>
                </a:solidFill>
                <a:latin typeface="Courier New"/>
              </a:rPr>
              <a:t>pandas</a:t>
            </a:r>
            <a:r>
              <a:rPr sz="1700" b="0" i="0">
                <a:solidFill>
                  <a:srgbClr val="1F2328"/>
                </a:solidFill>
                <a:latin typeface="Courier New"/>
              </a:rPr>
              <a:t> </a:t>
            </a:r>
            <a:r>
              <a:rPr sz="1700" b="1" i="0">
                <a:solidFill>
                  <a:srgbClr val="1F2328"/>
                </a:solidFill>
                <a:latin typeface="Courier New"/>
              </a:rPr>
              <a:t>as</a:t>
            </a:r>
            <a:r>
              <a:rPr sz="1700" b="0" i="0">
                <a:solidFill>
                  <a:srgbClr val="1F2328"/>
                </a:solidFill>
                <a:latin typeface="Courier New"/>
              </a:rPr>
              <a:t> </a:t>
            </a:r>
            <a:r>
              <a:rPr sz="1700" b="0" i="0">
                <a:solidFill>
                  <a:srgbClr val="1F2328"/>
                </a:solidFill>
                <a:latin typeface="Courier New"/>
              </a:rPr>
              <a:t>pd</a:t>
            </a:r>
          </a:p>
          <a:p>
            <a:r>
              <a:rPr sz="1700" b="0" i="0">
                <a:solidFill>
                  <a:srgbClr val="1F2328"/>
                </a:solidFill>
                <a:latin typeface="Courier New"/>
              </a:rPr>
              <a:t> </a:t>
            </a:r>
          </a:p>
          <a:p>
            <a:r>
              <a:rPr sz="1700" b="0" i="0">
                <a:solidFill>
                  <a:srgbClr val="1F2328"/>
                </a:solidFill>
                <a:latin typeface="Courier New"/>
              </a:rPr>
              <a:t>sources</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pd</a:t>
            </a:r>
            <a:r>
              <a:rPr sz="1700" b="0" i="0">
                <a:solidFill>
                  <a:srgbClr val="1F2328"/>
                </a:solidFill>
                <a:latin typeface="Courier New"/>
              </a:rPr>
              <a:t>.</a:t>
            </a:r>
            <a:r>
              <a:rPr sz="1700" b="0" i="0">
                <a:solidFill>
                  <a:srgbClr val="1F2328"/>
                </a:solidFill>
                <a:latin typeface="Courier New"/>
              </a:rPr>
              <a:t>read_csv</a:t>
            </a:r>
            <a:r>
              <a:rPr sz="1700" b="0" i="0">
                <a:solidFill>
                  <a:srgbClr val="1F2328"/>
                </a:solidFill>
                <a:latin typeface="Courier New"/>
              </a:rPr>
              <a:t>(</a:t>
            </a:r>
            <a:r>
              <a:rPr sz="1700" b="0" i="0">
                <a:solidFill>
                  <a:srgbClr val="B04A2B"/>
                </a:solidFill>
                <a:latin typeface="Courier New"/>
              </a:rPr>
              <a:t>'sources.csv'</a:t>
            </a:r>
            <a:r>
              <a:rPr sz="1700" b="0" i="0">
                <a:solidFill>
                  <a:srgbClr val="1F2328"/>
                </a:solidFill>
                <a:latin typeface="Courier New"/>
              </a:rPr>
              <a:t>)</a:t>
            </a:r>
          </a:p>
          <a:p>
            <a:r>
              <a:rPr sz="1700" b="0" i="0">
                <a:solidFill>
                  <a:srgbClr val="1F2328"/>
                </a:solidFill>
                <a:latin typeface="Courier New"/>
              </a:rPr>
              <a:t>no_owner</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sources</a:t>
            </a:r>
            <a:r>
              <a:rPr sz="1700" b="0" i="0">
                <a:solidFill>
                  <a:srgbClr val="1F2328"/>
                </a:solidFill>
                <a:latin typeface="Courier New"/>
              </a:rPr>
              <a:t>[</a:t>
            </a:r>
            <a:r>
              <a:rPr sz="1700" b="0" i="0">
                <a:solidFill>
                  <a:srgbClr val="1F2328"/>
                </a:solidFill>
                <a:latin typeface="Courier New"/>
              </a:rPr>
              <a:t>sources</a:t>
            </a:r>
            <a:r>
              <a:rPr sz="1700" b="0" i="0">
                <a:solidFill>
                  <a:srgbClr val="1F2328"/>
                </a:solidFill>
                <a:latin typeface="Courier New"/>
              </a:rPr>
              <a:t>.</a:t>
            </a:r>
            <a:r>
              <a:rPr sz="1700" b="0" i="0">
                <a:solidFill>
                  <a:srgbClr val="1F2328"/>
                </a:solidFill>
                <a:latin typeface="Courier New"/>
              </a:rPr>
              <a:t>owner</a:t>
            </a:r>
            <a:r>
              <a:rPr sz="1700" b="0" i="0">
                <a:solidFill>
                  <a:srgbClr val="1F2328"/>
                </a:solidFill>
                <a:latin typeface="Courier New"/>
              </a:rPr>
              <a:t>.</a:t>
            </a:r>
            <a:r>
              <a:rPr sz="1700" b="0" i="0">
                <a:solidFill>
                  <a:srgbClr val="1F2328"/>
                </a:solidFill>
                <a:latin typeface="Courier New"/>
              </a:rPr>
              <a:t>isna</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source_id</a:t>
            </a:r>
            <a:r>
              <a:rPr sz="1700" b="0" i="0">
                <a:solidFill>
                  <a:srgbClr val="1F2328"/>
                </a:solidFill>
                <a:latin typeface="Courier New"/>
              </a:rPr>
              <a:t>.</a:t>
            </a:r>
            <a:r>
              <a:rPr sz="1700" b="0" i="0">
                <a:solidFill>
                  <a:srgbClr val="1F2328"/>
                </a:solidFill>
                <a:latin typeface="Courier New"/>
              </a:rPr>
              <a:t>tolist</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print</a:t>
            </a:r>
            <a:r>
              <a:rPr sz="1700" b="0" i="0">
                <a:solidFill>
                  <a:srgbClr val="1F2328"/>
                </a:solidFill>
                <a:latin typeface="Courier New"/>
              </a:rPr>
              <a:t>(</a:t>
            </a:r>
            <a:r>
              <a:rPr sz="1700" b="0" i="0">
                <a:solidFill>
                  <a:srgbClr val="1F2328"/>
                </a:solidFill>
                <a:latin typeface="Courier New"/>
              </a:rPr>
              <a:t>no_owner</a:t>
            </a:r>
            <a:r>
              <a:rPr sz="1700" b="0" i="0">
                <a:solidFill>
                  <a:srgbClr val="1F2328"/>
                </a:solidFill>
                <a:latin typeface="Courier New"/>
              </a:rPr>
              <a:t>)</a:t>
            </a:r>
          </a:p>
          <a:p>
            <a:r>
              <a:rPr sz="1700" b="1" i="0">
                <a:solidFill>
                  <a:srgbClr val="1F2328"/>
                </a:solidFill>
                <a:latin typeface="Courier New"/>
              </a:rPr>
              <a:t>assert</a:t>
            </a:r>
            <a:r>
              <a:rPr sz="1700" b="0" i="0">
                <a:solidFill>
                  <a:srgbClr val="1F2328"/>
                </a:solidFill>
                <a:latin typeface="Courier New"/>
              </a:rPr>
              <a:t> </a:t>
            </a:r>
            <a:r>
              <a:rPr sz="1700" b="1" i="0">
                <a:solidFill>
                  <a:srgbClr val="1F2328"/>
                </a:solidFill>
                <a:latin typeface="Courier New"/>
              </a:rPr>
              <a:t>not</a:t>
            </a:r>
            <a:r>
              <a:rPr sz="1700" b="0" i="0">
                <a:solidFill>
                  <a:srgbClr val="1F2328"/>
                </a:solidFill>
                <a:latin typeface="Courier New"/>
              </a:rPr>
              <a:t> </a:t>
            </a:r>
            <a:r>
              <a:rPr sz="1700" b="0" i="0">
                <a:solidFill>
                  <a:srgbClr val="1F2328"/>
                </a:solidFill>
                <a:latin typeface="Courier New"/>
              </a:rPr>
              <a:t>no_owner</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f</a:t>
            </a:r>
            <a:r>
              <a:rPr sz="1700" b="0" i="0">
                <a:solidFill>
                  <a:srgbClr val="B04A2B"/>
                </a:solidFill>
                <a:latin typeface="Courier New"/>
              </a:rPr>
              <a:t>'{len(no_owner)} sources have no named owner: {no_owner}'</a:t>
            </a:r>
          </a:p>
        </p:txBody>
      </p:sp>
      <p:grpSp>
        <p:nvGrpSpPr>
          <p:cNvPr id="7" name="output"/>
          <p:cNvGrpSpPr/>
          <p:nvPr/>
        </p:nvGrpSpPr>
        <p:grpSpPr>
          <a:xfrm>
            <a:off x="685800" y="3575304"/>
            <a:ext cx="10820095" cy="737615"/>
            <a:chOff x="685800" y="3575304"/>
            <a:chExt cx="10820095" cy="737615"/>
          </a:xfrm>
        </p:grpSpPr>
        <p:sp>
          <p:nvSpPr>
            <p:cNvPr id="8" name="TextBox 7"/>
            <p:cNvSpPr txBox="1"/>
            <p:nvPr/>
          </p:nvSpPr>
          <p:spPr>
            <a:xfrm>
              <a:off x="685800" y="357530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3831336"/>
              <a:ext cx="10820095"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3922776"/>
              <a:ext cx="10545775" cy="371855"/>
            </a:xfrm>
            <a:prstGeom prst="rect">
              <a:avLst/>
            </a:prstGeom>
            <a:noFill/>
          </p:spPr>
          <p:txBody>
            <a:bodyPr wrap="none" lIns="0" rIns="0" tIns="0" bIns="0">
              <a:spAutoFit/>
            </a:bodyPr>
            <a:lstStyle/>
            <a:p>
              <a:r>
                <a:rPr sz="1400" b="0" i="0">
                  <a:solidFill>
                    <a:srgbClr val="1F2328"/>
                  </a:solidFill>
                  <a:latin typeface="Courier New"/>
                </a:rPr>
                <a:t>['S08', 'S09', 'S12', 'S13']</a:t>
              </a:r>
            </a:p>
            <a:p>
              <a:r>
                <a:rPr sz="1400" b="0" i="0">
                  <a:solidFill>
                    <a:srgbClr val="1F2328"/>
                  </a:solidFill>
                  <a:latin typeface="Courier New"/>
                </a:rPr>
                <a:t>AssertionError: 4 sources have no named owner: ['S08', 'S09', 'S12', 'S13']</a:t>
              </a:r>
            </a:p>
          </p:txBody>
        </p:sp>
      </p:grpSp>
      <p:grpSp>
        <p:nvGrpSpPr>
          <p:cNvPr id="11" name="says-1"/>
          <p:cNvGrpSpPr/>
          <p:nvPr/>
        </p:nvGrpSpPr>
        <p:grpSpPr>
          <a:xfrm>
            <a:off x="685800" y="4495800"/>
            <a:ext cx="5204307" cy="1353312"/>
            <a:chOff x="685800" y="4495800"/>
            <a:chExt cx="5204307" cy="1353312"/>
          </a:xfrm>
        </p:grpSpPr>
        <p:cxnSp>
          <p:nvCxnSpPr>
            <p:cNvPr id="12" name="Connector 11"/>
            <p:cNvCxnSpPr/>
            <p:nvPr/>
          </p:nvCxnSpPr>
          <p:spPr>
            <a:xfrm>
              <a:off x="685800" y="4495800"/>
              <a:ext cx="5204307" cy="0"/>
            </a:xfrm>
            <a:prstGeom prst="line">
              <a:avLst/>
            </a:prstGeom>
            <a:ln w="15875">
              <a:solidFill>
                <a:srgbClr val="1F2328"/>
              </a:solidFill>
            </a:ln>
          </p:spPr>
        </p:cxnSp>
        <p:sp>
          <p:nvSpPr>
            <p:cNvPr id="13" name="TextBox 12"/>
            <p:cNvSpPr txBox="1"/>
            <p:nvPr/>
          </p:nvSpPr>
          <p:spPr>
            <a:xfrm>
              <a:off x="685800" y="45689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1</a:t>
              </a:r>
            </a:p>
          </p:txBody>
        </p:sp>
        <p:sp>
          <p:nvSpPr>
            <p:cNvPr id="14" name="TextBox 13"/>
            <p:cNvSpPr txBox="1"/>
            <p:nvPr/>
          </p:nvSpPr>
          <p:spPr>
            <a:xfrm>
              <a:off x="1033271" y="456895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Read the inventory and list the sources whose owner is blank.</a:t>
              </a:r>
            </a:p>
          </p:txBody>
        </p:sp>
      </p:grpSp>
      <p:grpSp>
        <p:nvGrpSpPr>
          <p:cNvPr id="15" name="says-2"/>
          <p:cNvGrpSpPr/>
          <p:nvPr/>
        </p:nvGrpSpPr>
        <p:grpSpPr>
          <a:xfrm>
            <a:off x="6301587" y="4495800"/>
            <a:ext cx="5204308" cy="1353312"/>
            <a:chOff x="6301587" y="4495800"/>
            <a:chExt cx="5204308" cy="1353312"/>
          </a:xfrm>
        </p:grpSpPr>
        <p:cxnSp>
          <p:nvCxnSpPr>
            <p:cNvPr id="16" name="Connector 15"/>
            <p:cNvCxnSpPr/>
            <p:nvPr/>
          </p:nvCxnSpPr>
          <p:spPr>
            <a:xfrm>
              <a:off x="6301587" y="4495800"/>
              <a:ext cx="5204308" cy="0"/>
            </a:xfrm>
            <a:prstGeom prst="line">
              <a:avLst/>
            </a:prstGeom>
            <a:ln w="15875">
              <a:solidFill>
                <a:srgbClr val="1F2328"/>
              </a:solidFill>
            </a:ln>
          </p:spPr>
        </p:cxnSp>
        <p:sp>
          <p:nvSpPr>
            <p:cNvPr id="17" name="TextBox 16"/>
            <p:cNvSpPr txBox="1"/>
            <p:nvPr/>
          </p:nvSpPr>
          <p:spPr>
            <a:xfrm>
              <a:off x="6301587" y="4568952"/>
              <a:ext cx="292608" cy="1280160"/>
            </a:xfrm>
            <a:prstGeom prst="rect">
              <a:avLst/>
            </a:prstGeom>
            <a:noFill/>
          </p:spPr>
          <p:txBody>
            <a:bodyPr wrap="square" lIns="0" rIns="0" tIns="18288" bIns="18288" anchor="t">
              <a:spAutoFit/>
            </a:bodyPr>
            <a:lstStyle/>
            <a:p>
              <a:pPr algn="l"/>
              <a:r>
                <a:rPr sz="1900" b="1" i="0">
                  <a:solidFill>
                    <a:srgbClr val="B04A2B"/>
                  </a:solidFill>
                  <a:latin typeface="Cambria"/>
                </a:rPr>
                <a:t>2</a:t>
              </a:r>
            </a:p>
          </p:txBody>
        </p:sp>
        <p:sp>
          <p:nvSpPr>
            <p:cNvPr id="18" name="TextBox 17"/>
            <p:cNvSpPr txBox="1"/>
            <p:nvPr/>
          </p:nvSpPr>
          <p:spPr>
            <a:xfrm>
              <a:off x="6649059" y="4568952"/>
              <a:ext cx="4856835" cy="1280160"/>
            </a:xfrm>
            <a:prstGeom prst="rect">
              <a:avLst/>
            </a:prstGeom>
            <a:noFill/>
          </p:spPr>
          <p:txBody>
            <a:bodyPr wrap="square" lIns="0" rIns="0" tIns="18288" bIns="18288" anchor="t">
              <a:spAutoFit/>
            </a:bodyPr>
            <a:lstStyle/>
            <a:p>
              <a:pPr algn="l"/>
              <a:r>
                <a:rPr sz="1900" b="0" i="0">
                  <a:solidFill>
                    <a:srgbClr val="1F2328"/>
                  </a:solidFill>
                  <a:latin typeface="Calibri"/>
                </a:rPr>
                <a:t>An assert is a check written as code. It stops the program when the statement is false.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Four figures quoted about stalled AI projects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AI-ready data means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graphicFrame>
        <p:nvGraphicFramePr>
          <p:cNvPr id="5" name="Table"/>
          <p:cNvGraphicFramePr>
            <a:graphicFrameLocks noGrp="1"/>
          </p:cNvGraphicFramePr>
          <p:nvPr/>
        </p:nvGraphicFramePr>
        <p:xfrm>
          <a:off x="685800" y="1600200"/>
          <a:ext cx="10820093" cy="4526277"/>
        </p:xfrm>
        <a:graphic>
          <a:graphicData uri="http://schemas.openxmlformats.org/drawingml/2006/table">
            <a:tbl>
              <a:tblPr firstRow="0" bandRow="0">
                <a:tableStyleId>{2D5ABB26-0587-4C30-8999-92F81FD0307C}</a:tableStyleId>
              </a:tblPr>
              <a:tblGrid>
                <a:gridCol w="4869042"/>
                <a:gridCol w="2705023"/>
                <a:gridCol w="3246028"/>
              </a:tblGrid>
              <a:tr h="543885">
                <a:tc>
                  <a:txBody>
                    <a:bodyPr wrap="square"/>
                    <a:lstStyle/>
                    <a:p>
                      <a:r>
                        <a:rPr sz="1900" b="1" i="0">
                          <a:solidFill>
                            <a:srgbClr val="1F2328"/>
                          </a:solidFill>
                          <a:latin typeface="Calibri"/>
                        </a:rPr>
                        <a:t>Figure</a:t>
                      </a:r>
                    </a:p>
                  </a:txBody>
                  <a:tcPr marL="0" marR="91440" marT="64008" marB="64008" anchor="ctr">
                    <a:lnL w="0">
                      <a:noFill/>
                    </a:lnL>
                    <a:lnR w="0">
                      <a:noFill/>
                    </a:lnR>
                    <a:lnT w="0">
                      <a:noFill/>
                    </a:lnT>
                    <a:lnB w="15875">
                      <a:solidFill>
                        <a:srgbClr val="1F2328"/>
                      </a:solidFill>
                    </a:lnB>
                    <a:noFill/>
                  </a:tcPr>
                </a:tc>
                <a:tc>
                  <a:txBody>
                    <a:bodyPr wrap="square"/>
                    <a:lstStyle/>
                    <a:p>
                      <a:r>
                        <a:rPr sz="1900" b="1" i="0">
                          <a:solidFill>
                            <a:srgbClr val="1F2328"/>
                          </a:solidFill>
                          <a:latin typeface="Calibri"/>
                        </a:rPr>
                        <a:t>Source</a:t>
                      </a:r>
                    </a:p>
                  </a:txBody>
                  <a:tcPr marL="137160" marR="91440" marT="64008" marB="64008" anchor="ctr">
                    <a:lnL w="0">
                      <a:noFill/>
                    </a:lnL>
                    <a:lnR w="0">
                      <a:noFill/>
                    </a:lnR>
                    <a:lnT w="0">
                      <a:noFill/>
                    </a:lnT>
                    <a:lnB w="15875">
                      <a:solidFill>
                        <a:srgbClr val="1F2328"/>
                      </a:solidFill>
                    </a:lnB>
                    <a:noFill/>
                  </a:tcPr>
                </a:tc>
                <a:tc>
                  <a:txBody>
                    <a:bodyPr wrap="square"/>
                    <a:lstStyle/>
                    <a:p>
                      <a:r>
                        <a:rPr sz="1900" b="1" i="0">
                          <a:solidFill>
                            <a:srgbClr val="1F2328"/>
                          </a:solidFill>
                          <a:latin typeface="Calibri"/>
                        </a:rPr>
                        <a:t>What it is</a:t>
                      </a:r>
                    </a:p>
                  </a:txBody>
                  <a:tcPr marL="137160" marR="91440" marT="64008" marB="64008" anchor="ctr">
                    <a:lnL w="0">
                      <a:noFill/>
                    </a:lnL>
                    <a:lnR w="0">
                      <a:noFill/>
                    </a:lnR>
                    <a:lnT w="0">
                      <a:noFill/>
                    </a:lnT>
                    <a:lnB w="15875">
                      <a:solidFill>
                        <a:srgbClr val="1F2328"/>
                      </a:solidFill>
                    </a:lnB>
                    <a:noFill/>
                  </a:tcPr>
                </a:tc>
              </a:tr>
              <a:tr h="845027">
                <a:tc>
                  <a:txBody>
                    <a:bodyPr wrap="square"/>
                    <a:lstStyle/>
                    <a:p>
                      <a:r>
                        <a:rPr sz="1900" b="0" i="0">
                          <a:solidFill>
                            <a:srgbClr val="3B4046"/>
                          </a:solidFill>
                          <a:latin typeface="Calibri"/>
                        </a:rPr>
                        <a:t>60% of AI projects without AI-ready data abandoned through 2026</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Gartner, Feb 2025</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A forecast</a:t>
                      </a:r>
                    </a:p>
                  </a:txBody>
                  <a:tcPr marL="137160" marR="91440" marT="64008" marB="64008" anchor="ctr">
                    <a:lnL w="0">
                      <a:noFill/>
                    </a:lnL>
                    <a:lnR w="0">
                      <a:noFill/>
                    </a:lnR>
                    <a:lnT w="0">
                      <a:noFill/>
                    </a:lnT>
                    <a:lnB w="6350">
                      <a:solidFill>
                        <a:srgbClr val="C9C5BC"/>
                      </a:solidFill>
                    </a:lnB>
                    <a:noFill/>
                  </a:tcPr>
                </a:tc>
              </a:tr>
              <a:tr h="845027">
                <a:tc>
                  <a:txBody>
                    <a:bodyPr wrap="square"/>
                    <a:lstStyle/>
                    <a:p>
                      <a:r>
                        <a:rPr sz="1900" b="0" i="0">
                          <a:solidFill>
                            <a:srgbClr val="3B4046"/>
                          </a:solidFill>
                          <a:latin typeface="Calibri"/>
                        </a:rPr>
                        <a:t>30% of generative AI projects abandoned after proof of concept by end of 2025</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Gartner, Jul 2024</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A forecast</a:t>
                      </a:r>
                    </a:p>
                  </a:txBody>
                  <a:tcPr marL="137160" marR="91440" marT="64008" marB="64008" anchor="ctr">
                    <a:lnL w="0">
                      <a:noFill/>
                    </a:lnL>
                    <a:lnR w="0">
                      <a:noFill/>
                    </a:lnR>
                    <a:lnT w="0">
                      <a:noFill/>
                    </a:lnT>
                    <a:lnB w="6350">
                      <a:solidFill>
                        <a:srgbClr val="C9C5BC"/>
                      </a:solidFill>
                    </a:lnB>
                    <a:noFill/>
                  </a:tcPr>
                </a:tc>
              </a:tr>
              <a:tr h="1146169">
                <a:tc>
                  <a:txBody>
                    <a:bodyPr wrap="square"/>
                    <a:lstStyle/>
                    <a:p>
                      <a:r>
                        <a:rPr sz="1900" b="0" i="0">
                          <a:solidFill>
                            <a:srgbClr val="3B4046"/>
                          </a:solidFill>
                          <a:latin typeface="Calibri"/>
                        </a:rPr>
                        <a:t>42% of companies abandoned most AI initiatives before production</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S&amp;P Global Market Intelligence</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A survey of about 1,000 people in North America and Europe</a:t>
                      </a:r>
                    </a:p>
                  </a:txBody>
                  <a:tcPr marL="137160" marR="91440" marT="64008" marB="64008" anchor="ctr">
                    <a:lnL w="0">
                      <a:noFill/>
                    </a:lnL>
                    <a:lnR w="0">
                      <a:noFill/>
                    </a:lnR>
                    <a:lnT w="0">
                      <a:noFill/>
                    </a:lnT>
                    <a:lnB w="6350">
                      <a:solidFill>
                        <a:srgbClr val="C9C5BC"/>
                      </a:solidFill>
                    </a:lnB>
                    <a:noFill/>
                  </a:tcPr>
                </a:tc>
              </a:tr>
              <a:tr h="1146169">
                <a:tc>
                  <a:txBody>
                    <a:bodyPr wrap="square"/>
                    <a:lstStyle/>
                    <a:p>
                      <a:r>
                        <a:rPr sz="1900" b="0" i="0">
                          <a:solidFill>
                            <a:srgbClr val="3B4046"/>
                          </a:solidFill>
                          <a:latin typeface="Calibri"/>
                        </a:rPr>
                        <a:t>95% of organisations see no return on generative AI</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MIT NANDA, Jul 2025</a:t>
                      </a:r>
                    </a:p>
                  </a:txBody>
                  <a:tcPr marL="13716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Preliminary research: 153 survey responses, 52 interviews</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What to remember about each figure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AI-ready data means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graphicFrame>
        <p:nvGraphicFramePr>
          <p:cNvPr id="5" name="Table"/>
          <p:cNvGraphicFramePr>
            <a:graphicFrameLocks noGrp="1"/>
          </p:cNvGraphicFramePr>
          <p:nvPr/>
        </p:nvGraphicFramePr>
        <p:xfrm>
          <a:off x="685800" y="1600200"/>
          <a:ext cx="10820094" cy="4526276"/>
        </p:xfrm>
        <a:graphic>
          <a:graphicData uri="http://schemas.openxmlformats.org/drawingml/2006/table">
            <a:tbl>
              <a:tblPr firstRow="0" bandRow="0">
                <a:tableStyleId>{2D5ABB26-0587-4C30-8999-92F81FD0307C}</a:tableStyleId>
              </a:tblPr>
              <a:tblGrid>
                <a:gridCol w="2344353"/>
                <a:gridCol w="8475741"/>
              </a:tblGrid>
              <a:tr h="715060">
                <a:tc>
                  <a:txBody>
                    <a:bodyPr wrap="square"/>
                    <a:lstStyle/>
                    <a:p>
                      <a:r>
                        <a:rPr sz="2000" b="1" i="0">
                          <a:solidFill>
                            <a:srgbClr val="1F2328"/>
                          </a:solidFill>
                          <a:latin typeface="Calibri"/>
                        </a:rPr>
                        <a:t>Figure</a:t>
                      </a:r>
                    </a:p>
                  </a:txBody>
                  <a:tcPr marL="0" marR="91440" marT="64008" marB="64008" anchor="ctr">
                    <a:lnL w="0">
                      <a:noFill/>
                    </a:lnL>
                    <a:lnR w="0">
                      <a:noFill/>
                    </a:lnR>
                    <a:lnT w="0">
                      <a:noFill/>
                    </a:lnT>
                    <a:lnB w="15875">
                      <a:solidFill>
                        <a:srgbClr val="1F2328"/>
                      </a:solidFill>
                    </a:lnB>
                    <a:noFill/>
                  </a:tcPr>
                </a:tc>
                <a:tc>
                  <a:txBody>
                    <a:bodyPr wrap="square"/>
                    <a:lstStyle/>
                    <a:p>
                      <a:r>
                        <a:rPr sz="2000" b="1" i="0">
                          <a:solidFill>
                            <a:srgbClr val="1F2328"/>
                          </a:solidFill>
                          <a:latin typeface="Calibri"/>
                        </a:rPr>
                        <a:t>Caution</a:t>
                      </a:r>
                    </a:p>
                  </a:txBody>
                  <a:tcPr marL="137160" marR="91440" marT="64008" marB="64008" anchor="ctr">
                    <a:lnL w="0">
                      <a:noFill/>
                    </a:lnL>
                    <a:lnR w="0">
                      <a:noFill/>
                    </a:lnR>
                    <a:lnT w="0">
                      <a:noFill/>
                    </a:lnT>
                    <a:lnB w="15875">
                      <a:solidFill>
                        <a:srgbClr val="1F2328"/>
                      </a:solidFill>
                    </a:lnB>
                    <a:noFill/>
                  </a:tcPr>
                </a:tc>
              </a:tr>
              <a:tr h="1349044">
                <a:tc>
                  <a:txBody>
                    <a:bodyPr wrap="square"/>
                    <a:lstStyle/>
                    <a:p>
                      <a:r>
                        <a:rPr sz="2000" b="0" i="0">
                          <a:solidFill>
                            <a:srgbClr val="3B4046"/>
                          </a:solidFill>
                          <a:latin typeface="Calibri"/>
                        </a:rPr>
                        <a:t>Gartner 60%</a:t>
                      </a:r>
                    </a:p>
                  </a:txBody>
                  <a:tcPr marL="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A prediction, repeated widely. The same release cites a survey in which 63% of data management leaders lack, or are unsure they have, the right data practices.</a:t>
                      </a:r>
                    </a:p>
                  </a:txBody>
                  <a:tcPr marL="137160" marR="91440" marT="64008" marB="64008" anchor="ctr">
                    <a:lnL w="0">
                      <a:noFill/>
                    </a:lnL>
                    <a:lnR w="0">
                      <a:noFill/>
                    </a:lnR>
                    <a:lnT w="0">
                      <a:noFill/>
                    </a:lnT>
                    <a:lnB w="6350">
                      <a:solidFill>
                        <a:srgbClr val="C9C5BC"/>
                      </a:solidFill>
                    </a:lnB>
                    <a:noFill/>
                  </a:tcPr>
                </a:tc>
              </a:tr>
              <a:tr h="715060">
                <a:tc>
                  <a:txBody>
                    <a:bodyPr wrap="square"/>
                    <a:lstStyle/>
                    <a:p>
                      <a:r>
                        <a:rPr sz="2000" b="0" i="0">
                          <a:solidFill>
                            <a:srgbClr val="3B4046"/>
                          </a:solidFill>
                          <a:latin typeface="Calibri"/>
                        </a:rPr>
                        <a:t>Gartner 30%</a:t>
                      </a:r>
                    </a:p>
                  </a:txBody>
                  <a:tcPr marL="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A prediction. No source found that checks whether it happened.</a:t>
                      </a:r>
                    </a:p>
                  </a:txBody>
                  <a:tcPr marL="137160" marR="91440" marT="64008" marB="64008" anchor="ctr">
                    <a:lnL w="0">
                      <a:noFill/>
                    </a:lnL>
                    <a:lnR w="0">
                      <a:noFill/>
                    </a:lnR>
                    <a:lnT w="0">
                      <a:noFill/>
                    </a:lnT>
                    <a:lnB w="6350">
                      <a:solidFill>
                        <a:srgbClr val="C9C5BC"/>
                      </a:solidFill>
                    </a:lnB>
                    <a:noFill/>
                  </a:tcPr>
                </a:tc>
              </a:tr>
              <a:tr h="715060">
                <a:tc>
                  <a:txBody>
                    <a:bodyPr wrap="square"/>
                    <a:lstStyle/>
                    <a:p>
                      <a:r>
                        <a:rPr sz="2000" b="0" i="0">
                          <a:solidFill>
                            <a:srgbClr val="3B4046"/>
                          </a:solidFill>
                          <a:latin typeface="Calibri"/>
                        </a:rPr>
                        <a:t>S&amp;P 42%</a:t>
                      </a:r>
                    </a:p>
                  </a:txBody>
                  <a:tcPr marL="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A share of companies. Often misreported as 42% abandoning AI altogether.</a:t>
                      </a:r>
                    </a:p>
                  </a:txBody>
                  <a:tcPr marL="137160" marR="91440" marT="64008" marB="64008" anchor="ctr">
                    <a:lnL w="0">
                      <a:noFill/>
                    </a:lnL>
                    <a:lnR w="0">
                      <a:noFill/>
                    </a:lnR>
                    <a:lnT w="0">
                      <a:noFill/>
                    </a:lnT>
                    <a:lnB w="6350">
                      <a:solidFill>
                        <a:srgbClr val="C9C5BC"/>
                      </a:solidFill>
                    </a:lnB>
                    <a:noFill/>
                  </a:tcPr>
                </a:tc>
              </a:tr>
              <a:tr h="1032052">
                <a:tc>
                  <a:txBody>
                    <a:bodyPr wrap="square"/>
                    <a:lstStyle/>
                    <a:p>
                      <a:r>
                        <a:rPr sz="2000" b="0" i="0">
                          <a:solidFill>
                            <a:srgbClr val="3B4046"/>
                          </a:solidFill>
                          <a:latin typeface="Calibri"/>
                        </a:rPr>
                        <a:t>MIT NANDA 95%</a:t>
                      </a:r>
                    </a:p>
                  </a:txBody>
                  <a:tcPr marL="0" marR="91440" marT="64008" marB="64008" anchor="ctr">
                    <a:lnL w="0">
                      <a:noFill/>
                    </a:lnL>
                    <a:lnR w="0">
                      <a:noFill/>
                    </a:lnR>
                    <a:lnT w="0">
                      <a:noFill/>
                    </a:lnT>
                    <a:lnB w="6350">
                      <a:solidFill>
                        <a:srgbClr val="C9C5BC"/>
                      </a:solidFill>
                    </a:lnB>
                    <a:noFill/>
                  </a:tcPr>
                </a:tc>
                <a:tc>
                  <a:txBody>
                    <a:bodyPr wrap="square"/>
                    <a:lstStyle/>
                    <a:p>
                      <a:r>
                        <a:rPr sz="2000" b="0" i="0">
                          <a:solidFill>
                            <a:srgbClr val="3B4046"/>
                          </a:solidFill>
                          <a:latin typeface="Calibri"/>
                        </a:rPr>
                        <a:t>Preliminary, from a small conference sample. Critics say it counts no profit impact as failure.</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Two numbers about the data itself</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AI-ready data means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Cisco AI Readiness Index, 2025</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A survey of 8,000 senior leaders at companies of over 500 staff</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19% said their data infrastructure is fully centralised</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Leaders rated themselves, in a vendor's survey</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600" b="1" i="0">
                  <a:solidFill>
                    <a:srgbClr val="B04A2B"/>
                  </a:solidFill>
                  <a:latin typeface="Cambria"/>
                </a:rPr>
                <a:t>80 to 90% of data is unstructured</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An estimate credited to Gartner and IDC</a:t>
              </a:r>
            </a:p>
          </p:txBody>
        </p:sp>
        <p:cxnSp>
          <p:nvCxnSpPr>
            <p:cNvPr id="18" name="Connector 17"/>
            <p:cNvCxnSpPr/>
            <p:nvPr/>
          </p:nvCxnSpPr>
          <p:spPr>
            <a:xfrm>
              <a:off x="6415887" y="2926080"/>
              <a:ext cx="5090008" cy="0"/>
            </a:xfrm>
            <a:prstGeom prst="line">
              <a:avLst/>
            </a:prstGeom>
            <a:ln w="6350">
              <a:solidFill>
                <a:srgbClr val="C9C5BC"/>
              </a:solidFill>
            </a:ln>
          </p:spPr>
        </p:cxnSp>
        <p:sp>
          <p:nvSpPr>
            <p:cNvPr id="19" name="TextBox 18"/>
            <p:cNvSpPr txBox="1"/>
            <p:nvPr/>
          </p:nvSpPr>
          <p:spPr>
            <a:xfrm>
              <a:off x="6415887" y="29626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No original document found</a:t>
              </a:r>
            </a:p>
          </p:txBody>
        </p:sp>
        <p:cxnSp>
          <p:nvCxnSpPr>
            <p:cNvPr id="20" name="Connector 19"/>
            <p:cNvCxnSpPr/>
            <p:nvPr/>
          </p:nvCxnSpPr>
          <p:spPr>
            <a:xfrm>
              <a:off x="6415887" y="3611880"/>
              <a:ext cx="5090008" cy="0"/>
            </a:xfrm>
            <a:prstGeom prst="line">
              <a:avLst/>
            </a:prstGeom>
            <a:ln w="6350">
              <a:solidFill>
                <a:srgbClr val="C9C5BC"/>
              </a:solidFill>
            </a:ln>
          </p:spPr>
        </p:cxnSp>
        <p:sp>
          <p:nvSpPr>
            <p:cNvPr id="21" name="TextBox 20"/>
            <p:cNvSpPr txBox="1"/>
            <p:nvPr/>
          </p:nvSpPr>
          <p:spPr>
            <a:xfrm>
              <a:off x="6415887" y="3648456"/>
              <a:ext cx="5090007" cy="630936"/>
            </a:xfrm>
            <a:prstGeom prst="rect">
              <a:avLst/>
            </a:prstGeom>
            <a:noFill/>
          </p:spPr>
          <p:txBody>
            <a:bodyPr wrap="square" lIns="0" rIns="0" tIns="18288" bIns="18288" anchor="ctr">
              <a:spAutoFit/>
            </a:bodyPr>
            <a:lstStyle/>
            <a:p>
              <a:pPr algn="l"/>
              <a:r>
                <a:rPr sz="1900" b="0" i="0">
                  <a:solidFill>
                    <a:srgbClr val="3B4046"/>
                  </a:solidFill>
                  <a:latin typeface="Calibri"/>
                </a:rPr>
                <a:t>IDC figures, as reported, cover all data created worldwide</a:t>
              </a:r>
            </a:p>
          </p:txBody>
        </p:sp>
        <p:cxnSp>
          <p:nvCxnSpPr>
            <p:cNvPr id="22" name="Connector 21"/>
            <p:cNvCxnSpPr/>
            <p:nvPr/>
          </p:nvCxnSpPr>
          <p:spPr>
            <a:xfrm>
              <a:off x="6415887" y="4297680"/>
              <a:ext cx="5090008" cy="0"/>
            </a:xfrm>
            <a:prstGeom prst="line">
              <a:avLst/>
            </a:prstGeom>
            <a:ln w="6350">
              <a:solidFill>
                <a:srgbClr val="C9C5BC"/>
              </a:solidFill>
            </a:ln>
          </p:spPr>
        </p:cxnSp>
        <p:sp>
          <p:nvSpPr>
            <p:cNvPr id="23" name="TextBox 22"/>
            <p:cNvSpPr txBox="1"/>
            <p:nvPr/>
          </p:nvSpPr>
          <p:spPr>
            <a:xfrm>
              <a:off x="6415887" y="43342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Nobody counts files</a:t>
              </a:r>
            </a:p>
          </p:txBody>
        </p:sp>
      </p:grpSp>
      <p:grpSp>
        <p:nvGrpSpPr>
          <p:cNvPr id="24" name="verdict"/>
          <p:cNvGrpSpPr/>
          <p:nvPr/>
        </p:nvGrpSpPr>
        <p:grpSpPr>
          <a:xfrm>
            <a:off x="685800" y="5257800"/>
            <a:ext cx="10820095" cy="978408"/>
            <a:chOff x="685800" y="5257800"/>
            <a:chExt cx="10820095" cy="978408"/>
          </a:xfrm>
        </p:grpSpPr>
        <p:cxnSp>
          <p:nvCxnSpPr>
            <p:cNvPr id="25" name="Connector 24"/>
            <p:cNvCxnSpPr/>
            <p:nvPr/>
          </p:nvCxnSpPr>
          <p:spPr>
            <a:xfrm>
              <a:off x="685800" y="5257800"/>
              <a:ext cx="10820095" cy="0"/>
            </a:xfrm>
            <a:prstGeom prst="line">
              <a:avLst/>
            </a:prstGeom>
            <a:ln w="15875">
              <a:solidFill>
                <a:srgbClr val="1F2328"/>
              </a:solidFill>
            </a:ln>
          </p:spPr>
        </p:cxnSp>
        <p:sp>
          <p:nvSpPr>
            <p:cNvPr id="26" name="TextBox 25"/>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Use both as context. Your own inventory is the evidence.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What each Kitara use case needs, and what the files hold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AI-ready data means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pic>
        <p:nvPicPr>
          <p:cNvPr id="5" name="figure-use_case_data_map" descr="A grid of four AI uses against the data each needs, marked available, partly or missing."/>
          <p:cNvPicPr>
            <a:picLocks noChangeAspect="1"/>
          </p:cNvPicPr>
          <p:nvPr/>
        </p:nvPicPr>
        <p:blipFill>
          <a:blip r:embed="rId3"/>
          <a:stretch>
            <a:fillRect/>
          </a:stretch>
        </p:blipFill>
        <p:spPr>
          <a:xfrm>
            <a:off x="685800" y="1600200"/>
            <a:ext cx="7040880" cy="2725501"/>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Staff policy assistant: the text exists. A named owner is missing.</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Claims triage and fraud flagging: no known outcomes to learn from.</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Churn prediction: transactions cannot be matched to customers.</a:t>
              </a:r>
            </a:p>
          </p:txBody>
        </p:sp>
        <p:cxnSp>
          <p:nvCxnSpPr>
            <p:cNvPr id="18" name="Connector 17"/>
            <p:cNvCxnSpPr/>
            <p:nvPr/>
          </p:nvCxnSpPr>
          <p:spPr>
            <a:xfrm>
              <a:off x="8183879" y="5733288"/>
              <a:ext cx="332201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use case canvas, filled top to bottom</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AI-ready data means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cxnSp>
        <p:nvCxnSpPr>
          <p:cNvPr id="5" name="Connector 4"/>
          <p:cNvCxnSpPr/>
          <p:nvPr/>
        </p:nvCxnSpPr>
        <p:spPr>
          <a:xfrm>
            <a:off x="795528" y="2286000"/>
            <a:ext cx="10600639" cy="0"/>
          </a:xfrm>
          <a:prstGeom prst="line">
            <a:avLst/>
          </a:prstGeom>
          <a:ln w="19050">
            <a:solidFill>
              <a:srgbClr val="1F2328"/>
            </a:solidFill>
          </a:ln>
        </p:spPr>
      </p:cxnSp>
      <p:grpSp>
        <p:nvGrpSpPr>
          <p:cNvPr id="6" name="step-1"/>
          <p:cNvGrpSpPr/>
          <p:nvPr/>
        </p:nvGrpSpPr>
        <p:grpSpPr>
          <a:xfrm>
            <a:off x="676656" y="2167128"/>
            <a:ext cx="2485567" cy="2999231"/>
            <a:chOff x="676656" y="2167128"/>
            <a:chExt cx="2485567" cy="2999231"/>
          </a:xfrm>
        </p:grpSpPr>
        <p:sp>
          <p:nvSpPr>
            <p:cNvPr id="7" name="Oval 6"/>
            <p:cNvSpPr/>
            <p:nvPr/>
          </p:nvSpPr>
          <p:spPr>
            <a:xfrm>
              <a:off x="676656" y="2167128"/>
              <a:ext cx="237744" cy="237744"/>
            </a:xfrm>
            <a:prstGeom prst="ellipse">
              <a:avLst/>
            </a:prstGeom>
            <a:solidFill>
              <a:srgbClr val="FFFFFF"/>
            </a:solidFill>
            <a:ln w="19050">
              <a:solidFill>
                <a:srgbClr val="1F2328"/>
              </a:solidFill>
            </a:ln>
          </p:spPr>
          <p:txBody>
            <a:bodyPr rtlCol="0" anchor="ctr"/>
            <a:lstStyle/>
            <a:p>
              <a:pPr algn="ctr"/>
            </a:p>
          </p:txBody>
        </p:sp>
        <p:sp>
          <p:nvSpPr>
            <p:cNvPr id="8" name="TextBox 7"/>
            <p:cNvSpPr txBox="1"/>
            <p:nvPr/>
          </p:nvSpPr>
          <p:spPr>
            <a:xfrm>
              <a:off x="685800"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The problem</a:t>
              </a:r>
            </a:p>
          </p:txBody>
        </p:sp>
        <p:sp>
          <p:nvSpPr>
            <p:cNvPr id="9" name="TextBox 8"/>
            <p:cNvSpPr txBox="1"/>
            <p:nvPr/>
          </p:nvSpPr>
          <p:spPr>
            <a:xfrm>
              <a:off x="685800"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Name, business owner, problem today, who feels it, predict or search or generate.</a:t>
              </a:r>
            </a:p>
          </p:txBody>
        </p:sp>
      </p:grpSp>
      <p:grpSp>
        <p:nvGrpSpPr>
          <p:cNvPr id="10" name="step-2"/>
          <p:cNvGrpSpPr/>
          <p:nvPr/>
        </p:nvGrpSpPr>
        <p:grpSpPr>
          <a:xfrm>
            <a:off x="3381679" y="2167128"/>
            <a:ext cx="2485567" cy="2999231"/>
            <a:chOff x="3381679" y="2167128"/>
            <a:chExt cx="2485567" cy="2999231"/>
          </a:xfrm>
        </p:grpSpPr>
        <p:sp>
          <p:nvSpPr>
            <p:cNvPr id="11" name="Oval 10"/>
            <p:cNvSpPr/>
            <p:nvPr/>
          </p:nvSpPr>
          <p:spPr>
            <a:xfrm>
              <a:off x="3381679" y="2167128"/>
              <a:ext cx="237744" cy="237744"/>
            </a:xfrm>
            <a:prstGeom prst="ellipse">
              <a:avLst/>
            </a:prstGeom>
            <a:solidFill>
              <a:srgbClr val="FFFFFF"/>
            </a:solidFill>
            <a:ln w="19050">
              <a:solidFill>
                <a:srgbClr val="1F2328"/>
              </a:solidFill>
            </a:ln>
          </p:spPr>
          <p:txBody>
            <a:bodyPr rtlCol="0" anchor="ctr"/>
            <a:lstStyle/>
            <a:p>
              <a:pPr algn="ctr"/>
            </a:p>
          </p:txBody>
        </p:sp>
        <p:sp>
          <p:nvSpPr>
            <p:cNvPr id="12" name="TextBox 11"/>
            <p:cNvSpPr txBox="1"/>
            <p:nvPr/>
          </p:nvSpPr>
          <p:spPr>
            <a:xfrm>
              <a:off x="3390823"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The data</a:t>
              </a:r>
            </a:p>
          </p:txBody>
        </p:sp>
        <p:sp>
          <p:nvSpPr>
            <p:cNvPr id="13" name="TextBox 12"/>
            <p:cNvSpPr txBox="1"/>
            <p:nvPr/>
          </p:nvSpPr>
          <p:spPr>
            <a:xfrm>
              <a:off x="3390823"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Each data set, where it lives, owner, sensitivity, personal data, quality needed.</a:t>
              </a:r>
            </a:p>
          </p:txBody>
        </p:sp>
      </p:grpSp>
      <p:grpSp>
        <p:nvGrpSpPr>
          <p:cNvPr id="14" name="step-3"/>
          <p:cNvGrpSpPr/>
          <p:nvPr/>
        </p:nvGrpSpPr>
        <p:grpSpPr>
          <a:xfrm>
            <a:off x="6086703" y="2167128"/>
            <a:ext cx="2485567" cy="2999231"/>
            <a:chOff x="6086703" y="2167128"/>
            <a:chExt cx="2485567" cy="2999231"/>
          </a:xfrm>
        </p:grpSpPr>
        <p:sp>
          <p:nvSpPr>
            <p:cNvPr id="15" name="Oval 14"/>
            <p:cNvSpPr/>
            <p:nvPr/>
          </p:nvSpPr>
          <p:spPr>
            <a:xfrm>
              <a:off x="6086703" y="2167128"/>
              <a:ext cx="237744" cy="237744"/>
            </a:xfrm>
            <a:prstGeom prst="ellipse">
              <a:avLst/>
            </a:prstGeom>
            <a:solidFill>
              <a:srgbClr val="FFFFFF"/>
            </a:solidFill>
            <a:ln w="19050">
              <a:solidFill>
                <a:srgbClr val="1F2328"/>
              </a:solidFill>
            </a:ln>
          </p:spPr>
          <p:txBody>
            <a:bodyPr rtlCol="0" anchor="ctr"/>
            <a:lstStyle/>
            <a:p>
              <a:pPr algn="ctr"/>
            </a:p>
          </p:txBody>
        </p:sp>
        <p:sp>
          <p:nvSpPr>
            <p:cNvPr id="16" name="TextBox 15"/>
            <p:cNvSpPr txBox="1"/>
            <p:nvPr/>
          </p:nvSpPr>
          <p:spPr>
            <a:xfrm>
              <a:off x="6095847"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The measure</a:t>
              </a:r>
            </a:p>
          </p:txBody>
        </p:sp>
        <p:sp>
          <p:nvSpPr>
            <p:cNvPr id="17" name="TextBox 16"/>
            <p:cNvSpPr txBox="1"/>
            <p:nvPr/>
          </p:nvSpPr>
          <p:spPr>
            <a:xfrm>
              <a:off x="6095847"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One success measure, the number today, the target and the date.</a:t>
              </a:r>
            </a:p>
          </p:txBody>
        </p:sp>
      </p:grpSp>
      <p:grpSp>
        <p:nvGrpSpPr>
          <p:cNvPr id="18" name="step-4"/>
          <p:cNvGrpSpPr/>
          <p:nvPr/>
        </p:nvGrpSpPr>
        <p:grpSpPr>
          <a:xfrm>
            <a:off x="8791727" y="2167128"/>
            <a:ext cx="2485567" cy="2999231"/>
            <a:chOff x="8791727" y="2167128"/>
            <a:chExt cx="2485567" cy="2999231"/>
          </a:xfrm>
        </p:grpSpPr>
        <p:sp>
          <p:nvSpPr>
            <p:cNvPr id="19" name="Oval 18"/>
            <p:cNvSpPr/>
            <p:nvPr/>
          </p:nvSpPr>
          <p:spPr>
            <a:xfrm>
              <a:off x="8791727" y="2167128"/>
              <a:ext cx="237744" cy="237744"/>
            </a:xfrm>
            <a:prstGeom prst="ellipse">
              <a:avLst/>
            </a:prstGeom>
            <a:solidFill>
              <a:srgbClr val="FFFFFF"/>
            </a:solidFill>
            <a:ln w="19050">
              <a:solidFill>
                <a:srgbClr val="1F2328"/>
              </a:solidFill>
            </a:ln>
          </p:spPr>
          <p:txBody>
            <a:bodyPr rtlCol="0" anchor="ctr"/>
            <a:lstStyle/>
            <a:p>
              <a:pPr algn="ctr"/>
            </a:p>
          </p:txBody>
        </p:sp>
        <p:sp>
          <p:nvSpPr>
            <p:cNvPr id="20" name="TextBox 19"/>
            <p:cNvSpPr txBox="1"/>
            <p:nvPr/>
          </p:nvSpPr>
          <p:spPr>
            <a:xfrm>
              <a:off x="8800871" y="2606040"/>
              <a:ext cx="2476423" cy="868680"/>
            </a:xfrm>
            <a:prstGeom prst="rect">
              <a:avLst/>
            </a:prstGeom>
            <a:noFill/>
          </p:spPr>
          <p:txBody>
            <a:bodyPr wrap="square" lIns="0" rIns="0" tIns="18288" bIns="18288" anchor="t">
              <a:spAutoFit/>
            </a:bodyPr>
            <a:lstStyle/>
            <a:p>
              <a:pPr algn="l"/>
              <a:r>
                <a:rPr sz="2400" b="1" i="0">
                  <a:solidFill>
                    <a:srgbClr val="1F2328"/>
                  </a:solidFill>
                  <a:latin typeface="Cambria"/>
                </a:rPr>
                <a:t>The decision</a:t>
              </a:r>
            </a:p>
          </p:txBody>
        </p:sp>
        <p:sp>
          <p:nvSpPr>
            <p:cNvPr id="21" name="TextBox 20"/>
            <p:cNvSpPr txBox="1"/>
            <p:nvPr/>
          </p:nvSpPr>
          <p:spPr>
            <a:xfrm>
              <a:off x="8800871" y="3114446"/>
              <a:ext cx="2476423" cy="2051913"/>
            </a:xfrm>
            <a:prstGeom prst="rect">
              <a:avLst/>
            </a:prstGeom>
            <a:noFill/>
          </p:spPr>
          <p:txBody>
            <a:bodyPr wrap="square" lIns="0" rIns="0" tIns="18288" bIns="18288" anchor="t">
              <a:spAutoFit/>
            </a:bodyPr>
            <a:lstStyle/>
            <a:p>
              <a:pPr algn="l"/>
              <a:r>
                <a:rPr sz="2200" b="0" i="0">
                  <a:solidFill>
                    <a:srgbClr val="3B4046"/>
                  </a:solidFill>
                  <a:latin typeface="Calibri"/>
                </a:rPr>
                <a:t>Effort and value from 1 to 5, main risk, what you need from your sponsor.</a:t>
              </a:r>
            </a:p>
          </p:txBody>
        </p:sp>
      </p:grpSp>
      <p:cxnSp>
        <p:nvCxnSpPr>
          <p:cNvPr id="22" name="Connector 21"/>
          <p:cNvCxnSpPr/>
          <p:nvPr/>
        </p:nvCxnSpPr>
        <p:spPr>
          <a:xfrm>
            <a:off x="685800" y="5120640"/>
            <a:ext cx="10820095" cy="0"/>
          </a:xfrm>
          <a:prstGeom prst="line">
            <a:avLst/>
          </a:prstGeom>
          <a:ln w="15875">
            <a:solidFill>
              <a:srgbClr val="1F2328"/>
            </a:solidFill>
          </a:ln>
        </p:spPr>
      </p:cxnSp>
      <p:sp>
        <p:nvSpPr>
          <p:cNvPr id="23" name="TextBox 22"/>
          <p:cNvSpPr txBox="1"/>
          <p:nvPr/>
        </p:nvSpPr>
        <p:spPr>
          <a:xfrm>
            <a:off x="685800" y="5257800"/>
            <a:ext cx="10820095" cy="914400"/>
          </a:xfrm>
          <a:prstGeom prst="rect">
            <a:avLst/>
          </a:prstGeom>
          <a:noFill/>
        </p:spPr>
        <p:txBody>
          <a:bodyPr wrap="square" lIns="0" rIns="0" tIns="18288" bIns="18288" anchor="t">
            <a:spAutoFit/>
          </a:bodyPr>
          <a:lstStyle/>
          <a:p>
            <a:pPr algn="l"/>
            <a:r>
              <a:rPr sz="2200" b="0" i="0">
                <a:solidFill>
                  <a:srgbClr val="1F2328"/>
                </a:solidFill>
                <a:latin typeface="Cambria"/>
              </a:rPr>
              <a:t>Priority is value divided by effort. A higher number is a better first use.</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Workshop: three AI uses on the canvas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AI-ready data means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Name three AI uses and a business owner each</a:t>
            </a:r>
          </a:p>
        </p:txBody>
      </p:sp>
      <p:cxnSp>
        <p:nvCxnSpPr>
          <p:cNvPr id="8" name="Connector 7"/>
          <p:cNvCxnSpPr/>
          <p:nvPr/>
        </p:nvCxnSpPr>
        <p:spPr>
          <a:xfrm>
            <a:off x="685800" y="2259874"/>
            <a:ext cx="7223760" cy="0"/>
          </a:xfrm>
          <a:prstGeom prst="line">
            <a:avLst/>
          </a:prstGeom>
          <a:ln w="6350">
            <a:solidFill>
              <a:srgbClr val="C9C5BC"/>
            </a:solidFill>
          </a:ln>
        </p:spPr>
      </p:cxnSp>
      <p:sp>
        <p:nvSpPr>
          <p:cNvPr id="9" name="TextBox 8"/>
          <p:cNvSpPr txBox="1"/>
          <p:nvPr/>
        </p:nvSpPr>
        <p:spPr>
          <a:xfrm>
            <a:off x="685800" y="2351314"/>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351314"/>
            <a:ext cx="6675120" cy="568234"/>
          </a:xfrm>
          <a:prstGeom prst="rect">
            <a:avLst/>
          </a:prstGeom>
          <a:noFill/>
        </p:spPr>
        <p:txBody>
          <a:bodyPr wrap="square" lIns="0" rIns="0" tIns="18288" bIns="18288" anchor="t">
            <a:spAutoFit/>
          </a:bodyPr>
          <a:lstStyle/>
          <a:p>
            <a:pPr algn="l"/>
            <a:r>
              <a:rPr sz="1700" b="0" i="0">
                <a:solidFill>
                  <a:srgbClr val="1F2328"/>
                </a:solidFill>
                <a:latin typeface="Calibri"/>
              </a:rPr>
              <a:t>Write the problem today, with a number, and mark it predict, search or generate</a:t>
            </a:r>
          </a:p>
        </p:txBody>
      </p:sp>
      <p:cxnSp>
        <p:nvCxnSpPr>
          <p:cNvPr id="11" name="Connector 10"/>
          <p:cNvCxnSpPr/>
          <p:nvPr/>
        </p:nvCxnSpPr>
        <p:spPr>
          <a:xfrm>
            <a:off x="685800" y="2919548"/>
            <a:ext cx="7223760" cy="0"/>
          </a:xfrm>
          <a:prstGeom prst="line">
            <a:avLst/>
          </a:prstGeom>
          <a:ln w="6350">
            <a:solidFill>
              <a:srgbClr val="C9C5BC"/>
            </a:solidFill>
          </a:ln>
        </p:spPr>
      </p:cxnSp>
      <p:sp>
        <p:nvSpPr>
          <p:cNvPr id="12" name="TextBox 11"/>
          <p:cNvSpPr txBox="1"/>
          <p:nvPr/>
        </p:nvSpPr>
        <p:spPr>
          <a:xfrm>
            <a:off x="685800" y="3010988"/>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010988"/>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List the data each needs and where it lives</a:t>
            </a:r>
          </a:p>
        </p:txBody>
      </p:sp>
      <p:cxnSp>
        <p:nvCxnSpPr>
          <p:cNvPr id="14" name="Connector 13"/>
          <p:cNvCxnSpPr/>
          <p:nvPr/>
        </p:nvCxnSpPr>
        <p:spPr>
          <a:xfrm>
            <a:off x="685800" y="3579222"/>
            <a:ext cx="7223760" cy="0"/>
          </a:xfrm>
          <a:prstGeom prst="line">
            <a:avLst/>
          </a:prstGeom>
          <a:ln w="6350">
            <a:solidFill>
              <a:srgbClr val="C9C5BC"/>
            </a:solidFill>
          </a:ln>
        </p:spPr>
      </p:cxnSp>
      <p:sp>
        <p:nvSpPr>
          <p:cNvPr id="15" name="TextBox 14"/>
          <p:cNvSpPr txBox="1"/>
          <p:nvPr/>
        </p:nvSpPr>
        <p:spPr>
          <a:xfrm>
            <a:off x="685800" y="3670662"/>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670662"/>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Name the data owner, sensitivity, personal data</a:t>
            </a:r>
          </a:p>
        </p:txBody>
      </p:sp>
      <p:cxnSp>
        <p:nvCxnSpPr>
          <p:cNvPr id="17" name="Connector 16"/>
          <p:cNvCxnSpPr/>
          <p:nvPr/>
        </p:nvCxnSpPr>
        <p:spPr>
          <a:xfrm>
            <a:off x="685800" y="4238897"/>
            <a:ext cx="7223760" cy="0"/>
          </a:xfrm>
          <a:prstGeom prst="line">
            <a:avLst/>
          </a:prstGeom>
          <a:ln w="6350">
            <a:solidFill>
              <a:srgbClr val="C9C5BC"/>
            </a:solidFill>
          </a:ln>
        </p:spPr>
      </p:cxnSp>
      <p:sp>
        <p:nvSpPr>
          <p:cNvPr id="18" name="TextBox 17"/>
          <p:cNvSpPr txBox="1"/>
          <p:nvPr/>
        </p:nvSpPr>
        <p:spPr>
          <a:xfrm>
            <a:off x="685800" y="4330337"/>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330337"/>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Test each data line against the four failures</a:t>
            </a:r>
          </a:p>
        </p:txBody>
      </p:sp>
      <p:cxnSp>
        <p:nvCxnSpPr>
          <p:cNvPr id="20" name="Connector 19"/>
          <p:cNvCxnSpPr/>
          <p:nvPr/>
        </p:nvCxnSpPr>
        <p:spPr>
          <a:xfrm>
            <a:off x="685800" y="4898571"/>
            <a:ext cx="7223760" cy="0"/>
          </a:xfrm>
          <a:prstGeom prst="line">
            <a:avLst/>
          </a:prstGeom>
          <a:ln w="6350">
            <a:solidFill>
              <a:srgbClr val="C9C5BC"/>
            </a:solidFill>
          </a:ln>
        </p:spPr>
      </p:cxnSp>
      <p:sp>
        <p:nvSpPr>
          <p:cNvPr id="21" name="TextBox 20"/>
          <p:cNvSpPr txBox="1"/>
          <p:nvPr/>
        </p:nvSpPr>
        <p:spPr>
          <a:xfrm>
            <a:off x="685800" y="4990011"/>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4990011"/>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Score effort and value, read the priority</a:t>
            </a:r>
          </a:p>
        </p:txBody>
      </p:sp>
      <p:cxnSp>
        <p:nvCxnSpPr>
          <p:cNvPr id="23" name="Connector 22"/>
          <p:cNvCxnSpPr/>
          <p:nvPr/>
        </p:nvCxnSpPr>
        <p:spPr>
          <a:xfrm>
            <a:off x="685800" y="5558245"/>
            <a:ext cx="7223760" cy="0"/>
          </a:xfrm>
          <a:prstGeom prst="line">
            <a:avLst/>
          </a:prstGeom>
          <a:ln w="6350">
            <a:solidFill>
              <a:srgbClr val="C9C5BC"/>
            </a:solidFill>
          </a:ln>
        </p:spPr>
      </p:cxnSp>
      <p:sp>
        <p:nvSpPr>
          <p:cNvPr id="24" name="TextBox 23"/>
          <p:cNvSpPr txBox="1"/>
          <p:nvPr/>
        </p:nvSpPr>
        <p:spPr>
          <a:xfrm>
            <a:off x="685800" y="5649685"/>
            <a:ext cx="457200" cy="568234"/>
          </a:xfrm>
          <a:prstGeom prst="rect">
            <a:avLst/>
          </a:prstGeom>
          <a:noFill/>
        </p:spPr>
        <p:txBody>
          <a:bodyPr wrap="square" lIns="0" rIns="0" tIns="18288" bIns="18288" anchor="t">
            <a:spAutoFit/>
          </a:bodyPr>
          <a:lstStyle/>
          <a:p>
            <a:pPr algn="l"/>
            <a:r>
              <a:rPr sz="2400" b="1" i="0">
                <a:solidFill>
                  <a:srgbClr val="B04A2B"/>
                </a:solidFill>
                <a:latin typeface="Cambria"/>
              </a:rPr>
              <a:t>7</a:t>
            </a:r>
          </a:p>
        </p:txBody>
      </p:sp>
      <p:sp>
        <p:nvSpPr>
          <p:cNvPr id="25" name="TextBox 24"/>
          <p:cNvSpPr txBox="1"/>
          <p:nvPr/>
        </p:nvSpPr>
        <p:spPr>
          <a:xfrm>
            <a:off x="1234440" y="5649685"/>
            <a:ext cx="6675120" cy="568234"/>
          </a:xfrm>
          <a:prstGeom prst="rect">
            <a:avLst/>
          </a:prstGeom>
          <a:noFill/>
        </p:spPr>
        <p:txBody>
          <a:bodyPr wrap="square" lIns="0" rIns="0" tIns="18288" bIns="18288" anchor="t">
            <a:spAutoFit/>
          </a:bodyPr>
          <a:lstStyle/>
          <a:p>
            <a:pPr algn="l"/>
            <a:r>
              <a:rPr sz="2200" b="0" i="0">
                <a:solidFill>
                  <a:srgbClr val="1F2328"/>
                </a:solidFill>
                <a:latin typeface="Calibri"/>
              </a:rPr>
              <a:t>Data colleague: run the handbook tasks in the notebook</a:t>
            </a:r>
          </a:p>
        </p:txBody>
      </p:sp>
      <p:cxnSp>
        <p:nvCxnSpPr>
          <p:cNvPr id="26" name="Connector 25"/>
          <p:cNvCxnSpPr/>
          <p:nvPr/>
        </p:nvCxnSpPr>
        <p:spPr>
          <a:xfrm>
            <a:off x="685800" y="6217920"/>
            <a:ext cx="7223760" cy="0"/>
          </a:xfrm>
          <a:prstGeom prst="line">
            <a:avLst/>
          </a:prstGeom>
          <a:ln w="6350">
            <a:solidFill>
              <a:srgbClr val="C9C5BC"/>
            </a:solidFill>
          </a:ln>
        </p:spPr>
      </p:cxnSp>
      <p:cxnSp>
        <p:nvCxnSpPr>
          <p:cNvPr id="27" name="Connector 26"/>
          <p:cNvCxnSpPr/>
          <p:nvPr/>
        </p:nvCxnSpPr>
        <p:spPr>
          <a:xfrm>
            <a:off x="8458200" y="1600200"/>
            <a:ext cx="3047695" cy="0"/>
          </a:xfrm>
          <a:prstGeom prst="line">
            <a:avLst/>
          </a:prstGeom>
          <a:ln w="15875">
            <a:solidFill>
              <a:srgbClr val="1F2328"/>
            </a:solidFill>
          </a:ln>
        </p:spPr>
      </p:cxnSp>
      <p:sp>
        <p:nvSpPr>
          <p:cNvPr id="28" name="TextBox 27"/>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9" name="TextBox 28"/>
          <p:cNvSpPr txBox="1"/>
          <p:nvPr/>
        </p:nvSpPr>
        <p:spPr>
          <a:xfrm>
            <a:off x="8458200" y="2011680"/>
            <a:ext cx="3047695" cy="1097280"/>
          </a:xfrm>
          <a:prstGeom prst="rect">
            <a:avLst/>
          </a:prstGeom>
          <a:noFill/>
        </p:spPr>
        <p:txBody>
          <a:bodyPr wrap="square" lIns="0" rIns="0" tIns="18288" bIns="18288" anchor="t">
            <a:spAutoFit/>
          </a:bodyPr>
          <a:lstStyle/>
          <a:p>
            <a:pPr algn="l"/>
            <a:r>
              <a:rPr sz="1900" b="1" i="0">
                <a:solidFill>
                  <a:srgbClr val="1F2328"/>
                </a:solidFill>
                <a:latin typeface="Cambria"/>
              </a:rPr>
              <a:t>Use Case Canvas workbook and team notebook
40 minutes</a:t>
            </a:r>
          </a:p>
        </p:txBody>
      </p:sp>
      <p:cxnSp>
        <p:nvCxnSpPr>
          <p:cNvPr id="30" name="Connector 29"/>
          <p:cNvCxnSpPr/>
          <p:nvPr/>
        </p:nvCxnSpPr>
        <p:spPr>
          <a:xfrm>
            <a:off x="8458200" y="3200400"/>
            <a:ext cx="3047695" cy="0"/>
          </a:xfrm>
          <a:prstGeom prst="line">
            <a:avLst/>
          </a:prstGeom>
          <a:ln w="6350">
            <a:solidFill>
              <a:srgbClr val="C9C5BC"/>
            </a:solidFill>
          </a:ln>
        </p:spPr>
      </p:cxnSp>
      <p:sp>
        <p:nvSpPr>
          <p:cNvPr id="31" name="TextBox 30"/>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32" name="TextBox 31"/>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Three use cases sit on the canvas, each with its data, where it lives and who owns it. Gaps are written down.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AI-ready data means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Kitara's search put the 2019 handbook first. Which of the four ways data fails is that?</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150" b="0" i="0">
                  <a:solidFill>
                    <a:srgbClr val="3B4046"/>
                  </a:solidFill>
                  <a:latin typeface="Calibri"/>
                </a:rPr>
                <a:t>Stale. The data exists and is out of date. Its status sat in a spreadsheet the search never read.</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Gartner says 60% of AI projects without AI-ready data will be abandoned. What kind of figure is that?</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A forecast. Nobody has counted what happened.</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150" b="1" i="0">
                <a:solidFill>
                  <a:srgbClr val="1F2328"/>
                </a:solidFill>
                <a:latin typeface="Cambria"/>
              </a:rPr>
              <a:t>Who in your organisation signs off your first AI use, and who answers for the data it reads?</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Two named people. If you cannot name them, that is your first finding.</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1   What AI-ready data means</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834390"/>
          </a:xfrm>
          <a:prstGeom prst="rect">
            <a:avLst/>
          </a:prstGeom>
          <a:noFill/>
        </p:spPr>
        <p:txBody>
          <a:bodyPr wrap="square" lIns="0" rIns="0" tIns="18288" bIns="18288" anchor="ctr">
            <a:spAutoFit/>
          </a:bodyPr>
          <a:lstStyle/>
          <a:p>
            <a:pPr algn="l"/>
            <a:r>
              <a:rPr sz="2550" b="0" i="0">
                <a:solidFill>
                  <a:srgbClr val="1F2328"/>
                </a:solidFill>
                <a:latin typeface="Cambria"/>
              </a:rPr>
              <a:t>AI does three jobs with data: predict, search and generate. Each reads different data.</a:t>
            </a:r>
          </a:p>
        </p:txBody>
      </p:sp>
      <p:cxnSp>
        <p:nvCxnSpPr>
          <p:cNvPr id="7" name="Connector 6"/>
          <p:cNvCxnSpPr/>
          <p:nvPr/>
        </p:nvCxnSpPr>
        <p:spPr>
          <a:xfrm>
            <a:off x="685800" y="2526030"/>
            <a:ext cx="10820095" cy="0"/>
          </a:xfrm>
          <a:prstGeom prst="line">
            <a:avLst/>
          </a:prstGeom>
          <a:ln w="6350">
            <a:solidFill>
              <a:srgbClr val="C9C5BC"/>
            </a:solidFill>
          </a:ln>
        </p:spPr>
      </p:cxnSp>
      <p:sp>
        <p:nvSpPr>
          <p:cNvPr id="8" name="TextBox 7"/>
          <p:cNvSpPr txBox="1"/>
          <p:nvPr/>
        </p:nvSpPr>
        <p:spPr>
          <a:xfrm>
            <a:off x="685800" y="2617470"/>
            <a:ext cx="9875520" cy="834390"/>
          </a:xfrm>
          <a:prstGeom prst="rect">
            <a:avLst/>
          </a:prstGeom>
          <a:noFill/>
        </p:spPr>
        <p:txBody>
          <a:bodyPr wrap="square" lIns="0" rIns="0" tIns="18288" bIns="18288" anchor="ctr">
            <a:spAutoFit/>
          </a:bodyPr>
          <a:lstStyle/>
          <a:p>
            <a:pPr algn="l"/>
            <a:r>
              <a:rPr sz="2600" b="0" i="0">
                <a:solidFill>
                  <a:srgbClr val="1F2328"/>
                </a:solidFill>
                <a:latin typeface="Cambria"/>
              </a:rPr>
              <a:t>Data fails in four ways: missing, stale, unowned and unreachable.</a:t>
            </a:r>
          </a:p>
        </p:txBody>
      </p:sp>
      <p:cxnSp>
        <p:nvCxnSpPr>
          <p:cNvPr id="9" name="Connector 8"/>
          <p:cNvCxnSpPr/>
          <p:nvPr/>
        </p:nvCxnSpPr>
        <p:spPr>
          <a:xfrm>
            <a:off x="685800" y="3451860"/>
            <a:ext cx="10820095" cy="0"/>
          </a:xfrm>
          <a:prstGeom prst="line">
            <a:avLst/>
          </a:prstGeom>
          <a:ln w="6350">
            <a:solidFill>
              <a:srgbClr val="C9C5BC"/>
            </a:solidFill>
          </a:ln>
        </p:spPr>
      </p:cxnSp>
      <p:sp>
        <p:nvSpPr>
          <p:cNvPr id="10" name="TextBox 9"/>
          <p:cNvSpPr txBox="1"/>
          <p:nvPr/>
        </p:nvSpPr>
        <p:spPr>
          <a:xfrm>
            <a:off x="685800" y="3543300"/>
            <a:ext cx="9875520" cy="834390"/>
          </a:xfrm>
          <a:prstGeom prst="rect">
            <a:avLst/>
          </a:prstGeom>
          <a:noFill/>
        </p:spPr>
        <p:txBody>
          <a:bodyPr wrap="square" lIns="0" rIns="0" tIns="18288" bIns="18288" anchor="ctr">
            <a:spAutoFit/>
          </a:bodyPr>
          <a:lstStyle/>
          <a:p>
            <a:pPr algn="l"/>
            <a:r>
              <a:rPr sz="2550" b="0" i="0">
                <a:solidFill>
                  <a:srgbClr val="1F2328"/>
                </a:solidFill>
                <a:latin typeface="Cambria"/>
              </a:rPr>
              <a:t>Published figures are forecasts, surveys and estimates. Ask what each one measured.</a:t>
            </a:r>
          </a:p>
        </p:txBody>
      </p:sp>
      <p:cxnSp>
        <p:nvCxnSpPr>
          <p:cNvPr id="11" name="Connector 10"/>
          <p:cNvCxnSpPr/>
          <p:nvPr/>
        </p:nvCxnSpPr>
        <p:spPr>
          <a:xfrm>
            <a:off x="685800" y="4377690"/>
            <a:ext cx="10820095" cy="0"/>
          </a:xfrm>
          <a:prstGeom prst="line">
            <a:avLst/>
          </a:prstGeom>
          <a:ln w="6350">
            <a:solidFill>
              <a:srgbClr val="C9C5BC"/>
            </a:solidFill>
          </a:ln>
        </p:spPr>
      </p:cxnSp>
      <p:sp>
        <p:nvSpPr>
          <p:cNvPr id="12" name="TextBox 11"/>
          <p:cNvSpPr txBox="1"/>
          <p:nvPr/>
        </p:nvSpPr>
        <p:spPr>
          <a:xfrm>
            <a:off x="685800" y="4469130"/>
            <a:ext cx="9875520" cy="834390"/>
          </a:xfrm>
          <a:prstGeom prst="rect">
            <a:avLst/>
          </a:prstGeom>
          <a:noFill/>
        </p:spPr>
        <p:txBody>
          <a:bodyPr wrap="square" lIns="0" rIns="0" tIns="18288" bIns="18288" anchor="ctr">
            <a:spAutoFit/>
          </a:bodyPr>
          <a:lstStyle/>
          <a:p>
            <a:pPr algn="l"/>
            <a:r>
              <a:rPr sz="2600" b="0" i="0">
                <a:solidFill>
                  <a:srgbClr val="1F2328"/>
                </a:solidFill>
                <a:latin typeface="Cambria"/>
              </a:rPr>
              <a:t>The canvas ties each use to its data, where it lives and who owns it.</a:t>
            </a:r>
          </a:p>
        </p:txBody>
      </p:sp>
      <p:cxnSp>
        <p:nvCxnSpPr>
          <p:cNvPr id="13" name="Connector 12"/>
          <p:cNvCxnSpPr/>
          <p:nvPr/>
        </p:nvCxnSpPr>
        <p:spPr>
          <a:xfrm>
            <a:off x="685800" y="5303520"/>
            <a:ext cx="10820095" cy="0"/>
          </a:xfrm>
          <a:prstGeom prst="line">
            <a:avLst/>
          </a:prstGeom>
          <a:ln w="6350">
            <a:solidFill>
              <a:srgbClr val="C9C5BC"/>
            </a:solidFill>
          </a:ln>
        </p:spPr>
      </p:cxnSp>
      <p:sp>
        <p:nvSpPr>
          <p:cNvPr id="14" name="TextBox 13"/>
          <p:cNvSpPr txBox="1"/>
          <p:nvPr/>
        </p:nvSpPr>
        <p:spPr>
          <a:xfrm>
            <a:off x="685800" y="5623560"/>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Score your readiness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