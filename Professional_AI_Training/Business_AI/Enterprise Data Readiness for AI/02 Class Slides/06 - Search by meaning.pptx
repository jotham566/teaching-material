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Kitara search how long before I get my money, and it answers with a mobile money circular. The right passage is in the claims procedure and shares one word with the question. Today we find out why, and what meaning search adds. You will see keyword scoring worked on three short passages, then run on the 139 Kitara chunks. You will see a map where questions land near their answers, five free places to keep the vectors, and two lists joined by a sum you can do by hand. Then you write ten questions from your own staff.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 can explain keyword search, embeddings and vector search in plain words. You will run keyword and meaning search on the same question and see where they differ, including a Swahili question that neither one can answer. You will combine two ranked lists by hand with reciprocal rank fusion. The workshop turns your own staff questions into the first ten rows of a test sheet. Near the end the leaders decide whether a first pilot is keyword only or hybrid, and what it must prove.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BM25 is the standard way of scoring a keyword match. An embedding is a list of numbers that stands for the meaning of a text. Nearest neighbour search finds the stored lists closest to the question. A vector store keeps them. Hybrid search runs keyword and meaning search together. Reciprocal rank fusion joins the two lists with a simple sum. Re-ranking is a second reader that reorders the top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about chunks before we put them to work. Today the 139 chunks from last session finally get searched.</a:t>
            </a:r>
          </a:p>
          <a:p/>
          <a:p>
            <a:r>
              <a:t>Last session you cut documents into chunks. Which labels did every chunk carry, and what do they let a search do? Give that a moment.</a:t>
            </a:r>
          </a:p>
          <a:p/>
          <a:p>
            <a:r>
              <a:t>Every chunk carried a status, its access groups and a sensitivity. With those, a search can leave out the superseded documents, and it can keep a confidential chunk away from someone who may not see it.</a:t>
            </a:r>
          </a:p>
          <a:p/>
          <a:p>
            <a:r>
              <a:t>Second question. Why do neighbouring chunks share forty words? Take your time.</a:t>
            </a:r>
          </a:p>
          <a:p/>
          <a:p>
            <a:r>
              <a:t>So that a sentence at the join is not cut in half. Both chunks keep the whole rule. The Kitara chunks are ready, and the question for today is how to find the right one when somebody 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staff member types a question into a search box. There are two ways to answer it.</a:t>
            </a:r>
          </a:p>
          <a:p/>
          <a:p>
            <a:r>
              <a:t>On the left, keyword search. It counts the words the question and a passage have in common. A rare word counts for more than a common one. You can always see which words matched, and that makes it easy to explain. Its weakness is a passage that says the same thing in other words.</a:t>
            </a:r>
          </a:p>
          <a:p/>
          <a:p>
            <a:r>
              <a:t>On the right, meaning search. Software turns each piece of text into a list of numbers, so that passages about similar ideas get lists that sit close together. It can find the passage that uses other words. It cannot tell you why it matched, and it depends on a model that somebody must pick and test.</a:t>
            </a:r>
          </a:p>
          <a:p/>
          <a:p>
            <a:r>
              <a:t>Kitara needs both. Used together they are called hybrid search, and by the end of this session you will have built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Keyword search has a name, BM25, and it is older than most of the tools in this course. Let me show you how it scores, on three short passages you can read in a breath.</a:t>
            </a:r>
          </a:p>
          <a:p/>
          <a:p>
            <a:r>
              <a:t>The first passage is a leave rule. The second is a note about holiday photos on the intranet. The third is about the day salary is paid.</a:t>
            </a:r>
          </a:p>
          <a:p/>
          <a:p>
            <a:r>
              <a:t>BM25 gives every word a weight for how rare it is. A word found in most passages tells you little. A word found in one passage tells you a lot. Here holiday, request and leave each sit in one passage only, so each weighs nought point nine eight.</a:t>
            </a:r>
          </a:p>
          <a:p/>
          <a:p>
            <a:r>
              <a:t>Next, the scores. Someone asks for a holiday request. Passage two, the photos, scores one point one four, and the real leave rule scores nought point seven seven. The photos win because they contain the word holiday. Change the question to leave request and the rule scores one point nine four, with the other two at zero. A passage also scores a little less when it is long, so a short one that matches has an edge. Keyword search follows the words you type.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runs on the Kitara chunks. This is question three in the test set. How long is CCTV retained in the branch?</a:t>
            </a:r>
          </a:p>
          <a:p/>
          <a:p>
            <a:r>
              <a:t>First the setup. The block loads the hundred and twenty one documents, reads the eight scans with OCR, and cuts everything into a hundred and thirty nine chunks. Then it builds one searcher. That takes about twenty seconds, and we only do it once.</a:t>
            </a:r>
          </a:p>
          <a:p/>
          <a:p>
            <a:r>
              <a:t>The question is broken into words, and the small common words are dropped. Four are left. Long, CCTV, retained and branch.</a:t>
            </a:r>
          </a:p>
          <a:p/>
          <a:p>
            <a:r>
              <a:t>The three best chunks come with their scores. The Data Retention Schedule scores five point nine one and comes first. That is the right answer. The other two are weaker. The IT change procedure and a claim letter score about four and a half, only because they contain words like long and branch. Keyword search is very good when the question uses the words of the document. CCTV is a rare word, so it counted for a lot.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gap is what made meaning search popular. A claimant, or a staff member helping one, asks how long before I get my money.</a:t>
            </a:r>
          </a:p>
          <a:p/>
          <a:p>
            <a:r>
              <a:t>The answer sits in the Claims Handling procedure, which says an accepted claim is settled within thirty calendar days. It never uses the word money, and it never says get.</a:t>
            </a:r>
          </a:p>
          <a:p/>
          <a:p>
            <a:r>
              <a:t>The block runs the question through keyword search and through our stand-in for meaning search. The words money and long match mobile money documents, so both searches put a mobile money circular or manual first. The claims procedure comes forty seventh in the keyword list and twenty seventh in the meaning list. Nobody reads that far.</a:t>
            </a:r>
          </a:p>
          <a:p/>
          <a:p>
            <a:r>
              <a:t>The last line shows why. The question and the whole claims procedure share one word, before.</a:t>
            </a:r>
          </a:p>
          <a:p/>
          <a:p>
            <a:r>
              <a:t>This question is not in the test set. Others like it are. Who must approve an account for a politician, where the document says politically exposed person, is ranked seventh by keyword search and first by the stand in. A question about a holiday request, where the document says leave, is missed by both within the top ten. A stand in is a simple model, and a real embedding model may do better on questions like these. You find out by testing it on yours.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Meaning search rests on the embedding. An embedding is a list of numbers that stands for the meaning of a piece of text.</a:t>
            </a:r>
          </a:p>
          <a:p/>
          <a:p>
            <a:r>
              <a:t>Think of a map. Every chunk gets a position on the map, and chunks about similar ideas land near each other. A question gets a position too. Searching then means finding the chunks closest to the question. The word for that is nearest neighbour search, and the distance is usually measured by an angle called cosine similarity. A score of one means the two point the same way.</a:t>
            </a:r>
          </a:p>
          <a:p/>
          <a:p>
            <a:r>
              <a:t>A real embedding model uses hundreds of numbers for each text. The stand in we use in this course uses sixty four, so that every one of you gets the same result without downloading anything.</a:t>
            </a:r>
          </a:p>
          <a:p/>
          <a:p>
            <a:r>
              <a:t>Write down for yourself a question your staff ask in words your own documents never use. We come back to that in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map idea, drawn from the Kitara chunks. Each dark dot is a chunk. Sixty four numbers per chunk are flattened to two, so the picture is approximate. The clay diamonds are four of our test questions.</a:t>
            </a:r>
          </a:p>
          <a:p/>
          <a:p>
            <a:r>
              <a:t>Question one asks what check happens on each borrower before a decision. It sits beside the Loan Approval Policy, document D007. Question two, who must approve an account for a politician, sits beside D008, the KYC procedure. The lines join each question to its nearest chunks.</a:t>
            </a:r>
          </a:p>
          <a:p/>
          <a:p>
            <a:r>
              <a:t>Question three is about pasting client details into a free online assistant. Its nearest chunk is D038, the acceptable use policy for generative AI tools. Question four asks how many quotes a medium purchase needs. It lands beside D028, the procurement policy.</a:t>
            </a:r>
          </a:p>
          <a:p/>
          <a:p>
            <a:r>
              <a:t>One thing to remember. These are stand in vectors, so the numbers are reproducible. A real embedding model places things differently, usually better. The picture shows the idea, and your own model decides the quality.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 in goes to work on the politician question.</a:t>
            </a:r>
          </a:p>
          <a:p/>
          <a:p>
            <a:r>
              <a:t>The first line prints the shape. A hundred and thirty nine rows, one per chunk, and sixty four numbers in each. This stand in is built from counts of whole words and of word pieces, squeezed down to sixty four numbers. It is a teaching tool so that all of you get the same numbers. A real embedding model is different and usually understands more, so do not expect your model to reproduce these figures.</a:t>
            </a:r>
          </a:p>
          <a:p/>
          <a:p>
            <a:r>
              <a:t>The question goes through the same process, and every chunk gets a cosine score against it. The two best are both from the KYC procedure, at nought point five five four and nought point five one six. Third comes the savings group product guide.</a:t>
            </a:r>
          </a:p>
          <a:p/>
          <a:p>
            <a:r>
              <a:t>The last line is the interesting one. The right chunk shares only one word with the question, account. The stand in still ranks it first, because politician and politically exposed share word pieces. A real model goes further and links the ideas themselves. Keep that difference in mind when the results look too good or too bad.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numbers exist, they have to be kept somewhere that can find the nearest ones quickly. That place is called a vector store. There are many. Here are five that are free to use.</a:t>
            </a:r>
          </a:p>
          <a:p/>
          <a:p>
            <a:r>
              <a:t>pgvector is an add on for PostgreSQL. The vectors live in a column of an ordinary table, next to the other columns, and one query can filter by status or access group. If your bank already runs PostgreSQL, that is the lowest effort start.</a:t>
            </a:r>
          </a:p>
          <a:p/>
          <a:p>
            <a:r>
              <a:t>Chroma is a small store that runs inside your Python program and saves to a folder. It suits a pilot. Qdrant is a separate database server built only for vectors. FAISS is a library from Meta. It keeps the vectors in memory and finds neighbours very fast, and it is often found inside other products. OpenSearch is a search engine that does keyword and vector search together.</a:t>
            </a:r>
          </a:p>
          <a:p/>
          <a:p>
            <a:r>
              <a:t>As reported in October 2026, pgvector uses the PostgreSQL licence, FAISS is MIT, and the other three are Apache two point oh. All permit commercial use. Open each project's licence file before you rely on it. Vector search itself has become a commodity. The hard parts are the ones from Session 5 and the test in Session 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real model, the same job looks like this. We have not run it here today, so I will show you the shape of the code and no output. Your data colleague runs it in the team notebook.</a:t>
            </a:r>
          </a:p>
          <a:p/>
          <a:p>
            <a:r>
              <a:t>The library is called sentence transformers. It is free, and its licence is Apache two point oh. The first line loads a model. This one is all mini L M L six v two, a small English model. It downloads once, and then it runs on a normal laptop without a graphics card.</a:t>
            </a:r>
          </a:p>
          <a:p/>
          <a:p>
            <a:r>
              <a:t>The next lines encode two sentences and the question. Every text becomes a list of three hundred and eighty four numbers. Because the lists are normalised, multiplying them gives the cosine score directly. The sentence about the credit reference bureau should score higher than the one about Christmas Eve.</a:t>
            </a:r>
          </a:p>
          <a:p/>
          <a:p>
            <a:r>
              <a:t>The two comment lines name a second model for English and Swahili together, multilingual e five small. It reports to cover about ninety four languages, and it needs the words query and passage typed in front of the text. Before you choose either model, read its model card, which states the licence, the languages and the limits. As of October 2026 the cards list all mini L M as Apache two point oh and multilingual e five small as MIT. Check the card again on the day you choose.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Chroma is the easiest store to start with, so we show it in six lines. This is syntax only too, so the code is not run today.</a:t>
            </a:r>
          </a:p>
          <a:p/>
          <a:p>
            <a:r>
              <a:t>The first two lines open a store that saves to a folder called kitara chroma and create a collection, which is like a table. The word get or create means the same code can run twice without an error.</a:t>
            </a:r>
          </a:p>
          <a:p/>
          <a:p>
            <a:r>
              <a:t>The add call stores each chunk with its id, its text, and a label, here the status we attached in Session 5. Chroma makes the embeddings itself. By default it uses a small English model that downloads on first use, so read that model's card too.</a:t>
            </a:r>
          </a:p>
          <a:p/>
          <a:p>
            <a:r>
              <a:t>The query asks for the three nearest chunks to the question, and the where part keeps only current documents. This is where the labels pay off. A superseded handbook never reaches the results. Next session we do the same for access groups. The result comes back as lists of lists, with one list per question, so we print the first.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job inside a database. The Python is only a way to send commands to PostgreSQL, and what matters is the SQL in the quotes.</a:t>
            </a:r>
          </a:p>
          <a:p/>
          <a:p>
            <a:r>
              <a:t>First, one command switches on the pgvector extension in a database. Then we make a table. The last column is of type vector, and the three hundred and eighty four in brackets is how many numbers each embedding holds. That has to match your model.</a:t>
            </a:r>
          </a:p>
          <a:p/>
          <a:p>
            <a:r>
              <a:t>The query is the interesting part. The odd symbol, a less than, an equals sign and a greater than, is the cosine distance operator. The smaller the distance, the closer the chunk is to the question. Distance and similarity are two sides of one number. Similarity is one minus distance.</a:t>
            </a:r>
          </a:p>
          <a:p/>
          <a:p>
            <a:r>
              <a:t>The query also says status equals current, so the filter and the search happen in one statement, inside the database your bank already runs and secures. For larger tables you add an index, and pgvector documents two kinds, called hnsw and ivfflat. Without an index it checks every row, which is exact and fine for a pilot.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combine the two searches. The method is called reciprocal rank fusion, and you can do it with a pencil.</a:t>
            </a:r>
          </a:p>
          <a:p/>
          <a:p>
            <a:r>
              <a:t>The rule is short. For every list a chunk appears in, take one divided by sixty plus its place in that list. Then add up the scores for each chunk and sort by the total. Sixty is a constant that keeps the first place from counting too much.</a:t>
            </a:r>
          </a:p>
          <a:p/>
          <a:p>
            <a:r>
              <a:t>This is question one. Keyword search puts the loan policy seventh, so out of sight. Its score from that list is one over sixty seven, which is nought point oh one four nine.</a:t>
            </a:r>
          </a:p>
          <a:p/>
          <a:p>
            <a:r>
              <a:t>The meaning list has two chunks of the Loan Approval Policy at the top. Part one is second, worth one over sixty two, nought point oh one six one.</a:t>
            </a:r>
          </a:p>
          <a:p/>
          <a:p>
            <a:r>
              <a:t>Add the two and part one reaches nought point oh three one one. That puts it third overall. A claim letter takes first place because it sits third in both lists. A chunk that both searches like beats one that only one search loves. The right document went from seventh to third. Fusion does not always put it first, and that is why we measure in Session 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idea, and only one slide for it. It is called re-ranking.</a:t>
            </a:r>
          </a:p>
          <a:p/>
          <a:p>
            <a:r>
              <a:t>The first search has to look at every chunk, so it must be fast, and fast means rough. A re-ranker is a second, slower reader. It takes the top twenty or so results and reads each question together with each passage, then scores the pair. The model type used for this is often called a cross encoder, and it sees both texts at once. It puts the list in a better order.</a:t>
            </a:r>
          </a:p>
          <a:p/>
          <a:p>
            <a:r>
              <a:t>This costs something. You host another model, every question waits a little longer, and you have one more part to test.</a:t>
            </a:r>
          </a:p>
          <a:p/>
          <a:p>
            <a:r>
              <a:t>For your pilot I would leave it out. Build the hybrid search, run your test questions, and look at where the right passage lands. If it is usually somewhere in the top ten and not in the top three, that is the moment to try re-ranking. If it is missing altogether, a re-ranker cannot help, because it only reorders what the first search found.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 has a subsidiary in Nairobi, so some staff will ask in Swahili. Six of our sixty test questions are in Swahili.</a:t>
            </a:r>
          </a:p>
          <a:p/>
          <a:p>
            <a:r>
              <a:t>Three of them ask about the Swahili circulars from Kitara Kenya, for example when the branches open on Saturday. Three ask in Swahili about documents written in English, for example how many characters a password needs.</a:t>
            </a:r>
          </a:p>
          <a:p/>
          <a:p>
            <a:r>
              <a:t>The block runs every question through the three methods and prints the place of the right document in the top ten. A dash means it is missing.</a:t>
            </a:r>
          </a:p>
          <a:p/>
          <a:p>
            <a:r>
              <a:t>The first three questions score a one in every column. The words in the question and in the circular are the same words, so any method finds it.</a:t>
            </a:r>
          </a:p>
          <a:p/>
          <a:p>
            <a:r>
              <a:t>The last three are the problem. Question fifty two reaches eighth place with the stand in and with the hybrid. Fifty three and fifty four never appear in the top ten. Nothing in the stand in links a Swahili word to its English meaning, and keyword search cannot either. A real multilingual model is trained to place the same idea in different languages close together. That is what multilingual e five small is built for, and you test it on Swahili questions from your own staff.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busy page can still hold no answer.</a:t>
            </a:r>
          </a:p>
          <a:p/>
          <a:p>
            <a:r>
              <a:t>A staff member asks in Swahili how many characters a password needs. Back come three Swahili circulars from Kitara Kenya. The page is full, the titles look official, and nobody sees an error.</a:t>
            </a:r>
          </a:p>
          <a:p/>
          <a:p>
            <a:r>
              <a:t>The answer sits in the English IT security policy, which says passwords have at least twelve characters. The Swahili question shares no words with it, and our stand in knows nothing about Swahili. The three circulars come back because they are written in Swahili. All three Swahili questions about English documents missed the top five.</a:t>
            </a:r>
          </a:p>
          <a:p/>
          <a:p>
            <a:r>
              <a:t>Three habits protect you. Test a multilingual model on questions your own staff write in Swahili, and expect to read the results yourself. Keep Swahili questions in the test set from the first day. And show the source document next to every answer, so a person can see where it came from.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 not always need meaning search. It costs a model, a store and some testing, so it should earn its place.</a:t>
            </a:r>
          </a:p>
          <a:p/>
          <a:p>
            <a:r>
              <a:t>On the left, when keyword search is enough. Staff use the words of the document. In Kitara's test set, thirty seven of the sixty questions share two or more words with the right passage. Or staff search for an identifier. Questions three eight, three nine and four zero ask about a claim number, and keyword search puts the right document first for all three. A claim number has no synonyms. And the set is small and in one language.</a:t>
            </a:r>
          </a:p>
          <a:p/>
          <a:p>
            <a:r>
              <a:t>On the right, when to add meaning search. Staff ask in their own words. Twenty three of the sixty share at most one word with the passage that answers them. Documents or questions arrive in two languages. Or you have run your questions and the failure list shows right passages missed.</a:t>
            </a:r>
          </a:p>
          <a:p/>
          <a:p>
            <a:r>
              <a:t>The verdict is a way to work. Start with keyword search. Count what it misses on your own questions. Add meaning search for those misses. That is what the workshop starts today and Session 7 finishes.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next forty minutes you write the first ten rows of your own search test. Real questions, and the place where each answer lives.</a:t>
            </a:r>
          </a:p>
          <a:p/>
          <a:p>
            <a:r>
              <a:t>Start with the help desk, the HR mailbox, or the branch managers. Ask what staff really ask, and copy the words they use. Questions you invent at your desk will use the words of the document, and that flatters the search. Write each question as a person would type it.</a:t>
            </a:r>
          </a:p>
          <a:p/>
          <a:p>
            <a:r>
              <a:t>Then find the answer. Open the Search Test Sheet workbook and fill in the Tests sheet. For each question write the document that holds the answer, copy its id, and copy a short phrase from the right passage. Put the owner and the format in the note column.</a:t>
            </a:r>
          </a:p>
          <a:p/>
          <a:p>
            <a:r>
              <a:t>Next, mark the questions. Does the question share words with the answer, or is it a paraphrase? Is it in another language, restricted, or sensitive to the version?</a:t>
            </a:r>
          </a:p>
          <a:p/>
          <a:p>
            <a:r>
              <a:t>If you have a search running, put the rank of the right document in column E. If you do not, the data colleague runs the team notebook alongside you and sees what keyword and meaning search do with the Kitara questions. At the end the leader looks at the owner column. An answer with no owner is a finding.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questions to finish, and the third is for the leaders.</a:t>
            </a:r>
          </a:p>
          <a:p/>
          <a:p>
            <a:r>
              <a:t>A staff member asks how long before I get my money, and the search returns a mobile money circular. Why? Think it over.</a:t>
            </a:r>
          </a:p>
          <a:p/>
          <a:p>
            <a:r>
              <a:t>Keyword search follows words. The question shares only one word with the claims procedure, and the word money matches the mobile money documents. Meaning search helps with exactly that gap, though our stand in did not close it.</a:t>
            </a:r>
          </a:p>
          <a:p/>
          <a:p>
            <a:r>
              <a:t>Second. What does reciprocal rank fusion add up for one chunk? No rush.</a:t>
            </a:r>
          </a:p>
          <a:p/>
          <a:p>
            <a:r>
              <a:t>For every list the chunk appears in, one divided by sixty plus its place. The scores are added. A chunk that both lists rank well comes out on top.</a:t>
            </a:r>
          </a:p>
          <a:p/>
          <a:p>
            <a:r>
              <a:t>Third, for the leaders. Who in your organisation signs off whether the first pilot is keyword only or hybrid, and which questions must it answer correctly before you fund it? Sit with it for a second.</a:t>
            </a:r>
          </a:p>
          <a:p/>
          <a:p>
            <a:r>
              <a:t>Name one role. It is usually the business sponsor together with the data lead. A fair test is the ten questions you wrote today, with some paraphrases and some in Swahili. If keyword search answers them, you have saved money. If it misses them, you now know what the money buys.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explain two ways of searching and combine them.</a:t>
            </a:r>
          </a:p>
          <a:p/>
          <a:p>
            <a:r>
              <a:t>Keyword search follows the words. It is quick, it shows which words matched, and it is hard to beat for rare terms and claim numbers. It misses a passage that says the same thing in other words.</a:t>
            </a:r>
          </a:p>
          <a:p/>
          <a:p>
            <a:r>
              <a:t>An embedding is a list of numbers that places a text on a map by meaning, and a vector store finds the nearest chunks. We have five free ones, and pgvector is the easiest if you run PostgreSQL. Every model has its own licence, so read the model card.</a:t>
            </a:r>
          </a:p>
          <a:p/>
          <a:p>
            <a:r>
              <a:t>Reciprocal rank fusion combines the lists with a sum you can do by hand. For question one it moved the right passage from seventh to third.</a:t>
            </a:r>
          </a:p>
          <a:p/>
          <a:p>
            <a:r>
              <a:t>The ten questions you wrote today are the start of the test. Next session we score the search on sixty questions, find out what fails, and check that a restricted document stays hidden.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6   Search by meaning</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06</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6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Search by meaning</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What does search by meaning add to the keyword search we already have?</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Explain keyword search, embeddings and vector search in plain words</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350" b="0" i="0">
                <a:solidFill>
                  <a:srgbClr val="1F2328"/>
                </a:solidFill>
                <a:latin typeface="Cambria"/>
              </a:rPr>
              <a:t>Run a keyword search and a meaning search on the same question and compare</a:t>
            </a:r>
          </a:p>
        </p:txBody>
      </p:sp>
      <p:cxnSp>
        <p:nvCxnSpPr>
          <p:cNvPr id="9" name="Connector 8"/>
          <p:cNvCxnSpPr/>
          <p:nvPr/>
        </p:nvCxnSpPr>
        <p:spPr>
          <a:xfrm>
            <a:off x="685800" y="3727704"/>
            <a:ext cx="5394960" cy="0"/>
          </a:xfrm>
          <a:prstGeom prst="line">
            <a:avLst/>
          </a:prstGeom>
          <a:ln w="6350">
            <a:solidFill>
              <a:srgbClr val="C9C5BC"/>
            </a:solidFill>
          </a:ln>
        </p:spPr>
      </p:cxnSp>
      <p:sp>
        <p:nvSpPr>
          <p:cNvPr id="10" name="TextBox 9"/>
          <p:cNvSpPr txBox="1"/>
          <p:nvPr/>
        </p:nvSpPr>
        <p:spPr>
          <a:xfrm>
            <a:off x="685800" y="389229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Combine two ranked lists with reciprocal rank fusion</a:t>
            </a:r>
          </a:p>
        </p:txBody>
      </p:sp>
      <p:cxnSp>
        <p:nvCxnSpPr>
          <p:cNvPr id="11" name="Connector 10"/>
          <p:cNvCxnSpPr/>
          <p:nvPr/>
        </p:nvCxnSpPr>
        <p:spPr>
          <a:xfrm>
            <a:off x="685800" y="478109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2"/>
        </p:xfrm>
        <a:graphic>
          <a:graphicData uri="http://schemas.openxmlformats.org/drawingml/2006/table">
            <a:tbl>
              <a:tblPr firstRow="0" bandRow="0">
                <a:tableStyleId>{2D5ABB26-0587-4C30-8999-92F81FD0307C}</a:tableStyleId>
              </a:tblPr>
              <a:tblGrid>
                <a:gridCol w="2164019"/>
                <a:gridCol w="5410047"/>
                <a:gridCol w="3246028"/>
              </a:tblGrid>
              <a:tr h="374903">
                <a:tc>
                  <a:txBody>
                    <a:bodyPr wrap="square"/>
                    <a:lstStyle/>
                    <a:p>
                      <a:r>
                        <a:rPr sz="15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612647">
                <a:tc>
                  <a:txBody>
                    <a:bodyPr wrap="square"/>
                    <a:lstStyle/>
                    <a:p>
                      <a:r>
                        <a:rPr sz="1500" b="1" i="0">
                          <a:solidFill>
                            <a:srgbClr val="1F2328"/>
                          </a:solidFill>
                          <a:latin typeface="Calibri"/>
                        </a:rPr>
                        <a:t>BM25</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The standard keyword scoring method. It rewards rare words that a question and a passage share.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Q03 CCTV: the Data Retention Schedule scores 5.91</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Embedding</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list of numbers that stands for the meaning of a text. Similar meanings get lists that sit close together.</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64 numbers for each of the 139 chunks in the stand-in scorer</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Nearest neighbour search</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Finding the stored items whose number lists are closest to the question's list.</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Cosine score 0.554 for D008-01 on Q02</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Vector store</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database or library that keeps embeddings and returns the nearest ones quickly.</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pgvector, Chroma, Qdrant, FAISS, OpenSearch</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Hybrid search</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Running keyword and meaning search together and combining the two result lists.</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Q01: right document 7th by keyword, 3rd by hybrid</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Reciprocal rank fusion</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Adding 1 divided by (60 plus place) for each list a chunk appears in, then sorting by the total.</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D007-01: 1/67 + 1/62 = 0.0311</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Re-ranking</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second, slower model that reorders the top few results by reading question and passage together.</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Not used in the Kitara pilot</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5</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Last session you cut documents into chunks. Which labels did every chunk carry, and what do they let a search do?</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Status, access groups and sensitivity. A search can leave out superseded documents and keep confidential ones from people who may not see them.</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Why do neighbouring chunks share 40 words?</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So a sentence at the join is not cut in half. Both chunks keep the whole rule.</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ways to find a passage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Keyword search</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000" b="0" i="0">
                  <a:solidFill>
                    <a:srgbClr val="3B4046"/>
                  </a:solidFill>
                  <a:latin typeface="Calibri"/>
                </a:rPr>
                <a:t>Counts the words a question and a passage share</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Rare words count for more</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Shows which words matched</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Misses a passage that says it in other words</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Meaning search</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Turns text into numbers that place similar ideas close</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Finds a passage in other words</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Cannot say why it matched</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Needs a model that someone must choose and test</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Kitara needs both. Used together they are called hybrid search.</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Keyword scoring on three short passages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6949440" cy="28254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551176"/>
          </a:xfrm>
          <a:prstGeom prst="rect">
            <a:avLst/>
          </a:prstGeom>
          <a:noFill/>
        </p:spPr>
        <p:txBody>
          <a:bodyPr wrap="none" lIns="0" rIns="0" tIns="0" bIns="0">
            <a:spAutoFit/>
          </a:bodyPr>
          <a:lstStyle/>
          <a:p>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pandas</a:t>
            </a:r>
            <a:r>
              <a:rPr sz="1500" b="0" i="0">
                <a:solidFill>
                  <a:srgbClr val="1F2328"/>
                </a:solidFill>
                <a:latin typeface="Courier New"/>
              </a:rPr>
              <a:t> </a:t>
            </a:r>
            <a:r>
              <a:rPr sz="1500" b="1" i="0">
                <a:solidFill>
                  <a:srgbClr val="1F2328"/>
                </a:solidFill>
                <a:latin typeface="Courier New"/>
              </a:rPr>
              <a:t>as</a:t>
            </a:r>
            <a:r>
              <a:rPr sz="1500" b="0" i="0">
                <a:solidFill>
                  <a:srgbClr val="1F2328"/>
                </a:solidFill>
                <a:latin typeface="Courier New"/>
              </a:rPr>
              <a:t> </a:t>
            </a:r>
            <a:r>
              <a:rPr sz="1500" b="0" i="0">
                <a:solidFill>
                  <a:srgbClr val="1F2328"/>
                </a:solidFill>
                <a:latin typeface="Courier New"/>
              </a:rPr>
              <a:t>pd</a:t>
            </a:r>
          </a:p>
          <a:p>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kitara_search</a:t>
            </a:r>
            <a:r>
              <a:rPr sz="1500" b="0" i="0">
                <a:solidFill>
                  <a:srgbClr val="1F2328"/>
                </a:solidFill>
                <a:latin typeface="Courier New"/>
              </a:rPr>
              <a:t> </a:t>
            </a:r>
            <a:r>
              <a:rPr sz="1500" b="1" i="0">
                <a:solidFill>
                  <a:srgbClr val="1F2328"/>
                </a:solidFill>
                <a:latin typeface="Courier New"/>
              </a:rPr>
              <a:t>as</a:t>
            </a:r>
            <a:r>
              <a:rPr sz="1500" b="0" i="0">
                <a:solidFill>
                  <a:srgbClr val="1F2328"/>
                </a:solidFill>
                <a:latin typeface="Courier New"/>
              </a:rPr>
              <a:t> </a:t>
            </a:r>
            <a:r>
              <a:rPr sz="1500" b="0" i="0">
                <a:solidFill>
                  <a:srgbClr val="1F2328"/>
                </a:solidFill>
                <a:latin typeface="Courier New"/>
              </a:rPr>
              <a:t>ks</a:t>
            </a:r>
          </a:p>
          <a:p>
            <a:r>
              <a:rPr sz="1500" b="0" i="0">
                <a:solidFill>
                  <a:srgbClr val="1F2328"/>
                </a:solidFill>
                <a:latin typeface="Courier New"/>
              </a:rPr>
              <a:t> </a:t>
            </a:r>
          </a:p>
          <a:p>
            <a:r>
              <a:rPr sz="1500" b="0" i="0">
                <a:solidFill>
                  <a:srgbClr val="1F2328"/>
                </a:solidFill>
                <a:latin typeface="Courier New"/>
              </a:rPr>
              <a:t>texts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B04A2B"/>
                </a:solidFill>
                <a:latin typeface="Courier New"/>
              </a:rPr>
              <a:t>'Leave request: lodge it 14 days before leave'</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B04A2B"/>
                </a:solidFill>
                <a:latin typeface="Courier New"/>
              </a:rPr>
              <a:t>'Holiday photos are on the intranet'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B04A2B"/>
                </a:solidFill>
                <a:latin typeface="Courier New"/>
              </a:rPr>
              <a:t>'Salary is paid on the 25th'</a:t>
            </a:r>
            <a:r>
              <a:rPr sz="1500" b="0" i="0">
                <a:solidFill>
                  <a:srgbClr val="1F2328"/>
                </a:solidFill>
                <a:latin typeface="Courier New"/>
              </a:rPr>
              <a:t>]</a:t>
            </a:r>
          </a:p>
          <a:p>
            <a:r>
              <a:rPr sz="1500" b="0" i="0">
                <a:solidFill>
                  <a:srgbClr val="1F2328"/>
                </a:solidFill>
                <a:latin typeface="Courier New"/>
              </a:rPr>
              <a:t>bm</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ks</a:t>
            </a:r>
            <a:r>
              <a:rPr sz="1500" b="0" i="0">
                <a:solidFill>
                  <a:srgbClr val="1F2328"/>
                </a:solidFill>
                <a:latin typeface="Courier New"/>
              </a:rPr>
              <a:t>.</a:t>
            </a:r>
            <a:r>
              <a:rPr sz="1500" b="0" i="0">
                <a:solidFill>
                  <a:srgbClr val="1F2328"/>
                </a:solidFill>
                <a:latin typeface="Courier New"/>
              </a:rPr>
              <a:t>BM25</a:t>
            </a:r>
            <a:r>
              <a:rPr sz="1500" b="0" i="0">
                <a:solidFill>
                  <a:srgbClr val="1F2328"/>
                </a:solidFill>
                <a:latin typeface="Courier New"/>
              </a:rPr>
              <a:t>(</a:t>
            </a:r>
            <a:r>
              <a:rPr sz="1500" b="0" i="0">
                <a:solidFill>
                  <a:srgbClr val="1F2328"/>
                </a:solidFill>
                <a:latin typeface="Courier New"/>
              </a:rPr>
              <a:t>pd</a:t>
            </a:r>
            <a:r>
              <a:rPr sz="1500" b="0" i="0">
                <a:solidFill>
                  <a:srgbClr val="1F2328"/>
                </a:solidFill>
                <a:latin typeface="Courier New"/>
              </a:rPr>
              <a:t>.</a:t>
            </a:r>
            <a:r>
              <a:rPr sz="1500" b="0" i="0">
                <a:solidFill>
                  <a:srgbClr val="1F2328"/>
                </a:solidFill>
                <a:latin typeface="Courier New"/>
              </a:rPr>
              <a:t>DataFrame</a:t>
            </a:r>
            <a:r>
              <a:rPr sz="1500" b="0" i="0">
                <a:solidFill>
                  <a:srgbClr val="1F2328"/>
                </a:solidFill>
                <a:latin typeface="Courier New"/>
              </a:rPr>
              <a:t>(</a:t>
            </a:r>
            <a:r>
              <a:rPr sz="1500" b="0" i="0">
                <a:solidFill>
                  <a:srgbClr val="1F2328"/>
                </a:solidFill>
                <a:latin typeface="Courier New"/>
              </a:rPr>
              <a:t>{</a:t>
            </a:r>
            <a:r>
              <a:rPr sz="1500" b="0" i="0">
                <a:solidFill>
                  <a:srgbClr val="B04A2B"/>
                </a:solidFill>
                <a:latin typeface="Courier New"/>
              </a:rPr>
              <a:t>'text'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texts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a:p>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w</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a:t>
            </a:r>
            <a:r>
              <a:rPr sz="1500" b="0" i="0">
                <a:solidFill>
                  <a:srgbClr val="B04A2B"/>
                </a:solidFill>
                <a:latin typeface="Courier New"/>
              </a:rPr>
              <a:t>'holiday'</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'request'</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'leave'</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w</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float</a:t>
            </a:r>
            <a:r>
              <a:rPr sz="1500" b="0" i="0">
                <a:solidFill>
                  <a:srgbClr val="1F2328"/>
                </a:solidFill>
                <a:latin typeface="Courier New"/>
              </a:rPr>
              <a:t>(</a:t>
            </a:r>
            <a:r>
              <a:rPr sz="1500" b="0" i="0">
                <a:solidFill>
                  <a:srgbClr val="1F2328"/>
                </a:solidFill>
                <a:latin typeface="Courier New"/>
              </a:rPr>
              <a:t>bm</a:t>
            </a:r>
            <a:r>
              <a:rPr sz="1500" b="0" i="0">
                <a:solidFill>
                  <a:srgbClr val="1F2328"/>
                </a:solidFill>
                <a:latin typeface="Courier New"/>
              </a:rPr>
              <a:t>.</a:t>
            </a:r>
            <a:r>
              <a:rPr sz="1500" b="0" i="0">
                <a:solidFill>
                  <a:srgbClr val="1F2328"/>
                </a:solidFill>
                <a:latin typeface="Courier New"/>
              </a:rPr>
              <a:t>idf</a:t>
            </a:r>
            <a:r>
              <a:rPr sz="1500" b="0" i="0">
                <a:solidFill>
                  <a:srgbClr val="1F2328"/>
                </a:solidFill>
                <a:latin typeface="Courier New"/>
              </a:rPr>
              <a:t>[</a:t>
            </a:r>
            <a:r>
              <a:rPr sz="1500" b="0" i="0">
                <a:solidFill>
                  <a:srgbClr val="1F2328"/>
                </a:solidFill>
                <a:latin typeface="Courier New"/>
              </a:rPr>
              <a:t>bm</a:t>
            </a:r>
            <a:r>
              <a:rPr sz="1500" b="0" i="0">
                <a:solidFill>
                  <a:srgbClr val="1F2328"/>
                </a:solidFill>
                <a:latin typeface="Courier New"/>
              </a:rPr>
              <a:t>.</a:t>
            </a:r>
            <a:r>
              <a:rPr sz="1500" b="0" i="0">
                <a:solidFill>
                  <a:srgbClr val="1F2328"/>
                </a:solidFill>
                <a:latin typeface="Courier New"/>
              </a:rPr>
              <a:t>vocab</a:t>
            </a:r>
            <a:r>
              <a:rPr sz="1500" b="0" i="0">
                <a:solidFill>
                  <a:srgbClr val="1F2328"/>
                </a:solidFill>
                <a:latin typeface="Courier New"/>
              </a:rPr>
              <a:t>[</a:t>
            </a:r>
            <a:r>
              <a:rPr sz="1500" b="0" i="0">
                <a:solidFill>
                  <a:srgbClr val="1F2328"/>
                </a:solidFill>
                <a:latin typeface="Courier New"/>
              </a:rPr>
              <a:t>w</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2</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bm</a:t>
            </a:r>
            <a:r>
              <a:rPr sz="1500" b="0" i="0">
                <a:solidFill>
                  <a:srgbClr val="1F2328"/>
                </a:solidFill>
                <a:latin typeface="Courier New"/>
              </a:rPr>
              <a:t>.</a:t>
            </a:r>
            <a:r>
              <a:rPr sz="1500" b="0" i="0">
                <a:solidFill>
                  <a:srgbClr val="1F2328"/>
                </a:solidFill>
                <a:latin typeface="Courier New"/>
              </a:rPr>
              <a:t>scores</a:t>
            </a:r>
            <a:r>
              <a:rPr sz="1500" b="0" i="0">
                <a:solidFill>
                  <a:srgbClr val="1F2328"/>
                </a:solidFill>
                <a:latin typeface="Courier New"/>
              </a:rPr>
              <a:t>(</a:t>
            </a:r>
            <a:r>
              <a:rPr sz="1500" b="0" i="0">
                <a:solidFill>
                  <a:srgbClr val="B04A2B"/>
                </a:solidFill>
                <a:latin typeface="Courier New"/>
              </a:rPr>
              <a:t>'holiday request'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round</a:t>
            </a:r>
            <a:r>
              <a:rPr sz="1500" b="0" i="0">
                <a:solidFill>
                  <a:srgbClr val="1F2328"/>
                </a:solidFill>
                <a:latin typeface="Courier New"/>
              </a:rPr>
              <a:t>(</a:t>
            </a:r>
            <a:r>
              <a:rPr sz="1500" b="0" i="0">
                <a:solidFill>
                  <a:srgbClr val="3B4046"/>
                </a:solidFill>
                <a:latin typeface="Courier New"/>
              </a:rPr>
              <a:t>2</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bm</a:t>
            </a:r>
            <a:r>
              <a:rPr sz="1500" b="0" i="0">
                <a:solidFill>
                  <a:srgbClr val="1F2328"/>
                </a:solidFill>
                <a:latin typeface="Courier New"/>
              </a:rPr>
              <a:t>.</a:t>
            </a:r>
            <a:r>
              <a:rPr sz="1500" b="0" i="0">
                <a:solidFill>
                  <a:srgbClr val="1F2328"/>
                </a:solidFill>
                <a:latin typeface="Courier New"/>
              </a:rPr>
              <a:t>scores</a:t>
            </a:r>
            <a:r>
              <a:rPr sz="1500" b="0" i="0">
                <a:solidFill>
                  <a:srgbClr val="1F2328"/>
                </a:solidFill>
                <a:latin typeface="Courier New"/>
              </a:rPr>
              <a:t>(</a:t>
            </a:r>
            <a:r>
              <a:rPr sz="1500" b="0" i="0">
                <a:solidFill>
                  <a:srgbClr val="B04A2B"/>
                </a:solidFill>
                <a:latin typeface="Courier New"/>
              </a:rPr>
              <a:t>'leave request'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round</a:t>
            </a:r>
            <a:r>
              <a:rPr sz="1500" b="0" i="0">
                <a:solidFill>
                  <a:srgbClr val="1F2328"/>
                </a:solidFill>
                <a:latin typeface="Courier New"/>
              </a:rPr>
              <a:t>(</a:t>
            </a:r>
            <a:r>
              <a:rPr sz="1500" b="0" i="0">
                <a:solidFill>
                  <a:srgbClr val="3B4046"/>
                </a:solidFill>
                <a:latin typeface="Courier New"/>
              </a:rPr>
              <a:t>2</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4535424"/>
            <a:ext cx="6949440" cy="1377696"/>
            <a:chOff x="685800" y="4535424"/>
            <a:chExt cx="6949440" cy="1377696"/>
          </a:xfrm>
        </p:grpSpPr>
        <p:sp>
          <p:nvSpPr>
            <p:cNvPr id="8" name="TextBox 7"/>
            <p:cNvSpPr txBox="1"/>
            <p:nvPr/>
          </p:nvSpPr>
          <p:spPr>
            <a:xfrm>
              <a:off x="685800" y="45354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79145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4882896"/>
              <a:ext cx="6675120" cy="1011936"/>
            </a:xfrm>
            <a:prstGeom prst="rect">
              <a:avLst/>
            </a:prstGeom>
            <a:noFill/>
          </p:spPr>
          <p:txBody>
            <a:bodyPr wrap="none" lIns="0" rIns="0" tIns="0" bIns="0">
              <a:spAutoFit/>
            </a:bodyPr>
            <a:lstStyle/>
            <a:p>
              <a:r>
                <a:rPr sz="1400" b="0" i="0">
                  <a:solidFill>
                    <a:srgbClr val="1F2328"/>
                  </a:solidFill>
                  <a:latin typeface="Courier New"/>
                </a:rPr>
                <a:t>holiday 0.98</a:t>
              </a:r>
            </a:p>
            <a:p>
              <a:r>
                <a:rPr sz="1400" b="0" i="0">
                  <a:solidFill>
                    <a:srgbClr val="1F2328"/>
                  </a:solidFill>
                  <a:latin typeface="Courier New"/>
                </a:rPr>
                <a:t>request 0.98</a:t>
              </a:r>
            </a:p>
            <a:p>
              <a:r>
                <a:rPr sz="1400" b="0" i="0">
                  <a:solidFill>
                    <a:srgbClr val="1F2328"/>
                  </a:solidFill>
                  <a:latin typeface="Courier New"/>
                </a:rPr>
                <a:t>leave 0.98</a:t>
              </a:r>
            </a:p>
            <a:p>
              <a:r>
                <a:rPr sz="1400" b="0" i="0">
                  <a:solidFill>
                    <a:srgbClr val="1F2328"/>
                  </a:solidFill>
                  <a:latin typeface="Courier New"/>
                </a:rPr>
                <a:t>[0.77 1.14 0.  ]</a:t>
              </a:r>
            </a:p>
            <a:p>
              <a:r>
                <a:rPr sz="1400" b="0" i="0">
                  <a:solidFill>
                    <a:srgbClr val="1F2328"/>
                  </a:solidFill>
                  <a:latin typeface="Courier New"/>
                </a:rPr>
                <a:t>[1.94 0.   0.  ]</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Three passages: a leave rule, a note about holiday photos, and a salary date.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Each word gets a weight for how rare it is. Here all three words appear in one passage only, so each weighs the same.</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Holiday request scores the photos highest. Leave request scores the real rule.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Keyword search on the 139 Kitara chunks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Rectangle 4"/>
          <p:cNvSpPr/>
          <p:nvPr/>
        </p:nvSpPr>
        <p:spPr>
          <a:xfrm>
            <a:off x="685800" y="1600200"/>
            <a:ext cx="6949440" cy="29626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688336"/>
          </a:xfrm>
          <a:prstGeom prst="rect">
            <a:avLst/>
          </a:prstGeom>
          <a:noFill/>
        </p:spPr>
        <p:txBody>
          <a:bodyPr wrap="none" lIns="0" rIns="0" tIns="0" bIns="0">
            <a:spAutoFit/>
          </a:bodyPr>
          <a:lstStyle/>
          <a:p>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kitara_search</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ks</a:t>
            </a:r>
          </a:p>
          <a:p>
            <a:r>
              <a:rPr sz="1450" b="0" i="0">
                <a:solidFill>
                  <a:srgbClr val="1F2328"/>
                </a:solidFill>
                <a:latin typeface="Courier New"/>
              </a:rPr>
              <a:t> </a:t>
            </a:r>
          </a:p>
          <a:p>
            <a:r>
              <a:rPr sz="1450" b="0" i="0">
                <a:solidFill>
                  <a:srgbClr val="1F2328"/>
                </a:solidFill>
                <a:latin typeface="Courier New"/>
              </a:rPr>
              <a:t>corpus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load_corpus</a:t>
            </a:r>
            <a:r>
              <a:rPr sz="1450" b="0" i="0">
                <a:solidFill>
                  <a:srgbClr val="1F2328"/>
                </a:solidFill>
                <a:latin typeface="Courier New"/>
              </a:rPr>
              <a:t>(</a:t>
            </a:r>
            <a:r>
              <a:rPr sz="1450" b="0" i="0">
                <a:solidFill>
                  <a:srgbClr val="B04A2B"/>
                </a:solidFill>
                <a:latin typeface="Courier New"/>
              </a:rPr>
              <a:t>'.'</a:t>
            </a:r>
            <a:r>
              <a:rPr sz="1450" b="0" i="0">
                <a:solidFill>
                  <a:srgbClr val="1F2328"/>
                </a:solidFill>
                <a:latin typeface="Courier New"/>
              </a:rPr>
              <a:t>)</a:t>
            </a:r>
          </a:p>
          <a:p>
            <a:r>
              <a:rPr sz="1450" b="0" i="0">
                <a:solidFill>
                  <a:srgbClr val="1F2328"/>
                </a:solidFill>
                <a:latin typeface="Courier New"/>
              </a:rPr>
              <a:t>chunks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build_chunks</a:t>
            </a:r>
            <a:r>
              <a:rPr sz="1450" b="0" i="0">
                <a:solidFill>
                  <a:srgbClr val="1F2328"/>
                </a:solidFill>
                <a:latin typeface="Courier New"/>
              </a:rPr>
              <a:t>(</a:t>
            </a:r>
            <a:r>
              <a:rPr sz="1450" b="0" i="0">
                <a:solidFill>
                  <a:srgbClr val="1F2328"/>
                </a:solidFill>
                <a:latin typeface="Courier New"/>
              </a:rPr>
              <a:t>corpus</a:t>
            </a:r>
            <a:r>
              <a:rPr sz="1450" b="0" i="0">
                <a:solidFill>
                  <a:srgbClr val="1F2328"/>
                </a:solidFill>
                <a:latin typeface="Courier New"/>
              </a:rPr>
              <a:t>)</a:t>
            </a:r>
          </a:p>
          <a:p>
            <a:r>
              <a:rPr sz="1450" b="0" i="0">
                <a:solidFill>
                  <a:srgbClr val="1F2328"/>
                </a:solidFill>
                <a:latin typeface="Courier New"/>
              </a:rPr>
              <a:t>search</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Searcher</a:t>
            </a:r>
            <a:r>
              <a:rPr sz="1450" b="0" i="0">
                <a:solidFill>
                  <a:srgbClr val="1F2328"/>
                </a:solidFill>
                <a:latin typeface="Courier New"/>
              </a:rPr>
              <a:t>(</a:t>
            </a:r>
            <a:r>
              <a:rPr sz="1450" b="0" i="0">
                <a:solidFill>
                  <a:srgbClr val="1F2328"/>
                </a:solidFill>
                <a:latin typeface="Courier New"/>
              </a:rPr>
              <a:t>chunks</a:t>
            </a:r>
            <a:r>
              <a:rPr sz="1450" b="0" i="0">
                <a:solidFill>
                  <a:srgbClr val="1F2328"/>
                </a:solidFill>
                <a:latin typeface="Courier New"/>
              </a:rPr>
              <a:t>)</a:t>
            </a:r>
          </a:p>
          <a:p>
            <a:r>
              <a:rPr sz="1450" b="0" i="0">
                <a:solidFill>
                  <a:srgbClr val="1F2328"/>
                </a:solidFill>
                <a:latin typeface="Courier New"/>
              </a:rPr>
              <a:t> </a:t>
            </a:r>
          </a:p>
          <a:p>
            <a:r>
              <a:rPr sz="1450" b="0" i="0">
                <a:solidFill>
                  <a:srgbClr val="1F2328"/>
                </a:solidFill>
                <a:latin typeface="Courier New"/>
              </a:rPr>
              <a:t>q</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'How long is CCTV retained in the branch?'</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tokenise</a:t>
            </a:r>
            <a:r>
              <a:rPr sz="1450" b="0" i="0">
                <a:solidFill>
                  <a:srgbClr val="1F2328"/>
                </a:solidFill>
                <a:latin typeface="Courier New"/>
              </a:rPr>
              <a:t>(</a:t>
            </a:r>
            <a:r>
              <a:rPr sz="1450" b="0" i="0">
                <a:solidFill>
                  <a:srgbClr val="1F2328"/>
                </a:solidFill>
                <a:latin typeface="Courier New"/>
              </a:rPr>
              <a:t>q</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score</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bm25</a:t>
            </a:r>
            <a:r>
              <a:rPr sz="1450" b="0" i="0">
                <a:solidFill>
                  <a:srgbClr val="1F2328"/>
                </a:solidFill>
                <a:latin typeface="Courier New"/>
              </a:rPr>
              <a:t>.</a:t>
            </a:r>
            <a:r>
              <a:rPr sz="1450" b="0" i="0">
                <a:solidFill>
                  <a:srgbClr val="1F2328"/>
                </a:solidFill>
                <a:latin typeface="Courier New"/>
              </a:rPr>
              <a:t>scores</a:t>
            </a:r>
            <a:r>
              <a:rPr sz="1450" b="0" i="0">
                <a:solidFill>
                  <a:srgbClr val="1F2328"/>
                </a:solidFill>
                <a:latin typeface="Courier New"/>
              </a:rPr>
              <a:t>(</a:t>
            </a:r>
            <a:r>
              <a:rPr sz="1450" b="0" i="0">
                <a:solidFill>
                  <a:srgbClr val="1F2328"/>
                </a:solidFill>
                <a:latin typeface="Courier New"/>
              </a:rPr>
              <a:t>q</a:t>
            </a:r>
            <a:r>
              <a:rPr sz="1450" b="0" i="0">
                <a:solidFill>
                  <a:srgbClr val="1F2328"/>
                </a:solidFill>
                <a:latin typeface="Courier New"/>
              </a:rPr>
              <a:t>)</a:t>
            </a:r>
          </a:p>
          <a:p>
            <a:r>
              <a:rPr sz="1450" b="1" i="0">
                <a:solidFill>
                  <a:srgbClr val="1F2328"/>
                </a:solidFill>
                <a:latin typeface="Courier New"/>
              </a:rPr>
              <a:t>for</a:t>
            </a:r>
            <a:r>
              <a:rPr sz="1450" b="0" i="0">
                <a:solidFill>
                  <a:srgbClr val="1F2328"/>
                </a:solidFill>
                <a:latin typeface="Courier New"/>
              </a:rPr>
              <a:t> </a:t>
            </a:r>
            <a:r>
              <a:rPr sz="1450" b="0" i="0">
                <a:solidFill>
                  <a:srgbClr val="1F2328"/>
                </a:solidFill>
                <a:latin typeface="Courier New"/>
              </a:rPr>
              <a:t>i</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score</a:t>
            </a:r>
            <a:r>
              <a:rPr sz="1450" b="0" i="0">
                <a:solidFill>
                  <a:srgbClr val="1F2328"/>
                </a:solidFill>
                <a:latin typeface="Courier New"/>
              </a:rPr>
              <a:t>.</a:t>
            </a:r>
            <a:r>
              <a:rPr sz="1450" b="0" i="0">
                <a:solidFill>
                  <a:srgbClr val="1F2328"/>
                </a:solidFill>
                <a:latin typeface="Courier New"/>
              </a:rPr>
              <a:t>argsort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3B4046"/>
                </a:solidFill>
                <a:latin typeface="Courier New"/>
              </a:rPr>
              <a:t>1</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3B4046"/>
                </a:solidFill>
                <a:latin typeface="Courier New"/>
              </a:rPr>
              <a:t>3</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c</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chunks</a:t>
            </a:r>
            <a:r>
              <a:rPr sz="1450" b="0" i="0">
                <a:solidFill>
                  <a:srgbClr val="1F2328"/>
                </a:solidFill>
                <a:latin typeface="Courier New"/>
              </a:rPr>
              <a:t>.</a:t>
            </a:r>
            <a:r>
              <a:rPr sz="1450" b="0" i="0">
                <a:solidFill>
                  <a:srgbClr val="1F2328"/>
                </a:solidFill>
                <a:latin typeface="Courier New"/>
              </a:rPr>
              <a:t>loc</a:t>
            </a:r>
            <a:r>
              <a:rPr sz="1450" b="0" i="0">
                <a:solidFill>
                  <a:srgbClr val="1F2328"/>
                </a:solidFill>
                <a:latin typeface="Courier New"/>
              </a:rPr>
              <a:t>[</a:t>
            </a:r>
            <a:r>
              <a:rPr sz="1450" b="0" i="0">
                <a:solidFill>
                  <a:srgbClr val="1F2328"/>
                </a:solidFill>
                <a:latin typeface="Courier New"/>
              </a:rPr>
              <a:t>i</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round</a:t>
            </a:r>
            <a:r>
              <a:rPr sz="1450" b="0" i="0">
                <a:solidFill>
                  <a:srgbClr val="1F2328"/>
                </a:solidFill>
                <a:latin typeface="Courier New"/>
              </a:rPr>
              <a:t>(</a:t>
            </a:r>
            <a:r>
              <a:rPr sz="1450" b="0" i="0">
                <a:solidFill>
                  <a:srgbClr val="1F2328"/>
                </a:solidFill>
                <a:latin typeface="Courier New"/>
              </a:rPr>
              <a:t>float</a:t>
            </a:r>
            <a:r>
              <a:rPr sz="1450" b="0" i="0">
                <a:solidFill>
                  <a:srgbClr val="1F2328"/>
                </a:solidFill>
                <a:latin typeface="Courier New"/>
              </a:rPr>
              <a:t>(</a:t>
            </a:r>
            <a:r>
              <a:rPr sz="1450" b="0" i="0">
                <a:solidFill>
                  <a:srgbClr val="1F2328"/>
                </a:solidFill>
                <a:latin typeface="Courier New"/>
              </a:rPr>
              <a:t>score</a:t>
            </a:r>
            <a:r>
              <a:rPr sz="1450" b="0" i="0">
                <a:solidFill>
                  <a:srgbClr val="1F2328"/>
                </a:solidFill>
                <a:latin typeface="Courier New"/>
              </a:rPr>
              <a:t>[</a:t>
            </a:r>
            <a:r>
              <a:rPr sz="1450" b="0" i="0">
                <a:solidFill>
                  <a:srgbClr val="1F2328"/>
                </a:solidFill>
                <a:latin typeface="Courier New"/>
              </a:rPr>
              <a:t>i</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2</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a:t>
            </a:r>
            <a:r>
              <a:rPr sz="1450" b="0" i="0">
                <a:solidFill>
                  <a:srgbClr val="1F2328"/>
                </a:solidFill>
                <a:latin typeface="Courier New"/>
              </a:rPr>
              <a:t>.</a:t>
            </a:r>
            <a:r>
              <a:rPr sz="1450" b="0" i="0">
                <a:solidFill>
                  <a:srgbClr val="1F2328"/>
                </a:solidFill>
                <a:latin typeface="Courier New"/>
              </a:rPr>
              <a:t>chunk_id</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a:t>
            </a:r>
            <a:r>
              <a:rPr sz="1450" b="0" i="0">
                <a:solidFill>
                  <a:srgbClr val="1F2328"/>
                </a:solidFill>
                <a:latin typeface="Courier New"/>
              </a:rPr>
              <a:t>.</a:t>
            </a:r>
            <a:r>
              <a:rPr sz="1450" b="0" i="0">
                <a:solidFill>
                  <a:srgbClr val="1F2328"/>
                </a:solidFill>
                <a:latin typeface="Courier New"/>
              </a:rPr>
              <a:t>title</a:t>
            </a:r>
            <a:r>
              <a:rPr sz="1450" b="0" i="0">
                <a:solidFill>
                  <a:srgbClr val="1F2328"/>
                </a:solidFill>
                <a:latin typeface="Courier New"/>
              </a:rPr>
              <a:t>)</a:t>
            </a:r>
          </a:p>
        </p:txBody>
      </p:sp>
      <p:grpSp>
        <p:nvGrpSpPr>
          <p:cNvPr id="7" name="output"/>
          <p:cNvGrpSpPr/>
          <p:nvPr/>
        </p:nvGrpSpPr>
        <p:grpSpPr>
          <a:xfrm>
            <a:off x="685800" y="4672584"/>
            <a:ext cx="6949440" cy="1164336"/>
            <a:chOff x="685800" y="4672584"/>
            <a:chExt cx="6949440" cy="1164336"/>
          </a:xfrm>
        </p:grpSpPr>
        <p:sp>
          <p:nvSpPr>
            <p:cNvPr id="8" name="TextBox 7"/>
            <p:cNvSpPr txBox="1"/>
            <p:nvPr/>
          </p:nvSpPr>
          <p:spPr>
            <a:xfrm>
              <a:off x="685800" y="46725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92861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5020056"/>
              <a:ext cx="6675120" cy="798576"/>
            </a:xfrm>
            <a:prstGeom prst="rect">
              <a:avLst/>
            </a:prstGeom>
            <a:noFill/>
          </p:spPr>
          <p:txBody>
            <a:bodyPr wrap="none" lIns="0" rIns="0" tIns="0" bIns="0">
              <a:spAutoFit/>
            </a:bodyPr>
            <a:lstStyle/>
            <a:p>
              <a:r>
                <a:rPr sz="1400" b="0" i="0">
                  <a:solidFill>
                    <a:srgbClr val="1F2328"/>
                  </a:solidFill>
                  <a:latin typeface="Courier New"/>
                </a:rPr>
                <a:t>['long', 'cctv', 'retained', 'branch']</a:t>
              </a:r>
            </a:p>
            <a:p>
              <a:r>
                <a:rPr sz="1400" b="0" i="0">
                  <a:solidFill>
                    <a:srgbClr val="1F2328"/>
                  </a:solidFill>
                  <a:latin typeface="Courier New"/>
                </a:rPr>
                <a:t>5.91 D009-01 Data Retention Schedule</a:t>
              </a:r>
            </a:p>
            <a:p>
              <a:r>
                <a:rPr sz="1400" b="0" i="0">
                  <a:solidFill>
                    <a:srgbClr val="1F2328"/>
                  </a:solidFill>
                  <a:latin typeface="Courier New"/>
                </a:rPr>
                <a:t>4.53 D040-02 IT Change Management Procedure</a:t>
              </a:r>
            </a:p>
            <a:p>
              <a:r>
                <a:rPr sz="1400" b="0" i="0">
                  <a:solidFill>
                    <a:srgbClr val="1F2328"/>
                  </a:solidFill>
                  <a:latin typeface="Courier New"/>
                </a:rPr>
                <a:t>4.41 D102-01 Claim letter CL-2026-0645 (life)</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500" b="0" i="0">
                  <a:solidFill>
                    <a:srgbClr val="1F2328"/>
                  </a:solidFill>
                  <a:latin typeface="Calibri"/>
                </a:rPr>
                <a:t>Load the 121 documents, cut them into 139 chunks and build one searcher. It takes about twenty seconds because the eight scans need OCR.</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1850" b="0" i="0">
                  <a:solidFill>
                    <a:srgbClr val="1F2328"/>
                  </a:solidFill>
                  <a:latin typeface="Calibri"/>
                </a:rPr>
                <a:t>The question is split into words, and common words such as is, the and in are dropped.</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three best chunks. The Data Retention Schedule leads by a clear margin.</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question that shares no words with its answer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10820095" cy="18044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530096"/>
          </a:xfrm>
          <a:prstGeom prst="rect">
            <a:avLst/>
          </a:prstGeom>
          <a:noFill/>
        </p:spPr>
        <p:txBody>
          <a:bodyPr wrap="none" lIns="0" rIns="0" tIns="0" bIns="0">
            <a:spAutoFit/>
          </a:bodyPr>
          <a:lstStyle/>
          <a:p>
            <a:r>
              <a:rPr sz="1400" b="0" i="0">
                <a:solidFill>
                  <a:srgbClr val="1F2328"/>
                </a:solidFill>
                <a:latin typeface="Courier New"/>
              </a:rPr>
              <a:t>q</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'how long before I get my money'</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method</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'bm25'</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'meaning'</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top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search</a:t>
            </a:r>
            <a:r>
              <a:rPr sz="1400" b="0" i="0">
                <a:solidFill>
                  <a:srgbClr val="1F2328"/>
                </a:solidFill>
                <a:latin typeface="Courier New"/>
              </a:rPr>
              <a:t>.</a:t>
            </a:r>
            <a:r>
              <a:rPr sz="1400" b="0" i="0">
                <a:solidFill>
                  <a:srgbClr val="1F2328"/>
                </a:solidFill>
                <a:latin typeface="Courier New"/>
              </a:rPr>
              <a:t>search</a:t>
            </a:r>
            <a:r>
              <a:rPr sz="1400" b="0" i="0">
                <a:solidFill>
                  <a:srgbClr val="1F2328"/>
                </a:solidFill>
                <a:latin typeface="Courier New"/>
              </a:rPr>
              <a:t>(</a:t>
            </a:r>
            <a:r>
              <a:rPr sz="1400" b="0" i="0">
                <a:solidFill>
                  <a:srgbClr val="1F2328"/>
                </a:solidFill>
                <a:latin typeface="Courier New"/>
              </a:rPr>
              <a:t>q</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method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a:t>
            </a:r>
            <a:r>
              <a:rPr sz="1400" b="0" i="0">
                <a:solidFill>
                  <a:srgbClr val="1F2328"/>
                </a:solidFill>
                <a:latin typeface="Courier New"/>
              </a:rPr>
              <a:t>=</a:t>
            </a:r>
            <a:r>
              <a:rPr sz="1400" b="0" i="0">
                <a:solidFill>
                  <a:srgbClr val="3B4046"/>
                </a:solidFill>
                <a:latin typeface="Courier New"/>
              </a:rPr>
              <a:t>50</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ids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list</a:t>
            </a:r>
            <a:r>
              <a:rPr sz="1400" b="0" i="0">
                <a:solidFill>
                  <a:srgbClr val="1F2328"/>
                </a:solidFill>
                <a:latin typeface="Courier New"/>
              </a:rPr>
              <a:t>(</a:t>
            </a:r>
            <a:r>
              <a:rPr sz="1400" b="0" i="0">
                <a:solidFill>
                  <a:srgbClr val="1F2328"/>
                </a:solidFill>
                <a:latin typeface="Courier New"/>
              </a:rPr>
              <a:t>top</a:t>
            </a:r>
            <a:r>
              <a:rPr sz="1400" b="0" i="0">
                <a:solidFill>
                  <a:srgbClr val="1F2328"/>
                </a:solidFill>
                <a:latin typeface="Courier New"/>
              </a:rPr>
              <a:t>.</a:t>
            </a:r>
            <a:r>
              <a:rPr sz="1400" b="0" i="0">
                <a:solidFill>
                  <a:srgbClr val="1F2328"/>
                </a:solidFill>
                <a:latin typeface="Courier New"/>
              </a:rPr>
              <a:t>doc_id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method</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 first:'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top</a:t>
            </a:r>
            <a:r>
              <a:rPr sz="1400" b="0" i="0">
                <a:solidFill>
                  <a:srgbClr val="1F2328"/>
                </a:solidFill>
                <a:latin typeface="Courier New"/>
              </a:rPr>
              <a:t>.</a:t>
            </a:r>
            <a:r>
              <a:rPr sz="1400" b="0" i="0">
                <a:solidFill>
                  <a:srgbClr val="1F2328"/>
                </a:solidFill>
                <a:latin typeface="Courier New"/>
              </a:rPr>
              <a:t>title</a:t>
            </a:r>
            <a:r>
              <a:rPr sz="1400" b="0" i="0">
                <a:solidFill>
                  <a:srgbClr val="1F2328"/>
                </a:solidFill>
                <a:latin typeface="Courier New"/>
              </a:rPr>
              <a:t>.</a:t>
            </a:r>
            <a:r>
              <a:rPr sz="1400" b="0" i="0">
                <a:solidFill>
                  <a:srgbClr val="1F2328"/>
                </a:solidFill>
                <a:latin typeface="Courier New"/>
              </a:rPr>
              <a:t>iloc</a:t>
            </a:r>
            <a:r>
              <a:rPr sz="1400" b="0" i="0">
                <a:solidFill>
                  <a:srgbClr val="1F2328"/>
                </a:solidFill>
                <a:latin typeface="Courier New"/>
              </a:rPr>
              <a:t>[</a:t>
            </a:r>
            <a:r>
              <a:rPr sz="1400" b="0" i="0">
                <a:solidFill>
                  <a:srgbClr val="3B4046"/>
                </a:solidFill>
                <a:latin typeface="Courier New"/>
              </a:rPr>
              <a:t>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 claims SOP at place'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ids</a:t>
            </a:r>
            <a:r>
              <a:rPr sz="1400" b="0" i="0">
                <a:solidFill>
                  <a:srgbClr val="1F2328"/>
                </a:solidFill>
                <a:latin typeface="Courier New"/>
              </a:rPr>
              <a:t>.</a:t>
            </a:r>
            <a:r>
              <a:rPr sz="1400" b="0" i="0">
                <a:solidFill>
                  <a:srgbClr val="1F2328"/>
                </a:solidFill>
                <a:latin typeface="Courier New"/>
              </a:rPr>
              <a:t>index</a:t>
            </a:r>
            <a:r>
              <a:rPr sz="1400" b="0" i="0">
                <a:solidFill>
                  <a:srgbClr val="1F2328"/>
                </a:solidFill>
                <a:latin typeface="Courier New"/>
              </a:rPr>
              <a:t>(</a:t>
            </a:r>
            <a:r>
              <a:rPr sz="1400" b="0" i="0">
                <a:solidFill>
                  <a:srgbClr val="B04A2B"/>
                </a:solidFill>
                <a:latin typeface="Courier New"/>
              </a:rPr>
              <a:t>'D006'</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a:t>
            </a:r>
            <a:r>
              <a:rPr sz="1400" b="0" i="0">
                <a:solidFill>
                  <a:srgbClr val="1F2328"/>
                </a:solidFill>
                <a:latin typeface="Courier New"/>
              </a:rPr>
              <a:t>)</a:t>
            </a:r>
          </a:p>
          <a:p>
            <a:r>
              <a:rPr sz="1400" b="0" i="0">
                <a:solidFill>
                  <a:srgbClr val="1F2328"/>
                </a:solidFill>
                <a:latin typeface="Courier New"/>
              </a:rPr>
              <a:t>gold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chunks</a:t>
            </a:r>
            <a:r>
              <a:rPr sz="1400" b="0" i="0">
                <a:solidFill>
                  <a:srgbClr val="1F2328"/>
                </a:solidFill>
                <a:latin typeface="Courier New"/>
              </a:rPr>
              <a:t>[</a:t>
            </a:r>
            <a:r>
              <a:rPr sz="1400" b="0" i="0">
                <a:solidFill>
                  <a:srgbClr val="1F2328"/>
                </a:solidFill>
                <a:latin typeface="Courier New"/>
              </a:rPr>
              <a:t>chunks</a:t>
            </a:r>
            <a:r>
              <a:rPr sz="1400" b="0" i="0">
                <a:solidFill>
                  <a:srgbClr val="1F2328"/>
                </a:solidFill>
                <a:latin typeface="Courier New"/>
              </a:rPr>
              <a:t>.</a:t>
            </a:r>
            <a:r>
              <a:rPr sz="1400" b="0" i="0">
                <a:solidFill>
                  <a:srgbClr val="1F2328"/>
                </a:solidFill>
                <a:latin typeface="Courier New"/>
              </a:rPr>
              <a:t>doc_id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'D006'</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str</a:t>
            </a:r>
            <a:r>
              <a:rPr sz="1400" b="0" i="0">
                <a:solidFill>
                  <a:srgbClr val="1F2328"/>
                </a:solidFill>
                <a:latin typeface="Courier New"/>
              </a:rPr>
              <a:t>.</a:t>
            </a:r>
            <a:r>
              <a:rPr sz="1400" b="0" i="0">
                <a:solidFill>
                  <a:srgbClr val="1F2328"/>
                </a:solidFill>
                <a:latin typeface="Courier New"/>
              </a:rPr>
              <a:t>cat</a:t>
            </a:r>
            <a:r>
              <a:rPr sz="1400" b="0" i="0">
                <a:solidFill>
                  <a:srgbClr val="1F2328"/>
                </a:solidFill>
                <a:latin typeface="Courier New"/>
              </a:rPr>
              <a:t>(</a:t>
            </a:r>
            <a:r>
              <a:rPr sz="1400" b="0" i="0">
                <a:solidFill>
                  <a:srgbClr val="1F2328"/>
                </a:solidFill>
                <a:latin typeface="Courier New"/>
              </a:rPr>
              <a:t>sep</a:t>
            </a:r>
            <a:r>
              <a:rPr sz="1400" b="0" i="0">
                <a:solidFill>
                  <a:srgbClr val="1F2328"/>
                </a:solidFill>
                <a:latin typeface="Courier New"/>
              </a:rPr>
              <a:t>=</a:t>
            </a:r>
            <a:r>
              <a:rPr sz="1400" b="0" i="0">
                <a:solidFill>
                  <a:srgbClr val="B04A2B"/>
                </a:solidFill>
                <a:latin typeface="Courier New"/>
              </a:rPr>
              <a:t>' '</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'shared words:'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sorted</a:t>
            </a:r>
            <a:r>
              <a:rPr sz="1400" b="0" i="0">
                <a:solidFill>
                  <a:srgbClr val="1F2328"/>
                </a:solidFill>
                <a:latin typeface="Courier New"/>
              </a:rPr>
              <a:t>(</a:t>
            </a:r>
            <a:r>
              <a:rPr sz="1400" b="0" i="0">
                <a:solidFill>
                  <a:srgbClr val="1F2328"/>
                </a:solidFill>
                <a:latin typeface="Courier New"/>
              </a:rPr>
              <a:t>set</a:t>
            </a:r>
            <a:r>
              <a:rPr sz="1400" b="0" i="0">
                <a:solidFill>
                  <a:srgbClr val="1F2328"/>
                </a:solidFill>
                <a:latin typeface="Courier New"/>
              </a:rPr>
              <a:t>(</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tokenise</a:t>
            </a:r>
            <a:r>
              <a:rPr sz="1400" b="0" i="0">
                <a:solidFill>
                  <a:srgbClr val="1F2328"/>
                </a:solidFill>
                <a:latin typeface="Courier New"/>
              </a:rPr>
              <a:t>(</a:t>
            </a:r>
            <a:r>
              <a:rPr sz="1400" b="0" i="0">
                <a:solidFill>
                  <a:srgbClr val="1F2328"/>
                </a:solidFill>
                <a:latin typeface="Courier New"/>
              </a:rPr>
              <a:t>q</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&amp;</a:t>
            </a:r>
            <a:r>
              <a:rPr sz="1400" b="0" i="0">
                <a:solidFill>
                  <a:srgbClr val="1F2328"/>
                </a:solidFill>
                <a:latin typeface="Courier New"/>
              </a:rPr>
              <a:t> </a:t>
            </a:r>
            <a:r>
              <a:rPr sz="1400" b="0" i="0">
                <a:solidFill>
                  <a:srgbClr val="1F2328"/>
                </a:solidFill>
                <a:latin typeface="Courier New"/>
              </a:rPr>
              <a:t>set</a:t>
            </a:r>
            <a:r>
              <a:rPr sz="1400" b="0" i="0">
                <a:solidFill>
                  <a:srgbClr val="1F2328"/>
                </a:solidFill>
                <a:latin typeface="Courier New"/>
              </a:rPr>
              <a:t>(</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tokenise</a:t>
            </a:r>
            <a:r>
              <a:rPr sz="1400" b="0" i="0">
                <a:solidFill>
                  <a:srgbClr val="1F2328"/>
                </a:solidFill>
                <a:latin typeface="Courier New"/>
              </a:rPr>
              <a:t>(</a:t>
            </a:r>
            <a:r>
              <a:rPr sz="1400" b="0" i="0">
                <a:solidFill>
                  <a:srgbClr val="1F2328"/>
                </a:solidFill>
                <a:latin typeface="Courier New"/>
              </a:rPr>
              <a:t>gold</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3514344"/>
            <a:ext cx="10820095" cy="950976"/>
            <a:chOff x="685800" y="3514344"/>
            <a:chExt cx="10820095" cy="950976"/>
          </a:xfrm>
        </p:grpSpPr>
        <p:sp>
          <p:nvSpPr>
            <p:cNvPr id="8" name="TextBox 7"/>
            <p:cNvSpPr txBox="1"/>
            <p:nvPr/>
          </p:nvSpPr>
          <p:spPr>
            <a:xfrm>
              <a:off x="685800" y="35143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7037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861816"/>
              <a:ext cx="10545775" cy="585216"/>
            </a:xfrm>
            <a:prstGeom prst="rect">
              <a:avLst/>
            </a:prstGeom>
            <a:noFill/>
          </p:spPr>
          <p:txBody>
            <a:bodyPr wrap="none" lIns="0" rIns="0" tIns="0" bIns="0">
              <a:spAutoFit/>
            </a:bodyPr>
            <a:lstStyle/>
            <a:p>
              <a:r>
                <a:rPr sz="1400" b="0" i="0">
                  <a:solidFill>
                    <a:srgbClr val="1F2328"/>
                  </a:solidFill>
                  <a:latin typeface="Courier New"/>
                </a:rPr>
                <a:t>bm25 | first: Circular 2024/010: Daily float cap for mobile money agents | claims SOP at place 47</a:t>
              </a:r>
            </a:p>
            <a:p>
              <a:r>
                <a:rPr sz="1400" b="0" i="0">
                  <a:solidFill>
                    <a:srgbClr val="1F2328"/>
                  </a:solidFill>
                  <a:latin typeface="Courier New"/>
                </a:rPr>
                <a:t>meaning | first: Mobile Money Agent Manual | claims SOP at place 27</a:t>
              </a:r>
            </a:p>
            <a:p>
              <a:r>
                <a:rPr sz="1400" b="0" i="0">
                  <a:solidFill>
                    <a:srgbClr val="1F2328"/>
                  </a:solidFill>
                  <a:latin typeface="Courier New"/>
                </a:rPr>
                <a:t>shared words: ['before']</a:t>
              </a:r>
            </a:p>
          </p:txBody>
        </p:sp>
      </p:grpSp>
      <p:grpSp>
        <p:nvGrpSpPr>
          <p:cNvPr id="11" name="says-1"/>
          <p:cNvGrpSpPr/>
          <p:nvPr/>
        </p:nvGrpSpPr>
        <p:grpSpPr>
          <a:xfrm>
            <a:off x="685800" y="4648200"/>
            <a:ext cx="3332378" cy="1353312"/>
            <a:chOff x="685800" y="4648200"/>
            <a:chExt cx="3332378" cy="1353312"/>
          </a:xfrm>
        </p:grpSpPr>
        <p:cxnSp>
          <p:nvCxnSpPr>
            <p:cNvPr id="12" name="Connector 11"/>
            <p:cNvCxnSpPr/>
            <p:nvPr/>
          </p:nvCxnSpPr>
          <p:spPr>
            <a:xfrm>
              <a:off x="685800" y="4648200"/>
              <a:ext cx="3332378" cy="0"/>
            </a:xfrm>
            <a:prstGeom prst="line">
              <a:avLst/>
            </a:prstGeom>
            <a:ln w="15875">
              <a:solidFill>
                <a:srgbClr val="1F2328"/>
              </a:solidFill>
            </a:ln>
          </p:spPr>
        </p:cxnSp>
        <p:sp>
          <p:nvSpPr>
            <p:cNvPr id="13" name="TextBox 12"/>
            <p:cNvSpPr txBox="1"/>
            <p:nvPr/>
          </p:nvSpPr>
          <p:spPr>
            <a:xfrm>
              <a:off x="685800" y="47213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721352"/>
              <a:ext cx="2984906" cy="1280160"/>
            </a:xfrm>
            <a:prstGeom prst="rect">
              <a:avLst/>
            </a:prstGeom>
            <a:noFill/>
          </p:spPr>
          <p:txBody>
            <a:bodyPr wrap="square" lIns="0" rIns="0" tIns="18288" bIns="18288" anchor="t">
              <a:spAutoFit/>
            </a:bodyPr>
            <a:lstStyle/>
            <a:p>
              <a:pPr algn="l"/>
              <a:r>
                <a:rPr sz="1600" b="0" i="0">
                  <a:solidFill>
                    <a:srgbClr val="1F2328"/>
                  </a:solidFill>
                  <a:latin typeface="Calibri"/>
                </a:rPr>
                <a:t>A person asks the way a person talks. The answer is in the Claims Handling SOP, which says an accepted claim is settled in 30 days.</a:t>
              </a:r>
            </a:p>
          </p:txBody>
        </p:sp>
      </p:grpSp>
      <p:grpSp>
        <p:nvGrpSpPr>
          <p:cNvPr id="15" name="says-2"/>
          <p:cNvGrpSpPr/>
          <p:nvPr/>
        </p:nvGrpSpPr>
        <p:grpSpPr>
          <a:xfrm>
            <a:off x="4429658" y="4648200"/>
            <a:ext cx="3332378" cy="1353312"/>
            <a:chOff x="4429658" y="4648200"/>
            <a:chExt cx="3332378" cy="1353312"/>
          </a:xfrm>
        </p:grpSpPr>
        <p:cxnSp>
          <p:nvCxnSpPr>
            <p:cNvPr id="16" name="Connector 15"/>
            <p:cNvCxnSpPr/>
            <p:nvPr/>
          </p:nvCxnSpPr>
          <p:spPr>
            <a:xfrm>
              <a:off x="4429658" y="4648200"/>
              <a:ext cx="3332378" cy="0"/>
            </a:xfrm>
            <a:prstGeom prst="line">
              <a:avLst/>
            </a:prstGeom>
            <a:ln w="15875">
              <a:solidFill>
                <a:srgbClr val="1F2328"/>
              </a:solidFill>
            </a:ln>
          </p:spPr>
        </p:cxnSp>
        <p:sp>
          <p:nvSpPr>
            <p:cNvPr id="17" name="TextBox 16"/>
            <p:cNvSpPr txBox="1"/>
            <p:nvPr/>
          </p:nvSpPr>
          <p:spPr>
            <a:xfrm>
              <a:off x="4429658" y="47213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721352"/>
              <a:ext cx="2984906" cy="1280160"/>
            </a:xfrm>
            <a:prstGeom prst="rect">
              <a:avLst/>
            </a:prstGeom>
            <a:noFill/>
          </p:spPr>
          <p:txBody>
            <a:bodyPr wrap="square" lIns="0" rIns="0" tIns="18288" bIns="18288" anchor="t">
              <a:spAutoFit/>
            </a:bodyPr>
            <a:lstStyle/>
            <a:p>
              <a:pPr algn="l"/>
              <a:r>
                <a:rPr sz="1700" b="0" i="0">
                  <a:solidFill>
                    <a:srgbClr val="1F2328"/>
                  </a:solidFill>
                  <a:latin typeface="Calibri"/>
                </a:rPr>
                <a:t>Keyword and the stand-in meaning scorer each return a list. We print the first title and the place of the claims procedure.</a:t>
              </a:r>
            </a:p>
          </p:txBody>
        </p:sp>
      </p:grpSp>
      <p:grpSp>
        <p:nvGrpSpPr>
          <p:cNvPr id="19" name="says-3"/>
          <p:cNvGrpSpPr/>
          <p:nvPr/>
        </p:nvGrpSpPr>
        <p:grpSpPr>
          <a:xfrm>
            <a:off x="8173516" y="4648200"/>
            <a:ext cx="3332379" cy="1353312"/>
            <a:chOff x="8173516" y="4648200"/>
            <a:chExt cx="3332379" cy="1353312"/>
          </a:xfrm>
        </p:grpSpPr>
        <p:cxnSp>
          <p:nvCxnSpPr>
            <p:cNvPr id="20" name="Connector 19"/>
            <p:cNvCxnSpPr/>
            <p:nvPr/>
          </p:nvCxnSpPr>
          <p:spPr>
            <a:xfrm>
              <a:off x="8173516" y="4648200"/>
              <a:ext cx="3332379" cy="0"/>
            </a:xfrm>
            <a:prstGeom prst="line">
              <a:avLst/>
            </a:prstGeom>
            <a:ln w="15875">
              <a:solidFill>
                <a:srgbClr val="1F2328"/>
              </a:solidFill>
            </a:ln>
          </p:spPr>
        </p:cxnSp>
        <p:sp>
          <p:nvSpPr>
            <p:cNvPr id="21" name="TextBox 20"/>
            <p:cNvSpPr txBox="1"/>
            <p:nvPr/>
          </p:nvSpPr>
          <p:spPr>
            <a:xfrm>
              <a:off x="8173516" y="47213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72135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 question and the claims procedure share one word, before.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Embedding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An embedding is a list of numbers that stands for the meaning of a piece of text. Texts with similar meaning get lists that sit close together.</a:t>
            </a:r>
          </a:p>
        </p:txBody>
      </p:sp>
      <p:cxnSp>
        <p:nvCxnSpPr>
          <p:cNvPr id="6" name="Connector 5"/>
          <p:cNvCxnSpPr/>
          <p:nvPr/>
        </p:nvCxnSpPr>
        <p:spPr>
          <a:xfrm>
            <a:off x="6095847" y="3505809"/>
            <a:ext cx="0" cy="2712111"/>
          </a:xfrm>
          <a:prstGeom prst="line">
            <a:avLst/>
          </a:prstGeom>
          <a:ln w="9525">
            <a:solidFill>
              <a:srgbClr val="C9C5BC"/>
            </a:solidFill>
          </a:ln>
        </p:spPr>
      </p:cxnSp>
      <p:cxnSp>
        <p:nvCxnSpPr>
          <p:cNvPr id="7" name="Connector 6"/>
          <p:cNvCxnSpPr/>
          <p:nvPr/>
        </p:nvCxnSpPr>
        <p:spPr>
          <a:xfrm>
            <a:off x="685800" y="3505809"/>
            <a:ext cx="5044287" cy="0"/>
          </a:xfrm>
          <a:prstGeom prst="line">
            <a:avLst/>
          </a:prstGeom>
          <a:ln w="15875">
            <a:solidFill>
              <a:srgbClr val="1F2328"/>
            </a:solidFill>
          </a:ln>
        </p:spPr>
      </p:cxnSp>
      <p:sp>
        <p:nvSpPr>
          <p:cNvPr id="8" name="TextBox 7"/>
          <p:cNvSpPr txBox="1"/>
          <p:nvPr/>
        </p:nvSpPr>
        <p:spPr>
          <a:xfrm>
            <a:off x="685800" y="3597249"/>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At Kitara Group</a:t>
            </a:r>
          </a:p>
        </p:txBody>
      </p:sp>
      <p:sp>
        <p:nvSpPr>
          <p:cNvPr id="9" name="TextBox 8"/>
          <p:cNvSpPr txBox="1"/>
          <p:nvPr/>
        </p:nvSpPr>
        <p:spPr>
          <a:xfrm>
            <a:off x="685800" y="3917289"/>
            <a:ext cx="5044287" cy="2254910"/>
          </a:xfrm>
          <a:prstGeom prst="rect">
            <a:avLst/>
          </a:prstGeom>
          <a:noFill/>
        </p:spPr>
        <p:txBody>
          <a:bodyPr wrap="square" lIns="0" rIns="0" tIns="18288" bIns="18288" anchor="t">
            <a:spAutoFit/>
          </a:bodyPr>
          <a:lstStyle/>
          <a:p>
            <a:pPr algn="l"/>
            <a:r>
              <a:rPr sz="2200" b="0" i="0">
                <a:solidFill>
                  <a:srgbClr val="3B4046"/>
                </a:solidFill>
                <a:latin typeface="Calibri"/>
              </a:rPr>
              <a:t>The stand-in scorer gives each of the 139 chunks a list of 64 numbers. A question gets a list too, and the closest chunks are the likely answers.</a:t>
            </a:r>
          </a:p>
        </p:txBody>
      </p:sp>
      <p:cxnSp>
        <p:nvCxnSpPr>
          <p:cNvPr id="10" name="Connector 9"/>
          <p:cNvCxnSpPr/>
          <p:nvPr/>
        </p:nvCxnSpPr>
        <p:spPr>
          <a:xfrm>
            <a:off x="6461607" y="3505809"/>
            <a:ext cx="5044288" cy="0"/>
          </a:xfrm>
          <a:prstGeom prst="line">
            <a:avLst/>
          </a:prstGeom>
          <a:ln w="15875">
            <a:solidFill>
              <a:srgbClr val="1F2328"/>
            </a:solidFill>
          </a:ln>
        </p:spPr>
      </p:cxnSp>
      <p:sp>
        <p:nvSpPr>
          <p:cNvPr id="11" name="TextBox 10"/>
          <p:cNvSpPr txBox="1"/>
          <p:nvPr/>
        </p:nvSpPr>
        <p:spPr>
          <a:xfrm>
            <a:off x="6461607" y="3597249"/>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your organisation</a:t>
            </a:r>
          </a:p>
        </p:txBody>
      </p:sp>
      <p:sp>
        <p:nvSpPr>
          <p:cNvPr id="12" name="TextBox 11"/>
          <p:cNvSpPr txBox="1"/>
          <p:nvPr/>
        </p:nvSpPr>
        <p:spPr>
          <a:xfrm>
            <a:off x="6461607" y="3917289"/>
            <a:ext cx="5044287" cy="2254910"/>
          </a:xfrm>
          <a:prstGeom prst="rect">
            <a:avLst/>
          </a:prstGeom>
          <a:noFill/>
        </p:spPr>
        <p:txBody>
          <a:bodyPr wrap="square" lIns="0" rIns="0" tIns="18288" bIns="18288" anchor="t">
            <a:spAutoFit/>
          </a:bodyPr>
          <a:lstStyle/>
          <a:p>
            <a:pPr algn="l"/>
            <a:r>
              <a:rPr sz="2200" b="0" i="0">
                <a:solidFill>
                  <a:srgbClr val="3B4046"/>
                </a:solidFill>
                <a:latin typeface="Calibri"/>
              </a:rPr>
              <a:t>Which ten questions would your staff ask in words your documents never 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question lands near the passages that answer 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pic>
        <p:nvPicPr>
          <p:cNvPr id="5" name="figure-embedding_map" descr="A scatter map where four question markers sit near the document passages that answer them, joined by thin lines."/>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Each dot is a chunk. Four diamonds Q1 to Q4 are test questions.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1600" b="0" i="0">
                  <a:solidFill>
                    <a:srgbClr val="1F2328"/>
                  </a:solidFill>
                  <a:latin typeface="Calibri"/>
                </a:rPr>
                <a:t>Q1, the borrower check, sits beside D007, the Loan Approval Policy. Q2, a politician's account, sits beside D008, the KYC procedure.</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000" b="0" i="0">
                  <a:solidFill>
                    <a:srgbClr val="1F2328"/>
                  </a:solidFill>
                  <a:latin typeface="Calibri"/>
                </a:rPr>
                <a:t>Q3 lands at D038, the AI tools policy, and Q4 at D028, the procurement policy.</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Stand-in vectors with 64 numbers flattened to 2, so distances are approximate. A real embedding model will differ.</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stand-in meaning scorer on one question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6949440" cy="22311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56815"/>
          </a:xfrm>
          <a:prstGeom prst="rect">
            <a:avLst/>
          </a:prstGeom>
          <a:noFill/>
        </p:spPr>
        <p:txBody>
          <a:bodyPr wrap="none" lIns="0" rIns="0" tIns="0" bIns="0">
            <a:spAutoFit/>
          </a:bodyPr>
          <a:lstStyle/>
          <a:p>
            <a:r>
              <a:rPr sz="1400" b="0" i="0">
                <a:solidFill>
                  <a:srgbClr val="1F2328"/>
                </a:solidFill>
                <a:latin typeface="Courier New"/>
              </a:rPr>
              <a:t>ms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search</a:t>
            </a:r>
            <a:r>
              <a:rPr sz="1400" b="0" i="0">
                <a:solidFill>
                  <a:srgbClr val="1F2328"/>
                </a:solidFill>
                <a:latin typeface="Courier New"/>
              </a:rPr>
              <a:t>.</a:t>
            </a:r>
            <a:r>
              <a:rPr sz="1400" b="0" i="0">
                <a:solidFill>
                  <a:srgbClr val="1F2328"/>
                </a:solidFill>
                <a:latin typeface="Courier New"/>
              </a:rPr>
              <a:t>meaning</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ms</a:t>
            </a:r>
            <a:r>
              <a:rPr sz="1400" b="0" i="0">
                <a:solidFill>
                  <a:srgbClr val="1F2328"/>
                </a:solidFill>
                <a:latin typeface="Courier New"/>
              </a:rPr>
              <a:t>.</a:t>
            </a:r>
            <a:r>
              <a:rPr sz="1400" b="0" i="0">
                <a:solidFill>
                  <a:srgbClr val="1F2328"/>
                </a:solidFill>
                <a:latin typeface="Courier New"/>
              </a:rPr>
              <a:t>E</a:t>
            </a:r>
            <a:r>
              <a:rPr sz="1400" b="0" i="0">
                <a:solidFill>
                  <a:srgbClr val="1F2328"/>
                </a:solidFill>
                <a:latin typeface="Courier New"/>
              </a:rPr>
              <a:t>.</a:t>
            </a:r>
            <a:r>
              <a:rPr sz="1400" b="0" i="0">
                <a:solidFill>
                  <a:srgbClr val="1F2328"/>
                </a:solidFill>
                <a:latin typeface="Courier New"/>
              </a:rPr>
              <a:t>shape</a:t>
            </a:r>
            <a:r>
              <a:rPr sz="1400" b="0" i="0">
                <a:solidFill>
                  <a:srgbClr val="1F2328"/>
                </a:solidFill>
                <a:latin typeface="Courier New"/>
              </a:rPr>
              <a:t>)</a:t>
            </a:r>
          </a:p>
          <a:p>
            <a:r>
              <a:rPr sz="1400" b="0" i="0">
                <a:solidFill>
                  <a:srgbClr val="1F2328"/>
                </a:solidFill>
                <a:latin typeface="Courier New"/>
              </a:rPr>
              <a:t>q</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'Who must approve an account for a politician?'</a:t>
            </a:r>
          </a:p>
          <a:p>
            <a:r>
              <a:rPr sz="1400" b="0" i="0">
                <a:solidFill>
                  <a:srgbClr val="1F2328"/>
                </a:solidFill>
                <a:latin typeface="Courier New"/>
              </a:rPr>
              <a:t>sim</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ms</a:t>
            </a:r>
            <a:r>
              <a:rPr sz="1400" b="0" i="0">
                <a:solidFill>
                  <a:srgbClr val="1F2328"/>
                </a:solidFill>
                <a:latin typeface="Courier New"/>
              </a:rPr>
              <a:t>.</a:t>
            </a:r>
            <a:r>
              <a:rPr sz="1400" b="0" i="0">
                <a:solidFill>
                  <a:srgbClr val="1F2328"/>
                </a:solidFill>
                <a:latin typeface="Courier New"/>
              </a:rPr>
              <a:t>scores</a:t>
            </a:r>
            <a:r>
              <a:rPr sz="1400" b="0" i="0">
                <a:solidFill>
                  <a:srgbClr val="1F2328"/>
                </a:solidFill>
                <a:latin typeface="Courier New"/>
              </a:rPr>
              <a:t>(</a:t>
            </a:r>
            <a:r>
              <a:rPr sz="1400" b="0" i="0">
                <a:solidFill>
                  <a:srgbClr val="1F2328"/>
                </a:solidFill>
                <a:latin typeface="Courier New"/>
              </a:rPr>
              <a:t>q</a:t>
            </a:r>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i</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sim</a:t>
            </a:r>
            <a:r>
              <a:rPr sz="1400" b="0" i="0">
                <a:solidFill>
                  <a:srgbClr val="1F2328"/>
                </a:solidFill>
                <a:latin typeface="Courier New"/>
              </a:rPr>
              <a:t>.</a:t>
            </a:r>
            <a:r>
              <a:rPr sz="1400" b="0" i="0">
                <a:solidFill>
                  <a:srgbClr val="1F2328"/>
                </a:solidFill>
                <a:latin typeface="Courier New"/>
              </a:rPr>
              <a:t>argsort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3</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chunks</a:t>
            </a:r>
            <a:r>
              <a:rPr sz="1400" b="0" i="0">
                <a:solidFill>
                  <a:srgbClr val="1F2328"/>
                </a:solidFill>
                <a:latin typeface="Courier New"/>
              </a:rPr>
              <a:t>.</a:t>
            </a:r>
            <a:r>
              <a:rPr sz="1400" b="0" i="0">
                <a:solidFill>
                  <a:srgbClr val="1F2328"/>
                </a:solidFill>
                <a:latin typeface="Courier New"/>
              </a:rPr>
              <a:t>loc</a:t>
            </a:r>
            <a:r>
              <a:rPr sz="1400" b="0" i="0">
                <a:solidFill>
                  <a:srgbClr val="1F2328"/>
                </a:solidFill>
                <a:latin typeface="Courier New"/>
              </a:rPr>
              <a:t>[</a:t>
            </a:r>
            <a:r>
              <a:rPr sz="1400" b="0" i="0">
                <a:solidFill>
                  <a:srgbClr val="1F2328"/>
                </a:solidFill>
                <a:latin typeface="Courier New"/>
              </a:rPr>
              <a:t>i</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round</a:t>
            </a:r>
            <a:r>
              <a:rPr sz="1400" b="0" i="0">
                <a:solidFill>
                  <a:srgbClr val="1F2328"/>
                </a:solidFill>
                <a:latin typeface="Courier New"/>
              </a:rPr>
              <a:t>(</a:t>
            </a:r>
            <a:r>
              <a:rPr sz="1400" b="0" i="0">
                <a:solidFill>
                  <a:srgbClr val="1F2328"/>
                </a:solidFill>
                <a:latin typeface="Courier New"/>
              </a:rPr>
              <a:t>float</a:t>
            </a:r>
            <a:r>
              <a:rPr sz="1400" b="0" i="0">
                <a:solidFill>
                  <a:srgbClr val="1F2328"/>
                </a:solidFill>
                <a:latin typeface="Courier New"/>
              </a:rPr>
              <a:t>(</a:t>
            </a:r>
            <a:r>
              <a:rPr sz="1400" b="0" i="0">
                <a:solidFill>
                  <a:srgbClr val="1F2328"/>
                </a:solidFill>
                <a:latin typeface="Courier New"/>
              </a:rPr>
              <a:t>sim</a:t>
            </a:r>
            <a:r>
              <a:rPr sz="1400" b="0" i="0">
                <a:solidFill>
                  <a:srgbClr val="1F2328"/>
                </a:solidFill>
                <a:latin typeface="Courier New"/>
              </a:rPr>
              <a:t>[</a:t>
            </a:r>
            <a:r>
              <a:rPr sz="1400" b="0" i="0">
                <a:solidFill>
                  <a:srgbClr val="1F2328"/>
                </a:solidFill>
                <a:latin typeface="Courier New"/>
              </a:rPr>
              <a:t>i</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3</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a:t>
            </a:r>
            <a:r>
              <a:rPr sz="1400" b="0" i="0">
                <a:solidFill>
                  <a:srgbClr val="1F2328"/>
                </a:solidFill>
                <a:latin typeface="Courier New"/>
              </a:rPr>
              <a:t>chunk_id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a:t>
            </a:r>
            <a:r>
              <a:rPr sz="1400" b="0" i="0">
                <a:solidFill>
                  <a:srgbClr val="1F2328"/>
                </a:solidFill>
                <a:latin typeface="Courier New"/>
              </a:rPr>
              <a:t>title</a:t>
            </a:r>
            <a:r>
              <a:rPr sz="1400" b="0" i="0">
                <a:solidFill>
                  <a:srgbClr val="1F2328"/>
                </a:solidFill>
                <a:latin typeface="Courier New"/>
              </a:rPr>
              <a:t>)</a:t>
            </a:r>
          </a:p>
          <a:p>
            <a:r>
              <a:rPr sz="1400" b="0" i="0">
                <a:solidFill>
                  <a:srgbClr val="1F2328"/>
                </a:solidFill>
                <a:latin typeface="Courier New"/>
              </a:rPr>
              <a:t>d8</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chunks</a:t>
            </a:r>
            <a:r>
              <a:rPr sz="1400" b="0" i="0">
                <a:solidFill>
                  <a:srgbClr val="1F2328"/>
                </a:solidFill>
                <a:latin typeface="Courier New"/>
              </a:rPr>
              <a:t>[</a:t>
            </a:r>
            <a:r>
              <a:rPr sz="1400" b="0" i="0">
                <a:solidFill>
                  <a:srgbClr val="1F2328"/>
                </a:solidFill>
                <a:latin typeface="Courier New"/>
              </a:rPr>
              <a:t>chunks</a:t>
            </a:r>
            <a:r>
              <a:rPr sz="1400" b="0" i="0">
                <a:solidFill>
                  <a:srgbClr val="1F2328"/>
                </a:solidFill>
                <a:latin typeface="Courier New"/>
              </a:rPr>
              <a:t>.</a:t>
            </a:r>
            <a:r>
              <a:rPr sz="1400" b="0" i="0">
                <a:solidFill>
                  <a:srgbClr val="1F2328"/>
                </a:solidFill>
                <a:latin typeface="Courier New"/>
              </a:rPr>
              <a:t>chunk_id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'D008-01'</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iloc</a:t>
            </a:r>
            <a:r>
              <a:rPr sz="1400" b="0" i="0">
                <a:solidFill>
                  <a:srgbClr val="1F2328"/>
                </a:solidFill>
                <a:latin typeface="Courier New"/>
              </a:rPr>
              <a:t>[</a:t>
            </a:r>
            <a:r>
              <a:rPr sz="1400" b="0" i="0">
                <a:solidFill>
                  <a:srgbClr val="3B4046"/>
                </a:solidFill>
                <a:latin typeface="Courier New"/>
              </a:rPr>
              <a:t>0</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'shared:'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set</a:t>
            </a:r>
            <a:r>
              <a:rPr sz="1400" b="0" i="0">
                <a:solidFill>
                  <a:srgbClr val="1F2328"/>
                </a:solidFill>
                <a:latin typeface="Courier New"/>
              </a:rPr>
              <a:t>(</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tokenise</a:t>
            </a:r>
            <a:r>
              <a:rPr sz="1400" b="0" i="0">
                <a:solidFill>
                  <a:srgbClr val="1F2328"/>
                </a:solidFill>
                <a:latin typeface="Courier New"/>
              </a:rPr>
              <a:t>(</a:t>
            </a:r>
            <a:r>
              <a:rPr sz="1400" b="0" i="0">
                <a:solidFill>
                  <a:srgbClr val="1F2328"/>
                </a:solidFill>
                <a:latin typeface="Courier New"/>
              </a:rPr>
              <a:t>q</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&amp;</a:t>
            </a:r>
            <a:r>
              <a:rPr sz="1400" b="0" i="0">
                <a:solidFill>
                  <a:srgbClr val="1F2328"/>
                </a:solidFill>
                <a:latin typeface="Courier New"/>
              </a:rPr>
              <a:t> </a:t>
            </a:r>
            <a:r>
              <a:rPr sz="1400" b="0" i="0">
                <a:solidFill>
                  <a:srgbClr val="1F2328"/>
                </a:solidFill>
                <a:latin typeface="Courier New"/>
              </a:rPr>
              <a:t>set</a:t>
            </a:r>
            <a:r>
              <a:rPr sz="1400" b="0" i="0">
                <a:solidFill>
                  <a:srgbClr val="1F2328"/>
                </a:solidFill>
                <a:latin typeface="Courier New"/>
              </a:rPr>
              <a:t>(</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tokenise</a:t>
            </a:r>
            <a:r>
              <a:rPr sz="1400" b="0" i="0">
                <a:solidFill>
                  <a:srgbClr val="1F2328"/>
                </a:solidFill>
                <a:latin typeface="Courier New"/>
              </a:rPr>
              <a:t>(</a:t>
            </a:r>
            <a:r>
              <a:rPr sz="1400" b="0" i="0">
                <a:solidFill>
                  <a:srgbClr val="1F2328"/>
                </a:solidFill>
                <a:latin typeface="Courier New"/>
              </a:rPr>
              <a:t>d8</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3941063"/>
            <a:ext cx="6949440" cy="1377697"/>
            <a:chOff x="685800" y="3941063"/>
            <a:chExt cx="6949440" cy="1377697"/>
          </a:xfrm>
        </p:grpSpPr>
        <p:sp>
          <p:nvSpPr>
            <p:cNvPr id="8" name="TextBox 7"/>
            <p:cNvSpPr txBox="1"/>
            <p:nvPr/>
          </p:nvSpPr>
          <p:spPr>
            <a:xfrm>
              <a:off x="685800" y="39410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9709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4288536"/>
              <a:ext cx="6675120" cy="1011936"/>
            </a:xfrm>
            <a:prstGeom prst="rect">
              <a:avLst/>
            </a:prstGeom>
            <a:noFill/>
          </p:spPr>
          <p:txBody>
            <a:bodyPr wrap="none" lIns="0" rIns="0" tIns="0" bIns="0">
              <a:spAutoFit/>
            </a:bodyPr>
            <a:lstStyle/>
            <a:p>
              <a:r>
                <a:rPr sz="1400" b="0" i="0">
                  <a:solidFill>
                    <a:srgbClr val="1F2328"/>
                  </a:solidFill>
                  <a:latin typeface="Courier New"/>
                </a:rPr>
                <a:t>(139, 64)</a:t>
              </a:r>
            </a:p>
            <a:p>
              <a:r>
                <a:rPr sz="1400" b="0" i="0">
                  <a:solidFill>
                    <a:srgbClr val="1F2328"/>
                  </a:solidFill>
                  <a:latin typeface="Courier New"/>
                </a:rPr>
                <a:t>0.554 D008-01 Know Your Customer (KYC) Procedure</a:t>
              </a:r>
            </a:p>
            <a:p>
              <a:r>
                <a:rPr sz="1400" b="0" i="0">
                  <a:solidFill>
                    <a:srgbClr val="1F2328"/>
                  </a:solidFill>
                  <a:latin typeface="Courier New"/>
                </a:rPr>
                <a:t>0.516 D008-02 Know Your Customer (KYC) Procedure</a:t>
              </a:r>
            </a:p>
            <a:p>
              <a:r>
                <a:rPr sz="1400" b="0" i="0">
                  <a:solidFill>
                    <a:srgbClr val="1F2328"/>
                  </a:solidFill>
                  <a:latin typeface="Courier New"/>
                </a:rPr>
                <a:t>0.452 D023-01 Savings Group Account Product Guide</a:t>
              </a:r>
            </a:p>
            <a:p>
              <a:r>
                <a:rPr sz="1400" b="0" i="0">
                  <a:solidFill>
                    <a:srgbClr val="1F2328"/>
                  </a:solidFill>
                  <a:latin typeface="Courier New"/>
                </a:rPr>
                <a:t>shared: {'account'}</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139 chunks, 64 numbers each. This stand-in is built from word and word piece counts, so every run gives the same result.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Each chunk gets a cosine score against the question. One is a perfect match.</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right chunk shares only the word account with the question. It still comes first.</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Where the vectors are kept: five free options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graphicFrame>
        <p:nvGraphicFramePr>
          <p:cNvPr id="5" name="Table"/>
          <p:cNvGraphicFramePr>
            <a:graphicFrameLocks noGrp="1"/>
          </p:cNvGraphicFramePr>
          <p:nvPr/>
        </p:nvGraphicFramePr>
        <p:xfrm>
          <a:off x="685800" y="1600200"/>
          <a:ext cx="10820093" cy="3566157"/>
        </p:xfrm>
        <a:graphic>
          <a:graphicData uri="http://schemas.openxmlformats.org/drawingml/2006/table">
            <a:tbl>
              <a:tblPr firstRow="0" bandRow="0">
                <a:tableStyleId>{2D5ABB26-0587-4C30-8999-92F81FD0307C}</a:tableStyleId>
              </a:tblPr>
              <a:tblGrid>
                <a:gridCol w="1713181"/>
                <a:gridCol w="3967368"/>
                <a:gridCol w="2073851"/>
                <a:gridCol w="3065693"/>
              </a:tblGrid>
              <a:tr h="479450">
                <a:tc>
                  <a:txBody>
                    <a:bodyPr wrap="square"/>
                    <a:lstStyle/>
                    <a:p>
                      <a:r>
                        <a:rPr sz="1450" b="1" i="0">
                          <a:solidFill>
                            <a:srgbClr val="1F2328"/>
                          </a:solidFill>
                          <a:latin typeface="Calibri"/>
                        </a:rPr>
                        <a:t>Tool</a:t>
                      </a:r>
                    </a:p>
                  </a:txBody>
                  <a:tcPr marL="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What it is</a:t>
                      </a:r>
                    </a:p>
                  </a:txBody>
                  <a:tcPr marL="13716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Licence as reported</a:t>
                      </a:r>
                    </a:p>
                  </a:txBody>
                  <a:tcPr marL="13716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Fits when</a:t>
                      </a:r>
                    </a:p>
                  </a:txBody>
                  <a:tcPr marL="137160" marR="91440" marT="64008" marB="64008" anchor="ctr">
                    <a:lnL w="0">
                      <a:noFill/>
                    </a:lnL>
                    <a:lnR w="0">
                      <a:noFill/>
                    </a:lnR>
                    <a:lnT w="0">
                      <a:noFill/>
                    </a:lnT>
                    <a:lnB w="15875">
                      <a:solidFill>
                        <a:srgbClr val="1F2328"/>
                      </a:solidFill>
                    </a:lnB>
                    <a:noFill/>
                  </a:tcPr>
                </a:tc>
              </a:tr>
              <a:tr h="709269">
                <a:tc>
                  <a:txBody>
                    <a:bodyPr wrap="square"/>
                    <a:lstStyle/>
                    <a:p>
                      <a:r>
                        <a:rPr sz="1450" b="0" i="0">
                          <a:solidFill>
                            <a:srgbClr val="3B4046"/>
                          </a:solidFill>
                          <a:latin typeface="Calibri"/>
                        </a:rPr>
                        <a:t>pgvector</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An add-on that puts vectors in a column of PostgreSQL</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PostgreSQL licence</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You already run PostgreSQL</a:t>
                      </a:r>
                    </a:p>
                  </a:txBody>
                  <a:tcPr marL="137160" marR="91440" marT="64008" marB="64008" anchor="ctr">
                    <a:lnL w="0">
                      <a:noFill/>
                    </a:lnL>
                    <a:lnR w="0">
                      <a:noFill/>
                    </a:lnR>
                    <a:lnT w="0">
                      <a:noFill/>
                    </a:lnT>
                    <a:lnB w="6350">
                      <a:solidFill>
                        <a:srgbClr val="C9C5BC"/>
                      </a:solidFill>
                    </a:lnB>
                    <a:noFill/>
                  </a:tcPr>
                </a:tc>
              </a:tr>
              <a:tr h="709269">
                <a:tc>
                  <a:txBody>
                    <a:bodyPr wrap="square"/>
                    <a:lstStyle/>
                    <a:p>
                      <a:r>
                        <a:rPr sz="1450" b="0" i="0">
                          <a:solidFill>
                            <a:srgbClr val="3B4046"/>
                          </a:solidFill>
                          <a:latin typeface="Calibri"/>
                        </a:rPr>
                        <a:t>Chroma</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small vector store that runs inside your Python program</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Apache-2.0</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pilot or a notebook</a:t>
                      </a:r>
                    </a:p>
                  </a:txBody>
                  <a:tcPr marL="137160" marR="91440" marT="64008" marB="64008" anchor="ctr">
                    <a:lnL w="0">
                      <a:noFill/>
                    </a:lnL>
                    <a:lnR w="0">
                      <a:noFill/>
                    </a:lnR>
                    <a:lnT w="0">
                      <a:noFill/>
                    </a:lnT>
                    <a:lnB w="6350">
                      <a:solidFill>
                        <a:srgbClr val="C9C5BC"/>
                      </a:solidFill>
                    </a:lnB>
                    <a:noFill/>
                  </a:tcPr>
                </a:tc>
              </a:tr>
              <a:tr h="479450">
                <a:tc>
                  <a:txBody>
                    <a:bodyPr wrap="square"/>
                    <a:lstStyle/>
                    <a:p>
                      <a:r>
                        <a:rPr sz="1450" b="0" i="0">
                          <a:solidFill>
                            <a:srgbClr val="3B4046"/>
                          </a:solidFill>
                          <a:latin typeface="Calibri"/>
                        </a:rPr>
                        <a:t>Qdrant</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separate vector database server</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Apache-2.0</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dedicated search service</a:t>
                      </a:r>
                    </a:p>
                  </a:txBody>
                  <a:tcPr marL="137160" marR="91440" marT="64008" marB="64008" anchor="ctr">
                    <a:lnL w="0">
                      <a:noFill/>
                    </a:lnL>
                    <a:lnR w="0">
                      <a:noFill/>
                    </a:lnR>
                    <a:lnT w="0">
                      <a:noFill/>
                    </a:lnT>
                    <a:lnB w="6350">
                      <a:solidFill>
                        <a:srgbClr val="C9C5BC"/>
                      </a:solidFill>
                    </a:lnB>
                    <a:noFill/>
                  </a:tcPr>
                </a:tc>
              </a:tr>
              <a:tr h="709269">
                <a:tc>
                  <a:txBody>
                    <a:bodyPr wrap="square"/>
                    <a:lstStyle/>
                    <a:p>
                      <a:r>
                        <a:rPr sz="1450" b="0" i="0">
                          <a:solidFill>
                            <a:srgbClr val="3B4046"/>
                          </a:solidFill>
                          <a:latin typeface="Calibri"/>
                        </a:rPr>
                        <a:t>FAISS</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library from Meta that searches vectors in memory</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MIT</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fast index inside another tool</a:t>
                      </a:r>
                    </a:p>
                  </a:txBody>
                  <a:tcPr marL="137160" marR="91440" marT="64008" marB="64008" anchor="ctr">
                    <a:lnL w="0">
                      <a:noFill/>
                    </a:lnL>
                    <a:lnR w="0">
                      <a:noFill/>
                    </a:lnR>
                    <a:lnT w="0">
                      <a:noFill/>
                    </a:lnT>
                    <a:lnB w="6350">
                      <a:solidFill>
                        <a:srgbClr val="C9C5BC"/>
                      </a:solidFill>
                    </a:lnB>
                    <a:noFill/>
                  </a:tcPr>
                </a:tc>
              </a:tr>
              <a:tr h="479450">
                <a:tc>
                  <a:txBody>
                    <a:bodyPr wrap="square"/>
                    <a:lstStyle/>
                    <a:p>
                      <a:r>
                        <a:rPr sz="1450" b="0" i="0">
                          <a:solidFill>
                            <a:srgbClr val="3B4046"/>
                          </a:solidFill>
                          <a:latin typeface="Calibri"/>
                        </a:rPr>
                        <a:t>OpenSearch</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search engine with keyword and vector search</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Apache-2.0</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You already run it</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Licences as reported in October 2026. Open each project's LICENSE file before you rely on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Embeddings from a real model, syntax only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10820095" cy="29093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634996"/>
          </a:xfrm>
          <a:prstGeom prst="rect">
            <a:avLst/>
          </a:prstGeom>
          <a:noFill/>
        </p:spPr>
        <p:txBody>
          <a:bodyPr wrap="none" lIns="0" rIns="0" tIns="0" bIns="0">
            <a:spAutoFit/>
          </a:bodyPr>
          <a:lstStyle/>
          <a:p>
            <a:r>
              <a:rPr sz="1550" b="1" i="0">
                <a:solidFill>
                  <a:srgbClr val="1F2328"/>
                </a:solidFill>
                <a:latin typeface="Courier New"/>
              </a:rPr>
              <a:t>from</a:t>
            </a:r>
            <a:r>
              <a:rPr sz="1550" b="0" i="0">
                <a:solidFill>
                  <a:srgbClr val="1F2328"/>
                </a:solidFill>
                <a:latin typeface="Courier New"/>
              </a:rPr>
              <a:t> </a:t>
            </a:r>
            <a:r>
              <a:rPr sz="1550" b="0" i="0">
                <a:solidFill>
                  <a:srgbClr val="1F2328"/>
                </a:solidFill>
                <a:latin typeface="Courier New"/>
              </a:rPr>
              <a:t>sentence_transformers</a:t>
            </a:r>
            <a:r>
              <a:rPr sz="1550" b="0" i="0">
                <a:solidFill>
                  <a:srgbClr val="1F2328"/>
                </a:solidFill>
                <a:latin typeface="Courier New"/>
              </a:rPr>
              <a:t> </a:t>
            </a:r>
            <a:r>
              <a:rPr sz="1550" b="1" i="0">
                <a:solidFill>
                  <a:srgbClr val="1F2328"/>
                </a:solidFill>
                <a:latin typeface="Courier New"/>
              </a:rPr>
              <a:t>import</a:t>
            </a:r>
            <a:r>
              <a:rPr sz="1550" b="0" i="0">
                <a:solidFill>
                  <a:srgbClr val="1F2328"/>
                </a:solidFill>
                <a:latin typeface="Courier New"/>
              </a:rPr>
              <a:t> </a:t>
            </a:r>
            <a:r>
              <a:rPr sz="1550" b="0" i="0">
                <a:solidFill>
                  <a:srgbClr val="1F2328"/>
                </a:solidFill>
                <a:latin typeface="Courier New"/>
              </a:rPr>
              <a:t>SentenceTransformer</a:t>
            </a:r>
          </a:p>
          <a:p>
            <a:r>
              <a:rPr sz="1550" b="0" i="0">
                <a:solidFill>
                  <a:srgbClr val="1F2328"/>
                </a:solidFill>
                <a:latin typeface="Courier New"/>
              </a:rPr>
              <a:t> </a:t>
            </a:r>
          </a:p>
          <a:p>
            <a:r>
              <a:rPr sz="1550" b="0" i="0">
                <a:solidFill>
                  <a:srgbClr val="1F2328"/>
                </a:solidFill>
                <a:latin typeface="Courier New"/>
              </a:rPr>
              <a:t>model</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SentenceTransformer</a:t>
            </a:r>
            <a:r>
              <a:rPr sz="1550" b="0" i="0">
                <a:solidFill>
                  <a:srgbClr val="1F2328"/>
                </a:solidFill>
                <a:latin typeface="Courier New"/>
              </a:rPr>
              <a:t>(</a:t>
            </a:r>
            <a:r>
              <a:rPr sz="1550" b="0" i="0">
                <a:solidFill>
                  <a:srgbClr val="B04A2B"/>
                </a:solidFill>
                <a:latin typeface="Courier New"/>
              </a:rPr>
              <a:t>'sentence-transformers/all-MiniLM-L6-v2'</a:t>
            </a:r>
            <a:r>
              <a:rPr sz="1550" b="0" i="0">
                <a:solidFill>
                  <a:srgbClr val="1F2328"/>
                </a:solidFill>
                <a:latin typeface="Courier New"/>
              </a:rPr>
              <a:t>)</a:t>
            </a:r>
          </a:p>
          <a:p>
            <a:r>
              <a:rPr sz="1550" b="0" i="0">
                <a:solidFill>
                  <a:srgbClr val="1F2328"/>
                </a:solidFill>
                <a:latin typeface="Courier New"/>
              </a:rPr>
              <a:t>texts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B04A2B"/>
                </a:solidFill>
                <a:latin typeface="Courier New"/>
              </a:rPr>
              <a:t>'Every application is checked against the credit reference bureau'</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B04A2B"/>
                </a:solidFill>
                <a:latin typeface="Courier New"/>
              </a:rPr>
              <a:t>'Branches close at 1:00 pm on 24 December'</a:t>
            </a:r>
            <a:r>
              <a:rPr sz="1550" b="0" i="0">
                <a:solidFill>
                  <a:srgbClr val="1F2328"/>
                </a:solidFill>
                <a:latin typeface="Courier New"/>
              </a:rPr>
              <a:t>]</a:t>
            </a:r>
          </a:p>
          <a:p>
            <a:r>
              <a:rPr sz="1550" b="0" i="0">
                <a:solidFill>
                  <a:srgbClr val="1F2328"/>
                </a:solidFill>
                <a:latin typeface="Courier New"/>
              </a:rPr>
              <a:t>vectors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model</a:t>
            </a:r>
            <a:r>
              <a:rPr sz="1550" b="0" i="0">
                <a:solidFill>
                  <a:srgbClr val="1F2328"/>
                </a:solidFill>
                <a:latin typeface="Courier New"/>
              </a:rPr>
              <a:t>.</a:t>
            </a:r>
            <a:r>
              <a:rPr sz="1550" b="0" i="0">
                <a:solidFill>
                  <a:srgbClr val="1F2328"/>
                </a:solidFill>
                <a:latin typeface="Courier New"/>
              </a:rPr>
              <a:t>encode</a:t>
            </a:r>
            <a:r>
              <a:rPr sz="1550" b="0" i="0">
                <a:solidFill>
                  <a:srgbClr val="1F2328"/>
                </a:solidFill>
                <a:latin typeface="Courier New"/>
              </a:rPr>
              <a:t>(</a:t>
            </a:r>
            <a:r>
              <a:rPr sz="1550" b="0" i="0">
                <a:solidFill>
                  <a:srgbClr val="1F2328"/>
                </a:solidFill>
                <a:latin typeface="Courier New"/>
              </a:rPr>
              <a:t>texts</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normalize_embeddings</a:t>
            </a:r>
            <a:r>
              <a:rPr sz="1550" b="0" i="0">
                <a:solidFill>
                  <a:srgbClr val="1F2328"/>
                </a:solidFill>
                <a:latin typeface="Courier New"/>
              </a:rPr>
              <a:t>=</a:t>
            </a:r>
            <a:r>
              <a:rPr sz="1550" b="1" i="0">
                <a:solidFill>
                  <a:srgbClr val="1F2328"/>
                </a:solidFill>
                <a:latin typeface="Courier New"/>
              </a:rPr>
              <a:t>True</a:t>
            </a:r>
            <a:r>
              <a:rPr sz="1550" b="0" i="0">
                <a:solidFill>
                  <a:srgbClr val="1F2328"/>
                </a:solidFill>
                <a:latin typeface="Courier New"/>
              </a:rPr>
              <a:t>)</a:t>
            </a:r>
          </a:p>
          <a:p>
            <a:r>
              <a:rPr sz="1550" b="0" i="0">
                <a:solidFill>
                  <a:srgbClr val="1F2328"/>
                </a:solidFill>
                <a:latin typeface="Courier New"/>
              </a:rPr>
              <a:t>query</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model</a:t>
            </a:r>
            <a:r>
              <a:rPr sz="1550" b="0" i="0">
                <a:solidFill>
                  <a:srgbClr val="1F2328"/>
                </a:solidFill>
                <a:latin typeface="Courier New"/>
              </a:rPr>
              <a:t>.</a:t>
            </a:r>
            <a:r>
              <a:rPr sz="1550" b="0" i="0">
                <a:solidFill>
                  <a:srgbClr val="1F2328"/>
                </a:solidFill>
                <a:latin typeface="Courier New"/>
              </a:rPr>
              <a:t>encode</a:t>
            </a:r>
            <a:r>
              <a:rPr sz="1550" b="0" i="0">
                <a:solidFill>
                  <a:srgbClr val="1F2328"/>
                </a:solidFill>
                <a:latin typeface="Courier New"/>
              </a:rPr>
              <a:t>(</a:t>
            </a:r>
            <a:r>
              <a:rPr sz="1550" b="0" i="0">
                <a:solidFill>
                  <a:srgbClr val="B04A2B"/>
                </a:solidFill>
                <a:latin typeface="Courier New"/>
              </a:rPr>
              <a:t>'What check happens on each borrower?'</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normalize_embeddings</a:t>
            </a:r>
            <a:r>
              <a:rPr sz="1550" b="0" i="0">
                <a:solidFill>
                  <a:srgbClr val="1F2328"/>
                </a:solidFill>
                <a:latin typeface="Courier New"/>
              </a:rPr>
              <a:t>=</a:t>
            </a:r>
            <a:r>
              <a:rPr sz="1550" b="1" i="0">
                <a:solidFill>
                  <a:srgbClr val="1F2328"/>
                </a:solidFill>
                <a:latin typeface="Courier New"/>
              </a:rPr>
              <a:t>True</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vectors</a:t>
            </a:r>
            <a:r>
              <a:rPr sz="1550" b="0" i="0">
                <a:solidFill>
                  <a:srgbClr val="1F2328"/>
                </a:solidFill>
                <a:latin typeface="Courier New"/>
              </a:rPr>
              <a:t>.</a:t>
            </a:r>
            <a:r>
              <a:rPr sz="1550" b="0" i="0">
                <a:solidFill>
                  <a:srgbClr val="1F2328"/>
                </a:solidFill>
                <a:latin typeface="Courier New"/>
              </a:rPr>
              <a:t>shape</a:t>
            </a:r>
            <a:r>
              <a:rPr sz="1550" b="0" i="0">
                <a:solidFill>
                  <a:srgbClr val="1F2328"/>
                </a:solidFill>
                <a:latin typeface="Courier New"/>
              </a:rPr>
              <a:t>)</a:t>
            </a:r>
          </a:p>
          <a:p>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vectors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query</a:t>
            </a:r>
            <a:r>
              <a:rPr sz="1550" b="0" i="0">
                <a:solidFill>
                  <a:srgbClr val="1F2328"/>
                </a:solidFill>
                <a:latin typeface="Courier New"/>
              </a:rPr>
              <a:t>)</a:t>
            </a:r>
          </a:p>
          <a:p>
            <a:r>
              <a:rPr sz="1550" b="0" i="1">
                <a:solidFill>
                  <a:srgbClr val="6A6F75"/>
                </a:solidFill>
                <a:latin typeface="Courier New"/>
              </a:rPr>
              <a:t># For English and Swahili together, try 'intfloat/multilingual-e5-small'.</a:t>
            </a:r>
          </a:p>
          <a:p>
            <a:r>
              <a:rPr sz="1550" b="0" i="1">
                <a:solidFill>
                  <a:srgbClr val="6A6F75"/>
                </a:solidFill>
                <a:latin typeface="Courier New"/>
              </a:rPr>
              <a:t># It expects 'query: ' before a question and 'passage: ' before each chunk.</a:t>
            </a:r>
          </a:p>
        </p:txBody>
      </p:sp>
      <p:grpSp>
        <p:nvGrpSpPr>
          <p:cNvPr id="7" name="says-1"/>
          <p:cNvGrpSpPr/>
          <p:nvPr/>
        </p:nvGrpSpPr>
        <p:grpSpPr>
          <a:xfrm>
            <a:off x="685800" y="4619244"/>
            <a:ext cx="3332378" cy="1353312"/>
            <a:chOff x="685800" y="4619244"/>
            <a:chExt cx="3332378" cy="1353312"/>
          </a:xfrm>
        </p:grpSpPr>
        <p:cxnSp>
          <p:nvCxnSpPr>
            <p:cNvPr id="8" name="Connector 7"/>
            <p:cNvCxnSpPr/>
            <p:nvPr/>
          </p:nvCxnSpPr>
          <p:spPr>
            <a:xfrm>
              <a:off x="685800" y="4619244"/>
              <a:ext cx="3332378" cy="0"/>
            </a:xfrm>
            <a:prstGeom prst="line">
              <a:avLst/>
            </a:prstGeom>
            <a:ln w="15875">
              <a:solidFill>
                <a:srgbClr val="1F2328"/>
              </a:solidFill>
            </a:ln>
          </p:spPr>
        </p:cxnSp>
        <p:sp>
          <p:nvSpPr>
            <p:cNvPr id="9" name="TextBox 8"/>
            <p:cNvSpPr txBox="1"/>
            <p:nvPr/>
          </p:nvSpPr>
          <p:spPr>
            <a:xfrm>
              <a:off x="685800" y="469239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4692396"/>
              <a:ext cx="2984906" cy="1280160"/>
            </a:xfrm>
            <a:prstGeom prst="rect">
              <a:avLst/>
            </a:prstGeom>
            <a:noFill/>
          </p:spPr>
          <p:txBody>
            <a:bodyPr wrap="square" lIns="0" rIns="0" tIns="18288" bIns="18288" anchor="t">
              <a:spAutoFit/>
            </a:bodyPr>
            <a:lstStyle/>
            <a:p>
              <a:pPr algn="l"/>
              <a:r>
                <a:rPr sz="1700" b="0" i="0">
                  <a:solidFill>
                    <a:srgbClr val="1F2328"/>
                  </a:solidFill>
                  <a:latin typeface="Calibri"/>
                </a:rPr>
                <a:t>Load an English model. It downloads once, about the size of a large photo, and then runs on a laptop without a graphics card.</a:t>
              </a:r>
            </a:p>
          </p:txBody>
        </p:sp>
      </p:grpSp>
      <p:grpSp>
        <p:nvGrpSpPr>
          <p:cNvPr id="11" name="says-2"/>
          <p:cNvGrpSpPr/>
          <p:nvPr/>
        </p:nvGrpSpPr>
        <p:grpSpPr>
          <a:xfrm>
            <a:off x="4429658" y="4619244"/>
            <a:ext cx="3332378" cy="1353312"/>
            <a:chOff x="4429658" y="4619244"/>
            <a:chExt cx="3332378" cy="1353312"/>
          </a:xfrm>
        </p:grpSpPr>
        <p:cxnSp>
          <p:nvCxnSpPr>
            <p:cNvPr id="12" name="Connector 11"/>
            <p:cNvCxnSpPr/>
            <p:nvPr/>
          </p:nvCxnSpPr>
          <p:spPr>
            <a:xfrm>
              <a:off x="4429658" y="4619244"/>
              <a:ext cx="3332378" cy="0"/>
            </a:xfrm>
            <a:prstGeom prst="line">
              <a:avLst/>
            </a:prstGeom>
            <a:ln w="15875">
              <a:solidFill>
                <a:srgbClr val="1F2328"/>
              </a:solidFill>
            </a:ln>
          </p:spPr>
        </p:cxnSp>
        <p:sp>
          <p:nvSpPr>
            <p:cNvPr id="13" name="TextBox 12"/>
            <p:cNvSpPr txBox="1"/>
            <p:nvPr/>
          </p:nvSpPr>
          <p:spPr>
            <a:xfrm>
              <a:off x="4429658" y="469239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469239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Encode two sentences and the question. Each becomes a list of 384 numbers.</a:t>
              </a:r>
            </a:p>
          </p:txBody>
        </p:sp>
      </p:grpSp>
      <p:grpSp>
        <p:nvGrpSpPr>
          <p:cNvPr id="15" name="says-3"/>
          <p:cNvGrpSpPr/>
          <p:nvPr/>
        </p:nvGrpSpPr>
        <p:grpSpPr>
          <a:xfrm>
            <a:off x="8173516" y="4619244"/>
            <a:ext cx="3332379" cy="1353312"/>
            <a:chOff x="8173516" y="4619244"/>
            <a:chExt cx="3332379" cy="1353312"/>
          </a:xfrm>
        </p:grpSpPr>
        <p:cxnSp>
          <p:nvCxnSpPr>
            <p:cNvPr id="16" name="Connector 15"/>
            <p:cNvCxnSpPr/>
            <p:nvPr/>
          </p:nvCxnSpPr>
          <p:spPr>
            <a:xfrm>
              <a:off x="8173516" y="4619244"/>
              <a:ext cx="3332379" cy="0"/>
            </a:xfrm>
            <a:prstGeom prst="line">
              <a:avLst/>
            </a:prstGeom>
            <a:ln w="15875">
              <a:solidFill>
                <a:srgbClr val="1F2328"/>
              </a:solidFill>
            </a:ln>
          </p:spPr>
        </p:cxnSp>
        <p:sp>
          <p:nvSpPr>
            <p:cNvPr id="17" name="TextBox 16"/>
            <p:cNvSpPr txBox="1"/>
            <p:nvPr/>
          </p:nvSpPr>
          <p:spPr>
            <a:xfrm>
              <a:off x="8173516" y="469239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469239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Multiply to get the cosine scores. The credit check sentence should score higher.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Chroma: store the chunks and ask a question, syntax only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10820095" cy="29855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711196"/>
          </a:xfrm>
          <a:prstGeom prst="rect">
            <a:avLst/>
          </a:prstGeom>
          <a:noFill/>
        </p:spPr>
        <p:txBody>
          <a:bodyPr wrap="none" lIns="0" rIns="0" tIns="0" bIns="0">
            <a:spAutoFit/>
          </a:bodyPr>
          <a:lstStyle/>
          <a:p>
            <a:r>
              <a:rPr sz="1950" b="1" i="0">
                <a:solidFill>
                  <a:srgbClr val="1F2328"/>
                </a:solidFill>
                <a:latin typeface="Courier New"/>
              </a:rPr>
              <a:t>import</a:t>
            </a:r>
            <a:r>
              <a:rPr sz="1950" b="0" i="0">
                <a:solidFill>
                  <a:srgbClr val="1F2328"/>
                </a:solidFill>
                <a:latin typeface="Courier New"/>
              </a:rPr>
              <a:t> </a:t>
            </a:r>
            <a:r>
              <a:rPr sz="1950" b="0" i="0">
                <a:solidFill>
                  <a:srgbClr val="1F2328"/>
                </a:solidFill>
                <a:latin typeface="Courier New"/>
              </a:rPr>
              <a:t>chromadb</a:t>
            </a:r>
          </a:p>
          <a:p>
            <a:r>
              <a:rPr sz="1950" b="0" i="0">
                <a:solidFill>
                  <a:srgbClr val="1F2328"/>
                </a:solidFill>
                <a:latin typeface="Courier New"/>
              </a:rPr>
              <a:t> </a:t>
            </a:r>
          </a:p>
          <a:p>
            <a:r>
              <a:rPr sz="1950" b="0" i="0">
                <a:solidFill>
                  <a:srgbClr val="1F2328"/>
                </a:solidFill>
                <a:latin typeface="Courier New"/>
              </a:rPr>
              <a:t>client</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chromadb</a:t>
            </a:r>
            <a:r>
              <a:rPr sz="1950" b="0" i="0">
                <a:solidFill>
                  <a:srgbClr val="1F2328"/>
                </a:solidFill>
                <a:latin typeface="Courier New"/>
              </a:rPr>
              <a:t>.</a:t>
            </a:r>
            <a:r>
              <a:rPr sz="1950" b="0" i="0">
                <a:solidFill>
                  <a:srgbClr val="1F2328"/>
                </a:solidFill>
                <a:latin typeface="Courier New"/>
              </a:rPr>
              <a:t>PersistentClient</a:t>
            </a:r>
            <a:r>
              <a:rPr sz="1950" b="0" i="0">
                <a:solidFill>
                  <a:srgbClr val="1F2328"/>
                </a:solidFill>
                <a:latin typeface="Courier New"/>
              </a:rPr>
              <a:t>(</a:t>
            </a:r>
            <a:r>
              <a:rPr sz="1950" b="0" i="0">
                <a:solidFill>
                  <a:srgbClr val="1F2328"/>
                </a:solidFill>
                <a:latin typeface="Courier New"/>
              </a:rPr>
              <a:t>path</a:t>
            </a:r>
            <a:r>
              <a:rPr sz="1950" b="0" i="0">
                <a:solidFill>
                  <a:srgbClr val="1F2328"/>
                </a:solidFill>
                <a:latin typeface="Courier New"/>
              </a:rPr>
              <a:t>=</a:t>
            </a:r>
            <a:r>
              <a:rPr sz="1950" b="0" i="0">
                <a:solidFill>
                  <a:srgbClr val="B04A2B"/>
                </a:solidFill>
                <a:latin typeface="Courier New"/>
              </a:rPr>
              <a:t>'kitara_chroma'</a:t>
            </a:r>
            <a:r>
              <a:rPr sz="1950" b="0" i="0">
                <a:solidFill>
                  <a:srgbClr val="1F2328"/>
                </a:solidFill>
                <a:latin typeface="Courier New"/>
              </a:rPr>
              <a:t>)</a:t>
            </a:r>
          </a:p>
          <a:p>
            <a:r>
              <a:rPr sz="1950" b="0" i="0">
                <a:solidFill>
                  <a:srgbClr val="1F2328"/>
                </a:solidFill>
                <a:latin typeface="Courier New"/>
              </a:rPr>
              <a:t>col</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client</a:t>
            </a:r>
            <a:r>
              <a:rPr sz="1950" b="0" i="0">
                <a:solidFill>
                  <a:srgbClr val="1F2328"/>
                </a:solidFill>
                <a:latin typeface="Courier New"/>
              </a:rPr>
              <a:t>.</a:t>
            </a:r>
            <a:r>
              <a:rPr sz="1950" b="0" i="0">
                <a:solidFill>
                  <a:srgbClr val="1F2328"/>
                </a:solidFill>
                <a:latin typeface="Courier New"/>
              </a:rPr>
              <a:t>get_or_create_collection</a:t>
            </a:r>
            <a:r>
              <a:rPr sz="1950" b="0" i="0">
                <a:solidFill>
                  <a:srgbClr val="1F2328"/>
                </a:solidFill>
                <a:latin typeface="Courier New"/>
              </a:rPr>
              <a:t>(</a:t>
            </a:r>
            <a:r>
              <a:rPr sz="1950" b="0" i="0">
                <a:solidFill>
                  <a:srgbClr val="B04A2B"/>
                </a:solidFill>
                <a:latin typeface="Courier New"/>
              </a:rPr>
              <a:t>'kitara_chunks'</a:t>
            </a:r>
            <a:r>
              <a:rPr sz="1950" b="0" i="0">
                <a:solidFill>
                  <a:srgbClr val="1F2328"/>
                </a:solidFill>
                <a:latin typeface="Courier New"/>
              </a:rPr>
              <a:t>)</a:t>
            </a:r>
          </a:p>
          <a:p>
            <a:r>
              <a:rPr sz="1950" b="0" i="0">
                <a:solidFill>
                  <a:srgbClr val="1F2328"/>
                </a:solidFill>
                <a:latin typeface="Courier New"/>
              </a:rPr>
              <a:t>col</a:t>
            </a:r>
            <a:r>
              <a:rPr sz="1950" b="0" i="0">
                <a:solidFill>
                  <a:srgbClr val="1F2328"/>
                </a:solidFill>
                <a:latin typeface="Courier New"/>
              </a:rPr>
              <a:t>.</a:t>
            </a:r>
            <a:r>
              <a:rPr sz="1950" b="0" i="0">
                <a:solidFill>
                  <a:srgbClr val="1F2328"/>
                </a:solidFill>
                <a:latin typeface="Courier New"/>
              </a:rPr>
              <a:t>add</a:t>
            </a:r>
            <a:r>
              <a:rPr sz="1950" b="0" i="0">
                <a:solidFill>
                  <a:srgbClr val="1F2328"/>
                </a:solidFill>
                <a:latin typeface="Courier New"/>
              </a:rPr>
              <a:t>(</a:t>
            </a:r>
            <a:r>
              <a:rPr sz="1950" b="0" i="0">
                <a:solidFill>
                  <a:srgbClr val="1F2328"/>
                </a:solidFill>
                <a:latin typeface="Courier New"/>
              </a:rPr>
              <a:t>ids</a:t>
            </a:r>
            <a:r>
              <a:rPr sz="1950" b="0" i="0">
                <a:solidFill>
                  <a:srgbClr val="1F2328"/>
                </a:solidFill>
                <a:latin typeface="Courier New"/>
              </a:rPr>
              <a:t>=</a:t>
            </a:r>
            <a:r>
              <a:rPr sz="1950" b="0" i="0">
                <a:solidFill>
                  <a:srgbClr val="1F2328"/>
                </a:solidFill>
                <a:latin typeface="Courier New"/>
              </a:rPr>
              <a:t>list</a:t>
            </a:r>
            <a:r>
              <a:rPr sz="1950" b="0" i="0">
                <a:solidFill>
                  <a:srgbClr val="1F2328"/>
                </a:solidFill>
                <a:latin typeface="Courier New"/>
              </a:rPr>
              <a:t>(</a:t>
            </a:r>
            <a:r>
              <a:rPr sz="1950" b="0" i="0">
                <a:solidFill>
                  <a:srgbClr val="1F2328"/>
                </a:solidFill>
                <a:latin typeface="Courier New"/>
              </a:rPr>
              <a:t>chunks</a:t>
            </a:r>
            <a:r>
              <a:rPr sz="1950" b="0" i="0">
                <a:solidFill>
                  <a:srgbClr val="1F2328"/>
                </a:solidFill>
                <a:latin typeface="Courier New"/>
              </a:rPr>
              <a:t>.</a:t>
            </a:r>
            <a:r>
              <a:rPr sz="1950" b="0" i="0">
                <a:solidFill>
                  <a:srgbClr val="1F2328"/>
                </a:solidFill>
                <a:latin typeface="Courier New"/>
              </a:rPr>
              <a:t>chunk_id</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documents</a:t>
            </a:r>
            <a:r>
              <a:rPr sz="1950" b="0" i="0">
                <a:solidFill>
                  <a:srgbClr val="1F2328"/>
                </a:solidFill>
                <a:latin typeface="Courier New"/>
              </a:rPr>
              <a:t>=</a:t>
            </a:r>
            <a:r>
              <a:rPr sz="1950" b="0" i="0">
                <a:solidFill>
                  <a:srgbClr val="1F2328"/>
                </a:solidFill>
                <a:latin typeface="Courier New"/>
              </a:rPr>
              <a:t>list</a:t>
            </a:r>
            <a:r>
              <a:rPr sz="1950" b="0" i="0">
                <a:solidFill>
                  <a:srgbClr val="1F2328"/>
                </a:solidFill>
                <a:latin typeface="Courier New"/>
              </a:rPr>
              <a:t>(</a:t>
            </a:r>
            <a:r>
              <a:rPr sz="1950" b="0" i="0">
                <a:solidFill>
                  <a:srgbClr val="1F2328"/>
                </a:solidFill>
                <a:latin typeface="Courier New"/>
              </a:rPr>
              <a:t>chunks</a:t>
            </a:r>
            <a:r>
              <a:rPr sz="1950" b="0" i="0">
                <a:solidFill>
                  <a:srgbClr val="1F2328"/>
                </a:solidFill>
                <a:latin typeface="Courier New"/>
              </a:rPr>
              <a:t>.</a:t>
            </a:r>
            <a:r>
              <a:rPr sz="1950" b="0" i="0">
                <a:solidFill>
                  <a:srgbClr val="1F2328"/>
                </a:solidFill>
                <a:latin typeface="Courier New"/>
              </a:rPr>
              <a:t>text</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metadatas</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r>
              <a:rPr sz="1950" b="0" i="0">
                <a:solidFill>
                  <a:srgbClr val="B04A2B"/>
                </a:solidFill>
                <a:latin typeface="Courier New"/>
              </a:rPr>
              <a:t>'status'</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s</a:t>
            </a:r>
            <a:r>
              <a:rPr sz="1950" b="0" i="0">
                <a:solidFill>
                  <a:srgbClr val="1F2328"/>
                </a:solidFill>
                <a:latin typeface="Courier New"/>
              </a:rPr>
              <a:t>}</a:t>
            </a:r>
            <a:r>
              <a:rPr sz="1950" b="0" i="0">
                <a:solidFill>
                  <a:srgbClr val="1F2328"/>
                </a:solidFill>
                <a:latin typeface="Courier New"/>
              </a:rPr>
              <a:t> </a:t>
            </a:r>
            <a:r>
              <a:rPr sz="1950" b="1" i="0">
                <a:solidFill>
                  <a:srgbClr val="1F2328"/>
                </a:solidFill>
                <a:latin typeface="Courier New"/>
              </a:rPr>
              <a:t>for</a:t>
            </a:r>
            <a:r>
              <a:rPr sz="1950" b="0" i="0">
                <a:solidFill>
                  <a:srgbClr val="1F2328"/>
                </a:solidFill>
                <a:latin typeface="Courier New"/>
              </a:rPr>
              <a:t> </a:t>
            </a:r>
            <a:r>
              <a:rPr sz="1950" b="0" i="0">
                <a:solidFill>
                  <a:srgbClr val="1F2328"/>
                </a:solidFill>
                <a:latin typeface="Courier New"/>
              </a:rPr>
              <a:t>s</a:t>
            </a:r>
            <a:r>
              <a:rPr sz="1950" b="0" i="0">
                <a:solidFill>
                  <a:srgbClr val="1F2328"/>
                </a:solidFill>
                <a:latin typeface="Courier New"/>
              </a:rPr>
              <a:t> </a:t>
            </a:r>
            <a:r>
              <a:rPr sz="1950" b="1" i="0">
                <a:solidFill>
                  <a:srgbClr val="1F2328"/>
                </a:solidFill>
                <a:latin typeface="Courier New"/>
              </a:rPr>
              <a:t>in</a:t>
            </a:r>
            <a:r>
              <a:rPr sz="1950" b="0" i="0">
                <a:solidFill>
                  <a:srgbClr val="1F2328"/>
                </a:solidFill>
                <a:latin typeface="Courier New"/>
              </a:rPr>
              <a:t> </a:t>
            </a:r>
            <a:r>
              <a:rPr sz="1950" b="0" i="0">
                <a:solidFill>
                  <a:srgbClr val="1F2328"/>
                </a:solidFill>
                <a:latin typeface="Courier New"/>
              </a:rPr>
              <a:t>chunks</a:t>
            </a:r>
            <a:r>
              <a:rPr sz="1950" b="0" i="0">
                <a:solidFill>
                  <a:srgbClr val="1F2328"/>
                </a:solidFill>
                <a:latin typeface="Courier New"/>
              </a:rPr>
              <a:t>.</a:t>
            </a:r>
            <a:r>
              <a:rPr sz="1950" b="0" i="0">
                <a:solidFill>
                  <a:srgbClr val="1F2328"/>
                </a:solidFill>
                <a:latin typeface="Courier New"/>
              </a:rPr>
              <a:t>status</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hit</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col</a:t>
            </a:r>
            <a:r>
              <a:rPr sz="1950" b="0" i="0">
                <a:solidFill>
                  <a:srgbClr val="1F2328"/>
                </a:solidFill>
                <a:latin typeface="Courier New"/>
              </a:rPr>
              <a:t>.</a:t>
            </a:r>
            <a:r>
              <a:rPr sz="1950" b="0" i="0">
                <a:solidFill>
                  <a:srgbClr val="1F2328"/>
                </a:solidFill>
                <a:latin typeface="Courier New"/>
              </a:rPr>
              <a:t>query</a:t>
            </a:r>
            <a:r>
              <a:rPr sz="1950" b="0" i="0">
                <a:solidFill>
                  <a:srgbClr val="1F2328"/>
                </a:solidFill>
                <a:latin typeface="Courier New"/>
              </a:rPr>
              <a:t>(</a:t>
            </a:r>
            <a:r>
              <a:rPr sz="1950" b="0" i="0">
                <a:solidFill>
                  <a:srgbClr val="1F2328"/>
                </a:solidFill>
                <a:latin typeface="Courier New"/>
              </a:rPr>
              <a:t>query_texts</a:t>
            </a:r>
            <a:r>
              <a:rPr sz="1950" b="0" i="0">
                <a:solidFill>
                  <a:srgbClr val="1F2328"/>
                </a:solidFill>
                <a:latin typeface="Courier New"/>
              </a:rPr>
              <a:t>=</a:t>
            </a:r>
            <a:r>
              <a:rPr sz="1950" b="0" i="0">
                <a:solidFill>
                  <a:srgbClr val="1F2328"/>
                </a:solidFill>
                <a:latin typeface="Courier New"/>
              </a:rPr>
              <a:t>[</a:t>
            </a:r>
            <a:r>
              <a:rPr sz="1950" b="0" i="0">
                <a:solidFill>
                  <a:srgbClr val="B04A2B"/>
                </a:solidFill>
                <a:latin typeface="Courier New"/>
              </a:rPr>
              <a:t>'What check happens on each borrower?'</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n_results</a:t>
            </a:r>
            <a:r>
              <a:rPr sz="1950" b="0" i="0">
                <a:solidFill>
                  <a:srgbClr val="1F2328"/>
                </a:solidFill>
                <a:latin typeface="Courier New"/>
              </a:rPr>
              <a:t>=</a:t>
            </a:r>
            <a:r>
              <a:rPr sz="1950" b="0" i="0">
                <a:solidFill>
                  <a:srgbClr val="3B4046"/>
                </a:solidFill>
                <a:latin typeface="Courier New"/>
              </a:rPr>
              <a:t>3</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where</a:t>
            </a:r>
            <a:r>
              <a:rPr sz="1950" b="0" i="0">
                <a:solidFill>
                  <a:srgbClr val="1F2328"/>
                </a:solidFill>
                <a:latin typeface="Courier New"/>
              </a:rPr>
              <a:t>=</a:t>
            </a:r>
            <a:r>
              <a:rPr sz="1950" b="0" i="0">
                <a:solidFill>
                  <a:srgbClr val="1F2328"/>
                </a:solidFill>
                <a:latin typeface="Courier New"/>
              </a:rPr>
              <a:t>{</a:t>
            </a:r>
            <a:r>
              <a:rPr sz="1950" b="0" i="0">
                <a:solidFill>
                  <a:srgbClr val="B04A2B"/>
                </a:solidFill>
                <a:latin typeface="Courier New"/>
              </a:rPr>
              <a:t>'status'</a:t>
            </a:r>
            <a:r>
              <a:rPr sz="1950" b="0" i="0">
                <a:solidFill>
                  <a:srgbClr val="1F2328"/>
                </a:solidFill>
                <a:latin typeface="Courier New"/>
              </a:rPr>
              <a:t>:</a:t>
            </a:r>
            <a:r>
              <a:rPr sz="1950" b="0" i="0">
                <a:solidFill>
                  <a:srgbClr val="1F2328"/>
                </a:solidFill>
                <a:latin typeface="Courier New"/>
              </a:rPr>
              <a:t> </a:t>
            </a:r>
            <a:r>
              <a:rPr sz="1950" b="0" i="0">
                <a:solidFill>
                  <a:srgbClr val="B04A2B"/>
                </a:solidFill>
                <a:latin typeface="Courier New"/>
              </a:rPr>
              <a:t>'current'</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print</a:t>
            </a:r>
            <a:r>
              <a:rPr sz="1950" b="0" i="0">
                <a:solidFill>
                  <a:srgbClr val="1F2328"/>
                </a:solidFill>
                <a:latin typeface="Courier New"/>
              </a:rPr>
              <a:t>(</a:t>
            </a:r>
            <a:r>
              <a:rPr sz="1950" b="0" i="0">
                <a:solidFill>
                  <a:srgbClr val="1F2328"/>
                </a:solidFill>
                <a:latin typeface="Courier New"/>
              </a:rPr>
              <a:t>hit</a:t>
            </a:r>
            <a:r>
              <a:rPr sz="1950" b="0" i="0">
                <a:solidFill>
                  <a:srgbClr val="1F2328"/>
                </a:solidFill>
                <a:latin typeface="Courier New"/>
              </a:rPr>
              <a:t>[</a:t>
            </a:r>
            <a:r>
              <a:rPr sz="1950" b="0" i="0">
                <a:solidFill>
                  <a:srgbClr val="B04A2B"/>
                </a:solidFill>
                <a:latin typeface="Courier New"/>
              </a:rPr>
              <a:t>'ids'</a:t>
            </a:r>
            <a:r>
              <a:rPr sz="1950" b="0" i="0">
                <a:solidFill>
                  <a:srgbClr val="1F2328"/>
                </a:solidFill>
                <a:latin typeface="Courier New"/>
              </a:rPr>
              <a:t>]</a:t>
            </a:r>
            <a:r>
              <a:rPr sz="1950" b="0" i="0">
                <a:solidFill>
                  <a:srgbClr val="1F2328"/>
                </a:solidFill>
                <a:latin typeface="Courier New"/>
              </a:rPr>
              <a:t>[</a:t>
            </a:r>
            <a:r>
              <a:rPr sz="1950" b="0" i="0">
                <a:solidFill>
                  <a:srgbClr val="3B4046"/>
                </a:solidFill>
                <a:latin typeface="Courier New"/>
              </a:rPr>
              <a:t>0</a:t>
            </a:r>
            <a:r>
              <a:rPr sz="1950" b="0" i="0">
                <a:solidFill>
                  <a:srgbClr val="1F2328"/>
                </a:solidFill>
                <a:latin typeface="Courier New"/>
              </a:rPr>
              <a:t>]</a:t>
            </a:r>
            <a:r>
              <a:rPr sz="1950" b="0" i="0">
                <a:solidFill>
                  <a:srgbClr val="1F2328"/>
                </a:solidFill>
                <a:latin typeface="Courier New"/>
              </a:rPr>
              <a:t>)</a:t>
            </a:r>
          </a:p>
        </p:txBody>
      </p:sp>
      <p:grpSp>
        <p:nvGrpSpPr>
          <p:cNvPr id="7" name="says-1"/>
          <p:cNvGrpSpPr/>
          <p:nvPr/>
        </p:nvGrpSpPr>
        <p:grpSpPr>
          <a:xfrm>
            <a:off x="685800" y="4695444"/>
            <a:ext cx="3332378" cy="1353312"/>
            <a:chOff x="685800" y="4695444"/>
            <a:chExt cx="3332378" cy="1353312"/>
          </a:xfrm>
        </p:grpSpPr>
        <p:cxnSp>
          <p:nvCxnSpPr>
            <p:cNvPr id="8" name="Connector 7"/>
            <p:cNvCxnSpPr/>
            <p:nvPr/>
          </p:nvCxnSpPr>
          <p:spPr>
            <a:xfrm>
              <a:off x="685800" y="4695444"/>
              <a:ext cx="3332378" cy="0"/>
            </a:xfrm>
            <a:prstGeom prst="line">
              <a:avLst/>
            </a:prstGeom>
            <a:ln w="15875">
              <a:solidFill>
                <a:srgbClr val="1F2328"/>
              </a:solidFill>
            </a:ln>
          </p:spPr>
        </p:cxnSp>
        <p:sp>
          <p:nvSpPr>
            <p:cNvPr id="9" name="TextBox 8"/>
            <p:cNvSpPr txBox="1"/>
            <p:nvPr/>
          </p:nvSpPr>
          <p:spPr>
            <a:xfrm>
              <a:off x="685800" y="476859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476859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Open a store that saves to a folder, and create a collection for the chunks.</a:t>
              </a:r>
            </a:p>
          </p:txBody>
        </p:sp>
      </p:grpSp>
      <p:grpSp>
        <p:nvGrpSpPr>
          <p:cNvPr id="11" name="says-2"/>
          <p:cNvGrpSpPr/>
          <p:nvPr/>
        </p:nvGrpSpPr>
        <p:grpSpPr>
          <a:xfrm>
            <a:off x="4429658" y="4695444"/>
            <a:ext cx="3332378" cy="1353312"/>
            <a:chOff x="4429658" y="4695444"/>
            <a:chExt cx="3332378" cy="1353312"/>
          </a:xfrm>
        </p:grpSpPr>
        <p:cxnSp>
          <p:nvCxnSpPr>
            <p:cNvPr id="12" name="Connector 11"/>
            <p:cNvCxnSpPr/>
            <p:nvPr/>
          </p:nvCxnSpPr>
          <p:spPr>
            <a:xfrm>
              <a:off x="4429658" y="4695444"/>
              <a:ext cx="3332378" cy="0"/>
            </a:xfrm>
            <a:prstGeom prst="line">
              <a:avLst/>
            </a:prstGeom>
            <a:ln w="15875">
              <a:solidFill>
                <a:srgbClr val="1F2328"/>
              </a:solidFill>
            </a:ln>
          </p:spPr>
        </p:cxnSp>
        <p:sp>
          <p:nvSpPr>
            <p:cNvPr id="13" name="TextBox 12"/>
            <p:cNvSpPr txBox="1"/>
            <p:nvPr/>
          </p:nvSpPr>
          <p:spPr>
            <a:xfrm>
              <a:off x="4429658" y="476859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476859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Add each chunk with its id, its text and its status label. Chroma makes the embeddings.</a:t>
              </a:r>
            </a:p>
          </p:txBody>
        </p:sp>
      </p:grpSp>
      <p:grpSp>
        <p:nvGrpSpPr>
          <p:cNvPr id="15" name="says-3"/>
          <p:cNvGrpSpPr/>
          <p:nvPr/>
        </p:nvGrpSpPr>
        <p:grpSpPr>
          <a:xfrm>
            <a:off x="8173516" y="4695444"/>
            <a:ext cx="3332379" cy="1353312"/>
            <a:chOff x="8173516" y="4695444"/>
            <a:chExt cx="3332379" cy="1353312"/>
          </a:xfrm>
        </p:grpSpPr>
        <p:cxnSp>
          <p:nvCxnSpPr>
            <p:cNvPr id="16" name="Connector 15"/>
            <p:cNvCxnSpPr/>
            <p:nvPr/>
          </p:nvCxnSpPr>
          <p:spPr>
            <a:xfrm>
              <a:off x="8173516" y="4695444"/>
              <a:ext cx="3332379" cy="0"/>
            </a:xfrm>
            <a:prstGeom prst="line">
              <a:avLst/>
            </a:prstGeom>
            <a:ln w="15875">
              <a:solidFill>
                <a:srgbClr val="1F2328"/>
              </a:solidFill>
            </a:ln>
          </p:spPr>
        </p:cxnSp>
        <p:sp>
          <p:nvSpPr>
            <p:cNvPr id="17" name="TextBox 16"/>
            <p:cNvSpPr txBox="1"/>
            <p:nvPr/>
          </p:nvSpPr>
          <p:spPr>
            <a:xfrm>
              <a:off x="8173516" y="476859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4768596"/>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Ask for the three nearest chunks among the current ones only.</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pgvector: vectors in a PostgreSQL table, syntax only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10820095" cy="34198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3145536"/>
          </a:xfrm>
          <a:prstGeom prst="rect">
            <a:avLst/>
          </a:prstGeom>
          <a:noFill/>
        </p:spPr>
        <p:txBody>
          <a:bodyPr wrap="none" lIns="0" rIns="0" tIns="0" bIns="0">
            <a:spAutoFit/>
          </a:bodyPr>
          <a:lstStyle/>
          <a:p>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psycopg2</a:t>
            </a:r>
          </a:p>
          <a:p>
            <a:r>
              <a:rPr sz="1700" b="0" i="0">
                <a:solidFill>
                  <a:srgbClr val="1F2328"/>
                </a:solidFill>
                <a:latin typeface="Courier New"/>
              </a:rPr>
              <a:t> </a:t>
            </a:r>
          </a:p>
          <a:p>
            <a:r>
              <a:rPr sz="1700" b="0" i="0">
                <a:solidFill>
                  <a:srgbClr val="1F2328"/>
                </a:solidFill>
                <a:latin typeface="Courier New"/>
              </a:rPr>
              <a:t>con</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psycopg2</a:t>
            </a:r>
            <a:r>
              <a:rPr sz="1700" b="0" i="0">
                <a:solidFill>
                  <a:srgbClr val="1F2328"/>
                </a:solidFill>
                <a:latin typeface="Courier New"/>
              </a:rPr>
              <a:t>.</a:t>
            </a:r>
            <a:r>
              <a:rPr sz="1700" b="0" i="0">
                <a:solidFill>
                  <a:srgbClr val="1F2328"/>
                </a:solidFill>
                <a:latin typeface="Courier New"/>
              </a:rPr>
              <a:t>connect</a:t>
            </a:r>
            <a:r>
              <a:rPr sz="1700" b="0" i="0">
                <a:solidFill>
                  <a:srgbClr val="1F2328"/>
                </a:solidFill>
                <a:latin typeface="Courier New"/>
              </a:rPr>
              <a:t>(</a:t>
            </a:r>
            <a:r>
              <a:rPr sz="1700" b="0" i="0">
                <a:solidFill>
                  <a:srgbClr val="B04A2B"/>
                </a:solidFill>
                <a:latin typeface="Courier New"/>
              </a:rPr>
              <a:t>'dbname=kitara'</a:t>
            </a:r>
            <a:r>
              <a:rPr sz="1700" b="0" i="0">
                <a:solidFill>
                  <a:srgbClr val="1F2328"/>
                </a:solidFill>
                <a:latin typeface="Courier New"/>
              </a:rPr>
              <a:t>)</a:t>
            </a:r>
          </a:p>
          <a:p>
            <a:r>
              <a:rPr sz="1700" b="0" i="0">
                <a:solidFill>
                  <a:srgbClr val="1F2328"/>
                </a:solidFill>
                <a:latin typeface="Courier New"/>
              </a:rPr>
              <a:t>cur</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con</a:t>
            </a:r>
            <a:r>
              <a:rPr sz="1700" b="0" i="0">
                <a:solidFill>
                  <a:srgbClr val="1F2328"/>
                </a:solidFill>
                <a:latin typeface="Courier New"/>
              </a:rPr>
              <a:t>.</a:t>
            </a:r>
            <a:r>
              <a:rPr sz="1700" b="0" i="0">
                <a:solidFill>
                  <a:srgbClr val="1F2328"/>
                </a:solidFill>
                <a:latin typeface="Courier New"/>
              </a:rPr>
              <a:t>cursor</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cur</a:t>
            </a:r>
            <a:r>
              <a:rPr sz="1700" b="0" i="0">
                <a:solidFill>
                  <a:srgbClr val="1F2328"/>
                </a:solidFill>
                <a:latin typeface="Courier New"/>
              </a:rPr>
              <a:t>.</a:t>
            </a:r>
            <a:r>
              <a:rPr sz="1700" b="0" i="0">
                <a:solidFill>
                  <a:srgbClr val="1F2328"/>
                </a:solidFill>
                <a:latin typeface="Courier New"/>
              </a:rPr>
              <a:t>execute</a:t>
            </a:r>
            <a:r>
              <a:rPr sz="1700" b="0" i="0">
                <a:solidFill>
                  <a:srgbClr val="1F2328"/>
                </a:solidFill>
                <a:latin typeface="Courier New"/>
              </a:rPr>
              <a:t>(</a:t>
            </a:r>
            <a:r>
              <a:rPr sz="1700" b="0" i="0">
                <a:solidFill>
                  <a:srgbClr val="B04A2B"/>
                </a:solidFill>
                <a:latin typeface="Courier New"/>
              </a:rPr>
              <a:t>'CREATE EXTENSION IF NOT EXISTS vector'</a:t>
            </a:r>
            <a:r>
              <a:rPr sz="1700" b="0" i="0">
                <a:solidFill>
                  <a:srgbClr val="1F2328"/>
                </a:solidFill>
                <a:latin typeface="Courier New"/>
              </a:rPr>
              <a:t>)</a:t>
            </a:r>
          </a:p>
          <a:p>
            <a:r>
              <a:rPr sz="1700" b="0" i="0">
                <a:solidFill>
                  <a:srgbClr val="1F2328"/>
                </a:solidFill>
                <a:latin typeface="Courier New"/>
              </a:rPr>
              <a:t>cur</a:t>
            </a:r>
            <a:r>
              <a:rPr sz="1700" b="0" i="0">
                <a:solidFill>
                  <a:srgbClr val="1F2328"/>
                </a:solidFill>
                <a:latin typeface="Courier New"/>
              </a:rPr>
              <a:t>.</a:t>
            </a:r>
            <a:r>
              <a:rPr sz="1700" b="0" i="0">
                <a:solidFill>
                  <a:srgbClr val="1F2328"/>
                </a:solidFill>
                <a:latin typeface="Courier New"/>
              </a:rPr>
              <a:t>execute</a:t>
            </a:r>
            <a:r>
              <a:rPr sz="1700" b="0" i="0">
                <a:solidFill>
                  <a:srgbClr val="1F2328"/>
                </a:solidFill>
                <a:latin typeface="Courier New"/>
              </a:rPr>
              <a:t>(</a:t>
            </a:r>
            <a:r>
              <a:rPr sz="1700" b="0" i="0">
                <a:solidFill>
                  <a:srgbClr val="B04A2B"/>
                </a:solidFill>
                <a:latin typeface="Courier New"/>
              </a:rPr>
              <a:t>'CREATE TABLE chunks (id text PRIMARY KEY, '</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B04A2B"/>
                </a:solidFill>
                <a:latin typeface="Courier New"/>
              </a:rPr>
              <a:t>'body text, status text, embedding vector(384))'</a:t>
            </a:r>
            <a:r>
              <a:rPr sz="1700" b="0" i="0">
                <a:solidFill>
                  <a:srgbClr val="1F2328"/>
                </a:solidFill>
                <a:latin typeface="Courier New"/>
              </a:rPr>
              <a:t>)</a:t>
            </a:r>
          </a:p>
          <a:p>
            <a:r>
              <a:rPr sz="1700" b="0" i="0">
                <a:solidFill>
                  <a:srgbClr val="1F2328"/>
                </a:solidFill>
                <a:latin typeface="Courier New"/>
              </a:rPr>
              <a:t>con</a:t>
            </a:r>
            <a:r>
              <a:rPr sz="1700" b="0" i="0">
                <a:solidFill>
                  <a:srgbClr val="1F2328"/>
                </a:solidFill>
                <a:latin typeface="Courier New"/>
              </a:rPr>
              <a:t>.</a:t>
            </a:r>
            <a:r>
              <a:rPr sz="1700" b="0" i="0">
                <a:solidFill>
                  <a:srgbClr val="1F2328"/>
                </a:solidFill>
                <a:latin typeface="Courier New"/>
              </a:rPr>
              <a:t>commit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cur</a:t>
            </a:r>
            <a:r>
              <a:rPr sz="1700" b="0" i="0">
                <a:solidFill>
                  <a:srgbClr val="1F2328"/>
                </a:solidFill>
                <a:latin typeface="Courier New"/>
              </a:rPr>
              <a:t>.</a:t>
            </a:r>
            <a:r>
              <a:rPr sz="1700" b="0" i="0">
                <a:solidFill>
                  <a:srgbClr val="1F2328"/>
                </a:solidFill>
                <a:latin typeface="Courier New"/>
              </a:rPr>
              <a:t>execute</a:t>
            </a:r>
            <a:r>
              <a:rPr sz="1700" b="0" i="0">
                <a:solidFill>
                  <a:srgbClr val="1F2328"/>
                </a:solidFill>
                <a:latin typeface="Courier New"/>
              </a:rPr>
              <a:t>(</a:t>
            </a:r>
            <a:r>
              <a:rPr sz="1700" b="0" i="0">
                <a:solidFill>
                  <a:srgbClr val="B04A2B"/>
                </a:solidFill>
                <a:latin typeface="Courier New"/>
              </a:rPr>
              <a:t>"SELECT id FROM chunks WHERE status = 'current' "</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B04A2B"/>
                </a:solidFill>
                <a:latin typeface="Courier New"/>
              </a:rPr>
              <a:t>"ORDER BY embedding &lt;=&gt; %s::vector LIMIT 3"</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str</a:t>
            </a:r>
            <a:r>
              <a:rPr sz="1700" b="0" i="0">
                <a:solidFill>
                  <a:srgbClr val="1F2328"/>
                </a:solidFill>
                <a:latin typeface="Courier New"/>
              </a:rPr>
              <a:t>(</a:t>
            </a:r>
            <a:r>
              <a:rPr sz="1700" b="0" i="0">
                <a:solidFill>
                  <a:srgbClr val="1F2328"/>
                </a:solidFill>
                <a:latin typeface="Courier New"/>
              </a:rPr>
              <a:t>query</a:t>
            </a:r>
            <a:r>
              <a:rPr sz="1700" b="0" i="0">
                <a:solidFill>
                  <a:srgbClr val="1F2328"/>
                </a:solidFill>
                <a:latin typeface="Courier New"/>
              </a:rPr>
              <a:t>.</a:t>
            </a:r>
            <a:r>
              <a:rPr sz="1700" b="0" i="0">
                <a:solidFill>
                  <a:srgbClr val="1F2328"/>
                </a:solidFill>
                <a:latin typeface="Courier New"/>
              </a:rPr>
              <a:t>tolist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cur</a:t>
            </a:r>
            <a:r>
              <a:rPr sz="1700" b="0" i="0">
                <a:solidFill>
                  <a:srgbClr val="1F2328"/>
                </a:solidFill>
                <a:latin typeface="Courier New"/>
              </a:rPr>
              <a:t>.</a:t>
            </a:r>
            <a:r>
              <a:rPr sz="1700" b="0" i="0">
                <a:solidFill>
                  <a:srgbClr val="1F2328"/>
                </a:solidFill>
                <a:latin typeface="Courier New"/>
              </a:rPr>
              <a:t>fetchall</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p:txBody>
      </p:sp>
      <p:grpSp>
        <p:nvGrpSpPr>
          <p:cNvPr id="7" name="says-1"/>
          <p:cNvGrpSpPr/>
          <p:nvPr/>
        </p:nvGrpSpPr>
        <p:grpSpPr>
          <a:xfrm>
            <a:off x="685800" y="5129784"/>
            <a:ext cx="3332378" cy="1069847"/>
            <a:chOff x="685800" y="5129784"/>
            <a:chExt cx="3332378" cy="1069847"/>
          </a:xfrm>
        </p:grpSpPr>
        <p:cxnSp>
          <p:nvCxnSpPr>
            <p:cNvPr id="8" name="Connector 7"/>
            <p:cNvCxnSpPr/>
            <p:nvPr/>
          </p:nvCxnSpPr>
          <p:spPr>
            <a:xfrm>
              <a:off x="685800" y="5129784"/>
              <a:ext cx="3332378" cy="0"/>
            </a:xfrm>
            <a:prstGeom prst="line">
              <a:avLst/>
            </a:prstGeom>
            <a:ln w="15875">
              <a:solidFill>
                <a:srgbClr val="1F2328"/>
              </a:solidFill>
            </a:ln>
          </p:spPr>
        </p:cxnSp>
        <p:sp>
          <p:nvSpPr>
            <p:cNvPr id="9" name="TextBox 8"/>
            <p:cNvSpPr txBox="1"/>
            <p:nvPr/>
          </p:nvSpPr>
          <p:spPr>
            <a:xfrm>
              <a:off x="685800" y="5202936"/>
              <a:ext cx="292608" cy="996695"/>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5202936"/>
              <a:ext cx="2984906" cy="996695"/>
            </a:xfrm>
            <a:prstGeom prst="rect">
              <a:avLst/>
            </a:prstGeom>
            <a:noFill/>
          </p:spPr>
          <p:txBody>
            <a:bodyPr wrap="square" lIns="0" rIns="0" tIns="18288" bIns="18288" anchor="t">
              <a:spAutoFit/>
            </a:bodyPr>
            <a:lstStyle/>
            <a:p>
              <a:pPr algn="l"/>
              <a:r>
                <a:rPr sz="1550" b="0" i="0">
                  <a:solidFill>
                    <a:srgbClr val="1F2328"/>
                  </a:solidFill>
                  <a:latin typeface="Calibri"/>
                </a:rPr>
                <a:t>Switch on the extension once for the database, then make a table with a column that holds 384 numbers.</a:t>
              </a:r>
            </a:p>
          </p:txBody>
        </p:sp>
      </p:grpSp>
      <p:grpSp>
        <p:nvGrpSpPr>
          <p:cNvPr id="11" name="says-2"/>
          <p:cNvGrpSpPr/>
          <p:nvPr/>
        </p:nvGrpSpPr>
        <p:grpSpPr>
          <a:xfrm>
            <a:off x="4429658" y="5129784"/>
            <a:ext cx="3332378" cy="1069847"/>
            <a:chOff x="4429658" y="5129784"/>
            <a:chExt cx="3332378" cy="1069847"/>
          </a:xfrm>
        </p:grpSpPr>
        <p:cxnSp>
          <p:nvCxnSpPr>
            <p:cNvPr id="12" name="Connector 11"/>
            <p:cNvCxnSpPr/>
            <p:nvPr/>
          </p:nvCxnSpPr>
          <p:spPr>
            <a:xfrm>
              <a:off x="4429658" y="5129784"/>
              <a:ext cx="3332378" cy="0"/>
            </a:xfrm>
            <a:prstGeom prst="line">
              <a:avLst/>
            </a:prstGeom>
            <a:ln w="15875">
              <a:solidFill>
                <a:srgbClr val="1F2328"/>
              </a:solidFill>
            </a:ln>
          </p:spPr>
        </p:cxnSp>
        <p:sp>
          <p:nvSpPr>
            <p:cNvPr id="13" name="TextBox 12"/>
            <p:cNvSpPr txBox="1"/>
            <p:nvPr/>
          </p:nvSpPr>
          <p:spPr>
            <a:xfrm>
              <a:off x="4429658" y="5202936"/>
              <a:ext cx="292608" cy="996695"/>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5202936"/>
              <a:ext cx="2984906" cy="996695"/>
            </a:xfrm>
            <a:prstGeom prst="rect">
              <a:avLst/>
            </a:prstGeom>
            <a:noFill/>
          </p:spPr>
          <p:txBody>
            <a:bodyPr wrap="square" lIns="0" rIns="0" tIns="18288" bIns="18288" anchor="t">
              <a:spAutoFit/>
            </a:bodyPr>
            <a:lstStyle/>
            <a:p>
              <a:pPr algn="l"/>
              <a:r>
                <a:rPr sz="1650" b="0" i="0">
                  <a:solidFill>
                    <a:srgbClr val="1F2328"/>
                  </a:solidFill>
                  <a:latin typeface="Calibri"/>
                </a:rPr>
                <a:t>The operator that looks like an arrow with an equals sign is cosine distance. Smaller means closer.</a:t>
              </a:r>
            </a:p>
          </p:txBody>
        </p:sp>
      </p:grpSp>
      <p:grpSp>
        <p:nvGrpSpPr>
          <p:cNvPr id="15" name="says-3"/>
          <p:cNvGrpSpPr/>
          <p:nvPr/>
        </p:nvGrpSpPr>
        <p:grpSpPr>
          <a:xfrm>
            <a:off x="8173516" y="5129784"/>
            <a:ext cx="3332379" cy="1069847"/>
            <a:chOff x="8173516" y="5129784"/>
            <a:chExt cx="3332379" cy="1069847"/>
          </a:xfrm>
        </p:grpSpPr>
        <p:cxnSp>
          <p:nvCxnSpPr>
            <p:cNvPr id="16" name="Connector 15"/>
            <p:cNvCxnSpPr/>
            <p:nvPr/>
          </p:nvCxnSpPr>
          <p:spPr>
            <a:xfrm>
              <a:off x="8173516" y="5129784"/>
              <a:ext cx="3332379" cy="0"/>
            </a:xfrm>
            <a:prstGeom prst="line">
              <a:avLst/>
            </a:prstGeom>
            <a:ln w="15875">
              <a:solidFill>
                <a:srgbClr val="1F2328"/>
              </a:solidFill>
            </a:ln>
          </p:spPr>
        </p:cxnSp>
        <p:sp>
          <p:nvSpPr>
            <p:cNvPr id="17" name="TextBox 16"/>
            <p:cNvSpPr txBox="1"/>
            <p:nvPr/>
          </p:nvSpPr>
          <p:spPr>
            <a:xfrm>
              <a:off x="8173516" y="5202936"/>
              <a:ext cx="292608" cy="996695"/>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5202936"/>
              <a:ext cx="2984906" cy="996695"/>
            </a:xfrm>
            <a:prstGeom prst="rect">
              <a:avLst/>
            </a:prstGeom>
            <a:noFill/>
          </p:spPr>
          <p:txBody>
            <a:bodyPr wrap="square" lIns="0" rIns="0" tIns="18288" bIns="18288" anchor="t">
              <a:spAutoFit/>
            </a:bodyPr>
            <a:lstStyle/>
            <a:p>
              <a:pPr algn="l"/>
              <a:r>
                <a:rPr sz="1900" b="0" i="0">
                  <a:solidFill>
                    <a:srgbClr val="1F2328"/>
                  </a:solidFill>
                  <a:latin typeface="Calibri"/>
                </a:rPr>
                <a:t>Filter by status and take the three nearest chunks in one query.</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Fusion pulls the right passage back to third place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pic>
        <p:nvPicPr>
          <p:cNvPr id="5" name="figure-rrf_fusion" descr="Three ranked lists for one question showing the correct document missing from the keyword top five, first in meaning search, and third after fusion."/>
          <p:cNvPicPr>
            <a:picLocks noChangeAspect="1"/>
          </p:cNvPicPr>
          <p:nvPr/>
        </p:nvPicPr>
        <p:blipFill>
          <a:blip r:embed="rId3"/>
          <a:stretch>
            <a:fillRect/>
          </a:stretch>
        </p:blipFill>
        <p:spPr>
          <a:xfrm>
            <a:off x="685800" y="1600200"/>
            <a:ext cx="7040880" cy="2725501"/>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Keyword list: the Loan Approval Policy, part 1 comes 7th. It is not in the top five.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Meaning list: part 2 is first and part 1 is second. Part 1 scores 1/62 = 0.0161.</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Fused list: part 1 adds 1/67 and 1/62 to reach 0.0311, third overall.</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Question Q01, real search over 139 chunks. Gold document rank: keyword 7, meaning 1, fused 3.</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Re-ranking: a slower second look at the top results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second reader puts a short list in a better order.</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What it does</a:t>
            </a:r>
          </a:p>
        </p:txBody>
      </p:sp>
      <p:sp>
        <p:nvSpPr>
          <p:cNvPr id="8" name="TextBox 7"/>
          <p:cNvSpPr txBox="1"/>
          <p:nvPr/>
        </p:nvSpPr>
        <p:spPr>
          <a:xfrm>
            <a:off x="3611880" y="2478633"/>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Takes the top 20 from the first search and scores each question and passage together.</a:t>
            </a:r>
          </a:p>
        </p:txBody>
      </p:sp>
      <p:cxnSp>
        <p:nvCxnSpPr>
          <p:cNvPr id="9" name="Connector 8"/>
          <p:cNvCxnSpPr/>
          <p:nvPr/>
        </p:nvCxnSpPr>
        <p:spPr>
          <a:xfrm>
            <a:off x="685800" y="3317443"/>
            <a:ext cx="10820095" cy="0"/>
          </a:xfrm>
          <a:prstGeom prst="line">
            <a:avLst/>
          </a:prstGeom>
          <a:ln w="6350">
            <a:solidFill>
              <a:srgbClr val="C9C5BC"/>
            </a:solidFill>
          </a:ln>
        </p:spPr>
      </p:cxnSp>
      <p:sp>
        <p:nvSpPr>
          <p:cNvPr id="10" name="TextBox 9"/>
          <p:cNvSpPr txBox="1"/>
          <p:nvPr/>
        </p:nvSpPr>
        <p:spPr>
          <a:xfrm>
            <a:off x="685800" y="3427171"/>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Why add it</a:t>
            </a:r>
          </a:p>
        </p:txBody>
      </p:sp>
      <p:sp>
        <p:nvSpPr>
          <p:cNvPr id="11" name="TextBox 10"/>
          <p:cNvSpPr txBox="1"/>
          <p:nvPr/>
        </p:nvSpPr>
        <p:spPr>
          <a:xfrm>
            <a:off x="3611880" y="3445459"/>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The first search is fast and rough. The second is careful, so it sees only a short list.</a:t>
            </a:r>
          </a:p>
        </p:txBody>
      </p:sp>
      <p:cxnSp>
        <p:nvCxnSpPr>
          <p:cNvPr id="12" name="Connector 11"/>
          <p:cNvCxnSpPr/>
          <p:nvPr/>
        </p:nvCxnSpPr>
        <p:spPr>
          <a:xfrm>
            <a:off x="685800" y="4284268"/>
            <a:ext cx="10820095" cy="0"/>
          </a:xfrm>
          <a:prstGeom prst="line">
            <a:avLst/>
          </a:prstGeom>
          <a:ln w="6350">
            <a:solidFill>
              <a:srgbClr val="C9C5BC"/>
            </a:solidFill>
          </a:ln>
        </p:spPr>
      </p:cxnSp>
      <p:sp>
        <p:nvSpPr>
          <p:cNvPr id="13" name="TextBox 12"/>
          <p:cNvSpPr txBox="1"/>
          <p:nvPr/>
        </p:nvSpPr>
        <p:spPr>
          <a:xfrm>
            <a:off x="685800" y="4393996"/>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What it costs</a:t>
            </a:r>
          </a:p>
        </p:txBody>
      </p:sp>
      <p:sp>
        <p:nvSpPr>
          <p:cNvPr id="14" name="TextBox 13"/>
          <p:cNvSpPr txBox="1"/>
          <p:nvPr/>
        </p:nvSpPr>
        <p:spPr>
          <a:xfrm>
            <a:off x="3611880" y="4412284"/>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A model to host, extra delay on every question and one more part to test.</a:t>
            </a:r>
          </a:p>
        </p:txBody>
      </p:sp>
      <p:cxnSp>
        <p:nvCxnSpPr>
          <p:cNvPr id="15" name="Connector 14"/>
          <p:cNvCxnSpPr/>
          <p:nvPr/>
        </p:nvCxnSpPr>
        <p:spPr>
          <a:xfrm>
            <a:off x="685800" y="5251094"/>
            <a:ext cx="10820095" cy="0"/>
          </a:xfrm>
          <a:prstGeom prst="line">
            <a:avLst/>
          </a:prstGeom>
          <a:ln w="6350">
            <a:solidFill>
              <a:srgbClr val="C9C5BC"/>
            </a:solidFill>
          </a:ln>
        </p:spPr>
      </p:cxnSp>
      <p:sp>
        <p:nvSpPr>
          <p:cNvPr id="16" name="TextBox 15"/>
          <p:cNvSpPr txBox="1"/>
          <p:nvPr/>
        </p:nvSpPr>
        <p:spPr>
          <a:xfrm>
            <a:off x="685800" y="5360822"/>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When to try it</a:t>
            </a:r>
          </a:p>
        </p:txBody>
      </p:sp>
      <p:sp>
        <p:nvSpPr>
          <p:cNvPr id="17" name="TextBox 16"/>
          <p:cNvSpPr txBox="1"/>
          <p:nvPr/>
        </p:nvSpPr>
        <p:spPr>
          <a:xfrm>
            <a:off x="3611880" y="5379110"/>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When the right passage is in the top ten but not in the top three.</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Six Swahili questions, three methods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6949440" cy="26578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383536"/>
          </a:xfrm>
          <a:prstGeom prst="rect">
            <a:avLst/>
          </a:prstGeom>
          <a:noFill/>
        </p:spPr>
        <p:txBody>
          <a:bodyPr wrap="none" lIns="0" rIns="0" tIns="0" bIns="0">
            <a:spAutoFit/>
          </a:bodyPr>
          <a:lstStyle/>
          <a:p>
            <a:r>
              <a:rPr sz="1400" b="0" i="0">
                <a:solidFill>
                  <a:srgbClr val="1F2328"/>
                </a:solidFill>
                <a:latin typeface="Courier New"/>
              </a:rPr>
              <a:t>tests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read_csv</a:t>
            </a:r>
            <a:r>
              <a:rPr sz="1400" b="0" i="0">
                <a:solidFill>
                  <a:srgbClr val="1F2328"/>
                </a:solidFill>
                <a:latin typeface="Courier New"/>
              </a:rPr>
              <a:t>(</a:t>
            </a:r>
            <a:r>
              <a:rPr sz="1400" b="0" i="0">
                <a:solidFill>
                  <a:srgbClr val="B04A2B"/>
                </a:solidFill>
                <a:latin typeface="Courier New"/>
              </a:rPr>
              <a:t>'eval_questions.csv'</a:t>
            </a:r>
            <a:r>
              <a:rPr sz="1400" b="0" i="0">
                <a:solidFill>
                  <a:srgbClr val="1F2328"/>
                </a:solidFill>
                <a:latin typeface="Courier New"/>
              </a:rPr>
              <a:t>)</a:t>
            </a:r>
          </a:p>
          <a:p>
            <a:r>
              <a:rPr sz="1400" b="0" i="0">
                <a:solidFill>
                  <a:srgbClr val="1F2328"/>
                </a:solidFill>
                <a:latin typeface="Courier New"/>
              </a:rPr>
              <a:t>sw</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tests</a:t>
            </a:r>
            <a:r>
              <a:rPr sz="1400" b="0" i="0">
                <a:solidFill>
                  <a:srgbClr val="1F2328"/>
                </a:solidFill>
                <a:latin typeface="Courier New"/>
              </a:rPr>
              <a:t>[</a:t>
            </a:r>
            <a:r>
              <a:rPr sz="1400" b="0" i="0">
                <a:solidFill>
                  <a:srgbClr val="1F2328"/>
                </a:solidFill>
                <a:latin typeface="Courier New"/>
              </a:rPr>
              <a:t>tests</a:t>
            </a:r>
            <a:r>
              <a:rPr sz="1400" b="0" i="0">
                <a:solidFill>
                  <a:srgbClr val="1F2328"/>
                </a:solidFill>
                <a:latin typeface="Courier New"/>
              </a:rPr>
              <a:t>.</a:t>
            </a:r>
            <a:r>
              <a:rPr sz="1400" b="0" i="0">
                <a:solidFill>
                  <a:srgbClr val="1F2328"/>
                </a:solidFill>
                <a:latin typeface="Courier New"/>
              </a:rPr>
              <a:t>language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'sw'</a:t>
            </a:r>
            <a:r>
              <a:rPr sz="1400" b="0" i="0">
                <a:solidFill>
                  <a:srgbClr val="1F2328"/>
                </a:solidFill>
                <a:latin typeface="Courier New"/>
              </a:rPr>
              <a:t>]</a:t>
            </a:r>
          </a:p>
          <a:p>
            <a:r>
              <a:rPr sz="1400" b="0" i="0">
                <a:solidFill>
                  <a:srgbClr val="1F2328"/>
                </a:solidFill>
                <a:latin typeface="Courier New"/>
              </a:rPr>
              <a:t> </a:t>
            </a:r>
          </a:p>
          <a:p>
            <a:r>
              <a:rPr sz="1400" b="1" i="0">
                <a:solidFill>
                  <a:srgbClr val="1F2328"/>
                </a:solidFill>
                <a:latin typeface="Courier New"/>
              </a:rPr>
              <a:t>def</a:t>
            </a:r>
            <a:r>
              <a:rPr sz="1400" b="0" i="0">
                <a:solidFill>
                  <a:srgbClr val="1F2328"/>
                </a:solidFill>
                <a:latin typeface="Courier New"/>
              </a:rPr>
              <a:t> </a:t>
            </a:r>
            <a:r>
              <a:rPr sz="1400" b="0" i="0">
                <a:solidFill>
                  <a:srgbClr val="1F2328"/>
                </a:solidFill>
                <a:latin typeface="Courier New"/>
              </a:rPr>
              <a:t>place</a:t>
            </a:r>
            <a:r>
              <a:rPr sz="1400" b="0" i="0">
                <a:solidFill>
                  <a:srgbClr val="1F2328"/>
                </a:solidFill>
                <a:latin typeface="Courier New"/>
              </a:rPr>
              <a:t>(</a:t>
            </a:r>
            <a:r>
              <a:rPr sz="1400" b="0" i="0">
                <a:solidFill>
                  <a:srgbClr val="1F2328"/>
                </a:solidFill>
                <a:latin typeface="Courier New"/>
              </a:rPr>
              <a:t>r</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ids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list</a:t>
            </a:r>
            <a:r>
              <a:rPr sz="1400" b="0" i="0">
                <a:solidFill>
                  <a:srgbClr val="1F2328"/>
                </a:solidFill>
                <a:latin typeface="Courier New"/>
              </a:rPr>
              <a:t>(</a:t>
            </a:r>
            <a:r>
              <a:rPr sz="1400" b="0" i="0">
                <a:solidFill>
                  <a:srgbClr val="1F2328"/>
                </a:solidFill>
                <a:latin typeface="Courier New"/>
              </a:rPr>
              <a:t>search</a:t>
            </a:r>
            <a:r>
              <a:rPr sz="1400" b="0" i="0">
                <a:solidFill>
                  <a:srgbClr val="1F2328"/>
                </a:solidFill>
                <a:latin typeface="Courier New"/>
              </a:rPr>
              <a:t>.</a:t>
            </a:r>
            <a:r>
              <a:rPr sz="1400" b="0" i="0">
                <a:solidFill>
                  <a:srgbClr val="1F2328"/>
                </a:solidFill>
                <a:latin typeface="Courier New"/>
              </a:rPr>
              <a:t>search</a:t>
            </a:r>
            <a:r>
              <a:rPr sz="1400" b="0" i="0">
                <a:solidFill>
                  <a:srgbClr val="1F2328"/>
                </a:solidFill>
                <a:latin typeface="Courier New"/>
              </a:rPr>
              <a:t>(</a:t>
            </a:r>
            <a:r>
              <a:rPr sz="1400" b="0" i="0">
                <a:solidFill>
                  <a:srgbClr val="1F2328"/>
                </a:solidFill>
                <a:latin typeface="Courier New"/>
              </a:rPr>
              <a:t>r</a:t>
            </a:r>
            <a:r>
              <a:rPr sz="1400" b="0" i="0">
                <a:solidFill>
                  <a:srgbClr val="1F2328"/>
                </a:solidFill>
                <a:latin typeface="Courier New"/>
              </a:rPr>
              <a:t>.</a:t>
            </a:r>
            <a:r>
              <a:rPr sz="1400" b="0" i="0">
                <a:solidFill>
                  <a:srgbClr val="1F2328"/>
                </a:solidFill>
                <a:latin typeface="Courier New"/>
              </a:rPr>
              <a:t>question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a:t>
            </a:r>
            <a:r>
              <a:rPr sz="1400" b="0" i="0">
                <a:solidFill>
                  <a:srgbClr val="1F2328"/>
                </a:solidFill>
                <a:latin typeface="Courier New"/>
              </a:rPr>
              <a:t>=</a:t>
            </a:r>
            <a:r>
              <a:rPr sz="1400" b="0" i="0">
                <a:solidFill>
                  <a:srgbClr val="3B4046"/>
                </a:solidFill>
                <a:latin typeface="Courier New"/>
              </a:rPr>
              <a:t>10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doc_id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g</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t>
            </a:r>
            <a:r>
              <a:rPr sz="1400" b="0" i="0">
                <a:solidFill>
                  <a:srgbClr val="1F2328"/>
                </a:solidFill>
                <a:latin typeface="Courier New"/>
              </a:rPr>
              <a:t>.</a:t>
            </a:r>
            <a:r>
              <a:rPr sz="1400" b="0" i="0">
                <a:solidFill>
                  <a:srgbClr val="1F2328"/>
                </a:solidFill>
                <a:latin typeface="Courier New"/>
              </a:rPr>
              <a:t>gold_doc_id</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return</a:t>
            </a:r>
            <a:r>
              <a:rPr sz="1400" b="0" i="0">
                <a:solidFill>
                  <a:srgbClr val="1F2328"/>
                </a:solidFill>
                <a:latin typeface="Courier New"/>
              </a:rPr>
              <a:t> </a:t>
            </a:r>
            <a:r>
              <a:rPr sz="1400" b="0" i="0">
                <a:solidFill>
                  <a:srgbClr val="1F2328"/>
                </a:solidFill>
                <a:latin typeface="Courier New"/>
              </a:rPr>
              <a:t>ids</a:t>
            </a:r>
            <a:r>
              <a:rPr sz="1400" b="0" i="0">
                <a:solidFill>
                  <a:srgbClr val="1F2328"/>
                </a:solidFill>
                <a:latin typeface="Courier New"/>
              </a:rPr>
              <a:t>.</a:t>
            </a:r>
            <a:r>
              <a:rPr sz="1400" b="0" i="0">
                <a:solidFill>
                  <a:srgbClr val="1F2328"/>
                </a:solidFill>
                <a:latin typeface="Courier New"/>
              </a:rPr>
              <a:t>index</a:t>
            </a:r>
            <a:r>
              <a:rPr sz="1400" b="0" i="0">
                <a:solidFill>
                  <a:srgbClr val="1F2328"/>
                </a:solidFill>
                <a:latin typeface="Courier New"/>
              </a:rPr>
              <a:t>(</a:t>
            </a:r>
            <a:r>
              <a:rPr sz="1400" b="0" i="0">
                <a:solidFill>
                  <a:srgbClr val="1F2328"/>
                </a:solidFill>
                <a:latin typeface="Courier New"/>
              </a:rPr>
              <a:t>g</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g</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ids</a:t>
            </a:r>
            <a:r>
              <a:rPr sz="1400" b="0" i="0">
                <a:solidFill>
                  <a:srgbClr val="1F2328"/>
                </a:solidFill>
                <a:latin typeface="Courier New"/>
              </a:rPr>
              <a:t> </a:t>
            </a:r>
            <a:r>
              <a:rPr sz="1400" b="1" i="0">
                <a:solidFill>
                  <a:srgbClr val="1F2328"/>
                </a:solidFill>
                <a:latin typeface="Courier New"/>
              </a:rPr>
              <a:t>else</a:t>
            </a:r>
            <a:r>
              <a:rPr sz="1400" b="0" i="0">
                <a:solidFill>
                  <a:srgbClr val="1F2328"/>
                </a:solidFill>
                <a:latin typeface="Courier New"/>
              </a:rPr>
              <a:t> </a:t>
            </a:r>
            <a:r>
              <a:rPr sz="1400" b="0" i="0">
                <a:solidFill>
                  <a:srgbClr val="B04A2B"/>
                </a:solidFill>
                <a:latin typeface="Courier New"/>
              </a:rPr>
              <a:t>'-'</a:t>
            </a:r>
          </a:p>
          <a:p>
            <a:r>
              <a:rPr sz="1400" b="0" i="0">
                <a:solidFill>
                  <a:srgbClr val="1F2328"/>
                </a:solidFill>
                <a:latin typeface="Courier New"/>
              </a:rPr>
              <a:t> </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r</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sw</a:t>
            </a:r>
            <a:r>
              <a:rPr sz="1400" b="0" i="0">
                <a:solidFill>
                  <a:srgbClr val="1F2328"/>
                </a:solidFill>
                <a:latin typeface="Courier New"/>
              </a:rPr>
              <a:t>.</a:t>
            </a:r>
            <a:r>
              <a:rPr sz="1400" b="0" i="0">
                <a:solidFill>
                  <a:srgbClr val="1F2328"/>
                </a:solidFill>
                <a:latin typeface="Courier New"/>
              </a:rPr>
              <a:t>itertuples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place</a:t>
            </a:r>
            <a:r>
              <a:rPr sz="1400" b="0" i="0">
                <a:solidFill>
                  <a:srgbClr val="1F2328"/>
                </a:solidFill>
                <a:latin typeface="Courier New"/>
              </a:rPr>
              <a:t>(</a:t>
            </a:r>
            <a:r>
              <a:rPr sz="1400" b="0" i="0">
                <a:solidFill>
                  <a:srgbClr val="1F2328"/>
                </a:solidFill>
                <a:latin typeface="Courier New"/>
              </a:rPr>
              <a:t>r</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m</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'bm25'</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'meaning'</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'hybrid'</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r</a:t>
            </a:r>
            <a:r>
              <a:rPr sz="1400" b="0" i="0">
                <a:solidFill>
                  <a:srgbClr val="1F2328"/>
                </a:solidFill>
                <a:latin typeface="Courier New"/>
              </a:rPr>
              <a:t>.</a:t>
            </a:r>
            <a:r>
              <a:rPr sz="1400" b="0" i="0">
                <a:solidFill>
                  <a:srgbClr val="1F2328"/>
                </a:solidFill>
                <a:latin typeface="Courier New"/>
              </a:rPr>
              <a:t>q_id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p</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t>
            </a:r>
            <a:r>
              <a:rPr sz="1400" b="0" i="0">
                <a:solidFill>
                  <a:srgbClr val="1F2328"/>
                </a:solidFill>
                <a:latin typeface="Courier New"/>
              </a:rPr>
              <a:t>.</a:t>
            </a:r>
            <a:r>
              <a:rPr sz="1400" b="0" i="0">
                <a:solidFill>
                  <a:srgbClr val="1F2328"/>
                </a:solidFill>
                <a:latin typeface="Courier New"/>
              </a:rPr>
              <a:t>gold_doc_id</a:t>
            </a:r>
            <a:r>
              <a:rPr sz="1400" b="0" i="0">
                <a:solidFill>
                  <a:srgbClr val="1F2328"/>
                </a:solidFill>
                <a:latin typeface="Courier New"/>
              </a:rPr>
              <a:t>)</a:t>
            </a:r>
          </a:p>
        </p:txBody>
      </p:sp>
      <p:grpSp>
        <p:nvGrpSpPr>
          <p:cNvPr id="7" name="output"/>
          <p:cNvGrpSpPr/>
          <p:nvPr/>
        </p:nvGrpSpPr>
        <p:grpSpPr>
          <a:xfrm>
            <a:off x="685800" y="4367784"/>
            <a:ext cx="6949440" cy="1591056"/>
            <a:chOff x="685800" y="4367784"/>
            <a:chExt cx="6949440" cy="1591056"/>
          </a:xfrm>
        </p:grpSpPr>
        <p:sp>
          <p:nvSpPr>
            <p:cNvPr id="8" name="TextBox 7"/>
            <p:cNvSpPr txBox="1"/>
            <p:nvPr/>
          </p:nvSpPr>
          <p:spPr>
            <a:xfrm>
              <a:off x="685800" y="43677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623816"/>
              <a:ext cx="6949440" cy="1335024"/>
            </a:xfrm>
            <a:prstGeom prst="rect">
              <a:avLst/>
            </a:prstGeom>
            <a:solidFill>
              <a:srgbClr val="F5F3EF"/>
            </a:solidFill>
            <a:ln>
              <a:noFill/>
            </a:ln>
          </p:spPr>
          <p:txBody>
            <a:bodyPr rtlCol="0" anchor="ctr"/>
            <a:lstStyle/>
            <a:p>
              <a:pPr algn="ctr"/>
            </a:p>
          </p:txBody>
        </p:sp>
        <p:sp>
          <p:nvSpPr>
            <p:cNvPr id="10" name="TextBox 9"/>
            <p:cNvSpPr txBox="1"/>
            <p:nvPr/>
          </p:nvSpPr>
          <p:spPr>
            <a:xfrm>
              <a:off x="868680" y="4715256"/>
              <a:ext cx="6675120" cy="1225295"/>
            </a:xfrm>
            <a:prstGeom prst="rect">
              <a:avLst/>
            </a:prstGeom>
            <a:noFill/>
          </p:spPr>
          <p:txBody>
            <a:bodyPr wrap="none" lIns="0" rIns="0" tIns="0" bIns="0">
              <a:spAutoFit/>
            </a:bodyPr>
            <a:lstStyle/>
            <a:p>
              <a:r>
                <a:rPr sz="1400" b="0" i="0">
                  <a:solidFill>
                    <a:srgbClr val="1F2328"/>
                  </a:solidFill>
                  <a:latin typeface="Courier New"/>
                </a:rPr>
                <a:t>Q49 1 1 1 D065</a:t>
              </a:r>
            </a:p>
            <a:p>
              <a:r>
                <a:rPr sz="1400" b="0" i="0">
                  <a:solidFill>
                    <a:srgbClr val="1F2328"/>
                  </a:solidFill>
                  <a:latin typeface="Courier New"/>
                </a:rPr>
                <a:t>Q50 1 1 1 D066</a:t>
              </a:r>
            </a:p>
            <a:p>
              <a:r>
                <a:rPr sz="1400" b="0" i="0">
                  <a:solidFill>
                    <a:srgbClr val="1F2328"/>
                  </a:solidFill>
                  <a:latin typeface="Courier New"/>
                </a:rPr>
                <a:t>Q51 1 1 1 D067</a:t>
              </a:r>
            </a:p>
            <a:p>
              <a:r>
                <a:rPr sz="1400" b="0" i="0">
                  <a:solidFill>
                    <a:srgbClr val="1F2328"/>
                  </a:solidFill>
                  <a:latin typeface="Courier New"/>
                </a:rPr>
                <a:t>Q52 - 8 8 D024</a:t>
              </a:r>
            </a:p>
            <a:p>
              <a:r>
                <a:rPr sz="1400" b="0" i="0">
                  <a:solidFill>
                    <a:srgbClr val="1F2328"/>
                  </a:solidFill>
                  <a:latin typeface="Courier New"/>
                </a:rPr>
                <a:t>Q53 - - - D010</a:t>
              </a:r>
            </a:p>
            <a:p>
              <a:r>
                <a:rPr sz="1400" b="0" i="0">
                  <a:solidFill>
                    <a:srgbClr val="1F2328"/>
                  </a:solidFill>
                  <a:latin typeface="Courier New"/>
                </a:rPr>
                <a:t>Q54 - - - D006</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Pick the six questions in Swahili. Three are about the Swahili circulars of Kitara Kenya. Three are about English documents.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For keyword, meaning and hybrid in that order, print the place of the right document in the top ten, or a dash.</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The circulars are found in first place. The three English documents are never in the top five.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busy results page that holds no answer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19</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 staff member asks in Swahili how many characters a password needs. The search returns three Swahili circulars at the top. The page looks full and confident.</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answer is in an English IT policy. The words differ, and a keyword or word piece search cannot cross languages. All three Swahili questions about English documents miss the top five.</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Test a multilingual model on Swahili questions from your own staff. Keep Swahili questions in the test set, and show the source of every answer.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When keyword search is enough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700" b="1" i="0">
                  <a:solidFill>
                    <a:srgbClr val="1F2328"/>
                  </a:solidFill>
                  <a:latin typeface="Cambria"/>
                </a:rPr>
                <a:t>Keyword search is enough when</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Staff use the words of the document: 37 of Kitara's 60 questions share two or more</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They search for a claim number or a form code: Q38, Q39 and Q40 rank first</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set is small and written in one language</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Add meaning search when</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Staff ask in their own words: 23 of the 60 share at most one</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Documents or questions come in Swahili and English</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failure list shows right passages missed</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Start with keyword search, count what it misses on your own questions, and add meaning search for those misses.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ten questions and where each answer lives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1700" b="0" i="0">
                <a:solidFill>
                  <a:srgbClr val="1F2328"/>
                </a:solidFill>
                <a:latin typeface="Calibri"/>
              </a:rPr>
              <a:t>Collect ten real questions from the help desk, an HR mailbox or branch calls</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1950" b="0" i="0">
                <a:solidFill>
                  <a:srgbClr val="1F2328"/>
                </a:solidFill>
                <a:latin typeface="Calibri"/>
              </a:rPr>
              <a:t>Write each in the words staff type, not the words of the document</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1850" b="0" i="0">
                <a:solidFill>
                  <a:srgbClr val="1F2328"/>
                </a:solidFill>
                <a:latin typeface="Calibri"/>
              </a:rPr>
              <a:t>Name the document that holds each answer, its owner and its format</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1850" b="0" i="0">
                <a:solidFill>
                  <a:srgbClr val="1F2328"/>
                </a:solidFill>
                <a:latin typeface="Calibri"/>
              </a:rPr>
              <a:t>Copy its id and one phrase from the right passage into the Tests sheet</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1900" b="0" i="0">
                <a:solidFill>
                  <a:srgbClr val="1F2328"/>
                </a:solidFill>
                <a:latin typeface="Calibri"/>
              </a:rPr>
              <a:t>Mark each question: shares words with the answer, or a paraphrase</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1900" b="0" i="0">
                <a:solidFill>
                  <a:srgbClr val="1F2328"/>
                </a:solidFill>
                <a:latin typeface="Calibri"/>
              </a:rPr>
              <a:t>Mark questions in another language, restricted or version sensitive</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1750" b="0" i="0">
                <a:solidFill>
                  <a:srgbClr val="1F2328"/>
                </a:solidFill>
                <a:latin typeface="Calibri"/>
              </a:rPr>
              <a:t>Write the keyword rank in column E and name an owner for every answer</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1850" b="1" i="0">
                <a:solidFill>
                  <a:srgbClr val="1F2328"/>
                </a:solidFill>
                <a:latin typeface="Cambria"/>
              </a:rPr>
              <a:t>Search Test Sheet workbook and team notebook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Ten rows at the start of Search Test Sheet.xlsx, each with its right document and phrase, the paraphrases marked and an owner for every answer.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staff member asks how long before I get my money, and the search returns a mobile money circular. Why?</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Keyword search follows words. The question shares only one word with the claims procedure, and money matches the mobile money documents.</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What does reciprocal rank fusion add up for one chunk?</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One divided by sixty plus its place, for every list it appears in. A chunk that both lists rank well scores highest.</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signs off whether the first pilot is keyword only or hybrid, and which questions must it answer correctly before you fund it?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Name a role, such as the sponsor with the data lead. Ask for your ten real questions, including some paraphrases and some in Swahili, and fund meaning search where keyword search misses them.</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Search by meaning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Keyword search follows words. It is fast, shows why it matched and misses paraphrases.</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An embedding places text on a map by meaning. A vector store finds the nearest chunks.</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Fusing both lists with 1 over 60 plus rank gave Q01 its third place. Test before you trust.</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Test the search and control who sees what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