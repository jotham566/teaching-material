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folder of documents looks like one asset until you try to hand it to a program. Today we take the Kitara Group folder, one hundred and twenty one documents, and find out which ones an AI can read, which need repair first, and which should wait. You will see text pulled from a PDF, a scan read by software that gets some digits wrong, a price table that scrambles, and a policy cut into pieces. Then you sample fifty of your own documents and fill in a readiness table.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you can tell a text PDF from a scan and get text out of each. You will see how a document is cut into chunks that keep their meaning, and how each chunk carries labels for version and access. The demonstration runs on the Kitara files, and the workshop applies the same checks to fifty of yours. Near the end, the leaders in the room decide who signs off the documents that may go forward, and what error rate on scans you will accept.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today. The text layer is the part of a PDF that a program can copy. OCR is software that reads a picture of a page. Parsing is the whole job of turning a file into clean text. A chunk is a piece of a document that a search returns on its own, and overlap is the stretch repeated at the join between two chunks. Cutting by headings keeps each rule with its title.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from the quality session before we start on documents.</a:t>
            </a:r>
          </a:p>
          <a:p/>
          <a:p>
            <a:r>
              <a:t>Last session you profiled the customer table. What separates a blank cell from an invalid one? Have a think.</a:t>
            </a:r>
          </a:p>
          <a:p/>
          <a:p>
            <a:r>
              <a:t>A blank cell is a completeness problem. In the customer table, five hundred and fifty customers have no national ID. An invalid cell has something in it, and the something is wrong. Twenty four hundred and ninety phone numbers are not in the plus two five six form. A rule checks each kind differently.</a:t>
            </a:r>
          </a:p>
          <a:p/>
          <a:p>
            <a:r>
              <a:t>Second. Besides the columns, what does a data contract say? No rush.</a:t>
            </a:r>
          </a:p>
          <a:p/>
          <a:p>
            <a:r>
              <a:t>It says how good the data must be, how fresh it must be, who owns it, and how a change gets announced. Today those same questions come back, because a document is data too, and it also needs an owner and a version.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Kitara Group folder, counted from the metadata file, holds one hundred and twenty one documents in four formats.</a:t>
            </a:r>
          </a:p>
          <a:p/>
          <a:p>
            <a:r>
              <a:t>Ninety seven are text PDFs. They are the easy majority, and most of today's tools handle them well.</a:t>
            </a:r>
          </a:p>
          <a:p/>
          <a:p>
            <a:r>
              <a:t>Eight are scanned PDFs. To a person they look like any other PDF. To a program they are pictures of paper.</a:t>
            </a:r>
          </a:p>
          <a:p/>
          <a:p>
            <a:r>
              <a:t>The clay colour marks documents that a newer one has replaced. Eleven in all, and five of them are scans. The files that are hardest to read are also the ones most likely to be out of date. A search that ignores that can return an old answer and sound sure of itself.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kinds of file sit in the folder, and each one is read in its own way.</a:t>
            </a:r>
          </a:p>
          <a:p/>
          <a:p>
            <a:r>
              <a:t>A text PDF has a text layer. That means the characters are stored inside the file, and a program can copy them out. A scanned PDF has no text layer. It is a photograph of a page, and software has to read the picture. That software is called OCR, which stands for optical character recognition.</a:t>
            </a:r>
          </a:p>
          <a:p/>
          <a:p>
            <a:r>
              <a:t>Word files and text files are the simplest to read. The Word files bring a different risk. The 2019 and 2022 staff handbooks are both Word files, and they sit in the same folder as the 2025 one.</a:t>
            </a:r>
          </a:p>
          <a:p/>
          <a:p>
            <a:r>
              <a:t>Your folder will have a different mix, and probably some spreadsheets and emails as well. Later today you count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with the easy case, a text PDF. The Staff Handbook 2025.</a:t>
            </a:r>
          </a:p>
          <a:p/>
          <a:p>
            <a:r>
              <a:t>Two free libraries do this job, pypdf and pdfplumber. We open page one with each of them and compare.</a:t>
            </a:r>
          </a:p>
          <a:p/>
          <a:p>
            <a:r>
              <a:t>The first line prints how many characters each one returned. Two thousand two hundred and thirteen from pypdf, two thousand two hundred and ten from pdfplumber. Almost the same text, so the choice between them comes down to details.</a:t>
            </a:r>
          </a:p>
          <a:p/>
          <a:p>
            <a:r>
              <a:t>The next lines show one of those details. pypdf starts with the handbook title. pdfplumber starts with the page header, which reads Kitara Group, a bar, and the title again. At the other end, pypdf finishes with the footer, Page one of two. Headers and footers belong to the text layer, so they travel into every chunk unless we remove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file is a scan, the Motor Claim Form Signed, from the scans folder.</a:t>
            </a:r>
          </a:p>
          <a:p/>
          <a:p>
            <a:r>
              <a:t>The first line asks pypdf for the text on the page. It returns an empty string, two quotes with nothing between them. A search system that only used pypdf would index this form as a blank page, and nobody would be told.</a:t>
            </a:r>
          </a:p>
          <a:p/>
          <a:p>
            <a:r>
              <a:t>The second step uses the Kitara search toolkit. It notices the page is empty, turns the page into a picture, and runs Tesseract on it.</a:t>
            </a:r>
          </a:p>
          <a:p/>
          <a:p>
            <a:r>
              <a:t>Here are four lines of what came back. The text is readable. Check the national ID. The capital letters came back in lower case. In the phone number, one zero came back as an at sign. These are clean scans, and the errors still land in the fields where a typo breaks a match.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loan committee note from 2018 is a faded scan. On the left is the crop the computer sees. On the right is what Tesseract read from it.</a:t>
            </a:r>
          </a:p>
          <a:p/>
          <a:p>
            <a:r>
              <a:t>Thirteen of the thirty one words in this crop are wrong. Amount came back as Amwont. A person forgives that.</a:t>
            </a:r>
          </a:p>
          <a:p/>
          <a:p>
            <a:r>
              <a:t>The requested sum is another matter. Thirty five million came back as thirty five, eight e zero, e zero zero. A person can guess what it meant. A program stores it as it is, and a search will happily return it.</a:t>
            </a:r>
          </a:p>
          <a:p/>
          <a:p>
            <a:r>
              <a:t>We measured every scan against its known source text. The three faded scans, this one, the regulator fax from 2017 and the motor policy schedule from 2015, have between nine and thirteen percent of their characters wrong. The five clean scans stay under two percent. How well OCR works depends on the state of the paper, and your oldest paper is the faded kind.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Nobody wants to read a thousand scans by eye. Tesseract offers a quicker check, a confidence score for every word it reads.</a:t>
            </a:r>
          </a:p>
          <a:p/>
          <a:p>
            <a:r>
              <a:t>The function reads one page and averages those scores. Zero means it is guessing, a hundred means it is certain.</a:t>
            </a:r>
          </a:p>
          <a:p/>
          <a:p>
            <a:r>
              <a:t>The loop runs the function over the eight scans and marks anything under eighty five as repair. The cut off is our choice. Pick yours by reading a few pages on both sides of the line.</a:t>
            </a:r>
          </a:p>
          <a:p/>
          <a:p>
            <a:r>
              <a:t>Five scans score between ninety one and ninety five. Three score between sixty seven and seventy five, and they are the same three with the high error rates we just saw. The loan note, the regulator fax and the motor policy schedule. Confidence proves nothing on its own, but it lets you split a large pile into a repair pile and a go pile without reading every page.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Tables are the second place where a text PDF fools you. Take the tariff schedule, a page that any customer would find perfectly clear.</a:t>
            </a:r>
          </a:p>
          <a:p/>
          <a:p>
            <a:r>
              <a:t>On the left, the page. Every service has its charge on the same row, which is how a person reads it.</a:t>
            </a:r>
          </a:p>
          <a:p/>
          <a:p>
            <a:r>
              <a:t>In the middle, pypdf. It returns the whole column of services first, then the whole column of charges. The cash withdrawal at branch and its charge of two thousand five hundred shillings end up nine lines apart. A chunk that holds only services names no prices. A chunk that holds only prices names no services.</a:t>
            </a:r>
          </a:p>
          <a:p/>
          <a:p>
            <a:r>
              <a:t>On the right, pdfplumber. It finds the ruled lines of the table and returns eight rows, each service next to its charge. A search that answers what a branch withdrawal costs needs the right hand side.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the right hand side of that picture is made.</a:t>
            </a:r>
          </a:p>
          <a:p/>
          <a:p>
            <a:r>
              <a:t>extract_table looks for the ruled lines of a table and returns a list of rows. Each row is a list of cells. The first row is the header, so eight data rows follow it.</a:t>
            </a:r>
          </a:p>
          <a:p/>
          <a:p>
            <a:r>
              <a:t>One of those rows is printed. The cash withdrawal at branch, two thousand five hundred, per withdrawal. The row keeps service, charge and note together.</a:t>
            </a:r>
          </a:p>
          <a:p/>
          <a:p>
            <a:r>
              <a:t>The last line measures the scramble in the pypdf text. Nine lines between the service and its charge.</a:t>
            </a:r>
          </a:p>
          <a:p/>
          <a:p>
            <a:r>
              <a:t>Across the ninety seven text PDFs, pdfplumber finds tables in exactly two, the tariff schedule and the motor premium rates. In the workshop you use that to flag the documents that need table handling.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failure never shows an error message.</a:t>
            </a:r>
          </a:p>
          <a:p/>
          <a:p>
            <a:r>
              <a:t>The 2019 staff handbook parses perfectly. The text is clean, the sentences are whole, and it says twenty one days of annual leave. A search finds it and answers with confidence.</a:t>
            </a:r>
          </a:p>
          <a:p/>
          <a:p>
            <a:r>
              <a:t>The 2025 handbook says twenty eight days, and the 2019 file never says it was replaced. Of the eleven superseded documents in the Kitara folder, nine carry no notice of that in their own text. The status lives in one place only, the metadata file, and a program that reads the document never sees it.</a:t>
            </a:r>
          </a:p>
          <a:p/>
          <a:p>
            <a:r>
              <a:t>The fix happens before any search. Record the status, the version and the effective date for every document, and attach them to every chunk. Then a search can ask for current documents only. Who keeps that record up to date is a question for a leader, and we return to it at the end.</a:t>
            </a:r>
          </a:p>
          <a:p/>
          <a:p>
            <a:r>
              <a:t>Exact copies are the easy cousin of this problem, because comparing file fingerprints finds them. Kitara has none. The harder case is the near copy, like the three handbooks, which cover the same rules and differ in numbers such as the leave days.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chunk is a piece of a document that a search can return by itself. Why cut at all? A model reads a limited amount at a time, and a search that hands back a whole policy buries the one sentence you asked about.</a:t>
            </a:r>
          </a:p>
          <a:p/>
          <a:p>
            <a:r>
              <a:t>The Staff Handbook 2025 has four hundred and thirty six words.</a:t>
            </a:r>
          </a:p>
          <a:p/>
          <a:p>
            <a:r>
              <a:t>We cut pieces of two hundred words, and each new piece starts one hundred and sixty words after the previous start. That gives three chunks.</a:t>
            </a:r>
          </a:p>
          <a:p/>
          <a:p>
            <a:r>
              <a:t>The clay stretches are forty words that sit in two chunks at once. That is the overlap. Without it, a sentence at the join would be cut in half and neither chunk would hold the whole rule. The Azure AI Search documentation suggests starting near five hundred and twelve tokens, the word pieces a model counts, with about a quarter of overlap, and Weaviate gives similar advice. Both say to test on your own questions, and Session 7 does that.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cut in code uses the function from the search toolkit.</a:t>
            </a:r>
          </a:p>
          <a:p/>
          <a:p>
            <a:r>
              <a:t>We extract the handbook text, then ask chunk_text for chunks of two hundred words with forty words of overlap.</a:t>
            </a:r>
          </a:p>
          <a:p/>
          <a:p>
            <a:r>
              <a:t>Each chunk prints with its length and its opening words. The first line agrees with the picture. Four hundred and thirty six words became three chunks, of two hundred, two hundred and one hundred and sixteen words. The second chunk starts mid sentence. It opens with carried forward until thirty one March, and the beginning of that annual leave sentence sits in the chunk before.</a:t>
            </a:r>
          </a:p>
          <a:p/>
          <a:p>
            <a:r>
              <a:t>The last line counts header and footer lines inside the chunks. Two. The Grievances heading sits at the bottom of page one, and a footer and a header now stand between that heading and its text. Nobody planned that. A count by words falls where it falls.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common ways to decide where to cut. By word count, called fixed size, and by headings, which is called structure aware chunking.</a:t>
            </a:r>
          </a:p>
          <a:p/>
          <a:p>
            <a:r>
              <a:t>On the left, fixed size. It counts words and cuts, so it works on any file, and it is what we just ran. Its weakness is that a cut can land in the middle of a rule, and header and footer text rides along into the chunk.</a:t>
            </a:r>
          </a:p>
          <a:p/>
          <a:p>
            <a:r>
              <a:t>On the right, cutting by headings. It cuts where the author put a heading, so each chunk is one rule with its title. The handbook has nine numbered sections of thirty to fifty four words, and each one is a natural chunk. It needs headings that a program can find, and a long section still needs a size limit.</a:t>
            </a:r>
          </a:p>
          <a:p/>
          <a:p>
            <a:r>
              <a:t>The verdict is practical. Start with fixed size because it is quick. Move to headings when your test questions come back answered by half a rule.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Cutting by headings on the same handbook takes a few lines.</a:t>
            </a:r>
          </a:p>
          <a:p/>
          <a:p>
            <a:r>
              <a:t>First we remove the header and footer lines. Any line that starts with KITARA GROUP, Classification or Page is dropped.</a:t>
            </a:r>
          </a:p>
          <a:p/>
          <a:p>
            <a:r>
              <a:t>Then one pattern cuts the text before every line that starts with a number, a full stop and a capital letter. That is the shape of one, Working hours, two, Probation, and so on.</a:t>
            </a:r>
          </a:p>
          <a:p/>
          <a:p>
            <a:r>
              <a:t>The result is nine numbered sections, and three are printed. Probation is forty three words, annual leave fifty four, other leave forty four. Each chunk starts at a heading and stops at the end of its rule, and no footer is left, so Grievances sits with its text.</a:t>
            </a:r>
          </a:p>
          <a:p/>
          <a:p>
            <a:r>
              <a:t>This works because the handbook is numbered. Your documents will follow other patterns, so expect to write one small rule for each family of documents.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chunk on its own knows nothing about where it came from. Metadata is the set of labels we attach to it so a search can filter.</a:t>
            </a:r>
          </a:p>
          <a:p/>
          <a:p>
            <a:r>
              <a:t>We keep three documents. The 2019 handbook, the 2025 handbook and the salary bands appendix.</a:t>
            </a:r>
          </a:p>
          <a:p/>
          <a:p>
            <a:r>
              <a:t>build_chunks cuts each one and copies the document's row from the metadata file onto every chunk. Six chunks come out.</a:t>
            </a:r>
          </a:p>
          <a:p/>
          <a:p>
            <a:r>
              <a:t>Read the columns. The two 2019 chunks say superseded. The 2025 chunks say current. The salary chunk says confidential and open to HR and the executive only. A search that filters on these columns can leave out the old handbook, and can keep the salary bands away from a general staff member. We build that filter in Session 7. Today the job is to make sure every chunk carries the labels, and a label nobody recorded cannot be attached.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can plan, you count. This is how you do it for any folder.</a:t>
            </a:r>
          </a:p>
          <a:p/>
          <a:p>
            <a:r>
              <a:t>We list every file under docs and count them by ending. One hundred and twenty one files. A hundred and five PDFs, ten Word files, six text files.</a:t>
            </a:r>
          </a:p>
          <a:p/>
          <a:p>
            <a:r>
              <a:t>Those hundred and five PDFs look the same from outside. The last lines open page one of each and check for text. Eight have none. That finds the scans without opening them one at a time.</a:t>
            </a:r>
          </a:p>
          <a:p/>
          <a:p>
            <a:r>
              <a:t>You will often see a claim that most enterprise data is unstructured. Nobody has counted every organisation's files, so use your own number. Your own count of your own folder tells you more than any estimate.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tool to know about. We show it as syntax only today, because it was not run on this machine.</a:t>
            </a:r>
          </a:p>
          <a:p/>
          <a:p>
            <a:r>
              <a:t>It is called Docling. It is a free converter that was started at IBM Research and is now reported to be hosted by the LF AI and Data Foundation. Its code carries the MIT licence. It reads PDFs and Word files and returns text with headings and tables kept, in a form called markdown. To find the layout it uses models, and those are downloaded on first use. The models carry their own licences, so read each model card before a bank puts it in production.</a:t>
            </a:r>
          </a:p>
          <a:p/>
          <a:p>
            <a:r>
              <a:t>The code is four lines. Create the converter. On the first run it fetches its model files.</a:t>
            </a:r>
          </a:p>
          <a:p/>
          <a:p>
            <a:r>
              <a:t>Then convert the file and print the result as markdown. Try it on the ten hardest files from today's table, and compare it with pypdf and pdfplumber.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next forty minutes you build a readiness table, and the first thing you need is fifty documents.</a:t>
            </a:r>
          </a:p>
          <a:p/>
          <a:p>
            <a:r>
              <a:t>Choose them from one shared drive, and choose non confidential ones. Mix old and new, long and short, PDFs, scans and Word files. A table that holds only your best documents will tell you nothing.</a:t>
            </a:r>
          </a:p>
          <a:p/>
          <a:p>
            <a:r>
              <a:t>Make a sheet with six columns named file, format, text quality, version status, sensitivity and chunk plan. Fill in the format by looking at the file. For each PDF, open it and try to select a line of text. If you cannot, it is a scan.</a:t>
            </a:r>
          </a:p>
          <a:p/>
          <a:p>
            <a:r>
              <a:t>Mark the quality of the text, then the version status. Write unknown where nobody can say, and put a name next to who could say. Add sensitivity from the classes in Session 3, and choose a chunk plan.</a:t>
            </a:r>
          </a:p>
          <a:p/>
          <a:p>
            <a:r>
              <a:t>The data colleague runs the team notebook on the Kitara folder alongside you and shows how counting can be done by program. The leader owns the last step, the owners of the worst three repairs.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to finish, and the last one belongs to the leaders.</a:t>
            </a:r>
          </a:p>
          <a:p/>
          <a:p>
            <a:r>
              <a:t>A PDF returns an empty string from pypdf. What is it, and what do you do? Give that a moment.</a:t>
            </a:r>
          </a:p>
          <a:p/>
          <a:p>
            <a:r>
              <a:t>It is a scan with no text layer. You run OCR, and then you check the confidence or the error rate before you trust the text. The faded Kitara scans had up to thirteen percent of characters wrong.</a:t>
            </a:r>
          </a:p>
          <a:p/>
          <a:p>
            <a:r>
              <a:t>Second. Why does a price table read by pypdf give wrong answers? Think it over.</a:t>
            </a:r>
          </a:p>
          <a:p/>
          <a:p>
            <a:r>
              <a:t>pypdf lists every service and then every charge, so a price lands nine lines away from its name. pdfplumber keeps each row together.</a:t>
            </a:r>
          </a:p>
          <a:p/>
          <a:p>
            <a:r>
              <a:t>Third, for the leaders. Who in your organisation signs off which documents may feed an AI search, and what error rate on scans will you accept? Sit with it for a second.</a:t>
            </a:r>
          </a:p>
          <a:p/>
          <a:p>
            <a:r>
              <a:t>Name one role. It is usually the owner of that family of documents together with the records lead. For a policy that staff act on, accept only repaired or checked text. For old reference scans, a higher rate can be fine if every answer shows the source page, so a person can check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now sort a folder into text PDFs, scans, Word files and text files, and you have seen what each one costs to read.</a:t>
            </a:r>
          </a:p>
          <a:p/>
          <a:p>
            <a:r>
              <a:t>A scan has no text layer. OCR reads it, and you measure the errors. On the Kitara scans that meant under two percent on the clean ones and up to thirteen on the faded ones.</a:t>
            </a:r>
          </a:p>
          <a:p/>
          <a:p>
            <a:r>
              <a:t>Clean looking text can still be wrong. A table scrambles, a footer lands in the middle of a rule, and the 2019 handbook parses perfectly while saying twenty one days of leave.</a:t>
            </a:r>
          </a:p>
          <a:p/>
          <a:p>
            <a:r>
              <a:t>The remedy is the same each time. Cut the text into overlapping chunks, and attach status, version and access to every chunk. The readiness table you filled in today is your list of what to fix first.</a:t>
            </a:r>
          </a:p>
          <a:p/>
          <a:p>
            <a:r>
              <a:t>Next session we take those chunks and search them by meaning, and see what that adds to the keyword search you already have.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5   From documents to clean text</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05</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5 of 12</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From documents to clean text</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Which of our documents can AI read, and what must be repaired first?</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From documents to clean text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Tell a text PDF from a scan and extract text from each</a:t>
            </a:r>
          </a:p>
        </p:txBody>
      </p:sp>
      <p:cxnSp>
        <p:nvCxnSpPr>
          <p:cNvPr id="7" name="Connector 6"/>
          <p:cNvCxnSpPr/>
          <p:nvPr/>
        </p:nvCxnSpPr>
        <p:spPr>
          <a:xfrm>
            <a:off x="685800" y="2690164"/>
            <a:ext cx="5394960" cy="0"/>
          </a:xfrm>
          <a:prstGeom prst="line">
            <a:avLst/>
          </a:prstGeom>
          <a:ln w="6350">
            <a:solidFill>
              <a:srgbClr val="C9C5BC"/>
            </a:solidFill>
          </a:ln>
        </p:spPr>
      </p:cxnSp>
      <p:sp>
        <p:nvSpPr>
          <p:cNvPr id="8" name="TextBox 7"/>
          <p:cNvSpPr txBox="1"/>
          <p:nvPr/>
        </p:nvSpPr>
        <p:spPr>
          <a:xfrm>
            <a:off x="685800" y="285475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Split a document into chunks that keep their meaning</a:t>
            </a:r>
          </a:p>
        </p:txBody>
      </p:sp>
      <p:cxnSp>
        <p:nvCxnSpPr>
          <p:cNvPr id="9" name="Connector 8"/>
          <p:cNvCxnSpPr/>
          <p:nvPr/>
        </p:nvCxnSpPr>
        <p:spPr>
          <a:xfrm>
            <a:off x="685800" y="3743553"/>
            <a:ext cx="5394960" cy="0"/>
          </a:xfrm>
          <a:prstGeom prst="line">
            <a:avLst/>
          </a:prstGeom>
          <a:ln w="6350">
            <a:solidFill>
              <a:srgbClr val="C9C5BC"/>
            </a:solidFill>
          </a:ln>
        </p:spPr>
      </p:cxnSp>
      <p:sp>
        <p:nvSpPr>
          <p:cNvPr id="10" name="TextBox 9"/>
          <p:cNvSpPr txBox="1"/>
          <p:nvPr/>
        </p:nvSpPr>
        <p:spPr>
          <a:xfrm>
            <a:off x="685800" y="390814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Attach metadata that lets a search filter by version and access</a:t>
            </a:r>
          </a:p>
        </p:txBody>
      </p:sp>
      <p:cxnSp>
        <p:nvCxnSpPr>
          <p:cNvPr id="11" name="Connector 10"/>
          <p:cNvCxnSpPr/>
          <p:nvPr/>
        </p:nvCxnSpPr>
        <p:spPr>
          <a:xfrm>
            <a:off x="685800" y="4796942"/>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Case and recall</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Teaching</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Workshop on your organisation</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Decision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From documents to clean text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8"/>
        </p:xfrm>
        <a:graphic>
          <a:graphicData uri="http://schemas.openxmlformats.org/drawingml/2006/table">
            <a:tbl>
              <a:tblPr firstRow="0" bandRow="0">
                <a:tableStyleId>{2D5ABB26-0587-4C30-8999-92F81FD0307C}</a:tableStyleId>
              </a:tblPr>
              <a:tblGrid>
                <a:gridCol w="2164019"/>
                <a:gridCol w="5410047"/>
                <a:gridCol w="3246028"/>
              </a:tblGrid>
              <a:tr h="455632">
                <a:tc>
                  <a:txBody>
                    <a:bodyPr wrap="square"/>
                    <a:lstStyle/>
                    <a:p>
                      <a:r>
                        <a:rPr sz="155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55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550" b="1" i="0">
                          <a:solidFill>
                            <a:srgbClr val="1F2328"/>
                          </a:solidFill>
                          <a:latin typeface="Calibri"/>
                        </a:rPr>
                        <a:t>Where you meet it</a:t>
                      </a:r>
                    </a:p>
                  </a:txBody>
                  <a:tcPr marL="137160" marR="91440" marT="64008" marB="64008" anchor="ctr">
                    <a:lnL w="0">
                      <a:noFill/>
                    </a:lnL>
                    <a:lnR w="0">
                      <a:noFill/>
                    </a:lnR>
                    <a:lnT w="0">
                      <a:noFill/>
                    </a:lnT>
                    <a:lnB w="15875">
                      <a:solidFill>
                        <a:srgbClr val="1F2328"/>
                      </a:solidFill>
                    </a:lnB>
                    <a:noFill/>
                  </a:tcPr>
                </a:tc>
              </a:tr>
              <a:tr h="701301">
                <a:tc>
                  <a:txBody>
                    <a:bodyPr wrap="square"/>
                    <a:lstStyle/>
                    <a:p>
                      <a:r>
                        <a:rPr sz="1550" b="1" i="0">
                          <a:solidFill>
                            <a:srgbClr val="1F2328"/>
                          </a:solidFill>
                          <a:latin typeface="Calibri"/>
                        </a:rPr>
                        <a:t>Text layer</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The characters stored inside a PDF that a program can copy. A scan has none.</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97 Kitara PDFs have one. The 8 scans do not.</a:t>
                      </a:r>
                    </a:p>
                  </a:txBody>
                  <a:tcPr marL="137160" marR="91440" marT="64008" marB="64008" anchor="ctr">
                    <a:lnL w="0">
                      <a:noFill/>
                    </a:lnL>
                    <a:lnR w="0">
                      <a:noFill/>
                    </a:lnR>
                    <a:lnT w="0">
                      <a:noFill/>
                    </a:lnT>
                    <a:lnB w="6350">
                      <a:solidFill>
                        <a:srgbClr val="C9C5BC"/>
                      </a:solidFill>
                    </a:lnB>
                    <a:noFill/>
                  </a:tcPr>
                </a:tc>
              </a:tr>
              <a:tr h="701301">
                <a:tc>
                  <a:txBody>
                    <a:bodyPr wrap="square"/>
                    <a:lstStyle/>
                    <a:p>
                      <a:r>
                        <a:rPr sz="1550" b="1" i="0">
                          <a:solidFill>
                            <a:srgbClr val="1F2328"/>
                          </a:solidFill>
                          <a:latin typeface="Calibri"/>
                        </a:rPr>
                        <a:t>OCR</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Optical character recognition: software that reads the picture of a page and returns text.</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Tesseract on the 8 scans in docs/scans</a:t>
                      </a:r>
                    </a:p>
                  </a:txBody>
                  <a:tcPr marL="137160" marR="91440" marT="64008" marB="64008" anchor="ctr">
                    <a:lnL w="0">
                      <a:noFill/>
                    </a:lnL>
                    <a:lnR w="0">
                      <a:noFill/>
                    </a:lnR>
                    <a:lnT w="0">
                      <a:noFill/>
                    </a:lnT>
                    <a:lnB w="6350">
                      <a:solidFill>
                        <a:srgbClr val="C9C5BC"/>
                      </a:solidFill>
                    </a:lnB>
                    <a:noFill/>
                  </a:tcPr>
                </a:tc>
              </a:tr>
              <a:tr h="701301">
                <a:tc>
                  <a:txBody>
                    <a:bodyPr wrap="square"/>
                    <a:lstStyle/>
                    <a:p>
                      <a:r>
                        <a:rPr sz="1550" b="1" i="0">
                          <a:solidFill>
                            <a:srgbClr val="1F2328"/>
                          </a:solidFill>
                          <a:latin typeface="Calibri"/>
                        </a:rPr>
                        <a:t>Parsing</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Turning a file into clean text that a program can use.</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pypdf, pdfplumber and python-docx on the Kitara folder</a:t>
                      </a:r>
                    </a:p>
                  </a:txBody>
                  <a:tcPr marL="137160" marR="91440" marT="64008" marB="64008" anchor="ctr">
                    <a:lnL w="0">
                      <a:noFill/>
                    </a:lnL>
                    <a:lnR w="0">
                      <a:noFill/>
                    </a:lnR>
                    <a:lnT w="0">
                      <a:noFill/>
                    </a:lnT>
                    <a:lnB w="6350">
                      <a:solidFill>
                        <a:srgbClr val="C9C5BC"/>
                      </a:solidFill>
                    </a:lnB>
                    <a:noFill/>
                  </a:tcPr>
                </a:tc>
              </a:tr>
              <a:tr h="701301">
                <a:tc>
                  <a:txBody>
                    <a:bodyPr wrap="square"/>
                    <a:lstStyle/>
                    <a:p>
                      <a:r>
                        <a:rPr sz="1550" b="1" i="0">
                          <a:solidFill>
                            <a:srgbClr val="1F2328"/>
                          </a:solidFill>
                          <a:latin typeface="Calibri"/>
                        </a:rPr>
                        <a:t>Chunk</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A piece of a document, a few hundred words, that a search returns on its own.</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The Staff Handbook 2025 becomes 3 chunks</a:t>
                      </a:r>
                    </a:p>
                  </a:txBody>
                  <a:tcPr marL="137160" marR="91440" marT="64008" marB="64008" anchor="ctr">
                    <a:lnL w="0">
                      <a:noFill/>
                    </a:lnL>
                    <a:lnR w="0">
                      <a:noFill/>
                    </a:lnR>
                    <a:lnT w="0">
                      <a:noFill/>
                    </a:lnT>
                    <a:lnB w="6350">
                      <a:solidFill>
                        <a:srgbClr val="C9C5BC"/>
                      </a:solidFill>
                    </a:lnB>
                    <a:noFill/>
                  </a:tcPr>
                </a:tc>
              </a:tr>
              <a:tr h="701301">
                <a:tc>
                  <a:txBody>
                    <a:bodyPr wrap="square"/>
                    <a:lstStyle/>
                    <a:p>
                      <a:r>
                        <a:rPr sz="1550" b="1" i="0">
                          <a:solidFill>
                            <a:srgbClr val="1F2328"/>
                          </a:solidFill>
                          <a:latin typeface="Calibri"/>
                        </a:rPr>
                        <a:t>Overlap</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Words repeated at the join of two chunks so a sentence is not cut in half.</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40 words between chunks</a:t>
                      </a:r>
                    </a:p>
                  </a:txBody>
                  <a:tcPr marL="137160" marR="91440" marT="64008" marB="64008" anchor="ctr">
                    <a:lnL w="0">
                      <a:noFill/>
                    </a:lnL>
                    <a:lnR w="0">
                      <a:noFill/>
                    </a:lnR>
                    <a:lnT w="0">
                      <a:noFill/>
                    </a:lnT>
                    <a:lnB w="6350">
                      <a:solidFill>
                        <a:srgbClr val="C9C5BC"/>
                      </a:solidFill>
                    </a:lnB>
                    <a:noFill/>
                  </a:tcPr>
                </a:tc>
              </a:tr>
              <a:tr h="701301">
                <a:tc>
                  <a:txBody>
                    <a:bodyPr wrap="square"/>
                    <a:lstStyle/>
                    <a:p>
                      <a:r>
                        <a:rPr sz="1550" b="1" i="0">
                          <a:solidFill>
                            <a:srgbClr val="1F2328"/>
                          </a:solidFill>
                          <a:latin typeface="Calibri"/>
                        </a:rPr>
                        <a:t>Cutting by headings</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Splitting a document where its own headings fall, so each chunk is one section.</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The handbook's 9 numbered sections</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4</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From documents to clean text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Last session you profiled the customer table. What separates a blank cell from an invalid one?</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A blank cell is a completeness defect: 550 customers have no national ID. An invalid cell is filled but wrong: 2,490 phone numbers are not in the +256 form.</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Besides the columns, what does a data contract say?</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How good the data must be, how fresh, who owns it, and how a change is announced.</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Kitara's folder: 121 documents, 11 of them replaced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From documents to clean text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pic>
        <p:nvPicPr>
          <p:cNvPr id="5" name="figure-corpus_makeup" descr="Bar chart of documents by format, with 11 superseded documents highlighted and most scanned PDFs among them."/>
          <p:cNvPicPr>
            <a:picLocks noChangeAspect="1"/>
          </p:cNvPicPr>
          <p:nvPr/>
        </p:nvPicPr>
        <p:blipFill>
          <a:blip r:embed="rId3"/>
          <a:stretch>
            <a:fillRect/>
          </a:stretch>
        </p:blipFill>
        <p:spPr>
          <a:xfrm>
            <a:off x="685800" y="1600200"/>
            <a:ext cx="5964381"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Text PDFs are the long bar: 97 of 121 documents.</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Eight scanned PDFs look like any other PDF.</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Clay marks superseded documents: 11 in all, 5 of them scans.</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Counts from docs_metadata.csv. Status is held only in that file, not in the documents.</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Four kinds of file, four ways to read them</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From documents to clean text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graphicFrame>
        <p:nvGraphicFramePr>
          <p:cNvPr id="5" name="Table"/>
          <p:cNvGraphicFramePr>
            <a:graphicFrameLocks noGrp="1"/>
          </p:cNvGraphicFramePr>
          <p:nvPr/>
        </p:nvGraphicFramePr>
        <p:xfrm>
          <a:off x="685800" y="1600200"/>
          <a:ext cx="10820094" cy="3566156"/>
        </p:xfrm>
        <a:graphic>
          <a:graphicData uri="http://schemas.openxmlformats.org/drawingml/2006/table">
            <a:tbl>
              <a:tblPr firstRow="0" bandRow="0">
                <a:tableStyleId>{2D5ABB26-0587-4C30-8999-92F81FD0307C}</a:tableStyleId>
              </a:tblPr>
              <a:tblGrid>
                <a:gridCol w="2000353"/>
                <a:gridCol w="1182027"/>
                <a:gridCol w="3818857"/>
                <a:gridCol w="3818857"/>
              </a:tblGrid>
              <a:tr h="840028">
                <a:tc>
                  <a:txBody>
                    <a:bodyPr wrap="square"/>
                    <a:lstStyle/>
                    <a:p>
                      <a:r>
                        <a:rPr sz="2000" b="1" i="0">
                          <a:solidFill>
                            <a:srgbClr val="1F2328"/>
                          </a:solidFill>
                          <a:latin typeface="Calibri"/>
                        </a:rPr>
                        <a:t>Kind of file</a:t>
                      </a:r>
                    </a:p>
                  </a:txBody>
                  <a:tcPr marL="0" marR="91440" marT="64008" marB="64008" anchor="ctr">
                    <a:lnL w="0">
                      <a:noFill/>
                    </a:lnL>
                    <a:lnR w="0">
                      <a:noFill/>
                    </a:lnR>
                    <a:lnT w="0">
                      <a:noFill/>
                    </a:lnT>
                    <a:lnB w="15875">
                      <a:solidFill>
                        <a:srgbClr val="1F2328"/>
                      </a:solidFill>
                    </a:lnB>
                    <a:noFill/>
                  </a:tcPr>
                </a:tc>
                <a:tc>
                  <a:txBody>
                    <a:bodyPr wrap="square"/>
                    <a:lstStyle/>
                    <a:p>
                      <a:r>
                        <a:rPr sz="2000" b="1" i="0">
                          <a:solidFill>
                            <a:srgbClr val="1F2328"/>
                          </a:solidFill>
                          <a:latin typeface="Calibri"/>
                        </a:rPr>
                        <a:t>At Kitara</a:t>
                      </a:r>
                    </a:p>
                  </a:txBody>
                  <a:tcPr marL="137160" marR="91440" marT="64008" marB="64008" anchor="ctr">
                    <a:lnL w="0">
                      <a:noFill/>
                    </a:lnL>
                    <a:lnR w="0">
                      <a:noFill/>
                    </a:lnR>
                    <a:lnT w="0">
                      <a:noFill/>
                    </a:lnT>
                    <a:lnB w="15875">
                      <a:solidFill>
                        <a:srgbClr val="1F2328"/>
                      </a:solidFill>
                    </a:lnB>
                    <a:noFill/>
                  </a:tcPr>
                </a:tc>
                <a:tc>
                  <a:txBody>
                    <a:bodyPr wrap="square"/>
                    <a:lstStyle/>
                    <a:p>
                      <a:r>
                        <a:rPr sz="2000" b="1" i="0">
                          <a:solidFill>
                            <a:srgbClr val="1F2328"/>
                          </a:solidFill>
                          <a:latin typeface="Calibri"/>
                        </a:rPr>
                        <a:t>How a program reads it</a:t>
                      </a:r>
                    </a:p>
                  </a:txBody>
                  <a:tcPr marL="137160" marR="91440" marT="64008" marB="64008" anchor="ctr">
                    <a:lnL w="0">
                      <a:noFill/>
                    </a:lnL>
                    <a:lnR w="0">
                      <a:noFill/>
                    </a:lnR>
                    <a:lnT w="0">
                      <a:noFill/>
                    </a:lnT>
                    <a:lnB w="15875">
                      <a:solidFill>
                        <a:srgbClr val="1F2328"/>
                      </a:solidFill>
                    </a:lnB>
                    <a:noFill/>
                  </a:tcPr>
                </a:tc>
                <a:tc>
                  <a:txBody>
                    <a:bodyPr wrap="square"/>
                    <a:lstStyle/>
                    <a:p>
                      <a:r>
                        <a:rPr sz="2000" b="1" i="0">
                          <a:solidFill>
                            <a:srgbClr val="1F2328"/>
                          </a:solidFill>
                          <a:latin typeface="Calibri"/>
                        </a:rPr>
                        <a:t>What goes wrong</a:t>
                      </a:r>
                    </a:p>
                  </a:txBody>
                  <a:tcPr marL="137160" marR="91440" marT="64008" marB="64008" anchor="ctr">
                    <a:lnL w="0">
                      <a:noFill/>
                    </a:lnL>
                    <a:lnR w="0">
                      <a:noFill/>
                    </a:lnR>
                    <a:lnT w="0">
                      <a:noFill/>
                    </a:lnT>
                    <a:lnB w="15875">
                      <a:solidFill>
                        <a:srgbClr val="1F2328"/>
                      </a:solidFill>
                    </a:lnB>
                    <a:noFill/>
                  </a:tcPr>
                </a:tc>
              </a:tr>
              <a:tr h="840028">
                <a:tc>
                  <a:txBody>
                    <a:bodyPr wrap="square"/>
                    <a:lstStyle/>
                    <a:p>
                      <a:r>
                        <a:rPr sz="2000" b="0" i="0">
                          <a:solidFill>
                            <a:srgbClr val="3B4046"/>
                          </a:solidFill>
                          <a:latin typeface="Calibri"/>
                        </a:rPr>
                        <a:t>Text PDF</a:t>
                      </a:r>
                    </a:p>
                  </a:txBody>
                  <a:tcPr marL="0" marR="91440" marT="64008" marB="64008" anchor="ctr">
                    <a:lnL w="0">
                      <a:noFill/>
                    </a:lnL>
                    <a:lnR w="0">
                      <a:noFill/>
                    </a:lnR>
                    <a:lnT w="0">
                      <a:noFill/>
                    </a:lnT>
                    <a:lnB w="6350">
                      <a:solidFill>
                        <a:srgbClr val="C9C5BC"/>
                      </a:solidFill>
                    </a:lnB>
                    <a:noFill/>
                  </a:tcPr>
                </a:tc>
                <a:tc>
                  <a:txBody>
                    <a:bodyPr wrap="square"/>
                    <a:lstStyle/>
                    <a:p>
                      <a:r>
                        <a:rPr sz="2000" b="0" i="0">
                          <a:solidFill>
                            <a:srgbClr val="3B4046"/>
                          </a:solidFill>
                          <a:latin typeface="Calibri"/>
                        </a:rPr>
                        <a:t>97</a:t>
                      </a:r>
                    </a:p>
                  </a:txBody>
                  <a:tcPr marL="137160" marR="91440" marT="64008" marB="64008" anchor="ctr">
                    <a:lnL w="0">
                      <a:noFill/>
                    </a:lnL>
                    <a:lnR w="0">
                      <a:noFill/>
                    </a:lnR>
                    <a:lnT w="0">
                      <a:noFill/>
                    </a:lnT>
                    <a:lnB w="6350">
                      <a:solidFill>
                        <a:srgbClr val="C9C5BC"/>
                      </a:solidFill>
                    </a:lnB>
                    <a:noFill/>
                  </a:tcPr>
                </a:tc>
                <a:tc>
                  <a:txBody>
                    <a:bodyPr wrap="square"/>
                    <a:lstStyle/>
                    <a:p>
                      <a:r>
                        <a:rPr sz="2000" b="0" i="0">
                          <a:solidFill>
                            <a:srgbClr val="3B4046"/>
                          </a:solidFill>
                          <a:latin typeface="Calibri"/>
                        </a:rPr>
                        <a:t>Copies the text layer out</a:t>
                      </a:r>
                    </a:p>
                  </a:txBody>
                  <a:tcPr marL="137160" marR="91440" marT="64008" marB="64008" anchor="ctr">
                    <a:lnL w="0">
                      <a:noFill/>
                    </a:lnL>
                    <a:lnR w="0">
                      <a:noFill/>
                    </a:lnR>
                    <a:lnT w="0">
                      <a:noFill/>
                    </a:lnT>
                    <a:lnB w="6350">
                      <a:solidFill>
                        <a:srgbClr val="C9C5BC"/>
                      </a:solidFill>
                    </a:lnB>
                    <a:noFill/>
                  </a:tcPr>
                </a:tc>
                <a:tc>
                  <a:txBody>
                    <a:bodyPr wrap="square"/>
                    <a:lstStyle/>
                    <a:p>
                      <a:r>
                        <a:rPr sz="2000" b="0" i="0">
                          <a:solidFill>
                            <a:srgbClr val="3B4046"/>
                          </a:solidFill>
                          <a:latin typeface="Calibri"/>
                        </a:rPr>
                        <a:t>Columns, tables, headers and footers jumble</a:t>
                      </a:r>
                    </a:p>
                  </a:txBody>
                  <a:tcPr marL="137160" marR="91440" marT="64008" marB="64008" anchor="ctr">
                    <a:lnL w="0">
                      <a:noFill/>
                    </a:lnL>
                    <a:lnR w="0">
                      <a:noFill/>
                    </a:lnR>
                    <a:lnT w="0">
                      <a:noFill/>
                    </a:lnT>
                    <a:lnB w="6350">
                      <a:solidFill>
                        <a:srgbClr val="C9C5BC"/>
                      </a:solidFill>
                    </a:lnB>
                    <a:noFill/>
                  </a:tcPr>
                </a:tc>
              </a:tr>
              <a:tr h="523036">
                <a:tc>
                  <a:txBody>
                    <a:bodyPr wrap="square"/>
                    <a:lstStyle/>
                    <a:p>
                      <a:r>
                        <a:rPr sz="2000" b="0" i="0">
                          <a:solidFill>
                            <a:srgbClr val="3B4046"/>
                          </a:solidFill>
                          <a:latin typeface="Calibri"/>
                        </a:rPr>
                        <a:t>Scanned PDF</a:t>
                      </a:r>
                    </a:p>
                  </a:txBody>
                  <a:tcPr marL="0" marR="91440" marT="64008" marB="64008" anchor="ctr">
                    <a:lnL w="0">
                      <a:noFill/>
                    </a:lnL>
                    <a:lnR w="0">
                      <a:noFill/>
                    </a:lnR>
                    <a:lnT w="0">
                      <a:noFill/>
                    </a:lnT>
                    <a:lnB w="6350">
                      <a:solidFill>
                        <a:srgbClr val="C9C5BC"/>
                      </a:solidFill>
                    </a:lnB>
                    <a:noFill/>
                  </a:tcPr>
                </a:tc>
                <a:tc>
                  <a:txBody>
                    <a:bodyPr wrap="square"/>
                    <a:lstStyle/>
                    <a:p>
                      <a:r>
                        <a:rPr sz="2000" b="0" i="0">
                          <a:solidFill>
                            <a:srgbClr val="3B4046"/>
                          </a:solidFill>
                          <a:latin typeface="Calibri"/>
                        </a:rPr>
                        <a:t>8</a:t>
                      </a:r>
                    </a:p>
                  </a:txBody>
                  <a:tcPr marL="137160" marR="91440" marT="64008" marB="64008" anchor="ctr">
                    <a:lnL w="0">
                      <a:noFill/>
                    </a:lnL>
                    <a:lnR w="0">
                      <a:noFill/>
                    </a:lnR>
                    <a:lnT w="0">
                      <a:noFill/>
                    </a:lnT>
                    <a:lnB w="6350">
                      <a:solidFill>
                        <a:srgbClr val="C9C5BC"/>
                      </a:solidFill>
                    </a:lnB>
                    <a:noFill/>
                  </a:tcPr>
                </a:tc>
                <a:tc>
                  <a:txBody>
                    <a:bodyPr wrap="square"/>
                    <a:lstStyle/>
                    <a:p>
                      <a:r>
                        <a:rPr sz="2000" b="0" i="0">
                          <a:solidFill>
                            <a:srgbClr val="3B4046"/>
                          </a:solidFill>
                          <a:latin typeface="Calibri"/>
                        </a:rPr>
                        <a:t>OCR reads the picture of the page</a:t>
                      </a:r>
                    </a:p>
                  </a:txBody>
                  <a:tcPr marL="137160" marR="91440" marT="64008" marB="64008" anchor="ctr">
                    <a:lnL w="0">
                      <a:noFill/>
                    </a:lnL>
                    <a:lnR w="0">
                      <a:noFill/>
                    </a:lnR>
                    <a:lnT w="0">
                      <a:noFill/>
                    </a:lnT>
                    <a:lnB w="6350">
                      <a:solidFill>
                        <a:srgbClr val="C9C5BC"/>
                      </a:solidFill>
                    </a:lnB>
                    <a:noFill/>
                  </a:tcPr>
                </a:tc>
                <a:tc>
                  <a:txBody>
                    <a:bodyPr wrap="square"/>
                    <a:lstStyle/>
                    <a:p>
                      <a:r>
                        <a:rPr sz="2000" b="0" i="0">
                          <a:solidFill>
                            <a:srgbClr val="3B4046"/>
                          </a:solidFill>
                          <a:latin typeface="Calibri"/>
                        </a:rPr>
                        <a:t>Letters and digits misread</a:t>
                      </a:r>
                    </a:p>
                  </a:txBody>
                  <a:tcPr marL="137160" marR="91440" marT="64008" marB="64008" anchor="ctr">
                    <a:lnL w="0">
                      <a:noFill/>
                    </a:lnL>
                    <a:lnR w="0">
                      <a:noFill/>
                    </a:lnR>
                    <a:lnT w="0">
                      <a:noFill/>
                    </a:lnT>
                    <a:lnB w="6350">
                      <a:solidFill>
                        <a:srgbClr val="C9C5BC"/>
                      </a:solidFill>
                    </a:lnB>
                    <a:noFill/>
                  </a:tcPr>
                </a:tc>
              </a:tr>
              <a:tr h="840028">
                <a:tc>
                  <a:txBody>
                    <a:bodyPr wrap="square"/>
                    <a:lstStyle/>
                    <a:p>
                      <a:r>
                        <a:rPr sz="2000" b="0" i="0">
                          <a:solidFill>
                            <a:srgbClr val="3B4046"/>
                          </a:solidFill>
                          <a:latin typeface="Calibri"/>
                        </a:rPr>
                        <a:t>Word file</a:t>
                      </a:r>
                    </a:p>
                  </a:txBody>
                  <a:tcPr marL="0" marR="91440" marT="64008" marB="64008" anchor="ctr">
                    <a:lnL w="0">
                      <a:noFill/>
                    </a:lnL>
                    <a:lnR w="0">
                      <a:noFill/>
                    </a:lnR>
                    <a:lnT w="0">
                      <a:noFill/>
                    </a:lnT>
                    <a:lnB w="6350">
                      <a:solidFill>
                        <a:srgbClr val="C9C5BC"/>
                      </a:solidFill>
                    </a:lnB>
                    <a:noFill/>
                  </a:tcPr>
                </a:tc>
                <a:tc>
                  <a:txBody>
                    <a:bodyPr wrap="square"/>
                    <a:lstStyle/>
                    <a:p>
                      <a:r>
                        <a:rPr sz="2000" b="0" i="0">
                          <a:solidFill>
                            <a:srgbClr val="3B4046"/>
                          </a:solidFill>
                          <a:latin typeface="Calibri"/>
                        </a:rPr>
                        <a:t>10</a:t>
                      </a:r>
                    </a:p>
                  </a:txBody>
                  <a:tcPr marL="137160" marR="91440" marT="64008" marB="64008" anchor="ctr">
                    <a:lnL w="0">
                      <a:noFill/>
                    </a:lnL>
                    <a:lnR w="0">
                      <a:noFill/>
                    </a:lnR>
                    <a:lnT w="0">
                      <a:noFill/>
                    </a:lnT>
                    <a:lnB w="6350">
                      <a:solidFill>
                        <a:srgbClr val="C9C5BC"/>
                      </a:solidFill>
                    </a:lnB>
                    <a:noFill/>
                  </a:tcPr>
                </a:tc>
                <a:tc>
                  <a:txBody>
                    <a:bodyPr wrap="square"/>
                    <a:lstStyle/>
                    <a:p>
                      <a:r>
                        <a:rPr sz="2000" b="0" i="0">
                          <a:solidFill>
                            <a:srgbClr val="3B4046"/>
                          </a:solidFill>
                          <a:latin typeface="Calibri"/>
                        </a:rPr>
                        <a:t>python-docx reads paragraphs and tables</a:t>
                      </a:r>
                    </a:p>
                  </a:txBody>
                  <a:tcPr marL="137160" marR="91440" marT="64008" marB="64008" anchor="ctr">
                    <a:lnL w="0">
                      <a:noFill/>
                    </a:lnL>
                    <a:lnR w="0">
                      <a:noFill/>
                    </a:lnR>
                    <a:lnT w="0">
                      <a:noFill/>
                    </a:lnT>
                    <a:lnB w="6350">
                      <a:solidFill>
                        <a:srgbClr val="C9C5BC"/>
                      </a:solidFill>
                    </a:lnB>
                    <a:noFill/>
                  </a:tcPr>
                </a:tc>
                <a:tc>
                  <a:txBody>
                    <a:bodyPr wrap="square"/>
                    <a:lstStyle/>
                    <a:p>
                      <a:r>
                        <a:rPr sz="2000" b="0" i="0">
                          <a:solidFill>
                            <a:srgbClr val="3B4046"/>
                          </a:solidFill>
                          <a:latin typeface="Calibri"/>
                        </a:rPr>
                        <a:t>Old drafts sit beside current ones</a:t>
                      </a:r>
                    </a:p>
                  </a:txBody>
                  <a:tcPr marL="137160" marR="91440" marT="64008" marB="64008" anchor="ctr">
                    <a:lnL w="0">
                      <a:noFill/>
                    </a:lnL>
                    <a:lnR w="0">
                      <a:noFill/>
                    </a:lnR>
                    <a:lnT w="0">
                      <a:noFill/>
                    </a:lnT>
                    <a:lnB w="6350">
                      <a:solidFill>
                        <a:srgbClr val="C9C5BC"/>
                      </a:solidFill>
                    </a:lnB>
                    <a:noFill/>
                  </a:tcPr>
                </a:tc>
              </a:tr>
              <a:tr h="523036">
                <a:tc>
                  <a:txBody>
                    <a:bodyPr wrap="square"/>
                    <a:lstStyle/>
                    <a:p>
                      <a:r>
                        <a:rPr sz="2000" b="0" i="0">
                          <a:solidFill>
                            <a:srgbClr val="3B4046"/>
                          </a:solidFill>
                          <a:latin typeface="Calibri"/>
                        </a:rPr>
                        <a:t>Text file</a:t>
                      </a:r>
                    </a:p>
                  </a:txBody>
                  <a:tcPr marL="0" marR="91440" marT="64008" marB="64008" anchor="ctr">
                    <a:lnL w="0">
                      <a:noFill/>
                    </a:lnL>
                    <a:lnR w="0">
                      <a:noFill/>
                    </a:lnR>
                    <a:lnT w="0">
                      <a:noFill/>
                    </a:lnT>
                    <a:lnB w="6350">
                      <a:solidFill>
                        <a:srgbClr val="C9C5BC"/>
                      </a:solidFill>
                    </a:lnB>
                    <a:noFill/>
                  </a:tcPr>
                </a:tc>
                <a:tc>
                  <a:txBody>
                    <a:bodyPr wrap="square"/>
                    <a:lstStyle/>
                    <a:p>
                      <a:r>
                        <a:rPr sz="2000" b="0" i="0">
                          <a:solidFill>
                            <a:srgbClr val="3B4046"/>
                          </a:solidFill>
                          <a:latin typeface="Calibri"/>
                        </a:rPr>
                        <a:t>6</a:t>
                      </a:r>
                    </a:p>
                  </a:txBody>
                  <a:tcPr marL="137160" marR="91440" marT="64008" marB="64008" anchor="ctr">
                    <a:lnL w="0">
                      <a:noFill/>
                    </a:lnL>
                    <a:lnR w="0">
                      <a:noFill/>
                    </a:lnR>
                    <a:lnT w="0">
                      <a:noFill/>
                    </a:lnT>
                    <a:lnB w="6350">
                      <a:solidFill>
                        <a:srgbClr val="C9C5BC"/>
                      </a:solidFill>
                    </a:lnB>
                    <a:noFill/>
                  </a:tcPr>
                </a:tc>
                <a:tc>
                  <a:txBody>
                    <a:bodyPr wrap="square"/>
                    <a:lstStyle/>
                    <a:p>
                      <a:r>
                        <a:rPr sz="2000" b="0" i="0">
                          <a:solidFill>
                            <a:srgbClr val="3B4046"/>
                          </a:solidFill>
                          <a:latin typeface="Calibri"/>
                        </a:rPr>
                        <a:t>Read as it is</a:t>
                      </a:r>
                    </a:p>
                  </a:txBody>
                  <a:tcPr marL="137160" marR="91440" marT="64008" marB="64008" anchor="ctr">
                    <a:lnL w="0">
                      <a:noFill/>
                    </a:lnL>
                    <a:lnR w="0">
                      <a:noFill/>
                    </a:lnR>
                    <a:lnT w="0">
                      <a:noFill/>
                    </a:lnT>
                    <a:lnB w="6350">
                      <a:solidFill>
                        <a:srgbClr val="C9C5BC"/>
                      </a:solidFill>
                    </a:lnB>
                    <a:noFill/>
                  </a:tcPr>
                </a:tc>
                <a:tc>
                  <a:txBody>
                    <a:bodyPr wrap="square"/>
                    <a:lstStyle/>
                    <a:p>
                      <a:r>
                        <a:rPr sz="2000" b="0" i="0">
                          <a:solidFill>
                            <a:srgbClr val="3B4046"/>
                          </a:solidFill>
                          <a:latin typeface="Calibri"/>
                        </a:rPr>
                        <a:t>Few problems. All six are current</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Source: docs_metadata.csv, 121 documents. Your own mix will differ.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Read a text PDF two ways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From documents to clean text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sp>
        <p:nvSpPr>
          <p:cNvPr id="5" name="Rectangle 4"/>
          <p:cNvSpPr/>
          <p:nvPr/>
        </p:nvSpPr>
        <p:spPr>
          <a:xfrm>
            <a:off x="685800" y="1600200"/>
            <a:ext cx="6949440" cy="30769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802636"/>
          </a:xfrm>
          <a:prstGeom prst="rect">
            <a:avLst/>
          </a:prstGeom>
          <a:noFill/>
        </p:spPr>
        <p:txBody>
          <a:bodyPr wrap="none" lIns="0" rIns="0" tIns="0" bIns="0">
            <a:spAutoFit/>
          </a:bodyPr>
          <a:lstStyle/>
          <a:p>
            <a:r>
              <a:rPr sz="1650" b="1" i="0">
                <a:solidFill>
                  <a:srgbClr val="1F2328"/>
                </a:solidFill>
                <a:latin typeface="Courier New"/>
              </a:rPr>
              <a:t>from</a:t>
            </a:r>
            <a:r>
              <a:rPr sz="1650" b="0" i="0">
                <a:solidFill>
                  <a:srgbClr val="1F2328"/>
                </a:solidFill>
                <a:latin typeface="Courier New"/>
              </a:rPr>
              <a:t> </a:t>
            </a:r>
            <a:r>
              <a:rPr sz="1650" b="0" i="0">
                <a:solidFill>
                  <a:srgbClr val="1F2328"/>
                </a:solidFill>
                <a:latin typeface="Courier New"/>
              </a:rPr>
              <a:t>pypdf</a:t>
            </a:r>
            <a:r>
              <a:rPr sz="1650" b="0" i="0">
                <a:solidFill>
                  <a:srgbClr val="1F2328"/>
                </a:solidFill>
                <a:latin typeface="Courier New"/>
              </a:rPr>
              <a:t> </a:t>
            </a:r>
            <a:r>
              <a:rPr sz="1650" b="1" i="0">
                <a:solidFill>
                  <a:srgbClr val="1F2328"/>
                </a:solidFill>
                <a:latin typeface="Courier New"/>
              </a:rPr>
              <a:t>import</a:t>
            </a:r>
            <a:r>
              <a:rPr sz="1650" b="0" i="0">
                <a:solidFill>
                  <a:srgbClr val="1F2328"/>
                </a:solidFill>
                <a:latin typeface="Courier New"/>
              </a:rPr>
              <a:t> </a:t>
            </a:r>
            <a:r>
              <a:rPr sz="1650" b="0" i="0">
                <a:solidFill>
                  <a:srgbClr val="1F2328"/>
                </a:solidFill>
                <a:latin typeface="Courier New"/>
              </a:rPr>
              <a:t>PdfReader</a:t>
            </a:r>
          </a:p>
          <a:p>
            <a:r>
              <a:rPr sz="1650" b="1" i="0">
                <a:solidFill>
                  <a:srgbClr val="1F2328"/>
                </a:solidFill>
                <a:latin typeface="Courier New"/>
              </a:rPr>
              <a:t>import</a:t>
            </a:r>
            <a:r>
              <a:rPr sz="1650" b="0" i="0">
                <a:solidFill>
                  <a:srgbClr val="1F2328"/>
                </a:solidFill>
                <a:latin typeface="Courier New"/>
              </a:rPr>
              <a:t> </a:t>
            </a:r>
            <a:r>
              <a:rPr sz="1650" b="0" i="0">
                <a:solidFill>
                  <a:srgbClr val="1F2328"/>
                </a:solidFill>
                <a:latin typeface="Courier New"/>
              </a:rPr>
              <a:t>pdfplumber</a:t>
            </a:r>
          </a:p>
          <a:p>
            <a:r>
              <a:rPr sz="1650" b="0" i="0">
                <a:solidFill>
                  <a:srgbClr val="1F2328"/>
                </a:solidFill>
                <a:latin typeface="Courier New"/>
              </a:rPr>
              <a:t> </a:t>
            </a:r>
          </a:p>
          <a:p>
            <a:r>
              <a:rPr sz="1650" b="0" i="0">
                <a:solidFill>
                  <a:srgbClr val="1F2328"/>
                </a:solidFill>
                <a:latin typeface="Courier New"/>
              </a:rPr>
              <a:t>path</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B04A2B"/>
                </a:solidFill>
                <a:latin typeface="Courier New"/>
              </a:rPr>
              <a:t>'docs/policies/Staff Handbook 2025.pdf'</a:t>
            </a:r>
          </a:p>
          <a:p>
            <a:r>
              <a:rPr sz="1650" b="0" i="0">
                <a:solidFill>
                  <a:srgbClr val="1F2328"/>
                </a:solidFill>
                <a:latin typeface="Courier New"/>
              </a:rPr>
              <a:t>a</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PdfReader</a:t>
            </a:r>
            <a:r>
              <a:rPr sz="1650" b="0" i="0">
                <a:solidFill>
                  <a:srgbClr val="1F2328"/>
                </a:solidFill>
                <a:latin typeface="Courier New"/>
              </a:rPr>
              <a:t>(</a:t>
            </a:r>
            <a:r>
              <a:rPr sz="1650" b="0" i="0">
                <a:solidFill>
                  <a:srgbClr val="1F2328"/>
                </a:solidFill>
                <a:latin typeface="Courier New"/>
              </a:rPr>
              <a:t>path</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pages</a:t>
            </a:r>
            <a:r>
              <a:rPr sz="1650" b="0" i="0">
                <a:solidFill>
                  <a:srgbClr val="1F2328"/>
                </a:solidFill>
                <a:latin typeface="Courier New"/>
              </a:rPr>
              <a:t>[</a:t>
            </a:r>
            <a:r>
              <a:rPr sz="1650" b="0" i="0">
                <a:solidFill>
                  <a:srgbClr val="3B4046"/>
                </a:solidFill>
                <a:latin typeface="Courier New"/>
              </a:rPr>
              <a:t>0</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extract_text</a:t>
            </a:r>
            <a:r>
              <a:rPr sz="1650" b="0" i="0">
                <a:solidFill>
                  <a:srgbClr val="1F2328"/>
                </a:solidFill>
                <a:latin typeface="Courier New"/>
              </a:rPr>
              <a:t>(</a:t>
            </a:r>
            <a:r>
              <a:rPr sz="1650" b="0" i="0">
                <a:solidFill>
                  <a:srgbClr val="1F2328"/>
                </a:solidFill>
                <a:latin typeface="Courier New"/>
              </a:rPr>
              <a:t>)</a:t>
            </a:r>
          </a:p>
          <a:p>
            <a:r>
              <a:rPr sz="1650" b="1" i="0">
                <a:solidFill>
                  <a:srgbClr val="1F2328"/>
                </a:solidFill>
                <a:latin typeface="Courier New"/>
              </a:rPr>
              <a:t>with</a:t>
            </a:r>
            <a:r>
              <a:rPr sz="1650" b="0" i="0">
                <a:solidFill>
                  <a:srgbClr val="1F2328"/>
                </a:solidFill>
                <a:latin typeface="Courier New"/>
              </a:rPr>
              <a:t> </a:t>
            </a:r>
            <a:r>
              <a:rPr sz="1650" b="0" i="0">
                <a:solidFill>
                  <a:srgbClr val="1F2328"/>
                </a:solidFill>
                <a:latin typeface="Courier New"/>
              </a:rPr>
              <a:t>pdfplumber</a:t>
            </a:r>
            <a:r>
              <a:rPr sz="1650" b="0" i="0">
                <a:solidFill>
                  <a:srgbClr val="1F2328"/>
                </a:solidFill>
                <a:latin typeface="Courier New"/>
              </a:rPr>
              <a:t>.</a:t>
            </a:r>
            <a:r>
              <a:rPr sz="1650" b="0" i="0">
                <a:solidFill>
                  <a:srgbClr val="1F2328"/>
                </a:solidFill>
                <a:latin typeface="Courier New"/>
              </a:rPr>
              <a:t>open</a:t>
            </a:r>
            <a:r>
              <a:rPr sz="1650" b="0" i="0">
                <a:solidFill>
                  <a:srgbClr val="1F2328"/>
                </a:solidFill>
                <a:latin typeface="Courier New"/>
              </a:rPr>
              <a:t>(</a:t>
            </a:r>
            <a:r>
              <a:rPr sz="1650" b="0" i="0">
                <a:solidFill>
                  <a:srgbClr val="1F2328"/>
                </a:solidFill>
                <a:latin typeface="Courier New"/>
              </a:rPr>
              <a:t>path</a:t>
            </a:r>
            <a:r>
              <a:rPr sz="1650" b="0" i="0">
                <a:solidFill>
                  <a:srgbClr val="1F2328"/>
                </a:solidFill>
                <a:latin typeface="Courier New"/>
              </a:rPr>
              <a:t>)</a:t>
            </a:r>
            <a:r>
              <a:rPr sz="1650" b="0" i="0">
                <a:solidFill>
                  <a:srgbClr val="1F2328"/>
                </a:solidFill>
                <a:latin typeface="Courier New"/>
              </a:rPr>
              <a:t> </a:t>
            </a:r>
            <a:r>
              <a:rPr sz="1650" b="1" i="0">
                <a:solidFill>
                  <a:srgbClr val="1F2328"/>
                </a:solidFill>
                <a:latin typeface="Courier New"/>
              </a:rPr>
              <a:t>as</a:t>
            </a:r>
            <a:r>
              <a:rPr sz="1650" b="0" i="0">
                <a:solidFill>
                  <a:srgbClr val="1F2328"/>
                </a:solidFill>
                <a:latin typeface="Courier New"/>
              </a:rPr>
              <a:t> </a:t>
            </a:r>
            <a:r>
              <a:rPr sz="1650" b="0" i="0">
                <a:solidFill>
                  <a:srgbClr val="1F2328"/>
                </a:solidFill>
                <a:latin typeface="Courier New"/>
              </a:rPr>
              <a:t>pdf</a:t>
            </a:r>
            <a:r>
              <a:rPr sz="1650" b="0" i="0">
                <a:solidFill>
                  <a:srgbClr val="1F2328"/>
                </a:solidFill>
                <a:latin typeface="Courier New"/>
              </a:rPr>
              <a:t>:</a:t>
            </a:r>
          </a:p>
          <a:p>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 </a:t>
            </a:r>
            <a:r>
              <a:rPr sz="1650" b="0" i="0">
                <a:solidFill>
                  <a:srgbClr val="1F2328"/>
                </a:solidFill>
                <a:latin typeface="Courier New"/>
              </a:rPr>
              <a:t>b</a:t>
            </a:r>
            <a:r>
              <a:rPr sz="1650" b="0" i="0">
                <a:solidFill>
                  <a:srgbClr val="1F2328"/>
                </a:solidFill>
                <a:latin typeface="Courier New"/>
              </a:rPr>
              <a:t> </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pdf</a:t>
            </a:r>
            <a:r>
              <a:rPr sz="1650" b="0" i="0">
                <a:solidFill>
                  <a:srgbClr val="1F2328"/>
                </a:solidFill>
                <a:latin typeface="Courier New"/>
              </a:rPr>
              <a:t>.</a:t>
            </a:r>
            <a:r>
              <a:rPr sz="1650" b="0" i="0">
                <a:solidFill>
                  <a:srgbClr val="1F2328"/>
                </a:solidFill>
                <a:latin typeface="Courier New"/>
              </a:rPr>
              <a:t>pages</a:t>
            </a:r>
            <a:r>
              <a:rPr sz="1650" b="0" i="0">
                <a:solidFill>
                  <a:srgbClr val="1F2328"/>
                </a:solidFill>
                <a:latin typeface="Courier New"/>
              </a:rPr>
              <a:t>[</a:t>
            </a:r>
            <a:r>
              <a:rPr sz="1650" b="0" i="0">
                <a:solidFill>
                  <a:srgbClr val="3B4046"/>
                </a:solidFill>
                <a:latin typeface="Courier New"/>
              </a:rPr>
              <a:t>0</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extract_text</a:t>
            </a:r>
            <a:r>
              <a:rPr sz="1650" b="0" i="0">
                <a:solidFill>
                  <a:srgbClr val="1F2328"/>
                </a:solidFill>
                <a:latin typeface="Courier New"/>
              </a:rPr>
              <a:t>(</a:t>
            </a:r>
            <a:r>
              <a:rPr sz="1650" b="0" i="0">
                <a:solidFill>
                  <a:srgbClr val="1F2328"/>
                </a:solidFill>
                <a:latin typeface="Courier New"/>
              </a:rPr>
              <a:t>)</a:t>
            </a:r>
          </a:p>
          <a:p>
            <a:r>
              <a:rPr sz="1650" b="0" i="0">
                <a:solidFill>
                  <a:srgbClr val="1F2328"/>
                </a:solidFill>
                <a:latin typeface="Courier New"/>
              </a:rPr>
              <a:t>print</a:t>
            </a:r>
            <a:r>
              <a:rPr sz="1650" b="0" i="0">
                <a:solidFill>
                  <a:srgbClr val="1F2328"/>
                </a:solidFill>
                <a:latin typeface="Courier New"/>
              </a:rPr>
              <a:t>(</a:t>
            </a:r>
            <a:r>
              <a:rPr sz="1650" b="0" i="0">
                <a:solidFill>
                  <a:srgbClr val="1F2328"/>
                </a:solidFill>
                <a:latin typeface="Courier New"/>
              </a:rPr>
              <a:t>len</a:t>
            </a:r>
            <a:r>
              <a:rPr sz="1650" b="0" i="0">
                <a:solidFill>
                  <a:srgbClr val="1F2328"/>
                </a:solidFill>
                <a:latin typeface="Courier New"/>
              </a:rPr>
              <a:t>(</a:t>
            </a:r>
            <a:r>
              <a:rPr sz="1650" b="0" i="0">
                <a:solidFill>
                  <a:srgbClr val="1F2328"/>
                </a:solidFill>
                <a:latin typeface="Courier New"/>
              </a:rPr>
              <a:t>a</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 </a:t>
            </a:r>
            <a:r>
              <a:rPr sz="1650" b="0" i="0">
                <a:solidFill>
                  <a:srgbClr val="1F2328"/>
                </a:solidFill>
                <a:latin typeface="Courier New"/>
              </a:rPr>
              <a:t>len</a:t>
            </a:r>
            <a:r>
              <a:rPr sz="1650" b="0" i="0">
                <a:solidFill>
                  <a:srgbClr val="1F2328"/>
                </a:solidFill>
                <a:latin typeface="Courier New"/>
              </a:rPr>
              <a:t>(</a:t>
            </a:r>
            <a:r>
              <a:rPr sz="1650" b="0" i="0">
                <a:solidFill>
                  <a:srgbClr val="1F2328"/>
                </a:solidFill>
                <a:latin typeface="Courier New"/>
              </a:rPr>
              <a:t>b</a:t>
            </a:r>
            <a:r>
              <a:rPr sz="1650" b="0" i="0">
                <a:solidFill>
                  <a:srgbClr val="1F2328"/>
                </a:solidFill>
                <a:latin typeface="Courier New"/>
              </a:rPr>
              <a:t>)</a:t>
            </a:r>
            <a:r>
              <a:rPr sz="1650" b="0" i="0">
                <a:solidFill>
                  <a:srgbClr val="1F2328"/>
                </a:solidFill>
                <a:latin typeface="Courier New"/>
              </a:rPr>
              <a:t>)</a:t>
            </a:r>
          </a:p>
          <a:p>
            <a:r>
              <a:rPr sz="1650" b="0" i="0">
                <a:solidFill>
                  <a:srgbClr val="1F2328"/>
                </a:solidFill>
                <a:latin typeface="Courier New"/>
              </a:rPr>
              <a:t>print</a:t>
            </a:r>
            <a:r>
              <a:rPr sz="1650" b="0" i="0">
                <a:solidFill>
                  <a:srgbClr val="1F2328"/>
                </a:solidFill>
                <a:latin typeface="Courier New"/>
              </a:rPr>
              <a:t>(</a:t>
            </a:r>
            <a:r>
              <a:rPr sz="1650" b="0" i="0">
                <a:solidFill>
                  <a:srgbClr val="1F2328"/>
                </a:solidFill>
                <a:latin typeface="Courier New"/>
              </a:rPr>
              <a:t>a</a:t>
            </a:r>
            <a:r>
              <a:rPr sz="1650" b="0" i="0">
                <a:solidFill>
                  <a:srgbClr val="1F2328"/>
                </a:solidFill>
                <a:latin typeface="Courier New"/>
              </a:rPr>
              <a:t>.</a:t>
            </a:r>
            <a:r>
              <a:rPr sz="1650" b="0" i="0">
                <a:solidFill>
                  <a:srgbClr val="1F2328"/>
                </a:solidFill>
                <a:latin typeface="Courier New"/>
              </a:rPr>
              <a:t>splitlines</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a:t>
            </a:r>
            <a:r>
              <a:rPr sz="1650" b="0" i="0">
                <a:solidFill>
                  <a:srgbClr val="3B4046"/>
                </a:solidFill>
                <a:latin typeface="Courier New"/>
              </a:rPr>
              <a:t>0</a:t>
            </a:r>
            <a:r>
              <a:rPr sz="1650" b="0" i="0">
                <a:solidFill>
                  <a:srgbClr val="1F2328"/>
                </a:solidFill>
                <a:latin typeface="Courier New"/>
              </a:rPr>
              <a:t>]</a:t>
            </a:r>
            <a:r>
              <a:rPr sz="1650" b="0" i="0">
                <a:solidFill>
                  <a:srgbClr val="1F2328"/>
                </a:solidFill>
                <a:latin typeface="Courier New"/>
              </a:rPr>
              <a:t>)</a:t>
            </a:r>
          </a:p>
          <a:p>
            <a:r>
              <a:rPr sz="1650" b="0" i="0">
                <a:solidFill>
                  <a:srgbClr val="1F2328"/>
                </a:solidFill>
                <a:latin typeface="Courier New"/>
              </a:rPr>
              <a:t>print</a:t>
            </a:r>
            <a:r>
              <a:rPr sz="1650" b="0" i="0">
                <a:solidFill>
                  <a:srgbClr val="1F2328"/>
                </a:solidFill>
                <a:latin typeface="Courier New"/>
              </a:rPr>
              <a:t>(</a:t>
            </a:r>
            <a:r>
              <a:rPr sz="1650" b="0" i="0">
                <a:solidFill>
                  <a:srgbClr val="1F2328"/>
                </a:solidFill>
                <a:latin typeface="Courier New"/>
              </a:rPr>
              <a:t>b</a:t>
            </a:r>
            <a:r>
              <a:rPr sz="1650" b="0" i="0">
                <a:solidFill>
                  <a:srgbClr val="1F2328"/>
                </a:solidFill>
                <a:latin typeface="Courier New"/>
              </a:rPr>
              <a:t>.</a:t>
            </a:r>
            <a:r>
              <a:rPr sz="1650" b="0" i="0">
                <a:solidFill>
                  <a:srgbClr val="1F2328"/>
                </a:solidFill>
                <a:latin typeface="Courier New"/>
              </a:rPr>
              <a:t>splitlines</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a:t>
            </a:r>
            <a:r>
              <a:rPr sz="1650" b="0" i="0">
                <a:solidFill>
                  <a:srgbClr val="3B4046"/>
                </a:solidFill>
                <a:latin typeface="Courier New"/>
              </a:rPr>
              <a:t>0</a:t>
            </a:r>
            <a:r>
              <a:rPr sz="1650" b="0" i="0">
                <a:solidFill>
                  <a:srgbClr val="1F2328"/>
                </a:solidFill>
                <a:latin typeface="Courier New"/>
              </a:rPr>
              <a:t>]</a:t>
            </a:r>
            <a:r>
              <a:rPr sz="1650" b="0" i="0">
                <a:solidFill>
                  <a:srgbClr val="1F2328"/>
                </a:solidFill>
                <a:latin typeface="Courier New"/>
              </a:rPr>
              <a:t>)</a:t>
            </a:r>
          </a:p>
          <a:p>
            <a:r>
              <a:rPr sz="1650" b="0" i="0">
                <a:solidFill>
                  <a:srgbClr val="1F2328"/>
                </a:solidFill>
                <a:latin typeface="Courier New"/>
              </a:rPr>
              <a:t>print</a:t>
            </a:r>
            <a:r>
              <a:rPr sz="1650" b="0" i="0">
                <a:solidFill>
                  <a:srgbClr val="1F2328"/>
                </a:solidFill>
                <a:latin typeface="Courier New"/>
              </a:rPr>
              <a:t>(</a:t>
            </a:r>
            <a:r>
              <a:rPr sz="1650" b="0" i="0">
                <a:solidFill>
                  <a:srgbClr val="1F2328"/>
                </a:solidFill>
                <a:latin typeface="Courier New"/>
              </a:rPr>
              <a:t>a</a:t>
            </a:r>
            <a:r>
              <a:rPr sz="1650" b="0" i="0">
                <a:solidFill>
                  <a:srgbClr val="1F2328"/>
                </a:solidFill>
                <a:latin typeface="Courier New"/>
              </a:rPr>
              <a:t>.</a:t>
            </a:r>
            <a:r>
              <a:rPr sz="1650" b="0" i="0">
                <a:solidFill>
                  <a:srgbClr val="1F2328"/>
                </a:solidFill>
                <a:latin typeface="Courier New"/>
              </a:rPr>
              <a:t>splitlines</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a:t>
            </a:r>
            <a:r>
              <a:rPr sz="1650" b="0" i="0">
                <a:solidFill>
                  <a:srgbClr val="1F2328"/>
                </a:solidFill>
                <a:latin typeface="Courier New"/>
              </a:rPr>
              <a:t>-</a:t>
            </a:r>
            <a:r>
              <a:rPr sz="1650" b="0" i="0">
                <a:solidFill>
                  <a:srgbClr val="3B4046"/>
                </a:solidFill>
                <a:latin typeface="Courier New"/>
              </a:rPr>
              <a:t>1</a:t>
            </a:r>
            <a:r>
              <a:rPr sz="1650" b="0" i="0">
                <a:solidFill>
                  <a:srgbClr val="1F2328"/>
                </a:solidFill>
                <a:latin typeface="Courier New"/>
              </a:rPr>
              <a:t>]</a:t>
            </a:r>
            <a:r>
              <a:rPr sz="1650" b="0" i="0">
                <a:solidFill>
                  <a:srgbClr val="1F2328"/>
                </a:solidFill>
                <a:latin typeface="Courier New"/>
              </a:rPr>
              <a:t>)</a:t>
            </a:r>
          </a:p>
        </p:txBody>
      </p:sp>
      <p:grpSp>
        <p:nvGrpSpPr>
          <p:cNvPr id="7" name="output"/>
          <p:cNvGrpSpPr/>
          <p:nvPr/>
        </p:nvGrpSpPr>
        <p:grpSpPr>
          <a:xfrm>
            <a:off x="685800" y="4786884"/>
            <a:ext cx="6949440" cy="1164336"/>
            <a:chOff x="685800" y="4786884"/>
            <a:chExt cx="6949440" cy="1164336"/>
          </a:xfrm>
        </p:grpSpPr>
        <p:sp>
          <p:nvSpPr>
            <p:cNvPr id="8" name="TextBox 7"/>
            <p:cNvSpPr txBox="1"/>
            <p:nvPr/>
          </p:nvSpPr>
          <p:spPr>
            <a:xfrm>
              <a:off x="685800" y="47868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5042916"/>
              <a:ext cx="6949440"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5134356"/>
              <a:ext cx="6675120" cy="798576"/>
            </a:xfrm>
            <a:prstGeom prst="rect">
              <a:avLst/>
            </a:prstGeom>
            <a:noFill/>
          </p:spPr>
          <p:txBody>
            <a:bodyPr wrap="none" lIns="0" rIns="0" tIns="0" bIns="0">
              <a:spAutoFit/>
            </a:bodyPr>
            <a:lstStyle/>
            <a:p>
              <a:r>
                <a:rPr sz="1400" b="0" i="0">
                  <a:solidFill>
                    <a:srgbClr val="1F2328"/>
                  </a:solidFill>
                  <a:latin typeface="Courier New"/>
                </a:rPr>
                <a:t>2213 2210</a:t>
              </a:r>
            </a:p>
            <a:p>
              <a:r>
                <a:rPr sz="1400" b="0" i="0">
                  <a:solidFill>
                    <a:srgbClr val="1F2328"/>
                  </a:solidFill>
                  <a:latin typeface="Courier New"/>
                </a:rPr>
                <a:t>Kitara Group Staff Handbook 2025</a:t>
              </a:r>
            </a:p>
            <a:p>
              <a:r>
                <a:rPr sz="1400" b="0" i="0">
                  <a:solidFill>
                    <a:srgbClr val="1F2328"/>
                  </a:solidFill>
                  <a:latin typeface="Courier New"/>
                </a:rPr>
                <a:t>KITARA GROUP | Kitara Group Staff Handbook 2025</a:t>
              </a:r>
            </a:p>
            <a:p>
              <a:r>
                <a:rPr sz="1400" b="0" i="0">
                  <a:solidFill>
                    <a:srgbClr val="1F2328"/>
                  </a:solidFill>
                  <a:latin typeface="Courier New"/>
                </a:rPr>
                <a:t>Page 1 of 2</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pypdf reads page one of the Staff Handbook. pdfplumber reads the same page.</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len counts characters. The two readers return almost the same text.</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1850" b="0" i="0">
                  <a:solidFill>
                    <a:srgbClr val="1F2328"/>
                  </a:solidFill>
                  <a:latin typeface="Calibri"/>
                </a:rPr>
                <a:t>pdfplumber starts with the page header. pypdf starts with the title and ends with the footer.</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scan returns nothing until OCR reads it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From documents to clean text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sp>
        <p:nvSpPr>
          <p:cNvPr id="5" name="Rectangle 4"/>
          <p:cNvSpPr/>
          <p:nvPr/>
        </p:nvSpPr>
        <p:spPr>
          <a:xfrm>
            <a:off x="685800" y="1600200"/>
            <a:ext cx="6949440" cy="25054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231136"/>
          </a:xfrm>
          <a:prstGeom prst="rect">
            <a:avLst/>
          </a:prstGeom>
          <a:noFill/>
        </p:spPr>
        <p:txBody>
          <a:bodyPr wrap="none" lIns="0" rIns="0" tIns="0" bIns="0">
            <a:spAutoFit/>
          </a:bodyPr>
          <a:lstStyle/>
          <a:p>
            <a:r>
              <a:rPr sz="1600" b="1" i="0">
                <a:solidFill>
                  <a:srgbClr val="1F2328"/>
                </a:solidFill>
                <a:latin typeface="Courier New"/>
              </a:rPr>
              <a:t>import</a:t>
            </a:r>
            <a:r>
              <a:rPr sz="1600" b="0" i="0">
                <a:solidFill>
                  <a:srgbClr val="1F2328"/>
                </a:solidFill>
                <a:latin typeface="Courier New"/>
              </a:rPr>
              <a:t> </a:t>
            </a:r>
            <a:r>
              <a:rPr sz="1600" b="0" i="0">
                <a:solidFill>
                  <a:srgbClr val="1F2328"/>
                </a:solidFill>
                <a:latin typeface="Courier New"/>
              </a:rPr>
              <a:t>kitara_search</a:t>
            </a:r>
            <a:r>
              <a:rPr sz="1600" b="0" i="0">
                <a:solidFill>
                  <a:srgbClr val="1F2328"/>
                </a:solidFill>
                <a:latin typeface="Courier New"/>
              </a:rPr>
              <a:t> </a:t>
            </a:r>
            <a:r>
              <a:rPr sz="1600" b="1" i="0">
                <a:solidFill>
                  <a:srgbClr val="1F2328"/>
                </a:solidFill>
                <a:latin typeface="Courier New"/>
              </a:rPr>
              <a:t>as</a:t>
            </a:r>
            <a:r>
              <a:rPr sz="1600" b="0" i="0">
                <a:solidFill>
                  <a:srgbClr val="1F2328"/>
                </a:solidFill>
                <a:latin typeface="Courier New"/>
              </a:rPr>
              <a:t> </a:t>
            </a:r>
            <a:r>
              <a:rPr sz="1600" b="0" i="0">
                <a:solidFill>
                  <a:srgbClr val="1F2328"/>
                </a:solidFill>
                <a:latin typeface="Courier New"/>
              </a:rPr>
              <a:t>ks</a:t>
            </a:r>
          </a:p>
          <a:p>
            <a:r>
              <a:rPr sz="1600" b="1" i="0">
                <a:solidFill>
                  <a:srgbClr val="1F2328"/>
                </a:solidFill>
                <a:latin typeface="Courier New"/>
              </a:rPr>
              <a:t>from</a:t>
            </a:r>
            <a:r>
              <a:rPr sz="1600" b="0" i="0">
                <a:solidFill>
                  <a:srgbClr val="1F2328"/>
                </a:solidFill>
                <a:latin typeface="Courier New"/>
              </a:rPr>
              <a:t> </a:t>
            </a:r>
            <a:r>
              <a:rPr sz="1600" b="0" i="0">
                <a:solidFill>
                  <a:srgbClr val="1F2328"/>
                </a:solidFill>
                <a:latin typeface="Courier New"/>
              </a:rPr>
              <a:t>pypdf</a:t>
            </a:r>
            <a:r>
              <a:rPr sz="1600" b="0" i="0">
                <a:solidFill>
                  <a:srgbClr val="1F2328"/>
                </a:solidFill>
                <a:latin typeface="Courier New"/>
              </a:rPr>
              <a:t> </a:t>
            </a:r>
            <a:r>
              <a:rPr sz="1600" b="1" i="0">
                <a:solidFill>
                  <a:srgbClr val="1F2328"/>
                </a:solidFill>
                <a:latin typeface="Courier New"/>
              </a:rPr>
              <a:t>import</a:t>
            </a:r>
            <a:r>
              <a:rPr sz="1600" b="0" i="0">
                <a:solidFill>
                  <a:srgbClr val="1F2328"/>
                </a:solidFill>
                <a:latin typeface="Courier New"/>
              </a:rPr>
              <a:t> </a:t>
            </a:r>
            <a:r>
              <a:rPr sz="1600" b="0" i="0">
                <a:solidFill>
                  <a:srgbClr val="1F2328"/>
                </a:solidFill>
                <a:latin typeface="Courier New"/>
              </a:rPr>
              <a:t>PdfReader</a:t>
            </a:r>
          </a:p>
          <a:p>
            <a:r>
              <a:rPr sz="1600" b="0" i="0">
                <a:solidFill>
                  <a:srgbClr val="1F2328"/>
                </a:solidFill>
                <a:latin typeface="Courier New"/>
              </a:rPr>
              <a:t> </a:t>
            </a:r>
          </a:p>
          <a:p>
            <a:r>
              <a:rPr sz="1600" b="0" i="0">
                <a:solidFill>
                  <a:srgbClr val="1F2328"/>
                </a:solidFill>
                <a:latin typeface="Courier New"/>
              </a:rPr>
              <a:t>scan</a:t>
            </a:r>
            <a:r>
              <a:rPr sz="1600" b="0" i="0">
                <a:solidFill>
                  <a:srgbClr val="1F2328"/>
                </a:solidFill>
                <a:latin typeface="Courier New"/>
              </a:rPr>
              <a:t> </a:t>
            </a:r>
            <a:r>
              <a:rPr sz="1600" b="0" i="0">
                <a:solidFill>
                  <a:srgbClr val="1F2328"/>
                </a:solidFill>
                <a:latin typeface="Courier New"/>
              </a:rPr>
              <a:t>=</a:t>
            </a:r>
            <a:r>
              <a:rPr sz="1600" b="0" i="0">
                <a:solidFill>
                  <a:srgbClr val="1F2328"/>
                </a:solidFill>
                <a:latin typeface="Courier New"/>
              </a:rPr>
              <a:t> </a:t>
            </a:r>
            <a:r>
              <a:rPr sz="1600" b="0" i="0">
                <a:solidFill>
                  <a:srgbClr val="B04A2B"/>
                </a:solidFill>
                <a:latin typeface="Courier New"/>
              </a:rPr>
              <a:t>'docs/scans/Scan Motor Claim Form Signed.pdf'</a:t>
            </a:r>
          </a:p>
          <a:p>
            <a:r>
              <a:rPr sz="1600" b="0" i="0">
                <a:solidFill>
                  <a:srgbClr val="1F2328"/>
                </a:solidFill>
                <a:latin typeface="Courier New"/>
              </a:rPr>
              <a:t>print</a:t>
            </a:r>
            <a:r>
              <a:rPr sz="1600" b="0" i="0">
                <a:solidFill>
                  <a:srgbClr val="1F2328"/>
                </a:solidFill>
                <a:latin typeface="Courier New"/>
              </a:rPr>
              <a:t>(</a:t>
            </a:r>
            <a:r>
              <a:rPr sz="1600" b="0" i="0">
                <a:solidFill>
                  <a:srgbClr val="1F2328"/>
                </a:solidFill>
                <a:latin typeface="Courier New"/>
              </a:rPr>
              <a:t>repr</a:t>
            </a:r>
            <a:r>
              <a:rPr sz="1600" b="0" i="0">
                <a:solidFill>
                  <a:srgbClr val="1F2328"/>
                </a:solidFill>
                <a:latin typeface="Courier New"/>
              </a:rPr>
              <a:t>(</a:t>
            </a:r>
            <a:r>
              <a:rPr sz="1600" b="0" i="0">
                <a:solidFill>
                  <a:srgbClr val="1F2328"/>
                </a:solidFill>
                <a:latin typeface="Courier New"/>
              </a:rPr>
              <a:t>PdfReader</a:t>
            </a:r>
            <a:r>
              <a:rPr sz="1600" b="0" i="0">
                <a:solidFill>
                  <a:srgbClr val="1F2328"/>
                </a:solidFill>
                <a:latin typeface="Courier New"/>
              </a:rPr>
              <a:t>(</a:t>
            </a:r>
            <a:r>
              <a:rPr sz="1600" b="0" i="0">
                <a:solidFill>
                  <a:srgbClr val="1F2328"/>
                </a:solidFill>
                <a:latin typeface="Courier New"/>
              </a:rPr>
              <a:t>scan</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pages</a:t>
            </a:r>
            <a:r>
              <a:rPr sz="1600" b="0" i="0">
                <a:solidFill>
                  <a:srgbClr val="1F2328"/>
                </a:solidFill>
                <a:latin typeface="Courier New"/>
              </a:rPr>
              <a:t>[</a:t>
            </a:r>
            <a:r>
              <a:rPr sz="1600" b="0" i="0">
                <a:solidFill>
                  <a:srgbClr val="3B4046"/>
                </a:solidFill>
                <a:latin typeface="Courier New"/>
              </a:rPr>
              <a:t>0</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extract_text</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a:t>
            </a:r>
          </a:p>
          <a:p>
            <a:r>
              <a:rPr sz="1600" b="0" i="0">
                <a:solidFill>
                  <a:srgbClr val="1F2328"/>
                </a:solidFill>
                <a:latin typeface="Courier New"/>
              </a:rPr>
              <a:t>keys</a:t>
            </a:r>
            <a:r>
              <a:rPr sz="1600" b="0" i="0">
                <a:solidFill>
                  <a:srgbClr val="1F2328"/>
                </a:solidFill>
                <a:latin typeface="Courier New"/>
              </a:rPr>
              <a:t> </a:t>
            </a:r>
            <a:r>
              <a:rPr sz="1600" b="0" i="0">
                <a:solidFill>
                  <a:srgbClr val="1F2328"/>
                </a:solidFill>
                <a:latin typeface="Courier New"/>
              </a:rPr>
              <a:t>=</a:t>
            </a:r>
            <a:r>
              <a:rPr sz="1600" b="0" i="0">
                <a:solidFill>
                  <a:srgbClr val="1F2328"/>
                </a:solidFill>
                <a:latin typeface="Courier New"/>
              </a:rPr>
              <a:t> </a:t>
            </a:r>
            <a:r>
              <a:rPr sz="1600" b="0" i="0">
                <a:solidFill>
                  <a:srgbClr val="1F2328"/>
                </a:solidFill>
                <a:latin typeface="Courier New"/>
              </a:rPr>
              <a:t>(</a:t>
            </a:r>
            <a:r>
              <a:rPr sz="1600" b="0" i="0">
                <a:solidFill>
                  <a:srgbClr val="B04A2B"/>
                </a:solidFill>
                <a:latin typeface="Courier New"/>
              </a:rPr>
              <a:t>'Name'</a:t>
            </a:r>
            <a:r>
              <a:rPr sz="1600" b="0" i="0">
                <a:solidFill>
                  <a:srgbClr val="1F2328"/>
                </a:solidFill>
                <a:latin typeface="Courier New"/>
              </a:rPr>
              <a:t>,</a:t>
            </a:r>
            <a:r>
              <a:rPr sz="1600" b="0" i="0">
                <a:solidFill>
                  <a:srgbClr val="1F2328"/>
                </a:solidFill>
                <a:latin typeface="Courier New"/>
              </a:rPr>
              <a:t> </a:t>
            </a:r>
            <a:r>
              <a:rPr sz="1600" b="0" i="0">
                <a:solidFill>
                  <a:srgbClr val="B04A2B"/>
                </a:solidFill>
                <a:latin typeface="Courier New"/>
              </a:rPr>
              <a:t>'Cust'</a:t>
            </a:r>
            <a:r>
              <a:rPr sz="1600" b="0" i="0">
                <a:solidFill>
                  <a:srgbClr val="1F2328"/>
                </a:solidFill>
                <a:latin typeface="Courier New"/>
              </a:rPr>
              <a:t>,</a:t>
            </a:r>
            <a:r>
              <a:rPr sz="1600" b="0" i="0">
                <a:solidFill>
                  <a:srgbClr val="1F2328"/>
                </a:solidFill>
                <a:latin typeface="Courier New"/>
              </a:rPr>
              <a:t> </a:t>
            </a:r>
            <a:r>
              <a:rPr sz="1600" b="0" i="0">
                <a:solidFill>
                  <a:srgbClr val="B04A2B"/>
                </a:solidFill>
                <a:latin typeface="Courier New"/>
              </a:rPr>
              <a:t>'Nati'</a:t>
            </a:r>
            <a:r>
              <a:rPr sz="1600" b="0" i="0">
                <a:solidFill>
                  <a:srgbClr val="1F2328"/>
                </a:solidFill>
                <a:latin typeface="Courier New"/>
              </a:rPr>
              <a:t>,</a:t>
            </a:r>
            <a:r>
              <a:rPr sz="1600" b="0" i="0">
                <a:solidFill>
                  <a:srgbClr val="1F2328"/>
                </a:solidFill>
                <a:latin typeface="Courier New"/>
              </a:rPr>
              <a:t> </a:t>
            </a:r>
            <a:r>
              <a:rPr sz="1600" b="0" i="0">
                <a:solidFill>
                  <a:srgbClr val="B04A2B"/>
                </a:solidFill>
                <a:latin typeface="Courier New"/>
              </a:rPr>
              <a:t>'Phon'</a:t>
            </a:r>
            <a:r>
              <a:rPr sz="1600" b="0" i="0">
                <a:solidFill>
                  <a:srgbClr val="1F2328"/>
                </a:solidFill>
                <a:latin typeface="Courier New"/>
              </a:rPr>
              <a:t>)</a:t>
            </a:r>
          </a:p>
          <a:p>
            <a:r>
              <a:rPr sz="1600" b="1" i="0">
                <a:solidFill>
                  <a:srgbClr val="1F2328"/>
                </a:solidFill>
                <a:latin typeface="Courier New"/>
              </a:rPr>
              <a:t>for</a:t>
            </a:r>
            <a:r>
              <a:rPr sz="1600" b="0" i="0">
                <a:solidFill>
                  <a:srgbClr val="1F2328"/>
                </a:solidFill>
                <a:latin typeface="Courier New"/>
              </a:rPr>
              <a:t> </a:t>
            </a:r>
            <a:r>
              <a:rPr sz="1600" b="0" i="0">
                <a:solidFill>
                  <a:srgbClr val="1F2328"/>
                </a:solidFill>
                <a:latin typeface="Courier New"/>
              </a:rPr>
              <a:t>line</a:t>
            </a:r>
            <a:r>
              <a:rPr sz="1600" b="0" i="0">
                <a:solidFill>
                  <a:srgbClr val="1F2328"/>
                </a:solidFill>
                <a:latin typeface="Courier New"/>
              </a:rPr>
              <a:t> </a:t>
            </a:r>
            <a:r>
              <a:rPr sz="1600" b="1" i="0">
                <a:solidFill>
                  <a:srgbClr val="1F2328"/>
                </a:solidFill>
                <a:latin typeface="Courier New"/>
              </a:rPr>
              <a:t>in</a:t>
            </a:r>
            <a:r>
              <a:rPr sz="1600" b="0" i="0">
                <a:solidFill>
                  <a:srgbClr val="1F2328"/>
                </a:solidFill>
                <a:latin typeface="Courier New"/>
              </a:rPr>
              <a:t> </a:t>
            </a:r>
            <a:r>
              <a:rPr sz="1600" b="0" i="0">
                <a:solidFill>
                  <a:srgbClr val="1F2328"/>
                </a:solidFill>
                <a:latin typeface="Courier New"/>
              </a:rPr>
              <a:t>ks</a:t>
            </a:r>
            <a:r>
              <a:rPr sz="1600" b="0" i="0">
                <a:solidFill>
                  <a:srgbClr val="1F2328"/>
                </a:solidFill>
                <a:latin typeface="Courier New"/>
              </a:rPr>
              <a:t>.</a:t>
            </a:r>
            <a:r>
              <a:rPr sz="1600" b="0" i="0">
                <a:solidFill>
                  <a:srgbClr val="1F2328"/>
                </a:solidFill>
                <a:latin typeface="Courier New"/>
              </a:rPr>
              <a:t>extract_text</a:t>
            </a:r>
            <a:r>
              <a:rPr sz="1600" b="0" i="0">
                <a:solidFill>
                  <a:srgbClr val="1F2328"/>
                </a:solidFill>
                <a:latin typeface="Courier New"/>
              </a:rPr>
              <a:t>(</a:t>
            </a:r>
            <a:r>
              <a:rPr sz="1600" b="0" i="0">
                <a:solidFill>
                  <a:srgbClr val="1F2328"/>
                </a:solidFill>
                <a:latin typeface="Courier New"/>
              </a:rPr>
              <a:t>scan</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splitlines</a:t>
            </a:r>
            <a:r>
              <a:rPr sz="1600" b="0" i="0">
                <a:solidFill>
                  <a:srgbClr val="1F2328"/>
                </a:solidFill>
                <a:latin typeface="Courier New"/>
              </a:rPr>
              <a:t>(</a:t>
            </a:r>
            <a:r>
              <a:rPr sz="1600" b="0" i="0">
                <a:solidFill>
                  <a:srgbClr val="1F2328"/>
                </a:solidFill>
                <a:latin typeface="Courier New"/>
              </a:rPr>
              <a:t>)</a:t>
            </a:r>
            <a:r>
              <a:rPr sz="1600" b="0" i="0">
                <a:solidFill>
                  <a:srgbClr val="1F2328"/>
                </a:solidFill>
                <a:latin typeface="Courier New"/>
              </a:rPr>
              <a:t>:</a:t>
            </a:r>
          </a:p>
          <a:p>
            <a:r>
              <a:rPr sz="1600" b="0" i="0">
                <a:solidFill>
                  <a:srgbClr val="1F2328"/>
                </a:solidFill>
                <a:latin typeface="Courier New"/>
              </a:rPr>
              <a:t> </a:t>
            </a:r>
            <a:r>
              <a:rPr sz="1600" b="0" i="0">
                <a:solidFill>
                  <a:srgbClr val="1F2328"/>
                </a:solidFill>
                <a:latin typeface="Courier New"/>
              </a:rPr>
              <a:t> </a:t>
            </a:r>
            <a:r>
              <a:rPr sz="1600" b="0" i="0">
                <a:solidFill>
                  <a:srgbClr val="1F2328"/>
                </a:solidFill>
                <a:latin typeface="Courier New"/>
              </a:rPr>
              <a:t> </a:t>
            </a:r>
            <a:r>
              <a:rPr sz="1600" b="0" i="0">
                <a:solidFill>
                  <a:srgbClr val="1F2328"/>
                </a:solidFill>
                <a:latin typeface="Courier New"/>
              </a:rPr>
              <a:t> </a:t>
            </a:r>
            <a:r>
              <a:rPr sz="1600" b="1" i="0">
                <a:solidFill>
                  <a:srgbClr val="1F2328"/>
                </a:solidFill>
                <a:latin typeface="Courier New"/>
              </a:rPr>
              <a:t>if</a:t>
            </a:r>
            <a:r>
              <a:rPr sz="1600" b="0" i="0">
                <a:solidFill>
                  <a:srgbClr val="1F2328"/>
                </a:solidFill>
                <a:latin typeface="Courier New"/>
              </a:rPr>
              <a:t> </a:t>
            </a:r>
            <a:r>
              <a:rPr sz="1600" b="0" i="0">
                <a:solidFill>
                  <a:srgbClr val="1F2328"/>
                </a:solidFill>
                <a:latin typeface="Courier New"/>
              </a:rPr>
              <a:t>line</a:t>
            </a:r>
            <a:r>
              <a:rPr sz="1600" b="0" i="0">
                <a:solidFill>
                  <a:srgbClr val="1F2328"/>
                </a:solidFill>
                <a:latin typeface="Courier New"/>
              </a:rPr>
              <a:t>.</a:t>
            </a:r>
            <a:r>
              <a:rPr sz="1600" b="0" i="0">
                <a:solidFill>
                  <a:srgbClr val="1F2328"/>
                </a:solidFill>
                <a:latin typeface="Courier New"/>
              </a:rPr>
              <a:t>startswith</a:t>
            </a:r>
            <a:r>
              <a:rPr sz="1600" b="0" i="0">
                <a:solidFill>
                  <a:srgbClr val="1F2328"/>
                </a:solidFill>
                <a:latin typeface="Courier New"/>
              </a:rPr>
              <a:t>(</a:t>
            </a:r>
            <a:r>
              <a:rPr sz="1600" b="0" i="0">
                <a:solidFill>
                  <a:srgbClr val="1F2328"/>
                </a:solidFill>
                <a:latin typeface="Courier New"/>
              </a:rPr>
              <a:t>keys</a:t>
            </a:r>
            <a:r>
              <a:rPr sz="1600" b="0" i="0">
                <a:solidFill>
                  <a:srgbClr val="1F2328"/>
                </a:solidFill>
                <a:latin typeface="Courier New"/>
              </a:rPr>
              <a:t>)</a:t>
            </a:r>
            <a:r>
              <a:rPr sz="1600" b="0" i="0">
                <a:solidFill>
                  <a:srgbClr val="1F2328"/>
                </a:solidFill>
                <a:latin typeface="Courier New"/>
              </a:rPr>
              <a:t>:</a:t>
            </a:r>
          </a:p>
          <a:p>
            <a:r>
              <a:rPr sz="1600" b="0" i="0">
                <a:solidFill>
                  <a:srgbClr val="1F2328"/>
                </a:solidFill>
                <a:latin typeface="Courier New"/>
              </a:rPr>
              <a:t> </a:t>
            </a:r>
            <a:r>
              <a:rPr sz="1600" b="0" i="0">
                <a:solidFill>
                  <a:srgbClr val="1F2328"/>
                </a:solidFill>
                <a:latin typeface="Courier New"/>
              </a:rPr>
              <a:t> </a:t>
            </a:r>
            <a:r>
              <a:rPr sz="1600" b="0" i="0">
                <a:solidFill>
                  <a:srgbClr val="1F2328"/>
                </a:solidFill>
                <a:latin typeface="Courier New"/>
              </a:rPr>
              <a:t> </a:t>
            </a:r>
            <a:r>
              <a:rPr sz="1600" b="0" i="0">
                <a:solidFill>
                  <a:srgbClr val="1F2328"/>
                </a:solidFill>
                <a:latin typeface="Courier New"/>
              </a:rPr>
              <a:t> </a:t>
            </a:r>
            <a:r>
              <a:rPr sz="1600" b="0" i="0">
                <a:solidFill>
                  <a:srgbClr val="1F2328"/>
                </a:solidFill>
                <a:latin typeface="Courier New"/>
              </a:rPr>
              <a:t> </a:t>
            </a:r>
            <a:r>
              <a:rPr sz="1600" b="0" i="0">
                <a:solidFill>
                  <a:srgbClr val="1F2328"/>
                </a:solidFill>
                <a:latin typeface="Courier New"/>
              </a:rPr>
              <a:t> </a:t>
            </a:r>
            <a:r>
              <a:rPr sz="1600" b="0" i="0">
                <a:solidFill>
                  <a:srgbClr val="1F2328"/>
                </a:solidFill>
                <a:latin typeface="Courier New"/>
              </a:rPr>
              <a:t> </a:t>
            </a:r>
            <a:r>
              <a:rPr sz="1600" b="0" i="0">
                <a:solidFill>
                  <a:srgbClr val="1F2328"/>
                </a:solidFill>
                <a:latin typeface="Courier New"/>
              </a:rPr>
              <a:t> </a:t>
            </a:r>
            <a:r>
              <a:rPr sz="1600" b="0" i="0">
                <a:solidFill>
                  <a:srgbClr val="1F2328"/>
                </a:solidFill>
                <a:latin typeface="Courier New"/>
              </a:rPr>
              <a:t>print</a:t>
            </a:r>
            <a:r>
              <a:rPr sz="1600" b="0" i="0">
                <a:solidFill>
                  <a:srgbClr val="1F2328"/>
                </a:solidFill>
                <a:latin typeface="Courier New"/>
              </a:rPr>
              <a:t>(</a:t>
            </a:r>
            <a:r>
              <a:rPr sz="1600" b="0" i="0">
                <a:solidFill>
                  <a:srgbClr val="1F2328"/>
                </a:solidFill>
                <a:latin typeface="Courier New"/>
              </a:rPr>
              <a:t>line</a:t>
            </a:r>
            <a:r>
              <a:rPr sz="1600" b="0" i="0">
                <a:solidFill>
                  <a:srgbClr val="1F2328"/>
                </a:solidFill>
                <a:latin typeface="Courier New"/>
              </a:rPr>
              <a:t>)</a:t>
            </a:r>
          </a:p>
        </p:txBody>
      </p:sp>
      <p:grpSp>
        <p:nvGrpSpPr>
          <p:cNvPr id="7" name="output"/>
          <p:cNvGrpSpPr/>
          <p:nvPr/>
        </p:nvGrpSpPr>
        <p:grpSpPr>
          <a:xfrm>
            <a:off x="685800" y="4215384"/>
            <a:ext cx="6949440" cy="1377696"/>
            <a:chOff x="685800" y="4215384"/>
            <a:chExt cx="6949440" cy="1377696"/>
          </a:xfrm>
        </p:grpSpPr>
        <p:sp>
          <p:nvSpPr>
            <p:cNvPr id="8" name="TextBox 7"/>
            <p:cNvSpPr txBox="1"/>
            <p:nvPr/>
          </p:nvSpPr>
          <p:spPr>
            <a:xfrm>
              <a:off x="685800" y="42153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471416"/>
              <a:ext cx="6949440" cy="1121664"/>
            </a:xfrm>
            <a:prstGeom prst="rect">
              <a:avLst/>
            </a:prstGeom>
            <a:solidFill>
              <a:srgbClr val="F5F3EF"/>
            </a:solidFill>
            <a:ln>
              <a:noFill/>
            </a:ln>
          </p:spPr>
          <p:txBody>
            <a:bodyPr rtlCol="0" anchor="ctr"/>
            <a:lstStyle/>
            <a:p>
              <a:pPr algn="ctr"/>
            </a:p>
          </p:txBody>
        </p:sp>
        <p:sp>
          <p:nvSpPr>
            <p:cNvPr id="10" name="TextBox 9"/>
            <p:cNvSpPr txBox="1"/>
            <p:nvPr/>
          </p:nvSpPr>
          <p:spPr>
            <a:xfrm>
              <a:off x="868680" y="4562856"/>
              <a:ext cx="6675120" cy="1011936"/>
            </a:xfrm>
            <a:prstGeom prst="rect">
              <a:avLst/>
            </a:prstGeom>
            <a:noFill/>
          </p:spPr>
          <p:txBody>
            <a:bodyPr wrap="none" lIns="0" rIns="0" tIns="0" bIns="0">
              <a:spAutoFit/>
            </a:bodyPr>
            <a:lstStyle/>
            <a:p>
              <a:r>
                <a:rPr sz="1400" b="0" i="0">
                  <a:solidFill>
                    <a:srgbClr val="1F2328"/>
                  </a:solidFill>
                  <a:latin typeface="Courier New"/>
                </a:rPr>
                <a:t>''</a:t>
              </a:r>
            </a:p>
            <a:p>
              <a:r>
                <a:rPr sz="1400" b="0" i="0">
                  <a:solidFill>
                    <a:srgbClr val="1F2328"/>
                  </a:solidFill>
                  <a:latin typeface="Courier New"/>
                </a:rPr>
                <a:t>Name of insured: Ruth Nankya Kasozi</a:t>
              </a:r>
            </a:p>
            <a:p>
              <a:r>
                <a:rPr sz="1400" b="0" i="0">
                  <a:solidFill>
                    <a:srgbClr val="1F2328"/>
                  </a:solidFill>
                  <a:latin typeface="Courier New"/>
                </a:rPr>
                <a:t>Customer ID: KT-0041872</a:t>
              </a:r>
            </a:p>
            <a:p>
              <a:r>
                <a:rPr sz="1400" b="0" i="0">
                  <a:solidFill>
                    <a:srgbClr val="1F2328"/>
                  </a:solidFill>
                  <a:latin typeface="Courier New"/>
                </a:rPr>
                <a:t>National ID: kx482910554237</a:t>
              </a:r>
            </a:p>
            <a:p>
              <a:r>
                <a:rPr sz="1400" b="0" i="0">
                  <a:solidFill>
                    <a:srgbClr val="1F2328"/>
                  </a:solidFill>
                  <a:latin typeface="Courier New"/>
                </a:rPr>
                <a:t>Phone: +256 70@ 951 944</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pypdf asks the scan for text. It returns an empty string.</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1950" b="0" i="0">
                  <a:solidFill>
                    <a:srgbClr val="1F2328"/>
                  </a:solidFill>
                  <a:latin typeface="Calibri"/>
                </a:rPr>
                <a:t>The Kitara toolkit sees the empty page and runs Tesseract, a free OCR program.</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Four lines of the result. Look at the national ID and the phone number.</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OCR on a faded scan misreads the amount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From documents to clean text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pic>
        <p:nvPicPr>
          <p:cNvPr id="5" name="figure-ocr_example" descr="A faded scanned note on the left and the text a reader program extracted on the right, with 13 wrongly read words in clay."/>
          <p:cNvPicPr>
            <a:picLocks noChangeAspect="1"/>
          </p:cNvPicPr>
          <p:nvPr/>
        </p:nvPicPr>
        <p:blipFill>
          <a:blip r:embed="rId3"/>
          <a:stretch>
            <a:fillRect/>
          </a:stretch>
        </p:blipFill>
        <p:spPr>
          <a:xfrm>
            <a:off x="685800" y="1600200"/>
            <a:ext cx="7040880" cy="2609100"/>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13 of 31 words wrong in this crop. Amount became Amwont.</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requested sum, 35,000,000, was read as 35, 8e0,e00.</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000" b="0" i="0">
                  <a:solidFill>
                    <a:srgbClr val="1F2328"/>
                  </a:solidFill>
                  <a:latin typeface="Calibri"/>
                </a:rPr>
                <a:t>Faded scans: 9 to 13 percent of characters wrong. Clean scans: under 2 percent.</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Character error rates from answer_key.json, Tesseract at 150 dpi, English.</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Sort scans by how sure Tesseract is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From documents to clean text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sp>
        <p:nvSpPr>
          <p:cNvPr id="5" name="Rectangle 4"/>
          <p:cNvSpPr/>
          <p:nvPr/>
        </p:nvSpPr>
        <p:spPr>
          <a:xfrm>
            <a:off x="685800" y="1600200"/>
            <a:ext cx="6949440" cy="308457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810256"/>
          </a:xfrm>
          <a:prstGeom prst="rect">
            <a:avLst/>
          </a:prstGeom>
          <a:noFill/>
        </p:spPr>
        <p:txBody>
          <a:bodyPr wrap="none" lIns="0" rIns="0" tIns="0" bIns="0">
            <a:spAutoFit/>
          </a:bodyPr>
          <a:lstStyle/>
          <a:p>
            <a:r>
              <a:rPr sz="1400" b="1" i="0">
                <a:solidFill>
                  <a:srgbClr val="1F2328"/>
                </a:solidFill>
                <a:latin typeface="Courier New"/>
              </a:rPr>
              <a:t>import</a:t>
            </a:r>
            <a:r>
              <a:rPr sz="1400" b="0" i="0">
                <a:solidFill>
                  <a:srgbClr val="1F2328"/>
                </a:solidFill>
                <a:latin typeface="Courier New"/>
              </a:rPr>
              <a:t> </a:t>
            </a:r>
            <a:r>
              <a:rPr sz="1400" b="0" i="0">
                <a:solidFill>
                  <a:srgbClr val="1F2328"/>
                </a:solidFill>
                <a:latin typeface="Courier New"/>
              </a:rPr>
              <a:t>glob</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subprocess</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tempfile</a:t>
            </a:r>
          </a:p>
          <a:p>
            <a:r>
              <a:rPr sz="1400" b="1" i="0">
                <a:solidFill>
                  <a:srgbClr val="1F2328"/>
                </a:solidFill>
                <a:latin typeface="Courier New"/>
              </a:rPr>
              <a:t>from</a:t>
            </a:r>
            <a:r>
              <a:rPr sz="1400" b="0" i="0">
                <a:solidFill>
                  <a:srgbClr val="1F2328"/>
                </a:solidFill>
                <a:latin typeface="Courier New"/>
              </a:rPr>
              <a:t> </a:t>
            </a:r>
            <a:r>
              <a:rPr sz="1400" b="0" i="0">
                <a:solidFill>
                  <a:srgbClr val="1F2328"/>
                </a:solidFill>
                <a:latin typeface="Courier New"/>
              </a:rPr>
              <a:t>pytesseract</a:t>
            </a:r>
            <a:r>
              <a:rPr sz="1400" b="0" i="0">
                <a:solidFill>
                  <a:srgbClr val="1F2328"/>
                </a:solidFill>
                <a:latin typeface="Courier New"/>
              </a:rPr>
              <a:t> </a:t>
            </a:r>
            <a:r>
              <a:rPr sz="1400" b="1" i="0">
                <a:solidFill>
                  <a:srgbClr val="1F2328"/>
                </a:solidFill>
                <a:latin typeface="Courier New"/>
              </a:rPr>
              <a:t>import</a:t>
            </a:r>
            <a:r>
              <a:rPr sz="1400" b="0" i="0">
                <a:solidFill>
                  <a:srgbClr val="1F2328"/>
                </a:solidFill>
                <a:latin typeface="Courier New"/>
              </a:rPr>
              <a:t> </a:t>
            </a:r>
            <a:r>
              <a:rPr sz="1400" b="0" i="0">
                <a:solidFill>
                  <a:srgbClr val="1F2328"/>
                </a:solidFill>
                <a:latin typeface="Courier New"/>
              </a:rPr>
              <a:t>image_to_data</a:t>
            </a:r>
          </a:p>
          <a:p>
            <a:r>
              <a:rPr sz="1400" b="1" i="0">
                <a:solidFill>
                  <a:srgbClr val="1F2328"/>
                </a:solidFill>
                <a:latin typeface="Courier New"/>
              </a:rPr>
              <a:t>def</a:t>
            </a:r>
            <a:r>
              <a:rPr sz="1400" b="0" i="0">
                <a:solidFill>
                  <a:srgbClr val="1F2328"/>
                </a:solidFill>
                <a:latin typeface="Courier New"/>
              </a:rPr>
              <a:t> </a:t>
            </a:r>
            <a:r>
              <a:rPr sz="1400" b="0" i="0">
                <a:solidFill>
                  <a:srgbClr val="1F2328"/>
                </a:solidFill>
                <a:latin typeface="Courier New"/>
              </a:rPr>
              <a:t>confidence</a:t>
            </a:r>
            <a:r>
              <a:rPr sz="1400" b="0" i="0">
                <a:solidFill>
                  <a:srgbClr val="1F2328"/>
                </a:solidFill>
                <a:latin typeface="Courier New"/>
              </a:rPr>
              <a:t>(</a:t>
            </a:r>
            <a:r>
              <a:rPr sz="1400" b="0" i="0">
                <a:solidFill>
                  <a:srgbClr val="1F2328"/>
                </a:solidFill>
                <a:latin typeface="Courier New"/>
              </a:rPr>
              <a:t>pdf</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with</a:t>
            </a:r>
            <a:r>
              <a:rPr sz="1400" b="0" i="0">
                <a:solidFill>
                  <a:srgbClr val="1F2328"/>
                </a:solidFill>
                <a:latin typeface="Courier New"/>
              </a:rPr>
              <a:t> </a:t>
            </a:r>
            <a:r>
              <a:rPr sz="1400" b="0" i="0">
                <a:solidFill>
                  <a:srgbClr val="1F2328"/>
                </a:solidFill>
                <a:latin typeface="Courier New"/>
              </a:rPr>
              <a:t>tempfile</a:t>
            </a:r>
            <a:r>
              <a:rPr sz="1400" b="0" i="0">
                <a:solidFill>
                  <a:srgbClr val="1F2328"/>
                </a:solidFill>
                <a:latin typeface="Courier New"/>
              </a:rPr>
              <a:t>.</a:t>
            </a:r>
            <a:r>
              <a:rPr sz="1400" b="0" i="0">
                <a:solidFill>
                  <a:srgbClr val="1F2328"/>
                </a:solidFill>
                <a:latin typeface="Courier New"/>
              </a:rPr>
              <a:t>TemporaryDirectory</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1" i="0">
                <a:solidFill>
                  <a:srgbClr val="1F2328"/>
                </a:solidFill>
                <a:latin typeface="Courier New"/>
              </a:rPr>
              <a:t>as</a:t>
            </a:r>
            <a:r>
              <a:rPr sz="1400" b="0" i="0">
                <a:solidFill>
                  <a:srgbClr val="1F2328"/>
                </a:solidFill>
                <a:latin typeface="Courier New"/>
              </a:rPr>
              <a:t> </a:t>
            </a:r>
            <a:r>
              <a:rPr sz="1400" b="0" i="0">
                <a:solidFill>
                  <a:srgbClr val="1F2328"/>
                </a:solidFill>
                <a:latin typeface="Courier New"/>
              </a:rPr>
              <a:t>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subprocess</a:t>
            </a:r>
            <a:r>
              <a:rPr sz="1400" b="0" i="0">
                <a:solidFill>
                  <a:srgbClr val="1F2328"/>
                </a:solidFill>
                <a:latin typeface="Courier New"/>
              </a:rPr>
              <a:t>.</a:t>
            </a:r>
            <a:r>
              <a:rPr sz="1400" b="0" i="0">
                <a:solidFill>
                  <a:srgbClr val="1F2328"/>
                </a:solidFill>
                <a:latin typeface="Courier New"/>
              </a:rPr>
              <a:t>run</a:t>
            </a:r>
            <a:r>
              <a:rPr sz="1400" b="0" i="0">
                <a:solidFill>
                  <a:srgbClr val="1F2328"/>
                </a:solidFill>
                <a:latin typeface="Courier New"/>
              </a:rPr>
              <a:t>(</a:t>
            </a:r>
            <a:r>
              <a:rPr sz="1400" b="0" i="0">
                <a:solidFill>
                  <a:srgbClr val="1F2328"/>
                </a:solidFill>
                <a:latin typeface="Courier New"/>
              </a:rPr>
              <a:t>[</a:t>
            </a:r>
            <a:r>
              <a:rPr sz="1400" b="0" i="0">
                <a:solidFill>
                  <a:srgbClr val="B04A2B"/>
                </a:solidFill>
                <a:latin typeface="Courier New"/>
              </a:rPr>
              <a:t>'pdftoppm'</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'-png'</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pdf</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'/p'</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png</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'/p-1.png'</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d</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image_to_data</a:t>
            </a:r>
            <a:r>
              <a:rPr sz="1400" b="0" i="0">
                <a:solidFill>
                  <a:srgbClr val="1F2328"/>
                </a:solidFill>
                <a:latin typeface="Courier New"/>
              </a:rPr>
              <a:t>(</a:t>
            </a:r>
            <a:r>
              <a:rPr sz="1400" b="0" i="0">
                <a:solidFill>
                  <a:srgbClr val="1F2328"/>
                </a:solidFill>
                <a:latin typeface="Courier New"/>
              </a:rPr>
              <a:t>png</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output_type</a:t>
            </a:r>
            <a:r>
              <a:rPr sz="1400" b="0" i="0">
                <a:solidFill>
                  <a:srgbClr val="1F2328"/>
                </a:solidFill>
                <a:latin typeface="Courier New"/>
              </a:rPr>
              <a:t>=</a:t>
            </a:r>
            <a:r>
              <a:rPr sz="1400" b="0" i="0">
                <a:solidFill>
                  <a:srgbClr val="B04A2B"/>
                </a:solidFill>
                <a:latin typeface="Courier New"/>
              </a:rPr>
              <a:t>'dict'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c</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x</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x</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d</a:t>
            </a:r>
            <a:r>
              <a:rPr sz="1400" b="0" i="0">
                <a:solidFill>
                  <a:srgbClr val="1F2328"/>
                </a:solidFill>
                <a:latin typeface="Courier New"/>
              </a:rPr>
              <a:t>[</a:t>
            </a:r>
            <a:r>
              <a:rPr sz="1400" b="0" i="0">
                <a:solidFill>
                  <a:srgbClr val="B04A2B"/>
                </a:solidFill>
                <a:latin typeface="Courier New"/>
              </a:rPr>
              <a:t>'conf'</a:t>
            </a:r>
            <a:r>
              <a:rPr sz="1400" b="0" i="0">
                <a:solidFill>
                  <a:srgbClr val="1F2328"/>
                </a:solidFill>
                <a:latin typeface="Courier New"/>
              </a:rPr>
              <a:t>]</a:t>
            </a:r>
            <a:r>
              <a:rPr sz="1400" b="0" i="0">
                <a:solidFill>
                  <a:srgbClr val="1F2328"/>
                </a:solidFill>
                <a:latin typeface="Courier New"/>
              </a:rPr>
              <a:t> </a:t>
            </a:r>
            <a:r>
              <a:rPr sz="1400" b="1" i="0">
                <a:solidFill>
                  <a:srgbClr val="1F2328"/>
                </a:solidFill>
                <a:latin typeface="Courier New"/>
              </a:rPr>
              <a:t>if</a:t>
            </a:r>
            <a:r>
              <a:rPr sz="1400" b="0" i="0">
                <a:solidFill>
                  <a:srgbClr val="1F2328"/>
                </a:solidFill>
                <a:latin typeface="Courier New"/>
              </a:rPr>
              <a:t> </a:t>
            </a:r>
            <a:r>
              <a:rPr sz="1400" b="0" i="0">
                <a:solidFill>
                  <a:srgbClr val="1F2328"/>
                </a:solidFill>
                <a:latin typeface="Courier New"/>
              </a:rPr>
              <a:t>x</a:t>
            </a:r>
            <a:r>
              <a:rPr sz="1400" b="0" i="0">
                <a:solidFill>
                  <a:srgbClr val="1F2328"/>
                </a:solidFill>
                <a:latin typeface="Courier New"/>
              </a:rPr>
              <a:t> </a:t>
            </a:r>
            <a:r>
              <a:rPr sz="1400" b="0" i="0">
                <a:solidFill>
                  <a:srgbClr val="1F2328"/>
                </a:solidFill>
                <a:latin typeface="Courier New"/>
              </a:rPr>
              <a:t>&gt;</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0</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1" i="0">
                <a:solidFill>
                  <a:srgbClr val="1F2328"/>
                </a:solidFill>
                <a:latin typeface="Courier New"/>
              </a:rPr>
              <a:t>return</a:t>
            </a:r>
            <a:r>
              <a:rPr sz="1400" b="0" i="0">
                <a:solidFill>
                  <a:srgbClr val="1F2328"/>
                </a:solidFill>
                <a:latin typeface="Courier New"/>
              </a:rPr>
              <a:t> </a:t>
            </a:r>
            <a:r>
              <a:rPr sz="1400" b="0" i="0">
                <a:solidFill>
                  <a:srgbClr val="1F2328"/>
                </a:solidFill>
                <a:latin typeface="Courier New"/>
              </a:rPr>
              <a:t>round</a:t>
            </a:r>
            <a:r>
              <a:rPr sz="1400" b="0" i="0">
                <a:solidFill>
                  <a:srgbClr val="1F2328"/>
                </a:solidFill>
                <a:latin typeface="Courier New"/>
              </a:rPr>
              <a:t>(</a:t>
            </a:r>
            <a:r>
              <a:rPr sz="1400" b="0" i="0">
                <a:solidFill>
                  <a:srgbClr val="1F2328"/>
                </a:solidFill>
                <a:latin typeface="Courier New"/>
              </a:rPr>
              <a:t>sum</a:t>
            </a:r>
            <a:r>
              <a:rPr sz="1400" b="0" i="0">
                <a:solidFill>
                  <a:srgbClr val="1F2328"/>
                </a:solidFill>
                <a:latin typeface="Courier New"/>
              </a:rPr>
              <a:t>(</a:t>
            </a:r>
            <a:r>
              <a:rPr sz="1400" b="0" i="0">
                <a:solidFill>
                  <a:srgbClr val="1F2328"/>
                </a:solidFill>
                <a:latin typeface="Courier New"/>
              </a:rPr>
              <a:t>c</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len</a:t>
            </a:r>
            <a:r>
              <a:rPr sz="1400" b="0" i="0">
                <a:solidFill>
                  <a:srgbClr val="1F2328"/>
                </a:solidFill>
                <a:latin typeface="Courier New"/>
              </a:rPr>
              <a:t>(</a:t>
            </a:r>
            <a:r>
              <a:rPr sz="1400" b="0" i="0">
                <a:solidFill>
                  <a:srgbClr val="1F2328"/>
                </a:solidFill>
                <a:latin typeface="Courier New"/>
              </a:rPr>
              <a:t>c</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1</a:t>
            </a:r>
            <a:r>
              <a:rPr sz="1400" b="0" i="0">
                <a:solidFill>
                  <a:srgbClr val="1F2328"/>
                </a:solidFill>
                <a:latin typeface="Courier New"/>
              </a:rPr>
              <a:t>)</a:t>
            </a:r>
          </a:p>
          <a:p>
            <a:r>
              <a:rPr sz="1400" b="0" i="0">
                <a:solidFill>
                  <a:srgbClr val="1F2328"/>
                </a:solidFill>
                <a:latin typeface="Courier New"/>
              </a:rPr>
              <a:t> </a:t>
            </a:r>
          </a:p>
          <a:p>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f</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sorted</a:t>
            </a:r>
            <a:r>
              <a:rPr sz="1400" b="0" i="0">
                <a:solidFill>
                  <a:srgbClr val="1F2328"/>
                </a:solidFill>
                <a:latin typeface="Courier New"/>
              </a:rPr>
              <a:t>(</a:t>
            </a:r>
            <a:r>
              <a:rPr sz="1400" b="0" i="0">
                <a:solidFill>
                  <a:srgbClr val="1F2328"/>
                </a:solidFill>
                <a:latin typeface="Courier New"/>
              </a:rPr>
              <a:t>glob</a:t>
            </a:r>
            <a:r>
              <a:rPr sz="1400" b="0" i="0">
                <a:solidFill>
                  <a:srgbClr val="1F2328"/>
                </a:solidFill>
                <a:latin typeface="Courier New"/>
              </a:rPr>
              <a:t>.</a:t>
            </a:r>
            <a:r>
              <a:rPr sz="1400" b="0" i="0">
                <a:solidFill>
                  <a:srgbClr val="1F2328"/>
                </a:solidFill>
                <a:latin typeface="Courier New"/>
              </a:rPr>
              <a:t>glob</a:t>
            </a:r>
            <a:r>
              <a:rPr sz="1400" b="0" i="0">
                <a:solidFill>
                  <a:srgbClr val="1F2328"/>
                </a:solidFill>
                <a:latin typeface="Courier New"/>
              </a:rPr>
              <a:t>(</a:t>
            </a:r>
            <a:r>
              <a:rPr sz="1400" b="0" i="0">
                <a:solidFill>
                  <a:srgbClr val="B04A2B"/>
                </a:solidFill>
                <a:latin typeface="Courier New"/>
              </a:rPr>
              <a:t>'docs/scans/*.pdf'</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c</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confidence</a:t>
            </a:r>
            <a:r>
              <a:rPr sz="1400" b="0" i="0">
                <a:solidFill>
                  <a:srgbClr val="1F2328"/>
                </a:solidFill>
                <a:latin typeface="Courier New"/>
              </a:rPr>
              <a:t>(</a:t>
            </a:r>
            <a:r>
              <a:rPr sz="1400" b="0" i="0">
                <a:solidFill>
                  <a:srgbClr val="1F2328"/>
                </a:solidFill>
                <a:latin typeface="Courier New"/>
              </a:rPr>
              <a:t>f</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c</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'REPAIR'</a:t>
            </a:r>
            <a:r>
              <a:rPr sz="1400" b="0" i="0">
                <a:solidFill>
                  <a:srgbClr val="1F2328"/>
                </a:solidFill>
                <a:latin typeface="Courier New"/>
              </a:rPr>
              <a:t> </a:t>
            </a:r>
            <a:r>
              <a:rPr sz="1400" b="1" i="0">
                <a:solidFill>
                  <a:srgbClr val="1F2328"/>
                </a:solidFill>
                <a:latin typeface="Courier New"/>
              </a:rPr>
              <a:t>if</a:t>
            </a:r>
            <a:r>
              <a:rPr sz="1400" b="0" i="0">
                <a:solidFill>
                  <a:srgbClr val="1F2328"/>
                </a:solidFill>
                <a:latin typeface="Courier New"/>
              </a:rPr>
              <a:t> </a:t>
            </a:r>
            <a:r>
              <a:rPr sz="1400" b="0" i="0">
                <a:solidFill>
                  <a:srgbClr val="1F2328"/>
                </a:solidFill>
                <a:latin typeface="Courier New"/>
              </a:rPr>
              <a:t>c</a:t>
            </a:r>
            <a:r>
              <a:rPr sz="1400" b="0" i="0">
                <a:solidFill>
                  <a:srgbClr val="1F2328"/>
                </a:solidFill>
                <a:latin typeface="Courier New"/>
              </a:rPr>
              <a:t> </a:t>
            </a:r>
            <a:r>
              <a:rPr sz="1400" b="0" i="0">
                <a:solidFill>
                  <a:srgbClr val="1F2328"/>
                </a:solidFill>
                <a:latin typeface="Courier New"/>
              </a:rPr>
              <a:t>&lt;</a:t>
            </a:r>
            <a:r>
              <a:rPr sz="1400" b="0" i="0">
                <a:solidFill>
                  <a:srgbClr val="1F2328"/>
                </a:solidFill>
                <a:latin typeface="Courier New"/>
              </a:rPr>
              <a:t> </a:t>
            </a:r>
            <a:r>
              <a:rPr sz="1400" b="0" i="0">
                <a:solidFill>
                  <a:srgbClr val="3B4046"/>
                </a:solidFill>
                <a:latin typeface="Courier New"/>
              </a:rPr>
              <a:t>85</a:t>
            </a:r>
            <a:r>
              <a:rPr sz="1400" b="0" i="0">
                <a:solidFill>
                  <a:srgbClr val="1F2328"/>
                </a:solidFill>
                <a:latin typeface="Courier New"/>
              </a:rPr>
              <a:t> </a:t>
            </a:r>
            <a:r>
              <a:rPr sz="1400" b="1" i="0">
                <a:solidFill>
                  <a:srgbClr val="1F2328"/>
                </a:solidFill>
                <a:latin typeface="Courier New"/>
              </a:rPr>
              <a:t>else</a:t>
            </a:r>
            <a:r>
              <a:rPr sz="1400" b="0" i="0">
                <a:solidFill>
                  <a:srgbClr val="1F2328"/>
                </a:solidFill>
                <a:latin typeface="Courier New"/>
              </a:rPr>
              <a:t> </a:t>
            </a:r>
            <a:r>
              <a:rPr sz="1400" b="0" i="0">
                <a:solidFill>
                  <a:srgbClr val="B04A2B"/>
                </a:solidFill>
                <a:latin typeface="Courier New"/>
              </a:rPr>
              <a:t>'ok'</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f</a:t>
            </a:r>
            <a:r>
              <a:rPr sz="1400" b="0" i="0">
                <a:solidFill>
                  <a:srgbClr val="1F2328"/>
                </a:solidFill>
                <a:latin typeface="Courier New"/>
              </a:rPr>
              <a:t>[</a:t>
            </a:r>
            <a:r>
              <a:rPr sz="1400" b="0" i="0">
                <a:solidFill>
                  <a:srgbClr val="3B4046"/>
                </a:solidFill>
                <a:latin typeface="Courier New"/>
              </a:rPr>
              <a:t>11</a:t>
            </a:r>
            <a:r>
              <a:rPr sz="1400" b="0" i="0">
                <a:solidFill>
                  <a:srgbClr val="1F2328"/>
                </a:solidFill>
                <a:latin typeface="Courier New"/>
              </a:rPr>
              <a:t>:</a:t>
            </a:r>
            <a:r>
              <a:rPr sz="1400" b="0" i="0">
                <a:solidFill>
                  <a:srgbClr val="1F2328"/>
                </a:solidFill>
                <a:latin typeface="Courier New"/>
              </a:rPr>
              <a:t>-</a:t>
            </a:r>
            <a:r>
              <a:rPr sz="1400" b="0" i="0">
                <a:solidFill>
                  <a:srgbClr val="3B4046"/>
                </a:solidFill>
                <a:latin typeface="Courier New"/>
              </a:rPr>
              <a:t>4</a:t>
            </a:r>
            <a:r>
              <a:rPr sz="1400" b="0" i="0">
                <a:solidFill>
                  <a:srgbClr val="1F2328"/>
                </a:solidFill>
                <a:latin typeface="Courier New"/>
              </a:rPr>
              <a:t>]</a:t>
            </a:r>
            <a:r>
              <a:rPr sz="1400" b="0" i="0">
                <a:solidFill>
                  <a:srgbClr val="1F2328"/>
                </a:solidFill>
                <a:latin typeface="Courier New"/>
              </a:rPr>
              <a:t>)</a:t>
            </a:r>
          </a:p>
        </p:txBody>
      </p:sp>
      <p:grpSp>
        <p:nvGrpSpPr>
          <p:cNvPr id="7" name="output"/>
          <p:cNvGrpSpPr/>
          <p:nvPr/>
        </p:nvGrpSpPr>
        <p:grpSpPr>
          <a:xfrm>
            <a:off x="685800" y="4794504"/>
            <a:ext cx="6949440" cy="1164336"/>
            <a:chOff x="685800" y="4794504"/>
            <a:chExt cx="6949440" cy="1164336"/>
          </a:xfrm>
        </p:grpSpPr>
        <p:sp>
          <p:nvSpPr>
            <p:cNvPr id="8" name="TextBox 7"/>
            <p:cNvSpPr txBox="1"/>
            <p:nvPr/>
          </p:nvSpPr>
          <p:spPr>
            <a:xfrm>
              <a:off x="685800" y="479450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5050536"/>
              <a:ext cx="6949440"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5141976"/>
              <a:ext cx="6675120" cy="798576"/>
            </a:xfrm>
            <a:prstGeom prst="rect">
              <a:avLst/>
            </a:prstGeom>
            <a:noFill/>
          </p:spPr>
          <p:txBody>
            <a:bodyPr wrap="none" lIns="0" rIns="0" tIns="0" bIns="0">
              <a:spAutoFit/>
            </a:bodyPr>
            <a:lstStyle/>
            <a:p>
              <a:r>
                <a:rPr sz="1400" b="0" i="0">
                  <a:solidFill>
                    <a:srgbClr val="1F2328"/>
                  </a:solidFill>
                  <a:latin typeface="Courier New"/>
                </a:rPr>
                <a:t>95.4 ok Scan Board Resolution Extract 2019</a:t>
              </a:r>
            </a:p>
            <a:p>
              <a:r>
                <a:rPr sz="1400" b="0" i="0">
                  <a:solidFill>
                    <a:srgbClr val="1F2328"/>
                  </a:solidFill>
                  <a:latin typeface="Courier New"/>
                </a:rPr>
                <a:t>69.2 REPAIR Scan Loan Committee Note 2018</a:t>
              </a:r>
            </a:p>
            <a:p>
              <a:r>
                <a:rPr sz="1400" b="0" i="0">
                  <a:solidFill>
                    <a:srgbClr val="1F2328"/>
                  </a:solidFill>
                  <a:latin typeface="Courier New"/>
                </a:rPr>
                <a:t>67.2 REPAIR Scan Motor Policy Schedule 2015</a:t>
              </a:r>
            </a:p>
            <a:p>
              <a:r>
                <a:rPr sz="1400" b="0" i="0">
                  <a:solidFill>
                    <a:srgbClr val="1F2328"/>
                  </a:solidFill>
                  <a:latin typeface="Courier New"/>
                </a:rPr>
                <a:t>75.0 REPAIR Scan Regulator Notice Fax 2017</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Tesseract gives each word a confidence from 0 to 100. We average the words on a page.</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Loop over the eight scans. Anything under 85 is marked REPAIR.</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Three scans fall under the line.</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table that a PDF reader scrambles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From documents to clean text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pic>
        <p:nvPicPr>
          <p:cNvPr id="5" name="figure-table_scramble" descr="A table page shown with its scrambled pypdf text in the middle and the clean rows recovered by pdfplumber on the right."/>
          <p:cNvPicPr>
            <a:picLocks noChangeAspect="1"/>
          </p:cNvPicPr>
          <p:nvPr/>
        </p:nvPicPr>
        <p:blipFill>
          <a:blip r:embed="rId3"/>
          <a:stretch>
            <a:fillRect/>
          </a:stretch>
        </p:blipFill>
        <p:spPr>
          <a:xfrm>
            <a:off x="685800" y="1600200"/>
            <a:ext cx="7040880" cy="2609100"/>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Left: the page. Each service sits on one row with its charge.</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1950" b="0" i="0">
                  <a:solidFill>
                    <a:srgbClr val="1F2328"/>
                  </a:solidFill>
                  <a:latin typeface="Calibri"/>
                </a:rPr>
                <a:t>Middle, pypdf: all services first, then all charges. A withdrawal and its 2,500 are 9 lines apart.</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Right, pdfplumber: 8 rows with service and charge kept together.</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Tariff Schedule 2025.pdf, page 1. Real extraction output.</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Recover the rows with pdfplumber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From documents to clean text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sp>
        <p:nvSpPr>
          <p:cNvPr id="5" name="Rectangle 4"/>
          <p:cNvSpPr/>
          <p:nvPr/>
        </p:nvSpPr>
        <p:spPr>
          <a:xfrm>
            <a:off x="685800" y="1600200"/>
            <a:ext cx="6949440" cy="265785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383536"/>
          </a:xfrm>
          <a:prstGeom prst="rect">
            <a:avLst/>
          </a:prstGeom>
          <a:noFill/>
        </p:spPr>
        <p:txBody>
          <a:bodyPr wrap="none" lIns="0" rIns="0" tIns="0" bIns="0">
            <a:spAutoFit/>
          </a:bodyPr>
          <a:lstStyle/>
          <a:p>
            <a:r>
              <a:rPr sz="1400" b="1" i="0">
                <a:solidFill>
                  <a:srgbClr val="1F2328"/>
                </a:solidFill>
                <a:latin typeface="Courier New"/>
              </a:rPr>
              <a:t>from</a:t>
            </a:r>
            <a:r>
              <a:rPr sz="1400" b="0" i="0">
                <a:solidFill>
                  <a:srgbClr val="1F2328"/>
                </a:solidFill>
                <a:latin typeface="Courier New"/>
              </a:rPr>
              <a:t> </a:t>
            </a:r>
            <a:r>
              <a:rPr sz="1400" b="0" i="0">
                <a:solidFill>
                  <a:srgbClr val="1F2328"/>
                </a:solidFill>
                <a:latin typeface="Courier New"/>
              </a:rPr>
              <a:t>pypdf</a:t>
            </a:r>
            <a:r>
              <a:rPr sz="1400" b="0" i="0">
                <a:solidFill>
                  <a:srgbClr val="1F2328"/>
                </a:solidFill>
                <a:latin typeface="Courier New"/>
              </a:rPr>
              <a:t> </a:t>
            </a:r>
            <a:r>
              <a:rPr sz="1400" b="1" i="0">
                <a:solidFill>
                  <a:srgbClr val="1F2328"/>
                </a:solidFill>
                <a:latin typeface="Courier New"/>
              </a:rPr>
              <a:t>import</a:t>
            </a:r>
            <a:r>
              <a:rPr sz="1400" b="0" i="0">
                <a:solidFill>
                  <a:srgbClr val="1F2328"/>
                </a:solidFill>
                <a:latin typeface="Courier New"/>
              </a:rPr>
              <a:t> </a:t>
            </a:r>
            <a:r>
              <a:rPr sz="1400" b="0" i="0">
                <a:solidFill>
                  <a:srgbClr val="1F2328"/>
                </a:solidFill>
                <a:latin typeface="Courier New"/>
              </a:rPr>
              <a:t>PdfReader</a:t>
            </a:r>
          </a:p>
          <a:p>
            <a:r>
              <a:rPr sz="1400" b="1" i="0">
                <a:solidFill>
                  <a:srgbClr val="1F2328"/>
                </a:solidFill>
                <a:latin typeface="Courier New"/>
              </a:rPr>
              <a:t>import</a:t>
            </a:r>
            <a:r>
              <a:rPr sz="1400" b="0" i="0">
                <a:solidFill>
                  <a:srgbClr val="1F2328"/>
                </a:solidFill>
                <a:latin typeface="Courier New"/>
              </a:rPr>
              <a:t> </a:t>
            </a:r>
            <a:r>
              <a:rPr sz="1400" b="0" i="0">
                <a:solidFill>
                  <a:srgbClr val="1F2328"/>
                </a:solidFill>
                <a:latin typeface="Courier New"/>
              </a:rPr>
              <a:t>pdfplumber</a:t>
            </a:r>
          </a:p>
          <a:p>
            <a:r>
              <a:rPr sz="1400" b="0" i="0">
                <a:solidFill>
                  <a:srgbClr val="1F2328"/>
                </a:solidFill>
                <a:latin typeface="Courier New"/>
              </a:rPr>
              <a:t> </a:t>
            </a:r>
          </a:p>
          <a:p>
            <a:r>
              <a:rPr sz="1400" b="0" i="0">
                <a:solidFill>
                  <a:srgbClr val="1F2328"/>
                </a:solidFill>
                <a:latin typeface="Courier New"/>
              </a:rPr>
              <a:t>path</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'docs/product guides/Tariff Schedule 2025.pdf'</a:t>
            </a:r>
          </a:p>
          <a:p>
            <a:r>
              <a:rPr sz="1400" b="1" i="0">
                <a:solidFill>
                  <a:srgbClr val="1F2328"/>
                </a:solidFill>
                <a:latin typeface="Courier New"/>
              </a:rPr>
              <a:t>with</a:t>
            </a:r>
            <a:r>
              <a:rPr sz="1400" b="0" i="0">
                <a:solidFill>
                  <a:srgbClr val="1F2328"/>
                </a:solidFill>
                <a:latin typeface="Courier New"/>
              </a:rPr>
              <a:t> </a:t>
            </a:r>
            <a:r>
              <a:rPr sz="1400" b="0" i="0">
                <a:solidFill>
                  <a:srgbClr val="1F2328"/>
                </a:solidFill>
                <a:latin typeface="Courier New"/>
              </a:rPr>
              <a:t>pdfplumber</a:t>
            </a:r>
            <a:r>
              <a:rPr sz="1400" b="0" i="0">
                <a:solidFill>
                  <a:srgbClr val="1F2328"/>
                </a:solidFill>
                <a:latin typeface="Courier New"/>
              </a:rPr>
              <a:t>.</a:t>
            </a:r>
            <a:r>
              <a:rPr sz="1400" b="0" i="0">
                <a:solidFill>
                  <a:srgbClr val="1F2328"/>
                </a:solidFill>
                <a:latin typeface="Courier New"/>
              </a:rPr>
              <a:t>open</a:t>
            </a:r>
            <a:r>
              <a:rPr sz="1400" b="0" i="0">
                <a:solidFill>
                  <a:srgbClr val="1F2328"/>
                </a:solidFill>
                <a:latin typeface="Courier New"/>
              </a:rPr>
              <a:t>(</a:t>
            </a:r>
            <a:r>
              <a:rPr sz="1400" b="0" i="0">
                <a:solidFill>
                  <a:srgbClr val="1F2328"/>
                </a:solidFill>
                <a:latin typeface="Courier New"/>
              </a:rPr>
              <a:t>path</a:t>
            </a:r>
            <a:r>
              <a:rPr sz="1400" b="0" i="0">
                <a:solidFill>
                  <a:srgbClr val="1F2328"/>
                </a:solidFill>
                <a:latin typeface="Courier New"/>
              </a:rPr>
              <a:t>)</a:t>
            </a:r>
            <a:r>
              <a:rPr sz="1400" b="0" i="0">
                <a:solidFill>
                  <a:srgbClr val="1F2328"/>
                </a:solidFill>
                <a:latin typeface="Courier New"/>
              </a:rPr>
              <a:t> </a:t>
            </a:r>
            <a:r>
              <a:rPr sz="1400" b="1" i="0">
                <a:solidFill>
                  <a:srgbClr val="1F2328"/>
                </a:solidFill>
                <a:latin typeface="Courier New"/>
              </a:rPr>
              <a:t>as</a:t>
            </a:r>
            <a:r>
              <a:rPr sz="1400" b="0" i="0">
                <a:solidFill>
                  <a:srgbClr val="1F2328"/>
                </a:solidFill>
                <a:latin typeface="Courier New"/>
              </a:rPr>
              <a:t> </a:t>
            </a:r>
            <a:r>
              <a:rPr sz="1400" b="0" i="0">
                <a:solidFill>
                  <a:srgbClr val="1F2328"/>
                </a:solidFill>
                <a:latin typeface="Courier New"/>
              </a:rPr>
              <a:t>pdf</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rows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pdf</a:t>
            </a:r>
            <a:r>
              <a:rPr sz="1400" b="0" i="0">
                <a:solidFill>
                  <a:srgbClr val="1F2328"/>
                </a:solidFill>
                <a:latin typeface="Courier New"/>
              </a:rPr>
              <a:t>.</a:t>
            </a:r>
            <a:r>
              <a:rPr sz="1400" b="0" i="0">
                <a:solidFill>
                  <a:srgbClr val="1F2328"/>
                </a:solidFill>
                <a:latin typeface="Courier New"/>
              </a:rPr>
              <a:t>pages</a:t>
            </a:r>
            <a:r>
              <a:rPr sz="1400" b="0" i="0">
                <a:solidFill>
                  <a:srgbClr val="1F2328"/>
                </a:solidFill>
                <a:latin typeface="Courier New"/>
              </a:rPr>
              <a:t>[</a:t>
            </a:r>
            <a:r>
              <a:rPr sz="1400" b="0" i="0">
                <a:solidFill>
                  <a:srgbClr val="3B4046"/>
                </a:solidFill>
                <a:latin typeface="Courier New"/>
              </a:rPr>
              <a:t>0</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extract_table</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len</a:t>
            </a:r>
            <a:r>
              <a:rPr sz="1400" b="0" i="0">
                <a:solidFill>
                  <a:srgbClr val="1F2328"/>
                </a:solidFill>
                <a:latin typeface="Courier New"/>
              </a:rPr>
              <a:t>(</a:t>
            </a:r>
            <a:r>
              <a:rPr sz="1400" b="0" i="0">
                <a:solidFill>
                  <a:srgbClr val="1F2328"/>
                </a:solidFill>
                <a:latin typeface="Courier New"/>
              </a:rPr>
              <a:t>rows</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1</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'data rows'</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rows</a:t>
            </a:r>
            <a:r>
              <a:rPr sz="1400" b="0" i="0">
                <a:solidFill>
                  <a:srgbClr val="1F2328"/>
                </a:solidFill>
                <a:latin typeface="Courier New"/>
              </a:rPr>
              <a:t>[</a:t>
            </a:r>
            <a:r>
              <a:rPr sz="1400" b="0" i="0">
                <a:solidFill>
                  <a:srgbClr val="3B4046"/>
                </a:solidFill>
                <a:latin typeface="Courier New"/>
              </a:rPr>
              <a:t>3</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text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PdfReader</a:t>
            </a:r>
            <a:r>
              <a:rPr sz="1400" b="0" i="0">
                <a:solidFill>
                  <a:srgbClr val="1F2328"/>
                </a:solidFill>
                <a:latin typeface="Courier New"/>
              </a:rPr>
              <a:t>(</a:t>
            </a:r>
            <a:r>
              <a:rPr sz="1400" b="0" i="0">
                <a:solidFill>
                  <a:srgbClr val="1F2328"/>
                </a:solidFill>
                <a:latin typeface="Courier New"/>
              </a:rPr>
              <a:t>path</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pages</a:t>
            </a:r>
            <a:r>
              <a:rPr sz="1400" b="0" i="0">
                <a:solidFill>
                  <a:srgbClr val="1F2328"/>
                </a:solidFill>
                <a:latin typeface="Courier New"/>
              </a:rPr>
              <a:t>[</a:t>
            </a:r>
            <a:r>
              <a:rPr sz="1400" b="0" i="0">
                <a:solidFill>
                  <a:srgbClr val="3B4046"/>
                </a:solidFill>
                <a:latin typeface="Courier New"/>
              </a:rPr>
              <a:t>0</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extract_text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splitlines</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i</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j</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text</a:t>
            </a:r>
            <a:r>
              <a:rPr sz="1400" b="0" i="0">
                <a:solidFill>
                  <a:srgbClr val="1F2328"/>
                </a:solidFill>
                <a:latin typeface="Courier New"/>
              </a:rPr>
              <a:t>.</a:t>
            </a:r>
            <a:r>
              <a:rPr sz="1400" b="0" i="0">
                <a:solidFill>
                  <a:srgbClr val="1F2328"/>
                </a:solidFill>
                <a:latin typeface="Courier New"/>
              </a:rPr>
              <a:t>index</a:t>
            </a:r>
            <a:r>
              <a:rPr sz="1400" b="0" i="0">
                <a:solidFill>
                  <a:srgbClr val="1F2328"/>
                </a:solidFill>
                <a:latin typeface="Courier New"/>
              </a:rPr>
              <a:t>(</a:t>
            </a:r>
            <a:r>
              <a:rPr sz="1400" b="0" i="0">
                <a:solidFill>
                  <a:srgbClr val="1F2328"/>
                </a:solidFill>
                <a:latin typeface="Courier New"/>
              </a:rPr>
              <a:t>rows</a:t>
            </a:r>
            <a:r>
              <a:rPr sz="1400" b="0" i="0">
                <a:solidFill>
                  <a:srgbClr val="1F2328"/>
                </a:solidFill>
                <a:latin typeface="Courier New"/>
              </a:rPr>
              <a:t>[</a:t>
            </a:r>
            <a:r>
              <a:rPr sz="1400" b="0" i="0">
                <a:solidFill>
                  <a:srgbClr val="3B4046"/>
                </a:solidFill>
                <a:latin typeface="Courier New"/>
              </a:rPr>
              <a:t>3</a:t>
            </a:r>
            <a:r>
              <a:rPr sz="1400" b="0" i="0">
                <a:solidFill>
                  <a:srgbClr val="1F2328"/>
                </a:solidFill>
                <a:latin typeface="Courier New"/>
              </a:rPr>
              <a:t>]</a:t>
            </a:r>
            <a:r>
              <a:rPr sz="1400" b="0" i="0">
                <a:solidFill>
                  <a:srgbClr val="1F2328"/>
                </a:solidFill>
                <a:latin typeface="Courier New"/>
              </a:rPr>
              <a:t>[</a:t>
            </a:r>
            <a:r>
              <a:rPr sz="1400" b="0" i="0">
                <a:solidFill>
                  <a:srgbClr val="3B4046"/>
                </a:solidFill>
                <a:latin typeface="Courier New"/>
              </a:rPr>
              <a:t>0</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text</a:t>
            </a:r>
            <a:r>
              <a:rPr sz="1400" b="0" i="0">
                <a:solidFill>
                  <a:srgbClr val="1F2328"/>
                </a:solidFill>
                <a:latin typeface="Courier New"/>
              </a:rPr>
              <a:t>.</a:t>
            </a:r>
            <a:r>
              <a:rPr sz="1400" b="0" i="0">
                <a:solidFill>
                  <a:srgbClr val="1F2328"/>
                </a:solidFill>
                <a:latin typeface="Courier New"/>
              </a:rPr>
              <a:t>index</a:t>
            </a:r>
            <a:r>
              <a:rPr sz="1400" b="0" i="0">
                <a:solidFill>
                  <a:srgbClr val="1F2328"/>
                </a:solidFill>
                <a:latin typeface="Courier New"/>
              </a:rPr>
              <a:t>(</a:t>
            </a:r>
            <a:r>
              <a:rPr sz="1400" b="0" i="0">
                <a:solidFill>
                  <a:srgbClr val="B04A2B"/>
                </a:solidFill>
                <a:latin typeface="Courier New"/>
              </a:rPr>
              <a:t>'2,500'</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j</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i</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'lines apart'</a:t>
            </a:r>
            <a:r>
              <a:rPr sz="1400" b="0" i="0">
                <a:solidFill>
                  <a:srgbClr val="1F2328"/>
                </a:solidFill>
                <a:latin typeface="Courier New"/>
              </a:rPr>
              <a:t>)</a:t>
            </a:r>
          </a:p>
        </p:txBody>
      </p:sp>
      <p:grpSp>
        <p:nvGrpSpPr>
          <p:cNvPr id="7" name="output"/>
          <p:cNvGrpSpPr/>
          <p:nvPr/>
        </p:nvGrpSpPr>
        <p:grpSpPr>
          <a:xfrm>
            <a:off x="685800" y="4367784"/>
            <a:ext cx="6949440" cy="950976"/>
            <a:chOff x="685800" y="4367784"/>
            <a:chExt cx="6949440" cy="950976"/>
          </a:xfrm>
        </p:grpSpPr>
        <p:sp>
          <p:nvSpPr>
            <p:cNvPr id="8" name="TextBox 7"/>
            <p:cNvSpPr txBox="1"/>
            <p:nvPr/>
          </p:nvSpPr>
          <p:spPr>
            <a:xfrm>
              <a:off x="685800" y="43677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623816"/>
              <a:ext cx="6949440"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4715256"/>
              <a:ext cx="6675120" cy="585216"/>
            </a:xfrm>
            <a:prstGeom prst="rect">
              <a:avLst/>
            </a:prstGeom>
            <a:noFill/>
          </p:spPr>
          <p:txBody>
            <a:bodyPr wrap="none" lIns="0" rIns="0" tIns="0" bIns="0">
              <a:spAutoFit/>
            </a:bodyPr>
            <a:lstStyle/>
            <a:p>
              <a:r>
                <a:rPr sz="1400" b="0" i="0">
                  <a:solidFill>
                    <a:srgbClr val="1F2328"/>
                  </a:solidFill>
                  <a:latin typeface="Courier New"/>
                </a:rPr>
                <a:t>8 data rows</a:t>
              </a:r>
            </a:p>
            <a:p>
              <a:r>
                <a:rPr sz="1400" b="0" i="0">
                  <a:solidFill>
                    <a:srgbClr val="1F2328"/>
                  </a:solidFill>
                  <a:latin typeface="Courier New"/>
                </a:rPr>
                <a:t>['Cash withdrawal at branch', '2,500', 'Per withdrawal']</a:t>
              </a:r>
            </a:p>
            <a:p>
              <a:r>
                <a:rPr sz="1400" b="0" i="0">
                  <a:solidFill>
                    <a:srgbClr val="1F2328"/>
                  </a:solidFill>
                  <a:latin typeface="Courier New"/>
                </a:rPr>
                <a:t>9 lines apart</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extract_table returns the table as a list of rows. Row zero is the header.</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One data row, with service, charge and note together.</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In the pypdf text, the same row is split across nine lines.</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clean extraction of an out of date document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5   From documents to clean text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13</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The 2019 staff handbook parses perfectly. Its text is clean and says 21 days of annual leave. A search finds it and answers.</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The 2025 handbook says 28. The 2019 file does not say it was replaced. 9 of the 11 superseded documents carry no notice in their own text.</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Record status, version and effective date for every document, and attach them to every chunk, before anything is searched.</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Cutting a document into overlapping chunks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From documents to clean text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pic>
        <p:nvPicPr>
          <p:cNvPr id="5" name="figure-chunking_overlap" descr="Bars showing one document of 436 words cut into 3 overlapping chunks, with the repeated stretch of 40 words in clay."/>
          <p:cNvPicPr>
            <a:picLocks noChangeAspect="1"/>
          </p:cNvPicPr>
          <p:nvPr/>
        </p:nvPicPr>
        <p:blipFill>
          <a:blip r:embed="rId3"/>
          <a:stretch>
            <a:fillRect/>
          </a:stretch>
        </p:blipFill>
        <p:spPr>
          <a:xfrm>
            <a:off x="685800" y="1600200"/>
            <a:ext cx="7040880" cy="2609100"/>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Staff Handbook 2025 has 436 words.</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Chunks of 200 words, each starting 160 words after the last, give 3 chunks.</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clay stretch is 40 words held in two chunks at once.</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chunk_text from kitara_search.py: 200 words, 40 words of overlap.</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Chunk the handbook and look at the joins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From documents to clean text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sp>
        <p:nvSpPr>
          <p:cNvPr id="5" name="Rectangle 4"/>
          <p:cNvSpPr/>
          <p:nvPr/>
        </p:nvSpPr>
        <p:spPr>
          <a:xfrm>
            <a:off x="685800" y="1600200"/>
            <a:ext cx="6949440" cy="24444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170176"/>
          </a:xfrm>
          <a:prstGeom prst="rect">
            <a:avLst/>
          </a:prstGeom>
          <a:noFill/>
        </p:spPr>
        <p:txBody>
          <a:bodyPr wrap="none" lIns="0" rIns="0" tIns="0" bIns="0">
            <a:spAutoFit/>
          </a:bodyPr>
          <a:lstStyle/>
          <a:p>
            <a:r>
              <a:rPr sz="1400" b="1" i="0">
                <a:solidFill>
                  <a:srgbClr val="1F2328"/>
                </a:solidFill>
                <a:latin typeface="Courier New"/>
              </a:rPr>
              <a:t>import</a:t>
            </a:r>
            <a:r>
              <a:rPr sz="1400" b="0" i="0">
                <a:solidFill>
                  <a:srgbClr val="1F2328"/>
                </a:solidFill>
                <a:latin typeface="Courier New"/>
              </a:rPr>
              <a:t> </a:t>
            </a:r>
            <a:r>
              <a:rPr sz="1400" b="0" i="0">
                <a:solidFill>
                  <a:srgbClr val="1F2328"/>
                </a:solidFill>
                <a:latin typeface="Courier New"/>
              </a:rPr>
              <a:t>kitara_search</a:t>
            </a:r>
            <a:r>
              <a:rPr sz="1400" b="0" i="0">
                <a:solidFill>
                  <a:srgbClr val="1F2328"/>
                </a:solidFill>
                <a:latin typeface="Courier New"/>
              </a:rPr>
              <a:t> </a:t>
            </a:r>
            <a:r>
              <a:rPr sz="1400" b="1" i="0">
                <a:solidFill>
                  <a:srgbClr val="1F2328"/>
                </a:solidFill>
                <a:latin typeface="Courier New"/>
              </a:rPr>
              <a:t>as</a:t>
            </a:r>
            <a:r>
              <a:rPr sz="1400" b="0" i="0">
                <a:solidFill>
                  <a:srgbClr val="1F2328"/>
                </a:solidFill>
                <a:latin typeface="Courier New"/>
              </a:rPr>
              <a:t> </a:t>
            </a:r>
            <a:r>
              <a:rPr sz="1400" b="0" i="0">
                <a:solidFill>
                  <a:srgbClr val="1F2328"/>
                </a:solidFill>
                <a:latin typeface="Courier New"/>
              </a:rPr>
              <a:t>ks</a:t>
            </a:r>
          </a:p>
          <a:p>
            <a:r>
              <a:rPr sz="1400" b="0" i="0">
                <a:solidFill>
                  <a:srgbClr val="1F2328"/>
                </a:solidFill>
                <a:latin typeface="Courier New"/>
              </a:rPr>
              <a:t> </a:t>
            </a:r>
          </a:p>
          <a:p>
            <a:r>
              <a:rPr sz="1400" b="0" i="0">
                <a:solidFill>
                  <a:srgbClr val="1F2328"/>
                </a:solidFill>
                <a:latin typeface="Courier New"/>
              </a:rPr>
              <a:t>path</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'docs/policies/Staff Handbook 2025.pdf'</a:t>
            </a:r>
          </a:p>
          <a:p>
            <a:r>
              <a:rPr sz="1400" b="0" i="0">
                <a:solidFill>
                  <a:srgbClr val="1F2328"/>
                </a:solidFill>
                <a:latin typeface="Courier New"/>
              </a:rPr>
              <a:t>text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ks</a:t>
            </a:r>
            <a:r>
              <a:rPr sz="1400" b="0" i="0">
                <a:solidFill>
                  <a:srgbClr val="1F2328"/>
                </a:solidFill>
                <a:latin typeface="Courier New"/>
              </a:rPr>
              <a:t>.</a:t>
            </a:r>
            <a:r>
              <a:rPr sz="1400" b="0" i="0">
                <a:solidFill>
                  <a:srgbClr val="1F2328"/>
                </a:solidFill>
                <a:latin typeface="Courier New"/>
              </a:rPr>
              <a:t>extract_text</a:t>
            </a:r>
            <a:r>
              <a:rPr sz="1400" b="0" i="0">
                <a:solidFill>
                  <a:srgbClr val="1F2328"/>
                </a:solidFill>
                <a:latin typeface="Courier New"/>
              </a:rPr>
              <a:t>(</a:t>
            </a:r>
            <a:r>
              <a:rPr sz="1400" b="0" i="0">
                <a:solidFill>
                  <a:srgbClr val="1F2328"/>
                </a:solidFill>
                <a:latin typeface="Courier New"/>
              </a:rPr>
              <a:t>path</a:t>
            </a:r>
            <a:r>
              <a:rPr sz="1400" b="0" i="0">
                <a:solidFill>
                  <a:srgbClr val="1F2328"/>
                </a:solidFill>
                <a:latin typeface="Courier New"/>
              </a:rPr>
              <a:t>)</a:t>
            </a:r>
          </a:p>
          <a:p>
            <a:r>
              <a:rPr sz="1400" b="0" i="0">
                <a:solidFill>
                  <a:srgbClr val="1F2328"/>
                </a:solidFill>
                <a:latin typeface="Courier New"/>
              </a:rPr>
              <a:t>chunks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ks</a:t>
            </a:r>
            <a:r>
              <a:rPr sz="1400" b="0" i="0">
                <a:solidFill>
                  <a:srgbClr val="1F2328"/>
                </a:solidFill>
                <a:latin typeface="Courier New"/>
              </a:rPr>
              <a:t>.</a:t>
            </a:r>
            <a:r>
              <a:rPr sz="1400" b="0" i="0">
                <a:solidFill>
                  <a:srgbClr val="1F2328"/>
                </a:solidFill>
                <a:latin typeface="Courier New"/>
              </a:rPr>
              <a:t>chunk_text</a:t>
            </a:r>
            <a:r>
              <a:rPr sz="1400" b="0" i="0">
                <a:solidFill>
                  <a:srgbClr val="1F2328"/>
                </a:solidFill>
                <a:latin typeface="Courier New"/>
              </a:rPr>
              <a:t>(</a:t>
            </a:r>
            <a:r>
              <a:rPr sz="1400" b="0" i="0">
                <a:solidFill>
                  <a:srgbClr val="1F2328"/>
                </a:solidFill>
                <a:latin typeface="Courier New"/>
              </a:rPr>
              <a:t>text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size</a:t>
            </a:r>
            <a:r>
              <a:rPr sz="1400" b="0" i="0">
                <a:solidFill>
                  <a:srgbClr val="1F2328"/>
                </a:solidFill>
                <a:latin typeface="Courier New"/>
              </a:rPr>
              <a:t>=</a:t>
            </a:r>
            <a:r>
              <a:rPr sz="1400" b="0" i="0">
                <a:solidFill>
                  <a:srgbClr val="3B4046"/>
                </a:solidFill>
                <a:latin typeface="Courier New"/>
              </a:rPr>
              <a:t>200</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overlap</a:t>
            </a:r>
            <a:r>
              <a:rPr sz="1400" b="0" i="0">
                <a:solidFill>
                  <a:srgbClr val="1F2328"/>
                </a:solidFill>
                <a:latin typeface="Courier New"/>
              </a:rPr>
              <a:t>=</a:t>
            </a:r>
            <a:r>
              <a:rPr sz="1400" b="0" i="0">
                <a:solidFill>
                  <a:srgbClr val="3B4046"/>
                </a:solidFill>
                <a:latin typeface="Courier New"/>
              </a:rPr>
              <a:t>40</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len</a:t>
            </a:r>
            <a:r>
              <a:rPr sz="1400" b="0" i="0">
                <a:solidFill>
                  <a:srgbClr val="1F2328"/>
                </a:solidFill>
                <a:latin typeface="Courier New"/>
              </a:rPr>
              <a:t>(</a:t>
            </a:r>
            <a:r>
              <a:rPr sz="1400" b="0" i="0">
                <a:solidFill>
                  <a:srgbClr val="1F2328"/>
                </a:solidFill>
                <a:latin typeface="Courier New"/>
              </a:rPr>
              <a:t>text</a:t>
            </a:r>
            <a:r>
              <a:rPr sz="1400" b="0" i="0">
                <a:solidFill>
                  <a:srgbClr val="1F2328"/>
                </a:solidFill>
                <a:latin typeface="Courier New"/>
              </a:rPr>
              <a:t>.</a:t>
            </a:r>
            <a:r>
              <a:rPr sz="1400" b="0" i="0">
                <a:solidFill>
                  <a:srgbClr val="1F2328"/>
                </a:solidFill>
                <a:latin typeface="Courier New"/>
              </a:rPr>
              <a:t>split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'words -&gt;'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len</a:t>
            </a:r>
            <a:r>
              <a:rPr sz="1400" b="0" i="0">
                <a:solidFill>
                  <a:srgbClr val="1F2328"/>
                </a:solidFill>
                <a:latin typeface="Courier New"/>
              </a:rPr>
              <a:t>(</a:t>
            </a:r>
            <a:r>
              <a:rPr sz="1400" b="0" i="0">
                <a:solidFill>
                  <a:srgbClr val="1F2328"/>
                </a:solidFill>
                <a:latin typeface="Courier New"/>
              </a:rPr>
              <a:t>chunks</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'chunks'</a:t>
            </a:r>
            <a:r>
              <a:rPr sz="1400" b="0" i="0">
                <a:solidFill>
                  <a:srgbClr val="1F2328"/>
                </a:solidFill>
                <a:latin typeface="Courier New"/>
              </a:rPr>
              <a:t>)</a:t>
            </a:r>
          </a:p>
          <a:p>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c</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chunks</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len</a:t>
            </a:r>
            <a:r>
              <a:rPr sz="1400" b="0" i="0">
                <a:solidFill>
                  <a:srgbClr val="1F2328"/>
                </a:solidFill>
                <a:latin typeface="Courier New"/>
              </a:rPr>
              <a:t>(</a:t>
            </a:r>
            <a:r>
              <a:rPr sz="1400" b="0" i="0">
                <a:solidFill>
                  <a:srgbClr val="1F2328"/>
                </a:solidFill>
                <a:latin typeface="Courier New"/>
              </a:rPr>
              <a:t>c</a:t>
            </a:r>
            <a:r>
              <a:rPr sz="1400" b="0" i="0">
                <a:solidFill>
                  <a:srgbClr val="1F2328"/>
                </a:solidFill>
                <a:latin typeface="Courier New"/>
              </a:rPr>
              <a:t>.</a:t>
            </a:r>
            <a:r>
              <a:rPr sz="1400" b="0" i="0">
                <a:solidFill>
                  <a:srgbClr val="1F2328"/>
                </a:solidFill>
                <a:latin typeface="Courier New"/>
              </a:rPr>
              <a:t>split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c</a:t>
            </a:r>
            <a:r>
              <a:rPr sz="1400" b="0" i="0">
                <a:solidFill>
                  <a:srgbClr val="1F2328"/>
                </a:solidFill>
                <a:latin typeface="Courier New"/>
              </a:rPr>
              <a:t>[</a:t>
            </a:r>
            <a:r>
              <a:rPr sz="1400" b="0" i="0">
                <a:solidFill>
                  <a:srgbClr val="1F2328"/>
                </a:solidFill>
                <a:latin typeface="Courier New"/>
              </a:rPr>
              <a:t>:</a:t>
            </a:r>
            <a:r>
              <a:rPr sz="1400" b="0" i="0">
                <a:solidFill>
                  <a:srgbClr val="3B4046"/>
                </a:solidFill>
                <a:latin typeface="Courier New"/>
              </a:rPr>
              <a:t>42</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a:t>
            </a:r>
            <a:r>
              <a:rPr sz="1400" b="0" i="0">
                <a:solidFill>
                  <a:srgbClr val="1F2328"/>
                </a:solidFill>
                <a:latin typeface="Courier New"/>
              </a:rPr>
              <a:t>)</a:t>
            </a:r>
          </a:p>
          <a:p>
            <a:r>
              <a:rPr sz="1400" b="0" i="0">
                <a:solidFill>
                  <a:srgbClr val="1F2328"/>
                </a:solidFill>
                <a:latin typeface="Courier New"/>
              </a:rPr>
              <a:t>n</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sum</a:t>
            </a:r>
            <a:r>
              <a:rPr sz="1400" b="0" i="0">
                <a:solidFill>
                  <a:srgbClr val="1F2328"/>
                </a:solidFill>
                <a:latin typeface="Courier New"/>
              </a:rPr>
              <a:t>(</a:t>
            </a:r>
            <a:r>
              <a:rPr sz="1400" b="0" i="0">
                <a:solidFill>
                  <a:srgbClr val="1F2328"/>
                </a:solidFill>
                <a:latin typeface="Courier New"/>
              </a:rPr>
              <a:t>c</a:t>
            </a:r>
            <a:r>
              <a:rPr sz="1400" b="0" i="0">
                <a:solidFill>
                  <a:srgbClr val="1F2328"/>
                </a:solidFill>
                <a:latin typeface="Courier New"/>
              </a:rPr>
              <a:t>.</a:t>
            </a:r>
            <a:r>
              <a:rPr sz="1400" b="0" i="0">
                <a:solidFill>
                  <a:srgbClr val="1F2328"/>
                </a:solidFill>
                <a:latin typeface="Courier New"/>
              </a:rPr>
              <a:t>count</a:t>
            </a:r>
            <a:r>
              <a:rPr sz="1400" b="0" i="0">
                <a:solidFill>
                  <a:srgbClr val="1F2328"/>
                </a:solidFill>
                <a:latin typeface="Courier New"/>
              </a:rPr>
              <a:t>(</a:t>
            </a:r>
            <a:r>
              <a:rPr sz="1400" b="0" i="0">
                <a:solidFill>
                  <a:srgbClr val="B04A2B"/>
                </a:solidFill>
                <a:latin typeface="Courier New"/>
              </a:rPr>
              <a:t>'Classification'</a:t>
            </a:r>
            <a:r>
              <a:rPr sz="1400" b="0" i="0">
                <a:solidFill>
                  <a:srgbClr val="1F2328"/>
                </a:solidFill>
                <a:latin typeface="Courier New"/>
              </a:rPr>
              <a:t>)</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c</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chunks</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n</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'footers inside chunks'</a:t>
            </a:r>
            <a:r>
              <a:rPr sz="1400" b="0" i="0">
                <a:solidFill>
                  <a:srgbClr val="1F2328"/>
                </a:solidFill>
                <a:latin typeface="Courier New"/>
              </a:rPr>
              <a:t>)</a:t>
            </a:r>
          </a:p>
        </p:txBody>
      </p:sp>
      <p:grpSp>
        <p:nvGrpSpPr>
          <p:cNvPr id="7" name="output"/>
          <p:cNvGrpSpPr/>
          <p:nvPr/>
        </p:nvGrpSpPr>
        <p:grpSpPr>
          <a:xfrm>
            <a:off x="685800" y="4154424"/>
            <a:ext cx="6949440" cy="1377696"/>
            <a:chOff x="685800" y="4154424"/>
            <a:chExt cx="6949440" cy="1377696"/>
          </a:xfrm>
        </p:grpSpPr>
        <p:sp>
          <p:nvSpPr>
            <p:cNvPr id="8" name="TextBox 7"/>
            <p:cNvSpPr txBox="1"/>
            <p:nvPr/>
          </p:nvSpPr>
          <p:spPr>
            <a:xfrm>
              <a:off x="685800" y="41544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410456"/>
              <a:ext cx="6949440" cy="1121664"/>
            </a:xfrm>
            <a:prstGeom prst="rect">
              <a:avLst/>
            </a:prstGeom>
            <a:solidFill>
              <a:srgbClr val="F5F3EF"/>
            </a:solidFill>
            <a:ln>
              <a:noFill/>
            </a:ln>
          </p:spPr>
          <p:txBody>
            <a:bodyPr rtlCol="0" anchor="ctr"/>
            <a:lstStyle/>
            <a:p>
              <a:pPr algn="ctr"/>
            </a:p>
          </p:txBody>
        </p:sp>
        <p:sp>
          <p:nvSpPr>
            <p:cNvPr id="10" name="TextBox 9"/>
            <p:cNvSpPr txBox="1"/>
            <p:nvPr/>
          </p:nvSpPr>
          <p:spPr>
            <a:xfrm>
              <a:off x="868680" y="4501896"/>
              <a:ext cx="6675120" cy="1011936"/>
            </a:xfrm>
            <a:prstGeom prst="rect">
              <a:avLst/>
            </a:prstGeom>
            <a:noFill/>
          </p:spPr>
          <p:txBody>
            <a:bodyPr wrap="none" lIns="0" rIns="0" tIns="0" bIns="0">
              <a:spAutoFit/>
            </a:bodyPr>
            <a:lstStyle/>
            <a:p>
              <a:r>
                <a:rPr sz="1400" b="0" i="0">
                  <a:solidFill>
                    <a:srgbClr val="1F2328"/>
                  </a:solidFill>
                  <a:latin typeface="Courier New"/>
                </a:rPr>
                <a:t>436 words -&gt; 3 chunks</a:t>
              </a:r>
            </a:p>
            <a:p>
              <a:r>
                <a:rPr sz="1400" b="0" i="0">
                  <a:solidFill>
                    <a:srgbClr val="1F2328"/>
                  </a:solidFill>
                  <a:latin typeface="Courier New"/>
                </a:rPr>
                <a:t>200 Kitara Group Staff Handbook 2025 This hand ...</a:t>
              </a:r>
            </a:p>
            <a:p>
              <a:r>
                <a:rPr sz="1400" b="0" i="0">
                  <a:solidFill>
                    <a:srgbClr val="1F2328"/>
                  </a:solidFill>
                  <a:latin typeface="Courier New"/>
                </a:rPr>
                <a:t>200 carried forward until 31 March of the next ...</a:t>
              </a:r>
            </a:p>
            <a:p>
              <a:r>
                <a:rPr sz="1400" b="0" i="0">
                  <a:solidFill>
                    <a:srgbClr val="1F2328"/>
                  </a:solidFill>
                  <a:latin typeface="Courier New"/>
                </a:rPr>
                <a:t>116 than UGX 100,000 must be declared to Human ...</a:t>
              </a:r>
            </a:p>
            <a:p>
              <a:r>
                <a:rPr sz="1400" b="0" i="0">
                  <a:solidFill>
                    <a:srgbClr val="1F2328"/>
                  </a:solidFill>
                  <a:latin typeface="Courier New"/>
                </a:rPr>
                <a:t>2 footers inside chunks</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Extract the text once, then cut it: 200 words per chunk, 40 shared.</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Each chunk is printed with its length and its first words.</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Count the header and footer lines that ended up inside chunks.</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Where to cut: by word count or by heading</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From documents to clean text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Fixed size</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Counts words and cuts</a:t>
              </a:r>
            </a:p>
          </p:txBody>
        </p:sp>
        <p:cxnSp>
          <p:nvCxnSpPr>
            <p:cNvPr id="10" name="Connector 9"/>
            <p:cNvCxnSpPr/>
            <p:nvPr/>
          </p:nvCxnSpPr>
          <p:spPr>
            <a:xfrm>
              <a:off x="685800" y="2926080"/>
              <a:ext cx="5090007" cy="0"/>
            </a:xfrm>
            <a:prstGeom prst="line">
              <a:avLst/>
            </a:prstGeom>
            <a:ln w="6350">
              <a:solidFill>
                <a:srgbClr val="C9C5BC"/>
              </a:solidFill>
            </a:ln>
          </p:spPr>
        </p:cxnSp>
        <p:sp>
          <p:nvSpPr>
            <p:cNvPr id="11" name="TextBox 10"/>
            <p:cNvSpPr txBox="1"/>
            <p:nvPr/>
          </p:nvSpPr>
          <p:spPr>
            <a:xfrm>
              <a:off x="685800" y="29626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Works on any file</a:t>
              </a:r>
            </a:p>
          </p:txBody>
        </p:sp>
        <p:cxnSp>
          <p:nvCxnSpPr>
            <p:cNvPr id="12" name="Connector 11"/>
            <p:cNvCxnSpPr/>
            <p:nvPr/>
          </p:nvCxnSpPr>
          <p:spPr>
            <a:xfrm>
              <a:off x="685800" y="3611880"/>
              <a:ext cx="5090007" cy="0"/>
            </a:xfrm>
            <a:prstGeom prst="line">
              <a:avLst/>
            </a:prstGeom>
            <a:ln w="6350">
              <a:solidFill>
                <a:srgbClr val="C9C5BC"/>
              </a:solidFill>
            </a:ln>
          </p:spPr>
        </p:cxnSp>
        <p:sp>
          <p:nvSpPr>
            <p:cNvPr id="13" name="TextBox 12"/>
            <p:cNvSpPr txBox="1"/>
            <p:nvPr/>
          </p:nvSpPr>
          <p:spPr>
            <a:xfrm>
              <a:off x="685800" y="36484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A cut can fall inside a rule</a:t>
              </a:r>
            </a:p>
          </p:txBody>
        </p:sp>
        <p:cxnSp>
          <p:nvCxnSpPr>
            <p:cNvPr id="14" name="Connector 13"/>
            <p:cNvCxnSpPr/>
            <p:nvPr/>
          </p:nvCxnSpPr>
          <p:spPr>
            <a:xfrm>
              <a:off x="685800" y="4297680"/>
              <a:ext cx="5090007" cy="0"/>
            </a:xfrm>
            <a:prstGeom prst="line">
              <a:avLst/>
            </a:prstGeom>
            <a:ln w="6350">
              <a:solidFill>
                <a:srgbClr val="C9C5BC"/>
              </a:solidFill>
            </a:ln>
          </p:spPr>
        </p:cxnSp>
        <p:sp>
          <p:nvSpPr>
            <p:cNvPr id="15" name="TextBox 14"/>
            <p:cNvSpPr txBox="1"/>
            <p:nvPr/>
          </p:nvSpPr>
          <p:spPr>
            <a:xfrm>
              <a:off x="685800" y="43342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Header and footer text rides along</a:t>
              </a:r>
            </a:p>
          </p:txBody>
        </p:sp>
      </p:grpSp>
      <p:grpSp>
        <p:nvGrpSpPr>
          <p:cNvPr id="16" name="side-2"/>
          <p:cNvGrpSpPr/>
          <p:nvPr/>
        </p:nvGrpSpPr>
        <p:grpSpPr>
          <a:xfrm>
            <a:off x="6415887" y="1600200"/>
            <a:ext cx="5090008" cy="3364992"/>
            <a:chOff x="6415887" y="1600200"/>
            <a:chExt cx="5090008" cy="3364992"/>
          </a:xfrm>
        </p:grpSpPr>
        <p:sp>
          <p:nvSpPr>
            <p:cNvPr id="17" name="TextBox 16"/>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By headings</a:t>
              </a:r>
            </a:p>
          </p:txBody>
        </p:sp>
        <p:cxnSp>
          <p:nvCxnSpPr>
            <p:cNvPr id="18" name="Connector 17"/>
            <p:cNvCxnSpPr/>
            <p:nvPr/>
          </p:nvCxnSpPr>
          <p:spPr>
            <a:xfrm>
              <a:off x="6415887" y="2167128"/>
              <a:ext cx="5090008" cy="0"/>
            </a:xfrm>
            <a:prstGeom prst="line">
              <a:avLst/>
            </a:prstGeom>
            <a:ln w="15875">
              <a:solidFill>
                <a:srgbClr val="1F2328"/>
              </a:solidFill>
            </a:ln>
          </p:spPr>
        </p:cxnSp>
        <p:sp>
          <p:nvSpPr>
            <p:cNvPr id="19" name="TextBox 18"/>
            <p:cNvSpPr txBox="1"/>
            <p:nvPr/>
          </p:nvSpPr>
          <p:spPr>
            <a:xfrm>
              <a:off x="6415887" y="22768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Cuts where the author put a heading</a:t>
              </a:r>
            </a:p>
          </p:txBody>
        </p:sp>
        <p:cxnSp>
          <p:nvCxnSpPr>
            <p:cNvPr id="20" name="Connector 19"/>
            <p:cNvCxnSpPr/>
            <p:nvPr/>
          </p:nvCxnSpPr>
          <p:spPr>
            <a:xfrm>
              <a:off x="6415887" y="2926080"/>
              <a:ext cx="5090008" cy="0"/>
            </a:xfrm>
            <a:prstGeom prst="line">
              <a:avLst/>
            </a:prstGeom>
            <a:ln w="6350">
              <a:solidFill>
                <a:srgbClr val="C9C5BC"/>
              </a:solidFill>
            </a:ln>
          </p:spPr>
        </p:cxnSp>
        <p:sp>
          <p:nvSpPr>
            <p:cNvPr id="21" name="TextBox 20"/>
            <p:cNvSpPr txBox="1"/>
            <p:nvPr/>
          </p:nvSpPr>
          <p:spPr>
            <a:xfrm>
              <a:off x="6415887" y="29626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Each chunk is one rule with its title</a:t>
              </a:r>
            </a:p>
          </p:txBody>
        </p:sp>
        <p:cxnSp>
          <p:nvCxnSpPr>
            <p:cNvPr id="22" name="Connector 21"/>
            <p:cNvCxnSpPr/>
            <p:nvPr/>
          </p:nvCxnSpPr>
          <p:spPr>
            <a:xfrm>
              <a:off x="6415887" y="3611880"/>
              <a:ext cx="5090008" cy="0"/>
            </a:xfrm>
            <a:prstGeom prst="line">
              <a:avLst/>
            </a:prstGeom>
            <a:ln w="6350">
              <a:solidFill>
                <a:srgbClr val="C9C5BC"/>
              </a:solidFill>
            </a:ln>
          </p:spPr>
        </p:cxnSp>
        <p:sp>
          <p:nvSpPr>
            <p:cNvPr id="23" name="TextBox 22"/>
            <p:cNvSpPr txBox="1"/>
            <p:nvPr/>
          </p:nvSpPr>
          <p:spPr>
            <a:xfrm>
              <a:off x="6415887" y="36484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Needs headings a program can find</a:t>
              </a:r>
            </a:p>
          </p:txBody>
        </p:sp>
        <p:cxnSp>
          <p:nvCxnSpPr>
            <p:cNvPr id="24" name="Connector 23"/>
            <p:cNvCxnSpPr/>
            <p:nvPr/>
          </p:nvCxnSpPr>
          <p:spPr>
            <a:xfrm>
              <a:off x="6415887" y="4297680"/>
              <a:ext cx="5090008" cy="0"/>
            </a:xfrm>
            <a:prstGeom prst="line">
              <a:avLst/>
            </a:prstGeom>
            <a:ln w="6350">
              <a:solidFill>
                <a:srgbClr val="C9C5BC"/>
              </a:solidFill>
            </a:ln>
          </p:spPr>
        </p:cxnSp>
        <p:sp>
          <p:nvSpPr>
            <p:cNvPr id="25" name="TextBox 24"/>
            <p:cNvSpPr txBox="1"/>
            <p:nvPr/>
          </p:nvSpPr>
          <p:spPr>
            <a:xfrm>
              <a:off x="6415887" y="43342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Long sections still need a size limit</a:t>
              </a:r>
            </a:p>
          </p:txBody>
        </p:sp>
      </p:grpSp>
      <p:grpSp>
        <p:nvGrpSpPr>
          <p:cNvPr id="26" name="verdict"/>
          <p:cNvGrpSpPr/>
          <p:nvPr/>
        </p:nvGrpSpPr>
        <p:grpSpPr>
          <a:xfrm>
            <a:off x="685800" y="5257800"/>
            <a:ext cx="10820095" cy="978408"/>
            <a:chOff x="685800" y="5257800"/>
            <a:chExt cx="10820095" cy="978408"/>
          </a:xfrm>
        </p:grpSpPr>
        <p:cxnSp>
          <p:nvCxnSpPr>
            <p:cNvPr id="27" name="Connector 26"/>
            <p:cNvCxnSpPr/>
            <p:nvPr/>
          </p:nvCxnSpPr>
          <p:spPr>
            <a:xfrm>
              <a:off x="685800" y="5257800"/>
              <a:ext cx="10820095" cy="0"/>
            </a:xfrm>
            <a:prstGeom prst="line">
              <a:avLst/>
            </a:prstGeom>
            <a:ln w="15875">
              <a:solidFill>
                <a:srgbClr val="1F2328"/>
              </a:solidFill>
            </a:ln>
          </p:spPr>
        </p:cxnSp>
        <p:sp>
          <p:nvSpPr>
            <p:cNvPr id="28" name="TextBox 27"/>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Start with fixed size. Move to headings when test answers come back as half a rule.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Cut by numbered headings and drop the footers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From documents to clean text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sp>
        <p:nvSpPr>
          <p:cNvPr id="5" name="Rectangle 4"/>
          <p:cNvSpPr/>
          <p:nvPr/>
        </p:nvSpPr>
        <p:spPr>
          <a:xfrm>
            <a:off x="685800" y="1600200"/>
            <a:ext cx="6949440" cy="287121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596896"/>
          </a:xfrm>
          <a:prstGeom prst="rect">
            <a:avLst/>
          </a:prstGeom>
          <a:noFill/>
        </p:spPr>
        <p:txBody>
          <a:bodyPr wrap="none" lIns="0" rIns="0" tIns="0" bIns="0">
            <a:spAutoFit/>
          </a:bodyPr>
          <a:lstStyle/>
          <a:p>
            <a:r>
              <a:rPr sz="1400" b="1" i="0">
                <a:solidFill>
                  <a:srgbClr val="1F2328"/>
                </a:solidFill>
                <a:latin typeface="Courier New"/>
              </a:rPr>
              <a:t>import</a:t>
            </a:r>
            <a:r>
              <a:rPr sz="1400" b="0" i="0">
                <a:solidFill>
                  <a:srgbClr val="1F2328"/>
                </a:solidFill>
                <a:latin typeface="Courier New"/>
              </a:rPr>
              <a:t> </a:t>
            </a:r>
            <a:r>
              <a:rPr sz="1400" b="0" i="0">
                <a:solidFill>
                  <a:srgbClr val="1F2328"/>
                </a:solidFill>
                <a:latin typeface="Courier New"/>
              </a:rPr>
              <a:t>re</a:t>
            </a:r>
          </a:p>
          <a:p>
            <a:r>
              <a:rPr sz="1400" b="1" i="0">
                <a:solidFill>
                  <a:srgbClr val="1F2328"/>
                </a:solidFill>
                <a:latin typeface="Courier New"/>
              </a:rPr>
              <a:t>import</a:t>
            </a:r>
            <a:r>
              <a:rPr sz="1400" b="0" i="0">
                <a:solidFill>
                  <a:srgbClr val="1F2328"/>
                </a:solidFill>
                <a:latin typeface="Courier New"/>
              </a:rPr>
              <a:t> </a:t>
            </a:r>
            <a:r>
              <a:rPr sz="1400" b="0" i="0">
                <a:solidFill>
                  <a:srgbClr val="1F2328"/>
                </a:solidFill>
                <a:latin typeface="Courier New"/>
              </a:rPr>
              <a:t>kitara_search</a:t>
            </a:r>
            <a:r>
              <a:rPr sz="1400" b="0" i="0">
                <a:solidFill>
                  <a:srgbClr val="1F2328"/>
                </a:solidFill>
                <a:latin typeface="Courier New"/>
              </a:rPr>
              <a:t> </a:t>
            </a:r>
            <a:r>
              <a:rPr sz="1400" b="1" i="0">
                <a:solidFill>
                  <a:srgbClr val="1F2328"/>
                </a:solidFill>
                <a:latin typeface="Courier New"/>
              </a:rPr>
              <a:t>as</a:t>
            </a:r>
            <a:r>
              <a:rPr sz="1400" b="0" i="0">
                <a:solidFill>
                  <a:srgbClr val="1F2328"/>
                </a:solidFill>
                <a:latin typeface="Courier New"/>
              </a:rPr>
              <a:t> </a:t>
            </a:r>
            <a:r>
              <a:rPr sz="1400" b="0" i="0">
                <a:solidFill>
                  <a:srgbClr val="1F2328"/>
                </a:solidFill>
                <a:latin typeface="Courier New"/>
              </a:rPr>
              <a:t>ks</a:t>
            </a:r>
          </a:p>
          <a:p>
            <a:r>
              <a:rPr sz="1400" b="0" i="0">
                <a:solidFill>
                  <a:srgbClr val="1F2328"/>
                </a:solidFill>
                <a:latin typeface="Courier New"/>
              </a:rPr>
              <a:t> </a:t>
            </a:r>
          </a:p>
          <a:p>
            <a:r>
              <a:rPr sz="1400" b="0" i="0">
                <a:solidFill>
                  <a:srgbClr val="1F2328"/>
                </a:solidFill>
                <a:latin typeface="Courier New"/>
              </a:rPr>
              <a:t>path</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'docs/policies/Staff Handbook 2025.pdf'</a:t>
            </a:r>
          </a:p>
          <a:p>
            <a:r>
              <a:rPr sz="1400" b="0" i="0">
                <a:solidFill>
                  <a:srgbClr val="1F2328"/>
                </a:solidFill>
                <a:latin typeface="Courier New"/>
              </a:rPr>
              <a:t>skip</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B04A2B"/>
                </a:solidFill>
                <a:latin typeface="Courier New"/>
              </a:rPr>
              <a:t>'KITARA'</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'Classif'</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'Page '</a:t>
            </a:r>
            <a:r>
              <a:rPr sz="1400" b="0" i="0">
                <a:solidFill>
                  <a:srgbClr val="1F2328"/>
                </a:solidFill>
                <a:latin typeface="Courier New"/>
              </a:rPr>
              <a:t>)</a:t>
            </a:r>
          </a:p>
          <a:p>
            <a:r>
              <a:rPr sz="1400" b="0" i="0">
                <a:solidFill>
                  <a:srgbClr val="1F2328"/>
                </a:solidFill>
                <a:latin typeface="Courier New"/>
              </a:rPr>
              <a:t>lines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ks</a:t>
            </a:r>
            <a:r>
              <a:rPr sz="1400" b="0" i="0">
                <a:solidFill>
                  <a:srgbClr val="1F2328"/>
                </a:solidFill>
                <a:latin typeface="Courier New"/>
              </a:rPr>
              <a:t>.</a:t>
            </a:r>
            <a:r>
              <a:rPr sz="1400" b="0" i="0">
                <a:solidFill>
                  <a:srgbClr val="1F2328"/>
                </a:solidFill>
                <a:latin typeface="Courier New"/>
              </a:rPr>
              <a:t>extract_text</a:t>
            </a:r>
            <a:r>
              <a:rPr sz="1400" b="0" i="0">
                <a:solidFill>
                  <a:srgbClr val="1F2328"/>
                </a:solidFill>
                <a:latin typeface="Courier New"/>
              </a:rPr>
              <a:t>(</a:t>
            </a:r>
            <a:r>
              <a:rPr sz="1400" b="0" i="0">
                <a:solidFill>
                  <a:srgbClr val="1F2328"/>
                </a:solidFill>
                <a:latin typeface="Courier New"/>
              </a:rPr>
              <a:t>path</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splitlines</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keep</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l</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l</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lines</a:t>
            </a:r>
            <a:r>
              <a:rPr sz="1400" b="0" i="0">
                <a:solidFill>
                  <a:srgbClr val="1F2328"/>
                </a:solidFill>
                <a:latin typeface="Courier New"/>
              </a:rPr>
              <a:t> </a:t>
            </a:r>
            <a:r>
              <a:rPr sz="1400" b="1" i="0">
                <a:solidFill>
                  <a:srgbClr val="1F2328"/>
                </a:solidFill>
                <a:latin typeface="Courier New"/>
              </a:rPr>
              <a:t>if</a:t>
            </a:r>
            <a:r>
              <a:rPr sz="1400" b="0" i="0">
                <a:solidFill>
                  <a:srgbClr val="1F2328"/>
                </a:solidFill>
                <a:latin typeface="Courier New"/>
              </a:rPr>
              <a:t> </a:t>
            </a:r>
            <a:r>
              <a:rPr sz="1400" b="1" i="0">
                <a:solidFill>
                  <a:srgbClr val="1F2328"/>
                </a:solidFill>
                <a:latin typeface="Courier New"/>
              </a:rPr>
              <a:t>not</a:t>
            </a:r>
            <a:r>
              <a:rPr sz="1400" b="0" i="0">
                <a:solidFill>
                  <a:srgbClr val="1F2328"/>
                </a:solidFill>
                <a:latin typeface="Courier New"/>
              </a:rPr>
              <a:t> </a:t>
            </a:r>
            <a:r>
              <a:rPr sz="1400" b="0" i="0">
                <a:solidFill>
                  <a:srgbClr val="1F2328"/>
                </a:solidFill>
                <a:latin typeface="Courier New"/>
              </a:rPr>
              <a:t>l</a:t>
            </a:r>
            <a:r>
              <a:rPr sz="1400" b="0" i="0">
                <a:solidFill>
                  <a:srgbClr val="1F2328"/>
                </a:solidFill>
                <a:latin typeface="Courier New"/>
              </a:rPr>
              <a:t>.</a:t>
            </a:r>
            <a:r>
              <a:rPr sz="1400" b="0" i="0">
                <a:solidFill>
                  <a:srgbClr val="1F2328"/>
                </a:solidFill>
                <a:latin typeface="Courier New"/>
              </a:rPr>
              <a:t>startswith</a:t>
            </a:r>
            <a:r>
              <a:rPr sz="1400" b="0" i="0">
                <a:solidFill>
                  <a:srgbClr val="1F2328"/>
                </a:solidFill>
                <a:latin typeface="Courier New"/>
              </a:rPr>
              <a:t>(</a:t>
            </a:r>
            <a:r>
              <a:rPr sz="1400" b="0" i="0">
                <a:solidFill>
                  <a:srgbClr val="1F2328"/>
                </a:solidFill>
                <a:latin typeface="Courier New"/>
              </a:rPr>
              <a:t>skip</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parts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re</a:t>
            </a:r>
            <a:r>
              <a:rPr sz="1400" b="0" i="0">
                <a:solidFill>
                  <a:srgbClr val="1F2328"/>
                </a:solidFill>
                <a:latin typeface="Courier New"/>
              </a:rPr>
              <a:t>.</a:t>
            </a:r>
            <a:r>
              <a:rPr sz="1400" b="0" i="0">
                <a:solidFill>
                  <a:srgbClr val="1F2328"/>
                </a:solidFill>
                <a:latin typeface="Courier New"/>
              </a:rPr>
              <a:t>split</a:t>
            </a:r>
            <a:r>
              <a:rPr sz="1400" b="0" i="0">
                <a:solidFill>
                  <a:srgbClr val="1F2328"/>
                </a:solidFill>
                <a:latin typeface="Courier New"/>
              </a:rPr>
              <a:t>(</a:t>
            </a:r>
            <a:r>
              <a:rPr sz="1400" b="0" i="0">
                <a:solidFill>
                  <a:srgbClr val="1F2328"/>
                </a:solidFill>
                <a:latin typeface="Courier New"/>
              </a:rPr>
              <a:t>r</a:t>
            </a:r>
            <a:r>
              <a:rPr sz="1400" b="0" i="0">
                <a:solidFill>
                  <a:srgbClr val="B04A2B"/>
                </a:solidFill>
                <a:latin typeface="Courier New"/>
              </a:rPr>
              <a:t>'\n(?=\d+\. [A-Z])'</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'\n'</a:t>
            </a:r>
            <a:r>
              <a:rPr sz="1400" b="0" i="0">
                <a:solidFill>
                  <a:srgbClr val="1F2328"/>
                </a:solidFill>
                <a:latin typeface="Courier New"/>
              </a:rPr>
              <a:t>.</a:t>
            </a:r>
            <a:r>
              <a:rPr sz="1400" b="0" i="0">
                <a:solidFill>
                  <a:srgbClr val="1F2328"/>
                </a:solidFill>
                <a:latin typeface="Courier New"/>
              </a:rPr>
              <a:t>join</a:t>
            </a:r>
            <a:r>
              <a:rPr sz="1400" b="0" i="0">
                <a:solidFill>
                  <a:srgbClr val="1F2328"/>
                </a:solidFill>
                <a:latin typeface="Courier New"/>
              </a:rPr>
              <a:t>(</a:t>
            </a:r>
            <a:r>
              <a:rPr sz="1400" b="0" i="0">
                <a:solidFill>
                  <a:srgbClr val="1F2328"/>
                </a:solidFill>
                <a:latin typeface="Courier New"/>
              </a:rPr>
              <a:t>keep</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len</a:t>
            </a:r>
            <a:r>
              <a:rPr sz="1400" b="0" i="0">
                <a:solidFill>
                  <a:srgbClr val="1F2328"/>
                </a:solidFill>
                <a:latin typeface="Courier New"/>
              </a:rPr>
              <a:t>(</a:t>
            </a:r>
            <a:r>
              <a:rPr sz="1400" b="0" i="0">
                <a:solidFill>
                  <a:srgbClr val="1F2328"/>
                </a:solidFill>
                <a:latin typeface="Courier New"/>
              </a:rPr>
              <a:t>parts</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1</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'numbered sections'</a:t>
            </a:r>
            <a:r>
              <a:rPr sz="1400" b="0" i="0">
                <a:solidFill>
                  <a:srgbClr val="1F2328"/>
                </a:solidFill>
                <a:latin typeface="Courier New"/>
              </a:rPr>
              <a:t>)</a:t>
            </a:r>
          </a:p>
          <a:p>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s</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parts</a:t>
            </a:r>
            <a:r>
              <a:rPr sz="1400" b="0" i="0">
                <a:solidFill>
                  <a:srgbClr val="1F2328"/>
                </a:solidFill>
                <a:latin typeface="Courier New"/>
              </a:rPr>
              <a:t>[</a:t>
            </a:r>
            <a:r>
              <a:rPr sz="1400" b="0" i="0">
                <a:solidFill>
                  <a:srgbClr val="3B4046"/>
                </a:solidFill>
                <a:latin typeface="Courier New"/>
              </a:rPr>
              <a:t>2</a:t>
            </a:r>
            <a:r>
              <a:rPr sz="1400" b="0" i="0">
                <a:solidFill>
                  <a:srgbClr val="1F2328"/>
                </a:solidFill>
                <a:latin typeface="Courier New"/>
              </a:rPr>
              <a:t>:</a:t>
            </a:r>
            <a:r>
              <a:rPr sz="1400" b="0" i="0">
                <a:solidFill>
                  <a:srgbClr val="3B4046"/>
                </a:solidFill>
                <a:latin typeface="Courier New"/>
              </a:rPr>
              <a:t>5</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len</a:t>
            </a:r>
            <a:r>
              <a:rPr sz="1400" b="0" i="0">
                <a:solidFill>
                  <a:srgbClr val="1F2328"/>
                </a:solidFill>
                <a:latin typeface="Courier New"/>
              </a:rPr>
              <a:t>(</a:t>
            </a:r>
            <a:r>
              <a:rPr sz="1400" b="0" i="0">
                <a:solidFill>
                  <a:srgbClr val="1F2328"/>
                </a:solidFill>
                <a:latin typeface="Courier New"/>
              </a:rPr>
              <a:t>s</a:t>
            </a:r>
            <a:r>
              <a:rPr sz="1400" b="0" i="0">
                <a:solidFill>
                  <a:srgbClr val="1F2328"/>
                </a:solidFill>
                <a:latin typeface="Courier New"/>
              </a:rPr>
              <a:t>.</a:t>
            </a:r>
            <a:r>
              <a:rPr sz="1400" b="0" i="0">
                <a:solidFill>
                  <a:srgbClr val="1F2328"/>
                </a:solidFill>
                <a:latin typeface="Courier New"/>
              </a:rPr>
              <a:t>split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'words:'</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s</a:t>
            </a:r>
            <a:r>
              <a:rPr sz="1400" b="0" i="0">
                <a:solidFill>
                  <a:srgbClr val="1F2328"/>
                </a:solidFill>
                <a:latin typeface="Courier New"/>
              </a:rPr>
              <a:t>.</a:t>
            </a:r>
            <a:r>
              <a:rPr sz="1400" b="0" i="0">
                <a:solidFill>
                  <a:srgbClr val="1F2328"/>
                </a:solidFill>
                <a:latin typeface="Courier New"/>
              </a:rPr>
              <a:t>splitlines</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3B4046"/>
                </a:solidFill>
                <a:latin typeface="Courier New"/>
              </a:rPr>
              <a:t>0</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sum</a:t>
            </a:r>
            <a:r>
              <a:rPr sz="1400" b="0" i="0">
                <a:solidFill>
                  <a:srgbClr val="1F2328"/>
                </a:solidFill>
                <a:latin typeface="Courier New"/>
              </a:rPr>
              <a:t>(</a:t>
            </a:r>
            <a:r>
              <a:rPr sz="1400" b="0" i="0">
                <a:solidFill>
                  <a:srgbClr val="B04A2B"/>
                </a:solidFill>
                <a:latin typeface="Courier New"/>
              </a:rPr>
              <a:t>'Page '</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s</a:t>
            </a:r>
            <a:r>
              <a:rPr sz="1400" b="0" i="0">
                <a:solidFill>
                  <a:srgbClr val="1F2328"/>
                </a:solidFill>
                <a:latin typeface="Courier New"/>
              </a:rPr>
              <a:t> </a:t>
            </a:r>
            <a:r>
              <a:rPr sz="1400" b="1" i="0">
                <a:solidFill>
                  <a:srgbClr val="1F2328"/>
                </a:solidFill>
                <a:latin typeface="Courier New"/>
              </a:rPr>
              <a:t>for</a:t>
            </a:r>
            <a:r>
              <a:rPr sz="1400" b="0" i="0">
                <a:solidFill>
                  <a:srgbClr val="1F2328"/>
                </a:solidFill>
                <a:latin typeface="Courier New"/>
              </a:rPr>
              <a:t> </a:t>
            </a:r>
            <a:r>
              <a:rPr sz="1400" b="0" i="0">
                <a:solidFill>
                  <a:srgbClr val="1F2328"/>
                </a:solidFill>
                <a:latin typeface="Courier New"/>
              </a:rPr>
              <a:t>s</a:t>
            </a:r>
            <a:r>
              <a:rPr sz="1400" b="0" i="0">
                <a:solidFill>
                  <a:srgbClr val="1F2328"/>
                </a:solidFill>
                <a:latin typeface="Courier New"/>
              </a:rPr>
              <a:t> </a:t>
            </a:r>
            <a:r>
              <a:rPr sz="1400" b="1" i="0">
                <a:solidFill>
                  <a:srgbClr val="1F2328"/>
                </a:solidFill>
                <a:latin typeface="Courier New"/>
              </a:rPr>
              <a:t>in</a:t>
            </a:r>
            <a:r>
              <a:rPr sz="1400" b="0" i="0">
                <a:solidFill>
                  <a:srgbClr val="1F2328"/>
                </a:solidFill>
                <a:latin typeface="Courier New"/>
              </a:rPr>
              <a:t> </a:t>
            </a:r>
            <a:r>
              <a:rPr sz="1400" b="0" i="0">
                <a:solidFill>
                  <a:srgbClr val="1F2328"/>
                </a:solidFill>
                <a:latin typeface="Courier New"/>
              </a:rPr>
              <a:t>parts</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'footers left'</a:t>
            </a:r>
            <a:r>
              <a:rPr sz="1400" b="0" i="0">
                <a:solidFill>
                  <a:srgbClr val="1F2328"/>
                </a:solidFill>
                <a:latin typeface="Courier New"/>
              </a:rPr>
              <a:t>)</a:t>
            </a:r>
          </a:p>
        </p:txBody>
      </p:sp>
      <p:grpSp>
        <p:nvGrpSpPr>
          <p:cNvPr id="7" name="output"/>
          <p:cNvGrpSpPr/>
          <p:nvPr/>
        </p:nvGrpSpPr>
        <p:grpSpPr>
          <a:xfrm>
            <a:off x="685800" y="4581144"/>
            <a:ext cx="6949440" cy="1377696"/>
            <a:chOff x="685800" y="4581144"/>
            <a:chExt cx="6949440" cy="1377696"/>
          </a:xfrm>
        </p:grpSpPr>
        <p:sp>
          <p:nvSpPr>
            <p:cNvPr id="8" name="TextBox 7"/>
            <p:cNvSpPr txBox="1"/>
            <p:nvPr/>
          </p:nvSpPr>
          <p:spPr>
            <a:xfrm>
              <a:off x="685800" y="45811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837176"/>
              <a:ext cx="6949440" cy="1121664"/>
            </a:xfrm>
            <a:prstGeom prst="rect">
              <a:avLst/>
            </a:prstGeom>
            <a:solidFill>
              <a:srgbClr val="F5F3EF"/>
            </a:solidFill>
            <a:ln>
              <a:noFill/>
            </a:ln>
          </p:spPr>
          <p:txBody>
            <a:bodyPr rtlCol="0" anchor="ctr"/>
            <a:lstStyle/>
            <a:p>
              <a:pPr algn="ctr"/>
            </a:p>
          </p:txBody>
        </p:sp>
        <p:sp>
          <p:nvSpPr>
            <p:cNvPr id="10" name="TextBox 9"/>
            <p:cNvSpPr txBox="1"/>
            <p:nvPr/>
          </p:nvSpPr>
          <p:spPr>
            <a:xfrm>
              <a:off x="868680" y="4928616"/>
              <a:ext cx="6675120" cy="1011936"/>
            </a:xfrm>
            <a:prstGeom prst="rect">
              <a:avLst/>
            </a:prstGeom>
            <a:noFill/>
          </p:spPr>
          <p:txBody>
            <a:bodyPr wrap="none" lIns="0" rIns="0" tIns="0" bIns="0">
              <a:spAutoFit/>
            </a:bodyPr>
            <a:lstStyle/>
            <a:p>
              <a:r>
                <a:rPr sz="1400" b="0" i="0">
                  <a:solidFill>
                    <a:srgbClr val="1F2328"/>
                  </a:solidFill>
                  <a:latin typeface="Courier New"/>
                </a:rPr>
                <a:t>9 numbered sections</a:t>
              </a:r>
            </a:p>
            <a:p>
              <a:r>
                <a:rPr sz="1400" b="0" i="0">
                  <a:solidFill>
                    <a:srgbClr val="1F2328"/>
                  </a:solidFill>
                  <a:latin typeface="Courier New"/>
                </a:rPr>
                <a:t>43 words: 2. Probation</a:t>
              </a:r>
            </a:p>
            <a:p>
              <a:r>
                <a:rPr sz="1400" b="0" i="0">
                  <a:solidFill>
                    <a:srgbClr val="1F2328"/>
                  </a:solidFill>
                  <a:latin typeface="Courier New"/>
                </a:rPr>
                <a:t>54 words: 3. Annual leave</a:t>
              </a:r>
            </a:p>
            <a:p>
              <a:r>
                <a:rPr sz="1400" b="0" i="0">
                  <a:solidFill>
                    <a:srgbClr val="1F2328"/>
                  </a:solidFill>
                  <a:latin typeface="Courier New"/>
                </a:rPr>
                <a:t>44 words: 4. Other leave</a:t>
              </a:r>
            </a:p>
            <a:p>
              <a:r>
                <a:rPr sz="1400" b="0" i="0">
                  <a:solidFill>
                    <a:srgbClr val="1F2328"/>
                  </a:solidFill>
                  <a:latin typeface="Courier New"/>
                </a:rPr>
                <a:t>0 footers left</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Remove lines that start with the header or footer words.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One pattern cuts before every line like '2. Probation'.</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Nine sections. Each chunk starts at its heading and no footer is left.</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Attach labels to every chunk</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From documents to clean text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sp>
        <p:nvSpPr>
          <p:cNvPr id="5" name="Rectangle 4"/>
          <p:cNvSpPr/>
          <p:nvPr/>
        </p:nvSpPr>
        <p:spPr>
          <a:xfrm>
            <a:off x="685800" y="1600200"/>
            <a:ext cx="6949440" cy="24444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170176"/>
          </a:xfrm>
          <a:prstGeom prst="rect">
            <a:avLst/>
          </a:prstGeom>
          <a:noFill/>
        </p:spPr>
        <p:txBody>
          <a:bodyPr wrap="none" lIns="0" rIns="0" tIns="0" bIns="0">
            <a:spAutoFit/>
          </a:bodyPr>
          <a:lstStyle/>
          <a:p>
            <a:r>
              <a:rPr sz="1400" b="1" i="0">
                <a:solidFill>
                  <a:srgbClr val="1F2328"/>
                </a:solidFill>
                <a:latin typeface="Courier New"/>
              </a:rPr>
              <a:t>import</a:t>
            </a:r>
            <a:r>
              <a:rPr sz="1400" b="0" i="0">
                <a:solidFill>
                  <a:srgbClr val="1F2328"/>
                </a:solidFill>
                <a:latin typeface="Courier New"/>
              </a:rPr>
              <a:t> </a:t>
            </a:r>
            <a:r>
              <a:rPr sz="1400" b="0" i="0">
                <a:solidFill>
                  <a:srgbClr val="1F2328"/>
                </a:solidFill>
                <a:latin typeface="Courier New"/>
              </a:rPr>
              <a:t>pandas</a:t>
            </a:r>
            <a:r>
              <a:rPr sz="1400" b="0" i="0">
                <a:solidFill>
                  <a:srgbClr val="1F2328"/>
                </a:solidFill>
                <a:latin typeface="Courier New"/>
              </a:rPr>
              <a:t> </a:t>
            </a:r>
            <a:r>
              <a:rPr sz="1400" b="1" i="0">
                <a:solidFill>
                  <a:srgbClr val="1F2328"/>
                </a:solidFill>
                <a:latin typeface="Courier New"/>
              </a:rPr>
              <a:t>as</a:t>
            </a:r>
            <a:r>
              <a:rPr sz="1400" b="0" i="0">
                <a:solidFill>
                  <a:srgbClr val="1F2328"/>
                </a:solidFill>
                <a:latin typeface="Courier New"/>
              </a:rPr>
              <a:t> </a:t>
            </a:r>
            <a:r>
              <a:rPr sz="1400" b="0" i="0">
                <a:solidFill>
                  <a:srgbClr val="1F2328"/>
                </a:solidFill>
                <a:latin typeface="Courier New"/>
              </a:rPr>
              <a:t>pd</a:t>
            </a:r>
          </a:p>
          <a:p>
            <a:r>
              <a:rPr sz="1400" b="1" i="0">
                <a:solidFill>
                  <a:srgbClr val="1F2328"/>
                </a:solidFill>
                <a:latin typeface="Courier New"/>
              </a:rPr>
              <a:t>import</a:t>
            </a:r>
            <a:r>
              <a:rPr sz="1400" b="0" i="0">
                <a:solidFill>
                  <a:srgbClr val="1F2328"/>
                </a:solidFill>
                <a:latin typeface="Courier New"/>
              </a:rPr>
              <a:t> </a:t>
            </a:r>
            <a:r>
              <a:rPr sz="1400" b="0" i="0">
                <a:solidFill>
                  <a:srgbClr val="1F2328"/>
                </a:solidFill>
                <a:latin typeface="Courier New"/>
              </a:rPr>
              <a:t>kitara_search</a:t>
            </a:r>
            <a:r>
              <a:rPr sz="1400" b="0" i="0">
                <a:solidFill>
                  <a:srgbClr val="1F2328"/>
                </a:solidFill>
                <a:latin typeface="Courier New"/>
              </a:rPr>
              <a:t> </a:t>
            </a:r>
            <a:r>
              <a:rPr sz="1400" b="1" i="0">
                <a:solidFill>
                  <a:srgbClr val="1F2328"/>
                </a:solidFill>
                <a:latin typeface="Courier New"/>
              </a:rPr>
              <a:t>as</a:t>
            </a:r>
            <a:r>
              <a:rPr sz="1400" b="0" i="0">
                <a:solidFill>
                  <a:srgbClr val="1F2328"/>
                </a:solidFill>
                <a:latin typeface="Courier New"/>
              </a:rPr>
              <a:t> </a:t>
            </a:r>
            <a:r>
              <a:rPr sz="1400" b="0" i="0">
                <a:solidFill>
                  <a:srgbClr val="1F2328"/>
                </a:solidFill>
                <a:latin typeface="Courier New"/>
              </a:rPr>
              <a:t>ks</a:t>
            </a:r>
          </a:p>
          <a:p>
            <a:r>
              <a:rPr sz="1400" b="0" i="0">
                <a:solidFill>
                  <a:srgbClr val="1F2328"/>
                </a:solidFill>
                <a:latin typeface="Courier New"/>
              </a:rPr>
              <a:t> </a:t>
            </a:r>
          </a:p>
          <a:p>
            <a:r>
              <a:rPr sz="1400" b="0" i="0">
                <a:solidFill>
                  <a:srgbClr val="1F2328"/>
                </a:solidFill>
                <a:latin typeface="Courier New"/>
              </a:rPr>
              <a:t>meta</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pd</a:t>
            </a:r>
            <a:r>
              <a:rPr sz="1400" b="0" i="0">
                <a:solidFill>
                  <a:srgbClr val="1F2328"/>
                </a:solidFill>
                <a:latin typeface="Courier New"/>
              </a:rPr>
              <a:t>.</a:t>
            </a:r>
            <a:r>
              <a:rPr sz="1400" b="0" i="0">
                <a:solidFill>
                  <a:srgbClr val="1F2328"/>
                </a:solidFill>
                <a:latin typeface="Courier New"/>
              </a:rPr>
              <a:t>read_csv</a:t>
            </a:r>
            <a:r>
              <a:rPr sz="1400" b="0" i="0">
                <a:solidFill>
                  <a:srgbClr val="1F2328"/>
                </a:solidFill>
                <a:latin typeface="Courier New"/>
              </a:rPr>
              <a:t>(</a:t>
            </a:r>
            <a:r>
              <a:rPr sz="1400" b="0" i="0">
                <a:solidFill>
                  <a:srgbClr val="B04A2B"/>
                </a:solidFill>
                <a:latin typeface="Courier New"/>
              </a:rPr>
              <a:t>'docs_metadata.csv'</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dtype</a:t>
            </a:r>
            <a:r>
              <a:rPr sz="1400" b="0" i="0">
                <a:solidFill>
                  <a:srgbClr val="1F2328"/>
                </a:solidFill>
                <a:latin typeface="Courier New"/>
              </a:rPr>
              <a:t>=</a:t>
            </a:r>
            <a:r>
              <a:rPr sz="1400" b="0" i="0">
                <a:solidFill>
                  <a:srgbClr val="1F2328"/>
                </a:solidFill>
                <a:latin typeface="Courier New"/>
              </a:rPr>
              <a:t>str</a:t>
            </a:r>
            <a:r>
              <a:rPr sz="1400" b="0" i="0">
                <a:solidFill>
                  <a:srgbClr val="1F2328"/>
                </a:solidFill>
                <a:latin typeface="Courier New"/>
              </a:rPr>
              <a:t>)</a:t>
            </a:r>
          </a:p>
          <a:p>
            <a:r>
              <a:rPr sz="1400" b="0" i="0">
                <a:solidFill>
                  <a:srgbClr val="1F2328"/>
                </a:solidFill>
                <a:latin typeface="Courier New"/>
              </a:rPr>
              <a:t>ids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B04A2B"/>
                </a:solidFill>
                <a:latin typeface="Courier New"/>
              </a:rPr>
              <a:t>'D001'</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'D003'</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'D004'</a:t>
            </a:r>
            <a:r>
              <a:rPr sz="1400" b="0" i="0">
                <a:solidFill>
                  <a:srgbClr val="1F2328"/>
                </a:solidFill>
                <a:latin typeface="Courier New"/>
              </a:rPr>
              <a:t>]</a:t>
            </a:r>
          </a:p>
          <a:p>
            <a:r>
              <a:rPr sz="1400" b="0" i="0">
                <a:solidFill>
                  <a:srgbClr val="1F2328"/>
                </a:solidFill>
                <a:latin typeface="Courier New"/>
              </a:rPr>
              <a:t>three</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meta</a:t>
            </a:r>
            <a:r>
              <a:rPr sz="1400" b="0" i="0">
                <a:solidFill>
                  <a:srgbClr val="1F2328"/>
                </a:solidFill>
                <a:latin typeface="Courier New"/>
              </a:rPr>
              <a:t>[</a:t>
            </a:r>
            <a:r>
              <a:rPr sz="1400" b="0" i="0">
                <a:solidFill>
                  <a:srgbClr val="1F2328"/>
                </a:solidFill>
                <a:latin typeface="Courier New"/>
              </a:rPr>
              <a:t>meta</a:t>
            </a:r>
            <a:r>
              <a:rPr sz="1400" b="0" i="0">
                <a:solidFill>
                  <a:srgbClr val="1F2328"/>
                </a:solidFill>
                <a:latin typeface="Courier New"/>
              </a:rPr>
              <a:t>.</a:t>
            </a:r>
            <a:r>
              <a:rPr sz="1400" b="0" i="0">
                <a:solidFill>
                  <a:srgbClr val="1F2328"/>
                </a:solidFill>
                <a:latin typeface="Courier New"/>
              </a:rPr>
              <a:t>doc_id</a:t>
            </a:r>
            <a:r>
              <a:rPr sz="1400" b="0" i="0">
                <a:solidFill>
                  <a:srgbClr val="1F2328"/>
                </a:solidFill>
                <a:latin typeface="Courier New"/>
              </a:rPr>
              <a:t>.</a:t>
            </a:r>
            <a:r>
              <a:rPr sz="1400" b="0" i="0">
                <a:solidFill>
                  <a:srgbClr val="1F2328"/>
                </a:solidFill>
                <a:latin typeface="Courier New"/>
              </a:rPr>
              <a:t>isin</a:t>
            </a:r>
            <a:r>
              <a:rPr sz="1400" b="0" i="0">
                <a:solidFill>
                  <a:srgbClr val="1F2328"/>
                </a:solidFill>
                <a:latin typeface="Courier New"/>
              </a:rPr>
              <a:t>(</a:t>
            </a:r>
            <a:r>
              <a:rPr sz="1400" b="0" i="0">
                <a:solidFill>
                  <a:srgbClr val="1F2328"/>
                </a:solidFill>
                <a:latin typeface="Courier New"/>
              </a:rPr>
              <a:t>ids</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copy</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paths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'docs/'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three</a:t>
            </a:r>
            <a:r>
              <a:rPr sz="1400" b="0" i="0">
                <a:solidFill>
                  <a:srgbClr val="1F2328"/>
                </a:solidFill>
                <a:latin typeface="Courier New"/>
              </a:rPr>
              <a:t>.</a:t>
            </a:r>
            <a:r>
              <a:rPr sz="1400" b="0" i="0">
                <a:solidFill>
                  <a:srgbClr val="1F2328"/>
                </a:solidFill>
                <a:latin typeface="Courier New"/>
              </a:rPr>
              <a:t>file</a:t>
            </a:r>
          </a:p>
          <a:p>
            <a:r>
              <a:rPr sz="1400" b="0" i="0">
                <a:solidFill>
                  <a:srgbClr val="1F2328"/>
                </a:solidFill>
                <a:latin typeface="Courier New"/>
              </a:rPr>
              <a:t>three</a:t>
            </a:r>
            <a:r>
              <a:rPr sz="1400" b="0" i="0">
                <a:solidFill>
                  <a:srgbClr val="1F2328"/>
                </a:solidFill>
                <a:latin typeface="Courier New"/>
              </a:rPr>
              <a:t>[</a:t>
            </a:r>
            <a:r>
              <a:rPr sz="1400" b="0" i="0">
                <a:solidFill>
                  <a:srgbClr val="B04A2B"/>
                </a:solidFill>
                <a:latin typeface="Courier New"/>
              </a:rPr>
              <a:t>'text'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paths</a:t>
            </a:r>
            <a:r>
              <a:rPr sz="1400" b="0" i="0">
                <a:solidFill>
                  <a:srgbClr val="1F2328"/>
                </a:solidFill>
                <a:latin typeface="Courier New"/>
              </a:rPr>
              <a:t>.</a:t>
            </a:r>
            <a:r>
              <a:rPr sz="1400" b="0" i="0">
                <a:solidFill>
                  <a:srgbClr val="1F2328"/>
                </a:solidFill>
                <a:latin typeface="Courier New"/>
              </a:rPr>
              <a:t>map</a:t>
            </a:r>
            <a:r>
              <a:rPr sz="1400" b="0" i="0">
                <a:solidFill>
                  <a:srgbClr val="1F2328"/>
                </a:solidFill>
                <a:latin typeface="Courier New"/>
              </a:rPr>
              <a:t>(</a:t>
            </a:r>
            <a:r>
              <a:rPr sz="1400" b="0" i="0">
                <a:solidFill>
                  <a:srgbClr val="1F2328"/>
                </a:solidFill>
                <a:latin typeface="Courier New"/>
              </a:rPr>
              <a:t>ks</a:t>
            </a:r>
            <a:r>
              <a:rPr sz="1400" b="0" i="0">
                <a:solidFill>
                  <a:srgbClr val="1F2328"/>
                </a:solidFill>
                <a:latin typeface="Courier New"/>
              </a:rPr>
              <a:t>.</a:t>
            </a:r>
            <a:r>
              <a:rPr sz="1400" b="0" i="0">
                <a:solidFill>
                  <a:srgbClr val="1F2328"/>
                </a:solidFill>
                <a:latin typeface="Courier New"/>
              </a:rPr>
              <a:t>extract_text</a:t>
            </a:r>
            <a:r>
              <a:rPr sz="1400" b="0" i="0">
                <a:solidFill>
                  <a:srgbClr val="1F2328"/>
                </a:solidFill>
                <a:latin typeface="Courier New"/>
              </a:rPr>
              <a:t>)</a:t>
            </a:r>
          </a:p>
          <a:p>
            <a:r>
              <a:rPr sz="1400" b="0" i="0">
                <a:solidFill>
                  <a:srgbClr val="1F2328"/>
                </a:solidFill>
                <a:latin typeface="Courier New"/>
              </a:rPr>
              <a:t>cols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'chunk_id status access_groups sensitivity'</a:t>
            </a:r>
            <a:r>
              <a:rPr sz="1400" b="0" i="0">
                <a:solidFill>
                  <a:srgbClr val="1F2328"/>
                </a:solidFill>
                <a:latin typeface="Courier New"/>
              </a:rPr>
              <a:t>.</a:t>
            </a:r>
            <a:r>
              <a:rPr sz="1400" b="0" i="0">
                <a:solidFill>
                  <a:srgbClr val="1F2328"/>
                </a:solidFill>
                <a:latin typeface="Courier New"/>
              </a:rPr>
              <a:t>split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ks</a:t>
            </a:r>
            <a:r>
              <a:rPr sz="1400" b="0" i="0">
                <a:solidFill>
                  <a:srgbClr val="1F2328"/>
                </a:solidFill>
                <a:latin typeface="Courier New"/>
              </a:rPr>
              <a:t>.</a:t>
            </a:r>
            <a:r>
              <a:rPr sz="1400" b="0" i="0">
                <a:solidFill>
                  <a:srgbClr val="1F2328"/>
                </a:solidFill>
                <a:latin typeface="Courier New"/>
              </a:rPr>
              <a:t>build_chunks</a:t>
            </a:r>
            <a:r>
              <a:rPr sz="1400" b="0" i="0">
                <a:solidFill>
                  <a:srgbClr val="1F2328"/>
                </a:solidFill>
                <a:latin typeface="Courier New"/>
              </a:rPr>
              <a:t>(</a:t>
            </a:r>
            <a:r>
              <a:rPr sz="1400" b="0" i="0">
                <a:solidFill>
                  <a:srgbClr val="1F2328"/>
                </a:solidFill>
                <a:latin typeface="Courier New"/>
              </a:rPr>
              <a:t>three</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cols</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to_string</a:t>
            </a:r>
            <a:r>
              <a:rPr sz="1400" b="0" i="0">
                <a:solidFill>
                  <a:srgbClr val="1F2328"/>
                </a:solidFill>
                <a:latin typeface="Courier New"/>
              </a:rPr>
              <a:t>(</a:t>
            </a:r>
            <a:r>
              <a:rPr sz="1400" b="0" i="0">
                <a:solidFill>
                  <a:srgbClr val="1F2328"/>
                </a:solidFill>
                <a:latin typeface="Courier New"/>
              </a:rPr>
              <a:t>index</a:t>
            </a:r>
            <a:r>
              <a:rPr sz="1400" b="0" i="0">
                <a:solidFill>
                  <a:srgbClr val="1F2328"/>
                </a:solidFill>
                <a:latin typeface="Courier New"/>
              </a:rPr>
              <a:t>=</a:t>
            </a:r>
            <a:r>
              <a:rPr sz="1400" b="1" i="0">
                <a:solidFill>
                  <a:srgbClr val="1F2328"/>
                </a:solidFill>
                <a:latin typeface="Courier New"/>
              </a:rPr>
              <a:t>False</a:t>
            </a:r>
            <a:r>
              <a:rPr sz="1400" b="0" i="0">
                <a:solidFill>
                  <a:srgbClr val="1F2328"/>
                </a:solidFill>
                <a:latin typeface="Courier New"/>
              </a:rPr>
              <a:t>)</a:t>
            </a:r>
            <a:r>
              <a:rPr sz="1400" b="0" i="0">
                <a:solidFill>
                  <a:srgbClr val="1F2328"/>
                </a:solidFill>
                <a:latin typeface="Courier New"/>
              </a:rPr>
              <a:t>)</a:t>
            </a:r>
          </a:p>
        </p:txBody>
      </p:sp>
      <p:grpSp>
        <p:nvGrpSpPr>
          <p:cNvPr id="7" name="output"/>
          <p:cNvGrpSpPr/>
          <p:nvPr/>
        </p:nvGrpSpPr>
        <p:grpSpPr>
          <a:xfrm>
            <a:off x="685800" y="4154424"/>
            <a:ext cx="6949440" cy="1804416"/>
            <a:chOff x="685800" y="4154424"/>
            <a:chExt cx="6949440" cy="1804416"/>
          </a:xfrm>
        </p:grpSpPr>
        <p:sp>
          <p:nvSpPr>
            <p:cNvPr id="8" name="TextBox 7"/>
            <p:cNvSpPr txBox="1"/>
            <p:nvPr/>
          </p:nvSpPr>
          <p:spPr>
            <a:xfrm>
              <a:off x="685800" y="41544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410456"/>
              <a:ext cx="6949440" cy="1548384"/>
            </a:xfrm>
            <a:prstGeom prst="rect">
              <a:avLst/>
            </a:prstGeom>
            <a:solidFill>
              <a:srgbClr val="F5F3EF"/>
            </a:solidFill>
            <a:ln>
              <a:noFill/>
            </a:ln>
          </p:spPr>
          <p:txBody>
            <a:bodyPr rtlCol="0" anchor="ctr"/>
            <a:lstStyle/>
            <a:p>
              <a:pPr algn="ctr"/>
            </a:p>
          </p:txBody>
        </p:sp>
        <p:sp>
          <p:nvSpPr>
            <p:cNvPr id="10" name="TextBox 9"/>
            <p:cNvSpPr txBox="1"/>
            <p:nvPr/>
          </p:nvSpPr>
          <p:spPr>
            <a:xfrm>
              <a:off x="868680" y="4501896"/>
              <a:ext cx="6675120" cy="1438656"/>
            </a:xfrm>
            <a:prstGeom prst="rect">
              <a:avLst/>
            </a:prstGeom>
            <a:noFill/>
          </p:spPr>
          <p:txBody>
            <a:bodyPr wrap="none" lIns="0" rIns="0" tIns="0" bIns="0">
              <a:spAutoFit/>
            </a:bodyPr>
            <a:lstStyle/>
            <a:p>
              <a:r>
                <a:rPr sz="1400" b="0" i="0">
                  <a:solidFill>
                    <a:srgbClr val="1F2328"/>
                  </a:solidFill>
                  <a:latin typeface="Courier New"/>
                </a:rPr>
                <a:t>chunk_id     status access_groups  sensitivity</a:t>
              </a:r>
            </a:p>
            <a:p>
              <a:r>
                <a:rPr sz="1400" b="0" i="0">
                  <a:solidFill>
                    <a:srgbClr val="1F2328"/>
                  </a:solidFill>
                  <a:latin typeface="Courier New"/>
                </a:rPr>
                <a:t> D001-01 superseded     all_staff     internal</a:t>
              </a:r>
            </a:p>
            <a:p>
              <a:r>
                <a:rPr sz="1400" b="0" i="0">
                  <a:solidFill>
                    <a:srgbClr val="1F2328"/>
                  </a:solidFill>
                  <a:latin typeface="Courier New"/>
                </a:rPr>
                <a:t> D001-02 superseded     all_staff     internal</a:t>
              </a:r>
            </a:p>
            <a:p>
              <a:r>
                <a:rPr sz="1400" b="0" i="0">
                  <a:solidFill>
                    <a:srgbClr val="1F2328"/>
                  </a:solidFill>
                  <a:latin typeface="Courier New"/>
                </a:rPr>
                <a:t> D003-01    current     all_staff     internal</a:t>
              </a:r>
            </a:p>
            <a:p>
              <a:r>
                <a:rPr sz="1400" b="0" i="0">
                  <a:solidFill>
                    <a:srgbClr val="1F2328"/>
                  </a:solidFill>
                  <a:latin typeface="Courier New"/>
                </a:rPr>
                <a:t> D003-02    current     all_staff     internal</a:t>
              </a:r>
            </a:p>
            <a:p>
              <a:r>
                <a:rPr sz="1400" b="0" i="0">
                  <a:solidFill>
                    <a:srgbClr val="1F2328"/>
                  </a:solidFill>
                  <a:latin typeface="Courier New"/>
                </a:rPr>
                <a:t> D003-03    current     all_staff     internal</a:t>
              </a:r>
            </a:p>
            <a:p>
              <a:r>
                <a:rPr sz="1400" b="0" i="0">
                  <a:solidFill>
                    <a:srgbClr val="1F2328"/>
                  </a:solidFill>
                  <a:latin typeface="Courier New"/>
                </a:rPr>
                <a:t> D004-01    current  hr;executive confidential</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1800" b="0" i="0">
                  <a:solidFill>
                    <a:srgbClr val="1F2328"/>
                  </a:solidFill>
                  <a:latin typeface="Calibri"/>
                </a:rPr>
                <a:t>Read the metadata file and keep three documents: two handbooks and the salary bands.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build_chunks cuts each text and copies the document's row onto every chunk.</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Each chunk now carries its status and who may see it.</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Count your own unstructured data</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From documents to clean text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sp>
        <p:nvSpPr>
          <p:cNvPr id="5" name="Rectangle 4"/>
          <p:cNvSpPr/>
          <p:nvPr/>
        </p:nvSpPr>
        <p:spPr>
          <a:xfrm>
            <a:off x="685800" y="1600200"/>
            <a:ext cx="10820095" cy="23682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2093976"/>
          </a:xfrm>
          <a:prstGeom prst="rect">
            <a:avLst/>
          </a:prstGeom>
          <a:noFill/>
        </p:spPr>
        <p:txBody>
          <a:bodyPr wrap="none" lIns="0" rIns="0" tIns="0" bIns="0">
            <a:spAutoFit/>
          </a:bodyPr>
          <a:lstStyle/>
          <a:p>
            <a:r>
              <a:rPr sz="1500" b="1" i="0">
                <a:solidFill>
                  <a:srgbClr val="1F2328"/>
                </a:solidFill>
                <a:latin typeface="Courier New"/>
              </a:rPr>
              <a:t>from</a:t>
            </a:r>
            <a:r>
              <a:rPr sz="1500" b="0" i="0">
                <a:solidFill>
                  <a:srgbClr val="1F2328"/>
                </a:solidFill>
                <a:latin typeface="Courier New"/>
              </a:rPr>
              <a:t> </a:t>
            </a:r>
            <a:r>
              <a:rPr sz="1500" b="0" i="0">
                <a:solidFill>
                  <a:srgbClr val="1F2328"/>
                </a:solidFill>
                <a:latin typeface="Courier New"/>
              </a:rPr>
              <a:t>collections</a:t>
            </a:r>
            <a:r>
              <a:rPr sz="1500" b="0" i="0">
                <a:solidFill>
                  <a:srgbClr val="1F2328"/>
                </a:solidFill>
                <a:latin typeface="Courier New"/>
              </a:rPr>
              <a:t> </a:t>
            </a:r>
            <a:r>
              <a:rPr sz="1500" b="1" i="0">
                <a:solidFill>
                  <a:srgbClr val="1F2328"/>
                </a:solidFill>
                <a:latin typeface="Courier New"/>
              </a:rPr>
              <a:t>import</a:t>
            </a:r>
            <a:r>
              <a:rPr sz="1500" b="0" i="0">
                <a:solidFill>
                  <a:srgbClr val="1F2328"/>
                </a:solidFill>
                <a:latin typeface="Courier New"/>
              </a:rPr>
              <a:t> </a:t>
            </a:r>
            <a:r>
              <a:rPr sz="1500" b="0" i="0">
                <a:solidFill>
                  <a:srgbClr val="1F2328"/>
                </a:solidFill>
                <a:latin typeface="Courier New"/>
              </a:rPr>
              <a:t>Counter</a:t>
            </a:r>
          </a:p>
          <a:p>
            <a:r>
              <a:rPr sz="1500" b="1" i="0">
                <a:solidFill>
                  <a:srgbClr val="1F2328"/>
                </a:solidFill>
                <a:latin typeface="Courier New"/>
              </a:rPr>
              <a:t>from</a:t>
            </a:r>
            <a:r>
              <a:rPr sz="1500" b="0" i="0">
                <a:solidFill>
                  <a:srgbClr val="1F2328"/>
                </a:solidFill>
                <a:latin typeface="Courier New"/>
              </a:rPr>
              <a:t> </a:t>
            </a:r>
            <a:r>
              <a:rPr sz="1500" b="0" i="0">
                <a:solidFill>
                  <a:srgbClr val="1F2328"/>
                </a:solidFill>
                <a:latin typeface="Courier New"/>
              </a:rPr>
              <a:t>pathlib</a:t>
            </a:r>
            <a:r>
              <a:rPr sz="1500" b="0" i="0">
                <a:solidFill>
                  <a:srgbClr val="1F2328"/>
                </a:solidFill>
                <a:latin typeface="Courier New"/>
              </a:rPr>
              <a:t> </a:t>
            </a:r>
            <a:r>
              <a:rPr sz="1500" b="1" i="0">
                <a:solidFill>
                  <a:srgbClr val="1F2328"/>
                </a:solidFill>
                <a:latin typeface="Courier New"/>
              </a:rPr>
              <a:t>import</a:t>
            </a:r>
            <a:r>
              <a:rPr sz="1500" b="0" i="0">
                <a:solidFill>
                  <a:srgbClr val="1F2328"/>
                </a:solidFill>
                <a:latin typeface="Courier New"/>
              </a:rPr>
              <a:t> </a:t>
            </a:r>
            <a:r>
              <a:rPr sz="1500" b="0" i="0">
                <a:solidFill>
                  <a:srgbClr val="1F2328"/>
                </a:solidFill>
                <a:latin typeface="Courier New"/>
              </a:rPr>
              <a:t>Path</a:t>
            </a:r>
          </a:p>
          <a:p>
            <a:r>
              <a:rPr sz="1500" b="1" i="0">
                <a:solidFill>
                  <a:srgbClr val="1F2328"/>
                </a:solidFill>
                <a:latin typeface="Courier New"/>
              </a:rPr>
              <a:t>from</a:t>
            </a:r>
            <a:r>
              <a:rPr sz="1500" b="0" i="0">
                <a:solidFill>
                  <a:srgbClr val="1F2328"/>
                </a:solidFill>
                <a:latin typeface="Courier New"/>
              </a:rPr>
              <a:t> </a:t>
            </a:r>
            <a:r>
              <a:rPr sz="1500" b="0" i="0">
                <a:solidFill>
                  <a:srgbClr val="1F2328"/>
                </a:solidFill>
                <a:latin typeface="Courier New"/>
              </a:rPr>
              <a:t>pypdf</a:t>
            </a:r>
            <a:r>
              <a:rPr sz="1500" b="0" i="0">
                <a:solidFill>
                  <a:srgbClr val="1F2328"/>
                </a:solidFill>
                <a:latin typeface="Courier New"/>
              </a:rPr>
              <a:t> </a:t>
            </a:r>
            <a:r>
              <a:rPr sz="1500" b="1" i="0">
                <a:solidFill>
                  <a:srgbClr val="1F2328"/>
                </a:solidFill>
                <a:latin typeface="Courier New"/>
              </a:rPr>
              <a:t>import</a:t>
            </a:r>
            <a:r>
              <a:rPr sz="1500" b="0" i="0">
                <a:solidFill>
                  <a:srgbClr val="1F2328"/>
                </a:solidFill>
                <a:latin typeface="Courier New"/>
              </a:rPr>
              <a:t> </a:t>
            </a:r>
            <a:r>
              <a:rPr sz="1500" b="0" i="0">
                <a:solidFill>
                  <a:srgbClr val="1F2328"/>
                </a:solidFill>
                <a:latin typeface="Courier New"/>
              </a:rPr>
              <a:t>PdfReader</a:t>
            </a:r>
          </a:p>
          <a:p>
            <a:r>
              <a:rPr sz="1500" b="0" i="0">
                <a:solidFill>
                  <a:srgbClr val="1F2328"/>
                </a:solidFill>
                <a:latin typeface="Courier New"/>
              </a:rPr>
              <a:t> </a:t>
            </a:r>
          </a:p>
          <a:p>
            <a:r>
              <a:rPr sz="1500" b="0" i="0">
                <a:solidFill>
                  <a:srgbClr val="1F2328"/>
                </a:solidFill>
                <a:latin typeface="Courier New"/>
              </a:rPr>
              <a:t>files</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p</a:t>
            </a:r>
            <a:r>
              <a:rPr sz="1500" b="0" i="0">
                <a:solidFill>
                  <a:srgbClr val="1F2328"/>
                </a:solidFill>
                <a:latin typeface="Courier New"/>
              </a:rPr>
              <a:t> </a:t>
            </a:r>
            <a:r>
              <a:rPr sz="1500" b="1" i="0">
                <a:solidFill>
                  <a:srgbClr val="1F2328"/>
                </a:solidFill>
                <a:latin typeface="Courier New"/>
              </a:rPr>
              <a:t>for</a:t>
            </a:r>
            <a:r>
              <a:rPr sz="1500" b="0" i="0">
                <a:solidFill>
                  <a:srgbClr val="1F2328"/>
                </a:solidFill>
                <a:latin typeface="Courier New"/>
              </a:rPr>
              <a:t> </a:t>
            </a:r>
            <a:r>
              <a:rPr sz="1500" b="0" i="0">
                <a:solidFill>
                  <a:srgbClr val="1F2328"/>
                </a:solidFill>
                <a:latin typeface="Courier New"/>
              </a:rPr>
              <a:t>p</a:t>
            </a:r>
            <a:r>
              <a:rPr sz="1500" b="0" i="0">
                <a:solidFill>
                  <a:srgbClr val="1F2328"/>
                </a:solidFill>
                <a:latin typeface="Courier New"/>
              </a:rPr>
              <a:t> </a:t>
            </a:r>
            <a:r>
              <a:rPr sz="1500" b="1" i="0">
                <a:solidFill>
                  <a:srgbClr val="1F2328"/>
                </a:solidFill>
                <a:latin typeface="Courier New"/>
              </a:rPr>
              <a:t>in</a:t>
            </a:r>
            <a:r>
              <a:rPr sz="1500" b="0" i="0">
                <a:solidFill>
                  <a:srgbClr val="1F2328"/>
                </a:solidFill>
                <a:latin typeface="Courier New"/>
              </a:rPr>
              <a:t> </a:t>
            </a:r>
            <a:r>
              <a:rPr sz="1500" b="0" i="0">
                <a:solidFill>
                  <a:srgbClr val="1F2328"/>
                </a:solidFill>
                <a:latin typeface="Courier New"/>
              </a:rPr>
              <a:t>Path</a:t>
            </a:r>
            <a:r>
              <a:rPr sz="1500" b="0" i="0">
                <a:solidFill>
                  <a:srgbClr val="1F2328"/>
                </a:solidFill>
                <a:latin typeface="Courier New"/>
              </a:rPr>
              <a:t>(</a:t>
            </a:r>
            <a:r>
              <a:rPr sz="1500" b="0" i="0">
                <a:solidFill>
                  <a:srgbClr val="B04A2B"/>
                </a:solidFill>
                <a:latin typeface="Courier New"/>
              </a:rPr>
              <a:t>'docs'</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rglob</a:t>
            </a:r>
            <a:r>
              <a:rPr sz="1500" b="0" i="0">
                <a:solidFill>
                  <a:srgbClr val="1F2328"/>
                </a:solidFill>
                <a:latin typeface="Courier New"/>
              </a:rPr>
              <a:t>(</a:t>
            </a:r>
            <a:r>
              <a:rPr sz="1500" b="0" i="0">
                <a:solidFill>
                  <a:srgbClr val="B04A2B"/>
                </a:solidFill>
                <a:latin typeface="Courier New"/>
              </a:rPr>
              <a:t>'*'</a:t>
            </a:r>
            <a:r>
              <a:rPr sz="1500" b="0" i="0">
                <a:solidFill>
                  <a:srgbClr val="1F2328"/>
                </a:solidFill>
                <a:latin typeface="Courier New"/>
              </a:rPr>
              <a:t>)</a:t>
            </a:r>
            <a:r>
              <a:rPr sz="1500" b="0" i="0">
                <a:solidFill>
                  <a:srgbClr val="1F2328"/>
                </a:solidFill>
                <a:latin typeface="Courier New"/>
              </a:rPr>
              <a:t> </a:t>
            </a:r>
            <a:r>
              <a:rPr sz="1500" b="1" i="0">
                <a:solidFill>
                  <a:srgbClr val="1F2328"/>
                </a:solidFill>
                <a:latin typeface="Courier New"/>
              </a:rPr>
              <a:t>if</a:t>
            </a:r>
            <a:r>
              <a:rPr sz="1500" b="0" i="0">
                <a:solidFill>
                  <a:srgbClr val="1F2328"/>
                </a:solidFill>
                <a:latin typeface="Courier New"/>
              </a:rPr>
              <a:t> </a:t>
            </a:r>
            <a:r>
              <a:rPr sz="1500" b="0" i="0">
                <a:solidFill>
                  <a:srgbClr val="1F2328"/>
                </a:solidFill>
                <a:latin typeface="Courier New"/>
              </a:rPr>
              <a:t>p</a:t>
            </a:r>
            <a:r>
              <a:rPr sz="1500" b="0" i="0">
                <a:solidFill>
                  <a:srgbClr val="1F2328"/>
                </a:solidFill>
                <a:latin typeface="Courier New"/>
              </a:rPr>
              <a:t>.</a:t>
            </a:r>
            <a:r>
              <a:rPr sz="1500" b="0" i="0">
                <a:solidFill>
                  <a:srgbClr val="1F2328"/>
                </a:solidFill>
                <a:latin typeface="Courier New"/>
              </a:rPr>
              <a:t>is_file</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len</a:t>
            </a:r>
            <a:r>
              <a:rPr sz="1500" b="0" i="0">
                <a:solidFill>
                  <a:srgbClr val="1F2328"/>
                </a:solidFill>
                <a:latin typeface="Courier New"/>
              </a:rPr>
              <a:t>(</a:t>
            </a:r>
            <a:r>
              <a:rPr sz="1500" b="0" i="0">
                <a:solidFill>
                  <a:srgbClr val="1F2328"/>
                </a:solidFill>
                <a:latin typeface="Courier New"/>
              </a:rPr>
              <a:t>files</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Counter</a:t>
            </a:r>
            <a:r>
              <a:rPr sz="1500" b="0" i="0">
                <a:solidFill>
                  <a:srgbClr val="1F2328"/>
                </a:solidFill>
                <a:latin typeface="Courier New"/>
              </a:rPr>
              <a:t>(</a:t>
            </a:r>
            <a:r>
              <a:rPr sz="1500" b="0" i="0">
                <a:solidFill>
                  <a:srgbClr val="1F2328"/>
                </a:solidFill>
                <a:latin typeface="Courier New"/>
              </a:rPr>
              <a:t>p</a:t>
            </a:r>
            <a:r>
              <a:rPr sz="1500" b="0" i="0">
                <a:solidFill>
                  <a:srgbClr val="1F2328"/>
                </a:solidFill>
                <a:latin typeface="Courier New"/>
              </a:rPr>
              <a:t>.</a:t>
            </a:r>
            <a:r>
              <a:rPr sz="1500" b="0" i="0">
                <a:solidFill>
                  <a:srgbClr val="1F2328"/>
                </a:solidFill>
                <a:latin typeface="Courier New"/>
              </a:rPr>
              <a:t>suffix</a:t>
            </a:r>
            <a:r>
              <a:rPr sz="1500" b="0" i="0">
                <a:solidFill>
                  <a:srgbClr val="1F2328"/>
                </a:solidFill>
                <a:latin typeface="Courier New"/>
              </a:rPr>
              <a:t> </a:t>
            </a:r>
            <a:r>
              <a:rPr sz="1500" b="1" i="0">
                <a:solidFill>
                  <a:srgbClr val="1F2328"/>
                </a:solidFill>
                <a:latin typeface="Courier New"/>
              </a:rPr>
              <a:t>for</a:t>
            </a:r>
            <a:r>
              <a:rPr sz="1500" b="0" i="0">
                <a:solidFill>
                  <a:srgbClr val="1F2328"/>
                </a:solidFill>
                <a:latin typeface="Courier New"/>
              </a:rPr>
              <a:t> </a:t>
            </a:r>
            <a:r>
              <a:rPr sz="1500" b="0" i="0">
                <a:solidFill>
                  <a:srgbClr val="1F2328"/>
                </a:solidFill>
                <a:latin typeface="Courier New"/>
              </a:rPr>
              <a:t>p</a:t>
            </a:r>
            <a:r>
              <a:rPr sz="1500" b="0" i="0">
                <a:solidFill>
                  <a:srgbClr val="1F2328"/>
                </a:solidFill>
                <a:latin typeface="Courier New"/>
              </a:rPr>
              <a:t> </a:t>
            </a:r>
            <a:r>
              <a:rPr sz="1500" b="1" i="0">
                <a:solidFill>
                  <a:srgbClr val="1F2328"/>
                </a:solidFill>
                <a:latin typeface="Courier New"/>
              </a:rPr>
              <a:t>in</a:t>
            </a:r>
            <a:r>
              <a:rPr sz="1500" b="0" i="0">
                <a:solidFill>
                  <a:srgbClr val="1F2328"/>
                </a:solidFill>
                <a:latin typeface="Courier New"/>
              </a:rPr>
              <a:t> </a:t>
            </a:r>
            <a:r>
              <a:rPr sz="1500" b="0" i="0">
                <a:solidFill>
                  <a:srgbClr val="1F2328"/>
                </a:solidFill>
                <a:latin typeface="Courier New"/>
              </a:rPr>
              <a:t>files</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pdfs</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p</a:t>
            </a:r>
            <a:r>
              <a:rPr sz="1500" b="0" i="0">
                <a:solidFill>
                  <a:srgbClr val="1F2328"/>
                </a:solidFill>
                <a:latin typeface="Courier New"/>
              </a:rPr>
              <a:t> </a:t>
            </a:r>
            <a:r>
              <a:rPr sz="1500" b="1" i="0">
                <a:solidFill>
                  <a:srgbClr val="1F2328"/>
                </a:solidFill>
                <a:latin typeface="Courier New"/>
              </a:rPr>
              <a:t>for</a:t>
            </a:r>
            <a:r>
              <a:rPr sz="1500" b="0" i="0">
                <a:solidFill>
                  <a:srgbClr val="1F2328"/>
                </a:solidFill>
                <a:latin typeface="Courier New"/>
              </a:rPr>
              <a:t> </a:t>
            </a:r>
            <a:r>
              <a:rPr sz="1500" b="0" i="0">
                <a:solidFill>
                  <a:srgbClr val="1F2328"/>
                </a:solidFill>
                <a:latin typeface="Courier New"/>
              </a:rPr>
              <a:t>p</a:t>
            </a:r>
            <a:r>
              <a:rPr sz="1500" b="0" i="0">
                <a:solidFill>
                  <a:srgbClr val="1F2328"/>
                </a:solidFill>
                <a:latin typeface="Courier New"/>
              </a:rPr>
              <a:t> </a:t>
            </a:r>
            <a:r>
              <a:rPr sz="1500" b="1" i="0">
                <a:solidFill>
                  <a:srgbClr val="1F2328"/>
                </a:solidFill>
                <a:latin typeface="Courier New"/>
              </a:rPr>
              <a:t>in</a:t>
            </a:r>
            <a:r>
              <a:rPr sz="1500" b="0" i="0">
                <a:solidFill>
                  <a:srgbClr val="1F2328"/>
                </a:solidFill>
                <a:latin typeface="Courier New"/>
              </a:rPr>
              <a:t> </a:t>
            </a:r>
            <a:r>
              <a:rPr sz="1500" b="0" i="0">
                <a:solidFill>
                  <a:srgbClr val="1F2328"/>
                </a:solidFill>
                <a:latin typeface="Courier New"/>
              </a:rPr>
              <a:t>files</a:t>
            </a:r>
            <a:r>
              <a:rPr sz="1500" b="0" i="0">
                <a:solidFill>
                  <a:srgbClr val="1F2328"/>
                </a:solidFill>
                <a:latin typeface="Courier New"/>
              </a:rPr>
              <a:t> </a:t>
            </a:r>
            <a:r>
              <a:rPr sz="1500" b="1" i="0">
                <a:solidFill>
                  <a:srgbClr val="1F2328"/>
                </a:solidFill>
                <a:latin typeface="Courier New"/>
              </a:rPr>
              <a:t>if</a:t>
            </a:r>
            <a:r>
              <a:rPr sz="1500" b="0" i="0">
                <a:solidFill>
                  <a:srgbClr val="1F2328"/>
                </a:solidFill>
                <a:latin typeface="Courier New"/>
              </a:rPr>
              <a:t> </a:t>
            </a:r>
            <a:r>
              <a:rPr sz="1500" b="0" i="0">
                <a:solidFill>
                  <a:srgbClr val="1F2328"/>
                </a:solidFill>
                <a:latin typeface="Courier New"/>
              </a:rPr>
              <a:t>p</a:t>
            </a:r>
            <a:r>
              <a:rPr sz="1500" b="0" i="0">
                <a:solidFill>
                  <a:srgbClr val="1F2328"/>
                </a:solidFill>
                <a:latin typeface="Courier New"/>
              </a:rPr>
              <a:t>.</a:t>
            </a:r>
            <a:r>
              <a:rPr sz="1500" b="0" i="0">
                <a:solidFill>
                  <a:srgbClr val="1F2328"/>
                </a:solidFill>
                <a:latin typeface="Courier New"/>
              </a:rPr>
              <a:t>suffix</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'.pdf'</a:t>
            </a:r>
            <a:r>
              <a:rPr sz="1500" b="0" i="0">
                <a:solidFill>
                  <a:srgbClr val="1F2328"/>
                </a:solidFill>
                <a:latin typeface="Courier New"/>
              </a:rPr>
              <a:t>]</a:t>
            </a:r>
          </a:p>
          <a:p>
            <a:r>
              <a:rPr sz="1500" b="0" i="0">
                <a:solidFill>
                  <a:srgbClr val="1F2328"/>
                </a:solidFill>
                <a:latin typeface="Courier New"/>
              </a:rPr>
              <a:t>n</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sum</a:t>
            </a:r>
            <a:r>
              <a:rPr sz="1500" b="0" i="0">
                <a:solidFill>
                  <a:srgbClr val="1F2328"/>
                </a:solidFill>
                <a:latin typeface="Courier New"/>
              </a:rPr>
              <a:t>(</a:t>
            </a:r>
            <a:r>
              <a:rPr sz="1500" b="0" i="0">
                <a:solidFill>
                  <a:srgbClr val="1F2328"/>
                </a:solidFill>
                <a:latin typeface="Courier New"/>
              </a:rPr>
              <a:t>len</a:t>
            </a:r>
            <a:r>
              <a:rPr sz="1500" b="0" i="0">
                <a:solidFill>
                  <a:srgbClr val="1F2328"/>
                </a:solidFill>
                <a:latin typeface="Courier New"/>
              </a:rPr>
              <a:t>(</a:t>
            </a:r>
            <a:r>
              <a:rPr sz="1500" b="0" i="0">
                <a:solidFill>
                  <a:srgbClr val="1F2328"/>
                </a:solidFill>
                <a:latin typeface="Courier New"/>
              </a:rPr>
              <a:t>PdfReader</a:t>
            </a:r>
            <a:r>
              <a:rPr sz="1500" b="0" i="0">
                <a:solidFill>
                  <a:srgbClr val="1F2328"/>
                </a:solidFill>
                <a:latin typeface="Courier New"/>
              </a:rPr>
              <a:t>(</a:t>
            </a:r>
            <a:r>
              <a:rPr sz="1500" b="0" i="0">
                <a:solidFill>
                  <a:srgbClr val="1F2328"/>
                </a:solidFill>
                <a:latin typeface="Courier New"/>
              </a:rPr>
              <a:t>p</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pages</a:t>
            </a:r>
            <a:r>
              <a:rPr sz="1500" b="0" i="0">
                <a:solidFill>
                  <a:srgbClr val="1F2328"/>
                </a:solidFill>
                <a:latin typeface="Courier New"/>
              </a:rPr>
              <a:t>[</a:t>
            </a:r>
            <a:r>
              <a:rPr sz="1500" b="0" i="0">
                <a:solidFill>
                  <a:srgbClr val="3B4046"/>
                </a:solidFill>
                <a:latin typeface="Courier New"/>
              </a:rPr>
              <a:t>0</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extract_text</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&lt;</a:t>
            </a:r>
            <a:r>
              <a:rPr sz="1500" b="0" i="0">
                <a:solidFill>
                  <a:srgbClr val="1F2328"/>
                </a:solidFill>
                <a:latin typeface="Courier New"/>
              </a:rPr>
              <a:t> </a:t>
            </a:r>
            <a:r>
              <a:rPr sz="1500" b="0" i="0">
                <a:solidFill>
                  <a:srgbClr val="3B4046"/>
                </a:solidFill>
                <a:latin typeface="Courier New"/>
              </a:rPr>
              <a:t>40</a:t>
            </a:r>
            <a:r>
              <a:rPr sz="1500" b="0" i="0">
                <a:solidFill>
                  <a:srgbClr val="1F2328"/>
                </a:solidFill>
                <a:latin typeface="Courier New"/>
              </a:rPr>
              <a:t> </a:t>
            </a:r>
            <a:r>
              <a:rPr sz="1500" b="1" i="0">
                <a:solidFill>
                  <a:srgbClr val="1F2328"/>
                </a:solidFill>
                <a:latin typeface="Courier New"/>
              </a:rPr>
              <a:t>for</a:t>
            </a:r>
            <a:r>
              <a:rPr sz="1500" b="0" i="0">
                <a:solidFill>
                  <a:srgbClr val="1F2328"/>
                </a:solidFill>
                <a:latin typeface="Courier New"/>
              </a:rPr>
              <a:t> </a:t>
            </a:r>
            <a:r>
              <a:rPr sz="1500" b="0" i="0">
                <a:solidFill>
                  <a:srgbClr val="1F2328"/>
                </a:solidFill>
                <a:latin typeface="Courier New"/>
              </a:rPr>
              <a:t>p</a:t>
            </a:r>
            <a:r>
              <a:rPr sz="1500" b="0" i="0">
                <a:solidFill>
                  <a:srgbClr val="1F2328"/>
                </a:solidFill>
                <a:latin typeface="Courier New"/>
              </a:rPr>
              <a:t> </a:t>
            </a:r>
            <a:r>
              <a:rPr sz="1500" b="1" i="0">
                <a:solidFill>
                  <a:srgbClr val="1F2328"/>
                </a:solidFill>
                <a:latin typeface="Courier New"/>
              </a:rPr>
              <a:t>in</a:t>
            </a:r>
            <a:r>
              <a:rPr sz="1500" b="0" i="0">
                <a:solidFill>
                  <a:srgbClr val="1F2328"/>
                </a:solidFill>
                <a:latin typeface="Courier New"/>
              </a:rPr>
              <a:t> </a:t>
            </a:r>
            <a:r>
              <a:rPr sz="1500" b="0" i="0">
                <a:solidFill>
                  <a:srgbClr val="1F2328"/>
                </a:solidFill>
                <a:latin typeface="Courier New"/>
              </a:rPr>
              <a:t>pdfs</a:t>
            </a:r>
            <a:r>
              <a:rPr sz="1500" b="0" i="0">
                <a:solidFill>
                  <a:srgbClr val="1F2328"/>
                </a:solidFill>
                <a:latin typeface="Courier New"/>
              </a:rPr>
              <a:t>)</a:t>
            </a:r>
          </a:p>
          <a:p>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n</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'PDFs have no text layer'</a:t>
            </a:r>
            <a:r>
              <a:rPr sz="1500" b="0" i="0">
                <a:solidFill>
                  <a:srgbClr val="1F2328"/>
                </a:solidFill>
                <a:latin typeface="Courier New"/>
              </a:rPr>
              <a:t>)</a:t>
            </a:r>
          </a:p>
        </p:txBody>
      </p:sp>
      <p:grpSp>
        <p:nvGrpSpPr>
          <p:cNvPr id="7" name="output"/>
          <p:cNvGrpSpPr/>
          <p:nvPr/>
        </p:nvGrpSpPr>
        <p:grpSpPr>
          <a:xfrm>
            <a:off x="685800" y="4078224"/>
            <a:ext cx="10820095" cy="737615"/>
            <a:chOff x="685800" y="4078224"/>
            <a:chExt cx="10820095" cy="737615"/>
          </a:xfrm>
        </p:grpSpPr>
        <p:sp>
          <p:nvSpPr>
            <p:cNvPr id="8" name="TextBox 7"/>
            <p:cNvSpPr txBox="1"/>
            <p:nvPr/>
          </p:nvSpPr>
          <p:spPr>
            <a:xfrm>
              <a:off x="685800" y="40782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334256"/>
              <a:ext cx="10820095"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4425696"/>
              <a:ext cx="10545775" cy="371855"/>
            </a:xfrm>
            <a:prstGeom prst="rect">
              <a:avLst/>
            </a:prstGeom>
            <a:noFill/>
          </p:spPr>
          <p:txBody>
            <a:bodyPr wrap="none" lIns="0" rIns="0" tIns="0" bIns="0">
              <a:spAutoFit/>
            </a:bodyPr>
            <a:lstStyle/>
            <a:p>
              <a:r>
                <a:rPr sz="1400" b="0" i="0">
                  <a:solidFill>
                    <a:srgbClr val="1F2328"/>
                  </a:solidFill>
                  <a:latin typeface="Courier New"/>
                </a:rPr>
                <a:t>121 Counter({'.pdf': 105, '.docx': 10, '.txt': 6})</a:t>
              </a:r>
            </a:p>
            <a:p>
              <a:r>
                <a:rPr sz="1400" b="0" i="0">
                  <a:solidFill>
                    <a:srgbClr val="1F2328"/>
                  </a:solidFill>
                  <a:latin typeface="Courier New"/>
                </a:rPr>
                <a:t>8 PDFs have no text layer</a:t>
              </a:r>
            </a:p>
          </p:txBody>
        </p:sp>
      </p:grpSp>
      <p:grpSp>
        <p:nvGrpSpPr>
          <p:cNvPr id="11" name="says-1"/>
          <p:cNvGrpSpPr/>
          <p:nvPr/>
        </p:nvGrpSpPr>
        <p:grpSpPr>
          <a:xfrm>
            <a:off x="685800" y="4998720"/>
            <a:ext cx="3332378" cy="1200911"/>
            <a:chOff x="685800" y="4998720"/>
            <a:chExt cx="3332378" cy="1200911"/>
          </a:xfrm>
        </p:grpSpPr>
        <p:cxnSp>
          <p:nvCxnSpPr>
            <p:cNvPr id="12" name="Connector 11"/>
            <p:cNvCxnSpPr/>
            <p:nvPr/>
          </p:nvCxnSpPr>
          <p:spPr>
            <a:xfrm>
              <a:off x="685800" y="4998720"/>
              <a:ext cx="3332378" cy="0"/>
            </a:xfrm>
            <a:prstGeom prst="line">
              <a:avLst/>
            </a:prstGeom>
            <a:ln w="15875">
              <a:solidFill>
                <a:srgbClr val="1F2328"/>
              </a:solidFill>
            </a:ln>
          </p:spPr>
        </p:cxnSp>
        <p:sp>
          <p:nvSpPr>
            <p:cNvPr id="13" name="TextBox 12"/>
            <p:cNvSpPr txBox="1"/>
            <p:nvPr/>
          </p:nvSpPr>
          <p:spPr>
            <a:xfrm>
              <a:off x="685800" y="5071872"/>
              <a:ext cx="292608" cy="112775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071872"/>
              <a:ext cx="2984906" cy="1127759"/>
            </a:xfrm>
            <a:prstGeom prst="rect">
              <a:avLst/>
            </a:prstGeom>
            <a:noFill/>
          </p:spPr>
          <p:txBody>
            <a:bodyPr wrap="square" lIns="0" rIns="0" tIns="18288" bIns="18288" anchor="t">
              <a:spAutoFit/>
            </a:bodyPr>
            <a:lstStyle/>
            <a:p>
              <a:pPr algn="l"/>
              <a:r>
                <a:rPr sz="1900" b="0" i="0">
                  <a:solidFill>
                    <a:srgbClr val="1F2328"/>
                  </a:solidFill>
                  <a:latin typeface="Calibri"/>
                </a:rPr>
                <a:t>List every file under the folder and count them by ending.</a:t>
              </a:r>
            </a:p>
          </p:txBody>
        </p:sp>
      </p:grpSp>
      <p:grpSp>
        <p:nvGrpSpPr>
          <p:cNvPr id="15" name="says-2"/>
          <p:cNvGrpSpPr/>
          <p:nvPr/>
        </p:nvGrpSpPr>
        <p:grpSpPr>
          <a:xfrm>
            <a:off x="4429658" y="4998720"/>
            <a:ext cx="3332378" cy="1200911"/>
            <a:chOff x="4429658" y="4998720"/>
            <a:chExt cx="3332378" cy="1200911"/>
          </a:xfrm>
        </p:grpSpPr>
        <p:cxnSp>
          <p:nvCxnSpPr>
            <p:cNvPr id="16" name="Connector 15"/>
            <p:cNvCxnSpPr/>
            <p:nvPr/>
          </p:nvCxnSpPr>
          <p:spPr>
            <a:xfrm>
              <a:off x="4429658" y="4998720"/>
              <a:ext cx="3332378" cy="0"/>
            </a:xfrm>
            <a:prstGeom prst="line">
              <a:avLst/>
            </a:prstGeom>
            <a:ln w="15875">
              <a:solidFill>
                <a:srgbClr val="1F2328"/>
              </a:solidFill>
            </a:ln>
          </p:spPr>
        </p:cxnSp>
        <p:sp>
          <p:nvSpPr>
            <p:cNvPr id="17" name="TextBox 16"/>
            <p:cNvSpPr txBox="1"/>
            <p:nvPr/>
          </p:nvSpPr>
          <p:spPr>
            <a:xfrm>
              <a:off x="4429658" y="5071872"/>
              <a:ext cx="292608" cy="112775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5071872"/>
              <a:ext cx="2984906" cy="1127759"/>
            </a:xfrm>
            <a:prstGeom prst="rect">
              <a:avLst/>
            </a:prstGeom>
            <a:noFill/>
          </p:spPr>
          <p:txBody>
            <a:bodyPr wrap="square" lIns="0" rIns="0" tIns="18288" bIns="18288" anchor="t">
              <a:spAutoFit/>
            </a:bodyPr>
            <a:lstStyle/>
            <a:p>
              <a:pPr algn="l"/>
              <a:r>
                <a:rPr sz="1900" b="0" i="0">
                  <a:solidFill>
                    <a:srgbClr val="1F2328"/>
                  </a:solidFill>
                  <a:latin typeface="Calibri"/>
                </a:rPr>
                <a:t>The 105 PDFs look the same from outside.</a:t>
              </a:r>
            </a:p>
          </p:txBody>
        </p:sp>
      </p:grpSp>
      <p:grpSp>
        <p:nvGrpSpPr>
          <p:cNvPr id="19" name="says-3"/>
          <p:cNvGrpSpPr/>
          <p:nvPr/>
        </p:nvGrpSpPr>
        <p:grpSpPr>
          <a:xfrm>
            <a:off x="8173516" y="4998720"/>
            <a:ext cx="3332379" cy="1200911"/>
            <a:chOff x="8173516" y="4998720"/>
            <a:chExt cx="3332379" cy="1200911"/>
          </a:xfrm>
        </p:grpSpPr>
        <p:cxnSp>
          <p:nvCxnSpPr>
            <p:cNvPr id="20" name="Connector 19"/>
            <p:cNvCxnSpPr/>
            <p:nvPr/>
          </p:nvCxnSpPr>
          <p:spPr>
            <a:xfrm>
              <a:off x="8173516" y="4998720"/>
              <a:ext cx="3332379" cy="0"/>
            </a:xfrm>
            <a:prstGeom prst="line">
              <a:avLst/>
            </a:prstGeom>
            <a:ln w="15875">
              <a:solidFill>
                <a:srgbClr val="1F2328"/>
              </a:solidFill>
            </a:ln>
          </p:spPr>
        </p:cxnSp>
        <p:sp>
          <p:nvSpPr>
            <p:cNvPr id="21" name="TextBox 20"/>
            <p:cNvSpPr txBox="1"/>
            <p:nvPr/>
          </p:nvSpPr>
          <p:spPr>
            <a:xfrm>
              <a:off x="8173516" y="5071872"/>
              <a:ext cx="292608" cy="1127759"/>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5071872"/>
              <a:ext cx="2984906" cy="1127759"/>
            </a:xfrm>
            <a:prstGeom prst="rect">
              <a:avLst/>
            </a:prstGeom>
            <a:noFill/>
          </p:spPr>
          <p:txBody>
            <a:bodyPr wrap="square" lIns="0" rIns="0" tIns="18288" bIns="18288" anchor="t">
              <a:spAutoFit/>
            </a:bodyPr>
            <a:lstStyle/>
            <a:p>
              <a:pPr algn="l"/>
              <a:r>
                <a:rPr sz="1900" b="0" i="0">
                  <a:solidFill>
                    <a:srgbClr val="1F2328"/>
                  </a:solidFill>
                  <a:latin typeface="Calibri"/>
                </a:rPr>
                <a:t>Open page one of each and check for text. Eight have none.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Docling, a free converter to try on your hardest files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From documents to clean text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sp>
        <p:nvSpPr>
          <p:cNvPr id="5" name="Rectangle 4"/>
          <p:cNvSpPr/>
          <p:nvPr/>
        </p:nvSpPr>
        <p:spPr>
          <a:xfrm>
            <a:off x="685800" y="1600200"/>
            <a:ext cx="10820095" cy="18348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560576"/>
          </a:xfrm>
          <a:prstGeom prst="rect">
            <a:avLst/>
          </a:prstGeom>
          <a:noFill/>
        </p:spPr>
        <p:txBody>
          <a:bodyPr wrap="none" lIns="0" rIns="0" tIns="0" bIns="0">
            <a:spAutoFit/>
          </a:bodyPr>
          <a:lstStyle/>
          <a:p>
            <a:r>
              <a:rPr sz="2000" b="1" i="0">
                <a:solidFill>
                  <a:srgbClr val="1F2328"/>
                </a:solidFill>
                <a:latin typeface="Courier New"/>
              </a:rPr>
              <a:t>from</a:t>
            </a:r>
            <a:r>
              <a:rPr sz="2000" b="0" i="0">
                <a:solidFill>
                  <a:srgbClr val="1F2328"/>
                </a:solidFill>
                <a:latin typeface="Courier New"/>
              </a:rPr>
              <a:t> </a:t>
            </a:r>
            <a:r>
              <a:rPr sz="2000" b="0" i="0">
                <a:solidFill>
                  <a:srgbClr val="1F2328"/>
                </a:solidFill>
                <a:latin typeface="Courier New"/>
              </a:rPr>
              <a:t>docling</a:t>
            </a:r>
            <a:r>
              <a:rPr sz="2000" b="0" i="0">
                <a:solidFill>
                  <a:srgbClr val="1F2328"/>
                </a:solidFill>
                <a:latin typeface="Courier New"/>
              </a:rPr>
              <a:t>.</a:t>
            </a:r>
            <a:r>
              <a:rPr sz="2000" b="0" i="0">
                <a:solidFill>
                  <a:srgbClr val="1F2328"/>
                </a:solidFill>
                <a:latin typeface="Courier New"/>
              </a:rPr>
              <a:t>document_converter</a:t>
            </a:r>
            <a:r>
              <a:rPr sz="2000" b="0" i="0">
                <a:solidFill>
                  <a:srgbClr val="1F2328"/>
                </a:solidFill>
                <a:latin typeface="Courier New"/>
              </a:rPr>
              <a:t> </a:t>
            </a:r>
            <a:r>
              <a:rPr sz="2000" b="1" i="0">
                <a:solidFill>
                  <a:srgbClr val="1F2328"/>
                </a:solidFill>
                <a:latin typeface="Courier New"/>
              </a:rPr>
              <a:t>import</a:t>
            </a:r>
            <a:r>
              <a:rPr sz="2000" b="0" i="0">
                <a:solidFill>
                  <a:srgbClr val="1F2328"/>
                </a:solidFill>
                <a:latin typeface="Courier New"/>
              </a:rPr>
              <a:t> </a:t>
            </a:r>
            <a:r>
              <a:rPr sz="2000" b="0" i="0">
                <a:solidFill>
                  <a:srgbClr val="1F2328"/>
                </a:solidFill>
                <a:latin typeface="Courier New"/>
              </a:rPr>
              <a:t>DocumentConverter</a:t>
            </a:r>
          </a:p>
          <a:p>
            <a:r>
              <a:rPr sz="2000" b="0" i="0">
                <a:solidFill>
                  <a:srgbClr val="1F2328"/>
                </a:solidFill>
                <a:latin typeface="Courier New"/>
              </a:rPr>
              <a:t> </a:t>
            </a:r>
          </a:p>
          <a:p>
            <a:r>
              <a:rPr sz="2000" b="0" i="0">
                <a:solidFill>
                  <a:srgbClr val="1F2328"/>
                </a:solidFill>
                <a:latin typeface="Courier New"/>
              </a:rPr>
              <a:t>converter</a:t>
            </a:r>
            <a:r>
              <a:rPr sz="2000" b="0" i="0">
                <a:solidFill>
                  <a:srgbClr val="1F2328"/>
                </a:solidFill>
                <a:latin typeface="Courier New"/>
              </a:rPr>
              <a:t> </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DocumentConverter</a:t>
            </a:r>
            <a:r>
              <a:rPr sz="2000" b="0" i="0">
                <a:solidFill>
                  <a:srgbClr val="1F2328"/>
                </a:solidFill>
                <a:latin typeface="Courier New"/>
              </a:rPr>
              <a:t>(</a:t>
            </a:r>
            <a:r>
              <a:rPr sz="2000" b="0" i="0">
                <a:solidFill>
                  <a:srgbClr val="1F2328"/>
                </a:solidFill>
                <a:latin typeface="Courier New"/>
              </a:rPr>
              <a:t>)</a:t>
            </a:r>
          </a:p>
          <a:p>
            <a:r>
              <a:rPr sz="2000" b="0" i="0">
                <a:solidFill>
                  <a:srgbClr val="1F2328"/>
                </a:solidFill>
                <a:latin typeface="Courier New"/>
              </a:rPr>
              <a:t>result</a:t>
            </a:r>
            <a:r>
              <a:rPr sz="2000" b="0" i="0">
                <a:solidFill>
                  <a:srgbClr val="1F2328"/>
                </a:solidFill>
                <a:latin typeface="Courier New"/>
              </a:rPr>
              <a:t> </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converter</a:t>
            </a:r>
            <a:r>
              <a:rPr sz="2000" b="0" i="0">
                <a:solidFill>
                  <a:srgbClr val="1F2328"/>
                </a:solidFill>
                <a:latin typeface="Courier New"/>
              </a:rPr>
              <a:t>.</a:t>
            </a:r>
            <a:r>
              <a:rPr sz="2000" b="0" i="0">
                <a:solidFill>
                  <a:srgbClr val="1F2328"/>
                </a:solidFill>
                <a:latin typeface="Courier New"/>
              </a:rPr>
              <a:t>convert</a:t>
            </a:r>
            <a:r>
              <a:rPr sz="2000" b="0" i="0">
                <a:solidFill>
                  <a:srgbClr val="1F2328"/>
                </a:solidFill>
                <a:latin typeface="Courier New"/>
              </a:rPr>
              <a:t>(</a:t>
            </a:r>
            <a:r>
              <a:rPr sz="2000" b="0" i="0">
                <a:solidFill>
                  <a:srgbClr val="B04A2B"/>
                </a:solidFill>
                <a:latin typeface="Courier New"/>
              </a:rPr>
              <a:t>'docs/policies/Staff Handbook 2025.pdf'</a:t>
            </a:r>
            <a:r>
              <a:rPr sz="2000" b="0" i="0">
                <a:solidFill>
                  <a:srgbClr val="1F2328"/>
                </a:solidFill>
                <a:latin typeface="Courier New"/>
              </a:rPr>
              <a:t>)</a:t>
            </a:r>
          </a:p>
          <a:p>
            <a:r>
              <a:rPr sz="2000" b="0" i="0">
                <a:solidFill>
                  <a:srgbClr val="1F2328"/>
                </a:solidFill>
                <a:latin typeface="Courier New"/>
              </a:rPr>
              <a:t>print</a:t>
            </a:r>
            <a:r>
              <a:rPr sz="2000" b="0" i="0">
                <a:solidFill>
                  <a:srgbClr val="1F2328"/>
                </a:solidFill>
                <a:latin typeface="Courier New"/>
              </a:rPr>
              <a:t>(</a:t>
            </a:r>
            <a:r>
              <a:rPr sz="2000" b="0" i="0">
                <a:solidFill>
                  <a:srgbClr val="1F2328"/>
                </a:solidFill>
                <a:latin typeface="Courier New"/>
              </a:rPr>
              <a:t>result</a:t>
            </a:r>
            <a:r>
              <a:rPr sz="2000" b="0" i="0">
                <a:solidFill>
                  <a:srgbClr val="1F2328"/>
                </a:solidFill>
                <a:latin typeface="Courier New"/>
              </a:rPr>
              <a:t>.</a:t>
            </a:r>
            <a:r>
              <a:rPr sz="2000" b="0" i="0">
                <a:solidFill>
                  <a:srgbClr val="1F2328"/>
                </a:solidFill>
                <a:latin typeface="Courier New"/>
              </a:rPr>
              <a:t>document</a:t>
            </a:r>
            <a:r>
              <a:rPr sz="2000" b="0" i="0">
                <a:solidFill>
                  <a:srgbClr val="1F2328"/>
                </a:solidFill>
                <a:latin typeface="Courier New"/>
              </a:rPr>
              <a:t>.</a:t>
            </a:r>
            <a:r>
              <a:rPr sz="2000" b="0" i="0">
                <a:solidFill>
                  <a:srgbClr val="1F2328"/>
                </a:solidFill>
                <a:latin typeface="Courier New"/>
              </a:rPr>
              <a:t>export_to_markdown</a:t>
            </a:r>
            <a:r>
              <a:rPr sz="2000" b="0" i="0">
                <a:solidFill>
                  <a:srgbClr val="1F2328"/>
                </a:solidFill>
                <a:latin typeface="Courier New"/>
              </a:rPr>
              <a:t>(</a:t>
            </a:r>
            <a:r>
              <a:rPr sz="2000" b="0" i="0">
                <a:solidFill>
                  <a:srgbClr val="1F2328"/>
                </a:solidFill>
                <a:latin typeface="Courier New"/>
              </a:rPr>
              <a:t>)</a:t>
            </a:r>
            <a:r>
              <a:rPr sz="2000" b="0" i="0">
                <a:solidFill>
                  <a:srgbClr val="1F2328"/>
                </a:solidFill>
                <a:latin typeface="Courier New"/>
              </a:rPr>
              <a:t>)</a:t>
            </a:r>
          </a:p>
        </p:txBody>
      </p:sp>
      <p:grpSp>
        <p:nvGrpSpPr>
          <p:cNvPr id="7" name="says-1"/>
          <p:cNvGrpSpPr/>
          <p:nvPr/>
        </p:nvGrpSpPr>
        <p:grpSpPr>
          <a:xfrm>
            <a:off x="685800" y="3544824"/>
            <a:ext cx="5204307" cy="1353312"/>
            <a:chOff x="685800" y="3544824"/>
            <a:chExt cx="5204307" cy="1353312"/>
          </a:xfrm>
        </p:grpSpPr>
        <p:cxnSp>
          <p:nvCxnSpPr>
            <p:cNvPr id="8" name="Connector 7"/>
            <p:cNvCxnSpPr/>
            <p:nvPr/>
          </p:nvCxnSpPr>
          <p:spPr>
            <a:xfrm>
              <a:off x="685800" y="3544824"/>
              <a:ext cx="5204307" cy="0"/>
            </a:xfrm>
            <a:prstGeom prst="line">
              <a:avLst/>
            </a:prstGeom>
            <a:ln w="15875">
              <a:solidFill>
                <a:srgbClr val="1F2328"/>
              </a:solidFill>
            </a:ln>
          </p:spPr>
        </p:cxnSp>
        <p:sp>
          <p:nvSpPr>
            <p:cNvPr id="9" name="TextBox 8"/>
            <p:cNvSpPr txBox="1"/>
            <p:nvPr/>
          </p:nvSpPr>
          <p:spPr>
            <a:xfrm>
              <a:off x="685800" y="3617976"/>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0" name="TextBox 9"/>
            <p:cNvSpPr txBox="1"/>
            <p:nvPr/>
          </p:nvSpPr>
          <p:spPr>
            <a:xfrm>
              <a:off x="1033271" y="3617976"/>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Create the converter. Its layout models download the first time it runs.</a:t>
              </a:r>
            </a:p>
          </p:txBody>
        </p:sp>
      </p:grpSp>
      <p:grpSp>
        <p:nvGrpSpPr>
          <p:cNvPr id="11" name="says-2"/>
          <p:cNvGrpSpPr/>
          <p:nvPr/>
        </p:nvGrpSpPr>
        <p:grpSpPr>
          <a:xfrm>
            <a:off x="6301587" y="3544824"/>
            <a:ext cx="5204308" cy="1353312"/>
            <a:chOff x="6301587" y="3544824"/>
            <a:chExt cx="5204308" cy="1353312"/>
          </a:xfrm>
        </p:grpSpPr>
        <p:cxnSp>
          <p:nvCxnSpPr>
            <p:cNvPr id="12" name="Connector 11"/>
            <p:cNvCxnSpPr/>
            <p:nvPr/>
          </p:nvCxnSpPr>
          <p:spPr>
            <a:xfrm>
              <a:off x="6301587" y="3544824"/>
              <a:ext cx="5204308" cy="0"/>
            </a:xfrm>
            <a:prstGeom prst="line">
              <a:avLst/>
            </a:prstGeom>
            <a:ln w="15875">
              <a:solidFill>
                <a:srgbClr val="1F2328"/>
              </a:solidFill>
            </a:ln>
          </p:spPr>
        </p:cxnSp>
        <p:sp>
          <p:nvSpPr>
            <p:cNvPr id="13" name="TextBox 12"/>
            <p:cNvSpPr txBox="1"/>
            <p:nvPr/>
          </p:nvSpPr>
          <p:spPr>
            <a:xfrm>
              <a:off x="6301587" y="3617976"/>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4" name="TextBox 13"/>
            <p:cNvSpPr txBox="1"/>
            <p:nvPr/>
          </p:nvSpPr>
          <p:spPr>
            <a:xfrm>
              <a:off x="6649059" y="3617976"/>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Convert one file, then print its structure as markdown text.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Workshop: the readiness table for 50 documents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From documents to clean text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568234"/>
          </a:xfrm>
          <a:prstGeom prst="rect">
            <a:avLst/>
          </a:prstGeom>
          <a:noFill/>
        </p:spPr>
        <p:txBody>
          <a:bodyPr wrap="square" lIns="0" rIns="0" tIns="18288" bIns="18288" anchor="t">
            <a:spAutoFit/>
          </a:bodyPr>
          <a:lstStyle/>
          <a:p>
            <a:pPr algn="l"/>
            <a:r>
              <a:rPr sz="1750" b="0" i="0">
                <a:solidFill>
                  <a:srgbClr val="1F2328"/>
                </a:solidFill>
                <a:latin typeface="Calibri"/>
              </a:rPr>
              <a:t>Pick 50 non-confidential documents from one shared drive, old and new</a:t>
            </a:r>
          </a:p>
        </p:txBody>
      </p:sp>
      <p:cxnSp>
        <p:nvCxnSpPr>
          <p:cNvPr id="8" name="Connector 7"/>
          <p:cNvCxnSpPr/>
          <p:nvPr/>
        </p:nvCxnSpPr>
        <p:spPr>
          <a:xfrm>
            <a:off x="685800" y="2259874"/>
            <a:ext cx="7223760" cy="0"/>
          </a:xfrm>
          <a:prstGeom prst="line">
            <a:avLst/>
          </a:prstGeom>
          <a:ln w="6350">
            <a:solidFill>
              <a:srgbClr val="C9C5BC"/>
            </a:solidFill>
          </a:ln>
        </p:spPr>
      </p:cxnSp>
      <p:sp>
        <p:nvSpPr>
          <p:cNvPr id="9" name="TextBox 8"/>
          <p:cNvSpPr txBox="1"/>
          <p:nvPr/>
        </p:nvSpPr>
        <p:spPr>
          <a:xfrm>
            <a:off x="685800" y="2351314"/>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351314"/>
            <a:ext cx="6675120" cy="568234"/>
          </a:xfrm>
          <a:prstGeom prst="rect">
            <a:avLst/>
          </a:prstGeom>
          <a:noFill/>
        </p:spPr>
        <p:txBody>
          <a:bodyPr wrap="square" lIns="0" rIns="0" tIns="18288" bIns="18288" anchor="t">
            <a:spAutoFit/>
          </a:bodyPr>
          <a:lstStyle/>
          <a:p>
            <a:pPr algn="l"/>
            <a:r>
              <a:rPr sz="1700" b="0" i="0">
                <a:solidFill>
                  <a:srgbClr val="1F2328"/>
                </a:solidFill>
                <a:latin typeface="Calibri"/>
              </a:rPr>
              <a:t>Make a sheet: file, format, text quality, version status, sensitivity, chunk plan</a:t>
            </a:r>
          </a:p>
        </p:txBody>
      </p:sp>
      <p:cxnSp>
        <p:nvCxnSpPr>
          <p:cNvPr id="11" name="Connector 10"/>
          <p:cNvCxnSpPr/>
          <p:nvPr/>
        </p:nvCxnSpPr>
        <p:spPr>
          <a:xfrm>
            <a:off x="685800" y="2919548"/>
            <a:ext cx="7223760" cy="0"/>
          </a:xfrm>
          <a:prstGeom prst="line">
            <a:avLst/>
          </a:prstGeom>
          <a:ln w="6350">
            <a:solidFill>
              <a:srgbClr val="C9C5BC"/>
            </a:solidFill>
          </a:ln>
        </p:spPr>
      </p:cxnSp>
      <p:sp>
        <p:nvSpPr>
          <p:cNvPr id="12" name="TextBox 11"/>
          <p:cNvSpPr txBox="1"/>
          <p:nvPr/>
        </p:nvSpPr>
        <p:spPr>
          <a:xfrm>
            <a:off x="685800" y="3010988"/>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010988"/>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Fill in format. Open each PDF and try to select a line of text</a:t>
            </a:r>
          </a:p>
        </p:txBody>
      </p:sp>
      <p:cxnSp>
        <p:nvCxnSpPr>
          <p:cNvPr id="14" name="Connector 13"/>
          <p:cNvCxnSpPr/>
          <p:nvPr/>
        </p:nvCxnSpPr>
        <p:spPr>
          <a:xfrm>
            <a:off x="685800" y="3579222"/>
            <a:ext cx="7223760" cy="0"/>
          </a:xfrm>
          <a:prstGeom prst="line">
            <a:avLst/>
          </a:prstGeom>
          <a:ln w="6350">
            <a:solidFill>
              <a:srgbClr val="C9C5BC"/>
            </a:solidFill>
          </a:ln>
        </p:spPr>
      </p:cxnSp>
      <p:sp>
        <p:nvSpPr>
          <p:cNvPr id="15" name="TextBox 14"/>
          <p:cNvSpPr txBox="1"/>
          <p:nvPr/>
        </p:nvSpPr>
        <p:spPr>
          <a:xfrm>
            <a:off x="685800" y="3670662"/>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670662"/>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Mark text quality: good, repair or unreadable</a:t>
            </a:r>
          </a:p>
        </p:txBody>
      </p:sp>
      <p:cxnSp>
        <p:nvCxnSpPr>
          <p:cNvPr id="17" name="Connector 16"/>
          <p:cNvCxnSpPr/>
          <p:nvPr/>
        </p:nvCxnSpPr>
        <p:spPr>
          <a:xfrm>
            <a:off x="685800" y="4238897"/>
            <a:ext cx="7223760" cy="0"/>
          </a:xfrm>
          <a:prstGeom prst="line">
            <a:avLst/>
          </a:prstGeom>
          <a:ln w="6350">
            <a:solidFill>
              <a:srgbClr val="C9C5BC"/>
            </a:solidFill>
          </a:ln>
        </p:spPr>
      </p:cxnSp>
      <p:sp>
        <p:nvSpPr>
          <p:cNvPr id="18" name="TextBox 17"/>
          <p:cNvSpPr txBox="1"/>
          <p:nvPr/>
        </p:nvSpPr>
        <p:spPr>
          <a:xfrm>
            <a:off x="685800" y="4330337"/>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330337"/>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Mark version status: current, superseded or unknown</a:t>
            </a:r>
          </a:p>
        </p:txBody>
      </p:sp>
      <p:cxnSp>
        <p:nvCxnSpPr>
          <p:cNvPr id="20" name="Connector 19"/>
          <p:cNvCxnSpPr/>
          <p:nvPr/>
        </p:nvCxnSpPr>
        <p:spPr>
          <a:xfrm>
            <a:off x="685800" y="4898571"/>
            <a:ext cx="7223760" cy="0"/>
          </a:xfrm>
          <a:prstGeom prst="line">
            <a:avLst/>
          </a:prstGeom>
          <a:ln w="6350">
            <a:solidFill>
              <a:srgbClr val="C9C5BC"/>
            </a:solidFill>
          </a:ln>
        </p:spPr>
      </p:cxnSp>
      <p:sp>
        <p:nvSpPr>
          <p:cNvPr id="21" name="TextBox 20"/>
          <p:cNvSpPr txBox="1"/>
          <p:nvPr/>
        </p:nvSpPr>
        <p:spPr>
          <a:xfrm>
            <a:off x="685800" y="4990011"/>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4990011"/>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Add sensitivity and a chunk plan for each row</a:t>
            </a:r>
          </a:p>
        </p:txBody>
      </p:sp>
      <p:cxnSp>
        <p:nvCxnSpPr>
          <p:cNvPr id="23" name="Connector 22"/>
          <p:cNvCxnSpPr/>
          <p:nvPr/>
        </p:nvCxnSpPr>
        <p:spPr>
          <a:xfrm>
            <a:off x="685800" y="5558245"/>
            <a:ext cx="7223760" cy="0"/>
          </a:xfrm>
          <a:prstGeom prst="line">
            <a:avLst/>
          </a:prstGeom>
          <a:ln w="6350">
            <a:solidFill>
              <a:srgbClr val="C9C5BC"/>
            </a:solidFill>
          </a:ln>
        </p:spPr>
      </p:cxnSp>
      <p:sp>
        <p:nvSpPr>
          <p:cNvPr id="24" name="TextBox 23"/>
          <p:cNvSpPr txBox="1"/>
          <p:nvPr/>
        </p:nvSpPr>
        <p:spPr>
          <a:xfrm>
            <a:off x="685800" y="5649685"/>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7</a:t>
            </a:r>
          </a:p>
        </p:txBody>
      </p:sp>
      <p:sp>
        <p:nvSpPr>
          <p:cNvPr id="25" name="TextBox 24"/>
          <p:cNvSpPr txBox="1"/>
          <p:nvPr/>
        </p:nvSpPr>
        <p:spPr>
          <a:xfrm>
            <a:off x="1234440" y="5649685"/>
            <a:ext cx="6675120" cy="568234"/>
          </a:xfrm>
          <a:prstGeom prst="rect">
            <a:avLst/>
          </a:prstGeom>
          <a:noFill/>
        </p:spPr>
        <p:txBody>
          <a:bodyPr wrap="square" lIns="0" rIns="0" tIns="18288" bIns="18288" anchor="t">
            <a:spAutoFit/>
          </a:bodyPr>
          <a:lstStyle/>
          <a:p>
            <a:pPr algn="l"/>
            <a:r>
              <a:rPr sz="1950" b="0" i="0">
                <a:solidFill>
                  <a:srgbClr val="1F2328"/>
                </a:solidFill>
                <a:latin typeface="Calibri"/>
              </a:rPr>
              <a:t>Count the rows by verdict and name an owner for the worst three</a:t>
            </a:r>
          </a:p>
        </p:txBody>
      </p:sp>
      <p:cxnSp>
        <p:nvCxnSpPr>
          <p:cNvPr id="26" name="Connector 25"/>
          <p:cNvCxnSpPr/>
          <p:nvPr/>
        </p:nvCxnSpPr>
        <p:spPr>
          <a:xfrm>
            <a:off x="685800" y="6217920"/>
            <a:ext cx="7223760" cy="0"/>
          </a:xfrm>
          <a:prstGeom prst="line">
            <a:avLst/>
          </a:prstGeom>
          <a:ln w="6350">
            <a:solidFill>
              <a:srgbClr val="C9C5BC"/>
            </a:solidFill>
          </a:ln>
        </p:spPr>
      </p:cxnSp>
      <p:cxnSp>
        <p:nvCxnSpPr>
          <p:cNvPr id="27" name="Connector 26"/>
          <p:cNvCxnSpPr/>
          <p:nvPr/>
        </p:nvCxnSpPr>
        <p:spPr>
          <a:xfrm>
            <a:off x="8458200" y="1600200"/>
            <a:ext cx="3047695" cy="0"/>
          </a:xfrm>
          <a:prstGeom prst="line">
            <a:avLst/>
          </a:prstGeom>
          <a:ln w="15875">
            <a:solidFill>
              <a:srgbClr val="1F2328"/>
            </a:solidFill>
          </a:ln>
        </p:spPr>
      </p:cxnSp>
      <p:sp>
        <p:nvSpPr>
          <p:cNvPr id="28" name="TextBox 27"/>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9" name="TextBox 28"/>
          <p:cNvSpPr txBox="1"/>
          <p:nvPr/>
        </p:nvSpPr>
        <p:spPr>
          <a:xfrm>
            <a:off x="8458200" y="2011680"/>
            <a:ext cx="3047695" cy="1097280"/>
          </a:xfrm>
          <a:prstGeom prst="rect">
            <a:avLst/>
          </a:prstGeom>
          <a:noFill/>
        </p:spPr>
        <p:txBody>
          <a:bodyPr wrap="square" lIns="0" rIns="0" tIns="18288" bIns="18288" anchor="t">
            <a:spAutoFit/>
          </a:bodyPr>
          <a:lstStyle/>
          <a:p>
            <a:pPr algn="l"/>
            <a:r>
              <a:rPr sz="1700" b="1" i="0">
                <a:solidFill>
                  <a:srgbClr val="1F2328"/>
                </a:solidFill>
                <a:latin typeface="Cambria"/>
              </a:rPr>
              <a:t>Your own sheet with six columns, and the team notebook
40 minutes</a:t>
            </a:r>
          </a:p>
        </p:txBody>
      </p:sp>
      <p:cxnSp>
        <p:nvCxnSpPr>
          <p:cNvPr id="30" name="Connector 29"/>
          <p:cNvCxnSpPr/>
          <p:nvPr/>
        </p:nvCxnSpPr>
        <p:spPr>
          <a:xfrm>
            <a:off x="8458200" y="3200400"/>
            <a:ext cx="3047695" cy="0"/>
          </a:xfrm>
          <a:prstGeom prst="line">
            <a:avLst/>
          </a:prstGeom>
          <a:ln w="6350">
            <a:solidFill>
              <a:srgbClr val="C9C5BC"/>
            </a:solidFill>
          </a:ln>
        </p:spPr>
      </p:cxnSp>
      <p:sp>
        <p:nvSpPr>
          <p:cNvPr id="31" name="TextBox 30"/>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32" name="TextBox 31"/>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50 rows with six columns filled, a verdict on each, and the three most urgent repairs each with an owner.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From documents to clean text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A PDF returns an empty string from pypdf. What is it and what do you do?</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000" b="0" i="0">
                  <a:solidFill>
                    <a:srgbClr val="3B4046"/>
                  </a:solidFill>
                  <a:latin typeface="Calibri"/>
                </a:rPr>
                <a:t>A scan with no text layer. Run OCR, then check its confidence or error rate before you trust the text.</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Why does a price table read by pypdf give wrong answers?</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pypdf lists every service, then every charge, so a price lands nine lines from its name. pdfplumber keeps each row together.</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Who in your organisation signs off which documents may feed an AI search, and what error rate on scans will you accept?</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Name a role, such as the owner of the document family with the records lead. Accept a higher rate only where answers show their source page.</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From documents to clean text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A PDF without a text layer is a scan. OCR reads it, with errors you must measure.</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Tables, headers and footers and old versions make clean looking text wrong.</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Cut text into overlapping chunks, and give each chunk a status and an access label.</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Search by meaning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