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Session 4, quality, metadata and data contracts. Kitara wants to use its customer table for a churn model and an assistant, and the table has five thousand rows, a hundred and fifty duplicates and phone numbers in four formats. You and your colleague will learn to measure that, write rules a machine can check, and put an owner and a change rule in a contract. By the end you'll have six quality rules and one data contract for a dataset of your choice.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today you'll measure completeness, validity and uniqueness on a real table. You'll write a rule that a machine can check, with a threshold a leader has signed, and a data contract with an owner and a change rule. The timetable is the usual one. Ten minutes of warm-up, thirty of teaching, twenty five of live demonstration, a short break, then forty minutes with the contract workbook on your own data, and ten minutes at the end for a decision about who stops a load.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today. A dimension is one angle from which you measure quality, such as completeness. Profiling is a quick measured look at a table before you trust it. A rule is a column, a test and a threshold. The threshold is the share of rows that must pass, and a leader sets it. A schema lists the columns of a table with their types. A data contract is the written agreement between the team that makes a dataset and the teams that use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3 gave Kitara an inventory of fourteen data sources, and it showed that four of them have no owner. Two questions on it. Every source has an owner, a steward and a custodian. How do the three differ? Take your time.</a:t>
            </a:r>
          </a:p>
          <a:p/>
          <a:p>
            <a:r>
              <a:t>The owner answers for the data and decides who may use it. The steward looks after its quality from day to day. The custodian runs the system it sits in. Second question. Source S03 holds scanned national ID copies, and the inventory recorded it as internal. What class should it carry? Have a think.</a:t>
            </a:r>
          </a:p>
          <a:p/>
          <a:p>
            <a:r>
              <a:t>Confidential. Scans of identity cards are personal data of the most sensitive kind. Last session we asked who owns the data. Today we ask whether the data is any good, and how a machine can tell.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quality means fit for the use you have in mind. A table that is fine for a monthly report can still be wrong for an AI. To make that measurable we split quality into six questions, called dimensions. A dimension is one angle from which you can measure a table.</a:t>
            </a:r>
          </a:p>
          <a:p/>
          <a:p>
            <a:r>
              <a:t>Completeness asks whether everything is there. Email is blank for thirty two and a half percent of Kitara's customers. Validity asks whether a value has the allowed form. Two thousand four hundred and ninety phone numbers are not written in the plus two five six form. Uniqueness asks whether each customer appears once. A hundred and fifty appear twice.</a:t>
            </a:r>
          </a:p>
          <a:p/>
          <a:p>
            <a:r>
              <a:t>Consistency asks whether the same fact is written the same way. Gender is coded eight different ways. Timeliness asks whether the data is recent enough. The mobile money log has a six hour hole in one day. Accuracy asks whether the value matches the real world, and that is the one a rule cannot settle alone. Someone has to compare a sample with paper or with the customer.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these words come from? The six we just used come from a 2013 paper by a working group of DAMA UK. DAMA is the international association for data management, and it also publishes the DMBOK, a reference guide to the whole field. Many data teams still use those six.</a:t>
            </a:r>
          </a:p>
          <a:p/>
          <a:p>
            <a:r>
              <a:t>A newer source is the ISO and IEC 5259 series, published from 2024, on data quality for analytics and machine learning. It uses a longer list. Besides accuracy, completeness and consistency, it names credibility and currentness. Standards bodies sell their texts, so read the edition your organisation holds before you quote it.</a:t>
            </a:r>
          </a:p>
          <a:p/>
          <a:p>
            <a:r>
              <a:t>You do not need to settle which list is better. You need one list that everybody in your organisation uses, with each word defined in a sentence. Otherwise the data team says valid, the business says correct, and they mean different things.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 wants to use its customer table, customers.csv, for a churn model and a customer service assistant. Five thousand rows. Before anyone builds anything, the data team counted the defects, and this is what they found.</a:t>
            </a:r>
          </a:p>
          <a:p/>
          <a:p>
            <a:r>
              <a:t>The longest bar is phone numbers. Two thousand four hundred and ninety rows hold a number that is not in the plus two five six form. They come as zero seven, as two five six without a plus, or with spaces and dashes.</a:t>
            </a:r>
          </a:p>
          <a:p/>
          <a:p>
            <a:r>
              <a:t>Gender is coded eight ways in fourteen hundred and sixty two rows. F, Female, lower case f and the digit two all mean the same thing.</a:t>
            </a:r>
          </a:p>
          <a:p/>
          <a:p>
            <a:r>
              <a:t>A hundred and fifty rows are the same person entered twice. Each copy has its own customer id, so no id check will catch them.</a:t>
            </a:r>
          </a:p>
          <a:p/>
          <a:p>
            <a:r>
              <a:t>Forty rows carry dates that cannot be real, such as a birth year of 1850. And twenty five rows are test accounts that never left production. A row can have more than one defect, so you cannot add the bars 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Profiling means taking a quick measured look at a table before you trust it. Three lines do the first pass.</a:t>
            </a:r>
          </a:p>
          <a:p/>
          <a:p>
            <a:r>
              <a:t>We read customers.csv and count the rows against the distinct customer ids. Five thousand rows and five thousand distinct ids. Every row has its own id. Remember that, because it means an id check says all is well while a hundred and fifty customers are listed twice.</a:t>
            </a:r>
          </a:p>
          <a:p/>
          <a:p>
            <a:r>
              <a:t>Next, for every column, we work out the percent of cells that are blank.</a:t>
            </a:r>
          </a:p>
          <a:p/>
          <a:p>
            <a:r>
              <a:t>Then we keep only the columns with something missing, longest first. Email is blank for thirty two and a half percent, the national ID for eleven percent, and date of birth for six. Every other column is complete.</a:t>
            </a:r>
          </a:p>
          <a:p/>
          <a:p>
            <a:r>
              <a:t>A profile only describes. It does not say whether eleven percent missing is acceptable. That needs a rule and a threshold, and the threshold is a business decision.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quality rule has three parts: a column, a test and a threshold. Written as code, a machine can run it every night. Here are four of the six rules for the customer table.</a:t>
            </a:r>
          </a:p>
          <a:p/>
          <a:p>
            <a:r>
              <a:t>Each rule is a test that gives true or false for every row, paired with the share of rows that must pass. The threshold is the number a leader signs.</a:t>
            </a:r>
          </a:p>
          <a:p/>
          <a:p>
            <a:r>
              <a:t>The phone rule uses a pattern, a short code that describes the allowed shape: plus two five six, then a seven, then eight digits. The date rule checks that birth dates fall between nineteen hundred and today, and that no account opened in the future.</a:t>
            </a:r>
          </a:p>
          <a:p/>
          <a:p>
            <a:r>
              <a:t>Read the results. National ID is filled in for eighty nine percent, and the bank asked for ninety nine. Phones pass for fifty point two percent. Dates for ninety nine point two. Gender for seventy point eight.</a:t>
            </a:r>
          </a:p>
          <a:p/>
          <a:p>
            <a:r>
              <a:t>Last line. Only fifteen hundred and fifty seven rows pass all four rules at once. We come back to that number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Uniqueness is the next rule, one of the six for our customer table. Two copies of one customer will not share a customer id, so we match on what identifies the person: name and date of birth.</a:t>
            </a:r>
          </a:p>
          <a:p/>
          <a:p>
            <a:r>
              <a:t>We first keep customers who have a birth date, because a blank date would match every other blank and give false duplicates.</a:t>
            </a:r>
          </a:p>
          <a:p/>
          <a:p>
            <a:r>
              <a:t>Then we compare the names exactly as typed, and we find seventy five pairs. Next we normalise the names, which means lower case and one space between words. Mercy Ssebunya and MERCY SSEBUNYA now match, and so do names with a double space or a trailing space. The count doubles to a hundred and fifty.</a:t>
            </a:r>
          </a:p>
          <a:p/>
          <a:p>
            <a:r>
              <a:t>A second rule, the national ID, finds the same hundred and fifty. When two independent rules agree, you can trust the count.</a:t>
            </a:r>
          </a:p>
          <a:p/>
          <a:p>
            <a:r>
              <a:t>Kitara has five thousand rows and four thousand eight hundred and fifty distinct people.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quality report lands on your desk with one line per rule, and nothing on it looks alarming.</a:t>
            </a:r>
          </a:p>
          <a:p/>
          <a:p>
            <a:r>
              <a:t>Dates fail on under one percent of rows. The national ID is missing on eleven percent. Read down the list and each line looks like a small job to schedule for later.</a:t>
            </a:r>
          </a:p>
          <a:p/>
          <a:p>
            <a:r>
              <a:t>The trouble is that each line counts rows for one rule alone, and the failures fall on different rows. An AI does not read a rule. It reads a row, with a phone, a gender, a date and an ID together. A row that fails any rule is a bad row for that purpose. Across the four rules, only fifteen hundred and fifty seven rows out of five thousand pass every one. That is thirty one percent.</a:t>
            </a:r>
          </a:p>
          <a:p/>
          <a:p>
            <a:r>
              <a:t>Ask for two numbers on every report: each rule, and the share of rows that pass all of them. Then decide which rules must hold before an AI may read the table. Phone format matters for a text message campaign. It may not matter for a churn model. That is a leader's call.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table, mobile_money_log.csv, holds twenty thousand transactions from September. The same dimensions apply.</a:t>
            </a:r>
          </a:p>
          <a:p/>
          <a:p>
            <a:r>
              <a:t>First the clock. Twelve agents record the time as day, month, year, while everyone else writes year, month, day. We read each format separately and combine them, so every row gets a proper time.</a:t>
            </a:r>
          </a:p>
          <a:p/>
          <a:p>
            <a:r>
              <a:t>Three hundred transaction ids appear twice, and that is a uniqueness failure. A hundred and sixty amounts are zero or below, and that is validity.</a:t>
            </a:r>
          </a:p>
          <a:p/>
          <a:p>
            <a:r>
              <a:t>A thousand eight hundred and forty two rows use the second timestamp format. That is a consistency problem. Reading both formats fixes it, and no timestamp is left unreadable.</a:t>
            </a:r>
          </a:p>
          <a:p/>
          <a:p>
            <a:r>
              <a:t>Last, timeliness. We sort by time and find the longest gap between two transactions. Six hours and five minutes. A busy log does not go quiet for six hours by accident, so something upstream stopped. Nobody got an alert.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gap, drawn out for one day, the seventeenth of September.</a:t>
            </a:r>
          </a:p>
          <a:p/>
          <a:p>
            <a:r>
              <a:t>Each bar counts the transactions in one hour. The hatched block marks the stretch with no records, from eight fifty nine in the morning to five past three in the afternoon.</a:t>
            </a:r>
          </a:p>
          <a:p/>
          <a:p>
            <a:r>
              <a:t>At the edges of the gap, in the hour before the gap, about forty transactions were recorded, and in the hour after it, about fifty. This is a working day, and customers were still using their phones. The data stopped arriving.</a:t>
            </a:r>
          </a:p>
          <a:p/>
          <a:p>
            <a:r>
              <a:t>A fraud model that learns from this log sees a quiet midday that never happened. A freshness rule would have caught it. The next longest silence in the whole month is one point six hours, so a rule that says no gap over three hours would have fired once, on this day, and an engineer would have been told within hours.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fails on purpose, and I'd like you to read the failure as a leader.</a:t>
            </a:r>
          </a:p>
          <a:p/>
          <a:p>
            <a:r>
              <a:t>A gate is a small function placed in front of a load. It counts the bad rows for one rule, works out the share, and stops the whole load when the share is over the limit.</a:t>
            </a:r>
          </a:p>
          <a:p/>
          <a:p>
            <a:r>
              <a:t>We call it twice on the mobile money log. Amounts at zero or below are eight tenths of one percent, and the limit we set is one percent. It prints passed.</a:t>
            </a:r>
          </a:p>
          <a:p/>
          <a:p>
            <a:r>
              <a:t>Repeated transaction ids are one and a half percent against a limit of a tenth of one percent. The assert fails and the message says what happened, how many rows and which limit. The load stops.</a:t>
            </a:r>
          </a:p>
          <a:p/>
          <a:p>
            <a:r>
              <a:t>A failed gate is the system working. The cost of stopping is a delayed report. The cost of carrying on is three hundred transactions counted twice. Someone has to decide in advance, for each rule, whether a late report or a wrong one is worse.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of your data colleagues do this work in SQL, the query language of databases, so here is the duplicate rule in that form.</a:t>
            </a:r>
          </a:p>
          <a:p/>
          <a:p>
            <a:r>
              <a:t>The inner query groups the customers by national ID and counts how many rows share each ID. It skips blanks, because a blank is not an identity. HAVING keeps only the groups where the count is above one.</a:t>
            </a:r>
          </a:p>
          <a:p/>
          <a:p>
            <a:r>
              <a:t>The outer query counts those groups and adds up their rows. A hundred and fifty national IDs are used twice, and three hundred rows are involved. Delete one row from each pair and you remove a hundred and fifty, the same number the pandas rule found.</a:t>
            </a:r>
          </a:p>
          <a:p/>
          <a:p>
            <a:r>
              <a:t>If your bank keeps its customers in a database, rules like this can run where the data already sits, with no export to a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Pandera is a free Python library, released under the MIT licence, that holds your rules in one readable object. We show the syntax only today, and the team will try it after the course.</a:t>
            </a:r>
          </a:p>
          <a:p/>
          <a:p>
            <a:r>
              <a:t>A schema lists each column with its type and its checks. Customer id must match the KT pattern and be unique. National ID may be blank, but when it is there it must have the KX form. Gender must be M or F. The phone must have the plus two five six form.</a:t>
            </a:r>
          </a:p>
          <a:p/>
          <a:p>
            <a:r>
              <a:t>The last line validates the customer table. With lazy set to true, Pandera collects every failure into a single report, with the column, the check and the failing values, instead of stopping at the first one.</a:t>
            </a:r>
          </a:p>
          <a:p/>
          <a:p>
            <a:r>
              <a:t>The rules read almost like the table of rules in a contract. A leader can read this and say yes, that is what we mean by valid. The colleague who installs it should check the current documentation, because the import path has changed between versions.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Great Expectations is the best known open source tool for this job. We use its Core library, version one point x, and again show syntax only.</a:t>
            </a:r>
          </a:p>
          <a:p/>
          <a:p>
            <a:r>
              <a:t>The first lines tell the tool where the table lives and take the whole table as one batch. Then comes one expectation, which is the tool's word for a rule: the national ID column must not be null. The word mostly sets the threshold. Zero point nine nine means ninety nine percent of rows must pass.</a:t>
            </a:r>
          </a:p>
          <a:p/>
          <a:p>
            <a:r>
              <a:t>The last line runs it and prints true or false. On Kitara's table it would print false, since only eighty nine percent are filled in.</a:t>
            </a:r>
          </a:p>
          <a:p/>
          <a:p>
            <a:r>
              <a:t>A caution about ownership. As of October 2026, the Great Expectations company says its commercial cloud product closed on the first of June, and that Fivetran now stewards the open source Core project. Core stays under the Apache licence. Tell your team to check which package and which licence they install before they build anything on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a defect cost once it is downstream? Four numbers from Kitara's own files.</a:t>
            </a:r>
          </a:p>
          <a:p/>
          <a:p>
            <a:r>
              <a:t>A duplicate rule would merge a hundred and fifty customer records. A board report that counts customers says five thousand. The real number of people is four thousand eight hundred and fifty, so the report is about three percent too high. A churn model sees the same person twice, and if one copy lands in training and the other in testing, the model looks smarter than it is.</a:t>
            </a:r>
          </a:p>
          <a:p/>
          <a:p>
            <a:r>
              <a:t>The repeated transaction ids in the mobile money log carry thirty one million seven hundred and eighty seven thousand five hundred shillings. If a daily total includes them, that money is counted twice.</a:t>
            </a:r>
          </a:p>
          <a:p/>
          <a:p>
            <a:r>
              <a:t>Two thousand four hundred and ninety phone numbers need repair before a text campaign can use them. And five hundred and fifty customers have no national ID, so an identity check has nothing to match.</a:t>
            </a:r>
          </a:p>
          <a:p/>
          <a:p>
            <a:r>
              <a:t>A rule that fires at the source costs one conversation with the owner. The same defect found after a model is live means retraining the model.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that live in someone's notebook disappear when that person leaves. A data contract writes them down as an agreement between the team that produces a dataset and the teams that use it. Five fields cover most of it.</a:t>
            </a:r>
          </a:p>
          <a:p/>
          <a:p>
            <a:r>
              <a:t>The schema lists the columns, their types and which may be blank. Quality holds the rules and thresholds we just ran. Freshness says how old the data may be before an alert goes to someone. For the customer table we propose a daily load and an alert at thirty hours.</a:t>
            </a:r>
          </a:p>
          <a:p/>
          <a:p>
            <a:r>
              <a:t>The owner is the role that answers for the data and can say yes or no to a change. For the customer table, the inventory names the Head of Retail Banking Operations.</a:t>
            </a:r>
          </a:p>
          <a:p/>
          <a:p>
            <a:r>
              <a:t>The change policy says what counts as a breaking change and how much notice consumers get. Thirty days to drop a column is our proposal, and you may choose differently. The owner and the change policy are leader decisions. Your technical colleagues cannot make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you write the contract? There are two practical routes.</a:t>
            </a:r>
          </a:p>
          <a:p/>
          <a:p>
            <a:r>
              <a:t>The first is the Open Data Contract Standard, a public format for data contracts, written as a plain text file in a language called YAML. It is run by Bitol, a project hosted by the Linux Foundation's AI and Data group. Version three point one point zero was released in December 2025. Tools can read it and test your data against it, so the contract does not sit in a drawer.</a:t>
            </a:r>
          </a:p>
          <a:p/>
          <a:p>
            <a:r>
              <a:t>The second is the Data Contract Template workbook in your folder. It carries the same fields as a spreadsheet: identity, schema, quality rules, freshness, change policy and sign-off. Most of you will start here, and that is fine. A signed workbook beats a perfect file that nobody wrote.</a:t>
            </a:r>
          </a:p>
          <a:p/>
          <a:p>
            <a:r>
              <a:t>Both carry metadata, which is data about the data. The name, a description, the owner, the sensitivity class and the meaning of each column. Without them, a colleague finds a table called cust2 and has to guess what it holds.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minutes. Open Data Contract Template dot xlsx and choose one dataset your organisation would hand to an AI use. A customer table, a claims register or a transaction log all work. Pick one that you can open today.</a:t>
            </a:r>
          </a:p>
          <a:p/>
          <a:p>
            <a:r>
              <a:t>Fill section one first, and write the owner and the steward as roles. Names change, roles stay. Then list the columns with a type and whether a blank is allowed. In section three, write six rules, each with a column, a test and a threshold. Cover at least four of the six dimensions. Open a sample of the data, a few hundred rows is enough, and write the pass rate beside each rule.</a:t>
            </a:r>
          </a:p>
          <a:p/>
          <a:p>
            <a:r>
              <a:t>Leaders, you set the thresholds and the change policy, and you decide who signs in section six. Data colleagues, once your leader is happy with the rules, open the team notebook and run the Kitara version. I'll be at your tables if a threshold or a column type has you stuck.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to finish, and the third one is yours, leaders. First, Kitara's customer id is unique on every row, yet a hundred and fifty customers appear twice. Which dimension catches that, and how? Sit with it for a second.</a:t>
            </a:r>
          </a:p>
          <a:p/>
          <a:p>
            <a:r>
              <a:t>Uniqueness. You match on the normalised name with the date of birth, or on the national ID, because the id column is different on each copy. Second question. Why report the share of rows that pass every rule, as well as each rule on its own? Let's hear your answer first.</a:t>
            </a:r>
          </a:p>
          <a:p/>
          <a:p>
            <a:r>
              <a:t>Because an AI reads whole rows. At Kitara only fifteen hundred and fifty seven of five thousand rows pass all four rules, though no single rule looks bad. Last question, and it belongs to the leaders. Who in your organisation owns the dataset you chose, and which failed rule would you let stop a load? Think it over.</a:t>
            </a:r>
          </a:p>
          <a:p/>
          <a:p>
            <a:r>
              <a:t>Name a role that can say yes or no to a change. A good candidate for the stopping rule is one behind a regulatory return or a money total, where a wrong number costs more than a late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dimensions turn the question of fitness for use into six plain questions you can ask of any table.</a:t>
            </a:r>
          </a:p>
          <a:p/>
          <a:p>
            <a:r>
              <a:t>A quality rule has a column, a test and a threshold, and a machine can run it every night. Report each rule and also the share of rows that pass them all.</a:t>
            </a:r>
          </a:p>
          <a:p/>
          <a:p>
            <a:r>
              <a:t>A data contract writes down the schema, the quality rules, the freshness limit, the owner and the change policy, and someone signs it. Kitara's customer table passes all four rules on fifteen hundred and fifty seven of five thousand rows today, and the numbers in your own contract will say where to start.</a:t>
            </a:r>
          </a:p>
          <a:p/>
          <a:p>
            <a:r>
              <a:t>Tables are only half of what AI reads. Next session we turn to documents, and find out which of Kitara's can be read, which are scans, and what must be repaired before a search can use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4   Quality, metadata and data contracts</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04</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4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Quality, metadata and data contracts</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know a dataset is fit for AI use?</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Measure completeness, validity and uniqueness on a real table</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Write a quality rule that a machine can check</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Write a data contract with an owner and a change rule</a:t>
            </a:r>
          </a:p>
        </p:txBody>
      </p:sp>
      <p:cxnSp>
        <p:nvCxnSpPr>
          <p:cNvPr id="11" name="Connector 10"/>
          <p:cNvCxnSpPr/>
          <p:nvPr/>
        </p:nvCxnSpPr>
        <p:spPr>
          <a:xfrm>
            <a:off x="685800" y="479694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7"/>
        </p:xfrm>
        <a:graphic>
          <a:graphicData uri="http://schemas.openxmlformats.org/drawingml/2006/table">
            <a:tbl>
              <a:tblPr firstRow="0" bandRow="0">
                <a:tableStyleId>{2D5ABB26-0587-4C30-8999-92F81FD0307C}</a:tableStyleId>
              </a:tblPr>
              <a:tblGrid>
                <a:gridCol w="2164019"/>
                <a:gridCol w="5410047"/>
                <a:gridCol w="3246028"/>
              </a:tblGrid>
              <a:tr h="479406">
                <a:tc>
                  <a:txBody>
                    <a:bodyPr wrap="square"/>
                    <a:lstStyle/>
                    <a:p>
                      <a:r>
                        <a:rPr sz="16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740925">
                <a:tc>
                  <a:txBody>
                    <a:bodyPr wrap="square"/>
                    <a:lstStyle/>
                    <a:p>
                      <a:r>
                        <a:rPr sz="1650" b="1" i="0">
                          <a:solidFill>
                            <a:srgbClr val="1F2328"/>
                          </a:solidFill>
                          <a:latin typeface="Calibri"/>
                        </a:rPr>
                        <a:t>Quality dimension</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One angle from which data quality is measured, such as completeness or validity.</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Six of them, applied to customers.csv</a:t>
                      </a:r>
                    </a:p>
                  </a:txBody>
                  <a:tcPr marL="137160" marR="91440" marT="64008" marB="64008" anchor="ctr">
                    <a:lnL w="0">
                      <a:noFill/>
                    </a:lnL>
                    <a:lnR w="0">
                      <a:noFill/>
                    </a:lnR>
                    <a:lnT w="0">
                      <a:noFill/>
                    </a:lnT>
                    <a:lnB w="6350">
                      <a:solidFill>
                        <a:srgbClr val="C9C5BC"/>
                      </a:solidFill>
                    </a:lnB>
                    <a:noFill/>
                  </a:tcPr>
                </a:tc>
              </a:tr>
              <a:tr h="740925">
                <a:tc>
                  <a:txBody>
                    <a:bodyPr wrap="square"/>
                    <a:lstStyle/>
                    <a:p>
                      <a:r>
                        <a:rPr sz="1650" b="1" i="0">
                          <a:solidFill>
                            <a:srgbClr val="1F2328"/>
                          </a:solidFill>
                          <a:latin typeface="Calibri"/>
                        </a:rPr>
                        <a:t>Profiling</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A quick measured look at a table before you trust it: counts, blanks, ranges.</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Email is blank in 32.5% of customers</a:t>
                      </a:r>
                    </a:p>
                  </a:txBody>
                  <a:tcPr marL="137160" marR="91440" marT="64008" marB="64008" anchor="ctr">
                    <a:lnL w="0">
                      <a:noFill/>
                    </a:lnL>
                    <a:lnR w="0">
                      <a:noFill/>
                    </a:lnR>
                    <a:lnT w="0">
                      <a:noFill/>
                    </a:lnT>
                    <a:lnB w="6350">
                      <a:solidFill>
                        <a:srgbClr val="C9C5BC"/>
                      </a:solidFill>
                    </a:lnB>
                    <a:noFill/>
                  </a:tcPr>
                </a:tc>
              </a:tr>
              <a:tr h="740925">
                <a:tc>
                  <a:txBody>
                    <a:bodyPr wrap="square"/>
                    <a:lstStyle/>
                    <a:p>
                      <a:r>
                        <a:rPr sz="1650" b="1" i="0">
                          <a:solidFill>
                            <a:srgbClr val="1F2328"/>
                          </a:solidFill>
                          <a:latin typeface="Calibri"/>
                        </a:rPr>
                        <a:t>Quality rule</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A column, a test and a threshold that a machine can check.</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Phone matches +256 7xxxxxxxx for 98% of rows</a:t>
                      </a:r>
                    </a:p>
                  </a:txBody>
                  <a:tcPr marL="137160" marR="91440" marT="64008" marB="64008" anchor="ctr">
                    <a:lnL w="0">
                      <a:noFill/>
                    </a:lnL>
                    <a:lnR w="0">
                      <a:noFill/>
                    </a:lnR>
                    <a:lnT w="0">
                      <a:noFill/>
                    </a:lnT>
                    <a:lnB w="6350">
                      <a:solidFill>
                        <a:srgbClr val="C9C5BC"/>
                      </a:solidFill>
                    </a:lnB>
                    <a:noFill/>
                  </a:tcPr>
                </a:tc>
              </a:tr>
              <a:tr h="479406">
                <a:tc>
                  <a:txBody>
                    <a:bodyPr wrap="square"/>
                    <a:lstStyle/>
                    <a:p>
                      <a:r>
                        <a:rPr sz="1650" b="1" i="0">
                          <a:solidFill>
                            <a:srgbClr val="1F2328"/>
                          </a:solidFill>
                          <a:latin typeface="Calibri"/>
                        </a:rPr>
                        <a:t>Threshold</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The share of rows that must pass a rule. A business decision.</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National ID filled in for 99%</a:t>
                      </a:r>
                    </a:p>
                  </a:txBody>
                  <a:tcPr marL="137160" marR="91440" marT="64008" marB="64008" anchor="ctr">
                    <a:lnL w="0">
                      <a:noFill/>
                    </a:lnL>
                    <a:lnR w="0">
                      <a:noFill/>
                    </a:lnR>
                    <a:lnT w="0">
                      <a:noFill/>
                    </a:lnT>
                    <a:lnB w="6350">
                      <a:solidFill>
                        <a:srgbClr val="C9C5BC"/>
                      </a:solidFill>
                    </a:lnB>
                    <a:noFill/>
                  </a:tcPr>
                </a:tc>
              </a:tr>
              <a:tr h="740925">
                <a:tc>
                  <a:txBody>
                    <a:bodyPr wrap="square"/>
                    <a:lstStyle/>
                    <a:p>
                      <a:r>
                        <a:rPr sz="1650" b="1" i="0">
                          <a:solidFill>
                            <a:srgbClr val="1F2328"/>
                          </a:solidFill>
                          <a:latin typeface="Calibri"/>
                        </a:rPr>
                        <a:t>Schema</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The list of columns in a table with their types and allowed blanks.</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The 14 columns of customers.csv</a:t>
                      </a:r>
                    </a:p>
                  </a:txBody>
                  <a:tcPr marL="137160" marR="91440" marT="64008" marB="64008" anchor="ctr">
                    <a:lnL w="0">
                      <a:noFill/>
                    </a:lnL>
                    <a:lnR w="0">
                      <a:noFill/>
                    </a:lnR>
                    <a:lnT w="0">
                      <a:noFill/>
                    </a:lnT>
                    <a:lnB w="6350">
                      <a:solidFill>
                        <a:srgbClr val="C9C5BC"/>
                      </a:solidFill>
                    </a:lnB>
                    <a:noFill/>
                  </a:tcPr>
                </a:tc>
              </a:tr>
              <a:tr h="740925">
                <a:tc>
                  <a:txBody>
                    <a:bodyPr wrap="square"/>
                    <a:lstStyle/>
                    <a:p>
                      <a:r>
                        <a:rPr sz="1650" b="1" i="0">
                          <a:solidFill>
                            <a:srgbClr val="1F2328"/>
                          </a:solidFill>
                          <a:latin typeface="Calibri"/>
                        </a:rPr>
                        <a:t>Data contract</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A written agreement between the team that produces a dataset and the teams that use it.</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Data Contract Template.xlsx for the customer table</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3</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Every source in the inventory has an owner, a steward and a custodian. How do the three differ?</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owner answers for the data. The steward looks after its quality day to day. The custodian runs the system it sits in.</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S03 holds scanned national ID copies and was recorded as internal. What class should it carry?</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Confidential. Kitara's four classes are public, internal, restricted and confidential.</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Six questions that measure data quality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graphicFrame>
        <p:nvGraphicFramePr>
          <p:cNvPr id="5" name="Table"/>
          <p:cNvGraphicFramePr>
            <a:graphicFrameLocks noGrp="1"/>
          </p:cNvGraphicFramePr>
          <p:nvPr/>
        </p:nvGraphicFramePr>
        <p:xfrm>
          <a:off x="685800" y="1600200"/>
          <a:ext cx="10820094" cy="4526279"/>
        </p:xfrm>
        <a:graphic>
          <a:graphicData uri="http://schemas.openxmlformats.org/drawingml/2006/table">
            <a:tbl>
              <a:tblPr firstRow="0" bandRow="0">
                <a:tableStyleId>{2D5ABB26-0587-4C30-8999-92F81FD0307C}</a:tableStyleId>
              </a:tblPr>
              <a:tblGrid>
                <a:gridCol w="2344353"/>
                <a:gridCol w="3967368"/>
                <a:gridCol w="4508373"/>
              </a:tblGrid>
              <a:tr h="603591">
                <a:tc>
                  <a:txBody>
                    <a:bodyPr wrap="square"/>
                    <a:lstStyle/>
                    <a:p>
                      <a:r>
                        <a:rPr sz="1900" b="1" i="0">
                          <a:solidFill>
                            <a:srgbClr val="1F2328"/>
                          </a:solidFill>
                          <a:latin typeface="Calibri"/>
                        </a:rPr>
                        <a:t>Dimension</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The plain question</a:t>
                      </a:r>
                    </a:p>
                  </a:txBody>
                  <a:tcPr marL="13716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At Kitara</a:t>
                      </a:r>
                    </a:p>
                  </a:txBody>
                  <a:tcPr marL="137160" marR="91440" marT="64008" marB="64008" anchor="ctr">
                    <a:lnL w="0">
                      <a:noFill/>
                    </a:lnL>
                    <a:lnR w="0">
                      <a:noFill/>
                    </a:lnR>
                    <a:lnT w="0">
                      <a:noFill/>
                    </a:lnT>
                    <a:lnB w="15875">
                      <a:solidFill>
                        <a:srgbClr val="1F2328"/>
                      </a:solidFill>
                    </a:lnB>
                    <a:noFill/>
                  </a:tcPr>
                </a:tc>
              </a:tr>
              <a:tr h="603591">
                <a:tc>
                  <a:txBody>
                    <a:bodyPr wrap="square"/>
                    <a:lstStyle/>
                    <a:p>
                      <a:r>
                        <a:rPr sz="1900" b="0" i="0">
                          <a:solidFill>
                            <a:srgbClr val="3B4046"/>
                          </a:solidFill>
                          <a:latin typeface="Calibri"/>
                        </a:rPr>
                        <a:t>Completeness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Is everything there?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Email blank in 32.5% of customers</a:t>
                      </a:r>
                    </a:p>
                  </a:txBody>
                  <a:tcPr marL="137160" marR="91440" marT="64008" marB="64008" anchor="ctr">
                    <a:lnL w="0">
                      <a:noFill/>
                    </a:lnL>
                    <a:lnR w="0">
                      <a:noFill/>
                    </a:lnR>
                    <a:lnT w="0">
                      <a:noFill/>
                    </a:lnT>
                    <a:lnB w="6350">
                      <a:solidFill>
                        <a:srgbClr val="C9C5BC"/>
                      </a:solidFill>
                    </a:lnB>
                    <a:noFill/>
                  </a:tcPr>
                </a:tc>
              </a:tr>
              <a:tr h="603591">
                <a:tc>
                  <a:txBody>
                    <a:bodyPr wrap="square"/>
                    <a:lstStyle/>
                    <a:p>
                      <a:r>
                        <a:rPr sz="1900" b="0" i="0">
                          <a:solidFill>
                            <a:srgbClr val="3B4046"/>
                          </a:solidFill>
                          <a:latin typeface="Calibri"/>
                        </a:rPr>
                        <a:t>Validity</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Is it in the allowed form?</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2,490 phones not in +256 form</a:t>
                      </a:r>
                    </a:p>
                  </a:txBody>
                  <a:tcPr marL="137160" marR="91440" marT="64008" marB="64008" anchor="ctr">
                    <a:lnL w="0">
                      <a:noFill/>
                    </a:lnL>
                    <a:lnR w="0">
                      <a:noFill/>
                    </a:lnR>
                    <a:lnT w="0">
                      <a:noFill/>
                    </a:lnT>
                    <a:lnB w="6350">
                      <a:solidFill>
                        <a:srgbClr val="C9C5BC"/>
                      </a:solidFill>
                    </a:lnB>
                    <a:noFill/>
                  </a:tcPr>
                </a:tc>
              </a:tr>
              <a:tr h="603591">
                <a:tc>
                  <a:txBody>
                    <a:bodyPr wrap="square"/>
                    <a:lstStyle/>
                    <a:p>
                      <a:r>
                        <a:rPr sz="1900" b="0" i="0">
                          <a:solidFill>
                            <a:srgbClr val="3B4046"/>
                          </a:solidFill>
                          <a:latin typeface="Calibri"/>
                        </a:rPr>
                        <a:t>Uniqueness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Is each thing recorded once?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150 customers entered twice</a:t>
                      </a:r>
                    </a:p>
                  </a:txBody>
                  <a:tcPr marL="137160" marR="91440" marT="64008" marB="64008" anchor="ctr">
                    <a:lnL w="0">
                      <a:noFill/>
                    </a:lnL>
                    <a:lnR w="0">
                      <a:noFill/>
                    </a:lnR>
                    <a:lnT w="0">
                      <a:noFill/>
                    </a:lnT>
                    <a:lnB w="6350">
                      <a:solidFill>
                        <a:srgbClr val="C9C5BC"/>
                      </a:solidFill>
                    </a:lnB>
                    <a:noFill/>
                  </a:tcPr>
                </a:tc>
              </a:tr>
              <a:tr h="603591">
                <a:tc>
                  <a:txBody>
                    <a:bodyPr wrap="square"/>
                    <a:lstStyle/>
                    <a:p>
                      <a:r>
                        <a:rPr sz="1900" b="0" i="0">
                          <a:solidFill>
                            <a:srgbClr val="3B4046"/>
                          </a:solidFill>
                          <a:latin typeface="Calibri"/>
                        </a:rPr>
                        <a:t>Consistency</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Does it say the same everywhere?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Gender coded eight ways</a:t>
                      </a:r>
                    </a:p>
                  </a:txBody>
                  <a:tcPr marL="137160" marR="91440" marT="64008" marB="64008" anchor="ctr">
                    <a:lnL w="0">
                      <a:noFill/>
                    </a:lnL>
                    <a:lnR w="0">
                      <a:noFill/>
                    </a:lnR>
                    <a:lnT w="0">
                      <a:noFill/>
                    </a:lnT>
                    <a:lnB w="6350">
                      <a:solidFill>
                        <a:srgbClr val="C9C5BC"/>
                      </a:solidFill>
                    </a:lnB>
                    <a:noFill/>
                  </a:tcPr>
                </a:tc>
              </a:tr>
              <a:tr h="603591">
                <a:tc>
                  <a:txBody>
                    <a:bodyPr wrap="square"/>
                    <a:lstStyle/>
                    <a:p>
                      <a:r>
                        <a:rPr sz="1900" b="0" i="0">
                          <a:solidFill>
                            <a:srgbClr val="3B4046"/>
                          </a:solidFill>
                          <a:latin typeface="Calibri"/>
                        </a:rPr>
                        <a:t>Timeliness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Is it recent enough?</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Six hours missing in the mobile money log</a:t>
                      </a:r>
                    </a:p>
                  </a:txBody>
                  <a:tcPr marL="137160" marR="91440" marT="64008" marB="64008" anchor="ctr">
                    <a:lnL w="0">
                      <a:noFill/>
                    </a:lnL>
                    <a:lnR w="0">
                      <a:noFill/>
                    </a:lnR>
                    <a:lnT w="0">
                      <a:noFill/>
                    </a:lnT>
                    <a:lnB w="6350">
                      <a:solidFill>
                        <a:srgbClr val="C9C5BC"/>
                      </a:solidFill>
                    </a:lnB>
                    <a:noFill/>
                  </a:tcPr>
                </a:tc>
              </a:tr>
              <a:tr h="904733">
                <a:tc>
                  <a:txBody>
                    <a:bodyPr wrap="square"/>
                    <a:lstStyle/>
                    <a:p>
                      <a:r>
                        <a:rPr sz="1900" b="0" i="0">
                          <a:solidFill>
                            <a:srgbClr val="3B4046"/>
                          </a:solidFill>
                          <a:latin typeface="Calibri"/>
                        </a:rPr>
                        <a:t>Accuracy</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Does it match the real world?</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Needs a check against paper or the customer</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Where the six words come from</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The profession shares these words, and the published lists differ a little.</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DAMA</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DAMA UK working group's 2013 paper names these six. DAMA also publishes the DMBOK, a guide to data management.</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ISO/IEC 5259</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 standards series from 2024 on data quality for analytics and machine learning. Its list includes credibility and currentness.</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Our rule</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Pick one list, write each definition down and use the same words in every team.</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is wrong with the Kitara customer table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pic>
        <p:nvPicPr>
          <p:cNvPr id="5" name="figure-defect_profile" descr="Bar chart of eight defect types in the customer table, with phone not in +256 form the largest at 2,490 rows."/>
          <p:cNvPicPr>
            <a:picLocks noChangeAspect="1"/>
          </p:cNvPicPr>
          <p:nvPr/>
        </p:nvPicPr>
        <p:blipFill>
          <a:blip r:embed="rId3"/>
          <a:stretch>
            <a:fillRect/>
          </a:stretch>
        </p:blipFill>
        <p:spPr>
          <a:xfrm>
            <a:off x="685800" y="1600200"/>
            <a:ext cx="5711268"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978408"/>
            <a:chOff x="8183879" y="1691640"/>
            <a:chExt cx="3322016" cy="978408"/>
          </a:xfrm>
        </p:grpSpPr>
        <p:sp>
          <p:nvSpPr>
            <p:cNvPr id="8" name="TextBox 7"/>
            <p:cNvSpPr txBox="1"/>
            <p:nvPr/>
          </p:nvSpPr>
          <p:spPr>
            <a:xfrm>
              <a:off x="8183879" y="169164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941831"/>
            </a:xfrm>
            <a:prstGeom prst="rect">
              <a:avLst/>
            </a:prstGeom>
            <a:noFill/>
          </p:spPr>
          <p:txBody>
            <a:bodyPr wrap="square" lIns="0" rIns="0" tIns="18288" bIns="18288" anchor="t">
              <a:spAutoFit/>
            </a:bodyPr>
            <a:lstStyle/>
            <a:p>
              <a:pPr algn="l"/>
              <a:r>
                <a:rPr sz="2100" b="0" i="0">
                  <a:solidFill>
                    <a:srgbClr val="1F2328"/>
                  </a:solidFill>
                  <a:latin typeface="Calibri"/>
                </a:rPr>
                <a:t>Phone not in +256 form: 2,490 of 5,000 rows.</a:t>
              </a:r>
            </a:p>
          </p:txBody>
        </p:sp>
        <p:cxnSp>
          <p:nvCxnSpPr>
            <p:cNvPr id="10" name="Connector 9"/>
            <p:cNvCxnSpPr/>
            <p:nvPr/>
          </p:nvCxnSpPr>
          <p:spPr>
            <a:xfrm>
              <a:off x="8183879" y="2670048"/>
              <a:ext cx="3322016" cy="0"/>
            </a:xfrm>
            <a:prstGeom prst="line">
              <a:avLst/>
            </a:prstGeom>
            <a:ln w="6350">
              <a:solidFill>
                <a:srgbClr val="C9C5BC"/>
              </a:solidFill>
            </a:ln>
          </p:spPr>
        </p:cxnSp>
      </p:grpSp>
      <p:grpSp>
        <p:nvGrpSpPr>
          <p:cNvPr id="11" name="note-2"/>
          <p:cNvGrpSpPr/>
          <p:nvPr/>
        </p:nvGrpSpPr>
        <p:grpSpPr>
          <a:xfrm>
            <a:off x="8183879" y="2743200"/>
            <a:ext cx="3322016" cy="978408"/>
            <a:chOff x="8183879" y="2743200"/>
            <a:chExt cx="3322016" cy="978408"/>
          </a:xfrm>
        </p:grpSpPr>
        <p:sp>
          <p:nvSpPr>
            <p:cNvPr id="12" name="TextBox 11"/>
            <p:cNvSpPr txBox="1"/>
            <p:nvPr/>
          </p:nvSpPr>
          <p:spPr>
            <a:xfrm>
              <a:off x="8183879" y="274320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2743200"/>
              <a:ext cx="2956255" cy="941831"/>
            </a:xfrm>
            <a:prstGeom prst="rect">
              <a:avLst/>
            </a:prstGeom>
            <a:noFill/>
          </p:spPr>
          <p:txBody>
            <a:bodyPr wrap="square" lIns="0" rIns="0" tIns="18288" bIns="18288" anchor="t">
              <a:spAutoFit/>
            </a:bodyPr>
            <a:lstStyle/>
            <a:p>
              <a:pPr algn="l"/>
              <a:r>
                <a:rPr sz="2100" b="0" i="0">
                  <a:solidFill>
                    <a:srgbClr val="1F2328"/>
                  </a:solidFill>
                  <a:latin typeface="Calibri"/>
                </a:rPr>
                <a:t>Gender not coded M or F: 1,462 rows.</a:t>
              </a:r>
            </a:p>
          </p:txBody>
        </p:sp>
        <p:cxnSp>
          <p:nvCxnSpPr>
            <p:cNvPr id="14" name="Connector 13"/>
            <p:cNvCxnSpPr/>
            <p:nvPr/>
          </p:nvCxnSpPr>
          <p:spPr>
            <a:xfrm>
              <a:off x="8183879" y="3721608"/>
              <a:ext cx="3322016" cy="0"/>
            </a:xfrm>
            <a:prstGeom prst="line">
              <a:avLst/>
            </a:prstGeom>
            <a:ln w="6350">
              <a:solidFill>
                <a:srgbClr val="C9C5BC"/>
              </a:solidFill>
            </a:ln>
          </p:spPr>
        </p:cxnSp>
      </p:grpSp>
      <p:grpSp>
        <p:nvGrpSpPr>
          <p:cNvPr id="15" name="note-3"/>
          <p:cNvGrpSpPr/>
          <p:nvPr/>
        </p:nvGrpSpPr>
        <p:grpSpPr>
          <a:xfrm>
            <a:off x="8183879" y="3794760"/>
            <a:ext cx="3322016" cy="978408"/>
            <a:chOff x="8183879" y="3794760"/>
            <a:chExt cx="3322016" cy="978408"/>
          </a:xfrm>
        </p:grpSpPr>
        <p:sp>
          <p:nvSpPr>
            <p:cNvPr id="16" name="TextBox 15"/>
            <p:cNvSpPr txBox="1"/>
            <p:nvPr/>
          </p:nvSpPr>
          <p:spPr>
            <a:xfrm>
              <a:off x="8183879" y="379476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3794760"/>
              <a:ext cx="2956255" cy="941831"/>
            </a:xfrm>
            <a:prstGeom prst="rect">
              <a:avLst/>
            </a:prstGeom>
            <a:noFill/>
          </p:spPr>
          <p:txBody>
            <a:bodyPr wrap="square" lIns="0" rIns="0" tIns="18288" bIns="18288" anchor="t">
              <a:spAutoFit/>
            </a:bodyPr>
            <a:lstStyle/>
            <a:p>
              <a:pPr algn="l"/>
              <a:r>
                <a:rPr sz="2100" b="0" i="0">
                  <a:solidFill>
                    <a:srgbClr val="1F2328"/>
                  </a:solidFill>
                  <a:latin typeface="Calibri"/>
                </a:rPr>
                <a:t>Duplicate customers: 150 rows.</a:t>
              </a:r>
            </a:p>
          </p:txBody>
        </p:sp>
        <p:cxnSp>
          <p:nvCxnSpPr>
            <p:cNvPr id="18" name="Connector 17"/>
            <p:cNvCxnSpPr/>
            <p:nvPr/>
          </p:nvCxnSpPr>
          <p:spPr>
            <a:xfrm>
              <a:off x="8183879" y="4773168"/>
              <a:ext cx="3322016" cy="0"/>
            </a:xfrm>
            <a:prstGeom prst="line">
              <a:avLst/>
            </a:prstGeom>
            <a:ln w="6350">
              <a:solidFill>
                <a:srgbClr val="C9C5BC"/>
              </a:solidFill>
            </a:ln>
          </p:spPr>
        </p:cxnSp>
      </p:grpSp>
      <p:grpSp>
        <p:nvGrpSpPr>
          <p:cNvPr id="19" name="note-4"/>
          <p:cNvGrpSpPr/>
          <p:nvPr/>
        </p:nvGrpSpPr>
        <p:grpSpPr>
          <a:xfrm>
            <a:off x="8183879" y="4846320"/>
            <a:ext cx="3322016" cy="978408"/>
            <a:chOff x="8183879" y="4846320"/>
            <a:chExt cx="3322016" cy="978408"/>
          </a:xfrm>
        </p:grpSpPr>
        <p:sp>
          <p:nvSpPr>
            <p:cNvPr id="20" name="TextBox 19"/>
            <p:cNvSpPr txBox="1"/>
            <p:nvPr/>
          </p:nvSpPr>
          <p:spPr>
            <a:xfrm>
              <a:off x="8183879" y="484632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4</a:t>
              </a:r>
            </a:p>
          </p:txBody>
        </p:sp>
        <p:sp>
          <p:nvSpPr>
            <p:cNvPr id="21" name="TextBox 20"/>
            <p:cNvSpPr txBox="1"/>
            <p:nvPr/>
          </p:nvSpPr>
          <p:spPr>
            <a:xfrm>
              <a:off x="8549640" y="4846320"/>
              <a:ext cx="2956255" cy="941831"/>
            </a:xfrm>
            <a:prstGeom prst="rect">
              <a:avLst/>
            </a:prstGeom>
            <a:noFill/>
          </p:spPr>
          <p:txBody>
            <a:bodyPr wrap="square" lIns="0" rIns="0" tIns="18288" bIns="18288" anchor="t">
              <a:spAutoFit/>
            </a:bodyPr>
            <a:lstStyle/>
            <a:p>
              <a:pPr algn="l"/>
              <a:r>
                <a:rPr sz="2100" b="0" i="0">
                  <a:solidFill>
                    <a:srgbClr val="1F2328"/>
                  </a:solidFill>
                  <a:latin typeface="Calibri"/>
                </a:rPr>
                <a:t>Impossible dates: 40 rows. Test accounts: 25.</a:t>
              </a:r>
            </a:p>
          </p:txBody>
        </p:sp>
        <p:cxnSp>
          <p:nvCxnSpPr>
            <p:cNvPr id="22" name="Connector 21"/>
            <p:cNvCxnSpPr/>
            <p:nvPr/>
          </p:nvCxnSpPr>
          <p:spPr>
            <a:xfrm>
              <a:off x="8183879" y="5824728"/>
              <a:ext cx="3322016" cy="0"/>
            </a:xfrm>
            <a:prstGeom prst="line">
              <a:avLst/>
            </a:prstGeom>
            <a:ln w="6350">
              <a:solidFill>
                <a:srgbClr val="C9C5BC"/>
              </a:solidFill>
            </a:ln>
          </p:spPr>
        </p:cxnSp>
      </p:grpSp>
      <p:cxnSp>
        <p:nvCxnSpPr>
          <p:cNvPr id="23" name="Connector 22"/>
          <p:cNvCxnSpPr/>
          <p:nvPr/>
        </p:nvCxnSpPr>
        <p:spPr>
          <a:xfrm>
            <a:off x="685800" y="5486400"/>
            <a:ext cx="10820095" cy="0"/>
          </a:xfrm>
          <a:prstGeom prst="line">
            <a:avLst/>
          </a:prstGeom>
          <a:ln w="9525">
            <a:solidFill>
              <a:srgbClr val="C9C5BC"/>
            </a:solidFill>
          </a:ln>
        </p:spPr>
      </p:cxnSp>
      <p:sp>
        <p:nvSpPr>
          <p:cNvPr id="24" name="TextBox 23"/>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Counted from customers.csv. Some rows have more than one defect.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Profile the table: how much is blank?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10820095" cy="17739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499616"/>
          </a:xfrm>
          <a:prstGeom prst="rect">
            <a:avLst/>
          </a:prstGeom>
          <a:noFill/>
        </p:spPr>
        <p:txBody>
          <a:bodyPr wrap="none" lIns="0" rIns="0" tIns="0" bIns="0">
            <a:spAutoFit/>
          </a:bodyPr>
          <a:lstStyle/>
          <a:p>
            <a:r>
              <a:rPr sz="1600" b="1" i="0">
                <a:solidFill>
                  <a:srgbClr val="1F2328"/>
                </a:solidFill>
                <a:latin typeface="Courier New"/>
              </a:rPr>
              <a:t>import</a:t>
            </a:r>
            <a:r>
              <a:rPr sz="1600" b="0" i="0">
                <a:solidFill>
                  <a:srgbClr val="1F2328"/>
                </a:solidFill>
                <a:latin typeface="Courier New"/>
              </a:rPr>
              <a:t> </a:t>
            </a:r>
            <a:r>
              <a:rPr sz="1600" b="0" i="0">
                <a:solidFill>
                  <a:srgbClr val="1F2328"/>
                </a:solidFill>
                <a:latin typeface="Courier New"/>
              </a:rPr>
              <a:t>pandas</a:t>
            </a:r>
            <a:r>
              <a:rPr sz="1600" b="0" i="0">
                <a:solidFill>
                  <a:srgbClr val="1F2328"/>
                </a:solidFill>
                <a:latin typeface="Courier New"/>
              </a:rPr>
              <a:t> </a:t>
            </a:r>
            <a:r>
              <a:rPr sz="1600" b="1" i="0">
                <a:solidFill>
                  <a:srgbClr val="1F2328"/>
                </a:solidFill>
                <a:latin typeface="Courier New"/>
              </a:rPr>
              <a:t>as</a:t>
            </a:r>
            <a:r>
              <a:rPr sz="1600" b="0" i="0">
                <a:solidFill>
                  <a:srgbClr val="1F2328"/>
                </a:solidFill>
                <a:latin typeface="Courier New"/>
              </a:rPr>
              <a:t> </a:t>
            </a:r>
            <a:r>
              <a:rPr sz="1600" b="0" i="0">
                <a:solidFill>
                  <a:srgbClr val="1F2328"/>
                </a:solidFill>
                <a:latin typeface="Courier New"/>
              </a:rPr>
              <a:t>pd</a:t>
            </a:r>
          </a:p>
          <a:p>
            <a:r>
              <a:rPr sz="1600" b="0" i="0">
                <a:solidFill>
                  <a:srgbClr val="1F2328"/>
                </a:solidFill>
                <a:latin typeface="Courier New"/>
              </a:rPr>
              <a:t> </a:t>
            </a:r>
          </a:p>
          <a:p>
            <a:r>
              <a:rPr sz="1600" b="0" i="0">
                <a:solidFill>
                  <a:srgbClr val="1F2328"/>
                </a:solidFill>
                <a:latin typeface="Courier New"/>
              </a:rPr>
              <a:t>cust</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pd</a:t>
            </a:r>
            <a:r>
              <a:rPr sz="1600" b="0" i="0">
                <a:solidFill>
                  <a:srgbClr val="1F2328"/>
                </a:solidFill>
                <a:latin typeface="Courier New"/>
              </a:rPr>
              <a:t>.</a:t>
            </a:r>
            <a:r>
              <a:rPr sz="1600" b="0" i="0">
                <a:solidFill>
                  <a:srgbClr val="1F2328"/>
                </a:solidFill>
                <a:latin typeface="Courier New"/>
              </a:rPr>
              <a:t>read_csv</a:t>
            </a:r>
            <a:r>
              <a:rPr sz="1600" b="0" i="0">
                <a:solidFill>
                  <a:srgbClr val="1F2328"/>
                </a:solidFill>
                <a:latin typeface="Courier New"/>
              </a:rPr>
              <a:t>(</a:t>
            </a:r>
            <a:r>
              <a:rPr sz="1600" b="0" i="0">
                <a:solidFill>
                  <a:srgbClr val="B04A2B"/>
                </a:solidFill>
                <a:latin typeface="Courier New"/>
              </a:rPr>
              <a:t>'customers.csv'</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len</a:t>
            </a:r>
            <a:r>
              <a:rPr sz="1600" b="0" i="0">
                <a:solidFill>
                  <a:srgbClr val="1F2328"/>
                </a:solidFill>
                <a:latin typeface="Courier New"/>
              </a:rPr>
              <a:t>(</a:t>
            </a:r>
            <a:r>
              <a:rPr sz="1600" b="0" i="0">
                <a:solidFill>
                  <a:srgbClr val="1F2328"/>
                </a:solidFill>
                <a:latin typeface="Courier New"/>
              </a:rPr>
              <a:t>cust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'rows,'</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cust</a:t>
            </a:r>
            <a:r>
              <a:rPr sz="1600" b="0" i="0">
                <a:solidFill>
                  <a:srgbClr val="1F2328"/>
                </a:solidFill>
                <a:latin typeface="Courier New"/>
              </a:rPr>
              <a:t>.</a:t>
            </a:r>
            <a:r>
              <a:rPr sz="1600" b="0" i="0">
                <a:solidFill>
                  <a:srgbClr val="1F2328"/>
                </a:solidFill>
                <a:latin typeface="Courier New"/>
              </a:rPr>
              <a:t>customer_id</a:t>
            </a:r>
            <a:r>
              <a:rPr sz="1600" b="0" i="0">
                <a:solidFill>
                  <a:srgbClr val="1F2328"/>
                </a:solidFill>
                <a:latin typeface="Courier New"/>
              </a:rPr>
              <a:t>.</a:t>
            </a:r>
            <a:r>
              <a:rPr sz="1600" b="0" i="0">
                <a:solidFill>
                  <a:srgbClr val="1F2328"/>
                </a:solidFill>
                <a:latin typeface="Courier New"/>
              </a:rPr>
              <a:t>nunique</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'distinct ids'</a:t>
            </a:r>
            <a:r>
              <a:rPr sz="1600" b="0" i="0">
                <a:solidFill>
                  <a:srgbClr val="1F2328"/>
                </a:solidFill>
                <a:latin typeface="Courier New"/>
              </a:rPr>
              <a:t>)</a:t>
            </a:r>
          </a:p>
          <a:p>
            <a:r>
              <a:rPr sz="1600" b="0" i="0">
                <a:solidFill>
                  <a:srgbClr val="1F2328"/>
                </a:solidFill>
                <a:latin typeface="Courier New"/>
              </a:rPr>
              <a:t>blank</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cust</a:t>
            </a:r>
            <a:r>
              <a:rPr sz="1600" b="0" i="0">
                <a:solidFill>
                  <a:srgbClr val="1F2328"/>
                </a:solidFill>
                <a:latin typeface="Courier New"/>
              </a:rPr>
              <a:t>.</a:t>
            </a:r>
            <a:r>
              <a:rPr sz="1600" b="0" i="0">
                <a:solidFill>
                  <a:srgbClr val="1F2328"/>
                </a:solidFill>
                <a:latin typeface="Courier New"/>
              </a:rPr>
              <a:t>isna</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mean</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mul</a:t>
            </a:r>
            <a:r>
              <a:rPr sz="1600" b="0" i="0">
                <a:solidFill>
                  <a:srgbClr val="1F2328"/>
                </a:solidFill>
                <a:latin typeface="Courier New"/>
              </a:rPr>
              <a:t>(</a:t>
            </a:r>
            <a:r>
              <a:rPr sz="1600" b="0" i="0">
                <a:solidFill>
                  <a:srgbClr val="3B4046"/>
                </a:solidFill>
                <a:latin typeface="Courier New"/>
              </a:rPr>
              <a:t>100</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round</a:t>
            </a:r>
            <a:r>
              <a:rPr sz="1600" b="0" i="0">
                <a:solidFill>
                  <a:srgbClr val="1F2328"/>
                </a:solidFill>
                <a:latin typeface="Courier New"/>
              </a:rPr>
              <a:t>(</a:t>
            </a:r>
            <a:r>
              <a:rPr sz="1600" b="0" i="0">
                <a:solidFill>
                  <a:srgbClr val="3B4046"/>
                </a:solidFill>
                <a:latin typeface="Courier New"/>
              </a:rPr>
              <a:t>1</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blank</a:t>
            </a:r>
            <a:r>
              <a:rPr sz="1600" b="0" i="0">
                <a:solidFill>
                  <a:srgbClr val="1F2328"/>
                </a:solidFill>
                <a:latin typeface="Courier New"/>
              </a:rPr>
              <a:t>[</a:t>
            </a:r>
            <a:r>
              <a:rPr sz="1600" b="0" i="0">
                <a:solidFill>
                  <a:srgbClr val="1F2328"/>
                </a:solidFill>
                <a:latin typeface="Courier New"/>
              </a:rPr>
              <a:t>blank</a:t>
            </a:r>
            <a:r>
              <a:rPr sz="1600" b="0" i="0">
                <a:solidFill>
                  <a:srgbClr val="1F2328"/>
                </a:solidFill>
                <a:latin typeface="Courier New"/>
              </a:rPr>
              <a:t> </a:t>
            </a:r>
            <a:r>
              <a:rPr sz="1600" b="0" i="0">
                <a:solidFill>
                  <a:srgbClr val="1F2328"/>
                </a:solidFill>
                <a:latin typeface="Courier New"/>
              </a:rPr>
              <a:t>&gt;</a:t>
            </a:r>
            <a:r>
              <a:rPr sz="1600" b="0" i="0">
                <a:solidFill>
                  <a:srgbClr val="1F2328"/>
                </a:solidFill>
                <a:latin typeface="Courier New"/>
              </a:rPr>
              <a:t> </a:t>
            </a:r>
            <a:r>
              <a:rPr sz="1600" b="0" i="0">
                <a:solidFill>
                  <a:srgbClr val="3B4046"/>
                </a:solidFill>
                <a:latin typeface="Courier New"/>
              </a:rPr>
              <a:t>0</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sort_values</a:t>
            </a:r>
            <a:r>
              <a:rPr sz="1600" b="0" i="0">
                <a:solidFill>
                  <a:srgbClr val="1F2328"/>
                </a:solidFill>
                <a:latin typeface="Courier New"/>
              </a:rPr>
              <a:t>(</a:t>
            </a:r>
            <a:r>
              <a:rPr sz="1600" b="0" i="0">
                <a:solidFill>
                  <a:srgbClr val="1F2328"/>
                </a:solidFill>
                <a:latin typeface="Courier New"/>
              </a:rPr>
              <a:t>ascending</a:t>
            </a:r>
            <a:r>
              <a:rPr sz="1600" b="0" i="0">
                <a:solidFill>
                  <a:srgbClr val="1F2328"/>
                </a:solidFill>
                <a:latin typeface="Courier New"/>
              </a:rPr>
              <a:t>=</a:t>
            </a:r>
            <a:r>
              <a:rPr sz="1600" b="1" i="0">
                <a:solidFill>
                  <a:srgbClr val="1F2328"/>
                </a:solidFill>
                <a:latin typeface="Courier New"/>
              </a:rPr>
              <a:t>False</a:t>
            </a:r>
            <a:r>
              <a:rPr sz="1600" b="0" i="0">
                <a:solidFill>
                  <a:srgbClr val="1F2328"/>
                </a:solidFill>
                <a:latin typeface="Courier New"/>
              </a:rPr>
              <a:t>)</a:t>
            </a:r>
            <a:r>
              <a:rPr sz="1600" b="0" i="0">
                <a:solidFill>
                  <a:srgbClr val="1F2328"/>
                </a:solidFill>
                <a:latin typeface="Courier New"/>
              </a:rPr>
              <a:t>)</a:t>
            </a:r>
          </a:p>
        </p:txBody>
      </p:sp>
      <p:grpSp>
        <p:nvGrpSpPr>
          <p:cNvPr id="7" name="output"/>
          <p:cNvGrpSpPr/>
          <p:nvPr/>
        </p:nvGrpSpPr>
        <p:grpSpPr>
          <a:xfrm>
            <a:off x="685800" y="3483864"/>
            <a:ext cx="10820095" cy="1377696"/>
            <a:chOff x="685800" y="3483864"/>
            <a:chExt cx="10820095" cy="1377696"/>
          </a:xfrm>
        </p:grpSpPr>
        <p:sp>
          <p:nvSpPr>
            <p:cNvPr id="8" name="TextBox 7"/>
            <p:cNvSpPr txBox="1"/>
            <p:nvPr/>
          </p:nvSpPr>
          <p:spPr>
            <a:xfrm>
              <a:off x="685800" y="34838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39896"/>
              <a:ext cx="10820095"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3831335"/>
              <a:ext cx="10545775" cy="1011936"/>
            </a:xfrm>
            <a:prstGeom prst="rect">
              <a:avLst/>
            </a:prstGeom>
            <a:noFill/>
          </p:spPr>
          <p:txBody>
            <a:bodyPr wrap="none" lIns="0" rIns="0" tIns="0" bIns="0">
              <a:spAutoFit/>
            </a:bodyPr>
            <a:lstStyle/>
            <a:p>
              <a:r>
                <a:rPr sz="1400" b="0" i="0">
                  <a:solidFill>
                    <a:srgbClr val="1F2328"/>
                  </a:solidFill>
                  <a:latin typeface="Courier New"/>
                </a:rPr>
                <a:t>5000 rows, 5000 distinct ids</a:t>
              </a:r>
            </a:p>
            <a:p>
              <a:r>
                <a:rPr sz="1400" b="0" i="0">
                  <a:solidFill>
                    <a:srgbClr val="1F2328"/>
                  </a:solidFill>
                  <a:latin typeface="Courier New"/>
                </a:rPr>
                <a:t>email            32.5</a:t>
              </a:r>
            </a:p>
            <a:p>
              <a:r>
                <a:rPr sz="1400" b="0" i="0">
                  <a:solidFill>
                    <a:srgbClr val="1F2328"/>
                  </a:solidFill>
                  <a:latin typeface="Courier New"/>
                </a:rPr>
                <a:t>national_id      11.0</a:t>
              </a:r>
            </a:p>
            <a:p>
              <a:r>
                <a:rPr sz="1400" b="0" i="0">
                  <a:solidFill>
                    <a:srgbClr val="1F2328"/>
                  </a:solidFill>
                  <a:latin typeface="Courier New"/>
                </a:rPr>
                <a:t>date_of_birth     6.0</a:t>
              </a:r>
            </a:p>
            <a:p>
              <a:r>
                <a:rPr sz="1400" b="0" i="0">
                  <a:solidFill>
                    <a:srgbClr val="1F2328"/>
                  </a:solidFill>
                  <a:latin typeface="Courier New"/>
                </a:rPr>
                <a:t>dtype: float64</a:t>
              </a:r>
            </a:p>
          </p:txBody>
        </p:sp>
      </p:grpSp>
      <p:grpSp>
        <p:nvGrpSpPr>
          <p:cNvPr id="11" name="says-1"/>
          <p:cNvGrpSpPr/>
          <p:nvPr/>
        </p:nvGrpSpPr>
        <p:grpSpPr>
          <a:xfrm>
            <a:off x="685800" y="5044440"/>
            <a:ext cx="3332378" cy="1155191"/>
            <a:chOff x="685800" y="5044440"/>
            <a:chExt cx="3332378" cy="1155191"/>
          </a:xfrm>
        </p:grpSpPr>
        <p:cxnSp>
          <p:nvCxnSpPr>
            <p:cNvPr id="12" name="Connector 11"/>
            <p:cNvCxnSpPr/>
            <p:nvPr/>
          </p:nvCxnSpPr>
          <p:spPr>
            <a:xfrm>
              <a:off x="685800" y="5044440"/>
              <a:ext cx="3332378" cy="0"/>
            </a:xfrm>
            <a:prstGeom prst="line">
              <a:avLst/>
            </a:prstGeom>
            <a:ln w="15875">
              <a:solidFill>
                <a:srgbClr val="1F2328"/>
              </a:solidFill>
            </a:ln>
          </p:spPr>
        </p:cxnSp>
        <p:sp>
          <p:nvSpPr>
            <p:cNvPr id="13" name="TextBox 12"/>
            <p:cNvSpPr txBox="1"/>
            <p:nvPr/>
          </p:nvSpPr>
          <p:spPr>
            <a:xfrm>
              <a:off x="685800"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Read the customer table. Count the rows and the distinct customer ids.</a:t>
              </a:r>
            </a:p>
          </p:txBody>
        </p:sp>
      </p:grpSp>
      <p:grpSp>
        <p:nvGrpSpPr>
          <p:cNvPr id="15" name="says-2"/>
          <p:cNvGrpSpPr/>
          <p:nvPr/>
        </p:nvGrpSpPr>
        <p:grpSpPr>
          <a:xfrm>
            <a:off x="4429658" y="5044440"/>
            <a:ext cx="3332378" cy="1155191"/>
            <a:chOff x="4429658" y="5044440"/>
            <a:chExt cx="3332378" cy="1155191"/>
          </a:xfrm>
        </p:grpSpPr>
        <p:cxnSp>
          <p:nvCxnSpPr>
            <p:cNvPr id="16" name="Connector 15"/>
            <p:cNvCxnSpPr/>
            <p:nvPr/>
          </p:nvCxnSpPr>
          <p:spPr>
            <a:xfrm>
              <a:off x="4429658" y="5044440"/>
              <a:ext cx="3332378" cy="0"/>
            </a:xfrm>
            <a:prstGeom prst="line">
              <a:avLst/>
            </a:prstGeom>
            <a:ln w="15875">
              <a:solidFill>
                <a:srgbClr val="1F2328"/>
              </a:solidFill>
            </a:ln>
          </p:spPr>
        </p:cxnSp>
        <p:sp>
          <p:nvSpPr>
            <p:cNvPr id="17" name="TextBox 16"/>
            <p:cNvSpPr txBox="1"/>
            <p:nvPr/>
          </p:nvSpPr>
          <p:spPr>
            <a:xfrm>
              <a:off x="4429658"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For every column, work out the percent of cells that are blank.</a:t>
              </a:r>
            </a:p>
          </p:txBody>
        </p:sp>
      </p:grpSp>
      <p:grpSp>
        <p:nvGrpSpPr>
          <p:cNvPr id="19" name="says-3"/>
          <p:cNvGrpSpPr/>
          <p:nvPr/>
        </p:nvGrpSpPr>
        <p:grpSpPr>
          <a:xfrm>
            <a:off x="8173516" y="5044440"/>
            <a:ext cx="3332379" cy="1155191"/>
            <a:chOff x="8173516" y="5044440"/>
            <a:chExt cx="3332379" cy="1155191"/>
          </a:xfrm>
        </p:grpSpPr>
        <p:cxnSp>
          <p:nvCxnSpPr>
            <p:cNvPr id="20" name="Connector 19"/>
            <p:cNvCxnSpPr/>
            <p:nvPr/>
          </p:nvCxnSpPr>
          <p:spPr>
            <a:xfrm>
              <a:off x="8173516" y="5044440"/>
              <a:ext cx="3332379" cy="0"/>
            </a:xfrm>
            <a:prstGeom prst="line">
              <a:avLst/>
            </a:prstGeom>
            <a:ln w="15875">
              <a:solidFill>
                <a:srgbClr val="1F2328"/>
              </a:solidFill>
            </a:ln>
          </p:spPr>
        </p:cxnSp>
        <p:sp>
          <p:nvSpPr>
            <p:cNvPr id="21" name="TextBox 20"/>
            <p:cNvSpPr txBox="1"/>
            <p:nvPr/>
          </p:nvSpPr>
          <p:spPr>
            <a:xfrm>
              <a:off x="8173516"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Keep only the columns with something missing, largest first.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rules with thresholds that run as code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10820095" cy="28712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596896"/>
          </a:xfrm>
          <a:prstGeom prst="rect">
            <a:avLst/>
          </a:prstGeom>
          <a:noFill/>
        </p:spPr>
        <p:txBody>
          <a:bodyPr wrap="none" lIns="0" rIns="0" tIns="0" bIns="0">
            <a:spAutoFit/>
          </a:bodyPr>
          <a:lstStyle/>
          <a:p>
            <a:r>
              <a:rPr sz="1400" b="0" i="0">
                <a:solidFill>
                  <a:srgbClr val="1F2328"/>
                </a:solidFill>
                <a:latin typeface="Courier New"/>
              </a:rPr>
              <a:t>dob</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to_datetime</a:t>
            </a:r>
            <a:r>
              <a:rPr sz="1400" b="0" i="0">
                <a:solidFill>
                  <a:srgbClr val="1F2328"/>
                </a:solidFill>
                <a:latin typeface="Courier New"/>
              </a:rPr>
              <a:t>(</a:t>
            </a:r>
            <a:r>
              <a:rPr sz="1400" b="0" i="0">
                <a:solidFill>
                  <a:srgbClr val="1F2328"/>
                </a:solidFill>
                <a:latin typeface="Courier New"/>
              </a:rPr>
              <a:t>cust</a:t>
            </a:r>
            <a:r>
              <a:rPr sz="1400" b="0" i="0">
                <a:solidFill>
                  <a:srgbClr val="1F2328"/>
                </a:solidFill>
                <a:latin typeface="Courier New"/>
              </a:rPr>
              <a:t>.</a:t>
            </a:r>
            <a:r>
              <a:rPr sz="1400" b="0" i="0">
                <a:solidFill>
                  <a:srgbClr val="1F2328"/>
                </a:solidFill>
                <a:latin typeface="Courier New"/>
              </a:rPr>
              <a:t>date_of_birth</a:t>
            </a:r>
            <a:r>
              <a:rPr sz="1400" b="0" i="0">
                <a:solidFill>
                  <a:srgbClr val="1F2328"/>
                </a:solidFill>
                <a:latin typeface="Courier New"/>
              </a:rPr>
              <a:t>)</a:t>
            </a:r>
          </a:p>
          <a:p>
            <a:r>
              <a:rPr sz="1400" b="0" i="0">
                <a:solidFill>
                  <a:srgbClr val="1F2328"/>
                </a:solidFill>
                <a:latin typeface="Courier New"/>
              </a:rPr>
              <a:t>op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to_datetime</a:t>
            </a:r>
            <a:r>
              <a:rPr sz="1400" b="0" i="0">
                <a:solidFill>
                  <a:srgbClr val="1F2328"/>
                </a:solidFill>
                <a:latin typeface="Courier New"/>
              </a:rPr>
              <a:t>(</a:t>
            </a:r>
            <a:r>
              <a:rPr sz="1400" b="0" i="0">
                <a:solidFill>
                  <a:srgbClr val="1F2328"/>
                </a:solidFill>
                <a:latin typeface="Courier New"/>
              </a:rPr>
              <a:t>cust</a:t>
            </a:r>
            <a:r>
              <a:rPr sz="1400" b="0" i="0">
                <a:solidFill>
                  <a:srgbClr val="1F2328"/>
                </a:solidFill>
                <a:latin typeface="Courier New"/>
              </a:rPr>
              <a:t>.</a:t>
            </a:r>
            <a:r>
              <a:rPr sz="1400" b="0" i="0">
                <a:solidFill>
                  <a:srgbClr val="1F2328"/>
                </a:solidFill>
                <a:latin typeface="Courier New"/>
              </a:rPr>
              <a:t>opened_date</a:t>
            </a:r>
            <a:r>
              <a:rPr sz="1400" b="0" i="0">
                <a:solidFill>
                  <a:srgbClr val="1F2328"/>
                </a:solidFill>
                <a:latin typeface="Courier New"/>
              </a:rPr>
              <a:t>)</a:t>
            </a:r>
          </a:p>
          <a:p>
            <a:r>
              <a:rPr sz="1400" b="0" i="0">
                <a:solidFill>
                  <a:srgbClr val="1F2328"/>
                </a:solidFill>
                <a:latin typeface="Courier New"/>
              </a:rPr>
              <a:t>date_ok</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dob</a:t>
            </a:r>
            <a:r>
              <a:rPr sz="1400" b="0" i="0">
                <a:solidFill>
                  <a:srgbClr val="1F2328"/>
                </a:solidFill>
                <a:latin typeface="Courier New"/>
              </a:rPr>
              <a:t>.</a:t>
            </a:r>
            <a:r>
              <a:rPr sz="1400" b="0" i="0">
                <a:solidFill>
                  <a:srgbClr val="1F2328"/>
                </a:solidFill>
                <a:latin typeface="Courier New"/>
              </a:rPr>
              <a:t>isna</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dob</a:t>
            </a:r>
            <a:r>
              <a:rPr sz="1400" b="0" i="0">
                <a:solidFill>
                  <a:srgbClr val="1F2328"/>
                </a:solidFill>
                <a:latin typeface="Courier New"/>
              </a:rPr>
              <a:t>.</a:t>
            </a:r>
            <a:r>
              <a:rPr sz="1400" b="0" i="0">
                <a:solidFill>
                  <a:srgbClr val="1F2328"/>
                </a:solidFill>
                <a:latin typeface="Courier New"/>
              </a:rPr>
              <a:t>between</a:t>
            </a:r>
            <a:r>
              <a:rPr sz="1400" b="0" i="0">
                <a:solidFill>
                  <a:srgbClr val="1F2328"/>
                </a:solidFill>
                <a:latin typeface="Courier New"/>
              </a:rPr>
              <a:t>(</a:t>
            </a:r>
            <a:r>
              <a:rPr sz="1400" b="0" i="0">
                <a:solidFill>
                  <a:srgbClr val="B04A2B"/>
                </a:solidFill>
                <a:latin typeface="Courier New"/>
              </a:rPr>
              <a:t>'1900'</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'2026-10-29'</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&amp;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op</a:t>
            </a:r>
            <a:r>
              <a:rPr sz="1400" b="0" i="0">
                <a:solidFill>
                  <a:srgbClr val="1F2328"/>
                </a:solidFill>
                <a:latin typeface="Courier New"/>
              </a:rPr>
              <a:t> </a:t>
            </a:r>
            <a:r>
              <a:rPr sz="1400" b="0" i="0">
                <a:solidFill>
                  <a:srgbClr val="1F2328"/>
                </a:solidFill>
                <a:latin typeface="Courier New"/>
              </a:rPr>
              <a:t>&lt;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'2026-10-29'</a:t>
            </a:r>
            <a:r>
              <a:rPr sz="1400" b="0" i="0">
                <a:solidFill>
                  <a:srgbClr val="1F2328"/>
                </a:solidFill>
                <a:latin typeface="Courier New"/>
              </a:rPr>
              <a:t>)</a:t>
            </a:r>
          </a:p>
          <a:p>
            <a:r>
              <a:rPr sz="1400" b="0" i="0">
                <a:solidFill>
                  <a:srgbClr val="1F2328"/>
                </a:solidFill>
                <a:latin typeface="Courier New"/>
              </a:rPr>
              <a:t>rules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'national id filled'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cust</a:t>
            </a:r>
            <a:r>
              <a:rPr sz="1400" b="0" i="0">
                <a:solidFill>
                  <a:srgbClr val="1F2328"/>
                </a:solidFill>
                <a:latin typeface="Courier New"/>
              </a:rPr>
              <a:t>.</a:t>
            </a:r>
            <a:r>
              <a:rPr sz="1400" b="0" i="0">
                <a:solidFill>
                  <a:srgbClr val="1F2328"/>
                </a:solidFill>
                <a:latin typeface="Courier New"/>
              </a:rPr>
              <a:t>national_id</a:t>
            </a:r>
            <a:r>
              <a:rPr sz="1400" b="0" i="0">
                <a:solidFill>
                  <a:srgbClr val="1F2328"/>
                </a:solidFill>
                <a:latin typeface="Courier New"/>
              </a:rPr>
              <a:t>.</a:t>
            </a:r>
            <a:r>
              <a:rPr sz="1400" b="0" i="0">
                <a:solidFill>
                  <a:srgbClr val="1F2328"/>
                </a:solidFill>
                <a:latin typeface="Courier New"/>
              </a:rPr>
              <a:t>notna</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99</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'phone +256 7xxxxxxxx'</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cust</a:t>
            </a:r>
            <a:r>
              <a:rPr sz="1400" b="0" i="0">
                <a:solidFill>
                  <a:srgbClr val="1F2328"/>
                </a:solidFill>
                <a:latin typeface="Courier New"/>
              </a:rPr>
              <a:t>.</a:t>
            </a:r>
            <a:r>
              <a:rPr sz="1400" b="0" i="0">
                <a:solidFill>
                  <a:srgbClr val="1F2328"/>
                </a:solidFill>
                <a:latin typeface="Courier New"/>
              </a:rPr>
              <a:t>phone</a:t>
            </a:r>
            <a:r>
              <a:rPr sz="1400" b="0" i="0">
                <a:solidFill>
                  <a:srgbClr val="1F2328"/>
                </a:solidFill>
                <a:latin typeface="Courier New"/>
              </a:rPr>
              <a:t>.</a:t>
            </a:r>
            <a:r>
              <a:rPr sz="1400" b="0" i="0">
                <a:solidFill>
                  <a:srgbClr val="1F2328"/>
                </a:solidFill>
                <a:latin typeface="Courier New"/>
              </a:rPr>
              <a:t>str</a:t>
            </a:r>
            <a:r>
              <a:rPr sz="1400" b="0" i="0">
                <a:solidFill>
                  <a:srgbClr val="1F2328"/>
                </a:solidFill>
                <a:latin typeface="Courier New"/>
              </a:rPr>
              <a:t>.</a:t>
            </a:r>
            <a:r>
              <a:rPr sz="1400" b="0" i="0">
                <a:solidFill>
                  <a:srgbClr val="1F2328"/>
                </a:solidFill>
                <a:latin typeface="Courier New"/>
              </a:rPr>
              <a:t>match</a:t>
            </a:r>
            <a:r>
              <a:rPr sz="1400" b="0" i="0">
                <a:solidFill>
                  <a:srgbClr val="1F2328"/>
                </a:solidFill>
                <a:latin typeface="Courier New"/>
              </a:rPr>
              <a:t>(</a:t>
            </a:r>
            <a:r>
              <a:rPr sz="1400" b="0" i="0">
                <a:solidFill>
                  <a:srgbClr val="1F2328"/>
                </a:solidFill>
                <a:latin typeface="Courier New"/>
              </a:rPr>
              <a:t>r</a:t>
            </a:r>
            <a:r>
              <a:rPr sz="1400" b="0" i="0">
                <a:solidFill>
                  <a:srgbClr val="B04A2B"/>
                </a:solidFill>
                <a:latin typeface="Courier New"/>
              </a:rPr>
              <a:t>'^\+2567\d{8}$'</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98</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'dates in range'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date_ok</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99.9</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'gender M or F'</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cust</a:t>
            </a:r>
            <a:r>
              <a:rPr sz="1400" b="0" i="0">
                <a:solidFill>
                  <a:srgbClr val="1F2328"/>
                </a:solidFill>
                <a:latin typeface="Courier New"/>
              </a:rPr>
              <a:t>.</a:t>
            </a:r>
            <a:r>
              <a:rPr sz="1400" b="0" i="0">
                <a:solidFill>
                  <a:srgbClr val="1F2328"/>
                </a:solidFill>
                <a:latin typeface="Courier New"/>
              </a:rPr>
              <a:t>gender</a:t>
            </a:r>
            <a:r>
              <a:rPr sz="1400" b="0" i="0">
                <a:solidFill>
                  <a:srgbClr val="1F2328"/>
                </a:solidFill>
                <a:latin typeface="Courier New"/>
              </a:rPr>
              <a:t>.</a:t>
            </a:r>
            <a:r>
              <a:rPr sz="1400" b="0" i="0">
                <a:solidFill>
                  <a:srgbClr val="1F2328"/>
                </a:solidFill>
                <a:latin typeface="Courier New"/>
              </a:rPr>
              <a:t>isin</a:t>
            </a:r>
            <a:r>
              <a:rPr sz="1400" b="0" i="0">
                <a:solidFill>
                  <a:srgbClr val="1F2328"/>
                </a:solidFill>
                <a:latin typeface="Courier New"/>
              </a:rPr>
              <a:t>(</a:t>
            </a:r>
            <a:r>
              <a:rPr sz="1400" b="0" i="0">
                <a:solidFill>
                  <a:srgbClr val="1F2328"/>
                </a:solidFill>
                <a:latin typeface="Courier New"/>
              </a:rPr>
              <a:t>[</a:t>
            </a:r>
            <a:r>
              <a:rPr sz="1400" b="0" i="0">
                <a:solidFill>
                  <a:srgbClr val="B04A2B"/>
                </a:solidFill>
                <a:latin typeface="Courier New"/>
              </a:rPr>
              <a:t>'M'</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'F'</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99</a:t>
            </a:r>
            <a:r>
              <a:rPr sz="1400" b="0" i="0">
                <a:solidFill>
                  <a:srgbClr val="1F2328"/>
                </a:solidFill>
                <a:latin typeface="Courier New"/>
              </a:rPr>
              <a:t>)</a:t>
            </a:r>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name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ok</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need</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rules</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ok</a:t>
            </a:r>
            <a:r>
              <a:rPr sz="1400" b="0" i="0">
                <a:solidFill>
                  <a:srgbClr val="1F2328"/>
                </a:solidFill>
                <a:latin typeface="Courier New"/>
              </a:rPr>
              <a:t>.</a:t>
            </a:r>
            <a:r>
              <a:rPr sz="1400" b="0" i="0">
                <a:solidFill>
                  <a:srgbClr val="1F2328"/>
                </a:solidFill>
                <a:latin typeface="Courier New"/>
              </a:rPr>
              <a:t>mean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100</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f</a:t>
            </a:r>
            <a:r>
              <a:rPr sz="1400" b="0" i="0">
                <a:solidFill>
                  <a:srgbClr val="B04A2B"/>
                </a:solidFill>
                <a:latin typeface="Courier New"/>
              </a:rPr>
              <a:t>'{name:&lt;22}{p:5.1f}%  need {need}%'</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'PASS'</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p</a:t>
            </a:r>
            <a:r>
              <a:rPr sz="1400" b="0" i="0">
                <a:solidFill>
                  <a:srgbClr val="1F2328"/>
                </a:solidFill>
                <a:latin typeface="Courier New"/>
              </a:rPr>
              <a:t> </a:t>
            </a:r>
            <a:r>
              <a:rPr sz="1400" b="0" i="0">
                <a:solidFill>
                  <a:srgbClr val="1F2328"/>
                </a:solidFill>
                <a:latin typeface="Courier New"/>
              </a:rPr>
              <a:t>&gt;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need</a:t>
            </a:r>
            <a:r>
              <a:rPr sz="1400" b="0" i="0">
                <a:solidFill>
                  <a:srgbClr val="1F2328"/>
                </a:solidFill>
                <a:latin typeface="Courier New"/>
              </a:rPr>
              <a:t> </a:t>
            </a:r>
            <a:r>
              <a:rPr sz="1400" b="1" i="0">
                <a:solidFill>
                  <a:srgbClr val="1F2328"/>
                </a:solidFill>
                <a:latin typeface="Courier New"/>
              </a:rPr>
              <a:t>else</a:t>
            </a:r>
            <a:r>
              <a:rPr sz="1400" b="0" i="0">
                <a:solidFill>
                  <a:srgbClr val="1F2328"/>
                </a:solidFill>
                <a:latin typeface="Courier New"/>
              </a:rPr>
              <a:t> </a:t>
            </a:r>
            <a:r>
              <a:rPr sz="1400" b="0" i="0">
                <a:solidFill>
                  <a:srgbClr val="B04A2B"/>
                </a:solidFill>
                <a:latin typeface="Courier New"/>
              </a:rPr>
              <a:t>'FAIL'</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'rows passing all four:'</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concat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r</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r</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rules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axis</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all</a:t>
            </a:r>
            <a:r>
              <a:rPr sz="1400" b="0" i="0">
                <a:solidFill>
                  <a:srgbClr val="1F2328"/>
                </a:solidFill>
                <a:latin typeface="Courier New"/>
              </a:rPr>
              <a:t>(</a:t>
            </a:r>
            <a:r>
              <a:rPr sz="1400" b="0" i="0">
                <a:solidFill>
                  <a:srgbClr val="1F2328"/>
                </a:solidFill>
                <a:latin typeface="Courier New"/>
              </a:rPr>
              <a:t>axis</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4581144"/>
            <a:ext cx="10820095" cy="1377696"/>
            <a:chOff x="685800" y="4581144"/>
            <a:chExt cx="10820095" cy="1377696"/>
          </a:xfrm>
        </p:grpSpPr>
        <p:sp>
          <p:nvSpPr>
            <p:cNvPr id="8" name="TextBox 7"/>
            <p:cNvSpPr txBox="1"/>
            <p:nvPr/>
          </p:nvSpPr>
          <p:spPr>
            <a:xfrm>
              <a:off x="685800" y="45811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837176"/>
              <a:ext cx="10820095"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4928616"/>
              <a:ext cx="10545775" cy="1011936"/>
            </a:xfrm>
            <a:prstGeom prst="rect">
              <a:avLst/>
            </a:prstGeom>
            <a:noFill/>
          </p:spPr>
          <p:txBody>
            <a:bodyPr wrap="none" lIns="0" rIns="0" tIns="0" bIns="0">
              <a:spAutoFit/>
            </a:bodyPr>
            <a:lstStyle/>
            <a:p>
              <a:r>
                <a:rPr sz="1400" b="0" i="0">
                  <a:solidFill>
                    <a:srgbClr val="1F2328"/>
                  </a:solidFill>
                  <a:latin typeface="Courier New"/>
                </a:rPr>
                <a:t>national id filled     89.0%  need 99% FAIL</a:t>
              </a:r>
            </a:p>
            <a:p>
              <a:r>
                <a:rPr sz="1400" b="0" i="0">
                  <a:solidFill>
                    <a:srgbClr val="1F2328"/>
                  </a:solidFill>
                  <a:latin typeface="Courier New"/>
                </a:rPr>
                <a:t>phone +256 7xxxxxxxx   50.2%  need 98% FAIL</a:t>
              </a:r>
            </a:p>
            <a:p>
              <a:r>
                <a:rPr sz="1400" b="0" i="0">
                  <a:solidFill>
                    <a:srgbClr val="1F2328"/>
                  </a:solidFill>
                  <a:latin typeface="Courier New"/>
                </a:rPr>
                <a:t>dates in range         99.2%  need 99.9% FAIL</a:t>
              </a:r>
            </a:p>
            <a:p>
              <a:r>
                <a:rPr sz="1400" b="0" i="0">
                  <a:solidFill>
                    <a:srgbClr val="1F2328"/>
                  </a:solidFill>
                  <a:latin typeface="Courier New"/>
                </a:rPr>
                <a:t>gender M or F          70.8%  need 99% FAIL</a:t>
              </a:r>
            </a:p>
            <a:p>
              <a:r>
                <a:rPr sz="1400" b="0" i="0">
                  <a:solidFill>
                    <a:srgbClr val="1F2328"/>
                  </a:solidFill>
                  <a:latin typeface="Courier New"/>
                </a:rPr>
                <a:t>rows passing all four: 1557</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Duplicates: the rule has to normalise names first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10820095" cy="228447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010156"/>
          </a:xfrm>
          <a:prstGeom prst="rect">
            <a:avLst/>
          </a:prstGeom>
          <a:noFill/>
        </p:spPr>
        <p:txBody>
          <a:bodyPr wrap="none" lIns="0" rIns="0" tIns="0" bIns="0">
            <a:spAutoFit/>
          </a:bodyPr>
          <a:lstStyle/>
          <a:p>
            <a:r>
              <a:rPr sz="1850" b="0" i="0">
                <a:solidFill>
                  <a:srgbClr val="1F2328"/>
                </a:solidFill>
                <a:latin typeface="Courier New"/>
              </a:rPr>
              <a:t>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cust</a:t>
            </a:r>
            <a:r>
              <a:rPr sz="1850" b="0" i="0">
                <a:solidFill>
                  <a:srgbClr val="1F2328"/>
                </a:solidFill>
                <a:latin typeface="Courier New"/>
              </a:rPr>
              <a:t>[</a:t>
            </a:r>
            <a:r>
              <a:rPr sz="1850" b="0" i="0">
                <a:solidFill>
                  <a:srgbClr val="1F2328"/>
                </a:solidFill>
                <a:latin typeface="Courier New"/>
              </a:rPr>
              <a:t>cust</a:t>
            </a:r>
            <a:r>
              <a:rPr sz="1850" b="0" i="0">
                <a:solidFill>
                  <a:srgbClr val="1F2328"/>
                </a:solidFill>
                <a:latin typeface="Courier New"/>
              </a:rPr>
              <a:t>.</a:t>
            </a:r>
            <a:r>
              <a:rPr sz="1850" b="0" i="0">
                <a:solidFill>
                  <a:srgbClr val="1F2328"/>
                </a:solidFill>
                <a:latin typeface="Courier New"/>
              </a:rPr>
              <a:t>date_of_birth</a:t>
            </a:r>
            <a:r>
              <a:rPr sz="1850" b="0" i="0">
                <a:solidFill>
                  <a:srgbClr val="1F2328"/>
                </a:solidFill>
                <a:latin typeface="Courier New"/>
              </a:rPr>
              <a:t>.</a:t>
            </a:r>
            <a:r>
              <a:rPr sz="1850" b="0" i="0">
                <a:solidFill>
                  <a:srgbClr val="1F2328"/>
                </a:solidFill>
                <a:latin typeface="Courier New"/>
              </a:rPr>
              <a:t>notna</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exact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d</a:t>
            </a:r>
            <a:r>
              <a:rPr sz="1850" b="0" i="0">
                <a:solidFill>
                  <a:srgbClr val="1F2328"/>
                </a:solidFill>
                <a:latin typeface="Courier New"/>
              </a:rPr>
              <a:t>.</a:t>
            </a:r>
            <a:r>
              <a:rPr sz="1850" b="0" i="0">
                <a:solidFill>
                  <a:srgbClr val="1F2328"/>
                </a:solidFill>
                <a:latin typeface="Courier New"/>
              </a:rPr>
              <a:t>duplicated</a:t>
            </a:r>
            <a:r>
              <a:rPr sz="1850" b="0" i="0">
                <a:solidFill>
                  <a:srgbClr val="1F2328"/>
                </a:solidFill>
                <a:latin typeface="Courier New"/>
              </a:rPr>
              <a:t>(</a:t>
            </a:r>
            <a:r>
              <a:rPr sz="1850" b="0" i="0">
                <a:solidFill>
                  <a:srgbClr val="1F2328"/>
                </a:solidFill>
                <a:latin typeface="Courier New"/>
              </a:rPr>
              <a:t>[</a:t>
            </a:r>
            <a:r>
              <a:rPr sz="1850" b="0" i="0">
                <a:solidFill>
                  <a:srgbClr val="B04A2B"/>
                </a:solidFill>
                <a:latin typeface="Courier New"/>
              </a:rPr>
              <a:t>'full_name'</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'date_of_birth'</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sum</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name</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d</a:t>
            </a:r>
            <a:r>
              <a:rPr sz="1850" b="0" i="0">
                <a:solidFill>
                  <a:srgbClr val="1F2328"/>
                </a:solidFill>
                <a:latin typeface="Courier New"/>
              </a:rPr>
              <a:t>.</a:t>
            </a:r>
            <a:r>
              <a:rPr sz="1850" b="0" i="0">
                <a:solidFill>
                  <a:srgbClr val="1F2328"/>
                </a:solidFill>
                <a:latin typeface="Courier New"/>
              </a:rPr>
              <a:t>full_name</a:t>
            </a:r>
            <a:r>
              <a:rPr sz="1850" b="0" i="0">
                <a:solidFill>
                  <a:srgbClr val="1F2328"/>
                </a:solidFill>
                <a:latin typeface="Courier New"/>
              </a:rPr>
              <a:t>.</a:t>
            </a:r>
            <a:r>
              <a:rPr sz="1850" b="0" i="0">
                <a:solidFill>
                  <a:srgbClr val="1F2328"/>
                </a:solidFill>
                <a:latin typeface="Courier New"/>
              </a:rPr>
              <a:t>str</a:t>
            </a:r>
            <a:r>
              <a:rPr sz="1850" b="0" i="0">
                <a:solidFill>
                  <a:srgbClr val="1F2328"/>
                </a:solidFill>
                <a:latin typeface="Courier New"/>
              </a:rPr>
              <a:t>.</a:t>
            </a:r>
            <a:r>
              <a:rPr sz="1850" b="0" i="0">
                <a:solidFill>
                  <a:srgbClr val="1F2328"/>
                </a:solidFill>
                <a:latin typeface="Courier New"/>
              </a:rPr>
              <a:t>lower</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str</a:t>
            </a:r>
            <a:r>
              <a:rPr sz="1850" b="0" i="0">
                <a:solidFill>
                  <a:srgbClr val="1F2328"/>
                </a:solidFill>
                <a:latin typeface="Courier New"/>
              </a:rPr>
              <a:t>.</a:t>
            </a:r>
            <a:r>
              <a:rPr sz="1850" b="0" i="0">
                <a:solidFill>
                  <a:srgbClr val="1F2328"/>
                </a:solidFill>
                <a:latin typeface="Courier New"/>
              </a:rPr>
              <a:t>split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str</a:t>
            </a:r>
            <a:r>
              <a:rPr sz="1850" b="0" i="0">
                <a:solidFill>
                  <a:srgbClr val="1F2328"/>
                </a:solidFill>
                <a:latin typeface="Courier New"/>
              </a:rPr>
              <a:t>.</a:t>
            </a:r>
            <a:r>
              <a:rPr sz="1850" b="0" i="0">
                <a:solidFill>
                  <a:srgbClr val="1F2328"/>
                </a:solidFill>
                <a:latin typeface="Courier New"/>
              </a:rPr>
              <a:t>join</a:t>
            </a:r>
            <a:r>
              <a:rPr sz="1850" b="0" i="0">
                <a:solidFill>
                  <a:srgbClr val="1F2328"/>
                </a:solidFill>
                <a:latin typeface="Courier New"/>
              </a:rPr>
              <a:t>(</a:t>
            </a:r>
            <a:r>
              <a:rPr sz="1850" b="0" i="0">
                <a:solidFill>
                  <a:srgbClr val="B04A2B"/>
                </a:solidFill>
                <a:latin typeface="Courier New"/>
              </a:rPr>
              <a:t>' '</a:t>
            </a:r>
            <a:r>
              <a:rPr sz="1850" b="0" i="0">
                <a:solidFill>
                  <a:srgbClr val="1F2328"/>
                </a:solidFill>
                <a:latin typeface="Courier New"/>
              </a:rPr>
              <a:t>)</a:t>
            </a:r>
          </a:p>
          <a:p>
            <a:r>
              <a:rPr sz="1850" b="0" i="0">
                <a:solidFill>
                  <a:srgbClr val="1F2328"/>
                </a:solidFill>
                <a:latin typeface="Courier New"/>
              </a:rPr>
              <a:t>norm</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d</a:t>
            </a:r>
            <a:r>
              <a:rPr sz="1850" b="0" i="0">
                <a:solidFill>
                  <a:srgbClr val="1F2328"/>
                </a:solidFill>
                <a:latin typeface="Courier New"/>
              </a:rPr>
              <a:t>.</a:t>
            </a:r>
            <a:r>
              <a:rPr sz="1850" b="0" i="0">
                <a:solidFill>
                  <a:srgbClr val="1F2328"/>
                </a:solidFill>
                <a:latin typeface="Courier New"/>
              </a:rPr>
              <a:t>assign</a:t>
            </a:r>
            <a:r>
              <a:rPr sz="1850" b="0" i="0">
                <a:solidFill>
                  <a:srgbClr val="1F2328"/>
                </a:solidFill>
                <a:latin typeface="Courier New"/>
              </a:rPr>
              <a:t>(</a:t>
            </a:r>
            <a:r>
              <a:rPr sz="1850" b="0" i="0">
                <a:solidFill>
                  <a:srgbClr val="1F2328"/>
                </a:solidFill>
                <a:latin typeface="Courier New"/>
              </a:rPr>
              <a:t>name</a:t>
            </a:r>
            <a:r>
              <a:rPr sz="1850" b="0" i="0">
                <a:solidFill>
                  <a:srgbClr val="1F2328"/>
                </a:solidFill>
                <a:latin typeface="Courier New"/>
              </a:rPr>
              <a:t>=</a:t>
            </a:r>
            <a:r>
              <a:rPr sz="1850" b="0" i="0">
                <a:solidFill>
                  <a:srgbClr val="1F2328"/>
                </a:solidFill>
                <a:latin typeface="Courier New"/>
              </a:rPr>
              <a:t>name</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duplicated</a:t>
            </a:r>
            <a:r>
              <a:rPr sz="1850" b="0" i="0">
                <a:solidFill>
                  <a:srgbClr val="1F2328"/>
                </a:solidFill>
                <a:latin typeface="Courier New"/>
              </a:rPr>
              <a:t>(</a:t>
            </a:r>
            <a:r>
              <a:rPr sz="1850" b="0" i="0">
                <a:solidFill>
                  <a:srgbClr val="1F2328"/>
                </a:solidFill>
                <a:latin typeface="Courier New"/>
              </a:rPr>
              <a:t>[</a:t>
            </a:r>
            <a:r>
              <a:rPr sz="1850" b="0" i="0">
                <a:solidFill>
                  <a:srgbClr val="B04A2B"/>
                </a:solidFill>
                <a:latin typeface="Courier New"/>
              </a:rPr>
              <a:t>'name'</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'date_of_birth'</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sum</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by_id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cust</a:t>
            </a:r>
            <a:r>
              <a:rPr sz="1850" b="0" i="0">
                <a:solidFill>
                  <a:srgbClr val="1F2328"/>
                </a:solidFill>
                <a:latin typeface="Courier New"/>
              </a:rPr>
              <a:t>.</a:t>
            </a:r>
            <a:r>
              <a:rPr sz="1850" b="0" i="0">
                <a:solidFill>
                  <a:srgbClr val="1F2328"/>
                </a:solidFill>
                <a:latin typeface="Courier New"/>
              </a:rPr>
              <a:t>national_id</a:t>
            </a:r>
            <a:r>
              <a:rPr sz="1850" b="0" i="0">
                <a:solidFill>
                  <a:srgbClr val="1F2328"/>
                </a:solidFill>
                <a:latin typeface="Courier New"/>
              </a:rPr>
              <a:t>.</a:t>
            </a:r>
            <a:r>
              <a:rPr sz="1850" b="0" i="0">
                <a:solidFill>
                  <a:srgbClr val="1F2328"/>
                </a:solidFill>
                <a:latin typeface="Courier New"/>
              </a:rPr>
              <a:t>notna</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&amp;</a:t>
            </a:r>
            <a:r>
              <a:rPr sz="1850" b="0" i="0">
                <a:solidFill>
                  <a:srgbClr val="1F2328"/>
                </a:solidFill>
                <a:latin typeface="Courier New"/>
              </a:rPr>
              <a:t> </a:t>
            </a:r>
            <a:r>
              <a:rPr sz="1850" b="0" i="0">
                <a:solidFill>
                  <a:srgbClr val="1F2328"/>
                </a:solidFill>
                <a:latin typeface="Courier New"/>
              </a:rPr>
              <a:t>cust</a:t>
            </a:r>
            <a:r>
              <a:rPr sz="1850" b="0" i="0">
                <a:solidFill>
                  <a:srgbClr val="1F2328"/>
                </a:solidFill>
                <a:latin typeface="Courier New"/>
              </a:rPr>
              <a:t>.</a:t>
            </a:r>
            <a:r>
              <a:rPr sz="1850" b="0" i="0">
                <a:solidFill>
                  <a:srgbClr val="1F2328"/>
                </a:solidFill>
                <a:latin typeface="Courier New"/>
              </a:rPr>
              <a:t>duplicated</a:t>
            </a:r>
            <a:r>
              <a:rPr sz="1850" b="0" i="0">
                <a:solidFill>
                  <a:srgbClr val="1F2328"/>
                </a:solidFill>
                <a:latin typeface="Courier New"/>
              </a:rPr>
              <a:t>(</a:t>
            </a:r>
            <a:r>
              <a:rPr sz="1850" b="0" i="0">
                <a:solidFill>
                  <a:srgbClr val="B04A2B"/>
                </a:solidFill>
                <a:latin typeface="Courier New"/>
              </a:rPr>
              <a:t>'national_id'</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sum</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B04A2B"/>
                </a:solidFill>
                <a:latin typeface="Courier New"/>
              </a:rPr>
              <a:t>'exact'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exact</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 normalised'</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norm</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 by national id'</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by_id</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B04A2B"/>
                </a:solidFill>
                <a:latin typeface="Courier New"/>
              </a:rPr>
              <a:t>'distinct people:'</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len</a:t>
            </a:r>
            <a:r>
              <a:rPr sz="1850" b="0" i="0">
                <a:solidFill>
                  <a:srgbClr val="1F2328"/>
                </a:solidFill>
                <a:latin typeface="Courier New"/>
              </a:rPr>
              <a:t>(</a:t>
            </a:r>
            <a:r>
              <a:rPr sz="1850" b="0" i="0">
                <a:solidFill>
                  <a:srgbClr val="1F2328"/>
                </a:solidFill>
                <a:latin typeface="Courier New"/>
              </a:rPr>
              <a:t>cust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norm</a:t>
            </a:r>
            <a:r>
              <a:rPr sz="1850" b="0" i="0">
                <a:solidFill>
                  <a:srgbClr val="1F2328"/>
                </a:solidFill>
                <a:latin typeface="Courier New"/>
              </a:rPr>
              <a:t>)</a:t>
            </a:r>
          </a:p>
        </p:txBody>
      </p:sp>
      <p:grpSp>
        <p:nvGrpSpPr>
          <p:cNvPr id="7" name="output"/>
          <p:cNvGrpSpPr/>
          <p:nvPr/>
        </p:nvGrpSpPr>
        <p:grpSpPr>
          <a:xfrm>
            <a:off x="685800" y="3994404"/>
            <a:ext cx="10820095" cy="737615"/>
            <a:chOff x="685800" y="3994404"/>
            <a:chExt cx="10820095" cy="737615"/>
          </a:xfrm>
        </p:grpSpPr>
        <p:sp>
          <p:nvSpPr>
            <p:cNvPr id="8" name="TextBox 7"/>
            <p:cNvSpPr txBox="1"/>
            <p:nvPr/>
          </p:nvSpPr>
          <p:spPr>
            <a:xfrm>
              <a:off x="685800" y="39944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25043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341876"/>
              <a:ext cx="10545775" cy="371855"/>
            </a:xfrm>
            <a:prstGeom prst="rect">
              <a:avLst/>
            </a:prstGeom>
            <a:noFill/>
          </p:spPr>
          <p:txBody>
            <a:bodyPr wrap="none" lIns="0" rIns="0" tIns="0" bIns="0">
              <a:spAutoFit/>
            </a:bodyPr>
            <a:lstStyle/>
            <a:p>
              <a:r>
                <a:rPr sz="1400" b="0" i="0">
                  <a:solidFill>
                    <a:srgbClr val="1F2328"/>
                  </a:solidFill>
                  <a:latin typeface="Courier New"/>
                </a:rPr>
                <a:t>exact 75 | normalised 150 | by national id 150</a:t>
              </a:r>
            </a:p>
            <a:p>
              <a:r>
                <a:rPr sz="1400" b="0" i="0">
                  <a:solidFill>
                    <a:srgbClr val="1F2328"/>
                  </a:solidFill>
                  <a:latin typeface="Courier New"/>
                </a:rPr>
                <a:t>distinct people: 4850</a:t>
              </a:r>
            </a:p>
          </p:txBody>
        </p:sp>
      </p:grpSp>
      <p:grpSp>
        <p:nvGrpSpPr>
          <p:cNvPr id="11" name="says-1"/>
          <p:cNvGrpSpPr/>
          <p:nvPr/>
        </p:nvGrpSpPr>
        <p:grpSpPr>
          <a:xfrm>
            <a:off x="685800" y="4914900"/>
            <a:ext cx="3332378" cy="1284731"/>
            <a:chOff x="685800" y="4914900"/>
            <a:chExt cx="3332378" cy="1284731"/>
          </a:xfrm>
        </p:grpSpPr>
        <p:cxnSp>
          <p:nvCxnSpPr>
            <p:cNvPr id="12" name="Connector 11"/>
            <p:cNvCxnSpPr/>
            <p:nvPr/>
          </p:nvCxnSpPr>
          <p:spPr>
            <a:xfrm>
              <a:off x="685800" y="4914900"/>
              <a:ext cx="3332378" cy="0"/>
            </a:xfrm>
            <a:prstGeom prst="line">
              <a:avLst/>
            </a:prstGeom>
            <a:ln w="15875">
              <a:solidFill>
                <a:srgbClr val="1F2328"/>
              </a:solidFill>
            </a:ln>
          </p:spPr>
        </p:cxnSp>
        <p:sp>
          <p:nvSpPr>
            <p:cNvPr id="13" name="TextBox 12"/>
            <p:cNvSpPr txBox="1"/>
            <p:nvPr/>
          </p:nvSpPr>
          <p:spPr>
            <a:xfrm>
              <a:off x="685800" y="4988052"/>
              <a:ext cx="292608" cy="121157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988052"/>
              <a:ext cx="2984906" cy="1211579"/>
            </a:xfrm>
            <a:prstGeom prst="rect">
              <a:avLst/>
            </a:prstGeom>
            <a:noFill/>
          </p:spPr>
          <p:txBody>
            <a:bodyPr wrap="square" lIns="0" rIns="0" tIns="18288" bIns="18288" anchor="t">
              <a:spAutoFit/>
            </a:bodyPr>
            <a:lstStyle/>
            <a:p>
              <a:pPr algn="l"/>
              <a:r>
                <a:rPr sz="1900" b="0" i="0">
                  <a:solidFill>
                    <a:srgbClr val="1F2328"/>
                  </a:solidFill>
                  <a:latin typeface="Calibri"/>
                </a:rPr>
                <a:t>Keep customers with a birth date. A blank date would match every other blank.</a:t>
              </a:r>
            </a:p>
          </p:txBody>
        </p:sp>
      </p:grpSp>
      <p:grpSp>
        <p:nvGrpSpPr>
          <p:cNvPr id="15" name="says-2"/>
          <p:cNvGrpSpPr/>
          <p:nvPr/>
        </p:nvGrpSpPr>
        <p:grpSpPr>
          <a:xfrm>
            <a:off x="4429658" y="4914900"/>
            <a:ext cx="3332378" cy="1284731"/>
            <a:chOff x="4429658" y="4914900"/>
            <a:chExt cx="3332378" cy="1284731"/>
          </a:xfrm>
        </p:grpSpPr>
        <p:cxnSp>
          <p:nvCxnSpPr>
            <p:cNvPr id="16" name="Connector 15"/>
            <p:cNvCxnSpPr/>
            <p:nvPr/>
          </p:nvCxnSpPr>
          <p:spPr>
            <a:xfrm>
              <a:off x="4429658" y="4914900"/>
              <a:ext cx="3332378" cy="0"/>
            </a:xfrm>
            <a:prstGeom prst="line">
              <a:avLst/>
            </a:prstGeom>
            <a:ln w="15875">
              <a:solidFill>
                <a:srgbClr val="1F2328"/>
              </a:solidFill>
            </a:ln>
          </p:spPr>
        </p:cxnSp>
        <p:sp>
          <p:nvSpPr>
            <p:cNvPr id="17" name="TextBox 16"/>
            <p:cNvSpPr txBox="1"/>
            <p:nvPr/>
          </p:nvSpPr>
          <p:spPr>
            <a:xfrm>
              <a:off x="4429658" y="4988052"/>
              <a:ext cx="292608" cy="121157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988052"/>
              <a:ext cx="2984906" cy="1211579"/>
            </a:xfrm>
            <a:prstGeom prst="rect">
              <a:avLst/>
            </a:prstGeom>
            <a:noFill/>
          </p:spPr>
          <p:txBody>
            <a:bodyPr wrap="square" lIns="0" rIns="0" tIns="18288" bIns="18288" anchor="t">
              <a:spAutoFit/>
            </a:bodyPr>
            <a:lstStyle/>
            <a:p>
              <a:pPr algn="l"/>
              <a:r>
                <a:rPr sz="1900" b="0" i="0">
                  <a:solidFill>
                    <a:srgbClr val="1F2328"/>
                  </a:solidFill>
                  <a:latin typeface="Calibri"/>
                </a:rPr>
                <a:t>Normalising means lower case and single spaces. Compare the two counts.</a:t>
              </a:r>
            </a:p>
          </p:txBody>
        </p:sp>
      </p:grpSp>
      <p:grpSp>
        <p:nvGrpSpPr>
          <p:cNvPr id="19" name="says-3"/>
          <p:cNvGrpSpPr/>
          <p:nvPr/>
        </p:nvGrpSpPr>
        <p:grpSpPr>
          <a:xfrm>
            <a:off x="8173516" y="4914900"/>
            <a:ext cx="3332379" cy="1284731"/>
            <a:chOff x="8173516" y="4914900"/>
            <a:chExt cx="3332379" cy="1284731"/>
          </a:xfrm>
        </p:grpSpPr>
        <p:cxnSp>
          <p:nvCxnSpPr>
            <p:cNvPr id="20" name="Connector 19"/>
            <p:cNvCxnSpPr/>
            <p:nvPr/>
          </p:nvCxnSpPr>
          <p:spPr>
            <a:xfrm>
              <a:off x="8173516" y="4914900"/>
              <a:ext cx="3332379" cy="0"/>
            </a:xfrm>
            <a:prstGeom prst="line">
              <a:avLst/>
            </a:prstGeom>
            <a:ln w="15875">
              <a:solidFill>
                <a:srgbClr val="1F2328"/>
              </a:solidFill>
            </a:ln>
          </p:spPr>
        </p:cxnSp>
        <p:sp>
          <p:nvSpPr>
            <p:cNvPr id="21" name="TextBox 20"/>
            <p:cNvSpPr txBox="1"/>
            <p:nvPr/>
          </p:nvSpPr>
          <p:spPr>
            <a:xfrm>
              <a:off x="8173516" y="4988052"/>
              <a:ext cx="292608" cy="121157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988052"/>
              <a:ext cx="2984906" cy="1211579"/>
            </a:xfrm>
            <a:prstGeom prst="rect">
              <a:avLst/>
            </a:prstGeom>
            <a:noFill/>
          </p:spPr>
          <p:txBody>
            <a:bodyPr wrap="square" lIns="0" rIns="0" tIns="18288" bIns="18288" anchor="t">
              <a:spAutoFit/>
            </a:bodyPr>
            <a:lstStyle/>
            <a:p>
              <a:pPr algn="l"/>
              <a:r>
                <a:rPr sz="1900" b="0" i="0">
                  <a:solidFill>
                    <a:srgbClr val="1F2328"/>
                  </a:solidFill>
                  <a:latin typeface="Calibri"/>
                </a:rPr>
                <a:t>A second rule uses the national ID. Both rules should agree.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050" b="1" i="0">
                <a:solidFill>
                  <a:srgbClr val="F3F0EA"/>
                </a:solidFill>
                <a:latin typeface="Cambria"/>
              </a:rPr>
              <a:t>Reading the rules one at a time hides how many rows are bad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11</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Dates fail on 0.8 percent of rows. National ID fails on 11. Each looks like a small problem to fix later.</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Each rule counts rows on its own, and the failures fall on different rows. An AI reads whole rows. Only 1,557 of 5,000 rows, 31 percent, pass all four rules.</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Report each rule and the share of rows that pass every rule. Decide which rules must hold before an AI may read the table.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mobile money log: four rules, one day with a hole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10820095" cy="23835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109216"/>
          </a:xfrm>
          <a:prstGeom prst="rect">
            <a:avLst/>
          </a:prstGeom>
          <a:noFill/>
        </p:spPr>
        <p:txBody>
          <a:bodyPr wrap="none" lIns="0" rIns="0" tIns="0" bIns="0">
            <a:spAutoFit/>
          </a:bodyPr>
          <a:lstStyle/>
          <a:p>
            <a:r>
              <a:rPr sz="1700" b="0" i="0">
                <a:solidFill>
                  <a:srgbClr val="1F2328"/>
                </a:solidFill>
                <a:latin typeface="Courier New"/>
              </a:rPr>
              <a:t>mm</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pd</a:t>
            </a:r>
            <a:r>
              <a:rPr sz="1700" b="0" i="0">
                <a:solidFill>
                  <a:srgbClr val="1F2328"/>
                </a:solidFill>
                <a:latin typeface="Courier New"/>
              </a:rPr>
              <a:t>.</a:t>
            </a:r>
            <a:r>
              <a:rPr sz="1700" b="0" i="0">
                <a:solidFill>
                  <a:srgbClr val="1F2328"/>
                </a:solidFill>
                <a:latin typeface="Courier New"/>
              </a:rPr>
              <a:t>read_csv</a:t>
            </a:r>
            <a:r>
              <a:rPr sz="1700" b="0" i="0">
                <a:solidFill>
                  <a:srgbClr val="1F2328"/>
                </a:solidFill>
                <a:latin typeface="Courier New"/>
              </a:rPr>
              <a:t>(</a:t>
            </a:r>
            <a:r>
              <a:rPr sz="1700" b="0" i="0">
                <a:solidFill>
                  <a:srgbClr val="B04A2B"/>
                </a:solidFill>
                <a:latin typeface="Courier New"/>
              </a:rPr>
              <a:t>'mobile_money_log.csv'</a:t>
            </a:r>
            <a:r>
              <a:rPr sz="1700" b="0" i="0">
                <a:solidFill>
                  <a:srgbClr val="1F2328"/>
                </a:solidFill>
                <a:latin typeface="Courier New"/>
              </a:rPr>
              <a:t>)</a:t>
            </a:r>
          </a:p>
          <a:p>
            <a:r>
              <a:rPr sz="1700" b="0" i="0">
                <a:solidFill>
                  <a:srgbClr val="1F2328"/>
                </a:solidFill>
                <a:latin typeface="Courier New"/>
              </a:rPr>
              <a:t>iso</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pd</a:t>
            </a:r>
            <a:r>
              <a:rPr sz="1700" b="0" i="0">
                <a:solidFill>
                  <a:srgbClr val="1F2328"/>
                </a:solidFill>
                <a:latin typeface="Courier New"/>
              </a:rPr>
              <a:t>.</a:t>
            </a:r>
            <a:r>
              <a:rPr sz="1700" b="0" i="0">
                <a:solidFill>
                  <a:srgbClr val="1F2328"/>
                </a:solidFill>
                <a:latin typeface="Courier New"/>
              </a:rPr>
              <a:t>to_datetime</a:t>
            </a:r>
            <a:r>
              <a:rPr sz="1700" b="0" i="0">
                <a:solidFill>
                  <a:srgbClr val="1F2328"/>
                </a:solidFill>
                <a:latin typeface="Courier New"/>
              </a:rPr>
              <a:t>(</a:t>
            </a:r>
            <a:r>
              <a:rPr sz="1700" b="0" i="0">
                <a:solidFill>
                  <a:srgbClr val="1F2328"/>
                </a:solidFill>
                <a:latin typeface="Courier New"/>
              </a:rPr>
              <a:t>mm</a:t>
            </a:r>
            <a:r>
              <a:rPr sz="1700" b="0" i="0">
                <a:solidFill>
                  <a:srgbClr val="1F2328"/>
                </a:solidFill>
                <a:latin typeface="Courier New"/>
              </a:rPr>
              <a:t>.</a:t>
            </a:r>
            <a:r>
              <a:rPr sz="1700" b="0" i="0">
                <a:solidFill>
                  <a:srgbClr val="1F2328"/>
                </a:solidFill>
                <a:latin typeface="Courier New"/>
              </a:rPr>
              <a:t>timestamp</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format</a:t>
            </a:r>
            <a:r>
              <a:rPr sz="1700" b="0" i="0">
                <a:solidFill>
                  <a:srgbClr val="1F2328"/>
                </a:solidFill>
                <a:latin typeface="Courier New"/>
              </a:rPr>
              <a:t>=</a:t>
            </a:r>
            <a:r>
              <a:rPr sz="1700" b="0" i="0">
                <a:solidFill>
                  <a:srgbClr val="B04A2B"/>
                </a:solidFill>
                <a:latin typeface="Courier New"/>
              </a:rPr>
              <a:t>'%Y-%m-%d %H:%M:%S'</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errors</a:t>
            </a:r>
            <a:r>
              <a:rPr sz="1700" b="0" i="0">
                <a:solidFill>
                  <a:srgbClr val="1F2328"/>
                </a:solidFill>
                <a:latin typeface="Courier New"/>
              </a:rPr>
              <a:t>=</a:t>
            </a:r>
            <a:r>
              <a:rPr sz="1700" b="0" i="0">
                <a:solidFill>
                  <a:srgbClr val="B04A2B"/>
                </a:solidFill>
                <a:latin typeface="Courier New"/>
              </a:rPr>
              <a:t>'coerce'</a:t>
            </a:r>
            <a:r>
              <a:rPr sz="1700" b="0" i="0">
                <a:solidFill>
                  <a:srgbClr val="1F2328"/>
                </a:solidFill>
                <a:latin typeface="Courier New"/>
              </a:rPr>
              <a:t>)</a:t>
            </a:r>
          </a:p>
          <a:p>
            <a:r>
              <a:rPr sz="1700" b="0" i="0">
                <a:solidFill>
                  <a:srgbClr val="1F2328"/>
                </a:solidFill>
                <a:latin typeface="Courier New"/>
              </a:rPr>
              <a:t>slash</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pd</a:t>
            </a:r>
            <a:r>
              <a:rPr sz="1700" b="0" i="0">
                <a:solidFill>
                  <a:srgbClr val="1F2328"/>
                </a:solidFill>
                <a:latin typeface="Courier New"/>
              </a:rPr>
              <a:t>.</a:t>
            </a:r>
            <a:r>
              <a:rPr sz="1700" b="0" i="0">
                <a:solidFill>
                  <a:srgbClr val="1F2328"/>
                </a:solidFill>
                <a:latin typeface="Courier New"/>
              </a:rPr>
              <a:t>to_datetime</a:t>
            </a:r>
            <a:r>
              <a:rPr sz="1700" b="0" i="0">
                <a:solidFill>
                  <a:srgbClr val="1F2328"/>
                </a:solidFill>
                <a:latin typeface="Courier New"/>
              </a:rPr>
              <a:t>(</a:t>
            </a:r>
            <a:r>
              <a:rPr sz="1700" b="0" i="0">
                <a:solidFill>
                  <a:srgbClr val="1F2328"/>
                </a:solidFill>
                <a:latin typeface="Courier New"/>
              </a:rPr>
              <a:t>mm</a:t>
            </a:r>
            <a:r>
              <a:rPr sz="1700" b="0" i="0">
                <a:solidFill>
                  <a:srgbClr val="1F2328"/>
                </a:solidFill>
                <a:latin typeface="Courier New"/>
              </a:rPr>
              <a:t>.</a:t>
            </a:r>
            <a:r>
              <a:rPr sz="1700" b="0" i="0">
                <a:solidFill>
                  <a:srgbClr val="1F2328"/>
                </a:solidFill>
                <a:latin typeface="Courier New"/>
              </a:rPr>
              <a:t>timestamp</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format</a:t>
            </a:r>
            <a:r>
              <a:rPr sz="1700" b="0" i="0">
                <a:solidFill>
                  <a:srgbClr val="1F2328"/>
                </a:solidFill>
                <a:latin typeface="Courier New"/>
              </a:rPr>
              <a:t>=</a:t>
            </a:r>
            <a:r>
              <a:rPr sz="1700" b="0" i="0">
                <a:solidFill>
                  <a:srgbClr val="B04A2B"/>
                </a:solidFill>
                <a:latin typeface="Courier New"/>
              </a:rPr>
              <a:t>'%d/%m/%Y %H:%M'</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errors</a:t>
            </a:r>
            <a:r>
              <a:rPr sz="1700" b="0" i="0">
                <a:solidFill>
                  <a:srgbClr val="1F2328"/>
                </a:solidFill>
                <a:latin typeface="Courier New"/>
              </a:rPr>
              <a:t>=</a:t>
            </a:r>
            <a:r>
              <a:rPr sz="1700" b="0" i="0">
                <a:solidFill>
                  <a:srgbClr val="B04A2B"/>
                </a:solidFill>
                <a:latin typeface="Courier New"/>
              </a:rPr>
              <a:t>'coerce'</a:t>
            </a:r>
            <a:r>
              <a:rPr sz="1700" b="0" i="0">
                <a:solidFill>
                  <a:srgbClr val="1F2328"/>
                </a:solidFill>
                <a:latin typeface="Courier New"/>
              </a:rPr>
              <a:t>)</a:t>
            </a:r>
          </a:p>
          <a:p>
            <a:r>
              <a:rPr sz="1700" b="0" i="0">
                <a:solidFill>
                  <a:srgbClr val="1F2328"/>
                </a:solidFill>
                <a:latin typeface="Courier New"/>
              </a:rPr>
              <a:t>ts</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iso</a:t>
            </a:r>
            <a:r>
              <a:rPr sz="1700" b="0" i="0">
                <a:solidFill>
                  <a:srgbClr val="1F2328"/>
                </a:solidFill>
                <a:latin typeface="Courier New"/>
              </a:rPr>
              <a:t>.</a:t>
            </a:r>
            <a:r>
              <a:rPr sz="1700" b="0" i="0">
                <a:solidFill>
                  <a:srgbClr val="1F2328"/>
                </a:solidFill>
                <a:latin typeface="Courier New"/>
              </a:rPr>
              <a:t>fillna</a:t>
            </a:r>
            <a:r>
              <a:rPr sz="1700" b="0" i="0">
                <a:solidFill>
                  <a:srgbClr val="1F2328"/>
                </a:solidFill>
                <a:latin typeface="Courier New"/>
              </a:rPr>
              <a:t>(</a:t>
            </a:r>
            <a:r>
              <a:rPr sz="1700" b="0" i="0">
                <a:solidFill>
                  <a:srgbClr val="1F2328"/>
                </a:solidFill>
                <a:latin typeface="Courier New"/>
              </a:rPr>
              <a:t>slash</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sort_values</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B04A2B"/>
                </a:solidFill>
                <a:latin typeface="Courier New"/>
              </a:rPr>
              <a:t>'txn_id repeated:'</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mm</a:t>
            </a:r>
            <a:r>
              <a:rPr sz="1700" b="0" i="0">
                <a:solidFill>
                  <a:srgbClr val="1F2328"/>
                </a:solidFill>
                <a:latin typeface="Courier New"/>
              </a:rPr>
              <a:t>.</a:t>
            </a:r>
            <a:r>
              <a:rPr sz="1700" b="0" i="0">
                <a:solidFill>
                  <a:srgbClr val="1F2328"/>
                </a:solidFill>
                <a:latin typeface="Courier New"/>
              </a:rPr>
              <a:t>duplicated</a:t>
            </a:r>
            <a:r>
              <a:rPr sz="1700" b="0" i="0">
                <a:solidFill>
                  <a:srgbClr val="1F2328"/>
                </a:solidFill>
                <a:latin typeface="Courier New"/>
              </a:rPr>
              <a:t>(</a:t>
            </a:r>
            <a:r>
              <a:rPr sz="1700" b="0" i="0">
                <a:solidFill>
                  <a:srgbClr val="B04A2B"/>
                </a:solidFill>
                <a:latin typeface="Courier New"/>
              </a:rPr>
              <a:t>'txn_id'</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sum</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B04A2B"/>
                </a:solidFill>
                <a:latin typeface="Courier New"/>
              </a:rPr>
              <a:t>'amount zero or below:'</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mm</a:t>
            </a:r>
            <a:r>
              <a:rPr sz="1700" b="0" i="0">
                <a:solidFill>
                  <a:srgbClr val="1F2328"/>
                </a:solidFill>
                <a:latin typeface="Courier New"/>
              </a:rPr>
              <a:t>.</a:t>
            </a:r>
            <a:r>
              <a:rPr sz="1700" b="0" i="0">
                <a:solidFill>
                  <a:srgbClr val="1F2328"/>
                </a:solidFill>
                <a:latin typeface="Courier New"/>
              </a:rPr>
              <a:t>amount_ugx</a:t>
            </a:r>
            <a:r>
              <a:rPr sz="1700" b="0" i="0">
                <a:solidFill>
                  <a:srgbClr val="1F2328"/>
                </a:solidFill>
                <a:latin typeface="Courier New"/>
              </a:rPr>
              <a:t> </a:t>
            </a:r>
            <a:r>
              <a:rPr sz="1700" b="0" i="0">
                <a:solidFill>
                  <a:srgbClr val="1F2328"/>
                </a:solidFill>
                <a:latin typeface="Courier New"/>
              </a:rPr>
              <a:t>&lt;</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0</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sum</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B04A2B"/>
                </a:solidFill>
                <a:latin typeface="Courier New"/>
              </a:rPr>
              <a:t>'second format:'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iso</a:t>
            </a:r>
            <a:r>
              <a:rPr sz="1700" b="0" i="0">
                <a:solidFill>
                  <a:srgbClr val="1F2328"/>
                </a:solidFill>
                <a:latin typeface="Courier New"/>
              </a:rPr>
              <a:t>.</a:t>
            </a:r>
            <a:r>
              <a:rPr sz="1700" b="0" i="0">
                <a:solidFill>
                  <a:srgbClr val="1F2328"/>
                </a:solidFill>
                <a:latin typeface="Courier New"/>
              </a:rPr>
              <a:t>isna</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sum</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'unreadable:'</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ts</a:t>
            </a:r>
            <a:r>
              <a:rPr sz="1700" b="0" i="0">
                <a:solidFill>
                  <a:srgbClr val="1F2328"/>
                </a:solidFill>
                <a:latin typeface="Courier New"/>
              </a:rPr>
              <a:t>.</a:t>
            </a:r>
            <a:r>
              <a:rPr sz="1700" b="0" i="0">
                <a:solidFill>
                  <a:srgbClr val="1F2328"/>
                </a:solidFill>
                <a:latin typeface="Courier New"/>
              </a:rPr>
              <a:t>isna</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sum</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B04A2B"/>
                </a:solidFill>
                <a:latin typeface="Courier New"/>
              </a:rPr>
              <a:t>'longest silence:'</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ts</a:t>
            </a:r>
            <a:r>
              <a:rPr sz="1700" b="0" i="0">
                <a:solidFill>
                  <a:srgbClr val="1F2328"/>
                </a:solidFill>
                <a:latin typeface="Courier New"/>
              </a:rPr>
              <a:t>.</a:t>
            </a:r>
            <a:r>
              <a:rPr sz="1700" b="0" i="0">
                <a:solidFill>
                  <a:srgbClr val="1F2328"/>
                </a:solidFill>
                <a:latin typeface="Courier New"/>
              </a:rPr>
              <a:t>diff</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max</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p:txBody>
      </p:sp>
      <p:grpSp>
        <p:nvGrpSpPr>
          <p:cNvPr id="7" name="output"/>
          <p:cNvGrpSpPr/>
          <p:nvPr/>
        </p:nvGrpSpPr>
        <p:grpSpPr>
          <a:xfrm>
            <a:off x="685800" y="4093464"/>
            <a:ext cx="10820095" cy="1164336"/>
            <a:chOff x="685800" y="4093464"/>
            <a:chExt cx="10820095" cy="1164336"/>
          </a:xfrm>
        </p:grpSpPr>
        <p:sp>
          <p:nvSpPr>
            <p:cNvPr id="8" name="TextBox 7"/>
            <p:cNvSpPr txBox="1"/>
            <p:nvPr/>
          </p:nvSpPr>
          <p:spPr>
            <a:xfrm>
              <a:off x="685800" y="40934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349496"/>
              <a:ext cx="10820095"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440936"/>
              <a:ext cx="10545775" cy="798576"/>
            </a:xfrm>
            <a:prstGeom prst="rect">
              <a:avLst/>
            </a:prstGeom>
            <a:noFill/>
          </p:spPr>
          <p:txBody>
            <a:bodyPr wrap="none" lIns="0" rIns="0" tIns="0" bIns="0">
              <a:spAutoFit/>
            </a:bodyPr>
            <a:lstStyle/>
            <a:p>
              <a:r>
                <a:rPr sz="1400" b="0" i="0">
                  <a:solidFill>
                    <a:srgbClr val="1F2328"/>
                  </a:solidFill>
                  <a:latin typeface="Courier New"/>
                </a:rPr>
                <a:t>txn_id repeated: 300</a:t>
              </a:r>
            </a:p>
            <a:p>
              <a:r>
                <a:rPr sz="1400" b="0" i="0">
                  <a:solidFill>
                    <a:srgbClr val="1F2328"/>
                  </a:solidFill>
                  <a:latin typeface="Courier New"/>
                </a:rPr>
                <a:t>amount zero or below: 160</a:t>
              </a:r>
            </a:p>
            <a:p>
              <a:r>
                <a:rPr sz="1400" b="0" i="0">
                  <a:solidFill>
                    <a:srgbClr val="1F2328"/>
                  </a:solidFill>
                  <a:latin typeface="Courier New"/>
                </a:rPr>
                <a:t>second format: 1842 unreadable: 0</a:t>
              </a:r>
            </a:p>
            <a:p>
              <a:r>
                <a:rPr sz="1400" b="0" i="0">
                  <a:solidFill>
                    <a:srgbClr val="1F2328"/>
                  </a:solidFill>
                  <a:latin typeface="Courier New"/>
                </a:rPr>
                <a:t>longest silence: 0 days 06:05:44</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Six hours of silence on 17 September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pic>
        <p:nvPicPr>
          <p:cNvPr id="5" name="figure-freshness_gap" descr="Bar chart of transactions per hour on one day with a hatched 6 hour stretch around midday where nothing was recorded."/>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Transactions per hour on 17 September 2026.</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hatched block from 08:59 to 15:05 with no records.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About 40 transactions in the hour from 08:00 and about 50 from 15:00.</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The next longest gap in the month is 1.6 hours.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gate that stops the load when a rule fails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10820095" cy="21244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850136"/>
          </a:xfrm>
          <a:prstGeom prst="rect">
            <a:avLst/>
          </a:prstGeom>
          <a:noFill/>
        </p:spPr>
        <p:txBody>
          <a:bodyPr wrap="none" lIns="0" rIns="0" tIns="0" bIns="0">
            <a:spAutoFit/>
          </a:bodyPr>
          <a:lstStyle/>
          <a:p>
            <a:r>
              <a:rPr sz="1700" b="1" i="0">
                <a:solidFill>
                  <a:srgbClr val="1F2328"/>
                </a:solidFill>
                <a:latin typeface="Courier New"/>
              </a:rPr>
              <a:t>def</a:t>
            </a:r>
            <a:r>
              <a:rPr sz="1700" b="0" i="0">
                <a:solidFill>
                  <a:srgbClr val="1F2328"/>
                </a:solidFill>
                <a:latin typeface="Courier New"/>
              </a:rPr>
              <a:t> </a:t>
            </a:r>
            <a:r>
              <a:rPr sz="1700" b="0" i="0">
                <a:solidFill>
                  <a:srgbClr val="1F2328"/>
                </a:solidFill>
                <a:latin typeface="Courier New"/>
              </a:rPr>
              <a:t>gate</a:t>
            </a:r>
            <a:r>
              <a:rPr sz="1700" b="0" i="0">
                <a:solidFill>
                  <a:srgbClr val="1F2328"/>
                </a:solidFill>
                <a:latin typeface="Courier New"/>
              </a:rPr>
              <a:t>(</a:t>
            </a:r>
            <a:r>
              <a:rPr sz="1700" b="0" i="0">
                <a:solidFill>
                  <a:srgbClr val="1F2328"/>
                </a:solidFill>
                <a:latin typeface="Courier New"/>
              </a:rPr>
              <a:t>name</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bad</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limit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pct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100</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bad</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len</a:t>
            </a:r>
            <a:r>
              <a:rPr sz="1700" b="0" i="0">
                <a:solidFill>
                  <a:srgbClr val="1F2328"/>
                </a:solidFill>
                <a:latin typeface="Courier New"/>
              </a:rPr>
              <a:t>(</a:t>
            </a:r>
            <a:r>
              <a:rPr sz="1700" b="0" i="0">
                <a:solidFill>
                  <a:srgbClr val="1F2328"/>
                </a:solidFill>
                <a:latin typeface="Courier New"/>
              </a:rPr>
              <a:t>mm</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1" i="0">
                <a:solidFill>
                  <a:srgbClr val="1F2328"/>
                </a:solidFill>
                <a:latin typeface="Courier New"/>
              </a:rPr>
              <a:t>assert</a:t>
            </a:r>
            <a:r>
              <a:rPr sz="1700" b="0" i="0">
                <a:solidFill>
                  <a:srgbClr val="1F2328"/>
                </a:solidFill>
                <a:latin typeface="Courier New"/>
              </a:rPr>
              <a:t> </a:t>
            </a:r>
            <a:r>
              <a:rPr sz="1700" b="0" i="0">
                <a:solidFill>
                  <a:srgbClr val="1F2328"/>
                </a:solidFill>
                <a:latin typeface="Courier New"/>
              </a:rPr>
              <a:t>pct</a:t>
            </a:r>
            <a:r>
              <a:rPr sz="1700" b="0" i="0">
                <a:solidFill>
                  <a:srgbClr val="1F2328"/>
                </a:solidFill>
                <a:latin typeface="Courier New"/>
              </a:rPr>
              <a:t> </a:t>
            </a:r>
            <a:r>
              <a:rPr sz="1700" b="0" i="0">
                <a:solidFill>
                  <a:srgbClr val="1F2328"/>
                </a:solidFill>
                <a:latin typeface="Courier New"/>
              </a:rPr>
              <a:t>&lt;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limit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f</a:t>
            </a:r>
            <a:r>
              <a:rPr sz="1700" b="0" i="0">
                <a:solidFill>
                  <a:srgbClr val="B04A2B"/>
                </a:solidFill>
                <a:latin typeface="Courier New"/>
              </a:rPr>
              <a:t>'{name}: {bad} rows, {pct:.1f}% &gt; {limit}%. Stopped.'</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name</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'passed'</a:t>
            </a:r>
            <a:r>
              <a:rPr sz="1700" b="0" i="0">
                <a:solidFill>
                  <a:srgbClr val="1F2328"/>
                </a:solidFill>
                <a:latin typeface="Courier New"/>
              </a:rPr>
              <a:t>)</a:t>
            </a:r>
          </a:p>
          <a:p>
            <a:r>
              <a:rPr sz="1700" b="0" i="0">
                <a:solidFill>
                  <a:srgbClr val="1F2328"/>
                </a:solidFill>
                <a:latin typeface="Courier New"/>
              </a:rPr>
              <a:t> </a:t>
            </a:r>
          </a:p>
          <a:p>
            <a:r>
              <a:rPr sz="1700" b="0" i="0">
                <a:solidFill>
                  <a:srgbClr val="1F2328"/>
                </a:solidFill>
                <a:latin typeface="Courier New"/>
              </a:rPr>
              <a:t>gate</a:t>
            </a:r>
            <a:r>
              <a:rPr sz="1700" b="0" i="0">
                <a:solidFill>
                  <a:srgbClr val="1F2328"/>
                </a:solidFill>
                <a:latin typeface="Courier New"/>
              </a:rPr>
              <a:t>(</a:t>
            </a:r>
            <a:r>
              <a:rPr sz="1700" b="0" i="0">
                <a:solidFill>
                  <a:srgbClr val="B04A2B"/>
                </a:solidFill>
                <a:latin typeface="Courier New"/>
              </a:rPr>
              <a:t>'amount zero or below'</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mm</a:t>
            </a:r>
            <a:r>
              <a:rPr sz="1700" b="0" i="0">
                <a:solidFill>
                  <a:srgbClr val="1F2328"/>
                </a:solidFill>
                <a:latin typeface="Courier New"/>
              </a:rPr>
              <a:t>.</a:t>
            </a:r>
            <a:r>
              <a:rPr sz="1700" b="0" i="0">
                <a:solidFill>
                  <a:srgbClr val="1F2328"/>
                </a:solidFill>
                <a:latin typeface="Courier New"/>
              </a:rPr>
              <a:t>amount_ugx</a:t>
            </a:r>
            <a:r>
              <a:rPr sz="1700" b="0" i="0">
                <a:solidFill>
                  <a:srgbClr val="1F2328"/>
                </a:solidFill>
                <a:latin typeface="Courier New"/>
              </a:rPr>
              <a:t> </a:t>
            </a:r>
            <a:r>
              <a:rPr sz="1700" b="0" i="0">
                <a:solidFill>
                  <a:srgbClr val="1F2328"/>
                </a:solidFill>
                <a:latin typeface="Courier New"/>
              </a:rPr>
              <a:t>&lt;</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0</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sum</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1.0</a:t>
            </a:r>
            <a:r>
              <a:rPr sz="1700" b="0" i="0">
                <a:solidFill>
                  <a:srgbClr val="1F2328"/>
                </a:solidFill>
                <a:latin typeface="Courier New"/>
              </a:rPr>
              <a:t>)</a:t>
            </a:r>
          </a:p>
          <a:p>
            <a:r>
              <a:rPr sz="1700" b="0" i="0">
                <a:solidFill>
                  <a:srgbClr val="1F2328"/>
                </a:solidFill>
                <a:latin typeface="Courier New"/>
              </a:rPr>
              <a:t>gate</a:t>
            </a:r>
            <a:r>
              <a:rPr sz="1700" b="0" i="0">
                <a:solidFill>
                  <a:srgbClr val="1F2328"/>
                </a:solidFill>
                <a:latin typeface="Courier New"/>
              </a:rPr>
              <a:t>(</a:t>
            </a:r>
            <a:r>
              <a:rPr sz="1700" b="0" i="0">
                <a:solidFill>
                  <a:srgbClr val="B04A2B"/>
                </a:solidFill>
                <a:latin typeface="Courier New"/>
              </a:rPr>
              <a:t>'txn_id repeated'</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mm</a:t>
            </a:r>
            <a:r>
              <a:rPr sz="1700" b="0" i="0">
                <a:solidFill>
                  <a:srgbClr val="1F2328"/>
                </a:solidFill>
                <a:latin typeface="Courier New"/>
              </a:rPr>
              <a:t>.</a:t>
            </a:r>
            <a:r>
              <a:rPr sz="1700" b="0" i="0">
                <a:solidFill>
                  <a:srgbClr val="1F2328"/>
                </a:solidFill>
                <a:latin typeface="Courier New"/>
              </a:rPr>
              <a:t>duplicated</a:t>
            </a:r>
            <a:r>
              <a:rPr sz="1700" b="0" i="0">
                <a:solidFill>
                  <a:srgbClr val="1F2328"/>
                </a:solidFill>
                <a:latin typeface="Courier New"/>
              </a:rPr>
              <a:t>(</a:t>
            </a:r>
            <a:r>
              <a:rPr sz="1700" b="0" i="0">
                <a:solidFill>
                  <a:srgbClr val="B04A2B"/>
                </a:solidFill>
                <a:latin typeface="Courier New"/>
              </a:rPr>
              <a:t>'txn_id'</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sum</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0.1</a:t>
            </a:r>
            <a:r>
              <a:rPr sz="1700" b="0" i="0">
                <a:solidFill>
                  <a:srgbClr val="1F2328"/>
                </a:solidFill>
                <a:latin typeface="Courier New"/>
              </a:rPr>
              <a:t>)</a:t>
            </a:r>
          </a:p>
        </p:txBody>
      </p:sp>
      <p:grpSp>
        <p:nvGrpSpPr>
          <p:cNvPr id="7" name="output"/>
          <p:cNvGrpSpPr/>
          <p:nvPr/>
        </p:nvGrpSpPr>
        <p:grpSpPr>
          <a:xfrm>
            <a:off x="685800" y="3834384"/>
            <a:ext cx="10820095" cy="737615"/>
            <a:chOff x="685800" y="3834384"/>
            <a:chExt cx="10820095" cy="737615"/>
          </a:xfrm>
        </p:grpSpPr>
        <p:sp>
          <p:nvSpPr>
            <p:cNvPr id="8" name="TextBox 7"/>
            <p:cNvSpPr txBox="1"/>
            <p:nvPr/>
          </p:nvSpPr>
          <p:spPr>
            <a:xfrm>
              <a:off x="685800" y="38343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09041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181856"/>
              <a:ext cx="10545775" cy="371855"/>
            </a:xfrm>
            <a:prstGeom prst="rect">
              <a:avLst/>
            </a:prstGeom>
            <a:noFill/>
          </p:spPr>
          <p:txBody>
            <a:bodyPr wrap="none" lIns="0" rIns="0" tIns="0" bIns="0">
              <a:spAutoFit/>
            </a:bodyPr>
            <a:lstStyle/>
            <a:p>
              <a:r>
                <a:rPr sz="1400" b="0" i="0">
                  <a:solidFill>
                    <a:srgbClr val="1F2328"/>
                  </a:solidFill>
                  <a:latin typeface="Courier New"/>
                </a:rPr>
                <a:t>amount zero or below passed</a:t>
              </a:r>
            </a:p>
            <a:p>
              <a:r>
                <a:rPr sz="1400" b="0" i="0">
                  <a:solidFill>
                    <a:srgbClr val="1F2328"/>
                  </a:solidFill>
                  <a:latin typeface="Courier New"/>
                </a:rPr>
                <a:t>AssertionError: txn_id repeated: 300 rows, 1.5% &gt; 0.1%. Stopped.</a:t>
              </a:r>
            </a:p>
          </p:txBody>
        </p:sp>
      </p:grpSp>
      <p:grpSp>
        <p:nvGrpSpPr>
          <p:cNvPr id="11" name="says-1"/>
          <p:cNvGrpSpPr/>
          <p:nvPr/>
        </p:nvGrpSpPr>
        <p:grpSpPr>
          <a:xfrm>
            <a:off x="685800" y="4754880"/>
            <a:ext cx="3332378" cy="1353312"/>
            <a:chOff x="685800" y="4754880"/>
            <a:chExt cx="3332378" cy="1353312"/>
          </a:xfrm>
        </p:grpSpPr>
        <p:cxnSp>
          <p:nvCxnSpPr>
            <p:cNvPr id="12" name="Connector 11"/>
            <p:cNvCxnSpPr/>
            <p:nvPr/>
          </p:nvCxnSpPr>
          <p:spPr>
            <a:xfrm>
              <a:off x="685800" y="4754880"/>
              <a:ext cx="3332378" cy="0"/>
            </a:xfrm>
            <a:prstGeom prst="line">
              <a:avLst/>
            </a:prstGeom>
            <a:ln w="15875">
              <a:solidFill>
                <a:srgbClr val="1F2328"/>
              </a:solidFill>
            </a:ln>
          </p:spPr>
        </p:cxnSp>
        <p:sp>
          <p:nvSpPr>
            <p:cNvPr id="13" name="TextBox 12"/>
            <p:cNvSpPr txBox="1"/>
            <p:nvPr/>
          </p:nvSpPr>
          <p:spPr>
            <a:xfrm>
              <a:off x="685800"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 gate counts bad rows and compares their share with the limit.</a:t>
              </a:r>
            </a:p>
          </p:txBody>
        </p:sp>
      </p:grpSp>
      <p:grpSp>
        <p:nvGrpSpPr>
          <p:cNvPr id="15" name="says-2"/>
          <p:cNvGrpSpPr/>
          <p:nvPr/>
        </p:nvGrpSpPr>
        <p:grpSpPr>
          <a:xfrm>
            <a:off x="4429658" y="4754880"/>
            <a:ext cx="3332378" cy="1353312"/>
            <a:chOff x="4429658" y="4754880"/>
            <a:chExt cx="3332378" cy="1353312"/>
          </a:xfrm>
        </p:grpSpPr>
        <p:cxnSp>
          <p:nvCxnSpPr>
            <p:cNvPr id="16" name="Connector 15"/>
            <p:cNvCxnSpPr/>
            <p:nvPr/>
          </p:nvCxnSpPr>
          <p:spPr>
            <a:xfrm>
              <a:off x="4429658" y="4754880"/>
              <a:ext cx="3332378" cy="0"/>
            </a:xfrm>
            <a:prstGeom prst="line">
              <a:avLst/>
            </a:prstGeom>
            <a:ln w="15875">
              <a:solidFill>
                <a:srgbClr val="1F2328"/>
              </a:solidFill>
            </a:ln>
          </p:spPr>
        </p:cxnSp>
        <p:sp>
          <p:nvSpPr>
            <p:cNvPr id="17" name="TextBox 16"/>
            <p:cNvSpPr txBox="1"/>
            <p:nvPr/>
          </p:nvSpPr>
          <p:spPr>
            <a:xfrm>
              <a:off x="4429658"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Amounts at zero or below are 0.8 percent against a limit of 1. It passes.</a:t>
              </a:r>
            </a:p>
          </p:txBody>
        </p:sp>
      </p:grpSp>
      <p:grpSp>
        <p:nvGrpSpPr>
          <p:cNvPr id="19" name="says-3"/>
          <p:cNvGrpSpPr/>
          <p:nvPr/>
        </p:nvGrpSpPr>
        <p:grpSpPr>
          <a:xfrm>
            <a:off x="8173516" y="4754880"/>
            <a:ext cx="3332379" cy="1353312"/>
            <a:chOff x="8173516" y="4754880"/>
            <a:chExt cx="3332379" cy="1353312"/>
          </a:xfrm>
        </p:grpSpPr>
        <p:cxnSp>
          <p:nvCxnSpPr>
            <p:cNvPr id="20" name="Connector 19"/>
            <p:cNvCxnSpPr/>
            <p:nvPr/>
          </p:nvCxnSpPr>
          <p:spPr>
            <a:xfrm>
              <a:off x="8173516" y="4754880"/>
              <a:ext cx="3332379" cy="0"/>
            </a:xfrm>
            <a:prstGeom prst="line">
              <a:avLst/>
            </a:prstGeom>
            <a:ln w="15875">
              <a:solidFill>
                <a:srgbClr val="1F2328"/>
              </a:solidFill>
            </a:ln>
          </p:spPr>
        </p:cxnSp>
        <p:sp>
          <p:nvSpPr>
            <p:cNvPr id="21" name="TextBox 20"/>
            <p:cNvSpPr txBox="1"/>
            <p:nvPr/>
          </p:nvSpPr>
          <p:spPr>
            <a:xfrm>
              <a:off x="8173516"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Repeated ids are 1.5 percent against 0.1. The gate stops the load.</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checks in SQL on the customer table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16367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62456"/>
          </a:xfrm>
          <a:prstGeom prst="rect">
            <a:avLst/>
          </a:prstGeom>
          <a:noFill/>
        </p:spPr>
        <p:txBody>
          <a:bodyPr wrap="none" lIns="0" rIns="0" tIns="0" bIns="0">
            <a:spAutoFit/>
          </a:bodyPr>
          <a:lstStyle/>
          <a:p>
            <a:r>
              <a:rPr sz="1450" b="1" i="0">
                <a:solidFill>
                  <a:srgbClr val="1F2328"/>
                </a:solidFill>
                <a:latin typeface="Courier New"/>
              </a:rPr>
              <a:t>SELECT</a:t>
            </a:r>
            <a:r>
              <a:rPr sz="1450" b="0" i="0">
                <a:solidFill>
                  <a:srgbClr val="1F2328"/>
                </a:solidFill>
                <a:latin typeface="Courier New"/>
              </a:rPr>
              <a:t> </a:t>
            </a:r>
            <a:r>
              <a:rPr sz="1450" b="1" i="0">
                <a:solidFill>
                  <a:srgbClr val="1F2328"/>
                </a:solidFill>
                <a:latin typeface="Courier New"/>
              </a:rPr>
              <a:t>COUNT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ids_used_twice</a:t>
            </a:r>
            <a:r>
              <a:rPr sz="1450" b="0" i="0">
                <a:solidFill>
                  <a:srgbClr val="1F2328"/>
                </a:solidFill>
                <a:latin typeface="Courier New"/>
              </a:rPr>
              <a:t>,</a:t>
            </a:r>
            <a:r>
              <a:rPr sz="1450" b="0" i="0">
                <a:solidFill>
                  <a:srgbClr val="1F2328"/>
                </a:solidFill>
                <a:latin typeface="Courier New"/>
              </a:rPr>
              <a:t> </a:t>
            </a:r>
            <a:r>
              <a:rPr sz="1450" b="1" i="0">
                <a:solidFill>
                  <a:srgbClr val="1F2328"/>
                </a:solidFill>
                <a:latin typeface="Courier New"/>
              </a:rPr>
              <a:t>SUM</a:t>
            </a:r>
            <a:r>
              <a:rPr sz="1450" b="0" i="0">
                <a:solidFill>
                  <a:srgbClr val="1F2328"/>
                </a:solidFill>
                <a:latin typeface="Courier New"/>
              </a:rPr>
              <a:t>(</a:t>
            </a:r>
            <a:r>
              <a:rPr sz="1450" b="0" i="0">
                <a:solidFill>
                  <a:srgbClr val="1F2328"/>
                </a:solidFill>
                <a:latin typeface="Courier New"/>
              </a:rPr>
              <a:t>n</a:t>
            </a:r>
            <a:r>
              <a:rPr sz="1450" b="0" i="0">
                <a:solidFill>
                  <a:srgbClr val="1F2328"/>
                </a:solidFill>
                <a:latin typeface="Courier New"/>
              </a:rPr>
              <a:t>)</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rows_involved</a:t>
            </a:r>
          </a:p>
          <a:p>
            <a:r>
              <a:rPr sz="1450" b="1" i="0">
                <a:solidFill>
                  <a:srgbClr val="1F2328"/>
                </a:solidFill>
                <a:latin typeface="Courier New"/>
              </a:rPr>
              <a:t>FROM</a:t>
            </a:r>
            <a:r>
              <a:rPr sz="1450" b="0" i="0">
                <a:solidFill>
                  <a:srgbClr val="1F2328"/>
                </a:solidFill>
                <a:latin typeface="Courier New"/>
              </a:rPr>
              <a:t> </a:t>
            </a:r>
            <a:r>
              <a:rPr sz="1450" b="0" i="0">
                <a:solidFill>
                  <a:srgbClr val="1F2328"/>
                </a:solidFill>
                <a:latin typeface="Courier New"/>
              </a:rPr>
              <a:t>(</a:t>
            </a:r>
            <a:r>
              <a:rPr sz="1450" b="1" i="0">
                <a:solidFill>
                  <a:srgbClr val="1F2328"/>
                </a:solidFill>
                <a:latin typeface="Courier New"/>
              </a:rPr>
              <a:t>SELECT</a:t>
            </a:r>
            <a:r>
              <a:rPr sz="1450" b="0" i="0">
                <a:solidFill>
                  <a:srgbClr val="1F2328"/>
                </a:solidFill>
                <a:latin typeface="Courier New"/>
              </a:rPr>
              <a:t> </a:t>
            </a:r>
            <a:r>
              <a:rPr sz="1450" b="0" i="0">
                <a:solidFill>
                  <a:srgbClr val="1F2328"/>
                </a:solidFill>
                <a:latin typeface="Courier New"/>
              </a:rPr>
              <a:t>national_id</a:t>
            </a:r>
            <a:r>
              <a:rPr sz="1450" b="0" i="0">
                <a:solidFill>
                  <a:srgbClr val="1F2328"/>
                </a:solidFill>
                <a:latin typeface="Courier New"/>
              </a:rPr>
              <a:t>,</a:t>
            </a:r>
            <a:r>
              <a:rPr sz="1450" b="0" i="0">
                <a:solidFill>
                  <a:srgbClr val="1F2328"/>
                </a:solidFill>
                <a:latin typeface="Courier New"/>
              </a:rPr>
              <a:t> </a:t>
            </a:r>
            <a:r>
              <a:rPr sz="1450" b="1" i="0">
                <a:solidFill>
                  <a:srgbClr val="1F2328"/>
                </a:solidFill>
                <a:latin typeface="Courier New"/>
              </a:rPr>
              <a:t>COUNT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n</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FROM</a:t>
            </a:r>
            <a:r>
              <a:rPr sz="1450" b="0" i="0">
                <a:solidFill>
                  <a:srgbClr val="1F2328"/>
                </a:solidFill>
                <a:latin typeface="Courier New"/>
              </a:rPr>
              <a:t> </a:t>
            </a:r>
            <a:r>
              <a:rPr sz="1450" b="0" i="0">
                <a:solidFill>
                  <a:srgbClr val="1F2328"/>
                </a:solidFill>
                <a:latin typeface="Courier New"/>
              </a:rPr>
              <a:t>customers</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WHERE</a:t>
            </a:r>
            <a:r>
              <a:rPr sz="1450" b="0" i="0">
                <a:solidFill>
                  <a:srgbClr val="1F2328"/>
                </a:solidFill>
                <a:latin typeface="Courier New"/>
              </a:rPr>
              <a:t> </a:t>
            </a:r>
            <a:r>
              <a:rPr sz="1450" b="0" i="0">
                <a:solidFill>
                  <a:srgbClr val="1F2328"/>
                </a:solidFill>
                <a:latin typeface="Courier New"/>
              </a:rPr>
              <a:t>national_id</a:t>
            </a:r>
            <a:r>
              <a:rPr sz="1450" b="0" i="0">
                <a:solidFill>
                  <a:srgbClr val="1F2328"/>
                </a:solidFill>
                <a:latin typeface="Courier New"/>
              </a:rPr>
              <a:t> </a:t>
            </a:r>
            <a:r>
              <a:rPr sz="1450" b="1" i="0">
                <a:solidFill>
                  <a:srgbClr val="1F2328"/>
                </a:solidFill>
                <a:latin typeface="Courier New"/>
              </a:rPr>
              <a:t>IS</a:t>
            </a:r>
            <a:r>
              <a:rPr sz="1450" b="0" i="0">
                <a:solidFill>
                  <a:srgbClr val="1F2328"/>
                </a:solidFill>
                <a:latin typeface="Courier New"/>
              </a:rPr>
              <a:t> </a:t>
            </a:r>
            <a:r>
              <a:rPr sz="1450" b="1" i="0">
                <a:solidFill>
                  <a:srgbClr val="1F2328"/>
                </a:solidFill>
                <a:latin typeface="Courier New"/>
              </a:rPr>
              <a:t>NOT</a:t>
            </a:r>
            <a:r>
              <a:rPr sz="1450" b="0" i="0">
                <a:solidFill>
                  <a:srgbClr val="1F2328"/>
                </a:solidFill>
                <a:latin typeface="Courier New"/>
              </a:rPr>
              <a:t> </a:t>
            </a:r>
            <a:r>
              <a:rPr sz="1450" b="1" i="0">
                <a:solidFill>
                  <a:srgbClr val="1F2328"/>
                </a:solidFill>
                <a:latin typeface="Courier New"/>
              </a:rPr>
              <a:t>NULL</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GROUP</a:t>
            </a:r>
            <a:r>
              <a:rPr sz="1450" b="0" i="0">
                <a:solidFill>
                  <a:srgbClr val="1F2328"/>
                </a:solidFill>
                <a:latin typeface="Courier New"/>
              </a:rPr>
              <a:t> </a:t>
            </a:r>
            <a:r>
              <a:rPr sz="1450" b="1" i="0">
                <a:solidFill>
                  <a:srgbClr val="1F2328"/>
                </a:solidFill>
                <a:latin typeface="Courier New"/>
              </a:rPr>
              <a:t>BY</a:t>
            </a:r>
            <a:r>
              <a:rPr sz="1450" b="0" i="0">
                <a:solidFill>
                  <a:srgbClr val="1F2328"/>
                </a:solidFill>
                <a:latin typeface="Courier New"/>
              </a:rPr>
              <a:t> </a:t>
            </a:r>
            <a:r>
              <a:rPr sz="1450" b="0" i="0">
                <a:solidFill>
                  <a:srgbClr val="1F2328"/>
                </a:solidFill>
                <a:latin typeface="Courier New"/>
              </a:rPr>
              <a:t>national_id</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HAVING</a:t>
            </a:r>
            <a:r>
              <a:rPr sz="1450" b="0" i="0">
                <a:solidFill>
                  <a:srgbClr val="1F2328"/>
                </a:solidFill>
                <a:latin typeface="Courier New"/>
              </a:rPr>
              <a:t> </a:t>
            </a:r>
            <a:r>
              <a:rPr sz="1450" b="1" i="0">
                <a:solidFill>
                  <a:srgbClr val="1F2328"/>
                </a:solidFill>
                <a:latin typeface="Courier New"/>
              </a:rPr>
              <a:t>COUNT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&gt;</a:t>
            </a:r>
            <a:r>
              <a:rPr sz="1450" b="0" i="0">
                <a:solidFill>
                  <a:srgbClr val="1F2328"/>
                </a:solidFill>
                <a:latin typeface="Courier New"/>
              </a:rPr>
              <a:t> </a:t>
            </a:r>
            <a:r>
              <a:rPr sz="1450" b="0" i="0">
                <a:solidFill>
                  <a:srgbClr val="3B4046"/>
                </a:solidFill>
                <a:latin typeface="Courier New"/>
              </a:rPr>
              <a:t>1</a:t>
            </a:r>
            <a:r>
              <a:rPr sz="1450" b="0" i="0">
                <a:solidFill>
                  <a:srgbClr val="1F2328"/>
                </a:solidFill>
                <a:latin typeface="Courier New"/>
              </a:rPr>
              <a:t>)</a:t>
            </a:r>
          </a:p>
        </p:txBody>
      </p:sp>
      <p:grpSp>
        <p:nvGrpSpPr>
          <p:cNvPr id="7" name="output"/>
          <p:cNvGrpSpPr/>
          <p:nvPr/>
        </p:nvGrpSpPr>
        <p:grpSpPr>
          <a:xfrm>
            <a:off x="685800" y="3346704"/>
            <a:ext cx="6949440" cy="737615"/>
            <a:chOff x="685800" y="3346704"/>
            <a:chExt cx="6949440" cy="737615"/>
          </a:xfrm>
        </p:grpSpPr>
        <p:sp>
          <p:nvSpPr>
            <p:cNvPr id="8" name="TextBox 7"/>
            <p:cNvSpPr txBox="1"/>
            <p:nvPr/>
          </p:nvSpPr>
          <p:spPr>
            <a:xfrm>
              <a:off x="685800" y="33467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60273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694176"/>
              <a:ext cx="6675120" cy="371855"/>
            </a:xfrm>
            <a:prstGeom prst="rect">
              <a:avLst/>
            </a:prstGeom>
            <a:noFill/>
          </p:spPr>
          <p:txBody>
            <a:bodyPr wrap="none" lIns="0" rIns="0" tIns="0" bIns="0">
              <a:spAutoFit/>
            </a:bodyPr>
            <a:lstStyle/>
            <a:p>
              <a:r>
                <a:rPr sz="1400" b="0" i="0">
                  <a:solidFill>
                    <a:srgbClr val="1F2328"/>
                  </a:solidFill>
                  <a:latin typeface="Courier New"/>
                </a:rPr>
                <a:t>ids_used_twice rows_involved</a:t>
              </a:r>
            </a:p>
            <a:p>
              <a:r>
                <a:rPr sz="1400" b="0" i="0">
                  <a:solidFill>
                    <a:srgbClr val="1F2328"/>
                  </a:solidFill>
                  <a:latin typeface="Courier New"/>
                </a:rPr>
                <a:t>150 300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Group the customers by national ID and count the rows in each group.</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Keep the groups with more than one row, then count the groups and the rows.</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Pandera: the rules written as a schema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10820095" cy="24368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162556"/>
          </a:xfrm>
          <a:prstGeom prst="rect">
            <a:avLst/>
          </a:prstGeom>
          <a:noFill/>
        </p:spPr>
        <p:txBody>
          <a:bodyPr wrap="none" lIns="0" rIns="0" tIns="0" bIns="0">
            <a:spAutoFit/>
          </a:bodyPr>
          <a:lstStyle/>
          <a:p>
            <a:r>
              <a:rPr sz="1550" b="1" i="0">
                <a:solidFill>
                  <a:srgbClr val="1F2328"/>
                </a:solidFill>
                <a:latin typeface="Courier New"/>
              </a:rPr>
              <a:t>import</a:t>
            </a:r>
            <a:r>
              <a:rPr sz="1550" b="0" i="0">
                <a:solidFill>
                  <a:srgbClr val="1F2328"/>
                </a:solidFill>
                <a:latin typeface="Courier New"/>
              </a:rPr>
              <a:t> </a:t>
            </a:r>
            <a:r>
              <a:rPr sz="1550" b="0" i="0">
                <a:solidFill>
                  <a:srgbClr val="1F2328"/>
                </a:solidFill>
                <a:latin typeface="Courier New"/>
              </a:rPr>
              <a:t>pandera</a:t>
            </a:r>
            <a:r>
              <a:rPr sz="1550" b="0" i="0">
                <a:solidFill>
                  <a:srgbClr val="1F2328"/>
                </a:solidFill>
                <a:latin typeface="Courier New"/>
              </a:rPr>
              <a:t>.</a:t>
            </a:r>
            <a:r>
              <a:rPr sz="1550" b="0" i="0">
                <a:solidFill>
                  <a:srgbClr val="1F2328"/>
                </a:solidFill>
                <a:latin typeface="Courier New"/>
              </a:rPr>
              <a:t>pandas</a:t>
            </a:r>
            <a:r>
              <a:rPr sz="1550" b="0" i="0">
                <a:solidFill>
                  <a:srgbClr val="1F2328"/>
                </a:solidFill>
                <a:latin typeface="Courier New"/>
              </a:rPr>
              <a:t> </a:t>
            </a:r>
            <a:r>
              <a:rPr sz="1550" b="1" i="0">
                <a:solidFill>
                  <a:srgbClr val="1F2328"/>
                </a:solidFill>
                <a:latin typeface="Courier New"/>
              </a:rPr>
              <a:t>as</a:t>
            </a:r>
            <a:r>
              <a:rPr sz="1550" b="0" i="0">
                <a:solidFill>
                  <a:srgbClr val="1F2328"/>
                </a:solidFill>
                <a:latin typeface="Courier New"/>
              </a:rPr>
              <a:t> </a:t>
            </a:r>
            <a:r>
              <a:rPr sz="1550" b="0" i="0">
                <a:solidFill>
                  <a:srgbClr val="1F2328"/>
                </a:solidFill>
                <a:latin typeface="Courier New"/>
              </a:rPr>
              <a:t>pa</a:t>
            </a:r>
          </a:p>
          <a:p>
            <a:r>
              <a:rPr sz="1550" b="0" i="0">
                <a:solidFill>
                  <a:srgbClr val="1F2328"/>
                </a:solidFill>
                <a:latin typeface="Courier New"/>
              </a:rPr>
              <a:t> </a:t>
            </a:r>
          </a:p>
          <a:p>
            <a:r>
              <a:rPr sz="1550" b="0" i="0">
                <a:solidFill>
                  <a:srgbClr val="1F2328"/>
                </a:solidFill>
                <a:latin typeface="Courier New"/>
              </a:rPr>
              <a:t>schema</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a:t>
            </a:r>
            <a:r>
              <a:rPr sz="1550" b="0" i="0">
                <a:solidFill>
                  <a:srgbClr val="1F2328"/>
                </a:solidFill>
                <a:latin typeface="Courier New"/>
              </a:rPr>
              <a:t>.</a:t>
            </a:r>
            <a:r>
              <a:rPr sz="1550" b="0" i="0">
                <a:solidFill>
                  <a:srgbClr val="1F2328"/>
                </a:solidFill>
                <a:latin typeface="Courier New"/>
              </a:rPr>
              <a:t>DataFrameSchema</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B04A2B"/>
                </a:solidFill>
                <a:latin typeface="Courier New"/>
              </a:rPr>
              <a:t>'customer_id'</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a:t>
            </a:r>
            <a:r>
              <a:rPr sz="1550" b="0" i="0">
                <a:solidFill>
                  <a:srgbClr val="1F2328"/>
                </a:solidFill>
                <a:latin typeface="Courier New"/>
              </a:rPr>
              <a:t>.</a:t>
            </a:r>
            <a:r>
              <a:rPr sz="1550" b="0" i="0">
                <a:solidFill>
                  <a:srgbClr val="1F2328"/>
                </a:solidFill>
                <a:latin typeface="Courier New"/>
              </a:rPr>
              <a:t>Column</a:t>
            </a:r>
            <a:r>
              <a:rPr sz="1550" b="0" i="0">
                <a:solidFill>
                  <a:srgbClr val="1F2328"/>
                </a:solidFill>
                <a:latin typeface="Courier New"/>
              </a:rPr>
              <a:t>(</a:t>
            </a:r>
            <a:r>
              <a:rPr sz="1550" b="0" i="0">
                <a:solidFill>
                  <a:srgbClr val="1F2328"/>
                </a:solidFill>
                <a:latin typeface="Courier New"/>
              </a:rPr>
              <a:t>str</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a:t>
            </a:r>
            <a:r>
              <a:rPr sz="1550" b="0" i="0">
                <a:solidFill>
                  <a:srgbClr val="1F2328"/>
                </a:solidFill>
                <a:latin typeface="Courier New"/>
              </a:rPr>
              <a:t>.</a:t>
            </a:r>
            <a:r>
              <a:rPr sz="1550" b="0" i="0">
                <a:solidFill>
                  <a:srgbClr val="1F2328"/>
                </a:solidFill>
                <a:latin typeface="Courier New"/>
              </a:rPr>
              <a:t>Check</a:t>
            </a:r>
            <a:r>
              <a:rPr sz="1550" b="0" i="0">
                <a:solidFill>
                  <a:srgbClr val="1F2328"/>
                </a:solidFill>
                <a:latin typeface="Courier New"/>
              </a:rPr>
              <a:t>.</a:t>
            </a:r>
            <a:r>
              <a:rPr sz="1550" b="0" i="0">
                <a:solidFill>
                  <a:srgbClr val="1F2328"/>
                </a:solidFill>
                <a:latin typeface="Courier New"/>
              </a:rPr>
              <a:t>str_matches</a:t>
            </a:r>
            <a:r>
              <a:rPr sz="1550" b="0" i="0">
                <a:solidFill>
                  <a:srgbClr val="1F2328"/>
                </a:solidFill>
                <a:latin typeface="Courier New"/>
              </a:rPr>
              <a:t>(</a:t>
            </a:r>
            <a:r>
              <a:rPr sz="1550" b="0" i="0">
                <a:solidFill>
                  <a:srgbClr val="1F2328"/>
                </a:solidFill>
                <a:latin typeface="Courier New"/>
              </a:rPr>
              <a:t>r</a:t>
            </a:r>
            <a:r>
              <a:rPr sz="1550" b="0" i="0">
                <a:solidFill>
                  <a:srgbClr val="B04A2B"/>
                </a:solidFill>
                <a:latin typeface="Courier New"/>
              </a:rPr>
              <a:t>'^KT-\d{7}$'</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unique</a:t>
            </a:r>
            <a:r>
              <a:rPr sz="1550" b="0" i="0">
                <a:solidFill>
                  <a:srgbClr val="1F2328"/>
                </a:solidFill>
                <a:latin typeface="Courier New"/>
              </a:rPr>
              <a:t>=</a:t>
            </a:r>
            <a:r>
              <a:rPr sz="1550" b="1" i="0">
                <a:solidFill>
                  <a:srgbClr val="1F2328"/>
                </a:solidFill>
                <a:latin typeface="Courier New"/>
              </a:rPr>
              <a:t>True</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B04A2B"/>
                </a:solidFill>
                <a:latin typeface="Courier New"/>
              </a:rPr>
              <a:t>'national_id'</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a:t>
            </a:r>
            <a:r>
              <a:rPr sz="1550" b="0" i="0">
                <a:solidFill>
                  <a:srgbClr val="1F2328"/>
                </a:solidFill>
                <a:latin typeface="Courier New"/>
              </a:rPr>
              <a:t>.</a:t>
            </a:r>
            <a:r>
              <a:rPr sz="1550" b="0" i="0">
                <a:solidFill>
                  <a:srgbClr val="1F2328"/>
                </a:solidFill>
                <a:latin typeface="Courier New"/>
              </a:rPr>
              <a:t>Column</a:t>
            </a:r>
            <a:r>
              <a:rPr sz="1550" b="0" i="0">
                <a:solidFill>
                  <a:srgbClr val="1F2328"/>
                </a:solidFill>
                <a:latin typeface="Courier New"/>
              </a:rPr>
              <a:t>(</a:t>
            </a:r>
            <a:r>
              <a:rPr sz="1550" b="0" i="0">
                <a:solidFill>
                  <a:srgbClr val="1F2328"/>
                </a:solidFill>
                <a:latin typeface="Courier New"/>
              </a:rPr>
              <a:t>str</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a:t>
            </a:r>
            <a:r>
              <a:rPr sz="1550" b="0" i="0">
                <a:solidFill>
                  <a:srgbClr val="1F2328"/>
                </a:solidFill>
                <a:latin typeface="Courier New"/>
              </a:rPr>
              <a:t>.</a:t>
            </a:r>
            <a:r>
              <a:rPr sz="1550" b="0" i="0">
                <a:solidFill>
                  <a:srgbClr val="1F2328"/>
                </a:solidFill>
                <a:latin typeface="Courier New"/>
              </a:rPr>
              <a:t>Check</a:t>
            </a:r>
            <a:r>
              <a:rPr sz="1550" b="0" i="0">
                <a:solidFill>
                  <a:srgbClr val="1F2328"/>
                </a:solidFill>
                <a:latin typeface="Courier New"/>
              </a:rPr>
              <a:t>.</a:t>
            </a:r>
            <a:r>
              <a:rPr sz="1550" b="0" i="0">
                <a:solidFill>
                  <a:srgbClr val="1F2328"/>
                </a:solidFill>
                <a:latin typeface="Courier New"/>
              </a:rPr>
              <a:t>str_matches</a:t>
            </a:r>
            <a:r>
              <a:rPr sz="1550" b="0" i="0">
                <a:solidFill>
                  <a:srgbClr val="1F2328"/>
                </a:solidFill>
                <a:latin typeface="Courier New"/>
              </a:rPr>
              <a:t>(</a:t>
            </a:r>
            <a:r>
              <a:rPr sz="1550" b="0" i="0">
                <a:solidFill>
                  <a:srgbClr val="1F2328"/>
                </a:solidFill>
                <a:latin typeface="Courier New"/>
              </a:rPr>
              <a:t>r</a:t>
            </a:r>
            <a:r>
              <a:rPr sz="1550" b="0" i="0">
                <a:solidFill>
                  <a:srgbClr val="B04A2B"/>
                </a:solidFill>
                <a:latin typeface="Courier New"/>
              </a:rPr>
              <a:t>'^KX\d{12}$'</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nullable</a:t>
            </a:r>
            <a:r>
              <a:rPr sz="1550" b="0" i="0">
                <a:solidFill>
                  <a:srgbClr val="1F2328"/>
                </a:solidFill>
                <a:latin typeface="Courier New"/>
              </a:rPr>
              <a:t>=</a:t>
            </a:r>
            <a:r>
              <a:rPr sz="1550" b="1" i="0">
                <a:solidFill>
                  <a:srgbClr val="1F2328"/>
                </a:solidFill>
                <a:latin typeface="Courier New"/>
              </a:rPr>
              <a:t>True</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B04A2B"/>
                </a:solidFill>
                <a:latin typeface="Courier New"/>
              </a:rPr>
              <a:t>'gender'</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a:t>
            </a:r>
            <a:r>
              <a:rPr sz="1550" b="0" i="0">
                <a:solidFill>
                  <a:srgbClr val="1F2328"/>
                </a:solidFill>
                <a:latin typeface="Courier New"/>
              </a:rPr>
              <a:t>.</a:t>
            </a:r>
            <a:r>
              <a:rPr sz="1550" b="0" i="0">
                <a:solidFill>
                  <a:srgbClr val="1F2328"/>
                </a:solidFill>
                <a:latin typeface="Courier New"/>
              </a:rPr>
              <a:t>Column</a:t>
            </a:r>
            <a:r>
              <a:rPr sz="1550" b="0" i="0">
                <a:solidFill>
                  <a:srgbClr val="1F2328"/>
                </a:solidFill>
                <a:latin typeface="Courier New"/>
              </a:rPr>
              <a:t>(</a:t>
            </a:r>
            <a:r>
              <a:rPr sz="1550" b="0" i="0">
                <a:solidFill>
                  <a:srgbClr val="1F2328"/>
                </a:solidFill>
                <a:latin typeface="Courier New"/>
              </a:rPr>
              <a:t>str</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a:t>
            </a:r>
            <a:r>
              <a:rPr sz="1550" b="0" i="0">
                <a:solidFill>
                  <a:srgbClr val="1F2328"/>
                </a:solidFill>
                <a:latin typeface="Courier New"/>
              </a:rPr>
              <a:t>.</a:t>
            </a:r>
            <a:r>
              <a:rPr sz="1550" b="0" i="0">
                <a:solidFill>
                  <a:srgbClr val="1F2328"/>
                </a:solidFill>
                <a:latin typeface="Courier New"/>
              </a:rPr>
              <a:t>Check</a:t>
            </a:r>
            <a:r>
              <a:rPr sz="1550" b="0" i="0">
                <a:solidFill>
                  <a:srgbClr val="1F2328"/>
                </a:solidFill>
                <a:latin typeface="Courier New"/>
              </a:rPr>
              <a:t>.</a:t>
            </a:r>
            <a:r>
              <a:rPr sz="1550" b="0" i="0">
                <a:solidFill>
                  <a:srgbClr val="1F2328"/>
                </a:solidFill>
                <a:latin typeface="Courier New"/>
              </a:rPr>
              <a:t>isin</a:t>
            </a:r>
            <a:r>
              <a:rPr sz="1550" b="0" i="0">
                <a:solidFill>
                  <a:srgbClr val="1F2328"/>
                </a:solidFill>
                <a:latin typeface="Courier New"/>
              </a:rPr>
              <a:t>(</a:t>
            </a:r>
            <a:r>
              <a:rPr sz="1550" b="0" i="0">
                <a:solidFill>
                  <a:srgbClr val="1F2328"/>
                </a:solidFill>
                <a:latin typeface="Courier New"/>
              </a:rPr>
              <a:t>[</a:t>
            </a:r>
            <a:r>
              <a:rPr sz="1550" b="0" i="0">
                <a:solidFill>
                  <a:srgbClr val="B04A2B"/>
                </a:solidFill>
                <a:latin typeface="Courier New"/>
              </a:rPr>
              <a:t>'M'</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'F'</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B04A2B"/>
                </a:solidFill>
                <a:latin typeface="Courier New"/>
              </a:rPr>
              <a:t>'phone'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a:t>
            </a:r>
            <a:r>
              <a:rPr sz="1550" b="0" i="0">
                <a:solidFill>
                  <a:srgbClr val="1F2328"/>
                </a:solidFill>
                <a:latin typeface="Courier New"/>
              </a:rPr>
              <a:t>.</a:t>
            </a:r>
            <a:r>
              <a:rPr sz="1550" b="0" i="0">
                <a:solidFill>
                  <a:srgbClr val="1F2328"/>
                </a:solidFill>
                <a:latin typeface="Courier New"/>
              </a:rPr>
              <a:t>Column</a:t>
            </a:r>
            <a:r>
              <a:rPr sz="1550" b="0" i="0">
                <a:solidFill>
                  <a:srgbClr val="1F2328"/>
                </a:solidFill>
                <a:latin typeface="Courier New"/>
              </a:rPr>
              <a:t>(</a:t>
            </a:r>
            <a:r>
              <a:rPr sz="1550" b="0" i="0">
                <a:solidFill>
                  <a:srgbClr val="1F2328"/>
                </a:solidFill>
                <a:latin typeface="Courier New"/>
              </a:rPr>
              <a:t>str</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a:t>
            </a:r>
            <a:r>
              <a:rPr sz="1550" b="0" i="0">
                <a:solidFill>
                  <a:srgbClr val="1F2328"/>
                </a:solidFill>
                <a:latin typeface="Courier New"/>
              </a:rPr>
              <a:t>.</a:t>
            </a:r>
            <a:r>
              <a:rPr sz="1550" b="0" i="0">
                <a:solidFill>
                  <a:srgbClr val="1F2328"/>
                </a:solidFill>
                <a:latin typeface="Courier New"/>
              </a:rPr>
              <a:t>Check</a:t>
            </a:r>
            <a:r>
              <a:rPr sz="1550" b="0" i="0">
                <a:solidFill>
                  <a:srgbClr val="1F2328"/>
                </a:solidFill>
                <a:latin typeface="Courier New"/>
              </a:rPr>
              <a:t>.</a:t>
            </a:r>
            <a:r>
              <a:rPr sz="1550" b="0" i="0">
                <a:solidFill>
                  <a:srgbClr val="1F2328"/>
                </a:solidFill>
                <a:latin typeface="Courier New"/>
              </a:rPr>
              <a:t>str_matches</a:t>
            </a:r>
            <a:r>
              <a:rPr sz="1550" b="0" i="0">
                <a:solidFill>
                  <a:srgbClr val="1F2328"/>
                </a:solidFill>
                <a:latin typeface="Courier New"/>
              </a:rPr>
              <a:t>(</a:t>
            </a:r>
            <a:r>
              <a:rPr sz="1550" b="0" i="0">
                <a:solidFill>
                  <a:srgbClr val="1F2328"/>
                </a:solidFill>
                <a:latin typeface="Courier New"/>
              </a:rPr>
              <a:t>r</a:t>
            </a:r>
            <a:r>
              <a:rPr sz="1550" b="0" i="0">
                <a:solidFill>
                  <a:srgbClr val="B04A2B"/>
                </a:solidFill>
                <a:latin typeface="Courier New"/>
              </a:rPr>
              <a:t>'^\+2567\d{8}$'</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schema</a:t>
            </a:r>
            <a:r>
              <a:rPr sz="1550" b="0" i="0">
                <a:solidFill>
                  <a:srgbClr val="1F2328"/>
                </a:solidFill>
                <a:latin typeface="Courier New"/>
              </a:rPr>
              <a:t>.</a:t>
            </a:r>
            <a:r>
              <a:rPr sz="1550" b="0" i="0">
                <a:solidFill>
                  <a:srgbClr val="1F2328"/>
                </a:solidFill>
                <a:latin typeface="Courier New"/>
              </a:rPr>
              <a:t>validate</a:t>
            </a:r>
            <a:r>
              <a:rPr sz="1550" b="0" i="0">
                <a:solidFill>
                  <a:srgbClr val="1F2328"/>
                </a:solidFill>
                <a:latin typeface="Courier New"/>
              </a:rPr>
              <a:t>(</a:t>
            </a:r>
            <a:r>
              <a:rPr sz="1550" b="0" i="0">
                <a:solidFill>
                  <a:srgbClr val="1F2328"/>
                </a:solidFill>
                <a:latin typeface="Courier New"/>
              </a:rPr>
              <a:t>cust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lazy</a:t>
            </a:r>
            <a:r>
              <a:rPr sz="1550" b="0" i="0">
                <a:solidFill>
                  <a:srgbClr val="1F2328"/>
                </a:solidFill>
                <a:latin typeface="Courier New"/>
              </a:rPr>
              <a:t>=</a:t>
            </a:r>
            <a:r>
              <a:rPr sz="1550" b="1" i="0">
                <a:solidFill>
                  <a:srgbClr val="1F2328"/>
                </a:solidFill>
                <a:latin typeface="Courier New"/>
              </a:rPr>
              <a:t>True</a:t>
            </a:r>
            <a:r>
              <a:rPr sz="1550" b="0" i="0">
                <a:solidFill>
                  <a:srgbClr val="1F2328"/>
                </a:solidFill>
                <a:latin typeface="Courier New"/>
              </a:rPr>
              <a:t>)</a:t>
            </a:r>
          </a:p>
        </p:txBody>
      </p:sp>
      <p:grpSp>
        <p:nvGrpSpPr>
          <p:cNvPr id="7" name="says-1"/>
          <p:cNvGrpSpPr/>
          <p:nvPr/>
        </p:nvGrpSpPr>
        <p:grpSpPr>
          <a:xfrm>
            <a:off x="685800" y="4146804"/>
            <a:ext cx="5204307" cy="1353312"/>
            <a:chOff x="685800" y="4146804"/>
            <a:chExt cx="5204307" cy="1353312"/>
          </a:xfrm>
        </p:grpSpPr>
        <p:cxnSp>
          <p:nvCxnSpPr>
            <p:cNvPr id="8" name="Connector 7"/>
            <p:cNvCxnSpPr/>
            <p:nvPr/>
          </p:nvCxnSpPr>
          <p:spPr>
            <a:xfrm>
              <a:off x="685800" y="4146804"/>
              <a:ext cx="5204307" cy="0"/>
            </a:xfrm>
            <a:prstGeom prst="line">
              <a:avLst/>
            </a:prstGeom>
            <a:ln w="15875">
              <a:solidFill>
                <a:srgbClr val="1F2328"/>
              </a:solidFill>
            </a:ln>
          </p:spPr>
        </p:cxnSp>
        <p:sp>
          <p:nvSpPr>
            <p:cNvPr id="9" name="TextBox 8"/>
            <p:cNvSpPr txBox="1"/>
            <p:nvPr/>
          </p:nvSpPr>
          <p:spPr>
            <a:xfrm>
              <a:off x="685800" y="421995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4219956"/>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A schema lists each column, its type and the checks it must pass.</a:t>
              </a:r>
            </a:p>
          </p:txBody>
        </p:sp>
      </p:grpSp>
      <p:grpSp>
        <p:nvGrpSpPr>
          <p:cNvPr id="11" name="says-2"/>
          <p:cNvGrpSpPr/>
          <p:nvPr/>
        </p:nvGrpSpPr>
        <p:grpSpPr>
          <a:xfrm>
            <a:off x="6301587" y="4146804"/>
            <a:ext cx="5204308" cy="1353312"/>
            <a:chOff x="6301587" y="4146804"/>
            <a:chExt cx="5204308" cy="1353312"/>
          </a:xfrm>
        </p:grpSpPr>
        <p:cxnSp>
          <p:nvCxnSpPr>
            <p:cNvPr id="12" name="Connector 11"/>
            <p:cNvCxnSpPr/>
            <p:nvPr/>
          </p:nvCxnSpPr>
          <p:spPr>
            <a:xfrm>
              <a:off x="6301587" y="4146804"/>
              <a:ext cx="5204308" cy="0"/>
            </a:xfrm>
            <a:prstGeom prst="line">
              <a:avLst/>
            </a:prstGeom>
            <a:ln w="15875">
              <a:solidFill>
                <a:srgbClr val="1F2328"/>
              </a:solidFill>
            </a:ln>
          </p:spPr>
        </p:cxnSp>
        <p:sp>
          <p:nvSpPr>
            <p:cNvPr id="13" name="TextBox 12"/>
            <p:cNvSpPr txBox="1"/>
            <p:nvPr/>
          </p:nvSpPr>
          <p:spPr>
            <a:xfrm>
              <a:off x="6301587" y="421995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6649059" y="4219956"/>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lazy=True collects every failure into one report instead of stopping at the first.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Great Expectations Core: one expectation on a batch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10820095" cy="2673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398776"/>
          </a:xfrm>
          <a:prstGeom prst="rect">
            <a:avLst/>
          </a:prstGeom>
          <a:noFill/>
        </p:spPr>
        <p:txBody>
          <a:bodyPr wrap="none" lIns="0" rIns="0" tIns="0" bIns="0">
            <a:spAutoFit/>
          </a:bodyPr>
          <a:lstStyle/>
          <a:p>
            <a:r>
              <a:rPr sz="1550" b="1" i="0">
                <a:solidFill>
                  <a:srgbClr val="1F2328"/>
                </a:solidFill>
                <a:latin typeface="Courier New"/>
              </a:rPr>
              <a:t>import</a:t>
            </a:r>
            <a:r>
              <a:rPr sz="1550" b="0" i="0">
                <a:solidFill>
                  <a:srgbClr val="1F2328"/>
                </a:solidFill>
                <a:latin typeface="Courier New"/>
              </a:rPr>
              <a:t> </a:t>
            </a:r>
            <a:r>
              <a:rPr sz="1550" b="0" i="0">
                <a:solidFill>
                  <a:srgbClr val="1F2328"/>
                </a:solidFill>
                <a:latin typeface="Courier New"/>
              </a:rPr>
              <a:t>great_expectations</a:t>
            </a:r>
            <a:r>
              <a:rPr sz="1550" b="0" i="0">
                <a:solidFill>
                  <a:srgbClr val="1F2328"/>
                </a:solidFill>
                <a:latin typeface="Courier New"/>
              </a:rPr>
              <a:t> </a:t>
            </a:r>
            <a:r>
              <a:rPr sz="1550" b="1" i="0">
                <a:solidFill>
                  <a:srgbClr val="1F2328"/>
                </a:solidFill>
                <a:latin typeface="Courier New"/>
              </a:rPr>
              <a:t>as</a:t>
            </a:r>
            <a:r>
              <a:rPr sz="1550" b="0" i="0">
                <a:solidFill>
                  <a:srgbClr val="1F2328"/>
                </a:solidFill>
                <a:latin typeface="Courier New"/>
              </a:rPr>
              <a:t> </a:t>
            </a:r>
            <a:r>
              <a:rPr sz="1550" b="0" i="0">
                <a:solidFill>
                  <a:srgbClr val="1F2328"/>
                </a:solidFill>
                <a:latin typeface="Courier New"/>
              </a:rPr>
              <a:t>gx</a:t>
            </a:r>
          </a:p>
          <a:p>
            <a:r>
              <a:rPr sz="1550" b="0" i="0">
                <a:solidFill>
                  <a:srgbClr val="1F2328"/>
                </a:solidFill>
                <a:latin typeface="Courier New"/>
              </a:rPr>
              <a:t> </a:t>
            </a:r>
          </a:p>
          <a:p>
            <a:r>
              <a:rPr sz="1550" b="0" i="0">
                <a:solidFill>
                  <a:srgbClr val="1F2328"/>
                </a:solidFill>
                <a:latin typeface="Courier New"/>
              </a:rPr>
              <a:t>context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gx</a:t>
            </a:r>
            <a:r>
              <a:rPr sz="1550" b="0" i="0">
                <a:solidFill>
                  <a:srgbClr val="1F2328"/>
                </a:solidFill>
                <a:latin typeface="Courier New"/>
              </a:rPr>
              <a:t>.</a:t>
            </a:r>
            <a:r>
              <a:rPr sz="1550" b="0" i="0">
                <a:solidFill>
                  <a:srgbClr val="1F2328"/>
                </a:solidFill>
                <a:latin typeface="Courier New"/>
              </a:rPr>
              <a:t>get_context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source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context</a:t>
            </a:r>
            <a:r>
              <a:rPr sz="1550" b="0" i="0">
                <a:solidFill>
                  <a:srgbClr val="1F2328"/>
                </a:solidFill>
                <a:latin typeface="Courier New"/>
              </a:rPr>
              <a:t>.</a:t>
            </a:r>
            <a:r>
              <a:rPr sz="1550" b="0" i="0">
                <a:solidFill>
                  <a:srgbClr val="1F2328"/>
                </a:solidFill>
                <a:latin typeface="Courier New"/>
              </a:rPr>
              <a:t>data_sources</a:t>
            </a:r>
            <a:r>
              <a:rPr sz="1550" b="0" i="0">
                <a:solidFill>
                  <a:srgbClr val="1F2328"/>
                </a:solidFill>
                <a:latin typeface="Courier New"/>
              </a:rPr>
              <a:t>.</a:t>
            </a:r>
            <a:r>
              <a:rPr sz="1550" b="0" i="0">
                <a:solidFill>
                  <a:srgbClr val="1F2328"/>
                </a:solidFill>
                <a:latin typeface="Courier New"/>
              </a:rPr>
              <a:t>add_pandas</a:t>
            </a:r>
            <a:r>
              <a:rPr sz="1550" b="0" i="0">
                <a:solidFill>
                  <a:srgbClr val="1F2328"/>
                </a:solidFill>
                <a:latin typeface="Courier New"/>
              </a:rPr>
              <a:t>(</a:t>
            </a:r>
            <a:r>
              <a:rPr sz="1550" b="0" i="0">
                <a:solidFill>
                  <a:srgbClr val="B04A2B"/>
                </a:solidFill>
                <a:latin typeface="Courier New"/>
              </a:rPr>
              <a:t>'kitara'</a:t>
            </a:r>
            <a:r>
              <a:rPr sz="1550" b="0" i="0">
                <a:solidFill>
                  <a:srgbClr val="1F2328"/>
                </a:solidFill>
                <a:latin typeface="Courier New"/>
              </a:rPr>
              <a:t>)</a:t>
            </a:r>
          </a:p>
          <a:p>
            <a:r>
              <a:rPr sz="1550" b="0" i="0">
                <a:solidFill>
                  <a:srgbClr val="1F2328"/>
                </a:solidFill>
                <a:latin typeface="Courier New"/>
              </a:rPr>
              <a:t>asset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source</a:t>
            </a:r>
            <a:r>
              <a:rPr sz="1550" b="0" i="0">
                <a:solidFill>
                  <a:srgbClr val="1F2328"/>
                </a:solidFill>
                <a:latin typeface="Courier New"/>
              </a:rPr>
              <a:t>.</a:t>
            </a:r>
            <a:r>
              <a:rPr sz="1550" b="0" i="0">
                <a:solidFill>
                  <a:srgbClr val="1F2328"/>
                </a:solidFill>
                <a:latin typeface="Courier New"/>
              </a:rPr>
              <a:t>add_dataframe_asset</a:t>
            </a:r>
            <a:r>
              <a:rPr sz="1550" b="0" i="0">
                <a:solidFill>
                  <a:srgbClr val="1F2328"/>
                </a:solidFill>
                <a:latin typeface="Courier New"/>
              </a:rPr>
              <a:t>(</a:t>
            </a:r>
            <a:r>
              <a:rPr sz="1550" b="0" i="0">
                <a:solidFill>
                  <a:srgbClr val="B04A2B"/>
                </a:solidFill>
                <a:latin typeface="Courier New"/>
              </a:rPr>
              <a:t>'customers'</a:t>
            </a:r>
            <a:r>
              <a:rPr sz="1550" b="0" i="0">
                <a:solidFill>
                  <a:srgbClr val="1F2328"/>
                </a:solidFill>
                <a:latin typeface="Courier New"/>
              </a:rPr>
              <a:t>)</a:t>
            </a:r>
          </a:p>
          <a:p>
            <a:r>
              <a:rPr sz="1550" b="0" i="0">
                <a:solidFill>
                  <a:srgbClr val="1F2328"/>
                </a:solidFill>
                <a:latin typeface="Courier New"/>
              </a:rPr>
              <a:t>batch_def</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asset</a:t>
            </a:r>
            <a:r>
              <a:rPr sz="1550" b="0" i="0">
                <a:solidFill>
                  <a:srgbClr val="1F2328"/>
                </a:solidFill>
                <a:latin typeface="Courier New"/>
              </a:rPr>
              <a:t>.</a:t>
            </a:r>
            <a:r>
              <a:rPr sz="1550" b="0" i="0">
                <a:solidFill>
                  <a:srgbClr val="1F2328"/>
                </a:solidFill>
                <a:latin typeface="Courier New"/>
              </a:rPr>
              <a:t>add_batch_definition_whole_dataframe</a:t>
            </a:r>
            <a:r>
              <a:rPr sz="1550" b="0" i="0">
                <a:solidFill>
                  <a:srgbClr val="1F2328"/>
                </a:solidFill>
                <a:latin typeface="Courier New"/>
              </a:rPr>
              <a:t>(</a:t>
            </a:r>
            <a:r>
              <a:rPr sz="1550" b="0" i="0">
                <a:solidFill>
                  <a:srgbClr val="B04A2B"/>
                </a:solidFill>
                <a:latin typeface="Courier New"/>
              </a:rPr>
              <a:t>'whole table'</a:t>
            </a:r>
            <a:r>
              <a:rPr sz="1550" b="0" i="0">
                <a:solidFill>
                  <a:srgbClr val="1F2328"/>
                </a:solidFill>
                <a:latin typeface="Courier New"/>
              </a:rPr>
              <a:t>)</a:t>
            </a:r>
          </a:p>
          <a:p>
            <a:r>
              <a:rPr sz="1550" b="0" i="0">
                <a:solidFill>
                  <a:srgbClr val="1F2328"/>
                </a:solidFill>
                <a:latin typeface="Courier New"/>
              </a:rPr>
              <a:t>batch</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batch_def</a:t>
            </a:r>
            <a:r>
              <a:rPr sz="1550" b="0" i="0">
                <a:solidFill>
                  <a:srgbClr val="1F2328"/>
                </a:solidFill>
                <a:latin typeface="Courier New"/>
              </a:rPr>
              <a:t>.</a:t>
            </a:r>
            <a:r>
              <a:rPr sz="1550" b="0" i="0">
                <a:solidFill>
                  <a:srgbClr val="1F2328"/>
                </a:solidFill>
                <a:latin typeface="Courier New"/>
              </a:rPr>
              <a:t>get_batch</a:t>
            </a:r>
            <a:r>
              <a:rPr sz="1550" b="0" i="0">
                <a:solidFill>
                  <a:srgbClr val="1F2328"/>
                </a:solidFill>
                <a:latin typeface="Courier New"/>
              </a:rPr>
              <a:t>(</a:t>
            </a:r>
            <a:r>
              <a:rPr sz="1550" b="0" i="0">
                <a:solidFill>
                  <a:srgbClr val="1F2328"/>
                </a:solidFill>
                <a:latin typeface="Courier New"/>
              </a:rPr>
              <a:t>batch_parameters</a:t>
            </a:r>
            <a:r>
              <a:rPr sz="1550" b="0" i="0">
                <a:solidFill>
                  <a:srgbClr val="1F2328"/>
                </a:solidFill>
                <a:latin typeface="Courier New"/>
              </a:rPr>
              <a:t>=</a:t>
            </a:r>
            <a:r>
              <a:rPr sz="1550" b="0" i="0">
                <a:solidFill>
                  <a:srgbClr val="1F2328"/>
                </a:solidFill>
                <a:latin typeface="Courier New"/>
              </a:rPr>
              <a:t>{</a:t>
            </a:r>
            <a:r>
              <a:rPr sz="1550" b="0" i="0">
                <a:solidFill>
                  <a:srgbClr val="B04A2B"/>
                </a:solidFill>
                <a:latin typeface="Courier New"/>
              </a:rPr>
              <a:t>'dataframe'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cust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p>
          <a:p>
            <a:r>
              <a:rPr sz="1550" b="0" i="0">
                <a:solidFill>
                  <a:srgbClr val="1F2328"/>
                </a:solidFill>
                <a:latin typeface="Courier New"/>
              </a:rPr>
              <a:t>rule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gx</a:t>
            </a:r>
            <a:r>
              <a:rPr sz="1550" b="0" i="0">
                <a:solidFill>
                  <a:srgbClr val="1F2328"/>
                </a:solidFill>
                <a:latin typeface="Courier New"/>
              </a:rPr>
              <a:t>.</a:t>
            </a:r>
            <a:r>
              <a:rPr sz="1550" b="0" i="0">
                <a:solidFill>
                  <a:srgbClr val="1F2328"/>
                </a:solidFill>
                <a:latin typeface="Courier New"/>
              </a:rPr>
              <a:t>expectations</a:t>
            </a:r>
            <a:r>
              <a:rPr sz="1550" b="0" i="0">
                <a:solidFill>
                  <a:srgbClr val="1F2328"/>
                </a:solidFill>
                <a:latin typeface="Courier New"/>
              </a:rPr>
              <a:t>.</a:t>
            </a:r>
            <a:r>
              <a:rPr sz="1550" b="0" i="0">
                <a:solidFill>
                  <a:srgbClr val="1F2328"/>
                </a:solidFill>
                <a:latin typeface="Courier New"/>
              </a:rPr>
              <a:t>ExpectColumnValuesToNotBeNull</a:t>
            </a:r>
            <a:r>
              <a:rPr sz="1550" b="0" i="0">
                <a:solidFill>
                  <a:srgbClr val="1F2328"/>
                </a:solidFill>
                <a:latin typeface="Courier New"/>
              </a:rPr>
              <a:t>(</a:t>
            </a:r>
            <a:r>
              <a:rPr sz="1550" b="0" i="0">
                <a:solidFill>
                  <a:srgbClr val="1F2328"/>
                </a:solidFill>
                <a:latin typeface="Courier New"/>
              </a:rPr>
              <a:t>column</a:t>
            </a:r>
            <a:r>
              <a:rPr sz="1550" b="0" i="0">
                <a:solidFill>
                  <a:srgbClr val="1F2328"/>
                </a:solidFill>
                <a:latin typeface="Courier New"/>
              </a:rPr>
              <a:t>=</a:t>
            </a:r>
            <a:r>
              <a:rPr sz="1550" b="0" i="0">
                <a:solidFill>
                  <a:srgbClr val="B04A2B"/>
                </a:solidFill>
                <a:latin typeface="Courier New"/>
              </a:rPr>
              <a:t>'national_id'</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mostly</a:t>
            </a:r>
            <a:r>
              <a:rPr sz="1550" b="0" i="0">
                <a:solidFill>
                  <a:srgbClr val="1F2328"/>
                </a:solidFill>
                <a:latin typeface="Courier New"/>
              </a:rPr>
              <a:t>=</a:t>
            </a:r>
            <a:r>
              <a:rPr sz="1550" b="0" i="0">
                <a:solidFill>
                  <a:srgbClr val="3B4046"/>
                </a:solidFill>
                <a:latin typeface="Courier New"/>
              </a:rPr>
              <a:t>0.99</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batch</a:t>
            </a:r>
            <a:r>
              <a:rPr sz="1550" b="0" i="0">
                <a:solidFill>
                  <a:srgbClr val="1F2328"/>
                </a:solidFill>
                <a:latin typeface="Courier New"/>
              </a:rPr>
              <a:t>.</a:t>
            </a:r>
            <a:r>
              <a:rPr sz="1550" b="0" i="0">
                <a:solidFill>
                  <a:srgbClr val="1F2328"/>
                </a:solidFill>
                <a:latin typeface="Courier New"/>
              </a:rPr>
              <a:t>validate</a:t>
            </a:r>
            <a:r>
              <a:rPr sz="1550" b="0" i="0">
                <a:solidFill>
                  <a:srgbClr val="1F2328"/>
                </a:solidFill>
                <a:latin typeface="Courier New"/>
              </a:rPr>
              <a:t>(</a:t>
            </a:r>
            <a:r>
              <a:rPr sz="1550" b="0" i="0">
                <a:solidFill>
                  <a:srgbClr val="1F2328"/>
                </a:solidFill>
                <a:latin typeface="Courier New"/>
              </a:rPr>
              <a:t>rule</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success</a:t>
            </a:r>
            <a:r>
              <a:rPr sz="1550" b="0" i="0">
                <a:solidFill>
                  <a:srgbClr val="1F2328"/>
                </a:solidFill>
                <a:latin typeface="Courier New"/>
              </a:rPr>
              <a:t>)</a:t>
            </a:r>
          </a:p>
        </p:txBody>
      </p:sp>
      <p:grpSp>
        <p:nvGrpSpPr>
          <p:cNvPr id="7" name="says-1"/>
          <p:cNvGrpSpPr/>
          <p:nvPr/>
        </p:nvGrpSpPr>
        <p:grpSpPr>
          <a:xfrm>
            <a:off x="685800" y="4383024"/>
            <a:ext cx="5204307" cy="1353312"/>
            <a:chOff x="685800" y="4383024"/>
            <a:chExt cx="5204307" cy="1353312"/>
          </a:xfrm>
        </p:grpSpPr>
        <p:cxnSp>
          <p:nvCxnSpPr>
            <p:cNvPr id="8" name="Connector 7"/>
            <p:cNvCxnSpPr/>
            <p:nvPr/>
          </p:nvCxnSpPr>
          <p:spPr>
            <a:xfrm>
              <a:off x="685800" y="4383024"/>
              <a:ext cx="5204307" cy="0"/>
            </a:xfrm>
            <a:prstGeom prst="line">
              <a:avLst/>
            </a:prstGeom>
            <a:ln w="15875">
              <a:solidFill>
                <a:srgbClr val="1F2328"/>
              </a:solidFill>
            </a:ln>
          </p:spPr>
        </p:cxnSp>
        <p:sp>
          <p:nvSpPr>
            <p:cNvPr id="9" name="TextBox 8"/>
            <p:cNvSpPr txBox="1"/>
            <p:nvPr/>
          </p:nvSpPr>
          <p:spPr>
            <a:xfrm>
              <a:off x="685800" y="445617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4456176"/>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Tell the tool where the table is and take the whole table as one batch.</a:t>
              </a:r>
            </a:p>
          </p:txBody>
        </p:sp>
      </p:grpSp>
      <p:grpSp>
        <p:nvGrpSpPr>
          <p:cNvPr id="11" name="says-2"/>
          <p:cNvGrpSpPr/>
          <p:nvPr/>
        </p:nvGrpSpPr>
        <p:grpSpPr>
          <a:xfrm>
            <a:off x="6301587" y="4383024"/>
            <a:ext cx="5204308" cy="1353312"/>
            <a:chOff x="6301587" y="4383024"/>
            <a:chExt cx="5204308" cy="1353312"/>
          </a:xfrm>
        </p:grpSpPr>
        <p:cxnSp>
          <p:nvCxnSpPr>
            <p:cNvPr id="12" name="Connector 11"/>
            <p:cNvCxnSpPr/>
            <p:nvPr/>
          </p:nvCxnSpPr>
          <p:spPr>
            <a:xfrm>
              <a:off x="6301587" y="4383024"/>
              <a:ext cx="5204308" cy="0"/>
            </a:xfrm>
            <a:prstGeom prst="line">
              <a:avLst/>
            </a:prstGeom>
            <a:ln w="15875">
              <a:solidFill>
                <a:srgbClr val="1F2328"/>
              </a:solidFill>
            </a:ln>
          </p:spPr>
        </p:cxnSp>
        <p:sp>
          <p:nvSpPr>
            <p:cNvPr id="13" name="TextBox 12"/>
            <p:cNvSpPr txBox="1"/>
            <p:nvPr/>
          </p:nvSpPr>
          <p:spPr>
            <a:xfrm>
              <a:off x="6301587" y="445617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6649059" y="4456176"/>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An expectation is one rule. mostly=0.99 is the threshold: 99 percent must pass.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the defects cost downstream at Kitara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150</a:t>
            </a:r>
          </a:p>
        </p:txBody>
      </p:sp>
      <p:sp>
        <p:nvSpPr>
          <p:cNvPr id="7" name="TextBox 6"/>
          <p:cNvSpPr txBox="1"/>
          <p:nvPr/>
        </p:nvSpPr>
        <p:spPr>
          <a:xfrm>
            <a:off x="5257800" y="164592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customers entered twice: 5,000 rows are 4,850 people</a:t>
            </a:r>
          </a:p>
        </p:txBody>
      </p:sp>
      <p:cxnSp>
        <p:nvCxnSpPr>
          <p:cNvPr id="8" name="Connector 7"/>
          <p:cNvCxnSpPr/>
          <p:nvPr/>
        </p:nvCxnSpPr>
        <p:spPr>
          <a:xfrm>
            <a:off x="685800" y="2491740"/>
            <a:ext cx="10820095" cy="0"/>
          </a:xfrm>
          <a:prstGeom prst="line">
            <a:avLst/>
          </a:prstGeom>
          <a:ln w="6350">
            <a:solidFill>
              <a:srgbClr val="C9C5BC"/>
            </a:solidFill>
          </a:ln>
        </p:spPr>
      </p:cxnSp>
      <p:sp>
        <p:nvSpPr>
          <p:cNvPr id="9" name="TextBox 8"/>
          <p:cNvSpPr txBox="1"/>
          <p:nvPr/>
        </p:nvSpPr>
        <p:spPr>
          <a:xfrm>
            <a:off x="685800" y="253746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31,787,500</a:t>
            </a:r>
          </a:p>
        </p:txBody>
      </p:sp>
      <p:sp>
        <p:nvSpPr>
          <p:cNvPr id="10" name="TextBox 9"/>
          <p:cNvSpPr txBox="1"/>
          <p:nvPr/>
        </p:nvSpPr>
        <p:spPr>
          <a:xfrm>
            <a:off x="5257800" y="253746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UGX counted twice in the mobile money log</a:t>
            </a:r>
          </a:p>
        </p:txBody>
      </p:sp>
      <p:cxnSp>
        <p:nvCxnSpPr>
          <p:cNvPr id="11" name="Connector 10"/>
          <p:cNvCxnSpPr/>
          <p:nvPr/>
        </p:nvCxnSpPr>
        <p:spPr>
          <a:xfrm>
            <a:off x="685800" y="3383280"/>
            <a:ext cx="10820095" cy="0"/>
          </a:xfrm>
          <a:prstGeom prst="line">
            <a:avLst/>
          </a:prstGeom>
          <a:ln w="6350">
            <a:solidFill>
              <a:srgbClr val="C9C5BC"/>
            </a:solidFill>
          </a:ln>
        </p:spPr>
      </p:cxnSp>
      <p:sp>
        <p:nvSpPr>
          <p:cNvPr id="12" name="TextBox 11"/>
          <p:cNvSpPr txBox="1"/>
          <p:nvPr/>
        </p:nvSpPr>
        <p:spPr>
          <a:xfrm>
            <a:off x="685800" y="342900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2,490</a:t>
            </a:r>
          </a:p>
        </p:txBody>
      </p:sp>
      <p:sp>
        <p:nvSpPr>
          <p:cNvPr id="13" name="TextBox 12"/>
          <p:cNvSpPr txBox="1"/>
          <p:nvPr/>
        </p:nvSpPr>
        <p:spPr>
          <a:xfrm>
            <a:off x="5257800" y="342900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phones to repair before a text campaign</a:t>
            </a:r>
          </a:p>
        </p:txBody>
      </p:sp>
      <p:cxnSp>
        <p:nvCxnSpPr>
          <p:cNvPr id="14" name="Connector 13"/>
          <p:cNvCxnSpPr/>
          <p:nvPr/>
        </p:nvCxnSpPr>
        <p:spPr>
          <a:xfrm>
            <a:off x="685800" y="4274820"/>
            <a:ext cx="10820095" cy="0"/>
          </a:xfrm>
          <a:prstGeom prst="line">
            <a:avLst/>
          </a:prstGeom>
          <a:ln w="6350">
            <a:solidFill>
              <a:srgbClr val="C9C5BC"/>
            </a:solidFill>
          </a:ln>
        </p:spPr>
      </p:cxnSp>
      <p:sp>
        <p:nvSpPr>
          <p:cNvPr id="15" name="TextBox 14"/>
          <p:cNvSpPr txBox="1"/>
          <p:nvPr/>
        </p:nvSpPr>
        <p:spPr>
          <a:xfrm>
            <a:off x="685800" y="432054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550</a:t>
            </a:r>
          </a:p>
        </p:txBody>
      </p:sp>
      <p:sp>
        <p:nvSpPr>
          <p:cNvPr id="16" name="TextBox 15"/>
          <p:cNvSpPr txBox="1"/>
          <p:nvPr/>
        </p:nvSpPr>
        <p:spPr>
          <a:xfrm>
            <a:off x="5257800" y="432054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customers a KYC check cannot match, no national ID</a:t>
            </a:r>
          </a:p>
        </p:txBody>
      </p:sp>
      <p:cxnSp>
        <p:nvCxnSpPr>
          <p:cNvPr id="17" name="Connector 16"/>
          <p:cNvCxnSpPr/>
          <p:nvPr/>
        </p:nvCxnSpPr>
        <p:spPr>
          <a:xfrm>
            <a:off x="685800" y="5166359"/>
            <a:ext cx="10820095" cy="0"/>
          </a:xfrm>
          <a:prstGeom prst="line">
            <a:avLst/>
          </a:prstGeom>
          <a:ln w="6350">
            <a:solidFill>
              <a:srgbClr val="C9C5BC"/>
            </a:solidFill>
          </a:ln>
        </p:spPr>
      </p:cxnSp>
      <p:sp>
        <p:nvSpPr>
          <p:cNvPr id="18" name="TextBox 17"/>
          <p:cNvSpPr txBox="1"/>
          <p:nvPr/>
        </p:nvSpPr>
        <p:spPr>
          <a:xfrm>
            <a:off x="685800" y="544067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All computed from customers.csv and mobile_money_log.csv.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data contract has five fields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graphicFrame>
        <p:nvGraphicFramePr>
          <p:cNvPr id="5" name="Table"/>
          <p:cNvGraphicFramePr>
            <a:graphicFrameLocks noGrp="1"/>
          </p:cNvGraphicFramePr>
          <p:nvPr/>
        </p:nvGraphicFramePr>
        <p:xfrm>
          <a:off x="685800" y="1600200"/>
          <a:ext cx="10820094" cy="4385460"/>
        </p:xfrm>
        <a:graphic>
          <a:graphicData uri="http://schemas.openxmlformats.org/drawingml/2006/table">
            <a:tbl>
              <a:tblPr firstRow="0" bandRow="0">
                <a:tableStyleId>{2D5ABB26-0587-4C30-8999-92F81FD0307C}</a:tableStyleId>
              </a:tblPr>
              <a:tblGrid>
                <a:gridCol w="2164019"/>
                <a:gridCol w="3967368"/>
                <a:gridCol w="4688707"/>
              </a:tblGrid>
              <a:tr h="730910">
                <a:tc>
                  <a:txBody>
                    <a:bodyPr wrap="square"/>
                    <a:lstStyle/>
                    <a:p>
                      <a:r>
                        <a:rPr sz="1900" b="1" i="0">
                          <a:solidFill>
                            <a:srgbClr val="1F2328"/>
                          </a:solidFill>
                          <a:latin typeface="Calibri"/>
                        </a:rPr>
                        <a:t>Field</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What it says</a:t>
                      </a:r>
                    </a:p>
                  </a:txBody>
                  <a:tcPr marL="13716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Kitara customer table</a:t>
                      </a:r>
                    </a:p>
                  </a:txBody>
                  <a:tcPr marL="137160" marR="91440" marT="64008" marB="64008" anchor="ctr">
                    <a:lnL w="0">
                      <a:noFill/>
                    </a:lnL>
                    <a:lnR w="0">
                      <a:noFill/>
                    </a:lnR>
                    <a:lnT w="0">
                      <a:noFill/>
                    </a:lnT>
                    <a:lnB w="15875">
                      <a:solidFill>
                        <a:srgbClr val="1F2328"/>
                      </a:solidFill>
                    </a:lnB>
                    <a:noFill/>
                  </a:tcPr>
                </a:tc>
              </a:tr>
              <a:tr h="730910">
                <a:tc>
                  <a:txBody>
                    <a:bodyPr wrap="square"/>
                    <a:lstStyle/>
                    <a:p>
                      <a:r>
                        <a:rPr sz="1900" b="0" i="0">
                          <a:solidFill>
                            <a:srgbClr val="3B4046"/>
                          </a:solidFill>
                          <a:latin typeface="Calibri"/>
                        </a:rPr>
                        <a:t>Schema</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Columns, types, allowed blanks</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14 columns. national_id may be blank</a:t>
                      </a:r>
                    </a:p>
                  </a:txBody>
                  <a:tcPr marL="137160" marR="91440" marT="64008" marB="64008" anchor="ctr">
                    <a:lnL w="0">
                      <a:noFill/>
                    </a:lnL>
                    <a:lnR w="0">
                      <a:noFill/>
                    </a:lnR>
                    <a:lnT w="0">
                      <a:noFill/>
                    </a:lnT>
                    <a:lnB w="6350">
                      <a:solidFill>
                        <a:srgbClr val="C9C5BC"/>
                      </a:solidFill>
                    </a:lnB>
                    <a:noFill/>
                  </a:tcPr>
                </a:tc>
              </a:tr>
              <a:tr h="730910">
                <a:tc>
                  <a:txBody>
                    <a:bodyPr wrap="square"/>
                    <a:lstStyle/>
                    <a:p>
                      <a:r>
                        <a:rPr sz="1900" b="0" i="0">
                          <a:solidFill>
                            <a:srgbClr val="3B4046"/>
                          </a:solidFill>
                          <a:latin typeface="Calibri"/>
                        </a:rPr>
                        <a:t>Quality</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Rules with thresholds</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National ID filled in for 99% of rows</a:t>
                      </a:r>
                    </a:p>
                  </a:txBody>
                  <a:tcPr marL="137160" marR="91440" marT="64008" marB="64008" anchor="ctr">
                    <a:lnL w="0">
                      <a:noFill/>
                    </a:lnL>
                    <a:lnR w="0">
                      <a:noFill/>
                    </a:lnR>
                    <a:lnT w="0">
                      <a:noFill/>
                    </a:lnT>
                    <a:lnB w="6350">
                      <a:solidFill>
                        <a:srgbClr val="C9C5BC"/>
                      </a:solidFill>
                    </a:lnB>
                    <a:noFill/>
                  </a:tcPr>
                </a:tc>
              </a:tr>
              <a:tr h="730910">
                <a:tc>
                  <a:txBody>
                    <a:bodyPr wrap="square"/>
                    <a:lstStyle/>
                    <a:p>
                      <a:r>
                        <a:rPr sz="1900" b="0" i="0">
                          <a:solidFill>
                            <a:srgbClr val="3B4046"/>
                          </a:solidFill>
                          <a:latin typeface="Calibri"/>
                        </a:rPr>
                        <a:t>Freshness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How old the data may be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Daily load. Alert at 30 hours (proposed)</a:t>
                      </a:r>
                    </a:p>
                  </a:txBody>
                  <a:tcPr marL="137160" marR="91440" marT="64008" marB="64008" anchor="ctr">
                    <a:lnL w="0">
                      <a:noFill/>
                    </a:lnL>
                    <a:lnR w="0">
                      <a:noFill/>
                    </a:lnR>
                    <a:lnT w="0">
                      <a:noFill/>
                    </a:lnT>
                    <a:lnB w="6350">
                      <a:solidFill>
                        <a:srgbClr val="C9C5BC"/>
                      </a:solidFill>
                    </a:lnB>
                    <a:noFill/>
                  </a:tcPr>
                </a:tc>
              </a:tr>
              <a:tr h="730910">
                <a:tc>
                  <a:txBody>
                    <a:bodyPr wrap="square"/>
                    <a:lstStyle/>
                    <a:p>
                      <a:r>
                        <a:rPr sz="1900" b="0" i="0">
                          <a:solidFill>
                            <a:srgbClr val="3B4046"/>
                          </a:solidFill>
                          <a:latin typeface="Calibri"/>
                        </a:rPr>
                        <a:t>Owner</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Who answers and approves changes</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Head of Retail Banking Operations</a:t>
                      </a:r>
                    </a:p>
                  </a:txBody>
                  <a:tcPr marL="137160" marR="91440" marT="64008" marB="64008" anchor="ctr">
                    <a:lnL w="0">
                      <a:noFill/>
                    </a:lnL>
                    <a:lnR w="0">
                      <a:noFill/>
                    </a:lnR>
                    <a:lnT w="0">
                      <a:noFill/>
                    </a:lnT>
                    <a:lnB w="6350">
                      <a:solidFill>
                        <a:srgbClr val="C9C5BC"/>
                      </a:solidFill>
                    </a:lnB>
                    <a:noFill/>
                  </a:tcPr>
                </a:tc>
              </a:tr>
              <a:tr h="730910">
                <a:tc>
                  <a:txBody>
                    <a:bodyPr wrap="square"/>
                    <a:lstStyle/>
                    <a:p>
                      <a:r>
                        <a:rPr sz="1900" b="0" i="0">
                          <a:solidFill>
                            <a:srgbClr val="3B4046"/>
                          </a:solidFill>
                          <a:latin typeface="Calibri"/>
                        </a:rPr>
                        <a:t>Change policy</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What counts as breaking, and notice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30 days notice to drop a column (proposed)</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contract in a standard format and in a workbook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You can write the same five fields in a public standard or in a spreadsheet.</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Open Data Contract Standard</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050" b="0" i="0">
                <a:solidFill>
                  <a:srgbClr val="3B4046"/>
                </a:solidFill>
                <a:latin typeface="Calibri"/>
              </a:rPr>
              <a:t>A public format for contracts, written as YAML. Run by Bitol, a Linux Foundation AI and Data project. Version 3.1.0 came out in December 2025.</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Data Contract Template.xlsx</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same fields in a workbook. One contract per dataset. Cream cells are for your input.</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Metadata</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Name, description, owner, sensitivity and column meanings let others find and reuse the table without asking.</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six rules and one contract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Choose one dataset you would feed to an AI use</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Fill section 1: name, owner, steward, sensitivity class</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List the columns in section 2 with type and allowed blanks</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Write six rules in section 3: column, test and threshold</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Check each rule on a sample and write the pass rate</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150" b="0" i="0">
                <a:solidFill>
                  <a:srgbClr val="1F2328"/>
                </a:solidFill>
                <a:latin typeface="Calibri"/>
              </a:rPr>
              <a:t>Fill freshness, volume and change policy in sections 4 and 5</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1950" b="0" i="0">
                <a:solidFill>
                  <a:srgbClr val="1F2328"/>
                </a:solidFill>
                <a:latin typeface="Calibri"/>
              </a:rPr>
              <a:t>Name who signs for the owner and for the consumers in section 6</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1700" b="1" i="0">
                <a:solidFill>
                  <a:srgbClr val="1F2328"/>
                </a:solidFill>
                <a:latin typeface="Cambria"/>
              </a:rPr>
              <a:t>Data Contract Template workbook and team notebook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One dataset has six rules a machine can check and a contract with a named owner, a freshness limit and a change policy.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Kitara's customer id passes at 100 percent, yet 150 customers appear twice. Which dimension catches that, and how?</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Uniqueness. Match on the normalised name with the date of birth, or on the national ID.</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report the share of rows that pass every rule as well as each rule?</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An AI reads whole rows. At Kitara only 1,557 of 5,000 rows pass all four rules.</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owns the dataset you chose, and which failed rule would you let stop a load?</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A named role that can say yes or no to a change. Often the rule behind a regulatory or money figure.</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4   Quality, metadata and data contracts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Six dimensions turn fit for use into questions: completeness, validity, uniqueness, consistency, timeliness and accuracy.</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rule is a column, a test and a threshold a machine can run. Report the share of rows that pass every rule.</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350" b="0" i="0">
                <a:solidFill>
                  <a:srgbClr val="1F2328"/>
                </a:solidFill>
                <a:latin typeface="Cambria"/>
              </a:rPr>
              <a:t>A data contract names the schema, quality rules, freshness, owner and change policy. Kitara's customer table passes all four rules on 1,557 of 5,000 rows.</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From documents to clean 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