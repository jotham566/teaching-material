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92079" cy="756025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7315200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F2328"/>
                </a:solidFill>
                <a:latin typeface="Cambria"/>
              </a:rPr>
              <a:t>Enterprise Data Readiness for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9264"/>
            <a:ext cx="6675120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3B4046"/>
                </a:solidFill>
                <a:latin typeface="Calibri"/>
              </a:rPr>
              <a:t>Twelve sessions of two hours for leaders and their data teams. You leave with a scored baseline, a working search and a twelve-month plan.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457200"/>
            <a:ext cx="2645359" cy="10515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250" b="1" i="0">
                <a:solidFill>
                  <a:srgbClr val="1F2328"/>
                </a:solidFill>
                <a:latin typeface="Calibri"/>
              </a:rPr>
              <a:t>Bring</a:t>
            </a:r>
          </a:p>
          <a:p>
            <a:pPr algn="l"/>
            <a:r>
              <a:rPr sz="1250" b="0" i="0">
                <a:solidFill>
                  <a:srgbClr val="3B4046"/>
                </a:solidFill>
                <a:latin typeface="Calibri"/>
              </a:rPr>
              <a:t>A decision maker and someone from data or IT, from the same organisation. A laptop and 50 documents that are not confidential.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536192"/>
            <a:ext cx="9594799" cy="0"/>
          </a:xfrm>
          <a:prstGeom prst="line">
            <a:avLst/>
          </a:prstGeom>
          <a:ln w="15875">
            <a:solidFill>
              <a:srgbClr val="1F2328"/>
            </a:solidFill>
          </a:ln>
        </p:spPr>
      </p:cxnSp>
      <p:sp>
        <p:nvSpPr>
          <p:cNvPr id="6" name="TextBox 5"/>
          <p:cNvSpPr txBox="1"/>
          <p:nvPr/>
        </p:nvSpPr>
        <p:spPr>
          <a:xfrm>
            <a:off x="548640" y="1609344"/>
            <a:ext cx="24688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6A6F75"/>
                </a:solidFill>
                <a:latin typeface="Calibri"/>
              </a:rPr>
              <a:t>Module and sessions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609344"/>
            <a:ext cx="320040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6A6F75"/>
                </a:solidFill>
                <a:latin typeface="Calibri"/>
              </a:rPr>
              <a:t>What you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609344"/>
            <a:ext cx="164592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6A6F75"/>
                </a:solidFill>
                <a:latin typeface="Calibri"/>
              </a:rPr>
              <a:t>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609344"/>
            <a:ext cx="1913839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6A6F75"/>
                </a:solidFill>
                <a:latin typeface="Calibri"/>
              </a:rPr>
              <a:t>What you make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1865376"/>
            <a:ext cx="9594799" cy="0"/>
          </a:xfrm>
          <a:prstGeom prst="line">
            <a:avLst/>
          </a:prstGeom>
          <a:ln w="9525">
            <a:solidFill>
              <a:srgbClr val="C9C5BC"/>
            </a:solidFill>
          </a:ln>
        </p:spPr>
      </p:cxnSp>
      <p:sp>
        <p:nvSpPr>
          <p:cNvPr id="11" name="Module 1"/>
          <p:cNvSpPr txBox="1"/>
          <p:nvPr/>
        </p:nvSpPr>
        <p:spPr>
          <a:xfrm>
            <a:off x="548640" y="1975104"/>
            <a:ext cx="2468880" cy="29260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650" b="1" i="0">
                <a:solidFill>
                  <a:srgbClr val="1F2328"/>
                </a:solidFill>
                <a:latin typeface="Cambria"/>
              </a:rPr>
              <a:t>Start with a baseline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2523744"/>
            <a:ext cx="365760" cy="0"/>
          </a:xfrm>
          <a:prstGeom prst="line">
            <a:avLst/>
          </a:prstGeom>
          <a:ln w="12700">
            <a:solidFill>
              <a:srgbClr val="1F2328"/>
            </a:solidFill>
          </a:ln>
        </p:spPr>
      </p:cxnSp>
      <p:sp>
        <p:nvSpPr>
          <p:cNvPr id="13" name="Oval 12"/>
          <p:cNvSpPr/>
          <p:nvPr/>
        </p:nvSpPr>
        <p:spPr>
          <a:xfrm>
            <a:off x="548640" y="2386584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2328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050" b="1">
                <a:solidFill>
                  <a:srgbClr val="1F2328"/>
                </a:solidFill>
                <a:latin typeface="Calibri"/>
              </a:rPr>
              <a:t>1</a:t>
            </a:r>
          </a:p>
        </p:txBody>
      </p:sp>
      <p:sp>
        <p:nvSpPr>
          <p:cNvPr id="14" name="Oval 13"/>
          <p:cNvSpPr/>
          <p:nvPr/>
        </p:nvSpPr>
        <p:spPr>
          <a:xfrm>
            <a:off x="914399" y="2386584"/>
            <a:ext cx="274320" cy="274320"/>
          </a:xfrm>
          <a:prstGeom prst="ellipse">
            <a:avLst/>
          </a:prstGeom>
          <a:solidFill>
            <a:srgbClr val="B04A2B"/>
          </a:solidFill>
          <a:ln w="15875">
            <a:solidFill>
              <a:srgbClr val="B04A2B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1984248"/>
            <a:ext cx="3200400" cy="74980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3B4046"/>
                </a:solidFill>
                <a:latin typeface="Calibri"/>
              </a:rPr>
              <a:t>Name the AI uses you want and the data each needs. Score your organisation on five dimensions, with evidence for each score.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984248"/>
            <a:ext cx="1645920" cy="74980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3B4046"/>
                </a:solidFill>
                <a:latin typeface="Calibri"/>
              </a:rPr>
              <a:t>Spreadsheet scorecard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984248"/>
            <a:ext cx="1913839" cy="74980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3B4046"/>
                </a:solidFill>
                <a:latin typeface="Calibri"/>
              </a:rPr>
              <a:t>A baseline scorecard and three use cases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2779776"/>
            <a:ext cx="9594799" cy="0"/>
          </a:xfrm>
          <a:prstGeom prst="line">
            <a:avLst/>
          </a:prstGeom>
          <a:ln w="6350">
            <a:solidFill>
              <a:srgbClr val="C9C5BC"/>
            </a:solidFill>
          </a:ln>
        </p:spPr>
      </p:cxnSp>
      <p:sp>
        <p:nvSpPr>
          <p:cNvPr id="19" name="Module 2"/>
          <p:cNvSpPr txBox="1"/>
          <p:nvPr/>
        </p:nvSpPr>
        <p:spPr>
          <a:xfrm>
            <a:off x="548640" y="2816352"/>
            <a:ext cx="2468880" cy="29260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650" b="1" i="0">
                <a:solidFill>
                  <a:srgbClr val="1F2328"/>
                </a:solidFill>
                <a:latin typeface="Cambria"/>
              </a:rPr>
              <a:t>Know your data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" y="3364992"/>
            <a:ext cx="365760" cy="0"/>
          </a:xfrm>
          <a:prstGeom prst="line">
            <a:avLst/>
          </a:prstGeom>
          <a:ln w="12700">
            <a:solidFill>
              <a:srgbClr val="1F2328"/>
            </a:solidFill>
          </a:ln>
        </p:spPr>
      </p:cxnSp>
      <p:sp>
        <p:nvSpPr>
          <p:cNvPr id="21" name="Oval 20"/>
          <p:cNvSpPr/>
          <p:nvPr/>
        </p:nvSpPr>
        <p:spPr>
          <a:xfrm>
            <a:off x="548640" y="3227832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2328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050" b="1">
                <a:solidFill>
                  <a:srgbClr val="1F2328"/>
                </a:solidFill>
                <a:latin typeface="Calibri"/>
              </a:rPr>
              <a:t>3</a:t>
            </a:r>
          </a:p>
        </p:txBody>
      </p:sp>
      <p:sp>
        <p:nvSpPr>
          <p:cNvPr id="22" name="Oval 21"/>
          <p:cNvSpPr/>
          <p:nvPr/>
        </p:nvSpPr>
        <p:spPr>
          <a:xfrm>
            <a:off x="914399" y="3227832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2328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050" b="1">
                <a:solidFill>
                  <a:srgbClr val="1F2328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2825496"/>
            <a:ext cx="3200400" cy="74980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3B4046"/>
                </a:solidFill>
                <a:latin typeface="Calibri"/>
              </a:rPr>
              <a:t>List every data source with an owner and a sensitivity level. Write quality checks and a data contract for one dataset.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2825496"/>
            <a:ext cx="1645920" cy="74980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3B4046"/>
                </a:solidFill>
                <a:latin typeface="Calibri"/>
              </a:rPr>
              <a:t>DataHub, OpenMetadata, Pandera, Great Expectations 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825496"/>
            <a:ext cx="1913839" cy="74980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3B4046"/>
                </a:solidFill>
                <a:latin typeface="Calibri"/>
              </a:rPr>
              <a:t>A data inventory and one data contract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48640" y="3621024"/>
            <a:ext cx="9594799" cy="0"/>
          </a:xfrm>
          <a:prstGeom prst="line">
            <a:avLst/>
          </a:prstGeom>
          <a:ln w="6350">
            <a:solidFill>
              <a:srgbClr val="C9C5BC"/>
            </a:solidFill>
          </a:ln>
        </p:spPr>
      </p:cxnSp>
      <p:sp>
        <p:nvSpPr>
          <p:cNvPr id="27" name="Module 3"/>
          <p:cNvSpPr txBox="1"/>
          <p:nvPr/>
        </p:nvSpPr>
        <p:spPr>
          <a:xfrm>
            <a:off x="548640" y="3657600"/>
            <a:ext cx="2468880" cy="29260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650" b="1" i="0">
                <a:solidFill>
                  <a:srgbClr val="1F2328"/>
                </a:solidFill>
                <a:latin typeface="Cambria"/>
              </a:rPr>
              <a:t>Make it searchable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85800" y="4206240"/>
            <a:ext cx="731520" cy="0"/>
          </a:xfrm>
          <a:prstGeom prst="line">
            <a:avLst/>
          </a:prstGeom>
          <a:ln w="12700">
            <a:solidFill>
              <a:srgbClr val="1F2328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548640" y="4069079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2328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050" b="1">
                <a:solidFill>
                  <a:srgbClr val="1F2328"/>
                </a:solidFill>
                <a:latin typeface="Calibri"/>
              </a:rPr>
              <a:t>5</a:t>
            </a:r>
          </a:p>
        </p:txBody>
      </p:sp>
      <p:sp>
        <p:nvSpPr>
          <p:cNvPr id="30" name="Oval 29"/>
          <p:cNvSpPr/>
          <p:nvPr/>
        </p:nvSpPr>
        <p:spPr>
          <a:xfrm>
            <a:off x="914399" y="4069079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2328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050" b="1">
                <a:solidFill>
                  <a:srgbClr val="1F2328"/>
                </a:solidFill>
                <a:latin typeface="Calibri"/>
              </a:rPr>
              <a:t>6</a:t>
            </a:r>
          </a:p>
        </p:txBody>
      </p:sp>
      <p:sp>
        <p:nvSpPr>
          <p:cNvPr id="31" name="Oval 30"/>
          <p:cNvSpPr/>
          <p:nvPr/>
        </p:nvSpPr>
        <p:spPr>
          <a:xfrm>
            <a:off x="1280160" y="4069079"/>
            <a:ext cx="274320" cy="274320"/>
          </a:xfrm>
          <a:prstGeom prst="ellipse">
            <a:avLst/>
          </a:prstGeom>
          <a:solidFill>
            <a:srgbClr val="B04A2B"/>
          </a:solidFill>
          <a:ln w="15875">
            <a:solidFill>
              <a:srgbClr val="B04A2B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08960" y="3666744"/>
            <a:ext cx="3200400" cy="74980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3B4046"/>
                </a:solidFill>
                <a:latin typeface="Calibri"/>
              </a:rPr>
              <a:t>Turn PDFs and scans into clean text. Search by meaning, then test it on questions your staff really ask, with access rules 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3666744"/>
            <a:ext cx="1645920" cy="74980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3B4046"/>
                </a:solidFill>
                <a:latin typeface="Calibri"/>
              </a:rPr>
              <a:t>Docling, sentence-transformers, pgvector, Chroma, Ragas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3666744"/>
            <a:ext cx="1913839" cy="74980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3B4046"/>
                </a:solidFill>
                <a:latin typeface="Calibri"/>
              </a:rPr>
              <a:t>A working search over your own documents, and its test results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48640" y="4462272"/>
            <a:ext cx="9594799" cy="0"/>
          </a:xfrm>
          <a:prstGeom prst="line">
            <a:avLst/>
          </a:prstGeom>
          <a:ln w="6350">
            <a:solidFill>
              <a:srgbClr val="C9C5BC"/>
            </a:solidFill>
          </a:ln>
        </p:spPr>
      </p:cxnSp>
      <p:sp>
        <p:nvSpPr>
          <p:cNvPr id="36" name="Module 4"/>
          <p:cNvSpPr txBox="1"/>
          <p:nvPr/>
        </p:nvSpPr>
        <p:spPr>
          <a:xfrm>
            <a:off x="548640" y="4498848"/>
            <a:ext cx="2468880" cy="29260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650" b="1" i="0">
                <a:solidFill>
                  <a:srgbClr val="1F2328"/>
                </a:solidFill>
                <a:latin typeface="Cambria"/>
              </a:rPr>
              <a:t>Platform, law and cost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85800" y="5047488"/>
            <a:ext cx="731520" cy="0"/>
          </a:xfrm>
          <a:prstGeom prst="line">
            <a:avLst/>
          </a:prstGeom>
          <a:ln w="12700">
            <a:solidFill>
              <a:srgbClr val="1F2328"/>
            </a:solidFill>
          </a:ln>
        </p:spPr>
      </p:cxnSp>
      <p:sp>
        <p:nvSpPr>
          <p:cNvPr id="38" name="Oval 37"/>
          <p:cNvSpPr/>
          <p:nvPr/>
        </p:nvSpPr>
        <p:spPr>
          <a:xfrm>
            <a:off x="548640" y="4910327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2328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050" b="1">
                <a:solidFill>
                  <a:srgbClr val="1F2328"/>
                </a:solidFill>
                <a:latin typeface="Calibri"/>
              </a:rPr>
              <a:t>8</a:t>
            </a:r>
          </a:p>
        </p:txBody>
      </p:sp>
      <p:sp>
        <p:nvSpPr>
          <p:cNvPr id="39" name="Oval 38"/>
          <p:cNvSpPr/>
          <p:nvPr/>
        </p:nvSpPr>
        <p:spPr>
          <a:xfrm>
            <a:off x="914399" y="4910327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2328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050" b="1">
                <a:solidFill>
                  <a:srgbClr val="1F2328"/>
                </a:solidFill>
                <a:latin typeface="Calibri"/>
              </a:rPr>
              <a:t>9</a:t>
            </a:r>
          </a:p>
        </p:txBody>
      </p:sp>
      <p:sp>
        <p:nvSpPr>
          <p:cNvPr id="40" name="Oval 39"/>
          <p:cNvSpPr/>
          <p:nvPr/>
        </p:nvSpPr>
        <p:spPr>
          <a:xfrm>
            <a:off x="1280160" y="4910327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2328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050" b="1">
                <a:solidFill>
                  <a:srgbClr val="1F2328"/>
                </a:solidFill>
                <a:latin typeface="Calibri"/>
              </a:rPr>
              <a:t>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08960" y="4507992"/>
            <a:ext cx="3200400" cy="74980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3B4046"/>
                </a:solidFill>
                <a:latin typeface="Calibri"/>
              </a:rPr>
              <a:t>Design the path from source to search with a check at each step. Map your data to four national laws. Price a hosting option.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6520" y="4507992"/>
            <a:ext cx="1645920" cy="74980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3B4046"/>
                </a:solidFill>
                <a:latin typeface="Calibri"/>
              </a:rPr>
              <a:t>DuckDB, Dagster, Presidio, Keycloak, Superset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4507992"/>
            <a:ext cx="1913839" cy="74980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3B4046"/>
                </a:solidFill>
                <a:latin typeface="Calibri"/>
              </a:rPr>
              <a:t>A reference architecture, a data protection map and a cost estimate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48640" y="5303520"/>
            <a:ext cx="9594799" cy="0"/>
          </a:xfrm>
          <a:prstGeom prst="line">
            <a:avLst/>
          </a:prstGeom>
          <a:ln w="6350">
            <a:solidFill>
              <a:srgbClr val="C9C5BC"/>
            </a:solidFill>
          </a:ln>
        </p:spPr>
      </p:cxnSp>
      <p:sp>
        <p:nvSpPr>
          <p:cNvPr id="45" name="Module 5"/>
          <p:cNvSpPr txBox="1"/>
          <p:nvPr/>
        </p:nvSpPr>
        <p:spPr>
          <a:xfrm>
            <a:off x="548640" y="5340096"/>
            <a:ext cx="2468880" cy="29260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650" b="1" i="0">
                <a:solidFill>
                  <a:srgbClr val="1F2328"/>
                </a:solidFill>
                <a:latin typeface="Cambria"/>
              </a:rPr>
              <a:t>Govern and plan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85800" y="5888736"/>
            <a:ext cx="365760" cy="0"/>
          </a:xfrm>
          <a:prstGeom prst="line">
            <a:avLst/>
          </a:prstGeom>
          <a:ln w="12700">
            <a:solidFill>
              <a:srgbClr val="1F2328"/>
            </a:solidFill>
          </a:ln>
        </p:spPr>
      </p:cxnSp>
      <p:sp>
        <p:nvSpPr>
          <p:cNvPr id="47" name="Oval 46"/>
          <p:cNvSpPr/>
          <p:nvPr/>
        </p:nvSpPr>
        <p:spPr>
          <a:xfrm>
            <a:off x="548640" y="5751575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2328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050" b="1">
                <a:solidFill>
                  <a:srgbClr val="1F2328"/>
                </a:solidFill>
                <a:latin typeface="Calibri"/>
              </a:rPr>
              <a:t>11</a:t>
            </a:r>
          </a:p>
        </p:txBody>
      </p:sp>
      <p:sp>
        <p:nvSpPr>
          <p:cNvPr id="48" name="Oval 47"/>
          <p:cNvSpPr/>
          <p:nvPr/>
        </p:nvSpPr>
        <p:spPr>
          <a:xfrm>
            <a:off x="914399" y="5751575"/>
            <a:ext cx="274320" cy="274320"/>
          </a:xfrm>
          <a:prstGeom prst="ellipse">
            <a:avLst/>
          </a:prstGeom>
          <a:solidFill>
            <a:srgbClr val="B04A2B"/>
          </a:solidFill>
          <a:ln w="15875">
            <a:solidFill>
              <a:srgbClr val="B04A2B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108960" y="5349240"/>
            <a:ext cx="3200400" cy="74980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3B4046"/>
                </a:solidFill>
                <a:latin typeface="Calibri"/>
              </a:rPr>
              <a:t>Set roles, a policy and a risk register using NIST and ISO 42001. Sequence a twelve-month plan and present it as a board paper.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46520" y="5349240"/>
            <a:ext cx="1645920" cy="74980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3B4046"/>
                </a:solidFill>
                <a:latin typeface="Calibri"/>
              </a:rPr>
              <a:t>NIST AI RMF, ISO/IEC 42001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0" y="5349240"/>
            <a:ext cx="1913839" cy="74980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3B4046"/>
                </a:solidFill>
                <a:latin typeface="Calibri"/>
              </a:rPr>
              <a:t>A twelve-month roadmap and a board presentation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548640" y="6144768"/>
            <a:ext cx="9594799" cy="0"/>
          </a:xfrm>
          <a:prstGeom prst="line">
            <a:avLst/>
          </a:prstGeom>
          <a:ln w="15875">
            <a:solidFill>
              <a:srgbClr val="1F2328"/>
            </a:solidFill>
          </a:ln>
        </p:spPr>
      </p:cxnSp>
      <p:sp>
        <p:nvSpPr>
          <p:cNvPr id="53" name="Oval 52"/>
          <p:cNvSpPr/>
          <p:nvPr/>
        </p:nvSpPr>
        <p:spPr>
          <a:xfrm>
            <a:off x="548640" y="6254495"/>
            <a:ext cx="201168" cy="201168"/>
          </a:xfrm>
          <a:prstGeom prst="ellipse">
            <a:avLst/>
          </a:prstGeom>
          <a:solidFill>
            <a:srgbClr val="B04A2B"/>
          </a:solidFill>
          <a:ln w="15875">
            <a:solidFill>
              <a:srgbClr val="B04A2B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1247" y="6236207"/>
            <a:ext cx="4206240" cy="25603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3B4046"/>
                </a:solidFill>
                <a:latin typeface="Calibri"/>
              </a:rPr>
              <a:t>Workpiece sessions: 2, 7 and 12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6510527"/>
            <a:ext cx="457200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250" b="1" i="0">
                <a:solidFill>
                  <a:srgbClr val="1F2328"/>
                </a:solidFill>
                <a:latin typeface="Calibri"/>
              </a:rPr>
              <a:t>Case. </a:t>
            </a:r>
            <a:r>
              <a:rPr sz="1250" b="0" i="0">
                <a:solidFill>
                  <a:srgbClr val="3B4046"/>
                </a:solidFill>
                <a:latin typeface="Calibri"/>
              </a:rPr>
              <a:t>We work on Kitara Group, a fictional bank and insurer, then on your own organisation.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0" y="6236207"/>
            <a:ext cx="4657039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250" b="1" i="0">
                <a:solidFill>
                  <a:srgbClr val="1F2328"/>
                </a:solidFill>
                <a:latin typeface="Calibri"/>
              </a:rPr>
              <a:t>Every session. </a:t>
            </a:r>
            <a:r>
              <a:rPr sz="1250" b="0" i="0">
                <a:solidFill>
                  <a:srgbClr val="3B4046"/>
                </a:solidFill>
                <a:latin typeface="Calibri"/>
              </a:rPr>
              <a:t>Case 10 minutes, teach 30, live demo 25, break 5, workshop 40, decide 10.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0" y="6693407"/>
            <a:ext cx="4657039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250" b="1" i="0">
                <a:solidFill>
                  <a:srgbClr val="1F2328"/>
                </a:solidFill>
                <a:latin typeface="Calibri"/>
              </a:rPr>
              <a:t>Everything is free. </a:t>
            </a:r>
            <a:r>
              <a:rPr sz="1250" b="0" i="0">
                <a:solidFill>
                  <a:srgbClr val="3B4046"/>
                </a:solidFill>
                <a:latin typeface="Calibri"/>
              </a:rPr>
              <a:t>No paid tool, cloud account or graphics card. We read each tool’s licence in session 10.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" y="7258507"/>
            <a:ext cx="731520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6A6F75"/>
                </a:solidFill>
                <a:latin typeface="Calibri"/>
              </a:rPr>
              <a:t>KLAi Professional Learning. Tutor: Jotham Martin Wambi.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