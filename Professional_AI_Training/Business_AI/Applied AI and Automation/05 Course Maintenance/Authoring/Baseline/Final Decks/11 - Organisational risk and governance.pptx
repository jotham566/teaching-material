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466518bfca4f02" /><Relationship Type="http://schemas.openxmlformats.org/officeDocument/2006/relationships/extended-properties" Target="/docProps/app.xml" Id="R6f1523018ada4b04" /><Relationship Type="http://schemas.openxmlformats.org/officeDocument/2006/relationships/officeDocument" Target="/ppt/presentation.xml" Id="R60fed10dd3b1488d" /></Relationships>
</file>

<file path=ppt/presentation.xml><?xml version="1.0" encoding="utf-8"?>
<p:presentation xmlns:p="http://schemas.openxmlformats.org/presentationml/2006/main" xmlns:r="http://schemas.openxmlformats.org/officeDocument/2006/relationships">
  <p:sldMasterIdLst>
    <p:sldMasterId id="2147483648" r:id="R71bc955d87b24e46"/>
  </p:sldMasterIdLst>
  <p:notesMasterIdLst>
    <p:notesMasterId r:id="Rb7ea73d89cdf422b"/>
  </p:notesMasterIdLst>
  <p:sldIdLst>
    <p:sldId id="256" r:id="R6616a3f1773e479b"/>
    <p:sldId id="257" r:id="Re719026a497b430c"/>
    <p:sldId id="258" r:id="Ra819624db6f643fd"/>
    <p:sldId id="259" r:id="R403ca1e6d6134cf2"/>
    <p:sldId id="260" r:id="R8f10a99fe1a84b6a"/>
    <p:sldId id="261" r:id="R43a2feb96994469e"/>
    <p:sldId id="262" r:id="R5cc147f16a0d43a6"/>
    <p:sldId id="263" r:id="Rce3d1e776db14f50"/>
    <p:sldId id="264" r:id="R886ae53293864307"/>
    <p:sldId id="265" r:id="R611326f8bef14554"/>
    <p:sldId id="266" r:id="Ra9a6f9a879bc4f64"/>
    <p:sldId id="267" r:id="R9c76955c3a174f83"/>
    <p:sldId id="268" r:id="R516fd61259524a33"/>
    <p:sldId id="269" r:id="R1f0822ca60c44f2c"/>
    <p:sldId id="270" r:id="R58afbe687c244c34"/>
    <p:sldId id="271" r:id="R31e774ab29844709"/>
    <p:sldId id="272" r:id="R8e821127e46749a5"/>
    <p:sldId id="273" r:id="R2734ccab514c45c6"/>
    <p:sldId id="274" r:id="R30faf752b2bf4abb"/>
    <p:sldId id="275" r:id="R53361a8d39b84746"/>
    <p:sldId id="276" r:id="Rbd34b2e83c244f9a"/>
    <p:sldId id="277" r:id="R6af96819610547d4"/>
    <p:sldId id="278" r:id="R4220b1b35d534753"/>
    <p:sldId id="279" r:id="R5fdead10da384bcd"/>
    <p:sldId id="280" r:id="Rb8f6921382ae4bd2"/>
  </p:sldIdLst>
  <p:sldSz cx="12192000" cy="6858000"/>
  <p:notesSz cx="6858000" cy="9144000"/>
  <p:custShowLst>
    <p:custShow name="Core teaching" id="1">
      <p:sldLst>
        <p:sld r:id="R6616a3f1773e479b"/>
        <p:sld r:id="Re719026a497b430c"/>
        <p:sld r:id="Ra819624db6f643fd"/>
        <p:sld r:id="R403ca1e6d6134cf2"/>
        <p:sld r:id="R8f10a99fe1a84b6a"/>
        <p:sld r:id="R43a2feb96994469e"/>
        <p:sld r:id="R5cc147f16a0d43a6"/>
        <p:sld r:id="Rce3d1e776db14f50"/>
        <p:sld r:id="R886ae53293864307"/>
        <p:sld r:id="R611326f8bef14554"/>
        <p:sld r:id="Ra9a6f9a879bc4f64"/>
        <p:sld r:id="R9c76955c3a174f83"/>
        <p:sld r:id="R516fd61259524a33"/>
        <p:sld r:id="R1f0822ca60c44f2c"/>
        <p:sld r:id="R58afbe687c244c34"/>
        <p:sld r:id="R31e774ab29844709"/>
        <p:sld r:id="R8e821127e46749a5"/>
        <p:sld r:id="R2734ccab514c45c6"/>
        <p:sld r:id="R30faf752b2bf4abb"/>
        <p:sld r:id="R53361a8d39b8474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803842c0374eec" /><Relationship Type="http://schemas.openxmlformats.org/officeDocument/2006/relationships/slideMaster" Target="/ppt/slideMasters/slideMaster1.xml" Id="R71bc955d87b24e46" /><Relationship Type="http://schemas.openxmlformats.org/officeDocument/2006/relationships/notesMaster" Target="/ppt/notesMasters/notesMaster1.xml" Id="Rb7ea73d89cdf422b" /><Relationship Type="http://schemas.openxmlformats.org/officeDocument/2006/relationships/presProps" Target="/ppt/presProps.xml" Id="R08e08eaeab3049e8" /><Relationship Type="http://schemas.openxmlformats.org/officeDocument/2006/relationships/tableStyles" Target="/ppt/tableStyles.xml" Id="R5f83ed06d03d41cb" /><Relationship Type="http://schemas.openxmlformats.org/officeDocument/2006/relationships/slide" Target="/ppt/slides/slide1.xml" Id="R6616a3f1773e479b" /><Relationship Type="http://schemas.openxmlformats.org/officeDocument/2006/relationships/slide" Target="/ppt/slides/slide2.xml" Id="Re719026a497b430c" /><Relationship Type="http://schemas.openxmlformats.org/officeDocument/2006/relationships/slide" Target="/ppt/slides/slide3.xml" Id="Ra819624db6f643fd" /><Relationship Type="http://schemas.openxmlformats.org/officeDocument/2006/relationships/slide" Target="/ppt/slides/slide4.xml" Id="R403ca1e6d6134cf2" /><Relationship Type="http://schemas.openxmlformats.org/officeDocument/2006/relationships/slide" Target="/ppt/slides/slide5.xml" Id="R8f10a99fe1a84b6a" /><Relationship Type="http://schemas.openxmlformats.org/officeDocument/2006/relationships/slide" Target="/ppt/slides/slide6.xml" Id="R43a2feb96994469e" /><Relationship Type="http://schemas.openxmlformats.org/officeDocument/2006/relationships/slide" Target="/ppt/slides/slide7.xml" Id="R5cc147f16a0d43a6" /><Relationship Type="http://schemas.openxmlformats.org/officeDocument/2006/relationships/slide" Target="/ppt/slides/slide8.xml" Id="Rce3d1e776db14f50" /><Relationship Type="http://schemas.openxmlformats.org/officeDocument/2006/relationships/slide" Target="/ppt/slides/slide9.xml" Id="R886ae53293864307" /><Relationship Type="http://schemas.openxmlformats.org/officeDocument/2006/relationships/slide" Target="/ppt/slides/slide10.xml" Id="R611326f8bef14554" /><Relationship Type="http://schemas.openxmlformats.org/officeDocument/2006/relationships/slide" Target="/ppt/slides/slide11.xml" Id="Ra9a6f9a879bc4f64" /><Relationship Type="http://schemas.openxmlformats.org/officeDocument/2006/relationships/slide" Target="/ppt/slides/slide12.xml" Id="R9c76955c3a174f83" /><Relationship Type="http://schemas.openxmlformats.org/officeDocument/2006/relationships/slide" Target="/ppt/slides/slide13.xml" Id="R516fd61259524a33" /><Relationship Type="http://schemas.openxmlformats.org/officeDocument/2006/relationships/slide" Target="/ppt/slides/slide14.xml" Id="R1f0822ca60c44f2c" /><Relationship Type="http://schemas.openxmlformats.org/officeDocument/2006/relationships/slide" Target="/ppt/slides/slide15.xml" Id="R58afbe687c244c34" /><Relationship Type="http://schemas.openxmlformats.org/officeDocument/2006/relationships/slide" Target="/ppt/slides/slide16.xml" Id="R31e774ab29844709" /><Relationship Type="http://schemas.openxmlformats.org/officeDocument/2006/relationships/slide" Target="/ppt/slides/slide17.xml" Id="R8e821127e46749a5" /><Relationship Type="http://schemas.openxmlformats.org/officeDocument/2006/relationships/slide" Target="/ppt/slides/slide18.xml" Id="R2734ccab514c45c6" /><Relationship Type="http://schemas.openxmlformats.org/officeDocument/2006/relationships/slide" Target="/ppt/slides/slide19.xml" Id="R30faf752b2bf4abb" /><Relationship Type="http://schemas.openxmlformats.org/officeDocument/2006/relationships/slide" Target="/ppt/slides/slide20.xml" Id="R53361a8d39b84746" /><Relationship Type="http://schemas.openxmlformats.org/officeDocument/2006/relationships/slide" Target="/ppt/slides/slide21.xml" Id="Rbd34b2e83c244f9a" /><Relationship Type="http://schemas.openxmlformats.org/officeDocument/2006/relationships/slide" Target="/ppt/slides/slide22.xml" Id="R6af96819610547d4" /><Relationship Type="http://schemas.openxmlformats.org/officeDocument/2006/relationships/slide" Target="/ppt/slides/slide23.xml" Id="R4220b1b35d534753" /><Relationship Type="http://schemas.openxmlformats.org/officeDocument/2006/relationships/slide" Target="/ppt/slides/slide24.xml" Id="R5fdead10da384bcd" /><Relationship Type="http://schemas.openxmlformats.org/officeDocument/2006/relationships/slide" Target="/ppt/slides/slide25.xml" Id="Rb8f6921382ae4b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3e945c2b634e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f53201deaf44a8" /><Relationship Type="http://schemas.openxmlformats.org/officeDocument/2006/relationships/notesMaster" Target="/ppt/notesMasters/notesMaster1.xml" Id="Rd48d68f58e944c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c2f276e6c64915" /><Relationship Type="http://schemas.openxmlformats.org/officeDocument/2006/relationships/notesMaster" Target="/ppt/notesMasters/notesMaster1.xml" Id="R47674387b77544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9a8f71fc7b4d07" /><Relationship Type="http://schemas.openxmlformats.org/officeDocument/2006/relationships/notesMaster" Target="/ppt/notesMasters/notesMaster1.xml" Id="R1cd2e7a72ab8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0f532f073d4a6e" /><Relationship Type="http://schemas.openxmlformats.org/officeDocument/2006/relationships/notesMaster" Target="/ppt/notesMasters/notesMaster1.xml" Id="R8c316aefba9147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8257833afe4824" /><Relationship Type="http://schemas.openxmlformats.org/officeDocument/2006/relationships/notesMaster" Target="/ppt/notesMasters/notesMaster1.xml" Id="R0eb85020652a41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12e988d2c74977" /><Relationship Type="http://schemas.openxmlformats.org/officeDocument/2006/relationships/notesMaster" Target="/ppt/notesMasters/notesMaster1.xml" Id="Re06ff005e46242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b377fb2c104d6e" /><Relationship Type="http://schemas.openxmlformats.org/officeDocument/2006/relationships/notesMaster" Target="/ppt/notesMasters/notesMaster1.xml" Id="R83cb8a0cdf4d41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36fca6032a46bf" /><Relationship Type="http://schemas.openxmlformats.org/officeDocument/2006/relationships/notesMaster" Target="/ppt/notesMasters/notesMaster1.xml" Id="R1105f0dcfe2146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bec374c1ac4f15" /><Relationship Type="http://schemas.openxmlformats.org/officeDocument/2006/relationships/notesMaster" Target="/ppt/notesMasters/notesMaster1.xml" Id="R8a54d4b0b3084e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08ec5393944bb2" /><Relationship Type="http://schemas.openxmlformats.org/officeDocument/2006/relationships/notesMaster" Target="/ppt/notesMasters/notesMaster1.xml" Id="Rcfb42be210464c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e456b6c21b4e49" /><Relationship Type="http://schemas.openxmlformats.org/officeDocument/2006/relationships/notesMaster" Target="/ppt/notesMasters/notesMaster1.xml" Id="R8728e2137a4547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f1b30c9ecb4647" /><Relationship Type="http://schemas.openxmlformats.org/officeDocument/2006/relationships/notesMaster" Target="/ppt/notesMasters/notesMaster1.xml" Id="Ra95a1d39796d4c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f570f609414ecc" /><Relationship Type="http://schemas.openxmlformats.org/officeDocument/2006/relationships/notesMaster" Target="/ppt/notesMasters/notesMaster1.xml" Id="Rb1552dee464048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67e648638b4131" /><Relationship Type="http://schemas.openxmlformats.org/officeDocument/2006/relationships/notesMaster" Target="/ppt/notesMasters/notesMaster1.xml" Id="R383f83b8fa5f41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78f84005c04202" /><Relationship Type="http://schemas.openxmlformats.org/officeDocument/2006/relationships/notesMaster" Target="/ppt/notesMasters/notesMaster1.xml" Id="R2d2b776cdf2f4d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8236e634994f49" /><Relationship Type="http://schemas.openxmlformats.org/officeDocument/2006/relationships/notesMaster" Target="/ppt/notesMasters/notesMaster1.xml" Id="Rcc7e5e2582d34a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ee0dc685ee4b31" /><Relationship Type="http://schemas.openxmlformats.org/officeDocument/2006/relationships/notesMaster" Target="/ppt/notesMasters/notesMaster1.xml" Id="R0949f0368b314c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4c9550ce7c4841" /><Relationship Type="http://schemas.openxmlformats.org/officeDocument/2006/relationships/notesMaster" Target="/ppt/notesMasters/notesMaster1.xml" Id="R2c0dd639200f4a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82c43fca084bbb" /><Relationship Type="http://schemas.openxmlformats.org/officeDocument/2006/relationships/notesMaster" Target="/ppt/notesMasters/notesMaster1.xml" Id="R781b8083acc34a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729e3078b74250" /><Relationship Type="http://schemas.openxmlformats.org/officeDocument/2006/relationships/notesMaster" Target="/ppt/notesMasters/notesMaster1.xml" Id="Rf4d4874aedb94d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6b83b428f64c4f" /><Relationship Type="http://schemas.openxmlformats.org/officeDocument/2006/relationships/notesMaster" Target="/ppt/notesMasters/notesMaster1.xml" Id="R01aa6695979345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cd3310424f4b8c" /><Relationship Type="http://schemas.openxmlformats.org/officeDocument/2006/relationships/notesMaster" Target="/ppt/notesMasters/notesMaster1.xml" Id="R7602cf0431c042b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75b47b0824461b" /><Relationship Type="http://schemas.openxmlformats.org/officeDocument/2006/relationships/notesMaster" Target="/ppt/notesMasters/notesMaster1.xml" Id="Rf9682aac5b26414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50e903f7954a8e" /><Relationship Type="http://schemas.openxmlformats.org/officeDocument/2006/relationships/notesMaster" Target="/ppt/notesMasters/notesMaster1.xml" Id="R009356f9f71547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34225571d504703" /><Relationship Type="http://schemas.openxmlformats.org/officeDocument/2006/relationships/notesMaster" Target="/ppt/notesMasters/notesMaster1.xml" Id="Rf9a0ae1b88894d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I will ask: Do receipts lower than sales establish unpaid tax? I will record the learner’s explanation before showing the answer. No. Check timing, evidence and the applicable tax question.</a:t>
            </a:r>
          </a:p>
          <a:p xmlns:a="http://schemas.openxmlformats.org/drawingml/2006/main">
            <a:r>
              <a:t/>
            </a:r>
          </a:p>
          <a:p xmlns:a="http://schemas.openxmlformats.org/drawingml/2006/main">
            <a:r>
              <a:t>Ask: Do receipts lower than sales establish unpaid tax?</a:t>
            </a:r>
          </a:p>
          <a:p xmlns:a="http://schemas.openxmlformats.org/drawingml/2006/main">
            <a:r>
              <a:t/>
            </a:r>
          </a:p>
          <a:p xmlns:a="http://schemas.openxmlformats.org/drawingml/2006/main">
            <a:r>
              <a:t>Expected answer: No. Check timing, evidence and the applicable tax question.</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Do receipts lower than sales establish unpaid tax? A supported answer should establish: No. Check timing, evidence and the applicable tax question.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reconciliation.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Ask without showing the prior result. No. Check timing, evidence and the applicable tax question. Invite a reason, then connect the answer to today’s question.</a:t>
            </a:r>
          </a:p>
          <a:p xmlns:a="http://schemas.openxmlformats.org/drawingml/2006/main">
            <a:r>
              <a:t/>
            </a:r>
          </a:p>
          <a:p xmlns:a="http://schemas.openxmlformats.org/drawingml/2006/main">
            <a:r>
              <a:t>Ask: Do receipts lower than sales establish unpaid tax?</a:t>
            </a:r>
          </a:p>
          <a:p xmlns:a="http://schemas.openxmlformats.org/drawingml/2006/main">
            <a:r>
              <a:t/>
            </a:r>
          </a:p>
          <a:p xmlns:a="http://schemas.openxmlformats.org/drawingml/2006/main">
            <a:r>
              <a:t>Expected answer: No. Check timing, evidence and the applicable tax question.</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Do receipts lower than sales establish unpaid tax? A supported answer should establish: No. Check timing, evidence and the applicable tax question.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risks we have already seen.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Recall specific demonstrations from the course. Risk management should match the actual use, affected people and consequences.</a:t>
            </a:r>
          </a:p>
          <a:p xmlns:a="http://schemas.openxmlformats.org/drawingml/2006/main">
            <a:r>
              <a:t/>
            </a:r>
          </a:p>
          <a:p xmlns:a="http://schemas.openxmlformats.org/drawingml/2006/main">
            <a:r>
              <a:t>Ask: Which failure would concern the firm most?</a:t>
            </a:r>
          </a:p>
          <a:p xmlns:a="http://schemas.openxmlformats.org/drawingml/2006/main">
            <a:r>
              <a:t/>
            </a:r>
          </a:p>
          <a:p xmlns:a="http://schemas.openxmlformats.org/drawingml/2006/main">
            <a:r>
              <a:t>Expected answer: Discuss severity and likelihood in context rather than choosing solely by technical novelty.</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Which failure would concern the firm most? A supported answer should establish: Discuss severity and likelihood in context rather than choosing solely by technical novelty.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NIST risk-management functions.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These functions overlap and repeat throughout the lifecycle. NIST is a voluntary framework and not a substitute for applicable Ugandan law or professional duties.</a:t>
            </a:r>
          </a:p>
          <a:p xmlns:a="http://schemas.openxmlformats.org/drawingml/2006/main">
            <a:r>
              <a:t/>
            </a:r>
          </a:p>
          <a:p xmlns:a="http://schemas.openxmlformats.org/drawingml/2006/main">
            <a:r>
              <a:t>Ask: Which function belongs only at the end?</a:t>
            </a:r>
          </a:p>
          <a:p xmlns:a="http://schemas.openxmlformats.org/drawingml/2006/main">
            <a:r>
              <a:t/>
            </a:r>
          </a:p>
          <a:p xmlns:a="http://schemas.openxmlformats.org/drawingml/2006/main">
            <a:r>
              <a:t>Expected answer: None. Governance and risk work continue through design, use and change.</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Which function belongs only at the end? A supported answer should establish: None. Governance and risk work continue through design, use and change.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Ugandan duties to examine.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https://airc.nist.gov/airmf-resources/airmf/5-sec-core/</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2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Use Uganda Legal Frame.txt. The original 2019 Act’s sections 19 and 29 address overseas processing and registration. Check the relevant consolidated edition. The Evidence Act provision is section 125 in the 2023 text; duties and exceptions need legal analysis. Do not infer that a vendor setting preserves privilege under Ugandan law.</a:t>
            </a:r>
          </a:p>
          <a:p xmlns:a="http://schemas.openxmlformats.org/drawingml/2006/main">
            <a:r>
              <a:t/>
            </a:r>
          </a:p>
          <a:p xmlns:a="http://schemas.openxmlformats.org/drawingml/2006/main">
            <a:r>
              <a:t>Ask: Would a vendor’s no-training promise alone settle these duties?</a:t>
            </a:r>
          </a:p>
          <a:p xmlns:a="http://schemas.openxmlformats.org/drawingml/2006/main">
            <a:r>
              <a:t/>
            </a:r>
          </a:p>
          <a:p xmlns:a="http://schemas.openxmlformats.org/drawingml/2006/main">
            <a:r>
              <a:t>Expected answer: No. Assess the actual processing, contract, permissions, applicable law and professional obligations.</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Would a vendor’s no-training promise alone settle these duties? A supported answer should establish: No. Assess the actual processing, contract, permissions, applicable law and professional obligations.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tool setting and professional permission.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https://ulii.org/en/akn/ug/act/2019/9/eng%402023-12-31 https://ulii.org/en/akn/ug/act/ord/1909/11/eng%402023-12-31 https://pdpo.go.ug/</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Do not confuse a no-training setting with complete confidentiality or legal compliance. Verify contractual terms and the configured service.</a:t>
            </a:r>
          </a:p>
          <a:p xmlns:a="http://schemas.openxmlformats.org/drawingml/2006/main">
            <a:r>
              <a:t/>
            </a:r>
          </a:p>
          <a:p xmlns:a="http://schemas.openxmlformats.org/drawingml/2006/main">
            <a:r>
              <a:t>Ask: Which questions remain after no-training is confirmed?</a:t>
            </a:r>
          </a:p>
          <a:p xmlns:a="http://schemas.openxmlformats.org/drawingml/2006/main">
            <a:r>
              <a:t/>
            </a:r>
          </a:p>
          <a:p xmlns:a="http://schemas.openxmlformats.org/drawingml/2006/main">
            <a:r>
              <a:t>Expected answer: Where content goes, who can access it, what is retained and whether the use is authorised.</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Which questions remain after no-training is confirmed? A supported answer should establish: Where content goes, who can access it, what is retained and whether the use is authorised.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Cross-matter access.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Show one permitted matter and one restricted matter. Attempted access should stop before restricted passages or revealing metadata reach the answer. Ask how an index update handles withdrawn access.</a:t>
            </a:r>
          </a:p>
          <a:p xmlns:a="http://schemas.openxmlformats.org/drawingml/2006/main">
            <a:r>
              <a:t/>
            </a:r>
          </a:p>
          <a:p xmlns:a="http://schemas.openxmlformats.org/drawingml/2006/main">
            <a:r>
              <a:t>Ask: What would count as a critical test failure?</a:t>
            </a:r>
          </a:p>
          <a:p xmlns:a="http://schemas.openxmlformats.org/drawingml/2006/main">
            <a:r>
              <a:t/>
            </a:r>
          </a:p>
          <a:p xmlns:a="http://schemas.openxmlformats.org/drawingml/2006/main">
            <a:r>
              <a:t>Expected answer: A user receiving content or sensitive metadata from a matter they cannot access.</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would count as a critical test failure? A supported answer should establish: A user receiving content or sensitive metadata from a matter they cannot access.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Prompt injection and tool misuse.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Return to the injected contract fixture. Explain why separating trusted instructions from source content matters, while acknowledging that prompt instructions alone do not solve the vulnerability.</a:t>
            </a:r>
          </a:p>
          <a:p xmlns:a="http://schemas.openxmlformats.org/drawingml/2006/main">
            <a:r>
              <a:t/>
            </a:r>
          </a:p>
          <a:p xmlns:a="http://schemas.openxmlformats.org/drawingml/2006/main">
            <a:r>
              <a:t>Ask: What should an incident record include?</a:t>
            </a:r>
          </a:p>
          <a:p xmlns:a="http://schemas.openxmlformats.org/drawingml/2006/main">
            <a:r>
              <a:t/>
            </a:r>
          </a:p>
          <a:p xmlns:a="http://schemas.openxmlformats.org/drawingml/2006/main">
            <a:r>
              <a:t>Expected answer: The source, attempted behaviour, actual action, affected data and containment steps.</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What should an incident record include? A supported answer should establish: The source, attempted behaviour, actual action, affected data and containment steps.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Bias and unequal errors.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https://nvlpubs.nist.gov/nistpubs/ai/NIST.AI.600-1.pdf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Use two equally important matter collections: clear typed English and degraded mixed-language scans. Different observed quality can result in unequal service even without an explicit protected attribute in the prompt. Investigate causes, sample sizes and remedy; do not infer group performance from one example.</a:t>
            </a:r>
          </a:p>
          <a:p xmlns:a="http://schemas.openxmlformats.org/drawingml/2006/main">
            <a:r>
              <a:t/>
            </a:r>
          </a:p>
          <a:p xmlns:a="http://schemas.openxmlformats.org/drawingml/2006/main">
            <a:r>
              <a:t>Ask: Would average accuracy reveal all problems?</a:t>
            </a:r>
          </a:p>
          <a:p xmlns:a="http://schemas.openxmlformats.org/drawingml/2006/main">
            <a:r>
              <a:t/>
            </a:r>
          </a:p>
          <a:p xmlns:a="http://schemas.openxmlformats.org/drawingml/2006/main">
            <a:r>
              <a:t>Expected answer: No. Inspect relevant subgroups and error consequences.</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Would average accuracy reveal all problems? A supported answer should establish: No. Inspect relevant subgroups and error consequences.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Meaningful human oversight.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https://nvlpubs.nist.gov/nistpubs/ai/NIST.AI.600-1.pdf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Repeated routine approval can become rubber-stamping. Discuss workload and incentives as well as technical design. AI-generated approval is not the same as human approval.</a:t>
            </a:r>
          </a:p>
          <a:p xmlns:a="http://schemas.openxmlformats.org/drawingml/2006/main">
            <a:r>
              <a:t/>
            </a:r>
          </a:p>
          <a:p xmlns:a="http://schemas.openxmlformats.org/drawingml/2006/main">
            <a:r>
              <a:t>Ask: What if the reviewer has no time to inspect the sources?</a:t>
            </a:r>
          </a:p>
          <a:p xmlns:a="http://schemas.openxmlformats.org/drawingml/2006/main">
            <a:r>
              <a:t/>
            </a:r>
          </a:p>
          <a:p xmlns:a="http://schemas.openxmlformats.org/drawingml/2006/main">
            <a:r>
              <a:t>Expected answer: Redesign scope and workload rather than treat the approval as adequate.</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if the reviewer has no time to inspect the sources? A supported answer should establish: Redesign scope and workload rather than treat the approval as adequate.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Staff use and shadow AI.</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Ask what staff need to complete common tasks safely. The solution includes practical access and supervision rather than a policy document alone.</a:t>
            </a:r>
          </a:p>
          <a:p xmlns:a="http://schemas.openxmlformats.org/drawingml/2006/main">
            <a:r>
              <a:t/>
            </a:r>
          </a:p>
          <a:p xmlns:a="http://schemas.openxmlformats.org/drawingml/2006/main">
            <a:r>
              <a:t>Ask: What would you ask staff before writing rules?</a:t>
            </a:r>
          </a:p>
          <a:p xmlns:a="http://schemas.openxmlformats.org/drawingml/2006/main">
            <a:r>
              <a:t/>
            </a:r>
          </a:p>
          <a:p xmlns:a="http://schemas.openxmlformats.org/drawingml/2006/main">
            <a:r>
              <a:t>Expected answer: Which tasks they perform, tools used, information shared and obstacles encountered.</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What would you ask staff before writing rules? A supported answer should establish: Which tasks they perform, tools used, information shared and obstacles encountered.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Operational and commercial risks.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The firm needs operating responsibilities and realistic support. A successful pilot is not a maintenance plan.</a:t>
            </a:r>
          </a:p>
          <a:p xmlns:a="http://schemas.openxmlformats.org/drawingml/2006/main">
            <a:r>
              <a:t/>
            </a:r>
          </a:p>
          <a:p xmlns:a="http://schemas.openxmlformats.org/drawingml/2006/main">
            <a:r>
              <a:t>Ask: Who owns a recurring failure after the trainer leaves?</a:t>
            </a:r>
          </a:p>
          <a:p xmlns:a="http://schemas.openxmlformats.org/drawingml/2006/main">
            <a:r>
              <a:t/>
            </a:r>
          </a:p>
          <a:p xmlns:a="http://schemas.openxmlformats.org/drawingml/2006/main">
            <a:r>
              <a:t>Expected answer: A designated workflow owner with an escalation and support arrangement.</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Who owns a recurring failure after the trainer leaves? A supported answer should establish: A designated workflow owner with an escalation and support arrangement.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risk register with a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Use the blank AI Risk Register.csv. We complete a few material risks in class, not every hypothetical risk.</a:t>
            </a:r>
          </a:p>
          <a:p xmlns:a="http://schemas.openxmlformats.org/drawingml/2006/main">
            <a:r>
              <a:t/>
            </a:r>
          </a:p>
          <a:p xmlns:a="http://schemas.openxmlformats.org/drawingml/2006/main">
            <a:r>
              <a:t>Ask: What distinguishes an action from a completed control?</a:t>
            </a:r>
          </a:p>
          <a:p xmlns:a="http://schemas.openxmlformats.org/drawingml/2006/main">
            <a:r>
              <a:t/>
            </a:r>
          </a:p>
          <a:p xmlns:a="http://schemas.openxmlformats.org/drawingml/2006/main">
            <a:r>
              <a:t>Expected answer: Evidence that the action was implemented and worked in the relevant tests.</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distinguishes an action from a completed control? A supported answer should establish: Evidence that the action was implemented and worked in the relevant tests.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An incident in our matter.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Treat the situation as an exercise. Stop the affected access path, preserve relevant evidence, identify recipients and assess legal and contractual responses through designated people.</a:t>
            </a:r>
          </a:p>
          <a:p xmlns:a="http://schemas.openxmlformats.org/drawingml/2006/main">
            <a:r>
              <a:t/>
            </a:r>
          </a:p>
          <a:p xmlns:a="http://schemas.openxmlformats.org/drawingml/2006/main">
            <a:r>
              <a:t>Ask: What would you do before restarting?</a:t>
            </a:r>
          </a:p>
          <a:p xmlns:a="http://schemas.openxmlformats.org/drawingml/2006/main">
            <a:r>
              <a:t/>
            </a:r>
          </a:p>
          <a:p xmlns:a="http://schemas.openxmlformats.org/drawingml/2006/main">
            <a:r>
              <a:t>Expected answer: Investigate the scope, correct controls, retest and obtain the appropriate restart decision.</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What would you do before restarting? A supported answer should establish: Investigate the scope, correct controls, retest and obtain the appropriate restart decision.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Response and recovery.</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Notification duties depend on facts, law and terms. Do not invent a universal notification deadline. Include communication with responsible legal, privacy and technical people.</a:t>
            </a:r>
          </a:p>
          <a:p xmlns:a="http://schemas.openxmlformats.org/drawingml/2006/main">
            <a:r>
              <a:t/>
            </a:r>
          </a:p>
          <a:p xmlns:a="http://schemas.openxmlformats.org/drawingml/2006/main">
            <a:r>
              <a:t>Ask: Does restoring service close the incident?</a:t>
            </a:r>
          </a:p>
          <a:p xmlns:a="http://schemas.openxmlformats.org/drawingml/2006/main">
            <a:r>
              <a:t/>
            </a:r>
          </a:p>
          <a:p xmlns:a="http://schemas.openxmlformats.org/drawingml/2006/main">
            <a:r>
              <a:t>Expected answer: No. Record causes, corrective action and monitoring.</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Does restoring service close the incident? A supported answer should establish: No. Record causes, corrective action and monitoring.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Governance responsibilities.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https://airc.nist.gov/airmf-resources/airmf/5-sec-core/ https://pdpo.go.ug/knowledge-center</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One person may hold several roles, but responsibilities should remain explicit. Identify where independent review matters.</a:t>
            </a:r>
          </a:p>
          <a:p xmlns:a="http://schemas.openxmlformats.org/drawingml/2006/main">
            <a:r>
              <a:t/>
            </a:r>
          </a:p>
          <a:p xmlns:a="http://schemas.openxmlformats.org/drawingml/2006/main">
            <a:r>
              <a:t>Ask: Who can expand the agent’s permissions?</a:t>
            </a:r>
          </a:p>
          <a:p xmlns:a="http://schemas.openxmlformats.org/drawingml/2006/main">
            <a:r>
              <a:t/>
            </a:r>
          </a:p>
          <a:p xmlns:a="http://schemas.openxmlformats.org/drawingml/2006/main">
            <a:r>
              <a:t>Expected answer: The designated authority under the change and access process.</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Who can expand the agent’s permissions? A supported answer should establish: The designated authority under the change and access process.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Inspect the worked three-risk register and replace one control that would not fit the firm.</a:t>
            </a:r>
          </a:p>
          <a:p xmlns:a="http://schemas.openxmlformats.org/drawingml/2006/main">
            <a:r>
              <a:t/>
            </a:r>
          </a:p>
          <a:p xmlns:a="http://schemas.openxmlformats.org/drawingml/2006/main">
            <a:r>
              <a:t>Expected answer: Privacy, professional confidentiality, quality and action authority are distinct risks. Each control needs an owner and a test. Incident response starts with containment and assessment, not a guessed universal reporting deadline.</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Before we begin: Inspect the worked three-risk register and replace one control that would not fit the firm. A supported answer should establish: Privacy, professional confidentiality, quality and action authority are distinct risks. Each control needs an owner and a test. Incident response starts with containment and assessment, not a guessed universal reporting deadline.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legal frame is a sourced teaching aid, not an opinion that a particular product or configuration complies.</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Which part of today’s result remains unverified? A supported answer should establish: The legal frame is a sourced teaching aid, not an opinion that a particular product or configuration complies.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Approve a proportionate pilot policy and assign risk, information, technical and practice owners. Revisit if the evidence, quality or permitted scope changes.</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evidence would change this proposed decision? A supported answer should establish: Approve a proportionate pilot policy and assign risk, information, technical and practice owners.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Ask these changed-fact questions before opening the answer key. Check retention, access, contracts, location and permission. Measure relevant group quality and effects, with adequate samples. Contain the affected route and preserve evidence while assessing recipients and duties.</a:t>
            </a:r>
          </a:p>
          <a:p xmlns:a="http://schemas.openxmlformats.org/drawingml/2006/main">
            <a:r>
              <a:t/>
            </a:r>
          </a:p>
          <a:p xmlns:a="http://schemas.openxmlformats.org/drawingml/2006/main">
            <a:r>
              <a:t>Ask: A new governance decision</a:t>
            </a:r>
          </a:p>
          <a:p xmlns:a="http://schemas.openxmlformats.org/drawingml/2006/main">
            <a:r>
              <a:t/>
            </a:r>
          </a:p>
          <a:p xmlns:a="http://schemas.openxmlformats.org/drawingml/2006/main">
            <a:r>
              <a:t>Expected answer: Check retention, access, contracts, location and permission. Measure relevant group quality and effects, with adequate samples. Contain the affected route and preserve evidence while assessing recipients and duties.</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A new governance decision A supported answer should establish: Check retention, access, contracts, location and permission. Measure relevant group quality and effects, with adequate samples. Contain the affected route and preserve evidence while assessing recipients and duties.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12: Leading implementation and evaluating a pilot.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Keep confidentiality, personal-data duties, privilege and intellectual property distinct. They can overlap but one control does not answer all four questions.</a:t>
            </a:r>
          </a:p>
          <a:p xmlns:a="http://schemas.openxmlformats.org/drawingml/2006/main">
            <a:r>
              <a:t/>
            </a:r>
          </a:p>
          <a:p xmlns:a="http://schemas.openxmlformats.org/drawingml/2006/main">
            <a:r>
              <a:t>Ask: Would removal of names resolve every concern?</a:t>
            </a:r>
          </a:p>
          <a:p xmlns:a="http://schemas.openxmlformats.org/drawingml/2006/main">
            <a:r>
              <a:t/>
            </a:r>
          </a:p>
          <a:p xmlns:a="http://schemas.openxmlformats.org/drawingml/2006/main">
            <a:r>
              <a:t>Expected answer: No. Matter sensitivity, identifiability and professional duties may remain.</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Would removal of names resolve every concern? A supported answer should establish: No. Matter sensitivity, identifiability and professional duties may remain.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https://pdpo.go.ug/knowledge-center https://ulii.org/en/akn/ug/act/ord/1909/11/eng%402023-12-31 https://www.wipo.int/documents/d/frontier-technologies/docs-en-pdf-generative-ai-factsheet.pdf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Use PDPO guidance as a local starting point. A public course cannot settle a particular firm’s compliance position without its facts.</a:t>
            </a:r>
          </a:p>
          <a:p xmlns:a="http://schemas.openxmlformats.org/drawingml/2006/main">
            <a:r>
              <a:t/>
            </a:r>
          </a:p>
          <a:p xmlns:a="http://schemas.openxmlformats.org/drawingml/2006/main">
            <a:r>
              <a:t>Ask: What should precede connecting a client repository?</a:t>
            </a:r>
          </a:p>
          <a:p xmlns:a="http://schemas.openxmlformats.org/drawingml/2006/main">
            <a:r>
              <a:t/>
            </a:r>
          </a:p>
          <a:p xmlns:a="http://schemas.openxmlformats.org/drawingml/2006/main">
            <a:r>
              <a:t>Expected answer: A documented purpose, information and access assessment with the appropriate responsible people.</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should precede connecting a client repository? A supported answer should establish: A documented purpose, information and access assessment with the appropriate responsible people.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https://pdpo.go.ug/knowledge-center</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Match each mitigation to an observed failure rather than use a generic safety checklist. Test both ordinary and difficult examples.</a:t>
            </a:r>
          </a:p>
          <a:p xmlns:a="http://schemas.openxmlformats.org/drawingml/2006/main">
            <a:r>
              <a:t/>
            </a:r>
          </a:p>
          <a:p xmlns:a="http://schemas.openxmlformats.org/drawingml/2006/main">
            <a:r>
              <a:t>Ask: Which control addresses an old indexed draft?</a:t>
            </a:r>
          </a:p>
          <a:p xmlns:a="http://schemas.openxmlformats.org/drawingml/2006/main">
            <a:r>
              <a:t/>
            </a:r>
          </a:p>
          <a:p xmlns:a="http://schemas.openxmlformats.org/drawingml/2006/main">
            <a:r>
              <a:t>Expected answer: Version controls, source refresh and retrieval tests.</a:t>
            </a:r>
          </a:p>
          <a:p xmlns:a="http://schemas.openxmlformats.org/drawingml/2006/main">
            <a:r>
              <a:t/>
            </a:r>
          </a:p>
          <a:p xmlns:a="http://schemas.openxmlformats.org/drawingml/2006/main">
            <a:r>
              <a:t>If partly correct: Likely confusion: A reviewer removes every risk. I will clarify: Ask whether they had evidence, time, competence and a real ability to stop the action. Then return to this slide’s question: Which control addresses an old indexed draft? A supported answer should establish: Version controls, source refresh and retrieval tests.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The objective is responsible useful adoption. Avoid a single rigid process for every low-risk task or assuming that a senior user makes every use low risk.</a:t>
            </a:r>
          </a:p>
          <a:p xmlns:a="http://schemas.openxmlformats.org/drawingml/2006/main">
            <a:r>
              <a:t/>
            </a:r>
          </a:p>
          <a:p xmlns:a="http://schemas.openxmlformats.org/drawingml/2006/main">
            <a:r>
              <a:t>Ask: What increases the control requirement?</a:t>
            </a:r>
          </a:p>
          <a:p xmlns:a="http://schemas.openxmlformats.org/drawingml/2006/main">
            <a:r>
              <a:t/>
            </a:r>
          </a:p>
          <a:p xmlns:a="http://schemas.openxmlformats.org/drawingml/2006/main">
            <a:r>
              <a:t>Expected answer: Sensitive data, consequential decisions, external actions and wider autonomy.</a:t>
            </a:r>
          </a:p>
          <a:p xmlns:a="http://schemas.openxmlformats.org/drawingml/2006/main">
            <a:r>
              <a:t/>
            </a:r>
          </a:p>
          <a:p xmlns:a="http://schemas.openxmlformats.org/drawingml/2006/main">
            <a:r>
              <a:t>If partly correct: Likely confusion: A generic policy is enough. I will clarify: Assign a control owner and test the restricted-matter incident before restart. Then return to this slide’s question: What increases the control requirement? A supported answer should establish: Sensitive data, consequential decisions, external actions and wider autonomy.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rules, owners and evidence should govern AI use in the firm?</a:t>
            </a:r>
          </a:p>
          <a:p xmlns:a="http://schemas.openxmlformats.org/drawingml/2006/main">
            <a:r>
              <a:t/>
            </a:r>
          </a:p>
          <a:p xmlns:a="http://schemas.openxmlformats.org/drawingml/2006/main">
            <a:r>
              <a:t>I will explain: Return to the candidate pilot. The learner should be able to explain what she is authorising and what remains out of scope.</a:t>
            </a:r>
          </a:p>
          <a:p xmlns:a="http://schemas.openxmlformats.org/drawingml/2006/main">
            <a:r>
              <a:t/>
            </a:r>
          </a:p>
          <a:p xmlns:a="http://schemas.openxmlformats.org/drawingml/2006/main">
            <a:r>
              <a:t>Ask: What would an acceptable risk decision contain?</a:t>
            </a:r>
          </a:p>
          <a:p xmlns:a="http://schemas.openxmlformats.org/drawingml/2006/main">
            <a:r>
              <a:t/>
            </a:r>
          </a:p>
          <a:p xmlns:a="http://schemas.openxmlformats.org/drawingml/2006/main">
            <a:r>
              <a:t>Expected answer: The use, evidence, remaining risks, conditions, owner and review date.</a:t>
            </a:r>
          </a:p>
          <a:p xmlns:a="http://schemas.openxmlformats.org/drawingml/2006/main">
            <a:r>
              <a:t/>
            </a:r>
          </a:p>
          <a:p xmlns:a="http://schemas.openxmlformats.org/drawingml/2006/main">
            <a:r>
              <a:t>If partly correct: Likely confusion: No-training settles confidentiality. I will clarify: Separate training, retention, access, location, contracts and professional permission. Then return to this slide’s question: What would an acceptable risk decision contain? A supported answer should establish: The use, evidence, remaining risks, conditions, owner and review date.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b630e4c97c40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50d4ec9c3b4a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8b12ca595b46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fdcd8cb3794d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b62355c68549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c3e97d1a334d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0CB78E-F1D6-4319-933D-90FB359C8C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AC9AB1-FFF5-45F0-BD67-E4D2EBE624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389694-EB71-4FD8-82A9-D5E578AF76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E12D37-B2D2-4F82-9DF5-48D7EC5F95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EBD8D8-6BFC-444A-8A54-0EB2ABE275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4FC07D-9242-4885-85B3-86693EC77F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E70504-C763-41DC-8054-3AAB1E38E7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D4F4A7-4F74-43CD-8790-42EFD04F4C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8B15A8-A536-4B72-BF92-37D818A9D0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1D0BBC-C2E2-4C20-8E11-297CAB48A3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913981fc0944e1" /><Relationship Type="http://schemas.openxmlformats.org/officeDocument/2006/relationships/slideLayout" Target="/ppt/slideLayouts/slideLayout1.xml" Id="Rbb8b7e2598cd4030" /><Relationship Type="http://schemas.openxmlformats.org/officeDocument/2006/relationships/slideLayout" Target="/ppt/slideLayouts/slideLayout2.xml" Id="R3d7888452aa44e3f" /><Relationship Type="http://schemas.openxmlformats.org/officeDocument/2006/relationships/slideLayout" Target="/ppt/slideLayouts/slideLayout3.xml" Id="R58b3df2df7ef41ef" /><Relationship Type="http://schemas.openxmlformats.org/officeDocument/2006/relationships/slideLayout" Target="/ppt/slideLayouts/slideLayout4.xml" Id="Rd9e8fe7440424251" /><Relationship Type="http://schemas.openxmlformats.org/officeDocument/2006/relationships/slideLayout" Target="/ppt/slideLayouts/slideLayout5.xml" Id="Rd7efe28ddb6a4617" /><Relationship Type="http://schemas.openxmlformats.org/officeDocument/2006/relationships/slideLayout" Target="/ppt/slideLayouts/slideLayout6.xml" Id="R1d8776e68b5f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8b7e2598cd4030"/>
    <p:sldLayoutId xmlns:r="http://schemas.openxmlformats.org/officeDocument/2006/relationships" id="2147483650" r:id="R3d7888452aa44e3f"/>
    <p:sldLayoutId xmlns:r="http://schemas.openxmlformats.org/officeDocument/2006/relationships" id="2147483651" r:id="R58b3df2df7ef41ef"/>
    <p:sldLayoutId xmlns:r="http://schemas.openxmlformats.org/officeDocument/2006/relationships" id="2147483652" r:id="Rd9e8fe7440424251"/>
    <p:sldLayoutId xmlns:r="http://schemas.openxmlformats.org/officeDocument/2006/relationships" id="2147483653" r:id="Rd7efe28ddb6a4617"/>
    <p:sldLayoutId xmlns:r="http://schemas.openxmlformats.org/officeDocument/2006/relationships" id="2147483654" r:id="R1d8776e68b5f46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df7bdf420c4c0e" /><Relationship Type="http://schemas.openxmlformats.org/officeDocument/2006/relationships/notesSlide" Target="/ppt/notesSlides/notesSlide1.xml" Id="Rdac400d3ada441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a1c2c6284b41fc" /><Relationship Type="http://schemas.openxmlformats.org/officeDocument/2006/relationships/notesSlide" Target="/ppt/notesSlides/notesSlide2.xml" Id="R46c5b4162baa4e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020b83174f4414" /><Relationship Type="http://schemas.openxmlformats.org/officeDocument/2006/relationships/notesSlide" Target="/ppt/notesSlides/notesSlide3.xml" Id="Rcb4c2e8b5fa143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e2f4068fe5443b" /><Relationship Type="http://schemas.openxmlformats.org/officeDocument/2006/relationships/notesSlide" Target="/ppt/notesSlides/notesSlide4.xml" Id="R425ddc1d7a9441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adce31a88f441a" /><Relationship Type="http://schemas.openxmlformats.org/officeDocument/2006/relationships/notesSlide" Target="/ppt/notesSlides/notesSlide5.xml" Id="R1809c89aa0994d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b0092e8d434d37" /><Relationship Type="http://schemas.openxmlformats.org/officeDocument/2006/relationships/notesSlide" Target="/ppt/notesSlides/notesSlide6.xml" Id="Rbd2bf2584d2443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32bcd4f2264845" /><Relationship Type="http://schemas.openxmlformats.org/officeDocument/2006/relationships/notesSlide" Target="/ppt/notesSlides/notesSlide7.xml" Id="R859f927cf1804d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d19ed06a5848cd" /><Relationship Type="http://schemas.openxmlformats.org/officeDocument/2006/relationships/notesSlide" Target="/ppt/notesSlides/notesSlide8.xml" Id="Rcb92403dd2d743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4599f670aa43e6" /><Relationship Type="http://schemas.openxmlformats.org/officeDocument/2006/relationships/notesSlide" Target="/ppt/notesSlides/notesSlide9.xml" Id="R1de96031c87f41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730168a9664a3b" /><Relationship Type="http://schemas.openxmlformats.org/officeDocument/2006/relationships/notesSlide" Target="/ppt/notesSlides/notesSlide10.xml" Id="Rd398e185b7934c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a714eb3a8e4e80" /><Relationship Type="http://schemas.openxmlformats.org/officeDocument/2006/relationships/notesSlide" Target="/ppt/notesSlides/notesSlide11.xml" Id="R18e283ce394143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edcec1041f4b3a" /><Relationship Type="http://schemas.openxmlformats.org/officeDocument/2006/relationships/notesSlide" Target="/ppt/notesSlides/notesSlide12.xml" Id="R47d10ef1f7e341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6ebe38d7654190" /><Relationship Type="http://schemas.openxmlformats.org/officeDocument/2006/relationships/notesSlide" Target="/ppt/notesSlides/notesSlide13.xml" Id="R094f665d73324c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13cff1d9044469" /><Relationship Type="http://schemas.openxmlformats.org/officeDocument/2006/relationships/notesSlide" Target="/ppt/notesSlides/notesSlide14.xml" Id="R5c31bd2f8d8043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7bcb37449554559" /><Relationship Type="http://schemas.openxmlformats.org/officeDocument/2006/relationships/notesSlide" Target="/ppt/notesSlides/notesSlide15.xml" Id="Rc845b2f8677447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139a94cc1b45de" /><Relationship Type="http://schemas.openxmlformats.org/officeDocument/2006/relationships/notesSlide" Target="/ppt/notesSlides/notesSlide16.xml" Id="Racceac74052f4a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d02a65f80a4507" /><Relationship Type="http://schemas.openxmlformats.org/officeDocument/2006/relationships/notesSlide" Target="/ppt/notesSlides/notesSlide17.xml" Id="R4811064fc9e946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22398e0a1c34558" /><Relationship Type="http://schemas.openxmlformats.org/officeDocument/2006/relationships/notesSlide" Target="/ppt/notesSlides/notesSlide18.xml" Id="R4455621f665f44c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ba42b05a3964608" /><Relationship Type="http://schemas.openxmlformats.org/officeDocument/2006/relationships/notesSlide" Target="/ppt/notesSlides/notesSlide19.xml" Id="Rd4e655ffe16f4b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bd029858c314923" /><Relationship Type="http://schemas.openxmlformats.org/officeDocument/2006/relationships/notesSlide" Target="/ppt/notesSlides/notesSlide20.xml" Id="R7addf105210242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076116fd4cd4ddc" /><Relationship Type="http://schemas.openxmlformats.org/officeDocument/2006/relationships/notesSlide" Target="/ppt/notesSlides/notesSlide21.xml" Id="R28b5a5ed2b544c0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d921c84b2e64d93" /><Relationship Type="http://schemas.openxmlformats.org/officeDocument/2006/relationships/notesSlide" Target="/ppt/notesSlides/notesSlide22.xml" Id="Re13a40866c39442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5324e7f642149a4" /><Relationship Type="http://schemas.openxmlformats.org/officeDocument/2006/relationships/notesSlide" Target="/ppt/notesSlides/notesSlide23.xml" Id="Rfaa7d057ffac477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4f959ef049443e" /><Relationship Type="http://schemas.openxmlformats.org/officeDocument/2006/relationships/notesSlide" Target="/ppt/notesSlides/notesSlide24.xml" Id="Rdbc38119385843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df764ffab414fc6" /><Relationship Type="http://schemas.openxmlformats.org/officeDocument/2006/relationships/notesSlide" Target="/ppt/notesSlides/notesSlide25.xml" Id="R0c2e93ee495342a8"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Organisational risk and governance">
    <p:bg>
      <p:bgPr>
        <a:solidFill>
          <a:srgbClr val="1C3144"/>
        </a:solidFill>
      </p:bgPr>
    </p:bg>
    <p:spTree>
      <p:nvGrpSpPr>
        <p:cNvPr id="1" name=""/>
        <p:cNvGrpSpPr/>
        <p:nvPr/>
      </p:nvGrpSpPr>
      <p:grpSpPr>
        <a:xfrm/>
      </p:grpSpPr>
      <p:sp>
        <p:nvSpPr>
          <p:cNvPr id="5" name="text-213">
            <a:extLst>
              <a:ext uri="{FF2B5EF4-FFF2-40B4-BE49-F238E27FC236}">
                <ns2:creationId id="{B4F35C58-798D-4CA7-807A-EF16AB30A49C}"/>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11</a:t>
            </a:r>
          </a:p>
        </p:txBody>
      </p:sp>
      <p:sp>
        <p:nvSpPr>
          <p:cNvPr id="2" name="text-214">
            <a:extLst>
              <a:ext uri="{FF2B5EF4-FFF2-40B4-BE49-F238E27FC236}">
                <ns2:creationId id="{61B42809-A873-4803-BF3B-203E964AD197}"/>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Organisational risk and governance</a:t>
            </a:r>
          </a:p>
        </p:txBody>
      </p:sp>
      <p:sp>
        <p:nvSpPr>
          <p:cNvPr id="3" name="text-215">
            <a:extLst>
              <a:ext uri="{FF2B5EF4-FFF2-40B4-BE49-F238E27FC236}">
                <ns2:creationId id="{0D10ACE7-6098-46EB-85DF-EF4266AF367A}"/>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rules, owners and evidence should govern AI use in the firm?</a:t>
            </a:r>
          </a:p>
        </p:txBody>
      </p:sp>
      <p:sp>
        <p:nvSpPr>
          <p:cNvPr id="4" name="text-216">
            <a:extLst>
              <a:ext uri="{FF2B5EF4-FFF2-40B4-BE49-F238E27FC236}">
                <ns2:creationId id="{39BD462B-40B6-42B1-AE0B-29BE4A66E6B5}"/>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199926628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conciliation">
    <p:bg>
      <p:bgPr>
        <a:solidFill>
          <a:srgbClr val="FFFFFF"/>
        </a:solidFill>
      </p:bgPr>
    </p:bg>
    <p:spTree>
      <p:nvGrpSpPr>
        <p:cNvPr id="1" name=""/>
        <p:cNvGrpSpPr/>
        <p:nvPr/>
      </p:nvGrpSpPr>
      <p:grpSpPr>
        <a:xfrm/>
      </p:grpSpPr>
      <p:sp>
        <p:nvSpPr>
          <p:cNvPr id="9" name="text-217">
            <a:extLst>
              <a:ext uri="{FF2B5EF4-FFF2-40B4-BE49-F238E27FC236}">
                <ns2:creationId id="{EC763F8E-1875-4BBA-B7F7-F0E3BA281C9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18">
            <a:extLst>
              <a:ext uri="{FF2B5EF4-FFF2-40B4-BE49-F238E27FC236}">
                <ns2:creationId id="{98A6F672-9D77-454E-903C-32E1B07E544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reconciliation</a:t>
            </a:r>
          </a:p>
        </p:txBody>
      </p:sp>
      <p:sp>
        <p:nvSpPr>
          <p:cNvPr id="4" name="text-220">
            <a:extLst>
              <a:ext uri="{FF2B5EF4-FFF2-40B4-BE49-F238E27FC236}">
                <ns2:creationId id="{683C0533-5330-4280-80C0-3160F125A856}"/>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10</a:t>
            </a:r>
          </a:p>
        </p:txBody>
      </p:sp>
      <p:sp>
        <p:nvSpPr>
          <p:cNvPr id="5" name="text-221">
            <a:extLst>
              <a:ext uri="{FF2B5EF4-FFF2-40B4-BE49-F238E27FC236}">
                <ns2:creationId id="{EAE4EC4A-D051-48DB-B26B-DF651207630A}"/>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Do receipts lower than sales establish unpaid tax?</a:t>
            </a:r>
          </a:p>
        </p:txBody>
      </p:sp>
      <p:sp>
        <p:nvSpPr>
          <p:cNvPr id="6" name="text-222">
            <a:extLst>
              <a:ext uri="{FF2B5EF4-FFF2-40B4-BE49-F238E27FC236}">
                <ns2:creationId id="{302C1590-BAB5-4E22-84DF-D7CACC97C027}"/>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223">
            <a:extLst>
              <a:ext uri="{FF2B5EF4-FFF2-40B4-BE49-F238E27FC236}">
                <ns2:creationId id="{5DDD959F-102D-4776-8F60-0374C4578E18}"/>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rules, owners and evidence should govern AI use in the firm?</a:t>
            </a:r>
          </a:p>
        </p:txBody>
      </p:sp>
      <p:sp>
        <p:nvSpPr>
          <p:cNvPr id="8" name="text-224">
            <a:extLst>
              <a:ext uri="{FF2B5EF4-FFF2-40B4-BE49-F238E27FC236}">
                <ns2:creationId id="{02437783-9AEC-47F0-AD07-1675FD5971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reviewed use rule, three-risk register and incident decision.</a:t>
            </a:r>
          </a:p>
        </p:txBody>
      </p:sp>
      <p:sp>
        <p:nvSpPr>
          <p:cNvPr id="3" name="text-219">
            <a:extLst>
              <a:ext uri="{FF2B5EF4-FFF2-40B4-BE49-F238E27FC236}">
                <ns2:creationId id="{A3F79843-43EE-40C2-A09C-E493F696F79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a:t>
            </a:r>
          </a:p>
        </p:txBody>
      </p:sp>
    </p:spTree>
    <p:extLst>
      <p:ext uri="{BB962C8B-B14F-4D97-AF65-F5344CB8AC3E}">
        <ns3:creationId val="91326275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risks we have already seen">
    <p:bg>
      <p:bgPr>
        <a:solidFill>
          <a:srgbClr val="FFFFFF"/>
        </a:solidFill>
      </p:bgPr>
    </p:bg>
    <p:spTree>
      <p:nvGrpSpPr>
        <p:cNvPr id="1" name=""/>
        <p:cNvGrpSpPr/>
        <p:nvPr/>
      </p:nvGrpSpPr>
      <p:grpSpPr>
        <a:xfrm/>
      </p:grpSpPr>
      <p:sp>
        <p:nvSpPr>
          <p:cNvPr id="12" name="text-225">
            <a:extLst>
              <a:ext uri="{FF2B5EF4-FFF2-40B4-BE49-F238E27FC236}">
                <ns2:creationId id="{8EA86730-A105-4AF9-ABAD-FAC65D8E4E3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26">
            <a:extLst>
              <a:ext uri="{FF2B5EF4-FFF2-40B4-BE49-F238E27FC236}">
                <ns2:creationId id="{991194F2-4AF7-4750-936F-2CDDDDEB91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risks we have already seen</a:t>
            </a:r>
          </a:p>
        </p:txBody>
      </p:sp>
      <p:sp>
        <p:nvSpPr>
          <p:cNvPr id="4" name="text-228">
            <a:extLst>
              <a:ext uri="{FF2B5EF4-FFF2-40B4-BE49-F238E27FC236}">
                <ns2:creationId id="{C95103C4-24B6-4F99-93F3-15C6451262B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29">
            <a:extLst>
              <a:ext uri="{FF2B5EF4-FFF2-40B4-BE49-F238E27FC236}">
                <ns2:creationId id="{982B46F9-9FE6-4248-B293-AA88845179F5}"/>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clause exception disappears.</a:t>
            </a:r>
          </a:p>
        </p:txBody>
      </p:sp>
      <p:sp>
        <p:nvSpPr>
          <p:cNvPr id="6" name="text-230">
            <a:extLst>
              <a:ext uri="{FF2B5EF4-FFF2-40B4-BE49-F238E27FC236}">
                <ns2:creationId id="{1DE9E560-1ABF-46D9-97BA-BFE3726227F5}"/>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31">
            <a:extLst>
              <a:ext uri="{FF2B5EF4-FFF2-40B4-BE49-F238E27FC236}">
                <ns2:creationId id="{0B52AB9B-8B08-4340-A2BF-8BB60F63FE91}"/>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search returns a restricted or old source.</a:t>
            </a:r>
          </a:p>
        </p:txBody>
      </p:sp>
      <p:sp>
        <p:nvSpPr>
          <p:cNvPr id="8" name="text-232">
            <a:extLst>
              <a:ext uri="{FF2B5EF4-FFF2-40B4-BE49-F238E27FC236}">
                <ns2:creationId id="{59B51A8F-8B51-4D38-970C-F51A4B161976}"/>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33">
            <a:extLst>
              <a:ext uri="{FF2B5EF4-FFF2-40B4-BE49-F238E27FC236}">
                <ns2:creationId id="{187C8094-C0B4-447B-A0AC-AA49D49CAFCA}"/>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research note overstates authority.</a:t>
            </a:r>
          </a:p>
        </p:txBody>
      </p:sp>
      <p:sp>
        <p:nvSpPr>
          <p:cNvPr id="10" name="text-234">
            <a:extLst>
              <a:ext uri="{FF2B5EF4-FFF2-40B4-BE49-F238E27FC236}">
                <ns2:creationId id="{D4694E1C-92E1-4390-A367-1A60D568D793}"/>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35">
            <a:extLst>
              <a:ext uri="{FF2B5EF4-FFF2-40B4-BE49-F238E27FC236}">
                <ns2:creationId id="{EA9EA557-42BD-47C5-8578-F9E37AE3A420}"/>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automation prepares an unauthorised action.</a:t>
            </a:r>
          </a:p>
        </p:txBody>
      </p:sp>
      <p:sp>
        <p:nvSpPr>
          <p:cNvPr id="3" name="text-227">
            <a:extLst>
              <a:ext uri="{FF2B5EF4-FFF2-40B4-BE49-F238E27FC236}">
                <ns2:creationId id="{74AF982E-CD82-40D2-9243-904B9D62C01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3</a:t>
            </a:r>
          </a:p>
        </p:txBody>
      </p:sp>
    </p:spTree>
    <p:extLst>
      <p:ext uri="{BB962C8B-B14F-4D97-AF65-F5344CB8AC3E}">
        <ns3:creationId val="422542768"/>
      </p:ext>
    </p:extLst>
  </p:cSld>
  <p:transition spd="med" advClick="1">
    <p:fade/>
  </p:transition>
</p:sld>
</file>

<file path=ppt/slides/slide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NIST risk-management functions">
    <p:bg>
      <p:bgPr>
        <a:solidFill>
          <a:srgbClr val="FFFFFF"/>
        </a:solidFill>
      </p:bgPr>
    </p:bg>
    <p:spTree>
      <p:nvGrpSpPr>
        <p:cNvPr id="1" name=""/>
        <p:cNvGrpSpPr/>
        <p:nvPr/>
      </p:nvGrpSpPr>
      <p:grpSpPr>
        <a:xfrm/>
      </p:grpSpPr>
      <p:sp>
        <p:nvSpPr>
          <p:cNvPr id="16" name="text-236">
            <a:extLst>
              <a:ext uri="{FF2B5EF4-FFF2-40B4-BE49-F238E27FC236}">
                <ns2:creationId id="{A418B920-A529-4498-8692-9B1E4E3274B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37">
            <a:extLst>
              <a:ext uri="{FF2B5EF4-FFF2-40B4-BE49-F238E27FC236}">
                <ns2:creationId id="{4A52FD57-D4CD-49F0-B879-A097278A095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NIST risk-management functions</a:t>
            </a:r>
          </a:p>
        </p:txBody>
      </p:sp>
      <p:sp>
        <p:nvSpPr>
          <p:cNvPr id="4" name="reveal-01-govern" descr="NIST risk-management functions">
            <a:extLst>
              <a:ext uri="{FF2B5EF4-FFF2-40B4-BE49-F238E27FC236}">
                <ns2:creationId id="{F6931589-82E8-4D05-8A12-17E661000FFB}"/>
              </a:ext>
            </a:extLst>
          </p:cNvPr>
          <p:cNvSpPr>
            <a:spLocks noGrp="1"/>
          </p:cNvSpPr>
          <p:nvPr/>
        </p:nvSpPr>
        <p:spPr>
          <a:xfrm>
            <a:off x="619125" y="2000250"/>
            <a:ext cx="10953750" cy="800100"/>
          </a:xfrm>
          <a:prstGeom prst="rect">
            <a:avLst/>
          </a:prstGeom>
          <a:solidFill>
            <a:srgbClr val="E9F3F0"/>
          </a:solidFill>
          <a:ln w="11430">
            <a:solidFill>
              <a:srgbClr val="C9D5DA"/>
            </a:solidFill>
          </a:ln>
        </p:spPr>
      </p:sp>
      <p:sp>
        <p:nvSpPr>
          <p:cNvPr id="5" name="reveal-01-govern-label">
            <a:extLst>
              <a:ext uri="{FF2B5EF4-FFF2-40B4-BE49-F238E27FC236}">
                <ns2:creationId id="{91B3284A-F355-4419-9389-2ABD1AF2C1DE}"/>
              </a:ext>
            </a:extLst>
          </p:cNvPr>
          <p:cNvSpPr>
            <a:spLocks noGrp="1"/>
          </p:cNvSpPr>
          <p:nvPr/>
        </p:nvSpPr>
        <p:spPr>
          <a:xfrm>
            <a:off x="790575" y="2171700"/>
            <a:ext cx="10572750" cy="504825"/>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GOVERN: responsibilities, policies and continuing oversight</a:t>
            </a:r>
          </a:p>
        </p:txBody>
      </p:sp>
      <p:sp>
        <p:nvSpPr>
          <p:cNvPr id="6" name="reveal-02-function-0">
            <a:extLst>
              <a:ext uri="{FF2B5EF4-FFF2-40B4-BE49-F238E27FC236}">
                <ns2:creationId id="{3BB26EC5-6838-4F84-89B2-0219A70C213D}"/>
              </a:ext>
              <a:ext uri="{C183D7F6-B498-43B3-948B-1728B52AA6E4}">
                <ns3:decorative val="1"/>
              </a:ext>
            </a:extLst>
          </p:cNvPr>
          <p:cNvSpPr>
            <a:spLocks noGrp="1"/>
          </p:cNvSpPr>
          <p:nvPr/>
        </p:nvSpPr>
        <p:spPr>
          <a:xfrm>
            <a:off x="619125" y="3571875"/>
            <a:ext cx="3333750" cy="1619250"/>
          </a:xfrm>
          <a:prstGeom prst="rect">
            <a:avLst/>
          </a:prstGeom>
          <a:solidFill>
            <a:srgbClr val="F1F5F6"/>
          </a:solidFill>
          <a:ln w="11430">
            <a:solidFill>
              <a:srgbClr val="C9D5DA"/>
            </a:solidFill>
          </a:ln>
        </p:spPr>
      </p:sp>
      <p:sp>
        <p:nvSpPr>
          <p:cNvPr id="7" name="reveal-02-label-0">
            <a:extLst>
              <a:ext uri="{FF2B5EF4-FFF2-40B4-BE49-F238E27FC236}">
                <ns2:creationId id="{FFE7EED5-71BB-4774-95F6-0D124738300A}"/>
              </a:ext>
            </a:extLst>
          </p:cNvPr>
          <p:cNvSpPr>
            <a:spLocks noGrp="1"/>
          </p:cNvSpPr>
          <p:nvPr/>
        </p:nvSpPr>
        <p:spPr>
          <a:xfrm>
            <a:off x="79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Map</a:t>
            </a:r>
          </a:p>
        </p:txBody>
      </p:sp>
      <p:sp>
        <p:nvSpPr>
          <p:cNvPr id="8" name="reveal-02-detail-0">
            <a:extLst>
              <a:ext uri="{FF2B5EF4-FFF2-40B4-BE49-F238E27FC236}">
                <ns2:creationId id="{705867DE-50DD-4255-A9B2-BF17025F7690}"/>
              </a:ext>
            </a:extLst>
          </p:cNvPr>
          <p:cNvSpPr>
            <a:spLocks noGrp="1"/>
          </p:cNvSpPr>
          <p:nvPr/>
        </p:nvSpPr>
        <p:spPr>
          <a:xfrm>
            <a:off x="79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Use, context and effects</a:t>
            </a:r>
          </a:p>
        </p:txBody>
      </p:sp>
      <p:sp>
        <p:nvSpPr>
          <p:cNvPr id="9" name="reveal-02-function-1">
            <a:extLst>
              <a:ext uri="{FF2B5EF4-FFF2-40B4-BE49-F238E27FC236}">
                <ns2:creationId id="{F3659FBA-B150-4220-B6B4-3077D07995AB}"/>
              </a:ext>
              <a:ext uri="{C183D7F6-B498-43B3-948B-1728B52AA6E4}">
                <ns3:decorative val="1"/>
              </a:ext>
            </a:extLst>
          </p:cNvPr>
          <p:cNvSpPr>
            <a:spLocks noGrp="1"/>
          </p:cNvSpPr>
          <p:nvPr/>
        </p:nvSpPr>
        <p:spPr>
          <a:xfrm>
            <a:off x="4429125" y="3571875"/>
            <a:ext cx="3333750" cy="1619250"/>
          </a:xfrm>
          <a:prstGeom prst="rect">
            <a:avLst/>
          </a:prstGeom>
          <a:solidFill>
            <a:srgbClr val="F1F5F6"/>
          </a:solidFill>
          <a:ln w="11430">
            <a:solidFill>
              <a:srgbClr val="C9D5DA"/>
            </a:solidFill>
          </a:ln>
        </p:spPr>
      </p:sp>
      <p:sp>
        <p:nvSpPr>
          <p:cNvPr id="10" name="reveal-02-label-1">
            <a:extLst>
              <a:ext uri="{FF2B5EF4-FFF2-40B4-BE49-F238E27FC236}">
                <ns2:creationId id="{2D320A4A-39B3-40DF-8D09-3F7BC15579CF}"/>
              </a:ext>
            </a:extLst>
          </p:cNvPr>
          <p:cNvSpPr>
            <a:spLocks noGrp="1"/>
          </p:cNvSpPr>
          <p:nvPr/>
        </p:nvSpPr>
        <p:spPr>
          <a:xfrm>
            <a:off x="460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Measure</a:t>
            </a:r>
          </a:p>
        </p:txBody>
      </p:sp>
      <p:sp>
        <p:nvSpPr>
          <p:cNvPr id="11" name="reveal-02-detail-1">
            <a:extLst>
              <a:ext uri="{FF2B5EF4-FFF2-40B4-BE49-F238E27FC236}">
                <ns2:creationId id="{9ACB4262-D399-4B14-B687-34F004DA9E08}"/>
              </a:ext>
            </a:extLst>
          </p:cNvPr>
          <p:cNvSpPr>
            <a:spLocks noGrp="1"/>
          </p:cNvSpPr>
          <p:nvPr/>
        </p:nvSpPr>
        <p:spPr>
          <a:xfrm>
            <a:off x="460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Evidence about risks</a:t>
            </a:r>
          </a:p>
        </p:txBody>
      </p:sp>
      <p:sp>
        <p:nvSpPr>
          <p:cNvPr id="12" name="reveal-02-function-2">
            <a:extLst>
              <a:ext uri="{FF2B5EF4-FFF2-40B4-BE49-F238E27FC236}">
                <ns2:creationId id="{6EE0EF7F-E5E3-40DF-B8EC-CC23BB08A38F}"/>
              </a:ext>
              <a:ext uri="{C183D7F6-B498-43B3-948B-1728B52AA6E4}">
                <ns3:decorative val="1"/>
              </a:ext>
            </a:extLst>
          </p:cNvPr>
          <p:cNvSpPr>
            <a:spLocks noGrp="1"/>
          </p:cNvSpPr>
          <p:nvPr/>
        </p:nvSpPr>
        <p:spPr>
          <a:xfrm>
            <a:off x="8239125" y="3571875"/>
            <a:ext cx="3333750" cy="1619250"/>
          </a:xfrm>
          <a:prstGeom prst="rect">
            <a:avLst/>
          </a:prstGeom>
          <a:solidFill>
            <a:srgbClr val="F1F5F6"/>
          </a:solidFill>
          <a:ln w="11430">
            <a:solidFill>
              <a:srgbClr val="C9D5DA"/>
            </a:solidFill>
          </a:ln>
        </p:spPr>
      </p:sp>
      <p:sp>
        <p:nvSpPr>
          <p:cNvPr id="13" name="reveal-02-label-2">
            <a:extLst>
              <a:ext uri="{FF2B5EF4-FFF2-40B4-BE49-F238E27FC236}">
                <ns2:creationId id="{CAF861C9-A849-4168-96C0-8FC9E4C18536}"/>
              </a:ext>
            </a:extLst>
          </p:cNvPr>
          <p:cNvSpPr>
            <a:spLocks noGrp="1"/>
          </p:cNvSpPr>
          <p:nvPr/>
        </p:nvSpPr>
        <p:spPr>
          <a:xfrm>
            <a:off x="8410575" y="3743325"/>
            <a:ext cx="2990850" cy="476250"/>
          </a:xfrm>
          <a:prstGeom prst="rect">
            <a:avLst/>
          </a:prstGeom>
          <a:noFill/>
          <a:ln w="0">
            <a:noFill/>
          </a:ln>
        </p:spPr>
        <p:txBody>
          <a:bodyPr>
            <a:noAutofit/>
          </a:bodyPr>
          <a:lstStyle>
            <a:defPPr>
              <a:defRPr sz="2400" b="1">
                <a:solidFill>
                  <a:srgbClr val="246E63"/>
                </a:solidFill>
                <a:latin typeface="Calibri"/>
                <a:ea typeface="Calibri"/>
                <a:cs typeface="Calibri"/>
              </a:defRPr>
            </a:defPPr>
            <a:lvl1pPr>
              <a:defRPr sz="2400" b="1">
                <a:solidFill>
                  <a:srgbClr val="246E63"/>
                </a:solidFill>
                <a:latin typeface="Calibri"/>
                <a:ea typeface="Calibri"/>
                <a:cs typeface="Calibri"/>
              </a:defRPr>
            </a:lvl1pPr>
            <a:lvl2pPr>
              <a:defRPr sz="2400" b="1">
                <a:solidFill>
                  <a:srgbClr val="246E63"/>
                </a:solidFill>
                <a:latin typeface="Calibri"/>
                <a:ea typeface="Calibri"/>
                <a:cs typeface="Calibri"/>
              </a:defRPr>
            </a:lvl2pPr>
            <a:lvl3pPr>
              <a:defRPr sz="2400" b="1">
                <a:solidFill>
                  <a:srgbClr val="246E63"/>
                </a:solidFill>
                <a:latin typeface="Calibri"/>
                <a:ea typeface="Calibri"/>
                <a:cs typeface="Calibri"/>
              </a:defRPr>
            </a:lvl3pPr>
            <a:lvl4pPr>
              <a:defRPr sz="2400" b="1">
                <a:solidFill>
                  <a:srgbClr val="246E63"/>
                </a:solidFill>
                <a:latin typeface="Calibri"/>
                <a:ea typeface="Calibri"/>
                <a:cs typeface="Calibri"/>
              </a:defRPr>
            </a:lvl4pPr>
            <a:lvl5pPr>
              <a:defRPr sz="2400" b="1">
                <a:solidFill>
                  <a:srgbClr val="246E63"/>
                </a:solidFill>
                <a:latin typeface="Calibri"/>
                <a:ea typeface="Calibri"/>
                <a:cs typeface="Calibri"/>
              </a:defRPr>
            </a:lvl5pPr>
            <a:lvl6pPr>
              <a:defRPr sz="2400" b="1">
                <a:solidFill>
                  <a:srgbClr val="246E63"/>
                </a:solidFill>
                <a:latin typeface="Calibri"/>
                <a:ea typeface="Calibri"/>
                <a:cs typeface="Calibri"/>
              </a:defRPr>
            </a:lvl6pPr>
            <a:lvl7pPr>
              <a:defRPr sz="2400" b="1">
                <a:solidFill>
                  <a:srgbClr val="246E63"/>
                </a:solidFill>
                <a:latin typeface="Calibri"/>
                <a:ea typeface="Calibri"/>
                <a:cs typeface="Calibri"/>
              </a:defRPr>
            </a:lvl7pPr>
            <a:lvl8pPr>
              <a:defRPr sz="2400" b="1">
                <a:solidFill>
                  <a:srgbClr val="246E63"/>
                </a:solidFill>
                <a:latin typeface="Calibri"/>
                <a:ea typeface="Calibri"/>
                <a:cs typeface="Calibri"/>
              </a:defRPr>
            </a:lvl8pPr>
            <a:lvl9pPr>
              <a:defRPr sz="2400" b="1">
                <a:solidFill>
                  <a:srgbClr val="246E63"/>
                </a:solidFill>
                <a:latin typeface="Calibri"/>
                <a:ea typeface="Calibri"/>
                <a:cs typeface="Calibri"/>
              </a:defRPr>
            </a:lvl9pPr>
          </a:lstStyle>
          <a:p>
            <a:pPr>
              <a:defRPr sz="2400" b="1">
                <a:solidFill>
                  <a:srgbClr val="246E63"/>
                </a:solidFill>
                <a:latin typeface="Calibri"/>
                <a:ea typeface="Calibri"/>
                <a:cs typeface="Calibri"/>
              </a:defRPr>
            </a:pPr>
            <a:r>
              <a:rPr sz="2400" b="1">
                <a:solidFill>
                  <a:srgbClr val="246E63"/>
                </a:solidFill>
                <a:latin typeface="Calibri"/>
                <a:ea typeface="Calibri"/>
                <a:cs typeface="Calibri"/>
              </a:rPr>
              <a:t>Manage</a:t>
            </a:r>
          </a:p>
        </p:txBody>
      </p:sp>
      <p:sp>
        <p:nvSpPr>
          <p:cNvPr id="14" name="reveal-02-detail-2">
            <a:extLst>
              <a:ext uri="{FF2B5EF4-FFF2-40B4-BE49-F238E27FC236}">
                <ns2:creationId id="{C969026B-B6F9-4C0F-AA07-CCEB470FD685}"/>
              </a:ext>
            </a:extLst>
          </p:cNvPr>
          <p:cNvSpPr>
            <a:spLocks noGrp="1"/>
          </p:cNvSpPr>
          <p:nvPr/>
        </p:nvSpPr>
        <p:spPr>
          <a:xfrm>
            <a:off x="8410575" y="4400550"/>
            <a:ext cx="2990850" cy="666750"/>
          </a:xfrm>
          <a:prstGeom prst="rect">
            <a:avLst/>
          </a:prstGeom>
          <a:noFill/>
          <a:ln w="0">
            <a:noFill/>
          </a:ln>
        </p:spPr>
        <p:txBody>
          <a:bodyPr>
            <a:noAutofit/>
          </a:bodyPr>
          <a:lstStyle>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a:pPr>
              <a:defRPr sz="2100" b="0">
                <a:solidFill>
                  <a:srgbClr val="1C3144"/>
                </a:solidFill>
                <a:latin typeface="Calibri"/>
                <a:ea typeface="Calibri"/>
                <a:cs typeface="Calibri"/>
              </a:defRPr>
            </a:pPr>
            <a:r>
              <a:rPr sz="2100" b="0">
                <a:solidFill>
                  <a:srgbClr val="1C3144"/>
                </a:solidFill>
                <a:latin typeface="Calibri"/>
                <a:ea typeface="Calibri"/>
                <a:cs typeface="Calibri"/>
              </a:rPr>
              <a:t>Treatment and monitoring</a:t>
            </a:r>
          </a:p>
        </p:txBody>
      </p:sp>
      <p:sp>
        <p:nvSpPr>
          <p:cNvPr id="15" name="text-239">
            <a:extLst>
              <a:ext uri="{FF2B5EF4-FFF2-40B4-BE49-F238E27FC236}">
                <ns2:creationId id="{AFF41440-0E96-4557-A1DE-BEEFC04BDB3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Govern applies throughout. Map, Measure and Manage interact and repeat as the system changes.</a:t>
            </a:r>
          </a:p>
        </p:txBody>
      </p:sp>
      <p:sp>
        <p:nvSpPr>
          <p:cNvPr id="3" name="text-238">
            <a:extLst>
              <a:ext uri="{FF2B5EF4-FFF2-40B4-BE49-F238E27FC236}">
                <ns2:creationId id="{EB3AD123-DE10-4E14-AE5F-F952A43E3AD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4</a:t>
            </a:r>
          </a:p>
        </p:txBody>
      </p:sp>
    </p:spTree>
    <p:extLst>
      <p:ext uri="{BB962C8B-B14F-4D97-AF65-F5344CB8AC3E}">
        <ns4:creationId val="17120339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p:tgtEl>
                                          <p:spTgt spid="11"/>
                                        </p:tgtEl>
                                      </p:cBhvr>
                                    </p:animEffect>
                                  </p:childTnLst>
                                </p:cTn>
                              </p:par>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00"/>
                                        <p:tgtEl>
                                          <p:spTgt spid="13"/>
                                        </p:tgtEl>
                                      </p:cBhvr>
                                    </p:animEffect>
                                  </p:childTnLst>
                                </p:cTn>
                              </p:par>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Ugandan duties to examine">
    <p:bg>
      <p:bgPr>
        <a:solidFill>
          <a:srgbClr val="FFFFFF"/>
        </a:solidFill>
      </p:bgPr>
    </p:bg>
    <p:spTree>
      <p:nvGrpSpPr>
        <p:cNvPr id="1" name=""/>
        <p:cNvGrpSpPr/>
        <p:nvPr/>
      </p:nvGrpSpPr>
      <p:grpSpPr>
        <a:xfrm/>
      </p:grpSpPr>
      <p:sp>
        <p:nvSpPr>
          <p:cNvPr id="5" name="text-240">
            <a:extLst>
              <a:ext uri="{FF2B5EF4-FFF2-40B4-BE49-F238E27FC236}">
                <ns2:creationId id="{EFB78165-42F5-4690-BB61-C2304F0FEA0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41">
            <a:extLst>
              <a:ext uri="{FF2B5EF4-FFF2-40B4-BE49-F238E27FC236}">
                <ns2:creationId id="{2E66675E-AABD-44CF-8EDC-E2905D15380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Ugandan duties to examine</a:t>
            </a:r>
          </a:p>
        </p:txBody>
      </p:sp>
      <p:graphicFrame>
        <p:nvGraphicFramePr>
          <p:cNvPr id="4" name="">
            <a:extLst>
              <a:ext uri="{FF2B5EF4-FFF2-40B4-BE49-F238E27FC236}">
                <ns2:creationId id="{0D8E0FE7-5252-43E4-A29C-B51854E37BF9}"/>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Issue for the firm</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Data Protection and Privacy Act 2019</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Purpose, minimisation, security and overseas processing</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Data Protection and Privacy Regulations 2021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registration and operational requirements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Evidence Act, professional communications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Confidentiality and protected communications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Engagement and employment terms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Permitted use, supervision and client commitments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42">
            <a:extLst>
              <a:ext uri="{FF2B5EF4-FFF2-40B4-BE49-F238E27FC236}">
                <ns2:creationId id="{FBA01D1D-9A75-4DD9-A602-18F4D0638B8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5</a:t>
            </a:r>
          </a:p>
        </p:txBody>
      </p:sp>
    </p:spTree>
    <p:extLst>
      <p:ext uri="{BB962C8B-B14F-4D97-AF65-F5344CB8AC3E}">
        <ns3:creationId val="796282016"/>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tool setting and professional permission">
    <p:bg>
      <p:bgPr>
        <a:solidFill>
          <a:srgbClr val="FFFFFF"/>
        </a:solidFill>
      </p:bgPr>
    </p:bg>
    <p:spTree>
      <p:nvGrpSpPr>
        <p:cNvPr id="1" name=""/>
        <p:cNvGrpSpPr/>
        <p:nvPr/>
      </p:nvGrpSpPr>
      <p:grpSpPr>
        <a:xfrm/>
      </p:grpSpPr>
      <p:sp>
        <p:nvSpPr>
          <p:cNvPr id="10" name="text-243">
            <a:extLst>
              <a:ext uri="{FF2B5EF4-FFF2-40B4-BE49-F238E27FC236}">
                <ns2:creationId id="{47512135-EF40-41A2-BF2D-D9E747284A5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44">
            <a:extLst>
              <a:ext uri="{FF2B5EF4-FFF2-40B4-BE49-F238E27FC236}">
                <ns2:creationId id="{93E7A8F9-22C8-40E4-85EC-52B6E5CCFBE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tool setting and professional permission</a:t>
            </a:r>
          </a:p>
        </p:txBody>
      </p:sp>
      <p:sp>
        <p:nvSpPr>
          <p:cNvPr id="4" name="text-246">
            <a:extLst>
              <a:ext uri="{FF2B5EF4-FFF2-40B4-BE49-F238E27FC236}">
                <ns2:creationId id="{1CD0104E-876C-4F5D-B48D-3BDFDD5C48F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7">
            <a:extLst>
              <a:ext uri="{FF2B5EF4-FFF2-40B4-BE49-F238E27FC236}">
                <ns2:creationId id="{6043764F-1DBA-484A-92DE-6F0D5FF553E2}"/>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provider may offer restrictions on model training.</a:t>
            </a:r>
          </a:p>
        </p:txBody>
      </p:sp>
      <p:sp>
        <p:nvSpPr>
          <p:cNvPr id="6" name="text-248">
            <a:extLst>
              <a:ext uri="{FF2B5EF4-FFF2-40B4-BE49-F238E27FC236}">
                <ns2:creationId id="{FCFF4DC1-D01F-4150-B963-169228A6B3F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9">
            <a:extLst>
              <a:ext uri="{FF2B5EF4-FFF2-40B4-BE49-F238E27FC236}">
                <ns2:creationId id="{3CBACFF0-AA5F-4F95-8D8F-B8CDD81A00BF}"/>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Other questions include retention, access, subprocessors and incident handling.</a:t>
            </a:r>
          </a:p>
        </p:txBody>
      </p:sp>
      <p:sp>
        <p:nvSpPr>
          <p:cNvPr id="8" name="text-250">
            <a:extLst>
              <a:ext uri="{FF2B5EF4-FFF2-40B4-BE49-F238E27FC236}">
                <ns2:creationId id="{E9B8153F-98E5-4DE5-A08F-B6E53F3B4DF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51">
            <a:extLst>
              <a:ext uri="{FF2B5EF4-FFF2-40B4-BE49-F238E27FC236}">
                <ns2:creationId id="{3676B151-3585-42C2-AD68-9B56E6644FF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still decides whether the proposed use is permitted.</a:t>
            </a:r>
          </a:p>
        </p:txBody>
      </p:sp>
      <p:sp>
        <p:nvSpPr>
          <p:cNvPr id="3" name="text-245">
            <a:extLst>
              <a:ext uri="{FF2B5EF4-FFF2-40B4-BE49-F238E27FC236}">
                <ns2:creationId id="{E63D5BA3-9464-45CE-99BF-7796ADCD894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6</a:t>
            </a:r>
          </a:p>
        </p:txBody>
      </p:sp>
    </p:spTree>
    <p:extLst>
      <p:ext uri="{BB962C8B-B14F-4D97-AF65-F5344CB8AC3E}">
        <ns3:creationId val="728054979"/>
      </p:ext>
    </p:extLst>
  </p:cSld>
  <p:transition spd="med" advClick="1">
    <p:fade/>
  </p:transition>
</p:sld>
</file>

<file path=ppt/slides/slide7.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Cross-matter access">
    <p:bg>
      <p:bgPr>
        <a:solidFill>
          <a:srgbClr val="FFFFFF"/>
        </a:solidFill>
      </p:bgPr>
    </p:bg>
    <p:spTree>
      <p:nvGrpSpPr>
        <p:cNvPr id="1" name=""/>
        <p:cNvGrpSpPr/>
        <p:nvPr/>
      </p:nvGrpSpPr>
      <p:grpSpPr>
        <a:xfrm/>
      </p:grpSpPr>
      <p:cxnSp>
        <p:nvCxnSpPr>
          <p:cNvPr id="22" name="reveal-04-arrow" descr="Cross-matter access">
            <a:extLst>
              <a:ext uri="{FF2B5EF4-FFF2-40B4-BE49-F238E27FC236}">
                <ns2:creationId id="{41676E09-56FE-4A71-8BF7-4418F0688BCE}"/>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DE7189E5-6494-470C-8C14-932C2C742638}"/>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DBCDE1AE-C812-4F65-9AE0-870528583CE5}"/>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252">
            <a:extLst>
              <a:ext uri="{FF2B5EF4-FFF2-40B4-BE49-F238E27FC236}">
                <ns2:creationId id="{1A947D66-FBC0-4D27-AD67-598C80F5BA5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53">
            <a:extLst>
              <a:ext uri="{FF2B5EF4-FFF2-40B4-BE49-F238E27FC236}">
                <ns2:creationId id="{F81A29A7-818F-4302-A0FB-4D52FC98BA1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Cross-matter access</a:t>
            </a:r>
          </a:p>
        </p:txBody>
      </p:sp>
      <p:sp>
        <p:nvSpPr>
          <p:cNvPr id="4" name="reveal-01-stage">
            <a:extLst>
              <a:ext uri="{FF2B5EF4-FFF2-40B4-BE49-F238E27FC236}">
                <ns2:creationId id="{76DD6868-F6CD-4662-AE25-D8693770C911}"/>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C1BA6BDF-AA94-4F59-9C15-E2FC0183836E}"/>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42288683-EECC-424D-B18A-9C81A780284F}"/>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User</a:t>
            </a:r>
          </a:p>
        </p:txBody>
      </p:sp>
      <p:sp>
        <p:nvSpPr>
          <p:cNvPr id="7" name="reveal-01-detail">
            <a:extLst>
              <a:ext uri="{FF2B5EF4-FFF2-40B4-BE49-F238E27FC236}">
                <ns2:creationId id="{C8DAF48B-94B2-41B1-81C1-FCE47CBCE9A0}"/>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M-01 team</a:t>
            </a:r>
          </a:p>
        </p:txBody>
      </p:sp>
      <p:sp>
        <p:nvSpPr>
          <p:cNvPr id="8" name="reveal-02-stage">
            <a:extLst>
              <a:ext uri="{FF2B5EF4-FFF2-40B4-BE49-F238E27FC236}">
                <ns2:creationId id="{CF260CCB-C868-43F8-9C22-BA5D96F76957}"/>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3131F2AB-19D1-4F32-995C-C6FBBBD1DD4E}"/>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59C5D3B7-1E28-46DF-8482-919DFC3158A4}"/>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Permission</a:t>
            </a:r>
          </a:p>
        </p:txBody>
      </p:sp>
      <p:sp>
        <p:nvSpPr>
          <p:cNvPr id="11" name="reveal-02-detail">
            <a:extLst>
              <a:ext uri="{FF2B5EF4-FFF2-40B4-BE49-F238E27FC236}">
                <ns2:creationId id="{DCAB4764-738D-4015-BD60-B07DB2705407}"/>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M-01 allowed</a:t>
            </a:r>
          </a:p>
        </p:txBody>
      </p:sp>
      <p:sp>
        <p:nvSpPr>
          <p:cNvPr id="12" name="reveal-03-stage">
            <a:extLst>
              <a:ext uri="{FF2B5EF4-FFF2-40B4-BE49-F238E27FC236}">
                <ns2:creationId id="{F0683E32-157A-4D10-93D2-DA003516401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9A4E1229-91BB-46E1-8820-6A792E32767B}"/>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D80D731A-D9E9-4171-BFAA-9F72C6A3D595}"/>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Evidence</a:t>
            </a:r>
          </a:p>
        </p:txBody>
      </p:sp>
      <p:sp>
        <p:nvSpPr>
          <p:cNvPr id="15" name="reveal-03-detail">
            <a:extLst>
              <a:ext uri="{FF2B5EF4-FFF2-40B4-BE49-F238E27FC236}">
                <ns2:creationId id="{1903D2CE-1975-4061-A3C4-63339A598582}"/>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CONTRACT-01</a:t>
            </a:r>
          </a:p>
        </p:txBody>
      </p:sp>
      <p:sp>
        <p:nvSpPr>
          <p:cNvPr id="16" name="reveal-04-stage">
            <a:extLst>
              <a:ext uri="{FF2B5EF4-FFF2-40B4-BE49-F238E27FC236}">
                <ns2:creationId id="{4CF474BD-5A76-4DFA-A07E-15154E364B9E}"/>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D199E004-8A3A-430E-8EA1-FF8BB131018C}"/>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EEA140E5-BF91-4267-83B2-13111A7EB46F}"/>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Answer</a:t>
            </a:r>
          </a:p>
        </p:txBody>
      </p:sp>
      <p:sp>
        <p:nvSpPr>
          <p:cNvPr id="19" name="reveal-04-detail">
            <a:extLst>
              <a:ext uri="{FF2B5EF4-FFF2-40B4-BE49-F238E27FC236}">
                <ns2:creationId id="{25B0D46A-B29A-4393-8090-815360F13119}"/>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Permitted sources only</a:t>
            </a:r>
          </a:p>
        </p:txBody>
      </p:sp>
      <p:sp>
        <p:nvSpPr>
          <p:cNvPr id="23" name="text-258">
            <a:extLst>
              <a:ext uri="{FF2B5EF4-FFF2-40B4-BE49-F238E27FC236}">
                <ns2:creationId id="{14A8B7F9-2FC7-494F-979A-324F0938699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OTHER-02 remains restricted. Source and derived access need maintenance and tests.</a:t>
            </a:r>
          </a:p>
        </p:txBody>
      </p:sp>
      <p:sp>
        <p:nvSpPr>
          <p:cNvPr id="3" name="text-254">
            <a:extLst>
              <a:ext uri="{FF2B5EF4-FFF2-40B4-BE49-F238E27FC236}">
                <ns2:creationId id="{4519A6AA-D206-4789-BF92-9EAF8E74354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7</a:t>
            </a:r>
          </a:p>
        </p:txBody>
      </p:sp>
    </p:spTree>
    <p:extLst>
      <p:ext uri="{BB962C8B-B14F-4D97-AF65-F5344CB8AC3E}">
        <ns4:creationId val="53926868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Prompt injection and tool misuse">
    <p:bg>
      <p:bgPr>
        <a:solidFill>
          <a:srgbClr val="FFFFFF"/>
        </a:solidFill>
      </p:bgPr>
    </p:bg>
    <p:spTree>
      <p:nvGrpSpPr>
        <p:cNvPr id="1" name=""/>
        <p:cNvGrpSpPr/>
        <p:nvPr/>
      </p:nvGrpSpPr>
      <p:grpSpPr>
        <a:xfrm/>
      </p:grpSpPr>
      <p:sp>
        <p:nvSpPr>
          <p:cNvPr id="10" name="text-259">
            <a:extLst>
              <a:ext uri="{FF2B5EF4-FFF2-40B4-BE49-F238E27FC236}">
                <ns2:creationId id="{E942F22E-06D5-4A2B-89D3-DA2E8920C0A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60">
            <a:extLst>
              <a:ext uri="{FF2B5EF4-FFF2-40B4-BE49-F238E27FC236}">
                <ns2:creationId id="{9D507D63-D529-4C82-AA55-2E79BC9391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Prompt injection and tool misuse</a:t>
            </a:r>
          </a:p>
        </p:txBody>
      </p:sp>
      <p:sp>
        <p:nvSpPr>
          <p:cNvPr id="4" name="text-262">
            <a:extLst>
              <a:ext uri="{FF2B5EF4-FFF2-40B4-BE49-F238E27FC236}">
                <ns2:creationId id="{2CC925A3-B5A7-4D0F-84FC-C894CA946C1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3">
            <a:extLst>
              <a:ext uri="{FF2B5EF4-FFF2-40B4-BE49-F238E27FC236}">
                <ns2:creationId id="{50263F62-09E0-4F86-BDAA-3119E43B0CED}"/>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retrieved document can contain instructions.</a:t>
            </a:r>
          </a:p>
        </p:txBody>
      </p:sp>
      <p:sp>
        <p:nvSpPr>
          <p:cNvPr id="6" name="text-264">
            <a:extLst>
              <a:ext uri="{FF2B5EF4-FFF2-40B4-BE49-F238E27FC236}">
                <ns2:creationId id="{9385EC54-D067-4B29-BC56-6AEF2E3EC0B6}"/>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5">
            <a:extLst>
              <a:ext uri="{FF2B5EF4-FFF2-40B4-BE49-F238E27FC236}">
                <ns2:creationId id="{3C37A723-9E04-4BF5-98A1-8D24B62A03D9}"/>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source has no authority to change permissions.</a:t>
            </a:r>
          </a:p>
        </p:txBody>
      </p:sp>
      <p:sp>
        <p:nvSpPr>
          <p:cNvPr id="8" name="text-266">
            <a:extLst>
              <a:ext uri="{FF2B5EF4-FFF2-40B4-BE49-F238E27FC236}">
                <ns2:creationId id="{20966DC5-9279-4C0C-BB43-36D119F3AC3D}"/>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67">
            <a:extLst>
              <a:ext uri="{FF2B5EF4-FFF2-40B4-BE49-F238E27FC236}">
                <ns2:creationId id="{2309A2AB-6D7C-4042-AB17-9909453AE781}"/>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Tools and destinations require enforced boundaries.</a:t>
            </a:r>
          </a:p>
        </p:txBody>
      </p:sp>
      <p:sp>
        <p:nvSpPr>
          <p:cNvPr id="3" name="text-261">
            <a:extLst>
              <a:ext uri="{FF2B5EF4-FFF2-40B4-BE49-F238E27FC236}">
                <ns2:creationId id="{2657DC66-9061-4E65-B170-261295D3C50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8</a:t>
            </a:r>
          </a:p>
        </p:txBody>
      </p:sp>
    </p:spTree>
    <p:extLst>
      <p:ext uri="{BB962C8B-B14F-4D97-AF65-F5344CB8AC3E}">
        <ns3:creationId val="1539658912"/>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Bias and unequal errors">
    <p:bg>
      <p:bgPr>
        <a:solidFill>
          <a:srgbClr val="FFFFFF"/>
        </a:solidFill>
      </p:bgPr>
    </p:bg>
    <p:spTree>
      <p:nvGrpSpPr>
        <p:cNvPr id="1" name=""/>
        <p:cNvGrpSpPr/>
        <p:nvPr/>
      </p:nvGrpSpPr>
      <p:grpSpPr>
        <a:xfrm/>
      </p:grpSpPr>
      <p:sp>
        <p:nvSpPr>
          <p:cNvPr id="10" name="text-268">
            <a:extLst>
              <a:ext uri="{FF2B5EF4-FFF2-40B4-BE49-F238E27FC236}">
                <ns2:creationId id="{E44FB3E7-F583-479C-A4F9-03B30AA6A9E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69">
            <a:extLst>
              <a:ext uri="{FF2B5EF4-FFF2-40B4-BE49-F238E27FC236}">
                <ns2:creationId id="{CCA87B22-E114-4D9E-AD23-7C972A7AB20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Bias and unequal errors</a:t>
            </a:r>
          </a:p>
        </p:txBody>
      </p:sp>
      <p:sp>
        <p:nvSpPr>
          <p:cNvPr id="4" name="text-271">
            <a:extLst>
              <a:ext uri="{FF2B5EF4-FFF2-40B4-BE49-F238E27FC236}">
                <ns2:creationId id="{2B5E8797-E67B-4122-8AA4-B67FFF05974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2">
            <a:extLst>
              <a:ext uri="{FF2B5EF4-FFF2-40B4-BE49-F238E27FC236}">
                <ns2:creationId id="{AE767727-0815-42FB-821A-BBF29E93A77A}"/>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scan-heavy collection may have higher extraction error.</a:t>
            </a:r>
          </a:p>
        </p:txBody>
      </p:sp>
      <p:sp>
        <p:nvSpPr>
          <p:cNvPr id="6" name="text-273">
            <a:extLst>
              <a:ext uri="{FF2B5EF4-FFF2-40B4-BE49-F238E27FC236}">
                <ns2:creationId id="{FC6F4998-25F3-4977-9B4B-71BEE18AE52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4">
            <a:extLst>
              <a:ext uri="{FF2B5EF4-FFF2-40B4-BE49-F238E27FC236}">
                <ns2:creationId id="{78C8DBD4-887B-43CA-B9A5-4E2729A1EB43}"/>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Different languages or matter types may be underrepresented.</a:t>
            </a:r>
          </a:p>
        </p:txBody>
      </p:sp>
      <p:sp>
        <p:nvSpPr>
          <p:cNvPr id="8" name="text-275">
            <a:extLst>
              <a:ext uri="{FF2B5EF4-FFF2-40B4-BE49-F238E27FC236}">
                <ns2:creationId id="{44A171F7-72C2-4302-9792-BB0B5E873C08}"/>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76">
            <a:extLst>
              <a:ext uri="{FF2B5EF4-FFF2-40B4-BE49-F238E27FC236}">
                <ns2:creationId id="{2357749B-D9A8-45E1-9CA0-30880FEDE278}"/>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errors by relevant source group before scaling.</a:t>
            </a:r>
          </a:p>
        </p:txBody>
      </p:sp>
      <p:sp>
        <p:nvSpPr>
          <p:cNvPr id="3" name="text-270">
            <a:extLst>
              <a:ext uri="{FF2B5EF4-FFF2-40B4-BE49-F238E27FC236}">
                <ns2:creationId id="{EE48CEAE-594D-4CEE-8E51-1C108B7745E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9</a:t>
            </a:r>
          </a:p>
        </p:txBody>
      </p:sp>
    </p:spTree>
    <p:extLst>
      <p:ext uri="{BB962C8B-B14F-4D97-AF65-F5344CB8AC3E}">
        <ns3:creationId val="240232939"/>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Meaningful human oversight">
    <p:bg>
      <p:bgPr>
        <a:solidFill>
          <a:srgbClr val="FFFFFF"/>
        </a:solidFill>
      </p:bgPr>
    </p:bg>
    <p:spTree>
      <p:nvGrpSpPr>
        <p:cNvPr id="1" name=""/>
        <p:cNvGrpSpPr/>
        <p:nvPr/>
      </p:nvGrpSpPr>
      <p:grpSpPr>
        <a:xfrm/>
      </p:grpSpPr>
      <p:sp>
        <p:nvSpPr>
          <p:cNvPr id="12" name="text-277">
            <a:extLst>
              <a:ext uri="{FF2B5EF4-FFF2-40B4-BE49-F238E27FC236}">
                <ns2:creationId id="{B682669C-898F-4027-995C-95875CE24EE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78">
            <a:extLst>
              <a:ext uri="{FF2B5EF4-FFF2-40B4-BE49-F238E27FC236}">
                <ns2:creationId id="{E8FE3317-E04D-4593-8302-1EE821C8DFE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Meaningful human oversight</a:t>
            </a:r>
          </a:p>
        </p:txBody>
      </p:sp>
      <p:sp>
        <p:nvSpPr>
          <p:cNvPr id="4" name="text-280">
            <a:extLst>
              <a:ext uri="{FF2B5EF4-FFF2-40B4-BE49-F238E27FC236}">
                <ns2:creationId id="{150C22C7-A1B5-4A7D-8E9A-DB534ADDB2B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1">
            <a:extLst>
              <a:ext uri="{FF2B5EF4-FFF2-40B4-BE49-F238E27FC236}">
                <ns2:creationId id="{EAE061FB-1DFF-4767-AB7C-5A9D1D2322E1}"/>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reviewer knows the task and its limits.</a:t>
            </a:r>
          </a:p>
        </p:txBody>
      </p:sp>
      <p:sp>
        <p:nvSpPr>
          <p:cNvPr id="6" name="text-282">
            <a:extLst>
              <a:ext uri="{FF2B5EF4-FFF2-40B4-BE49-F238E27FC236}">
                <ns2:creationId id="{78E7B90F-A11B-4893-A445-784034735389}"/>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3">
            <a:extLst>
              <a:ext uri="{FF2B5EF4-FFF2-40B4-BE49-F238E27FC236}">
                <ns2:creationId id="{F13707DA-73D9-40C4-AE7C-32C5BCD5D73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evidence is available.</a:t>
            </a:r>
          </a:p>
        </p:txBody>
      </p:sp>
      <p:sp>
        <p:nvSpPr>
          <p:cNvPr id="8" name="text-284">
            <a:extLst>
              <a:ext uri="{FF2B5EF4-FFF2-40B4-BE49-F238E27FC236}">
                <ns2:creationId id="{63D8883D-4F68-4261-9421-87B0246E824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85">
            <a:extLst>
              <a:ext uri="{FF2B5EF4-FFF2-40B4-BE49-F238E27FC236}">
                <ns2:creationId id="{BB3B7530-84B5-4F2D-991D-AD85E93433ED}"/>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review occurs before the dependent action.</a:t>
            </a:r>
          </a:p>
        </p:txBody>
      </p:sp>
      <p:sp>
        <p:nvSpPr>
          <p:cNvPr id="10" name="text-286">
            <a:extLst>
              <a:ext uri="{FF2B5EF4-FFF2-40B4-BE49-F238E27FC236}">
                <ns2:creationId id="{51E6EDC4-1F5D-48FC-8E4C-943EB0D64F6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87">
            <a:extLst>
              <a:ext uri="{FF2B5EF4-FFF2-40B4-BE49-F238E27FC236}">
                <ns2:creationId id="{9C2A793C-8065-431F-B481-F373CAA0C766}"/>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Rejection or stopping actually changes execution.</a:t>
            </a:r>
          </a:p>
        </p:txBody>
      </p:sp>
      <p:sp>
        <p:nvSpPr>
          <p:cNvPr id="3" name="text-279">
            <a:extLst>
              <a:ext uri="{FF2B5EF4-FFF2-40B4-BE49-F238E27FC236}">
                <ns2:creationId id="{B1AD74BB-5210-4D4B-B2F6-25F3DD94D5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10</a:t>
            </a:r>
          </a:p>
        </p:txBody>
      </p:sp>
    </p:spTree>
    <p:extLst>
      <p:ext uri="{BB962C8B-B14F-4D97-AF65-F5344CB8AC3E}">
        <ns3:creationId val="1224159034"/>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Staff use and shadow AI">
    <p:bg>
      <p:bgPr>
        <a:solidFill>
          <a:srgbClr val="FFFFFF"/>
        </a:solidFill>
      </p:bgPr>
    </p:bg>
    <p:spTree>
      <p:nvGrpSpPr>
        <p:cNvPr id="1" name=""/>
        <p:cNvGrpSpPr/>
        <p:nvPr/>
      </p:nvGrpSpPr>
      <p:grpSpPr>
        <a:xfrm/>
      </p:grpSpPr>
      <p:sp>
        <p:nvSpPr>
          <p:cNvPr id="10" name="text-288">
            <a:extLst>
              <a:ext uri="{FF2B5EF4-FFF2-40B4-BE49-F238E27FC236}">
                <ns2:creationId id="{179A1395-2575-4761-8281-A4F3E58AEFA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89">
            <a:extLst>
              <a:ext uri="{FF2B5EF4-FFF2-40B4-BE49-F238E27FC236}">
                <ns2:creationId id="{D801B99D-145C-4893-A6EF-BA3A5B7E089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Staff use and shadow AI</a:t>
            </a:r>
          </a:p>
        </p:txBody>
      </p:sp>
      <p:sp>
        <p:nvSpPr>
          <p:cNvPr id="4" name="text-291">
            <a:extLst>
              <a:ext uri="{FF2B5EF4-FFF2-40B4-BE49-F238E27FC236}">
                <ns2:creationId id="{1DA9B30E-9BBE-4182-AB8C-1C706778201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2">
            <a:extLst>
              <a:ext uri="{FF2B5EF4-FFF2-40B4-BE49-F238E27FC236}">
                <ns2:creationId id="{24B4C428-F823-4CB7-B42D-84EF19B6D478}"/>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People may already use unapproved tools.</a:t>
            </a:r>
          </a:p>
        </p:txBody>
      </p:sp>
      <p:sp>
        <p:nvSpPr>
          <p:cNvPr id="6" name="text-293">
            <a:extLst>
              <a:ext uri="{FF2B5EF4-FFF2-40B4-BE49-F238E27FC236}">
                <ns2:creationId id="{FC8A019A-CA70-4257-85AA-5856630BCFA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94">
            <a:extLst>
              <a:ext uri="{FF2B5EF4-FFF2-40B4-BE49-F238E27FC236}">
                <ns2:creationId id="{7888C864-F570-4982-8E7C-3CE8DD8AA346}"/>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usable approved route reduces avoidable workarounds.</a:t>
            </a:r>
          </a:p>
        </p:txBody>
      </p:sp>
      <p:sp>
        <p:nvSpPr>
          <p:cNvPr id="8" name="text-295">
            <a:extLst>
              <a:ext uri="{FF2B5EF4-FFF2-40B4-BE49-F238E27FC236}">
                <ns2:creationId id="{6AC7CC2C-67ED-4C1D-9938-8C1299BACE2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96">
            <a:extLst>
              <a:ext uri="{FF2B5EF4-FFF2-40B4-BE49-F238E27FC236}">
                <ns2:creationId id="{623B0D25-5D1A-4E71-89F6-807D09FB1975}"/>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and reporting should support early problem detection.</a:t>
            </a:r>
          </a:p>
        </p:txBody>
      </p:sp>
      <p:sp>
        <p:nvSpPr>
          <p:cNvPr id="3" name="text-290">
            <a:extLst>
              <a:ext uri="{FF2B5EF4-FFF2-40B4-BE49-F238E27FC236}">
                <ns2:creationId id="{2DD03311-B06B-42A5-89B0-A06BBD9315A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11</a:t>
            </a:r>
          </a:p>
        </p:txBody>
      </p:sp>
    </p:spTree>
    <p:extLst>
      <p:ext uri="{BB962C8B-B14F-4D97-AF65-F5344CB8AC3E}">
        <ns3:creationId val="1254730264"/>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Operational and commercial risks">
    <p:bg>
      <p:bgPr>
        <a:solidFill>
          <a:srgbClr val="FFFFFF"/>
        </a:solidFill>
      </p:bgPr>
    </p:bg>
    <p:spTree>
      <p:nvGrpSpPr>
        <p:cNvPr id="1" name=""/>
        <p:cNvGrpSpPr/>
        <p:nvPr/>
      </p:nvGrpSpPr>
      <p:grpSpPr>
        <a:xfrm/>
      </p:grpSpPr>
      <p:sp>
        <p:nvSpPr>
          <p:cNvPr id="5" name="text-297">
            <a:extLst>
              <a:ext uri="{FF2B5EF4-FFF2-40B4-BE49-F238E27FC236}">
                <ns2:creationId id="{842CC43C-07A2-40D5-9521-39CEE1CEE02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298">
            <a:extLst>
              <a:ext uri="{FF2B5EF4-FFF2-40B4-BE49-F238E27FC236}">
                <ns2:creationId id="{8BC0EAFF-9BEF-40AD-B188-DE7FEEF3837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Operational and commercial risks</a:t>
            </a:r>
          </a:p>
        </p:txBody>
      </p:sp>
      <p:graphicFrame>
        <p:nvGraphicFramePr>
          <p:cNvPr id="4" name="">
            <a:extLst>
              <a:ext uri="{FF2B5EF4-FFF2-40B4-BE49-F238E27FC236}">
                <ns2:creationId id="{1D6E8944-E303-4854-804E-99BC54DBB8DB}"/>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Risk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Management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Provider or model change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Retest and review material changes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Outage or failed integration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Manual fallback and recovery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Cost escalation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Budgets, limits and monitoring</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Vendor dependence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Export, portability and exit arrangements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Skill erosion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Review competence and training</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299">
            <a:extLst>
              <a:ext uri="{FF2B5EF4-FFF2-40B4-BE49-F238E27FC236}">
                <ns2:creationId id="{E939DDA2-CEC0-467B-824F-99607389CC8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12</a:t>
            </a:r>
          </a:p>
        </p:txBody>
      </p:sp>
    </p:spTree>
    <p:extLst>
      <p:ext uri="{BB962C8B-B14F-4D97-AF65-F5344CB8AC3E}">
        <ns3:creationId val="1373007271"/>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risk register with a decision">
    <p:bg>
      <p:bgPr>
        <a:solidFill>
          <a:srgbClr val="FFFFFF"/>
        </a:solidFill>
      </p:bgPr>
    </p:bg>
    <p:spTree>
      <p:nvGrpSpPr>
        <p:cNvPr id="1" name=""/>
        <p:cNvGrpSpPr/>
        <p:nvPr/>
      </p:nvGrpSpPr>
      <p:grpSpPr>
        <a:xfrm/>
      </p:grpSpPr>
      <p:sp>
        <p:nvSpPr>
          <p:cNvPr id="12" name="text-300">
            <a:extLst>
              <a:ext uri="{FF2B5EF4-FFF2-40B4-BE49-F238E27FC236}">
                <ns2:creationId id="{CE57CBA0-4FAB-438C-8297-FD3EFAA9B20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01">
            <a:extLst>
              <a:ext uri="{FF2B5EF4-FFF2-40B4-BE49-F238E27FC236}">
                <ns2:creationId id="{8A2BF540-2DAD-4FBB-ADE7-97F53B9EFA8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risk register with a decision</a:t>
            </a:r>
          </a:p>
        </p:txBody>
      </p:sp>
      <p:sp>
        <p:nvSpPr>
          <p:cNvPr id="4" name="text-303">
            <a:extLst>
              <a:ext uri="{FF2B5EF4-FFF2-40B4-BE49-F238E27FC236}">
                <ns2:creationId id="{D6A29139-F1B5-4F04-A0BF-ED806609442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4">
            <a:extLst>
              <a:ext uri="{FF2B5EF4-FFF2-40B4-BE49-F238E27FC236}">
                <ns2:creationId id="{5F0010ED-7595-4447-A7A6-F8A4628AA6F0}"/>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case, affected information and people</a:t>
            </a:r>
          </a:p>
        </p:txBody>
      </p:sp>
      <p:sp>
        <p:nvSpPr>
          <p:cNvPr id="6" name="text-305">
            <a:extLst>
              <a:ext uri="{FF2B5EF4-FFF2-40B4-BE49-F238E27FC236}">
                <ns2:creationId id="{839FCC44-2ED1-452B-B4F0-17A24A0BAD9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6">
            <a:extLst>
              <a:ext uri="{FF2B5EF4-FFF2-40B4-BE49-F238E27FC236}">
                <ns2:creationId id="{A32B602B-CCAF-4097-B87D-720DE95F7DBC}"/>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Failure, consequence and existing control</a:t>
            </a:r>
          </a:p>
        </p:txBody>
      </p:sp>
      <p:sp>
        <p:nvSpPr>
          <p:cNvPr id="8" name="text-307">
            <a:extLst>
              <a:ext uri="{FF2B5EF4-FFF2-40B4-BE49-F238E27FC236}">
                <ns2:creationId id="{616EBA9E-7D9C-4A50-BB56-F5D3D3A8D7E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8">
            <a:extLst>
              <a:ext uri="{FF2B5EF4-FFF2-40B4-BE49-F238E27FC236}">
                <ns2:creationId id="{13B867DB-0FA0-4E26-B707-196E6DBCE71D}"/>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evidence and remaining risk</a:t>
            </a:r>
          </a:p>
        </p:txBody>
      </p:sp>
      <p:sp>
        <p:nvSpPr>
          <p:cNvPr id="10" name="text-309">
            <a:extLst>
              <a:ext uri="{FF2B5EF4-FFF2-40B4-BE49-F238E27FC236}">
                <ns2:creationId id="{0C7E74F3-0F9E-409F-B836-E57F8C8E07C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10">
            <a:extLst>
              <a:ext uri="{FF2B5EF4-FFF2-40B4-BE49-F238E27FC236}">
                <ns2:creationId id="{55FFCE04-1222-4380-8663-20077BDFA8E3}"/>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Owner, decision and review date</a:t>
            </a:r>
          </a:p>
        </p:txBody>
      </p:sp>
      <p:sp>
        <p:nvSpPr>
          <p:cNvPr id="3" name="text-302">
            <a:extLst>
              <a:ext uri="{FF2B5EF4-FFF2-40B4-BE49-F238E27FC236}">
                <ns2:creationId id="{8E47E188-16BB-44D3-A329-E256F13BD7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13</a:t>
            </a:r>
          </a:p>
        </p:txBody>
      </p:sp>
    </p:spTree>
    <p:extLst>
      <p:ext uri="{BB962C8B-B14F-4D97-AF65-F5344CB8AC3E}">
        <ns3:creationId val="1087555767"/>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n incident in our matter">
    <p:bg>
      <p:bgPr>
        <a:solidFill>
          <a:srgbClr val="FFFFFF"/>
        </a:solidFill>
      </p:bgPr>
    </p:bg>
    <p:spTree>
      <p:nvGrpSpPr>
        <p:cNvPr id="1" name=""/>
        <p:cNvGrpSpPr/>
        <p:nvPr/>
      </p:nvGrpSpPr>
      <p:grpSpPr>
        <a:xfrm/>
      </p:grpSpPr>
      <p:sp>
        <p:nvSpPr>
          <p:cNvPr id="8" name="text-311">
            <a:extLst>
              <a:ext uri="{FF2B5EF4-FFF2-40B4-BE49-F238E27FC236}">
                <ns2:creationId id="{069E154A-A248-4CFE-95F3-E59B800C3F4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12">
            <a:extLst>
              <a:ext uri="{FF2B5EF4-FFF2-40B4-BE49-F238E27FC236}">
                <ns2:creationId id="{E45398C5-FC37-4A15-B852-5C58488109D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incident in our matter</a:t>
            </a:r>
          </a:p>
        </p:txBody>
      </p:sp>
      <p:sp>
        <p:nvSpPr>
          <p:cNvPr id="4" name="text-314">
            <a:extLst>
              <a:ext uri="{FF2B5EF4-FFF2-40B4-BE49-F238E27FC236}">
                <ns2:creationId id="{C99FCF86-3D58-4487-8C4A-F5DC3E1502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15">
            <a:extLst>
              <a:ext uri="{FF2B5EF4-FFF2-40B4-BE49-F238E27FC236}">
                <ns2:creationId id="{7146133E-6223-4A2E-A825-1397AE9D6FC9}"/>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assistant returns a passage from a restricted client matter.</a:t>
            </a:r>
          </a:p>
        </p:txBody>
      </p:sp>
      <p:sp>
        <p:nvSpPr>
          <p:cNvPr id="6" name="text-316">
            <a:extLst>
              <a:ext uri="{FF2B5EF4-FFF2-40B4-BE49-F238E27FC236}">
                <ns2:creationId id="{2499EE77-919F-4615-8A7D-3744E553B08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17">
            <a:extLst>
              <a:ext uri="{FF2B5EF4-FFF2-40B4-BE49-F238E27FC236}">
                <ns2:creationId id="{603A7F76-1DE9-42F3-836D-5EC9CA5CC99C}"/>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user has already copied part of it into a draft.</a:t>
            </a:r>
          </a:p>
        </p:txBody>
      </p:sp>
      <p:sp>
        <p:nvSpPr>
          <p:cNvPr id="3" name="text-313">
            <a:extLst>
              <a:ext uri="{FF2B5EF4-FFF2-40B4-BE49-F238E27FC236}">
                <ns2:creationId id="{5BBC9453-D9CE-471B-A8CA-C6C6B4A749C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14</a:t>
            </a:r>
          </a:p>
        </p:txBody>
      </p:sp>
    </p:spTree>
    <p:extLst>
      <p:ext uri="{BB962C8B-B14F-4D97-AF65-F5344CB8AC3E}">
        <ns3:creationId val="331611909"/>
      </p:ext>
    </p:extLst>
  </p:cSld>
  <p:transition spd="med" advClick="1">
    <p:fade/>
  </p:transition>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Response and recovery">
    <p:bg>
      <p:bgPr>
        <a:solidFill>
          <a:srgbClr val="FFFFFF"/>
        </a:solidFill>
      </p:bgPr>
    </p:bg>
    <p:spTree>
      <p:nvGrpSpPr>
        <p:cNvPr id="1" name=""/>
        <p:cNvGrpSpPr/>
        <p:nvPr/>
      </p:nvGrpSpPr>
      <p:grpSpPr>
        <a:xfrm/>
      </p:grpSpPr>
      <p:cxnSp>
        <p:nvCxnSpPr>
          <p:cNvPr id="22" name="reveal-04-arrow" descr="Response and recovery">
            <a:extLst>
              <a:ext uri="{FF2B5EF4-FFF2-40B4-BE49-F238E27FC236}">
                <ns2:creationId id="{846D4595-335E-4AF4-9FBA-4B6018BBD711}"/>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B007CE7-647D-46C1-BABA-91B4DFF617BA}"/>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D8ECAF93-507C-41C6-ACFF-D5B585074457}"/>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18">
            <a:extLst>
              <a:ext uri="{FF2B5EF4-FFF2-40B4-BE49-F238E27FC236}">
                <ns2:creationId id="{01C84F12-9090-490F-9186-FF92FB7DD1C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19">
            <a:extLst>
              <a:ext uri="{FF2B5EF4-FFF2-40B4-BE49-F238E27FC236}">
                <ns2:creationId id="{9E084A74-B33B-4F28-9717-2B7BAB140B4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Response and recovery</a:t>
            </a:r>
          </a:p>
        </p:txBody>
      </p:sp>
      <p:sp>
        <p:nvSpPr>
          <p:cNvPr id="4" name="reveal-01-stage">
            <a:extLst>
              <a:ext uri="{FF2B5EF4-FFF2-40B4-BE49-F238E27FC236}">
                <ns2:creationId id="{0207F3F4-ACA3-402F-A2B3-E94B1970CCF1}"/>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3F859566-C490-4AF9-9196-833F9193C654}"/>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C330C78F-1797-4D01-9E71-6056CC81A831}"/>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Contain</a:t>
            </a:r>
          </a:p>
        </p:txBody>
      </p:sp>
      <p:sp>
        <p:nvSpPr>
          <p:cNvPr id="7" name="reveal-01-detail">
            <a:extLst>
              <a:ext uri="{FF2B5EF4-FFF2-40B4-BE49-F238E27FC236}">
                <ns2:creationId id="{CDD2656C-E1E8-4B40-9715-0EDC64AC499F}"/>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Pause affected use</a:t>
            </a:r>
          </a:p>
        </p:txBody>
      </p:sp>
      <p:sp>
        <p:nvSpPr>
          <p:cNvPr id="8" name="reveal-02-stage">
            <a:extLst>
              <a:ext uri="{FF2B5EF4-FFF2-40B4-BE49-F238E27FC236}">
                <ns2:creationId id="{53A11527-090D-4A4C-9C3A-D29BCFBEBB8F}"/>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CD2FDE0B-00A3-4973-A0D1-483ABAC8C095}"/>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E86466EB-F013-4202-B382-A541AE179B4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Assess</a:t>
            </a:r>
          </a:p>
        </p:txBody>
      </p:sp>
      <p:sp>
        <p:nvSpPr>
          <p:cNvPr id="11" name="reveal-02-detail">
            <a:extLst>
              <a:ext uri="{FF2B5EF4-FFF2-40B4-BE49-F238E27FC236}">
                <ns2:creationId id="{8FF1DB39-36A3-4B8E-BFF1-D06CB9C6173F}"/>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Scope and consequences</a:t>
            </a:r>
          </a:p>
        </p:txBody>
      </p:sp>
      <p:sp>
        <p:nvSpPr>
          <p:cNvPr id="12" name="reveal-03-stage">
            <a:extLst>
              <a:ext uri="{FF2B5EF4-FFF2-40B4-BE49-F238E27FC236}">
                <ns2:creationId id="{F6006EAB-7C08-4E2F-98B6-CE3A21D8093A}"/>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B0753BE4-89A6-4EAE-AF93-A59D7ABF051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B7A8F06F-E9F4-495C-BBBC-BE9D0B62B518}"/>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Respond</a:t>
            </a:r>
          </a:p>
        </p:txBody>
      </p:sp>
      <p:sp>
        <p:nvSpPr>
          <p:cNvPr id="15" name="reveal-03-detail">
            <a:extLst>
              <a:ext uri="{FF2B5EF4-FFF2-40B4-BE49-F238E27FC236}">
                <ns2:creationId id="{C2B6967C-1B21-4AE7-AF8F-0870FE68B8CB}"/>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Required actions</a:t>
            </a:r>
          </a:p>
        </p:txBody>
      </p:sp>
      <p:sp>
        <p:nvSpPr>
          <p:cNvPr id="16" name="reveal-04-stage">
            <a:extLst>
              <a:ext uri="{FF2B5EF4-FFF2-40B4-BE49-F238E27FC236}">
                <ns2:creationId id="{0776C5D9-505B-4621-A202-C4B8C69EFBC7}"/>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C5F5C7BA-3585-42FA-A9BC-CE531B83056B}"/>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8A098E39-7130-49FC-9ACD-3F2CC4262312}"/>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Recover</a:t>
            </a:r>
          </a:p>
        </p:txBody>
      </p:sp>
      <p:sp>
        <p:nvSpPr>
          <p:cNvPr id="19" name="reveal-04-detail">
            <a:extLst>
              <a:ext uri="{FF2B5EF4-FFF2-40B4-BE49-F238E27FC236}">
                <ns2:creationId id="{F039D06F-8611-4E11-9908-A16FC547BAE4}"/>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Retest and authorise</a:t>
            </a:r>
          </a:p>
        </p:txBody>
      </p:sp>
      <p:sp>
        <p:nvSpPr>
          <p:cNvPr id="3" name="text-320">
            <a:extLst>
              <a:ext uri="{FF2B5EF4-FFF2-40B4-BE49-F238E27FC236}">
                <ns2:creationId id="{57D26BFF-54FB-45DE-98E2-7811648C0EA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15</a:t>
            </a:r>
          </a:p>
        </p:txBody>
      </p:sp>
    </p:spTree>
    <p:extLst>
      <p:ext uri="{BB962C8B-B14F-4D97-AF65-F5344CB8AC3E}">
        <ns4:creationId val="20681518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Governance responsibilities">
    <p:bg>
      <p:bgPr>
        <a:solidFill>
          <a:srgbClr val="FFFFFF"/>
        </a:solidFill>
      </p:bgPr>
    </p:bg>
    <p:spTree>
      <p:nvGrpSpPr>
        <p:cNvPr id="1" name=""/>
        <p:cNvGrpSpPr/>
        <p:nvPr/>
      </p:nvGrpSpPr>
      <p:grpSpPr>
        <a:xfrm/>
      </p:grpSpPr>
      <p:sp>
        <p:nvSpPr>
          <p:cNvPr id="5" name="text-324">
            <a:extLst>
              <a:ext uri="{FF2B5EF4-FFF2-40B4-BE49-F238E27FC236}">
                <ns2:creationId id="{C7BF73D8-0915-43E3-9154-5EDDE9EAF72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25">
            <a:extLst>
              <a:ext uri="{FF2B5EF4-FFF2-40B4-BE49-F238E27FC236}">
                <ns2:creationId id="{3F4BDDCD-0BED-44C2-9991-FD155650FAD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Governance responsibilities</a:t>
            </a:r>
          </a:p>
        </p:txBody>
      </p:sp>
      <p:graphicFrame>
        <p:nvGraphicFramePr>
          <p:cNvPr id="4" name="">
            <a:extLst>
              <a:ext uri="{FF2B5EF4-FFF2-40B4-BE49-F238E27FC236}">
                <ns2:creationId id="{E47360CA-16E2-457B-A80C-120AD4B3551F}"/>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Role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Decision or task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Partner sponsor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Purpose, scope and risk decision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Practice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Quality and professional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Information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Source authority and access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Technical owner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Configuration and monitoring</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Staff users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Permitted use and reporting</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26">
            <a:extLst>
              <a:ext uri="{FF2B5EF4-FFF2-40B4-BE49-F238E27FC236}">
                <ns2:creationId id="{A1A4826E-72A0-493B-93D9-915072FE2C1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16</a:t>
            </a:r>
          </a:p>
        </p:txBody>
      </p:sp>
    </p:spTree>
    <p:extLst>
      <p:ext uri="{BB962C8B-B14F-4D97-AF65-F5344CB8AC3E}">
        <ns3:creationId val="1759472127"/>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327">
            <a:extLst>
              <a:ext uri="{FF2B5EF4-FFF2-40B4-BE49-F238E27FC236}">
                <ns2:creationId id="{D715950C-6C01-46BC-AD15-17F08C1C3BF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28">
            <a:extLst>
              <a:ext uri="{FF2B5EF4-FFF2-40B4-BE49-F238E27FC236}">
                <ns2:creationId id="{A22EC996-3414-4510-8CFD-B074A18147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330">
            <a:extLst>
              <a:ext uri="{FF2B5EF4-FFF2-40B4-BE49-F238E27FC236}">
                <ns2:creationId id="{E9EC2287-6191-4E33-8E9D-277D2EE5AD2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1">
            <a:extLst>
              <a:ext uri="{FF2B5EF4-FFF2-40B4-BE49-F238E27FC236}">
                <ns2:creationId id="{E36F29CB-28AE-449C-877D-5B4ED6ED3627}"/>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Adapt the worked three-risk register.</a:t>
            </a:r>
          </a:p>
        </p:txBody>
      </p:sp>
      <p:sp>
        <p:nvSpPr>
          <p:cNvPr id="6" name="text-332">
            <a:extLst>
              <a:ext uri="{FF2B5EF4-FFF2-40B4-BE49-F238E27FC236}">
                <ns2:creationId id="{DB30A64B-6263-436B-AF57-B01834E2217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33">
            <a:extLst>
              <a:ext uri="{FF2B5EF4-FFF2-40B4-BE49-F238E27FC236}">
                <ns2:creationId id="{FA53D271-EF46-4FC3-84F3-9A5C166AC32A}"/>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Examine unequal errors across source collections.</a:t>
            </a:r>
          </a:p>
        </p:txBody>
      </p:sp>
      <p:sp>
        <p:nvSpPr>
          <p:cNvPr id="8" name="text-334">
            <a:extLst>
              <a:ext uri="{FF2B5EF4-FFF2-40B4-BE49-F238E27FC236}">
                <ns2:creationId id="{2AA6AEC8-EB05-4283-811D-DF1645589B9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5">
            <a:extLst>
              <a:ext uri="{FF2B5EF4-FFF2-40B4-BE49-F238E27FC236}">
                <ns2:creationId id="{F41C5172-AC5F-48C7-B6DC-7B4E98106587}"/>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the restricted-matter incident for 20 minutes.</a:t>
            </a:r>
          </a:p>
        </p:txBody>
      </p:sp>
      <p:sp>
        <p:nvSpPr>
          <p:cNvPr id="10" name="text-336">
            <a:extLst>
              <a:ext uri="{FF2B5EF4-FFF2-40B4-BE49-F238E27FC236}">
                <ns2:creationId id="{C0252115-1C87-4C0F-B430-3FB412BA945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37">
            <a:extLst>
              <a:ext uri="{FF2B5EF4-FFF2-40B4-BE49-F238E27FC236}">
                <ns2:creationId id="{52A2ABAF-4C4F-4FE5-995E-3AF65FFE0B9A}"/>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Draft a use rule and restart conditions.</a:t>
            </a:r>
          </a:p>
        </p:txBody>
      </p:sp>
      <p:sp>
        <p:nvSpPr>
          <p:cNvPr id="12" name="text-338">
            <a:extLst>
              <a:ext uri="{FF2B5EF4-FFF2-40B4-BE49-F238E27FC236}">
                <ns2:creationId id="{BE567149-14D4-46DB-86CD-433636D9B67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329">
            <a:extLst>
              <a:ext uri="{FF2B5EF4-FFF2-40B4-BE49-F238E27FC236}">
                <ns2:creationId id="{4A96ECC5-63C2-4E30-9205-EE31C084D21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17</a:t>
            </a:r>
          </a:p>
        </p:txBody>
      </p:sp>
    </p:spTree>
    <p:extLst>
      <p:ext uri="{BB962C8B-B14F-4D97-AF65-F5344CB8AC3E}">
        <ns3:creationId val="656551529"/>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339">
            <a:extLst>
              <a:ext uri="{FF2B5EF4-FFF2-40B4-BE49-F238E27FC236}">
                <ns2:creationId id="{21DC37B5-2BBB-4A34-8A73-EA8AB16DEF0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40">
            <a:extLst>
              <a:ext uri="{FF2B5EF4-FFF2-40B4-BE49-F238E27FC236}">
                <ns2:creationId id="{49FE02A3-60EE-474E-9CBF-0BD4C2D37A9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342">
            <a:extLst>
              <a:ext uri="{FF2B5EF4-FFF2-40B4-BE49-F238E27FC236}">
                <ns2:creationId id="{45C0776E-EDD5-4DE1-A110-9B9D53D4793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43">
            <a:extLst>
              <a:ext uri="{FF2B5EF4-FFF2-40B4-BE49-F238E27FC236}">
                <ns2:creationId id="{90EC78DF-7C3D-40E5-BB34-A87C68B8508F}"/>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Privacy, professional confidentiality, quality and action authority are distinct risks. Each control needs an owner and a test. Incident response starts with containment and assessment, not a guessed universal reporting deadline.</a:t>
            </a:r>
          </a:p>
        </p:txBody>
      </p:sp>
      <p:sp>
        <p:nvSpPr>
          <p:cNvPr id="6" name="text-344">
            <a:extLst>
              <a:ext uri="{FF2B5EF4-FFF2-40B4-BE49-F238E27FC236}">
                <ns2:creationId id="{159D781E-208E-404C-B47B-A2B11B563D2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5">
            <a:extLst>
              <a:ext uri="{FF2B5EF4-FFF2-40B4-BE49-F238E27FC236}">
                <ns2:creationId id="{559D3424-34A3-4E03-A75D-8257B55751BF}"/>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legal frame is a sourced teaching aid, not an opinion that a particular product or configuration complies.</a:t>
            </a:r>
          </a:p>
        </p:txBody>
      </p:sp>
      <p:sp>
        <p:nvSpPr>
          <p:cNvPr id="3" name="text-341">
            <a:extLst>
              <a:ext uri="{FF2B5EF4-FFF2-40B4-BE49-F238E27FC236}">
                <ns2:creationId id="{45D3546D-72F5-4750-88B7-1F82BFDE152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18</a:t>
            </a:r>
          </a:p>
        </p:txBody>
      </p:sp>
    </p:spTree>
    <p:extLst>
      <p:ext uri="{BB962C8B-B14F-4D97-AF65-F5344CB8AC3E}">
        <ns3:creationId val="1111657754"/>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346">
            <a:extLst>
              <a:ext uri="{FF2B5EF4-FFF2-40B4-BE49-F238E27FC236}">
                <ns2:creationId id="{EB01A57B-F151-4008-80CC-6E15F48847F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47">
            <a:extLst>
              <a:ext uri="{FF2B5EF4-FFF2-40B4-BE49-F238E27FC236}">
                <ns2:creationId id="{AD4BE7B7-74EF-4431-9192-E91087DC368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349">
            <a:extLst>
              <a:ext uri="{FF2B5EF4-FFF2-40B4-BE49-F238E27FC236}">
                <ns2:creationId id="{B69A6853-8357-4CF8-99B4-EC7BD240F96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50">
            <a:extLst>
              <a:ext uri="{FF2B5EF4-FFF2-40B4-BE49-F238E27FC236}">
                <ns2:creationId id="{CB034CE5-9665-4F82-A6B3-E02E17527F0F}"/>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 proportionate pilot policy and assign risk, information, technical and practice owners.</a:t>
            </a:r>
          </a:p>
        </p:txBody>
      </p:sp>
      <p:sp>
        <p:nvSpPr>
          <p:cNvPr id="6" name="text-351">
            <a:extLst>
              <a:ext uri="{FF2B5EF4-FFF2-40B4-BE49-F238E27FC236}">
                <ns2:creationId id="{2A8D913B-0F61-4B59-9B27-77771C4160C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348">
            <a:extLst>
              <a:ext uri="{FF2B5EF4-FFF2-40B4-BE49-F238E27FC236}">
                <ns2:creationId id="{AB051044-A404-4100-B637-768B03FF290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19</a:t>
            </a:r>
          </a:p>
        </p:txBody>
      </p:sp>
    </p:spTree>
    <p:extLst>
      <p:ext uri="{BB962C8B-B14F-4D97-AF65-F5344CB8AC3E}">
        <ns3:creationId val="847849903"/>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352">
            <a:extLst>
              <a:ext uri="{FF2B5EF4-FFF2-40B4-BE49-F238E27FC236}">
                <ns2:creationId id="{44BAB762-F77C-45B8-AFC5-F940317E4F5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53">
            <a:extLst>
              <a:ext uri="{FF2B5EF4-FFF2-40B4-BE49-F238E27FC236}">
                <ns2:creationId id="{F98EE58D-CCB8-48E2-856A-A58A527E80B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355">
            <a:extLst>
              <a:ext uri="{FF2B5EF4-FFF2-40B4-BE49-F238E27FC236}">
                <ns2:creationId id="{A9DDF072-CE76-48BF-AAD0-D81DF78E103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56">
            <a:extLst>
              <a:ext uri="{FF2B5EF4-FFF2-40B4-BE49-F238E27FC236}">
                <ns2:creationId id="{ED0DD369-955E-4EBA-BF3B-B006B7E7E8EC}"/>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No-training is enabled. What other data questions remain?</a:t>
            </a:r>
          </a:p>
        </p:txBody>
      </p:sp>
      <p:sp>
        <p:nvSpPr>
          <p:cNvPr id="6" name="text-357">
            <a:extLst>
              <a:ext uri="{FF2B5EF4-FFF2-40B4-BE49-F238E27FC236}">
                <ns2:creationId id="{F7C97CBF-090C-4614-A27B-E77671C0568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58">
            <a:extLst>
              <a:ext uri="{FF2B5EF4-FFF2-40B4-BE49-F238E27FC236}">
                <ns2:creationId id="{8760F458-F504-4876-99C0-D2CF98A7652C}"/>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scanned collection has more errors. What must be measured?</a:t>
            </a:r>
          </a:p>
        </p:txBody>
      </p:sp>
      <p:sp>
        <p:nvSpPr>
          <p:cNvPr id="8" name="text-359">
            <a:extLst>
              <a:ext uri="{FF2B5EF4-FFF2-40B4-BE49-F238E27FC236}">
                <ns2:creationId id="{B3252C94-B50B-46F0-8E00-BC6AD0E02959}"/>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60">
            <a:extLst>
              <a:ext uri="{FF2B5EF4-FFF2-40B4-BE49-F238E27FC236}">
                <ns2:creationId id="{5ED43357-82D0-408F-BF29-69D0EE711A9D}"/>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restricted passage entered a draft. What is the first response?</a:t>
            </a:r>
          </a:p>
        </p:txBody>
      </p:sp>
      <p:sp>
        <p:nvSpPr>
          <p:cNvPr id="3" name="text-354">
            <a:extLst>
              <a:ext uri="{FF2B5EF4-FFF2-40B4-BE49-F238E27FC236}">
                <ns2:creationId id="{86EA1A2E-7C78-4703-B5FD-636810F558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20</a:t>
            </a:r>
          </a:p>
        </p:txBody>
      </p:sp>
    </p:spTree>
    <p:extLst>
      <p:ext uri="{BB962C8B-B14F-4D97-AF65-F5344CB8AC3E}">
        <ns3:creationId val="1084700768"/>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Information and authority">
    <p:bg>
      <p:bgPr>
        <a:solidFill>
          <a:srgbClr val="FFFFFF"/>
        </a:solidFill>
      </p:bgPr>
    </p:bg>
    <p:spTree>
      <p:nvGrpSpPr>
        <p:cNvPr id="1" name=""/>
        <p:cNvGrpSpPr/>
        <p:nvPr/>
      </p:nvGrpSpPr>
      <p:grpSpPr>
        <a:xfrm/>
      </p:grpSpPr>
      <p:sp>
        <p:nvSpPr>
          <p:cNvPr id="5" name="text-361">
            <a:extLst>
              <a:ext uri="{FF2B5EF4-FFF2-40B4-BE49-F238E27FC236}">
                <ns2:creationId id="{CA0747F8-3D29-4E3B-A978-93A2ECC7ED4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62">
            <a:extLst>
              <a:ext uri="{FF2B5EF4-FFF2-40B4-BE49-F238E27FC236}">
                <ns2:creationId id="{3395DBFB-DA71-4546-8C28-ED2864871B1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Information and authority</a:t>
            </a:r>
          </a:p>
        </p:txBody>
      </p:sp>
      <p:graphicFrame>
        <p:nvGraphicFramePr>
          <p:cNvPr id="4" name="">
            <a:extLst>
              <a:ext uri="{FF2B5EF4-FFF2-40B4-BE49-F238E27FC236}">
                <ns2:creationId id="{2769D49C-49CB-4F37-90FD-DEC0446BE599}"/>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Concern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the firm establishes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Client confidentiality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Permitted purpose, tool and disclosure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Personal data</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obligations, access and handling</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Privilege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Specific legal and factual assessment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Third-party content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Rights, licence and intended use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63">
            <a:extLst>
              <a:ext uri="{FF2B5EF4-FFF2-40B4-BE49-F238E27FC236}">
                <ns2:creationId id="{558FBFD6-B49F-41E5-8AB6-BD57EC060C5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21   OPTIONAL EXPLORATION</a:t>
            </a:r>
          </a:p>
        </p:txBody>
      </p:sp>
    </p:spTree>
    <p:extLst>
      <p:ext uri="{BB962C8B-B14F-4D97-AF65-F5344CB8AC3E}">
        <ns3:creationId val="1992597768"/>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Privacy and the organisation’s role">
    <p:bg>
      <p:bgPr>
        <a:solidFill>
          <a:srgbClr val="FFFFFF"/>
        </a:solidFill>
      </p:bgPr>
    </p:bg>
    <p:spTree>
      <p:nvGrpSpPr>
        <p:cNvPr id="1" name=""/>
        <p:cNvGrpSpPr/>
        <p:nvPr/>
      </p:nvGrpSpPr>
      <p:grpSpPr>
        <a:xfrm/>
      </p:grpSpPr>
      <p:sp>
        <p:nvSpPr>
          <p:cNvPr id="12" name="text-364">
            <a:extLst>
              <a:ext uri="{FF2B5EF4-FFF2-40B4-BE49-F238E27FC236}">
                <ns2:creationId id="{CB9FF112-2DAF-4F1E-9827-D6684F7861C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65">
            <a:extLst>
              <a:ext uri="{FF2B5EF4-FFF2-40B4-BE49-F238E27FC236}">
                <ns2:creationId id="{8497307F-454C-4CB4-B508-D4E040D4162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Privacy and the organisation’s role</a:t>
            </a:r>
          </a:p>
        </p:txBody>
      </p:sp>
      <p:sp>
        <p:nvSpPr>
          <p:cNvPr id="4" name="text-367">
            <a:extLst>
              <a:ext uri="{FF2B5EF4-FFF2-40B4-BE49-F238E27FC236}">
                <ns2:creationId id="{2074AF47-E5A3-4719-A7E4-10D088AE96F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68">
            <a:extLst>
              <a:ext uri="{FF2B5EF4-FFF2-40B4-BE49-F238E27FC236}">
                <ns2:creationId id="{21A38165-5FF5-4C6A-9609-448C2ABCCEF9}"/>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purpose and data involved.</a:t>
            </a:r>
          </a:p>
        </p:txBody>
      </p:sp>
      <p:sp>
        <p:nvSpPr>
          <p:cNvPr id="6" name="text-369">
            <a:extLst>
              <a:ext uri="{FF2B5EF4-FFF2-40B4-BE49-F238E27FC236}">
                <ns2:creationId id="{3C8FAB0A-C39B-4910-969E-070F49F3EBA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70">
            <a:extLst>
              <a:ext uri="{FF2B5EF4-FFF2-40B4-BE49-F238E27FC236}">
                <ns2:creationId id="{3F7302CB-B69B-4E9D-83B5-9351FB76BB8E}"/>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Establish responsibilities and provider arrangements.</a:t>
            </a:r>
          </a:p>
        </p:txBody>
      </p:sp>
      <p:sp>
        <p:nvSpPr>
          <p:cNvPr id="8" name="text-371">
            <a:extLst>
              <a:ext uri="{FF2B5EF4-FFF2-40B4-BE49-F238E27FC236}">
                <ns2:creationId id="{711BD6D6-E18C-41DB-8331-09C93785E0E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2">
            <a:extLst>
              <a:ext uri="{FF2B5EF4-FFF2-40B4-BE49-F238E27FC236}">
                <ns2:creationId id="{52C17C58-0BAE-451B-AAAD-488D5998E2E7}"/>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Assess access, storage, transfers and retention.</a:t>
            </a:r>
          </a:p>
        </p:txBody>
      </p:sp>
      <p:sp>
        <p:nvSpPr>
          <p:cNvPr id="10" name="text-373">
            <a:extLst>
              <a:ext uri="{FF2B5EF4-FFF2-40B4-BE49-F238E27FC236}">
                <ns2:creationId id="{D0935038-D69F-4FAF-B9FB-FA35AA7E4F03}"/>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74">
            <a:extLst>
              <a:ext uri="{FF2B5EF4-FFF2-40B4-BE49-F238E27FC236}">
                <ns2:creationId id="{55A4993A-E38A-4243-87E7-FF720A57DD9E}"/>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required decisions and monitoring.</a:t>
            </a:r>
          </a:p>
        </p:txBody>
      </p:sp>
      <p:sp>
        <p:nvSpPr>
          <p:cNvPr id="3" name="text-366">
            <a:extLst>
              <a:ext uri="{FF2B5EF4-FFF2-40B4-BE49-F238E27FC236}">
                <ns2:creationId id="{C99F0302-486D-49A8-B111-A70509CCCBD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22   OPTIONAL EXPLORATION</a:t>
            </a:r>
          </a:p>
        </p:txBody>
      </p:sp>
    </p:spTree>
    <p:extLst>
      <p:ext uri="{BB962C8B-B14F-4D97-AF65-F5344CB8AC3E}">
        <ns3:creationId val="364333639"/>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nswer-quality risks">
    <p:bg>
      <p:bgPr>
        <a:solidFill>
          <a:srgbClr val="FFFFFF"/>
        </a:solidFill>
      </p:bgPr>
    </p:bg>
    <p:spTree>
      <p:nvGrpSpPr>
        <p:cNvPr id="1" name=""/>
        <p:cNvGrpSpPr/>
        <p:nvPr/>
      </p:nvGrpSpPr>
      <p:grpSpPr>
        <a:xfrm/>
      </p:grpSpPr>
      <p:sp>
        <p:nvSpPr>
          <p:cNvPr id="5" name="text-375">
            <a:extLst>
              <a:ext uri="{FF2B5EF4-FFF2-40B4-BE49-F238E27FC236}">
                <ns2:creationId id="{1E5F656B-EDEC-49B3-9AE7-2687536C3E8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76">
            <a:extLst>
              <a:ext uri="{FF2B5EF4-FFF2-40B4-BE49-F238E27FC236}">
                <ns2:creationId id="{A0C90562-B7A6-4DE2-88B4-FDA7F91AEE9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Answer-quality risks</a:t>
            </a:r>
          </a:p>
        </p:txBody>
      </p:sp>
      <p:graphicFrame>
        <p:nvGraphicFramePr>
          <p:cNvPr id="4" name="">
            <a:extLst>
              <a:ext uri="{FF2B5EF4-FFF2-40B4-BE49-F238E27FC236}">
                <ns2:creationId id="{B20DB6F4-910F-4994-80A7-D65564986FDA}"/>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Risk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Mitigation to test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Invented authority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Verify identity and supporting passage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Lost exception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Targeted clause tests and source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Stale source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Version ownership and update tests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False confidence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Unanswerable questions and escalation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77">
            <a:extLst>
              <a:ext uri="{FF2B5EF4-FFF2-40B4-BE49-F238E27FC236}">
                <ns2:creationId id="{9A8A8C31-06D6-4A03-9FBA-1D4B0A8D5C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23   OPTIONAL EXPLORATION</a:t>
            </a:r>
          </a:p>
        </p:txBody>
      </p:sp>
    </p:spTree>
    <p:extLst>
      <p:ext uri="{BB962C8B-B14F-4D97-AF65-F5344CB8AC3E}">
        <ns3:creationId val="6942406"/>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Proportionate governance">
    <p:bg>
      <p:bgPr>
        <a:solidFill>
          <a:srgbClr val="FFFFFF"/>
        </a:solidFill>
      </p:bgPr>
    </p:bg>
    <p:spTree>
      <p:nvGrpSpPr>
        <p:cNvPr id="1" name=""/>
        <p:cNvGrpSpPr/>
        <p:nvPr/>
      </p:nvGrpSpPr>
      <p:grpSpPr>
        <a:xfrm/>
      </p:grpSpPr>
      <p:sp>
        <p:nvSpPr>
          <p:cNvPr id="10" name="text-378">
            <a:extLst>
              <a:ext uri="{FF2B5EF4-FFF2-40B4-BE49-F238E27FC236}">
                <ns2:creationId id="{54FE6819-1445-4896-AFDD-2D4C4799C77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79">
            <a:extLst>
              <a:ext uri="{FF2B5EF4-FFF2-40B4-BE49-F238E27FC236}">
                <ns2:creationId id="{0C463C83-1BA6-41D8-9F71-58FA9D434E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Proportionate governance</a:t>
            </a:r>
          </a:p>
        </p:txBody>
      </p:sp>
      <p:sp>
        <p:nvSpPr>
          <p:cNvPr id="4" name="text-381">
            <a:extLst>
              <a:ext uri="{FF2B5EF4-FFF2-40B4-BE49-F238E27FC236}">
                <ns2:creationId id="{0B17906A-47AA-4722-A432-AC2B479CE16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82">
            <a:extLst>
              <a:ext uri="{FF2B5EF4-FFF2-40B4-BE49-F238E27FC236}">
                <ns2:creationId id="{62CDFF77-2A99-4296-BC14-FC053690D951}"/>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public-source summary and a filing agent need different controls.</a:t>
            </a:r>
          </a:p>
        </p:txBody>
      </p:sp>
      <p:sp>
        <p:nvSpPr>
          <p:cNvPr id="6" name="text-383">
            <a:extLst>
              <a:ext uri="{FF2B5EF4-FFF2-40B4-BE49-F238E27FC236}">
                <ns2:creationId id="{C54DCC4B-DD33-41DE-95CD-D882AE85415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84">
            <a:extLst>
              <a:ext uri="{FF2B5EF4-FFF2-40B4-BE49-F238E27FC236}">
                <ns2:creationId id="{B83D6A1F-B37F-4FD7-A374-A40B6FA67C5A}"/>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Higher consequences require stronger evidence and oversight.</a:t>
            </a:r>
          </a:p>
        </p:txBody>
      </p:sp>
      <p:sp>
        <p:nvSpPr>
          <p:cNvPr id="8" name="text-385">
            <a:extLst>
              <a:ext uri="{FF2B5EF4-FFF2-40B4-BE49-F238E27FC236}">
                <ns2:creationId id="{5D382E32-CFE1-4FA0-90AC-71B4CC2E17E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86">
            <a:extLst>
              <a:ext uri="{FF2B5EF4-FFF2-40B4-BE49-F238E27FC236}">
                <ns2:creationId id="{4088557C-5F04-4214-8698-B9FE6D3336E1}"/>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 controls when the use or authority changes.</a:t>
            </a:r>
          </a:p>
        </p:txBody>
      </p:sp>
      <p:sp>
        <p:nvSpPr>
          <p:cNvPr id="3" name="text-380">
            <a:extLst>
              <a:ext uri="{FF2B5EF4-FFF2-40B4-BE49-F238E27FC236}">
                <ns2:creationId id="{3A899D1D-2F0A-40AC-B53C-213BEBD7FDE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24   OPTIONAL EXPLORATION</a:t>
            </a:r>
          </a:p>
        </p:txBody>
      </p:sp>
    </p:spTree>
    <p:extLst>
      <p:ext uri="{BB962C8B-B14F-4D97-AF65-F5344CB8AC3E}">
        <ns3:creationId val="265155636"/>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The partner’s governance decision">
    <p:bg>
      <p:bgPr>
        <a:solidFill>
          <a:srgbClr val="FFFFFF"/>
        </a:solidFill>
      </p:bgPr>
    </p:bg>
    <p:spTree>
      <p:nvGrpSpPr>
        <p:cNvPr id="1" name=""/>
        <p:cNvGrpSpPr/>
        <p:nvPr/>
      </p:nvGrpSpPr>
      <p:grpSpPr>
        <a:xfrm/>
      </p:grpSpPr>
      <p:sp>
        <p:nvSpPr>
          <p:cNvPr id="10" name="text-387">
            <a:extLst>
              <a:ext uri="{FF2B5EF4-FFF2-40B4-BE49-F238E27FC236}">
                <ns2:creationId id="{06A2866C-9614-4392-BC77-57F4DD1817B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11</a:t>
            </a:r>
          </a:p>
        </p:txBody>
      </p:sp>
      <p:sp>
        <p:nvSpPr>
          <p:cNvPr id="2" name="text-388">
            <a:extLst>
              <a:ext uri="{FF2B5EF4-FFF2-40B4-BE49-F238E27FC236}">
                <ns2:creationId id="{CFBCA856-6BE8-48F6-A641-83AED706A10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partner’s governance decision</a:t>
            </a:r>
          </a:p>
        </p:txBody>
      </p:sp>
      <p:sp>
        <p:nvSpPr>
          <p:cNvPr id="4" name="text-390">
            <a:extLst>
              <a:ext uri="{FF2B5EF4-FFF2-40B4-BE49-F238E27FC236}">
                <ns2:creationId id="{49E7E59E-6D59-4BE6-8FEB-89DD80C34C0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91">
            <a:extLst>
              <a:ext uri="{FF2B5EF4-FFF2-40B4-BE49-F238E27FC236}">
                <ns2:creationId id="{74D1B043-2EF0-4D19-95B2-52D406D3FE9D}"/>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 limited use, require further work or stop.</a:t>
            </a:r>
          </a:p>
        </p:txBody>
      </p:sp>
      <p:sp>
        <p:nvSpPr>
          <p:cNvPr id="6" name="text-392">
            <a:extLst>
              <a:ext uri="{FF2B5EF4-FFF2-40B4-BE49-F238E27FC236}">
                <ns2:creationId id="{57A08EDA-1FD0-4976-862B-3AE1F22776A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3">
            <a:extLst>
              <a:ext uri="{FF2B5EF4-FFF2-40B4-BE49-F238E27FC236}">
                <ns2:creationId id="{E8DCACBA-35E8-42E3-BBD3-BB39BBBA3C38}"/>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why the evidence supports the decision.</a:t>
            </a:r>
          </a:p>
        </p:txBody>
      </p:sp>
      <p:sp>
        <p:nvSpPr>
          <p:cNvPr id="8" name="text-394">
            <a:extLst>
              <a:ext uri="{FF2B5EF4-FFF2-40B4-BE49-F238E27FC236}">
                <ns2:creationId id="{68B71165-0BB5-49D7-BA57-941B556BFDA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95">
            <a:extLst>
              <a:ext uri="{FF2B5EF4-FFF2-40B4-BE49-F238E27FC236}">
                <ns2:creationId id="{493E57A6-B4C7-4BE2-A172-AEB6C0A6B54F}"/>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Assign monitoring and the next review point.</a:t>
            </a:r>
          </a:p>
        </p:txBody>
      </p:sp>
      <p:sp>
        <p:nvSpPr>
          <p:cNvPr id="3" name="text-389">
            <a:extLst>
              <a:ext uri="{FF2B5EF4-FFF2-40B4-BE49-F238E27FC236}">
                <ns2:creationId id="{D4CE581A-4CE3-4B82-811D-F5D9D9BC9A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11   25   OPTIONAL EXPLORATION</a:t>
            </a:r>
          </a:p>
        </p:txBody>
      </p:sp>
    </p:spTree>
    <p:extLst>
      <p:ext uri="{BB962C8B-B14F-4D97-AF65-F5344CB8AC3E}">
        <ns3:creationId val="40113080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2026-10-26T10:01:51.4610000Z</dcterms:created>
  <dcterms:modified xsi:type="dcterms:W3CDTF">2026-10-26T10:01:51.4610000Z</dcterms:modified>
</coreProperties>
</file>