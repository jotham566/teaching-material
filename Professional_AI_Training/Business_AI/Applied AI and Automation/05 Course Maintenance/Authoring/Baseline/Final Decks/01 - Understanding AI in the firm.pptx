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9dcb028ce24154" /><Relationship Type="http://schemas.openxmlformats.org/officeDocument/2006/relationships/extended-properties" Target="/docProps/app.xml" Id="R993b27d55bdd4323" /><Relationship Type="http://schemas.openxmlformats.org/officeDocument/2006/relationships/officeDocument" Target="/ppt/presentation.xml" Id="R59fbdb1c2c6a41e3" /></Relationships>
</file>

<file path=ppt/presentation.xml><?xml version="1.0" encoding="utf-8"?>
<p:presentation xmlns:p="http://schemas.openxmlformats.org/presentationml/2006/main" xmlns:r="http://schemas.openxmlformats.org/officeDocument/2006/relationships">
  <p:sldMasterIdLst>
    <p:sldMasterId id="2147483648" r:id="R1edf2e09d62445e1"/>
  </p:sldMasterIdLst>
  <p:notesMasterIdLst>
    <p:notesMasterId r:id="Re92f6a659b144e9f"/>
  </p:notesMasterIdLst>
  <p:sldIdLst>
    <p:sldId id="256" r:id="R6c4331ff114548d9"/>
    <p:sldId id="257" r:id="R82d46d6a71ee4b08"/>
    <p:sldId id="258" r:id="R1a6d680ed33642ee"/>
    <p:sldId id="259" r:id="R29446f17bfe64901"/>
    <p:sldId id="260" r:id="Raa9a92e401824cb3"/>
    <p:sldId id="261" r:id="R9d844c8a40184d2f"/>
    <p:sldId id="262" r:id="R6ee81be2b9cc4941"/>
    <p:sldId id="263" r:id="R16451aa5351e454f"/>
    <p:sldId id="264" r:id="R236721e2835b4cb0"/>
    <p:sldId id="265" r:id="Re97a21dfd21c455c"/>
    <p:sldId id="266" r:id="R7eb7c6f15ee447d6"/>
    <p:sldId id="267" r:id="Rc903f90181334d65"/>
    <p:sldId id="268" r:id="R502482fd72944c00"/>
    <p:sldId id="269" r:id="R752890ae18ee413c"/>
    <p:sldId id="270" r:id="R3edb11da38734524"/>
    <p:sldId id="271" r:id="Ra6b1102c02d64988"/>
    <p:sldId id="272" r:id="Re2ff3cf4f31b470c"/>
    <p:sldId id="273" r:id="Rfcf472de8d1347a3"/>
    <p:sldId id="274" r:id="R17a2fefb6aa94bbf"/>
    <p:sldId id="275" r:id="R42605440cd974291"/>
    <p:sldId id="276" r:id="Rb6565995e56a4c0b"/>
    <p:sldId id="277" r:id="R5d9a478c66f84b16"/>
  </p:sldIdLst>
  <p:sldSz cx="12192000" cy="6858000"/>
  <p:notesSz cx="6858000" cy="9144000"/>
  <p:custShowLst>
    <p:custShow name="Core teaching" id="1">
      <p:sldLst>
        <p:sld r:id="R6c4331ff114548d9"/>
        <p:sld r:id="R82d46d6a71ee4b08"/>
        <p:sld r:id="R1a6d680ed33642ee"/>
        <p:sld r:id="R29446f17bfe64901"/>
        <p:sld r:id="Raa9a92e401824cb3"/>
        <p:sld r:id="R9d844c8a40184d2f"/>
        <p:sld r:id="R6ee81be2b9cc4941"/>
        <p:sld r:id="R16451aa5351e454f"/>
        <p:sld r:id="R236721e2835b4cb0"/>
        <p:sld r:id="Re97a21dfd21c455c"/>
        <p:sld r:id="R7eb7c6f15ee447d6"/>
        <p:sld r:id="Rc903f90181334d65"/>
        <p:sld r:id="R502482fd72944c00"/>
        <p:sld r:id="R752890ae18ee413c"/>
        <p:sld r:id="R3edb11da38734524"/>
        <p:sld r:id="Ra6b1102c02d64988"/>
        <p:sld r:id="Re2ff3cf4f31b470c"/>
        <p:sld r:id="Rfcf472de8d1347a3"/>
        <p:sld r:id="R17a2fefb6aa94bbf"/>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9978965340425c" /><Relationship Type="http://schemas.openxmlformats.org/officeDocument/2006/relationships/slideMaster" Target="/ppt/slideMasters/slideMaster1.xml" Id="R1edf2e09d62445e1" /><Relationship Type="http://schemas.openxmlformats.org/officeDocument/2006/relationships/notesMaster" Target="/ppt/notesMasters/notesMaster1.xml" Id="Re92f6a659b144e9f" /><Relationship Type="http://schemas.openxmlformats.org/officeDocument/2006/relationships/presProps" Target="/ppt/presProps.xml" Id="R2e1a2745c0694974" /><Relationship Type="http://schemas.openxmlformats.org/officeDocument/2006/relationships/tableStyles" Target="/ppt/tableStyles.xml" Id="R2f15d2b01ea74848" /><Relationship Type="http://schemas.openxmlformats.org/officeDocument/2006/relationships/slide" Target="/ppt/slides/slide1.xml" Id="R6c4331ff114548d9" /><Relationship Type="http://schemas.openxmlformats.org/officeDocument/2006/relationships/slide" Target="/ppt/slides/slide2.xml" Id="R82d46d6a71ee4b08" /><Relationship Type="http://schemas.openxmlformats.org/officeDocument/2006/relationships/slide" Target="/ppt/slides/slide3.xml" Id="R1a6d680ed33642ee" /><Relationship Type="http://schemas.openxmlformats.org/officeDocument/2006/relationships/slide" Target="/ppt/slides/slide4.xml" Id="R29446f17bfe64901" /><Relationship Type="http://schemas.openxmlformats.org/officeDocument/2006/relationships/slide" Target="/ppt/slides/slide5.xml" Id="Raa9a92e401824cb3" /><Relationship Type="http://schemas.openxmlformats.org/officeDocument/2006/relationships/slide" Target="/ppt/slides/slide6.xml" Id="R9d844c8a40184d2f" /><Relationship Type="http://schemas.openxmlformats.org/officeDocument/2006/relationships/slide" Target="/ppt/slides/slide7.xml" Id="R6ee81be2b9cc4941" /><Relationship Type="http://schemas.openxmlformats.org/officeDocument/2006/relationships/slide" Target="/ppt/slides/slide8.xml" Id="R16451aa5351e454f" /><Relationship Type="http://schemas.openxmlformats.org/officeDocument/2006/relationships/slide" Target="/ppt/slides/slide9.xml" Id="R236721e2835b4cb0" /><Relationship Type="http://schemas.openxmlformats.org/officeDocument/2006/relationships/slide" Target="/ppt/slides/slide10.xml" Id="Re97a21dfd21c455c" /><Relationship Type="http://schemas.openxmlformats.org/officeDocument/2006/relationships/slide" Target="/ppt/slides/slide11.xml" Id="R7eb7c6f15ee447d6" /><Relationship Type="http://schemas.openxmlformats.org/officeDocument/2006/relationships/slide" Target="/ppt/slides/slide12.xml" Id="Rc903f90181334d65" /><Relationship Type="http://schemas.openxmlformats.org/officeDocument/2006/relationships/slide" Target="/ppt/slides/slide13.xml" Id="R502482fd72944c00" /><Relationship Type="http://schemas.openxmlformats.org/officeDocument/2006/relationships/slide" Target="/ppt/slides/slide14.xml" Id="R752890ae18ee413c" /><Relationship Type="http://schemas.openxmlformats.org/officeDocument/2006/relationships/slide" Target="/ppt/slides/slide15.xml" Id="R3edb11da38734524" /><Relationship Type="http://schemas.openxmlformats.org/officeDocument/2006/relationships/slide" Target="/ppt/slides/slide16.xml" Id="Ra6b1102c02d64988" /><Relationship Type="http://schemas.openxmlformats.org/officeDocument/2006/relationships/slide" Target="/ppt/slides/slide17.xml" Id="Re2ff3cf4f31b470c" /><Relationship Type="http://schemas.openxmlformats.org/officeDocument/2006/relationships/slide" Target="/ppt/slides/slide18.xml" Id="Rfcf472de8d1347a3" /><Relationship Type="http://schemas.openxmlformats.org/officeDocument/2006/relationships/slide" Target="/ppt/slides/slide19.xml" Id="R17a2fefb6aa94bbf" /><Relationship Type="http://schemas.openxmlformats.org/officeDocument/2006/relationships/slide" Target="/ppt/slides/slide20.xml" Id="R42605440cd974291" /><Relationship Type="http://schemas.openxmlformats.org/officeDocument/2006/relationships/slide" Target="/ppt/slides/slide21.xml" Id="Rb6565995e56a4c0b" /><Relationship Type="http://schemas.openxmlformats.org/officeDocument/2006/relationships/slide" Target="/ppt/slides/slide22.xml" Id="R5d9a478c66f84b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de8bb28f514e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2d8e4a023478f" /><Relationship Type="http://schemas.openxmlformats.org/officeDocument/2006/relationships/notesMaster" Target="/ppt/notesMasters/notesMaster1.xml" Id="R30e985d5e7fb43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c373c25dc4451b" /><Relationship Type="http://schemas.openxmlformats.org/officeDocument/2006/relationships/notesMaster" Target="/ppt/notesMasters/notesMaster1.xml" Id="Rfc98a379e15845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b0411dc4a842bc" /><Relationship Type="http://schemas.openxmlformats.org/officeDocument/2006/relationships/notesMaster" Target="/ppt/notesMasters/notesMaster1.xml" Id="R96d68ed461d845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7dff4358ec4b4d" /><Relationship Type="http://schemas.openxmlformats.org/officeDocument/2006/relationships/notesMaster" Target="/ppt/notesMasters/notesMaster1.xml" Id="Rde350082103a42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f4039821fe4edf" /><Relationship Type="http://schemas.openxmlformats.org/officeDocument/2006/relationships/notesMaster" Target="/ppt/notesMasters/notesMaster1.xml" Id="Rb4bb9074066046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7813206e794bd7" /><Relationship Type="http://schemas.openxmlformats.org/officeDocument/2006/relationships/notesMaster" Target="/ppt/notesMasters/notesMaster1.xml" Id="Re7b3b7c0582f4c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ea573a28264b49" /><Relationship Type="http://schemas.openxmlformats.org/officeDocument/2006/relationships/notesMaster" Target="/ppt/notesMasters/notesMaster1.xml" Id="Rd5986df9c70349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ae33e53d6c40f8" /><Relationship Type="http://schemas.openxmlformats.org/officeDocument/2006/relationships/notesMaster" Target="/ppt/notesMasters/notesMaster1.xml" Id="Re99b49b61f5544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482babdca443f6" /><Relationship Type="http://schemas.openxmlformats.org/officeDocument/2006/relationships/notesMaster" Target="/ppt/notesMasters/notesMaster1.xml" Id="R97bd2b06c7574c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b953fcc5c24055" /><Relationship Type="http://schemas.openxmlformats.org/officeDocument/2006/relationships/notesMaster" Target="/ppt/notesMasters/notesMaster1.xml" Id="R89af65d1567844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277a556cae46d5" /><Relationship Type="http://schemas.openxmlformats.org/officeDocument/2006/relationships/notesMaster" Target="/ppt/notesMasters/notesMaster1.xml" Id="R64c508dbe1184b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029a12a6294e5d" /><Relationship Type="http://schemas.openxmlformats.org/officeDocument/2006/relationships/notesMaster" Target="/ppt/notesMasters/notesMaster1.xml" Id="R7da5cb0dc5ca48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285b6a352d4510" /><Relationship Type="http://schemas.openxmlformats.org/officeDocument/2006/relationships/notesMaster" Target="/ppt/notesMasters/notesMaster1.xml" Id="Re57df77e8a914e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d6b2c217e44152" /><Relationship Type="http://schemas.openxmlformats.org/officeDocument/2006/relationships/notesMaster" Target="/ppt/notesMasters/notesMaster1.xml" Id="Rbaf249ecda1641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65b32296d447c3" /><Relationship Type="http://schemas.openxmlformats.org/officeDocument/2006/relationships/notesMaster" Target="/ppt/notesMasters/notesMaster1.xml" Id="R60415379b29148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f0ed5e60114abb" /><Relationship Type="http://schemas.openxmlformats.org/officeDocument/2006/relationships/notesMaster" Target="/ppt/notesMasters/notesMaster1.xml" Id="R6c467a01e4e04b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924af462c84393" /><Relationship Type="http://schemas.openxmlformats.org/officeDocument/2006/relationships/notesMaster" Target="/ppt/notesMasters/notesMaster1.xml" Id="R48ce96f3b40f4c9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ee19a354874d5b" /><Relationship Type="http://schemas.openxmlformats.org/officeDocument/2006/relationships/notesMaster" Target="/ppt/notesMasters/notesMaster1.xml" Id="R667ec12f76c441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d54308542594b65" /><Relationship Type="http://schemas.openxmlformats.org/officeDocument/2006/relationships/notesMaster" Target="/ppt/notesMasters/notesMaster1.xml" Id="R0eb6071f3fea42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7aad29ea7442f4" /><Relationship Type="http://schemas.openxmlformats.org/officeDocument/2006/relationships/notesMaster" Target="/ppt/notesMasters/notesMaster1.xml" Id="R5605b55256eb48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d1725e817e4954" /><Relationship Type="http://schemas.openxmlformats.org/officeDocument/2006/relationships/notesMaster" Target="/ppt/notesMasters/notesMaster1.xml" Id="Re1db539df8db44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6ce8404290402b" /><Relationship Type="http://schemas.openxmlformats.org/officeDocument/2006/relationships/notesMaster" Target="/ppt/notesMasters/notesMaster1.xml" Id="R6f5c460384b743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I will ask: Name a task you trust AI with today and a task you would check. I will record the learner’s explanation before showing the answer. Any concrete example is acceptable; record the reason as a baseline.</a:t>
            </a:r>
          </a:p>
          <a:p xmlns:a="http://schemas.openxmlformats.org/drawingml/2006/main">
            <a:r>
              <a:t/>
            </a:r>
          </a:p>
          <a:p xmlns:a="http://schemas.openxmlformats.org/drawingml/2006/main">
            <a:r>
              <a:t>Ask: Name a task you trust AI with today and a task you would check.</a:t>
            </a:r>
          </a:p>
          <a:p xmlns:a="http://schemas.openxmlformats.org/drawingml/2006/main">
            <a:r>
              <a:t/>
            </a:r>
          </a:p>
          <a:p xmlns:a="http://schemas.openxmlformats.org/drawingml/2006/main">
            <a:r>
              <a:t>Expected answer: Any concrete example is acceptable; record the reason as a baseline.</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Name a task you trust AI with today and a task you would check. A supported answer should establish: Any concrete example is acceptable; record the reason as a baseline.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Your starting point.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Ask without showing the prior result. Any concrete example is acceptable; record the reason as a baseline. Invite a reason, then connect the answer to today’s question.</a:t>
            </a:r>
          </a:p>
          <a:p xmlns:a="http://schemas.openxmlformats.org/drawingml/2006/main">
            <a:r>
              <a:t/>
            </a:r>
          </a:p>
          <a:p xmlns:a="http://schemas.openxmlformats.org/drawingml/2006/main">
            <a:r>
              <a:t>Ask: Name a task you trust AI with today and a task you would check.</a:t>
            </a:r>
          </a:p>
          <a:p xmlns:a="http://schemas.openxmlformats.org/drawingml/2006/main">
            <a:r>
              <a:t/>
            </a:r>
          </a:p>
          <a:p xmlns:a="http://schemas.openxmlformats.org/drawingml/2006/main">
            <a:r>
              <a:t>Expected answer: Any concrete example is acceptable; record the reason as a baseline.</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Name a task you trust AI with today and a task you would check. A supported answer should establish: Any concrete example is acceptable; record the reason as a baseline.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One firm and one matter.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Introduce the people and the commercial question before any terminology. The provider Equator proposes an internal group reorganisation and asks what its service agreement requires. The tax team also needs to reconcile September records.</a:t>
            </a:r>
          </a:p>
          <a:p xmlns:a="http://schemas.openxmlformats.org/drawingml/2006/main">
            <a:r>
              <a:t/>
            </a:r>
          </a:p>
          <a:p xmlns:a="http://schemas.openxmlformats.org/drawingml/2006/main">
            <a:r>
              <a:t>Ask: What information would you ask for first?</a:t>
            </a:r>
          </a:p>
          <a:p xmlns:a="http://schemas.openxmlformats.org/drawingml/2006/main">
            <a:r>
              <a:t/>
            </a:r>
          </a:p>
          <a:p xmlns:a="http://schemas.openxmlformats.org/drawingml/2006/main">
            <a:r>
              <a:t>Expected answer: The executed agreement, proposed transaction facts, relevant advice and source financial records.</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What information would you ask for first? A supported answer should establish: The executed agreement, proposed transaction facts, relevant advice and source financial records.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recurring information collection.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Show the matter folder. Separate client evidence, firm policy and public authority. Their roles differ even when AI can read them all.</a:t>
            </a:r>
          </a:p>
          <a:p xmlns:a="http://schemas.openxmlformats.org/drawingml/2006/main">
            <a:r>
              <a:t/>
            </a:r>
          </a:p>
          <a:p xmlns:a="http://schemas.openxmlformats.org/drawingml/2006/main">
            <a:r>
              <a:t>Ask: Would every document carry equal authority?</a:t>
            </a:r>
          </a:p>
          <a:p xmlns:a="http://schemas.openxmlformats.org/drawingml/2006/main">
            <a:r>
              <a:t/>
            </a:r>
          </a:p>
          <a:p xmlns:a="http://schemas.openxmlformats.org/drawingml/2006/main">
            <a:r>
              <a:t>Expected answer: No. Establish which document governs the question and which sources merely provide context.</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Would every document carry equal authority? A supported answer should establish: No. Establish which document governs the question and which sources merely provide context.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AI systems.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This is a paraphrase of the OECD AI-system definition, not a quotation defining the entire academic field. Inference distinguishes deriving an output from merely storing a record. It does not establish accuracy or autonomy in every product.</a:t>
            </a:r>
          </a:p>
          <a:p xmlns:a="http://schemas.openxmlformats.org/drawingml/2006/main">
            <a:r>
              <a:t/>
            </a:r>
          </a:p>
          <a:p xmlns:a="http://schemas.openxmlformats.org/drawingml/2006/main">
            <a:r>
              <a:t>Ask: Does the definition tell us that a particular product is reliable?</a:t>
            </a:r>
          </a:p>
          <a:p xmlns:a="http://schemas.openxmlformats.org/drawingml/2006/main">
            <a:r>
              <a:t/>
            </a:r>
          </a:p>
          <a:p xmlns:a="http://schemas.openxmlformats.org/drawingml/2006/main">
            <a:r>
              <a:t>Expected answer: No. A field definition does not establish task performance.</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Does the definition tell us that a particular product is reliable? A supported answer should establish: No. A field definition does not establish task performance.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AI, analysis and learning.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https://www.oecd.org/en/publications/explanatory-memorandum-on-the-updated-oecd-definition-of-an-ai-system_623da898-en.html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Begin with the task, not the label. Analysis can use a spreadsheet without ML. Data science is a broader practice; it may include ML. Deep learning is a subset of ML. Ask the learner to assign each example before naming its field.</a:t>
            </a:r>
          </a:p>
          <a:p xmlns:a="http://schemas.openxmlformats.org/drawingml/2006/main">
            <a:r>
              <a:t/>
            </a:r>
          </a:p>
          <a:p xmlns:a="http://schemas.openxmlformats.org/drawingml/2006/main">
            <a:r>
              <a:t>Ask: Would an exact invoice total improve if we replaced arithmetic with a language model?</a:t>
            </a:r>
          </a:p>
          <a:p xmlns:a="http://schemas.openxmlformats.org/drawingml/2006/main">
            <a:r>
              <a:t/>
            </a:r>
          </a:p>
          <a:p xmlns:a="http://schemas.openxmlformats.org/drawingml/2006/main">
            <a:r>
              <a:t>Expected answer: No. Use a calculation tool for the defined arithmetic; AI may help prepare or explain the work.</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Would an exact invoice total improve if we replaced arithmetic with a language model? A supported answer should establish: No. Use a calculation tool for the defined arithmetic; AI may help prepare or explain the work.</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Generative AI.</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The system produces content, such as a draft, from learned patterns and supplied context. The generated wording can be new while its factual claims remain unsupported. Compare the draft with the evidence.</a:t>
            </a:r>
          </a:p>
          <a:p xmlns:a="http://schemas.openxmlformats.org/drawingml/2006/main">
            <a:r>
              <a:t/>
            </a:r>
          </a:p>
          <a:p xmlns:a="http://schemas.openxmlformats.org/drawingml/2006/main">
            <a:r>
              <a:t>Ask: Does a well-written draft establish that its claims are true?</a:t>
            </a:r>
          </a:p>
          <a:p xmlns:a="http://schemas.openxmlformats.org/drawingml/2006/main">
            <a:r>
              <a:t/>
            </a:r>
          </a:p>
          <a:p xmlns:a="http://schemas.openxmlformats.org/drawingml/2006/main">
            <a:r>
              <a:t>Expected answer: No. Check its facts and supporting sources.</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Does a well-written draft establish that its claims are true? A supported answer should establish: No. Check its facts and supporting sources.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How the fields relate.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https://nvlpubs.nist.gov/nistpubs/ai/NIST.AI.600-1.pdf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Use the nested diagram for AI, machine learning and deep learning. Generative AI describes a content-generation capability; modern systems often use deep learning. Data science overlaps these fields and includes work without ML. NLP studies computational processing of human language and can use different methods.</a:t>
            </a:r>
          </a:p>
          <a:p xmlns:a="http://schemas.openxmlformats.org/drawingml/2006/main">
            <a:r>
              <a:t/>
            </a:r>
          </a:p>
          <a:p xmlns:a="http://schemas.openxmlformats.org/drawingml/2006/main">
            <a:r>
              <a:t>Ask: Is every data-analysis task a generative AI task?</a:t>
            </a:r>
          </a:p>
          <a:p xmlns:a="http://schemas.openxmlformats.org/drawingml/2006/main">
            <a:r>
              <a:t/>
            </a:r>
          </a:p>
          <a:p xmlns:a="http://schemas.openxmlformats.org/drawingml/2006/main">
            <a:r>
              <a:t>Expected answer: No. Counting records, classification and drafting are different tasks.</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Is every data-analysis task a generative AI task? A supported answer should establish: No. Counting records, classification and drafting are different tasks.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Tasks in our matter.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https://developers.google.com/machine-learning/intro-to-ml/what-is-ml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5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Each task has a different success test. Retrieval can use conventional search or learned representations. A workflow can combine several mechanisms.</a:t>
            </a:r>
          </a:p>
          <a:p xmlns:a="http://schemas.openxmlformats.org/drawingml/2006/main">
            <a:r>
              <a:t/>
            </a:r>
          </a:p>
          <a:p xmlns:a="http://schemas.openxmlformats.org/drawingml/2006/main">
            <a:r>
              <a:t>Ask: Which task requires the firm’s judgement?</a:t>
            </a:r>
          </a:p>
          <a:p xmlns:a="http://schemas.openxmlformats.org/drawingml/2006/main">
            <a:r>
              <a:t/>
            </a:r>
          </a:p>
          <a:p xmlns:a="http://schemas.openxmlformats.org/drawingml/2006/main">
            <a:r>
              <a:t>Expected answer: Every output needs an appropriate use decision; drafting an amendment especially needs legal review.</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Which task requires the firm’s judgement? A supported answer should establish: Every output needs an appropriate use decision; drafting an amendment especially needs legal review.</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model inside a working system.</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Walk through the actual agreement question. A model without the executed document cannot establish its content. A tool may retrieve the document and a person still checks the result.</a:t>
            </a:r>
          </a:p>
          <a:p xmlns:a="http://schemas.openxmlformats.org/drawingml/2006/main">
            <a:r>
              <a:t/>
            </a:r>
          </a:p>
          <a:p xmlns:a="http://schemas.openxmlformats.org/drawingml/2006/main">
            <a:r>
              <a:t>Ask: Where should the permission check happen?</a:t>
            </a:r>
          </a:p>
          <a:p xmlns:a="http://schemas.openxmlformats.org/drawingml/2006/main">
            <a:r>
              <a:t/>
            </a:r>
          </a:p>
          <a:p xmlns:a="http://schemas.openxmlformats.org/drawingml/2006/main">
            <a:r>
              <a:t>Expected answer: Before the system returns restricted evidence or executes a restricted action.</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Where should the permission check happen? A supported answer should establish: Before the system returns restricted evidence or executes a restricted action.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rule and a learned prediction.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The rule follows specified logic. The model fits a mapping from examples and can misclassify a new record. These approaches can coexist.</a:t>
            </a:r>
          </a:p>
          <a:p xmlns:a="http://schemas.openxmlformats.org/drawingml/2006/main">
            <a:r>
              <a:t/>
            </a:r>
          </a:p>
          <a:p xmlns:a="http://schemas.openxmlformats.org/drawingml/2006/main">
            <a:r>
              <a:t>Ask: Which would you use for an exact known deadline?</a:t>
            </a:r>
          </a:p>
          <a:p xmlns:a="http://schemas.openxmlformats.org/drawingml/2006/main">
            <a:r>
              <a:t/>
            </a:r>
          </a:p>
          <a:p xmlns:a="http://schemas.openxmlformats.org/drawingml/2006/main">
            <a:r>
              <a:t>Expected answer: A maintained date field and a deterministic reminder rule, with responsibility for the date itself.</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Which would you use for an exact known deadline? A supported answer should establish: A maintained date field and a deterministic reminder rule, with responsibility for the date itself.</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first contract question.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Read the entire clause aloud. The current facts say only internal group reorganisation; ownership and continued responsibility need confirmation.</a:t>
            </a:r>
          </a:p>
          <a:p xmlns:a="http://schemas.openxmlformats.org/drawingml/2006/main">
            <a:r>
              <a:t/>
            </a:r>
          </a:p>
          <a:p xmlns:a="http://schemas.openxmlformats.org/drawingml/2006/main">
            <a:r>
              <a:t>Ask: Can we answer yes or no immediately?</a:t>
            </a:r>
          </a:p>
          <a:p xmlns:a="http://schemas.openxmlformats.org/drawingml/2006/main">
            <a:r>
              <a:t/>
            </a:r>
          </a:p>
          <a:p xmlns:a="http://schemas.openxmlformats.org/drawingml/2006/main">
            <a:r>
              <a:t>Expected answer: No. We need the conditions in the exception and the transaction facts.</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Can we answer yes or no immediately? A supported answer should establish: No. We need the conditions in the exception and the transaction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fluent answer and a supported answer.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Show the source beside both answers. The first loses the exception even though it sounds plausible. Ask the learner to find the missing words.</a:t>
            </a:r>
          </a:p>
          <a:p xmlns:a="http://schemas.openxmlformats.org/drawingml/2006/main">
            <a:r>
              <a:t/>
            </a:r>
          </a:p>
          <a:p xmlns:a="http://schemas.openxmlformats.org/drawingml/2006/main">
            <a:r>
              <a:t>Ask: What makes the second answer useful?</a:t>
            </a:r>
          </a:p>
          <a:p xmlns:a="http://schemas.openxmlformats.org/drawingml/2006/main">
            <a:r>
              <a:t/>
            </a:r>
          </a:p>
          <a:p xmlns:a="http://schemas.openxmlformats.org/drawingml/2006/main">
            <a:r>
              <a:t>Expected answer: It preserves the condition and points to the source. Applicability still depends on the facts.</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What makes the second answer useful? A supported answer should establish: It preserves the condition and points to the source. Applicability still depends on the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first information boundary.</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Explain confidentiality, personal data and restricted matters at a high level. Do not promise that a personal subscription grants the right to upload firm data. Detailed governance follows in Session 11.</a:t>
            </a:r>
          </a:p>
          <a:p xmlns:a="http://schemas.openxmlformats.org/drawingml/2006/main">
            <a:r>
              <a:t/>
            </a:r>
          </a:p>
          <a:p xmlns:a="http://schemas.openxmlformats.org/drawingml/2006/main">
            <a:r>
              <a:t>Ask: Who decides whether a real matter may enter a tool?</a:t>
            </a:r>
          </a:p>
          <a:p xmlns:a="http://schemas.openxmlformats.org/drawingml/2006/main">
            <a:r>
              <a:t/>
            </a:r>
          </a:p>
          <a:p xmlns:a="http://schemas.openxmlformats.org/drawingml/2006/main">
            <a:r>
              <a:t>Expected answer: The firm’s designated information owner and authorised approver under applicable duties.</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Who decides whether a real matter may enter a tool? A supported answer should establish: The firm’s designated information owner and authorised approver under applicable duties.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first use-case choice.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https://pdpo.go.ug/knowledge-center</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Let the learner choose a candidate. Record a hypothesis rather than a promised saving. We revisit this decision after the data and risk sessions.</a:t>
            </a:r>
          </a:p>
          <a:p xmlns:a="http://schemas.openxmlformats.org/drawingml/2006/main">
            <a:r>
              <a:t/>
            </a:r>
          </a:p>
          <a:p xmlns:a="http://schemas.openxmlformats.org/drawingml/2006/main">
            <a:r>
              <a:t>Ask: Which could the firm investigate first?</a:t>
            </a:r>
          </a:p>
          <a:p xmlns:a="http://schemas.openxmlformats.org/drawingml/2006/main">
            <a:r>
              <a:t/>
            </a:r>
          </a:p>
          <a:p xmlns:a="http://schemas.openxmlformats.org/drawingml/2006/main">
            <a:r>
              <a:t>Expected answer: A narrow task with accessible evidence and a clear quality test.</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Which could the firm investigate first? A supported answer should establish: A narrow task with accessible evidence and a clear quality test.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Before showing the explanatory slides, use Entry and Exit Diagnostic.csv orally; record reasons, not only answers.</a:t>
            </a:r>
          </a:p>
          <a:p xmlns:a="http://schemas.openxmlformats.org/drawingml/2006/main">
            <a:r>
              <a:t/>
            </a:r>
          </a:p>
          <a:p xmlns:a="http://schemas.openxmlformats.org/drawingml/2006/main">
            <a:r>
              <a:t>Expected answer: Calculation, learned classification, retrieval and drafting are different operations. The base facts do not establish every exception condition. A pilot needs an owner, permitted evidence and a task-specific test.</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Before we begin: Before showing the explanatory slides, use Entry and Exit Diagnostic.csv orally; record reasons, not only answers. A supported answer should establish: Calculation, learned classification, retrieval and drafting are different operations. The base facts do not establish every exception condition. A pilot needs an owner, permitted evidence and a task-specific test.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An opening demonstration and an entry diagnostic do not establish production reliability.</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Which part of today’s result remains unverified? A supported answer should establish: An opening demonstration and an entry diagnostic do not establish production reliability.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Select one task to investigate and record its present process, source owner and uncertainty. Revisit if the evidence, quality or permitted scope changes.</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What evidence would change this proposed decision? A supported answer should establish: Select one task to investigate and record its present process, source owner and uncertainty.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Ask these changed-fact questions before opening the answer key. Use a maintained date and rule. The omitted operative exception fails completeness. Identify the actual or proposed matter/source owner.</a:t>
            </a:r>
          </a:p>
          <a:p xmlns:a="http://schemas.openxmlformats.org/drawingml/2006/main">
            <a:r>
              <a:t/>
            </a:r>
          </a:p>
          <a:p xmlns:a="http://schemas.openxmlformats.org/drawingml/2006/main">
            <a:r>
              <a:t>Ask: A new task: deadline reminders</a:t>
            </a:r>
          </a:p>
          <a:p xmlns:a="http://schemas.openxmlformats.org/drawingml/2006/main">
            <a:r>
              <a:t/>
            </a:r>
          </a:p>
          <a:p xmlns:a="http://schemas.openxmlformats.org/drawingml/2006/main">
            <a:r>
              <a:t>Expected answer: Use a maintained date and rule. The omitted operative exception fails completeness. Identify the actual or proposed matter/source owner.</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A new task: deadline reminders A supported answer should establish: Use a maintained date and rule. The omitted operative exception fails completeness. Identify the actual or proposed matter/source owner.</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2: How AI learns and represents information.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A model is a computational or mathematical representation used to describe relationships or map inputs to outputs. Its structure or parameters may be specified or learned. In plain language: A model is one component inside the application the user sees. Ask for a reason before reading the source-based answer.</a:t>
            </a:r>
          </a:p>
          <a:p xmlns:a="http://schemas.openxmlformats.org/drawingml/2006/main">
            <a:r>
              <a:t/>
            </a:r>
          </a:p>
          <a:p xmlns:a="http://schemas.openxmlformats.org/drawingml/2006/main">
            <a:r>
              <a:t>Ask: Does the chatbot interface describe the entire AI system?</a:t>
            </a:r>
          </a:p>
          <a:p xmlns:a="http://schemas.openxmlformats.org/drawingml/2006/main">
            <a:r>
              <a:t/>
            </a:r>
          </a:p>
          <a:p xmlns:a="http://schemas.openxmlformats.org/drawingml/2006/main">
            <a:r>
              <a:t>Expected answer: No. Files, retrieval, tools, permissions and logging can sit around the model.</a:t>
            </a:r>
          </a:p>
          <a:p xmlns:a="http://schemas.openxmlformats.org/drawingml/2006/main">
            <a:r>
              <a:t/>
            </a:r>
          </a:p>
          <a:p xmlns:a="http://schemas.openxmlformats.org/drawingml/2006/main">
            <a:r>
              <a:t>If partly correct: Likely confusion: A fluent answer is sufficient. I will clarify: Read the two consent answers beside the complete clause; identify the missing exception. Then return to this slide’s question: Does the chatbot interface describe the entire AI system? A supported answer should establish: No. Files, retrieval, tools, permissions and logging can sit around the model.</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https://developers.google.com/machine-learning/intro-to-ml/what-is-ml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Each stage can introduce a different error. Reliability needs tests that match the task. Avoid a general claim that one tool is always accurate.</a:t>
            </a:r>
          </a:p>
          <a:p xmlns:a="http://schemas.openxmlformats.org/drawingml/2006/main">
            <a:r>
              <a:t/>
            </a:r>
          </a:p>
          <a:p xmlns:a="http://schemas.openxmlformats.org/drawingml/2006/main">
            <a:r>
              <a:t>Ask: Would better wording fix an old source version?</a:t>
            </a:r>
          </a:p>
          <a:p xmlns:a="http://schemas.openxmlformats.org/drawingml/2006/main">
            <a:r>
              <a:t/>
            </a:r>
          </a:p>
          <a:p xmlns:a="http://schemas.openxmlformats.org/drawingml/2006/main">
            <a:r>
              <a:t>Expected answer: No. The evidence and retrieval process must change.</a:t>
            </a:r>
          </a:p>
          <a:p xmlns:a="http://schemas.openxmlformats.org/drawingml/2006/main">
            <a:r>
              <a:t/>
            </a:r>
          </a:p>
          <a:p xmlns:a="http://schemas.openxmlformats.org/drawingml/2006/main">
            <a:r>
              <a:t>If partly correct: Likely confusion: Internal always means exempt. I will clarify: Ask for ownership and continued responsibility; the base facts do not establish both. Then return to this slide’s question: Would better wording fix an old source version? A supported answer should establish: No. The evidence and retrieval process must change.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Which work suits AI, ordinary software or professional judgement?</a:t>
            </a:r>
          </a:p>
          <a:p xmlns:a="http://schemas.openxmlformats.org/drawingml/2006/main">
            <a:r>
              <a:t/>
            </a:r>
          </a:p>
          <a:p xmlns:a="http://schemas.openxmlformats.org/drawingml/2006/main">
            <a:r>
              <a:t>I will explain: This is our operating definition for the course, not a formal technical standard. Contrast individual experiments with maintained organisational capability without suggesting that every task should use AI.</a:t>
            </a:r>
          </a:p>
          <a:p xmlns:a="http://schemas.openxmlformats.org/drawingml/2006/main">
            <a:r>
              <a:t/>
            </a:r>
          </a:p>
          <a:p xmlns:a="http://schemas.openxmlformats.org/drawingml/2006/main">
            <a:r>
              <a:t>Ask: What organisational change would precede a knowledge assistant?</a:t>
            </a:r>
          </a:p>
          <a:p xmlns:a="http://schemas.openxmlformats.org/drawingml/2006/main">
            <a:r>
              <a:t/>
            </a:r>
          </a:p>
          <a:p xmlns:a="http://schemas.openxmlformats.org/drawingml/2006/main">
            <a:r>
              <a:t>Expected answer: Source ownership, matter access, version control and an agreed review procedure.</a:t>
            </a:r>
          </a:p>
          <a:p xmlns:a="http://schemas.openxmlformats.org/drawingml/2006/main">
            <a:r>
              <a:t/>
            </a:r>
          </a:p>
          <a:p xmlns:a="http://schemas.openxmlformats.org/drawingml/2006/main">
            <a:r>
              <a:t>If partly correct: Likely confusion: AI means ChatGPT. I will clarify: Use the task map: arithmetic, classification, retrieval and generation need different mechanisms. Then return to this slide’s question: What organisational change would precede a knowledge assistant? A supported answer should establish: Source ownership, matter access, version control and an agreed review procedure.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d84e8e7e3046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911c5d69bf40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e21184942642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84d08dee474e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ccf814406040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e220bf341444a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DDBA6C-9B51-41D4-BEEE-DD116AB65F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31D539-C7C1-47A6-9665-5B4EA50FB4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F885A8-7E29-4398-AE60-C23E880A16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D5DBB4-E2CD-444F-99CF-192B29ADF5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B189AA-C524-46B8-9DBB-410EA88132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9BDA90-A920-423A-8E34-7C477282A4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71EA93-B992-4D5D-8A01-4056C30980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926A76-2167-407F-BAF4-6BA8E63A6D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5C1EA4-F402-4F52-808A-262C9D064C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83FD51-7A91-4657-A9EC-161B8CA481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405a689bdd428e" /><Relationship Type="http://schemas.openxmlformats.org/officeDocument/2006/relationships/slideLayout" Target="/ppt/slideLayouts/slideLayout1.xml" Id="Rc760814180d145f8" /><Relationship Type="http://schemas.openxmlformats.org/officeDocument/2006/relationships/slideLayout" Target="/ppt/slideLayouts/slideLayout2.xml" Id="R2a9312c657db46a8" /><Relationship Type="http://schemas.openxmlformats.org/officeDocument/2006/relationships/slideLayout" Target="/ppt/slideLayouts/slideLayout3.xml" Id="Rdf94f0ea8df44671" /><Relationship Type="http://schemas.openxmlformats.org/officeDocument/2006/relationships/slideLayout" Target="/ppt/slideLayouts/slideLayout4.xml" Id="R6eaddc5908d247d3" /><Relationship Type="http://schemas.openxmlformats.org/officeDocument/2006/relationships/slideLayout" Target="/ppt/slideLayouts/slideLayout5.xml" Id="Rb9c1ff4fd4374a4d" /><Relationship Type="http://schemas.openxmlformats.org/officeDocument/2006/relationships/slideLayout" Target="/ppt/slideLayouts/slideLayout6.xml" Id="R2d3d2d1a383a44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60814180d145f8"/>
    <p:sldLayoutId xmlns:r="http://schemas.openxmlformats.org/officeDocument/2006/relationships" id="2147483650" r:id="R2a9312c657db46a8"/>
    <p:sldLayoutId xmlns:r="http://schemas.openxmlformats.org/officeDocument/2006/relationships" id="2147483651" r:id="Rdf94f0ea8df44671"/>
    <p:sldLayoutId xmlns:r="http://schemas.openxmlformats.org/officeDocument/2006/relationships" id="2147483652" r:id="R6eaddc5908d247d3"/>
    <p:sldLayoutId xmlns:r="http://schemas.openxmlformats.org/officeDocument/2006/relationships" id="2147483653" r:id="Rb9c1ff4fd4374a4d"/>
    <p:sldLayoutId xmlns:r="http://schemas.openxmlformats.org/officeDocument/2006/relationships" id="2147483654" r:id="R2d3d2d1a383a44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c9d31821244097" /><Relationship Type="http://schemas.openxmlformats.org/officeDocument/2006/relationships/notesSlide" Target="/ppt/notesSlides/notesSlide1.xml" Id="Rb3f0835a8f2b41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4741e01133340b9" /><Relationship Type="http://schemas.openxmlformats.org/officeDocument/2006/relationships/notesSlide" Target="/ppt/notesSlides/notesSlide2.xml" Id="R4cc884a66ab047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125fc51cd34ab0" /><Relationship Type="http://schemas.openxmlformats.org/officeDocument/2006/relationships/notesSlide" Target="/ppt/notesSlides/notesSlide3.xml" Id="R8f82cddf938842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391e77aab60430e" /><Relationship Type="http://schemas.openxmlformats.org/officeDocument/2006/relationships/notesSlide" Target="/ppt/notesSlides/notesSlide4.xml" Id="Rba1ce6e056df41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6180bcda504bbf" /><Relationship Type="http://schemas.openxmlformats.org/officeDocument/2006/relationships/notesSlide" Target="/ppt/notesSlides/notesSlide5.xml" Id="Re542596fb37543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36e7c16fc64d8a" /><Relationship Type="http://schemas.openxmlformats.org/officeDocument/2006/relationships/notesSlide" Target="/ppt/notesSlides/notesSlide6.xml" Id="Rd28df96259b24b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48de23cac34217" /><Relationship Type="http://schemas.openxmlformats.org/officeDocument/2006/relationships/notesSlide" Target="/ppt/notesSlides/notesSlide7.xml" Id="R96a6228111af47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309aabcb544931" /><Relationship Type="http://schemas.openxmlformats.org/officeDocument/2006/relationships/notesSlide" Target="/ppt/notesSlides/notesSlide8.xml" Id="R9a279c12c85a42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e5c5e7d58e4987" /><Relationship Type="http://schemas.openxmlformats.org/officeDocument/2006/relationships/notesSlide" Target="/ppt/notesSlides/notesSlide9.xml" Id="R45f70b15437f47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b433e7fb4142df" /><Relationship Type="http://schemas.openxmlformats.org/officeDocument/2006/relationships/notesSlide" Target="/ppt/notesSlides/notesSlide10.xml" Id="R7ec32ad4e56744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1b7bae0418f4f8f" /><Relationship Type="http://schemas.openxmlformats.org/officeDocument/2006/relationships/notesSlide" Target="/ppt/notesSlides/notesSlide11.xml" Id="R495e1868b0494b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c26c970027f404e" /><Relationship Type="http://schemas.openxmlformats.org/officeDocument/2006/relationships/notesSlide" Target="/ppt/notesSlides/notesSlide12.xml" Id="Rf7aee3183f3d40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4828ba88bbe4b97" /><Relationship Type="http://schemas.openxmlformats.org/officeDocument/2006/relationships/notesSlide" Target="/ppt/notesSlides/notesSlide13.xml" Id="R22a2a936bb9342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a665470a8d4e3f" /><Relationship Type="http://schemas.openxmlformats.org/officeDocument/2006/relationships/notesSlide" Target="/ppt/notesSlides/notesSlide14.xml" Id="R5ebd073d81714c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45cb2db83424d2a" /><Relationship Type="http://schemas.openxmlformats.org/officeDocument/2006/relationships/notesSlide" Target="/ppt/notesSlides/notesSlide15.xml" Id="R997054e9ab5d4e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ed6edef18854973" /><Relationship Type="http://schemas.openxmlformats.org/officeDocument/2006/relationships/notesSlide" Target="/ppt/notesSlides/notesSlide16.xml" Id="R5242c132444d40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752045b4df94d82" /><Relationship Type="http://schemas.openxmlformats.org/officeDocument/2006/relationships/notesSlide" Target="/ppt/notesSlides/notesSlide17.xml" Id="Rca7df03d96124a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034c80f336e4ce4" /><Relationship Type="http://schemas.openxmlformats.org/officeDocument/2006/relationships/notesSlide" Target="/ppt/notesSlides/notesSlide18.xml" Id="R21538ba2a4ba4b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ce35ad52cc241b5" /><Relationship Type="http://schemas.openxmlformats.org/officeDocument/2006/relationships/notesSlide" Target="/ppt/notesSlides/notesSlide19.xml" Id="Reb1389110dde45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da4f1a0a5564311" /><Relationship Type="http://schemas.openxmlformats.org/officeDocument/2006/relationships/notesSlide" Target="/ppt/notesSlides/notesSlide20.xml" Id="Rd760415eb4ed49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3b59471c8524e3b" /><Relationship Type="http://schemas.openxmlformats.org/officeDocument/2006/relationships/notesSlide" Target="/ppt/notesSlides/notesSlide21.xml" Id="Rb91949abad264ad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3b9bc9218784020" /><Relationship Type="http://schemas.openxmlformats.org/officeDocument/2006/relationships/notesSlide" Target="/ppt/notesSlides/notesSlide22.xml" Id="R6c7bacffd9da4ded"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Understanding AI in the firm">
    <p:bg>
      <p:bgPr>
        <a:solidFill>
          <a:srgbClr val="1C3144"/>
        </a:solidFill>
      </p:bgPr>
    </p:bg>
    <p:spTree>
      <p:nvGrpSpPr>
        <p:cNvPr id="1" name=""/>
        <p:cNvGrpSpPr/>
        <p:nvPr/>
      </p:nvGrpSpPr>
      <p:grpSpPr>
        <a:xfrm/>
      </p:grpSpPr>
      <p:sp>
        <p:nvSpPr>
          <p:cNvPr id="5" name="text-1">
            <a:extLst>
              <a:ext uri="{FF2B5EF4-FFF2-40B4-BE49-F238E27FC236}">
                <ns2:creationId id="{EDBD5ACB-23CD-4CAC-BC3C-9323AC2E3FAA}"/>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01</a:t>
            </a:r>
          </a:p>
        </p:txBody>
      </p:sp>
      <p:sp>
        <p:nvSpPr>
          <p:cNvPr id="2" name="text-2">
            <a:extLst>
              <a:ext uri="{FF2B5EF4-FFF2-40B4-BE49-F238E27FC236}">
                <ns2:creationId id="{86A56E96-2C68-4A69-BBAE-EAE21114102B}"/>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Understanding AI in the firm</a:t>
            </a:r>
          </a:p>
        </p:txBody>
      </p:sp>
      <p:sp>
        <p:nvSpPr>
          <p:cNvPr id="3" name="text-3">
            <a:extLst>
              <a:ext uri="{FF2B5EF4-FFF2-40B4-BE49-F238E27FC236}">
                <ns2:creationId id="{3D9269E2-4DAF-4A87-91F3-DB0EFF2834D5}"/>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Which work suits AI, ordinary software or professional judgement?</a:t>
            </a:r>
          </a:p>
        </p:txBody>
      </p:sp>
      <p:sp>
        <p:nvSpPr>
          <p:cNvPr id="4" name="text-4">
            <a:extLst>
              <a:ext uri="{FF2B5EF4-FFF2-40B4-BE49-F238E27FC236}">
                <ns2:creationId id="{4EADD901-F39E-42D5-B220-35434866EBF2}"/>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666535468"/>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Your starting point">
    <p:bg>
      <p:bgPr>
        <a:solidFill>
          <a:srgbClr val="FFFFFF"/>
        </a:solidFill>
      </p:bgPr>
    </p:bg>
    <p:spTree>
      <p:nvGrpSpPr>
        <p:cNvPr id="1" name=""/>
        <p:cNvGrpSpPr/>
        <p:nvPr/>
      </p:nvGrpSpPr>
      <p:grpSpPr>
        <a:xfrm/>
      </p:grpSpPr>
      <p:sp>
        <p:nvSpPr>
          <p:cNvPr id="9" name="text-5">
            <a:extLst>
              <a:ext uri="{FF2B5EF4-FFF2-40B4-BE49-F238E27FC236}">
                <ns2:creationId id="{8C4B6122-083B-4932-9299-A134C76F58A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6">
            <a:extLst>
              <a:ext uri="{FF2B5EF4-FFF2-40B4-BE49-F238E27FC236}">
                <ns2:creationId id="{89FC88FC-553A-4815-A78E-10144D39109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Your starting point</a:t>
            </a:r>
          </a:p>
        </p:txBody>
      </p:sp>
      <p:sp>
        <p:nvSpPr>
          <p:cNvPr id="4" name="text-8">
            <a:extLst>
              <a:ext uri="{FF2B5EF4-FFF2-40B4-BE49-F238E27FC236}">
                <ns2:creationId id="{E145A785-A821-4031-9F71-D0F058A6BDD6}"/>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YOUR CURRENT WORK</a:t>
            </a:r>
          </a:p>
        </p:txBody>
      </p:sp>
      <p:sp>
        <p:nvSpPr>
          <p:cNvPr id="5" name="text-9">
            <a:extLst>
              <a:ext uri="{FF2B5EF4-FFF2-40B4-BE49-F238E27FC236}">
                <ns2:creationId id="{8A88390B-A3C6-45FC-A7C9-4D3EA6E1508F}"/>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Name a task you trust AI with today and a task you would check.</a:t>
            </a:r>
          </a:p>
        </p:txBody>
      </p:sp>
      <p:sp>
        <p:nvSpPr>
          <p:cNvPr id="6" name="text-10">
            <a:extLst>
              <a:ext uri="{FF2B5EF4-FFF2-40B4-BE49-F238E27FC236}">
                <ns2:creationId id="{D9264927-E5B4-4767-9C50-2049905E7B19}"/>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95005AEE-5E4C-4893-BD45-3EE76F747C55}"/>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Which work suits AI, ordinary software or professional judgement?</a:t>
            </a:r>
          </a:p>
        </p:txBody>
      </p:sp>
      <p:sp>
        <p:nvSpPr>
          <p:cNvPr id="8" name="text-12">
            <a:extLst>
              <a:ext uri="{FF2B5EF4-FFF2-40B4-BE49-F238E27FC236}">
                <ns2:creationId id="{8C216A75-BB88-4D0A-9CEF-5C706C26092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baseline of understanding and one candidate firm task.</a:t>
            </a:r>
          </a:p>
        </p:txBody>
      </p:sp>
      <p:sp>
        <p:nvSpPr>
          <p:cNvPr id="3" name="text-7">
            <a:extLst>
              <a:ext uri="{FF2B5EF4-FFF2-40B4-BE49-F238E27FC236}">
                <ns2:creationId id="{9226BF1F-8E17-40F8-950F-0A6EAF19913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a:t>
            </a:r>
          </a:p>
        </p:txBody>
      </p:sp>
    </p:spTree>
    <p:extLst>
      <p:ext uri="{BB962C8B-B14F-4D97-AF65-F5344CB8AC3E}">
        <ns3:creationId val="1119738074"/>
      </p:ext>
    </p:extLst>
  </p:cSld>
  <p:transition spd="med" advClick="1">
    <p:fade/>
  </p:transition>
</p:sld>
</file>

<file path=ppt/slides/slide3.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One firm and one matter">
    <p:bg>
      <p:bgPr>
        <a:solidFill>
          <a:srgbClr val="FFFFFF"/>
        </a:solidFill>
      </p:bgPr>
    </p:bg>
    <p:spTree>
      <p:nvGrpSpPr>
        <p:cNvPr id="1" name=""/>
        <p:cNvGrpSpPr/>
        <p:nvPr/>
      </p:nvGrpSpPr>
      <p:grpSpPr>
        <a:xfrm/>
      </p:grpSpPr>
      <p:sp>
        <p:nvSpPr>
          <p:cNvPr id="13" name="text-13">
            <a:extLst>
              <a:ext uri="{FF2B5EF4-FFF2-40B4-BE49-F238E27FC236}">
                <ns2:creationId id="{F534BFDA-C80A-4051-889D-EF271490175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4">
            <a:extLst>
              <a:ext uri="{FF2B5EF4-FFF2-40B4-BE49-F238E27FC236}">
                <ns2:creationId id="{46691D4B-3DBF-42BF-B73C-E7BA7FBB9AF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One firm and one matter</a:t>
            </a:r>
          </a:p>
        </p:txBody>
      </p:sp>
      <p:sp>
        <p:nvSpPr>
          <p:cNvPr id="4" name="text-16">
            <a:extLst>
              <a:ext uri="{FF2B5EF4-FFF2-40B4-BE49-F238E27FC236}">
                <ns2:creationId id="{F1C8932A-2A38-42BA-8E2C-E7E441B7E515}"/>
              </a:ext>
            </a:extLst>
          </p:cNvPr>
          <p:cNvSpPr>
            <a:spLocks noGrp="1"/>
          </p:cNvSpPr>
          <p:nvPr/>
        </p:nvSpPr>
        <p:spPr>
          <a:xfrm>
            <a:off x="619125" y="2000250"/>
            <a:ext cx="10858500" cy="666750"/>
          </a:xfrm>
          <a:prstGeom prst="rect">
            <a:avLst/>
          </a:prstGeom>
          <a:noFill/>
          <a:ln w="0">
            <a:noFill/>
          </a:ln>
        </p:spPr>
        <p:txBody>
          <a:bodyPr>
            <a:noAutofit/>
          </a:bodyPr>
          <a:lstStyle>
            <a:defPPr>
              <a:defRPr sz="2625" b="1">
                <a:solidFill>
                  <a:srgbClr val="1C3144"/>
                </a:solidFill>
                <a:latin typeface="Calibri"/>
                <a:ea typeface="Calibri"/>
                <a:cs typeface="Calibri"/>
              </a:defRPr>
            </a:defPPr>
            <a:lvl1pPr>
              <a:defRPr sz="2625" b="1">
                <a:solidFill>
                  <a:srgbClr val="1C3144"/>
                </a:solidFill>
                <a:latin typeface="Calibri"/>
                <a:ea typeface="Calibri"/>
                <a:cs typeface="Calibri"/>
              </a:defRPr>
            </a:lvl1pPr>
            <a:lvl2pPr>
              <a:defRPr sz="2625" b="1">
                <a:solidFill>
                  <a:srgbClr val="1C3144"/>
                </a:solidFill>
                <a:latin typeface="Calibri"/>
                <a:ea typeface="Calibri"/>
                <a:cs typeface="Calibri"/>
              </a:defRPr>
            </a:lvl2pPr>
            <a:lvl3pPr>
              <a:defRPr sz="2625" b="1">
                <a:solidFill>
                  <a:srgbClr val="1C3144"/>
                </a:solidFill>
                <a:latin typeface="Calibri"/>
                <a:ea typeface="Calibri"/>
                <a:cs typeface="Calibri"/>
              </a:defRPr>
            </a:lvl3pPr>
            <a:lvl4pPr>
              <a:defRPr sz="2625" b="1">
                <a:solidFill>
                  <a:srgbClr val="1C3144"/>
                </a:solidFill>
                <a:latin typeface="Calibri"/>
                <a:ea typeface="Calibri"/>
                <a:cs typeface="Calibri"/>
              </a:defRPr>
            </a:lvl4pPr>
            <a:lvl5pPr>
              <a:defRPr sz="2625" b="1">
                <a:solidFill>
                  <a:srgbClr val="1C3144"/>
                </a:solidFill>
                <a:latin typeface="Calibri"/>
                <a:ea typeface="Calibri"/>
                <a:cs typeface="Calibri"/>
              </a:defRPr>
            </a:lvl5pPr>
            <a:lvl6pPr>
              <a:defRPr sz="2625" b="1">
                <a:solidFill>
                  <a:srgbClr val="1C3144"/>
                </a:solidFill>
                <a:latin typeface="Calibri"/>
                <a:ea typeface="Calibri"/>
                <a:cs typeface="Calibri"/>
              </a:defRPr>
            </a:lvl6pPr>
            <a:lvl7pPr>
              <a:defRPr sz="2625" b="1">
                <a:solidFill>
                  <a:srgbClr val="1C3144"/>
                </a:solidFill>
                <a:latin typeface="Calibri"/>
                <a:ea typeface="Calibri"/>
                <a:cs typeface="Calibri"/>
              </a:defRPr>
            </a:lvl7pPr>
            <a:lvl8pPr>
              <a:defRPr sz="2625" b="1">
                <a:solidFill>
                  <a:srgbClr val="1C3144"/>
                </a:solidFill>
                <a:latin typeface="Calibri"/>
                <a:ea typeface="Calibri"/>
                <a:cs typeface="Calibri"/>
              </a:defRPr>
            </a:lvl8pPr>
            <a:lvl9pPr>
              <a:defRPr sz="2625" b="1">
                <a:solidFill>
                  <a:srgbClr val="1C3144"/>
                </a:solidFill>
                <a:latin typeface="Calibri"/>
                <a:ea typeface="Calibri"/>
                <a:cs typeface="Calibri"/>
              </a:defRPr>
            </a:lvl9pPr>
          </a:lstStyle>
          <a:p>
            <a:pPr>
              <a:defRPr sz="2625" b="1">
                <a:solidFill>
                  <a:srgbClr val="1C3144"/>
                </a:solidFill>
                <a:latin typeface="Calibri"/>
                <a:ea typeface="Calibri"/>
                <a:cs typeface="Calibri"/>
              </a:defRPr>
            </a:pPr>
            <a:r>
              <a:rPr sz="2625" b="1">
                <a:solidFill>
                  <a:srgbClr val="1C3144"/>
                </a:solidFill>
                <a:latin typeface="Calibri"/>
                <a:ea typeface="Calibri"/>
                <a:cs typeface="Calibri"/>
              </a:rPr>
              <a:t>Kampala Legal and Tax acts for the customer.</a:t>
            </a:r>
          </a:p>
        </p:txBody>
      </p:sp>
      <p:sp>
        <p:nvSpPr>
          <p:cNvPr id="5" name="shape-17">
            <a:extLst>
              <a:ext uri="{FF2B5EF4-FFF2-40B4-BE49-F238E27FC236}">
                <ns2:creationId id="{2F6B99C9-ACA2-4E86-B450-0CB86BBA2F45}"/>
              </a:ext>
              <a:ext uri="{C183D7F6-B498-43B3-948B-1728B52AA6E4}">
                <ns3:decorative val="1"/>
              </a:ext>
            </a:extLst>
          </p:cNvPr>
          <p:cNvSpPr>
            <a:spLocks noGrp="1"/>
          </p:cNvSpPr>
          <p:nvPr/>
        </p:nvSpPr>
        <p:spPr>
          <a:xfrm>
            <a:off x="619125" y="3190875"/>
            <a:ext cx="4857750" cy="1762125"/>
          </a:xfrm>
          <a:prstGeom prst="rect">
            <a:avLst/>
          </a:prstGeom>
          <a:solidFill>
            <a:srgbClr val="E9F3F0"/>
          </a:solidFill>
          <a:ln w="11430">
            <a:solidFill>
              <a:srgbClr val="C9D5DA"/>
            </a:solidFill>
          </a:ln>
        </p:spPr>
      </p:sp>
      <p:sp>
        <p:nvSpPr>
          <p:cNvPr id="6" name="text-18">
            <a:extLst>
              <a:ext uri="{FF2B5EF4-FFF2-40B4-BE49-F238E27FC236}">
                <ns2:creationId id="{59089B11-FD3D-46CA-954A-C503A4E39DC3}"/>
              </a:ext>
            </a:extLst>
          </p:cNvPr>
          <p:cNvSpPr>
            <a:spLocks noGrp="1"/>
          </p:cNvSpPr>
          <p:nvPr/>
        </p:nvSpPr>
        <p:spPr>
          <a:xfrm>
            <a:off x="809625" y="3362325"/>
            <a:ext cx="4476750" cy="619125"/>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Victoria Services Ltd</a:t>
            </a:r>
          </a:p>
        </p:txBody>
      </p:sp>
      <p:sp>
        <p:nvSpPr>
          <p:cNvPr id="7" name="text-19">
            <a:extLst>
              <a:ext uri="{FF2B5EF4-FFF2-40B4-BE49-F238E27FC236}">
                <ns2:creationId id="{804B915C-D618-4EC1-897F-51E4450D57CC}"/>
              </a:ext>
            </a:extLst>
          </p:cNvPr>
          <p:cNvSpPr>
            <a:spLocks noGrp="1"/>
          </p:cNvSpPr>
          <p:nvPr/>
        </p:nvSpPr>
        <p:spPr>
          <a:xfrm>
            <a:off x="809625" y="4162425"/>
            <a:ext cx="4476750" cy="5715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Customer and client</a:t>
            </a:r>
          </a:p>
        </p:txBody>
      </p:sp>
      <p:sp>
        <p:nvSpPr>
          <p:cNvPr id="8" name="shape-20">
            <a:extLst>
              <a:ext uri="{FF2B5EF4-FFF2-40B4-BE49-F238E27FC236}">
                <ns2:creationId id="{EDAE27BD-5D82-4010-80D9-8D36447694EC}"/>
              </a:ext>
              <a:ext uri="{C183D7F6-B498-43B3-948B-1728B52AA6E4}">
                <ns3:decorative val="1"/>
              </a:ext>
            </a:extLst>
          </p:cNvPr>
          <p:cNvSpPr>
            <a:spLocks noGrp="1"/>
          </p:cNvSpPr>
          <p:nvPr/>
        </p:nvSpPr>
        <p:spPr>
          <a:xfrm>
            <a:off x="6715125" y="3190875"/>
            <a:ext cx="4857750" cy="1762125"/>
          </a:xfrm>
          <a:prstGeom prst="rect">
            <a:avLst/>
          </a:prstGeom>
          <a:solidFill>
            <a:srgbClr val="F1F5F6"/>
          </a:solidFill>
          <a:ln w="11430">
            <a:solidFill>
              <a:srgbClr val="C9D5DA"/>
            </a:solidFill>
          </a:ln>
        </p:spPr>
      </p:sp>
      <p:sp>
        <p:nvSpPr>
          <p:cNvPr id="9" name="text-21">
            <a:extLst>
              <a:ext uri="{FF2B5EF4-FFF2-40B4-BE49-F238E27FC236}">
                <ns2:creationId id="{3908AFB9-332C-4CCB-9E96-8673064F608B}"/>
              </a:ext>
            </a:extLst>
          </p:cNvPr>
          <p:cNvSpPr>
            <a:spLocks noGrp="1"/>
          </p:cNvSpPr>
          <p:nvPr/>
        </p:nvSpPr>
        <p:spPr>
          <a:xfrm>
            <a:off x="6905625" y="3362325"/>
            <a:ext cx="4476750" cy="619125"/>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Equator Systems Ltd</a:t>
            </a:r>
          </a:p>
        </p:txBody>
      </p:sp>
      <p:sp>
        <p:nvSpPr>
          <p:cNvPr id="10" name="text-22">
            <a:extLst>
              <a:ext uri="{FF2B5EF4-FFF2-40B4-BE49-F238E27FC236}">
                <ns2:creationId id="{E7C5289B-FB94-4978-8658-51D6C7C1B861}"/>
              </a:ext>
            </a:extLst>
          </p:cNvPr>
          <p:cNvSpPr>
            <a:spLocks noGrp="1"/>
          </p:cNvSpPr>
          <p:nvPr/>
        </p:nvSpPr>
        <p:spPr>
          <a:xfrm>
            <a:off x="6905625" y="4162425"/>
            <a:ext cx="4476750" cy="5715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Service provider</a:t>
            </a:r>
          </a:p>
        </p:txBody>
      </p:sp>
      <p:sp>
        <p:nvSpPr>
          <p:cNvPr id="11" name="text-23">
            <a:extLst>
              <a:ext uri="{FF2B5EF4-FFF2-40B4-BE49-F238E27FC236}">
                <ns2:creationId id="{223BEFB6-CEB3-4A64-A363-A3A055934104}"/>
              </a:ext>
            </a:extLst>
          </p:cNvPr>
          <p:cNvSpPr>
            <a:spLocks noGrp="1"/>
          </p:cNvSpPr>
          <p:nvPr/>
        </p:nvSpPr>
        <p:spPr>
          <a:xfrm>
            <a:off x="5572125" y="3733800"/>
            <a:ext cx="1143000" cy="476250"/>
          </a:xfrm>
          <a:prstGeom prst="rect">
            <a:avLst/>
          </a:prstGeom>
          <a:noFill/>
          <a:ln w="0">
            <a:noFill/>
          </a:ln>
        </p:spPr>
        <p:txBody>
          <a:bodyPr>
            <a:noAutofit/>
          </a:bodyPr>
          <a:lstStyle>
            <a:defPPr>
              <a:defRPr sz="1500" b="1">
                <a:solidFill>
                  <a:srgbClr val="C94E29"/>
                </a:solidFill>
                <a:latin typeface="Calibri"/>
                <a:ea typeface="Calibri"/>
                <a:cs typeface="Calibri"/>
              </a:defRPr>
            </a:defPPr>
            <a:lvl1pPr>
              <a:defRPr sz="1500" b="1">
                <a:solidFill>
                  <a:srgbClr val="C94E29"/>
                </a:solidFill>
                <a:latin typeface="Calibri"/>
                <a:ea typeface="Calibri"/>
                <a:cs typeface="Calibri"/>
              </a:defRPr>
            </a:lvl1pPr>
            <a:lvl2pPr>
              <a:defRPr sz="1500" b="1">
                <a:solidFill>
                  <a:srgbClr val="C94E29"/>
                </a:solidFill>
                <a:latin typeface="Calibri"/>
                <a:ea typeface="Calibri"/>
                <a:cs typeface="Calibri"/>
              </a:defRPr>
            </a:lvl2pPr>
            <a:lvl3pPr>
              <a:defRPr sz="1500" b="1">
                <a:solidFill>
                  <a:srgbClr val="C94E29"/>
                </a:solidFill>
                <a:latin typeface="Calibri"/>
                <a:ea typeface="Calibri"/>
                <a:cs typeface="Calibri"/>
              </a:defRPr>
            </a:lvl3pPr>
            <a:lvl4pPr>
              <a:defRPr sz="1500" b="1">
                <a:solidFill>
                  <a:srgbClr val="C94E29"/>
                </a:solidFill>
                <a:latin typeface="Calibri"/>
                <a:ea typeface="Calibri"/>
                <a:cs typeface="Calibri"/>
              </a:defRPr>
            </a:lvl4pPr>
            <a:lvl5pPr>
              <a:defRPr sz="1500" b="1">
                <a:solidFill>
                  <a:srgbClr val="C94E29"/>
                </a:solidFill>
                <a:latin typeface="Calibri"/>
                <a:ea typeface="Calibri"/>
                <a:cs typeface="Calibri"/>
              </a:defRPr>
            </a:lvl5pPr>
            <a:lvl6pPr>
              <a:defRPr sz="1500" b="1">
                <a:solidFill>
                  <a:srgbClr val="C94E29"/>
                </a:solidFill>
                <a:latin typeface="Calibri"/>
                <a:ea typeface="Calibri"/>
                <a:cs typeface="Calibri"/>
              </a:defRPr>
            </a:lvl6pPr>
            <a:lvl7pPr>
              <a:defRPr sz="1500" b="1">
                <a:solidFill>
                  <a:srgbClr val="C94E29"/>
                </a:solidFill>
                <a:latin typeface="Calibri"/>
                <a:ea typeface="Calibri"/>
                <a:cs typeface="Calibri"/>
              </a:defRPr>
            </a:lvl7pPr>
            <a:lvl8pPr>
              <a:defRPr sz="1500" b="1">
                <a:solidFill>
                  <a:srgbClr val="C94E29"/>
                </a:solidFill>
                <a:latin typeface="Calibri"/>
                <a:ea typeface="Calibri"/>
                <a:cs typeface="Calibri"/>
              </a:defRPr>
            </a:lvl8pPr>
            <a:lvl9pPr>
              <a:defRPr sz="1500" b="1">
                <a:solidFill>
                  <a:srgbClr val="C94E29"/>
                </a:solidFill>
                <a:latin typeface="Calibri"/>
                <a:ea typeface="Calibri"/>
                <a:cs typeface="Calibri"/>
              </a:defRPr>
            </a:lvl9pPr>
          </a:lstStyle>
          <a:p>
            <a:pPr>
              <a:defRPr sz="1500" b="1">
                <a:solidFill>
                  <a:srgbClr val="C94E29"/>
                </a:solidFill>
                <a:latin typeface="Calibri"/>
                <a:ea typeface="Calibri"/>
                <a:cs typeface="Calibri"/>
              </a:defRPr>
            </a:pPr>
            <a:r>
              <a:rPr sz="1500" b="1">
                <a:solidFill>
                  <a:srgbClr val="C94E29"/>
                </a:solidFill>
                <a:latin typeface="Calibri"/>
                <a:ea typeface="Calibri"/>
                <a:cs typeface="Calibri"/>
              </a:rPr>
              <a:t>Contract</a:t>
            </a:r>
          </a:p>
        </p:txBody>
      </p:sp>
      <p:sp>
        <p:nvSpPr>
          <p:cNvPr id="12" name="text-24">
            <a:extLst>
              <a:ext uri="{FF2B5EF4-FFF2-40B4-BE49-F238E27FC236}">
                <ns2:creationId id="{B19C13A2-45C5-4D45-B01D-55DE54D41A2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Equator proposes a reorganisation. Ownership and continued responsibility are unconfirmed.</a:t>
            </a:r>
          </a:p>
        </p:txBody>
      </p:sp>
      <p:sp>
        <p:nvSpPr>
          <p:cNvPr id="3" name="text-15">
            <a:extLst>
              <a:ext uri="{FF2B5EF4-FFF2-40B4-BE49-F238E27FC236}">
                <ns2:creationId id="{64EF74AA-8B82-46B9-AC90-B35F8858A60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3</a:t>
            </a:r>
          </a:p>
        </p:txBody>
      </p:sp>
    </p:spTree>
    <p:extLst>
      <p:ext uri="{BB962C8B-B14F-4D97-AF65-F5344CB8AC3E}">
        <ns4:creationId val="3679178"/>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he recurring information collection">
    <p:bg>
      <p:bgPr>
        <a:solidFill>
          <a:srgbClr val="FFFFFF"/>
        </a:solidFill>
      </p:bgPr>
    </p:bg>
    <p:spTree>
      <p:nvGrpSpPr>
        <p:cNvPr id="1" name=""/>
        <p:cNvGrpSpPr/>
        <p:nvPr/>
      </p:nvGrpSpPr>
      <p:grpSpPr>
        <a:xfrm/>
      </p:grpSpPr>
      <p:sp>
        <p:nvSpPr>
          <p:cNvPr id="12" name="text-25">
            <a:extLst>
              <a:ext uri="{FF2B5EF4-FFF2-40B4-BE49-F238E27FC236}">
                <ns2:creationId id="{E6D156B4-9803-45F7-8E9B-1E8E597490C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26">
            <a:extLst>
              <a:ext uri="{FF2B5EF4-FFF2-40B4-BE49-F238E27FC236}">
                <ns2:creationId id="{D07E46B0-4C68-4524-8B34-22F5283A678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recurring information collection</a:t>
            </a:r>
          </a:p>
        </p:txBody>
      </p:sp>
      <p:sp>
        <p:nvSpPr>
          <p:cNvPr id="4" name="text-28">
            <a:extLst>
              <a:ext uri="{FF2B5EF4-FFF2-40B4-BE49-F238E27FC236}">
                <ns2:creationId id="{BFAE46B6-8586-468B-8E41-E8482694E0D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
            <a:extLst>
              <a:ext uri="{FF2B5EF4-FFF2-40B4-BE49-F238E27FC236}">
                <ns2:creationId id="{67E48A82-3BFC-4B87-A8AF-F333408587CD}"/>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Executed agreement CONTRACT-01 v2</a:t>
            </a:r>
          </a:p>
        </p:txBody>
      </p:sp>
      <p:sp>
        <p:nvSpPr>
          <p:cNvPr id="6" name="text-30">
            <a:extLst>
              <a:ext uri="{FF2B5EF4-FFF2-40B4-BE49-F238E27FC236}">
                <ns2:creationId id="{897FADF1-C3AC-4904-A45F-49AA471F1B2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1">
            <a:extLst>
              <a:ext uri="{FF2B5EF4-FFF2-40B4-BE49-F238E27FC236}">
                <ns2:creationId id="{EA0518BE-61C0-451E-B0EA-13C3A7086D64}"/>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Draft v1, firm playbook and client instruction</a:t>
            </a:r>
          </a:p>
        </p:txBody>
      </p:sp>
      <p:sp>
        <p:nvSpPr>
          <p:cNvPr id="8" name="text-32">
            <a:extLst>
              <a:ext uri="{FF2B5EF4-FFF2-40B4-BE49-F238E27FC236}">
                <ns2:creationId id="{4DF027FB-1BFE-43C2-8480-D89C6F10A07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
            <a:extLst>
              <a:ext uri="{FF2B5EF4-FFF2-40B4-BE49-F238E27FC236}">
                <ns2:creationId id="{E8B7CE3D-440B-49E3-BB9B-7DC9F2FE7F0D}"/>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Sales, credit notes, ledger and receipts</a:t>
            </a:r>
          </a:p>
        </p:txBody>
      </p:sp>
      <p:sp>
        <p:nvSpPr>
          <p:cNvPr id="10" name="text-34">
            <a:extLst>
              <a:ext uri="{FF2B5EF4-FFF2-40B4-BE49-F238E27FC236}">
                <ns2:creationId id="{AEB553DE-B7CA-46E4-A5F8-32D5F96C745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5">
            <a:extLst>
              <a:ext uri="{FF2B5EF4-FFF2-40B4-BE49-F238E27FC236}">
                <ns2:creationId id="{8E38E174-9808-4852-B2EB-7D6387E52A1A}"/>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Public legislation, judgments and URA guidance</a:t>
            </a:r>
          </a:p>
        </p:txBody>
      </p:sp>
      <p:sp>
        <p:nvSpPr>
          <p:cNvPr id="3" name="text-27">
            <a:extLst>
              <a:ext uri="{FF2B5EF4-FFF2-40B4-BE49-F238E27FC236}">
                <ns2:creationId id="{23DBA739-EE27-4239-A261-62CB03D848A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4</a:t>
            </a:r>
          </a:p>
        </p:txBody>
      </p:sp>
    </p:spTree>
    <p:extLst>
      <p:ext uri="{BB962C8B-B14F-4D97-AF65-F5344CB8AC3E}">
        <ns3:creationId val="976294128"/>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AI systems">
    <p:bg>
      <p:bgPr>
        <a:solidFill>
          <a:srgbClr val="FFFFFF"/>
        </a:solidFill>
      </p:bgPr>
    </p:bg>
    <p:spTree>
      <p:nvGrpSpPr>
        <p:cNvPr id="1" name=""/>
        <p:cNvGrpSpPr/>
        <p:nvPr/>
      </p:nvGrpSpPr>
      <p:grpSpPr>
        <a:xfrm/>
      </p:grpSpPr>
      <p:sp>
        <p:nvSpPr>
          <p:cNvPr id="7" name="text-36">
            <a:extLst>
              <a:ext uri="{FF2B5EF4-FFF2-40B4-BE49-F238E27FC236}">
                <ns2:creationId id="{640B1BEE-B56E-4FF2-B2DE-3C9C4BEE633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37">
            <a:extLst>
              <a:ext uri="{FF2B5EF4-FFF2-40B4-BE49-F238E27FC236}">
                <ns2:creationId id="{4280C266-701F-47DE-A610-8B21D3C3A77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AI systems</a:t>
            </a:r>
          </a:p>
        </p:txBody>
      </p:sp>
      <p:sp>
        <p:nvSpPr>
          <p:cNvPr id="4" name="text-39">
            <a:extLst>
              <a:ext uri="{FF2B5EF4-FFF2-40B4-BE49-F238E27FC236}">
                <ns2:creationId id="{0C029233-3DE4-42D7-BBDC-80808603CE67}"/>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AI system infers from inputs how to produce predictions, content, recommendations or decisions for explicit or implicit objectives. Systems vary in autonomy and adaptation.</a:t>
            </a:r>
          </a:p>
        </p:txBody>
      </p:sp>
      <p:sp>
        <p:nvSpPr>
          <p:cNvPr id="5" name="text-40">
            <a:extLst>
              <a:ext uri="{FF2B5EF4-FFF2-40B4-BE49-F238E27FC236}">
                <ns2:creationId id="{40A7C303-CFFA-4A7E-8C9D-D83F1E13E266}"/>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THE FIELD</a:t>
            </a:r>
          </a:p>
        </p:txBody>
      </p:sp>
      <p:sp>
        <p:nvSpPr>
          <p:cNvPr id="6" name="text-41">
            <a:extLst>
              <a:ext uri="{FF2B5EF4-FFF2-40B4-BE49-F238E27FC236}">
                <ns2:creationId id="{4ABC4668-97D6-48BE-80AF-A38B3D5F01F8}"/>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AI is also the field concerned with building and studying such systems.</a:t>
            </a:r>
          </a:p>
        </p:txBody>
      </p:sp>
      <p:sp>
        <p:nvSpPr>
          <p:cNvPr id="3" name="text-38">
            <a:extLst>
              <a:ext uri="{FF2B5EF4-FFF2-40B4-BE49-F238E27FC236}">
                <ns2:creationId id="{53061ABC-3F5E-45F9-89BC-58F74E69D9A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5</a:t>
            </a:r>
          </a:p>
        </p:txBody>
      </p:sp>
    </p:spTree>
    <p:extLst>
      <p:ext uri="{BB962C8B-B14F-4D97-AF65-F5344CB8AC3E}">
        <ns3:creationId val="170116448"/>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I, analysis and learning">
    <p:bg>
      <p:bgPr>
        <a:solidFill>
          <a:srgbClr val="FFFFFF"/>
        </a:solidFill>
      </p:bgPr>
    </p:bg>
    <p:spTree>
      <p:nvGrpSpPr>
        <p:cNvPr id="1" name=""/>
        <p:cNvGrpSpPr/>
        <p:nvPr/>
      </p:nvGrpSpPr>
      <p:grpSpPr>
        <a:xfrm/>
      </p:grpSpPr>
      <p:sp>
        <p:nvSpPr>
          <p:cNvPr id="5" name="text-42">
            <a:extLst>
              <a:ext uri="{FF2B5EF4-FFF2-40B4-BE49-F238E27FC236}">
                <ns2:creationId id="{97F25578-FE5E-49C2-AF8D-81C9A470F5C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43">
            <a:extLst>
              <a:ext uri="{FF2B5EF4-FFF2-40B4-BE49-F238E27FC236}">
                <ns2:creationId id="{BD34A5FA-FBBA-416C-82EF-77C6467E8BC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AI, analysis and learning</a:t>
            </a:r>
          </a:p>
        </p:txBody>
      </p:sp>
      <p:graphicFrame>
        <p:nvGraphicFramePr>
          <p:cNvPr id="4" name="">
            <a:extLst>
              <a:ext uri="{FF2B5EF4-FFF2-40B4-BE49-F238E27FC236}">
                <ns2:creationId id="{A460DEB2-9267-47B6-A870-A2C8A443A99A}"/>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Term</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Meaning</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Example in the firm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Data analysis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Examine data to answer a question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Reconcile sales and receipts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Data science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Use computing, statistics and domain knowledge to study data</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Design and evaluate a document classifier</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Machine learning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Learn patterns from examples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Predict a document category</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Deep learning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ML using multiple neural-network layers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Learn useful text representations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44">
            <a:extLst>
              <a:ext uri="{FF2B5EF4-FFF2-40B4-BE49-F238E27FC236}">
                <ns2:creationId id="{38DE41F5-C184-435D-9F35-B8F57A1AF8C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6</a:t>
            </a:r>
          </a:p>
        </p:txBody>
      </p:sp>
    </p:spTree>
    <p:extLst>
      <p:ext uri="{BB962C8B-B14F-4D97-AF65-F5344CB8AC3E}">
        <ns3:creationId val="134386288"/>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Generative AI">
    <p:bg>
      <p:bgPr>
        <a:solidFill>
          <a:srgbClr val="FFFFFF"/>
        </a:solidFill>
      </p:bgPr>
    </p:bg>
    <p:spTree>
      <p:nvGrpSpPr>
        <p:cNvPr id="1" name=""/>
        <p:cNvGrpSpPr/>
        <p:nvPr/>
      </p:nvGrpSpPr>
      <p:grpSpPr>
        <a:xfrm/>
      </p:grpSpPr>
      <p:sp>
        <p:nvSpPr>
          <p:cNvPr id="7" name="text-45">
            <a:extLst>
              <a:ext uri="{FF2B5EF4-FFF2-40B4-BE49-F238E27FC236}">
                <ns2:creationId id="{25A8C5FD-ECD8-4BDB-83DB-5C3BA669456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46">
            <a:extLst>
              <a:ext uri="{FF2B5EF4-FFF2-40B4-BE49-F238E27FC236}">
                <ns2:creationId id="{0D15163D-78A4-4FF4-818F-0A040F51FD1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Generative AI</a:t>
            </a:r>
          </a:p>
        </p:txBody>
      </p:sp>
      <p:sp>
        <p:nvSpPr>
          <p:cNvPr id="4" name="text-48">
            <a:extLst>
              <a:ext uri="{FF2B5EF4-FFF2-40B4-BE49-F238E27FC236}">
                <ns2:creationId id="{93280C64-D3D6-432A-A8D1-F0CFEF594274}"/>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Generative AI is a class of AI models and systems that produce new content by modelling patterns learned from data.</a:t>
            </a:r>
          </a:p>
        </p:txBody>
      </p:sp>
      <p:sp>
        <p:nvSpPr>
          <p:cNvPr id="5" name="text-49">
            <a:extLst>
              <a:ext uri="{FF2B5EF4-FFF2-40B4-BE49-F238E27FC236}">
                <ns2:creationId id="{C960C5B1-D91A-4B0E-84C6-F3B52293FCC6}"/>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50">
            <a:extLst>
              <a:ext uri="{FF2B5EF4-FFF2-40B4-BE49-F238E27FC236}">
                <ns2:creationId id="{95E5800D-D960-4665-9BD1-5E5366823A08}"/>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Draft a response using the client instruction and approved clause.</a:t>
            </a:r>
          </a:p>
        </p:txBody>
      </p:sp>
      <p:sp>
        <p:nvSpPr>
          <p:cNvPr id="3" name="text-47">
            <a:extLst>
              <a:ext uri="{FF2B5EF4-FFF2-40B4-BE49-F238E27FC236}">
                <ns2:creationId id="{87591251-6CAA-410B-AC49-7ED2572BF2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7</a:t>
            </a:r>
          </a:p>
        </p:txBody>
      </p:sp>
    </p:spTree>
    <p:extLst>
      <p:ext uri="{BB962C8B-B14F-4D97-AF65-F5344CB8AC3E}">
        <ns3:creationId val="574623808"/>
      </p:ext>
    </p:extLst>
  </p:cSld>
  <p:transition spd="med" advClick="1">
    <p:fade/>
  </p:transition>
</p:sld>
</file>

<file path=ppt/slides/slide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ow the fields relate">
    <p:bg>
      <p:bgPr>
        <a:solidFill>
          <a:srgbClr val="FFFFFF"/>
        </a:solidFill>
      </p:bgPr>
    </p:bg>
    <p:spTree>
      <p:nvGrpSpPr>
        <p:cNvPr id="1" name=""/>
        <p:cNvGrpSpPr/>
        <p:nvPr/>
      </p:nvGrpSpPr>
      <p:grpSpPr>
        <a:xfrm/>
      </p:grpSpPr>
      <p:sp>
        <p:nvSpPr>
          <p:cNvPr id="14" name="text-51">
            <a:extLst>
              <a:ext uri="{FF2B5EF4-FFF2-40B4-BE49-F238E27FC236}">
                <ns2:creationId id="{60809974-FEB8-44CC-932D-6200DBE9E79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52">
            <a:extLst>
              <a:ext uri="{FF2B5EF4-FFF2-40B4-BE49-F238E27FC236}">
                <ns2:creationId id="{0133EE0D-FD20-46B2-986B-A0DEA44172F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How the fields relate</a:t>
            </a:r>
          </a:p>
        </p:txBody>
      </p:sp>
      <p:sp>
        <p:nvSpPr>
          <p:cNvPr id="4" name="reveal-01-AI" descr="How the fields relate">
            <a:extLst>
              <a:ext uri="{FF2B5EF4-FFF2-40B4-BE49-F238E27FC236}">
                <ns2:creationId id="{630E2C15-E45F-491F-9816-78CF7079526E}"/>
              </a:ext>
            </a:extLst>
          </p:cNvPr>
          <p:cNvSpPr>
            <a:spLocks noGrp="1"/>
          </p:cNvSpPr>
          <p:nvPr/>
        </p:nvSpPr>
        <p:spPr>
          <a:xfrm>
            <a:off x="619125" y="2000250"/>
            <a:ext cx="6381750" cy="3543300"/>
          </a:xfrm>
          <a:prstGeom prst="rect">
            <a:avLst/>
          </a:prstGeom>
          <a:solidFill>
            <a:srgbClr val="F1F5F6"/>
          </a:solidFill>
          <a:ln w="11430">
            <a:solidFill>
              <a:srgbClr val="C9D5DA"/>
            </a:solidFill>
          </a:ln>
        </p:spPr>
      </p:sp>
      <p:sp>
        <p:nvSpPr>
          <p:cNvPr id="5" name="reveal-01-AI-label">
            <a:extLst>
              <a:ext uri="{FF2B5EF4-FFF2-40B4-BE49-F238E27FC236}">
                <ns2:creationId id="{A859BD6B-09EC-46B7-BA17-FD15E04134ED}"/>
              </a:ext>
            </a:extLst>
          </p:cNvPr>
          <p:cNvSpPr>
            <a:spLocks noGrp="1"/>
          </p:cNvSpPr>
          <p:nvPr/>
        </p:nvSpPr>
        <p:spPr>
          <a:xfrm>
            <a:off x="838200" y="2190750"/>
            <a:ext cx="5905500" cy="438150"/>
          </a:xfrm>
          <a:prstGeom prst="rect">
            <a:avLst/>
          </a:prstGeom>
          <a:noFill/>
          <a:ln w="0">
            <a:noFill/>
          </a:ln>
        </p:spPr>
        <p:txBody>
          <a:bodyPr>
            <a:noAutofit/>
          </a:bodyPr>
          <a:lstStyle>
            <a:defPPr>
              <a:defRPr sz="2400" b="1">
                <a:solidFill>
                  <a:srgbClr val="1C3144"/>
                </a:solidFill>
                <a:latin typeface="Calibri"/>
                <a:ea typeface="Calibri"/>
                <a:cs typeface="Calibri"/>
              </a:defRPr>
            </a:defPPr>
            <a:lvl1pPr>
              <a:defRPr sz="2400" b="1">
                <a:solidFill>
                  <a:srgbClr val="1C3144"/>
                </a:solidFill>
                <a:latin typeface="Calibri"/>
                <a:ea typeface="Calibri"/>
                <a:cs typeface="Calibri"/>
              </a:defRPr>
            </a:lvl1pPr>
            <a:lvl2pPr>
              <a:defRPr sz="2400" b="1">
                <a:solidFill>
                  <a:srgbClr val="1C3144"/>
                </a:solidFill>
                <a:latin typeface="Calibri"/>
                <a:ea typeface="Calibri"/>
                <a:cs typeface="Calibri"/>
              </a:defRPr>
            </a:lvl2pPr>
            <a:lvl3pPr>
              <a:defRPr sz="2400" b="1">
                <a:solidFill>
                  <a:srgbClr val="1C3144"/>
                </a:solidFill>
                <a:latin typeface="Calibri"/>
                <a:ea typeface="Calibri"/>
                <a:cs typeface="Calibri"/>
              </a:defRPr>
            </a:lvl3pPr>
            <a:lvl4pPr>
              <a:defRPr sz="2400" b="1">
                <a:solidFill>
                  <a:srgbClr val="1C3144"/>
                </a:solidFill>
                <a:latin typeface="Calibri"/>
                <a:ea typeface="Calibri"/>
                <a:cs typeface="Calibri"/>
              </a:defRPr>
            </a:lvl4pPr>
            <a:lvl5pPr>
              <a:defRPr sz="2400" b="1">
                <a:solidFill>
                  <a:srgbClr val="1C3144"/>
                </a:solidFill>
                <a:latin typeface="Calibri"/>
                <a:ea typeface="Calibri"/>
                <a:cs typeface="Calibri"/>
              </a:defRPr>
            </a:lvl5pPr>
            <a:lvl6pPr>
              <a:defRPr sz="2400" b="1">
                <a:solidFill>
                  <a:srgbClr val="1C3144"/>
                </a:solidFill>
                <a:latin typeface="Calibri"/>
                <a:ea typeface="Calibri"/>
                <a:cs typeface="Calibri"/>
              </a:defRPr>
            </a:lvl6pPr>
            <a:lvl7pPr>
              <a:defRPr sz="2400" b="1">
                <a:solidFill>
                  <a:srgbClr val="1C3144"/>
                </a:solidFill>
                <a:latin typeface="Calibri"/>
                <a:ea typeface="Calibri"/>
                <a:cs typeface="Calibri"/>
              </a:defRPr>
            </a:lvl7pPr>
            <a:lvl8pPr>
              <a:defRPr sz="2400" b="1">
                <a:solidFill>
                  <a:srgbClr val="1C3144"/>
                </a:solidFill>
                <a:latin typeface="Calibri"/>
                <a:ea typeface="Calibri"/>
                <a:cs typeface="Calibri"/>
              </a:defRPr>
            </a:lvl8pPr>
            <a:lvl9pPr>
              <a:defRPr sz="2400" b="1">
                <a:solidFill>
                  <a:srgbClr val="1C3144"/>
                </a:solidFill>
                <a:latin typeface="Calibri"/>
                <a:ea typeface="Calibri"/>
                <a:cs typeface="Calibri"/>
              </a:defRPr>
            </a:lvl9pPr>
          </a:lstStyle>
          <a:p>
            <a:pPr>
              <a:defRPr sz="2400" b="1">
                <a:solidFill>
                  <a:srgbClr val="1C3144"/>
                </a:solidFill>
                <a:latin typeface="Calibri"/>
                <a:ea typeface="Calibri"/>
                <a:cs typeface="Calibri"/>
              </a:defRPr>
            </a:pPr>
            <a:r>
              <a:rPr sz="2400" b="1">
                <a:solidFill>
                  <a:srgbClr val="1C3144"/>
                </a:solidFill>
                <a:latin typeface="Calibri"/>
                <a:ea typeface="Calibri"/>
                <a:cs typeface="Calibri"/>
              </a:rPr>
              <a:t>Artificial intelligence</a:t>
            </a:r>
          </a:p>
        </p:txBody>
      </p:sp>
      <p:sp>
        <p:nvSpPr>
          <p:cNvPr id="6" name="reveal-02-ML">
            <a:extLst>
              <a:ext uri="{FF2B5EF4-FFF2-40B4-BE49-F238E27FC236}">
                <ns2:creationId id="{499C1845-2758-41E8-B124-16DF74E7A7F8}"/>
              </a:ext>
              <a:ext uri="{C183D7F6-B498-43B3-948B-1728B52AA6E4}">
                <ns3:decorative val="1"/>
              </a:ext>
            </a:extLst>
          </p:cNvPr>
          <p:cNvSpPr>
            <a:spLocks noGrp="1"/>
          </p:cNvSpPr>
          <p:nvPr/>
        </p:nvSpPr>
        <p:spPr>
          <a:xfrm>
            <a:off x="1038225" y="2800350"/>
            <a:ext cx="5572125" cy="2438400"/>
          </a:xfrm>
          <a:prstGeom prst="rect">
            <a:avLst/>
          </a:prstGeom>
          <a:solidFill>
            <a:srgbClr val="E9F3F0"/>
          </a:solidFill>
          <a:ln w="11430">
            <a:solidFill>
              <a:srgbClr val="C9D5DA"/>
            </a:solidFill>
          </a:ln>
        </p:spPr>
      </p:sp>
      <p:sp>
        <p:nvSpPr>
          <p:cNvPr id="7" name="reveal-02-ML-label">
            <a:extLst>
              <a:ext uri="{FF2B5EF4-FFF2-40B4-BE49-F238E27FC236}">
                <ns2:creationId id="{53B9990C-5E53-43D9-A06C-9486B3543993}"/>
              </a:ext>
            </a:extLst>
          </p:cNvPr>
          <p:cNvSpPr>
            <a:spLocks noGrp="1"/>
          </p:cNvSpPr>
          <p:nvPr/>
        </p:nvSpPr>
        <p:spPr>
          <a:xfrm>
            <a:off x="1266825" y="2962275"/>
            <a:ext cx="5095875" cy="4191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Machine learning</a:t>
            </a:r>
          </a:p>
        </p:txBody>
      </p:sp>
      <p:sp>
        <p:nvSpPr>
          <p:cNvPr id="8" name="reveal-03-DL">
            <a:extLst>
              <a:ext uri="{FF2B5EF4-FFF2-40B4-BE49-F238E27FC236}">
                <ns2:creationId id="{59803F68-E70B-4A3A-9A16-D772365B454F}"/>
              </a:ext>
              <a:ext uri="{C183D7F6-B498-43B3-948B-1728B52AA6E4}">
                <ns3:decorative val="1"/>
              </a:ext>
            </a:extLst>
          </p:cNvPr>
          <p:cNvSpPr>
            <a:spLocks noGrp="1"/>
          </p:cNvSpPr>
          <p:nvPr/>
        </p:nvSpPr>
        <p:spPr>
          <a:xfrm>
            <a:off x="1543050" y="3724275"/>
            <a:ext cx="4524375" cy="1209675"/>
          </a:xfrm>
          <a:prstGeom prst="rect">
            <a:avLst/>
          </a:prstGeom>
          <a:solidFill>
            <a:srgbClr val="FFFFFF"/>
          </a:solidFill>
          <a:ln w="11430">
            <a:solidFill>
              <a:srgbClr val="C9D5DA"/>
            </a:solidFill>
          </a:ln>
        </p:spPr>
      </p:sp>
      <p:sp>
        <p:nvSpPr>
          <p:cNvPr id="9" name="reveal-03-DL-label">
            <a:extLst>
              <a:ext uri="{FF2B5EF4-FFF2-40B4-BE49-F238E27FC236}">
                <ns2:creationId id="{34B47CAA-AFCA-4FF0-A1C2-4E4C2B2C268C}"/>
              </a:ext>
            </a:extLst>
          </p:cNvPr>
          <p:cNvSpPr>
            <a:spLocks noGrp="1"/>
          </p:cNvSpPr>
          <p:nvPr/>
        </p:nvSpPr>
        <p:spPr>
          <a:xfrm>
            <a:off x="1752600" y="3943350"/>
            <a:ext cx="4095750" cy="76200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Deep learning</a:t>
            </a:r>
          </a:p>
        </p:txBody>
      </p:sp>
      <p:sp>
        <p:nvSpPr>
          <p:cNvPr id="10" name="reveal-04-gen">
            <a:extLst>
              <a:ext uri="{FF2B5EF4-FFF2-40B4-BE49-F238E27FC236}">
                <ns2:creationId id="{AE33E4AE-FC85-47BB-9854-F470BF69316E}"/>
              </a:ext>
            </a:extLst>
          </p:cNvPr>
          <p:cNvSpPr>
            <a:spLocks noGrp="1"/>
          </p:cNvSpPr>
          <p:nvPr/>
        </p:nvSpPr>
        <p:spPr>
          <a:xfrm>
            <a:off x="7524750" y="2028825"/>
            <a:ext cx="4000500" cy="495300"/>
          </a:xfrm>
          <a:prstGeom prst="rect">
            <a:avLst/>
          </a:prstGeom>
          <a:noFill/>
          <a:ln w="0">
            <a:noFill/>
          </a:ln>
        </p:spPr>
        <p:txBody>
          <a:bodyPr>
            <a:noAutofit/>
          </a:bodyPr>
          <a:lstStyle>
            <a:defPPr>
              <a:defRPr sz="2400" b="1">
                <a:solidFill>
                  <a:srgbClr val="C94E29"/>
                </a:solidFill>
                <a:latin typeface="Calibri"/>
                <a:ea typeface="Calibri"/>
                <a:cs typeface="Calibri"/>
              </a:defRPr>
            </a:defPPr>
            <a:lvl1pPr>
              <a:defRPr sz="2400" b="1">
                <a:solidFill>
                  <a:srgbClr val="C94E29"/>
                </a:solidFill>
                <a:latin typeface="Calibri"/>
                <a:ea typeface="Calibri"/>
                <a:cs typeface="Calibri"/>
              </a:defRPr>
            </a:lvl1pPr>
            <a:lvl2pPr>
              <a:defRPr sz="2400" b="1">
                <a:solidFill>
                  <a:srgbClr val="C94E29"/>
                </a:solidFill>
                <a:latin typeface="Calibri"/>
                <a:ea typeface="Calibri"/>
                <a:cs typeface="Calibri"/>
              </a:defRPr>
            </a:lvl2pPr>
            <a:lvl3pPr>
              <a:defRPr sz="2400" b="1">
                <a:solidFill>
                  <a:srgbClr val="C94E29"/>
                </a:solidFill>
                <a:latin typeface="Calibri"/>
                <a:ea typeface="Calibri"/>
                <a:cs typeface="Calibri"/>
              </a:defRPr>
            </a:lvl3pPr>
            <a:lvl4pPr>
              <a:defRPr sz="2400" b="1">
                <a:solidFill>
                  <a:srgbClr val="C94E29"/>
                </a:solidFill>
                <a:latin typeface="Calibri"/>
                <a:ea typeface="Calibri"/>
                <a:cs typeface="Calibri"/>
              </a:defRPr>
            </a:lvl4pPr>
            <a:lvl5pPr>
              <a:defRPr sz="2400" b="1">
                <a:solidFill>
                  <a:srgbClr val="C94E29"/>
                </a:solidFill>
                <a:latin typeface="Calibri"/>
                <a:ea typeface="Calibri"/>
                <a:cs typeface="Calibri"/>
              </a:defRPr>
            </a:lvl5pPr>
            <a:lvl6pPr>
              <a:defRPr sz="2400" b="1">
                <a:solidFill>
                  <a:srgbClr val="C94E29"/>
                </a:solidFill>
                <a:latin typeface="Calibri"/>
                <a:ea typeface="Calibri"/>
                <a:cs typeface="Calibri"/>
              </a:defRPr>
            </a:lvl6pPr>
            <a:lvl7pPr>
              <a:defRPr sz="2400" b="1">
                <a:solidFill>
                  <a:srgbClr val="C94E29"/>
                </a:solidFill>
                <a:latin typeface="Calibri"/>
                <a:ea typeface="Calibri"/>
                <a:cs typeface="Calibri"/>
              </a:defRPr>
            </a:lvl7pPr>
            <a:lvl8pPr>
              <a:defRPr sz="2400" b="1">
                <a:solidFill>
                  <a:srgbClr val="C94E29"/>
                </a:solidFill>
                <a:latin typeface="Calibri"/>
                <a:ea typeface="Calibri"/>
                <a:cs typeface="Calibri"/>
              </a:defRPr>
            </a:lvl8pPr>
            <a:lvl9pPr>
              <a:defRPr sz="2400" b="1">
                <a:solidFill>
                  <a:srgbClr val="C94E29"/>
                </a:solidFill>
                <a:latin typeface="Calibri"/>
                <a:ea typeface="Calibri"/>
                <a:cs typeface="Calibri"/>
              </a:defRPr>
            </a:lvl9pPr>
          </a:lstStyle>
          <a:p>
            <a:pPr>
              <a:defRPr sz="2400" b="1">
                <a:solidFill>
                  <a:srgbClr val="C94E29"/>
                </a:solidFill>
                <a:latin typeface="Calibri"/>
                <a:ea typeface="Calibri"/>
                <a:cs typeface="Calibri"/>
              </a:defRPr>
            </a:pPr>
            <a:r>
              <a:rPr sz="2400" b="1">
                <a:solidFill>
                  <a:srgbClr val="C94E29"/>
                </a:solidFill>
                <a:latin typeface="Calibri"/>
                <a:ea typeface="Calibri"/>
                <a:cs typeface="Calibri"/>
              </a:rPr>
              <a:t>Generative AI</a:t>
            </a:r>
          </a:p>
        </p:txBody>
      </p:sp>
      <p:sp>
        <p:nvSpPr>
          <p:cNvPr id="11" name="reveal-04-gen-detail">
            <a:extLst>
              <a:ext uri="{FF2B5EF4-FFF2-40B4-BE49-F238E27FC236}">
                <ns2:creationId id="{2118F059-E086-43EF-A028-6C14818CA705}"/>
              </a:ext>
            </a:extLst>
          </p:cNvPr>
          <p:cNvSpPr>
            <a:spLocks noGrp="1"/>
          </p:cNvSpPr>
          <p:nvPr/>
        </p:nvSpPr>
        <p:spPr>
          <a:xfrm>
            <a:off x="7524750" y="2752725"/>
            <a:ext cx="4000500" cy="1285875"/>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2175" b="0">
                <a:solidFill>
                  <a:srgbClr val="1C3144"/>
                </a:solidFill>
                <a:latin typeface="Calibri"/>
                <a:ea typeface="Calibri"/>
                <a:cs typeface="Calibri"/>
              </a:rPr>
              <a:t>A content-generation capability, often using deep learning.</a:t>
            </a:r>
          </a:p>
        </p:txBody>
      </p:sp>
      <p:sp>
        <p:nvSpPr>
          <p:cNvPr id="12" name="reveal-05-DS">
            <a:extLst>
              <a:ext uri="{FF2B5EF4-FFF2-40B4-BE49-F238E27FC236}">
                <ns2:creationId id="{C649A182-E464-4673-AFDC-CBD7A001BFAE}"/>
              </a:ext>
            </a:extLst>
          </p:cNvPr>
          <p:cNvSpPr>
            <a:spLocks noGrp="1"/>
          </p:cNvSpPr>
          <p:nvPr/>
        </p:nvSpPr>
        <p:spPr>
          <a:xfrm>
            <a:off x="7524750" y="4400550"/>
            <a:ext cx="4000500" cy="13144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Data science overlaps these fields and includes work without ML.</a:t>
            </a:r>
          </a:p>
        </p:txBody>
      </p:sp>
      <p:sp>
        <p:nvSpPr>
          <p:cNvPr id="13" name="text-54">
            <a:extLst>
              <a:ext uri="{FF2B5EF4-FFF2-40B4-BE49-F238E27FC236}">
                <ns2:creationId id="{B42FB45C-24AC-4C7A-B2A4-B912B9287C5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Natural language processing (NLP) studies computational processing of human language.</a:t>
            </a:r>
          </a:p>
        </p:txBody>
      </p:sp>
      <p:sp>
        <p:nvSpPr>
          <p:cNvPr id="3" name="text-53">
            <a:extLst>
              <a:ext uri="{FF2B5EF4-FFF2-40B4-BE49-F238E27FC236}">
                <ns2:creationId id="{9FF87F64-F215-42A0-B75A-AE504027B09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8</a:t>
            </a:r>
          </a:p>
        </p:txBody>
      </p:sp>
    </p:spTree>
    <p:extLst>
      <p:ext uri="{BB962C8B-B14F-4D97-AF65-F5344CB8AC3E}">
        <ns4:creationId val="136854194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00"/>
                                        <p:tgtEl>
                                          <p:spTgt spid="10"/>
                                        </p:tgtEl>
                                      </p:cBhvr>
                                    </p:animEffect>
                                  </p:childTnLst>
                                </p:cTn>
                              </p:par>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Tasks in our matter">
    <p:bg>
      <p:bgPr>
        <a:solidFill>
          <a:srgbClr val="FFFFFF"/>
        </a:solidFill>
      </p:bgPr>
    </p:bg>
    <p:spTree>
      <p:nvGrpSpPr>
        <p:cNvPr id="1" name=""/>
        <p:cNvGrpSpPr/>
        <p:nvPr/>
      </p:nvGrpSpPr>
      <p:grpSpPr>
        <a:xfrm/>
      </p:grpSpPr>
      <p:sp>
        <p:nvSpPr>
          <p:cNvPr id="5" name="text-55">
            <a:extLst>
              <a:ext uri="{FF2B5EF4-FFF2-40B4-BE49-F238E27FC236}">
                <ns2:creationId id="{3436BC0A-CE3C-47B7-82D9-D22416AFD69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56">
            <a:extLst>
              <a:ext uri="{FF2B5EF4-FFF2-40B4-BE49-F238E27FC236}">
                <ns2:creationId id="{25806E4D-47A3-406D-9CD6-FF1976C76B7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Tasks in our matter</a:t>
            </a:r>
          </a:p>
        </p:txBody>
      </p:sp>
      <p:graphicFrame>
        <p:nvGraphicFramePr>
          <p:cNvPr id="4" name="">
            <a:extLst>
              <a:ext uri="{FF2B5EF4-FFF2-40B4-BE49-F238E27FC236}">
                <ns2:creationId id="{D017A371-E2AF-4A18-8EA0-B4CEB83627F4}"/>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Task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Mechanism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Output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Total invoice amounts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Calculation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 number</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Identify a contract type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Classification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category</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Find a precedent clause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Retrieval</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Source passages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Draft an amendment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Generation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Proposed wording</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57">
            <a:extLst>
              <a:ext uri="{FF2B5EF4-FFF2-40B4-BE49-F238E27FC236}">
                <ns2:creationId id="{40C6E60C-2A15-4E67-882C-81631037931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9</a:t>
            </a:r>
          </a:p>
        </p:txBody>
      </p:sp>
    </p:spTree>
    <p:extLst>
      <p:ext uri="{BB962C8B-B14F-4D97-AF65-F5344CB8AC3E}">
        <ns3:creationId val="1764836148"/>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model inside a working system">
    <p:bg>
      <p:bgPr>
        <a:solidFill>
          <a:srgbClr val="FFFFFF"/>
        </a:solidFill>
      </p:bgPr>
    </p:bg>
    <p:spTree>
      <p:nvGrpSpPr>
        <p:cNvPr id="1" name=""/>
        <p:cNvGrpSpPr/>
        <p:nvPr/>
      </p:nvGrpSpPr>
      <p:grpSpPr>
        <a:xfrm/>
      </p:grpSpPr>
      <p:cxnSp>
        <p:nvCxnSpPr>
          <p:cNvPr id="22" name="reveal-04-arrow" descr="The model inside a working system">
            <a:extLst>
              <a:ext uri="{FF2B5EF4-FFF2-40B4-BE49-F238E27FC236}">
                <ns2:creationId id="{F0267376-EACA-42CF-A208-F5480308BDCD}"/>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2988F6D4-5779-48EE-B1F4-205A82D4E993}"/>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129A4856-4C40-476F-89CD-C90E9C84CFB5}"/>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58">
            <a:extLst>
              <a:ext uri="{FF2B5EF4-FFF2-40B4-BE49-F238E27FC236}">
                <ns2:creationId id="{5A41B258-AD23-47CD-917C-08902D6E1E6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59">
            <a:extLst>
              <a:ext uri="{FF2B5EF4-FFF2-40B4-BE49-F238E27FC236}">
                <ns2:creationId id="{86890D6D-6779-48F5-8B22-DEE1E918CEE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model inside a working system</a:t>
            </a:r>
          </a:p>
        </p:txBody>
      </p:sp>
      <p:sp>
        <p:nvSpPr>
          <p:cNvPr id="4" name="reveal-01-stage">
            <a:extLst>
              <a:ext uri="{FF2B5EF4-FFF2-40B4-BE49-F238E27FC236}">
                <ns2:creationId id="{18D78BA4-C013-47EF-8835-3630BEC3E837}"/>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B506A030-18C6-4350-B08A-4E07469C29A8}"/>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B5156BC-EACA-4ABE-851C-BF3E81C37813}"/>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Person</a:t>
            </a:r>
          </a:p>
        </p:txBody>
      </p:sp>
      <p:sp>
        <p:nvSpPr>
          <p:cNvPr id="7" name="reveal-01-detail">
            <a:extLst>
              <a:ext uri="{FF2B5EF4-FFF2-40B4-BE49-F238E27FC236}">
                <ns2:creationId id="{39C2CBA3-5341-4E61-990F-C0FBA59B10F8}"/>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Question and authority</a:t>
            </a:r>
          </a:p>
        </p:txBody>
      </p:sp>
      <p:sp>
        <p:nvSpPr>
          <p:cNvPr id="8" name="reveal-02-stage">
            <a:extLst>
              <a:ext uri="{FF2B5EF4-FFF2-40B4-BE49-F238E27FC236}">
                <ns2:creationId id="{9A1BD30E-A6EE-43F8-B80B-1EFFB835C5F6}"/>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6B1F2AB5-A67E-46BF-84A3-1203F3197538}"/>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81E3E9E1-9A04-4E11-8453-C7AC879FB40D}"/>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Application</a:t>
            </a:r>
          </a:p>
        </p:txBody>
      </p:sp>
      <p:sp>
        <p:nvSpPr>
          <p:cNvPr id="11" name="reveal-02-detail">
            <a:extLst>
              <a:ext uri="{FF2B5EF4-FFF2-40B4-BE49-F238E27FC236}">
                <ns2:creationId id="{8BA11BC0-2536-44E9-9B53-CB76BE16C0E7}"/>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Files and instructions</a:t>
            </a:r>
          </a:p>
        </p:txBody>
      </p:sp>
      <p:sp>
        <p:nvSpPr>
          <p:cNvPr id="12" name="reveal-03-stage">
            <a:extLst>
              <a:ext uri="{FF2B5EF4-FFF2-40B4-BE49-F238E27FC236}">
                <ns2:creationId id="{B951CE9B-9193-425F-AD09-EFC2B97AF008}"/>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6117C223-E01F-40D5-8E47-09D0D15DA4B3}"/>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E936B421-9369-4B70-A6DE-D21D3D6DE500}"/>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Model and tools</a:t>
            </a:r>
          </a:p>
        </p:txBody>
      </p:sp>
      <p:sp>
        <p:nvSpPr>
          <p:cNvPr id="15" name="reveal-03-detail">
            <a:extLst>
              <a:ext uri="{FF2B5EF4-FFF2-40B4-BE49-F238E27FC236}">
                <ns2:creationId id="{FA94FBD0-7DAF-4428-A892-32FB7E4941C8}"/>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Generation or search</a:t>
            </a:r>
          </a:p>
        </p:txBody>
      </p:sp>
      <p:sp>
        <p:nvSpPr>
          <p:cNvPr id="16" name="reveal-04-stage">
            <a:extLst>
              <a:ext uri="{FF2B5EF4-FFF2-40B4-BE49-F238E27FC236}">
                <ns2:creationId id="{92D84107-E9AA-44E9-B724-AFCC73A29954}"/>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772C43B0-D115-46D3-887E-2DB4ECA0430D}"/>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FB2D82FF-4E62-46AE-9605-83A9D6EAFF32}"/>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a:t>
            </a:r>
          </a:p>
        </p:txBody>
      </p:sp>
      <p:sp>
        <p:nvSpPr>
          <p:cNvPr id="19" name="reveal-04-detail">
            <a:extLst>
              <a:ext uri="{FF2B5EF4-FFF2-40B4-BE49-F238E27FC236}">
                <ns2:creationId id="{56027387-C97A-4945-AA21-C36946DAAB06}"/>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Use decision</a:t>
            </a:r>
          </a:p>
        </p:txBody>
      </p:sp>
      <p:sp>
        <p:nvSpPr>
          <p:cNvPr id="3" name="text-60">
            <a:extLst>
              <a:ext uri="{FF2B5EF4-FFF2-40B4-BE49-F238E27FC236}">
                <ns2:creationId id="{8FA5C766-3EB2-4A35-8423-EA243B0B2B8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10</a:t>
            </a:r>
          </a:p>
        </p:txBody>
      </p:sp>
    </p:spTree>
    <p:extLst>
      <p:ext uri="{BB962C8B-B14F-4D97-AF65-F5344CB8AC3E}">
        <ns4:creationId val="86756610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 rule and a learned prediction">
    <p:bg>
      <p:bgPr>
        <a:solidFill>
          <a:srgbClr val="FFFFFF"/>
        </a:solidFill>
      </p:bgPr>
    </p:bg>
    <p:spTree>
      <p:nvGrpSpPr>
        <p:cNvPr id="1" name=""/>
        <p:cNvGrpSpPr/>
        <p:nvPr/>
      </p:nvGrpSpPr>
      <p:grpSpPr>
        <a:xfrm/>
      </p:grpSpPr>
      <p:sp>
        <p:nvSpPr>
          <p:cNvPr id="8" name="text-64">
            <a:extLst>
              <a:ext uri="{FF2B5EF4-FFF2-40B4-BE49-F238E27FC236}">
                <ns2:creationId id="{A9C0EE24-7D76-4F9F-84FC-A5F078E05C3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65">
            <a:extLst>
              <a:ext uri="{FF2B5EF4-FFF2-40B4-BE49-F238E27FC236}">
                <ns2:creationId id="{2EF5601A-B5F5-40A6-9DC9-B13B3375AEA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rule and a learned prediction</a:t>
            </a:r>
          </a:p>
        </p:txBody>
      </p:sp>
      <p:sp>
        <p:nvSpPr>
          <p:cNvPr id="4" name="text-67">
            <a:extLst>
              <a:ext uri="{FF2B5EF4-FFF2-40B4-BE49-F238E27FC236}">
                <ns2:creationId id="{68D9A25A-C083-448D-8128-AACE713E28CB}"/>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Rule</a:t>
            </a:r>
          </a:p>
        </p:txBody>
      </p:sp>
      <p:sp>
        <p:nvSpPr>
          <p:cNvPr id="5" name="text-68">
            <a:extLst>
              <a:ext uri="{FF2B5EF4-FFF2-40B4-BE49-F238E27FC236}">
                <ns2:creationId id="{F578231D-064E-4A0B-A324-BF5A3E69B6AD}"/>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recorded review date triggers a reminder.</a:t>
            </a:r>
          </a:p>
        </p:txBody>
      </p:sp>
      <p:sp>
        <p:nvSpPr>
          <p:cNvPr id="6" name="text-69">
            <a:extLst>
              <a:ext uri="{FF2B5EF4-FFF2-40B4-BE49-F238E27FC236}">
                <ns2:creationId id="{6B0349AC-A124-4DE9-9BAA-812251BD2375}"/>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Learned prediction</a:t>
            </a:r>
          </a:p>
        </p:txBody>
      </p:sp>
      <p:sp>
        <p:nvSpPr>
          <p:cNvPr id="7" name="text-70">
            <a:extLst>
              <a:ext uri="{FF2B5EF4-FFF2-40B4-BE49-F238E27FC236}">
                <ns2:creationId id="{C33BB0C0-A24A-48DE-AF62-A70EA831E75B}"/>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model estimates which incoming documents belong to a matter.</a:t>
            </a:r>
          </a:p>
        </p:txBody>
      </p:sp>
      <p:sp>
        <p:nvSpPr>
          <p:cNvPr id="3" name="text-66">
            <a:extLst>
              <a:ext uri="{FF2B5EF4-FFF2-40B4-BE49-F238E27FC236}">
                <ns2:creationId id="{BB63AF6C-A4C6-4ACB-A8D0-CFC7DB06D4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11</a:t>
            </a:r>
          </a:p>
        </p:txBody>
      </p:sp>
    </p:spTree>
    <p:extLst>
      <p:ext uri="{BB962C8B-B14F-4D97-AF65-F5344CB8AC3E}">
        <ns3:creationId val="729317603"/>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he first contract question">
    <p:bg>
      <p:bgPr>
        <a:solidFill>
          <a:srgbClr val="FFFFFF"/>
        </a:solidFill>
      </p:bgPr>
    </p:bg>
    <p:spTree>
      <p:nvGrpSpPr>
        <p:cNvPr id="1" name=""/>
        <p:cNvGrpSpPr/>
        <p:nvPr/>
      </p:nvGrpSpPr>
      <p:grpSpPr>
        <a:xfrm/>
      </p:grpSpPr>
      <p:sp>
        <p:nvSpPr>
          <p:cNvPr id="8" name="text-71">
            <a:extLst>
              <a:ext uri="{FF2B5EF4-FFF2-40B4-BE49-F238E27FC236}">
                <ns2:creationId id="{C1C1CA84-F5D5-4554-B633-28FB416DD8A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72">
            <a:extLst>
              <a:ext uri="{FF2B5EF4-FFF2-40B4-BE49-F238E27FC236}">
                <ns2:creationId id="{D4BB493C-8690-47B9-B252-B8CBBFE2252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first contract question</a:t>
            </a:r>
          </a:p>
        </p:txBody>
      </p:sp>
      <p:sp>
        <p:nvSpPr>
          <p:cNvPr id="4" name="text-74">
            <a:extLst>
              <a:ext uri="{FF2B5EF4-FFF2-40B4-BE49-F238E27FC236}">
                <ns2:creationId id="{C01DE3E6-40CB-449D-8BB0-1616068AC49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75">
            <a:extLst>
              <a:ext uri="{FF2B5EF4-FFF2-40B4-BE49-F238E27FC236}">
                <ns2:creationId id="{535FAD74-E98A-4D8B-AC9A-5DAE9D786E36}"/>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Does clause 3 require consent for this transaction?</a:t>
            </a:r>
          </a:p>
        </p:txBody>
      </p:sp>
      <p:sp>
        <p:nvSpPr>
          <p:cNvPr id="6" name="text-76">
            <a:extLst>
              <a:ext uri="{FF2B5EF4-FFF2-40B4-BE49-F238E27FC236}">
                <ns2:creationId id="{3DE6D702-95AC-4A2D-906C-3367090B82AE}"/>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77">
            <a:extLst>
              <a:ext uri="{FF2B5EF4-FFF2-40B4-BE49-F238E27FC236}">
                <ns2:creationId id="{78F65C9D-73FE-4BD9-BE2D-8FDF9A24B5A1}"/>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customer must give prior written consent to a change of control of the provider. Consent is not required for a reorganisation within a wholly owned group if the provider remains responsible for its obligations.</a:t>
            </a:r>
          </a:p>
        </p:txBody>
      </p:sp>
      <p:sp>
        <p:nvSpPr>
          <p:cNvPr id="3" name="text-73">
            <a:extLst>
              <a:ext uri="{FF2B5EF4-FFF2-40B4-BE49-F238E27FC236}">
                <ns2:creationId id="{1D52418F-23BA-49E4-A225-DC03054A232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12</a:t>
            </a:r>
          </a:p>
        </p:txBody>
      </p:sp>
    </p:spTree>
    <p:extLst>
      <p:ext uri="{BB962C8B-B14F-4D97-AF65-F5344CB8AC3E}">
        <ns3:creationId val="1529201543"/>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fluent answer and a supported answer">
    <p:bg>
      <p:bgPr>
        <a:solidFill>
          <a:srgbClr val="FFFFFF"/>
        </a:solidFill>
      </p:bgPr>
    </p:bg>
    <p:spTree>
      <p:nvGrpSpPr>
        <p:cNvPr id="1" name=""/>
        <p:cNvGrpSpPr/>
        <p:nvPr/>
      </p:nvGrpSpPr>
      <p:grpSpPr>
        <a:xfrm/>
      </p:grpSpPr>
      <p:sp>
        <p:nvSpPr>
          <p:cNvPr id="8" name="text-78">
            <a:extLst>
              <a:ext uri="{FF2B5EF4-FFF2-40B4-BE49-F238E27FC236}">
                <ns2:creationId id="{DE7C1DC6-9269-4CE2-8C24-EC46C8E0088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79">
            <a:extLst>
              <a:ext uri="{FF2B5EF4-FFF2-40B4-BE49-F238E27FC236}">
                <ns2:creationId id="{3F4CCF76-6B72-4B3B-972A-80BFE23B6C4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fluent answer and a supported answer</a:t>
            </a:r>
          </a:p>
        </p:txBody>
      </p:sp>
      <p:sp>
        <p:nvSpPr>
          <p:cNvPr id="4" name="text-81">
            <a:extLst>
              <a:ext uri="{FF2B5EF4-FFF2-40B4-BE49-F238E27FC236}">
                <ns2:creationId id="{C111F171-01C0-4BD5-A03B-C7DC9B1B9F03}"/>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Fluent but incomplete</a:t>
            </a:r>
          </a:p>
        </p:txBody>
      </p:sp>
      <p:sp>
        <p:nvSpPr>
          <p:cNvPr id="5" name="text-82">
            <a:extLst>
              <a:ext uri="{FF2B5EF4-FFF2-40B4-BE49-F238E27FC236}">
                <ns2:creationId id="{B6B2D63E-E509-41FD-9070-4B1D6F904530}"/>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Every change of control requires prior written consent.</a:t>
            </a:r>
          </a:p>
        </p:txBody>
      </p:sp>
      <p:sp>
        <p:nvSpPr>
          <p:cNvPr id="6" name="text-83">
            <a:extLst>
              <a:ext uri="{FF2B5EF4-FFF2-40B4-BE49-F238E27FC236}">
                <ns2:creationId id="{133A4B64-1800-480C-B53F-B48BCC5EAB17}"/>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Supported and conditional</a:t>
            </a:r>
          </a:p>
        </p:txBody>
      </p:sp>
      <p:sp>
        <p:nvSpPr>
          <p:cNvPr id="7" name="text-84">
            <a:extLst>
              <a:ext uri="{FF2B5EF4-FFF2-40B4-BE49-F238E27FC236}">
                <ns2:creationId id="{07A18AF7-8F91-47E3-A13A-A727BE4ED56A}"/>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Prior consent applies to a change of control. A wholly owned group reorganisation is exempt if the provider remains responsible.</a:t>
            </a:r>
          </a:p>
        </p:txBody>
      </p:sp>
      <p:sp>
        <p:nvSpPr>
          <p:cNvPr id="3" name="text-80">
            <a:extLst>
              <a:ext uri="{FF2B5EF4-FFF2-40B4-BE49-F238E27FC236}">
                <ns2:creationId id="{40537E74-7672-42FA-828C-E3915686B03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13</a:t>
            </a:r>
          </a:p>
        </p:txBody>
      </p:sp>
    </p:spTree>
    <p:extLst>
      <p:ext uri="{BB962C8B-B14F-4D97-AF65-F5344CB8AC3E}">
        <ns3:creationId val="634680746"/>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Our first information boundary">
    <p:bg>
      <p:bgPr>
        <a:solidFill>
          <a:srgbClr val="FFFFFF"/>
        </a:solidFill>
      </p:bgPr>
    </p:bg>
    <p:spTree>
      <p:nvGrpSpPr>
        <p:cNvPr id="1" name=""/>
        <p:cNvGrpSpPr/>
        <p:nvPr/>
      </p:nvGrpSpPr>
      <p:grpSpPr>
        <a:xfrm/>
      </p:grpSpPr>
      <p:sp>
        <p:nvSpPr>
          <p:cNvPr id="8" name="text-85">
            <a:extLst>
              <a:ext uri="{FF2B5EF4-FFF2-40B4-BE49-F238E27FC236}">
                <ns2:creationId id="{C13F1CB6-B656-40B1-8632-D258B4F7384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86">
            <a:extLst>
              <a:ext uri="{FF2B5EF4-FFF2-40B4-BE49-F238E27FC236}">
                <ns2:creationId id="{E4562CE7-5428-4AAD-BF76-8B2D3B7991C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first information boundary</a:t>
            </a:r>
          </a:p>
        </p:txBody>
      </p:sp>
      <p:sp>
        <p:nvSpPr>
          <p:cNvPr id="4" name="text-88">
            <a:extLst>
              <a:ext uri="{FF2B5EF4-FFF2-40B4-BE49-F238E27FC236}">
                <ns2:creationId id="{E8EC3F18-AF81-4B15-BE8C-A907622AB3E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9">
            <a:extLst>
              <a:ext uri="{FF2B5EF4-FFF2-40B4-BE49-F238E27FC236}">
                <ns2:creationId id="{767F35A6-0976-42B8-9F11-D4442A64664C}"/>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Public authorities and fictional client records are available for class.</a:t>
            </a:r>
          </a:p>
        </p:txBody>
      </p:sp>
      <p:sp>
        <p:nvSpPr>
          <p:cNvPr id="6" name="text-90">
            <a:extLst>
              <a:ext uri="{FF2B5EF4-FFF2-40B4-BE49-F238E27FC236}">
                <ns2:creationId id="{D6DF589A-756F-4C53-BD78-63F3EF8084A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1">
            <a:extLst>
              <a:ext uri="{FF2B5EF4-FFF2-40B4-BE49-F238E27FC236}">
                <ns2:creationId id="{2F8D0C83-8BFD-4FF1-9ECE-879D0D8242A4}"/>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Real client material needs a permitted tool, purpose and access decision.</a:t>
            </a:r>
          </a:p>
        </p:txBody>
      </p:sp>
      <p:sp>
        <p:nvSpPr>
          <p:cNvPr id="3" name="text-87">
            <a:extLst>
              <a:ext uri="{FF2B5EF4-FFF2-40B4-BE49-F238E27FC236}">
                <ns2:creationId id="{A34E1547-9A32-4250-AA6D-82C2B5E3B8E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14</a:t>
            </a:r>
          </a:p>
        </p:txBody>
      </p:sp>
    </p:spTree>
    <p:extLst>
      <p:ext uri="{BB962C8B-B14F-4D97-AF65-F5344CB8AC3E}">
        <ns3:creationId val="1345745756"/>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A first use-case choice">
    <p:bg>
      <p:bgPr>
        <a:solidFill>
          <a:srgbClr val="FFFFFF"/>
        </a:solidFill>
      </p:bgPr>
    </p:bg>
    <p:spTree>
      <p:nvGrpSpPr>
        <p:cNvPr id="1" name=""/>
        <p:cNvGrpSpPr/>
        <p:nvPr/>
      </p:nvGrpSpPr>
      <p:grpSpPr>
        <a:xfrm/>
      </p:grpSpPr>
      <p:sp>
        <p:nvSpPr>
          <p:cNvPr id="5" name="text-92">
            <a:extLst>
              <a:ext uri="{FF2B5EF4-FFF2-40B4-BE49-F238E27FC236}">
                <ns2:creationId id="{FF4EFC07-A3E7-4E1C-A55C-BB4A42554BE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93">
            <a:extLst>
              <a:ext uri="{FF2B5EF4-FFF2-40B4-BE49-F238E27FC236}">
                <ns2:creationId id="{E120E70B-56D1-49F4-976B-C2E3F503343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first use-case choice</a:t>
            </a:r>
          </a:p>
        </p:txBody>
      </p:sp>
      <p:graphicFrame>
        <p:nvGraphicFramePr>
          <p:cNvPr id="4" name="">
            <a:extLst>
              <a:ext uri="{FF2B5EF4-FFF2-40B4-BE49-F238E27FC236}">
                <ns2:creationId id="{633FAB9B-1EE4-436D-9225-C6499D953EAE}"/>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Candidate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Value to explore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First constraint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Precedent search</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Find relevant firm knowledge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Current sources and permissions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Contract comparison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Find playbook departures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Preserve qualifications</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Tax evidence review</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Find record discrepancies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Complete and comparable records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94">
            <a:extLst>
              <a:ext uri="{FF2B5EF4-FFF2-40B4-BE49-F238E27FC236}">
                <ns2:creationId id="{AF891033-C0D6-4404-B968-2E323F4FD18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15</a:t>
            </a:r>
          </a:p>
        </p:txBody>
      </p:sp>
    </p:spTree>
    <p:extLst>
      <p:ext uri="{BB962C8B-B14F-4D97-AF65-F5344CB8AC3E}">
        <ns3:creationId val="1139327595"/>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95">
            <a:extLst>
              <a:ext uri="{FF2B5EF4-FFF2-40B4-BE49-F238E27FC236}">
                <ns2:creationId id="{BA40089F-463B-4C50-B774-C373F7358D6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96">
            <a:extLst>
              <a:ext uri="{FF2B5EF4-FFF2-40B4-BE49-F238E27FC236}">
                <ns2:creationId id="{F5BB8EF2-A3AA-4E4D-9A15-C44E6CA0224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98">
            <a:extLst>
              <a:ext uri="{FF2B5EF4-FFF2-40B4-BE49-F238E27FC236}">
                <ns2:creationId id="{348437D8-C63F-4B5B-82C9-8892FD21437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9">
            <a:extLst>
              <a:ext uri="{FF2B5EF4-FFF2-40B4-BE49-F238E27FC236}">
                <ns2:creationId id="{E3A9FA8D-FFCF-45DB-9D0D-D1C5EAF18164}"/>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Discuss your current AI use and starting assumptions.</a:t>
            </a:r>
          </a:p>
        </p:txBody>
      </p:sp>
      <p:sp>
        <p:nvSpPr>
          <p:cNvPr id="6" name="text-100">
            <a:extLst>
              <a:ext uri="{FF2B5EF4-FFF2-40B4-BE49-F238E27FC236}">
                <ns2:creationId id="{E73FC08D-8FA6-4C52-98AA-84BB5CD2440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1">
            <a:extLst>
              <a:ext uri="{FF2B5EF4-FFF2-40B4-BE49-F238E27FC236}">
                <ns2:creationId id="{41CC1998-9D86-4580-A44E-2E63A195CC31}"/>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the clause question using current evidence.</a:t>
            </a:r>
          </a:p>
        </p:txBody>
      </p:sp>
      <p:sp>
        <p:nvSpPr>
          <p:cNvPr id="8" name="text-102">
            <a:extLst>
              <a:ext uri="{FF2B5EF4-FFF2-40B4-BE49-F238E27FC236}">
                <ns2:creationId id="{6714AB38-BFCE-4D73-9A91-583B23023F3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03">
            <a:extLst>
              <a:ext uri="{FF2B5EF4-FFF2-40B4-BE49-F238E27FC236}">
                <ns2:creationId id="{4AF26AA0-8085-4B28-B35E-D4A8BB43F9F8}"/>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the response with the complete clause.</a:t>
            </a:r>
          </a:p>
        </p:txBody>
      </p:sp>
      <p:sp>
        <p:nvSpPr>
          <p:cNvPr id="10" name="text-104">
            <a:extLst>
              <a:ext uri="{FF2B5EF4-FFF2-40B4-BE49-F238E27FC236}">
                <ns2:creationId id="{80841F39-89B7-4A9F-A7BD-AF42989365C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05">
            <a:extLst>
              <a:ext uri="{FF2B5EF4-FFF2-40B4-BE49-F238E27FC236}">
                <ns2:creationId id="{B649D508-81C0-4EA4-A7B0-249162C91C4A}"/>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Choose one firm task and a success test.</a:t>
            </a:r>
          </a:p>
        </p:txBody>
      </p:sp>
      <p:sp>
        <p:nvSpPr>
          <p:cNvPr id="12" name="text-106">
            <a:extLst>
              <a:ext uri="{FF2B5EF4-FFF2-40B4-BE49-F238E27FC236}">
                <ns2:creationId id="{30895BFE-4347-459B-9F91-9F6487B2D29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97">
            <a:extLst>
              <a:ext uri="{FF2B5EF4-FFF2-40B4-BE49-F238E27FC236}">
                <ns2:creationId id="{FF9D76F0-8A49-403E-8E99-22A0F6204B7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16</a:t>
            </a:r>
          </a:p>
        </p:txBody>
      </p:sp>
    </p:spTree>
    <p:extLst>
      <p:ext uri="{BB962C8B-B14F-4D97-AF65-F5344CB8AC3E}">
        <ns3:creationId val="1852513285"/>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07">
            <a:extLst>
              <a:ext uri="{FF2B5EF4-FFF2-40B4-BE49-F238E27FC236}">
                <ns2:creationId id="{DBB29AE7-8CF3-4408-BF00-47C3649535C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08">
            <a:extLst>
              <a:ext uri="{FF2B5EF4-FFF2-40B4-BE49-F238E27FC236}">
                <ns2:creationId id="{B271BF48-A9C8-4891-A265-2D65D328186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10">
            <a:extLst>
              <a:ext uri="{FF2B5EF4-FFF2-40B4-BE49-F238E27FC236}">
                <ns2:creationId id="{DCD850B8-CFF6-4D0E-BA24-72347DA9244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1">
            <a:extLst>
              <a:ext uri="{FF2B5EF4-FFF2-40B4-BE49-F238E27FC236}">
                <ns2:creationId id="{56239EA1-4A49-4DB0-9ED2-AA4A3ED7F167}"/>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Calculation, learned classification, retrieval and drafting are different operations. The base facts do not establish every exception condition. A pilot needs an owner, permitted evidence and a task-specific test.</a:t>
            </a:r>
          </a:p>
        </p:txBody>
      </p:sp>
      <p:sp>
        <p:nvSpPr>
          <p:cNvPr id="6" name="text-112">
            <a:extLst>
              <a:ext uri="{FF2B5EF4-FFF2-40B4-BE49-F238E27FC236}">
                <ns2:creationId id="{D2683FFC-B406-49CE-A22D-8B753F9C7BE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3">
            <a:extLst>
              <a:ext uri="{FF2B5EF4-FFF2-40B4-BE49-F238E27FC236}">
                <ns2:creationId id="{ED1CB4A5-54DA-40EC-A0F7-B39D9F906D74}"/>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opening demonstration and an entry diagnostic do not establish production reliability.</a:t>
            </a:r>
          </a:p>
        </p:txBody>
      </p:sp>
      <p:sp>
        <p:nvSpPr>
          <p:cNvPr id="3" name="text-109">
            <a:extLst>
              <a:ext uri="{FF2B5EF4-FFF2-40B4-BE49-F238E27FC236}">
                <ns2:creationId id="{E4815D93-1207-4CB5-84B9-23FD26E649F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17</a:t>
            </a:r>
          </a:p>
        </p:txBody>
      </p:sp>
    </p:spTree>
    <p:extLst>
      <p:ext uri="{BB962C8B-B14F-4D97-AF65-F5344CB8AC3E}">
        <ns3:creationId val="162846310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14">
            <a:extLst>
              <a:ext uri="{FF2B5EF4-FFF2-40B4-BE49-F238E27FC236}">
                <ns2:creationId id="{67606BB4-42BD-4A1D-A8A5-F24EC759854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15">
            <a:extLst>
              <a:ext uri="{FF2B5EF4-FFF2-40B4-BE49-F238E27FC236}">
                <ns2:creationId id="{FFD1D0AC-29BB-4824-8FBE-29B82B8DD8C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17">
            <a:extLst>
              <a:ext uri="{FF2B5EF4-FFF2-40B4-BE49-F238E27FC236}">
                <ns2:creationId id="{7B914186-D7C9-49DE-8763-5CDAC40D4F2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8">
            <a:extLst>
              <a:ext uri="{FF2B5EF4-FFF2-40B4-BE49-F238E27FC236}">
                <ns2:creationId id="{6AD41AE0-595A-4CA6-882C-92ED8CB0E18F}"/>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Select one task to investigate and record its present process, source owner and uncertainty.</a:t>
            </a:r>
          </a:p>
        </p:txBody>
      </p:sp>
      <p:sp>
        <p:nvSpPr>
          <p:cNvPr id="6" name="text-119">
            <a:extLst>
              <a:ext uri="{FF2B5EF4-FFF2-40B4-BE49-F238E27FC236}">
                <ns2:creationId id="{366FD8D7-428C-4B2D-83DC-54AE63ADC33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16">
            <a:extLst>
              <a:ext uri="{FF2B5EF4-FFF2-40B4-BE49-F238E27FC236}">
                <ns2:creationId id="{EF93772F-CE93-4599-BFBF-B25009B0FF8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18</a:t>
            </a:r>
          </a:p>
        </p:txBody>
      </p:sp>
    </p:spTree>
    <p:extLst>
      <p:ext uri="{BB962C8B-B14F-4D97-AF65-F5344CB8AC3E}">
        <ns3:creationId val="986881130"/>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20">
            <a:extLst>
              <a:ext uri="{FF2B5EF4-FFF2-40B4-BE49-F238E27FC236}">
                <ns2:creationId id="{ED9314B7-6F89-467F-AA0F-C7EAF8A4C09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21">
            <a:extLst>
              <a:ext uri="{FF2B5EF4-FFF2-40B4-BE49-F238E27FC236}">
                <ns2:creationId id="{3E51B003-DE81-4707-B157-F322D338961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23">
            <a:extLst>
              <a:ext uri="{FF2B5EF4-FFF2-40B4-BE49-F238E27FC236}">
                <ns2:creationId id="{FA7AC80B-9A2B-42E9-86D6-0CD13D0D3EA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4">
            <a:extLst>
              <a:ext uri="{FF2B5EF4-FFF2-40B4-BE49-F238E27FC236}">
                <ns2:creationId id="{A7DC0ED4-B6A8-4988-B247-7038B76AB271}"/>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fixed date needs a reminder. Would you train a model?</a:t>
            </a:r>
          </a:p>
        </p:txBody>
      </p:sp>
      <p:sp>
        <p:nvSpPr>
          <p:cNvPr id="6" name="text-125">
            <a:extLst>
              <a:ext uri="{FF2B5EF4-FFF2-40B4-BE49-F238E27FC236}">
                <ns2:creationId id="{E05CCBB8-B410-4FCF-9664-DC2AA1EA3B6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6">
            <a:extLst>
              <a:ext uri="{FF2B5EF4-FFF2-40B4-BE49-F238E27FC236}">
                <ns2:creationId id="{D7F7A85B-2701-4E60-863E-3AD4E8A3CD32}"/>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draft quotes the contract but omits the exception. Is it usable?</a:t>
            </a:r>
          </a:p>
        </p:txBody>
      </p:sp>
      <p:sp>
        <p:nvSpPr>
          <p:cNvPr id="8" name="text-127">
            <a:extLst>
              <a:ext uri="{FF2B5EF4-FFF2-40B4-BE49-F238E27FC236}">
                <ns2:creationId id="{308EFCF6-B34B-47FB-8719-266E648A4CF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28">
            <a:extLst>
              <a:ext uri="{FF2B5EF4-FFF2-40B4-BE49-F238E27FC236}">
                <ns2:creationId id="{B66C2657-CE73-4F49-9302-AA0EB7BF8AD7}"/>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Name one source owner for the candidate task.</a:t>
            </a:r>
          </a:p>
        </p:txBody>
      </p:sp>
      <p:sp>
        <p:nvSpPr>
          <p:cNvPr id="3" name="text-122">
            <a:extLst>
              <a:ext uri="{FF2B5EF4-FFF2-40B4-BE49-F238E27FC236}">
                <ns2:creationId id="{D2A43AEC-B012-45F8-BCEB-EB6A2B87043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19</a:t>
            </a:r>
          </a:p>
        </p:txBody>
      </p:sp>
    </p:spTree>
    <p:extLst>
      <p:ext uri="{BB962C8B-B14F-4D97-AF65-F5344CB8AC3E}">
        <ns3:creationId val="26667956"/>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Model">
    <p:bg>
      <p:bgPr>
        <a:solidFill>
          <a:srgbClr val="FFFFFF"/>
        </a:solidFill>
      </p:bgPr>
    </p:bg>
    <p:spTree>
      <p:nvGrpSpPr>
        <p:cNvPr id="1" name=""/>
        <p:cNvGrpSpPr/>
        <p:nvPr/>
      </p:nvGrpSpPr>
      <p:grpSpPr>
        <a:xfrm/>
      </p:grpSpPr>
      <p:sp>
        <p:nvSpPr>
          <p:cNvPr id="7" name="text-129">
            <a:extLst>
              <a:ext uri="{FF2B5EF4-FFF2-40B4-BE49-F238E27FC236}">
                <ns2:creationId id="{1CBC3CC7-A7AA-487D-AAA5-A48AC793ADB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30">
            <a:extLst>
              <a:ext uri="{FF2B5EF4-FFF2-40B4-BE49-F238E27FC236}">
                <ns2:creationId id="{A11A65B5-397F-44A3-BACA-2526D4A116F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Model</a:t>
            </a:r>
          </a:p>
        </p:txBody>
      </p:sp>
      <p:sp>
        <p:nvSpPr>
          <p:cNvPr id="4" name="text-132">
            <a:extLst>
              <a:ext uri="{FF2B5EF4-FFF2-40B4-BE49-F238E27FC236}">
                <ns2:creationId id="{1C203C33-034C-41B1-83AF-ADA8E2C2F28D}"/>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model is a computational or mathematical representation used to describe relationships or map inputs to outputs. Its structure or parameters may be specified or learned.</a:t>
            </a:r>
          </a:p>
        </p:txBody>
      </p:sp>
      <p:sp>
        <p:nvSpPr>
          <p:cNvPr id="5" name="text-133">
            <a:extLst>
              <a:ext uri="{FF2B5EF4-FFF2-40B4-BE49-F238E27FC236}">
                <ns2:creationId id="{86193773-3BA2-41B2-A819-8666A327375C}"/>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134">
            <a:extLst>
              <a:ext uri="{FF2B5EF4-FFF2-40B4-BE49-F238E27FC236}">
                <ns2:creationId id="{F291F0BC-2B6F-426C-B12C-D063AF18FB34}"/>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 model is one component inside the application the user sees.</a:t>
            </a:r>
          </a:p>
        </p:txBody>
      </p:sp>
      <p:sp>
        <p:nvSpPr>
          <p:cNvPr id="3" name="text-131">
            <a:extLst>
              <a:ext uri="{FF2B5EF4-FFF2-40B4-BE49-F238E27FC236}">
                <ns2:creationId id="{033477E8-6B27-46D2-A625-A014DD2888B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20   OPTIONAL EXPLORATION</a:t>
            </a:r>
          </a:p>
        </p:txBody>
      </p:sp>
    </p:spTree>
    <p:extLst>
      <p:ext uri="{BB962C8B-B14F-4D97-AF65-F5344CB8AC3E}">
        <ns3:creationId val="2012861848"/>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What an AI system can get wrong">
    <p:bg>
      <p:bgPr>
        <a:solidFill>
          <a:srgbClr val="FFFFFF"/>
        </a:solidFill>
      </p:bgPr>
    </p:bg>
    <p:spTree>
      <p:nvGrpSpPr>
        <p:cNvPr id="1" name=""/>
        <p:cNvGrpSpPr/>
        <p:nvPr/>
      </p:nvGrpSpPr>
      <p:grpSpPr>
        <a:xfrm/>
      </p:grpSpPr>
      <p:sp>
        <p:nvSpPr>
          <p:cNvPr id="12" name="text-135">
            <a:extLst>
              <a:ext uri="{FF2B5EF4-FFF2-40B4-BE49-F238E27FC236}">
                <ns2:creationId id="{91AF0F8C-BD7A-4E73-9CEF-FCFAA78410B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36">
            <a:extLst>
              <a:ext uri="{FF2B5EF4-FFF2-40B4-BE49-F238E27FC236}">
                <ns2:creationId id="{6EB594EF-941E-49D6-89A1-2C2C3043BC6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an AI system can get wrong</a:t>
            </a:r>
          </a:p>
        </p:txBody>
      </p:sp>
      <p:sp>
        <p:nvSpPr>
          <p:cNvPr id="4" name="text-138">
            <a:extLst>
              <a:ext uri="{FF2B5EF4-FFF2-40B4-BE49-F238E27FC236}">
                <ns2:creationId id="{EAED1089-47AB-40F2-A773-FFA6BC7CD69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9">
            <a:extLst>
              <a:ext uri="{FF2B5EF4-FFF2-40B4-BE49-F238E27FC236}">
                <ns2:creationId id="{E0489504-9D2A-44AC-967E-4E86BCA1D62C}"/>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extraction can lose a word.</a:t>
            </a:r>
          </a:p>
        </p:txBody>
      </p:sp>
      <p:sp>
        <p:nvSpPr>
          <p:cNvPr id="6" name="text-140">
            <a:extLst>
              <a:ext uri="{FF2B5EF4-FFF2-40B4-BE49-F238E27FC236}">
                <ns2:creationId id="{AC91CEC6-5368-45A7-AEAC-D14203F04436}"/>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41">
            <a:extLst>
              <a:ext uri="{FF2B5EF4-FFF2-40B4-BE49-F238E27FC236}">
                <ns2:creationId id="{7E6A5438-B0C1-44F2-B37D-A8BE5D181BBE}"/>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search can retrieve the old version.</a:t>
            </a:r>
          </a:p>
        </p:txBody>
      </p:sp>
      <p:sp>
        <p:nvSpPr>
          <p:cNvPr id="8" name="text-142">
            <a:extLst>
              <a:ext uri="{FF2B5EF4-FFF2-40B4-BE49-F238E27FC236}">
                <ns2:creationId id="{8504A222-471D-4187-9E6D-EF9F94C7CAB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43">
            <a:extLst>
              <a:ext uri="{FF2B5EF4-FFF2-40B4-BE49-F238E27FC236}">
                <ns2:creationId id="{62F52025-53A3-4530-AEF8-1E1830175D09}"/>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draft can invent a proposition.</a:t>
            </a:r>
          </a:p>
        </p:txBody>
      </p:sp>
      <p:sp>
        <p:nvSpPr>
          <p:cNvPr id="10" name="text-144">
            <a:extLst>
              <a:ext uri="{FF2B5EF4-FFF2-40B4-BE49-F238E27FC236}">
                <ns2:creationId id="{E3D26160-8724-4D2F-B305-AA1EE2EB4C58}"/>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45">
            <a:extLst>
              <a:ext uri="{FF2B5EF4-FFF2-40B4-BE49-F238E27FC236}">
                <ns2:creationId id="{7F5352FA-C52D-4171-8DBD-41BEB346C850}"/>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action can reach the wrong recipient.</a:t>
            </a:r>
          </a:p>
        </p:txBody>
      </p:sp>
      <p:sp>
        <p:nvSpPr>
          <p:cNvPr id="3" name="text-137">
            <a:extLst>
              <a:ext uri="{FF2B5EF4-FFF2-40B4-BE49-F238E27FC236}">
                <ns2:creationId id="{9D2B1EC5-0257-478F-82E6-B2BA849A810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21   OPTIONAL EXPLORATION</a:t>
            </a:r>
          </a:p>
        </p:txBody>
      </p:sp>
    </p:spTree>
    <p:extLst>
      <p:ext uri="{BB962C8B-B14F-4D97-AF65-F5344CB8AC3E}">
        <ns3:creationId val="1279206516"/>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An AI-native firm">
    <p:bg>
      <p:bgPr>
        <a:solidFill>
          <a:srgbClr val="FFFFFF"/>
        </a:solidFill>
      </p:bgPr>
    </p:bg>
    <p:spTree>
      <p:nvGrpSpPr>
        <p:cNvPr id="1" name=""/>
        <p:cNvGrpSpPr/>
        <p:nvPr/>
      </p:nvGrpSpPr>
      <p:grpSpPr>
        <a:xfrm/>
      </p:grpSpPr>
      <p:sp>
        <p:nvSpPr>
          <p:cNvPr id="10" name="text-146">
            <a:extLst>
              <a:ext uri="{FF2B5EF4-FFF2-40B4-BE49-F238E27FC236}">
                <ns2:creationId id="{C39A8F22-6527-4E0D-8166-32920BB68C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01</a:t>
            </a:r>
          </a:p>
        </p:txBody>
      </p:sp>
      <p:sp>
        <p:nvSpPr>
          <p:cNvPr id="2" name="text-147">
            <a:extLst>
              <a:ext uri="{FF2B5EF4-FFF2-40B4-BE49-F238E27FC236}">
                <ns2:creationId id="{8BEC7E0F-F103-43B5-A37E-15154D25B53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AI-native firm</a:t>
            </a:r>
          </a:p>
        </p:txBody>
      </p:sp>
      <p:sp>
        <p:nvSpPr>
          <p:cNvPr id="4" name="text-149">
            <a:extLst>
              <a:ext uri="{FF2B5EF4-FFF2-40B4-BE49-F238E27FC236}">
                <ns2:creationId id="{5E0DAFBC-3DFD-433A-A721-AF4456197A5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50">
            <a:extLst>
              <a:ext uri="{FF2B5EF4-FFF2-40B4-BE49-F238E27FC236}">
                <ns2:creationId id="{A73E06DC-4EA6-4772-90FD-7FCBA9D2BF80}"/>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Work design includes AI where evidence supports it.</a:t>
            </a:r>
          </a:p>
        </p:txBody>
      </p:sp>
      <p:sp>
        <p:nvSpPr>
          <p:cNvPr id="6" name="text-151">
            <a:extLst>
              <a:ext uri="{FF2B5EF4-FFF2-40B4-BE49-F238E27FC236}">
                <ns2:creationId id="{00C12C8D-8B0E-47A7-AC8A-0A485A9EA7D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52">
            <a:extLst>
              <a:ext uri="{FF2B5EF4-FFF2-40B4-BE49-F238E27FC236}">
                <ns2:creationId id="{DBD5DE89-263C-4AA7-BFA2-88A326ED7C59}"/>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People retain defined responsibilities and review authority.</a:t>
            </a:r>
          </a:p>
        </p:txBody>
      </p:sp>
      <p:sp>
        <p:nvSpPr>
          <p:cNvPr id="8" name="text-153">
            <a:extLst>
              <a:ext uri="{FF2B5EF4-FFF2-40B4-BE49-F238E27FC236}">
                <ns2:creationId id="{E81A444B-2736-4525-BFDB-5C11C66CD42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54">
            <a:extLst>
              <a:ext uri="{FF2B5EF4-FFF2-40B4-BE49-F238E27FC236}">
                <ns2:creationId id="{0A04C2BE-A0B6-40E1-AEA9-C7B0736C70A2}"/>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firm maintains usable information and measures outcomes.</a:t>
            </a:r>
          </a:p>
        </p:txBody>
      </p:sp>
      <p:sp>
        <p:nvSpPr>
          <p:cNvPr id="3" name="text-148">
            <a:extLst>
              <a:ext uri="{FF2B5EF4-FFF2-40B4-BE49-F238E27FC236}">
                <ns2:creationId id="{1C97E764-C1B3-4756-8A6A-7FB0653FE1C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01   22   OPTIONAL EXPLORATION</a:t>
            </a:r>
          </a:p>
        </p:txBody>
      </p:sp>
    </p:spTree>
    <p:extLst>
      <p:ext uri="{BB962C8B-B14F-4D97-AF65-F5344CB8AC3E}">
        <ns3:creationId val="23364030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2026-10-26T10:01:45.5350000Z</dcterms:created>
  <dcterms:modified xsi:type="dcterms:W3CDTF">2026-10-26T10:01:45.5350000Z</dcterms:modified>
</coreProperties>
</file>