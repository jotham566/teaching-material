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05df2bdab44db" /><Relationship Type="http://schemas.openxmlformats.org/officeDocument/2006/relationships/extended-properties" Target="/docProps/app.xml" Id="R5042f74f02d541bd" /><Relationship Type="http://schemas.openxmlformats.org/officeDocument/2006/relationships/officeDocument" Target="/ppt/presentation.xml" Id="R76cd867b62e44a72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54a855b5e574837"/>
  </p:sldMasterIdLst>
  <p:notesMasterIdLst>
    <p:notesMasterId r:id="R1001ef336cf8490e"/>
  </p:notesMasterIdLst>
  <p:sldIdLst>
    <p:sldId id="256" r:id="R8568cd4efbf74508"/>
    <p:sldId id="257" r:id="R7fda5e93df044bc3"/>
    <p:sldId id="258" r:id="Rceb5f8a104a040ef"/>
    <p:sldId id="259" r:id="R5669698ed33848e3"/>
    <p:sldId id="260" r:id="Rf6a4437c48cc4980"/>
    <p:sldId id="261" r:id="Rbd5f330e57884d03"/>
    <p:sldId id="262" r:id="R7eb4c57986714f0b"/>
    <p:sldId id="263" r:id="Recfca78726d44721"/>
    <p:sldId id="264" r:id="R04ff6389a9d7489a"/>
    <p:sldId id="265" r:id="R3c48ee2a6d7f4375"/>
    <p:sldId id="266" r:id="Rf349f4214c0c4e4c"/>
    <p:sldId id="267" r:id="Rf81a3471ec3940c8"/>
    <p:sldId id="268" r:id="Ra6fc402097f54dfb"/>
    <p:sldId id="269" r:id="Re8f194281aaa4c80"/>
    <p:sldId id="270" r:id="R084c27be99264c31"/>
    <p:sldId id="271" r:id="Ra33334a4c490427e"/>
    <p:sldId id="272" r:id="Rdba9cc7f89ae4d8e"/>
    <p:sldId id="273" r:id="R8c20d632a14e49b9"/>
    <p:sldId id="274" r:id="R24c45a75a6b34cdf"/>
    <p:sldId id="275" r:id="R1ecccb8f78ca4318"/>
    <p:sldId id="276" r:id="R9be66ca26ca442bd"/>
    <p:sldId id="277" r:id="R244004e49f8a4ab3"/>
    <p:sldId id="278" r:id="Rcdce0a06365345bd"/>
    <p:sldId id="279" r:id="R1ffc68b1972c4e11"/>
  </p:sldIdLst>
  <p:sldSz cx="12192000" cy="6858000"/>
  <p:notesSz cx="6858000" cy="9144000"/>
  <p:custShowLst>
    <p:custShow name="Core teaching" id="1">
      <p:sldLst>
        <p:sld r:id="R8568cd4efbf74508"/>
        <p:sld r:id="R7fda5e93df044bc3"/>
        <p:sld r:id="Rceb5f8a104a040ef"/>
        <p:sld r:id="R5669698ed33848e3"/>
        <p:sld r:id="Rf6a4437c48cc4980"/>
        <p:sld r:id="Rbd5f330e57884d03"/>
        <p:sld r:id="R7eb4c57986714f0b"/>
        <p:sld r:id="Recfca78726d44721"/>
        <p:sld r:id="R04ff6389a9d7489a"/>
        <p:sld r:id="R3c48ee2a6d7f4375"/>
        <p:sld r:id="Rf349f4214c0c4e4c"/>
        <p:sld r:id="Rf81a3471ec3940c8"/>
        <p:sld r:id="Ra6fc402097f54dfb"/>
        <p:sld r:id="Re8f194281aaa4c80"/>
        <p:sld r:id="R084c27be99264c31"/>
        <p:sld r:id="Ra33334a4c490427e"/>
        <p:sld r:id="Rdba9cc7f89ae4d8e"/>
        <p:sld r:id="R8c20d632a14e49b9"/>
        <p:sld r:id="R24c45a75a6b34cdf"/>
        <p:sld r:id="R1ecccb8f78ca4318"/>
      </p:sldLst>
    </p:custShow>
  </p:custShow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b38c2cef949c9" /><Relationship Type="http://schemas.openxmlformats.org/officeDocument/2006/relationships/slideMaster" Target="/ppt/slideMasters/slideMaster1.xml" Id="Re54a855b5e574837" /><Relationship Type="http://schemas.openxmlformats.org/officeDocument/2006/relationships/notesMaster" Target="/ppt/notesMasters/notesMaster1.xml" Id="R1001ef336cf8490e" /><Relationship Type="http://schemas.openxmlformats.org/officeDocument/2006/relationships/presProps" Target="/ppt/presProps.xml" Id="R136fcc8a8f624030" /><Relationship Type="http://schemas.openxmlformats.org/officeDocument/2006/relationships/tableStyles" Target="/ppt/tableStyles.xml" Id="R7f64f172f5c8435d" /><Relationship Type="http://schemas.openxmlformats.org/officeDocument/2006/relationships/slide" Target="/ppt/slides/slide1.xml" Id="R8568cd4efbf74508" /><Relationship Type="http://schemas.openxmlformats.org/officeDocument/2006/relationships/slide" Target="/ppt/slides/slide2.xml" Id="R7fda5e93df044bc3" /><Relationship Type="http://schemas.openxmlformats.org/officeDocument/2006/relationships/slide" Target="/ppt/slides/slide3.xml" Id="Rceb5f8a104a040ef" /><Relationship Type="http://schemas.openxmlformats.org/officeDocument/2006/relationships/slide" Target="/ppt/slides/slide4.xml" Id="R5669698ed33848e3" /><Relationship Type="http://schemas.openxmlformats.org/officeDocument/2006/relationships/slide" Target="/ppt/slides/slide5.xml" Id="Rf6a4437c48cc4980" /><Relationship Type="http://schemas.openxmlformats.org/officeDocument/2006/relationships/slide" Target="/ppt/slides/slide6.xml" Id="Rbd5f330e57884d03" /><Relationship Type="http://schemas.openxmlformats.org/officeDocument/2006/relationships/slide" Target="/ppt/slides/slide7.xml" Id="R7eb4c57986714f0b" /><Relationship Type="http://schemas.openxmlformats.org/officeDocument/2006/relationships/slide" Target="/ppt/slides/slide8.xml" Id="Recfca78726d44721" /><Relationship Type="http://schemas.openxmlformats.org/officeDocument/2006/relationships/slide" Target="/ppt/slides/slide9.xml" Id="R04ff6389a9d7489a" /><Relationship Type="http://schemas.openxmlformats.org/officeDocument/2006/relationships/slide" Target="/ppt/slides/slide10.xml" Id="R3c48ee2a6d7f4375" /><Relationship Type="http://schemas.openxmlformats.org/officeDocument/2006/relationships/slide" Target="/ppt/slides/slide11.xml" Id="Rf349f4214c0c4e4c" /><Relationship Type="http://schemas.openxmlformats.org/officeDocument/2006/relationships/slide" Target="/ppt/slides/slide12.xml" Id="Rf81a3471ec3940c8" /><Relationship Type="http://schemas.openxmlformats.org/officeDocument/2006/relationships/slide" Target="/ppt/slides/slide13.xml" Id="Ra6fc402097f54dfb" /><Relationship Type="http://schemas.openxmlformats.org/officeDocument/2006/relationships/slide" Target="/ppt/slides/slide14.xml" Id="Re8f194281aaa4c80" /><Relationship Type="http://schemas.openxmlformats.org/officeDocument/2006/relationships/slide" Target="/ppt/slides/slide15.xml" Id="R084c27be99264c31" /><Relationship Type="http://schemas.openxmlformats.org/officeDocument/2006/relationships/slide" Target="/ppt/slides/slide16.xml" Id="Ra33334a4c490427e" /><Relationship Type="http://schemas.openxmlformats.org/officeDocument/2006/relationships/slide" Target="/ppt/slides/slide17.xml" Id="Rdba9cc7f89ae4d8e" /><Relationship Type="http://schemas.openxmlformats.org/officeDocument/2006/relationships/slide" Target="/ppt/slides/slide18.xml" Id="R8c20d632a14e49b9" /><Relationship Type="http://schemas.openxmlformats.org/officeDocument/2006/relationships/slide" Target="/ppt/slides/slide19.xml" Id="R24c45a75a6b34cdf" /><Relationship Type="http://schemas.openxmlformats.org/officeDocument/2006/relationships/slide" Target="/ppt/slides/slide20.xml" Id="R1ecccb8f78ca4318" /><Relationship Type="http://schemas.openxmlformats.org/officeDocument/2006/relationships/slide" Target="/ppt/slides/slide21.xml" Id="R9be66ca26ca442bd" /><Relationship Type="http://schemas.openxmlformats.org/officeDocument/2006/relationships/slide" Target="/ppt/slides/slide22.xml" Id="R244004e49f8a4ab3" /><Relationship Type="http://schemas.openxmlformats.org/officeDocument/2006/relationships/slide" Target="/ppt/slides/slide23.xml" Id="Rcdce0a06365345bd" /><Relationship Type="http://schemas.openxmlformats.org/officeDocument/2006/relationships/slide" Target="/ppt/slides/slide24.xml" Id="R1ffc68b1972c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2df71db744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7743be3c724999" /><Relationship Type="http://schemas.openxmlformats.org/officeDocument/2006/relationships/notesMaster" Target="/ppt/notesMasters/notesMaster1.xml" Id="R3997d3ca93e8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e5fc83bad3454f" /><Relationship Type="http://schemas.openxmlformats.org/officeDocument/2006/relationships/notesMaster" Target="/ppt/notesMasters/notesMaster1.xml" Id="Rb6d913ad8671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3bc1eb9a94334" /><Relationship Type="http://schemas.openxmlformats.org/officeDocument/2006/relationships/notesMaster" Target="/ppt/notesMasters/notesMaster1.xml" Id="R9b5b06bb78b140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0aa2b0ff6474d" /><Relationship Type="http://schemas.openxmlformats.org/officeDocument/2006/relationships/notesMaster" Target="/ppt/notesMasters/notesMaster1.xml" Id="R61f9a4d773fe43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00c5028b4476b" /><Relationship Type="http://schemas.openxmlformats.org/officeDocument/2006/relationships/notesMaster" Target="/ppt/notesMasters/notesMaster1.xml" Id="R6c314faf74554b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42f32dc4f4483a" /><Relationship Type="http://schemas.openxmlformats.org/officeDocument/2006/relationships/notesMaster" Target="/ppt/notesMasters/notesMaster1.xml" Id="R828f10113477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7228956284231" /><Relationship Type="http://schemas.openxmlformats.org/officeDocument/2006/relationships/notesMaster" Target="/ppt/notesMasters/notesMaster1.xml" Id="R805e8c9ec07945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4076c2fe2a4590" /><Relationship Type="http://schemas.openxmlformats.org/officeDocument/2006/relationships/notesMaster" Target="/ppt/notesMasters/notesMaster1.xml" Id="R083dcf1f576c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d15879361449e7" /><Relationship Type="http://schemas.openxmlformats.org/officeDocument/2006/relationships/notesMaster" Target="/ppt/notesMasters/notesMaster1.xml" Id="R30d0853159e9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34fde95e9246c6" /><Relationship Type="http://schemas.openxmlformats.org/officeDocument/2006/relationships/notesMaster" Target="/ppt/notesMasters/notesMaster1.xml" Id="Rbed893c0f69945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6a5d3942f04710" /><Relationship Type="http://schemas.openxmlformats.org/officeDocument/2006/relationships/notesMaster" Target="/ppt/notesMasters/notesMaster1.xml" Id="Rf169dee4a9db4b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6f12399e4847ff" /><Relationship Type="http://schemas.openxmlformats.org/officeDocument/2006/relationships/notesMaster" Target="/ppt/notesMasters/notesMaster1.xml" Id="Rd5092541536a45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77661e47a04cfb" /><Relationship Type="http://schemas.openxmlformats.org/officeDocument/2006/relationships/notesMaster" Target="/ppt/notesMasters/notesMaster1.xml" Id="R3a39bcdda3c549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3feec75d264ea8" /><Relationship Type="http://schemas.openxmlformats.org/officeDocument/2006/relationships/notesMaster" Target="/ppt/notesMasters/notesMaster1.xml" Id="R7c18bd1922e94a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8efaa6b9b448ba" /><Relationship Type="http://schemas.openxmlformats.org/officeDocument/2006/relationships/notesMaster" Target="/ppt/notesMasters/notesMaster1.xml" Id="Rd3a46be100c842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24c7ec5e514da2" /><Relationship Type="http://schemas.openxmlformats.org/officeDocument/2006/relationships/notesMaster" Target="/ppt/notesMasters/notesMaster1.xml" Id="R6142314706464f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0c25667a954e53" /><Relationship Type="http://schemas.openxmlformats.org/officeDocument/2006/relationships/notesMaster" Target="/ppt/notesMasters/notesMaster1.xml" Id="R7e17eb29e3d74f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ef7bdd8acf424d" /><Relationship Type="http://schemas.openxmlformats.org/officeDocument/2006/relationships/notesMaster" Target="/ppt/notesMasters/notesMaster1.xml" Id="R847638813d0647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bf353e294d4f89" /><Relationship Type="http://schemas.openxmlformats.org/officeDocument/2006/relationships/notesMaster" Target="/ppt/notesMasters/notesMaster1.xml" Id="R9bcb2e53373e47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1121dcbb394083" /><Relationship Type="http://schemas.openxmlformats.org/officeDocument/2006/relationships/notesMaster" Target="/ppt/notesMasters/notesMaster1.xml" Id="Rd55b2347df8147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d3d07799a84a34" /><Relationship Type="http://schemas.openxmlformats.org/officeDocument/2006/relationships/notesMaster" Target="/ppt/notesMasters/notesMaster1.xml" Id="R54c71088dfab4f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e9b42038f64436" /><Relationship Type="http://schemas.openxmlformats.org/officeDocument/2006/relationships/notesMaster" Target="/ppt/notesMasters/notesMaster1.xml" Id="R70e5a7137adb49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a7b0166b744293" /><Relationship Type="http://schemas.openxmlformats.org/officeDocument/2006/relationships/notesMaster" Target="/ppt/notesMasters/notesMaster1.xml" Id="Ra1be16e5fe0440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c33a68c44ed4d01" /><Relationship Type="http://schemas.openxmlformats.org/officeDocument/2006/relationships/notesMaster" Target="/ppt/notesMasters/notesMaster1.xml" Id="R97151680b85a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 will ask: The instruction asks for exact quotes. What if the input scan loses a word? I will record the learner’s explanation before showing the answer. Good instructions cannot recover an unknown missing word reliably; inspect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The instruction asks for exact quotes. What if the input scan loses a word?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Good instructions cannot recover an unknown missing word reliably; inspect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The instruction asks for exact quotes. What if the input scan loses a word? A supported answer should establish: Good instructions cannot recover an unknown missing word reliably; inspect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Recall the task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without showing the prior result. Good instructions cannot recover an unknown missing word reliably; inspect the source. Invite a reason, then connect the answer to today’s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The instruction asks for exact quotes. What if the input scan loses a word?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Good instructions cannot recover an unknown missing word reliably; inspect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The instruction asks for exact quotes. What if the input scan loses a word? A supported answer should establish: Good instructions cannot recover an unknown missing word reliably; inspect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records room and the shared drive.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the learner to describe her actual information landscape verbally. Record systems and pain points during class. Do not assume the firm uses NetDocuments.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Where does important advice currently become difficult to find?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Use the learner’s answer to choose the inventory priority.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Where does important advice currently become difficult to find? A supported answer should establish: Use the learner’s answer to choose the inventory priority.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Four dimensions of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Keep these axes distinct. NetDocuments is a system, PDF a format and image a modality. A spreadsheet can mix structured tables and unstructured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Is a PDF necessarily machine-readable text?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It may contain selectable text, images or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Is a PDF necessarily machine-readable text? A supported answer should establish: No. It may contain selectable text, images or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searchable PDF and a page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two representations of the same fictional clause. Search for responsible. A text layer helps but does not establish that extraction preserves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does a successful text search fail to prove?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That every clause, table and reading-order relationship was captured.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What does a successful text search fail to prove? A supported answer should establish: That every clause, table and reading-order relationship was captured.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the firm needs to know about each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inventory CSV. Ask which source is executed, which is draft and which is a reference. Access is a design input, not an end-of-project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Who should identify the authoritative agreement?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matter owner or designated qualified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Who should identify the authoritative agreement? A supported answer should establish: The matter owner or designated qualified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sample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status and role determine how a retrieval system should treat the source. The same filename in two folders can conceal different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Would you delete the old draft immediately?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Follow the retention policy; keep provenance while controlling which version answers current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Would you delete the old draft immediately? A supported answer should establish: Follow the retention policy; keep provenance while controlling which version answers current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document preparation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This pipeline prepares content. Indexing and question-time retrieval follow in Session 6. Explain each transformation and the evidence that should survive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stage can change legal meaning?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Any faulty capture, extraction or transformation can omit or misassociate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Which stage can change legal meaning? A supported answer should establish: Any faulty capture, extraction or transformation can omit or misassociate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OCR and structured extraction.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fictional source to distinguish characters, layout and extracted fields. A document-processing system can combine these mechanisms.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Would calling it OCR describe the entire pipeline?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OCR recognises text while layout, field extraction and validation address additional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Would calling it OCR describe the entire pipeline? A supported answer should establish: No. OCR recognises text while layout, field extraction and validation address additional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OCR and document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https://learn.microsoft.com/en-us/azure/ai-services/document-intelligence/prebuilt/layout?view=doc-intel-4.0.0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official Microsoft screenshot to show text blocks, sections and tables. OCR recognises characters; layout analysis recovers relationships such as headings and table cells. Interface images are reference material, not a class extraction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Why do tables need more than character recognition?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number must remain associated with its row, column, unit and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Why do tables need more than character recognition? A supported answer should establish: A number must remain associated with its row, column, unit and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An extraction error with legal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https://learn.microsoft.com/en-us/azure/ai-services/document-intelligence/prebuilt/layout?view=doc-intel-4.0.0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  <a:p xmlns:a="http://schemas.openxmlformats.org/drawingml/2006/main">
            <a:r>
              <a:t>Image attribution: Microsoft Document Intelligence documentation example</a:t>
            </a:r>
          </a:p>
          <a:p xmlns:a="http://schemas.openxmlformats.org/drawingml/2006/main">
            <a:r>
              <a:t>https://learn.microsoft.com/en-us/azure/ai-services/document-intelligence/prebuilt/layout?view=doc-intel-4.0.0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damaged extract drops not and the qualification. It is a deliberately prepared flawed example, not a measured OCR result. Ask the learner to identify both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Could better prompting recover the missing original wording?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It cannot reliably reconstruct absent evidence. Re-extract or consult the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Could better prompting recover the missing original wording? A supported answer should establish: It cannot reliably reconstruct absent evidence. Re-extract or consult the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source comparison on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the rendered original fictional agreement page beside the prepared extract. Compare the heading, clause number, negation and exception. Preserve the page and clause reference in the extracted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checks should precede indexing?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Completeness, reading order, crucial wording and source locations.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Which checks should precede indexing? A supported answer should establish: Completeness, reading order, crucial wording and source locations.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document quality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  <a:p xmlns:a="http://schemas.openxmlformats.org/drawingml/2006/main">
            <a:r>
              <a:t>Image attribution: Fictional class agreement rendered from the supplied source document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Document Quality Record.csv. A correction should not silently overwrite the only original. Ask whether OCR confidence alone can settle the legal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happens to an unreadable amount?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Mark it unknown and obtain better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What happens to an unreadable amount? A supported answer should establish: Mark it unknown and obtain better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Machine-readable representations.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These formats solve different problems. A file conversion alone does not make the data reliable. No single format is compulsory for all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Would every private contract need conversion to Akoma Ntoso?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Select a representation appropriate to the use and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Would every private contract need conversion to Akoma Ntoso? A supported answer should establish: No. Select a representation appropriate to the use and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One clause in structured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https://docs.oasis-open.org/legaldocml/akn-core/v1.0/akn-core-v1.0-part1-vocabulary.html https://www.rfc-editor.org/rfc/rfc8259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JSON is a text format for structured data. A key names a field, and its value holds the information: document_id is the key and CONTRACT-01 is its value. Show the same clause as text and a small JSON object with document_id, version, clause, text and source_location. Quotes remain exact. The record provides fields a tool can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field prevents a quote becoming detached from its source?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stable document identifier with version and source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Which field prevents a quote becoming detached from its source? A supported answer should establish: The stable document identifier with version and source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Permissions through the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https://www.rfc-editor.org/rfc/rfc8259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copied index can become out of step with source access. Include access changes, deletion and withdrawn documents in operational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if a user loses access after indexing?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retrieval and derived content must reflect the change before returning restricted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What if a user loses access after indexing? A supported answer should establish: The retrieval and derived content must reflect the change before returning restricted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in-class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https://learn.microsoft.com/en-us/azure/search/retrieval-augmented-generation-overview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run-sheet. I demonstrate the first example; the learner predicts, chooses evidence and checks the changed example. Save actual outputs or mark the step unexecuted.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Before we begin: Complete one inventory row per actual system discussed, without recording client identities.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system, modality, structure and format describe different properties. Extraction must preserve the negation, exception and qualification. Preserve originals and source/access metadata through conversion.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Before we begin: Complete one inventory row per actual system discussed, without recording client identities. A supported answer should establish: A system, modality, structure and format describe different properties. Extraction must preserve the negation, exception and qualification. Preserve originals and source/access metadata through conversion.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we can conclude.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Have the learner explain the conclusion before I summarise it. Compare the actual result with the model answer and preserve unresolved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part of today’s result remains unverified?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synthetic scan can test a method but does not establish extraction quality on the firm’s archive.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Which part of today’s result remains unverified? A supported answer should establish: A synthetic scan can test a method but does not establish extraction quality on the firm’s archive.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firm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Record a proposed owner and one condition before proceeding. This is a class decision record, not firm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change this proposed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Assign source owners and choose one collection for preparation before buying a search layer.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What evidence would change this proposed decision? A supported answer should establish: Assign source owners and choose one collection for preparation before buying a search layer.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Check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these changed-fact questions before opening the answer key. Extraction reversed meaning. Wrong metadata can expose or retrieve the wrong matter. Keep a source-linked quality/correction record and retest derived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changed extraction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Extraction reversed meaning. Wrong metadata can expose or retrieve the wrong matter. Keep a source-linked quality/correction record and retest derived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A changed extraction A supported answer should establish: Extraction reversed meaning. Wrong metadata can expose or retrieve the wrong matter. Keep a source-linked quality/correction record and retest derived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Session 6: Internal knowledge search and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a short illustrative XML excerpt labelled as a teaching fragment, not a complete validated Akoma Ntoso document. Explain that legal publishing systems may provide structured originals.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When might structured legal XML be useful?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Maintaining legislation with sections, identifiers and versions across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When might structured legal XML be useful? A supported answer should establish: Maintaining legislation with sections, identifiers and versions across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https://docs.oasis-open.org/legaldocml/akn-core/v1.0/akn-core-v1.0-part1-vocabulary.html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Open Invoice Import.csv and identify the repeated invoice. Do not clean records without understanding their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Should a missing fiscal document number (FDN) mean no sale occurred?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It identifies an evidence question rather than erasing the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PDF is necessarily searchable text. I will clarify: Compare the page image and encoded text, then inspect the observed OCR. Then return to this slide’s question: Should a missing fiscal document number (FDN) mean no sale occurred? A supported answer should establish: No. It identifies an evidence question rather than erasing the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NER identifies spans and categories. Entity resolution links references to the same entity. Obligation interpretation adds relationships and legal context. These are related but distinct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 similar company names establish the same legal entity?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Check identifiers and authoritative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OCR success means complete extraction. I will clarify: Check the negation, exception, layout and source location independently. Then return to this slide’s question: Do similar company names establish the same legal entity? A supported answer should establish: No. Check identifiers and authoritative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https://learn.microsoft.com/en-us/azure/ai-services/language-service/named-entity-recognition/concepts/named-entity-categories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does the firm hold, and what must happen before AI can use it reliably?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first task may be information management rather than buying a chatbot. Record a realistic owner and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you fund first if most precedents are scans?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Inventory, source selection and reliable capture before a broad knowledge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Metadata is administrative only. I will clarify: Mis-tag a matter in discussion and ask which user might receive the wrong passage. Then return to this slide’s question: What would you fund first if most precedents are scans? A supported answer should establish: Inventory, source selection and reliable capture before a broad knowledge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71b3aefe541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2871502f24d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e90b932e747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80f50ff1b44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d79dbd80847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29d9db497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08C5CB-001C-4E53-A8FA-482B7AC2E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EB1195-D8BA-491F-B85E-6416E88EEB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3000B1-7800-4B62-AD76-095AA3C15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A15693-8166-493C-9D38-EC3ABAD37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FC5F0E-2A0A-4011-97E4-7E7C36EEE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FE3903-1B84-4281-AE0D-66F9E4946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6D42A2-89A9-40A7-B25E-8D03E76FC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137898-3CED-4C9E-B34C-790E69DB32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24679D-2022-4C08-B358-E8A4DE399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EA4E60-5F86-49F1-BDC5-0E5BF9095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95a839c494e98" /><Relationship Type="http://schemas.openxmlformats.org/officeDocument/2006/relationships/slideLayout" Target="/ppt/slideLayouts/slideLayout1.xml" Id="Rb491290314e44779" /><Relationship Type="http://schemas.openxmlformats.org/officeDocument/2006/relationships/slideLayout" Target="/ppt/slideLayouts/slideLayout2.xml" Id="R77bc446500254c24" /><Relationship Type="http://schemas.openxmlformats.org/officeDocument/2006/relationships/slideLayout" Target="/ppt/slideLayouts/slideLayout3.xml" Id="R7162627959f24ae2" /><Relationship Type="http://schemas.openxmlformats.org/officeDocument/2006/relationships/slideLayout" Target="/ppt/slideLayouts/slideLayout4.xml" Id="R52d8dcf72e19419d" /><Relationship Type="http://schemas.openxmlformats.org/officeDocument/2006/relationships/slideLayout" Target="/ppt/slideLayouts/slideLayout5.xml" Id="R68836c229fcc4a87" /><Relationship Type="http://schemas.openxmlformats.org/officeDocument/2006/relationships/slideLayout" Target="/ppt/slideLayouts/slideLayout6.xml" Id="Rb23fe250f61d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1290314e44779"/>
    <p:sldLayoutId xmlns:r="http://schemas.openxmlformats.org/officeDocument/2006/relationships" id="2147483650" r:id="R77bc446500254c24"/>
    <p:sldLayoutId xmlns:r="http://schemas.openxmlformats.org/officeDocument/2006/relationships" id="2147483651" r:id="R7162627959f24ae2"/>
    <p:sldLayoutId xmlns:r="http://schemas.openxmlformats.org/officeDocument/2006/relationships" id="2147483652" r:id="R52d8dcf72e19419d"/>
    <p:sldLayoutId xmlns:r="http://schemas.openxmlformats.org/officeDocument/2006/relationships" id="2147483653" r:id="R68836c229fcc4a87"/>
    <p:sldLayoutId xmlns:r="http://schemas.openxmlformats.org/officeDocument/2006/relationships" id="2147483654" r:id="Rb23fe250f61d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d9713ceee48f7" /><Relationship Type="http://schemas.openxmlformats.org/officeDocument/2006/relationships/notesSlide" Target="/ppt/notesSlides/notesSlide1.xml" Id="R8cd05f1e3013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81f2bfe584f1e" /><Relationship Type="http://schemas.openxmlformats.org/officeDocument/2006/relationships/notesSlide" Target="/ppt/notesSlides/notesSlide2.xml" Id="R2d6d2b7bc2a34a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6bc767a0042a7" /><Relationship Type="http://schemas.openxmlformats.org/officeDocument/2006/relationships/notesSlide" Target="/ppt/notesSlides/notesSlide3.xml" Id="Rc0b935c2a4f14c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0fbe32a944b53" /><Relationship Type="http://schemas.openxmlformats.org/officeDocument/2006/relationships/notesSlide" Target="/ppt/notesSlides/notesSlide4.xml" Id="R2c06c0d9d7e8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5dff560174735" /><Relationship Type="http://schemas.openxmlformats.org/officeDocument/2006/relationships/image" Target="/ppt/media/image.png" Id="R0b10628dfcdf42b9" /><Relationship Type="http://schemas.openxmlformats.org/officeDocument/2006/relationships/notesSlide" Target="/ppt/notesSlides/notesSlide5.xml" Id="R31ab40aff219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61085d5664b99" /><Relationship Type="http://schemas.openxmlformats.org/officeDocument/2006/relationships/notesSlide" Target="/ppt/notesSlides/notesSlide6.xml" Id="R929b40289c18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d2410969f4076" /><Relationship Type="http://schemas.openxmlformats.org/officeDocument/2006/relationships/notesSlide" Target="/ppt/notesSlides/notesSlide7.xml" Id="R9e298c1c46f3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84439a9a14881" /><Relationship Type="http://schemas.openxmlformats.org/officeDocument/2006/relationships/notesSlide" Target="/ppt/notesSlides/notesSlide8.xml" Id="Rfc07ed05299740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31ba99e2643d7" /><Relationship Type="http://schemas.openxmlformats.org/officeDocument/2006/relationships/notesSlide" Target="/ppt/notesSlides/notesSlide9.xml" Id="Rb1bf3d296e2143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aacbabb9d49b3" /><Relationship Type="http://schemas.openxmlformats.org/officeDocument/2006/relationships/image" Target="/ppt/media/image2.png" Id="R1159308e9a7143e7" /><Relationship Type="http://schemas.openxmlformats.org/officeDocument/2006/relationships/notesSlide" Target="/ppt/notesSlides/notesSlide10.xml" Id="Rcf3ae6abdc7145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f88bada7d4e71" /><Relationship Type="http://schemas.openxmlformats.org/officeDocument/2006/relationships/notesSlide" Target="/ppt/notesSlides/notesSlide11.xml" Id="R7554ea133e1b43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4a291171c4fd6" /><Relationship Type="http://schemas.openxmlformats.org/officeDocument/2006/relationships/image" Target="/ppt/media/image3.png" Id="R58927d81e8da4ada" /><Relationship Type="http://schemas.openxmlformats.org/officeDocument/2006/relationships/notesSlide" Target="/ppt/notesSlides/notesSlide12.xml" Id="Rea37230a415f47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6afbe871a4465" /><Relationship Type="http://schemas.openxmlformats.org/officeDocument/2006/relationships/notesSlide" Target="/ppt/notesSlides/notesSlide13.xml" Id="R416fd1bc2fa944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ed8265194413f" /><Relationship Type="http://schemas.openxmlformats.org/officeDocument/2006/relationships/notesSlide" Target="/ppt/notesSlides/notesSlide14.xml" Id="R483697c0b88c4c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846a05ca244dd" /><Relationship Type="http://schemas.openxmlformats.org/officeDocument/2006/relationships/notesSlide" Target="/ppt/notesSlides/notesSlide15.xml" Id="Re1a57052cf9948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139f7f7a34ad7" /><Relationship Type="http://schemas.openxmlformats.org/officeDocument/2006/relationships/notesSlide" Target="/ppt/notesSlides/notesSlide16.xml" Id="R1951f177552640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f6b7cf6dd47d5" /><Relationship Type="http://schemas.openxmlformats.org/officeDocument/2006/relationships/notesSlide" Target="/ppt/notesSlides/notesSlide17.xml" Id="R519281a0c40c4a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87acf25dd44f1" /><Relationship Type="http://schemas.openxmlformats.org/officeDocument/2006/relationships/notesSlide" Target="/ppt/notesSlides/notesSlide18.xml" Id="R2ebf85875cd444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ef049a9864f51" /><Relationship Type="http://schemas.openxmlformats.org/officeDocument/2006/relationships/notesSlide" Target="/ppt/notesSlides/notesSlide19.xml" Id="R026c73063d7a4c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c42606f3c4b6f" /><Relationship Type="http://schemas.openxmlformats.org/officeDocument/2006/relationships/notesSlide" Target="/ppt/notesSlides/notesSlide20.xml" Id="Rae300014393d4b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c2eb72d654ef5" /><Relationship Type="http://schemas.openxmlformats.org/officeDocument/2006/relationships/notesSlide" Target="/ppt/notesSlides/notesSlide21.xml" Id="R271782702cfb44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0f00235114882" /><Relationship Type="http://schemas.openxmlformats.org/officeDocument/2006/relationships/notesSlide" Target="/ppt/notesSlides/notesSlide22.xml" Id="R5d98d8514bc940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ea91f29094490" /><Relationship Type="http://schemas.openxmlformats.org/officeDocument/2006/relationships/notesSlide" Target="/ppt/notesSlides/notesSlide23.xml" Id="R0f4e5d8c291b4c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e1299a4d64de5" /><Relationship Type="http://schemas.openxmlformats.org/officeDocument/2006/relationships/notesSlide" Target="/ppt/notesSlides/notesSlide24.xml" Id="R7d42146af07e4289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Preparing the firm’s information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17">
            <a:extLst>
              <a:ext uri="{FF2B5EF4-FFF2-40B4-BE49-F238E27FC236}">
                <ns2:creationId id="{35D9F814-F070-43EB-B0E8-FD6123BDD957}"/>
              </a:ext>
            </a:extLst>
          </p:cNvPr>
          <p:cNvSpPr>
            <a:spLocks noGrp="1"/>
          </p:cNvSpPr>
          <p:nvPr/>
        </p:nvSpPr>
        <p:spPr>
          <a:xfrm>
            <a:off x="619125" y="5905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3A087"/>
                </a:solidFill>
                <a:latin typeface="Calibri"/>
                <a:ea typeface="Calibri"/>
                <a:cs typeface="Calibri"/>
              </a:rPr>
              <a:t>SESSION 05</a:t>
            </a:r>
          </a:p>
        </p:txBody>
      </p:sp>
      <p:sp>
        <p:nvSpPr>
          <p:cNvPr id="2" name="text-118">
            <a:extLst>
              <a:ext uri="{FF2B5EF4-FFF2-40B4-BE49-F238E27FC236}">
                <ns2:creationId id="{A79BB592-5DEE-4BEA-BA88-03F595E9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6764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Preparing the firm’s information</a:t>
            </a:r>
          </a:p>
        </p:txBody>
      </p:sp>
      <p:sp>
        <p:nvSpPr>
          <p:cNvPr id="3" name="text-119">
            <a:extLst>
              <a:ext uri="{FF2B5EF4-FFF2-40B4-BE49-F238E27FC236}">
                <ns2:creationId id="{04B20A5F-688A-41DB-8B09-076D631A8513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1038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What does the firm hold, and what must happen before AI can use it reliably?</a:t>
            </a:r>
          </a:p>
        </p:txBody>
      </p:sp>
      <p:sp>
        <p:nvSpPr>
          <p:cNvPr id="4" name="text-120">
            <a:extLst>
              <a:ext uri="{FF2B5EF4-FFF2-40B4-BE49-F238E27FC236}">
                <ns2:creationId id="{F7D4E27C-6E4B-49D2-AE0E-D441763BBD0E}"/>
              </a:ext>
            </a:extLst>
          </p:cNvPr>
          <p:cNvSpPr>
            <a:spLocks noGrp="1"/>
          </p:cNvSpPr>
          <p:nvPr/>
        </p:nvSpPr>
        <p:spPr>
          <a:xfrm>
            <a:off x="619125" y="60102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Jotham Martin Wambi   KLAi Professional Learning</a:t>
            </a:r>
          </a:p>
        </p:txBody>
      </p:sp>
    </p:spTree>
    <p:extLst>
      <p:ext uri="{BB962C8B-B14F-4D97-AF65-F5344CB8AC3E}">
        <ns3:creationId val="79853597"/>
      </p:ext>
    </p:extLst>
  </p:cSld>
  <p:transition spd="med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call the task brie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121">
            <a:extLst>
              <a:ext uri="{FF2B5EF4-FFF2-40B4-BE49-F238E27FC236}">
                <ns2:creationId id="{D11165AF-2061-4C56-96D1-093B2C3DFC4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22">
            <a:extLst>
              <a:ext uri="{FF2B5EF4-FFF2-40B4-BE49-F238E27FC236}">
                <ns2:creationId id="{0401BBFA-340E-49E9-AD57-F374AAE67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Recall the task brief</a:t>
            </a:r>
          </a:p>
        </p:txBody>
      </p:sp>
      <p:sp>
        <p:nvSpPr>
          <p:cNvPr id="4" name="text-124">
            <a:extLst>
              <a:ext uri="{FF2B5EF4-FFF2-40B4-BE49-F238E27FC236}">
                <ns2:creationId id="{4D125BE0-17B5-4B26-9322-22B7290B1EA6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RECALL SESSION 4</a:t>
            </a:r>
          </a:p>
        </p:txBody>
      </p:sp>
      <p:sp>
        <p:nvSpPr>
          <p:cNvPr id="5" name="text-125">
            <a:extLst>
              <a:ext uri="{FF2B5EF4-FFF2-40B4-BE49-F238E27FC236}">
                <ns2:creationId id="{A447A65D-F1FD-4285-9F7E-C11B42CAEBCA}"/>
              </a:ext>
            </a:extLst>
          </p:cNvPr>
          <p:cNvSpPr>
            <a:spLocks noGrp="1"/>
          </p:cNvSpPr>
          <p:nvPr/>
        </p:nvSpPr>
        <p:spPr>
          <a:xfrm>
            <a:off x="619125" y="2495550"/>
            <a:ext cx="10858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instruction asks for exact quotes. What if the input scan loses a word?</a:t>
            </a:r>
          </a:p>
        </p:txBody>
      </p:sp>
      <p:sp>
        <p:nvSpPr>
          <p:cNvPr id="6" name="text-126">
            <a:extLst>
              <a:ext uri="{FF2B5EF4-FFF2-40B4-BE49-F238E27FC236}">
                <ns2:creationId id="{C3D1776D-E5C4-43A8-84EE-C4641FAE28A0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TODAY’S QUESTION</a:t>
            </a:r>
          </a:p>
        </p:txBody>
      </p:sp>
      <p:sp>
        <p:nvSpPr>
          <p:cNvPr id="7" name="text-127">
            <a:extLst>
              <a:ext uri="{FF2B5EF4-FFF2-40B4-BE49-F238E27FC236}">
                <ns2:creationId id="{66708DFF-B3D4-43A9-BD34-EA54C4209D63}"/>
              </a:ext>
            </a:extLst>
          </p:cNvPr>
          <p:cNvSpPr>
            <a:spLocks noGrp="1"/>
          </p:cNvSpPr>
          <p:nvPr/>
        </p:nvSpPr>
        <p:spPr>
          <a:xfrm>
            <a:off x="619125" y="4362450"/>
            <a:ext cx="1085850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does the firm hold, and what must happen before AI can use it reliably?</a:t>
            </a:r>
          </a:p>
        </p:txBody>
      </p:sp>
      <p:sp>
        <p:nvSpPr>
          <p:cNvPr id="8" name="text-128">
            <a:extLst>
              <a:ext uri="{FF2B5EF4-FFF2-40B4-BE49-F238E27FC236}">
                <ns2:creationId id="{E479BDD3-5C62-44A9-BB9F-990D9043B2C7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Result: A source inventory and an inspected extraction with provenance.</a:t>
            </a:r>
          </a:p>
        </p:txBody>
      </p:sp>
      <p:sp>
        <p:nvSpPr>
          <p:cNvPr id="3" name="text-123">
            <a:extLst>
              <a:ext uri="{FF2B5EF4-FFF2-40B4-BE49-F238E27FC236}">
                <ns2:creationId id="{97CAEA54-2A43-4875-9EBD-C911260BFBF2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</a:t>
            </a:r>
          </a:p>
        </p:txBody>
      </p:sp>
    </p:spTree>
    <p:extLst>
      <p:ext uri="{BB962C8B-B14F-4D97-AF65-F5344CB8AC3E}">
        <ns3:creationId val="882427791"/>
      </p:ext>
    </p:extLst>
  </p:cSld>
  <p:transition spd="med" advClick="1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The records room and the shared driv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text-129">
            <a:extLst>
              <a:ext uri="{FF2B5EF4-FFF2-40B4-BE49-F238E27FC236}">
                <ns2:creationId id="{AF64F809-2635-4797-8233-3E626254D3F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30">
            <a:extLst>
              <a:ext uri="{FF2B5EF4-FFF2-40B4-BE49-F238E27FC236}">
                <ns2:creationId id="{2991F660-17C8-4875-AFEB-D84EB32E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records room and the shared drive</a:t>
            </a:r>
          </a:p>
        </p:txBody>
      </p:sp>
      <p:sp>
        <p:nvSpPr>
          <p:cNvPr id="4" name="shape-132">
            <a:extLst>
              <a:ext uri="{FF2B5EF4-FFF2-40B4-BE49-F238E27FC236}">
                <ns2:creationId id="{7D227804-B6E3-4716-9159-83AD83530F57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857500"/>
            <a:ext cx="3333750" cy="20955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text-133">
            <a:extLst>
              <a:ext uri="{FF2B5EF4-FFF2-40B4-BE49-F238E27FC236}">
                <ns2:creationId id="{8EB1DA81-6D9C-4864-BAB4-1F2E4685F760}"/>
              </a:ext>
            </a:extLst>
          </p:cNvPr>
          <p:cNvSpPr>
            <a:spLocks noGrp="1"/>
          </p:cNvSpPr>
          <p:nvPr/>
        </p:nvSpPr>
        <p:spPr>
          <a:xfrm>
            <a:off x="790575" y="3048000"/>
            <a:ext cx="29908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Paper</a:t>
            </a:r>
          </a:p>
        </p:txBody>
      </p:sp>
      <p:sp>
        <p:nvSpPr>
          <p:cNvPr id="6" name="text-134">
            <a:extLst>
              <a:ext uri="{FF2B5EF4-FFF2-40B4-BE49-F238E27FC236}">
                <ns2:creationId id="{9F72244F-1017-4C39-9191-6594968DB347}"/>
              </a:ext>
            </a:extLst>
          </p:cNvPr>
          <p:cNvSpPr>
            <a:spLocks noGrp="1"/>
          </p:cNvSpPr>
          <p:nvPr/>
        </p:nvSpPr>
        <p:spPr>
          <a:xfrm>
            <a:off x="790575" y="3990975"/>
            <a:ext cx="29908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Files and scans</a:t>
            </a:r>
          </a:p>
        </p:txBody>
      </p:sp>
      <p:sp>
        <p:nvSpPr>
          <p:cNvPr id="7" name="shape-135">
            <a:extLst>
              <a:ext uri="{FF2B5EF4-FFF2-40B4-BE49-F238E27FC236}">
                <ns2:creationId id="{4836C6B8-DE2A-4C71-AE79-319EAE62D91E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20955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8" name="text-136">
            <a:extLst>
              <a:ext uri="{FF2B5EF4-FFF2-40B4-BE49-F238E27FC236}">
                <ns2:creationId id="{1372C34F-061F-4F61-9385-25A4002AA625}"/>
              </a:ext>
            </a:extLst>
          </p:cNvPr>
          <p:cNvSpPr>
            <a:spLocks noGrp="1"/>
          </p:cNvSpPr>
          <p:nvPr/>
        </p:nvSpPr>
        <p:spPr>
          <a:xfrm>
            <a:off x="4600575" y="3048000"/>
            <a:ext cx="29908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Digital files</a:t>
            </a:r>
          </a:p>
        </p:txBody>
      </p:sp>
      <p:sp>
        <p:nvSpPr>
          <p:cNvPr id="9" name="text-137">
            <a:extLst>
              <a:ext uri="{FF2B5EF4-FFF2-40B4-BE49-F238E27FC236}">
                <ns2:creationId id="{06DB9433-3287-466E-914A-8F324BAC604C}"/>
              </a:ext>
            </a:extLst>
          </p:cNvPr>
          <p:cNvSpPr>
            <a:spLocks noGrp="1"/>
          </p:cNvSpPr>
          <p:nvPr/>
        </p:nvSpPr>
        <p:spPr>
          <a:xfrm>
            <a:off x="4600575" y="3990975"/>
            <a:ext cx="29908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Agreements and email</a:t>
            </a:r>
          </a:p>
        </p:txBody>
      </p:sp>
      <p:sp>
        <p:nvSpPr>
          <p:cNvPr id="10" name="shape-138">
            <a:extLst>
              <a:ext uri="{FF2B5EF4-FFF2-40B4-BE49-F238E27FC236}">
                <ns2:creationId id="{4932B1B3-2792-423D-85EF-22FDFFD00565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8239125" y="2857500"/>
            <a:ext cx="3333750" cy="20955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1" name="text-139">
            <a:extLst>
              <a:ext uri="{FF2B5EF4-FFF2-40B4-BE49-F238E27FC236}">
                <ns2:creationId id="{159667D2-316E-495B-8D0F-BEF0503CABAC}"/>
              </a:ext>
            </a:extLst>
          </p:cNvPr>
          <p:cNvSpPr>
            <a:spLocks noGrp="1"/>
          </p:cNvSpPr>
          <p:nvPr/>
        </p:nvSpPr>
        <p:spPr>
          <a:xfrm>
            <a:off x="8410575" y="3048000"/>
            <a:ext cx="29908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Systems</a:t>
            </a:r>
          </a:p>
        </p:txBody>
      </p:sp>
      <p:sp>
        <p:nvSpPr>
          <p:cNvPr id="12" name="text-140">
            <a:extLst>
              <a:ext uri="{FF2B5EF4-FFF2-40B4-BE49-F238E27FC236}">
                <ns2:creationId id="{AA66A7D9-522B-4806-A261-FF12BF0A7C58}"/>
              </a:ext>
            </a:extLst>
          </p:cNvPr>
          <p:cNvSpPr>
            <a:spLocks noGrp="1"/>
          </p:cNvSpPr>
          <p:nvPr/>
        </p:nvSpPr>
        <p:spPr>
          <a:xfrm>
            <a:off x="8410575" y="3990975"/>
            <a:ext cx="29908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DMS and accounting</a:t>
            </a:r>
          </a:p>
        </p:txBody>
      </p:sp>
      <p:sp>
        <p:nvSpPr>
          <p:cNvPr id="13" name="text-141">
            <a:extLst>
              <a:ext uri="{FF2B5EF4-FFF2-40B4-BE49-F238E27FC236}">
                <ns2:creationId id="{E9A01A12-1B02-4E1B-9AF7-58C8105F9086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These are source categories, not sequential stages. Inventory each source before choosing a preparation route.</a:t>
            </a:r>
          </a:p>
        </p:txBody>
      </p:sp>
      <p:sp>
        <p:nvSpPr>
          <p:cNvPr id="3" name="text-131">
            <a:extLst>
              <a:ext uri="{FF2B5EF4-FFF2-40B4-BE49-F238E27FC236}">
                <ns2:creationId id="{3DF541DA-BA15-4C7A-B649-810A5019573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3</a:t>
            </a:r>
          </a:p>
        </p:txBody>
      </p:sp>
    </p:spTree>
    <p:extLst>
      <p:ext uri="{BB962C8B-B14F-4D97-AF65-F5344CB8AC3E}">
        <ns4:creationId val="571890212"/>
      </p:ext>
    </p:extLst>
  </p:cSld>
  <p:transition spd="med" advClick="1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our dimensions of inform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42">
            <a:extLst>
              <a:ext uri="{FF2B5EF4-FFF2-40B4-BE49-F238E27FC236}">
                <ns2:creationId id="{84CC7E41-FD5A-411C-B4DD-B8955BCF452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43">
            <a:extLst>
              <a:ext uri="{FF2B5EF4-FFF2-40B4-BE49-F238E27FC236}">
                <ns2:creationId id="{6E408B8D-AA0E-42AF-9F10-2D7966C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Four dimensions of information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694E6941-F2DA-48FB-A269-F4C7CC192EED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Dimension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Location or system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Records room, drive, NetDocuments, database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Modality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Text, document image, audio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Structure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Tabular, semi-structured, narrative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Format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DOCX, PDF, CSV, JSON, XML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44">
            <a:extLst>
              <a:ext uri="{FF2B5EF4-FFF2-40B4-BE49-F238E27FC236}">
                <ns2:creationId id="{C568ADF4-D3CD-44A7-B19A-58971941DBC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4</a:t>
            </a:r>
          </a:p>
        </p:txBody>
      </p:sp>
    </p:spTree>
    <p:extLst>
      <p:ext uri="{BB962C8B-B14F-4D97-AF65-F5344CB8AC3E}">
        <ns3:creationId val="1168612261"/>
      </p:ext>
    </p:extLst>
  </p:cSld>
  <p:transition spd="med" advClick="1">
    <p:fade/>
  </p:transition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A searchable PDF and a page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145">
            <a:extLst>
              <a:ext uri="{FF2B5EF4-FFF2-40B4-BE49-F238E27FC236}">
                <ns2:creationId id="{28566861-17D6-439E-BC93-DB177997EFC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46">
            <a:extLst>
              <a:ext uri="{FF2B5EF4-FFF2-40B4-BE49-F238E27FC236}">
                <ns2:creationId id="{5E80F34E-689B-4688-909C-3D6D3FE8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searchable PDF and a page image</a:t>
            </a:r>
          </a:p>
        </p:txBody>
      </p:sp>
      <p:pic>
        <p:nvPicPr>
          <p:cNvPr id="4" name="">
            <a:extLst>
              <a:ext uri="{FF2B5EF4-FFF2-40B4-BE49-F238E27FC236}">
                <ns2:creationId id="{4A8EFD80-E682-46B5-A2BC-BF0090733613}"/>
              </a:ext>
            </a:extLst>
          </p:cNvPr>
          <p:cNvPicPr>
            <a:picLocks noChangeAspect="1"/>
          </p:cNvPicPr>
          <p:nvPr/>
        </p:nvPicPr>
        <p:blipFill>
          <a:blip r:embed="R0b10628dfcdf42b9"/>
          <a:stretch/>
        </p:blipFill>
        <p:spPr>
          <a:xfrm>
            <a:off x="619125" y="2274738"/>
            <a:ext cx="5048250" cy="3070524"/>
          </a:xfrm>
          <a:prstGeom prst="rect">
            <a:avLst/>
          </a:prstGeom>
        </p:spPr>
      </p:pic>
      <p:sp>
        <p:nvSpPr>
          <p:cNvPr id="5" name="text-148">
            <a:extLst>
              <a:ext uri="{FF2B5EF4-FFF2-40B4-BE49-F238E27FC236}">
                <ns2:creationId id="{938FBD73-02C9-4235-AFDF-88C42791C222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EXTRACT AND VERIFY</a:t>
            </a:r>
          </a:p>
        </p:txBody>
      </p:sp>
      <p:sp>
        <p:nvSpPr>
          <p:cNvPr id="6" name="text-149">
            <a:extLst>
              <a:ext uri="{FF2B5EF4-FFF2-40B4-BE49-F238E27FC236}">
                <ns2:creationId id="{6060FF0C-59BA-433E-A16D-C911FCDE4C74}"/>
              </a:ext>
            </a:extLst>
          </p:cNvPr>
          <p:cNvSpPr>
            <a:spLocks noGrp="1"/>
          </p:cNvSpPr>
          <p:nvPr/>
        </p:nvSpPr>
        <p:spPr>
          <a:xfrm>
            <a:off x="6477000" y="2695575"/>
            <a:ext cx="5048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Searchable text is useful only if the rule, negation, exception and condition survive.</a:t>
            </a:r>
          </a:p>
        </p:txBody>
      </p:sp>
      <p:sp>
        <p:nvSpPr>
          <p:cNvPr id="7" name="text-150">
            <a:extLst>
              <a:ext uri="{FF2B5EF4-FFF2-40B4-BE49-F238E27FC236}">
                <ns2:creationId id="{0554F91A-5E42-4E88-B23E-71A8C8EAE702}"/>
              </a:ext>
            </a:extLst>
          </p:cNvPr>
          <p:cNvSpPr>
            <a:spLocks noGrp="1"/>
          </p:cNvSpPr>
          <p:nvPr/>
        </p:nvSpPr>
        <p:spPr>
          <a:xfrm>
            <a:off x="6477000" y="4714875"/>
            <a:ext cx="5048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Compare the observed OCR with the original page.</a:t>
            </a:r>
          </a:p>
        </p:txBody>
      </p:sp>
      <p:sp>
        <p:nvSpPr>
          <p:cNvPr id="8" name="text-151">
            <a:extLst>
              <a:ext uri="{FF2B5EF4-FFF2-40B4-BE49-F238E27FC236}">
                <ns2:creationId id="{2805D9DF-DB8C-476F-8F18-F7C0B19AB3B7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Synthetic scan of an authored source. A saved OCR run is separate from the deliberately damaged extract.</a:t>
            </a:r>
          </a:p>
        </p:txBody>
      </p:sp>
      <p:sp>
        <p:nvSpPr>
          <p:cNvPr id="3" name="text-147">
            <a:extLst>
              <a:ext uri="{FF2B5EF4-FFF2-40B4-BE49-F238E27FC236}">
                <ns2:creationId id="{D5F0B5D2-4948-49AC-B1C4-650ABC1AB1F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5</a:t>
            </a:r>
          </a:p>
        </p:txBody>
      </p:sp>
    </p:spTree>
    <p:extLst>
      <p:ext uri="{BB962C8B-B14F-4D97-AF65-F5344CB8AC3E}">
        <ns4:creationId val="2030371644"/>
      </p:ext>
    </p:extLst>
  </p:cSld>
  <p:transition spd="med" advClick="1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the firm needs to know about each sour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152">
            <a:extLst>
              <a:ext uri="{FF2B5EF4-FFF2-40B4-BE49-F238E27FC236}">
                <ns2:creationId id="{D84CF4A8-CB9A-454B-83E3-C9809654BC11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53">
            <a:extLst>
              <a:ext uri="{FF2B5EF4-FFF2-40B4-BE49-F238E27FC236}">
                <ns2:creationId id="{7A1FB074-122E-4BD6-B3C8-9D943584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the firm needs to know about each source</a:t>
            </a:r>
          </a:p>
        </p:txBody>
      </p:sp>
      <p:sp>
        <p:nvSpPr>
          <p:cNvPr id="4" name="text-155">
            <a:extLst>
              <a:ext uri="{FF2B5EF4-FFF2-40B4-BE49-F238E27FC236}">
                <ns2:creationId id="{C420702C-BB00-46A3-A505-6721963C9117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56">
            <a:extLst>
              <a:ext uri="{FF2B5EF4-FFF2-40B4-BE49-F238E27FC236}">
                <ns2:creationId id="{7AABDAAA-8CE3-4B05-9DC1-C31382739772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Matter and information owner</a:t>
            </a:r>
          </a:p>
        </p:txBody>
      </p:sp>
      <p:sp>
        <p:nvSpPr>
          <p:cNvPr id="6" name="text-157">
            <a:extLst>
              <a:ext uri="{FF2B5EF4-FFF2-40B4-BE49-F238E27FC236}">
                <ns2:creationId id="{09B53306-930F-4440-8D04-DE381E3A6380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58">
            <a:extLst>
              <a:ext uri="{FF2B5EF4-FFF2-40B4-BE49-F238E27FC236}">
                <ns2:creationId id="{3C42F9EA-4154-4F36-8BC0-2D5302DAEC73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Authoritative version and effective date</a:t>
            </a:r>
          </a:p>
        </p:txBody>
      </p:sp>
      <p:sp>
        <p:nvSpPr>
          <p:cNvPr id="8" name="text-159">
            <a:extLst>
              <a:ext uri="{FF2B5EF4-FFF2-40B4-BE49-F238E27FC236}">
                <ns2:creationId id="{DB3B0B54-8A66-4873-B121-8758E279B46C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60">
            <a:extLst>
              <a:ext uri="{FF2B5EF4-FFF2-40B4-BE49-F238E27FC236}">
                <ns2:creationId id="{14E41BE4-5A1D-4891-9C9E-0C0D81E75B21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Permitted readers and intended use</a:t>
            </a:r>
          </a:p>
        </p:txBody>
      </p:sp>
      <p:sp>
        <p:nvSpPr>
          <p:cNvPr id="10" name="text-161">
            <a:extLst>
              <a:ext uri="{FF2B5EF4-FFF2-40B4-BE49-F238E27FC236}">
                <ns2:creationId id="{162CD809-4C35-4B2E-A4F0-51D044449770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162">
            <a:extLst>
              <a:ext uri="{FF2B5EF4-FFF2-40B4-BE49-F238E27FC236}">
                <ns2:creationId id="{03A69B16-3DA4-442F-A7F2-32DEBFB8F087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Update, retention and disposal responsibilities</a:t>
            </a:r>
          </a:p>
        </p:txBody>
      </p:sp>
      <p:sp>
        <p:nvSpPr>
          <p:cNvPr id="3" name="text-154">
            <a:extLst>
              <a:ext uri="{FF2B5EF4-FFF2-40B4-BE49-F238E27FC236}">
                <ns2:creationId id="{4B3BD96C-817D-42FB-8A51-6A20AFB2E68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6</a:t>
            </a:r>
          </a:p>
        </p:txBody>
      </p:sp>
    </p:spTree>
    <p:extLst>
      <p:ext uri="{BB962C8B-B14F-4D97-AF65-F5344CB8AC3E}">
        <ns3:creationId val="2009780117"/>
      </p:ext>
    </p:extLst>
  </p:cSld>
  <p:transition spd="med" advClick="1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sample invento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63">
            <a:extLst>
              <a:ext uri="{FF2B5EF4-FFF2-40B4-BE49-F238E27FC236}">
                <ns2:creationId id="{B5312358-AB89-4A77-BB6F-500F0C8348C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64">
            <a:extLst>
              <a:ext uri="{FF2B5EF4-FFF2-40B4-BE49-F238E27FC236}">
                <ns2:creationId id="{2656D8E9-1472-4E37-BD78-5F919BA6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sample inventory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DC2E9799-C600-4253-AF34-C0770F0C2EED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Preparation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CONTRACT-01 v2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Executed agreement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Extract and verify clauses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Draft v1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Superseded context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Label and exclude from default answers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September ledger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Financial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Check fields, period and units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Public judgment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Legal authority candidate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Check court, date and treatment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65">
            <a:extLst>
              <a:ext uri="{FF2B5EF4-FFF2-40B4-BE49-F238E27FC236}">
                <ns2:creationId id="{91DA4D4D-B0F5-42CA-B36C-B920A698346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7</a:t>
            </a:r>
          </a:p>
        </p:txBody>
      </p:sp>
    </p:spTree>
    <p:extLst>
      <p:ext uri="{BB962C8B-B14F-4D97-AF65-F5344CB8AC3E}">
        <ns3:creationId val="819822203"/>
      </p:ext>
    </p:extLst>
  </p:cSld>
  <p:transition spd="med" advClick="1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The document preparation pip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The document preparation pipeline">
            <a:extLst>
              <a:ext uri="{FF2B5EF4-FFF2-40B4-BE49-F238E27FC236}">
                <ns2:creationId id="{F953D28D-179E-4105-93B1-25321DC9B1C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1FC8800E-E8E9-4C2F-A884-316BE54D69A4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2E4F4385-AD27-42EB-AF1E-F62944620E4E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3" name="text-166">
            <a:extLst>
              <a:ext uri="{FF2B5EF4-FFF2-40B4-BE49-F238E27FC236}">
                <ns2:creationId id="{78EF6624-89D7-4E66-B492-2E1D6607073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67">
            <a:extLst>
              <a:ext uri="{FF2B5EF4-FFF2-40B4-BE49-F238E27FC236}">
                <ns2:creationId id="{E69268DC-D242-4D33-9CAE-70EBA690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document preparation pipeline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86562475-26A2-4BCE-9936-ECC2F1750121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6F92B567-6FCB-4E95-9F44-B25498AA3B77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904D36D2-3288-4493-A4EF-38955F3A4602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Capture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B3292625-9792-4146-BFE3-96B48A28F8D8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Scan or retrieve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74905489-2992-47F1-83B9-9A60790E7BBF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80409EF7-0DBD-44A3-BFBB-5A00236CD425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F98FF349-1307-4A12-834E-B3BBCB551214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BF472415-63A0-44FB-B6B5-0E423F5D0FEA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Text and layout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86F78857-422E-4CEB-B422-103E1F36B190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0BC36CD7-AF85-4377-89E1-33F9501F646C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DC10157B-A0CF-4137-90FA-980A334C8591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EBC531F4-602D-4DC1-B7B4-CC77DC352B5B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Original against extract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CF91564C-9B03-4651-9A1C-19D1EC60BD00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2B93E56A-1DA2-486F-A6D6-87202EAEECE0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796C52CF-712F-4E4E-ABAA-DB0604323B11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Represent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B20B7D48-CE0C-4272-9A09-46CE9BB9045B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Structure and metadata</a:t>
            </a:r>
          </a:p>
        </p:txBody>
      </p:sp>
      <p:sp>
        <p:nvSpPr>
          <p:cNvPr id="3" name="text-168">
            <a:extLst>
              <a:ext uri="{FF2B5EF4-FFF2-40B4-BE49-F238E27FC236}">
                <ns2:creationId id="{B8E67459-7C86-4A9E-A1B0-0F7ED81A974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8</a:t>
            </a:r>
          </a:p>
        </p:txBody>
      </p:sp>
    </p:spTree>
    <p:extLst>
      <p:ext uri="{BB962C8B-B14F-4D97-AF65-F5344CB8AC3E}">
        <ns4:creationId val="108338228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CR and structured extra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172">
            <a:extLst>
              <a:ext uri="{FF2B5EF4-FFF2-40B4-BE49-F238E27FC236}">
                <ns2:creationId id="{2CDEBE1B-77FE-469C-84BE-C6A3D88D93A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73">
            <a:extLst>
              <a:ext uri="{FF2B5EF4-FFF2-40B4-BE49-F238E27FC236}">
                <ns2:creationId id="{1357DE7A-F4D6-4660-A724-BA549A1F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OCR and structured extraction</a:t>
            </a:r>
          </a:p>
        </p:txBody>
      </p:sp>
      <p:sp>
        <p:nvSpPr>
          <p:cNvPr id="4" name="text-175">
            <a:extLst>
              <a:ext uri="{FF2B5EF4-FFF2-40B4-BE49-F238E27FC236}">
                <ns2:creationId id="{1DE262F7-DFBD-47D0-8714-F55469962A79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76">
            <a:extLst>
              <a:ext uri="{FF2B5EF4-FFF2-40B4-BE49-F238E27FC236}">
                <ns2:creationId id="{70006CEA-D65C-4177-BCE2-2FED17B1A5B1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Optical character recognition converts images of text into machine-readable text.</a:t>
            </a:r>
          </a:p>
        </p:txBody>
      </p:sp>
      <p:sp>
        <p:nvSpPr>
          <p:cNvPr id="6" name="text-177">
            <a:extLst>
              <a:ext uri="{FF2B5EF4-FFF2-40B4-BE49-F238E27FC236}">
                <ns2:creationId id="{3FE875E8-D991-4497-A2B9-8393D8B10958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78">
            <a:extLst>
              <a:ext uri="{FF2B5EF4-FFF2-40B4-BE49-F238E27FC236}">
                <ns2:creationId id="{C87FAB5C-A596-4684-A865-FACD6D70C24C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Layout analysis identifies document elements and their relationships.</a:t>
            </a:r>
          </a:p>
        </p:txBody>
      </p:sp>
      <p:sp>
        <p:nvSpPr>
          <p:cNvPr id="8" name="text-179">
            <a:extLst>
              <a:ext uri="{FF2B5EF4-FFF2-40B4-BE49-F238E27FC236}">
                <ns2:creationId id="{A5D27B43-504E-4060-8B2D-C7ABA68A03CB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80">
            <a:extLst>
              <a:ext uri="{FF2B5EF4-FFF2-40B4-BE49-F238E27FC236}">
                <ns2:creationId id="{F7ABE5C1-456B-4E1C-B4E6-F5F747CDF93A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Structured extraction maps selected content into defined fields.</a:t>
            </a:r>
          </a:p>
        </p:txBody>
      </p:sp>
      <p:sp>
        <p:nvSpPr>
          <p:cNvPr id="3" name="text-174">
            <a:extLst>
              <a:ext uri="{FF2B5EF4-FFF2-40B4-BE49-F238E27FC236}">
                <ns2:creationId id="{BC8EF53B-E2D3-4603-AA8F-71B0DF03190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9</a:t>
            </a:r>
          </a:p>
        </p:txBody>
      </p:sp>
    </p:spTree>
    <p:extLst>
      <p:ext uri="{BB962C8B-B14F-4D97-AF65-F5344CB8AC3E}">
        <ns3:creationId val="297440195"/>
      </p:ext>
    </p:extLst>
  </p:cSld>
  <p:transition spd="med" advClick="1">
    <p:fade/>
  </p:transition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OCR and document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181">
            <a:extLst>
              <a:ext uri="{FF2B5EF4-FFF2-40B4-BE49-F238E27FC236}">
                <ns2:creationId id="{68DE4472-932B-4080-9E84-61417CC469CD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82">
            <a:extLst>
              <a:ext uri="{FF2B5EF4-FFF2-40B4-BE49-F238E27FC236}">
                <ns2:creationId id="{5DD5E091-BD17-41B6-BB61-8D598588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OCR and document layout</a:t>
            </a:r>
          </a:p>
        </p:txBody>
      </p:sp>
      <p:pic>
        <p:nvPicPr>
          <p:cNvPr id="4" name="">
            <a:extLst>
              <a:ext uri="{FF2B5EF4-FFF2-40B4-BE49-F238E27FC236}">
                <ns2:creationId id="{786A4C79-26D4-43E2-B20B-C636D04D9B13}"/>
              </a:ext>
            </a:extLst>
          </p:cNvPr>
          <p:cNvPicPr>
            <a:picLocks noChangeAspect="1"/>
          </p:cNvPicPr>
          <p:nvPr/>
        </p:nvPicPr>
        <p:blipFill>
          <a:blip r:embed="R1159308e9a7143e7"/>
          <a:stretch/>
        </p:blipFill>
        <p:spPr>
          <a:xfrm>
            <a:off x="1928092" y="1971675"/>
            <a:ext cx="3668566" cy="3695700"/>
          </a:xfrm>
          <a:prstGeom prst="rect">
            <a:avLst/>
          </a:prstGeom>
        </p:spPr>
      </p:pic>
      <p:sp>
        <p:nvSpPr>
          <p:cNvPr id="5" name="text-184">
            <a:extLst>
              <a:ext uri="{FF2B5EF4-FFF2-40B4-BE49-F238E27FC236}">
                <ns2:creationId id="{69DCF6ED-1274-46C2-B8E1-AE07494B6E39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Characters and words</a:t>
            </a:r>
          </a:p>
        </p:txBody>
      </p:sp>
      <p:sp>
        <p:nvSpPr>
          <p:cNvPr id="6" name="text-185">
            <a:extLst>
              <a:ext uri="{FF2B5EF4-FFF2-40B4-BE49-F238E27FC236}">
                <ns2:creationId id="{A1778F7F-35C6-4D3B-8A81-F087FA34F893}"/>
              </a:ext>
            </a:extLst>
          </p:cNvPr>
          <p:cNvSpPr>
            <a:spLocks noGrp="1"/>
          </p:cNvSpPr>
          <p:nvPr/>
        </p:nvSpPr>
        <p:spPr>
          <a:xfrm>
            <a:off x="7429500" y="2800350"/>
            <a:ext cx="4000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OCR recovers readable text.</a:t>
            </a:r>
          </a:p>
        </p:txBody>
      </p:sp>
      <p:sp>
        <p:nvSpPr>
          <p:cNvPr id="7" name="text-186">
            <a:extLst>
              <a:ext uri="{FF2B5EF4-FFF2-40B4-BE49-F238E27FC236}">
                <ns2:creationId id="{B3499B13-69EB-4DC5-8426-88A05F44D381}"/>
              </a:ext>
            </a:extLst>
          </p:cNvPr>
          <p:cNvSpPr>
            <a:spLocks noGrp="1"/>
          </p:cNvSpPr>
          <p:nvPr/>
        </p:nvSpPr>
        <p:spPr>
          <a:xfrm>
            <a:off x="7429500" y="4010025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2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Layout and relationships</a:t>
            </a:r>
          </a:p>
        </p:txBody>
      </p:sp>
      <p:sp>
        <p:nvSpPr>
          <p:cNvPr id="8" name="text-187">
            <a:extLst>
              <a:ext uri="{FF2B5EF4-FFF2-40B4-BE49-F238E27FC236}">
                <ns2:creationId id="{8A737734-FC0A-47D3-B9FE-94441141AA76}"/>
              </a:ext>
            </a:extLst>
          </p:cNvPr>
          <p:cNvSpPr>
            <a:spLocks noGrp="1"/>
          </p:cNvSpPr>
          <p:nvPr/>
        </p:nvSpPr>
        <p:spPr>
          <a:xfrm>
            <a:off x="7429500" y="4733925"/>
            <a:ext cx="4000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Headings, tables and reading order preserve context.</a:t>
            </a:r>
          </a:p>
        </p:txBody>
      </p:sp>
      <p:sp>
        <p:nvSpPr>
          <p:cNvPr id="9" name="text-188">
            <a:extLst>
              <a:ext uri="{FF2B5EF4-FFF2-40B4-BE49-F238E27FC236}">
                <ns2:creationId id="{F2D5AF5E-88FF-4B82-AB2A-34532F9CA372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Microsoft Document Intelligence documentation example</a:t>
            </a:r>
          </a:p>
        </p:txBody>
      </p:sp>
      <p:sp>
        <p:nvSpPr>
          <p:cNvPr id="3" name="text-183">
            <a:extLst>
              <a:ext uri="{FF2B5EF4-FFF2-40B4-BE49-F238E27FC236}">
                <ns2:creationId id="{357F7B11-7A32-40F2-8A57-3283F538F63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10</a:t>
            </a:r>
          </a:p>
        </p:txBody>
      </p:sp>
    </p:spTree>
    <p:extLst>
      <p:ext uri="{BB962C8B-B14F-4D97-AF65-F5344CB8AC3E}">
        <ns4:creationId val="973997013"/>
      </p:ext>
    </p:extLst>
  </p:cSld>
  <p:transition spd="med" advClick="1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n extraction error with legal consequen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189">
            <a:extLst>
              <a:ext uri="{FF2B5EF4-FFF2-40B4-BE49-F238E27FC236}">
                <ns2:creationId id="{3ED415D1-B0CE-481D-8350-4C53D4C08CCE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90">
            <a:extLst>
              <a:ext uri="{FF2B5EF4-FFF2-40B4-BE49-F238E27FC236}">
                <ns2:creationId id="{4A4F582A-F84E-4D7C-882A-5756E406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extraction error with legal consequences</a:t>
            </a:r>
          </a:p>
        </p:txBody>
      </p:sp>
      <p:sp>
        <p:nvSpPr>
          <p:cNvPr id="4" name="text-192">
            <a:extLst>
              <a:ext uri="{FF2B5EF4-FFF2-40B4-BE49-F238E27FC236}">
                <ns2:creationId id="{AACE1B0D-DECC-4BE5-B903-CDC4965C557B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Authoritative clause</a:t>
            </a:r>
          </a:p>
        </p:txBody>
      </p:sp>
      <p:sp>
        <p:nvSpPr>
          <p:cNvPr id="5" name="text-193">
            <a:extLst>
              <a:ext uri="{FF2B5EF4-FFF2-40B4-BE49-F238E27FC236}">
                <ns2:creationId id="{92FA3B64-1693-409E-9869-2FBEF987F19C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Consent is not required for a reorganisation within a wholly owned group if the provider remains responsible for its obligations.</a:t>
            </a:r>
          </a:p>
        </p:txBody>
      </p:sp>
      <p:sp>
        <p:nvSpPr>
          <p:cNvPr id="6" name="text-194">
            <a:extLst>
              <a:ext uri="{FF2B5EF4-FFF2-40B4-BE49-F238E27FC236}">
                <ns2:creationId id="{AD04208B-66A5-4927-B406-7EA64C0560BE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Damaged extract</a:t>
            </a:r>
          </a:p>
        </p:txBody>
      </p:sp>
      <p:sp>
        <p:nvSpPr>
          <p:cNvPr id="7" name="text-195">
            <a:extLst>
              <a:ext uri="{FF2B5EF4-FFF2-40B4-BE49-F238E27FC236}">
                <ns2:creationId id="{A14CCE46-36FE-421F-94A5-9A65CE90523F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Consent is required for a reorganisation within a wholly owned group.</a:t>
            </a:r>
          </a:p>
        </p:txBody>
      </p:sp>
      <p:sp>
        <p:nvSpPr>
          <p:cNvPr id="3" name="text-191">
            <a:extLst>
              <a:ext uri="{FF2B5EF4-FFF2-40B4-BE49-F238E27FC236}">
                <ns2:creationId id="{8BD31947-3DE5-4B3A-A50C-76B9749DC37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11</a:t>
            </a:r>
          </a:p>
        </p:txBody>
      </p:sp>
    </p:spTree>
    <p:extLst>
      <p:ext uri="{BB962C8B-B14F-4D97-AF65-F5344CB8AC3E}">
        <ns3:creationId val="1551603950"/>
      </p:ext>
    </p:extLst>
  </p:cSld>
  <p:transition spd="med" advClick="1">
    <p:fade/>
  </p:transition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 name="A source comparison on scre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196">
            <a:extLst>
              <a:ext uri="{FF2B5EF4-FFF2-40B4-BE49-F238E27FC236}">
                <ns2:creationId id="{49887BE8-E542-4332-99FD-A6841EC7F39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197">
            <a:extLst>
              <a:ext uri="{FF2B5EF4-FFF2-40B4-BE49-F238E27FC236}">
                <ns2:creationId id="{CA1A711D-ABBB-42BB-A320-C9198CD9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source comparison on screen</a:t>
            </a:r>
          </a:p>
        </p:txBody>
      </p:sp>
      <p:pic>
        <p:nvPicPr>
          <p:cNvPr id="4" name="">
            <a:extLst>
              <a:ext uri="{FF2B5EF4-FFF2-40B4-BE49-F238E27FC236}">
                <ns2:creationId id="{91A1CB91-8C6D-4BBC-BB6F-F8C4DF695A52}"/>
              </a:ext>
            </a:extLst>
          </p:cNvPr>
          <p:cNvPicPr>
            <a:picLocks noChangeAspect="1"/>
          </p:cNvPicPr>
          <p:nvPr/>
        </p:nvPicPr>
        <p:blipFill>
          <a:blip r:embed="R58927d81e8da4ada"/>
          <a:stretch/>
        </p:blipFill>
        <p:spPr>
          <a:xfrm>
            <a:off x="959393" y="2000250"/>
            <a:ext cx="5796464" cy="3524250"/>
          </a:xfrm>
          <a:prstGeom prst="rect">
            <a:avLst/>
          </a:prstGeom>
        </p:spPr>
      </p:pic>
      <p:sp>
        <p:nvSpPr>
          <p:cNvPr id="5" name="text-199">
            <a:extLst>
              <a:ext uri="{FF2B5EF4-FFF2-40B4-BE49-F238E27FC236}">
                <ns2:creationId id="{172D1607-8C41-4048-BF47-C899AE8E4870}"/>
              </a:ext>
            </a:extLst>
          </p:cNvPr>
          <p:cNvSpPr>
            <a:spLocks noGrp="1"/>
          </p:cNvSpPr>
          <p:nvPr/>
        </p:nvSpPr>
        <p:spPr>
          <a:xfrm>
            <a:off x="7524750" y="20478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DAMAGED EXTRACT</a:t>
            </a:r>
          </a:p>
        </p:txBody>
      </p:sp>
      <p:sp>
        <p:nvSpPr>
          <p:cNvPr id="6" name="text-200">
            <a:extLst>
              <a:ext uri="{FF2B5EF4-FFF2-40B4-BE49-F238E27FC236}">
                <ns2:creationId id="{69B63628-3486-4918-A2A9-80F07E1C2C8E}"/>
              </a:ext>
            </a:extLst>
          </p:cNvPr>
          <p:cNvSpPr>
            <a:spLocks noGrp="1"/>
          </p:cNvSpPr>
          <p:nvPr/>
        </p:nvSpPr>
        <p:spPr>
          <a:xfrm>
            <a:off x="7524750" y="2771775"/>
            <a:ext cx="4000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Consent is required for a reorganisation within a wholly owned group.</a:t>
            </a:r>
          </a:p>
        </p:txBody>
      </p:sp>
      <p:sp>
        <p:nvSpPr>
          <p:cNvPr id="7" name="text-201">
            <a:extLst>
              <a:ext uri="{FF2B5EF4-FFF2-40B4-BE49-F238E27FC236}">
                <ns2:creationId id="{EA5D266C-59B0-46BA-9529-315F74EE32DA}"/>
              </a:ext>
            </a:extLst>
          </p:cNvPr>
          <p:cNvSpPr>
            <a:spLocks noGrp="1"/>
          </p:cNvSpPr>
          <p:nvPr/>
        </p:nvSpPr>
        <p:spPr>
          <a:xfrm>
            <a:off x="7524750" y="5067300"/>
            <a:ext cx="4000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Which wording disappeared?</a:t>
            </a:r>
          </a:p>
        </p:txBody>
      </p:sp>
      <p:sp>
        <p:nvSpPr>
          <p:cNvPr id="8" name="text-202">
            <a:extLst>
              <a:ext uri="{FF2B5EF4-FFF2-40B4-BE49-F238E27FC236}">
                <ns2:creationId id="{595BC26E-82C5-4515-ACF9-00D683306A1B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Fictional class agreement rendered from the supplied source document</a:t>
            </a:r>
          </a:p>
        </p:txBody>
      </p:sp>
      <p:sp>
        <p:nvSpPr>
          <p:cNvPr id="3" name="text-198">
            <a:extLst>
              <a:ext uri="{FF2B5EF4-FFF2-40B4-BE49-F238E27FC236}">
                <ns2:creationId id="{ABE0C5E9-0D95-4A1E-BD35-2543978E5992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12</a:t>
            </a:r>
          </a:p>
        </p:txBody>
      </p:sp>
    </p:spTree>
    <p:extLst>
      <p:ext uri="{BB962C8B-B14F-4D97-AF65-F5344CB8AC3E}">
        <ns4:creationId val="864534955"/>
      </p:ext>
    </p:extLst>
  </p:cSld>
  <p:transition spd="med" advClick="1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document quality reco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203">
            <a:extLst>
              <a:ext uri="{FF2B5EF4-FFF2-40B4-BE49-F238E27FC236}">
                <ns2:creationId id="{D2346E6C-982C-4BD1-B674-4746B2BC98C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04">
            <a:extLst>
              <a:ext uri="{FF2B5EF4-FFF2-40B4-BE49-F238E27FC236}">
                <ns2:creationId id="{B7F9FBDC-248C-45F8-AD11-A39BAF67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document quality record</a:t>
            </a:r>
          </a:p>
        </p:txBody>
      </p:sp>
      <p:sp>
        <p:nvSpPr>
          <p:cNvPr id="4" name="text-206">
            <a:extLst>
              <a:ext uri="{FF2B5EF4-FFF2-40B4-BE49-F238E27FC236}">
                <ns2:creationId id="{DBA8EEA5-0666-40FE-8868-64736C07BFB2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07">
            <a:extLst>
              <a:ext uri="{FF2B5EF4-FFF2-40B4-BE49-F238E27FC236}">
                <ns2:creationId id="{B950E330-6973-4571-A73A-5DED9182D763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Preserve the original.</a:t>
            </a:r>
          </a:p>
        </p:txBody>
      </p:sp>
      <p:sp>
        <p:nvSpPr>
          <p:cNvPr id="6" name="text-208">
            <a:extLst>
              <a:ext uri="{FF2B5EF4-FFF2-40B4-BE49-F238E27FC236}">
                <ns2:creationId id="{2FEE4AF1-9FB6-4044-8F85-A02DD862681A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09">
            <a:extLst>
              <a:ext uri="{FF2B5EF4-FFF2-40B4-BE49-F238E27FC236}">
                <ns2:creationId id="{2356F185-7363-4B13-A2ED-48A13C59B273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Record the defect and corrected version.</a:t>
            </a:r>
          </a:p>
        </p:txBody>
      </p:sp>
      <p:sp>
        <p:nvSpPr>
          <p:cNvPr id="8" name="text-210">
            <a:extLst>
              <a:ext uri="{FF2B5EF4-FFF2-40B4-BE49-F238E27FC236}">
                <ns2:creationId id="{CEC14119-774F-40A4-9F45-CD7AA9BAF4DA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11">
            <a:extLst>
              <a:ext uri="{FF2B5EF4-FFF2-40B4-BE49-F238E27FC236}">
                <ns2:creationId id="{26187055-F64B-4ECD-BA6C-3DA93F1FE2D7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Retain the source location and reviewer.</a:t>
            </a:r>
          </a:p>
        </p:txBody>
      </p:sp>
      <p:sp>
        <p:nvSpPr>
          <p:cNvPr id="10" name="text-212">
            <a:extLst>
              <a:ext uri="{FF2B5EF4-FFF2-40B4-BE49-F238E27FC236}">
                <ns2:creationId id="{21043A4F-64FE-43F0-8747-2451BB0E00CB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213">
            <a:extLst>
              <a:ext uri="{FF2B5EF4-FFF2-40B4-BE49-F238E27FC236}">
                <ns2:creationId id="{0E913228-0DCB-4970-A92D-C19229982416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Keep uncertain fields unresolved.</a:t>
            </a:r>
          </a:p>
        </p:txBody>
      </p:sp>
      <p:sp>
        <p:nvSpPr>
          <p:cNvPr id="3" name="text-205">
            <a:extLst>
              <a:ext uri="{FF2B5EF4-FFF2-40B4-BE49-F238E27FC236}">
                <ns2:creationId id="{28079A3B-7D29-44FA-B00C-4573A1C49FA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13</a:t>
            </a:r>
          </a:p>
        </p:txBody>
      </p:sp>
    </p:spTree>
    <p:extLst>
      <p:ext uri="{BB962C8B-B14F-4D97-AF65-F5344CB8AC3E}">
        <ns3:creationId val="857681849"/>
      </p:ext>
    </p:extLst>
  </p:cSld>
  <p:transition spd="med" advClick="1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Machine-readable representatio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214">
            <a:extLst>
              <a:ext uri="{FF2B5EF4-FFF2-40B4-BE49-F238E27FC236}">
                <ns2:creationId id="{297CA759-C174-461D-B784-34341038543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15">
            <a:extLst>
              <a:ext uri="{FF2B5EF4-FFF2-40B4-BE49-F238E27FC236}">
                <ns2:creationId id="{76A0C6C2-BAC7-44C6-9F3B-01A07798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Machine-readable representations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3EBD0A32-A630-4793-8AC3-C9DAD3443DF3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Representation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Useful 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Markdown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Readable headings and document 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JSON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Named fields and structured outputs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Akoma Ntoso XML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Legal structure, identifiers and metadata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CSV or database table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Repeated financial or matter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216">
            <a:extLst>
              <a:ext uri="{FF2B5EF4-FFF2-40B4-BE49-F238E27FC236}">
                <ns2:creationId id="{A7C9AC7F-81D0-4EBA-B4B8-17CE6291BBD7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14</a:t>
            </a:r>
          </a:p>
        </p:txBody>
      </p:sp>
    </p:spTree>
    <p:extLst>
      <p:ext uri="{BB962C8B-B14F-4D97-AF65-F5344CB8AC3E}">
        <ns3:creationId val="1481734064"/>
      </p:ext>
    </p:extLst>
  </p:cSld>
  <p:transition spd="med" advClick="1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ne clause in structured for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217">
            <a:extLst>
              <a:ext uri="{FF2B5EF4-FFF2-40B4-BE49-F238E27FC236}">
                <ns2:creationId id="{23A5CCFA-A919-4577-82F6-B0326164F893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18">
            <a:extLst>
              <a:ext uri="{FF2B5EF4-FFF2-40B4-BE49-F238E27FC236}">
                <ns2:creationId id="{02B70983-BC73-4B7A-A966-873BB6BA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One clause in structured form</a:t>
            </a:r>
          </a:p>
        </p:txBody>
      </p:sp>
      <p:sp>
        <p:nvSpPr>
          <p:cNvPr id="4" name="text-220">
            <a:extLst>
              <a:ext uri="{FF2B5EF4-FFF2-40B4-BE49-F238E27FC236}">
                <ns2:creationId id="{5B674255-5554-4652-BE40-987F36F8F89C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5" name="text-221">
            <a:extLst>
              <a:ext uri="{FF2B5EF4-FFF2-40B4-BE49-F238E27FC236}">
                <ns2:creationId id="{75C460DE-DF93-4AC3-9876-478ED56DC225}"/>
              </a:ext>
            </a:extLst>
          </p:cNvPr>
          <p:cNvSpPr>
            <a:spLocks noGrp="1"/>
          </p:cNvSpPr>
          <p:nvPr/>
        </p:nvSpPr>
        <p:spPr>
          <a:xfrm>
            <a:off x="619125" y="2505075"/>
            <a:ext cx="47625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CONTRACT-01 v2</a:t>
            </a:r>
          </a:p>
          <a:p>
            <a: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Clause 3</a:t>
            </a:r>
          </a:p>
          <a:p>
            <a:pPr>
              <a:defRPr sz="21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customer must give prior written consent to a change of control of the provider. Consent is not required for a reorganisation within a wholly owned group if the provider remains responsible for its obligations.</a:t>
            </a:r>
          </a:p>
        </p:txBody>
      </p:sp>
      <p:sp>
        <p:nvSpPr>
          <p:cNvPr id="6" name="text-222">
            <a:extLst>
              <a:ext uri="{FF2B5EF4-FFF2-40B4-BE49-F238E27FC236}">
                <ns2:creationId id="{A1AD966B-63E0-4EA2-BD97-DB054B3B57B1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STRUCTURED RECORD</a:t>
            </a:r>
          </a:p>
        </p:txBody>
      </p:sp>
      <p:sp>
        <p:nvSpPr>
          <p:cNvPr id="7" name="text-223">
            <a:extLst>
              <a:ext uri="{FF2B5EF4-FFF2-40B4-BE49-F238E27FC236}">
                <ns2:creationId id="{2822152C-DDB6-437D-AEAA-899E6E45441C}"/>
              </a:ext>
            </a:extLst>
          </p:cNvPr>
          <p:cNvSpPr>
            <a:spLocks noGrp="1"/>
          </p:cNvSpPr>
          <p:nvPr/>
        </p:nvSpPr>
        <p:spPr>
          <a:xfrm>
            <a:off x="6334125" y="2505075"/>
            <a:ext cx="5191125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{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"document_id": "CONTRACT-01",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"version": "v2",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"clause": "3",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"text": "Exact source passage",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"source_location": "clause 3"</a:t>
            </a:r>
          </a:p>
          <a:p>
            <a:pPr>
              <a:defRPr sz="20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8" name="text-224">
            <a:extLst>
              <a:ext uri="{FF2B5EF4-FFF2-40B4-BE49-F238E27FC236}">
                <ns2:creationId id="{93A1C52C-95A8-4BEB-A374-C4DA7BE2E861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JSON stores named fields: document_id is a key; CONTRACT-01 is its value. Text is abbreviated here.</a:t>
            </a:r>
          </a:p>
        </p:txBody>
      </p:sp>
      <p:sp>
        <p:nvSpPr>
          <p:cNvPr id="3" name="text-219">
            <a:extLst>
              <a:ext uri="{FF2B5EF4-FFF2-40B4-BE49-F238E27FC236}">
                <ns2:creationId id="{F24ACCC0-DCDF-4B8D-BD7A-8203E606CFC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15</a:t>
            </a:r>
          </a:p>
        </p:txBody>
      </p:sp>
    </p:spTree>
    <p:extLst>
      <p:ext uri="{BB962C8B-B14F-4D97-AF65-F5344CB8AC3E}">
        <ns3:creationId val="339703294"/>
      </p:ext>
    </p:extLst>
  </p:cSld>
  <p:transition spd="med" advClick="1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Permissions through the pip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Permissions through the pipeline">
            <a:extLst>
              <a:ext uri="{FF2B5EF4-FFF2-40B4-BE49-F238E27FC236}">
                <ns2:creationId id="{6349CD23-C76F-4BE9-8FAD-BD84DBCC04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E00F0F50-D135-4B1B-97F1-5E45C5F7CCF2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88E0B16F-5AFC-4B25-B6A0-737FC9A1319D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3" name="text-225">
            <a:extLst>
              <a:ext uri="{FF2B5EF4-FFF2-40B4-BE49-F238E27FC236}">
                <ns2:creationId id="{D68F4569-3135-4458-B82E-311ABB7C4DB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26">
            <a:extLst>
              <a:ext uri="{FF2B5EF4-FFF2-40B4-BE49-F238E27FC236}">
                <ns2:creationId id="{1CA5AD42-8659-4C05-A994-24010607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Permissions through the pipeline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722F14FD-0E8F-4A3F-85EB-0276937481A5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3266A606-12BB-4C33-9C21-6D02907E371B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049FC1A5-1302-4AF3-98BF-871F1343512C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Source access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567C13E7-9D45-45C5-81E5-0193B456AD7D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Matter permissions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CE5936B6-8717-49A0-9EB4-E621B00FB306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675A775D-BB8F-462F-B443-D81E5613EB75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D1F6B866-2BAD-49ED-860C-050CE6DF0F47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Copied content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99005EED-4665-49B3-BBEC-060DF7CAA229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Carry restriction metadata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346DB400-68AD-4786-91A7-F941EE1B0FCF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B89697F2-4F44-4938-94FD-E7DA1C0C9EDE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7CE5F436-E3A1-4F6A-8A74-9EECBF7E7135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Search results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66216A56-6587-4885-AFE2-B0166545012C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Filter for the user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A2FB19C3-D6E0-4E68-A3C3-AE347A4D2C21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DC1E4D1E-839C-43B2-A2C8-05D65BBFBF8A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686700FD-6291-4FC2-8A70-8558312905EF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4F76DAD1-A0FB-4619-A40A-93B73F801009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Allowed evidence only</a:t>
            </a:r>
          </a:p>
        </p:txBody>
      </p:sp>
      <p:sp>
        <p:nvSpPr>
          <p:cNvPr id="3" name="text-227">
            <a:extLst>
              <a:ext uri="{FF2B5EF4-FFF2-40B4-BE49-F238E27FC236}">
                <ns2:creationId id="{0C8AEFD3-E2FC-4065-8E5C-65F45B7DA12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16</a:t>
            </a:r>
          </a:p>
        </p:txBody>
      </p:sp>
    </p:spTree>
    <p:extLst>
      <p:ext uri="{BB962C8B-B14F-4D97-AF65-F5344CB8AC3E}">
        <ns4:creationId val="139042514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ur in-class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ext-231">
            <a:extLst>
              <a:ext uri="{FF2B5EF4-FFF2-40B4-BE49-F238E27FC236}">
                <ns2:creationId id="{59A4C133-7E8D-4F9E-AAD3-25A32E9E768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32">
            <a:extLst>
              <a:ext uri="{FF2B5EF4-FFF2-40B4-BE49-F238E27FC236}">
                <ns2:creationId id="{E09F864B-40B7-433F-A3AC-744E0D91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in-class work</a:t>
            </a:r>
          </a:p>
        </p:txBody>
      </p:sp>
      <p:sp>
        <p:nvSpPr>
          <p:cNvPr id="4" name="text-234">
            <a:extLst>
              <a:ext uri="{FF2B5EF4-FFF2-40B4-BE49-F238E27FC236}">
                <ns2:creationId id="{DDD0965C-8D50-4B9D-8101-FA0776C1365C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35">
            <a:extLst>
              <a:ext uri="{FF2B5EF4-FFF2-40B4-BE49-F238E27FC236}">
                <ns2:creationId id="{AB39278E-CB4C-4CDD-B94A-39A09172DECE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Inventory systems, formats, owners and access.</a:t>
            </a:r>
          </a:p>
        </p:txBody>
      </p:sp>
      <p:sp>
        <p:nvSpPr>
          <p:cNvPr id="6" name="text-236">
            <a:extLst>
              <a:ext uri="{FF2B5EF4-FFF2-40B4-BE49-F238E27FC236}">
                <ns2:creationId id="{1037D027-3780-40B9-8C58-E48CBF387841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37">
            <a:extLst>
              <a:ext uri="{FF2B5EF4-FFF2-40B4-BE49-F238E27FC236}">
                <ns2:creationId id="{DC376C44-29E2-4B3F-8AC0-9BA04E20B290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Compare the original, synthetic scan and observed OCR.</a:t>
            </a:r>
          </a:p>
        </p:txBody>
      </p:sp>
      <p:sp>
        <p:nvSpPr>
          <p:cNvPr id="8" name="text-238">
            <a:extLst>
              <a:ext uri="{FF2B5EF4-FFF2-40B4-BE49-F238E27FC236}">
                <ns2:creationId id="{2D9DD305-4FF0-43C7-A851-5C2A5AE49BF9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39">
            <a:extLst>
              <a:ext uri="{FF2B5EF4-FFF2-40B4-BE49-F238E27FC236}">
                <ns2:creationId id="{0568F4D0-36D4-4AB5-BBC2-F60B2D950E80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Mark omissions against the authoritative page.</a:t>
            </a:r>
          </a:p>
        </p:txBody>
      </p:sp>
      <p:sp>
        <p:nvSpPr>
          <p:cNvPr id="10" name="text-240">
            <a:extLst>
              <a:ext uri="{FF2B5EF4-FFF2-40B4-BE49-F238E27FC236}">
                <ns2:creationId id="{C11E6386-689D-4289-BA02-62C3A738B18C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241">
            <a:extLst>
              <a:ext uri="{FF2B5EF4-FFF2-40B4-BE49-F238E27FC236}">
                <ns2:creationId id="{73AC3F49-F165-44BE-9F73-2EDC0CBB68EF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Record corrections, provenance and update responsibilities.</a:t>
            </a:r>
          </a:p>
        </p:txBody>
      </p:sp>
      <p:sp>
        <p:nvSpPr>
          <p:cNvPr id="12" name="text-242">
            <a:extLst>
              <a:ext uri="{FF2B5EF4-FFF2-40B4-BE49-F238E27FC236}">
                <ns2:creationId id="{0E5724CF-AF35-4B2C-A4CB-8BAEA40C7ED2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We complete this together during class.</a:t>
            </a:r>
          </a:p>
        </p:txBody>
      </p:sp>
      <p:sp>
        <p:nvSpPr>
          <p:cNvPr id="3" name="text-233">
            <a:extLst>
              <a:ext uri="{FF2B5EF4-FFF2-40B4-BE49-F238E27FC236}">
                <ns2:creationId id="{AA7C9E77-55BB-43C2-9600-5790748CD50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17</a:t>
            </a:r>
          </a:p>
        </p:txBody>
      </p:sp>
    </p:spTree>
    <p:extLst>
      <p:ext uri="{BB962C8B-B14F-4D97-AF65-F5344CB8AC3E}">
        <ns3:creationId val="1148174852"/>
      </p:ext>
    </p:extLst>
  </p:cSld>
  <p:transition spd="med" advClick="1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we can conclu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243">
            <a:extLst>
              <a:ext uri="{FF2B5EF4-FFF2-40B4-BE49-F238E27FC236}">
                <ns2:creationId id="{AB2FC21F-886B-4661-9DDE-A671E5C8F77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44">
            <a:extLst>
              <a:ext uri="{FF2B5EF4-FFF2-40B4-BE49-F238E27FC236}">
                <ns2:creationId id="{31B3BE0A-4359-4347-B94F-951AF43F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we can conclude</a:t>
            </a:r>
          </a:p>
        </p:txBody>
      </p:sp>
      <p:sp>
        <p:nvSpPr>
          <p:cNvPr id="4" name="text-246">
            <a:extLst>
              <a:ext uri="{FF2B5EF4-FFF2-40B4-BE49-F238E27FC236}">
                <ns2:creationId id="{765A4410-3BC0-4DF5-A8AA-441D9C01562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47">
            <a:extLst>
              <a:ext uri="{FF2B5EF4-FFF2-40B4-BE49-F238E27FC236}">
                <ns2:creationId id="{BBAB1B8C-1BD3-4976-97EA-248D06B89750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system, modality, structure and format describe different properties. Extraction must preserve the negation, exception and qualification. Preserve originals and source/access metadata through conversion.</a:t>
            </a:r>
          </a:p>
        </p:txBody>
      </p:sp>
      <p:sp>
        <p:nvSpPr>
          <p:cNvPr id="6" name="text-248">
            <a:extLst>
              <a:ext uri="{FF2B5EF4-FFF2-40B4-BE49-F238E27FC236}">
                <ns2:creationId id="{945FA181-D094-4335-B16D-9C911D531520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49">
            <a:extLst>
              <a:ext uri="{FF2B5EF4-FFF2-40B4-BE49-F238E27FC236}">
                <ns2:creationId id="{925C8FEC-0E7A-40D2-BC64-B11C7D07D73B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synthetic scan can test a method but does not establish extraction quality on the firm’s archive.</a:t>
            </a:r>
          </a:p>
        </p:txBody>
      </p:sp>
      <p:sp>
        <p:nvSpPr>
          <p:cNvPr id="3" name="text-245">
            <a:extLst>
              <a:ext uri="{FF2B5EF4-FFF2-40B4-BE49-F238E27FC236}">
                <ns2:creationId id="{B4901A69-9669-4197-A4E3-FC6D3C53153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18</a:t>
            </a:r>
          </a:p>
        </p:txBody>
      </p:sp>
    </p:spTree>
    <p:extLst>
      <p:ext uri="{BB962C8B-B14F-4D97-AF65-F5344CB8AC3E}">
        <ns3:creationId val="744640117"/>
      </p:ext>
    </p:extLst>
  </p:cSld>
  <p:transition spd="med" advClick="1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m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250">
            <a:extLst>
              <a:ext uri="{FF2B5EF4-FFF2-40B4-BE49-F238E27FC236}">
                <ns2:creationId id="{366B9C73-3EB2-415D-A2A1-FB6635070AA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51">
            <a:extLst>
              <a:ext uri="{FF2B5EF4-FFF2-40B4-BE49-F238E27FC236}">
                <ns2:creationId id="{C5AE5CF1-DD47-4E27-A4EB-293D9513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firm decision</a:t>
            </a:r>
          </a:p>
        </p:txBody>
      </p:sp>
      <p:sp>
        <p:nvSpPr>
          <p:cNvPr id="4" name="text-253">
            <a:extLst>
              <a:ext uri="{FF2B5EF4-FFF2-40B4-BE49-F238E27FC236}">
                <ns2:creationId id="{4A6993E3-E4FD-4E92-8A75-44EF9FE45A69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54">
            <a:extLst>
              <a:ext uri="{FF2B5EF4-FFF2-40B4-BE49-F238E27FC236}">
                <ns2:creationId id="{ADA72F40-52A3-4C4A-9259-785851FC5652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3314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Assign source owners and choose one collection for preparation before buying a search layer.</a:t>
            </a:r>
          </a:p>
        </p:txBody>
      </p:sp>
      <p:sp>
        <p:nvSpPr>
          <p:cNvPr id="6" name="text-255">
            <a:extLst>
              <a:ext uri="{FF2B5EF4-FFF2-40B4-BE49-F238E27FC236}">
                <ns2:creationId id="{5EF52ADF-7225-412D-9278-674BAE81E7CB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Record the decision and the evidence still needed.</a:t>
            </a:r>
          </a:p>
        </p:txBody>
      </p:sp>
      <p:sp>
        <p:nvSpPr>
          <p:cNvPr id="3" name="text-252">
            <a:extLst>
              <a:ext uri="{FF2B5EF4-FFF2-40B4-BE49-F238E27FC236}">
                <ns2:creationId id="{293B4D89-61A7-4B35-9271-DA1593056D2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19</a:t>
            </a:r>
          </a:p>
        </p:txBody>
      </p:sp>
    </p:spTree>
    <p:extLst>
      <p:ext uri="{BB962C8B-B14F-4D97-AF65-F5344CB8AC3E}">
        <ns3:creationId val="1297399114"/>
      </p:ext>
    </p:extLst>
  </p:cSld>
  <p:transition spd="med" advClick="1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heck understand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256">
            <a:extLst>
              <a:ext uri="{FF2B5EF4-FFF2-40B4-BE49-F238E27FC236}">
                <ns2:creationId id="{55AC2E0E-CEAC-4996-A2B2-F1D2F0DF605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57">
            <a:extLst>
              <a:ext uri="{FF2B5EF4-FFF2-40B4-BE49-F238E27FC236}">
                <ns2:creationId id="{CE503AEC-5EC6-417C-A3A4-89ABDB6B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understanding</a:t>
            </a:r>
          </a:p>
        </p:txBody>
      </p:sp>
      <p:sp>
        <p:nvSpPr>
          <p:cNvPr id="4" name="text-259">
            <a:extLst>
              <a:ext uri="{FF2B5EF4-FFF2-40B4-BE49-F238E27FC236}">
                <ns2:creationId id="{A957BD10-DBE8-487F-A7CB-716419B4246D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60">
            <a:extLst>
              <a:ext uri="{FF2B5EF4-FFF2-40B4-BE49-F238E27FC236}">
                <ns2:creationId id="{732220D6-60AB-46C3-ABF5-06AF9B0BED85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scan says shall not disclose; extraction says shall disclose. Which stage failed?</a:t>
            </a:r>
          </a:p>
        </p:txBody>
      </p:sp>
      <p:sp>
        <p:nvSpPr>
          <p:cNvPr id="6" name="text-261">
            <a:extLst>
              <a:ext uri="{FF2B5EF4-FFF2-40B4-BE49-F238E27FC236}">
                <ns2:creationId id="{6782864F-FC50-4943-95AC-B85362F9CD88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62">
            <a:extLst>
              <a:ext uri="{FF2B5EF4-FFF2-40B4-BE49-F238E27FC236}">
                <ns2:creationId id="{7602183B-8C6B-40B1-A774-7720B8119135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text is accurate but the matter tag is wrong. What risk remains?</a:t>
            </a:r>
          </a:p>
        </p:txBody>
      </p:sp>
      <p:sp>
        <p:nvSpPr>
          <p:cNvPr id="8" name="text-263">
            <a:extLst>
              <a:ext uri="{FF2B5EF4-FFF2-40B4-BE49-F238E27FC236}">
                <ns2:creationId id="{5D684768-7BC8-4B19-80FA-FE6E4D32DEEC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64">
            <a:extLst>
              <a:ext uri="{FF2B5EF4-FFF2-40B4-BE49-F238E27FC236}">
                <ns2:creationId id="{334D5D67-F5FC-43AA-8E69-15706ADFEC3E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Which record preserves correction history?</a:t>
            </a:r>
          </a:p>
        </p:txBody>
      </p:sp>
      <p:sp>
        <p:nvSpPr>
          <p:cNvPr id="3" name="text-258">
            <a:extLst>
              <a:ext uri="{FF2B5EF4-FFF2-40B4-BE49-F238E27FC236}">
                <ns2:creationId id="{1B31B570-6C91-4A8C-9310-4C87C994924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20</a:t>
            </a:r>
          </a:p>
        </p:txBody>
      </p:sp>
    </p:spTree>
    <p:extLst>
      <p:ext uri="{BB962C8B-B14F-4D97-AF65-F5344CB8AC3E}">
        <ns3:creationId val="331861989"/>
      </p:ext>
    </p:extLst>
  </p:cSld>
  <p:transition spd="med" advClick="1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koma Ntoso in legal publish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ext-265">
            <a:extLst>
              <a:ext uri="{FF2B5EF4-FFF2-40B4-BE49-F238E27FC236}">
                <ns2:creationId id="{0DECDB52-3021-48E7-B6A1-CBFAD9B63FB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66">
            <a:extLst>
              <a:ext uri="{FF2B5EF4-FFF2-40B4-BE49-F238E27FC236}">
                <ns2:creationId id="{46639F78-FBE7-4F29-A577-2065B9E7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Akoma Ntoso in legal publishing</a:t>
            </a:r>
          </a:p>
        </p:txBody>
      </p:sp>
      <p:sp>
        <p:nvSpPr>
          <p:cNvPr id="4" name="text-268">
            <a:extLst>
              <a:ext uri="{FF2B5EF4-FFF2-40B4-BE49-F238E27FC236}">
                <ns2:creationId id="{254AC134-9196-43C4-9BFE-79C4F0F1989D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10953750" cy="2619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&lt;section eId="sec_3"&gt;</a:t>
            </a:r>
          </a:p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&lt;heading&gt;Change of control&lt;/heading&gt;</a:t>
            </a:r>
          </a:p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&lt;content&gt;</a:t>
            </a:r>
          </a:p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  &lt;p&gt;Clause text with its qualification&lt;/p&gt;</a:t>
            </a:r>
          </a:p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  &lt;/content&gt;</a:t>
            </a:r>
          </a:p>
          <a:p>
            <a:pPr>
              <a:defRPr sz="240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&lt;/section&gt;</a:t>
            </a:r>
          </a:p>
        </p:txBody>
      </p:sp>
      <p:sp>
        <p:nvSpPr>
          <p:cNvPr id="5" name="text-269">
            <a:extLst>
              <a:ext uri="{FF2B5EF4-FFF2-40B4-BE49-F238E27FC236}">
                <ns2:creationId id="{422BCFA5-04CC-4B61-81E7-88E8F4AE0DD5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Illustrative structural fragment. It is not a complete, schema-validated Akoma Ntoso document.</a:t>
            </a:r>
          </a:p>
        </p:txBody>
      </p:sp>
      <p:sp>
        <p:nvSpPr>
          <p:cNvPr id="3" name="text-267">
            <a:extLst>
              <a:ext uri="{FF2B5EF4-FFF2-40B4-BE49-F238E27FC236}">
                <ns2:creationId id="{C2B5402D-78CA-4D42-8F1B-9D7F294006D2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21   OPTIONAL EXPLORATION</a:t>
            </a:r>
          </a:p>
        </p:txBody>
      </p:sp>
    </p:spTree>
    <p:extLst>
      <p:ext uri="{BB962C8B-B14F-4D97-AF65-F5344CB8AC3E}">
        <ns3:creationId val="579958263"/>
      </p:ext>
    </p:extLst>
  </p:cSld>
  <p:transition spd="med" advClick="1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nancial data needs its own chec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270">
            <a:extLst>
              <a:ext uri="{FF2B5EF4-FFF2-40B4-BE49-F238E27FC236}">
                <ns2:creationId id="{F5C175E0-E598-45D2-92AF-965B6040949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71">
            <a:extLst>
              <a:ext uri="{FF2B5EF4-FFF2-40B4-BE49-F238E27FC236}">
                <ns2:creationId id="{5E52A118-556E-4AAB-A0E4-63440E34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Financial data needs its own checks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B8083E0-AD51-48E8-ADFE-507321EF0349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Amount and currency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UGX, another currency, or mixed units?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Period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Invoice date, service period or receipt date?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Missing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Unknown, not applicable or zero?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Record identity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Genuine repeat or duplicate import?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272">
            <a:extLst>
              <a:ext uri="{FF2B5EF4-FFF2-40B4-BE49-F238E27FC236}">
                <ns2:creationId id="{062ECE19-C609-47F1-B6FF-82FBA1CACB9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22   OPTIONAL EXPLORATION</a:t>
            </a:r>
          </a:p>
        </p:txBody>
      </p:sp>
    </p:spTree>
    <p:extLst>
      <p:ext uri="{BB962C8B-B14F-4D97-AF65-F5344CB8AC3E}">
        <ns3:creationId val="1475110860"/>
      </p:ext>
    </p:extLst>
  </p:cSld>
  <p:transition spd="med" advClick="1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Entities and document meta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273">
            <a:extLst>
              <a:ext uri="{FF2B5EF4-FFF2-40B4-BE49-F238E27FC236}">
                <ns2:creationId id="{2311CEED-8D07-4C12-89A3-0E7FD67844C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74">
            <a:extLst>
              <a:ext uri="{FF2B5EF4-FFF2-40B4-BE49-F238E27FC236}">
                <ns2:creationId id="{6E18B24E-58A2-4925-A2D1-01F9783E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Entities and document metadata</a:t>
            </a:r>
          </a:p>
        </p:txBody>
      </p:sp>
      <p:sp>
        <p:nvSpPr>
          <p:cNvPr id="4" name="text-276">
            <a:extLst>
              <a:ext uri="{FF2B5EF4-FFF2-40B4-BE49-F238E27FC236}">
                <ns2:creationId id="{667C4B7A-9C8C-42F0-9D10-F5443DF369AC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77">
            <a:extLst>
              <a:ext uri="{FF2B5EF4-FFF2-40B4-BE49-F238E27FC236}">
                <ns2:creationId id="{98922CEA-6FE5-465F-A42D-BD6DB6A15D5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Extract party names and dates from the text.</a:t>
            </a:r>
          </a:p>
        </p:txBody>
      </p:sp>
      <p:sp>
        <p:nvSpPr>
          <p:cNvPr id="6" name="text-278">
            <a:extLst>
              <a:ext uri="{FF2B5EF4-FFF2-40B4-BE49-F238E27FC236}">
                <ns2:creationId id="{B7967D60-3CCD-404C-8B7C-F0CD01E9E249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79">
            <a:extLst>
              <a:ext uri="{FF2B5EF4-FFF2-40B4-BE49-F238E27FC236}">
                <ns2:creationId id="{BEC3D660-0057-4602-9D69-D3A17DBCFE71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Retain document identity and version as metadata.</a:t>
            </a:r>
          </a:p>
        </p:txBody>
      </p:sp>
      <p:sp>
        <p:nvSpPr>
          <p:cNvPr id="8" name="text-280">
            <a:extLst>
              <a:ext uri="{FF2B5EF4-FFF2-40B4-BE49-F238E27FC236}">
                <ns2:creationId id="{65A18F33-FD78-4A6C-BCC8-745E0A72B371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81">
            <a:extLst>
              <a:ext uri="{FF2B5EF4-FFF2-40B4-BE49-F238E27FC236}">
                <ns2:creationId id="{FA1A6E86-FA03-4B33-A001-8BBB9FA9BA56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Resolve which legal entity a name actually denotes.</a:t>
            </a:r>
          </a:p>
        </p:txBody>
      </p:sp>
      <p:sp>
        <p:nvSpPr>
          <p:cNvPr id="3" name="text-275">
            <a:extLst>
              <a:ext uri="{FF2B5EF4-FFF2-40B4-BE49-F238E27FC236}">
                <ns2:creationId id="{36BEBC62-059C-4ED5-876B-3686CE8B816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23   OPTIONAL EXPLORATION</a:t>
            </a:r>
          </a:p>
        </p:txBody>
      </p:sp>
    </p:spTree>
    <p:extLst>
      <p:ext uri="{BB962C8B-B14F-4D97-AF65-F5344CB8AC3E}">
        <ns3:creationId val="834825865"/>
      </p:ext>
    </p:extLst>
  </p:cSld>
  <p:transition spd="med" advClick="1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inventory becomes an executive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282">
            <a:extLst>
              <a:ext uri="{FF2B5EF4-FFF2-40B4-BE49-F238E27FC236}">
                <ns2:creationId id="{3CD983F1-2C24-4C7E-9731-BFA04B6F693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05</a:t>
            </a:r>
          </a:p>
        </p:txBody>
      </p:sp>
      <p:sp>
        <p:nvSpPr>
          <p:cNvPr id="2" name="text-283">
            <a:extLst>
              <a:ext uri="{FF2B5EF4-FFF2-40B4-BE49-F238E27FC236}">
                <ns2:creationId id="{A62AEDE3-E2C3-4A9B-84E9-C4AC4DC9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inventory becomes an executive decision</a:t>
            </a:r>
          </a:p>
        </p:txBody>
      </p:sp>
      <p:sp>
        <p:nvSpPr>
          <p:cNvPr id="4" name="text-285">
            <a:extLst>
              <a:ext uri="{FF2B5EF4-FFF2-40B4-BE49-F238E27FC236}">
                <ns2:creationId id="{0E8905A8-6105-4C72-B315-5069228AE850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86">
            <a:extLst>
              <a:ext uri="{FF2B5EF4-FFF2-40B4-BE49-F238E27FC236}">
                <ns2:creationId id="{74DF7FA6-2A4A-4DFD-85B1-F743FB147BA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Which collection creates the greatest useful opportunity?</a:t>
            </a:r>
          </a:p>
        </p:txBody>
      </p:sp>
      <p:sp>
        <p:nvSpPr>
          <p:cNvPr id="6" name="text-287">
            <a:extLst>
              <a:ext uri="{FF2B5EF4-FFF2-40B4-BE49-F238E27FC236}">
                <ns2:creationId id="{E5BFA958-1EE1-46F7-BF7C-64EC92C4910B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88">
            <a:extLst>
              <a:ext uri="{FF2B5EF4-FFF2-40B4-BE49-F238E27FC236}">
                <ns2:creationId id="{0169074E-CB41-45C5-9628-B9F1288BB317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Who can establish its authority and quality?</a:t>
            </a:r>
          </a:p>
        </p:txBody>
      </p:sp>
      <p:sp>
        <p:nvSpPr>
          <p:cNvPr id="8" name="text-289">
            <a:extLst>
              <a:ext uri="{FF2B5EF4-FFF2-40B4-BE49-F238E27FC236}">
                <ns2:creationId id="{C3C7CF28-EBBE-45BC-950E-2F54DD70CB17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90">
            <a:extLst>
              <a:ext uri="{FF2B5EF4-FFF2-40B4-BE49-F238E27FC236}">
                <ns2:creationId id="{ACA7BFB0-00C2-4982-A1D5-03E959391500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preparation and permission work is needed?</a:t>
            </a:r>
          </a:p>
        </p:txBody>
      </p:sp>
      <p:sp>
        <p:nvSpPr>
          <p:cNvPr id="3" name="text-284">
            <a:extLst>
              <a:ext uri="{FF2B5EF4-FFF2-40B4-BE49-F238E27FC236}">
                <ns2:creationId id="{8C7C1E15-718E-4859-BA38-6909E739A852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05   24   OPTIONAL EXPLORATION</a:t>
            </a:r>
          </a:p>
        </p:txBody>
      </p:sp>
    </p:spTree>
    <p:extLst>
      <p:ext uri="{BB962C8B-B14F-4D97-AF65-F5344CB8AC3E}">
        <ns3:creationId val="2145362738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2026-10-26T10:22:14.1820000Z</dcterms:created>
  <dcterms:modified xsi:type="dcterms:W3CDTF">2026-10-26T10:22:14.1820000Z</dcterms:modified>
</coreProperties>
</file>