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68606331b54495f" /><Relationship Type="http://schemas.openxmlformats.org/officeDocument/2006/relationships/extended-properties" Target="/docProps/app.xml" Id="R1957861c55df45ad" /><Relationship Type="http://schemas.openxmlformats.org/officeDocument/2006/relationships/officeDocument" Target="/ppt/presentation.xml" Id="R44051ed342a64ab2" /></Relationships>
</file>

<file path=ppt/presentation.xml><?xml version="1.0" encoding="utf-8"?>
<p:presentation xmlns:p="http://schemas.openxmlformats.org/presentationml/2006/main" xmlns:r="http://schemas.openxmlformats.org/officeDocument/2006/relationships">
  <p:sldMasterIdLst>
    <p:sldMasterId id="2147483648" r:id="R5c0854adffe94607"/>
  </p:sldMasterIdLst>
  <p:notesMasterIdLst>
    <p:notesMasterId r:id="Rb53cc7810efe46e5"/>
  </p:notesMasterIdLst>
  <p:sldIdLst>
    <p:sldId id="256" r:id="R17aa158c7550416a"/>
    <p:sldId id="257" r:id="R823230dbb75a43fb"/>
    <p:sldId id="258" r:id="Rb4c9b382fa8d4fe6"/>
    <p:sldId id="259" r:id="Rcb5b6499849948aa"/>
    <p:sldId id="260" r:id="R3f97d135fab74dc6"/>
    <p:sldId id="261" r:id="R069e6c0a48c240f8"/>
    <p:sldId id="262" r:id="Rc7cf5f6a11aa4f54"/>
    <p:sldId id="263" r:id="Rbab02e5f38e84c9f"/>
    <p:sldId id="264" r:id="R0663258c219e47c4"/>
    <p:sldId id="265" r:id="R9bef84969bee498f"/>
    <p:sldId id="266" r:id="Rbe8ccb00340641dc"/>
    <p:sldId id="267" r:id="R2bc857299f6244f7"/>
    <p:sldId id="268" r:id="R1ffe939aa50f48b9"/>
    <p:sldId id="269" r:id="R8c0549d428f740b5"/>
    <p:sldId id="270" r:id="Rc20608e38b144a1a"/>
    <p:sldId id="271" r:id="Re0332a799970495b"/>
    <p:sldId id="272" r:id="R9c1df7dc6a074295"/>
    <p:sldId id="273" r:id="R221296186a1f490d"/>
  </p:sldIdLst>
  <p:sldSz cx="12192000" cy="6858000"/>
  <p:notesSz cx="6858000" cy="9144000"/>
  <p:custShowLst>
    <p:custShow name="Core teaching" id="1">
      <p:sldLst>
        <p:sld r:id="R17aa158c7550416a"/>
        <p:sld r:id="R823230dbb75a43fb"/>
        <p:sld r:id="Rb4c9b382fa8d4fe6"/>
        <p:sld r:id="Rcb5b6499849948aa"/>
        <p:sld r:id="R3f97d135fab74dc6"/>
        <p:sld r:id="R069e6c0a48c240f8"/>
        <p:sld r:id="Rc7cf5f6a11aa4f54"/>
        <p:sld r:id="Rbab02e5f38e84c9f"/>
        <p:sld r:id="R0663258c219e47c4"/>
        <p:sld r:id="R9bef84969bee498f"/>
        <p:sld r:id="Rbe8ccb00340641dc"/>
        <p:sld r:id="R2bc857299f6244f7"/>
        <p:sld r:id="R1ffe939aa50f48b9"/>
        <p:sld r:id="R8c0549d428f740b5"/>
        <p:sld r:id="Rc20608e38b144a1a"/>
        <p:sld r:id="Re0332a799970495b"/>
        <p:sld r:id="R9c1df7dc6a074295"/>
        <p:sld r:id="R221296186a1f490d"/>
      </p:sldLst>
    </p:custShow>
  </p:custShow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b45dd033fec45c2" /><Relationship Type="http://schemas.openxmlformats.org/officeDocument/2006/relationships/slideMaster" Target="/ppt/slideMasters/slideMaster1.xml" Id="R5c0854adffe94607" /><Relationship Type="http://schemas.openxmlformats.org/officeDocument/2006/relationships/notesMaster" Target="/ppt/notesMasters/notesMaster1.xml" Id="Rb53cc7810efe46e5" /><Relationship Type="http://schemas.openxmlformats.org/officeDocument/2006/relationships/presProps" Target="/ppt/presProps.xml" Id="R0618131a2f89467e" /><Relationship Type="http://schemas.openxmlformats.org/officeDocument/2006/relationships/tableStyles" Target="/ppt/tableStyles.xml" Id="Rf0097d2012df4cc0" /><Relationship Type="http://schemas.openxmlformats.org/officeDocument/2006/relationships/slide" Target="/ppt/slides/slide1.xml" Id="R17aa158c7550416a" /><Relationship Type="http://schemas.openxmlformats.org/officeDocument/2006/relationships/slide" Target="/ppt/slides/slide2.xml" Id="R823230dbb75a43fb" /><Relationship Type="http://schemas.openxmlformats.org/officeDocument/2006/relationships/slide" Target="/ppt/slides/slide3.xml" Id="Rb4c9b382fa8d4fe6" /><Relationship Type="http://schemas.openxmlformats.org/officeDocument/2006/relationships/slide" Target="/ppt/slides/slide4.xml" Id="Rcb5b6499849948aa" /><Relationship Type="http://schemas.openxmlformats.org/officeDocument/2006/relationships/slide" Target="/ppt/slides/slide5.xml" Id="R3f97d135fab74dc6" /><Relationship Type="http://schemas.openxmlformats.org/officeDocument/2006/relationships/slide" Target="/ppt/slides/slide6.xml" Id="R069e6c0a48c240f8" /><Relationship Type="http://schemas.openxmlformats.org/officeDocument/2006/relationships/slide" Target="/ppt/slides/slide7.xml" Id="Rc7cf5f6a11aa4f54" /><Relationship Type="http://schemas.openxmlformats.org/officeDocument/2006/relationships/slide" Target="/ppt/slides/slide8.xml" Id="Rbab02e5f38e84c9f" /><Relationship Type="http://schemas.openxmlformats.org/officeDocument/2006/relationships/slide" Target="/ppt/slides/slide9.xml" Id="R0663258c219e47c4" /><Relationship Type="http://schemas.openxmlformats.org/officeDocument/2006/relationships/slide" Target="/ppt/slides/slide10.xml" Id="R9bef84969bee498f" /><Relationship Type="http://schemas.openxmlformats.org/officeDocument/2006/relationships/slide" Target="/ppt/slides/slide11.xml" Id="Rbe8ccb00340641dc" /><Relationship Type="http://schemas.openxmlformats.org/officeDocument/2006/relationships/slide" Target="/ppt/slides/slide12.xml" Id="R2bc857299f6244f7" /><Relationship Type="http://schemas.openxmlformats.org/officeDocument/2006/relationships/slide" Target="/ppt/slides/slide13.xml" Id="R1ffe939aa50f48b9" /><Relationship Type="http://schemas.openxmlformats.org/officeDocument/2006/relationships/slide" Target="/ppt/slides/slide14.xml" Id="R8c0549d428f740b5" /><Relationship Type="http://schemas.openxmlformats.org/officeDocument/2006/relationships/slide" Target="/ppt/slides/slide15.xml" Id="Rc20608e38b144a1a" /><Relationship Type="http://schemas.openxmlformats.org/officeDocument/2006/relationships/slide" Target="/ppt/slides/slide16.xml" Id="Re0332a799970495b" /><Relationship Type="http://schemas.openxmlformats.org/officeDocument/2006/relationships/slide" Target="/ppt/slides/slide17.xml" Id="R9c1df7dc6a074295" /><Relationship Type="http://schemas.openxmlformats.org/officeDocument/2006/relationships/slide" Target="/ppt/slides/slide18.xml" Id="R221296186a1f490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e867246d5244a3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d1de674fb4941fb" /><Relationship Type="http://schemas.openxmlformats.org/officeDocument/2006/relationships/notesMaster" Target="/ppt/notesMasters/notesMaster1.xml" Id="R6b91a28122ae41dd" /></Relationships>
</file>

<file path=ppt/notesSlides/_rels/notesSlide2.xml.rels>&#65279;<?xml version="1.0" encoding="utf-8"?><Relationships xmlns="http://schemas.openxmlformats.org/package/2006/relationships"><Relationship Type="http://schemas.openxmlformats.org/officeDocument/2006/relationships/slide" Target="/ppt/slides/slide2.xml" Id="R0c839d7196ed41a0" /><Relationship Type="http://schemas.openxmlformats.org/officeDocument/2006/relationships/notesMaster" Target="/ppt/notesMasters/notesMaster1.xml" Id="R920edd84f5cb4b5a" /></Relationships>
</file>

<file path=ppt/notesSlides/_rels/notesSlide3.xml.rels>&#65279;<?xml version="1.0" encoding="utf-8"?><Relationships xmlns="http://schemas.openxmlformats.org/package/2006/relationships"><Relationship Type="http://schemas.openxmlformats.org/officeDocument/2006/relationships/slide" Target="/ppt/slides/slide3.xml" Id="R28c220b640aa4087" /><Relationship Type="http://schemas.openxmlformats.org/officeDocument/2006/relationships/notesMaster" Target="/ppt/notesMasters/notesMaster1.xml" Id="Rb6ac12e50947412f" /></Relationships>
</file>

<file path=ppt/notesSlides/_rels/notesSlide4.xml.rels>&#65279;<?xml version="1.0" encoding="utf-8"?><Relationships xmlns="http://schemas.openxmlformats.org/package/2006/relationships"><Relationship Type="http://schemas.openxmlformats.org/officeDocument/2006/relationships/slide" Target="/ppt/slides/slide4.xml" Id="R1a1750d4c9084b05" /><Relationship Type="http://schemas.openxmlformats.org/officeDocument/2006/relationships/notesMaster" Target="/ppt/notesMasters/notesMaster1.xml" Id="Rae2c355361884aff" /></Relationships>
</file>

<file path=ppt/notesSlides/_rels/notesSlide5.xml.rels>&#65279;<?xml version="1.0" encoding="utf-8"?><Relationships xmlns="http://schemas.openxmlformats.org/package/2006/relationships"><Relationship Type="http://schemas.openxmlformats.org/officeDocument/2006/relationships/slide" Target="/ppt/slides/slide5.xml" Id="Rd31baae864c4403b" /><Relationship Type="http://schemas.openxmlformats.org/officeDocument/2006/relationships/notesMaster" Target="/ppt/notesMasters/notesMaster1.xml" Id="Rdb3cc43028a644eb" /></Relationships>
</file>

<file path=ppt/notesSlides/_rels/notesSlide6.xml.rels>&#65279;<?xml version="1.0" encoding="utf-8"?><Relationships xmlns="http://schemas.openxmlformats.org/package/2006/relationships"><Relationship Type="http://schemas.openxmlformats.org/officeDocument/2006/relationships/slide" Target="/ppt/slides/slide6.xml" Id="Rc3609a30525c4980" /><Relationship Type="http://schemas.openxmlformats.org/officeDocument/2006/relationships/notesMaster" Target="/ppt/notesMasters/notesMaster1.xml" Id="R20fb4c1b5a8045db" /></Relationships>
</file>

<file path=ppt/notesSlides/_rels/notesSlide7.xml.rels>&#65279;<?xml version="1.0" encoding="utf-8"?><Relationships xmlns="http://schemas.openxmlformats.org/package/2006/relationships"><Relationship Type="http://schemas.openxmlformats.org/officeDocument/2006/relationships/slide" Target="/ppt/slides/slide7.xml" Id="Ra3563f64a6244891" /><Relationship Type="http://schemas.openxmlformats.org/officeDocument/2006/relationships/notesMaster" Target="/ppt/notesMasters/notesMaster1.xml" Id="R0d62060493b14b21" /></Relationships>
</file>

<file path=ppt/notesSlides/_rels/notesSlide8.xml.rels>&#65279;<?xml version="1.0" encoding="utf-8"?><Relationships xmlns="http://schemas.openxmlformats.org/package/2006/relationships"><Relationship Type="http://schemas.openxmlformats.org/officeDocument/2006/relationships/slide" Target="/ppt/slides/slide8.xml" Id="Ra377626a046945ab" /><Relationship Type="http://schemas.openxmlformats.org/officeDocument/2006/relationships/notesMaster" Target="/ppt/notesMasters/notesMaster1.xml" Id="Rd972dd5726a64984" /></Relationships>
</file>

<file path=ppt/notesSlides/_rels/notesSlide9.xml.rels>&#65279;<?xml version="1.0" encoding="utf-8"?><Relationships xmlns="http://schemas.openxmlformats.org/package/2006/relationships"><Relationship Type="http://schemas.openxmlformats.org/officeDocument/2006/relationships/slide" Target="/ppt/slides/slide9.xml" Id="R9b5fa22d163c40ec" /><Relationship Type="http://schemas.openxmlformats.org/officeDocument/2006/relationships/notesMaster" Target="/ppt/notesMasters/notesMaster1.xml" Id="R41c0623a3c704f9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55c59c54fb24f16" /><Relationship Type="http://schemas.openxmlformats.org/officeDocument/2006/relationships/notesMaster" Target="/ppt/notesMasters/notesMaster1.xml" Id="R71d38d53639b448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3c8793307624554" /><Relationship Type="http://schemas.openxmlformats.org/officeDocument/2006/relationships/notesMaster" Target="/ppt/notesMasters/notesMaster1.xml" Id="Rb99c9257788a459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c480c8c15af4414" /><Relationship Type="http://schemas.openxmlformats.org/officeDocument/2006/relationships/notesMaster" Target="/ppt/notesMasters/notesMaster1.xml" Id="Rbcf2e4b23dd743e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949a311e60b4e74" /><Relationship Type="http://schemas.openxmlformats.org/officeDocument/2006/relationships/notesMaster" Target="/ppt/notesMasters/notesMaster1.xml" Id="R6f70a3ab2ce24bf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b5c3bbbaa8e434c" /><Relationship Type="http://schemas.openxmlformats.org/officeDocument/2006/relationships/notesMaster" Target="/ppt/notesMasters/notesMaster1.xml" Id="R413c902ba733435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ac1ed75531440b6" /><Relationship Type="http://schemas.openxmlformats.org/officeDocument/2006/relationships/notesMaster" Target="/ppt/notesMasters/notesMaster1.xml" Id="Re18340f8d994468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a6ca78a56f1430d" /><Relationship Type="http://schemas.openxmlformats.org/officeDocument/2006/relationships/notesMaster" Target="/ppt/notesMasters/notesMaster1.xml" Id="R6b6972b3b31c4cd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448f274047a4b96" /><Relationship Type="http://schemas.openxmlformats.org/officeDocument/2006/relationships/notesMaster" Target="/ppt/notesMasters/notesMaster1.xml" Id="Rf127c61018264c9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64e90b4edb64550" /><Relationship Type="http://schemas.openxmlformats.org/officeDocument/2006/relationships/notesMaster" Target="/ppt/notesMasters/notesMaster1.xml" Id="Rb469db250ac14f8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Why can a fluent answer vary, omit evidence or invent a fact?</a:t>
            </a:r>
          </a:p>
          <a:p xmlns:a="http://schemas.openxmlformats.org/drawingml/2006/main">
            <a:r>
              <a:t/>
            </a:r>
          </a:p>
          <a:p xmlns:a="http://schemas.openxmlformats.org/drawingml/2006/main">
            <a:r>
              <a:t>I will explain: I will ask: We upload a new clause today. Which learned parameters must change? I will record the learner’s explanation before showing the answer. None necessarily. The clause can be supplied as inference context.</a:t>
            </a:r>
          </a:p>
          <a:p xmlns:a="http://schemas.openxmlformats.org/drawingml/2006/main">
            <a:r>
              <a:t/>
            </a:r>
          </a:p>
          <a:p xmlns:a="http://schemas.openxmlformats.org/drawingml/2006/main">
            <a:r>
              <a:t>Ask: We upload a new clause today. Which learned parameters must change?</a:t>
            </a:r>
          </a:p>
          <a:p xmlns:a="http://schemas.openxmlformats.org/drawingml/2006/main">
            <a:r>
              <a:t/>
            </a:r>
          </a:p>
          <a:p xmlns:a="http://schemas.openxmlformats.org/drawingml/2006/main">
            <a:r>
              <a:t>Expected answer: None necessarily. The clause can be supplied as inference context.</a:t>
            </a:r>
          </a:p>
          <a:p xmlns:a="http://schemas.openxmlformats.org/drawingml/2006/main">
            <a:r>
              <a:t/>
            </a:r>
          </a:p>
          <a:p xmlns:a="http://schemas.openxmlformats.org/drawingml/2006/main">
            <a:r>
              <a:t>If partly correct: Likely confusion: A 70% token score is 70% truth. I will clarify: The invented chart predicts a continuation, not the correctness of advice. Then return to this slide’s question: We upload a new clause today. Which learned parameters must change? A supported answer should establish: None necessarily. The clause can be supplied as inference context.</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Recall training and inference.</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Why can a fluent answer vary, omit evidence or invent a fact?</a:t>
            </a:r>
          </a:p>
          <a:p xmlns:a="http://schemas.openxmlformats.org/drawingml/2006/main">
            <a:r>
              <a:t/>
            </a:r>
          </a:p>
          <a:p xmlns:a="http://schemas.openxmlformats.org/drawingml/2006/main">
            <a:r>
              <a:t>I will explain: Ask without showing the prior result. None necessarily. The clause can be supplied as inference context. Invite a reason, then connect the answer to today’s question.</a:t>
            </a:r>
          </a:p>
          <a:p xmlns:a="http://schemas.openxmlformats.org/drawingml/2006/main">
            <a:r>
              <a:t/>
            </a:r>
          </a:p>
          <a:p xmlns:a="http://schemas.openxmlformats.org/drawingml/2006/main">
            <a:r>
              <a:t>Ask: We upload a new clause today. Which learned parameters must change?</a:t>
            </a:r>
          </a:p>
          <a:p xmlns:a="http://schemas.openxmlformats.org/drawingml/2006/main">
            <a:r>
              <a:t/>
            </a:r>
          </a:p>
          <a:p xmlns:a="http://schemas.openxmlformats.org/drawingml/2006/main">
            <a:r>
              <a:t>Expected answer: None necessarily. The clause can be supplied as inference context.</a:t>
            </a:r>
          </a:p>
          <a:p xmlns:a="http://schemas.openxmlformats.org/drawingml/2006/main">
            <a:r>
              <a:t/>
            </a:r>
          </a:p>
          <a:p xmlns:a="http://schemas.openxmlformats.org/drawingml/2006/main">
            <a:r>
              <a:t>If partly correct: Likely confusion: More context guarantees accuracy. I will clarify: Compare the complete source with the actual answer and inspect the missing-fee test. Then return to this slide’s question: We upload a new clause today. Which learned parameters must change? A supported answer should establish: None necessarily. The clause can be supplied as inference context.</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From a prompt to a response.</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Why can a fluent answer vary, omit evidence or invent a fact?</a:t>
            </a:r>
          </a:p>
          <a:p xmlns:a="http://schemas.openxmlformats.org/drawingml/2006/main">
            <a:r>
              <a:t/>
            </a:r>
          </a:p>
          <a:p xmlns:a="http://schemas.openxmlformats.org/drawingml/2006/main">
            <a:r>
              <a:t>I will explain: Explain the usual autoregressive text-generation route. Token probabilities are conditioned on the input and generated prefix. Some systems use additional techniques, but this is the essential mechanism for our intuition. The application may first retrieve documents or call tools.</a:t>
            </a:r>
          </a:p>
          <a:p xmlns:a="http://schemas.openxmlformats.org/drawingml/2006/main">
            <a:r>
              <a:t/>
            </a:r>
          </a:p>
          <a:p xmlns:a="http://schemas.openxmlformats.org/drawingml/2006/main">
            <a:r>
              <a:t>Ask: Is the model normally selecting one complete prewritten answer?</a:t>
            </a:r>
          </a:p>
          <a:p xmlns:a="http://schemas.openxmlformats.org/drawingml/2006/main">
            <a:r>
              <a:t/>
            </a:r>
          </a:p>
          <a:p xmlns:a="http://schemas.openxmlformats.org/drawingml/2006/main">
            <a:r>
              <a:t>Expected answer: No. It usually produces the sequence incrementally.</a:t>
            </a:r>
          </a:p>
          <a:p xmlns:a="http://schemas.openxmlformats.org/drawingml/2006/main">
            <a:r>
              <a:t/>
            </a:r>
          </a:p>
          <a:p xmlns:a="http://schemas.openxmlformats.org/drawingml/2006/main">
            <a:r>
              <a:t>If partly correct: Likely confusion: Three models agreeing is verification. I will clarify: Open the authoritative passage; repeated assertions do not supply an absent fee. Then return to this slide’s question: Is the model normally selecting one complete prewritten answer? A supported answer should establish: No. It usually produces the sequence incrementally.</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Predicting the next token.</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https://developers.google.com/machine-learning/crash-course/llm</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Why can a fluent answer vary, omit evidence or invent a fact?</a:t>
            </a:r>
          </a:p>
          <a:p xmlns:a="http://schemas.openxmlformats.org/drawingml/2006/main">
            <a:r>
              <a:t/>
            </a:r>
          </a:p>
          <a:p xmlns:a="http://schemas.openxmlformats.org/drawingml/2006/main">
            <a:r>
              <a:t>I will explain: Use an invented numerical example, not a real model result. Given the displayed prefix, several continuations receive probabilities. A plausible continuation can omit a legally necessary qualification. Probability concerns the continuation, not whether a legal proposition is true.</a:t>
            </a:r>
          </a:p>
          <a:p xmlns:a="http://schemas.openxmlformats.org/drawingml/2006/main">
            <a:r>
              <a:t/>
            </a:r>
          </a:p>
          <a:p xmlns:a="http://schemas.openxmlformats.org/drawingml/2006/main">
            <a:r>
              <a:t>Ask: Does 70% on this picture mean a 70% chance the legal advice is correct?</a:t>
            </a:r>
          </a:p>
          <a:p xmlns:a="http://schemas.openxmlformats.org/drawingml/2006/main">
            <a:r>
              <a:t/>
            </a:r>
          </a:p>
          <a:p xmlns:a="http://schemas.openxmlformats.org/drawingml/2006/main">
            <a:r>
              <a:t>Expected answer: No. It is an illustrative probability of a token continuation.</a:t>
            </a:r>
          </a:p>
          <a:p xmlns:a="http://schemas.openxmlformats.org/drawingml/2006/main">
            <a:r>
              <a:t/>
            </a:r>
          </a:p>
          <a:p xmlns:a="http://schemas.openxmlformats.org/drawingml/2006/main">
            <a:r>
              <a:t>If partly correct: Likely confusion: A 70% token score is 70% truth. I will clarify: The invented chart predicts a continuation, not the correctness of advice. Then return to this slide’s question: Does 70% on this picture mean a 70% chance the legal advice is correct? A supported answer should establish: No. It is an illustrative probability of a token continuation.</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The response grows one token at a time.</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https://developers.google.com/machine-learning/crash-course/llm</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3 native click reveals. Advance each stage and ask about the relationship it adds.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Why can a fluent answer vary, omit evidence or invent a fact?</a:t>
            </a:r>
          </a:p>
          <a:p xmlns:a="http://schemas.openxmlformats.org/drawingml/2006/main">
            <a:r>
              <a:t/>
            </a:r>
          </a:p>
          <a:p xmlns:a="http://schemas.openxmlformats.org/drawingml/2006/main">
            <a:r>
              <a:t>I will explain: Reveal the prefix, append a token, then show the new prefix feeding the next step. The generated answer becomes part of later context. A missing qualification can persist; the model does not automatically consult the signed contract unless the system supplies it.</a:t>
            </a:r>
          </a:p>
          <a:p xmlns:a="http://schemas.openxmlformats.org/drawingml/2006/main">
            <a:r>
              <a:t/>
            </a:r>
          </a:p>
          <a:p xmlns:a="http://schemas.openxmlformats.org/drawingml/2006/main">
            <a:r>
              <a:t>Ask: What additional evidence would this prefix need before answering our consent question?</a:t>
            </a:r>
          </a:p>
          <a:p xmlns:a="http://schemas.openxmlformats.org/drawingml/2006/main">
            <a:r>
              <a:t/>
            </a:r>
          </a:p>
          <a:p xmlns:a="http://schemas.openxmlformats.org/drawingml/2006/main">
            <a:r>
              <a:t>Expected answer: The current clause and the relevant transaction facts.</a:t>
            </a:r>
          </a:p>
          <a:p xmlns:a="http://schemas.openxmlformats.org/drawingml/2006/main">
            <a:r>
              <a:t/>
            </a:r>
          </a:p>
          <a:p xmlns:a="http://schemas.openxmlformats.org/drawingml/2006/main">
            <a:r>
              <a:t>If partly correct: Likely confusion: More context guarantees accuracy. I will clarify: Compare the complete source with the actual answer and inspect the missing-fee test. Then return to this slide’s question: What additional evidence would this prefix need before answering our consent question? A supported answer should establish: The current clause and the relevant transaction facts.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Selection and variation.</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https://developers.google.com/machine-learning/crash-course/llm</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4 native click reveals. Advance each stage and ask about the relationship it adds.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Why can a fluent answer vary, omit evidence or invent a fact?</a:t>
            </a:r>
          </a:p>
          <a:p xmlns:a="http://schemas.openxmlformats.org/drawingml/2006/main">
            <a:r>
              <a:t/>
            </a:r>
          </a:p>
          <a:p xmlns:a="http://schemas.openxmlformats.org/drawingml/2006/main">
            <a:r>
              <a:t>I will explain: Do not promise that a consumer interface exposes temperature or that zero makes every product deterministic. Run the same task three times in new chats with the same source, then compare meaning as well as wording. Identical responses are a valid observation.</a:t>
            </a:r>
          </a:p>
          <a:p xmlns:a="http://schemas.openxmlformats.org/drawingml/2006/main">
            <a:r>
              <a:t/>
            </a:r>
          </a:p>
          <a:p xmlns:a="http://schemas.openxmlformats.org/drawingml/2006/main">
            <a:r>
              <a:t>Ask: If three answers agree, have we verified the clause?</a:t>
            </a:r>
          </a:p>
          <a:p xmlns:a="http://schemas.openxmlformats.org/drawingml/2006/main">
            <a:r>
              <a:t/>
            </a:r>
          </a:p>
          <a:p xmlns:a="http://schemas.openxmlformats.org/drawingml/2006/main">
            <a:r>
              <a:t>Expected answer: No. Agreement is not comparison with the authoritative text.</a:t>
            </a:r>
          </a:p>
          <a:p xmlns:a="http://schemas.openxmlformats.org/drawingml/2006/main">
            <a:r>
              <a:t/>
            </a:r>
          </a:p>
          <a:p xmlns:a="http://schemas.openxmlformats.org/drawingml/2006/main">
            <a:r>
              <a:t>If partly correct: Likely confusion: Three models agreeing is verification. I will clarify: Open the authoritative passage; repeated assertions do not supply an absent fee. Then return to this slide’s question: If three answers agree, have we verified the clause? A supported answer should establish: No. Agreement is not comparison with the authoritative text.</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The context window.</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https://developers.google.com/machine-learning/crash-course/llm</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Why can a fluent answer vary, omit evidence or invent a fact?</a:t>
            </a:r>
          </a:p>
          <a:p xmlns:a="http://schemas.openxmlformats.org/drawingml/2006/main">
            <a:r>
              <a:t/>
            </a:r>
          </a:p>
          <a:p xmlns:a="http://schemas.openxmlformats.org/drawingml/2006/main">
            <a:r>
              <a:t>I will explain: The window limits the information processed in a request. Instructions, source text, conversation and generated content compete for capacity under product-specific rules. A product may truncate, summarise or retrieve selected parts. A file upload does not prove every page entered the active context.</a:t>
            </a:r>
          </a:p>
          <a:p xmlns:a="http://schemas.openxmlformats.org/drawingml/2006/main">
            <a:r>
              <a:t/>
            </a:r>
          </a:p>
          <a:p xmlns:a="http://schemas.openxmlformats.org/drawingml/2006/main">
            <a:r>
              <a:t>Ask: Can a file be available in the application but absent from the current answer context?</a:t>
            </a:r>
          </a:p>
          <a:p xmlns:a="http://schemas.openxmlformats.org/drawingml/2006/main">
            <a:r>
              <a:t/>
            </a:r>
          </a:p>
          <a:p xmlns:a="http://schemas.openxmlformats.org/drawingml/2006/main">
            <a:r>
              <a:t>Expected answer: Yes. File availability, retrieval and active context are different.</a:t>
            </a:r>
          </a:p>
          <a:p xmlns:a="http://schemas.openxmlformats.org/drawingml/2006/main">
            <a:r>
              <a:t/>
            </a:r>
          </a:p>
          <a:p xmlns:a="http://schemas.openxmlformats.org/drawingml/2006/main">
            <a:r>
              <a:t>If partly correct: Likely confusion: A 70% token score is 70% truth. I will clarify: The invented chart predicts a continuation, not the correctness of advice. Then return to this slide’s question: Can a file be available in the application but absent from the current answer context? A supported answer should establish: Yes. File availability, retrieval and active context are different.</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Context capacity and evidence use.</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https://developers.google.com/machine-learning/crash-course/llm</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3 native click reveals. Advance each stage and ask about the relationship it adds.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Why can a fluent answer vary, omit evidence or invent a fact?</a:t>
            </a:r>
          </a:p>
          <a:p xmlns:a="http://schemas.openxmlformats.org/drawingml/2006/main">
            <a:r>
              <a:t/>
            </a:r>
          </a:p>
          <a:p xmlns:a="http://schemas.openxmlformats.org/drawingml/2006/main">
            <a:r>
              <a:t>I will explain: Separate a hard capacity limit from imperfect use of content that fits. In the experiment use a long fictional agreement with a cross-reference, then compare the answer after supplying the relevant excerpt. Do not claim a predictable failure.</a:t>
            </a:r>
          </a:p>
          <a:p xmlns:a="http://schemas.openxmlformats.org/drawingml/2006/main">
            <a:r>
              <a:t/>
            </a:r>
          </a:p>
          <a:p xmlns:a="http://schemas.openxmlformats.org/drawingml/2006/main">
            <a:r>
              <a:t>Ask: Would a larger context window remove the need to check the exception?</a:t>
            </a:r>
          </a:p>
          <a:p xmlns:a="http://schemas.openxmlformats.org/drawingml/2006/main">
            <a:r>
              <a:t/>
            </a:r>
          </a:p>
          <a:p xmlns:a="http://schemas.openxmlformats.org/drawingml/2006/main">
            <a:r>
              <a:t>Expected answer: No. The model can misread or omit evidence that is present.</a:t>
            </a:r>
          </a:p>
          <a:p xmlns:a="http://schemas.openxmlformats.org/drawingml/2006/main">
            <a:r>
              <a:t/>
            </a:r>
          </a:p>
          <a:p xmlns:a="http://schemas.openxmlformats.org/drawingml/2006/main">
            <a:r>
              <a:t>If partly correct: Likely confusion: More context guarantees accuracy. I will clarify: Compare the complete source with the actual answer and inspect the missing-fee test. Then return to this slide’s question: Would a larger context window remove the need to check the exception? A supported answer should establish: No. The model can misread or omit evidence that is present.</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Attention connects relevant context.</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https://developers.google.com/machine-learning/crash-course/llm https://arxiv.org/abs/2307.03172</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Why can a fluent answer vary, omit evidence or invent a fact?</a:t>
            </a:r>
          </a:p>
          <a:p xmlns:a="http://schemas.openxmlformats.org/drawingml/2006/main">
            <a:r>
              <a:t/>
            </a:r>
          </a:p>
          <a:p xmlns:a="http://schemas.openxmlformats.org/drawingml/2006/main">
            <a:r>
              <a:t>I will explain: Attention computes input-dependent weights using learned transformations. It lets representations combine information from other permitted positions. The arcs and weights are invented to explain the operation, not an explanation of a measured model decision. They are not a legal reasoning trace.</a:t>
            </a:r>
          </a:p>
          <a:p xmlns:a="http://schemas.openxmlformats.org/drawingml/2006/main">
            <a:r>
              <a:t/>
            </a:r>
          </a:p>
          <a:p xmlns:a="http://schemas.openxmlformats.org/drawingml/2006/main">
            <a:r>
              <a:t>Ask: Why might the representation of charge change between a security clause and a criminal allegation?</a:t>
            </a:r>
          </a:p>
          <a:p xmlns:a="http://schemas.openxmlformats.org/drawingml/2006/main">
            <a:r>
              <a:t/>
            </a:r>
          </a:p>
          <a:p xmlns:a="http://schemas.openxmlformats.org/drawingml/2006/main">
            <a:r>
              <a:t>Expected answer: Its surrounding words differ, changing the contextual representation.</a:t>
            </a:r>
          </a:p>
          <a:p xmlns:a="http://schemas.openxmlformats.org/drawingml/2006/main">
            <a:r>
              <a:t/>
            </a:r>
          </a:p>
          <a:p xmlns:a="http://schemas.openxmlformats.org/drawingml/2006/main">
            <a:r>
              <a:t>If partly correct: Likely confusion: Three models agreeing is verification. I will clarify: Open the authoritative passage; repeated assertions do not supply an absent fee. Then return to this slide’s question: Why might the representation of charge change between a security clause and a criminal allegation? A supported answer should establish: Its surrounding words differ, changing the contextual representation.</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Hallucination.</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https://arxiv.org/abs/1706.03762</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3 native click reveals. Advance each stage and ask about the relationship it adds.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Why can a fluent answer vary, omit evidence or invent a fact?</a:t>
            </a:r>
          </a:p>
          <a:p xmlns:a="http://schemas.openxmlformats.org/drawingml/2006/main">
            <a:r>
              <a:t/>
            </a:r>
          </a:p>
          <a:p xmlns:a="http://schemas.openxmlformats.org/drawingml/2006/main">
            <a:r>
              <a:t>I will explain: Define the term before using it as a risk label. The generation objective alone does not require every proposition to be verified against an authoritative source. Missing sources, ambiguous instructions and reasoning failures can contribute. Avoid saying that all mistakes have a single cause.</a:t>
            </a:r>
          </a:p>
          <a:p xmlns:a="http://schemas.openxmlformats.org/drawingml/2006/main">
            <a:r>
              <a:t/>
            </a:r>
          </a:p>
          <a:p xmlns:a="http://schemas.openxmlformats.org/drawingml/2006/main">
            <a:r>
              <a:t>Ask: The model invents a signed fee. Which source would establish the amount?</a:t>
            </a:r>
          </a:p>
          <a:p xmlns:a="http://schemas.openxmlformats.org/drawingml/2006/main">
            <a:r>
              <a:t/>
            </a:r>
          </a:p>
          <a:p xmlns:a="http://schemas.openxmlformats.org/drawingml/2006/main">
            <a:r>
              <a:t>Expected answer: The signed fee schedule; the supplied extract does not establish it.</a:t>
            </a:r>
          </a:p>
          <a:p xmlns:a="http://schemas.openxmlformats.org/drawingml/2006/main">
            <a:r>
              <a:t/>
            </a:r>
          </a:p>
          <a:p xmlns:a="http://schemas.openxmlformats.org/drawingml/2006/main">
            <a:r>
              <a:t>If partly correct: Likely confusion: A 70% token score is 70% truth. I will clarify: The invented chart predicts a continuation, not the correctness of advice. Then return to this slide’s question: The model invents a signed fee. Which source would establish the amount? A supported answer should establish: The signed fee schedule; the supplied extract does not establish it.</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What improves the answer.</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https://nvlpubs.nist.gov/nistpubs/ai/NIST.AI.600-1.pdf</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Why can a fluent answer vary, omit evidence or invent a fact?</a:t>
            </a:r>
          </a:p>
          <a:p xmlns:a="http://schemas.openxmlformats.org/drawingml/2006/main">
            <a:r>
              <a:t/>
            </a:r>
          </a:p>
          <a:p xmlns:a="http://schemas.openxmlformats.org/drawingml/2006/main">
            <a:r>
              <a:t>I will explain: An explanation in chat is not a faithful transcript of internal reasoning. Ask for concise justification, source passages and verifiable calculations, not hidden chain-of-thought. A tool result is evidence only if the tool actually ran.</a:t>
            </a:r>
          </a:p>
          <a:p xmlns:a="http://schemas.openxmlformats.org/drawingml/2006/main">
            <a:r>
              <a:t/>
            </a:r>
          </a:p>
          <a:p xmlns:a="http://schemas.openxmlformats.org/drawingml/2006/main">
            <a:r>
              <a:t>Ask: Can a convincing explanation replace a missing source?</a:t>
            </a:r>
          </a:p>
          <a:p xmlns:a="http://schemas.openxmlformats.org/drawingml/2006/main">
            <a:r>
              <a:t/>
            </a:r>
          </a:p>
          <a:p xmlns:a="http://schemas.openxmlformats.org/drawingml/2006/main">
            <a:r>
              <a:t>Expected answer: No. Request the source or record the gap.</a:t>
            </a:r>
          </a:p>
          <a:p xmlns:a="http://schemas.openxmlformats.org/drawingml/2006/main">
            <a:r>
              <a:t/>
            </a:r>
          </a:p>
          <a:p xmlns:a="http://schemas.openxmlformats.org/drawingml/2006/main">
            <a:r>
              <a:t>If partly correct: Likely confusion: More context guarantees accuracy. I will clarify: Compare the complete source with the actual answer and inspect the missing-fee test. Then return to this slide’s question: Can a convincing explanation replace a missing source? A supported answer should establish: No. Request the source or record the gap.</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Text, images and documents.</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https://developers.google.com/machine-learning/crash-course/llm https://www.anthropic.com/research/building-effective-agents</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Why can a fluent answer vary, omit evidence or invent a fact?</a:t>
            </a:r>
          </a:p>
          <a:p xmlns:a="http://schemas.openxmlformats.org/drawingml/2006/main">
            <a:r>
              <a:t/>
            </a:r>
          </a:p>
          <a:p xmlns:a="http://schemas.openxmlformats.org/drawingml/2006/main">
            <a:r>
              <a:t>I will explain: Multimodal capability means processing more than one input modality. The product may use different components and tools. Session 5 tests actual extraction; image support does not guarantee faithful recovery of small legal text.</a:t>
            </a:r>
          </a:p>
          <a:p xmlns:a="http://schemas.openxmlformats.org/drawingml/2006/main">
            <a:r>
              <a:t/>
            </a:r>
          </a:p>
          <a:p xmlns:a="http://schemas.openxmlformats.org/drawingml/2006/main">
            <a:r>
              <a:t>Ask: Does seeing the page mean the assistant extracted every clause accurately?</a:t>
            </a:r>
          </a:p>
          <a:p xmlns:a="http://schemas.openxmlformats.org/drawingml/2006/main">
            <a:r>
              <a:t/>
            </a:r>
          </a:p>
          <a:p xmlns:a="http://schemas.openxmlformats.org/drawingml/2006/main">
            <a:r>
              <a:t>Expected answer: No. Compare output with the source.</a:t>
            </a:r>
          </a:p>
          <a:p xmlns:a="http://schemas.openxmlformats.org/drawingml/2006/main">
            <a:r>
              <a:t/>
            </a:r>
          </a:p>
          <a:p xmlns:a="http://schemas.openxmlformats.org/drawingml/2006/main">
            <a:r>
              <a:t>If partly correct: Likely confusion: Three models agreeing is verification. I will clarify: Open the authoritative passage; repeated assertions do not supply an absent fee. Then return to this slide’s question: Does seeing the page mean the assistant extracted every clause accurately? A supported answer should establish: No. Compare output with the source.</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Our three reliability experiments.</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https://developers.google.com/machine-learning/crash-course/llm https://learn.microsoft.com/en-us/azure/ai-services/document-intelligence/prebuilt/layout?view=doc-intel-4.0.0</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Why can a fluent answer vary, omit evidence or invent a fact?</a:t>
            </a:r>
          </a:p>
          <a:p xmlns:a="http://schemas.openxmlformats.org/drawingml/2006/main">
            <a:r>
              <a:t/>
            </a:r>
          </a:p>
          <a:p xmlns:a="http://schemas.openxmlformats.org/drawingml/2006/main">
            <a:r>
              <a:t>I will explain: Open Generation Experiments.txt. Predict the result, run, save and score. Separate observations from the mechanism illustration. A correct refusal is a success; do not manufacture a failure and label it observed.</a:t>
            </a:r>
          </a:p>
          <a:p xmlns:a="http://schemas.openxmlformats.org/drawingml/2006/main">
            <a:r>
              <a:t/>
            </a:r>
          </a:p>
          <a:p xmlns:a="http://schemas.openxmlformats.org/drawingml/2006/main">
            <a:r>
              <a:t>Ask: What would be a successful answer to the missing-fee question?</a:t>
            </a:r>
          </a:p>
          <a:p xmlns:a="http://schemas.openxmlformats.org/drawingml/2006/main">
            <a:r>
              <a:t/>
            </a:r>
          </a:p>
          <a:p xmlns:a="http://schemas.openxmlformats.org/drawingml/2006/main">
            <a:r>
              <a:t>Expected answer: The amount is not established; request the signed schedule.</a:t>
            </a:r>
          </a:p>
          <a:p xmlns:a="http://schemas.openxmlformats.org/drawingml/2006/main">
            <a:r>
              <a:t/>
            </a:r>
          </a:p>
          <a:p xmlns:a="http://schemas.openxmlformats.org/drawingml/2006/main">
            <a:r>
              <a:t>If partly correct: Likely confusion: A 70% token score is 70% truth. I will clarify: The invented chart predicts a continuation, not the correctness of advice. Then return to this slide’s question: What would be a successful answer to the missing-fee question? A supported answer should establish: The amount is not established; request the signed schedule.</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Model and workflow cost.</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Why can a fluent answer vary, omit evidence or invent a fact?</a:t>
            </a:r>
          </a:p>
          <a:p xmlns:a="http://schemas.openxmlformats.org/drawingml/2006/main">
            <a:r>
              <a:t/>
            </a:r>
          </a:p>
          <a:p xmlns:a="http://schemas.openxmlformats.org/drawingml/2006/main">
            <a:r>
              <a:t>I will explain: Use Cost and Effort Example.csv. The numeric rates are assumptions for an exercise, not current provider prices. The effective cost is cost per acceptable task, not the cheapest token rate.</a:t>
            </a:r>
          </a:p>
          <a:p xmlns:a="http://schemas.openxmlformats.org/drawingml/2006/main">
            <a:r>
              <a:t/>
            </a:r>
          </a:p>
          <a:p xmlns:a="http://schemas.openxmlformats.org/drawingml/2006/main">
            <a:r>
              <a:t>Ask: Could a cheaper model cost more per reviewed matter?</a:t>
            </a:r>
          </a:p>
          <a:p xmlns:a="http://schemas.openxmlformats.org/drawingml/2006/main">
            <a:r>
              <a:t/>
            </a:r>
          </a:p>
          <a:p xmlns:a="http://schemas.openxmlformats.org/drawingml/2006/main">
            <a:r>
              <a:t>Expected answer: Yes, if it needs more retries or correction.</a:t>
            </a:r>
          </a:p>
          <a:p xmlns:a="http://schemas.openxmlformats.org/drawingml/2006/main">
            <a:r>
              <a:t/>
            </a:r>
          </a:p>
          <a:p xmlns:a="http://schemas.openxmlformats.org/drawingml/2006/main">
            <a:r>
              <a:t>If partly correct: Likely confusion: More context guarantees accuracy. I will clarify: Compare the complete source with the actual answer and inspect the missing-fee test. Then return to this slide’s question: Could a cheaper model cost more per reviewed matter? A supported answer should establish: Yes, if it needs more retries or correction.</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Our in-class work.</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https://www.anthropic.com/research/building-effective-agents</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Why can a fluent answer vary, omit evidence or invent a fact?</a:t>
            </a:r>
          </a:p>
          <a:p xmlns:a="http://schemas.openxmlformats.org/drawingml/2006/main">
            <a:r>
              <a:t/>
            </a:r>
          </a:p>
          <a:p xmlns:a="http://schemas.openxmlformats.org/drawingml/2006/main">
            <a:r>
              <a:t>I will explain: Use the run-sheet. I demonstrate the first example; the learner predicts, chooses evidence and checks the changed example. Save actual outputs or mark the step unexecuted.</a:t>
            </a:r>
          </a:p>
          <a:p xmlns:a="http://schemas.openxmlformats.org/drawingml/2006/main">
            <a:r>
              <a:t/>
            </a:r>
          </a:p>
          <a:p xmlns:a="http://schemas.openxmlformats.org/drawingml/2006/main">
            <a:r>
              <a:t>Ask: Before we begin: Predict which parts of an answer might vary and run the same fictional-source task in three new chats.</a:t>
            </a:r>
          </a:p>
          <a:p xmlns:a="http://schemas.openxmlformats.org/drawingml/2006/main">
            <a:r>
              <a:t/>
            </a:r>
          </a:p>
          <a:p xmlns:a="http://schemas.openxmlformats.org/drawingml/2006/main">
            <a:r>
              <a:t>Expected answer: Generation selects tokens conditioned on context. Responses can vary. Matching answers still need evidence checks. A larger context or reasoning mode does not remove that need.</a:t>
            </a:r>
          </a:p>
          <a:p xmlns:a="http://schemas.openxmlformats.org/drawingml/2006/main">
            <a:r>
              <a:t/>
            </a:r>
          </a:p>
          <a:p xmlns:a="http://schemas.openxmlformats.org/drawingml/2006/main">
            <a:r>
              <a:t>If partly correct: Likely confusion: Three models agreeing is verification. I will clarify: Open the authoritative passage; repeated assertions do not supply an absent fee. Then return to this slide’s question: Before we begin: Predict which parts of an answer might vary and run the same fictional-source task in three new chats. A supported answer should establish: Generation selects tokens conditioned on context. Responses can vary. Matching answers still need evidence checks. A larger context or reasoning mode does not remove that need.</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What we can conclude.</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Why can a fluent answer vary, omit evidence or invent a fact?</a:t>
            </a:r>
          </a:p>
          <a:p xmlns:a="http://schemas.openxmlformats.org/drawingml/2006/main">
            <a:r>
              <a:t/>
            </a:r>
          </a:p>
          <a:p xmlns:a="http://schemas.openxmlformats.org/drawingml/2006/main">
            <a:r>
              <a:t>I will explain: Have the learner explain the conclusion before I summarise it. Compare the actual result with the model answer and preserve unresolved questions.</a:t>
            </a:r>
          </a:p>
          <a:p xmlns:a="http://schemas.openxmlformats.org/drawingml/2006/main">
            <a:r>
              <a:t/>
            </a:r>
          </a:p>
          <a:p xmlns:a="http://schemas.openxmlformats.org/drawingml/2006/main">
            <a:r>
              <a:t>Ask: Which part of today’s result remains unverified?</a:t>
            </a:r>
          </a:p>
          <a:p xmlns:a="http://schemas.openxmlformats.org/drawingml/2006/main">
            <a:r>
              <a:t/>
            </a:r>
          </a:p>
          <a:p xmlns:a="http://schemas.openxmlformats.org/drawingml/2006/main">
            <a:r>
              <a:t>Expected answer: The diagram uses invented probabilities; actual model behaviour and interface controls vary.</a:t>
            </a:r>
          </a:p>
          <a:p xmlns:a="http://schemas.openxmlformats.org/drawingml/2006/main">
            <a:r>
              <a:t/>
            </a:r>
          </a:p>
          <a:p xmlns:a="http://schemas.openxmlformats.org/drawingml/2006/main">
            <a:r>
              <a:t>If partly correct: Likely confusion: A 70% token score is 70% truth. I will clarify: The invented chart predicts a continuation, not the correctness of advice. Then return to this slide’s question: Which part of today’s result remains unverified? A supported answer should establish: The diagram uses invented probabilities; actual model behaviour and interface controls vary.</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The firm decision.</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Why can a fluent answer vary, omit evidence or invent a fact?</a:t>
            </a:r>
          </a:p>
          <a:p xmlns:a="http://schemas.openxmlformats.org/drawingml/2006/main">
            <a:r>
              <a:t/>
            </a:r>
          </a:p>
          <a:p xmlns:a="http://schemas.openxmlformats.org/drawingml/2006/main">
            <a:r>
              <a:t>I will explain: Record a proposed owner and one condition before proceeding. This is a class decision record, not firm authorisation.</a:t>
            </a:r>
          </a:p>
          <a:p xmlns:a="http://schemas.openxmlformats.org/drawingml/2006/main">
            <a:r>
              <a:t/>
            </a:r>
          </a:p>
          <a:p xmlns:a="http://schemas.openxmlformats.org/drawingml/2006/main">
            <a:r>
              <a:t>Ask: What evidence would change this proposed decision?</a:t>
            </a:r>
          </a:p>
          <a:p xmlns:a="http://schemas.openxmlformats.org/drawingml/2006/main">
            <a:r>
              <a:t/>
            </a:r>
          </a:p>
          <a:p xmlns:a="http://schemas.openxmlformats.org/drawingml/2006/main">
            <a:r>
              <a:t>Expected answer: Require source checking and measured review effort before relying on a workflow. Revisit if the evidence, quality or permitted scope changes.</a:t>
            </a:r>
          </a:p>
          <a:p xmlns:a="http://schemas.openxmlformats.org/drawingml/2006/main">
            <a:r>
              <a:t/>
            </a:r>
          </a:p>
          <a:p xmlns:a="http://schemas.openxmlformats.org/drawingml/2006/main">
            <a:r>
              <a:t>If partly correct: Likely confusion: More context guarantees accuracy. I will clarify: Compare the complete source with the actual answer and inspect the missing-fee test. Then return to this slide’s question: What evidence would change this proposed decision? A supported answer should establish: Require source checking and measured review effort before relying on a workflow. Revisit if the evidence, quality or permitted scope changes.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Check understanding.</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Why can a fluent answer vary, omit evidence or invent a fact?</a:t>
            </a:r>
          </a:p>
          <a:p xmlns:a="http://schemas.openxmlformats.org/drawingml/2006/main">
            <a:r>
              <a:t/>
            </a:r>
          </a:p>
          <a:p xmlns:a="http://schemas.openxmlformats.org/drawingml/2006/main">
            <a:r>
              <a:t>I will explain: Ask these changed-fact questions before opening the answer key. State the missing fee and request the source. Capacity is not faithful use. Compare the proposition with the authoritative text and facts.</a:t>
            </a:r>
          </a:p>
          <a:p xmlns:a="http://schemas.openxmlformats.org/drawingml/2006/main">
            <a:r>
              <a:t/>
            </a:r>
          </a:p>
          <a:p xmlns:a="http://schemas.openxmlformats.org/drawingml/2006/main">
            <a:r>
              <a:t>Ask: A new missing-source question</a:t>
            </a:r>
          </a:p>
          <a:p xmlns:a="http://schemas.openxmlformats.org/drawingml/2006/main">
            <a:r>
              <a:t/>
            </a:r>
          </a:p>
          <a:p xmlns:a="http://schemas.openxmlformats.org/drawingml/2006/main">
            <a:r>
              <a:t>Expected answer: State the missing fee and request the source. Capacity is not faithful use. Compare the proposition with the authoritative text and facts.</a:t>
            </a:r>
          </a:p>
          <a:p xmlns:a="http://schemas.openxmlformats.org/drawingml/2006/main">
            <a:r>
              <a:t/>
            </a:r>
          </a:p>
          <a:p xmlns:a="http://schemas.openxmlformats.org/drawingml/2006/main">
            <a:r>
              <a:t>If partly correct: Likely confusion: Three models agreeing is verification. I will clarify: Open the authoritative passage; repeated assertions do not supply an absent fee. Then return to this slide’s question: A new missing-source question A supported answer should establish: State the missing fee and request the source. Capacity is not faithful use. Compare the proposition with the authoritative text and facts.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Session 4: AI tools, effective instructions and safe use.</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bfe8d4c5550418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d0199823b924ed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8d084bb48bc470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88c456240cc4c8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0c643741da943d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819669546f4491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22530CE-F8FC-416B-87E3-5900F45F533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480CFB2-99DA-402A-87E4-8FDDF89AF6E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705154D-A11B-46D8-AD13-CFE9E635660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8AA0198-2DEF-470B-8BF3-0B7B7EBAEC3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2E8AC53-E00A-4072-B5B1-D59206A3FA6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EFACD8D-1419-4FA6-B1C0-752FF833741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84CD4CF-1E9B-408E-A36F-2AC17648E08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B3C8ED4-D4F8-4218-89B2-352503EAEA6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9D83552-1CD2-462F-B95D-8D20006DB7E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53A7D5C-6916-4194-920D-7808A8E8936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2e30fe46bbd45f6" /><Relationship Type="http://schemas.openxmlformats.org/officeDocument/2006/relationships/slideLayout" Target="/ppt/slideLayouts/slideLayout1.xml" Id="R5cf45ca1f91f42ed" /><Relationship Type="http://schemas.openxmlformats.org/officeDocument/2006/relationships/slideLayout" Target="/ppt/slideLayouts/slideLayout2.xml" Id="Ra6bec4e9c69d46b0" /><Relationship Type="http://schemas.openxmlformats.org/officeDocument/2006/relationships/slideLayout" Target="/ppt/slideLayouts/slideLayout3.xml" Id="R1ab523dab79e492a" /><Relationship Type="http://schemas.openxmlformats.org/officeDocument/2006/relationships/slideLayout" Target="/ppt/slideLayouts/slideLayout4.xml" Id="R7454256df15e4705" /><Relationship Type="http://schemas.openxmlformats.org/officeDocument/2006/relationships/slideLayout" Target="/ppt/slideLayouts/slideLayout5.xml" Id="R2ba95ddc56df4eda" /><Relationship Type="http://schemas.openxmlformats.org/officeDocument/2006/relationships/slideLayout" Target="/ppt/slideLayouts/slideLayout6.xml" Id="R9f91ce4fb4ad49c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f45ca1f91f42ed"/>
    <p:sldLayoutId xmlns:r="http://schemas.openxmlformats.org/officeDocument/2006/relationships" id="2147483650" r:id="Ra6bec4e9c69d46b0"/>
    <p:sldLayoutId xmlns:r="http://schemas.openxmlformats.org/officeDocument/2006/relationships" id="2147483651" r:id="R1ab523dab79e492a"/>
    <p:sldLayoutId xmlns:r="http://schemas.openxmlformats.org/officeDocument/2006/relationships" id="2147483652" r:id="R7454256df15e4705"/>
    <p:sldLayoutId xmlns:r="http://schemas.openxmlformats.org/officeDocument/2006/relationships" id="2147483653" r:id="R2ba95ddc56df4eda"/>
    <p:sldLayoutId xmlns:r="http://schemas.openxmlformats.org/officeDocument/2006/relationships" id="2147483654" r:id="R9f91ce4fb4ad49c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b34b41c2f264e08" /><Relationship Type="http://schemas.openxmlformats.org/officeDocument/2006/relationships/notesSlide" Target="/ppt/notesSlides/notesSlide1.xml" Id="R5fa4cc51eaf644f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8647d2437564e52" /><Relationship Type="http://schemas.openxmlformats.org/officeDocument/2006/relationships/notesSlide" Target="/ppt/notesSlides/notesSlide2.xml" Id="Rc19b3f3a2baf47e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e2d060a0e9a4f30" /><Relationship Type="http://schemas.openxmlformats.org/officeDocument/2006/relationships/notesSlide" Target="/ppt/notesSlides/notesSlide3.xml" Id="Rdbfebfacf1184d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aee1483504049e5" /><Relationship Type="http://schemas.openxmlformats.org/officeDocument/2006/relationships/notesSlide" Target="/ppt/notesSlides/notesSlide4.xml" Id="Rc0f164680619451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7d32842517f4f54" /><Relationship Type="http://schemas.openxmlformats.org/officeDocument/2006/relationships/notesSlide" Target="/ppt/notesSlides/notesSlide5.xml" Id="R892e2f49741d4eb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ac00d83c5a944be" /><Relationship Type="http://schemas.openxmlformats.org/officeDocument/2006/relationships/notesSlide" Target="/ppt/notesSlides/notesSlide6.xml" Id="R68a20ce40f5c4e5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156af9b4e0a4494" /><Relationship Type="http://schemas.openxmlformats.org/officeDocument/2006/relationships/notesSlide" Target="/ppt/notesSlides/notesSlide7.xml" Id="R8d92483e65b14c0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abe883390ca48d1" /><Relationship Type="http://schemas.openxmlformats.org/officeDocument/2006/relationships/notesSlide" Target="/ppt/notesSlides/notesSlide8.xml" Id="Ra0dd0de62be847e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d1415a75f834c24" /><Relationship Type="http://schemas.openxmlformats.org/officeDocument/2006/relationships/notesSlide" Target="/ppt/notesSlides/notesSlide9.xml" Id="R39dd0b89f4f3400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2d97a751b074d80" /><Relationship Type="http://schemas.openxmlformats.org/officeDocument/2006/relationships/notesSlide" Target="/ppt/notesSlides/notesSlide10.xml" Id="Rb692ca85d8b044c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d3bdac30dc148bc" /><Relationship Type="http://schemas.openxmlformats.org/officeDocument/2006/relationships/notesSlide" Target="/ppt/notesSlides/notesSlide11.xml" Id="Rbee934d2303c411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0bb5926122846db" /><Relationship Type="http://schemas.openxmlformats.org/officeDocument/2006/relationships/notesSlide" Target="/ppt/notesSlides/notesSlide12.xml" Id="R8c2c8384633e47a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ce91a1e1a2b42f3" /><Relationship Type="http://schemas.openxmlformats.org/officeDocument/2006/relationships/notesSlide" Target="/ppt/notesSlides/notesSlide13.xml" Id="R48b5e139a4ef439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6a53ee62a2543c9" /><Relationship Type="http://schemas.openxmlformats.org/officeDocument/2006/relationships/notesSlide" Target="/ppt/notesSlides/notesSlide14.xml" Id="R04028fedc1c54b0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a706f6f6c164d43" /><Relationship Type="http://schemas.openxmlformats.org/officeDocument/2006/relationships/notesSlide" Target="/ppt/notesSlides/notesSlide15.xml" Id="R36a8ebfab366446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184f747dc5c457b" /><Relationship Type="http://schemas.openxmlformats.org/officeDocument/2006/relationships/notesSlide" Target="/ppt/notesSlides/notesSlide16.xml" Id="R5adb87dedf91497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94c5340736c44ca" /><Relationship Type="http://schemas.openxmlformats.org/officeDocument/2006/relationships/notesSlide" Target="/ppt/notesSlides/notesSlide17.xml" Id="Rf365013a37db440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80aad6aceea4c5e" /><Relationship Type="http://schemas.openxmlformats.org/officeDocument/2006/relationships/notesSlide" Target="/ppt/notesSlides/notesSlide18.xml" Id="R74f2b2e5d814465e" /></Relationships>
</file>

<file path=ppt/slides/slide1.xml><?xml version="1.0" encoding="utf-8"?>
<p:sld xmlns:a="http://schemas.openxmlformats.org/drawingml/2006/main" xmlns:ns2="http://schemas.microsoft.com/office/drawing/2014/main" xmlns:ns3="http://schemas.microsoft.com/office/powerpoint/2010/main" xmlns:p="http://schemas.openxmlformats.org/presentationml/2006/main">
  <p:cSld name="How language models generate answers and fail">
    <p:bg>
      <p:bgPr>
        <a:solidFill>
          <a:srgbClr val="1C3144"/>
        </a:solidFill>
      </p:bgPr>
    </p:bg>
    <p:spTree>
      <p:nvGrpSpPr>
        <p:cNvPr id="1" name=""/>
        <p:cNvGrpSpPr/>
        <p:nvPr/>
      </p:nvGrpSpPr>
      <p:grpSpPr>
        <a:xfrm/>
      </p:grpSpPr>
      <p:sp>
        <p:nvSpPr>
          <p:cNvPr id="5" name="text-1">
            <a:extLst>
              <a:ext uri="{FF2B5EF4-FFF2-40B4-BE49-F238E27FC236}">
                <ns2:creationId id="{86DD55B4-7654-483D-8FAD-EE3E497F7A89}"/>
              </a:ext>
            </a:extLst>
          </p:cNvPr>
          <p:cNvSpPr>
            <a:spLocks noGrp="1"/>
          </p:cNvSpPr>
          <p:nvPr/>
        </p:nvSpPr>
        <p:spPr>
          <a:xfrm>
            <a:off x="619125" y="590550"/>
            <a:ext cx="10477500" cy="428625"/>
          </a:xfrm>
          <a:prstGeom prst="rect">
            <a:avLst/>
          </a:prstGeom>
          <a:noFill/>
          <a:ln w="0">
            <a:noFill/>
          </a:ln>
        </p:spPr>
        <p:txBody>
          <a:bodyPr>
            <a:noAutofit/>
          </a:bodyPr>
          <a:lstStyle>
            <a:defPPr>
              <a:defRPr sz="1950" b="1">
                <a:solidFill>
                  <a:srgbClr val="F3A087"/>
                </a:solidFill>
                <a:latin typeface="Calibri"/>
                <a:ea typeface="Calibri"/>
                <a:cs typeface="Calibri"/>
              </a:defRPr>
            </a:defPPr>
            <a:lvl1pPr>
              <a:defRPr sz="1950" b="1">
                <a:solidFill>
                  <a:srgbClr val="F3A087"/>
                </a:solidFill>
                <a:latin typeface="Calibri"/>
                <a:ea typeface="Calibri"/>
                <a:cs typeface="Calibri"/>
              </a:defRPr>
            </a:lvl1pPr>
            <a:lvl2pPr>
              <a:defRPr sz="1950" b="1">
                <a:solidFill>
                  <a:srgbClr val="F3A087"/>
                </a:solidFill>
                <a:latin typeface="Calibri"/>
                <a:ea typeface="Calibri"/>
                <a:cs typeface="Calibri"/>
              </a:defRPr>
            </a:lvl2pPr>
            <a:lvl3pPr>
              <a:defRPr sz="1950" b="1">
                <a:solidFill>
                  <a:srgbClr val="F3A087"/>
                </a:solidFill>
                <a:latin typeface="Calibri"/>
                <a:ea typeface="Calibri"/>
                <a:cs typeface="Calibri"/>
              </a:defRPr>
            </a:lvl3pPr>
            <a:lvl4pPr>
              <a:defRPr sz="1950" b="1">
                <a:solidFill>
                  <a:srgbClr val="F3A087"/>
                </a:solidFill>
                <a:latin typeface="Calibri"/>
                <a:ea typeface="Calibri"/>
                <a:cs typeface="Calibri"/>
              </a:defRPr>
            </a:lvl4pPr>
            <a:lvl5pPr>
              <a:defRPr sz="1950" b="1">
                <a:solidFill>
                  <a:srgbClr val="F3A087"/>
                </a:solidFill>
                <a:latin typeface="Calibri"/>
                <a:ea typeface="Calibri"/>
                <a:cs typeface="Calibri"/>
              </a:defRPr>
            </a:lvl5pPr>
            <a:lvl6pPr>
              <a:defRPr sz="1950" b="1">
                <a:solidFill>
                  <a:srgbClr val="F3A087"/>
                </a:solidFill>
                <a:latin typeface="Calibri"/>
                <a:ea typeface="Calibri"/>
                <a:cs typeface="Calibri"/>
              </a:defRPr>
            </a:lvl6pPr>
            <a:lvl7pPr>
              <a:defRPr sz="1950" b="1">
                <a:solidFill>
                  <a:srgbClr val="F3A087"/>
                </a:solidFill>
                <a:latin typeface="Calibri"/>
                <a:ea typeface="Calibri"/>
                <a:cs typeface="Calibri"/>
              </a:defRPr>
            </a:lvl7pPr>
            <a:lvl8pPr>
              <a:defRPr sz="1950" b="1">
                <a:solidFill>
                  <a:srgbClr val="F3A087"/>
                </a:solidFill>
                <a:latin typeface="Calibri"/>
                <a:ea typeface="Calibri"/>
                <a:cs typeface="Calibri"/>
              </a:defRPr>
            </a:lvl8pPr>
            <a:lvl9pPr>
              <a:defRPr sz="1950" b="1">
                <a:solidFill>
                  <a:srgbClr val="F3A087"/>
                </a:solidFill>
                <a:latin typeface="Calibri"/>
                <a:ea typeface="Calibri"/>
                <a:cs typeface="Calibri"/>
              </a:defRPr>
            </a:lvl9pPr>
          </a:lstStyle>
          <a:p>
            <a:pPr>
              <a:defRPr sz="1950" b="1">
                <a:solidFill>
                  <a:srgbClr val="F3A087"/>
                </a:solidFill>
                <a:latin typeface="Calibri"/>
                <a:ea typeface="Calibri"/>
                <a:cs typeface="Calibri"/>
              </a:defRPr>
            </a:pPr>
            <a:r>
              <a:rPr sz="1950" b="1">
                <a:solidFill>
                  <a:srgbClr val="F3A087"/>
                </a:solidFill>
                <a:latin typeface="Calibri"/>
                <a:ea typeface="Calibri"/>
                <a:cs typeface="Calibri"/>
              </a:rPr>
              <a:t>SESSION 03</a:t>
            </a:r>
          </a:p>
        </p:txBody>
      </p:sp>
      <p:sp>
        <p:nvSpPr>
          <p:cNvPr id="2" name="text-2">
            <a:extLst>
              <a:ext uri="{FF2B5EF4-FFF2-40B4-BE49-F238E27FC236}">
                <ns2:creationId id="{948D961F-3026-407B-A7FC-EFEE275FF7A2}"/>
              </a:ext>
            </a:extLst>
          </p:cNvPr>
          <p:cNvSpPr>
            <a:spLocks noGrp="1"/>
          </p:cNvSpPr>
          <p:nvPr>
            <p:ph type="title"/>
          </p:nvPr>
        </p:nvSpPr>
        <p:spPr>
          <a:xfrm>
            <a:off x="619125" y="1676400"/>
            <a:ext cx="10620375" cy="1905000"/>
          </a:xfrm>
          <a:prstGeom prst="rect">
            <a:avLst/>
          </a:prstGeom>
          <a:noFill/>
          <a:ln w="0">
            <a:noFill/>
          </a:ln>
        </p:spPr>
        <p:txBody>
          <a:bodyPr>
            <a:noAutofit/>
          </a:bodyPr>
          <a:lstStyle>
            <a:defPPr>
              <a:defRPr sz="4200" b="1">
                <a:solidFill>
                  <a:srgbClr val="FFFFFF"/>
                </a:solidFill>
                <a:latin typeface="Calibri"/>
                <a:ea typeface="Calibri"/>
                <a:cs typeface="Calibri"/>
              </a:defRPr>
            </a:defPPr>
            <a:lvl1pPr>
              <a:defRPr sz="4200" b="1">
                <a:solidFill>
                  <a:srgbClr val="FFFFFF"/>
                </a:solidFill>
                <a:latin typeface="Calibri"/>
                <a:ea typeface="Calibri"/>
                <a:cs typeface="Calibri"/>
              </a:defRPr>
            </a:lvl1pPr>
            <a:lvl2pPr>
              <a:defRPr sz="4200" b="1">
                <a:solidFill>
                  <a:srgbClr val="FFFFFF"/>
                </a:solidFill>
                <a:latin typeface="Calibri"/>
                <a:ea typeface="Calibri"/>
                <a:cs typeface="Calibri"/>
              </a:defRPr>
            </a:lvl2pPr>
            <a:lvl3pPr>
              <a:defRPr sz="4200" b="1">
                <a:solidFill>
                  <a:srgbClr val="FFFFFF"/>
                </a:solidFill>
                <a:latin typeface="Calibri"/>
                <a:ea typeface="Calibri"/>
                <a:cs typeface="Calibri"/>
              </a:defRPr>
            </a:lvl3pPr>
            <a:lvl4pPr>
              <a:defRPr sz="4200" b="1">
                <a:solidFill>
                  <a:srgbClr val="FFFFFF"/>
                </a:solidFill>
                <a:latin typeface="Calibri"/>
                <a:ea typeface="Calibri"/>
                <a:cs typeface="Calibri"/>
              </a:defRPr>
            </a:lvl4pPr>
            <a:lvl5pPr>
              <a:defRPr sz="4200" b="1">
                <a:solidFill>
                  <a:srgbClr val="FFFFFF"/>
                </a:solidFill>
                <a:latin typeface="Calibri"/>
                <a:ea typeface="Calibri"/>
                <a:cs typeface="Calibri"/>
              </a:defRPr>
            </a:lvl5pPr>
            <a:lvl6pPr>
              <a:defRPr sz="4200" b="1">
                <a:solidFill>
                  <a:srgbClr val="FFFFFF"/>
                </a:solidFill>
                <a:latin typeface="Calibri"/>
                <a:ea typeface="Calibri"/>
                <a:cs typeface="Calibri"/>
              </a:defRPr>
            </a:lvl6pPr>
            <a:lvl7pPr>
              <a:defRPr sz="4200" b="1">
                <a:solidFill>
                  <a:srgbClr val="FFFFFF"/>
                </a:solidFill>
                <a:latin typeface="Calibri"/>
                <a:ea typeface="Calibri"/>
                <a:cs typeface="Calibri"/>
              </a:defRPr>
            </a:lvl7pPr>
            <a:lvl8pPr>
              <a:defRPr sz="4200" b="1">
                <a:solidFill>
                  <a:srgbClr val="FFFFFF"/>
                </a:solidFill>
                <a:latin typeface="Calibri"/>
                <a:ea typeface="Calibri"/>
                <a:cs typeface="Calibri"/>
              </a:defRPr>
            </a:lvl8pPr>
            <a:lvl9pPr>
              <a:defRPr sz="4200" b="1">
                <a:solidFill>
                  <a:srgbClr val="FFFFFF"/>
                </a:solidFill>
                <a:latin typeface="Calibri"/>
                <a:ea typeface="Calibri"/>
                <a:cs typeface="Calibri"/>
              </a:defRPr>
            </a:lvl9pPr>
          </a:lstStyle>
          <a:p>
            <a:pPr>
              <a:defRPr sz="4200" b="1">
                <a:solidFill>
                  <a:srgbClr val="FFFFFF"/>
                </a:solidFill>
                <a:latin typeface="Calibri"/>
                <a:ea typeface="Calibri"/>
                <a:cs typeface="Calibri"/>
              </a:defRPr>
            </a:pPr>
            <a:r>
              <a:rPr sz="4200" b="1">
                <a:solidFill>
                  <a:srgbClr val="FFFFFF"/>
                </a:solidFill>
                <a:latin typeface="Calibri"/>
                <a:ea typeface="Calibri"/>
                <a:cs typeface="Calibri"/>
              </a:rPr>
              <a:t>How language models generate answers and fail</a:t>
            </a:r>
          </a:p>
        </p:txBody>
      </p:sp>
      <p:sp>
        <p:nvSpPr>
          <p:cNvPr id="3" name="text-3">
            <a:extLst>
              <a:ext uri="{FF2B5EF4-FFF2-40B4-BE49-F238E27FC236}">
                <ns2:creationId id="{83C27C4F-F607-47D6-9711-F97C993F5414}"/>
              </a:ext>
            </a:extLst>
          </p:cNvPr>
          <p:cNvSpPr>
            <a:spLocks noGrp="1"/>
          </p:cNvSpPr>
          <p:nvPr/>
        </p:nvSpPr>
        <p:spPr>
          <a:xfrm>
            <a:off x="619125" y="4095750"/>
            <a:ext cx="10382250" cy="1143000"/>
          </a:xfrm>
          <a:prstGeom prst="rect">
            <a:avLst/>
          </a:prstGeom>
          <a:noFill/>
          <a:ln w="0">
            <a:noFill/>
          </a:ln>
        </p:spPr>
        <p:txBody>
          <a:bodyPr>
            <a:noAutofit/>
          </a:bodyPr>
          <a:lstStyle>
            <a:defPPr>
              <a:defRPr sz="2400" b="0">
                <a:solidFill>
                  <a:srgbClr val="DCE8E6"/>
                </a:solidFill>
                <a:latin typeface="Calibri"/>
                <a:ea typeface="Calibri"/>
                <a:cs typeface="Calibri"/>
              </a:defRPr>
            </a:defPPr>
            <a:lvl1pPr>
              <a:defRPr sz="2400" b="0">
                <a:solidFill>
                  <a:srgbClr val="DCE8E6"/>
                </a:solidFill>
                <a:latin typeface="Calibri"/>
                <a:ea typeface="Calibri"/>
                <a:cs typeface="Calibri"/>
              </a:defRPr>
            </a:lvl1pPr>
            <a:lvl2pPr>
              <a:defRPr sz="2400" b="0">
                <a:solidFill>
                  <a:srgbClr val="DCE8E6"/>
                </a:solidFill>
                <a:latin typeface="Calibri"/>
                <a:ea typeface="Calibri"/>
                <a:cs typeface="Calibri"/>
              </a:defRPr>
            </a:lvl2pPr>
            <a:lvl3pPr>
              <a:defRPr sz="2400" b="0">
                <a:solidFill>
                  <a:srgbClr val="DCE8E6"/>
                </a:solidFill>
                <a:latin typeface="Calibri"/>
                <a:ea typeface="Calibri"/>
                <a:cs typeface="Calibri"/>
              </a:defRPr>
            </a:lvl3pPr>
            <a:lvl4pPr>
              <a:defRPr sz="2400" b="0">
                <a:solidFill>
                  <a:srgbClr val="DCE8E6"/>
                </a:solidFill>
                <a:latin typeface="Calibri"/>
                <a:ea typeface="Calibri"/>
                <a:cs typeface="Calibri"/>
              </a:defRPr>
            </a:lvl4pPr>
            <a:lvl5pPr>
              <a:defRPr sz="2400" b="0">
                <a:solidFill>
                  <a:srgbClr val="DCE8E6"/>
                </a:solidFill>
                <a:latin typeface="Calibri"/>
                <a:ea typeface="Calibri"/>
                <a:cs typeface="Calibri"/>
              </a:defRPr>
            </a:lvl5pPr>
            <a:lvl6pPr>
              <a:defRPr sz="2400" b="0">
                <a:solidFill>
                  <a:srgbClr val="DCE8E6"/>
                </a:solidFill>
                <a:latin typeface="Calibri"/>
                <a:ea typeface="Calibri"/>
                <a:cs typeface="Calibri"/>
              </a:defRPr>
            </a:lvl6pPr>
            <a:lvl7pPr>
              <a:defRPr sz="2400" b="0">
                <a:solidFill>
                  <a:srgbClr val="DCE8E6"/>
                </a:solidFill>
                <a:latin typeface="Calibri"/>
                <a:ea typeface="Calibri"/>
                <a:cs typeface="Calibri"/>
              </a:defRPr>
            </a:lvl7pPr>
            <a:lvl8pPr>
              <a:defRPr sz="2400" b="0">
                <a:solidFill>
                  <a:srgbClr val="DCE8E6"/>
                </a:solidFill>
                <a:latin typeface="Calibri"/>
                <a:ea typeface="Calibri"/>
                <a:cs typeface="Calibri"/>
              </a:defRPr>
            </a:lvl8pPr>
            <a:lvl9pPr>
              <a:defRPr sz="2400" b="0">
                <a:solidFill>
                  <a:srgbClr val="DCE8E6"/>
                </a:solidFill>
                <a:latin typeface="Calibri"/>
                <a:ea typeface="Calibri"/>
                <a:cs typeface="Calibri"/>
              </a:defRPr>
            </a:lvl9pPr>
          </a:lstStyle>
          <a:p>
            <a:pPr>
              <a:defRPr sz="2400" b="0">
                <a:solidFill>
                  <a:srgbClr val="DCE8E6"/>
                </a:solidFill>
                <a:latin typeface="Calibri"/>
                <a:ea typeface="Calibri"/>
                <a:cs typeface="Calibri"/>
              </a:defRPr>
            </a:pPr>
            <a:r>
              <a:rPr sz="2400" b="0">
                <a:solidFill>
                  <a:srgbClr val="DCE8E6"/>
                </a:solidFill>
                <a:latin typeface="Calibri"/>
                <a:ea typeface="Calibri"/>
                <a:cs typeface="Calibri"/>
              </a:rPr>
              <a:t>Why can a fluent answer vary, omit evidence or invent a fact?</a:t>
            </a:r>
          </a:p>
        </p:txBody>
      </p:sp>
      <p:sp>
        <p:nvSpPr>
          <p:cNvPr id="4" name="text-4">
            <a:extLst>
              <a:ext uri="{FF2B5EF4-FFF2-40B4-BE49-F238E27FC236}">
                <ns2:creationId id="{82A19873-1C2A-4A78-8000-900F2AD0C386}"/>
              </a:ext>
            </a:extLst>
          </p:cNvPr>
          <p:cNvSpPr>
            <a:spLocks noGrp="1"/>
          </p:cNvSpPr>
          <p:nvPr/>
        </p:nvSpPr>
        <p:spPr>
          <a:xfrm>
            <a:off x="619125" y="6010275"/>
            <a:ext cx="10668000" cy="400050"/>
          </a:xfrm>
          <a:prstGeom prst="rect">
            <a:avLst/>
          </a:prstGeom>
          <a:noFill/>
          <a:ln w="0">
            <a:noFill/>
          </a:ln>
        </p:spPr>
        <p:txBody>
          <a:bodyPr>
            <a:noAutofit/>
          </a:bodyPr>
          <a:lstStyle>
            <a:defPPr>
              <a:defRPr sz="1800" b="0">
                <a:solidFill>
                  <a:srgbClr val="DCE8E6"/>
                </a:solidFill>
                <a:latin typeface="Calibri"/>
                <a:ea typeface="Calibri"/>
                <a:cs typeface="Calibri"/>
              </a:defRPr>
            </a:defPPr>
            <a:lvl1pPr>
              <a:defRPr sz="1800" b="0">
                <a:solidFill>
                  <a:srgbClr val="DCE8E6"/>
                </a:solidFill>
                <a:latin typeface="Calibri"/>
                <a:ea typeface="Calibri"/>
                <a:cs typeface="Calibri"/>
              </a:defRPr>
            </a:lvl1pPr>
            <a:lvl2pPr>
              <a:defRPr sz="1800" b="0">
                <a:solidFill>
                  <a:srgbClr val="DCE8E6"/>
                </a:solidFill>
                <a:latin typeface="Calibri"/>
                <a:ea typeface="Calibri"/>
                <a:cs typeface="Calibri"/>
              </a:defRPr>
            </a:lvl2pPr>
            <a:lvl3pPr>
              <a:defRPr sz="1800" b="0">
                <a:solidFill>
                  <a:srgbClr val="DCE8E6"/>
                </a:solidFill>
                <a:latin typeface="Calibri"/>
                <a:ea typeface="Calibri"/>
                <a:cs typeface="Calibri"/>
              </a:defRPr>
            </a:lvl3pPr>
            <a:lvl4pPr>
              <a:defRPr sz="1800" b="0">
                <a:solidFill>
                  <a:srgbClr val="DCE8E6"/>
                </a:solidFill>
                <a:latin typeface="Calibri"/>
                <a:ea typeface="Calibri"/>
                <a:cs typeface="Calibri"/>
              </a:defRPr>
            </a:lvl4pPr>
            <a:lvl5pPr>
              <a:defRPr sz="1800" b="0">
                <a:solidFill>
                  <a:srgbClr val="DCE8E6"/>
                </a:solidFill>
                <a:latin typeface="Calibri"/>
                <a:ea typeface="Calibri"/>
                <a:cs typeface="Calibri"/>
              </a:defRPr>
            </a:lvl5pPr>
            <a:lvl6pPr>
              <a:defRPr sz="1800" b="0">
                <a:solidFill>
                  <a:srgbClr val="DCE8E6"/>
                </a:solidFill>
                <a:latin typeface="Calibri"/>
                <a:ea typeface="Calibri"/>
                <a:cs typeface="Calibri"/>
              </a:defRPr>
            </a:lvl6pPr>
            <a:lvl7pPr>
              <a:defRPr sz="1800" b="0">
                <a:solidFill>
                  <a:srgbClr val="DCE8E6"/>
                </a:solidFill>
                <a:latin typeface="Calibri"/>
                <a:ea typeface="Calibri"/>
                <a:cs typeface="Calibri"/>
              </a:defRPr>
            </a:lvl7pPr>
            <a:lvl8pPr>
              <a:defRPr sz="1800" b="0">
                <a:solidFill>
                  <a:srgbClr val="DCE8E6"/>
                </a:solidFill>
                <a:latin typeface="Calibri"/>
                <a:ea typeface="Calibri"/>
                <a:cs typeface="Calibri"/>
              </a:defRPr>
            </a:lvl8pPr>
            <a:lvl9pPr>
              <a:defRPr sz="1800" b="0">
                <a:solidFill>
                  <a:srgbClr val="DCE8E6"/>
                </a:solidFill>
                <a:latin typeface="Calibri"/>
                <a:ea typeface="Calibri"/>
                <a:cs typeface="Calibri"/>
              </a:defRPr>
            </a:lvl9pPr>
          </a:lstStyle>
          <a:p>
            <a:pPr>
              <a:defRPr sz="1800" b="0">
                <a:solidFill>
                  <a:srgbClr val="DCE8E6"/>
                </a:solidFill>
                <a:latin typeface="Calibri"/>
                <a:ea typeface="Calibri"/>
                <a:cs typeface="Calibri"/>
              </a:defRPr>
            </a:pPr>
            <a:r>
              <a:rPr sz="1800" b="0">
                <a:solidFill>
                  <a:srgbClr val="DCE8E6"/>
                </a:solidFill>
                <a:latin typeface="Calibri"/>
                <a:ea typeface="Calibri"/>
                <a:cs typeface="Calibri"/>
              </a:rPr>
              <a:t>Jotham Martin Wambi   KLAi Professional Learning</a:t>
            </a:r>
          </a:p>
        </p:txBody>
      </p:sp>
    </p:spTree>
    <p:extLst>
      <p:ext uri="{BB962C8B-B14F-4D97-AF65-F5344CB8AC3E}">
        <ns3:creationId val="2029630320"/>
      </p:ext>
    </p:extLst>
  </p:cSld>
  <p:transition spd="med" advClick="1">
    <p:fade/>
  </p:transition>
</p:sld>
</file>

<file path=ppt/slides/slide2.xml><?xml version="1.0" encoding="utf-8"?>
<p:sld xmlns:a="http://schemas.openxmlformats.org/drawingml/2006/main" xmlns:ns2="http://schemas.microsoft.com/office/drawing/2014/main" xmlns:ns3="http://schemas.microsoft.com/office/powerpoint/2010/main" xmlns:p="http://schemas.openxmlformats.org/presentationml/2006/main">
  <p:cSld name="Recall training and inference">
    <p:bg>
      <p:bgPr>
        <a:solidFill>
          <a:srgbClr val="FFFFFF"/>
        </a:solidFill>
      </p:bgPr>
    </p:bg>
    <p:spTree>
      <p:nvGrpSpPr>
        <p:cNvPr id="1" name=""/>
        <p:cNvGrpSpPr/>
        <p:nvPr/>
      </p:nvGrpSpPr>
      <p:grpSpPr>
        <a:xfrm/>
      </p:grpSpPr>
      <p:sp>
        <p:nvSpPr>
          <p:cNvPr id="9" name="text-5">
            <a:extLst>
              <a:ext uri="{FF2B5EF4-FFF2-40B4-BE49-F238E27FC236}">
                <ns2:creationId id="{2168DE6B-2DD1-4ADB-9F97-05AB4EBB65A0}"/>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03</a:t>
            </a:r>
          </a:p>
        </p:txBody>
      </p:sp>
      <p:sp>
        <p:nvSpPr>
          <p:cNvPr id="2" name="text-6">
            <a:extLst>
              <a:ext uri="{FF2B5EF4-FFF2-40B4-BE49-F238E27FC236}">
                <ns2:creationId id="{CF6964E5-0DF1-4559-B425-628279DFBD5A}"/>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Recall training and inference</a:t>
            </a:r>
          </a:p>
        </p:txBody>
      </p:sp>
      <p:sp>
        <p:nvSpPr>
          <p:cNvPr id="4" name="text-8">
            <a:extLst>
              <a:ext uri="{FF2B5EF4-FFF2-40B4-BE49-F238E27FC236}">
                <ns2:creationId id="{AB4E7B29-CAA6-4F91-868A-0485E10A04BD}"/>
              </a:ext>
            </a:extLst>
          </p:cNvPr>
          <p:cNvSpPr>
            <a:spLocks noGrp="1"/>
          </p:cNvSpPr>
          <p:nvPr/>
        </p:nvSpPr>
        <p:spPr>
          <a:xfrm>
            <a:off x="619125" y="2000250"/>
            <a:ext cx="10858500" cy="342900"/>
          </a:xfrm>
          <a:prstGeom prst="rect">
            <a:avLst/>
          </a:prstGeom>
          <a:noFill/>
          <a:ln w="0">
            <a:noFill/>
          </a:ln>
        </p:spPr>
        <p:txBody>
          <a:bodyPr>
            <a:noAutofit/>
          </a:bodyPr>
          <a:lstStyle>
            <a:defPPr>
              <a:defRPr sz="1800" b="1">
                <a:solidFill>
                  <a:srgbClr val="C94E29"/>
                </a:solidFill>
                <a:latin typeface="Calibri"/>
                <a:ea typeface="Calibri"/>
                <a:cs typeface="Calibri"/>
              </a:defRPr>
            </a:defPPr>
            <a:lvl1pPr>
              <a:defRPr sz="1800" b="1">
                <a:solidFill>
                  <a:srgbClr val="C94E29"/>
                </a:solidFill>
                <a:latin typeface="Calibri"/>
                <a:ea typeface="Calibri"/>
                <a:cs typeface="Calibri"/>
              </a:defRPr>
            </a:lvl1pPr>
            <a:lvl2pPr>
              <a:defRPr sz="1800" b="1">
                <a:solidFill>
                  <a:srgbClr val="C94E29"/>
                </a:solidFill>
                <a:latin typeface="Calibri"/>
                <a:ea typeface="Calibri"/>
                <a:cs typeface="Calibri"/>
              </a:defRPr>
            </a:lvl2pPr>
            <a:lvl3pPr>
              <a:defRPr sz="1800" b="1">
                <a:solidFill>
                  <a:srgbClr val="C94E29"/>
                </a:solidFill>
                <a:latin typeface="Calibri"/>
                <a:ea typeface="Calibri"/>
                <a:cs typeface="Calibri"/>
              </a:defRPr>
            </a:lvl3pPr>
            <a:lvl4pPr>
              <a:defRPr sz="1800" b="1">
                <a:solidFill>
                  <a:srgbClr val="C94E29"/>
                </a:solidFill>
                <a:latin typeface="Calibri"/>
                <a:ea typeface="Calibri"/>
                <a:cs typeface="Calibri"/>
              </a:defRPr>
            </a:lvl4pPr>
            <a:lvl5pPr>
              <a:defRPr sz="1800" b="1">
                <a:solidFill>
                  <a:srgbClr val="C94E29"/>
                </a:solidFill>
                <a:latin typeface="Calibri"/>
                <a:ea typeface="Calibri"/>
                <a:cs typeface="Calibri"/>
              </a:defRPr>
            </a:lvl5pPr>
            <a:lvl6pPr>
              <a:defRPr sz="1800" b="1">
                <a:solidFill>
                  <a:srgbClr val="C94E29"/>
                </a:solidFill>
                <a:latin typeface="Calibri"/>
                <a:ea typeface="Calibri"/>
                <a:cs typeface="Calibri"/>
              </a:defRPr>
            </a:lvl6pPr>
            <a:lvl7pPr>
              <a:defRPr sz="1800" b="1">
                <a:solidFill>
                  <a:srgbClr val="C94E29"/>
                </a:solidFill>
                <a:latin typeface="Calibri"/>
                <a:ea typeface="Calibri"/>
                <a:cs typeface="Calibri"/>
              </a:defRPr>
            </a:lvl7pPr>
            <a:lvl8pPr>
              <a:defRPr sz="1800" b="1">
                <a:solidFill>
                  <a:srgbClr val="C94E29"/>
                </a:solidFill>
                <a:latin typeface="Calibri"/>
                <a:ea typeface="Calibri"/>
                <a:cs typeface="Calibri"/>
              </a:defRPr>
            </a:lvl8pPr>
            <a:lvl9pPr>
              <a:defRPr sz="1800" b="1">
                <a:solidFill>
                  <a:srgbClr val="C94E29"/>
                </a:solidFill>
                <a:latin typeface="Calibri"/>
                <a:ea typeface="Calibri"/>
                <a:cs typeface="Calibri"/>
              </a:defRPr>
            </a:lvl9pPr>
          </a:lstStyle>
          <a:p>
            <a:pPr>
              <a:defRPr sz="1800" b="1">
                <a:solidFill>
                  <a:srgbClr val="C94E29"/>
                </a:solidFill>
                <a:latin typeface="Calibri"/>
                <a:ea typeface="Calibri"/>
                <a:cs typeface="Calibri"/>
              </a:defRPr>
            </a:pPr>
            <a:r>
              <a:rPr sz="1800" b="1">
                <a:solidFill>
                  <a:srgbClr val="C94E29"/>
                </a:solidFill>
                <a:latin typeface="Calibri"/>
                <a:ea typeface="Calibri"/>
                <a:cs typeface="Calibri"/>
              </a:rPr>
              <a:t>RECALL SESSION 2</a:t>
            </a:r>
          </a:p>
        </p:txBody>
      </p:sp>
      <p:sp>
        <p:nvSpPr>
          <p:cNvPr id="5" name="text-9">
            <a:extLst>
              <a:ext uri="{FF2B5EF4-FFF2-40B4-BE49-F238E27FC236}">
                <ns2:creationId id="{FF5CBEA8-9DC8-4436-8E02-B9D8D50B032E}"/>
              </a:ext>
            </a:extLst>
          </p:cNvPr>
          <p:cNvSpPr>
            <a:spLocks noGrp="1"/>
          </p:cNvSpPr>
          <p:nvPr/>
        </p:nvSpPr>
        <p:spPr>
          <a:xfrm>
            <a:off x="619125" y="2495550"/>
            <a:ext cx="10858500" cy="990600"/>
          </a:xfrm>
          <a:prstGeom prst="rect">
            <a:avLst/>
          </a:prstGeom>
          <a:noFill/>
          <a:ln w="0">
            <a:noFill/>
          </a:ln>
        </p:spPr>
        <p:txBody>
          <a:bodyPr>
            <a:noAutofit/>
          </a:bodyPr>
          <a:lstStyle>
            <a:defPPr>
              <a:defRPr sz="2475" b="1">
                <a:solidFill>
                  <a:srgbClr val="1C3144"/>
                </a:solidFill>
                <a:latin typeface="Calibri"/>
                <a:ea typeface="Calibri"/>
                <a:cs typeface="Calibri"/>
              </a:defRPr>
            </a:defPPr>
            <a:lvl1pPr>
              <a:defRPr sz="2475" b="1">
                <a:solidFill>
                  <a:srgbClr val="1C3144"/>
                </a:solidFill>
                <a:latin typeface="Calibri"/>
                <a:ea typeface="Calibri"/>
                <a:cs typeface="Calibri"/>
              </a:defRPr>
            </a:lvl1pPr>
            <a:lvl2pPr>
              <a:defRPr sz="2475" b="1">
                <a:solidFill>
                  <a:srgbClr val="1C3144"/>
                </a:solidFill>
                <a:latin typeface="Calibri"/>
                <a:ea typeface="Calibri"/>
                <a:cs typeface="Calibri"/>
              </a:defRPr>
            </a:lvl2pPr>
            <a:lvl3pPr>
              <a:defRPr sz="2475" b="1">
                <a:solidFill>
                  <a:srgbClr val="1C3144"/>
                </a:solidFill>
                <a:latin typeface="Calibri"/>
                <a:ea typeface="Calibri"/>
                <a:cs typeface="Calibri"/>
              </a:defRPr>
            </a:lvl3pPr>
            <a:lvl4pPr>
              <a:defRPr sz="2475" b="1">
                <a:solidFill>
                  <a:srgbClr val="1C3144"/>
                </a:solidFill>
                <a:latin typeface="Calibri"/>
                <a:ea typeface="Calibri"/>
                <a:cs typeface="Calibri"/>
              </a:defRPr>
            </a:lvl4pPr>
            <a:lvl5pPr>
              <a:defRPr sz="2475" b="1">
                <a:solidFill>
                  <a:srgbClr val="1C3144"/>
                </a:solidFill>
                <a:latin typeface="Calibri"/>
                <a:ea typeface="Calibri"/>
                <a:cs typeface="Calibri"/>
              </a:defRPr>
            </a:lvl5pPr>
            <a:lvl6pPr>
              <a:defRPr sz="2475" b="1">
                <a:solidFill>
                  <a:srgbClr val="1C3144"/>
                </a:solidFill>
                <a:latin typeface="Calibri"/>
                <a:ea typeface="Calibri"/>
                <a:cs typeface="Calibri"/>
              </a:defRPr>
            </a:lvl6pPr>
            <a:lvl7pPr>
              <a:defRPr sz="2475" b="1">
                <a:solidFill>
                  <a:srgbClr val="1C3144"/>
                </a:solidFill>
                <a:latin typeface="Calibri"/>
                <a:ea typeface="Calibri"/>
                <a:cs typeface="Calibri"/>
              </a:defRPr>
            </a:lvl7pPr>
            <a:lvl8pPr>
              <a:defRPr sz="2475" b="1">
                <a:solidFill>
                  <a:srgbClr val="1C3144"/>
                </a:solidFill>
                <a:latin typeface="Calibri"/>
                <a:ea typeface="Calibri"/>
                <a:cs typeface="Calibri"/>
              </a:defRPr>
            </a:lvl8pPr>
            <a:lvl9pPr>
              <a:defRPr sz="2475" b="1">
                <a:solidFill>
                  <a:srgbClr val="1C3144"/>
                </a:solidFill>
                <a:latin typeface="Calibri"/>
                <a:ea typeface="Calibri"/>
                <a:cs typeface="Calibri"/>
              </a:defRPr>
            </a:lvl9pPr>
          </a:lstStyle>
          <a:p>
            <a:pPr>
              <a:defRPr sz="2475" b="1">
                <a:solidFill>
                  <a:srgbClr val="1C3144"/>
                </a:solidFill>
                <a:latin typeface="Calibri"/>
                <a:ea typeface="Calibri"/>
                <a:cs typeface="Calibri"/>
              </a:defRPr>
            </a:pPr>
            <a:r>
              <a:rPr sz="2475" b="1">
                <a:solidFill>
                  <a:srgbClr val="1C3144"/>
                </a:solidFill>
                <a:latin typeface="Calibri"/>
                <a:ea typeface="Calibri"/>
                <a:cs typeface="Calibri"/>
              </a:rPr>
              <a:t>We upload a new clause today. Which learned parameters must change?</a:t>
            </a:r>
          </a:p>
        </p:txBody>
      </p:sp>
      <p:sp>
        <p:nvSpPr>
          <p:cNvPr id="6" name="text-10">
            <a:extLst>
              <a:ext uri="{FF2B5EF4-FFF2-40B4-BE49-F238E27FC236}">
                <ns2:creationId id="{54659F64-0D24-4B5B-89C0-FB936D4B59CC}"/>
              </a:ext>
            </a:extLst>
          </p:cNvPr>
          <p:cNvSpPr>
            <a:spLocks noGrp="1"/>
          </p:cNvSpPr>
          <p:nvPr/>
        </p:nvSpPr>
        <p:spPr>
          <a:xfrm>
            <a:off x="619125" y="3857625"/>
            <a:ext cx="10858500" cy="342900"/>
          </a:xfrm>
          <a:prstGeom prst="rect">
            <a:avLst/>
          </a:prstGeom>
          <a:noFill/>
          <a:ln w="0">
            <a:noFill/>
          </a:ln>
        </p:spPr>
        <p:txBody>
          <a:bodyPr>
            <a:noAutofit/>
          </a:bodyPr>
          <a:lstStyle>
            <a:defPPr>
              <a:defRPr sz="1800" b="1">
                <a:solidFill>
                  <a:srgbClr val="246E63"/>
                </a:solidFill>
                <a:latin typeface="Calibri"/>
                <a:ea typeface="Calibri"/>
                <a:cs typeface="Calibri"/>
              </a:defRPr>
            </a:defPPr>
            <a:lvl1pPr>
              <a:defRPr sz="1800" b="1">
                <a:solidFill>
                  <a:srgbClr val="246E63"/>
                </a:solidFill>
                <a:latin typeface="Calibri"/>
                <a:ea typeface="Calibri"/>
                <a:cs typeface="Calibri"/>
              </a:defRPr>
            </a:lvl1pPr>
            <a:lvl2pPr>
              <a:defRPr sz="1800" b="1">
                <a:solidFill>
                  <a:srgbClr val="246E63"/>
                </a:solidFill>
                <a:latin typeface="Calibri"/>
                <a:ea typeface="Calibri"/>
                <a:cs typeface="Calibri"/>
              </a:defRPr>
            </a:lvl2pPr>
            <a:lvl3pPr>
              <a:defRPr sz="1800" b="1">
                <a:solidFill>
                  <a:srgbClr val="246E63"/>
                </a:solidFill>
                <a:latin typeface="Calibri"/>
                <a:ea typeface="Calibri"/>
                <a:cs typeface="Calibri"/>
              </a:defRPr>
            </a:lvl3pPr>
            <a:lvl4pPr>
              <a:defRPr sz="1800" b="1">
                <a:solidFill>
                  <a:srgbClr val="246E63"/>
                </a:solidFill>
                <a:latin typeface="Calibri"/>
                <a:ea typeface="Calibri"/>
                <a:cs typeface="Calibri"/>
              </a:defRPr>
            </a:lvl4pPr>
            <a:lvl5pPr>
              <a:defRPr sz="1800" b="1">
                <a:solidFill>
                  <a:srgbClr val="246E63"/>
                </a:solidFill>
                <a:latin typeface="Calibri"/>
                <a:ea typeface="Calibri"/>
                <a:cs typeface="Calibri"/>
              </a:defRPr>
            </a:lvl5pPr>
            <a:lvl6pPr>
              <a:defRPr sz="1800" b="1">
                <a:solidFill>
                  <a:srgbClr val="246E63"/>
                </a:solidFill>
                <a:latin typeface="Calibri"/>
                <a:ea typeface="Calibri"/>
                <a:cs typeface="Calibri"/>
              </a:defRPr>
            </a:lvl6pPr>
            <a:lvl7pPr>
              <a:defRPr sz="1800" b="1">
                <a:solidFill>
                  <a:srgbClr val="246E63"/>
                </a:solidFill>
                <a:latin typeface="Calibri"/>
                <a:ea typeface="Calibri"/>
                <a:cs typeface="Calibri"/>
              </a:defRPr>
            </a:lvl7pPr>
            <a:lvl8pPr>
              <a:defRPr sz="1800" b="1">
                <a:solidFill>
                  <a:srgbClr val="246E63"/>
                </a:solidFill>
                <a:latin typeface="Calibri"/>
                <a:ea typeface="Calibri"/>
                <a:cs typeface="Calibri"/>
              </a:defRPr>
            </a:lvl8pPr>
            <a:lvl9pPr>
              <a:defRPr sz="1800" b="1">
                <a:solidFill>
                  <a:srgbClr val="246E63"/>
                </a:solidFill>
                <a:latin typeface="Calibri"/>
                <a:ea typeface="Calibri"/>
                <a:cs typeface="Calibri"/>
              </a:defRPr>
            </a:lvl9pPr>
          </a:lstStyle>
          <a:p>
            <a:pPr>
              <a:defRPr sz="1800" b="1">
                <a:solidFill>
                  <a:srgbClr val="246E63"/>
                </a:solidFill>
                <a:latin typeface="Calibri"/>
                <a:ea typeface="Calibri"/>
                <a:cs typeface="Calibri"/>
              </a:defRPr>
            </a:pPr>
            <a:r>
              <a:rPr sz="1800" b="1">
                <a:solidFill>
                  <a:srgbClr val="246E63"/>
                </a:solidFill>
                <a:latin typeface="Calibri"/>
                <a:ea typeface="Calibri"/>
                <a:cs typeface="Calibri"/>
              </a:rPr>
              <a:t>TODAY’S QUESTION</a:t>
            </a:r>
          </a:p>
        </p:txBody>
      </p:sp>
      <p:sp>
        <p:nvSpPr>
          <p:cNvPr id="7" name="text-11">
            <a:extLst>
              <a:ext uri="{FF2B5EF4-FFF2-40B4-BE49-F238E27FC236}">
                <ns2:creationId id="{9D19269A-AEE0-4089-A718-16893495CCFE}"/>
              </a:ext>
            </a:extLst>
          </p:cNvPr>
          <p:cNvSpPr>
            <a:spLocks noGrp="1"/>
          </p:cNvSpPr>
          <p:nvPr/>
        </p:nvSpPr>
        <p:spPr>
          <a:xfrm>
            <a:off x="619125" y="4362450"/>
            <a:ext cx="10858500" cy="1152525"/>
          </a:xfrm>
          <a:prstGeom prst="rect">
            <a:avLst/>
          </a:prstGeom>
          <a:noFill/>
          <a:ln w="0">
            <a:noFill/>
          </a:ln>
        </p:spPr>
        <p:txBody>
          <a:bodyPr>
            <a:noAutofit/>
          </a:bodyPr>
          <a:lstStyle>
            <a:defPPr>
              <a:defRPr sz="2550" b="1">
                <a:solidFill>
                  <a:srgbClr val="1C3144"/>
                </a:solidFill>
                <a:latin typeface="Calibri"/>
                <a:ea typeface="Calibri"/>
                <a:cs typeface="Calibri"/>
              </a:defRPr>
            </a:defPPr>
            <a:lvl1pPr>
              <a:defRPr sz="2550" b="1">
                <a:solidFill>
                  <a:srgbClr val="1C3144"/>
                </a:solidFill>
                <a:latin typeface="Calibri"/>
                <a:ea typeface="Calibri"/>
                <a:cs typeface="Calibri"/>
              </a:defRPr>
            </a:lvl1pPr>
            <a:lvl2pPr>
              <a:defRPr sz="2550" b="1">
                <a:solidFill>
                  <a:srgbClr val="1C3144"/>
                </a:solidFill>
                <a:latin typeface="Calibri"/>
                <a:ea typeface="Calibri"/>
                <a:cs typeface="Calibri"/>
              </a:defRPr>
            </a:lvl2pPr>
            <a:lvl3pPr>
              <a:defRPr sz="2550" b="1">
                <a:solidFill>
                  <a:srgbClr val="1C3144"/>
                </a:solidFill>
                <a:latin typeface="Calibri"/>
                <a:ea typeface="Calibri"/>
                <a:cs typeface="Calibri"/>
              </a:defRPr>
            </a:lvl3pPr>
            <a:lvl4pPr>
              <a:defRPr sz="2550" b="1">
                <a:solidFill>
                  <a:srgbClr val="1C3144"/>
                </a:solidFill>
                <a:latin typeface="Calibri"/>
                <a:ea typeface="Calibri"/>
                <a:cs typeface="Calibri"/>
              </a:defRPr>
            </a:lvl4pPr>
            <a:lvl5pPr>
              <a:defRPr sz="2550" b="1">
                <a:solidFill>
                  <a:srgbClr val="1C3144"/>
                </a:solidFill>
                <a:latin typeface="Calibri"/>
                <a:ea typeface="Calibri"/>
                <a:cs typeface="Calibri"/>
              </a:defRPr>
            </a:lvl5pPr>
            <a:lvl6pPr>
              <a:defRPr sz="2550" b="1">
                <a:solidFill>
                  <a:srgbClr val="1C3144"/>
                </a:solidFill>
                <a:latin typeface="Calibri"/>
                <a:ea typeface="Calibri"/>
                <a:cs typeface="Calibri"/>
              </a:defRPr>
            </a:lvl6pPr>
            <a:lvl7pPr>
              <a:defRPr sz="2550" b="1">
                <a:solidFill>
                  <a:srgbClr val="1C3144"/>
                </a:solidFill>
                <a:latin typeface="Calibri"/>
                <a:ea typeface="Calibri"/>
                <a:cs typeface="Calibri"/>
              </a:defRPr>
            </a:lvl7pPr>
            <a:lvl8pPr>
              <a:defRPr sz="2550" b="1">
                <a:solidFill>
                  <a:srgbClr val="1C3144"/>
                </a:solidFill>
                <a:latin typeface="Calibri"/>
                <a:ea typeface="Calibri"/>
                <a:cs typeface="Calibri"/>
              </a:defRPr>
            </a:lvl8pPr>
            <a:lvl9pPr>
              <a:defRPr sz="2550" b="1">
                <a:solidFill>
                  <a:srgbClr val="1C3144"/>
                </a:solidFill>
                <a:latin typeface="Calibri"/>
                <a:ea typeface="Calibri"/>
                <a:cs typeface="Calibri"/>
              </a:defRPr>
            </a:lvl9pPr>
          </a:lstStyle>
          <a:p>
            <a:pPr>
              <a:defRPr sz="2550" b="1">
                <a:solidFill>
                  <a:srgbClr val="1C3144"/>
                </a:solidFill>
                <a:latin typeface="Calibri"/>
                <a:ea typeface="Calibri"/>
                <a:cs typeface="Calibri"/>
              </a:defRPr>
            </a:pPr>
            <a:r>
              <a:rPr sz="2550" b="1">
                <a:solidFill>
                  <a:srgbClr val="1C3144"/>
                </a:solidFill>
                <a:latin typeface="Calibri"/>
                <a:ea typeface="Calibri"/>
                <a:cs typeface="Calibri"/>
              </a:rPr>
              <a:t>Why can a fluent answer vary, omit evidence or invent a fact?</a:t>
            </a:r>
          </a:p>
        </p:txBody>
      </p:sp>
      <p:sp>
        <p:nvSpPr>
          <p:cNvPr id="8" name="text-12">
            <a:extLst>
              <a:ext uri="{FF2B5EF4-FFF2-40B4-BE49-F238E27FC236}">
                <ns2:creationId id="{6D0BE345-33DE-482D-883D-3283DBE2FFD7}"/>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Result: An observed reliability comparison and a practical verification routine.</a:t>
            </a:r>
          </a:p>
        </p:txBody>
      </p:sp>
      <p:sp>
        <p:nvSpPr>
          <p:cNvPr id="3" name="text-7">
            <a:extLst>
              <a:ext uri="{FF2B5EF4-FFF2-40B4-BE49-F238E27FC236}">
                <ns2:creationId id="{F5E54CFA-54A5-4B80-A50F-1A2B46A3D5DD}"/>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03   2</a:t>
            </a:r>
          </a:p>
        </p:txBody>
      </p:sp>
    </p:spTree>
    <p:extLst>
      <p:ext uri="{BB962C8B-B14F-4D97-AF65-F5344CB8AC3E}">
        <ns3:creationId val="1504616677"/>
      </p:ext>
    </p:extLst>
  </p:cSld>
  <p:transition spd="med" advClick="1">
    <p:fade/>
  </p:transition>
</p:sld>
</file>

<file path=ppt/slides/slide3.xml><?xml version="1.0" encoding="utf-8"?>
<p:sld xmlns:a="http://schemas.openxmlformats.org/drawingml/2006/main" xmlns:ns2="http://schemas.microsoft.com/office/drawing/2014/main" xmlns:ns3="http://schemas.microsoft.com/office/powerpoint/2010/main" xmlns:p="http://schemas.openxmlformats.org/presentationml/2006/main">
  <p:cSld name="From a prompt to a response">
    <p:bg>
      <p:bgPr>
        <a:solidFill>
          <a:srgbClr val="FFFFFF"/>
        </a:solidFill>
      </p:bgPr>
    </p:bg>
    <p:spTree>
      <p:nvGrpSpPr>
        <p:cNvPr id="1" name=""/>
        <p:cNvGrpSpPr/>
        <p:nvPr/>
      </p:nvGrpSpPr>
      <p:grpSpPr>
        <a:xfrm/>
      </p:grpSpPr>
      <p:sp>
        <p:nvSpPr>
          <p:cNvPr id="10" name="text-13">
            <a:extLst>
              <a:ext uri="{FF2B5EF4-FFF2-40B4-BE49-F238E27FC236}">
                <ns2:creationId id="{019C1EA7-A2BE-4BDB-9181-6D2E26862C66}"/>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03</a:t>
            </a:r>
          </a:p>
        </p:txBody>
      </p:sp>
      <p:sp>
        <p:nvSpPr>
          <p:cNvPr id="2" name="text-14">
            <a:extLst>
              <a:ext uri="{FF2B5EF4-FFF2-40B4-BE49-F238E27FC236}">
                <ns2:creationId id="{CAAC6CBE-D375-4C82-9ABE-E5C683D831E3}"/>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From a prompt to a response</a:t>
            </a:r>
          </a:p>
        </p:txBody>
      </p:sp>
      <p:sp>
        <p:nvSpPr>
          <p:cNvPr id="4" name="text-16">
            <a:extLst>
              <a:ext uri="{FF2B5EF4-FFF2-40B4-BE49-F238E27FC236}">
                <ns2:creationId id="{E9452E42-6178-4F32-A2DE-F033B19DB0DC}"/>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7">
            <a:extLst>
              <a:ext uri="{FF2B5EF4-FFF2-40B4-BE49-F238E27FC236}">
                <ns2:creationId id="{5D4FAE07-1668-4FCC-8419-98209CF77637}"/>
              </a:ext>
            </a:extLst>
          </p:cNvPr>
          <p:cNvSpPr>
            <a:spLocks noGrp="1"/>
          </p:cNvSpPr>
          <p:nvPr/>
        </p:nvSpPr>
        <p:spPr>
          <a:xfrm>
            <a:off x="1285875" y="194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application assembles instructions and available context.</a:t>
            </a:r>
          </a:p>
        </p:txBody>
      </p:sp>
      <p:sp>
        <p:nvSpPr>
          <p:cNvPr id="6" name="text-18">
            <a:extLst>
              <a:ext uri="{FF2B5EF4-FFF2-40B4-BE49-F238E27FC236}">
                <ns2:creationId id="{6A5E5AB6-2BAB-46FE-A249-49C8A83B7DAB}"/>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9">
            <a:extLst>
              <a:ext uri="{FF2B5EF4-FFF2-40B4-BE49-F238E27FC236}">
                <ns2:creationId id="{A5E9ACA5-7479-4B16-96B1-47BD7259B5AA}"/>
              </a:ext>
            </a:extLst>
          </p:cNvPr>
          <p:cNvSpPr>
            <a:spLocks noGrp="1"/>
          </p:cNvSpPr>
          <p:nvPr/>
        </p:nvSpPr>
        <p:spPr>
          <a:xfrm>
            <a:off x="1285875" y="321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decoder language model calculates a distribution for the next token.</a:t>
            </a:r>
          </a:p>
        </p:txBody>
      </p:sp>
      <p:sp>
        <p:nvSpPr>
          <p:cNvPr id="8" name="text-20">
            <a:extLst>
              <a:ext uri="{FF2B5EF4-FFF2-40B4-BE49-F238E27FC236}">
                <ns2:creationId id="{3343CBC8-247E-47D7-A5E3-FC0C5DD23CC3}"/>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21">
            <a:extLst>
              <a:ext uri="{FF2B5EF4-FFF2-40B4-BE49-F238E27FC236}">
                <ns2:creationId id="{151B22DA-7981-45A7-AB8F-2D537C6A32A7}"/>
              </a:ext>
            </a:extLst>
          </p:cNvPr>
          <p:cNvSpPr>
            <a:spLocks noGrp="1"/>
          </p:cNvSpPr>
          <p:nvPr/>
        </p:nvSpPr>
        <p:spPr>
          <a:xfrm>
            <a:off x="1285875" y="448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decoding method selects a token; the process repeats.</a:t>
            </a:r>
          </a:p>
        </p:txBody>
      </p:sp>
      <p:sp>
        <p:nvSpPr>
          <p:cNvPr id="3" name="text-15">
            <a:extLst>
              <a:ext uri="{FF2B5EF4-FFF2-40B4-BE49-F238E27FC236}">
                <ns2:creationId id="{97D95D39-8172-4C28-ABC0-4E3CD78CEFEB}"/>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03   3</a:t>
            </a:r>
          </a:p>
        </p:txBody>
      </p:sp>
    </p:spTree>
    <p:extLst>
      <p:ext uri="{BB962C8B-B14F-4D97-AF65-F5344CB8AC3E}">
        <ns3:creationId val="356612200"/>
      </p:ext>
    </p:extLst>
  </p:cSld>
  <p:transition spd="med" advClick="1">
    <p:fade/>
  </p:transition>
</p:sld>
</file>

<file path=ppt/slides/slide4.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Predicting the next token">
    <p:bg>
      <p:bgPr>
        <a:solidFill>
          <a:srgbClr val="FFFFFF"/>
        </a:solidFill>
      </p:bgPr>
    </p:bg>
    <p:spTree>
      <p:nvGrpSpPr>
        <p:cNvPr id="1" name=""/>
        <p:cNvGrpSpPr/>
        <p:nvPr/>
      </p:nvGrpSpPr>
      <p:grpSpPr>
        <a:xfrm/>
      </p:grpSpPr>
      <p:sp>
        <p:nvSpPr>
          <p:cNvPr id="15" name="text-22">
            <a:extLst>
              <a:ext uri="{FF2B5EF4-FFF2-40B4-BE49-F238E27FC236}">
                <ns2:creationId id="{D0BF5D84-3B56-4A99-9D1B-6C9CDDE9F2EE}"/>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03</a:t>
            </a:r>
          </a:p>
        </p:txBody>
      </p:sp>
      <p:sp>
        <p:nvSpPr>
          <p:cNvPr id="2" name="text-23">
            <a:extLst>
              <a:ext uri="{FF2B5EF4-FFF2-40B4-BE49-F238E27FC236}">
                <ns2:creationId id="{0F5E1D5A-A3F6-443F-AFA2-8FBED5C006D2}"/>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Predicting the next token</a:t>
            </a:r>
          </a:p>
        </p:txBody>
      </p:sp>
      <p:sp>
        <p:nvSpPr>
          <p:cNvPr id="4" name="text-25">
            <a:extLst>
              <a:ext uri="{FF2B5EF4-FFF2-40B4-BE49-F238E27FC236}">
                <ns2:creationId id="{8851039F-6B77-4B8B-875B-8E50F94133AB}"/>
              </a:ext>
            </a:extLst>
          </p:cNvPr>
          <p:cNvSpPr>
            <a:spLocks noGrp="1"/>
          </p:cNvSpPr>
          <p:nvPr/>
        </p:nvSpPr>
        <p:spPr>
          <a:xfrm>
            <a:off x="619125" y="1905000"/>
            <a:ext cx="10858500" cy="571500"/>
          </a:xfrm>
          <a:prstGeom prst="rect">
            <a:avLst/>
          </a:prstGeom>
          <a:noFill/>
          <a:ln w="0">
            <a:noFill/>
          </a:ln>
        </p:spPr>
        <p:txBody>
          <a:bodyPr>
            <a:noAutofit/>
          </a:bodyPr>
          <a:lstStyle>
            <a:defPPr>
              <a:defRPr sz="2700" b="1">
                <a:solidFill>
                  <a:srgbClr val="1C3144"/>
                </a:solidFill>
                <a:latin typeface="Calibri"/>
                <a:ea typeface="Calibri"/>
                <a:cs typeface="Calibri"/>
              </a:defRPr>
            </a:defPPr>
            <a:lvl1pPr>
              <a:defRPr sz="2700" b="1">
                <a:solidFill>
                  <a:srgbClr val="1C3144"/>
                </a:solidFill>
                <a:latin typeface="Calibri"/>
                <a:ea typeface="Calibri"/>
                <a:cs typeface="Calibri"/>
              </a:defRPr>
            </a:lvl1pPr>
            <a:lvl2pPr>
              <a:defRPr sz="2700" b="1">
                <a:solidFill>
                  <a:srgbClr val="1C3144"/>
                </a:solidFill>
                <a:latin typeface="Calibri"/>
                <a:ea typeface="Calibri"/>
                <a:cs typeface="Calibri"/>
              </a:defRPr>
            </a:lvl2pPr>
            <a:lvl3pPr>
              <a:defRPr sz="2700" b="1">
                <a:solidFill>
                  <a:srgbClr val="1C3144"/>
                </a:solidFill>
                <a:latin typeface="Calibri"/>
                <a:ea typeface="Calibri"/>
                <a:cs typeface="Calibri"/>
              </a:defRPr>
            </a:lvl3pPr>
            <a:lvl4pPr>
              <a:defRPr sz="2700" b="1">
                <a:solidFill>
                  <a:srgbClr val="1C3144"/>
                </a:solidFill>
                <a:latin typeface="Calibri"/>
                <a:ea typeface="Calibri"/>
                <a:cs typeface="Calibri"/>
              </a:defRPr>
            </a:lvl4pPr>
            <a:lvl5pPr>
              <a:defRPr sz="2700" b="1">
                <a:solidFill>
                  <a:srgbClr val="1C3144"/>
                </a:solidFill>
                <a:latin typeface="Calibri"/>
                <a:ea typeface="Calibri"/>
                <a:cs typeface="Calibri"/>
              </a:defRPr>
            </a:lvl5pPr>
            <a:lvl6pPr>
              <a:defRPr sz="2700" b="1">
                <a:solidFill>
                  <a:srgbClr val="1C3144"/>
                </a:solidFill>
                <a:latin typeface="Calibri"/>
                <a:ea typeface="Calibri"/>
                <a:cs typeface="Calibri"/>
              </a:defRPr>
            </a:lvl6pPr>
            <a:lvl7pPr>
              <a:defRPr sz="2700" b="1">
                <a:solidFill>
                  <a:srgbClr val="1C3144"/>
                </a:solidFill>
                <a:latin typeface="Calibri"/>
                <a:ea typeface="Calibri"/>
                <a:cs typeface="Calibri"/>
              </a:defRPr>
            </a:lvl7pPr>
            <a:lvl8pPr>
              <a:defRPr sz="2700" b="1">
                <a:solidFill>
                  <a:srgbClr val="1C3144"/>
                </a:solidFill>
                <a:latin typeface="Calibri"/>
                <a:ea typeface="Calibri"/>
                <a:cs typeface="Calibri"/>
              </a:defRPr>
            </a:lvl8pPr>
            <a:lvl9pPr>
              <a:defRPr sz="2700" b="1">
                <a:solidFill>
                  <a:srgbClr val="1C3144"/>
                </a:solidFill>
                <a:latin typeface="Calibri"/>
                <a:ea typeface="Calibri"/>
                <a:cs typeface="Calibri"/>
              </a:defRPr>
            </a:lvl9pPr>
          </a:lstStyle>
          <a:p>
            <a:pPr>
              <a:defRPr sz="2700" b="1">
                <a:solidFill>
                  <a:srgbClr val="1C3144"/>
                </a:solidFill>
                <a:latin typeface="Calibri"/>
                <a:ea typeface="Calibri"/>
                <a:cs typeface="Calibri"/>
              </a:defRPr>
            </a:pPr>
            <a:r>
              <a:rPr sz="2700" b="1">
                <a:solidFill>
                  <a:srgbClr val="1C3144"/>
                </a:solidFill>
                <a:latin typeface="Calibri"/>
                <a:ea typeface="Calibri"/>
                <a:cs typeface="Calibri"/>
              </a:rPr>
              <a:t>Prefix: “The provider remains …”</a:t>
            </a:r>
          </a:p>
        </p:txBody>
      </p:sp>
      <p:sp>
        <p:nvSpPr>
          <p:cNvPr id="5" name="reveal-01-candidate">
            <a:extLst>
              <a:ext uri="{FF2B5EF4-FFF2-40B4-BE49-F238E27FC236}">
                <ns2:creationId id="{17B40D91-147D-4071-B8C2-6F4A1DA2EDDC}"/>
              </a:ext>
            </a:extLst>
          </p:cNvPr>
          <p:cNvSpPr>
            <a:spLocks noGrp="1"/>
          </p:cNvSpPr>
          <p:nvPr/>
        </p:nvSpPr>
        <p:spPr>
          <a:xfrm>
            <a:off x="619125" y="2905125"/>
            <a:ext cx="2857500" cy="571500"/>
          </a:xfrm>
          <a:prstGeom prst="rect">
            <a:avLst/>
          </a:prstGeom>
          <a:noFill/>
          <a:ln w="0">
            <a:noFill/>
          </a:ln>
        </p:spPr>
        <p:txBody>
          <a:bodyPr>
            <a:noAutofit/>
          </a:bodyPr>
          <a:lstStyle>
            <a:defPPr>
              <a:defRPr sz="2325" b="1">
                <a:solidFill>
                  <a:srgbClr val="246E63"/>
                </a:solidFill>
                <a:latin typeface="Calibri"/>
                <a:ea typeface="Calibri"/>
                <a:cs typeface="Calibri"/>
              </a:defRPr>
            </a:defPPr>
            <a:lvl1pPr>
              <a:defRPr sz="2325" b="1">
                <a:solidFill>
                  <a:srgbClr val="246E63"/>
                </a:solidFill>
                <a:latin typeface="Calibri"/>
                <a:ea typeface="Calibri"/>
                <a:cs typeface="Calibri"/>
              </a:defRPr>
            </a:lvl1pPr>
            <a:lvl2pPr>
              <a:defRPr sz="2325" b="1">
                <a:solidFill>
                  <a:srgbClr val="246E63"/>
                </a:solidFill>
                <a:latin typeface="Calibri"/>
                <a:ea typeface="Calibri"/>
                <a:cs typeface="Calibri"/>
              </a:defRPr>
            </a:lvl2pPr>
            <a:lvl3pPr>
              <a:defRPr sz="2325" b="1">
                <a:solidFill>
                  <a:srgbClr val="246E63"/>
                </a:solidFill>
                <a:latin typeface="Calibri"/>
                <a:ea typeface="Calibri"/>
                <a:cs typeface="Calibri"/>
              </a:defRPr>
            </a:lvl3pPr>
            <a:lvl4pPr>
              <a:defRPr sz="2325" b="1">
                <a:solidFill>
                  <a:srgbClr val="246E63"/>
                </a:solidFill>
                <a:latin typeface="Calibri"/>
                <a:ea typeface="Calibri"/>
                <a:cs typeface="Calibri"/>
              </a:defRPr>
            </a:lvl4pPr>
            <a:lvl5pPr>
              <a:defRPr sz="2325" b="1">
                <a:solidFill>
                  <a:srgbClr val="246E63"/>
                </a:solidFill>
                <a:latin typeface="Calibri"/>
                <a:ea typeface="Calibri"/>
                <a:cs typeface="Calibri"/>
              </a:defRPr>
            </a:lvl5pPr>
            <a:lvl6pPr>
              <a:defRPr sz="2325" b="1">
                <a:solidFill>
                  <a:srgbClr val="246E63"/>
                </a:solidFill>
                <a:latin typeface="Calibri"/>
                <a:ea typeface="Calibri"/>
                <a:cs typeface="Calibri"/>
              </a:defRPr>
            </a:lvl6pPr>
            <a:lvl7pPr>
              <a:defRPr sz="2325" b="1">
                <a:solidFill>
                  <a:srgbClr val="246E63"/>
                </a:solidFill>
                <a:latin typeface="Calibri"/>
                <a:ea typeface="Calibri"/>
                <a:cs typeface="Calibri"/>
              </a:defRPr>
            </a:lvl7pPr>
            <a:lvl8pPr>
              <a:defRPr sz="2325" b="1">
                <a:solidFill>
                  <a:srgbClr val="246E63"/>
                </a:solidFill>
                <a:latin typeface="Calibri"/>
                <a:ea typeface="Calibri"/>
                <a:cs typeface="Calibri"/>
              </a:defRPr>
            </a:lvl8pPr>
            <a:lvl9pPr>
              <a:defRPr sz="2325" b="1">
                <a:solidFill>
                  <a:srgbClr val="246E63"/>
                </a:solidFill>
                <a:latin typeface="Calibri"/>
                <a:ea typeface="Calibri"/>
                <a:cs typeface="Calibri"/>
              </a:defRPr>
            </a:lvl9pPr>
          </a:lstStyle>
          <a:p>
            <a:pPr>
              <a:defRPr sz="2325" b="1">
                <a:solidFill>
                  <a:srgbClr val="246E63"/>
                </a:solidFill>
                <a:latin typeface="Calibri"/>
                <a:ea typeface="Calibri"/>
                <a:cs typeface="Calibri"/>
              </a:defRPr>
            </a:pPr>
            <a:r>
              <a:rPr sz="2325" b="1">
                <a:solidFill>
                  <a:srgbClr val="246E63"/>
                </a:solidFill>
                <a:latin typeface="Calibri"/>
                <a:ea typeface="Calibri"/>
                <a:cs typeface="Calibri"/>
              </a:rPr>
              <a:t>responsible</a:t>
            </a:r>
          </a:p>
        </p:txBody>
      </p:sp>
      <p:sp>
        <p:nvSpPr>
          <p:cNvPr id="6" name="reveal-01-probability" descr="Predicting the next token">
            <a:extLst>
              <a:ext uri="{FF2B5EF4-FFF2-40B4-BE49-F238E27FC236}">
                <ns2:creationId id="{C419EF6E-83AF-4493-ABF8-C2CAA9C75ABD}"/>
              </a:ext>
            </a:extLst>
          </p:cNvPr>
          <p:cNvSpPr>
            <a:spLocks noGrp="1"/>
          </p:cNvSpPr>
          <p:nvPr/>
        </p:nvSpPr>
        <p:spPr>
          <a:xfrm>
            <a:off x="3714750" y="2905125"/>
            <a:ext cx="5667375" cy="457200"/>
          </a:xfrm>
          <a:prstGeom prst="rect">
            <a:avLst/>
          </a:prstGeom>
          <a:solidFill>
            <a:srgbClr val="246E63"/>
          </a:solidFill>
          <a:ln w="11430">
            <a:solidFill>
              <a:srgbClr val="C9D5DA"/>
            </a:solidFill>
          </a:ln>
        </p:spPr>
      </p:sp>
      <p:sp>
        <p:nvSpPr>
          <p:cNvPr id="7" name="reveal-01-score">
            <a:extLst>
              <a:ext uri="{FF2B5EF4-FFF2-40B4-BE49-F238E27FC236}">
                <ns2:creationId id="{0AC083D2-F05C-410F-9CA0-EE8A87B1316D}"/>
              </a:ext>
            </a:extLst>
          </p:cNvPr>
          <p:cNvSpPr>
            <a:spLocks noGrp="1"/>
          </p:cNvSpPr>
          <p:nvPr/>
        </p:nvSpPr>
        <p:spPr>
          <a:xfrm>
            <a:off x="9810750" y="2905125"/>
            <a:ext cx="1714500" cy="523875"/>
          </a:xfrm>
          <a:prstGeom prst="rect">
            <a:avLst/>
          </a:prstGeom>
          <a:noFill/>
          <a:ln w="0">
            <a:noFill/>
          </a:ln>
        </p:spPr>
        <p:txBody>
          <a:bodyPr>
            <a:noAutofit/>
          </a:bodyPr>
          <a:lstStyle>
            <a:defPPr>
              <a:defRPr sz="2325" b="1">
                <a:solidFill>
                  <a:srgbClr val="1C3144"/>
                </a:solidFill>
                <a:latin typeface="Calibri"/>
                <a:ea typeface="Calibri"/>
                <a:cs typeface="Calibri"/>
              </a:defRPr>
            </a:defPPr>
            <a:lvl1pPr>
              <a:defRPr sz="2325" b="1">
                <a:solidFill>
                  <a:srgbClr val="1C3144"/>
                </a:solidFill>
                <a:latin typeface="Calibri"/>
                <a:ea typeface="Calibri"/>
                <a:cs typeface="Calibri"/>
              </a:defRPr>
            </a:lvl1pPr>
            <a:lvl2pPr>
              <a:defRPr sz="2325" b="1">
                <a:solidFill>
                  <a:srgbClr val="1C3144"/>
                </a:solidFill>
                <a:latin typeface="Calibri"/>
                <a:ea typeface="Calibri"/>
                <a:cs typeface="Calibri"/>
              </a:defRPr>
            </a:lvl2pPr>
            <a:lvl3pPr>
              <a:defRPr sz="2325" b="1">
                <a:solidFill>
                  <a:srgbClr val="1C3144"/>
                </a:solidFill>
                <a:latin typeface="Calibri"/>
                <a:ea typeface="Calibri"/>
                <a:cs typeface="Calibri"/>
              </a:defRPr>
            </a:lvl3pPr>
            <a:lvl4pPr>
              <a:defRPr sz="2325" b="1">
                <a:solidFill>
                  <a:srgbClr val="1C3144"/>
                </a:solidFill>
                <a:latin typeface="Calibri"/>
                <a:ea typeface="Calibri"/>
                <a:cs typeface="Calibri"/>
              </a:defRPr>
            </a:lvl4pPr>
            <a:lvl5pPr>
              <a:defRPr sz="2325" b="1">
                <a:solidFill>
                  <a:srgbClr val="1C3144"/>
                </a:solidFill>
                <a:latin typeface="Calibri"/>
                <a:ea typeface="Calibri"/>
                <a:cs typeface="Calibri"/>
              </a:defRPr>
            </a:lvl5pPr>
            <a:lvl6pPr>
              <a:defRPr sz="2325" b="1">
                <a:solidFill>
                  <a:srgbClr val="1C3144"/>
                </a:solidFill>
                <a:latin typeface="Calibri"/>
                <a:ea typeface="Calibri"/>
                <a:cs typeface="Calibri"/>
              </a:defRPr>
            </a:lvl6pPr>
            <a:lvl7pPr>
              <a:defRPr sz="2325" b="1">
                <a:solidFill>
                  <a:srgbClr val="1C3144"/>
                </a:solidFill>
                <a:latin typeface="Calibri"/>
                <a:ea typeface="Calibri"/>
                <a:cs typeface="Calibri"/>
              </a:defRPr>
            </a:lvl7pPr>
            <a:lvl8pPr>
              <a:defRPr sz="2325" b="1">
                <a:solidFill>
                  <a:srgbClr val="1C3144"/>
                </a:solidFill>
                <a:latin typeface="Calibri"/>
                <a:ea typeface="Calibri"/>
                <a:cs typeface="Calibri"/>
              </a:defRPr>
            </a:lvl8pPr>
            <a:lvl9pPr>
              <a:defRPr sz="2325" b="1">
                <a:solidFill>
                  <a:srgbClr val="1C3144"/>
                </a:solidFill>
                <a:latin typeface="Calibri"/>
                <a:ea typeface="Calibri"/>
                <a:cs typeface="Calibri"/>
              </a:defRPr>
            </a:lvl9pPr>
          </a:lstStyle>
          <a:p>
            <a:pPr>
              <a:defRPr sz="2325" b="1">
                <a:solidFill>
                  <a:srgbClr val="1C3144"/>
                </a:solidFill>
                <a:latin typeface="Calibri"/>
                <a:ea typeface="Calibri"/>
                <a:cs typeface="Calibri"/>
              </a:defRPr>
            </a:pPr>
            <a:r>
              <a:rPr sz="2325" b="1">
                <a:solidFill>
                  <a:srgbClr val="1C3144"/>
                </a:solidFill>
                <a:latin typeface="Calibri"/>
                <a:ea typeface="Calibri"/>
                <a:cs typeface="Calibri"/>
              </a:rPr>
              <a:t>70%</a:t>
            </a:r>
          </a:p>
        </p:txBody>
      </p:sp>
      <p:sp>
        <p:nvSpPr>
          <p:cNvPr id="8" name="reveal-02-candidate">
            <a:extLst>
              <a:ext uri="{FF2B5EF4-FFF2-40B4-BE49-F238E27FC236}">
                <ns2:creationId id="{D7B65CB8-C539-4AED-B329-D381BAD4C5A5}"/>
              </a:ext>
            </a:extLst>
          </p:cNvPr>
          <p:cNvSpPr>
            <a:spLocks noGrp="1"/>
          </p:cNvSpPr>
          <p:nvPr/>
        </p:nvSpPr>
        <p:spPr>
          <a:xfrm>
            <a:off x="619125" y="3810000"/>
            <a:ext cx="2857500" cy="571500"/>
          </a:xfrm>
          <a:prstGeom prst="rect">
            <a:avLst/>
          </a:prstGeom>
          <a:noFill/>
          <a:ln w="0">
            <a:noFill/>
          </a:ln>
        </p:spPr>
        <p:txBody>
          <a:bodyPr>
            <a:noAutofit/>
          </a:bodyPr>
          <a:lstStyle>
            <a:defPPr>
              <a:defRPr sz="2325" b="1">
                <a:solidFill>
                  <a:srgbClr val="246E63"/>
                </a:solidFill>
                <a:latin typeface="Calibri"/>
                <a:ea typeface="Calibri"/>
                <a:cs typeface="Calibri"/>
              </a:defRPr>
            </a:defPPr>
            <a:lvl1pPr>
              <a:defRPr sz="2325" b="1">
                <a:solidFill>
                  <a:srgbClr val="246E63"/>
                </a:solidFill>
                <a:latin typeface="Calibri"/>
                <a:ea typeface="Calibri"/>
                <a:cs typeface="Calibri"/>
              </a:defRPr>
            </a:lvl1pPr>
            <a:lvl2pPr>
              <a:defRPr sz="2325" b="1">
                <a:solidFill>
                  <a:srgbClr val="246E63"/>
                </a:solidFill>
                <a:latin typeface="Calibri"/>
                <a:ea typeface="Calibri"/>
                <a:cs typeface="Calibri"/>
              </a:defRPr>
            </a:lvl2pPr>
            <a:lvl3pPr>
              <a:defRPr sz="2325" b="1">
                <a:solidFill>
                  <a:srgbClr val="246E63"/>
                </a:solidFill>
                <a:latin typeface="Calibri"/>
                <a:ea typeface="Calibri"/>
                <a:cs typeface="Calibri"/>
              </a:defRPr>
            </a:lvl3pPr>
            <a:lvl4pPr>
              <a:defRPr sz="2325" b="1">
                <a:solidFill>
                  <a:srgbClr val="246E63"/>
                </a:solidFill>
                <a:latin typeface="Calibri"/>
                <a:ea typeface="Calibri"/>
                <a:cs typeface="Calibri"/>
              </a:defRPr>
            </a:lvl4pPr>
            <a:lvl5pPr>
              <a:defRPr sz="2325" b="1">
                <a:solidFill>
                  <a:srgbClr val="246E63"/>
                </a:solidFill>
                <a:latin typeface="Calibri"/>
                <a:ea typeface="Calibri"/>
                <a:cs typeface="Calibri"/>
              </a:defRPr>
            </a:lvl5pPr>
            <a:lvl6pPr>
              <a:defRPr sz="2325" b="1">
                <a:solidFill>
                  <a:srgbClr val="246E63"/>
                </a:solidFill>
                <a:latin typeface="Calibri"/>
                <a:ea typeface="Calibri"/>
                <a:cs typeface="Calibri"/>
              </a:defRPr>
            </a:lvl6pPr>
            <a:lvl7pPr>
              <a:defRPr sz="2325" b="1">
                <a:solidFill>
                  <a:srgbClr val="246E63"/>
                </a:solidFill>
                <a:latin typeface="Calibri"/>
                <a:ea typeface="Calibri"/>
                <a:cs typeface="Calibri"/>
              </a:defRPr>
            </a:lvl7pPr>
            <a:lvl8pPr>
              <a:defRPr sz="2325" b="1">
                <a:solidFill>
                  <a:srgbClr val="246E63"/>
                </a:solidFill>
                <a:latin typeface="Calibri"/>
                <a:ea typeface="Calibri"/>
                <a:cs typeface="Calibri"/>
              </a:defRPr>
            </a:lvl8pPr>
            <a:lvl9pPr>
              <a:defRPr sz="2325" b="1">
                <a:solidFill>
                  <a:srgbClr val="246E63"/>
                </a:solidFill>
                <a:latin typeface="Calibri"/>
                <a:ea typeface="Calibri"/>
                <a:cs typeface="Calibri"/>
              </a:defRPr>
            </a:lvl9pPr>
          </a:lstStyle>
          <a:p>
            <a:pPr>
              <a:defRPr sz="2325" b="1">
                <a:solidFill>
                  <a:srgbClr val="246E63"/>
                </a:solidFill>
                <a:latin typeface="Calibri"/>
                <a:ea typeface="Calibri"/>
                <a:cs typeface="Calibri"/>
              </a:defRPr>
            </a:pPr>
            <a:r>
              <a:rPr sz="2325" b="1">
                <a:solidFill>
                  <a:srgbClr val="246E63"/>
                </a:solidFill>
                <a:latin typeface="Calibri"/>
                <a:ea typeface="Calibri"/>
                <a:cs typeface="Calibri"/>
              </a:rPr>
              <a:t>liable</a:t>
            </a:r>
          </a:p>
        </p:txBody>
      </p:sp>
      <p:sp>
        <p:nvSpPr>
          <p:cNvPr id="9" name="reveal-02-probability">
            <a:extLst>
              <a:ext uri="{FF2B5EF4-FFF2-40B4-BE49-F238E27FC236}">
                <ns2:creationId id="{C124E43C-96DD-460B-A570-6C3274233973}"/>
              </a:ext>
              <a:ext uri="{C183D7F6-B498-43B3-948B-1728B52AA6E4}">
                <ns3:decorative val="1"/>
              </a:ext>
            </a:extLst>
          </p:cNvPr>
          <p:cNvSpPr>
            <a:spLocks noGrp="1"/>
          </p:cNvSpPr>
          <p:nvPr/>
        </p:nvSpPr>
        <p:spPr>
          <a:xfrm>
            <a:off x="3714750" y="3810000"/>
            <a:ext cx="1619250" cy="457200"/>
          </a:xfrm>
          <a:prstGeom prst="rect">
            <a:avLst/>
          </a:prstGeom>
          <a:solidFill>
            <a:srgbClr val="C94E29"/>
          </a:solidFill>
          <a:ln w="11430">
            <a:solidFill>
              <a:srgbClr val="C9D5DA"/>
            </a:solidFill>
          </a:ln>
        </p:spPr>
      </p:sp>
      <p:sp>
        <p:nvSpPr>
          <p:cNvPr id="10" name="reveal-02-score">
            <a:extLst>
              <a:ext uri="{FF2B5EF4-FFF2-40B4-BE49-F238E27FC236}">
                <ns2:creationId id="{021FD7FB-EF3B-4260-B3C2-A801309ED2A5}"/>
              </a:ext>
            </a:extLst>
          </p:cNvPr>
          <p:cNvSpPr>
            <a:spLocks noGrp="1"/>
          </p:cNvSpPr>
          <p:nvPr/>
        </p:nvSpPr>
        <p:spPr>
          <a:xfrm>
            <a:off x="9810750" y="3810000"/>
            <a:ext cx="1714500" cy="523875"/>
          </a:xfrm>
          <a:prstGeom prst="rect">
            <a:avLst/>
          </a:prstGeom>
          <a:noFill/>
          <a:ln w="0">
            <a:noFill/>
          </a:ln>
        </p:spPr>
        <p:txBody>
          <a:bodyPr>
            <a:noAutofit/>
          </a:bodyPr>
          <a:lstStyle>
            <a:defPPr>
              <a:defRPr sz="2325" b="1">
                <a:solidFill>
                  <a:srgbClr val="1C3144"/>
                </a:solidFill>
                <a:latin typeface="Calibri"/>
                <a:ea typeface="Calibri"/>
                <a:cs typeface="Calibri"/>
              </a:defRPr>
            </a:defPPr>
            <a:lvl1pPr>
              <a:defRPr sz="2325" b="1">
                <a:solidFill>
                  <a:srgbClr val="1C3144"/>
                </a:solidFill>
                <a:latin typeface="Calibri"/>
                <a:ea typeface="Calibri"/>
                <a:cs typeface="Calibri"/>
              </a:defRPr>
            </a:lvl1pPr>
            <a:lvl2pPr>
              <a:defRPr sz="2325" b="1">
                <a:solidFill>
                  <a:srgbClr val="1C3144"/>
                </a:solidFill>
                <a:latin typeface="Calibri"/>
                <a:ea typeface="Calibri"/>
                <a:cs typeface="Calibri"/>
              </a:defRPr>
            </a:lvl2pPr>
            <a:lvl3pPr>
              <a:defRPr sz="2325" b="1">
                <a:solidFill>
                  <a:srgbClr val="1C3144"/>
                </a:solidFill>
                <a:latin typeface="Calibri"/>
                <a:ea typeface="Calibri"/>
                <a:cs typeface="Calibri"/>
              </a:defRPr>
            </a:lvl3pPr>
            <a:lvl4pPr>
              <a:defRPr sz="2325" b="1">
                <a:solidFill>
                  <a:srgbClr val="1C3144"/>
                </a:solidFill>
                <a:latin typeface="Calibri"/>
                <a:ea typeface="Calibri"/>
                <a:cs typeface="Calibri"/>
              </a:defRPr>
            </a:lvl4pPr>
            <a:lvl5pPr>
              <a:defRPr sz="2325" b="1">
                <a:solidFill>
                  <a:srgbClr val="1C3144"/>
                </a:solidFill>
                <a:latin typeface="Calibri"/>
                <a:ea typeface="Calibri"/>
                <a:cs typeface="Calibri"/>
              </a:defRPr>
            </a:lvl5pPr>
            <a:lvl6pPr>
              <a:defRPr sz="2325" b="1">
                <a:solidFill>
                  <a:srgbClr val="1C3144"/>
                </a:solidFill>
                <a:latin typeface="Calibri"/>
                <a:ea typeface="Calibri"/>
                <a:cs typeface="Calibri"/>
              </a:defRPr>
            </a:lvl6pPr>
            <a:lvl7pPr>
              <a:defRPr sz="2325" b="1">
                <a:solidFill>
                  <a:srgbClr val="1C3144"/>
                </a:solidFill>
                <a:latin typeface="Calibri"/>
                <a:ea typeface="Calibri"/>
                <a:cs typeface="Calibri"/>
              </a:defRPr>
            </a:lvl7pPr>
            <a:lvl8pPr>
              <a:defRPr sz="2325" b="1">
                <a:solidFill>
                  <a:srgbClr val="1C3144"/>
                </a:solidFill>
                <a:latin typeface="Calibri"/>
                <a:ea typeface="Calibri"/>
                <a:cs typeface="Calibri"/>
              </a:defRPr>
            </a:lvl8pPr>
            <a:lvl9pPr>
              <a:defRPr sz="2325" b="1">
                <a:solidFill>
                  <a:srgbClr val="1C3144"/>
                </a:solidFill>
                <a:latin typeface="Calibri"/>
                <a:ea typeface="Calibri"/>
                <a:cs typeface="Calibri"/>
              </a:defRPr>
            </a:lvl9pPr>
          </a:lstStyle>
          <a:p>
            <a:pPr>
              <a:defRPr sz="2325" b="1">
                <a:solidFill>
                  <a:srgbClr val="1C3144"/>
                </a:solidFill>
                <a:latin typeface="Calibri"/>
                <a:ea typeface="Calibri"/>
                <a:cs typeface="Calibri"/>
              </a:defRPr>
            </a:pPr>
            <a:r>
              <a:rPr sz="2325" b="1">
                <a:solidFill>
                  <a:srgbClr val="1C3144"/>
                </a:solidFill>
                <a:latin typeface="Calibri"/>
                <a:ea typeface="Calibri"/>
                <a:cs typeface="Calibri"/>
              </a:rPr>
              <a:t>20%</a:t>
            </a:r>
          </a:p>
        </p:txBody>
      </p:sp>
      <p:sp>
        <p:nvSpPr>
          <p:cNvPr id="11" name="reveal-03-candidate">
            <a:extLst>
              <a:ext uri="{FF2B5EF4-FFF2-40B4-BE49-F238E27FC236}">
                <ns2:creationId id="{8E4C8D4B-6291-4E96-BA6E-6888613B57FC}"/>
              </a:ext>
            </a:extLst>
          </p:cNvPr>
          <p:cNvSpPr>
            <a:spLocks noGrp="1"/>
          </p:cNvSpPr>
          <p:nvPr/>
        </p:nvSpPr>
        <p:spPr>
          <a:xfrm>
            <a:off x="619125" y="4714875"/>
            <a:ext cx="2857500" cy="571500"/>
          </a:xfrm>
          <a:prstGeom prst="rect">
            <a:avLst/>
          </a:prstGeom>
          <a:noFill/>
          <a:ln w="0">
            <a:noFill/>
          </a:ln>
        </p:spPr>
        <p:txBody>
          <a:bodyPr>
            <a:noAutofit/>
          </a:bodyPr>
          <a:lstStyle>
            <a:defPPr>
              <a:defRPr sz="2325" b="1">
                <a:solidFill>
                  <a:srgbClr val="246E63"/>
                </a:solidFill>
                <a:latin typeface="Calibri"/>
                <a:ea typeface="Calibri"/>
                <a:cs typeface="Calibri"/>
              </a:defRPr>
            </a:defPPr>
            <a:lvl1pPr>
              <a:defRPr sz="2325" b="1">
                <a:solidFill>
                  <a:srgbClr val="246E63"/>
                </a:solidFill>
                <a:latin typeface="Calibri"/>
                <a:ea typeface="Calibri"/>
                <a:cs typeface="Calibri"/>
              </a:defRPr>
            </a:lvl1pPr>
            <a:lvl2pPr>
              <a:defRPr sz="2325" b="1">
                <a:solidFill>
                  <a:srgbClr val="246E63"/>
                </a:solidFill>
                <a:latin typeface="Calibri"/>
                <a:ea typeface="Calibri"/>
                <a:cs typeface="Calibri"/>
              </a:defRPr>
            </a:lvl2pPr>
            <a:lvl3pPr>
              <a:defRPr sz="2325" b="1">
                <a:solidFill>
                  <a:srgbClr val="246E63"/>
                </a:solidFill>
                <a:latin typeface="Calibri"/>
                <a:ea typeface="Calibri"/>
                <a:cs typeface="Calibri"/>
              </a:defRPr>
            </a:lvl3pPr>
            <a:lvl4pPr>
              <a:defRPr sz="2325" b="1">
                <a:solidFill>
                  <a:srgbClr val="246E63"/>
                </a:solidFill>
                <a:latin typeface="Calibri"/>
                <a:ea typeface="Calibri"/>
                <a:cs typeface="Calibri"/>
              </a:defRPr>
            </a:lvl4pPr>
            <a:lvl5pPr>
              <a:defRPr sz="2325" b="1">
                <a:solidFill>
                  <a:srgbClr val="246E63"/>
                </a:solidFill>
                <a:latin typeface="Calibri"/>
                <a:ea typeface="Calibri"/>
                <a:cs typeface="Calibri"/>
              </a:defRPr>
            </a:lvl5pPr>
            <a:lvl6pPr>
              <a:defRPr sz="2325" b="1">
                <a:solidFill>
                  <a:srgbClr val="246E63"/>
                </a:solidFill>
                <a:latin typeface="Calibri"/>
                <a:ea typeface="Calibri"/>
                <a:cs typeface="Calibri"/>
              </a:defRPr>
            </a:lvl6pPr>
            <a:lvl7pPr>
              <a:defRPr sz="2325" b="1">
                <a:solidFill>
                  <a:srgbClr val="246E63"/>
                </a:solidFill>
                <a:latin typeface="Calibri"/>
                <a:ea typeface="Calibri"/>
                <a:cs typeface="Calibri"/>
              </a:defRPr>
            </a:lvl7pPr>
            <a:lvl8pPr>
              <a:defRPr sz="2325" b="1">
                <a:solidFill>
                  <a:srgbClr val="246E63"/>
                </a:solidFill>
                <a:latin typeface="Calibri"/>
                <a:ea typeface="Calibri"/>
                <a:cs typeface="Calibri"/>
              </a:defRPr>
            </a:lvl8pPr>
            <a:lvl9pPr>
              <a:defRPr sz="2325" b="1">
                <a:solidFill>
                  <a:srgbClr val="246E63"/>
                </a:solidFill>
                <a:latin typeface="Calibri"/>
                <a:ea typeface="Calibri"/>
                <a:cs typeface="Calibri"/>
              </a:defRPr>
            </a:lvl9pPr>
          </a:lstStyle>
          <a:p>
            <a:pPr>
              <a:defRPr sz="2325" b="1">
                <a:solidFill>
                  <a:srgbClr val="246E63"/>
                </a:solidFill>
                <a:latin typeface="Calibri"/>
                <a:ea typeface="Calibri"/>
                <a:cs typeface="Calibri"/>
              </a:defRPr>
            </a:pPr>
            <a:r>
              <a:rPr sz="2325" b="1">
                <a:solidFill>
                  <a:srgbClr val="246E63"/>
                </a:solidFill>
                <a:latin typeface="Calibri"/>
                <a:ea typeface="Calibri"/>
                <a:cs typeface="Calibri"/>
              </a:rPr>
              <a:t>available</a:t>
            </a:r>
          </a:p>
        </p:txBody>
      </p:sp>
      <p:sp>
        <p:nvSpPr>
          <p:cNvPr id="12" name="reveal-03-probability">
            <a:extLst>
              <a:ext uri="{FF2B5EF4-FFF2-40B4-BE49-F238E27FC236}">
                <ns2:creationId id="{67E6EC23-4FE7-4614-94EF-87BE1DD7500B}"/>
              </a:ext>
              <a:ext uri="{C183D7F6-B498-43B3-948B-1728B52AA6E4}">
                <ns3:decorative val="1"/>
              </a:ext>
            </a:extLst>
          </p:cNvPr>
          <p:cNvSpPr>
            <a:spLocks noGrp="1"/>
          </p:cNvSpPr>
          <p:nvPr/>
        </p:nvSpPr>
        <p:spPr>
          <a:xfrm>
            <a:off x="3714750" y="4714875"/>
            <a:ext cx="809625" cy="457200"/>
          </a:xfrm>
          <a:prstGeom prst="rect">
            <a:avLst/>
          </a:prstGeom>
          <a:solidFill>
            <a:srgbClr val="C94E29"/>
          </a:solidFill>
          <a:ln w="11430">
            <a:solidFill>
              <a:srgbClr val="C9D5DA"/>
            </a:solidFill>
          </a:ln>
        </p:spPr>
      </p:sp>
      <p:sp>
        <p:nvSpPr>
          <p:cNvPr id="13" name="reveal-03-score">
            <a:extLst>
              <a:ext uri="{FF2B5EF4-FFF2-40B4-BE49-F238E27FC236}">
                <ns2:creationId id="{458CCD24-D51D-4E40-A7C7-FE9A5A174C16}"/>
              </a:ext>
            </a:extLst>
          </p:cNvPr>
          <p:cNvSpPr>
            <a:spLocks noGrp="1"/>
          </p:cNvSpPr>
          <p:nvPr/>
        </p:nvSpPr>
        <p:spPr>
          <a:xfrm>
            <a:off x="9810750" y="4714875"/>
            <a:ext cx="1714500" cy="523875"/>
          </a:xfrm>
          <a:prstGeom prst="rect">
            <a:avLst/>
          </a:prstGeom>
          <a:noFill/>
          <a:ln w="0">
            <a:noFill/>
          </a:ln>
        </p:spPr>
        <p:txBody>
          <a:bodyPr>
            <a:noAutofit/>
          </a:bodyPr>
          <a:lstStyle>
            <a:defPPr>
              <a:defRPr sz="2325" b="1">
                <a:solidFill>
                  <a:srgbClr val="1C3144"/>
                </a:solidFill>
                <a:latin typeface="Calibri"/>
                <a:ea typeface="Calibri"/>
                <a:cs typeface="Calibri"/>
              </a:defRPr>
            </a:defPPr>
            <a:lvl1pPr>
              <a:defRPr sz="2325" b="1">
                <a:solidFill>
                  <a:srgbClr val="1C3144"/>
                </a:solidFill>
                <a:latin typeface="Calibri"/>
                <a:ea typeface="Calibri"/>
                <a:cs typeface="Calibri"/>
              </a:defRPr>
            </a:lvl1pPr>
            <a:lvl2pPr>
              <a:defRPr sz="2325" b="1">
                <a:solidFill>
                  <a:srgbClr val="1C3144"/>
                </a:solidFill>
                <a:latin typeface="Calibri"/>
                <a:ea typeface="Calibri"/>
                <a:cs typeface="Calibri"/>
              </a:defRPr>
            </a:lvl2pPr>
            <a:lvl3pPr>
              <a:defRPr sz="2325" b="1">
                <a:solidFill>
                  <a:srgbClr val="1C3144"/>
                </a:solidFill>
                <a:latin typeface="Calibri"/>
                <a:ea typeface="Calibri"/>
                <a:cs typeface="Calibri"/>
              </a:defRPr>
            </a:lvl3pPr>
            <a:lvl4pPr>
              <a:defRPr sz="2325" b="1">
                <a:solidFill>
                  <a:srgbClr val="1C3144"/>
                </a:solidFill>
                <a:latin typeface="Calibri"/>
                <a:ea typeface="Calibri"/>
                <a:cs typeface="Calibri"/>
              </a:defRPr>
            </a:lvl4pPr>
            <a:lvl5pPr>
              <a:defRPr sz="2325" b="1">
                <a:solidFill>
                  <a:srgbClr val="1C3144"/>
                </a:solidFill>
                <a:latin typeface="Calibri"/>
                <a:ea typeface="Calibri"/>
                <a:cs typeface="Calibri"/>
              </a:defRPr>
            </a:lvl5pPr>
            <a:lvl6pPr>
              <a:defRPr sz="2325" b="1">
                <a:solidFill>
                  <a:srgbClr val="1C3144"/>
                </a:solidFill>
                <a:latin typeface="Calibri"/>
                <a:ea typeface="Calibri"/>
                <a:cs typeface="Calibri"/>
              </a:defRPr>
            </a:lvl6pPr>
            <a:lvl7pPr>
              <a:defRPr sz="2325" b="1">
                <a:solidFill>
                  <a:srgbClr val="1C3144"/>
                </a:solidFill>
                <a:latin typeface="Calibri"/>
                <a:ea typeface="Calibri"/>
                <a:cs typeface="Calibri"/>
              </a:defRPr>
            </a:lvl7pPr>
            <a:lvl8pPr>
              <a:defRPr sz="2325" b="1">
                <a:solidFill>
                  <a:srgbClr val="1C3144"/>
                </a:solidFill>
                <a:latin typeface="Calibri"/>
                <a:ea typeface="Calibri"/>
                <a:cs typeface="Calibri"/>
              </a:defRPr>
            </a:lvl8pPr>
            <a:lvl9pPr>
              <a:defRPr sz="2325" b="1">
                <a:solidFill>
                  <a:srgbClr val="1C3144"/>
                </a:solidFill>
                <a:latin typeface="Calibri"/>
                <a:ea typeface="Calibri"/>
                <a:cs typeface="Calibri"/>
              </a:defRPr>
            </a:lvl9pPr>
          </a:lstStyle>
          <a:p>
            <a:pPr>
              <a:defRPr sz="2325" b="1">
                <a:solidFill>
                  <a:srgbClr val="1C3144"/>
                </a:solidFill>
                <a:latin typeface="Calibri"/>
                <a:ea typeface="Calibri"/>
                <a:cs typeface="Calibri"/>
              </a:defRPr>
            </a:pPr>
            <a:r>
              <a:rPr sz="2325" b="1">
                <a:solidFill>
                  <a:srgbClr val="1C3144"/>
                </a:solidFill>
                <a:latin typeface="Calibri"/>
                <a:ea typeface="Calibri"/>
                <a:cs typeface="Calibri"/>
              </a:rPr>
              <a:t>10%</a:t>
            </a:r>
          </a:p>
        </p:txBody>
      </p:sp>
      <p:sp>
        <p:nvSpPr>
          <p:cNvPr id="14" name="text-26">
            <a:extLst>
              <a:ext uri="{FF2B5EF4-FFF2-40B4-BE49-F238E27FC236}">
                <ns2:creationId id="{98F83193-D0EB-4F6A-90AA-E85C5BF77485}"/>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Invented next-token probabilities sum to 100%. They are not probabilities that a legal claim is true.</a:t>
            </a:r>
          </a:p>
        </p:txBody>
      </p:sp>
      <p:sp>
        <p:nvSpPr>
          <p:cNvPr id="3" name="text-24">
            <a:extLst>
              <a:ext uri="{FF2B5EF4-FFF2-40B4-BE49-F238E27FC236}">
                <ns2:creationId id="{3A3C07C4-2A9D-4872-B77B-A7C054154580}"/>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03   4</a:t>
            </a:r>
          </a:p>
        </p:txBody>
      </p:sp>
    </p:spTree>
    <p:extLst>
      <p:ext uri="{BB962C8B-B14F-4D97-AF65-F5344CB8AC3E}">
        <ns4:creationId val="1867797830"/>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00"/>
                                        <p:tgtEl>
                                          <p:spTgt spid="5"/>
                                        </p:tgtEl>
                                      </p:cBhvr>
                                    </p:animEffect>
                                  </p:childTnLst>
                                </p:cTn>
                              </p:par>
                              <p:par>
                                <p:cTn id="8" presetID="10" presetClass="entr" presetSubtype="0" fill="hold" nodeType="click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300"/>
                                        <p:tgtEl>
                                          <p:spTgt spid="6"/>
                                        </p:tgtEl>
                                      </p:cBhvr>
                                    </p:animEffect>
                                  </p:childTnLst>
                                </p:cTn>
                              </p:par>
                              <p:par>
                                <p:cTn id="11" presetID="10"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3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300"/>
                                        <p:tgtEl>
                                          <p:spTgt spid="8"/>
                                        </p:tgtEl>
                                      </p:cBhvr>
                                    </p:animEffect>
                                  </p:childTnLst>
                                </p:cTn>
                              </p:par>
                              <p:par>
                                <p:cTn id="19" presetID="10"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300"/>
                                        <p:tgtEl>
                                          <p:spTgt spid="9"/>
                                        </p:tgtEl>
                                      </p:cBhvr>
                                    </p:animEffect>
                                  </p:childTnLst>
                                </p:cTn>
                              </p:par>
                              <p:par>
                                <p:cTn id="22" presetID="10" presetClass="entr" presetSubtype="0"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300"/>
                                        <p:tgtEl>
                                          <p:spTgt spid="11"/>
                                        </p:tgtEl>
                                      </p:cBhvr>
                                    </p:animEffect>
                                  </p:childTnLst>
                                </p:cTn>
                              </p:par>
                              <p:par>
                                <p:cTn id="30" presetID="10" presetClass="entr" presetSubtype="0"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300"/>
                                        <p:tgtEl>
                                          <p:spTgt spid="12"/>
                                        </p:tgtEl>
                                      </p:cBhvr>
                                    </p:animEffect>
                                  </p:childTnLst>
                                </p:cTn>
                              </p:par>
                              <p:par>
                                <p:cTn id="33" presetID="10" presetClass="entr" presetSubtype="0" fill="hold"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3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The response grows one token at a time">
    <p:bg>
      <p:bgPr>
        <a:solidFill>
          <a:srgbClr val="FFFFFF"/>
        </a:solidFill>
      </p:bgPr>
    </p:bg>
    <p:spTree>
      <p:nvGrpSpPr>
        <p:cNvPr id="1" name=""/>
        <p:cNvGrpSpPr/>
        <p:nvPr/>
      </p:nvGrpSpPr>
      <p:grpSpPr>
        <a:xfrm/>
      </p:grpSpPr>
      <p:cxnSp>
        <p:nvCxnSpPr>
          <p:cNvPr id="17" name="reveal-03-arrow" descr="The response grows one token at a time">
            <a:extLst>
              <a:ext uri="{FF2B5EF4-FFF2-40B4-BE49-F238E27FC236}">
                <ns2:creationId id="{E0C0952B-9BC9-4273-B778-2C0CBE276D3D}"/>
              </a:ext>
            </a:extLst>
          </p:cNvPr>
          <p:cNvCxnSpPr>
            <a:stCxn id="8" idx="3"/>
            <a:endCxn id="12" idx="1"/>
          </p:cNvCxnSpPr>
          <p:nvPr/>
        </p:nvCxnSpPr>
        <p:spPr>
          <a:xfrm>
            <a:off x="7810500" y="3581400"/>
            <a:ext cx="333375" cy="0"/>
          </a:xfrm>
          <a:prstGeom prst="straightConnector1">
            <a:avLst/>
          </a:prstGeom>
          <a:ln w="23813">
            <a:solidFill>
              <a:srgbClr val="246E63"/>
            </a:solidFill>
            <a:tailEnd type="arrow" w="med" len="med"/>
          </a:ln>
        </p:spPr>
      </p:cxnSp>
      <p:cxnSp>
        <p:nvCxnSpPr>
          <p:cNvPr id="16" name="reveal-02-arrow">
            <a:extLst>
              <a:ext uri="{FF2B5EF4-FFF2-40B4-BE49-F238E27FC236}">
                <ns2:creationId id="{0DE5EB65-AD8E-4D37-9583-20137C8093FF}"/>
              </a:ext>
              <a:ext uri="{C183D7F6-B498-43B3-948B-1728B52AA6E4}">
                <ns3:decorative val="1"/>
              </a:ext>
            </a:extLst>
          </p:cNvPr>
          <p:cNvCxnSpPr>
            <a:stCxn id="4" idx="3"/>
            <a:endCxn id="8" idx="1"/>
          </p:cNvCxnSpPr>
          <p:nvPr/>
        </p:nvCxnSpPr>
        <p:spPr>
          <a:xfrm>
            <a:off x="4048125" y="3581400"/>
            <a:ext cx="333375" cy="0"/>
          </a:xfrm>
          <a:prstGeom prst="straightConnector1">
            <a:avLst/>
          </a:prstGeom>
          <a:ln w="23813">
            <a:solidFill>
              <a:srgbClr val="246E63"/>
            </a:solidFill>
            <a:tailEnd type="arrow" w="med" len="med"/>
          </a:ln>
        </p:spPr>
      </p:cxnSp>
      <p:sp>
        <p:nvSpPr>
          <p:cNvPr id="20" name="text-27">
            <a:extLst>
              <a:ext uri="{FF2B5EF4-FFF2-40B4-BE49-F238E27FC236}">
                <ns2:creationId id="{AE6E69DB-7500-466A-8963-45FC453A3A2D}"/>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03</a:t>
            </a:r>
          </a:p>
        </p:txBody>
      </p:sp>
      <p:sp>
        <p:nvSpPr>
          <p:cNvPr id="2" name="text-28">
            <a:extLst>
              <a:ext uri="{FF2B5EF4-FFF2-40B4-BE49-F238E27FC236}">
                <ns2:creationId id="{8D9D9B59-ABB3-4331-9EB6-93BD95EE9E2D}"/>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response grows one token at a time</a:t>
            </a:r>
          </a:p>
        </p:txBody>
      </p:sp>
      <p:sp>
        <p:nvSpPr>
          <p:cNvPr id="4" name="reveal-01-stage">
            <a:extLst>
              <a:ext uri="{FF2B5EF4-FFF2-40B4-BE49-F238E27FC236}">
                <ns2:creationId id="{39F5966B-B1A3-43E8-8503-1BC6BCA221B3}"/>
              </a:ext>
              <a:ext uri="{C183D7F6-B498-43B3-948B-1728B52AA6E4}">
                <ns3:decorative val="1"/>
              </a:ext>
            </a:extLst>
          </p:cNvPr>
          <p:cNvSpPr>
            <a:spLocks noGrp="1"/>
          </p:cNvSpPr>
          <p:nvPr/>
        </p:nvSpPr>
        <p:spPr>
          <a:xfrm>
            <a:off x="619125" y="2571750"/>
            <a:ext cx="3429000" cy="2019300"/>
          </a:xfrm>
          <a:prstGeom prst="rect">
            <a:avLst/>
          </a:prstGeom>
          <a:solidFill>
            <a:srgbClr val="F1F5F6"/>
          </a:solidFill>
          <a:ln w="11430">
            <a:solidFill>
              <a:srgbClr val="C9D5DA"/>
            </a:solidFill>
          </a:ln>
        </p:spPr>
      </p:sp>
      <p:sp>
        <p:nvSpPr>
          <p:cNvPr id="5" name="reveal-01-number">
            <a:extLst>
              <a:ext uri="{FF2B5EF4-FFF2-40B4-BE49-F238E27FC236}">
                <ns2:creationId id="{D5578A55-4BC4-435F-945B-6A1F883A71F2}"/>
              </a:ext>
            </a:extLst>
          </p:cNvPr>
          <p:cNvSpPr>
            <a:spLocks noGrp="1"/>
          </p:cNvSpPr>
          <p:nvPr/>
        </p:nvSpPr>
        <p:spPr>
          <a:xfrm>
            <a:off x="619125" y="2133600"/>
            <a:ext cx="3429000"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01</a:t>
            </a:r>
          </a:p>
        </p:txBody>
      </p:sp>
      <p:sp>
        <p:nvSpPr>
          <p:cNvPr id="6" name="reveal-01-label">
            <a:extLst>
              <a:ext uri="{FF2B5EF4-FFF2-40B4-BE49-F238E27FC236}">
                <ns2:creationId id="{005D2939-783F-49CD-A8A0-5D40AA0B2EDB}"/>
              </a:ext>
            </a:extLst>
          </p:cNvPr>
          <p:cNvSpPr>
            <a:spLocks noGrp="1"/>
          </p:cNvSpPr>
          <p:nvPr/>
        </p:nvSpPr>
        <p:spPr>
          <a:xfrm>
            <a:off x="771525" y="2724150"/>
            <a:ext cx="3124200" cy="723900"/>
          </a:xfrm>
          <a:prstGeom prst="rect">
            <a:avLst/>
          </a:prstGeom>
          <a:noFill/>
          <a:ln w="0">
            <a:noFill/>
          </a:ln>
        </p:spPr>
        <p:txBody>
          <a:bodyPr>
            <a:noAutofit/>
          </a:bodyPr>
          <a:lstStyle>
            <a:defPPr>
              <a:defRPr sz="2400" b="1">
                <a:solidFill>
                  <a:srgbClr val="246E63"/>
                </a:solidFill>
                <a:latin typeface="Calibri"/>
                <a:ea typeface="Calibri"/>
                <a:cs typeface="Calibri"/>
              </a:defRPr>
            </a:defPPr>
            <a:lvl1pPr>
              <a:defRPr sz="2400" b="1">
                <a:solidFill>
                  <a:srgbClr val="246E63"/>
                </a:solidFill>
                <a:latin typeface="Calibri"/>
                <a:ea typeface="Calibri"/>
                <a:cs typeface="Calibri"/>
              </a:defRPr>
            </a:lvl1pPr>
            <a:lvl2pPr>
              <a:defRPr sz="2400" b="1">
                <a:solidFill>
                  <a:srgbClr val="246E63"/>
                </a:solidFill>
                <a:latin typeface="Calibri"/>
                <a:ea typeface="Calibri"/>
                <a:cs typeface="Calibri"/>
              </a:defRPr>
            </a:lvl2pPr>
            <a:lvl3pPr>
              <a:defRPr sz="2400" b="1">
                <a:solidFill>
                  <a:srgbClr val="246E63"/>
                </a:solidFill>
                <a:latin typeface="Calibri"/>
                <a:ea typeface="Calibri"/>
                <a:cs typeface="Calibri"/>
              </a:defRPr>
            </a:lvl3pPr>
            <a:lvl4pPr>
              <a:defRPr sz="2400" b="1">
                <a:solidFill>
                  <a:srgbClr val="246E63"/>
                </a:solidFill>
                <a:latin typeface="Calibri"/>
                <a:ea typeface="Calibri"/>
                <a:cs typeface="Calibri"/>
              </a:defRPr>
            </a:lvl4pPr>
            <a:lvl5pPr>
              <a:defRPr sz="2400" b="1">
                <a:solidFill>
                  <a:srgbClr val="246E63"/>
                </a:solidFill>
                <a:latin typeface="Calibri"/>
                <a:ea typeface="Calibri"/>
                <a:cs typeface="Calibri"/>
              </a:defRPr>
            </a:lvl5pPr>
            <a:lvl6pPr>
              <a:defRPr sz="2400" b="1">
                <a:solidFill>
                  <a:srgbClr val="246E63"/>
                </a:solidFill>
                <a:latin typeface="Calibri"/>
                <a:ea typeface="Calibri"/>
                <a:cs typeface="Calibri"/>
              </a:defRPr>
            </a:lvl6pPr>
            <a:lvl7pPr>
              <a:defRPr sz="2400" b="1">
                <a:solidFill>
                  <a:srgbClr val="246E63"/>
                </a:solidFill>
                <a:latin typeface="Calibri"/>
                <a:ea typeface="Calibri"/>
                <a:cs typeface="Calibri"/>
              </a:defRPr>
            </a:lvl7pPr>
            <a:lvl8pPr>
              <a:defRPr sz="2400" b="1">
                <a:solidFill>
                  <a:srgbClr val="246E63"/>
                </a:solidFill>
                <a:latin typeface="Calibri"/>
                <a:ea typeface="Calibri"/>
                <a:cs typeface="Calibri"/>
              </a:defRPr>
            </a:lvl8pPr>
            <a:lvl9pPr>
              <a:defRPr sz="2400" b="1">
                <a:solidFill>
                  <a:srgbClr val="246E63"/>
                </a:solidFill>
                <a:latin typeface="Calibri"/>
                <a:ea typeface="Calibri"/>
                <a:cs typeface="Calibri"/>
              </a:defRPr>
            </a:lvl9pPr>
          </a:lstStyle>
          <a:p>
            <a:pPr>
              <a:defRPr sz="2400" b="1">
                <a:solidFill>
                  <a:srgbClr val="246E63"/>
                </a:solidFill>
                <a:latin typeface="Calibri"/>
                <a:ea typeface="Calibri"/>
                <a:cs typeface="Calibri"/>
              </a:defRPr>
            </a:pPr>
            <a:r>
              <a:rPr sz="2400" b="1">
                <a:solidFill>
                  <a:srgbClr val="246E63"/>
                </a:solidFill>
                <a:latin typeface="Calibri"/>
                <a:ea typeface="Calibri"/>
                <a:cs typeface="Calibri"/>
              </a:rPr>
              <a:t>Current prefix</a:t>
            </a:r>
          </a:p>
        </p:txBody>
      </p:sp>
      <p:sp>
        <p:nvSpPr>
          <p:cNvPr id="7" name="reveal-01-detail">
            <a:extLst>
              <a:ext uri="{FF2B5EF4-FFF2-40B4-BE49-F238E27FC236}">
                <ns2:creationId id="{91F9ADC9-7173-4A00-B302-F4E3EAC74BBC}"/>
              </a:ext>
            </a:extLst>
          </p:cNvPr>
          <p:cNvSpPr>
            <a:spLocks noGrp="1"/>
          </p:cNvSpPr>
          <p:nvPr/>
        </p:nvSpPr>
        <p:spPr>
          <a:xfrm>
            <a:off x="771525" y="3629025"/>
            <a:ext cx="3124200"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The provider remains</a:t>
            </a:r>
          </a:p>
        </p:txBody>
      </p:sp>
      <p:sp>
        <p:nvSpPr>
          <p:cNvPr id="8" name="reveal-02-stage">
            <a:extLst>
              <a:ext uri="{FF2B5EF4-FFF2-40B4-BE49-F238E27FC236}">
                <ns2:creationId id="{54307A94-C9C2-43DD-911C-CB94580A842B}"/>
              </a:ext>
              <a:ext uri="{C183D7F6-B498-43B3-948B-1728B52AA6E4}">
                <ns3:decorative val="1"/>
              </a:ext>
            </a:extLst>
          </p:cNvPr>
          <p:cNvSpPr>
            <a:spLocks noGrp="1"/>
          </p:cNvSpPr>
          <p:nvPr/>
        </p:nvSpPr>
        <p:spPr>
          <a:xfrm>
            <a:off x="4381500" y="2571750"/>
            <a:ext cx="3429000" cy="2019300"/>
          </a:xfrm>
          <a:prstGeom prst="rect">
            <a:avLst/>
          </a:prstGeom>
          <a:solidFill>
            <a:srgbClr val="F1F5F6"/>
          </a:solidFill>
          <a:ln w="11430">
            <a:solidFill>
              <a:srgbClr val="C9D5DA"/>
            </a:solidFill>
          </a:ln>
        </p:spPr>
      </p:sp>
      <p:sp>
        <p:nvSpPr>
          <p:cNvPr id="9" name="reveal-02-number">
            <a:extLst>
              <a:ext uri="{FF2B5EF4-FFF2-40B4-BE49-F238E27FC236}">
                <ns2:creationId id="{5729913B-9630-4A7E-A6B8-E2CA4618646C}"/>
              </a:ext>
            </a:extLst>
          </p:cNvPr>
          <p:cNvSpPr>
            <a:spLocks noGrp="1"/>
          </p:cNvSpPr>
          <p:nvPr/>
        </p:nvSpPr>
        <p:spPr>
          <a:xfrm>
            <a:off x="4381500" y="2133600"/>
            <a:ext cx="3429000"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02</a:t>
            </a:r>
          </a:p>
        </p:txBody>
      </p:sp>
      <p:sp>
        <p:nvSpPr>
          <p:cNvPr id="10" name="reveal-02-label">
            <a:extLst>
              <a:ext uri="{FF2B5EF4-FFF2-40B4-BE49-F238E27FC236}">
                <ns2:creationId id="{53C8A450-4637-44F7-BB44-091AAC03E8D0}"/>
              </a:ext>
            </a:extLst>
          </p:cNvPr>
          <p:cNvSpPr>
            <a:spLocks noGrp="1"/>
          </p:cNvSpPr>
          <p:nvPr/>
        </p:nvSpPr>
        <p:spPr>
          <a:xfrm>
            <a:off x="4533900" y="2724150"/>
            <a:ext cx="3124200" cy="723900"/>
          </a:xfrm>
          <a:prstGeom prst="rect">
            <a:avLst/>
          </a:prstGeom>
          <a:noFill/>
          <a:ln w="0">
            <a:noFill/>
          </a:ln>
        </p:spPr>
        <p:txBody>
          <a:bodyPr>
            <a:noAutofit/>
          </a:bodyPr>
          <a:lstStyle>
            <a:defPPr>
              <a:defRPr sz="2400" b="1">
                <a:solidFill>
                  <a:srgbClr val="246E63"/>
                </a:solidFill>
                <a:latin typeface="Calibri"/>
                <a:ea typeface="Calibri"/>
                <a:cs typeface="Calibri"/>
              </a:defRPr>
            </a:defPPr>
            <a:lvl1pPr>
              <a:defRPr sz="2400" b="1">
                <a:solidFill>
                  <a:srgbClr val="246E63"/>
                </a:solidFill>
                <a:latin typeface="Calibri"/>
                <a:ea typeface="Calibri"/>
                <a:cs typeface="Calibri"/>
              </a:defRPr>
            </a:lvl1pPr>
            <a:lvl2pPr>
              <a:defRPr sz="2400" b="1">
                <a:solidFill>
                  <a:srgbClr val="246E63"/>
                </a:solidFill>
                <a:latin typeface="Calibri"/>
                <a:ea typeface="Calibri"/>
                <a:cs typeface="Calibri"/>
              </a:defRPr>
            </a:lvl2pPr>
            <a:lvl3pPr>
              <a:defRPr sz="2400" b="1">
                <a:solidFill>
                  <a:srgbClr val="246E63"/>
                </a:solidFill>
                <a:latin typeface="Calibri"/>
                <a:ea typeface="Calibri"/>
                <a:cs typeface="Calibri"/>
              </a:defRPr>
            </a:lvl3pPr>
            <a:lvl4pPr>
              <a:defRPr sz="2400" b="1">
                <a:solidFill>
                  <a:srgbClr val="246E63"/>
                </a:solidFill>
                <a:latin typeface="Calibri"/>
                <a:ea typeface="Calibri"/>
                <a:cs typeface="Calibri"/>
              </a:defRPr>
            </a:lvl4pPr>
            <a:lvl5pPr>
              <a:defRPr sz="2400" b="1">
                <a:solidFill>
                  <a:srgbClr val="246E63"/>
                </a:solidFill>
                <a:latin typeface="Calibri"/>
                <a:ea typeface="Calibri"/>
                <a:cs typeface="Calibri"/>
              </a:defRPr>
            </a:lvl5pPr>
            <a:lvl6pPr>
              <a:defRPr sz="2400" b="1">
                <a:solidFill>
                  <a:srgbClr val="246E63"/>
                </a:solidFill>
                <a:latin typeface="Calibri"/>
                <a:ea typeface="Calibri"/>
                <a:cs typeface="Calibri"/>
              </a:defRPr>
            </a:lvl6pPr>
            <a:lvl7pPr>
              <a:defRPr sz="2400" b="1">
                <a:solidFill>
                  <a:srgbClr val="246E63"/>
                </a:solidFill>
                <a:latin typeface="Calibri"/>
                <a:ea typeface="Calibri"/>
                <a:cs typeface="Calibri"/>
              </a:defRPr>
            </a:lvl7pPr>
            <a:lvl8pPr>
              <a:defRPr sz="2400" b="1">
                <a:solidFill>
                  <a:srgbClr val="246E63"/>
                </a:solidFill>
                <a:latin typeface="Calibri"/>
                <a:ea typeface="Calibri"/>
                <a:cs typeface="Calibri"/>
              </a:defRPr>
            </a:lvl8pPr>
            <a:lvl9pPr>
              <a:defRPr sz="2400" b="1">
                <a:solidFill>
                  <a:srgbClr val="246E63"/>
                </a:solidFill>
                <a:latin typeface="Calibri"/>
                <a:ea typeface="Calibri"/>
                <a:cs typeface="Calibri"/>
              </a:defRPr>
            </a:lvl9pPr>
          </a:lstStyle>
          <a:p>
            <a:pPr>
              <a:defRPr sz="2400" b="1">
                <a:solidFill>
                  <a:srgbClr val="246E63"/>
                </a:solidFill>
                <a:latin typeface="Calibri"/>
                <a:ea typeface="Calibri"/>
                <a:cs typeface="Calibri"/>
              </a:defRPr>
            </a:pPr>
            <a:r>
              <a:rPr sz="2400" b="1">
                <a:solidFill>
                  <a:srgbClr val="246E63"/>
                </a:solidFill>
                <a:latin typeface="Calibri"/>
                <a:ea typeface="Calibri"/>
                <a:cs typeface="Calibri"/>
              </a:rPr>
              <a:t>Next-token scores</a:t>
            </a:r>
          </a:p>
        </p:txBody>
      </p:sp>
      <p:sp>
        <p:nvSpPr>
          <p:cNvPr id="11" name="reveal-02-detail">
            <a:extLst>
              <a:ext uri="{FF2B5EF4-FFF2-40B4-BE49-F238E27FC236}">
                <ns2:creationId id="{C43DF5D3-609D-499A-A330-DBA02E1E1A20}"/>
              </a:ext>
            </a:extLst>
          </p:cNvPr>
          <p:cNvSpPr>
            <a:spLocks noGrp="1"/>
          </p:cNvSpPr>
          <p:nvPr/>
        </p:nvSpPr>
        <p:spPr>
          <a:xfrm>
            <a:off x="4533900" y="3629025"/>
            <a:ext cx="3124200"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Choose “responsible”</a:t>
            </a:r>
          </a:p>
        </p:txBody>
      </p:sp>
      <p:sp>
        <p:nvSpPr>
          <p:cNvPr id="12" name="reveal-03-stage">
            <a:extLst>
              <a:ext uri="{FF2B5EF4-FFF2-40B4-BE49-F238E27FC236}">
                <ns2:creationId id="{B003F7E6-C466-4FEF-B138-50F4484ABC6A}"/>
              </a:ext>
              <a:ext uri="{C183D7F6-B498-43B3-948B-1728B52AA6E4}">
                <ns3:decorative val="1"/>
              </a:ext>
            </a:extLst>
          </p:cNvPr>
          <p:cNvSpPr>
            <a:spLocks noGrp="1"/>
          </p:cNvSpPr>
          <p:nvPr/>
        </p:nvSpPr>
        <p:spPr>
          <a:xfrm>
            <a:off x="8143875" y="2571750"/>
            <a:ext cx="3429000" cy="2019300"/>
          </a:xfrm>
          <a:prstGeom prst="rect">
            <a:avLst/>
          </a:prstGeom>
          <a:solidFill>
            <a:srgbClr val="E9F3F0"/>
          </a:solidFill>
          <a:ln w="11430">
            <a:solidFill>
              <a:srgbClr val="C9D5DA"/>
            </a:solidFill>
          </a:ln>
        </p:spPr>
      </p:sp>
      <p:sp>
        <p:nvSpPr>
          <p:cNvPr id="13" name="reveal-03-number">
            <a:extLst>
              <a:ext uri="{FF2B5EF4-FFF2-40B4-BE49-F238E27FC236}">
                <ns2:creationId id="{0A5B7962-D501-40A1-A88E-012635EE73AF}"/>
              </a:ext>
            </a:extLst>
          </p:cNvPr>
          <p:cNvSpPr>
            <a:spLocks noGrp="1"/>
          </p:cNvSpPr>
          <p:nvPr/>
        </p:nvSpPr>
        <p:spPr>
          <a:xfrm>
            <a:off x="8143875" y="2133600"/>
            <a:ext cx="3429000"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03</a:t>
            </a:r>
          </a:p>
        </p:txBody>
      </p:sp>
      <p:sp>
        <p:nvSpPr>
          <p:cNvPr id="14" name="reveal-03-label">
            <a:extLst>
              <a:ext uri="{FF2B5EF4-FFF2-40B4-BE49-F238E27FC236}">
                <ns2:creationId id="{6C8EDF40-80FD-4B9A-A8E2-EC6E35CEF9C7}"/>
              </a:ext>
            </a:extLst>
          </p:cNvPr>
          <p:cNvSpPr>
            <a:spLocks noGrp="1"/>
          </p:cNvSpPr>
          <p:nvPr/>
        </p:nvSpPr>
        <p:spPr>
          <a:xfrm>
            <a:off x="8296275" y="2724150"/>
            <a:ext cx="3124200" cy="723900"/>
          </a:xfrm>
          <a:prstGeom prst="rect">
            <a:avLst/>
          </a:prstGeom>
          <a:noFill/>
          <a:ln w="0">
            <a:noFill/>
          </a:ln>
        </p:spPr>
        <p:txBody>
          <a:bodyPr>
            <a:noAutofit/>
          </a:bodyPr>
          <a:lstStyle>
            <a:defPPr>
              <a:defRPr sz="2400" b="1">
                <a:solidFill>
                  <a:srgbClr val="246E63"/>
                </a:solidFill>
                <a:latin typeface="Calibri"/>
                <a:ea typeface="Calibri"/>
                <a:cs typeface="Calibri"/>
              </a:defRPr>
            </a:defPPr>
            <a:lvl1pPr>
              <a:defRPr sz="2400" b="1">
                <a:solidFill>
                  <a:srgbClr val="246E63"/>
                </a:solidFill>
                <a:latin typeface="Calibri"/>
                <a:ea typeface="Calibri"/>
                <a:cs typeface="Calibri"/>
              </a:defRPr>
            </a:lvl1pPr>
            <a:lvl2pPr>
              <a:defRPr sz="2400" b="1">
                <a:solidFill>
                  <a:srgbClr val="246E63"/>
                </a:solidFill>
                <a:latin typeface="Calibri"/>
                <a:ea typeface="Calibri"/>
                <a:cs typeface="Calibri"/>
              </a:defRPr>
            </a:lvl2pPr>
            <a:lvl3pPr>
              <a:defRPr sz="2400" b="1">
                <a:solidFill>
                  <a:srgbClr val="246E63"/>
                </a:solidFill>
                <a:latin typeface="Calibri"/>
                <a:ea typeface="Calibri"/>
                <a:cs typeface="Calibri"/>
              </a:defRPr>
            </a:lvl3pPr>
            <a:lvl4pPr>
              <a:defRPr sz="2400" b="1">
                <a:solidFill>
                  <a:srgbClr val="246E63"/>
                </a:solidFill>
                <a:latin typeface="Calibri"/>
                <a:ea typeface="Calibri"/>
                <a:cs typeface="Calibri"/>
              </a:defRPr>
            </a:lvl4pPr>
            <a:lvl5pPr>
              <a:defRPr sz="2400" b="1">
                <a:solidFill>
                  <a:srgbClr val="246E63"/>
                </a:solidFill>
                <a:latin typeface="Calibri"/>
                <a:ea typeface="Calibri"/>
                <a:cs typeface="Calibri"/>
              </a:defRPr>
            </a:lvl5pPr>
            <a:lvl6pPr>
              <a:defRPr sz="2400" b="1">
                <a:solidFill>
                  <a:srgbClr val="246E63"/>
                </a:solidFill>
                <a:latin typeface="Calibri"/>
                <a:ea typeface="Calibri"/>
                <a:cs typeface="Calibri"/>
              </a:defRPr>
            </a:lvl6pPr>
            <a:lvl7pPr>
              <a:defRPr sz="2400" b="1">
                <a:solidFill>
                  <a:srgbClr val="246E63"/>
                </a:solidFill>
                <a:latin typeface="Calibri"/>
                <a:ea typeface="Calibri"/>
                <a:cs typeface="Calibri"/>
              </a:defRPr>
            </a:lvl7pPr>
            <a:lvl8pPr>
              <a:defRPr sz="2400" b="1">
                <a:solidFill>
                  <a:srgbClr val="246E63"/>
                </a:solidFill>
                <a:latin typeface="Calibri"/>
                <a:ea typeface="Calibri"/>
                <a:cs typeface="Calibri"/>
              </a:defRPr>
            </a:lvl8pPr>
            <a:lvl9pPr>
              <a:defRPr sz="2400" b="1">
                <a:solidFill>
                  <a:srgbClr val="246E63"/>
                </a:solidFill>
                <a:latin typeface="Calibri"/>
                <a:ea typeface="Calibri"/>
                <a:cs typeface="Calibri"/>
              </a:defRPr>
            </a:lvl9pPr>
          </a:lstStyle>
          <a:p>
            <a:pPr>
              <a:defRPr sz="2400" b="1">
                <a:solidFill>
                  <a:srgbClr val="246E63"/>
                </a:solidFill>
                <a:latin typeface="Calibri"/>
                <a:ea typeface="Calibri"/>
                <a:cs typeface="Calibri"/>
              </a:defRPr>
            </a:pPr>
            <a:r>
              <a:rPr sz="2400" b="1">
                <a:solidFill>
                  <a:srgbClr val="246E63"/>
                </a:solidFill>
                <a:latin typeface="Calibri"/>
                <a:ea typeface="Calibri"/>
                <a:cs typeface="Calibri"/>
              </a:rPr>
              <a:t>New prefix</a:t>
            </a:r>
          </a:p>
        </p:txBody>
      </p:sp>
      <p:sp>
        <p:nvSpPr>
          <p:cNvPr id="15" name="reveal-03-detail">
            <a:extLst>
              <a:ext uri="{FF2B5EF4-FFF2-40B4-BE49-F238E27FC236}">
                <ns2:creationId id="{F1EBE434-BDC9-4ADE-BF25-1A62E0D204FC}"/>
              </a:ext>
            </a:extLst>
          </p:cNvPr>
          <p:cNvSpPr>
            <a:spLocks noGrp="1"/>
          </p:cNvSpPr>
          <p:nvPr/>
        </p:nvSpPr>
        <p:spPr>
          <a:xfrm>
            <a:off x="8296275" y="3629025"/>
            <a:ext cx="3124200"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The provider remains responsible</a:t>
            </a:r>
          </a:p>
        </p:txBody>
      </p:sp>
      <p:sp>
        <p:nvSpPr>
          <p:cNvPr id="18" name="reveal-04-repeat">
            <a:extLst>
              <a:ext uri="{FF2B5EF4-FFF2-40B4-BE49-F238E27FC236}">
                <ns2:creationId id="{492EBE35-D471-4D5F-B917-1BF72EAD10BD}"/>
              </a:ext>
            </a:extLst>
          </p:cNvPr>
          <p:cNvSpPr>
            <a:spLocks noGrp="1"/>
          </p:cNvSpPr>
          <p:nvPr/>
        </p:nvSpPr>
        <p:spPr>
          <a:xfrm>
            <a:off x="619125" y="5114925"/>
            <a:ext cx="10858500" cy="619125"/>
          </a:xfrm>
          <a:prstGeom prst="rect">
            <a:avLst/>
          </a:prstGeom>
          <a:noFill/>
          <a:ln w="0">
            <a:noFill/>
          </a:ln>
        </p:spPr>
        <p:txBody>
          <a:bodyPr>
            <a:noAutofit/>
          </a:bodyPr>
          <a:lstStyle>
            <a:defPPr>
              <a:defRPr sz="2250" b="1">
                <a:solidFill>
                  <a:srgbClr val="246E63"/>
                </a:solidFill>
                <a:latin typeface="Calibri"/>
                <a:ea typeface="Calibri"/>
                <a:cs typeface="Calibri"/>
              </a:defRPr>
            </a:defPPr>
            <a:lvl1pPr>
              <a:defRPr sz="2250" b="1">
                <a:solidFill>
                  <a:srgbClr val="246E63"/>
                </a:solidFill>
                <a:latin typeface="Calibri"/>
                <a:ea typeface="Calibri"/>
                <a:cs typeface="Calibri"/>
              </a:defRPr>
            </a:lvl1pPr>
            <a:lvl2pPr>
              <a:defRPr sz="2250" b="1">
                <a:solidFill>
                  <a:srgbClr val="246E63"/>
                </a:solidFill>
                <a:latin typeface="Calibri"/>
                <a:ea typeface="Calibri"/>
                <a:cs typeface="Calibri"/>
              </a:defRPr>
            </a:lvl2pPr>
            <a:lvl3pPr>
              <a:defRPr sz="2250" b="1">
                <a:solidFill>
                  <a:srgbClr val="246E63"/>
                </a:solidFill>
                <a:latin typeface="Calibri"/>
                <a:ea typeface="Calibri"/>
                <a:cs typeface="Calibri"/>
              </a:defRPr>
            </a:lvl3pPr>
            <a:lvl4pPr>
              <a:defRPr sz="2250" b="1">
                <a:solidFill>
                  <a:srgbClr val="246E63"/>
                </a:solidFill>
                <a:latin typeface="Calibri"/>
                <a:ea typeface="Calibri"/>
                <a:cs typeface="Calibri"/>
              </a:defRPr>
            </a:lvl4pPr>
            <a:lvl5pPr>
              <a:defRPr sz="2250" b="1">
                <a:solidFill>
                  <a:srgbClr val="246E63"/>
                </a:solidFill>
                <a:latin typeface="Calibri"/>
                <a:ea typeface="Calibri"/>
                <a:cs typeface="Calibri"/>
              </a:defRPr>
            </a:lvl5pPr>
            <a:lvl6pPr>
              <a:defRPr sz="2250" b="1">
                <a:solidFill>
                  <a:srgbClr val="246E63"/>
                </a:solidFill>
                <a:latin typeface="Calibri"/>
                <a:ea typeface="Calibri"/>
                <a:cs typeface="Calibri"/>
              </a:defRPr>
            </a:lvl6pPr>
            <a:lvl7pPr>
              <a:defRPr sz="2250" b="1">
                <a:solidFill>
                  <a:srgbClr val="246E63"/>
                </a:solidFill>
                <a:latin typeface="Calibri"/>
                <a:ea typeface="Calibri"/>
                <a:cs typeface="Calibri"/>
              </a:defRPr>
            </a:lvl7pPr>
            <a:lvl8pPr>
              <a:defRPr sz="2250" b="1">
                <a:solidFill>
                  <a:srgbClr val="246E63"/>
                </a:solidFill>
                <a:latin typeface="Calibri"/>
                <a:ea typeface="Calibri"/>
                <a:cs typeface="Calibri"/>
              </a:defRPr>
            </a:lvl8pPr>
            <a:lvl9pPr>
              <a:defRPr sz="2250" b="1">
                <a:solidFill>
                  <a:srgbClr val="246E63"/>
                </a:solidFill>
                <a:latin typeface="Calibri"/>
                <a:ea typeface="Calibri"/>
                <a:cs typeface="Calibri"/>
              </a:defRPr>
            </a:lvl9pPr>
          </a:lstStyle>
          <a:p>
            <a:pPr>
              <a:defRPr sz="2250" b="1">
                <a:solidFill>
                  <a:srgbClr val="246E63"/>
                </a:solidFill>
                <a:latin typeface="Calibri"/>
                <a:ea typeface="Calibri"/>
                <a:cs typeface="Calibri"/>
              </a:defRPr>
            </a:pPr>
            <a:r>
              <a:rPr sz="2250" b="1">
                <a:solidFill>
                  <a:srgbClr val="246E63"/>
                </a:solidFill>
                <a:latin typeface="Calibri"/>
                <a:ea typeface="Calibri"/>
                <a:cs typeface="Calibri"/>
              </a:rPr>
              <a:t>Repeat using the updated prefix → next token → updated prefix</a:t>
            </a:r>
          </a:p>
        </p:txBody>
      </p:sp>
      <p:sp>
        <p:nvSpPr>
          <p:cNvPr id="19" name="text-32">
            <a:extLst>
              <a:ext uri="{FF2B5EF4-FFF2-40B4-BE49-F238E27FC236}">
                <ns2:creationId id="{0371EFA1-5C02-4598-83D7-AB6982280D15}"/>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Autoregressive generation builds a sequence. Evidence must still be supplied and checked.</a:t>
            </a:r>
          </a:p>
        </p:txBody>
      </p:sp>
      <p:sp>
        <p:nvSpPr>
          <p:cNvPr id="3" name="text-29">
            <a:extLst>
              <a:ext uri="{FF2B5EF4-FFF2-40B4-BE49-F238E27FC236}">
                <ns2:creationId id="{8EBB2824-5BDD-445A-9B5D-3CD19F80B930}"/>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03   5</a:t>
            </a:r>
          </a:p>
        </p:txBody>
      </p:sp>
    </p:spTree>
    <p:extLst>
      <p:ext uri="{BB962C8B-B14F-4D97-AF65-F5344CB8AC3E}">
        <ns4:creationId val="223176174"/>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par>
                                <p:cTn id="11" presetID="10"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00"/>
                                        <p:tgtEl>
                                          <p:spTgt spid="6"/>
                                        </p:tgtEl>
                                      </p:cBhvr>
                                    </p:animEffect>
                                  </p:childTnLst>
                                </p:cTn>
                              </p:par>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300"/>
                                        <p:tgtEl>
                                          <p:spTgt spid="16"/>
                                        </p:tgtEl>
                                      </p:cBhvr>
                                    </p:animEffect>
                                  </p:childTnLst>
                                </p:cTn>
                              </p:par>
                              <p:par>
                                <p:cTn id="22" presetID="10"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00"/>
                                        <p:tgtEl>
                                          <p:spTgt spid="8"/>
                                        </p:tgtEl>
                                      </p:cBhvr>
                                    </p:animEffect>
                                  </p:childTnLst>
                                </p:cTn>
                              </p:par>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300"/>
                                        <p:tgtEl>
                                          <p:spTgt spid="9"/>
                                        </p:tgtEl>
                                      </p:cBhvr>
                                    </p:animEffect>
                                  </p:childTnLst>
                                </p:cTn>
                              </p:par>
                              <p:par>
                                <p:cTn id="28" presetID="10" presetClass="entr" presetSubtype="0"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300"/>
                                        <p:tgtEl>
                                          <p:spTgt spid="10"/>
                                        </p:tgtEl>
                                      </p:cBhvr>
                                    </p:animEffect>
                                  </p:childTnLst>
                                </p:cTn>
                              </p:par>
                              <p:par>
                                <p:cTn id="31" presetID="10"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3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300"/>
                                        <p:tgtEl>
                                          <p:spTgt spid="17"/>
                                        </p:tgtEl>
                                      </p:cBhvr>
                                    </p:animEffect>
                                  </p:childTnLst>
                                </p:cTn>
                              </p:par>
                              <p:par>
                                <p:cTn id="39" presetID="10" presetClass="entr" presetSubtype="0"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300"/>
                                        <p:tgtEl>
                                          <p:spTgt spid="12"/>
                                        </p:tgtEl>
                                      </p:cBhvr>
                                    </p:animEffect>
                                  </p:childTnLst>
                                </p:cTn>
                              </p:par>
                              <p:par>
                                <p:cTn id="42" presetID="10" presetClass="entr" presetSubtype="0" fill="hold"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00"/>
                                        <p:tgtEl>
                                          <p:spTgt spid="13"/>
                                        </p:tgtEl>
                                      </p:cBhvr>
                                    </p:animEffect>
                                  </p:childTnLst>
                                </p:cTn>
                              </p:par>
                              <p:par>
                                <p:cTn id="45" presetID="10" presetClass="entr" presetSubtype="0"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300"/>
                                        <p:tgtEl>
                                          <p:spTgt spid="14"/>
                                        </p:tgtEl>
                                      </p:cBhvr>
                                    </p:animEffect>
                                  </p:childTnLst>
                                </p:cTn>
                              </p:par>
                              <p:par>
                                <p:cTn id="48" presetID="10" presetClass="entr" presetSubtype="0" fill="hold" nodeType="click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300"/>
                                        <p:tgtEl>
                                          <p:spTgt spid="1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3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ns2="http://schemas.microsoft.com/office/drawing/2014/main" xmlns:ns3="http://schemas.microsoft.com/office/powerpoint/2010/main" xmlns:p="http://schemas.openxmlformats.org/presentationml/2006/main">
  <p:cSld name="Selection and variation">
    <p:bg>
      <p:bgPr>
        <a:solidFill>
          <a:srgbClr val="FFFFFF"/>
        </a:solidFill>
      </p:bgPr>
    </p:bg>
    <p:spTree>
      <p:nvGrpSpPr>
        <p:cNvPr id="1" name=""/>
        <p:cNvGrpSpPr/>
        <p:nvPr/>
      </p:nvGrpSpPr>
      <p:grpSpPr>
        <a:xfrm/>
      </p:grpSpPr>
      <p:sp>
        <p:nvSpPr>
          <p:cNvPr id="5" name="text-33">
            <a:extLst>
              <a:ext uri="{FF2B5EF4-FFF2-40B4-BE49-F238E27FC236}">
                <ns2:creationId id="{1A545E1C-6FDB-4294-8B2D-B9F163AF62D9}"/>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03</a:t>
            </a:r>
          </a:p>
        </p:txBody>
      </p:sp>
      <p:sp>
        <p:nvSpPr>
          <p:cNvPr id="2" name="text-34">
            <a:extLst>
              <a:ext uri="{FF2B5EF4-FFF2-40B4-BE49-F238E27FC236}">
                <ns2:creationId id="{88EDD64D-D8FC-4157-A75B-C3D89C237D61}"/>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Selection and variation</a:t>
            </a:r>
          </a:p>
        </p:txBody>
      </p:sp>
      <p:graphicFrame>
        <p:nvGraphicFramePr>
          <p:cNvPr id="4" name="">
            <a:extLst>
              <a:ext uri="{FF2B5EF4-FFF2-40B4-BE49-F238E27FC236}">
                <ns2:creationId id="{0A6AA0D0-C066-4D5F-BADD-586B820072C7}"/>
              </a:ext>
            </a:extLst>
          </p:cNvPr>
          <p:cNvGraphicFramePr/>
          <p:nvPr/>
        </p:nvGraphicFramePr>
        <p:xfrm>
          <a:off x="619125" y="1933575"/>
          <a:ext cx="10953750" cy="3743325"/>
        </p:xfrm>
        <a:graphic>
          <a:graphicData uri="http://schemas.openxmlformats.org/drawingml/2006/table">
            <a:tbl>
              <a:tblPr/>
              <a:tblGrid>
                <a:gridCol w="3651250"/>
                <a:gridCol w="3651250"/>
                <a:gridCol w="3651250"/>
              </a:tblGrid>
              <a:tr h="935831">
                <a:tc>
                  <a:txBody>
                    <a:bodyPr/>
                    <a:lstStyle/>
                    <a:p>
                      <a:r>
                        <a:rPr sz="1875" b="1">
                          <a:solidFill>
                            <a:srgbClr val="FFFFFF"/>
                          </a:solidFill>
                          <a:latin typeface="Calibri"/>
                          <a:ea typeface="Calibri"/>
                          <a:cs typeface="Calibri"/>
                        </a:rPr>
                        <a:t>Concept</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Plain explanation</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Implication</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935831">
                <a:tc>
                  <a:txBody>
                    <a:bodyPr/>
                    <a:lstStyle/>
                    <a:p>
                      <a:r>
                        <a:rPr sz="1875" b="0">
                          <a:solidFill>
                            <a:srgbClr val="1C3144"/>
                          </a:solidFill>
                          <a:latin typeface="Calibri"/>
                          <a:ea typeface="Calibri"/>
                          <a:cs typeface="Calibri"/>
                        </a:rPr>
                        <a:t>Decoding</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How a token is selected from candidate scores</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More than one response can be possible</a:t>
                      </a:r>
                    </a:p>
                  </a:txBody>
                  <a:tcPr marL="91440" marR="91440" marT="45720" marB="45720">
                    <a:lnR w="9525">
                      <a:solidFill>
                        <a:srgbClr val="C9D5DA"/>
                      </a:solidFill>
                      <a:prstDash val="solid"/>
                    </a:lnR>
                    <a:lnB w="9525">
                      <a:solidFill>
                        <a:srgbClr val="C9D5DA"/>
                      </a:solidFill>
                      <a:prstDash val="solid"/>
                    </a:lnB>
                    <a:solidFill>
                      <a:srgbClr val="F1F5F6"/>
                    </a:solidFill>
                  </a:tcPr>
                </a:tc>
              </a:tr>
              <a:tr h="935831">
                <a:tc>
                  <a:txBody>
                    <a:bodyPr/>
                    <a:lstStyle/>
                    <a:p>
                      <a:r>
                        <a:rPr sz="1875" b="0">
                          <a:solidFill>
                            <a:srgbClr val="1C3144"/>
                          </a:solidFill>
                          <a:latin typeface="Calibri"/>
                          <a:ea typeface="Calibri"/>
                          <a:cs typeface="Calibri"/>
                        </a:rPr>
                        <a:t>Temperature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A setting that can reshape the distribution</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Availability and effects depend on the product</a:t>
                      </a:r>
                    </a:p>
                  </a:txBody>
                  <a:tcPr marL="91440" marR="91440" marT="45720" marB="45720">
                    <a:lnR w="9525">
                      <a:solidFill>
                        <a:srgbClr val="C9D5DA"/>
                      </a:solidFill>
                      <a:prstDash val="solid"/>
                    </a:lnR>
                    <a:lnB w="9525">
                      <a:solidFill>
                        <a:srgbClr val="C9D5DA"/>
                      </a:solidFill>
                      <a:prstDash val="solid"/>
                    </a:lnB>
                    <a:solidFill>
                      <a:srgbClr val="FFFFFF"/>
                    </a:solidFill>
                  </a:tcPr>
                </a:tc>
              </a:tr>
              <a:tr h="935831">
                <a:tc>
                  <a:txBody>
                    <a:bodyPr/>
                    <a:lstStyle/>
                    <a:p>
                      <a:r>
                        <a:rPr sz="1875" b="0">
                          <a:solidFill>
                            <a:srgbClr val="1C3144"/>
                          </a:solidFill>
                          <a:latin typeface="Calibri"/>
                          <a:ea typeface="Calibri"/>
                          <a:cs typeface="Calibri"/>
                        </a:rPr>
                        <a:t>Low randomness</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Often concentrates selection on stronger candidates</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Does not establish truth or guaranteed repeatability</a:t>
                      </a:r>
                    </a:p>
                  </a:txBody>
                  <a:tcPr marL="91440" marR="91440" marT="45720" marB="45720">
                    <a:lnR w="9525">
                      <a:solidFill>
                        <a:srgbClr val="C9D5DA"/>
                      </a:solidFill>
                      <a:prstDash val="solid"/>
                    </a:lnR>
                    <a:lnB w="9525">
                      <a:solidFill>
                        <a:srgbClr val="C9D5DA"/>
                      </a:solidFill>
                      <a:prstDash val="solid"/>
                    </a:lnB>
                    <a:solidFill>
                      <a:srgbClr val="F1F5F6"/>
                    </a:solidFill>
                  </a:tcPr>
                </a:tc>
              </a:tr>
            </a:tbl>
          </a:graphicData>
        </a:graphic>
      </p:graphicFrame>
      <p:sp>
        <p:nvSpPr>
          <p:cNvPr id="3" name="text-35">
            <a:extLst>
              <a:ext uri="{FF2B5EF4-FFF2-40B4-BE49-F238E27FC236}">
                <ns2:creationId id="{3B49D668-A700-406A-B947-D2E4B7E03E0E}"/>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03   6</a:t>
            </a:r>
          </a:p>
        </p:txBody>
      </p:sp>
    </p:spTree>
    <p:extLst>
      <p:ext uri="{BB962C8B-B14F-4D97-AF65-F5344CB8AC3E}">
        <ns3:creationId val="422615798"/>
      </p:ext>
    </p:extLst>
  </p:cSld>
  <p:transition spd="med" advClick="1">
    <p:fade/>
  </p:transition>
</p:sld>
</file>

<file path=ppt/slides/slide7.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The context window">
    <p:bg>
      <p:bgPr>
        <a:solidFill>
          <a:srgbClr val="FFFFFF"/>
        </a:solidFill>
      </p:bgPr>
    </p:bg>
    <p:spTree>
      <p:nvGrpSpPr>
        <p:cNvPr id="1" name=""/>
        <p:cNvGrpSpPr/>
        <p:nvPr/>
      </p:nvGrpSpPr>
      <p:grpSpPr>
        <a:xfrm/>
      </p:grpSpPr>
      <p:sp>
        <p:nvSpPr>
          <p:cNvPr id="16" name="text-36">
            <a:extLst>
              <a:ext uri="{FF2B5EF4-FFF2-40B4-BE49-F238E27FC236}">
                <ns2:creationId id="{71FA6307-4C3C-48A2-BD39-1475785413F9}"/>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03</a:t>
            </a:r>
          </a:p>
        </p:txBody>
      </p:sp>
      <p:sp>
        <p:nvSpPr>
          <p:cNvPr id="2" name="text-37">
            <a:extLst>
              <a:ext uri="{FF2B5EF4-FFF2-40B4-BE49-F238E27FC236}">
                <ns2:creationId id="{36156A22-012C-4A93-8839-84B48DD7AAAD}"/>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context window</a:t>
            </a:r>
          </a:p>
        </p:txBody>
      </p:sp>
      <p:sp>
        <p:nvSpPr>
          <p:cNvPr id="4" name="reveal-01-window" descr="The context window">
            <a:extLst>
              <a:ext uri="{FF2B5EF4-FFF2-40B4-BE49-F238E27FC236}">
                <ns2:creationId id="{5294D616-FE2E-40EA-8D29-EB211AA31ABC}"/>
              </a:ext>
            </a:extLst>
          </p:cNvPr>
          <p:cNvSpPr>
            <a:spLocks noGrp="1"/>
          </p:cNvSpPr>
          <p:nvPr/>
        </p:nvSpPr>
        <p:spPr>
          <a:xfrm>
            <a:off x="619125" y="2324100"/>
            <a:ext cx="10953750" cy="1619250"/>
          </a:xfrm>
          <a:prstGeom prst="rect">
            <a:avLst/>
          </a:prstGeom>
          <a:solidFill>
            <a:srgbClr val="F1F5F6"/>
          </a:solidFill>
          <a:ln w="11430">
            <a:solidFill>
              <a:srgbClr val="C9D5DA"/>
            </a:solidFill>
          </a:ln>
        </p:spPr>
      </p:sp>
      <p:sp>
        <p:nvSpPr>
          <p:cNvPr id="5" name="reveal-01-window-label">
            <a:extLst>
              <a:ext uri="{FF2B5EF4-FFF2-40B4-BE49-F238E27FC236}">
                <ns2:creationId id="{4B34BCE8-D1AA-4DF1-9DC8-D9F48622D18E}"/>
              </a:ext>
            </a:extLst>
          </p:cNvPr>
          <p:cNvSpPr>
            <a:spLocks noGrp="1"/>
          </p:cNvSpPr>
          <p:nvPr/>
        </p:nvSpPr>
        <p:spPr>
          <a:xfrm>
            <a:off x="809625" y="2476500"/>
            <a:ext cx="10477500" cy="428625"/>
          </a:xfrm>
          <a:prstGeom prst="rect">
            <a:avLst/>
          </a:prstGeom>
          <a:noFill/>
          <a:ln w="0">
            <a:noFill/>
          </a:ln>
        </p:spPr>
        <p:txBody>
          <a:bodyPr>
            <a:noAutofit/>
          </a:bodyPr>
          <a:lstStyle>
            <a:defPPr>
              <a:defRPr sz="1875" b="1">
                <a:solidFill>
                  <a:srgbClr val="246E63"/>
                </a:solidFill>
                <a:latin typeface="Calibri"/>
                <a:ea typeface="Calibri"/>
                <a:cs typeface="Calibri"/>
              </a:defRPr>
            </a:defPPr>
            <a:lvl1pPr>
              <a:defRPr sz="1875" b="1">
                <a:solidFill>
                  <a:srgbClr val="246E63"/>
                </a:solidFill>
                <a:latin typeface="Calibri"/>
                <a:ea typeface="Calibri"/>
                <a:cs typeface="Calibri"/>
              </a:defRPr>
            </a:lvl1pPr>
            <a:lvl2pPr>
              <a:defRPr sz="1875" b="1">
                <a:solidFill>
                  <a:srgbClr val="246E63"/>
                </a:solidFill>
                <a:latin typeface="Calibri"/>
                <a:ea typeface="Calibri"/>
                <a:cs typeface="Calibri"/>
              </a:defRPr>
            </a:lvl2pPr>
            <a:lvl3pPr>
              <a:defRPr sz="1875" b="1">
                <a:solidFill>
                  <a:srgbClr val="246E63"/>
                </a:solidFill>
                <a:latin typeface="Calibri"/>
                <a:ea typeface="Calibri"/>
                <a:cs typeface="Calibri"/>
              </a:defRPr>
            </a:lvl3pPr>
            <a:lvl4pPr>
              <a:defRPr sz="1875" b="1">
                <a:solidFill>
                  <a:srgbClr val="246E63"/>
                </a:solidFill>
                <a:latin typeface="Calibri"/>
                <a:ea typeface="Calibri"/>
                <a:cs typeface="Calibri"/>
              </a:defRPr>
            </a:lvl4pPr>
            <a:lvl5pPr>
              <a:defRPr sz="1875" b="1">
                <a:solidFill>
                  <a:srgbClr val="246E63"/>
                </a:solidFill>
                <a:latin typeface="Calibri"/>
                <a:ea typeface="Calibri"/>
                <a:cs typeface="Calibri"/>
              </a:defRPr>
            </a:lvl5pPr>
            <a:lvl6pPr>
              <a:defRPr sz="1875" b="1">
                <a:solidFill>
                  <a:srgbClr val="246E63"/>
                </a:solidFill>
                <a:latin typeface="Calibri"/>
                <a:ea typeface="Calibri"/>
                <a:cs typeface="Calibri"/>
              </a:defRPr>
            </a:lvl6pPr>
            <a:lvl7pPr>
              <a:defRPr sz="1875" b="1">
                <a:solidFill>
                  <a:srgbClr val="246E63"/>
                </a:solidFill>
                <a:latin typeface="Calibri"/>
                <a:ea typeface="Calibri"/>
                <a:cs typeface="Calibri"/>
              </a:defRPr>
            </a:lvl7pPr>
            <a:lvl8pPr>
              <a:defRPr sz="1875" b="1">
                <a:solidFill>
                  <a:srgbClr val="246E63"/>
                </a:solidFill>
                <a:latin typeface="Calibri"/>
                <a:ea typeface="Calibri"/>
                <a:cs typeface="Calibri"/>
              </a:defRPr>
            </a:lvl8pPr>
            <a:lvl9pPr>
              <a:defRPr sz="1875" b="1">
                <a:solidFill>
                  <a:srgbClr val="246E63"/>
                </a:solidFill>
                <a:latin typeface="Calibri"/>
                <a:ea typeface="Calibri"/>
                <a:cs typeface="Calibri"/>
              </a:defRPr>
            </a:lvl9pPr>
          </a:lstStyle>
          <a:p>
            <a:pPr>
              <a:defRPr sz="1875" b="1">
                <a:solidFill>
                  <a:srgbClr val="246E63"/>
                </a:solidFill>
                <a:latin typeface="Calibri"/>
                <a:ea typeface="Calibri"/>
                <a:cs typeface="Calibri"/>
              </a:defRPr>
            </a:pPr>
            <a:r>
              <a:rPr sz="1875" b="1">
                <a:solidFill>
                  <a:srgbClr val="246E63"/>
                </a:solidFill>
                <a:latin typeface="Calibri"/>
                <a:ea typeface="Calibri"/>
                <a:cs typeface="Calibri"/>
              </a:rPr>
              <a:t>ACTIVE CONTEXT FOR THIS REQUEST</a:t>
            </a:r>
          </a:p>
        </p:txBody>
      </p:sp>
      <p:sp>
        <p:nvSpPr>
          <p:cNvPr id="6" name="reveal-02-segment">
            <a:extLst>
              <a:ext uri="{FF2B5EF4-FFF2-40B4-BE49-F238E27FC236}">
                <ns2:creationId id="{5847154A-EFA7-4586-BE4A-9BA1A77BBE71}"/>
              </a:ext>
              <a:ext uri="{C183D7F6-B498-43B3-948B-1728B52AA6E4}">
                <ns3:decorative val="1"/>
              </a:ext>
            </a:extLst>
          </p:cNvPr>
          <p:cNvSpPr>
            <a:spLocks noGrp="1"/>
          </p:cNvSpPr>
          <p:nvPr/>
        </p:nvSpPr>
        <p:spPr>
          <a:xfrm>
            <a:off x="809625" y="3133725"/>
            <a:ext cx="1809750" cy="571500"/>
          </a:xfrm>
          <a:prstGeom prst="rect">
            <a:avLst/>
          </a:prstGeom>
          <a:solidFill>
            <a:srgbClr val="FFFFFF"/>
          </a:solidFill>
          <a:ln w="11430">
            <a:solidFill>
              <a:srgbClr val="C9D5DA"/>
            </a:solidFill>
          </a:ln>
        </p:spPr>
      </p:sp>
      <p:sp>
        <p:nvSpPr>
          <p:cNvPr id="7" name="reveal-02-segment-label">
            <a:extLst>
              <a:ext uri="{FF2B5EF4-FFF2-40B4-BE49-F238E27FC236}">
                <ns2:creationId id="{AACFAE18-9EF7-42E6-9B21-2DE3D256917F}"/>
              </a:ext>
            </a:extLst>
          </p:cNvPr>
          <p:cNvSpPr>
            <a:spLocks noGrp="1"/>
          </p:cNvSpPr>
          <p:nvPr/>
        </p:nvSpPr>
        <p:spPr>
          <a:xfrm>
            <a:off x="885825" y="3238500"/>
            <a:ext cx="1657350" cy="428625"/>
          </a:xfrm>
          <a:prstGeom prst="rect">
            <a:avLst/>
          </a:prstGeom>
          <a:noFill/>
          <a:ln w="0">
            <a:noFill/>
          </a:ln>
        </p:spPr>
        <p:txBody>
          <a:bodyPr>
            <a:noAutofit/>
          </a:bodyPr>
          <a:lstStyle>
            <a:defPPr>
              <a:defRPr sz="1725" b="1">
                <a:solidFill>
                  <a:srgbClr val="1C3144"/>
                </a:solidFill>
                <a:latin typeface="Calibri"/>
                <a:ea typeface="Calibri"/>
                <a:cs typeface="Calibri"/>
              </a:defRPr>
            </a:defPPr>
            <a:lvl1pPr>
              <a:defRPr sz="1725" b="1">
                <a:solidFill>
                  <a:srgbClr val="1C3144"/>
                </a:solidFill>
                <a:latin typeface="Calibri"/>
                <a:ea typeface="Calibri"/>
                <a:cs typeface="Calibri"/>
              </a:defRPr>
            </a:lvl1pPr>
            <a:lvl2pPr>
              <a:defRPr sz="1725" b="1">
                <a:solidFill>
                  <a:srgbClr val="1C3144"/>
                </a:solidFill>
                <a:latin typeface="Calibri"/>
                <a:ea typeface="Calibri"/>
                <a:cs typeface="Calibri"/>
              </a:defRPr>
            </a:lvl2pPr>
            <a:lvl3pPr>
              <a:defRPr sz="1725" b="1">
                <a:solidFill>
                  <a:srgbClr val="1C3144"/>
                </a:solidFill>
                <a:latin typeface="Calibri"/>
                <a:ea typeface="Calibri"/>
                <a:cs typeface="Calibri"/>
              </a:defRPr>
            </a:lvl3pPr>
            <a:lvl4pPr>
              <a:defRPr sz="1725" b="1">
                <a:solidFill>
                  <a:srgbClr val="1C3144"/>
                </a:solidFill>
                <a:latin typeface="Calibri"/>
                <a:ea typeface="Calibri"/>
                <a:cs typeface="Calibri"/>
              </a:defRPr>
            </a:lvl4pPr>
            <a:lvl5pPr>
              <a:defRPr sz="1725" b="1">
                <a:solidFill>
                  <a:srgbClr val="1C3144"/>
                </a:solidFill>
                <a:latin typeface="Calibri"/>
                <a:ea typeface="Calibri"/>
                <a:cs typeface="Calibri"/>
              </a:defRPr>
            </a:lvl5pPr>
            <a:lvl6pPr>
              <a:defRPr sz="1725" b="1">
                <a:solidFill>
                  <a:srgbClr val="1C3144"/>
                </a:solidFill>
                <a:latin typeface="Calibri"/>
                <a:ea typeface="Calibri"/>
                <a:cs typeface="Calibri"/>
              </a:defRPr>
            </a:lvl6pPr>
            <a:lvl7pPr>
              <a:defRPr sz="1725" b="1">
                <a:solidFill>
                  <a:srgbClr val="1C3144"/>
                </a:solidFill>
                <a:latin typeface="Calibri"/>
                <a:ea typeface="Calibri"/>
                <a:cs typeface="Calibri"/>
              </a:defRPr>
            </a:lvl7pPr>
            <a:lvl8pPr>
              <a:defRPr sz="1725" b="1">
                <a:solidFill>
                  <a:srgbClr val="1C3144"/>
                </a:solidFill>
                <a:latin typeface="Calibri"/>
                <a:ea typeface="Calibri"/>
                <a:cs typeface="Calibri"/>
              </a:defRPr>
            </a:lvl8pPr>
            <a:lvl9pPr>
              <a:defRPr sz="1725" b="1">
                <a:solidFill>
                  <a:srgbClr val="1C3144"/>
                </a:solidFill>
                <a:latin typeface="Calibri"/>
                <a:ea typeface="Calibri"/>
                <a:cs typeface="Calibri"/>
              </a:defRPr>
            </a:lvl9pPr>
          </a:lstStyle>
          <a:p>
            <a:pPr>
              <a:defRPr sz="1725" b="1">
                <a:solidFill>
                  <a:srgbClr val="1C3144"/>
                </a:solidFill>
                <a:latin typeface="Calibri"/>
                <a:ea typeface="Calibri"/>
                <a:cs typeface="Calibri"/>
              </a:defRPr>
            </a:pPr>
            <a:r>
              <a:rPr sz="1725" b="1">
                <a:solidFill>
                  <a:srgbClr val="1C3144"/>
                </a:solidFill>
                <a:latin typeface="Calibri"/>
                <a:ea typeface="Calibri"/>
                <a:cs typeface="Calibri"/>
              </a:rPr>
              <a:t>Instructions</a:t>
            </a:r>
          </a:p>
        </p:txBody>
      </p:sp>
      <p:sp>
        <p:nvSpPr>
          <p:cNvPr id="8" name="reveal-02-segment">
            <a:extLst>
              <a:ext uri="{FF2B5EF4-FFF2-40B4-BE49-F238E27FC236}">
                <ns2:creationId id="{0B5A35DF-9376-43E9-BE28-36EF81925F33}"/>
              </a:ext>
              <a:ext uri="{C183D7F6-B498-43B3-948B-1728B52AA6E4}">
                <ns3:decorative val="1"/>
              </a:ext>
            </a:extLst>
          </p:cNvPr>
          <p:cNvSpPr>
            <a:spLocks noGrp="1"/>
          </p:cNvSpPr>
          <p:nvPr/>
        </p:nvSpPr>
        <p:spPr>
          <a:xfrm>
            <a:off x="2809875" y="3133725"/>
            <a:ext cx="3333750" cy="571500"/>
          </a:xfrm>
          <a:prstGeom prst="rect">
            <a:avLst/>
          </a:prstGeom>
          <a:solidFill>
            <a:srgbClr val="E9F3F0"/>
          </a:solidFill>
          <a:ln w="11430">
            <a:solidFill>
              <a:srgbClr val="C9D5DA"/>
            </a:solidFill>
          </a:ln>
        </p:spPr>
      </p:sp>
      <p:sp>
        <p:nvSpPr>
          <p:cNvPr id="9" name="reveal-02-segment-label">
            <a:extLst>
              <a:ext uri="{FF2B5EF4-FFF2-40B4-BE49-F238E27FC236}">
                <ns2:creationId id="{26ACFBA3-5DC6-4268-B835-77F52CF48AD5}"/>
              </a:ext>
            </a:extLst>
          </p:cNvPr>
          <p:cNvSpPr>
            <a:spLocks noGrp="1"/>
          </p:cNvSpPr>
          <p:nvPr/>
        </p:nvSpPr>
        <p:spPr>
          <a:xfrm>
            <a:off x="2886075" y="3238500"/>
            <a:ext cx="3181350" cy="428625"/>
          </a:xfrm>
          <a:prstGeom prst="rect">
            <a:avLst/>
          </a:prstGeom>
          <a:noFill/>
          <a:ln w="0">
            <a:noFill/>
          </a:ln>
        </p:spPr>
        <p:txBody>
          <a:bodyPr>
            <a:noAutofit/>
          </a:bodyPr>
          <a:lstStyle>
            <a:defPPr>
              <a:defRPr sz="1725" b="1">
                <a:solidFill>
                  <a:srgbClr val="1C3144"/>
                </a:solidFill>
                <a:latin typeface="Calibri"/>
                <a:ea typeface="Calibri"/>
                <a:cs typeface="Calibri"/>
              </a:defRPr>
            </a:defPPr>
            <a:lvl1pPr>
              <a:defRPr sz="1725" b="1">
                <a:solidFill>
                  <a:srgbClr val="1C3144"/>
                </a:solidFill>
                <a:latin typeface="Calibri"/>
                <a:ea typeface="Calibri"/>
                <a:cs typeface="Calibri"/>
              </a:defRPr>
            </a:lvl1pPr>
            <a:lvl2pPr>
              <a:defRPr sz="1725" b="1">
                <a:solidFill>
                  <a:srgbClr val="1C3144"/>
                </a:solidFill>
                <a:latin typeface="Calibri"/>
                <a:ea typeface="Calibri"/>
                <a:cs typeface="Calibri"/>
              </a:defRPr>
            </a:lvl2pPr>
            <a:lvl3pPr>
              <a:defRPr sz="1725" b="1">
                <a:solidFill>
                  <a:srgbClr val="1C3144"/>
                </a:solidFill>
                <a:latin typeface="Calibri"/>
                <a:ea typeface="Calibri"/>
                <a:cs typeface="Calibri"/>
              </a:defRPr>
            </a:lvl3pPr>
            <a:lvl4pPr>
              <a:defRPr sz="1725" b="1">
                <a:solidFill>
                  <a:srgbClr val="1C3144"/>
                </a:solidFill>
                <a:latin typeface="Calibri"/>
                <a:ea typeface="Calibri"/>
                <a:cs typeface="Calibri"/>
              </a:defRPr>
            </a:lvl4pPr>
            <a:lvl5pPr>
              <a:defRPr sz="1725" b="1">
                <a:solidFill>
                  <a:srgbClr val="1C3144"/>
                </a:solidFill>
                <a:latin typeface="Calibri"/>
                <a:ea typeface="Calibri"/>
                <a:cs typeface="Calibri"/>
              </a:defRPr>
            </a:lvl5pPr>
            <a:lvl6pPr>
              <a:defRPr sz="1725" b="1">
                <a:solidFill>
                  <a:srgbClr val="1C3144"/>
                </a:solidFill>
                <a:latin typeface="Calibri"/>
                <a:ea typeface="Calibri"/>
                <a:cs typeface="Calibri"/>
              </a:defRPr>
            </a:lvl6pPr>
            <a:lvl7pPr>
              <a:defRPr sz="1725" b="1">
                <a:solidFill>
                  <a:srgbClr val="1C3144"/>
                </a:solidFill>
                <a:latin typeface="Calibri"/>
                <a:ea typeface="Calibri"/>
                <a:cs typeface="Calibri"/>
              </a:defRPr>
            </a:lvl7pPr>
            <a:lvl8pPr>
              <a:defRPr sz="1725" b="1">
                <a:solidFill>
                  <a:srgbClr val="1C3144"/>
                </a:solidFill>
                <a:latin typeface="Calibri"/>
                <a:ea typeface="Calibri"/>
                <a:cs typeface="Calibri"/>
              </a:defRPr>
            </a:lvl8pPr>
            <a:lvl9pPr>
              <a:defRPr sz="1725" b="1">
                <a:solidFill>
                  <a:srgbClr val="1C3144"/>
                </a:solidFill>
                <a:latin typeface="Calibri"/>
                <a:ea typeface="Calibri"/>
                <a:cs typeface="Calibri"/>
              </a:defRPr>
            </a:lvl9pPr>
          </a:lstStyle>
          <a:p>
            <a:pPr>
              <a:defRPr sz="1725" b="1">
                <a:solidFill>
                  <a:srgbClr val="1C3144"/>
                </a:solidFill>
                <a:latin typeface="Calibri"/>
                <a:ea typeface="Calibri"/>
                <a:cs typeface="Calibri"/>
              </a:defRPr>
            </a:pPr>
            <a:r>
              <a:rPr sz="1725" b="1">
                <a:solidFill>
                  <a:srgbClr val="1C3144"/>
                </a:solidFill>
                <a:latin typeface="Calibri"/>
                <a:ea typeface="Calibri"/>
                <a:cs typeface="Calibri"/>
              </a:rPr>
              <a:t>Evidence</a:t>
            </a:r>
          </a:p>
        </p:txBody>
      </p:sp>
      <p:sp>
        <p:nvSpPr>
          <p:cNvPr id="10" name="reveal-02-segment">
            <a:extLst>
              <a:ext uri="{FF2B5EF4-FFF2-40B4-BE49-F238E27FC236}">
                <ns2:creationId id="{BFA35409-B2C6-4CAE-9F83-9855DC2B99FE}"/>
              </a:ext>
              <a:ext uri="{C183D7F6-B498-43B3-948B-1728B52AA6E4}">
                <ns3:decorative val="1"/>
              </a:ext>
            </a:extLst>
          </p:cNvPr>
          <p:cNvSpPr>
            <a:spLocks noGrp="1"/>
          </p:cNvSpPr>
          <p:nvPr/>
        </p:nvSpPr>
        <p:spPr>
          <a:xfrm>
            <a:off x="6334125" y="3133725"/>
            <a:ext cx="2857500" cy="571500"/>
          </a:xfrm>
          <a:prstGeom prst="rect">
            <a:avLst/>
          </a:prstGeom>
          <a:solidFill>
            <a:srgbClr val="FFFFFF"/>
          </a:solidFill>
          <a:ln w="11430">
            <a:solidFill>
              <a:srgbClr val="C9D5DA"/>
            </a:solidFill>
          </a:ln>
        </p:spPr>
      </p:sp>
      <p:sp>
        <p:nvSpPr>
          <p:cNvPr id="11" name="reveal-02-segment-label">
            <a:extLst>
              <a:ext uri="{FF2B5EF4-FFF2-40B4-BE49-F238E27FC236}">
                <ns2:creationId id="{0523AFB2-42E4-43C3-BB98-B56B6214E6C2}"/>
              </a:ext>
            </a:extLst>
          </p:cNvPr>
          <p:cNvSpPr>
            <a:spLocks noGrp="1"/>
          </p:cNvSpPr>
          <p:nvPr/>
        </p:nvSpPr>
        <p:spPr>
          <a:xfrm>
            <a:off x="6410325" y="3238500"/>
            <a:ext cx="2705100" cy="428625"/>
          </a:xfrm>
          <a:prstGeom prst="rect">
            <a:avLst/>
          </a:prstGeom>
          <a:noFill/>
          <a:ln w="0">
            <a:noFill/>
          </a:ln>
        </p:spPr>
        <p:txBody>
          <a:bodyPr>
            <a:noAutofit/>
          </a:bodyPr>
          <a:lstStyle>
            <a:defPPr>
              <a:defRPr sz="1725" b="1">
                <a:solidFill>
                  <a:srgbClr val="1C3144"/>
                </a:solidFill>
                <a:latin typeface="Calibri"/>
                <a:ea typeface="Calibri"/>
                <a:cs typeface="Calibri"/>
              </a:defRPr>
            </a:defPPr>
            <a:lvl1pPr>
              <a:defRPr sz="1725" b="1">
                <a:solidFill>
                  <a:srgbClr val="1C3144"/>
                </a:solidFill>
                <a:latin typeface="Calibri"/>
                <a:ea typeface="Calibri"/>
                <a:cs typeface="Calibri"/>
              </a:defRPr>
            </a:lvl1pPr>
            <a:lvl2pPr>
              <a:defRPr sz="1725" b="1">
                <a:solidFill>
                  <a:srgbClr val="1C3144"/>
                </a:solidFill>
                <a:latin typeface="Calibri"/>
                <a:ea typeface="Calibri"/>
                <a:cs typeface="Calibri"/>
              </a:defRPr>
            </a:lvl2pPr>
            <a:lvl3pPr>
              <a:defRPr sz="1725" b="1">
                <a:solidFill>
                  <a:srgbClr val="1C3144"/>
                </a:solidFill>
                <a:latin typeface="Calibri"/>
                <a:ea typeface="Calibri"/>
                <a:cs typeface="Calibri"/>
              </a:defRPr>
            </a:lvl3pPr>
            <a:lvl4pPr>
              <a:defRPr sz="1725" b="1">
                <a:solidFill>
                  <a:srgbClr val="1C3144"/>
                </a:solidFill>
                <a:latin typeface="Calibri"/>
                <a:ea typeface="Calibri"/>
                <a:cs typeface="Calibri"/>
              </a:defRPr>
            </a:lvl4pPr>
            <a:lvl5pPr>
              <a:defRPr sz="1725" b="1">
                <a:solidFill>
                  <a:srgbClr val="1C3144"/>
                </a:solidFill>
                <a:latin typeface="Calibri"/>
                <a:ea typeface="Calibri"/>
                <a:cs typeface="Calibri"/>
              </a:defRPr>
            </a:lvl5pPr>
            <a:lvl6pPr>
              <a:defRPr sz="1725" b="1">
                <a:solidFill>
                  <a:srgbClr val="1C3144"/>
                </a:solidFill>
                <a:latin typeface="Calibri"/>
                <a:ea typeface="Calibri"/>
                <a:cs typeface="Calibri"/>
              </a:defRPr>
            </a:lvl6pPr>
            <a:lvl7pPr>
              <a:defRPr sz="1725" b="1">
                <a:solidFill>
                  <a:srgbClr val="1C3144"/>
                </a:solidFill>
                <a:latin typeface="Calibri"/>
                <a:ea typeface="Calibri"/>
                <a:cs typeface="Calibri"/>
              </a:defRPr>
            </a:lvl7pPr>
            <a:lvl8pPr>
              <a:defRPr sz="1725" b="1">
                <a:solidFill>
                  <a:srgbClr val="1C3144"/>
                </a:solidFill>
                <a:latin typeface="Calibri"/>
                <a:ea typeface="Calibri"/>
                <a:cs typeface="Calibri"/>
              </a:defRPr>
            </a:lvl8pPr>
            <a:lvl9pPr>
              <a:defRPr sz="1725" b="1">
                <a:solidFill>
                  <a:srgbClr val="1C3144"/>
                </a:solidFill>
                <a:latin typeface="Calibri"/>
                <a:ea typeface="Calibri"/>
                <a:cs typeface="Calibri"/>
              </a:defRPr>
            </a:lvl9pPr>
          </a:lstStyle>
          <a:p>
            <a:pPr>
              <a:defRPr sz="1725" b="1">
                <a:solidFill>
                  <a:srgbClr val="1C3144"/>
                </a:solidFill>
                <a:latin typeface="Calibri"/>
                <a:ea typeface="Calibri"/>
                <a:cs typeface="Calibri"/>
              </a:defRPr>
            </a:pPr>
            <a:r>
              <a:rPr sz="1725" b="1">
                <a:solidFill>
                  <a:srgbClr val="1C3144"/>
                </a:solidFill>
                <a:latin typeface="Calibri"/>
                <a:ea typeface="Calibri"/>
                <a:cs typeface="Calibri"/>
              </a:rPr>
              <a:t>Conversation</a:t>
            </a:r>
          </a:p>
        </p:txBody>
      </p:sp>
      <p:sp>
        <p:nvSpPr>
          <p:cNvPr id="12" name="reveal-02-segment">
            <a:extLst>
              <a:ext uri="{FF2B5EF4-FFF2-40B4-BE49-F238E27FC236}">
                <ns2:creationId id="{33470F7C-60D4-404C-A3B4-7BBA332DB8AD}"/>
              </a:ext>
              <a:ext uri="{C183D7F6-B498-43B3-948B-1728B52AA6E4}">
                <ns3:decorative val="1"/>
              </a:ext>
            </a:extLst>
          </p:cNvPr>
          <p:cNvSpPr>
            <a:spLocks noGrp="1"/>
          </p:cNvSpPr>
          <p:nvPr/>
        </p:nvSpPr>
        <p:spPr>
          <a:xfrm>
            <a:off x="9382125" y="3133725"/>
            <a:ext cx="2000250" cy="571500"/>
          </a:xfrm>
          <a:prstGeom prst="rect">
            <a:avLst/>
          </a:prstGeom>
          <a:solidFill>
            <a:srgbClr val="FFFFFF"/>
          </a:solidFill>
          <a:ln w="11430">
            <a:solidFill>
              <a:srgbClr val="C9D5DA"/>
            </a:solidFill>
          </a:ln>
        </p:spPr>
      </p:sp>
      <p:sp>
        <p:nvSpPr>
          <p:cNvPr id="13" name="reveal-02-segment-label">
            <a:extLst>
              <a:ext uri="{FF2B5EF4-FFF2-40B4-BE49-F238E27FC236}">
                <ns2:creationId id="{0D576BBE-398E-4B3B-8253-BF069840C141}"/>
              </a:ext>
            </a:extLst>
          </p:cNvPr>
          <p:cNvSpPr>
            <a:spLocks noGrp="1"/>
          </p:cNvSpPr>
          <p:nvPr/>
        </p:nvSpPr>
        <p:spPr>
          <a:xfrm>
            <a:off x="9458325" y="3238500"/>
            <a:ext cx="1847850" cy="428625"/>
          </a:xfrm>
          <a:prstGeom prst="rect">
            <a:avLst/>
          </a:prstGeom>
          <a:noFill/>
          <a:ln w="0">
            <a:noFill/>
          </a:ln>
        </p:spPr>
        <p:txBody>
          <a:bodyPr>
            <a:noAutofit/>
          </a:bodyPr>
          <a:lstStyle>
            <a:defPPr>
              <a:defRPr sz="1725" b="1">
                <a:solidFill>
                  <a:srgbClr val="1C3144"/>
                </a:solidFill>
                <a:latin typeface="Calibri"/>
                <a:ea typeface="Calibri"/>
                <a:cs typeface="Calibri"/>
              </a:defRPr>
            </a:defPPr>
            <a:lvl1pPr>
              <a:defRPr sz="1725" b="1">
                <a:solidFill>
                  <a:srgbClr val="1C3144"/>
                </a:solidFill>
                <a:latin typeface="Calibri"/>
                <a:ea typeface="Calibri"/>
                <a:cs typeface="Calibri"/>
              </a:defRPr>
            </a:lvl1pPr>
            <a:lvl2pPr>
              <a:defRPr sz="1725" b="1">
                <a:solidFill>
                  <a:srgbClr val="1C3144"/>
                </a:solidFill>
                <a:latin typeface="Calibri"/>
                <a:ea typeface="Calibri"/>
                <a:cs typeface="Calibri"/>
              </a:defRPr>
            </a:lvl2pPr>
            <a:lvl3pPr>
              <a:defRPr sz="1725" b="1">
                <a:solidFill>
                  <a:srgbClr val="1C3144"/>
                </a:solidFill>
                <a:latin typeface="Calibri"/>
                <a:ea typeface="Calibri"/>
                <a:cs typeface="Calibri"/>
              </a:defRPr>
            </a:lvl3pPr>
            <a:lvl4pPr>
              <a:defRPr sz="1725" b="1">
                <a:solidFill>
                  <a:srgbClr val="1C3144"/>
                </a:solidFill>
                <a:latin typeface="Calibri"/>
                <a:ea typeface="Calibri"/>
                <a:cs typeface="Calibri"/>
              </a:defRPr>
            </a:lvl4pPr>
            <a:lvl5pPr>
              <a:defRPr sz="1725" b="1">
                <a:solidFill>
                  <a:srgbClr val="1C3144"/>
                </a:solidFill>
                <a:latin typeface="Calibri"/>
                <a:ea typeface="Calibri"/>
                <a:cs typeface="Calibri"/>
              </a:defRPr>
            </a:lvl5pPr>
            <a:lvl6pPr>
              <a:defRPr sz="1725" b="1">
                <a:solidFill>
                  <a:srgbClr val="1C3144"/>
                </a:solidFill>
                <a:latin typeface="Calibri"/>
                <a:ea typeface="Calibri"/>
                <a:cs typeface="Calibri"/>
              </a:defRPr>
            </a:lvl6pPr>
            <a:lvl7pPr>
              <a:defRPr sz="1725" b="1">
                <a:solidFill>
                  <a:srgbClr val="1C3144"/>
                </a:solidFill>
                <a:latin typeface="Calibri"/>
                <a:ea typeface="Calibri"/>
                <a:cs typeface="Calibri"/>
              </a:defRPr>
            </a:lvl7pPr>
            <a:lvl8pPr>
              <a:defRPr sz="1725" b="1">
                <a:solidFill>
                  <a:srgbClr val="1C3144"/>
                </a:solidFill>
                <a:latin typeface="Calibri"/>
                <a:ea typeface="Calibri"/>
                <a:cs typeface="Calibri"/>
              </a:defRPr>
            </a:lvl8pPr>
            <a:lvl9pPr>
              <a:defRPr sz="1725" b="1">
                <a:solidFill>
                  <a:srgbClr val="1C3144"/>
                </a:solidFill>
                <a:latin typeface="Calibri"/>
                <a:ea typeface="Calibri"/>
                <a:cs typeface="Calibri"/>
              </a:defRPr>
            </a:lvl9pPr>
          </a:lstStyle>
          <a:p>
            <a:pPr>
              <a:defRPr sz="1725" b="1">
                <a:solidFill>
                  <a:srgbClr val="1C3144"/>
                </a:solidFill>
                <a:latin typeface="Calibri"/>
                <a:ea typeface="Calibri"/>
                <a:cs typeface="Calibri"/>
              </a:defRPr>
            </a:pPr>
            <a:r>
              <a:rPr sz="1725" b="1">
                <a:solidFill>
                  <a:srgbClr val="1C3144"/>
                </a:solidFill>
                <a:latin typeface="Calibri"/>
                <a:ea typeface="Calibri"/>
                <a:cs typeface="Calibri"/>
              </a:rPr>
              <a:t>Output</a:t>
            </a:r>
          </a:p>
        </p:txBody>
      </p:sp>
      <p:sp>
        <p:nvSpPr>
          <p:cNvPr id="14" name="reveal-03-outside">
            <a:extLst>
              <a:ext uri="{FF2B5EF4-FFF2-40B4-BE49-F238E27FC236}">
                <ns2:creationId id="{6E2F92AD-C94B-479D-8A10-A230E7221A48}"/>
              </a:ext>
            </a:extLst>
          </p:cNvPr>
          <p:cNvSpPr>
            <a:spLocks noGrp="1"/>
          </p:cNvSpPr>
          <p:nvPr/>
        </p:nvSpPr>
        <p:spPr>
          <a:xfrm>
            <a:off x="619125" y="4552950"/>
            <a:ext cx="10858500" cy="809625"/>
          </a:xfrm>
          <a:prstGeom prst="rect">
            <a:avLst/>
          </a:prstGeom>
          <a:noFill/>
          <a:ln w="0">
            <a:noFill/>
          </a:ln>
        </p:spPr>
        <p:txBody>
          <a:bodyPr>
            <a:noAutofit/>
          </a:bodyPr>
          <a:lstStyle>
            <a:defPPr>
              <a:defRPr sz="2475" b="1">
                <a:solidFill>
                  <a:srgbClr val="C94E29"/>
                </a:solidFill>
                <a:latin typeface="Calibri"/>
                <a:ea typeface="Calibri"/>
                <a:cs typeface="Calibri"/>
              </a:defRPr>
            </a:defPPr>
            <a:lvl1pPr>
              <a:defRPr sz="2475" b="1">
                <a:solidFill>
                  <a:srgbClr val="C94E29"/>
                </a:solidFill>
                <a:latin typeface="Calibri"/>
                <a:ea typeface="Calibri"/>
                <a:cs typeface="Calibri"/>
              </a:defRPr>
            </a:lvl1pPr>
            <a:lvl2pPr>
              <a:defRPr sz="2475" b="1">
                <a:solidFill>
                  <a:srgbClr val="C94E29"/>
                </a:solidFill>
                <a:latin typeface="Calibri"/>
                <a:ea typeface="Calibri"/>
                <a:cs typeface="Calibri"/>
              </a:defRPr>
            </a:lvl2pPr>
            <a:lvl3pPr>
              <a:defRPr sz="2475" b="1">
                <a:solidFill>
                  <a:srgbClr val="C94E29"/>
                </a:solidFill>
                <a:latin typeface="Calibri"/>
                <a:ea typeface="Calibri"/>
                <a:cs typeface="Calibri"/>
              </a:defRPr>
            </a:lvl3pPr>
            <a:lvl4pPr>
              <a:defRPr sz="2475" b="1">
                <a:solidFill>
                  <a:srgbClr val="C94E29"/>
                </a:solidFill>
                <a:latin typeface="Calibri"/>
                <a:ea typeface="Calibri"/>
                <a:cs typeface="Calibri"/>
              </a:defRPr>
            </a:lvl4pPr>
            <a:lvl5pPr>
              <a:defRPr sz="2475" b="1">
                <a:solidFill>
                  <a:srgbClr val="C94E29"/>
                </a:solidFill>
                <a:latin typeface="Calibri"/>
                <a:ea typeface="Calibri"/>
                <a:cs typeface="Calibri"/>
              </a:defRPr>
            </a:lvl5pPr>
            <a:lvl6pPr>
              <a:defRPr sz="2475" b="1">
                <a:solidFill>
                  <a:srgbClr val="C94E29"/>
                </a:solidFill>
                <a:latin typeface="Calibri"/>
                <a:ea typeface="Calibri"/>
                <a:cs typeface="Calibri"/>
              </a:defRPr>
            </a:lvl6pPr>
            <a:lvl7pPr>
              <a:defRPr sz="2475" b="1">
                <a:solidFill>
                  <a:srgbClr val="C94E29"/>
                </a:solidFill>
                <a:latin typeface="Calibri"/>
                <a:ea typeface="Calibri"/>
                <a:cs typeface="Calibri"/>
              </a:defRPr>
            </a:lvl7pPr>
            <a:lvl8pPr>
              <a:defRPr sz="2475" b="1">
                <a:solidFill>
                  <a:srgbClr val="C94E29"/>
                </a:solidFill>
                <a:latin typeface="Calibri"/>
                <a:ea typeface="Calibri"/>
                <a:cs typeface="Calibri"/>
              </a:defRPr>
            </a:lvl8pPr>
            <a:lvl9pPr>
              <a:defRPr sz="2475" b="1">
                <a:solidFill>
                  <a:srgbClr val="C94E29"/>
                </a:solidFill>
                <a:latin typeface="Calibri"/>
                <a:ea typeface="Calibri"/>
                <a:cs typeface="Calibri"/>
              </a:defRPr>
            </a:lvl9pPr>
          </a:lstStyle>
          <a:p>
            <a:pPr>
              <a:defRPr sz="2475" b="1">
                <a:solidFill>
                  <a:srgbClr val="C94E29"/>
                </a:solidFill>
                <a:latin typeface="Calibri"/>
                <a:ea typeface="Calibri"/>
                <a:cs typeface="Calibri"/>
              </a:defRPr>
            </a:pPr>
            <a:r>
              <a:rPr sz="2475" b="1">
                <a:solidFill>
                  <a:srgbClr val="C94E29"/>
                </a:solidFill>
                <a:latin typeface="Calibri"/>
                <a:ea typeface="Calibri"/>
                <a:cs typeface="Calibri"/>
              </a:rPr>
              <a:t>Application files and earlier material can sit outside this window.</a:t>
            </a:r>
          </a:p>
        </p:txBody>
      </p:sp>
      <p:sp>
        <p:nvSpPr>
          <p:cNvPr id="15" name="text-39">
            <a:extLst>
              <a:ext uri="{FF2B5EF4-FFF2-40B4-BE49-F238E27FC236}">
                <ns2:creationId id="{04846489-6AB3-4B12-8900-779774ADB04C}"/>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Conceptual allocation, not measured token sizes. Product rules determine selection, summarisation and limits.</a:t>
            </a:r>
          </a:p>
        </p:txBody>
      </p:sp>
      <p:sp>
        <p:nvSpPr>
          <p:cNvPr id="3" name="text-38">
            <a:extLst>
              <a:ext uri="{FF2B5EF4-FFF2-40B4-BE49-F238E27FC236}">
                <ns2:creationId id="{AAAE5E37-F2C6-4916-A559-061865B17492}"/>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03   7</a:t>
            </a:r>
          </a:p>
        </p:txBody>
      </p:sp>
    </p:spTree>
    <p:extLst>
      <p:ext uri="{BB962C8B-B14F-4D97-AF65-F5344CB8AC3E}">
        <ns4:creationId val="1642569962"/>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300"/>
                                        <p:tgtEl>
                                          <p:spTgt spid="6"/>
                                        </p:tgtEl>
                                      </p:cBhvr>
                                    </p:animEffect>
                                  </p:childTnLst>
                                </p:cTn>
                              </p:par>
                              <p:par>
                                <p:cTn id="16" presetID="10"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300"/>
                                        <p:tgtEl>
                                          <p:spTgt spid="7"/>
                                        </p:tgtEl>
                                      </p:cBhvr>
                                    </p:animEffect>
                                  </p:childTnLst>
                                </p:cTn>
                              </p:par>
                              <p:par>
                                <p:cTn id="19" presetID="10"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300"/>
                                        <p:tgtEl>
                                          <p:spTgt spid="8"/>
                                        </p:tgtEl>
                                      </p:cBhvr>
                                    </p:animEffect>
                                  </p:childTnLst>
                                </p:cTn>
                              </p:par>
                              <p:par>
                                <p:cTn id="22" presetID="10" presetClass="entr" presetSubtype="0"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00"/>
                                        <p:tgtEl>
                                          <p:spTgt spid="9"/>
                                        </p:tgtEl>
                                      </p:cBhvr>
                                    </p:animEffect>
                                  </p:childTnLst>
                                </p:cTn>
                              </p:par>
                              <p:par>
                                <p:cTn id="25" presetID="10"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300"/>
                                        <p:tgtEl>
                                          <p:spTgt spid="10"/>
                                        </p:tgtEl>
                                      </p:cBhvr>
                                    </p:animEffect>
                                  </p:childTnLst>
                                </p:cTn>
                              </p:par>
                              <p:par>
                                <p:cTn id="28" presetID="10" presetClass="entr" presetSubtype="0" fill="hold"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300"/>
                                        <p:tgtEl>
                                          <p:spTgt spid="11"/>
                                        </p:tgtEl>
                                      </p:cBhvr>
                                    </p:animEffect>
                                  </p:childTnLst>
                                </p:cTn>
                              </p:par>
                              <p:par>
                                <p:cTn id="31" presetID="10" presetClass="entr" presetSubtype="0" fill="hold"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300"/>
                                        <p:tgtEl>
                                          <p:spTgt spid="12"/>
                                        </p:tgtEl>
                                      </p:cBhvr>
                                    </p:animEffect>
                                  </p:childTnLst>
                                </p:cTn>
                              </p:par>
                              <p:par>
                                <p:cTn id="34" presetID="10" presetClass="entr" presetSubtype="0" fill="hold"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300"/>
                                        <p:tgtEl>
                                          <p:spTgt spid="13"/>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3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ns2="http://schemas.microsoft.com/office/drawing/2014/main" xmlns:ns3="http://schemas.microsoft.com/office/powerpoint/2010/main" xmlns:p="http://schemas.openxmlformats.org/presentationml/2006/main">
  <p:cSld name="Context capacity and evidence use">
    <p:bg>
      <p:bgPr>
        <a:solidFill>
          <a:srgbClr val="FFFFFF"/>
        </a:solidFill>
      </p:bgPr>
    </p:bg>
    <p:spTree>
      <p:nvGrpSpPr>
        <p:cNvPr id="1" name=""/>
        <p:cNvGrpSpPr/>
        <p:nvPr/>
      </p:nvGrpSpPr>
      <p:grpSpPr>
        <a:xfrm/>
      </p:grpSpPr>
      <p:sp>
        <p:nvSpPr>
          <p:cNvPr id="10" name="text-40">
            <a:extLst>
              <a:ext uri="{FF2B5EF4-FFF2-40B4-BE49-F238E27FC236}">
                <ns2:creationId id="{E0610497-2C7D-4376-BCBB-8F79CE94F6B3}"/>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03</a:t>
            </a:r>
          </a:p>
        </p:txBody>
      </p:sp>
      <p:sp>
        <p:nvSpPr>
          <p:cNvPr id="2" name="text-41">
            <a:extLst>
              <a:ext uri="{FF2B5EF4-FFF2-40B4-BE49-F238E27FC236}">
                <ns2:creationId id="{83B5F7F2-FDC6-4036-9C3E-F6D6BBE829CC}"/>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Context capacity and evidence use</a:t>
            </a:r>
          </a:p>
        </p:txBody>
      </p:sp>
      <p:sp>
        <p:nvSpPr>
          <p:cNvPr id="4" name="text-43">
            <a:extLst>
              <a:ext uri="{FF2B5EF4-FFF2-40B4-BE49-F238E27FC236}">
                <ns2:creationId id="{A4E4B4A2-F57E-47A5-823C-B17FE03D4B15}"/>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44">
            <a:extLst>
              <a:ext uri="{FF2B5EF4-FFF2-40B4-BE49-F238E27FC236}">
                <ns2:creationId id="{FD7F2486-AC1B-4F68-8A95-F64E80FE072F}"/>
              </a:ext>
            </a:extLst>
          </p:cNvPr>
          <p:cNvSpPr>
            <a:spLocks noGrp="1"/>
          </p:cNvSpPr>
          <p:nvPr/>
        </p:nvSpPr>
        <p:spPr>
          <a:xfrm>
            <a:off x="1285875" y="194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Fits in the window does not mean used correctly.</a:t>
            </a:r>
          </a:p>
        </p:txBody>
      </p:sp>
      <p:sp>
        <p:nvSpPr>
          <p:cNvPr id="6" name="text-45">
            <a:extLst>
              <a:ext uri="{FF2B5EF4-FFF2-40B4-BE49-F238E27FC236}">
                <ns2:creationId id="{24E64D0F-62F6-4106-8DFA-0516EF0E34F8}"/>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46">
            <a:extLst>
              <a:ext uri="{FF2B5EF4-FFF2-40B4-BE49-F238E27FC236}">
                <ns2:creationId id="{9C197213-55FB-44A1-AF12-29D78FE24032}"/>
              </a:ext>
            </a:extLst>
          </p:cNvPr>
          <p:cNvSpPr>
            <a:spLocks noGrp="1"/>
          </p:cNvSpPr>
          <p:nvPr/>
        </p:nvSpPr>
        <p:spPr>
          <a:xfrm>
            <a:off x="1285875" y="321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relevant passage may not be retrieved or attended to effectively.</a:t>
            </a:r>
          </a:p>
        </p:txBody>
      </p:sp>
      <p:sp>
        <p:nvSpPr>
          <p:cNvPr id="8" name="text-47">
            <a:extLst>
              <a:ext uri="{FF2B5EF4-FFF2-40B4-BE49-F238E27FC236}">
                <ns2:creationId id="{CFFD297D-B6D0-4C6E-A26F-098B1C43E281}"/>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48">
            <a:extLst>
              <a:ext uri="{FF2B5EF4-FFF2-40B4-BE49-F238E27FC236}">
                <ns2:creationId id="{CA63A74B-94F6-420A-A75E-F65E8D0A34D7}"/>
              </a:ext>
            </a:extLst>
          </p:cNvPr>
          <p:cNvSpPr>
            <a:spLocks noGrp="1"/>
          </p:cNvSpPr>
          <p:nvPr/>
        </p:nvSpPr>
        <p:spPr>
          <a:xfrm>
            <a:off x="1285875" y="448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Ask for the exact passage and inspect the original.</a:t>
            </a:r>
          </a:p>
        </p:txBody>
      </p:sp>
      <p:sp>
        <p:nvSpPr>
          <p:cNvPr id="3" name="text-42">
            <a:extLst>
              <a:ext uri="{FF2B5EF4-FFF2-40B4-BE49-F238E27FC236}">
                <ns2:creationId id="{69D05BCD-8A0F-4C01-B865-D2E7C870CFB5}"/>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03   8</a:t>
            </a:r>
          </a:p>
        </p:txBody>
      </p:sp>
    </p:spTree>
    <p:extLst>
      <p:ext uri="{BB962C8B-B14F-4D97-AF65-F5344CB8AC3E}">
        <ns3:creationId val="1595000654"/>
      </p:ext>
    </p:extLst>
  </p:cSld>
  <p:transition spd="med" advClick="1">
    <p:fade/>
  </p:transition>
</p:sld>
</file>

<file path=ppt/slides/slide9.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Attention connects relevant context">
    <p:bg>
      <p:bgPr>
        <a:solidFill>
          <a:srgbClr val="FFFFFF"/>
        </a:solidFill>
      </p:bgPr>
    </p:bg>
    <p:spTree>
      <p:nvGrpSpPr>
        <p:cNvPr id="1" name=""/>
        <p:cNvGrpSpPr/>
        <p:nvPr/>
      </p:nvGrpSpPr>
      <p:grpSpPr>
        <a:xfrm/>
      </p:grpSpPr>
      <p:cxnSp>
        <p:nvCxnSpPr>
          <p:cNvPr id="15" name="reveal-03-weight-2" descr="Attention connects relevant context">
            <a:extLst>
              <a:ext uri="{FF2B5EF4-FFF2-40B4-BE49-F238E27FC236}">
                <ns2:creationId id="{CC92C652-AC1D-49AA-9F7B-6A0587CEB4FA}"/>
              </a:ext>
            </a:extLst>
          </p:cNvPr>
          <p:cNvCxnSpPr>
            <a:stCxn id="9" idx="2"/>
            <a:endCxn id="11" idx="0"/>
          </p:cNvCxnSpPr>
          <p:nvPr/>
        </p:nvCxnSpPr>
        <p:spPr>
          <a:xfrm flipH="1">
            <a:off x="5953125" y="3381375"/>
            <a:ext cx="3571875" cy="1295400"/>
          </a:xfrm>
          <a:prstGeom prst="straightConnector1">
            <a:avLst/>
          </a:prstGeom>
          <a:ln w="11430">
            <a:solidFill>
              <a:srgbClr val="246E63"/>
            </a:solidFill>
            <a:tailEnd type="arrow" w="med" len="med"/>
          </a:ln>
        </p:spPr>
      </p:cxnSp>
      <p:cxnSp>
        <p:nvCxnSpPr>
          <p:cNvPr id="14" name="reveal-03-weight-1">
            <a:extLst>
              <a:ext uri="{FF2B5EF4-FFF2-40B4-BE49-F238E27FC236}">
                <ns2:creationId id="{45ED5C56-9BC8-43F6-8423-785050DBCBFC}"/>
              </a:ext>
              <a:ext uri="{C183D7F6-B498-43B3-948B-1728B52AA6E4}">
                <ns3:decorative val="1"/>
              </a:ext>
            </a:extLst>
          </p:cNvPr>
          <p:cNvCxnSpPr>
            <a:stCxn id="7" idx="2"/>
            <a:endCxn id="11" idx="0"/>
          </p:cNvCxnSpPr>
          <p:nvPr/>
        </p:nvCxnSpPr>
        <p:spPr>
          <a:xfrm>
            <a:off x="5905500" y="3381375"/>
            <a:ext cx="47625" cy="1295400"/>
          </a:xfrm>
          <a:prstGeom prst="straightConnector1">
            <a:avLst/>
          </a:prstGeom>
          <a:ln w="23813">
            <a:solidFill>
              <a:srgbClr val="246E63"/>
            </a:solidFill>
            <a:tailEnd type="arrow" w="med" len="med"/>
          </a:ln>
        </p:spPr>
      </p:cxnSp>
      <p:cxnSp>
        <p:nvCxnSpPr>
          <p:cNvPr id="13" name="reveal-03-weight-0">
            <a:extLst>
              <a:ext uri="{FF2B5EF4-FFF2-40B4-BE49-F238E27FC236}">
                <ns2:creationId id="{EC36AD76-AA01-4915-84B6-A70CFBF02045}"/>
              </a:ext>
              <a:ext uri="{C183D7F6-B498-43B3-948B-1728B52AA6E4}">
                <ns3:decorative val="1"/>
              </a:ext>
            </a:extLst>
          </p:cNvPr>
          <p:cNvCxnSpPr>
            <a:stCxn id="5" idx="2"/>
            <a:endCxn id="11" idx="0"/>
          </p:cNvCxnSpPr>
          <p:nvPr/>
        </p:nvCxnSpPr>
        <p:spPr>
          <a:xfrm>
            <a:off x="2286000" y="3381375"/>
            <a:ext cx="3667125" cy="1295400"/>
          </a:xfrm>
          <a:prstGeom prst="straightConnector1">
            <a:avLst/>
          </a:prstGeom>
          <a:ln w="38100">
            <a:solidFill>
              <a:srgbClr val="246E63"/>
            </a:solidFill>
            <a:tailEnd type="arrow" w="med" len="med"/>
          </a:ln>
        </p:spPr>
      </p:cxnSp>
      <p:sp>
        <p:nvSpPr>
          <p:cNvPr id="18" name="text-49">
            <a:extLst>
              <a:ext uri="{FF2B5EF4-FFF2-40B4-BE49-F238E27FC236}">
                <ns2:creationId id="{710B9286-8F73-4386-8913-FA721B3E2074}"/>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03</a:t>
            </a:r>
          </a:p>
        </p:txBody>
      </p:sp>
      <p:sp>
        <p:nvSpPr>
          <p:cNvPr id="2" name="text-50">
            <a:extLst>
              <a:ext uri="{FF2B5EF4-FFF2-40B4-BE49-F238E27FC236}">
                <ns2:creationId id="{2FBAE0FE-C535-44D9-B881-DD20CE8400D9}"/>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Attention connects relevant context</a:t>
            </a:r>
          </a:p>
        </p:txBody>
      </p:sp>
      <p:sp>
        <p:nvSpPr>
          <p:cNvPr id="4" name="text-52">
            <a:extLst>
              <a:ext uri="{FF2B5EF4-FFF2-40B4-BE49-F238E27FC236}">
                <ns2:creationId id="{C8329D41-3F14-427F-B243-50E8D192ED70}"/>
              </a:ext>
            </a:extLst>
          </p:cNvPr>
          <p:cNvSpPr>
            <a:spLocks noGrp="1"/>
          </p:cNvSpPr>
          <p:nvPr/>
        </p:nvSpPr>
        <p:spPr>
          <a:xfrm>
            <a:off x="619125" y="1847850"/>
            <a:ext cx="10858500" cy="552450"/>
          </a:xfrm>
          <a:prstGeom prst="rect">
            <a:avLst/>
          </a:prstGeom>
          <a:noFill/>
          <a:ln w="0">
            <a:noFill/>
          </a:ln>
        </p:spPr>
        <p:txBody>
          <a:bodyPr>
            <a:noAutofit/>
          </a:bodyPr>
          <a:lstStyle>
            <a:defPPr>
              <a:defRPr sz="2550" b="1">
                <a:solidFill>
                  <a:srgbClr val="1C3144"/>
                </a:solidFill>
                <a:latin typeface="Calibri"/>
                <a:ea typeface="Calibri"/>
                <a:cs typeface="Calibri"/>
              </a:defRPr>
            </a:defPPr>
            <a:lvl1pPr>
              <a:defRPr sz="2550" b="1">
                <a:solidFill>
                  <a:srgbClr val="1C3144"/>
                </a:solidFill>
                <a:latin typeface="Calibri"/>
                <a:ea typeface="Calibri"/>
                <a:cs typeface="Calibri"/>
              </a:defRPr>
            </a:lvl1pPr>
            <a:lvl2pPr>
              <a:defRPr sz="2550" b="1">
                <a:solidFill>
                  <a:srgbClr val="1C3144"/>
                </a:solidFill>
                <a:latin typeface="Calibri"/>
                <a:ea typeface="Calibri"/>
                <a:cs typeface="Calibri"/>
              </a:defRPr>
            </a:lvl2pPr>
            <a:lvl3pPr>
              <a:defRPr sz="2550" b="1">
                <a:solidFill>
                  <a:srgbClr val="1C3144"/>
                </a:solidFill>
                <a:latin typeface="Calibri"/>
                <a:ea typeface="Calibri"/>
                <a:cs typeface="Calibri"/>
              </a:defRPr>
            </a:lvl3pPr>
            <a:lvl4pPr>
              <a:defRPr sz="2550" b="1">
                <a:solidFill>
                  <a:srgbClr val="1C3144"/>
                </a:solidFill>
                <a:latin typeface="Calibri"/>
                <a:ea typeface="Calibri"/>
                <a:cs typeface="Calibri"/>
              </a:defRPr>
            </a:lvl4pPr>
            <a:lvl5pPr>
              <a:defRPr sz="2550" b="1">
                <a:solidFill>
                  <a:srgbClr val="1C3144"/>
                </a:solidFill>
                <a:latin typeface="Calibri"/>
                <a:ea typeface="Calibri"/>
                <a:cs typeface="Calibri"/>
              </a:defRPr>
            </a:lvl5pPr>
            <a:lvl6pPr>
              <a:defRPr sz="2550" b="1">
                <a:solidFill>
                  <a:srgbClr val="1C3144"/>
                </a:solidFill>
                <a:latin typeface="Calibri"/>
                <a:ea typeface="Calibri"/>
                <a:cs typeface="Calibri"/>
              </a:defRPr>
            </a:lvl6pPr>
            <a:lvl7pPr>
              <a:defRPr sz="2550" b="1">
                <a:solidFill>
                  <a:srgbClr val="1C3144"/>
                </a:solidFill>
                <a:latin typeface="Calibri"/>
                <a:ea typeface="Calibri"/>
                <a:cs typeface="Calibri"/>
              </a:defRPr>
            </a:lvl7pPr>
            <a:lvl8pPr>
              <a:defRPr sz="2550" b="1">
                <a:solidFill>
                  <a:srgbClr val="1C3144"/>
                </a:solidFill>
                <a:latin typeface="Calibri"/>
                <a:ea typeface="Calibri"/>
                <a:cs typeface="Calibri"/>
              </a:defRPr>
            </a:lvl8pPr>
            <a:lvl9pPr>
              <a:defRPr sz="2550" b="1">
                <a:solidFill>
                  <a:srgbClr val="1C3144"/>
                </a:solidFill>
                <a:latin typeface="Calibri"/>
                <a:ea typeface="Calibri"/>
                <a:cs typeface="Calibri"/>
              </a:defRPr>
            </a:lvl9pPr>
          </a:lstStyle>
          <a:p>
            <a:pPr>
              <a:defRPr sz="2550" b="1">
                <a:solidFill>
                  <a:srgbClr val="1C3144"/>
                </a:solidFill>
                <a:latin typeface="Calibri"/>
                <a:ea typeface="Calibri"/>
                <a:cs typeface="Calibri"/>
              </a:defRPr>
            </a:pPr>
            <a:r>
              <a:rPr sz="2550" b="1">
                <a:solidFill>
                  <a:srgbClr val="1C3144"/>
                </a:solidFill>
                <a:latin typeface="Calibri"/>
                <a:ea typeface="Calibri"/>
                <a:cs typeface="Calibri"/>
              </a:rPr>
              <a:t>The provider remains responsible for its obligations.</a:t>
            </a:r>
          </a:p>
        </p:txBody>
      </p:sp>
      <p:sp>
        <p:nvSpPr>
          <p:cNvPr id="5" name="reveal-01-context-0">
            <a:extLst>
              <a:ext uri="{FF2B5EF4-FFF2-40B4-BE49-F238E27FC236}">
                <ns2:creationId id="{9E7F0844-2072-4589-B714-ADF46AAF0339}"/>
              </a:ext>
              <a:ext uri="{C183D7F6-B498-43B3-948B-1728B52AA6E4}">
                <ns3:decorative val="1"/>
              </a:ext>
            </a:extLst>
          </p:cNvPr>
          <p:cNvSpPr>
            <a:spLocks noGrp="1"/>
          </p:cNvSpPr>
          <p:nvPr/>
        </p:nvSpPr>
        <p:spPr>
          <a:xfrm>
            <a:off x="857250" y="2571750"/>
            <a:ext cx="2857500" cy="809625"/>
          </a:xfrm>
          <a:prstGeom prst="rect">
            <a:avLst/>
          </a:prstGeom>
          <a:solidFill>
            <a:srgbClr val="F1F5F6"/>
          </a:solidFill>
          <a:ln w="11430">
            <a:solidFill>
              <a:srgbClr val="C9D5DA"/>
            </a:solidFill>
          </a:ln>
        </p:spPr>
      </p:sp>
      <p:sp>
        <p:nvSpPr>
          <p:cNvPr id="6" name="reveal-01-context-label-0">
            <a:extLst>
              <a:ext uri="{FF2B5EF4-FFF2-40B4-BE49-F238E27FC236}">
                <ns2:creationId id="{1FE07D3D-C827-4889-8F38-E346C6ABC2D0}"/>
              </a:ext>
            </a:extLst>
          </p:cNvPr>
          <p:cNvSpPr>
            <a:spLocks noGrp="1"/>
          </p:cNvSpPr>
          <p:nvPr/>
        </p:nvSpPr>
        <p:spPr>
          <a:xfrm>
            <a:off x="1000125" y="2762250"/>
            <a:ext cx="2571750" cy="476250"/>
          </a:xfrm>
          <a:prstGeom prst="rect">
            <a:avLst/>
          </a:prstGeom>
          <a:noFill/>
          <a:ln w="0">
            <a:noFill/>
          </a:ln>
        </p:spPr>
        <p:txBody>
          <a:bodyPr>
            <a:noAutofit/>
          </a:bodyPr>
          <a:lstStyle>
            <a:defPPr>
              <a:defRPr sz="2250" b="1">
                <a:solidFill>
                  <a:srgbClr val="246E63"/>
                </a:solidFill>
                <a:latin typeface="Calibri"/>
                <a:ea typeface="Calibri"/>
                <a:cs typeface="Calibri"/>
              </a:defRPr>
            </a:defPPr>
            <a:lvl1pPr>
              <a:defRPr sz="2250" b="1">
                <a:solidFill>
                  <a:srgbClr val="246E63"/>
                </a:solidFill>
                <a:latin typeface="Calibri"/>
                <a:ea typeface="Calibri"/>
                <a:cs typeface="Calibri"/>
              </a:defRPr>
            </a:lvl1pPr>
            <a:lvl2pPr>
              <a:defRPr sz="2250" b="1">
                <a:solidFill>
                  <a:srgbClr val="246E63"/>
                </a:solidFill>
                <a:latin typeface="Calibri"/>
                <a:ea typeface="Calibri"/>
                <a:cs typeface="Calibri"/>
              </a:defRPr>
            </a:lvl2pPr>
            <a:lvl3pPr>
              <a:defRPr sz="2250" b="1">
                <a:solidFill>
                  <a:srgbClr val="246E63"/>
                </a:solidFill>
                <a:latin typeface="Calibri"/>
                <a:ea typeface="Calibri"/>
                <a:cs typeface="Calibri"/>
              </a:defRPr>
            </a:lvl3pPr>
            <a:lvl4pPr>
              <a:defRPr sz="2250" b="1">
                <a:solidFill>
                  <a:srgbClr val="246E63"/>
                </a:solidFill>
                <a:latin typeface="Calibri"/>
                <a:ea typeface="Calibri"/>
                <a:cs typeface="Calibri"/>
              </a:defRPr>
            </a:lvl4pPr>
            <a:lvl5pPr>
              <a:defRPr sz="2250" b="1">
                <a:solidFill>
                  <a:srgbClr val="246E63"/>
                </a:solidFill>
                <a:latin typeface="Calibri"/>
                <a:ea typeface="Calibri"/>
                <a:cs typeface="Calibri"/>
              </a:defRPr>
            </a:lvl5pPr>
            <a:lvl6pPr>
              <a:defRPr sz="2250" b="1">
                <a:solidFill>
                  <a:srgbClr val="246E63"/>
                </a:solidFill>
                <a:latin typeface="Calibri"/>
                <a:ea typeface="Calibri"/>
                <a:cs typeface="Calibri"/>
              </a:defRPr>
            </a:lvl6pPr>
            <a:lvl7pPr>
              <a:defRPr sz="2250" b="1">
                <a:solidFill>
                  <a:srgbClr val="246E63"/>
                </a:solidFill>
                <a:latin typeface="Calibri"/>
                <a:ea typeface="Calibri"/>
                <a:cs typeface="Calibri"/>
              </a:defRPr>
            </a:lvl7pPr>
            <a:lvl8pPr>
              <a:defRPr sz="2250" b="1">
                <a:solidFill>
                  <a:srgbClr val="246E63"/>
                </a:solidFill>
                <a:latin typeface="Calibri"/>
                <a:ea typeface="Calibri"/>
                <a:cs typeface="Calibri"/>
              </a:defRPr>
            </a:lvl8pPr>
            <a:lvl9pPr>
              <a:defRPr sz="2250" b="1">
                <a:solidFill>
                  <a:srgbClr val="246E63"/>
                </a:solidFill>
                <a:latin typeface="Calibri"/>
                <a:ea typeface="Calibri"/>
                <a:cs typeface="Calibri"/>
              </a:defRPr>
            </a:lvl9pPr>
          </a:lstStyle>
          <a:p>
            <a:pPr>
              <a:defRPr sz="2250" b="1">
                <a:solidFill>
                  <a:srgbClr val="246E63"/>
                </a:solidFill>
                <a:latin typeface="Calibri"/>
                <a:ea typeface="Calibri"/>
                <a:cs typeface="Calibri"/>
              </a:defRPr>
            </a:pPr>
            <a:r>
              <a:rPr sz="2250" b="1">
                <a:solidFill>
                  <a:srgbClr val="246E63"/>
                </a:solidFill>
                <a:latin typeface="Calibri"/>
                <a:ea typeface="Calibri"/>
                <a:cs typeface="Calibri"/>
              </a:rPr>
              <a:t>provider</a:t>
            </a:r>
          </a:p>
        </p:txBody>
      </p:sp>
      <p:sp>
        <p:nvSpPr>
          <p:cNvPr id="7" name="reveal-01-context-1">
            <a:extLst>
              <a:ext uri="{FF2B5EF4-FFF2-40B4-BE49-F238E27FC236}">
                <ns2:creationId id="{20D7564B-652E-4FC4-AEF5-8D8C99155A0A}"/>
              </a:ext>
              <a:ext uri="{C183D7F6-B498-43B3-948B-1728B52AA6E4}">
                <ns3:decorative val="1"/>
              </a:ext>
            </a:extLst>
          </p:cNvPr>
          <p:cNvSpPr>
            <a:spLocks noGrp="1"/>
          </p:cNvSpPr>
          <p:nvPr/>
        </p:nvSpPr>
        <p:spPr>
          <a:xfrm>
            <a:off x="4476750" y="2571750"/>
            <a:ext cx="2857500" cy="809625"/>
          </a:xfrm>
          <a:prstGeom prst="rect">
            <a:avLst/>
          </a:prstGeom>
          <a:solidFill>
            <a:srgbClr val="F1F5F6"/>
          </a:solidFill>
          <a:ln w="11430">
            <a:solidFill>
              <a:srgbClr val="C9D5DA"/>
            </a:solidFill>
          </a:ln>
        </p:spPr>
      </p:sp>
      <p:sp>
        <p:nvSpPr>
          <p:cNvPr id="8" name="reveal-01-context-label-1">
            <a:extLst>
              <a:ext uri="{FF2B5EF4-FFF2-40B4-BE49-F238E27FC236}">
                <ns2:creationId id="{C3B41680-E15C-4996-BC81-27131C7374D8}"/>
              </a:ext>
            </a:extLst>
          </p:cNvPr>
          <p:cNvSpPr>
            <a:spLocks noGrp="1"/>
          </p:cNvSpPr>
          <p:nvPr/>
        </p:nvSpPr>
        <p:spPr>
          <a:xfrm>
            <a:off x="4619625" y="2762250"/>
            <a:ext cx="2571750" cy="476250"/>
          </a:xfrm>
          <a:prstGeom prst="rect">
            <a:avLst/>
          </a:prstGeom>
          <a:noFill/>
          <a:ln w="0">
            <a:noFill/>
          </a:ln>
        </p:spPr>
        <p:txBody>
          <a:bodyPr>
            <a:noAutofit/>
          </a:bodyPr>
          <a:lstStyle>
            <a:defPPr>
              <a:defRPr sz="2250" b="1">
                <a:solidFill>
                  <a:srgbClr val="246E63"/>
                </a:solidFill>
                <a:latin typeface="Calibri"/>
                <a:ea typeface="Calibri"/>
                <a:cs typeface="Calibri"/>
              </a:defRPr>
            </a:defPPr>
            <a:lvl1pPr>
              <a:defRPr sz="2250" b="1">
                <a:solidFill>
                  <a:srgbClr val="246E63"/>
                </a:solidFill>
                <a:latin typeface="Calibri"/>
                <a:ea typeface="Calibri"/>
                <a:cs typeface="Calibri"/>
              </a:defRPr>
            </a:lvl1pPr>
            <a:lvl2pPr>
              <a:defRPr sz="2250" b="1">
                <a:solidFill>
                  <a:srgbClr val="246E63"/>
                </a:solidFill>
                <a:latin typeface="Calibri"/>
                <a:ea typeface="Calibri"/>
                <a:cs typeface="Calibri"/>
              </a:defRPr>
            </a:lvl2pPr>
            <a:lvl3pPr>
              <a:defRPr sz="2250" b="1">
                <a:solidFill>
                  <a:srgbClr val="246E63"/>
                </a:solidFill>
                <a:latin typeface="Calibri"/>
                <a:ea typeface="Calibri"/>
                <a:cs typeface="Calibri"/>
              </a:defRPr>
            </a:lvl3pPr>
            <a:lvl4pPr>
              <a:defRPr sz="2250" b="1">
                <a:solidFill>
                  <a:srgbClr val="246E63"/>
                </a:solidFill>
                <a:latin typeface="Calibri"/>
                <a:ea typeface="Calibri"/>
                <a:cs typeface="Calibri"/>
              </a:defRPr>
            </a:lvl4pPr>
            <a:lvl5pPr>
              <a:defRPr sz="2250" b="1">
                <a:solidFill>
                  <a:srgbClr val="246E63"/>
                </a:solidFill>
                <a:latin typeface="Calibri"/>
                <a:ea typeface="Calibri"/>
                <a:cs typeface="Calibri"/>
              </a:defRPr>
            </a:lvl5pPr>
            <a:lvl6pPr>
              <a:defRPr sz="2250" b="1">
                <a:solidFill>
                  <a:srgbClr val="246E63"/>
                </a:solidFill>
                <a:latin typeface="Calibri"/>
                <a:ea typeface="Calibri"/>
                <a:cs typeface="Calibri"/>
              </a:defRPr>
            </a:lvl6pPr>
            <a:lvl7pPr>
              <a:defRPr sz="2250" b="1">
                <a:solidFill>
                  <a:srgbClr val="246E63"/>
                </a:solidFill>
                <a:latin typeface="Calibri"/>
                <a:ea typeface="Calibri"/>
                <a:cs typeface="Calibri"/>
              </a:defRPr>
            </a:lvl7pPr>
            <a:lvl8pPr>
              <a:defRPr sz="2250" b="1">
                <a:solidFill>
                  <a:srgbClr val="246E63"/>
                </a:solidFill>
                <a:latin typeface="Calibri"/>
                <a:ea typeface="Calibri"/>
                <a:cs typeface="Calibri"/>
              </a:defRPr>
            </a:lvl8pPr>
            <a:lvl9pPr>
              <a:defRPr sz="2250" b="1">
                <a:solidFill>
                  <a:srgbClr val="246E63"/>
                </a:solidFill>
                <a:latin typeface="Calibri"/>
                <a:ea typeface="Calibri"/>
                <a:cs typeface="Calibri"/>
              </a:defRPr>
            </a:lvl9pPr>
          </a:lstStyle>
          <a:p>
            <a:pPr>
              <a:defRPr sz="2250" b="1">
                <a:solidFill>
                  <a:srgbClr val="246E63"/>
                </a:solidFill>
                <a:latin typeface="Calibri"/>
                <a:ea typeface="Calibri"/>
                <a:cs typeface="Calibri"/>
              </a:defRPr>
            </a:pPr>
            <a:r>
              <a:rPr sz="2250" b="1">
                <a:solidFill>
                  <a:srgbClr val="246E63"/>
                </a:solidFill>
                <a:latin typeface="Calibri"/>
                <a:ea typeface="Calibri"/>
                <a:cs typeface="Calibri"/>
              </a:rPr>
              <a:t>responsible</a:t>
            </a:r>
          </a:p>
        </p:txBody>
      </p:sp>
      <p:sp>
        <p:nvSpPr>
          <p:cNvPr id="9" name="reveal-01-context-2">
            <a:extLst>
              <a:ext uri="{FF2B5EF4-FFF2-40B4-BE49-F238E27FC236}">
                <ns2:creationId id="{1BD77C61-289E-4386-82C0-5C9698E167B3}"/>
              </a:ext>
              <a:ext uri="{C183D7F6-B498-43B3-948B-1728B52AA6E4}">
                <ns3:decorative val="1"/>
              </a:ext>
            </a:extLst>
          </p:cNvPr>
          <p:cNvSpPr>
            <a:spLocks noGrp="1"/>
          </p:cNvSpPr>
          <p:nvPr/>
        </p:nvSpPr>
        <p:spPr>
          <a:xfrm>
            <a:off x="8096250" y="2571750"/>
            <a:ext cx="2857500" cy="809625"/>
          </a:xfrm>
          <a:prstGeom prst="rect">
            <a:avLst/>
          </a:prstGeom>
          <a:solidFill>
            <a:srgbClr val="F1F5F6"/>
          </a:solidFill>
          <a:ln w="11430">
            <a:solidFill>
              <a:srgbClr val="C9D5DA"/>
            </a:solidFill>
          </a:ln>
        </p:spPr>
      </p:sp>
      <p:sp>
        <p:nvSpPr>
          <p:cNvPr id="10" name="reveal-01-context-label-2">
            <a:extLst>
              <a:ext uri="{FF2B5EF4-FFF2-40B4-BE49-F238E27FC236}">
                <ns2:creationId id="{3629F618-3C93-4B89-8C16-A629D000F9F6}"/>
              </a:ext>
            </a:extLst>
          </p:cNvPr>
          <p:cNvSpPr>
            <a:spLocks noGrp="1"/>
          </p:cNvSpPr>
          <p:nvPr/>
        </p:nvSpPr>
        <p:spPr>
          <a:xfrm>
            <a:off x="8239125" y="2762250"/>
            <a:ext cx="2571750" cy="476250"/>
          </a:xfrm>
          <a:prstGeom prst="rect">
            <a:avLst/>
          </a:prstGeom>
          <a:noFill/>
          <a:ln w="0">
            <a:noFill/>
          </a:ln>
        </p:spPr>
        <p:txBody>
          <a:bodyPr>
            <a:noAutofit/>
          </a:bodyPr>
          <a:lstStyle>
            <a:defPPr>
              <a:defRPr sz="2250" b="1">
                <a:solidFill>
                  <a:srgbClr val="246E63"/>
                </a:solidFill>
                <a:latin typeface="Calibri"/>
                <a:ea typeface="Calibri"/>
                <a:cs typeface="Calibri"/>
              </a:defRPr>
            </a:defPPr>
            <a:lvl1pPr>
              <a:defRPr sz="2250" b="1">
                <a:solidFill>
                  <a:srgbClr val="246E63"/>
                </a:solidFill>
                <a:latin typeface="Calibri"/>
                <a:ea typeface="Calibri"/>
                <a:cs typeface="Calibri"/>
              </a:defRPr>
            </a:lvl1pPr>
            <a:lvl2pPr>
              <a:defRPr sz="2250" b="1">
                <a:solidFill>
                  <a:srgbClr val="246E63"/>
                </a:solidFill>
                <a:latin typeface="Calibri"/>
                <a:ea typeface="Calibri"/>
                <a:cs typeface="Calibri"/>
              </a:defRPr>
            </a:lvl2pPr>
            <a:lvl3pPr>
              <a:defRPr sz="2250" b="1">
                <a:solidFill>
                  <a:srgbClr val="246E63"/>
                </a:solidFill>
                <a:latin typeface="Calibri"/>
                <a:ea typeface="Calibri"/>
                <a:cs typeface="Calibri"/>
              </a:defRPr>
            </a:lvl3pPr>
            <a:lvl4pPr>
              <a:defRPr sz="2250" b="1">
                <a:solidFill>
                  <a:srgbClr val="246E63"/>
                </a:solidFill>
                <a:latin typeface="Calibri"/>
                <a:ea typeface="Calibri"/>
                <a:cs typeface="Calibri"/>
              </a:defRPr>
            </a:lvl4pPr>
            <a:lvl5pPr>
              <a:defRPr sz="2250" b="1">
                <a:solidFill>
                  <a:srgbClr val="246E63"/>
                </a:solidFill>
                <a:latin typeface="Calibri"/>
                <a:ea typeface="Calibri"/>
                <a:cs typeface="Calibri"/>
              </a:defRPr>
            </a:lvl5pPr>
            <a:lvl6pPr>
              <a:defRPr sz="2250" b="1">
                <a:solidFill>
                  <a:srgbClr val="246E63"/>
                </a:solidFill>
                <a:latin typeface="Calibri"/>
                <a:ea typeface="Calibri"/>
                <a:cs typeface="Calibri"/>
              </a:defRPr>
            </a:lvl6pPr>
            <a:lvl7pPr>
              <a:defRPr sz="2250" b="1">
                <a:solidFill>
                  <a:srgbClr val="246E63"/>
                </a:solidFill>
                <a:latin typeface="Calibri"/>
                <a:ea typeface="Calibri"/>
                <a:cs typeface="Calibri"/>
              </a:defRPr>
            </a:lvl7pPr>
            <a:lvl8pPr>
              <a:defRPr sz="2250" b="1">
                <a:solidFill>
                  <a:srgbClr val="246E63"/>
                </a:solidFill>
                <a:latin typeface="Calibri"/>
                <a:ea typeface="Calibri"/>
                <a:cs typeface="Calibri"/>
              </a:defRPr>
            </a:lvl8pPr>
            <a:lvl9pPr>
              <a:defRPr sz="2250" b="1">
                <a:solidFill>
                  <a:srgbClr val="246E63"/>
                </a:solidFill>
                <a:latin typeface="Calibri"/>
                <a:ea typeface="Calibri"/>
                <a:cs typeface="Calibri"/>
              </a:defRPr>
            </a:lvl9pPr>
          </a:lstStyle>
          <a:p>
            <a:pPr>
              <a:defRPr sz="2250" b="1">
                <a:solidFill>
                  <a:srgbClr val="246E63"/>
                </a:solidFill>
                <a:latin typeface="Calibri"/>
                <a:ea typeface="Calibri"/>
                <a:cs typeface="Calibri"/>
              </a:defRPr>
            </a:pPr>
            <a:r>
              <a:rPr sz="2250" b="1">
                <a:solidFill>
                  <a:srgbClr val="246E63"/>
                </a:solidFill>
                <a:latin typeface="Calibri"/>
                <a:ea typeface="Calibri"/>
                <a:cs typeface="Calibri"/>
              </a:rPr>
              <a:t>other context</a:t>
            </a:r>
          </a:p>
        </p:txBody>
      </p:sp>
      <p:sp>
        <p:nvSpPr>
          <p:cNvPr id="11" name="reveal-02-current-word">
            <a:extLst>
              <a:ext uri="{FF2B5EF4-FFF2-40B4-BE49-F238E27FC236}">
                <ns2:creationId id="{197D1713-F6B5-4185-921A-E69FA05E0D7B}"/>
              </a:ext>
              <a:ext uri="{C183D7F6-B498-43B3-948B-1728B52AA6E4}">
                <ns3:decorative val="1"/>
              </a:ext>
            </a:extLst>
          </p:cNvPr>
          <p:cNvSpPr>
            <a:spLocks noGrp="1"/>
          </p:cNvSpPr>
          <p:nvPr/>
        </p:nvSpPr>
        <p:spPr>
          <a:xfrm>
            <a:off x="4524375" y="4676775"/>
            <a:ext cx="2857500" cy="809625"/>
          </a:xfrm>
          <a:prstGeom prst="rect">
            <a:avLst/>
          </a:prstGeom>
          <a:solidFill>
            <a:srgbClr val="E9F3F0"/>
          </a:solidFill>
          <a:ln w="11430">
            <a:solidFill>
              <a:srgbClr val="C9D5DA"/>
            </a:solidFill>
          </a:ln>
        </p:spPr>
      </p:sp>
      <p:sp>
        <p:nvSpPr>
          <p:cNvPr id="12" name="reveal-02-current-label">
            <a:extLst>
              <a:ext uri="{FF2B5EF4-FFF2-40B4-BE49-F238E27FC236}">
                <ns2:creationId id="{B5E5199B-A8E2-432E-8C29-23F0458CA090}"/>
              </a:ext>
            </a:extLst>
          </p:cNvPr>
          <p:cNvSpPr>
            <a:spLocks noGrp="1"/>
          </p:cNvSpPr>
          <p:nvPr/>
        </p:nvSpPr>
        <p:spPr>
          <a:xfrm>
            <a:off x="4667250" y="4857750"/>
            <a:ext cx="2571750" cy="476250"/>
          </a:xfrm>
          <a:prstGeom prst="rect">
            <a:avLst/>
          </a:prstGeom>
          <a:noFill/>
          <a:ln w="0">
            <a:noFill/>
          </a:ln>
        </p:spPr>
        <p:txBody>
          <a:bodyPr>
            <a:noAutofit/>
          </a:bodyPr>
          <a:lstStyle>
            <a:defPPr>
              <a:defRPr sz="2400" b="1">
                <a:solidFill>
                  <a:srgbClr val="C94E29"/>
                </a:solidFill>
                <a:latin typeface="Calibri"/>
                <a:ea typeface="Calibri"/>
                <a:cs typeface="Calibri"/>
              </a:defRPr>
            </a:defPPr>
            <a:lvl1pPr>
              <a:defRPr sz="2400" b="1">
                <a:solidFill>
                  <a:srgbClr val="C94E29"/>
                </a:solidFill>
                <a:latin typeface="Calibri"/>
                <a:ea typeface="Calibri"/>
                <a:cs typeface="Calibri"/>
              </a:defRPr>
            </a:lvl1pPr>
            <a:lvl2pPr>
              <a:defRPr sz="2400" b="1">
                <a:solidFill>
                  <a:srgbClr val="C94E29"/>
                </a:solidFill>
                <a:latin typeface="Calibri"/>
                <a:ea typeface="Calibri"/>
                <a:cs typeface="Calibri"/>
              </a:defRPr>
            </a:lvl2pPr>
            <a:lvl3pPr>
              <a:defRPr sz="2400" b="1">
                <a:solidFill>
                  <a:srgbClr val="C94E29"/>
                </a:solidFill>
                <a:latin typeface="Calibri"/>
                <a:ea typeface="Calibri"/>
                <a:cs typeface="Calibri"/>
              </a:defRPr>
            </a:lvl3pPr>
            <a:lvl4pPr>
              <a:defRPr sz="2400" b="1">
                <a:solidFill>
                  <a:srgbClr val="C94E29"/>
                </a:solidFill>
                <a:latin typeface="Calibri"/>
                <a:ea typeface="Calibri"/>
                <a:cs typeface="Calibri"/>
              </a:defRPr>
            </a:lvl4pPr>
            <a:lvl5pPr>
              <a:defRPr sz="2400" b="1">
                <a:solidFill>
                  <a:srgbClr val="C94E29"/>
                </a:solidFill>
                <a:latin typeface="Calibri"/>
                <a:ea typeface="Calibri"/>
                <a:cs typeface="Calibri"/>
              </a:defRPr>
            </a:lvl5pPr>
            <a:lvl6pPr>
              <a:defRPr sz="2400" b="1">
                <a:solidFill>
                  <a:srgbClr val="C94E29"/>
                </a:solidFill>
                <a:latin typeface="Calibri"/>
                <a:ea typeface="Calibri"/>
                <a:cs typeface="Calibri"/>
              </a:defRPr>
            </a:lvl6pPr>
            <a:lvl7pPr>
              <a:defRPr sz="2400" b="1">
                <a:solidFill>
                  <a:srgbClr val="C94E29"/>
                </a:solidFill>
                <a:latin typeface="Calibri"/>
                <a:ea typeface="Calibri"/>
                <a:cs typeface="Calibri"/>
              </a:defRPr>
            </a:lvl7pPr>
            <a:lvl8pPr>
              <a:defRPr sz="2400" b="1">
                <a:solidFill>
                  <a:srgbClr val="C94E29"/>
                </a:solidFill>
                <a:latin typeface="Calibri"/>
                <a:ea typeface="Calibri"/>
                <a:cs typeface="Calibri"/>
              </a:defRPr>
            </a:lvl8pPr>
            <a:lvl9pPr>
              <a:defRPr sz="2400" b="1">
                <a:solidFill>
                  <a:srgbClr val="C94E29"/>
                </a:solidFill>
                <a:latin typeface="Calibri"/>
                <a:ea typeface="Calibri"/>
                <a:cs typeface="Calibri"/>
              </a:defRPr>
            </a:lvl9pPr>
          </a:lstStyle>
          <a:p>
            <a:pPr>
              <a:defRPr sz="2400" b="1">
                <a:solidFill>
                  <a:srgbClr val="C94E29"/>
                </a:solidFill>
                <a:latin typeface="Calibri"/>
                <a:ea typeface="Calibri"/>
                <a:cs typeface="Calibri"/>
              </a:defRPr>
            </a:pPr>
            <a:r>
              <a:rPr sz="2400" b="1">
                <a:solidFill>
                  <a:srgbClr val="C94E29"/>
                </a:solidFill>
                <a:latin typeface="Calibri"/>
                <a:ea typeface="Calibri"/>
                <a:cs typeface="Calibri"/>
              </a:rPr>
              <a:t>its</a:t>
            </a:r>
          </a:p>
        </p:txBody>
      </p:sp>
      <p:sp>
        <p:nvSpPr>
          <p:cNvPr id="16" name="reveal-03-operation">
            <a:extLst>
              <a:ext uri="{FF2B5EF4-FFF2-40B4-BE49-F238E27FC236}">
                <ns2:creationId id="{2741E120-A750-4380-99FE-B7D7ADCDF450}"/>
              </a:ext>
            </a:extLst>
          </p:cNvPr>
          <p:cNvSpPr>
            <a:spLocks noGrp="1"/>
          </p:cNvSpPr>
          <p:nvPr/>
        </p:nvSpPr>
        <p:spPr>
          <a:xfrm>
            <a:off x="619125" y="5514975"/>
            <a:ext cx="10858500" cy="323850"/>
          </a:xfrm>
          <a:prstGeom prst="rect">
            <a:avLst/>
          </a:prstGeom>
          <a:noFill/>
          <a:ln w="0">
            <a:noFill/>
          </a:ln>
        </p:spPr>
        <p:txBody>
          <a:bodyPr>
            <a:noAutofit/>
          </a:bodyPr>
          <a:lstStyle>
            <a:defPPr>
              <a:defRPr sz="1875" b="1">
                <a:solidFill>
                  <a:srgbClr val="1C3144"/>
                </a:solidFill>
                <a:latin typeface="Calibri"/>
                <a:ea typeface="Calibri"/>
                <a:cs typeface="Calibri"/>
              </a:defRPr>
            </a:defPPr>
            <a:lvl1pPr>
              <a:defRPr sz="1875" b="1">
                <a:solidFill>
                  <a:srgbClr val="1C3144"/>
                </a:solidFill>
                <a:latin typeface="Calibri"/>
                <a:ea typeface="Calibri"/>
                <a:cs typeface="Calibri"/>
              </a:defRPr>
            </a:lvl1pPr>
            <a:lvl2pPr>
              <a:defRPr sz="1875" b="1">
                <a:solidFill>
                  <a:srgbClr val="1C3144"/>
                </a:solidFill>
                <a:latin typeface="Calibri"/>
                <a:ea typeface="Calibri"/>
                <a:cs typeface="Calibri"/>
              </a:defRPr>
            </a:lvl2pPr>
            <a:lvl3pPr>
              <a:defRPr sz="1875" b="1">
                <a:solidFill>
                  <a:srgbClr val="1C3144"/>
                </a:solidFill>
                <a:latin typeface="Calibri"/>
                <a:ea typeface="Calibri"/>
                <a:cs typeface="Calibri"/>
              </a:defRPr>
            </a:lvl3pPr>
            <a:lvl4pPr>
              <a:defRPr sz="1875" b="1">
                <a:solidFill>
                  <a:srgbClr val="1C3144"/>
                </a:solidFill>
                <a:latin typeface="Calibri"/>
                <a:ea typeface="Calibri"/>
                <a:cs typeface="Calibri"/>
              </a:defRPr>
            </a:lvl4pPr>
            <a:lvl5pPr>
              <a:defRPr sz="1875" b="1">
                <a:solidFill>
                  <a:srgbClr val="1C3144"/>
                </a:solidFill>
                <a:latin typeface="Calibri"/>
                <a:ea typeface="Calibri"/>
                <a:cs typeface="Calibri"/>
              </a:defRPr>
            </a:lvl5pPr>
            <a:lvl6pPr>
              <a:defRPr sz="1875" b="1">
                <a:solidFill>
                  <a:srgbClr val="1C3144"/>
                </a:solidFill>
                <a:latin typeface="Calibri"/>
                <a:ea typeface="Calibri"/>
                <a:cs typeface="Calibri"/>
              </a:defRPr>
            </a:lvl6pPr>
            <a:lvl7pPr>
              <a:defRPr sz="1875" b="1">
                <a:solidFill>
                  <a:srgbClr val="1C3144"/>
                </a:solidFill>
                <a:latin typeface="Calibri"/>
                <a:ea typeface="Calibri"/>
                <a:cs typeface="Calibri"/>
              </a:defRPr>
            </a:lvl7pPr>
            <a:lvl8pPr>
              <a:defRPr sz="1875" b="1">
                <a:solidFill>
                  <a:srgbClr val="1C3144"/>
                </a:solidFill>
                <a:latin typeface="Calibri"/>
                <a:ea typeface="Calibri"/>
                <a:cs typeface="Calibri"/>
              </a:defRPr>
            </a:lvl8pPr>
            <a:lvl9pPr>
              <a:defRPr sz="1875" b="1">
                <a:solidFill>
                  <a:srgbClr val="1C3144"/>
                </a:solidFill>
                <a:latin typeface="Calibri"/>
                <a:ea typeface="Calibri"/>
                <a:cs typeface="Calibri"/>
              </a:defRPr>
            </a:lvl9pPr>
          </a:lstStyle>
          <a:p>
            <a:pPr>
              <a:defRPr sz="1875" b="1">
                <a:solidFill>
                  <a:srgbClr val="1C3144"/>
                </a:solidFill>
                <a:latin typeface="Calibri"/>
                <a:ea typeface="Calibri"/>
                <a:cs typeface="Calibri"/>
              </a:defRPr>
            </a:pPr>
            <a:r>
              <a:rPr sz="1875" b="1">
                <a:solidFill>
                  <a:srgbClr val="1C3144"/>
                </a:solidFill>
                <a:latin typeface="Calibri"/>
                <a:ea typeface="Calibri"/>
                <a:cs typeface="Calibri"/>
              </a:rPr>
              <a:t>Input-dependent weighting combines these representations.</a:t>
            </a:r>
          </a:p>
        </p:txBody>
      </p:sp>
      <p:sp>
        <p:nvSpPr>
          <p:cNvPr id="17" name="text-56">
            <a:extLst>
              <a:ext uri="{FF2B5EF4-FFF2-40B4-BE49-F238E27FC236}">
                <ns2:creationId id="{8EB34E87-135B-442D-AEC0-63E2064BBE1B}"/>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Invented links for teaching. Actual attention depends on the input, layer and head; this is not a reasoning trace.</a:t>
            </a:r>
          </a:p>
        </p:txBody>
      </p:sp>
      <p:sp>
        <p:nvSpPr>
          <p:cNvPr id="3" name="text-51">
            <a:extLst>
              <a:ext uri="{FF2B5EF4-FFF2-40B4-BE49-F238E27FC236}">
                <ns2:creationId id="{1B6405DF-686A-4AE5-8F7F-31E7F207F5C2}"/>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03   9</a:t>
            </a:r>
          </a:p>
        </p:txBody>
      </p:sp>
    </p:spTree>
    <p:extLst>
      <p:ext uri="{BB962C8B-B14F-4D97-AF65-F5344CB8AC3E}">
        <ns4:creationId val="1395730138"/>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00"/>
                                        <p:tgtEl>
                                          <p:spTgt spid="5"/>
                                        </p:tgtEl>
                                      </p:cBhvr>
                                    </p:animEffect>
                                  </p:childTnLst>
                                </p:cTn>
                              </p:par>
                              <p:par>
                                <p:cTn id="8" presetID="10" presetClass="entr" presetSubtype="0" fill="hold" nodeType="click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300"/>
                                        <p:tgtEl>
                                          <p:spTgt spid="6"/>
                                        </p:tgtEl>
                                      </p:cBhvr>
                                    </p:animEffect>
                                  </p:childTnLst>
                                </p:cTn>
                              </p:par>
                              <p:par>
                                <p:cTn id="11" presetID="10"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300"/>
                                        <p:tgtEl>
                                          <p:spTgt spid="7"/>
                                        </p:tgtEl>
                                      </p:cBhvr>
                                    </p:animEffect>
                                  </p:childTnLst>
                                </p:cTn>
                              </p:par>
                              <p:par>
                                <p:cTn id="14" presetID="10" presetClass="entr" presetSubtype="0"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300"/>
                                        <p:tgtEl>
                                          <p:spTgt spid="8"/>
                                        </p:tgtEl>
                                      </p:cBhvr>
                                    </p:animEffect>
                                  </p:childTnLst>
                                </p:cTn>
                              </p:par>
                              <p:par>
                                <p:cTn id="17" presetID="10"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300"/>
                                        <p:tgtEl>
                                          <p:spTgt spid="9"/>
                                        </p:tgtEl>
                                      </p:cBhvr>
                                    </p:animEffect>
                                  </p:childTnLst>
                                </p:cTn>
                              </p:par>
                              <p:par>
                                <p:cTn id="20" presetID="10" presetClass="entr" presetSubtype="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3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300"/>
                                        <p:tgtEl>
                                          <p:spTgt spid="11"/>
                                        </p:tgtEl>
                                      </p:cBhvr>
                                    </p:animEffect>
                                  </p:childTnLst>
                                </p:cTn>
                              </p:par>
                              <p:par>
                                <p:cTn id="28" presetID="10" presetClass="entr" presetSubtype="0" fill="hold"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3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300"/>
                                        <p:tgtEl>
                                          <p:spTgt spid="15"/>
                                        </p:tgtEl>
                                      </p:cBhvr>
                                    </p:animEffect>
                                  </p:childTnLst>
                                </p:cTn>
                              </p:par>
                              <p:par>
                                <p:cTn id="36" presetID="10" presetClass="entr" presetSubtype="0" fill="hold" nodeType="click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300"/>
                                        <p:tgtEl>
                                          <p:spTgt spid="14"/>
                                        </p:tgtEl>
                                      </p:cBhvr>
                                    </p:animEffect>
                                  </p:childTnLst>
                                </p:cTn>
                              </p:par>
                              <p:par>
                                <p:cTn id="39" presetID="10" presetClass="entr" presetSubtype="0" fill="hold"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300"/>
                                        <p:tgtEl>
                                          <p:spTgt spid="13"/>
                                        </p:tgtEl>
                                      </p:cBhvr>
                                    </p:animEffect>
                                  </p:childTnLst>
                                </p:cTn>
                              </p:par>
                              <p:par>
                                <p:cTn id="42" presetID="10" presetClass="entr" presetSubtype="0" fill="hold" nodeType="click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3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ns2="http://schemas.microsoft.com/office/drawing/2014/main" xmlns:ns3="http://schemas.microsoft.com/office/powerpoint/2010/main" xmlns:p="http://schemas.openxmlformats.org/presentationml/2006/main">
  <p:cSld name="Hallucination">
    <p:bg>
      <p:bgPr>
        <a:solidFill>
          <a:srgbClr val="FFFFFF"/>
        </a:solidFill>
      </p:bgPr>
    </p:bg>
    <p:spTree>
      <p:nvGrpSpPr>
        <p:cNvPr id="1" name=""/>
        <p:cNvGrpSpPr/>
        <p:nvPr/>
      </p:nvGrpSpPr>
      <p:grpSpPr>
        <a:xfrm/>
      </p:grpSpPr>
      <p:sp>
        <p:nvSpPr>
          <p:cNvPr id="8" name="text-57">
            <a:extLst>
              <a:ext uri="{FF2B5EF4-FFF2-40B4-BE49-F238E27FC236}">
                <ns2:creationId id="{4B5A42BF-1754-4413-B1A8-BC4A31E8A68A}"/>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03</a:t>
            </a:r>
          </a:p>
        </p:txBody>
      </p:sp>
      <p:sp>
        <p:nvSpPr>
          <p:cNvPr id="2" name="text-58">
            <a:extLst>
              <a:ext uri="{FF2B5EF4-FFF2-40B4-BE49-F238E27FC236}">
                <ns2:creationId id="{7DB3E3D3-632D-463D-8A19-ACA24836CA7E}"/>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Hallucination</a:t>
            </a:r>
          </a:p>
        </p:txBody>
      </p:sp>
      <p:sp>
        <p:nvSpPr>
          <p:cNvPr id="4" name="text-60">
            <a:extLst>
              <a:ext uri="{FF2B5EF4-FFF2-40B4-BE49-F238E27FC236}">
                <ns2:creationId id="{3CA3481C-AEBF-4A17-A0B5-015FE5C228C4}"/>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61">
            <a:extLst>
              <a:ext uri="{FF2B5EF4-FFF2-40B4-BE49-F238E27FC236}">
                <ns2:creationId id="{D7551D1C-1DE6-45CC-B62F-2D9E78F87D35}"/>
              </a:ext>
            </a:extLst>
          </p:cNvPr>
          <p:cNvSpPr>
            <a:spLocks noGrp="1"/>
          </p:cNvSpPr>
          <p:nvPr/>
        </p:nvSpPr>
        <p:spPr>
          <a:xfrm>
            <a:off x="1285875" y="1943100"/>
            <a:ext cx="10191750"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Generated content can be false, unsupported or inconsistent with the evidence.</a:t>
            </a:r>
          </a:p>
        </p:txBody>
      </p:sp>
      <p:sp>
        <p:nvSpPr>
          <p:cNvPr id="6" name="text-62">
            <a:extLst>
              <a:ext uri="{FF2B5EF4-FFF2-40B4-BE49-F238E27FC236}">
                <ns2:creationId id="{B7E5CA5B-4FF3-44A5-991B-9E408A5E8291}"/>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63">
            <a:extLst>
              <a:ext uri="{FF2B5EF4-FFF2-40B4-BE49-F238E27FC236}">
                <ns2:creationId id="{CB30FFCC-2F29-4B67-B4DF-3F0709A413F9}"/>
              </a:ext>
            </a:extLst>
          </p:cNvPr>
          <p:cNvSpPr>
            <a:spLocks noGrp="1"/>
          </p:cNvSpPr>
          <p:nvPr/>
        </p:nvSpPr>
        <p:spPr>
          <a:xfrm>
            <a:off x="1285875" y="3848100"/>
            <a:ext cx="10191750"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Fluent language is not a truth test.</a:t>
            </a:r>
          </a:p>
        </p:txBody>
      </p:sp>
      <p:sp>
        <p:nvSpPr>
          <p:cNvPr id="3" name="text-59">
            <a:extLst>
              <a:ext uri="{FF2B5EF4-FFF2-40B4-BE49-F238E27FC236}">
                <ns2:creationId id="{246B704B-4F55-4486-B19B-E64FED33C3CD}"/>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03   10</a:t>
            </a:r>
          </a:p>
        </p:txBody>
      </p:sp>
    </p:spTree>
    <p:extLst>
      <p:ext uri="{BB962C8B-B14F-4D97-AF65-F5344CB8AC3E}">
        <ns3:creationId val="658380885"/>
      </p:ext>
    </p:extLst>
  </p:cSld>
  <p:transition spd="med" advClick="1">
    <p:fade/>
  </p:transition>
</p:sld>
</file>

<file path=ppt/slides/slide11.xml><?xml version="1.0" encoding="utf-8"?>
<p:sld xmlns:a="http://schemas.openxmlformats.org/drawingml/2006/main" xmlns:ns2="http://schemas.microsoft.com/office/drawing/2014/main" xmlns:ns3="http://schemas.microsoft.com/office/powerpoint/2010/main" xmlns:p="http://schemas.openxmlformats.org/presentationml/2006/main">
  <p:cSld name="What improves the answer">
    <p:bg>
      <p:bgPr>
        <a:solidFill>
          <a:srgbClr val="FFFFFF"/>
        </a:solidFill>
      </p:bgPr>
    </p:bg>
    <p:spTree>
      <p:nvGrpSpPr>
        <p:cNvPr id="1" name=""/>
        <p:cNvGrpSpPr/>
        <p:nvPr/>
      </p:nvGrpSpPr>
      <p:grpSpPr>
        <a:xfrm/>
      </p:grpSpPr>
      <p:sp>
        <p:nvSpPr>
          <p:cNvPr id="5" name="text-64">
            <a:extLst>
              <a:ext uri="{FF2B5EF4-FFF2-40B4-BE49-F238E27FC236}">
                <ns2:creationId id="{23C8C366-4586-4362-B34C-81886EBA1DB5}"/>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03</a:t>
            </a:r>
          </a:p>
        </p:txBody>
      </p:sp>
      <p:sp>
        <p:nvSpPr>
          <p:cNvPr id="2" name="text-65">
            <a:extLst>
              <a:ext uri="{FF2B5EF4-FFF2-40B4-BE49-F238E27FC236}">
                <ns2:creationId id="{AA5E00FA-7DF4-4379-A4EB-3779CBFB1020}"/>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What improves the answer</a:t>
            </a:r>
          </a:p>
        </p:txBody>
      </p:sp>
      <p:graphicFrame>
        <p:nvGraphicFramePr>
          <p:cNvPr id="4" name="">
            <a:extLst>
              <a:ext uri="{FF2B5EF4-FFF2-40B4-BE49-F238E27FC236}">
                <ns2:creationId id="{3E582805-0756-4027-83BB-4F7A18397EA2}"/>
              </a:ext>
            </a:extLst>
          </p:cNvPr>
          <p:cNvGraphicFramePr/>
          <p:nvPr/>
        </p:nvGraphicFramePr>
        <p:xfrm>
          <a:off x="619125" y="1933575"/>
          <a:ext cx="10953750" cy="3743325"/>
        </p:xfrm>
        <a:graphic>
          <a:graphicData uri="http://schemas.openxmlformats.org/drawingml/2006/table">
            <a:tbl>
              <a:tblPr/>
              <a:tblGrid>
                <a:gridCol w="3651250"/>
                <a:gridCol w="3651250"/>
                <a:gridCol w="3651250"/>
              </a:tblGrid>
              <a:tr h="748665">
                <a:tc>
                  <a:txBody>
                    <a:bodyPr/>
                    <a:lstStyle/>
                    <a:p>
                      <a:r>
                        <a:rPr sz="1875" b="1">
                          <a:solidFill>
                            <a:srgbClr val="FFFFFF"/>
                          </a:solidFill>
                          <a:latin typeface="Calibri"/>
                          <a:ea typeface="Calibri"/>
                          <a:cs typeface="Calibri"/>
                        </a:rPr>
                        <a:t>Method</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What it can add</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What remains to check</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748665">
                <a:tc>
                  <a:txBody>
                    <a:bodyPr/>
                    <a:lstStyle/>
                    <a:p>
                      <a:r>
                        <a:rPr sz="1875" b="0">
                          <a:solidFill>
                            <a:srgbClr val="1C3144"/>
                          </a:solidFill>
                          <a:latin typeface="Calibri"/>
                          <a:ea typeface="Calibri"/>
                          <a:cs typeface="Calibri"/>
                        </a:rPr>
                        <a:t>Reasoning-oriented mode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More computation for a multi-step task</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The conclusion and evidence</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Search or retrieval</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Current or task-specific sources</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Authority, coverage and fidelity</a:t>
                      </a:r>
                    </a:p>
                  </a:txBody>
                  <a:tcPr marL="91440" marR="91440" marT="45720" marB="45720">
                    <a:lnR w="9525">
                      <a:solidFill>
                        <a:srgbClr val="C9D5DA"/>
                      </a:solidFill>
                      <a:prstDash val="solid"/>
                    </a:lnR>
                    <a:lnB w="9525">
                      <a:solidFill>
                        <a:srgbClr val="C9D5DA"/>
                      </a:solidFill>
                      <a:prstDash val="solid"/>
                    </a:lnB>
                    <a:solidFill>
                      <a:srgbClr val="FFFFFF"/>
                    </a:solidFill>
                  </a:tcPr>
                </a:tc>
              </a:tr>
              <a:tr h="748665">
                <a:tc>
                  <a:txBody>
                    <a:bodyPr/>
                    <a:lstStyle/>
                    <a:p>
                      <a:r>
                        <a:rPr sz="1875" b="0">
                          <a:solidFill>
                            <a:srgbClr val="1C3144"/>
                          </a:solidFill>
                          <a:latin typeface="Calibri"/>
                          <a:ea typeface="Calibri"/>
                          <a:cs typeface="Calibri"/>
                        </a:rPr>
                        <a:t>Calculation tool</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Executed arithmetic</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Input mapping and formula</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Human review</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Professional interpretation and authority</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Reviewer competence and evidence</a:t>
                      </a:r>
                    </a:p>
                  </a:txBody>
                  <a:tcPr marL="91440" marR="91440" marT="45720" marB="45720">
                    <a:lnR w="9525">
                      <a:solidFill>
                        <a:srgbClr val="C9D5DA"/>
                      </a:solidFill>
                      <a:prstDash val="solid"/>
                    </a:lnR>
                    <a:lnB w="9525">
                      <a:solidFill>
                        <a:srgbClr val="C9D5DA"/>
                      </a:solidFill>
                      <a:prstDash val="solid"/>
                    </a:lnB>
                    <a:solidFill>
                      <a:srgbClr val="FFFFFF"/>
                    </a:solidFill>
                  </a:tcPr>
                </a:tc>
              </a:tr>
            </a:tbl>
          </a:graphicData>
        </a:graphic>
      </p:graphicFrame>
      <p:sp>
        <p:nvSpPr>
          <p:cNvPr id="3" name="text-66">
            <a:extLst>
              <a:ext uri="{FF2B5EF4-FFF2-40B4-BE49-F238E27FC236}">
                <ns2:creationId id="{EFA87378-338C-405C-B2C5-634C6A59942D}"/>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03   11</a:t>
            </a:r>
          </a:p>
        </p:txBody>
      </p:sp>
    </p:spTree>
    <p:extLst>
      <p:ext uri="{BB962C8B-B14F-4D97-AF65-F5344CB8AC3E}">
        <ns3:creationId val="635725475"/>
      </p:ext>
    </p:extLst>
  </p:cSld>
  <p:transition spd="med" advClick="1">
    <p:fade/>
  </p:transition>
</p:sld>
</file>

<file path=ppt/slides/slide12.xml><?xml version="1.0" encoding="utf-8"?>
<p:sld xmlns:a="http://schemas.openxmlformats.org/drawingml/2006/main" xmlns:ns2="http://schemas.microsoft.com/office/drawing/2014/main" xmlns:ns3="http://schemas.microsoft.com/office/powerpoint/2010/main" xmlns:p="http://schemas.openxmlformats.org/presentationml/2006/main">
  <p:cSld name="Text, images and documents">
    <p:bg>
      <p:bgPr>
        <a:solidFill>
          <a:srgbClr val="FFFFFF"/>
        </a:solidFill>
      </p:bgPr>
    </p:bg>
    <p:spTree>
      <p:nvGrpSpPr>
        <p:cNvPr id="1" name=""/>
        <p:cNvGrpSpPr/>
        <p:nvPr/>
      </p:nvGrpSpPr>
      <p:grpSpPr>
        <a:xfrm/>
      </p:grpSpPr>
      <p:sp>
        <p:nvSpPr>
          <p:cNvPr id="5" name="text-67">
            <a:extLst>
              <a:ext uri="{FF2B5EF4-FFF2-40B4-BE49-F238E27FC236}">
                <ns2:creationId id="{6679E8C1-3CC4-4E18-8A1D-E20ECABF88FF}"/>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03</a:t>
            </a:r>
          </a:p>
        </p:txBody>
      </p:sp>
      <p:sp>
        <p:nvSpPr>
          <p:cNvPr id="2" name="text-68">
            <a:extLst>
              <a:ext uri="{FF2B5EF4-FFF2-40B4-BE49-F238E27FC236}">
                <ns2:creationId id="{FBDE66E1-010A-4D3E-AC72-79F96EB913A4}"/>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Text, images and documents</a:t>
            </a:r>
          </a:p>
        </p:txBody>
      </p:sp>
      <p:graphicFrame>
        <p:nvGraphicFramePr>
          <p:cNvPr id="4" name="">
            <a:extLst>
              <a:ext uri="{FF2B5EF4-FFF2-40B4-BE49-F238E27FC236}">
                <ns2:creationId id="{C795EF63-1D32-4D8C-8775-8FA4F565D72E}"/>
              </a:ext>
            </a:extLst>
          </p:cNvPr>
          <p:cNvGraphicFramePr/>
          <p:nvPr/>
        </p:nvGraphicFramePr>
        <p:xfrm>
          <a:off x="619125" y="1933575"/>
          <a:ext cx="10953750" cy="3743325"/>
        </p:xfrm>
        <a:graphic>
          <a:graphicData uri="http://schemas.openxmlformats.org/drawingml/2006/table">
            <a:tbl>
              <a:tblPr/>
              <a:tblGrid>
                <a:gridCol w="3651250"/>
                <a:gridCol w="3651250"/>
                <a:gridCol w="3651250"/>
              </a:tblGrid>
              <a:tr h="935831">
                <a:tc>
                  <a:txBody>
                    <a:bodyPr/>
                    <a:lstStyle/>
                    <a:p>
                      <a:r>
                        <a:rPr sz="1875" b="1">
                          <a:solidFill>
                            <a:srgbClr val="FFFFFF"/>
                          </a:solidFill>
                          <a:latin typeface="Calibri"/>
                          <a:ea typeface="Calibri"/>
                          <a:cs typeface="Calibri"/>
                        </a:rPr>
                        <a:t>Input</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Capability to examine</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Failure to inspect</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935831">
                <a:tc>
                  <a:txBody>
                    <a:bodyPr/>
                    <a:lstStyle/>
                    <a:p>
                      <a:r>
                        <a:rPr sz="1875" b="0">
                          <a:solidFill>
                            <a:srgbClr val="1C3144"/>
                          </a:solidFill>
                          <a:latin typeface="Calibri"/>
                          <a:ea typeface="Calibri"/>
                          <a:cs typeface="Calibri"/>
                        </a:rPr>
                        <a:t>Text layer</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Read and transform text</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Lost scope or exception</a:t>
                      </a:r>
                    </a:p>
                  </a:txBody>
                  <a:tcPr marL="91440" marR="91440" marT="45720" marB="45720">
                    <a:lnR w="9525">
                      <a:solidFill>
                        <a:srgbClr val="C9D5DA"/>
                      </a:solidFill>
                      <a:prstDash val="solid"/>
                    </a:lnR>
                    <a:lnB w="9525">
                      <a:solidFill>
                        <a:srgbClr val="C9D5DA"/>
                      </a:solidFill>
                      <a:prstDash val="solid"/>
                    </a:lnB>
                    <a:solidFill>
                      <a:srgbClr val="F1F5F6"/>
                    </a:solidFill>
                  </a:tcPr>
                </a:tc>
              </a:tr>
              <a:tr h="935831">
                <a:tc>
                  <a:txBody>
                    <a:bodyPr/>
                    <a:lstStyle/>
                    <a:p>
                      <a:r>
                        <a:rPr sz="1875" b="0">
                          <a:solidFill>
                            <a:srgbClr val="1C3144"/>
                          </a:solidFill>
                          <a:latin typeface="Calibri"/>
                          <a:ea typeface="Calibri"/>
                          <a:cs typeface="Calibri"/>
                        </a:rPr>
                        <a:t>Scanned page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Recognise image content or use OCR</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Missing word or reading order</a:t>
                      </a:r>
                    </a:p>
                  </a:txBody>
                  <a:tcPr marL="91440" marR="91440" marT="45720" marB="45720">
                    <a:lnR w="9525">
                      <a:solidFill>
                        <a:srgbClr val="C9D5DA"/>
                      </a:solidFill>
                      <a:prstDash val="solid"/>
                    </a:lnR>
                    <a:lnB w="9525">
                      <a:solidFill>
                        <a:srgbClr val="C9D5DA"/>
                      </a:solidFill>
                      <a:prstDash val="solid"/>
                    </a:lnB>
                    <a:solidFill>
                      <a:srgbClr val="FFFFFF"/>
                    </a:solidFill>
                  </a:tcPr>
                </a:tc>
              </a:tr>
              <a:tr h="935831">
                <a:tc>
                  <a:txBody>
                    <a:bodyPr/>
                    <a:lstStyle/>
                    <a:p>
                      <a:r>
                        <a:rPr sz="1875" b="0">
                          <a:solidFill>
                            <a:srgbClr val="1C3144"/>
                          </a:solidFill>
                          <a:latin typeface="Calibri"/>
                          <a:ea typeface="Calibri"/>
                          <a:cs typeface="Calibri"/>
                        </a:rPr>
                        <a:t>Spreadsheet</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Read tables or execute calculations</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Wrong cells, units or formula</a:t>
                      </a:r>
                    </a:p>
                  </a:txBody>
                  <a:tcPr marL="91440" marR="91440" marT="45720" marB="45720">
                    <a:lnR w="9525">
                      <a:solidFill>
                        <a:srgbClr val="C9D5DA"/>
                      </a:solidFill>
                      <a:prstDash val="solid"/>
                    </a:lnR>
                    <a:lnB w="9525">
                      <a:solidFill>
                        <a:srgbClr val="C9D5DA"/>
                      </a:solidFill>
                      <a:prstDash val="solid"/>
                    </a:lnB>
                    <a:solidFill>
                      <a:srgbClr val="F1F5F6"/>
                    </a:solidFill>
                  </a:tcPr>
                </a:tc>
              </a:tr>
            </a:tbl>
          </a:graphicData>
        </a:graphic>
      </p:graphicFrame>
      <p:sp>
        <p:nvSpPr>
          <p:cNvPr id="3" name="text-69">
            <a:extLst>
              <a:ext uri="{FF2B5EF4-FFF2-40B4-BE49-F238E27FC236}">
                <ns2:creationId id="{C015904E-4980-46F3-913B-3B33E274480E}"/>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03   12</a:t>
            </a:r>
          </a:p>
        </p:txBody>
      </p:sp>
    </p:spTree>
    <p:extLst>
      <p:ext uri="{BB962C8B-B14F-4D97-AF65-F5344CB8AC3E}">
        <ns3:creationId val="1725442759"/>
      </p:ext>
    </p:extLst>
  </p:cSld>
  <p:transition spd="med" advClick="1">
    <p:fade/>
  </p:transition>
</p:sld>
</file>

<file path=ppt/slides/slide13.xml><?xml version="1.0" encoding="utf-8"?>
<p:sld xmlns:a="http://schemas.openxmlformats.org/drawingml/2006/main" xmlns:ns2="http://schemas.microsoft.com/office/drawing/2014/main" xmlns:ns3="http://schemas.microsoft.com/office/powerpoint/2010/main" xmlns:p="http://schemas.openxmlformats.org/presentationml/2006/main">
  <p:cSld name="Our three reliability experiments">
    <p:bg>
      <p:bgPr>
        <a:solidFill>
          <a:srgbClr val="FFFFFF"/>
        </a:solidFill>
      </p:bgPr>
    </p:bg>
    <p:spTree>
      <p:nvGrpSpPr>
        <p:cNvPr id="1" name=""/>
        <p:cNvGrpSpPr/>
        <p:nvPr/>
      </p:nvGrpSpPr>
      <p:grpSpPr>
        <a:xfrm/>
      </p:grpSpPr>
      <p:sp>
        <p:nvSpPr>
          <p:cNvPr id="11" name="text-70">
            <a:extLst>
              <a:ext uri="{FF2B5EF4-FFF2-40B4-BE49-F238E27FC236}">
                <ns2:creationId id="{A7979238-0783-43BE-A139-5DC6E71AA048}"/>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03</a:t>
            </a:r>
          </a:p>
        </p:txBody>
      </p:sp>
      <p:sp>
        <p:nvSpPr>
          <p:cNvPr id="2" name="text-71">
            <a:extLst>
              <a:ext uri="{FF2B5EF4-FFF2-40B4-BE49-F238E27FC236}">
                <ns2:creationId id="{ACCF2D9A-A76A-4CEF-AFF3-192EC2FFE8D0}"/>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Our three reliability experiments</a:t>
            </a:r>
          </a:p>
        </p:txBody>
      </p:sp>
      <p:sp>
        <p:nvSpPr>
          <p:cNvPr id="4" name="text-73">
            <a:extLst>
              <a:ext uri="{FF2B5EF4-FFF2-40B4-BE49-F238E27FC236}">
                <ns2:creationId id="{028749BB-B508-4BD2-A8DA-27B7DDACE4D4}"/>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74">
            <a:extLst>
              <a:ext uri="{FF2B5EF4-FFF2-40B4-BE49-F238E27FC236}">
                <ns2:creationId id="{CAEDAC85-2AC4-4DC8-A4B6-EC8DA26A931F}"/>
              </a:ext>
            </a:extLst>
          </p:cNvPr>
          <p:cNvSpPr>
            <a:spLocks noGrp="1"/>
          </p:cNvSpPr>
          <p:nvPr/>
        </p:nvSpPr>
        <p:spPr>
          <a:xfrm>
            <a:off x="1285875" y="194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Repeat the same supplied-source question three times.</a:t>
            </a:r>
          </a:p>
        </p:txBody>
      </p:sp>
      <p:sp>
        <p:nvSpPr>
          <p:cNvPr id="6" name="text-75">
            <a:extLst>
              <a:ext uri="{FF2B5EF4-FFF2-40B4-BE49-F238E27FC236}">
                <ns2:creationId id="{FFD3B8A1-EC8A-4013-B6FF-434FC143CA15}"/>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76">
            <a:extLst>
              <a:ext uri="{FF2B5EF4-FFF2-40B4-BE49-F238E27FC236}">
                <ns2:creationId id="{2A59A311-CDDB-4FC8-BC88-F5FFE16480B8}"/>
              </a:ext>
            </a:extLst>
          </p:cNvPr>
          <p:cNvSpPr>
            <a:spLocks noGrp="1"/>
          </p:cNvSpPr>
          <p:nvPr/>
        </p:nvSpPr>
        <p:spPr>
          <a:xfrm>
            <a:off x="1285875" y="321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Compare a long source with a focused excerpt.</a:t>
            </a:r>
          </a:p>
        </p:txBody>
      </p:sp>
      <p:sp>
        <p:nvSpPr>
          <p:cNvPr id="8" name="text-77">
            <a:extLst>
              <a:ext uri="{FF2B5EF4-FFF2-40B4-BE49-F238E27FC236}">
                <ns2:creationId id="{B8B90B07-679F-45F8-8E59-DF7409DD85C7}"/>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78">
            <a:extLst>
              <a:ext uri="{FF2B5EF4-FFF2-40B4-BE49-F238E27FC236}">
                <ns2:creationId id="{191C8A5B-58F3-492B-853D-F8D06625A480}"/>
              </a:ext>
            </a:extLst>
          </p:cNvPr>
          <p:cNvSpPr>
            <a:spLocks noGrp="1"/>
          </p:cNvSpPr>
          <p:nvPr/>
        </p:nvSpPr>
        <p:spPr>
          <a:xfrm>
            <a:off x="1285875" y="448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Ask for a fee that the supplied evidence does not establish.</a:t>
            </a:r>
          </a:p>
        </p:txBody>
      </p:sp>
      <p:sp>
        <p:nvSpPr>
          <p:cNvPr id="10" name="text-79">
            <a:extLst>
              <a:ext uri="{FF2B5EF4-FFF2-40B4-BE49-F238E27FC236}">
                <ns2:creationId id="{B1CAF5D0-549E-45D4-AB4E-83E6CD4F4FF4}"/>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We complete this together during class.</a:t>
            </a:r>
          </a:p>
        </p:txBody>
      </p:sp>
      <p:sp>
        <p:nvSpPr>
          <p:cNvPr id="3" name="text-72">
            <a:extLst>
              <a:ext uri="{FF2B5EF4-FFF2-40B4-BE49-F238E27FC236}">
                <ns2:creationId id="{E3118B74-7675-4920-B0E8-2D263F6FED63}"/>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03   13</a:t>
            </a:r>
          </a:p>
        </p:txBody>
      </p:sp>
    </p:spTree>
    <p:extLst>
      <p:ext uri="{BB962C8B-B14F-4D97-AF65-F5344CB8AC3E}">
        <ns3:creationId val="789030104"/>
      </p:ext>
    </p:extLst>
  </p:cSld>
  <p:transition spd="med" advClick="1">
    <p:fade/>
  </p:transition>
</p:sld>
</file>

<file path=ppt/slides/slide14.xml><?xml version="1.0" encoding="utf-8"?>
<p:sld xmlns:a="http://schemas.openxmlformats.org/drawingml/2006/main" xmlns:ns2="http://schemas.microsoft.com/office/drawing/2014/main" xmlns:ns3="http://schemas.microsoft.com/office/powerpoint/2010/main" xmlns:p="http://schemas.openxmlformats.org/presentationml/2006/main">
  <p:cSld name="Model and workflow cost">
    <p:bg>
      <p:bgPr>
        <a:solidFill>
          <a:srgbClr val="FFFFFF"/>
        </a:solidFill>
      </p:bgPr>
    </p:bg>
    <p:spTree>
      <p:nvGrpSpPr>
        <p:cNvPr id="1" name=""/>
        <p:cNvGrpSpPr/>
        <p:nvPr/>
      </p:nvGrpSpPr>
      <p:grpSpPr>
        <a:xfrm/>
      </p:grpSpPr>
      <p:sp>
        <p:nvSpPr>
          <p:cNvPr id="5" name="text-80">
            <a:extLst>
              <a:ext uri="{FF2B5EF4-FFF2-40B4-BE49-F238E27FC236}">
                <ns2:creationId id="{5563358C-876C-4FC0-9183-77B78A29D7B9}"/>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03</a:t>
            </a:r>
          </a:p>
        </p:txBody>
      </p:sp>
      <p:sp>
        <p:nvSpPr>
          <p:cNvPr id="2" name="text-81">
            <a:extLst>
              <a:ext uri="{FF2B5EF4-FFF2-40B4-BE49-F238E27FC236}">
                <ns2:creationId id="{9F371D98-C4B7-4A6E-AA4F-B2BEB8ADD2BA}"/>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Model and workflow cost</a:t>
            </a:r>
          </a:p>
        </p:txBody>
      </p:sp>
      <p:graphicFrame>
        <p:nvGraphicFramePr>
          <p:cNvPr id="4" name="">
            <a:extLst>
              <a:ext uri="{FF2B5EF4-FFF2-40B4-BE49-F238E27FC236}">
                <ns2:creationId id="{94099A00-762A-4CAC-8B50-90F4EE9AFA3E}"/>
              </a:ext>
            </a:extLst>
          </p:cNvPr>
          <p:cNvGraphicFramePr/>
          <p:nvPr/>
        </p:nvGraphicFramePr>
        <p:xfrm>
          <a:off x="619125" y="1933575"/>
          <a:ext cx="10953750" cy="3743325"/>
        </p:xfrm>
        <a:graphic>
          <a:graphicData uri="http://schemas.openxmlformats.org/drawingml/2006/table">
            <a:tbl>
              <a:tblPr/>
              <a:tblGrid>
                <a:gridCol w="5476875"/>
                <a:gridCol w="5476875"/>
              </a:tblGrid>
              <a:tr h="748665">
                <a:tc>
                  <a:txBody>
                    <a:bodyPr/>
                    <a:lstStyle/>
                    <a:p>
                      <a:r>
                        <a:rPr sz="1875" b="1">
                          <a:solidFill>
                            <a:srgbClr val="FFFFFF"/>
                          </a:solidFill>
                          <a:latin typeface="Calibri"/>
                          <a:ea typeface="Calibri"/>
                          <a:cs typeface="Calibri"/>
                        </a:rPr>
                        <a:t>Driver</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What to measure</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748665">
                <a:tc>
                  <a:txBody>
                    <a:bodyPr/>
                    <a:lstStyle/>
                    <a:p>
                      <a:r>
                        <a:rPr sz="1875" b="0">
                          <a:solidFill>
                            <a:srgbClr val="1C3144"/>
                          </a:solidFill>
                          <a:latin typeface="Calibri"/>
                          <a:ea typeface="Calibri"/>
                          <a:cs typeface="Calibri"/>
                        </a:rPr>
                        <a:t>Inputs and outputs</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Actual token usage where reported</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Tools and repeated runs</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Calls, retries and orchestration</a:t>
                      </a:r>
                    </a:p>
                  </a:txBody>
                  <a:tcPr marL="91440" marR="91440" marT="45720" marB="45720">
                    <a:lnR w="9525">
                      <a:solidFill>
                        <a:srgbClr val="C9D5DA"/>
                      </a:solidFill>
                      <a:prstDash val="solid"/>
                    </a:lnR>
                    <a:lnB w="9525">
                      <a:solidFill>
                        <a:srgbClr val="C9D5DA"/>
                      </a:solidFill>
                      <a:prstDash val="solid"/>
                    </a:lnB>
                    <a:solidFill>
                      <a:srgbClr val="FFFFFF"/>
                    </a:solidFill>
                  </a:tcPr>
                </a:tc>
              </a:tr>
              <a:tr h="748665">
                <a:tc>
                  <a:txBody>
                    <a:bodyPr/>
                    <a:lstStyle/>
                    <a:p>
                      <a:r>
                        <a:rPr sz="1875" b="0">
                          <a:solidFill>
                            <a:srgbClr val="1C3144"/>
                          </a:solidFill>
                          <a:latin typeface="Calibri"/>
                          <a:ea typeface="Calibri"/>
                          <a:cs typeface="Calibri"/>
                        </a:rPr>
                        <a:t>Human checking</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Minutes per acceptable result</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Maintenance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Source refresh, tests and support</a:t>
                      </a:r>
                    </a:p>
                  </a:txBody>
                  <a:tcPr marL="91440" marR="91440" marT="45720" marB="45720">
                    <a:lnR w="9525">
                      <a:solidFill>
                        <a:srgbClr val="C9D5DA"/>
                      </a:solidFill>
                      <a:prstDash val="solid"/>
                    </a:lnR>
                    <a:lnB w="9525">
                      <a:solidFill>
                        <a:srgbClr val="C9D5DA"/>
                      </a:solidFill>
                      <a:prstDash val="solid"/>
                    </a:lnB>
                    <a:solidFill>
                      <a:srgbClr val="FFFFFF"/>
                    </a:solidFill>
                  </a:tcPr>
                </a:tc>
              </a:tr>
            </a:tbl>
          </a:graphicData>
        </a:graphic>
      </p:graphicFrame>
      <p:sp>
        <p:nvSpPr>
          <p:cNvPr id="3" name="text-82">
            <a:extLst>
              <a:ext uri="{FF2B5EF4-FFF2-40B4-BE49-F238E27FC236}">
                <ns2:creationId id="{552348DD-406C-41A5-81AF-94B8DF50DCFE}"/>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03   14</a:t>
            </a:r>
          </a:p>
        </p:txBody>
      </p:sp>
    </p:spTree>
    <p:extLst>
      <p:ext uri="{BB962C8B-B14F-4D97-AF65-F5344CB8AC3E}">
        <ns3:creationId val="1146642202"/>
      </p:ext>
    </p:extLst>
  </p:cSld>
  <p:transition spd="med" advClick="1">
    <p:fade/>
  </p:transition>
</p:sld>
</file>

<file path=ppt/slides/slide15.xml><?xml version="1.0" encoding="utf-8"?>
<p:sld xmlns:a="http://schemas.openxmlformats.org/drawingml/2006/main" xmlns:ns2="http://schemas.microsoft.com/office/drawing/2014/main" xmlns:ns3="http://schemas.microsoft.com/office/powerpoint/2010/main" xmlns:p="http://schemas.openxmlformats.org/presentationml/2006/main">
  <p:cSld name="Our in-class work">
    <p:bg>
      <p:bgPr>
        <a:solidFill>
          <a:srgbClr val="FFFFFF"/>
        </a:solidFill>
      </p:bgPr>
    </p:bg>
    <p:spTree>
      <p:nvGrpSpPr>
        <p:cNvPr id="1" name=""/>
        <p:cNvGrpSpPr/>
        <p:nvPr/>
      </p:nvGrpSpPr>
      <p:grpSpPr>
        <a:xfrm/>
      </p:grpSpPr>
      <p:sp>
        <p:nvSpPr>
          <p:cNvPr id="13" name="text-83">
            <a:extLst>
              <a:ext uri="{FF2B5EF4-FFF2-40B4-BE49-F238E27FC236}">
                <ns2:creationId id="{54469CC1-814A-4A2D-809B-610AAF544804}"/>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03</a:t>
            </a:r>
          </a:p>
        </p:txBody>
      </p:sp>
      <p:sp>
        <p:nvSpPr>
          <p:cNvPr id="2" name="text-84">
            <a:extLst>
              <a:ext uri="{FF2B5EF4-FFF2-40B4-BE49-F238E27FC236}">
                <ns2:creationId id="{8FEDA3D5-2DB4-4531-9D4B-437E5E2A2D7A}"/>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Our in-class work</a:t>
            </a:r>
          </a:p>
        </p:txBody>
      </p:sp>
      <p:sp>
        <p:nvSpPr>
          <p:cNvPr id="4" name="text-86">
            <a:extLst>
              <a:ext uri="{FF2B5EF4-FFF2-40B4-BE49-F238E27FC236}">
                <ns2:creationId id="{96F90CB4-5968-4EBB-8847-F00CCA03B938}"/>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87">
            <a:extLst>
              <a:ext uri="{FF2B5EF4-FFF2-40B4-BE49-F238E27FC236}">
                <ns2:creationId id="{001E504B-CA8C-422D-A6E3-F3F5CF872DB2}"/>
              </a:ext>
            </a:extLst>
          </p:cNvPr>
          <p:cNvSpPr>
            <a:spLocks noGrp="1"/>
          </p:cNvSpPr>
          <p:nvPr/>
        </p:nvSpPr>
        <p:spPr>
          <a:xfrm>
            <a:off x="1285875" y="1943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Repeat the same supplied-source task three times.</a:t>
            </a:r>
          </a:p>
        </p:txBody>
      </p:sp>
      <p:sp>
        <p:nvSpPr>
          <p:cNvPr id="6" name="text-88">
            <a:extLst>
              <a:ext uri="{FF2B5EF4-FFF2-40B4-BE49-F238E27FC236}">
                <ns2:creationId id="{F7AE5699-EFE3-4162-8D36-C8224F9DB585}"/>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89">
            <a:extLst>
              <a:ext uri="{FF2B5EF4-FFF2-40B4-BE49-F238E27FC236}">
                <ns2:creationId id="{45D133C3-E9EF-40C8-B3F0-8CFD6DF9C744}"/>
              </a:ext>
            </a:extLst>
          </p:cNvPr>
          <p:cNvSpPr>
            <a:spLocks noGrp="1"/>
          </p:cNvSpPr>
          <p:nvPr/>
        </p:nvSpPr>
        <p:spPr>
          <a:xfrm>
            <a:off x="1285875" y="2895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Compare the long source with a focused excerpt.</a:t>
            </a:r>
          </a:p>
        </p:txBody>
      </p:sp>
      <p:sp>
        <p:nvSpPr>
          <p:cNvPr id="8" name="text-90">
            <a:extLst>
              <a:ext uri="{FF2B5EF4-FFF2-40B4-BE49-F238E27FC236}">
                <ns2:creationId id="{42288997-7EC8-440E-B9B9-4E4498D2E5B8}"/>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91">
            <a:extLst>
              <a:ext uri="{FF2B5EF4-FFF2-40B4-BE49-F238E27FC236}">
                <ns2:creationId id="{66E41083-334B-4D19-B0E7-F9F070C03BE2}"/>
              </a:ext>
            </a:extLst>
          </p:cNvPr>
          <p:cNvSpPr>
            <a:spLocks noGrp="1"/>
          </p:cNvSpPr>
          <p:nvPr/>
        </p:nvSpPr>
        <p:spPr>
          <a:xfrm>
            <a:off x="1285875" y="3848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Ask for a fee the evidence does not establish.</a:t>
            </a:r>
          </a:p>
        </p:txBody>
      </p:sp>
      <p:sp>
        <p:nvSpPr>
          <p:cNvPr id="10" name="text-92">
            <a:extLst>
              <a:ext uri="{FF2B5EF4-FFF2-40B4-BE49-F238E27FC236}">
                <ns2:creationId id="{5D3C25E2-D641-407F-ADB6-4DE408482F5D}"/>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93">
            <a:extLst>
              <a:ext uri="{FF2B5EF4-FFF2-40B4-BE49-F238E27FC236}">
                <ns2:creationId id="{6A26E6B9-7594-4B66-A5A9-8926D5303444}"/>
              </a:ext>
            </a:extLst>
          </p:cNvPr>
          <p:cNvSpPr>
            <a:spLocks noGrp="1"/>
          </p:cNvSpPr>
          <p:nvPr/>
        </p:nvSpPr>
        <p:spPr>
          <a:xfrm>
            <a:off x="1285875" y="4800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Score the actual results and retain the prompts.</a:t>
            </a:r>
          </a:p>
        </p:txBody>
      </p:sp>
      <p:sp>
        <p:nvSpPr>
          <p:cNvPr id="12" name="text-94">
            <a:extLst>
              <a:ext uri="{FF2B5EF4-FFF2-40B4-BE49-F238E27FC236}">
                <ns2:creationId id="{070E1247-E0F6-4EF8-ADF2-E0DFD4A41B18}"/>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We complete this together during class.</a:t>
            </a:r>
          </a:p>
        </p:txBody>
      </p:sp>
      <p:sp>
        <p:nvSpPr>
          <p:cNvPr id="3" name="text-85">
            <a:extLst>
              <a:ext uri="{FF2B5EF4-FFF2-40B4-BE49-F238E27FC236}">
                <ns2:creationId id="{7E5CA89C-2F51-4F2B-977D-CE9C3CE4F61E}"/>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03   15</a:t>
            </a:r>
          </a:p>
        </p:txBody>
      </p:sp>
    </p:spTree>
    <p:extLst>
      <p:ext uri="{BB962C8B-B14F-4D97-AF65-F5344CB8AC3E}">
        <ns3:creationId val="2024220199"/>
      </p:ext>
    </p:extLst>
  </p:cSld>
  <p:transition spd="med" advClick="1">
    <p:fade/>
  </p:transition>
</p:sld>
</file>

<file path=ppt/slides/slide16.xml><?xml version="1.0" encoding="utf-8"?>
<p:sld xmlns:a="http://schemas.openxmlformats.org/drawingml/2006/main" xmlns:ns2="http://schemas.microsoft.com/office/drawing/2014/main" xmlns:ns3="http://schemas.microsoft.com/office/powerpoint/2010/main" xmlns:p="http://schemas.openxmlformats.org/presentationml/2006/main">
  <p:cSld name="What we can conclude">
    <p:bg>
      <p:bgPr>
        <a:solidFill>
          <a:srgbClr val="FFFFFF"/>
        </a:solidFill>
      </p:bgPr>
    </p:bg>
    <p:spTree>
      <p:nvGrpSpPr>
        <p:cNvPr id="1" name=""/>
        <p:cNvGrpSpPr/>
        <p:nvPr/>
      </p:nvGrpSpPr>
      <p:grpSpPr>
        <a:xfrm/>
      </p:grpSpPr>
      <p:sp>
        <p:nvSpPr>
          <p:cNvPr id="8" name="text-95">
            <a:extLst>
              <a:ext uri="{FF2B5EF4-FFF2-40B4-BE49-F238E27FC236}">
                <ns2:creationId id="{1625D253-3641-46CB-88F8-DEE0E27677F3}"/>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03</a:t>
            </a:r>
          </a:p>
        </p:txBody>
      </p:sp>
      <p:sp>
        <p:nvSpPr>
          <p:cNvPr id="2" name="text-96">
            <a:extLst>
              <a:ext uri="{FF2B5EF4-FFF2-40B4-BE49-F238E27FC236}">
                <ns2:creationId id="{97907506-BA0D-437C-87DB-F29F12BCDEF6}"/>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What we can conclude</a:t>
            </a:r>
          </a:p>
        </p:txBody>
      </p:sp>
      <p:sp>
        <p:nvSpPr>
          <p:cNvPr id="4" name="text-98">
            <a:extLst>
              <a:ext uri="{FF2B5EF4-FFF2-40B4-BE49-F238E27FC236}">
                <ns2:creationId id="{8C4A37C1-76C2-4480-9BA3-BCF868BEB96D}"/>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99">
            <a:extLst>
              <a:ext uri="{FF2B5EF4-FFF2-40B4-BE49-F238E27FC236}">
                <ns2:creationId id="{AFF2DF33-2EC6-4014-8BD7-CEE5D806A577}"/>
              </a:ext>
            </a:extLst>
          </p:cNvPr>
          <p:cNvSpPr>
            <a:spLocks noGrp="1"/>
          </p:cNvSpPr>
          <p:nvPr/>
        </p:nvSpPr>
        <p:spPr>
          <a:xfrm>
            <a:off x="1285875" y="1943100"/>
            <a:ext cx="10191750"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Generation selects tokens conditioned on context. Responses can vary. Matching answers still need evidence checks. A larger context or reasoning mode does not remove that need.</a:t>
            </a:r>
          </a:p>
        </p:txBody>
      </p:sp>
      <p:sp>
        <p:nvSpPr>
          <p:cNvPr id="6" name="text-100">
            <a:extLst>
              <a:ext uri="{FF2B5EF4-FFF2-40B4-BE49-F238E27FC236}">
                <ns2:creationId id="{A93B6F5A-CCD9-4581-9270-B399C74A3519}"/>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01">
            <a:extLst>
              <a:ext uri="{FF2B5EF4-FFF2-40B4-BE49-F238E27FC236}">
                <ns2:creationId id="{A779E048-051D-4628-9CFB-A5ADAA80F0BC}"/>
              </a:ext>
            </a:extLst>
          </p:cNvPr>
          <p:cNvSpPr>
            <a:spLocks noGrp="1"/>
          </p:cNvSpPr>
          <p:nvPr/>
        </p:nvSpPr>
        <p:spPr>
          <a:xfrm>
            <a:off x="1285875" y="3848100"/>
            <a:ext cx="10191750"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diagram uses invented probabilities; actual model behaviour and interface controls vary.</a:t>
            </a:r>
          </a:p>
        </p:txBody>
      </p:sp>
      <p:sp>
        <p:nvSpPr>
          <p:cNvPr id="3" name="text-97">
            <a:extLst>
              <a:ext uri="{FF2B5EF4-FFF2-40B4-BE49-F238E27FC236}">
                <ns2:creationId id="{436B6189-FB84-4CF6-A1EF-72DBD9E5DCC6}"/>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03   16</a:t>
            </a:r>
          </a:p>
        </p:txBody>
      </p:sp>
    </p:spTree>
    <p:extLst>
      <p:ext uri="{BB962C8B-B14F-4D97-AF65-F5344CB8AC3E}">
        <ns3:creationId val="1222369072"/>
      </p:ext>
    </p:extLst>
  </p:cSld>
  <p:transition spd="med" advClick="1">
    <p:fade/>
  </p:transition>
</p:sld>
</file>

<file path=ppt/slides/slide17.xml><?xml version="1.0" encoding="utf-8"?>
<p:sld xmlns:a="http://schemas.openxmlformats.org/drawingml/2006/main" xmlns:ns2="http://schemas.microsoft.com/office/drawing/2014/main" xmlns:ns3="http://schemas.microsoft.com/office/powerpoint/2010/main" xmlns:p="http://schemas.openxmlformats.org/presentationml/2006/main">
  <p:cSld name="The firm decision">
    <p:bg>
      <p:bgPr>
        <a:solidFill>
          <a:srgbClr val="FFFFFF"/>
        </a:solidFill>
      </p:bgPr>
    </p:bg>
    <p:spTree>
      <p:nvGrpSpPr>
        <p:cNvPr id="1" name=""/>
        <p:cNvGrpSpPr/>
        <p:nvPr/>
      </p:nvGrpSpPr>
      <p:grpSpPr>
        <a:xfrm/>
      </p:grpSpPr>
      <p:sp>
        <p:nvSpPr>
          <p:cNvPr id="7" name="text-102">
            <a:extLst>
              <a:ext uri="{FF2B5EF4-FFF2-40B4-BE49-F238E27FC236}">
                <ns2:creationId id="{4F26DEDC-3B18-431A-92B5-B272E896F531}"/>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03</a:t>
            </a:r>
          </a:p>
        </p:txBody>
      </p:sp>
      <p:sp>
        <p:nvSpPr>
          <p:cNvPr id="2" name="text-103">
            <a:extLst>
              <a:ext uri="{FF2B5EF4-FFF2-40B4-BE49-F238E27FC236}">
                <ns2:creationId id="{9141C8BC-70FC-46B7-9AA7-5861A5546894}"/>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firm decision</a:t>
            </a:r>
          </a:p>
        </p:txBody>
      </p:sp>
      <p:sp>
        <p:nvSpPr>
          <p:cNvPr id="4" name="text-105">
            <a:extLst>
              <a:ext uri="{FF2B5EF4-FFF2-40B4-BE49-F238E27FC236}">
                <ns2:creationId id="{267ABB22-B237-465F-849E-3B8D74BE5352}"/>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06">
            <a:extLst>
              <a:ext uri="{FF2B5EF4-FFF2-40B4-BE49-F238E27FC236}">
                <ns2:creationId id="{CF91E285-38F8-4720-B99A-67A6AE3A6C2B}"/>
              </a:ext>
            </a:extLst>
          </p:cNvPr>
          <p:cNvSpPr>
            <a:spLocks noGrp="1"/>
          </p:cNvSpPr>
          <p:nvPr/>
        </p:nvSpPr>
        <p:spPr>
          <a:xfrm>
            <a:off x="1285875" y="1943100"/>
            <a:ext cx="10191750" cy="3314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Require source checking and measured review effort before relying on a workflow.</a:t>
            </a:r>
          </a:p>
        </p:txBody>
      </p:sp>
      <p:sp>
        <p:nvSpPr>
          <p:cNvPr id="6" name="text-107">
            <a:extLst>
              <a:ext uri="{FF2B5EF4-FFF2-40B4-BE49-F238E27FC236}">
                <ns2:creationId id="{9CEC8A7D-1710-48B3-81D3-E47A1C4E2F46}"/>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Record the decision and the evidence still needed.</a:t>
            </a:r>
          </a:p>
        </p:txBody>
      </p:sp>
      <p:sp>
        <p:nvSpPr>
          <p:cNvPr id="3" name="text-104">
            <a:extLst>
              <a:ext uri="{FF2B5EF4-FFF2-40B4-BE49-F238E27FC236}">
                <ns2:creationId id="{1AFAD312-4A80-4258-ABEA-9C5081B1B9BF}"/>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03   17</a:t>
            </a:r>
          </a:p>
        </p:txBody>
      </p:sp>
    </p:spTree>
    <p:extLst>
      <p:ext uri="{BB962C8B-B14F-4D97-AF65-F5344CB8AC3E}">
        <ns3:creationId val="1920463555"/>
      </p:ext>
    </p:extLst>
  </p:cSld>
  <p:transition spd="med" advClick="1">
    <p:fade/>
  </p:transition>
</p:sld>
</file>

<file path=ppt/slides/slide18.xml><?xml version="1.0" encoding="utf-8"?>
<p:sld xmlns:a="http://schemas.openxmlformats.org/drawingml/2006/main" xmlns:ns2="http://schemas.microsoft.com/office/drawing/2014/main" xmlns:ns3="http://schemas.microsoft.com/office/powerpoint/2010/main" xmlns:p="http://schemas.openxmlformats.org/presentationml/2006/main">
  <p:cSld name="Check understanding">
    <p:bg>
      <p:bgPr>
        <a:solidFill>
          <a:srgbClr val="FFFFFF"/>
        </a:solidFill>
      </p:bgPr>
    </p:bg>
    <p:spTree>
      <p:nvGrpSpPr>
        <p:cNvPr id="1" name=""/>
        <p:cNvGrpSpPr/>
        <p:nvPr/>
      </p:nvGrpSpPr>
      <p:grpSpPr>
        <a:xfrm/>
      </p:grpSpPr>
      <p:sp>
        <p:nvSpPr>
          <p:cNvPr id="10" name="text-108">
            <a:extLst>
              <a:ext uri="{FF2B5EF4-FFF2-40B4-BE49-F238E27FC236}">
                <ns2:creationId id="{70E0DFCA-505C-40D8-968F-FE607D8C5925}"/>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03</a:t>
            </a:r>
          </a:p>
        </p:txBody>
      </p:sp>
      <p:sp>
        <p:nvSpPr>
          <p:cNvPr id="2" name="text-109">
            <a:extLst>
              <a:ext uri="{FF2B5EF4-FFF2-40B4-BE49-F238E27FC236}">
                <ns2:creationId id="{C9B09540-7E65-4A7C-B7F7-D9E752EF30DA}"/>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Check understanding</a:t>
            </a:r>
          </a:p>
        </p:txBody>
      </p:sp>
      <p:sp>
        <p:nvSpPr>
          <p:cNvPr id="4" name="text-111">
            <a:extLst>
              <a:ext uri="{FF2B5EF4-FFF2-40B4-BE49-F238E27FC236}">
                <ns2:creationId id="{52E74616-8449-41DF-820F-04FF22362A4B}"/>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12">
            <a:extLst>
              <a:ext uri="{FF2B5EF4-FFF2-40B4-BE49-F238E27FC236}">
                <ns2:creationId id="{135C45E7-07EF-4554-840A-512024330382}"/>
              </a:ext>
            </a:extLst>
          </p:cNvPr>
          <p:cNvSpPr>
            <a:spLocks noGrp="1"/>
          </p:cNvSpPr>
          <p:nvPr/>
        </p:nvSpPr>
        <p:spPr>
          <a:xfrm>
            <a:off x="1285875" y="1943100"/>
            <a:ext cx="10191750"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The document never supplies a renewal fee. What should the answer say?</a:t>
            </a:r>
          </a:p>
        </p:txBody>
      </p:sp>
      <p:sp>
        <p:nvSpPr>
          <p:cNvPr id="6" name="text-113">
            <a:extLst>
              <a:ext uri="{FF2B5EF4-FFF2-40B4-BE49-F238E27FC236}">
                <ns2:creationId id="{C8303756-E4FD-4941-833B-03250F6C5757}"/>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14">
            <a:extLst>
              <a:ext uri="{FF2B5EF4-FFF2-40B4-BE49-F238E27FC236}">
                <ns2:creationId id="{265EF68B-5575-49D9-AD6F-0619FF310C72}"/>
              </a:ext>
            </a:extLst>
          </p:cNvPr>
          <p:cNvSpPr>
            <a:spLocks noGrp="1"/>
          </p:cNvSpPr>
          <p:nvPr/>
        </p:nvSpPr>
        <p:spPr>
          <a:xfrm>
            <a:off x="1285875" y="3213100"/>
            <a:ext cx="10191750"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A longer context window includes the clause. Is the conclusion guaranteed?</a:t>
            </a:r>
          </a:p>
        </p:txBody>
      </p:sp>
      <p:sp>
        <p:nvSpPr>
          <p:cNvPr id="8" name="text-115">
            <a:extLst>
              <a:ext uri="{FF2B5EF4-FFF2-40B4-BE49-F238E27FC236}">
                <ns2:creationId id="{A6A0167D-847A-4A00-9F36-D7E236612F73}"/>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116">
            <a:extLst>
              <a:ext uri="{FF2B5EF4-FFF2-40B4-BE49-F238E27FC236}">
                <ns2:creationId id="{DA3A14FB-7733-4EAE-AF54-36FC1DC169F8}"/>
              </a:ext>
            </a:extLst>
          </p:cNvPr>
          <p:cNvSpPr>
            <a:spLocks noGrp="1"/>
          </p:cNvSpPr>
          <p:nvPr/>
        </p:nvSpPr>
        <p:spPr>
          <a:xfrm>
            <a:off x="1285875" y="4483100"/>
            <a:ext cx="10191750"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Three identical responses appear. What is the remaining verification?</a:t>
            </a:r>
          </a:p>
        </p:txBody>
      </p:sp>
      <p:sp>
        <p:nvSpPr>
          <p:cNvPr id="3" name="text-110">
            <a:extLst>
              <a:ext uri="{FF2B5EF4-FFF2-40B4-BE49-F238E27FC236}">
                <ns2:creationId id="{3702E563-206E-4600-9A2F-BE30FB7B516A}"/>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03   18</a:t>
            </a:r>
          </a:p>
        </p:txBody>
      </p:sp>
    </p:spTree>
    <p:extLst>
      <p:ext uri="{BB962C8B-B14F-4D97-AF65-F5344CB8AC3E}">
        <ns3:creationId val="2019099780"/>
      </p:ext>
    </p:extLst>
  </p:cSld>
  <p:transition spd="med" advClick="1">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2026-10-26T10:22:09.2580000Z</dcterms:created>
  <dcterms:modified xsi:type="dcterms:W3CDTF">2026-10-26T10:22:09.2580000Z</dcterms:modified>
</coreProperties>
</file>