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723f80559634080" /><Relationship Type="http://schemas.openxmlformats.org/officeDocument/2006/relationships/extended-properties" Target="/docProps/app.xml" Id="Rc59730a667b444d3" /><Relationship Type="http://schemas.openxmlformats.org/officeDocument/2006/relationships/officeDocument" Target="/ppt/presentation.xml" Id="R3d283daea6e64e28" /></Relationships>
</file>

<file path=ppt/presentation.xml><?xml version="1.0" encoding="utf-8"?>
<p:presentation xmlns:p="http://schemas.openxmlformats.org/presentationml/2006/main" xmlns:r="http://schemas.openxmlformats.org/officeDocument/2006/relationships">
  <p:sldMasterIdLst>
    <p:sldMasterId id="2147483648" r:id="Rf9683be9189e4f63"/>
  </p:sldMasterIdLst>
  <p:notesMasterIdLst>
    <p:notesMasterId r:id="R8452d70a98374a19"/>
  </p:notesMasterIdLst>
  <p:sldIdLst>
    <p:sldId id="256" r:id="Rfe165df2accc4a4c"/>
    <p:sldId id="257" r:id="R6d3b592fba744581"/>
    <p:sldId id="258" r:id="Ra23e2d3cafb34c5a"/>
    <p:sldId id="259" r:id="Rbf97d30302664852"/>
    <p:sldId id="260" r:id="Rfe19d4f7b7ab415c"/>
    <p:sldId id="261" r:id="R2254a4497b104971"/>
    <p:sldId id="262" r:id="R05d4c84447034fb3"/>
    <p:sldId id="263" r:id="Re827085a30144f08"/>
    <p:sldId id="264" r:id="R7e401a22b72c45a8"/>
    <p:sldId id="265" r:id="Rd06e008132ca4809"/>
    <p:sldId id="266" r:id="R642b2c54e0594616"/>
    <p:sldId id="267" r:id="R7686d4e67a7f4a4a"/>
    <p:sldId id="268" r:id="R7bf70dc6c4aa4ec2"/>
    <p:sldId id="269" r:id="R962e5651d99e4657"/>
    <p:sldId id="270" r:id="Rfbf4906f7b4943cb"/>
    <p:sldId id="271" r:id="Rd3ecd910ccf34782"/>
    <p:sldId id="272" r:id="R80615a5e58674426"/>
    <p:sldId id="273" r:id="R3dae030d59e749c6"/>
    <p:sldId id="274" r:id="Rf932966a4ea44047"/>
    <p:sldId id="275" r:id="Rb502d72254ac4e87"/>
    <p:sldId id="276" r:id="Rdd1e51930eda4a82"/>
    <p:sldId id="277" r:id="Re0938db30d0a40d1"/>
  </p:sldIdLst>
  <p:sldSz cx="12192000" cy="6858000"/>
  <p:notesSz cx="6858000" cy="9144000"/>
  <p:custShowLst>
    <p:custShow name="Core teaching" id="1">
      <p:sldLst>
        <p:sld r:id="Rfe165df2accc4a4c"/>
        <p:sld r:id="R6d3b592fba744581"/>
        <p:sld r:id="Ra23e2d3cafb34c5a"/>
        <p:sld r:id="Rbf97d30302664852"/>
        <p:sld r:id="Rfe19d4f7b7ab415c"/>
        <p:sld r:id="R2254a4497b104971"/>
        <p:sld r:id="R05d4c84447034fb3"/>
        <p:sld r:id="Re827085a30144f08"/>
        <p:sld r:id="R7e401a22b72c45a8"/>
        <p:sld r:id="Rd06e008132ca4809"/>
        <p:sld r:id="R642b2c54e0594616"/>
        <p:sld r:id="R7686d4e67a7f4a4a"/>
        <p:sld r:id="R7bf70dc6c4aa4ec2"/>
        <p:sld r:id="R962e5651d99e4657"/>
        <p:sld r:id="Rfbf4906f7b4943cb"/>
        <p:sld r:id="Rd3ecd910ccf34782"/>
        <p:sld r:id="R80615a5e58674426"/>
        <p:sld r:id="R3dae030d59e749c6"/>
        <p:sld r:id="Rf932966a4ea44047"/>
        <p:sld r:id="Rb502d72254ac4e87"/>
      </p:sldLst>
    </p:custShow>
  </p:custShow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6bd2ca8253d4bca" /><Relationship Type="http://schemas.openxmlformats.org/officeDocument/2006/relationships/slideMaster" Target="/ppt/slideMasters/slideMaster1.xml" Id="Rf9683be9189e4f63" /><Relationship Type="http://schemas.openxmlformats.org/officeDocument/2006/relationships/notesMaster" Target="/ppt/notesMasters/notesMaster1.xml" Id="R8452d70a98374a19" /><Relationship Type="http://schemas.openxmlformats.org/officeDocument/2006/relationships/presProps" Target="/ppt/presProps.xml" Id="R80dc99bedb0d41dc" /><Relationship Type="http://schemas.openxmlformats.org/officeDocument/2006/relationships/tableStyles" Target="/ppt/tableStyles.xml" Id="R81f06520467a4381" /><Relationship Type="http://schemas.openxmlformats.org/officeDocument/2006/relationships/slide" Target="/ppt/slides/slide1.xml" Id="Rfe165df2accc4a4c" /><Relationship Type="http://schemas.openxmlformats.org/officeDocument/2006/relationships/slide" Target="/ppt/slides/slide2.xml" Id="R6d3b592fba744581" /><Relationship Type="http://schemas.openxmlformats.org/officeDocument/2006/relationships/slide" Target="/ppt/slides/slide3.xml" Id="Ra23e2d3cafb34c5a" /><Relationship Type="http://schemas.openxmlformats.org/officeDocument/2006/relationships/slide" Target="/ppt/slides/slide4.xml" Id="Rbf97d30302664852" /><Relationship Type="http://schemas.openxmlformats.org/officeDocument/2006/relationships/slide" Target="/ppt/slides/slide5.xml" Id="Rfe19d4f7b7ab415c" /><Relationship Type="http://schemas.openxmlformats.org/officeDocument/2006/relationships/slide" Target="/ppt/slides/slide6.xml" Id="R2254a4497b104971" /><Relationship Type="http://schemas.openxmlformats.org/officeDocument/2006/relationships/slide" Target="/ppt/slides/slide7.xml" Id="R05d4c84447034fb3" /><Relationship Type="http://schemas.openxmlformats.org/officeDocument/2006/relationships/slide" Target="/ppt/slides/slide8.xml" Id="Re827085a30144f08" /><Relationship Type="http://schemas.openxmlformats.org/officeDocument/2006/relationships/slide" Target="/ppt/slides/slide9.xml" Id="R7e401a22b72c45a8" /><Relationship Type="http://schemas.openxmlformats.org/officeDocument/2006/relationships/slide" Target="/ppt/slides/slide10.xml" Id="Rd06e008132ca4809" /><Relationship Type="http://schemas.openxmlformats.org/officeDocument/2006/relationships/slide" Target="/ppt/slides/slide11.xml" Id="R642b2c54e0594616" /><Relationship Type="http://schemas.openxmlformats.org/officeDocument/2006/relationships/slide" Target="/ppt/slides/slide12.xml" Id="R7686d4e67a7f4a4a" /><Relationship Type="http://schemas.openxmlformats.org/officeDocument/2006/relationships/slide" Target="/ppt/slides/slide13.xml" Id="R7bf70dc6c4aa4ec2" /><Relationship Type="http://schemas.openxmlformats.org/officeDocument/2006/relationships/slide" Target="/ppt/slides/slide14.xml" Id="R962e5651d99e4657" /><Relationship Type="http://schemas.openxmlformats.org/officeDocument/2006/relationships/slide" Target="/ppt/slides/slide15.xml" Id="Rfbf4906f7b4943cb" /><Relationship Type="http://schemas.openxmlformats.org/officeDocument/2006/relationships/slide" Target="/ppt/slides/slide16.xml" Id="Rd3ecd910ccf34782" /><Relationship Type="http://schemas.openxmlformats.org/officeDocument/2006/relationships/slide" Target="/ppt/slides/slide17.xml" Id="R80615a5e58674426" /><Relationship Type="http://schemas.openxmlformats.org/officeDocument/2006/relationships/slide" Target="/ppt/slides/slide18.xml" Id="R3dae030d59e749c6" /><Relationship Type="http://schemas.openxmlformats.org/officeDocument/2006/relationships/slide" Target="/ppt/slides/slide19.xml" Id="Rf932966a4ea44047" /><Relationship Type="http://schemas.openxmlformats.org/officeDocument/2006/relationships/slide" Target="/ppt/slides/slide20.xml" Id="Rb502d72254ac4e87" /><Relationship Type="http://schemas.openxmlformats.org/officeDocument/2006/relationships/slide" Target="/ppt/slides/slide21.xml" Id="Rdd1e51930eda4a82" /><Relationship Type="http://schemas.openxmlformats.org/officeDocument/2006/relationships/slide" Target="/ppt/slides/slide22.xml" Id="Re0938db30d0a40d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3b5194f4f21481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62867f5cae2469f" /><Relationship Type="http://schemas.openxmlformats.org/officeDocument/2006/relationships/notesMaster" Target="/ppt/notesMasters/notesMaster1.xml" Id="R265552313e3f4f6f" /></Relationships>
</file>

<file path=ppt/notesSlides/_rels/notesSlide2.xml.rels>&#65279;<?xml version="1.0" encoding="utf-8"?><Relationships xmlns="http://schemas.openxmlformats.org/package/2006/relationships"><Relationship Type="http://schemas.openxmlformats.org/officeDocument/2006/relationships/slide" Target="/ppt/slides/slide2.xml" Id="R8ec22f6d3c0b49f3" /><Relationship Type="http://schemas.openxmlformats.org/officeDocument/2006/relationships/notesMaster" Target="/ppt/notesMasters/notesMaster1.xml" Id="Rd421a617486944c5" /></Relationships>
</file>

<file path=ppt/notesSlides/_rels/notesSlide3.xml.rels>&#65279;<?xml version="1.0" encoding="utf-8"?><Relationships xmlns="http://schemas.openxmlformats.org/package/2006/relationships"><Relationship Type="http://schemas.openxmlformats.org/officeDocument/2006/relationships/slide" Target="/ppt/slides/slide3.xml" Id="R6a99376f8ae24a81" /><Relationship Type="http://schemas.openxmlformats.org/officeDocument/2006/relationships/notesMaster" Target="/ppt/notesMasters/notesMaster1.xml" Id="R3692ea86e5ca4dba" /></Relationships>
</file>

<file path=ppt/notesSlides/_rels/notesSlide4.xml.rels>&#65279;<?xml version="1.0" encoding="utf-8"?><Relationships xmlns="http://schemas.openxmlformats.org/package/2006/relationships"><Relationship Type="http://schemas.openxmlformats.org/officeDocument/2006/relationships/slide" Target="/ppt/slides/slide4.xml" Id="Rf4fa8d5a01d44437" /><Relationship Type="http://schemas.openxmlformats.org/officeDocument/2006/relationships/notesMaster" Target="/ppt/notesMasters/notesMaster1.xml" Id="Rb9cd7e4dafe14891" /></Relationships>
</file>

<file path=ppt/notesSlides/_rels/notesSlide5.xml.rels>&#65279;<?xml version="1.0" encoding="utf-8"?><Relationships xmlns="http://schemas.openxmlformats.org/package/2006/relationships"><Relationship Type="http://schemas.openxmlformats.org/officeDocument/2006/relationships/slide" Target="/ppt/slides/slide5.xml" Id="R3ad4082108e3423e" /><Relationship Type="http://schemas.openxmlformats.org/officeDocument/2006/relationships/notesMaster" Target="/ppt/notesMasters/notesMaster1.xml" Id="R070653c777fc4916" /></Relationships>
</file>

<file path=ppt/notesSlides/_rels/notesSlide6.xml.rels>&#65279;<?xml version="1.0" encoding="utf-8"?><Relationships xmlns="http://schemas.openxmlformats.org/package/2006/relationships"><Relationship Type="http://schemas.openxmlformats.org/officeDocument/2006/relationships/slide" Target="/ppt/slides/slide6.xml" Id="Ree67aa705d3a468c" /><Relationship Type="http://schemas.openxmlformats.org/officeDocument/2006/relationships/notesMaster" Target="/ppt/notesMasters/notesMaster1.xml" Id="Rd391c2e01a7d4e80" /></Relationships>
</file>

<file path=ppt/notesSlides/_rels/notesSlide7.xml.rels>&#65279;<?xml version="1.0" encoding="utf-8"?><Relationships xmlns="http://schemas.openxmlformats.org/package/2006/relationships"><Relationship Type="http://schemas.openxmlformats.org/officeDocument/2006/relationships/slide" Target="/ppt/slides/slide7.xml" Id="R53abcbae6ef34e63" /><Relationship Type="http://schemas.openxmlformats.org/officeDocument/2006/relationships/notesMaster" Target="/ppt/notesMasters/notesMaster1.xml" Id="R6c2b0be4f71f430b" /></Relationships>
</file>

<file path=ppt/notesSlides/_rels/notesSlide8.xml.rels>&#65279;<?xml version="1.0" encoding="utf-8"?><Relationships xmlns="http://schemas.openxmlformats.org/package/2006/relationships"><Relationship Type="http://schemas.openxmlformats.org/officeDocument/2006/relationships/slide" Target="/ppt/slides/slide8.xml" Id="R67f6331ac8fd4924" /><Relationship Type="http://schemas.openxmlformats.org/officeDocument/2006/relationships/notesMaster" Target="/ppt/notesMasters/notesMaster1.xml" Id="R9d868bcd5bae46b1" /></Relationships>
</file>

<file path=ppt/notesSlides/_rels/notesSlide9.xml.rels>&#65279;<?xml version="1.0" encoding="utf-8"?><Relationships xmlns="http://schemas.openxmlformats.org/package/2006/relationships"><Relationship Type="http://schemas.openxmlformats.org/officeDocument/2006/relationships/slide" Target="/ppt/slides/slide9.xml" Id="Rdab4a13c777b42b8" /><Relationship Type="http://schemas.openxmlformats.org/officeDocument/2006/relationships/notesMaster" Target="/ppt/notesMasters/notesMaster1.xml" Id="R08d2d5f7f041419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8a00976bc4a4a6e" /><Relationship Type="http://schemas.openxmlformats.org/officeDocument/2006/relationships/notesMaster" Target="/ppt/notesMasters/notesMaster1.xml" Id="R8737ec565720477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8439ed2910f4760" /><Relationship Type="http://schemas.openxmlformats.org/officeDocument/2006/relationships/notesMaster" Target="/ppt/notesMasters/notesMaster1.xml" Id="Rf5e04d61ac1c4d9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9e7ea648b6941ad" /><Relationship Type="http://schemas.openxmlformats.org/officeDocument/2006/relationships/notesMaster" Target="/ppt/notesMasters/notesMaster1.xml" Id="R2fe8bc71ca23410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6be97f15a26421f" /><Relationship Type="http://schemas.openxmlformats.org/officeDocument/2006/relationships/notesMaster" Target="/ppt/notesMasters/notesMaster1.xml" Id="R977c602add40403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6e633807cbd4e68" /><Relationship Type="http://schemas.openxmlformats.org/officeDocument/2006/relationships/notesMaster" Target="/ppt/notesMasters/notesMaster1.xml" Id="R8ccb2fa2312c48f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c4b24cbd10b483b" /><Relationship Type="http://schemas.openxmlformats.org/officeDocument/2006/relationships/notesMaster" Target="/ppt/notesMasters/notesMaster1.xml" Id="R1824bef2b439463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ec05a5055394ad2" /><Relationship Type="http://schemas.openxmlformats.org/officeDocument/2006/relationships/notesMaster" Target="/ppt/notesMasters/notesMaster1.xml" Id="R593bab3a461d4a1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357c4e8d6af4a37" /><Relationship Type="http://schemas.openxmlformats.org/officeDocument/2006/relationships/notesMaster" Target="/ppt/notesMasters/notesMaster1.xml" Id="R0dd5c7f8c13b422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ff948dfa415418a" /><Relationship Type="http://schemas.openxmlformats.org/officeDocument/2006/relationships/notesMaster" Target="/ppt/notesMasters/notesMaster1.xml" Id="R57d39b4a55c8437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6ccd6dd4edc4212" /><Relationship Type="http://schemas.openxmlformats.org/officeDocument/2006/relationships/notesMaster" Target="/ppt/notesMasters/notesMaster1.xml" Id="R45080d2adcf94c1f"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8efd5451f074979" /><Relationship Type="http://schemas.openxmlformats.org/officeDocument/2006/relationships/notesMaster" Target="/ppt/notesMasters/notesMaster1.xml" Id="Re7cb2eff368141b6"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df7ffc7a52e04b9b" /><Relationship Type="http://schemas.openxmlformats.org/officeDocument/2006/relationships/notesMaster" Target="/ppt/notesMasters/notesMaster1.xml" Id="Reccd453714f94652"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263d3842efe64068" /><Relationship Type="http://schemas.openxmlformats.org/officeDocument/2006/relationships/notesMaster" Target="/ppt/notesMasters/notesMaster1.xml" Id="R5af1f4bb4ac940e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How do we turn a legal question into a verified, appropriately limited memo?</a:t>
            </a:r>
          </a:p>
          <a:p xmlns:a="http://schemas.openxmlformats.org/drawingml/2006/main">
            <a:r>
              <a:t/>
            </a:r>
          </a:p>
          <a:p xmlns:a="http://schemas.openxmlformats.org/drawingml/2006/main">
            <a:r>
              <a:t>I will explain: I will ask: A retrieved passage has a valid citation. What remains before advice? I will record the learner’s explanation before showing the answer. Read it, verify authority/version and assess whether it supports the proposition and facts.</a:t>
            </a:r>
          </a:p>
          <a:p xmlns:a="http://schemas.openxmlformats.org/drawingml/2006/main">
            <a:r>
              <a:t/>
            </a:r>
          </a:p>
          <a:p xmlns:a="http://schemas.openxmlformats.org/drawingml/2006/main">
            <a:r>
              <a:t>Ask: A retrieved passage has a valid citation. What remains before advice?</a:t>
            </a:r>
          </a:p>
          <a:p xmlns:a="http://schemas.openxmlformats.org/drawingml/2006/main">
            <a:r>
              <a:t/>
            </a:r>
          </a:p>
          <a:p xmlns:a="http://schemas.openxmlformats.org/drawingml/2006/main">
            <a:r>
              <a:t>Expected answer: Read it, verify authority/version and assess whether it supports the proposition and facts.</a:t>
            </a:r>
          </a:p>
          <a:p xmlns:a="http://schemas.openxmlformats.org/drawingml/2006/main">
            <a:r>
              <a:t/>
            </a:r>
          </a:p>
          <a:p xmlns:a="http://schemas.openxmlformats.org/drawingml/2006/main">
            <a:r>
              <a:t>If partly correct: Likely confusion: A submission is the court’s finding. I will clarify: Read Ground5 and the disposition in the original judgment; label each speaker. Then return to this slide’s question: A retrieved passage has a valid citation. What remains before advice? A supported answer should establish: Read it, verify authority/version and assess whether it supports the proposition and facts.</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Recall retrieval limits.</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How do we turn a legal question into a verified, appropriately limited memo?</a:t>
            </a:r>
          </a:p>
          <a:p xmlns:a="http://schemas.openxmlformats.org/drawingml/2006/main">
            <a:r>
              <a:t/>
            </a:r>
          </a:p>
          <a:p xmlns:a="http://schemas.openxmlformats.org/drawingml/2006/main">
            <a:r>
              <a:t>I will explain: Ask without showing the prior result. Read it, verify authority/version and assess whether it supports the proposition and facts. Invite a reason, then connect the answer to today’s question.</a:t>
            </a:r>
          </a:p>
          <a:p xmlns:a="http://schemas.openxmlformats.org/drawingml/2006/main">
            <a:r>
              <a:t/>
            </a:r>
          </a:p>
          <a:p xmlns:a="http://schemas.openxmlformats.org/drawingml/2006/main">
            <a:r>
              <a:t>Ask: A retrieved passage has a valid citation. What remains before advice?</a:t>
            </a:r>
          </a:p>
          <a:p xmlns:a="http://schemas.openxmlformats.org/drawingml/2006/main">
            <a:r>
              <a:t/>
            </a:r>
          </a:p>
          <a:p xmlns:a="http://schemas.openxmlformats.org/drawingml/2006/main">
            <a:r>
              <a:t>Expected answer: Read it, verify authority/version and assess whether it supports the proposition and facts.</a:t>
            </a:r>
          </a:p>
          <a:p xmlns:a="http://schemas.openxmlformats.org/drawingml/2006/main">
            <a:r>
              <a:t/>
            </a:r>
          </a:p>
          <a:p xmlns:a="http://schemas.openxmlformats.org/drawingml/2006/main">
            <a:r>
              <a:t>If partly correct: Likely confusion: A section number is enough. I will clarify: Compare the two edition references and record Act, edition, date and proposition. Then return to this slide’s question: A retrieved passage has a valid citation. What remains before advice? A supported answer should establish: Read it, verify authority/version and assess whether it supports the proposition and facts.</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The research question.</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How do we turn a legal question into a verified, appropriately limited memo?</a:t>
            </a:r>
          </a:p>
          <a:p xmlns:a="http://schemas.openxmlformats.org/drawingml/2006/main">
            <a:r>
              <a:t/>
            </a:r>
          </a:p>
          <a:p xmlns:a="http://schemas.openxmlformats.org/drawingml/2006/main">
            <a:r>
              <a:t>I will explain: The public decision concerns different parties and historical periods. Use it to practise extracting a holding, then list the missing facts for a proposed support arrangement; do not infer a tax outcome from the reorganisation label.</a:t>
            </a:r>
          </a:p>
          <a:p xmlns:a="http://schemas.openxmlformats.org/drawingml/2006/main">
            <a:r>
              <a:t/>
            </a:r>
          </a:p>
          <a:p xmlns:a="http://schemas.openxmlformats.org/drawingml/2006/main">
            <a:r>
              <a:t>Ask: What would make the question researchable?</a:t>
            </a:r>
          </a:p>
          <a:p xmlns:a="http://schemas.openxmlformats.org/drawingml/2006/main">
            <a:r>
              <a:t/>
            </a:r>
          </a:p>
          <a:p xmlns:a="http://schemas.openxmlformats.org/drawingml/2006/main">
            <a:r>
              <a:t>Expected answer: A defined issue, jurisdiction, relevant date, facts and intended output.</a:t>
            </a:r>
          </a:p>
          <a:p xmlns:a="http://schemas.openxmlformats.org/drawingml/2006/main">
            <a:r>
              <a:t/>
            </a:r>
          </a:p>
          <a:p xmlns:a="http://schemas.openxmlformats.org/drawingml/2006/main">
            <a:r>
              <a:t>If partly correct: Likely confusion: The historical case decides Victoria’s facts. I will clarify: List the different parties, periods, service terms and current-law questions. Then return to this slide’s question: What would make the question researchable? A supported answer should establish: A defined issue, jurisdiction, relevant date, facts and intended output.</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A research plan before a report.</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How do we turn a legal question into a verified, appropriately limited memo?</a:t>
            </a:r>
          </a:p>
          <a:p xmlns:a="http://schemas.openxmlformats.org/drawingml/2006/main">
            <a:r>
              <a:t/>
            </a:r>
          </a:p>
          <a:p xmlns:a="http://schemas.openxmlformats.org/drawingml/2006/main">
            <a:r>
              <a:t>I will explain: A deep-research tool may plan searches, inspect results and revise its approach. The quality test remains relevance and support, not report length.</a:t>
            </a:r>
          </a:p>
          <a:p xmlns:a="http://schemas.openxmlformats.org/drawingml/2006/main">
            <a:r>
              <a:t/>
            </a:r>
          </a:p>
          <a:p xmlns:a="http://schemas.openxmlformats.org/drawingml/2006/main">
            <a:r>
              <a:t>Ask: What should we do before accepting its research plan?</a:t>
            </a:r>
          </a:p>
          <a:p xmlns:a="http://schemas.openxmlformats.org/drawingml/2006/main">
            <a:r>
              <a:t/>
            </a:r>
          </a:p>
          <a:p xmlns:a="http://schemas.openxmlformats.org/drawingml/2006/main">
            <a:r>
              <a:t>Expected answer: Check scope and whether it omits the decisive legal issue.</a:t>
            </a:r>
          </a:p>
          <a:p xmlns:a="http://schemas.openxmlformats.org/drawingml/2006/main">
            <a:r>
              <a:t/>
            </a:r>
          </a:p>
          <a:p xmlns:a="http://schemas.openxmlformats.org/drawingml/2006/main">
            <a:r>
              <a:t>If partly correct: Likely confusion: A submission is the court’s finding. I will clarify: Read Ground5 and the disposition in the original judgment; label each speaker. Then return to this slide’s question: What should we do before accepting its research plan? A supported answer should establish: Check scope and whether it omits the decisive legal issue.</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Sources and their roles.</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How do we turn a legal question into a verified, appropriately limited memo?</a:t>
            </a:r>
          </a:p>
          <a:p xmlns:a="http://schemas.openxmlformats.org/drawingml/2006/main">
            <a:r>
              <a:t/>
            </a:r>
          </a:p>
          <a:p xmlns:a="http://schemas.openxmlformats.org/drawingml/2006/main">
            <a:r>
              <a:t>I will explain: This is a source-role framework rather than a complete jurisdictional hierarchy. A qualified lawyer assesses binding effect and subsequent treatment.</a:t>
            </a:r>
          </a:p>
          <a:p xmlns:a="http://schemas.openxmlformats.org/drawingml/2006/main">
            <a:r>
              <a:t/>
            </a:r>
          </a:p>
          <a:p xmlns:a="http://schemas.openxmlformats.org/drawingml/2006/main">
            <a:r>
              <a:t>Ask: Can a vendor summary substitute for reading the judgment?</a:t>
            </a:r>
          </a:p>
          <a:p xmlns:a="http://schemas.openxmlformats.org/drawingml/2006/main">
            <a:r>
              <a:t/>
            </a:r>
          </a:p>
          <a:p xmlns:a="http://schemas.openxmlformats.org/drawingml/2006/main">
            <a:r>
              <a:t>Expected answer: No. Use it as a lead and verify the relevant authority.</a:t>
            </a:r>
          </a:p>
          <a:p xmlns:a="http://schemas.openxmlformats.org/drawingml/2006/main">
            <a:r>
              <a:t/>
            </a:r>
          </a:p>
          <a:p xmlns:a="http://schemas.openxmlformats.org/drawingml/2006/main">
            <a:r>
              <a:t>If partly correct: Likely confusion: A section number is enough. I will clarify: Compare the two edition references and record Act, edition, date and proposition. Then return to this slide’s question: Can a vendor summary substitute for reading the judgment? A supported answer should establish: No. Use it as a lead and verify the relevant authority.</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A real public authority to inspect.</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https://ulii.org/ https://ura.go.ug/en/domestic-taxes/returns/</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How do we turn a legal question into a verified, appropriately limited memo?</a:t>
            </a:r>
          </a:p>
          <a:p xmlns:a="http://schemas.openxmlformats.org/drawingml/2006/main">
            <a:r>
              <a:t/>
            </a:r>
          </a:p>
          <a:p xmlns:a="http://schemas.openxmlformats.org/drawingml/2006/main">
            <a:r>
              <a:t>I will explain: Open the source. Verify the title, court and date from the judgment itself. Do not assume that tax relevance establishes applicability to Victoria’s unrelated facts. We identify source structure before extracting a legal proposition. Read the court’s treatment under Ground 5 and its final disposition. The claim register records the precise source rather than only a search summary.</a:t>
            </a:r>
          </a:p>
          <a:p xmlns:a="http://schemas.openxmlformats.org/drawingml/2006/main">
            <a:r>
              <a:t/>
            </a:r>
          </a:p>
          <a:p xmlns:a="http://schemas.openxmlformats.org/drawingml/2006/main">
            <a:r>
              <a:t>Ask: What would we check before applying it?</a:t>
            </a:r>
          </a:p>
          <a:p xmlns:a="http://schemas.openxmlformats.org/drawingml/2006/main">
            <a:r>
              <a:t/>
            </a:r>
          </a:p>
          <a:p xmlns:a="http://schemas.openxmlformats.org/drawingml/2006/main">
            <a:r>
              <a:t>Expected answer: The issue, material facts, holding, court, subsequent treatment and fit to our question.</a:t>
            </a:r>
          </a:p>
          <a:p xmlns:a="http://schemas.openxmlformats.org/drawingml/2006/main">
            <a:r>
              <a:t/>
            </a:r>
          </a:p>
          <a:p xmlns:a="http://schemas.openxmlformats.org/drawingml/2006/main">
            <a:r>
              <a:t>If partly correct: Likely confusion: The historical case decides Victoria’s facts. I will clarify: List the different parties, periods, service terms and current-law questions. Then return to this slide’s question: What would we check before applying it? A supported answer should establish: The issue, material facts, holding, court, subsequent treatment and fit to our question.</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Reading a judgment with AI.</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https://ulii.org/en/akn/ug/judgment/ugcommc/2024/272/eng%402024-08-19</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How do we turn a legal question into a verified, appropriately limited memo?</a:t>
            </a:r>
          </a:p>
          <a:p xmlns:a="http://schemas.openxmlformats.org/drawingml/2006/main">
            <a:r>
              <a:t/>
            </a:r>
          </a:p>
          <a:p xmlns:a="http://schemas.openxmlformats.org/drawingml/2006/main">
            <a:r>
              <a:t>I will explain: An AI summary can mistakenly report a party’s argument as the court’s conclusion. Ask for paragraph or page references and read the full surrounding text.</a:t>
            </a:r>
          </a:p>
          <a:p xmlns:a="http://schemas.openxmlformats.org/drawingml/2006/main">
            <a:r>
              <a:t/>
            </a:r>
          </a:p>
          <a:p xmlns:a="http://schemas.openxmlformats.org/drawingml/2006/main">
            <a:r>
              <a:t>Ask: Where can a summary reverse the meaning?</a:t>
            </a:r>
          </a:p>
          <a:p xmlns:a="http://schemas.openxmlformats.org/drawingml/2006/main">
            <a:r>
              <a:t/>
            </a:r>
          </a:p>
          <a:p xmlns:a="http://schemas.openxmlformats.org/drawingml/2006/main">
            <a:r>
              <a:t>Expected answer: At attribution, procedural history, qualifications or the final disposition.</a:t>
            </a:r>
          </a:p>
          <a:p xmlns:a="http://schemas.openxmlformats.org/drawingml/2006/main">
            <a:r>
              <a:t/>
            </a:r>
          </a:p>
          <a:p xmlns:a="http://schemas.openxmlformats.org/drawingml/2006/main">
            <a:r>
              <a:t>If partly correct: Likely confusion: A submission is the court’s finding. I will clarify: Read Ground5 and the disposition in the original judgment; label each speaker. Then return to this slide’s question: Where can a summary reverse the meaning? A supported answer should establish: At attribution, procedural history, qualifications or the final disposition.</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Submission and finding.</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How do we turn a legal question into a verified, appropriately limited memo?</a:t>
            </a:r>
          </a:p>
          <a:p xmlns:a="http://schemas.openxmlformats.org/drawingml/2006/main">
            <a:r>
              <a:t/>
            </a:r>
          </a:p>
          <a:p xmlns:a="http://schemas.openxmlformats.org/drawingml/2006/main">
            <a:r>
              <a:t>I will explain: Use a short passage located live in the actual judgment. If the source is unavailable, use the prepared fictional attribution exercise and label it. Do not invent an actual holding.</a:t>
            </a:r>
          </a:p>
          <a:p xmlns:a="http://schemas.openxmlformats.org/drawingml/2006/main">
            <a:r>
              <a:t/>
            </a:r>
          </a:p>
          <a:p xmlns:a="http://schemas.openxmlformats.org/drawingml/2006/main">
            <a:r>
              <a:t>Ask: What must the memo label accurately?</a:t>
            </a:r>
          </a:p>
          <a:p xmlns:a="http://schemas.openxmlformats.org/drawingml/2006/main">
            <a:r>
              <a:t/>
            </a:r>
          </a:p>
          <a:p xmlns:a="http://schemas.openxmlformats.org/drawingml/2006/main">
            <a:r>
              <a:t>Expected answer: Who said the proposition and what legal status it carries.</a:t>
            </a:r>
          </a:p>
          <a:p xmlns:a="http://schemas.openxmlformats.org/drawingml/2006/main">
            <a:r>
              <a:t/>
            </a:r>
          </a:p>
          <a:p xmlns:a="http://schemas.openxmlformats.org/drawingml/2006/main">
            <a:r>
              <a:t>If partly correct: Likely confusion: A section number is enough. I will clarify: Compare the two edition references and record Act, edition, date and proposition. Then return to this slide’s question: What must the memo label accurately? A supported answer should establish: Who said the proposition and what legal status it carries.</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Legislation at the relevant time.</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How do we turn a legal question into a verified, appropriately limited memo?</a:t>
            </a:r>
          </a:p>
          <a:p xmlns:a="http://schemas.openxmlformats.org/drawingml/2006/main">
            <a:r>
              <a:t/>
            </a:r>
          </a:p>
          <a:p xmlns:a="http://schemas.openxmlformats.org/drawingml/2006/main">
            <a:r>
              <a:t>I will explain: A current consolidated page may not answer a historical-period question. Explain the difference between publication date, effective date and the date of access.</a:t>
            </a:r>
          </a:p>
          <a:p xmlns:a="http://schemas.openxmlformats.org/drawingml/2006/main">
            <a:r>
              <a:t/>
            </a:r>
          </a:p>
          <a:p xmlns:a="http://schemas.openxmlformats.org/drawingml/2006/main">
            <a:r>
              <a:t>Ask: Which date matters for a September 2026 transaction?</a:t>
            </a:r>
          </a:p>
          <a:p xmlns:a="http://schemas.openxmlformats.org/drawingml/2006/main">
            <a:r>
              <a:t/>
            </a:r>
          </a:p>
          <a:p xmlns:a="http://schemas.openxmlformats.org/drawingml/2006/main">
            <a:r>
              <a:t>Expected answer: The applicable legal position at the relevant time, established through the sources.</a:t>
            </a:r>
          </a:p>
          <a:p xmlns:a="http://schemas.openxmlformats.org/drawingml/2006/main">
            <a:r>
              <a:t/>
            </a:r>
          </a:p>
          <a:p xmlns:a="http://schemas.openxmlformats.org/drawingml/2006/main">
            <a:r>
              <a:t>If partly correct: Likely confusion: The historical case decides Victoria’s facts. I will clarify: List the different parties, periods, service terms and current-law questions. Then return to this slide’s question: Which date matters for a September 2026 transaction? A supported answer should establish: The applicable legal position at the relevant time, established through the sources.</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One proposition, different provision references.</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https://docs.oasis-open.org/legaldocml/akn-core/v1.0/akn-core-v1.0-part1-vocabulary.html https://ulii.org/</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How do we turn a legal question into a verified, appropriately limited memo?</a:t>
            </a:r>
          </a:p>
          <a:p xmlns:a="http://schemas.openxmlformats.org/drawingml/2006/main">
            <a:r>
              <a:t/>
            </a:r>
          </a:p>
          <a:p xmlns:a="http://schemas.openxmlformats.org/drawingml/2006/main">
            <a:r>
              <a:t>I will explain: The original Goal Relief PDF at printed page 3, lines 24–27 cites section 27(2). K-Files at printed page 6, lines 8–11 expressly uses section 28(2) in the 2023 Revised Edition. These are verified differing references. Do not assume that different numbers alone prove renumbering: check the actual statutory editions and any citation error before advising.</a:t>
            </a:r>
          </a:p>
          <a:p xmlns:a="http://schemas.openxmlformats.org/drawingml/2006/main">
            <a:r>
              <a:t/>
            </a:r>
          </a:p>
          <a:p xmlns:a="http://schemas.openxmlformats.org/drawingml/2006/main">
            <a:r>
              <a:t>Ask: What remains to check before using this proposition in current advice?</a:t>
            </a:r>
          </a:p>
          <a:p xmlns:a="http://schemas.openxmlformats.org/drawingml/2006/main">
            <a:r>
              <a:t/>
            </a:r>
          </a:p>
          <a:p xmlns:a="http://schemas.openxmlformats.org/drawingml/2006/main">
            <a:r>
              <a:t>Expected answer: The applicable current legislation, appellate treatment and facts. A pinpoint supports the proposition in this judgment, not automatic applicability.</a:t>
            </a:r>
          </a:p>
          <a:p xmlns:a="http://schemas.openxmlformats.org/drawingml/2006/main">
            <a:r>
              <a:t/>
            </a:r>
          </a:p>
          <a:p xmlns:a="http://schemas.openxmlformats.org/drawingml/2006/main">
            <a:r>
              <a:t>If partly correct: Likely confusion: A submission is the court’s finding. I will clarify: Read Ground5 and the disposition in the original judgment; label each speaker. Then return to this slide’s question: What remains to check before using this proposition in current advice? A supported answer should establish: The applicable current legislation, appellate treatment and facts. A pinpoint supports the proposition in this judgment, not automatic applicability.</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A deep-research cycle.</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https://ulii.org/en/akn/ug/judgment/ugcommc/2024/272/eng%402024-08-19 https://tat.go.ug/download/uganda-revenue-authority-v-k-files-limited-civil-appeal-no-0028-of-2022-11th-october-2024/?wpdmdl=3096 https://ulii.org/en/akn/ug/act/1997/12/eng%402023-12-31</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How do we turn a legal question into a verified, appropriately limited memo?</a:t>
            </a:r>
          </a:p>
          <a:p xmlns:a="http://schemas.openxmlformats.org/drawingml/2006/main">
            <a:r>
              <a:t/>
            </a:r>
          </a:p>
          <a:p xmlns:a="http://schemas.openxmlformats.org/drawingml/2006/main">
            <a:r>
              <a:t>I will explain: The system can repeat the cycle when a source reveals a new question. The person checks scope and authority. Deep research is a product mode and workflow pattern, not a guarantee of exhaustive or correct research.</a:t>
            </a:r>
          </a:p>
          <a:p xmlns:a="http://schemas.openxmlformats.org/drawingml/2006/main">
            <a:r>
              <a:t/>
            </a:r>
          </a:p>
          <a:p xmlns:a="http://schemas.openxmlformats.org/drawingml/2006/main">
            <a:r>
              <a:t>Ask: What would trigger another search?</a:t>
            </a:r>
          </a:p>
          <a:p xmlns:a="http://schemas.openxmlformats.org/drawingml/2006/main">
            <a:r>
              <a:t/>
            </a:r>
          </a:p>
          <a:p xmlns:a="http://schemas.openxmlformats.org/drawingml/2006/main">
            <a:r>
              <a:t>Expected answer: A missing authority, conflicting proposition or question about currency.</a:t>
            </a:r>
          </a:p>
          <a:p xmlns:a="http://schemas.openxmlformats.org/drawingml/2006/main">
            <a:r>
              <a:t/>
            </a:r>
          </a:p>
          <a:p xmlns:a="http://schemas.openxmlformats.org/drawingml/2006/main">
            <a:r>
              <a:t>If partly correct: Likely confusion: A section number is enough. I will clarify: Compare the two edition references and record Act, edition, date and proposition. Then return to this slide’s question: What would trigger another search? A supported answer should establish: A missing authority, conflicting proposition or question about currency.</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The report is not the evidence.</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https://help.alpha-sense.com/hc/en-us/articles/42391092171795-Deep-Research-Conduct-In-Depth-Multi-Step-Research-Autonomously</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4 native click reveals. Advance each stage and ask about the relationship it adds.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How do we turn a legal question into a verified, appropriately limited memo?</a:t>
            </a:r>
          </a:p>
          <a:p xmlns:a="http://schemas.openxmlformats.org/drawingml/2006/main">
            <a:r>
              <a:t/>
            </a:r>
          </a:p>
          <a:p xmlns:a="http://schemas.openxmlformats.org/drawingml/2006/main">
            <a:r>
              <a:t>I will explain: A functioning link can support a different proposition or quote a submission. Require claim-level verification before using the memo.</a:t>
            </a:r>
          </a:p>
          <a:p xmlns:a="http://schemas.openxmlformats.org/drawingml/2006/main">
            <a:r>
              <a:t/>
            </a:r>
          </a:p>
          <a:p xmlns:a="http://schemas.openxmlformats.org/drawingml/2006/main">
            <a:r>
              <a:t>Ask: What if a citation is genuine but irrelevant?</a:t>
            </a:r>
          </a:p>
          <a:p xmlns:a="http://schemas.openxmlformats.org/drawingml/2006/main">
            <a:r>
              <a:t/>
            </a:r>
          </a:p>
          <a:p xmlns:a="http://schemas.openxmlformats.org/drawingml/2006/main">
            <a:r>
              <a:t>Expected answer: Correct or remove the claim and continue the research.</a:t>
            </a:r>
          </a:p>
          <a:p xmlns:a="http://schemas.openxmlformats.org/drawingml/2006/main">
            <a:r>
              <a:t/>
            </a:r>
          </a:p>
          <a:p xmlns:a="http://schemas.openxmlformats.org/drawingml/2006/main">
            <a:r>
              <a:t>If partly correct: Likely confusion: The historical case decides Victoria’s facts. I will clarify: List the different parties, periods, service terms and current-law questions. Then return to this slide’s question: What if a citation is genuine but irrelevant? A supported answer should establish: Correct or remove the claim and continue the research.</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A deliberately flawed research note.</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https://dho.stanford.edu/wp-content/uploads/Legal_RAG_Hallucinations.pdf</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How do we turn a legal question into a verified, appropriately limited memo?</a:t>
            </a:r>
          </a:p>
          <a:p xmlns:a="http://schemas.openxmlformats.org/drawingml/2006/main">
            <a:r>
              <a:t/>
            </a:r>
          </a:p>
          <a:p xmlns:a="http://schemas.openxmlformats.org/drawingml/2006/main">
            <a:r>
              <a:t>I will explain: Open Flawed Research Note.txt. The statement is deliberately invented for the checking exercise. Ask for the missing authority and facts. Never place a fabricated neutral citation in a learner-facing source list as if genuine.</a:t>
            </a:r>
          </a:p>
          <a:p xmlns:a="http://schemas.openxmlformats.org/drawingml/2006/main">
            <a:r>
              <a:t/>
            </a:r>
          </a:p>
          <a:p xmlns:a="http://schemas.openxmlformats.org/drawingml/2006/main">
            <a:r>
              <a:t>Ask: What should the corrected note say?</a:t>
            </a:r>
          </a:p>
          <a:p xmlns:a="http://schemas.openxmlformats.org/drawingml/2006/main">
            <a:r>
              <a:t/>
            </a:r>
          </a:p>
          <a:p xmlns:a="http://schemas.openxmlformats.org/drawingml/2006/main">
            <a:r>
              <a:t>Expected answer: The materials do not establish a blanket exemption. Define and research the specific obligations.</a:t>
            </a:r>
          </a:p>
          <a:p xmlns:a="http://schemas.openxmlformats.org/drawingml/2006/main">
            <a:r>
              <a:t/>
            </a:r>
          </a:p>
          <a:p xmlns:a="http://schemas.openxmlformats.org/drawingml/2006/main">
            <a:r>
              <a:t>If partly correct: Likely confusion: A submission is the court’s finding. I will clarify: Read Ground5 and the disposition in the original judgment; label each speaker. Then return to this slide’s question: What should the corrected note say? A supported answer should establish: The materials do not establish a blanket exemption. Define and research the specific obligations.</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Confidential facts in a search query.</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How do we turn a legal question into a verified, appropriately limited memo?</a:t>
            </a:r>
          </a:p>
          <a:p xmlns:a="http://schemas.openxmlformats.org/drawingml/2006/main">
            <a:r>
              <a:t/>
            </a:r>
          </a:p>
          <a:p xmlns:a="http://schemas.openxmlformats.org/drawingml/2006/main">
            <a:r>
              <a:t>I will explain: Even if no document is uploaded, a query can reveal a matter. Discuss how to frame a public issue without unnecessary identifiers.</a:t>
            </a:r>
          </a:p>
          <a:p xmlns:a="http://schemas.openxmlformats.org/drawingml/2006/main">
            <a:r>
              <a:t/>
            </a:r>
          </a:p>
          <a:p xmlns:a="http://schemas.openxmlformats.org/drawingml/2006/main">
            <a:r>
              <a:t>Ask: Would removing a company name always anonymise the facts?</a:t>
            </a:r>
          </a:p>
          <a:p xmlns:a="http://schemas.openxmlformats.org/drawingml/2006/main">
            <a:r>
              <a:t/>
            </a:r>
          </a:p>
          <a:p xmlns:a="http://schemas.openxmlformats.org/drawingml/2006/main">
            <a:r>
              <a:t>Expected answer: No. A distinctive fact pattern can still identify a client.</a:t>
            </a:r>
          </a:p>
          <a:p xmlns:a="http://schemas.openxmlformats.org/drawingml/2006/main">
            <a:r>
              <a:t/>
            </a:r>
          </a:p>
          <a:p xmlns:a="http://schemas.openxmlformats.org/drawingml/2006/main">
            <a:r>
              <a:t>If partly correct: Likely confusion: A section number is enough. I will clarify: Compare the two edition references and record Act, edition, date and proposition. Then return to this slide’s question: Would removing a company name always anonymise the facts? A supported answer should establish: No. A distinctive fact pattern can still identify a client.</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A concise memo structure.</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https://pdpo.go.ug/knowledge-center</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How do we turn a legal question into a verified, appropriately limited memo?</a:t>
            </a:r>
          </a:p>
          <a:p xmlns:a="http://schemas.openxmlformats.org/drawingml/2006/main">
            <a:r>
              <a:t/>
            </a:r>
          </a:p>
          <a:p xmlns:a="http://schemas.openxmlformats.org/drawingml/2006/main">
            <a:r>
              <a:t>I will explain: Generate a short draft only after establishing a few checked claims. Keep quotations and analysis distinct. Jotham and the learner review it together.</a:t>
            </a:r>
          </a:p>
          <a:p xmlns:a="http://schemas.openxmlformats.org/drawingml/2006/main">
            <a:r>
              <a:t/>
            </a:r>
          </a:p>
          <a:p xmlns:a="http://schemas.openxmlformats.org/drawingml/2006/main">
            <a:r>
              <a:t>Ask: What would you remove from a generic opening?</a:t>
            </a:r>
          </a:p>
          <a:p xmlns:a="http://schemas.openxmlformats.org/drawingml/2006/main">
            <a:r>
              <a:t/>
            </a:r>
          </a:p>
          <a:p xmlns:a="http://schemas.openxmlformats.org/drawingml/2006/main">
            <a:r>
              <a:t>Expected answer: Background prose that does not help answer the defined issue.</a:t>
            </a:r>
          </a:p>
          <a:p xmlns:a="http://schemas.openxmlformats.org/drawingml/2006/main">
            <a:r>
              <a:t/>
            </a:r>
          </a:p>
          <a:p xmlns:a="http://schemas.openxmlformats.org/drawingml/2006/main">
            <a:r>
              <a:t>If partly correct: Likely confusion: The historical case decides Victoria’s facts. I will clarify: List the different parties, periods, service terms and current-law questions. Then return to this slide’s question: What would you remove from a generic opening? A supported answer should establish: Background prose that does not help answer the defined issue.</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A research-quality test.</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How do we turn a legal question into a verified, appropriately limited memo?</a:t>
            </a:r>
          </a:p>
          <a:p xmlns:a="http://schemas.openxmlformats.org/drawingml/2006/main">
            <a:r>
              <a:t/>
            </a:r>
          </a:p>
          <a:p xmlns:a="http://schemas.openxmlformats.org/drawingml/2006/main">
            <a:r>
              <a:t>I will explain: Ask the learner to choose the weakest claim. Make a correction visibly rather than hide it.</a:t>
            </a:r>
          </a:p>
          <a:p xmlns:a="http://schemas.openxmlformats.org/drawingml/2006/main">
            <a:r>
              <a:t/>
            </a:r>
          </a:p>
          <a:p xmlns:a="http://schemas.openxmlformats.org/drawingml/2006/main">
            <a:r>
              <a:t>Ask: What does a useful uncertainty statement do?</a:t>
            </a:r>
          </a:p>
          <a:p xmlns:a="http://schemas.openxmlformats.org/drawingml/2006/main">
            <a:r>
              <a:t/>
            </a:r>
          </a:p>
          <a:p xmlns:a="http://schemas.openxmlformats.org/drawingml/2006/main">
            <a:r>
              <a:t>Expected answer: Identifies the missing evidence and how it could affect the advice.</a:t>
            </a:r>
          </a:p>
          <a:p xmlns:a="http://schemas.openxmlformats.org/drawingml/2006/main">
            <a:r>
              <a:t/>
            </a:r>
          </a:p>
          <a:p xmlns:a="http://schemas.openxmlformats.org/drawingml/2006/main">
            <a:r>
              <a:t>If partly correct: Likely confusion: A submission is the court’s finding. I will clarify: Read Ground5 and the disposition in the original judgment; label each speaker. Then return to this slide’s question: What does a useful uncertainty statement do? A supported answer should establish: Identifies the missing evidence and how it could affect the advice.</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Our in-class work.</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How do we turn a legal question into a verified, appropriately limited memo?</a:t>
            </a:r>
          </a:p>
          <a:p xmlns:a="http://schemas.openxmlformats.org/drawingml/2006/main">
            <a:r>
              <a:t/>
            </a:r>
          </a:p>
          <a:p xmlns:a="http://schemas.openxmlformats.org/drawingml/2006/main">
            <a:r>
              <a:t>I will explain: Use the run-sheet. I demonstrate the first example; the learner predicts, chooses evidence and checks the changed example. Save actual outputs or mark the step unexecuted.</a:t>
            </a:r>
          </a:p>
          <a:p xmlns:a="http://schemas.openxmlformats.org/drawingml/2006/main">
            <a:r>
              <a:t/>
            </a:r>
          </a:p>
          <a:p xmlns:a="http://schemas.openxmlformats.org/drawingml/2006/main">
            <a:r>
              <a:t>Ask: Before we begin: Use the public Goal Relief decision to investigate how the court treated the programme delivery fee; distinguish submissions from conclusions.</a:t>
            </a:r>
          </a:p>
          <a:p xmlns:a="http://schemas.openxmlformats.org/drawingml/2006/main">
            <a:r>
              <a:t/>
            </a:r>
          </a:p>
          <a:p xmlns:a="http://schemas.openxmlformats.org/drawingml/2006/main">
            <a:r>
              <a:t>Expected answer: Goal Relief rejects the appellant’s treatment of the programme delivery fee and dismisses the appeal. This historical result does not decide Victoria’s position. The court’s paragraph, statute edition and client facts require separate verification.</a:t>
            </a:r>
          </a:p>
          <a:p xmlns:a="http://schemas.openxmlformats.org/drawingml/2006/main">
            <a:r>
              <a:t/>
            </a:r>
          </a:p>
          <a:p xmlns:a="http://schemas.openxmlformats.org/drawingml/2006/main">
            <a:r>
              <a:t>If partly correct: Likely confusion: A section number is enough. I will clarify: Compare the two edition references and record Act, edition, date and proposition. Then return to this slide’s question: Before we begin: Use the public Goal Relief decision to investigate how the court treated the programme delivery fee; distinguish submissions from conclusions. A supported answer should establish: Goal Relief rejects the appellant’s treatment of the programme delivery fee and dismisses the appeal. This historical result does not decide Victoria’s position. The court’s paragraph, statute edition and client facts require separate verification.</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What we can conclude.</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How do we turn a legal question into a verified, appropriately limited memo?</a:t>
            </a:r>
          </a:p>
          <a:p xmlns:a="http://schemas.openxmlformats.org/drawingml/2006/main">
            <a:r>
              <a:t/>
            </a:r>
          </a:p>
          <a:p xmlns:a="http://schemas.openxmlformats.org/drawingml/2006/main">
            <a:r>
              <a:t>I will explain: Have the learner explain the conclusion before I summarise it. Compare the actual result with the model answer and preserve unresolved questions.</a:t>
            </a:r>
          </a:p>
          <a:p xmlns:a="http://schemas.openxmlformats.org/drawingml/2006/main">
            <a:r>
              <a:t/>
            </a:r>
          </a:p>
          <a:p xmlns:a="http://schemas.openxmlformats.org/drawingml/2006/main">
            <a:r>
              <a:t>Ask: Which part of today’s result remains unverified?</a:t>
            </a:r>
          </a:p>
          <a:p xmlns:a="http://schemas.openxmlformats.org/drawingml/2006/main">
            <a:r>
              <a:t/>
            </a:r>
          </a:p>
          <a:p xmlns:a="http://schemas.openxmlformats.org/drawingml/2006/main">
            <a:r>
              <a:t>Expected answer: The downloaded court-text reproduction supports the historical reading exercise; current law and later treatment need fresh research.</a:t>
            </a:r>
          </a:p>
          <a:p xmlns:a="http://schemas.openxmlformats.org/drawingml/2006/main">
            <a:r>
              <a:t/>
            </a:r>
          </a:p>
          <a:p xmlns:a="http://schemas.openxmlformats.org/drawingml/2006/main">
            <a:r>
              <a:t>If partly correct: Likely confusion: The historical case decides Victoria’s facts. I will clarify: List the different parties, periods, service terms and current-law questions. Then return to this slide’s question: Which part of today’s result remains unverified? A supported answer should establish: The downloaded court-text reproduction supports the historical reading exercise; current law and later treatment need fresh research.</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The firm decision.</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How do we turn a legal question into a verified, appropriately limited memo?</a:t>
            </a:r>
          </a:p>
          <a:p xmlns:a="http://schemas.openxmlformats.org/drawingml/2006/main">
            <a:r>
              <a:t/>
            </a:r>
          </a:p>
          <a:p xmlns:a="http://schemas.openxmlformats.org/drawingml/2006/main">
            <a:r>
              <a:t>I will explain: Record a proposed owner and one condition before proceeding. This is a class decision record, not firm authorisation.</a:t>
            </a:r>
          </a:p>
          <a:p xmlns:a="http://schemas.openxmlformats.org/drawingml/2006/main">
            <a:r>
              <a:t/>
            </a:r>
          </a:p>
          <a:p xmlns:a="http://schemas.openxmlformats.org/drawingml/2006/main">
            <a:r>
              <a:t>Ask: What evidence would change this proposed decision?</a:t>
            </a:r>
          </a:p>
          <a:p xmlns:a="http://schemas.openxmlformats.org/drawingml/2006/main">
            <a:r>
              <a:t/>
            </a:r>
          </a:p>
          <a:p xmlns:a="http://schemas.openxmlformats.org/drawingml/2006/main">
            <a:r>
              <a:t>Expected answer: Adopt a claim-level research record, with an accountable reviewer and explicit unresolved questions. Revisit if the evidence, quality or permitted scope changes.</a:t>
            </a:r>
          </a:p>
          <a:p xmlns:a="http://schemas.openxmlformats.org/drawingml/2006/main">
            <a:r>
              <a:t/>
            </a:r>
          </a:p>
          <a:p xmlns:a="http://schemas.openxmlformats.org/drawingml/2006/main">
            <a:r>
              <a:t>If partly correct: Likely confusion: A submission is the court’s finding. I will clarify: Read Ground5 and the disposition in the original judgment; label each speaker. Then return to this slide’s question: What evidence would change this proposed decision? A supported answer should establish: Adopt a claim-level research record, with an accountable reviewer and explicit unresolved questions. Revisit if the evidence, quality or permitted scope changes.</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Check understanding.</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How do we turn a legal question into a verified, appropriately limited memo?</a:t>
            </a:r>
          </a:p>
          <a:p xmlns:a="http://schemas.openxmlformats.org/drawingml/2006/main">
            <a:r>
              <a:t/>
            </a:r>
          </a:p>
          <a:p xmlns:a="http://schemas.openxmlformats.org/drawingml/2006/main">
            <a:r>
              <a:t>I will explain: Ask these changed-fact questions before opening the answer key. Inspect both actual authorities and later treatment. Record Act, edition/date, provision and proposition. The client’s facts and applicable current law need their own analysis.</a:t>
            </a:r>
          </a:p>
          <a:p xmlns:a="http://schemas.openxmlformats.org/drawingml/2006/main">
            <a:r>
              <a:t/>
            </a:r>
          </a:p>
          <a:p xmlns:a="http://schemas.openxmlformats.org/drawingml/2006/main">
            <a:r>
              <a:t>Ask: A new authority claim</a:t>
            </a:r>
          </a:p>
          <a:p xmlns:a="http://schemas.openxmlformats.org/drawingml/2006/main">
            <a:r>
              <a:t/>
            </a:r>
          </a:p>
          <a:p xmlns:a="http://schemas.openxmlformats.org/drawingml/2006/main">
            <a:r>
              <a:t>Expected answer: Inspect both actual authorities and later treatment. Record Act, edition/date, provision and proposition. The client’s facts and applicable current law need their own analysis.</a:t>
            </a:r>
          </a:p>
          <a:p xmlns:a="http://schemas.openxmlformats.org/drawingml/2006/main">
            <a:r>
              <a:t/>
            </a:r>
          </a:p>
          <a:p xmlns:a="http://schemas.openxmlformats.org/drawingml/2006/main">
            <a:r>
              <a:t>If partly correct: Likely confusion: A section number is enough. I will clarify: Compare the two edition references and record Act, edition, date and proposition. Then return to this slide’s question: A new authority claim A supported answer should establish: Inspect both actual authorities and later treatment. Record Act, edition/date, provision and proposition. The client’s facts and applicable current law need their own analysis.</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Session 8: Contract review and drafting.</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How do we turn a legal question into a verified, appropriately limited memo?</a:t>
            </a:r>
          </a:p>
          <a:p xmlns:a="http://schemas.openxmlformats.org/drawingml/2006/main">
            <a:r>
              <a:t/>
            </a:r>
          </a:p>
          <a:p xmlns:a="http://schemas.openxmlformats.org/drawingml/2006/main">
            <a:r>
              <a:t>I will explain: An AI legal research tool may still hallucinate despite retrieval. Do not apply historical benchmark error percentages as current product performance.</a:t>
            </a:r>
          </a:p>
          <a:p xmlns:a="http://schemas.openxmlformats.org/drawingml/2006/main">
            <a:r>
              <a:t/>
            </a:r>
          </a:p>
          <a:p xmlns:a="http://schemas.openxmlformats.org/drawingml/2006/main">
            <a:r>
              <a:t>Ask: What should the firm measure locally?</a:t>
            </a:r>
          </a:p>
          <a:p xmlns:a="http://schemas.openxmlformats.org/drawingml/2006/main">
            <a:r>
              <a:t/>
            </a:r>
          </a:p>
          <a:p xmlns:a="http://schemas.openxmlformats.org/drawingml/2006/main">
            <a:r>
              <a:t>Expected answer: Relevant task accuracy, completeness, source fidelity and review effort.</a:t>
            </a:r>
          </a:p>
          <a:p xmlns:a="http://schemas.openxmlformats.org/drawingml/2006/main">
            <a:r>
              <a:t/>
            </a:r>
          </a:p>
          <a:p xmlns:a="http://schemas.openxmlformats.org/drawingml/2006/main">
            <a:r>
              <a:t>If partly correct: Likely confusion: The historical case decides Victoria’s facts. I will clarify: List the different parties, periods, service terms and current-law questions. Then return to this slide’s question: What should the firm measure locally? A supported answer should establish: Relevant task accuracy, completeness, source fidelity and review effort.</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Return to the essential session conclusion; explore this only if useful.</a:t>
            </a:r>
          </a:p>
          <a:p xmlns:a="http://schemas.openxmlformats.org/drawingml/2006/main">
            <a:r>
              <a:t/>
            </a:r>
          </a:p>
          <a:p xmlns:a="http://schemas.openxmlformats.org/drawingml/2006/main">
            <a:r>
              <a:t>Teaching status: Optional exploration; not included in the 120-minute plan.</a:t>
            </a:r>
          </a:p>
          <a:p xmlns:a="http://schemas.openxmlformats.org/drawingml/2006/main">
            <a:r>
              <a:t/>
            </a:r>
          </a:p>
          <a:p xmlns:a="http://schemas.openxmlformats.org/drawingml/2006/main">
            <a:r>
              <a:t>Sources: https://dho.stanford.edu/wp-content/uploads/Legal_RAG_Hallucinations.pdf</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How do we turn a legal question into a verified, appropriately limited memo?</a:t>
            </a:r>
          </a:p>
          <a:p xmlns:a="http://schemas.openxmlformats.org/drawingml/2006/main">
            <a:r>
              <a:t/>
            </a:r>
          </a:p>
          <a:p xmlns:a="http://schemas.openxmlformats.org/drawingml/2006/main">
            <a:r>
              <a:t>I will explain: Connect this class to knowledge management. The firm can retain checked research with dates and restrictions instead of accumulating unverified chatbot outputs.</a:t>
            </a:r>
          </a:p>
          <a:p xmlns:a="http://schemas.openxmlformats.org/drawingml/2006/main">
            <a:r>
              <a:t/>
            </a:r>
          </a:p>
          <a:p xmlns:a="http://schemas.openxmlformats.org/drawingml/2006/main">
            <a:r>
              <a:t>Ask: Who maintains reusable advice?</a:t>
            </a:r>
          </a:p>
          <a:p xmlns:a="http://schemas.openxmlformats.org/drawingml/2006/main">
            <a:r>
              <a:t/>
            </a:r>
          </a:p>
          <a:p xmlns:a="http://schemas.openxmlformats.org/drawingml/2006/main">
            <a:r>
              <a:t>Expected answer: A named practice or knowledge owner under the firm’s review arrangements.</a:t>
            </a:r>
          </a:p>
          <a:p xmlns:a="http://schemas.openxmlformats.org/drawingml/2006/main">
            <a:r>
              <a:t/>
            </a:r>
          </a:p>
          <a:p xmlns:a="http://schemas.openxmlformats.org/drawingml/2006/main">
            <a:r>
              <a:t>If partly correct: Likely confusion: A submission is the court’s finding. I will clarify: Read Ground5 and the disposition in the original judgment; label each speaker. Then return to this slide’s question: Who maintains reusable advice? A supported answer should establish: A named practice or knowledge owner under the firm’s review arrangements.</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Return to the essential session conclusion; explore this only if useful.</a:t>
            </a:r>
          </a:p>
          <a:p xmlns:a="http://schemas.openxmlformats.org/drawingml/2006/main">
            <a:r>
              <a:t/>
            </a:r>
          </a:p>
          <a:p xmlns:a="http://schemas.openxmlformats.org/drawingml/2006/main">
            <a:r>
              <a:t>Teaching status: Optional exploration; not included in the 120-minute plan.</a:t>
            </a:r>
          </a:p>
          <a:p xmlns:a="http://schemas.openxmlformats.org/drawingml/2006/main">
            <a:r>
              <a:t/>
            </a:r>
          </a:p>
          <a:p xmlns:a="http://schemas.openxmlformats.org/drawingml/2006/main">
            <a:r>
              <a:t>Sources: </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d100dac82414ca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36f68a0d05049a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0d77d81cb074ac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9da9d68dab148a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23baee6350d488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3183408e9b641c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362BF69-55D5-4B46-84AC-D1DDDA93CDC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568EBEA-CC58-4DB2-852E-5754C8D6E24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DEFC935-E129-4F8D-BDED-52E423AEFC0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D5D5BB4-4326-4504-921D-39F343EEAE3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EF1F5B1-9670-4874-A286-9075A7EEACD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5FB6937-9CA6-4CA7-8710-4F292D00A27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783F6EB-F328-42DF-A479-8B0991EA956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1D94328-489A-459C-A781-55098F286CD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4EAD961-B9AC-452D-8467-D39AD08793C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2B3BF62-0FBB-4245-A03B-25B3290EA49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bdcf2e0579f490c" /><Relationship Type="http://schemas.openxmlformats.org/officeDocument/2006/relationships/slideLayout" Target="/ppt/slideLayouts/slideLayout1.xml" Id="R73e17a2cdd014dc8" /><Relationship Type="http://schemas.openxmlformats.org/officeDocument/2006/relationships/slideLayout" Target="/ppt/slideLayouts/slideLayout2.xml" Id="R6f9b36e8c535431c" /><Relationship Type="http://schemas.openxmlformats.org/officeDocument/2006/relationships/slideLayout" Target="/ppt/slideLayouts/slideLayout3.xml" Id="Rcc3e9bbf5660486a" /><Relationship Type="http://schemas.openxmlformats.org/officeDocument/2006/relationships/slideLayout" Target="/ppt/slideLayouts/slideLayout4.xml" Id="R14ccf9b173df4939" /><Relationship Type="http://schemas.openxmlformats.org/officeDocument/2006/relationships/slideLayout" Target="/ppt/slideLayouts/slideLayout5.xml" Id="R5247d318d6684837" /><Relationship Type="http://schemas.openxmlformats.org/officeDocument/2006/relationships/slideLayout" Target="/ppt/slideLayouts/slideLayout6.xml" Id="R8b526853ba304b6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3e17a2cdd014dc8"/>
    <p:sldLayoutId xmlns:r="http://schemas.openxmlformats.org/officeDocument/2006/relationships" id="2147483650" r:id="R6f9b36e8c535431c"/>
    <p:sldLayoutId xmlns:r="http://schemas.openxmlformats.org/officeDocument/2006/relationships" id="2147483651" r:id="Rcc3e9bbf5660486a"/>
    <p:sldLayoutId xmlns:r="http://schemas.openxmlformats.org/officeDocument/2006/relationships" id="2147483652" r:id="R14ccf9b173df4939"/>
    <p:sldLayoutId xmlns:r="http://schemas.openxmlformats.org/officeDocument/2006/relationships" id="2147483653" r:id="R5247d318d6684837"/>
    <p:sldLayoutId xmlns:r="http://schemas.openxmlformats.org/officeDocument/2006/relationships" id="2147483654" r:id="R8b526853ba304b6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0ab02f43eec482b" /><Relationship Type="http://schemas.openxmlformats.org/officeDocument/2006/relationships/notesSlide" Target="/ppt/notesSlides/notesSlide1.xml" Id="R9c7f21bea00a4cb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0cac9e68bd54204" /><Relationship Type="http://schemas.openxmlformats.org/officeDocument/2006/relationships/notesSlide" Target="/ppt/notesSlides/notesSlide2.xml" Id="Re68a0a56a33d4e3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aa29707a6934a6d" /><Relationship Type="http://schemas.openxmlformats.org/officeDocument/2006/relationships/notesSlide" Target="/ppt/notesSlides/notesSlide3.xml" Id="R3327709805e6435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62fdcb0d5244471" /><Relationship Type="http://schemas.openxmlformats.org/officeDocument/2006/relationships/notesSlide" Target="/ppt/notesSlides/notesSlide4.xml" Id="R54d19b59ed2d463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72aa14b3ca748b4" /><Relationship Type="http://schemas.openxmlformats.org/officeDocument/2006/relationships/notesSlide" Target="/ppt/notesSlides/notesSlide5.xml" Id="Rdc277b9b03f1469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490b6890652461c" /><Relationship Type="http://schemas.openxmlformats.org/officeDocument/2006/relationships/notesSlide" Target="/ppt/notesSlides/notesSlide6.xml" Id="Ra88ed5ef6af540b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a2bd9d7a5f8c48ee" /><Relationship Type="http://schemas.openxmlformats.org/officeDocument/2006/relationships/notesSlide" Target="/ppt/notesSlides/notesSlide7.xml" Id="Rfa5591112346427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d0cee48c6934bd9" /><Relationship Type="http://schemas.openxmlformats.org/officeDocument/2006/relationships/notesSlide" Target="/ppt/notesSlides/notesSlide8.xml" Id="Rc47e67e6fe8146a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bf3adfc1576e4df8" /><Relationship Type="http://schemas.openxmlformats.org/officeDocument/2006/relationships/notesSlide" Target="/ppt/notesSlides/notesSlide9.xml" Id="R850f9f31f0db4dc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e438c8c20f864b99" /><Relationship Type="http://schemas.openxmlformats.org/officeDocument/2006/relationships/notesSlide" Target="/ppt/notesSlides/notesSlide10.xml" Id="R7ed3fab3bb1f413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22879fee0c83455a" /><Relationship Type="http://schemas.openxmlformats.org/officeDocument/2006/relationships/notesSlide" Target="/ppt/notesSlides/notesSlide11.xml" Id="Rb1f8807bc5c34c2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aed6eac583b0436c" /><Relationship Type="http://schemas.openxmlformats.org/officeDocument/2006/relationships/notesSlide" Target="/ppt/notesSlides/notesSlide12.xml" Id="Ra2793ffa2a484fd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a337a0e88ba447b6" /><Relationship Type="http://schemas.openxmlformats.org/officeDocument/2006/relationships/notesSlide" Target="/ppt/notesSlides/notesSlide13.xml" Id="R440088fd46234d1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d79c50c908534613" /><Relationship Type="http://schemas.openxmlformats.org/officeDocument/2006/relationships/notesSlide" Target="/ppt/notesSlides/notesSlide14.xml" Id="R4ff4920b044f407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0852f36cd89f4164" /><Relationship Type="http://schemas.openxmlformats.org/officeDocument/2006/relationships/notesSlide" Target="/ppt/notesSlides/notesSlide15.xml" Id="Ra66881c1494f4d6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bc19b6b2ab3942df" /><Relationship Type="http://schemas.openxmlformats.org/officeDocument/2006/relationships/notesSlide" Target="/ppt/notesSlides/notesSlide16.xml" Id="R994e07ed09884f0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f4a4c22c7b884fc6" /><Relationship Type="http://schemas.openxmlformats.org/officeDocument/2006/relationships/notesSlide" Target="/ppt/notesSlides/notesSlide17.xml" Id="Rae438303d44c43f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257158a1c6834110" /><Relationship Type="http://schemas.openxmlformats.org/officeDocument/2006/relationships/notesSlide" Target="/ppt/notesSlides/notesSlide18.xml" Id="Rb3efb3ee18e0459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135f3b2908134ace" /><Relationship Type="http://schemas.openxmlformats.org/officeDocument/2006/relationships/notesSlide" Target="/ppt/notesSlides/notesSlide19.xml" Id="R012b1775c1c5418c"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dfe103048a3c40e8" /><Relationship Type="http://schemas.openxmlformats.org/officeDocument/2006/relationships/notesSlide" Target="/ppt/notesSlides/notesSlide20.xml" Id="R8af3dc15a05d461e"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51c82d9a54524739" /><Relationship Type="http://schemas.openxmlformats.org/officeDocument/2006/relationships/notesSlide" Target="/ppt/notesSlides/notesSlide21.xml" Id="Rc43e7d89fe3548e0"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697d17ce00004d32" /><Relationship Type="http://schemas.openxmlformats.org/officeDocument/2006/relationships/notesSlide" Target="/ppt/notesSlides/notesSlide22.xml" Id="R92b80f123f314792" /></Relationships>
</file>

<file path=ppt/slides/slide1.xml><?xml version="1.0" encoding="utf-8"?>
<p:sld xmlns:a="http://schemas.openxmlformats.org/drawingml/2006/main" xmlns:ns2="http://schemas.microsoft.com/office/drawing/2014/main" xmlns:ns3="http://schemas.microsoft.com/office/powerpoint/2010/main" xmlns:p="http://schemas.openxmlformats.org/presentationml/2006/main">
  <p:cSld name="Legal research and deep research">
    <p:bg>
      <p:bgPr>
        <a:solidFill>
          <a:srgbClr val="1C3144"/>
        </a:solidFill>
      </p:bgPr>
    </p:bg>
    <p:spTree>
      <p:nvGrpSpPr>
        <p:cNvPr id="1" name=""/>
        <p:cNvGrpSpPr/>
        <p:nvPr/>
      </p:nvGrpSpPr>
      <p:grpSpPr>
        <a:xfrm/>
      </p:grpSpPr>
      <p:sp>
        <p:nvSpPr>
          <p:cNvPr id="5" name="text-1">
            <a:extLst>
              <a:ext uri="{FF2B5EF4-FFF2-40B4-BE49-F238E27FC236}">
                <ns2:creationId id="{8403D7B5-C8D5-4328-8F28-6AC5A3B938EB}"/>
              </a:ext>
            </a:extLst>
          </p:cNvPr>
          <p:cNvSpPr>
            <a:spLocks noGrp="1"/>
          </p:cNvSpPr>
          <p:nvPr/>
        </p:nvSpPr>
        <p:spPr>
          <a:xfrm>
            <a:off x="619125" y="590550"/>
            <a:ext cx="10477500" cy="428625"/>
          </a:xfrm>
          <a:prstGeom prst="rect">
            <a:avLst/>
          </a:prstGeom>
          <a:noFill/>
          <a:ln w="0">
            <a:noFill/>
          </a:ln>
        </p:spPr>
        <p:txBody>
          <a:bodyPr>
            <a:noAutofit/>
          </a:bodyPr>
          <a:lstStyle>
            <a:defPPr>
              <a:defRPr sz="1950" b="1">
                <a:solidFill>
                  <a:srgbClr val="F3A087"/>
                </a:solidFill>
                <a:latin typeface="Calibri"/>
                <a:ea typeface="Calibri"/>
                <a:cs typeface="Calibri"/>
              </a:defRPr>
            </a:defPPr>
            <a:lvl1pPr>
              <a:defRPr sz="1950" b="1">
                <a:solidFill>
                  <a:srgbClr val="F3A087"/>
                </a:solidFill>
                <a:latin typeface="Calibri"/>
                <a:ea typeface="Calibri"/>
                <a:cs typeface="Calibri"/>
              </a:defRPr>
            </a:lvl1pPr>
            <a:lvl2pPr>
              <a:defRPr sz="1950" b="1">
                <a:solidFill>
                  <a:srgbClr val="F3A087"/>
                </a:solidFill>
                <a:latin typeface="Calibri"/>
                <a:ea typeface="Calibri"/>
                <a:cs typeface="Calibri"/>
              </a:defRPr>
            </a:lvl2pPr>
            <a:lvl3pPr>
              <a:defRPr sz="1950" b="1">
                <a:solidFill>
                  <a:srgbClr val="F3A087"/>
                </a:solidFill>
                <a:latin typeface="Calibri"/>
                <a:ea typeface="Calibri"/>
                <a:cs typeface="Calibri"/>
              </a:defRPr>
            </a:lvl3pPr>
            <a:lvl4pPr>
              <a:defRPr sz="1950" b="1">
                <a:solidFill>
                  <a:srgbClr val="F3A087"/>
                </a:solidFill>
                <a:latin typeface="Calibri"/>
                <a:ea typeface="Calibri"/>
                <a:cs typeface="Calibri"/>
              </a:defRPr>
            </a:lvl4pPr>
            <a:lvl5pPr>
              <a:defRPr sz="1950" b="1">
                <a:solidFill>
                  <a:srgbClr val="F3A087"/>
                </a:solidFill>
                <a:latin typeface="Calibri"/>
                <a:ea typeface="Calibri"/>
                <a:cs typeface="Calibri"/>
              </a:defRPr>
            </a:lvl5pPr>
            <a:lvl6pPr>
              <a:defRPr sz="1950" b="1">
                <a:solidFill>
                  <a:srgbClr val="F3A087"/>
                </a:solidFill>
                <a:latin typeface="Calibri"/>
                <a:ea typeface="Calibri"/>
                <a:cs typeface="Calibri"/>
              </a:defRPr>
            </a:lvl6pPr>
            <a:lvl7pPr>
              <a:defRPr sz="1950" b="1">
                <a:solidFill>
                  <a:srgbClr val="F3A087"/>
                </a:solidFill>
                <a:latin typeface="Calibri"/>
                <a:ea typeface="Calibri"/>
                <a:cs typeface="Calibri"/>
              </a:defRPr>
            </a:lvl7pPr>
            <a:lvl8pPr>
              <a:defRPr sz="1950" b="1">
                <a:solidFill>
                  <a:srgbClr val="F3A087"/>
                </a:solidFill>
                <a:latin typeface="Calibri"/>
                <a:ea typeface="Calibri"/>
                <a:cs typeface="Calibri"/>
              </a:defRPr>
            </a:lvl8pPr>
            <a:lvl9pPr>
              <a:defRPr sz="1950" b="1">
                <a:solidFill>
                  <a:srgbClr val="F3A087"/>
                </a:solidFill>
                <a:latin typeface="Calibri"/>
                <a:ea typeface="Calibri"/>
                <a:cs typeface="Calibri"/>
              </a:defRPr>
            </a:lvl9pPr>
          </a:lstStyle>
          <a:p>
            <a:pPr>
              <a:defRPr sz="1950" b="1">
                <a:solidFill>
                  <a:srgbClr val="F3A087"/>
                </a:solidFill>
                <a:latin typeface="Calibri"/>
                <a:ea typeface="Calibri"/>
                <a:cs typeface="Calibri"/>
              </a:defRPr>
            </a:pPr>
            <a:r>
              <a:rPr sz="1950" b="1">
                <a:solidFill>
                  <a:srgbClr val="F3A087"/>
                </a:solidFill>
                <a:latin typeface="Calibri"/>
                <a:ea typeface="Calibri"/>
                <a:cs typeface="Calibri"/>
              </a:rPr>
              <a:t>SESSION 07</a:t>
            </a:r>
          </a:p>
        </p:txBody>
      </p:sp>
      <p:sp>
        <p:nvSpPr>
          <p:cNvPr id="2" name="text-2">
            <a:extLst>
              <a:ext uri="{FF2B5EF4-FFF2-40B4-BE49-F238E27FC236}">
                <ns2:creationId id="{FC4A19AE-0A9B-458D-9F98-A67B10DFD630}"/>
              </a:ext>
            </a:extLst>
          </p:cNvPr>
          <p:cNvSpPr>
            <a:spLocks noGrp="1"/>
          </p:cNvSpPr>
          <p:nvPr>
            <p:ph type="title"/>
          </p:nvPr>
        </p:nvSpPr>
        <p:spPr>
          <a:xfrm>
            <a:off x="619125" y="1676400"/>
            <a:ext cx="10620375" cy="1905000"/>
          </a:xfrm>
          <a:prstGeom prst="rect">
            <a:avLst/>
          </a:prstGeom>
          <a:noFill/>
          <a:ln w="0">
            <a:noFill/>
          </a:ln>
        </p:spPr>
        <p:txBody>
          <a:bodyPr>
            <a:noAutofit/>
          </a:bodyPr>
          <a:lstStyle>
            <a:defPPr>
              <a:defRPr sz="4800" b="1">
                <a:solidFill>
                  <a:srgbClr val="FFFFFF"/>
                </a:solidFill>
                <a:latin typeface="Calibri"/>
                <a:ea typeface="Calibri"/>
                <a:cs typeface="Calibri"/>
              </a:defRPr>
            </a:defPPr>
            <a:lvl1pPr>
              <a:defRPr sz="4800" b="1">
                <a:solidFill>
                  <a:srgbClr val="FFFFFF"/>
                </a:solidFill>
                <a:latin typeface="Calibri"/>
                <a:ea typeface="Calibri"/>
                <a:cs typeface="Calibri"/>
              </a:defRPr>
            </a:lvl1pPr>
            <a:lvl2pPr>
              <a:defRPr sz="4800" b="1">
                <a:solidFill>
                  <a:srgbClr val="FFFFFF"/>
                </a:solidFill>
                <a:latin typeface="Calibri"/>
                <a:ea typeface="Calibri"/>
                <a:cs typeface="Calibri"/>
              </a:defRPr>
            </a:lvl2pPr>
            <a:lvl3pPr>
              <a:defRPr sz="4800" b="1">
                <a:solidFill>
                  <a:srgbClr val="FFFFFF"/>
                </a:solidFill>
                <a:latin typeface="Calibri"/>
                <a:ea typeface="Calibri"/>
                <a:cs typeface="Calibri"/>
              </a:defRPr>
            </a:lvl3pPr>
            <a:lvl4pPr>
              <a:defRPr sz="4800" b="1">
                <a:solidFill>
                  <a:srgbClr val="FFFFFF"/>
                </a:solidFill>
                <a:latin typeface="Calibri"/>
                <a:ea typeface="Calibri"/>
                <a:cs typeface="Calibri"/>
              </a:defRPr>
            </a:lvl4pPr>
            <a:lvl5pPr>
              <a:defRPr sz="4800" b="1">
                <a:solidFill>
                  <a:srgbClr val="FFFFFF"/>
                </a:solidFill>
                <a:latin typeface="Calibri"/>
                <a:ea typeface="Calibri"/>
                <a:cs typeface="Calibri"/>
              </a:defRPr>
            </a:lvl5pPr>
            <a:lvl6pPr>
              <a:defRPr sz="4800" b="1">
                <a:solidFill>
                  <a:srgbClr val="FFFFFF"/>
                </a:solidFill>
                <a:latin typeface="Calibri"/>
                <a:ea typeface="Calibri"/>
                <a:cs typeface="Calibri"/>
              </a:defRPr>
            </a:lvl6pPr>
            <a:lvl7pPr>
              <a:defRPr sz="4800" b="1">
                <a:solidFill>
                  <a:srgbClr val="FFFFFF"/>
                </a:solidFill>
                <a:latin typeface="Calibri"/>
                <a:ea typeface="Calibri"/>
                <a:cs typeface="Calibri"/>
              </a:defRPr>
            </a:lvl7pPr>
            <a:lvl8pPr>
              <a:defRPr sz="4800" b="1">
                <a:solidFill>
                  <a:srgbClr val="FFFFFF"/>
                </a:solidFill>
                <a:latin typeface="Calibri"/>
                <a:ea typeface="Calibri"/>
                <a:cs typeface="Calibri"/>
              </a:defRPr>
            </a:lvl8pPr>
            <a:lvl9pPr>
              <a:defRPr sz="4800" b="1">
                <a:solidFill>
                  <a:srgbClr val="FFFFFF"/>
                </a:solidFill>
                <a:latin typeface="Calibri"/>
                <a:ea typeface="Calibri"/>
                <a:cs typeface="Calibri"/>
              </a:defRPr>
            </a:lvl9pPr>
          </a:lstStyle>
          <a:p>
            <a:pPr>
              <a:defRPr sz="4800" b="1">
                <a:solidFill>
                  <a:srgbClr val="FFFFFF"/>
                </a:solidFill>
                <a:latin typeface="Calibri"/>
                <a:ea typeface="Calibri"/>
                <a:cs typeface="Calibri"/>
              </a:defRPr>
            </a:pPr>
            <a:r>
              <a:rPr sz="4800" b="1">
                <a:solidFill>
                  <a:srgbClr val="FFFFFF"/>
                </a:solidFill>
                <a:latin typeface="Calibri"/>
                <a:ea typeface="Calibri"/>
                <a:cs typeface="Calibri"/>
              </a:rPr>
              <a:t>Legal research and deep research</a:t>
            </a:r>
          </a:p>
        </p:txBody>
      </p:sp>
      <p:sp>
        <p:nvSpPr>
          <p:cNvPr id="3" name="text-3">
            <a:extLst>
              <a:ext uri="{FF2B5EF4-FFF2-40B4-BE49-F238E27FC236}">
                <ns2:creationId id="{00232CF2-9127-4165-88A3-16BE112918A8}"/>
              </a:ext>
            </a:extLst>
          </p:cNvPr>
          <p:cNvSpPr>
            <a:spLocks noGrp="1"/>
          </p:cNvSpPr>
          <p:nvPr/>
        </p:nvSpPr>
        <p:spPr>
          <a:xfrm>
            <a:off x="619125" y="4095750"/>
            <a:ext cx="10382250" cy="1143000"/>
          </a:xfrm>
          <a:prstGeom prst="rect">
            <a:avLst/>
          </a:prstGeom>
          <a:noFill/>
          <a:ln w="0">
            <a:noFill/>
          </a:ln>
        </p:spPr>
        <p:txBody>
          <a:bodyPr>
            <a:noAutofit/>
          </a:bodyPr>
          <a:lstStyle>
            <a:defPPr>
              <a:defRPr sz="2400" b="0">
                <a:solidFill>
                  <a:srgbClr val="DCE8E6"/>
                </a:solidFill>
                <a:latin typeface="Calibri"/>
                <a:ea typeface="Calibri"/>
                <a:cs typeface="Calibri"/>
              </a:defRPr>
            </a:defPPr>
            <a:lvl1pPr>
              <a:defRPr sz="2400" b="0">
                <a:solidFill>
                  <a:srgbClr val="DCE8E6"/>
                </a:solidFill>
                <a:latin typeface="Calibri"/>
                <a:ea typeface="Calibri"/>
                <a:cs typeface="Calibri"/>
              </a:defRPr>
            </a:lvl1pPr>
            <a:lvl2pPr>
              <a:defRPr sz="2400" b="0">
                <a:solidFill>
                  <a:srgbClr val="DCE8E6"/>
                </a:solidFill>
                <a:latin typeface="Calibri"/>
                <a:ea typeface="Calibri"/>
                <a:cs typeface="Calibri"/>
              </a:defRPr>
            </a:lvl2pPr>
            <a:lvl3pPr>
              <a:defRPr sz="2400" b="0">
                <a:solidFill>
                  <a:srgbClr val="DCE8E6"/>
                </a:solidFill>
                <a:latin typeface="Calibri"/>
                <a:ea typeface="Calibri"/>
                <a:cs typeface="Calibri"/>
              </a:defRPr>
            </a:lvl3pPr>
            <a:lvl4pPr>
              <a:defRPr sz="2400" b="0">
                <a:solidFill>
                  <a:srgbClr val="DCE8E6"/>
                </a:solidFill>
                <a:latin typeface="Calibri"/>
                <a:ea typeface="Calibri"/>
                <a:cs typeface="Calibri"/>
              </a:defRPr>
            </a:lvl4pPr>
            <a:lvl5pPr>
              <a:defRPr sz="2400" b="0">
                <a:solidFill>
                  <a:srgbClr val="DCE8E6"/>
                </a:solidFill>
                <a:latin typeface="Calibri"/>
                <a:ea typeface="Calibri"/>
                <a:cs typeface="Calibri"/>
              </a:defRPr>
            </a:lvl5pPr>
            <a:lvl6pPr>
              <a:defRPr sz="2400" b="0">
                <a:solidFill>
                  <a:srgbClr val="DCE8E6"/>
                </a:solidFill>
                <a:latin typeface="Calibri"/>
                <a:ea typeface="Calibri"/>
                <a:cs typeface="Calibri"/>
              </a:defRPr>
            </a:lvl6pPr>
            <a:lvl7pPr>
              <a:defRPr sz="2400" b="0">
                <a:solidFill>
                  <a:srgbClr val="DCE8E6"/>
                </a:solidFill>
                <a:latin typeface="Calibri"/>
                <a:ea typeface="Calibri"/>
                <a:cs typeface="Calibri"/>
              </a:defRPr>
            </a:lvl7pPr>
            <a:lvl8pPr>
              <a:defRPr sz="2400" b="0">
                <a:solidFill>
                  <a:srgbClr val="DCE8E6"/>
                </a:solidFill>
                <a:latin typeface="Calibri"/>
                <a:ea typeface="Calibri"/>
                <a:cs typeface="Calibri"/>
              </a:defRPr>
            </a:lvl8pPr>
            <a:lvl9pPr>
              <a:defRPr sz="2400" b="0">
                <a:solidFill>
                  <a:srgbClr val="DCE8E6"/>
                </a:solidFill>
                <a:latin typeface="Calibri"/>
                <a:ea typeface="Calibri"/>
                <a:cs typeface="Calibri"/>
              </a:defRPr>
            </a:lvl9pPr>
          </a:lstStyle>
          <a:p>
            <a:pPr>
              <a:defRPr sz="2400" b="0">
                <a:solidFill>
                  <a:srgbClr val="DCE8E6"/>
                </a:solidFill>
                <a:latin typeface="Calibri"/>
                <a:ea typeface="Calibri"/>
                <a:cs typeface="Calibri"/>
              </a:defRPr>
            </a:pPr>
            <a:r>
              <a:rPr sz="2400" b="0">
                <a:solidFill>
                  <a:srgbClr val="DCE8E6"/>
                </a:solidFill>
                <a:latin typeface="Calibri"/>
                <a:ea typeface="Calibri"/>
                <a:cs typeface="Calibri"/>
              </a:rPr>
              <a:t>How do we turn a legal question into a verified, appropriately limited memo?</a:t>
            </a:r>
          </a:p>
        </p:txBody>
      </p:sp>
      <p:sp>
        <p:nvSpPr>
          <p:cNvPr id="4" name="text-4">
            <a:extLst>
              <a:ext uri="{FF2B5EF4-FFF2-40B4-BE49-F238E27FC236}">
                <ns2:creationId id="{4DFB3537-4A91-4118-9FB5-BDA2CC467225}"/>
              </a:ext>
            </a:extLst>
          </p:cNvPr>
          <p:cNvSpPr>
            <a:spLocks noGrp="1"/>
          </p:cNvSpPr>
          <p:nvPr/>
        </p:nvSpPr>
        <p:spPr>
          <a:xfrm>
            <a:off x="619125" y="6010275"/>
            <a:ext cx="10668000" cy="400050"/>
          </a:xfrm>
          <a:prstGeom prst="rect">
            <a:avLst/>
          </a:prstGeom>
          <a:noFill/>
          <a:ln w="0">
            <a:noFill/>
          </a:ln>
        </p:spPr>
        <p:txBody>
          <a:bodyPr>
            <a:noAutofit/>
          </a:bodyPr>
          <a:lstStyle>
            <a:defPPr>
              <a:defRPr sz="1800" b="0">
                <a:solidFill>
                  <a:srgbClr val="DCE8E6"/>
                </a:solidFill>
                <a:latin typeface="Calibri"/>
                <a:ea typeface="Calibri"/>
                <a:cs typeface="Calibri"/>
              </a:defRPr>
            </a:defPPr>
            <a:lvl1pPr>
              <a:defRPr sz="1800" b="0">
                <a:solidFill>
                  <a:srgbClr val="DCE8E6"/>
                </a:solidFill>
                <a:latin typeface="Calibri"/>
                <a:ea typeface="Calibri"/>
                <a:cs typeface="Calibri"/>
              </a:defRPr>
            </a:lvl1pPr>
            <a:lvl2pPr>
              <a:defRPr sz="1800" b="0">
                <a:solidFill>
                  <a:srgbClr val="DCE8E6"/>
                </a:solidFill>
                <a:latin typeface="Calibri"/>
                <a:ea typeface="Calibri"/>
                <a:cs typeface="Calibri"/>
              </a:defRPr>
            </a:lvl2pPr>
            <a:lvl3pPr>
              <a:defRPr sz="1800" b="0">
                <a:solidFill>
                  <a:srgbClr val="DCE8E6"/>
                </a:solidFill>
                <a:latin typeface="Calibri"/>
                <a:ea typeface="Calibri"/>
                <a:cs typeface="Calibri"/>
              </a:defRPr>
            </a:lvl3pPr>
            <a:lvl4pPr>
              <a:defRPr sz="1800" b="0">
                <a:solidFill>
                  <a:srgbClr val="DCE8E6"/>
                </a:solidFill>
                <a:latin typeface="Calibri"/>
                <a:ea typeface="Calibri"/>
                <a:cs typeface="Calibri"/>
              </a:defRPr>
            </a:lvl4pPr>
            <a:lvl5pPr>
              <a:defRPr sz="1800" b="0">
                <a:solidFill>
                  <a:srgbClr val="DCE8E6"/>
                </a:solidFill>
                <a:latin typeface="Calibri"/>
                <a:ea typeface="Calibri"/>
                <a:cs typeface="Calibri"/>
              </a:defRPr>
            </a:lvl5pPr>
            <a:lvl6pPr>
              <a:defRPr sz="1800" b="0">
                <a:solidFill>
                  <a:srgbClr val="DCE8E6"/>
                </a:solidFill>
                <a:latin typeface="Calibri"/>
                <a:ea typeface="Calibri"/>
                <a:cs typeface="Calibri"/>
              </a:defRPr>
            </a:lvl6pPr>
            <a:lvl7pPr>
              <a:defRPr sz="1800" b="0">
                <a:solidFill>
                  <a:srgbClr val="DCE8E6"/>
                </a:solidFill>
                <a:latin typeface="Calibri"/>
                <a:ea typeface="Calibri"/>
                <a:cs typeface="Calibri"/>
              </a:defRPr>
            </a:lvl7pPr>
            <a:lvl8pPr>
              <a:defRPr sz="1800" b="0">
                <a:solidFill>
                  <a:srgbClr val="DCE8E6"/>
                </a:solidFill>
                <a:latin typeface="Calibri"/>
                <a:ea typeface="Calibri"/>
                <a:cs typeface="Calibri"/>
              </a:defRPr>
            </a:lvl8pPr>
            <a:lvl9pPr>
              <a:defRPr sz="1800" b="0">
                <a:solidFill>
                  <a:srgbClr val="DCE8E6"/>
                </a:solidFill>
                <a:latin typeface="Calibri"/>
                <a:ea typeface="Calibri"/>
                <a:cs typeface="Calibri"/>
              </a:defRPr>
            </a:lvl9pPr>
          </a:lstStyle>
          <a:p>
            <a:pPr>
              <a:defRPr sz="1800" b="0">
                <a:solidFill>
                  <a:srgbClr val="DCE8E6"/>
                </a:solidFill>
                <a:latin typeface="Calibri"/>
                <a:ea typeface="Calibri"/>
                <a:cs typeface="Calibri"/>
              </a:defRPr>
            </a:pPr>
            <a:r>
              <a:rPr sz="1800" b="0">
                <a:solidFill>
                  <a:srgbClr val="DCE8E6"/>
                </a:solidFill>
                <a:latin typeface="Calibri"/>
                <a:ea typeface="Calibri"/>
                <a:cs typeface="Calibri"/>
              </a:rPr>
              <a:t>Jotham Martin Wambi   KLAi Professional Learning</a:t>
            </a:r>
          </a:p>
        </p:txBody>
      </p:sp>
    </p:spTree>
    <p:extLst>
      <p:ext uri="{BB962C8B-B14F-4D97-AF65-F5344CB8AC3E}">
        <ns3:creationId val="35144980"/>
      </p:ext>
    </p:extLst>
  </p:cSld>
  <p:transition spd="med" advClick="1">
    <p:fade/>
  </p:transition>
</p:sld>
</file>

<file path=ppt/slides/slide2.xml><?xml version="1.0" encoding="utf-8"?>
<p:sld xmlns:a="http://schemas.openxmlformats.org/drawingml/2006/main" xmlns:ns2="http://schemas.microsoft.com/office/drawing/2014/main" xmlns:ns3="http://schemas.microsoft.com/office/powerpoint/2010/main" xmlns:p="http://schemas.openxmlformats.org/presentationml/2006/main">
  <p:cSld name="Recall retrieval limits">
    <p:bg>
      <p:bgPr>
        <a:solidFill>
          <a:srgbClr val="FFFFFF"/>
        </a:solidFill>
      </p:bgPr>
    </p:bg>
    <p:spTree>
      <p:nvGrpSpPr>
        <p:cNvPr id="1" name=""/>
        <p:cNvGrpSpPr/>
        <p:nvPr/>
      </p:nvGrpSpPr>
      <p:grpSpPr>
        <a:xfrm/>
      </p:grpSpPr>
      <p:sp>
        <p:nvSpPr>
          <p:cNvPr id="9" name="text-5">
            <a:extLst>
              <a:ext uri="{FF2B5EF4-FFF2-40B4-BE49-F238E27FC236}">
                <ns2:creationId id="{71781F73-B2A2-4154-A275-FE477A427D76}"/>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07</a:t>
            </a:r>
          </a:p>
        </p:txBody>
      </p:sp>
      <p:sp>
        <p:nvSpPr>
          <p:cNvPr id="2" name="text-6">
            <a:extLst>
              <a:ext uri="{FF2B5EF4-FFF2-40B4-BE49-F238E27FC236}">
                <ns2:creationId id="{BA26E1E5-3C3B-437D-BFEE-4504A996143F}"/>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Recall retrieval limits</a:t>
            </a:r>
          </a:p>
        </p:txBody>
      </p:sp>
      <p:sp>
        <p:nvSpPr>
          <p:cNvPr id="4" name="text-8">
            <a:extLst>
              <a:ext uri="{FF2B5EF4-FFF2-40B4-BE49-F238E27FC236}">
                <ns2:creationId id="{C1299A57-A4EF-4DBB-952A-5140F2B9C047}"/>
              </a:ext>
            </a:extLst>
          </p:cNvPr>
          <p:cNvSpPr>
            <a:spLocks noGrp="1"/>
          </p:cNvSpPr>
          <p:nvPr/>
        </p:nvSpPr>
        <p:spPr>
          <a:xfrm>
            <a:off x="619125" y="2000250"/>
            <a:ext cx="10858500" cy="342900"/>
          </a:xfrm>
          <a:prstGeom prst="rect">
            <a:avLst/>
          </a:prstGeom>
          <a:noFill/>
          <a:ln w="0">
            <a:noFill/>
          </a:ln>
        </p:spPr>
        <p:txBody>
          <a:bodyPr>
            <a:noAutofit/>
          </a:bodyPr>
          <a:lstStyle>
            <a:defPPr>
              <a:defRPr sz="1800" b="1">
                <a:solidFill>
                  <a:srgbClr val="C94E29"/>
                </a:solidFill>
                <a:latin typeface="Calibri"/>
                <a:ea typeface="Calibri"/>
                <a:cs typeface="Calibri"/>
              </a:defRPr>
            </a:defPPr>
            <a:lvl1pPr>
              <a:defRPr sz="1800" b="1">
                <a:solidFill>
                  <a:srgbClr val="C94E29"/>
                </a:solidFill>
                <a:latin typeface="Calibri"/>
                <a:ea typeface="Calibri"/>
                <a:cs typeface="Calibri"/>
              </a:defRPr>
            </a:lvl1pPr>
            <a:lvl2pPr>
              <a:defRPr sz="1800" b="1">
                <a:solidFill>
                  <a:srgbClr val="C94E29"/>
                </a:solidFill>
                <a:latin typeface="Calibri"/>
                <a:ea typeface="Calibri"/>
                <a:cs typeface="Calibri"/>
              </a:defRPr>
            </a:lvl2pPr>
            <a:lvl3pPr>
              <a:defRPr sz="1800" b="1">
                <a:solidFill>
                  <a:srgbClr val="C94E29"/>
                </a:solidFill>
                <a:latin typeface="Calibri"/>
                <a:ea typeface="Calibri"/>
                <a:cs typeface="Calibri"/>
              </a:defRPr>
            </a:lvl3pPr>
            <a:lvl4pPr>
              <a:defRPr sz="1800" b="1">
                <a:solidFill>
                  <a:srgbClr val="C94E29"/>
                </a:solidFill>
                <a:latin typeface="Calibri"/>
                <a:ea typeface="Calibri"/>
                <a:cs typeface="Calibri"/>
              </a:defRPr>
            </a:lvl4pPr>
            <a:lvl5pPr>
              <a:defRPr sz="1800" b="1">
                <a:solidFill>
                  <a:srgbClr val="C94E29"/>
                </a:solidFill>
                <a:latin typeface="Calibri"/>
                <a:ea typeface="Calibri"/>
                <a:cs typeface="Calibri"/>
              </a:defRPr>
            </a:lvl5pPr>
            <a:lvl6pPr>
              <a:defRPr sz="1800" b="1">
                <a:solidFill>
                  <a:srgbClr val="C94E29"/>
                </a:solidFill>
                <a:latin typeface="Calibri"/>
                <a:ea typeface="Calibri"/>
                <a:cs typeface="Calibri"/>
              </a:defRPr>
            </a:lvl6pPr>
            <a:lvl7pPr>
              <a:defRPr sz="1800" b="1">
                <a:solidFill>
                  <a:srgbClr val="C94E29"/>
                </a:solidFill>
                <a:latin typeface="Calibri"/>
                <a:ea typeface="Calibri"/>
                <a:cs typeface="Calibri"/>
              </a:defRPr>
            </a:lvl7pPr>
            <a:lvl8pPr>
              <a:defRPr sz="1800" b="1">
                <a:solidFill>
                  <a:srgbClr val="C94E29"/>
                </a:solidFill>
                <a:latin typeface="Calibri"/>
                <a:ea typeface="Calibri"/>
                <a:cs typeface="Calibri"/>
              </a:defRPr>
            </a:lvl8pPr>
            <a:lvl9pPr>
              <a:defRPr sz="1800" b="1">
                <a:solidFill>
                  <a:srgbClr val="C94E29"/>
                </a:solidFill>
                <a:latin typeface="Calibri"/>
                <a:ea typeface="Calibri"/>
                <a:cs typeface="Calibri"/>
              </a:defRPr>
            </a:lvl9pPr>
          </a:lstStyle>
          <a:p>
            <a:pPr>
              <a:defRPr sz="1800" b="1">
                <a:solidFill>
                  <a:srgbClr val="C94E29"/>
                </a:solidFill>
                <a:latin typeface="Calibri"/>
                <a:ea typeface="Calibri"/>
                <a:cs typeface="Calibri"/>
              </a:defRPr>
            </a:pPr>
            <a:r>
              <a:rPr sz="1800" b="1">
                <a:solidFill>
                  <a:srgbClr val="C94E29"/>
                </a:solidFill>
                <a:latin typeface="Calibri"/>
                <a:ea typeface="Calibri"/>
                <a:cs typeface="Calibri"/>
              </a:rPr>
              <a:t>RECALL SESSION 6</a:t>
            </a:r>
          </a:p>
        </p:txBody>
      </p:sp>
      <p:sp>
        <p:nvSpPr>
          <p:cNvPr id="5" name="text-9">
            <a:extLst>
              <a:ext uri="{FF2B5EF4-FFF2-40B4-BE49-F238E27FC236}">
                <ns2:creationId id="{FD936563-2A26-45DF-BD67-5FEDA428EF70}"/>
              </a:ext>
            </a:extLst>
          </p:cNvPr>
          <p:cNvSpPr>
            <a:spLocks noGrp="1"/>
          </p:cNvSpPr>
          <p:nvPr/>
        </p:nvSpPr>
        <p:spPr>
          <a:xfrm>
            <a:off x="619125" y="2495550"/>
            <a:ext cx="10858500" cy="990600"/>
          </a:xfrm>
          <a:prstGeom prst="rect">
            <a:avLst/>
          </a:prstGeom>
          <a:noFill/>
          <a:ln w="0">
            <a:noFill/>
          </a:ln>
        </p:spPr>
        <p:txBody>
          <a:bodyPr>
            <a:noAutofit/>
          </a:bodyPr>
          <a:lstStyle>
            <a:defPPr>
              <a:defRPr sz="2475" b="1">
                <a:solidFill>
                  <a:srgbClr val="1C3144"/>
                </a:solidFill>
                <a:latin typeface="Calibri"/>
                <a:ea typeface="Calibri"/>
                <a:cs typeface="Calibri"/>
              </a:defRPr>
            </a:defPPr>
            <a:lvl1pPr>
              <a:defRPr sz="2475" b="1">
                <a:solidFill>
                  <a:srgbClr val="1C3144"/>
                </a:solidFill>
                <a:latin typeface="Calibri"/>
                <a:ea typeface="Calibri"/>
                <a:cs typeface="Calibri"/>
              </a:defRPr>
            </a:lvl1pPr>
            <a:lvl2pPr>
              <a:defRPr sz="2475" b="1">
                <a:solidFill>
                  <a:srgbClr val="1C3144"/>
                </a:solidFill>
                <a:latin typeface="Calibri"/>
                <a:ea typeface="Calibri"/>
                <a:cs typeface="Calibri"/>
              </a:defRPr>
            </a:lvl2pPr>
            <a:lvl3pPr>
              <a:defRPr sz="2475" b="1">
                <a:solidFill>
                  <a:srgbClr val="1C3144"/>
                </a:solidFill>
                <a:latin typeface="Calibri"/>
                <a:ea typeface="Calibri"/>
                <a:cs typeface="Calibri"/>
              </a:defRPr>
            </a:lvl3pPr>
            <a:lvl4pPr>
              <a:defRPr sz="2475" b="1">
                <a:solidFill>
                  <a:srgbClr val="1C3144"/>
                </a:solidFill>
                <a:latin typeface="Calibri"/>
                <a:ea typeface="Calibri"/>
                <a:cs typeface="Calibri"/>
              </a:defRPr>
            </a:lvl4pPr>
            <a:lvl5pPr>
              <a:defRPr sz="2475" b="1">
                <a:solidFill>
                  <a:srgbClr val="1C3144"/>
                </a:solidFill>
                <a:latin typeface="Calibri"/>
                <a:ea typeface="Calibri"/>
                <a:cs typeface="Calibri"/>
              </a:defRPr>
            </a:lvl5pPr>
            <a:lvl6pPr>
              <a:defRPr sz="2475" b="1">
                <a:solidFill>
                  <a:srgbClr val="1C3144"/>
                </a:solidFill>
                <a:latin typeface="Calibri"/>
                <a:ea typeface="Calibri"/>
                <a:cs typeface="Calibri"/>
              </a:defRPr>
            </a:lvl6pPr>
            <a:lvl7pPr>
              <a:defRPr sz="2475" b="1">
                <a:solidFill>
                  <a:srgbClr val="1C3144"/>
                </a:solidFill>
                <a:latin typeface="Calibri"/>
                <a:ea typeface="Calibri"/>
                <a:cs typeface="Calibri"/>
              </a:defRPr>
            </a:lvl7pPr>
            <a:lvl8pPr>
              <a:defRPr sz="2475" b="1">
                <a:solidFill>
                  <a:srgbClr val="1C3144"/>
                </a:solidFill>
                <a:latin typeface="Calibri"/>
                <a:ea typeface="Calibri"/>
                <a:cs typeface="Calibri"/>
              </a:defRPr>
            </a:lvl8pPr>
            <a:lvl9pPr>
              <a:defRPr sz="2475" b="1">
                <a:solidFill>
                  <a:srgbClr val="1C3144"/>
                </a:solidFill>
                <a:latin typeface="Calibri"/>
                <a:ea typeface="Calibri"/>
                <a:cs typeface="Calibri"/>
              </a:defRPr>
            </a:lvl9pPr>
          </a:lstStyle>
          <a:p>
            <a:pPr>
              <a:defRPr sz="2475" b="1">
                <a:solidFill>
                  <a:srgbClr val="1C3144"/>
                </a:solidFill>
                <a:latin typeface="Calibri"/>
                <a:ea typeface="Calibri"/>
                <a:cs typeface="Calibri"/>
              </a:defRPr>
            </a:pPr>
            <a:r>
              <a:rPr sz="2475" b="1">
                <a:solidFill>
                  <a:srgbClr val="1C3144"/>
                </a:solidFill>
                <a:latin typeface="Calibri"/>
                <a:ea typeface="Calibri"/>
                <a:cs typeface="Calibri"/>
              </a:rPr>
              <a:t>A retrieved passage has a valid citation. What remains before advice?</a:t>
            </a:r>
          </a:p>
        </p:txBody>
      </p:sp>
      <p:sp>
        <p:nvSpPr>
          <p:cNvPr id="6" name="text-10">
            <a:extLst>
              <a:ext uri="{FF2B5EF4-FFF2-40B4-BE49-F238E27FC236}">
                <ns2:creationId id="{BFF21A13-D040-40C1-8279-06138EBED136}"/>
              </a:ext>
            </a:extLst>
          </p:cNvPr>
          <p:cNvSpPr>
            <a:spLocks noGrp="1"/>
          </p:cNvSpPr>
          <p:nvPr/>
        </p:nvSpPr>
        <p:spPr>
          <a:xfrm>
            <a:off x="619125" y="3857625"/>
            <a:ext cx="10858500" cy="342900"/>
          </a:xfrm>
          <a:prstGeom prst="rect">
            <a:avLst/>
          </a:prstGeom>
          <a:noFill/>
          <a:ln w="0">
            <a:noFill/>
          </a:ln>
        </p:spPr>
        <p:txBody>
          <a:bodyPr>
            <a:noAutofit/>
          </a:bodyPr>
          <a:lstStyle>
            <a:defPPr>
              <a:defRPr sz="1800" b="1">
                <a:solidFill>
                  <a:srgbClr val="246E63"/>
                </a:solidFill>
                <a:latin typeface="Calibri"/>
                <a:ea typeface="Calibri"/>
                <a:cs typeface="Calibri"/>
              </a:defRPr>
            </a:defPPr>
            <a:lvl1pPr>
              <a:defRPr sz="1800" b="1">
                <a:solidFill>
                  <a:srgbClr val="246E63"/>
                </a:solidFill>
                <a:latin typeface="Calibri"/>
                <a:ea typeface="Calibri"/>
                <a:cs typeface="Calibri"/>
              </a:defRPr>
            </a:lvl1pPr>
            <a:lvl2pPr>
              <a:defRPr sz="1800" b="1">
                <a:solidFill>
                  <a:srgbClr val="246E63"/>
                </a:solidFill>
                <a:latin typeface="Calibri"/>
                <a:ea typeface="Calibri"/>
                <a:cs typeface="Calibri"/>
              </a:defRPr>
            </a:lvl2pPr>
            <a:lvl3pPr>
              <a:defRPr sz="1800" b="1">
                <a:solidFill>
                  <a:srgbClr val="246E63"/>
                </a:solidFill>
                <a:latin typeface="Calibri"/>
                <a:ea typeface="Calibri"/>
                <a:cs typeface="Calibri"/>
              </a:defRPr>
            </a:lvl3pPr>
            <a:lvl4pPr>
              <a:defRPr sz="1800" b="1">
                <a:solidFill>
                  <a:srgbClr val="246E63"/>
                </a:solidFill>
                <a:latin typeface="Calibri"/>
                <a:ea typeface="Calibri"/>
                <a:cs typeface="Calibri"/>
              </a:defRPr>
            </a:lvl4pPr>
            <a:lvl5pPr>
              <a:defRPr sz="1800" b="1">
                <a:solidFill>
                  <a:srgbClr val="246E63"/>
                </a:solidFill>
                <a:latin typeface="Calibri"/>
                <a:ea typeface="Calibri"/>
                <a:cs typeface="Calibri"/>
              </a:defRPr>
            </a:lvl5pPr>
            <a:lvl6pPr>
              <a:defRPr sz="1800" b="1">
                <a:solidFill>
                  <a:srgbClr val="246E63"/>
                </a:solidFill>
                <a:latin typeface="Calibri"/>
                <a:ea typeface="Calibri"/>
                <a:cs typeface="Calibri"/>
              </a:defRPr>
            </a:lvl6pPr>
            <a:lvl7pPr>
              <a:defRPr sz="1800" b="1">
                <a:solidFill>
                  <a:srgbClr val="246E63"/>
                </a:solidFill>
                <a:latin typeface="Calibri"/>
                <a:ea typeface="Calibri"/>
                <a:cs typeface="Calibri"/>
              </a:defRPr>
            </a:lvl7pPr>
            <a:lvl8pPr>
              <a:defRPr sz="1800" b="1">
                <a:solidFill>
                  <a:srgbClr val="246E63"/>
                </a:solidFill>
                <a:latin typeface="Calibri"/>
                <a:ea typeface="Calibri"/>
                <a:cs typeface="Calibri"/>
              </a:defRPr>
            </a:lvl8pPr>
            <a:lvl9pPr>
              <a:defRPr sz="1800" b="1">
                <a:solidFill>
                  <a:srgbClr val="246E63"/>
                </a:solidFill>
                <a:latin typeface="Calibri"/>
                <a:ea typeface="Calibri"/>
                <a:cs typeface="Calibri"/>
              </a:defRPr>
            </a:lvl9pPr>
          </a:lstStyle>
          <a:p>
            <a:pPr>
              <a:defRPr sz="1800" b="1">
                <a:solidFill>
                  <a:srgbClr val="246E63"/>
                </a:solidFill>
                <a:latin typeface="Calibri"/>
                <a:ea typeface="Calibri"/>
                <a:cs typeface="Calibri"/>
              </a:defRPr>
            </a:pPr>
            <a:r>
              <a:rPr sz="1800" b="1">
                <a:solidFill>
                  <a:srgbClr val="246E63"/>
                </a:solidFill>
                <a:latin typeface="Calibri"/>
                <a:ea typeface="Calibri"/>
                <a:cs typeface="Calibri"/>
              </a:rPr>
              <a:t>TODAY’S QUESTION</a:t>
            </a:r>
          </a:p>
        </p:txBody>
      </p:sp>
      <p:sp>
        <p:nvSpPr>
          <p:cNvPr id="7" name="text-11">
            <a:extLst>
              <a:ext uri="{FF2B5EF4-FFF2-40B4-BE49-F238E27FC236}">
                <ns2:creationId id="{A4DB614D-B9CE-4D75-9D5B-0EB0B0CEDCD0}"/>
              </a:ext>
            </a:extLst>
          </p:cNvPr>
          <p:cNvSpPr>
            <a:spLocks noGrp="1"/>
          </p:cNvSpPr>
          <p:nvPr/>
        </p:nvSpPr>
        <p:spPr>
          <a:xfrm>
            <a:off x="619125" y="4362450"/>
            <a:ext cx="10858500" cy="1152525"/>
          </a:xfrm>
          <a:prstGeom prst="rect">
            <a:avLst/>
          </a:prstGeom>
          <a:noFill/>
          <a:ln w="0">
            <a:noFill/>
          </a:ln>
        </p:spPr>
        <p:txBody>
          <a:bodyPr>
            <a:noAutofit/>
          </a:bodyPr>
          <a:lstStyle>
            <a:defPPr>
              <a:defRPr sz="2550" b="1">
                <a:solidFill>
                  <a:srgbClr val="1C3144"/>
                </a:solidFill>
                <a:latin typeface="Calibri"/>
                <a:ea typeface="Calibri"/>
                <a:cs typeface="Calibri"/>
              </a:defRPr>
            </a:defPPr>
            <a:lvl1pPr>
              <a:defRPr sz="2550" b="1">
                <a:solidFill>
                  <a:srgbClr val="1C3144"/>
                </a:solidFill>
                <a:latin typeface="Calibri"/>
                <a:ea typeface="Calibri"/>
                <a:cs typeface="Calibri"/>
              </a:defRPr>
            </a:lvl1pPr>
            <a:lvl2pPr>
              <a:defRPr sz="2550" b="1">
                <a:solidFill>
                  <a:srgbClr val="1C3144"/>
                </a:solidFill>
                <a:latin typeface="Calibri"/>
                <a:ea typeface="Calibri"/>
                <a:cs typeface="Calibri"/>
              </a:defRPr>
            </a:lvl2pPr>
            <a:lvl3pPr>
              <a:defRPr sz="2550" b="1">
                <a:solidFill>
                  <a:srgbClr val="1C3144"/>
                </a:solidFill>
                <a:latin typeface="Calibri"/>
                <a:ea typeface="Calibri"/>
                <a:cs typeface="Calibri"/>
              </a:defRPr>
            </a:lvl3pPr>
            <a:lvl4pPr>
              <a:defRPr sz="2550" b="1">
                <a:solidFill>
                  <a:srgbClr val="1C3144"/>
                </a:solidFill>
                <a:latin typeface="Calibri"/>
                <a:ea typeface="Calibri"/>
                <a:cs typeface="Calibri"/>
              </a:defRPr>
            </a:lvl4pPr>
            <a:lvl5pPr>
              <a:defRPr sz="2550" b="1">
                <a:solidFill>
                  <a:srgbClr val="1C3144"/>
                </a:solidFill>
                <a:latin typeface="Calibri"/>
                <a:ea typeface="Calibri"/>
                <a:cs typeface="Calibri"/>
              </a:defRPr>
            </a:lvl5pPr>
            <a:lvl6pPr>
              <a:defRPr sz="2550" b="1">
                <a:solidFill>
                  <a:srgbClr val="1C3144"/>
                </a:solidFill>
                <a:latin typeface="Calibri"/>
                <a:ea typeface="Calibri"/>
                <a:cs typeface="Calibri"/>
              </a:defRPr>
            </a:lvl6pPr>
            <a:lvl7pPr>
              <a:defRPr sz="2550" b="1">
                <a:solidFill>
                  <a:srgbClr val="1C3144"/>
                </a:solidFill>
                <a:latin typeface="Calibri"/>
                <a:ea typeface="Calibri"/>
                <a:cs typeface="Calibri"/>
              </a:defRPr>
            </a:lvl7pPr>
            <a:lvl8pPr>
              <a:defRPr sz="2550" b="1">
                <a:solidFill>
                  <a:srgbClr val="1C3144"/>
                </a:solidFill>
                <a:latin typeface="Calibri"/>
                <a:ea typeface="Calibri"/>
                <a:cs typeface="Calibri"/>
              </a:defRPr>
            </a:lvl8pPr>
            <a:lvl9pPr>
              <a:defRPr sz="2550" b="1">
                <a:solidFill>
                  <a:srgbClr val="1C3144"/>
                </a:solidFill>
                <a:latin typeface="Calibri"/>
                <a:ea typeface="Calibri"/>
                <a:cs typeface="Calibri"/>
              </a:defRPr>
            </a:lvl9pPr>
          </a:lstStyle>
          <a:p>
            <a:pPr>
              <a:defRPr sz="2550" b="1">
                <a:solidFill>
                  <a:srgbClr val="1C3144"/>
                </a:solidFill>
                <a:latin typeface="Calibri"/>
                <a:ea typeface="Calibri"/>
                <a:cs typeface="Calibri"/>
              </a:defRPr>
            </a:pPr>
            <a:r>
              <a:rPr sz="2550" b="1">
                <a:solidFill>
                  <a:srgbClr val="1C3144"/>
                </a:solidFill>
                <a:latin typeface="Calibri"/>
                <a:ea typeface="Calibri"/>
                <a:cs typeface="Calibri"/>
              </a:rPr>
              <a:t>How do we turn a legal question into a verified, appropriately limited memo?</a:t>
            </a:r>
          </a:p>
        </p:txBody>
      </p:sp>
      <p:sp>
        <p:nvSpPr>
          <p:cNvPr id="8" name="text-12">
            <a:extLst>
              <a:ext uri="{FF2B5EF4-FFF2-40B4-BE49-F238E27FC236}">
                <ns2:creationId id="{35297B7C-B077-432B-8826-D7DEDDE0D160}"/>
              </a:ext>
            </a:extLst>
          </p:cNvPr>
          <p:cNvSpPr>
            <a:spLocks noGrp="1"/>
          </p:cNvSpPr>
          <p:nvPr/>
        </p:nvSpPr>
        <p:spPr>
          <a:xfrm>
            <a:off x="619125" y="5848350"/>
            <a:ext cx="10953750" cy="590550"/>
          </a:xfrm>
          <a:prstGeom prst="rect">
            <a:avLst/>
          </a:prstGeom>
          <a:noFill/>
          <a:ln w="0">
            <a:noFill/>
          </a:ln>
        </p:spPr>
        <p:txBody>
          <a:bodyPr>
            <a:noAutofit/>
          </a:bodyPr>
          <a:lstStyle>
            <a:defPPr>
              <a:defRPr sz="1725" b="0">
                <a:solidFill>
                  <a:srgbClr val="536474"/>
                </a:solidFill>
                <a:latin typeface="Calibri"/>
                <a:ea typeface="Calibri"/>
                <a:cs typeface="Calibri"/>
              </a:defRPr>
            </a:defPPr>
            <a:lvl1pPr>
              <a:defRPr sz="1725" b="0">
                <a:solidFill>
                  <a:srgbClr val="536474"/>
                </a:solidFill>
                <a:latin typeface="Calibri"/>
                <a:ea typeface="Calibri"/>
                <a:cs typeface="Calibri"/>
              </a:defRPr>
            </a:lvl1pPr>
            <a:lvl2pPr>
              <a:defRPr sz="1725" b="0">
                <a:solidFill>
                  <a:srgbClr val="536474"/>
                </a:solidFill>
                <a:latin typeface="Calibri"/>
                <a:ea typeface="Calibri"/>
                <a:cs typeface="Calibri"/>
              </a:defRPr>
            </a:lvl2pPr>
            <a:lvl3pPr>
              <a:defRPr sz="1725" b="0">
                <a:solidFill>
                  <a:srgbClr val="536474"/>
                </a:solidFill>
                <a:latin typeface="Calibri"/>
                <a:ea typeface="Calibri"/>
                <a:cs typeface="Calibri"/>
              </a:defRPr>
            </a:lvl3pPr>
            <a:lvl4pPr>
              <a:defRPr sz="1725" b="0">
                <a:solidFill>
                  <a:srgbClr val="536474"/>
                </a:solidFill>
                <a:latin typeface="Calibri"/>
                <a:ea typeface="Calibri"/>
                <a:cs typeface="Calibri"/>
              </a:defRPr>
            </a:lvl4pPr>
            <a:lvl5pPr>
              <a:defRPr sz="1725" b="0">
                <a:solidFill>
                  <a:srgbClr val="536474"/>
                </a:solidFill>
                <a:latin typeface="Calibri"/>
                <a:ea typeface="Calibri"/>
                <a:cs typeface="Calibri"/>
              </a:defRPr>
            </a:lvl5pPr>
            <a:lvl6pPr>
              <a:defRPr sz="1725" b="0">
                <a:solidFill>
                  <a:srgbClr val="536474"/>
                </a:solidFill>
                <a:latin typeface="Calibri"/>
                <a:ea typeface="Calibri"/>
                <a:cs typeface="Calibri"/>
              </a:defRPr>
            </a:lvl6pPr>
            <a:lvl7pPr>
              <a:defRPr sz="1725" b="0">
                <a:solidFill>
                  <a:srgbClr val="536474"/>
                </a:solidFill>
                <a:latin typeface="Calibri"/>
                <a:ea typeface="Calibri"/>
                <a:cs typeface="Calibri"/>
              </a:defRPr>
            </a:lvl7pPr>
            <a:lvl8pPr>
              <a:defRPr sz="1725" b="0">
                <a:solidFill>
                  <a:srgbClr val="536474"/>
                </a:solidFill>
                <a:latin typeface="Calibri"/>
                <a:ea typeface="Calibri"/>
                <a:cs typeface="Calibri"/>
              </a:defRPr>
            </a:lvl8pPr>
            <a:lvl9pPr>
              <a:defRPr sz="1725" b="0">
                <a:solidFill>
                  <a:srgbClr val="536474"/>
                </a:solidFill>
                <a:latin typeface="Calibri"/>
                <a:ea typeface="Calibri"/>
                <a:cs typeface="Calibri"/>
              </a:defRPr>
            </a:lvl9pPr>
          </a:lstStyle>
          <a:p>
            <a:pPr>
              <a:defRPr sz="1725" b="0">
                <a:solidFill>
                  <a:srgbClr val="536474"/>
                </a:solidFill>
                <a:latin typeface="Calibri"/>
                <a:ea typeface="Calibri"/>
                <a:cs typeface="Calibri"/>
              </a:defRPr>
            </a:pPr>
            <a:r>
              <a:rPr sz="1725" b="0">
                <a:solidFill>
                  <a:srgbClr val="536474"/>
                </a:solidFill>
                <a:latin typeface="Calibri"/>
                <a:ea typeface="Calibri"/>
                <a:cs typeface="Calibri"/>
              </a:rPr>
              <a:t>Result: A claim-to-source register and an audited short research memo.</a:t>
            </a:r>
          </a:p>
        </p:txBody>
      </p:sp>
      <p:sp>
        <p:nvSpPr>
          <p:cNvPr id="3" name="text-7">
            <a:extLst>
              <a:ext uri="{FF2B5EF4-FFF2-40B4-BE49-F238E27FC236}">
                <ns2:creationId id="{9442BAF2-FAFE-4F14-ACE5-007B85DBEC9C}"/>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07   2</a:t>
            </a:r>
          </a:p>
        </p:txBody>
      </p:sp>
    </p:spTree>
    <p:extLst>
      <p:ext uri="{BB962C8B-B14F-4D97-AF65-F5344CB8AC3E}">
        <ns3:creationId val="1851566255"/>
      </p:ext>
    </p:extLst>
  </p:cSld>
  <p:transition spd="med" advClick="1">
    <p:fade/>
  </p:transition>
</p:sld>
</file>

<file path=ppt/slides/slide3.xml><?xml version="1.0" encoding="utf-8"?>
<p:sld xmlns:a="http://schemas.openxmlformats.org/drawingml/2006/main" xmlns:ns2="http://schemas.microsoft.com/office/drawing/2014/main" xmlns:ns3="http://schemas.microsoft.com/office/powerpoint/2010/main" xmlns:p="http://schemas.openxmlformats.org/presentationml/2006/main">
  <p:cSld name="The research question">
    <p:bg>
      <p:bgPr>
        <a:solidFill>
          <a:srgbClr val="FFFFFF"/>
        </a:solidFill>
      </p:bgPr>
    </p:bg>
    <p:spTree>
      <p:nvGrpSpPr>
        <p:cNvPr id="1" name=""/>
        <p:cNvGrpSpPr/>
        <p:nvPr/>
      </p:nvGrpSpPr>
      <p:grpSpPr>
        <a:xfrm/>
      </p:grpSpPr>
      <p:sp>
        <p:nvSpPr>
          <p:cNvPr id="10" name="text-13">
            <a:extLst>
              <a:ext uri="{FF2B5EF4-FFF2-40B4-BE49-F238E27FC236}">
                <ns2:creationId id="{AFFBE57E-3EDC-4446-AEBE-F16084F452A8}"/>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07</a:t>
            </a:r>
          </a:p>
        </p:txBody>
      </p:sp>
      <p:sp>
        <p:nvSpPr>
          <p:cNvPr id="2" name="text-14">
            <a:extLst>
              <a:ext uri="{FF2B5EF4-FFF2-40B4-BE49-F238E27FC236}">
                <ns2:creationId id="{2B135A14-C8EE-4E82-8316-243B83106E9B}"/>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The research question</a:t>
            </a:r>
          </a:p>
        </p:txBody>
      </p:sp>
      <p:sp>
        <p:nvSpPr>
          <p:cNvPr id="4" name="text-16">
            <a:extLst>
              <a:ext uri="{FF2B5EF4-FFF2-40B4-BE49-F238E27FC236}">
                <ns2:creationId id="{061A3B45-A375-4DAC-8FB7-7517B8E4411B}"/>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17">
            <a:extLst>
              <a:ext uri="{FF2B5EF4-FFF2-40B4-BE49-F238E27FC236}">
                <ns2:creationId id="{1CEC812F-EDEF-4A4A-9E1A-76D676EFEEFE}"/>
              </a:ext>
            </a:extLst>
          </p:cNvPr>
          <p:cNvSpPr>
            <a:spLocks noGrp="1"/>
          </p:cNvSpPr>
          <p:nvPr/>
        </p:nvSpPr>
        <p:spPr>
          <a:xfrm>
            <a:off x="1285875" y="1943100"/>
            <a:ext cx="10191750"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Historical question: how did Goal Relief treat the programme delivery fee?</a:t>
            </a:r>
          </a:p>
        </p:txBody>
      </p:sp>
      <p:sp>
        <p:nvSpPr>
          <p:cNvPr id="6" name="text-18">
            <a:extLst>
              <a:ext uri="{FF2B5EF4-FFF2-40B4-BE49-F238E27FC236}">
                <ns2:creationId id="{FC49283D-F3F2-48B2-84E9-64454B0BB882}"/>
              </a:ext>
            </a:extLst>
          </p:cNvPr>
          <p:cNvSpPr>
            <a:spLocks noGrp="1"/>
          </p:cNvSpPr>
          <p:nvPr/>
        </p:nvSpPr>
        <p:spPr>
          <a:xfrm>
            <a:off x="619125" y="321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19">
            <a:extLst>
              <a:ext uri="{FF2B5EF4-FFF2-40B4-BE49-F238E27FC236}">
                <ns2:creationId id="{FA07594D-C567-4DB0-9457-804662FB295E}"/>
              </a:ext>
            </a:extLst>
          </p:cNvPr>
          <p:cNvSpPr>
            <a:spLocks noGrp="1"/>
          </p:cNvSpPr>
          <p:nvPr/>
        </p:nvSpPr>
        <p:spPr>
          <a:xfrm>
            <a:off x="1285875" y="3213100"/>
            <a:ext cx="10191750"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Client question: what evidence and current law would a proposed overseas support fee require?</a:t>
            </a:r>
          </a:p>
        </p:txBody>
      </p:sp>
      <p:sp>
        <p:nvSpPr>
          <p:cNvPr id="8" name="text-20">
            <a:extLst>
              <a:ext uri="{FF2B5EF4-FFF2-40B4-BE49-F238E27FC236}">
                <ns2:creationId id="{CB5D71C0-C80C-4600-93E0-97F0DF2A2C40}"/>
              </a:ext>
            </a:extLst>
          </p:cNvPr>
          <p:cNvSpPr>
            <a:spLocks noGrp="1"/>
          </p:cNvSpPr>
          <p:nvPr/>
        </p:nvSpPr>
        <p:spPr>
          <a:xfrm>
            <a:off x="619125" y="448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21">
            <a:extLst>
              <a:ext uri="{FF2B5EF4-FFF2-40B4-BE49-F238E27FC236}">
                <ns2:creationId id="{C2B0C2FA-B7A0-4608-A2BE-7EDA210576F0}"/>
              </a:ext>
            </a:extLst>
          </p:cNvPr>
          <p:cNvSpPr>
            <a:spLocks noGrp="1"/>
          </p:cNvSpPr>
          <p:nvPr/>
        </p:nvSpPr>
        <p:spPr>
          <a:xfrm>
            <a:off x="1285875" y="4483100"/>
            <a:ext cx="10191750"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Keep the court’s facts and Victoria’s unconfirmed facts separate.</a:t>
            </a:r>
          </a:p>
        </p:txBody>
      </p:sp>
      <p:sp>
        <p:nvSpPr>
          <p:cNvPr id="3" name="text-15">
            <a:extLst>
              <a:ext uri="{FF2B5EF4-FFF2-40B4-BE49-F238E27FC236}">
                <ns2:creationId id="{225D1DDA-8149-4AA4-9FB9-892D6BA0D923}"/>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07   3</a:t>
            </a:r>
          </a:p>
        </p:txBody>
      </p:sp>
    </p:spTree>
    <p:extLst>
      <p:ext uri="{BB962C8B-B14F-4D97-AF65-F5344CB8AC3E}">
        <ns3:creationId val="1297395009"/>
      </p:ext>
    </p:extLst>
  </p:cSld>
  <p:transition spd="med" advClick="1">
    <p:fade/>
  </p:transition>
</p:sld>
</file>

<file path=ppt/slides/slide4.xml><?xml version="1.0" encoding="utf-8"?>
<p:sld xmlns:a="http://schemas.openxmlformats.org/drawingml/2006/main" xmlns:ns2="http://schemas.microsoft.com/office/drawing/2014/main" xmlns:ns3="http://schemas.microsoft.com/office/powerpoint/2010/main" xmlns:p="http://schemas.openxmlformats.org/presentationml/2006/main">
  <p:cSld name="A research plan before a report">
    <p:bg>
      <p:bgPr>
        <a:solidFill>
          <a:srgbClr val="FFFFFF"/>
        </a:solidFill>
      </p:bgPr>
    </p:bg>
    <p:spTree>
      <p:nvGrpSpPr>
        <p:cNvPr id="1" name=""/>
        <p:cNvGrpSpPr/>
        <p:nvPr/>
      </p:nvGrpSpPr>
      <p:grpSpPr>
        <a:xfrm/>
      </p:grpSpPr>
      <p:sp>
        <p:nvSpPr>
          <p:cNvPr id="12" name="text-22">
            <a:extLst>
              <a:ext uri="{FF2B5EF4-FFF2-40B4-BE49-F238E27FC236}">
                <ns2:creationId id="{E87272D9-C98D-4CBE-9C8A-167BC524DC73}"/>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07</a:t>
            </a:r>
          </a:p>
        </p:txBody>
      </p:sp>
      <p:sp>
        <p:nvSpPr>
          <p:cNvPr id="2" name="text-23">
            <a:extLst>
              <a:ext uri="{FF2B5EF4-FFF2-40B4-BE49-F238E27FC236}">
                <ns2:creationId id="{0E4D1E4E-7D82-4A73-9FC0-1C681A1D66B6}"/>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A research plan before a report</a:t>
            </a:r>
          </a:p>
        </p:txBody>
      </p:sp>
      <p:sp>
        <p:nvSpPr>
          <p:cNvPr id="4" name="text-25">
            <a:extLst>
              <a:ext uri="{FF2B5EF4-FFF2-40B4-BE49-F238E27FC236}">
                <ns2:creationId id="{F2B15B9A-7539-4FD8-BB35-DAB0CE4C94D8}"/>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26">
            <a:extLst>
              <a:ext uri="{FF2B5EF4-FFF2-40B4-BE49-F238E27FC236}">
                <ns2:creationId id="{149791D0-BA6B-4373-8DC1-23783D58DAC7}"/>
              </a:ext>
            </a:extLst>
          </p:cNvPr>
          <p:cNvSpPr>
            <a:spLocks noGrp="1"/>
          </p:cNvSpPr>
          <p:nvPr/>
        </p:nvSpPr>
        <p:spPr>
          <a:xfrm>
            <a:off x="1285875" y="1943100"/>
            <a:ext cx="10191750"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Question and jurisdiction</a:t>
            </a:r>
          </a:p>
        </p:txBody>
      </p:sp>
      <p:sp>
        <p:nvSpPr>
          <p:cNvPr id="6" name="text-27">
            <a:extLst>
              <a:ext uri="{FF2B5EF4-FFF2-40B4-BE49-F238E27FC236}">
                <ns2:creationId id="{CF471D6F-FF3B-4035-A83D-8142ADEDE2A1}"/>
              </a:ext>
            </a:extLst>
          </p:cNvPr>
          <p:cNvSpPr>
            <a:spLocks noGrp="1"/>
          </p:cNvSpPr>
          <p:nvPr/>
        </p:nvSpPr>
        <p:spPr>
          <a:xfrm>
            <a:off x="619125" y="2895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28">
            <a:extLst>
              <a:ext uri="{FF2B5EF4-FFF2-40B4-BE49-F238E27FC236}">
                <ns2:creationId id="{CDE7F112-3685-47DD-A6B8-724D90B2E393}"/>
              </a:ext>
            </a:extLst>
          </p:cNvPr>
          <p:cNvSpPr>
            <a:spLocks noGrp="1"/>
          </p:cNvSpPr>
          <p:nvPr/>
        </p:nvSpPr>
        <p:spPr>
          <a:xfrm>
            <a:off x="1285875" y="2895600"/>
            <a:ext cx="10191750"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Sources to search and exclusions</a:t>
            </a:r>
          </a:p>
        </p:txBody>
      </p:sp>
      <p:sp>
        <p:nvSpPr>
          <p:cNvPr id="8" name="text-29">
            <a:extLst>
              <a:ext uri="{FF2B5EF4-FFF2-40B4-BE49-F238E27FC236}">
                <ns2:creationId id="{3EAD3B58-BA25-472E-8955-ECCFF891506F}"/>
              </a:ext>
            </a:extLst>
          </p:cNvPr>
          <p:cNvSpPr>
            <a:spLocks noGrp="1"/>
          </p:cNvSpPr>
          <p:nvPr/>
        </p:nvSpPr>
        <p:spPr>
          <a:xfrm>
            <a:off x="619125" y="3848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30">
            <a:extLst>
              <a:ext uri="{FF2B5EF4-FFF2-40B4-BE49-F238E27FC236}">
                <ns2:creationId id="{E66945D6-234A-4B56-8859-48B7A249BD8E}"/>
              </a:ext>
            </a:extLst>
          </p:cNvPr>
          <p:cNvSpPr>
            <a:spLocks noGrp="1"/>
          </p:cNvSpPr>
          <p:nvPr/>
        </p:nvSpPr>
        <p:spPr>
          <a:xfrm>
            <a:off x="1285875" y="3848100"/>
            <a:ext cx="10191750"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Subquestions and conflicting positions</a:t>
            </a:r>
          </a:p>
        </p:txBody>
      </p:sp>
      <p:sp>
        <p:nvSpPr>
          <p:cNvPr id="10" name="text-31">
            <a:extLst>
              <a:ext uri="{FF2B5EF4-FFF2-40B4-BE49-F238E27FC236}">
                <ns2:creationId id="{260424DD-2C56-4A58-91BC-64D8999C76CE}"/>
              </a:ext>
            </a:extLst>
          </p:cNvPr>
          <p:cNvSpPr>
            <a:spLocks noGrp="1"/>
          </p:cNvSpPr>
          <p:nvPr/>
        </p:nvSpPr>
        <p:spPr>
          <a:xfrm>
            <a:off x="619125" y="4800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04</a:t>
            </a:r>
          </a:p>
        </p:txBody>
      </p:sp>
      <p:sp>
        <p:nvSpPr>
          <p:cNvPr id="11" name="text-32">
            <a:extLst>
              <a:ext uri="{FF2B5EF4-FFF2-40B4-BE49-F238E27FC236}">
                <ns2:creationId id="{79AF50BE-3BC6-42CE-B1F9-2A974DFD1B52}"/>
              </a:ext>
            </a:extLst>
          </p:cNvPr>
          <p:cNvSpPr>
            <a:spLocks noGrp="1"/>
          </p:cNvSpPr>
          <p:nvPr/>
        </p:nvSpPr>
        <p:spPr>
          <a:xfrm>
            <a:off x="1285875" y="4800600"/>
            <a:ext cx="10191750"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Evidence needed to support the conclusion</a:t>
            </a:r>
          </a:p>
        </p:txBody>
      </p:sp>
      <p:sp>
        <p:nvSpPr>
          <p:cNvPr id="3" name="text-24">
            <a:extLst>
              <a:ext uri="{FF2B5EF4-FFF2-40B4-BE49-F238E27FC236}">
                <ns2:creationId id="{C99EA5C5-7F61-4411-8F95-452A8B3A4472}"/>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07   4</a:t>
            </a:r>
          </a:p>
        </p:txBody>
      </p:sp>
    </p:spTree>
    <p:extLst>
      <p:ext uri="{BB962C8B-B14F-4D97-AF65-F5344CB8AC3E}">
        <ns3:creationId val="1209731797"/>
      </p:ext>
    </p:extLst>
  </p:cSld>
  <p:transition spd="med" advClick="1">
    <p:fade/>
  </p:transition>
</p:sld>
</file>

<file path=ppt/slides/slide5.xml><?xml version="1.0" encoding="utf-8"?>
<p:sld xmlns:a="http://schemas.openxmlformats.org/drawingml/2006/main" xmlns:ns2="http://schemas.microsoft.com/office/drawing/2014/main" xmlns:ns3="http://schemas.microsoft.com/office/powerpoint/2010/main" xmlns:p="http://schemas.openxmlformats.org/presentationml/2006/main">
  <p:cSld name="Sources and their roles">
    <p:bg>
      <p:bgPr>
        <a:solidFill>
          <a:srgbClr val="FFFFFF"/>
        </a:solidFill>
      </p:bgPr>
    </p:bg>
    <p:spTree>
      <p:nvGrpSpPr>
        <p:cNvPr id="1" name=""/>
        <p:cNvGrpSpPr/>
        <p:nvPr/>
      </p:nvGrpSpPr>
      <p:grpSpPr>
        <a:xfrm/>
      </p:grpSpPr>
      <p:sp>
        <p:nvSpPr>
          <p:cNvPr id="5" name="text-33">
            <a:extLst>
              <a:ext uri="{FF2B5EF4-FFF2-40B4-BE49-F238E27FC236}">
                <ns2:creationId id="{CC2D8389-391C-4D39-A1A5-32D49DF190AC}"/>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07</a:t>
            </a:r>
          </a:p>
        </p:txBody>
      </p:sp>
      <p:sp>
        <p:nvSpPr>
          <p:cNvPr id="2" name="text-34">
            <a:extLst>
              <a:ext uri="{FF2B5EF4-FFF2-40B4-BE49-F238E27FC236}">
                <ns2:creationId id="{0C63D4EA-DE19-4D77-90E9-BD563E261D72}"/>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Sources and their roles</a:t>
            </a:r>
          </a:p>
        </p:txBody>
      </p:sp>
      <p:graphicFrame>
        <p:nvGraphicFramePr>
          <p:cNvPr id="4" name="">
            <a:extLst>
              <a:ext uri="{FF2B5EF4-FFF2-40B4-BE49-F238E27FC236}">
                <ns2:creationId id="{710F95FD-B23A-439D-8F1B-2A5A0D9187CB}"/>
              </a:ext>
            </a:extLst>
          </p:cNvPr>
          <p:cNvGraphicFramePr/>
          <p:nvPr/>
        </p:nvGraphicFramePr>
        <p:xfrm>
          <a:off x="619125" y="1933575"/>
          <a:ext cx="10953750" cy="3743325"/>
        </p:xfrm>
        <a:graphic>
          <a:graphicData uri="http://schemas.openxmlformats.org/drawingml/2006/table">
            <a:tbl>
              <a:tblPr/>
              <a:tblGrid>
                <a:gridCol w="5476875"/>
                <a:gridCol w="5476875"/>
              </a:tblGrid>
              <a:tr h="748665">
                <a:tc>
                  <a:txBody>
                    <a:bodyPr/>
                    <a:lstStyle/>
                    <a:p>
                      <a:r>
                        <a:rPr sz="1875" b="1">
                          <a:solidFill>
                            <a:srgbClr val="FFFFFF"/>
                          </a:solidFill>
                          <a:latin typeface="Calibri"/>
                          <a:ea typeface="Calibri"/>
                          <a:cs typeface="Calibri"/>
                        </a:rPr>
                        <a:t>Source</a:t>
                      </a:r>
                    </a:p>
                  </a:txBody>
                  <a:tcPr marL="91440" marR="91440" marT="45720" marB="45720">
                    <a:lnL w="9525">
                      <a:solidFill>
                        <a:srgbClr val="C9D5DA"/>
                      </a:solidFill>
                      <a:prstDash val="solid"/>
                    </a:lnL>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c>
                  <a:txBody>
                    <a:bodyPr/>
                    <a:lstStyle/>
                    <a:p>
                      <a:r>
                        <a:rPr sz="1875" b="1">
                          <a:solidFill>
                            <a:srgbClr val="FFFFFF"/>
                          </a:solidFill>
                          <a:latin typeface="Calibri"/>
                          <a:ea typeface="Calibri"/>
                          <a:cs typeface="Calibri"/>
                        </a:rPr>
                        <a:t>What to establish</a:t>
                      </a:r>
                    </a:p>
                  </a:txBody>
                  <a:tcPr marL="91440" marR="91440" marT="45720" marB="45720">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r>
              <a:tr h="748665">
                <a:tc>
                  <a:txBody>
                    <a:bodyPr/>
                    <a:lstStyle/>
                    <a:p>
                      <a:r>
                        <a:rPr sz="1875" b="0">
                          <a:solidFill>
                            <a:srgbClr val="1C3144"/>
                          </a:solidFill>
                          <a:latin typeface="Calibri"/>
                          <a:ea typeface="Calibri"/>
                          <a:cs typeface="Calibri"/>
                        </a:rPr>
                        <a:t>Legislation</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Text, commencement and amendments</a:t>
                      </a:r>
                    </a:p>
                  </a:txBody>
                  <a:tcPr marL="91440" marR="91440" marT="45720" marB="45720">
                    <a:lnR w="9525">
                      <a:solidFill>
                        <a:srgbClr val="C9D5DA"/>
                      </a:solidFill>
                      <a:prstDash val="solid"/>
                    </a:lnR>
                    <a:lnB w="9525">
                      <a:solidFill>
                        <a:srgbClr val="C9D5DA"/>
                      </a:solidFill>
                      <a:prstDash val="solid"/>
                    </a:lnB>
                    <a:solidFill>
                      <a:srgbClr val="F1F5F6"/>
                    </a:solidFill>
                  </a:tcPr>
                </a:tc>
              </a:tr>
              <a:tr h="748665">
                <a:tc>
                  <a:txBody>
                    <a:bodyPr/>
                    <a:lstStyle/>
                    <a:p>
                      <a:r>
                        <a:rPr sz="1875" b="0">
                          <a:solidFill>
                            <a:srgbClr val="1C3144"/>
                          </a:solidFill>
                          <a:latin typeface="Calibri"/>
                          <a:ea typeface="Calibri"/>
                          <a:cs typeface="Calibri"/>
                        </a:rPr>
                        <a:t>Judgment</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Court, issue, reasoning and disposition</a:t>
                      </a:r>
                    </a:p>
                  </a:txBody>
                  <a:tcPr marL="91440" marR="91440" marT="45720" marB="45720">
                    <a:lnR w="9525">
                      <a:solidFill>
                        <a:srgbClr val="C9D5DA"/>
                      </a:solidFill>
                      <a:prstDash val="solid"/>
                    </a:lnR>
                    <a:lnB w="9525">
                      <a:solidFill>
                        <a:srgbClr val="C9D5DA"/>
                      </a:solidFill>
                      <a:prstDash val="solid"/>
                    </a:lnB>
                    <a:solidFill>
                      <a:srgbClr val="FFFFFF"/>
                    </a:solidFill>
                  </a:tcPr>
                </a:tc>
              </a:tr>
              <a:tr h="748665">
                <a:tc>
                  <a:txBody>
                    <a:bodyPr/>
                    <a:lstStyle/>
                    <a:p>
                      <a:r>
                        <a:rPr sz="1875" b="0">
                          <a:solidFill>
                            <a:srgbClr val="1C3144"/>
                          </a:solidFill>
                          <a:latin typeface="Calibri"/>
                          <a:ea typeface="Calibri"/>
                          <a:cs typeface="Calibri"/>
                        </a:rPr>
                        <a:t>Official guidance</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Issuer, date, scope and status</a:t>
                      </a:r>
                    </a:p>
                  </a:txBody>
                  <a:tcPr marL="91440" marR="91440" marT="45720" marB="45720">
                    <a:lnR w="9525">
                      <a:solidFill>
                        <a:srgbClr val="C9D5DA"/>
                      </a:solidFill>
                      <a:prstDash val="solid"/>
                    </a:lnR>
                    <a:lnB w="9525">
                      <a:solidFill>
                        <a:srgbClr val="C9D5DA"/>
                      </a:solidFill>
                      <a:prstDash val="solid"/>
                    </a:lnB>
                    <a:solidFill>
                      <a:srgbClr val="F1F5F6"/>
                    </a:solidFill>
                  </a:tcPr>
                </a:tc>
              </a:tr>
              <a:tr h="748665">
                <a:tc>
                  <a:txBody>
                    <a:bodyPr/>
                    <a:lstStyle/>
                    <a:p>
                      <a:r>
                        <a:rPr sz="1875" b="0">
                          <a:solidFill>
                            <a:srgbClr val="1C3144"/>
                          </a:solidFill>
                          <a:latin typeface="Calibri"/>
                          <a:ea typeface="Calibri"/>
                          <a:cs typeface="Calibri"/>
                        </a:rPr>
                        <a:t>Commentary</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Explanation and leads to primary authority</a:t>
                      </a:r>
                    </a:p>
                  </a:txBody>
                  <a:tcPr marL="91440" marR="91440" marT="45720" marB="45720">
                    <a:lnR w="9525">
                      <a:solidFill>
                        <a:srgbClr val="C9D5DA"/>
                      </a:solidFill>
                      <a:prstDash val="solid"/>
                    </a:lnR>
                    <a:lnB w="9525">
                      <a:solidFill>
                        <a:srgbClr val="C9D5DA"/>
                      </a:solidFill>
                      <a:prstDash val="solid"/>
                    </a:lnB>
                    <a:solidFill>
                      <a:srgbClr val="FFFFFF"/>
                    </a:solidFill>
                  </a:tcPr>
                </a:tc>
              </a:tr>
            </a:tbl>
          </a:graphicData>
        </a:graphic>
      </p:graphicFrame>
      <p:sp>
        <p:nvSpPr>
          <p:cNvPr id="3" name="text-35">
            <a:extLst>
              <a:ext uri="{FF2B5EF4-FFF2-40B4-BE49-F238E27FC236}">
                <ns2:creationId id="{C4D06079-074D-4AEA-B871-008530A42D1F}"/>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07   5</a:t>
            </a:r>
          </a:p>
        </p:txBody>
      </p:sp>
    </p:spTree>
    <p:extLst>
      <p:ext uri="{BB962C8B-B14F-4D97-AF65-F5344CB8AC3E}">
        <ns3:creationId val="887694434"/>
      </p:ext>
    </p:extLst>
  </p:cSld>
  <p:transition spd="med" advClick="1">
    <p:fade/>
  </p:transition>
</p:sld>
</file>

<file path=ppt/slides/slide6.xml><?xml version="1.0" encoding="utf-8"?>
<p:sld xmlns:a="http://schemas.openxmlformats.org/drawingml/2006/main" xmlns:ns2="http://schemas.microsoft.com/office/drawing/2014/main" xmlns:ns3="http://schemas.microsoft.com/office/powerpoint/2010/main" xmlns:p="http://schemas.openxmlformats.org/presentationml/2006/main">
  <p:cSld name="A real public authority to inspect">
    <p:bg>
      <p:bgPr>
        <a:solidFill>
          <a:srgbClr val="FFFFFF"/>
        </a:solidFill>
      </p:bgPr>
    </p:bg>
    <p:spTree>
      <p:nvGrpSpPr>
        <p:cNvPr id="1" name=""/>
        <p:cNvGrpSpPr/>
        <p:nvPr/>
      </p:nvGrpSpPr>
      <p:grpSpPr>
        <a:xfrm/>
      </p:grpSpPr>
      <p:sp>
        <p:nvSpPr>
          <p:cNvPr id="10" name="text-36">
            <a:extLst>
              <a:ext uri="{FF2B5EF4-FFF2-40B4-BE49-F238E27FC236}">
                <ns2:creationId id="{EE902B68-AF76-49BB-863E-E72C4BDAF303}"/>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07</a:t>
            </a:r>
          </a:p>
        </p:txBody>
      </p:sp>
      <p:sp>
        <p:nvSpPr>
          <p:cNvPr id="2" name="text-37">
            <a:extLst>
              <a:ext uri="{FF2B5EF4-FFF2-40B4-BE49-F238E27FC236}">
                <ns2:creationId id="{09CAC1B4-20DB-4242-BFDF-F7B9951BE696}"/>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A real public authority to inspect</a:t>
            </a:r>
          </a:p>
        </p:txBody>
      </p:sp>
      <p:sp>
        <p:nvSpPr>
          <p:cNvPr id="4" name="text-39">
            <a:extLst>
              <a:ext uri="{FF2B5EF4-FFF2-40B4-BE49-F238E27FC236}">
                <ns2:creationId id="{731BEE5C-FED4-470D-B28F-7E8EE37BAA89}"/>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40">
            <a:extLst>
              <a:ext uri="{FF2B5EF4-FFF2-40B4-BE49-F238E27FC236}">
                <ns2:creationId id="{B8291C3A-F774-435B-BD2A-3C7BDA01A3EB}"/>
              </a:ext>
            </a:extLst>
          </p:cNvPr>
          <p:cNvSpPr>
            <a:spLocks noGrp="1"/>
          </p:cNvSpPr>
          <p:nvPr/>
        </p:nvSpPr>
        <p:spPr>
          <a:xfrm>
            <a:off x="1285875" y="1943100"/>
            <a:ext cx="10191750"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Goal Relief Development Organisation v Uganda Revenue Authority</a:t>
            </a:r>
          </a:p>
        </p:txBody>
      </p:sp>
      <p:sp>
        <p:nvSpPr>
          <p:cNvPr id="6" name="text-41">
            <a:extLst>
              <a:ext uri="{FF2B5EF4-FFF2-40B4-BE49-F238E27FC236}">
                <ns2:creationId id="{4CF0D0B7-C9FF-4667-A85B-0A5284F6D031}"/>
              </a:ext>
            </a:extLst>
          </p:cNvPr>
          <p:cNvSpPr>
            <a:spLocks noGrp="1"/>
          </p:cNvSpPr>
          <p:nvPr/>
        </p:nvSpPr>
        <p:spPr>
          <a:xfrm>
            <a:off x="619125" y="321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42">
            <a:extLst>
              <a:ext uri="{FF2B5EF4-FFF2-40B4-BE49-F238E27FC236}">
                <ns2:creationId id="{21F07A0D-6F52-4EE6-A054-CB1BFB95730C}"/>
              </a:ext>
            </a:extLst>
          </p:cNvPr>
          <p:cNvSpPr>
            <a:spLocks noGrp="1"/>
          </p:cNvSpPr>
          <p:nvPr/>
        </p:nvSpPr>
        <p:spPr>
          <a:xfrm>
            <a:off x="1285875" y="3213100"/>
            <a:ext cx="10191750"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Civil Appeal 50 of 2023, [2024] UGCommC 272</a:t>
            </a:r>
          </a:p>
        </p:txBody>
      </p:sp>
      <p:sp>
        <p:nvSpPr>
          <p:cNvPr id="8" name="text-43">
            <a:extLst>
              <a:ext uri="{FF2B5EF4-FFF2-40B4-BE49-F238E27FC236}">
                <ns2:creationId id="{1C4104B7-7D5C-4A71-90CE-3BF3D9D4F92B}"/>
              </a:ext>
            </a:extLst>
          </p:cNvPr>
          <p:cNvSpPr>
            <a:spLocks noGrp="1"/>
          </p:cNvSpPr>
          <p:nvPr/>
        </p:nvSpPr>
        <p:spPr>
          <a:xfrm>
            <a:off x="619125" y="448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44">
            <a:extLst>
              <a:ext uri="{FF2B5EF4-FFF2-40B4-BE49-F238E27FC236}">
                <ns2:creationId id="{D0849192-693D-4B45-89C6-0658096DFB24}"/>
              </a:ext>
            </a:extLst>
          </p:cNvPr>
          <p:cNvSpPr>
            <a:spLocks noGrp="1"/>
          </p:cNvSpPr>
          <p:nvPr/>
        </p:nvSpPr>
        <p:spPr>
          <a:xfrm>
            <a:off x="1285875" y="4483100"/>
            <a:ext cx="10191750"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Use the judgment as a research-reading exercise.</a:t>
            </a:r>
          </a:p>
        </p:txBody>
      </p:sp>
      <p:sp>
        <p:nvSpPr>
          <p:cNvPr id="3" name="text-38">
            <a:extLst>
              <a:ext uri="{FF2B5EF4-FFF2-40B4-BE49-F238E27FC236}">
                <ns2:creationId id="{12EC2B20-5AC6-4DF3-ABCF-E813D5236D1E}"/>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07   6</a:t>
            </a:r>
          </a:p>
        </p:txBody>
      </p:sp>
    </p:spTree>
    <p:extLst>
      <p:ext uri="{BB962C8B-B14F-4D97-AF65-F5344CB8AC3E}">
        <ns3:creationId val="160529386"/>
      </p:ext>
    </p:extLst>
  </p:cSld>
  <p:transition spd="med" advClick="1">
    <p:fade/>
  </p:transition>
</p:sld>
</file>

<file path=ppt/slides/slide7.xml><?xml version="1.0" encoding="utf-8"?>
<p:sld xmlns:a="http://schemas.openxmlformats.org/drawingml/2006/main" xmlns:ns2="http://schemas.microsoft.com/office/drawing/2014/main" xmlns:ns3="http://schemas.microsoft.com/office/powerpoint/2010/main" xmlns:p="http://schemas.openxmlformats.org/presentationml/2006/main">
  <p:cSld name="Reading a judgment with AI">
    <p:bg>
      <p:bgPr>
        <a:solidFill>
          <a:srgbClr val="FFFFFF"/>
        </a:solidFill>
      </p:bgPr>
    </p:bg>
    <p:spTree>
      <p:nvGrpSpPr>
        <p:cNvPr id="1" name=""/>
        <p:cNvGrpSpPr/>
        <p:nvPr/>
      </p:nvGrpSpPr>
      <p:grpSpPr>
        <a:xfrm/>
      </p:grpSpPr>
      <p:sp>
        <p:nvSpPr>
          <p:cNvPr id="12" name="text-45">
            <a:extLst>
              <a:ext uri="{FF2B5EF4-FFF2-40B4-BE49-F238E27FC236}">
                <ns2:creationId id="{078C02B3-CA91-4A99-99AB-883FB9003F7D}"/>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07</a:t>
            </a:r>
          </a:p>
        </p:txBody>
      </p:sp>
      <p:sp>
        <p:nvSpPr>
          <p:cNvPr id="2" name="text-46">
            <a:extLst>
              <a:ext uri="{FF2B5EF4-FFF2-40B4-BE49-F238E27FC236}">
                <ns2:creationId id="{25E42B7B-FCE6-4BA7-B826-ECBC6C93568B}"/>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Reading a judgment with AI</a:t>
            </a:r>
          </a:p>
        </p:txBody>
      </p:sp>
      <p:sp>
        <p:nvSpPr>
          <p:cNvPr id="4" name="text-48">
            <a:extLst>
              <a:ext uri="{FF2B5EF4-FFF2-40B4-BE49-F238E27FC236}">
                <ns2:creationId id="{16D2808A-8BBE-4487-8481-A05A74A1B0EE}"/>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49">
            <a:extLst>
              <a:ext uri="{FF2B5EF4-FFF2-40B4-BE49-F238E27FC236}">
                <ns2:creationId id="{C1AD05CC-F72A-401A-8505-5F2FF470F52C}"/>
              </a:ext>
            </a:extLst>
          </p:cNvPr>
          <p:cNvSpPr>
            <a:spLocks noGrp="1"/>
          </p:cNvSpPr>
          <p:nvPr/>
        </p:nvSpPr>
        <p:spPr>
          <a:xfrm>
            <a:off x="1285875" y="1943100"/>
            <a:ext cx="10191750"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Identify the parties and procedural posture.</a:t>
            </a:r>
          </a:p>
        </p:txBody>
      </p:sp>
      <p:sp>
        <p:nvSpPr>
          <p:cNvPr id="6" name="text-50">
            <a:extLst>
              <a:ext uri="{FF2B5EF4-FFF2-40B4-BE49-F238E27FC236}">
                <ns2:creationId id="{4B4DC8D2-6739-46C9-A346-1F3B8520745E}"/>
              </a:ext>
            </a:extLst>
          </p:cNvPr>
          <p:cNvSpPr>
            <a:spLocks noGrp="1"/>
          </p:cNvSpPr>
          <p:nvPr/>
        </p:nvSpPr>
        <p:spPr>
          <a:xfrm>
            <a:off x="619125" y="2895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51">
            <a:extLst>
              <a:ext uri="{FF2B5EF4-FFF2-40B4-BE49-F238E27FC236}">
                <ns2:creationId id="{6C054711-347B-43B9-A332-CBB05A5483BE}"/>
              </a:ext>
            </a:extLst>
          </p:cNvPr>
          <p:cNvSpPr>
            <a:spLocks noGrp="1"/>
          </p:cNvSpPr>
          <p:nvPr/>
        </p:nvSpPr>
        <p:spPr>
          <a:xfrm>
            <a:off x="1285875" y="2895600"/>
            <a:ext cx="10191750"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Locate the issue and the court’s reasoning.</a:t>
            </a:r>
          </a:p>
        </p:txBody>
      </p:sp>
      <p:sp>
        <p:nvSpPr>
          <p:cNvPr id="8" name="text-52">
            <a:extLst>
              <a:ext uri="{FF2B5EF4-FFF2-40B4-BE49-F238E27FC236}">
                <ns2:creationId id="{BA573753-E719-4DB6-B2FC-FE8088D0F211}"/>
              </a:ext>
            </a:extLst>
          </p:cNvPr>
          <p:cNvSpPr>
            <a:spLocks noGrp="1"/>
          </p:cNvSpPr>
          <p:nvPr/>
        </p:nvSpPr>
        <p:spPr>
          <a:xfrm>
            <a:off x="619125" y="3848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53">
            <a:extLst>
              <a:ext uri="{FF2B5EF4-FFF2-40B4-BE49-F238E27FC236}">
                <ns2:creationId id="{D7504302-F0EC-4E50-ACA4-2D80A77A3CDD}"/>
              </a:ext>
            </a:extLst>
          </p:cNvPr>
          <p:cNvSpPr>
            <a:spLocks noGrp="1"/>
          </p:cNvSpPr>
          <p:nvPr/>
        </p:nvSpPr>
        <p:spPr>
          <a:xfrm>
            <a:off x="1285875" y="3848100"/>
            <a:ext cx="10191750"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Separate submissions from findings.</a:t>
            </a:r>
          </a:p>
        </p:txBody>
      </p:sp>
      <p:sp>
        <p:nvSpPr>
          <p:cNvPr id="10" name="text-54">
            <a:extLst>
              <a:ext uri="{FF2B5EF4-FFF2-40B4-BE49-F238E27FC236}">
                <ns2:creationId id="{8B47CA88-5F47-48CC-9969-F17540C2D60E}"/>
              </a:ext>
            </a:extLst>
          </p:cNvPr>
          <p:cNvSpPr>
            <a:spLocks noGrp="1"/>
          </p:cNvSpPr>
          <p:nvPr/>
        </p:nvSpPr>
        <p:spPr>
          <a:xfrm>
            <a:off x="619125" y="4800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04</a:t>
            </a:r>
          </a:p>
        </p:txBody>
      </p:sp>
      <p:sp>
        <p:nvSpPr>
          <p:cNvPr id="11" name="text-55">
            <a:extLst>
              <a:ext uri="{FF2B5EF4-FFF2-40B4-BE49-F238E27FC236}">
                <ns2:creationId id="{66A91628-E49F-47DB-B842-3B25E1AFEA86}"/>
              </a:ext>
            </a:extLst>
          </p:cNvPr>
          <p:cNvSpPr>
            <a:spLocks noGrp="1"/>
          </p:cNvSpPr>
          <p:nvPr/>
        </p:nvSpPr>
        <p:spPr>
          <a:xfrm>
            <a:off x="1285875" y="4800600"/>
            <a:ext cx="10191750"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Check the order or disposition.</a:t>
            </a:r>
          </a:p>
        </p:txBody>
      </p:sp>
      <p:sp>
        <p:nvSpPr>
          <p:cNvPr id="3" name="text-47">
            <a:extLst>
              <a:ext uri="{FF2B5EF4-FFF2-40B4-BE49-F238E27FC236}">
                <ns2:creationId id="{C98847E4-AC93-4921-8273-2E9DB4A354A9}"/>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07   7</a:t>
            </a:r>
          </a:p>
        </p:txBody>
      </p:sp>
    </p:spTree>
    <p:extLst>
      <p:ext uri="{BB962C8B-B14F-4D97-AF65-F5344CB8AC3E}">
        <ns3:creationId val="1431415247"/>
      </p:ext>
    </p:extLst>
  </p:cSld>
  <p:transition spd="med" advClick="1">
    <p:fade/>
  </p:transition>
</p:sld>
</file>

<file path=ppt/slides/slide8.xml><?xml version="1.0" encoding="utf-8"?>
<p:sld xmlns:a="http://schemas.openxmlformats.org/drawingml/2006/main" xmlns:ns2="http://schemas.microsoft.com/office/drawing/2014/main" xmlns:ns3="http://schemas.microsoft.com/office/powerpoint/2010/main" xmlns:p="http://schemas.openxmlformats.org/presentationml/2006/main">
  <p:cSld name="Submission and finding">
    <p:bg>
      <p:bgPr>
        <a:solidFill>
          <a:srgbClr val="FFFFFF"/>
        </a:solidFill>
      </p:bgPr>
    </p:bg>
    <p:spTree>
      <p:nvGrpSpPr>
        <p:cNvPr id="1" name=""/>
        <p:cNvGrpSpPr/>
        <p:nvPr/>
      </p:nvGrpSpPr>
      <p:grpSpPr>
        <a:xfrm/>
      </p:grpSpPr>
      <p:sp>
        <p:nvSpPr>
          <p:cNvPr id="8" name="text-56">
            <a:extLst>
              <a:ext uri="{FF2B5EF4-FFF2-40B4-BE49-F238E27FC236}">
                <ns2:creationId id="{6DB857CF-28E2-4BB9-AF35-BE28CDD69424}"/>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07</a:t>
            </a:r>
          </a:p>
        </p:txBody>
      </p:sp>
      <p:sp>
        <p:nvSpPr>
          <p:cNvPr id="2" name="text-57">
            <a:extLst>
              <a:ext uri="{FF2B5EF4-FFF2-40B4-BE49-F238E27FC236}">
                <ns2:creationId id="{1BFE414D-58E5-4D83-A546-F4E867E51C89}"/>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Submission and finding</a:t>
            </a:r>
          </a:p>
        </p:txBody>
      </p:sp>
      <p:sp>
        <p:nvSpPr>
          <p:cNvPr id="4" name="text-59">
            <a:extLst>
              <a:ext uri="{FF2B5EF4-FFF2-40B4-BE49-F238E27FC236}">
                <ns2:creationId id="{42D338E1-122C-4B43-BFC3-13070AE44626}"/>
              </a:ext>
            </a:extLst>
          </p:cNvPr>
          <p:cNvSpPr>
            <a:spLocks noGrp="1"/>
          </p:cNvSpPr>
          <p:nvPr/>
        </p:nvSpPr>
        <p:spPr>
          <a:xfrm>
            <a:off x="619125" y="2000250"/>
            <a:ext cx="5238750" cy="666750"/>
          </a:xfrm>
          <a:prstGeom prst="rect">
            <a:avLst/>
          </a:prstGeom>
          <a:noFill/>
          <a:ln w="0">
            <a:noFill/>
          </a:ln>
        </p:spPr>
        <p:txBody>
          <a:bodyPr>
            <a:noAutofit/>
          </a:bodyPr>
          <a:lstStyle>
            <a:defPPr>
              <a:defRPr sz="2100" b="1">
                <a:solidFill>
                  <a:srgbClr val="C94E29"/>
                </a:solidFill>
                <a:latin typeface="Calibri"/>
                <a:ea typeface="Calibri"/>
                <a:cs typeface="Calibri"/>
              </a:defRPr>
            </a:defPPr>
            <a:lvl1pPr>
              <a:defRPr sz="2100" b="1">
                <a:solidFill>
                  <a:srgbClr val="C94E29"/>
                </a:solidFill>
                <a:latin typeface="Calibri"/>
                <a:ea typeface="Calibri"/>
                <a:cs typeface="Calibri"/>
              </a:defRPr>
            </a:lvl1pPr>
            <a:lvl2pPr>
              <a:defRPr sz="2100" b="1">
                <a:solidFill>
                  <a:srgbClr val="C94E29"/>
                </a:solidFill>
                <a:latin typeface="Calibri"/>
                <a:ea typeface="Calibri"/>
                <a:cs typeface="Calibri"/>
              </a:defRPr>
            </a:lvl2pPr>
            <a:lvl3pPr>
              <a:defRPr sz="2100" b="1">
                <a:solidFill>
                  <a:srgbClr val="C94E29"/>
                </a:solidFill>
                <a:latin typeface="Calibri"/>
                <a:ea typeface="Calibri"/>
                <a:cs typeface="Calibri"/>
              </a:defRPr>
            </a:lvl3pPr>
            <a:lvl4pPr>
              <a:defRPr sz="2100" b="1">
                <a:solidFill>
                  <a:srgbClr val="C94E29"/>
                </a:solidFill>
                <a:latin typeface="Calibri"/>
                <a:ea typeface="Calibri"/>
                <a:cs typeface="Calibri"/>
              </a:defRPr>
            </a:lvl4pPr>
            <a:lvl5pPr>
              <a:defRPr sz="2100" b="1">
                <a:solidFill>
                  <a:srgbClr val="C94E29"/>
                </a:solidFill>
                <a:latin typeface="Calibri"/>
                <a:ea typeface="Calibri"/>
                <a:cs typeface="Calibri"/>
              </a:defRPr>
            </a:lvl5pPr>
            <a:lvl6pPr>
              <a:defRPr sz="2100" b="1">
                <a:solidFill>
                  <a:srgbClr val="C94E29"/>
                </a:solidFill>
                <a:latin typeface="Calibri"/>
                <a:ea typeface="Calibri"/>
                <a:cs typeface="Calibri"/>
              </a:defRPr>
            </a:lvl6pPr>
            <a:lvl7pPr>
              <a:defRPr sz="2100" b="1">
                <a:solidFill>
                  <a:srgbClr val="C94E29"/>
                </a:solidFill>
                <a:latin typeface="Calibri"/>
                <a:ea typeface="Calibri"/>
                <a:cs typeface="Calibri"/>
              </a:defRPr>
            </a:lvl7pPr>
            <a:lvl8pPr>
              <a:defRPr sz="2100" b="1">
                <a:solidFill>
                  <a:srgbClr val="C94E29"/>
                </a:solidFill>
                <a:latin typeface="Calibri"/>
                <a:ea typeface="Calibri"/>
                <a:cs typeface="Calibri"/>
              </a:defRPr>
            </a:lvl8pPr>
            <a:lvl9pPr>
              <a:defRPr sz="2100" b="1">
                <a:solidFill>
                  <a:srgbClr val="C94E29"/>
                </a:solidFill>
                <a:latin typeface="Calibri"/>
                <a:ea typeface="Calibri"/>
                <a:cs typeface="Calibri"/>
              </a:defRPr>
            </a:lvl9pPr>
          </a:lstStyle>
          <a:p>
            <a:pPr>
              <a:defRPr sz="2100" b="1">
                <a:solidFill>
                  <a:srgbClr val="C94E29"/>
                </a:solidFill>
                <a:latin typeface="Calibri"/>
                <a:ea typeface="Calibri"/>
                <a:cs typeface="Calibri"/>
              </a:defRPr>
            </a:pPr>
            <a:r>
              <a:rPr sz="2100" b="1">
                <a:solidFill>
                  <a:srgbClr val="C94E29"/>
                </a:solidFill>
                <a:latin typeface="Calibri"/>
                <a:ea typeface="Calibri"/>
                <a:cs typeface="Calibri"/>
              </a:rPr>
              <a:t>A party argues</a:t>
            </a:r>
          </a:p>
        </p:txBody>
      </p:sp>
      <p:sp>
        <p:nvSpPr>
          <p:cNvPr id="5" name="text-60">
            <a:extLst>
              <a:ext uri="{FF2B5EF4-FFF2-40B4-BE49-F238E27FC236}">
                <ns2:creationId id="{0DA1C21D-2567-42FF-A009-89E8DA86E570}"/>
              </a:ext>
            </a:extLst>
          </p:cNvPr>
          <p:cNvSpPr>
            <a:spLocks noGrp="1"/>
          </p:cNvSpPr>
          <p:nvPr/>
        </p:nvSpPr>
        <p:spPr>
          <a:xfrm>
            <a:off x="619125" y="2876550"/>
            <a:ext cx="5238750" cy="2743200"/>
          </a:xfrm>
          <a:prstGeom prst="rect">
            <a:avLst/>
          </a:prstGeom>
          <a:noFill/>
          <a:ln w="0">
            <a:noFill/>
          </a:ln>
        </p:spPr>
        <p:txBody>
          <a:bodyPr>
            <a:noAutofit/>
          </a:bodyPr>
          <a:lstStyle>
            <a:defPPr>
              <a:defRPr sz="2475" b="0">
                <a:solidFill>
                  <a:srgbClr val="1C3144"/>
                </a:solidFill>
                <a:latin typeface="Calibri"/>
                <a:ea typeface="Calibri"/>
                <a:cs typeface="Calibri"/>
              </a:defRPr>
            </a:defPPr>
            <a:lvl1pPr>
              <a:defRPr sz="2475" b="0">
                <a:solidFill>
                  <a:srgbClr val="1C3144"/>
                </a:solidFill>
                <a:latin typeface="Calibri"/>
                <a:ea typeface="Calibri"/>
                <a:cs typeface="Calibri"/>
              </a:defRPr>
            </a:lvl1pPr>
            <a:lvl2pPr>
              <a:defRPr sz="2475" b="0">
                <a:solidFill>
                  <a:srgbClr val="1C3144"/>
                </a:solidFill>
                <a:latin typeface="Calibri"/>
                <a:ea typeface="Calibri"/>
                <a:cs typeface="Calibri"/>
              </a:defRPr>
            </a:lvl2pPr>
            <a:lvl3pPr>
              <a:defRPr sz="2475" b="0">
                <a:solidFill>
                  <a:srgbClr val="1C3144"/>
                </a:solidFill>
                <a:latin typeface="Calibri"/>
                <a:ea typeface="Calibri"/>
                <a:cs typeface="Calibri"/>
              </a:defRPr>
            </a:lvl3pPr>
            <a:lvl4pPr>
              <a:defRPr sz="2475" b="0">
                <a:solidFill>
                  <a:srgbClr val="1C3144"/>
                </a:solidFill>
                <a:latin typeface="Calibri"/>
                <a:ea typeface="Calibri"/>
                <a:cs typeface="Calibri"/>
              </a:defRPr>
            </a:lvl4pPr>
            <a:lvl5pPr>
              <a:defRPr sz="2475" b="0">
                <a:solidFill>
                  <a:srgbClr val="1C3144"/>
                </a:solidFill>
                <a:latin typeface="Calibri"/>
                <a:ea typeface="Calibri"/>
                <a:cs typeface="Calibri"/>
              </a:defRPr>
            </a:lvl5pPr>
            <a:lvl6pPr>
              <a:defRPr sz="2475" b="0">
                <a:solidFill>
                  <a:srgbClr val="1C3144"/>
                </a:solidFill>
                <a:latin typeface="Calibri"/>
                <a:ea typeface="Calibri"/>
                <a:cs typeface="Calibri"/>
              </a:defRPr>
            </a:lvl6pPr>
            <a:lvl7pPr>
              <a:defRPr sz="2475" b="0">
                <a:solidFill>
                  <a:srgbClr val="1C3144"/>
                </a:solidFill>
                <a:latin typeface="Calibri"/>
                <a:ea typeface="Calibri"/>
                <a:cs typeface="Calibri"/>
              </a:defRPr>
            </a:lvl7pPr>
            <a:lvl8pPr>
              <a:defRPr sz="2475" b="0">
                <a:solidFill>
                  <a:srgbClr val="1C3144"/>
                </a:solidFill>
                <a:latin typeface="Calibri"/>
                <a:ea typeface="Calibri"/>
                <a:cs typeface="Calibri"/>
              </a:defRPr>
            </a:lvl8pPr>
            <a:lvl9pPr>
              <a:defRPr sz="2475" b="0">
                <a:solidFill>
                  <a:srgbClr val="1C3144"/>
                </a:solidFill>
                <a:latin typeface="Calibri"/>
                <a:ea typeface="Calibri"/>
                <a:cs typeface="Calibri"/>
              </a:defRPr>
            </a:lvl9pPr>
          </a:lstStyle>
          <a:p>
            <a:pPr>
              <a:defRPr sz="2475" b="0">
                <a:solidFill>
                  <a:srgbClr val="1C3144"/>
                </a:solidFill>
                <a:latin typeface="Calibri"/>
                <a:ea typeface="Calibri"/>
                <a:cs typeface="Calibri"/>
              </a:defRPr>
            </a:pPr>
            <a:r>
              <a:rPr sz="2475" b="0">
                <a:solidFill>
                  <a:srgbClr val="1C3144"/>
                </a:solidFill>
                <a:latin typeface="Calibri"/>
                <a:ea typeface="Calibri"/>
                <a:cs typeface="Calibri"/>
              </a:rPr>
              <a:t>An assertion in submissions expresses that party’s position.</a:t>
            </a:r>
          </a:p>
        </p:txBody>
      </p:sp>
      <p:sp>
        <p:nvSpPr>
          <p:cNvPr id="6" name="text-61">
            <a:extLst>
              <a:ext uri="{FF2B5EF4-FFF2-40B4-BE49-F238E27FC236}">
                <ns2:creationId id="{BBC6A5AD-09A8-43A0-BA63-2ABA84F5AD3A}"/>
              </a:ext>
            </a:extLst>
          </p:cNvPr>
          <p:cNvSpPr>
            <a:spLocks noGrp="1"/>
          </p:cNvSpPr>
          <p:nvPr/>
        </p:nvSpPr>
        <p:spPr>
          <a:xfrm>
            <a:off x="6286500" y="2000250"/>
            <a:ext cx="5238750" cy="666750"/>
          </a:xfrm>
          <a:prstGeom prst="rect">
            <a:avLst/>
          </a:prstGeom>
          <a:noFill/>
          <a:ln w="0">
            <a:noFill/>
          </a:ln>
        </p:spPr>
        <p:txBody>
          <a:bodyPr>
            <a:noAutofit/>
          </a:bodyPr>
          <a:lstStyle>
            <a:defPPr>
              <a:defRPr sz="2100" b="1">
                <a:solidFill>
                  <a:srgbClr val="246E63"/>
                </a:solidFill>
                <a:latin typeface="Calibri"/>
                <a:ea typeface="Calibri"/>
                <a:cs typeface="Calibri"/>
              </a:defRPr>
            </a:defPPr>
            <a:lvl1pPr>
              <a:defRPr sz="2100" b="1">
                <a:solidFill>
                  <a:srgbClr val="246E63"/>
                </a:solidFill>
                <a:latin typeface="Calibri"/>
                <a:ea typeface="Calibri"/>
                <a:cs typeface="Calibri"/>
              </a:defRPr>
            </a:lvl1pPr>
            <a:lvl2pPr>
              <a:defRPr sz="2100" b="1">
                <a:solidFill>
                  <a:srgbClr val="246E63"/>
                </a:solidFill>
                <a:latin typeface="Calibri"/>
                <a:ea typeface="Calibri"/>
                <a:cs typeface="Calibri"/>
              </a:defRPr>
            </a:lvl2pPr>
            <a:lvl3pPr>
              <a:defRPr sz="2100" b="1">
                <a:solidFill>
                  <a:srgbClr val="246E63"/>
                </a:solidFill>
                <a:latin typeface="Calibri"/>
                <a:ea typeface="Calibri"/>
                <a:cs typeface="Calibri"/>
              </a:defRPr>
            </a:lvl3pPr>
            <a:lvl4pPr>
              <a:defRPr sz="2100" b="1">
                <a:solidFill>
                  <a:srgbClr val="246E63"/>
                </a:solidFill>
                <a:latin typeface="Calibri"/>
                <a:ea typeface="Calibri"/>
                <a:cs typeface="Calibri"/>
              </a:defRPr>
            </a:lvl4pPr>
            <a:lvl5pPr>
              <a:defRPr sz="2100" b="1">
                <a:solidFill>
                  <a:srgbClr val="246E63"/>
                </a:solidFill>
                <a:latin typeface="Calibri"/>
                <a:ea typeface="Calibri"/>
                <a:cs typeface="Calibri"/>
              </a:defRPr>
            </a:lvl5pPr>
            <a:lvl6pPr>
              <a:defRPr sz="2100" b="1">
                <a:solidFill>
                  <a:srgbClr val="246E63"/>
                </a:solidFill>
                <a:latin typeface="Calibri"/>
                <a:ea typeface="Calibri"/>
                <a:cs typeface="Calibri"/>
              </a:defRPr>
            </a:lvl6pPr>
            <a:lvl7pPr>
              <a:defRPr sz="2100" b="1">
                <a:solidFill>
                  <a:srgbClr val="246E63"/>
                </a:solidFill>
                <a:latin typeface="Calibri"/>
                <a:ea typeface="Calibri"/>
                <a:cs typeface="Calibri"/>
              </a:defRPr>
            </a:lvl7pPr>
            <a:lvl8pPr>
              <a:defRPr sz="2100" b="1">
                <a:solidFill>
                  <a:srgbClr val="246E63"/>
                </a:solidFill>
                <a:latin typeface="Calibri"/>
                <a:ea typeface="Calibri"/>
                <a:cs typeface="Calibri"/>
              </a:defRPr>
            </a:lvl8pPr>
            <a:lvl9pPr>
              <a:defRPr sz="2100" b="1">
                <a:solidFill>
                  <a:srgbClr val="246E63"/>
                </a:solidFill>
                <a:latin typeface="Calibri"/>
                <a:ea typeface="Calibri"/>
                <a:cs typeface="Calibri"/>
              </a:defRPr>
            </a:lvl9pPr>
          </a:lstStyle>
          <a:p>
            <a:pPr>
              <a:defRPr sz="2100" b="1">
                <a:solidFill>
                  <a:srgbClr val="246E63"/>
                </a:solidFill>
                <a:latin typeface="Calibri"/>
                <a:ea typeface="Calibri"/>
                <a:cs typeface="Calibri"/>
              </a:defRPr>
            </a:pPr>
            <a:r>
              <a:rPr sz="2100" b="1">
                <a:solidFill>
                  <a:srgbClr val="246E63"/>
                </a:solidFill>
                <a:latin typeface="Calibri"/>
                <a:ea typeface="Calibri"/>
                <a:cs typeface="Calibri"/>
              </a:rPr>
              <a:t>The court decides</a:t>
            </a:r>
          </a:p>
        </p:txBody>
      </p:sp>
      <p:sp>
        <p:nvSpPr>
          <p:cNvPr id="7" name="text-62">
            <a:extLst>
              <a:ext uri="{FF2B5EF4-FFF2-40B4-BE49-F238E27FC236}">
                <ns2:creationId id="{657A2E97-C50B-4AA6-9DC1-FCEAD5BE324F}"/>
              </a:ext>
            </a:extLst>
          </p:cNvPr>
          <p:cNvSpPr>
            <a:spLocks noGrp="1"/>
          </p:cNvSpPr>
          <p:nvPr/>
        </p:nvSpPr>
        <p:spPr>
          <a:xfrm>
            <a:off x="6286500" y="2876550"/>
            <a:ext cx="5238750" cy="2743200"/>
          </a:xfrm>
          <a:prstGeom prst="rect">
            <a:avLst/>
          </a:prstGeom>
          <a:noFill/>
          <a:ln w="0">
            <a:noFill/>
          </a:ln>
        </p:spPr>
        <p:txBody>
          <a:bodyPr>
            <a:noAutofit/>
          </a:bodyPr>
          <a:lstStyle>
            <a:defPPr>
              <a:defRPr sz="2475" b="0">
                <a:solidFill>
                  <a:srgbClr val="1C3144"/>
                </a:solidFill>
                <a:latin typeface="Calibri"/>
                <a:ea typeface="Calibri"/>
                <a:cs typeface="Calibri"/>
              </a:defRPr>
            </a:defPPr>
            <a:lvl1pPr>
              <a:defRPr sz="2475" b="0">
                <a:solidFill>
                  <a:srgbClr val="1C3144"/>
                </a:solidFill>
                <a:latin typeface="Calibri"/>
                <a:ea typeface="Calibri"/>
                <a:cs typeface="Calibri"/>
              </a:defRPr>
            </a:lvl1pPr>
            <a:lvl2pPr>
              <a:defRPr sz="2475" b="0">
                <a:solidFill>
                  <a:srgbClr val="1C3144"/>
                </a:solidFill>
                <a:latin typeface="Calibri"/>
                <a:ea typeface="Calibri"/>
                <a:cs typeface="Calibri"/>
              </a:defRPr>
            </a:lvl2pPr>
            <a:lvl3pPr>
              <a:defRPr sz="2475" b="0">
                <a:solidFill>
                  <a:srgbClr val="1C3144"/>
                </a:solidFill>
                <a:latin typeface="Calibri"/>
                <a:ea typeface="Calibri"/>
                <a:cs typeface="Calibri"/>
              </a:defRPr>
            </a:lvl3pPr>
            <a:lvl4pPr>
              <a:defRPr sz="2475" b="0">
                <a:solidFill>
                  <a:srgbClr val="1C3144"/>
                </a:solidFill>
                <a:latin typeface="Calibri"/>
                <a:ea typeface="Calibri"/>
                <a:cs typeface="Calibri"/>
              </a:defRPr>
            </a:lvl4pPr>
            <a:lvl5pPr>
              <a:defRPr sz="2475" b="0">
                <a:solidFill>
                  <a:srgbClr val="1C3144"/>
                </a:solidFill>
                <a:latin typeface="Calibri"/>
                <a:ea typeface="Calibri"/>
                <a:cs typeface="Calibri"/>
              </a:defRPr>
            </a:lvl5pPr>
            <a:lvl6pPr>
              <a:defRPr sz="2475" b="0">
                <a:solidFill>
                  <a:srgbClr val="1C3144"/>
                </a:solidFill>
                <a:latin typeface="Calibri"/>
                <a:ea typeface="Calibri"/>
                <a:cs typeface="Calibri"/>
              </a:defRPr>
            </a:lvl6pPr>
            <a:lvl7pPr>
              <a:defRPr sz="2475" b="0">
                <a:solidFill>
                  <a:srgbClr val="1C3144"/>
                </a:solidFill>
                <a:latin typeface="Calibri"/>
                <a:ea typeface="Calibri"/>
                <a:cs typeface="Calibri"/>
              </a:defRPr>
            </a:lvl7pPr>
            <a:lvl8pPr>
              <a:defRPr sz="2475" b="0">
                <a:solidFill>
                  <a:srgbClr val="1C3144"/>
                </a:solidFill>
                <a:latin typeface="Calibri"/>
                <a:ea typeface="Calibri"/>
                <a:cs typeface="Calibri"/>
              </a:defRPr>
            </a:lvl8pPr>
            <a:lvl9pPr>
              <a:defRPr sz="2475" b="0">
                <a:solidFill>
                  <a:srgbClr val="1C3144"/>
                </a:solidFill>
                <a:latin typeface="Calibri"/>
                <a:ea typeface="Calibri"/>
                <a:cs typeface="Calibri"/>
              </a:defRPr>
            </a:lvl9pPr>
          </a:lstStyle>
          <a:p>
            <a:pPr>
              <a:defRPr sz="2475" b="0">
                <a:solidFill>
                  <a:srgbClr val="1C3144"/>
                </a:solidFill>
                <a:latin typeface="Calibri"/>
                <a:ea typeface="Calibri"/>
                <a:cs typeface="Calibri"/>
              </a:defRPr>
            </a:pPr>
            <a:r>
              <a:rPr sz="2475" b="0">
                <a:solidFill>
                  <a:srgbClr val="1C3144"/>
                </a:solidFill>
                <a:latin typeface="Calibri"/>
                <a:ea typeface="Calibri"/>
                <a:cs typeface="Calibri"/>
              </a:rPr>
              <a:t>A finding or holding requires support in the court’s own reasoning or order.</a:t>
            </a:r>
          </a:p>
        </p:txBody>
      </p:sp>
      <p:sp>
        <p:nvSpPr>
          <p:cNvPr id="3" name="text-58">
            <a:extLst>
              <a:ext uri="{FF2B5EF4-FFF2-40B4-BE49-F238E27FC236}">
                <ns2:creationId id="{C6F598A3-79B3-4752-B215-8243D76D9EC7}"/>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07   8</a:t>
            </a:r>
          </a:p>
        </p:txBody>
      </p:sp>
    </p:spTree>
    <p:extLst>
      <p:ext uri="{BB962C8B-B14F-4D97-AF65-F5344CB8AC3E}">
        <ns3:creationId val="2012395861"/>
      </p:ext>
    </p:extLst>
  </p:cSld>
  <p:transition spd="med" advClick="1">
    <p:fade/>
  </p:transition>
</p:sld>
</file>

<file path=ppt/slides/slide9.xml><?xml version="1.0" encoding="utf-8"?>
<p:sld xmlns:a="http://schemas.openxmlformats.org/drawingml/2006/main" xmlns:ns2="http://schemas.microsoft.com/office/drawing/2014/main" xmlns:ns3="http://schemas.microsoft.com/office/powerpoint/2010/main" xmlns:p="http://schemas.openxmlformats.org/presentationml/2006/main">
  <p:cSld name="Legislation at the relevant time">
    <p:bg>
      <p:bgPr>
        <a:solidFill>
          <a:srgbClr val="FFFFFF"/>
        </a:solidFill>
      </p:bgPr>
    </p:bg>
    <p:spTree>
      <p:nvGrpSpPr>
        <p:cNvPr id="1" name=""/>
        <p:cNvGrpSpPr/>
        <p:nvPr/>
      </p:nvGrpSpPr>
      <p:grpSpPr>
        <a:xfrm/>
      </p:grpSpPr>
      <p:sp>
        <p:nvSpPr>
          <p:cNvPr id="12" name="text-63">
            <a:extLst>
              <a:ext uri="{FF2B5EF4-FFF2-40B4-BE49-F238E27FC236}">
                <ns2:creationId id="{0BEA5BBF-36F6-43B1-BB52-B4E0F638CDF4}"/>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07</a:t>
            </a:r>
          </a:p>
        </p:txBody>
      </p:sp>
      <p:sp>
        <p:nvSpPr>
          <p:cNvPr id="2" name="text-64">
            <a:extLst>
              <a:ext uri="{FF2B5EF4-FFF2-40B4-BE49-F238E27FC236}">
                <ns2:creationId id="{44C4E9C4-E872-4E6A-AB6C-E6EBC9CBE9E8}"/>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Legislation at the relevant time</a:t>
            </a:r>
          </a:p>
        </p:txBody>
      </p:sp>
      <p:sp>
        <p:nvSpPr>
          <p:cNvPr id="4" name="text-66">
            <a:extLst>
              <a:ext uri="{FF2B5EF4-FFF2-40B4-BE49-F238E27FC236}">
                <ns2:creationId id="{F9120554-3FDE-4FCB-B3A0-B67CBE4CB5B2}"/>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67">
            <a:extLst>
              <a:ext uri="{FF2B5EF4-FFF2-40B4-BE49-F238E27FC236}">
                <ns2:creationId id="{D1E91E02-4A82-48E6-A7C6-272CCB0C1402}"/>
              </a:ext>
            </a:extLst>
          </p:cNvPr>
          <p:cNvSpPr>
            <a:spLocks noGrp="1"/>
          </p:cNvSpPr>
          <p:nvPr/>
        </p:nvSpPr>
        <p:spPr>
          <a:xfrm>
            <a:off x="1285875" y="1943100"/>
            <a:ext cx="10191750"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Identify the enactment and provision.</a:t>
            </a:r>
          </a:p>
        </p:txBody>
      </p:sp>
      <p:sp>
        <p:nvSpPr>
          <p:cNvPr id="6" name="text-68">
            <a:extLst>
              <a:ext uri="{FF2B5EF4-FFF2-40B4-BE49-F238E27FC236}">
                <ns2:creationId id="{5C6EC8FE-9BEC-4423-8E40-A044EF6BD27A}"/>
              </a:ext>
            </a:extLst>
          </p:cNvPr>
          <p:cNvSpPr>
            <a:spLocks noGrp="1"/>
          </p:cNvSpPr>
          <p:nvPr/>
        </p:nvSpPr>
        <p:spPr>
          <a:xfrm>
            <a:off x="619125" y="2895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69">
            <a:extLst>
              <a:ext uri="{FF2B5EF4-FFF2-40B4-BE49-F238E27FC236}">
                <ns2:creationId id="{D543AA48-2708-4350-84DB-FAE44BDC3FFB}"/>
              </a:ext>
            </a:extLst>
          </p:cNvPr>
          <p:cNvSpPr>
            <a:spLocks noGrp="1"/>
          </p:cNvSpPr>
          <p:nvPr/>
        </p:nvSpPr>
        <p:spPr>
          <a:xfrm>
            <a:off x="1285875" y="2895600"/>
            <a:ext cx="10191750"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Check amendments and commencement.</a:t>
            </a:r>
          </a:p>
        </p:txBody>
      </p:sp>
      <p:sp>
        <p:nvSpPr>
          <p:cNvPr id="8" name="text-70">
            <a:extLst>
              <a:ext uri="{FF2B5EF4-FFF2-40B4-BE49-F238E27FC236}">
                <ns2:creationId id="{C0EAB34B-83C7-49F3-9702-84A8FACD9495}"/>
              </a:ext>
            </a:extLst>
          </p:cNvPr>
          <p:cNvSpPr>
            <a:spLocks noGrp="1"/>
          </p:cNvSpPr>
          <p:nvPr/>
        </p:nvSpPr>
        <p:spPr>
          <a:xfrm>
            <a:off x="619125" y="3848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71">
            <a:extLst>
              <a:ext uri="{FF2B5EF4-FFF2-40B4-BE49-F238E27FC236}">
                <ns2:creationId id="{B59669B1-A2DF-4E31-A7B9-AC633DCC8592}"/>
              </a:ext>
            </a:extLst>
          </p:cNvPr>
          <p:cNvSpPr>
            <a:spLocks noGrp="1"/>
          </p:cNvSpPr>
          <p:nvPr/>
        </p:nvSpPr>
        <p:spPr>
          <a:xfrm>
            <a:off x="1285875" y="3848100"/>
            <a:ext cx="10191750"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Match the version to the question’s date.</a:t>
            </a:r>
          </a:p>
        </p:txBody>
      </p:sp>
      <p:sp>
        <p:nvSpPr>
          <p:cNvPr id="10" name="text-72">
            <a:extLst>
              <a:ext uri="{FF2B5EF4-FFF2-40B4-BE49-F238E27FC236}">
                <ns2:creationId id="{54B35FD8-EA21-4CC1-B748-0BC4876F38B6}"/>
              </a:ext>
            </a:extLst>
          </p:cNvPr>
          <p:cNvSpPr>
            <a:spLocks noGrp="1"/>
          </p:cNvSpPr>
          <p:nvPr/>
        </p:nvSpPr>
        <p:spPr>
          <a:xfrm>
            <a:off x="619125" y="4800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04</a:t>
            </a:r>
          </a:p>
        </p:txBody>
      </p:sp>
      <p:sp>
        <p:nvSpPr>
          <p:cNvPr id="11" name="text-73">
            <a:extLst>
              <a:ext uri="{FF2B5EF4-FFF2-40B4-BE49-F238E27FC236}">
                <ns2:creationId id="{E0C288F9-3AD7-47B7-BE0D-7D6A386ABFA4}"/>
              </a:ext>
            </a:extLst>
          </p:cNvPr>
          <p:cNvSpPr>
            <a:spLocks noGrp="1"/>
          </p:cNvSpPr>
          <p:nvPr/>
        </p:nvSpPr>
        <p:spPr>
          <a:xfrm>
            <a:off x="1285875" y="4800600"/>
            <a:ext cx="10191750"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Trace quoted wording to the source.</a:t>
            </a:r>
          </a:p>
        </p:txBody>
      </p:sp>
      <p:sp>
        <p:nvSpPr>
          <p:cNvPr id="3" name="text-65">
            <a:extLst>
              <a:ext uri="{FF2B5EF4-FFF2-40B4-BE49-F238E27FC236}">
                <ns2:creationId id="{FA495DFF-7360-466A-8AFD-86FAD222700B}"/>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07   9</a:t>
            </a:r>
          </a:p>
        </p:txBody>
      </p:sp>
    </p:spTree>
    <p:extLst>
      <p:ext uri="{BB962C8B-B14F-4D97-AF65-F5344CB8AC3E}">
        <ns3:creationId val="1688291723"/>
      </p:ext>
    </p:extLst>
  </p:cSld>
  <p:transition spd="med" advClick="1">
    <p:fade/>
  </p:transition>
</p:sld>
</file>

<file path=ppt/slides/slide10.xml><?xml version="1.0" encoding="utf-8"?>
<p:sld xmlns:a="http://schemas.openxmlformats.org/drawingml/2006/main" xmlns:ns2="http://schemas.microsoft.com/office/drawing/2014/main" xmlns:ns3="http://schemas.microsoft.com/office/powerpoint/2010/main" xmlns:p="http://schemas.openxmlformats.org/presentationml/2006/main">
  <p:cSld name="One proposition, different provision references">
    <p:bg>
      <p:bgPr>
        <a:solidFill>
          <a:srgbClr val="FFFFFF"/>
        </a:solidFill>
      </p:bgPr>
    </p:bg>
    <p:spTree>
      <p:nvGrpSpPr>
        <p:cNvPr id="1" name=""/>
        <p:cNvGrpSpPr/>
        <p:nvPr/>
      </p:nvGrpSpPr>
      <p:grpSpPr>
        <a:xfrm/>
      </p:grpSpPr>
      <p:sp>
        <p:nvSpPr>
          <p:cNvPr id="6" name="text-74">
            <a:extLst>
              <a:ext uri="{FF2B5EF4-FFF2-40B4-BE49-F238E27FC236}">
                <ns2:creationId id="{275B1821-8AFF-4843-9CAA-29D9B964CD98}"/>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07</a:t>
            </a:r>
          </a:p>
        </p:txBody>
      </p:sp>
      <p:sp>
        <p:nvSpPr>
          <p:cNvPr id="2" name="text-75">
            <a:extLst>
              <a:ext uri="{FF2B5EF4-FFF2-40B4-BE49-F238E27FC236}">
                <ns2:creationId id="{24FBA6A0-1A95-4A39-A881-6FF56EEB4CCC}"/>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One proposition, different provision references</a:t>
            </a:r>
          </a:p>
        </p:txBody>
      </p:sp>
      <p:graphicFrame>
        <p:nvGraphicFramePr>
          <p:cNvPr id="4" name="">
            <a:extLst>
              <a:ext uri="{FF2B5EF4-FFF2-40B4-BE49-F238E27FC236}">
                <ns2:creationId id="{B880FBDE-8584-4854-8FFE-584FDD33DAEB}"/>
              </a:ext>
            </a:extLst>
          </p:cNvPr>
          <p:cNvGraphicFramePr/>
          <p:nvPr/>
        </p:nvGraphicFramePr>
        <p:xfrm>
          <a:off x="619125" y="1933575"/>
          <a:ext cx="10953750" cy="3238500"/>
        </p:xfrm>
        <a:graphic>
          <a:graphicData uri="http://schemas.openxmlformats.org/drawingml/2006/table">
            <a:tbl>
              <a:tblPr/>
              <a:tblGrid>
                <a:gridCol w="3651250"/>
                <a:gridCol w="3651250"/>
                <a:gridCol w="3651250"/>
              </a:tblGrid>
              <a:tr h="809625">
                <a:tc>
                  <a:txBody>
                    <a:bodyPr/>
                    <a:lstStyle/>
                    <a:p>
                      <a:r>
                        <a:rPr sz="1875" b="1">
                          <a:solidFill>
                            <a:srgbClr val="FFFFFF"/>
                          </a:solidFill>
                          <a:latin typeface="Calibri"/>
                          <a:ea typeface="Calibri"/>
                          <a:cs typeface="Calibri"/>
                        </a:rPr>
                        <a:t>Source inspected</a:t>
                      </a:r>
                    </a:p>
                  </a:txBody>
                  <a:tcPr marL="91440" marR="91440" marT="45720" marB="45720">
                    <a:lnL w="9525">
                      <a:solidFill>
                        <a:srgbClr val="C9D5DA"/>
                      </a:solidFill>
                      <a:prstDash val="solid"/>
                    </a:lnL>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c>
                  <a:txBody>
                    <a:bodyPr/>
                    <a:lstStyle/>
                    <a:p>
                      <a:r>
                        <a:rPr sz="1875" b="1">
                          <a:solidFill>
                            <a:srgbClr val="FFFFFF"/>
                          </a:solidFill>
                          <a:latin typeface="Calibri"/>
                          <a:ea typeface="Calibri"/>
                          <a:cs typeface="Calibri"/>
                        </a:rPr>
                        <a:t>Reference used</a:t>
                      </a:r>
                    </a:p>
                  </a:txBody>
                  <a:tcPr marL="91440" marR="91440" marT="45720" marB="45720">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c>
                  <a:txBody>
                    <a:bodyPr/>
                    <a:lstStyle/>
                    <a:p>
                      <a:r>
                        <a:rPr sz="1875" b="1">
                          <a:solidFill>
                            <a:srgbClr val="FFFFFF"/>
                          </a:solidFill>
                          <a:latin typeface="Calibri"/>
                          <a:ea typeface="Calibri"/>
                          <a:cs typeface="Calibri"/>
                        </a:rPr>
                        <a:t>What to verify</a:t>
                      </a:r>
                    </a:p>
                  </a:txBody>
                  <a:tcPr marL="91440" marR="91440" marT="45720" marB="45720">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r>
              <a:tr h="809625">
                <a:tc>
                  <a:txBody>
                    <a:bodyPr/>
                    <a:lstStyle/>
                    <a:p>
                      <a:r>
                        <a:rPr sz="1875" b="0">
                          <a:solidFill>
                            <a:srgbClr val="1C3144"/>
                          </a:solidFill>
                          <a:latin typeface="Calibri"/>
                          <a:ea typeface="Calibri"/>
                          <a:cs typeface="Calibri"/>
                        </a:rPr>
                        <a:t>Goal Relief judgment, printed p3</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Section 27(2), 7th Revised Edition</a:t>
                      </a:r>
                    </a:p>
                  </a:txBody>
                  <a:tcPr marL="91440" marR="91440" marT="45720" marB="45720">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Court’s quoted appeal-scope rule</a:t>
                      </a:r>
                    </a:p>
                  </a:txBody>
                  <a:tcPr marL="91440" marR="91440" marT="45720" marB="45720">
                    <a:lnR w="9525">
                      <a:solidFill>
                        <a:srgbClr val="C9D5DA"/>
                      </a:solidFill>
                      <a:prstDash val="solid"/>
                    </a:lnR>
                    <a:lnB w="9525">
                      <a:solidFill>
                        <a:srgbClr val="C9D5DA"/>
                      </a:solidFill>
                      <a:prstDash val="solid"/>
                    </a:lnB>
                    <a:solidFill>
                      <a:srgbClr val="F1F5F6"/>
                    </a:solidFill>
                  </a:tcPr>
                </a:tc>
              </a:tr>
              <a:tr h="809625">
                <a:tc>
                  <a:txBody>
                    <a:bodyPr/>
                    <a:lstStyle/>
                    <a:p>
                      <a:r>
                        <a:rPr sz="1875" b="0">
                          <a:solidFill>
                            <a:srgbClr val="1C3144"/>
                          </a:solidFill>
                          <a:latin typeface="Calibri"/>
                          <a:ea typeface="Calibri"/>
                          <a:cs typeface="Calibri"/>
                        </a:rPr>
                        <a:t>K-Files judgment, printed p6</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Section 28(2), 2023 Revised Edition</a:t>
                      </a:r>
                    </a:p>
                  </a:txBody>
                  <a:tcPr marL="91440" marR="91440" marT="45720" marB="45720">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Resolve edition or citation discrepancy</a:t>
                      </a:r>
                    </a:p>
                  </a:txBody>
                  <a:tcPr marL="91440" marR="91440" marT="45720" marB="45720">
                    <a:lnR w="9525">
                      <a:solidFill>
                        <a:srgbClr val="C9D5DA"/>
                      </a:solidFill>
                      <a:prstDash val="solid"/>
                    </a:lnR>
                    <a:lnB w="9525">
                      <a:solidFill>
                        <a:srgbClr val="C9D5DA"/>
                      </a:solidFill>
                      <a:prstDash val="solid"/>
                    </a:lnB>
                    <a:solidFill>
                      <a:srgbClr val="FFFFFF"/>
                    </a:solidFill>
                  </a:tcPr>
                </a:tc>
              </a:tr>
              <a:tr h="809625">
                <a:tc>
                  <a:txBody>
                    <a:bodyPr/>
                    <a:lstStyle/>
                    <a:p>
                      <a:r>
                        <a:rPr sz="1875" b="0">
                          <a:solidFill>
                            <a:srgbClr val="1C3144"/>
                          </a:solidFill>
                          <a:latin typeface="Calibri"/>
                          <a:ea typeface="Calibri"/>
                          <a:cs typeface="Calibri"/>
                        </a:rPr>
                        <a:t>Current client advice</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Applicable version and later treatment</a:t>
                      </a:r>
                    </a:p>
                  </a:txBody>
                  <a:tcPr marL="91440" marR="91440" marT="45720" marB="45720">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Do not copy a number from a summary</a:t>
                      </a:r>
                    </a:p>
                  </a:txBody>
                  <a:tcPr marL="91440" marR="91440" marT="45720" marB="45720">
                    <a:lnR w="9525">
                      <a:solidFill>
                        <a:srgbClr val="C9D5DA"/>
                      </a:solidFill>
                      <a:prstDash val="solid"/>
                    </a:lnR>
                    <a:lnB w="9525">
                      <a:solidFill>
                        <a:srgbClr val="C9D5DA"/>
                      </a:solidFill>
                      <a:prstDash val="solid"/>
                    </a:lnB>
                    <a:solidFill>
                      <a:srgbClr val="F1F5F6"/>
                    </a:solidFill>
                  </a:tcPr>
                </a:tc>
              </a:tr>
            </a:tbl>
          </a:graphicData>
        </a:graphic>
      </p:graphicFrame>
      <p:sp>
        <p:nvSpPr>
          <p:cNvPr id="5" name="text-77">
            <a:extLst>
              <a:ext uri="{FF2B5EF4-FFF2-40B4-BE49-F238E27FC236}">
                <ns2:creationId id="{148E7AC7-256D-4123-A16D-4BEDE37EE64B}"/>
              </a:ext>
            </a:extLst>
          </p:cNvPr>
          <p:cNvSpPr>
            <a:spLocks noGrp="1"/>
          </p:cNvSpPr>
          <p:nvPr/>
        </p:nvSpPr>
        <p:spPr>
          <a:xfrm>
            <a:off x="619125" y="5848350"/>
            <a:ext cx="10953750" cy="590550"/>
          </a:xfrm>
          <a:prstGeom prst="rect">
            <a:avLst/>
          </a:prstGeom>
          <a:noFill/>
          <a:ln w="0">
            <a:noFill/>
          </a:ln>
        </p:spPr>
        <p:txBody>
          <a:bodyPr>
            <a:noAutofit/>
          </a:bodyPr>
          <a:lstStyle>
            <a:defPPr>
              <a:defRPr sz="1725" b="0">
                <a:solidFill>
                  <a:srgbClr val="536474"/>
                </a:solidFill>
                <a:latin typeface="Calibri"/>
                <a:ea typeface="Calibri"/>
                <a:cs typeface="Calibri"/>
              </a:defRPr>
            </a:defPPr>
            <a:lvl1pPr>
              <a:defRPr sz="1725" b="0">
                <a:solidFill>
                  <a:srgbClr val="536474"/>
                </a:solidFill>
                <a:latin typeface="Calibri"/>
                <a:ea typeface="Calibri"/>
                <a:cs typeface="Calibri"/>
              </a:defRPr>
            </a:lvl1pPr>
            <a:lvl2pPr>
              <a:defRPr sz="1725" b="0">
                <a:solidFill>
                  <a:srgbClr val="536474"/>
                </a:solidFill>
                <a:latin typeface="Calibri"/>
                <a:ea typeface="Calibri"/>
                <a:cs typeface="Calibri"/>
              </a:defRPr>
            </a:lvl2pPr>
            <a:lvl3pPr>
              <a:defRPr sz="1725" b="0">
                <a:solidFill>
                  <a:srgbClr val="536474"/>
                </a:solidFill>
                <a:latin typeface="Calibri"/>
                <a:ea typeface="Calibri"/>
                <a:cs typeface="Calibri"/>
              </a:defRPr>
            </a:lvl3pPr>
            <a:lvl4pPr>
              <a:defRPr sz="1725" b="0">
                <a:solidFill>
                  <a:srgbClr val="536474"/>
                </a:solidFill>
                <a:latin typeface="Calibri"/>
                <a:ea typeface="Calibri"/>
                <a:cs typeface="Calibri"/>
              </a:defRPr>
            </a:lvl4pPr>
            <a:lvl5pPr>
              <a:defRPr sz="1725" b="0">
                <a:solidFill>
                  <a:srgbClr val="536474"/>
                </a:solidFill>
                <a:latin typeface="Calibri"/>
                <a:ea typeface="Calibri"/>
                <a:cs typeface="Calibri"/>
              </a:defRPr>
            </a:lvl5pPr>
            <a:lvl6pPr>
              <a:defRPr sz="1725" b="0">
                <a:solidFill>
                  <a:srgbClr val="536474"/>
                </a:solidFill>
                <a:latin typeface="Calibri"/>
                <a:ea typeface="Calibri"/>
                <a:cs typeface="Calibri"/>
              </a:defRPr>
            </a:lvl6pPr>
            <a:lvl7pPr>
              <a:defRPr sz="1725" b="0">
                <a:solidFill>
                  <a:srgbClr val="536474"/>
                </a:solidFill>
                <a:latin typeface="Calibri"/>
                <a:ea typeface="Calibri"/>
                <a:cs typeface="Calibri"/>
              </a:defRPr>
            </a:lvl7pPr>
            <a:lvl8pPr>
              <a:defRPr sz="1725" b="0">
                <a:solidFill>
                  <a:srgbClr val="536474"/>
                </a:solidFill>
                <a:latin typeface="Calibri"/>
                <a:ea typeface="Calibri"/>
                <a:cs typeface="Calibri"/>
              </a:defRPr>
            </a:lvl8pPr>
            <a:lvl9pPr>
              <a:defRPr sz="1725" b="0">
                <a:solidFill>
                  <a:srgbClr val="536474"/>
                </a:solidFill>
                <a:latin typeface="Calibri"/>
                <a:ea typeface="Calibri"/>
                <a:cs typeface="Calibri"/>
              </a:defRPr>
            </a:lvl9pPr>
          </a:lstStyle>
          <a:p>
            <a:pPr>
              <a:defRPr sz="1725" b="0">
                <a:solidFill>
                  <a:srgbClr val="536474"/>
                </a:solidFill>
                <a:latin typeface="Calibri"/>
                <a:ea typeface="Calibri"/>
                <a:cs typeface="Calibri"/>
              </a:defRPr>
            </a:pPr>
            <a:r>
              <a:rPr sz="1725" b="0">
                <a:solidFill>
                  <a:srgbClr val="536474"/>
                </a:solidFill>
                <a:latin typeface="Calibri"/>
                <a:ea typeface="Calibri"/>
                <a:cs typeface="Calibri"/>
              </a:rPr>
              <a:t>The judgment’s printed page 3 supports the appeal-scope proposition. Current applicability needs further checks.</a:t>
            </a:r>
          </a:p>
        </p:txBody>
      </p:sp>
      <p:sp>
        <p:nvSpPr>
          <p:cNvPr id="3" name="text-76">
            <a:extLst>
              <a:ext uri="{FF2B5EF4-FFF2-40B4-BE49-F238E27FC236}">
                <ns2:creationId id="{1E71E15F-5A3D-49AA-AF75-991814ACCD32}"/>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07   10</a:t>
            </a:r>
          </a:p>
        </p:txBody>
      </p:sp>
    </p:spTree>
    <p:extLst>
      <p:ext uri="{BB962C8B-B14F-4D97-AF65-F5344CB8AC3E}">
        <ns3:creationId val="1201424297"/>
      </p:ext>
    </p:extLst>
  </p:cSld>
  <p:transition spd="med" advClick="1">
    <p:fade/>
  </p:transition>
</p:sld>
</file>

<file path=ppt/slides/slide11.xml><?xml version="1.0" encoding="utf-8"?>
<p:sld xmlns:a="http://schemas.openxmlformats.org/drawingml/2006/main" xmlns:ns2="http://schemas.microsoft.com/office/drawing/2014/main" xmlns:ns3="http://schemas.microsoft.com/office/drawing/2017/decorative" xmlns:ns4="http://schemas.microsoft.com/office/powerpoint/2010/main" xmlns:p="http://schemas.openxmlformats.org/presentationml/2006/main">
  <p:cSld name="A deep-research cycle">
    <p:bg>
      <p:bgPr>
        <a:solidFill>
          <a:srgbClr val="FFFFFF"/>
        </a:solidFill>
      </p:bgPr>
    </p:bg>
    <p:spTree>
      <p:nvGrpSpPr>
        <p:cNvPr id="1" name=""/>
        <p:cNvGrpSpPr/>
        <p:nvPr/>
      </p:nvGrpSpPr>
      <p:grpSpPr>
        <a:xfrm/>
      </p:grpSpPr>
      <p:cxnSp>
        <p:nvCxnSpPr>
          <p:cNvPr id="22" name="reveal-04-arrow" descr="A deep-research cycle">
            <a:extLst>
              <a:ext uri="{FF2B5EF4-FFF2-40B4-BE49-F238E27FC236}">
                <ns2:creationId id="{00909035-053B-40B3-93AE-D9BCBA1C0096}"/>
              </a:ext>
            </a:extLst>
          </p:cNvPr>
          <p:cNvCxnSpPr>
            <a:stCxn id="12" idx="3"/>
            <a:endCxn id="16" idx="1"/>
          </p:cNvCxnSpPr>
          <p:nvPr/>
        </p:nvCxnSpPr>
        <p:spPr>
          <a:xfrm>
            <a:off x="8751094" y="3771900"/>
            <a:ext cx="333375" cy="0"/>
          </a:xfrm>
          <a:prstGeom prst="straightConnector1">
            <a:avLst/>
          </a:prstGeom>
          <a:ln w="23813">
            <a:solidFill>
              <a:srgbClr val="246E63"/>
            </a:solidFill>
            <a:tailEnd type="arrow" w="med" len="med"/>
          </a:ln>
        </p:spPr>
      </p:cxnSp>
      <p:cxnSp>
        <p:nvCxnSpPr>
          <p:cNvPr id="21" name="reveal-03-arrow">
            <a:extLst>
              <a:ext uri="{FF2B5EF4-FFF2-40B4-BE49-F238E27FC236}">
                <ns2:creationId id="{4ABFC4D9-9A23-4E04-AEE0-84E8D6DD57C7}"/>
              </a:ext>
              <a:ext uri="{C183D7F6-B498-43B3-948B-1728B52AA6E4}">
                <ns3:decorative val="1"/>
              </a:ext>
            </a:extLst>
          </p:cNvPr>
          <p:cNvCxnSpPr>
            <a:stCxn id="8" idx="3"/>
            <a:endCxn id="12" idx="1"/>
          </p:cNvCxnSpPr>
          <p:nvPr/>
        </p:nvCxnSpPr>
        <p:spPr>
          <a:xfrm>
            <a:off x="5929312" y="3771900"/>
            <a:ext cx="333376" cy="0"/>
          </a:xfrm>
          <a:prstGeom prst="straightConnector1">
            <a:avLst/>
          </a:prstGeom>
          <a:ln w="23813">
            <a:solidFill>
              <a:srgbClr val="246E63"/>
            </a:solidFill>
            <a:tailEnd type="arrow" w="med" len="med"/>
          </a:ln>
        </p:spPr>
      </p:cxnSp>
      <p:cxnSp>
        <p:nvCxnSpPr>
          <p:cNvPr id="20" name="reveal-02-arrow">
            <a:extLst>
              <a:ext uri="{FF2B5EF4-FFF2-40B4-BE49-F238E27FC236}">
                <ns2:creationId id="{BDA0F3EC-3ED9-482B-9F07-3D7C2234D0D0}"/>
              </a:ext>
              <a:ext uri="{C183D7F6-B498-43B3-948B-1728B52AA6E4}">
                <ns3:decorative val="1"/>
              </a:ext>
            </a:extLst>
          </p:cNvPr>
          <p:cNvCxnSpPr>
            <a:stCxn id="4" idx="3"/>
            <a:endCxn id="8" idx="1"/>
          </p:cNvCxnSpPr>
          <p:nvPr/>
        </p:nvCxnSpPr>
        <p:spPr>
          <a:xfrm>
            <a:off x="3107531" y="3771900"/>
            <a:ext cx="333375" cy="0"/>
          </a:xfrm>
          <a:prstGeom prst="straightConnector1">
            <a:avLst/>
          </a:prstGeom>
          <a:ln w="23813">
            <a:solidFill>
              <a:srgbClr val="246E63"/>
            </a:solidFill>
            <a:tailEnd type="arrow" w="med" len="med"/>
          </a:ln>
        </p:spPr>
      </p:cxnSp>
      <p:sp>
        <p:nvSpPr>
          <p:cNvPr id="23" name="text-78">
            <a:extLst>
              <a:ext uri="{FF2B5EF4-FFF2-40B4-BE49-F238E27FC236}">
                <ns2:creationId id="{C5EED100-A7C5-4D6F-91C5-6C4208DA7125}"/>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07</a:t>
            </a:r>
          </a:p>
        </p:txBody>
      </p:sp>
      <p:sp>
        <p:nvSpPr>
          <p:cNvPr id="2" name="text-79">
            <a:extLst>
              <a:ext uri="{FF2B5EF4-FFF2-40B4-BE49-F238E27FC236}">
                <ns2:creationId id="{1332E4F5-9043-4063-B93E-3980B78B4B07}"/>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A deep-research cycle</a:t>
            </a:r>
          </a:p>
        </p:txBody>
      </p:sp>
      <p:sp>
        <p:nvSpPr>
          <p:cNvPr id="4" name="reveal-01-stage">
            <a:extLst>
              <a:ext uri="{FF2B5EF4-FFF2-40B4-BE49-F238E27FC236}">
                <ns2:creationId id="{9E0FD8E7-4441-4154-B203-4A941313296B}"/>
              </a:ext>
              <a:ext uri="{C183D7F6-B498-43B3-948B-1728B52AA6E4}">
                <ns3:decorative val="1"/>
              </a:ext>
            </a:extLst>
          </p:cNvPr>
          <p:cNvSpPr>
            <a:spLocks noGrp="1"/>
          </p:cNvSpPr>
          <p:nvPr/>
        </p:nvSpPr>
        <p:spPr>
          <a:xfrm>
            <a:off x="619125" y="2762250"/>
            <a:ext cx="2488406" cy="2019300"/>
          </a:xfrm>
          <a:prstGeom prst="rect">
            <a:avLst/>
          </a:prstGeom>
          <a:solidFill>
            <a:srgbClr val="F1F5F6"/>
          </a:solidFill>
          <a:ln w="11430">
            <a:solidFill>
              <a:srgbClr val="C9D5DA"/>
            </a:solidFill>
          </a:ln>
        </p:spPr>
      </p:sp>
      <p:sp>
        <p:nvSpPr>
          <p:cNvPr id="5" name="reveal-01-number">
            <a:extLst>
              <a:ext uri="{FF2B5EF4-FFF2-40B4-BE49-F238E27FC236}">
                <ns2:creationId id="{5B60D47D-A269-4C7F-BC22-78F1E5B2DF80}"/>
              </a:ext>
            </a:extLst>
          </p:cNvPr>
          <p:cNvSpPr>
            <a:spLocks noGrp="1"/>
          </p:cNvSpPr>
          <p:nvPr/>
        </p:nvSpPr>
        <p:spPr>
          <a:xfrm>
            <a:off x="619125" y="2324100"/>
            <a:ext cx="2488406" cy="333375"/>
          </a:xfrm>
          <a:prstGeom prst="rect">
            <a:avLst/>
          </a:prstGeom>
          <a:noFill/>
          <a:ln w="0">
            <a:noFill/>
          </a:ln>
        </p:spPr>
        <p:txBody>
          <a:bodyPr>
            <a:noAutofit/>
          </a:bodyPr>
          <a:lstStyle>
            <a:defPPr>
              <a:defRPr sz="2025" b="1">
                <a:solidFill>
                  <a:srgbClr val="C94E29"/>
                </a:solidFill>
                <a:latin typeface="Calibri"/>
                <a:ea typeface="Calibri"/>
                <a:cs typeface="Calibri"/>
              </a:defRPr>
            </a:defPPr>
            <a:lvl1pPr>
              <a:defRPr sz="2025" b="1">
                <a:solidFill>
                  <a:srgbClr val="C94E29"/>
                </a:solidFill>
                <a:latin typeface="Calibri"/>
                <a:ea typeface="Calibri"/>
                <a:cs typeface="Calibri"/>
              </a:defRPr>
            </a:lvl1pPr>
            <a:lvl2pPr>
              <a:defRPr sz="2025" b="1">
                <a:solidFill>
                  <a:srgbClr val="C94E29"/>
                </a:solidFill>
                <a:latin typeface="Calibri"/>
                <a:ea typeface="Calibri"/>
                <a:cs typeface="Calibri"/>
              </a:defRPr>
            </a:lvl2pPr>
            <a:lvl3pPr>
              <a:defRPr sz="2025" b="1">
                <a:solidFill>
                  <a:srgbClr val="C94E29"/>
                </a:solidFill>
                <a:latin typeface="Calibri"/>
                <a:ea typeface="Calibri"/>
                <a:cs typeface="Calibri"/>
              </a:defRPr>
            </a:lvl3pPr>
            <a:lvl4pPr>
              <a:defRPr sz="2025" b="1">
                <a:solidFill>
                  <a:srgbClr val="C94E29"/>
                </a:solidFill>
                <a:latin typeface="Calibri"/>
                <a:ea typeface="Calibri"/>
                <a:cs typeface="Calibri"/>
              </a:defRPr>
            </a:lvl4pPr>
            <a:lvl5pPr>
              <a:defRPr sz="2025" b="1">
                <a:solidFill>
                  <a:srgbClr val="C94E29"/>
                </a:solidFill>
                <a:latin typeface="Calibri"/>
                <a:ea typeface="Calibri"/>
                <a:cs typeface="Calibri"/>
              </a:defRPr>
            </a:lvl5pPr>
            <a:lvl6pPr>
              <a:defRPr sz="2025" b="1">
                <a:solidFill>
                  <a:srgbClr val="C94E29"/>
                </a:solidFill>
                <a:latin typeface="Calibri"/>
                <a:ea typeface="Calibri"/>
                <a:cs typeface="Calibri"/>
              </a:defRPr>
            </a:lvl6pPr>
            <a:lvl7pPr>
              <a:defRPr sz="2025" b="1">
                <a:solidFill>
                  <a:srgbClr val="C94E29"/>
                </a:solidFill>
                <a:latin typeface="Calibri"/>
                <a:ea typeface="Calibri"/>
                <a:cs typeface="Calibri"/>
              </a:defRPr>
            </a:lvl7pPr>
            <a:lvl8pPr>
              <a:defRPr sz="2025" b="1">
                <a:solidFill>
                  <a:srgbClr val="C94E29"/>
                </a:solidFill>
                <a:latin typeface="Calibri"/>
                <a:ea typeface="Calibri"/>
                <a:cs typeface="Calibri"/>
              </a:defRPr>
            </a:lvl8pPr>
            <a:lvl9pPr>
              <a:defRPr sz="2025" b="1">
                <a:solidFill>
                  <a:srgbClr val="C94E29"/>
                </a:solidFill>
                <a:latin typeface="Calibri"/>
                <a:ea typeface="Calibri"/>
                <a:cs typeface="Calibri"/>
              </a:defRPr>
            </a:lvl9pPr>
          </a:lstStyle>
          <a:p>
            <a:pPr>
              <a:defRPr sz="2025" b="1">
                <a:solidFill>
                  <a:srgbClr val="C94E29"/>
                </a:solidFill>
                <a:latin typeface="Calibri"/>
                <a:ea typeface="Calibri"/>
                <a:cs typeface="Calibri"/>
              </a:defRPr>
            </a:pPr>
            <a:r>
              <a:rPr sz="2025" b="1">
                <a:solidFill>
                  <a:srgbClr val="C94E29"/>
                </a:solidFill>
                <a:latin typeface="Calibri"/>
                <a:ea typeface="Calibri"/>
                <a:cs typeface="Calibri"/>
              </a:rPr>
              <a:t>01</a:t>
            </a:r>
          </a:p>
        </p:txBody>
      </p:sp>
      <p:sp>
        <p:nvSpPr>
          <p:cNvPr id="6" name="reveal-01-label">
            <a:extLst>
              <a:ext uri="{FF2B5EF4-FFF2-40B4-BE49-F238E27FC236}">
                <ns2:creationId id="{AC50068E-997A-4327-90D8-471928AB3E61}"/>
              </a:ext>
            </a:extLst>
          </p:cNvPr>
          <p:cNvSpPr>
            <a:spLocks noGrp="1"/>
          </p:cNvSpPr>
          <p:nvPr/>
        </p:nvSpPr>
        <p:spPr>
          <a:xfrm>
            <a:off x="771525" y="2914650"/>
            <a:ext cx="2183606" cy="723900"/>
          </a:xfrm>
          <a:prstGeom prst="rect">
            <a:avLst/>
          </a:prstGeom>
          <a:noFill/>
          <a:ln w="0">
            <a:noFill/>
          </a:ln>
        </p:spPr>
        <p:txBody>
          <a:bodyPr>
            <a:noAutofit/>
          </a:bodyPr>
          <a:lstStyle>
            <a:defPPr>
              <a:defRPr sz="2175" b="1">
                <a:solidFill>
                  <a:srgbClr val="246E63"/>
                </a:solidFill>
                <a:latin typeface="Calibri"/>
                <a:ea typeface="Calibri"/>
                <a:cs typeface="Calibri"/>
              </a:defRPr>
            </a:defPPr>
            <a:lvl1pPr>
              <a:defRPr sz="2175" b="1">
                <a:solidFill>
                  <a:srgbClr val="246E63"/>
                </a:solidFill>
                <a:latin typeface="Calibri"/>
                <a:ea typeface="Calibri"/>
                <a:cs typeface="Calibri"/>
              </a:defRPr>
            </a:lvl1pPr>
            <a:lvl2pPr>
              <a:defRPr sz="2175" b="1">
                <a:solidFill>
                  <a:srgbClr val="246E63"/>
                </a:solidFill>
                <a:latin typeface="Calibri"/>
                <a:ea typeface="Calibri"/>
                <a:cs typeface="Calibri"/>
              </a:defRPr>
            </a:lvl2pPr>
            <a:lvl3pPr>
              <a:defRPr sz="2175" b="1">
                <a:solidFill>
                  <a:srgbClr val="246E63"/>
                </a:solidFill>
                <a:latin typeface="Calibri"/>
                <a:ea typeface="Calibri"/>
                <a:cs typeface="Calibri"/>
              </a:defRPr>
            </a:lvl3pPr>
            <a:lvl4pPr>
              <a:defRPr sz="2175" b="1">
                <a:solidFill>
                  <a:srgbClr val="246E63"/>
                </a:solidFill>
                <a:latin typeface="Calibri"/>
                <a:ea typeface="Calibri"/>
                <a:cs typeface="Calibri"/>
              </a:defRPr>
            </a:lvl4pPr>
            <a:lvl5pPr>
              <a:defRPr sz="2175" b="1">
                <a:solidFill>
                  <a:srgbClr val="246E63"/>
                </a:solidFill>
                <a:latin typeface="Calibri"/>
                <a:ea typeface="Calibri"/>
                <a:cs typeface="Calibri"/>
              </a:defRPr>
            </a:lvl5pPr>
            <a:lvl6pPr>
              <a:defRPr sz="2175" b="1">
                <a:solidFill>
                  <a:srgbClr val="246E63"/>
                </a:solidFill>
                <a:latin typeface="Calibri"/>
                <a:ea typeface="Calibri"/>
                <a:cs typeface="Calibri"/>
              </a:defRPr>
            </a:lvl6pPr>
            <a:lvl7pPr>
              <a:defRPr sz="2175" b="1">
                <a:solidFill>
                  <a:srgbClr val="246E63"/>
                </a:solidFill>
                <a:latin typeface="Calibri"/>
                <a:ea typeface="Calibri"/>
                <a:cs typeface="Calibri"/>
              </a:defRPr>
            </a:lvl7pPr>
            <a:lvl8pPr>
              <a:defRPr sz="2175" b="1">
                <a:solidFill>
                  <a:srgbClr val="246E63"/>
                </a:solidFill>
                <a:latin typeface="Calibri"/>
                <a:ea typeface="Calibri"/>
                <a:cs typeface="Calibri"/>
              </a:defRPr>
            </a:lvl8pPr>
            <a:lvl9pPr>
              <a:defRPr sz="2175" b="1">
                <a:solidFill>
                  <a:srgbClr val="246E63"/>
                </a:solidFill>
                <a:latin typeface="Calibri"/>
                <a:ea typeface="Calibri"/>
                <a:cs typeface="Calibri"/>
              </a:defRPr>
            </a:lvl9pPr>
          </a:lstStyle>
          <a:p>
            <a:pPr>
              <a:defRPr sz="2175" b="1">
                <a:solidFill>
                  <a:srgbClr val="246E63"/>
                </a:solidFill>
                <a:latin typeface="Calibri"/>
                <a:ea typeface="Calibri"/>
                <a:cs typeface="Calibri"/>
              </a:defRPr>
            </a:pPr>
            <a:r>
              <a:rPr sz="2175" b="1">
                <a:solidFill>
                  <a:srgbClr val="246E63"/>
                </a:solidFill>
                <a:latin typeface="Calibri"/>
                <a:ea typeface="Calibri"/>
                <a:cs typeface="Calibri"/>
              </a:rPr>
              <a:t>Plan</a:t>
            </a:r>
          </a:p>
        </p:txBody>
      </p:sp>
      <p:sp>
        <p:nvSpPr>
          <p:cNvPr id="7" name="reveal-01-detail">
            <a:extLst>
              <a:ext uri="{FF2B5EF4-FFF2-40B4-BE49-F238E27FC236}">
                <ns2:creationId id="{6FAFC466-C131-4F97-A9DD-908FD68F17CB}"/>
              </a:ext>
            </a:extLst>
          </p:cNvPr>
          <p:cNvSpPr>
            <a:spLocks noGrp="1"/>
          </p:cNvSpPr>
          <p:nvPr/>
        </p:nvSpPr>
        <p:spPr>
          <a:xfrm>
            <a:off x="771525" y="3819525"/>
            <a:ext cx="2183606" cy="809625"/>
          </a:xfrm>
          <a:prstGeom prst="rect">
            <a:avLst/>
          </a:prstGeom>
          <a:noFill/>
          <a:ln w="0">
            <a:noFill/>
          </a:ln>
        </p:spPr>
        <p:txBody>
          <a:bodyPr>
            <a:noAutofit/>
          </a:bodyPr>
          <a:lstStyle>
            <a:defPPr>
              <a:defRPr sz="1950" b="0">
                <a:solidFill>
                  <a:srgbClr val="1C3144"/>
                </a:solidFill>
                <a:latin typeface="Calibri"/>
                <a:ea typeface="Calibri"/>
                <a:cs typeface="Calibri"/>
              </a:defRPr>
            </a:defPPr>
            <a:lvl1pPr>
              <a:defRPr sz="1950" b="0">
                <a:solidFill>
                  <a:srgbClr val="1C3144"/>
                </a:solidFill>
                <a:latin typeface="Calibri"/>
                <a:ea typeface="Calibri"/>
                <a:cs typeface="Calibri"/>
              </a:defRPr>
            </a:lvl1pPr>
            <a:lvl2pPr>
              <a:defRPr sz="1950" b="0">
                <a:solidFill>
                  <a:srgbClr val="1C3144"/>
                </a:solidFill>
                <a:latin typeface="Calibri"/>
                <a:ea typeface="Calibri"/>
                <a:cs typeface="Calibri"/>
              </a:defRPr>
            </a:lvl2pPr>
            <a:lvl3pPr>
              <a:defRPr sz="1950" b="0">
                <a:solidFill>
                  <a:srgbClr val="1C3144"/>
                </a:solidFill>
                <a:latin typeface="Calibri"/>
                <a:ea typeface="Calibri"/>
                <a:cs typeface="Calibri"/>
              </a:defRPr>
            </a:lvl3pPr>
            <a:lvl4pPr>
              <a:defRPr sz="1950" b="0">
                <a:solidFill>
                  <a:srgbClr val="1C3144"/>
                </a:solidFill>
                <a:latin typeface="Calibri"/>
                <a:ea typeface="Calibri"/>
                <a:cs typeface="Calibri"/>
              </a:defRPr>
            </a:lvl4pPr>
            <a:lvl5pPr>
              <a:defRPr sz="1950" b="0">
                <a:solidFill>
                  <a:srgbClr val="1C3144"/>
                </a:solidFill>
                <a:latin typeface="Calibri"/>
                <a:ea typeface="Calibri"/>
                <a:cs typeface="Calibri"/>
              </a:defRPr>
            </a:lvl5pPr>
            <a:lvl6pPr>
              <a:defRPr sz="1950" b="0">
                <a:solidFill>
                  <a:srgbClr val="1C3144"/>
                </a:solidFill>
                <a:latin typeface="Calibri"/>
                <a:ea typeface="Calibri"/>
                <a:cs typeface="Calibri"/>
              </a:defRPr>
            </a:lvl6pPr>
            <a:lvl7pPr>
              <a:defRPr sz="1950" b="0">
                <a:solidFill>
                  <a:srgbClr val="1C3144"/>
                </a:solidFill>
                <a:latin typeface="Calibri"/>
                <a:ea typeface="Calibri"/>
                <a:cs typeface="Calibri"/>
              </a:defRPr>
            </a:lvl7pPr>
            <a:lvl8pPr>
              <a:defRPr sz="1950" b="0">
                <a:solidFill>
                  <a:srgbClr val="1C3144"/>
                </a:solidFill>
                <a:latin typeface="Calibri"/>
                <a:ea typeface="Calibri"/>
                <a:cs typeface="Calibri"/>
              </a:defRPr>
            </a:lvl8pPr>
            <a:lvl9pPr>
              <a:defRPr sz="1950" b="0">
                <a:solidFill>
                  <a:srgbClr val="1C3144"/>
                </a:solidFill>
                <a:latin typeface="Calibri"/>
                <a:ea typeface="Calibri"/>
                <a:cs typeface="Calibri"/>
              </a:defRPr>
            </a:lvl9pPr>
          </a:lstStyle>
          <a:p>
            <a:pPr>
              <a:defRPr sz="1950" b="0">
                <a:solidFill>
                  <a:srgbClr val="1C3144"/>
                </a:solidFill>
                <a:latin typeface="Calibri"/>
                <a:ea typeface="Calibri"/>
                <a:cs typeface="Calibri"/>
              </a:defRPr>
            </a:pPr>
            <a:r>
              <a:rPr sz="1950" b="0">
                <a:solidFill>
                  <a:srgbClr val="1C3144"/>
                </a:solidFill>
                <a:latin typeface="Calibri"/>
                <a:ea typeface="Calibri"/>
                <a:cs typeface="Calibri"/>
              </a:rPr>
              <a:t>Frame subquestions</a:t>
            </a:r>
          </a:p>
        </p:txBody>
      </p:sp>
      <p:sp>
        <p:nvSpPr>
          <p:cNvPr id="8" name="reveal-02-stage">
            <a:extLst>
              <a:ext uri="{FF2B5EF4-FFF2-40B4-BE49-F238E27FC236}">
                <ns2:creationId id="{4FD0FE9C-C320-4294-88C9-808DF828FA6A}"/>
              </a:ext>
              <a:ext uri="{C183D7F6-B498-43B3-948B-1728B52AA6E4}">
                <ns3:decorative val="1"/>
              </a:ext>
            </a:extLst>
          </p:cNvPr>
          <p:cNvSpPr>
            <a:spLocks noGrp="1"/>
          </p:cNvSpPr>
          <p:nvPr/>
        </p:nvSpPr>
        <p:spPr>
          <a:xfrm>
            <a:off x="3440906" y="2762250"/>
            <a:ext cx="2488406" cy="2019300"/>
          </a:xfrm>
          <a:prstGeom prst="rect">
            <a:avLst/>
          </a:prstGeom>
          <a:solidFill>
            <a:srgbClr val="F1F5F6"/>
          </a:solidFill>
          <a:ln w="11430">
            <a:solidFill>
              <a:srgbClr val="C9D5DA"/>
            </a:solidFill>
          </a:ln>
        </p:spPr>
      </p:sp>
      <p:sp>
        <p:nvSpPr>
          <p:cNvPr id="9" name="reveal-02-number">
            <a:extLst>
              <a:ext uri="{FF2B5EF4-FFF2-40B4-BE49-F238E27FC236}">
                <ns2:creationId id="{0B99911A-3CB9-44DE-80BC-A4F6B6C3D5A4}"/>
              </a:ext>
            </a:extLst>
          </p:cNvPr>
          <p:cNvSpPr>
            <a:spLocks noGrp="1"/>
          </p:cNvSpPr>
          <p:nvPr/>
        </p:nvSpPr>
        <p:spPr>
          <a:xfrm>
            <a:off x="3440906" y="2324100"/>
            <a:ext cx="2488406" cy="333375"/>
          </a:xfrm>
          <a:prstGeom prst="rect">
            <a:avLst/>
          </a:prstGeom>
          <a:noFill/>
          <a:ln w="0">
            <a:noFill/>
          </a:ln>
        </p:spPr>
        <p:txBody>
          <a:bodyPr>
            <a:noAutofit/>
          </a:bodyPr>
          <a:lstStyle>
            <a:defPPr>
              <a:defRPr sz="2025" b="1">
                <a:solidFill>
                  <a:srgbClr val="C94E29"/>
                </a:solidFill>
                <a:latin typeface="Calibri"/>
                <a:ea typeface="Calibri"/>
                <a:cs typeface="Calibri"/>
              </a:defRPr>
            </a:defPPr>
            <a:lvl1pPr>
              <a:defRPr sz="2025" b="1">
                <a:solidFill>
                  <a:srgbClr val="C94E29"/>
                </a:solidFill>
                <a:latin typeface="Calibri"/>
                <a:ea typeface="Calibri"/>
                <a:cs typeface="Calibri"/>
              </a:defRPr>
            </a:lvl1pPr>
            <a:lvl2pPr>
              <a:defRPr sz="2025" b="1">
                <a:solidFill>
                  <a:srgbClr val="C94E29"/>
                </a:solidFill>
                <a:latin typeface="Calibri"/>
                <a:ea typeface="Calibri"/>
                <a:cs typeface="Calibri"/>
              </a:defRPr>
            </a:lvl2pPr>
            <a:lvl3pPr>
              <a:defRPr sz="2025" b="1">
                <a:solidFill>
                  <a:srgbClr val="C94E29"/>
                </a:solidFill>
                <a:latin typeface="Calibri"/>
                <a:ea typeface="Calibri"/>
                <a:cs typeface="Calibri"/>
              </a:defRPr>
            </a:lvl3pPr>
            <a:lvl4pPr>
              <a:defRPr sz="2025" b="1">
                <a:solidFill>
                  <a:srgbClr val="C94E29"/>
                </a:solidFill>
                <a:latin typeface="Calibri"/>
                <a:ea typeface="Calibri"/>
                <a:cs typeface="Calibri"/>
              </a:defRPr>
            </a:lvl4pPr>
            <a:lvl5pPr>
              <a:defRPr sz="2025" b="1">
                <a:solidFill>
                  <a:srgbClr val="C94E29"/>
                </a:solidFill>
                <a:latin typeface="Calibri"/>
                <a:ea typeface="Calibri"/>
                <a:cs typeface="Calibri"/>
              </a:defRPr>
            </a:lvl5pPr>
            <a:lvl6pPr>
              <a:defRPr sz="2025" b="1">
                <a:solidFill>
                  <a:srgbClr val="C94E29"/>
                </a:solidFill>
                <a:latin typeface="Calibri"/>
                <a:ea typeface="Calibri"/>
                <a:cs typeface="Calibri"/>
              </a:defRPr>
            </a:lvl6pPr>
            <a:lvl7pPr>
              <a:defRPr sz="2025" b="1">
                <a:solidFill>
                  <a:srgbClr val="C94E29"/>
                </a:solidFill>
                <a:latin typeface="Calibri"/>
                <a:ea typeface="Calibri"/>
                <a:cs typeface="Calibri"/>
              </a:defRPr>
            </a:lvl7pPr>
            <a:lvl8pPr>
              <a:defRPr sz="2025" b="1">
                <a:solidFill>
                  <a:srgbClr val="C94E29"/>
                </a:solidFill>
                <a:latin typeface="Calibri"/>
                <a:ea typeface="Calibri"/>
                <a:cs typeface="Calibri"/>
              </a:defRPr>
            </a:lvl8pPr>
            <a:lvl9pPr>
              <a:defRPr sz="2025" b="1">
                <a:solidFill>
                  <a:srgbClr val="C94E29"/>
                </a:solidFill>
                <a:latin typeface="Calibri"/>
                <a:ea typeface="Calibri"/>
                <a:cs typeface="Calibri"/>
              </a:defRPr>
            </a:lvl9pPr>
          </a:lstStyle>
          <a:p>
            <a:pPr>
              <a:defRPr sz="2025" b="1">
                <a:solidFill>
                  <a:srgbClr val="C94E29"/>
                </a:solidFill>
                <a:latin typeface="Calibri"/>
                <a:ea typeface="Calibri"/>
                <a:cs typeface="Calibri"/>
              </a:defRPr>
            </a:pPr>
            <a:r>
              <a:rPr sz="2025" b="1">
                <a:solidFill>
                  <a:srgbClr val="C94E29"/>
                </a:solidFill>
                <a:latin typeface="Calibri"/>
                <a:ea typeface="Calibri"/>
                <a:cs typeface="Calibri"/>
              </a:rPr>
              <a:t>02</a:t>
            </a:r>
          </a:p>
        </p:txBody>
      </p:sp>
      <p:sp>
        <p:nvSpPr>
          <p:cNvPr id="10" name="reveal-02-label">
            <a:extLst>
              <a:ext uri="{FF2B5EF4-FFF2-40B4-BE49-F238E27FC236}">
                <ns2:creationId id="{455229D3-5EE7-4AB8-A9D9-D4ED7B779326}"/>
              </a:ext>
            </a:extLst>
          </p:cNvPr>
          <p:cNvSpPr>
            <a:spLocks noGrp="1"/>
          </p:cNvSpPr>
          <p:nvPr/>
        </p:nvSpPr>
        <p:spPr>
          <a:xfrm>
            <a:off x="3593306" y="2914650"/>
            <a:ext cx="2183606" cy="723900"/>
          </a:xfrm>
          <a:prstGeom prst="rect">
            <a:avLst/>
          </a:prstGeom>
          <a:noFill/>
          <a:ln w="0">
            <a:noFill/>
          </a:ln>
        </p:spPr>
        <p:txBody>
          <a:bodyPr>
            <a:noAutofit/>
          </a:bodyPr>
          <a:lstStyle>
            <a:defPPr>
              <a:defRPr sz="2175" b="1">
                <a:solidFill>
                  <a:srgbClr val="246E63"/>
                </a:solidFill>
                <a:latin typeface="Calibri"/>
                <a:ea typeface="Calibri"/>
                <a:cs typeface="Calibri"/>
              </a:defRPr>
            </a:defPPr>
            <a:lvl1pPr>
              <a:defRPr sz="2175" b="1">
                <a:solidFill>
                  <a:srgbClr val="246E63"/>
                </a:solidFill>
                <a:latin typeface="Calibri"/>
                <a:ea typeface="Calibri"/>
                <a:cs typeface="Calibri"/>
              </a:defRPr>
            </a:lvl1pPr>
            <a:lvl2pPr>
              <a:defRPr sz="2175" b="1">
                <a:solidFill>
                  <a:srgbClr val="246E63"/>
                </a:solidFill>
                <a:latin typeface="Calibri"/>
                <a:ea typeface="Calibri"/>
                <a:cs typeface="Calibri"/>
              </a:defRPr>
            </a:lvl2pPr>
            <a:lvl3pPr>
              <a:defRPr sz="2175" b="1">
                <a:solidFill>
                  <a:srgbClr val="246E63"/>
                </a:solidFill>
                <a:latin typeface="Calibri"/>
                <a:ea typeface="Calibri"/>
                <a:cs typeface="Calibri"/>
              </a:defRPr>
            </a:lvl3pPr>
            <a:lvl4pPr>
              <a:defRPr sz="2175" b="1">
                <a:solidFill>
                  <a:srgbClr val="246E63"/>
                </a:solidFill>
                <a:latin typeface="Calibri"/>
                <a:ea typeface="Calibri"/>
                <a:cs typeface="Calibri"/>
              </a:defRPr>
            </a:lvl4pPr>
            <a:lvl5pPr>
              <a:defRPr sz="2175" b="1">
                <a:solidFill>
                  <a:srgbClr val="246E63"/>
                </a:solidFill>
                <a:latin typeface="Calibri"/>
                <a:ea typeface="Calibri"/>
                <a:cs typeface="Calibri"/>
              </a:defRPr>
            </a:lvl5pPr>
            <a:lvl6pPr>
              <a:defRPr sz="2175" b="1">
                <a:solidFill>
                  <a:srgbClr val="246E63"/>
                </a:solidFill>
                <a:latin typeface="Calibri"/>
                <a:ea typeface="Calibri"/>
                <a:cs typeface="Calibri"/>
              </a:defRPr>
            </a:lvl6pPr>
            <a:lvl7pPr>
              <a:defRPr sz="2175" b="1">
                <a:solidFill>
                  <a:srgbClr val="246E63"/>
                </a:solidFill>
                <a:latin typeface="Calibri"/>
                <a:ea typeface="Calibri"/>
                <a:cs typeface="Calibri"/>
              </a:defRPr>
            </a:lvl7pPr>
            <a:lvl8pPr>
              <a:defRPr sz="2175" b="1">
                <a:solidFill>
                  <a:srgbClr val="246E63"/>
                </a:solidFill>
                <a:latin typeface="Calibri"/>
                <a:ea typeface="Calibri"/>
                <a:cs typeface="Calibri"/>
              </a:defRPr>
            </a:lvl8pPr>
            <a:lvl9pPr>
              <a:defRPr sz="2175" b="1">
                <a:solidFill>
                  <a:srgbClr val="246E63"/>
                </a:solidFill>
                <a:latin typeface="Calibri"/>
                <a:ea typeface="Calibri"/>
                <a:cs typeface="Calibri"/>
              </a:defRPr>
            </a:lvl9pPr>
          </a:lstStyle>
          <a:p>
            <a:pPr>
              <a:defRPr sz="2175" b="1">
                <a:solidFill>
                  <a:srgbClr val="246E63"/>
                </a:solidFill>
                <a:latin typeface="Calibri"/>
                <a:ea typeface="Calibri"/>
                <a:cs typeface="Calibri"/>
              </a:defRPr>
            </a:pPr>
            <a:r>
              <a:rPr sz="2175" b="1">
                <a:solidFill>
                  <a:srgbClr val="246E63"/>
                </a:solidFill>
                <a:latin typeface="Calibri"/>
                <a:ea typeface="Calibri"/>
                <a:cs typeface="Calibri"/>
              </a:rPr>
              <a:t>Search</a:t>
            </a:r>
          </a:p>
        </p:txBody>
      </p:sp>
      <p:sp>
        <p:nvSpPr>
          <p:cNvPr id="11" name="reveal-02-detail">
            <a:extLst>
              <a:ext uri="{FF2B5EF4-FFF2-40B4-BE49-F238E27FC236}">
                <ns2:creationId id="{31F30412-6696-4FBD-9978-14B36ABDEA5A}"/>
              </a:ext>
            </a:extLst>
          </p:cNvPr>
          <p:cNvSpPr>
            <a:spLocks noGrp="1"/>
          </p:cNvSpPr>
          <p:nvPr/>
        </p:nvSpPr>
        <p:spPr>
          <a:xfrm>
            <a:off x="3593306" y="3819525"/>
            <a:ext cx="2183606" cy="809625"/>
          </a:xfrm>
          <a:prstGeom prst="rect">
            <a:avLst/>
          </a:prstGeom>
          <a:noFill/>
          <a:ln w="0">
            <a:noFill/>
          </a:ln>
        </p:spPr>
        <p:txBody>
          <a:bodyPr>
            <a:noAutofit/>
          </a:bodyPr>
          <a:lstStyle>
            <a:defPPr>
              <a:defRPr sz="1950" b="0">
                <a:solidFill>
                  <a:srgbClr val="1C3144"/>
                </a:solidFill>
                <a:latin typeface="Calibri"/>
                <a:ea typeface="Calibri"/>
                <a:cs typeface="Calibri"/>
              </a:defRPr>
            </a:defPPr>
            <a:lvl1pPr>
              <a:defRPr sz="1950" b="0">
                <a:solidFill>
                  <a:srgbClr val="1C3144"/>
                </a:solidFill>
                <a:latin typeface="Calibri"/>
                <a:ea typeface="Calibri"/>
                <a:cs typeface="Calibri"/>
              </a:defRPr>
            </a:lvl1pPr>
            <a:lvl2pPr>
              <a:defRPr sz="1950" b="0">
                <a:solidFill>
                  <a:srgbClr val="1C3144"/>
                </a:solidFill>
                <a:latin typeface="Calibri"/>
                <a:ea typeface="Calibri"/>
                <a:cs typeface="Calibri"/>
              </a:defRPr>
            </a:lvl2pPr>
            <a:lvl3pPr>
              <a:defRPr sz="1950" b="0">
                <a:solidFill>
                  <a:srgbClr val="1C3144"/>
                </a:solidFill>
                <a:latin typeface="Calibri"/>
                <a:ea typeface="Calibri"/>
                <a:cs typeface="Calibri"/>
              </a:defRPr>
            </a:lvl3pPr>
            <a:lvl4pPr>
              <a:defRPr sz="1950" b="0">
                <a:solidFill>
                  <a:srgbClr val="1C3144"/>
                </a:solidFill>
                <a:latin typeface="Calibri"/>
                <a:ea typeface="Calibri"/>
                <a:cs typeface="Calibri"/>
              </a:defRPr>
            </a:lvl4pPr>
            <a:lvl5pPr>
              <a:defRPr sz="1950" b="0">
                <a:solidFill>
                  <a:srgbClr val="1C3144"/>
                </a:solidFill>
                <a:latin typeface="Calibri"/>
                <a:ea typeface="Calibri"/>
                <a:cs typeface="Calibri"/>
              </a:defRPr>
            </a:lvl5pPr>
            <a:lvl6pPr>
              <a:defRPr sz="1950" b="0">
                <a:solidFill>
                  <a:srgbClr val="1C3144"/>
                </a:solidFill>
                <a:latin typeface="Calibri"/>
                <a:ea typeface="Calibri"/>
                <a:cs typeface="Calibri"/>
              </a:defRPr>
            </a:lvl6pPr>
            <a:lvl7pPr>
              <a:defRPr sz="1950" b="0">
                <a:solidFill>
                  <a:srgbClr val="1C3144"/>
                </a:solidFill>
                <a:latin typeface="Calibri"/>
                <a:ea typeface="Calibri"/>
                <a:cs typeface="Calibri"/>
              </a:defRPr>
            </a:lvl7pPr>
            <a:lvl8pPr>
              <a:defRPr sz="1950" b="0">
                <a:solidFill>
                  <a:srgbClr val="1C3144"/>
                </a:solidFill>
                <a:latin typeface="Calibri"/>
                <a:ea typeface="Calibri"/>
                <a:cs typeface="Calibri"/>
              </a:defRPr>
            </a:lvl8pPr>
            <a:lvl9pPr>
              <a:defRPr sz="1950" b="0">
                <a:solidFill>
                  <a:srgbClr val="1C3144"/>
                </a:solidFill>
                <a:latin typeface="Calibri"/>
                <a:ea typeface="Calibri"/>
                <a:cs typeface="Calibri"/>
              </a:defRPr>
            </a:lvl9pPr>
          </a:lstStyle>
          <a:p>
            <a:pPr>
              <a:defRPr sz="1950" b="0">
                <a:solidFill>
                  <a:srgbClr val="1C3144"/>
                </a:solidFill>
                <a:latin typeface="Calibri"/>
                <a:ea typeface="Calibri"/>
                <a:cs typeface="Calibri"/>
              </a:defRPr>
            </a:pPr>
            <a:r>
              <a:rPr sz="1950" b="0">
                <a:solidFill>
                  <a:srgbClr val="1C3144"/>
                </a:solidFill>
                <a:latin typeface="Calibri"/>
                <a:ea typeface="Calibri"/>
                <a:cs typeface="Calibri"/>
              </a:rPr>
              <a:t>Find candidate authority</a:t>
            </a:r>
          </a:p>
        </p:txBody>
      </p:sp>
      <p:sp>
        <p:nvSpPr>
          <p:cNvPr id="12" name="reveal-03-stage">
            <a:extLst>
              <a:ext uri="{FF2B5EF4-FFF2-40B4-BE49-F238E27FC236}">
                <ns2:creationId id="{E4B27FB7-D3E3-4D6B-9092-8D520147B6CA}"/>
              </a:ext>
              <a:ext uri="{C183D7F6-B498-43B3-948B-1728B52AA6E4}">
                <ns3:decorative val="1"/>
              </a:ext>
            </a:extLst>
          </p:cNvPr>
          <p:cNvSpPr>
            <a:spLocks noGrp="1"/>
          </p:cNvSpPr>
          <p:nvPr/>
        </p:nvSpPr>
        <p:spPr>
          <a:xfrm>
            <a:off x="6262688" y="2762250"/>
            <a:ext cx="2488406" cy="2019300"/>
          </a:xfrm>
          <a:prstGeom prst="rect">
            <a:avLst/>
          </a:prstGeom>
          <a:solidFill>
            <a:srgbClr val="F1F5F6"/>
          </a:solidFill>
          <a:ln w="11430">
            <a:solidFill>
              <a:srgbClr val="C9D5DA"/>
            </a:solidFill>
          </a:ln>
        </p:spPr>
      </p:sp>
      <p:sp>
        <p:nvSpPr>
          <p:cNvPr id="13" name="reveal-03-number">
            <a:extLst>
              <a:ext uri="{FF2B5EF4-FFF2-40B4-BE49-F238E27FC236}">
                <ns2:creationId id="{346EF3E3-5487-4223-8978-E4DB6760ABCC}"/>
              </a:ext>
            </a:extLst>
          </p:cNvPr>
          <p:cNvSpPr>
            <a:spLocks noGrp="1"/>
          </p:cNvSpPr>
          <p:nvPr/>
        </p:nvSpPr>
        <p:spPr>
          <a:xfrm>
            <a:off x="6262688" y="2324100"/>
            <a:ext cx="2488406" cy="333375"/>
          </a:xfrm>
          <a:prstGeom prst="rect">
            <a:avLst/>
          </a:prstGeom>
          <a:noFill/>
          <a:ln w="0">
            <a:noFill/>
          </a:ln>
        </p:spPr>
        <p:txBody>
          <a:bodyPr>
            <a:noAutofit/>
          </a:bodyPr>
          <a:lstStyle>
            <a:defPPr>
              <a:defRPr sz="2025" b="1">
                <a:solidFill>
                  <a:srgbClr val="C94E29"/>
                </a:solidFill>
                <a:latin typeface="Calibri"/>
                <a:ea typeface="Calibri"/>
                <a:cs typeface="Calibri"/>
              </a:defRPr>
            </a:defPPr>
            <a:lvl1pPr>
              <a:defRPr sz="2025" b="1">
                <a:solidFill>
                  <a:srgbClr val="C94E29"/>
                </a:solidFill>
                <a:latin typeface="Calibri"/>
                <a:ea typeface="Calibri"/>
                <a:cs typeface="Calibri"/>
              </a:defRPr>
            </a:lvl1pPr>
            <a:lvl2pPr>
              <a:defRPr sz="2025" b="1">
                <a:solidFill>
                  <a:srgbClr val="C94E29"/>
                </a:solidFill>
                <a:latin typeface="Calibri"/>
                <a:ea typeface="Calibri"/>
                <a:cs typeface="Calibri"/>
              </a:defRPr>
            </a:lvl2pPr>
            <a:lvl3pPr>
              <a:defRPr sz="2025" b="1">
                <a:solidFill>
                  <a:srgbClr val="C94E29"/>
                </a:solidFill>
                <a:latin typeface="Calibri"/>
                <a:ea typeface="Calibri"/>
                <a:cs typeface="Calibri"/>
              </a:defRPr>
            </a:lvl3pPr>
            <a:lvl4pPr>
              <a:defRPr sz="2025" b="1">
                <a:solidFill>
                  <a:srgbClr val="C94E29"/>
                </a:solidFill>
                <a:latin typeface="Calibri"/>
                <a:ea typeface="Calibri"/>
                <a:cs typeface="Calibri"/>
              </a:defRPr>
            </a:lvl4pPr>
            <a:lvl5pPr>
              <a:defRPr sz="2025" b="1">
                <a:solidFill>
                  <a:srgbClr val="C94E29"/>
                </a:solidFill>
                <a:latin typeface="Calibri"/>
                <a:ea typeface="Calibri"/>
                <a:cs typeface="Calibri"/>
              </a:defRPr>
            </a:lvl5pPr>
            <a:lvl6pPr>
              <a:defRPr sz="2025" b="1">
                <a:solidFill>
                  <a:srgbClr val="C94E29"/>
                </a:solidFill>
                <a:latin typeface="Calibri"/>
                <a:ea typeface="Calibri"/>
                <a:cs typeface="Calibri"/>
              </a:defRPr>
            </a:lvl6pPr>
            <a:lvl7pPr>
              <a:defRPr sz="2025" b="1">
                <a:solidFill>
                  <a:srgbClr val="C94E29"/>
                </a:solidFill>
                <a:latin typeface="Calibri"/>
                <a:ea typeface="Calibri"/>
                <a:cs typeface="Calibri"/>
              </a:defRPr>
            </a:lvl7pPr>
            <a:lvl8pPr>
              <a:defRPr sz="2025" b="1">
                <a:solidFill>
                  <a:srgbClr val="C94E29"/>
                </a:solidFill>
                <a:latin typeface="Calibri"/>
                <a:ea typeface="Calibri"/>
                <a:cs typeface="Calibri"/>
              </a:defRPr>
            </a:lvl8pPr>
            <a:lvl9pPr>
              <a:defRPr sz="2025" b="1">
                <a:solidFill>
                  <a:srgbClr val="C94E29"/>
                </a:solidFill>
                <a:latin typeface="Calibri"/>
                <a:ea typeface="Calibri"/>
                <a:cs typeface="Calibri"/>
              </a:defRPr>
            </a:lvl9pPr>
          </a:lstStyle>
          <a:p>
            <a:pPr>
              <a:defRPr sz="2025" b="1">
                <a:solidFill>
                  <a:srgbClr val="C94E29"/>
                </a:solidFill>
                <a:latin typeface="Calibri"/>
                <a:ea typeface="Calibri"/>
                <a:cs typeface="Calibri"/>
              </a:defRPr>
            </a:pPr>
            <a:r>
              <a:rPr sz="2025" b="1">
                <a:solidFill>
                  <a:srgbClr val="C94E29"/>
                </a:solidFill>
                <a:latin typeface="Calibri"/>
                <a:ea typeface="Calibri"/>
                <a:cs typeface="Calibri"/>
              </a:rPr>
              <a:t>03</a:t>
            </a:r>
          </a:p>
        </p:txBody>
      </p:sp>
      <p:sp>
        <p:nvSpPr>
          <p:cNvPr id="14" name="reveal-03-label">
            <a:extLst>
              <a:ext uri="{FF2B5EF4-FFF2-40B4-BE49-F238E27FC236}">
                <ns2:creationId id="{C4DA6101-753A-4A33-B874-13138D2E6AAE}"/>
              </a:ext>
            </a:extLst>
          </p:cNvPr>
          <p:cNvSpPr>
            <a:spLocks noGrp="1"/>
          </p:cNvSpPr>
          <p:nvPr/>
        </p:nvSpPr>
        <p:spPr>
          <a:xfrm>
            <a:off x="6415088" y="2914650"/>
            <a:ext cx="2183606" cy="723900"/>
          </a:xfrm>
          <a:prstGeom prst="rect">
            <a:avLst/>
          </a:prstGeom>
          <a:noFill/>
          <a:ln w="0">
            <a:noFill/>
          </a:ln>
        </p:spPr>
        <p:txBody>
          <a:bodyPr>
            <a:noAutofit/>
          </a:bodyPr>
          <a:lstStyle>
            <a:defPPr>
              <a:defRPr sz="2175" b="1">
                <a:solidFill>
                  <a:srgbClr val="246E63"/>
                </a:solidFill>
                <a:latin typeface="Calibri"/>
                <a:ea typeface="Calibri"/>
                <a:cs typeface="Calibri"/>
              </a:defRPr>
            </a:defPPr>
            <a:lvl1pPr>
              <a:defRPr sz="2175" b="1">
                <a:solidFill>
                  <a:srgbClr val="246E63"/>
                </a:solidFill>
                <a:latin typeface="Calibri"/>
                <a:ea typeface="Calibri"/>
                <a:cs typeface="Calibri"/>
              </a:defRPr>
            </a:lvl1pPr>
            <a:lvl2pPr>
              <a:defRPr sz="2175" b="1">
                <a:solidFill>
                  <a:srgbClr val="246E63"/>
                </a:solidFill>
                <a:latin typeface="Calibri"/>
                <a:ea typeface="Calibri"/>
                <a:cs typeface="Calibri"/>
              </a:defRPr>
            </a:lvl2pPr>
            <a:lvl3pPr>
              <a:defRPr sz="2175" b="1">
                <a:solidFill>
                  <a:srgbClr val="246E63"/>
                </a:solidFill>
                <a:latin typeface="Calibri"/>
                <a:ea typeface="Calibri"/>
                <a:cs typeface="Calibri"/>
              </a:defRPr>
            </a:lvl3pPr>
            <a:lvl4pPr>
              <a:defRPr sz="2175" b="1">
                <a:solidFill>
                  <a:srgbClr val="246E63"/>
                </a:solidFill>
                <a:latin typeface="Calibri"/>
                <a:ea typeface="Calibri"/>
                <a:cs typeface="Calibri"/>
              </a:defRPr>
            </a:lvl4pPr>
            <a:lvl5pPr>
              <a:defRPr sz="2175" b="1">
                <a:solidFill>
                  <a:srgbClr val="246E63"/>
                </a:solidFill>
                <a:latin typeface="Calibri"/>
                <a:ea typeface="Calibri"/>
                <a:cs typeface="Calibri"/>
              </a:defRPr>
            </a:lvl5pPr>
            <a:lvl6pPr>
              <a:defRPr sz="2175" b="1">
                <a:solidFill>
                  <a:srgbClr val="246E63"/>
                </a:solidFill>
                <a:latin typeface="Calibri"/>
                <a:ea typeface="Calibri"/>
                <a:cs typeface="Calibri"/>
              </a:defRPr>
            </a:lvl6pPr>
            <a:lvl7pPr>
              <a:defRPr sz="2175" b="1">
                <a:solidFill>
                  <a:srgbClr val="246E63"/>
                </a:solidFill>
                <a:latin typeface="Calibri"/>
                <a:ea typeface="Calibri"/>
                <a:cs typeface="Calibri"/>
              </a:defRPr>
            </a:lvl7pPr>
            <a:lvl8pPr>
              <a:defRPr sz="2175" b="1">
                <a:solidFill>
                  <a:srgbClr val="246E63"/>
                </a:solidFill>
                <a:latin typeface="Calibri"/>
                <a:ea typeface="Calibri"/>
                <a:cs typeface="Calibri"/>
              </a:defRPr>
            </a:lvl8pPr>
            <a:lvl9pPr>
              <a:defRPr sz="2175" b="1">
                <a:solidFill>
                  <a:srgbClr val="246E63"/>
                </a:solidFill>
                <a:latin typeface="Calibri"/>
                <a:ea typeface="Calibri"/>
                <a:cs typeface="Calibri"/>
              </a:defRPr>
            </a:lvl9pPr>
          </a:lstStyle>
          <a:p>
            <a:pPr>
              <a:defRPr sz="2175" b="1">
                <a:solidFill>
                  <a:srgbClr val="246E63"/>
                </a:solidFill>
                <a:latin typeface="Calibri"/>
                <a:ea typeface="Calibri"/>
                <a:cs typeface="Calibri"/>
              </a:defRPr>
            </a:pPr>
            <a:r>
              <a:rPr sz="2175" b="1">
                <a:solidFill>
                  <a:srgbClr val="246E63"/>
                </a:solidFill>
                <a:latin typeface="Calibri"/>
                <a:ea typeface="Calibri"/>
                <a:cs typeface="Calibri"/>
              </a:rPr>
              <a:t>Inspect</a:t>
            </a:r>
          </a:p>
        </p:txBody>
      </p:sp>
      <p:sp>
        <p:nvSpPr>
          <p:cNvPr id="15" name="reveal-03-detail">
            <a:extLst>
              <a:ext uri="{FF2B5EF4-FFF2-40B4-BE49-F238E27FC236}">
                <ns2:creationId id="{1B33C182-2BFD-4368-84B4-AE515F51FC07}"/>
              </a:ext>
            </a:extLst>
          </p:cNvPr>
          <p:cNvSpPr>
            <a:spLocks noGrp="1"/>
          </p:cNvSpPr>
          <p:nvPr/>
        </p:nvSpPr>
        <p:spPr>
          <a:xfrm>
            <a:off x="6415088" y="3819525"/>
            <a:ext cx="2183606" cy="809625"/>
          </a:xfrm>
          <a:prstGeom prst="rect">
            <a:avLst/>
          </a:prstGeom>
          <a:noFill/>
          <a:ln w="0">
            <a:noFill/>
          </a:ln>
        </p:spPr>
        <p:txBody>
          <a:bodyPr>
            <a:noAutofit/>
          </a:bodyPr>
          <a:lstStyle>
            <a:defPPr>
              <a:defRPr sz="1950" b="0">
                <a:solidFill>
                  <a:srgbClr val="1C3144"/>
                </a:solidFill>
                <a:latin typeface="Calibri"/>
                <a:ea typeface="Calibri"/>
                <a:cs typeface="Calibri"/>
              </a:defRPr>
            </a:defPPr>
            <a:lvl1pPr>
              <a:defRPr sz="1950" b="0">
                <a:solidFill>
                  <a:srgbClr val="1C3144"/>
                </a:solidFill>
                <a:latin typeface="Calibri"/>
                <a:ea typeface="Calibri"/>
                <a:cs typeface="Calibri"/>
              </a:defRPr>
            </a:lvl1pPr>
            <a:lvl2pPr>
              <a:defRPr sz="1950" b="0">
                <a:solidFill>
                  <a:srgbClr val="1C3144"/>
                </a:solidFill>
                <a:latin typeface="Calibri"/>
                <a:ea typeface="Calibri"/>
                <a:cs typeface="Calibri"/>
              </a:defRPr>
            </a:lvl2pPr>
            <a:lvl3pPr>
              <a:defRPr sz="1950" b="0">
                <a:solidFill>
                  <a:srgbClr val="1C3144"/>
                </a:solidFill>
                <a:latin typeface="Calibri"/>
                <a:ea typeface="Calibri"/>
                <a:cs typeface="Calibri"/>
              </a:defRPr>
            </a:lvl3pPr>
            <a:lvl4pPr>
              <a:defRPr sz="1950" b="0">
                <a:solidFill>
                  <a:srgbClr val="1C3144"/>
                </a:solidFill>
                <a:latin typeface="Calibri"/>
                <a:ea typeface="Calibri"/>
                <a:cs typeface="Calibri"/>
              </a:defRPr>
            </a:lvl4pPr>
            <a:lvl5pPr>
              <a:defRPr sz="1950" b="0">
                <a:solidFill>
                  <a:srgbClr val="1C3144"/>
                </a:solidFill>
                <a:latin typeface="Calibri"/>
                <a:ea typeface="Calibri"/>
                <a:cs typeface="Calibri"/>
              </a:defRPr>
            </a:lvl5pPr>
            <a:lvl6pPr>
              <a:defRPr sz="1950" b="0">
                <a:solidFill>
                  <a:srgbClr val="1C3144"/>
                </a:solidFill>
                <a:latin typeface="Calibri"/>
                <a:ea typeface="Calibri"/>
                <a:cs typeface="Calibri"/>
              </a:defRPr>
            </a:lvl6pPr>
            <a:lvl7pPr>
              <a:defRPr sz="1950" b="0">
                <a:solidFill>
                  <a:srgbClr val="1C3144"/>
                </a:solidFill>
                <a:latin typeface="Calibri"/>
                <a:ea typeface="Calibri"/>
                <a:cs typeface="Calibri"/>
              </a:defRPr>
            </a:lvl7pPr>
            <a:lvl8pPr>
              <a:defRPr sz="1950" b="0">
                <a:solidFill>
                  <a:srgbClr val="1C3144"/>
                </a:solidFill>
                <a:latin typeface="Calibri"/>
                <a:ea typeface="Calibri"/>
                <a:cs typeface="Calibri"/>
              </a:defRPr>
            </a:lvl8pPr>
            <a:lvl9pPr>
              <a:defRPr sz="1950" b="0">
                <a:solidFill>
                  <a:srgbClr val="1C3144"/>
                </a:solidFill>
                <a:latin typeface="Calibri"/>
                <a:ea typeface="Calibri"/>
                <a:cs typeface="Calibri"/>
              </a:defRPr>
            </a:lvl9pPr>
          </a:lstStyle>
          <a:p>
            <a:pPr>
              <a:defRPr sz="1950" b="0">
                <a:solidFill>
                  <a:srgbClr val="1C3144"/>
                </a:solidFill>
                <a:latin typeface="Calibri"/>
                <a:ea typeface="Calibri"/>
                <a:cs typeface="Calibri"/>
              </a:defRPr>
            </a:pPr>
            <a:r>
              <a:rPr sz="1950" b="0">
                <a:solidFill>
                  <a:srgbClr val="1C3144"/>
                </a:solidFill>
                <a:latin typeface="Calibri"/>
                <a:ea typeface="Calibri"/>
                <a:cs typeface="Calibri"/>
              </a:rPr>
              <a:t>Read and compare</a:t>
            </a:r>
          </a:p>
        </p:txBody>
      </p:sp>
      <p:sp>
        <p:nvSpPr>
          <p:cNvPr id="16" name="reveal-04-stage">
            <a:extLst>
              <a:ext uri="{FF2B5EF4-FFF2-40B4-BE49-F238E27FC236}">
                <ns2:creationId id="{348D5CE9-C08D-4C78-943F-B9404E4FFAD9}"/>
              </a:ext>
              <a:ext uri="{C183D7F6-B498-43B3-948B-1728B52AA6E4}">
                <ns3:decorative val="1"/>
              </a:ext>
            </a:extLst>
          </p:cNvPr>
          <p:cNvSpPr>
            <a:spLocks noGrp="1"/>
          </p:cNvSpPr>
          <p:nvPr/>
        </p:nvSpPr>
        <p:spPr>
          <a:xfrm>
            <a:off x="9084469" y="2762250"/>
            <a:ext cx="2488406" cy="2019300"/>
          </a:xfrm>
          <a:prstGeom prst="rect">
            <a:avLst/>
          </a:prstGeom>
          <a:solidFill>
            <a:srgbClr val="E9F3F0"/>
          </a:solidFill>
          <a:ln w="11430">
            <a:solidFill>
              <a:srgbClr val="C9D5DA"/>
            </a:solidFill>
          </a:ln>
        </p:spPr>
      </p:sp>
      <p:sp>
        <p:nvSpPr>
          <p:cNvPr id="17" name="reveal-04-number">
            <a:extLst>
              <a:ext uri="{FF2B5EF4-FFF2-40B4-BE49-F238E27FC236}">
                <ns2:creationId id="{D7E8E97F-C1D1-440F-935D-EF98FBAFFECF}"/>
              </a:ext>
            </a:extLst>
          </p:cNvPr>
          <p:cNvSpPr>
            <a:spLocks noGrp="1"/>
          </p:cNvSpPr>
          <p:nvPr/>
        </p:nvSpPr>
        <p:spPr>
          <a:xfrm>
            <a:off x="9084469" y="2324100"/>
            <a:ext cx="2488406" cy="333375"/>
          </a:xfrm>
          <a:prstGeom prst="rect">
            <a:avLst/>
          </a:prstGeom>
          <a:noFill/>
          <a:ln w="0">
            <a:noFill/>
          </a:ln>
        </p:spPr>
        <p:txBody>
          <a:bodyPr>
            <a:noAutofit/>
          </a:bodyPr>
          <a:lstStyle>
            <a:defPPr>
              <a:defRPr sz="2025" b="1">
                <a:solidFill>
                  <a:srgbClr val="C94E29"/>
                </a:solidFill>
                <a:latin typeface="Calibri"/>
                <a:ea typeface="Calibri"/>
                <a:cs typeface="Calibri"/>
              </a:defRPr>
            </a:defPPr>
            <a:lvl1pPr>
              <a:defRPr sz="2025" b="1">
                <a:solidFill>
                  <a:srgbClr val="C94E29"/>
                </a:solidFill>
                <a:latin typeface="Calibri"/>
                <a:ea typeface="Calibri"/>
                <a:cs typeface="Calibri"/>
              </a:defRPr>
            </a:lvl1pPr>
            <a:lvl2pPr>
              <a:defRPr sz="2025" b="1">
                <a:solidFill>
                  <a:srgbClr val="C94E29"/>
                </a:solidFill>
                <a:latin typeface="Calibri"/>
                <a:ea typeface="Calibri"/>
                <a:cs typeface="Calibri"/>
              </a:defRPr>
            </a:lvl2pPr>
            <a:lvl3pPr>
              <a:defRPr sz="2025" b="1">
                <a:solidFill>
                  <a:srgbClr val="C94E29"/>
                </a:solidFill>
                <a:latin typeface="Calibri"/>
                <a:ea typeface="Calibri"/>
                <a:cs typeface="Calibri"/>
              </a:defRPr>
            </a:lvl3pPr>
            <a:lvl4pPr>
              <a:defRPr sz="2025" b="1">
                <a:solidFill>
                  <a:srgbClr val="C94E29"/>
                </a:solidFill>
                <a:latin typeface="Calibri"/>
                <a:ea typeface="Calibri"/>
                <a:cs typeface="Calibri"/>
              </a:defRPr>
            </a:lvl4pPr>
            <a:lvl5pPr>
              <a:defRPr sz="2025" b="1">
                <a:solidFill>
                  <a:srgbClr val="C94E29"/>
                </a:solidFill>
                <a:latin typeface="Calibri"/>
                <a:ea typeface="Calibri"/>
                <a:cs typeface="Calibri"/>
              </a:defRPr>
            </a:lvl5pPr>
            <a:lvl6pPr>
              <a:defRPr sz="2025" b="1">
                <a:solidFill>
                  <a:srgbClr val="C94E29"/>
                </a:solidFill>
                <a:latin typeface="Calibri"/>
                <a:ea typeface="Calibri"/>
                <a:cs typeface="Calibri"/>
              </a:defRPr>
            </a:lvl6pPr>
            <a:lvl7pPr>
              <a:defRPr sz="2025" b="1">
                <a:solidFill>
                  <a:srgbClr val="C94E29"/>
                </a:solidFill>
                <a:latin typeface="Calibri"/>
                <a:ea typeface="Calibri"/>
                <a:cs typeface="Calibri"/>
              </a:defRPr>
            </a:lvl7pPr>
            <a:lvl8pPr>
              <a:defRPr sz="2025" b="1">
                <a:solidFill>
                  <a:srgbClr val="C94E29"/>
                </a:solidFill>
                <a:latin typeface="Calibri"/>
                <a:ea typeface="Calibri"/>
                <a:cs typeface="Calibri"/>
              </a:defRPr>
            </a:lvl8pPr>
            <a:lvl9pPr>
              <a:defRPr sz="2025" b="1">
                <a:solidFill>
                  <a:srgbClr val="C94E29"/>
                </a:solidFill>
                <a:latin typeface="Calibri"/>
                <a:ea typeface="Calibri"/>
                <a:cs typeface="Calibri"/>
              </a:defRPr>
            </a:lvl9pPr>
          </a:lstStyle>
          <a:p>
            <a:pPr>
              <a:defRPr sz="2025" b="1">
                <a:solidFill>
                  <a:srgbClr val="C94E29"/>
                </a:solidFill>
                <a:latin typeface="Calibri"/>
                <a:ea typeface="Calibri"/>
                <a:cs typeface="Calibri"/>
              </a:defRPr>
            </a:pPr>
            <a:r>
              <a:rPr sz="2025" b="1">
                <a:solidFill>
                  <a:srgbClr val="C94E29"/>
                </a:solidFill>
                <a:latin typeface="Calibri"/>
                <a:ea typeface="Calibri"/>
                <a:cs typeface="Calibri"/>
              </a:rPr>
              <a:t>04</a:t>
            </a:r>
          </a:p>
        </p:txBody>
      </p:sp>
      <p:sp>
        <p:nvSpPr>
          <p:cNvPr id="18" name="reveal-04-label">
            <a:extLst>
              <a:ext uri="{FF2B5EF4-FFF2-40B4-BE49-F238E27FC236}">
                <ns2:creationId id="{23657524-5C6E-4909-A995-ED46E025A1A3}"/>
              </a:ext>
            </a:extLst>
          </p:cNvPr>
          <p:cNvSpPr>
            <a:spLocks noGrp="1"/>
          </p:cNvSpPr>
          <p:nvPr/>
        </p:nvSpPr>
        <p:spPr>
          <a:xfrm>
            <a:off x="9236869" y="2914650"/>
            <a:ext cx="2183606" cy="723900"/>
          </a:xfrm>
          <a:prstGeom prst="rect">
            <a:avLst/>
          </a:prstGeom>
          <a:noFill/>
          <a:ln w="0">
            <a:noFill/>
          </a:ln>
        </p:spPr>
        <p:txBody>
          <a:bodyPr>
            <a:noAutofit/>
          </a:bodyPr>
          <a:lstStyle>
            <a:defPPr>
              <a:defRPr sz="2175" b="1">
                <a:solidFill>
                  <a:srgbClr val="246E63"/>
                </a:solidFill>
                <a:latin typeface="Calibri"/>
                <a:ea typeface="Calibri"/>
                <a:cs typeface="Calibri"/>
              </a:defRPr>
            </a:defPPr>
            <a:lvl1pPr>
              <a:defRPr sz="2175" b="1">
                <a:solidFill>
                  <a:srgbClr val="246E63"/>
                </a:solidFill>
                <a:latin typeface="Calibri"/>
                <a:ea typeface="Calibri"/>
                <a:cs typeface="Calibri"/>
              </a:defRPr>
            </a:lvl1pPr>
            <a:lvl2pPr>
              <a:defRPr sz="2175" b="1">
                <a:solidFill>
                  <a:srgbClr val="246E63"/>
                </a:solidFill>
                <a:latin typeface="Calibri"/>
                <a:ea typeface="Calibri"/>
                <a:cs typeface="Calibri"/>
              </a:defRPr>
            </a:lvl2pPr>
            <a:lvl3pPr>
              <a:defRPr sz="2175" b="1">
                <a:solidFill>
                  <a:srgbClr val="246E63"/>
                </a:solidFill>
                <a:latin typeface="Calibri"/>
                <a:ea typeface="Calibri"/>
                <a:cs typeface="Calibri"/>
              </a:defRPr>
            </a:lvl3pPr>
            <a:lvl4pPr>
              <a:defRPr sz="2175" b="1">
                <a:solidFill>
                  <a:srgbClr val="246E63"/>
                </a:solidFill>
                <a:latin typeface="Calibri"/>
                <a:ea typeface="Calibri"/>
                <a:cs typeface="Calibri"/>
              </a:defRPr>
            </a:lvl4pPr>
            <a:lvl5pPr>
              <a:defRPr sz="2175" b="1">
                <a:solidFill>
                  <a:srgbClr val="246E63"/>
                </a:solidFill>
                <a:latin typeface="Calibri"/>
                <a:ea typeface="Calibri"/>
                <a:cs typeface="Calibri"/>
              </a:defRPr>
            </a:lvl5pPr>
            <a:lvl6pPr>
              <a:defRPr sz="2175" b="1">
                <a:solidFill>
                  <a:srgbClr val="246E63"/>
                </a:solidFill>
                <a:latin typeface="Calibri"/>
                <a:ea typeface="Calibri"/>
                <a:cs typeface="Calibri"/>
              </a:defRPr>
            </a:lvl6pPr>
            <a:lvl7pPr>
              <a:defRPr sz="2175" b="1">
                <a:solidFill>
                  <a:srgbClr val="246E63"/>
                </a:solidFill>
                <a:latin typeface="Calibri"/>
                <a:ea typeface="Calibri"/>
                <a:cs typeface="Calibri"/>
              </a:defRPr>
            </a:lvl7pPr>
            <a:lvl8pPr>
              <a:defRPr sz="2175" b="1">
                <a:solidFill>
                  <a:srgbClr val="246E63"/>
                </a:solidFill>
                <a:latin typeface="Calibri"/>
                <a:ea typeface="Calibri"/>
                <a:cs typeface="Calibri"/>
              </a:defRPr>
            </a:lvl8pPr>
            <a:lvl9pPr>
              <a:defRPr sz="2175" b="1">
                <a:solidFill>
                  <a:srgbClr val="246E63"/>
                </a:solidFill>
                <a:latin typeface="Calibri"/>
                <a:ea typeface="Calibri"/>
                <a:cs typeface="Calibri"/>
              </a:defRPr>
            </a:lvl9pPr>
          </a:lstStyle>
          <a:p>
            <a:pPr>
              <a:defRPr sz="2175" b="1">
                <a:solidFill>
                  <a:srgbClr val="246E63"/>
                </a:solidFill>
                <a:latin typeface="Calibri"/>
                <a:ea typeface="Calibri"/>
                <a:cs typeface="Calibri"/>
              </a:defRPr>
            </a:pPr>
            <a:r>
              <a:rPr sz="2175" b="1">
                <a:solidFill>
                  <a:srgbClr val="246E63"/>
                </a:solidFill>
                <a:latin typeface="Calibri"/>
                <a:ea typeface="Calibri"/>
                <a:cs typeface="Calibri"/>
              </a:rPr>
              <a:t>Synthesize</a:t>
            </a:r>
          </a:p>
        </p:txBody>
      </p:sp>
      <p:sp>
        <p:nvSpPr>
          <p:cNvPr id="19" name="reveal-04-detail">
            <a:extLst>
              <a:ext uri="{FF2B5EF4-FFF2-40B4-BE49-F238E27FC236}">
                <ns2:creationId id="{E49EA7CD-72E5-46E3-86A0-95FEA86FBC40}"/>
              </a:ext>
            </a:extLst>
          </p:cNvPr>
          <p:cNvSpPr>
            <a:spLocks noGrp="1"/>
          </p:cNvSpPr>
          <p:nvPr/>
        </p:nvSpPr>
        <p:spPr>
          <a:xfrm>
            <a:off x="9236869" y="3819525"/>
            <a:ext cx="2183606" cy="809625"/>
          </a:xfrm>
          <a:prstGeom prst="rect">
            <a:avLst/>
          </a:prstGeom>
          <a:noFill/>
          <a:ln w="0">
            <a:noFill/>
          </a:ln>
        </p:spPr>
        <p:txBody>
          <a:bodyPr>
            <a:noAutofit/>
          </a:bodyPr>
          <a:lstStyle>
            <a:defPPr>
              <a:defRPr sz="1950" b="0">
                <a:solidFill>
                  <a:srgbClr val="1C3144"/>
                </a:solidFill>
                <a:latin typeface="Calibri"/>
                <a:ea typeface="Calibri"/>
                <a:cs typeface="Calibri"/>
              </a:defRPr>
            </a:defPPr>
            <a:lvl1pPr>
              <a:defRPr sz="1950" b="0">
                <a:solidFill>
                  <a:srgbClr val="1C3144"/>
                </a:solidFill>
                <a:latin typeface="Calibri"/>
                <a:ea typeface="Calibri"/>
                <a:cs typeface="Calibri"/>
              </a:defRPr>
            </a:lvl1pPr>
            <a:lvl2pPr>
              <a:defRPr sz="1950" b="0">
                <a:solidFill>
                  <a:srgbClr val="1C3144"/>
                </a:solidFill>
                <a:latin typeface="Calibri"/>
                <a:ea typeface="Calibri"/>
                <a:cs typeface="Calibri"/>
              </a:defRPr>
            </a:lvl2pPr>
            <a:lvl3pPr>
              <a:defRPr sz="1950" b="0">
                <a:solidFill>
                  <a:srgbClr val="1C3144"/>
                </a:solidFill>
                <a:latin typeface="Calibri"/>
                <a:ea typeface="Calibri"/>
                <a:cs typeface="Calibri"/>
              </a:defRPr>
            </a:lvl3pPr>
            <a:lvl4pPr>
              <a:defRPr sz="1950" b="0">
                <a:solidFill>
                  <a:srgbClr val="1C3144"/>
                </a:solidFill>
                <a:latin typeface="Calibri"/>
                <a:ea typeface="Calibri"/>
                <a:cs typeface="Calibri"/>
              </a:defRPr>
            </a:lvl4pPr>
            <a:lvl5pPr>
              <a:defRPr sz="1950" b="0">
                <a:solidFill>
                  <a:srgbClr val="1C3144"/>
                </a:solidFill>
                <a:latin typeface="Calibri"/>
                <a:ea typeface="Calibri"/>
                <a:cs typeface="Calibri"/>
              </a:defRPr>
            </a:lvl5pPr>
            <a:lvl6pPr>
              <a:defRPr sz="1950" b="0">
                <a:solidFill>
                  <a:srgbClr val="1C3144"/>
                </a:solidFill>
                <a:latin typeface="Calibri"/>
                <a:ea typeface="Calibri"/>
                <a:cs typeface="Calibri"/>
              </a:defRPr>
            </a:lvl6pPr>
            <a:lvl7pPr>
              <a:defRPr sz="1950" b="0">
                <a:solidFill>
                  <a:srgbClr val="1C3144"/>
                </a:solidFill>
                <a:latin typeface="Calibri"/>
                <a:ea typeface="Calibri"/>
                <a:cs typeface="Calibri"/>
              </a:defRPr>
            </a:lvl7pPr>
            <a:lvl8pPr>
              <a:defRPr sz="1950" b="0">
                <a:solidFill>
                  <a:srgbClr val="1C3144"/>
                </a:solidFill>
                <a:latin typeface="Calibri"/>
                <a:ea typeface="Calibri"/>
                <a:cs typeface="Calibri"/>
              </a:defRPr>
            </a:lvl8pPr>
            <a:lvl9pPr>
              <a:defRPr sz="1950" b="0">
                <a:solidFill>
                  <a:srgbClr val="1C3144"/>
                </a:solidFill>
                <a:latin typeface="Calibri"/>
                <a:ea typeface="Calibri"/>
                <a:cs typeface="Calibri"/>
              </a:defRPr>
            </a:lvl9pPr>
          </a:lstStyle>
          <a:p>
            <a:pPr>
              <a:defRPr sz="1950" b="0">
                <a:solidFill>
                  <a:srgbClr val="1C3144"/>
                </a:solidFill>
                <a:latin typeface="Calibri"/>
                <a:ea typeface="Calibri"/>
                <a:cs typeface="Calibri"/>
              </a:defRPr>
            </a:pPr>
            <a:r>
              <a:rPr sz="1950" b="0">
                <a:solidFill>
                  <a:srgbClr val="1C3144"/>
                </a:solidFill>
                <a:latin typeface="Calibri"/>
                <a:ea typeface="Calibri"/>
                <a:cs typeface="Calibri"/>
              </a:rPr>
              <a:t>Answer with limitations</a:t>
            </a:r>
          </a:p>
        </p:txBody>
      </p:sp>
      <p:sp>
        <p:nvSpPr>
          <p:cNvPr id="3" name="text-80">
            <a:extLst>
              <a:ext uri="{FF2B5EF4-FFF2-40B4-BE49-F238E27FC236}">
                <ns2:creationId id="{5D38E8A9-BA5A-4B5A-8FD9-60DC83B0B6FE}"/>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07   11</a:t>
            </a:r>
          </a:p>
        </p:txBody>
      </p:sp>
    </p:spTree>
    <p:extLst>
      <p:ext uri="{BB962C8B-B14F-4D97-AF65-F5344CB8AC3E}">
        <ns4:creationId val="269110118"/>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300"/>
                                        <p:tgtEl>
                                          <p:spTgt spid="4"/>
                                        </p:tgtEl>
                                      </p:cBhvr>
                                    </p:animEffect>
                                  </p:childTnLst>
                                </p:cTn>
                              </p:par>
                              <p:par>
                                <p:cTn id="8" presetID="10" presetClass="entr" presetSubtype="0" fill="hold" nodeType="click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300"/>
                                        <p:tgtEl>
                                          <p:spTgt spid="5"/>
                                        </p:tgtEl>
                                      </p:cBhvr>
                                    </p:animEffect>
                                  </p:childTnLst>
                                </p:cTn>
                              </p:par>
                              <p:par>
                                <p:cTn id="11" presetID="10"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300"/>
                                        <p:tgtEl>
                                          <p:spTgt spid="6"/>
                                        </p:tgtEl>
                                      </p:cBhvr>
                                    </p:animEffect>
                                  </p:childTnLst>
                                </p:cTn>
                              </p:par>
                              <p:par>
                                <p:cTn id="14" presetID="10" presetClass="entr" presetSubtype="0"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3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20"/>
                                        </p:tgtEl>
                                        <p:attrNameLst>
                                          <p:attrName>style.visibility</p:attrName>
                                        </p:attrNameLst>
                                      </p:cBhvr>
                                      <p:to>
                                        <p:strVal val="visible"/>
                                      </p:to>
                                    </p:set>
                                    <p:animEffect transition="in" filter="fade">
                                      <p:cBhvr>
                                        <p:cTn id="21" dur="300"/>
                                        <p:tgtEl>
                                          <p:spTgt spid="20"/>
                                        </p:tgtEl>
                                      </p:cBhvr>
                                    </p:animEffect>
                                  </p:childTnLst>
                                </p:cTn>
                              </p:par>
                              <p:par>
                                <p:cTn id="22" presetID="10" presetClass="entr" presetSubtype="0" fill="hold" nodeType="click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300"/>
                                        <p:tgtEl>
                                          <p:spTgt spid="8"/>
                                        </p:tgtEl>
                                      </p:cBhvr>
                                    </p:animEffect>
                                  </p:childTnLst>
                                </p:cTn>
                              </p:par>
                              <p:par>
                                <p:cTn id="25" presetID="10"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300"/>
                                        <p:tgtEl>
                                          <p:spTgt spid="9"/>
                                        </p:tgtEl>
                                      </p:cBhvr>
                                    </p:animEffect>
                                  </p:childTnLst>
                                </p:cTn>
                              </p:par>
                              <p:par>
                                <p:cTn id="28" presetID="10" presetClass="entr" presetSubtype="0" fill="hold" nodeType="click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300"/>
                                        <p:tgtEl>
                                          <p:spTgt spid="10"/>
                                        </p:tgtEl>
                                      </p:cBhvr>
                                    </p:animEffect>
                                  </p:childTnLst>
                                </p:cTn>
                              </p:par>
                              <p:par>
                                <p:cTn id="31" presetID="10" presetClass="entr" presetSubtype="0" fill="hold" nodeType="click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300"/>
                                        <p:tgtEl>
                                          <p:spTgt spid="11"/>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300"/>
                                        <p:tgtEl>
                                          <p:spTgt spid="21"/>
                                        </p:tgtEl>
                                      </p:cBhvr>
                                    </p:animEffect>
                                  </p:childTnLst>
                                </p:cTn>
                              </p:par>
                              <p:par>
                                <p:cTn id="39" presetID="10" presetClass="entr" presetSubtype="0" fill="hold" nodeType="clickEffect">
                                  <p:stCondLst>
                                    <p:cond delay="0"/>
                                  </p:stCondLst>
                                  <p:childTnLst>
                                    <p:set>
                                      <p:cBhvr>
                                        <p:cTn id="40" dur="1" fill="hold">
                                          <p:stCondLst>
                                            <p:cond delay="0"/>
                                          </p:stCondLst>
                                        </p:cTn>
                                        <p:tgtEl>
                                          <p:spTgt spid="12"/>
                                        </p:tgtEl>
                                        <p:attrNameLst>
                                          <p:attrName>style.visibility</p:attrName>
                                        </p:attrNameLst>
                                      </p:cBhvr>
                                      <p:to>
                                        <p:strVal val="visible"/>
                                      </p:to>
                                    </p:set>
                                    <p:animEffect transition="in" filter="fade">
                                      <p:cBhvr>
                                        <p:cTn id="41" dur="300"/>
                                        <p:tgtEl>
                                          <p:spTgt spid="12"/>
                                        </p:tgtEl>
                                      </p:cBhvr>
                                    </p:animEffect>
                                  </p:childTnLst>
                                </p:cTn>
                              </p:par>
                              <p:par>
                                <p:cTn id="42" presetID="10" presetClass="entr" presetSubtype="0" fill="hold" nodeType="click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fade">
                                      <p:cBhvr>
                                        <p:cTn id="44" dur="300"/>
                                        <p:tgtEl>
                                          <p:spTgt spid="13"/>
                                        </p:tgtEl>
                                      </p:cBhvr>
                                    </p:animEffect>
                                  </p:childTnLst>
                                </p:cTn>
                              </p:par>
                              <p:par>
                                <p:cTn id="45" presetID="10" presetClass="entr" presetSubtype="0" fill="hold" nodeType="click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fade">
                                      <p:cBhvr>
                                        <p:cTn id="47" dur="300"/>
                                        <p:tgtEl>
                                          <p:spTgt spid="14"/>
                                        </p:tgtEl>
                                      </p:cBhvr>
                                    </p:animEffect>
                                  </p:childTnLst>
                                </p:cTn>
                              </p:par>
                              <p:par>
                                <p:cTn id="48" presetID="10" presetClass="entr" presetSubtype="0" fill="hold" nodeType="clickEffect">
                                  <p:stCondLst>
                                    <p:cond delay="0"/>
                                  </p:stCondLst>
                                  <p:childTnLst>
                                    <p:set>
                                      <p:cBhvr>
                                        <p:cTn id="49" dur="1" fill="hold">
                                          <p:stCondLst>
                                            <p:cond delay="0"/>
                                          </p:stCondLst>
                                        </p:cTn>
                                        <p:tgtEl>
                                          <p:spTgt spid="15"/>
                                        </p:tgtEl>
                                        <p:attrNameLst>
                                          <p:attrName>style.visibility</p:attrName>
                                        </p:attrNameLst>
                                      </p:cBhvr>
                                      <p:to>
                                        <p:strVal val="visible"/>
                                      </p:to>
                                    </p:set>
                                    <p:animEffect transition="in" filter="fade">
                                      <p:cBhvr>
                                        <p:cTn id="50" dur="300"/>
                                        <p:tgtEl>
                                          <p:spTgt spid="15"/>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22"/>
                                        </p:tgtEl>
                                        <p:attrNameLst>
                                          <p:attrName>style.visibility</p:attrName>
                                        </p:attrNameLst>
                                      </p:cBhvr>
                                      <p:to>
                                        <p:strVal val="visible"/>
                                      </p:to>
                                    </p:set>
                                    <p:animEffect transition="in" filter="fade">
                                      <p:cBhvr>
                                        <p:cTn id="55" dur="300"/>
                                        <p:tgtEl>
                                          <p:spTgt spid="22"/>
                                        </p:tgtEl>
                                      </p:cBhvr>
                                    </p:animEffect>
                                  </p:childTnLst>
                                </p:cTn>
                              </p:par>
                              <p:par>
                                <p:cTn id="56" presetID="10" presetClass="entr" presetSubtype="0" fill="hold" nodeType="clickEffect">
                                  <p:stCondLst>
                                    <p:cond delay="0"/>
                                  </p:stCondLst>
                                  <p:childTnLst>
                                    <p:set>
                                      <p:cBhvr>
                                        <p:cTn id="57" dur="1" fill="hold">
                                          <p:stCondLst>
                                            <p:cond delay="0"/>
                                          </p:stCondLst>
                                        </p:cTn>
                                        <p:tgtEl>
                                          <p:spTgt spid="16"/>
                                        </p:tgtEl>
                                        <p:attrNameLst>
                                          <p:attrName>style.visibility</p:attrName>
                                        </p:attrNameLst>
                                      </p:cBhvr>
                                      <p:to>
                                        <p:strVal val="visible"/>
                                      </p:to>
                                    </p:set>
                                    <p:animEffect transition="in" filter="fade">
                                      <p:cBhvr>
                                        <p:cTn id="58" dur="300"/>
                                        <p:tgtEl>
                                          <p:spTgt spid="16"/>
                                        </p:tgtEl>
                                      </p:cBhvr>
                                    </p:animEffect>
                                  </p:childTnLst>
                                </p:cTn>
                              </p:par>
                              <p:par>
                                <p:cTn id="59" presetID="10" presetClass="entr" presetSubtype="0" fill="hold" nodeType="clickEffect">
                                  <p:stCondLst>
                                    <p:cond delay="0"/>
                                  </p:stCondLst>
                                  <p:childTnLst>
                                    <p:set>
                                      <p:cBhvr>
                                        <p:cTn id="60" dur="1" fill="hold">
                                          <p:stCondLst>
                                            <p:cond delay="0"/>
                                          </p:stCondLst>
                                        </p:cTn>
                                        <p:tgtEl>
                                          <p:spTgt spid="17"/>
                                        </p:tgtEl>
                                        <p:attrNameLst>
                                          <p:attrName>style.visibility</p:attrName>
                                        </p:attrNameLst>
                                      </p:cBhvr>
                                      <p:to>
                                        <p:strVal val="visible"/>
                                      </p:to>
                                    </p:set>
                                    <p:animEffect transition="in" filter="fade">
                                      <p:cBhvr>
                                        <p:cTn id="61" dur="300"/>
                                        <p:tgtEl>
                                          <p:spTgt spid="17"/>
                                        </p:tgtEl>
                                      </p:cBhvr>
                                    </p:animEffect>
                                  </p:childTnLst>
                                </p:cTn>
                              </p:par>
                              <p:par>
                                <p:cTn id="62" presetID="10" presetClass="entr" presetSubtype="0" fill="hold" nodeType="clickEffect">
                                  <p:stCondLst>
                                    <p:cond delay="0"/>
                                  </p:stCondLst>
                                  <p:childTnLst>
                                    <p:set>
                                      <p:cBhvr>
                                        <p:cTn id="63" dur="1" fill="hold">
                                          <p:stCondLst>
                                            <p:cond delay="0"/>
                                          </p:stCondLst>
                                        </p:cTn>
                                        <p:tgtEl>
                                          <p:spTgt spid="18"/>
                                        </p:tgtEl>
                                        <p:attrNameLst>
                                          <p:attrName>style.visibility</p:attrName>
                                        </p:attrNameLst>
                                      </p:cBhvr>
                                      <p:to>
                                        <p:strVal val="visible"/>
                                      </p:to>
                                    </p:set>
                                    <p:animEffect transition="in" filter="fade">
                                      <p:cBhvr>
                                        <p:cTn id="64" dur="300"/>
                                        <p:tgtEl>
                                          <p:spTgt spid="18"/>
                                        </p:tgtEl>
                                      </p:cBhvr>
                                    </p:animEffect>
                                  </p:childTnLst>
                                </p:cTn>
                              </p:par>
                              <p:par>
                                <p:cTn id="65" presetID="10" presetClass="entr" presetSubtype="0" fill="hold" nodeType="clickEffect">
                                  <p:stCondLst>
                                    <p:cond delay="0"/>
                                  </p:stCondLst>
                                  <p:childTnLst>
                                    <p:set>
                                      <p:cBhvr>
                                        <p:cTn id="66" dur="1" fill="hold">
                                          <p:stCondLst>
                                            <p:cond delay="0"/>
                                          </p:stCondLst>
                                        </p:cTn>
                                        <p:tgtEl>
                                          <p:spTgt spid="19"/>
                                        </p:tgtEl>
                                        <p:attrNameLst>
                                          <p:attrName>style.visibility</p:attrName>
                                        </p:attrNameLst>
                                      </p:cBhvr>
                                      <p:to>
                                        <p:strVal val="visible"/>
                                      </p:to>
                                    </p:set>
                                    <p:animEffect transition="in" filter="fade">
                                      <p:cBhvr>
                                        <p:cTn id="67" dur="3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ns2="http://schemas.microsoft.com/office/drawing/2014/main" xmlns:ns3="http://schemas.microsoft.com/office/powerpoint/2010/main" xmlns:p="http://schemas.openxmlformats.org/presentationml/2006/main">
  <p:cSld name="The report is not the evidence">
    <p:bg>
      <p:bgPr>
        <a:solidFill>
          <a:srgbClr val="FFFFFF"/>
        </a:solidFill>
      </p:bgPr>
    </p:bg>
    <p:spTree>
      <p:nvGrpSpPr>
        <p:cNvPr id="1" name=""/>
        <p:cNvGrpSpPr/>
        <p:nvPr/>
      </p:nvGrpSpPr>
      <p:grpSpPr>
        <a:xfrm/>
      </p:grpSpPr>
      <p:sp>
        <p:nvSpPr>
          <p:cNvPr id="12" name="text-84">
            <a:extLst>
              <a:ext uri="{FF2B5EF4-FFF2-40B4-BE49-F238E27FC236}">
                <ns2:creationId id="{94CCF87F-1CE2-4D46-955C-ED65C0366B1E}"/>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07</a:t>
            </a:r>
          </a:p>
        </p:txBody>
      </p:sp>
      <p:sp>
        <p:nvSpPr>
          <p:cNvPr id="2" name="text-85">
            <a:extLst>
              <a:ext uri="{FF2B5EF4-FFF2-40B4-BE49-F238E27FC236}">
                <ns2:creationId id="{A3282BD2-8F55-4552-96B6-00075E22FDBB}"/>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The report is not the evidence</a:t>
            </a:r>
          </a:p>
        </p:txBody>
      </p:sp>
      <p:sp>
        <p:nvSpPr>
          <p:cNvPr id="4" name="text-87">
            <a:extLst>
              <a:ext uri="{FF2B5EF4-FFF2-40B4-BE49-F238E27FC236}">
                <ns2:creationId id="{4D189ED5-49BE-4CF8-9815-C8DCB16291CF}"/>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88">
            <a:extLst>
              <a:ext uri="{FF2B5EF4-FFF2-40B4-BE49-F238E27FC236}">
                <ns2:creationId id="{72C8BC8F-590B-4ED0-8E79-E498F2F7525B}"/>
              </a:ext>
            </a:extLst>
          </p:cNvPr>
          <p:cNvSpPr>
            <a:spLocks noGrp="1"/>
          </p:cNvSpPr>
          <p:nvPr/>
        </p:nvSpPr>
        <p:spPr>
          <a:xfrm>
            <a:off x="1285875" y="1943100"/>
            <a:ext cx="10191750"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Open the cited source.</a:t>
            </a:r>
          </a:p>
        </p:txBody>
      </p:sp>
      <p:sp>
        <p:nvSpPr>
          <p:cNvPr id="6" name="text-89">
            <a:extLst>
              <a:ext uri="{FF2B5EF4-FFF2-40B4-BE49-F238E27FC236}">
                <ns2:creationId id="{19E017E5-05D8-4D37-89EB-B9CCCD6BC1C2}"/>
              </a:ext>
            </a:extLst>
          </p:cNvPr>
          <p:cNvSpPr>
            <a:spLocks noGrp="1"/>
          </p:cNvSpPr>
          <p:nvPr/>
        </p:nvSpPr>
        <p:spPr>
          <a:xfrm>
            <a:off x="619125" y="2895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90">
            <a:extLst>
              <a:ext uri="{FF2B5EF4-FFF2-40B4-BE49-F238E27FC236}">
                <ns2:creationId id="{FDF3C06E-9645-4A47-89E1-7344588080F8}"/>
              </a:ext>
            </a:extLst>
          </p:cNvPr>
          <p:cNvSpPr>
            <a:spLocks noGrp="1"/>
          </p:cNvSpPr>
          <p:nvPr/>
        </p:nvSpPr>
        <p:spPr>
          <a:xfrm>
            <a:off x="1285875" y="2895600"/>
            <a:ext cx="10191750"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Find the supporting passage.</a:t>
            </a:r>
          </a:p>
        </p:txBody>
      </p:sp>
      <p:sp>
        <p:nvSpPr>
          <p:cNvPr id="8" name="text-91">
            <a:extLst>
              <a:ext uri="{FF2B5EF4-FFF2-40B4-BE49-F238E27FC236}">
                <ns2:creationId id="{43ABCE92-85DE-47E6-8C1D-CD2D8055780B}"/>
              </a:ext>
            </a:extLst>
          </p:cNvPr>
          <p:cNvSpPr>
            <a:spLocks noGrp="1"/>
          </p:cNvSpPr>
          <p:nvPr/>
        </p:nvSpPr>
        <p:spPr>
          <a:xfrm>
            <a:off x="619125" y="3848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92">
            <a:extLst>
              <a:ext uri="{FF2B5EF4-FFF2-40B4-BE49-F238E27FC236}">
                <ns2:creationId id="{B3240B6B-C548-4319-8D62-FF08B15ADBAF}"/>
              </a:ext>
            </a:extLst>
          </p:cNvPr>
          <p:cNvSpPr>
            <a:spLocks noGrp="1"/>
          </p:cNvSpPr>
          <p:nvPr/>
        </p:nvSpPr>
        <p:spPr>
          <a:xfrm>
            <a:off x="1285875" y="3848100"/>
            <a:ext cx="10191750"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Check that it says what the report claims.</a:t>
            </a:r>
          </a:p>
        </p:txBody>
      </p:sp>
      <p:sp>
        <p:nvSpPr>
          <p:cNvPr id="10" name="text-93">
            <a:extLst>
              <a:ext uri="{FF2B5EF4-FFF2-40B4-BE49-F238E27FC236}">
                <ns2:creationId id="{24BBEB02-780A-4AE4-A603-316DECE33A6B}"/>
              </a:ext>
            </a:extLst>
          </p:cNvPr>
          <p:cNvSpPr>
            <a:spLocks noGrp="1"/>
          </p:cNvSpPr>
          <p:nvPr/>
        </p:nvSpPr>
        <p:spPr>
          <a:xfrm>
            <a:off x="619125" y="4800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04</a:t>
            </a:r>
          </a:p>
        </p:txBody>
      </p:sp>
      <p:sp>
        <p:nvSpPr>
          <p:cNvPr id="11" name="text-94">
            <a:extLst>
              <a:ext uri="{FF2B5EF4-FFF2-40B4-BE49-F238E27FC236}">
                <ns2:creationId id="{C8389B77-25F3-4418-93B7-CA2B61FC2A6E}"/>
              </a:ext>
            </a:extLst>
          </p:cNvPr>
          <p:cNvSpPr>
            <a:spLocks noGrp="1"/>
          </p:cNvSpPr>
          <p:nvPr/>
        </p:nvSpPr>
        <p:spPr>
          <a:xfrm>
            <a:off x="1285875" y="4800600"/>
            <a:ext cx="10191750"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Record gaps and contradictory authority.</a:t>
            </a:r>
          </a:p>
        </p:txBody>
      </p:sp>
      <p:sp>
        <p:nvSpPr>
          <p:cNvPr id="3" name="text-86">
            <a:extLst>
              <a:ext uri="{FF2B5EF4-FFF2-40B4-BE49-F238E27FC236}">
                <ns2:creationId id="{D2319F49-742D-41A3-803E-0A3C20D58602}"/>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07   12</a:t>
            </a:r>
          </a:p>
        </p:txBody>
      </p:sp>
    </p:spTree>
    <p:extLst>
      <p:ext uri="{BB962C8B-B14F-4D97-AF65-F5344CB8AC3E}">
        <ns3:creationId val="2051236954"/>
      </p:ext>
    </p:extLst>
  </p:cSld>
  <p:transition spd="med" advClick="1">
    <p:fade/>
  </p:transition>
</p:sld>
</file>

<file path=ppt/slides/slide13.xml><?xml version="1.0" encoding="utf-8"?>
<p:sld xmlns:a="http://schemas.openxmlformats.org/drawingml/2006/main" xmlns:ns2="http://schemas.microsoft.com/office/drawing/2014/main" xmlns:ns3="http://schemas.microsoft.com/office/powerpoint/2010/main" xmlns:p="http://schemas.openxmlformats.org/presentationml/2006/main">
  <p:cSld name="A deliberately flawed research note">
    <p:bg>
      <p:bgPr>
        <a:solidFill>
          <a:srgbClr val="FFFFFF"/>
        </a:solidFill>
      </p:bgPr>
    </p:bg>
    <p:spTree>
      <p:nvGrpSpPr>
        <p:cNvPr id="1" name=""/>
        <p:cNvGrpSpPr/>
        <p:nvPr/>
      </p:nvGrpSpPr>
      <p:grpSpPr>
        <a:xfrm/>
      </p:grpSpPr>
      <p:sp>
        <p:nvSpPr>
          <p:cNvPr id="8" name="text-95">
            <a:extLst>
              <a:ext uri="{FF2B5EF4-FFF2-40B4-BE49-F238E27FC236}">
                <ns2:creationId id="{1FCE117F-E216-41E9-9AA5-CD490F2959E8}"/>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07</a:t>
            </a:r>
          </a:p>
        </p:txBody>
      </p:sp>
      <p:sp>
        <p:nvSpPr>
          <p:cNvPr id="2" name="text-96">
            <a:extLst>
              <a:ext uri="{FF2B5EF4-FFF2-40B4-BE49-F238E27FC236}">
                <ns2:creationId id="{9FC3C1D1-272E-4072-9DB7-FA2DBFAB5E5B}"/>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A deliberately flawed research note</a:t>
            </a:r>
          </a:p>
        </p:txBody>
      </p:sp>
      <p:sp>
        <p:nvSpPr>
          <p:cNvPr id="4" name="text-98">
            <a:extLst>
              <a:ext uri="{FF2B5EF4-FFF2-40B4-BE49-F238E27FC236}">
                <ns2:creationId id="{8D2CA143-845D-43B9-B409-8689F42C6C3B}"/>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99">
            <a:extLst>
              <a:ext uri="{FF2B5EF4-FFF2-40B4-BE49-F238E27FC236}">
                <ns2:creationId id="{673BAD6E-05CB-4F48-A93B-CF8F474EEFE1}"/>
              </a:ext>
            </a:extLst>
          </p:cNvPr>
          <p:cNvSpPr>
            <a:spLocks noGrp="1"/>
          </p:cNvSpPr>
          <p:nvPr/>
        </p:nvSpPr>
        <p:spPr>
          <a:xfrm>
            <a:off x="1285875" y="1943100"/>
            <a:ext cx="10191750" cy="1790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The note claims our client is exempt from every filing because it is reorganising internally.</a:t>
            </a:r>
          </a:p>
        </p:txBody>
      </p:sp>
      <p:sp>
        <p:nvSpPr>
          <p:cNvPr id="6" name="text-100">
            <a:extLst>
              <a:ext uri="{FF2B5EF4-FFF2-40B4-BE49-F238E27FC236}">
                <ns2:creationId id="{53BFE6AB-7D7B-4B9D-8EB6-3D5EBAB1B2D9}"/>
              </a:ext>
            </a:extLst>
          </p:cNvPr>
          <p:cNvSpPr>
            <a:spLocks noGrp="1"/>
          </p:cNvSpPr>
          <p:nvPr/>
        </p:nvSpPr>
        <p:spPr>
          <a:xfrm>
            <a:off x="619125" y="3848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101">
            <a:extLst>
              <a:ext uri="{FF2B5EF4-FFF2-40B4-BE49-F238E27FC236}">
                <ns2:creationId id="{99D5C334-3F7F-4355-BA19-AA4E832BCC55}"/>
              </a:ext>
            </a:extLst>
          </p:cNvPr>
          <p:cNvSpPr>
            <a:spLocks noGrp="1"/>
          </p:cNvSpPr>
          <p:nvPr/>
        </p:nvSpPr>
        <p:spPr>
          <a:xfrm>
            <a:off x="1285875" y="3848100"/>
            <a:ext cx="10191750" cy="1790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No supplied source establishes that proposition.</a:t>
            </a:r>
          </a:p>
        </p:txBody>
      </p:sp>
      <p:sp>
        <p:nvSpPr>
          <p:cNvPr id="3" name="text-97">
            <a:extLst>
              <a:ext uri="{FF2B5EF4-FFF2-40B4-BE49-F238E27FC236}">
                <ns2:creationId id="{9DF1D8A1-E581-4506-AE93-16BEE86BBAA0}"/>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07   13</a:t>
            </a:r>
          </a:p>
        </p:txBody>
      </p:sp>
    </p:spTree>
    <p:extLst>
      <p:ext uri="{BB962C8B-B14F-4D97-AF65-F5344CB8AC3E}">
        <ns3:creationId val="483000556"/>
      </p:ext>
    </p:extLst>
  </p:cSld>
  <p:transition spd="med" advClick="1">
    <p:fade/>
  </p:transition>
</p:sld>
</file>

<file path=ppt/slides/slide14.xml><?xml version="1.0" encoding="utf-8"?>
<p:sld xmlns:a="http://schemas.openxmlformats.org/drawingml/2006/main" xmlns:ns2="http://schemas.microsoft.com/office/drawing/2014/main" xmlns:ns3="http://schemas.microsoft.com/office/powerpoint/2010/main" xmlns:p="http://schemas.openxmlformats.org/presentationml/2006/main">
  <p:cSld name="Confidential facts in a search query">
    <p:bg>
      <p:bgPr>
        <a:solidFill>
          <a:srgbClr val="FFFFFF"/>
        </a:solidFill>
      </p:bgPr>
    </p:bg>
    <p:spTree>
      <p:nvGrpSpPr>
        <p:cNvPr id="1" name=""/>
        <p:cNvGrpSpPr/>
        <p:nvPr/>
      </p:nvGrpSpPr>
      <p:grpSpPr>
        <a:xfrm/>
      </p:grpSpPr>
      <p:sp>
        <p:nvSpPr>
          <p:cNvPr id="10" name="text-102">
            <a:extLst>
              <a:ext uri="{FF2B5EF4-FFF2-40B4-BE49-F238E27FC236}">
                <ns2:creationId id="{B5E0CC4B-9112-4603-8C3B-436B99ED99F6}"/>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07</a:t>
            </a:r>
          </a:p>
        </p:txBody>
      </p:sp>
      <p:sp>
        <p:nvSpPr>
          <p:cNvPr id="2" name="text-103">
            <a:extLst>
              <a:ext uri="{FF2B5EF4-FFF2-40B4-BE49-F238E27FC236}">
                <ns2:creationId id="{5DE74EED-5572-4B94-8C60-558FE8F0E229}"/>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Confidential facts in a search query</a:t>
            </a:r>
          </a:p>
        </p:txBody>
      </p:sp>
      <p:sp>
        <p:nvSpPr>
          <p:cNvPr id="4" name="text-105">
            <a:extLst>
              <a:ext uri="{FF2B5EF4-FFF2-40B4-BE49-F238E27FC236}">
                <ns2:creationId id="{D46BD4EE-6B3A-44D9-8D1F-228C9287ED84}"/>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106">
            <a:extLst>
              <a:ext uri="{FF2B5EF4-FFF2-40B4-BE49-F238E27FC236}">
                <ns2:creationId id="{EDC3A498-3C2A-4DC7-A429-6C7B883D1743}"/>
              </a:ext>
            </a:extLst>
          </p:cNvPr>
          <p:cNvSpPr>
            <a:spLocks noGrp="1"/>
          </p:cNvSpPr>
          <p:nvPr/>
        </p:nvSpPr>
        <p:spPr>
          <a:xfrm>
            <a:off x="1285875" y="1943100"/>
            <a:ext cx="10191750"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A public search can disclose client information.</a:t>
            </a:r>
          </a:p>
        </p:txBody>
      </p:sp>
      <p:sp>
        <p:nvSpPr>
          <p:cNvPr id="6" name="text-107">
            <a:extLst>
              <a:ext uri="{FF2B5EF4-FFF2-40B4-BE49-F238E27FC236}">
                <ns2:creationId id="{B9416491-AA33-4B7B-9233-620D03AE52A4}"/>
              </a:ext>
            </a:extLst>
          </p:cNvPr>
          <p:cNvSpPr>
            <a:spLocks noGrp="1"/>
          </p:cNvSpPr>
          <p:nvPr/>
        </p:nvSpPr>
        <p:spPr>
          <a:xfrm>
            <a:off x="619125" y="321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108">
            <a:extLst>
              <a:ext uri="{FF2B5EF4-FFF2-40B4-BE49-F238E27FC236}">
                <ns2:creationId id="{593AC669-33F6-4416-83FA-7DA311FDF180}"/>
              </a:ext>
            </a:extLst>
          </p:cNvPr>
          <p:cNvSpPr>
            <a:spLocks noGrp="1"/>
          </p:cNvSpPr>
          <p:nvPr/>
        </p:nvSpPr>
        <p:spPr>
          <a:xfrm>
            <a:off x="1285875" y="3213100"/>
            <a:ext cx="10191750"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Use an approved tool and the minimum necessary facts.</a:t>
            </a:r>
          </a:p>
        </p:txBody>
      </p:sp>
      <p:sp>
        <p:nvSpPr>
          <p:cNvPr id="8" name="text-109">
            <a:extLst>
              <a:ext uri="{FF2B5EF4-FFF2-40B4-BE49-F238E27FC236}">
                <ns2:creationId id="{F5E930D7-B1FC-4C11-9171-09CBB668AAEA}"/>
              </a:ext>
            </a:extLst>
          </p:cNvPr>
          <p:cNvSpPr>
            <a:spLocks noGrp="1"/>
          </p:cNvSpPr>
          <p:nvPr/>
        </p:nvSpPr>
        <p:spPr>
          <a:xfrm>
            <a:off x="619125" y="448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110">
            <a:extLst>
              <a:ext uri="{FF2B5EF4-FFF2-40B4-BE49-F238E27FC236}">
                <ns2:creationId id="{48AECB5E-B838-49D9-AC05-C63D713197D9}"/>
              </a:ext>
            </a:extLst>
          </p:cNvPr>
          <p:cNvSpPr>
            <a:spLocks noGrp="1"/>
          </p:cNvSpPr>
          <p:nvPr/>
        </p:nvSpPr>
        <p:spPr>
          <a:xfrm>
            <a:off x="1285875" y="4483100"/>
            <a:ext cx="10191750"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Separate public-law research from confidential matter analysis.</a:t>
            </a:r>
          </a:p>
        </p:txBody>
      </p:sp>
      <p:sp>
        <p:nvSpPr>
          <p:cNvPr id="3" name="text-104">
            <a:extLst>
              <a:ext uri="{FF2B5EF4-FFF2-40B4-BE49-F238E27FC236}">
                <ns2:creationId id="{2DEF3689-5737-453C-9364-88475ECCA5EC}"/>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07   14</a:t>
            </a:r>
          </a:p>
        </p:txBody>
      </p:sp>
    </p:spTree>
    <p:extLst>
      <p:ext uri="{BB962C8B-B14F-4D97-AF65-F5344CB8AC3E}">
        <ns3:creationId val="1823486739"/>
      </p:ext>
    </p:extLst>
  </p:cSld>
  <p:transition spd="med" advClick="1">
    <p:fade/>
  </p:transition>
</p:sld>
</file>

<file path=ppt/slides/slide15.xml><?xml version="1.0" encoding="utf-8"?>
<p:sld xmlns:a="http://schemas.openxmlformats.org/drawingml/2006/main" xmlns:ns2="http://schemas.microsoft.com/office/drawing/2014/main" xmlns:ns3="http://schemas.microsoft.com/office/powerpoint/2010/main" xmlns:p="http://schemas.openxmlformats.org/presentationml/2006/main">
  <p:cSld name="A concise memo structure">
    <p:bg>
      <p:bgPr>
        <a:solidFill>
          <a:srgbClr val="FFFFFF"/>
        </a:solidFill>
      </p:bgPr>
    </p:bg>
    <p:spTree>
      <p:nvGrpSpPr>
        <p:cNvPr id="1" name=""/>
        <p:cNvGrpSpPr/>
        <p:nvPr/>
      </p:nvGrpSpPr>
      <p:grpSpPr>
        <a:xfrm/>
      </p:grpSpPr>
      <p:sp>
        <p:nvSpPr>
          <p:cNvPr id="12" name="text-111">
            <a:extLst>
              <a:ext uri="{FF2B5EF4-FFF2-40B4-BE49-F238E27FC236}">
                <ns2:creationId id="{C4F69755-B06B-4512-8790-081A50AD2B36}"/>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07</a:t>
            </a:r>
          </a:p>
        </p:txBody>
      </p:sp>
      <p:sp>
        <p:nvSpPr>
          <p:cNvPr id="2" name="text-112">
            <a:extLst>
              <a:ext uri="{FF2B5EF4-FFF2-40B4-BE49-F238E27FC236}">
                <ns2:creationId id="{3E3DE184-4074-48E5-BF86-F3614FB773F7}"/>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A concise memo structure</a:t>
            </a:r>
          </a:p>
        </p:txBody>
      </p:sp>
      <p:sp>
        <p:nvSpPr>
          <p:cNvPr id="4" name="text-114">
            <a:extLst>
              <a:ext uri="{FF2B5EF4-FFF2-40B4-BE49-F238E27FC236}">
                <ns2:creationId id="{C0B90DD8-09C6-45C4-A135-80779E9A3E8E}"/>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115">
            <a:extLst>
              <a:ext uri="{FF2B5EF4-FFF2-40B4-BE49-F238E27FC236}">
                <ns2:creationId id="{98C5AB8C-0817-404D-97F7-37A095C4CEA4}"/>
              </a:ext>
            </a:extLst>
          </p:cNvPr>
          <p:cNvSpPr>
            <a:spLocks noGrp="1"/>
          </p:cNvSpPr>
          <p:nvPr/>
        </p:nvSpPr>
        <p:spPr>
          <a:xfrm>
            <a:off x="1285875" y="1943100"/>
            <a:ext cx="10191750"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Question and material facts</a:t>
            </a:r>
          </a:p>
        </p:txBody>
      </p:sp>
      <p:sp>
        <p:nvSpPr>
          <p:cNvPr id="6" name="text-116">
            <a:extLst>
              <a:ext uri="{FF2B5EF4-FFF2-40B4-BE49-F238E27FC236}">
                <ns2:creationId id="{6A86B1A9-BC0E-43C6-8177-18520B53CBF1}"/>
              </a:ext>
            </a:extLst>
          </p:cNvPr>
          <p:cNvSpPr>
            <a:spLocks noGrp="1"/>
          </p:cNvSpPr>
          <p:nvPr/>
        </p:nvSpPr>
        <p:spPr>
          <a:xfrm>
            <a:off x="619125" y="2895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117">
            <a:extLst>
              <a:ext uri="{FF2B5EF4-FFF2-40B4-BE49-F238E27FC236}">
                <ns2:creationId id="{B036396D-3AA6-462A-8C23-CD5D2B00ECCD}"/>
              </a:ext>
            </a:extLst>
          </p:cNvPr>
          <p:cNvSpPr>
            <a:spLocks noGrp="1"/>
          </p:cNvSpPr>
          <p:nvPr/>
        </p:nvSpPr>
        <p:spPr>
          <a:xfrm>
            <a:off x="1285875" y="2895600"/>
            <a:ext cx="10191750"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Applicable sources and analysis</a:t>
            </a:r>
          </a:p>
        </p:txBody>
      </p:sp>
      <p:sp>
        <p:nvSpPr>
          <p:cNvPr id="8" name="text-118">
            <a:extLst>
              <a:ext uri="{FF2B5EF4-FFF2-40B4-BE49-F238E27FC236}">
                <ns2:creationId id="{07F51538-F896-4AFA-9FF3-2C3FE1502E12}"/>
              </a:ext>
            </a:extLst>
          </p:cNvPr>
          <p:cNvSpPr>
            <a:spLocks noGrp="1"/>
          </p:cNvSpPr>
          <p:nvPr/>
        </p:nvSpPr>
        <p:spPr>
          <a:xfrm>
            <a:off x="619125" y="3848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119">
            <a:extLst>
              <a:ext uri="{FF2B5EF4-FFF2-40B4-BE49-F238E27FC236}">
                <ns2:creationId id="{0125A7C6-F979-4A19-A14B-A61C32DFAEE9}"/>
              </a:ext>
            </a:extLst>
          </p:cNvPr>
          <p:cNvSpPr>
            <a:spLocks noGrp="1"/>
          </p:cNvSpPr>
          <p:nvPr/>
        </p:nvSpPr>
        <p:spPr>
          <a:xfrm>
            <a:off x="1285875" y="3848100"/>
            <a:ext cx="10191750"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Uncertainty and contrary points</a:t>
            </a:r>
          </a:p>
        </p:txBody>
      </p:sp>
      <p:sp>
        <p:nvSpPr>
          <p:cNvPr id="10" name="text-120">
            <a:extLst>
              <a:ext uri="{FF2B5EF4-FFF2-40B4-BE49-F238E27FC236}">
                <ns2:creationId id="{7A044EF6-01E3-4CC4-A2AC-63B57AA5324A}"/>
              </a:ext>
            </a:extLst>
          </p:cNvPr>
          <p:cNvSpPr>
            <a:spLocks noGrp="1"/>
          </p:cNvSpPr>
          <p:nvPr/>
        </p:nvSpPr>
        <p:spPr>
          <a:xfrm>
            <a:off x="619125" y="4800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04</a:t>
            </a:r>
          </a:p>
        </p:txBody>
      </p:sp>
      <p:sp>
        <p:nvSpPr>
          <p:cNvPr id="11" name="text-121">
            <a:extLst>
              <a:ext uri="{FF2B5EF4-FFF2-40B4-BE49-F238E27FC236}">
                <ns2:creationId id="{AA599CC7-0073-43A6-BF58-6B0D97C038DA}"/>
              </a:ext>
            </a:extLst>
          </p:cNvPr>
          <p:cNvSpPr>
            <a:spLocks noGrp="1"/>
          </p:cNvSpPr>
          <p:nvPr/>
        </p:nvSpPr>
        <p:spPr>
          <a:xfrm>
            <a:off x="1285875" y="4800600"/>
            <a:ext cx="10191750"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Advice or next questions for review</a:t>
            </a:r>
          </a:p>
        </p:txBody>
      </p:sp>
      <p:sp>
        <p:nvSpPr>
          <p:cNvPr id="3" name="text-113">
            <a:extLst>
              <a:ext uri="{FF2B5EF4-FFF2-40B4-BE49-F238E27FC236}">
                <ns2:creationId id="{30BAEEF2-3734-46A4-937A-9622CD1D1B46}"/>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07   15</a:t>
            </a:r>
          </a:p>
        </p:txBody>
      </p:sp>
    </p:spTree>
    <p:extLst>
      <p:ext uri="{BB962C8B-B14F-4D97-AF65-F5344CB8AC3E}">
        <ns3:creationId val="1090266208"/>
      </p:ext>
    </p:extLst>
  </p:cSld>
  <p:transition spd="med" advClick="1">
    <p:fade/>
  </p:transition>
</p:sld>
</file>

<file path=ppt/slides/slide16.xml><?xml version="1.0" encoding="utf-8"?>
<p:sld xmlns:a="http://schemas.openxmlformats.org/drawingml/2006/main" xmlns:ns2="http://schemas.microsoft.com/office/drawing/2014/main" xmlns:ns3="http://schemas.microsoft.com/office/powerpoint/2010/main" xmlns:p="http://schemas.openxmlformats.org/presentationml/2006/main">
  <p:cSld name="A research-quality test">
    <p:bg>
      <p:bgPr>
        <a:solidFill>
          <a:srgbClr val="FFFFFF"/>
        </a:solidFill>
      </p:bgPr>
    </p:bg>
    <p:spTree>
      <p:nvGrpSpPr>
        <p:cNvPr id="1" name=""/>
        <p:cNvGrpSpPr/>
        <p:nvPr/>
      </p:nvGrpSpPr>
      <p:grpSpPr>
        <a:xfrm/>
      </p:grpSpPr>
      <p:sp>
        <p:nvSpPr>
          <p:cNvPr id="10" name="text-122">
            <a:extLst>
              <a:ext uri="{FF2B5EF4-FFF2-40B4-BE49-F238E27FC236}">
                <ns2:creationId id="{10C14E29-F25B-4740-87D6-570609DC2D34}"/>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07</a:t>
            </a:r>
          </a:p>
        </p:txBody>
      </p:sp>
      <p:sp>
        <p:nvSpPr>
          <p:cNvPr id="2" name="text-123">
            <a:extLst>
              <a:ext uri="{FF2B5EF4-FFF2-40B4-BE49-F238E27FC236}">
                <ns2:creationId id="{9767EC7D-EC0D-49D5-9C42-9006397FBA86}"/>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A research-quality test</a:t>
            </a:r>
          </a:p>
        </p:txBody>
      </p:sp>
      <p:sp>
        <p:nvSpPr>
          <p:cNvPr id="4" name="text-125">
            <a:extLst>
              <a:ext uri="{FF2B5EF4-FFF2-40B4-BE49-F238E27FC236}">
                <ns2:creationId id="{FCB03F3F-594E-4264-BB7A-D10B291907EB}"/>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126">
            <a:extLst>
              <a:ext uri="{FF2B5EF4-FFF2-40B4-BE49-F238E27FC236}">
                <ns2:creationId id="{815D77DF-B50D-4B5D-BD5C-3FEA9BBFBC65}"/>
              </a:ext>
            </a:extLst>
          </p:cNvPr>
          <p:cNvSpPr>
            <a:spLocks noGrp="1"/>
          </p:cNvSpPr>
          <p:nvPr/>
        </p:nvSpPr>
        <p:spPr>
          <a:xfrm>
            <a:off x="1285875" y="1943100"/>
            <a:ext cx="10191750"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Can a second lawyer reproduce the source trail?</a:t>
            </a:r>
          </a:p>
        </p:txBody>
      </p:sp>
      <p:sp>
        <p:nvSpPr>
          <p:cNvPr id="6" name="text-127">
            <a:extLst>
              <a:ext uri="{FF2B5EF4-FFF2-40B4-BE49-F238E27FC236}">
                <ns2:creationId id="{621CB0FB-487A-4584-A8EA-F3EFA211D51A}"/>
              </a:ext>
            </a:extLst>
          </p:cNvPr>
          <p:cNvSpPr>
            <a:spLocks noGrp="1"/>
          </p:cNvSpPr>
          <p:nvPr/>
        </p:nvSpPr>
        <p:spPr>
          <a:xfrm>
            <a:off x="619125" y="321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128">
            <a:extLst>
              <a:ext uri="{FF2B5EF4-FFF2-40B4-BE49-F238E27FC236}">
                <ns2:creationId id="{4591DF02-523D-476E-87B8-0B04E0536AA7}"/>
              </a:ext>
            </a:extLst>
          </p:cNvPr>
          <p:cNvSpPr>
            <a:spLocks noGrp="1"/>
          </p:cNvSpPr>
          <p:nvPr/>
        </p:nvSpPr>
        <p:spPr>
          <a:xfrm>
            <a:off x="1285875" y="3213100"/>
            <a:ext cx="10191750"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Does the memo distinguish facts, authority and inference?</a:t>
            </a:r>
          </a:p>
        </p:txBody>
      </p:sp>
      <p:sp>
        <p:nvSpPr>
          <p:cNvPr id="8" name="text-129">
            <a:extLst>
              <a:ext uri="{FF2B5EF4-FFF2-40B4-BE49-F238E27FC236}">
                <ns2:creationId id="{22C8578B-6B74-4F0B-88F8-D5EC45EA066B}"/>
              </a:ext>
            </a:extLst>
          </p:cNvPr>
          <p:cNvSpPr>
            <a:spLocks noGrp="1"/>
          </p:cNvSpPr>
          <p:nvPr/>
        </p:nvSpPr>
        <p:spPr>
          <a:xfrm>
            <a:off x="619125" y="448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130">
            <a:extLst>
              <a:ext uri="{FF2B5EF4-FFF2-40B4-BE49-F238E27FC236}">
                <ns2:creationId id="{544F1331-868E-497C-B9E2-D90D2BECF829}"/>
              </a:ext>
            </a:extLst>
          </p:cNvPr>
          <p:cNvSpPr>
            <a:spLocks noGrp="1"/>
          </p:cNvSpPr>
          <p:nvPr/>
        </p:nvSpPr>
        <p:spPr>
          <a:xfrm>
            <a:off x="1285875" y="4483100"/>
            <a:ext cx="10191750"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Would the conclusion change if a key source were withdrawn?</a:t>
            </a:r>
          </a:p>
        </p:txBody>
      </p:sp>
      <p:sp>
        <p:nvSpPr>
          <p:cNvPr id="3" name="text-124">
            <a:extLst>
              <a:ext uri="{FF2B5EF4-FFF2-40B4-BE49-F238E27FC236}">
                <ns2:creationId id="{90484F49-43F6-460F-8147-8B1FCDFDF27D}"/>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07   16</a:t>
            </a:r>
          </a:p>
        </p:txBody>
      </p:sp>
    </p:spTree>
    <p:extLst>
      <p:ext uri="{BB962C8B-B14F-4D97-AF65-F5344CB8AC3E}">
        <ns3:creationId val="1847973873"/>
      </p:ext>
    </p:extLst>
  </p:cSld>
  <p:transition spd="med" advClick="1">
    <p:fade/>
  </p:transition>
</p:sld>
</file>

<file path=ppt/slides/slide17.xml><?xml version="1.0" encoding="utf-8"?>
<p:sld xmlns:a="http://schemas.openxmlformats.org/drawingml/2006/main" xmlns:ns2="http://schemas.microsoft.com/office/drawing/2014/main" xmlns:ns3="http://schemas.microsoft.com/office/powerpoint/2010/main" xmlns:p="http://schemas.openxmlformats.org/presentationml/2006/main">
  <p:cSld name="Our in-class work">
    <p:bg>
      <p:bgPr>
        <a:solidFill>
          <a:srgbClr val="FFFFFF"/>
        </a:solidFill>
      </p:bgPr>
    </p:bg>
    <p:spTree>
      <p:nvGrpSpPr>
        <p:cNvPr id="1" name=""/>
        <p:cNvGrpSpPr/>
        <p:nvPr/>
      </p:nvGrpSpPr>
      <p:grpSpPr>
        <a:xfrm/>
      </p:grpSpPr>
      <p:sp>
        <p:nvSpPr>
          <p:cNvPr id="13" name="text-131">
            <a:extLst>
              <a:ext uri="{FF2B5EF4-FFF2-40B4-BE49-F238E27FC236}">
                <ns2:creationId id="{0719DAD9-E3AE-4F7F-A26D-B620AFBB5628}"/>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07</a:t>
            </a:r>
          </a:p>
        </p:txBody>
      </p:sp>
      <p:sp>
        <p:nvSpPr>
          <p:cNvPr id="2" name="text-132">
            <a:extLst>
              <a:ext uri="{FF2B5EF4-FFF2-40B4-BE49-F238E27FC236}">
                <ns2:creationId id="{306FDBFA-8B58-4B93-98A8-B44B62F6D015}"/>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Our in-class work</a:t>
            </a:r>
          </a:p>
        </p:txBody>
      </p:sp>
      <p:sp>
        <p:nvSpPr>
          <p:cNvPr id="4" name="text-134">
            <a:extLst>
              <a:ext uri="{FF2B5EF4-FFF2-40B4-BE49-F238E27FC236}">
                <ns2:creationId id="{DEB92D61-432F-41DB-A25E-30C8FFB60867}"/>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135">
            <a:extLst>
              <a:ext uri="{FF2B5EF4-FFF2-40B4-BE49-F238E27FC236}">
                <ns2:creationId id="{B1A0F18D-BC18-46D3-80E1-87D200F03F05}"/>
              </a:ext>
            </a:extLst>
          </p:cNvPr>
          <p:cNvSpPr>
            <a:spLocks noGrp="1"/>
          </p:cNvSpPr>
          <p:nvPr/>
        </p:nvSpPr>
        <p:spPr>
          <a:xfrm>
            <a:off x="1285875" y="1943100"/>
            <a:ext cx="10191750"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Read the historical court’s reasoning and orders.</a:t>
            </a:r>
          </a:p>
        </p:txBody>
      </p:sp>
      <p:sp>
        <p:nvSpPr>
          <p:cNvPr id="6" name="text-136">
            <a:extLst>
              <a:ext uri="{FF2B5EF4-FFF2-40B4-BE49-F238E27FC236}">
                <ns2:creationId id="{4BB86BA5-7708-4658-90EE-A807B5BD8961}"/>
              </a:ext>
            </a:extLst>
          </p:cNvPr>
          <p:cNvSpPr>
            <a:spLocks noGrp="1"/>
          </p:cNvSpPr>
          <p:nvPr/>
        </p:nvSpPr>
        <p:spPr>
          <a:xfrm>
            <a:off x="619125" y="2895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137">
            <a:extLst>
              <a:ext uri="{FF2B5EF4-FFF2-40B4-BE49-F238E27FC236}">
                <ns2:creationId id="{A8188CDB-85BB-43D5-8CCD-2C88DC07D4A0}"/>
              </a:ext>
            </a:extLst>
          </p:cNvPr>
          <p:cNvSpPr>
            <a:spLocks noGrp="1"/>
          </p:cNvSpPr>
          <p:nvPr/>
        </p:nvSpPr>
        <p:spPr>
          <a:xfrm>
            <a:off x="1285875" y="2895600"/>
            <a:ext cx="10191750"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Check the provision and edition references.</a:t>
            </a:r>
          </a:p>
        </p:txBody>
      </p:sp>
      <p:sp>
        <p:nvSpPr>
          <p:cNvPr id="8" name="text-138">
            <a:extLst>
              <a:ext uri="{FF2B5EF4-FFF2-40B4-BE49-F238E27FC236}">
                <ns2:creationId id="{77C052D8-0078-46A0-8167-E20397575F9D}"/>
              </a:ext>
            </a:extLst>
          </p:cNvPr>
          <p:cNvSpPr>
            <a:spLocks noGrp="1"/>
          </p:cNvSpPr>
          <p:nvPr/>
        </p:nvSpPr>
        <p:spPr>
          <a:xfrm>
            <a:off x="619125" y="3848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139">
            <a:extLst>
              <a:ext uri="{FF2B5EF4-FFF2-40B4-BE49-F238E27FC236}">
                <ns2:creationId id="{54554940-ED56-4C94-8F00-12A959F92F61}"/>
              </a:ext>
            </a:extLst>
          </p:cNvPr>
          <p:cNvSpPr>
            <a:spLocks noGrp="1"/>
          </p:cNvSpPr>
          <p:nvPr/>
        </p:nvSpPr>
        <p:spPr>
          <a:xfrm>
            <a:off x="1285875" y="3848100"/>
            <a:ext cx="10191750"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Run research where account access permits.</a:t>
            </a:r>
          </a:p>
        </p:txBody>
      </p:sp>
      <p:sp>
        <p:nvSpPr>
          <p:cNvPr id="10" name="text-140">
            <a:extLst>
              <a:ext uri="{FF2B5EF4-FFF2-40B4-BE49-F238E27FC236}">
                <ns2:creationId id="{B8F84CDE-CDF0-4D0F-818B-7D32D7AA685E}"/>
              </a:ext>
            </a:extLst>
          </p:cNvPr>
          <p:cNvSpPr>
            <a:spLocks noGrp="1"/>
          </p:cNvSpPr>
          <p:nvPr/>
        </p:nvSpPr>
        <p:spPr>
          <a:xfrm>
            <a:off x="619125" y="4800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04</a:t>
            </a:r>
          </a:p>
        </p:txBody>
      </p:sp>
      <p:sp>
        <p:nvSpPr>
          <p:cNvPr id="11" name="text-141">
            <a:extLst>
              <a:ext uri="{FF2B5EF4-FFF2-40B4-BE49-F238E27FC236}">
                <ns2:creationId id="{340A4944-5E25-43F6-B636-79CA72B880BE}"/>
              </a:ext>
            </a:extLst>
          </p:cNvPr>
          <p:cNvSpPr>
            <a:spLocks noGrp="1"/>
          </p:cNvSpPr>
          <p:nvPr/>
        </p:nvSpPr>
        <p:spPr>
          <a:xfrm>
            <a:off x="1285875" y="4800600"/>
            <a:ext cx="10191750"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Audit the memo’s claims, sources and remaining gaps.</a:t>
            </a:r>
          </a:p>
        </p:txBody>
      </p:sp>
      <p:sp>
        <p:nvSpPr>
          <p:cNvPr id="12" name="text-142">
            <a:extLst>
              <a:ext uri="{FF2B5EF4-FFF2-40B4-BE49-F238E27FC236}">
                <ns2:creationId id="{D8C2904E-2B20-4945-AF62-791867FFFFE0}"/>
              </a:ext>
            </a:extLst>
          </p:cNvPr>
          <p:cNvSpPr>
            <a:spLocks noGrp="1"/>
          </p:cNvSpPr>
          <p:nvPr/>
        </p:nvSpPr>
        <p:spPr>
          <a:xfrm>
            <a:off x="619125" y="5848350"/>
            <a:ext cx="10953750" cy="590550"/>
          </a:xfrm>
          <a:prstGeom prst="rect">
            <a:avLst/>
          </a:prstGeom>
          <a:noFill/>
          <a:ln w="0">
            <a:noFill/>
          </a:ln>
        </p:spPr>
        <p:txBody>
          <a:bodyPr>
            <a:noAutofit/>
          </a:bodyPr>
          <a:lstStyle>
            <a:defPPr>
              <a:defRPr sz="1725" b="0">
                <a:solidFill>
                  <a:srgbClr val="536474"/>
                </a:solidFill>
                <a:latin typeface="Calibri"/>
                <a:ea typeface="Calibri"/>
                <a:cs typeface="Calibri"/>
              </a:defRPr>
            </a:defPPr>
            <a:lvl1pPr>
              <a:defRPr sz="1725" b="0">
                <a:solidFill>
                  <a:srgbClr val="536474"/>
                </a:solidFill>
                <a:latin typeface="Calibri"/>
                <a:ea typeface="Calibri"/>
                <a:cs typeface="Calibri"/>
              </a:defRPr>
            </a:lvl1pPr>
            <a:lvl2pPr>
              <a:defRPr sz="1725" b="0">
                <a:solidFill>
                  <a:srgbClr val="536474"/>
                </a:solidFill>
                <a:latin typeface="Calibri"/>
                <a:ea typeface="Calibri"/>
                <a:cs typeface="Calibri"/>
              </a:defRPr>
            </a:lvl2pPr>
            <a:lvl3pPr>
              <a:defRPr sz="1725" b="0">
                <a:solidFill>
                  <a:srgbClr val="536474"/>
                </a:solidFill>
                <a:latin typeface="Calibri"/>
                <a:ea typeface="Calibri"/>
                <a:cs typeface="Calibri"/>
              </a:defRPr>
            </a:lvl3pPr>
            <a:lvl4pPr>
              <a:defRPr sz="1725" b="0">
                <a:solidFill>
                  <a:srgbClr val="536474"/>
                </a:solidFill>
                <a:latin typeface="Calibri"/>
                <a:ea typeface="Calibri"/>
                <a:cs typeface="Calibri"/>
              </a:defRPr>
            </a:lvl4pPr>
            <a:lvl5pPr>
              <a:defRPr sz="1725" b="0">
                <a:solidFill>
                  <a:srgbClr val="536474"/>
                </a:solidFill>
                <a:latin typeface="Calibri"/>
                <a:ea typeface="Calibri"/>
                <a:cs typeface="Calibri"/>
              </a:defRPr>
            </a:lvl5pPr>
            <a:lvl6pPr>
              <a:defRPr sz="1725" b="0">
                <a:solidFill>
                  <a:srgbClr val="536474"/>
                </a:solidFill>
                <a:latin typeface="Calibri"/>
                <a:ea typeface="Calibri"/>
                <a:cs typeface="Calibri"/>
              </a:defRPr>
            </a:lvl6pPr>
            <a:lvl7pPr>
              <a:defRPr sz="1725" b="0">
                <a:solidFill>
                  <a:srgbClr val="536474"/>
                </a:solidFill>
                <a:latin typeface="Calibri"/>
                <a:ea typeface="Calibri"/>
                <a:cs typeface="Calibri"/>
              </a:defRPr>
            </a:lvl7pPr>
            <a:lvl8pPr>
              <a:defRPr sz="1725" b="0">
                <a:solidFill>
                  <a:srgbClr val="536474"/>
                </a:solidFill>
                <a:latin typeface="Calibri"/>
                <a:ea typeface="Calibri"/>
                <a:cs typeface="Calibri"/>
              </a:defRPr>
            </a:lvl8pPr>
            <a:lvl9pPr>
              <a:defRPr sz="1725" b="0">
                <a:solidFill>
                  <a:srgbClr val="536474"/>
                </a:solidFill>
                <a:latin typeface="Calibri"/>
                <a:ea typeface="Calibri"/>
                <a:cs typeface="Calibri"/>
              </a:defRPr>
            </a:lvl9pPr>
          </a:lstStyle>
          <a:p>
            <a:pPr>
              <a:defRPr sz="1725" b="0">
                <a:solidFill>
                  <a:srgbClr val="536474"/>
                </a:solidFill>
                <a:latin typeface="Calibri"/>
                <a:ea typeface="Calibri"/>
                <a:cs typeface="Calibri"/>
              </a:defRPr>
            </a:pPr>
            <a:r>
              <a:rPr sz="1725" b="0">
                <a:solidFill>
                  <a:srgbClr val="536474"/>
                </a:solidFill>
                <a:latin typeface="Calibri"/>
                <a:ea typeface="Calibri"/>
                <a:cs typeface="Calibri"/>
              </a:rPr>
              <a:t>We complete this together during class.</a:t>
            </a:r>
          </a:p>
        </p:txBody>
      </p:sp>
      <p:sp>
        <p:nvSpPr>
          <p:cNvPr id="3" name="text-133">
            <a:extLst>
              <a:ext uri="{FF2B5EF4-FFF2-40B4-BE49-F238E27FC236}">
                <ns2:creationId id="{A9CF5A0F-EAB4-459B-8A01-CF22EA7543BD}"/>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07   17</a:t>
            </a:r>
          </a:p>
        </p:txBody>
      </p:sp>
    </p:spTree>
    <p:extLst>
      <p:ext uri="{BB962C8B-B14F-4D97-AF65-F5344CB8AC3E}">
        <ns3:creationId val="436506701"/>
      </p:ext>
    </p:extLst>
  </p:cSld>
  <p:transition spd="med" advClick="1">
    <p:fade/>
  </p:transition>
</p:sld>
</file>

<file path=ppt/slides/slide18.xml><?xml version="1.0" encoding="utf-8"?>
<p:sld xmlns:a="http://schemas.openxmlformats.org/drawingml/2006/main" xmlns:ns2="http://schemas.microsoft.com/office/drawing/2014/main" xmlns:ns3="http://schemas.microsoft.com/office/powerpoint/2010/main" xmlns:p="http://schemas.openxmlformats.org/presentationml/2006/main">
  <p:cSld name="What we can conclude">
    <p:bg>
      <p:bgPr>
        <a:solidFill>
          <a:srgbClr val="FFFFFF"/>
        </a:solidFill>
      </p:bgPr>
    </p:bg>
    <p:spTree>
      <p:nvGrpSpPr>
        <p:cNvPr id="1" name=""/>
        <p:cNvGrpSpPr/>
        <p:nvPr/>
      </p:nvGrpSpPr>
      <p:grpSpPr>
        <a:xfrm/>
      </p:grpSpPr>
      <p:sp>
        <p:nvSpPr>
          <p:cNvPr id="8" name="text-143">
            <a:extLst>
              <a:ext uri="{FF2B5EF4-FFF2-40B4-BE49-F238E27FC236}">
                <ns2:creationId id="{FDCC6361-32A2-4ADB-93A3-6E5ADC9E8D9C}"/>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07</a:t>
            </a:r>
          </a:p>
        </p:txBody>
      </p:sp>
      <p:sp>
        <p:nvSpPr>
          <p:cNvPr id="2" name="text-144">
            <a:extLst>
              <a:ext uri="{FF2B5EF4-FFF2-40B4-BE49-F238E27FC236}">
                <ns2:creationId id="{ABB8BD55-C2EC-492F-84A0-B50988651022}"/>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What we can conclude</a:t>
            </a:r>
          </a:p>
        </p:txBody>
      </p:sp>
      <p:sp>
        <p:nvSpPr>
          <p:cNvPr id="4" name="text-146">
            <a:extLst>
              <a:ext uri="{FF2B5EF4-FFF2-40B4-BE49-F238E27FC236}">
                <ns2:creationId id="{A2295DCF-E248-4F62-8B7A-EAC91B9E6763}"/>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147">
            <a:extLst>
              <a:ext uri="{FF2B5EF4-FFF2-40B4-BE49-F238E27FC236}">
                <ns2:creationId id="{570F1CB4-EC83-4415-991E-A54F41BED70A}"/>
              </a:ext>
            </a:extLst>
          </p:cNvPr>
          <p:cNvSpPr>
            <a:spLocks noGrp="1"/>
          </p:cNvSpPr>
          <p:nvPr/>
        </p:nvSpPr>
        <p:spPr>
          <a:xfrm>
            <a:off x="1285875" y="1943100"/>
            <a:ext cx="10191750" cy="1790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Goal Relief rejects the appellant’s treatment of the programme delivery fee and dismisses the appeal. This historical result does not decide Victoria’s position. The court’s paragraph, statute edition and client facts require separate verification.</a:t>
            </a:r>
          </a:p>
        </p:txBody>
      </p:sp>
      <p:sp>
        <p:nvSpPr>
          <p:cNvPr id="6" name="text-148">
            <a:extLst>
              <a:ext uri="{FF2B5EF4-FFF2-40B4-BE49-F238E27FC236}">
                <ns2:creationId id="{871CD150-44D1-433C-935B-228022BBC56F}"/>
              </a:ext>
            </a:extLst>
          </p:cNvPr>
          <p:cNvSpPr>
            <a:spLocks noGrp="1"/>
          </p:cNvSpPr>
          <p:nvPr/>
        </p:nvSpPr>
        <p:spPr>
          <a:xfrm>
            <a:off x="619125" y="3848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149">
            <a:extLst>
              <a:ext uri="{FF2B5EF4-FFF2-40B4-BE49-F238E27FC236}">
                <ns2:creationId id="{47A9F5DF-5247-402C-B1EB-DC2B0A25D820}"/>
              </a:ext>
            </a:extLst>
          </p:cNvPr>
          <p:cNvSpPr>
            <a:spLocks noGrp="1"/>
          </p:cNvSpPr>
          <p:nvPr/>
        </p:nvSpPr>
        <p:spPr>
          <a:xfrm>
            <a:off x="1285875" y="3848100"/>
            <a:ext cx="10191750" cy="1790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The downloaded court-text reproduction supports the historical reading exercise; current law and later treatment need fresh research.</a:t>
            </a:r>
          </a:p>
        </p:txBody>
      </p:sp>
      <p:sp>
        <p:nvSpPr>
          <p:cNvPr id="3" name="text-145">
            <a:extLst>
              <a:ext uri="{FF2B5EF4-FFF2-40B4-BE49-F238E27FC236}">
                <ns2:creationId id="{466E8C21-2E16-43B3-A179-1C66DAB8DFD2}"/>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07   18</a:t>
            </a:r>
          </a:p>
        </p:txBody>
      </p:sp>
    </p:spTree>
    <p:extLst>
      <p:ext uri="{BB962C8B-B14F-4D97-AF65-F5344CB8AC3E}">
        <ns3:creationId val="1106289771"/>
      </p:ext>
    </p:extLst>
  </p:cSld>
  <p:transition spd="med" advClick="1">
    <p:fade/>
  </p:transition>
</p:sld>
</file>

<file path=ppt/slides/slide19.xml><?xml version="1.0" encoding="utf-8"?>
<p:sld xmlns:a="http://schemas.openxmlformats.org/drawingml/2006/main" xmlns:ns2="http://schemas.microsoft.com/office/drawing/2014/main" xmlns:ns3="http://schemas.microsoft.com/office/powerpoint/2010/main" xmlns:p="http://schemas.openxmlformats.org/presentationml/2006/main">
  <p:cSld name="The firm decision">
    <p:bg>
      <p:bgPr>
        <a:solidFill>
          <a:srgbClr val="FFFFFF"/>
        </a:solidFill>
      </p:bgPr>
    </p:bg>
    <p:spTree>
      <p:nvGrpSpPr>
        <p:cNvPr id="1" name=""/>
        <p:cNvGrpSpPr/>
        <p:nvPr/>
      </p:nvGrpSpPr>
      <p:grpSpPr>
        <a:xfrm/>
      </p:grpSpPr>
      <p:sp>
        <p:nvSpPr>
          <p:cNvPr id="7" name="text-150">
            <a:extLst>
              <a:ext uri="{FF2B5EF4-FFF2-40B4-BE49-F238E27FC236}">
                <ns2:creationId id="{D9D77B59-6F19-4BBD-8EFC-9C1ADEB464B0}"/>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07</a:t>
            </a:r>
          </a:p>
        </p:txBody>
      </p:sp>
      <p:sp>
        <p:nvSpPr>
          <p:cNvPr id="2" name="text-151">
            <a:extLst>
              <a:ext uri="{FF2B5EF4-FFF2-40B4-BE49-F238E27FC236}">
                <ns2:creationId id="{D7E0315E-0AE7-4819-B0EB-2FE599B26762}"/>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The firm decision</a:t>
            </a:r>
          </a:p>
        </p:txBody>
      </p:sp>
      <p:sp>
        <p:nvSpPr>
          <p:cNvPr id="4" name="text-153">
            <a:extLst>
              <a:ext uri="{FF2B5EF4-FFF2-40B4-BE49-F238E27FC236}">
                <ns2:creationId id="{FA30EA41-D087-4762-9AD6-2EAB6EDF3A4D}"/>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154">
            <a:extLst>
              <a:ext uri="{FF2B5EF4-FFF2-40B4-BE49-F238E27FC236}">
                <ns2:creationId id="{D7C49D15-D18C-420E-8CB3-893E6BCC0167}"/>
              </a:ext>
            </a:extLst>
          </p:cNvPr>
          <p:cNvSpPr>
            <a:spLocks noGrp="1"/>
          </p:cNvSpPr>
          <p:nvPr/>
        </p:nvSpPr>
        <p:spPr>
          <a:xfrm>
            <a:off x="1285875" y="1943100"/>
            <a:ext cx="10191750" cy="3314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Adopt a claim-level research record, with an accountable reviewer and explicit unresolved questions.</a:t>
            </a:r>
          </a:p>
        </p:txBody>
      </p:sp>
      <p:sp>
        <p:nvSpPr>
          <p:cNvPr id="6" name="text-155">
            <a:extLst>
              <a:ext uri="{FF2B5EF4-FFF2-40B4-BE49-F238E27FC236}">
                <ns2:creationId id="{E7577697-B2E4-460D-BEE6-D7A7AF6B64FB}"/>
              </a:ext>
            </a:extLst>
          </p:cNvPr>
          <p:cNvSpPr>
            <a:spLocks noGrp="1"/>
          </p:cNvSpPr>
          <p:nvPr/>
        </p:nvSpPr>
        <p:spPr>
          <a:xfrm>
            <a:off x="619125" y="5848350"/>
            <a:ext cx="10953750" cy="590550"/>
          </a:xfrm>
          <a:prstGeom prst="rect">
            <a:avLst/>
          </a:prstGeom>
          <a:noFill/>
          <a:ln w="0">
            <a:noFill/>
          </a:ln>
        </p:spPr>
        <p:txBody>
          <a:bodyPr>
            <a:noAutofit/>
          </a:bodyPr>
          <a:lstStyle>
            <a:defPPr>
              <a:defRPr sz="1725" b="0">
                <a:solidFill>
                  <a:srgbClr val="536474"/>
                </a:solidFill>
                <a:latin typeface="Calibri"/>
                <a:ea typeface="Calibri"/>
                <a:cs typeface="Calibri"/>
              </a:defRPr>
            </a:defPPr>
            <a:lvl1pPr>
              <a:defRPr sz="1725" b="0">
                <a:solidFill>
                  <a:srgbClr val="536474"/>
                </a:solidFill>
                <a:latin typeface="Calibri"/>
                <a:ea typeface="Calibri"/>
                <a:cs typeface="Calibri"/>
              </a:defRPr>
            </a:lvl1pPr>
            <a:lvl2pPr>
              <a:defRPr sz="1725" b="0">
                <a:solidFill>
                  <a:srgbClr val="536474"/>
                </a:solidFill>
                <a:latin typeface="Calibri"/>
                <a:ea typeface="Calibri"/>
                <a:cs typeface="Calibri"/>
              </a:defRPr>
            </a:lvl2pPr>
            <a:lvl3pPr>
              <a:defRPr sz="1725" b="0">
                <a:solidFill>
                  <a:srgbClr val="536474"/>
                </a:solidFill>
                <a:latin typeface="Calibri"/>
                <a:ea typeface="Calibri"/>
                <a:cs typeface="Calibri"/>
              </a:defRPr>
            </a:lvl3pPr>
            <a:lvl4pPr>
              <a:defRPr sz="1725" b="0">
                <a:solidFill>
                  <a:srgbClr val="536474"/>
                </a:solidFill>
                <a:latin typeface="Calibri"/>
                <a:ea typeface="Calibri"/>
                <a:cs typeface="Calibri"/>
              </a:defRPr>
            </a:lvl4pPr>
            <a:lvl5pPr>
              <a:defRPr sz="1725" b="0">
                <a:solidFill>
                  <a:srgbClr val="536474"/>
                </a:solidFill>
                <a:latin typeface="Calibri"/>
                <a:ea typeface="Calibri"/>
                <a:cs typeface="Calibri"/>
              </a:defRPr>
            </a:lvl5pPr>
            <a:lvl6pPr>
              <a:defRPr sz="1725" b="0">
                <a:solidFill>
                  <a:srgbClr val="536474"/>
                </a:solidFill>
                <a:latin typeface="Calibri"/>
                <a:ea typeface="Calibri"/>
                <a:cs typeface="Calibri"/>
              </a:defRPr>
            </a:lvl6pPr>
            <a:lvl7pPr>
              <a:defRPr sz="1725" b="0">
                <a:solidFill>
                  <a:srgbClr val="536474"/>
                </a:solidFill>
                <a:latin typeface="Calibri"/>
                <a:ea typeface="Calibri"/>
                <a:cs typeface="Calibri"/>
              </a:defRPr>
            </a:lvl7pPr>
            <a:lvl8pPr>
              <a:defRPr sz="1725" b="0">
                <a:solidFill>
                  <a:srgbClr val="536474"/>
                </a:solidFill>
                <a:latin typeface="Calibri"/>
                <a:ea typeface="Calibri"/>
                <a:cs typeface="Calibri"/>
              </a:defRPr>
            </a:lvl8pPr>
            <a:lvl9pPr>
              <a:defRPr sz="1725" b="0">
                <a:solidFill>
                  <a:srgbClr val="536474"/>
                </a:solidFill>
                <a:latin typeface="Calibri"/>
                <a:ea typeface="Calibri"/>
                <a:cs typeface="Calibri"/>
              </a:defRPr>
            </a:lvl9pPr>
          </a:lstStyle>
          <a:p>
            <a:pPr>
              <a:defRPr sz="1725" b="0">
                <a:solidFill>
                  <a:srgbClr val="536474"/>
                </a:solidFill>
                <a:latin typeface="Calibri"/>
                <a:ea typeface="Calibri"/>
                <a:cs typeface="Calibri"/>
              </a:defRPr>
            </a:pPr>
            <a:r>
              <a:rPr sz="1725" b="0">
                <a:solidFill>
                  <a:srgbClr val="536474"/>
                </a:solidFill>
                <a:latin typeface="Calibri"/>
                <a:ea typeface="Calibri"/>
                <a:cs typeface="Calibri"/>
              </a:rPr>
              <a:t>Record the decision and the evidence still needed.</a:t>
            </a:r>
          </a:p>
        </p:txBody>
      </p:sp>
      <p:sp>
        <p:nvSpPr>
          <p:cNvPr id="3" name="text-152">
            <a:extLst>
              <a:ext uri="{FF2B5EF4-FFF2-40B4-BE49-F238E27FC236}">
                <ns2:creationId id="{076BE281-575F-4323-9744-8EEEB042A1F2}"/>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07   19</a:t>
            </a:r>
          </a:p>
        </p:txBody>
      </p:sp>
    </p:spTree>
    <p:extLst>
      <p:ext uri="{BB962C8B-B14F-4D97-AF65-F5344CB8AC3E}">
        <ns3:creationId val="1304107820"/>
      </p:ext>
    </p:extLst>
  </p:cSld>
  <p:transition spd="med" advClick="1">
    <p:fade/>
  </p:transition>
</p:sld>
</file>

<file path=ppt/slides/slide20.xml><?xml version="1.0" encoding="utf-8"?>
<p:sld xmlns:a="http://schemas.openxmlformats.org/drawingml/2006/main" xmlns:ns2="http://schemas.microsoft.com/office/drawing/2014/main" xmlns:ns3="http://schemas.microsoft.com/office/powerpoint/2010/main" xmlns:p="http://schemas.openxmlformats.org/presentationml/2006/main">
  <p:cSld name="Check understanding">
    <p:bg>
      <p:bgPr>
        <a:solidFill>
          <a:srgbClr val="FFFFFF"/>
        </a:solidFill>
      </p:bgPr>
    </p:bg>
    <p:spTree>
      <p:nvGrpSpPr>
        <p:cNvPr id="1" name=""/>
        <p:cNvGrpSpPr/>
        <p:nvPr/>
      </p:nvGrpSpPr>
      <p:grpSpPr>
        <a:xfrm/>
      </p:grpSpPr>
      <p:sp>
        <p:nvSpPr>
          <p:cNvPr id="10" name="text-156">
            <a:extLst>
              <a:ext uri="{FF2B5EF4-FFF2-40B4-BE49-F238E27FC236}">
                <ns2:creationId id="{0D39ADEE-6E36-42C0-94F6-33EE95518515}"/>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07</a:t>
            </a:r>
          </a:p>
        </p:txBody>
      </p:sp>
      <p:sp>
        <p:nvSpPr>
          <p:cNvPr id="2" name="text-157">
            <a:extLst>
              <a:ext uri="{FF2B5EF4-FFF2-40B4-BE49-F238E27FC236}">
                <ns2:creationId id="{43EFF441-9C81-4A1D-9F98-3670CDF60752}"/>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Check understanding</a:t>
            </a:r>
          </a:p>
        </p:txBody>
      </p:sp>
      <p:sp>
        <p:nvSpPr>
          <p:cNvPr id="4" name="text-159">
            <a:extLst>
              <a:ext uri="{FF2B5EF4-FFF2-40B4-BE49-F238E27FC236}">
                <ns2:creationId id="{0963253D-19E8-40C9-BEDD-FCB243C60774}"/>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160">
            <a:extLst>
              <a:ext uri="{FF2B5EF4-FFF2-40B4-BE49-F238E27FC236}">
                <ns2:creationId id="{AB7ABC11-AF4E-4A2C-8170-AC48D38192B2}"/>
              </a:ext>
            </a:extLst>
          </p:cNvPr>
          <p:cNvSpPr>
            <a:spLocks noGrp="1"/>
          </p:cNvSpPr>
          <p:nvPr/>
        </p:nvSpPr>
        <p:spPr>
          <a:xfrm>
            <a:off x="1285875" y="1943100"/>
            <a:ext cx="10191750" cy="1155700"/>
          </a:xfrm>
          <a:prstGeom prst="rect">
            <a:avLst/>
          </a:prstGeom>
          <a:noFill/>
          <a:ln w="0">
            <a:noFill/>
          </a:ln>
        </p:spPr>
        <p:txBody>
          <a:bodyPr>
            <a:noAutofit/>
          </a:bodyPr>
          <a:lstStyle>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a:pPr>
              <a:defRPr sz="2550" b="0">
                <a:solidFill>
                  <a:srgbClr val="1C3144"/>
                </a:solidFill>
                <a:latin typeface="Calibri"/>
                <a:ea typeface="Calibri"/>
                <a:cs typeface="Calibri"/>
              </a:defRPr>
            </a:pPr>
            <a:r>
              <a:rPr sz="2550" b="0">
                <a:solidFill>
                  <a:srgbClr val="1C3144"/>
                </a:solidFill>
                <a:latin typeface="Calibri"/>
                <a:ea typeface="Calibri"/>
                <a:cs typeface="Calibri"/>
              </a:rPr>
              <a:t>A later summary contradicts the historical judgment. Which text must be inspected?</a:t>
            </a:r>
          </a:p>
        </p:txBody>
      </p:sp>
      <p:sp>
        <p:nvSpPr>
          <p:cNvPr id="6" name="text-161">
            <a:extLst>
              <a:ext uri="{FF2B5EF4-FFF2-40B4-BE49-F238E27FC236}">
                <ns2:creationId id="{A7A1D839-E655-4291-A562-65B5FEE2B844}"/>
              </a:ext>
            </a:extLst>
          </p:cNvPr>
          <p:cNvSpPr>
            <a:spLocks noGrp="1"/>
          </p:cNvSpPr>
          <p:nvPr/>
        </p:nvSpPr>
        <p:spPr>
          <a:xfrm>
            <a:off x="619125" y="321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162">
            <a:extLst>
              <a:ext uri="{FF2B5EF4-FFF2-40B4-BE49-F238E27FC236}">
                <ns2:creationId id="{6C609F25-72A0-4434-810C-CCA776416F14}"/>
              </a:ext>
            </a:extLst>
          </p:cNvPr>
          <p:cNvSpPr>
            <a:spLocks noGrp="1"/>
          </p:cNvSpPr>
          <p:nvPr/>
        </p:nvSpPr>
        <p:spPr>
          <a:xfrm>
            <a:off x="1285875" y="3213100"/>
            <a:ext cx="10191750" cy="1155700"/>
          </a:xfrm>
          <a:prstGeom prst="rect">
            <a:avLst/>
          </a:prstGeom>
          <a:noFill/>
          <a:ln w="0">
            <a:noFill/>
          </a:ln>
        </p:spPr>
        <p:txBody>
          <a:bodyPr>
            <a:noAutofit/>
          </a:bodyPr>
          <a:lstStyle>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a:pPr>
              <a:defRPr sz="2550" b="0">
                <a:solidFill>
                  <a:srgbClr val="1C3144"/>
                </a:solidFill>
                <a:latin typeface="Calibri"/>
                <a:ea typeface="Calibri"/>
                <a:cs typeface="Calibri"/>
              </a:defRPr>
            </a:pPr>
            <a:r>
              <a:rPr sz="2550" b="0">
                <a:solidFill>
                  <a:srgbClr val="1C3144"/>
                </a:solidFill>
                <a:latin typeface="Calibri"/>
                <a:ea typeface="Calibri"/>
                <a:cs typeface="Calibri"/>
              </a:rPr>
              <a:t>Section numbers differ between editions. What must the memo record?</a:t>
            </a:r>
          </a:p>
        </p:txBody>
      </p:sp>
      <p:sp>
        <p:nvSpPr>
          <p:cNvPr id="8" name="text-163">
            <a:extLst>
              <a:ext uri="{FF2B5EF4-FFF2-40B4-BE49-F238E27FC236}">
                <ns2:creationId id="{00AC6CBE-F1F0-49B1-9285-A00C55E25CC1}"/>
              </a:ext>
            </a:extLst>
          </p:cNvPr>
          <p:cNvSpPr>
            <a:spLocks noGrp="1"/>
          </p:cNvSpPr>
          <p:nvPr/>
        </p:nvSpPr>
        <p:spPr>
          <a:xfrm>
            <a:off x="619125" y="448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164">
            <a:extLst>
              <a:ext uri="{FF2B5EF4-FFF2-40B4-BE49-F238E27FC236}">
                <ns2:creationId id="{EBC5B85E-3DB6-453E-B465-B2A51100E443}"/>
              </a:ext>
            </a:extLst>
          </p:cNvPr>
          <p:cNvSpPr>
            <a:spLocks noGrp="1"/>
          </p:cNvSpPr>
          <p:nvPr/>
        </p:nvSpPr>
        <p:spPr>
          <a:xfrm>
            <a:off x="1285875" y="4483100"/>
            <a:ext cx="10191750" cy="1155700"/>
          </a:xfrm>
          <a:prstGeom prst="rect">
            <a:avLst/>
          </a:prstGeom>
          <a:noFill/>
          <a:ln w="0">
            <a:noFill/>
          </a:ln>
        </p:spPr>
        <p:txBody>
          <a:bodyPr>
            <a:noAutofit/>
          </a:bodyPr>
          <a:lstStyle>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a:pPr>
              <a:defRPr sz="2550" b="0">
                <a:solidFill>
                  <a:srgbClr val="1C3144"/>
                </a:solidFill>
                <a:latin typeface="Calibri"/>
                <a:ea typeface="Calibri"/>
                <a:cs typeface="Calibri"/>
              </a:defRPr>
            </a:pPr>
            <a:r>
              <a:rPr sz="2550" b="0">
                <a:solidFill>
                  <a:srgbClr val="1C3144"/>
                </a:solidFill>
                <a:latin typeface="Calibri"/>
                <a:ea typeface="Calibri"/>
                <a:cs typeface="Calibri"/>
              </a:rPr>
              <a:t>Can the historical holding decide Victoria’s proposed fee?</a:t>
            </a:r>
          </a:p>
        </p:txBody>
      </p:sp>
      <p:sp>
        <p:nvSpPr>
          <p:cNvPr id="3" name="text-158">
            <a:extLst>
              <a:ext uri="{FF2B5EF4-FFF2-40B4-BE49-F238E27FC236}">
                <ns2:creationId id="{C197CC69-690C-4FF0-846D-DEDA528B0EAF}"/>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07   20</a:t>
            </a:r>
          </a:p>
        </p:txBody>
      </p:sp>
    </p:spTree>
    <p:extLst>
      <p:ext uri="{BB962C8B-B14F-4D97-AF65-F5344CB8AC3E}">
        <ns3:creationId val="646954325"/>
      </p:ext>
    </p:extLst>
  </p:cSld>
  <p:transition spd="med" advClick="1">
    <p:fade/>
  </p:transition>
</p:sld>
</file>

<file path=ppt/slides/slide21.xml><?xml version="1.0" encoding="utf-8"?>
<p:sld xmlns:a="http://schemas.openxmlformats.org/drawingml/2006/main" xmlns:ns2="http://schemas.microsoft.com/office/drawing/2014/main" xmlns:ns3="http://schemas.microsoft.com/office/powerpoint/2010/main" xmlns:p="http://schemas.openxmlformats.org/presentationml/2006/main">
  <p:cSld name="Research failure modes">
    <p:bg>
      <p:bgPr>
        <a:solidFill>
          <a:srgbClr val="FFFFFF"/>
        </a:solidFill>
      </p:bgPr>
    </p:bg>
    <p:spTree>
      <p:nvGrpSpPr>
        <p:cNvPr id="1" name=""/>
        <p:cNvGrpSpPr/>
        <p:nvPr/>
      </p:nvGrpSpPr>
      <p:grpSpPr>
        <a:xfrm/>
      </p:grpSpPr>
      <p:sp>
        <p:nvSpPr>
          <p:cNvPr id="5" name="text-165">
            <a:extLst>
              <a:ext uri="{FF2B5EF4-FFF2-40B4-BE49-F238E27FC236}">
                <ns2:creationId id="{3F7F3780-C0B3-41FD-9E35-FCAC8E799FC9}"/>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07</a:t>
            </a:r>
          </a:p>
        </p:txBody>
      </p:sp>
      <p:sp>
        <p:nvSpPr>
          <p:cNvPr id="2" name="text-166">
            <a:extLst>
              <a:ext uri="{FF2B5EF4-FFF2-40B4-BE49-F238E27FC236}">
                <ns2:creationId id="{1D9475D3-601F-4A83-B059-1856B5AE29ED}"/>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Research failure modes</a:t>
            </a:r>
          </a:p>
        </p:txBody>
      </p:sp>
      <p:graphicFrame>
        <p:nvGraphicFramePr>
          <p:cNvPr id="4" name="">
            <a:extLst>
              <a:ext uri="{FF2B5EF4-FFF2-40B4-BE49-F238E27FC236}">
                <ns2:creationId id="{0C421496-52EC-4C30-81C1-39B94BD2176E}"/>
              </a:ext>
            </a:extLst>
          </p:cNvPr>
          <p:cNvGraphicFramePr/>
          <p:nvPr/>
        </p:nvGraphicFramePr>
        <p:xfrm>
          <a:off x="619125" y="1933575"/>
          <a:ext cx="10953750" cy="3743325"/>
        </p:xfrm>
        <a:graphic>
          <a:graphicData uri="http://schemas.openxmlformats.org/drawingml/2006/table">
            <a:tbl>
              <a:tblPr/>
              <a:tblGrid>
                <a:gridCol w="5476875"/>
                <a:gridCol w="5476875"/>
              </a:tblGrid>
              <a:tr h="623888">
                <a:tc>
                  <a:txBody>
                    <a:bodyPr/>
                    <a:lstStyle/>
                    <a:p>
                      <a:r>
                        <a:rPr sz="1875" b="1">
                          <a:solidFill>
                            <a:srgbClr val="FFFFFF"/>
                          </a:solidFill>
                          <a:latin typeface="Calibri"/>
                          <a:ea typeface="Calibri"/>
                          <a:cs typeface="Calibri"/>
                        </a:rPr>
                        <a:t>Failure</a:t>
                      </a:r>
                    </a:p>
                  </a:txBody>
                  <a:tcPr marL="91440" marR="91440" marT="45720" marB="45720">
                    <a:lnL w="9525">
                      <a:solidFill>
                        <a:srgbClr val="C9D5DA"/>
                      </a:solidFill>
                      <a:prstDash val="solid"/>
                    </a:lnL>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c>
                  <a:txBody>
                    <a:bodyPr/>
                    <a:lstStyle/>
                    <a:p>
                      <a:r>
                        <a:rPr sz="1875" b="1">
                          <a:solidFill>
                            <a:srgbClr val="FFFFFF"/>
                          </a:solidFill>
                          <a:latin typeface="Calibri"/>
                          <a:ea typeface="Calibri"/>
                          <a:cs typeface="Calibri"/>
                        </a:rPr>
                        <a:t>Review response</a:t>
                      </a:r>
                    </a:p>
                  </a:txBody>
                  <a:tcPr marL="91440" marR="91440" marT="45720" marB="45720">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r>
              <a:tr h="623888">
                <a:tc>
                  <a:txBody>
                    <a:bodyPr/>
                    <a:lstStyle/>
                    <a:p>
                      <a:r>
                        <a:rPr sz="1875" b="0">
                          <a:solidFill>
                            <a:srgbClr val="1C3144"/>
                          </a:solidFill>
                          <a:latin typeface="Calibri"/>
                          <a:ea typeface="Calibri"/>
                          <a:cs typeface="Calibri"/>
                        </a:rPr>
                        <a:t>Invented citation</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Verify the authority exists</a:t>
                      </a:r>
                    </a:p>
                  </a:txBody>
                  <a:tcPr marL="91440" marR="91440" marT="45720" marB="45720">
                    <a:lnR w="9525">
                      <a:solidFill>
                        <a:srgbClr val="C9D5DA"/>
                      </a:solidFill>
                      <a:prstDash val="solid"/>
                    </a:lnR>
                    <a:lnB w="9525">
                      <a:solidFill>
                        <a:srgbClr val="C9D5DA"/>
                      </a:solidFill>
                      <a:prstDash val="solid"/>
                    </a:lnB>
                    <a:solidFill>
                      <a:srgbClr val="F1F5F6"/>
                    </a:solidFill>
                  </a:tcPr>
                </a:tc>
              </a:tr>
              <a:tr h="623888">
                <a:tc>
                  <a:txBody>
                    <a:bodyPr/>
                    <a:lstStyle/>
                    <a:p>
                      <a:r>
                        <a:rPr sz="1875" b="0">
                          <a:solidFill>
                            <a:srgbClr val="1C3144"/>
                          </a:solidFill>
                          <a:latin typeface="Calibri"/>
                          <a:ea typeface="Calibri"/>
                          <a:cs typeface="Calibri"/>
                        </a:rPr>
                        <a:t>Wrong jurisdiction</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Check relevance and authority</a:t>
                      </a:r>
                    </a:p>
                  </a:txBody>
                  <a:tcPr marL="91440" marR="91440" marT="45720" marB="45720">
                    <a:lnR w="9525">
                      <a:solidFill>
                        <a:srgbClr val="C9D5DA"/>
                      </a:solidFill>
                      <a:prstDash val="solid"/>
                    </a:lnR>
                    <a:lnB w="9525">
                      <a:solidFill>
                        <a:srgbClr val="C9D5DA"/>
                      </a:solidFill>
                      <a:prstDash val="solid"/>
                    </a:lnB>
                    <a:solidFill>
                      <a:srgbClr val="FFFFFF"/>
                    </a:solidFill>
                  </a:tcPr>
                </a:tc>
              </a:tr>
              <a:tr h="623888">
                <a:tc>
                  <a:txBody>
                    <a:bodyPr/>
                    <a:lstStyle/>
                    <a:p>
                      <a:r>
                        <a:rPr sz="1875" b="0">
                          <a:solidFill>
                            <a:srgbClr val="1C3144"/>
                          </a:solidFill>
                          <a:latin typeface="Calibri"/>
                          <a:ea typeface="Calibri"/>
                          <a:cs typeface="Calibri"/>
                        </a:rPr>
                        <a:t>Old provision</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Check dates and amendments</a:t>
                      </a:r>
                    </a:p>
                  </a:txBody>
                  <a:tcPr marL="91440" marR="91440" marT="45720" marB="45720">
                    <a:lnR w="9525">
                      <a:solidFill>
                        <a:srgbClr val="C9D5DA"/>
                      </a:solidFill>
                      <a:prstDash val="solid"/>
                    </a:lnR>
                    <a:lnB w="9525">
                      <a:solidFill>
                        <a:srgbClr val="C9D5DA"/>
                      </a:solidFill>
                      <a:prstDash val="solid"/>
                    </a:lnB>
                    <a:solidFill>
                      <a:srgbClr val="F1F5F6"/>
                    </a:solidFill>
                  </a:tcPr>
                </a:tc>
              </a:tr>
              <a:tr h="623888">
                <a:tc>
                  <a:txBody>
                    <a:bodyPr/>
                    <a:lstStyle/>
                    <a:p>
                      <a:r>
                        <a:rPr sz="1875" b="0">
                          <a:solidFill>
                            <a:srgbClr val="1C3144"/>
                          </a:solidFill>
                          <a:latin typeface="Calibri"/>
                          <a:ea typeface="Calibri"/>
                          <a:cs typeface="Calibri"/>
                        </a:rPr>
                        <a:t>Selective support</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Search for contrary treatment</a:t>
                      </a:r>
                    </a:p>
                  </a:txBody>
                  <a:tcPr marL="91440" marR="91440" marT="45720" marB="45720">
                    <a:lnR w="9525">
                      <a:solidFill>
                        <a:srgbClr val="C9D5DA"/>
                      </a:solidFill>
                      <a:prstDash val="solid"/>
                    </a:lnR>
                    <a:lnB w="9525">
                      <a:solidFill>
                        <a:srgbClr val="C9D5DA"/>
                      </a:solidFill>
                      <a:prstDash val="solid"/>
                    </a:lnB>
                    <a:solidFill>
                      <a:srgbClr val="FFFFFF"/>
                    </a:solidFill>
                  </a:tcPr>
                </a:tc>
              </a:tr>
              <a:tr h="623888">
                <a:tc>
                  <a:txBody>
                    <a:bodyPr/>
                    <a:lstStyle/>
                    <a:p>
                      <a:r>
                        <a:rPr sz="1875" b="0">
                          <a:solidFill>
                            <a:srgbClr val="1C3144"/>
                          </a:solidFill>
                          <a:latin typeface="Calibri"/>
                          <a:ea typeface="Calibri"/>
                          <a:cs typeface="Calibri"/>
                        </a:rPr>
                        <a:t>Overbroad conclusion</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Narrow to what evidence supports</a:t>
                      </a:r>
                    </a:p>
                  </a:txBody>
                  <a:tcPr marL="91440" marR="91440" marT="45720" marB="45720">
                    <a:lnR w="9525">
                      <a:solidFill>
                        <a:srgbClr val="C9D5DA"/>
                      </a:solidFill>
                      <a:prstDash val="solid"/>
                    </a:lnR>
                    <a:lnB w="9525">
                      <a:solidFill>
                        <a:srgbClr val="C9D5DA"/>
                      </a:solidFill>
                      <a:prstDash val="solid"/>
                    </a:lnB>
                    <a:solidFill>
                      <a:srgbClr val="F1F5F6"/>
                    </a:solidFill>
                  </a:tcPr>
                </a:tc>
              </a:tr>
            </a:tbl>
          </a:graphicData>
        </a:graphic>
      </p:graphicFrame>
      <p:sp>
        <p:nvSpPr>
          <p:cNvPr id="3" name="text-167">
            <a:extLst>
              <a:ext uri="{FF2B5EF4-FFF2-40B4-BE49-F238E27FC236}">
                <ns2:creationId id="{488D259F-A7CC-4189-8A5D-2511DA01F561}"/>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07   21   OPTIONAL EXPLORATION</a:t>
            </a:r>
          </a:p>
        </p:txBody>
      </p:sp>
    </p:spTree>
    <p:extLst>
      <p:ext uri="{BB962C8B-B14F-4D97-AF65-F5344CB8AC3E}">
        <ns3:creationId val="1990047802"/>
      </p:ext>
    </p:extLst>
  </p:cSld>
  <p:transition spd="med" advClick="1">
    <p:fade/>
  </p:transition>
</p:sld>
</file>

<file path=ppt/slides/slide22.xml><?xml version="1.0" encoding="utf-8"?>
<p:sld xmlns:a="http://schemas.openxmlformats.org/drawingml/2006/main" xmlns:ns2="http://schemas.microsoft.com/office/drawing/2014/main" xmlns:ns3="http://schemas.microsoft.com/office/powerpoint/2010/main" xmlns:p="http://schemas.openxmlformats.org/presentationml/2006/main">
  <p:cSld name="Research as an organisational capability">
    <p:bg>
      <p:bgPr>
        <a:solidFill>
          <a:srgbClr val="FFFFFF"/>
        </a:solidFill>
      </p:bgPr>
    </p:bg>
    <p:spTree>
      <p:nvGrpSpPr>
        <p:cNvPr id="1" name=""/>
        <p:cNvGrpSpPr/>
        <p:nvPr/>
      </p:nvGrpSpPr>
      <p:grpSpPr>
        <a:xfrm/>
      </p:grpSpPr>
      <p:sp>
        <p:nvSpPr>
          <p:cNvPr id="10" name="text-168">
            <a:extLst>
              <a:ext uri="{FF2B5EF4-FFF2-40B4-BE49-F238E27FC236}">
                <ns2:creationId id="{2AAD42F2-F425-4C15-AAAB-6D4522DAF4D7}"/>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07</a:t>
            </a:r>
          </a:p>
        </p:txBody>
      </p:sp>
      <p:sp>
        <p:nvSpPr>
          <p:cNvPr id="2" name="text-169">
            <a:extLst>
              <a:ext uri="{FF2B5EF4-FFF2-40B4-BE49-F238E27FC236}">
                <ns2:creationId id="{7E2CDB39-E886-4690-BAD0-05F3F156270D}"/>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Research as an organisational capability</a:t>
            </a:r>
          </a:p>
        </p:txBody>
      </p:sp>
      <p:sp>
        <p:nvSpPr>
          <p:cNvPr id="4" name="text-171">
            <a:extLst>
              <a:ext uri="{FF2B5EF4-FFF2-40B4-BE49-F238E27FC236}">
                <ns2:creationId id="{2877A4A8-48AD-445A-B31F-6B906894AE59}"/>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172">
            <a:extLst>
              <a:ext uri="{FF2B5EF4-FFF2-40B4-BE49-F238E27FC236}">
                <ns2:creationId id="{BF668511-5C6F-4668-AC65-050D8A98E910}"/>
              </a:ext>
            </a:extLst>
          </p:cNvPr>
          <p:cNvSpPr>
            <a:spLocks noGrp="1"/>
          </p:cNvSpPr>
          <p:nvPr/>
        </p:nvSpPr>
        <p:spPr>
          <a:xfrm>
            <a:off x="1285875" y="1943100"/>
            <a:ext cx="10191750"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Shared source registers and maintained precedents</a:t>
            </a:r>
          </a:p>
        </p:txBody>
      </p:sp>
      <p:sp>
        <p:nvSpPr>
          <p:cNvPr id="6" name="text-173">
            <a:extLst>
              <a:ext uri="{FF2B5EF4-FFF2-40B4-BE49-F238E27FC236}">
                <ns2:creationId id="{6EB6887C-6242-422C-B95C-AC7260A96F8A}"/>
              </a:ext>
            </a:extLst>
          </p:cNvPr>
          <p:cNvSpPr>
            <a:spLocks noGrp="1"/>
          </p:cNvSpPr>
          <p:nvPr/>
        </p:nvSpPr>
        <p:spPr>
          <a:xfrm>
            <a:off x="619125" y="321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174">
            <a:extLst>
              <a:ext uri="{FF2B5EF4-FFF2-40B4-BE49-F238E27FC236}">
                <ns2:creationId id="{D451CA26-794A-47CE-8066-5CB0E1B83487}"/>
              </a:ext>
            </a:extLst>
          </p:cNvPr>
          <p:cNvSpPr>
            <a:spLocks noGrp="1"/>
          </p:cNvSpPr>
          <p:nvPr/>
        </p:nvSpPr>
        <p:spPr>
          <a:xfrm>
            <a:off x="1285875" y="3213100"/>
            <a:ext cx="10191750"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A review standard for AI-assisted advice</a:t>
            </a:r>
          </a:p>
        </p:txBody>
      </p:sp>
      <p:sp>
        <p:nvSpPr>
          <p:cNvPr id="8" name="text-175">
            <a:extLst>
              <a:ext uri="{FF2B5EF4-FFF2-40B4-BE49-F238E27FC236}">
                <ns2:creationId id="{AAC058D0-C380-4F7E-A59F-3E23AC49F24C}"/>
              </a:ext>
            </a:extLst>
          </p:cNvPr>
          <p:cNvSpPr>
            <a:spLocks noGrp="1"/>
          </p:cNvSpPr>
          <p:nvPr/>
        </p:nvSpPr>
        <p:spPr>
          <a:xfrm>
            <a:off x="619125" y="448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176">
            <a:extLst>
              <a:ext uri="{FF2B5EF4-FFF2-40B4-BE49-F238E27FC236}">
                <ns2:creationId id="{0C5CFE3F-73F1-4319-8D04-C7F55FFD6F10}"/>
              </a:ext>
            </a:extLst>
          </p:cNvPr>
          <p:cNvSpPr>
            <a:spLocks noGrp="1"/>
          </p:cNvSpPr>
          <p:nvPr/>
        </p:nvSpPr>
        <p:spPr>
          <a:xfrm>
            <a:off x="1285875" y="4483100"/>
            <a:ext cx="10191750"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A route for correcting and sharing findings</a:t>
            </a:r>
          </a:p>
        </p:txBody>
      </p:sp>
      <p:sp>
        <p:nvSpPr>
          <p:cNvPr id="3" name="text-170">
            <a:extLst>
              <a:ext uri="{FF2B5EF4-FFF2-40B4-BE49-F238E27FC236}">
                <ns2:creationId id="{56636A79-248A-40F8-B23B-78B6018CC4C9}"/>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07   22   OPTIONAL EXPLORATION</a:t>
            </a:r>
          </a:p>
        </p:txBody>
      </p:sp>
    </p:spTree>
    <p:extLst>
      <p:ext uri="{BB962C8B-B14F-4D97-AF65-F5344CB8AC3E}">
        <ns3:creationId val="1496812305"/>
      </p:ext>
    </p:extLst>
  </p:cSld>
  <p:transition spd="med" advClick="1">
    <p:fade/>
  </p:transition>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2026-10-26T10:01:45.5430000Z</dcterms:created>
  <dcterms:modified xsi:type="dcterms:W3CDTF">2026-10-26T10:01:45.5430000Z</dcterms:modified>
</coreProperties>
</file>