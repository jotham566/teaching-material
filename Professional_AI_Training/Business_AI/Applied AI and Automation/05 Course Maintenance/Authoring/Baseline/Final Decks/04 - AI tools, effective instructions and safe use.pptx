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2708cc077f4bc7" /><Relationship Type="http://schemas.openxmlformats.org/officeDocument/2006/relationships/extended-properties" Target="/docProps/app.xml" Id="R48ac88f146824e35" /><Relationship Type="http://schemas.openxmlformats.org/officeDocument/2006/relationships/officeDocument" Target="/ppt/presentation.xml" Id="R24f4dcae662e4ed3" /></Relationships>
</file>

<file path=ppt/presentation.xml><?xml version="1.0" encoding="utf-8"?>
<p:presentation xmlns:p="http://schemas.openxmlformats.org/presentationml/2006/main" xmlns:r="http://schemas.openxmlformats.org/officeDocument/2006/relationships">
  <p:sldMasterIdLst>
    <p:sldMasterId id="2147483648" r:id="R216ce326033e470f"/>
  </p:sldMasterIdLst>
  <p:notesMasterIdLst>
    <p:notesMasterId r:id="R26dd6cc133294359"/>
  </p:notesMasterIdLst>
  <p:sldIdLst>
    <p:sldId id="256" r:id="Reb8a1fd594194077"/>
    <p:sldId id="257" r:id="R362eb6e7a90649a2"/>
    <p:sldId id="258" r:id="R346ce63111f54c61"/>
    <p:sldId id="259" r:id="R684c6c61c6b145e6"/>
    <p:sldId id="260" r:id="R432850d4f7384894"/>
    <p:sldId id="261" r:id="R74ff714002a54d29"/>
    <p:sldId id="262" r:id="Rbcb33b7767644130"/>
    <p:sldId id="263" r:id="R7b153591e425433c"/>
    <p:sldId id="264" r:id="R29d4743c05e44368"/>
    <p:sldId id="265" r:id="R4ed5f7c8632e4210"/>
    <p:sldId id="266" r:id="R45177d8ac4b94bb2"/>
    <p:sldId id="267" r:id="R233cfaee0bc54798"/>
    <p:sldId id="268" r:id="Rdb8d9476f05940d1"/>
    <p:sldId id="269" r:id="R75a16d5b06c74f4f"/>
    <p:sldId id="270" r:id="Rf91ce2943b144bfc"/>
    <p:sldId id="271" r:id="R4931e6f51c254d1e"/>
    <p:sldId id="272" r:id="R0689cfd2641a4b40"/>
    <p:sldId id="273" r:id="R76d3323e35a8454c"/>
    <p:sldId id="274" r:id="Rdcd7020c199d4f03"/>
    <p:sldId id="275" r:id="R8222b6f6e53449f9"/>
    <p:sldId id="276" r:id="Rade998476e394784"/>
    <p:sldId id="277" r:id="R79b9c47d6b234504"/>
    <p:sldId id="278" r:id="R93fadfbab0fc463c"/>
    <p:sldId id="279" r:id="R2e294aebdfde4e13"/>
  </p:sldIdLst>
  <p:sldSz cx="12192000" cy="6858000"/>
  <p:notesSz cx="6858000" cy="9144000"/>
  <p:custShowLst>
    <p:custShow name="Core teaching" id="1">
      <p:sldLst>
        <p:sld r:id="Reb8a1fd594194077"/>
        <p:sld r:id="R362eb6e7a90649a2"/>
        <p:sld r:id="R346ce63111f54c61"/>
        <p:sld r:id="R684c6c61c6b145e6"/>
        <p:sld r:id="R432850d4f7384894"/>
        <p:sld r:id="R74ff714002a54d29"/>
        <p:sld r:id="Rbcb33b7767644130"/>
        <p:sld r:id="R7b153591e425433c"/>
        <p:sld r:id="R29d4743c05e44368"/>
        <p:sld r:id="R4ed5f7c8632e4210"/>
        <p:sld r:id="R45177d8ac4b94bb2"/>
        <p:sld r:id="R233cfaee0bc54798"/>
        <p:sld r:id="Rdb8d9476f05940d1"/>
        <p:sld r:id="R75a16d5b06c74f4f"/>
        <p:sld r:id="Rf91ce2943b144bfc"/>
        <p:sld r:id="R4931e6f51c254d1e"/>
        <p:sld r:id="R0689cfd2641a4b40"/>
        <p:sld r:id="R76d3323e35a8454c"/>
        <p:sld r:id="Rdcd7020c199d4f03"/>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767f1e646e431e" /><Relationship Type="http://schemas.openxmlformats.org/officeDocument/2006/relationships/slideMaster" Target="/ppt/slideMasters/slideMaster1.xml" Id="R216ce326033e470f" /><Relationship Type="http://schemas.openxmlformats.org/officeDocument/2006/relationships/notesMaster" Target="/ppt/notesMasters/notesMaster1.xml" Id="R26dd6cc133294359" /><Relationship Type="http://schemas.openxmlformats.org/officeDocument/2006/relationships/presProps" Target="/ppt/presProps.xml" Id="R5dccc0a0cb9f48cc" /><Relationship Type="http://schemas.openxmlformats.org/officeDocument/2006/relationships/tableStyles" Target="/ppt/tableStyles.xml" Id="R0c0f7b5bc3be4e22" /><Relationship Type="http://schemas.openxmlformats.org/officeDocument/2006/relationships/slide" Target="/ppt/slides/slide1.xml" Id="Reb8a1fd594194077" /><Relationship Type="http://schemas.openxmlformats.org/officeDocument/2006/relationships/slide" Target="/ppt/slides/slide2.xml" Id="R362eb6e7a90649a2" /><Relationship Type="http://schemas.openxmlformats.org/officeDocument/2006/relationships/slide" Target="/ppt/slides/slide3.xml" Id="R346ce63111f54c61" /><Relationship Type="http://schemas.openxmlformats.org/officeDocument/2006/relationships/slide" Target="/ppt/slides/slide4.xml" Id="R684c6c61c6b145e6" /><Relationship Type="http://schemas.openxmlformats.org/officeDocument/2006/relationships/slide" Target="/ppt/slides/slide5.xml" Id="R432850d4f7384894" /><Relationship Type="http://schemas.openxmlformats.org/officeDocument/2006/relationships/slide" Target="/ppt/slides/slide6.xml" Id="R74ff714002a54d29" /><Relationship Type="http://schemas.openxmlformats.org/officeDocument/2006/relationships/slide" Target="/ppt/slides/slide7.xml" Id="Rbcb33b7767644130" /><Relationship Type="http://schemas.openxmlformats.org/officeDocument/2006/relationships/slide" Target="/ppt/slides/slide8.xml" Id="R7b153591e425433c" /><Relationship Type="http://schemas.openxmlformats.org/officeDocument/2006/relationships/slide" Target="/ppt/slides/slide9.xml" Id="R29d4743c05e44368" /><Relationship Type="http://schemas.openxmlformats.org/officeDocument/2006/relationships/slide" Target="/ppt/slides/slide10.xml" Id="R4ed5f7c8632e4210" /><Relationship Type="http://schemas.openxmlformats.org/officeDocument/2006/relationships/slide" Target="/ppt/slides/slide11.xml" Id="R45177d8ac4b94bb2" /><Relationship Type="http://schemas.openxmlformats.org/officeDocument/2006/relationships/slide" Target="/ppt/slides/slide12.xml" Id="R233cfaee0bc54798" /><Relationship Type="http://schemas.openxmlformats.org/officeDocument/2006/relationships/slide" Target="/ppt/slides/slide13.xml" Id="Rdb8d9476f05940d1" /><Relationship Type="http://schemas.openxmlformats.org/officeDocument/2006/relationships/slide" Target="/ppt/slides/slide14.xml" Id="R75a16d5b06c74f4f" /><Relationship Type="http://schemas.openxmlformats.org/officeDocument/2006/relationships/slide" Target="/ppt/slides/slide15.xml" Id="Rf91ce2943b144bfc" /><Relationship Type="http://schemas.openxmlformats.org/officeDocument/2006/relationships/slide" Target="/ppt/slides/slide16.xml" Id="R4931e6f51c254d1e" /><Relationship Type="http://schemas.openxmlformats.org/officeDocument/2006/relationships/slide" Target="/ppt/slides/slide17.xml" Id="R0689cfd2641a4b40" /><Relationship Type="http://schemas.openxmlformats.org/officeDocument/2006/relationships/slide" Target="/ppt/slides/slide18.xml" Id="R76d3323e35a8454c" /><Relationship Type="http://schemas.openxmlformats.org/officeDocument/2006/relationships/slide" Target="/ppt/slides/slide19.xml" Id="Rdcd7020c199d4f03" /><Relationship Type="http://schemas.openxmlformats.org/officeDocument/2006/relationships/slide" Target="/ppt/slides/slide20.xml" Id="R8222b6f6e53449f9" /><Relationship Type="http://schemas.openxmlformats.org/officeDocument/2006/relationships/slide" Target="/ppt/slides/slide21.xml" Id="Rade998476e394784" /><Relationship Type="http://schemas.openxmlformats.org/officeDocument/2006/relationships/slide" Target="/ppt/slides/slide22.xml" Id="R79b9c47d6b234504" /><Relationship Type="http://schemas.openxmlformats.org/officeDocument/2006/relationships/slide" Target="/ppt/slides/slide23.xml" Id="R93fadfbab0fc463c" /><Relationship Type="http://schemas.openxmlformats.org/officeDocument/2006/relationships/slide" Target="/ppt/slides/slide24.xml" Id="R2e294aebdfde4e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81db29488649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21f90396004841" /><Relationship Type="http://schemas.openxmlformats.org/officeDocument/2006/relationships/notesMaster" Target="/ppt/notesMasters/notesMaster1.xml" Id="R25d4ca450a044c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430c7e614a4dd7" /><Relationship Type="http://schemas.openxmlformats.org/officeDocument/2006/relationships/notesMaster" Target="/ppt/notesMasters/notesMaster1.xml" Id="R37927f475de046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45f630cd6b43fd" /><Relationship Type="http://schemas.openxmlformats.org/officeDocument/2006/relationships/notesMaster" Target="/ppt/notesMasters/notesMaster1.xml" Id="R83fdc0cc7f1d42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1288d635644183" /><Relationship Type="http://schemas.openxmlformats.org/officeDocument/2006/relationships/notesMaster" Target="/ppt/notesMasters/notesMaster1.xml" Id="R7a7525ed9acd47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aaffb8749a4d62" /><Relationship Type="http://schemas.openxmlformats.org/officeDocument/2006/relationships/notesMaster" Target="/ppt/notesMasters/notesMaster1.xml" Id="R124e3f9c42494a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3858f418534cfb" /><Relationship Type="http://schemas.openxmlformats.org/officeDocument/2006/relationships/notesMaster" Target="/ppt/notesMasters/notesMaster1.xml" Id="R2662c979437842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4403a7d42f41a3" /><Relationship Type="http://schemas.openxmlformats.org/officeDocument/2006/relationships/notesMaster" Target="/ppt/notesMasters/notesMaster1.xml" Id="R07288529c82e4b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d1dc64bf634eda" /><Relationship Type="http://schemas.openxmlformats.org/officeDocument/2006/relationships/notesMaster" Target="/ppt/notesMasters/notesMaster1.xml" Id="R64090c6c8a2c44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02b372c2b8470c" /><Relationship Type="http://schemas.openxmlformats.org/officeDocument/2006/relationships/notesMaster" Target="/ppt/notesMasters/notesMaster1.xml" Id="Rb74749b5964443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23b4390b614354" /><Relationship Type="http://schemas.openxmlformats.org/officeDocument/2006/relationships/notesMaster" Target="/ppt/notesMasters/notesMaster1.xml" Id="R310e9730f6e34d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2876fe529a4c6f" /><Relationship Type="http://schemas.openxmlformats.org/officeDocument/2006/relationships/notesMaster" Target="/ppt/notesMasters/notesMaster1.xml" Id="R096a97ac1b7745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d50a64c8c149dd" /><Relationship Type="http://schemas.openxmlformats.org/officeDocument/2006/relationships/notesMaster" Target="/ppt/notesMasters/notesMaster1.xml" Id="R5318f5349d5d41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e2905b174a4b3d" /><Relationship Type="http://schemas.openxmlformats.org/officeDocument/2006/relationships/notesMaster" Target="/ppt/notesMasters/notesMaster1.xml" Id="Rf468477191524c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3315778247409d" /><Relationship Type="http://schemas.openxmlformats.org/officeDocument/2006/relationships/notesMaster" Target="/ppt/notesMasters/notesMaster1.xml" Id="Refeb1522d6f1456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c1ca8e6a7141ef" /><Relationship Type="http://schemas.openxmlformats.org/officeDocument/2006/relationships/notesMaster" Target="/ppt/notesMasters/notesMaster1.xml" Id="R5970dce34e5a4ee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e092f859df4da2" /><Relationship Type="http://schemas.openxmlformats.org/officeDocument/2006/relationships/notesMaster" Target="/ppt/notesMasters/notesMaster1.xml" Id="R5f9cb9281b40410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3a8141adb4844eb" /><Relationship Type="http://schemas.openxmlformats.org/officeDocument/2006/relationships/notesMaster" Target="/ppt/notesMasters/notesMaster1.xml" Id="R1004f92e35354d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fb5af3bc1b4a1f" /><Relationship Type="http://schemas.openxmlformats.org/officeDocument/2006/relationships/notesMaster" Target="/ppt/notesMasters/notesMaster1.xml" Id="R3cf69b54e9844d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35af5846d943c2" /><Relationship Type="http://schemas.openxmlformats.org/officeDocument/2006/relationships/notesMaster" Target="/ppt/notesMasters/notesMaster1.xml" Id="Rb62e40f7ccbd4f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bd92246c05d4f6b" /><Relationship Type="http://schemas.openxmlformats.org/officeDocument/2006/relationships/notesMaster" Target="/ppt/notesMasters/notesMaster1.xml" Id="R3f79db42a0564f2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c1e3dae4b64dd6" /><Relationship Type="http://schemas.openxmlformats.org/officeDocument/2006/relationships/notesMaster" Target="/ppt/notesMasters/notesMaster1.xml" Id="R3c1049ba3a97426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c919b0aec6f436b" /><Relationship Type="http://schemas.openxmlformats.org/officeDocument/2006/relationships/notesMaster" Target="/ppt/notesMasters/notesMaster1.xml" Id="R1acf9627b96b4cd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2e7530959a4732" /><Relationship Type="http://schemas.openxmlformats.org/officeDocument/2006/relationships/notesMaster" Target="/ppt/notesMasters/notesMaster1.xml" Id="R28e5dec05bb8414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4d2388fc00a4045" /><Relationship Type="http://schemas.openxmlformats.org/officeDocument/2006/relationships/notesMaster" Target="/ppt/notesMasters/notesMaster1.xml" Id="R4fd6859a1eba4f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I will ask: Three assistants repeat the same unsupported fee. What has been established? I will record the learner’s explanation before showing the answer. Agreement, not the fee; the signed source is still absent.</a:t>
            </a:r>
          </a:p>
          <a:p xmlns:a="http://schemas.openxmlformats.org/drawingml/2006/main">
            <a:r>
              <a:t/>
            </a:r>
          </a:p>
          <a:p xmlns:a="http://schemas.openxmlformats.org/drawingml/2006/main">
            <a:r>
              <a:t>Ask: Three assistants repeat the same unsupported fee. What has been established?</a:t>
            </a:r>
          </a:p>
          <a:p xmlns:a="http://schemas.openxmlformats.org/drawingml/2006/main">
            <a:r>
              <a:t/>
            </a:r>
          </a:p>
          <a:p xmlns:a="http://schemas.openxmlformats.org/drawingml/2006/main">
            <a:r>
              <a:t>Expected answer: Agreement, not the fee; the signed source is still absent.</a:t>
            </a:r>
          </a:p>
          <a:p xmlns:a="http://schemas.openxmlformats.org/drawingml/2006/main">
            <a:r>
              <a:t/>
            </a:r>
          </a:p>
          <a:p xmlns:a="http://schemas.openxmlformats.org/drawingml/2006/main">
            <a:r>
              <a:t>If partly correct: Likely confusion: A paid plan permits client data. I will clarify: Inspect the actual account terms, processing and firm authority separately. Then return to this slide’s question: Three assistants repeat the same unsupported fee. What has been established? A supported answer should establish: Agreement, not the fee; the signed source is still absent.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Recall the reliability test.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Ask without showing the prior result. Agreement, not the fee; the signed source is still absent. Invite a reason, then connect the answer to today’s question.</a:t>
            </a:r>
          </a:p>
          <a:p xmlns:a="http://schemas.openxmlformats.org/drawingml/2006/main">
            <a:r>
              <a:t/>
            </a:r>
          </a:p>
          <a:p xmlns:a="http://schemas.openxmlformats.org/drawingml/2006/main">
            <a:r>
              <a:t>Ask: Three assistants repeat the same unsupported fee. What has been established?</a:t>
            </a:r>
          </a:p>
          <a:p xmlns:a="http://schemas.openxmlformats.org/drawingml/2006/main">
            <a:r>
              <a:t/>
            </a:r>
          </a:p>
          <a:p xmlns:a="http://schemas.openxmlformats.org/drawingml/2006/main">
            <a:r>
              <a:t>Expected answer: Agreement, not the fee; the signed source is still absent.</a:t>
            </a:r>
          </a:p>
          <a:p xmlns:a="http://schemas.openxmlformats.org/drawingml/2006/main">
            <a:r>
              <a:t/>
            </a:r>
          </a:p>
          <a:p xmlns:a="http://schemas.openxmlformats.org/drawingml/2006/main">
            <a:r>
              <a:t>If partly correct: Likely confusion: A citation proves the finding. I will clarify: Read the supporting passage and check its role, edition and qualification. Then return to this slide’s question: Three assistants repeat the same unsupported fee. What has been established? A supported answer should establish: Agreement, not the fee; the signed source is still absent.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same question in different products.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Keep inputs and the task constant. Products can differ in files, search, model, settings and tools. Record what the product actually did.</a:t>
            </a:r>
          </a:p>
          <a:p xmlns:a="http://schemas.openxmlformats.org/drawingml/2006/main">
            <a:r>
              <a:t/>
            </a:r>
          </a:p>
          <a:p xmlns:a="http://schemas.openxmlformats.org/drawingml/2006/main">
            <a:r>
              <a:t>Ask: What must stay the same in a fair comparison?</a:t>
            </a:r>
          </a:p>
          <a:p xmlns:a="http://schemas.openxmlformats.org/drawingml/2006/main">
            <a:r>
              <a:t/>
            </a:r>
          </a:p>
          <a:p xmlns:a="http://schemas.openxmlformats.org/drawingml/2006/main">
            <a:r>
              <a:t>Expected answer: The task, evidence, output criteria and review method.</a:t>
            </a:r>
          </a:p>
          <a:p xmlns:a="http://schemas.openxmlformats.org/drawingml/2006/main">
            <a:r>
              <a:t/>
            </a:r>
          </a:p>
          <a:p xmlns:a="http://schemas.openxmlformats.org/drawingml/2006/main">
            <a:r>
              <a:t>If partly correct: Likely confusion: A better prompt repairs a missing source. I will clarify: Ask which signed document establishes the claim; request it if absent. Then return to this slide’s question: What must stay the same in a fair comparison? A supported answer should establish: The task, evidence, output criteria and review method.</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tool landscape.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Give a short market tour, not a feature catalogue. Names are examples rather than endorsements. Product capabilities, sources and plans change. Use one available tool for the class task.</a:t>
            </a:r>
          </a:p>
          <a:p xmlns:a="http://schemas.openxmlformats.org/drawingml/2006/main">
            <a:r>
              <a:t/>
            </a:r>
          </a:p>
          <a:p xmlns:a="http://schemas.openxmlformats.org/drawingml/2006/main">
            <a:r>
              <a:t>Ask: Does a specialised label guarantee local legal coverage?</a:t>
            </a:r>
          </a:p>
          <a:p xmlns:a="http://schemas.openxmlformats.org/drawingml/2006/main">
            <a:r>
              <a:t/>
            </a:r>
          </a:p>
          <a:p xmlns:a="http://schemas.openxmlformats.org/drawingml/2006/main">
            <a:r>
              <a:t>Expected answer: No. Ask about jurisdiction, source coverage and testing.</a:t>
            </a:r>
          </a:p>
          <a:p xmlns:a="http://schemas.openxmlformats.org/drawingml/2006/main">
            <a:r>
              <a:t/>
            </a:r>
          </a:p>
          <a:p xmlns:a="http://schemas.openxmlformats.org/drawingml/2006/main">
            <a:r>
              <a:t>If partly correct: Likely confusion: A paid plan permits client data. I will clarify: Inspect the actual account terms, processing and firm authority separately. Then return to this slide’s question: Does a specialised label guarantee local legal coverage? A supported answer should establish: No. Ask about jurisdiction, source coverage and testing.</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Before using a real matter.</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https://help.harvey.ai/articles/getting-started-with-harvey https://www.netdocuments.com/solutions/netdocuments-tabular-review/ https://help.alpha-sense.com/hc/en-us/articles/42391092171795-Deep-Research-Conduct-In-Depth-Multi-Step-Research-Autonomously</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Open the chosen product’s official terms. Compare the actual account, not the vendor logo. A paid consumer plan is not automatically an enterprise agreement. No-training, retention and permission are different questions. Use fictional records during class; firm approval for real data is a separate decision.</a:t>
            </a:r>
          </a:p>
          <a:p xmlns:a="http://schemas.openxmlformats.org/drawingml/2006/main">
            <a:r>
              <a:t/>
            </a:r>
          </a:p>
          <a:p xmlns:a="http://schemas.openxmlformats.org/drawingml/2006/main">
            <a:r>
              <a:t>Ask: Does a no-training setting establish that no copy is retained or accessed?</a:t>
            </a:r>
          </a:p>
          <a:p xmlns:a="http://schemas.openxmlformats.org/drawingml/2006/main">
            <a:r>
              <a:t/>
            </a:r>
          </a:p>
          <a:p xmlns:a="http://schemas.openxmlformats.org/drawingml/2006/main">
            <a:r>
              <a:t>Expected answer: No. Inspect retention, access, subprocessors and the relevant contract separately.</a:t>
            </a:r>
          </a:p>
          <a:p xmlns:a="http://schemas.openxmlformats.org/drawingml/2006/main">
            <a:r>
              <a:t/>
            </a:r>
          </a:p>
          <a:p xmlns:a="http://schemas.openxmlformats.org/drawingml/2006/main">
            <a:r>
              <a:t>If partly correct: Likely confusion: A citation proves the finding. I will clarify: Read the supporting passage and check its role, edition and qualification. Then return to this slide’s question: Does a no-training setting establish that no copy is retained or accessed? A supported answer should establish: No. Inspect retention, access, subprocessors and the relevant contract separately.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vague request and a clear brief.</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https://developers.openai.com/api/docs/guides/your-data https://support.claude.com/en/articles/15707726-using-claude-for-legal-work-privilege-confidentiality-and-how-to-think-about-configuration</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Ask what okay means. The second brief defines the work and the review evidence without promising perfect performance.</a:t>
            </a:r>
          </a:p>
          <a:p xmlns:a="http://schemas.openxmlformats.org/drawingml/2006/main">
            <a:r>
              <a:t/>
            </a:r>
          </a:p>
          <a:p xmlns:a="http://schemas.openxmlformats.org/drawingml/2006/main">
            <a:r>
              <a:t>Ask: Which part tells us how to judge the result?</a:t>
            </a:r>
          </a:p>
          <a:p xmlns:a="http://schemas.openxmlformats.org/drawingml/2006/main">
            <a:r>
              <a:t/>
            </a:r>
          </a:p>
          <a:p xmlns:a="http://schemas.openxmlformats.org/drawingml/2006/main">
            <a:r>
              <a:t>Expected answer: The comparison criteria and source requirements.</a:t>
            </a:r>
          </a:p>
          <a:p xmlns:a="http://schemas.openxmlformats.org/drawingml/2006/main">
            <a:r>
              <a:t/>
            </a:r>
          </a:p>
          <a:p xmlns:a="http://schemas.openxmlformats.org/drawingml/2006/main">
            <a:r>
              <a:t>If partly correct: Likely confusion: A better prompt repairs a missing source. I will clarify: Ask which signed document establishes the claim; request it if absent. Then return to this slide’s question: Which part tells us how to judge the result? A supported answer should establish: The comparison criteria and source requirements.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professional task brief.</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Use the analogy of briefing a junior colleague. AI does not have the same understanding, accountability or self-awareness as an employee. The brief supports checking rather than delegating accountability.</a:t>
            </a:r>
          </a:p>
          <a:p xmlns:a="http://schemas.openxmlformats.org/drawingml/2006/main">
            <a:r>
              <a:t/>
            </a:r>
          </a:p>
          <a:p xmlns:a="http://schemas.openxmlformats.org/drawingml/2006/main">
            <a:r>
              <a:t>Ask: What would you tell a junior before this task?</a:t>
            </a:r>
          </a:p>
          <a:p xmlns:a="http://schemas.openxmlformats.org/drawingml/2006/main">
            <a:r>
              <a:t/>
            </a:r>
          </a:p>
          <a:p xmlns:a="http://schemas.openxmlformats.org/drawingml/2006/main">
            <a:r>
              <a:t>Expected answer: What decision the work supports, which sources apply, what to produce and when to ask for help.</a:t>
            </a:r>
          </a:p>
          <a:p xmlns:a="http://schemas.openxmlformats.org/drawingml/2006/main">
            <a:r>
              <a:t/>
            </a:r>
          </a:p>
          <a:p xmlns:a="http://schemas.openxmlformats.org/drawingml/2006/main">
            <a:r>
              <a:t>If partly correct: Likely confusion: A paid plan permits client data. I will clarify: Inspect the actual account terms, processing and firm authority separately. Then return to this slide’s question: What would you tell a junior before this task? A supported answer should establish: What decision the work supports, which sources apply, what to produce and when to ask for help.</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An instruction we can reuse.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Open Review Instruction.txt. Read the full instruction once, then ask the learner to improve one acceptance criterion. Do not sell a prompt as a universal solution.</a:t>
            </a:r>
          </a:p>
          <a:p xmlns:a="http://schemas.openxmlformats.org/drawingml/2006/main">
            <a:r>
              <a:t/>
            </a:r>
          </a:p>
          <a:p xmlns:a="http://schemas.openxmlformats.org/drawingml/2006/main">
            <a:r>
              <a:t>Ask: What should happen if the source is silent?</a:t>
            </a:r>
          </a:p>
          <a:p xmlns:a="http://schemas.openxmlformats.org/drawingml/2006/main">
            <a:r>
              <a:t/>
            </a:r>
          </a:p>
          <a:p xmlns:a="http://schemas.openxmlformats.org/drawingml/2006/main">
            <a:r>
              <a:t>Expected answer: The answer should say the source does not establish the point.</a:t>
            </a:r>
          </a:p>
          <a:p xmlns:a="http://schemas.openxmlformats.org/drawingml/2006/main">
            <a:r>
              <a:t/>
            </a:r>
          </a:p>
          <a:p xmlns:a="http://schemas.openxmlformats.org/drawingml/2006/main">
            <a:r>
              <a:t>If partly correct: Likely confusion: A citation proves the finding. I will clarify: Read the supporting passage and check its role, edition and qualification. Then return to this slide’s question: What should happen if the source is silent? A supported answer should establish: The answer should say the source does not establish the point.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Traceability for a finding.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Every factual claim needs the appropriate kind of source. A document supports the clause wording, while client evidence supports transaction facts.</a:t>
            </a:r>
          </a:p>
          <a:p xmlns:a="http://schemas.openxmlformats.org/drawingml/2006/main">
            <a:r>
              <a:t/>
            </a:r>
          </a:p>
          <a:p xmlns:a="http://schemas.openxmlformats.org/drawingml/2006/main">
            <a:r>
              <a:t>Ask: Can the contract establish the actual ownership structure?</a:t>
            </a:r>
          </a:p>
          <a:p xmlns:a="http://schemas.openxmlformats.org/drawingml/2006/main">
            <a:r>
              <a:t/>
            </a:r>
          </a:p>
          <a:p xmlns:a="http://schemas.openxmlformats.org/drawingml/2006/main">
            <a:r>
              <a:t>Expected answer: No. That requires transaction evidence.</a:t>
            </a:r>
          </a:p>
          <a:p xmlns:a="http://schemas.openxmlformats.org/drawingml/2006/main">
            <a:r>
              <a:t/>
            </a:r>
          </a:p>
          <a:p xmlns:a="http://schemas.openxmlformats.org/drawingml/2006/main">
            <a:r>
              <a:t>If partly correct: Likely confusion: A better prompt repairs a missing source. I will clarify: Ask which signed document establishes the claim; request it if absent. Then return to this slide’s question: Can the contract establish the actual ownership structure? A supported answer should establish: No. That requires transaction evidence.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citation and its supporting passage.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Draw a line from the claim to the exact passage and document version. Verify that the passage supports the proposition and includes the exception. A real citation can still be irrelevant.</a:t>
            </a:r>
          </a:p>
          <a:p xmlns:a="http://schemas.openxmlformats.org/drawingml/2006/main">
            <a:r>
              <a:t/>
            </a:r>
          </a:p>
          <a:p xmlns:a="http://schemas.openxmlformats.org/drawingml/2006/main">
            <a:r>
              <a:t>Ask: What checks go beyond opening the link?</a:t>
            </a:r>
          </a:p>
          <a:p xmlns:a="http://schemas.openxmlformats.org/drawingml/2006/main">
            <a:r>
              <a:t/>
            </a:r>
          </a:p>
          <a:p xmlns:a="http://schemas.openxmlformats.org/drawingml/2006/main">
            <a:r>
              <a:t>Expected answer: Read the passage, identify the version and assess its applicability.</a:t>
            </a:r>
          </a:p>
          <a:p xmlns:a="http://schemas.openxmlformats.org/drawingml/2006/main">
            <a:r>
              <a:t/>
            </a:r>
          </a:p>
          <a:p xmlns:a="http://schemas.openxmlformats.org/drawingml/2006/main">
            <a:r>
              <a:t>If partly correct: Likely confusion: A paid plan permits client data. I will clarify: Inspect the actual account terms, processing and firm authority separately. Then return to this slide’s question: What checks go beyond opening the link? A supported answer should establish: Read the passage, identify the version and assess its applicability.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instruction and review cycle.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2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Use Variant A: an unrelated buyer acquires control of the provider by a share sale. This is not a reorganisation within a wholly owned group. Clause 3 therefore requires the customer’s prior written consent. Compare the answer with the original incomplete facts; keep assignment for a different test.</a:t>
            </a:r>
          </a:p>
          <a:p xmlns:a="http://schemas.openxmlformats.org/drawingml/2006/main">
            <a:r>
              <a:t/>
            </a:r>
          </a:p>
          <a:p xmlns:a="http://schemas.openxmlformats.org/drawingml/2006/main">
            <a:r>
              <a:t>Ask: Does Variant A fall within the group exception?</a:t>
            </a:r>
          </a:p>
          <a:p xmlns:a="http://schemas.openxmlformats.org/drawingml/2006/main">
            <a:r>
              <a:t/>
            </a:r>
          </a:p>
          <a:p xmlns:a="http://schemas.openxmlformats.org/drawingml/2006/main">
            <a:r>
              <a:t>Expected answer: No. On the stated share-sale facts the exception does not apply and prior written customer consent is required.</a:t>
            </a:r>
          </a:p>
          <a:p xmlns:a="http://schemas.openxmlformats.org/drawingml/2006/main">
            <a:r>
              <a:t/>
            </a:r>
          </a:p>
          <a:p xmlns:a="http://schemas.openxmlformats.org/drawingml/2006/main">
            <a:r>
              <a:t>If partly correct: Likely confusion: A citation proves the finding. I will clarify: Read the supporting passage and check its role, edition and qualification. Then return to this slide’s question: Does Variant A fall within the group exception? A supported answer should establish: No. On the stated share-sale facts the exception does not apply and prior written customer consent is required.</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Human review begins here.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Human involvement must specify the person, evidence, decision and ability to reject. A general instruction to be careful is too vague. We return to workflow implementation in Session 9.</a:t>
            </a:r>
          </a:p>
          <a:p xmlns:a="http://schemas.openxmlformats.org/drawingml/2006/main">
            <a:r>
              <a:t/>
            </a:r>
          </a:p>
          <a:p xmlns:a="http://schemas.openxmlformats.org/drawingml/2006/main">
            <a:r>
              <a:t>Ask: What exactly is the reviewer deciding?</a:t>
            </a:r>
          </a:p>
          <a:p xmlns:a="http://schemas.openxmlformats.org/drawingml/2006/main">
            <a:r>
              <a:t/>
            </a:r>
          </a:p>
          <a:p xmlns:a="http://schemas.openxmlformats.org/drawingml/2006/main">
            <a:r>
              <a:t>Expected answer: Whether the draft is supported and appropriate for the intended use.</a:t>
            </a:r>
          </a:p>
          <a:p xmlns:a="http://schemas.openxmlformats.org/drawingml/2006/main">
            <a:r>
              <a:t/>
            </a:r>
          </a:p>
          <a:p xmlns:a="http://schemas.openxmlformats.org/drawingml/2006/main">
            <a:r>
              <a:t>If partly correct: Likely confusion: A better prompt repairs a missing source. I will clarify: Ask which signed document establishes the claim; request it if absent. Then return to this slide’s question: What exactly is the reviewer deciding? A supported answer should establish: Whether the draft is supported and appropriate for the intended use.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Catching generic AI writing.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Remove unsupported praise and replace it with the actual issue. Check whether confident tone hides a missing fact.</a:t>
            </a:r>
          </a:p>
          <a:p xmlns:a="http://schemas.openxmlformats.org/drawingml/2006/main">
            <a:r>
              <a:t/>
            </a:r>
          </a:p>
          <a:p xmlns:a="http://schemas.openxmlformats.org/drawingml/2006/main">
            <a:r>
              <a:t>Ask: Which sentence helps a client act?</a:t>
            </a:r>
          </a:p>
          <a:p xmlns:a="http://schemas.openxmlformats.org/drawingml/2006/main">
            <a:r>
              <a:t/>
            </a:r>
          </a:p>
          <a:p xmlns:a="http://schemas.openxmlformats.org/drawingml/2006/main">
            <a:r>
              <a:t>Expected answer: The one identifying the source-based issue and the evidence still needed.</a:t>
            </a:r>
          </a:p>
          <a:p xmlns:a="http://schemas.openxmlformats.org/drawingml/2006/main">
            <a:r>
              <a:t/>
            </a:r>
          </a:p>
          <a:p xmlns:a="http://schemas.openxmlformats.org/drawingml/2006/main">
            <a:r>
              <a:t>If partly correct: Likely confusion: A paid plan permits client data. I will clarify: Inspect the actual account terms, processing and firm authority separately. Then return to this slide’s question: Which sentence helps a client act? A supported answer should establish: The one identifying the source-based issue and the evidence still needed.</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small evaluation.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Use Evaluation Rubric.txt: score source, completeness, uncertainty and usefulness 0–2 each. Any restricted disclosure, invented material term or lost operative exception fails regardless of total. A 6/8 result is not sufficient if a critical error remains. Retain actual responses for comparison.</a:t>
            </a:r>
          </a:p>
          <a:p xmlns:a="http://schemas.openxmlformats.org/drawingml/2006/main">
            <a:r>
              <a:t/>
            </a:r>
          </a:p>
          <a:p xmlns:a="http://schemas.openxmlformats.org/drawingml/2006/main">
            <a:r>
              <a:t>Ask: What would make this result unacceptable?</a:t>
            </a:r>
          </a:p>
          <a:p xmlns:a="http://schemas.openxmlformats.org/drawingml/2006/main">
            <a:r>
              <a:t/>
            </a:r>
          </a:p>
          <a:p xmlns:a="http://schemas.openxmlformats.org/drawingml/2006/main">
            <a:r>
              <a:t>Expected answer: Wrong source version, lost exception or invented fact.</a:t>
            </a:r>
          </a:p>
          <a:p xmlns:a="http://schemas.openxmlformats.org/drawingml/2006/main">
            <a:r>
              <a:t/>
            </a:r>
          </a:p>
          <a:p xmlns:a="http://schemas.openxmlformats.org/drawingml/2006/main">
            <a:r>
              <a:t>If partly correct: Likely confusion: A citation proves the finding. I will clarify: Read the supporting passage and check its role, edition and qualification. Then return to this slide’s question: What would make this result unacceptable? A supported answer should establish: Wrong source version, lost exception or invented fact.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Questions for a vendor.</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Treat the sales demonstration as a hypothesis. Ask the vendor to run a task on a permitted test set with acceptance conditions. Distinguish a product feature from what this account has enabled.</a:t>
            </a:r>
          </a:p>
          <a:p xmlns:a="http://schemas.openxmlformats.org/drawingml/2006/main">
            <a:r>
              <a:t/>
            </a:r>
          </a:p>
          <a:p xmlns:a="http://schemas.openxmlformats.org/drawingml/2006/main">
            <a:r>
              <a:t>Ask: What would you request after a convincing sales demo?</a:t>
            </a:r>
          </a:p>
          <a:p xmlns:a="http://schemas.openxmlformats.org/drawingml/2006/main">
            <a:r>
              <a:t/>
            </a:r>
          </a:p>
          <a:p xmlns:a="http://schemas.openxmlformats.org/drawingml/2006/main">
            <a:r>
              <a:t>Expected answer: A controlled pilot on permitted representative cases, with agreed tests and a documented data review.</a:t>
            </a:r>
          </a:p>
          <a:p xmlns:a="http://schemas.openxmlformats.org/drawingml/2006/main">
            <a:r>
              <a:t/>
            </a:r>
          </a:p>
          <a:p xmlns:a="http://schemas.openxmlformats.org/drawingml/2006/main">
            <a:r>
              <a:t>If partly correct: Likely confusion: A better prompt repairs a missing source. I will clarify: Ask which signed document establishes the claim; request it if absent. Then return to this slide’s question: What would you request after a convincing sales demo? A supported answer should establish: A controlled pilot on permitted representative cases, with agreed tests and a documented data review.</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Our in-class work.</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https://airc.nist.gov/airmf-resources/airmf/5-sec-core/</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Use the run-sheet. I demonstrate the first example; the learner predicts, chooses evidence and checks the changed example. Save actual outputs or mark the step unexecuted.</a:t>
            </a:r>
          </a:p>
          <a:p xmlns:a="http://schemas.openxmlformats.org/drawingml/2006/main">
            <a:r>
              <a:t/>
            </a:r>
          </a:p>
          <a:p xmlns:a="http://schemas.openxmlformats.org/drawingml/2006/main">
            <a:r>
              <a:t>Ask: Before we begin: Inspect the actual account type and record unanswered data-use questions without entering client data.</a:t>
            </a:r>
          </a:p>
          <a:p xmlns:a="http://schemas.openxmlformats.org/drawingml/2006/main">
            <a:r>
              <a:t/>
            </a:r>
          </a:p>
          <a:p xmlns:a="http://schemas.openxmlformats.org/drawingml/2006/main">
            <a:r>
              <a:t>Expected answer: For Variant A, the wholly-owned-group exception does not apply and clause 3 requires prior written customer consent. A useful brief specifies sources, task, output, gaps and review. Data terms require account-specific inspection.</a:t>
            </a:r>
          </a:p>
          <a:p xmlns:a="http://schemas.openxmlformats.org/drawingml/2006/main">
            <a:r>
              <a:t/>
            </a:r>
          </a:p>
          <a:p xmlns:a="http://schemas.openxmlformats.org/drawingml/2006/main">
            <a:r>
              <a:t>If partly correct: Likely confusion: A paid plan permits client data. I will clarify: Inspect the actual account terms, processing and firm authority separately. Then return to this slide’s question: Before we begin: Inspect the actual account type and record unanswered data-use questions without entering client data. A supported answer should establish: For Variant A, the wholly-owned-group exception does not apply and clause 3 requires prior written customer consent. A useful brief specifies sources, task, output, gaps and review. Data terms require account-specific inspection.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What we can conclude.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Have the learner explain the conclusion before I summarise it. Compare the actual result with the model answer and preserve unresolved questions.</a:t>
            </a:r>
          </a:p>
          <a:p xmlns:a="http://schemas.openxmlformats.org/drawingml/2006/main">
            <a:r>
              <a:t/>
            </a:r>
          </a:p>
          <a:p xmlns:a="http://schemas.openxmlformats.org/drawingml/2006/main">
            <a:r>
              <a:t>Ask: Which part of today’s result remains unverified?</a:t>
            </a:r>
          </a:p>
          <a:p xmlns:a="http://schemas.openxmlformats.org/drawingml/2006/main">
            <a:r>
              <a:t/>
            </a:r>
          </a:p>
          <a:p xmlns:a="http://schemas.openxmlformats.org/drawingml/2006/main">
            <a:r>
              <a:t>Expected answer: A tiny class comparison does not rank providers or authorise use of a real client matter.</a:t>
            </a:r>
          </a:p>
          <a:p xmlns:a="http://schemas.openxmlformats.org/drawingml/2006/main">
            <a:r>
              <a:t/>
            </a:r>
          </a:p>
          <a:p xmlns:a="http://schemas.openxmlformats.org/drawingml/2006/main">
            <a:r>
              <a:t>If partly correct: Likely confusion: A citation proves the finding. I will clarify: Read the supporting passage and check its role, edition and qualification. Then return to this slide’s question: Which part of today’s result remains unverified? A supported answer should establish: A tiny class comparison does not rank providers or authorise use of a real client matter.</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firm decision.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Record a proposed owner and one condition before proceeding. This is a class decision record, not firm authorisation.</a:t>
            </a:r>
          </a:p>
          <a:p xmlns:a="http://schemas.openxmlformats.org/drawingml/2006/main">
            <a:r>
              <a:t/>
            </a:r>
          </a:p>
          <a:p xmlns:a="http://schemas.openxmlformats.org/drawingml/2006/main">
            <a:r>
              <a:t>Ask: What evidence would change this proposed decision?</a:t>
            </a:r>
          </a:p>
          <a:p xmlns:a="http://schemas.openxmlformats.org/drawingml/2006/main">
            <a:r>
              <a:t/>
            </a:r>
          </a:p>
          <a:p xmlns:a="http://schemas.openxmlformats.org/drawingml/2006/main">
            <a:r>
              <a:t>Expected answer: Evaluate one available tool on a permitted task before selecting a subscription or integration. Revisit if the evidence, quality or permitted scope changes.</a:t>
            </a:r>
          </a:p>
          <a:p xmlns:a="http://schemas.openxmlformats.org/drawingml/2006/main">
            <a:r>
              <a:t/>
            </a:r>
          </a:p>
          <a:p xmlns:a="http://schemas.openxmlformats.org/drawingml/2006/main">
            <a:r>
              <a:t>If partly correct: Likely confusion: A better prompt repairs a missing source. I will clarify: Ask which signed document establishes the claim; request it if absent. Then return to this slide’s question: What evidence would change this proposed decision? A supported answer should establish: Evaluate one available tool on a permitted task before selecting a subscription or integration. Revisit if the evidence, quality or permitted scope changes.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Check understanding.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Ask these changed-fact questions before opening the answer key. The stipulated share sale is outside the group exception, so prior written customer consent is required. Price does not settle permission. Check the exact passage, authority, version and fit.</a:t>
            </a:r>
          </a:p>
          <a:p xmlns:a="http://schemas.openxmlformats.org/drawingml/2006/main">
            <a:r>
              <a:t/>
            </a:r>
          </a:p>
          <a:p xmlns:a="http://schemas.openxmlformats.org/drawingml/2006/main">
            <a:r>
              <a:t>Ask: Variant A: share sale</a:t>
            </a:r>
          </a:p>
          <a:p xmlns:a="http://schemas.openxmlformats.org/drawingml/2006/main">
            <a:r>
              <a:t/>
            </a:r>
          </a:p>
          <a:p xmlns:a="http://schemas.openxmlformats.org/drawingml/2006/main">
            <a:r>
              <a:t>Expected answer: The stipulated share sale is outside the group exception, so prior written customer consent is required. Price does not settle permission. Check the exact passage, authority, version and fit.</a:t>
            </a:r>
          </a:p>
          <a:p xmlns:a="http://schemas.openxmlformats.org/drawingml/2006/main">
            <a:r>
              <a:t/>
            </a:r>
          </a:p>
          <a:p xmlns:a="http://schemas.openxmlformats.org/drawingml/2006/main">
            <a:r>
              <a:t>If partly correct: Likely confusion: A paid plan permits client data. I will clarify: Inspect the actual account terms, processing and firm authority separately. Then return to this slide’s question: Variant A: share sale A supported answer should establish: The stipulated share sale is outside the group exception, so prior written customer consent is required. Price does not settle permission. Check the exact passage, authority, version and fit.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Session 5: Preparing the firm’s information.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Show official product material only if access is unavailable. Identify it as a vendor demonstration rather than a live class run. Ask which source collection the feature uses.</a:t>
            </a:r>
          </a:p>
          <a:p xmlns:a="http://schemas.openxmlformats.org/drawingml/2006/main">
            <a:r>
              <a:t/>
            </a:r>
          </a:p>
          <a:p xmlns:a="http://schemas.openxmlformats.org/drawingml/2006/main">
            <a:r>
              <a:t>Ask: What should the partner verify before purchase?</a:t>
            </a:r>
          </a:p>
          <a:p xmlns:a="http://schemas.openxmlformats.org/drawingml/2006/main">
            <a:r>
              <a:t/>
            </a:r>
          </a:p>
          <a:p xmlns:a="http://schemas.openxmlformats.org/drawingml/2006/main">
            <a:r>
              <a:t>Expected answer: Coverage, permissions, output quality, integration, support and total cost.</a:t>
            </a:r>
          </a:p>
          <a:p xmlns:a="http://schemas.openxmlformats.org/drawingml/2006/main">
            <a:r>
              <a:t/>
            </a:r>
          </a:p>
          <a:p xmlns:a="http://schemas.openxmlformats.org/drawingml/2006/main">
            <a:r>
              <a:t>If partly correct: Likely confusion: A citation proves the finding. I will clarify: Read the supporting passage and check its role, edition and qualification. Then return to this slide’s question: What should the partner verify before purchase? A supported answer should establish: Coverage, permissions, output quality, integration, support and total cost.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https://help.harvey.ai/articles/getting-started-with-harvey https://www.netdocuments.com/solutions/netdocuments-tabular-review/</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Use NetDocuments as a real market example. The firm need not use that system for the lesson to apply. We explore the mechanism in Sessions 5 and 6.</a:t>
            </a:r>
          </a:p>
          <a:p xmlns:a="http://schemas.openxmlformats.org/drawingml/2006/main">
            <a:r>
              <a:t/>
            </a:r>
          </a:p>
          <a:p xmlns:a="http://schemas.openxmlformats.org/drawingml/2006/main">
            <a:r>
              <a:t>Ask: What is the source of truth?</a:t>
            </a:r>
          </a:p>
          <a:p xmlns:a="http://schemas.openxmlformats.org/drawingml/2006/main">
            <a:r>
              <a:t/>
            </a:r>
          </a:p>
          <a:p xmlns:a="http://schemas.openxmlformats.org/drawingml/2006/main">
            <a:r>
              <a:t>Expected answer: The authoritative document and applicable facts, not the generated summary.</a:t>
            </a:r>
          </a:p>
          <a:p xmlns:a="http://schemas.openxmlformats.org/drawingml/2006/main">
            <a:r>
              <a:t/>
            </a:r>
          </a:p>
          <a:p xmlns:a="http://schemas.openxmlformats.org/drawingml/2006/main">
            <a:r>
              <a:t>If partly correct: Likely confusion: A better prompt repairs a missing source. I will clarify: Ask which signed document establishes the claim; request it if absent. Then return to this slide’s question: What is the source of truth? A supported answer should establish: The authoritative document and applicable facts, not the generated summary.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https://www.netdocuments.com/en-gb/solutions/ai-search/</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Keep the demonstration brief. A long report and many citations do not establish quality. This extends our evidence-checking method rather than introducing another fictional case.</a:t>
            </a:r>
          </a:p>
          <a:p xmlns:a="http://schemas.openxmlformats.org/drawingml/2006/main">
            <a:r>
              <a:t/>
            </a:r>
          </a:p>
          <a:p xmlns:a="http://schemas.openxmlformats.org/drawingml/2006/main">
            <a:r>
              <a:t>Ask: Would one hundred citations prove the conclusion?</a:t>
            </a:r>
          </a:p>
          <a:p xmlns:a="http://schemas.openxmlformats.org/drawingml/2006/main">
            <a:r>
              <a:t/>
            </a:r>
          </a:p>
          <a:p xmlns:a="http://schemas.openxmlformats.org/drawingml/2006/main">
            <a:r>
              <a:t>Expected answer: No. Check coverage, authority and whether passages support the claims.</a:t>
            </a:r>
          </a:p>
          <a:p xmlns:a="http://schemas.openxmlformats.org/drawingml/2006/main">
            <a:r>
              <a:t/>
            </a:r>
          </a:p>
          <a:p xmlns:a="http://schemas.openxmlformats.org/drawingml/2006/main">
            <a:r>
              <a:t>If partly correct: Likely confusion: A paid plan permits client data. I will clarify: Inspect the actual account terms, processing and firm authority separately. Then return to this slide’s question: Would one hundred citations prove the conclusion? A supported answer should establish: No. Check coverage, authority and whether passages support the claims.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https://help.alpha-sense.com/hc/en-us/articles/42391092171795-Deep-Research-Conduct-In-Depth-Multi-Step-Research-Autonomously</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These are proposed designs for discussion, not claims that a specific deployed product already does them. The recurring demonstration remains the legal and tax matter.</a:t>
            </a:r>
          </a:p>
          <a:p xmlns:a="http://schemas.openxmlformats.org/drawingml/2006/main">
            <a:r>
              <a:t/>
            </a:r>
          </a:p>
          <a:p xmlns:a="http://schemas.openxmlformats.org/drawingml/2006/main">
            <a:r>
              <a:t>Ask: Which ideas share the same underlying mechanism?</a:t>
            </a:r>
          </a:p>
          <a:p xmlns:a="http://schemas.openxmlformats.org/drawingml/2006/main">
            <a:r>
              <a:t/>
            </a:r>
          </a:p>
          <a:p xmlns:a="http://schemas.openxmlformats.org/drawingml/2006/main">
            <a:r>
              <a:t>Expected answer: Retrieval, extraction, classification, generation and review recur across sectors.</a:t>
            </a:r>
          </a:p>
          <a:p xmlns:a="http://schemas.openxmlformats.org/drawingml/2006/main">
            <a:r>
              <a:t/>
            </a:r>
          </a:p>
          <a:p xmlns:a="http://schemas.openxmlformats.org/drawingml/2006/main">
            <a:r>
              <a:t>If partly correct: Likely confusion: A citation proves the finding. I will clarify: Read the supporting passage and check its role, edition and qualification. Then return to this slide’s question: Which ideas share the same underlying mechanism? A supported answer should establish: Retrieval, extraction, classification, generation and review recur across sectors.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https://www.itu.int/epublications/publication/itu-t-tr-genai-telecom-2025-03-potential-requirements-and-methodology-for-deploying-and-assessing-generative-ai-models-in-telecom-networks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select a tool, brief it clearly and verify a useful result?</a:t>
            </a:r>
          </a:p>
          <a:p xmlns:a="http://schemas.openxmlformats.org/drawingml/2006/main">
            <a:r>
              <a:t/>
            </a:r>
          </a:p>
          <a:p xmlns:a="http://schemas.openxmlformats.org/drawingml/2006/main">
            <a:r>
              <a:t>I will explain: Give an example row with a source quote and unknown fact. Explain that a correctly formatted answer can contain incorrect content. Session 5 introduces JSON as named fields and values; Session 9 uses the same structure in a tool request.</a:t>
            </a:r>
          </a:p>
          <a:p xmlns:a="http://schemas.openxmlformats.org/drawingml/2006/main">
            <a:r>
              <a:t/>
            </a:r>
          </a:p>
          <a:p xmlns:a="http://schemas.openxmlformats.org/drawingml/2006/main">
            <a:r>
              <a:t>Ask: Does a filled table mean a completed review?</a:t>
            </a:r>
          </a:p>
          <a:p xmlns:a="http://schemas.openxmlformats.org/drawingml/2006/main">
            <a:r>
              <a:t/>
            </a:r>
          </a:p>
          <a:p xmlns:a="http://schemas.openxmlformats.org/drawingml/2006/main">
            <a:r>
              <a:t>Expected answer: No. The source and legal interpretation still need checking.</a:t>
            </a:r>
          </a:p>
          <a:p xmlns:a="http://schemas.openxmlformats.org/drawingml/2006/main">
            <a:r>
              <a:t/>
            </a:r>
          </a:p>
          <a:p xmlns:a="http://schemas.openxmlformats.org/drawingml/2006/main">
            <a:r>
              <a:t>If partly correct: Likely confusion: A better prompt repairs a missing source. I will clarify: Ask which signed document establishes the claim; request it if absent. Then return to this slide’s question: Does a filled table mean a completed review? A supported answer should establish: No. The source and legal interpretation still need checking.</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117323e2ec43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0d3aee5c284c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306f7ad17141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a3b24b55b84b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0cb41a40e247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bf454d36e245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DEBDBF-0293-4209-B57E-8F5E490CF1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945BC0-2B97-4C03-B0C4-E61D2C402A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FE03A83-0F0F-407C-A876-3562772590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4AA103-B73F-44CB-8F0F-CB43EA27F0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F02EE2-DFB5-49DD-ACBB-0D553EAD20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C67FB1-E119-4FEA-8DCA-025E973645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2F0040-4822-4DD2-A677-7F73EEC175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3A67A4-E16E-4A8C-80DF-DB268B61FE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9083C1-AF2F-4197-95AA-F690228B81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FCE9BF-548B-48AC-BA7B-CF66DDC35F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1d5fe5e973487f" /><Relationship Type="http://schemas.openxmlformats.org/officeDocument/2006/relationships/slideLayout" Target="/ppt/slideLayouts/slideLayout1.xml" Id="R962d66dfdea24b91" /><Relationship Type="http://schemas.openxmlformats.org/officeDocument/2006/relationships/slideLayout" Target="/ppt/slideLayouts/slideLayout2.xml" Id="Rf1e5fd98c08c486f" /><Relationship Type="http://schemas.openxmlformats.org/officeDocument/2006/relationships/slideLayout" Target="/ppt/slideLayouts/slideLayout3.xml" Id="R3b16092743e8405b" /><Relationship Type="http://schemas.openxmlformats.org/officeDocument/2006/relationships/slideLayout" Target="/ppt/slideLayouts/slideLayout4.xml" Id="R6b13c9f4f7704003" /><Relationship Type="http://schemas.openxmlformats.org/officeDocument/2006/relationships/slideLayout" Target="/ppt/slideLayouts/slideLayout5.xml" Id="Ree5942c50a264e28" /><Relationship Type="http://schemas.openxmlformats.org/officeDocument/2006/relationships/slideLayout" Target="/ppt/slideLayouts/slideLayout6.xml" Id="R8a2fecbedb8946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2d66dfdea24b91"/>
    <p:sldLayoutId xmlns:r="http://schemas.openxmlformats.org/officeDocument/2006/relationships" id="2147483650" r:id="Rf1e5fd98c08c486f"/>
    <p:sldLayoutId xmlns:r="http://schemas.openxmlformats.org/officeDocument/2006/relationships" id="2147483651" r:id="R3b16092743e8405b"/>
    <p:sldLayoutId xmlns:r="http://schemas.openxmlformats.org/officeDocument/2006/relationships" id="2147483652" r:id="R6b13c9f4f7704003"/>
    <p:sldLayoutId xmlns:r="http://schemas.openxmlformats.org/officeDocument/2006/relationships" id="2147483653" r:id="Ree5942c50a264e28"/>
    <p:sldLayoutId xmlns:r="http://schemas.openxmlformats.org/officeDocument/2006/relationships" id="2147483654" r:id="R8a2fecbedb8946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b1043328a944b2" /><Relationship Type="http://schemas.openxmlformats.org/officeDocument/2006/relationships/notesSlide" Target="/ppt/notesSlides/notesSlide1.xml" Id="R5f99680c8e9643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8cb8a5bf76f44e7" /><Relationship Type="http://schemas.openxmlformats.org/officeDocument/2006/relationships/notesSlide" Target="/ppt/notesSlides/notesSlide2.xml" Id="R890a48612d5844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97112e027624dba" /><Relationship Type="http://schemas.openxmlformats.org/officeDocument/2006/relationships/notesSlide" Target="/ppt/notesSlides/notesSlide3.xml" Id="Rf5bfd85c0fc04c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cec3cef57024403" /><Relationship Type="http://schemas.openxmlformats.org/officeDocument/2006/relationships/notesSlide" Target="/ppt/notesSlides/notesSlide4.xml" Id="Ref6802a147d445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aa0ad2fd3e45e9" /><Relationship Type="http://schemas.openxmlformats.org/officeDocument/2006/relationships/notesSlide" Target="/ppt/notesSlides/notesSlide5.xml" Id="R4ad5e2a585354a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b64b64f10f845ee" /><Relationship Type="http://schemas.openxmlformats.org/officeDocument/2006/relationships/notesSlide" Target="/ppt/notesSlides/notesSlide6.xml" Id="R2fd0ee8d039c43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e94b5c031f4fe3" /><Relationship Type="http://schemas.openxmlformats.org/officeDocument/2006/relationships/notesSlide" Target="/ppt/notesSlides/notesSlide7.xml" Id="Rdc03cd28d4c245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60aa40028354b1c" /><Relationship Type="http://schemas.openxmlformats.org/officeDocument/2006/relationships/notesSlide" Target="/ppt/notesSlides/notesSlide8.xml" Id="R3d9b0280a89c44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b23cfeb763487e" /><Relationship Type="http://schemas.openxmlformats.org/officeDocument/2006/relationships/notesSlide" Target="/ppt/notesSlides/notesSlide9.xml" Id="R9ea54b10443b4b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b860ba8ffda4b91" /><Relationship Type="http://schemas.openxmlformats.org/officeDocument/2006/relationships/notesSlide" Target="/ppt/notesSlides/notesSlide10.xml" Id="Rf8c8c593162746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7ac788029654a92" /><Relationship Type="http://schemas.openxmlformats.org/officeDocument/2006/relationships/notesSlide" Target="/ppt/notesSlides/notesSlide11.xml" Id="Ree8d2011c16143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cf58eb199404a3a" /><Relationship Type="http://schemas.openxmlformats.org/officeDocument/2006/relationships/notesSlide" Target="/ppt/notesSlides/notesSlide12.xml" Id="R731d63a1c53542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2e1b879e174378" /><Relationship Type="http://schemas.openxmlformats.org/officeDocument/2006/relationships/notesSlide" Target="/ppt/notesSlides/notesSlide13.xml" Id="R8891dc97df5d44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a445d2a64c4531" /><Relationship Type="http://schemas.openxmlformats.org/officeDocument/2006/relationships/notesSlide" Target="/ppt/notesSlides/notesSlide14.xml" Id="R6309fcac71bc45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19997feaa624dd5" /><Relationship Type="http://schemas.openxmlformats.org/officeDocument/2006/relationships/notesSlide" Target="/ppt/notesSlides/notesSlide15.xml" Id="R89faa5ea991743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b23f3c4a53f44d3" /><Relationship Type="http://schemas.openxmlformats.org/officeDocument/2006/relationships/notesSlide" Target="/ppt/notesSlides/notesSlide16.xml" Id="R484e2922b1444e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eb549f20ac144f3" /><Relationship Type="http://schemas.openxmlformats.org/officeDocument/2006/relationships/notesSlide" Target="/ppt/notesSlides/notesSlide17.xml" Id="R0a9b3d6dc08d43c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cbeefb1ca0e4ded" /><Relationship Type="http://schemas.openxmlformats.org/officeDocument/2006/relationships/notesSlide" Target="/ppt/notesSlides/notesSlide18.xml" Id="R318745d31cad4da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fc70f1662a34fe9" /><Relationship Type="http://schemas.openxmlformats.org/officeDocument/2006/relationships/notesSlide" Target="/ppt/notesSlides/notesSlide19.xml" Id="Rfd5c0bc1c78e45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06430b308cd48f3" /><Relationship Type="http://schemas.openxmlformats.org/officeDocument/2006/relationships/notesSlide" Target="/ppt/notesSlides/notesSlide20.xml" Id="Rad4ad6c1e88b44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b18973abcb64f0c" /><Relationship Type="http://schemas.openxmlformats.org/officeDocument/2006/relationships/notesSlide" Target="/ppt/notesSlides/notesSlide21.xml" Id="R8d4e22deef2d4ca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cfc87b7d6854137" /><Relationship Type="http://schemas.openxmlformats.org/officeDocument/2006/relationships/notesSlide" Target="/ppt/notesSlides/notesSlide22.xml" Id="R235561868a4b4d5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d46d6d968ea47ba" /><Relationship Type="http://schemas.openxmlformats.org/officeDocument/2006/relationships/notesSlide" Target="/ppt/notesSlides/notesSlide23.xml" Id="Rc100a1e5a25e49f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302445244e54aa9" /><Relationship Type="http://schemas.openxmlformats.org/officeDocument/2006/relationships/notesSlide" Target="/ppt/notesSlides/notesSlide24.xml" Id="Rbbeac55fdd7f48b2"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AI tools, effective instructions and safe use">
    <p:bg>
      <p:bgPr>
        <a:solidFill>
          <a:srgbClr val="1C3144"/>
        </a:solidFill>
      </p:bgPr>
    </p:bg>
    <p:spTree>
      <p:nvGrpSpPr>
        <p:cNvPr id="1" name=""/>
        <p:cNvGrpSpPr/>
        <p:nvPr/>
      </p:nvGrpSpPr>
      <p:grpSpPr>
        <a:xfrm/>
      </p:grpSpPr>
      <p:sp>
        <p:nvSpPr>
          <p:cNvPr id="5" name="text-1">
            <a:extLst>
              <a:ext uri="{FF2B5EF4-FFF2-40B4-BE49-F238E27FC236}">
                <ns2:creationId id="{09B2D19B-B212-49FE-91FD-19277B28DB96}"/>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04</a:t>
            </a:r>
          </a:p>
        </p:txBody>
      </p:sp>
      <p:sp>
        <p:nvSpPr>
          <p:cNvPr id="2" name="text-2">
            <a:extLst>
              <a:ext uri="{FF2B5EF4-FFF2-40B4-BE49-F238E27FC236}">
                <ns2:creationId id="{2D0657BA-5420-4EB1-A37A-31686215FE0D}"/>
              </a:ext>
            </a:extLst>
          </p:cNvPr>
          <p:cNvSpPr>
            <a:spLocks noGrp="1"/>
          </p:cNvSpPr>
          <p:nvPr>
            <p:ph type="title"/>
          </p:nvPr>
        </p:nvSpPr>
        <p:spPr>
          <a:xfrm>
            <a:off x="619125" y="1676400"/>
            <a:ext cx="10620375" cy="1905000"/>
          </a:xfrm>
          <a:prstGeom prst="rect">
            <a:avLst/>
          </a:prstGeom>
          <a:noFill/>
          <a:ln w="0">
            <a:noFill/>
          </a:ln>
        </p:spPr>
        <p:txBody>
          <a:bodyPr>
            <a:noAutofit/>
          </a:bodyPr>
          <a:lstStyle>
            <a:defPPr>
              <a:defRPr sz="4200" b="1">
                <a:solidFill>
                  <a:srgbClr val="FFFFFF"/>
                </a:solidFill>
                <a:latin typeface="Calibri"/>
                <a:ea typeface="Calibri"/>
                <a:cs typeface="Calibri"/>
              </a:defRPr>
            </a:defPPr>
            <a:lvl1pPr>
              <a:defRPr sz="4200" b="1">
                <a:solidFill>
                  <a:srgbClr val="FFFFFF"/>
                </a:solidFill>
                <a:latin typeface="Calibri"/>
                <a:ea typeface="Calibri"/>
                <a:cs typeface="Calibri"/>
              </a:defRPr>
            </a:lvl1pPr>
            <a:lvl2pPr>
              <a:defRPr sz="4200" b="1">
                <a:solidFill>
                  <a:srgbClr val="FFFFFF"/>
                </a:solidFill>
                <a:latin typeface="Calibri"/>
                <a:ea typeface="Calibri"/>
                <a:cs typeface="Calibri"/>
              </a:defRPr>
            </a:lvl2pPr>
            <a:lvl3pPr>
              <a:defRPr sz="4200" b="1">
                <a:solidFill>
                  <a:srgbClr val="FFFFFF"/>
                </a:solidFill>
                <a:latin typeface="Calibri"/>
                <a:ea typeface="Calibri"/>
                <a:cs typeface="Calibri"/>
              </a:defRPr>
            </a:lvl3pPr>
            <a:lvl4pPr>
              <a:defRPr sz="4200" b="1">
                <a:solidFill>
                  <a:srgbClr val="FFFFFF"/>
                </a:solidFill>
                <a:latin typeface="Calibri"/>
                <a:ea typeface="Calibri"/>
                <a:cs typeface="Calibri"/>
              </a:defRPr>
            </a:lvl4pPr>
            <a:lvl5pPr>
              <a:defRPr sz="4200" b="1">
                <a:solidFill>
                  <a:srgbClr val="FFFFFF"/>
                </a:solidFill>
                <a:latin typeface="Calibri"/>
                <a:ea typeface="Calibri"/>
                <a:cs typeface="Calibri"/>
              </a:defRPr>
            </a:lvl5pPr>
            <a:lvl6pPr>
              <a:defRPr sz="4200" b="1">
                <a:solidFill>
                  <a:srgbClr val="FFFFFF"/>
                </a:solidFill>
                <a:latin typeface="Calibri"/>
                <a:ea typeface="Calibri"/>
                <a:cs typeface="Calibri"/>
              </a:defRPr>
            </a:lvl6pPr>
            <a:lvl7pPr>
              <a:defRPr sz="4200" b="1">
                <a:solidFill>
                  <a:srgbClr val="FFFFFF"/>
                </a:solidFill>
                <a:latin typeface="Calibri"/>
                <a:ea typeface="Calibri"/>
                <a:cs typeface="Calibri"/>
              </a:defRPr>
            </a:lvl7pPr>
            <a:lvl8pPr>
              <a:defRPr sz="4200" b="1">
                <a:solidFill>
                  <a:srgbClr val="FFFFFF"/>
                </a:solidFill>
                <a:latin typeface="Calibri"/>
                <a:ea typeface="Calibri"/>
                <a:cs typeface="Calibri"/>
              </a:defRPr>
            </a:lvl8pPr>
            <a:lvl9pPr>
              <a:defRPr sz="4200" b="1">
                <a:solidFill>
                  <a:srgbClr val="FFFFFF"/>
                </a:solidFill>
                <a:latin typeface="Calibri"/>
                <a:ea typeface="Calibri"/>
                <a:cs typeface="Calibri"/>
              </a:defRPr>
            </a:lvl9pPr>
          </a:lstStyle>
          <a:p>
            <a:pPr>
              <a:defRPr sz="4200" b="1">
                <a:solidFill>
                  <a:srgbClr val="FFFFFF"/>
                </a:solidFill>
                <a:latin typeface="Calibri"/>
                <a:ea typeface="Calibri"/>
                <a:cs typeface="Calibri"/>
              </a:defRPr>
            </a:pPr>
            <a:r>
              <a:rPr sz="4200" b="1">
                <a:solidFill>
                  <a:srgbClr val="FFFFFF"/>
                </a:solidFill>
                <a:latin typeface="Calibri"/>
                <a:ea typeface="Calibri"/>
                <a:cs typeface="Calibri"/>
              </a:rPr>
              <a:t>AI tools, effective instructions and safe use</a:t>
            </a:r>
          </a:p>
        </p:txBody>
      </p:sp>
      <p:sp>
        <p:nvSpPr>
          <p:cNvPr id="3" name="text-3">
            <a:extLst>
              <a:ext uri="{FF2B5EF4-FFF2-40B4-BE49-F238E27FC236}">
                <ns2:creationId id="{5DDC85EF-3346-428D-803C-7A4F4C0AE313}"/>
              </a:ext>
            </a:extLst>
          </p:cNvPr>
          <p:cNvSpPr>
            <a:spLocks noGrp="1"/>
          </p:cNvSpPr>
          <p:nvPr/>
        </p:nvSpPr>
        <p:spPr>
          <a:xfrm>
            <a:off x="619125" y="4095750"/>
            <a:ext cx="10382250"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How do we select a tool, brief it clearly and verify a useful result?</a:t>
            </a:r>
          </a:p>
        </p:txBody>
      </p:sp>
      <p:sp>
        <p:nvSpPr>
          <p:cNvPr id="4" name="text-4">
            <a:extLst>
              <a:ext uri="{FF2B5EF4-FFF2-40B4-BE49-F238E27FC236}">
                <ns2:creationId id="{68FEF895-F8E3-4E8A-B283-2BFCF4783E2B}"/>
              </a:ext>
            </a:extLst>
          </p:cNvPr>
          <p:cNvSpPr>
            <a:spLocks noGrp="1"/>
          </p:cNvSpPr>
          <p:nvPr/>
        </p:nvSpPr>
        <p:spPr>
          <a:xfrm>
            <a:off x="619125" y="6010275"/>
            <a:ext cx="10668000"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800" b="0">
                <a:solidFill>
                  <a:srgbClr val="DCE8E6"/>
                </a:solidFill>
                <a:latin typeface="Calibri"/>
                <a:ea typeface="Calibri"/>
                <a:cs typeface="Calibri"/>
              </a:rPr>
              <a:t>Jotham Martin Wambi   KLAi Professional Learning</a:t>
            </a:r>
          </a:p>
        </p:txBody>
      </p:sp>
    </p:spTree>
    <p:extLst>
      <p:ext uri="{BB962C8B-B14F-4D97-AF65-F5344CB8AC3E}">
        <ns3:creationId val="1554315617"/>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the reliability test">
    <p:bg>
      <p:bgPr>
        <a:solidFill>
          <a:srgbClr val="FFFFFF"/>
        </a:solidFill>
      </p:bgPr>
    </p:bg>
    <p:spTree>
      <p:nvGrpSpPr>
        <p:cNvPr id="1" name=""/>
        <p:cNvGrpSpPr/>
        <p:nvPr/>
      </p:nvGrpSpPr>
      <p:grpSpPr>
        <a:xfrm/>
      </p:grpSpPr>
      <p:sp>
        <p:nvSpPr>
          <p:cNvPr id="9" name="text-5">
            <a:extLst>
              <a:ext uri="{FF2B5EF4-FFF2-40B4-BE49-F238E27FC236}">
                <ns2:creationId id="{7D848BB9-AC03-4A12-91A3-8FE14F5A939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6">
            <a:extLst>
              <a:ext uri="{FF2B5EF4-FFF2-40B4-BE49-F238E27FC236}">
                <ns2:creationId id="{2F8B7BC2-EFED-4807-9F6C-066D35AF582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the reliability test</a:t>
            </a:r>
          </a:p>
        </p:txBody>
      </p:sp>
      <p:sp>
        <p:nvSpPr>
          <p:cNvPr id="4" name="text-8">
            <a:extLst>
              <a:ext uri="{FF2B5EF4-FFF2-40B4-BE49-F238E27FC236}">
                <ns2:creationId id="{71B9C19C-C6EF-4952-8688-038DE27E9D2D}"/>
              </a:ext>
            </a:extLst>
          </p:cNvPr>
          <p:cNvSpPr>
            <a:spLocks noGrp="1"/>
          </p:cNvSpPr>
          <p:nvPr/>
        </p:nvSpPr>
        <p:spPr>
          <a:xfrm>
            <a:off x="619125" y="2000250"/>
            <a:ext cx="10858500"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3</a:t>
            </a:r>
          </a:p>
        </p:txBody>
      </p:sp>
      <p:sp>
        <p:nvSpPr>
          <p:cNvPr id="5" name="text-9">
            <a:extLst>
              <a:ext uri="{FF2B5EF4-FFF2-40B4-BE49-F238E27FC236}">
                <ns2:creationId id="{2001E7E2-01AA-4FDA-85AC-1EBF26035959}"/>
              </a:ext>
            </a:extLst>
          </p:cNvPr>
          <p:cNvSpPr>
            <a:spLocks noGrp="1"/>
          </p:cNvSpPr>
          <p:nvPr/>
        </p:nvSpPr>
        <p:spPr>
          <a:xfrm>
            <a:off x="619125" y="2495550"/>
            <a:ext cx="10858500"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Three assistants repeat the same unsupported fee. What has been established?</a:t>
            </a:r>
          </a:p>
        </p:txBody>
      </p:sp>
      <p:sp>
        <p:nvSpPr>
          <p:cNvPr id="6" name="text-10">
            <a:extLst>
              <a:ext uri="{FF2B5EF4-FFF2-40B4-BE49-F238E27FC236}">
                <ns2:creationId id="{9C3AC2D1-50AD-4062-BF06-A5381C64CEED}"/>
              </a:ext>
            </a:extLst>
          </p:cNvPr>
          <p:cNvSpPr>
            <a:spLocks noGrp="1"/>
          </p:cNvSpPr>
          <p:nvPr/>
        </p:nvSpPr>
        <p:spPr>
          <a:xfrm>
            <a:off x="619125" y="3857625"/>
            <a:ext cx="10858500"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1">
            <a:extLst>
              <a:ext uri="{FF2B5EF4-FFF2-40B4-BE49-F238E27FC236}">
                <ns2:creationId id="{8AA449D8-D2D8-41D7-A95A-8B372664A9C8}"/>
              </a:ext>
            </a:extLst>
          </p:cNvPr>
          <p:cNvSpPr>
            <a:spLocks noGrp="1"/>
          </p:cNvSpPr>
          <p:nvPr/>
        </p:nvSpPr>
        <p:spPr>
          <a:xfrm>
            <a:off x="619125" y="4362450"/>
            <a:ext cx="10858500"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How do we select a tool, brief it clearly and verify a useful result?</a:t>
            </a:r>
          </a:p>
        </p:txBody>
      </p:sp>
      <p:sp>
        <p:nvSpPr>
          <p:cNvPr id="8" name="text-12">
            <a:extLst>
              <a:ext uri="{FF2B5EF4-FFF2-40B4-BE49-F238E27FC236}">
                <ns2:creationId id="{6D9062AA-7CC4-454D-9880-CCDAD79D447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reusable review brief and a documented tool/data decision.</a:t>
            </a:r>
          </a:p>
        </p:txBody>
      </p:sp>
      <p:sp>
        <p:nvSpPr>
          <p:cNvPr id="3" name="text-7">
            <a:extLst>
              <a:ext uri="{FF2B5EF4-FFF2-40B4-BE49-F238E27FC236}">
                <ns2:creationId id="{10D714F3-3EFD-4320-BC8A-199822E2083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a:t>
            </a:r>
          </a:p>
        </p:txBody>
      </p:sp>
    </p:spTree>
    <p:extLst>
      <p:ext uri="{BB962C8B-B14F-4D97-AF65-F5344CB8AC3E}">
        <ns3:creationId val="1091512820"/>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same question in different products">
    <p:bg>
      <p:bgPr>
        <a:solidFill>
          <a:srgbClr val="FFFFFF"/>
        </a:solidFill>
      </p:bgPr>
    </p:bg>
    <p:spTree>
      <p:nvGrpSpPr>
        <p:cNvPr id="1" name=""/>
        <p:cNvGrpSpPr/>
        <p:nvPr/>
      </p:nvGrpSpPr>
      <p:grpSpPr>
        <a:xfrm/>
      </p:grpSpPr>
      <p:sp>
        <p:nvSpPr>
          <p:cNvPr id="8" name="text-13">
            <a:extLst>
              <a:ext uri="{FF2B5EF4-FFF2-40B4-BE49-F238E27FC236}">
                <ns2:creationId id="{A2759A99-4F32-4EAE-9B29-982144E19E0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4">
            <a:extLst>
              <a:ext uri="{FF2B5EF4-FFF2-40B4-BE49-F238E27FC236}">
                <ns2:creationId id="{CA4A3A65-0A9B-4A73-97C1-D089455F93F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same question in different products</a:t>
            </a:r>
          </a:p>
        </p:txBody>
      </p:sp>
      <p:sp>
        <p:nvSpPr>
          <p:cNvPr id="4" name="text-16">
            <a:extLst>
              <a:ext uri="{FF2B5EF4-FFF2-40B4-BE49-F238E27FC236}">
                <ns2:creationId id="{7CD46E54-D24C-40BF-9BC4-19CB1E6139F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
            <a:extLst>
              <a:ext uri="{FF2B5EF4-FFF2-40B4-BE49-F238E27FC236}">
                <ns2:creationId id="{C9A8E95B-1954-496E-97BA-C0E7EC7576C3}"/>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What does clause 3 require for an internal reorganisation?</a:t>
            </a:r>
          </a:p>
        </p:txBody>
      </p:sp>
      <p:sp>
        <p:nvSpPr>
          <p:cNvPr id="6" name="text-18">
            <a:extLst>
              <a:ext uri="{FF2B5EF4-FFF2-40B4-BE49-F238E27FC236}">
                <ns2:creationId id="{AEB721BD-F3FD-4875-9784-EA66EF50EA7E}"/>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9">
            <a:extLst>
              <a:ext uri="{FF2B5EF4-FFF2-40B4-BE49-F238E27FC236}">
                <ns2:creationId id="{613B0CA6-FB83-41C7-A49E-38AEF74C2652}"/>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the executed agreement and the client instruction.</a:t>
            </a:r>
          </a:p>
        </p:txBody>
      </p:sp>
      <p:sp>
        <p:nvSpPr>
          <p:cNvPr id="3" name="text-15">
            <a:extLst>
              <a:ext uri="{FF2B5EF4-FFF2-40B4-BE49-F238E27FC236}">
                <ns2:creationId id="{518FDBBD-5F8E-4B78-ACEF-3F72643C9DD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3</a:t>
            </a:r>
          </a:p>
        </p:txBody>
      </p:sp>
    </p:spTree>
    <p:extLst>
      <p:ext uri="{BB962C8B-B14F-4D97-AF65-F5344CB8AC3E}">
        <ns3:creationId val="494676737"/>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The tool landscape">
    <p:bg>
      <p:bgPr>
        <a:solidFill>
          <a:srgbClr val="FFFFFF"/>
        </a:solidFill>
      </p:bgPr>
    </p:bg>
    <p:spTree>
      <p:nvGrpSpPr>
        <p:cNvPr id="1" name=""/>
        <p:cNvGrpSpPr/>
        <p:nvPr/>
      </p:nvGrpSpPr>
      <p:grpSpPr>
        <a:xfrm/>
      </p:grpSpPr>
      <p:sp>
        <p:nvSpPr>
          <p:cNvPr id="5" name="text-20">
            <a:extLst>
              <a:ext uri="{FF2B5EF4-FFF2-40B4-BE49-F238E27FC236}">
                <ns2:creationId id="{33818453-5EAD-4DBB-BFCC-79CF0A1E0F9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21">
            <a:extLst>
              <a:ext uri="{FF2B5EF4-FFF2-40B4-BE49-F238E27FC236}">
                <ns2:creationId id="{CF596C5E-4E75-4C77-9F70-2F5FFB08D97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tool landscape</a:t>
            </a:r>
          </a:p>
        </p:txBody>
      </p:sp>
      <p:graphicFrame>
        <p:nvGraphicFramePr>
          <p:cNvPr id="4" name="">
            <a:extLst>
              <a:ext uri="{FF2B5EF4-FFF2-40B4-BE49-F238E27FC236}">
                <ns2:creationId id="{ECB782A2-1885-4977-A535-15DBC6C84DF3}"/>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Category</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Examples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Work to examine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General assistants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Claude, ChatGPT, Gemini</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Drafting and supplied-file analysis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Legal platforms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Harvey, NetDocuments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Precedents and document review</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Research platforms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AlphaSense</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Investment and industry research</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Workflow builders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Copilot Studio, Zapier</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Connections and review steps</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22">
            <a:extLst>
              <a:ext uri="{FF2B5EF4-FFF2-40B4-BE49-F238E27FC236}">
                <ns2:creationId id="{C12AB509-BD7F-4E1F-9C91-A306CFF23C0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4</a:t>
            </a:r>
          </a:p>
        </p:txBody>
      </p:sp>
    </p:spTree>
    <p:extLst>
      <p:ext uri="{BB962C8B-B14F-4D97-AF65-F5344CB8AC3E}">
        <ns3:creationId val="1995379540"/>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Before using a real matter">
    <p:bg>
      <p:bgPr>
        <a:solidFill>
          <a:srgbClr val="FFFFFF"/>
        </a:solidFill>
      </p:bgPr>
    </p:bg>
    <p:spTree>
      <p:nvGrpSpPr>
        <p:cNvPr id="1" name=""/>
        <p:cNvGrpSpPr/>
        <p:nvPr/>
      </p:nvGrpSpPr>
      <p:grpSpPr>
        <a:xfrm/>
      </p:grpSpPr>
      <p:sp>
        <p:nvSpPr>
          <p:cNvPr id="5" name="text-23">
            <a:extLst>
              <a:ext uri="{FF2B5EF4-FFF2-40B4-BE49-F238E27FC236}">
                <ns2:creationId id="{759D44D3-5E83-4EBE-8AF2-44E91C67D16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24">
            <a:extLst>
              <a:ext uri="{FF2B5EF4-FFF2-40B4-BE49-F238E27FC236}">
                <ns2:creationId id="{8FE4D022-7518-463A-B3B7-63918F648F7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Before using a real matter</a:t>
            </a:r>
          </a:p>
        </p:txBody>
      </p:sp>
      <p:graphicFrame>
        <p:nvGraphicFramePr>
          <p:cNvPr id="4" name="">
            <a:extLst>
              <a:ext uri="{FF2B5EF4-FFF2-40B4-BE49-F238E27FC236}">
                <ns2:creationId id="{A291481E-B04B-4F61-B183-65EF316E5EFA}"/>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Question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Evidence to inspect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Which product and account?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Consumer, business or API terms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How is content used?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Training choice, feedback and exceptions</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Where is it retained?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Chats, files, logs, backups and deletion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Who can access it?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Workspace roles, connectors and subprocessors</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May this matter enter it?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Firm decision and professional duties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25">
            <a:extLst>
              <a:ext uri="{FF2B5EF4-FFF2-40B4-BE49-F238E27FC236}">
                <ns2:creationId id="{268939BF-96E3-4A98-8DFB-011CC2D425D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5</a:t>
            </a:r>
          </a:p>
        </p:txBody>
      </p:sp>
    </p:spTree>
    <p:extLst>
      <p:ext uri="{BB962C8B-B14F-4D97-AF65-F5344CB8AC3E}">
        <ns3:creationId val="1843733772"/>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A vague request and a clear brief">
    <p:bg>
      <p:bgPr>
        <a:solidFill>
          <a:srgbClr val="FFFFFF"/>
        </a:solidFill>
      </p:bgPr>
    </p:bg>
    <p:spTree>
      <p:nvGrpSpPr>
        <p:cNvPr id="1" name=""/>
        <p:cNvGrpSpPr/>
        <p:nvPr/>
      </p:nvGrpSpPr>
      <p:grpSpPr>
        <a:xfrm/>
      </p:grpSpPr>
      <p:sp>
        <p:nvSpPr>
          <p:cNvPr id="8" name="text-26">
            <a:extLst>
              <a:ext uri="{FF2B5EF4-FFF2-40B4-BE49-F238E27FC236}">
                <ns2:creationId id="{7411ECDC-0C57-453C-B636-395892ADC1A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27">
            <a:extLst>
              <a:ext uri="{FF2B5EF4-FFF2-40B4-BE49-F238E27FC236}">
                <ns2:creationId id="{67E36D6D-A12F-4E00-9EE1-D99FCD736A1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vague request and a clear brief</a:t>
            </a:r>
          </a:p>
        </p:txBody>
      </p:sp>
      <p:sp>
        <p:nvSpPr>
          <p:cNvPr id="4" name="text-29">
            <a:extLst>
              <a:ext uri="{FF2B5EF4-FFF2-40B4-BE49-F238E27FC236}">
                <ns2:creationId id="{3F6B7F89-2B0C-4914-A776-62178087A4BF}"/>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Vague</a:t>
            </a:r>
          </a:p>
        </p:txBody>
      </p:sp>
      <p:sp>
        <p:nvSpPr>
          <p:cNvPr id="5" name="text-30">
            <a:extLst>
              <a:ext uri="{FF2B5EF4-FFF2-40B4-BE49-F238E27FC236}">
                <ns2:creationId id="{202CC073-7585-4127-B162-A2EDEE9E0FF1}"/>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Review this contract and tell me if it is okay.</a:t>
            </a:r>
          </a:p>
        </p:txBody>
      </p:sp>
      <p:sp>
        <p:nvSpPr>
          <p:cNvPr id="6" name="text-31">
            <a:extLst>
              <a:ext uri="{FF2B5EF4-FFF2-40B4-BE49-F238E27FC236}">
                <ns2:creationId id="{5ED9D263-83D3-4FB7-B4F0-BE40DEA78367}"/>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Clear</a:t>
            </a:r>
          </a:p>
        </p:txBody>
      </p:sp>
      <p:sp>
        <p:nvSpPr>
          <p:cNvPr id="7" name="text-32">
            <a:extLst>
              <a:ext uri="{FF2B5EF4-FFF2-40B4-BE49-F238E27FC236}">
                <ns2:creationId id="{36459C3A-1CB8-4F22-A81B-59D03D285998}"/>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Compare clause 3 with our playbook. Quote the relevant passage, preserve exceptions and flag missing transaction facts. Prepare a partner-review draft.</a:t>
            </a:r>
          </a:p>
        </p:txBody>
      </p:sp>
      <p:sp>
        <p:nvSpPr>
          <p:cNvPr id="3" name="text-28">
            <a:extLst>
              <a:ext uri="{FF2B5EF4-FFF2-40B4-BE49-F238E27FC236}">
                <ns2:creationId id="{EBDB5C98-4EA9-4FAB-B271-610B98393DF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6</a:t>
            </a:r>
          </a:p>
        </p:txBody>
      </p:sp>
    </p:spTree>
    <p:extLst>
      <p:ext uri="{BB962C8B-B14F-4D97-AF65-F5344CB8AC3E}">
        <ns3:creationId val="1469118872"/>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A professional task brief">
    <p:bg>
      <p:bgPr>
        <a:solidFill>
          <a:srgbClr val="FFFFFF"/>
        </a:solidFill>
      </p:bgPr>
    </p:bg>
    <p:spTree>
      <p:nvGrpSpPr>
        <p:cNvPr id="1" name=""/>
        <p:cNvGrpSpPr/>
        <p:nvPr/>
      </p:nvGrpSpPr>
      <p:grpSpPr>
        <a:xfrm/>
      </p:grpSpPr>
      <p:sp>
        <p:nvSpPr>
          <p:cNvPr id="12" name="text-33">
            <a:extLst>
              <a:ext uri="{FF2B5EF4-FFF2-40B4-BE49-F238E27FC236}">
                <ns2:creationId id="{7A201DB0-1848-4E45-9430-85C30EC68F9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34">
            <a:extLst>
              <a:ext uri="{FF2B5EF4-FFF2-40B4-BE49-F238E27FC236}">
                <ns2:creationId id="{D2A5D0E6-FADB-4EA5-8B6F-DF572641843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professional task brief</a:t>
            </a:r>
          </a:p>
        </p:txBody>
      </p:sp>
      <p:sp>
        <p:nvSpPr>
          <p:cNvPr id="4" name="text-36">
            <a:extLst>
              <a:ext uri="{FF2B5EF4-FFF2-40B4-BE49-F238E27FC236}">
                <ns2:creationId id="{EFB3C4BD-1241-41B0-9093-F95B432E5F5C}"/>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7">
            <a:extLst>
              <a:ext uri="{FF2B5EF4-FFF2-40B4-BE49-F238E27FC236}">
                <ns2:creationId id="{36C11D70-A15A-4A57-A092-66D3515D7126}"/>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Purpose and intended audience</a:t>
            </a:r>
          </a:p>
        </p:txBody>
      </p:sp>
      <p:sp>
        <p:nvSpPr>
          <p:cNvPr id="6" name="text-38">
            <a:extLst>
              <a:ext uri="{FF2B5EF4-FFF2-40B4-BE49-F238E27FC236}">
                <ns2:creationId id="{AA99255A-A880-47D3-8844-97E0A9A27858}"/>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9">
            <a:extLst>
              <a:ext uri="{FF2B5EF4-FFF2-40B4-BE49-F238E27FC236}">
                <ns2:creationId id="{145B7064-A506-4FA4-AD72-A9B76D9B98FB}"/>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Relevant evidence and task boundaries</a:t>
            </a:r>
          </a:p>
        </p:txBody>
      </p:sp>
      <p:sp>
        <p:nvSpPr>
          <p:cNvPr id="8" name="text-40">
            <a:extLst>
              <a:ext uri="{FF2B5EF4-FFF2-40B4-BE49-F238E27FC236}">
                <ns2:creationId id="{E764EEEB-0F43-4398-A075-AC8EC5BD1F6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1">
            <a:extLst>
              <a:ext uri="{FF2B5EF4-FFF2-40B4-BE49-F238E27FC236}">
                <ns2:creationId id="{D7FB0EB1-0AF5-4778-ACFB-0FB376B0C2BB}"/>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Required output and acceptance criteria</a:t>
            </a:r>
          </a:p>
        </p:txBody>
      </p:sp>
      <p:sp>
        <p:nvSpPr>
          <p:cNvPr id="10" name="text-42">
            <a:extLst>
              <a:ext uri="{FF2B5EF4-FFF2-40B4-BE49-F238E27FC236}">
                <ns2:creationId id="{EFE69D6C-8245-464B-81EA-12EA6D6AE294}"/>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3">
            <a:extLst>
              <a:ext uri="{FF2B5EF4-FFF2-40B4-BE49-F238E27FC236}">
                <ns2:creationId id="{612F8EE6-38AC-445D-844A-8109995C4A7A}"/>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Questions, uncertainties and review point</a:t>
            </a:r>
          </a:p>
        </p:txBody>
      </p:sp>
      <p:sp>
        <p:nvSpPr>
          <p:cNvPr id="3" name="text-35">
            <a:extLst>
              <a:ext uri="{FF2B5EF4-FFF2-40B4-BE49-F238E27FC236}">
                <ns2:creationId id="{55BD396B-EA1A-450E-A9CE-10357538102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7</a:t>
            </a:r>
          </a:p>
        </p:txBody>
      </p:sp>
    </p:spTree>
    <p:extLst>
      <p:ext uri="{BB962C8B-B14F-4D97-AF65-F5344CB8AC3E}">
        <ns3:creationId val="1280260843"/>
      </p:ext>
    </p:extLst>
  </p:cSld>
  <p:transition spd="med" advClick="1">
    <p:fade/>
  </p:transition>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An instruction we can reuse">
    <p:bg>
      <p:bgPr>
        <a:solidFill>
          <a:srgbClr val="FFFFFF"/>
        </a:solidFill>
      </p:bgPr>
    </p:bg>
    <p:spTree>
      <p:nvGrpSpPr>
        <p:cNvPr id="1" name=""/>
        <p:cNvGrpSpPr/>
        <p:nvPr/>
      </p:nvGrpSpPr>
      <p:grpSpPr>
        <a:xfrm/>
      </p:grpSpPr>
      <p:sp>
        <p:nvSpPr>
          <p:cNvPr id="12" name="text-44">
            <a:extLst>
              <a:ext uri="{FF2B5EF4-FFF2-40B4-BE49-F238E27FC236}">
                <ns2:creationId id="{828400CD-4CAC-44DC-AE82-AF2E5CCC5B5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45">
            <a:extLst>
              <a:ext uri="{FF2B5EF4-FFF2-40B4-BE49-F238E27FC236}">
                <ns2:creationId id="{A00DBF2B-B5D8-4A05-9CC0-F973F48600A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instruction we can reuse</a:t>
            </a:r>
          </a:p>
        </p:txBody>
      </p:sp>
      <p:sp>
        <p:nvSpPr>
          <p:cNvPr id="4" name="text-47">
            <a:extLst>
              <a:ext uri="{FF2B5EF4-FFF2-40B4-BE49-F238E27FC236}">
                <ns2:creationId id="{7EDA18AB-1D45-4C30-9DDF-8F54BBD1E6D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8">
            <a:extLst>
              <a:ext uri="{FF2B5EF4-FFF2-40B4-BE49-F238E27FC236}">
                <ns2:creationId id="{CF691C7B-D4E0-4121-B245-B32EA9B610CD}"/>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the supplied agreement and playbook only.</a:t>
            </a:r>
          </a:p>
        </p:txBody>
      </p:sp>
      <p:sp>
        <p:nvSpPr>
          <p:cNvPr id="6" name="text-49">
            <a:extLst>
              <a:ext uri="{FF2B5EF4-FFF2-40B4-BE49-F238E27FC236}">
                <ns2:creationId id="{9AC9CDFA-CAC4-42C5-B51D-D823D9DAE732}"/>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0">
            <a:extLst>
              <a:ext uri="{FF2B5EF4-FFF2-40B4-BE49-F238E27FC236}">
                <ns2:creationId id="{070CF6A6-CCDD-46E7-A7C1-1A25B156EFE0}"/>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Return clause, exact passage, departure and proposed amendment.</a:t>
            </a:r>
          </a:p>
        </p:txBody>
      </p:sp>
      <p:sp>
        <p:nvSpPr>
          <p:cNvPr id="8" name="text-51">
            <a:extLst>
              <a:ext uri="{FF2B5EF4-FFF2-40B4-BE49-F238E27FC236}">
                <ns2:creationId id="{4CC7D6FC-150D-43F0-BA98-20C242B3CF01}"/>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2">
            <a:extLst>
              <a:ext uri="{FF2B5EF4-FFF2-40B4-BE49-F238E27FC236}">
                <ns2:creationId id="{16C5902B-9B4F-44F2-9510-6AEB4A6A8791}"/>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Keep qualifications and ask about missing facts.</a:t>
            </a:r>
          </a:p>
        </p:txBody>
      </p:sp>
      <p:sp>
        <p:nvSpPr>
          <p:cNvPr id="10" name="text-53">
            <a:extLst>
              <a:ext uri="{FF2B5EF4-FFF2-40B4-BE49-F238E27FC236}">
                <ns2:creationId id="{ACE4EA9C-2763-41B1-98E4-5506F84811A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4">
            <a:extLst>
              <a:ext uri="{FF2B5EF4-FFF2-40B4-BE49-F238E27FC236}">
                <ns2:creationId id="{523DC162-3239-44AC-93F5-D87E6BD3F260}"/>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Prepare a draft for partner review.</a:t>
            </a:r>
          </a:p>
        </p:txBody>
      </p:sp>
      <p:sp>
        <p:nvSpPr>
          <p:cNvPr id="3" name="text-46">
            <a:extLst>
              <a:ext uri="{FF2B5EF4-FFF2-40B4-BE49-F238E27FC236}">
                <ns2:creationId id="{739D3CD8-16B1-4052-92DB-95117D59EF1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8</a:t>
            </a:r>
          </a:p>
        </p:txBody>
      </p:sp>
    </p:spTree>
    <p:extLst>
      <p:ext uri="{BB962C8B-B14F-4D97-AF65-F5344CB8AC3E}">
        <ns3:creationId val="1128993456"/>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Traceability for a finding">
    <p:bg>
      <p:bgPr>
        <a:solidFill>
          <a:srgbClr val="FFFFFF"/>
        </a:solidFill>
      </p:bgPr>
    </p:bg>
    <p:spTree>
      <p:nvGrpSpPr>
        <p:cNvPr id="1" name=""/>
        <p:cNvGrpSpPr/>
        <p:nvPr/>
      </p:nvGrpSpPr>
      <p:grpSpPr>
        <a:xfrm/>
      </p:grpSpPr>
      <p:sp>
        <p:nvSpPr>
          <p:cNvPr id="5" name="text-55">
            <a:extLst>
              <a:ext uri="{FF2B5EF4-FFF2-40B4-BE49-F238E27FC236}">
                <ns2:creationId id="{1050BFB6-4AA0-4868-8AFF-4B97206CC6B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56">
            <a:extLst>
              <a:ext uri="{FF2B5EF4-FFF2-40B4-BE49-F238E27FC236}">
                <ns2:creationId id="{F9F4A98B-23DE-48CC-AC5B-1F6BDE07F3F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Traceability for a finding</a:t>
            </a:r>
          </a:p>
        </p:txBody>
      </p:sp>
      <p:graphicFrame>
        <p:nvGraphicFramePr>
          <p:cNvPr id="4" name="">
            <a:extLst>
              <a:ext uri="{FF2B5EF4-FFF2-40B4-BE49-F238E27FC236}">
                <ns2:creationId id="{4D85DB26-CF96-4322-B7DF-65B8873498DB}"/>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1247775">
                <a:tc>
                  <a:txBody>
                    <a:bodyPr/>
                    <a:lstStyle/>
                    <a:p>
                      <a:r>
                        <a:rPr sz="1875" b="1">
                          <a:solidFill>
                            <a:srgbClr val="FFFFFF"/>
                          </a:solidFill>
                          <a:latin typeface="Calibri"/>
                          <a:ea typeface="Calibri"/>
                          <a:cs typeface="Calibri"/>
                        </a:rPr>
                        <a:t>Finding</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Evidence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Location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1247775">
                <a:tc>
                  <a:txBody>
                    <a:bodyPr/>
                    <a:lstStyle/>
                    <a:p>
                      <a:r>
                        <a:rPr sz="1875" b="0">
                          <a:solidFill>
                            <a:srgbClr val="1C3144"/>
                          </a:solidFill>
                          <a:latin typeface="Calibri"/>
                          <a:ea typeface="Calibri"/>
                          <a:cs typeface="Calibri"/>
                        </a:rPr>
                        <a:t>Consent exception may apply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Wholly owned group and provider responsibility</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CONTRACT-01 v2, clause 3</a:t>
                      </a:r>
                    </a:p>
                  </a:txBody>
                  <a:tcPr marL="91440" marR="91440" marT="45720" marB="45720">
                    <a:lnR w="9525">
                      <a:solidFill>
                        <a:srgbClr val="C9D5DA"/>
                      </a:solidFill>
                      <a:prstDash val="solid"/>
                    </a:lnR>
                    <a:lnB w="9525">
                      <a:solidFill>
                        <a:srgbClr val="C9D5DA"/>
                      </a:solidFill>
                      <a:prstDash val="solid"/>
                    </a:lnB>
                    <a:solidFill>
                      <a:srgbClr val="F1F5F6"/>
                    </a:solidFill>
                  </a:tcPr>
                </a:tc>
              </a:tr>
              <a:tr h="1247775">
                <a:tc>
                  <a:txBody>
                    <a:bodyPr/>
                    <a:lstStyle/>
                    <a:p>
                      <a:r>
                        <a:rPr sz="1875" b="0">
                          <a:solidFill>
                            <a:srgbClr val="1C3144"/>
                          </a:solidFill>
                          <a:latin typeface="Calibri"/>
                          <a:ea typeface="Calibri"/>
                          <a:cs typeface="Calibri"/>
                        </a:rPr>
                        <a:t>Ownership is unconfirmed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Client gives no ownership chart</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Client Instruction, question 2</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57">
            <a:extLst>
              <a:ext uri="{FF2B5EF4-FFF2-40B4-BE49-F238E27FC236}">
                <ns2:creationId id="{8750A125-F4FC-4165-9C20-1FDB1FD9259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9</a:t>
            </a:r>
          </a:p>
        </p:txBody>
      </p:sp>
    </p:spTree>
    <p:extLst>
      <p:ext uri="{BB962C8B-B14F-4D97-AF65-F5344CB8AC3E}">
        <ns3:creationId val="133003537"/>
      </p:ext>
    </p:extLst>
  </p:cSld>
  <p:transition spd="med" advClick="1">
    <p:fade/>
  </p:transition>
</p:sld>
</file>

<file path=ppt/slides/slide10.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 citation and its supporting passage">
    <p:bg>
      <p:bgPr>
        <a:solidFill>
          <a:srgbClr val="FFFFFF"/>
        </a:solidFill>
      </p:bgPr>
    </p:bg>
    <p:spTree>
      <p:nvGrpSpPr>
        <p:cNvPr id="1" name=""/>
        <p:cNvGrpSpPr/>
        <p:nvPr/>
      </p:nvGrpSpPr>
      <p:grpSpPr>
        <a:xfrm/>
      </p:grpSpPr>
      <p:cxnSp>
        <p:nvCxnSpPr>
          <p:cNvPr id="10" name="reveal-02-source-link" descr="A citation and its supporting passage">
            <a:extLst>
              <a:ext uri="{FF2B5EF4-FFF2-40B4-BE49-F238E27FC236}">
                <ns2:creationId id="{7C7BC57F-73A0-486F-AEBB-3C8C825B3279}"/>
              </a:ext>
            </a:extLst>
          </p:cNvPr>
          <p:cNvCxnSpPr>
            <a:stCxn id="4" idx="3"/>
            <a:endCxn id="7" idx="1"/>
          </p:cNvCxnSpPr>
          <p:nvPr/>
        </p:nvCxnSpPr>
        <p:spPr>
          <a:xfrm>
            <a:off x="5667375" y="3690938"/>
            <a:ext cx="857250" cy="0"/>
          </a:xfrm>
          <a:prstGeom prst="straightConnector1">
            <a:avLst/>
          </a:prstGeom>
          <a:ln w="23813">
            <a:solidFill>
              <a:srgbClr val="246E63"/>
            </a:solidFill>
            <a:tailEnd type="arrow" w="med" len="med"/>
          </a:ln>
        </p:spPr>
      </p:cxnSp>
      <p:sp>
        <p:nvSpPr>
          <p:cNvPr id="12" name="text-58">
            <a:extLst>
              <a:ext uri="{FF2B5EF4-FFF2-40B4-BE49-F238E27FC236}">
                <ns2:creationId id="{2813F0A2-DED1-4714-8ECC-B14AFB9ED08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59">
            <a:extLst>
              <a:ext uri="{FF2B5EF4-FFF2-40B4-BE49-F238E27FC236}">
                <ns2:creationId id="{E5AD2CB8-4B11-48CE-AE72-94D8A4CD42F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citation and its supporting passage</a:t>
            </a:r>
          </a:p>
        </p:txBody>
      </p:sp>
      <p:sp>
        <p:nvSpPr>
          <p:cNvPr id="4" name="reveal-01-claim">
            <a:extLst>
              <a:ext uri="{FF2B5EF4-FFF2-40B4-BE49-F238E27FC236}">
                <ns2:creationId id="{CDC09C17-9CB3-4BD2-BE98-A879D59058F9}"/>
              </a:ext>
              <a:ext uri="{C183D7F6-B498-43B3-948B-1728B52AA6E4}">
                <ns3:decorative val="1"/>
              </a:ext>
            </a:extLst>
          </p:cNvPr>
          <p:cNvSpPr>
            <a:spLocks noGrp="1"/>
          </p:cNvSpPr>
          <p:nvPr/>
        </p:nvSpPr>
        <p:spPr>
          <a:xfrm>
            <a:off x="619125" y="2047875"/>
            <a:ext cx="5048250" cy="3286125"/>
          </a:xfrm>
          <a:prstGeom prst="rect">
            <a:avLst/>
          </a:prstGeom>
          <a:solidFill>
            <a:srgbClr val="F1F5F6"/>
          </a:solidFill>
          <a:ln w="11430">
            <a:solidFill>
              <a:srgbClr val="C9D5DA"/>
            </a:solidFill>
          </a:ln>
        </p:spPr>
      </p:sp>
      <p:sp>
        <p:nvSpPr>
          <p:cNvPr id="5" name="reveal-01-label">
            <a:extLst>
              <a:ext uri="{FF2B5EF4-FFF2-40B4-BE49-F238E27FC236}">
                <ns2:creationId id="{951317D3-DAA6-4E12-8C18-0A8A5281A381}"/>
              </a:ext>
            </a:extLst>
          </p:cNvPr>
          <p:cNvSpPr>
            <a:spLocks noGrp="1"/>
          </p:cNvSpPr>
          <p:nvPr/>
        </p:nvSpPr>
        <p:spPr>
          <a:xfrm>
            <a:off x="819150" y="2219325"/>
            <a:ext cx="4572000" cy="32385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FINDING</a:t>
            </a:r>
          </a:p>
        </p:txBody>
      </p:sp>
      <p:sp>
        <p:nvSpPr>
          <p:cNvPr id="6" name="reveal-01-claim-text">
            <a:extLst>
              <a:ext uri="{FF2B5EF4-FFF2-40B4-BE49-F238E27FC236}">
                <ns2:creationId id="{02FE1EE5-9C11-4545-968A-DAD55D3D8FF4}"/>
              </a:ext>
            </a:extLst>
          </p:cNvPr>
          <p:cNvSpPr>
            <a:spLocks noGrp="1"/>
          </p:cNvSpPr>
          <p:nvPr/>
        </p:nvSpPr>
        <p:spPr>
          <a:xfrm>
            <a:off x="819150" y="2800350"/>
            <a:ext cx="4572000" cy="2143125"/>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The group exception may apply. Confirm ownership and continued provider responsibility.</a:t>
            </a:r>
          </a:p>
        </p:txBody>
      </p:sp>
      <p:sp>
        <p:nvSpPr>
          <p:cNvPr id="7" name="reveal-02-source">
            <a:extLst>
              <a:ext uri="{FF2B5EF4-FFF2-40B4-BE49-F238E27FC236}">
                <ns2:creationId id="{F8908BC5-9911-4EA5-8ECF-BA0A28A94F86}"/>
              </a:ext>
              <a:ext uri="{C183D7F6-B498-43B3-948B-1728B52AA6E4}">
                <ns3:decorative val="1"/>
              </a:ext>
            </a:extLst>
          </p:cNvPr>
          <p:cNvSpPr>
            <a:spLocks noGrp="1"/>
          </p:cNvSpPr>
          <p:nvPr/>
        </p:nvSpPr>
        <p:spPr>
          <a:xfrm>
            <a:off x="6524625" y="2047875"/>
            <a:ext cx="5048250" cy="3286125"/>
          </a:xfrm>
          <a:prstGeom prst="rect">
            <a:avLst/>
          </a:prstGeom>
          <a:solidFill>
            <a:srgbClr val="E9F3F0"/>
          </a:solidFill>
          <a:ln w="11430">
            <a:solidFill>
              <a:srgbClr val="C9D5DA"/>
            </a:solidFill>
          </a:ln>
        </p:spPr>
      </p:sp>
      <p:sp>
        <p:nvSpPr>
          <p:cNvPr id="8" name="reveal-02-source-label">
            <a:extLst>
              <a:ext uri="{FF2B5EF4-FFF2-40B4-BE49-F238E27FC236}">
                <ns2:creationId id="{6E8E0315-5A78-4C66-84C5-6F9F0C945708}"/>
              </a:ext>
            </a:extLst>
          </p:cNvPr>
          <p:cNvSpPr>
            <a:spLocks noGrp="1"/>
          </p:cNvSpPr>
          <p:nvPr/>
        </p:nvSpPr>
        <p:spPr>
          <a:xfrm>
            <a:off x="6724650" y="2219325"/>
            <a:ext cx="4572000" cy="41910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CONTRACT-01 v2, CLAUSE 3</a:t>
            </a:r>
          </a:p>
        </p:txBody>
      </p:sp>
      <p:sp>
        <p:nvSpPr>
          <p:cNvPr id="9" name="reveal-02-source-text">
            <a:extLst>
              <a:ext uri="{FF2B5EF4-FFF2-40B4-BE49-F238E27FC236}">
                <ns2:creationId id="{6D5609DA-FFB7-4D53-B623-93D6AFAC3B0F}"/>
              </a:ext>
            </a:extLst>
          </p:cNvPr>
          <p:cNvSpPr>
            <a:spLocks noGrp="1"/>
          </p:cNvSpPr>
          <p:nvPr/>
        </p:nvSpPr>
        <p:spPr>
          <a:xfrm>
            <a:off x="6724650" y="2800350"/>
            <a:ext cx="4572000" cy="2333625"/>
          </a:xfrm>
          <a:prstGeom prst="rect">
            <a:avLst/>
          </a:prstGeom>
          <a:noFill/>
          <a:ln w="0">
            <a:noFill/>
          </a:ln>
        </p:spPr>
        <p:txBody>
          <a:bodyPr>
            <a:noAutofit/>
          </a:bodyPr>
          <a:lstStyle>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a:pPr>
              <a:defRPr sz="2175" b="0">
                <a:solidFill>
                  <a:srgbClr val="1C3144"/>
                </a:solidFill>
                <a:latin typeface="Calibri"/>
                <a:ea typeface="Calibri"/>
                <a:cs typeface="Calibri"/>
              </a:defRPr>
            </a:pPr>
            <a:r>
              <a:rPr sz="2175" b="0">
                <a:solidFill>
                  <a:srgbClr val="1C3144"/>
                </a:solidFill>
                <a:latin typeface="Calibri"/>
                <a:ea typeface="Calibri"/>
                <a:cs typeface="Calibri"/>
              </a:rPr>
              <a:t>The customer must give prior written consent to a change of control of the provider. Consent is not required for a reorganisation within a wholly owned group if the provider remains responsible for its obligations.</a:t>
            </a:r>
          </a:p>
        </p:txBody>
      </p:sp>
      <p:sp>
        <p:nvSpPr>
          <p:cNvPr id="11" name="text-62">
            <a:extLst>
              <a:ext uri="{FF2B5EF4-FFF2-40B4-BE49-F238E27FC236}">
                <ns2:creationId id="{B0B6E30A-F664-4BB3-8916-F5F1CB20E54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The clause establishes wording. Transaction facts require their own evidence.</a:t>
            </a:r>
          </a:p>
        </p:txBody>
      </p:sp>
      <p:sp>
        <p:nvSpPr>
          <p:cNvPr id="3" name="text-60">
            <a:extLst>
              <a:ext uri="{FF2B5EF4-FFF2-40B4-BE49-F238E27FC236}">
                <ns2:creationId id="{AA7DB39C-8F88-458F-ABF0-C973ECA06E7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10</a:t>
            </a:r>
          </a:p>
        </p:txBody>
      </p:sp>
    </p:spTree>
    <p:extLst>
      <p:ext uri="{BB962C8B-B14F-4D97-AF65-F5344CB8AC3E}">
        <ns4:creationId val="45850233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instruction and review cycle">
    <p:bg>
      <p:bgPr>
        <a:solidFill>
          <a:srgbClr val="FFFFFF"/>
        </a:solidFill>
      </p:bgPr>
    </p:bg>
    <p:spTree>
      <p:nvGrpSpPr>
        <p:cNvPr id="1" name=""/>
        <p:cNvGrpSpPr/>
        <p:nvPr/>
      </p:nvGrpSpPr>
      <p:grpSpPr>
        <a:xfrm/>
      </p:grpSpPr>
      <p:cxnSp>
        <p:nvCxnSpPr>
          <p:cNvPr id="22" name="reveal-04-arrow" descr="The instruction and review cycle">
            <a:extLst>
              <a:ext uri="{FF2B5EF4-FFF2-40B4-BE49-F238E27FC236}">
                <ns2:creationId id="{0ACA7926-90FA-4EBB-B9D1-3214561632DA}"/>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9033D9E9-72F7-4854-83D1-7AB3DB688959}"/>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83EACBE3-CC6A-4FF7-B892-9C8FBF7DB512}"/>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4" name="text-63">
            <a:extLst>
              <a:ext uri="{FF2B5EF4-FFF2-40B4-BE49-F238E27FC236}">
                <ns2:creationId id="{13974AB1-3B9E-4602-B6ED-4218F48F582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64">
            <a:extLst>
              <a:ext uri="{FF2B5EF4-FFF2-40B4-BE49-F238E27FC236}">
                <ns2:creationId id="{9C6F3EDF-2C14-4E2E-BB07-A80A7D466D6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instruction and review cycle</a:t>
            </a:r>
          </a:p>
        </p:txBody>
      </p:sp>
      <p:sp>
        <p:nvSpPr>
          <p:cNvPr id="4" name="reveal-01-stage">
            <a:extLst>
              <a:ext uri="{FF2B5EF4-FFF2-40B4-BE49-F238E27FC236}">
                <ns2:creationId id="{FE2C71B2-05CF-4958-BFFF-3D519325B72D}"/>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A8B16602-7E84-4D80-8D9F-B056A9A5C254}"/>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A96194B5-5C90-4208-A4CC-2ED41F215045}"/>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Brief</a:t>
            </a:r>
          </a:p>
        </p:txBody>
      </p:sp>
      <p:sp>
        <p:nvSpPr>
          <p:cNvPr id="7" name="reveal-01-detail">
            <a:extLst>
              <a:ext uri="{FF2B5EF4-FFF2-40B4-BE49-F238E27FC236}">
                <ns2:creationId id="{7EACF180-CBBF-489F-BB1E-BB0AD9EA74AE}"/>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Task, sources and criteria</a:t>
            </a:r>
          </a:p>
        </p:txBody>
      </p:sp>
      <p:sp>
        <p:nvSpPr>
          <p:cNvPr id="8" name="reveal-02-stage">
            <a:extLst>
              <a:ext uri="{FF2B5EF4-FFF2-40B4-BE49-F238E27FC236}">
                <ns2:creationId id="{848B7FBD-8DFE-4A46-8F9E-3EC20F56D77C}"/>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2BCAFD9C-8FD3-4E8D-975D-F6760219835A}"/>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E5191719-03B8-4CB2-B593-36FE9CC730EC}"/>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Produce</a:t>
            </a:r>
          </a:p>
        </p:txBody>
      </p:sp>
      <p:sp>
        <p:nvSpPr>
          <p:cNvPr id="11" name="reveal-02-detail">
            <a:extLst>
              <a:ext uri="{FF2B5EF4-FFF2-40B4-BE49-F238E27FC236}">
                <ns2:creationId id="{A8A803D5-A0BD-436A-8BF6-819075E446F5}"/>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A source-linked draft</a:t>
            </a:r>
          </a:p>
        </p:txBody>
      </p:sp>
      <p:sp>
        <p:nvSpPr>
          <p:cNvPr id="12" name="reveal-03-stage">
            <a:extLst>
              <a:ext uri="{FF2B5EF4-FFF2-40B4-BE49-F238E27FC236}">
                <ns2:creationId id="{E4682BB4-5EEB-4DA2-9CC5-2878D83623F1}"/>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07F75086-258A-47EB-8BEA-1A33E95EB7DD}"/>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17A0818E-9327-4105-89DA-D4138839AB36}"/>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Check</a:t>
            </a:r>
          </a:p>
        </p:txBody>
      </p:sp>
      <p:sp>
        <p:nvSpPr>
          <p:cNvPr id="15" name="reveal-03-detail">
            <a:extLst>
              <a:ext uri="{FF2B5EF4-FFF2-40B4-BE49-F238E27FC236}">
                <ns2:creationId id="{A60A8E70-636C-408F-844B-0334E8DF69D1}"/>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Rule, exception and facts</a:t>
            </a:r>
          </a:p>
        </p:txBody>
      </p:sp>
      <p:sp>
        <p:nvSpPr>
          <p:cNvPr id="16" name="reveal-04-stage">
            <a:extLst>
              <a:ext uri="{FF2B5EF4-FFF2-40B4-BE49-F238E27FC236}">
                <ns2:creationId id="{5B41F7EA-38A7-461A-B60D-D91C6FB23112}"/>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126B7017-CE08-4523-A639-46F08727F8B0}"/>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783A7B3A-27D9-4CCC-898F-301F22D75420}"/>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Refine</a:t>
            </a:r>
          </a:p>
        </p:txBody>
      </p:sp>
      <p:sp>
        <p:nvSpPr>
          <p:cNvPr id="19" name="reveal-04-detail">
            <a:extLst>
              <a:ext uri="{FF2B5EF4-FFF2-40B4-BE49-F238E27FC236}">
                <ns2:creationId id="{CF54327E-3F89-4799-A768-C032083D5AD3}"/>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Correct and test again</a:t>
            </a:r>
          </a:p>
        </p:txBody>
      </p:sp>
      <p:sp>
        <p:nvSpPr>
          <p:cNvPr id="23" name="text-69">
            <a:extLst>
              <a:ext uri="{FF2B5EF4-FFF2-40B4-BE49-F238E27FC236}">
                <ns2:creationId id="{F5D91658-74E9-4BC8-B9D1-879EB506B87D}"/>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Variant A: an unrelated buyer acquires control through a share sale. Apply the current clause.</a:t>
            </a:r>
          </a:p>
        </p:txBody>
      </p:sp>
      <p:sp>
        <p:nvSpPr>
          <p:cNvPr id="3" name="text-65">
            <a:extLst>
              <a:ext uri="{FF2B5EF4-FFF2-40B4-BE49-F238E27FC236}">
                <ns2:creationId id="{2745D553-E9DC-4703-AFE6-EE9A495C5B7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11</a:t>
            </a:r>
          </a:p>
        </p:txBody>
      </p:sp>
    </p:spTree>
    <p:extLst>
      <p:ext uri="{BB962C8B-B14F-4D97-AF65-F5344CB8AC3E}">
        <ns4:creationId val="75023651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Human review begins here">
    <p:bg>
      <p:bgPr>
        <a:solidFill>
          <a:srgbClr val="FFFFFF"/>
        </a:solidFill>
      </p:bgPr>
    </p:bg>
    <p:spTree>
      <p:nvGrpSpPr>
        <p:cNvPr id="1" name=""/>
        <p:cNvGrpSpPr/>
        <p:nvPr/>
      </p:nvGrpSpPr>
      <p:grpSpPr>
        <a:xfrm/>
      </p:grpSpPr>
      <p:sp>
        <p:nvSpPr>
          <p:cNvPr id="10" name="text-70">
            <a:extLst>
              <a:ext uri="{FF2B5EF4-FFF2-40B4-BE49-F238E27FC236}">
                <ns2:creationId id="{069C0130-20D1-46F0-ABA2-3D00DD0DADB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71">
            <a:extLst>
              <a:ext uri="{FF2B5EF4-FFF2-40B4-BE49-F238E27FC236}">
                <ns2:creationId id="{808E6C44-1358-4C98-BE63-8F3D20195B4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Human review begins here</a:t>
            </a:r>
          </a:p>
        </p:txBody>
      </p:sp>
      <p:sp>
        <p:nvSpPr>
          <p:cNvPr id="4" name="text-73">
            <a:extLst>
              <a:ext uri="{FF2B5EF4-FFF2-40B4-BE49-F238E27FC236}">
                <ns2:creationId id="{AA30DB6D-7F0B-41CF-87DF-00C30701C04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74">
            <a:extLst>
              <a:ext uri="{FF2B5EF4-FFF2-40B4-BE49-F238E27FC236}">
                <ns2:creationId id="{1985FAC0-6C76-491C-9AC8-963247E9BC78}"/>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named partner checks the source and the interpretation.</a:t>
            </a:r>
          </a:p>
        </p:txBody>
      </p:sp>
      <p:sp>
        <p:nvSpPr>
          <p:cNvPr id="6" name="text-75">
            <a:extLst>
              <a:ext uri="{FF2B5EF4-FFF2-40B4-BE49-F238E27FC236}">
                <ns2:creationId id="{10C7AE42-115E-4E4C-80EA-61C54C3518F1}"/>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76">
            <a:extLst>
              <a:ext uri="{FF2B5EF4-FFF2-40B4-BE49-F238E27FC236}">
                <ns2:creationId id="{83A0D98E-B44D-4F4B-B4F8-BEBD860F7C1F}"/>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draft remains unapproved until that decision.</a:t>
            </a:r>
          </a:p>
        </p:txBody>
      </p:sp>
      <p:sp>
        <p:nvSpPr>
          <p:cNvPr id="8" name="text-77">
            <a:extLst>
              <a:ext uri="{FF2B5EF4-FFF2-40B4-BE49-F238E27FC236}">
                <ns2:creationId id="{4110B419-382C-4376-A464-1825D5BF0032}"/>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78">
            <a:extLst>
              <a:ext uri="{FF2B5EF4-FFF2-40B4-BE49-F238E27FC236}">
                <ns2:creationId id="{0D1F8635-B8F3-46FC-8329-9CB3A2CF7DE2}"/>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External delivery requires the defined approval.</a:t>
            </a:r>
          </a:p>
        </p:txBody>
      </p:sp>
      <p:sp>
        <p:nvSpPr>
          <p:cNvPr id="3" name="text-72">
            <a:extLst>
              <a:ext uri="{FF2B5EF4-FFF2-40B4-BE49-F238E27FC236}">
                <ns2:creationId id="{C5CD649E-9857-4632-B9BD-583972200CB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12</a:t>
            </a:r>
          </a:p>
        </p:txBody>
      </p:sp>
    </p:spTree>
    <p:extLst>
      <p:ext uri="{BB962C8B-B14F-4D97-AF65-F5344CB8AC3E}">
        <ns3:creationId val="1555827414"/>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Catching generic AI writing">
    <p:bg>
      <p:bgPr>
        <a:solidFill>
          <a:srgbClr val="FFFFFF"/>
        </a:solidFill>
      </p:bgPr>
    </p:bg>
    <p:spTree>
      <p:nvGrpSpPr>
        <p:cNvPr id="1" name=""/>
        <p:cNvGrpSpPr/>
        <p:nvPr/>
      </p:nvGrpSpPr>
      <p:grpSpPr>
        <a:xfrm/>
      </p:grpSpPr>
      <p:sp>
        <p:nvSpPr>
          <p:cNvPr id="8" name="text-79">
            <a:extLst>
              <a:ext uri="{FF2B5EF4-FFF2-40B4-BE49-F238E27FC236}">
                <ns2:creationId id="{BC3FC594-D6E8-4FA9-9A95-07E1906CE48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80">
            <a:extLst>
              <a:ext uri="{FF2B5EF4-FFF2-40B4-BE49-F238E27FC236}">
                <ns2:creationId id="{1F2F1432-BF7C-4FDF-9F6F-F77799E10DB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Catching generic AI writing</a:t>
            </a:r>
          </a:p>
        </p:txBody>
      </p:sp>
      <p:sp>
        <p:nvSpPr>
          <p:cNvPr id="4" name="text-82">
            <a:extLst>
              <a:ext uri="{FF2B5EF4-FFF2-40B4-BE49-F238E27FC236}">
                <ns2:creationId id="{F2787EBF-4BD1-4DE8-B357-CAF1ED324362}"/>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Weak draft</a:t>
            </a:r>
          </a:p>
        </p:txBody>
      </p:sp>
      <p:sp>
        <p:nvSpPr>
          <p:cNvPr id="5" name="text-83">
            <a:extLst>
              <a:ext uri="{FF2B5EF4-FFF2-40B4-BE49-F238E27FC236}">
                <ns2:creationId id="{A2B02BA8-09A4-4F48-B95C-E716C475564E}"/>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This robust agreement seamlessly safeguards stakeholders and unlocks compliance.</a:t>
            </a:r>
          </a:p>
        </p:txBody>
      </p:sp>
      <p:sp>
        <p:nvSpPr>
          <p:cNvPr id="6" name="text-84">
            <a:extLst>
              <a:ext uri="{FF2B5EF4-FFF2-40B4-BE49-F238E27FC236}">
                <ns2:creationId id="{957E8682-AD35-4F70-A68D-E2152CBD84FD}"/>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Useful draft</a:t>
            </a:r>
          </a:p>
        </p:txBody>
      </p:sp>
      <p:sp>
        <p:nvSpPr>
          <p:cNvPr id="7" name="text-85">
            <a:extLst>
              <a:ext uri="{FF2B5EF4-FFF2-40B4-BE49-F238E27FC236}">
                <ns2:creationId id="{DB061E5C-C4F2-4B6F-A9C9-0936AB84E17B}"/>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Clause 3 contains a group-reorganisation exception. Confirm ownership and continued provider responsibility before advising on consent.</a:t>
            </a:r>
          </a:p>
        </p:txBody>
      </p:sp>
      <p:sp>
        <p:nvSpPr>
          <p:cNvPr id="3" name="text-81">
            <a:extLst>
              <a:ext uri="{FF2B5EF4-FFF2-40B4-BE49-F238E27FC236}">
                <ns2:creationId id="{CC9F65C4-9C5C-41EE-905A-D4D390ECB3F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13</a:t>
            </a:r>
          </a:p>
        </p:txBody>
      </p:sp>
    </p:spTree>
    <p:extLst>
      <p:ext uri="{BB962C8B-B14F-4D97-AF65-F5344CB8AC3E}">
        <ns3:creationId val="890777481"/>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A small evaluation">
    <p:bg>
      <p:bgPr>
        <a:solidFill>
          <a:srgbClr val="FFFFFF"/>
        </a:solidFill>
      </p:bgPr>
    </p:bg>
    <p:spTree>
      <p:nvGrpSpPr>
        <p:cNvPr id="1" name=""/>
        <p:cNvGrpSpPr/>
        <p:nvPr/>
      </p:nvGrpSpPr>
      <p:grpSpPr>
        <a:xfrm/>
      </p:grpSpPr>
      <p:sp>
        <p:nvSpPr>
          <p:cNvPr id="5" name="text-86">
            <a:extLst>
              <a:ext uri="{FF2B5EF4-FFF2-40B4-BE49-F238E27FC236}">
                <ns2:creationId id="{E0BE4F8F-A5F8-4E32-B68C-197856C1FA3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87">
            <a:extLst>
              <a:ext uri="{FF2B5EF4-FFF2-40B4-BE49-F238E27FC236}">
                <ns2:creationId id="{7F2C1D06-27D8-49D0-8930-88340AD8E47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small evaluation</a:t>
            </a:r>
          </a:p>
        </p:txBody>
      </p:sp>
      <p:graphicFrame>
        <p:nvGraphicFramePr>
          <p:cNvPr id="4" name="">
            <a:extLst>
              <a:ext uri="{FF2B5EF4-FFF2-40B4-BE49-F238E27FC236}">
                <ns2:creationId id="{94983AFC-0716-4617-A7F6-FA9927C091AC}"/>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Check</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Question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Source accuracy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Does the quote match the current clause?</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Completeness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Does the answer preserve the exception?</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Uncertainty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Does it identify missing ownership facts?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Usefulness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Can the reviewer see the next action?</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88">
            <a:extLst>
              <a:ext uri="{FF2B5EF4-FFF2-40B4-BE49-F238E27FC236}">
                <ns2:creationId id="{831BE14A-DDF2-4054-83A3-AAB4DD6DEAE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14</a:t>
            </a:r>
          </a:p>
        </p:txBody>
      </p:sp>
    </p:spTree>
    <p:extLst>
      <p:ext uri="{BB962C8B-B14F-4D97-AF65-F5344CB8AC3E}">
        <ns3:creationId val="1155369050"/>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Questions for a vendor">
    <p:bg>
      <p:bgPr>
        <a:solidFill>
          <a:srgbClr val="FFFFFF"/>
        </a:solidFill>
      </p:bgPr>
    </p:bg>
    <p:spTree>
      <p:nvGrpSpPr>
        <p:cNvPr id="1" name=""/>
        <p:cNvGrpSpPr/>
        <p:nvPr/>
      </p:nvGrpSpPr>
      <p:grpSpPr>
        <a:xfrm/>
      </p:grpSpPr>
      <p:sp>
        <p:nvSpPr>
          <p:cNvPr id="5" name="text-89">
            <a:extLst>
              <a:ext uri="{FF2B5EF4-FFF2-40B4-BE49-F238E27FC236}">
                <ns2:creationId id="{5A3D8DDB-5706-4081-A6F5-07D8751EF8F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90">
            <a:extLst>
              <a:ext uri="{FF2B5EF4-FFF2-40B4-BE49-F238E27FC236}">
                <ns2:creationId id="{A9544112-FC96-4727-A666-D6FC5CA2214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Questions for a vendor</a:t>
            </a:r>
          </a:p>
        </p:txBody>
      </p:sp>
      <p:graphicFrame>
        <p:nvGraphicFramePr>
          <p:cNvPr id="4" name="">
            <a:extLst>
              <a:ext uri="{FF2B5EF4-FFF2-40B4-BE49-F238E27FC236}">
                <ns2:creationId id="{7C46D88D-C7DE-410E-8E94-BAC19CF2B74B}"/>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Area</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Ask for evidence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Legal coverage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Jurisdictions, sources, updates and exclusions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Evaluation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Representative cases, errors and review effort</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Data</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Terms, access, retention, location and deletion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Operations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Integrations, support, logs and exit</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Commercial</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Total costs, limits and change terms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91">
            <a:extLst>
              <a:ext uri="{FF2B5EF4-FFF2-40B4-BE49-F238E27FC236}">
                <ns2:creationId id="{EFA317E9-5ECB-444F-BE73-BD6EA5A66F9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15</a:t>
            </a:r>
          </a:p>
        </p:txBody>
      </p:sp>
    </p:spTree>
    <p:extLst>
      <p:ext uri="{BB962C8B-B14F-4D97-AF65-F5344CB8AC3E}">
        <ns3:creationId val="2076741907"/>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92">
            <a:extLst>
              <a:ext uri="{FF2B5EF4-FFF2-40B4-BE49-F238E27FC236}">
                <ns2:creationId id="{235A644E-AD0A-4FD8-B83A-A22C3C871E2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93">
            <a:extLst>
              <a:ext uri="{FF2B5EF4-FFF2-40B4-BE49-F238E27FC236}">
                <ns2:creationId id="{23D17A0F-AC16-46C8-B040-69F4649F73B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95">
            <a:extLst>
              <a:ext uri="{FF2B5EF4-FFF2-40B4-BE49-F238E27FC236}">
                <ns2:creationId id="{A60BA8EF-D960-41A8-9F19-F1AE11FAD3C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96">
            <a:extLst>
              <a:ext uri="{FF2B5EF4-FFF2-40B4-BE49-F238E27FC236}">
                <ns2:creationId id="{25ED2E35-5DF5-4EB3-B751-2E0C35F660B4}"/>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Inspect the actual account and data terms.</a:t>
            </a:r>
          </a:p>
        </p:txBody>
      </p:sp>
      <p:sp>
        <p:nvSpPr>
          <p:cNvPr id="6" name="text-97">
            <a:extLst>
              <a:ext uri="{FF2B5EF4-FFF2-40B4-BE49-F238E27FC236}">
                <ns2:creationId id="{8EBF7332-B9ED-4643-A4EC-3572BE15A692}"/>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98">
            <a:extLst>
              <a:ext uri="{FF2B5EF4-FFF2-40B4-BE49-F238E27FC236}">
                <ns2:creationId id="{4DDA4E6B-18CC-4831-AF1A-5C86C230C68B}"/>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a vague request with a professional brief.</a:t>
            </a:r>
          </a:p>
        </p:txBody>
      </p:sp>
      <p:sp>
        <p:nvSpPr>
          <p:cNvPr id="8" name="text-99">
            <a:extLst>
              <a:ext uri="{FF2B5EF4-FFF2-40B4-BE49-F238E27FC236}">
                <ns2:creationId id="{AFF70278-FC97-4FAE-9384-F31FC52A888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00">
            <a:extLst>
              <a:ext uri="{FF2B5EF4-FFF2-40B4-BE49-F238E27FC236}">
                <ns2:creationId id="{D85035DD-63C2-4F5F-8C37-8361EE561CE9}"/>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Apply Variant A: an unrelated share-sale buyer.</a:t>
            </a:r>
          </a:p>
        </p:txBody>
      </p:sp>
      <p:sp>
        <p:nvSpPr>
          <p:cNvPr id="10" name="text-101">
            <a:extLst>
              <a:ext uri="{FF2B5EF4-FFF2-40B4-BE49-F238E27FC236}">
                <ns2:creationId id="{5500B438-22D3-4E43-9762-1E12E1BE3B8B}"/>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02">
            <a:extLst>
              <a:ext uri="{FF2B5EF4-FFF2-40B4-BE49-F238E27FC236}">
                <ns2:creationId id="{486DC166-D799-4F59-BFC9-2D94C57E78C5}"/>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the result and record a procurement question.</a:t>
            </a:r>
          </a:p>
        </p:txBody>
      </p:sp>
      <p:sp>
        <p:nvSpPr>
          <p:cNvPr id="12" name="text-103">
            <a:extLst>
              <a:ext uri="{FF2B5EF4-FFF2-40B4-BE49-F238E27FC236}">
                <ns2:creationId id="{143C4468-C923-41A6-9B72-FE2992A4882D}"/>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94">
            <a:extLst>
              <a:ext uri="{FF2B5EF4-FFF2-40B4-BE49-F238E27FC236}">
                <ns2:creationId id="{8EDB9F2D-EC2E-43D9-BCA0-DD1D1CBD1D5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16</a:t>
            </a:r>
          </a:p>
        </p:txBody>
      </p:sp>
    </p:spTree>
    <p:extLst>
      <p:ext uri="{BB962C8B-B14F-4D97-AF65-F5344CB8AC3E}">
        <ns3:creationId val="890870261"/>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104">
            <a:extLst>
              <a:ext uri="{FF2B5EF4-FFF2-40B4-BE49-F238E27FC236}">
                <ns2:creationId id="{851F1D8F-D566-4E6A-8356-F880F10CDAD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05">
            <a:extLst>
              <a:ext uri="{FF2B5EF4-FFF2-40B4-BE49-F238E27FC236}">
                <ns2:creationId id="{DAC39FE5-1F27-44FD-BDF7-5FA50484E8A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107">
            <a:extLst>
              <a:ext uri="{FF2B5EF4-FFF2-40B4-BE49-F238E27FC236}">
                <ns2:creationId id="{4A650C6E-A59B-4BFA-9BC9-F80CB95FD8C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08">
            <a:extLst>
              <a:ext uri="{FF2B5EF4-FFF2-40B4-BE49-F238E27FC236}">
                <ns2:creationId id="{30E22B42-0ABC-4086-9B5A-956A56DDD7D2}"/>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For Variant A, the wholly-owned-group exception does not apply and clause 3 requires prior written customer consent. A useful brief specifies sources, task, output, gaps and review. Data terms require account-specific inspection.</a:t>
            </a:r>
          </a:p>
        </p:txBody>
      </p:sp>
      <p:sp>
        <p:nvSpPr>
          <p:cNvPr id="6" name="text-109">
            <a:extLst>
              <a:ext uri="{FF2B5EF4-FFF2-40B4-BE49-F238E27FC236}">
                <ns2:creationId id="{A31D1B75-CBBA-4714-B646-608C8EC5AE9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10">
            <a:extLst>
              <a:ext uri="{FF2B5EF4-FFF2-40B4-BE49-F238E27FC236}">
                <ns2:creationId id="{2C5E1CFA-76A4-4D6B-9527-4DB6EE636FA8}"/>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tiny class comparison does not rank providers or authorise use of a real client matter.</a:t>
            </a:r>
          </a:p>
        </p:txBody>
      </p:sp>
      <p:sp>
        <p:nvSpPr>
          <p:cNvPr id="3" name="text-106">
            <a:extLst>
              <a:ext uri="{FF2B5EF4-FFF2-40B4-BE49-F238E27FC236}">
                <ns2:creationId id="{D33CC09D-C29B-47B0-ADD8-B2BA6796E41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17</a:t>
            </a:r>
          </a:p>
        </p:txBody>
      </p:sp>
    </p:spTree>
    <p:extLst>
      <p:ext uri="{BB962C8B-B14F-4D97-AF65-F5344CB8AC3E}">
        <ns3:creationId val="1759680802"/>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111">
            <a:extLst>
              <a:ext uri="{FF2B5EF4-FFF2-40B4-BE49-F238E27FC236}">
                <ns2:creationId id="{8E7B3F41-BC2B-4E86-B0B6-1351497B604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12">
            <a:extLst>
              <a:ext uri="{FF2B5EF4-FFF2-40B4-BE49-F238E27FC236}">
                <ns2:creationId id="{5F1EC9B3-23D6-4819-8031-8B8A1968DF7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114">
            <a:extLst>
              <a:ext uri="{FF2B5EF4-FFF2-40B4-BE49-F238E27FC236}">
                <ns2:creationId id="{17E31C82-19EA-4BEF-8314-D361BB9191E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5">
            <a:extLst>
              <a:ext uri="{FF2B5EF4-FFF2-40B4-BE49-F238E27FC236}">
                <ns2:creationId id="{08A4E479-B4BE-4C44-8617-1916E70BD2A5}"/>
              </a:ext>
            </a:extLst>
          </p:cNvPr>
          <p:cNvSpPr>
            <a:spLocks noGrp="1"/>
          </p:cNvSpPr>
          <p:nvPr/>
        </p:nvSpPr>
        <p:spPr>
          <a:xfrm>
            <a:off x="1285875" y="1943100"/>
            <a:ext cx="10191750"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Evaluate one available tool on a permitted task before selecting a subscription or integration.</a:t>
            </a:r>
          </a:p>
        </p:txBody>
      </p:sp>
      <p:sp>
        <p:nvSpPr>
          <p:cNvPr id="6" name="text-116">
            <a:extLst>
              <a:ext uri="{FF2B5EF4-FFF2-40B4-BE49-F238E27FC236}">
                <ns2:creationId id="{E5BEF004-F366-4078-8777-963C345AA7CF}"/>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113">
            <a:extLst>
              <a:ext uri="{FF2B5EF4-FFF2-40B4-BE49-F238E27FC236}">
                <ns2:creationId id="{F215058B-3223-4859-8026-C61B71C98E1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18</a:t>
            </a:r>
          </a:p>
        </p:txBody>
      </p:sp>
    </p:spTree>
    <p:extLst>
      <p:ext uri="{BB962C8B-B14F-4D97-AF65-F5344CB8AC3E}">
        <ns3:creationId val="1715020406"/>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117">
            <a:extLst>
              <a:ext uri="{FF2B5EF4-FFF2-40B4-BE49-F238E27FC236}">
                <ns2:creationId id="{A6F4DCB7-9A33-4C0E-A100-ACF40201070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18">
            <a:extLst>
              <a:ext uri="{FF2B5EF4-FFF2-40B4-BE49-F238E27FC236}">
                <ns2:creationId id="{3EE91B93-C047-463B-850A-951731B9674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120">
            <a:extLst>
              <a:ext uri="{FF2B5EF4-FFF2-40B4-BE49-F238E27FC236}">
                <ns2:creationId id="{3C894DFA-9056-4ADF-B86B-2689A7A7980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21">
            <a:extLst>
              <a:ext uri="{FF2B5EF4-FFF2-40B4-BE49-F238E27FC236}">
                <ns2:creationId id="{486A2A79-D5D3-4E4D-BF1B-CB8965122491}"/>
              </a:ext>
            </a:extLst>
          </p:cNvPr>
          <p:cNvSpPr>
            <a:spLocks noGrp="1"/>
          </p:cNvSpPr>
          <p:nvPr/>
        </p:nvSpPr>
        <p:spPr>
          <a:xfrm>
            <a:off x="1285875" y="194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An unrelated buyer acquires control of Equator. Does clause 3’s group exception apply?</a:t>
            </a:r>
          </a:p>
        </p:txBody>
      </p:sp>
      <p:sp>
        <p:nvSpPr>
          <p:cNvPr id="6" name="text-122">
            <a:extLst>
              <a:ext uri="{FF2B5EF4-FFF2-40B4-BE49-F238E27FC236}">
                <ns2:creationId id="{1474AEA8-8F0B-4569-86BD-0973587887BE}"/>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23">
            <a:extLst>
              <a:ext uri="{FF2B5EF4-FFF2-40B4-BE49-F238E27FC236}">
                <ns2:creationId id="{F40CFD04-29F2-473C-A538-38683B702D50}"/>
              </a:ext>
            </a:extLst>
          </p:cNvPr>
          <p:cNvSpPr>
            <a:spLocks noGrp="1"/>
          </p:cNvSpPr>
          <p:nvPr/>
        </p:nvSpPr>
        <p:spPr>
          <a:xfrm>
            <a:off x="1285875" y="321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account is paid. May the firm upload any matter?</a:t>
            </a:r>
          </a:p>
        </p:txBody>
      </p:sp>
      <p:sp>
        <p:nvSpPr>
          <p:cNvPr id="8" name="text-124">
            <a:extLst>
              <a:ext uri="{FF2B5EF4-FFF2-40B4-BE49-F238E27FC236}">
                <ns2:creationId id="{6EBEA655-E861-417D-A020-D885C78C217F}"/>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25">
            <a:extLst>
              <a:ext uri="{FF2B5EF4-FFF2-40B4-BE49-F238E27FC236}">
                <ns2:creationId id="{77CA13C8-A5B5-49E0-845C-3A0BD5FAEE84}"/>
              </a:ext>
            </a:extLst>
          </p:cNvPr>
          <p:cNvSpPr>
            <a:spLocks noGrp="1"/>
          </p:cNvSpPr>
          <p:nvPr/>
        </p:nvSpPr>
        <p:spPr>
          <a:xfrm>
            <a:off x="1285875" y="448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prompt requests a citation. What makes it useful?</a:t>
            </a:r>
          </a:p>
        </p:txBody>
      </p:sp>
      <p:sp>
        <p:nvSpPr>
          <p:cNvPr id="3" name="text-119">
            <a:extLst>
              <a:ext uri="{FF2B5EF4-FFF2-40B4-BE49-F238E27FC236}">
                <ns2:creationId id="{82B25B19-1692-4BEA-B4D1-54551F8D494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19</a:t>
            </a:r>
          </a:p>
        </p:txBody>
      </p:sp>
    </p:spTree>
    <p:extLst>
      <p:ext uri="{BB962C8B-B14F-4D97-AF65-F5344CB8AC3E}">
        <ns3:creationId val="1944626681"/>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Legal document review in the market">
    <p:bg>
      <p:bgPr>
        <a:solidFill>
          <a:srgbClr val="FFFFFF"/>
        </a:solidFill>
      </p:bgPr>
    </p:bg>
    <p:spTree>
      <p:nvGrpSpPr>
        <p:cNvPr id="1" name=""/>
        <p:cNvGrpSpPr/>
        <p:nvPr/>
      </p:nvGrpSpPr>
      <p:grpSpPr>
        <a:xfrm/>
      </p:grpSpPr>
      <p:sp>
        <p:nvSpPr>
          <p:cNvPr id="10" name="text-126">
            <a:extLst>
              <a:ext uri="{FF2B5EF4-FFF2-40B4-BE49-F238E27FC236}">
                <ns2:creationId id="{ED4B0614-5840-42AB-977A-B36A22BF352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27">
            <a:extLst>
              <a:ext uri="{FF2B5EF4-FFF2-40B4-BE49-F238E27FC236}">
                <ns2:creationId id="{1D3AB8C5-4671-47B4-85C5-16044FCFBD5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Legal document review in the market</a:t>
            </a:r>
          </a:p>
        </p:txBody>
      </p:sp>
      <p:sp>
        <p:nvSpPr>
          <p:cNvPr id="4" name="text-129">
            <a:extLst>
              <a:ext uri="{FF2B5EF4-FFF2-40B4-BE49-F238E27FC236}">
                <ns2:creationId id="{1F0B124B-8DA1-4759-A0E1-BDA279CAD6B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30">
            <a:extLst>
              <a:ext uri="{FF2B5EF4-FFF2-40B4-BE49-F238E27FC236}">
                <ns2:creationId id="{EE8371CA-EF86-49FB-A617-AEDCAA98D664}"/>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Harvey combines document review, drafting and workflows.</a:t>
            </a:r>
          </a:p>
        </p:txBody>
      </p:sp>
      <p:sp>
        <p:nvSpPr>
          <p:cNvPr id="6" name="text-131">
            <a:extLst>
              <a:ext uri="{FF2B5EF4-FFF2-40B4-BE49-F238E27FC236}">
                <ns2:creationId id="{7DC65EBC-3F95-4A43-BDB1-F79A2C3538B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32">
            <a:extLst>
              <a:ext uri="{FF2B5EF4-FFF2-40B4-BE49-F238E27FC236}">
                <ns2:creationId id="{D3F0FEC1-E0BF-4D82-BCBA-1F244FF7A82F}"/>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NetDocuments offers source-linked comparison across document collections.</a:t>
            </a:r>
          </a:p>
        </p:txBody>
      </p:sp>
      <p:sp>
        <p:nvSpPr>
          <p:cNvPr id="8" name="text-133">
            <a:extLst>
              <a:ext uri="{FF2B5EF4-FFF2-40B4-BE49-F238E27FC236}">
                <ns2:creationId id="{2BB2D3A1-D23D-4EB9-B13A-AFC13D2FE854}"/>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34">
            <a:extLst>
              <a:ext uri="{FF2B5EF4-FFF2-40B4-BE49-F238E27FC236}">
                <ns2:creationId id="{9FA12313-8261-4F3E-A8C1-CBAB6C66562A}"/>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We would check access, evidence quality and fit to the firm.</a:t>
            </a:r>
          </a:p>
        </p:txBody>
      </p:sp>
      <p:sp>
        <p:nvSpPr>
          <p:cNvPr id="3" name="text-128">
            <a:extLst>
              <a:ext uri="{FF2B5EF4-FFF2-40B4-BE49-F238E27FC236}">
                <ns2:creationId id="{C6D439C3-5D0B-4516-9D3C-B29624CB82D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20   OPTIONAL EXPLORATION</a:t>
            </a:r>
          </a:p>
        </p:txBody>
      </p:sp>
    </p:spTree>
    <p:extLst>
      <p:ext uri="{BB962C8B-B14F-4D97-AF65-F5344CB8AC3E}">
        <ns3:creationId val="54219309"/>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Knowledge search in the firm">
    <p:bg>
      <p:bgPr>
        <a:solidFill>
          <a:srgbClr val="FFFFFF"/>
        </a:solidFill>
      </p:bgPr>
    </p:bg>
    <p:spTree>
      <p:nvGrpSpPr>
        <p:cNvPr id="1" name=""/>
        <p:cNvGrpSpPr/>
        <p:nvPr/>
      </p:nvGrpSpPr>
      <p:grpSpPr>
        <a:xfrm/>
      </p:grpSpPr>
      <p:sp>
        <p:nvSpPr>
          <p:cNvPr id="10" name="text-135">
            <a:extLst>
              <a:ext uri="{FF2B5EF4-FFF2-40B4-BE49-F238E27FC236}">
                <ns2:creationId id="{97FF9920-9324-4DDF-8023-874A4AE56D1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36">
            <a:extLst>
              <a:ext uri="{FF2B5EF4-FFF2-40B4-BE49-F238E27FC236}">
                <ns2:creationId id="{14262052-1AF5-4E41-A9FC-0FBF48DAD4F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Knowledge search in the firm</a:t>
            </a:r>
          </a:p>
        </p:txBody>
      </p:sp>
      <p:sp>
        <p:nvSpPr>
          <p:cNvPr id="4" name="text-138">
            <a:extLst>
              <a:ext uri="{FF2B5EF4-FFF2-40B4-BE49-F238E27FC236}">
                <ns2:creationId id="{2E7BF0C7-468E-462B-8068-875AE22C745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39">
            <a:extLst>
              <a:ext uri="{FF2B5EF4-FFF2-40B4-BE49-F238E27FC236}">
                <ns2:creationId id="{68E7D4B5-7826-467F-BC15-84D798B4FC29}"/>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Find a precedent the team may already hold.</a:t>
            </a:r>
          </a:p>
        </p:txBody>
      </p:sp>
      <p:sp>
        <p:nvSpPr>
          <p:cNvPr id="6" name="text-140">
            <a:extLst>
              <a:ext uri="{FF2B5EF4-FFF2-40B4-BE49-F238E27FC236}">
                <ns2:creationId id="{71DDDC81-4599-4F20-B674-97B1809CCAE0}"/>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41">
            <a:extLst>
              <a:ext uri="{FF2B5EF4-FFF2-40B4-BE49-F238E27FC236}">
                <ns2:creationId id="{73F37688-65DF-4530-81F9-BFD56C255DD3}"/>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clauses across authorised agreements.</a:t>
            </a:r>
          </a:p>
        </p:txBody>
      </p:sp>
      <p:sp>
        <p:nvSpPr>
          <p:cNvPr id="8" name="text-142">
            <a:extLst>
              <a:ext uri="{FF2B5EF4-FFF2-40B4-BE49-F238E27FC236}">
                <ns2:creationId id="{4E474CDE-0491-4845-BBC5-AB3DA428445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43">
            <a:extLst>
              <a:ext uri="{FF2B5EF4-FFF2-40B4-BE49-F238E27FC236}">
                <ns2:creationId id="{449EE0DF-E428-47EA-A318-6D9FB701A095}"/>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Open the original passage before relying on the answer.</a:t>
            </a:r>
          </a:p>
        </p:txBody>
      </p:sp>
      <p:sp>
        <p:nvSpPr>
          <p:cNvPr id="3" name="text-137">
            <a:extLst>
              <a:ext uri="{FF2B5EF4-FFF2-40B4-BE49-F238E27FC236}">
                <ns2:creationId id="{6868EC79-512D-471C-BEB4-39CDEA12EB2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21   OPTIONAL EXPLORATION</a:t>
            </a:r>
          </a:p>
        </p:txBody>
      </p:sp>
    </p:spTree>
    <p:extLst>
      <p:ext uri="{BB962C8B-B14F-4D97-AF65-F5344CB8AC3E}">
        <ns3:creationId val="427576531"/>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Investment research as a transfer example">
    <p:bg>
      <p:bgPr>
        <a:solidFill>
          <a:srgbClr val="FFFFFF"/>
        </a:solidFill>
      </p:bgPr>
    </p:bg>
    <p:spTree>
      <p:nvGrpSpPr>
        <p:cNvPr id="1" name=""/>
        <p:cNvGrpSpPr/>
        <p:nvPr/>
      </p:nvGrpSpPr>
      <p:grpSpPr>
        <a:xfrm/>
      </p:grpSpPr>
      <p:sp>
        <p:nvSpPr>
          <p:cNvPr id="10" name="text-144">
            <a:extLst>
              <a:ext uri="{FF2B5EF4-FFF2-40B4-BE49-F238E27FC236}">
                <ns2:creationId id="{D6115B7B-7FBC-4539-B596-F476F5DB297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45">
            <a:extLst>
              <a:ext uri="{FF2B5EF4-FFF2-40B4-BE49-F238E27FC236}">
                <ns2:creationId id="{851A8C9E-22CE-4469-9865-3B3EF2435D9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Investment research as a transfer example</a:t>
            </a:r>
          </a:p>
        </p:txBody>
      </p:sp>
      <p:sp>
        <p:nvSpPr>
          <p:cNvPr id="4" name="text-147">
            <a:extLst>
              <a:ext uri="{FF2B5EF4-FFF2-40B4-BE49-F238E27FC236}">
                <ns2:creationId id="{9D21E514-07BA-4921-90B4-7D0DB3BF2A33}"/>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48">
            <a:extLst>
              <a:ext uri="{FF2B5EF4-FFF2-40B4-BE49-F238E27FC236}">
                <ns2:creationId id="{E9ADC1BD-7824-42EC-B19A-03383C521235}"/>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AlphaSense offers multi-step research over its available content.</a:t>
            </a:r>
          </a:p>
        </p:txBody>
      </p:sp>
      <p:sp>
        <p:nvSpPr>
          <p:cNvPr id="6" name="text-149">
            <a:extLst>
              <a:ext uri="{FF2B5EF4-FFF2-40B4-BE49-F238E27FC236}">
                <ns2:creationId id="{6B9DF0D1-BE6C-4359-8649-2E9E26A8A7FB}"/>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50">
            <a:extLst>
              <a:ext uri="{FF2B5EF4-FFF2-40B4-BE49-F238E27FC236}">
                <ns2:creationId id="{9E2854F2-FD1F-45D6-BE1E-EF88EB05C97D}"/>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partner could investigate a sector or compare investment claims.</a:t>
            </a:r>
          </a:p>
        </p:txBody>
      </p:sp>
      <p:sp>
        <p:nvSpPr>
          <p:cNvPr id="8" name="text-151">
            <a:extLst>
              <a:ext uri="{FF2B5EF4-FFF2-40B4-BE49-F238E27FC236}">
                <ns2:creationId id="{3EE62240-78B5-48EB-B60E-434DF8E81DE7}"/>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52">
            <a:extLst>
              <a:ext uri="{FF2B5EF4-FFF2-40B4-BE49-F238E27FC236}">
                <ns2:creationId id="{C880E51B-B4B0-4AAD-AF1F-33E29727526A}"/>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Source access and relevance determine what the report can establish.</a:t>
            </a:r>
          </a:p>
        </p:txBody>
      </p:sp>
      <p:sp>
        <p:nvSpPr>
          <p:cNvPr id="3" name="text-146">
            <a:extLst>
              <a:ext uri="{FF2B5EF4-FFF2-40B4-BE49-F238E27FC236}">
                <ns2:creationId id="{B11B7103-B3F1-4130-9766-A95100BCD3B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22   OPTIONAL EXPLORATION</a:t>
            </a:r>
          </a:p>
        </p:txBody>
      </p:sp>
    </p:spTree>
    <p:extLst>
      <p:ext uri="{BB962C8B-B14F-4D97-AF65-F5344CB8AC3E}">
        <ns3:creationId val="1303597231"/>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Adjacent use cases to assess">
    <p:bg>
      <p:bgPr>
        <a:solidFill>
          <a:srgbClr val="FFFFFF"/>
        </a:solidFill>
      </p:bgPr>
    </p:bg>
    <p:spTree>
      <p:nvGrpSpPr>
        <p:cNvPr id="1" name=""/>
        <p:cNvGrpSpPr/>
        <p:nvPr/>
      </p:nvGrpSpPr>
      <p:grpSpPr>
        <a:xfrm/>
      </p:grpSpPr>
      <p:sp>
        <p:nvSpPr>
          <p:cNvPr id="5" name="text-153">
            <a:extLst>
              <a:ext uri="{FF2B5EF4-FFF2-40B4-BE49-F238E27FC236}">
                <ns2:creationId id="{3059C51C-F0BC-40B4-863C-BE1DF0FEB2D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54">
            <a:extLst>
              <a:ext uri="{FF2B5EF4-FFF2-40B4-BE49-F238E27FC236}">
                <ns2:creationId id="{1D1CB03A-E912-4735-9EDC-E0E0AA61732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Adjacent use cases to assess</a:t>
            </a:r>
          </a:p>
        </p:txBody>
      </p:sp>
      <p:graphicFrame>
        <p:nvGraphicFramePr>
          <p:cNvPr id="4" name="">
            <a:extLst>
              <a:ext uri="{FF2B5EF4-FFF2-40B4-BE49-F238E27FC236}">
                <ns2:creationId id="{AF5CFA45-CF64-46DE-9C6F-A00170785ABF}"/>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Area</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Proposed use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Decision boundary</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Fintech</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Regulatory-change evidence brief</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Qualified interpretation and source dates</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Telco</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Complaint themes and contract obligations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Access and individual treatment</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Investments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Compare claims with source records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Diligence and investment decision</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155">
            <a:extLst>
              <a:ext uri="{FF2B5EF4-FFF2-40B4-BE49-F238E27FC236}">
                <ns2:creationId id="{0A2F8617-A43C-4AD4-AE06-51A7BDE9C31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23   OPTIONAL EXPLORATION</a:t>
            </a:r>
          </a:p>
        </p:txBody>
      </p:sp>
    </p:spTree>
    <p:extLst>
      <p:ext uri="{BB962C8B-B14F-4D97-AF65-F5344CB8AC3E}">
        <ns3:creationId val="1587756564"/>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Examples and output structure">
    <p:bg>
      <p:bgPr>
        <a:solidFill>
          <a:srgbClr val="FFFFFF"/>
        </a:solidFill>
      </p:bgPr>
    </p:bg>
    <p:spTree>
      <p:nvGrpSpPr>
        <p:cNvPr id="1" name=""/>
        <p:cNvGrpSpPr/>
        <p:nvPr/>
      </p:nvGrpSpPr>
      <p:grpSpPr>
        <a:xfrm/>
      </p:grpSpPr>
      <p:sp>
        <p:nvSpPr>
          <p:cNvPr id="10" name="text-156">
            <a:extLst>
              <a:ext uri="{FF2B5EF4-FFF2-40B4-BE49-F238E27FC236}">
                <ns2:creationId id="{749391AB-8D35-47FC-A595-CF007251358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04</a:t>
            </a:r>
          </a:p>
        </p:txBody>
      </p:sp>
      <p:sp>
        <p:nvSpPr>
          <p:cNvPr id="2" name="text-157">
            <a:extLst>
              <a:ext uri="{FF2B5EF4-FFF2-40B4-BE49-F238E27FC236}">
                <ns2:creationId id="{5365D173-FCB4-4B57-AC7C-41B7821639F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Examples and output structure</a:t>
            </a:r>
          </a:p>
        </p:txBody>
      </p:sp>
      <p:sp>
        <p:nvSpPr>
          <p:cNvPr id="4" name="text-159">
            <a:extLst>
              <a:ext uri="{FF2B5EF4-FFF2-40B4-BE49-F238E27FC236}">
                <ns2:creationId id="{AC0898FF-D535-4FA4-8381-FF79F2D35C3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60">
            <a:extLst>
              <a:ext uri="{FF2B5EF4-FFF2-40B4-BE49-F238E27FC236}">
                <ns2:creationId id="{CBD4AB18-E400-4D31-9CF8-E5B9A6741127}"/>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completed example can clarify what we mean.</a:t>
            </a:r>
          </a:p>
        </p:txBody>
      </p:sp>
      <p:sp>
        <p:nvSpPr>
          <p:cNvPr id="6" name="text-161">
            <a:extLst>
              <a:ext uri="{FF2B5EF4-FFF2-40B4-BE49-F238E27FC236}">
                <ns2:creationId id="{6623E630-1C88-4461-897A-2BC8542519CC}"/>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62">
            <a:extLst>
              <a:ext uri="{FF2B5EF4-FFF2-40B4-BE49-F238E27FC236}">
                <ns2:creationId id="{53C56FD1-54B2-4780-A294-B6F83E3FD3C7}"/>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table can make omissions visible.</a:t>
            </a:r>
          </a:p>
        </p:txBody>
      </p:sp>
      <p:sp>
        <p:nvSpPr>
          <p:cNvPr id="8" name="text-163">
            <a:extLst>
              <a:ext uri="{FF2B5EF4-FFF2-40B4-BE49-F238E27FC236}">
                <ns2:creationId id="{BF7BDDDE-2CB7-4656-9D78-977CA7754C77}"/>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64">
            <a:extLst>
              <a:ext uri="{FF2B5EF4-FFF2-40B4-BE49-F238E27FC236}">
                <ns2:creationId id="{0E04A360-EB5B-4BA0-84B7-C55A6BCF4862}"/>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schema can constrain structure while leaving factual checks necessary.</a:t>
            </a:r>
          </a:p>
        </p:txBody>
      </p:sp>
      <p:sp>
        <p:nvSpPr>
          <p:cNvPr id="3" name="text-158">
            <a:extLst>
              <a:ext uri="{FF2B5EF4-FFF2-40B4-BE49-F238E27FC236}">
                <ns2:creationId id="{8730968B-F87C-4913-8DE0-D4109334F35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04   24   OPTIONAL EXPLORATION</a:t>
            </a:r>
          </a:p>
        </p:txBody>
      </p:sp>
    </p:spTree>
    <p:extLst>
      <p:ext uri="{BB962C8B-B14F-4D97-AF65-F5344CB8AC3E}">
        <ns3:creationId val="1097278116"/>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2026-10-26T10:01:45.7740000Z</dcterms:created>
  <dcterms:modified xsi:type="dcterms:W3CDTF">2026-10-26T10:01:45.7740000Z</dcterms:modified>
</coreProperties>
</file>