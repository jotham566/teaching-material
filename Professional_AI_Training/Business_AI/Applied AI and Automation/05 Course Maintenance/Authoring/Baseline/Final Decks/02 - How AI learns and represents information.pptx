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8a100db1c44c2f" /><Relationship Type="http://schemas.openxmlformats.org/officeDocument/2006/relationships/extended-properties" Target="/docProps/app.xml" Id="R248531f88d7d4ebe" /><Relationship Type="http://schemas.openxmlformats.org/officeDocument/2006/relationships/officeDocument" Target="/ppt/presentation.xml" Id="R03a04eb2742a4cd6" /></Relationships>
</file>

<file path=ppt/presentation.xml><?xml version="1.0" encoding="utf-8"?>
<p:presentation xmlns:p="http://schemas.openxmlformats.org/presentationml/2006/main" xmlns:r="http://schemas.openxmlformats.org/officeDocument/2006/relationships">
  <p:sldMasterIdLst>
    <p:sldMasterId id="2147483648" r:id="Rd4042f43885f4ce7"/>
  </p:sldMasterIdLst>
  <p:notesMasterIdLst>
    <p:notesMasterId r:id="Rcf4cce565ae94118"/>
  </p:notesMasterIdLst>
  <p:sldIdLst>
    <p:sldId id="256" r:id="R15ef46d0a34e4ae9"/>
    <p:sldId id="257" r:id="R8317877688f74bf1"/>
    <p:sldId id="258" r:id="Rb93bc283f2594970"/>
    <p:sldId id="259" r:id="Ra46feb77db724b85"/>
    <p:sldId id="260" r:id="R5e5eb05e9e344e24"/>
    <p:sldId id="261" r:id="Rc1630625b3b342a6"/>
    <p:sldId id="262" r:id="R14ffec3a884b431f"/>
    <p:sldId id="263" r:id="R7fdbe44b6907454f"/>
    <p:sldId id="264" r:id="R0b94124ec8424f40"/>
    <p:sldId id="265" r:id="R94d09e44dd0d4e64"/>
    <p:sldId id="266" r:id="Rd358799a7c43483b"/>
    <p:sldId id="267" r:id="R28eeead1df46447e"/>
    <p:sldId id="268" r:id="Rf7bfb37513fb4d36"/>
    <p:sldId id="269" r:id="R238ff54fdeff460d"/>
    <p:sldId id="270" r:id="R6fb1cb02a15b4ed3"/>
    <p:sldId id="271" r:id="R696ae321195c47b0"/>
    <p:sldId id="272" r:id="Ra5b6203a4b834846"/>
    <p:sldId id="273" r:id="R588580896e084a5a"/>
    <p:sldId id="274" r:id="R38fb7b1a99ad4dcb"/>
    <p:sldId id="275" r:id="Ra091c12bf19d4a1c"/>
    <p:sldId id="276" r:id="R8cced74da30c49c8"/>
    <p:sldId id="277" r:id="Ra495d31e2af54d82"/>
    <p:sldId id="278" r:id="R4382035654874d65"/>
    <p:sldId id="279" r:id="Rf19a5d670bf040ce"/>
    <p:sldId id="280" r:id="Rcead3ca376614fd4"/>
  </p:sldIdLst>
  <p:sldSz cx="12192000" cy="6858000"/>
  <p:notesSz cx="6858000" cy="9144000"/>
  <p:custShowLst>
    <p:custShow name="Core teaching" id="1">
      <p:sldLst>
        <p:sld r:id="R15ef46d0a34e4ae9"/>
        <p:sld r:id="R8317877688f74bf1"/>
        <p:sld r:id="Rb93bc283f2594970"/>
        <p:sld r:id="Ra46feb77db724b85"/>
        <p:sld r:id="R5e5eb05e9e344e24"/>
        <p:sld r:id="Rc1630625b3b342a6"/>
        <p:sld r:id="R14ffec3a884b431f"/>
        <p:sld r:id="R7fdbe44b6907454f"/>
        <p:sld r:id="R0b94124ec8424f40"/>
        <p:sld r:id="R94d09e44dd0d4e64"/>
        <p:sld r:id="Rd358799a7c43483b"/>
        <p:sld r:id="R28eeead1df46447e"/>
        <p:sld r:id="Rf7bfb37513fb4d36"/>
        <p:sld r:id="R238ff54fdeff460d"/>
        <p:sld r:id="R6fb1cb02a15b4ed3"/>
        <p:sld r:id="R696ae321195c47b0"/>
        <p:sld r:id="Ra5b6203a4b834846"/>
        <p:sld r:id="R588580896e084a5a"/>
        <p:sld r:id="R38fb7b1a99ad4dcb"/>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180abc1d024d0d" /><Relationship Type="http://schemas.openxmlformats.org/officeDocument/2006/relationships/slideMaster" Target="/ppt/slideMasters/slideMaster1.xml" Id="Rd4042f43885f4ce7" /><Relationship Type="http://schemas.openxmlformats.org/officeDocument/2006/relationships/notesMaster" Target="/ppt/notesMasters/notesMaster1.xml" Id="Rcf4cce565ae94118" /><Relationship Type="http://schemas.openxmlformats.org/officeDocument/2006/relationships/presProps" Target="/ppt/presProps.xml" Id="Rf14785dd054c4a6a" /><Relationship Type="http://schemas.openxmlformats.org/officeDocument/2006/relationships/tableStyles" Target="/ppt/tableStyles.xml" Id="R1bd806310e5c4b3d" /><Relationship Type="http://schemas.openxmlformats.org/officeDocument/2006/relationships/slide" Target="/ppt/slides/slide1.xml" Id="R15ef46d0a34e4ae9" /><Relationship Type="http://schemas.openxmlformats.org/officeDocument/2006/relationships/slide" Target="/ppt/slides/slide2.xml" Id="R8317877688f74bf1" /><Relationship Type="http://schemas.openxmlformats.org/officeDocument/2006/relationships/slide" Target="/ppt/slides/slide3.xml" Id="Rb93bc283f2594970" /><Relationship Type="http://schemas.openxmlformats.org/officeDocument/2006/relationships/slide" Target="/ppt/slides/slide4.xml" Id="Ra46feb77db724b85" /><Relationship Type="http://schemas.openxmlformats.org/officeDocument/2006/relationships/slide" Target="/ppt/slides/slide5.xml" Id="R5e5eb05e9e344e24" /><Relationship Type="http://schemas.openxmlformats.org/officeDocument/2006/relationships/slide" Target="/ppt/slides/slide6.xml" Id="Rc1630625b3b342a6" /><Relationship Type="http://schemas.openxmlformats.org/officeDocument/2006/relationships/slide" Target="/ppt/slides/slide7.xml" Id="R14ffec3a884b431f" /><Relationship Type="http://schemas.openxmlformats.org/officeDocument/2006/relationships/slide" Target="/ppt/slides/slide8.xml" Id="R7fdbe44b6907454f" /><Relationship Type="http://schemas.openxmlformats.org/officeDocument/2006/relationships/slide" Target="/ppt/slides/slide9.xml" Id="R0b94124ec8424f40" /><Relationship Type="http://schemas.openxmlformats.org/officeDocument/2006/relationships/slide" Target="/ppt/slides/slide10.xml" Id="R94d09e44dd0d4e64" /><Relationship Type="http://schemas.openxmlformats.org/officeDocument/2006/relationships/slide" Target="/ppt/slides/slide11.xml" Id="Rd358799a7c43483b" /><Relationship Type="http://schemas.openxmlformats.org/officeDocument/2006/relationships/slide" Target="/ppt/slides/slide12.xml" Id="R28eeead1df46447e" /><Relationship Type="http://schemas.openxmlformats.org/officeDocument/2006/relationships/slide" Target="/ppt/slides/slide13.xml" Id="Rf7bfb37513fb4d36" /><Relationship Type="http://schemas.openxmlformats.org/officeDocument/2006/relationships/slide" Target="/ppt/slides/slide14.xml" Id="R238ff54fdeff460d" /><Relationship Type="http://schemas.openxmlformats.org/officeDocument/2006/relationships/slide" Target="/ppt/slides/slide15.xml" Id="R6fb1cb02a15b4ed3" /><Relationship Type="http://schemas.openxmlformats.org/officeDocument/2006/relationships/slide" Target="/ppt/slides/slide16.xml" Id="R696ae321195c47b0" /><Relationship Type="http://schemas.openxmlformats.org/officeDocument/2006/relationships/slide" Target="/ppt/slides/slide17.xml" Id="Ra5b6203a4b834846" /><Relationship Type="http://schemas.openxmlformats.org/officeDocument/2006/relationships/slide" Target="/ppt/slides/slide18.xml" Id="R588580896e084a5a" /><Relationship Type="http://schemas.openxmlformats.org/officeDocument/2006/relationships/slide" Target="/ppt/slides/slide19.xml" Id="R38fb7b1a99ad4dcb" /><Relationship Type="http://schemas.openxmlformats.org/officeDocument/2006/relationships/slide" Target="/ppt/slides/slide20.xml" Id="Ra091c12bf19d4a1c" /><Relationship Type="http://schemas.openxmlformats.org/officeDocument/2006/relationships/slide" Target="/ppt/slides/slide21.xml" Id="R8cced74da30c49c8" /><Relationship Type="http://schemas.openxmlformats.org/officeDocument/2006/relationships/slide" Target="/ppt/slides/slide22.xml" Id="Ra495d31e2af54d82" /><Relationship Type="http://schemas.openxmlformats.org/officeDocument/2006/relationships/slide" Target="/ppt/slides/slide23.xml" Id="R4382035654874d65" /><Relationship Type="http://schemas.openxmlformats.org/officeDocument/2006/relationships/slide" Target="/ppt/slides/slide24.xml" Id="Rf19a5d670bf040ce" /><Relationship Type="http://schemas.openxmlformats.org/officeDocument/2006/relationships/slide" Target="/ppt/slides/slide25.xml" Id="Rcead3ca376614f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ad43d0a6e14f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49280deac94b92" /><Relationship Type="http://schemas.openxmlformats.org/officeDocument/2006/relationships/notesMaster" Target="/ppt/notesMasters/notesMaster1.xml" Id="R90ecbbed467a4e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aa09101f324985" /><Relationship Type="http://schemas.openxmlformats.org/officeDocument/2006/relationships/notesMaster" Target="/ppt/notesMasters/notesMaster1.xml" Id="Rdac6a336a37a4a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3f5609a2274e49" /><Relationship Type="http://schemas.openxmlformats.org/officeDocument/2006/relationships/notesMaster" Target="/ppt/notesMasters/notesMaster1.xml" Id="Rda83a622348248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9688e42e094aec" /><Relationship Type="http://schemas.openxmlformats.org/officeDocument/2006/relationships/notesMaster" Target="/ppt/notesMasters/notesMaster1.xml" Id="Ra0eaced47d6843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eb793e275b4a26" /><Relationship Type="http://schemas.openxmlformats.org/officeDocument/2006/relationships/notesMaster" Target="/ppt/notesMasters/notesMaster1.xml" Id="R2794af522e3d48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595463d708485e" /><Relationship Type="http://schemas.openxmlformats.org/officeDocument/2006/relationships/notesMaster" Target="/ppt/notesMasters/notesMaster1.xml" Id="R4889418c8dbd4a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f6f9fde4cd4f97" /><Relationship Type="http://schemas.openxmlformats.org/officeDocument/2006/relationships/notesMaster" Target="/ppt/notesMasters/notesMaster1.xml" Id="R28d67479352643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c5d4e3b86649ec" /><Relationship Type="http://schemas.openxmlformats.org/officeDocument/2006/relationships/notesMaster" Target="/ppt/notesMasters/notesMaster1.xml" Id="Rd998a15367b447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93348d00c74f7e" /><Relationship Type="http://schemas.openxmlformats.org/officeDocument/2006/relationships/notesMaster" Target="/ppt/notesMasters/notesMaster1.xml" Id="R6a7b0dc4d51d48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b00e92e1874f52" /><Relationship Type="http://schemas.openxmlformats.org/officeDocument/2006/relationships/notesMaster" Target="/ppt/notesMasters/notesMaster1.xml" Id="R890f79d40cfe43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da1ad1316d4a91" /><Relationship Type="http://schemas.openxmlformats.org/officeDocument/2006/relationships/notesMaster" Target="/ppt/notesMasters/notesMaster1.xml" Id="Ra32b63b7ca444d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f73b0593cc4048" /><Relationship Type="http://schemas.openxmlformats.org/officeDocument/2006/relationships/notesMaster" Target="/ppt/notesMasters/notesMaster1.xml" Id="Rc9d49d2ba9fc46d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10e242610604239" /><Relationship Type="http://schemas.openxmlformats.org/officeDocument/2006/relationships/notesMaster" Target="/ppt/notesMasters/notesMaster1.xml" Id="R9a499b9e243148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6237f63ebdb4b73" /><Relationship Type="http://schemas.openxmlformats.org/officeDocument/2006/relationships/notesMaster" Target="/ppt/notesMasters/notesMaster1.xml" Id="Rf1c96e664bd045c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0fd59386edf45f3" /><Relationship Type="http://schemas.openxmlformats.org/officeDocument/2006/relationships/notesMaster" Target="/ppt/notesMasters/notesMaster1.xml" Id="R01adfb65029246d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5acfbcbb9ca492f" /><Relationship Type="http://schemas.openxmlformats.org/officeDocument/2006/relationships/notesMaster" Target="/ppt/notesMasters/notesMaster1.xml" Id="R66d2c443207f47d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3413a3bd4e4dc0" /><Relationship Type="http://schemas.openxmlformats.org/officeDocument/2006/relationships/notesMaster" Target="/ppt/notesMasters/notesMaster1.xml" Id="Rb69737c11e28473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75e544bf28b4719" /><Relationship Type="http://schemas.openxmlformats.org/officeDocument/2006/relationships/notesMaster" Target="/ppt/notesMasters/notesMaster1.xml" Id="Rf48daff8e450445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ccf766ef5fa40c7" /><Relationship Type="http://schemas.openxmlformats.org/officeDocument/2006/relationships/notesMaster" Target="/ppt/notesMasters/notesMaster1.xml" Id="Ra76028147cbe493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4aff26031d44596" /><Relationship Type="http://schemas.openxmlformats.org/officeDocument/2006/relationships/notesMaster" Target="/ppt/notesMasters/notesMaster1.xml" Id="Rcb1f8ee3fb5648c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fee1507ff8b42e6" /><Relationship Type="http://schemas.openxmlformats.org/officeDocument/2006/relationships/notesMaster" Target="/ppt/notesMasters/notesMaster1.xml" Id="R13a6b8f0bf54455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6c1ca9a2efd4a31" /><Relationship Type="http://schemas.openxmlformats.org/officeDocument/2006/relationships/notesMaster" Target="/ppt/notesMasters/notesMaster1.xml" Id="Re629b1b8deac411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5d533d8621e4024" /><Relationship Type="http://schemas.openxmlformats.org/officeDocument/2006/relationships/notesMaster" Target="/ppt/notesMasters/notesMaster1.xml" Id="R7baf154712fb472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2d73a39c35f45ad" /><Relationship Type="http://schemas.openxmlformats.org/officeDocument/2006/relationships/notesMaster" Target="/ppt/notesMasters/notesMaster1.xml" Id="R0192834050b2485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46142980d6e4f93" /><Relationship Type="http://schemas.openxmlformats.org/officeDocument/2006/relationships/notesMaster" Target="/ppt/notesMasters/notesMaster1.xml" Id="Rb092b1376be14e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I will ask: An assistant totals invoices and drafts a letter. Which operation needs learned generation? I will record the learner’s explanation before showing the answer. The letter uses generation; the total should use defined arithmetic.</a:t>
            </a:r>
          </a:p>
          <a:p xmlns:a="http://schemas.openxmlformats.org/drawingml/2006/main">
            <a:r>
              <a:t/>
            </a:r>
          </a:p>
          <a:p xmlns:a="http://schemas.openxmlformats.org/drawingml/2006/main">
            <a:r>
              <a:t>Ask: An assistant totals invoices and drafts a letter. Which operation needs learned generation?</a:t>
            </a:r>
          </a:p>
          <a:p xmlns:a="http://schemas.openxmlformats.org/drawingml/2006/main">
            <a:r>
              <a:t/>
            </a:r>
          </a:p>
          <a:p xmlns:a="http://schemas.openxmlformats.org/drawingml/2006/main">
            <a:r>
              <a:t>Expected answer: The letter uses generation; the total should use defined arithmetic.</a:t>
            </a:r>
          </a:p>
          <a:p xmlns:a="http://schemas.openxmlformats.org/drawingml/2006/main">
            <a:r>
              <a:t/>
            </a:r>
          </a:p>
          <a:p xmlns:a="http://schemas.openxmlformats.org/drawingml/2006/main">
            <a:r>
              <a:t>If partly correct: Likely confusion: Near token IDs mean similar words. I will clarify: Change arbitrary IDs without changing words, then return to numerical representations. Then return to this slide’s question: An assistant totals invoices and drafts a letter. Which operation needs learned generation? A supported answer should establish: The letter uses generation; the total should use defined arithmetic.</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Recall the distinction.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Ask without showing the prior result. The letter uses generation; the total should use defined arithmetic. Invite a reason, then connect the answer to today’s question.</a:t>
            </a:r>
          </a:p>
          <a:p xmlns:a="http://schemas.openxmlformats.org/drawingml/2006/main">
            <a:r>
              <a:t/>
            </a:r>
          </a:p>
          <a:p xmlns:a="http://schemas.openxmlformats.org/drawingml/2006/main">
            <a:r>
              <a:t>Ask: An assistant totals invoices and drafts a letter. Which operation needs learned generation?</a:t>
            </a:r>
          </a:p>
          <a:p xmlns:a="http://schemas.openxmlformats.org/drawingml/2006/main">
            <a:r>
              <a:t/>
            </a:r>
          </a:p>
          <a:p xmlns:a="http://schemas.openxmlformats.org/drawingml/2006/main">
            <a:r>
              <a:t>Expected answer: The letter uses generation; the total should use defined arithmetic.</a:t>
            </a:r>
          </a:p>
          <a:p xmlns:a="http://schemas.openxmlformats.org/drawingml/2006/main">
            <a:r>
              <a:t/>
            </a:r>
          </a:p>
          <a:p xmlns:a="http://schemas.openxmlformats.org/drawingml/2006/main">
            <a:r>
              <a:t>If partly correct: Likely confusion: Uploading is training. I will clarify: Separate a parameter update from supplying today’s evidence during inference. Then return to this slide’s question: An assistant totals invoices and drafts a letter. Which operation needs learned generation? A supported answer should establish: The letter uses generation; the total should use defined arithmetic.</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task before the model.</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Define a large language model (LLM) before using the abbreviation. It learns patterns in token sequences and computes outputs for new inputs. Recall the task map from Session 1. Training methods and architectures are different dimensions from the task.</a:t>
            </a:r>
          </a:p>
          <a:p xmlns:a="http://schemas.openxmlformats.org/drawingml/2006/main">
            <a:r>
              <a:t/>
            </a:r>
          </a:p>
          <a:p xmlns:a="http://schemas.openxmlformats.org/drawingml/2006/main">
            <a:r>
              <a:t>Ask: Is document classification the same as text generation?</a:t>
            </a:r>
          </a:p>
          <a:p xmlns:a="http://schemas.openxmlformats.org/drawingml/2006/main">
            <a:r>
              <a:t/>
            </a:r>
          </a:p>
          <a:p xmlns:a="http://schemas.openxmlformats.org/drawingml/2006/main">
            <a:r>
              <a:t>Expected answer: No. One selects or scores categories, while the other produces content.</a:t>
            </a:r>
          </a:p>
          <a:p xmlns:a="http://schemas.openxmlformats.org/drawingml/2006/main">
            <a:r>
              <a:t/>
            </a:r>
          </a:p>
          <a:p xmlns:a="http://schemas.openxmlformats.org/drawingml/2006/main">
            <a:r>
              <a:t>If partly correct: Likely confusion: Similar clauses have identical legal effect. I will clarify: Change not to its opposite and inspect meaning despite similar vocabulary. Then return to this slide’s question: Is document classification the same as text generation? A supported answer should establish: No. One selects or scores categories, while the other produces content.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Training.</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A learner adjusts numerical parameters to reduce an objective over examples. New examples can alter the mapping. Test on unseen relevant data because fitting the examples does not prove generalisation.</a:t>
            </a:r>
          </a:p>
          <a:p xmlns:a="http://schemas.openxmlformats.org/drawingml/2006/main">
            <a:r>
              <a:t/>
            </a:r>
          </a:p>
          <a:p xmlns:a="http://schemas.openxmlformats.org/drawingml/2006/main">
            <a:r>
              <a:t>Ask: What changes during training?</a:t>
            </a:r>
          </a:p>
          <a:p xmlns:a="http://schemas.openxmlformats.org/drawingml/2006/main">
            <a:r>
              <a:t/>
            </a:r>
          </a:p>
          <a:p xmlns:a="http://schemas.openxmlformats.org/drawingml/2006/main">
            <a:r>
              <a:t>Expected answer: The model’s learned parameters or structure, according to the learning procedure.</a:t>
            </a:r>
          </a:p>
          <a:p xmlns:a="http://schemas.openxmlformats.org/drawingml/2006/main">
            <a:r>
              <a:t/>
            </a:r>
          </a:p>
          <a:p xmlns:a="http://schemas.openxmlformats.org/drawingml/2006/main">
            <a:r>
              <a:t>If partly correct: Likely confusion: Near token IDs mean similar words. I will clarify: Change arbitrary IDs without changing words, then return to numerical representations. Then return to this slide’s question: What changes during training? A supported answer should establish: The model’s learned parameters or structure, according to the learning procedure.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learning loop.</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https://developers.google.com/machine-learning/intro-to-ml/what-is-ml</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Reveal the loop stage by stage. Many iterations can reduce training error. Show that better performance on the training set alone can reflect memorisation. This is an illustrative explanation, not a trained legal model.</a:t>
            </a:r>
          </a:p>
          <a:p xmlns:a="http://schemas.openxmlformats.org/drawingml/2006/main">
            <a:r>
              <a:t/>
            </a:r>
          </a:p>
          <a:p xmlns:a="http://schemas.openxmlformats.org/drawingml/2006/main">
            <a:r>
              <a:t>Ask: What evidence would show useful learning?</a:t>
            </a:r>
          </a:p>
          <a:p xmlns:a="http://schemas.openxmlformats.org/drawingml/2006/main">
            <a:r>
              <a:t/>
            </a:r>
          </a:p>
          <a:p xmlns:a="http://schemas.openxmlformats.org/drawingml/2006/main">
            <a:r>
              <a:t>Expected answer: Performance on relevant unseen examples, with leakage controls and suitable measures.</a:t>
            </a:r>
          </a:p>
          <a:p xmlns:a="http://schemas.openxmlformats.org/drawingml/2006/main">
            <a:r>
              <a:t/>
            </a:r>
          </a:p>
          <a:p xmlns:a="http://schemas.openxmlformats.org/drawingml/2006/main">
            <a:r>
              <a:t>If partly correct: Likely confusion: Uploading is training. I will clarify: Separate a parameter update from supplying today’s evidence during inference. Then return to this slide’s question: What evidence would show useful learning? A supported answer should establish: Performance on relevant unseen examples, with leakage controls and suitable measures.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Learning approaches.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https://developers.google.com/machine-learning/intro-to-ml/what-is-ml</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4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These approaches can appear at different stages of a model’s development. The examples illustrate mechanisms; a particular legal tool may combine them.</a:t>
            </a:r>
          </a:p>
          <a:p xmlns:a="http://schemas.openxmlformats.org/drawingml/2006/main">
            <a:r>
              <a:t/>
            </a:r>
          </a:p>
          <a:p xmlns:a="http://schemas.openxmlformats.org/drawingml/2006/main">
            <a:r>
              <a:t>Ask: Which needs examples paired with target answers?</a:t>
            </a:r>
          </a:p>
          <a:p xmlns:a="http://schemas.openxmlformats.org/drawingml/2006/main">
            <a:r>
              <a:t/>
            </a:r>
          </a:p>
          <a:p xmlns:a="http://schemas.openxmlformats.org/drawingml/2006/main">
            <a:r>
              <a:t>Expected answer: Supervised learning.</a:t>
            </a:r>
          </a:p>
          <a:p xmlns:a="http://schemas.openxmlformats.org/drawingml/2006/main">
            <a:r>
              <a:t/>
            </a:r>
          </a:p>
          <a:p xmlns:a="http://schemas.openxmlformats.org/drawingml/2006/main">
            <a:r>
              <a:t>If partly correct: Likely confusion: Similar clauses have identical legal effect. I will clarify: Change not to its opposite and inspect meaning despite similar vocabulary. Then return to this slide’s question: Which needs examples paired with target answers? A supported answer should establish: Supervised learning.</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Training and evaluation collections.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https://developers.google.com/machine-learning/intro-to-ml/what-is-ml https://developers.google.com/machine-learning/crash-course/llm/transformers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For our firm, repeated copies of the same agreement across sets can inflate performance. Split by appropriate matter or document families when evaluating generalisation.</a:t>
            </a:r>
          </a:p>
          <a:p xmlns:a="http://schemas.openxmlformats.org/drawingml/2006/main">
            <a:r>
              <a:t/>
            </a:r>
          </a:p>
          <a:p xmlns:a="http://schemas.openxmlformats.org/drawingml/2006/main">
            <a:r>
              <a:t>Ask: Why exclude a near-duplicate from the test?</a:t>
            </a:r>
          </a:p>
          <a:p xmlns:a="http://schemas.openxmlformats.org/drawingml/2006/main">
            <a:r>
              <a:t/>
            </a:r>
          </a:p>
          <a:p xmlns:a="http://schemas.openxmlformats.org/drawingml/2006/main">
            <a:r>
              <a:t>Expected answer: It may measure familiarity with the training example rather than performance on genuinely new work.</a:t>
            </a:r>
          </a:p>
          <a:p xmlns:a="http://schemas.openxmlformats.org/drawingml/2006/main">
            <a:r>
              <a:t/>
            </a:r>
          </a:p>
          <a:p xmlns:a="http://schemas.openxmlformats.org/drawingml/2006/main">
            <a:r>
              <a:t>If partly correct: Likely confusion: Near token IDs mean similar words. I will clarify: Change arbitrary IDs without changing words, then return to numerical representations. Then return to this slide’s question: Why exclude a near-duplicate from the test? A supported answer should establish: It may measure familiarity with the training example rather than performance on genuinely new work.</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Layers learn representations.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https://developers.google.com/machine-learning/intro-to-ml/what-is-ml</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Reveal inputs, intermediate layers and output in order. Connections represent parameters, not a literal map of human reasoning. The number of nodes here is schematic.</a:t>
            </a:r>
          </a:p>
          <a:p xmlns:a="http://schemas.openxmlformats.org/drawingml/2006/main">
            <a:r>
              <a:t/>
            </a:r>
          </a:p>
          <a:p xmlns:a="http://schemas.openxmlformats.org/drawingml/2006/main">
            <a:r>
              <a:t>Ask: What makes this a deep-learning example?</a:t>
            </a:r>
          </a:p>
          <a:p xmlns:a="http://schemas.openxmlformats.org/drawingml/2006/main">
            <a:r>
              <a:t/>
            </a:r>
          </a:p>
          <a:p xmlns:a="http://schemas.openxmlformats.org/drawingml/2006/main">
            <a:r>
              <a:t>Expected answer: Multiple layers learn successive representations.</a:t>
            </a:r>
          </a:p>
          <a:p xmlns:a="http://schemas.openxmlformats.org/drawingml/2006/main">
            <a:r>
              <a:t/>
            </a:r>
          </a:p>
          <a:p xmlns:a="http://schemas.openxmlformats.org/drawingml/2006/main">
            <a:r>
              <a:t>If partly correct: Likely confusion: Uploading is training. I will clarify: Separate a parameter update from supplying today’s evidence during inference. Then return to this slide’s question: What makes this a deep-learning example? A supported answer should establish: Multiple layers learn successive representations.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Token.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https://developers.google.com/machine-learning/crash-course/llm/transformers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4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Break a sentence into model input units. A unit can be a word, subword or punctuation; boundaries depend on the tokenizer. Numeric IDs name units and are not meaning scores.</a:t>
            </a:r>
          </a:p>
          <a:p xmlns:a="http://schemas.openxmlformats.org/drawingml/2006/main">
            <a:r>
              <a:t/>
            </a:r>
          </a:p>
          <a:p xmlns:a="http://schemas.openxmlformats.org/drawingml/2006/main">
            <a:r>
              <a:t>Ask: Does one token always equal one word?</a:t>
            </a:r>
          </a:p>
          <a:p xmlns:a="http://schemas.openxmlformats.org/drawingml/2006/main">
            <a:r>
              <a:t/>
            </a:r>
          </a:p>
          <a:p xmlns:a="http://schemas.openxmlformats.org/drawingml/2006/main">
            <a:r>
              <a:t>Expected answer: No. Tokenisation depends on the model and content.</a:t>
            </a:r>
          </a:p>
          <a:p xmlns:a="http://schemas.openxmlformats.org/drawingml/2006/main">
            <a:r>
              <a:t/>
            </a:r>
          </a:p>
          <a:p xmlns:a="http://schemas.openxmlformats.org/drawingml/2006/main">
            <a:r>
              <a:t>If partly correct: Likely confusion: Similar clauses have identical legal effect. I will clarify: Change not to its opposite and inspect meaning despite similar vocabulary. Then return to this slide’s question: Does one token always equal one word? A supported answer should establish: No. Tokenisation depends on the model and content.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Embedding.</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https://developers.google.com/machine-learning/crash-course/llm/transformers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Imagine assigning a coordinate list to a clause and a question. A compatible embedding model lets retrieval compare those lists. A two-dimensional drawing is a projection, not the actual geometry or proof of legal equivalence.</a:t>
            </a:r>
          </a:p>
          <a:p xmlns:a="http://schemas.openxmlformats.org/drawingml/2006/main">
            <a:r>
              <a:t/>
            </a:r>
          </a:p>
          <a:p xmlns:a="http://schemas.openxmlformats.org/drawingml/2006/main">
            <a:r>
              <a:t>Ask: What does an embedding let a search system compare?</a:t>
            </a:r>
          </a:p>
          <a:p xmlns:a="http://schemas.openxmlformats.org/drawingml/2006/main">
            <a:r>
              <a:t/>
            </a:r>
          </a:p>
          <a:p xmlns:a="http://schemas.openxmlformats.org/drawingml/2006/main">
            <a:r>
              <a:t>Expected answer: Representations of a query and candidate passages under a chosen similarity measure.</a:t>
            </a:r>
          </a:p>
          <a:p xmlns:a="http://schemas.openxmlformats.org/drawingml/2006/main">
            <a:r>
              <a:t/>
            </a:r>
          </a:p>
          <a:p xmlns:a="http://schemas.openxmlformats.org/drawingml/2006/main">
            <a:r>
              <a:t>If partly correct: Likely confusion: Near token IDs mean similar words. I will clarify: Change arbitrary IDs without changing words, then return to numerical representations. Then return to this slide’s question: What does an embedding let a search system compare? A supported answer should establish: Representations of a query and candidate passages under a chosen similarity measure.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simplified map of related language.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https://developers.google.com/machine-learning/crash-course/embeddings/obtaining-embeddings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Reveal contract, agreement and clause near one another, with tax and invoice in another region. The coordinates are an illustrative two-dimensional teaching map, not measured output from an embedding model. Real representations usually have many dimensions.</a:t>
            </a:r>
          </a:p>
          <a:p xmlns:a="http://schemas.openxmlformats.org/drawingml/2006/main">
            <a:r>
              <a:t/>
            </a:r>
          </a:p>
          <a:p xmlns:a="http://schemas.openxmlformats.org/drawingml/2006/main">
            <a:r>
              <a:t>Ask: Would this drawing prove how a particular model groups these terms?</a:t>
            </a:r>
          </a:p>
          <a:p xmlns:a="http://schemas.openxmlformats.org/drawingml/2006/main">
            <a:r>
              <a:t/>
            </a:r>
          </a:p>
          <a:p xmlns:a="http://schemas.openxmlformats.org/drawingml/2006/main">
            <a:r>
              <a:t>Expected answer: No. We would need actual embeddings and a documented projection to make that claim.</a:t>
            </a:r>
          </a:p>
          <a:p xmlns:a="http://schemas.openxmlformats.org/drawingml/2006/main">
            <a:r>
              <a:t/>
            </a:r>
          </a:p>
          <a:p xmlns:a="http://schemas.openxmlformats.org/drawingml/2006/main">
            <a:r>
              <a:t>If partly correct: Likely confusion: Uploading is training. I will clarify: Separate a parameter update from supplying today’s evidence during inference. Then return to this slide’s question: Would this drawing prove how a particular model groups these terms? A supported answer should establish: No. We would need actual embeddings and a documented projection to make that claim.</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Many dimensions and a flat picture.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https://developers.google.com/machine-learning/crash-course/embeddings/obtaining-embeddings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3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Use a globe and a flat map as a verbal analogy, without claiming that dimensions have simple human-readable labels. The purpose is intuition about representation.</a:t>
            </a:r>
          </a:p>
          <a:p xmlns:a="http://schemas.openxmlformats.org/drawingml/2006/main">
            <a:r>
              <a:t/>
            </a:r>
          </a:p>
          <a:p xmlns:a="http://schemas.openxmlformats.org/drawingml/2006/main">
            <a:r>
              <a:t>Ask: Can we read each dimension as a named legal concept?</a:t>
            </a:r>
          </a:p>
          <a:p xmlns:a="http://schemas.openxmlformats.org/drawingml/2006/main">
            <a:r>
              <a:t/>
            </a:r>
          </a:p>
          <a:p xmlns:a="http://schemas.openxmlformats.org/drawingml/2006/main">
            <a:r>
              <a:t>Expected answer: Usually not. Learned dimensions need not have an interpretable label.</a:t>
            </a:r>
          </a:p>
          <a:p xmlns:a="http://schemas.openxmlformats.org/drawingml/2006/main">
            <a:r>
              <a:t/>
            </a:r>
          </a:p>
          <a:p xmlns:a="http://schemas.openxmlformats.org/drawingml/2006/main">
            <a:r>
              <a:t>If partly correct: Likely confusion: Similar clauses have identical legal effect. I will clarify: Change not to its opposite and inspect meaning despite similar vocabulary. Then return to this slide’s question: Can we read each dimension as a named legal concept? A supported answer should establish: Usually not. Learned dimensions need not have an interpretable label.</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Context changes the representation.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https://developers.google.com/machine-learning/crash-course/embeddings/obtaining-embeddings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Highlight charge in each sentence. Static embeddings assign one vector per vocabulary item. Contextual models form representations affected by surrounding tokens.</a:t>
            </a:r>
          </a:p>
          <a:p xmlns:a="http://schemas.openxmlformats.org/drawingml/2006/main">
            <a:r>
              <a:t/>
            </a:r>
          </a:p>
          <a:p xmlns:a="http://schemas.openxmlformats.org/drawingml/2006/main">
            <a:r>
              <a:t>Ask: What information disambiguates charge?</a:t>
            </a:r>
          </a:p>
          <a:p xmlns:a="http://schemas.openxmlformats.org/drawingml/2006/main">
            <a:r>
              <a:t/>
            </a:r>
          </a:p>
          <a:p xmlns:a="http://schemas.openxmlformats.org/drawingml/2006/main">
            <a:r>
              <a:t>Expected answer: The surrounding language and task.</a:t>
            </a:r>
          </a:p>
          <a:p xmlns:a="http://schemas.openxmlformats.org/drawingml/2006/main">
            <a:r>
              <a:t/>
            </a:r>
          </a:p>
          <a:p xmlns:a="http://schemas.openxmlformats.org/drawingml/2006/main">
            <a:r>
              <a:t>If partly correct: Likely confusion: Near token IDs mean similar words. I will clarify: Change arbitrary IDs without changing words, then return to numerical representations. Then return to this slide’s question: What information disambiguates charge? A supported answer should establish: The surrounding language and task.</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Similarity and legal meaning.</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https://developers.google.com/machine-learning/crash-course/embeddings/obtaining-embeddings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Explain why closeness is neither synonymy nor legal validity. Ask for a clause where a small wording difference changes the result.</a:t>
            </a:r>
          </a:p>
          <a:p xmlns:a="http://schemas.openxmlformats.org/drawingml/2006/main">
            <a:r>
              <a:t/>
            </a:r>
          </a:p>
          <a:p xmlns:a="http://schemas.openxmlformats.org/drawingml/2006/main">
            <a:r>
              <a:t>Ask: Could a similar precedent still be unsuitable?</a:t>
            </a:r>
          </a:p>
          <a:p xmlns:a="http://schemas.openxmlformats.org/drawingml/2006/main">
            <a:r>
              <a:t/>
            </a:r>
          </a:p>
          <a:p xmlns:a="http://schemas.openxmlformats.org/drawingml/2006/main">
            <a:r>
              <a:t>Expected answer: Yes. Jurisdiction, date, facts, exceptions and intended use can differ.</a:t>
            </a:r>
          </a:p>
          <a:p xmlns:a="http://schemas.openxmlformats.org/drawingml/2006/main">
            <a:r>
              <a:t/>
            </a:r>
          </a:p>
          <a:p xmlns:a="http://schemas.openxmlformats.org/drawingml/2006/main">
            <a:r>
              <a:t>If partly correct: Likely confusion: Uploading is training. I will clarify: Separate a parameter update from supplying today’s evidence during inference. Then return to this slide’s question: Could a similar precedent still be unsuitable? A supported answer should establish: Yes. Jurisdiction, date, facts, exceptions and intended use can differ.</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How a language model develops.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This is one common development route; recipes differ. The first three stages can update parameters. Inference uses the resulting model with today’s input and does not itself require a training update.</a:t>
            </a:r>
          </a:p>
          <a:p xmlns:a="http://schemas.openxmlformats.org/drawingml/2006/main">
            <a:r>
              <a:t/>
            </a:r>
          </a:p>
          <a:p xmlns:a="http://schemas.openxmlformats.org/drawingml/2006/main">
            <a:r>
              <a:t>Ask: What should the system do when the source does not answer?</a:t>
            </a:r>
          </a:p>
          <a:p xmlns:a="http://schemas.openxmlformats.org/drawingml/2006/main">
            <a:r>
              <a:t/>
            </a:r>
          </a:p>
          <a:p xmlns:a="http://schemas.openxmlformats.org/drawingml/2006/main">
            <a:r>
              <a:t>Expected answer: State the limitation, request clarification or abstain.</a:t>
            </a:r>
          </a:p>
          <a:p xmlns:a="http://schemas.openxmlformats.org/drawingml/2006/main">
            <a:r>
              <a:t/>
            </a:r>
          </a:p>
          <a:p xmlns:a="http://schemas.openxmlformats.org/drawingml/2006/main">
            <a:r>
              <a:t>If partly correct: Likely confusion: Similar clauses have identical legal effect. I will clarify: Change not to its opposite and inspect meaning despite similar vocabulary. Then return to this slide’s question: What should the system do when the source does not answer? A supported answer should establish: State the limitation, request clarification or abstain.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Our in-class work.</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https://arxiv.org/abs/2203.02155 https://developers.google.com/machine-learning/crash-course/llm</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4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Use the run-sheet. I demonstrate the first example; the learner predicts, chooses evidence and checks the changed example. Save actual outputs or mark the step unexecuted.</a:t>
            </a:r>
          </a:p>
          <a:p xmlns:a="http://schemas.openxmlformats.org/drawingml/2006/main">
            <a:r>
              <a:t/>
            </a:r>
          </a:p>
          <a:p xmlns:a="http://schemas.openxmlformats.org/drawingml/2006/main">
            <a:r>
              <a:t>Ask: Before we begin: Sort six short document descriptions by type before discussing how training labels would be assigned.</a:t>
            </a:r>
          </a:p>
          <a:p xmlns:a="http://schemas.openxmlformats.org/drawingml/2006/main">
            <a:r>
              <a:t/>
            </a:r>
          </a:p>
          <a:p xmlns:a="http://schemas.openxmlformats.org/drawingml/2006/main">
            <a:r>
              <a:t>Expected answer: Training adjusts parameters; inference uses them. Tokens are input units; embeddings are numerical representations. Similarity proposes candidates and does not decide legal equivalence.</a:t>
            </a:r>
          </a:p>
          <a:p xmlns:a="http://schemas.openxmlformats.org/drawingml/2006/main">
            <a:r>
              <a:t/>
            </a:r>
          </a:p>
          <a:p xmlns:a="http://schemas.openxmlformats.org/drawingml/2006/main">
            <a:r>
              <a:t>If partly correct: Likely confusion: Near token IDs mean similar words. I will clarify: Change arbitrary IDs without changing words, then return to numerical representations. Then return to this slide’s question: Before we begin: Sort six short document descriptions by type before discussing how training labels would be assigned. A supported answer should establish: Training adjusts parameters; inference uses them. Tokens are input units; embeddings are numerical representations. Similarity proposes candidates and does not decide legal equivalence.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What we can conclude.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Have the learner explain the conclusion before I summarise it. Compare the actual result with the model answer and preserve unresolved questions.</a:t>
            </a:r>
          </a:p>
          <a:p xmlns:a="http://schemas.openxmlformats.org/drawingml/2006/main">
            <a:r>
              <a:t/>
            </a:r>
          </a:p>
          <a:p xmlns:a="http://schemas.openxmlformats.org/drawingml/2006/main">
            <a:r>
              <a:t>Ask: Which part of today’s result remains unverified?</a:t>
            </a:r>
          </a:p>
          <a:p xmlns:a="http://schemas.openxmlformats.org/drawingml/2006/main">
            <a:r>
              <a:t/>
            </a:r>
          </a:p>
          <a:p xmlns:a="http://schemas.openxmlformats.org/drawingml/2006/main">
            <a:r>
              <a:t>Expected answer: The visual coordinates and neural values are illustrative, not measurements from a deployed model.</a:t>
            </a:r>
          </a:p>
          <a:p xmlns:a="http://schemas.openxmlformats.org/drawingml/2006/main">
            <a:r>
              <a:t/>
            </a:r>
          </a:p>
          <a:p xmlns:a="http://schemas.openxmlformats.org/drawingml/2006/main">
            <a:r>
              <a:t>If partly correct: Likely confusion: Uploading is training. I will clarify: Separate a parameter update from supplying today’s evidence during inference. Then return to this slide’s question: Which part of today’s result remains unverified? A supported answer should establish: The visual coordinates and neural values are illustrative, not measurements from a deployed model.</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firm decision.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Record a proposed owner and one condition before proceeding. This is a class decision record, not firm authorisation.</a:t>
            </a:r>
          </a:p>
          <a:p xmlns:a="http://schemas.openxmlformats.org/drawingml/2006/main">
            <a:r>
              <a:t/>
            </a:r>
          </a:p>
          <a:p xmlns:a="http://schemas.openxmlformats.org/drawingml/2006/main">
            <a:r>
              <a:t>Ask: What evidence would change this proposed decision?</a:t>
            </a:r>
          </a:p>
          <a:p xmlns:a="http://schemas.openxmlformats.org/drawingml/2006/main">
            <a:r>
              <a:t/>
            </a:r>
          </a:p>
          <a:p xmlns:a="http://schemas.openxmlformats.org/drawingml/2006/main">
            <a:r>
              <a:t>Expected answer: Require vendors to explain training, source access and evaluation as separate matters. Revisit if the evidence, quality or permitted scope changes.</a:t>
            </a:r>
          </a:p>
          <a:p xmlns:a="http://schemas.openxmlformats.org/drawingml/2006/main">
            <a:r>
              <a:t/>
            </a:r>
          </a:p>
          <a:p xmlns:a="http://schemas.openxmlformats.org/drawingml/2006/main">
            <a:r>
              <a:t>If partly correct: Likely confusion: Similar clauses have identical legal effect. I will clarify: Change not to its opposite and inspect meaning despite similar vocabulary. Then return to this slide’s question: What evidence would change this proposed decision? A supported answer should establish: Require vendors to explain training, source access and evaluation as separate matters. Revisit if the evidence, quality or permitted scope changes.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Check understanding.</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Ask these changed-fact questions before opening the answer key. IDs are identifiers, not a distance metric. Context changes the representation. Training adjusts parameters; ordinary inference uses them.</a:t>
            </a:r>
          </a:p>
          <a:p xmlns:a="http://schemas.openxmlformats.org/drawingml/2006/main">
            <a:r>
              <a:t/>
            </a:r>
          </a:p>
          <a:p xmlns:a="http://schemas.openxmlformats.org/drawingml/2006/main">
            <a:r>
              <a:t>Ask: An unseen language example</a:t>
            </a:r>
          </a:p>
          <a:p xmlns:a="http://schemas.openxmlformats.org/drawingml/2006/main">
            <a:r>
              <a:t/>
            </a:r>
          </a:p>
          <a:p xmlns:a="http://schemas.openxmlformats.org/drawingml/2006/main">
            <a:r>
              <a:t>Expected answer: IDs are identifiers, not a distance metric. Context changes the representation. Training adjusts parameters; ordinary inference uses them.</a:t>
            </a:r>
          </a:p>
          <a:p xmlns:a="http://schemas.openxmlformats.org/drawingml/2006/main">
            <a:r>
              <a:t/>
            </a:r>
          </a:p>
          <a:p xmlns:a="http://schemas.openxmlformats.org/drawingml/2006/main">
            <a:r>
              <a:t>If partly correct: Likely confusion: Near token IDs mean similar words. I will clarify: Change arbitrary IDs without changing words, then return to numerical representations. Then return to this slide’s question: An unseen language example A supported answer should establish: IDs are identifiers, not a distance metric. Context changes the representation. Training adjusts parameters; ordinary inference uses them.</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Session 3: How language models generate answers and fail.</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Explain input text, target label and observed outcome. Use three illustrative rows: service agreement, employment agreement and invoice. Three rows cannot validate a classifier. Keep a later document aside for testing.</a:t>
            </a:r>
          </a:p>
          <a:p xmlns:a="http://schemas.openxmlformats.org/drawingml/2006/main">
            <a:r>
              <a:t/>
            </a:r>
          </a:p>
          <a:p xmlns:a="http://schemas.openxmlformats.org/drawingml/2006/main">
            <a:r>
              <a:t>Ask: What would a mistaken label teach the model?</a:t>
            </a:r>
          </a:p>
          <a:p xmlns:a="http://schemas.openxmlformats.org/drawingml/2006/main">
            <a:r>
              <a:t/>
            </a:r>
          </a:p>
          <a:p xmlns:a="http://schemas.openxmlformats.org/drawingml/2006/main">
            <a:r>
              <a:t>Expected answer: It supplies the wrong learning signal and may damage later predictions.</a:t>
            </a:r>
          </a:p>
          <a:p xmlns:a="http://schemas.openxmlformats.org/drawingml/2006/main">
            <a:r>
              <a:t/>
            </a:r>
          </a:p>
          <a:p xmlns:a="http://schemas.openxmlformats.org/drawingml/2006/main">
            <a:r>
              <a:t>If partly correct: Likely confusion: Uploading is training. I will clarify: Separate a parameter update from supplying today’s evidence during inference. Then return to this slide’s question: What would a mistaken label teach the model? A supported answer should establish: It supplies the wrong learning signal and may damage later predictions.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A neural network is a model composed of connected computational units that transform inputs using parameters, usually including nonlinear functions. In plain language: Each layer combines numerical inputs and transforms them. Nonlinear transformations let successive layers represent relationships that a single straight-line rule cannot capture. This is computation, not a biological brain. Ask for a reason before reading the source-based answer.</a:t>
            </a:r>
          </a:p>
          <a:p xmlns:a="http://schemas.openxmlformats.org/drawingml/2006/main">
            <a:r>
              <a:t/>
            </a:r>
          </a:p>
          <a:p xmlns:a="http://schemas.openxmlformats.org/drawingml/2006/main">
            <a:r>
              <a:t>Ask: Must the partner know matrix algebra to ask useful questions?</a:t>
            </a:r>
          </a:p>
          <a:p xmlns:a="http://schemas.openxmlformats.org/drawingml/2006/main">
            <a:r>
              <a:t/>
            </a:r>
          </a:p>
          <a:p xmlns:a="http://schemas.openxmlformats.org/drawingml/2006/main">
            <a:r>
              <a:t>Expected answer: No. She should understand the inputs, learning signal, evaluation and limitations.</a:t>
            </a:r>
          </a:p>
          <a:p xmlns:a="http://schemas.openxmlformats.org/drawingml/2006/main">
            <a:r>
              <a:t/>
            </a:r>
          </a:p>
          <a:p xmlns:a="http://schemas.openxmlformats.org/drawingml/2006/main">
            <a:r>
              <a:t>If partly correct: Likely confusion: Similar clauses have identical legal effect. I will clarify: Change not to its opposite and inspect meaning despite similar vocabulary. Then return to this slide’s question: Must the partner know matrix algebra to ask useful questions? A supported answer should establish: No. She should understand the inputs, learning signal, evaluation and limitations.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https://developers.google.com/machine-learning/crash-course/llm/transformers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Show The / provider / remains / responsible as schematic tokens, then numeric token identifiers and learned vectors. Actual token boundaries and identifiers depend on the tokenizer. Mark the numbers as illustrative.</a:t>
            </a:r>
          </a:p>
          <a:p xmlns:a="http://schemas.openxmlformats.org/drawingml/2006/main">
            <a:r>
              <a:t/>
            </a:r>
          </a:p>
          <a:p xmlns:a="http://schemas.openxmlformats.org/drawingml/2006/main">
            <a:r>
              <a:t>Ask: Are token identifiers themselves measures of meaning?</a:t>
            </a:r>
          </a:p>
          <a:p xmlns:a="http://schemas.openxmlformats.org/drawingml/2006/main">
            <a:r>
              <a:t/>
            </a:r>
          </a:p>
          <a:p xmlns:a="http://schemas.openxmlformats.org/drawingml/2006/main">
            <a:r>
              <a:t>Expected answer: No. An identifier selects a representation; nearby identifier numbers need not mean nearby concepts.</a:t>
            </a:r>
          </a:p>
          <a:p xmlns:a="http://schemas.openxmlformats.org/drawingml/2006/main">
            <a:r>
              <a:t/>
            </a:r>
          </a:p>
          <a:p xmlns:a="http://schemas.openxmlformats.org/drawingml/2006/main">
            <a:r>
              <a:t>If partly correct: Likely confusion: Near token IDs mean similar words. I will clarify: Change arbitrary IDs without changing words, then return to numerical representations. Then return to this slide’s question: Are token identifiers themselves measures of meaning? A supported answer should establish: No. An identifier selects a representation; nearby identifier numbers need not mean nearby concepts.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https://developers.google.com/machine-learning/crash-course/llm/transformers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A foundation model is trained on broad data and can be adapted to many downstream tasks, through prompting or further training. In plain language: Broad pretraining means learning from a large, varied collection before a particular business task. Downstream tasks are later uses, such as classifying a firm document or drafting a clause. Ask for a reason before reading the source-based answer.</a:t>
            </a:r>
          </a:p>
          <a:p xmlns:a="http://schemas.openxmlformats.org/drawingml/2006/main">
            <a:r>
              <a:t/>
            </a:r>
          </a:p>
          <a:p xmlns:a="http://schemas.openxmlformats.org/drawingml/2006/main">
            <a:r>
              <a:t>Ask: Does broad training establish expertise in current Ugandan tax law?</a:t>
            </a:r>
          </a:p>
          <a:p xmlns:a="http://schemas.openxmlformats.org/drawingml/2006/main">
            <a:r>
              <a:t/>
            </a:r>
          </a:p>
          <a:p xmlns:a="http://schemas.openxmlformats.org/drawingml/2006/main">
            <a:r>
              <a:t>Expected answer: No. Domain relevance, current sources and task evaluation remain necessary.</a:t>
            </a:r>
          </a:p>
          <a:p xmlns:a="http://schemas.openxmlformats.org/drawingml/2006/main">
            <a:r>
              <a:t/>
            </a:r>
          </a:p>
          <a:p xmlns:a="http://schemas.openxmlformats.org/drawingml/2006/main">
            <a:r>
              <a:t>If partly correct: Likely confusion: Uploading is training. I will clarify: Separate a parameter update from supplying today’s evidence during inference. Then return to this slide’s question: Does broad training establish expertise in current Ugandan tax law? A supported answer should establish: No. Domain relevance, current sources and task evaluation remain necessary.</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https://arxiv.org/abs/2108.07258</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Introduce CNNs, RNNs and GRUs only as an architecture overview. A product may combine architectures. Do not turn the session into implementation or imply that all document recognition uses the same architecture.</a:t>
            </a:r>
          </a:p>
          <a:p xmlns:a="http://schemas.openxmlformats.org/drawingml/2006/main">
            <a:r>
              <a:t/>
            </a:r>
          </a:p>
          <a:p xmlns:a="http://schemas.openxmlformats.org/drawingml/2006/main">
            <a:r>
              <a:t>Ask: Which family matters most for our language-model explanation?</a:t>
            </a:r>
          </a:p>
          <a:p xmlns:a="http://schemas.openxmlformats.org/drawingml/2006/main">
            <a:r>
              <a:t/>
            </a:r>
          </a:p>
          <a:p xmlns:a="http://schemas.openxmlformats.org/drawingml/2006/main">
            <a:r>
              <a:t>Expected answer: Transformers, while the wider system may include other models.</a:t>
            </a:r>
          </a:p>
          <a:p xmlns:a="http://schemas.openxmlformats.org/drawingml/2006/main">
            <a:r>
              <a:t/>
            </a:r>
          </a:p>
          <a:p xmlns:a="http://schemas.openxmlformats.org/drawingml/2006/main">
            <a:r>
              <a:t>If partly correct: Likely confusion: Similar clauses have identical legal effect. I will clarify: Change not to its opposite and inspect meaning despite similar vocabulary. Then return to this slide’s question: Which family matters most for our language-model explanation? A supported answer should establish: Transformers, while the wider system may include other models.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https://developers.google.com/machine-learning/crash-course/llm/transformers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What is learned from examples, and how can language be represented numerically?</a:t>
            </a:r>
          </a:p>
          <a:p xmlns:a="http://schemas.openxmlformats.org/drawingml/2006/main">
            <a:r>
              <a:t/>
            </a:r>
          </a:p>
          <a:p xmlns:a="http://schemas.openxmlformats.org/drawingml/2006/main">
            <a:r>
              <a:t>I will explain: Connect technical learning to executive control. A successful demonstration under one model does not establish unchanged behaviour after a provider update.</a:t>
            </a:r>
          </a:p>
          <a:p xmlns:a="http://schemas.openxmlformats.org/drawingml/2006/main">
            <a:r>
              <a:t/>
            </a:r>
          </a:p>
          <a:p xmlns:a="http://schemas.openxmlformats.org/drawingml/2006/main">
            <a:r>
              <a:t>Ask: Which tests would we retain?</a:t>
            </a:r>
          </a:p>
          <a:p xmlns:a="http://schemas.openxmlformats.org/drawingml/2006/main">
            <a:r>
              <a:t/>
            </a:r>
          </a:p>
          <a:p xmlns:a="http://schemas.openxmlformats.org/drawingml/2006/main">
            <a:r>
              <a:t>Expected answer: Representative agreements, missing-source questions, exceptions and access tests.</a:t>
            </a:r>
          </a:p>
          <a:p xmlns:a="http://schemas.openxmlformats.org/drawingml/2006/main">
            <a:r>
              <a:t/>
            </a:r>
          </a:p>
          <a:p xmlns:a="http://schemas.openxmlformats.org/drawingml/2006/main">
            <a:r>
              <a:t>If partly correct: Likely confusion: Near token IDs mean similar words. I will clarify: Change arbitrary IDs without changing words, then return to numerical representations. Then return to this slide’s question: Which tests would we retain? A supported answer should establish: Representative agreements, missing-source questions, exceptions and access tests.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27610217b84d8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fe3ce7ce20f47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db9838b09f4a2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f421ce963814f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15ac8fc48846a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839c1f90afa42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BD8E73-5BD7-434D-A6BF-2E788DEC192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EA0501B-91D1-41E5-B894-E8C27BA0385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1459549-1842-444E-8DAD-ADB85895222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C330FD-5067-4552-8C54-DBC463A162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8D0C6FC-3F62-4018-8F90-C02530E7A64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12518-D958-4A9D-B249-BEE966C692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E101523-FAFF-45FF-BFC6-DA5D422B87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D5D20C1-6C66-489F-82BC-AD48A6CBE78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6C2D50-19A7-48DB-A2B5-87262472DB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E11AA5-042D-4F9E-851B-F30B90D603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0187852b394fd4" /><Relationship Type="http://schemas.openxmlformats.org/officeDocument/2006/relationships/slideLayout" Target="/ppt/slideLayouts/slideLayout1.xml" Id="Rf0a67ecd7f19400e" /><Relationship Type="http://schemas.openxmlformats.org/officeDocument/2006/relationships/slideLayout" Target="/ppt/slideLayouts/slideLayout2.xml" Id="Rb172f9e37f494e3c" /><Relationship Type="http://schemas.openxmlformats.org/officeDocument/2006/relationships/slideLayout" Target="/ppt/slideLayouts/slideLayout3.xml" Id="R4a541b78aba44073" /><Relationship Type="http://schemas.openxmlformats.org/officeDocument/2006/relationships/slideLayout" Target="/ppt/slideLayouts/slideLayout4.xml" Id="R137b9c0bfc754df1" /><Relationship Type="http://schemas.openxmlformats.org/officeDocument/2006/relationships/slideLayout" Target="/ppt/slideLayouts/slideLayout5.xml" Id="R9a2e56957b114e34" /><Relationship Type="http://schemas.openxmlformats.org/officeDocument/2006/relationships/slideLayout" Target="/ppt/slideLayouts/slideLayout6.xml" Id="Re700fe7b527047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a67ecd7f19400e"/>
    <p:sldLayoutId xmlns:r="http://schemas.openxmlformats.org/officeDocument/2006/relationships" id="2147483650" r:id="Rb172f9e37f494e3c"/>
    <p:sldLayoutId xmlns:r="http://schemas.openxmlformats.org/officeDocument/2006/relationships" id="2147483651" r:id="R4a541b78aba44073"/>
    <p:sldLayoutId xmlns:r="http://schemas.openxmlformats.org/officeDocument/2006/relationships" id="2147483652" r:id="R137b9c0bfc754df1"/>
    <p:sldLayoutId xmlns:r="http://schemas.openxmlformats.org/officeDocument/2006/relationships" id="2147483653" r:id="R9a2e56957b114e34"/>
    <p:sldLayoutId xmlns:r="http://schemas.openxmlformats.org/officeDocument/2006/relationships" id="2147483654" r:id="Re700fe7b527047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83b6a7a761c4814" /><Relationship Type="http://schemas.openxmlformats.org/officeDocument/2006/relationships/notesSlide" Target="/ppt/notesSlides/notesSlide1.xml" Id="R0aaa8e9231df47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c328f1a17334acb" /><Relationship Type="http://schemas.openxmlformats.org/officeDocument/2006/relationships/notesSlide" Target="/ppt/notesSlides/notesSlide2.xml" Id="R766b42dce57b46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bff6a6998fa4f03" /><Relationship Type="http://schemas.openxmlformats.org/officeDocument/2006/relationships/notesSlide" Target="/ppt/notesSlides/notesSlide3.xml" Id="R44f20b905e4847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9c9405e3337401a" /><Relationship Type="http://schemas.openxmlformats.org/officeDocument/2006/relationships/notesSlide" Target="/ppt/notesSlides/notesSlide4.xml" Id="Rdb7316973a8d46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3004b9752fc4de1" /><Relationship Type="http://schemas.openxmlformats.org/officeDocument/2006/relationships/notesSlide" Target="/ppt/notesSlides/notesSlide5.xml" Id="Rf49a28c010b44c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64f0ffb2ca747b1" /><Relationship Type="http://schemas.openxmlformats.org/officeDocument/2006/relationships/notesSlide" Target="/ppt/notesSlides/notesSlide6.xml" Id="R2d0cb66afbc84d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bcd3eac44374b18" /><Relationship Type="http://schemas.openxmlformats.org/officeDocument/2006/relationships/notesSlide" Target="/ppt/notesSlides/notesSlide7.xml" Id="Rebca5ce059914a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86408609a634b89" /><Relationship Type="http://schemas.openxmlformats.org/officeDocument/2006/relationships/notesSlide" Target="/ppt/notesSlides/notesSlide8.xml" Id="R232515fd839343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808368d3e864354" /><Relationship Type="http://schemas.openxmlformats.org/officeDocument/2006/relationships/notesSlide" Target="/ppt/notesSlides/notesSlide9.xml" Id="Rda432768fa684c7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296254281034359" /><Relationship Type="http://schemas.openxmlformats.org/officeDocument/2006/relationships/notesSlide" Target="/ppt/notesSlides/notesSlide10.xml" Id="R8983ccee5a8145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95803fd70b84f82" /><Relationship Type="http://schemas.openxmlformats.org/officeDocument/2006/relationships/notesSlide" Target="/ppt/notesSlides/notesSlide11.xml" Id="R7ac8c026937847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5494a8ada0a4fd1" /><Relationship Type="http://schemas.openxmlformats.org/officeDocument/2006/relationships/notesSlide" Target="/ppt/notesSlides/notesSlide12.xml" Id="Rc5cef24ce6b0446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508ceda33c147d5" /><Relationship Type="http://schemas.openxmlformats.org/officeDocument/2006/relationships/notesSlide" Target="/ppt/notesSlides/notesSlide13.xml" Id="R16020c0096e3475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86d67e0f58f46ed" /><Relationship Type="http://schemas.openxmlformats.org/officeDocument/2006/relationships/notesSlide" Target="/ppt/notesSlides/notesSlide14.xml" Id="Rbc3577ea1cf0436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85f465ffc944cb7" /><Relationship Type="http://schemas.openxmlformats.org/officeDocument/2006/relationships/notesSlide" Target="/ppt/notesSlides/notesSlide15.xml" Id="R9d4562c11a934af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f95b869a5e040be" /><Relationship Type="http://schemas.openxmlformats.org/officeDocument/2006/relationships/notesSlide" Target="/ppt/notesSlides/notesSlide16.xml" Id="Rdc18719e8b1d4f8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6751c2978ef4667" /><Relationship Type="http://schemas.openxmlformats.org/officeDocument/2006/relationships/notesSlide" Target="/ppt/notesSlides/notesSlide17.xml" Id="Rb854ec9a04ac418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f12774396a948b8" /><Relationship Type="http://schemas.openxmlformats.org/officeDocument/2006/relationships/notesSlide" Target="/ppt/notesSlides/notesSlide18.xml" Id="R9c64118ce50d431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17d24b337e14250" /><Relationship Type="http://schemas.openxmlformats.org/officeDocument/2006/relationships/notesSlide" Target="/ppt/notesSlides/notesSlide19.xml" Id="R53442593d7ec4fa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340206cc9e04749" /><Relationship Type="http://schemas.openxmlformats.org/officeDocument/2006/relationships/notesSlide" Target="/ppt/notesSlides/notesSlide20.xml" Id="R0a1f8c83288a414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cadb65ea2454bc4" /><Relationship Type="http://schemas.openxmlformats.org/officeDocument/2006/relationships/notesSlide" Target="/ppt/notesSlides/notesSlide21.xml" Id="R5439404fad7f437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be43d066a8e48d9" /><Relationship Type="http://schemas.openxmlformats.org/officeDocument/2006/relationships/notesSlide" Target="/ppt/notesSlides/notesSlide22.xml" Id="R302cbd844db5454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71c813f1218448f" /><Relationship Type="http://schemas.openxmlformats.org/officeDocument/2006/relationships/notesSlide" Target="/ppt/notesSlides/notesSlide23.xml" Id="Re7f3d190f2ac4a7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fdce79fa999472f" /><Relationship Type="http://schemas.openxmlformats.org/officeDocument/2006/relationships/notesSlide" Target="/ppt/notesSlides/notesSlide24.xml" Id="R9804f87fe457454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6143d45faba4c7c" /><Relationship Type="http://schemas.openxmlformats.org/officeDocument/2006/relationships/notesSlide" Target="/ppt/notesSlides/notesSlide25.xml" Id="R715bc3250ea24bc0" /></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How AI learns and represents information">
    <p:bg>
      <p:bgPr>
        <a:solidFill>
          <a:srgbClr val="1C3144"/>
        </a:solidFill>
      </p:bgPr>
    </p:bg>
    <p:spTree>
      <p:nvGrpSpPr>
        <p:cNvPr id="1" name=""/>
        <p:cNvGrpSpPr/>
        <p:nvPr/>
      </p:nvGrpSpPr>
      <p:grpSpPr>
        <a:xfrm/>
      </p:grpSpPr>
      <p:sp>
        <p:nvSpPr>
          <p:cNvPr id="5" name="text-155">
            <a:extLst>
              <a:ext uri="{FF2B5EF4-FFF2-40B4-BE49-F238E27FC236}">
                <ns2:creationId id="{A89BECA4-7145-4182-94F8-C7894956738B}"/>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02</a:t>
            </a:r>
          </a:p>
        </p:txBody>
      </p:sp>
      <p:sp>
        <p:nvSpPr>
          <p:cNvPr id="2" name="text-156">
            <a:extLst>
              <a:ext uri="{FF2B5EF4-FFF2-40B4-BE49-F238E27FC236}">
                <ns2:creationId id="{047E07FE-D559-4677-A840-B022559E8F0F}"/>
              </a:ext>
            </a:extLst>
          </p:cNvPr>
          <p:cNvSpPr>
            <a:spLocks noGrp="1"/>
          </p:cNvSpPr>
          <p:nvPr>
            <p:ph type="title"/>
          </p:nvPr>
        </p:nvSpPr>
        <p:spPr>
          <a:xfrm>
            <a:off x="619125" y="1676400"/>
            <a:ext cx="10620375" cy="1905000"/>
          </a:xfrm>
          <a:prstGeom prst="rect">
            <a:avLst/>
          </a:prstGeom>
          <a:noFill/>
          <a:ln w="0">
            <a:noFill/>
          </a:ln>
        </p:spPr>
        <p:txBody>
          <a:bodyPr>
            <a:noAutofit/>
          </a:bodyPr>
          <a:lstStyle>
            <a:defPPr>
              <a:defRPr sz="4800" b="1">
                <a:solidFill>
                  <a:srgbClr val="FFFFFF"/>
                </a:solidFill>
                <a:latin typeface="Calibri"/>
                <a:ea typeface="Calibri"/>
                <a:cs typeface="Calibri"/>
              </a:defRPr>
            </a:defPPr>
            <a:lvl1pPr>
              <a:defRPr sz="4800" b="1">
                <a:solidFill>
                  <a:srgbClr val="FFFFFF"/>
                </a:solidFill>
                <a:latin typeface="Calibri"/>
                <a:ea typeface="Calibri"/>
                <a:cs typeface="Calibri"/>
              </a:defRPr>
            </a:lvl1pPr>
            <a:lvl2pPr>
              <a:defRPr sz="4800" b="1">
                <a:solidFill>
                  <a:srgbClr val="FFFFFF"/>
                </a:solidFill>
                <a:latin typeface="Calibri"/>
                <a:ea typeface="Calibri"/>
                <a:cs typeface="Calibri"/>
              </a:defRPr>
            </a:lvl2pPr>
            <a:lvl3pPr>
              <a:defRPr sz="4800" b="1">
                <a:solidFill>
                  <a:srgbClr val="FFFFFF"/>
                </a:solidFill>
                <a:latin typeface="Calibri"/>
                <a:ea typeface="Calibri"/>
                <a:cs typeface="Calibri"/>
              </a:defRPr>
            </a:lvl3pPr>
            <a:lvl4pPr>
              <a:defRPr sz="4800" b="1">
                <a:solidFill>
                  <a:srgbClr val="FFFFFF"/>
                </a:solidFill>
                <a:latin typeface="Calibri"/>
                <a:ea typeface="Calibri"/>
                <a:cs typeface="Calibri"/>
              </a:defRPr>
            </a:lvl4pPr>
            <a:lvl5pPr>
              <a:defRPr sz="4800" b="1">
                <a:solidFill>
                  <a:srgbClr val="FFFFFF"/>
                </a:solidFill>
                <a:latin typeface="Calibri"/>
                <a:ea typeface="Calibri"/>
                <a:cs typeface="Calibri"/>
              </a:defRPr>
            </a:lvl5pPr>
            <a:lvl6pPr>
              <a:defRPr sz="4800" b="1">
                <a:solidFill>
                  <a:srgbClr val="FFFFFF"/>
                </a:solidFill>
                <a:latin typeface="Calibri"/>
                <a:ea typeface="Calibri"/>
                <a:cs typeface="Calibri"/>
              </a:defRPr>
            </a:lvl6pPr>
            <a:lvl7pPr>
              <a:defRPr sz="4800" b="1">
                <a:solidFill>
                  <a:srgbClr val="FFFFFF"/>
                </a:solidFill>
                <a:latin typeface="Calibri"/>
                <a:ea typeface="Calibri"/>
                <a:cs typeface="Calibri"/>
              </a:defRPr>
            </a:lvl7pPr>
            <a:lvl8pPr>
              <a:defRPr sz="4800" b="1">
                <a:solidFill>
                  <a:srgbClr val="FFFFFF"/>
                </a:solidFill>
                <a:latin typeface="Calibri"/>
                <a:ea typeface="Calibri"/>
                <a:cs typeface="Calibri"/>
              </a:defRPr>
            </a:lvl8pPr>
            <a:lvl9pPr>
              <a:defRPr sz="4800" b="1">
                <a:solidFill>
                  <a:srgbClr val="FFFFFF"/>
                </a:solidFill>
                <a:latin typeface="Calibri"/>
                <a:ea typeface="Calibri"/>
                <a:cs typeface="Calibri"/>
              </a:defRPr>
            </a:lvl9pPr>
          </a:lstStyle>
          <a:p>
            <a:pPr>
              <a:defRPr sz="4800" b="1">
                <a:solidFill>
                  <a:srgbClr val="FFFFFF"/>
                </a:solidFill>
                <a:latin typeface="Calibri"/>
                <a:ea typeface="Calibri"/>
                <a:cs typeface="Calibri"/>
              </a:defRPr>
            </a:pPr>
            <a:r>
              <a:rPr sz="4800" b="1">
                <a:solidFill>
                  <a:srgbClr val="FFFFFF"/>
                </a:solidFill>
                <a:latin typeface="Calibri"/>
                <a:ea typeface="Calibri"/>
                <a:cs typeface="Calibri"/>
              </a:rPr>
              <a:t>How AI learns and represents information</a:t>
            </a:r>
          </a:p>
        </p:txBody>
      </p:sp>
      <p:sp>
        <p:nvSpPr>
          <p:cNvPr id="3" name="text-157">
            <a:extLst>
              <a:ext uri="{FF2B5EF4-FFF2-40B4-BE49-F238E27FC236}">
                <ns2:creationId id="{CD238157-62F6-4569-8078-D7305A3F1097}"/>
              </a:ext>
            </a:extLst>
          </p:cNvPr>
          <p:cNvSpPr>
            <a:spLocks noGrp="1"/>
          </p:cNvSpPr>
          <p:nvPr/>
        </p:nvSpPr>
        <p:spPr>
          <a:xfrm>
            <a:off x="619125" y="4095750"/>
            <a:ext cx="10382250"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What is learned from examples, and how can language be represented numerically?</a:t>
            </a:r>
          </a:p>
        </p:txBody>
      </p:sp>
      <p:sp>
        <p:nvSpPr>
          <p:cNvPr id="4" name="text-158">
            <a:extLst>
              <a:ext uri="{FF2B5EF4-FFF2-40B4-BE49-F238E27FC236}">
                <ns2:creationId id="{127E8FD5-ACB5-433D-B117-A54E249842EA}"/>
              </a:ext>
            </a:extLst>
          </p:cNvPr>
          <p:cNvSpPr>
            <a:spLocks noGrp="1"/>
          </p:cNvSpPr>
          <p:nvPr/>
        </p:nvSpPr>
        <p:spPr>
          <a:xfrm>
            <a:off x="619125" y="6010275"/>
            <a:ext cx="10668000"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800" b="0">
                <a:solidFill>
                  <a:srgbClr val="DCE8E6"/>
                </a:solidFill>
                <a:latin typeface="Calibri"/>
                <a:ea typeface="Calibri"/>
                <a:cs typeface="Calibri"/>
              </a:rPr>
              <a:t>Jotham Martin Wambi   KLAi Professional Learning</a:t>
            </a:r>
          </a:p>
        </p:txBody>
      </p:sp>
    </p:spTree>
    <p:extLst>
      <p:ext uri="{BB962C8B-B14F-4D97-AF65-F5344CB8AC3E}">
        <ns3:creationId val="2146023291"/>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Recall the distinction">
    <p:bg>
      <p:bgPr>
        <a:solidFill>
          <a:srgbClr val="FFFFFF"/>
        </a:solidFill>
      </p:bgPr>
    </p:bg>
    <p:spTree>
      <p:nvGrpSpPr>
        <p:cNvPr id="1" name=""/>
        <p:cNvGrpSpPr/>
        <p:nvPr/>
      </p:nvGrpSpPr>
      <p:grpSpPr>
        <a:xfrm/>
      </p:grpSpPr>
      <p:sp>
        <p:nvSpPr>
          <p:cNvPr id="9" name="text-159">
            <a:extLst>
              <a:ext uri="{FF2B5EF4-FFF2-40B4-BE49-F238E27FC236}">
                <ns2:creationId id="{A80FAF07-022B-4DF5-80C7-ED36D30B067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160">
            <a:extLst>
              <a:ext uri="{FF2B5EF4-FFF2-40B4-BE49-F238E27FC236}">
                <ns2:creationId id="{C67D5551-2B81-40E9-AEB1-1D76ADE6B86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Recall the distinction</a:t>
            </a:r>
          </a:p>
        </p:txBody>
      </p:sp>
      <p:sp>
        <p:nvSpPr>
          <p:cNvPr id="4" name="text-162">
            <a:extLst>
              <a:ext uri="{FF2B5EF4-FFF2-40B4-BE49-F238E27FC236}">
                <ns2:creationId id="{671E05BC-CC35-43C8-8E68-1C3D8443B4F9}"/>
              </a:ext>
            </a:extLst>
          </p:cNvPr>
          <p:cNvSpPr>
            <a:spLocks noGrp="1"/>
          </p:cNvSpPr>
          <p:nvPr/>
        </p:nvSpPr>
        <p:spPr>
          <a:xfrm>
            <a:off x="619125" y="2000250"/>
            <a:ext cx="10858500"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RECALL SESSION 1</a:t>
            </a:r>
          </a:p>
        </p:txBody>
      </p:sp>
      <p:sp>
        <p:nvSpPr>
          <p:cNvPr id="5" name="text-163">
            <a:extLst>
              <a:ext uri="{FF2B5EF4-FFF2-40B4-BE49-F238E27FC236}">
                <ns2:creationId id="{1DDECD28-10DC-42BF-8AE8-A3846347D6E2}"/>
              </a:ext>
            </a:extLst>
          </p:cNvPr>
          <p:cNvSpPr>
            <a:spLocks noGrp="1"/>
          </p:cNvSpPr>
          <p:nvPr/>
        </p:nvSpPr>
        <p:spPr>
          <a:xfrm>
            <a:off x="619125" y="2495550"/>
            <a:ext cx="10858500"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An assistant totals invoices and drafts a letter. Which operation needs learned generation?</a:t>
            </a:r>
          </a:p>
        </p:txBody>
      </p:sp>
      <p:sp>
        <p:nvSpPr>
          <p:cNvPr id="6" name="text-164">
            <a:extLst>
              <a:ext uri="{FF2B5EF4-FFF2-40B4-BE49-F238E27FC236}">
                <ns2:creationId id="{BD0C816F-2A80-4B94-9F50-AAD19A0F1AA9}"/>
              </a:ext>
            </a:extLst>
          </p:cNvPr>
          <p:cNvSpPr>
            <a:spLocks noGrp="1"/>
          </p:cNvSpPr>
          <p:nvPr/>
        </p:nvSpPr>
        <p:spPr>
          <a:xfrm>
            <a:off x="619125" y="3857625"/>
            <a:ext cx="10858500"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165">
            <a:extLst>
              <a:ext uri="{FF2B5EF4-FFF2-40B4-BE49-F238E27FC236}">
                <ns2:creationId id="{31EAF155-1D0D-4848-8753-9E9298DBD20D}"/>
              </a:ext>
            </a:extLst>
          </p:cNvPr>
          <p:cNvSpPr>
            <a:spLocks noGrp="1"/>
          </p:cNvSpPr>
          <p:nvPr/>
        </p:nvSpPr>
        <p:spPr>
          <a:xfrm>
            <a:off x="619125" y="4362450"/>
            <a:ext cx="10858500"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What is learned from examples, and how can language be represented numerically?</a:t>
            </a:r>
          </a:p>
        </p:txBody>
      </p:sp>
      <p:sp>
        <p:nvSpPr>
          <p:cNvPr id="8" name="text-166">
            <a:extLst>
              <a:ext uri="{FF2B5EF4-FFF2-40B4-BE49-F238E27FC236}">
                <ns2:creationId id="{ED8B9269-F342-4699-B272-EA5C3B0E4B99}"/>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An explanation of training, inference, tokens and similarity using the same matter.</a:t>
            </a:r>
          </a:p>
        </p:txBody>
      </p:sp>
      <p:sp>
        <p:nvSpPr>
          <p:cNvPr id="3" name="text-161">
            <a:extLst>
              <a:ext uri="{FF2B5EF4-FFF2-40B4-BE49-F238E27FC236}">
                <ns2:creationId id="{8E390B87-C201-4ED5-B38A-41218EED53B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2</a:t>
            </a:r>
          </a:p>
        </p:txBody>
      </p:sp>
    </p:spTree>
    <p:extLst>
      <p:ext uri="{BB962C8B-B14F-4D97-AF65-F5344CB8AC3E}">
        <ns3:creationId val="1310848375"/>
      </p:ext>
    </p:extLst>
  </p:cSld>
  <p:transition spd="med"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name="The task before the model">
    <p:bg>
      <p:bgPr>
        <a:solidFill>
          <a:srgbClr val="FFFFFF"/>
        </a:solidFill>
      </p:bgPr>
    </p:bg>
    <p:spTree>
      <p:nvGrpSpPr>
        <p:cNvPr id="1" name=""/>
        <p:cNvGrpSpPr/>
        <p:nvPr/>
      </p:nvGrpSpPr>
      <p:grpSpPr>
        <a:xfrm/>
      </p:grpSpPr>
      <p:sp>
        <p:nvSpPr>
          <p:cNvPr id="8" name="text-167">
            <a:extLst>
              <a:ext uri="{FF2B5EF4-FFF2-40B4-BE49-F238E27FC236}">
                <ns2:creationId id="{0610501C-3B7A-4863-AC7A-5109D2126E8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168">
            <a:extLst>
              <a:ext uri="{FF2B5EF4-FFF2-40B4-BE49-F238E27FC236}">
                <ns2:creationId id="{60CB17F3-1644-442B-95C0-125F72D43A0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task before the model</a:t>
            </a:r>
          </a:p>
        </p:txBody>
      </p:sp>
      <p:sp>
        <p:nvSpPr>
          <p:cNvPr id="4" name="text-170">
            <a:extLst>
              <a:ext uri="{FF2B5EF4-FFF2-40B4-BE49-F238E27FC236}">
                <ns2:creationId id="{D0F2C5B6-063A-49CE-8EE9-5E0358936FB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71">
            <a:extLst>
              <a:ext uri="{FF2B5EF4-FFF2-40B4-BE49-F238E27FC236}">
                <ns2:creationId id="{85DC4B1B-8BBF-4BD9-9624-9BC0109F06F3}"/>
              </a:ext>
            </a:extLst>
          </p:cNvPr>
          <p:cNvSpPr>
            <a:spLocks noGrp="1"/>
          </p:cNvSpPr>
          <p:nvPr/>
        </p:nvSpPr>
        <p:spPr>
          <a:xfrm>
            <a:off x="1285875" y="1943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large language model is a neural-network model trained on extensive language data to model token sequences and generate or process language.</a:t>
            </a:r>
          </a:p>
        </p:txBody>
      </p:sp>
      <p:sp>
        <p:nvSpPr>
          <p:cNvPr id="6" name="text-172">
            <a:extLst>
              <a:ext uri="{FF2B5EF4-FFF2-40B4-BE49-F238E27FC236}">
                <ns2:creationId id="{DB5B0E38-17EF-49E0-BAED-FEAA7379A261}"/>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73">
            <a:extLst>
              <a:ext uri="{FF2B5EF4-FFF2-40B4-BE49-F238E27FC236}">
                <ns2:creationId id="{48503A4E-C04D-4D20-A010-AA31960894C7}"/>
              </a:ext>
            </a:extLst>
          </p:cNvPr>
          <p:cNvSpPr>
            <a:spLocks noGrp="1"/>
          </p:cNvSpPr>
          <p:nvPr/>
        </p:nvSpPr>
        <p:spPr>
          <a:xfrm>
            <a:off x="1285875" y="3848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Our tasks: classify an agreement, extract a party name or generate a clause. Each needs a different success test.</a:t>
            </a:r>
          </a:p>
        </p:txBody>
      </p:sp>
      <p:sp>
        <p:nvSpPr>
          <p:cNvPr id="3" name="text-169">
            <a:extLst>
              <a:ext uri="{FF2B5EF4-FFF2-40B4-BE49-F238E27FC236}">
                <ns2:creationId id="{98314C90-5091-402E-97B3-C291E0520CE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3</a:t>
            </a:r>
          </a:p>
        </p:txBody>
      </p:sp>
    </p:spTree>
    <p:extLst>
      <p:ext uri="{BB962C8B-B14F-4D97-AF65-F5344CB8AC3E}">
        <ns3:creationId val="285569089"/>
      </p:ext>
    </p:extLst>
  </p:cSld>
  <p:transition spd="med" advClick="1">
    <p:fade/>
  </p:transition>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name="Training">
    <p:bg>
      <p:bgPr>
        <a:solidFill>
          <a:srgbClr val="FFFFFF"/>
        </a:solidFill>
      </p:bgPr>
    </p:bg>
    <p:spTree>
      <p:nvGrpSpPr>
        <p:cNvPr id="1" name=""/>
        <p:cNvGrpSpPr/>
        <p:nvPr/>
      </p:nvGrpSpPr>
      <p:grpSpPr>
        <a:xfrm/>
      </p:grpSpPr>
      <p:sp>
        <p:nvSpPr>
          <p:cNvPr id="7" name="text-174">
            <a:extLst>
              <a:ext uri="{FF2B5EF4-FFF2-40B4-BE49-F238E27FC236}">
                <ns2:creationId id="{5D364BE9-4128-4C4F-BC53-5411C0C878F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175">
            <a:extLst>
              <a:ext uri="{FF2B5EF4-FFF2-40B4-BE49-F238E27FC236}">
                <ns2:creationId id="{B5A38223-5D12-4401-A0FC-C3C18964D28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Training</a:t>
            </a:r>
          </a:p>
        </p:txBody>
      </p:sp>
      <p:sp>
        <p:nvSpPr>
          <p:cNvPr id="4" name="text-177">
            <a:extLst>
              <a:ext uri="{FF2B5EF4-FFF2-40B4-BE49-F238E27FC236}">
                <ns2:creationId id="{D6D75BDA-8609-475A-AD02-9305DCADD15A}"/>
              </a:ext>
            </a:extLst>
          </p:cNvPr>
          <p:cNvSpPr>
            <a:spLocks noGrp="1"/>
          </p:cNvSpPr>
          <p:nvPr/>
        </p:nvSpPr>
        <p:spPr>
          <a:xfrm>
            <a:off x="619125" y="1933575"/>
            <a:ext cx="10953750"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Training is the process of fitting a model to data by adjusting its parameters or structure according to an objective.</a:t>
            </a:r>
          </a:p>
        </p:txBody>
      </p:sp>
      <p:sp>
        <p:nvSpPr>
          <p:cNvPr id="5" name="text-178">
            <a:extLst>
              <a:ext uri="{FF2B5EF4-FFF2-40B4-BE49-F238E27FC236}">
                <ns2:creationId id="{B596CD7E-E797-48F6-A06F-62A222A05E06}"/>
              </a:ext>
            </a:extLst>
          </p:cNvPr>
          <p:cNvSpPr>
            <a:spLocks noGrp="1"/>
          </p:cNvSpPr>
          <p:nvPr/>
        </p:nvSpPr>
        <p:spPr>
          <a:xfrm>
            <a:off x="619125" y="4476750"/>
            <a:ext cx="10953750"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179">
            <a:extLst>
              <a:ext uri="{FF2B5EF4-FFF2-40B4-BE49-F238E27FC236}">
                <ns2:creationId id="{1C76F2DB-A570-4757-BBBC-529558F47337}"/>
              </a:ext>
            </a:extLst>
          </p:cNvPr>
          <p:cNvSpPr>
            <a:spLocks noGrp="1"/>
          </p:cNvSpPr>
          <p:nvPr/>
        </p:nvSpPr>
        <p:spPr>
          <a:xfrm>
            <a:off x="619125" y="4962525"/>
            <a:ext cx="10953750"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Label past firm documents as agreements or invoices so a classifier can learn their patterns.</a:t>
            </a:r>
          </a:p>
        </p:txBody>
      </p:sp>
      <p:sp>
        <p:nvSpPr>
          <p:cNvPr id="3" name="text-176">
            <a:extLst>
              <a:ext uri="{FF2B5EF4-FFF2-40B4-BE49-F238E27FC236}">
                <ns2:creationId id="{61C5AFB9-456E-4FA7-9628-771F45CF1C1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4</a:t>
            </a:r>
          </a:p>
        </p:txBody>
      </p:sp>
    </p:spTree>
    <p:extLst>
      <p:ext uri="{BB962C8B-B14F-4D97-AF65-F5344CB8AC3E}">
        <ns3:creationId val="396406672"/>
      </p:ext>
    </p:extLst>
  </p:cSld>
  <p:transition spd="med" advClick="1">
    <p:fade/>
  </p:transition>
</p:sld>
</file>

<file path=ppt/slides/slide5.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learning loop">
    <p:bg>
      <p:bgPr>
        <a:solidFill>
          <a:srgbClr val="FFFFFF"/>
        </a:solidFill>
      </p:bgPr>
    </p:bg>
    <p:spTree>
      <p:nvGrpSpPr>
        <p:cNvPr id="1" name=""/>
        <p:cNvGrpSpPr/>
        <p:nvPr/>
      </p:nvGrpSpPr>
      <p:grpSpPr>
        <a:xfrm/>
      </p:grpSpPr>
      <p:cxnSp>
        <p:nvCxnSpPr>
          <p:cNvPr id="22" name="reveal-04-arrow" descr="The learning loop">
            <a:extLst>
              <a:ext uri="{FF2B5EF4-FFF2-40B4-BE49-F238E27FC236}">
                <ns2:creationId id="{C50FDC73-D72C-4774-89E8-00CB1EBCE23D}"/>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A42139FF-A2FD-4049-B275-D0E0A9703ABB}"/>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0D7B40B6-ACF5-4E4A-889E-95B078B0C8FD}"/>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4" name="text-180">
            <a:extLst>
              <a:ext uri="{FF2B5EF4-FFF2-40B4-BE49-F238E27FC236}">
                <ns2:creationId id="{CEA93A28-F8C6-4EF7-AD68-3047EAEA4DB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181">
            <a:extLst>
              <a:ext uri="{FF2B5EF4-FFF2-40B4-BE49-F238E27FC236}">
                <ns2:creationId id="{DE6286B0-5824-4536-B1C6-74CF3C1562B1}"/>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learning loop</a:t>
            </a:r>
          </a:p>
        </p:txBody>
      </p:sp>
      <p:sp>
        <p:nvSpPr>
          <p:cNvPr id="4" name="reveal-01-stage">
            <a:extLst>
              <a:ext uri="{FF2B5EF4-FFF2-40B4-BE49-F238E27FC236}">
                <ns2:creationId id="{3A2826ED-C3EE-48ED-B82A-584537467AE4}"/>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5E87B061-FDDD-4EB6-A477-323AEB41ACD8}"/>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B4A453CB-F15A-4FD2-B516-706EDD1C815A}"/>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Examples</a:t>
            </a:r>
          </a:p>
        </p:txBody>
      </p:sp>
      <p:sp>
        <p:nvSpPr>
          <p:cNvPr id="7" name="reveal-01-detail">
            <a:extLst>
              <a:ext uri="{FF2B5EF4-FFF2-40B4-BE49-F238E27FC236}">
                <ns2:creationId id="{E314C19C-A938-4D90-8899-740B52B30770}"/>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Inputs and targets</a:t>
            </a:r>
          </a:p>
        </p:txBody>
      </p:sp>
      <p:sp>
        <p:nvSpPr>
          <p:cNvPr id="8" name="reveal-02-stage">
            <a:extLst>
              <a:ext uri="{FF2B5EF4-FFF2-40B4-BE49-F238E27FC236}">
                <ns2:creationId id="{4CC54C0E-DFFB-4B28-BBEC-BF44449D9435}"/>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08245585-5A75-4A5C-B62C-4BA12641E906}"/>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D56A149E-2CFB-4864-89D9-60D34D9E4527}"/>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Prediction</a:t>
            </a:r>
          </a:p>
        </p:txBody>
      </p:sp>
      <p:sp>
        <p:nvSpPr>
          <p:cNvPr id="11" name="reveal-02-detail">
            <a:extLst>
              <a:ext uri="{FF2B5EF4-FFF2-40B4-BE49-F238E27FC236}">
                <ns2:creationId id="{EAB2623F-3FFE-4898-BB0F-643F93A65739}"/>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Current model output</a:t>
            </a:r>
          </a:p>
        </p:txBody>
      </p:sp>
      <p:sp>
        <p:nvSpPr>
          <p:cNvPr id="12" name="reveal-03-stage">
            <a:extLst>
              <a:ext uri="{FF2B5EF4-FFF2-40B4-BE49-F238E27FC236}">
                <ns2:creationId id="{F7457348-654E-4CD4-AB27-1443EC0250FF}"/>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E62DB166-F45C-4DAA-AAD2-F97BB65EDBDA}"/>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7BA15470-1FB9-427A-8FD6-0246877F3038}"/>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Comparison</a:t>
            </a:r>
          </a:p>
        </p:txBody>
      </p:sp>
      <p:sp>
        <p:nvSpPr>
          <p:cNvPr id="15" name="reveal-03-detail">
            <a:extLst>
              <a:ext uri="{FF2B5EF4-FFF2-40B4-BE49-F238E27FC236}">
                <ns2:creationId id="{42828312-A672-4727-A486-8E65EC8945ED}"/>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Error against objective</a:t>
            </a:r>
          </a:p>
        </p:txBody>
      </p:sp>
      <p:sp>
        <p:nvSpPr>
          <p:cNvPr id="16" name="reveal-04-stage">
            <a:extLst>
              <a:ext uri="{FF2B5EF4-FFF2-40B4-BE49-F238E27FC236}">
                <ns2:creationId id="{1F5762DF-6C48-4482-B6DE-71545199C23F}"/>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846F581E-17A3-4987-84B2-6E7EC87FB7D0}"/>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C6D952D9-3158-447E-A261-AA2A63D4B319}"/>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Update</a:t>
            </a:r>
          </a:p>
        </p:txBody>
      </p:sp>
      <p:sp>
        <p:nvSpPr>
          <p:cNvPr id="19" name="reveal-04-detail">
            <a:extLst>
              <a:ext uri="{FF2B5EF4-FFF2-40B4-BE49-F238E27FC236}">
                <ns2:creationId id="{F2B7A3F5-3B1E-4A8F-B783-8D34E125F9E2}"/>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Adjust parameters</a:t>
            </a:r>
          </a:p>
        </p:txBody>
      </p:sp>
      <p:sp>
        <p:nvSpPr>
          <p:cNvPr id="23" name="text-186">
            <a:extLst>
              <a:ext uri="{FF2B5EF4-FFF2-40B4-BE49-F238E27FC236}">
                <ns2:creationId id="{A8109ED8-FB05-4829-B144-8121B0DE4714}"/>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Repeat with examples. Evaluate on relevant unseen data rather than training fit alone.</a:t>
            </a:r>
          </a:p>
        </p:txBody>
      </p:sp>
      <p:sp>
        <p:nvSpPr>
          <p:cNvPr id="3" name="text-182">
            <a:extLst>
              <a:ext uri="{FF2B5EF4-FFF2-40B4-BE49-F238E27FC236}">
                <ns2:creationId id="{0655080D-035B-4E8D-9895-992185CE9BA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5</a:t>
            </a:r>
          </a:p>
        </p:txBody>
      </p:sp>
    </p:spTree>
    <p:extLst>
      <p:ext uri="{BB962C8B-B14F-4D97-AF65-F5344CB8AC3E}">
        <ns4:creationId val="14460700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name="Learning approaches">
    <p:bg>
      <p:bgPr>
        <a:solidFill>
          <a:srgbClr val="FFFFFF"/>
        </a:solidFill>
      </p:bgPr>
    </p:bg>
    <p:spTree>
      <p:nvGrpSpPr>
        <p:cNvPr id="1" name=""/>
        <p:cNvGrpSpPr/>
        <p:nvPr/>
      </p:nvGrpSpPr>
      <p:grpSpPr>
        <a:xfrm/>
      </p:grpSpPr>
      <p:sp>
        <p:nvSpPr>
          <p:cNvPr id="5" name="text-187">
            <a:extLst>
              <a:ext uri="{FF2B5EF4-FFF2-40B4-BE49-F238E27FC236}">
                <ns2:creationId id="{A6F74355-EFFB-46F1-AD6C-B98DE1E1395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188">
            <a:extLst>
              <a:ext uri="{FF2B5EF4-FFF2-40B4-BE49-F238E27FC236}">
                <ns2:creationId id="{FBB51EBD-2511-4A3F-89EA-846718D0B411}"/>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Learning approaches</a:t>
            </a:r>
          </a:p>
        </p:txBody>
      </p:sp>
      <p:graphicFrame>
        <p:nvGraphicFramePr>
          <p:cNvPr id="4" name="">
            <a:extLst>
              <a:ext uri="{FF2B5EF4-FFF2-40B4-BE49-F238E27FC236}">
                <ns2:creationId id="{3372FA43-D352-4960-A6CE-70E20AE5799B}"/>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748665">
                <a:tc>
                  <a:txBody>
                    <a:bodyPr/>
                    <a:lstStyle/>
                    <a:p>
                      <a:r>
                        <a:rPr sz="1875" b="1">
                          <a:solidFill>
                            <a:srgbClr val="FFFFFF"/>
                          </a:solidFill>
                          <a:latin typeface="Calibri"/>
                          <a:ea typeface="Calibri"/>
                          <a:cs typeface="Calibri"/>
                        </a:rPr>
                        <a:t>Approach</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Feedback</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Legal example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Supervised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Supplied target labels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Agreement-type classification</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Unsupervised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No target labels for the task</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Explore document clusters</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Self-supervised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Targets derived from data</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Predict masked or next tokens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Reinforcement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Reward from interaction</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Improve an action policy</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189">
            <a:extLst>
              <a:ext uri="{FF2B5EF4-FFF2-40B4-BE49-F238E27FC236}">
                <ns2:creationId id="{09E96E47-67D6-4217-9510-2C065375CB4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6</a:t>
            </a:r>
          </a:p>
        </p:txBody>
      </p:sp>
    </p:spTree>
    <p:extLst>
      <p:ext uri="{BB962C8B-B14F-4D97-AF65-F5344CB8AC3E}">
        <ns3:creationId val="1025084739"/>
      </p:ext>
    </p:extLst>
  </p:cSld>
  <p:transition spd="med" advClick="1">
    <p:fade/>
  </p:transition>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name="Training and evaluation collections">
    <p:bg>
      <p:bgPr>
        <a:solidFill>
          <a:srgbClr val="FFFFFF"/>
        </a:solidFill>
      </p:bgPr>
    </p:bg>
    <p:spTree>
      <p:nvGrpSpPr>
        <p:cNvPr id="1" name=""/>
        <p:cNvGrpSpPr/>
        <p:nvPr/>
      </p:nvGrpSpPr>
      <p:grpSpPr>
        <a:xfrm/>
      </p:grpSpPr>
      <p:sp>
        <p:nvSpPr>
          <p:cNvPr id="10" name="text-190">
            <a:extLst>
              <a:ext uri="{FF2B5EF4-FFF2-40B4-BE49-F238E27FC236}">
                <ns2:creationId id="{509FA484-6088-4B2E-826E-68D983B42E2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191">
            <a:extLst>
              <a:ext uri="{FF2B5EF4-FFF2-40B4-BE49-F238E27FC236}">
                <ns2:creationId id="{D886C98B-ED0A-42C9-B7D3-2553927A621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Training and evaluation collections</a:t>
            </a:r>
          </a:p>
        </p:txBody>
      </p:sp>
      <p:sp>
        <p:nvSpPr>
          <p:cNvPr id="4" name="text-193">
            <a:extLst>
              <a:ext uri="{FF2B5EF4-FFF2-40B4-BE49-F238E27FC236}">
                <ns2:creationId id="{E307690E-6053-46DF-BBA0-C4A53BFEA945}"/>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94">
            <a:extLst>
              <a:ext uri="{FF2B5EF4-FFF2-40B4-BE49-F238E27FC236}">
                <ns2:creationId id="{8C7C2F33-2997-47F4-A3CE-C9A38E96A5A9}"/>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Training examples fit the parameters.</a:t>
            </a:r>
          </a:p>
        </p:txBody>
      </p:sp>
      <p:sp>
        <p:nvSpPr>
          <p:cNvPr id="6" name="text-195">
            <a:extLst>
              <a:ext uri="{FF2B5EF4-FFF2-40B4-BE49-F238E27FC236}">
                <ns2:creationId id="{B962E9CF-F0A4-4387-AF54-2DDA1FCFCDD8}"/>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96">
            <a:extLst>
              <a:ext uri="{FF2B5EF4-FFF2-40B4-BE49-F238E27FC236}">
                <ns2:creationId id="{C8E61E15-BAD6-4511-9402-E6DF65D646BC}"/>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Validation examples help choose settings.</a:t>
            </a:r>
          </a:p>
        </p:txBody>
      </p:sp>
      <p:sp>
        <p:nvSpPr>
          <p:cNvPr id="8" name="text-197">
            <a:extLst>
              <a:ext uri="{FF2B5EF4-FFF2-40B4-BE49-F238E27FC236}">
                <ns2:creationId id="{36051B9B-D328-4665-BD84-802E9CE78CB5}"/>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98">
            <a:extLst>
              <a:ext uri="{FF2B5EF4-FFF2-40B4-BE49-F238E27FC236}">
                <ns2:creationId id="{84FFA29D-6B2E-445F-9029-7DA099BCB440}"/>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held-out test checks the chosen system on unseen examples.</a:t>
            </a:r>
          </a:p>
        </p:txBody>
      </p:sp>
      <p:sp>
        <p:nvSpPr>
          <p:cNvPr id="3" name="text-192">
            <a:extLst>
              <a:ext uri="{FF2B5EF4-FFF2-40B4-BE49-F238E27FC236}">
                <ns2:creationId id="{A5EEC639-264B-452A-88B4-394B8A47711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7</a:t>
            </a:r>
          </a:p>
        </p:txBody>
      </p:sp>
    </p:spTree>
    <p:extLst>
      <p:ext uri="{BB962C8B-B14F-4D97-AF65-F5344CB8AC3E}">
        <ns3:creationId val="1387460045"/>
      </p:ext>
    </p:extLst>
  </p:cSld>
  <p:transition spd="med" advClick="1">
    <p:fade/>
  </p:transition>
</p:sld>
</file>

<file path=ppt/slides/slide8.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Layers learn representations">
    <p:bg>
      <p:bgPr>
        <a:solidFill>
          <a:srgbClr val="FFFFFF"/>
        </a:solidFill>
      </p:bgPr>
    </p:bg>
    <p:spTree>
      <p:nvGrpSpPr>
        <p:cNvPr id="1" name=""/>
        <p:cNvGrpSpPr/>
        <p:nvPr/>
      </p:nvGrpSpPr>
      <p:grpSpPr>
        <a:xfrm/>
      </p:grpSpPr>
      <p:cxnSp>
        <p:nvCxnSpPr>
          <p:cNvPr id="34" name="reveal-04-weight" descr="Layers learn representations">
            <a:extLst>
              <a:ext uri="{FF2B5EF4-FFF2-40B4-BE49-F238E27FC236}">
                <ns2:creationId id="{0A4545FB-FB65-4DDC-AE83-5B79D9EEEE5E}"/>
              </a:ext>
            </a:extLst>
          </p:cNvPr>
          <p:cNvCxnSpPr>
            <a:stCxn id="13" idx="6"/>
            <a:endCxn id="15" idx="2"/>
          </p:cNvCxnSpPr>
          <p:nvPr/>
        </p:nvCxnSpPr>
        <p:spPr>
          <a:xfrm flipV="1">
            <a:off x="7667625" y="3667125"/>
            <a:ext cx="2905125" cy="1000125"/>
          </a:xfrm>
          <a:prstGeom prst="straightConnector1">
            <a:avLst/>
          </a:prstGeom>
          <a:ln w="17145">
            <a:solidFill>
              <a:srgbClr val="7FA69F"/>
            </a:solidFill>
            <a:tailEnd type="arrow" w="med" len="med"/>
          </a:ln>
        </p:spPr>
      </p:cxnSp>
      <p:cxnSp>
        <p:nvCxnSpPr>
          <p:cNvPr id="33" name="reveal-04-weight">
            <a:extLst>
              <a:ext uri="{FF2B5EF4-FFF2-40B4-BE49-F238E27FC236}">
                <ns2:creationId id="{D178ED37-475F-4987-BF7A-640C114B4AD5}"/>
              </a:ext>
              <a:ext uri="{C183D7F6-B498-43B3-948B-1728B52AA6E4}">
                <ns3:decorative val="1"/>
              </a:ext>
            </a:extLst>
          </p:cNvPr>
          <p:cNvCxnSpPr>
            <a:stCxn id="12" idx="6"/>
            <a:endCxn id="15" idx="2"/>
          </p:cNvCxnSpPr>
          <p:nvPr/>
        </p:nvCxnSpPr>
        <p:spPr>
          <a:xfrm flipV="1">
            <a:off x="7667625" y="3667125"/>
            <a:ext cx="2905125" cy="47625"/>
          </a:xfrm>
          <a:prstGeom prst="straightConnector1">
            <a:avLst/>
          </a:prstGeom>
          <a:ln w="17145">
            <a:solidFill>
              <a:srgbClr val="7FA69F"/>
            </a:solidFill>
            <a:tailEnd type="arrow" w="med" len="med"/>
          </a:ln>
        </p:spPr>
      </p:cxnSp>
      <p:cxnSp>
        <p:nvCxnSpPr>
          <p:cNvPr id="32" name="reveal-04-weight">
            <a:extLst>
              <a:ext uri="{FF2B5EF4-FFF2-40B4-BE49-F238E27FC236}">
                <ns2:creationId id="{B89E87B7-434F-43EB-9741-64C6BD068138}"/>
              </a:ext>
              <a:ext uri="{C183D7F6-B498-43B3-948B-1728B52AA6E4}">
                <ns3:decorative val="1"/>
              </a:ext>
            </a:extLst>
          </p:cNvPr>
          <p:cNvCxnSpPr>
            <a:stCxn id="11" idx="6"/>
            <a:endCxn id="15" idx="2"/>
          </p:cNvCxnSpPr>
          <p:nvPr/>
        </p:nvCxnSpPr>
        <p:spPr>
          <a:xfrm>
            <a:off x="7667625" y="2762250"/>
            <a:ext cx="2905125" cy="904875"/>
          </a:xfrm>
          <a:prstGeom prst="straightConnector1">
            <a:avLst/>
          </a:prstGeom>
          <a:ln w="17145">
            <a:solidFill>
              <a:srgbClr val="7FA69F"/>
            </a:solidFill>
            <a:tailEnd type="arrow" w="med" len="med"/>
          </a:ln>
        </p:spPr>
      </p:cxnSp>
      <p:cxnSp>
        <p:nvCxnSpPr>
          <p:cNvPr id="31" name="reveal-03-weight">
            <a:extLst>
              <a:ext uri="{FF2B5EF4-FFF2-40B4-BE49-F238E27FC236}">
                <ns2:creationId id="{E8354E94-B518-4DD1-9B5F-72E3CFE1A05B}"/>
              </a:ext>
              <a:ext uri="{C183D7F6-B498-43B3-948B-1728B52AA6E4}">
                <ns3:decorative val="1"/>
              </a:ext>
            </a:extLst>
          </p:cNvPr>
          <p:cNvCxnSpPr>
            <a:stCxn id="9" idx="6"/>
            <a:endCxn id="13" idx="2"/>
          </p:cNvCxnSpPr>
          <p:nvPr/>
        </p:nvCxnSpPr>
        <p:spPr>
          <a:xfrm>
            <a:off x="4619625" y="4667250"/>
            <a:ext cx="2667000" cy="0"/>
          </a:xfrm>
          <a:prstGeom prst="straightConnector1">
            <a:avLst/>
          </a:prstGeom>
          <a:ln w="17145">
            <a:solidFill>
              <a:srgbClr val="7FA69F"/>
            </a:solidFill>
            <a:tailEnd type="arrow" w="med" len="med"/>
          </a:ln>
        </p:spPr>
      </p:cxnSp>
      <p:cxnSp>
        <p:nvCxnSpPr>
          <p:cNvPr id="30" name="reveal-03-weight">
            <a:extLst>
              <a:ext uri="{FF2B5EF4-FFF2-40B4-BE49-F238E27FC236}">
                <ns2:creationId id="{473655A8-5B69-45E3-955C-58398ABBEF8E}"/>
              </a:ext>
              <a:ext uri="{C183D7F6-B498-43B3-948B-1728B52AA6E4}">
                <ns3:decorative val="1"/>
              </a:ext>
            </a:extLst>
          </p:cNvPr>
          <p:cNvCxnSpPr>
            <a:stCxn id="9" idx="6"/>
            <a:endCxn id="12" idx="2"/>
          </p:cNvCxnSpPr>
          <p:nvPr/>
        </p:nvCxnSpPr>
        <p:spPr>
          <a:xfrm flipV="1">
            <a:off x="4619625" y="3714750"/>
            <a:ext cx="2667000" cy="952500"/>
          </a:xfrm>
          <a:prstGeom prst="straightConnector1">
            <a:avLst/>
          </a:prstGeom>
          <a:ln w="17145">
            <a:solidFill>
              <a:srgbClr val="7FA69F"/>
            </a:solidFill>
            <a:tailEnd type="arrow" w="med" len="med"/>
          </a:ln>
        </p:spPr>
      </p:cxnSp>
      <p:cxnSp>
        <p:nvCxnSpPr>
          <p:cNvPr id="29" name="reveal-03-weight">
            <a:extLst>
              <a:ext uri="{FF2B5EF4-FFF2-40B4-BE49-F238E27FC236}">
                <ns2:creationId id="{502480AF-D5D6-408A-ADC3-58C312649C85}"/>
              </a:ext>
              <a:ext uri="{C183D7F6-B498-43B3-948B-1728B52AA6E4}">
                <ns3:decorative val="1"/>
              </a:ext>
            </a:extLst>
          </p:cNvPr>
          <p:cNvCxnSpPr>
            <a:stCxn id="9" idx="6"/>
            <a:endCxn id="11" idx="2"/>
          </p:cNvCxnSpPr>
          <p:nvPr/>
        </p:nvCxnSpPr>
        <p:spPr>
          <a:xfrm flipV="1">
            <a:off x="4619625" y="2762250"/>
            <a:ext cx="2667000" cy="1905000"/>
          </a:xfrm>
          <a:prstGeom prst="straightConnector1">
            <a:avLst/>
          </a:prstGeom>
          <a:ln w="17145">
            <a:solidFill>
              <a:srgbClr val="7FA69F"/>
            </a:solidFill>
            <a:tailEnd type="arrow" w="med" len="med"/>
          </a:ln>
        </p:spPr>
      </p:cxnSp>
      <p:cxnSp>
        <p:nvCxnSpPr>
          <p:cNvPr id="28" name="reveal-03-weight">
            <a:extLst>
              <a:ext uri="{FF2B5EF4-FFF2-40B4-BE49-F238E27FC236}">
                <ns2:creationId id="{8C98371D-FADE-495D-9BD3-A63766E8BBF2}"/>
              </a:ext>
              <a:ext uri="{C183D7F6-B498-43B3-948B-1728B52AA6E4}">
                <ns3:decorative val="1"/>
              </a:ext>
            </a:extLst>
          </p:cNvPr>
          <p:cNvCxnSpPr>
            <a:stCxn id="8" idx="6"/>
            <a:endCxn id="13" idx="2"/>
          </p:cNvCxnSpPr>
          <p:nvPr/>
        </p:nvCxnSpPr>
        <p:spPr>
          <a:xfrm>
            <a:off x="4619625" y="3714750"/>
            <a:ext cx="2667000" cy="952500"/>
          </a:xfrm>
          <a:prstGeom prst="straightConnector1">
            <a:avLst/>
          </a:prstGeom>
          <a:ln w="17145">
            <a:solidFill>
              <a:srgbClr val="7FA69F"/>
            </a:solidFill>
            <a:tailEnd type="arrow" w="med" len="med"/>
          </a:ln>
        </p:spPr>
      </p:cxnSp>
      <p:cxnSp>
        <p:nvCxnSpPr>
          <p:cNvPr id="27" name="reveal-03-weight">
            <a:extLst>
              <a:ext uri="{FF2B5EF4-FFF2-40B4-BE49-F238E27FC236}">
                <ns2:creationId id="{FA429932-A543-4CAF-8814-5394A8F2C871}"/>
              </a:ext>
              <a:ext uri="{C183D7F6-B498-43B3-948B-1728B52AA6E4}">
                <ns3:decorative val="1"/>
              </a:ext>
            </a:extLst>
          </p:cNvPr>
          <p:cNvCxnSpPr>
            <a:stCxn id="8" idx="6"/>
            <a:endCxn id="12" idx="2"/>
          </p:cNvCxnSpPr>
          <p:nvPr/>
        </p:nvCxnSpPr>
        <p:spPr>
          <a:xfrm>
            <a:off x="4619625" y="3714750"/>
            <a:ext cx="2667000" cy="0"/>
          </a:xfrm>
          <a:prstGeom prst="straightConnector1">
            <a:avLst/>
          </a:prstGeom>
          <a:ln w="17145">
            <a:solidFill>
              <a:srgbClr val="7FA69F"/>
            </a:solidFill>
            <a:tailEnd type="arrow" w="med" len="med"/>
          </a:ln>
        </p:spPr>
      </p:cxnSp>
      <p:cxnSp>
        <p:nvCxnSpPr>
          <p:cNvPr id="26" name="reveal-03-weight">
            <a:extLst>
              <a:ext uri="{FF2B5EF4-FFF2-40B4-BE49-F238E27FC236}">
                <ns2:creationId id="{794435CE-63D4-400E-8113-B271D7A51728}"/>
              </a:ext>
              <a:ext uri="{C183D7F6-B498-43B3-948B-1728B52AA6E4}">
                <ns3:decorative val="1"/>
              </a:ext>
            </a:extLst>
          </p:cNvPr>
          <p:cNvCxnSpPr>
            <a:stCxn id="8" idx="6"/>
            <a:endCxn id="11" idx="2"/>
          </p:cNvCxnSpPr>
          <p:nvPr/>
        </p:nvCxnSpPr>
        <p:spPr>
          <a:xfrm flipV="1">
            <a:off x="4619625" y="2762250"/>
            <a:ext cx="2667000" cy="952500"/>
          </a:xfrm>
          <a:prstGeom prst="straightConnector1">
            <a:avLst/>
          </a:prstGeom>
          <a:ln w="17145">
            <a:solidFill>
              <a:srgbClr val="7FA69F"/>
            </a:solidFill>
            <a:tailEnd type="arrow" w="med" len="med"/>
          </a:ln>
        </p:spPr>
      </p:cxnSp>
      <p:cxnSp>
        <p:nvCxnSpPr>
          <p:cNvPr id="25" name="reveal-03-weight">
            <a:extLst>
              <a:ext uri="{FF2B5EF4-FFF2-40B4-BE49-F238E27FC236}">
                <ns2:creationId id="{E5E97EAC-CDC8-4135-A568-36DD0A94BF67}"/>
              </a:ext>
              <a:ext uri="{C183D7F6-B498-43B3-948B-1728B52AA6E4}">
                <ns3:decorative val="1"/>
              </a:ext>
            </a:extLst>
          </p:cNvPr>
          <p:cNvCxnSpPr>
            <a:stCxn id="7" idx="6"/>
            <a:endCxn id="13" idx="2"/>
          </p:cNvCxnSpPr>
          <p:nvPr/>
        </p:nvCxnSpPr>
        <p:spPr>
          <a:xfrm>
            <a:off x="4619625" y="2762250"/>
            <a:ext cx="2667000" cy="1905000"/>
          </a:xfrm>
          <a:prstGeom prst="straightConnector1">
            <a:avLst/>
          </a:prstGeom>
          <a:ln w="17145">
            <a:solidFill>
              <a:srgbClr val="7FA69F"/>
            </a:solidFill>
            <a:tailEnd type="arrow" w="med" len="med"/>
          </a:ln>
        </p:spPr>
      </p:cxnSp>
      <p:cxnSp>
        <p:nvCxnSpPr>
          <p:cNvPr id="24" name="reveal-03-weight">
            <a:extLst>
              <a:ext uri="{FF2B5EF4-FFF2-40B4-BE49-F238E27FC236}">
                <ns2:creationId id="{F933CDF0-3CBA-48BD-91D3-E909E16C0D18}"/>
              </a:ext>
              <a:ext uri="{C183D7F6-B498-43B3-948B-1728B52AA6E4}">
                <ns3:decorative val="1"/>
              </a:ext>
            </a:extLst>
          </p:cNvPr>
          <p:cNvCxnSpPr>
            <a:stCxn id="7" idx="6"/>
            <a:endCxn id="12" idx="2"/>
          </p:cNvCxnSpPr>
          <p:nvPr/>
        </p:nvCxnSpPr>
        <p:spPr>
          <a:xfrm>
            <a:off x="4619625" y="2762250"/>
            <a:ext cx="2667000" cy="952500"/>
          </a:xfrm>
          <a:prstGeom prst="straightConnector1">
            <a:avLst/>
          </a:prstGeom>
          <a:ln w="17145">
            <a:solidFill>
              <a:srgbClr val="7FA69F"/>
            </a:solidFill>
            <a:tailEnd type="arrow" w="med" len="med"/>
          </a:ln>
        </p:spPr>
      </p:cxnSp>
      <p:cxnSp>
        <p:nvCxnSpPr>
          <p:cNvPr id="23" name="reveal-03-weight">
            <a:extLst>
              <a:ext uri="{FF2B5EF4-FFF2-40B4-BE49-F238E27FC236}">
                <ns2:creationId id="{A9B3A6D0-392E-49C0-9349-C347CF29A3A1}"/>
              </a:ext>
              <a:ext uri="{C183D7F6-B498-43B3-948B-1728B52AA6E4}">
                <ns3:decorative val="1"/>
              </a:ext>
            </a:extLst>
          </p:cNvPr>
          <p:cNvCxnSpPr>
            <a:stCxn id="7" idx="6"/>
            <a:endCxn id="11" idx="2"/>
          </p:cNvCxnSpPr>
          <p:nvPr/>
        </p:nvCxnSpPr>
        <p:spPr>
          <a:xfrm>
            <a:off x="4619625" y="2762250"/>
            <a:ext cx="2667000" cy="0"/>
          </a:xfrm>
          <a:prstGeom prst="straightConnector1">
            <a:avLst/>
          </a:prstGeom>
          <a:ln w="17145">
            <a:solidFill>
              <a:srgbClr val="7FA69F"/>
            </a:solidFill>
            <a:tailEnd type="arrow" w="med" len="med"/>
          </a:ln>
        </p:spPr>
      </p:cxnSp>
      <p:cxnSp>
        <p:nvCxnSpPr>
          <p:cNvPr id="22" name="reveal-02-weight">
            <a:extLst>
              <a:ext uri="{FF2B5EF4-FFF2-40B4-BE49-F238E27FC236}">
                <ns2:creationId id="{D1BC274D-E50F-428E-B481-B0D4D04DE987}"/>
              </a:ext>
              <a:ext uri="{C183D7F6-B498-43B3-948B-1728B52AA6E4}">
                <ns3:decorative val="1"/>
              </a:ext>
            </a:extLst>
          </p:cNvPr>
          <p:cNvCxnSpPr>
            <a:stCxn id="5" idx="6"/>
            <a:endCxn id="9" idx="2"/>
          </p:cNvCxnSpPr>
          <p:nvPr/>
        </p:nvCxnSpPr>
        <p:spPr>
          <a:xfrm>
            <a:off x="1571625" y="4286250"/>
            <a:ext cx="2667000" cy="381000"/>
          </a:xfrm>
          <a:prstGeom prst="straightConnector1">
            <a:avLst/>
          </a:prstGeom>
          <a:ln w="17145">
            <a:solidFill>
              <a:srgbClr val="7FA69F"/>
            </a:solidFill>
            <a:tailEnd type="arrow" w="med" len="med"/>
          </a:ln>
        </p:spPr>
      </p:cxnSp>
      <p:cxnSp>
        <p:nvCxnSpPr>
          <p:cNvPr id="21" name="reveal-02-weight">
            <a:extLst>
              <a:ext uri="{FF2B5EF4-FFF2-40B4-BE49-F238E27FC236}">
                <ns2:creationId id="{A9F82C44-DAE5-40C5-8370-ECB553A8B7CD}"/>
              </a:ext>
              <a:ext uri="{C183D7F6-B498-43B3-948B-1728B52AA6E4}">
                <ns3:decorative val="1"/>
              </a:ext>
            </a:extLst>
          </p:cNvPr>
          <p:cNvCxnSpPr>
            <a:stCxn id="5" idx="6"/>
            <a:endCxn id="8" idx="2"/>
          </p:cNvCxnSpPr>
          <p:nvPr/>
        </p:nvCxnSpPr>
        <p:spPr>
          <a:xfrm flipV="1">
            <a:off x="1571625" y="3714750"/>
            <a:ext cx="2667000" cy="571500"/>
          </a:xfrm>
          <a:prstGeom prst="straightConnector1">
            <a:avLst/>
          </a:prstGeom>
          <a:ln w="17145">
            <a:solidFill>
              <a:srgbClr val="7FA69F"/>
            </a:solidFill>
            <a:tailEnd type="arrow" w="med" len="med"/>
          </a:ln>
        </p:spPr>
      </p:cxnSp>
      <p:cxnSp>
        <p:nvCxnSpPr>
          <p:cNvPr id="20" name="reveal-02-weight">
            <a:extLst>
              <a:ext uri="{FF2B5EF4-FFF2-40B4-BE49-F238E27FC236}">
                <ns2:creationId id="{B57F8D41-DB3E-49C3-9D59-9CF789B1B6D9}"/>
              </a:ext>
              <a:ext uri="{C183D7F6-B498-43B3-948B-1728B52AA6E4}">
                <ns3:decorative val="1"/>
              </a:ext>
            </a:extLst>
          </p:cNvPr>
          <p:cNvCxnSpPr>
            <a:stCxn id="5" idx="6"/>
            <a:endCxn id="7" idx="2"/>
          </p:cNvCxnSpPr>
          <p:nvPr/>
        </p:nvCxnSpPr>
        <p:spPr>
          <a:xfrm flipV="1">
            <a:off x="1571625" y="2762250"/>
            <a:ext cx="2667000" cy="1524000"/>
          </a:xfrm>
          <a:prstGeom prst="straightConnector1">
            <a:avLst/>
          </a:prstGeom>
          <a:ln w="17145">
            <a:solidFill>
              <a:srgbClr val="7FA69F"/>
            </a:solidFill>
            <a:tailEnd type="arrow" w="med" len="med"/>
          </a:ln>
        </p:spPr>
      </p:cxnSp>
      <p:cxnSp>
        <p:nvCxnSpPr>
          <p:cNvPr id="19" name="reveal-02-weight">
            <a:extLst>
              <a:ext uri="{FF2B5EF4-FFF2-40B4-BE49-F238E27FC236}">
                <ns2:creationId id="{712C5C68-E591-4D28-8625-FD5AC7549FD5}"/>
              </a:ext>
              <a:ext uri="{C183D7F6-B498-43B3-948B-1728B52AA6E4}">
                <ns3:decorative val="1"/>
              </a:ext>
            </a:extLst>
          </p:cNvPr>
          <p:cNvCxnSpPr>
            <a:stCxn id="4" idx="6"/>
            <a:endCxn id="9" idx="2"/>
          </p:cNvCxnSpPr>
          <p:nvPr/>
        </p:nvCxnSpPr>
        <p:spPr>
          <a:xfrm>
            <a:off x="1571625" y="3143250"/>
            <a:ext cx="2667000" cy="1524000"/>
          </a:xfrm>
          <a:prstGeom prst="straightConnector1">
            <a:avLst/>
          </a:prstGeom>
          <a:ln w="17145">
            <a:solidFill>
              <a:srgbClr val="7FA69F"/>
            </a:solidFill>
            <a:tailEnd type="arrow" w="med" len="med"/>
          </a:ln>
        </p:spPr>
      </p:cxnSp>
      <p:cxnSp>
        <p:nvCxnSpPr>
          <p:cNvPr id="18" name="reveal-02-weight">
            <a:extLst>
              <a:ext uri="{FF2B5EF4-FFF2-40B4-BE49-F238E27FC236}">
                <ns2:creationId id="{FB71707C-B2D9-477E-9A2E-6D13AD0D3BB1}"/>
              </a:ext>
              <a:ext uri="{C183D7F6-B498-43B3-948B-1728B52AA6E4}">
                <ns3:decorative val="1"/>
              </a:ext>
            </a:extLst>
          </p:cNvPr>
          <p:cNvCxnSpPr>
            <a:stCxn id="4" idx="6"/>
            <a:endCxn id="8" idx="2"/>
          </p:cNvCxnSpPr>
          <p:nvPr/>
        </p:nvCxnSpPr>
        <p:spPr>
          <a:xfrm>
            <a:off x="1571625" y="3143250"/>
            <a:ext cx="2667000" cy="571500"/>
          </a:xfrm>
          <a:prstGeom prst="straightConnector1">
            <a:avLst/>
          </a:prstGeom>
          <a:ln w="17145">
            <a:solidFill>
              <a:srgbClr val="7FA69F"/>
            </a:solidFill>
            <a:tailEnd type="arrow" w="med" len="med"/>
          </a:ln>
        </p:spPr>
      </p:cxnSp>
      <p:cxnSp>
        <p:nvCxnSpPr>
          <p:cNvPr id="17" name="reveal-02-weight">
            <a:extLst>
              <a:ext uri="{FF2B5EF4-FFF2-40B4-BE49-F238E27FC236}">
                <ns2:creationId id="{151476BE-5EFB-4F64-A498-20D9C7D8076E}"/>
              </a:ext>
              <a:ext uri="{C183D7F6-B498-43B3-948B-1728B52AA6E4}">
                <ns3:decorative val="1"/>
              </a:ext>
            </a:extLst>
          </p:cNvPr>
          <p:cNvCxnSpPr>
            <a:stCxn id="4" idx="6"/>
            <a:endCxn id="7" idx="2"/>
          </p:cNvCxnSpPr>
          <p:nvPr/>
        </p:nvCxnSpPr>
        <p:spPr>
          <a:xfrm flipV="1">
            <a:off x="1571625" y="2762250"/>
            <a:ext cx="2667000" cy="381000"/>
          </a:xfrm>
          <a:prstGeom prst="straightConnector1">
            <a:avLst/>
          </a:prstGeom>
          <a:ln w="17145">
            <a:solidFill>
              <a:srgbClr val="7FA69F"/>
            </a:solidFill>
            <a:tailEnd type="arrow" w="med" len="med"/>
          </a:ln>
        </p:spPr>
      </p:cxnSp>
      <p:sp>
        <p:nvSpPr>
          <p:cNvPr id="39" name="text-199">
            <a:extLst>
              <a:ext uri="{FF2B5EF4-FFF2-40B4-BE49-F238E27FC236}">
                <ns2:creationId id="{971E816F-62DE-42AB-8840-50BCF5B73EE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00">
            <a:extLst>
              <a:ext uri="{FF2B5EF4-FFF2-40B4-BE49-F238E27FC236}">
                <ns2:creationId id="{2A298573-AC7F-459C-91D9-BFFC80496DC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Layers learn representations</a:t>
            </a:r>
          </a:p>
        </p:txBody>
      </p:sp>
      <p:sp>
        <p:nvSpPr>
          <p:cNvPr id="4" name="reveal-01-unit-0">
            <a:extLst>
              <a:ext uri="{FF2B5EF4-FFF2-40B4-BE49-F238E27FC236}">
                <ns2:creationId id="{428D6E58-B8A8-4130-9608-1D143BD1B6D1}"/>
              </a:ext>
              <a:ext uri="{C183D7F6-B498-43B3-948B-1728B52AA6E4}">
                <ns3:decorative val="1"/>
              </a:ext>
            </a:extLst>
          </p:cNvPr>
          <p:cNvSpPr>
            <a:spLocks noGrp="1"/>
          </p:cNvSpPr>
          <p:nvPr/>
        </p:nvSpPr>
        <p:spPr>
          <a:xfrm>
            <a:off x="1190625" y="2952750"/>
            <a:ext cx="381000" cy="381000"/>
          </a:xfrm>
          <a:prstGeom prst="ellipse">
            <a:avLst/>
          </a:prstGeom>
          <a:solidFill>
            <a:srgbClr val="E9F3F0"/>
          </a:solidFill>
          <a:ln w="11430">
            <a:solidFill>
              <a:srgbClr val="246E63"/>
            </a:solidFill>
          </a:ln>
        </p:spPr>
      </p:sp>
      <p:sp>
        <p:nvSpPr>
          <p:cNvPr id="5" name="reveal-01-unit-1">
            <a:extLst>
              <a:ext uri="{FF2B5EF4-FFF2-40B4-BE49-F238E27FC236}">
                <ns2:creationId id="{563059FC-E601-4262-AC4D-F546A8933096}"/>
              </a:ext>
              <a:ext uri="{C183D7F6-B498-43B3-948B-1728B52AA6E4}">
                <ns3:decorative val="1"/>
              </a:ext>
            </a:extLst>
          </p:cNvPr>
          <p:cNvSpPr>
            <a:spLocks noGrp="1"/>
          </p:cNvSpPr>
          <p:nvPr/>
        </p:nvSpPr>
        <p:spPr>
          <a:xfrm>
            <a:off x="1190625" y="4095750"/>
            <a:ext cx="381000" cy="381000"/>
          </a:xfrm>
          <a:prstGeom prst="ellipse">
            <a:avLst/>
          </a:prstGeom>
          <a:solidFill>
            <a:srgbClr val="E9F3F0"/>
          </a:solidFill>
          <a:ln w="11430">
            <a:solidFill>
              <a:srgbClr val="246E63"/>
            </a:solidFill>
          </a:ln>
        </p:spPr>
      </p:sp>
      <p:sp>
        <p:nvSpPr>
          <p:cNvPr id="6" name="reveal-01-label">
            <a:extLst>
              <a:ext uri="{FF2B5EF4-FFF2-40B4-BE49-F238E27FC236}">
                <ns2:creationId id="{6EAF923A-BC1D-46DB-A1BC-09DA2309123C}"/>
              </a:ext>
            </a:extLst>
          </p:cNvPr>
          <p:cNvSpPr>
            <a:spLocks noGrp="1"/>
          </p:cNvSpPr>
          <p:nvPr/>
        </p:nvSpPr>
        <p:spPr>
          <a:xfrm>
            <a:off x="619125" y="1752600"/>
            <a:ext cx="2095500" cy="619125"/>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Inputs</a:t>
            </a:r>
          </a:p>
        </p:txBody>
      </p:sp>
      <p:sp>
        <p:nvSpPr>
          <p:cNvPr id="7" name="reveal-02-unit-0">
            <a:extLst>
              <a:ext uri="{FF2B5EF4-FFF2-40B4-BE49-F238E27FC236}">
                <ns2:creationId id="{2BE65EBD-7466-4D30-9A4A-E11A7FE5B1D8}"/>
              </a:ext>
              <a:ext uri="{C183D7F6-B498-43B3-948B-1728B52AA6E4}">
                <ns3:decorative val="1"/>
              </a:ext>
            </a:extLst>
          </p:cNvPr>
          <p:cNvSpPr>
            <a:spLocks noGrp="1"/>
          </p:cNvSpPr>
          <p:nvPr/>
        </p:nvSpPr>
        <p:spPr>
          <a:xfrm>
            <a:off x="4238625" y="2571750"/>
            <a:ext cx="381000" cy="381000"/>
          </a:xfrm>
          <a:prstGeom prst="ellipse">
            <a:avLst/>
          </a:prstGeom>
          <a:solidFill>
            <a:srgbClr val="E9F3F0"/>
          </a:solidFill>
          <a:ln w="11430">
            <a:solidFill>
              <a:srgbClr val="246E63"/>
            </a:solidFill>
          </a:ln>
        </p:spPr>
      </p:sp>
      <p:sp>
        <p:nvSpPr>
          <p:cNvPr id="8" name="reveal-02-unit-1">
            <a:extLst>
              <a:ext uri="{FF2B5EF4-FFF2-40B4-BE49-F238E27FC236}">
                <ns2:creationId id="{C8C0B876-403C-4D9A-8275-4242EAE36FF0}"/>
              </a:ext>
              <a:ext uri="{C183D7F6-B498-43B3-948B-1728B52AA6E4}">
                <ns3:decorative val="1"/>
              </a:ext>
            </a:extLst>
          </p:cNvPr>
          <p:cNvSpPr>
            <a:spLocks noGrp="1"/>
          </p:cNvSpPr>
          <p:nvPr/>
        </p:nvSpPr>
        <p:spPr>
          <a:xfrm>
            <a:off x="4238625" y="3524250"/>
            <a:ext cx="381000" cy="381000"/>
          </a:xfrm>
          <a:prstGeom prst="ellipse">
            <a:avLst/>
          </a:prstGeom>
          <a:solidFill>
            <a:srgbClr val="E9F3F0"/>
          </a:solidFill>
          <a:ln w="11430">
            <a:solidFill>
              <a:srgbClr val="246E63"/>
            </a:solidFill>
          </a:ln>
        </p:spPr>
      </p:sp>
      <p:sp>
        <p:nvSpPr>
          <p:cNvPr id="9" name="reveal-02-unit-2">
            <a:extLst>
              <a:ext uri="{FF2B5EF4-FFF2-40B4-BE49-F238E27FC236}">
                <ns2:creationId id="{BCE66A15-026F-448C-BFBA-5687668CF72E}"/>
              </a:ext>
              <a:ext uri="{C183D7F6-B498-43B3-948B-1728B52AA6E4}">
                <ns3:decorative val="1"/>
              </a:ext>
            </a:extLst>
          </p:cNvPr>
          <p:cNvSpPr>
            <a:spLocks noGrp="1"/>
          </p:cNvSpPr>
          <p:nvPr/>
        </p:nvSpPr>
        <p:spPr>
          <a:xfrm>
            <a:off x="4238625" y="4476750"/>
            <a:ext cx="381000" cy="381000"/>
          </a:xfrm>
          <a:prstGeom prst="ellipse">
            <a:avLst/>
          </a:prstGeom>
          <a:solidFill>
            <a:srgbClr val="E9F3F0"/>
          </a:solidFill>
          <a:ln w="11430">
            <a:solidFill>
              <a:srgbClr val="246E63"/>
            </a:solidFill>
          </a:ln>
        </p:spPr>
      </p:sp>
      <p:sp>
        <p:nvSpPr>
          <p:cNvPr id="10" name="reveal-02-label">
            <a:extLst>
              <a:ext uri="{FF2B5EF4-FFF2-40B4-BE49-F238E27FC236}">
                <ns2:creationId id="{39421D9B-15D7-41F0-9A3C-CFB54D93807E}"/>
              </a:ext>
            </a:extLst>
          </p:cNvPr>
          <p:cNvSpPr>
            <a:spLocks noGrp="1"/>
          </p:cNvSpPr>
          <p:nvPr/>
        </p:nvSpPr>
        <p:spPr>
          <a:xfrm>
            <a:off x="3571875" y="1752600"/>
            <a:ext cx="2095500" cy="619125"/>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Layer 1</a:t>
            </a:r>
          </a:p>
        </p:txBody>
      </p:sp>
      <p:sp>
        <p:nvSpPr>
          <p:cNvPr id="11" name="reveal-03-unit-0">
            <a:extLst>
              <a:ext uri="{FF2B5EF4-FFF2-40B4-BE49-F238E27FC236}">
                <ns2:creationId id="{84E84290-DDED-424E-85E4-7DC17FED2096}"/>
              </a:ext>
              <a:ext uri="{C183D7F6-B498-43B3-948B-1728B52AA6E4}">
                <ns3:decorative val="1"/>
              </a:ext>
            </a:extLst>
          </p:cNvPr>
          <p:cNvSpPr>
            <a:spLocks noGrp="1"/>
          </p:cNvSpPr>
          <p:nvPr/>
        </p:nvSpPr>
        <p:spPr>
          <a:xfrm>
            <a:off x="7286625" y="2571750"/>
            <a:ext cx="381000" cy="381000"/>
          </a:xfrm>
          <a:prstGeom prst="ellipse">
            <a:avLst/>
          </a:prstGeom>
          <a:solidFill>
            <a:srgbClr val="E9F3F0"/>
          </a:solidFill>
          <a:ln w="11430">
            <a:solidFill>
              <a:srgbClr val="246E63"/>
            </a:solidFill>
          </a:ln>
        </p:spPr>
      </p:sp>
      <p:sp>
        <p:nvSpPr>
          <p:cNvPr id="12" name="reveal-03-unit-1">
            <a:extLst>
              <a:ext uri="{FF2B5EF4-FFF2-40B4-BE49-F238E27FC236}">
                <ns2:creationId id="{071C5BA4-A382-4E96-B173-04E478C49E10}"/>
              </a:ext>
              <a:ext uri="{C183D7F6-B498-43B3-948B-1728B52AA6E4}">
                <ns3:decorative val="1"/>
              </a:ext>
            </a:extLst>
          </p:cNvPr>
          <p:cNvSpPr>
            <a:spLocks noGrp="1"/>
          </p:cNvSpPr>
          <p:nvPr/>
        </p:nvSpPr>
        <p:spPr>
          <a:xfrm>
            <a:off x="7286625" y="3524250"/>
            <a:ext cx="381000" cy="381000"/>
          </a:xfrm>
          <a:prstGeom prst="ellipse">
            <a:avLst/>
          </a:prstGeom>
          <a:solidFill>
            <a:srgbClr val="E9F3F0"/>
          </a:solidFill>
          <a:ln w="11430">
            <a:solidFill>
              <a:srgbClr val="246E63"/>
            </a:solidFill>
          </a:ln>
        </p:spPr>
      </p:sp>
      <p:sp>
        <p:nvSpPr>
          <p:cNvPr id="13" name="reveal-03-unit-2">
            <a:extLst>
              <a:ext uri="{FF2B5EF4-FFF2-40B4-BE49-F238E27FC236}">
                <ns2:creationId id="{005B5656-896C-4703-91E4-0023BF918C74}"/>
              </a:ext>
              <a:ext uri="{C183D7F6-B498-43B3-948B-1728B52AA6E4}">
                <ns3:decorative val="1"/>
              </a:ext>
            </a:extLst>
          </p:cNvPr>
          <p:cNvSpPr>
            <a:spLocks noGrp="1"/>
          </p:cNvSpPr>
          <p:nvPr/>
        </p:nvSpPr>
        <p:spPr>
          <a:xfrm>
            <a:off x="7286625" y="4476750"/>
            <a:ext cx="381000" cy="381000"/>
          </a:xfrm>
          <a:prstGeom prst="ellipse">
            <a:avLst/>
          </a:prstGeom>
          <a:solidFill>
            <a:srgbClr val="E9F3F0"/>
          </a:solidFill>
          <a:ln w="11430">
            <a:solidFill>
              <a:srgbClr val="246E63"/>
            </a:solidFill>
          </a:ln>
        </p:spPr>
      </p:sp>
      <p:sp>
        <p:nvSpPr>
          <p:cNvPr id="14" name="reveal-03-label">
            <a:extLst>
              <a:ext uri="{FF2B5EF4-FFF2-40B4-BE49-F238E27FC236}">
                <ns2:creationId id="{66F6246F-FF14-4FB8-A350-D651086B91F4}"/>
              </a:ext>
            </a:extLst>
          </p:cNvPr>
          <p:cNvSpPr>
            <a:spLocks noGrp="1"/>
          </p:cNvSpPr>
          <p:nvPr/>
        </p:nvSpPr>
        <p:spPr>
          <a:xfrm>
            <a:off x="6619875" y="1752600"/>
            <a:ext cx="2095500" cy="619125"/>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Layer 2</a:t>
            </a:r>
          </a:p>
        </p:txBody>
      </p:sp>
      <p:sp>
        <p:nvSpPr>
          <p:cNvPr id="15" name="reveal-04-unit-0">
            <a:extLst>
              <a:ext uri="{FF2B5EF4-FFF2-40B4-BE49-F238E27FC236}">
                <ns2:creationId id="{7F08F1C3-734E-4F1A-94A1-3539828916AE}"/>
              </a:ext>
              <a:ext uri="{C183D7F6-B498-43B3-948B-1728B52AA6E4}">
                <ns3:decorative val="1"/>
              </a:ext>
            </a:extLst>
          </p:cNvPr>
          <p:cNvSpPr>
            <a:spLocks noGrp="1"/>
          </p:cNvSpPr>
          <p:nvPr/>
        </p:nvSpPr>
        <p:spPr>
          <a:xfrm>
            <a:off x="10572750" y="3476625"/>
            <a:ext cx="381000" cy="381000"/>
          </a:xfrm>
          <a:prstGeom prst="ellipse">
            <a:avLst/>
          </a:prstGeom>
          <a:solidFill>
            <a:srgbClr val="C94E29"/>
          </a:solidFill>
          <a:ln w="11430">
            <a:solidFill>
              <a:srgbClr val="246E63"/>
            </a:solidFill>
          </a:ln>
        </p:spPr>
      </p:sp>
      <p:sp>
        <p:nvSpPr>
          <p:cNvPr id="16" name="reveal-04-label">
            <a:extLst>
              <a:ext uri="{FF2B5EF4-FFF2-40B4-BE49-F238E27FC236}">
                <ns2:creationId id="{1B44592C-2786-4EF8-B380-4E33C5EBD560}"/>
              </a:ext>
            </a:extLst>
          </p:cNvPr>
          <p:cNvSpPr>
            <a:spLocks noGrp="1"/>
          </p:cNvSpPr>
          <p:nvPr/>
        </p:nvSpPr>
        <p:spPr>
          <a:xfrm>
            <a:off x="9763125" y="1752600"/>
            <a:ext cx="2095500" cy="619125"/>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Output</a:t>
            </a:r>
          </a:p>
        </p:txBody>
      </p:sp>
      <p:sp>
        <p:nvSpPr>
          <p:cNvPr id="35" name="reveal-01-input-example">
            <a:extLst>
              <a:ext uri="{FF2B5EF4-FFF2-40B4-BE49-F238E27FC236}">
                <ns2:creationId id="{30420F3D-8736-4EE2-AA15-1EFE4EB0A603}"/>
              </a:ext>
            </a:extLst>
          </p:cNvPr>
          <p:cNvSpPr>
            <a:spLocks noGrp="1"/>
          </p:cNvSpPr>
          <p:nvPr/>
        </p:nvSpPr>
        <p:spPr>
          <a:xfrm>
            <a:off x="619125" y="5143500"/>
            <a:ext cx="2667000" cy="476250"/>
          </a:xfrm>
          <a:prstGeom prst="rect">
            <a:avLst/>
          </a:prstGeom>
          <a:noFill/>
          <a:ln w="0">
            <a:noFill/>
          </a:ln>
        </p:spPr>
        <p:txBody>
          <a:bodyPr>
            <a:noAutofit/>
          </a:bodyPr>
          <a:lstStyle>
            <a:defPPr>
              <a:defRPr sz="1875" b="1">
                <a:solidFill>
                  <a:srgbClr val="1C3144"/>
                </a:solidFill>
                <a:latin typeface="Calibri"/>
                <a:ea typeface="Calibri"/>
                <a:cs typeface="Calibri"/>
              </a:defRPr>
            </a:defPPr>
            <a:lvl1pPr>
              <a:defRPr sz="1875" b="1">
                <a:solidFill>
                  <a:srgbClr val="1C3144"/>
                </a:solidFill>
                <a:latin typeface="Calibri"/>
                <a:ea typeface="Calibri"/>
                <a:cs typeface="Calibri"/>
              </a:defRPr>
            </a:lvl1pPr>
            <a:lvl2pPr>
              <a:defRPr sz="1875" b="1">
                <a:solidFill>
                  <a:srgbClr val="1C3144"/>
                </a:solidFill>
                <a:latin typeface="Calibri"/>
                <a:ea typeface="Calibri"/>
                <a:cs typeface="Calibri"/>
              </a:defRPr>
            </a:lvl2pPr>
            <a:lvl3pPr>
              <a:defRPr sz="1875" b="1">
                <a:solidFill>
                  <a:srgbClr val="1C3144"/>
                </a:solidFill>
                <a:latin typeface="Calibri"/>
                <a:ea typeface="Calibri"/>
                <a:cs typeface="Calibri"/>
              </a:defRPr>
            </a:lvl3pPr>
            <a:lvl4pPr>
              <a:defRPr sz="1875" b="1">
                <a:solidFill>
                  <a:srgbClr val="1C3144"/>
                </a:solidFill>
                <a:latin typeface="Calibri"/>
                <a:ea typeface="Calibri"/>
                <a:cs typeface="Calibri"/>
              </a:defRPr>
            </a:lvl4pPr>
            <a:lvl5pPr>
              <a:defRPr sz="1875" b="1">
                <a:solidFill>
                  <a:srgbClr val="1C3144"/>
                </a:solidFill>
                <a:latin typeface="Calibri"/>
                <a:ea typeface="Calibri"/>
                <a:cs typeface="Calibri"/>
              </a:defRPr>
            </a:lvl5pPr>
            <a:lvl6pPr>
              <a:defRPr sz="1875" b="1">
                <a:solidFill>
                  <a:srgbClr val="1C3144"/>
                </a:solidFill>
                <a:latin typeface="Calibri"/>
                <a:ea typeface="Calibri"/>
                <a:cs typeface="Calibri"/>
              </a:defRPr>
            </a:lvl6pPr>
            <a:lvl7pPr>
              <a:defRPr sz="1875" b="1">
                <a:solidFill>
                  <a:srgbClr val="1C3144"/>
                </a:solidFill>
                <a:latin typeface="Calibri"/>
                <a:ea typeface="Calibri"/>
                <a:cs typeface="Calibri"/>
              </a:defRPr>
            </a:lvl7pPr>
            <a:lvl8pPr>
              <a:defRPr sz="1875" b="1">
                <a:solidFill>
                  <a:srgbClr val="1C3144"/>
                </a:solidFill>
                <a:latin typeface="Calibri"/>
                <a:ea typeface="Calibri"/>
                <a:cs typeface="Calibri"/>
              </a:defRPr>
            </a:lvl8pPr>
            <a:lvl9pPr>
              <a:defRPr sz="1875" b="1">
                <a:solidFill>
                  <a:srgbClr val="1C3144"/>
                </a:solidFill>
                <a:latin typeface="Calibri"/>
                <a:ea typeface="Calibri"/>
                <a:cs typeface="Calibri"/>
              </a:defRPr>
            </a:lvl9pPr>
          </a:lstStyle>
          <a:p>
            <a:pPr>
              <a:defRPr sz="1875" b="1">
                <a:solidFill>
                  <a:srgbClr val="1C3144"/>
                </a:solidFill>
                <a:latin typeface="Calibri"/>
                <a:ea typeface="Calibri"/>
                <a:cs typeface="Calibri"/>
              </a:defRPr>
            </a:pPr>
            <a:r>
              <a:rPr sz="1875" b="1">
                <a:solidFill>
                  <a:srgbClr val="1C3144"/>
                </a:solidFill>
                <a:latin typeface="Calibri"/>
                <a:ea typeface="Calibri"/>
                <a:cs typeface="Calibri"/>
              </a:rPr>
              <a:t>Document features</a:t>
            </a:r>
          </a:p>
        </p:txBody>
      </p:sp>
      <p:sp>
        <p:nvSpPr>
          <p:cNvPr id="36" name="reveal-03-representation-example">
            <a:extLst>
              <a:ext uri="{FF2B5EF4-FFF2-40B4-BE49-F238E27FC236}">
                <ns2:creationId id="{667A5C50-4ED7-46F0-AE6F-F86B9866FEF6}"/>
              </a:ext>
            </a:extLst>
          </p:cNvPr>
          <p:cNvSpPr>
            <a:spLocks noGrp="1"/>
          </p:cNvSpPr>
          <p:nvPr/>
        </p:nvSpPr>
        <p:spPr>
          <a:xfrm>
            <a:off x="4000500" y="5143500"/>
            <a:ext cx="5143500" cy="4762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Learned combinations</a:t>
            </a:r>
          </a:p>
        </p:txBody>
      </p:sp>
      <p:sp>
        <p:nvSpPr>
          <p:cNvPr id="37" name="reveal-04-output-example">
            <a:extLst>
              <a:ext uri="{FF2B5EF4-FFF2-40B4-BE49-F238E27FC236}">
                <ns2:creationId id="{B5B34759-7C2D-4D92-9B2A-6B3B55940131}"/>
              </a:ext>
            </a:extLst>
          </p:cNvPr>
          <p:cNvSpPr>
            <a:spLocks noGrp="1"/>
          </p:cNvSpPr>
          <p:nvPr/>
        </p:nvSpPr>
        <p:spPr>
          <a:xfrm>
            <a:off x="9620250" y="5143500"/>
            <a:ext cx="1952625" cy="476250"/>
          </a:xfrm>
          <a:prstGeom prst="rect">
            <a:avLst/>
          </a:prstGeom>
          <a:noFill/>
          <a:ln w="0">
            <a:noFill/>
          </a:ln>
        </p:spPr>
        <p:txBody>
          <a:bodyPr>
            <a:noAutofit/>
          </a:bodyPr>
          <a:lstStyle>
            <a:defPPr>
              <a:defRPr sz="1875" b="1">
                <a:solidFill>
                  <a:srgbClr val="1C3144"/>
                </a:solidFill>
                <a:latin typeface="Calibri"/>
                <a:ea typeface="Calibri"/>
                <a:cs typeface="Calibri"/>
              </a:defRPr>
            </a:defPPr>
            <a:lvl1pPr>
              <a:defRPr sz="1875" b="1">
                <a:solidFill>
                  <a:srgbClr val="1C3144"/>
                </a:solidFill>
                <a:latin typeface="Calibri"/>
                <a:ea typeface="Calibri"/>
                <a:cs typeface="Calibri"/>
              </a:defRPr>
            </a:lvl1pPr>
            <a:lvl2pPr>
              <a:defRPr sz="1875" b="1">
                <a:solidFill>
                  <a:srgbClr val="1C3144"/>
                </a:solidFill>
                <a:latin typeface="Calibri"/>
                <a:ea typeface="Calibri"/>
                <a:cs typeface="Calibri"/>
              </a:defRPr>
            </a:lvl2pPr>
            <a:lvl3pPr>
              <a:defRPr sz="1875" b="1">
                <a:solidFill>
                  <a:srgbClr val="1C3144"/>
                </a:solidFill>
                <a:latin typeface="Calibri"/>
                <a:ea typeface="Calibri"/>
                <a:cs typeface="Calibri"/>
              </a:defRPr>
            </a:lvl3pPr>
            <a:lvl4pPr>
              <a:defRPr sz="1875" b="1">
                <a:solidFill>
                  <a:srgbClr val="1C3144"/>
                </a:solidFill>
                <a:latin typeface="Calibri"/>
                <a:ea typeface="Calibri"/>
                <a:cs typeface="Calibri"/>
              </a:defRPr>
            </a:lvl4pPr>
            <a:lvl5pPr>
              <a:defRPr sz="1875" b="1">
                <a:solidFill>
                  <a:srgbClr val="1C3144"/>
                </a:solidFill>
                <a:latin typeface="Calibri"/>
                <a:ea typeface="Calibri"/>
                <a:cs typeface="Calibri"/>
              </a:defRPr>
            </a:lvl5pPr>
            <a:lvl6pPr>
              <a:defRPr sz="1875" b="1">
                <a:solidFill>
                  <a:srgbClr val="1C3144"/>
                </a:solidFill>
                <a:latin typeface="Calibri"/>
                <a:ea typeface="Calibri"/>
                <a:cs typeface="Calibri"/>
              </a:defRPr>
            </a:lvl6pPr>
            <a:lvl7pPr>
              <a:defRPr sz="1875" b="1">
                <a:solidFill>
                  <a:srgbClr val="1C3144"/>
                </a:solidFill>
                <a:latin typeface="Calibri"/>
                <a:ea typeface="Calibri"/>
                <a:cs typeface="Calibri"/>
              </a:defRPr>
            </a:lvl7pPr>
            <a:lvl8pPr>
              <a:defRPr sz="1875" b="1">
                <a:solidFill>
                  <a:srgbClr val="1C3144"/>
                </a:solidFill>
                <a:latin typeface="Calibri"/>
                <a:ea typeface="Calibri"/>
                <a:cs typeface="Calibri"/>
              </a:defRPr>
            </a:lvl8pPr>
            <a:lvl9pPr>
              <a:defRPr sz="1875" b="1">
                <a:solidFill>
                  <a:srgbClr val="1C3144"/>
                </a:solidFill>
                <a:latin typeface="Calibri"/>
                <a:ea typeface="Calibri"/>
                <a:cs typeface="Calibri"/>
              </a:defRPr>
            </a:lvl9pPr>
          </a:lstStyle>
          <a:p>
            <a:pPr>
              <a:defRPr sz="1875" b="1">
                <a:solidFill>
                  <a:srgbClr val="1C3144"/>
                </a:solidFill>
                <a:latin typeface="Calibri"/>
                <a:ea typeface="Calibri"/>
                <a:cs typeface="Calibri"/>
              </a:defRPr>
            </a:pPr>
            <a:r>
              <a:rPr sz="1875" b="1">
                <a:solidFill>
                  <a:srgbClr val="1C3144"/>
                </a:solidFill>
                <a:latin typeface="Calibri"/>
                <a:ea typeface="Calibri"/>
                <a:cs typeface="Calibri"/>
              </a:rPr>
              <a:t>Type score</a:t>
            </a:r>
          </a:p>
        </p:txBody>
      </p:sp>
      <p:sp>
        <p:nvSpPr>
          <p:cNvPr id="38" name="text-220">
            <a:extLst>
              <a:ext uri="{FF2B5EF4-FFF2-40B4-BE49-F238E27FC236}">
                <ns2:creationId id="{6CAA17EC-81C6-4EC0-AF9E-6A5940689ADD}"/>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Illustrative classifier: document features → learned layers → a category score. Not a biological brain.</a:t>
            </a:r>
          </a:p>
        </p:txBody>
      </p:sp>
      <p:sp>
        <p:nvSpPr>
          <p:cNvPr id="3" name="text-201">
            <a:extLst>
              <a:ext uri="{FF2B5EF4-FFF2-40B4-BE49-F238E27FC236}">
                <ns2:creationId id="{90E9E6FE-083B-49C8-B5A9-92D08B7CB00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8</a:t>
            </a:r>
          </a:p>
        </p:txBody>
      </p:sp>
    </p:spTree>
    <p:extLst>
      <p:ext uri="{BB962C8B-B14F-4D97-AF65-F5344CB8AC3E}">
        <ns4:creationId val="195284485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3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300"/>
                                        <p:tgtEl>
                                          <p:spTgt spid="22"/>
                                        </p:tgtEl>
                                      </p:cBhvr>
                                    </p:animEffect>
                                  </p:childTnLst>
                                </p:cTn>
                              </p:par>
                              <p:par>
                                <p:cTn id="22" presetID="10" presetClass="entr" presetSubtype="0" fill="hold"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300"/>
                                        <p:tgtEl>
                                          <p:spTgt spid="21"/>
                                        </p:tgtEl>
                                      </p:cBhvr>
                                    </p:animEffect>
                                  </p:childTnLst>
                                </p:cTn>
                              </p:par>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300"/>
                                        <p:tgtEl>
                                          <p:spTgt spid="20"/>
                                        </p:tgtEl>
                                      </p:cBhvr>
                                    </p:animEffect>
                                  </p:childTnLst>
                                </p:cTn>
                              </p:par>
                              <p:par>
                                <p:cTn id="28" presetID="10" presetClass="entr" presetSubtype="0" fill="hold"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300"/>
                                        <p:tgtEl>
                                          <p:spTgt spid="19"/>
                                        </p:tgtEl>
                                      </p:cBhvr>
                                    </p:animEffect>
                                  </p:childTnLst>
                                </p:cTn>
                              </p:par>
                              <p:par>
                                <p:cTn id="31" presetID="10"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300"/>
                                        <p:tgtEl>
                                          <p:spTgt spid="18"/>
                                        </p:tgtEl>
                                      </p:cBhvr>
                                    </p:animEffect>
                                  </p:childTnLst>
                                </p:cTn>
                              </p:par>
                              <p:par>
                                <p:cTn id="34" presetID="10" presetClass="entr" presetSubtype="0"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00"/>
                                        <p:tgtEl>
                                          <p:spTgt spid="17"/>
                                        </p:tgtEl>
                                      </p:cBhvr>
                                    </p:animEffect>
                                  </p:childTnLst>
                                </p:cTn>
                              </p:par>
                              <p:par>
                                <p:cTn id="37" presetID="10"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300"/>
                                        <p:tgtEl>
                                          <p:spTgt spid="7"/>
                                        </p:tgtEl>
                                      </p:cBhvr>
                                    </p:animEffect>
                                  </p:childTnLst>
                                </p:cTn>
                              </p:par>
                              <p:par>
                                <p:cTn id="40" presetID="10" presetClass="entr" presetSubtype="0"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300"/>
                                        <p:tgtEl>
                                          <p:spTgt spid="8"/>
                                        </p:tgtEl>
                                      </p:cBhvr>
                                    </p:animEffect>
                                  </p:childTnLst>
                                </p:cTn>
                              </p:par>
                              <p:par>
                                <p:cTn id="43" presetID="10" presetClass="entr" presetSubtype="0"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300"/>
                                        <p:tgtEl>
                                          <p:spTgt spid="9"/>
                                        </p:tgtEl>
                                      </p:cBhvr>
                                    </p:animEffect>
                                  </p:childTnLst>
                                </p:cTn>
                              </p:par>
                              <p:par>
                                <p:cTn id="46" presetID="10" presetClass="entr" presetSubtype="0" fill="hold"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300"/>
                                        <p:tgtEl>
                                          <p:spTgt spid="10"/>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300"/>
                                        <p:tgtEl>
                                          <p:spTgt spid="31"/>
                                        </p:tgtEl>
                                      </p:cBhvr>
                                    </p:animEffect>
                                  </p:childTnLst>
                                </p:cTn>
                              </p:par>
                              <p:par>
                                <p:cTn id="54" presetID="10" presetClass="entr" presetSubtype="0" fill="hold" nodeType="click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300"/>
                                        <p:tgtEl>
                                          <p:spTgt spid="30"/>
                                        </p:tgtEl>
                                      </p:cBhvr>
                                    </p:animEffect>
                                  </p:childTnLst>
                                </p:cTn>
                              </p:par>
                              <p:par>
                                <p:cTn id="57" presetID="10" presetClass="entr" presetSubtype="0" fill="hold" nodeType="click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300"/>
                                        <p:tgtEl>
                                          <p:spTgt spid="29"/>
                                        </p:tgtEl>
                                      </p:cBhvr>
                                    </p:animEffect>
                                  </p:childTnLst>
                                </p:cTn>
                              </p:par>
                              <p:par>
                                <p:cTn id="60" presetID="10" presetClass="entr" presetSubtype="0" fill="hold"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300"/>
                                        <p:tgtEl>
                                          <p:spTgt spid="28"/>
                                        </p:tgtEl>
                                      </p:cBhvr>
                                    </p:animEffect>
                                  </p:childTnLst>
                                </p:cTn>
                              </p:par>
                              <p:par>
                                <p:cTn id="63" presetID="10" presetClass="entr" presetSubtype="0" fill="hold" nodeType="click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300"/>
                                        <p:tgtEl>
                                          <p:spTgt spid="27"/>
                                        </p:tgtEl>
                                      </p:cBhvr>
                                    </p:animEffect>
                                  </p:childTnLst>
                                </p:cTn>
                              </p:par>
                              <p:par>
                                <p:cTn id="66" presetID="10" presetClass="entr" presetSubtype="0" fill="hold" nodeType="click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300"/>
                                        <p:tgtEl>
                                          <p:spTgt spid="26"/>
                                        </p:tgtEl>
                                      </p:cBhvr>
                                    </p:animEffect>
                                  </p:childTnLst>
                                </p:cTn>
                              </p:par>
                              <p:par>
                                <p:cTn id="69" presetID="10" presetClass="entr" presetSubtype="0" fill="hold" nodeType="click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300"/>
                                        <p:tgtEl>
                                          <p:spTgt spid="25"/>
                                        </p:tgtEl>
                                      </p:cBhvr>
                                    </p:animEffect>
                                  </p:childTnLst>
                                </p:cTn>
                              </p:par>
                              <p:par>
                                <p:cTn id="72" presetID="10" presetClass="entr" presetSubtype="0" fill="hold" nodeType="click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300"/>
                                        <p:tgtEl>
                                          <p:spTgt spid="24"/>
                                        </p:tgtEl>
                                      </p:cBhvr>
                                    </p:animEffect>
                                  </p:childTnLst>
                                </p:cTn>
                              </p:par>
                              <p:par>
                                <p:cTn id="75" presetID="10" presetClass="entr" presetSubtype="0" fill="hold" nodeType="click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300"/>
                                        <p:tgtEl>
                                          <p:spTgt spid="23"/>
                                        </p:tgtEl>
                                      </p:cBhvr>
                                    </p:animEffect>
                                  </p:childTnLst>
                                </p:cTn>
                              </p:par>
                              <p:par>
                                <p:cTn id="78" presetID="10" presetClass="entr" presetSubtype="0" fill="hold" nodeType="clickEffect">
                                  <p:stCondLst>
                                    <p:cond delay="0"/>
                                  </p:stCondLst>
                                  <p:childTnLst>
                                    <p:set>
                                      <p:cBhvr>
                                        <p:cTn id="79" dur="1" fill="hold">
                                          <p:stCondLst>
                                            <p:cond delay="0"/>
                                          </p:stCondLst>
                                        </p:cTn>
                                        <p:tgtEl>
                                          <p:spTgt spid="11"/>
                                        </p:tgtEl>
                                        <p:attrNameLst>
                                          <p:attrName>style.visibility</p:attrName>
                                        </p:attrNameLst>
                                      </p:cBhvr>
                                      <p:to>
                                        <p:strVal val="visible"/>
                                      </p:to>
                                    </p:set>
                                    <p:animEffect transition="in" filter="fade">
                                      <p:cBhvr>
                                        <p:cTn id="80" dur="300"/>
                                        <p:tgtEl>
                                          <p:spTgt spid="11"/>
                                        </p:tgtEl>
                                      </p:cBhvr>
                                    </p:animEffect>
                                  </p:childTnLst>
                                </p:cTn>
                              </p:par>
                              <p:par>
                                <p:cTn id="81" presetID="10" presetClass="entr" presetSubtype="0" fill="hold" nodeType="clickEffect">
                                  <p:stCondLst>
                                    <p:cond delay="0"/>
                                  </p:stCondLst>
                                  <p:childTnLst>
                                    <p:set>
                                      <p:cBhvr>
                                        <p:cTn id="82" dur="1" fill="hold">
                                          <p:stCondLst>
                                            <p:cond delay="0"/>
                                          </p:stCondLst>
                                        </p:cTn>
                                        <p:tgtEl>
                                          <p:spTgt spid="12"/>
                                        </p:tgtEl>
                                        <p:attrNameLst>
                                          <p:attrName>style.visibility</p:attrName>
                                        </p:attrNameLst>
                                      </p:cBhvr>
                                      <p:to>
                                        <p:strVal val="visible"/>
                                      </p:to>
                                    </p:set>
                                    <p:animEffect transition="in" filter="fade">
                                      <p:cBhvr>
                                        <p:cTn id="83" dur="300"/>
                                        <p:tgtEl>
                                          <p:spTgt spid="12"/>
                                        </p:tgtEl>
                                      </p:cBhvr>
                                    </p:animEffect>
                                  </p:childTnLst>
                                </p:cTn>
                              </p:par>
                              <p:par>
                                <p:cTn id="84" presetID="10" presetClass="entr" presetSubtype="0" fill="hold" nodeType="clickEffect">
                                  <p:stCondLst>
                                    <p:cond delay="0"/>
                                  </p:stCondLst>
                                  <p:childTnLst>
                                    <p:set>
                                      <p:cBhvr>
                                        <p:cTn id="85" dur="1" fill="hold">
                                          <p:stCondLst>
                                            <p:cond delay="0"/>
                                          </p:stCondLst>
                                        </p:cTn>
                                        <p:tgtEl>
                                          <p:spTgt spid="13"/>
                                        </p:tgtEl>
                                        <p:attrNameLst>
                                          <p:attrName>style.visibility</p:attrName>
                                        </p:attrNameLst>
                                      </p:cBhvr>
                                      <p:to>
                                        <p:strVal val="visible"/>
                                      </p:to>
                                    </p:set>
                                    <p:animEffect transition="in" filter="fade">
                                      <p:cBhvr>
                                        <p:cTn id="86" dur="300"/>
                                        <p:tgtEl>
                                          <p:spTgt spid="13"/>
                                        </p:tgtEl>
                                      </p:cBhvr>
                                    </p:animEffect>
                                  </p:childTnLst>
                                </p:cTn>
                              </p:par>
                              <p:par>
                                <p:cTn id="87" presetID="10" presetClass="entr" presetSubtype="0" fill="hold" nodeType="clickEffect">
                                  <p:stCondLst>
                                    <p:cond delay="0"/>
                                  </p:stCondLst>
                                  <p:childTnLst>
                                    <p:set>
                                      <p:cBhvr>
                                        <p:cTn id="88" dur="1" fill="hold">
                                          <p:stCondLst>
                                            <p:cond delay="0"/>
                                          </p:stCondLst>
                                        </p:cTn>
                                        <p:tgtEl>
                                          <p:spTgt spid="14"/>
                                        </p:tgtEl>
                                        <p:attrNameLst>
                                          <p:attrName>style.visibility</p:attrName>
                                        </p:attrNameLst>
                                      </p:cBhvr>
                                      <p:to>
                                        <p:strVal val="visible"/>
                                      </p:to>
                                    </p:set>
                                    <p:animEffect transition="in" filter="fade">
                                      <p:cBhvr>
                                        <p:cTn id="89" dur="300"/>
                                        <p:tgtEl>
                                          <p:spTgt spid="14"/>
                                        </p:tgtEl>
                                      </p:cBhvr>
                                    </p:animEffect>
                                  </p:childTnLst>
                                </p:cTn>
                              </p:par>
                              <p:par>
                                <p:cTn id="90" presetID="10" presetClass="entr" presetSubtype="0" fill="hold" nodeType="clickEffect">
                                  <p:stCondLst>
                                    <p:cond delay="0"/>
                                  </p:stCondLst>
                                  <p:childTnLst>
                                    <p:set>
                                      <p:cBhvr>
                                        <p:cTn id="91" dur="1" fill="hold">
                                          <p:stCondLst>
                                            <p:cond delay="0"/>
                                          </p:stCondLst>
                                        </p:cTn>
                                        <p:tgtEl>
                                          <p:spTgt spid="36"/>
                                        </p:tgtEl>
                                        <p:attrNameLst>
                                          <p:attrName>style.visibility</p:attrName>
                                        </p:attrNameLst>
                                      </p:cBhvr>
                                      <p:to>
                                        <p:strVal val="visible"/>
                                      </p:to>
                                    </p:set>
                                    <p:animEffect transition="in" filter="fade">
                                      <p:cBhvr>
                                        <p:cTn id="92" dur="300"/>
                                        <p:tgtEl>
                                          <p:spTgt spid="36"/>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300"/>
                                        <p:tgtEl>
                                          <p:spTgt spid="34"/>
                                        </p:tgtEl>
                                      </p:cBhvr>
                                    </p:animEffect>
                                  </p:childTnLst>
                                </p:cTn>
                              </p:par>
                              <p:par>
                                <p:cTn id="98" presetID="10" presetClass="entr" presetSubtype="0" fill="hold" nodeType="click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300"/>
                                        <p:tgtEl>
                                          <p:spTgt spid="33"/>
                                        </p:tgtEl>
                                      </p:cBhvr>
                                    </p:animEffect>
                                  </p:childTnLst>
                                </p:cTn>
                              </p:par>
                              <p:par>
                                <p:cTn id="101" presetID="10" presetClass="entr" presetSubtype="0" fill="hold" nodeType="clickEffect">
                                  <p:stCondLst>
                                    <p:cond delay="0"/>
                                  </p:stCondLst>
                                  <p:childTnLst>
                                    <p:set>
                                      <p:cBhvr>
                                        <p:cTn id="102" dur="1" fill="hold">
                                          <p:stCondLst>
                                            <p:cond delay="0"/>
                                          </p:stCondLst>
                                        </p:cTn>
                                        <p:tgtEl>
                                          <p:spTgt spid="32"/>
                                        </p:tgtEl>
                                        <p:attrNameLst>
                                          <p:attrName>style.visibility</p:attrName>
                                        </p:attrNameLst>
                                      </p:cBhvr>
                                      <p:to>
                                        <p:strVal val="visible"/>
                                      </p:to>
                                    </p:set>
                                    <p:animEffect transition="in" filter="fade">
                                      <p:cBhvr>
                                        <p:cTn id="103" dur="300"/>
                                        <p:tgtEl>
                                          <p:spTgt spid="32"/>
                                        </p:tgtEl>
                                      </p:cBhvr>
                                    </p:animEffect>
                                  </p:childTnLst>
                                </p:cTn>
                              </p:par>
                              <p:par>
                                <p:cTn id="104" presetID="10" presetClass="entr" presetSubtype="0" fill="hold" nodeType="clickEffect">
                                  <p:stCondLst>
                                    <p:cond delay="0"/>
                                  </p:stCondLst>
                                  <p:childTnLst>
                                    <p:set>
                                      <p:cBhvr>
                                        <p:cTn id="105" dur="1" fill="hold">
                                          <p:stCondLst>
                                            <p:cond delay="0"/>
                                          </p:stCondLst>
                                        </p:cTn>
                                        <p:tgtEl>
                                          <p:spTgt spid="15"/>
                                        </p:tgtEl>
                                        <p:attrNameLst>
                                          <p:attrName>style.visibility</p:attrName>
                                        </p:attrNameLst>
                                      </p:cBhvr>
                                      <p:to>
                                        <p:strVal val="visible"/>
                                      </p:to>
                                    </p:set>
                                    <p:animEffect transition="in" filter="fade">
                                      <p:cBhvr>
                                        <p:cTn id="106" dur="300"/>
                                        <p:tgtEl>
                                          <p:spTgt spid="15"/>
                                        </p:tgtEl>
                                      </p:cBhvr>
                                    </p:animEffect>
                                  </p:childTnLst>
                                </p:cTn>
                              </p:par>
                              <p:par>
                                <p:cTn id="107" presetID="10" presetClass="entr" presetSubtype="0" fill="hold" nodeType="clickEffect">
                                  <p:stCondLst>
                                    <p:cond delay="0"/>
                                  </p:stCondLst>
                                  <p:childTnLst>
                                    <p:set>
                                      <p:cBhvr>
                                        <p:cTn id="108" dur="1" fill="hold">
                                          <p:stCondLst>
                                            <p:cond delay="0"/>
                                          </p:stCondLst>
                                        </p:cTn>
                                        <p:tgtEl>
                                          <p:spTgt spid="16"/>
                                        </p:tgtEl>
                                        <p:attrNameLst>
                                          <p:attrName>style.visibility</p:attrName>
                                        </p:attrNameLst>
                                      </p:cBhvr>
                                      <p:to>
                                        <p:strVal val="visible"/>
                                      </p:to>
                                    </p:set>
                                    <p:animEffect transition="in" filter="fade">
                                      <p:cBhvr>
                                        <p:cTn id="109" dur="300"/>
                                        <p:tgtEl>
                                          <p:spTgt spid="16"/>
                                        </p:tgtEl>
                                      </p:cBhvr>
                                    </p:animEffect>
                                  </p:childTnLst>
                                </p:cTn>
                              </p:par>
                              <p:par>
                                <p:cTn id="110" presetID="10" presetClass="entr" presetSubtype="0" fill="hold" nodeType="click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3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name="Token">
    <p:bg>
      <p:bgPr>
        <a:solidFill>
          <a:srgbClr val="FFFFFF"/>
        </a:solidFill>
      </p:bgPr>
    </p:bg>
    <p:spTree>
      <p:nvGrpSpPr>
        <p:cNvPr id="1" name=""/>
        <p:cNvGrpSpPr/>
        <p:nvPr/>
      </p:nvGrpSpPr>
      <p:grpSpPr>
        <a:xfrm/>
      </p:grpSpPr>
      <p:sp>
        <p:nvSpPr>
          <p:cNvPr id="7" name="text-221">
            <a:extLst>
              <a:ext uri="{FF2B5EF4-FFF2-40B4-BE49-F238E27FC236}">
                <ns2:creationId id="{F2013EAC-EC82-453B-9A21-55D06A955D2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22">
            <a:extLst>
              <a:ext uri="{FF2B5EF4-FFF2-40B4-BE49-F238E27FC236}">
                <ns2:creationId id="{794FAE0C-84E9-4C50-813C-2AE466D8A98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Token</a:t>
            </a:r>
          </a:p>
        </p:txBody>
      </p:sp>
      <p:sp>
        <p:nvSpPr>
          <p:cNvPr id="4" name="text-224">
            <a:extLst>
              <a:ext uri="{FF2B5EF4-FFF2-40B4-BE49-F238E27FC236}">
                <ns2:creationId id="{47EF984E-ED18-423F-9A1F-B90E40AD0ECB}"/>
              </a:ext>
            </a:extLst>
          </p:cNvPr>
          <p:cNvSpPr>
            <a:spLocks noGrp="1"/>
          </p:cNvSpPr>
          <p:nvPr/>
        </p:nvSpPr>
        <p:spPr>
          <a:xfrm>
            <a:off x="619125" y="1933575"/>
            <a:ext cx="10953750"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A token is a unit into which a model represents input or output, such as a word, part of a word, punctuation or an image patch. Tokenisation depends on the model.</a:t>
            </a:r>
          </a:p>
        </p:txBody>
      </p:sp>
      <p:sp>
        <p:nvSpPr>
          <p:cNvPr id="5" name="text-225">
            <a:extLst>
              <a:ext uri="{FF2B5EF4-FFF2-40B4-BE49-F238E27FC236}">
                <ns2:creationId id="{FF5F3DEE-CCEB-4AC1-955D-3FFAB00EB93E}"/>
              </a:ext>
            </a:extLst>
          </p:cNvPr>
          <p:cNvSpPr>
            <a:spLocks noGrp="1"/>
          </p:cNvSpPr>
          <p:nvPr/>
        </p:nvSpPr>
        <p:spPr>
          <a:xfrm>
            <a:off x="619125" y="4476750"/>
            <a:ext cx="10953750"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226">
            <a:extLst>
              <a:ext uri="{FF2B5EF4-FFF2-40B4-BE49-F238E27FC236}">
                <ns2:creationId id="{87AD595C-B29E-4351-A0B7-E4B174AEE325}"/>
              </a:ext>
            </a:extLst>
          </p:cNvPr>
          <p:cNvSpPr>
            <a:spLocks noGrp="1"/>
          </p:cNvSpPr>
          <p:nvPr/>
        </p:nvSpPr>
        <p:spPr>
          <a:xfrm>
            <a:off x="619125" y="4962525"/>
            <a:ext cx="10953750"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A legal word may occupy one token or several tokens, depending on the tokenizer.</a:t>
            </a:r>
          </a:p>
        </p:txBody>
      </p:sp>
      <p:sp>
        <p:nvSpPr>
          <p:cNvPr id="3" name="text-223">
            <a:extLst>
              <a:ext uri="{FF2B5EF4-FFF2-40B4-BE49-F238E27FC236}">
                <ns2:creationId id="{FF59399E-ACD0-4C54-8127-0583DCF7C22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9</a:t>
            </a:r>
          </a:p>
        </p:txBody>
      </p:sp>
    </p:spTree>
    <p:extLst>
      <p:ext uri="{BB962C8B-B14F-4D97-AF65-F5344CB8AC3E}">
        <ns3:creationId val="1648758408"/>
      </p:ext>
    </p:extLst>
  </p:cSld>
  <p:transition spd="med" advClick="1">
    <p:fade/>
  </p:transition>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name="Embedding">
    <p:bg>
      <p:bgPr>
        <a:solidFill>
          <a:srgbClr val="FFFFFF"/>
        </a:solidFill>
      </p:bgPr>
    </p:bg>
    <p:spTree>
      <p:nvGrpSpPr>
        <p:cNvPr id="1" name=""/>
        <p:cNvGrpSpPr/>
        <p:nvPr/>
      </p:nvGrpSpPr>
      <p:grpSpPr>
        <a:xfrm/>
      </p:grpSpPr>
      <p:sp>
        <p:nvSpPr>
          <p:cNvPr id="7" name="text-227">
            <a:extLst>
              <a:ext uri="{FF2B5EF4-FFF2-40B4-BE49-F238E27FC236}">
                <ns2:creationId id="{B3FD342B-BA70-4C3C-8E02-F83571E7D8F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28">
            <a:extLst>
              <a:ext uri="{FF2B5EF4-FFF2-40B4-BE49-F238E27FC236}">
                <ns2:creationId id="{70589A35-C22F-4D45-B764-8BC4E67D432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Embedding</a:t>
            </a:r>
          </a:p>
        </p:txBody>
      </p:sp>
      <p:sp>
        <p:nvSpPr>
          <p:cNvPr id="4" name="text-230">
            <a:extLst>
              <a:ext uri="{FF2B5EF4-FFF2-40B4-BE49-F238E27FC236}">
                <ns2:creationId id="{D04A4D94-58AF-4F56-BECB-D0AD56525730}"/>
              </a:ext>
            </a:extLst>
          </p:cNvPr>
          <p:cNvSpPr>
            <a:spLocks noGrp="1"/>
          </p:cNvSpPr>
          <p:nvPr/>
        </p:nvSpPr>
        <p:spPr>
          <a:xfrm>
            <a:off x="619125" y="1933575"/>
            <a:ext cx="10953750"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An embedding is a numerical representation learned or constructed so that relationships between items can be compared computationally.</a:t>
            </a:r>
          </a:p>
        </p:txBody>
      </p:sp>
      <p:sp>
        <p:nvSpPr>
          <p:cNvPr id="5" name="text-231">
            <a:extLst>
              <a:ext uri="{FF2B5EF4-FFF2-40B4-BE49-F238E27FC236}">
                <ns2:creationId id="{653A60FA-EF15-43AA-A5F7-9A554110C09B}"/>
              </a:ext>
            </a:extLst>
          </p:cNvPr>
          <p:cNvSpPr>
            <a:spLocks noGrp="1"/>
          </p:cNvSpPr>
          <p:nvPr/>
        </p:nvSpPr>
        <p:spPr>
          <a:xfrm>
            <a:off x="619125" y="4476750"/>
            <a:ext cx="10953750"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232">
            <a:extLst>
              <a:ext uri="{FF2B5EF4-FFF2-40B4-BE49-F238E27FC236}">
                <ns2:creationId id="{4856791C-9BED-484E-BD32-49FC060EF0FA}"/>
              </a:ext>
            </a:extLst>
          </p:cNvPr>
          <p:cNvSpPr>
            <a:spLocks noGrp="1"/>
          </p:cNvSpPr>
          <p:nvPr/>
        </p:nvSpPr>
        <p:spPr>
          <a:xfrm>
            <a:off x="619125" y="4962525"/>
            <a:ext cx="10953750"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Compare a query about group restructuring with candidate contract passages.</a:t>
            </a:r>
          </a:p>
        </p:txBody>
      </p:sp>
      <p:sp>
        <p:nvSpPr>
          <p:cNvPr id="3" name="text-229">
            <a:extLst>
              <a:ext uri="{FF2B5EF4-FFF2-40B4-BE49-F238E27FC236}">
                <ns2:creationId id="{9F35864A-5412-487D-8515-BC3899814E4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10</a:t>
            </a:r>
          </a:p>
        </p:txBody>
      </p:sp>
    </p:spTree>
    <p:extLst>
      <p:ext uri="{BB962C8B-B14F-4D97-AF65-F5344CB8AC3E}">
        <ns3:creationId val="1566778005"/>
      </p:ext>
    </p:extLst>
  </p:cSld>
  <p:transition spd="med" advClick="1">
    <p:fade/>
  </p:transition>
</p:sld>
</file>

<file path=ppt/slides/slide11.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A simplified map of related language">
    <p:bg>
      <p:bgPr>
        <a:solidFill>
          <a:srgbClr val="FFFFFF"/>
        </a:solidFill>
      </p:bgPr>
    </p:bg>
    <p:spTree>
      <p:nvGrpSpPr>
        <p:cNvPr id="1" name=""/>
        <p:cNvGrpSpPr/>
        <p:nvPr/>
      </p:nvGrpSpPr>
      <p:grpSpPr>
        <a:xfrm/>
      </p:grpSpPr>
      <p:sp>
        <p:nvSpPr>
          <p:cNvPr id="17" name="text-233">
            <a:extLst>
              <a:ext uri="{FF2B5EF4-FFF2-40B4-BE49-F238E27FC236}">
                <ns2:creationId id="{73AE0182-FD8E-4ACA-A57B-4F8F10826A2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34">
            <a:extLst>
              <a:ext uri="{FF2B5EF4-FFF2-40B4-BE49-F238E27FC236}">
                <ns2:creationId id="{366F560C-1180-4314-8512-CB0478FD2FC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simplified map of related language</a:t>
            </a:r>
          </a:p>
        </p:txBody>
      </p:sp>
      <p:sp>
        <p:nvSpPr>
          <p:cNvPr id="4" name="axis-h">
            <a:extLst>
              <a:ext uri="{FF2B5EF4-FFF2-40B4-BE49-F238E27FC236}">
                <ns2:creationId id="{9DAA51A4-059F-4B21-8CCF-A8CBC0BBA4CF}"/>
              </a:ext>
              <a:ext uri="{C183D7F6-B498-43B3-948B-1728B52AA6E4}">
                <ns3:decorative val="1"/>
              </a:ext>
            </a:extLst>
          </p:cNvPr>
          <p:cNvSpPr>
            <a:spLocks noGrp="1"/>
          </p:cNvSpPr>
          <p:nvPr/>
        </p:nvSpPr>
        <p:spPr>
          <a:xfrm>
            <a:off x="1047750" y="5438775"/>
            <a:ext cx="9715500" cy="19050"/>
          </a:xfrm>
          <a:prstGeom prst="rect">
            <a:avLst/>
          </a:prstGeom>
          <a:solidFill>
            <a:srgbClr val="C9D5DA"/>
          </a:solidFill>
          <a:ln w="11430">
            <a:noFill/>
          </a:ln>
        </p:spPr>
      </p:sp>
      <p:sp>
        <p:nvSpPr>
          <p:cNvPr id="5" name="axis-v">
            <a:extLst>
              <a:ext uri="{FF2B5EF4-FFF2-40B4-BE49-F238E27FC236}">
                <ns2:creationId id="{30992CF3-50D5-4C3E-8F56-FCB97269F633}"/>
              </a:ext>
              <a:ext uri="{C183D7F6-B498-43B3-948B-1728B52AA6E4}">
                <ns3:decorative val="1"/>
              </a:ext>
            </a:extLst>
          </p:cNvPr>
          <p:cNvSpPr>
            <a:spLocks noGrp="1"/>
          </p:cNvSpPr>
          <p:nvPr/>
        </p:nvSpPr>
        <p:spPr>
          <a:xfrm>
            <a:off x="1047750" y="2066925"/>
            <a:ext cx="19050" cy="3381375"/>
          </a:xfrm>
          <a:prstGeom prst="rect">
            <a:avLst/>
          </a:prstGeom>
          <a:solidFill>
            <a:srgbClr val="C9D5DA"/>
          </a:solidFill>
          <a:ln w="11430">
            <a:noFill/>
          </a:ln>
        </p:spPr>
      </p:sp>
      <p:sp>
        <p:nvSpPr>
          <p:cNvPr id="6" name="reveal-01-Query: restructuring consent" descr="A simplified map of related language">
            <a:extLst>
              <a:ext uri="{FF2B5EF4-FFF2-40B4-BE49-F238E27FC236}">
                <ns2:creationId id="{C284748E-9686-4B3B-9B86-EA27B962AE9D}"/>
              </a:ext>
            </a:extLst>
          </p:cNvPr>
          <p:cNvSpPr>
            <a:spLocks noGrp="1"/>
          </p:cNvSpPr>
          <p:nvPr/>
        </p:nvSpPr>
        <p:spPr>
          <a:xfrm>
            <a:off x="2095500" y="2857500"/>
            <a:ext cx="171450" cy="171450"/>
          </a:xfrm>
          <a:prstGeom prst="ellipse">
            <a:avLst/>
          </a:prstGeom>
          <a:solidFill>
            <a:srgbClr val="C94E29"/>
          </a:solidFill>
          <a:ln w="11430">
            <a:noFill/>
          </a:ln>
        </p:spPr>
      </p:sp>
      <p:sp>
        <p:nvSpPr>
          <p:cNvPr id="7" name="reveal-01-Query: restructuring consent-text">
            <a:extLst>
              <a:ext uri="{FF2B5EF4-FFF2-40B4-BE49-F238E27FC236}">
                <ns2:creationId id="{17AC62FE-FEEE-410A-9591-AC4195AA3D84}"/>
              </a:ext>
            </a:extLst>
          </p:cNvPr>
          <p:cNvSpPr>
            <a:spLocks noGrp="1"/>
          </p:cNvSpPr>
          <p:nvPr/>
        </p:nvSpPr>
        <p:spPr>
          <a:xfrm>
            <a:off x="2343150" y="2733675"/>
            <a:ext cx="3476625" cy="723900"/>
          </a:xfrm>
          <a:prstGeom prst="rect">
            <a:avLst/>
          </a:prstGeom>
          <a:noFill/>
          <a:ln w="0">
            <a:noFill/>
          </a:ln>
        </p:spPr>
        <p:txBody>
          <a:bodyPr>
            <a:noAutofit/>
          </a:bodyPr>
          <a:lstStyle>
            <a:defPPr>
              <a:defRPr sz="1875" b="1">
                <a:solidFill>
                  <a:srgbClr val="C94E29"/>
                </a:solidFill>
                <a:latin typeface="Calibri"/>
                <a:ea typeface="Calibri"/>
                <a:cs typeface="Calibri"/>
              </a:defRPr>
            </a:defPPr>
            <a:lvl1pPr>
              <a:defRPr sz="1875" b="1">
                <a:solidFill>
                  <a:srgbClr val="C94E29"/>
                </a:solidFill>
                <a:latin typeface="Calibri"/>
                <a:ea typeface="Calibri"/>
                <a:cs typeface="Calibri"/>
              </a:defRPr>
            </a:lvl1pPr>
            <a:lvl2pPr>
              <a:defRPr sz="1875" b="1">
                <a:solidFill>
                  <a:srgbClr val="C94E29"/>
                </a:solidFill>
                <a:latin typeface="Calibri"/>
                <a:ea typeface="Calibri"/>
                <a:cs typeface="Calibri"/>
              </a:defRPr>
            </a:lvl2pPr>
            <a:lvl3pPr>
              <a:defRPr sz="1875" b="1">
                <a:solidFill>
                  <a:srgbClr val="C94E29"/>
                </a:solidFill>
                <a:latin typeface="Calibri"/>
                <a:ea typeface="Calibri"/>
                <a:cs typeface="Calibri"/>
              </a:defRPr>
            </a:lvl3pPr>
            <a:lvl4pPr>
              <a:defRPr sz="1875" b="1">
                <a:solidFill>
                  <a:srgbClr val="C94E29"/>
                </a:solidFill>
                <a:latin typeface="Calibri"/>
                <a:ea typeface="Calibri"/>
                <a:cs typeface="Calibri"/>
              </a:defRPr>
            </a:lvl4pPr>
            <a:lvl5pPr>
              <a:defRPr sz="1875" b="1">
                <a:solidFill>
                  <a:srgbClr val="C94E29"/>
                </a:solidFill>
                <a:latin typeface="Calibri"/>
                <a:ea typeface="Calibri"/>
                <a:cs typeface="Calibri"/>
              </a:defRPr>
            </a:lvl5pPr>
            <a:lvl6pPr>
              <a:defRPr sz="1875" b="1">
                <a:solidFill>
                  <a:srgbClr val="C94E29"/>
                </a:solidFill>
                <a:latin typeface="Calibri"/>
                <a:ea typeface="Calibri"/>
                <a:cs typeface="Calibri"/>
              </a:defRPr>
            </a:lvl6pPr>
            <a:lvl7pPr>
              <a:defRPr sz="1875" b="1">
                <a:solidFill>
                  <a:srgbClr val="C94E29"/>
                </a:solidFill>
                <a:latin typeface="Calibri"/>
                <a:ea typeface="Calibri"/>
                <a:cs typeface="Calibri"/>
              </a:defRPr>
            </a:lvl7pPr>
            <a:lvl8pPr>
              <a:defRPr sz="1875" b="1">
                <a:solidFill>
                  <a:srgbClr val="C94E29"/>
                </a:solidFill>
                <a:latin typeface="Calibri"/>
                <a:ea typeface="Calibri"/>
                <a:cs typeface="Calibri"/>
              </a:defRPr>
            </a:lvl8pPr>
            <a:lvl9pPr>
              <a:defRPr sz="1875" b="1">
                <a:solidFill>
                  <a:srgbClr val="C94E29"/>
                </a:solidFill>
                <a:latin typeface="Calibri"/>
                <a:ea typeface="Calibri"/>
                <a:cs typeface="Calibri"/>
              </a:defRPr>
            </a:lvl9pPr>
          </a:lstStyle>
          <a:p>
            <a:pPr>
              <a:defRPr sz="1875" b="1">
                <a:solidFill>
                  <a:srgbClr val="C94E29"/>
                </a:solidFill>
                <a:latin typeface="Calibri"/>
                <a:ea typeface="Calibri"/>
                <a:cs typeface="Calibri"/>
              </a:defRPr>
            </a:pPr>
            <a:r>
              <a:rPr sz="1875" b="1">
                <a:solidFill>
                  <a:srgbClr val="C94E29"/>
                </a:solidFill>
                <a:latin typeface="Calibri"/>
                <a:ea typeface="Calibri"/>
                <a:cs typeface="Calibri"/>
              </a:rPr>
              <a:t>Query: restructuring consent</a:t>
            </a:r>
          </a:p>
        </p:txBody>
      </p:sp>
      <p:sp>
        <p:nvSpPr>
          <p:cNvPr id="8" name="reveal-02-Clause 3: group exception">
            <a:extLst>
              <a:ext uri="{FF2B5EF4-FFF2-40B4-BE49-F238E27FC236}">
                <ns2:creationId id="{4D872136-2591-4F1B-9F77-3E1A1EA62F5C}"/>
              </a:ext>
              <a:ext uri="{C183D7F6-B498-43B3-948B-1728B52AA6E4}">
                <ns3:decorative val="1"/>
              </a:ext>
            </a:extLst>
          </p:cNvPr>
          <p:cNvSpPr>
            <a:spLocks noGrp="1"/>
          </p:cNvSpPr>
          <p:nvPr/>
        </p:nvSpPr>
        <p:spPr>
          <a:xfrm>
            <a:off x="2952750" y="3667125"/>
            <a:ext cx="171450" cy="171450"/>
          </a:xfrm>
          <a:prstGeom prst="ellipse">
            <a:avLst/>
          </a:prstGeom>
          <a:solidFill>
            <a:srgbClr val="246E63"/>
          </a:solidFill>
          <a:ln w="11430">
            <a:noFill/>
          </a:ln>
        </p:spPr>
      </p:sp>
      <p:sp>
        <p:nvSpPr>
          <p:cNvPr id="9" name="reveal-02-Clause 3: group exception-text">
            <a:extLst>
              <a:ext uri="{FF2B5EF4-FFF2-40B4-BE49-F238E27FC236}">
                <ns2:creationId id="{650B1D4E-FFD6-452C-82F2-10ABBB5F6D6F}"/>
              </a:ext>
            </a:extLst>
          </p:cNvPr>
          <p:cNvSpPr>
            <a:spLocks noGrp="1"/>
          </p:cNvSpPr>
          <p:nvPr/>
        </p:nvSpPr>
        <p:spPr>
          <a:xfrm>
            <a:off x="3200400" y="3543300"/>
            <a:ext cx="3476625" cy="72390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Clause 3: group exception</a:t>
            </a:r>
          </a:p>
        </p:txBody>
      </p:sp>
      <p:sp>
        <p:nvSpPr>
          <p:cNvPr id="10" name="reveal-02-Support access clause">
            <a:extLst>
              <a:ext uri="{FF2B5EF4-FFF2-40B4-BE49-F238E27FC236}">
                <ns2:creationId id="{F8032605-B6B9-4A50-BA56-490D5100CBB2}"/>
              </a:ext>
              <a:ext uri="{C183D7F6-B498-43B3-948B-1728B52AA6E4}">
                <ns3:decorative val="1"/>
              </a:ext>
            </a:extLst>
          </p:cNvPr>
          <p:cNvSpPr>
            <a:spLocks noGrp="1"/>
          </p:cNvSpPr>
          <p:nvPr/>
        </p:nvSpPr>
        <p:spPr>
          <a:xfrm>
            <a:off x="4095750" y="4524375"/>
            <a:ext cx="171450" cy="171450"/>
          </a:xfrm>
          <a:prstGeom prst="ellipse">
            <a:avLst/>
          </a:prstGeom>
          <a:solidFill>
            <a:srgbClr val="246E63"/>
          </a:solidFill>
          <a:ln w="11430">
            <a:noFill/>
          </a:ln>
        </p:spPr>
      </p:sp>
      <p:sp>
        <p:nvSpPr>
          <p:cNvPr id="11" name="reveal-02-Support access clause-text">
            <a:extLst>
              <a:ext uri="{FF2B5EF4-FFF2-40B4-BE49-F238E27FC236}">
                <ns2:creationId id="{A3E38CE8-D825-4A4D-B59B-AE538AA93929}"/>
              </a:ext>
            </a:extLst>
          </p:cNvPr>
          <p:cNvSpPr>
            <a:spLocks noGrp="1"/>
          </p:cNvSpPr>
          <p:nvPr/>
        </p:nvSpPr>
        <p:spPr>
          <a:xfrm>
            <a:off x="4343400" y="4400550"/>
            <a:ext cx="3476625" cy="72390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Support access clause</a:t>
            </a:r>
          </a:p>
        </p:txBody>
      </p:sp>
      <p:sp>
        <p:nvSpPr>
          <p:cNvPr id="12" name="reveal-03-Invoice payment term">
            <a:extLst>
              <a:ext uri="{FF2B5EF4-FFF2-40B4-BE49-F238E27FC236}">
                <ns2:creationId id="{EFAAF2BF-2E64-4816-AB38-670F1A401DC5}"/>
              </a:ext>
              <a:ext uri="{C183D7F6-B498-43B3-948B-1728B52AA6E4}">
                <ns3:decorative val="1"/>
              </a:ext>
            </a:extLst>
          </p:cNvPr>
          <p:cNvSpPr>
            <a:spLocks noGrp="1"/>
          </p:cNvSpPr>
          <p:nvPr/>
        </p:nvSpPr>
        <p:spPr>
          <a:xfrm>
            <a:off x="7953375" y="2952750"/>
            <a:ext cx="171450" cy="171450"/>
          </a:xfrm>
          <a:prstGeom prst="ellipse">
            <a:avLst/>
          </a:prstGeom>
          <a:solidFill>
            <a:srgbClr val="246E63"/>
          </a:solidFill>
          <a:ln w="11430">
            <a:noFill/>
          </a:ln>
        </p:spPr>
      </p:sp>
      <p:sp>
        <p:nvSpPr>
          <p:cNvPr id="13" name="reveal-03-Invoice payment term-text">
            <a:extLst>
              <a:ext uri="{FF2B5EF4-FFF2-40B4-BE49-F238E27FC236}">
                <ns2:creationId id="{4EBD3C31-2684-40B0-B6BA-EDFF141BBC35}"/>
              </a:ext>
            </a:extLst>
          </p:cNvPr>
          <p:cNvSpPr>
            <a:spLocks noGrp="1"/>
          </p:cNvSpPr>
          <p:nvPr/>
        </p:nvSpPr>
        <p:spPr>
          <a:xfrm>
            <a:off x="8201025" y="2828925"/>
            <a:ext cx="3476625" cy="72390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Invoice payment term</a:t>
            </a:r>
          </a:p>
        </p:txBody>
      </p:sp>
      <p:sp>
        <p:nvSpPr>
          <p:cNvPr id="14" name="reveal-03-Photograph consent">
            <a:extLst>
              <a:ext uri="{FF2B5EF4-FFF2-40B4-BE49-F238E27FC236}">
                <ns2:creationId id="{7FEAA843-C62D-4A13-BB6A-35B9CE15C992}"/>
              </a:ext>
              <a:ext uri="{C183D7F6-B498-43B3-948B-1728B52AA6E4}">
                <ns3:decorative val="1"/>
              </a:ext>
            </a:extLst>
          </p:cNvPr>
          <p:cNvSpPr>
            <a:spLocks noGrp="1"/>
          </p:cNvSpPr>
          <p:nvPr/>
        </p:nvSpPr>
        <p:spPr>
          <a:xfrm>
            <a:off x="7572375" y="4714875"/>
            <a:ext cx="171450" cy="171450"/>
          </a:xfrm>
          <a:prstGeom prst="ellipse">
            <a:avLst/>
          </a:prstGeom>
          <a:solidFill>
            <a:srgbClr val="246E63"/>
          </a:solidFill>
          <a:ln w="11430">
            <a:noFill/>
          </a:ln>
        </p:spPr>
      </p:sp>
      <p:sp>
        <p:nvSpPr>
          <p:cNvPr id="15" name="reveal-03-Photograph consent-text">
            <a:extLst>
              <a:ext uri="{FF2B5EF4-FFF2-40B4-BE49-F238E27FC236}">
                <ns2:creationId id="{7EB1B0ED-9C55-43DF-8CB0-DEEAFCF254C9}"/>
              </a:ext>
            </a:extLst>
          </p:cNvPr>
          <p:cNvSpPr>
            <a:spLocks noGrp="1"/>
          </p:cNvSpPr>
          <p:nvPr/>
        </p:nvSpPr>
        <p:spPr>
          <a:xfrm>
            <a:off x="7820025" y="4591050"/>
            <a:ext cx="3476625" cy="72390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Photograph consent</a:t>
            </a:r>
          </a:p>
        </p:txBody>
      </p:sp>
      <p:sp>
        <p:nvSpPr>
          <p:cNvPr id="16" name="text-236">
            <a:extLst>
              <a:ext uri="{FF2B5EF4-FFF2-40B4-BE49-F238E27FC236}">
                <ns2:creationId id="{586744A9-201C-4BC8-9FFE-7C65801C020B}"/>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Invented 2D projection of many-dimensional representations. Inspect candidates; distance is not legal meaning.</a:t>
            </a:r>
          </a:p>
        </p:txBody>
      </p:sp>
      <p:sp>
        <p:nvSpPr>
          <p:cNvPr id="3" name="text-235">
            <a:extLst>
              <a:ext uri="{FF2B5EF4-FFF2-40B4-BE49-F238E27FC236}">
                <ns2:creationId id="{81723DE3-E9FD-44C4-9474-977D702BE09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11</a:t>
            </a:r>
          </a:p>
        </p:txBody>
      </p:sp>
    </p:spTree>
    <p:extLst>
      <p:ext uri="{BB962C8B-B14F-4D97-AF65-F5344CB8AC3E}">
        <ns4:creationId val="7795467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
                                        <p:tgtEl>
                                          <p:spTgt spid="6"/>
                                        </p:tgtEl>
                                      </p:cBhvr>
                                    </p:animEffect>
                                  </p:childTnLst>
                                </p:cTn>
                              </p:par>
                              <p:par>
                                <p:cTn id="8" presetID="10" presetClass="entr" presetSubtype="0" fill="hold"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300"/>
                                        <p:tgtEl>
                                          <p:spTgt spid="8"/>
                                        </p:tgtEl>
                                      </p:cBhvr>
                                    </p:animEffect>
                                  </p:childTnLst>
                                </p:cTn>
                              </p:par>
                              <p:par>
                                <p:cTn id="16" presetID="10"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300"/>
                                        <p:tgtEl>
                                          <p:spTgt spid="9"/>
                                        </p:tgtEl>
                                      </p:cBhvr>
                                    </p:animEffect>
                                  </p:childTnLst>
                                </p:cTn>
                              </p:par>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300"/>
                                        <p:tgtEl>
                                          <p:spTgt spid="10"/>
                                        </p:tgtEl>
                                      </p:cBhvr>
                                    </p:animEffect>
                                  </p:childTnLst>
                                </p:cTn>
                              </p:par>
                              <p:par>
                                <p:cTn id="22" presetID="10"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300"/>
                                        <p:tgtEl>
                                          <p:spTgt spid="12"/>
                                        </p:tgtEl>
                                      </p:cBhvr>
                                    </p:animEffect>
                                  </p:childTnLst>
                                </p:cTn>
                              </p:par>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300"/>
                                        <p:tgtEl>
                                          <p:spTgt spid="13"/>
                                        </p:tgtEl>
                                      </p:cBhvr>
                                    </p:animEffect>
                                  </p:childTnLst>
                                </p:cTn>
                              </p:par>
                              <p:par>
                                <p:cTn id="33" presetID="10"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300"/>
                                        <p:tgtEl>
                                          <p:spTgt spid="14"/>
                                        </p:tgtEl>
                                      </p:cBhvr>
                                    </p:animEffect>
                                  </p:childTnLst>
                                </p:cTn>
                              </p:par>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name="Many dimensions and a flat picture">
    <p:bg>
      <p:bgPr>
        <a:solidFill>
          <a:srgbClr val="FFFFFF"/>
        </a:solidFill>
      </p:bgPr>
    </p:bg>
    <p:spTree>
      <p:nvGrpSpPr>
        <p:cNvPr id="1" name=""/>
        <p:cNvGrpSpPr/>
        <p:nvPr/>
      </p:nvGrpSpPr>
      <p:grpSpPr>
        <a:xfrm/>
      </p:grpSpPr>
      <p:sp>
        <p:nvSpPr>
          <p:cNvPr id="10" name="text-237">
            <a:extLst>
              <a:ext uri="{FF2B5EF4-FFF2-40B4-BE49-F238E27FC236}">
                <ns2:creationId id="{B6ABA95E-B1EC-4BB4-8DE3-8DC1E544504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38">
            <a:extLst>
              <a:ext uri="{FF2B5EF4-FFF2-40B4-BE49-F238E27FC236}">
                <ns2:creationId id="{A6ADAEE6-E19B-4B96-9A27-8588D67675D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Many dimensions and a flat picture</a:t>
            </a:r>
          </a:p>
        </p:txBody>
      </p:sp>
      <p:sp>
        <p:nvSpPr>
          <p:cNvPr id="4" name="text-240">
            <a:extLst>
              <a:ext uri="{FF2B5EF4-FFF2-40B4-BE49-F238E27FC236}">
                <ns2:creationId id="{074B95C7-25F6-4779-839E-5FC98B89985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41">
            <a:extLst>
              <a:ext uri="{FF2B5EF4-FFF2-40B4-BE49-F238E27FC236}">
                <ns2:creationId id="{ABC36D55-75E3-45A4-981F-AD97B7B5222A}"/>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model uses many numerical dimensions.</a:t>
            </a:r>
          </a:p>
        </p:txBody>
      </p:sp>
      <p:sp>
        <p:nvSpPr>
          <p:cNvPr id="6" name="text-242">
            <a:extLst>
              <a:ext uri="{FF2B5EF4-FFF2-40B4-BE49-F238E27FC236}">
                <ns2:creationId id="{1331A0D9-8EA3-44D7-BC9F-1856814866F7}"/>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43">
            <a:extLst>
              <a:ext uri="{FF2B5EF4-FFF2-40B4-BE49-F238E27FC236}">
                <ns2:creationId id="{01C175D1-AF2A-4E4C-9E5F-A56CE3090597}"/>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two-dimensional projection loses information.</a:t>
            </a:r>
          </a:p>
        </p:txBody>
      </p:sp>
      <p:sp>
        <p:nvSpPr>
          <p:cNvPr id="8" name="text-244">
            <a:extLst>
              <a:ext uri="{FF2B5EF4-FFF2-40B4-BE49-F238E27FC236}">
                <ns2:creationId id="{020C991A-1ABA-40B3-9F4A-36300F5308DC}"/>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45">
            <a:extLst>
              <a:ext uri="{FF2B5EF4-FFF2-40B4-BE49-F238E27FC236}">
                <ns2:creationId id="{2445E131-975D-4161-BFFD-C65893B448F0}"/>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distance or similarity score depends on the representation and comparison method.</a:t>
            </a:r>
          </a:p>
        </p:txBody>
      </p:sp>
      <p:sp>
        <p:nvSpPr>
          <p:cNvPr id="3" name="text-239">
            <a:extLst>
              <a:ext uri="{FF2B5EF4-FFF2-40B4-BE49-F238E27FC236}">
                <ns2:creationId id="{AC939319-FDF4-4157-AB3F-B174D486024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12</a:t>
            </a:r>
          </a:p>
        </p:txBody>
      </p:sp>
    </p:spTree>
    <p:extLst>
      <p:ext uri="{BB962C8B-B14F-4D97-AF65-F5344CB8AC3E}">
        <ns3:creationId val="728300005"/>
      </p:ext>
    </p:extLst>
  </p:cSld>
  <p:transition spd="med" advClick="1">
    <p:fade/>
  </p:transition>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name="Context changes the representation">
    <p:bg>
      <p:bgPr>
        <a:solidFill>
          <a:srgbClr val="FFFFFF"/>
        </a:solidFill>
      </p:bgPr>
    </p:bg>
    <p:spTree>
      <p:nvGrpSpPr>
        <p:cNvPr id="1" name=""/>
        <p:cNvGrpSpPr/>
        <p:nvPr/>
      </p:nvGrpSpPr>
      <p:grpSpPr>
        <a:xfrm/>
      </p:grpSpPr>
      <p:sp>
        <p:nvSpPr>
          <p:cNvPr id="9" name="text-246">
            <a:extLst>
              <a:ext uri="{FF2B5EF4-FFF2-40B4-BE49-F238E27FC236}">
                <ns2:creationId id="{613D980E-93EF-4737-B635-6491821C8AD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47">
            <a:extLst>
              <a:ext uri="{FF2B5EF4-FFF2-40B4-BE49-F238E27FC236}">
                <ns2:creationId id="{CEC346E4-5176-43A3-AAFD-6DBAF2A1035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Context changes the representation</a:t>
            </a:r>
          </a:p>
        </p:txBody>
      </p:sp>
      <p:sp>
        <p:nvSpPr>
          <p:cNvPr id="4" name="text-249">
            <a:extLst>
              <a:ext uri="{FF2B5EF4-FFF2-40B4-BE49-F238E27FC236}">
                <ns2:creationId id="{D42A4B7E-443C-497B-9A97-F205883612C3}"/>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Property context</a:t>
            </a:r>
          </a:p>
        </p:txBody>
      </p:sp>
      <p:sp>
        <p:nvSpPr>
          <p:cNvPr id="5" name="text-250">
            <a:extLst>
              <a:ext uri="{FF2B5EF4-FFF2-40B4-BE49-F238E27FC236}">
                <ns2:creationId id="{F0944B53-9B58-4916-B708-8D4003F0992C}"/>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The bank registered a charge over the property.</a:t>
            </a:r>
          </a:p>
        </p:txBody>
      </p:sp>
      <p:sp>
        <p:nvSpPr>
          <p:cNvPr id="6" name="text-251">
            <a:extLst>
              <a:ext uri="{FF2B5EF4-FFF2-40B4-BE49-F238E27FC236}">
                <ns2:creationId id="{645A5A48-F72E-4A42-930E-524495D4B65F}"/>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Criminal context</a:t>
            </a:r>
          </a:p>
        </p:txBody>
      </p:sp>
      <p:sp>
        <p:nvSpPr>
          <p:cNvPr id="7" name="text-252">
            <a:extLst>
              <a:ext uri="{FF2B5EF4-FFF2-40B4-BE49-F238E27FC236}">
                <ns2:creationId id="{85A7A53B-9781-483F-8B82-8761E84A25B5}"/>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The prosecutor amended the charge.</a:t>
            </a:r>
          </a:p>
        </p:txBody>
      </p:sp>
      <p:sp>
        <p:nvSpPr>
          <p:cNvPr id="8" name="text-253">
            <a:extLst>
              <a:ext uri="{FF2B5EF4-FFF2-40B4-BE49-F238E27FC236}">
                <ns2:creationId id="{EE163369-E481-4281-A58C-FD4B6A318997}"/>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Contextual representations depend on surrounding language.</a:t>
            </a:r>
          </a:p>
        </p:txBody>
      </p:sp>
      <p:sp>
        <p:nvSpPr>
          <p:cNvPr id="3" name="text-248">
            <a:extLst>
              <a:ext uri="{FF2B5EF4-FFF2-40B4-BE49-F238E27FC236}">
                <ns2:creationId id="{82026669-69DA-4921-8CEF-3BF007F4B80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13</a:t>
            </a:r>
          </a:p>
        </p:txBody>
      </p:sp>
    </p:spTree>
    <p:extLst>
      <p:ext uri="{BB962C8B-B14F-4D97-AF65-F5344CB8AC3E}">
        <ns3:creationId val="1117451482"/>
      </p:ext>
    </p:extLst>
  </p:cSld>
  <p:transition spd="med" advClick="1">
    <p:fade/>
  </p:transition>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name="Similarity and legal meaning">
    <p:bg>
      <p:bgPr>
        <a:solidFill>
          <a:srgbClr val="FFFFFF"/>
        </a:solidFill>
      </p:bgPr>
    </p:bg>
    <p:spTree>
      <p:nvGrpSpPr>
        <p:cNvPr id="1" name=""/>
        <p:cNvGrpSpPr/>
        <p:nvPr/>
      </p:nvGrpSpPr>
      <p:grpSpPr>
        <a:xfrm/>
      </p:grpSpPr>
      <p:sp>
        <p:nvSpPr>
          <p:cNvPr id="10" name="text-254">
            <a:extLst>
              <a:ext uri="{FF2B5EF4-FFF2-40B4-BE49-F238E27FC236}">
                <ns2:creationId id="{1B2B9531-A99F-475F-B05F-F51CF93FC67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55">
            <a:extLst>
              <a:ext uri="{FF2B5EF4-FFF2-40B4-BE49-F238E27FC236}">
                <ns2:creationId id="{E59FB628-9854-4618-8095-04E8D926AB3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Similarity and legal meaning</a:t>
            </a:r>
          </a:p>
        </p:txBody>
      </p:sp>
      <p:sp>
        <p:nvSpPr>
          <p:cNvPr id="4" name="text-257">
            <a:extLst>
              <a:ext uri="{FF2B5EF4-FFF2-40B4-BE49-F238E27FC236}">
                <ns2:creationId id="{659CA0AD-CAA1-4FE0-BB2E-CBD0348573A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58">
            <a:extLst>
              <a:ext uri="{FF2B5EF4-FFF2-40B4-BE49-F238E27FC236}">
                <ns2:creationId id="{42CA1C79-2752-403D-B862-8F5437E1A8BB}"/>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Related terms may have different legal effects.</a:t>
            </a:r>
          </a:p>
        </p:txBody>
      </p:sp>
      <p:sp>
        <p:nvSpPr>
          <p:cNvPr id="6" name="text-259">
            <a:extLst>
              <a:ext uri="{FF2B5EF4-FFF2-40B4-BE49-F238E27FC236}">
                <ns2:creationId id="{9E64C5E7-9E1A-4624-B119-76D18B29EDA0}"/>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60">
            <a:extLst>
              <a:ext uri="{FF2B5EF4-FFF2-40B4-BE49-F238E27FC236}">
                <ns2:creationId id="{BE1F2520-FEDC-4990-AA64-5C65A9136A16}"/>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Approve and reject can appear in similar contexts.</a:t>
            </a:r>
          </a:p>
        </p:txBody>
      </p:sp>
      <p:sp>
        <p:nvSpPr>
          <p:cNvPr id="8" name="text-261">
            <a:extLst>
              <a:ext uri="{FF2B5EF4-FFF2-40B4-BE49-F238E27FC236}">
                <ns2:creationId id="{732F4927-B281-416E-A171-1BC9951ED9E4}"/>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62">
            <a:extLst>
              <a:ext uri="{FF2B5EF4-FFF2-40B4-BE49-F238E27FC236}">
                <ns2:creationId id="{709ACDC1-882A-415E-BB28-B8AD8C3B028C}"/>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retrieved passage needs interpretation and an authority check.</a:t>
            </a:r>
          </a:p>
        </p:txBody>
      </p:sp>
      <p:sp>
        <p:nvSpPr>
          <p:cNvPr id="3" name="text-256">
            <a:extLst>
              <a:ext uri="{FF2B5EF4-FFF2-40B4-BE49-F238E27FC236}">
                <ns2:creationId id="{3754E833-77F6-4CA9-966B-774C5ADC73F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14</a:t>
            </a:r>
          </a:p>
        </p:txBody>
      </p:sp>
    </p:spTree>
    <p:extLst>
      <p:ext uri="{BB962C8B-B14F-4D97-AF65-F5344CB8AC3E}">
        <ns3:creationId val="660111261"/>
      </p:ext>
    </p:extLst>
  </p:cSld>
  <p:transition spd="med" advClick="1">
    <p:fade/>
  </p:transition>
</p:sld>
</file>

<file path=ppt/slides/slide15.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How a language model develops">
    <p:bg>
      <p:bgPr>
        <a:solidFill>
          <a:srgbClr val="FFFFFF"/>
        </a:solidFill>
      </p:bgPr>
    </p:bg>
    <p:spTree>
      <p:nvGrpSpPr>
        <p:cNvPr id="1" name=""/>
        <p:cNvGrpSpPr/>
        <p:nvPr/>
      </p:nvGrpSpPr>
      <p:grpSpPr>
        <a:xfrm/>
      </p:grpSpPr>
      <p:cxnSp>
        <p:nvCxnSpPr>
          <p:cNvPr id="24" name="reveal-04-arrow" descr="How a language model develops">
            <a:extLst>
              <a:ext uri="{FF2B5EF4-FFF2-40B4-BE49-F238E27FC236}">
                <ns2:creationId id="{8B049E37-68DC-4098-8B01-3773397BBC00}"/>
              </a:ext>
            </a:extLst>
          </p:cNvPr>
          <p:cNvCxnSpPr>
            <a:stCxn id="14" idx="3"/>
            <a:endCxn id="18" idx="1"/>
          </p:cNvCxnSpPr>
          <p:nvPr/>
        </p:nvCxnSpPr>
        <p:spPr>
          <a:xfrm>
            <a:off x="8751094" y="3771900"/>
            <a:ext cx="333375" cy="0"/>
          </a:xfrm>
          <a:prstGeom prst="straightConnector1">
            <a:avLst/>
          </a:prstGeom>
          <a:ln w="23813">
            <a:solidFill>
              <a:srgbClr val="246E63"/>
            </a:solidFill>
            <a:tailEnd type="arrow" w="med" len="med"/>
          </a:ln>
        </p:spPr>
      </p:cxnSp>
      <p:cxnSp>
        <p:nvCxnSpPr>
          <p:cNvPr id="23" name="reveal-03-arrow">
            <a:extLst>
              <a:ext uri="{FF2B5EF4-FFF2-40B4-BE49-F238E27FC236}">
                <ns2:creationId id="{94FA1C3D-5D59-4B2E-AF6D-A1970AAB2CF7}"/>
              </a:ext>
              <a:ext uri="{C183D7F6-B498-43B3-948B-1728B52AA6E4}">
                <ns3:decorative val="1"/>
              </a:ext>
            </a:extLst>
          </p:cNvPr>
          <p:cNvCxnSpPr>
            <a:stCxn id="10" idx="3"/>
            <a:endCxn id="14" idx="1"/>
          </p:cNvCxnSpPr>
          <p:nvPr/>
        </p:nvCxnSpPr>
        <p:spPr>
          <a:xfrm>
            <a:off x="5929312" y="3771900"/>
            <a:ext cx="333376" cy="0"/>
          </a:xfrm>
          <a:prstGeom prst="straightConnector1">
            <a:avLst/>
          </a:prstGeom>
          <a:ln w="23813">
            <a:solidFill>
              <a:srgbClr val="246E63"/>
            </a:solidFill>
            <a:tailEnd type="arrow" w="med" len="med"/>
          </a:ln>
        </p:spPr>
      </p:cxnSp>
      <p:cxnSp>
        <p:nvCxnSpPr>
          <p:cNvPr id="22" name="reveal-02-arrow">
            <a:extLst>
              <a:ext uri="{FF2B5EF4-FFF2-40B4-BE49-F238E27FC236}">
                <ns2:creationId id="{21B945ED-6D21-4FC4-A2B7-296343EA532F}"/>
              </a:ext>
              <a:ext uri="{C183D7F6-B498-43B3-948B-1728B52AA6E4}">
                <ns3:decorative val="1"/>
              </a:ext>
            </a:extLst>
          </p:cNvPr>
          <p:cNvCxnSpPr>
            <a:stCxn id="6" idx="3"/>
            <a:endCxn id="10" idx="1"/>
          </p:cNvCxnSpPr>
          <p:nvPr/>
        </p:nvCxnSpPr>
        <p:spPr>
          <a:xfrm>
            <a:off x="3107531" y="3771900"/>
            <a:ext cx="333375" cy="0"/>
          </a:xfrm>
          <a:prstGeom prst="straightConnector1">
            <a:avLst/>
          </a:prstGeom>
          <a:ln w="23813">
            <a:solidFill>
              <a:srgbClr val="246E63"/>
            </a:solidFill>
            <a:tailEnd type="arrow" w="med" len="med"/>
          </a:ln>
        </p:spPr>
      </p:cxnSp>
      <p:sp>
        <p:nvSpPr>
          <p:cNvPr id="26" name="text-263">
            <a:extLst>
              <a:ext uri="{FF2B5EF4-FFF2-40B4-BE49-F238E27FC236}">
                <ns2:creationId id="{8308B4D3-96E7-4D65-9CCF-36A65BA353D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64">
            <a:extLst>
              <a:ext uri="{FF2B5EF4-FFF2-40B4-BE49-F238E27FC236}">
                <ns2:creationId id="{07E61055-7CB1-47AD-9810-8734ECB8A52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How a language model develops</a:t>
            </a:r>
          </a:p>
        </p:txBody>
      </p:sp>
      <p:sp>
        <p:nvSpPr>
          <p:cNvPr id="4" name="text-266">
            <a:extLst>
              <a:ext uri="{FF2B5EF4-FFF2-40B4-BE49-F238E27FC236}">
                <ns2:creationId id="{B0B40DC8-FD42-4AD1-B9ED-0E3BBC087F43}"/>
              </a:ext>
            </a:extLst>
          </p:cNvPr>
          <p:cNvSpPr>
            <a:spLocks noGrp="1"/>
          </p:cNvSpPr>
          <p:nvPr/>
        </p:nvSpPr>
        <p:spPr>
          <a:xfrm>
            <a:off x="619125" y="1857375"/>
            <a:ext cx="8048625" cy="36195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TRAINING: PARAMETERS CAN CHANGE</a:t>
            </a:r>
          </a:p>
        </p:txBody>
      </p:sp>
      <p:sp>
        <p:nvSpPr>
          <p:cNvPr id="5" name="text-267">
            <a:extLst>
              <a:ext uri="{FF2B5EF4-FFF2-40B4-BE49-F238E27FC236}">
                <ns2:creationId id="{ECFB05B1-1C40-484D-ACFF-D1C24BFFA9D8}"/>
              </a:ext>
            </a:extLst>
          </p:cNvPr>
          <p:cNvSpPr>
            <a:spLocks noGrp="1"/>
          </p:cNvSpPr>
          <p:nvPr/>
        </p:nvSpPr>
        <p:spPr>
          <a:xfrm>
            <a:off x="9077325" y="1857375"/>
            <a:ext cx="2476500" cy="36195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USE</a:t>
            </a:r>
          </a:p>
        </p:txBody>
      </p:sp>
      <p:sp>
        <p:nvSpPr>
          <p:cNvPr id="6" name="reveal-01-stage">
            <a:extLst>
              <a:ext uri="{FF2B5EF4-FFF2-40B4-BE49-F238E27FC236}">
                <ns2:creationId id="{D16B7900-8ACB-4692-A7EC-56611BDAF51E}"/>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7" name="reveal-01-number">
            <a:extLst>
              <a:ext uri="{FF2B5EF4-FFF2-40B4-BE49-F238E27FC236}">
                <ns2:creationId id="{BDE213ED-B488-43CE-8183-8E243CEB59E1}"/>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8" name="reveal-01-label">
            <a:extLst>
              <a:ext uri="{FF2B5EF4-FFF2-40B4-BE49-F238E27FC236}">
                <ns2:creationId id="{358FAF1D-3987-460F-8436-50A871489F6A}"/>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Pretraining</a:t>
            </a:r>
          </a:p>
        </p:txBody>
      </p:sp>
      <p:sp>
        <p:nvSpPr>
          <p:cNvPr id="9" name="reveal-01-detail">
            <a:extLst>
              <a:ext uri="{FF2B5EF4-FFF2-40B4-BE49-F238E27FC236}">
                <ns2:creationId id="{D6CB7793-4F77-45B3-8D13-8C408D694C27}"/>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Learn from broad data</a:t>
            </a:r>
          </a:p>
        </p:txBody>
      </p:sp>
      <p:sp>
        <p:nvSpPr>
          <p:cNvPr id="10" name="reveal-02-stage">
            <a:extLst>
              <a:ext uri="{FF2B5EF4-FFF2-40B4-BE49-F238E27FC236}">
                <ns2:creationId id="{2929CEB8-4BBF-4EA4-A478-453811CC7A5C}"/>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11" name="reveal-02-number">
            <a:extLst>
              <a:ext uri="{FF2B5EF4-FFF2-40B4-BE49-F238E27FC236}">
                <ns2:creationId id="{D399AD5A-5E3A-41F6-B293-CBDC1138AF4F}"/>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2" name="reveal-02-label">
            <a:extLst>
              <a:ext uri="{FF2B5EF4-FFF2-40B4-BE49-F238E27FC236}">
                <ns2:creationId id="{45E19299-E265-4FEF-8D79-7B65F234B35C}"/>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Instruction tuning</a:t>
            </a:r>
          </a:p>
        </p:txBody>
      </p:sp>
      <p:sp>
        <p:nvSpPr>
          <p:cNvPr id="13" name="reveal-02-detail">
            <a:extLst>
              <a:ext uri="{FF2B5EF4-FFF2-40B4-BE49-F238E27FC236}">
                <ns2:creationId id="{6B11805A-3F8E-442B-9365-5B2AF3258C5F}"/>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Fit requested behaviour</a:t>
            </a:r>
          </a:p>
        </p:txBody>
      </p:sp>
      <p:sp>
        <p:nvSpPr>
          <p:cNvPr id="14" name="reveal-03-stage">
            <a:extLst>
              <a:ext uri="{FF2B5EF4-FFF2-40B4-BE49-F238E27FC236}">
                <ns2:creationId id="{FA625C76-A791-4579-9E86-04D98DC1D8E2}"/>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5" name="reveal-03-number">
            <a:extLst>
              <a:ext uri="{FF2B5EF4-FFF2-40B4-BE49-F238E27FC236}">
                <ns2:creationId id="{3598FD38-81AD-49A2-B062-2AB4B117F2A9}"/>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6" name="reveal-03-label">
            <a:extLst>
              <a:ext uri="{FF2B5EF4-FFF2-40B4-BE49-F238E27FC236}">
                <ns2:creationId id="{611D515A-BD2C-46ED-AF2A-2FC4081E086E}"/>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Preference learning</a:t>
            </a:r>
          </a:p>
        </p:txBody>
      </p:sp>
      <p:sp>
        <p:nvSpPr>
          <p:cNvPr id="17" name="reveal-03-detail">
            <a:extLst>
              <a:ext uri="{FF2B5EF4-FFF2-40B4-BE49-F238E27FC236}">
                <ns2:creationId id="{7B633AFA-0306-4BF2-8B96-8A395B0F634D}"/>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Use feedback signals</a:t>
            </a:r>
          </a:p>
        </p:txBody>
      </p:sp>
      <p:sp>
        <p:nvSpPr>
          <p:cNvPr id="18" name="reveal-04-stage">
            <a:extLst>
              <a:ext uri="{FF2B5EF4-FFF2-40B4-BE49-F238E27FC236}">
                <ns2:creationId id="{975E76AC-D68E-4651-BD03-4A9E78DD1744}"/>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9" name="reveal-04-number">
            <a:extLst>
              <a:ext uri="{FF2B5EF4-FFF2-40B4-BE49-F238E27FC236}">
                <ns2:creationId id="{72CD965E-BAB4-4FEB-9496-B70B9F182F26}"/>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20" name="reveal-04-label">
            <a:extLst>
              <a:ext uri="{FF2B5EF4-FFF2-40B4-BE49-F238E27FC236}">
                <ns2:creationId id="{7F9C2CF3-D578-417E-A1F0-50A3CD588383}"/>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Inference</a:t>
            </a:r>
          </a:p>
        </p:txBody>
      </p:sp>
      <p:sp>
        <p:nvSpPr>
          <p:cNvPr id="21" name="reveal-04-detail">
            <a:extLst>
              <a:ext uri="{FF2B5EF4-FFF2-40B4-BE49-F238E27FC236}">
                <ns2:creationId id="{A81721CA-5FC0-4013-BC1E-459646D08D30}"/>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Process today’s input</a:t>
            </a:r>
          </a:p>
        </p:txBody>
      </p:sp>
      <p:sp>
        <p:nvSpPr>
          <p:cNvPr id="25" name="text-271">
            <a:extLst>
              <a:ext uri="{FF2B5EF4-FFF2-40B4-BE49-F238E27FC236}">
                <ns2:creationId id="{095CB26B-FF1E-4F86-BCCC-EAD62FC2898B}"/>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One common route. Providers vary. Inference does not itself run a training update.</a:t>
            </a:r>
          </a:p>
        </p:txBody>
      </p:sp>
      <p:sp>
        <p:nvSpPr>
          <p:cNvPr id="3" name="text-265">
            <a:extLst>
              <a:ext uri="{FF2B5EF4-FFF2-40B4-BE49-F238E27FC236}">
                <ns2:creationId id="{995C9F8B-98D6-44FE-A480-BF4B14FB7B1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15</a:t>
            </a:r>
          </a:p>
        </p:txBody>
      </p:sp>
    </p:spTree>
    <p:extLst>
      <p:ext uri="{BB962C8B-B14F-4D97-AF65-F5344CB8AC3E}">
        <ns4:creationId val="137994225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
                                        <p:tgtEl>
                                          <p:spTgt spid="6"/>
                                        </p:tgtEl>
                                      </p:cBhvr>
                                    </p:animEffect>
                                  </p:childTnLst>
                                </p:cTn>
                              </p:par>
                              <p:par>
                                <p:cTn id="8" presetID="10" presetClass="entr" presetSubtype="0" fill="hold"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00"/>
                                        <p:tgtEl>
                                          <p:spTgt spid="7"/>
                                        </p:tgtEl>
                                      </p:cBhvr>
                                    </p:animEffect>
                                  </p:childTnLst>
                                </p:cTn>
                              </p:par>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00"/>
                                        <p:tgtEl>
                                          <p:spTgt spid="8"/>
                                        </p:tgtEl>
                                      </p:cBhvr>
                                    </p:animEffect>
                                  </p:childTnLst>
                                </p:cTn>
                              </p:par>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300"/>
                                        <p:tgtEl>
                                          <p:spTgt spid="22"/>
                                        </p:tgtEl>
                                      </p:cBhvr>
                                    </p:animEffect>
                                  </p:childTnLst>
                                </p:cTn>
                              </p:par>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00"/>
                                        <p:tgtEl>
                                          <p:spTgt spid="10"/>
                                        </p:tgtEl>
                                      </p:cBhvr>
                                    </p:animEffect>
                                  </p:childTnLst>
                                </p:cTn>
                              </p:par>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300"/>
                                        <p:tgtEl>
                                          <p:spTgt spid="11"/>
                                        </p:tgtEl>
                                      </p:cBhvr>
                                    </p:animEffect>
                                  </p:childTnLst>
                                </p:cTn>
                              </p:par>
                              <p:par>
                                <p:cTn id="28" presetID="10" presetClass="entr" presetSubtype="0"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300"/>
                                        <p:tgtEl>
                                          <p:spTgt spid="12"/>
                                        </p:tgtEl>
                                      </p:cBhvr>
                                    </p:animEffect>
                                  </p:childTnLst>
                                </p:cTn>
                              </p:par>
                              <p:par>
                                <p:cTn id="31" presetID="10"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3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300"/>
                                        <p:tgtEl>
                                          <p:spTgt spid="23"/>
                                        </p:tgtEl>
                                      </p:cBhvr>
                                    </p:animEffect>
                                  </p:childTnLst>
                                </p:cTn>
                              </p:par>
                              <p:par>
                                <p:cTn id="39" presetID="10"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300"/>
                                        <p:tgtEl>
                                          <p:spTgt spid="14"/>
                                        </p:tgtEl>
                                      </p:cBhvr>
                                    </p:animEffect>
                                  </p:childTnLst>
                                </p:cTn>
                              </p:par>
                              <p:par>
                                <p:cTn id="42" presetID="10" presetClass="entr" presetSubtype="0" fill="hold"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300"/>
                                        <p:tgtEl>
                                          <p:spTgt spid="15"/>
                                        </p:tgtEl>
                                      </p:cBhvr>
                                    </p:animEffect>
                                  </p:childTnLst>
                                </p:cTn>
                              </p:par>
                              <p:par>
                                <p:cTn id="45" presetID="10"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300"/>
                                        <p:tgtEl>
                                          <p:spTgt spid="16"/>
                                        </p:tgtEl>
                                      </p:cBhvr>
                                    </p:animEffect>
                                  </p:childTnLst>
                                </p:cTn>
                              </p:par>
                              <p:par>
                                <p:cTn id="48" presetID="10" presetClass="entr" presetSubtype="0" fill="hold"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300"/>
                                        <p:tgtEl>
                                          <p:spTgt spid="17"/>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300"/>
                                        <p:tgtEl>
                                          <p:spTgt spid="24"/>
                                        </p:tgtEl>
                                      </p:cBhvr>
                                    </p:animEffect>
                                  </p:childTnLst>
                                </p:cTn>
                              </p:par>
                              <p:par>
                                <p:cTn id="56" presetID="10" presetClass="entr" presetSubtype="0" fill="hold"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300"/>
                                        <p:tgtEl>
                                          <p:spTgt spid="18"/>
                                        </p:tgtEl>
                                      </p:cBhvr>
                                    </p:animEffect>
                                  </p:childTnLst>
                                </p:cTn>
                              </p:par>
                              <p:par>
                                <p:cTn id="59" presetID="10" presetClass="entr" presetSubtype="0" fill="hold" nodeType="click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300"/>
                                        <p:tgtEl>
                                          <p:spTgt spid="19"/>
                                        </p:tgtEl>
                                      </p:cBhvr>
                                    </p:animEffect>
                                  </p:childTnLst>
                                </p:cTn>
                              </p:par>
                              <p:par>
                                <p:cTn id="62" presetID="10" presetClass="entr" presetSubtype="0" fill="hold" nodeType="click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300"/>
                                        <p:tgtEl>
                                          <p:spTgt spid="20"/>
                                        </p:tgtEl>
                                      </p:cBhvr>
                                    </p:animEffect>
                                  </p:childTnLst>
                                </p:cTn>
                              </p:par>
                              <p:par>
                                <p:cTn id="65" presetID="10" presetClass="entr" presetSubtype="0" fill="hold"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3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272">
            <a:extLst>
              <a:ext uri="{FF2B5EF4-FFF2-40B4-BE49-F238E27FC236}">
                <ns2:creationId id="{3DF90B3D-2F7C-4A97-A42C-8CB63F76E59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73">
            <a:extLst>
              <a:ext uri="{FF2B5EF4-FFF2-40B4-BE49-F238E27FC236}">
                <ns2:creationId id="{13A4D02D-05C0-43D5-81E6-7B8BF1D5306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275">
            <a:extLst>
              <a:ext uri="{FF2B5EF4-FFF2-40B4-BE49-F238E27FC236}">
                <ns2:creationId id="{1E73F0A4-2DE6-4945-B318-B178C8C42DE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76">
            <a:extLst>
              <a:ext uri="{FF2B5EF4-FFF2-40B4-BE49-F238E27FC236}">
                <ns2:creationId id="{F6F4B64E-0111-45EB-B1E6-9E4D1215C69E}"/>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Sort document descriptions and discuss labels.</a:t>
            </a:r>
          </a:p>
        </p:txBody>
      </p:sp>
      <p:sp>
        <p:nvSpPr>
          <p:cNvPr id="6" name="text-277">
            <a:extLst>
              <a:ext uri="{FF2B5EF4-FFF2-40B4-BE49-F238E27FC236}">
                <ns2:creationId id="{12DB5DEC-6528-454E-ABD0-804241EA963D}"/>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78">
            <a:extLst>
              <a:ext uri="{FF2B5EF4-FFF2-40B4-BE49-F238E27FC236}">
                <ns2:creationId id="{FAA604F3-EF54-4292-83FE-91C536ADB2FB}"/>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Trace inputs through the learned network.</a:t>
            </a:r>
          </a:p>
        </p:txBody>
      </p:sp>
      <p:sp>
        <p:nvSpPr>
          <p:cNvPr id="8" name="text-279">
            <a:extLst>
              <a:ext uri="{FF2B5EF4-FFF2-40B4-BE49-F238E27FC236}">
                <ns2:creationId id="{F14488E0-8186-4D1E-8061-C6E79CE0B681}"/>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80">
            <a:extLst>
              <a:ext uri="{FF2B5EF4-FFF2-40B4-BE49-F238E27FC236}">
                <ns2:creationId id="{DC02AADC-0074-40DF-A2D1-5A978615B377}"/>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Compare a query with clause candidates.</a:t>
            </a:r>
          </a:p>
        </p:txBody>
      </p:sp>
      <p:sp>
        <p:nvSpPr>
          <p:cNvPr id="10" name="text-281">
            <a:extLst>
              <a:ext uri="{FF2B5EF4-FFF2-40B4-BE49-F238E27FC236}">
                <ns2:creationId id="{EAD4DBD6-6644-4D94-8C32-7B3CCD0BAD19}"/>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282">
            <a:extLst>
              <a:ext uri="{FF2B5EF4-FFF2-40B4-BE49-F238E27FC236}">
                <ns2:creationId id="{DC7F657E-602D-45B5-93C4-8AC0E94F0627}"/>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Distinguish an upload from a training update.</a:t>
            </a:r>
          </a:p>
        </p:txBody>
      </p:sp>
      <p:sp>
        <p:nvSpPr>
          <p:cNvPr id="12" name="text-283">
            <a:extLst>
              <a:ext uri="{FF2B5EF4-FFF2-40B4-BE49-F238E27FC236}">
                <ns2:creationId id="{75E34549-18F3-41E8-8A11-8E8BCC792536}"/>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274">
            <a:extLst>
              <a:ext uri="{FF2B5EF4-FFF2-40B4-BE49-F238E27FC236}">
                <ns2:creationId id="{A4DE6214-4ED4-4510-9A16-2EF661034ED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16</a:t>
            </a:r>
          </a:p>
        </p:txBody>
      </p:sp>
    </p:spTree>
    <p:extLst>
      <p:ext uri="{BB962C8B-B14F-4D97-AF65-F5344CB8AC3E}">
        <ns3:creationId val="750077875"/>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284">
            <a:extLst>
              <a:ext uri="{FF2B5EF4-FFF2-40B4-BE49-F238E27FC236}">
                <ns2:creationId id="{26C107F6-DA5B-4168-9DBB-D293719D735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85">
            <a:extLst>
              <a:ext uri="{FF2B5EF4-FFF2-40B4-BE49-F238E27FC236}">
                <ns2:creationId id="{E03A2FFE-FD48-4C40-BECC-5CEEE24F14A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287">
            <a:extLst>
              <a:ext uri="{FF2B5EF4-FFF2-40B4-BE49-F238E27FC236}">
                <ns2:creationId id="{81909E53-7C28-4BAA-ACED-E6E11C30128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88">
            <a:extLst>
              <a:ext uri="{FF2B5EF4-FFF2-40B4-BE49-F238E27FC236}">
                <ns2:creationId id="{042FFC21-ADA4-4170-8F9E-440661D39796}"/>
              </a:ext>
            </a:extLst>
          </p:cNvPr>
          <p:cNvSpPr>
            <a:spLocks noGrp="1"/>
          </p:cNvSpPr>
          <p:nvPr/>
        </p:nvSpPr>
        <p:spPr>
          <a:xfrm>
            <a:off x="1285875" y="1943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Training adjusts parameters; inference uses them. Tokens are input units; embeddings are numerical representations. Similarity proposes candidates and does not decide legal equivalence.</a:t>
            </a:r>
          </a:p>
        </p:txBody>
      </p:sp>
      <p:sp>
        <p:nvSpPr>
          <p:cNvPr id="6" name="text-289">
            <a:extLst>
              <a:ext uri="{FF2B5EF4-FFF2-40B4-BE49-F238E27FC236}">
                <ns2:creationId id="{48C58D63-E1E0-444A-B846-FBE6B599DD97}"/>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90">
            <a:extLst>
              <a:ext uri="{FF2B5EF4-FFF2-40B4-BE49-F238E27FC236}">
                <ns2:creationId id="{C2935EDC-D86B-45E4-A4FA-ADE4E0BACB12}"/>
              </a:ext>
            </a:extLst>
          </p:cNvPr>
          <p:cNvSpPr>
            <a:spLocks noGrp="1"/>
          </p:cNvSpPr>
          <p:nvPr/>
        </p:nvSpPr>
        <p:spPr>
          <a:xfrm>
            <a:off x="1285875" y="3848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visual coordinates and neural values are illustrative, not measurements from a deployed model.</a:t>
            </a:r>
          </a:p>
        </p:txBody>
      </p:sp>
      <p:sp>
        <p:nvSpPr>
          <p:cNvPr id="3" name="text-286">
            <a:extLst>
              <a:ext uri="{FF2B5EF4-FFF2-40B4-BE49-F238E27FC236}">
                <ns2:creationId id="{E7433BC7-ABF9-47F8-97A1-7E5E2E4700F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17</a:t>
            </a:r>
          </a:p>
        </p:txBody>
      </p:sp>
    </p:spTree>
    <p:extLst>
      <p:ext uri="{BB962C8B-B14F-4D97-AF65-F5344CB8AC3E}">
        <ns3:creationId val="1711251253"/>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291">
            <a:extLst>
              <a:ext uri="{FF2B5EF4-FFF2-40B4-BE49-F238E27FC236}">
                <ns2:creationId id="{65D18CBD-08BC-4597-895F-073F5F032AE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92">
            <a:extLst>
              <a:ext uri="{FF2B5EF4-FFF2-40B4-BE49-F238E27FC236}">
                <ns2:creationId id="{285666D9-9BCC-4803-B8C3-9DFA61A3328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294">
            <a:extLst>
              <a:ext uri="{FF2B5EF4-FFF2-40B4-BE49-F238E27FC236}">
                <ns2:creationId id="{2E1EB165-1255-490C-AAB5-E15B6160C2F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95">
            <a:extLst>
              <a:ext uri="{FF2B5EF4-FFF2-40B4-BE49-F238E27FC236}">
                <ns2:creationId id="{32B7442D-0926-462C-98FF-5F66EC136AE4}"/>
              </a:ext>
            </a:extLst>
          </p:cNvPr>
          <p:cNvSpPr>
            <a:spLocks noGrp="1"/>
          </p:cNvSpPr>
          <p:nvPr/>
        </p:nvSpPr>
        <p:spPr>
          <a:xfrm>
            <a:off x="1285875" y="1943100"/>
            <a:ext cx="10191750"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Require vendors to explain training, source access and evaluation as separate matters.</a:t>
            </a:r>
          </a:p>
        </p:txBody>
      </p:sp>
      <p:sp>
        <p:nvSpPr>
          <p:cNvPr id="6" name="text-296">
            <a:extLst>
              <a:ext uri="{FF2B5EF4-FFF2-40B4-BE49-F238E27FC236}">
                <ns2:creationId id="{8106D26B-3193-45E0-9670-51561044DF89}"/>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293">
            <a:extLst>
              <a:ext uri="{FF2B5EF4-FFF2-40B4-BE49-F238E27FC236}">
                <ns2:creationId id="{D06CFE25-6F34-4076-81FE-25A05EB0D0E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18</a:t>
            </a:r>
          </a:p>
        </p:txBody>
      </p:sp>
    </p:spTree>
    <p:extLst>
      <p:ext uri="{BB962C8B-B14F-4D97-AF65-F5344CB8AC3E}">
        <ns3:creationId val="779863246"/>
      </p:ext>
    </p:extLst>
  </p:cSld>
  <p:transition spd="med" advClick="1">
    <p:fade/>
  </p:transition>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297">
            <a:extLst>
              <a:ext uri="{FF2B5EF4-FFF2-40B4-BE49-F238E27FC236}">
                <ns2:creationId id="{2E77E87C-928D-4938-BE45-EE3EAE45E1F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298">
            <a:extLst>
              <a:ext uri="{FF2B5EF4-FFF2-40B4-BE49-F238E27FC236}">
                <ns2:creationId id="{AE32B1B0-A454-4FC6-911D-2ED560D482F1}"/>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300">
            <a:extLst>
              <a:ext uri="{FF2B5EF4-FFF2-40B4-BE49-F238E27FC236}">
                <ns2:creationId id="{26B97063-B9F0-4A01-AB4D-66A329D4516A}"/>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01">
            <a:extLst>
              <a:ext uri="{FF2B5EF4-FFF2-40B4-BE49-F238E27FC236}">
                <ns2:creationId id="{F7990C0B-1FF7-441D-A2A5-4D76B9D69354}"/>
              </a:ext>
            </a:extLst>
          </p:cNvPr>
          <p:cNvSpPr>
            <a:spLocks noGrp="1"/>
          </p:cNvSpPr>
          <p:nvPr/>
        </p:nvSpPr>
        <p:spPr>
          <a:xfrm>
            <a:off x="1285875" y="194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Does a token ID near another token ID establish similar meaning?</a:t>
            </a:r>
          </a:p>
        </p:txBody>
      </p:sp>
      <p:sp>
        <p:nvSpPr>
          <p:cNvPr id="6" name="text-302">
            <a:extLst>
              <a:ext uri="{FF2B5EF4-FFF2-40B4-BE49-F238E27FC236}">
                <ns2:creationId id="{59CA7560-527B-4E9B-9489-BD8D8C81C53D}"/>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03">
            <a:extLst>
              <a:ext uri="{FF2B5EF4-FFF2-40B4-BE49-F238E27FC236}">
                <ns2:creationId id="{50A2C1B2-16E9-4462-A60A-FB3E90D2202F}"/>
              </a:ext>
            </a:extLst>
          </p:cNvPr>
          <p:cNvSpPr>
            <a:spLocks noGrp="1"/>
          </p:cNvSpPr>
          <p:nvPr/>
        </p:nvSpPr>
        <p:spPr>
          <a:xfrm>
            <a:off x="1285875" y="321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Why can charge mean security in one sentence and accusation in another?</a:t>
            </a:r>
          </a:p>
        </p:txBody>
      </p:sp>
      <p:sp>
        <p:nvSpPr>
          <p:cNvPr id="8" name="text-304">
            <a:extLst>
              <a:ext uri="{FF2B5EF4-FFF2-40B4-BE49-F238E27FC236}">
                <ns2:creationId id="{17FFB15B-DDDC-46BE-8168-13B93D7A1D6F}"/>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05">
            <a:extLst>
              <a:ext uri="{FF2B5EF4-FFF2-40B4-BE49-F238E27FC236}">
                <ns2:creationId id="{F41A507A-E778-48F4-9901-D3A43FF4A2C8}"/>
              </a:ext>
            </a:extLst>
          </p:cNvPr>
          <p:cNvSpPr>
            <a:spLocks noGrp="1"/>
          </p:cNvSpPr>
          <p:nvPr/>
        </p:nvSpPr>
        <p:spPr>
          <a:xfrm>
            <a:off x="1285875" y="448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What changes during training rather than ordinary inference?</a:t>
            </a:r>
          </a:p>
        </p:txBody>
      </p:sp>
      <p:sp>
        <p:nvSpPr>
          <p:cNvPr id="3" name="text-299">
            <a:extLst>
              <a:ext uri="{FF2B5EF4-FFF2-40B4-BE49-F238E27FC236}">
                <ns2:creationId id="{C6E8B2EF-B9E3-4A2C-9F76-A8FE0D528BF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19</a:t>
            </a:r>
          </a:p>
        </p:txBody>
      </p:sp>
    </p:spTree>
    <p:extLst>
      <p:ext uri="{BB962C8B-B14F-4D97-AF65-F5344CB8AC3E}">
        <ns3:creationId val="322464433"/>
      </p:ext>
    </p:extLst>
  </p:cSld>
  <p:transition spd="med" advClick="1">
    <p:fade/>
  </p:transition>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name="A labelled document example">
    <p:bg>
      <p:bgPr>
        <a:solidFill>
          <a:srgbClr val="FFFFFF"/>
        </a:solidFill>
      </p:bgPr>
    </p:bg>
    <p:spTree>
      <p:nvGrpSpPr>
        <p:cNvPr id="1" name=""/>
        <p:cNvGrpSpPr/>
        <p:nvPr/>
      </p:nvGrpSpPr>
      <p:grpSpPr>
        <a:xfrm/>
      </p:grpSpPr>
      <p:sp>
        <p:nvSpPr>
          <p:cNvPr id="6" name="text-306">
            <a:extLst>
              <a:ext uri="{FF2B5EF4-FFF2-40B4-BE49-F238E27FC236}">
                <ns2:creationId id="{00AB32A0-8343-4247-840F-0551E034184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307">
            <a:extLst>
              <a:ext uri="{FF2B5EF4-FFF2-40B4-BE49-F238E27FC236}">
                <ns2:creationId id="{DA66DE48-4FD9-4871-B49C-5155FB1EE70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labelled document example</a:t>
            </a:r>
          </a:p>
        </p:txBody>
      </p:sp>
      <p:graphicFrame>
        <p:nvGraphicFramePr>
          <p:cNvPr id="4" name="">
            <a:extLst>
              <a:ext uri="{FF2B5EF4-FFF2-40B4-BE49-F238E27FC236}">
                <ns2:creationId id="{F00CEB61-74F7-4C62-BEA1-AA4085069DEA}"/>
              </a:ext>
            </a:extLst>
          </p:cNvPr>
          <p:cNvGraphicFramePr/>
          <p:nvPr/>
        </p:nvGraphicFramePr>
        <p:xfrm>
          <a:off x="619125" y="1933575"/>
          <a:ext cx="10953750" cy="2857500"/>
        </p:xfrm>
        <a:graphic>
          <a:graphicData uri="http://schemas.openxmlformats.org/drawingml/2006/table">
            <a:tbl>
              <a:tblPr/>
              <a:tblGrid>
                <a:gridCol w="5476875"/>
                <a:gridCol w="5476875"/>
              </a:tblGrid>
              <a:tr h="714375">
                <a:tc>
                  <a:txBody>
                    <a:bodyPr/>
                    <a:lstStyle/>
                    <a:p>
                      <a:r>
                        <a:rPr sz="1875" b="1">
                          <a:solidFill>
                            <a:srgbClr val="FFFFFF"/>
                          </a:solidFill>
                          <a:latin typeface="Calibri"/>
                          <a:ea typeface="Calibri"/>
                          <a:cs typeface="Calibri"/>
                        </a:rPr>
                        <a:t>Input document</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Target label</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14375">
                <a:tc>
                  <a:txBody>
                    <a:bodyPr/>
                    <a:lstStyle/>
                    <a:p>
                      <a:r>
                        <a:rPr sz="1875" b="0">
                          <a:solidFill>
                            <a:srgbClr val="1C3144"/>
                          </a:solidFill>
                          <a:latin typeface="Calibri"/>
                          <a:ea typeface="Calibri"/>
                          <a:cs typeface="Calibri"/>
                        </a:rPr>
                        <a:t>Service terms and signature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Service agreement</a:t>
                      </a:r>
                    </a:p>
                  </a:txBody>
                  <a:tcPr marL="91440" marR="91440" marT="45720" marB="45720">
                    <a:lnR w="9525">
                      <a:solidFill>
                        <a:srgbClr val="C9D5DA"/>
                      </a:solidFill>
                      <a:prstDash val="solid"/>
                    </a:lnR>
                    <a:lnB w="9525">
                      <a:solidFill>
                        <a:srgbClr val="C9D5DA"/>
                      </a:solidFill>
                      <a:prstDash val="solid"/>
                    </a:lnB>
                    <a:solidFill>
                      <a:srgbClr val="F1F5F6"/>
                    </a:solidFill>
                  </a:tcPr>
                </a:tc>
              </a:tr>
              <a:tr h="714375">
                <a:tc>
                  <a:txBody>
                    <a:bodyPr/>
                    <a:lstStyle/>
                    <a:p>
                      <a:r>
                        <a:rPr sz="1875" b="0">
                          <a:solidFill>
                            <a:srgbClr val="1C3144"/>
                          </a:solidFill>
                          <a:latin typeface="Calibri"/>
                          <a:ea typeface="Calibri"/>
                          <a:cs typeface="Calibri"/>
                        </a:rPr>
                        <a:t>Employment terms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Employment agreement</a:t>
                      </a:r>
                    </a:p>
                  </a:txBody>
                  <a:tcPr marL="91440" marR="91440" marT="45720" marB="45720">
                    <a:lnR w="9525">
                      <a:solidFill>
                        <a:srgbClr val="C9D5DA"/>
                      </a:solidFill>
                      <a:prstDash val="solid"/>
                    </a:lnR>
                    <a:lnB w="9525">
                      <a:solidFill>
                        <a:srgbClr val="C9D5DA"/>
                      </a:solidFill>
                      <a:prstDash val="solid"/>
                    </a:lnB>
                    <a:solidFill>
                      <a:srgbClr val="FFFFFF"/>
                    </a:solidFill>
                  </a:tcPr>
                </a:tc>
              </a:tr>
              <a:tr h="714375">
                <a:tc>
                  <a:txBody>
                    <a:bodyPr/>
                    <a:lstStyle/>
                    <a:p>
                      <a:r>
                        <a:rPr sz="1875" b="0">
                          <a:solidFill>
                            <a:srgbClr val="1C3144"/>
                          </a:solidFill>
                          <a:latin typeface="Calibri"/>
                          <a:ea typeface="Calibri"/>
                          <a:cs typeface="Calibri"/>
                        </a:rPr>
                        <a:t>Invoice number and amount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Invoice</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5" name="text-309">
            <a:extLst>
              <a:ext uri="{FF2B5EF4-FFF2-40B4-BE49-F238E27FC236}">
                <ns2:creationId id="{431BF611-513C-4B47-B876-D8DEB15D9680}"/>
              </a:ext>
            </a:extLst>
          </p:cNvPr>
          <p:cNvSpPr>
            <a:spLocks noGrp="1"/>
          </p:cNvSpPr>
          <p:nvPr/>
        </p:nvSpPr>
        <p:spPr>
          <a:xfrm>
            <a:off x="619125" y="5219700"/>
            <a:ext cx="10953750" cy="628650"/>
          </a:xfrm>
          <a:prstGeom prst="rect">
            <a:avLst/>
          </a:prstGeom>
          <a:noFill/>
          <a:ln w="0">
            <a:noFill/>
          </a:ln>
        </p:spPr>
        <p:txBody>
          <a:bodyPr>
            <a:noAutofit/>
          </a:bodyPr>
          <a:lstStyle>
            <a:defPPr>
              <a:defRPr sz="2175" b="1">
                <a:solidFill>
                  <a:srgbClr val="C94E29"/>
                </a:solidFill>
                <a:latin typeface="Calibri"/>
                <a:ea typeface="Calibri"/>
                <a:cs typeface="Calibri"/>
              </a:defRPr>
            </a:defPPr>
            <a:lvl1pPr>
              <a:defRPr sz="2175" b="1">
                <a:solidFill>
                  <a:srgbClr val="C94E29"/>
                </a:solidFill>
                <a:latin typeface="Calibri"/>
                <a:ea typeface="Calibri"/>
                <a:cs typeface="Calibri"/>
              </a:defRPr>
            </a:lvl1pPr>
            <a:lvl2pPr>
              <a:defRPr sz="2175" b="1">
                <a:solidFill>
                  <a:srgbClr val="C94E29"/>
                </a:solidFill>
                <a:latin typeface="Calibri"/>
                <a:ea typeface="Calibri"/>
                <a:cs typeface="Calibri"/>
              </a:defRPr>
            </a:lvl2pPr>
            <a:lvl3pPr>
              <a:defRPr sz="2175" b="1">
                <a:solidFill>
                  <a:srgbClr val="C94E29"/>
                </a:solidFill>
                <a:latin typeface="Calibri"/>
                <a:ea typeface="Calibri"/>
                <a:cs typeface="Calibri"/>
              </a:defRPr>
            </a:lvl3pPr>
            <a:lvl4pPr>
              <a:defRPr sz="2175" b="1">
                <a:solidFill>
                  <a:srgbClr val="C94E29"/>
                </a:solidFill>
                <a:latin typeface="Calibri"/>
                <a:ea typeface="Calibri"/>
                <a:cs typeface="Calibri"/>
              </a:defRPr>
            </a:lvl4pPr>
            <a:lvl5pPr>
              <a:defRPr sz="2175" b="1">
                <a:solidFill>
                  <a:srgbClr val="C94E29"/>
                </a:solidFill>
                <a:latin typeface="Calibri"/>
                <a:ea typeface="Calibri"/>
                <a:cs typeface="Calibri"/>
              </a:defRPr>
            </a:lvl5pPr>
            <a:lvl6pPr>
              <a:defRPr sz="2175" b="1">
                <a:solidFill>
                  <a:srgbClr val="C94E29"/>
                </a:solidFill>
                <a:latin typeface="Calibri"/>
                <a:ea typeface="Calibri"/>
                <a:cs typeface="Calibri"/>
              </a:defRPr>
            </a:lvl6pPr>
            <a:lvl7pPr>
              <a:defRPr sz="2175" b="1">
                <a:solidFill>
                  <a:srgbClr val="C94E29"/>
                </a:solidFill>
                <a:latin typeface="Calibri"/>
                <a:ea typeface="Calibri"/>
                <a:cs typeface="Calibri"/>
              </a:defRPr>
            </a:lvl7pPr>
            <a:lvl8pPr>
              <a:defRPr sz="2175" b="1">
                <a:solidFill>
                  <a:srgbClr val="C94E29"/>
                </a:solidFill>
                <a:latin typeface="Calibri"/>
                <a:ea typeface="Calibri"/>
                <a:cs typeface="Calibri"/>
              </a:defRPr>
            </a:lvl8pPr>
            <a:lvl9pPr>
              <a:defRPr sz="2175" b="1">
                <a:solidFill>
                  <a:srgbClr val="C94E29"/>
                </a:solidFill>
                <a:latin typeface="Calibri"/>
                <a:ea typeface="Calibri"/>
                <a:cs typeface="Calibri"/>
              </a:defRPr>
            </a:lvl9pPr>
          </a:lstStyle>
          <a:p>
            <a:pPr>
              <a:defRPr sz="2175" b="1">
                <a:solidFill>
                  <a:srgbClr val="C94E29"/>
                </a:solidFill>
                <a:latin typeface="Calibri"/>
                <a:ea typeface="Calibri"/>
                <a:cs typeface="Calibri"/>
              </a:defRPr>
            </a:pPr>
            <a:r>
              <a:rPr sz="2175" b="1">
                <a:solidFill>
                  <a:srgbClr val="C94E29"/>
                </a:solidFill>
                <a:latin typeface="Calibri"/>
                <a:ea typeface="Calibri"/>
                <a:cs typeface="Calibri"/>
              </a:rPr>
              <a:t>These illustrative rows do not train or validate a classifier.</a:t>
            </a:r>
          </a:p>
        </p:txBody>
      </p:sp>
      <p:sp>
        <p:nvSpPr>
          <p:cNvPr id="3" name="text-308">
            <a:extLst>
              <a:ext uri="{FF2B5EF4-FFF2-40B4-BE49-F238E27FC236}">
                <ns2:creationId id="{515BAD80-8D9D-44DD-8560-7E929B93E0A7}"/>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20   OPTIONAL EXPLORATION</a:t>
            </a:r>
          </a:p>
        </p:txBody>
      </p:sp>
    </p:spTree>
    <p:extLst>
      <p:ext uri="{BB962C8B-B14F-4D97-AF65-F5344CB8AC3E}">
        <ns3:creationId val="18278264"/>
      </p:ext>
    </p:extLst>
  </p:cSld>
  <p:transition spd="med" advClick="1">
    <p:fade/>
  </p:transition>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name="Neural network">
    <p:bg>
      <p:bgPr>
        <a:solidFill>
          <a:srgbClr val="FFFFFF"/>
        </a:solidFill>
      </p:bgPr>
    </p:bg>
    <p:spTree>
      <p:nvGrpSpPr>
        <p:cNvPr id="1" name=""/>
        <p:cNvGrpSpPr/>
        <p:nvPr/>
      </p:nvGrpSpPr>
      <p:grpSpPr>
        <a:xfrm/>
      </p:grpSpPr>
      <p:sp>
        <p:nvSpPr>
          <p:cNvPr id="7" name="text-310">
            <a:extLst>
              <a:ext uri="{FF2B5EF4-FFF2-40B4-BE49-F238E27FC236}">
                <ns2:creationId id="{4F5EFFC0-ED97-4221-9F3A-C42A097C7AC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311">
            <a:extLst>
              <a:ext uri="{FF2B5EF4-FFF2-40B4-BE49-F238E27FC236}">
                <ns2:creationId id="{A399D3BC-7D7C-4D91-B84F-D4A4BF6EE6A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Neural network</a:t>
            </a:r>
          </a:p>
        </p:txBody>
      </p:sp>
      <p:sp>
        <p:nvSpPr>
          <p:cNvPr id="4" name="text-313">
            <a:extLst>
              <a:ext uri="{FF2B5EF4-FFF2-40B4-BE49-F238E27FC236}">
                <ns2:creationId id="{E079389B-895E-45F4-92C6-FC0F3F78B891}"/>
              </a:ext>
            </a:extLst>
          </p:cNvPr>
          <p:cNvSpPr>
            <a:spLocks noGrp="1"/>
          </p:cNvSpPr>
          <p:nvPr/>
        </p:nvSpPr>
        <p:spPr>
          <a:xfrm>
            <a:off x="619125" y="1933575"/>
            <a:ext cx="10953750"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A neural network is a model composed of connected computational units that transform inputs using parameters, usually including nonlinear functions.</a:t>
            </a:r>
          </a:p>
        </p:txBody>
      </p:sp>
      <p:sp>
        <p:nvSpPr>
          <p:cNvPr id="5" name="text-314">
            <a:extLst>
              <a:ext uri="{FF2B5EF4-FFF2-40B4-BE49-F238E27FC236}">
                <ns2:creationId id="{9D9AC90C-8F8C-4511-81E3-8C00339CA6B2}"/>
              </a:ext>
            </a:extLst>
          </p:cNvPr>
          <p:cNvSpPr>
            <a:spLocks noGrp="1"/>
          </p:cNvSpPr>
          <p:nvPr/>
        </p:nvSpPr>
        <p:spPr>
          <a:xfrm>
            <a:off x="619125" y="4476750"/>
            <a:ext cx="10953750"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315">
            <a:extLst>
              <a:ext uri="{FF2B5EF4-FFF2-40B4-BE49-F238E27FC236}">
                <ns2:creationId id="{DEDAC629-0D48-42BD-915F-0BB86CD44FD0}"/>
              </a:ext>
            </a:extLst>
          </p:cNvPr>
          <p:cNvSpPr>
            <a:spLocks noGrp="1"/>
          </p:cNvSpPr>
          <p:nvPr/>
        </p:nvSpPr>
        <p:spPr>
          <a:xfrm>
            <a:off x="619125" y="4962525"/>
            <a:ext cx="10953750"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An agreement classifier can transform document features into scores for agreement and invoice.</a:t>
            </a:r>
          </a:p>
        </p:txBody>
      </p:sp>
      <p:sp>
        <p:nvSpPr>
          <p:cNvPr id="3" name="text-312">
            <a:extLst>
              <a:ext uri="{FF2B5EF4-FFF2-40B4-BE49-F238E27FC236}">
                <ns2:creationId id="{7E7205EE-7F4A-468A-944E-8B88A490FCA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21   OPTIONAL EXPLORATION</a:t>
            </a:r>
          </a:p>
        </p:txBody>
      </p:sp>
    </p:spTree>
    <p:extLst>
      <p:ext uri="{BB962C8B-B14F-4D97-AF65-F5344CB8AC3E}">
        <ns3:creationId val="1096862886"/>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name="Words become model inputs">
    <p:bg>
      <p:bgPr>
        <a:solidFill>
          <a:srgbClr val="FFFFFF"/>
        </a:solidFill>
      </p:bgPr>
    </p:bg>
    <p:spTree>
      <p:nvGrpSpPr>
        <p:cNvPr id="1" name=""/>
        <p:cNvGrpSpPr/>
        <p:nvPr/>
      </p:nvGrpSpPr>
      <p:grpSpPr>
        <a:xfrm/>
      </p:grpSpPr>
      <p:sp>
        <p:nvSpPr>
          <p:cNvPr id="6" name="text-316">
            <a:extLst>
              <a:ext uri="{FF2B5EF4-FFF2-40B4-BE49-F238E27FC236}">
                <ns2:creationId id="{19922F21-37F6-4C49-B78E-B86A94B9D92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317">
            <a:extLst>
              <a:ext uri="{FF2B5EF4-FFF2-40B4-BE49-F238E27FC236}">
                <ns2:creationId id="{7A51EB76-376C-4CEB-83BE-487F12CE0E0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Words become model inputs</a:t>
            </a:r>
          </a:p>
        </p:txBody>
      </p:sp>
      <p:graphicFrame>
        <p:nvGraphicFramePr>
          <p:cNvPr id="4" name="">
            <a:extLst>
              <a:ext uri="{FF2B5EF4-FFF2-40B4-BE49-F238E27FC236}">
                <ns2:creationId id="{B72CFD7D-0B55-49AE-BE89-AED1C39B0B1F}"/>
              </a:ext>
            </a:extLst>
          </p:cNvPr>
          <p:cNvGraphicFramePr/>
          <p:nvPr/>
        </p:nvGraphicFramePr>
        <p:xfrm>
          <a:off x="619125" y="1933575"/>
          <a:ext cx="10953750" cy="3333750"/>
        </p:xfrm>
        <a:graphic>
          <a:graphicData uri="http://schemas.openxmlformats.org/drawingml/2006/table">
            <a:tbl>
              <a:tblPr/>
              <a:tblGrid>
                <a:gridCol w="3651250"/>
                <a:gridCol w="3651250"/>
                <a:gridCol w="3651250"/>
              </a:tblGrid>
              <a:tr h="666750">
                <a:tc>
                  <a:txBody>
                    <a:bodyPr/>
                    <a:lstStyle/>
                    <a:p>
                      <a:r>
                        <a:rPr sz="1875" b="1">
                          <a:solidFill>
                            <a:srgbClr val="FFFFFF"/>
                          </a:solidFill>
                          <a:latin typeface="Calibri"/>
                          <a:ea typeface="Calibri"/>
                          <a:cs typeface="Calibri"/>
                        </a:rPr>
                        <a:t>Schematic token</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Illustrative ID</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Representation</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666750">
                <a:tc>
                  <a:txBody>
                    <a:bodyPr/>
                    <a:lstStyle/>
                    <a:p>
                      <a:r>
                        <a:rPr sz="1875" b="0">
                          <a:solidFill>
                            <a:srgbClr val="1C3144"/>
                          </a:solidFill>
                          <a:latin typeface="Calibri"/>
                          <a:ea typeface="Calibri"/>
                          <a:cs typeface="Calibri"/>
                        </a:rPr>
                        <a:t>The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103</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 learned numerical vector</a:t>
                      </a:r>
                    </a:p>
                  </a:txBody>
                  <a:tcPr marL="91440" marR="91440" marT="45720" marB="45720">
                    <a:lnR w="9525">
                      <a:solidFill>
                        <a:srgbClr val="C9D5DA"/>
                      </a:solidFill>
                      <a:prstDash val="solid"/>
                    </a:lnR>
                    <a:lnB w="9525">
                      <a:solidFill>
                        <a:srgbClr val="C9D5DA"/>
                      </a:solidFill>
                      <a:prstDash val="solid"/>
                    </a:lnB>
                    <a:solidFill>
                      <a:srgbClr val="F1F5F6"/>
                    </a:solidFill>
                  </a:tcPr>
                </a:tc>
              </a:tr>
              <a:tr h="666750">
                <a:tc>
                  <a:txBody>
                    <a:bodyPr/>
                    <a:lstStyle/>
                    <a:p>
                      <a:r>
                        <a:rPr sz="1875" b="0">
                          <a:solidFill>
                            <a:srgbClr val="1C3144"/>
                          </a:solidFill>
                          <a:latin typeface="Calibri"/>
                          <a:ea typeface="Calibri"/>
                          <a:cs typeface="Calibri"/>
                        </a:rPr>
                        <a:t>provider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285</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 learned numerical vector</a:t>
                      </a:r>
                    </a:p>
                  </a:txBody>
                  <a:tcPr marL="91440" marR="91440" marT="45720" marB="45720">
                    <a:lnR w="9525">
                      <a:solidFill>
                        <a:srgbClr val="C9D5DA"/>
                      </a:solidFill>
                      <a:prstDash val="solid"/>
                    </a:lnR>
                    <a:lnB w="9525">
                      <a:solidFill>
                        <a:srgbClr val="C9D5DA"/>
                      </a:solidFill>
                      <a:prstDash val="solid"/>
                    </a:lnB>
                    <a:solidFill>
                      <a:srgbClr val="FFFFFF"/>
                    </a:solidFill>
                  </a:tcPr>
                </a:tc>
              </a:tr>
              <a:tr h="666750">
                <a:tc>
                  <a:txBody>
                    <a:bodyPr/>
                    <a:lstStyle/>
                    <a:p>
                      <a:r>
                        <a:rPr sz="1875" b="0">
                          <a:solidFill>
                            <a:srgbClr val="1C3144"/>
                          </a:solidFill>
                          <a:latin typeface="Calibri"/>
                          <a:ea typeface="Calibri"/>
                          <a:cs typeface="Calibri"/>
                        </a:rPr>
                        <a:t>remains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914</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 learned numerical vector</a:t>
                      </a:r>
                    </a:p>
                  </a:txBody>
                  <a:tcPr marL="91440" marR="91440" marT="45720" marB="45720">
                    <a:lnR w="9525">
                      <a:solidFill>
                        <a:srgbClr val="C9D5DA"/>
                      </a:solidFill>
                      <a:prstDash val="solid"/>
                    </a:lnR>
                    <a:lnB w="9525">
                      <a:solidFill>
                        <a:srgbClr val="C9D5DA"/>
                      </a:solidFill>
                      <a:prstDash val="solid"/>
                    </a:lnB>
                    <a:solidFill>
                      <a:srgbClr val="F1F5F6"/>
                    </a:solidFill>
                  </a:tcPr>
                </a:tc>
              </a:tr>
              <a:tr h="666750">
                <a:tc>
                  <a:txBody>
                    <a:bodyPr/>
                    <a:lstStyle/>
                    <a:p>
                      <a:r>
                        <a:rPr sz="1875" b="0">
                          <a:solidFill>
                            <a:srgbClr val="1C3144"/>
                          </a:solidFill>
                          <a:latin typeface="Calibri"/>
                          <a:ea typeface="Calibri"/>
                          <a:cs typeface="Calibri"/>
                        </a:rPr>
                        <a:t>responsible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602</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 learned numerical vector</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5" name="text-319">
            <a:extLst>
              <a:ext uri="{FF2B5EF4-FFF2-40B4-BE49-F238E27FC236}">
                <ns2:creationId id="{909CC650-6EFA-4357-82FC-82745157B932}"/>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Token boundaries and identifiers are illustrative. Numeric ID proximity does not measure meaning.</a:t>
            </a:r>
          </a:p>
        </p:txBody>
      </p:sp>
      <p:sp>
        <p:nvSpPr>
          <p:cNvPr id="3" name="text-318">
            <a:extLst>
              <a:ext uri="{FF2B5EF4-FFF2-40B4-BE49-F238E27FC236}">
                <ns2:creationId id="{3187530C-C1F5-49EF-B27D-BF3E94F0F96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22   OPTIONAL EXPLORATION</a:t>
            </a:r>
          </a:p>
        </p:txBody>
      </p:sp>
    </p:spTree>
    <p:extLst>
      <p:ext uri="{BB962C8B-B14F-4D97-AF65-F5344CB8AC3E}">
        <ns3:creationId val="816009441"/>
      </p:ext>
    </p:extLst>
  </p:cSld>
  <p:transition spd="med" advClick="1">
    <p:fade/>
  </p:transition>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name="Foundation model">
    <p:bg>
      <p:bgPr>
        <a:solidFill>
          <a:srgbClr val="FFFFFF"/>
        </a:solidFill>
      </p:bgPr>
    </p:bg>
    <p:spTree>
      <p:nvGrpSpPr>
        <p:cNvPr id="1" name=""/>
        <p:cNvGrpSpPr/>
        <p:nvPr/>
      </p:nvGrpSpPr>
      <p:grpSpPr>
        <a:xfrm/>
      </p:grpSpPr>
      <p:sp>
        <p:nvSpPr>
          <p:cNvPr id="7" name="text-320">
            <a:extLst>
              <a:ext uri="{FF2B5EF4-FFF2-40B4-BE49-F238E27FC236}">
                <ns2:creationId id="{B40658D3-055D-47EF-A665-A5B58E75622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321">
            <a:extLst>
              <a:ext uri="{FF2B5EF4-FFF2-40B4-BE49-F238E27FC236}">
                <ns2:creationId id="{F4AB8978-B302-4F23-A8DA-1192E0C8B2B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Foundation model</a:t>
            </a:r>
          </a:p>
        </p:txBody>
      </p:sp>
      <p:sp>
        <p:nvSpPr>
          <p:cNvPr id="4" name="text-323">
            <a:extLst>
              <a:ext uri="{FF2B5EF4-FFF2-40B4-BE49-F238E27FC236}">
                <ns2:creationId id="{9F69BC6A-9057-4888-B6B3-6203DFEF8809}"/>
              </a:ext>
            </a:extLst>
          </p:cNvPr>
          <p:cNvSpPr>
            <a:spLocks noGrp="1"/>
          </p:cNvSpPr>
          <p:nvPr/>
        </p:nvSpPr>
        <p:spPr>
          <a:xfrm>
            <a:off x="619125" y="1933575"/>
            <a:ext cx="10953750"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A foundation model is trained on broad data and can be adapted to many downstream tasks, through prompting or further training.</a:t>
            </a:r>
          </a:p>
        </p:txBody>
      </p:sp>
      <p:sp>
        <p:nvSpPr>
          <p:cNvPr id="5" name="text-324">
            <a:extLst>
              <a:ext uri="{FF2B5EF4-FFF2-40B4-BE49-F238E27FC236}">
                <ns2:creationId id="{D4C99324-D0EE-4ED0-ADC2-AC59AB771000}"/>
              </a:ext>
            </a:extLst>
          </p:cNvPr>
          <p:cNvSpPr>
            <a:spLocks noGrp="1"/>
          </p:cNvSpPr>
          <p:nvPr/>
        </p:nvSpPr>
        <p:spPr>
          <a:xfrm>
            <a:off x="619125" y="4476750"/>
            <a:ext cx="10953750"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325">
            <a:extLst>
              <a:ext uri="{FF2B5EF4-FFF2-40B4-BE49-F238E27FC236}">
                <ns2:creationId id="{4D4004CD-8E37-4CD9-AFE7-B976430252B5}"/>
              </a:ext>
            </a:extLst>
          </p:cNvPr>
          <p:cNvSpPr>
            <a:spLocks noGrp="1"/>
          </p:cNvSpPr>
          <p:nvPr/>
        </p:nvSpPr>
        <p:spPr>
          <a:xfrm>
            <a:off x="619125" y="4962525"/>
            <a:ext cx="10953750"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Use one pretrained language model to summarise the client instruction and draft a proposed amendment.</a:t>
            </a:r>
          </a:p>
        </p:txBody>
      </p:sp>
      <p:sp>
        <p:nvSpPr>
          <p:cNvPr id="3" name="text-322">
            <a:extLst>
              <a:ext uri="{FF2B5EF4-FFF2-40B4-BE49-F238E27FC236}">
                <ns2:creationId id="{9A1C22D4-69D4-4811-A5A8-88AB2F55E32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23   OPTIONAL EXPLORATION</a:t>
            </a:r>
          </a:p>
        </p:txBody>
      </p:sp>
    </p:spTree>
    <p:extLst>
      <p:ext uri="{BB962C8B-B14F-4D97-AF65-F5344CB8AC3E}">
        <ns3:creationId val="1164965736"/>
      </p:ext>
    </p:extLst>
  </p:cSld>
  <p:transition spd="med" advClick="1">
    <p:fade/>
  </p:transition>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name="Model families and architectures">
    <p:bg>
      <p:bgPr>
        <a:solidFill>
          <a:srgbClr val="FFFFFF"/>
        </a:solidFill>
      </p:bgPr>
    </p:bg>
    <p:spTree>
      <p:nvGrpSpPr>
        <p:cNvPr id="1" name=""/>
        <p:cNvGrpSpPr/>
        <p:nvPr/>
      </p:nvGrpSpPr>
      <p:grpSpPr>
        <a:xfrm/>
      </p:grpSpPr>
      <p:sp>
        <p:nvSpPr>
          <p:cNvPr id="10" name="text-326">
            <a:extLst>
              <a:ext uri="{FF2B5EF4-FFF2-40B4-BE49-F238E27FC236}">
                <ns2:creationId id="{64685D33-E555-4F10-AD7B-1EEB18AF381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327">
            <a:extLst>
              <a:ext uri="{FF2B5EF4-FFF2-40B4-BE49-F238E27FC236}">
                <ns2:creationId id="{79A26948-E6A5-4679-8D25-B90B1CBA50D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Model families and architectures</a:t>
            </a:r>
          </a:p>
        </p:txBody>
      </p:sp>
      <p:sp>
        <p:nvSpPr>
          <p:cNvPr id="4" name="text-329">
            <a:extLst>
              <a:ext uri="{FF2B5EF4-FFF2-40B4-BE49-F238E27FC236}">
                <ns2:creationId id="{8CCA925A-F329-420B-83F3-1B2BAB4DBE9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30">
            <a:extLst>
              <a:ext uri="{FF2B5EF4-FFF2-40B4-BE49-F238E27FC236}">
                <ns2:creationId id="{C62A34D6-FBD6-4E4D-BF35-2C0043B6641B}"/>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Transformer models are central to current language systems.</a:t>
            </a:r>
          </a:p>
        </p:txBody>
      </p:sp>
      <p:sp>
        <p:nvSpPr>
          <p:cNvPr id="6" name="text-331">
            <a:extLst>
              <a:ext uri="{FF2B5EF4-FFF2-40B4-BE49-F238E27FC236}">
                <ns2:creationId id="{8EC067D0-5548-4CC4-B5A2-208D469AE4DD}"/>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32">
            <a:extLst>
              <a:ext uri="{FF2B5EF4-FFF2-40B4-BE49-F238E27FC236}">
                <ns2:creationId id="{3F590886-DADA-413B-A96B-C9C1067571D3}"/>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Convolutional networks often process spatial patterns such as images.</a:t>
            </a:r>
          </a:p>
        </p:txBody>
      </p:sp>
      <p:sp>
        <p:nvSpPr>
          <p:cNvPr id="8" name="text-333">
            <a:extLst>
              <a:ext uri="{FF2B5EF4-FFF2-40B4-BE49-F238E27FC236}">
                <ns2:creationId id="{0284E22C-8BE2-407C-B761-CC291EDDB9D6}"/>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34">
            <a:extLst>
              <a:ext uri="{FF2B5EF4-FFF2-40B4-BE49-F238E27FC236}">
                <ns2:creationId id="{DACDFC02-03F3-4322-84CD-EC92654CD62F}"/>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Recurrent architectures process sequences through a recurrent state.</a:t>
            </a:r>
          </a:p>
        </p:txBody>
      </p:sp>
      <p:sp>
        <p:nvSpPr>
          <p:cNvPr id="3" name="text-328">
            <a:extLst>
              <a:ext uri="{FF2B5EF4-FFF2-40B4-BE49-F238E27FC236}">
                <ns2:creationId id="{326F9F72-5DE7-4983-92F2-D0BDDAB3FE6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24   OPTIONAL EXPLORATION</a:t>
            </a:r>
          </a:p>
        </p:txBody>
      </p:sp>
    </p:spTree>
    <p:extLst>
      <p:ext uri="{BB962C8B-B14F-4D97-AF65-F5344CB8AC3E}">
        <ns3:creationId val="736785595"/>
      </p:ext>
    </p:extLst>
  </p:cSld>
  <p:transition spd="med" advClick="1">
    <p:fade/>
  </p:transition>
</p:sld>
</file>

<file path=ppt/slides/slide25.xml><?xml version="1.0" encoding="utf-8"?>
<p:sld xmlns:a="http://schemas.openxmlformats.org/drawingml/2006/main" xmlns:ns2="http://schemas.microsoft.com/office/drawing/2014/main" xmlns:ns3="http://schemas.microsoft.com/office/powerpoint/2010/main" xmlns:p="http://schemas.openxmlformats.org/presentationml/2006/main">
  <p:cSld name="A model change is an operational change">
    <p:bg>
      <p:bgPr>
        <a:solidFill>
          <a:srgbClr val="FFFFFF"/>
        </a:solidFill>
      </p:bgPr>
    </p:bg>
    <p:spTree>
      <p:nvGrpSpPr>
        <p:cNvPr id="1" name=""/>
        <p:cNvGrpSpPr/>
        <p:nvPr/>
      </p:nvGrpSpPr>
      <p:grpSpPr>
        <a:xfrm/>
      </p:grpSpPr>
      <p:sp>
        <p:nvSpPr>
          <p:cNvPr id="8" name="text-335">
            <a:extLst>
              <a:ext uri="{FF2B5EF4-FFF2-40B4-BE49-F238E27FC236}">
                <ns2:creationId id="{ADB6A5B1-1E2F-496D-B68A-C6087737866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02</a:t>
            </a:r>
          </a:p>
        </p:txBody>
      </p:sp>
      <p:sp>
        <p:nvSpPr>
          <p:cNvPr id="2" name="text-336">
            <a:extLst>
              <a:ext uri="{FF2B5EF4-FFF2-40B4-BE49-F238E27FC236}">
                <ns2:creationId id="{981B0603-7E3E-4AB0-9D87-0DA813C588A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model change is an operational change</a:t>
            </a:r>
          </a:p>
        </p:txBody>
      </p:sp>
      <p:sp>
        <p:nvSpPr>
          <p:cNvPr id="4" name="text-338">
            <a:extLst>
              <a:ext uri="{FF2B5EF4-FFF2-40B4-BE49-F238E27FC236}">
                <ns2:creationId id="{D2DE34B1-DE74-4116-92F0-3262B6E74CAD}"/>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39">
            <a:extLst>
              <a:ext uri="{FF2B5EF4-FFF2-40B4-BE49-F238E27FC236}">
                <ns2:creationId id="{ECBB7DEE-98B0-45B3-9B6C-29EC1EB24BB4}"/>
              </a:ext>
            </a:extLst>
          </p:cNvPr>
          <p:cNvSpPr>
            <a:spLocks noGrp="1"/>
          </p:cNvSpPr>
          <p:nvPr/>
        </p:nvSpPr>
        <p:spPr>
          <a:xfrm>
            <a:off x="1285875" y="1943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new model can alter extraction, wording and tool choices.</a:t>
            </a:r>
          </a:p>
        </p:txBody>
      </p:sp>
      <p:sp>
        <p:nvSpPr>
          <p:cNvPr id="6" name="text-340">
            <a:extLst>
              <a:ext uri="{FF2B5EF4-FFF2-40B4-BE49-F238E27FC236}">
                <ns2:creationId id="{6A9BB21F-8B58-45EE-B68E-9FEB39A79583}"/>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41">
            <a:extLst>
              <a:ext uri="{FF2B5EF4-FFF2-40B4-BE49-F238E27FC236}">
                <ns2:creationId id="{A0738577-03A2-4B2F-ADA2-8CF9BA02495F}"/>
              </a:ext>
            </a:extLst>
          </p:cNvPr>
          <p:cNvSpPr>
            <a:spLocks noGrp="1"/>
          </p:cNvSpPr>
          <p:nvPr/>
        </p:nvSpPr>
        <p:spPr>
          <a:xfrm>
            <a:off x="1285875" y="3848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firm should repeat relevant tests after a material change.</a:t>
            </a:r>
          </a:p>
        </p:txBody>
      </p:sp>
      <p:sp>
        <p:nvSpPr>
          <p:cNvPr id="3" name="text-337">
            <a:extLst>
              <a:ext uri="{FF2B5EF4-FFF2-40B4-BE49-F238E27FC236}">
                <ns2:creationId id="{33FEDF51-14CB-49EF-84B0-D5EC130AD4C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02   25   OPTIONAL EXPLORATION</a:t>
            </a:r>
          </a:p>
        </p:txBody>
      </p:sp>
    </p:spTree>
    <p:extLst>
      <p:ext uri="{BB962C8B-B14F-4D97-AF65-F5344CB8AC3E}">
        <ns3:creationId val="1299187527"/>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2026-10-26T10:01:50.6990000Z</dcterms:created>
  <dcterms:modified xsi:type="dcterms:W3CDTF">2026-10-26T10:01:50.6990000Z</dcterms:modified>
</coreProperties>
</file>