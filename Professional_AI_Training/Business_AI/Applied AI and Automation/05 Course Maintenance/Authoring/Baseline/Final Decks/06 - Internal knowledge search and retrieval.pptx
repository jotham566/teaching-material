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70b8dc1cd941b2" /><Relationship Type="http://schemas.openxmlformats.org/officeDocument/2006/relationships/extended-properties" Target="/docProps/app.xml" Id="R4d3dbde956a84351" /><Relationship Type="http://schemas.openxmlformats.org/officeDocument/2006/relationships/officeDocument" Target="/ppt/presentation.xml" Id="R9952b6d07deb410b" /></Relationships>
</file>

<file path=ppt/presentation.xml><?xml version="1.0" encoding="utf-8"?>
<p:presentation xmlns:p="http://schemas.openxmlformats.org/presentationml/2006/main" xmlns:r="http://schemas.openxmlformats.org/officeDocument/2006/relationships">
  <p:sldMasterIdLst>
    <p:sldMasterId id="2147483648" r:id="R07ccd13f81844fea"/>
  </p:sldMasterIdLst>
  <p:notesMasterIdLst>
    <p:notesMasterId r:id="R279b20db08f1428f"/>
  </p:notesMasterIdLst>
  <p:sldIdLst>
    <p:sldId id="256" r:id="Re7720048fc9c4865"/>
    <p:sldId id="257" r:id="R348610d203ef480d"/>
    <p:sldId id="258" r:id="R6a85e32b5dd8476b"/>
    <p:sldId id="259" r:id="R552a634870894e2c"/>
    <p:sldId id="260" r:id="R3740891e76c9455d"/>
    <p:sldId id="261" r:id="Rbc51515204f544d6"/>
    <p:sldId id="262" r:id="R16d24661c68e46d1"/>
    <p:sldId id="263" r:id="Rd3cb9c13dfab4112"/>
    <p:sldId id="264" r:id="R36ab179cec2f4fd7"/>
    <p:sldId id="265" r:id="R26c28ff91aea4828"/>
    <p:sldId id="266" r:id="R8e177e535e114df2"/>
    <p:sldId id="267" r:id="R970f0428cd474dfb"/>
    <p:sldId id="268" r:id="R74a85a5b015e4362"/>
    <p:sldId id="269" r:id="R4510b63afa1b4954"/>
    <p:sldId id="270" r:id="R48f2e4383f514229"/>
    <p:sldId id="271" r:id="R726ff61bad334163"/>
    <p:sldId id="272" r:id="R5bd860f4ca0841fe"/>
    <p:sldId id="273" r:id="R76299fc89d8b4c6e"/>
    <p:sldId id="274" r:id="R2cb89f9870a34d83"/>
    <p:sldId id="275" r:id="Ra9010b97e7e64e6f"/>
    <p:sldId id="276" r:id="R47941a6e4b7746d9"/>
    <p:sldId id="277" r:id="R9e3d50e868864164"/>
    <p:sldId id="278" r:id="R597d3b38cb9e4659"/>
    <p:sldId id="279" r:id="R26f80d327c7c4226"/>
  </p:sldIdLst>
  <p:sldSz cx="12192000" cy="6858000"/>
  <p:notesSz cx="6858000" cy="9144000"/>
  <p:custShowLst>
    <p:custShow name="Core teaching" id="1">
      <p:sldLst>
        <p:sld r:id="Re7720048fc9c4865"/>
        <p:sld r:id="R348610d203ef480d"/>
        <p:sld r:id="R6a85e32b5dd8476b"/>
        <p:sld r:id="R552a634870894e2c"/>
        <p:sld r:id="R3740891e76c9455d"/>
        <p:sld r:id="Rbc51515204f544d6"/>
        <p:sld r:id="R16d24661c68e46d1"/>
        <p:sld r:id="Rd3cb9c13dfab4112"/>
        <p:sld r:id="R36ab179cec2f4fd7"/>
        <p:sld r:id="R26c28ff91aea4828"/>
        <p:sld r:id="R8e177e535e114df2"/>
        <p:sld r:id="R970f0428cd474dfb"/>
        <p:sld r:id="R74a85a5b015e4362"/>
        <p:sld r:id="R4510b63afa1b4954"/>
        <p:sld r:id="R48f2e4383f514229"/>
        <p:sld r:id="R726ff61bad334163"/>
        <p:sld r:id="R5bd860f4ca0841fe"/>
        <p:sld r:id="R76299fc89d8b4c6e"/>
        <p:sld r:id="R2cb89f9870a34d83"/>
        <p:sld r:id="Ra9010b97e7e64e6f"/>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2e489e5ffb42f1" /><Relationship Type="http://schemas.openxmlformats.org/officeDocument/2006/relationships/slideMaster" Target="/ppt/slideMasters/slideMaster1.xml" Id="R07ccd13f81844fea" /><Relationship Type="http://schemas.openxmlformats.org/officeDocument/2006/relationships/notesMaster" Target="/ppt/notesMasters/notesMaster1.xml" Id="R279b20db08f1428f" /><Relationship Type="http://schemas.openxmlformats.org/officeDocument/2006/relationships/presProps" Target="/ppt/presProps.xml" Id="R9231068c173b4f3a" /><Relationship Type="http://schemas.openxmlformats.org/officeDocument/2006/relationships/tableStyles" Target="/ppt/tableStyles.xml" Id="Rbb843e2e3563461c" /><Relationship Type="http://schemas.openxmlformats.org/officeDocument/2006/relationships/slide" Target="/ppt/slides/slide1.xml" Id="Re7720048fc9c4865" /><Relationship Type="http://schemas.openxmlformats.org/officeDocument/2006/relationships/slide" Target="/ppt/slides/slide2.xml" Id="R348610d203ef480d" /><Relationship Type="http://schemas.openxmlformats.org/officeDocument/2006/relationships/slide" Target="/ppt/slides/slide3.xml" Id="R6a85e32b5dd8476b" /><Relationship Type="http://schemas.openxmlformats.org/officeDocument/2006/relationships/slide" Target="/ppt/slides/slide4.xml" Id="R552a634870894e2c" /><Relationship Type="http://schemas.openxmlformats.org/officeDocument/2006/relationships/slide" Target="/ppt/slides/slide5.xml" Id="R3740891e76c9455d" /><Relationship Type="http://schemas.openxmlformats.org/officeDocument/2006/relationships/slide" Target="/ppt/slides/slide6.xml" Id="Rbc51515204f544d6" /><Relationship Type="http://schemas.openxmlformats.org/officeDocument/2006/relationships/slide" Target="/ppt/slides/slide7.xml" Id="R16d24661c68e46d1" /><Relationship Type="http://schemas.openxmlformats.org/officeDocument/2006/relationships/slide" Target="/ppt/slides/slide8.xml" Id="Rd3cb9c13dfab4112" /><Relationship Type="http://schemas.openxmlformats.org/officeDocument/2006/relationships/slide" Target="/ppt/slides/slide9.xml" Id="R36ab179cec2f4fd7" /><Relationship Type="http://schemas.openxmlformats.org/officeDocument/2006/relationships/slide" Target="/ppt/slides/slide10.xml" Id="R26c28ff91aea4828" /><Relationship Type="http://schemas.openxmlformats.org/officeDocument/2006/relationships/slide" Target="/ppt/slides/slide11.xml" Id="R8e177e535e114df2" /><Relationship Type="http://schemas.openxmlformats.org/officeDocument/2006/relationships/slide" Target="/ppt/slides/slide12.xml" Id="R970f0428cd474dfb" /><Relationship Type="http://schemas.openxmlformats.org/officeDocument/2006/relationships/slide" Target="/ppt/slides/slide13.xml" Id="R74a85a5b015e4362" /><Relationship Type="http://schemas.openxmlformats.org/officeDocument/2006/relationships/slide" Target="/ppt/slides/slide14.xml" Id="R4510b63afa1b4954" /><Relationship Type="http://schemas.openxmlformats.org/officeDocument/2006/relationships/slide" Target="/ppt/slides/slide15.xml" Id="R48f2e4383f514229" /><Relationship Type="http://schemas.openxmlformats.org/officeDocument/2006/relationships/slide" Target="/ppt/slides/slide16.xml" Id="R726ff61bad334163" /><Relationship Type="http://schemas.openxmlformats.org/officeDocument/2006/relationships/slide" Target="/ppt/slides/slide17.xml" Id="R5bd860f4ca0841fe" /><Relationship Type="http://schemas.openxmlformats.org/officeDocument/2006/relationships/slide" Target="/ppt/slides/slide18.xml" Id="R76299fc89d8b4c6e" /><Relationship Type="http://schemas.openxmlformats.org/officeDocument/2006/relationships/slide" Target="/ppt/slides/slide19.xml" Id="R2cb89f9870a34d83" /><Relationship Type="http://schemas.openxmlformats.org/officeDocument/2006/relationships/slide" Target="/ppt/slides/slide20.xml" Id="Ra9010b97e7e64e6f" /><Relationship Type="http://schemas.openxmlformats.org/officeDocument/2006/relationships/slide" Target="/ppt/slides/slide21.xml" Id="R47941a6e4b7746d9" /><Relationship Type="http://schemas.openxmlformats.org/officeDocument/2006/relationships/slide" Target="/ppt/slides/slide22.xml" Id="R9e3d50e868864164" /><Relationship Type="http://schemas.openxmlformats.org/officeDocument/2006/relationships/slide" Target="/ppt/slides/slide23.xml" Id="R597d3b38cb9e4659" /><Relationship Type="http://schemas.openxmlformats.org/officeDocument/2006/relationships/slide" Target="/ppt/slides/slide24.xml" Id="R26f80d327c7c42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5b6049b4c64b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5270aed01b44f4" /><Relationship Type="http://schemas.openxmlformats.org/officeDocument/2006/relationships/notesMaster" Target="/ppt/notesMasters/notesMaster1.xml" Id="Re4e0cf01fd0e45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737d33b3d54e12" /><Relationship Type="http://schemas.openxmlformats.org/officeDocument/2006/relationships/notesMaster" Target="/ppt/notesMasters/notesMaster1.xml" Id="R231f6e0650aa4c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ee90248ac842a2" /><Relationship Type="http://schemas.openxmlformats.org/officeDocument/2006/relationships/notesMaster" Target="/ppt/notesMasters/notesMaster1.xml" Id="R4619ed7c899d43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fdeb77403c4ec1" /><Relationship Type="http://schemas.openxmlformats.org/officeDocument/2006/relationships/notesMaster" Target="/ppt/notesMasters/notesMaster1.xml" Id="Rc42cf682eeac43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de9eefccb24edc" /><Relationship Type="http://schemas.openxmlformats.org/officeDocument/2006/relationships/notesMaster" Target="/ppt/notesMasters/notesMaster1.xml" Id="R5229d96a76ea4c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7156e9940343b2" /><Relationship Type="http://schemas.openxmlformats.org/officeDocument/2006/relationships/notesMaster" Target="/ppt/notesMasters/notesMaster1.xml" Id="R0bfaea2d989547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dfd535f8e842bc" /><Relationship Type="http://schemas.openxmlformats.org/officeDocument/2006/relationships/notesMaster" Target="/ppt/notesMasters/notesMaster1.xml" Id="Rd0e7a5ff3e2949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71fb1d49934ff3" /><Relationship Type="http://schemas.openxmlformats.org/officeDocument/2006/relationships/notesMaster" Target="/ppt/notesMasters/notesMaster1.xml" Id="R2a1b5f66bf7a4a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2d04fd6fe44bf5" /><Relationship Type="http://schemas.openxmlformats.org/officeDocument/2006/relationships/notesMaster" Target="/ppt/notesMasters/notesMaster1.xml" Id="R6c20309d56c24e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cd6ea3375b438f" /><Relationship Type="http://schemas.openxmlformats.org/officeDocument/2006/relationships/notesMaster" Target="/ppt/notesMasters/notesMaster1.xml" Id="R75400abc464f47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33b32492ac4505" /><Relationship Type="http://schemas.openxmlformats.org/officeDocument/2006/relationships/notesMaster" Target="/ppt/notesMasters/notesMaster1.xml" Id="R0b398da7de1b43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0735530e38477c" /><Relationship Type="http://schemas.openxmlformats.org/officeDocument/2006/relationships/notesMaster" Target="/ppt/notesMasters/notesMaster1.xml" Id="R9ad7287e328d41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3f0f1d2e524856" /><Relationship Type="http://schemas.openxmlformats.org/officeDocument/2006/relationships/notesMaster" Target="/ppt/notesMasters/notesMaster1.xml" Id="R7bcefd12f0574e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82bcdf40cc4e7d" /><Relationship Type="http://schemas.openxmlformats.org/officeDocument/2006/relationships/notesMaster" Target="/ppt/notesMasters/notesMaster1.xml" Id="R199f9182567b45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172501d22548b3" /><Relationship Type="http://schemas.openxmlformats.org/officeDocument/2006/relationships/notesMaster" Target="/ppt/notesMasters/notesMaster1.xml" Id="Rbf4f9ab8e61442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0ac9c9ae1a84423" /><Relationship Type="http://schemas.openxmlformats.org/officeDocument/2006/relationships/notesMaster" Target="/ppt/notesMasters/notesMaster1.xml" Id="R229cef437afd40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c37b782ad3499c" /><Relationship Type="http://schemas.openxmlformats.org/officeDocument/2006/relationships/notesMaster" Target="/ppt/notesMasters/notesMaster1.xml" Id="R936878799a004a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bc0fd3270c24a18" /><Relationship Type="http://schemas.openxmlformats.org/officeDocument/2006/relationships/notesMaster" Target="/ppt/notesMasters/notesMaster1.xml" Id="Ra9b40d54c9434f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3c27965414149f8" /><Relationship Type="http://schemas.openxmlformats.org/officeDocument/2006/relationships/notesMaster" Target="/ppt/notesMasters/notesMaster1.xml" Id="R3216fc71342c415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d9f86449aa43b8" /><Relationship Type="http://schemas.openxmlformats.org/officeDocument/2006/relationships/notesMaster" Target="/ppt/notesMasters/notesMaster1.xml" Id="R201363ed3dbd4e6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06fef9e18ad4801" /><Relationship Type="http://schemas.openxmlformats.org/officeDocument/2006/relationships/notesMaster" Target="/ppt/notesMasters/notesMaster1.xml" Id="R6b88c7f133a743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33dcc73f0384188" /><Relationship Type="http://schemas.openxmlformats.org/officeDocument/2006/relationships/notesMaster" Target="/ppt/notesMasters/notesMaster1.xml" Id="R985a748e406a46f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fbbe2e1914405a" /><Relationship Type="http://schemas.openxmlformats.org/officeDocument/2006/relationships/notesMaster" Target="/ppt/notesMasters/notesMaster1.xml" Id="R9032c69912124a8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04f0a495fc4d3f" /><Relationship Type="http://schemas.openxmlformats.org/officeDocument/2006/relationships/notesMaster" Target="/ppt/notesMasters/notesMaster1.xml" Id="Rb3b8cce568d047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I will ask: Two readable versions exist. What must retrieval know beyond the text? I will record the learner’s explanation before showing the answer. Which version is authoritative, its matter, permissions and update status.</a:t>
            </a:r>
          </a:p>
          <a:p xmlns:a="http://schemas.openxmlformats.org/drawingml/2006/main">
            <a:r>
              <a:t/>
            </a:r>
          </a:p>
          <a:p xmlns:a="http://schemas.openxmlformats.org/drawingml/2006/main">
            <a:r>
              <a:t>Ask: Two readable versions exist. What must retrieval know beyond the text?</a:t>
            </a:r>
          </a:p>
          <a:p xmlns:a="http://schemas.openxmlformats.org/drawingml/2006/main">
            <a:r>
              <a:t/>
            </a:r>
          </a:p>
          <a:p xmlns:a="http://schemas.openxmlformats.org/drawingml/2006/main">
            <a:r>
              <a:t>Expected answer: Which version is authoritative, its matter, permissions and update status.</a:t>
            </a:r>
          </a:p>
          <a:p xmlns:a="http://schemas.openxmlformats.org/drawingml/2006/main">
            <a:r>
              <a:t/>
            </a:r>
          </a:p>
          <a:p xmlns:a="http://schemas.openxmlformats.org/drawingml/2006/main">
            <a:r>
              <a:t>If partly correct: Likely confusion: RAG means the model was trained on firm files. I will clarify: Follow the index and question-time evidence paths as separate operations. Then return to this slide’s question: Two readable versions exist. What must retrieval know beyond the text? A supported answer should establish: Which version is authoritative, its matter, permissions and update status.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Recall source preparation.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Ask without showing the prior result. Which version is authoritative, its matter, permissions and update status. Invite a reason, then connect the answer to today’s question.</a:t>
            </a:r>
          </a:p>
          <a:p xmlns:a="http://schemas.openxmlformats.org/drawingml/2006/main">
            <a:r>
              <a:t/>
            </a:r>
          </a:p>
          <a:p xmlns:a="http://schemas.openxmlformats.org/drawingml/2006/main">
            <a:r>
              <a:t>Ask: Two readable versions exist. What must retrieval know beyond the text?</a:t>
            </a:r>
          </a:p>
          <a:p xmlns:a="http://schemas.openxmlformats.org/drawingml/2006/main">
            <a:r>
              <a:t/>
            </a:r>
          </a:p>
          <a:p xmlns:a="http://schemas.openxmlformats.org/drawingml/2006/main">
            <a:r>
              <a:t>Expected answer: Which version is authoritative, its matter, permissions and update status.</a:t>
            </a:r>
          </a:p>
          <a:p xmlns:a="http://schemas.openxmlformats.org/drawingml/2006/main">
            <a:r>
              <a:t/>
            </a:r>
          </a:p>
          <a:p xmlns:a="http://schemas.openxmlformats.org/drawingml/2006/main">
            <a:r>
              <a:t>If partly correct: Likely confusion: A stronger model repairs wrong-version retrieval. I will clarify: Give it v1 only and ask where the absent exception could be established. Then return to this slide’s question: Two readable versions exist. What must retrieval know beyond the text? A supported answer should establish: Which version is authoritative, its matter, permissions and update status.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question returns.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Carry forward the document inventory and structured clause. Retrieval must choose evidence rather than assume that every available page is equally relevant.</a:t>
            </a:r>
          </a:p>
          <a:p xmlns:a="http://schemas.openxmlformats.org/drawingml/2006/main">
            <a:r>
              <a:t/>
            </a:r>
          </a:p>
          <a:p xmlns:a="http://schemas.openxmlformats.org/drawingml/2006/main">
            <a:r>
              <a:t>Ask: What makes the right passage right?</a:t>
            </a:r>
          </a:p>
          <a:p xmlns:a="http://schemas.openxmlformats.org/drawingml/2006/main">
            <a:r>
              <a:t/>
            </a:r>
          </a:p>
          <a:p xmlns:a="http://schemas.openxmlformats.org/drawingml/2006/main">
            <a:r>
              <a:t>Expected answer: Its relevance, authority, version and permission for the user.</a:t>
            </a:r>
          </a:p>
          <a:p xmlns:a="http://schemas.openxmlformats.org/drawingml/2006/main">
            <a:r>
              <a:t/>
            </a:r>
          </a:p>
          <a:p xmlns:a="http://schemas.openxmlformats.org/drawingml/2006/main">
            <a:r>
              <a:t>If partly correct: Likely confusion: An embedding score determines the legal answer. I will clarify: Inspect the retrieved clause and its conditions after ranking. Then return to this slide’s question: What makes the right passage right? A supported answer should establish: Its relevance, authority, version and permission for the user.</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Search results and generated answers.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A conversational interface can obscure the distinction. Ask whether the tool showed evidence or merely generated a plausible statement.</a:t>
            </a:r>
          </a:p>
          <a:p xmlns:a="http://schemas.openxmlformats.org/drawingml/2006/main">
            <a:r>
              <a:t/>
            </a:r>
          </a:p>
          <a:p xmlns:a="http://schemas.openxmlformats.org/drawingml/2006/main">
            <a:r>
              <a:t>Ask: Could a search result be right while the answer is wrong?</a:t>
            </a:r>
          </a:p>
          <a:p xmlns:a="http://schemas.openxmlformats.org/drawingml/2006/main">
            <a:r>
              <a:t/>
            </a:r>
          </a:p>
          <a:p xmlns:a="http://schemas.openxmlformats.org/drawingml/2006/main">
            <a:r>
              <a:t>Expected answer: Yes. The model can omit a qualification from correctly retrieved evidence.</a:t>
            </a:r>
          </a:p>
          <a:p xmlns:a="http://schemas.openxmlformats.org/drawingml/2006/main">
            <a:r>
              <a:t/>
            </a:r>
          </a:p>
          <a:p xmlns:a="http://schemas.openxmlformats.org/drawingml/2006/main">
            <a:r>
              <a:t>If partly correct: Likely confusion: RAG means the model was trained on firm files. I will clarify: Follow the index and question-time evidence paths as separate operations. Then return to this slide’s question: Could a search result be right while the answer is wrong? A supported answer should establish: Yes. The model can omit a qualification from correctly retrieved evidence.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RAG.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Retrieval-augmented generation retrieves relevant source material and supplies it to a generative model when producing an answer. In plain language: Retrieve the current clause 3 and supply it with the question so the model can draft a consent analysis. Ask for a reason before reading the source-based answer.</a:t>
            </a:r>
          </a:p>
          <a:p xmlns:a="http://schemas.openxmlformats.org/drawingml/2006/main">
            <a:r>
              <a:t/>
            </a:r>
          </a:p>
          <a:p xmlns:a="http://schemas.openxmlformats.org/drawingml/2006/main">
            <a:r>
              <a:t>Ask: Does RAG necessarily change the model’s learned parameters?</a:t>
            </a:r>
          </a:p>
          <a:p xmlns:a="http://schemas.openxmlformats.org/drawingml/2006/main">
            <a:r>
              <a:t/>
            </a:r>
          </a:p>
          <a:p xmlns:a="http://schemas.openxmlformats.org/drawingml/2006/main">
            <a:r>
              <a:t>Expected answer: No. The supplied evidence can guide inference without a training update.</a:t>
            </a:r>
          </a:p>
          <a:p xmlns:a="http://schemas.openxmlformats.org/drawingml/2006/main">
            <a:r>
              <a:t/>
            </a:r>
          </a:p>
          <a:p xmlns:a="http://schemas.openxmlformats.org/drawingml/2006/main">
            <a:r>
              <a:t>If partly correct: Likely confusion: A stronger model repairs wrong-version retrieval. I will clarify: Give it v1 only and ask where the absent exception could be established. Then return to this slide’s question: Does RAG necessarily change the model’s learned parameters? A supported answer should establish: No. The supplied evidence can guide inference without a training update.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Two phases of a retrieval system.</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https://learn.microsoft.com/en-us/azure/architecture/ai-ml/guide/rag/rag-information-retrieval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Walk through two separate paths. During preparation an embedding model converts chunks into vectors stored with metadata in an index. At question time an embedding model represents the query; retrieval and optional keyword matching select permitted current passages. A language model then generates an answer using those passages and instructions. These are distinct roles; implementations can combine services and retrieval need not always be vector-based.</a:t>
            </a:r>
          </a:p>
          <a:p xmlns:a="http://schemas.openxmlformats.org/drawingml/2006/main">
            <a:r>
              <a:t/>
            </a:r>
          </a:p>
          <a:p xmlns:a="http://schemas.openxmlformats.org/drawingml/2006/main">
            <a:r>
              <a:t>Ask: If the index returns v1, will a stronger answer-writing model reliably repair that source error?</a:t>
            </a:r>
          </a:p>
          <a:p xmlns:a="http://schemas.openxmlformats.org/drawingml/2006/main">
            <a:r>
              <a:t/>
            </a:r>
          </a:p>
          <a:p xmlns:a="http://schemas.openxmlformats.org/drawingml/2006/main">
            <a:r>
              <a:t>Expected answer: No. Correct retrieval and version selection; then evaluate answer fidelity separately.</a:t>
            </a:r>
          </a:p>
          <a:p xmlns:a="http://schemas.openxmlformats.org/drawingml/2006/main">
            <a:r>
              <a:t/>
            </a:r>
          </a:p>
          <a:p xmlns:a="http://schemas.openxmlformats.org/drawingml/2006/main">
            <a:r>
              <a:t>If partly correct: Likely confusion: An embedding score determines the legal answer. I will clarify: Inspect the retrieved clause and its conditions after ranking. Then return to this slide’s question: If the index returns v1, will a stronger answer-writing model reliably repair that source error? A supported answer should establish: No. Correct retrieval and version selection; then evaluate answer fidelity separately.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Chunking and the exception.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https://learn.microsoft.com/en-us/azure/search/retrieval-augmented-generation-overview</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8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Show the full clause. Reveal a bad split between the consent rule and its exception, then a revised passage preserving both and the document context. Chunk size is a design choice tested against questions, not a universal legal rule.</a:t>
            </a:r>
          </a:p>
          <a:p xmlns:a="http://schemas.openxmlformats.org/drawingml/2006/main">
            <a:r>
              <a:t/>
            </a:r>
          </a:p>
          <a:p xmlns:a="http://schemas.openxmlformats.org/drawingml/2006/main">
            <a:r>
              <a:t>Ask: What question would expose a bad split?</a:t>
            </a:r>
          </a:p>
          <a:p xmlns:a="http://schemas.openxmlformats.org/drawingml/2006/main">
            <a:r>
              <a:t/>
            </a:r>
          </a:p>
          <a:p xmlns:a="http://schemas.openxmlformats.org/drawingml/2006/main">
            <a:r>
              <a:t>Expected answer: Ask whether an internal group reorganisation needs consent.</a:t>
            </a:r>
          </a:p>
          <a:p xmlns:a="http://schemas.openxmlformats.org/drawingml/2006/main">
            <a:r>
              <a:t/>
            </a:r>
          </a:p>
          <a:p xmlns:a="http://schemas.openxmlformats.org/drawingml/2006/main">
            <a:r>
              <a:t>If partly correct: Likely confusion: RAG means the model was trained on firm files. I will clarify: Follow the index and question-time evidence paths as separate operations. Then return to this slide’s question: What question would expose a bad split? A supported answer should establish: Ask whether an internal group reorganisation needs consent.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What a chunk should retain.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https://learn.microsoft.com/en-us/azure/search/vector-search-how-to-chunk-documents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2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A chunk is a retrieval unit. Its metadata helps establish applicability and traceability. Cross-references may require neighbouring text or linked sections.</a:t>
            </a:r>
          </a:p>
          <a:p xmlns:a="http://schemas.openxmlformats.org/drawingml/2006/main">
            <a:r>
              <a:t/>
            </a:r>
          </a:p>
          <a:p xmlns:a="http://schemas.openxmlformats.org/drawingml/2006/main">
            <a:r>
              <a:t>Ask: Can we interpret a defined term without its definition?</a:t>
            </a:r>
          </a:p>
          <a:p xmlns:a="http://schemas.openxmlformats.org/drawingml/2006/main">
            <a:r>
              <a:t/>
            </a:r>
          </a:p>
          <a:p xmlns:a="http://schemas.openxmlformats.org/drawingml/2006/main">
            <a:r>
              <a:t>Expected answer: Sometimes not. Retrieve or link the required definition.</a:t>
            </a:r>
          </a:p>
          <a:p xmlns:a="http://schemas.openxmlformats.org/drawingml/2006/main">
            <a:r>
              <a:t/>
            </a:r>
          </a:p>
          <a:p xmlns:a="http://schemas.openxmlformats.org/drawingml/2006/main">
            <a:r>
              <a:t>If partly correct: Likely confusion: A stronger model repairs wrong-version retrieval. I will clarify: Give it v1 only and ask where the absent exception could be established. Then return to this slide’s question: Can we interpret a defined term without its definition? A supported answer should establish: Sometimes not. Retrieve or link the required definition.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Keyword and semantic search.</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Return to the embedding map. Semantic representations help with related language but may miss exact identifiers. Neither method alone guarantees suitable evidence.</a:t>
            </a:r>
          </a:p>
          <a:p xmlns:a="http://schemas.openxmlformats.org/drawingml/2006/main">
            <a:r>
              <a:t/>
            </a:r>
          </a:p>
          <a:p xmlns:a="http://schemas.openxmlformats.org/drawingml/2006/main">
            <a:r>
              <a:t>Ask: Which method helps with an exact case number?</a:t>
            </a:r>
          </a:p>
          <a:p xmlns:a="http://schemas.openxmlformats.org/drawingml/2006/main">
            <a:r>
              <a:t/>
            </a:r>
          </a:p>
          <a:p xmlns:a="http://schemas.openxmlformats.org/drawingml/2006/main">
            <a:r>
              <a:t>Expected answer: Keyword or structured identifier matching.</a:t>
            </a:r>
          </a:p>
          <a:p xmlns:a="http://schemas.openxmlformats.org/drawingml/2006/main">
            <a:r>
              <a:t/>
            </a:r>
          </a:p>
          <a:p xmlns:a="http://schemas.openxmlformats.org/drawingml/2006/main">
            <a:r>
              <a:t>If partly correct: Likely confusion: An embedding score determines the legal answer. I will clarify: Inspect the retrieved clause and its conditions after ranking. Then return to this slide’s question: Which method helps with an exact case number? A supported answer should establish: Keyword or structured identifier matching.</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Hybrid retrieval.</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https://www.anthropic.com/research/contextual-retrieval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A hybrid design combines different signals. Reranking can reorder candidate passages before the model sees them. Use illustrative rankings rather than invented measured scores.</a:t>
            </a:r>
          </a:p>
          <a:p xmlns:a="http://schemas.openxmlformats.org/drawingml/2006/main">
            <a:r>
              <a:t/>
            </a:r>
          </a:p>
          <a:p xmlns:a="http://schemas.openxmlformats.org/drawingml/2006/main">
            <a:r>
              <a:t>Ask: What if the right source never enters the candidate set?</a:t>
            </a:r>
          </a:p>
          <a:p xmlns:a="http://schemas.openxmlformats.org/drawingml/2006/main">
            <a:r>
              <a:t/>
            </a:r>
          </a:p>
          <a:p xmlns:a="http://schemas.openxmlformats.org/drawingml/2006/main">
            <a:r>
              <a:t>Expected answer: Reranking cannot recover it unless the retrieval stage supplies it.</a:t>
            </a:r>
          </a:p>
          <a:p xmlns:a="http://schemas.openxmlformats.org/drawingml/2006/main">
            <a:r>
              <a:t/>
            </a:r>
          </a:p>
          <a:p xmlns:a="http://schemas.openxmlformats.org/drawingml/2006/main">
            <a:r>
              <a:t>If partly correct: Likely confusion: RAG means the model was trained on firm files. I will clarify: Follow the index and question-time evidence paths as separate operations. Then return to this slide’s question: What if the right source never enters the candidate set? A supported answer should establish: Reranking cannot recover it unless the retrieval stage supplies it.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prepared retrieval trace.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https://www.anthropic.com/research/contextual-retrieval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Open Retrieval Trace.txt. The teaching trace includes draft v1, executed v2 and an unrelated agreement. Read version and permission metadata before selecting the current clause. Label the trace as prepared, not a live search execution.</a:t>
            </a:r>
          </a:p>
          <a:p xmlns:a="http://schemas.openxmlformats.org/drawingml/2006/main">
            <a:r>
              <a:t/>
            </a:r>
          </a:p>
          <a:p xmlns:a="http://schemas.openxmlformats.org/drawingml/2006/main">
            <a:r>
              <a:t>Ask: Which candidate should support the current answer?</a:t>
            </a:r>
          </a:p>
          <a:p xmlns:a="http://schemas.openxmlformats.org/drawingml/2006/main">
            <a:r>
              <a:t/>
            </a:r>
          </a:p>
          <a:p xmlns:a="http://schemas.openxmlformats.org/drawingml/2006/main">
            <a:r>
              <a:t>Expected answer: The permitted executed v2 clause, with any relevant definition or client fact.</a:t>
            </a:r>
          </a:p>
          <a:p xmlns:a="http://schemas.openxmlformats.org/drawingml/2006/main">
            <a:r>
              <a:t/>
            </a:r>
          </a:p>
          <a:p xmlns:a="http://schemas.openxmlformats.org/drawingml/2006/main">
            <a:r>
              <a:t>If partly correct: Likely confusion: A stronger model repairs wrong-version retrieval. I will clarify: Give it v1 only and ask where the absent exception could be established. Then return to this slide’s question: Which candidate should support the current answer? A supported answer should establish: The permitted executed v2 clause, with any relevant definition or client fact.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answer and its evidence.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Connect the conditional answer to CONTRACT-01 v2 clause 3. Link the missing ownership fact to Client Instruction.txt. Distinguish a source quote from the model’s inference about its applicability.</a:t>
            </a:r>
          </a:p>
          <a:p xmlns:a="http://schemas.openxmlformats.org/drawingml/2006/main">
            <a:r>
              <a:t/>
            </a:r>
          </a:p>
          <a:p xmlns:a="http://schemas.openxmlformats.org/drawingml/2006/main">
            <a:r>
              <a:t>Ask: What remains unknown?</a:t>
            </a:r>
          </a:p>
          <a:p xmlns:a="http://schemas.openxmlformats.org/drawingml/2006/main">
            <a:r>
              <a:t/>
            </a:r>
          </a:p>
          <a:p xmlns:a="http://schemas.openxmlformats.org/drawingml/2006/main">
            <a:r>
              <a:t>Expected answer: Whether the proposed transaction satisfies all the exception conditions.</a:t>
            </a:r>
          </a:p>
          <a:p xmlns:a="http://schemas.openxmlformats.org/drawingml/2006/main">
            <a:r>
              <a:t/>
            </a:r>
          </a:p>
          <a:p xmlns:a="http://schemas.openxmlformats.org/drawingml/2006/main">
            <a:r>
              <a:t>If partly correct: Likely confusion: An embedding score determines the legal answer. I will clarify: Inspect the retrieved clause and its conditions after ranking. Then return to this slide’s question: What remains unknown? A supported answer should establish: Whether the proposed transaction satisfies all the exception conditions.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source error and an answer error.</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2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These failures need different fixes and tests. More fluent generation does not solve wrong evidence selection.</a:t>
            </a:r>
          </a:p>
          <a:p xmlns:a="http://schemas.openxmlformats.org/drawingml/2006/main">
            <a:r>
              <a:t/>
            </a:r>
          </a:p>
          <a:p xmlns:a="http://schemas.openxmlformats.org/drawingml/2006/main">
            <a:r>
              <a:t>Ask: Which stage would you investigate first?</a:t>
            </a:r>
          </a:p>
          <a:p xmlns:a="http://schemas.openxmlformats.org/drawingml/2006/main">
            <a:r>
              <a:t/>
            </a:r>
          </a:p>
          <a:p xmlns:a="http://schemas.openxmlformats.org/drawingml/2006/main">
            <a:r>
              <a:t>Expected answer: Inspect the returned evidence before changing the prompt.</a:t>
            </a:r>
          </a:p>
          <a:p xmlns:a="http://schemas.openxmlformats.org/drawingml/2006/main">
            <a:r>
              <a:t/>
            </a:r>
          </a:p>
          <a:p xmlns:a="http://schemas.openxmlformats.org/drawingml/2006/main">
            <a:r>
              <a:t>If partly correct: Likely confusion: RAG means the model was trained on firm files. I will clarify: Follow the index and question-time evidence paths as separate operations. Then return to this slide’s question: Which stage would you investigate first? A supported answer should establish: Inspect the returned evidence before changing the prompt.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Access-aware retrieval.</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Ask how the result should differ for a user who cannot access the client matter. Test both titles and content, since metadata can also reveal confidential information.</a:t>
            </a:r>
          </a:p>
          <a:p xmlns:a="http://schemas.openxmlformats.org/drawingml/2006/main">
            <a:r>
              <a:t/>
            </a:r>
          </a:p>
          <a:p xmlns:a="http://schemas.openxmlformats.org/drawingml/2006/main">
            <a:r>
              <a:t>Ask: Should an executive role automatically bypass a matter restriction?</a:t>
            </a:r>
          </a:p>
          <a:p xmlns:a="http://schemas.openxmlformats.org/drawingml/2006/main">
            <a:r>
              <a:t/>
            </a:r>
          </a:p>
          <a:p xmlns:a="http://schemas.openxmlformats.org/drawingml/2006/main">
            <a:r>
              <a:t>Expected answer: No. Apply the actual authorised access policy.</a:t>
            </a:r>
          </a:p>
          <a:p xmlns:a="http://schemas.openxmlformats.org/drawingml/2006/main">
            <a:r>
              <a:t/>
            </a:r>
          </a:p>
          <a:p xmlns:a="http://schemas.openxmlformats.org/drawingml/2006/main">
            <a:r>
              <a:t>If partly correct: Likely confusion: A stronger model repairs wrong-version retrieval. I will clarify: Give it v1 only and ask where the absent exception could be established. Then return to this slide’s question: Should an executive role automatically bypass a matter restriction? A supported answer should establish: No. Apply the actual authorised access policy.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Tests for the firm assistant.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https://learn.microsoft.com/en-us/azure/search/retrieval-augmented-generation-overview</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The partner can define acceptance with a domain reviewer. Record expected passages, not just a preferred sentence. Score retrieval and answer fidelity separately.</a:t>
            </a:r>
          </a:p>
          <a:p xmlns:a="http://schemas.openxmlformats.org/drawingml/2006/main">
            <a:r>
              <a:t/>
            </a:r>
          </a:p>
          <a:p xmlns:a="http://schemas.openxmlformats.org/drawingml/2006/main">
            <a:r>
              <a:t>Ask: What would a high total score hide?</a:t>
            </a:r>
          </a:p>
          <a:p xmlns:a="http://schemas.openxmlformats.org/drawingml/2006/main">
            <a:r>
              <a:t/>
            </a:r>
          </a:p>
          <a:p xmlns:a="http://schemas.openxmlformats.org/drawingml/2006/main">
            <a:r>
              <a:t>Expected answer: A critical access leak or unsupported conclusion in an individual case.</a:t>
            </a:r>
          </a:p>
          <a:p xmlns:a="http://schemas.openxmlformats.org/drawingml/2006/main">
            <a:r>
              <a:t/>
            </a:r>
          </a:p>
          <a:p xmlns:a="http://schemas.openxmlformats.org/drawingml/2006/main">
            <a:r>
              <a:t>If partly correct: Likely confusion: An embedding score determines the legal answer. I will clarify: Inspect the retrieved clause and its conditions after ranking. Then return to this slide’s question: What would a high total score hide? A supported answer should establish: A critical access leak or unsupported conclusion in an individual case.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How the collection stays useful.</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A knowledge assistant is a maintained information service. Define responsibility before widening the collection.</a:t>
            </a:r>
          </a:p>
          <a:p xmlns:a="http://schemas.openxmlformats.org/drawingml/2006/main">
            <a:r>
              <a:t/>
            </a:r>
          </a:p>
          <a:p xmlns:a="http://schemas.openxmlformats.org/drawingml/2006/main">
            <a:r>
              <a:t>Ask: Who corrects a repeated wrong-version answer?</a:t>
            </a:r>
          </a:p>
          <a:p xmlns:a="http://schemas.openxmlformats.org/drawingml/2006/main">
            <a:r>
              <a:t/>
            </a:r>
          </a:p>
          <a:p xmlns:a="http://schemas.openxmlformats.org/drawingml/2006/main">
            <a:r>
              <a:t>Expected answer: The designated source and system owners investigate the pipeline together.</a:t>
            </a:r>
          </a:p>
          <a:p xmlns:a="http://schemas.openxmlformats.org/drawingml/2006/main">
            <a:r>
              <a:t/>
            </a:r>
          </a:p>
          <a:p xmlns:a="http://schemas.openxmlformats.org/drawingml/2006/main">
            <a:r>
              <a:t>If partly correct: Likely confusion: RAG means the model was trained on firm files. I will clarify: Follow the index and question-time evidence paths as separate operations. Then return to this slide’s question: Who corrects a repeated wrong-version answer? A supported answer should establish: The designated source and system owners investigate the pipeline together.</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Our in-class work.</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Use the run-sheet. I demonstrate the first example; the learner predicts, chooses evidence and checks the changed example. Save actual outputs or mark the step unexecuted.</a:t>
            </a:r>
          </a:p>
          <a:p xmlns:a="http://schemas.openxmlformats.org/drawingml/2006/main">
            <a:r>
              <a:t/>
            </a:r>
          </a:p>
          <a:p xmlns:a="http://schemas.openxmlformats.org/drawingml/2006/main">
            <a:r>
              <a:t>Ask: Before we begin: Inspect the 40-document synthetic library manifest and choose the current M-01 agreement.</a:t>
            </a:r>
          </a:p>
          <a:p xmlns:a="http://schemas.openxmlformats.org/drawingml/2006/main">
            <a:r>
              <a:t/>
            </a:r>
          </a:p>
          <a:p xmlns:a="http://schemas.openxmlformats.org/drawingml/2006/main">
            <a:r>
              <a:t>Expected answer: Source selection and generated-answer fidelity are separate tests. Current permitted source selection is mandatory. A language model must preserve the exception and identify absent facts.</a:t>
            </a:r>
          </a:p>
          <a:p xmlns:a="http://schemas.openxmlformats.org/drawingml/2006/main">
            <a:r>
              <a:t/>
            </a:r>
          </a:p>
          <a:p xmlns:a="http://schemas.openxmlformats.org/drawingml/2006/main">
            <a:r>
              <a:t>If partly correct: Likely confusion: A stronger model repairs wrong-version retrieval. I will clarify: Give it v1 only and ask where the absent exception could be established. Then return to this slide’s question: Before we begin: Inspect the 40-document synthetic library manifest and choose the current M-01 agreement. A supported answer should establish: Source selection and generated-answer fidelity are separate tests. Current permitted source selection is mandatory. A language model must preserve the exception and identify absent facts.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What we can conclude.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Have the learner explain the conclusion before I summarise it. Compare the actual result with the model answer and preserve unresolved questions.</a:t>
            </a:r>
          </a:p>
          <a:p xmlns:a="http://schemas.openxmlformats.org/drawingml/2006/main">
            <a:r>
              <a:t/>
            </a:r>
          </a:p>
          <a:p xmlns:a="http://schemas.openxmlformats.org/drawingml/2006/main">
            <a:r>
              <a:t>Ask: Which part of today’s result remains unverified?</a:t>
            </a:r>
          </a:p>
          <a:p xmlns:a="http://schemas.openxmlformats.org/drawingml/2006/main">
            <a:r>
              <a:t/>
            </a:r>
          </a:p>
          <a:p xmlns:a="http://schemas.openxmlformats.org/drawingml/2006/main">
            <a:r>
              <a:t>Expected answer: The local lexical search is not vector retrieval or a live RAG product; it demonstrates version/access filtering only.</a:t>
            </a:r>
          </a:p>
          <a:p xmlns:a="http://schemas.openxmlformats.org/drawingml/2006/main">
            <a:r>
              <a:t/>
            </a:r>
          </a:p>
          <a:p xmlns:a="http://schemas.openxmlformats.org/drawingml/2006/main">
            <a:r>
              <a:t>If partly correct: Likely confusion: An embedding score determines the legal answer. I will clarify: Inspect the retrieved clause and its conditions after ranking. Then return to this slide’s question: Which part of today’s result remains unverified? A supported answer should establish: The local lexical search is not vector retrieval or a live RAG product; it demonstrates version/access filtering only.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firm decision.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Record a proposed owner and one condition before proceeding. This is a class decision record, not firm authorisation.</a:t>
            </a:r>
          </a:p>
          <a:p xmlns:a="http://schemas.openxmlformats.org/drawingml/2006/main">
            <a:r>
              <a:t/>
            </a:r>
          </a:p>
          <a:p xmlns:a="http://schemas.openxmlformats.org/drawingml/2006/main">
            <a:r>
              <a:t>Ask: What evidence would change this proposed decision?</a:t>
            </a:r>
          </a:p>
          <a:p xmlns:a="http://schemas.openxmlformats.org/drawingml/2006/main">
            <a:r>
              <a:t/>
            </a:r>
          </a:p>
          <a:p xmlns:a="http://schemas.openxmlformats.org/drawingml/2006/main">
            <a:r>
              <a:t>Expected answer: Pilot a maintained permitted collection with an owner, independent test cases and update rules. Revisit if the evidence, quality or permitted scope changes.</a:t>
            </a:r>
          </a:p>
          <a:p xmlns:a="http://schemas.openxmlformats.org/drawingml/2006/main">
            <a:r>
              <a:t/>
            </a:r>
          </a:p>
          <a:p xmlns:a="http://schemas.openxmlformats.org/drawingml/2006/main">
            <a:r>
              <a:t>If partly correct: Likely confusion: RAG means the model was trained on firm files. I will clarify: Follow the index and question-time evidence paths as separate operations. Then return to this slide’s question: What evidence would change this proposed decision? A supported answer should establish: Pilot a maintained permitted collection with an owner, independent test cases and update rules. Revisit if the evidence, quality or permitted scope changes.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Check understanding.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Ask these changed-fact questions before opening the answer key. Answer fidelity/uncertainty fails. Return a gap or clarification, not an invented answer. RAG can use keyword, vector or hybrid retrieval; it is not defined by vectors alone.</a:t>
            </a:r>
          </a:p>
          <a:p xmlns:a="http://schemas.openxmlformats.org/drawingml/2006/main">
            <a:r>
              <a:t/>
            </a:r>
          </a:p>
          <a:p xmlns:a="http://schemas.openxmlformats.org/drawingml/2006/main">
            <a:r>
              <a:t>Ask: A fresh retrieval result</a:t>
            </a:r>
          </a:p>
          <a:p xmlns:a="http://schemas.openxmlformats.org/drawingml/2006/main">
            <a:r>
              <a:t/>
            </a:r>
          </a:p>
          <a:p xmlns:a="http://schemas.openxmlformats.org/drawingml/2006/main">
            <a:r>
              <a:t>Expected answer: Answer fidelity/uncertainty fails. Return a gap or clarification, not an invented answer. RAG can use keyword, vector or hybrid retrieval; it is not defined by vectors alone.</a:t>
            </a:r>
          </a:p>
          <a:p xmlns:a="http://schemas.openxmlformats.org/drawingml/2006/main">
            <a:r>
              <a:t/>
            </a:r>
          </a:p>
          <a:p xmlns:a="http://schemas.openxmlformats.org/drawingml/2006/main">
            <a:r>
              <a:t>If partly correct: Likely confusion: A stronger model repairs wrong-version retrieval. I will clarify: Give it v1 only and ask where the absent exception could be established. Then return to this slide’s question: A fresh retrieval result A supported answer should establish: Answer fidelity/uncertainty fails. Return a gap or clarification, not an invented answer. RAG can use keyword, vector or hybrid retrieval; it is not defined by vectors alone.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Session 7: Legal research and deep research.</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Imagine assigning a coordinate list to a clause and a question. A compatible embedding model lets retrieval compare those lists. A two-dimensional drawing is a projection, not the actual geometry or proof of legal equivalence.</a:t>
            </a:r>
          </a:p>
          <a:p xmlns:a="http://schemas.openxmlformats.org/drawingml/2006/main">
            <a:r>
              <a:t/>
            </a:r>
          </a:p>
          <a:p xmlns:a="http://schemas.openxmlformats.org/drawingml/2006/main">
            <a:r>
              <a:t>Ask: Is generating a document embedding the same as training the base model?</a:t>
            </a:r>
          </a:p>
          <a:p xmlns:a="http://schemas.openxmlformats.org/drawingml/2006/main">
            <a:r>
              <a:t/>
            </a:r>
          </a:p>
          <a:p xmlns:a="http://schemas.openxmlformats.org/drawingml/2006/main">
            <a:r>
              <a:t>Expected answer: No. An existing model can compute the representation.</a:t>
            </a:r>
          </a:p>
          <a:p xmlns:a="http://schemas.openxmlformats.org/drawingml/2006/main">
            <a:r>
              <a:t/>
            </a:r>
          </a:p>
          <a:p xmlns:a="http://schemas.openxmlformats.org/drawingml/2006/main">
            <a:r>
              <a:t>If partly correct: Likely confusion: An embedding score determines the legal answer. I will clarify: Inspect the retrieved clause and its conditions after ranking. Then return to this slide’s question: Is generating a document embedding the same as training the base model? A supported answer should establish: No. An existing model can compute the representation.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https://developers.google.com/machine-learning/crash-course/embeddings/obtaining-embeddings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Teach context limits and answer relevance rather than insisting on a vector database for every task. Context caching can reuse supported computation; it does not update stale evidence by itself. CAG is a specialised context-caching approach, not a synonym for all caching. Cache-augmented generation (CAG) preloads a manageable collection and reuses supported cached computation; it is not parameter training or guaranteed permanent memory. Corpus size, access and updates still matter.</a:t>
            </a:r>
          </a:p>
          <a:p xmlns:a="http://schemas.openxmlformats.org/drawingml/2006/main">
            <a:r>
              <a:t/>
            </a:r>
          </a:p>
          <a:p xmlns:a="http://schemas.openxmlformats.org/drawingml/2006/main">
            <a:r>
              <a:t>Ask: When might direct context be sufficient?</a:t>
            </a:r>
          </a:p>
          <a:p xmlns:a="http://schemas.openxmlformats.org/drawingml/2006/main">
            <a:r>
              <a:t/>
            </a:r>
          </a:p>
          <a:p xmlns:a="http://schemas.openxmlformats.org/drawingml/2006/main">
            <a:r>
              <a:t>Expected answer: A manageable, permitted set of documents for a bounded question.</a:t>
            </a:r>
          </a:p>
          <a:p xmlns:a="http://schemas.openxmlformats.org/drawingml/2006/main">
            <a:r>
              <a:t/>
            </a:r>
          </a:p>
          <a:p xmlns:a="http://schemas.openxmlformats.org/drawingml/2006/main">
            <a:r>
              <a:t>If partly correct: Likely confusion: RAG means the model was trained on firm files. I will clarify: Follow the index and question-time evidence paths as separate operations. Then return to this slide’s question: When might direct context be sufficient? A supported answer should establish: A manageable, permitted set of documents for a bounded question.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https://www.anthropic.com/research/contextual-retrieval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Show an unanswerable question. The assistant should abstain or ask for facts. A source citation does not justify filling an evidential gap.</a:t>
            </a:r>
          </a:p>
          <a:p xmlns:a="http://schemas.openxmlformats.org/drawingml/2006/main">
            <a:r>
              <a:t/>
            </a:r>
          </a:p>
          <a:p xmlns:a="http://schemas.openxmlformats.org/drawingml/2006/main">
            <a:r>
              <a:t>Ask: What is a useful response here?</a:t>
            </a:r>
          </a:p>
          <a:p xmlns:a="http://schemas.openxmlformats.org/drawingml/2006/main">
            <a:r>
              <a:t/>
            </a:r>
          </a:p>
          <a:p xmlns:a="http://schemas.openxmlformats.org/drawingml/2006/main">
            <a:r>
              <a:t>Expected answer: State what the agreement says and request the missing transaction evidence.</a:t>
            </a:r>
          </a:p>
          <a:p xmlns:a="http://schemas.openxmlformats.org/drawingml/2006/main">
            <a:r>
              <a:t/>
            </a:r>
          </a:p>
          <a:p xmlns:a="http://schemas.openxmlformats.org/drawingml/2006/main">
            <a:r>
              <a:t>If partly correct: Likely confusion: A stronger model repairs wrong-version retrieval. I will clarify: Give it v1 only and ask where the absent exception could be established. Then return to this slide’s question: What is a useful response here? A supported answer should establish: State what the agreement says and request the missing transaction evidence.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does the assistant find current permitted evidence and use it faithfully?</a:t>
            </a:r>
          </a:p>
          <a:p xmlns:a="http://schemas.openxmlformats.org/drawingml/2006/main">
            <a:r>
              <a:t/>
            </a:r>
          </a:p>
          <a:p xmlns:a="http://schemas.openxmlformats.org/drawingml/2006/main">
            <a:r>
              <a:t>I will explain: Show that custom development has maintenance costs. A built-in tool may fit, but vendor claims require task and permission tests.</a:t>
            </a:r>
          </a:p>
          <a:p xmlns:a="http://schemas.openxmlformats.org/drawingml/2006/main">
            <a:r>
              <a:t/>
            </a:r>
          </a:p>
          <a:p xmlns:a="http://schemas.openxmlformats.org/drawingml/2006/main">
            <a:r>
              <a:t>Ask: What should a vendor demonstrate with our sample?</a:t>
            </a:r>
          </a:p>
          <a:p xmlns:a="http://schemas.openxmlformats.org/drawingml/2006/main">
            <a:r>
              <a:t/>
            </a:r>
          </a:p>
          <a:p xmlns:a="http://schemas.openxmlformats.org/drawingml/2006/main">
            <a:r>
              <a:t>Expected answer: Correct retrieval, traceable answers, missing-answer handling and access behaviour.</a:t>
            </a:r>
          </a:p>
          <a:p xmlns:a="http://schemas.openxmlformats.org/drawingml/2006/main">
            <a:r>
              <a:t/>
            </a:r>
          </a:p>
          <a:p xmlns:a="http://schemas.openxmlformats.org/drawingml/2006/main">
            <a:r>
              <a:t>If partly correct: Likely confusion: An embedding score determines the legal answer. I will clarify: Inspect the retrieved clause and its conditions after ranking. Then return to this slide’s question: What should a vendor demonstrate with our sample? A supported answer should establish: Correct retrieval, traceable answers, missing-answer handling and access behaviour.</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https://www.netdocuments.com/en-gb/solutions/ai-search/</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0af56a643849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2d04ac56954e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233dcdb01b4e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c5b4d894b74f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ca6bc9aa0c4d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373e15ae0042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9509EA-181B-4407-A34A-DFD612E174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FE331F-02D9-43D0-B54A-6EC99542BE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013A4C-E6C9-4520-A217-8811C90B5C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3D1580-D457-4B8E-84FE-C9D66B6E70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2546372-2066-4A79-A62E-1DFCB0D5F7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27BBBE-DBF6-4BC6-A2D0-858F530CA4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538D18-9658-4835-819F-C43391F3E8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7EA7DD-4D9A-4AAA-9B08-87A5AB0E5CD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ADD8FE-44B4-4EFC-95A5-33046E5994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E38F67-1266-4BD7-BEA6-26151335D7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ca387dc50348ce" /><Relationship Type="http://schemas.openxmlformats.org/officeDocument/2006/relationships/slideLayout" Target="/ppt/slideLayouts/slideLayout1.xml" Id="R528bbeb308994e64" /><Relationship Type="http://schemas.openxmlformats.org/officeDocument/2006/relationships/slideLayout" Target="/ppt/slideLayouts/slideLayout2.xml" Id="R5a60a4dfac3645f0" /><Relationship Type="http://schemas.openxmlformats.org/officeDocument/2006/relationships/slideLayout" Target="/ppt/slideLayouts/slideLayout3.xml" Id="Rc25eaead3aad4d1b" /><Relationship Type="http://schemas.openxmlformats.org/officeDocument/2006/relationships/slideLayout" Target="/ppt/slideLayouts/slideLayout4.xml" Id="R4906308396bb43b3" /><Relationship Type="http://schemas.openxmlformats.org/officeDocument/2006/relationships/slideLayout" Target="/ppt/slideLayouts/slideLayout5.xml" Id="Rdfb1b8efafb24a4d" /><Relationship Type="http://schemas.openxmlformats.org/officeDocument/2006/relationships/slideLayout" Target="/ppt/slideLayouts/slideLayout6.xml" Id="Reb668366f69146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8bbeb308994e64"/>
    <p:sldLayoutId xmlns:r="http://schemas.openxmlformats.org/officeDocument/2006/relationships" id="2147483650" r:id="R5a60a4dfac3645f0"/>
    <p:sldLayoutId xmlns:r="http://schemas.openxmlformats.org/officeDocument/2006/relationships" id="2147483651" r:id="Rc25eaead3aad4d1b"/>
    <p:sldLayoutId xmlns:r="http://schemas.openxmlformats.org/officeDocument/2006/relationships" id="2147483652" r:id="R4906308396bb43b3"/>
    <p:sldLayoutId xmlns:r="http://schemas.openxmlformats.org/officeDocument/2006/relationships" id="2147483653" r:id="Rdfb1b8efafb24a4d"/>
    <p:sldLayoutId xmlns:r="http://schemas.openxmlformats.org/officeDocument/2006/relationships" id="2147483654" r:id="Reb668366f69146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8f9a9861624774" /><Relationship Type="http://schemas.openxmlformats.org/officeDocument/2006/relationships/notesSlide" Target="/ppt/notesSlides/notesSlide1.xml" Id="R12803c8fe1f34a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74407cda394fc9" /><Relationship Type="http://schemas.openxmlformats.org/officeDocument/2006/relationships/notesSlide" Target="/ppt/notesSlides/notesSlide2.xml" Id="R35f51007a90548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56b9c9e4b334f39" /><Relationship Type="http://schemas.openxmlformats.org/officeDocument/2006/relationships/notesSlide" Target="/ppt/notesSlides/notesSlide3.xml" Id="R6ab66bc55bad40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1f522e9332c4a09" /><Relationship Type="http://schemas.openxmlformats.org/officeDocument/2006/relationships/notesSlide" Target="/ppt/notesSlides/notesSlide4.xml" Id="R6d8b0365e29b49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c13b91e98c4d97" /><Relationship Type="http://schemas.openxmlformats.org/officeDocument/2006/relationships/notesSlide" Target="/ppt/notesSlides/notesSlide5.xml" Id="R02353d7da18d48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5e37d966e14e05" /><Relationship Type="http://schemas.openxmlformats.org/officeDocument/2006/relationships/notesSlide" Target="/ppt/notesSlides/notesSlide6.xml" Id="R9667e97e361640c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525ebb7ea834252" /><Relationship Type="http://schemas.openxmlformats.org/officeDocument/2006/relationships/notesSlide" Target="/ppt/notesSlides/notesSlide7.xml" Id="R2068aca3396841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74bd9eb1711427f" /><Relationship Type="http://schemas.openxmlformats.org/officeDocument/2006/relationships/notesSlide" Target="/ppt/notesSlides/notesSlide8.xml" Id="R268d5e10f9ae44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87fee4ccbd94cee" /><Relationship Type="http://schemas.openxmlformats.org/officeDocument/2006/relationships/notesSlide" Target="/ppt/notesSlides/notesSlide9.xml" Id="Rf10cc242c8f340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d1e2470420426f" /><Relationship Type="http://schemas.openxmlformats.org/officeDocument/2006/relationships/notesSlide" Target="/ppt/notesSlides/notesSlide10.xml" Id="Rdb3e455697d54c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67bd79d8d294d1c" /><Relationship Type="http://schemas.openxmlformats.org/officeDocument/2006/relationships/notesSlide" Target="/ppt/notesSlides/notesSlide11.xml" Id="R098506ee747246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cf1d5866d03493b" /><Relationship Type="http://schemas.openxmlformats.org/officeDocument/2006/relationships/notesSlide" Target="/ppt/notesSlides/notesSlide12.xml" Id="R3d73bd1acc634d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3b3f7ad9d824666" /><Relationship Type="http://schemas.openxmlformats.org/officeDocument/2006/relationships/notesSlide" Target="/ppt/notesSlides/notesSlide13.xml" Id="R53bcbbaabfbd41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3d5c38915d4c2a" /><Relationship Type="http://schemas.openxmlformats.org/officeDocument/2006/relationships/notesSlide" Target="/ppt/notesSlides/notesSlide14.xml" Id="R75746517dcfc4b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50dd06f78bc4363" /><Relationship Type="http://schemas.openxmlformats.org/officeDocument/2006/relationships/notesSlide" Target="/ppt/notesSlides/notesSlide15.xml" Id="R5f49384db5b247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ccdba51839d4d48" /><Relationship Type="http://schemas.openxmlformats.org/officeDocument/2006/relationships/notesSlide" Target="/ppt/notesSlides/notesSlide16.xml" Id="Ra6616a86abb544a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57554312407412d" /><Relationship Type="http://schemas.openxmlformats.org/officeDocument/2006/relationships/notesSlide" Target="/ppt/notesSlides/notesSlide17.xml" Id="R5e3298712ca8407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c1b37949d6d4690" /><Relationship Type="http://schemas.openxmlformats.org/officeDocument/2006/relationships/notesSlide" Target="/ppt/notesSlides/notesSlide18.xml" Id="R9ae8606c771a41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e7ff65f2a494bd3" /><Relationship Type="http://schemas.openxmlformats.org/officeDocument/2006/relationships/notesSlide" Target="/ppt/notesSlides/notesSlide19.xml" Id="Rcea1408e61854f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9092b68c7b146ee" /><Relationship Type="http://schemas.openxmlformats.org/officeDocument/2006/relationships/notesSlide" Target="/ppt/notesSlides/notesSlide20.xml" Id="R242187c6e2eb496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5a3b435b62140ee" /><Relationship Type="http://schemas.openxmlformats.org/officeDocument/2006/relationships/notesSlide" Target="/ppt/notesSlides/notesSlide21.xml" Id="Rf53a7cafdf8b4b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ac98dd277e34650" /><Relationship Type="http://schemas.openxmlformats.org/officeDocument/2006/relationships/notesSlide" Target="/ppt/notesSlides/notesSlide22.xml" Id="R725244d9a5d0412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5661c6a266047ef" /><Relationship Type="http://schemas.openxmlformats.org/officeDocument/2006/relationships/notesSlide" Target="/ppt/notesSlides/notesSlide23.xml" Id="Rda7f3bc4d44843b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9a65aad17e44a43" /><Relationship Type="http://schemas.openxmlformats.org/officeDocument/2006/relationships/notesSlide" Target="/ppt/notesSlides/notesSlide24.xml" Id="R61d0128ea3234337"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Internal knowledge search and retrieval">
    <p:bg>
      <p:bgPr>
        <a:solidFill>
          <a:srgbClr val="1C3144"/>
        </a:solidFill>
      </p:bgPr>
    </p:bg>
    <p:spTree>
      <p:nvGrpSpPr>
        <p:cNvPr id="1" name=""/>
        <p:cNvGrpSpPr/>
        <p:nvPr/>
      </p:nvGrpSpPr>
      <p:grpSpPr>
        <a:xfrm/>
      </p:grpSpPr>
      <p:sp>
        <p:nvSpPr>
          <p:cNvPr id="5" name="text-291">
            <a:extLst>
              <a:ext uri="{FF2B5EF4-FFF2-40B4-BE49-F238E27FC236}">
                <ns2:creationId id="{3CDB3405-7DE4-4884-AC07-40968D2D337D}"/>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06</a:t>
            </a:r>
          </a:p>
        </p:txBody>
      </p:sp>
      <p:sp>
        <p:nvSpPr>
          <p:cNvPr id="2" name="text-292">
            <a:extLst>
              <a:ext uri="{FF2B5EF4-FFF2-40B4-BE49-F238E27FC236}">
                <ns2:creationId id="{EB83A842-58F7-45D7-BE77-AFCCAD4861AD}"/>
              </a:ext>
            </a:extLst>
          </p:cNvPr>
          <p:cNvSpPr>
            <a:spLocks noGrp="1"/>
          </p:cNvSpPr>
          <p:nvPr>
            <p:ph type="title"/>
          </p:nvPr>
        </p:nvSpPr>
        <p:spPr>
          <a:xfrm>
            <a:off x="619125" y="1676400"/>
            <a:ext cx="106203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Internal knowledge search and retrieval</a:t>
            </a:r>
          </a:p>
        </p:txBody>
      </p:sp>
      <p:sp>
        <p:nvSpPr>
          <p:cNvPr id="3" name="text-293">
            <a:extLst>
              <a:ext uri="{FF2B5EF4-FFF2-40B4-BE49-F238E27FC236}">
                <ns2:creationId id="{41F66198-4104-4645-AE65-365CDA3D0845}"/>
              </a:ext>
            </a:extLst>
          </p:cNvPr>
          <p:cNvSpPr>
            <a:spLocks noGrp="1"/>
          </p:cNvSpPr>
          <p:nvPr/>
        </p:nvSpPr>
        <p:spPr>
          <a:xfrm>
            <a:off x="619125" y="4095750"/>
            <a:ext cx="10382250"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How does the assistant find current permitted evidence and use it faithfully?</a:t>
            </a:r>
          </a:p>
        </p:txBody>
      </p:sp>
      <p:sp>
        <p:nvSpPr>
          <p:cNvPr id="4" name="text-294">
            <a:extLst>
              <a:ext uri="{FF2B5EF4-FFF2-40B4-BE49-F238E27FC236}">
                <ns2:creationId id="{1A558AE0-BE7E-4BE7-A359-4F15D62EE587}"/>
              </a:ext>
            </a:extLst>
          </p:cNvPr>
          <p:cNvSpPr>
            <a:spLocks noGrp="1"/>
          </p:cNvSpPr>
          <p:nvPr/>
        </p:nvSpPr>
        <p:spPr>
          <a:xfrm>
            <a:off x="619125" y="6010275"/>
            <a:ext cx="10668000"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800" b="0">
                <a:solidFill>
                  <a:srgbClr val="DCE8E6"/>
                </a:solidFill>
                <a:latin typeface="Calibri"/>
                <a:ea typeface="Calibri"/>
                <a:cs typeface="Calibri"/>
              </a:rPr>
              <a:t>Jotham Martin Wambi   KLAi Professional Learning</a:t>
            </a:r>
          </a:p>
        </p:txBody>
      </p:sp>
    </p:spTree>
    <p:extLst>
      <p:ext uri="{BB962C8B-B14F-4D97-AF65-F5344CB8AC3E}">
        <ns3:creationId val="1727982416"/>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source preparation">
    <p:bg>
      <p:bgPr>
        <a:solidFill>
          <a:srgbClr val="FFFFFF"/>
        </a:solidFill>
      </p:bgPr>
    </p:bg>
    <p:spTree>
      <p:nvGrpSpPr>
        <p:cNvPr id="1" name=""/>
        <p:cNvGrpSpPr/>
        <p:nvPr/>
      </p:nvGrpSpPr>
      <p:grpSpPr>
        <a:xfrm/>
      </p:grpSpPr>
      <p:sp>
        <p:nvSpPr>
          <p:cNvPr id="9" name="text-295">
            <a:extLst>
              <a:ext uri="{FF2B5EF4-FFF2-40B4-BE49-F238E27FC236}">
                <ns2:creationId id="{ADF3E38D-F196-4ED1-82A7-26D1EFD4D98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296">
            <a:extLst>
              <a:ext uri="{FF2B5EF4-FFF2-40B4-BE49-F238E27FC236}">
                <ns2:creationId id="{77661D2B-A886-4A0F-8547-D6949A4B8EA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source preparation</a:t>
            </a:r>
          </a:p>
        </p:txBody>
      </p:sp>
      <p:sp>
        <p:nvSpPr>
          <p:cNvPr id="4" name="text-298">
            <a:extLst>
              <a:ext uri="{FF2B5EF4-FFF2-40B4-BE49-F238E27FC236}">
                <ns2:creationId id="{CFE91AFB-744C-45D2-9E09-6006C5BD0ECB}"/>
              </a:ext>
            </a:extLst>
          </p:cNvPr>
          <p:cNvSpPr>
            <a:spLocks noGrp="1"/>
          </p:cNvSpPr>
          <p:nvPr/>
        </p:nvSpPr>
        <p:spPr>
          <a:xfrm>
            <a:off x="619125" y="2000250"/>
            <a:ext cx="10858500"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5</a:t>
            </a:r>
          </a:p>
        </p:txBody>
      </p:sp>
      <p:sp>
        <p:nvSpPr>
          <p:cNvPr id="5" name="text-299">
            <a:extLst>
              <a:ext uri="{FF2B5EF4-FFF2-40B4-BE49-F238E27FC236}">
                <ns2:creationId id="{8DA3F9AB-B7A3-4C70-A6F4-BCDE6C5323F5}"/>
              </a:ext>
            </a:extLst>
          </p:cNvPr>
          <p:cNvSpPr>
            <a:spLocks noGrp="1"/>
          </p:cNvSpPr>
          <p:nvPr/>
        </p:nvSpPr>
        <p:spPr>
          <a:xfrm>
            <a:off x="619125" y="2495550"/>
            <a:ext cx="10858500"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Two readable versions exist. What must retrieval know beyond the text?</a:t>
            </a:r>
          </a:p>
        </p:txBody>
      </p:sp>
      <p:sp>
        <p:nvSpPr>
          <p:cNvPr id="6" name="text-300">
            <a:extLst>
              <a:ext uri="{FF2B5EF4-FFF2-40B4-BE49-F238E27FC236}">
                <ns2:creationId id="{17335D79-DF15-4D00-B9F3-32E9DAB490DA}"/>
              </a:ext>
            </a:extLst>
          </p:cNvPr>
          <p:cNvSpPr>
            <a:spLocks noGrp="1"/>
          </p:cNvSpPr>
          <p:nvPr/>
        </p:nvSpPr>
        <p:spPr>
          <a:xfrm>
            <a:off x="619125" y="3857625"/>
            <a:ext cx="10858500"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301">
            <a:extLst>
              <a:ext uri="{FF2B5EF4-FFF2-40B4-BE49-F238E27FC236}">
                <ns2:creationId id="{C0037471-66FC-4A1A-BDED-C4D6AD6F1DE3}"/>
              </a:ext>
            </a:extLst>
          </p:cNvPr>
          <p:cNvSpPr>
            <a:spLocks noGrp="1"/>
          </p:cNvSpPr>
          <p:nvPr/>
        </p:nvSpPr>
        <p:spPr>
          <a:xfrm>
            <a:off x="619125" y="4362450"/>
            <a:ext cx="10858500"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How does the assistant find current permitted evidence and use it faithfully?</a:t>
            </a:r>
          </a:p>
        </p:txBody>
      </p:sp>
      <p:sp>
        <p:nvSpPr>
          <p:cNvPr id="8" name="text-302">
            <a:extLst>
              <a:ext uri="{FF2B5EF4-FFF2-40B4-BE49-F238E27FC236}">
                <ns2:creationId id="{DCF8A869-1353-4E53-9BC1-1CF224944C63}"/>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scored retrieval test and a source-linked answer.</a:t>
            </a:r>
          </a:p>
        </p:txBody>
      </p:sp>
      <p:sp>
        <p:nvSpPr>
          <p:cNvPr id="3" name="text-297">
            <a:extLst>
              <a:ext uri="{FF2B5EF4-FFF2-40B4-BE49-F238E27FC236}">
                <ns2:creationId id="{D2490972-F69F-4DD5-B1E7-7C699DB0A64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a:t>
            </a:r>
          </a:p>
        </p:txBody>
      </p:sp>
    </p:spTree>
    <p:extLst>
      <p:ext uri="{BB962C8B-B14F-4D97-AF65-F5344CB8AC3E}">
        <ns3:creationId val="1976622040"/>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question returns">
    <p:bg>
      <p:bgPr>
        <a:solidFill>
          <a:srgbClr val="FFFFFF"/>
        </a:solidFill>
      </p:bgPr>
    </p:bg>
    <p:spTree>
      <p:nvGrpSpPr>
        <p:cNvPr id="1" name=""/>
        <p:cNvGrpSpPr/>
        <p:nvPr/>
      </p:nvGrpSpPr>
      <p:grpSpPr>
        <a:xfrm/>
      </p:grpSpPr>
      <p:sp>
        <p:nvSpPr>
          <p:cNvPr id="8" name="text-303">
            <a:extLst>
              <a:ext uri="{FF2B5EF4-FFF2-40B4-BE49-F238E27FC236}">
                <ns2:creationId id="{38D162A8-A511-4D00-B21A-B62A03CCB51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04">
            <a:extLst>
              <a:ext uri="{FF2B5EF4-FFF2-40B4-BE49-F238E27FC236}">
                <ns2:creationId id="{C6DAAE62-9B1D-4925-9631-52EEF3BC28F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question returns</a:t>
            </a:r>
          </a:p>
        </p:txBody>
      </p:sp>
      <p:sp>
        <p:nvSpPr>
          <p:cNvPr id="4" name="text-306">
            <a:extLst>
              <a:ext uri="{FF2B5EF4-FFF2-40B4-BE49-F238E27FC236}">
                <ns2:creationId id="{E7E6A6C5-AF7D-4D06-AABB-770EB4410CB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07">
            <a:extLst>
              <a:ext uri="{FF2B5EF4-FFF2-40B4-BE49-F238E27FC236}">
                <ns2:creationId id="{0C9CE206-29C1-4754-BB8F-D84D7085DF27}"/>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Does clause 3 require consent for the proposed reorganisation?</a:t>
            </a:r>
          </a:p>
        </p:txBody>
      </p:sp>
      <p:sp>
        <p:nvSpPr>
          <p:cNvPr id="6" name="text-308">
            <a:extLst>
              <a:ext uri="{FF2B5EF4-FFF2-40B4-BE49-F238E27FC236}">
                <ns2:creationId id="{4058C8D5-831A-4811-929C-61EF3171D2CF}"/>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09">
            <a:extLst>
              <a:ext uri="{FF2B5EF4-FFF2-40B4-BE49-F238E27FC236}">
                <ns2:creationId id="{67A98685-587B-457B-AA53-44FF3DFA3BAC}"/>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collection contains the executed agreement and an older draft.</a:t>
            </a:r>
          </a:p>
        </p:txBody>
      </p:sp>
      <p:sp>
        <p:nvSpPr>
          <p:cNvPr id="3" name="text-305">
            <a:extLst>
              <a:ext uri="{FF2B5EF4-FFF2-40B4-BE49-F238E27FC236}">
                <ns2:creationId id="{AA5F7341-FCD8-41C0-9B81-DCBC376D428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3</a:t>
            </a:r>
          </a:p>
        </p:txBody>
      </p:sp>
    </p:spTree>
    <p:extLst>
      <p:ext uri="{BB962C8B-B14F-4D97-AF65-F5344CB8AC3E}">
        <ns3:creationId val="40303650"/>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Search results and generated answers">
    <p:bg>
      <p:bgPr>
        <a:solidFill>
          <a:srgbClr val="FFFFFF"/>
        </a:solidFill>
      </p:bgPr>
    </p:bg>
    <p:spTree>
      <p:nvGrpSpPr>
        <p:cNvPr id="1" name=""/>
        <p:cNvGrpSpPr/>
        <p:nvPr/>
      </p:nvGrpSpPr>
      <p:grpSpPr>
        <a:xfrm/>
      </p:grpSpPr>
      <p:sp>
        <p:nvSpPr>
          <p:cNvPr id="8" name="text-310">
            <a:extLst>
              <a:ext uri="{FF2B5EF4-FFF2-40B4-BE49-F238E27FC236}">
                <ns2:creationId id="{79F37EE0-A47B-4784-9CC5-11A71A4F5E0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11">
            <a:extLst>
              <a:ext uri="{FF2B5EF4-FFF2-40B4-BE49-F238E27FC236}">
                <ns2:creationId id="{4BE7CBA9-9436-4082-A0D2-2E30BE31656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Search results and generated answers</a:t>
            </a:r>
          </a:p>
        </p:txBody>
      </p:sp>
      <p:sp>
        <p:nvSpPr>
          <p:cNvPr id="4" name="text-313">
            <a:extLst>
              <a:ext uri="{FF2B5EF4-FFF2-40B4-BE49-F238E27FC236}">
                <ns2:creationId id="{462C702C-0C3A-4BD8-9D45-C0C07B3F43B1}"/>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Search</a:t>
            </a:r>
          </a:p>
        </p:txBody>
      </p:sp>
      <p:sp>
        <p:nvSpPr>
          <p:cNvPr id="5" name="text-314">
            <a:extLst>
              <a:ext uri="{FF2B5EF4-FFF2-40B4-BE49-F238E27FC236}">
                <ns2:creationId id="{D7D851A8-33AA-461D-88C5-E7CBD3314303}"/>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Returns documents or passages for the person to read.</a:t>
            </a:r>
          </a:p>
        </p:txBody>
      </p:sp>
      <p:sp>
        <p:nvSpPr>
          <p:cNvPr id="6" name="text-315">
            <a:extLst>
              <a:ext uri="{FF2B5EF4-FFF2-40B4-BE49-F238E27FC236}">
                <ns2:creationId id="{A3C0BCFA-B5E4-479C-9B58-F1FD0D1C48AB}"/>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Generated answer</a:t>
            </a:r>
          </a:p>
        </p:txBody>
      </p:sp>
      <p:sp>
        <p:nvSpPr>
          <p:cNvPr id="7" name="text-316">
            <a:extLst>
              <a:ext uri="{FF2B5EF4-FFF2-40B4-BE49-F238E27FC236}">
                <ns2:creationId id="{7F34C906-730E-4DF2-AE96-F01974C8A693}"/>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Produces a response using selected information, which needs checking.</a:t>
            </a:r>
          </a:p>
        </p:txBody>
      </p:sp>
      <p:sp>
        <p:nvSpPr>
          <p:cNvPr id="3" name="text-312">
            <a:extLst>
              <a:ext uri="{FF2B5EF4-FFF2-40B4-BE49-F238E27FC236}">
                <ns2:creationId id="{F438B15A-227C-45AF-A277-E8D565DDC41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4</a:t>
            </a:r>
          </a:p>
        </p:txBody>
      </p:sp>
    </p:spTree>
    <p:extLst>
      <p:ext uri="{BB962C8B-B14F-4D97-AF65-F5344CB8AC3E}">
        <ns3:creationId val="810357135"/>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RAG">
    <p:bg>
      <p:bgPr>
        <a:solidFill>
          <a:srgbClr val="FFFFFF"/>
        </a:solidFill>
      </p:bgPr>
    </p:bg>
    <p:spTree>
      <p:nvGrpSpPr>
        <p:cNvPr id="1" name=""/>
        <p:cNvGrpSpPr/>
        <p:nvPr/>
      </p:nvGrpSpPr>
      <p:grpSpPr>
        <a:xfrm/>
      </p:grpSpPr>
      <p:sp>
        <p:nvSpPr>
          <p:cNvPr id="7" name="text-317">
            <a:extLst>
              <a:ext uri="{FF2B5EF4-FFF2-40B4-BE49-F238E27FC236}">
                <ns2:creationId id="{D6ACDC91-98B3-43EA-92E0-A34BA9C8A42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18">
            <a:extLst>
              <a:ext uri="{FF2B5EF4-FFF2-40B4-BE49-F238E27FC236}">
                <ns2:creationId id="{CAE6D91A-F734-4E3C-AEAB-9856698BD33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RAG</a:t>
            </a:r>
          </a:p>
        </p:txBody>
      </p:sp>
      <p:sp>
        <p:nvSpPr>
          <p:cNvPr id="4" name="text-320">
            <a:extLst>
              <a:ext uri="{FF2B5EF4-FFF2-40B4-BE49-F238E27FC236}">
                <ns2:creationId id="{8931B4F8-D34F-4F17-8A3D-87C3336E2AC0}"/>
              </a:ext>
            </a:extLst>
          </p:cNvPr>
          <p:cNvSpPr>
            <a:spLocks noGrp="1"/>
          </p:cNvSpPr>
          <p:nvPr/>
        </p:nvSpPr>
        <p:spPr>
          <a:xfrm>
            <a:off x="619125" y="1933575"/>
            <a:ext cx="10953750"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Retrieval-augmented generation retrieves relevant source material and supplies it to a generative model when producing an answer.</a:t>
            </a:r>
          </a:p>
        </p:txBody>
      </p:sp>
      <p:sp>
        <p:nvSpPr>
          <p:cNvPr id="5" name="text-321">
            <a:extLst>
              <a:ext uri="{FF2B5EF4-FFF2-40B4-BE49-F238E27FC236}">
                <ns2:creationId id="{64A6F351-ECBE-4302-B802-DFF5F226FD48}"/>
              </a:ext>
            </a:extLst>
          </p:cNvPr>
          <p:cNvSpPr>
            <a:spLocks noGrp="1"/>
          </p:cNvSpPr>
          <p:nvPr/>
        </p:nvSpPr>
        <p:spPr>
          <a:xfrm>
            <a:off x="619125" y="4476750"/>
            <a:ext cx="10953750"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322">
            <a:extLst>
              <a:ext uri="{FF2B5EF4-FFF2-40B4-BE49-F238E27FC236}">
                <ns2:creationId id="{1A2ED357-E08E-4E2B-AA63-68628D833DEB}"/>
              </a:ext>
            </a:extLst>
          </p:cNvPr>
          <p:cNvSpPr>
            <a:spLocks noGrp="1"/>
          </p:cNvSpPr>
          <p:nvPr/>
        </p:nvSpPr>
        <p:spPr>
          <a:xfrm>
            <a:off x="619125" y="4962525"/>
            <a:ext cx="10953750"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Retrieve the current clause 3 and supply it with the question so the model can draft a consent analysis.</a:t>
            </a:r>
          </a:p>
        </p:txBody>
      </p:sp>
      <p:sp>
        <p:nvSpPr>
          <p:cNvPr id="3" name="text-319">
            <a:extLst>
              <a:ext uri="{FF2B5EF4-FFF2-40B4-BE49-F238E27FC236}">
                <ns2:creationId id="{D68857B7-99FC-4E31-9F0E-3C61EC6DF4C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5</a:t>
            </a:r>
          </a:p>
        </p:txBody>
      </p:sp>
    </p:spTree>
    <p:extLst>
      <p:ext uri="{BB962C8B-B14F-4D97-AF65-F5344CB8AC3E}">
        <ns3:creationId val="648393512"/>
      </p:ext>
    </p:extLst>
  </p:cSld>
  <p:transition spd="med" advClick="1">
    <p:fade/>
  </p:transition>
</p:sld>
</file>

<file path=ppt/slides/slide6.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wo phases of a retrieval system">
    <p:bg>
      <p:bgPr>
        <a:solidFill>
          <a:srgbClr val="FFFFFF"/>
        </a:solidFill>
      </p:bgPr>
    </p:bg>
    <p:spTree>
      <p:nvGrpSpPr>
        <p:cNvPr id="1" name=""/>
        <p:cNvGrpSpPr/>
        <p:nvPr/>
      </p:nvGrpSpPr>
      <p:grpSpPr>
        <a:xfrm/>
      </p:grpSpPr>
      <p:cxnSp>
        <p:nvCxnSpPr>
          <p:cNvPr id="35" name="reveal-08-answer-arrow" descr="Two phases of a retrieval system">
            <a:extLst>
              <a:ext uri="{FF2B5EF4-FFF2-40B4-BE49-F238E27FC236}">
                <ns2:creationId id="{D4B04ED8-7CE1-4B5A-9DF4-0EFFCEBE3054}"/>
              </a:ext>
            </a:extLst>
          </p:cNvPr>
          <p:cNvCxnSpPr>
            <a:stCxn id="28" idx="3"/>
            <a:endCxn id="32" idx="1"/>
          </p:cNvCxnSpPr>
          <p:nvPr/>
        </p:nvCxnSpPr>
        <p:spPr>
          <a:xfrm>
            <a:off x="8734425" y="5086350"/>
            <a:ext cx="342900" cy="0"/>
          </a:xfrm>
          <a:prstGeom prst="straightConnector1">
            <a:avLst/>
          </a:prstGeom>
          <a:ln w="23813">
            <a:solidFill>
              <a:srgbClr val="246E63"/>
            </a:solidFill>
            <a:tailEnd type="arrow" w="med" len="med"/>
          </a:ln>
        </p:spPr>
      </p:cxnSp>
      <p:cxnSp>
        <p:nvCxnSpPr>
          <p:cNvPr id="31" name="reveal-07-answer-arrow">
            <a:extLst>
              <a:ext uri="{FF2B5EF4-FFF2-40B4-BE49-F238E27FC236}">
                <ns2:creationId id="{835EC21B-261E-4D3C-94C5-5375DF9B866F}"/>
              </a:ext>
              <a:ext uri="{C183D7F6-B498-43B3-948B-1728B52AA6E4}">
                <ns3:decorative val="1"/>
              </a:ext>
            </a:extLst>
          </p:cNvPr>
          <p:cNvCxnSpPr>
            <a:stCxn id="24" idx="3"/>
            <a:endCxn id="28" idx="1"/>
          </p:cNvCxnSpPr>
          <p:nvPr/>
        </p:nvCxnSpPr>
        <p:spPr>
          <a:xfrm>
            <a:off x="5915025" y="5086350"/>
            <a:ext cx="342900" cy="0"/>
          </a:xfrm>
          <a:prstGeom prst="straightConnector1">
            <a:avLst/>
          </a:prstGeom>
          <a:ln w="23813">
            <a:solidFill>
              <a:srgbClr val="246E63"/>
            </a:solidFill>
            <a:tailEnd type="arrow" w="med" len="med"/>
          </a:ln>
        </p:spPr>
      </p:cxnSp>
      <p:cxnSp>
        <p:nvCxnSpPr>
          <p:cNvPr id="27" name="reveal-06-answer-arrow">
            <a:extLst>
              <a:ext uri="{FF2B5EF4-FFF2-40B4-BE49-F238E27FC236}">
                <ns2:creationId id="{827EFD78-8077-4715-BFCA-6DDF46EA5022}"/>
              </a:ext>
              <a:ext uri="{C183D7F6-B498-43B3-948B-1728B52AA6E4}">
                <ns3:decorative val="1"/>
              </a:ext>
            </a:extLst>
          </p:cNvPr>
          <p:cNvCxnSpPr>
            <a:stCxn id="21" idx="3"/>
            <a:endCxn id="24" idx="1"/>
          </p:cNvCxnSpPr>
          <p:nvPr/>
        </p:nvCxnSpPr>
        <p:spPr>
          <a:xfrm>
            <a:off x="3095625" y="5086350"/>
            <a:ext cx="342900" cy="0"/>
          </a:xfrm>
          <a:prstGeom prst="straightConnector1">
            <a:avLst/>
          </a:prstGeom>
          <a:ln w="23813">
            <a:solidFill>
              <a:srgbClr val="246E63"/>
            </a:solidFill>
            <a:tailEnd type="arrow" w="med" len="med"/>
          </a:ln>
        </p:spPr>
      </p:cxnSp>
      <p:cxnSp>
        <p:nvCxnSpPr>
          <p:cNvPr id="19" name="reveal-04-prepare-arrow">
            <a:extLst>
              <a:ext uri="{FF2B5EF4-FFF2-40B4-BE49-F238E27FC236}">
                <ns2:creationId id="{AE4461B0-508A-4AF3-97FD-64E1E0146C50}"/>
              </a:ext>
              <a:ext uri="{C183D7F6-B498-43B3-948B-1728B52AA6E4}">
                <ns3:decorative val="1"/>
              </a:ext>
            </a:extLst>
          </p:cNvPr>
          <p:cNvCxnSpPr>
            <a:stCxn id="12" idx="3"/>
            <a:endCxn id="16" idx="1"/>
          </p:cNvCxnSpPr>
          <p:nvPr/>
        </p:nvCxnSpPr>
        <p:spPr>
          <a:xfrm>
            <a:off x="8734425" y="3019425"/>
            <a:ext cx="342900" cy="0"/>
          </a:xfrm>
          <a:prstGeom prst="straightConnector1">
            <a:avLst/>
          </a:prstGeom>
          <a:ln w="23813">
            <a:solidFill>
              <a:srgbClr val="246E63"/>
            </a:solidFill>
            <a:tailEnd type="arrow" w="med" len="med"/>
          </a:ln>
        </p:spPr>
      </p:cxnSp>
      <p:cxnSp>
        <p:nvCxnSpPr>
          <p:cNvPr id="15" name="reveal-03-prepare-arrow">
            <a:extLst>
              <a:ext uri="{FF2B5EF4-FFF2-40B4-BE49-F238E27FC236}">
                <ns2:creationId id="{6D8BEC6A-4DAC-4358-B8C7-3704AB14BD79}"/>
              </a:ext>
              <a:ext uri="{C183D7F6-B498-43B3-948B-1728B52AA6E4}">
                <ns3:decorative val="1"/>
              </a:ext>
            </a:extLst>
          </p:cNvPr>
          <p:cNvCxnSpPr>
            <a:stCxn id="8" idx="3"/>
            <a:endCxn id="12" idx="1"/>
          </p:cNvCxnSpPr>
          <p:nvPr/>
        </p:nvCxnSpPr>
        <p:spPr>
          <a:xfrm>
            <a:off x="5915025" y="3019425"/>
            <a:ext cx="342900" cy="0"/>
          </a:xfrm>
          <a:prstGeom prst="straightConnector1">
            <a:avLst/>
          </a:prstGeom>
          <a:ln w="23813">
            <a:solidFill>
              <a:srgbClr val="246E63"/>
            </a:solidFill>
            <a:tailEnd type="arrow" w="med" len="med"/>
          </a:ln>
        </p:spPr>
      </p:cxnSp>
      <p:cxnSp>
        <p:nvCxnSpPr>
          <p:cNvPr id="11" name="reveal-02-prepare-arrow">
            <a:extLst>
              <a:ext uri="{FF2B5EF4-FFF2-40B4-BE49-F238E27FC236}">
                <ns2:creationId id="{9015A386-E7BC-46A0-B771-95363F141E2E}"/>
              </a:ext>
              <a:ext uri="{C183D7F6-B498-43B3-948B-1728B52AA6E4}">
                <ns3:decorative val="1"/>
              </a:ext>
            </a:extLst>
          </p:cNvPr>
          <p:cNvCxnSpPr>
            <a:stCxn id="5" idx="3"/>
            <a:endCxn id="8" idx="1"/>
          </p:cNvCxnSpPr>
          <p:nvPr/>
        </p:nvCxnSpPr>
        <p:spPr>
          <a:xfrm>
            <a:off x="3095625" y="3019425"/>
            <a:ext cx="342900" cy="0"/>
          </a:xfrm>
          <a:prstGeom prst="straightConnector1">
            <a:avLst/>
          </a:prstGeom>
          <a:ln w="23813">
            <a:solidFill>
              <a:srgbClr val="246E63"/>
            </a:solidFill>
            <a:tailEnd type="arrow" w="med" len="med"/>
          </a:ln>
        </p:spPr>
      </p:cxnSp>
      <p:sp>
        <p:nvSpPr>
          <p:cNvPr id="37" name="text-323">
            <a:extLst>
              <a:ext uri="{FF2B5EF4-FFF2-40B4-BE49-F238E27FC236}">
                <ns2:creationId id="{E88E3876-74F1-49FC-851F-A6ED6982277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24">
            <a:extLst>
              <a:ext uri="{FF2B5EF4-FFF2-40B4-BE49-F238E27FC236}">
                <ns2:creationId id="{0D347DE4-FBE6-455C-B5D7-61AE306936B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Two phases of a retrieval system</a:t>
            </a:r>
          </a:p>
        </p:txBody>
      </p:sp>
      <p:sp>
        <p:nvSpPr>
          <p:cNvPr id="4" name="text-326">
            <a:extLst>
              <a:ext uri="{FF2B5EF4-FFF2-40B4-BE49-F238E27FC236}">
                <ns2:creationId id="{E7F3FAED-3C7B-43AA-BA70-1E5FE3B202DA}"/>
              </a:ext>
            </a:extLst>
          </p:cNvPr>
          <p:cNvSpPr>
            <a:spLocks noGrp="1"/>
          </p:cNvSpPr>
          <p:nvPr/>
        </p:nvSpPr>
        <p:spPr>
          <a:xfrm>
            <a:off x="619125" y="1838325"/>
            <a:ext cx="10858500" cy="3810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PREPARE THE COLLECTION</a:t>
            </a:r>
          </a:p>
        </p:txBody>
      </p:sp>
      <p:sp>
        <p:nvSpPr>
          <p:cNvPr id="5" name="reveal-01-prepare">
            <a:extLst>
              <a:ext uri="{FF2B5EF4-FFF2-40B4-BE49-F238E27FC236}">
                <ns2:creationId id="{5728779B-F50A-4A78-9515-7AC134621143}"/>
              </a:ext>
              <a:ext uri="{C183D7F6-B498-43B3-948B-1728B52AA6E4}">
                <ns3:decorative val="1"/>
              </a:ext>
            </a:extLst>
          </p:cNvPr>
          <p:cNvSpPr>
            <a:spLocks noGrp="1"/>
          </p:cNvSpPr>
          <p:nvPr/>
        </p:nvSpPr>
        <p:spPr>
          <a:xfrm>
            <a:off x="619125" y="2352675"/>
            <a:ext cx="2476500" cy="1333500"/>
          </a:xfrm>
          <a:prstGeom prst="rect">
            <a:avLst/>
          </a:prstGeom>
          <a:solidFill>
            <a:srgbClr val="F1F5F6"/>
          </a:solidFill>
          <a:ln w="11430">
            <a:solidFill>
              <a:srgbClr val="C9D5DA"/>
            </a:solidFill>
          </a:ln>
        </p:spPr>
      </p:sp>
      <p:sp>
        <p:nvSpPr>
          <p:cNvPr id="6" name="reveal-01-prepare-label">
            <a:extLst>
              <a:ext uri="{FF2B5EF4-FFF2-40B4-BE49-F238E27FC236}">
                <ns2:creationId id="{9729EE62-EFA0-4F62-85E8-5FACDE24240E}"/>
              </a:ext>
            </a:extLst>
          </p:cNvPr>
          <p:cNvSpPr>
            <a:spLocks noGrp="1"/>
          </p:cNvSpPr>
          <p:nvPr/>
        </p:nvSpPr>
        <p:spPr>
          <a:xfrm>
            <a:off x="733425" y="245745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Documents</a:t>
            </a:r>
          </a:p>
        </p:txBody>
      </p:sp>
      <p:sp>
        <p:nvSpPr>
          <p:cNvPr id="7" name="reveal-01-prepare-detail">
            <a:extLst>
              <a:ext uri="{FF2B5EF4-FFF2-40B4-BE49-F238E27FC236}">
                <ns2:creationId id="{80DEDDE8-73DB-4CF8-847E-2EE95C4D4699}"/>
              </a:ext>
            </a:extLst>
          </p:cNvPr>
          <p:cNvSpPr>
            <a:spLocks noGrp="1"/>
          </p:cNvSpPr>
          <p:nvPr/>
        </p:nvSpPr>
        <p:spPr>
          <a:xfrm>
            <a:off x="733425" y="310515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Current and permitted</a:t>
            </a:r>
          </a:p>
        </p:txBody>
      </p:sp>
      <p:sp>
        <p:nvSpPr>
          <p:cNvPr id="8" name="reveal-02-prepare">
            <a:extLst>
              <a:ext uri="{FF2B5EF4-FFF2-40B4-BE49-F238E27FC236}">
                <ns2:creationId id="{93A1F1BB-62FE-4BBA-93D7-DF46418D564B}"/>
              </a:ext>
              <a:ext uri="{C183D7F6-B498-43B3-948B-1728B52AA6E4}">
                <ns3:decorative val="1"/>
              </a:ext>
            </a:extLst>
          </p:cNvPr>
          <p:cNvSpPr>
            <a:spLocks noGrp="1"/>
          </p:cNvSpPr>
          <p:nvPr/>
        </p:nvSpPr>
        <p:spPr>
          <a:xfrm>
            <a:off x="3438525" y="2352675"/>
            <a:ext cx="2476500" cy="1333500"/>
          </a:xfrm>
          <a:prstGeom prst="rect">
            <a:avLst/>
          </a:prstGeom>
          <a:solidFill>
            <a:srgbClr val="F1F5F6"/>
          </a:solidFill>
          <a:ln w="11430">
            <a:solidFill>
              <a:srgbClr val="C9D5DA"/>
            </a:solidFill>
          </a:ln>
        </p:spPr>
      </p:sp>
      <p:sp>
        <p:nvSpPr>
          <p:cNvPr id="9" name="reveal-02-prepare-label">
            <a:extLst>
              <a:ext uri="{FF2B5EF4-FFF2-40B4-BE49-F238E27FC236}">
                <ns2:creationId id="{2AD88080-A582-4D21-9E4A-337AA5283527}"/>
              </a:ext>
            </a:extLst>
          </p:cNvPr>
          <p:cNvSpPr>
            <a:spLocks noGrp="1"/>
          </p:cNvSpPr>
          <p:nvPr/>
        </p:nvSpPr>
        <p:spPr>
          <a:xfrm>
            <a:off x="3552825" y="245745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Chunks</a:t>
            </a:r>
          </a:p>
        </p:txBody>
      </p:sp>
      <p:sp>
        <p:nvSpPr>
          <p:cNvPr id="10" name="reveal-02-prepare-detail">
            <a:extLst>
              <a:ext uri="{FF2B5EF4-FFF2-40B4-BE49-F238E27FC236}">
                <ns2:creationId id="{72064639-B110-4344-99DF-788EB536496C}"/>
              </a:ext>
            </a:extLst>
          </p:cNvPr>
          <p:cNvSpPr>
            <a:spLocks noGrp="1"/>
          </p:cNvSpPr>
          <p:nvPr/>
        </p:nvSpPr>
        <p:spPr>
          <a:xfrm>
            <a:off x="3552825" y="310515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Text + provenance</a:t>
            </a:r>
          </a:p>
        </p:txBody>
      </p:sp>
      <p:sp>
        <p:nvSpPr>
          <p:cNvPr id="12" name="reveal-03-prepare">
            <a:extLst>
              <a:ext uri="{FF2B5EF4-FFF2-40B4-BE49-F238E27FC236}">
                <ns2:creationId id="{098F6E3A-7D65-4765-9951-9EEB147D4FFA}"/>
              </a:ext>
              <a:ext uri="{C183D7F6-B498-43B3-948B-1728B52AA6E4}">
                <ns3:decorative val="1"/>
              </a:ext>
            </a:extLst>
          </p:cNvPr>
          <p:cNvSpPr>
            <a:spLocks noGrp="1"/>
          </p:cNvSpPr>
          <p:nvPr/>
        </p:nvSpPr>
        <p:spPr>
          <a:xfrm>
            <a:off x="6257925" y="2352675"/>
            <a:ext cx="2476500" cy="1333500"/>
          </a:xfrm>
          <a:prstGeom prst="rect">
            <a:avLst/>
          </a:prstGeom>
          <a:solidFill>
            <a:srgbClr val="F1F5F6"/>
          </a:solidFill>
          <a:ln w="11430">
            <a:solidFill>
              <a:srgbClr val="C9D5DA"/>
            </a:solidFill>
          </a:ln>
        </p:spPr>
      </p:sp>
      <p:sp>
        <p:nvSpPr>
          <p:cNvPr id="13" name="reveal-03-prepare-label">
            <a:extLst>
              <a:ext uri="{FF2B5EF4-FFF2-40B4-BE49-F238E27FC236}">
                <ns2:creationId id="{2BB2681C-27E2-4624-8217-803B5AAEA393}"/>
              </a:ext>
            </a:extLst>
          </p:cNvPr>
          <p:cNvSpPr>
            <a:spLocks noGrp="1"/>
          </p:cNvSpPr>
          <p:nvPr/>
        </p:nvSpPr>
        <p:spPr>
          <a:xfrm>
            <a:off x="6372225" y="245745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Embedding model</a:t>
            </a:r>
          </a:p>
        </p:txBody>
      </p:sp>
      <p:sp>
        <p:nvSpPr>
          <p:cNvPr id="14" name="reveal-03-prepare-detail">
            <a:extLst>
              <a:ext uri="{FF2B5EF4-FFF2-40B4-BE49-F238E27FC236}">
                <ns2:creationId id="{A845A839-B688-426D-A9DB-BC5D864A5E2D}"/>
              </a:ext>
            </a:extLst>
          </p:cNvPr>
          <p:cNvSpPr>
            <a:spLocks noGrp="1"/>
          </p:cNvSpPr>
          <p:nvPr/>
        </p:nvSpPr>
        <p:spPr>
          <a:xfrm>
            <a:off x="6372225" y="310515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Numerical vectors</a:t>
            </a:r>
          </a:p>
        </p:txBody>
      </p:sp>
      <p:sp>
        <p:nvSpPr>
          <p:cNvPr id="16" name="reveal-04-prepare">
            <a:extLst>
              <a:ext uri="{FF2B5EF4-FFF2-40B4-BE49-F238E27FC236}">
                <ns2:creationId id="{88A35937-CE4A-4FBF-87C4-9E56DB64975B}"/>
              </a:ext>
              <a:ext uri="{C183D7F6-B498-43B3-948B-1728B52AA6E4}">
                <ns3:decorative val="1"/>
              </a:ext>
            </a:extLst>
          </p:cNvPr>
          <p:cNvSpPr>
            <a:spLocks noGrp="1"/>
          </p:cNvSpPr>
          <p:nvPr/>
        </p:nvSpPr>
        <p:spPr>
          <a:xfrm>
            <a:off x="9077325" y="2352675"/>
            <a:ext cx="2476500" cy="1333500"/>
          </a:xfrm>
          <a:prstGeom prst="rect">
            <a:avLst/>
          </a:prstGeom>
          <a:solidFill>
            <a:srgbClr val="F1F5F6"/>
          </a:solidFill>
          <a:ln w="11430">
            <a:solidFill>
              <a:srgbClr val="C9D5DA"/>
            </a:solidFill>
          </a:ln>
        </p:spPr>
      </p:sp>
      <p:sp>
        <p:nvSpPr>
          <p:cNvPr id="17" name="reveal-04-prepare-label">
            <a:extLst>
              <a:ext uri="{FF2B5EF4-FFF2-40B4-BE49-F238E27FC236}">
                <ns2:creationId id="{7ED11597-8FE2-41F2-9265-1B77794A6B38}"/>
              </a:ext>
            </a:extLst>
          </p:cNvPr>
          <p:cNvSpPr>
            <a:spLocks noGrp="1"/>
          </p:cNvSpPr>
          <p:nvPr/>
        </p:nvSpPr>
        <p:spPr>
          <a:xfrm>
            <a:off x="9191625" y="245745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Index</a:t>
            </a:r>
          </a:p>
        </p:txBody>
      </p:sp>
      <p:sp>
        <p:nvSpPr>
          <p:cNvPr id="18" name="reveal-04-prepare-detail">
            <a:extLst>
              <a:ext uri="{FF2B5EF4-FFF2-40B4-BE49-F238E27FC236}">
                <ns2:creationId id="{0C603B03-E677-418C-A634-B6583449DA4A}"/>
              </a:ext>
            </a:extLst>
          </p:cNvPr>
          <p:cNvSpPr>
            <a:spLocks noGrp="1"/>
          </p:cNvSpPr>
          <p:nvPr/>
        </p:nvSpPr>
        <p:spPr>
          <a:xfrm>
            <a:off x="9191625" y="310515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Vectors + metadata</a:t>
            </a:r>
          </a:p>
        </p:txBody>
      </p:sp>
      <p:sp>
        <p:nvSpPr>
          <p:cNvPr id="20" name="reveal-05-query-heading">
            <a:extLst>
              <a:ext uri="{FF2B5EF4-FFF2-40B4-BE49-F238E27FC236}">
                <ns2:creationId id="{057E502B-DB7E-4E71-8547-29EE79E041D4}"/>
              </a:ext>
            </a:extLst>
          </p:cNvPr>
          <p:cNvSpPr>
            <a:spLocks noGrp="1"/>
          </p:cNvSpPr>
          <p:nvPr/>
        </p:nvSpPr>
        <p:spPr>
          <a:xfrm>
            <a:off x="619125" y="3876675"/>
            <a:ext cx="10858500" cy="381000"/>
          </a:xfrm>
          <a:prstGeom prst="rect">
            <a:avLst/>
          </a:prstGeom>
          <a:noFill/>
          <a:ln w="0">
            <a:noFill/>
          </a:ln>
        </p:spPr>
        <p:txBody>
          <a:bodyPr>
            <a:noAutofit/>
          </a:bodyPr>
          <a:lstStyle>
            <a:defPPr>
              <a:defRPr sz="1875" b="1">
                <a:solidFill>
                  <a:srgbClr val="C94E29"/>
                </a:solidFill>
                <a:latin typeface="Calibri"/>
                <a:ea typeface="Calibri"/>
                <a:cs typeface="Calibri"/>
              </a:defRPr>
            </a:defPPr>
            <a:lvl1pPr>
              <a:defRPr sz="1875" b="1">
                <a:solidFill>
                  <a:srgbClr val="C94E29"/>
                </a:solidFill>
                <a:latin typeface="Calibri"/>
                <a:ea typeface="Calibri"/>
                <a:cs typeface="Calibri"/>
              </a:defRPr>
            </a:lvl1pPr>
            <a:lvl2pPr>
              <a:defRPr sz="1875" b="1">
                <a:solidFill>
                  <a:srgbClr val="C94E29"/>
                </a:solidFill>
                <a:latin typeface="Calibri"/>
                <a:ea typeface="Calibri"/>
                <a:cs typeface="Calibri"/>
              </a:defRPr>
            </a:lvl2pPr>
            <a:lvl3pPr>
              <a:defRPr sz="1875" b="1">
                <a:solidFill>
                  <a:srgbClr val="C94E29"/>
                </a:solidFill>
                <a:latin typeface="Calibri"/>
                <a:ea typeface="Calibri"/>
                <a:cs typeface="Calibri"/>
              </a:defRPr>
            </a:lvl3pPr>
            <a:lvl4pPr>
              <a:defRPr sz="1875" b="1">
                <a:solidFill>
                  <a:srgbClr val="C94E29"/>
                </a:solidFill>
                <a:latin typeface="Calibri"/>
                <a:ea typeface="Calibri"/>
                <a:cs typeface="Calibri"/>
              </a:defRPr>
            </a:lvl4pPr>
            <a:lvl5pPr>
              <a:defRPr sz="1875" b="1">
                <a:solidFill>
                  <a:srgbClr val="C94E29"/>
                </a:solidFill>
                <a:latin typeface="Calibri"/>
                <a:ea typeface="Calibri"/>
                <a:cs typeface="Calibri"/>
              </a:defRPr>
            </a:lvl5pPr>
            <a:lvl6pPr>
              <a:defRPr sz="1875" b="1">
                <a:solidFill>
                  <a:srgbClr val="C94E29"/>
                </a:solidFill>
                <a:latin typeface="Calibri"/>
                <a:ea typeface="Calibri"/>
                <a:cs typeface="Calibri"/>
              </a:defRPr>
            </a:lvl6pPr>
            <a:lvl7pPr>
              <a:defRPr sz="1875" b="1">
                <a:solidFill>
                  <a:srgbClr val="C94E29"/>
                </a:solidFill>
                <a:latin typeface="Calibri"/>
                <a:ea typeface="Calibri"/>
                <a:cs typeface="Calibri"/>
              </a:defRPr>
            </a:lvl7pPr>
            <a:lvl8pPr>
              <a:defRPr sz="1875" b="1">
                <a:solidFill>
                  <a:srgbClr val="C94E29"/>
                </a:solidFill>
                <a:latin typeface="Calibri"/>
                <a:ea typeface="Calibri"/>
                <a:cs typeface="Calibri"/>
              </a:defRPr>
            </a:lvl8pPr>
            <a:lvl9pPr>
              <a:defRPr sz="1875" b="1">
                <a:solidFill>
                  <a:srgbClr val="C94E29"/>
                </a:solidFill>
                <a:latin typeface="Calibri"/>
                <a:ea typeface="Calibri"/>
                <a:cs typeface="Calibri"/>
              </a:defRPr>
            </a:lvl9pPr>
          </a:lstStyle>
          <a:p>
            <a:pPr>
              <a:defRPr sz="1875" b="1">
                <a:solidFill>
                  <a:srgbClr val="C94E29"/>
                </a:solidFill>
                <a:latin typeface="Calibri"/>
                <a:ea typeface="Calibri"/>
                <a:cs typeface="Calibri"/>
              </a:defRPr>
            </a:pPr>
            <a:r>
              <a:rPr sz="1875" b="1">
                <a:solidFill>
                  <a:srgbClr val="C94E29"/>
                </a:solidFill>
                <a:latin typeface="Calibri"/>
                <a:ea typeface="Calibri"/>
                <a:cs typeface="Calibri"/>
              </a:rPr>
              <a:t>ANSWER A QUESTION</a:t>
            </a:r>
          </a:p>
        </p:txBody>
      </p:sp>
      <p:sp>
        <p:nvSpPr>
          <p:cNvPr id="21" name="reveal-05-answer">
            <a:extLst>
              <a:ext uri="{FF2B5EF4-FFF2-40B4-BE49-F238E27FC236}">
                <ns2:creationId id="{4F595D2C-C679-4AF2-9FC8-137BC256FE1E}"/>
              </a:ext>
              <a:ext uri="{C183D7F6-B498-43B3-948B-1728B52AA6E4}">
                <ns3:decorative val="1"/>
              </a:ext>
            </a:extLst>
          </p:cNvPr>
          <p:cNvSpPr>
            <a:spLocks noGrp="1"/>
          </p:cNvSpPr>
          <p:nvPr/>
        </p:nvSpPr>
        <p:spPr>
          <a:xfrm>
            <a:off x="619125" y="4419600"/>
            <a:ext cx="2476500" cy="1333500"/>
          </a:xfrm>
          <a:prstGeom prst="rect">
            <a:avLst/>
          </a:prstGeom>
          <a:solidFill>
            <a:srgbClr val="E9F3F0"/>
          </a:solidFill>
          <a:ln w="11430">
            <a:solidFill>
              <a:srgbClr val="C9D5DA"/>
            </a:solidFill>
          </a:ln>
        </p:spPr>
      </p:sp>
      <p:sp>
        <p:nvSpPr>
          <p:cNvPr id="22" name="reveal-05-answer-label">
            <a:extLst>
              <a:ext uri="{FF2B5EF4-FFF2-40B4-BE49-F238E27FC236}">
                <ns2:creationId id="{53E8EA5B-DE8D-4BD0-89D7-7869DE855CEE}"/>
              </a:ext>
            </a:extLst>
          </p:cNvPr>
          <p:cNvSpPr>
            <a:spLocks noGrp="1"/>
          </p:cNvSpPr>
          <p:nvPr/>
        </p:nvSpPr>
        <p:spPr>
          <a:xfrm>
            <a:off x="733425" y="453390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Query embedding</a:t>
            </a:r>
          </a:p>
        </p:txBody>
      </p:sp>
      <p:sp>
        <p:nvSpPr>
          <p:cNvPr id="23" name="reveal-05-answer-detail">
            <a:extLst>
              <a:ext uri="{FF2B5EF4-FFF2-40B4-BE49-F238E27FC236}">
                <ns2:creationId id="{50C73A2E-6540-42DF-B9E9-86BBA44ED5A5}"/>
              </a:ext>
            </a:extLst>
          </p:cNvPr>
          <p:cNvSpPr>
            <a:spLocks noGrp="1"/>
          </p:cNvSpPr>
          <p:nvPr/>
        </p:nvSpPr>
        <p:spPr>
          <a:xfrm>
            <a:off x="733425" y="518160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Represent the question</a:t>
            </a:r>
          </a:p>
        </p:txBody>
      </p:sp>
      <p:sp>
        <p:nvSpPr>
          <p:cNvPr id="24" name="reveal-06-answer">
            <a:extLst>
              <a:ext uri="{FF2B5EF4-FFF2-40B4-BE49-F238E27FC236}">
                <ns2:creationId id="{BF8E2BF7-7D5A-462A-AF5B-FED1258779E8}"/>
              </a:ext>
              <a:ext uri="{C183D7F6-B498-43B3-948B-1728B52AA6E4}">
                <ns3:decorative val="1"/>
              </a:ext>
            </a:extLst>
          </p:cNvPr>
          <p:cNvSpPr>
            <a:spLocks noGrp="1"/>
          </p:cNvSpPr>
          <p:nvPr/>
        </p:nvSpPr>
        <p:spPr>
          <a:xfrm>
            <a:off x="3438525" y="4419600"/>
            <a:ext cx="2476500" cy="1333500"/>
          </a:xfrm>
          <a:prstGeom prst="rect">
            <a:avLst/>
          </a:prstGeom>
          <a:solidFill>
            <a:srgbClr val="E9F3F0"/>
          </a:solidFill>
          <a:ln w="11430">
            <a:solidFill>
              <a:srgbClr val="C9D5DA"/>
            </a:solidFill>
          </a:ln>
        </p:spPr>
      </p:sp>
      <p:sp>
        <p:nvSpPr>
          <p:cNvPr id="25" name="reveal-06-answer-label">
            <a:extLst>
              <a:ext uri="{FF2B5EF4-FFF2-40B4-BE49-F238E27FC236}">
                <ns2:creationId id="{B85BF9A0-FFC2-4465-9F22-314504271E19}"/>
              </a:ext>
            </a:extLst>
          </p:cNvPr>
          <p:cNvSpPr>
            <a:spLocks noGrp="1"/>
          </p:cNvSpPr>
          <p:nvPr/>
        </p:nvSpPr>
        <p:spPr>
          <a:xfrm>
            <a:off x="3552825" y="453390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Retrieve + filter</a:t>
            </a:r>
          </a:p>
        </p:txBody>
      </p:sp>
      <p:sp>
        <p:nvSpPr>
          <p:cNvPr id="26" name="reveal-06-answer-detail">
            <a:extLst>
              <a:ext uri="{FF2B5EF4-FFF2-40B4-BE49-F238E27FC236}">
                <ns2:creationId id="{042322D5-8BF5-4865-B006-AB91170AB687}"/>
              </a:ext>
            </a:extLst>
          </p:cNvPr>
          <p:cNvSpPr>
            <a:spLocks noGrp="1"/>
          </p:cNvSpPr>
          <p:nvPr/>
        </p:nvSpPr>
        <p:spPr>
          <a:xfrm>
            <a:off x="3552825" y="518160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Current allowed passages</a:t>
            </a:r>
          </a:p>
        </p:txBody>
      </p:sp>
      <p:sp>
        <p:nvSpPr>
          <p:cNvPr id="28" name="reveal-07-answer">
            <a:extLst>
              <a:ext uri="{FF2B5EF4-FFF2-40B4-BE49-F238E27FC236}">
                <ns2:creationId id="{4A762869-4CC4-4A94-B586-7EDB954AF842}"/>
              </a:ext>
              <a:ext uri="{C183D7F6-B498-43B3-948B-1728B52AA6E4}">
                <ns3:decorative val="1"/>
              </a:ext>
            </a:extLst>
          </p:cNvPr>
          <p:cNvSpPr>
            <a:spLocks noGrp="1"/>
          </p:cNvSpPr>
          <p:nvPr/>
        </p:nvSpPr>
        <p:spPr>
          <a:xfrm>
            <a:off x="6257925" y="4419600"/>
            <a:ext cx="2476500" cy="1333500"/>
          </a:xfrm>
          <a:prstGeom prst="rect">
            <a:avLst/>
          </a:prstGeom>
          <a:solidFill>
            <a:srgbClr val="E9F3F0"/>
          </a:solidFill>
          <a:ln w="11430">
            <a:solidFill>
              <a:srgbClr val="C9D5DA"/>
            </a:solidFill>
          </a:ln>
        </p:spPr>
      </p:sp>
      <p:sp>
        <p:nvSpPr>
          <p:cNvPr id="29" name="reveal-07-answer-label">
            <a:extLst>
              <a:ext uri="{FF2B5EF4-FFF2-40B4-BE49-F238E27FC236}">
                <ns2:creationId id="{54B05ABD-4B9B-4FB2-A4F5-ACA749FCC1C7}"/>
              </a:ext>
            </a:extLst>
          </p:cNvPr>
          <p:cNvSpPr>
            <a:spLocks noGrp="1"/>
          </p:cNvSpPr>
          <p:nvPr/>
        </p:nvSpPr>
        <p:spPr>
          <a:xfrm>
            <a:off x="6372225" y="453390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Language model</a:t>
            </a:r>
          </a:p>
        </p:txBody>
      </p:sp>
      <p:sp>
        <p:nvSpPr>
          <p:cNvPr id="30" name="reveal-07-answer-detail">
            <a:extLst>
              <a:ext uri="{FF2B5EF4-FFF2-40B4-BE49-F238E27FC236}">
                <ns2:creationId id="{397F4CBB-9878-43AB-B5DC-FE47725E4E12}"/>
              </a:ext>
            </a:extLst>
          </p:cNvPr>
          <p:cNvSpPr>
            <a:spLocks noGrp="1"/>
          </p:cNvSpPr>
          <p:nvPr/>
        </p:nvSpPr>
        <p:spPr>
          <a:xfrm>
            <a:off x="6372225" y="518160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Question + evidence</a:t>
            </a:r>
          </a:p>
        </p:txBody>
      </p:sp>
      <p:sp>
        <p:nvSpPr>
          <p:cNvPr id="32" name="reveal-08-answer">
            <a:extLst>
              <a:ext uri="{FF2B5EF4-FFF2-40B4-BE49-F238E27FC236}">
                <ns2:creationId id="{40247B45-8073-4FC4-A0CB-3008366DF9D4}"/>
              </a:ext>
              <a:ext uri="{C183D7F6-B498-43B3-948B-1728B52AA6E4}">
                <ns3:decorative val="1"/>
              </a:ext>
            </a:extLst>
          </p:cNvPr>
          <p:cNvSpPr>
            <a:spLocks noGrp="1"/>
          </p:cNvSpPr>
          <p:nvPr/>
        </p:nvSpPr>
        <p:spPr>
          <a:xfrm>
            <a:off x="9077325" y="4419600"/>
            <a:ext cx="2476500" cy="1333500"/>
          </a:xfrm>
          <a:prstGeom prst="rect">
            <a:avLst/>
          </a:prstGeom>
          <a:solidFill>
            <a:srgbClr val="E9F3F0"/>
          </a:solidFill>
          <a:ln w="11430">
            <a:solidFill>
              <a:srgbClr val="C9D5DA"/>
            </a:solidFill>
          </a:ln>
        </p:spPr>
      </p:sp>
      <p:sp>
        <p:nvSpPr>
          <p:cNvPr id="33" name="reveal-08-answer-label">
            <a:extLst>
              <a:ext uri="{FF2B5EF4-FFF2-40B4-BE49-F238E27FC236}">
                <ns2:creationId id="{AA851116-3B07-406B-9FC0-39CC41B3376E}"/>
              </a:ext>
            </a:extLst>
          </p:cNvPr>
          <p:cNvSpPr>
            <a:spLocks noGrp="1"/>
          </p:cNvSpPr>
          <p:nvPr/>
        </p:nvSpPr>
        <p:spPr>
          <a:xfrm>
            <a:off x="9191625" y="453390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Answer + sources</a:t>
            </a:r>
          </a:p>
        </p:txBody>
      </p:sp>
      <p:sp>
        <p:nvSpPr>
          <p:cNvPr id="34" name="reveal-08-answer-detail">
            <a:extLst>
              <a:ext uri="{FF2B5EF4-FFF2-40B4-BE49-F238E27FC236}">
                <ns2:creationId id="{93294A21-58E0-4C28-9576-546A08B1493D}"/>
              </a:ext>
            </a:extLst>
          </p:cNvPr>
          <p:cNvSpPr>
            <a:spLocks noGrp="1"/>
          </p:cNvSpPr>
          <p:nvPr/>
        </p:nvSpPr>
        <p:spPr>
          <a:xfrm>
            <a:off x="9191625" y="518160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Review against original</a:t>
            </a:r>
          </a:p>
        </p:txBody>
      </p:sp>
      <p:sp>
        <p:nvSpPr>
          <p:cNvPr id="36" name="text-333">
            <a:extLst>
              <a:ext uri="{FF2B5EF4-FFF2-40B4-BE49-F238E27FC236}">
                <ns2:creationId id="{A21E7FE2-3D27-4FD3-8B0F-663BCB95779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Embedding and answer generation have different roles. Retrieval can also use keywords or a hybrid method.</a:t>
            </a:r>
          </a:p>
        </p:txBody>
      </p:sp>
      <p:sp>
        <p:nvSpPr>
          <p:cNvPr id="3" name="text-325">
            <a:extLst>
              <a:ext uri="{FF2B5EF4-FFF2-40B4-BE49-F238E27FC236}">
                <ns2:creationId id="{F096CAC5-5407-4E0B-AA17-3BC5062905F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6</a:t>
            </a:r>
          </a:p>
        </p:txBody>
      </p:sp>
    </p:spTree>
    <p:extLst>
      <p:ext uri="{BB962C8B-B14F-4D97-AF65-F5344CB8AC3E}">
        <ns4:creationId val="84415367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par>
                                <p:cTn id="8" presetID="10" presetClass="entr" presetSubtype="0" fill="hold"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00"/>
                                        <p:tgtEl>
                                          <p:spTgt spid="11"/>
                                        </p:tgtEl>
                                      </p:cBhvr>
                                    </p:animEffect>
                                  </p:childTnLst>
                                </p:cTn>
                              </p:par>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00"/>
                                        <p:tgtEl>
                                          <p:spTgt spid="8"/>
                                        </p:tgtEl>
                                      </p:cBhvr>
                                    </p:animEffect>
                                  </p:childTnLst>
                                </p:cTn>
                              </p:par>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00"/>
                                        <p:tgtEl>
                                          <p:spTgt spid="9"/>
                                        </p:tgtEl>
                                      </p:cBhvr>
                                    </p:animEffect>
                                  </p:childTnLst>
                                </p:cTn>
                              </p:par>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00"/>
                                        <p:tgtEl>
                                          <p:spTgt spid="15"/>
                                        </p:tgtEl>
                                      </p:cBhvr>
                                    </p:animEffect>
                                  </p:childTnLst>
                                </p:cTn>
                              </p:par>
                              <p:par>
                                <p:cTn id="33" presetID="10"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00"/>
                                        <p:tgtEl>
                                          <p:spTgt spid="12"/>
                                        </p:tgtEl>
                                      </p:cBhvr>
                                    </p:animEffect>
                                  </p:childTnLst>
                                </p:cTn>
                              </p:par>
                              <p:par>
                                <p:cTn id="36" presetID="10"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300"/>
                                        <p:tgtEl>
                                          <p:spTgt spid="13"/>
                                        </p:tgtEl>
                                      </p:cBhvr>
                                    </p:animEffect>
                                  </p:childTnLst>
                                </p:cTn>
                              </p:par>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300"/>
                                        <p:tgtEl>
                                          <p:spTgt spid="19"/>
                                        </p:tgtEl>
                                      </p:cBhvr>
                                    </p:animEffect>
                                  </p:childTnLst>
                                </p:cTn>
                              </p:par>
                              <p:par>
                                <p:cTn id="47" presetID="10"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300"/>
                                        <p:tgtEl>
                                          <p:spTgt spid="16"/>
                                        </p:tgtEl>
                                      </p:cBhvr>
                                    </p:animEffect>
                                  </p:childTnLst>
                                </p:cTn>
                              </p:par>
                              <p:par>
                                <p:cTn id="50" presetID="10" presetClass="entr" presetSubtype="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300"/>
                                        <p:tgtEl>
                                          <p:spTgt spid="17"/>
                                        </p:tgtEl>
                                      </p:cBhvr>
                                    </p:animEffect>
                                  </p:childTnLst>
                                </p:cTn>
                              </p:par>
                              <p:par>
                                <p:cTn id="53" presetID="10"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3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300"/>
                                        <p:tgtEl>
                                          <p:spTgt spid="20"/>
                                        </p:tgtEl>
                                      </p:cBhvr>
                                    </p:animEffect>
                                  </p:childTnLst>
                                </p:cTn>
                              </p:par>
                              <p:par>
                                <p:cTn id="61" presetID="10" presetClass="entr" presetSubtype="0"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300"/>
                                        <p:tgtEl>
                                          <p:spTgt spid="21"/>
                                        </p:tgtEl>
                                      </p:cBhvr>
                                    </p:animEffect>
                                  </p:childTnLst>
                                </p:cTn>
                              </p:par>
                              <p:par>
                                <p:cTn id="64" presetID="10" presetClass="entr" presetSubtype="0" fill="hold"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300"/>
                                        <p:tgtEl>
                                          <p:spTgt spid="22"/>
                                        </p:tgtEl>
                                      </p:cBhvr>
                                    </p:animEffect>
                                  </p:childTnLst>
                                </p:cTn>
                              </p:par>
                              <p:par>
                                <p:cTn id="67" presetID="10" presetClass="entr" presetSubtype="0" fill="hold" nodeType="click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300"/>
                                        <p:tgtEl>
                                          <p:spTgt spid="2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300"/>
                                        <p:tgtEl>
                                          <p:spTgt spid="27"/>
                                        </p:tgtEl>
                                      </p:cBhvr>
                                    </p:animEffect>
                                  </p:childTnLst>
                                </p:cTn>
                              </p:par>
                              <p:par>
                                <p:cTn id="75" presetID="10" presetClass="entr" presetSubtype="0" fill="hold"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00"/>
                                        <p:tgtEl>
                                          <p:spTgt spid="24"/>
                                        </p:tgtEl>
                                      </p:cBhvr>
                                    </p:animEffect>
                                  </p:childTnLst>
                                </p:cTn>
                              </p:par>
                              <p:par>
                                <p:cTn id="78" presetID="10" presetClass="entr" presetSubtype="0" fill="hold" nodeType="click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300"/>
                                        <p:tgtEl>
                                          <p:spTgt spid="25"/>
                                        </p:tgtEl>
                                      </p:cBhvr>
                                    </p:animEffect>
                                  </p:childTnLst>
                                </p:cTn>
                              </p:par>
                              <p:par>
                                <p:cTn id="81" presetID="10" presetClass="entr" presetSubtype="0" fill="hold" nodeType="click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300"/>
                                        <p:tgtEl>
                                          <p:spTgt spid="26"/>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300"/>
                                        <p:tgtEl>
                                          <p:spTgt spid="31"/>
                                        </p:tgtEl>
                                      </p:cBhvr>
                                    </p:animEffect>
                                  </p:childTnLst>
                                </p:cTn>
                              </p:par>
                              <p:par>
                                <p:cTn id="89" presetID="10" presetClass="entr" presetSubtype="0" fill="hold" nodeType="click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300"/>
                                        <p:tgtEl>
                                          <p:spTgt spid="28"/>
                                        </p:tgtEl>
                                      </p:cBhvr>
                                    </p:animEffect>
                                  </p:childTnLst>
                                </p:cTn>
                              </p:par>
                              <p:par>
                                <p:cTn id="92" presetID="10" presetClass="entr" presetSubtype="0" fill="hold" nodeType="click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300"/>
                                        <p:tgtEl>
                                          <p:spTgt spid="29"/>
                                        </p:tgtEl>
                                      </p:cBhvr>
                                    </p:animEffect>
                                  </p:childTnLst>
                                </p:cTn>
                              </p:par>
                              <p:par>
                                <p:cTn id="95" presetID="10" presetClass="entr" presetSubtype="0" fill="hold" nodeType="clickEffect">
                                  <p:stCondLst>
                                    <p:cond delay="0"/>
                                  </p:stCondLst>
                                  <p:childTnLst>
                                    <p:set>
                                      <p:cBhvr>
                                        <p:cTn id="96" dur="1" fill="hold">
                                          <p:stCondLst>
                                            <p:cond delay="0"/>
                                          </p:stCondLst>
                                        </p:cTn>
                                        <p:tgtEl>
                                          <p:spTgt spid="30"/>
                                        </p:tgtEl>
                                        <p:attrNameLst>
                                          <p:attrName>style.visibility</p:attrName>
                                        </p:attrNameLst>
                                      </p:cBhvr>
                                      <p:to>
                                        <p:strVal val="visible"/>
                                      </p:to>
                                    </p:set>
                                    <p:animEffect transition="in" filter="fade">
                                      <p:cBhvr>
                                        <p:cTn id="97" dur="300"/>
                                        <p:tgtEl>
                                          <p:spTgt spid="3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300"/>
                                        <p:tgtEl>
                                          <p:spTgt spid="35"/>
                                        </p:tgtEl>
                                      </p:cBhvr>
                                    </p:animEffect>
                                  </p:childTnLst>
                                </p:cTn>
                              </p:par>
                              <p:par>
                                <p:cTn id="103" presetID="10" presetClass="entr" presetSubtype="0" fill="hold" nodeType="clickEffect">
                                  <p:stCondLst>
                                    <p:cond delay="0"/>
                                  </p:stCondLst>
                                  <p:childTnLst>
                                    <p:set>
                                      <p:cBhvr>
                                        <p:cTn id="104" dur="1" fill="hold">
                                          <p:stCondLst>
                                            <p:cond delay="0"/>
                                          </p:stCondLst>
                                        </p:cTn>
                                        <p:tgtEl>
                                          <p:spTgt spid="32"/>
                                        </p:tgtEl>
                                        <p:attrNameLst>
                                          <p:attrName>style.visibility</p:attrName>
                                        </p:attrNameLst>
                                      </p:cBhvr>
                                      <p:to>
                                        <p:strVal val="visible"/>
                                      </p:to>
                                    </p:set>
                                    <p:animEffect transition="in" filter="fade">
                                      <p:cBhvr>
                                        <p:cTn id="105" dur="300"/>
                                        <p:tgtEl>
                                          <p:spTgt spid="32"/>
                                        </p:tgtEl>
                                      </p:cBhvr>
                                    </p:animEffect>
                                  </p:childTnLst>
                                </p:cTn>
                              </p:par>
                              <p:par>
                                <p:cTn id="106" presetID="10" presetClass="entr" presetSubtype="0" fill="hold" nodeType="clickEffect">
                                  <p:stCondLst>
                                    <p:cond delay="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300"/>
                                        <p:tgtEl>
                                          <p:spTgt spid="33"/>
                                        </p:tgtEl>
                                      </p:cBhvr>
                                    </p:animEffect>
                                  </p:childTnLst>
                                </p:cTn>
                              </p:par>
                              <p:par>
                                <p:cTn id="109" presetID="10" presetClass="entr" presetSubtype="0" fill="hold" nodeType="clickEffect">
                                  <p:stCondLst>
                                    <p:cond delay="0"/>
                                  </p:stCondLst>
                                  <p:childTnLst>
                                    <p:set>
                                      <p:cBhvr>
                                        <p:cTn id="110" dur="1" fill="hold">
                                          <p:stCondLst>
                                            <p:cond delay="0"/>
                                          </p:stCondLst>
                                        </p:cTn>
                                        <p:tgtEl>
                                          <p:spTgt spid="34"/>
                                        </p:tgtEl>
                                        <p:attrNameLst>
                                          <p:attrName>style.visibility</p:attrName>
                                        </p:attrNameLst>
                                      </p:cBhvr>
                                      <p:to>
                                        <p:strVal val="visible"/>
                                      </p:to>
                                    </p:set>
                                    <p:animEffect transition="in" filter="fade">
                                      <p:cBhvr>
                                        <p:cTn id="111" dur="3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Chunking and the exception">
    <p:bg>
      <p:bgPr>
        <a:solidFill>
          <a:srgbClr val="FFFFFF"/>
        </a:solidFill>
      </p:bgPr>
    </p:bg>
    <p:spTree>
      <p:nvGrpSpPr>
        <p:cNvPr id="1" name=""/>
        <p:cNvGrpSpPr/>
        <p:nvPr/>
      </p:nvGrpSpPr>
      <p:grpSpPr>
        <a:xfrm/>
      </p:grpSpPr>
      <p:sp>
        <p:nvSpPr>
          <p:cNvPr id="9" name="text-334">
            <a:extLst>
              <a:ext uri="{FF2B5EF4-FFF2-40B4-BE49-F238E27FC236}">
                <ns2:creationId id="{88950335-C8D1-4AAB-A4CC-C364A5DEFC1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35">
            <a:extLst>
              <a:ext uri="{FF2B5EF4-FFF2-40B4-BE49-F238E27FC236}">
                <ns2:creationId id="{79F0BD97-BB2D-4113-9C43-AC5299AA0BB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Chunking and the exception</a:t>
            </a:r>
          </a:p>
        </p:txBody>
      </p:sp>
      <p:sp>
        <p:nvSpPr>
          <p:cNvPr id="4" name="reveal-01-bad-label">
            <a:extLst>
              <a:ext uri="{FF2B5EF4-FFF2-40B4-BE49-F238E27FC236}">
                <ns2:creationId id="{0B12803B-52B5-4983-8C4A-A1E65EE4C5E2}"/>
              </a:ext>
            </a:extLst>
          </p:cNvPr>
          <p:cNvSpPr>
            <a:spLocks noGrp="1"/>
          </p:cNvSpPr>
          <p:nvPr/>
        </p:nvSpPr>
        <p:spPr>
          <a:xfrm>
            <a:off x="619125" y="1971675"/>
            <a:ext cx="10668000" cy="304800"/>
          </a:xfrm>
          <a:prstGeom prst="rect">
            <a:avLst/>
          </a:prstGeom>
          <a:noFill/>
          <a:ln w="0">
            <a:noFill/>
          </a:ln>
        </p:spPr>
        <p:txBody>
          <a:bodyPr>
            <a:noAutofit/>
          </a:bodyPr>
          <a:lstStyle>
            <a:defPPr>
              <a:defRPr sz="1725" b="1">
                <a:solidFill>
                  <a:srgbClr val="C94E29"/>
                </a:solidFill>
                <a:latin typeface="Calibri"/>
                <a:ea typeface="Calibri"/>
                <a:cs typeface="Calibri"/>
              </a:defRPr>
            </a:defPPr>
            <a:lvl1pPr>
              <a:defRPr sz="1725" b="1">
                <a:solidFill>
                  <a:srgbClr val="C94E29"/>
                </a:solidFill>
                <a:latin typeface="Calibri"/>
                <a:ea typeface="Calibri"/>
                <a:cs typeface="Calibri"/>
              </a:defRPr>
            </a:lvl1pPr>
            <a:lvl2pPr>
              <a:defRPr sz="1725" b="1">
                <a:solidFill>
                  <a:srgbClr val="C94E29"/>
                </a:solidFill>
                <a:latin typeface="Calibri"/>
                <a:ea typeface="Calibri"/>
                <a:cs typeface="Calibri"/>
              </a:defRPr>
            </a:lvl2pPr>
            <a:lvl3pPr>
              <a:defRPr sz="1725" b="1">
                <a:solidFill>
                  <a:srgbClr val="C94E29"/>
                </a:solidFill>
                <a:latin typeface="Calibri"/>
                <a:ea typeface="Calibri"/>
                <a:cs typeface="Calibri"/>
              </a:defRPr>
            </a:lvl3pPr>
            <a:lvl4pPr>
              <a:defRPr sz="1725" b="1">
                <a:solidFill>
                  <a:srgbClr val="C94E29"/>
                </a:solidFill>
                <a:latin typeface="Calibri"/>
                <a:ea typeface="Calibri"/>
                <a:cs typeface="Calibri"/>
              </a:defRPr>
            </a:lvl4pPr>
            <a:lvl5pPr>
              <a:defRPr sz="1725" b="1">
                <a:solidFill>
                  <a:srgbClr val="C94E29"/>
                </a:solidFill>
                <a:latin typeface="Calibri"/>
                <a:ea typeface="Calibri"/>
                <a:cs typeface="Calibri"/>
              </a:defRPr>
            </a:lvl5pPr>
            <a:lvl6pPr>
              <a:defRPr sz="1725" b="1">
                <a:solidFill>
                  <a:srgbClr val="C94E29"/>
                </a:solidFill>
                <a:latin typeface="Calibri"/>
                <a:ea typeface="Calibri"/>
                <a:cs typeface="Calibri"/>
              </a:defRPr>
            </a:lvl6pPr>
            <a:lvl7pPr>
              <a:defRPr sz="1725" b="1">
                <a:solidFill>
                  <a:srgbClr val="C94E29"/>
                </a:solidFill>
                <a:latin typeface="Calibri"/>
                <a:ea typeface="Calibri"/>
                <a:cs typeface="Calibri"/>
              </a:defRPr>
            </a:lvl7pPr>
            <a:lvl8pPr>
              <a:defRPr sz="1725" b="1">
                <a:solidFill>
                  <a:srgbClr val="C94E29"/>
                </a:solidFill>
                <a:latin typeface="Calibri"/>
                <a:ea typeface="Calibri"/>
                <a:cs typeface="Calibri"/>
              </a:defRPr>
            </a:lvl8pPr>
            <a:lvl9pPr>
              <a:defRPr sz="1725" b="1">
                <a:solidFill>
                  <a:srgbClr val="C94E29"/>
                </a:solidFill>
                <a:latin typeface="Calibri"/>
                <a:ea typeface="Calibri"/>
                <a:cs typeface="Calibri"/>
              </a:defRPr>
            </a:lvl9pPr>
          </a:lstStyle>
          <a:p>
            <a:pPr>
              <a:defRPr sz="1725" b="1">
                <a:solidFill>
                  <a:srgbClr val="C94E29"/>
                </a:solidFill>
                <a:latin typeface="Calibri"/>
                <a:ea typeface="Calibri"/>
                <a:cs typeface="Calibri"/>
              </a:defRPr>
            </a:pPr>
            <a:r>
              <a:rPr sz="1725" b="1">
                <a:solidFill>
                  <a:srgbClr val="C94E29"/>
                </a:solidFill>
                <a:latin typeface="Calibri"/>
                <a:ea typeface="Calibri"/>
                <a:cs typeface="Calibri"/>
              </a:rPr>
              <a:t>BAD SPLIT</a:t>
            </a:r>
          </a:p>
        </p:txBody>
      </p:sp>
      <p:sp>
        <p:nvSpPr>
          <p:cNvPr id="5" name="reveal-01-bad">
            <a:extLst>
              <a:ext uri="{FF2B5EF4-FFF2-40B4-BE49-F238E27FC236}">
                <ns2:creationId id="{41EB3F6C-4EEC-4715-AAB8-B1D2CC5DC0BF}"/>
              </a:ext>
            </a:extLst>
          </p:cNvPr>
          <p:cNvSpPr>
            <a:spLocks noGrp="1"/>
          </p:cNvSpPr>
          <p:nvPr/>
        </p:nvSpPr>
        <p:spPr>
          <a:xfrm>
            <a:off x="619125" y="2428875"/>
            <a:ext cx="10668000" cy="1381125"/>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Chunk A: Prior consent is required.</a:t>
            </a:r>
          </a:p>
          <a:p>
            <a:pPr>
              <a:defRPr sz="2475" b="0">
                <a:solidFill>
                  <a:srgbClr val="1C3144"/>
                </a:solidFill>
                <a:latin typeface="Calibri"/>
                <a:ea typeface="Calibri"/>
                <a:cs typeface="Calibri"/>
              </a:defRPr>
            </a:pPr>
            <a:r>
              <a:rPr sz="2475" b="0">
                <a:solidFill>
                  <a:srgbClr val="1C3144"/>
                </a:solidFill>
                <a:latin typeface="Calibri"/>
                <a:ea typeface="Calibri"/>
                <a:cs typeface="Calibri"/>
              </a:rPr>
              <a:t>Chunk B: The group-reorganisation exception appears alone.</a:t>
            </a:r>
          </a:p>
        </p:txBody>
      </p:sp>
      <p:sp>
        <p:nvSpPr>
          <p:cNvPr id="6" name="reveal-02-good-label">
            <a:extLst>
              <a:ext uri="{FF2B5EF4-FFF2-40B4-BE49-F238E27FC236}">
                <ns2:creationId id="{1D6CDC11-C3BA-436A-A66B-293E28E327AF}"/>
              </a:ext>
            </a:extLst>
          </p:cNvPr>
          <p:cNvSpPr>
            <a:spLocks noGrp="1"/>
          </p:cNvSpPr>
          <p:nvPr/>
        </p:nvSpPr>
        <p:spPr>
          <a:xfrm>
            <a:off x="619125" y="4095750"/>
            <a:ext cx="10668000" cy="314325"/>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CONTEXT PRESERVED</a:t>
            </a:r>
          </a:p>
        </p:txBody>
      </p:sp>
      <p:sp>
        <p:nvSpPr>
          <p:cNvPr id="7" name="reveal-02-good">
            <a:extLst>
              <a:ext uri="{FF2B5EF4-FFF2-40B4-BE49-F238E27FC236}">
                <ns2:creationId id="{D0E74A00-15B1-4A31-AEB4-2122E9E73B58}"/>
              </a:ext>
            </a:extLst>
          </p:cNvPr>
          <p:cNvSpPr>
            <a:spLocks noGrp="1"/>
          </p:cNvSpPr>
          <p:nvPr/>
        </p:nvSpPr>
        <p:spPr>
          <a:xfrm>
            <a:off x="619125" y="4572000"/>
            <a:ext cx="10668000" cy="1057275"/>
          </a:xfrm>
          <a:prstGeom prst="rect">
            <a:avLst/>
          </a:prstGeom>
          <a:noFill/>
          <a:ln w="0">
            <a:noFill/>
          </a:ln>
        </p:spPr>
        <p:txBody>
          <a:bodyPr>
            <a:noAutofit/>
          </a:bodyPr>
          <a:lstStyle>
            <a:defPPr>
              <a:defRPr sz="2475" b="1">
                <a:solidFill>
                  <a:srgbClr val="246E63"/>
                </a:solidFill>
                <a:latin typeface="Calibri"/>
                <a:ea typeface="Calibri"/>
                <a:cs typeface="Calibri"/>
              </a:defRPr>
            </a:defPPr>
            <a:lvl1pPr>
              <a:defRPr sz="2475" b="1">
                <a:solidFill>
                  <a:srgbClr val="246E63"/>
                </a:solidFill>
                <a:latin typeface="Calibri"/>
                <a:ea typeface="Calibri"/>
                <a:cs typeface="Calibri"/>
              </a:defRPr>
            </a:lvl1pPr>
            <a:lvl2pPr>
              <a:defRPr sz="2475" b="1">
                <a:solidFill>
                  <a:srgbClr val="246E63"/>
                </a:solidFill>
                <a:latin typeface="Calibri"/>
                <a:ea typeface="Calibri"/>
                <a:cs typeface="Calibri"/>
              </a:defRPr>
            </a:lvl2pPr>
            <a:lvl3pPr>
              <a:defRPr sz="2475" b="1">
                <a:solidFill>
                  <a:srgbClr val="246E63"/>
                </a:solidFill>
                <a:latin typeface="Calibri"/>
                <a:ea typeface="Calibri"/>
                <a:cs typeface="Calibri"/>
              </a:defRPr>
            </a:lvl3pPr>
            <a:lvl4pPr>
              <a:defRPr sz="2475" b="1">
                <a:solidFill>
                  <a:srgbClr val="246E63"/>
                </a:solidFill>
                <a:latin typeface="Calibri"/>
                <a:ea typeface="Calibri"/>
                <a:cs typeface="Calibri"/>
              </a:defRPr>
            </a:lvl4pPr>
            <a:lvl5pPr>
              <a:defRPr sz="2475" b="1">
                <a:solidFill>
                  <a:srgbClr val="246E63"/>
                </a:solidFill>
                <a:latin typeface="Calibri"/>
                <a:ea typeface="Calibri"/>
                <a:cs typeface="Calibri"/>
              </a:defRPr>
            </a:lvl5pPr>
            <a:lvl6pPr>
              <a:defRPr sz="2475" b="1">
                <a:solidFill>
                  <a:srgbClr val="246E63"/>
                </a:solidFill>
                <a:latin typeface="Calibri"/>
                <a:ea typeface="Calibri"/>
                <a:cs typeface="Calibri"/>
              </a:defRPr>
            </a:lvl6pPr>
            <a:lvl7pPr>
              <a:defRPr sz="2475" b="1">
                <a:solidFill>
                  <a:srgbClr val="246E63"/>
                </a:solidFill>
                <a:latin typeface="Calibri"/>
                <a:ea typeface="Calibri"/>
                <a:cs typeface="Calibri"/>
              </a:defRPr>
            </a:lvl7pPr>
            <a:lvl8pPr>
              <a:defRPr sz="2475" b="1">
                <a:solidFill>
                  <a:srgbClr val="246E63"/>
                </a:solidFill>
                <a:latin typeface="Calibri"/>
                <a:ea typeface="Calibri"/>
                <a:cs typeface="Calibri"/>
              </a:defRPr>
            </a:lvl8pPr>
            <a:lvl9pPr>
              <a:defRPr sz="2475" b="1">
                <a:solidFill>
                  <a:srgbClr val="246E63"/>
                </a:solidFill>
                <a:latin typeface="Calibri"/>
                <a:ea typeface="Calibri"/>
                <a:cs typeface="Calibri"/>
              </a:defRPr>
            </a:lvl9pPr>
          </a:lstStyle>
          <a:p>
            <a:pPr>
              <a:defRPr sz="2475" b="1">
                <a:solidFill>
                  <a:srgbClr val="246E63"/>
                </a:solidFill>
                <a:latin typeface="Calibri"/>
                <a:ea typeface="Calibri"/>
                <a:cs typeface="Calibri"/>
              </a:defRPr>
            </a:pPr>
            <a:r>
              <a:rPr sz="2475" b="1">
                <a:solidFill>
                  <a:srgbClr val="246E63"/>
                </a:solidFill>
                <a:latin typeface="Calibri"/>
                <a:ea typeface="Calibri"/>
                <a:cs typeface="Calibri"/>
              </a:rPr>
              <a:t>Keep the rule, exception and responsibility condition together, with source identity and location.</a:t>
            </a:r>
          </a:p>
        </p:txBody>
      </p:sp>
      <p:sp>
        <p:nvSpPr>
          <p:cNvPr id="8" name="text-337">
            <a:extLst>
              <a:ext uri="{FF2B5EF4-FFF2-40B4-BE49-F238E27FC236}">
                <ns2:creationId id="{A288651E-14E5-4B80-B1F4-530A3B3A8B7F}"/>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A chunking strategy needs tests based on the questions and relationships it must preserve.</a:t>
            </a:r>
          </a:p>
        </p:txBody>
      </p:sp>
      <p:sp>
        <p:nvSpPr>
          <p:cNvPr id="3" name="text-336">
            <a:extLst>
              <a:ext uri="{FF2B5EF4-FFF2-40B4-BE49-F238E27FC236}">
                <ns2:creationId id="{B44D4527-C42F-4114-BAC6-1D9FD4EB81B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7</a:t>
            </a:r>
          </a:p>
        </p:txBody>
      </p:sp>
    </p:spTree>
    <p:extLst>
      <p:ext uri="{BB962C8B-B14F-4D97-AF65-F5344CB8AC3E}">
        <ns3:creationId val="167916617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What a chunk should retain">
    <p:bg>
      <p:bgPr>
        <a:solidFill>
          <a:srgbClr val="FFFFFF"/>
        </a:solidFill>
      </p:bgPr>
    </p:bg>
    <p:spTree>
      <p:nvGrpSpPr>
        <p:cNvPr id="1" name=""/>
        <p:cNvGrpSpPr/>
        <p:nvPr/>
      </p:nvGrpSpPr>
      <p:grpSpPr>
        <a:xfrm/>
      </p:grpSpPr>
      <p:sp>
        <p:nvSpPr>
          <p:cNvPr id="12" name="text-338">
            <a:extLst>
              <a:ext uri="{FF2B5EF4-FFF2-40B4-BE49-F238E27FC236}">
                <ns2:creationId id="{24B0109E-8147-47DF-BF4B-BED096C8853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39">
            <a:extLst>
              <a:ext uri="{FF2B5EF4-FFF2-40B4-BE49-F238E27FC236}">
                <ns2:creationId id="{DADED8BD-7CC0-4556-BE7D-27E5B55D121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a chunk should retain</a:t>
            </a:r>
          </a:p>
        </p:txBody>
      </p:sp>
      <p:sp>
        <p:nvSpPr>
          <p:cNvPr id="4" name="text-341">
            <a:extLst>
              <a:ext uri="{FF2B5EF4-FFF2-40B4-BE49-F238E27FC236}">
                <ns2:creationId id="{828762B4-F051-472C-B8E8-AE01AE4C21AC}"/>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42">
            <a:extLst>
              <a:ext uri="{FF2B5EF4-FFF2-40B4-BE49-F238E27FC236}">
                <ns2:creationId id="{AD27891B-3DEC-4A1A-8FDC-8BF91702E945}"/>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Relevant text and its relationships</a:t>
            </a:r>
          </a:p>
        </p:txBody>
      </p:sp>
      <p:sp>
        <p:nvSpPr>
          <p:cNvPr id="6" name="text-343">
            <a:extLst>
              <a:ext uri="{FF2B5EF4-FFF2-40B4-BE49-F238E27FC236}">
                <ns2:creationId id="{15B45871-EE5B-4242-B755-8D8E283CC97A}"/>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44">
            <a:extLst>
              <a:ext uri="{FF2B5EF4-FFF2-40B4-BE49-F238E27FC236}">
                <ns2:creationId id="{36DE3601-337F-4F23-8E63-4CD655AB1FD9}"/>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Document identity and current version</a:t>
            </a:r>
          </a:p>
        </p:txBody>
      </p:sp>
      <p:sp>
        <p:nvSpPr>
          <p:cNvPr id="8" name="text-345">
            <a:extLst>
              <a:ext uri="{FF2B5EF4-FFF2-40B4-BE49-F238E27FC236}">
                <ns2:creationId id="{D7A1E478-BAFA-42CC-AE6E-773E44C7C00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46">
            <a:extLst>
              <a:ext uri="{FF2B5EF4-FFF2-40B4-BE49-F238E27FC236}">
                <ns2:creationId id="{F0A53F4B-3FA4-47CA-87E5-D636CA764215}"/>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Clause or page location</a:t>
            </a:r>
          </a:p>
        </p:txBody>
      </p:sp>
      <p:sp>
        <p:nvSpPr>
          <p:cNvPr id="10" name="text-347">
            <a:extLst>
              <a:ext uri="{FF2B5EF4-FFF2-40B4-BE49-F238E27FC236}">
                <ns2:creationId id="{0427F9D3-DAA7-4C19-A7B7-3E528EAF9B6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48">
            <a:extLst>
              <a:ext uri="{FF2B5EF4-FFF2-40B4-BE49-F238E27FC236}">
                <ns2:creationId id="{505F9052-DE24-40FD-A7B1-397FF58327B3}"/>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Applicable matter permissions</a:t>
            </a:r>
          </a:p>
        </p:txBody>
      </p:sp>
      <p:sp>
        <p:nvSpPr>
          <p:cNvPr id="3" name="text-340">
            <a:extLst>
              <a:ext uri="{FF2B5EF4-FFF2-40B4-BE49-F238E27FC236}">
                <ns2:creationId id="{6FE05B0A-DC23-4A41-BA76-B09587EFD82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8</a:t>
            </a:r>
          </a:p>
        </p:txBody>
      </p:sp>
    </p:spTree>
    <p:extLst>
      <p:ext uri="{BB962C8B-B14F-4D97-AF65-F5344CB8AC3E}">
        <ns3:creationId val="1536572698"/>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Keyword and semantic search">
    <p:bg>
      <p:bgPr>
        <a:solidFill>
          <a:srgbClr val="FFFFFF"/>
        </a:solidFill>
      </p:bgPr>
    </p:bg>
    <p:spTree>
      <p:nvGrpSpPr>
        <p:cNvPr id="1" name=""/>
        <p:cNvGrpSpPr/>
        <p:nvPr/>
      </p:nvGrpSpPr>
      <p:grpSpPr>
        <a:xfrm/>
      </p:grpSpPr>
      <p:sp>
        <p:nvSpPr>
          <p:cNvPr id="8" name="text-349">
            <a:extLst>
              <a:ext uri="{FF2B5EF4-FFF2-40B4-BE49-F238E27FC236}">
                <ns2:creationId id="{D6964E7E-8B34-4823-BECA-DFCFDDC349D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50">
            <a:extLst>
              <a:ext uri="{FF2B5EF4-FFF2-40B4-BE49-F238E27FC236}">
                <ns2:creationId id="{A5AFB4BB-A758-42B5-96D9-66974DA4616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Keyword and semantic search</a:t>
            </a:r>
          </a:p>
        </p:txBody>
      </p:sp>
      <p:sp>
        <p:nvSpPr>
          <p:cNvPr id="4" name="text-352">
            <a:extLst>
              <a:ext uri="{FF2B5EF4-FFF2-40B4-BE49-F238E27FC236}">
                <ns2:creationId id="{26EBEEB5-28F8-469E-8DF9-C2C738C85E84}"/>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Keyword</a:t>
            </a:r>
          </a:p>
        </p:txBody>
      </p:sp>
      <p:sp>
        <p:nvSpPr>
          <p:cNvPr id="5" name="text-353">
            <a:extLst>
              <a:ext uri="{FF2B5EF4-FFF2-40B4-BE49-F238E27FC236}">
                <ns2:creationId id="{1D6153DE-5916-4096-A9BD-AB5D954AA835}"/>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Find an exact identifier such as CONTRACT-01 or a phrase such as change of control.</a:t>
            </a:r>
          </a:p>
        </p:txBody>
      </p:sp>
      <p:sp>
        <p:nvSpPr>
          <p:cNvPr id="6" name="text-354">
            <a:extLst>
              <a:ext uri="{FF2B5EF4-FFF2-40B4-BE49-F238E27FC236}">
                <ns2:creationId id="{872CDFEC-690D-49D4-9FD3-02B1F037A4EA}"/>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Semantic</a:t>
            </a:r>
          </a:p>
        </p:txBody>
      </p:sp>
      <p:sp>
        <p:nvSpPr>
          <p:cNvPr id="7" name="text-355">
            <a:extLst>
              <a:ext uri="{FF2B5EF4-FFF2-40B4-BE49-F238E27FC236}">
                <ns2:creationId id="{4FB8ADCB-1742-4EC6-B79E-543DA50ED420}"/>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Find related wording such as group restructuring even when the phrase differs.</a:t>
            </a:r>
          </a:p>
        </p:txBody>
      </p:sp>
      <p:sp>
        <p:nvSpPr>
          <p:cNvPr id="3" name="text-351">
            <a:extLst>
              <a:ext uri="{FF2B5EF4-FFF2-40B4-BE49-F238E27FC236}">
                <ns2:creationId id="{6DA84280-219F-48D5-A039-AF4F3F415C9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9</a:t>
            </a:r>
          </a:p>
        </p:txBody>
      </p:sp>
    </p:spTree>
    <p:extLst>
      <p:ext uri="{BB962C8B-B14F-4D97-AF65-F5344CB8AC3E}">
        <ns3:creationId val="1440336852"/>
      </p:ext>
    </p:extLst>
  </p:cSld>
  <p:transition spd="med" advClick="1">
    <p:fade/>
  </p:transition>
</p:sld>
</file>

<file path=ppt/slides/slide10.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Hybrid retrieval">
    <p:bg>
      <p:bgPr>
        <a:solidFill>
          <a:srgbClr val="FFFFFF"/>
        </a:solidFill>
      </p:bgPr>
    </p:bg>
    <p:spTree>
      <p:nvGrpSpPr>
        <p:cNvPr id="1" name=""/>
        <p:cNvGrpSpPr/>
        <p:nvPr/>
      </p:nvGrpSpPr>
      <p:grpSpPr>
        <a:xfrm/>
      </p:grpSpPr>
      <p:cxnSp>
        <p:nvCxnSpPr>
          <p:cNvPr id="22" name="reveal-04-arrow" descr="Hybrid retrieval">
            <a:extLst>
              <a:ext uri="{FF2B5EF4-FFF2-40B4-BE49-F238E27FC236}">
                <ns2:creationId id="{D61CB21A-663F-4FF2-9EB5-EE4499E0E044}"/>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9634575C-47C6-4F11-B704-029ECF429E57}"/>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850F924D-37BA-430F-94F7-DC164682AD32}"/>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356">
            <a:extLst>
              <a:ext uri="{FF2B5EF4-FFF2-40B4-BE49-F238E27FC236}">
                <ns2:creationId id="{86EA0026-575D-4C67-8B07-4C0B8AD2F0C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57">
            <a:extLst>
              <a:ext uri="{FF2B5EF4-FFF2-40B4-BE49-F238E27FC236}">
                <ns2:creationId id="{F8B3C37D-5C0C-4B57-BE21-88722298AFA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Hybrid retrieval</a:t>
            </a:r>
          </a:p>
        </p:txBody>
      </p:sp>
      <p:sp>
        <p:nvSpPr>
          <p:cNvPr id="4" name="reveal-01-stage">
            <a:extLst>
              <a:ext uri="{FF2B5EF4-FFF2-40B4-BE49-F238E27FC236}">
                <ns2:creationId id="{68471AA1-7548-4556-B9FE-188C10CC5F2E}"/>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8BC09C1C-BB6F-4870-BD20-7C3518911E13}"/>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A4E06CF0-70B9-4741-BE45-66767C5AF53D}"/>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Question</a:t>
            </a:r>
          </a:p>
        </p:txBody>
      </p:sp>
      <p:sp>
        <p:nvSpPr>
          <p:cNvPr id="7" name="reveal-01-detail">
            <a:extLst>
              <a:ext uri="{FF2B5EF4-FFF2-40B4-BE49-F238E27FC236}">
                <ns2:creationId id="{62BCADA3-62BC-415D-8CC1-0DC8F734C789}"/>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Terms and meaning</a:t>
            </a:r>
          </a:p>
        </p:txBody>
      </p:sp>
      <p:sp>
        <p:nvSpPr>
          <p:cNvPr id="8" name="reveal-02-stage">
            <a:extLst>
              <a:ext uri="{FF2B5EF4-FFF2-40B4-BE49-F238E27FC236}">
                <ns2:creationId id="{B91CE995-0882-47FC-ACAA-8FF7845A75B5}"/>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A8DA8527-95B3-40CE-A443-62EF501B6053}"/>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2861F20D-A940-41F2-BD68-492E9D52CC2B}"/>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Candidates</a:t>
            </a:r>
          </a:p>
        </p:txBody>
      </p:sp>
      <p:sp>
        <p:nvSpPr>
          <p:cNvPr id="11" name="reveal-02-detail">
            <a:extLst>
              <a:ext uri="{FF2B5EF4-FFF2-40B4-BE49-F238E27FC236}">
                <ns2:creationId id="{47B293B1-1F5F-4069-B834-302E5AA906B1}"/>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Keyword and vector results</a:t>
            </a:r>
          </a:p>
        </p:txBody>
      </p:sp>
      <p:sp>
        <p:nvSpPr>
          <p:cNvPr id="12" name="reveal-03-stage">
            <a:extLst>
              <a:ext uri="{FF2B5EF4-FFF2-40B4-BE49-F238E27FC236}">
                <ns2:creationId id="{5C0D5A19-B4FD-44B8-9A65-E5B99A9E6944}"/>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36ACB67C-287F-49D6-AE0C-4E8254E77C7C}"/>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554CAB4C-201B-44DC-8DE2-D46E079BAA9C}"/>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Ranking</a:t>
            </a:r>
          </a:p>
        </p:txBody>
      </p:sp>
      <p:sp>
        <p:nvSpPr>
          <p:cNvPr id="15" name="reveal-03-detail">
            <a:extLst>
              <a:ext uri="{FF2B5EF4-FFF2-40B4-BE49-F238E27FC236}">
                <ns2:creationId id="{A8AEE365-E80C-41BF-AF5D-8BD0324585D7}"/>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Merge and rerank</a:t>
            </a:r>
          </a:p>
        </p:txBody>
      </p:sp>
      <p:sp>
        <p:nvSpPr>
          <p:cNvPr id="16" name="reveal-04-stage">
            <a:extLst>
              <a:ext uri="{FF2B5EF4-FFF2-40B4-BE49-F238E27FC236}">
                <ns2:creationId id="{C36A080B-1E33-489B-8F1F-4B2B3A2E38E2}"/>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4A96B779-9004-4063-A3CF-102D59558C40}"/>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0779EB05-3D09-4FE2-BF67-9BC0C8DB2BCE}"/>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Evidence</a:t>
            </a:r>
          </a:p>
        </p:txBody>
      </p:sp>
      <p:sp>
        <p:nvSpPr>
          <p:cNvPr id="19" name="reveal-04-detail">
            <a:extLst>
              <a:ext uri="{FF2B5EF4-FFF2-40B4-BE49-F238E27FC236}">
                <ns2:creationId id="{FEB7B249-0575-4A22-B4D9-F33DBAD7666C}"/>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Select relevant passages</a:t>
            </a:r>
          </a:p>
        </p:txBody>
      </p:sp>
      <p:sp>
        <p:nvSpPr>
          <p:cNvPr id="3" name="text-358">
            <a:extLst>
              <a:ext uri="{FF2B5EF4-FFF2-40B4-BE49-F238E27FC236}">
                <ns2:creationId id="{63E4AD36-4A73-4B18-BB90-731094A2ED5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10</a:t>
            </a:r>
          </a:p>
        </p:txBody>
      </p:sp>
    </p:spTree>
    <p:extLst>
      <p:ext uri="{BB962C8B-B14F-4D97-AF65-F5344CB8AC3E}">
        <ns4:creationId val="119059547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A prepared retrieval trace">
    <p:bg>
      <p:bgPr>
        <a:solidFill>
          <a:srgbClr val="FFFFFF"/>
        </a:solidFill>
      </p:bgPr>
    </p:bg>
    <p:spTree>
      <p:nvGrpSpPr>
        <p:cNvPr id="1" name=""/>
        <p:cNvGrpSpPr/>
        <p:nvPr/>
      </p:nvGrpSpPr>
      <p:grpSpPr>
        <a:xfrm/>
      </p:grpSpPr>
      <p:sp>
        <p:nvSpPr>
          <p:cNvPr id="6" name="text-362">
            <a:extLst>
              <a:ext uri="{FF2B5EF4-FFF2-40B4-BE49-F238E27FC236}">
                <ns2:creationId id="{12843C14-CA8F-4F68-8552-D72C3ACFFE5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63">
            <a:extLst>
              <a:ext uri="{FF2B5EF4-FFF2-40B4-BE49-F238E27FC236}">
                <ns2:creationId id="{365F15CE-0A55-4255-91E3-0E1F9804EB7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prepared retrieval trace</a:t>
            </a:r>
          </a:p>
        </p:txBody>
      </p:sp>
      <p:graphicFrame>
        <p:nvGraphicFramePr>
          <p:cNvPr id="4" name="">
            <a:extLst>
              <a:ext uri="{FF2B5EF4-FFF2-40B4-BE49-F238E27FC236}">
                <ns2:creationId id="{1A61E77E-9DF8-4E53-910D-C49BC2ECCE58}"/>
              </a:ext>
            </a:extLst>
          </p:cNvPr>
          <p:cNvGraphicFramePr/>
          <p:nvPr/>
        </p:nvGraphicFramePr>
        <p:xfrm>
          <a:off x="619125" y="1933575"/>
          <a:ext cx="10953750" cy="3095625"/>
        </p:xfrm>
        <a:graphic>
          <a:graphicData uri="http://schemas.openxmlformats.org/drawingml/2006/table">
            <a:tbl>
              <a:tblPr/>
              <a:tblGrid>
                <a:gridCol w="3651250"/>
                <a:gridCol w="3651250"/>
                <a:gridCol w="3651250"/>
              </a:tblGrid>
              <a:tr h="773906">
                <a:tc>
                  <a:txBody>
                    <a:bodyPr/>
                    <a:lstStyle/>
                    <a:p>
                      <a:r>
                        <a:rPr sz="1875" b="1">
                          <a:solidFill>
                            <a:srgbClr val="FFFFFF"/>
                          </a:solidFill>
                          <a:latin typeface="Calibri"/>
                          <a:ea typeface="Calibri"/>
                          <a:cs typeface="Calibri"/>
                        </a:rPr>
                        <a:t>Candidate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Status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Use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73906">
                <a:tc>
                  <a:txBody>
                    <a:bodyPr/>
                    <a:lstStyle/>
                    <a:p>
                      <a:r>
                        <a:rPr sz="1875" b="0">
                          <a:solidFill>
                            <a:srgbClr val="1C3144"/>
                          </a:solidFill>
                          <a:latin typeface="Calibri"/>
                          <a:ea typeface="Calibri"/>
                          <a:cs typeface="Calibri"/>
                        </a:rPr>
                        <a:t>Draft v1</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Superseded</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Historical context only</a:t>
                      </a:r>
                    </a:p>
                  </a:txBody>
                  <a:tcPr marL="91440" marR="91440" marT="45720" marB="45720">
                    <a:lnR w="9525">
                      <a:solidFill>
                        <a:srgbClr val="C9D5DA"/>
                      </a:solidFill>
                      <a:prstDash val="solid"/>
                    </a:lnR>
                    <a:lnB w="9525">
                      <a:solidFill>
                        <a:srgbClr val="C9D5DA"/>
                      </a:solidFill>
                      <a:prstDash val="solid"/>
                    </a:lnB>
                    <a:solidFill>
                      <a:srgbClr val="F1F5F6"/>
                    </a:solidFill>
                  </a:tcPr>
                </a:tc>
              </a:tr>
              <a:tr h="773906">
                <a:tc>
                  <a:txBody>
                    <a:bodyPr/>
                    <a:lstStyle/>
                    <a:p>
                      <a:r>
                        <a:rPr sz="1875" b="0">
                          <a:solidFill>
                            <a:srgbClr val="1C3144"/>
                          </a:solidFill>
                          <a:latin typeface="Calibri"/>
                          <a:ea typeface="Calibri"/>
                          <a:cs typeface="Calibri"/>
                        </a:rPr>
                        <a:t>Executed v2</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Current and permitted</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Support current answer</a:t>
                      </a:r>
                    </a:p>
                  </a:txBody>
                  <a:tcPr marL="91440" marR="91440" marT="45720" marB="45720">
                    <a:lnR w="9525">
                      <a:solidFill>
                        <a:srgbClr val="C9D5DA"/>
                      </a:solidFill>
                      <a:prstDash val="solid"/>
                    </a:lnR>
                    <a:lnB w="9525">
                      <a:solidFill>
                        <a:srgbClr val="C9D5DA"/>
                      </a:solidFill>
                      <a:prstDash val="solid"/>
                    </a:lnB>
                    <a:solidFill>
                      <a:srgbClr val="FFFFFF"/>
                    </a:solidFill>
                  </a:tcPr>
                </a:tc>
              </a:tr>
              <a:tr h="773906">
                <a:tc>
                  <a:txBody>
                    <a:bodyPr/>
                    <a:lstStyle/>
                    <a:p>
                      <a:r>
                        <a:rPr sz="1875" b="0">
                          <a:solidFill>
                            <a:srgbClr val="1C3144"/>
                          </a:solidFill>
                          <a:latin typeface="Calibri"/>
                          <a:ea typeface="Calibri"/>
                          <a:cs typeface="Calibri"/>
                        </a:rPr>
                        <a:t>OTHER-02</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Restricted unrelated matter</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Exclude</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5" name="text-365">
            <a:extLst>
              <a:ext uri="{FF2B5EF4-FFF2-40B4-BE49-F238E27FC236}">
                <ns2:creationId id="{35FC9C0C-A385-4047-911A-EFE78C31FCDD}"/>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Prepared retrieval trace. This table is not evidence of a live search run.</a:t>
            </a:r>
          </a:p>
        </p:txBody>
      </p:sp>
      <p:sp>
        <p:nvSpPr>
          <p:cNvPr id="3" name="text-364">
            <a:extLst>
              <a:ext uri="{FF2B5EF4-FFF2-40B4-BE49-F238E27FC236}">
                <ns2:creationId id="{CCFC9128-C2A9-486B-8C05-9E2E61E344E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11</a:t>
            </a:r>
          </a:p>
        </p:txBody>
      </p:sp>
    </p:spTree>
    <p:extLst>
      <p:ext uri="{BB962C8B-B14F-4D97-AF65-F5344CB8AC3E}">
        <ns3:creationId val="1655849442"/>
      </p:ext>
    </p:extLst>
  </p:cSld>
  <p:transition spd="med" advClick="1">
    <p:fade/>
  </p:transition>
</p:sld>
</file>

<file path=ppt/slides/slide12.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answer and its evidence">
    <p:bg>
      <p:bgPr>
        <a:solidFill>
          <a:srgbClr val="FFFFFF"/>
        </a:solidFill>
      </p:bgPr>
    </p:bg>
    <p:spTree>
      <p:nvGrpSpPr>
        <p:cNvPr id="1" name=""/>
        <p:cNvGrpSpPr/>
        <p:nvPr/>
      </p:nvGrpSpPr>
      <p:grpSpPr>
        <a:xfrm/>
      </p:grpSpPr>
      <p:cxnSp>
        <p:nvCxnSpPr>
          <p:cNvPr id="10" name="reveal-02-source-link" descr="The answer and its evidence">
            <a:extLst>
              <a:ext uri="{FF2B5EF4-FFF2-40B4-BE49-F238E27FC236}">
                <ns2:creationId id="{EF75C912-880B-4F15-AB52-6DA5D0BE208D}"/>
              </a:ext>
            </a:extLst>
          </p:cNvPr>
          <p:cNvCxnSpPr>
            <a:stCxn id="4" idx="3"/>
            <a:endCxn id="7" idx="1"/>
          </p:cNvCxnSpPr>
          <p:nvPr/>
        </p:nvCxnSpPr>
        <p:spPr>
          <a:xfrm>
            <a:off x="5667375" y="3690938"/>
            <a:ext cx="857250" cy="0"/>
          </a:xfrm>
          <a:prstGeom prst="straightConnector1">
            <a:avLst/>
          </a:prstGeom>
          <a:ln w="23813">
            <a:solidFill>
              <a:srgbClr val="246E63"/>
            </a:solidFill>
            <a:tailEnd type="arrow" w="med" len="med"/>
          </a:ln>
        </p:spPr>
      </p:cxnSp>
      <p:sp>
        <p:nvSpPr>
          <p:cNvPr id="12" name="text-366">
            <a:extLst>
              <a:ext uri="{FF2B5EF4-FFF2-40B4-BE49-F238E27FC236}">
                <ns2:creationId id="{1C7D670E-0BB5-417E-BAC3-1AFBB8AD9FD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67">
            <a:extLst>
              <a:ext uri="{FF2B5EF4-FFF2-40B4-BE49-F238E27FC236}">
                <ns2:creationId id="{0044079B-F921-49ED-A268-CFBEB9AA895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answer and its evidence</a:t>
            </a:r>
          </a:p>
        </p:txBody>
      </p:sp>
      <p:sp>
        <p:nvSpPr>
          <p:cNvPr id="4" name="reveal-01-claim">
            <a:extLst>
              <a:ext uri="{FF2B5EF4-FFF2-40B4-BE49-F238E27FC236}">
                <ns2:creationId id="{B186BE37-0198-4BDD-ABD8-5B41E76B2653}"/>
              </a:ext>
              <a:ext uri="{C183D7F6-B498-43B3-948B-1728B52AA6E4}">
                <ns3:decorative val="1"/>
              </a:ext>
            </a:extLst>
          </p:cNvPr>
          <p:cNvSpPr>
            <a:spLocks noGrp="1"/>
          </p:cNvSpPr>
          <p:nvPr/>
        </p:nvSpPr>
        <p:spPr>
          <a:xfrm>
            <a:off x="619125" y="2047875"/>
            <a:ext cx="5048250" cy="3286125"/>
          </a:xfrm>
          <a:prstGeom prst="rect">
            <a:avLst/>
          </a:prstGeom>
          <a:solidFill>
            <a:srgbClr val="F1F5F6"/>
          </a:solidFill>
          <a:ln w="11430">
            <a:solidFill>
              <a:srgbClr val="C9D5DA"/>
            </a:solidFill>
          </a:ln>
        </p:spPr>
      </p:sp>
      <p:sp>
        <p:nvSpPr>
          <p:cNvPr id="5" name="reveal-01-label">
            <a:extLst>
              <a:ext uri="{FF2B5EF4-FFF2-40B4-BE49-F238E27FC236}">
                <ns2:creationId id="{7BB1D407-A794-4EC4-8CE9-B3A33C017D6E}"/>
              </a:ext>
            </a:extLst>
          </p:cNvPr>
          <p:cNvSpPr>
            <a:spLocks noGrp="1"/>
          </p:cNvSpPr>
          <p:nvPr/>
        </p:nvSpPr>
        <p:spPr>
          <a:xfrm>
            <a:off x="819150" y="2219325"/>
            <a:ext cx="4572000" cy="32385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FINDING</a:t>
            </a:r>
          </a:p>
        </p:txBody>
      </p:sp>
      <p:sp>
        <p:nvSpPr>
          <p:cNvPr id="6" name="reveal-01-claim-text">
            <a:extLst>
              <a:ext uri="{FF2B5EF4-FFF2-40B4-BE49-F238E27FC236}">
                <ns2:creationId id="{8B7A964A-AB0E-4CDE-B3EA-997F69EE85D6}"/>
              </a:ext>
            </a:extLst>
          </p:cNvPr>
          <p:cNvSpPr>
            <a:spLocks noGrp="1"/>
          </p:cNvSpPr>
          <p:nvPr/>
        </p:nvSpPr>
        <p:spPr>
          <a:xfrm>
            <a:off x="819150" y="2800350"/>
            <a:ext cx="4572000" cy="2143125"/>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The group exception may apply. Confirm ownership and continued provider responsibility.</a:t>
            </a:r>
          </a:p>
        </p:txBody>
      </p:sp>
      <p:sp>
        <p:nvSpPr>
          <p:cNvPr id="7" name="reveal-02-source">
            <a:extLst>
              <a:ext uri="{FF2B5EF4-FFF2-40B4-BE49-F238E27FC236}">
                <ns2:creationId id="{82D03085-FD08-414B-AB59-F7F2237FE31F}"/>
              </a:ext>
              <a:ext uri="{C183D7F6-B498-43B3-948B-1728B52AA6E4}">
                <ns3:decorative val="1"/>
              </a:ext>
            </a:extLst>
          </p:cNvPr>
          <p:cNvSpPr>
            <a:spLocks noGrp="1"/>
          </p:cNvSpPr>
          <p:nvPr/>
        </p:nvSpPr>
        <p:spPr>
          <a:xfrm>
            <a:off x="6524625" y="2047875"/>
            <a:ext cx="5048250" cy="3286125"/>
          </a:xfrm>
          <a:prstGeom prst="rect">
            <a:avLst/>
          </a:prstGeom>
          <a:solidFill>
            <a:srgbClr val="E9F3F0"/>
          </a:solidFill>
          <a:ln w="11430">
            <a:solidFill>
              <a:srgbClr val="C9D5DA"/>
            </a:solidFill>
          </a:ln>
        </p:spPr>
      </p:sp>
      <p:sp>
        <p:nvSpPr>
          <p:cNvPr id="8" name="reveal-02-source-label">
            <a:extLst>
              <a:ext uri="{FF2B5EF4-FFF2-40B4-BE49-F238E27FC236}">
                <ns2:creationId id="{88FB0ACE-DEDC-436C-B1A1-3AFAA72454D6}"/>
              </a:ext>
            </a:extLst>
          </p:cNvPr>
          <p:cNvSpPr>
            <a:spLocks noGrp="1"/>
          </p:cNvSpPr>
          <p:nvPr/>
        </p:nvSpPr>
        <p:spPr>
          <a:xfrm>
            <a:off x="6724650" y="2219325"/>
            <a:ext cx="4572000" cy="41910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CONTRACT-01 v2, CLAUSE 3</a:t>
            </a:r>
          </a:p>
        </p:txBody>
      </p:sp>
      <p:sp>
        <p:nvSpPr>
          <p:cNvPr id="9" name="reveal-02-source-text">
            <a:extLst>
              <a:ext uri="{FF2B5EF4-FFF2-40B4-BE49-F238E27FC236}">
                <ns2:creationId id="{C392F301-9418-4E01-97C4-34BF203F9037}"/>
              </a:ext>
            </a:extLst>
          </p:cNvPr>
          <p:cNvSpPr>
            <a:spLocks noGrp="1"/>
          </p:cNvSpPr>
          <p:nvPr/>
        </p:nvSpPr>
        <p:spPr>
          <a:xfrm>
            <a:off x="6724650" y="2800350"/>
            <a:ext cx="4572000" cy="2333625"/>
          </a:xfrm>
          <a:prstGeom prst="rect">
            <a:avLst/>
          </a:prstGeom>
          <a:noFill/>
          <a:ln w="0">
            <a:noFill/>
          </a:ln>
        </p:spPr>
        <p:txBody>
          <a:bodyPr>
            <a:noAutofit/>
          </a:bodyPr>
          <a:lstStyle>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a:pPr>
              <a:defRPr sz="2175" b="0">
                <a:solidFill>
                  <a:srgbClr val="1C3144"/>
                </a:solidFill>
                <a:latin typeface="Calibri"/>
                <a:ea typeface="Calibri"/>
                <a:cs typeface="Calibri"/>
              </a:defRPr>
            </a:pPr>
            <a:r>
              <a:rPr sz="2175" b="0">
                <a:solidFill>
                  <a:srgbClr val="1C3144"/>
                </a:solidFill>
                <a:latin typeface="Calibri"/>
                <a:ea typeface="Calibri"/>
                <a:cs typeface="Calibri"/>
              </a:rPr>
              <a:t>The customer must give prior written consent to a change of control of the provider. Consent is not required for a reorganisation within a wholly owned group if the provider remains responsible for its obligations.</a:t>
            </a:r>
          </a:p>
        </p:txBody>
      </p:sp>
      <p:sp>
        <p:nvSpPr>
          <p:cNvPr id="11" name="text-370">
            <a:extLst>
              <a:ext uri="{FF2B5EF4-FFF2-40B4-BE49-F238E27FC236}">
                <ns2:creationId id="{C25D76B4-652A-46E1-8718-869EB16F4FFE}"/>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The clause establishes wording. Transaction facts require their own evidence.</a:t>
            </a:r>
          </a:p>
        </p:txBody>
      </p:sp>
      <p:sp>
        <p:nvSpPr>
          <p:cNvPr id="3" name="text-368">
            <a:extLst>
              <a:ext uri="{FF2B5EF4-FFF2-40B4-BE49-F238E27FC236}">
                <ns2:creationId id="{76A9B835-E066-45EB-8437-749D89C5965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12</a:t>
            </a:r>
          </a:p>
        </p:txBody>
      </p:sp>
    </p:spTree>
    <p:extLst>
      <p:ext uri="{BB962C8B-B14F-4D97-AF65-F5344CB8AC3E}">
        <ns4:creationId val="82624106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source error and an answer error">
    <p:bg>
      <p:bgPr>
        <a:solidFill>
          <a:srgbClr val="FFFFFF"/>
        </a:solidFill>
      </p:bgPr>
    </p:bg>
    <p:spTree>
      <p:nvGrpSpPr>
        <p:cNvPr id="1" name=""/>
        <p:cNvGrpSpPr/>
        <p:nvPr/>
      </p:nvGrpSpPr>
      <p:grpSpPr>
        <a:xfrm/>
      </p:grpSpPr>
      <p:sp>
        <p:nvSpPr>
          <p:cNvPr id="8" name="text-371">
            <a:extLst>
              <a:ext uri="{FF2B5EF4-FFF2-40B4-BE49-F238E27FC236}">
                <ns2:creationId id="{EF534906-F835-4CAC-9C2B-99290DB9D20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72">
            <a:extLst>
              <a:ext uri="{FF2B5EF4-FFF2-40B4-BE49-F238E27FC236}">
                <ns2:creationId id="{59281EBE-D6A2-433B-9148-48519068E72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source error and an answer error</a:t>
            </a:r>
          </a:p>
        </p:txBody>
      </p:sp>
      <p:sp>
        <p:nvSpPr>
          <p:cNvPr id="4" name="text-374">
            <a:extLst>
              <a:ext uri="{FF2B5EF4-FFF2-40B4-BE49-F238E27FC236}">
                <ns2:creationId id="{B2B2D137-10B9-4963-8D6B-04369BC89BAB}"/>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Retrieval failure</a:t>
            </a:r>
          </a:p>
        </p:txBody>
      </p:sp>
      <p:sp>
        <p:nvSpPr>
          <p:cNvPr id="5" name="text-375">
            <a:extLst>
              <a:ext uri="{FF2B5EF4-FFF2-40B4-BE49-F238E27FC236}">
                <ns2:creationId id="{E4F578D0-5ED2-4F41-A718-4BF2959DF323}"/>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system returns draft v1 as the governing agreement.</a:t>
            </a:r>
          </a:p>
        </p:txBody>
      </p:sp>
      <p:sp>
        <p:nvSpPr>
          <p:cNvPr id="6" name="text-376">
            <a:extLst>
              <a:ext uri="{FF2B5EF4-FFF2-40B4-BE49-F238E27FC236}">
                <ns2:creationId id="{DE98A444-1065-4E99-B40A-72ABAFE947A0}"/>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Generation failure</a:t>
            </a:r>
          </a:p>
        </p:txBody>
      </p:sp>
      <p:sp>
        <p:nvSpPr>
          <p:cNvPr id="7" name="text-377">
            <a:extLst>
              <a:ext uri="{FF2B5EF4-FFF2-40B4-BE49-F238E27FC236}">
                <ns2:creationId id="{7645DB05-57FE-4DA2-B460-05B4503E8700}"/>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system retrieves v2 but omits the group exception in its answer.</a:t>
            </a:r>
          </a:p>
        </p:txBody>
      </p:sp>
      <p:sp>
        <p:nvSpPr>
          <p:cNvPr id="3" name="text-373">
            <a:extLst>
              <a:ext uri="{FF2B5EF4-FFF2-40B4-BE49-F238E27FC236}">
                <ns2:creationId id="{C2AFE858-FB37-42F3-8644-0B2E0F14EA5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13</a:t>
            </a:r>
          </a:p>
        </p:txBody>
      </p:sp>
    </p:spTree>
    <p:extLst>
      <p:ext uri="{BB962C8B-B14F-4D97-AF65-F5344CB8AC3E}">
        <ns3:creationId val="272217735"/>
      </p:ext>
    </p:extLst>
  </p:cSld>
  <p:transition spd="med" advClick="1">
    <p:fade/>
  </p:transition>
</p:sld>
</file>

<file path=ppt/slides/slide14.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ccess-aware retrieval">
    <p:bg>
      <p:bgPr>
        <a:solidFill>
          <a:srgbClr val="FFFFFF"/>
        </a:solidFill>
      </p:bgPr>
    </p:bg>
    <p:spTree>
      <p:nvGrpSpPr>
        <p:cNvPr id="1" name=""/>
        <p:cNvGrpSpPr/>
        <p:nvPr/>
      </p:nvGrpSpPr>
      <p:grpSpPr>
        <a:xfrm/>
      </p:grpSpPr>
      <p:cxnSp>
        <p:nvCxnSpPr>
          <p:cNvPr id="22" name="reveal-04-arrow" descr="Access-aware retrieval">
            <a:extLst>
              <a:ext uri="{FF2B5EF4-FFF2-40B4-BE49-F238E27FC236}">
                <ns2:creationId id="{68532A3B-EDD3-4D8B-92CF-A80C39673592}"/>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A01C55F2-D8D2-4064-B9B1-77A27C0A62E4}"/>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B3FF8A20-CDB9-4900-A8CB-4FADB970EA93}"/>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378">
            <a:extLst>
              <a:ext uri="{FF2B5EF4-FFF2-40B4-BE49-F238E27FC236}">
                <ns2:creationId id="{B121DE3B-BFEF-4CFC-80C5-775055ACD73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79">
            <a:extLst>
              <a:ext uri="{FF2B5EF4-FFF2-40B4-BE49-F238E27FC236}">
                <ns2:creationId id="{92775BAE-7D41-4654-A668-6B90C9E1AAA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Access-aware retrieval</a:t>
            </a:r>
          </a:p>
        </p:txBody>
      </p:sp>
      <p:sp>
        <p:nvSpPr>
          <p:cNvPr id="4" name="reveal-01-stage">
            <a:extLst>
              <a:ext uri="{FF2B5EF4-FFF2-40B4-BE49-F238E27FC236}">
                <ns2:creationId id="{DF92284A-13EA-4276-9E40-B65B812EB53B}"/>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A9A3F0F1-6907-4AD3-91C2-26AC42DAF677}"/>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89BA165F-F192-4BA9-8AB3-7D6101B18A95}"/>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Identity</a:t>
            </a:r>
          </a:p>
        </p:txBody>
      </p:sp>
      <p:sp>
        <p:nvSpPr>
          <p:cNvPr id="7" name="reveal-01-detail">
            <a:extLst>
              <a:ext uri="{FF2B5EF4-FFF2-40B4-BE49-F238E27FC236}">
                <ns2:creationId id="{0898AAF9-67DB-428B-936A-2D041444DF41}"/>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Who asks?</a:t>
            </a:r>
          </a:p>
        </p:txBody>
      </p:sp>
      <p:sp>
        <p:nvSpPr>
          <p:cNvPr id="8" name="reveal-02-stage">
            <a:extLst>
              <a:ext uri="{FF2B5EF4-FFF2-40B4-BE49-F238E27FC236}">
                <ns2:creationId id="{983919EA-D4AB-4B35-959C-B511FF6CBFE5}"/>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F2BBD852-0C93-4C1B-98E2-DA84668E8111}"/>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2EB20792-4DA2-4B6F-853B-D6C9777A6E10}"/>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Filter</a:t>
            </a:r>
          </a:p>
        </p:txBody>
      </p:sp>
      <p:sp>
        <p:nvSpPr>
          <p:cNvPr id="11" name="reveal-02-detail">
            <a:extLst>
              <a:ext uri="{FF2B5EF4-FFF2-40B4-BE49-F238E27FC236}">
                <ns2:creationId id="{F29F0515-75EA-4907-B9A5-DDA0B8681BA6}"/>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Which matters may they see?</a:t>
            </a:r>
          </a:p>
        </p:txBody>
      </p:sp>
      <p:sp>
        <p:nvSpPr>
          <p:cNvPr id="12" name="reveal-03-stage">
            <a:extLst>
              <a:ext uri="{FF2B5EF4-FFF2-40B4-BE49-F238E27FC236}">
                <ns2:creationId id="{5CEAFE3A-91F0-4026-A8E1-F893A13BCB8C}"/>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A04E7573-E56C-4CEB-A847-9A81DF1ED7DF}"/>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D3BF8865-1903-491A-BBC2-B331A5B0059D}"/>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Retrieve</a:t>
            </a:r>
          </a:p>
        </p:txBody>
      </p:sp>
      <p:sp>
        <p:nvSpPr>
          <p:cNvPr id="15" name="reveal-03-detail">
            <a:extLst>
              <a:ext uri="{FF2B5EF4-FFF2-40B4-BE49-F238E27FC236}">
                <ns2:creationId id="{188A60B8-1882-4136-9704-ADD53A71F097}"/>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Permitted passages</a:t>
            </a:r>
          </a:p>
        </p:txBody>
      </p:sp>
      <p:sp>
        <p:nvSpPr>
          <p:cNvPr id="16" name="reveal-04-stage">
            <a:extLst>
              <a:ext uri="{FF2B5EF4-FFF2-40B4-BE49-F238E27FC236}">
                <ns2:creationId id="{29E04B3F-8C80-49E1-B3C4-A9077059411F}"/>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4F15E74B-2384-4294-B12E-7316C5A67862}"/>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6179A201-3249-40EE-BC17-85027F99B420}"/>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Respond</a:t>
            </a:r>
          </a:p>
        </p:txBody>
      </p:sp>
      <p:sp>
        <p:nvSpPr>
          <p:cNvPr id="19" name="reveal-04-detail">
            <a:extLst>
              <a:ext uri="{FF2B5EF4-FFF2-40B4-BE49-F238E27FC236}">
                <ns2:creationId id="{32D86B85-385F-4DFE-8269-663C58F29166}"/>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Source-linked answer</a:t>
            </a:r>
          </a:p>
        </p:txBody>
      </p:sp>
      <p:sp>
        <p:nvSpPr>
          <p:cNvPr id="3" name="text-380">
            <a:extLst>
              <a:ext uri="{FF2B5EF4-FFF2-40B4-BE49-F238E27FC236}">
                <ns2:creationId id="{B5155824-2A01-4FD4-9593-F9921C7E2C5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14</a:t>
            </a:r>
          </a:p>
        </p:txBody>
      </p:sp>
    </p:spTree>
    <p:extLst>
      <p:ext uri="{BB962C8B-B14F-4D97-AF65-F5344CB8AC3E}">
        <ns4:creationId val="188633411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Tests for the firm assistant">
    <p:bg>
      <p:bgPr>
        <a:solidFill>
          <a:srgbClr val="FFFFFF"/>
        </a:solidFill>
      </p:bgPr>
    </p:bg>
    <p:spTree>
      <p:nvGrpSpPr>
        <p:cNvPr id="1" name=""/>
        <p:cNvGrpSpPr/>
        <p:nvPr/>
      </p:nvGrpSpPr>
      <p:grpSpPr>
        <a:xfrm/>
      </p:grpSpPr>
      <p:sp>
        <p:nvSpPr>
          <p:cNvPr id="5" name="text-384">
            <a:extLst>
              <a:ext uri="{FF2B5EF4-FFF2-40B4-BE49-F238E27FC236}">
                <ns2:creationId id="{F3ED9A5B-00F0-4D74-9BD2-2EC6E6174FD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85">
            <a:extLst>
              <a:ext uri="{FF2B5EF4-FFF2-40B4-BE49-F238E27FC236}">
                <ns2:creationId id="{BB535292-6D99-4238-AA8A-345179890CF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Tests for the firm assistant</a:t>
            </a:r>
          </a:p>
        </p:txBody>
      </p:sp>
      <p:graphicFrame>
        <p:nvGraphicFramePr>
          <p:cNvPr id="4" name="">
            <a:extLst>
              <a:ext uri="{FF2B5EF4-FFF2-40B4-BE49-F238E27FC236}">
                <ns2:creationId id="{7337B11A-9A68-4E22-8101-3E1FBEA96B67}"/>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Test</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Expected behaviour</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Current clause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Return v2 with the exception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Old wording request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Label draft status explicitly</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Missing transaction fact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Ask or state unknown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Restricted matter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Withhold restricted evidence</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Source update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Use amended evidence after refresh</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386">
            <a:extLst>
              <a:ext uri="{FF2B5EF4-FFF2-40B4-BE49-F238E27FC236}">
                <ns2:creationId id="{F683BC5D-A7B8-4F7F-8575-F43D9567C42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15</a:t>
            </a:r>
          </a:p>
        </p:txBody>
      </p:sp>
    </p:spTree>
    <p:extLst>
      <p:ext uri="{BB962C8B-B14F-4D97-AF65-F5344CB8AC3E}">
        <ns3:creationId val="2074795831"/>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How the collection stays useful">
    <p:bg>
      <p:bgPr>
        <a:solidFill>
          <a:srgbClr val="FFFFFF"/>
        </a:solidFill>
      </p:bgPr>
    </p:bg>
    <p:spTree>
      <p:nvGrpSpPr>
        <p:cNvPr id="1" name=""/>
        <p:cNvGrpSpPr/>
        <p:nvPr/>
      </p:nvGrpSpPr>
      <p:grpSpPr>
        <a:xfrm/>
      </p:grpSpPr>
      <p:sp>
        <p:nvSpPr>
          <p:cNvPr id="12" name="text-387">
            <a:extLst>
              <a:ext uri="{FF2B5EF4-FFF2-40B4-BE49-F238E27FC236}">
                <ns2:creationId id="{306AF8E8-BD7E-4A60-ACA1-04F7BD8A975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88">
            <a:extLst>
              <a:ext uri="{FF2B5EF4-FFF2-40B4-BE49-F238E27FC236}">
                <ns2:creationId id="{F8F0CDA6-84B8-45F0-90D0-DA068C788E2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How the collection stays useful</a:t>
            </a:r>
          </a:p>
        </p:txBody>
      </p:sp>
      <p:sp>
        <p:nvSpPr>
          <p:cNvPr id="4" name="text-390">
            <a:extLst>
              <a:ext uri="{FF2B5EF4-FFF2-40B4-BE49-F238E27FC236}">
                <ns2:creationId id="{6CE7710F-E333-412E-ADBC-C3EF4B44215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91">
            <a:extLst>
              <a:ext uri="{FF2B5EF4-FFF2-40B4-BE49-F238E27FC236}">
                <ns2:creationId id="{21D9C5E2-B5B5-4D9B-A205-1331B87F4572}"/>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owner approves new and amended sources.</a:t>
            </a:r>
          </a:p>
        </p:txBody>
      </p:sp>
      <p:sp>
        <p:nvSpPr>
          <p:cNvPr id="6" name="text-392">
            <a:extLst>
              <a:ext uri="{FF2B5EF4-FFF2-40B4-BE49-F238E27FC236}">
                <ns2:creationId id="{A5552B6F-E98E-4D6F-8EE8-9A2B91E31E0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93">
            <a:extLst>
              <a:ext uri="{FF2B5EF4-FFF2-40B4-BE49-F238E27FC236}">
                <ns2:creationId id="{C897CCCC-5C97-4C6D-AED6-3987F42B983B}"/>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Withdrawals and access changes reach derived content.</a:t>
            </a:r>
          </a:p>
        </p:txBody>
      </p:sp>
      <p:sp>
        <p:nvSpPr>
          <p:cNvPr id="8" name="text-394">
            <a:extLst>
              <a:ext uri="{FF2B5EF4-FFF2-40B4-BE49-F238E27FC236}">
                <ns2:creationId id="{FC1378DB-E8D9-4800-824F-CD319BB08FCD}"/>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95">
            <a:extLst>
              <a:ext uri="{FF2B5EF4-FFF2-40B4-BE49-F238E27FC236}">
                <ns2:creationId id="{138D7FE4-2EB0-4929-8B9E-C861131CFE5C}"/>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Tests run after material changes.</a:t>
            </a:r>
          </a:p>
        </p:txBody>
      </p:sp>
      <p:sp>
        <p:nvSpPr>
          <p:cNvPr id="10" name="text-396">
            <a:extLst>
              <a:ext uri="{FF2B5EF4-FFF2-40B4-BE49-F238E27FC236}">
                <ns2:creationId id="{99E5585B-BE8D-4CEA-A95F-ABED4087E7AF}"/>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97">
            <a:extLst>
              <a:ext uri="{FF2B5EF4-FFF2-40B4-BE49-F238E27FC236}">
                <ns2:creationId id="{7FD514BE-9777-43EC-9EC6-B1AEB0E3F51C}"/>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Users can inspect sources and report mistakes.</a:t>
            </a:r>
          </a:p>
        </p:txBody>
      </p:sp>
      <p:sp>
        <p:nvSpPr>
          <p:cNvPr id="3" name="text-389">
            <a:extLst>
              <a:ext uri="{FF2B5EF4-FFF2-40B4-BE49-F238E27FC236}">
                <ns2:creationId id="{8418EF1F-D5DA-48E5-B118-FCBDD31AD34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16</a:t>
            </a:r>
          </a:p>
        </p:txBody>
      </p:sp>
    </p:spTree>
    <p:extLst>
      <p:ext uri="{BB962C8B-B14F-4D97-AF65-F5344CB8AC3E}">
        <ns3:creationId val="1038563435"/>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398">
            <a:extLst>
              <a:ext uri="{FF2B5EF4-FFF2-40B4-BE49-F238E27FC236}">
                <ns2:creationId id="{4B37C9C2-8347-4BC7-B8C2-CC6315095AF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99">
            <a:extLst>
              <a:ext uri="{FF2B5EF4-FFF2-40B4-BE49-F238E27FC236}">
                <ns2:creationId id="{E02CB97D-248D-4B27-9211-5983C412E60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401">
            <a:extLst>
              <a:ext uri="{FF2B5EF4-FFF2-40B4-BE49-F238E27FC236}">
                <ns2:creationId id="{F9D63D98-6773-4349-B4E0-85F4162A754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02">
            <a:extLst>
              <a:ext uri="{FF2B5EF4-FFF2-40B4-BE49-F238E27FC236}">
                <ns2:creationId id="{BF07DB1A-335F-4CD8-B8B5-6E69038B799B}"/>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Inspect the 40-document library and its versions.</a:t>
            </a:r>
          </a:p>
        </p:txBody>
      </p:sp>
      <p:sp>
        <p:nvSpPr>
          <p:cNvPr id="6" name="text-403">
            <a:extLst>
              <a:ext uri="{FF2B5EF4-FFF2-40B4-BE49-F238E27FC236}">
                <ns2:creationId id="{41313365-6588-4EA0-A5A6-8CE02A5633BC}"/>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04">
            <a:extLst>
              <a:ext uri="{FF2B5EF4-FFF2-40B4-BE49-F238E27FC236}">
                <ns2:creationId id="{C97D00F6-515A-4E69-B973-76D975099AF4}"/>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Run the available search route; label its method.</a:t>
            </a:r>
          </a:p>
        </p:txBody>
      </p:sp>
      <p:sp>
        <p:nvSpPr>
          <p:cNvPr id="8" name="text-405">
            <a:extLst>
              <a:ext uri="{FF2B5EF4-FFF2-40B4-BE49-F238E27FC236}">
                <ns2:creationId id="{70F4784A-7E90-4BF9-ABBD-F188BEB1A2B4}"/>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06">
            <a:extLst>
              <a:ext uri="{FF2B5EF4-FFF2-40B4-BE49-F238E27FC236}">
                <ns2:creationId id="{07B21FB8-CEDD-458E-9D4D-2CF1C5B7CD6C}"/>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 current sources, missing evidence and access.</a:t>
            </a:r>
          </a:p>
        </p:txBody>
      </p:sp>
      <p:sp>
        <p:nvSpPr>
          <p:cNvPr id="10" name="text-407">
            <a:extLst>
              <a:ext uri="{FF2B5EF4-FFF2-40B4-BE49-F238E27FC236}">
                <ns2:creationId id="{80CBEC43-10FF-41C2-A174-5C006D58F251}"/>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08">
            <a:extLst>
              <a:ext uri="{FF2B5EF4-FFF2-40B4-BE49-F238E27FC236}">
                <ns2:creationId id="{2C9D0E12-CED9-4BDB-A091-2EE9AB372874}"/>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Score retrieval and answer fidelity separately.</a:t>
            </a:r>
          </a:p>
        </p:txBody>
      </p:sp>
      <p:sp>
        <p:nvSpPr>
          <p:cNvPr id="12" name="text-409">
            <a:extLst>
              <a:ext uri="{FF2B5EF4-FFF2-40B4-BE49-F238E27FC236}">
                <ns2:creationId id="{0573E2B4-7E6B-45BD-9AE3-8B3C261A446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400">
            <a:extLst>
              <a:ext uri="{FF2B5EF4-FFF2-40B4-BE49-F238E27FC236}">
                <ns2:creationId id="{7E863DEF-4191-48CF-8AA3-1428D64D4C9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17</a:t>
            </a:r>
          </a:p>
        </p:txBody>
      </p:sp>
    </p:spTree>
    <p:extLst>
      <p:ext uri="{BB962C8B-B14F-4D97-AF65-F5344CB8AC3E}">
        <ns3:creationId val="762520790"/>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410">
            <a:extLst>
              <a:ext uri="{FF2B5EF4-FFF2-40B4-BE49-F238E27FC236}">
                <ns2:creationId id="{949F5D5D-B1BE-4E14-8A74-AD9CAA2CF03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11">
            <a:extLst>
              <a:ext uri="{FF2B5EF4-FFF2-40B4-BE49-F238E27FC236}">
                <ns2:creationId id="{37F4A7AB-3301-4570-A395-6AB931D4140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413">
            <a:extLst>
              <a:ext uri="{FF2B5EF4-FFF2-40B4-BE49-F238E27FC236}">
                <ns2:creationId id="{1F78E3B1-5D9C-42F0-A6D3-3D8CC049DCBE}"/>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14">
            <a:extLst>
              <a:ext uri="{FF2B5EF4-FFF2-40B4-BE49-F238E27FC236}">
                <ns2:creationId id="{1CCA50CA-2D04-4270-AFA1-34E111F113CA}"/>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Source selection and generated-answer fidelity are separate tests. Current permitted source selection is mandatory. A language model must preserve the exception and identify absent facts.</a:t>
            </a:r>
          </a:p>
        </p:txBody>
      </p:sp>
      <p:sp>
        <p:nvSpPr>
          <p:cNvPr id="6" name="text-415">
            <a:extLst>
              <a:ext uri="{FF2B5EF4-FFF2-40B4-BE49-F238E27FC236}">
                <ns2:creationId id="{A5228DF4-11F6-4ABE-A8D3-F46981B18BB0}"/>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16">
            <a:extLst>
              <a:ext uri="{FF2B5EF4-FFF2-40B4-BE49-F238E27FC236}">
                <ns2:creationId id="{53E30FF8-A9FB-45AC-8615-EFBBF7D3FBA1}"/>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local lexical search is not vector retrieval or a live RAG product; it demonstrates version/access filtering only.</a:t>
            </a:r>
          </a:p>
        </p:txBody>
      </p:sp>
      <p:sp>
        <p:nvSpPr>
          <p:cNvPr id="3" name="text-412">
            <a:extLst>
              <a:ext uri="{FF2B5EF4-FFF2-40B4-BE49-F238E27FC236}">
                <ns2:creationId id="{E5F61145-376C-4085-A937-4A7494A3C76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18</a:t>
            </a:r>
          </a:p>
        </p:txBody>
      </p:sp>
    </p:spTree>
    <p:extLst>
      <p:ext uri="{BB962C8B-B14F-4D97-AF65-F5344CB8AC3E}">
        <ns3:creationId val="487301147"/>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417">
            <a:extLst>
              <a:ext uri="{FF2B5EF4-FFF2-40B4-BE49-F238E27FC236}">
                <ns2:creationId id="{06F60773-AE91-4A8D-924A-6D7D6BA5BDA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18">
            <a:extLst>
              <a:ext uri="{FF2B5EF4-FFF2-40B4-BE49-F238E27FC236}">
                <ns2:creationId id="{6C27569B-2433-4D9B-B79C-12138E61FCF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420">
            <a:extLst>
              <a:ext uri="{FF2B5EF4-FFF2-40B4-BE49-F238E27FC236}">
                <ns2:creationId id="{4DCA2CC3-81DD-4C07-BBA7-38A17F399936}"/>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21">
            <a:extLst>
              <a:ext uri="{FF2B5EF4-FFF2-40B4-BE49-F238E27FC236}">
                <ns2:creationId id="{D642C744-8A72-47D1-AEB2-69D49859FF31}"/>
              </a:ext>
            </a:extLst>
          </p:cNvPr>
          <p:cNvSpPr>
            <a:spLocks noGrp="1"/>
          </p:cNvSpPr>
          <p:nvPr/>
        </p:nvSpPr>
        <p:spPr>
          <a:xfrm>
            <a:off x="1285875" y="1943100"/>
            <a:ext cx="10191750"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Pilot a maintained permitted collection with an owner, independent test cases and update rules.</a:t>
            </a:r>
          </a:p>
        </p:txBody>
      </p:sp>
      <p:sp>
        <p:nvSpPr>
          <p:cNvPr id="6" name="text-422">
            <a:extLst>
              <a:ext uri="{FF2B5EF4-FFF2-40B4-BE49-F238E27FC236}">
                <ns2:creationId id="{B9941AA5-FCBF-4A27-A277-9FCD839F1A31}"/>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419">
            <a:extLst>
              <a:ext uri="{FF2B5EF4-FFF2-40B4-BE49-F238E27FC236}">
                <ns2:creationId id="{07EAE927-8ACC-4354-8673-0959B6917CF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19</a:t>
            </a:r>
          </a:p>
        </p:txBody>
      </p:sp>
    </p:spTree>
    <p:extLst>
      <p:ext uri="{BB962C8B-B14F-4D97-AF65-F5344CB8AC3E}">
        <ns3:creationId val="556687650"/>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423">
            <a:extLst>
              <a:ext uri="{FF2B5EF4-FFF2-40B4-BE49-F238E27FC236}">
                <ns2:creationId id="{82E3A59B-F168-4D14-B91F-9C02E4FFBF7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24">
            <a:extLst>
              <a:ext uri="{FF2B5EF4-FFF2-40B4-BE49-F238E27FC236}">
                <ns2:creationId id="{BE886C65-2BD4-45E7-A028-B4E7FA97351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426">
            <a:extLst>
              <a:ext uri="{FF2B5EF4-FFF2-40B4-BE49-F238E27FC236}">
                <ns2:creationId id="{6E03E197-BCA8-4AD2-B0DA-8E1388AF038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27">
            <a:extLst>
              <a:ext uri="{FF2B5EF4-FFF2-40B4-BE49-F238E27FC236}">
                <ns2:creationId id="{D6FA05C5-34D6-487E-8512-65CFB72C55D5}"/>
              </a:ext>
            </a:extLst>
          </p:cNvPr>
          <p:cNvSpPr>
            <a:spLocks noGrp="1"/>
          </p:cNvSpPr>
          <p:nvPr/>
        </p:nvSpPr>
        <p:spPr>
          <a:xfrm>
            <a:off x="1285875" y="194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answer uses the right version but invents an ownership fact. Which test fails?</a:t>
            </a:r>
          </a:p>
        </p:txBody>
      </p:sp>
      <p:sp>
        <p:nvSpPr>
          <p:cNvPr id="6" name="text-428">
            <a:extLst>
              <a:ext uri="{FF2B5EF4-FFF2-40B4-BE49-F238E27FC236}">
                <ns2:creationId id="{4ECDC4DF-2FD7-434C-A507-0E0B21B00959}"/>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29">
            <a:extLst>
              <a:ext uri="{FF2B5EF4-FFF2-40B4-BE49-F238E27FC236}">
                <ns2:creationId id="{6E5B7D9C-51BB-4278-A351-1B71CBD1277B}"/>
              </a:ext>
            </a:extLst>
          </p:cNvPr>
          <p:cNvSpPr>
            <a:spLocks noGrp="1"/>
          </p:cNvSpPr>
          <p:nvPr/>
        </p:nvSpPr>
        <p:spPr>
          <a:xfrm>
            <a:off x="1285875" y="321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Search finds no current permitted source. What should happen?</a:t>
            </a:r>
          </a:p>
        </p:txBody>
      </p:sp>
      <p:sp>
        <p:nvSpPr>
          <p:cNvPr id="8" name="text-430">
            <a:extLst>
              <a:ext uri="{FF2B5EF4-FFF2-40B4-BE49-F238E27FC236}">
                <ns2:creationId id="{D1FB7DF8-C030-41C6-9A4A-B6268BDE0546}"/>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31">
            <a:extLst>
              <a:ext uri="{FF2B5EF4-FFF2-40B4-BE49-F238E27FC236}">
                <ns2:creationId id="{F18469B4-79BE-400A-9AAF-01430CB1E945}"/>
              </a:ext>
            </a:extLst>
          </p:cNvPr>
          <p:cNvSpPr>
            <a:spLocks noGrp="1"/>
          </p:cNvSpPr>
          <p:nvPr/>
        </p:nvSpPr>
        <p:spPr>
          <a:xfrm>
            <a:off x="1285875" y="448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Could keyword retrieval be part of a RAG system?</a:t>
            </a:r>
          </a:p>
        </p:txBody>
      </p:sp>
      <p:sp>
        <p:nvSpPr>
          <p:cNvPr id="3" name="text-425">
            <a:extLst>
              <a:ext uri="{FF2B5EF4-FFF2-40B4-BE49-F238E27FC236}">
                <ns2:creationId id="{1DD43F93-6203-4AA7-B361-CD6093D9009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20</a:t>
            </a:r>
          </a:p>
        </p:txBody>
      </p:sp>
    </p:spTree>
    <p:extLst>
      <p:ext uri="{BB962C8B-B14F-4D97-AF65-F5344CB8AC3E}">
        <ns3:creationId val="1126044413"/>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Embedding">
    <p:bg>
      <p:bgPr>
        <a:solidFill>
          <a:srgbClr val="FFFFFF"/>
        </a:solidFill>
      </p:bgPr>
    </p:bg>
    <p:spTree>
      <p:nvGrpSpPr>
        <p:cNvPr id="1" name=""/>
        <p:cNvGrpSpPr/>
        <p:nvPr/>
      </p:nvGrpSpPr>
      <p:grpSpPr>
        <a:xfrm/>
      </p:grpSpPr>
      <p:sp>
        <p:nvSpPr>
          <p:cNvPr id="7" name="text-432">
            <a:extLst>
              <a:ext uri="{FF2B5EF4-FFF2-40B4-BE49-F238E27FC236}">
                <ns2:creationId id="{5879E07B-E5D6-47C1-BDFE-9E328E0F76F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33">
            <a:extLst>
              <a:ext uri="{FF2B5EF4-FFF2-40B4-BE49-F238E27FC236}">
                <ns2:creationId id="{37CB1C6A-C02B-4223-8DDB-3266E3AD78A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Embedding</a:t>
            </a:r>
          </a:p>
        </p:txBody>
      </p:sp>
      <p:sp>
        <p:nvSpPr>
          <p:cNvPr id="4" name="text-435">
            <a:extLst>
              <a:ext uri="{FF2B5EF4-FFF2-40B4-BE49-F238E27FC236}">
                <ns2:creationId id="{7165D94E-76F9-40B8-B10B-C4F0BB58F1F9}"/>
              </a:ext>
            </a:extLst>
          </p:cNvPr>
          <p:cNvSpPr>
            <a:spLocks noGrp="1"/>
          </p:cNvSpPr>
          <p:nvPr/>
        </p:nvSpPr>
        <p:spPr>
          <a:xfrm>
            <a:off x="619125" y="1933575"/>
            <a:ext cx="10953750"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An embedding is a numerical representation learned or constructed so that relationships between items can be compared computationally.</a:t>
            </a:r>
          </a:p>
        </p:txBody>
      </p:sp>
      <p:sp>
        <p:nvSpPr>
          <p:cNvPr id="5" name="text-436">
            <a:extLst>
              <a:ext uri="{FF2B5EF4-FFF2-40B4-BE49-F238E27FC236}">
                <ns2:creationId id="{5F0CBE6C-12BA-480C-8F4D-1B17BF2C9A7F}"/>
              </a:ext>
            </a:extLst>
          </p:cNvPr>
          <p:cNvSpPr>
            <a:spLocks noGrp="1"/>
          </p:cNvSpPr>
          <p:nvPr/>
        </p:nvSpPr>
        <p:spPr>
          <a:xfrm>
            <a:off x="619125" y="4476750"/>
            <a:ext cx="10953750"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437">
            <a:extLst>
              <a:ext uri="{FF2B5EF4-FFF2-40B4-BE49-F238E27FC236}">
                <ns2:creationId id="{58C72AE1-A541-4170-B77B-CB94DAC1E506}"/>
              </a:ext>
            </a:extLst>
          </p:cNvPr>
          <p:cNvSpPr>
            <a:spLocks noGrp="1"/>
          </p:cNvSpPr>
          <p:nvPr/>
        </p:nvSpPr>
        <p:spPr>
          <a:xfrm>
            <a:off x="619125" y="4962525"/>
            <a:ext cx="10953750"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The query and candidate text can be represented for similarity comparison.</a:t>
            </a:r>
          </a:p>
        </p:txBody>
      </p:sp>
      <p:sp>
        <p:nvSpPr>
          <p:cNvPr id="3" name="text-434">
            <a:extLst>
              <a:ext uri="{FF2B5EF4-FFF2-40B4-BE49-F238E27FC236}">
                <ns2:creationId id="{C1A5341A-4C0B-4742-A24B-7BE3CF3970C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21   OPTIONAL EXPLORATION</a:t>
            </a:r>
          </a:p>
        </p:txBody>
      </p:sp>
    </p:spTree>
    <p:extLst>
      <p:ext uri="{BB962C8B-B14F-4D97-AF65-F5344CB8AC3E}">
        <ns3:creationId val="613008781"/>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Direct context, RAG and CAG">
    <p:bg>
      <p:bgPr>
        <a:solidFill>
          <a:srgbClr val="FFFFFF"/>
        </a:solidFill>
      </p:bgPr>
    </p:bg>
    <p:spTree>
      <p:nvGrpSpPr>
        <p:cNvPr id="1" name=""/>
        <p:cNvGrpSpPr/>
        <p:nvPr/>
      </p:nvGrpSpPr>
      <p:grpSpPr>
        <a:xfrm/>
      </p:grpSpPr>
      <p:sp>
        <p:nvSpPr>
          <p:cNvPr id="9" name="text-438">
            <a:extLst>
              <a:ext uri="{FF2B5EF4-FFF2-40B4-BE49-F238E27FC236}">
                <ns2:creationId id="{DEF82A16-5B17-4AA2-BD28-32C61ED6A8F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39">
            <a:extLst>
              <a:ext uri="{FF2B5EF4-FFF2-40B4-BE49-F238E27FC236}">
                <ns2:creationId id="{D47E948C-36F0-4D59-8DDC-A888FB640BC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Direct context, RAG and CAG</a:t>
            </a:r>
          </a:p>
        </p:txBody>
      </p:sp>
      <p:sp>
        <p:nvSpPr>
          <p:cNvPr id="4" name="text-441">
            <a:extLst>
              <a:ext uri="{FF2B5EF4-FFF2-40B4-BE49-F238E27FC236}">
                <ns2:creationId id="{F3A60FB4-7F9F-4705-AB60-6CD96B66FF69}"/>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Small selected set</a:t>
            </a:r>
          </a:p>
        </p:txBody>
      </p:sp>
      <p:sp>
        <p:nvSpPr>
          <p:cNvPr id="5" name="text-442">
            <a:extLst>
              <a:ext uri="{FF2B5EF4-FFF2-40B4-BE49-F238E27FC236}">
                <ns2:creationId id="{875D06E2-564A-4892-9056-0329F391FEA4}"/>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Supply a few relevant documents directly in context.</a:t>
            </a:r>
          </a:p>
        </p:txBody>
      </p:sp>
      <p:sp>
        <p:nvSpPr>
          <p:cNvPr id="6" name="text-443">
            <a:extLst>
              <a:ext uri="{FF2B5EF4-FFF2-40B4-BE49-F238E27FC236}">
                <ns2:creationId id="{4C356BCF-A259-4373-839D-61A4AEE9C0A9}"/>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Larger maintained collection</a:t>
            </a:r>
          </a:p>
        </p:txBody>
      </p:sp>
      <p:sp>
        <p:nvSpPr>
          <p:cNvPr id="7" name="text-444">
            <a:extLst>
              <a:ext uri="{FF2B5EF4-FFF2-40B4-BE49-F238E27FC236}">
                <ns2:creationId id="{223B6008-DF2D-44EB-B6D9-EB794E20C1DB}"/>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Use retrieval with source, access and update controls.</a:t>
            </a:r>
          </a:p>
        </p:txBody>
      </p:sp>
      <p:sp>
        <p:nvSpPr>
          <p:cNvPr id="8" name="text-445">
            <a:extLst>
              <a:ext uri="{FF2B5EF4-FFF2-40B4-BE49-F238E27FC236}">
                <ns2:creationId id="{FC61B28F-AEE2-4C7F-B36F-DA4DE6ED61A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CAG preloads a manageable collection into context and reuses supported cached computation. Sources still need updates.</a:t>
            </a:r>
          </a:p>
        </p:txBody>
      </p:sp>
      <p:sp>
        <p:nvSpPr>
          <p:cNvPr id="3" name="text-440">
            <a:extLst>
              <a:ext uri="{FF2B5EF4-FFF2-40B4-BE49-F238E27FC236}">
                <ns2:creationId id="{7F5CDBA3-DE6E-40F4-A461-32B6232AF5C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22   OPTIONAL EXPLORATION</a:t>
            </a:r>
          </a:p>
        </p:txBody>
      </p:sp>
    </p:spTree>
    <p:extLst>
      <p:ext uri="{BB962C8B-B14F-4D97-AF65-F5344CB8AC3E}">
        <ns3:creationId val="523918065"/>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The source does not answer">
    <p:bg>
      <p:bgPr>
        <a:solidFill>
          <a:srgbClr val="FFFFFF"/>
        </a:solidFill>
      </p:bgPr>
    </p:bg>
    <p:spTree>
      <p:nvGrpSpPr>
        <p:cNvPr id="1" name=""/>
        <p:cNvGrpSpPr/>
        <p:nvPr/>
      </p:nvGrpSpPr>
      <p:grpSpPr>
        <a:xfrm/>
      </p:grpSpPr>
      <p:sp>
        <p:nvSpPr>
          <p:cNvPr id="10" name="text-446">
            <a:extLst>
              <a:ext uri="{FF2B5EF4-FFF2-40B4-BE49-F238E27FC236}">
                <ns2:creationId id="{9528CAD9-3AB5-4CE7-8F26-7289504B0CC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47">
            <a:extLst>
              <a:ext uri="{FF2B5EF4-FFF2-40B4-BE49-F238E27FC236}">
                <ns2:creationId id="{CF738276-6F8E-452A-BEF6-96E3291A26C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source does not answer</a:t>
            </a:r>
          </a:p>
        </p:txBody>
      </p:sp>
      <p:sp>
        <p:nvSpPr>
          <p:cNvPr id="4" name="text-449">
            <a:extLst>
              <a:ext uri="{FF2B5EF4-FFF2-40B4-BE49-F238E27FC236}">
                <ns2:creationId id="{93499657-BCDB-451B-9200-8F829450293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50">
            <a:extLst>
              <a:ext uri="{FF2B5EF4-FFF2-40B4-BE49-F238E27FC236}">
                <ns2:creationId id="{62E65271-F3C3-4FE2-A833-4AFDAC38CE47}"/>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current documents do not establish the ownership chain.</a:t>
            </a:r>
          </a:p>
        </p:txBody>
      </p:sp>
      <p:sp>
        <p:nvSpPr>
          <p:cNvPr id="6" name="text-451">
            <a:extLst>
              <a:ext uri="{FF2B5EF4-FFF2-40B4-BE49-F238E27FC236}">
                <ns2:creationId id="{B6C6327A-2271-44C7-A2A6-F40077C1F191}"/>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52">
            <a:extLst>
              <a:ext uri="{FF2B5EF4-FFF2-40B4-BE49-F238E27FC236}">
                <ns2:creationId id="{FD2257EF-AF7E-405B-9508-C5AB20B652F5}"/>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signed fee schedule is missing.</a:t>
            </a:r>
          </a:p>
        </p:txBody>
      </p:sp>
      <p:sp>
        <p:nvSpPr>
          <p:cNvPr id="8" name="text-453">
            <a:extLst>
              <a:ext uri="{FF2B5EF4-FFF2-40B4-BE49-F238E27FC236}">
                <ns2:creationId id="{BA20D083-FBA5-4223-A0C3-F302F8C6481A}"/>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54">
            <a:extLst>
              <a:ext uri="{FF2B5EF4-FFF2-40B4-BE49-F238E27FC236}">
                <ns2:creationId id="{22CF1B66-30D1-499B-A637-5F4970527FED}"/>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Return an evidence gap, not an invented transaction detail.</a:t>
            </a:r>
          </a:p>
        </p:txBody>
      </p:sp>
      <p:sp>
        <p:nvSpPr>
          <p:cNvPr id="3" name="text-448">
            <a:extLst>
              <a:ext uri="{FF2B5EF4-FFF2-40B4-BE49-F238E27FC236}">
                <ns2:creationId id="{D8C6F201-E718-4DDB-AF3D-F92C918AB6B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23   OPTIONAL EXPLORATION</a:t>
            </a:r>
          </a:p>
        </p:txBody>
      </p:sp>
    </p:spTree>
    <p:extLst>
      <p:ext uri="{BB962C8B-B14F-4D97-AF65-F5344CB8AC3E}">
        <ns3:creationId val="228817004"/>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A choice for the firm">
    <p:bg>
      <p:bgPr>
        <a:solidFill>
          <a:srgbClr val="FFFFFF"/>
        </a:solidFill>
      </p:bgPr>
    </p:bg>
    <p:spTree>
      <p:nvGrpSpPr>
        <p:cNvPr id="1" name=""/>
        <p:cNvGrpSpPr/>
        <p:nvPr/>
      </p:nvGrpSpPr>
      <p:grpSpPr>
        <a:xfrm/>
      </p:grpSpPr>
      <p:sp>
        <p:nvSpPr>
          <p:cNvPr id="8" name="text-455">
            <a:extLst>
              <a:ext uri="{FF2B5EF4-FFF2-40B4-BE49-F238E27FC236}">
                <ns2:creationId id="{A70D3CCA-A303-4700-A2C0-190CAF5C436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56">
            <a:extLst>
              <a:ext uri="{FF2B5EF4-FFF2-40B4-BE49-F238E27FC236}">
                <ns2:creationId id="{D193BF8F-4D20-4B38-869D-17E2874B2A5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choice for the firm</a:t>
            </a:r>
          </a:p>
        </p:txBody>
      </p:sp>
      <p:sp>
        <p:nvSpPr>
          <p:cNvPr id="4" name="text-458">
            <a:extLst>
              <a:ext uri="{FF2B5EF4-FFF2-40B4-BE49-F238E27FC236}">
                <ns2:creationId id="{0EBB0DF7-E0EA-4F4D-BED3-B94300B9AFA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59">
            <a:extLst>
              <a:ext uri="{FF2B5EF4-FFF2-40B4-BE49-F238E27FC236}">
                <ns2:creationId id="{34DAC0A4-71B2-4FE4-9B86-D6911990F458}"/>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an existing DMS feature with a separate retrieval service.</a:t>
            </a:r>
          </a:p>
        </p:txBody>
      </p:sp>
      <p:sp>
        <p:nvSpPr>
          <p:cNvPr id="6" name="text-460">
            <a:extLst>
              <a:ext uri="{FF2B5EF4-FFF2-40B4-BE49-F238E27FC236}">
                <ns2:creationId id="{44F5EDBA-945A-4378-937D-3CECD17AE06F}"/>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61">
            <a:extLst>
              <a:ext uri="{FF2B5EF4-FFF2-40B4-BE49-F238E27FC236}">
                <ns2:creationId id="{9C0794EC-3852-4D0B-B77F-264FF7C58434}"/>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Assess source control, access, integration and review effort.</a:t>
            </a:r>
          </a:p>
        </p:txBody>
      </p:sp>
      <p:sp>
        <p:nvSpPr>
          <p:cNvPr id="3" name="text-457">
            <a:extLst>
              <a:ext uri="{FF2B5EF4-FFF2-40B4-BE49-F238E27FC236}">
                <ns2:creationId id="{14009F05-DE4D-4C59-8BE8-629F326A86C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24   OPTIONAL EXPLORATION</a:t>
            </a:r>
          </a:p>
        </p:txBody>
      </p:sp>
    </p:spTree>
    <p:extLst>
      <p:ext uri="{BB962C8B-B14F-4D97-AF65-F5344CB8AC3E}">
        <ns3:creationId val="1789654255"/>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2026-10-26T10:22:17.3020000Z</dcterms:created>
  <dcterms:modified xsi:type="dcterms:W3CDTF">2026-10-26T10:22:17.3020000Z</dcterms:modified>
</coreProperties>
</file>