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a05604d6b164069" /><Relationship Type="http://schemas.openxmlformats.org/officeDocument/2006/relationships/extended-properties" Target="/docProps/app.xml" Id="R2a126746fab54290" /><Relationship Type="http://schemas.openxmlformats.org/officeDocument/2006/relationships/officeDocument" Target="/ppt/presentation.xml" Id="R9134e92fffaf4011" /></Relationships>
</file>

<file path=ppt/presentation.xml><?xml version="1.0" encoding="utf-8"?>
<p:presentation xmlns:p="http://schemas.openxmlformats.org/presentationml/2006/main" xmlns:r="http://schemas.openxmlformats.org/officeDocument/2006/relationships">
  <p:sldMasterIdLst>
    <p:sldMasterId id="2147483648" r:id="R6ef2e1f0f32d43df"/>
  </p:sldMasterIdLst>
  <p:notesMasterIdLst>
    <p:notesMasterId r:id="Rd466f6574c744271"/>
  </p:notesMasterIdLst>
  <p:sldIdLst>
    <p:sldId id="256" r:id="Ra5ff82ab1e414d95"/>
    <p:sldId id="257" r:id="R25f3fc30db754dd7"/>
    <p:sldId id="258" r:id="R7bedb2019e7b425e"/>
    <p:sldId id="259" r:id="Rd596958d5e6d4124"/>
    <p:sldId id="260" r:id="R4027226d9b7d407c"/>
    <p:sldId id="261" r:id="Ra01a06978c064ea4"/>
    <p:sldId id="262" r:id="Rb4d3190b1d38424e"/>
    <p:sldId id="263" r:id="R436844a292ea4f07"/>
    <p:sldId id="264" r:id="R8eb4308b1b8446e5"/>
    <p:sldId id="265" r:id="R738ec737da694318"/>
    <p:sldId id="266" r:id="Rdedd7bbfe0784fd1"/>
    <p:sldId id="267" r:id="Rfdbd9f5f194d4d17"/>
    <p:sldId id="268" r:id="Rf8af00260020491c"/>
    <p:sldId id="269" r:id="R5f885054c4444cbe"/>
    <p:sldId id="270" r:id="R176beefed8f44ab9"/>
    <p:sldId id="271" r:id="R45a99a7ee78e4936"/>
    <p:sldId id="272" r:id="R3d4873c8a8034269"/>
    <p:sldId id="273" r:id="R9fc0dbf39c1446c1"/>
    <p:sldId id="274" r:id="R5db1e822aaba4313"/>
    <p:sldId id="275" r:id="R28ecfcf10aeb4c8e"/>
    <p:sldId id="276" r:id="R378ab1eadd5b4056"/>
    <p:sldId id="277" r:id="Rc945cc58049644df"/>
    <p:sldId id="278" r:id="R32d3b13dc96c448d"/>
    <p:sldId id="279" r:id="R6faa5d11dd164368"/>
    <p:sldId id="280" r:id="R08d7eda255d24368"/>
    <p:sldId id="281" r:id="Rafba2ff385be4c8b"/>
    <p:sldId id="282" r:id="R989dc376dce14aed"/>
    <p:sldId id="283" r:id="R7f5113a3796441f3"/>
  </p:sldIdLst>
  <p:sldSz cx="12192000" cy="6858000"/>
  <p:notesSz cx="6858000" cy="9144000"/>
  <p:custShowLst>
    <p:custShow name="Core teaching" id="1">
      <p:sldLst>
        <p:sld r:id="Ra5ff82ab1e414d95"/>
        <p:sld r:id="R25f3fc30db754dd7"/>
        <p:sld r:id="R7bedb2019e7b425e"/>
        <p:sld r:id="Rd596958d5e6d4124"/>
        <p:sld r:id="R4027226d9b7d407c"/>
        <p:sld r:id="Ra01a06978c064ea4"/>
        <p:sld r:id="Rb4d3190b1d38424e"/>
        <p:sld r:id="R436844a292ea4f07"/>
        <p:sld r:id="R8eb4308b1b8446e5"/>
        <p:sld r:id="R738ec737da694318"/>
        <p:sld r:id="Rdedd7bbfe0784fd1"/>
        <p:sld r:id="Rfdbd9f5f194d4d17"/>
        <p:sld r:id="Rf8af00260020491c"/>
        <p:sld r:id="R5f885054c4444cbe"/>
        <p:sld r:id="R176beefed8f44ab9"/>
        <p:sld r:id="R45a99a7ee78e4936"/>
        <p:sld r:id="R3d4873c8a8034269"/>
        <p:sld r:id="R9fc0dbf39c1446c1"/>
        <p:sld r:id="R5db1e822aaba4313"/>
        <p:sld r:id="R28ecfcf10aeb4c8e"/>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62899de79448ca" /><Relationship Type="http://schemas.openxmlformats.org/officeDocument/2006/relationships/slideMaster" Target="/ppt/slideMasters/slideMaster1.xml" Id="R6ef2e1f0f32d43df" /><Relationship Type="http://schemas.openxmlformats.org/officeDocument/2006/relationships/notesMaster" Target="/ppt/notesMasters/notesMaster1.xml" Id="Rd466f6574c744271" /><Relationship Type="http://schemas.openxmlformats.org/officeDocument/2006/relationships/presProps" Target="/ppt/presProps.xml" Id="Rde47214ec3a547f8" /><Relationship Type="http://schemas.openxmlformats.org/officeDocument/2006/relationships/tableStyles" Target="/ppt/tableStyles.xml" Id="R911a0ed3038545ab" /><Relationship Type="http://schemas.openxmlformats.org/officeDocument/2006/relationships/slide" Target="/ppt/slides/slide1.xml" Id="Ra5ff82ab1e414d95" /><Relationship Type="http://schemas.openxmlformats.org/officeDocument/2006/relationships/slide" Target="/ppt/slides/slide2.xml" Id="R25f3fc30db754dd7" /><Relationship Type="http://schemas.openxmlformats.org/officeDocument/2006/relationships/slide" Target="/ppt/slides/slide3.xml" Id="R7bedb2019e7b425e" /><Relationship Type="http://schemas.openxmlformats.org/officeDocument/2006/relationships/slide" Target="/ppt/slides/slide4.xml" Id="Rd596958d5e6d4124" /><Relationship Type="http://schemas.openxmlformats.org/officeDocument/2006/relationships/slide" Target="/ppt/slides/slide5.xml" Id="R4027226d9b7d407c" /><Relationship Type="http://schemas.openxmlformats.org/officeDocument/2006/relationships/slide" Target="/ppt/slides/slide6.xml" Id="Ra01a06978c064ea4" /><Relationship Type="http://schemas.openxmlformats.org/officeDocument/2006/relationships/slide" Target="/ppt/slides/slide7.xml" Id="Rb4d3190b1d38424e" /><Relationship Type="http://schemas.openxmlformats.org/officeDocument/2006/relationships/slide" Target="/ppt/slides/slide8.xml" Id="R436844a292ea4f07" /><Relationship Type="http://schemas.openxmlformats.org/officeDocument/2006/relationships/slide" Target="/ppt/slides/slide9.xml" Id="R8eb4308b1b8446e5" /><Relationship Type="http://schemas.openxmlformats.org/officeDocument/2006/relationships/slide" Target="/ppt/slides/slide10.xml" Id="R738ec737da694318" /><Relationship Type="http://schemas.openxmlformats.org/officeDocument/2006/relationships/slide" Target="/ppt/slides/slide11.xml" Id="Rdedd7bbfe0784fd1" /><Relationship Type="http://schemas.openxmlformats.org/officeDocument/2006/relationships/slide" Target="/ppt/slides/slide12.xml" Id="Rfdbd9f5f194d4d17" /><Relationship Type="http://schemas.openxmlformats.org/officeDocument/2006/relationships/slide" Target="/ppt/slides/slide13.xml" Id="Rf8af00260020491c" /><Relationship Type="http://schemas.openxmlformats.org/officeDocument/2006/relationships/slide" Target="/ppt/slides/slide14.xml" Id="R5f885054c4444cbe" /><Relationship Type="http://schemas.openxmlformats.org/officeDocument/2006/relationships/slide" Target="/ppt/slides/slide15.xml" Id="R176beefed8f44ab9" /><Relationship Type="http://schemas.openxmlformats.org/officeDocument/2006/relationships/slide" Target="/ppt/slides/slide16.xml" Id="R45a99a7ee78e4936" /><Relationship Type="http://schemas.openxmlformats.org/officeDocument/2006/relationships/slide" Target="/ppt/slides/slide17.xml" Id="R3d4873c8a8034269" /><Relationship Type="http://schemas.openxmlformats.org/officeDocument/2006/relationships/slide" Target="/ppt/slides/slide18.xml" Id="R9fc0dbf39c1446c1" /><Relationship Type="http://schemas.openxmlformats.org/officeDocument/2006/relationships/slide" Target="/ppt/slides/slide19.xml" Id="R5db1e822aaba4313" /><Relationship Type="http://schemas.openxmlformats.org/officeDocument/2006/relationships/slide" Target="/ppt/slides/slide20.xml" Id="R28ecfcf10aeb4c8e" /><Relationship Type="http://schemas.openxmlformats.org/officeDocument/2006/relationships/slide" Target="/ppt/slides/slide21.xml" Id="R378ab1eadd5b4056" /><Relationship Type="http://schemas.openxmlformats.org/officeDocument/2006/relationships/slide" Target="/ppt/slides/slide22.xml" Id="Rc945cc58049644df" /><Relationship Type="http://schemas.openxmlformats.org/officeDocument/2006/relationships/slide" Target="/ppt/slides/slide23.xml" Id="R32d3b13dc96c448d" /><Relationship Type="http://schemas.openxmlformats.org/officeDocument/2006/relationships/slide" Target="/ppt/slides/slide24.xml" Id="R6faa5d11dd164368" /><Relationship Type="http://schemas.openxmlformats.org/officeDocument/2006/relationships/slide" Target="/ppt/slides/slide25.xml" Id="R08d7eda255d24368" /><Relationship Type="http://schemas.openxmlformats.org/officeDocument/2006/relationships/slide" Target="/ppt/slides/slide26.xml" Id="Rafba2ff385be4c8b" /><Relationship Type="http://schemas.openxmlformats.org/officeDocument/2006/relationships/slide" Target="/ppt/slides/slide27.xml" Id="R989dc376dce14aed" /><Relationship Type="http://schemas.openxmlformats.org/officeDocument/2006/relationships/slide" Target="/ppt/slides/slide28.xml" Id="R7f5113a3796441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448716f8644d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c2497d90354864" /><Relationship Type="http://schemas.openxmlformats.org/officeDocument/2006/relationships/notesMaster" Target="/ppt/notesMasters/notesMaster1.xml" Id="R32ca6768350643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407739d6ec433e" /><Relationship Type="http://schemas.openxmlformats.org/officeDocument/2006/relationships/notesMaster" Target="/ppt/notesMasters/notesMaster1.xml" Id="R960e09db6db340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c64148c7d0450f" /><Relationship Type="http://schemas.openxmlformats.org/officeDocument/2006/relationships/notesMaster" Target="/ppt/notesMasters/notesMaster1.xml" Id="Reffbd97973024b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ce8b78526147ee" /><Relationship Type="http://schemas.openxmlformats.org/officeDocument/2006/relationships/notesMaster" Target="/ppt/notesMasters/notesMaster1.xml" Id="R85ad1917827b40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ad01b446d549d4" /><Relationship Type="http://schemas.openxmlformats.org/officeDocument/2006/relationships/notesMaster" Target="/ppt/notesMasters/notesMaster1.xml" Id="R80c873306c324f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ff796dbdb549d6" /><Relationship Type="http://schemas.openxmlformats.org/officeDocument/2006/relationships/notesMaster" Target="/ppt/notesMasters/notesMaster1.xml" Id="R448b79adaef24a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cd84ba32654e68" /><Relationship Type="http://schemas.openxmlformats.org/officeDocument/2006/relationships/notesMaster" Target="/ppt/notesMasters/notesMaster1.xml" Id="R53abeb6c5c7a40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22f91eae59455a" /><Relationship Type="http://schemas.openxmlformats.org/officeDocument/2006/relationships/notesMaster" Target="/ppt/notesMasters/notesMaster1.xml" Id="Rbeabd24d9fab4a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f52b651a564a9a" /><Relationship Type="http://schemas.openxmlformats.org/officeDocument/2006/relationships/notesMaster" Target="/ppt/notesMasters/notesMaster1.xml" Id="Re8b716c8b90148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a64f81897d4ce2" /><Relationship Type="http://schemas.openxmlformats.org/officeDocument/2006/relationships/notesMaster" Target="/ppt/notesMasters/notesMaster1.xml" Id="Rcbf618dfb3f94e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88c6b6cd6b4e21" /><Relationship Type="http://schemas.openxmlformats.org/officeDocument/2006/relationships/notesMaster" Target="/ppt/notesMasters/notesMaster1.xml" Id="R5688d137d6a945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5c0991cc584a57" /><Relationship Type="http://schemas.openxmlformats.org/officeDocument/2006/relationships/notesMaster" Target="/ppt/notesMasters/notesMaster1.xml" Id="R8956ae87f1b5462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b1ecea29ac4bd0" /><Relationship Type="http://schemas.openxmlformats.org/officeDocument/2006/relationships/notesMaster" Target="/ppt/notesMasters/notesMaster1.xml" Id="Re18fd2248b3e4c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0177c4e4f84fbe" /><Relationship Type="http://schemas.openxmlformats.org/officeDocument/2006/relationships/notesMaster" Target="/ppt/notesMasters/notesMaster1.xml" Id="R8dbe377d609742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a9176f738f4543" /><Relationship Type="http://schemas.openxmlformats.org/officeDocument/2006/relationships/notesMaster" Target="/ppt/notesMasters/notesMaster1.xml" Id="R67d3e5fd1d8940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b0b3d4112e4f1c" /><Relationship Type="http://schemas.openxmlformats.org/officeDocument/2006/relationships/notesMaster" Target="/ppt/notesMasters/notesMaster1.xml" Id="R2b592d8661864d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57751818b0f4d25" /><Relationship Type="http://schemas.openxmlformats.org/officeDocument/2006/relationships/notesMaster" Target="/ppt/notesMasters/notesMaster1.xml" Id="Rbe94d8cf35e943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4edbf5671e4bc8" /><Relationship Type="http://schemas.openxmlformats.org/officeDocument/2006/relationships/notesMaster" Target="/ppt/notesMasters/notesMaster1.xml" Id="R6eff59b3613f49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d2c518f49e4755" /><Relationship Type="http://schemas.openxmlformats.org/officeDocument/2006/relationships/notesMaster" Target="/ppt/notesMasters/notesMaster1.xml" Id="R3699f91f545c45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5de9feefa24f56" /><Relationship Type="http://schemas.openxmlformats.org/officeDocument/2006/relationships/notesMaster" Target="/ppt/notesMasters/notesMaster1.xml" Id="Rceb9c9c9841343e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fa679d69c74c8e" /><Relationship Type="http://schemas.openxmlformats.org/officeDocument/2006/relationships/notesMaster" Target="/ppt/notesMasters/notesMaster1.xml" Id="R50c1f366ca71412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ab4745a93f74c36" /><Relationship Type="http://schemas.openxmlformats.org/officeDocument/2006/relationships/notesMaster" Target="/ppt/notesMasters/notesMaster1.xml" Id="R84f6c30b9e284da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7f7683643442f1" /><Relationship Type="http://schemas.openxmlformats.org/officeDocument/2006/relationships/notesMaster" Target="/ppt/notesMasters/notesMaster1.xml" Id="R4371e87888d748a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19e5bd5aefd4b8a" /><Relationship Type="http://schemas.openxmlformats.org/officeDocument/2006/relationships/notesMaster" Target="/ppt/notesMasters/notesMaster1.xml" Id="Re87f0f0dc3c54e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d13f0b26f98484b" /><Relationship Type="http://schemas.openxmlformats.org/officeDocument/2006/relationships/notesMaster" Target="/ppt/notesMasters/notesMaster1.xml" Id="Rc4ff78dfbc0a48b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2d50690b6a441c4" /><Relationship Type="http://schemas.openxmlformats.org/officeDocument/2006/relationships/notesMaster" Target="/ppt/notesMasters/notesMaster1.xml" Id="Rc5dd57afe2264ff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b4566187dcd4163" /><Relationship Type="http://schemas.openxmlformats.org/officeDocument/2006/relationships/notesMaster" Target="/ppt/notesMasters/notesMaster1.xml" Id="Rb106e423f29f447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28d87ccfae94535" /><Relationship Type="http://schemas.openxmlformats.org/officeDocument/2006/relationships/notesMaster" Target="/ppt/notesMasters/notesMaster1.xml" Id="Raddba4a2245b41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I will ask: A human rejects an otherwise accurate draft. What happens next? I will record the learner’s explanation before showing the answer. The dependent action stops; revise or request a new authorised decision.</a:t>
            </a:r>
          </a:p>
          <a:p xmlns:a="http://schemas.openxmlformats.org/drawingml/2006/main">
            <a:r>
              <a:t/>
            </a:r>
          </a:p>
          <a:p xmlns:a="http://schemas.openxmlformats.org/drawingml/2006/main">
            <a:r>
              <a:t>Ask: A human rejects an otherwise accurate draft. What happens next?</a:t>
            </a:r>
          </a:p>
          <a:p xmlns:a="http://schemas.openxmlformats.org/drawingml/2006/main">
            <a:r>
              <a:t/>
            </a:r>
          </a:p>
          <a:p xmlns:a="http://schemas.openxmlformats.org/drawingml/2006/main">
            <a:r>
              <a:t>Expected answer: The dependent action stops; revise or request a new authorised decision.</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A human rejects an otherwise accurate draft. What happens next? A supported answer should establish: The dependent action stops; revise or request a new authorised decision.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Recall the action boundary.</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Ask without showing the prior result. The dependent action stops; revise or request a new authorised decision. Invite a reason, then connect the answer to today’s question.</a:t>
            </a:r>
          </a:p>
          <a:p xmlns:a="http://schemas.openxmlformats.org/drawingml/2006/main">
            <a:r>
              <a:t/>
            </a:r>
          </a:p>
          <a:p xmlns:a="http://schemas.openxmlformats.org/drawingml/2006/main">
            <a:r>
              <a:t>Ask: A human rejects an otherwise accurate draft. What happens next?</a:t>
            </a:r>
          </a:p>
          <a:p xmlns:a="http://schemas.openxmlformats.org/drawingml/2006/main">
            <a:r>
              <a:t/>
            </a:r>
          </a:p>
          <a:p xmlns:a="http://schemas.openxmlformats.org/drawingml/2006/main">
            <a:r>
              <a:t>Expected answer: The dependent action stops; revise or request a new authorised decision.</a:t>
            </a:r>
          </a:p>
          <a:p xmlns:a="http://schemas.openxmlformats.org/drawingml/2006/main">
            <a:r>
              <a:t/>
            </a:r>
          </a:p>
          <a:p xmlns:a="http://schemas.openxmlformats.org/drawingml/2006/main">
            <a:r>
              <a:t>If partly correct: Likely confusion: Same amount means duplicate. I will clarify: Compare distinct IDs with the repeated INV-003 identity and supporting reference. Then return to this slide’s question: A human rejects an otherwise accurate draft. What happens next? A supported answer should establish: The dependent action stops; revise or request a new authorised decision.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Victoria’s September records.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All figures are fictional and amounts exclude any separately assessed tax. A discrepancy is a question to investigate, not proof of non-compliance. The invoice import deliberately repeats one row.</a:t>
            </a:r>
          </a:p>
          <a:p xmlns:a="http://schemas.openxmlformats.org/drawingml/2006/main">
            <a:r>
              <a:t/>
            </a:r>
          </a:p>
          <a:p xmlns:a="http://schemas.openxmlformats.org/drawingml/2006/main">
            <a:r>
              <a:t>Ask: Would you conclude that sales were understated?</a:t>
            </a:r>
          </a:p>
          <a:p xmlns:a="http://schemas.openxmlformats.org/drawingml/2006/main">
            <a:r>
              <a:t/>
            </a:r>
          </a:p>
          <a:p xmlns:a="http://schemas.openxmlformats.org/drawingml/2006/main">
            <a:r>
              <a:t>Expected answer: No. Inspect duplicate records, credit notes, timing and accounting definitions.</a:t>
            </a:r>
          </a:p>
          <a:p xmlns:a="http://schemas.openxmlformats.org/drawingml/2006/main">
            <a:r>
              <a:t/>
            </a:r>
          </a:p>
          <a:p xmlns:a="http://schemas.openxmlformats.org/drawingml/2006/main">
            <a:r>
              <a:t>If partly correct: Likely confusion: Timeout means retry immediately. I will clarify: Inspect the uncertain local status; repeating may duplicate an action already recorded. Then return to this slide’s question: Would you conclude that sales were understated? A supported answer should establish: No. Inspect duplicate records, credit notes, timing and accounting definitions.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Record identity before arithmetic.</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Use the duplicate import CSV. Ask whether the repeated ID has the same source record, amount and version. A genuinely repeated transaction requires a different treatment from an import duplicate.</a:t>
            </a:r>
          </a:p>
          <a:p xmlns:a="http://schemas.openxmlformats.org/drawingml/2006/main">
            <a:r>
              <a:t/>
            </a:r>
          </a:p>
          <a:p xmlns:a="http://schemas.openxmlformats.org/drawingml/2006/main">
            <a:r>
              <a:t>Ask: What would justify removing this row?</a:t>
            </a:r>
          </a:p>
          <a:p xmlns:a="http://schemas.openxmlformats.org/drawingml/2006/main">
            <a:r>
              <a:t/>
            </a:r>
          </a:p>
          <a:p xmlns:a="http://schemas.openxmlformats.org/drawingml/2006/main">
            <a:r>
              <a:t>Expected answer: INV-003 has the same invoice number, amount and supporting reference in two import rows, while the ledger includes one sale. Match those records; an equal amount alone does not establish a duplicate.</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What would justify removing this row? A supported answer should establish: INV-003 has the same invoice number, amount and supporting reference in two import rows, while the ledger includes one sale. Match those records; an equal amount alone does not establish a duplicate.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reconciliation calculation.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Use a spreadsheet or code tool for exact arithmetic. Raw 125 less duplicate 25 equals unique 100. Unique 100 less credit note 2 equals net sales 98. These are accounting-reconciliation teaching facts, not a tax computation.</a:t>
            </a:r>
          </a:p>
          <a:p xmlns:a="http://schemas.openxmlformats.org/drawingml/2006/main">
            <a:r>
              <a:t/>
            </a:r>
          </a:p>
          <a:p xmlns:a="http://schemas.openxmlformats.org/drawingml/2006/main">
            <a:r>
              <a:t>Ask: What explains the UGX 27 million raw-to-ledger difference?</a:t>
            </a:r>
          </a:p>
          <a:p xmlns:a="http://schemas.openxmlformats.org/drawingml/2006/main">
            <a:r>
              <a:t/>
            </a:r>
          </a:p>
          <a:p xmlns:a="http://schemas.openxmlformats.org/drawingml/2006/main">
            <a:r>
              <a:t>Expected answer: A UGX 25 million duplicate and UGX 2 million credit note.</a:t>
            </a:r>
          </a:p>
          <a:p xmlns:a="http://schemas.openxmlformats.org/drawingml/2006/main">
            <a:r>
              <a:t/>
            </a:r>
          </a:p>
          <a:p xmlns:a="http://schemas.openxmlformats.org/drawingml/2006/main">
            <a:r>
              <a:t>If partly correct: Likely confusion: Same amount means duplicate. I will clarify: Compare distinct IDs with the repeated INV-003 identity and supporting reference. Then return to this slide’s question: What explains the UGX 27 million raw-to-ledger difference? A supported answer should establish: A UGX 25 million duplicate and UGX 2 million credit note.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chart of the same reconciliation.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Show the four values 125, 100, 98 and 80 in UGX million. The chart supports comparison but the source table explains why they differ. Do not label every difference a tax gap.</a:t>
            </a:r>
          </a:p>
          <a:p xmlns:a="http://schemas.openxmlformats.org/drawingml/2006/main">
            <a:r>
              <a:t/>
            </a:r>
          </a:p>
          <a:p xmlns:a="http://schemas.openxmlformats.org/drawingml/2006/main">
            <a:r>
              <a:t>Ask: What makes a chart misleading here?</a:t>
            </a:r>
          </a:p>
          <a:p xmlns:a="http://schemas.openxmlformats.org/drawingml/2006/main">
            <a:r>
              <a:t/>
            </a:r>
          </a:p>
          <a:p xmlns:a="http://schemas.openxmlformats.org/drawingml/2006/main">
            <a:r>
              <a:t>Expected answer: Treating receipts, gross invoices and net sales as the same measure.</a:t>
            </a:r>
          </a:p>
          <a:p xmlns:a="http://schemas.openxmlformats.org/drawingml/2006/main">
            <a:r>
              <a:t/>
            </a:r>
          </a:p>
          <a:p xmlns:a="http://schemas.openxmlformats.org/drawingml/2006/main">
            <a:r>
              <a:t>If partly correct: Likely confusion: Timeout means retry immediately. I will clarify: Inspect the uncertain local status; repeating may duplicate an action already recorded. Then return to this slide’s question: What makes a chart misleading here? A supported answer should establish: Treating receipts, gross invoices and net sales as the same measure.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An observed error and a clearer input.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Open Observed Reconciliation.txt and Observed Labelled Reconciliation.txt. These are actual rehearsal outputs from 26 October 2026. The first input concatenated CSV text without file labels; this confounds interpretation. The second labelled the files and clarified their roles. We cannot attribute the difference to one isolated factor, but both outputs need checking. Keep the failed result rather than presenting only the successful run.</a:t>
            </a:r>
          </a:p>
          <a:p xmlns:a="http://schemas.openxmlformats.org/drawingml/2006/main">
            <a:r>
              <a:t/>
            </a:r>
          </a:p>
          <a:p xmlns:a="http://schemas.openxmlformats.org/drawingml/2006/main">
            <a:r>
              <a:t>Ask: Which supplied file establishes a tax declaration of UGX 80m?</a:t>
            </a:r>
          </a:p>
          <a:p xmlns:a="http://schemas.openxmlformats.org/drawingml/2006/main">
            <a:r>
              <a:t/>
            </a:r>
          </a:p>
          <a:p xmlns:a="http://schemas.openxmlformats.org/drawingml/2006/main">
            <a:r>
              <a:t>Expected answer: None. The amount belongs to receipts. Calling it a declared tax basis is unsupported.</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Which supplied file establishes a tax declaration of UGX 80m? A supported answer should establish: None. The amount belongs to receipts. Calling it a declared tax basis is unsupported.</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missing supporting identifier.</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The class uses a fictional evidence field rather than inventing a valid URA FDN or TIN. Explain that formal tax treatment requires the actual applicable rules and verified records.</a:t>
            </a:r>
          </a:p>
          <a:p xmlns:a="http://schemas.openxmlformats.org/drawingml/2006/main">
            <a:r>
              <a:t/>
            </a:r>
          </a:p>
          <a:p xmlns:a="http://schemas.openxmlformats.org/drawingml/2006/main">
            <a:r>
              <a:t>Ask: Should the model replace a missing identifier with a plausible value?</a:t>
            </a:r>
          </a:p>
          <a:p xmlns:a="http://schemas.openxmlformats.org/drawingml/2006/main">
            <a:r>
              <a:t/>
            </a:r>
          </a:p>
          <a:p xmlns:a="http://schemas.openxmlformats.org/drawingml/2006/main">
            <a:r>
              <a:t>Expected answer: No. Preserve the gap and request evidence.</a:t>
            </a:r>
          </a:p>
          <a:p xmlns:a="http://schemas.openxmlformats.org/drawingml/2006/main">
            <a:r>
              <a:t/>
            </a:r>
          </a:p>
          <a:p xmlns:a="http://schemas.openxmlformats.org/drawingml/2006/main">
            <a:r>
              <a:t>If partly correct: Likely confusion: Same amount means duplicate. I will clarify: Compare distinct IDs with the repeated INV-003 identity and supporting reference. Then return to this slide’s question: Should the model replace a missing identifier with a plausible value? A supported answer should establish: No. Preserve the gap and request evidence.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useful exception report.</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https://ura.go.ug/en/efris/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Show each issue with amount, source, explanation, status and requested evidence. Separate corrected data errors from open tax questions.</a:t>
            </a:r>
          </a:p>
          <a:p xmlns:a="http://schemas.openxmlformats.org/drawingml/2006/main">
            <a:r>
              <a:t/>
            </a:r>
          </a:p>
          <a:p xmlns:a="http://schemas.openxmlformats.org/drawingml/2006/main">
            <a:r>
              <a:t>Ask: Which issue has been resolved by arithmetic?</a:t>
            </a:r>
          </a:p>
          <a:p xmlns:a="http://schemas.openxmlformats.org/drawingml/2006/main">
            <a:r>
              <a:t/>
            </a:r>
          </a:p>
          <a:p xmlns:a="http://schemas.openxmlformats.org/drawingml/2006/main">
            <a:r>
              <a:t>Expected answer: The raw invoice-to-ledger difference in the prepared dataset.</a:t>
            </a:r>
          </a:p>
          <a:p xmlns:a="http://schemas.openxmlformats.org/drawingml/2006/main">
            <a:r>
              <a:t/>
            </a:r>
          </a:p>
          <a:p xmlns:a="http://schemas.openxmlformats.org/drawingml/2006/main">
            <a:r>
              <a:t>If partly correct: Likely confusion: Timeout means retry immediately. I will clarify: Inspect the uncertain local status; repeating may duplicate an action already recorded. Then return to this slide’s question: Which issue has been resolved by arithmetic? A supported answer should establish: The raw invoice-to-ledger difference in the prepared dataset.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Risk flag and tax conclusion.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The label tax health check should describe its scope. Avoid a clean bill of health from an incomplete dataset.</a:t>
            </a:r>
          </a:p>
          <a:p xmlns:a="http://schemas.openxmlformats.org/drawingml/2006/main">
            <a:r>
              <a:t/>
            </a:r>
          </a:p>
          <a:p xmlns:a="http://schemas.openxmlformats.org/drawingml/2006/main">
            <a:r>
              <a:t>Ask: Who decides the tax treatment?</a:t>
            </a:r>
          </a:p>
          <a:p xmlns:a="http://schemas.openxmlformats.org/drawingml/2006/main">
            <a:r>
              <a:t/>
            </a:r>
          </a:p>
          <a:p xmlns:a="http://schemas.openxmlformats.org/drawingml/2006/main">
            <a:r>
              <a:t>Expected answer: The qualified person authorised for the relevant work.</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Who decides the tax treatment? A supported answer should establish: The qualified person authorised for the relevant work.</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supported tax question.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Read the official URA EFRIS document-validation guidance. The examples use teaching references, not actual FDNs. Do not test a fabricated identifier against a live portal. We are applying a source-supported evidence rule, not calculating liability.</a:t>
            </a:r>
          </a:p>
          <a:p xmlns:a="http://schemas.openxmlformats.org/drawingml/2006/main">
            <a:r>
              <a:t/>
            </a:r>
          </a:p>
          <a:p xmlns:a="http://schemas.openxmlformats.org/drawingml/2006/main">
            <a:r>
              <a:t>Ask: The reference is blank. What can the report properly conclude?</a:t>
            </a:r>
          </a:p>
          <a:p xmlns:a="http://schemas.openxmlformats.org/drawingml/2006/main">
            <a:r>
              <a:t/>
            </a:r>
          </a:p>
          <a:p xmlns:a="http://schemas.openxmlformats.org/drawingml/2006/main">
            <a:r>
              <a:t>Expected answer: Supporting evidence is incomplete; request and check it. The record alone establishes neither fraud nor a tax-credit entitlement.</a:t>
            </a:r>
          </a:p>
          <a:p xmlns:a="http://schemas.openxmlformats.org/drawingml/2006/main">
            <a:r>
              <a:t/>
            </a:r>
          </a:p>
          <a:p xmlns:a="http://schemas.openxmlformats.org/drawingml/2006/main">
            <a:r>
              <a:t>If partly correct: Likely confusion: Same amount means duplicate. I will clarify: Compare distinct IDs with the repeated INV-003 identity and supporting reference. Then return to this slide’s question: The reference is blank. What can the report properly conclude? A supported answer should establish: Supporting evidence is incomplete; request and check it. The record alone establishes neither fraud nor a tax-credit entitlement.</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Different operations.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https://ura.go.ug/en/efris/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URA describes EFRIS integration for invoicing. That does not establish a general API for filing every tax return. Keep submission and payment separate.</a:t>
            </a:r>
          </a:p>
          <a:p xmlns:a="http://schemas.openxmlformats.org/drawingml/2006/main">
            <a:r>
              <a:t/>
            </a:r>
          </a:p>
          <a:p xmlns:a="http://schemas.openxmlformats.org/drawingml/2006/main">
            <a:r>
              <a:t>Ask: Does an EFRIS integration prove return-filing capability?</a:t>
            </a:r>
          </a:p>
          <a:p xmlns:a="http://schemas.openxmlformats.org/drawingml/2006/main">
            <a:r>
              <a:t/>
            </a:r>
          </a:p>
          <a:p xmlns:a="http://schemas.openxmlformats.org/drawingml/2006/main">
            <a:r>
              <a:t>Expected answer: No. Verify the relevant return process independently.</a:t>
            </a:r>
          </a:p>
          <a:p xmlns:a="http://schemas.openxmlformats.org/drawingml/2006/main">
            <a:r>
              <a:t/>
            </a:r>
          </a:p>
          <a:p xmlns:a="http://schemas.openxmlformats.org/drawingml/2006/main">
            <a:r>
              <a:t>If partly correct: Likely confusion: Timeout means retry immediately. I will clarify: Inspect the uncertain local status; repeating may duplicate an action already recorded. Then return to this slide’s question: Does an EFRIS integration prove return-filing capability? A supported answer should establish: No. Verify the relevant return process independently.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bounded filing-assistance process.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https://ura.go.ug/en/efris/ https://ura.go.ug/en/domestic-taxes/returns/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The classroom route ends with a reviewed preparation pack or a mock submission. A production route would need a supported interface and explicit formal authority.</a:t>
            </a:r>
          </a:p>
          <a:p xmlns:a="http://schemas.openxmlformats.org/drawingml/2006/main">
            <a:r>
              <a:t/>
            </a:r>
          </a:p>
          <a:p xmlns:a="http://schemas.openxmlformats.org/drawingml/2006/main">
            <a:r>
              <a:t>Ask: Where should missing mandatory evidence stop the work?</a:t>
            </a:r>
          </a:p>
          <a:p xmlns:a="http://schemas.openxmlformats.org/drawingml/2006/main">
            <a:r>
              <a:t/>
            </a:r>
          </a:p>
          <a:p xmlns:a="http://schemas.openxmlformats.org/drawingml/2006/main">
            <a:r>
              <a:t>Expected answer: Before the workflow can proceed to formal declaration or submission.</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Where should missing mandatory evidence stop the work? A supported answer should establish: Before the workflow can proceed to formal declaration or submission.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Acknowledgement and submission status.</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The prepared mock acknowledgement is labelled fictional. In a production system, a network failure can leave action status uncertain.</a:t>
            </a:r>
          </a:p>
          <a:p xmlns:a="http://schemas.openxmlformats.org/drawingml/2006/main">
            <a:r>
              <a:t/>
            </a:r>
          </a:p>
          <a:p xmlns:a="http://schemas.openxmlformats.org/drawingml/2006/main">
            <a:r>
              <a:t>Ask: Would you retry immediately after a timeout?</a:t>
            </a:r>
          </a:p>
          <a:p xmlns:a="http://schemas.openxmlformats.org/drawingml/2006/main">
            <a:r>
              <a:t/>
            </a:r>
          </a:p>
          <a:p xmlns:a="http://schemas.openxmlformats.org/drawingml/2006/main">
            <a:r>
              <a:t>Expected answer: Not blindly. Check status to avoid duplicate or inconsistent actions.</a:t>
            </a:r>
          </a:p>
          <a:p xmlns:a="http://schemas.openxmlformats.org/drawingml/2006/main">
            <a:r>
              <a:t/>
            </a:r>
          </a:p>
          <a:p xmlns:a="http://schemas.openxmlformats.org/drawingml/2006/main">
            <a:r>
              <a:t>If partly correct: Likely confusion: Same amount means duplicate. I will clarify: Compare distinct IDs with the repeated INV-003 identity and supporting reference. Then return to this slide’s question: Would you retry immediately after a timeout? A supported answer should establish: Not blindly. Check status to avoid duplicate or inconsistent actions.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Failure handling.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Ask the learner to choose the consequence of each failure. A successful happy path does not establish a usable filing service.</a:t>
            </a:r>
          </a:p>
          <a:p xmlns:a="http://schemas.openxmlformats.org/drawingml/2006/main">
            <a:r>
              <a:t/>
            </a:r>
          </a:p>
          <a:p xmlns:a="http://schemas.openxmlformats.org/drawingml/2006/main">
            <a:r>
              <a:t>Ask: Which failure can create a duplicate action?</a:t>
            </a:r>
          </a:p>
          <a:p xmlns:a="http://schemas.openxmlformats.org/drawingml/2006/main">
            <a:r>
              <a:t/>
            </a:r>
          </a:p>
          <a:p xmlns:a="http://schemas.openxmlformats.org/drawingml/2006/main">
            <a:r>
              <a:t>Expected answer: An uncertain response followed by an unchecked retry.</a:t>
            </a:r>
          </a:p>
          <a:p xmlns:a="http://schemas.openxmlformats.org/drawingml/2006/main">
            <a:r>
              <a:t/>
            </a:r>
          </a:p>
          <a:p xmlns:a="http://schemas.openxmlformats.org/drawingml/2006/main">
            <a:r>
              <a:t>If partly correct: Likely confusion: Timeout means retry immediately. I will clarify: Inspect the uncertain local status; repeating may duplicate an action already recorded. Then return to this slide’s question: Which failure can create a duplicate action? A supported answer should establish: An uncertain response followed by an unchecked retry.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A record of execution.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Logs must avoid unnecessarily reproducing confidential material. Access and retention apply to logs as well as source files.</a:t>
            </a:r>
          </a:p>
          <a:p xmlns:a="http://schemas.openxmlformats.org/drawingml/2006/main">
            <a:r>
              <a:t/>
            </a:r>
          </a:p>
          <a:p xmlns:a="http://schemas.openxmlformats.org/drawingml/2006/main">
            <a:r>
              <a:t>Ask: What does the audit record let the firm reconstruct?</a:t>
            </a:r>
          </a:p>
          <a:p xmlns:a="http://schemas.openxmlformats.org/drawingml/2006/main">
            <a:r>
              <a:t/>
            </a:r>
          </a:p>
          <a:p xmlns:a="http://schemas.openxmlformats.org/drawingml/2006/main">
            <a:r>
              <a:t>Expected answer: Who approved which version and what the system actually did.</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What does the audit record let the firm reconstruct? A supported answer should establish: Who approved which version and what the system actually did.</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Our in-class work.</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https://nvlpubs.nist.gov/nistpubs/ai/NIST.AI.600-1.pdf</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Use the run-sheet. I demonstrate the first example; the learner predicts, chooses evidence and checks the changed example. Save actual outputs or mark the step unexecuted.</a:t>
            </a:r>
          </a:p>
          <a:p xmlns:a="http://schemas.openxmlformats.org/drawingml/2006/main">
            <a:r>
              <a:t/>
            </a:r>
          </a:p>
          <a:p xmlns:a="http://schemas.openxmlformats.org/drawingml/2006/main">
            <a:r>
              <a:t>Ask: Before we begin: Reconcile the source files independently, then inspect an AI-produced mapping and exception report.</a:t>
            </a:r>
          </a:p>
          <a:p xmlns:a="http://schemas.openxmlformats.org/drawingml/2006/main">
            <a:r>
              <a:t/>
            </a:r>
          </a:p>
          <a:p xmlns:a="http://schemas.openxmlformats.org/drawingml/2006/main">
            <a:r>
              <a:t>Expected answer: Amounts in UGX million: 125 less duplicate 25 gives 100, then credit 2 gives 98. Receipts of 80 leave 18 under the stated assumptions. That difference alone does not establish unpaid tax. Evidence checks, declaration and payment are separate operations.</a:t>
            </a:r>
          </a:p>
          <a:p xmlns:a="http://schemas.openxmlformats.org/drawingml/2006/main">
            <a:r>
              <a:t/>
            </a:r>
          </a:p>
          <a:p xmlns:a="http://schemas.openxmlformats.org/drawingml/2006/main">
            <a:r>
              <a:t>If partly correct: Likely confusion: Same amount means duplicate. I will clarify: Compare distinct IDs with the repeated INV-003 identity and supporting reference. Then return to this slide’s question: Before we begin: Reconcile the source files independently, then inspect an AI-produced mapping and exception report. A supported answer should establish: Amounts in UGX million: 125 less duplicate 25 gives 100, then credit 2 gives 98. Receipts of 80 leave 18 under the stated assumptions. That difference alone does not establish unpaid tax. Evidence checks, declaration and payment are separate operations.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What we can conclude.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Have the learner explain the conclusion before I summarise it. Compare the actual result with the model answer and preserve unresolved questions.</a:t>
            </a:r>
          </a:p>
          <a:p xmlns:a="http://schemas.openxmlformats.org/drawingml/2006/main">
            <a:r>
              <a:t/>
            </a:r>
          </a:p>
          <a:p xmlns:a="http://schemas.openxmlformats.org/drawingml/2006/main">
            <a:r>
              <a:t>Ask: Which part of today’s result remains unverified?</a:t>
            </a:r>
          </a:p>
          <a:p xmlns:a="http://schemas.openxmlformats.org/drawingml/2006/main">
            <a:r>
              <a:t/>
            </a:r>
          </a:p>
          <a:p xmlns:a="http://schemas.openxmlformats.org/drawingml/2006/main">
            <a:r>
              <a:t>Expected answer: The local mock has no URA connection, computes no tax and grants no filing authority.</a:t>
            </a:r>
          </a:p>
          <a:p xmlns:a="http://schemas.openxmlformats.org/drawingml/2006/main">
            <a:r>
              <a:t/>
            </a:r>
          </a:p>
          <a:p xmlns:a="http://schemas.openxmlformats.org/drawingml/2006/main">
            <a:r>
              <a:t>If partly correct: Likely confusion: Timeout means retry immediately. I will clarify: Inspect the uncertain local status; repeating may duplicate an action already recorded. Then return to this slide’s question: Which part of today’s result remains unverified? A supported answer should establish: The local mock has no URA connection, computes no tax and grants no filing authority.</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The firm decision.</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Record a proposed owner and one condition before proceeding. This is a class decision record, not firm authorisation.</a:t>
            </a:r>
          </a:p>
          <a:p xmlns:a="http://schemas.openxmlformats.org/drawingml/2006/main">
            <a:r>
              <a:t/>
            </a:r>
          </a:p>
          <a:p xmlns:a="http://schemas.openxmlformats.org/drawingml/2006/main">
            <a:r>
              <a:t>Ask: What evidence would change this proposed decision?</a:t>
            </a:r>
          </a:p>
          <a:p xmlns:a="http://schemas.openxmlformats.org/drawingml/2006/main">
            <a:r>
              <a:t/>
            </a:r>
          </a:p>
          <a:p xmlns:a="http://schemas.openxmlformats.org/drawingml/2006/main">
            <a:r>
              <a:t>Expected answer: Begin with supervised evidence preparation, using return-specific requirements and qualified review. Revisit if the evidence, quality or permitted scope changes.</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What evidence would change this proposed decision? A supported answer should establish: Begin with supervised evidence preparation, using return-specific requirements and qualified review. Revisit if the evidence, quality or permitted scope changes.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Check understanding.</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Ask these changed-fact questions before opening the answer key. Recalculate under the changed timing. Reject the unsupported fraud claim and request evidence. Inspect actual status and identifiers before retrying.</a:t>
            </a:r>
          </a:p>
          <a:p xmlns:a="http://schemas.openxmlformats.org/drawingml/2006/main">
            <a:r>
              <a:t/>
            </a:r>
          </a:p>
          <a:p xmlns:a="http://schemas.openxmlformats.org/drawingml/2006/main">
            <a:r>
              <a:t>Ask: A changed period</a:t>
            </a:r>
          </a:p>
          <a:p xmlns:a="http://schemas.openxmlformats.org/drawingml/2006/main">
            <a:r>
              <a:t/>
            </a:r>
          </a:p>
          <a:p xmlns:a="http://schemas.openxmlformats.org/drawingml/2006/main">
            <a:r>
              <a:t>Expected answer: Recalculate under the changed timing. Reject the unsupported fraud claim and request evidence. Inspect actual status and identifiers before retrying.</a:t>
            </a:r>
          </a:p>
          <a:p xmlns:a="http://schemas.openxmlformats.org/drawingml/2006/main">
            <a:r>
              <a:t/>
            </a:r>
          </a:p>
          <a:p xmlns:a="http://schemas.openxmlformats.org/drawingml/2006/main">
            <a:r>
              <a:t>If partly correct: Likely confusion: Same amount means duplicate. I will clarify: Compare distinct IDs with the repeated INV-003 identity and supporting reference. Then return to this slide’s question: A changed period A supported answer should establish: Recalculate under the changed timing. Reject the unsupported fraud claim and request evidence. Inspect actual status and identifiers before retrying.</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Session 11: Organisational risk and governance.</a:t>
            </a:r>
          </a:p>
          <a:p xmlns:a="http://schemas.openxmlformats.org/drawingml/2006/main">
            <a:r>
              <a:t/>
            </a:r>
          </a:p>
          <a:p xmlns:a="http://schemas.openxmlformats.org/drawingml/2006/main">
            <a:r>
              <a:t>Teaching status: Essential sequence; use the session run-sheet.</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Recall ML approaches from Session 2. A flagged anomaly is a lead for investigation and needs a baseline appropriate to the business. Three invoices cannot train or validate a useful tax-risk model.</a:t>
            </a:r>
          </a:p>
          <a:p xmlns:a="http://schemas.openxmlformats.org/drawingml/2006/main">
            <a:r>
              <a:t/>
            </a:r>
          </a:p>
          <a:p xmlns:a="http://schemas.openxmlformats.org/drawingml/2006/main">
            <a:r>
              <a:t>Ask: Is an unusual transaction necessarily wrong?</a:t>
            </a:r>
          </a:p>
          <a:p xmlns:a="http://schemas.openxmlformats.org/drawingml/2006/main">
            <a:r>
              <a:t/>
            </a:r>
          </a:p>
          <a:p xmlns:a="http://schemas.openxmlformats.org/drawingml/2006/main">
            <a:r>
              <a:t>Expected answer: No. Investigate the underlying evidence.</a:t>
            </a:r>
          </a:p>
          <a:p xmlns:a="http://schemas.openxmlformats.org/drawingml/2006/main">
            <a:r>
              <a:t/>
            </a:r>
          </a:p>
          <a:p xmlns:a="http://schemas.openxmlformats.org/drawingml/2006/main">
            <a:r>
              <a:t>If partly correct: Likely confusion: Timeout means retry immediately. I will clarify: Inspect the uncertain local status; repeating may duplicate an action already recorded. Then return to this slide’s question: Is an unusual transaction necessarily wrong? A supported answer should establish: No. Investigate the underlying evidence.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https://developers.google.com/machine-learning/intro-to-ml/what-is-ml</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Connect to Session 7. The lesson deliberately avoids hard-coded rates or filing deadlines that might be wrong for the actual taxpayer.</a:t>
            </a:r>
          </a:p>
          <a:p xmlns:a="http://schemas.openxmlformats.org/drawingml/2006/main">
            <a:r>
              <a:t/>
            </a:r>
          </a:p>
          <a:p xmlns:a="http://schemas.openxmlformats.org/drawingml/2006/main">
            <a:r>
              <a:t>Ask: Could current guidance alone answer a historical-period issue?</a:t>
            </a:r>
          </a:p>
          <a:p xmlns:a="http://schemas.openxmlformats.org/drawingml/2006/main">
            <a:r>
              <a:t/>
            </a:r>
          </a:p>
          <a:p xmlns:a="http://schemas.openxmlformats.org/drawingml/2006/main">
            <a:r>
              <a:t>Expected answer: Not necessarily. Establish the applicable law and facts for that period.</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Could current guidance alone answer a historical-period issue? A supported answer should establish: Not necessarily. Establish the applicable law and facts for that period.</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https://ura.go.ug/en/domestic-taxes/returns/ https://ulii.org/</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Discuss time, client concern and staff workload. Evaluation should include incorrect alerts and missed important issues.</a:t>
            </a:r>
          </a:p>
          <a:p xmlns:a="http://schemas.openxmlformats.org/drawingml/2006/main">
            <a:r>
              <a:t/>
            </a:r>
          </a:p>
          <a:p xmlns:a="http://schemas.openxmlformats.org/drawingml/2006/main">
            <a:r>
              <a:t>Ask: What metric should accompany the number of flags?</a:t>
            </a:r>
          </a:p>
          <a:p xmlns:a="http://schemas.openxmlformats.org/drawingml/2006/main">
            <a:r>
              <a:t/>
            </a:r>
          </a:p>
          <a:p xmlns:a="http://schemas.openxmlformats.org/drawingml/2006/main">
            <a:r>
              <a:t>Expected answer: The proportion that are meaningful after review and the cost of investigating them.</a:t>
            </a:r>
          </a:p>
          <a:p xmlns:a="http://schemas.openxmlformats.org/drawingml/2006/main">
            <a:r>
              <a:t/>
            </a:r>
          </a:p>
          <a:p xmlns:a="http://schemas.openxmlformats.org/drawingml/2006/main">
            <a:r>
              <a:t>If partly correct: Likely confusion: Same amount means duplicate. I will clarify: Compare distinct IDs with the repeated INV-003 identity and supporting reference. Then return to this slide’s question: What metric should accompany the number of flags? A supported answer should establish: The proportion that are meaningful after review and the cost of investigating them.</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Treat requirements as supplied by current official guidance and qualified review. Do not repurpose a generic sample JSON object as a valid statutory return.</a:t>
            </a:r>
          </a:p>
          <a:p xmlns:a="http://schemas.openxmlformats.org/drawingml/2006/main">
            <a:r>
              <a:t/>
            </a:r>
          </a:p>
          <a:p xmlns:a="http://schemas.openxmlformats.org/drawingml/2006/main">
            <a:r>
              <a:t>Ask: Who confirms the meaning of each field?</a:t>
            </a:r>
          </a:p>
          <a:p xmlns:a="http://schemas.openxmlformats.org/drawingml/2006/main">
            <a:r>
              <a:t/>
            </a:r>
          </a:p>
          <a:p xmlns:a="http://schemas.openxmlformats.org/drawingml/2006/main">
            <a:r>
              <a:t>Expected answer: The responsible tax practitioner using the current authoritative requirements.</a:t>
            </a:r>
          </a:p>
          <a:p xmlns:a="http://schemas.openxmlformats.org/drawingml/2006/main">
            <a:r>
              <a:t/>
            </a:r>
          </a:p>
          <a:p xmlns:a="http://schemas.openxmlformats.org/drawingml/2006/main">
            <a:r>
              <a:t>If partly correct: Likely confusion: Timeout means retry immediately. I will clarify: Inspect the uncertain local status; repeating may duplicate an action already recorded. Then return to this slide’s question: Who confirms the meaning of each field? A supported answer should establish: The responsible tax practitioner using the current authoritative requirements.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https://ura.go.ug/en/domestic-taxes/returns/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A field value can be numerically reconciled while its placement or tax treatment remains unresolved. Preserve both statuses.</a:t>
            </a:r>
          </a:p>
          <a:p xmlns:a="http://schemas.openxmlformats.org/drawingml/2006/main">
            <a:r>
              <a:t/>
            </a:r>
          </a:p>
          <a:p xmlns:a="http://schemas.openxmlformats.org/drawingml/2006/main">
            <a:r>
              <a:t>Ask: Can a reconciled sales number be copied anywhere?</a:t>
            </a:r>
          </a:p>
          <a:p xmlns:a="http://schemas.openxmlformats.org/drawingml/2006/main">
            <a:r>
              <a:t/>
            </a:r>
          </a:p>
          <a:p xmlns:a="http://schemas.openxmlformats.org/drawingml/2006/main">
            <a:r>
              <a:t>Expected answer: No. Field definitions and legal treatment determine its correct use.</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Can a reconciled sales number be copied anywhere? A supported answer should establish: No. Field definitions and legal treatment determine its correct use.</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Separate structural validation from substantive validation. A template accepting a file does not prove legal correctness.</a:t>
            </a:r>
          </a:p>
          <a:p xmlns:a="http://schemas.openxmlformats.org/drawingml/2006/main">
            <a:r>
              <a:t/>
            </a:r>
          </a:p>
          <a:p xmlns:a="http://schemas.openxmlformats.org/drawingml/2006/main">
            <a:r>
              <a:t>Ask: What does a successful format check establish?</a:t>
            </a:r>
          </a:p>
          <a:p xmlns:a="http://schemas.openxmlformats.org/drawingml/2006/main">
            <a:r>
              <a:t/>
            </a:r>
          </a:p>
          <a:p xmlns:a="http://schemas.openxmlformats.org/drawingml/2006/main">
            <a:r>
              <a:t>Expected answer: Only the checks that validator actually performs.</a:t>
            </a:r>
          </a:p>
          <a:p xmlns:a="http://schemas.openxmlformats.org/drawingml/2006/main">
            <a:r>
              <a:t/>
            </a:r>
          </a:p>
          <a:p xmlns:a="http://schemas.openxmlformats.org/drawingml/2006/main">
            <a:r>
              <a:t>If partly correct: Likely confusion: Same amount means duplicate. I will clarify: Compare distinct IDs with the repeated INV-003 identity and supporting reference. Then return to this slide’s question: What does a successful format check establish? A supported answer should establish: Only the checks that validator actually performs.</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Prefer supported, authorised integration where appropriate. Neither route grants business authority. Browser interactions can encounter unexpected screens, errors or session changes.</a:t>
            </a:r>
          </a:p>
          <a:p xmlns:a="http://schemas.openxmlformats.org/drawingml/2006/main">
            <a:r>
              <a:t/>
            </a:r>
          </a:p>
          <a:p xmlns:a="http://schemas.openxmlformats.org/drawingml/2006/main">
            <a:r>
              <a:t>Ask: What does the system do after an unexpected response?</a:t>
            </a:r>
          </a:p>
          <a:p xmlns:a="http://schemas.openxmlformats.org/drawingml/2006/main">
            <a:r>
              <a:t/>
            </a:r>
          </a:p>
          <a:p xmlns:a="http://schemas.openxmlformats.org/drawingml/2006/main">
            <a:r>
              <a:t>Expected answer: Stop or route to a person instead of guessing and continuing.</a:t>
            </a:r>
          </a:p>
          <a:p xmlns:a="http://schemas.openxmlformats.org/drawingml/2006/main">
            <a:r>
              <a:t/>
            </a:r>
          </a:p>
          <a:p xmlns:a="http://schemas.openxmlformats.org/drawingml/2006/main">
            <a:r>
              <a:t>If partly correct: Likely confusion: Timeout means retry immediately. I will clarify: Inspect the uncertain local status; repeating may duplicate an action already recorded. Then return to this slide’s question: What does the system do after an unexpected response? A supported answer should establish: Stop or route to a person instead of guessing and continuing.</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https://learn.microsoft.com/en-us/training/paths/desktop-flows-robotic-process-automation-power-automate/ https://ura.go.ug/en/efris/</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Static slide. Discuss the complete visual; no click build is attached.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How do we reconcile records, investigate evidence and prepare a controlled next step?</a:t>
            </a:r>
          </a:p>
          <a:p xmlns:a="http://schemas.openxmlformats.org/drawingml/2006/main">
            <a:r>
              <a:t/>
            </a:r>
          </a:p>
          <a:p xmlns:a="http://schemas.openxmlformats.org/drawingml/2006/main">
            <a:r>
              <a:t>I will explain: Human in the loop should be attached to the specific consequential action. Do not build the class exercise to submit a real return or make payment.</a:t>
            </a:r>
          </a:p>
          <a:p xmlns:a="http://schemas.openxmlformats.org/drawingml/2006/main">
            <a:r>
              <a:t/>
            </a:r>
          </a:p>
          <a:p xmlns:a="http://schemas.openxmlformats.org/drawingml/2006/main">
            <a:r>
              <a:t>Ask: What if the fields change after approval?</a:t>
            </a:r>
          </a:p>
          <a:p xmlns:a="http://schemas.openxmlformats.org/drawingml/2006/main">
            <a:r>
              <a:t/>
            </a:r>
          </a:p>
          <a:p xmlns:a="http://schemas.openxmlformats.org/drawingml/2006/main">
            <a:r>
              <a:t>Expected answer: Invalidate or repeat the relevant review before action.</a:t>
            </a:r>
          </a:p>
          <a:p xmlns:a="http://schemas.openxmlformats.org/drawingml/2006/main">
            <a:r>
              <a:t/>
            </a:r>
          </a:p>
          <a:p xmlns:a="http://schemas.openxmlformats.org/drawingml/2006/main">
            <a:r>
              <a:t>If partly correct: Likely confusion: The 18m difference is unpaid tax. I will clarify: Identify the receipts file and the assumptions behind a teaching receivable. Then return to this slide’s question: What if the fields change after approval? A supported answer should establish: Invalidate or repeat the relevant review before action.</a:t>
            </a:r>
          </a:p>
          <a:p xmlns:a="http://schemas.openxmlformats.org/drawingml/2006/main">
            <a:r>
              <a:t/>
            </a:r>
          </a:p>
          <a:p xmlns:a="http://schemas.openxmlformats.org/drawingml/2006/main">
            <a:r>
              <a:t>Check evidence: identify the supplied source, the actual observed output and any gap before agreeing a conclusion.</a:t>
            </a:r>
          </a:p>
          <a:p xmlns:a="http://schemas.openxmlformats.org/drawingml/2006/main">
            <a:r>
              <a:t/>
            </a:r>
          </a:p>
          <a:p xmlns:a="http://schemas.openxmlformats.org/drawingml/2006/main">
            <a:r>
              <a:t>Transition: Return to the essential session conclusion; explore this only if useful.</a:t>
            </a:r>
          </a:p>
          <a:p xmlns:a="http://schemas.openxmlformats.org/drawingml/2006/main">
            <a:r>
              <a:t/>
            </a:r>
          </a:p>
          <a:p xmlns:a="http://schemas.openxmlformats.org/drawingml/2006/main">
            <a:r>
              <a:t>Teaching status: Optional exploration; not included in the 120-minute plan.</a:t>
            </a:r>
          </a:p>
          <a:p xmlns:a="http://schemas.openxmlformats.org/drawingml/2006/main">
            <a:r>
              <a:t/>
            </a:r>
          </a:p>
          <a:p xmlns:a="http://schemas.openxmlformats.org/drawingml/2006/main">
            <a:r>
              <a:t>Sources: </a:t>
            </a:r>
          </a:p>
          <a:p xmlns:a="http://schemas.openxmlformats.org/drawingml/2006/main">
            <a:r>
              <a:t>Fictional client matter; public authorities are identified separately. All required work happens in class.</a:t>
            </a:r>
          </a:p>
          <a:p xmlns:a="http://schemas.openxmlformats.org/drawingml/2006/main">
            <a:r>
              <a:t/>
            </a:r>
          </a:p>
          <a:p xmlns:a="http://schemas.openxmlformats.org/drawingml/2006/main">
            <a:r>
              <a:t>Playback: 4 native click reveals. Advance each stage and ask about the relationship it adds.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0db672bbeb4e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186b4ce4e541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1b439ececa4b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53e7bc41da42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711cfddbf745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7c929b94e84a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676837-2424-4BB1-ACE7-41D460ECEF6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073046-C92C-4F7D-B0B9-60D789A9A2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AFA7C9-5F2C-433E-8157-21BB4328AA8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62F36-359E-467F-9067-AD39F61BB6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587B83-E2F2-40E0-B890-5C159FB6E0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F7E75A-6BD0-4003-B198-F20C9AD948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E559DF-B11B-4CEF-9633-9A2D876637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ED9624-BECA-4FC5-B9C9-34CDA703B44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C4988B-2C4D-4470-864A-050C3B5243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BCF422-CEFD-48A8-B69A-4CA9C028B2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d03ad1c8614665" /><Relationship Type="http://schemas.openxmlformats.org/officeDocument/2006/relationships/slideLayout" Target="/ppt/slideLayouts/slideLayout1.xml" Id="Rae5c9ec3b98d4b7f" /><Relationship Type="http://schemas.openxmlformats.org/officeDocument/2006/relationships/slideLayout" Target="/ppt/slideLayouts/slideLayout2.xml" Id="R16b31a46d3324c24" /><Relationship Type="http://schemas.openxmlformats.org/officeDocument/2006/relationships/slideLayout" Target="/ppt/slideLayouts/slideLayout3.xml" Id="Rf0c31fcfd4094bfc" /><Relationship Type="http://schemas.openxmlformats.org/officeDocument/2006/relationships/slideLayout" Target="/ppt/slideLayouts/slideLayout4.xml" Id="R2d4d4ee960e44fab" /><Relationship Type="http://schemas.openxmlformats.org/officeDocument/2006/relationships/slideLayout" Target="/ppt/slideLayouts/slideLayout5.xml" Id="R8124064ea1b3440f" /><Relationship Type="http://schemas.openxmlformats.org/officeDocument/2006/relationships/slideLayout" Target="/ppt/slideLayouts/slideLayout6.xml" Id="R00cba850647749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5c9ec3b98d4b7f"/>
    <p:sldLayoutId xmlns:r="http://schemas.openxmlformats.org/officeDocument/2006/relationships" id="2147483650" r:id="R16b31a46d3324c24"/>
    <p:sldLayoutId xmlns:r="http://schemas.openxmlformats.org/officeDocument/2006/relationships" id="2147483651" r:id="Rf0c31fcfd4094bfc"/>
    <p:sldLayoutId xmlns:r="http://schemas.openxmlformats.org/officeDocument/2006/relationships" id="2147483652" r:id="R2d4d4ee960e44fab"/>
    <p:sldLayoutId xmlns:r="http://schemas.openxmlformats.org/officeDocument/2006/relationships" id="2147483653" r:id="R8124064ea1b3440f"/>
    <p:sldLayoutId xmlns:r="http://schemas.openxmlformats.org/officeDocument/2006/relationships" id="2147483654" r:id="R00cba850647749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39d1bbb8b64aa7" /><Relationship Type="http://schemas.openxmlformats.org/officeDocument/2006/relationships/notesSlide" Target="/ppt/notesSlides/notesSlide1.xml" Id="R057c9f08a8334c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83a1f5cb384a9f" /><Relationship Type="http://schemas.openxmlformats.org/officeDocument/2006/relationships/notesSlide" Target="/ppt/notesSlides/notesSlide2.xml" Id="Rc953afa9618741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33cf9f1254e4e93" /><Relationship Type="http://schemas.openxmlformats.org/officeDocument/2006/relationships/notesSlide" Target="/ppt/notesSlides/notesSlide3.xml" Id="R48a3f9be86d346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8cb8d1c24d4bf9" /><Relationship Type="http://schemas.openxmlformats.org/officeDocument/2006/relationships/notesSlide" Target="/ppt/notesSlides/notesSlide4.xml" Id="Rb15275db3fb947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ec73e20088e4e3f" /><Relationship Type="http://schemas.openxmlformats.org/officeDocument/2006/relationships/notesSlide" Target="/ppt/notesSlides/notesSlide5.xml" Id="R923ce2db0c9c48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05e479d00a446b8" /><Relationship Type="http://schemas.openxmlformats.org/officeDocument/2006/relationships/chart" Target="/ppt/slides/charts/chart1.xml" Id="Rcd5c6dec3dc14a2a" /><Relationship Type="http://schemas.openxmlformats.org/officeDocument/2006/relationships/notesSlide" Target="/ppt/notesSlides/notesSlide6.xml" Id="R5290a783acf042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d5bc023ed342ff" /><Relationship Type="http://schemas.openxmlformats.org/officeDocument/2006/relationships/notesSlide" Target="/ppt/notesSlides/notesSlide7.xml" Id="R0b546f07f5514e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f1f59b29ddb47e0" /><Relationship Type="http://schemas.openxmlformats.org/officeDocument/2006/relationships/notesSlide" Target="/ppt/notesSlides/notesSlide8.xml" Id="R3cfbe9a1fb544a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0a65cc57ad4972" /><Relationship Type="http://schemas.openxmlformats.org/officeDocument/2006/relationships/notesSlide" Target="/ppt/notesSlides/notesSlide9.xml" Id="Rc50776e9538443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095e62531ca49e1" /><Relationship Type="http://schemas.openxmlformats.org/officeDocument/2006/relationships/notesSlide" Target="/ppt/notesSlides/notesSlide10.xml" Id="R6b67a360c24344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fc3618849c4f4b" /><Relationship Type="http://schemas.openxmlformats.org/officeDocument/2006/relationships/notesSlide" Target="/ppt/notesSlides/notesSlide11.xml" Id="R995de46812db42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c31512bd11c4001" /><Relationship Type="http://schemas.openxmlformats.org/officeDocument/2006/relationships/notesSlide" Target="/ppt/notesSlides/notesSlide12.xml" Id="R554856784b4f40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8bd0f8be85c4f99" /><Relationship Type="http://schemas.openxmlformats.org/officeDocument/2006/relationships/notesSlide" Target="/ppt/notesSlides/notesSlide13.xml" Id="R0772962007d94a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c0170dd123e4c87" /><Relationship Type="http://schemas.openxmlformats.org/officeDocument/2006/relationships/notesSlide" Target="/ppt/notesSlides/notesSlide14.xml" Id="Rbf5a14f850924a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aed882873f74fda" /><Relationship Type="http://schemas.openxmlformats.org/officeDocument/2006/relationships/notesSlide" Target="/ppt/notesSlides/notesSlide15.xml" Id="R16ecf60a0ebd47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cec3be3797948bd" /><Relationship Type="http://schemas.openxmlformats.org/officeDocument/2006/relationships/notesSlide" Target="/ppt/notesSlides/notesSlide16.xml" Id="Rdf7120aeca254c9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ceaf4ba80a847ce" /><Relationship Type="http://schemas.openxmlformats.org/officeDocument/2006/relationships/notesSlide" Target="/ppt/notesSlides/notesSlide17.xml" Id="Rac26ff2e58464f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309d0d4133a48e7" /><Relationship Type="http://schemas.openxmlformats.org/officeDocument/2006/relationships/notesSlide" Target="/ppt/notesSlides/notesSlide18.xml" Id="R2e4e1ca2569f4ef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68f44b31c9a4014" /><Relationship Type="http://schemas.openxmlformats.org/officeDocument/2006/relationships/notesSlide" Target="/ppt/notesSlides/notesSlide19.xml" Id="R24a41d36fefb44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4131a9b3d2e4ee3" /><Relationship Type="http://schemas.openxmlformats.org/officeDocument/2006/relationships/notesSlide" Target="/ppt/notesSlides/notesSlide20.xml" Id="R86dfc808a4a04b1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7b6a4d3567a4b0f" /><Relationship Type="http://schemas.openxmlformats.org/officeDocument/2006/relationships/notesSlide" Target="/ppt/notesSlides/notesSlide21.xml" Id="R8b45645a20ce4c6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0f1939962d84ce0" /><Relationship Type="http://schemas.openxmlformats.org/officeDocument/2006/relationships/notesSlide" Target="/ppt/notesSlides/notesSlide22.xml" Id="Rf4d91ac058f24f8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0f1488befb24ac3" /><Relationship Type="http://schemas.openxmlformats.org/officeDocument/2006/relationships/notesSlide" Target="/ppt/notesSlides/notesSlide23.xml" Id="Rd3487117f33f45c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3c56c8b0031496b" /><Relationship Type="http://schemas.openxmlformats.org/officeDocument/2006/relationships/notesSlide" Target="/ppt/notesSlides/notesSlide24.xml" Id="Re1a4013d4a0a44a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acbdd25772f4d48" /><Relationship Type="http://schemas.openxmlformats.org/officeDocument/2006/relationships/notesSlide" Target="/ppt/notesSlides/notesSlide25.xml" Id="R8d7f4a15e2c54bb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a8d9bc0be534caa" /><Relationship Type="http://schemas.openxmlformats.org/officeDocument/2006/relationships/notesSlide" Target="/ppt/notesSlides/notesSlide26.xml" Id="R1ab5ed74fc38468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6b1068463a7438c" /><Relationship Type="http://schemas.openxmlformats.org/officeDocument/2006/relationships/notesSlide" Target="/ppt/notesSlides/notesSlide27.xml" Id="R67ea2ee2a2c5452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c91a7b8f44a41d2" /><Relationship Type="http://schemas.openxmlformats.org/officeDocument/2006/relationships/notesSlide" Target="/ppt/notesSlides/notesSlide28.xml" Id="R4707a8d2bc06451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Invisible base</c:v>
          </c:tx>
          <c:spPr>
            <a:noFill xmlns:a="http://schemas.openxmlformats.org/drawingml/2006/main"/>
          </c:spPr>
          <c:invertIfNegative val="0"/>
          <c:cat>
            <c:strRef>
              <c:f>'Chart Data'!$A$2:$A$5</c:f>
              <c:strCache>
                <c:ptCount val="4"/>
                <c:pt idx="0">
                  <c:v>Raw import</c:v>
                </c:pt>
                <c:pt idx="1">
                  <c:v>Less duplicate</c:v>
                </c:pt>
                <c:pt idx="2">
                  <c:v>Less credit</c:v>
                </c:pt>
                <c:pt idx="3">
                  <c:v>Net sales</c:v>
                </c:pt>
              </c:strCache>
            </c:strRef>
          </c:cat>
          <c:val>
            <c:numRef>
              <c:f>'Chart Data'!$B$2:$B$5</c:f>
              <c:numCache>
                <c:formatCode>General</c:formatCode>
                <c:ptCount val="4"/>
                <c:pt idx="0">
                  <c:v>0</c:v>
                </c:pt>
                <c:pt idx="1">
                  <c:v>100</c:v>
                </c:pt>
                <c:pt idx="2">
                  <c:v>98</c:v>
                </c:pt>
                <c:pt idx="3">
                  <c:v>0</c:v>
                </c:pt>
              </c:numCache>
            </c:numRef>
          </c:val>
        </c:ser>
        <c:ser>
          <c:idx val="1"/>
          <c:order val="1"/>
          <c:tx>
            <c:v>Total</c:v>
          </c:tx>
          <c:spPr>
            <a:solidFill xmlns:a="http://schemas.openxmlformats.org/drawingml/2006/main">
              <a:srgbClr val="246E63"/>
            </a:solidFill>
          </c:spPr>
          <c:invertIfNegative val="0"/>
          <c:cat>
            <c:strRef>
              <c:f>'Chart Data'!$C$2:$C$5</c:f>
              <c:strCache>
                <c:ptCount val="4"/>
                <c:pt idx="0">
                  <c:v>Raw import</c:v>
                </c:pt>
                <c:pt idx="1">
                  <c:v>Less duplicate</c:v>
                </c:pt>
                <c:pt idx="2">
                  <c:v>Less credit</c:v>
                </c:pt>
                <c:pt idx="3">
                  <c:v>Net sales</c:v>
                </c:pt>
              </c:strCache>
            </c:strRef>
          </c:cat>
          <c:val>
            <c:numRef>
              <c:f>'Chart Data'!$D$2:$D$5</c:f>
              <c:numCache>
                <c:formatCode>General</c:formatCode>
                <c:ptCount val="4"/>
                <c:pt idx="0">
                  <c:v>125</c:v>
                </c:pt>
                <c:pt idx="1">
                  <c:v>0</c:v>
                </c:pt>
                <c:pt idx="2">
                  <c:v>0</c:v>
                </c:pt>
                <c:pt idx="3">
                  <c:v>98</c:v>
                </c:pt>
              </c:numCache>
            </c:numRef>
          </c:val>
        </c:ser>
        <c:ser>
          <c:idx val="2"/>
          <c:order val="2"/>
          <c:tx>
            <c:v>Deduction</c:v>
          </c:tx>
          <c:spPr>
            <a:solidFill xmlns:a="http://schemas.openxmlformats.org/drawingml/2006/main">
              <a:srgbClr val="C94E29"/>
            </a:solidFill>
          </c:spPr>
          <c:invertIfNegative val="0"/>
          <c:cat>
            <c:strRef>
              <c:f>'Chart Data'!$E$2:$E$5</c:f>
              <c:strCache>
                <c:ptCount val="4"/>
                <c:pt idx="0">
                  <c:v>Raw import</c:v>
                </c:pt>
                <c:pt idx="1">
                  <c:v>Less duplicate</c:v>
                </c:pt>
                <c:pt idx="2">
                  <c:v>Less credit</c:v>
                </c:pt>
                <c:pt idx="3">
                  <c:v>Net sales</c:v>
                </c:pt>
              </c:strCache>
            </c:strRef>
          </c:cat>
          <c:val>
            <c:numRef>
              <c:f>'Chart Data'!$F$2:$F$5</c:f>
              <c:numCache>
                <c:formatCode>General</c:formatCode>
                <c:ptCount val="4"/>
                <c:pt idx="0">
                  <c:v>0</c:v>
                </c:pt>
                <c:pt idx="1">
                  <c:v>25</c:v>
                </c:pt>
                <c:pt idx="2">
                  <c:v>2</c:v>
                </c:pt>
                <c:pt idx="3">
                  <c:v>0</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125"/>
        <c:overlap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C3144"/>
                </a:solidFill>
                <a:latin typeface="Calibri"/>
                <a:ea typeface="Calibri"/>
                <a:cs typeface="Calibri"/>
              </a:defRPr>
            </a:pPr>
          </a:p>
        </c:txPr>
        <c:crossAx val="48672768"/>
      </c:catAx>
      <c:valAx>
        <c:axId val="48672768"/>
        <c:scaling>
          <c:orientation val="minMax"/>
        </c:scaling>
        <c:delete val="0"/>
        <c:axPos val="l"/>
        <c:majorGridlines>
          <c:spPr>
            <a:ln xmlns:a="http://schemas.openxmlformats.org/drawingml/2006/main" w="9525">
              <a:solidFill>
                <a:srgbClr val="C9D5DA"/>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474"/>
                </a:solidFill>
                <a:latin typeface="Calibri"/>
                <a:ea typeface="Calibri"/>
                <a:cs typeface="Calibri"/>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Tax evidence workflows and controlled actions">
    <p:bg>
      <p:bgPr>
        <a:solidFill>
          <a:srgbClr val="1C3144"/>
        </a:solidFill>
      </p:bgPr>
    </p:bg>
    <p:spTree>
      <p:nvGrpSpPr>
        <p:cNvPr id="1" name=""/>
        <p:cNvGrpSpPr/>
        <p:nvPr/>
      </p:nvGrpSpPr>
      <p:grpSpPr>
        <a:xfrm/>
      </p:grpSpPr>
      <p:sp>
        <p:nvSpPr>
          <p:cNvPr id="5" name="text-350">
            <a:extLst>
              <a:ext uri="{FF2B5EF4-FFF2-40B4-BE49-F238E27FC236}">
                <ns2:creationId id="{8128B100-20D2-4AF3-B056-844BB03A4B67}"/>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10</a:t>
            </a:r>
          </a:p>
        </p:txBody>
      </p:sp>
      <p:sp>
        <p:nvSpPr>
          <p:cNvPr id="2" name="text-351">
            <a:extLst>
              <a:ext uri="{FF2B5EF4-FFF2-40B4-BE49-F238E27FC236}">
                <ns2:creationId id="{3EB4A051-9B94-4A6B-B094-8EE27E947333}"/>
              </a:ext>
            </a:extLst>
          </p:cNvPr>
          <p:cNvSpPr>
            <a:spLocks noGrp="1"/>
          </p:cNvSpPr>
          <p:nvPr>
            <p:ph type="title"/>
          </p:nvPr>
        </p:nvSpPr>
        <p:spPr>
          <a:xfrm>
            <a:off x="619125" y="1676400"/>
            <a:ext cx="10620375" cy="1905000"/>
          </a:xfrm>
          <a:prstGeom prst="rect">
            <a:avLst/>
          </a:prstGeom>
          <a:noFill/>
          <a:ln w="0">
            <a:noFill/>
          </a:ln>
        </p:spPr>
        <p:txBody>
          <a:bodyPr>
            <a:noAutofit/>
          </a:bodyPr>
          <a:lstStyle>
            <a:defPPr>
              <a:defRPr sz="4200" b="1">
                <a:solidFill>
                  <a:srgbClr val="FFFFFF"/>
                </a:solidFill>
                <a:latin typeface="Calibri"/>
                <a:ea typeface="Calibri"/>
                <a:cs typeface="Calibri"/>
              </a:defRPr>
            </a:defPPr>
            <a:lvl1pPr>
              <a:defRPr sz="4200" b="1">
                <a:solidFill>
                  <a:srgbClr val="FFFFFF"/>
                </a:solidFill>
                <a:latin typeface="Calibri"/>
                <a:ea typeface="Calibri"/>
                <a:cs typeface="Calibri"/>
              </a:defRPr>
            </a:lvl1pPr>
            <a:lvl2pPr>
              <a:defRPr sz="4200" b="1">
                <a:solidFill>
                  <a:srgbClr val="FFFFFF"/>
                </a:solidFill>
                <a:latin typeface="Calibri"/>
                <a:ea typeface="Calibri"/>
                <a:cs typeface="Calibri"/>
              </a:defRPr>
            </a:lvl2pPr>
            <a:lvl3pPr>
              <a:defRPr sz="4200" b="1">
                <a:solidFill>
                  <a:srgbClr val="FFFFFF"/>
                </a:solidFill>
                <a:latin typeface="Calibri"/>
                <a:ea typeface="Calibri"/>
                <a:cs typeface="Calibri"/>
              </a:defRPr>
            </a:lvl3pPr>
            <a:lvl4pPr>
              <a:defRPr sz="4200" b="1">
                <a:solidFill>
                  <a:srgbClr val="FFFFFF"/>
                </a:solidFill>
                <a:latin typeface="Calibri"/>
                <a:ea typeface="Calibri"/>
                <a:cs typeface="Calibri"/>
              </a:defRPr>
            </a:lvl4pPr>
            <a:lvl5pPr>
              <a:defRPr sz="4200" b="1">
                <a:solidFill>
                  <a:srgbClr val="FFFFFF"/>
                </a:solidFill>
                <a:latin typeface="Calibri"/>
                <a:ea typeface="Calibri"/>
                <a:cs typeface="Calibri"/>
              </a:defRPr>
            </a:lvl5pPr>
            <a:lvl6pPr>
              <a:defRPr sz="4200" b="1">
                <a:solidFill>
                  <a:srgbClr val="FFFFFF"/>
                </a:solidFill>
                <a:latin typeface="Calibri"/>
                <a:ea typeface="Calibri"/>
                <a:cs typeface="Calibri"/>
              </a:defRPr>
            </a:lvl6pPr>
            <a:lvl7pPr>
              <a:defRPr sz="4200" b="1">
                <a:solidFill>
                  <a:srgbClr val="FFFFFF"/>
                </a:solidFill>
                <a:latin typeface="Calibri"/>
                <a:ea typeface="Calibri"/>
                <a:cs typeface="Calibri"/>
              </a:defRPr>
            </a:lvl7pPr>
            <a:lvl8pPr>
              <a:defRPr sz="4200" b="1">
                <a:solidFill>
                  <a:srgbClr val="FFFFFF"/>
                </a:solidFill>
                <a:latin typeface="Calibri"/>
                <a:ea typeface="Calibri"/>
                <a:cs typeface="Calibri"/>
              </a:defRPr>
            </a:lvl8pPr>
            <a:lvl9pPr>
              <a:defRPr sz="4200" b="1">
                <a:solidFill>
                  <a:srgbClr val="FFFFFF"/>
                </a:solidFill>
                <a:latin typeface="Calibri"/>
                <a:ea typeface="Calibri"/>
                <a:cs typeface="Calibri"/>
              </a:defRPr>
            </a:lvl9pPr>
          </a:lstStyle>
          <a:p>
            <a:pPr>
              <a:defRPr sz="4200" b="1">
                <a:solidFill>
                  <a:srgbClr val="FFFFFF"/>
                </a:solidFill>
                <a:latin typeface="Calibri"/>
                <a:ea typeface="Calibri"/>
                <a:cs typeface="Calibri"/>
              </a:defRPr>
            </a:pPr>
            <a:r>
              <a:rPr sz="4200" b="1">
                <a:solidFill>
                  <a:srgbClr val="FFFFFF"/>
                </a:solidFill>
                <a:latin typeface="Calibri"/>
                <a:ea typeface="Calibri"/>
                <a:cs typeface="Calibri"/>
              </a:rPr>
              <a:t>Tax evidence workflows and controlled actions</a:t>
            </a:r>
          </a:p>
        </p:txBody>
      </p:sp>
      <p:sp>
        <p:nvSpPr>
          <p:cNvPr id="3" name="text-352">
            <a:extLst>
              <a:ext uri="{FF2B5EF4-FFF2-40B4-BE49-F238E27FC236}">
                <ns2:creationId id="{94E0599B-0D7A-458C-AAB6-DEB05536F57D}"/>
              </a:ext>
            </a:extLst>
          </p:cNvPr>
          <p:cNvSpPr>
            <a:spLocks noGrp="1"/>
          </p:cNvSpPr>
          <p:nvPr/>
        </p:nvSpPr>
        <p:spPr>
          <a:xfrm>
            <a:off x="619125" y="4095750"/>
            <a:ext cx="10382250"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How do we reconcile records, investigate evidence and prepare a controlled next step?</a:t>
            </a:r>
          </a:p>
        </p:txBody>
      </p:sp>
      <p:sp>
        <p:nvSpPr>
          <p:cNvPr id="4" name="text-353">
            <a:extLst>
              <a:ext uri="{FF2B5EF4-FFF2-40B4-BE49-F238E27FC236}">
                <ns2:creationId id="{8BF58D80-4B0F-44AE-8551-8A2C9076F0B8}"/>
              </a:ext>
            </a:extLst>
          </p:cNvPr>
          <p:cNvSpPr>
            <a:spLocks noGrp="1"/>
          </p:cNvSpPr>
          <p:nvPr/>
        </p:nvSpPr>
        <p:spPr>
          <a:xfrm>
            <a:off x="619125" y="6010275"/>
            <a:ext cx="10668000"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800" b="0">
                <a:solidFill>
                  <a:srgbClr val="DCE8E6"/>
                </a:solidFill>
                <a:latin typeface="Calibri"/>
                <a:ea typeface="Calibri"/>
                <a:cs typeface="Calibri"/>
              </a:rPr>
              <a:t>Jotham Martin Wambi   KLAi Professional Learning</a:t>
            </a:r>
          </a:p>
        </p:txBody>
      </p:sp>
    </p:spTree>
    <p:extLst>
      <p:ext uri="{BB962C8B-B14F-4D97-AF65-F5344CB8AC3E}">
        <ns3:creationId val="1561410111"/>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the action boundary">
    <p:bg>
      <p:bgPr>
        <a:solidFill>
          <a:srgbClr val="FFFFFF"/>
        </a:solidFill>
      </p:bgPr>
    </p:bg>
    <p:spTree>
      <p:nvGrpSpPr>
        <p:cNvPr id="1" name=""/>
        <p:cNvGrpSpPr/>
        <p:nvPr/>
      </p:nvGrpSpPr>
      <p:grpSpPr>
        <a:xfrm/>
      </p:grpSpPr>
      <p:sp>
        <p:nvSpPr>
          <p:cNvPr id="9" name="text-354">
            <a:extLst>
              <a:ext uri="{FF2B5EF4-FFF2-40B4-BE49-F238E27FC236}">
                <ns2:creationId id="{0583678D-C53F-46DC-B806-EDE4FAB83D4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55">
            <a:extLst>
              <a:ext uri="{FF2B5EF4-FFF2-40B4-BE49-F238E27FC236}">
                <ns2:creationId id="{C9D256AF-71A7-4B95-A077-0FBC2DFA474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the action boundary</a:t>
            </a:r>
          </a:p>
        </p:txBody>
      </p:sp>
      <p:sp>
        <p:nvSpPr>
          <p:cNvPr id="4" name="text-357">
            <a:extLst>
              <a:ext uri="{FF2B5EF4-FFF2-40B4-BE49-F238E27FC236}">
                <ns2:creationId id="{A99CAF08-EF4B-49B9-A7D0-A954DA516964}"/>
              </a:ext>
            </a:extLst>
          </p:cNvPr>
          <p:cNvSpPr>
            <a:spLocks noGrp="1"/>
          </p:cNvSpPr>
          <p:nvPr/>
        </p:nvSpPr>
        <p:spPr>
          <a:xfrm>
            <a:off x="619125" y="2000250"/>
            <a:ext cx="10858500"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9</a:t>
            </a:r>
          </a:p>
        </p:txBody>
      </p:sp>
      <p:sp>
        <p:nvSpPr>
          <p:cNvPr id="5" name="text-358">
            <a:extLst>
              <a:ext uri="{FF2B5EF4-FFF2-40B4-BE49-F238E27FC236}">
                <ns2:creationId id="{AFC706F9-C1F6-4F79-A263-171A54B868CE}"/>
              </a:ext>
            </a:extLst>
          </p:cNvPr>
          <p:cNvSpPr>
            <a:spLocks noGrp="1"/>
          </p:cNvSpPr>
          <p:nvPr/>
        </p:nvSpPr>
        <p:spPr>
          <a:xfrm>
            <a:off x="619125" y="2495550"/>
            <a:ext cx="10858500"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A human rejects an otherwise accurate draft. What happens next?</a:t>
            </a:r>
          </a:p>
        </p:txBody>
      </p:sp>
      <p:sp>
        <p:nvSpPr>
          <p:cNvPr id="6" name="text-359">
            <a:extLst>
              <a:ext uri="{FF2B5EF4-FFF2-40B4-BE49-F238E27FC236}">
                <ns2:creationId id="{F452332A-8BD4-4735-A804-75D3D9B0F889}"/>
              </a:ext>
            </a:extLst>
          </p:cNvPr>
          <p:cNvSpPr>
            <a:spLocks noGrp="1"/>
          </p:cNvSpPr>
          <p:nvPr/>
        </p:nvSpPr>
        <p:spPr>
          <a:xfrm>
            <a:off x="619125" y="3857625"/>
            <a:ext cx="10858500"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360">
            <a:extLst>
              <a:ext uri="{FF2B5EF4-FFF2-40B4-BE49-F238E27FC236}">
                <ns2:creationId id="{279E0A1B-ABDA-46CE-A6F3-D74CA562980A}"/>
              </a:ext>
            </a:extLst>
          </p:cNvPr>
          <p:cNvSpPr>
            <a:spLocks noGrp="1"/>
          </p:cNvSpPr>
          <p:nvPr/>
        </p:nvSpPr>
        <p:spPr>
          <a:xfrm>
            <a:off x="619125" y="4362450"/>
            <a:ext cx="10858500"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How do we reconcile records, investigate evidence and prepare a controlled next step?</a:t>
            </a:r>
          </a:p>
        </p:txBody>
      </p:sp>
      <p:sp>
        <p:nvSpPr>
          <p:cNvPr id="8" name="text-361">
            <a:extLst>
              <a:ext uri="{FF2B5EF4-FFF2-40B4-BE49-F238E27FC236}">
                <ns2:creationId id="{2CDC6160-1475-40A6-A0BD-C2223701F4BF}"/>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checked reconciliation and a held or approved local preparation record.</a:t>
            </a:r>
          </a:p>
        </p:txBody>
      </p:sp>
      <p:sp>
        <p:nvSpPr>
          <p:cNvPr id="3" name="text-356">
            <a:extLst>
              <a:ext uri="{FF2B5EF4-FFF2-40B4-BE49-F238E27FC236}">
                <ns2:creationId id="{D2BCC394-BE53-4110-A3DA-F2AD2B96C8C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a:t>
            </a:r>
          </a:p>
        </p:txBody>
      </p:sp>
    </p:spTree>
    <p:extLst>
      <p:ext uri="{BB962C8B-B14F-4D97-AF65-F5344CB8AC3E}">
        <ns3:creationId val="2055106310"/>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Victoria’s September records">
    <p:bg>
      <p:bgPr>
        <a:solidFill>
          <a:srgbClr val="FFFFFF"/>
        </a:solidFill>
      </p:bgPr>
    </p:bg>
    <p:spTree>
      <p:nvGrpSpPr>
        <p:cNvPr id="1" name=""/>
        <p:cNvGrpSpPr/>
        <p:nvPr/>
      </p:nvGrpSpPr>
      <p:grpSpPr>
        <a:xfrm/>
      </p:grpSpPr>
      <p:sp>
        <p:nvSpPr>
          <p:cNvPr id="10" name="text-362">
            <a:extLst>
              <a:ext uri="{FF2B5EF4-FFF2-40B4-BE49-F238E27FC236}">
                <ns2:creationId id="{9A031866-D12E-4156-AACC-0CFC7E3655F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63">
            <a:extLst>
              <a:ext uri="{FF2B5EF4-FFF2-40B4-BE49-F238E27FC236}">
                <ns2:creationId id="{519FCA22-1AB9-41A0-B02F-ECB67D5D1B7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Victoria’s September records</a:t>
            </a:r>
          </a:p>
        </p:txBody>
      </p:sp>
      <p:sp>
        <p:nvSpPr>
          <p:cNvPr id="4" name="text-365">
            <a:extLst>
              <a:ext uri="{FF2B5EF4-FFF2-40B4-BE49-F238E27FC236}">
                <ns2:creationId id="{B2BBD226-B8A4-49A3-93A5-793058BFD217}"/>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66">
            <a:extLst>
              <a:ext uri="{FF2B5EF4-FFF2-40B4-BE49-F238E27FC236}">
                <ns2:creationId id="{ABCB2670-3B7D-4940-AF9E-7731A498E85B}"/>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invoice import shows UGX 125 million.</a:t>
            </a:r>
          </a:p>
        </p:txBody>
      </p:sp>
      <p:sp>
        <p:nvSpPr>
          <p:cNvPr id="6" name="text-367">
            <a:extLst>
              <a:ext uri="{FF2B5EF4-FFF2-40B4-BE49-F238E27FC236}">
                <ns2:creationId id="{CBD314CB-9300-4BCD-A3E8-AA3DE4C2691C}"/>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68">
            <a:extLst>
              <a:ext uri="{FF2B5EF4-FFF2-40B4-BE49-F238E27FC236}">
                <ns2:creationId id="{721ADFA7-ED1C-4FAC-ADCB-ECC84D6ADCBB}"/>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ledger records UGX 98 million sales.</a:t>
            </a:r>
          </a:p>
        </p:txBody>
      </p:sp>
      <p:sp>
        <p:nvSpPr>
          <p:cNvPr id="8" name="text-369">
            <a:extLst>
              <a:ext uri="{FF2B5EF4-FFF2-40B4-BE49-F238E27FC236}">
                <ns2:creationId id="{A0850FCF-D676-401D-B95F-ACC23B7017C3}"/>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70">
            <a:extLst>
              <a:ext uri="{FF2B5EF4-FFF2-40B4-BE49-F238E27FC236}">
                <ns2:creationId id="{46EB37FF-3DB4-499C-BB9E-0FCDDE669AB3}"/>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bank shows UGX 80 million receipts.</a:t>
            </a:r>
          </a:p>
        </p:txBody>
      </p:sp>
      <p:sp>
        <p:nvSpPr>
          <p:cNvPr id="3" name="text-364">
            <a:extLst>
              <a:ext uri="{FF2B5EF4-FFF2-40B4-BE49-F238E27FC236}">
                <ns2:creationId id="{19D07143-8FBB-4688-BFA8-CA185BD98D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3</a:t>
            </a:r>
          </a:p>
        </p:txBody>
      </p:sp>
    </p:spTree>
    <p:extLst>
      <p:ext uri="{BB962C8B-B14F-4D97-AF65-F5344CB8AC3E}">
        <ns3:creationId val="2066851511"/>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Record identity before arithmetic">
    <p:bg>
      <p:bgPr>
        <a:solidFill>
          <a:srgbClr val="FFFFFF"/>
        </a:solidFill>
      </p:bgPr>
    </p:bg>
    <p:spTree>
      <p:nvGrpSpPr>
        <p:cNvPr id="1" name=""/>
        <p:cNvGrpSpPr/>
        <p:nvPr/>
      </p:nvGrpSpPr>
      <p:grpSpPr>
        <a:xfrm/>
      </p:grpSpPr>
      <p:sp>
        <p:nvSpPr>
          <p:cNvPr id="12" name="text-371">
            <a:extLst>
              <a:ext uri="{FF2B5EF4-FFF2-40B4-BE49-F238E27FC236}">
                <ns2:creationId id="{F3E9099E-911F-43B0-AC76-D2E61A1848F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72">
            <a:extLst>
              <a:ext uri="{FF2B5EF4-FFF2-40B4-BE49-F238E27FC236}">
                <ns2:creationId id="{D5541CCE-1C72-4AEA-97DB-09FEB72B572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Record identity before arithmetic</a:t>
            </a:r>
          </a:p>
        </p:txBody>
      </p:sp>
      <p:sp>
        <p:nvSpPr>
          <p:cNvPr id="4" name="text-374">
            <a:extLst>
              <a:ext uri="{FF2B5EF4-FFF2-40B4-BE49-F238E27FC236}">
                <ns2:creationId id="{7200A471-A6FC-430B-B286-A8AB1A9DE4D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75">
            <a:extLst>
              <a:ext uri="{FF2B5EF4-FFF2-40B4-BE49-F238E27FC236}">
                <ns2:creationId id="{1358CB2E-CADB-4791-9635-6D79A6B5BEFA}"/>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INV-001: UGX 40 million</a:t>
            </a:r>
          </a:p>
        </p:txBody>
      </p:sp>
      <p:sp>
        <p:nvSpPr>
          <p:cNvPr id="6" name="text-376">
            <a:extLst>
              <a:ext uri="{FF2B5EF4-FFF2-40B4-BE49-F238E27FC236}">
                <ns2:creationId id="{4496FA23-FFBB-4A21-8E8F-DEF610C59EC3}"/>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77">
            <a:extLst>
              <a:ext uri="{FF2B5EF4-FFF2-40B4-BE49-F238E27FC236}">
                <ns2:creationId id="{D400BA3A-E48E-4188-B7CD-F1DB20834F12}"/>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INV-002: UGX 35 million</a:t>
            </a:r>
          </a:p>
        </p:txBody>
      </p:sp>
      <p:sp>
        <p:nvSpPr>
          <p:cNvPr id="8" name="text-378">
            <a:extLst>
              <a:ext uri="{FF2B5EF4-FFF2-40B4-BE49-F238E27FC236}">
                <ns2:creationId id="{0557189F-8AC5-40C3-B8B5-58D4E8BEEB14}"/>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79">
            <a:extLst>
              <a:ext uri="{FF2B5EF4-FFF2-40B4-BE49-F238E27FC236}">
                <ns2:creationId id="{6F145A50-9C59-4CB8-BEBF-850AC7C76692}"/>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INV-003: UGX 25 million</a:t>
            </a:r>
          </a:p>
        </p:txBody>
      </p:sp>
      <p:sp>
        <p:nvSpPr>
          <p:cNvPr id="10" name="text-380">
            <a:extLst>
              <a:ext uri="{FF2B5EF4-FFF2-40B4-BE49-F238E27FC236}">
                <ns2:creationId id="{93A28426-9112-444F-8173-831C2AB2923B}"/>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81">
            <a:extLst>
              <a:ext uri="{FF2B5EF4-FFF2-40B4-BE49-F238E27FC236}">
                <ns2:creationId id="{ABB754CE-E14C-40DA-B8D1-A7E4784E6E2B}"/>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import repeats INV-003 once.</a:t>
            </a:r>
          </a:p>
        </p:txBody>
      </p:sp>
      <p:sp>
        <p:nvSpPr>
          <p:cNvPr id="3" name="text-373">
            <a:extLst>
              <a:ext uri="{FF2B5EF4-FFF2-40B4-BE49-F238E27FC236}">
                <ns2:creationId id="{D77B6CBB-79A5-4D81-9225-C51CBE4AC4F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4</a:t>
            </a:r>
          </a:p>
        </p:txBody>
      </p:sp>
    </p:spTree>
    <p:extLst>
      <p:ext uri="{BB962C8B-B14F-4D97-AF65-F5344CB8AC3E}">
        <ns3:creationId val="833505633"/>
      </p:ext>
    </p:extLst>
  </p:cSld>
  <p:transition spd="med" advClick="1">
    <p:fade/>
  </p:transition>
</p:sld>
</file>

<file path=ppt/slides/slide5.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reconciliation calculation">
    <p:bg>
      <p:bgPr>
        <a:solidFill>
          <a:srgbClr val="FFFFFF"/>
        </a:solidFill>
      </p:bgPr>
    </p:bg>
    <p:spTree>
      <p:nvGrpSpPr>
        <p:cNvPr id="1" name=""/>
        <p:cNvGrpSpPr/>
        <p:nvPr/>
      </p:nvGrpSpPr>
      <p:grpSpPr>
        <a:xfrm/>
      </p:grpSpPr>
      <p:cxnSp>
        <p:nvCxnSpPr>
          <p:cNvPr id="22" name="reveal-04-arrow" descr="The reconciliation calculation">
            <a:extLst>
              <a:ext uri="{FF2B5EF4-FFF2-40B4-BE49-F238E27FC236}">
                <ns2:creationId id="{EFBA1A45-FF36-4AEC-9726-16854B2B96B1}"/>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EB7EACBC-B9A7-49D0-A2E5-90BC9C9AF06C}"/>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4C6AE4FF-98CD-455B-9DD3-7745C098427A}"/>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4" name="text-382">
            <a:extLst>
              <a:ext uri="{FF2B5EF4-FFF2-40B4-BE49-F238E27FC236}">
                <ns2:creationId id="{88E4D19B-64D4-42CE-A4BD-F8D836E67A7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83">
            <a:extLst>
              <a:ext uri="{FF2B5EF4-FFF2-40B4-BE49-F238E27FC236}">
                <ns2:creationId id="{E99F55D5-7334-42A8-8A4C-785DD601246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reconciliation calculation</a:t>
            </a:r>
          </a:p>
        </p:txBody>
      </p:sp>
      <p:sp>
        <p:nvSpPr>
          <p:cNvPr id="4" name="reveal-01-stage">
            <a:extLst>
              <a:ext uri="{FF2B5EF4-FFF2-40B4-BE49-F238E27FC236}">
                <ns2:creationId id="{261EE8A0-BCBE-4F22-B0CF-0DE1E76FDA5E}"/>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FC94C52D-E6ED-4D77-9F52-60E47BF50FAE}"/>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18EFAD0C-38F3-485A-9958-E896FB5D73DB}"/>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Raw import</a:t>
            </a:r>
          </a:p>
        </p:txBody>
      </p:sp>
      <p:sp>
        <p:nvSpPr>
          <p:cNvPr id="7" name="reveal-01-detail">
            <a:extLst>
              <a:ext uri="{FF2B5EF4-FFF2-40B4-BE49-F238E27FC236}">
                <ns2:creationId id="{2F7D8C86-786C-4ED7-AE64-122D6BE146E4}"/>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125 million</a:t>
            </a:r>
          </a:p>
        </p:txBody>
      </p:sp>
      <p:sp>
        <p:nvSpPr>
          <p:cNvPr id="8" name="reveal-02-stage">
            <a:extLst>
              <a:ext uri="{FF2B5EF4-FFF2-40B4-BE49-F238E27FC236}">
                <ns2:creationId id="{3BFEE57E-E2AE-4436-8998-3CCECCC176D2}"/>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4C8A606C-FF98-4FC4-92DC-B507100A0BD3}"/>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4AB9D1DD-E886-4F9D-9D2E-20F19F3BA012}"/>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Remove duplicate</a:t>
            </a:r>
          </a:p>
        </p:txBody>
      </p:sp>
      <p:sp>
        <p:nvSpPr>
          <p:cNvPr id="11" name="reveal-02-detail">
            <a:extLst>
              <a:ext uri="{FF2B5EF4-FFF2-40B4-BE49-F238E27FC236}">
                <ns2:creationId id="{BE40693D-B8C9-48E3-8DA8-76EFC1015EF2}"/>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125 − 25 = 100</a:t>
            </a:r>
          </a:p>
        </p:txBody>
      </p:sp>
      <p:sp>
        <p:nvSpPr>
          <p:cNvPr id="12" name="reveal-03-stage">
            <a:extLst>
              <a:ext uri="{FF2B5EF4-FFF2-40B4-BE49-F238E27FC236}">
                <ns2:creationId id="{256058AF-10C8-4E6C-B114-4FC4266190A4}"/>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0ACC30EB-DDAA-43A9-A1B1-7F8D99C564A9}"/>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ACE02A57-848D-4A30-AAD6-245F75FE73B3}"/>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Apply credit</a:t>
            </a:r>
          </a:p>
        </p:txBody>
      </p:sp>
      <p:sp>
        <p:nvSpPr>
          <p:cNvPr id="15" name="reveal-03-detail">
            <a:extLst>
              <a:ext uri="{FF2B5EF4-FFF2-40B4-BE49-F238E27FC236}">
                <ns2:creationId id="{B1F0C22C-50E4-49B1-BD57-D82DBD578E84}"/>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100 − 2 = 98</a:t>
            </a:r>
          </a:p>
        </p:txBody>
      </p:sp>
      <p:sp>
        <p:nvSpPr>
          <p:cNvPr id="16" name="reveal-04-stage">
            <a:extLst>
              <a:ext uri="{FF2B5EF4-FFF2-40B4-BE49-F238E27FC236}">
                <ns2:creationId id="{23EE0985-7195-47CB-95C2-870845D67FD8}"/>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2FB1CF41-CD09-45B0-8854-683CE5A647C6}"/>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8D1C5C2B-E06A-47BB-82C4-349078A3AC33}"/>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Match ledger</a:t>
            </a:r>
          </a:p>
        </p:txBody>
      </p:sp>
      <p:sp>
        <p:nvSpPr>
          <p:cNvPr id="19" name="reveal-04-detail">
            <a:extLst>
              <a:ext uri="{FF2B5EF4-FFF2-40B4-BE49-F238E27FC236}">
                <ns2:creationId id="{26A21AA4-7E46-44ED-ACF7-898AA35A15F0}"/>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98 million</a:t>
            </a:r>
          </a:p>
        </p:txBody>
      </p:sp>
      <p:sp>
        <p:nvSpPr>
          <p:cNvPr id="23" name="text-388">
            <a:extLst>
              <a:ext uri="{FF2B5EF4-FFF2-40B4-BE49-F238E27FC236}">
                <ns2:creationId id="{82344458-F433-4A96-9CA7-41835D37F183}"/>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UGX million. Source identity and adjustments explain the difference; this computes no tax liability.</a:t>
            </a:r>
          </a:p>
        </p:txBody>
      </p:sp>
      <p:sp>
        <p:nvSpPr>
          <p:cNvPr id="3" name="text-384">
            <a:extLst>
              <a:ext uri="{FF2B5EF4-FFF2-40B4-BE49-F238E27FC236}">
                <ns2:creationId id="{91050CAC-AC74-4507-A199-E9CA094D550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5</a:t>
            </a:r>
          </a:p>
        </p:txBody>
      </p:sp>
    </p:spTree>
    <p:extLst>
      <p:ext uri="{BB962C8B-B14F-4D97-AF65-F5344CB8AC3E}">
        <ns4:creationId val="146342841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ns2="http://schemas.microsoft.com/office/drawing/2014/main" xmlns:ns3="http://schemas.microsoft.com/office/drawing/2017/decorative" xmlns:ns4="http://schemas.openxmlformats.org/drawingml/2006/chart" xmlns:ns6="http://schemas.microsoft.com/office/powerpoint/2010/main" xmlns:p="http://schemas.openxmlformats.org/presentationml/2006/main" xmlns:r="http://schemas.openxmlformats.org/officeDocument/2006/relationships">
  <p:cSld name="A chart of the same reconciliation">
    <p:bg>
      <p:bgPr>
        <a:solidFill>
          <a:srgbClr val="FFFFFF"/>
        </a:solidFill>
      </p:bgPr>
    </p:bg>
    <p:spTree>
      <p:nvGrpSpPr>
        <p:cNvPr id="1" name=""/>
        <p:cNvGrpSpPr/>
        <p:nvPr/>
      </p:nvGrpSpPr>
      <p:grpSpPr>
        <a:xfrm/>
      </p:grpSpPr>
      <p:sp>
        <p:nvSpPr>
          <p:cNvPr id="11" name="text-389">
            <a:extLst>
              <a:ext uri="{FF2B5EF4-FFF2-40B4-BE49-F238E27FC236}">
                <ns2:creationId id="{5DC93BFC-AAED-4E13-A258-E0D78AE13E81}"/>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90">
            <a:extLst>
              <a:ext uri="{FF2B5EF4-FFF2-40B4-BE49-F238E27FC236}">
                <ns2:creationId id="{D819908B-F7AA-4CE9-BC11-48BF5C91388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chart of the same reconciliation</a:t>
            </a:r>
          </a:p>
        </p:txBody>
      </p:sp>
      <p:graphicFrame>
        <p:nvGraphicFramePr>
          <p:cNvPr id="4" name="Chart">
            <a:extLst>
              <a:ext uri="{FF2B5EF4-FFF2-40B4-BE49-F238E27FC236}">
                <ns2:creationId id="{97640898-BD4F-43CC-A07B-A303AA26D5CC}"/>
              </a:ext>
              <a:ext uri="{C183D7F6-B498-43B3-948B-1728B52AA6E4}">
                <ns3:decorative val="1"/>
              </a:ext>
            </a:extLst>
          </p:cNvPr>
          <p:cNvGraphicFramePr/>
          <p:nvPr/>
        </p:nvGraphicFramePr>
        <p:xfrm>
          <a:off x="714375" y="1952625"/>
          <a:ext cx="10715625" cy="2714625"/>
        </p:xfrm>
        <a:graphic>
          <a:graphicData uri="http://schemas.openxmlformats.org/drawingml/2006/chart">
            <ns4:chart r:id="Rcd5c6dec3dc14a2a"/>
          </a:graphicData>
        </a:graphic>
      </p:graphicFrame>
      <p:sp>
        <p:nvSpPr>
          <p:cNvPr id="5" name="text-392">
            <a:extLst>
              <a:ext uri="{FF2B5EF4-FFF2-40B4-BE49-F238E27FC236}">
                <ns2:creationId id="{51C2D026-457D-4BE4-85AD-525562F4891B}"/>
              </a:ext>
            </a:extLst>
          </p:cNvPr>
          <p:cNvSpPr>
            <a:spLocks noGrp="1"/>
          </p:cNvSpPr>
          <p:nvPr/>
        </p:nvSpPr>
        <p:spPr>
          <a:xfrm>
            <a:off x="619125" y="4686300"/>
            <a:ext cx="10858500" cy="457200"/>
          </a:xfrm>
          <a:prstGeom prst="rect">
            <a:avLst/>
          </a:prstGeom>
          <a:noFill/>
          <a:ln w="0">
            <a:noFill/>
          </a:ln>
        </p:spPr>
        <p:txBody>
          <a:bodyPr>
            <a:noAutofit/>
          </a:bodyPr>
          <a:lstStyle>
            <a:defPPr>
              <a:defRPr sz="2325" b="1">
                <a:solidFill>
                  <a:srgbClr val="246E63"/>
                </a:solidFill>
                <a:latin typeface="Calibri"/>
                <a:ea typeface="Calibri"/>
                <a:cs typeface="Calibri"/>
              </a:defRPr>
            </a:defPPr>
            <a:lvl1pPr>
              <a:defRPr sz="2325" b="1">
                <a:solidFill>
                  <a:srgbClr val="246E63"/>
                </a:solidFill>
                <a:latin typeface="Calibri"/>
                <a:ea typeface="Calibri"/>
                <a:cs typeface="Calibri"/>
              </a:defRPr>
            </a:lvl1pPr>
            <a:lvl2pPr>
              <a:defRPr sz="2325" b="1">
                <a:solidFill>
                  <a:srgbClr val="246E63"/>
                </a:solidFill>
                <a:latin typeface="Calibri"/>
                <a:ea typeface="Calibri"/>
                <a:cs typeface="Calibri"/>
              </a:defRPr>
            </a:lvl2pPr>
            <a:lvl3pPr>
              <a:defRPr sz="2325" b="1">
                <a:solidFill>
                  <a:srgbClr val="246E63"/>
                </a:solidFill>
                <a:latin typeface="Calibri"/>
                <a:ea typeface="Calibri"/>
                <a:cs typeface="Calibri"/>
              </a:defRPr>
            </a:lvl3pPr>
            <a:lvl4pPr>
              <a:defRPr sz="2325" b="1">
                <a:solidFill>
                  <a:srgbClr val="246E63"/>
                </a:solidFill>
                <a:latin typeface="Calibri"/>
                <a:ea typeface="Calibri"/>
                <a:cs typeface="Calibri"/>
              </a:defRPr>
            </a:lvl4pPr>
            <a:lvl5pPr>
              <a:defRPr sz="2325" b="1">
                <a:solidFill>
                  <a:srgbClr val="246E63"/>
                </a:solidFill>
                <a:latin typeface="Calibri"/>
                <a:ea typeface="Calibri"/>
                <a:cs typeface="Calibri"/>
              </a:defRPr>
            </a:lvl5pPr>
            <a:lvl6pPr>
              <a:defRPr sz="2325" b="1">
                <a:solidFill>
                  <a:srgbClr val="246E63"/>
                </a:solidFill>
                <a:latin typeface="Calibri"/>
                <a:ea typeface="Calibri"/>
                <a:cs typeface="Calibri"/>
              </a:defRPr>
            </a:lvl6pPr>
            <a:lvl7pPr>
              <a:defRPr sz="2325" b="1">
                <a:solidFill>
                  <a:srgbClr val="246E63"/>
                </a:solidFill>
                <a:latin typeface="Calibri"/>
                <a:ea typeface="Calibri"/>
                <a:cs typeface="Calibri"/>
              </a:defRPr>
            </a:lvl7pPr>
            <a:lvl8pPr>
              <a:defRPr sz="2325" b="1">
                <a:solidFill>
                  <a:srgbClr val="246E63"/>
                </a:solidFill>
                <a:latin typeface="Calibri"/>
                <a:ea typeface="Calibri"/>
                <a:cs typeface="Calibri"/>
              </a:defRPr>
            </a:lvl8pPr>
            <a:lvl9pPr>
              <a:defRPr sz="2325" b="1">
                <a:solidFill>
                  <a:srgbClr val="246E63"/>
                </a:solidFill>
                <a:latin typeface="Calibri"/>
                <a:ea typeface="Calibri"/>
                <a:cs typeface="Calibri"/>
              </a:defRPr>
            </a:lvl9pPr>
          </a:lstStyle>
          <a:p>
            <a:pPr>
              <a:defRPr sz="2325" b="1">
                <a:solidFill>
                  <a:srgbClr val="246E63"/>
                </a:solidFill>
                <a:latin typeface="Calibri"/>
                <a:ea typeface="Calibri"/>
                <a:cs typeface="Calibri"/>
              </a:defRPr>
            </a:pPr>
            <a:r>
              <a:rPr sz="2325" b="1">
                <a:solidFill>
                  <a:srgbClr val="246E63"/>
                </a:solidFill>
                <a:latin typeface="Calibri"/>
                <a:ea typeface="Calibri"/>
                <a:cs typeface="Calibri"/>
              </a:rPr>
              <a:t>125 − 25 = 100; 100 − 2 = 98</a:t>
            </a:r>
          </a:p>
        </p:txBody>
      </p:sp>
      <p:sp>
        <p:nvSpPr>
          <p:cNvPr id="6" name="shape-393">
            <a:extLst>
              <a:ext uri="{FF2B5EF4-FFF2-40B4-BE49-F238E27FC236}">
                <ns2:creationId id="{387DEBD7-0405-4117-96B4-82F595266F41}"/>
              </a:ext>
              <a:ext uri="{C183D7F6-B498-43B3-948B-1728B52AA6E4}">
                <ns3:decorative val="1"/>
              </a:ext>
            </a:extLst>
          </p:cNvPr>
          <p:cNvSpPr>
            <a:spLocks noGrp="1"/>
          </p:cNvSpPr>
          <p:nvPr/>
        </p:nvSpPr>
        <p:spPr>
          <a:xfrm>
            <a:off x="619125" y="5276850"/>
            <a:ext cx="8943975" cy="409575"/>
          </a:xfrm>
          <a:prstGeom prst="rect">
            <a:avLst/>
          </a:prstGeom>
          <a:solidFill>
            <a:srgbClr val="246E63"/>
          </a:solidFill>
          <a:ln w="11430">
            <a:solidFill>
              <a:srgbClr val="C9D5DA"/>
            </a:solidFill>
          </a:ln>
        </p:spPr>
      </p:sp>
      <p:sp>
        <p:nvSpPr>
          <p:cNvPr id="7" name="shape-394">
            <a:extLst>
              <a:ext uri="{FF2B5EF4-FFF2-40B4-BE49-F238E27FC236}">
                <ns2:creationId id="{9344B18A-FA69-4640-B953-343E9B97EA3C}"/>
              </a:ext>
              <a:ext uri="{C183D7F6-B498-43B3-948B-1728B52AA6E4}">
                <ns3:decorative val="1"/>
              </a:ext>
            </a:extLst>
          </p:cNvPr>
          <p:cNvSpPr>
            <a:spLocks noGrp="1"/>
          </p:cNvSpPr>
          <p:nvPr/>
        </p:nvSpPr>
        <p:spPr>
          <a:xfrm>
            <a:off x="9563100" y="5276850"/>
            <a:ext cx="2009775" cy="409575"/>
          </a:xfrm>
          <a:prstGeom prst="rect">
            <a:avLst/>
          </a:prstGeom>
          <a:solidFill>
            <a:srgbClr val="C94E29"/>
          </a:solidFill>
          <a:ln w="11430">
            <a:solidFill>
              <a:srgbClr val="C9D5DA"/>
            </a:solidFill>
          </a:ln>
        </p:spPr>
      </p:sp>
      <p:sp>
        <p:nvSpPr>
          <p:cNvPr id="8" name="text-395">
            <a:extLst>
              <a:ext uri="{FF2B5EF4-FFF2-40B4-BE49-F238E27FC236}">
                <ns2:creationId id="{541153F8-3963-4FB5-B04A-1E2DA2439FBA}"/>
              </a:ext>
            </a:extLst>
          </p:cNvPr>
          <p:cNvSpPr>
            <a:spLocks noGrp="1"/>
          </p:cNvSpPr>
          <p:nvPr/>
        </p:nvSpPr>
        <p:spPr>
          <a:xfrm>
            <a:off x="809625" y="5305425"/>
            <a:ext cx="5715000" cy="352425"/>
          </a:xfrm>
          <a:prstGeom prst="rect">
            <a:avLst/>
          </a:prstGeom>
          <a:noFill/>
          <a:ln w="0">
            <a:noFill/>
          </a:ln>
        </p:spPr>
        <p:txBody>
          <a:bodyPr>
            <a:noAutofit/>
          </a:bodyPr>
          <a:lstStyle>
            <a:defPPr>
              <a:defRPr sz="1875" b="1">
                <a:solidFill>
                  <a:srgbClr val="FFFFFF"/>
                </a:solidFill>
                <a:latin typeface="Calibri"/>
                <a:ea typeface="Calibri"/>
                <a:cs typeface="Calibri"/>
              </a:defRPr>
            </a:defPPr>
            <a:lvl1pPr>
              <a:defRPr sz="1875" b="1">
                <a:solidFill>
                  <a:srgbClr val="FFFFFF"/>
                </a:solidFill>
                <a:latin typeface="Calibri"/>
                <a:ea typeface="Calibri"/>
                <a:cs typeface="Calibri"/>
              </a:defRPr>
            </a:lvl1pPr>
            <a:lvl2pPr>
              <a:defRPr sz="1875" b="1">
                <a:solidFill>
                  <a:srgbClr val="FFFFFF"/>
                </a:solidFill>
                <a:latin typeface="Calibri"/>
                <a:ea typeface="Calibri"/>
                <a:cs typeface="Calibri"/>
              </a:defRPr>
            </a:lvl2pPr>
            <a:lvl3pPr>
              <a:defRPr sz="1875" b="1">
                <a:solidFill>
                  <a:srgbClr val="FFFFFF"/>
                </a:solidFill>
                <a:latin typeface="Calibri"/>
                <a:ea typeface="Calibri"/>
                <a:cs typeface="Calibri"/>
              </a:defRPr>
            </a:lvl3pPr>
            <a:lvl4pPr>
              <a:defRPr sz="1875" b="1">
                <a:solidFill>
                  <a:srgbClr val="FFFFFF"/>
                </a:solidFill>
                <a:latin typeface="Calibri"/>
                <a:ea typeface="Calibri"/>
                <a:cs typeface="Calibri"/>
              </a:defRPr>
            </a:lvl4pPr>
            <a:lvl5pPr>
              <a:defRPr sz="1875" b="1">
                <a:solidFill>
                  <a:srgbClr val="FFFFFF"/>
                </a:solidFill>
                <a:latin typeface="Calibri"/>
                <a:ea typeface="Calibri"/>
                <a:cs typeface="Calibri"/>
              </a:defRPr>
            </a:lvl5pPr>
            <a:lvl6pPr>
              <a:defRPr sz="1875" b="1">
                <a:solidFill>
                  <a:srgbClr val="FFFFFF"/>
                </a:solidFill>
                <a:latin typeface="Calibri"/>
                <a:ea typeface="Calibri"/>
                <a:cs typeface="Calibri"/>
              </a:defRPr>
            </a:lvl6pPr>
            <a:lvl7pPr>
              <a:defRPr sz="1875" b="1">
                <a:solidFill>
                  <a:srgbClr val="FFFFFF"/>
                </a:solidFill>
                <a:latin typeface="Calibri"/>
                <a:ea typeface="Calibri"/>
                <a:cs typeface="Calibri"/>
              </a:defRPr>
            </a:lvl7pPr>
            <a:lvl8pPr>
              <a:defRPr sz="1875" b="1">
                <a:solidFill>
                  <a:srgbClr val="FFFFFF"/>
                </a:solidFill>
                <a:latin typeface="Calibri"/>
                <a:ea typeface="Calibri"/>
                <a:cs typeface="Calibri"/>
              </a:defRPr>
            </a:lvl8pPr>
            <a:lvl9pPr>
              <a:defRPr sz="1875" b="1">
                <a:solidFill>
                  <a:srgbClr val="FFFFFF"/>
                </a:solidFill>
                <a:latin typeface="Calibri"/>
                <a:ea typeface="Calibri"/>
                <a:cs typeface="Calibri"/>
              </a:defRPr>
            </a:lvl9pPr>
          </a:lstStyle>
          <a:p>
            <a:pPr>
              <a:defRPr sz="1875" b="1">
                <a:solidFill>
                  <a:srgbClr val="FFFFFF"/>
                </a:solidFill>
                <a:latin typeface="Calibri"/>
                <a:ea typeface="Calibri"/>
                <a:cs typeface="Calibri"/>
              </a:defRPr>
            </a:pPr>
            <a:r>
              <a:rPr sz="1875" b="1">
                <a:solidFill>
                  <a:srgbClr val="FFFFFF"/>
                </a:solidFill>
                <a:latin typeface="Calibri"/>
                <a:ea typeface="Calibri"/>
                <a:cs typeface="Calibri"/>
              </a:rPr>
              <a:t>80 received</a:t>
            </a:r>
          </a:p>
        </p:txBody>
      </p:sp>
      <p:sp>
        <p:nvSpPr>
          <p:cNvPr id="9" name="text-396">
            <a:extLst>
              <a:ext uri="{FF2B5EF4-FFF2-40B4-BE49-F238E27FC236}">
                <ns2:creationId id="{41EF4551-86BF-457B-91F4-A36D0F39F650}"/>
              </a:ext>
            </a:extLst>
          </p:cNvPr>
          <p:cNvSpPr>
            <a:spLocks noGrp="1"/>
          </p:cNvSpPr>
          <p:nvPr/>
        </p:nvSpPr>
        <p:spPr>
          <a:xfrm>
            <a:off x="9525000" y="5314950"/>
            <a:ext cx="1952625" cy="352425"/>
          </a:xfrm>
          <a:prstGeom prst="rect">
            <a:avLst/>
          </a:prstGeom>
          <a:noFill/>
          <a:ln w="0">
            <a:noFill/>
          </a:ln>
        </p:spPr>
        <p:txBody>
          <a:bodyPr>
            <a:noAutofit/>
          </a:bodyPr>
          <a:lstStyle>
            <a:defPPr>
              <a:defRPr sz="1725" b="1">
                <a:solidFill>
                  <a:srgbClr val="FFFFFF"/>
                </a:solidFill>
                <a:latin typeface="Calibri"/>
                <a:ea typeface="Calibri"/>
                <a:cs typeface="Calibri"/>
              </a:defRPr>
            </a:defPPr>
            <a:lvl1pPr>
              <a:defRPr sz="1725" b="1">
                <a:solidFill>
                  <a:srgbClr val="FFFFFF"/>
                </a:solidFill>
                <a:latin typeface="Calibri"/>
                <a:ea typeface="Calibri"/>
                <a:cs typeface="Calibri"/>
              </a:defRPr>
            </a:lvl1pPr>
            <a:lvl2pPr>
              <a:defRPr sz="1725" b="1">
                <a:solidFill>
                  <a:srgbClr val="FFFFFF"/>
                </a:solidFill>
                <a:latin typeface="Calibri"/>
                <a:ea typeface="Calibri"/>
                <a:cs typeface="Calibri"/>
              </a:defRPr>
            </a:lvl2pPr>
            <a:lvl3pPr>
              <a:defRPr sz="1725" b="1">
                <a:solidFill>
                  <a:srgbClr val="FFFFFF"/>
                </a:solidFill>
                <a:latin typeface="Calibri"/>
                <a:ea typeface="Calibri"/>
                <a:cs typeface="Calibri"/>
              </a:defRPr>
            </a:lvl3pPr>
            <a:lvl4pPr>
              <a:defRPr sz="1725" b="1">
                <a:solidFill>
                  <a:srgbClr val="FFFFFF"/>
                </a:solidFill>
                <a:latin typeface="Calibri"/>
                <a:ea typeface="Calibri"/>
                <a:cs typeface="Calibri"/>
              </a:defRPr>
            </a:lvl4pPr>
            <a:lvl5pPr>
              <a:defRPr sz="1725" b="1">
                <a:solidFill>
                  <a:srgbClr val="FFFFFF"/>
                </a:solidFill>
                <a:latin typeface="Calibri"/>
                <a:ea typeface="Calibri"/>
                <a:cs typeface="Calibri"/>
              </a:defRPr>
            </a:lvl5pPr>
            <a:lvl6pPr>
              <a:defRPr sz="1725" b="1">
                <a:solidFill>
                  <a:srgbClr val="FFFFFF"/>
                </a:solidFill>
                <a:latin typeface="Calibri"/>
                <a:ea typeface="Calibri"/>
                <a:cs typeface="Calibri"/>
              </a:defRPr>
            </a:lvl6pPr>
            <a:lvl7pPr>
              <a:defRPr sz="1725" b="1">
                <a:solidFill>
                  <a:srgbClr val="FFFFFF"/>
                </a:solidFill>
                <a:latin typeface="Calibri"/>
                <a:ea typeface="Calibri"/>
                <a:cs typeface="Calibri"/>
              </a:defRPr>
            </a:lvl7pPr>
            <a:lvl8pPr>
              <a:defRPr sz="1725" b="1">
                <a:solidFill>
                  <a:srgbClr val="FFFFFF"/>
                </a:solidFill>
                <a:latin typeface="Calibri"/>
                <a:ea typeface="Calibri"/>
                <a:cs typeface="Calibri"/>
              </a:defRPr>
            </a:lvl8pPr>
            <a:lvl9pPr>
              <a:defRPr sz="1725" b="1">
                <a:solidFill>
                  <a:srgbClr val="FFFFFF"/>
                </a:solidFill>
                <a:latin typeface="Calibri"/>
                <a:ea typeface="Calibri"/>
                <a:cs typeface="Calibri"/>
              </a:defRPr>
            </a:lvl9pPr>
          </a:lstStyle>
          <a:p>
            <a:pPr>
              <a:defRPr sz="1725" b="1">
                <a:solidFill>
                  <a:srgbClr val="FFFFFF"/>
                </a:solidFill>
                <a:latin typeface="Calibri"/>
                <a:ea typeface="Calibri"/>
                <a:cs typeface="Calibri"/>
              </a:defRPr>
            </a:pPr>
            <a:r>
              <a:rPr sz="1725" b="1">
                <a:solidFill>
                  <a:srgbClr val="FFFFFF"/>
                </a:solidFill>
                <a:latin typeface="Calibri"/>
                <a:ea typeface="Calibri"/>
                <a:cs typeface="Calibri"/>
              </a:rPr>
              <a:t>18 outstanding</a:t>
            </a:r>
          </a:p>
        </p:txBody>
      </p:sp>
      <p:sp>
        <p:nvSpPr>
          <p:cNvPr id="10" name="text-397">
            <a:extLst>
              <a:ext uri="{FF2B5EF4-FFF2-40B4-BE49-F238E27FC236}">
                <ns2:creationId id="{74BBDF9D-D77A-411C-B42D-2A6BD667A4C9}"/>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UGX million. The 98 net sales split into 80 received and 18 outstanding under the stated timing assumptions.</a:t>
            </a:r>
          </a:p>
        </p:txBody>
      </p:sp>
      <p:sp>
        <p:nvSpPr>
          <p:cNvPr id="3" name="text-391">
            <a:extLst>
              <a:ext uri="{FF2B5EF4-FFF2-40B4-BE49-F238E27FC236}">
                <ns2:creationId id="{B6971548-279E-4776-834D-5E4B70C429B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6</a:t>
            </a:r>
          </a:p>
        </p:txBody>
      </p:sp>
    </p:spTree>
    <p:extLst>
      <p:ext uri="{BB962C8B-B14F-4D97-AF65-F5344CB8AC3E}">
        <ns6:creationId val="2042328381"/>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An observed error and a clearer input">
    <p:bg>
      <p:bgPr>
        <a:solidFill>
          <a:srgbClr val="FFFFFF"/>
        </a:solidFill>
      </p:bgPr>
    </p:bg>
    <p:spTree>
      <p:nvGrpSpPr>
        <p:cNvPr id="1" name=""/>
        <p:cNvGrpSpPr/>
        <p:nvPr/>
      </p:nvGrpSpPr>
      <p:grpSpPr>
        <a:xfrm/>
      </p:grpSpPr>
      <p:sp>
        <p:nvSpPr>
          <p:cNvPr id="8" name="text-398">
            <a:extLst>
              <a:ext uri="{FF2B5EF4-FFF2-40B4-BE49-F238E27FC236}">
                <ns2:creationId id="{59C05791-2EB4-4A14-9C62-AB126A3BEF2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399">
            <a:extLst>
              <a:ext uri="{FF2B5EF4-FFF2-40B4-BE49-F238E27FC236}">
                <ns2:creationId id="{C5E61859-FC2D-4D28-88F6-07B71E68C9D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An observed error and a clearer input</a:t>
            </a:r>
          </a:p>
        </p:txBody>
      </p:sp>
      <p:sp>
        <p:nvSpPr>
          <p:cNvPr id="4" name="text-401">
            <a:extLst>
              <a:ext uri="{FF2B5EF4-FFF2-40B4-BE49-F238E27FC236}">
                <ns2:creationId id="{25BD728C-E1C2-4AEA-A67C-21EDD62E073C}"/>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First saved run</a:t>
            </a:r>
          </a:p>
        </p:txBody>
      </p:sp>
      <p:sp>
        <p:nvSpPr>
          <p:cNvPr id="5" name="text-402">
            <a:extLst>
              <a:ext uri="{FF2B5EF4-FFF2-40B4-BE49-F238E27FC236}">
                <ns2:creationId id="{39211F05-7F9F-4E91-90CF-0C7EB330DC76}"/>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Called UGX 80m a declared tax basis. The prompt had omitted file-name boundaries.</a:t>
            </a:r>
          </a:p>
        </p:txBody>
      </p:sp>
      <p:sp>
        <p:nvSpPr>
          <p:cNvPr id="6" name="text-403">
            <a:extLst>
              <a:ext uri="{FF2B5EF4-FFF2-40B4-BE49-F238E27FC236}">
                <ns2:creationId id="{61626D4A-8062-4551-AB79-D31F619323CA}"/>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Labelled-source rerun</a:t>
            </a:r>
          </a:p>
        </p:txBody>
      </p:sp>
      <p:sp>
        <p:nvSpPr>
          <p:cNvPr id="7" name="text-404">
            <a:extLst>
              <a:ext uri="{FF2B5EF4-FFF2-40B4-BE49-F238E27FC236}">
                <ns2:creationId id="{F3C9AA40-0D6F-4EE8-8B0F-EA34C665FDA5}"/>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Distinguished cash receipts from a declaration and reconciled the records.</a:t>
            </a:r>
          </a:p>
        </p:txBody>
      </p:sp>
      <p:sp>
        <p:nvSpPr>
          <p:cNvPr id="3" name="text-400">
            <a:extLst>
              <a:ext uri="{FF2B5EF4-FFF2-40B4-BE49-F238E27FC236}">
                <ns2:creationId id="{41098EB6-2A02-4E06-87F9-04250A55020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7</a:t>
            </a:r>
          </a:p>
        </p:txBody>
      </p:sp>
    </p:spTree>
    <p:extLst>
      <p:ext uri="{BB962C8B-B14F-4D97-AF65-F5344CB8AC3E}">
        <ns3:creationId val="1725012623"/>
      </p:ext>
    </p:extLst>
  </p:cSld>
  <p:transition spd="med" advClick="1">
    <p:fade/>
  </p:transition>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A missing supporting identifier">
    <p:bg>
      <p:bgPr>
        <a:solidFill>
          <a:srgbClr val="FFFFFF"/>
        </a:solidFill>
      </p:bgPr>
    </p:bg>
    <p:spTree>
      <p:nvGrpSpPr>
        <p:cNvPr id="1" name=""/>
        <p:cNvGrpSpPr/>
        <p:nvPr/>
      </p:nvGrpSpPr>
      <p:grpSpPr>
        <a:xfrm/>
      </p:grpSpPr>
      <p:sp>
        <p:nvSpPr>
          <p:cNvPr id="10" name="text-405">
            <a:extLst>
              <a:ext uri="{FF2B5EF4-FFF2-40B4-BE49-F238E27FC236}">
                <ns2:creationId id="{B067C12A-6604-4A86-96ED-8527FC3AB84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06">
            <a:extLst>
              <a:ext uri="{FF2B5EF4-FFF2-40B4-BE49-F238E27FC236}">
                <ns2:creationId id="{09D19ECA-CF40-4241-9354-E50B1AA8935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missing supporting identifier</a:t>
            </a:r>
          </a:p>
        </p:txBody>
      </p:sp>
      <p:sp>
        <p:nvSpPr>
          <p:cNvPr id="4" name="text-408">
            <a:extLst>
              <a:ext uri="{FF2B5EF4-FFF2-40B4-BE49-F238E27FC236}">
                <ns2:creationId id="{5C902F79-8CE1-4893-9469-DAD297DBD15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09">
            <a:extLst>
              <a:ext uri="{FF2B5EF4-FFF2-40B4-BE49-F238E27FC236}">
                <ns2:creationId id="{D1C4E283-F27B-451F-8C48-F215C07DF047}"/>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One teaching record lacks a supporting identifier.</a:t>
            </a:r>
          </a:p>
        </p:txBody>
      </p:sp>
      <p:sp>
        <p:nvSpPr>
          <p:cNvPr id="6" name="text-410">
            <a:extLst>
              <a:ext uri="{FF2B5EF4-FFF2-40B4-BE49-F238E27FC236}">
                <ns2:creationId id="{56489340-0DD9-483F-B059-03BB87087A29}"/>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11">
            <a:extLst>
              <a:ext uri="{FF2B5EF4-FFF2-40B4-BE49-F238E27FC236}">
                <ns2:creationId id="{DD344C80-86C1-4347-A1E7-443B4BDD1E19}"/>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transaction remains in the reconciliation.</a:t>
            </a:r>
          </a:p>
        </p:txBody>
      </p:sp>
      <p:sp>
        <p:nvSpPr>
          <p:cNvPr id="8" name="text-412">
            <a:extLst>
              <a:ext uri="{FF2B5EF4-FFF2-40B4-BE49-F238E27FC236}">
                <ns2:creationId id="{4544D3FB-D8F9-4C85-9C29-0A5118FECA9B}"/>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13">
            <a:extLst>
              <a:ext uri="{FF2B5EF4-FFF2-40B4-BE49-F238E27FC236}">
                <ns2:creationId id="{FEBEBF5F-5C9E-4B68-A749-3D45121748DA}"/>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report requests the underlying evidence.</a:t>
            </a:r>
          </a:p>
        </p:txBody>
      </p:sp>
      <p:sp>
        <p:nvSpPr>
          <p:cNvPr id="3" name="text-407">
            <a:extLst>
              <a:ext uri="{FF2B5EF4-FFF2-40B4-BE49-F238E27FC236}">
                <ns2:creationId id="{75264332-3CA8-4B75-8F2C-C368E3F08B5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8</a:t>
            </a:r>
          </a:p>
        </p:txBody>
      </p:sp>
    </p:spTree>
    <p:extLst>
      <p:ext uri="{BB962C8B-B14F-4D97-AF65-F5344CB8AC3E}">
        <ns3:creationId val="137053230"/>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A useful exception report">
    <p:bg>
      <p:bgPr>
        <a:solidFill>
          <a:srgbClr val="FFFFFF"/>
        </a:solidFill>
      </p:bgPr>
    </p:bg>
    <p:spTree>
      <p:nvGrpSpPr>
        <p:cNvPr id="1" name=""/>
        <p:cNvGrpSpPr/>
        <p:nvPr/>
      </p:nvGrpSpPr>
      <p:grpSpPr>
        <a:xfrm/>
      </p:grpSpPr>
      <p:sp>
        <p:nvSpPr>
          <p:cNvPr id="6" name="text-414">
            <a:extLst>
              <a:ext uri="{FF2B5EF4-FFF2-40B4-BE49-F238E27FC236}">
                <ns2:creationId id="{C982F2DE-5E3C-442F-80DA-24A4B816E82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15">
            <a:extLst>
              <a:ext uri="{FF2B5EF4-FFF2-40B4-BE49-F238E27FC236}">
                <ns2:creationId id="{6FD17778-E072-4699-980A-DBE71BE691BF}"/>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useful exception report</a:t>
            </a:r>
          </a:p>
        </p:txBody>
      </p:sp>
      <p:graphicFrame>
        <p:nvGraphicFramePr>
          <p:cNvPr id="4" name="">
            <a:extLst>
              <a:ext uri="{FF2B5EF4-FFF2-40B4-BE49-F238E27FC236}">
                <ns2:creationId id="{0C8B4004-CB57-4853-803E-E64898BA548A}"/>
              </a:ext>
            </a:extLst>
          </p:cNvPr>
          <p:cNvGraphicFramePr/>
          <p:nvPr/>
        </p:nvGraphicFramePr>
        <p:xfrm>
          <a:off x="619125" y="1933575"/>
          <a:ext cx="10953750" cy="3333750"/>
        </p:xfrm>
        <a:graphic>
          <a:graphicData uri="http://schemas.openxmlformats.org/drawingml/2006/table">
            <a:tbl>
              <a:tblPr/>
              <a:tblGrid>
                <a:gridCol w="3651250"/>
                <a:gridCol w="3651250"/>
                <a:gridCol w="3651250"/>
              </a:tblGrid>
              <a:tr h="833438">
                <a:tc>
                  <a:txBody>
                    <a:bodyPr/>
                    <a:lstStyle/>
                    <a:p>
                      <a:r>
                        <a:rPr sz="1875" b="1">
                          <a:solidFill>
                            <a:srgbClr val="FFFFFF"/>
                          </a:solidFill>
                          <a:latin typeface="Calibri"/>
                          <a:ea typeface="Calibri"/>
                          <a:cs typeface="Calibri"/>
                        </a:rPr>
                        <a:t>Issue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Status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833438">
                <a:tc>
                  <a:txBody>
                    <a:bodyPr/>
                    <a:lstStyle/>
                    <a:p>
                      <a:r>
                        <a:rPr sz="1875" b="0">
                          <a:solidFill>
                            <a:srgbClr val="1C3144"/>
                          </a:solidFill>
                          <a:latin typeface="Calibri"/>
                          <a:ea typeface="Calibri"/>
                          <a:cs typeface="Calibri"/>
                        </a:rPr>
                        <a:t>Duplicate INV-003</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Same invoice repeated in import</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Corrected import</a:t>
                      </a:r>
                    </a:p>
                  </a:txBody>
                  <a:tcPr marL="91440" marR="91440" marT="45720" marB="45720">
                    <a:lnR w="9525">
                      <a:solidFill>
                        <a:srgbClr val="C9D5DA"/>
                      </a:solidFill>
                      <a:prstDash val="solid"/>
                    </a:lnR>
                    <a:lnB w="9525">
                      <a:solidFill>
                        <a:srgbClr val="C9D5DA"/>
                      </a:solidFill>
                      <a:prstDash val="solid"/>
                    </a:lnB>
                    <a:solidFill>
                      <a:srgbClr val="F1F5F6"/>
                    </a:solidFill>
                  </a:tcPr>
                </a:tc>
              </a:tr>
              <a:tr h="833438">
                <a:tc>
                  <a:txBody>
                    <a:bodyPr/>
                    <a:lstStyle/>
                    <a:p>
                      <a:r>
                        <a:rPr sz="1875" b="0">
                          <a:solidFill>
                            <a:srgbClr val="1C3144"/>
                          </a:solidFill>
                          <a:latin typeface="Calibri"/>
                          <a:ea typeface="Calibri"/>
                          <a:cs typeface="Calibri"/>
                        </a:rPr>
                        <a:t>Credit note: 2 million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CN-001 against INV-003</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Reconciled</a:t>
                      </a:r>
                    </a:p>
                  </a:txBody>
                  <a:tcPr marL="91440" marR="91440" marT="45720" marB="45720">
                    <a:lnR w="9525">
                      <a:solidFill>
                        <a:srgbClr val="C9D5DA"/>
                      </a:solidFill>
                      <a:prstDash val="solid"/>
                    </a:lnR>
                    <a:lnB w="9525">
                      <a:solidFill>
                        <a:srgbClr val="C9D5DA"/>
                      </a:solidFill>
                      <a:prstDash val="solid"/>
                    </a:lnB>
                    <a:solidFill>
                      <a:srgbClr val="FFFFFF"/>
                    </a:solidFill>
                  </a:tcPr>
                </a:tc>
              </a:tr>
              <a:tr h="833438">
                <a:tc>
                  <a:txBody>
                    <a:bodyPr/>
                    <a:lstStyle/>
                    <a:p>
                      <a:r>
                        <a:rPr sz="1875" b="0">
                          <a:solidFill>
                            <a:srgbClr val="1C3144"/>
                          </a:solidFill>
                          <a:latin typeface="Calibri"/>
                          <a:ea typeface="Calibri"/>
                          <a:cs typeface="Calibri"/>
                        </a:rPr>
                        <a:t>Missing identifier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INV-002 evidence field blank</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Request support</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5" name="text-417">
            <a:extLst>
              <a:ext uri="{FF2B5EF4-FFF2-40B4-BE49-F238E27FC236}">
                <ns2:creationId id="{B4C9C0D1-8B4D-4EA5-B78A-D380332A4C71}"/>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Corrected data issues remain distinct from open professional tax questions.</a:t>
            </a:r>
          </a:p>
        </p:txBody>
      </p:sp>
      <p:sp>
        <p:nvSpPr>
          <p:cNvPr id="3" name="text-416">
            <a:extLst>
              <a:ext uri="{FF2B5EF4-FFF2-40B4-BE49-F238E27FC236}">
                <ns2:creationId id="{A610D742-B792-4A9C-83A3-2D1C5C25556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9</a:t>
            </a:r>
          </a:p>
        </p:txBody>
      </p:sp>
    </p:spTree>
    <p:extLst>
      <p:ext uri="{BB962C8B-B14F-4D97-AF65-F5344CB8AC3E}">
        <ns3:creationId val="348399860"/>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Risk flag and tax conclusion">
    <p:bg>
      <p:bgPr>
        <a:solidFill>
          <a:srgbClr val="FFFFFF"/>
        </a:solidFill>
      </p:bgPr>
    </p:bg>
    <p:spTree>
      <p:nvGrpSpPr>
        <p:cNvPr id="1" name=""/>
        <p:cNvGrpSpPr/>
        <p:nvPr/>
      </p:nvGrpSpPr>
      <p:grpSpPr>
        <a:xfrm/>
      </p:grpSpPr>
      <p:sp>
        <p:nvSpPr>
          <p:cNvPr id="8" name="text-418">
            <a:extLst>
              <a:ext uri="{FF2B5EF4-FFF2-40B4-BE49-F238E27FC236}">
                <ns2:creationId id="{2649F76F-18B1-4E98-B543-20A05587621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19">
            <a:extLst>
              <a:ext uri="{FF2B5EF4-FFF2-40B4-BE49-F238E27FC236}">
                <ns2:creationId id="{2208C30A-86CB-4865-BDA5-8CB23687709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Risk flag and tax conclusion</a:t>
            </a:r>
          </a:p>
        </p:txBody>
      </p:sp>
      <p:sp>
        <p:nvSpPr>
          <p:cNvPr id="4" name="text-421">
            <a:extLst>
              <a:ext uri="{FF2B5EF4-FFF2-40B4-BE49-F238E27FC236}">
                <ns2:creationId id="{32CAA24F-571F-4B7F-9601-C5A35C9A5779}"/>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Risk flag</a:t>
            </a:r>
          </a:p>
        </p:txBody>
      </p:sp>
      <p:sp>
        <p:nvSpPr>
          <p:cNvPr id="5" name="text-422">
            <a:extLst>
              <a:ext uri="{FF2B5EF4-FFF2-40B4-BE49-F238E27FC236}">
                <ns2:creationId id="{F54FD254-32B5-4CE7-A8C8-EE2731B6EF76}"/>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evidence identifier is missing and needs review.</a:t>
            </a:r>
          </a:p>
        </p:txBody>
      </p:sp>
      <p:sp>
        <p:nvSpPr>
          <p:cNvPr id="6" name="text-423">
            <a:extLst>
              <a:ext uri="{FF2B5EF4-FFF2-40B4-BE49-F238E27FC236}">
                <ns2:creationId id="{D87AE720-1FB3-40F8-B522-8D93EBA763EF}"/>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Tax conclusion</a:t>
            </a:r>
          </a:p>
        </p:txBody>
      </p:sp>
      <p:sp>
        <p:nvSpPr>
          <p:cNvPr id="7" name="text-424">
            <a:extLst>
              <a:ext uri="{FF2B5EF4-FFF2-40B4-BE49-F238E27FC236}">
                <ns2:creationId id="{D709E19C-55EF-45EF-8945-7417E7DF0536}"/>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tax effect requires current rules, complete facts and professional analysis.</a:t>
            </a:r>
          </a:p>
        </p:txBody>
      </p:sp>
      <p:sp>
        <p:nvSpPr>
          <p:cNvPr id="3" name="text-420">
            <a:extLst>
              <a:ext uri="{FF2B5EF4-FFF2-40B4-BE49-F238E27FC236}">
                <ns2:creationId id="{0013C247-96CB-4906-9B14-59CC97EEDE1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10</a:t>
            </a:r>
          </a:p>
        </p:txBody>
      </p:sp>
    </p:spTree>
    <p:extLst>
      <p:ext uri="{BB962C8B-B14F-4D97-AF65-F5344CB8AC3E}">
        <ns3:creationId val="1149872304"/>
      </p:ext>
    </p:extLst>
  </p:cSld>
  <p:transition spd="med" advClick="1">
    <p:fade/>
  </p:transition>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A supported tax question">
    <p:bg>
      <p:bgPr>
        <a:solidFill>
          <a:srgbClr val="FFFFFF"/>
        </a:solidFill>
      </p:bgPr>
    </p:bg>
    <p:spTree>
      <p:nvGrpSpPr>
        <p:cNvPr id="1" name=""/>
        <p:cNvGrpSpPr/>
        <p:nvPr/>
      </p:nvGrpSpPr>
      <p:grpSpPr>
        <a:xfrm/>
      </p:grpSpPr>
      <p:sp>
        <p:nvSpPr>
          <p:cNvPr id="5" name="text-425">
            <a:extLst>
              <a:ext uri="{FF2B5EF4-FFF2-40B4-BE49-F238E27FC236}">
                <ns2:creationId id="{8EA6C3E2-1BB3-42A1-9B09-B6B99265F0E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26">
            <a:extLst>
              <a:ext uri="{FF2B5EF4-FFF2-40B4-BE49-F238E27FC236}">
                <ns2:creationId id="{A81CB8BF-9F67-4336-8B08-35C17266D58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supported tax question</a:t>
            </a:r>
          </a:p>
        </p:txBody>
      </p:sp>
      <p:graphicFrame>
        <p:nvGraphicFramePr>
          <p:cNvPr id="4" name="">
            <a:extLst>
              <a:ext uri="{FF2B5EF4-FFF2-40B4-BE49-F238E27FC236}">
                <ns2:creationId id="{C83E3B3D-85BB-4720-8A51-816D63B190D3}"/>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Question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Source-based response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Next check</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Is a missing teaching reference proof of evasion?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No. It is an evidence gap.</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Obtain the actual invoice and determine applicability.</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How can an EFRIS document be checked?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URA describes FDN/date validation.</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Validate an actual permitted document in the official route.</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Does a valid FDN settle all tax treatment?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No. Identity and tax entitlement differ.</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Apply the relevant law and facts.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427">
            <a:extLst>
              <a:ext uri="{FF2B5EF4-FFF2-40B4-BE49-F238E27FC236}">
                <ns2:creationId id="{A54B17FC-BBA0-4D96-B28E-53D593FB90D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11</a:t>
            </a:r>
          </a:p>
        </p:txBody>
      </p:sp>
    </p:spTree>
    <p:extLst>
      <p:ext uri="{BB962C8B-B14F-4D97-AF65-F5344CB8AC3E}">
        <ns3:creationId val="484690585"/>
      </p:ext>
    </p:extLst>
  </p:cSld>
  <p:transition spd="med" advClick="1">
    <p:fade/>
  </p:transition>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Different operations">
    <p:bg>
      <p:bgPr>
        <a:solidFill>
          <a:srgbClr val="FFFFFF"/>
        </a:solidFill>
      </p:bgPr>
    </p:bg>
    <p:spTree>
      <p:nvGrpSpPr>
        <p:cNvPr id="1" name=""/>
        <p:cNvGrpSpPr/>
        <p:nvPr/>
      </p:nvGrpSpPr>
      <p:grpSpPr>
        <a:xfrm/>
      </p:grpSpPr>
      <p:sp>
        <p:nvSpPr>
          <p:cNvPr id="5" name="text-428">
            <a:extLst>
              <a:ext uri="{FF2B5EF4-FFF2-40B4-BE49-F238E27FC236}">
                <ns2:creationId id="{5BB39B85-2716-4BA9-9F6A-5749023FFC0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29">
            <a:extLst>
              <a:ext uri="{FF2B5EF4-FFF2-40B4-BE49-F238E27FC236}">
                <ns2:creationId id="{4C481630-4934-49E6-9E9A-7C14DF18B33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Different operations</a:t>
            </a:r>
          </a:p>
        </p:txBody>
      </p:sp>
      <p:graphicFrame>
        <p:nvGraphicFramePr>
          <p:cNvPr id="4" name="">
            <a:extLst>
              <a:ext uri="{FF2B5EF4-FFF2-40B4-BE49-F238E27FC236}">
                <ns2:creationId id="{A2FD7BD8-6ABD-4F15-833D-B2482D1A4022}"/>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Operation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Purpose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EFRIS invoicing</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Fiscal invoice and receipt operations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Return preparation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Assemble records and proposed fields</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Return submission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Make a declaration through the applicable process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Payment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Settle a recorded amount through a payment route</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430">
            <a:extLst>
              <a:ext uri="{FF2B5EF4-FFF2-40B4-BE49-F238E27FC236}">
                <ns2:creationId id="{FDD54C2A-90B4-4E3A-94AB-2E9EE6291F7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12</a:t>
            </a:r>
          </a:p>
        </p:txBody>
      </p:sp>
    </p:spTree>
    <p:extLst>
      <p:ext uri="{BB962C8B-B14F-4D97-AF65-F5344CB8AC3E}">
        <ns3:creationId val="1958336856"/>
      </p:ext>
    </p:extLst>
  </p:cSld>
  <p:transition spd="med" advClick="1">
    <p:fade/>
  </p:transition>
</p:sld>
</file>

<file path=ppt/slides/slide13.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 bounded filing-assistance process">
    <p:bg>
      <p:bgPr>
        <a:solidFill>
          <a:srgbClr val="FFFFFF"/>
        </a:solidFill>
      </p:bgPr>
    </p:bg>
    <p:spTree>
      <p:nvGrpSpPr>
        <p:cNvPr id="1" name=""/>
        <p:cNvGrpSpPr/>
        <p:nvPr/>
      </p:nvGrpSpPr>
      <p:grpSpPr>
        <a:xfrm/>
      </p:grpSpPr>
      <p:cxnSp>
        <p:nvCxnSpPr>
          <p:cNvPr id="22" name="reveal-04-arrow" descr="A bounded filing-assistance process">
            <a:extLst>
              <a:ext uri="{FF2B5EF4-FFF2-40B4-BE49-F238E27FC236}">
                <ns2:creationId id="{45A6BEC2-880B-4760-BE64-36D7CF945A22}"/>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6010247A-89DF-4A59-B747-49C35E49AF02}"/>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11AD0124-1F30-41DD-A2A5-BE24654C7133}"/>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431">
            <a:extLst>
              <a:ext uri="{FF2B5EF4-FFF2-40B4-BE49-F238E27FC236}">
                <ns2:creationId id="{9C0CA015-3089-41E4-8016-C79B9E5AC7F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32">
            <a:extLst>
              <a:ext uri="{FF2B5EF4-FFF2-40B4-BE49-F238E27FC236}">
                <ns2:creationId id="{B27B886C-895E-4C8F-82CF-9A8D92A2158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bounded filing-assistance process</a:t>
            </a:r>
          </a:p>
        </p:txBody>
      </p:sp>
      <p:sp>
        <p:nvSpPr>
          <p:cNvPr id="4" name="reveal-01-stage">
            <a:extLst>
              <a:ext uri="{FF2B5EF4-FFF2-40B4-BE49-F238E27FC236}">
                <ns2:creationId id="{A4ABEFDE-2EA8-4EB5-BAEB-BD1BA8C4DBBE}"/>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FC515628-3B33-474E-ABC8-67031A75310F}"/>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B9EAE551-EB1D-4E3B-9A06-993DB2BC521B}"/>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Gather</a:t>
            </a:r>
          </a:p>
        </p:txBody>
      </p:sp>
      <p:sp>
        <p:nvSpPr>
          <p:cNvPr id="7" name="reveal-01-detail">
            <a:extLst>
              <a:ext uri="{FF2B5EF4-FFF2-40B4-BE49-F238E27FC236}">
                <ns2:creationId id="{97A17930-C00B-474A-8765-FFBF18AA39F8}"/>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Required source records</a:t>
            </a:r>
          </a:p>
        </p:txBody>
      </p:sp>
      <p:sp>
        <p:nvSpPr>
          <p:cNvPr id="8" name="reveal-02-stage">
            <a:extLst>
              <a:ext uri="{FF2B5EF4-FFF2-40B4-BE49-F238E27FC236}">
                <ns2:creationId id="{222A3B50-D2D5-4BA4-9A8C-8A5E2083EE4B}"/>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2101DDF2-E98C-4D16-B8F9-C69936797D78}"/>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7E0BA071-D21A-4133-9565-010EBBCDE189}"/>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Prepare</a:t>
            </a:r>
          </a:p>
        </p:txBody>
      </p:sp>
      <p:sp>
        <p:nvSpPr>
          <p:cNvPr id="11" name="reveal-02-detail">
            <a:extLst>
              <a:ext uri="{FF2B5EF4-FFF2-40B4-BE49-F238E27FC236}">
                <ns2:creationId id="{B8A85ED7-8849-4C6F-957A-B932A14EB4EE}"/>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Proposed return fields</a:t>
            </a:r>
          </a:p>
        </p:txBody>
      </p:sp>
      <p:sp>
        <p:nvSpPr>
          <p:cNvPr id="12" name="reveal-03-stage">
            <a:extLst>
              <a:ext uri="{FF2B5EF4-FFF2-40B4-BE49-F238E27FC236}">
                <ns2:creationId id="{87AFF0DD-2112-46CB-B6A6-96884C8C0CA6}"/>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5ED82ABB-C0D5-41CE-9434-E53B672A46DB}"/>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3BA2885E-D8AB-4778-AD47-5D24F941AF6E}"/>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Validate</a:t>
            </a:r>
          </a:p>
        </p:txBody>
      </p:sp>
      <p:sp>
        <p:nvSpPr>
          <p:cNvPr id="15" name="reveal-03-detail">
            <a:extLst>
              <a:ext uri="{FF2B5EF4-FFF2-40B4-BE49-F238E27FC236}">
                <ns2:creationId id="{1DCCE3A9-E17E-4923-8F65-6858E0CD0B00}"/>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Evidence and checks</a:t>
            </a:r>
          </a:p>
        </p:txBody>
      </p:sp>
      <p:sp>
        <p:nvSpPr>
          <p:cNvPr id="16" name="reveal-04-stage">
            <a:extLst>
              <a:ext uri="{FF2B5EF4-FFF2-40B4-BE49-F238E27FC236}">
                <ns2:creationId id="{D8A3A4C5-42A9-4FEF-B6F9-C2A824F9FBD9}"/>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5F259B09-58A5-4342-BFBA-000A30996F1C}"/>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DB9AAEC7-F7FB-4181-8C72-60A251B6E5BF}"/>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Authorise</a:t>
            </a:r>
          </a:p>
        </p:txBody>
      </p:sp>
      <p:sp>
        <p:nvSpPr>
          <p:cNvPr id="19" name="reveal-04-detail">
            <a:extLst>
              <a:ext uri="{FF2B5EF4-FFF2-40B4-BE49-F238E27FC236}">
                <ns2:creationId id="{7DAACBBB-4B60-4C40-9F7A-458DC0D29718}"/>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Review and submission decision</a:t>
            </a:r>
          </a:p>
        </p:txBody>
      </p:sp>
      <p:sp>
        <p:nvSpPr>
          <p:cNvPr id="3" name="text-433">
            <a:extLst>
              <a:ext uri="{FF2B5EF4-FFF2-40B4-BE49-F238E27FC236}">
                <ns2:creationId id="{5E39ED55-7644-4055-AFDF-AC0F2E0DD32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13</a:t>
            </a:r>
          </a:p>
        </p:txBody>
      </p:sp>
    </p:spTree>
    <p:extLst>
      <p:ext uri="{BB962C8B-B14F-4D97-AF65-F5344CB8AC3E}">
        <ns4:creationId val="123249184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Acknowledgement and submission status">
    <p:bg>
      <p:bgPr>
        <a:solidFill>
          <a:srgbClr val="FFFFFF"/>
        </a:solidFill>
      </p:bgPr>
    </p:bg>
    <p:spTree>
      <p:nvGrpSpPr>
        <p:cNvPr id="1" name=""/>
        <p:cNvGrpSpPr/>
        <p:nvPr/>
      </p:nvGrpSpPr>
      <p:grpSpPr>
        <a:xfrm/>
      </p:grpSpPr>
      <p:sp>
        <p:nvSpPr>
          <p:cNvPr id="10" name="text-437">
            <a:extLst>
              <a:ext uri="{FF2B5EF4-FFF2-40B4-BE49-F238E27FC236}">
                <ns2:creationId id="{5374F3A7-3C1A-4B7D-84EC-D0665FFA308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38">
            <a:extLst>
              <a:ext uri="{FF2B5EF4-FFF2-40B4-BE49-F238E27FC236}">
                <ns2:creationId id="{FA175A69-6CCB-4157-81C1-188E0FA4C36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Acknowledgement and submission status</a:t>
            </a:r>
          </a:p>
        </p:txBody>
      </p:sp>
      <p:sp>
        <p:nvSpPr>
          <p:cNvPr id="4" name="text-440">
            <a:extLst>
              <a:ext uri="{FF2B5EF4-FFF2-40B4-BE49-F238E27FC236}">
                <ns2:creationId id="{8FCDA8C9-507D-44B2-970D-AE4CCE6DE3F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41">
            <a:extLst>
              <a:ext uri="{FF2B5EF4-FFF2-40B4-BE49-F238E27FC236}">
                <ns2:creationId id="{520F8D8C-83B5-4693-B3ED-5C0F35A9AAA6}"/>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Capture the actual response and reference.</a:t>
            </a:r>
          </a:p>
        </p:txBody>
      </p:sp>
      <p:sp>
        <p:nvSpPr>
          <p:cNvPr id="6" name="text-442">
            <a:extLst>
              <a:ext uri="{FF2B5EF4-FFF2-40B4-BE49-F238E27FC236}">
                <ns2:creationId id="{AEC5D6C7-FC70-4823-BA01-50070F684C2A}"/>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43">
            <a:extLst>
              <a:ext uri="{FF2B5EF4-FFF2-40B4-BE49-F238E27FC236}">
                <ns2:creationId id="{87C5407D-4C6A-4F30-8425-2979023BF691}"/>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Distinguish draft, submitted, rejected and uncertain status.</a:t>
            </a:r>
          </a:p>
        </p:txBody>
      </p:sp>
      <p:sp>
        <p:nvSpPr>
          <p:cNvPr id="8" name="text-444">
            <a:extLst>
              <a:ext uri="{FF2B5EF4-FFF2-40B4-BE49-F238E27FC236}">
                <ns2:creationId id="{6EA9DB29-F423-4C1B-A2FC-97FF8E770ED6}"/>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45">
            <a:extLst>
              <a:ext uri="{FF2B5EF4-FFF2-40B4-BE49-F238E27FC236}">
                <ns2:creationId id="{5B60C868-32BE-4402-B30C-5EF4D88D68FF}"/>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 not infer acceptance from a page closing.</a:t>
            </a:r>
          </a:p>
        </p:txBody>
      </p:sp>
      <p:sp>
        <p:nvSpPr>
          <p:cNvPr id="3" name="text-439">
            <a:extLst>
              <a:ext uri="{FF2B5EF4-FFF2-40B4-BE49-F238E27FC236}">
                <ns2:creationId id="{C250915C-81DD-4609-9CBB-FFAA942E725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14</a:t>
            </a:r>
          </a:p>
        </p:txBody>
      </p:sp>
    </p:spTree>
    <p:extLst>
      <p:ext uri="{BB962C8B-B14F-4D97-AF65-F5344CB8AC3E}">
        <ns3:creationId val="736175660"/>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Failure handling">
    <p:bg>
      <p:bgPr>
        <a:solidFill>
          <a:srgbClr val="FFFFFF"/>
        </a:solidFill>
      </p:bgPr>
    </p:bg>
    <p:spTree>
      <p:nvGrpSpPr>
        <p:cNvPr id="1" name=""/>
        <p:cNvGrpSpPr/>
        <p:nvPr/>
      </p:nvGrpSpPr>
      <p:grpSpPr>
        <a:xfrm/>
      </p:grpSpPr>
      <p:sp>
        <p:nvSpPr>
          <p:cNvPr id="5" name="text-446">
            <a:extLst>
              <a:ext uri="{FF2B5EF4-FFF2-40B4-BE49-F238E27FC236}">
                <ns2:creationId id="{F9C0C3BB-5F17-468E-875D-35521635A55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47">
            <a:extLst>
              <a:ext uri="{FF2B5EF4-FFF2-40B4-BE49-F238E27FC236}">
                <ns2:creationId id="{1AF2E8B8-2CD9-49B3-ADE8-8B055BD3446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Failure handling</a:t>
            </a:r>
          </a:p>
        </p:txBody>
      </p:sp>
      <p:graphicFrame>
        <p:nvGraphicFramePr>
          <p:cNvPr id="4" name="">
            <a:extLst>
              <a:ext uri="{FF2B5EF4-FFF2-40B4-BE49-F238E27FC236}">
                <ns2:creationId id="{4330A684-FDFF-4123-B64B-92925E657CED}"/>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Failure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Expected response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Missing evidence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Hold and request clarification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Changed template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Review mapping before continuing</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Rejected upload</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Retain error and correct source</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Unknown submission status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Check status before retry</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Access or authorisation failure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Stop and escalate</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448">
            <a:extLst>
              <a:ext uri="{FF2B5EF4-FFF2-40B4-BE49-F238E27FC236}">
                <ns2:creationId id="{2B26627D-BB6D-4ECD-AF2C-6F9A716BEED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15</a:t>
            </a:r>
          </a:p>
        </p:txBody>
      </p:sp>
    </p:spTree>
    <p:extLst>
      <p:ext uri="{BB962C8B-B14F-4D97-AF65-F5344CB8AC3E}">
        <ns3:creationId val="1144179532"/>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A record of execution">
    <p:bg>
      <p:bgPr>
        <a:solidFill>
          <a:srgbClr val="FFFFFF"/>
        </a:solidFill>
      </p:bgPr>
    </p:bg>
    <p:spTree>
      <p:nvGrpSpPr>
        <p:cNvPr id="1" name=""/>
        <p:cNvGrpSpPr/>
        <p:nvPr/>
      </p:nvGrpSpPr>
      <p:grpSpPr>
        <a:xfrm/>
      </p:grpSpPr>
      <p:sp>
        <p:nvSpPr>
          <p:cNvPr id="12" name="text-449">
            <a:extLst>
              <a:ext uri="{FF2B5EF4-FFF2-40B4-BE49-F238E27FC236}">
                <ns2:creationId id="{4C472D28-987A-4FB6-8382-0A0D7A8A5EB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50">
            <a:extLst>
              <a:ext uri="{FF2B5EF4-FFF2-40B4-BE49-F238E27FC236}">
                <ns2:creationId id="{4A0CF661-39D0-4F94-AF2A-F6D31D71737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record of execution</a:t>
            </a:r>
          </a:p>
        </p:txBody>
      </p:sp>
      <p:sp>
        <p:nvSpPr>
          <p:cNvPr id="4" name="text-452">
            <a:extLst>
              <a:ext uri="{FF2B5EF4-FFF2-40B4-BE49-F238E27FC236}">
                <ns2:creationId id="{DA4A7817-7E34-4B0A-BF54-A04BD9D943A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53">
            <a:extLst>
              <a:ext uri="{FF2B5EF4-FFF2-40B4-BE49-F238E27FC236}">
                <ns2:creationId id="{3FC12911-5782-43A9-B341-FA3DCE5D337B}"/>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Request and source versions</a:t>
            </a:r>
          </a:p>
        </p:txBody>
      </p:sp>
      <p:sp>
        <p:nvSpPr>
          <p:cNvPr id="6" name="text-454">
            <a:extLst>
              <a:ext uri="{FF2B5EF4-FFF2-40B4-BE49-F238E27FC236}">
                <ns2:creationId id="{934D32FA-910D-4036-ACD4-9B0B254B814E}"/>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55">
            <a:extLst>
              <a:ext uri="{FF2B5EF4-FFF2-40B4-BE49-F238E27FC236}">
                <ns2:creationId id="{C5E6CDEC-F94F-4D8A-97B1-090E94A36A00}"/>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Proposed fields and validation results</a:t>
            </a:r>
          </a:p>
        </p:txBody>
      </p:sp>
      <p:sp>
        <p:nvSpPr>
          <p:cNvPr id="8" name="text-456">
            <a:extLst>
              <a:ext uri="{FF2B5EF4-FFF2-40B4-BE49-F238E27FC236}">
                <ns2:creationId id="{8759304E-02BE-4582-A1CB-8BC1C1E98A5C}"/>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57">
            <a:extLst>
              <a:ext uri="{FF2B5EF4-FFF2-40B4-BE49-F238E27FC236}">
                <ns2:creationId id="{41E15796-D884-4B24-B5EC-A265049F7D94}"/>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Reviewer decision</a:t>
            </a:r>
          </a:p>
        </p:txBody>
      </p:sp>
      <p:sp>
        <p:nvSpPr>
          <p:cNvPr id="10" name="text-458">
            <a:extLst>
              <a:ext uri="{FF2B5EF4-FFF2-40B4-BE49-F238E27FC236}">
                <ns2:creationId id="{B3A34696-A3F0-4704-B3D2-D74DA7137B82}"/>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59">
            <a:extLst>
              <a:ext uri="{FF2B5EF4-FFF2-40B4-BE49-F238E27FC236}">
                <ns2:creationId id="{0736185D-B336-4793-A7A9-58AFF54027CC}"/>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Action response and recovery record</a:t>
            </a:r>
          </a:p>
        </p:txBody>
      </p:sp>
      <p:sp>
        <p:nvSpPr>
          <p:cNvPr id="3" name="text-451">
            <a:extLst>
              <a:ext uri="{FF2B5EF4-FFF2-40B4-BE49-F238E27FC236}">
                <ns2:creationId id="{EE365E7E-BEDB-4247-A5FF-08404714CEA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16</a:t>
            </a:r>
          </a:p>
        </p:txBody>
      </p:sp>
    </p:spTree>
    <p:extLst>
      <p:ext uri="{BB962C8B-B14F-4D97-AF65-F5344CB8AC3E}">
        <ns3:creationId val="2031933484"/>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460">
            <a:extLst>
              <a:ext uri="{FF2B5EF4-FFF2-40B4-BE49-F238E27FC236}">
                <ns2:creationId id="{79D55030-D1AE-4B20-B068-27B91FC8FA0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61">
            <a:extLst>
              <a:ext uri="{FF2B5EF4-FFF2-40B4-BE49-F238E27FC236}">
                <ns2:creationId id="{A239DE46-DC4F-463E-8417-DA776787B8C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463">
            <a:extLst>
              <a:ext uri="{FF2B5EF4-FFF2-40B4-BE49-F238E27FC236}">
                <ns2:creationId id="{B025D085-99F1-4480-807C-390468ADAD7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64">
            <a:extLst>
              <a:ext uri="{FF2B5EF4-FFF2-40B4-BE49-F238E27FC236}">
                <ns2:creationId id="{83809DA9-AA06-45ED-ADA3-D416A63F8F07}"/>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Reconcile the small files independently.</a:t>
            </a:r>
          </a:p>
        </p:txBody>
      </p:sp>
      <p:sp>
        <p:nvSpPr>
          <p:cNvPr id="6" name="text-465">
            <a:extLst>
              <a:ext uri="{FF2B5EF4-FFF2-40B4-BE49-F238E27FC236}">
                <ns2:creationId id="{A7F2521F-68CF-4663-8CB9-DF3D4B1D040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66">
            <a:extLst>
              <a:ext uri="{FF2B5EF4-FFF2-40B4-BE49-F238E27FC236}">
                <ns2:creationId id="{8887A9C8-8ACE-4668-A029-53A7BFBC0D0D}"/>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Investigate the larger ledger and period differences.</a:t>
            </a:r>
          </a:p>
        </p:txBody>
      </p:sp>
      <p:sp>
        <p:nvSpPr>
          <p:cNvPr id="8" name="text-467">
            <a:extLst>
              <a:ext uri="{FF2B5EF4-FFF2-40B4-BE49-F238E27FC236}">
                <ns2:creationId id="{4EF4EA2C-456F-4C44-9500-44F58E45C2B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68">
            <a:extLst>
              <a:ext uri="{FF2B5EF4-FFF2-40B4-BE49-F238E27FC236}">
                <ns2:creationId id="{B3A69CAB-702C-472C-A7AF-F2E2F5A8E5F0}"/>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Separate evidence checks from tax conclusions.</a:t>
            </a:r>
          </a:p>
        </p:txBody>
      </p:sp>
      <p:sp>
        <p:nvSpPr>
          <p:cNvPr id="10" name="text-469">
            <a:extLst>
              <a:ext uri="{FF2B5EF4-FFF2-40B4-BE49-F238E27FC236}">
                <ns2:creationId id="{BA3158E3-053A-46C0-AA82-9E32F355E0D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70">
            <a:extLst>
              <a:ext uri="{FF2B5EF4-FFF2-40B4-BE49-F238E27FC236}">
                <ns2:creationId id="{FCAD11C2-DB20-425D-985B-847B4F3DD6D7}"/>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 local preparation, approval and uncertain status.</a:t>
            </a:r>
          </a:p>
        </p:txBody>
      </p:sp>
      <p:sp>
        <p:nvSpPr>
          <p:cNvPr id="12" name="text-471">
            <a:extLst>
              <a:ext uri="{FF2B5EF4-FFF2-40B4-BE49-F238E27FC236}">
                <ns2:creationId id="{84439360-11EC-4861-B86F-6F03974DF10C}"/>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462">
            <a:extLst>
              <a:ext uri="{FF2B5EF4-FFF2-40B4-BE49-F238E27FC236}">
                <ns2:creationId id="{C0B43636-594D-4994-8225-A0F07A1A65B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17</a:t>
            </a:r>
          </a:p>
        </p:txBody>
      </p:sp>
    </p:spTree>
    <p:extLst>
      <p:ext uri="{BB962C8B-B14F-4D97-AF65-F5344CB8AC3E}">
        <ns3:creationId val="311953247"/>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472">
            <a:extLst>
              <a:ext uri="{FF2B5EF4-FFF2-40B4-BE49-F238E27FC236}">
                <ns2:creationId id="{A41DF37F-A199-4A3B-BA48-73EAC4EB4D8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73">
            <a:extLst>
              <a:ext uri="{FF2B5EF4-FFF2-40B4-BE49-F238E27FC236}">
                <ns2:creationId id="{39C50B96-BB1E-4FD1-91FC-EF6EB219F8C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475">
            <a:extLst>
              <a:ext uri="{FF2B5EF4-FFF2-40B4-BE49-F238E27FC236}">
                <ns2:creationId id="{4A5DB26D-08C4-4E2E-985A-3E06999F0576}"/>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76">
            <a:extLst>
              <a:ext uri="{FF2B5EF4-FFF2-40B4-BE49-F238E27FC236}">
                <ns2:creationId id="{7D0ACBFD-532B-4F11-9F30-2932C052EB98}"/>
              </a:ext>
            </a:extLst>
          </p:cNvPr>
          <p:cNvSpPr>
            <a:spLocks noGrp="1"/>
          </p:cNvSpPr>
          <p:nvPr/>
        </p:nvSpPr>
        <p:spPr>
          <a:xfrm>
            <a:off x="1285875" y="1943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Amounts in UGX million: 125 less duplicate 25 gives 100, then credit 2 gives 98. Receipts of 80 leave 18 under the stated assumptions. That difference alone does not establish unpaid tax. Evidence checks, declaration and payment are separate operations.</a:t>
            </a:r>
          </a:p>
        </p:txBody>
      </p:sp>
      <p:sp>
        <p:nvSpPr>
          <p:cNvPr id="6" name="text-477">
            <a:extLst>
              <a:ext uri="{FF2B5EF4-FFF2-40B4-BE49-F238E27FC236}">
                <ns2:creationId id="{F41DD5B9-8708-402A-AE53-877C88576DD4}"/>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78">
            <a:extLst>
              <a:ext uri="{FF2B5EF4-FFF2-40B4-BE49-F238E27FC236}">
                <ns2:creationId id="{F7D8128A-9F25-4070-950B-D4C3F585280C}"/>
              </a:ext>
            </a:extLst>
          </p:cNvPr>
          <p:cNvSpPr>
            <a:spLocks noGrp="1"/>
          </p:cNvSpPr>
          <p:nvPr/>
        </p:nvSpPr>
        <p:spPr>
          <a:xfrm>
            <a:off x="1285875" y="3848100"/>
            <a:ext cx="10191750"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local mock has no URA connection, computes no tax and grants no filing authority.</a:t>
            </a:r>
          </a:p>
        </p:txBody>
      </p:sp>
      <p:sp>
        <p:nvSpPr>
          <p:cNvPr id="3" name="text-474">
            <a:extLst>
              <a:ext uri="{FF2B5EF4-FFF2-40B4-BE49-F238E27FC236}">
                <ns2:creationId id="{0160BCDD-9221-464C-8B42-5471D0DF29A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18</a:t>
            </a:r>
          </a:p>
        </p:txBody>
      </p:sp>
    </p:spTree>
    <p:extLst>
      <p:ext uri="{BB962C8B-B14F-4D97-AF65-F5344CB8AC3E}">
        <ns3:creationId val="1090735956"/>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479">
            <a:extLst>
              <a:ext uri="{FF2B5EF4-FFF2-40B4-BE49-F238E27FC236}">
                <ns2:creationId id="{C39AF607-8919-4D5B-8FF1-48A9B110813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80">
            <a:extLst>
              <a:ext uri="{FF2B5EF4-FFF2-40B4-BE49-F238E27FC236}">
                <ns2:creationId id="{3F62DF3C-34D9-4DDA-A801-17234CEE891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482">
            <a:extLst>
              <a:ext uri="{FF2B5EF4-FFF2-40B4-BE49-F238E27FC236}">
                <ns2:creationId id="{F39E10AE-08E6-49B7-9000-B4A50235B37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83">
            <a:extLst>
              <a:ext uri="{FF2B5EF4-FFF2-40B4-BE49-F238E27FC236}">
                <ns2:creationId id="{1D5ACA8E-2F88-404D-9B66-1E158C421A54}"/>
              </a:ext>
            </a:extLst>
          </p:cNvPr>
          <p:cNvSpPr>
            <a:spLocks noGrp="1"/>
          </p:cNvSpPr>
          <p:nvPr/>
        </p:nvSpPr>
        <p:spPr>
          <a:xfrm>
            <a:off x="1285875" y="1943100"/>
            <a:ext cx="10191750"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Begin with supervised evidence preparation, using return-specific requirements and qualified review.</a:t>
            </a:r>
          </a:p>
        </p:txBody>
      </p:sp>
      <p:sp>
        <p:nvSpPr>
          <p:cNvPr id="6" name="text-484">
            <a:extLst>
              <a:ext uri="{FF2B5EF4-FFF2-40B4-BE49-F238E27FC236}">
                <ns2:creationId id="{7AF9450F-25C3-4DB4-8F1B-2585C0DEE44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481">
            <a:extLst>
              <a:ext uri="{FF2B5EF4-FFF2-40B4-BE49-F238E27FC236}">
                <ns2:creationId id="{13755015-C624-4BF4-9C76-1B2AD074176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19</a:t>
            </a:r>
          </a:p>
        </p:txBody>
      </p:sp>
    </p:spTree>
    <p:extLst>
      <p:ext uri="{BB962C8B-B14F-4D97-AF65-F5344CB8AC3E}">
        <ns3:creationId val="344298126"/>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485">
            <a:extLst>
              <a:ext uri="{FF2B5EF4-FFF2-40B4-BE49-F238E27FC236}">
                <ns2:creationId id="{8D20A4F3-0650-4A10-9629-817E468F894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86">
            <a:extLst>
              <a:ext uri="{FF2B5EF4-FFF2-40B4-BE49-F238E27FC236}">
                <ns2:creationId id="{3914AD54-5197-4E49-B4F6-56DB2C41AA3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488">
            <a:extLst>
              <a:ext uri="{FF2B5EF4-FFF2-40B4-BE49-F238E27FC236}">
                <ns2:creationId id="{DC4837AF-6DCA-4C91-A73C-7E55DED1DDD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89">
            <a:extLst>
              <a:ext uri="{FF2B5EF4-FFF2-40B4-BE49-F238E27FC236}">
                <ns2:creationId id="{26EB4DE2-5EF3-4287-B673-FEC03671551F}"/>
              </a:ext>
            </a:extLst>
          </p:cNvPr>
          <p:cNvSpPr>
            <a:spLocks noGrp="1"/>
          </p:cNvSpPr>
          <p:nvPr/>
        </p:nvSpPr>
        <p:spPr>
          <a:xfrm>
            <a:off x="1285875" y="194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One receipt belongs to October rather than September. Does the 18m balance still follow?</a:t>
            </a:r>
          </a:p>
        </p:txBody>
      </p:sp>
      <p:sp>
        <p:nvSpPr>
          <p:cNvPr id="6" name="text-490">
            <a:extLst>
              <a:ext uri="{FF2B5EF4-FFF2-40B4-BE49-F238E27FC236}">
                <ns2:creationId id="{A587F271-E402-406B-8B49-0FD07CE54EA3}"/>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91">
            <a:extLst>
              <a:ext uri="{FF2B5EF4-FFF2-40B4-BE49-F238E27FC236}">
                <ns2:creationId id="{E770C59E-BFF7-473D-8855-BD2F31726B82}"/>
              </a:ext>
            </a:extLst>
          </p:cNvPr>
          <p:cNvSpPr>
            <a:spLocks noGrp="1"/>
          </p:cNvSpPr>
          <p:nvPr/>
        </p:nvSpPr>
        <p:spPr>
          <a:xfrm>
            <a:off x="1285875" y="321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missing reference proves fraud: accept or reject?</a:t>
            </a:r>
          </a:p>
        </p:txBody>
      </p:sp>
      <p:sp>
        <p:nvSpPr>
          <p:cNvPr id="8" name="text-492">
            <a:extLst>
              <a:ext uri="{FF2B5EF4-FFF2-40B4-BE49-F238E27FC236}">
                <ns2:creationId id="{1548F278-FCCB-4707-8FF4-0F478139D8EC}"/>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93">
            <a:extLst>
              <a:ext uri="{FF2B5EF4-FFF2-40B4-BE49-F238E27FC236}">
                <ns2:creationId id="{B15BCDC1-DAF2-4187-B916-703244A0DBCB}"/>
              </a:ext>
            </a:extLst>
          </p:cNvPr>
          <p:cNvSpPr>
            <a:spLocks noGrp="1"/>
          </p:cNvSpPr>
          <p:nvPr/>
        </p:nvSpPr>
        <p:spPr>
          <a:xfrm>
            <a:off x="1285875" y="4483100"/>
            <a:ext cx="10191750"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Acknowledgement is uncertain. Should the action be repeated immediately?</a:t>
            </a:r>
          </a:p>
        </p:txBody>
      </p:sp>
      <p:sp>
        <p:nvSpPr>
          <p:cNvPr id="3" name="text-487">
            <a:extLst>
              <a:ext uri="{FF2B5EF4-FFF2-40B4-BE49-F238E27FC236}">
                <ns2:creationId id="{A193D59A-176B-4953-B947-6FBF39591DF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20</a:t>
            </a:r>
          </a:p>
        </p:txBody>
      </p:sp>
    </p:spTree>
    <p:extLst>
      <p:ext uri="{BB962C8B-B14F-4D97-AF65-F5344CB8AC3E}">
        <ns3:creationId val="43627694"/>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Rules and anomaly detection">
    <p:bg>
      <p:bgPr>
        <a:solidFill>
          <a:srgbClr val="FFFFFF"/>
        </a:solidFill>
      </p:bgPr>
    </p:bg>
    <p:spTree>
      <p:nvGrpSpPr>
        <p:cNvPr id="1" name=""/>
        <p:cNvGrpSpPr/>
        <p:nvPr/>
      </p:nvGrpSpPr>
      <p:grpSpPr>
        <a:xfrm/>
      </p:grpSpPr>
      <p:sp>
        <p:nvSpPr>
          <p:cNvPr id="10" name="text-494">
            <a:extLst>
              <a:ext uri="{FF2B5EF4-FFF2-40B4-BE49-F238E27FC236}">
                <ns2:creationId id="{81E01BF3-414A-44EE-B35D-39713BFC7EC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495">
            <a:extLst>
              <a:ext uri="{FF2B5EF4-FFF2-40B4-BE49-F238E27FC236}">
                <ns2:creationId id="{D883E158-955C-4CA5-8852-83FA63F3135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Rules and anomaly detection</a:t>
            </a:r>
          </a:p>
        </p:txBody>
      </p:sp>
      <p:sp>
        <p:nvSpPr>
          <p:cNvPr id="4" name="text-497">
            <a:extLst>
              <a:ext uri="{FF2B5EF4-FFF2-40B4-BE49-F238E27FC236}">
                <ns2:creationId id="{41215A48-8588-4723-A872-BDF8DF6680F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98">
            <a:extLst>
              <a:ext uri="{FF2B5EF4-FFF2-40B4-BE49-F238E27FC236}">
                <ns2:creationId id="{73D2C2F4-A3CC-4E26-95FA-92A3DAF87279}"/>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rule can flag a duplicate invoice ID.</a:t>
            </a:r>
          </a:p>
        </p:txBody>
      </p:sp>
      <p:sp>
        <p:nvSpPr>
          <p:cNvPr id="6" name="text-499">
            <a:extLst>
              <a:ext uri="{FF2B5EF4-FFF2-40B4-BE49-F238E27FC236}">
                <ns2:creationId id="{8ED0433A-034F-4232-8B6F-AA3ACE068F5C}"/>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00">
            <a:extLst>
              <a:ext uri="{FF2B5EF4-FFF2-40B4-BE49-F238E27FC236}">
                <ns2:creationId id="{83C0C1E4-D0BC-4C3A-8B6B-6EAB71DA2332}"/>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Statistical methods can flag unusual values.</a:t>
            </a:r>
          </a:p>
        </p:txBody>
      </p:sp>
      <p:sp>
        <p:nvSpPr>
          <p:cNvPr id="8" name="text-501">
            <a:extLst>
              <a:ext uri="{FF2B5EF4-FFF2-40B4-BE49-F238E27FC236}">
                <ns2:creationId id="{B5F5DC79-04DD-4C51-A4B0-AE1C291F0C40}"/>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02">
            <a:extLst>
              <a:ext uri="{FF2B5EF4-FFF2-40B4-BE49-F238E27FC236}">
                <ns2:creationId id="{350F1B47-31B7-469F-BDA5-5DB026C56472}"/>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learned model can score patterns using relevant data.</a:t>
            </a:r>
          </a:p>
        </p:txBody>
      </p:sp>
      <p:sp>
        <p:nvSpPr>
          <p:cNvPr id="3" name="text-496">
            <a:extLst>
              <a:ext uri="{FF2B5EF4-FFF2-40B4-BE49-F238E27FC236}">
                <ns2:creationId id="{75AB96CD-6278-416B-B8C0-297B9BC0518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21   OPTIONAL EXPLORATION</a:t>
            </a:r>
          </a:p>
        </p:txBody>
      </p:sp>
    </p:spTree>
    <p:extLst>
      <p:ext uri="{BB962C8B-B14F-4D97-AF65-F5344CB8AC3E}">
        <ns3:creationId val="1755922684"/>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Current authority and the relevant period">
    <p:bg>
      <p:bgPr>
        <a:solidFill>
          <a:srgbClr val="FFFFFF"/>
        </a:solidFill>
      </p:bgPr>
    </p:bg>
    <p:spTree>
      <p:nvGrpSpPr>
        <p:cNvPr id="1" name=""/>
        <p:cNvGrpSpPr/>
        <p:nvPr/>
      </p:nvGrpSpPr>
      <p:grpSpPr>
        <a:xfrm/>
      </p:grpSpPr>
      <p:sp>
        <p:nvSpPr>
          <p:cNvPr id="12" name="text-503">
            <a:extLst>
              <a:ext uri="{FF2B5EF4-FFF2-40B4-BE49-F238E27FC236}">
                <ns2:creationId id="{E4DCD3EE-841A-43DF-A034-C54B1F3F297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04">
            <a:extLst>
              <a:ext uri="{FF2B5EF4-FFF2-40B4-BE49-F238E27FC236}">
                <ns2:creationId id="{DE9520CB-152A-4D6E-BBD5-203D2FB3788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Current authority and the relevant period</a:t>
            </a:r>
          </a:p>
        </p:txBody>
      </p:sp>
      <p:sp>
        <p:nvSpPr>
          <p:cNvPr id="4" name="text-506">
            <a:extLst>
              <a:ext uri="{FF2B5EF4-FFF2-40B4-BE49-F238E27FC236}">
                <ns2:creationId id="{50C90EAC-8C78-4D82-86DA-F5B7740D6F2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07">
            <a:extLst>
              <a:ext uri="{FF2B5EF4-FFF2-40B4-BE49-F238E27FC236}">
                <ns2:creationId id="{E35D145E-DEDE-464A-BCD3-8AA0FCC7A5DE}"/>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the tax head and period.</a:t>
            </a:r>
          </a:p>
        </p:txBody>
      </p:sp>
      <p:sp>
        <p:nvSpPr>
          <p:cNvPr id="6" name="text-508">
            <a:extLst>
              <a:ext uri="{FF2B5EF4-FFF2-40B4-BE49-F238E27FC236}">
                <ns2:creationId id="{E36F8289-B374-4AAD-8901-86FBC2369800}"/>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09">
            <a:extLst>
              <a:ext uri="{FF2B5EF4-FFF2-40B4-BE49-F238E27FC236}">
                <ns2:creationId id="{1A4E9B19-29B2-4116-BC50-52612081C1E0}"/>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Find applicable legislation and official guidance.</a:t>
            </a:r>
          </a:p>
        </p:txBody>
      </p:sp>
      <p:sp>
        <p:nvSpPr>
          <p:cNvPr id="8" name="text-510">
            <a:extLst>
              <a:ext uri="{FF2B5EF4-FFF2-40B4-BE49-F238E27FC236}">
                <ns2:creationId id="{0025A3C2-ED76-4A82-8B97-599C8BBACD7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11">
            <a:extLst>
              <a:ext uri="{FF2B5EF4-FFF2-40B4-BE49-F238E27FC236}">
                <ns2:creationId id="{21BE04A0-C1F7-48C0-AF2A-4B4C5098E53B}"/>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commencement, amendments and source status.</a:t>
            </a:r>
          </a:p>
        </p:txBody>
      </p:sp>
      <p:sp>
        <p:nvSpPr>
          <p:cNvPr id="10" name="text-512">
            <a:extLst>
              <a:ext uri="{FF2B5EF4-FFF2-40B4-BE49-F238E27FC236}">
                <ns2:creationId id="{42C011DF-B417-4B78-B6F6-4907F8D8E65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13">
            <a:extLst>
              <a:ext uri="{FF2B5EF4-FFF2-40B4-BE49-F238E27FC236}">
                <ns2:creationId id="{8BA1FD81-B70A-43CD-AFF5-9C5341DA5406}"/>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Link treatment to the particular facts.</a:t>
            </a:r>
          </a:p>
        </p:txBody>
      </p:sp>
      <p:sp>
        <p:nvSpPr>
          <p:cNvPr id="3" name="text-505">
            <a:extLst>
              <a:ext uri="{FF2B5EF4-FFF2-40B4-BE49-F238E27FC236}">
                <ns2:creationId id="{ACD97F27-B1F6-44F2-813E-630E7DC0A00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22   OPTIONAL EXPLORATION</a:t>
            </a:r>
          </a:p>
        </p:txBody>
      </p:sp>
    </p:spTree>
    <p:extLst>
      <p:ext uri="{BB962C8B-B14F-4D97-AF65-F5344CB8AC3E}">
        <ns3:creationId val="1593471848"/>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A false positive and its cost">
    <p:bg>
      <p:bgPr>
        <a:solidFill>
          <a:srgbClr val="FFFFFF"/>
        </a:solidFill>
      </p:bgPr>
    </p:bg>
    <p:spTree>
      <p:nvGrpSpPr>
        <p:cNvPr id="1" name=""/>
        <p:cNvGrpSpPr/>
        <p:nvPr/>
      </p:nvGrpSpPr>
      <p:grpSpPr>
        <a:xfrm/>
      </p:grpSpPr>
      <p:sp>
        <p:nvSpPr>
          <p:cNvPr id="10" name="text-514">
            <a:extLst>
              <a:ext uri="{FF2B5EF4-FFF2-40B4-BE49-F238E27FC236}">
                <ns2:creationId id="{EB66D1BC-6C1C-47CA-9851-DBFC02F0C27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15">
            <a:extLst>
              <a:ext uri="{FF2B5EF4-FFF2-40B4-BE49-F238E27FC236}">
                <ns2:creationId id="{B5B6E5D6-83EA-4565-93B6-BDFBDDD932F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false positive and its cost</a:t>
            </a:r>
          </a:p>
        </p:txBody>
      </p:sp>
      <p:sp>
        <p:nvSpPr>
          <p:cNvPr id="4" name="text-517">
            <a:extLst>
              <a:ext uri="{FF2B5EF4-FFF2-40B4-BE49-F238E27FC236}">
                <ns2:creationId id="{A177D2A8-9B53-4D64-A153-D53C1244CE3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18">
            <a:extLst>
              <a:ext uri="{FF2B5EF4-FFF2-40B4-BE49-F238E27FC236}">
                <ns2:creationId id="{ACC07622-AE21-482E-A9AD-BE786597AA46}"/>
              </a:ext>
            </a:extLst>
          </p:cNvPr>
          <p:cNvSpPr>
            <a:spLocks noGrp="1"/>
          </p:cNvSpPr>
          <p:nvPr/>
        </p:nvSpPr>
        <p:spPr>
          <a:xfrm>
            <a:off x="1285875" y="194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import duplicate creates an apparent mismatch.</a:t>
            </a:r>
          </a:p>
        </p:txBody>
      </p:sp>
      <p:sp>
        <p:nvSpPr>
          <p:cNvPr id="6" name="text-519">
            <a:extLst>
              <a:ext uri="{FF2B5EF4-FFF2-40B4-BE49-F238E27FC236}">
                <ns2:creationId id="{280D38D7-F1CB-4F5F-ADD9-9F3DF22D1EC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20">
            <a:extLst>
              <a:ext uri="{FF2B5EF4-FFF2-40B4-BE49-F238E27FC236}">
                <ns2:creationId id="{1EEEAD95-0059-43B1-9C8F-468DC68B300A}"/>
              </a:ext>
            </a:extLst>
          </p:cNvPr>
          <p:cNvSpPr>
            <a:spLocks noGrp="1"/>
          </p:cNvSpPr>
          <p:nvPr/>
        </p:nvSpPr>
        <p:spPr>
          <a:xfrm>
            <a:off x="1285875" y="321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tax-risk report might escalate it unnecessarily.</a:t>
            </a:r>
          </a:p>
        </p:txBody>
      </p:sp>
      <p:sp>
        <p:nvSpPr>
          <p:cNvPr id="8" name="text-521">
            <a:extLst>
              <a:ext uri="{FF2B5EF4-FFF2-40B4-BE49-F238E27FC236}">
                <ns2:creationId id="{988F16DB-96B2-4C15-9832-19883C824288}"/>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22">
            <a:extLst>
              <a:ext uri="{FF2B5EF4-FFF2-40B4-BE49-F238E27FC236}">
                <ns2:creationId id="{7B5F5C94-788B-430D-87BD-8B340CE7D5E1}"/>
              </a:ext>
            </a:extLst>
          </p:cNvPr>
          <p:cNvSpPr>
            <a:spLocks noGrp="1"/>
          </p:cNvSpPr>
          <p:nvPr/>
        </p:nvSpPr>
        <p:spPr>
          <a:xfrm>
            <a:off x="1285875" y="4483100"/>
            <a:ext cx="10191750"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Review should distinguish data defects from substantive exposure.</a:t>
            </a:r>
          </a:p>
        </p:txBody>
      </p:sp>
      <p:sp>
        <p:nvSpPr>
          <p:cNvPr id="3" name="text-516">
            <a:extLst>
              <a:ext uri="{FF2B5EF4-FFF2-40B4-BE49-F238E27FC236}">
                <ns2:creationId id="{13E6E673-4D4B-4BFD-BEFF-5CA37830AC4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23   OPTIONAL EXPLORATION</a:t>
            </a:r>
          </a:p>
        </p:txBody>
      </p:sp>
    </p:spTree>
    <p:extLst>
      <p:ext uri="{BB962C8B-B14F-4D97-AF65-F5344CB8AC3E}">
        <ns3:creationId val="2057786264"/>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A return-specific requirements list">
    <p:bg>
      <p:bgPr>
        <a:solidFill>
          <a:srgbClr val="FFFFFF"/>
        </a:solidFill>
      </p:bgPr>
    </p:bg>
    <p:spTree>
      <p:nvGrpSpPr>
        <p:cNvPr id="1" name=""/>
        <p:cNvGrpSpPr/>
        <p:nvPr/>
      </p:nvGrpSpPr>
      <p:grpSpPr>
        <a:xfrm/>
      </p:grpSpPr>
      <p:sp>
        <p:nvSpPr>
          <p:cNvPr id="12" name="text-523">
            <a:extLst>
              <a:ext uri="{FF2B5EF4-FFF2-40B4-BE49-F238E27FC236}">
                <ns2:creationId id="{466B0CB7-DB4B-4C05-8429-9BE66B9FC04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24">
            <a:extLst>
              <a:ext uri="{FF2B5EF4-FFF2-40B4-BE49-F238E27FC236}">
                <ns2:creationId id="{C8047538-00B9-4B7F-8A6B-DDE1A1DAD66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return-specific requirements list</a:t>
            </a:r>
          </a:p>
        </p:txBody>
      </p:sp>
      <p:sp>
        <p:nvSpPr>
          <p:cNvPr id="4" name="text-526">
            <a:extLst>
              <a:ext uri="{FF2B5EF4-FFF2-40B4-BE49-F238E27FC236}">
                <ns2:creationId id="{FD0D4218-EF06-4ABA-8909-55CB30CE16D7}"/>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27">
            <a:extLst>
              <a:ext uri="{FF2B5EF4-FFF2-40B4-BE49-F238E27FC236}">
                <ns2:creationId id="{CD34112D-45F0-4E3C-A152-B0C74F41342F}"/>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Taxpayer and return type</a:t>
            </a:r>
          </a:p>
        </p:txBody>
      </p:sp>
      <p:sp>
        <p:nvSpPr>
          <p:cNvPr id="6" name="text-528">
            <a:extLst>
              <a:ext uri="{FF2B5EF4-FFF2-40B4-BE49-F238E27FC236}">
                <ns2:creationId id="{53F12E24-29BB-4F5E-8D7D-0E270EB56C0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29">
            <a:extLst>
              <a:ext uri="{FF2B5EF4-FFF2-40B4-BE49-F238E27FC236}">
                <ns2:creationId id="{E8F52626-A5EC-4876-A353-A8777720C256}"/>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Period and applicable rules</a:t>
            </a:r>
          </a:p>
        </p:txBody>
      </p:sp>
      <p:sp>
        <p:nvSpPr>
          <p:cNvPr id="8" name="text-530">
            <a:extLst>
              <a:ext uri="{FF2B5EF4-FFF2-40B4-BE49-F238E27FC236}">
                <ns2:creationId id="{56A48095-B4D7-41EF-8FF2-EE768DF5275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31">
            <a:extLst>
              <a:ext uri="{FF2B5EF4-FFF2-40B4-BE49-F238E27FC236}">
                <ns2:creationId id="{270C47BF-76F9-4FAF-9E57-6A91CDBEE793}"/>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Required schedules and supporting evidence</a:t>
            </a:r>
          </a:p>
        </p:txBody>
      </p:sp>
      <p:sp>
        <p:nvSpPr>
          <p:cNvPr id="10" name="text-532">
            <a:extLst>
              <a:ext uri="{FF2B5EF4-FFF2-40B4-BE49-F238E27FC236}">
                <ns2:creationId id="{D72AFB37-9889-43CE-9355-652224DA2736}"/>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33">
            <a:extLst>
              <a:ext uri="{FF2B5EF4-FFF2-40B4-BE49-F238E27FC236}">
                <ns2:creationId id="{AC4A8BEA-D2E0-475D-9537-BD3C450E3CC4}"/>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Current template or supported interface</a:t>
            </a:r>
          </a:p>
        </p:txBody>
      </p:sp>
      <p:sp>
        <p:nvSpPr>
          <p:cNvPr id="3" name="text-525">
            <a:extLst>
              <a:ext uri="{FF2B5EF4-FFF2-40B4-BE49-F238E27FC236}">
                <ns2:creationId id="{6D909B72-A852-4699-B3DD-36EF56A2DBC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24   OPTIONAL EXPLORATION</a:t>
            </a:r>
          </a:p>
        </p:txBody>
      </p:sp>
    </p:spTree>
    <p:extLst>
      <p:ext uri="{BB962C8B-B14F-4D97-AF65-F5344CB8AC3E}">
        <ns3:creationId val="1905967530"/>
      </p:ext>
    </p:extLst>
  </p:cSld>
  <p:transition spd="med" advClick="1">
    <p:fade/>
  </p:transition>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name="Traceability of a proposed field">
    <p:bg>
      <p:bgPr>
        <a:solidFill>
          <a:srgbClr val="FFFFFF"/>
        </a:solidFill>
      </p:bgPr>
    </p:bg>
    <p:spTree>
      <p:nvGrpSpPr>
        <p:cNvPr id="1" name=""/>
        <p:cNvGrpSpPr/>
        <p:nvPr/>
      </p:nvGrpSpPr>
      <p:grpSpPr>
        <a:xfrm/>
      </p:grpSpPr>
      <p:sp>
        <p:nvSpPr>
          <p:cNvPr id="5" name="text-534">
            <a:extLst>
              <a:ext uri="{FF2B5EF4-FFF2-40B4-BE49-F238E27FC236}">
                <ns2:creationId id="{0D4AEB69-6032-4345-889D-2B3ABEBF7A8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35">
            <a:extLst>
              <a:ext uri="{FF2B5EF4-FFF2-40B4-BE49-F238E27FC236}">
                <ns2:creationId id="{73FA3BA4-B34C-40A9-97EA-7FA8D8C1E2F4}"/>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Traceability of a proposed field</a:t>
            </a:r>
          </a:p>
        </p:txBody>
      </p:sp>
      <p:graphicFrame>
        <p:nvGraphicFramePr>
          <p:cNvPr id="4" name="">
            <a:extLst>
              <a:ext uri="{FF2B5EF4-FFF2-40B4-BE49-F238E27FC236}">
                <ns2:creationId id="{873AD20A-08E2-4B75-AFEC-D831E370BBE4}"/>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Proposed item</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Status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Net teaching sales: 98 million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Unique invoices and credit note</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Reconciled in class</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Tax treatment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Applicable law and facts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Requires professional review</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Taxpayer identifier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Verified taxpayer record</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Not supplied in class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536">
            <a:extLst>
              <a:ext uri="{FF2B5EF4-FFF2-40B4-BE49-F238E27FC236}">
                <ns2:creationId id="{C9AD9FB3-FEAA-4272-A02D-96243282743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25   OPTIONAL EXPLORATION</a:t>
            </a:r>
          </a:p>
        </p:txBody>
      </p:sp>
    </p:spTree>
    <p:extLst>
      <p:ext uri="{BB962C8B-B14F-4D97-AF65-F5344CB8AC3E}">
        <ns3:creationId val="2094066670"/>
      </p:ext>
    </p:extLst>
  </p:cSld>
  <p:transition spd="med" advClick="1">
    <p:fade/>
  </p:transition>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name="Validation before action">
    <p:bg>
      <p:bgPr>
        <a:solidFill>
          <a:srgbClr val="FFFFFF"/>
        </a:solidFill>
      </p:bgPr>
    </p:bg>
    <p:spTree>
      <p:nvGrpSpPr>
        <p:cNvPr id="1" name=""/>
        <p:cNvGrpSpPr/>
        <p:nvPr/>
      </p:nvGrpSpPr>
      <p:grpSpPr>
        <a:xfrm/>
      </p:grpSpPr>
      <p:sp>
        <p:nvSpPr>
          <p:cNvPr id="12" name="text-537">
            <a:extLst>
              <a:ext uri="{FF2B5EF4-FFF2-40B4-BE49-F238E27FC236}">
                <ns2:creationId id="{8A949008-7749-4602-9CEA-FE3100A0843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38">
            <a:extLst>
              <a:ext uri="{FF2B5EF4-FFF2-40B4-BE49-F238E27FC236}">
                <ns2:creationId id="{24259214-6D74-4894-8455-CC5C29AC084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Validation before action</a:t>
            </a:r>
          </a:p>
        </p:txBody>
      </p:sp>
      <p:sp>
        <p:nvSpPr>
          <p:cNvPr id="4" name="text-540">
            <a:extLst>
              <a:ext uri="{FF2B5EF4-FFF2-40B4-BE49-F238E27FC236}">
                <ns2:creationId id="{816AFB93-91D5-4CFF-8437-79A337EF29C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41">
            <a:extLst>
              <a:ext uri="{FF2B5EF4-FFF2-40B4-BE49-F238E27FC236}">
                <ns2:creationId id="{FDBA358E-851C-4CC8-A667-1EA3727CA5E1}"/>
              </a:ext>
            </a:extLst>
          </p:cNvPr>
          <p:cNvSpPr>
            <a:spLocks noGrp="1"/>
          </p:cNvSpPr>
          <p:nvPr/>
        </p:nvSpPr>
        <p:spPr>
          <a:xfrm>
            <a:off x="1285875" y="1943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mandatory fields and allowed formats.</a:t>
            </a:r>
          </a:p>
        </p:txBody>
      </p:sp>
      <p:sp>
        <p:nvSpPr>
          <p:cNvPr id="6" name="text-542">
            <a:extLst>
              <a:ext uri="{FF2B5EF4-FFF2-40B4-BE49-F238E27FC236}">
                <ns2:creationId id="{D850B92A-D111-4193-A4CB-F814A49BC06D}"/>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43">
            <a:extLst>
              <a:ext uri="{FF2B5EF4-FFF2-40B4-BE49-F238E27FC236}">
                <ns2:creationId id="{9E5CF73C-DF60-4D0A-B685-1B2834D7D776}"/>
              </a:ext>
            </a:extLst>
          </p:cNvPr>
          <p:cNvSpPr>
            <a:spLocks noGrp="1"/>
          </p:cNvSpPr>
          <p:nvPr/>
        </p:nvSpPr>
        <p:spPr>
          <a:xfrm>
            <a:off x="1285875" y="2895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Recalculate totals and reconcile sources.</a:t>
            </a:r>
          </a:p>
        </p:txBody>
      </p:sp>
      <p:sp>
        <p:nvSpPr>
          <p:cNvPr id="8" name="text-544">
            <a:extLst>
              <a:ext uri="{FF2B5EF4-FFF2-40B4-BE49-F238E27FC236}">
                <ns2:creationId id="{4CFB554D-17E2-41EF-AA2C-B3EF825B295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45">
            <a:extLst>
              <a:ext uri="{FF2B5EF4-FFF2-40B4-BE49-F238E27FC236}">
                <ns2:creationId id="{97C9B7C1-DF78-42AE-8F83-7CE9E0056E47}"/>
              </a:ext>
            </a:extLst>
          </p:cNvPr>
          <p:cNvSpPr>
            <a:spLocks noGrp="1"/>
          </p:cNvSpPr>
          <p:nvPr/>
        </p:nvSpPr>
        <p:spPr>
          <a:xfrm>
            <a:off x="1285875" y="38481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period, taxpayer and version.</a:t>
            </a:r>
          </a:p>
        </p:txBody>
      </p:sp>
      <p:sp>
        <p:nvSpPr>
          <p:cNvPr id="10" name="text-546">
            <a:extLst>
              <a:ext uri="{FF2B5EF4-FFF2-40B4-BE49-F238E27FC236}">
                <ns2:creationId id="{27D0770D-F763-4050-9423-AFC0B8C0B72D}"/>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47">
            <a:extLst>
              <a:ext uri="{FF2B5EF4-FFF2-40B4-BE49-F238E27FC236}">
                <ns2:creationId id="{9F197C41-989C-4F71-991A-675B6B7C0B02}"/>
              </a:ext>
            </a:extLst>
          </p:cNvPr>
          <p:cNvSpPr>
            <a:spLocks noGrp="1"/>
          </p:cNvSpPr>
          <p:nvPr/>
        </p:nvSpPr>
        <p:spPr>
          <a:xfrm>
            <a:off x="1285875" y="4800600"/>
            <a:ext cx="10191750"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unresolved treatment or missing evidence.</a:t>
            </a:r>
          </a:p>
        </p:txBody>
      </p:sp>
      <p:sp>
        <p:nvSpPr>
          <p:cNvPr id="3" name="text-539">
            <a:extLst>
              <a:ext uri="{FF2B5EF4-FFF2-40B4-BE49-F238E27FC236}">
                <ns2:creationId id="{F2ED7F33-1184-4404-9D9E-67E7989601A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26   OPTIONAL EXPLORATION</a:t>
            </a:r>
          </a:p>
        </p:txBody>
      </p:sp>
    </p:spTree>
    <p:extLst>
      <p:ext uri="{BB962C8B-B14F-4D97-AF65-F5344CB8AC3E}">
        <ns3:creationId val="403595562"/>
      </p:ext>
    </p:extLst>
  </p:cSld>
  <p:transition spd="med" advClick="1">
    <p:fade/>
  </p:transition>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p:cSld name="API and browser interaction">
    <p:bg>
      <p:bgPr>
        <a:solidFill>
          <a:srgbClr val="FFFFFF"/>
        </a:solidFill>
      </p:bgPr>
    </p:bg>
    <p:spTree>
      <p:nvGrpSpPr>
        <p:cNvPr id="1" name=""/>
        <p:cNvGrpSpPr/>
        <p:nvPr/>
      </p:nvGrpSpPr>
      <p:grpSpPr>
        <a:xfrm/>
      </p:grpSpPr>
      <p:sp>
        <p:nvSpPr>
          <p:cNvPr id="8" name="text-548">
            <a:extLst>
              <a:ext uri="{FF2B5EF4-FFF2-40B4-BE49-F238E27FC236}">
                <ns2:creationId id="{E725F125-AADE-41C2-82D4-41D381EF1D8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49">
            <a:extLst>
              <a:ext uri="{FF2B5EF4-FFF2-40B4-BE49-F238E27FC236}">
                <ns2:creationId id="{4D941A6B-36CF-4518-81D0-327585F17FB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API and browser interaction</a:t>
            </a:r>
          </a:p>
        </p:txBody>
      </p:sp>
      <p:sp>
        <p:nvSpPr>
          <p:cNvPr id="4" name="text-551">
            <a:extLst>
              <a:ext uri="{FF2B5EF4-FFF2-40B4-BE49-F238E27FC236}">
                <ns2:creationId id="{04E0FBB0-903C-45E9-9DB4-3D8E68382895}"/>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Supported API</a:t>
            </a:r>
          </a:p>
        </p:txBody>
      </p:sp>
      <p:sp>
        <p:nvSpPr>
          <p:cNvPr id="5" name="text-552">
            <a:extLst>
              <a:ext uri="{FF2B5EF4-FFF2-40B4-BE49-F238E27FC236}">
                <ns2:creationId id="{3917A12A-11B0-42A6-9F41-4F9AEFAC28BF}"/>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 documented software request and response with defined operations.</a:t>
            </a:r>
          </a:p>
        </p:txBody>
      </p:sp>
      <p:sp>
        <p:nvSpPr>
          <p:cNvPr id="6" name="text-553">
            <a:extLst>
              <a:ext uri="{FF2B5EF4-FFF2-40B4-BE49-F238E27FC236}">
                <ns2:creationId id="{AB8EA350-804E-46D6-8731-78D0162E2438}"/>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Browser or RPA</a:t>
            </a:r>
          </a:p>
        </p:txBody>
      </p:sp>
      <p:sp>
        <p:nvSpPr>
          <p:cNvPr id="7" name="text-554">
            <a:extLst>
              <a:ext uri="{FF2B5EF4-FFF2-40B4-BE49-F238E27FC236}">
                <ns2:creationId id="{9E307FA9-B82E-41C0-96C6-D55CC294B55F}"/>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Interaction with screens that can change and require observation.</a:t>
            </a:r>
          </a:p>
        </p:txBody>
      </p:sp>
      <p:sp>
        <p:nvSpPr>
          <p:cNvPr id="3" name="text-550">
            <a:extLst>
              <a:ext uri="{FF2B5EF4-FFF2-40B4-BE49-F238E27FC236}">
                <ns2:creationId id="{C55C4288-E21A-49E8-AF7F-68FF50507B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27   OPTIONAL EXPLORATION</a:t>
            </a:r>
          </a:p>
        </p:txBody>
      </p:sp>
    </p:spTree>
    <p:extLst>
      <p:ext uri="{BB962C8B-B14F-4D97-AF65-F5344CB8AC3E}">
        <ns3:creationId val="1681059329"/>
      </p:ext>
    </p:extLst>
  </p:cSld>
  <p:transition spd="med" advClick="1">
    <p:fade/>
  </p:transition>
</p:sld>
</file>

<file path=ppt/slides/slide28.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Human approval of the exact action">
    <p:bg>
      <p:bgPr>
        <a:solidFill>
          <a:srgbClr val="FFFFFF"/>
        </a:solidFill>
      </p:bgPr>
    </p:bg>
    <p:spTree>
      <p:nvGrpSpPr>
        <p:cNvPr id="1" name=""/>
        <p:cNvGrpSpPr/>
        <p:nvPr/>
      </p:nvGrpSpPr>
      <p:grpSpPr>
        <a:xfrm/>
      </p:grpSpPr>
      <p:cxnSp>
        <p:nvCxnSpPr>
          <p:cNvPr id="17" name="reveal-04-decision-route" descr="Human approval of the exact action">
            <a:extLst>
              <a:ext uri="{FF2B5EF4-FFF2-40B4-BE49-F238E27FC236}">
                <ns2:creationId id="{57275E83-8C23-4746-BD63-DE385946FEC4}"/>
              </a:ext>
            </a:extLst>
          </p:cNvPr>
          <p:cNvCxnSpPr>
            <a:stCxn id="7" idx="2"/>
            <a:endCxn id="13" idx="0"/>
          </p:cNvCxnSpPr>
          <p:nvPr/>
        </p:nvCxnSpPr>
        <p:spPr>
          <a:xfrm>
            <a:off x="5619750" y="3952875"/>
            <a:ext cx="0" cy="723900"/>
          </a:xfrm>
          <a:prstGeom prst="straightConnector1">
            <a:avLst/>
          </a:prstGeom>
          <a:ln w="23813">
            <a:solidFill>
              <a:srgbClr val="246E63"/>
            </a:solidFill>
            <a:tailEnd type="arrow" w="med" len="med"/>
          </a:ln>
        </p:spPr>
      </p:cxnSp>
      <p:cxnSp>
        <p:nvCxnSpPr>
          <p:cNvPr id="16" name="reveal-03-decision-route">
            <a:extLst>
              <a:ext uri="{FF2B5EF4-FFF2-40B4-BE49-F238E27FC236}">
                <ns2:creationId id="{42EE6028-13CA-4B47-BEF6-5DADEEBF7EF7}"/>
              </a:ext>
              <a:ext uri="{C183D7F6-B498-43B3-948B-1728B52AA6E4}">
                <ns3:decorative val="1"/>
              </a:ext>
            </a:extLst>
          </p:cNvPr>
          <p:cNvCxnSpPr>
            <a:stCxn id="7" idx="3"/>
            <a:endCxn id="10" idx="1"/>
          </p:cNvCxnSpPr>
          <p:nvPr/>
        </p:nvCxnSpPr>
        <p:spPr>
          <a:xfrm>
            <a:off x="7143750" y="3200400"/>
            <a:ext cx="952500" cy="0"/>
          </a:xfrm>
          <a:prstGeom prst="straightConnector1">
            <a:avLst/>
          </a:prstGeom>
          <a:ln w="23813">
            <a:solidFill>
              <a:srgbClr val="246E63"/>
            </a:solidFill>
            <a:tailEnd type="arrow" w="med" len="med"/>
          </a:ln>
        </p:spPr>
      </p:cxnSp>
      <p:cxnSp>
        <p:nvCxnSpPr>
          <p:cNvPr id="15" name="reveal-02-decision-route">
            <a:extLst>
              <a:ext uri="{FF2B5EF4-FFF2-40B4-BE49-F238E27FC236}">
                <ns2:creationId id="{231409BD-1AA2-495F-87D7-A0AA269F02F3}"/>
              </a:ext>
              <a:ext uri="{C183D7F6-B498-43B3-948B-1728B52AA6E4}">
                <ns3:decorative val="1"/>
              </a:ext>
            </a:extLst>
          </p:cNvPr>
          <p:cNvCxnSpPr>
            <a:stCxn id="4" idx="3"/>
            <a:endCxn id="7" idx="1"/>
          </p:cNvCxnSpPr>
          <p:nvPr/>
        </p:nvCxnSpPr>
        <p:spPr>
          <a:xfrm>
            <a:off x="3143250" y="3200400"/>
            <a:ext cx="952500" cy="0"/>
          </a:xfrm>
          <a:prstGeom prst="straightConnector1">
            <a:avLst/>
          </a:prstGeom>
          <a:ln w="23813">
            <a:solidFill>
              <a:srgbClr val="246E63"/>
            </a:solidFill>
            <a:tailEnd type="arrow" w="med" len="med"/>
          </a:ln>
        </p:spPr>
      </p:cxnSp>
      <p:sp>
        <p:nvSpPr>
          <p:cNvPr id="21" name="text-555">
            <a:extLst>
              <a:ext uri="{FF2B5EF4-FFF2-40B4-BE49-F238E27FC236}">
                <ns2:creationId id="{F74D914B-6799-4BC8-81E0-08CD660E615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10</a:t>
            </a:r>
          </a:p>
        </p:txBody>
      </p:sp>
      <p:sp>
        <p:nvSpPr>
          <p:cNvPr id="2" name="text-556">
            <a:extLst>
              <a:ext uri="{FF2B5EF4-FFF2-40B4-BE49-F238E27FC236}">
                <ns2:creationId id="{2F65C44A-28F0-446C-953C-C8E2F2C6852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Human approval of the exact action</a:t>
            </a:r>
          </a:p>
        </p:txBody>
      </p:sp>
      <p:sp>
        <p:nvSpPr>
          <p:cNvPr id="4" name="reveal-01-draft">
            <a:extLst>
              <a:ext uri="{FF2B5EF4-FFF2-40B4-BE49-F238E27FC236}">
                <ns2:creationId id="{99A27698-D9DF-49A5-B517-0BE3533A9155}"/>
              </a:ext>
              <a:ext uri="{C183D7F6-B498-43B3-948B-1728B52AA6E4}">
                <ns3:decorative val="1"/>
              </a:ext>
            </a:extLst>
          </p:cNvPr>
          <p:cNvSpPr>
            <a:spLocks noGrp="1"/>
          </p:cNvSpPr>
          <p:nvPr/>
        </p:nvSpPr>
        <p:spPr>
          <a:xfrm>
            <a:off x="619125" y="2447925"/>
            <a:ext cx="2524125" cy="1504950"/>
          </a:xfrm>
          <a:prstGeom prst="rect">
            <a:avLst/>
          </a:prstGeom>
          <a:solidFill>
            <a:srgbClr val="F1F5F6"/>
          </a:solidFill>
          <a:ln w="11430">
            <a:solidFill>
              <a:srgbClr val="C9D5DA"/>
            </a:solidFill>
          </a:ln>
        </p:spPr>
      </p:sp>
      <p:sp>
        <p:nvSpPr>
          <p:cNvPr id="5" name="reveal-01-draft-label">
            <a:extLst>
              <a:ext uri="{FF2B5EF4-FFF2-40B4-BE49-F238E27FC236}">
                <ns2:creationId id="{22BAF2C8-B97F-4B11-AF1A-560EFFA8A01F}"/>
              </a:ext>
            </a:extLst>
          </p:cNvPr>
          <p:cNvSpPr>
            <a:spLocks noGrp="1"/>
          </p:cNvSpPr>
          <p:nvPr/>
        </p:nvSpPr>
        <p:spPr>
          <a:xfrm>
            <a:off x="781050" y="2600325"/>
            <a:ext cx="2200275" cy="6953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Draft and evidence</a:t>
            </a:r>
          </a:p>
        </p:txBody>
      </p:sp>
      <p:sp>
        <p:nvSpPr>
          <p:cNvPr id="6" name="reveal-01-draft-detail">
            <a:extLst>
              <a:ext uri="{FF2B5EF4-FFF2-40B4-BE49-F238E27FC236}">
                <ns2:creationId id="{DB18442A-33EF-4AD5-AE0F-A86B467973C5}"/>
              </a:ext>
            </a:extLst>
          </p:cNvPr>
          <p:cNvSpPr>
            <a:spLocks noGrp="1"/>
          </p:cNvSpPr>
          <p:nvPr/>
        </p:nvSpPr>
        <p:spPr>
          <a:xfrm>
            <a:off x="781050" y="3438525"/>
            <a:ext cx="2200275" cy="409575"/>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Exact version</a:t>
            </a:r>
          </a:p>
        </p:txBody>
      </p:sp>
      <p:sp>
        <p:nvSpPr>
          <p:cNvPr id="7" name="reveal-02-review">
            <a:extLst>
              <a:ext uri="{FF2B5EF4-FFF2-40B4-BE49-F238E27FC236}">
                <ns2:creationId id="{2C0C75D4-2E58-47FF-9C4D-AE49FCE81E3E}"/>
              </a:ext>
              <a:ext uri="{C183D7F6-B498-43B3-948B-1728B52AA6E4}">
                <ns3:decorative val="1"/>
              </a:ext>
            </a:extLst>
          </p:cNvPr>
          <p:cNvSpPr>
            <a:spLocks noGrp="1"/>
          </p:cNvSpPr>
          <p:nvPr/>
        </p:nvSpPr>
        <p:spPr>
          <a:xfrm>
            <a:off x="4095750" y="2447925"/>
            <a:ext cx="3048000" cy="1504950"/>
          </a:xfrm>
          <a:prstGeom prst="rect">
            <a:avLst/>
          </a:prstGeom>
          <a:solidFill>
            <a:srgbClr val="E9F3F0"/>
          </a:solidFill>
          <a:ln w="11430">
            <a:solidFill>
              <a:srgbClr val="C9D5DA"/>
            </a:solidFill>
          </a:ln>
        </p:spPr>
      </p:sp>
      <p:sp>
        <p:nvSpPr>
          <p:cNvPr id="8" name="reveal-02-review-label">
            <a:extLst>
              <a:ext uri="{FF2B5EF4-FFF2-40B4-BE49-F238E27FC236}">
                <ns2:creationId id="{83862C7E-3719-472C-916C-E1FC28D60F68}"/>
              </a:ext>
            </a:extLst>
          </p:cNvPr>
          <p:cNvSpPr>
            <a:spLocks noGrp="1"/>
          </p:cNvSpPr>
          <p:nvPr/>
        </p:nvSpPr>
        <p:spPr>
          <a:xfrm>
            <a:off x="4267200" y="2600325"/>
            <a:ext cx="2705100" cy="695325"/>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Reviewer decision</a:t>
            </a:r>
          </a:p>
        </p:txBody>
      </p:sp>
      <p:sp>
        <p:nvSpPr>
          <p:cNvPr id="9" name="reveal-02-review-detail">
            <a:extLst>
              <a:ext uri="{FF2B5EF4-FFF2-40B4-BE49-F238E27FC236}">
                <ns2:creationId id="{D161E731-776D-4DF0-9170-43752F967AEE}"/>
              </a:ext>
            </a:extLst>
          </p:cNvPr>
          <p:cNvSpPr>
            <a:spLocks noGrp="1"/>
          </p:cNvSpPr>
          <p:nvPr/>
        </p:nvSpPr>
        <p:spPr>
          <a:xfrm>
            <a:off x="4267200" y="3438525"/>
            <a:ext cx="2705100" cy="409575"/>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Check and decide</a:t>
            </a:r>
          </a:p>
        </p:txBody>
      </p:sp>
      <p:sp>
        <p:nvSpPr>
          <p:cNvPr id="10" name="reveal-03-continue">
            <a:extLst>
              <a:ext uri="{FF2B5EF4-FFF2-40B4-BE49-F238E27FC236}">
                <ns2:creationId id="{21721C97-18DE-4CDB-8994-61201CDA3B2E}"/>
              </a:ext>
              <a:ext uri="{C183D7F6-B498-43B3-948B-1728B52AA6E4}">
                <ns3:decorative val="1"/>
              </a:ext>
            </a:extLst>
          </p:cNvPr>
          <p:cNvSpPr>
            <a:spLocks noGrp="1"/>
          </p:cNvSpPr>
          <p:nvPr/>
        </p:nvSpPr>
        <p:spPr>
          <a:xfrm>
            <a:off x="8096250" y="2447925"/>
            <a:ext cx="3476625" cy="1504950"/>
          </a:xfrm>
          <a:prstGeom prst="rect">
            <a:avLst/>
          </a:prstGeom>
          <a:solidFill>
            <a:srgbClr val="F1F5F6"/>
          </a:solidFill>
          <a:ln w="11430">
            <a:solidFill>
              <a:srgbClr val="C9D5DA"/>
            </a:solidFill>
          </a:ln>
        </p:spPr>
      </p:sp>
      <p:sp>
        <p:nvSpPr>
          <p:cNvPr id="11" name="reveal-03-continue-label">
            <a:extLst>
              <a:ext uri="{FF2B5EF4-FFF2-40B4-BE49-F238E27FC236}">
                <ns2:creationId id="{F75B3296-A50E-4FAB-A289-138CC9E9EC35}"/>
              </a:ext>
            </a:extLst>
          </p:cNvPr>
          <p:cNvSpPr>
            <a:spLocks noGrp="1"/>
          </p:cNvSpPr>
          <p:nvPr/>
        </p:nvSpPr>
        <p:spPr>
          <a:xfrm>
            <a:off x="8267700" y="2600325"/>
            <a:ext cx="3133725" cy="619125"/>
          </a:xfrm>
          <a:prstGeom prst="rect">
            <a:avLst/>
          </a:prstGeom>
          <a:noFill/>
          <a:ln w="0">
            <a:noFill/>
          </a:ln>
        </p:spPr>
        <p:txBody>
          <a:bodyPr>
            <a:noAutofit/>
          </a:bodyPr>
          <a:lstStyle>
            <a:defPPr>
              <a:defRPr sz="2250" b="1">
                <a:solidFill>
                  <a:srgbClr val="246E63"/>
                </a:solidFill>
                <a:latin typeface="Calibri"/>
                <a:ea typeface="Calibri"/>
                <a:cs typeface="Calibri"/>
              </a:defRPr>
            </a:defPPr>
            <a:lvl1pPr>
              <a:defRPr sz="2250" b="1">
                <a:solidFill>
                  <a:srgbClr val="246E63"/>
                </a:solidFill>
                <a:latin typeface="Calibri"/>
                <a:ea typeface="Calibri"/>
                <a:cs typeface="Calibri"/>
              </a:defRPr>
            </a:lvl1pPr>
            <a:lvl2pPr>
              <a:defRPr sz="2250" b="1">
                <a:solidFill>
                  <a:srgbClr val="246E63"/>
                </a:solidFill>
                <a:latin typeface="Calibri"/>
                <a:ea typeface="Calibri"/>
                <a:cs typeface="Calibri"/>
              </a:defRPr>
            </a:lvl2pPr>
            <a:lvl3pPr>
              <a:defRPr sz="2250" b="1">
                <a:solidFill>
                  <a:srgbClr val="246E63"/>
                </a:solidFill>
                <a:latin typeface="Calibri"/>
                <a:ea typeface="Calibri"/>
                <a:cs typeface="Calibri"/>
              </a:defRPr>
            </a:lvl3pPr>
            <a:lvl4pPr>
              <a:defRPr sz="2250" b="1">
                <a:solidFill>
                  <a:srgbClr val="246E63"/>
                </a:solidFill>
                <a:latin typeface="Calibri"/>
                <a:ea typeface="Calibri"/>
                <a:cs typeface="Calibri"/>
              </a:defRPr>
            </a:lvl4pPr>
            <a:lvl5pPr>
              <a:defRPr sz="2250" b="1">
                <a:solidFill>
                  <a:srgbClr val="246E63"/>
                </a:solidFill>
                <a:latin typeface="Calibri"/>
                <a:ea typeface="Calibri"/>
                <a:cs typeface="Calibri"/>
              </a:defRPr>
            </a:lvl5pPr>
            <a:lvl6pPr>
              <a:defRPr sz="2250" b="1">
                <a:solidFill>
                  <a:srgbClr val="246E63"/>
                </a:solidFill>
                <a:latin typeface="Calibri"/>
                <a:ea typeface="Calibri"/>
                <a:cs typeface="Calibri"/>
              </a:defRPr>
            </a:lvl6pPr>
            <a:lvl7pPr>
              <a:defRPr sz="2250" b="1">
                <a:solidFill>
                  <a:srgbClr val="246E63"/>
                </a:solidFill>
                <a:latin typeface="Calibri"/>
                <a:ea typeface="Calibri"/>
                <a:cs typeface="Calibri"/>
              </a:defRPr>
            </a:lvl7pPr>
            <a:lvl8pPr>
              <a:defRPr sz="2250" b="1">
                <a:solidFill>
                  <a:srgbClr val="246E63"/>
                </a:solidFill>
                <a:latin typeface="Calibri"/>
                <a:ea typeface="Calibri"/>
                <a:cs typeface="Calibri"/>
              </a:defRPr>
            </a:lvl8pPr>
            <a:lvl9pPr>
              <a:defRPr sz="2250" b="1">
                <a:solidFill>
                  <a:srgbClr val="246E63"/>
                </a:solidFill>
                <a:latin typeface="Calibri"/>
                <a:ea typeface="Calibri"/>
                <a:cs typeface="Calibri"/>
              </a:defRPr>
            </a:lvl9pPr>
          </a:lstStyle>
          <a:p>
            <a:pPr>
              <a:defRPr sz="2250" b="1">
                <a:solidFill>
                  <a:srgbClr val="246E63"/>
                </a:solidFill>
                <a:latin typeface="Calibri"/>
                <a:ea typeface="Calibri"/>
                <a:cs typeface="Calibri"/>
              </a:defRPr>
            </a:pPr>
            <a:r>
              <a:rPr sz="2250" b="1">
                <a:solidFill>
                  <a:srgbClr val="246E63"/>
                </a:solidFill>
                <a:latin typeface="Calibri"/>
                <a:ea typeface="Calibri"/>
                <a:cs typeface="Calibri"/>
              </a:rPr>
              <a:t>Continue</a:t>
            </a:r>
          </a:p>
        </p:txBody>
      </p:sp>
      <p:sp>
        <p:nvSpPr>
          <p:cNvPr id="12" name="reveal-03-continue-detail">
            <a:extLst>
              <a:ext uri="{FF2B5EF4-FFF2-40B4-BE49-F238E27FC236}">
                <ns2:creationId id="{D0241C94-7B58-4D52-A8A0-F51A72069251}"/>
              </a:ext>
            </a:extLst>
          </p:cNvPr>
          <p:cNvSpPr>
            <a:spLocks noGrp="1"/>
          </p:cNvSpPr>
          <p:nvPr/>
        </p:nvSpPr>
        <p:spPr>
          <a:xfrm>
            <a:off x="8267700" y="3314700"/>
            <a:ext cx="3133725" cy="600075"/>
          </a:xfrm>
          <a:prstGeom prst="rect">
            <a:avLst/>
          </a:prstGeom>
          <a:noFill/>
          <a:ln w="0">
            <a:noFill/>
          </a:ln>
        </p:spPr>
        <p:txBody>
          <a:bodyPr>
            <a:noAutofit/>
          </a:bodyPr>
          <a:lstStyle>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a:pPr>
              <a:defRPr sz="2025" b="0">
                <a:solidFill>
                  <a:srgbClr val="1C3144"/>
                </a:solidFill>
                <a:latin typeface="Calibri"/>
                <a:ea typeface="Calibri"/>
                <a:cs typeface="Calibri"/>
              </a:defRPr>
            </a:pPr>
            <a:r>
              <a:rPr sz="2025" b="0">
                <a:solidFill>
                  <a:srgbClr val="1C3144"/>
                </a:solidFill>
                <a:latin typeface="Calibri"/>
                <a:ea typeface="Calibri"/>
                <a:cs typeface="Calibri"/>
              </a:rPr>
              <a:t>Approved local action</a:t>
            </a:r>
          </a:p>
        </p:txBody>
      </p:sp>
      <p:sp>
        <p:nvSpPr>
          <p:cNvPr id="13" name="reveal-04-hold">
            <a:extLst>
              <a:ext uri="{FF2B5EF4-FFF2-40B4-BE49-F238E27FC236}">
                <ns2:creationId id="{BB90AB42-B3E8-4501-B84C-3245474EAE7F}"/>
              </a:ext>
              <a:ext uri="{C183D7F6-B498-43B3-948B-1728B52AA6E4}">
                <ns3:decorative val="1"/>
              </a:ext>
            </a:extLst>
          </p:cNvPr>
          <p:cNvSpPr>
            <a:spLocks noGrp="1"/>
          </p:cNvSpPr>
          <p:nvPr/>
        </p:nvSpPr>
        <p:spPr>
          <a:xfrm>
            <a:off x="4095750" y="4676775"/>
            <a:ext cx="3048000" cy="952500"/>
          </a:xfrm>
          <a:prstGeom prst="rect">
            <a:avLst/>
          </a:prstGeom>
          <a:solidFill>
            <a:srgbClr val="F1F5F6"/>
          </a:solidFill>
          <a:ln w="11430">
            <a:solidFill>
              <a:srgbClr val="C9D5DA"/>
            </a:solidFill>
          </a:ln>
        </p:spPr>
      </p:sp>
      <p:sp>
        <p:nvSpPr>
          <p:cNvPr id="14" name="reveal-04-hold-label">
            <a:extLst>
              <a:ext uri="{FF2B5EF4-FFF2-40B4-BE49-F238E27FC236}">
                <ns2:creationId id="{00C12011-EDA6-4935-81F0-515BBF011F6D}"/>
              </a:ext>
            </a:extLst>
          </p:cNvPr>
          <p:cNvSpPr>
            <a:spLocks noGrp="1"/>
          </p:cNvSpPr>
          <p:nvPr/>
        </p:nvSpPr>
        <p:spPr>
          <a:xfrm>
            <a:off x="4267200" y="4857750"/>
            <a:ext cx="2705100" cy="581025"/>
          </a:xfrm>
          <a:prstGeom prst="rect">
            <a:avLst/>
          </a:prstGeom>
          <a:noFill/>
          <a:ln w="0">
            <a:noFill/>
          </a:ln>
        </p:spPr>
        <p:txBody>
          <a:bodyPr>
            <a:noAutofit/>
          </a:bodyPr>
          <a:lstStyle>
            <a:defPPr>
              <a:defRPr sz="2250" b="1">
                <a:solidFill>
                  <a:srgbClr val="C94E29"/>
                </a:solidFill>
                <a:latin typeface="Calibri"/>
                <a:ea typeface="Calibri"/>
                <a:cs typeface="Calibri"/>
              </a:defRPr>
            </a:defPPr>
            <a:lvl1pPr>
              <a:defRPr sz="2250" b="1">
                <a:solidFill>
                  <a:srgbClr val="C94E29"/>
                </a:solidFill>
                <a:latin typeface="Calibri"/>
                <a:ea typeface="Calibri"/>
                <a:cs typeface="Calibri"/>
              </a:defRPr>
            </a:lvl1pPr>
            <a:lvl2pPr>
              <a:defRPr sz="2250" b="1">
                <a:solidFill>
                  <a:srgbClr val="C94E29"/>
                </a:solidFill>
                <a:latin typeface="Calibri"/>
                <a:ea typeface="Calibri"/>
                <a:cs typeface="Calibri"/>
              </a:defRPr>
            </a:lvl2pPr>
            <a:lvl3pPr>
              <a:defRPr sz="2250" b="1">
                <a:solidFill>
                  <a:srgbClr val="C94E29"/>
                </a:solidFill>
                <a:latin typeface="Calibri"/>
                <a:ea typeface="Calibri"/>
                <a:cs typeface="Calibri"/>
              </a:defRPr>
            </a:lvl3pPr>
            <a:lvl4pPr>
              <a:defRPr sz="2250" b="1">
                <a:solidFill>
                  <a:srgbClr val="C94E29"/>
                </a:solidFill>
                <a:latin typeface="Calibri"/>
                <a:ea typeface="Calibri"/>
                <a:cs typeface="Calibri"/>
              </a:defRPr>
            </a:lvl4pPr>
            <a:lvl5pPr>
              <a:defRPr sz="2250" b="1">
                <a:solidFill>
                  <a:srgbClr val="C94E29"/>
                </a:solidFill>
                <a:latin typeface="Calibri"/>
                <a:ea typeface="Calibri"/>
                <a:cs typeface="Calibri"/>
              </a:defRPr>
            </a:lvl5pPr>
            <a:lvl6pPr>
              <a:defRPr sz="2250" b="1">
                <a:solidFill>
                  <a:srgbClr val="C94E29"/>
                </a:solidFill>
                <a:latin typeface="Calibri"/>
                <a:ea typeface="Calibri"/>
                <a:cs typeface="Calibri"/>
              </a:defRPr>
            </a:lvl6pPr>
            <a:lvl7pPr>
              <a:defRPr sz="2250" b="1">
                <a:solidFill>
                  <a:srgbClr val="C94E29"/>
                </a:solidFill>
                <a:latin typeface="Calibri"/>
                <a:ea typeface="Calibri"/>
                <a:cs typeface="Calibri"/>
              </a:defRPr>
            </a:lvl7pPr>
            <a:lvl8pPr>
              <a:defRPr sz="2250" b="1">
                <a:solidFill>
                  <a:srgbClr val="C94E29"/>
                </a:solidFill>
                <a:latin typeface="Calibri"/>
                <a:ea typeface="Calibri"/>
                <a:cs typeface="Calibri"/>
              </a:defRPr>
            </a:lvl8pPr>
            <a:lvl9pPr>
              <a:defRPr sz="2250" b="1">
                <a:solidFill>
                  <a:srgbClr val="C94E29"/>
                </a:solidFill>
                <a:latin typeface="Calibri"/>
                <a:ea typeface="Calibri"/>
                <a:cs typeface="Calibri"/>
              </a:defRPr>
            </a:lvl9pPr>
          </a:lstStyle>
          <a:p>
            <a:pPr>
              <a:defRPr sz="2250" b="1">
                <a:solidFill>
                  <a:srgbClr val="C94E29"/>
                </a:solidFill>
                <a:latin typeface="Calibri"/>
                <a:ea typeface="Calibri"/>
                <a:cs typeface="Calibri"/>
              </a:defRPr>
            </a:pPr>
            <a:r>
              <a:rPr sz="2250" b="1">
                <a:solidFill>
                  <a:srgbClr val="C94E29"/>
                </a:solidFill>
                <a:latin typeface="Calibri"/>
                <a:ea typeface="Calibri"/>
                <a:cs typeface="Calibri"/>
              </a:rPr>
              <a:t>Hold or revise</a:t>
            </a:r>
          </a:p>
        </p:txBody>
      </p:sp>
      <p:sp>
        <p:nvSpPr>
          <p:cNvPr id="18" name="reveal-03-approve">
            <a:extLst>
              <a:ext uri="{FF2B5EF4-FFF2-40B4-BE49-F238E27FC236}">
                <ns2:creationId id="{6A6386F7-42A0-40DC-8FE6-798E8E6FC2E9}"/>
              </a:ext>
            </a:extLst>
          </p:cNvPr>
          <p:cNvSpPr>
            <a:spLocks noGrp="1"/>
          </p:cNvSpPr>
          <p:nvPr/>
        </p:nvSpPr>
        <p:spPr>
          <a:xfrm>
            <a:off x="7219950" y="2047875"/>
            <a:ext cx="1428750" cy="38100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Approve</a:t>
            </a:r>
          </a:p>
        </p:txBody>
      </p:sp>
      <p:sp>
        <p:nvSpPr>
          <p:cNvPr id="19" name="reveal-04-decline">
            <a:extLst>
              <a:ext uri="{FF2B5EF4-FFF2-40B4-BE49-F238E27FC236}">
                <ns2:creationId id="{6BD9D807-798F-4F68-B5B7-DA8001200C81}"/>
              </a:ext>
            </a:extLst>
          </p:cNvPr>
          <p:cNvSpPr>
            <a:spLocks noGrp="1"/>
          </p:cNvSpPr>
          <p:nvPr/>
        </p:nvSpPr>
        <p:spPr>
          <a:xfrm>
            <a:off x="7315200" y="4552950"/>
            <a:ext cx="4191000" cy="628650"/>
          </a:xfrm>
          <a:prstGeom prst="rect">
            <a:avLst/>
          </a:prstGeom>
          <a:noFill/>
          <a:ln w="0">
            <a:noFill/>
          </a:ln>
        </p:spPr>
        <p:txBody>
          <a:bodyPr>
            <a:noAutofit/>
          </a:bodyPr>
          <a:lstStyle>
            <a:defPPr>
              <a:defRPr sz="1875" b="1">
                <a:solidFill>
                  <a:srgbClr val="C94E29"/>
                </a:solidFill>
                <a:latin typeface="Calibri"/>
                <a:ea typeface="Calibri"/>
                <a:cs typeface="Calibri"/>
              </a:defRPr>
            </a:defPPr>
            <a:lvl1pPr>
              <a:defRPr sz="1875" b="1">
                <a:solidFill>
                  <a:srgbClr val="C94E29"/>
                </a:solidFill>
                <a:latin typeface="Calibri"/>
                <a:ea typeface="Calibri"/>
                <a:cs typeface="Calibri"/>
              </a:defRPr>
            </a:lvl1pPr>
            <a:lvl2pPr>
              <a:defRPr sz="1875" b="1">
                <a:solidFill>
                  <a:srgbClr val="C94E29"/>
                </a:solidFill>
                <a:latin typeface="Calibri"/>
                <a:ea typeface="Calibri"/>
                <a:cs typeface="Calibri"/>
              </a:defRPr>
            </a:lvl2pPr>
            <a:lvl3pPr>
              <a:defRPr sz="1875" b="1">
                <a:solidFill>
                  <a:srgbClr val="C94E29"/>
                </a:solidFill>
                <a:latin typeface="Calibri"/>
                <a:ea typeface="Calibri"/>
                <a:cs typeface="Calibri"/>
              </a:defRPr>
            </a:lvl3pPr>
            <a:lvl4pPr>
              <a:defRPr sz="1875" b="1">
                <a:solidFill>
                  <a:srgbClr val="C94E29"/>
                </a:solidFill>
                <a:latin typeface="Calibri"/>
                <a:ea typeface="Calibri"/>
                <a:cs typeface="Calibri"/>
              </a:defRPr>
            </a:lvl4pPr>
            <a:lvl5pPr>
              <a:defRPr sz="1875" b="1">
                <a:solidFill>
                  <a:srgbClr val="C94E29"/>
                </a:solidFill>
                <a:latin typeface="Calibri"/>
                <a:ea typeface="Calibri"/>
                <a:cs typeface="Calibri"/>
              </a:defRPr>
            </a:lvl5pPr>
            <a:lvl6pPr>
              <a:defRPr sz="1875" b="1">
                <a:solidFill>
                  <a:srgbClr val="C94E29"/>
                </a:solidFill>
                <a:latin typeface="Calibri"/>
                <a:ea typeface="Calibri"/>
                <a:cs typeface="Calibri"/>
              </a:defRPr>
            </a:lvl6pPr>
            <a:lvl7pPr>
              <a:defRPr sz="1875" b="1">
                <a:solidFill>
                  <a:srgbClr val="C94E29"/>
                </a:solidFill>
                <a:latin typeface="Calibri"/>
                <a:ea typeface="Calibri"/>
                <a:cs typeface="Calibri"/>
              </a:defRPr>
            </a:lvl7pPr>
            <a:lvl8pPr>
              <a:defRPr sz="1875" b="1">
                <a:solidFill>
                  <a:srgbClr val="C94E29"/>
                </a:solidFill>
                <a:latin typeface="Calibri"/>
                <a:ea typeface="Calibri"/>
                <a:cs typeface="Calibri"/>
              </a:defRPr>
            </a:lvl8pPr>
            <a:lvl9pPr>
              <a:defRPr sz="1875" b="1">
                <a:solidFill>
                  <a:srgbClr val="C94E29"/>
                </a:solidFill>
                <a:latin typeface="Calibri"/>
                <a:ea typeface="Calibri"/>
                <a:cs typeface="Calibri"/>
              </a:defRPr>
            </a:lvl9pPr>
          </a:lstStyle>
          <a:p>
            <a:pPr>
              <a:defRPr sz="1875" b="1">
                <a:solidFill>
                  <a:srgbClr val="C94E29"/>
                </a:solidFill>
                <a:latin typeface="Calibri"/>
                <a:ea typeface="Calibri"/>
                <a:cs typeface="Calibri"/>
              </a:defRPr>
            </a:pPr>
            <a:r>
              <a:rPr sz="1875" b="1">
                <a:solidFill>
                  <a:srgbClr val="C94E29"/>
                </a:solidFill>
                <a:latin typeface="Calibri"/>
                <a:ea typeface="Calibri"/>
                <a:cs typeface="Calibri"/>
              </a:rPr>
              <a:t>Decline / evidence missing</a:t>
            </a:r>
          </a:p>
        </p:txBody>
      </p:sp>
      <p:sp>
        <p:nvSpPr>
          <p:cNvPr id="20" name="text-561">
            <a:extLst>
              <a:ext uri="{FF2B5EF4-FFF2-40B4-BE49-F238E27FC236}">
                <ns2:creationId id="{98934FAA-B8EC-4F11-95C3-5177D915D51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Approval applies to the reviewed version. A changed field requires a new decision.</a:t>
            </a:r>
          </a:p>
        </p:txBody>
      </p:sp>
      <p:sp>
        <p:nvSpPr>
          <p:cNvPr id="3" name="text-557">
            <a:extLst>
              <a:ext uri="{FF2B5EF4-FFF2-40B4-BE49-F238E27FC236}">
                <ns2:creationId id="{603CCCE3-2BC1-45E6-9EC1-018CB48FE96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10   28   OPTIONAL EXPLORATION</a:t>
            </a:r>
          </a:p>
        </p:txBody>
      </p:sp>
    </p:spTree>
    <p:extLst>
      <p:ext uri="{BB962C8B-B14F-4D97-AF65-F5344CB8AC3E}">
        <ns4:creationId val="90945857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300"/>
                                        <p:tgtEl>
                                          <p:spTgt spid="15"/>
                                        </p:tgtEl>
                                      </p:cBhvr>
                                    </p:animEffect>
                                  </p:childTnLst>
                                </p:cTn>
                              </p:par>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00"/>
                                        <p:tgtEl>
                                          <p:spTgt spid="16"/>
                                        </p:tgtEl>
                                      </p:cBhvr>
                                    </p:animEffect>
                                  </p:childTnLst>
                                </p:cTn>
                              </p:par>
                              <p:par>
                                <p:cTn id="33" presetID="10"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par>
                                <p:cTn id="36" presetID="10"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00"/>
                                        <p:tgtEl>
                                          <p:spTgt spid="1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300"/>
                                        <p:tgtEl>
                                          <p:spTgt spid="17"/>
                                        </p:tgtEl>
                                      </p:cBhvr>
                                    </p:animEffect>
                                  </p:childTnLst>
                                </p:cTn>
                              </p:par>
                              <p:par>
                                <p:cTn id="50" presetID="10"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300"/>
                                        <p:tgtEl>
                                          <p:spTgt spid="13"/>
                                        </p:tgtEl>
                                      </p:cBhvr>
                                    </p:animEffect>
                                  </p:childTnLst>
                                </p:cTn>
                              </p:par>
                              <p:par>
                                <p:cTn id="53" presetID="10"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300"/>
                                        <p:tgtEl>
                                          <p:spTgt spid="14"/>
                                        </p:tgtEl>
                                      </p:cBhvr>
                                    </p:animEffect>
                                  </p:childTnLst>
                                </p:cTn>
                              </p:par>
                              <p:par>
                                <p:cTn id="56" presetID="10" presetClass="entr" presetSubtype="0"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2026-10-26T10:22:17.4840000Z</dcterms:created>
  <dcterms:modified xsi:type="dcterms:W3CDTF">2026-10-26T10:22:17.4840000Z</dcterms:modified>
</coreProperties>
</file>