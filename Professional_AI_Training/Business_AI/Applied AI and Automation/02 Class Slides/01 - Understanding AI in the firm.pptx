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d9dcb028ce24154" Type="http://schemas.openxmlformats.org/package/2006/relationships/metadata/core-properties" Target="docProps/core.xml"/><Relationship Id="R59fbdb1c2c6a41e3" Type="http://schemas.openxmlformats.org/officeDocument/2006/relationships/officeDocument" Target="ppt/presentation.xml"/><Relationship Id="R993b27d55bdd4323"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p:sldMasterIdLst>
    <p:sldMasterId id="2147483648" r:id="R1edf2e09d62445e1"/>
  </p:sldMasterIdLst>
  <p:notesMasterIdLst>
    <p:notesMasterId r:id="Re92f6a659b144e9f"/>
  </p:notesMasterIdLst>
  <p:sldIdLst>
    <p:sldId id="256" r:id="R6c4331ff114548d9"/>
    <p:sldId id="257" r:id="R82d46d6a71ee4b08"/>
    <p:sldId id="258" r:id="R1a6d680ed33642ee"/>
    <p:sldId id="259" r:id="R29446f17bfe64901"/>
    <p:sldId id="260" r:id="Raa9a92e401824cb3"/>
    <p:sldId id="261" r:id="R9d844c8a40184d2f"/>
    <p:sldId id="262" r:id="R6ee81be2b9cc4941"/>
    <p:sldId id="263" r:id="R16451aa5351e454f"/>
    <p:sldId id="264" r:id="R236721e2835b4cb0"/>
    <p:sldId id="265" r:id="Re97a21dfd21c455c"/>
    <p:sldId id="266" r:id="R7eb7c6f15ee447d6"/>
    <p:sldId id="267" r:id="Rc903f90181334d65"/>
    <p:sldId id="268" r:id="R502482fd72944c00"/>
    <p:sldId id="269" r:id="R752890ae18ee413c"/>
    <p:sldId id="270" r:id="R3edb11da38734524"/>
    <p:sldId id="271" r:id="Ra6b1102c02d64988"/>
    <p:sldId id="272" r:id="Re2ff3cf4f31b470c"/>
    <p:sldId id="273" r:id="Rfcf472de8d1347a3"/>
    <p:sldId id="274" r:id="R17a2fefb6aa94bbf"/>
    <p:sldId id="275" r:id="R42605440cd974291"/>
    <p:sldId id="276" r:id="Rb6565995e56a4c0b"/>
    <p:sldId id="277" r:id="R5d9a478c66f84b16"/>
  </p:sldIdLst>
  <p:sldSz cx="12192000" cy="6858000"/>
  <p:notesSz cx="6858000" cy="9144000"/>
  <p:custShowLst>
    <p:custShow name="Core teaching" id="1">
      <p:sldLst>
        <p:sld r:id="R6c4331ff114548d9"/>
        <p:sld r:id="R82d46d6a71ee4b08"/>
        <p:sld r:id="R1a6d680ed33642ee"/>
        <p:sld r:id="R29446f17bfe64901"/>
        <p:sld r:id="Raa9a92e401824cb3"/>
        <p:sld r:id="R9d844c8a40184d2f"/>
        <p:sld r:id="R6ee81be2b9cc4941"/>
        <p:sld r:id="R16451aa5351e454f"/>
        <p:sld r:id="R236721e2835b4cb0"/>
        <p:sld r:id="Re97a21dfd21c455c"/>
        <p:sld r:id="R7eb7c6f15ee447d6"/>
        <p:sld r:id="Rc903f90181334d65"/>
        <p:sld r:id="R502482fd72944c00"/>
        <p:sld r:id="R752890ae18ee413c"/>
        <p:sld r:id="R3edb11da38734524"/>
        <p:sld r:id="Ra6b1102c02d64988"/>
        <p:sld r:id="Re2ff3cf4f31b470c"/>
        <p:sld r:id="Rfcf472de8d1347a3"/>
        <p:sld r:id="R17a2fefb6aa94bbf"/>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6451aa5351e454f" Type="http://schemas.openxmlformats.org/officeDocument/2006/relationships/slide" Target="slides/slide8.xml"/><Relationship Id="R17a2fefb6aa94bbf" Type="http://schemas.openxmlformats.org/officeDocument/2006/relationships/slide" Target="slides/slide19.xml"/><Relationship Id="R1a6d680ed33642ee" Type="http://schemas.openxmlformats.org/officeDocument/2006/relationships/slide" Target="slides/slide3.xml"/><Relationship Id="R1edf2e09d62445e1" Type="http://schemas.openxmlformats.org/officeDocument/2006/relationships/slideMaster" Target="slideMasters/slideMaster1.xml"/><Relationship Id="R236721e2835b4cb0" Type="http://schemas.openxmlformats.org/officeDocument/2006/relationships/slide" Target="slides/slide9.xml"/><Relationship Id="R29446f17bfe64901" Type="http://schemas.openxmlformats.org/officeDocument/2006/relationships/slide" Target="slides/slide4.xml"/><Relationship Id="R2e1a2745c0694974" Type="http://schemas.openxmlformats.org/officeDocument/2006/relationships/presProps" Target="presProps.xml"/><Relationship Id="R2f15d2b01ea74848" Type="http://schemas.openxmlformats.org/officeDocument/2006/relationships/tableStyles" Target="tableStyles.xml"/><Relationship Id="R3edb11da38734524" Type="http://schemas.openxmlformats.org/officeDocument/2006/relationships/slide" Target="slides/slide15.xml"/><Relationship Id="R42605440cd974291" Type="http://schemas.openxmlformats.org/officeDocument/2006/relationships/slide" Target="slides/slide20.xml"/><Relationship Id="R502482fd72944c00" Type="http://schemas.openxmlformats.org/officeDocument/2006/relationships/slide" Target="slides/slide13.xml"/><Relationship Id="R5d9a478c66f84b16" Type="http://schemas.openxmlformats.org/officeDocument/2006/relationships/slide" Target="slides/slide22.xml"/><Relationship Id="R6c4331ff114548d9" Type="http://schemas.openxmlformats.org/officeDocument/2006/relationships/slide" Target="slides/slide1.xml"/><Relationship Id="R6ee81be2b9cc4941" Type="http://schemas.openxmlformats.org/officeDocument/2006/relationships/slide" Target="slides/slide7.xml"/><Relationship Id="R752890ae18ee413c" Type="http://schemas.openxmlformats.org/officeDocument/2006/relationships/slide" Target="slides/slide14.xml"/><Relationship Id="R7eb7c6f15ee447d6" Type="http://schemas.openxmlformats.org/officeDocument/2006/relationships/slide" Target="slides/slide11.xml"/><Relationship Id="R82d46d6a71ee4b08" Type="http://schemas.openxmlformats.org/officeDocument/2006/relationships/slide" Target="slides/slide2.xml"/><Relationship Id="R9d844c8a40184d2f" Type="http://schemas.openxmlformats.org/officeDocument/2006/relationships/slide" Target="slides/slide6.xml"/><Relationship Id="Ra49978965340425c" Type="http://schemas.openxmlformats.org/officeDocument/2006/relationships/theme" Target="theme/theme1.xml"/><Relationship Id="Ra6b1102c02d64988" Type="http://schemas.openxmlformats.org/officeDocument/2006/relationships/slide" Target="slides/slide16.xml"/><Relationship Id="Raa9a92e401824cb3" Type="http://schemas.openxmlformats.org/officeDocument/2006/relationships/slide" Target="slides/slide5.xml"/><Relationship Id="Rb6565995e56a4c0b" Type="http://schemas.openxmlformats.org/officeDocument/2006/relationships/slide" Target="slides/slide21.xml"/><Relationship Id="Rc903f90181334d65" Type="http://schemas.openxmlformats.org/officeDocument/2006/relationships/slide" Target="slides/slide12.xml"/><Relationship Id="Re2ff3cf4f31b470c" Type="http://schemas.openxmlformats.org/officeDocument/2006/relationships/slide" Target="slides/slide17.xml"/><Relationship Id="Re92f6a659b144e9f" Type="http://schemas.openxmlformats.org/officeDocument/2006/relationships/notesMaster" Target="notesMasters/notesMaster1.xml"/><Relationship Id="Re97a21dfd21c455c" Type="http://schemas.openxmlformats.org/officeDocument/2006/relationships/slide" Target="slides/slide10.xml"/><Relationship Id="Rfcf472de8d1347a3"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17de8bb28f514eb4"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0e985d5e7fb43ad" Type="http://schemas.openxmlformats.org/officeDocument/2006/relationships/notesMaster" Target="../notesMasters/notesMaster1.xml"/><Relationship Id="R41b2d8e4a023478f"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a2c373c25dc4451b" Type="http://schemas.openxmlformats.org/officeDocument/2006/relationships/slide" Target="../slides/slide2.xml"/><Relationship Id="Rfc98a379e1584579"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05b0411dc4a842bc" Type="http://schemas.openxmlformats.org/officeDocument/2006/relationships/slide" Target="../slides/slide3.xml"/><Relationship Id="R96d68ed461d8457f"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9a7dff4358ec4b4d" Type="http://schemas.openxmlformats.org/officeDocument/2006/relationships/slide" Target="../slides/slide4.xml"/><Relationship Id="Rde350082103a4213"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a0f4039821fe4edf" Type="http://schemas.openxmlformats.org/officeDocument/2006/relationships/slide" Target="../slides/slide5.xml"/><Relationship Id="Rb4bb9074066046f8"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e7b3b7c0582f4c7a" Type="http://schemas.openxmlformats.org/officeDocument/2006/relationships/notesMaster" Target="../notesMasters/notesMaster1.xml"/><Relationship Id="Rfd7813206e794bd7"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d2ea573a28264b49" Type="http://schemas.openxmlformats.org/officeDocument/2006/relationships/slide" Target="../slides/slide7.xml"/><Relationship Id="Rd5986df9c7034948"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8ae33e53d6c40f8" Type="http://schemas.openxmlformats.org/officeDocument/2006/relationships/slide" Target="../slides/slide8.xml"/><Relationship Id="Re99b49b61f5544af"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97bd2b06c7574cd4" Type="http://schemas.openxmlformats.org/officeDocument/2006/relationships/notesMaster" Target="../notesMasters/notesMaster1.xml"/><Relationship Id="Re5482babdca443f6"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36b953fcc5c24055" Type="http://schemas.openxmlformats.org/officeDocument/2006/relationships/slide" Target="../slides/slide10.xml"/><Relationship Id="R89af65d156784495"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4c277a556cae46d5" Type="http://schemas.openxmlformats.org/officeDocument/2006/relationships/slide" Target="../slides/slide11.xml"/><Relationship Id="R64c508dbe1184b9e"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55029a12a6294e5d" Type="http://schemas.openxmlformats.org/officeDocument/2006/relationships/slide" Target="../slides/slide12.xml"/><Relationship Id="R7da5cb0dc5ca487b"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c9285b6a352d4510" Type="http://schemas.openxmlformats.org/officeDocument/2006/relationships/slide" Target="../slides/slide13.xml"/><Relationship Id="Re57df77e8a914e39"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93d6b2c217e44152" Type="http://schemas.openxmlformats.org/officeDocument/2006/relationships/slide" Target="../slides/slide14.xml"/><Relationship Id="Rbaf249ecda16418b"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5965b32296d447c3" Type="http://schemas.openxmlformats.org/officeDocument/2006/relationships/slide" Target="../slides/slide15.xml"/><Relationship Id="R60415379b2914857"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0ef0ed5e60114abb" Type="http://schemas.openxmlformats.org/officeDocument/2006/relationships/slide" Target="../slides/slide16.xml"/><Relationship Id="R6c467a01e4e04b5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48ce96f3b40f4c90" Type="http://schemas.openxmlformats.org/officeDocument/2006/relationships/notesMaster" Target="../notesMasters/notesMaster1.xml"/><Relationship Id="Re0924af462c84393"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667ec12f76c4412e" Type="http://schemas.openxmlformats.org/officeDocument/2006/relationships/notesMaster" Target="../notesMasters/notesMaster1.xml"/><Relationship Id="Rc9ee19a354874d5b"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0eb6071f3fea42a6" Type="http://schemas.openxmlformats.org/officeDocument/2006/relationships/notesMaster" Target="../notesMasters/notesMaster1.xml"/><Relationship Id="Rfd54308542594b65"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5605b55256eb481a" Type="http://schemas.openxmlformats.org/officeDocument/2006/relationships/notesMaster" Target="../notesMasters/notesMaster1.xml"/><Relationship Id="R927aad29ea7442f4"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a8d1725e817e4954" Type="http://schemas.openxmlformats.org/officeDocument/2006/relationships/slide" Target="../slides/slide21.xml"/><Relationship Id="Re1db539df8db4448"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6f5c460384b74375" Type="http://schemas.openxmlformats.org/officeDocument/2006/relationships/notesMaster" Target="../notesMasters/notesMaster1.xml"/><Relationship Id="R836ce8404290402b" Type="http://schemas.openxmlformats.org/officeDocument/2006/relationships/slide" Target="../slides/slide22.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Session 1. For the next two hours we work on one question: which work suits AI, which suits ordinary software, and which stays with professional judgement. In a legal or tax practice that matters, because the wrong tool on the wrong task costs accuracy, time or a client's trust.</a:t>
            </a:r>
          </a:p>
          <a:p xmlns:a="http://schemas.openxmlformats.org/drawingml/2006/main"/>
          <a:p xmlns:a="http://schemas.openxmlformats.org/drawingml/2006/main">
            <a:r>
              <a:t>By the end you'll have picked one real task from your own firm and agreed how we would test it. Everything we use today is fictional: the firm, the clients and the contract.</a:t>
            </a:r>
          </a:p>
          <a:p xmlns:a="http://schemas.openxmlformats.org/drawingml/2006/main"/>
          <a:p xmlns:a="http://schemas.openxmlformats.org/drawingml/2006/main">
            <a:r>
              <a:t>I won't start with slides. I'd like to hear first how you think about AI right now. Name a task you trust AI with today, and a task you would always check. Tell me why for each. Any concrete example works, and your reasons are what I'm after. Take a moment with that.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I explain anything, I'm going to ask you a few spoken questions, one at a time, and I'll write down your reasons as well as your answers. This is the first of them.</a:t>
            </a:r>
          </a:p>
          <a:p xmlns:a="http://schemas.openxmlformats.org/drawingml/2006/main"/>
          <a:p xmlns:a="http://schemas.openxmlformats.org/drawingml/2006/main">
            <a:r>
              <a:t>Name one task you trust AI with today, and one task where you would always check what it gives you. Then tell me why. Give that a little thought.</a:t>
            </a:r>
          </a:p>
          <a:p xmlns:a="http://schemas.openxmlformats.org/drawingml/2006/main"/>
          <a:p xmlns:a="http://schemas.openxmlformats.org/drawingml/2006/main">
            <a:r>
              <a:t>Any concrete example is fine. Say you trust it to tidy an email but you check anything with a figure in it. That already tells me where your line sits, and it becomes our baseline for the day. By the end we want one candidate task from your own firm, so I'll be listening for tasks that could become that.</a:t>
            </a:r>
          </a:p>
          <a:p xmlns:a="http://schemas.openxmlformats.org/drawingml/2006/main"/>
          <a:p xmlns:a="http://schemas.openxmlformats.org/drawingml/2006/main">
            <a:r>
              <a:t>Now let me show you the matter we'll use all 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matter. Kampala Legal and Tax acts for Victoria Services Ltd, the customer and our client. Its service provider is Equator Systems Ltd. Equator has told Victoria that it proposes an internal reorganisation, and Victoria wants to know whether the agreement requires its consent. We don't yet know who owns what after the reorganisation, or whether Equator stays responsible. All of it is fictional.</a:t>
            </a:r>
          </a:p>
          <a:p xmlns:a="http://schemas.openxmlformats.org/drawingml/2006/main"/>
          <a:p xmlns:a="http://schemas.openxmlformats.org/drawingml/2006/main">
            <a:r>
              <a:t>Try this one. If this landed on your desk this morning, what would you ask for first? See what you come up with.</a:t>
            </a:r>
          </a:p>
          <a:p xmlns:a="http://schemas.openxmlformats.org/drawingml/2006/main"/>
          <a:p xmlns:a="http://schemas.openxmlformats.org/drawingml/2006/main">
            <a:r>
              <a:t>Let me give you mine. I'd ask for the signed agreement, the facts of the proposed transaction, the client's instruction, and any records the advice depends on. If your first instinct was to ask what the law says, I'd steer you to what the agreement itself says, because the contract is the first source.</a:t>
            </a:r>
          </a:p>
          <a:p xmlns:a="http://schemas.openxmlformats.org/drawingml/2006/main"/>
          <a:p xmlns:a="http://schemas.openxmlformats.org/drawingml/2006/main">
            <a:r>
              <a:t>Next is the set of documents we'll keep coming back 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folder we work from, and it holds four kinds of material. First, the executed agreement, which we call CONTRACT-01 version 2. Second, the older draft version 1, the firm playbook and the client's instruction. Third, the financial records: sales, credit notes, the ledger and receipts. Fourth, public sources such as legislation, judgments and URA guidance.</a:t>
            </a:r>
          </a:p>
          <a:p xmlns:a="http://schemas.openxmlformats.org/drawingml/2006/main"/>
          <a:p xmlns:a="http://schemas.openxmlformats.org/drawingml/2006/main">
            <a:r>
              <a:t>An AI tool could read all of these in seconds. That doesn't make them equal. The executed agreement is evidence of what the parties agreed. The superseded draft is history. The playbook is the firm's own policy. A judgment is public authority.</a:t>
            </a:r>
          </a:p>
          <a:p xmlns:a="http://schemas.openxmlformats.org/drawingml/2006/main"/>
          <a:p xmlns:a="http://schemas.openxmlformats.org/drawingml/2006/main">
            <a:r>
              <a:t>A question for you. If the draft and the executed agreement disagree, which one answers the client's question, and why? Take your time.</a:t>
            </a:r>
          </a:p>
          <a:p xmlns:a="http://schemas.openxmlformats.org/drawingml/2006/main"/>
          <a:p xmlns:a="http://schemas.openxmlformats.org/drawingml/2006/main">
            <a:r>
              <a:t>The executed version, because it's the one that binds the parties. If you'd said the newest one, I'd ask how you know which is newest.</a:t>
            </a:r>
          </a:p>
          <a:p xmlns:a="http://schemas.openxmlformats.org/drawingml/2006/main"/>
          <a:p xmlns:a="http://schemas.openxmlformats.org/drawingml/2006/main">
            <a:r>
              <a:t>Now we put a name on what these tools 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working definition of an AI system. It's a system that takes inputs and infers how to produce predictions, content, recommendations or decisions for a goal. The word to hold on to is infers. A filing cabinet stores a record and gives it back unchanged. An AI system works out an output from what you give it. Systems also differ in how much they act on their own and how much they adapt. The lower line adds that AI is also the field of study that builds such systems.</a:t>
            </a:r>
          </a:p>
          <a:p xmlns:a="http://schemas.openxmlformats.org/drawingml/2006/main"/>
          <a:p xmlns:a="http://schemas.openxmlformats.org/drawingml/2006/main">
            <a:r>
              <a:t>This paraphrases a published definition from the OECD. It says nothing about how well any product performs.</a:t>
            </a:r>
          </a:p>
          <a:p xmlns:a="http://schemas.openxmlformats.org/drawingml/2006/main"/>
          <a:p xmlns:a="http://schemas.openxmlformats.org/drawingml/2006/main">
            <a:r>
              <a:t>I'd like to hear your thinking on this one. If a vendor tells you its product meets this definition, have you learned that it's reliable? Say it out loud if it helps.</a:t>
            </a:r>
          </a:p>
          <a:p xmlns:a="http://schemas.openxmlformats.org/drawingml/2006/main"/>
          <a:p xmlns:a="http://schemas.openxmlformats.org/drawingml/2006/main">
            <a:r>
              <a:t>Not at all. The definition tells you what kind of thing it is. Reliability comes from testing it on your task. If that feels slippery, try this angle: what test would you run on one firm task?</a:t>
            </a:r>
          </a:p>
          <a:p xmlns:a="http://schemas.openxmlformats.org/drawingml/2006/main"/>
          <a:p xmlns:a="http://schemas.openxmlformats.org/drawingml/2006/main">
            <a:r>
              <a:t>Next we separate the labels people mix 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sorts four terms by what the work is. Data analysis means examining data to answer a question, such as reconciling sales and receipts. You can do that in a spreadsheet with no AI at all. Data science is the wider practice of using computing, statistics and subject knowledge to study data. Machine learning means a program learns patterns from examples, such as predicting which category a document belongs to. Deep learning is machine learning that uses neural networks with many layers. A neural network is a program built from layers of small connected calculations.</a:t>
            </a:r>
          </a:p>
          <a:p xmlns:a="http://schemas.openxmlformats.org/drawingml/2006/main"/>
          <a:p xmlns:a="http://schemas.openxmlformats.org/drawingml/2006/main">
            <a:r>
              <a:t>Now it's your turn. Take an invoice total of 4,820,000 shillings across twelve lines. Would a language model add that up better than a calculator? Mull that over for a moment.</a:t>
            </a:r>
          </a:p>
          <a:p xmlns:a="http://schemas.openxmlformats.org/drawingml/2006/main"/>
          <a:p xmlns:a="http://schemas.openxmlformats.org/drawingml/2006/main">
            <a:r>
              <a:t>Exact arithmetic has a defined right answer, so a calculation tool should do it. The AI can help prepare the data or explain the result. If you'd back the language model, how would you check its total?</a:t>
            </a:r>
          </a:p>
          <a:p xmlns:a="http://schemas.openxmlformats.org/drawingml/2006/main"/>
          <a:p xmlns:a="http://schemas.openxmlformats.org/drawingml/2006/main">
            <a:r>
              <a:t>Now to the kind of AI most people have met.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Generative AI is a kind of AI model that produces new content, such as text, by modelling patterns it learned from data. A model here is the trained program itself. In our matter the task is to draft a response using the client's instruction and the approved clause.</a:t>
            </a:r>
          </a:p>
          <a:p xmlns:a="http://schemas.openxmlformats.org/drawingml/2006/main"/>
          <a:p xmlns:a="http://schemas.openxmlformats.org/drawingml/2006/main">
            <a:r>
              <a:t>The draft will read well. New wording can still contain a claim the contract doesn't support, because the model produces likely text and doesn't look up a fact. So the draft is a proposal to check against the source.</a:t>
            </a:r>
          </a:p>
          <a:p xmlns:a="http://schemas.openxmlformats.org/drawingml/2006/main"/>
          <a:p xmlns:a="http://schemas.openxmlformats.org/drawingml/2006/main">
            <a:r>
              <a:t>Let me put a question to you. Victoria's draft reply reads smoothly and sounds confident. What does that tell you about whether it's correct? Work it through before I answer.</a:t>
            </a:r>
          </a:p>
          <a:p xmlns:a="http://schemas.openxmlformats.org/drawingml/2006/main"/>
          <a:p xmlns:a="http://schemas.openxmlformats.org/drawingml/2006/main">
            <a:r>
              <a:t>It tells you nothing about correctness. You check each factual claim against the agreement. If a confident tone feels like a good sign, think of a human colleague who sounded sure and was wrong.</a:t>
            </a:r>
          </a:p>
          <a:p xmlns:a="http://schemas.openxmlformats.org/drawingml/2006/main"/>
          <a:p xmlns:a="http://schemas.openxmlformats.org/drawingml/2006/main">
            <a:r>
              <a:t>Next I'll draw how these fields sit inside one another.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I'll build a picture of how these fields sit inside one another. We go one layer at a time, and I'll stop after each so you can see where each term lives.</a:t>
            </a:r>
          </a:p>
          <a:p xmlns:a="http://schemas.openxmlformats.org/drawingml/2006/main"/>
          <a:p xmlns:a="http://schemas.openxmlformats.org/drawingml/2006/main">
            <a:r>
              <a:t>Start with the widest idea. Artificial intelligence is the largest field. It covers the whole effort to build and study systems that infer outputs from inputs. Everything else we name today sits inside it or beside it.</a:t>
            </a:r>
          </a:p>
          <a:p xmlns:a="http://schemas.openxmlformats.org/drawingml/2006/main"/>
          <a:p xmlns:a="http://schemas.openxmlformats.org/drawingml/2006/main">
            <a:r>
              <a:t>Inside it sits machine learning. This is the part where programs learn patterns from examples.</a:t>
            </a:r>
          </a:p>
          <a:p xmlns:a="http://schemas.openxmlformats.org/drawingml/2006/main"/>
          <a:p xmlns:a="http://schemas.openxmlformats.org/drawingml/2006/main">
            <a:r>
              <a:t>Inside machine learning sits deep learning. These are models built from neural networks with many layers of small connected calculations, and the layers help them learn useful representations of text.</a:t>
            </a:r>
          </a:p>
          <a:p xmlns:a="http://schemas.openxmlformats.org/drawingml/2006/main"/>
          <a:p xmlns:a="http://schemas.openxmlformats.org/drawingml/2006/main">
            <a:r>
              <a:t>Next comes generative AI. It describes the ability to create new content, and it often uses deep learning to do it. Drafting a letter or an amendment belongs here.</a:t>
            </a:r>
          </a:p>
          <a:p xmlns:a="http://schemas.openxmlformats.org/drawingml/2006/main"/>
          <a:p xmlns:a="http://schemas.openxmlformats.org/drawingml/2006/main">
            <a:r>
              <a:t>Last come two side notes. Data science overlaps all of these fields, and it also includes work with no machine learning at all. Natural language processing, or NLP, studies how computers handle human language.</a:t>
            </a:r>
          </a:p>
          <a:p xmlns:a="http://schemas.openxmlformats.org/drawingml/2006/main"/>
          <a:p xmlns:a="http://schemas.openxmlformats.org/drawingml/2006/main">
            <a:r>
              <a:t>Here's one for you. Is every data analysis task a generative AI task? Sit with it for a second.</a:t>
            </a:r>
          </a:p>
          <a:p xmlns:a="http://schemas.openxmlformats.org/drawingml/2006/main"/>
          <a:p xmlns:a="http://schemas.openxmlformats.org/drawingml/2006/main">
            <a:r>
              <a:t>The answer is no. Counting records, sorting documents into categories and drafting a letter are three different jobs. If that feels slippery, think about which of those three a spreadsheet already does.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the ideas become tasks. Totalling invoice amounts is calculation, and it gives a number. Identifying a contract type is classification, and it gives a category. Finding a precedent clause is retrieval, which means searching a collection and returning the passages it found. Drafting an amendment is generation, and it gives proposed wording.</a:t>
            </a:r>
          </a:p>
          <a:p xmlns:a="http://schemas.openxmlformats.org/drawingml/2006/main"/>
          <a:p xmlns:a="http://schemas.openxmlformats.org/drawingml/2006/main">
            <a:r>
              <a:t>Each task has its own test of success. The number is right. The category is right. The passage is relevant and current. The wording is accurate and fit for purpose. One workflow can mix several of these, and when people say AI they often mean a single chat tool. This table shows that one name covers different jobs.</a:t>
            </a:r>
          </a:p>
          <a:p xmlns:a="http://schemas.openxmlformats.org/drawingml/2006/main"/>
          <a:p xmlns:a="http://schemas.openxmlformats.org/drawingml/2006/main">
            <a:r>
              <a:t>Let me ask you something. Of these four, which output would you never send out without a lawyer's decision? Think it over.</a:t>
            </a:r>
          </a:p>
          <a:p xmlns:a="http://schemas.openxmlformats.org/drawingml/2006/main"/>
          <a:p xmlns:a="http://schemas.openxmlformats.org/drawingml/2006/main">
            <a:r>
              <a:t>Every output needs a decision about whether and how to use it, and the amendment needs a partner's review most of all. If you'd only said the draft, I'd ask what decision applies to the number.</a:t>
            </a:r>
          </a:p>
          <a:p xmlns:a="http://schemas.openxmlformats.org/drawingml/2006/main"/>
          <a:p xmlns:a="http://schemas.openxmlformats.org/drawingml/2006/main">
            <a:r>
              <a:t>Next I'll show where the model sits in a working 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look at where the model sits in a working tool. We'll take it in four parts, and our question about the agreement is the example all the way through.</a:t>
            </a:r>
          </a:p>
          <a:p xmlns:a="http://schemas.openxmlformats.org/drawingml/2006/main"/>
          <a:p xmlns:a="http://schemas.openxmlformats.org/drawingml/2006/main">
            <a:r>
              <a:t>First comes the person. The person brings the question and the authority to ask it.</a:t>
            </a:r>
          </a:p>
          <a:p xmlns:a="http://schemas.openxmlformats.org/drawingml/2006/main"/>
          <a:p xmlns:a="http://schemas.openxmlformats.org/drawingml/2006/main">
            <a:r>
              <a:t>Then the application. This holds the files and the instructions. A model that hasn't been given the executed agreement can't tell us what it says.</a:t>
            </a:r>
          </a:p>
          <a:p xmlns:a="http://schemas.openxmlformats.org/drawingml/2006/main"/>
          <a:p xmlns:a="http://schemas.openxmlformats.org/drawingml/2006/main">
            <a:r>
              <a:t>Third, the model and its tools. This is where the generating or the searching happens. A tool can fetch the document. An API, which is a way for one program to ask another to do something, is how such pieces often connect.</a:t>
            </a:r>
          </a:p>
          <a:p xmlns:a="http://schemas.openxmlformats.org/drawingml/2006/main"/>
          <a:p xmlns:a="http://schemas.openxmlformats.org/drawingml/2006/main">
            <a:r>
              <a:t>Finally, review. A person checks what came back and decides how the output may be used.</a:t>
            </a:r>
          </a:p>
          <a:p xmlns:a="http://schemas.openxmlformats.org/drawingml/2006/main"/>
          <a:p xmlns:a="http://schemas.openxmlformats.org/drawingml/2006/main">
            <a:r>
              <a:t>A quick question before we go on. Where in this chain should the check on who may see a restricted document happen? Let's hear your answer first.</a:t>
            </a:r>
          </a:p>
          <a:p xmlns:a="http://schemas.openxmlformats.org/drawingml/2006/main"/>
          <a:p xmlns:a="http://schemas.openxmlformats.org/drawingml/2006/main">
            <a:r>
              <a:t>It belongs before the system returns the evidence or takes an action. If you'd said at the review step, I'd ask what has already been exposed by then. Next, a simpler contrast.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approaches sit side by side here. A rule follows logic someone wrote down. When a recorded review date arrives, send a reminder. A learned prediction is a model's estimate based on examples, such as which incoming documents belong to a matter. The estimate can be wrong on a new document, and the rule never guesses. Both can live in the same firm.</a:t>
            </a:r>
          </a:p>
          <a:p xmlns:a="http://schemas.openxmlformats.org/drawingml/2006/main"/>
          <a:p xmlns:a="http://schemas.openxmlformats.org/drawingml/2006/main">
            <a:r>
              <a:t>One for you to work out. A limitation period date is already on the file. Which approach would you use for the reminder, and who owns the date? No rush.</a:t>
            </a:r>
          </a:p>
          <a:p xmlns:a="http://schemas.openxmlformats.org/drawingml/2006/main"/>
          <a:p xmlns:a="http://schemas.openxmlformats.org/drawingml/2006/main">
            <a:r>
              <a:t>I'd keep a maintained date field with a simple rule, and name a person responsible for the date being right. A rule only works if the date is correct. If you lean toward the model, I'd ask what you would show it as examples, and whether you'd trust it on a date that has legal effect.</a:t>
            </a:r>
          </a:p>
          <a:p xmlns:a="http://schemas.openxmlformats.org/drawingml/2006/main"/>
          <a:p xmlns:a="http://schemas.openxmlformats.org/drawingml/2006/main">
            <a:r>
              <a:t>Now we put a real question to the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first contract question. Victoria asks whether the agreement requires its consent for this transaction. The answer sits in Section 12.6. The version that governs is the replacement in the Key Terms, because the Key Terms control over the Standard Terms.</a:t>
            </a:r>
          </a:p>
          <a:p xmlns:a="http://schemas.openxmlformats.org/drawingml/2006/main"/>
          <a:p xmlns:a="http://schemas.openxmlformats.org/drawingml/2006/main">
            <a:r>
              <a:t>Let me read the replacement in full. Neither party may assign without the other's prior written consent. Provider must obtain Customer's prior written consent before a change of control of Provider takes effect. That consent is not required for a reorganisation within a wholly owned group if Provider remains responsible for its obligations under the agreement.</a:t>
            </a:r>
          </a:p>
          <a:p xmlns:a="http://schemas.openxmlformats.org/drawingml/2006/main"/>
          <a:p xmlns:a="http://schemas.openxmlformats.org/drawingml/2006/main">
            <a:r>
              <a:t>Tell me what you make of this. Can we answer yes or no right now? Take a moment with that.</a:t>
            </a:r>
          </a:p>
          <a:p xmlns:a="http://schemas.openxmlformats.org/drawingml/2006/main"/>
          <a:p xmlns:a="http://schemas.openxmlformats.org/drawingml/2006/main">
            <a:r>
              <a:t>We can't. The exception has two conditions, and we have no ownership chart and no confirmation that Equator remains responsible. If you'd say it's internal, so no consent, I'd ask how we know the group is wholly owned.</a:t>
            </a:r>
          </a:p>
          <a:p xmlns:a="http://schemas.openxmlformats.org/drawingml/2006/main"/>
          <a:p xmlns:a="http://schemas.openxmlformats.org/drawingml/2006/main">
            <a:r>
              <a:t>Now I'll show you two ways an AI answer could read.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two answers to the consent question. The first reads: every change of control requires prior written consent. It's fluent and short, and it leaves out the exception. The second says prior consent applies to a change of control, and a reorganisation inside a wholly owned group is excused if the provider remains responsible. Hold the Key Terms text of Section 12.6 beside them, and see if you can find the words the first answer is missing.</a:t>
            </a:r>
          </a:p>
          <a:p xmlns:a="http://schemas.openxmlformats.org/drawingml/2006/main"/>
          <a:p xmlns:a="http://schemas.openxmlformats.org/drawingml/2006/main">
            <a:r>
              <a:t>Here's something to chew on. What makes the second answer more useful to the partner? Have a think.</a:t>
            </a:r>
          </a:p>
          <a:p xmlns:a="http://schemas.openxmlformats.org/drawingml/2006/main"/>
          <a:p xmlns:a="http://schemas.openxmlformats.org/drawingml/2006/main">
            <a:r>
              <a:t>It keeps the condition and can be traced to the source. It still depends on the facts, which we don't yet have.</a:t>
            </a:r>
          </a:p>
          <a:p xmlns:a="http://schemas.openxmlformats.org/drawingml/2006/main"/>
          <a:p xmlns:a="http://schemas.openxmlformats.org/drawingml/2006/main">
            <a:r>
              <a:t>If the connected tool is available, this is where we put the real question to it and keep whatever it returns, right or wrong. If it's unavailable, I'll use the labelled example and mark that step as not run.</a:t>
            </a:r>
          </a:p>
          <a:p xmlns:a="http://schemas.openxmlformats.org/drawingml/2006/main"/>
          <a:p xmlns:a="http://schemas.openxmlformats.org/drawingml/2006/main">
            <a:r>
              <a:t>Next, a boundary on what we may feed these 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you use any tool with this material, we set a boundary. In class, public authorities and our fictional client records are fine. Real client material is different. It needs a permitted tool, a stated purpose and an access decision. Confidentiality and personal data duties apply, and some matters are restricted. A personal subscription doesn't by itself give a firm the right to upload client files. I'll keep this short today, and Session 11 covers governance in detail.</a:t>
            </a:r>
          </a:p>
          <a:p xmlns:a="http://schemas.openxmlformats.org/drawingml/2006/main"/>
          <a:p xmlns:a="http://schemas.openxmlformats.org/drawingml/2006/main">
            <a:r>
              <a:t>Here's one for you. In your firm, who decides whether a real matter may go into a tool? Sleep on it for a second, then tell me.</a:t>
            </a:r>
          </a:p>
          <a:p xmlns:a="http://schemas.openxmlformats.org/drawingml/2006/main"/>
          <a:p xmlns:a="http://schemas.openxmlformats.org/drawingml/2006/main">
            <a:r>
              <a:t>The person designated to own the information decides, together with an approver under the firm's duties. If you'd say whoever is using it, I'd ask who answers to the client if something leaks.</a:t>
            </a:r>
          </a:p>
          <a:p xmlns:a="http://schemas.openxmlformats.org/drawingml/2006/main"/>
          <a:p xmlns:a="http://schemas.openxmlformats.org/drawingml/2006/main">
            <a:r>
              <a:t>Now we pick a task to work 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offers three candidate tasks. Precedent search aims to find relevant firm knowledge, and its first constraint is current sources and permissions. Contract comparison aims to find departures from the playbook, and it has to preserve qualifications such as the exception we just read. Tax evidence review aims to find discrepancies between records, and it needs complete and comparable records.</a:t>
            </a:r>
          </a:p>
          <a:p xmlns:a="http://schemas.openxmlformats.org/drawingml/2006/main"/>
          <a:p xmlns:a="http://schemas.openxmlformats.org/drawingml/2006/main">
            <a:r>
              <a:t>You'll choose one, and we'll record it as a hypothesis to test later. I won't ask you for a promised saving. We come back to this choice after the data and risk sessions.</a:t>
            </a:r>
          </a:p>
          <a:p xmlns:a="http://schemas.openxmlformats.org/drawingml/2006/main"/>
          <a:p xmlns:a="http://schemas.openxmlformats.org/drawingml/2006/main">
            <a:r>
              <a:t>So here's the question. Which one could your firm investigate first, and what would a good result look like? No rush.</a:t>
            </a:r>
          </a:p>
          <a:p xmlns:a="http://schemas.openxmlformats.org/drawingml/2006/main"/>
          <a:p xmlns:a="http://schemas.openxmlformats.org/drawingml/2006/main">
            <a:r>
              <a:t>A strong answer picks a narrow task with evidence you can reach, and a way to tell whether the output is right. If you picked something broad, I'd ask which single document type you'd start with.</a:t>
            </a:r>
          </a:p>
          <a:p xmlns:a="http://schemas.openxmlformats.org/drawingml/2006/main"/>
          <a:p xmlns:a="http://schemas.openxmlformats.org/drawingml/2006/main">
            <a:r>
              <a:t>Now we do the work in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do the work together. It runs in four steps.</a:t>
            </a:r>
          </a:p>
          <a:p xmlns:a="http://schemas.openxmlformats.org/drawingml/2006/main"/>
          <a:p xmlns:a="http://schemas.openxmlformats.org/drawingml/2006/main">
            <a:r>
              <a:t>First, we talk about how you use AI today, using the answers I wrote down at the start. Second, you ask the assistant the clause question with the evidence you choose. I'll demonstrate once so you see the steps, and then you choose the evidence for a changed version of the question. Third, we compare the response with the complete clause. Fourth, you pick one firm task and a success test.</a:t>
            </a:r>
          </a:p>
          <a:p xmlns:a="http://schemas.openxmlformats.org/drawingml/2006/main"/>
          <a:p xmlns:a="http://schemas.openxmlformats.org/drawingml/2006/main">
            <a:r>
              <a:t>This needs a connected account, so I've rehearsed it in the real account before class. If the tool is unavailable, I'll use the labelled example, mark that step as not run, and keep time for the explanation. Either way I save the actual output.</a:t>
            </a:r>
          </a:p>
          <a:p xmlns:a="http://schemas.openxmlformats.org/drawingml/2006/main"/>
          <a:p xmlns:a="http://schemas.openxmlformats.org/drawingml/2006/main">
            <a:r>
              <a:t>Before you press enter, tell me what you expect the answer to include. Let that settle for a moment.</a:t>
            </a:r>
          </a:p>
          <a:p xmlns:a="http://schemas.openxmlformats.org/drawingml/2006/main"/>
          <a:p xmlns:a="http://schemas.openxmlformats.org/drawingml/2006/main">
            <a:r>
              <a:t>Then we'll look at what we can conclude.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let's say what today's work shows. Before I give you my version, put the conclusion in your own words. Take your time, and then I'll compare it with mine.</a:t>
            </a:r>
          </a:p>
          <a:p xmlns:a="http://schemas.openxmlformats.org/drawingml/2006/main"/>
          <a:p xmlns:a="http://schemas.openxmlformats.org/drawingml/2006/main">
            <a:r>
              <a:t>Here's mine. Calculation, learned classification, retrieval and drafting are different operations. The base facts we were given don't establish every condition of the exception. A pilot needs an owner, permitted evidence and a test for the specific task. The second point is a limit. One opening demonstration and an entry diagnostic say nothing about how a tool performs in production.</a:t>
            </a:r>
          </a:p>
          <a:p xmlns:a="http://schemas.openxmlformats.org/drawingml/2006/main"/>
          <a:p xmlns:a="http://schemas.openxmlformats.org/drawingml/2006/main">
            <a:r>
              <a:t>I'd like to hear your thinking on this one. Which part of today's result is still unverified? Have a think.</a:t>
            </a:r>
          </a:p>
          <a:p xmlns:a="http://schemas.openxmlformats.org/drawingml/2006/main"/>
          <a:p xmlns:a="http://schemas.openxmlformats.org/drawingml/2006/main">
            <a:r>
              <a:t>One run shows what happened once. It doesn't show how often the tool is right. If you only repeated the first point, I'd ask what you would need to see across many documents before relying on it.</a:t>
            </a:r>
          </a:p>
          <a:p xmlns:a="http://schemas.openxmlformats.org/drawingml/2006/main"/>
          <a:p xmlns:a="http://schemas.openxmlformats.org/drawingml/2006/main">
            <a:r>
              <a:t>Next we record the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record one decision. Select one task to investigate, and write down how it's done today, who owns the source material, and what is still uncertain. Then note the evidence you still need. This is a decision record for our class and doesn't authorise anything in your firm.</a:t>
            </a:r>
          </a:p>
          <a:p xmlns:a="http://schemas.openxmlformats.org/drawingml/2006/main"/>
          <a:p xmlns:a="http://schemas.openxmlformats.org/drawingml/2006/main">
            <a:r>
              <a:t>We'll write down a proposed owner and one condition together before we move on. For the contract comparison task, an owner might be the partner who maintains the playbook, and a condition might be that only fictional or permitted documents are used.</a:t>
            </a:r>
          </a:p>
          <a:p xmlns:a="http://schemas.openxmlformats.org/drawingml/2006/main"/>
          <a:p xmlns:a="http://schemas.openxmlformats.org/drawingml/2006/main">
            <a:r>
              <a:t>A quick question before we go on. What evidence would change this proposed decision? Let's hear your answer first.</a:t>
            </a:r>
          </a:p>
          <a:p xmlns:a="http://schemas.openxmlformats.org/drawingml/2006/main"/>
          <a:p xmlns:a="http://schemas.openxmlformats.org/drawingml/2006/main">
            <a:r>
              <a:t>You'd revisit it if the quality results, the source material or the permitted scope changed. If you'd say nothing would change it, I'd ask what result you'd accept as a reason to stop.</a:t>
            </a:r>
          </a:p>
          <a:p xmlns:a="http://schemas.openxmlformats.org/drawingml/2006/main"/>
          <a:p xmlns:a="http://schemas.openxmlformats.org/drawingml/2006/main">
            <a:r>
              <a:t>Last, a short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check, and I'll ask all three questions before we look at any answers. First, a deadline is fixed and you need a reminder. Would you train a model? Second, a draft quotes the contract but leaves out the exception. Is it usable? Third, name one person who owns the source material for your chosen task. Take a moment with all three.</a:t>
            </a:r>
          </a:p>
          <a:p xmlns:a="http://schemas.openxmlformats.org/drawingml/2006/main"/>
          <a:p xmlns:a="http://schemas.openxmlformats.org/drawingml/2006/main">
            <a:r>
              <a:t>Here's how I'd answer them. For the date, keep a maintained date and a simple rule. The draft fails on completeness because it left out the operative exception, so it isn't usable as it stands. For the owner, name the real or proposed person who looks after that matter's sources.</a:t>
            </a:r>
          </a:p>
          <a:p xmlns:a="http://schemas.openxmlformats.org/drawingml/2006/main"/>
          <a:p xmlns:a="http://schemas.openxmlformats.org/drawingml/2006/main">
            <a:r>
              <a:t>If one of your answers is partial, I'll change the facts and ask again. What if the date were uncertain, who would you ask?</a:t>
            </a:r>
          </a:p>
          <a:p xmlns:a="http://schemas.openxmlformats.org/drawingml/2006/main"/>
          <a:p xmlns:a="http://schemas.openxmlformats.org/drawingml/2006/main">
            <a:r>
              <a:t>That's Session 1. Next time, in Session 2, we look at how AI learns and represents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may be wondering what a model actually is. A model is a mathematical representation that maps inputs to outputs. Its structure or settings can be written by hand or learned from data. Those settings are called parameters. In our matter, the model is one part inside the application you see in front of you.</a:t>
            </a:r>
          </a:p>
          <a:p xmlns:a="http://schemas.openxmlformats.org/drawingml/2006/main"/>
          <a:p xmlns:a="http://schemas.openxmlformats.org/drawingml/2006/main">
            <a:r>
              <a:t>Let me put a question to you. Does the chat window you type into describe the whole AI system? Say it out loud if it helps.</a:t>
            </a:r>
          </a:p>
          <a:p xmlns:a="http://schemas.openxmlformats.org/drawingml/2006/main"/>
          <a:p xmlns:a="http://schemas.openxmlformats.org/drawingml/2006/main">
            <a:r>
              <a:t>It doesn't. Files, search, tools, permissions and logs can all sit around the model. If you'd said yes, I'd ask where the agreement you uploaded is kept.</a:t>
            </a:r>
          </a:p>
          <a:p xmlns:a="http://schemas.openxmlformats.org/drawingml/2006/main"/>
          <a:p xmlns:a="http://schemas.openxmlformats.org/drawingml/2006/main">
            <a:r>
              <a:t>Then we return to the closing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one is for when you'd like to look at how things go wrong. Each line is a different stage with a different error. An extraction can lose a word, such as the word wholly. A search can fetch an old version of a document. A draft can state a proposition the source doesn't contain. An action can send something to the wrong person.</a:t>
            </a:r>
          </a:p>
          <a:p xmlns:a="http://schemas.openxmlformats.org/drawingml/2006/main"/>
          <a:p xmlns:a="http://schemas.openxmlformats.org/drawingml/2006/main">
            <a:r>
              <a:t>Reliability comes from tests that fit each task, and I avoid any claim that one tool is always accurate.</a:t>
            </a:r>
          </a:p>
          <a:p xmlns:a="http://schemas.openxmlformats.org/drawingml/2006/main"/>
          <a:p xmlns:a="http://schemas.openxmlformats.org/drawingml/2006/main">
            <a:r>
              <a:t>Here's something to chew on. A search returns the superseded draft version 1 instead of the executed agreement. Would rewording the question fix it? Give it a moment.</a:t>
            </a:r>
          </a:p>
          <a:p xmlns:a="http://schemas.openxmlformats.org/drawingml/2006/main"/>
          <a:p xmlns:a="http://schemas.openxmlformats.org/drawingml/2006/main">
            <a:r>
              <a:t>Rewording can't help here. The sources and the search process need to change. If you'd said yes, I'd ask what a reworded question would do to the list of versions.</a:t>
            </a:r>
          </a:p>
          <a:p xmlns:a="http://schemas.openxmlformats.org/drawingml/2006/main"/>
          <a:p xmlns:a="http://schemas.openxmlformats.org/drawingml/2006/main">
            <a:r>
              <a:t>Then we go back to the closing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working definition of an AI-native firm for this course. It's mine, made for teaching, and it isn't a formal standard. Work is designed to use AI where evidence supports it. People keep defined responsibilities and the authority to review. The firm maintains usable information and measures outcomes.</a:t>
            </a:r>
          </a:p>
          <a:p xmlns:a="http://schemas.openxmlformats.org/drawingml/2006/main"/>
          <a:p xmlns:a="http://schemas.openxmlformats.org/drawingml/2006/main">
            <a:r>
              <a:t>One for you to work out. What would a firm have to change before a knowledge assistant could be useful? Work it through before I answer.</a:t>
            </a:r>
          </a:p>
          <a:p xmlns:a="http://schemas.openxmlformats.org/drawingml/2006/main"/>
          <a:p xmlns:a="http://schemas.openxmlformats.org/drawingml/2006/main">
            <a:r>
              <a:t>It would need source ownership, matter access, version control and an agreed review procedure. Not every task should use AI, and the point is that the firm can show where it helps. If your answer was a product name, I'd ask who keeps its documents current.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b3d84e8e7e3046ff"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7911c5d69bf40a6"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e3e211849426426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5384d08dee474ed6"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13ccf814406040ea"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1e220bf341444a4e"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DDBA6C-9B51-41D4-BEEE-DD116AB65F4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E31D539-C7C1-47A6-9665-5B4EA50FB4B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0F885A8-7E29-4398-AE60-C23E880A16C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D5DBB4-E2CD-444F-99CF-192B29ADF5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7B189AA-C524-46B8-9DBB-410EA881322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29BDA90-A920-423A-8E34-7C477282A4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71EA93-B992-4D5D-8A01-4056C309802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9926A76-2167-407F-BAF4-6BA8E63A6DE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5C1EA4-F402-4F52-808A-262C9D064C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83FD51-7A91-4657-A9EC-161B8CA481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9405a689bdd428e" Type="http://schemas.openxmlformats.org/officeDocument/2006/relationships/theme" Target="theme/theme2.xml"/><Relationship Id="R2a9312c657db46a8" Type="http://schemas.openxmlformats.org/officeDocument/2006/relationships/slideLayout" Target="../slideLayouts/slideLayout2.xml"/><Relationship Id="R2d3d2d1a383a4416" Type="http://schemas.openxmlformats.org/officeDocument/2006/relationships/slideLayout" Target="../slideLayouts/slideLayout6.xml"/><Relationship Id="R6eaddc5908d247d3" Type="http://schemas.openxmlformats.org/officeDocument/2006/relationships/slideLayout" Target="../slideLayouts/slideLayout4.xml"/><Relationship Id="Rb9c1ff4fd4374a4d" Type="http://schemas.openxmlformats.org/officeDocument/2006/relationships/slideLayout" Target="../slideLayouts/slideLayout5.xml"/><Relationship Id="Rc760814180d145f8" Type="http://schemas.openxmlformats.org/officeDocument/2006/relationships/slideLayout" Target="../slideLayouts/slideLayout1.xml"/><Relationship Id="Rdf94f0ea8df44671" Type="http://schemas.openxmlformats.org/officeDocument/2006/relationships/slideLayout" Target="../slideLayouts/slideLayout3.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60814180d145f8"/>
    <p:sldLayoutId xmlns:r="http://schemas.openxmlformats.org/officeDocument/2006/relationships" id="2147483650" r:id="R2a9312c657db46a8"/>
    <p:sldLayoutId xmlns:r="http://schemas.openxmlformats.org/officeDocument/2006/relationships" id="2147483651" r:id="Rdf94f0ea8df44671"/>
    <p:sldLayoutId xmlns:r="http://schemas.openxmlformats.org/officeDocument/2006/relationships" id="2147483652" r:id="R6eaddc5908d247d3"/>
    <p:sldLayoutId xmlns:r="http://schemas.openxmlformats.org/officeDocument/2006/relationships" id="2147483653" r:id="Rb9c1ff4fd4374a4d"/>
    <p:sldLayoutId xmlns:r="http://schemas.openxmlformats.org/officeDocument/2006/relationships" id="2147483654" r:id="R2d3d2d1a383a44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4ac9d31821244097" Type="http://schemas.openxmlformats.org/officeDocument/2006/relationships/slideLayout" Target="../slideLayouts/slideLayout6.xml"/><Relationship Id="Rb3f0835a8f2b411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4cc884a66ab04714" Type="http://schemas.openxmlformats.org/officeDocument/2006/relationships/notesSlide" Target="../notesSlides/notesSlide2.xml"/><Relationship Id="Rf4741e01133340b9" Type="http://schemas.openxmlformats.org/officeDocument/2006/relationships/slideLayout" Target="../slideLayouts/slideLayout6.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07125fc51cd34ab0" Type="http://schemas.openxmlformats.org/officeDocument/2006/relationships/slideLayout" Target="../slideLayouts/slideLayout6.xml"/><Relationship Id="R8f82cddf938842b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7391e77aab60430e" Type="http://schemas.openxmlformats.org/officeDocument/2006/relationships/slideLayout" Target="../slideLayouts/slideLayout6.xml"/><Relationship Id="Rba1ce6e056df4171"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456180bcda504bbf" Type="http://schemas.openxmlformats.org/officeDocument/2006/relationships/slideLayout" Target="../slideLayouts/slideLayout6.xml"/><Relationship Id="Re542596fb37543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8736e7c16fc64d8a" Type="http://schemas.openxmlformats.org/officeDocument/2006/relationships/slideLayout" Target="../slideLayouts/slideLayout6.xml"/><Relationship Id="Rd28df96259b24b4f"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8548de23cac34217" Type="http://schemas.openxmlformats.org/officeDocument/2006/relationships/slideLayout" Target="../slideLayouts/slideLayout6.xml"/><Relationship Id="R96a6228111af47d0"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9a279c12c85a423c" Type="http://schemas.openxmlformats.org/officeDocument/2006/relationships/notesSlide" Target="../notesSlides/notesSlide8.xml"/><Relationship Id="Rff309aabcb54493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45f70b15437f478e" Type="http://schemas.openxmlformats.org/officeDocument/2006/relationships/notesSlide" Target="../notesSlides/notesSlide9.xml"/><Relationship Id="R87e5c5e7d58e4987"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6db433e7fb4142df" Type="http://schemas.openxmlformats.org/officeDocument/2006/relationships/slideLayout" Target="../slideLayouts/slideLayout6.xml"/><Relationship Id="R7ec32ad4e567444d"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495e1868b0494b90" Type="http://schemas.openxmlformats.org/officeDocument/2006/relationships/notesSlide" Target="../notesSlides/notesSlide11.xml"/><Relationship Id="R51b7bae0418f4f8f"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7c26c970027f404e" Type="http://schemas.openxmlformats.org/officeDocument/2006/relationships/slideLayout" Target="../slideLayouts/slideLayout6.xml"/><Relationship Id="Rf7aee3183f3d4083"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22a2a936bb934270" Type="http://schemas.openxmlformats.org/officeDocument/2006/relationships/notesSlide" Target="../notesSlides/notesSlide13.xml"/><Relationship Id="R24828ba88bbe4b97"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5ebd073d81714cc0" Type="http://schemas.openxmlformats.org/officeDocument/2006/relationships/notesSlide" Target="../notesSlides/notesSlide14.xml"/><Relationship Id="Raea665470a8d4e3f" Type="http://schemas.openxmlformats.org/officeDocument/2006/relationships/slideLayout" Target="../slideLayouts/slideLayout6.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997054e9ab5d4e26" Type="http://schemas.openxmlformats.org/officeDocument/2006/relationships/notesSlide" Target="../notesSlides/notesSlide15.xml"/><Relationship Id="Re45cb2db83424d2a"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5242c132444d4094" Type="http://schemas.openxmlformats.org/officeDocument/2006/relationships/notesSlide" Target="../notesSlides/notesSlide16.xml"/><Relationship Id="Rded6edef18854973" Type="http://schemas.openxmlformats.org/officeDocument/2006/relationships/slideLayout" Target="../slideLayouts/slideLayout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6752045b4df94d82" Type="http://schemas.openxmlformats.org/officeDocument/2006/relationships/slideLayout" Target="../slideLayouts/slideLayout6.xml"/><Relationship Id="Rca7df03d96124a9b"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21538ba2a4ba4be2" Type="http://schemas.openxmlformats.org/officeDocument/2006/relationships/notesSlide" Target="../notesSlides/notesSlide18.xml"/><Relationship Id="Re034c80f336e4ce4" Type="http://schemas.openxmlformats.org/officeDocument/2006/relationships/slideLayout" Target="../slideLayouts/slideLayout6.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dce35ad52cc241b5" Type="http://schemas.openxmlformats.org/officeDocument/2006/relationships/slideLayout" Target="../slideLayouts/slideLayout6.xml"/><Relationship Id="Reb1389110dde45da"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9da4f1a0a5564311" Type="http://schemas.openxmlformats.org/officeDocument/2006/relationships/slideLayout" Target="../slideLayouts/slideLayout6.xml"/><Relationship Id="Rd760415eb4ed492c"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83b59471c8524e3b" Type="http://schemas.openxmlformats.org/officeDocument/2006/relationships/slideLayout" Target="../slideLayouts/slideLayout6.xml"/><Relationship Id="Rb91949abad264ad5"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23b9bc9218784020" Type="http://schemas.openxmlformats.org/officeDocument/2006/relationships/slideLayout" Target="../slideLayouts/slideLayout6.xml"/><Relationship Id="R6c7bacffd9da4ded" Type="http://schemas.openxmlformats.org/officeDocument/2006/relationships/notesSlide" Target="../notesSlides/notesSlide22.xml"/><Relationship Id="rId3" Type="http://schemas.openxmlformats.org/officeDocument/2006/relationships/image" Target="../media/image14.png"/></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Understanding AI in the firm">
    <p:bg>
      <p:bgPr>
        <a:solidFill>
          <a:srgbClr val="1C3144"/>
        </a:solidFill>
      </p:bgPr>
    </p:bg>
    <p:spTree>
      <p:nvGrpSpPr>
        <p:cNvPr id="1" name=""/>
        <p:cNvGrpSpPr/>
        <p:nvPr/>
      </p:nvGrpSpPr>
      <p:grpSpPr>
        <a:xfrm/>
      </p:grpSpPr>
      <p:sp>
        <p:nvSpPr>
          <p:cNvPr id="5" name="text-1">
            <a:extLst>
              <a:ext uri="{FF2B5EF4-FFF2-40B4-BE49-F238E27FC236}">
                <ns2:creationId id="{EDBD5ACB-23CD-4CAC-BC3C-9323AC2E3FAA}"/>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01</a:t>
            </a:r>
          </a:p>
        </p:txBody>
      </p:sp>
      <p:sp>
        <p:nvSpPr>
          <p:cNvPr id="2" name="text-2">
            <a:extLst>
              <a:ext uri="{FF2B5EF4-FFF2-40B4-BE49-F238E27FC236}">
                <ns2:creationId id="{86A56E96-2C68-4A69-BBAE-EAE21114102B}"/>
              </a:ext>
            </a:extLst>
          </p:cNvPr>
          <p:cNvSpPr>
            <a:spLocks noGrp="1"/>
          </p:cNvSpPr>
          <p:nvPr>
            <p:ph type="title"/>
          </p:nvPr>
        </p:nvSpPr>
        <p:spPr>
          <a:xfrm>
            <a:off x="619125" y="1676400"/>
            <a:ext cx="6080875" cy="1905000"/>
          </a:xfrm>
          <a:prstGeom prst="rect">
            <a:avLst/>
          </a:prstGeom>
          <a:noFill/>
          <a:ln w="0">
            <a:noFill/>
          </a:ln>
        </p:spPr>
        <p:txBody>
          <a:bodyPr>
            <a:noAutofit/>
          </a:bodyPr>
          <a:lstStyle>
            <a:defPPr>
              <a:defRPr sz="4800" b="1">
                <a:solidFill>
                  <a:srgbClr val="FFFFFF"/>
                </a:solidFill>
                <a:latin typeface="Calibri"/>
                <a:ea typeface="Calibri"/>
                <a:cs typeface="Calibri"/>
              </a:defRPr>
            </a:defPPr>
            <a:lvl1pPr>
              <a:defRPr sz="4800" b="1">
                <a:solidFill>
                  <a:srgbClr val="FFFFFF"/>
                </a:solidFill>
                <a:latin typeface="Calibri"/>
                <a:ea typeface="Calibri"/>
                <a:cs typeface="Calibri"/>
              </a:defRPr>
            </a:lvl1pPr>
            <a:lvl2pPr>
              <a:defRPr sz="4800" b="1">
                <a:solidFill>
                  <a:srgbClr val="FFFFFF"/>
                </a:solidFill>
                <a:latin typeface="Calibri"/>
                <a:ea typeface="Calibri"/>
                <a:cs typeface="Calibri"/>
              </a:defRPr>
            </a:lvl2pPr>
            <a:lvl3pPr>
              <a:defRPr sz="4800" b="1">
                <a:solidFill>
                  <a:srgbClr val="FFFFFF"/>
                </a:solidFill>
                <a:latin typeface="Calibri"/>
                <a:ea typeface="Calibri"/>
                <a:cs typeface="Calibri"/>
              </a:defRPr>
            </a:lvl3pPr>
            <a:lvl4pPr>
              <a:defRPr sz="4800" b="1">
                <a:solidFill>
                  <a:srgbClr val="FFFFFF"/>
                </a:solidFill>
                <a:latin typeface="Calibri"/>
                <a:ea typeface="Calibri"/>
                <a:cs typeface="Calibri"/>
              </a:defRPr>
            </a:lvl4pPr>
            <a:lvl5pPr>
              <a:defRPr sz="4800" b="1">
                <a:solidFill>
                  <a:srgbClr val="FFFFFF"/>
                </a:solidFill>
                <a:latin typeface="Calibri"/>
                <a:ea typeface="Calibri"/>
                <a:cs typeface="Calibri"/>
              </a:defRPr>
            </a:lvl5pPr>
            <a:lvl6pPr>
              <a:defRPr sz="4800" b="1">
                <a:solidFill>
                  <a:srgbClr val="FFFFFF"/>
                </a:solidFill>
                <a:latin typeface="Calibri"/>
                <a:ea typeface="Calibri"/>
                <a:cs typeface="Calibri"/>
              </a:defRPr>
            </a:lvl6pPr>
            <a:lvl7pPr>
              <a:defRPr sz="4800" b="1">
                <a:solidFill>
                  <a:srgbClr val="FFFFFF"/>
                </a:solidFill>
                <a:latin typeface="Calibri"/>
                <a:ea typeface="Calibri"/>
                <a:cs typeface="Calibri"/>
              </a:defRPr>
            </a:lvl7pPr>
            <a:lvl8pPr>
              <a:defRPr sz="4800" b="1">
                <a:solidFill>
                  <a:srgbClr val="FFFFFF"/>
                </a:solidFill>
                <a:latin typeface="Calibri"/>
                <a:ea typeface="Calibri"/>
                <a:cs typeface="Calibri"/>
              </a:defRPr>
            </a:lvl8pPr>
            <a:lvl9pPr>
              <a:defRPr sz="4800" b="1">
                <a:solidFill>
                  <a:srgbClr val="FFFFFF"/>
                </a:solidFill>
                <a:latin typeface="Calibri"/>
                <a:ea typeface="Calibri"/>
                <a:cs typeface="Calibri"/>
              </a:defRPr>
            </a:lvl9pPr>
          </a:lstStyle>
          <a:p>
            <a:pPr>
              <a:defRPr sz="4800" b="1">
                <a:solidFill>
                  <a:srgbClr val="FFFFFF"/>
                </a:solidFill>
                <a:latin typeface="Calibri"/>
                <a:ea typeface="Calibri"/>
                <a:cs typeface="Calibri"/>
              </a:defRPr>
            </a:pPr>
            <a:r>
              <a:rPr sz="4800" b="1">
                <a:solidFill>
                  <a:srgbClr val="FFFFFF"/>
                </a:solidFill>
                <a:latin typeface="Calibri"/>
                <a:ea typeface="Calibri"/>
                <a:cs typeface="Calibri"/>
              </a:rPr>
              <a:t>Understanding AI in the firm</a:t>
            </a:r>
          </a:p>
        </p:txBody>
      </p:sp>
      <p:sp>
        <p:nvSpPr>
          <p:cNvPr id="3" name="text-3">
            <a:extLst>
              <a:ext uri="{FF2B5EF4-FFF2-40B4-BE49-F238E27FC236}">
                <ns2:creationId id="{3D9269E2-4DAF-4A87-91F3-DB0EFF2834D5}"/>
              </a:ext>
            </a:extLst>
          </p:cNvPr>
          <p:cNvSpPr>
            <a:spLocks noGrp="1"/>
          </p:cNvSpPr>
          <p:nvPr/>
        </p:nvSpPr>
        <p:spPr>
          <a:xfrm>
            <a:off x="619125" y="4095750"/>
            <a:ext cx="6080875"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Which work suits AI, ordinary software or professional judgement?</a:t>
            </a:r>
          </a:p>
        </p:txBody>
      </p:sp>
      <p:sp>
        <p:nvSpPr>
          <p:cNvPr id="4" name="text-4">
            <a:extLst>
              <a:ext uri="{FF2B5EF4-FFF2-40B4-BE49-F238E27FC236}">
                <ns2:creationId id="{4EADD901-F39E-42D5-B220-35434866EBF2}"/>
              </a:ext>
            </a:extLst>
          </p:cNvPr>
          <p:cNvSpPr>
            <a:spLocks noGrp="1"/>
          </p:cNvSpPr>
          <p:nvPr/>
        </p:nvSpPr>
        <p:spPr>
          <a:xfrm>
            <a:off x="619125" y="6010275"/>
            <a:ext cx="6080875"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500" b="0">
                <a:solidFill>
                  <a:srgbClr val="DCE8E6"/>
                </a:solidFill>
                <a:latin typeface="Calibri"/>
                <a:ea typeface="Calibri"/>
                <a:cs typeface="Calibri"/>
              </a:rPr>
              <a:t>Jotham Martin Wambi   KLAi Professional Learning</a:t>
            </a:r>
          </a:p>
        </p:txBody>
      </p:sp>
      <p:pic xmlns:r="http://schemas.openxmlformats.org/officeDocument/2006/relationships">
        <p:nvPicPr>
          <p:cNvPr id="6" name="illustration-hero" descr="Illustration: two company buildings, victoria and equator, with a contract between them; two cogs and a completed check"/>
          <p:cNvPicPr>
            <a:picLocks noChangeAspect="1"/>
          </p:cNvPicPr>
          <p:nvPr/>
        </p:nvPicPr>
        <p:blipFill>
          <a:blip r:embed="rId3"/>
          <a:stretch>
            <a:fillRect/>
          </a:stretch>
        </p:blipFill>
        <p:spPr>
          <a:xfrm>
            <a:off x="6950000" y="1000000"/>
            <a:ext cx="4700000" cy="4700000"/>
          </a:xfrm>
          <a:prstGeom prst="rect">
            <a:avLst/>
          </a:prstGeom>
        </p:spPr>
      </p:pic>
    </p:spTree>
    <p:extLst>
      <p:ext uri="{BB962C8B-B14F-4D97-AF65-F5344CB8AC3E}">
        <ns3:creationId val="666535468"/>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Your starting point">
    <p:bg>
      <p:bgPr>
        <a:solidFill>
          <a:srgbClr val="FFFFFF"/>
        </a:solidFill>
      </p:bgPr>
    </p:bg>
    <p:spTree>
      <p:nvGrpSpPr>
        <p:cNvPr id="1" name=""/>
        <p:cNvGrpSpPr/>
        <p:nvPr/>
      </p:nvGrpSpPr>
      <p:grpSpPr>
        <a:xfrm/>
      </p:grpSpPr>
      <p:sp>
        <p:nvSpPr>
          <p:cNvPr id="9" name="text-5">
            <a:extLst>
              <a:ext uri="{FF2B5EF4-FFF2-40B4-BE49-F238E27FC236}">
                <ns2:creationId id="{8C4B6122-083B-4932-9299-A134C76F58A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6">
            <a:extLst>
              <a:ext uri="{FF2B5EF4-FFF2-40B4-BE49-F238E27FC236}">
                <ns2:creationId id="{89FC88FC-553A-4815-A78E-10144D39109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Your starting point</a:t>
            </a:r>
          </a:p>
        </p:txBody>
      </p:sp>
      <p:sp>
        <p:nvSpPr>
          <p:cNvPr id="4" name="text-8">
            <a:extLst>
              <a:ext uri="{FF2B5EF4-FFF2-40B4-BE49-F238E27FC236}">
                <ns2:creationId id="{E145A785-A821-4031-9F71-D0F058A6BDD6}"/>
              </a:ext>
            </a:extLst>
          </p:cNvPr>
          <p:cNvSpPr>
            <a:spLocks noGrp="1"/>
          </p:cNvSpPr>
          <p:nvPr/>
        </p:nvSpPr>
        <p:spPr>
          <a:xfrm>
            <a:off x="619125" y="2000250"/>
            <a:ext cx="7230875"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YOUR CURRENT WORK</a:t>
            </a:r>
          </a:p>
        </p:txBody>
      </p:sp>
      <p:sp>
        <p:nvSpPr>
          <p:cNvPr id="5" name="text-9">
            <a:extLst>
              <a:ext uri="{FF2B5EF4-FFF2-40B4-BE49-F238E27FC236}">
                <ns2:creationId id="{8A88390B-A3C6-45FC-A7C9-4D3EA6E1508F}"/>
              </a:ext>
            </a:extLst>
          </p:cNvPr>
          <p:cNvSpPr>
            <a:spLocks noGrp="1"/>
          </p:cNvSpPr>
          <p:nvPr/>
        </p:nvSpPr>
        <p:spPr>
          <a:xfrm>
            <a:off x="619125" y="2495550"/>
            <a:ext cx="7230875"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Name a task you trust AI with today and a task you would check.</a:t>
            </a:r>
          </a:p>
        </p:txBody>
      </p:sp>
      <p:sp>
        <p:nvSpPr>
          <p:cNvPr id="6" name="text-10">
            <a:extLst>
              <a:ext uri="{FF2B5EF4-FFF2-40B4-BE49-F238E27FC236}">
                <ns2:creationId id="{D9264927-E5B4-4767-9C50-2049905E7B19}"/>
              </a:ext>
            </a:extLst>
          </p:cNvPr>
          <p:cNvSpPr>
            <a:spLocks noGrp="1"/>
          </p:cNvSpPr>
          <p:nvPr/>
        </p:nvSpPr>
        <p:spPr>
          <a:xfrm>
            <a:off x="619125" y="3857625"/>
            <a:ext cx="7230875"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11">
            <a:extLst>
              <a:ext uri="{FF2B5EF4-FFF2-40B4-BE49-F238E27FC236}">
                <ns2:creationId id="{95005AEE-5E4C-4893-BD45-3EE76F747C55}"/>
              </a:ext>
            </a:extLst>
          </p:cNvPr>
          <p:cNvSpPr>
            <a:spLocks noGrp="1"/>
          </p:cNvSpPr>
          <p:nvPr/>
        </p:nvSpPr>
        <p:spPr>
          <a:xfrm>
            <a:off x="619125" y="4362450"/>
            <a:ext cx="7230875"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Which work suits AI, ordinary software or professional judgement?</a:t>
            </a:r>
          </a:p>
        </p:txBody>
      </p:sp>
      <p:sp>
        <p:nvSpPr>
          <p:cNvPr id="8" name="text-12">
            <a:extLst>
              <a:ext uri="{FF2B5EF4-FFF2-40B4-BE49-F238E27FC236}">
                <ns2:creationId id="{8C216A75-BB88-4D0A-9CEF-5C706C260926}"/>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 baseline of understanding and one candidate firm task.</a:t>
            </a:r>
          </a:p>
        </p:txBody>
      </p:sp>
      <p:sp>
        <p:nvSpPr>
          <p:cNvPr id="3" name="text-7">
            <a:extLst>
              <a:ext uri="{FF2B5EF4-FFF2-40B4-BE49-F238E27FC236}">
                <ns2:creationId id="{9226BF1F-8E17-40F8-950F-0A6EAF19913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2</a:t>
            </a:r>
          </a:p>
        </p:txBody>
      </p:sp>
      <p:pic xmlns:r="http://schemas.openxmlformats.org/officeDocument/2006/relationships">
        <p:nvPicPr>
          <p:cNvPr id="10" name="illustration-people_ai" descr="Illustration: a person and an ai system exchanging request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119738074"/>
      </p:ext>
    </p:extLst>
  </p:cSld>
  <p:transition spd="med" advClick="1">
    <p:fade/>
  </p:transition>
</p:sld>
</file>

<file path=ppt/slides/slide3.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One firm and one matter">
    <p:bg>
      <p:bgPr>
        <a:solidFill>
          <a:srgbClr val="FFFFFF"/>
        </a:solidFill>
      </p:bgPr>
    </p:bg>
    <p:spTree>
      <p:nvGrpSpPr>
        <p:cNvPr id="1" name=""/>
        <p:cNvGrpSpPr/>
        <p:nvPr/>
      </p:nvGrpSpPr>
      <p:grpSpPr>
        <a:xfrm/>
      </p:grpSpPr>
      <p:sp>
        <p:nvSpPr>
          <p:cNvPr id="13" name="text-13">
            <a:extLst>
              <a:ext uri="{FF2B5EF4-FFF2-40B4-BE49-F238E27FC236}">
                <ns2:creationId id="{F534BFDA-C80A-4051-889D-EF271490175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14">
            <a:extLst>
              <a:ext uri="{FF2B5EF4-FFF2-40B4-BE49-F238E27FC236}">
                <ns2:creationId id="{46691D4B-3DBF-42BF-B73C-E7BA7FBB9AF3}"/>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One firm and one matter</a:t>
            </a:r>
          </a:p>
        </p:txBody>
      </p:sp>
      <p:sp>
        <p:nvSpPr>
          <p:cNvPr id="4" name="text-16">
            <a:extLst>
              <a:ext uri="{FF2B5EF4-FFF2-40B4-BE49-F238E27FC236}">
                <ns2:creationId id="{F1C8932A-2A38-42BA-8E2C-E7E441B7E515}"/>
              </a:ext>
            </a:extLst>
          </p:cNvPr>
          <p:cNvSpPr>
            <a:spLocks noGrp="1"/>
          </p:cNvSpPr>
          <p:nvPr/>
        </p:nvSpPr>
        <p:spPr>
          <a:xfrm>
            <a:off x="619125" y="2000250"/>
            <a:ext cx="10858500" cy="666750"/>
          </a:xfrm>
          <a:prstGeom prst="rect">
            <a:avLst/>
          </a:prstGeom>
          <a:noFill/>
          <a:ln w="0">
            <a:noFill/>
          </a:ln>
        </p:spPr>
        <p:txBody>
          <a:bodyPr>
            <a:noAutofit/>
          </a:bodyPr>
          <a:lstStyle>
            <a:defPPr>
              <a:defRPr sz="2625" b="1">
                <a:solidFill>
                  <a:srgbClr val="1C3144"/>
                </a:solidFill>
                <a:latin typeface="Calibri"/>
                <a:ea typeface="Calibri"/>
                <a:cs typeface="Calibri"/>
              </a:defRPr>
            </a:defPPr>
            <a:lvl1pPr>
              <a:defRPr sz="2625" b="1">
                <a:solidFill>
                  <a:srgbClr val="1C3144"/>
                </a:solidFill>
                <a:latin typeface="Calibri"/>
                <a:ea typeface="Calibri"/>
                <a:cs typeface="Calibri"/>
              </a:defRPr>
            </a:lvl1pPr>
            <a:lvl2pPr>
              <a:defRPr sz="2625" b="1">
                <a:solidFill>
                  <a:srgbClr val="1C3144"/>
                </a:solidFill>
                <a:latin typeface="Calibri"/>
                <a:ea typeface="Calibri"/>
                <a:cs typeface="Calibri"/>
              </a:defRPr>
            </a:lvl2pPr>
            <a:lvl3pPr>
              <a:defRPr sz="2625" b="1">
                <a:solidFill>
                  <a:srgbClr val="1C3144"/>
                </a:solidFill>
                <a:latin typeface="Calibri"/>
                <a:ea typeface="Calibri"/>
                <a:cs typeface="Calibri"/>
              </a:defRPr>
            </a:lvl3pPr>
            <a:lvl4pPr>
              <a:defRPr sz="2625" b="1">
                <a:solidFill>
                  <a:srgbClr val="1C3144"/>
                </a:solidFill>
                <a:latin typeface="Calibri"/>
                <a:ea typeface="Calibri"/>
                <a:cs typeface="Calibri"/>
              </a:defRPr>
            </a:lvl4pPr>
            <a:lvl5pPr>
              <a:defRPr sz="2625" b="1">
                <a:solidFill>
                  <a:srgbClr val="1C3144"/>
                </a:solidFill>
                <a:latin typeface="Calibri"/>
                <a:ea typeface="Calibri"/>
                <a:cs typeface="Calibri"/>
              </a:defRPr>
            </a:lvl5pPr>
            <a:lvl6pPr>
              <a:defRPr sz="2625" b="1">
                <a:solidFill>
                  <a:srgbClr val="1C3144"/>
                </a:solidFill>
                <a:latin typeface="Calibri"/>
                <a:ea typeface="Calibri"/>
                <a:cs typeface="Calibri"/>
              </a:defRPr>
            </a:lvl6pPr>
            <a:lvl7pPr>
              <a:defRPr sz="2625" b="1">
                <a:solidFill>
                  <a:srgbClr val="1C3144"/>
                </a:solidFill>
                <a:latin typeface="Calibri"/>
                <a:ea typeface="Calibri"/>
                <a:cs typeface="Calibri"/>
              </a:defRPr>
            </a:lvl7pPr>
            <a:lvl8pPr>
              <a:defRPr sz="2625" b="1">
                <a:solidFill>
                  <a:srgbClr val="1C3144"/>
                </a:solidFill>
                <a:latin typeface="Calibri"/>
                <a:ea typeface="Calibri"/>
                <a:cs typeface="Calibri"/>
              </a:defRPr>
            </a:lvl8pPr>
            <a:lvl9pPr>
              <a:defRPr sz="2625" b="1">
                <a:solidFill>
                  <a:srgbClr val="1C3144"/>
                </a:solidFill>
                <a:latin typeface="Calibri"/>
                <a:ea typeface="Calibri"/>
                <a:cs typeface="Calibri"/>
              </a:defRPr>
            </a:lvl9pPr>
          </a:lstStyle>
          <a:p>
            <a:pPr>
              <a:defRPr sz="2625" b="1">
                <a:solidFill>
                  <a:srgbClr val="1C3144"/>
                </a:solidFill>
                <a:latin typeface="Calibri"/>
                <a:ea typeface="Calibri"/>
                <a:cs typeface="Calibri"/>
              </a:defRPr>
            </a:pPr>
            <a:r>
              <a:rPr sz="2625" b="1">
                <a:solidFill>
                  <a:srgbClr val="1C3144"/>
                </a:solidFill>
                <a:latin typeface="Calibri"/>
                <a:ea typeface="Calibri"/>
                <a:cs typeface="Calibri"/>
              </a:rPr>
              <a:t>Kampala Legal and Tax acts for the customer.</a:t>
            </a:r>
          </a:p>
        </p:txBody>
      </p:sp>
      <p:sp>
        <p:nvSpPr>
          <p:cNvPr id="5" name="shape-17">
            <a:extLst>
              <a:ext uri="{FF2B5EF4-FFF2-40B4-BE49-F238E27FC236}">
                <ns2:creationId id="{2F6B99C9-ACA2-4E86-B450-0CB86BBA2F45}"/>
              </a:ext>
              <a:ext uri="{C183D7F6-B498-43B3-948B-1728B52AA6E4}">
                <ns3:decorative val="1"/>
              </a:ext>
            </a:extLst>
          </p:cNvPr>
          <p:cNvSpPr>
            <a:spLocks noGrp="1"/>
          </p:cNvSpPr>
          <p:nvPr/>
        </p:nvSpPr>
        <p:spPr>
          <a:xfrm>
            <a:off x="619125" y="3190875"/>
            <a:ext cx="4857750" cy="1762125"/>
          </a:xfrm>
          <a:prstGeom prst="rect">
            <a:avLst/>
          </a:prstGeom>
          <a:solidFill>
            <a:srgbClr val="E9F3F0"/>
          </a:solidFill>
          <a:ln w="11430">
            <a:solidFill>
              <a:srgbClr val="C9D5DA"/>
            </a:solidFill>
          </a:ln>
        </p:spPr>
      </p:sp>
      <p:sp>
        <p:nvSpPr>
          <p:cNvPr id="6" name="text-18">
            <a:extLst>
              <a:ext uri="{FF2B5EF4-FFF2-40B4-BE49-F238E27FC236}">
                <ns2:creationId id="{59089B11-FD3D-46CA-954A-C503A4E39DC3}"/>
              </a:ext>
            </a:extLst>
          </p:cNvPr>
          <p:cNvSpPr>
            <a:spLocks noGrp="1"/>
          </p:cNvSpPr>
          <p:nvPr/>
        </p:nvSpPr>
        <p:spPr>
          <a:xfrm>
            <a:off x="809625" y="3362325"/>
            <a:ext cx="4476750" cy="619125"/>
          </a:xfrm>
          <a:prstGeom prst="rect">
            <a:avLst/>
          </a:prstGeom>
          <a:noFill/>
          <a:ln w="0">
            <a:noFill/>
          </a:ln>
        </p:spPr>
        <p:txBody>
          <a:bodyPr>
            <a:noAutofit/>
          </a:bodyPr>
          <a:lstStyle>
            <a:defPPr>
              <a:defRPr sz="2400" b="1">
                <a:solidFill>
                  <a:srgbClr val="246E63"/>
                </a:solidFill>
                <a:latin typeface="Calibri"/>
                <a:ea typeface="Calibri"/>
                <a:cs typeface="Calibri"/>
              </a:defRPr>
            </a:defPPr>
            <a:lvl1pPr>
              <a:defRPr sz="2400" b="1">
                <a:solidFill>
                  <a:srgbClr val="246E63"/>
                </a:solidFill>
                <a:latin typeface="Calibri"/>
                <a:ea typeface="Calibri"/>
                <a:cs typeface="Calibri"/>
              </a:defRPr>
            </a:lvl1pPr>
            <a:lvl2pPr>
              <a:defRPr sz="2400" b="1">
                <a:solidFill>
                  <a:srgbClr val="246E63"/>
                </a:solidFill>
                <a:latin typeface="Calibri"/>
                <a:ea typeface="Calibri"/>
                <a:cs typeface="Calibri"/>
              </a:defRPr>
            </a:lvl2pPr>
            <a:lvl3pPr>
              <a:defRPr sz="2400" b="1">
                <a:solidFill>
                  <a:srgbClr val="246E63"/>
                </a:solidFill>
                <a:latin typeface="Calibri"/>
                <a:ea typeface="Calibri"/>
                <a:cs typeface="Calibri"/>
              </a:defRPr>
            </a:lvl3pPr>
            <a:lvl4pPr>
              <a:defRPr sz="2400" b="1">
                <a:solidFill>
                  <a:srgbClr val="246E63"/>
                </a:solidFill>
                <a:latin typeface="Calibri"/>
                <a:ea typeface="Calibri"/>
                <a:cs typeface="Calibri"/>
              </a:defRPr>
            </a:lvl4pPr>
            <a:lvl5pPr>
              <a:defRPr sz="2400" b="1">
                <a:solidFill>
                  <a:srgbClr val="246E63"/>
                </a:solidFill>
                <a:latin typeface="Calibri"/>
                <a:ea typeface="Calibri"/>
                <a:cs typeface="Calibri"/>
              </a:defRPr>
            </a:lvl5pPr>
            <a:lvl6pPr>
              <a:defRPr sz="2400" b="1">
                <a:solidFill>
                  <a:srgbClr val="246E63"/>
                </a:solidFill>
                <a:latin typeface="Calibri"/>
                <a:ea typeface="Calibri"/>
                <a:cs typeface="Calibri"/>
              </a:defRPr>
            </a:lvl6pPr>
            <a:lvl7pPr>
              <a:defRPr sz="2400" b="1">
                <a:solidFill>
                  <a:srgbClr val="246E63"/>
                </a:solidFill>
                <a:latin typeface="Calibri"/>
                <a:ea typeface="Calibri"/>
                <a:cs typeface="Calibri"/>
              </a:defRPr>
            </a:lvl7pPr>
            <a:lvl8pPr>
              <a:defRPr sz="2400" b="1">
                <a:solidFill>
                  <a:srgbClr val="246E63"/>
                </a:solidFill>
                <a:latin typeface="Calibri"/>
                <a:ea typeface="Calibri"/>
                <a:cs typeface="Calibri"/>
              </a:defRPr>
            </a:lvl8pPr>
            <a:lvl9pPr>
              <a:defRPr sz="2400" b="1">
                <a:solidFill>
                  <a:srgbClr val="246E63"/>
                </a:solidFill>
                <a:latin typeface="Calibri"/>
                <a:ea typeface="Calibri"/>
                <a:cs typeface="Calibri"/>
              </a:defRPr>
            </a:lvl9pPr>
          </a:lstStyle>
          <a:p>
            <a:pPr>
              <a:defRPr sz="2400" b="1">
                <a:solidFill>
                  <a:srgbClr val="246E63"/>
                </a:solidFill>
                <a:latin typeface="Calibri"/>
                <a:ea typeface="Calibri"/>
                <a:cs typeface="Calibri"/>
              </a:defRPr>
            </a:pPr>
            <a:r>
              <a:rPr sz="2400" b="1">
                <a:solidFill>
                  <a:srgbClr val="246E63"/>
                </a:solidFill>
                <a:latin typeface="Calibri"/>
                <a:ea typeface="Calibri"/>
                <a:cs typeface="Calibri"/>
              </a:rPr>
              <a:t>Victoria Services Ltd</a:t>
            </a:r>
          </a:p>
        </p:txBody>
      </p:sp>
      <p:sp>
        <p:nvSpPr>
          <p:cNvPr id="7" name="text-19">
            <a:extLst>
              <a:ext uri="{FF2B5EF4-FFF2-40B4-BE49-F238E27FC236}">
                <ns2:creationId id="{804B915C-D618-4EC1-897F-51E4450D57CC}"/>
              </a:ext>
            </a:extLst>
          </p:cNvPr>
          <p:cNvSpPr>
            <a:spLocks noGrp="1"/>
          </p:cNvSpPr>
          <p:nvPr/>
        </p:nvSpPr>
        <p:spPr>
          <a:xfrm>
            <a:off x="809625" y="4162425"/>
            <a:ext cx="4476750" cy="5715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Customer and client</a:t>
            </a:r>
          </a:p>
        </p:txBody>
      </p:sp>
      <p:sp>
        <p:nvSpPr>
          <p:cNvPr id="8" name="shape-20">
            <a:extLst>
              <a:ext uri="{FF2B5EF4-FFF2-40B4-BE49-F238E27FC236}">
                <ns2:creationId id="{EDAE27BD-5D82-4010-80D9-8D36447694EC}"/>
              </a:ext>
              <a:ext uri="{C183D7F6-B498-43B3-948B-1728B52AA6E4}">
                <ns3:decorative val="1"/>
              </a:ext>
            </a:extLst>
          </p:cNvPr>
          <p:cNvSpPr>
            <a:spLocks noGrp="1"/>
          </p:cNvSpPr>
          <p:nvPr/>
        </p:nvSpPr>
        <p:spPr>
          <a:xfrm>
            <a:off x="6715125" y="3190875"/>
            <a:ext cx="4857750" cy="1762125"/>
          </a:xfrm>
          <a:prstGeom prst="rect">
            <a:avLst/>
          </a:prstGeom>
          <a:solidFill>
            <a:srgbClr val="F1F5F6"/>
          </a:solidFill>
          <a:ln w="11430">
            <a:solidFill>
              <a:srgbClr val="C9D5DA"/>
            </a:solidFill>
          </a:ln>
        </p:spPr>
      </p:sp>
      <p:sp>
        <p:nvSpPr>
          <p:cNvPr id="9" name="text-21">
            <a:extLst>
              <a:ext uri="{FF2B5EF4-FFF2-40B4-BE49-F238E27FC236}">
                <ns2:creationId id="{3908AFB9-332C-4CCB-9E96-8673064F608B}"/>
              </a:ext>
            </a:extLst>
          </p:cNvPr>
          <p:cNvSpPr>
            <a:spLocks noGrp="1"/>
          </p:cNvSpPr>
          <p:nvPr/>
        </p:nvSpPr>
        <p:spPr>
          <a:xfrm>
            <a:off x="6905625" y="3362325"/>
            <a:ext cx="4476750" cy="619125"/>
          </a:xfrm>
          <a:prstGeom prst="rect">
            <a:avLst/>
          </a:prstGeom>
          <a:noFill/>
          <a:ln w="0">
            <a:noFill/>
          </a:ln>
        </p:spPr>
        <p:txBody>
          <a:bodyPr>
            <a:noAutofit/>
          </a:bodyPr>
          <a:lstStyle>
            <a:defPPr>
              <a:defRPr sz="2400" b="1">
                <a:solidFill>
                  <a:srgbClr val="246E63"/>
                </a:solidFill>
                <a:latin typeface="Calibri"/>
                <a:ea typeface="Calibri"/>
                <a:cs typeface="Calibri"/>
              </a:defRPr>
            </a:defPPr>
            <a:lvl1pPr>
              <a:defRPr sz="2400" b="1">
                <a:solidFill>
                  <a:srgbClr val="246E63"/>
                </a:solidFill>
                <a:latin typeface="Calibri"/>
                <a:ea typeface="Calibri"/>
                <a:cs typeface="Calibri"/>
              </a:defRPr>
            </a:lvl1pPr>
            <a:lvl2pPr>
              <a:defRPr sz="2400" b="1">
                <a:solidFill>
                  <a:srgbClr val="246E63"/>
                </a:solidFill>
                <a:latin typeface="Calibri"/>
                <a:ea typeface="Calibri"/>
                <a:cs typeface="Calibri"/>
              </a:defRPr>
            </a:lvl2pPr>
            <a:lvl3pPr>
              <a:defRPr sz="2400" b="1">
                <a:solidFill>
                  <a:srgbClr val="246E63"/>
                </a:solidFill>
                <a:latin typeface="Calibri"/>
                <a:ea typeface="Calibri"/>
                <a:cs typeface="Calibri"/>
              </a:defRPr>
            </a:lvl3pPr>
            <a:lvl4pPr>
              <a:defRPr sz="2400" b="1">
                <a:solidFill>
                  <a:srgbClr val="246E63"/>
                </a:solidFill>
                <a:latin typeface="Calibri"/>
                <a:ea typeface="Calibri"/>
                <a:cs typeface="Calibri"/>
              </a:defRPr>
            </a:lvl4pPr>
            <a:lvl5pPr>
              <a:defRPr sz="2400" b="1">
                <a:solidFill>
                  <a:srgbClr val="246E63"/>
                </a:solidFill>
                <a:latin typeface="Calibri"/>
                <a:ea typeface="Calibri"/>
                <a:cs typeface="Calibri"/>
              </a:defRPr>
            </a:lvl5pPr>
            <a:lvl6pPr>
              <a:defRPr sz="2400" b="1">
                <a:solidFill>
                  <a:srgbClr val="246E63"/>
                </a:solidFill>
                <a:latin typeface="Calibri"/>
                <a:ea typeface="Calibri"/>
                <a:cs typeface="Calibri"/>
              </a:defRPr>
            </a:lvl6pPr>
            <a:lvl7pPr>
              <a:defRPr sz="2400" b="1">
                <a:solidFill>
                  <a:srgbClr val="246E63"/>
                </a:solidFill>
                <a:latin typeface="Calibri"/>
                <a:ea typeface="Calibri"/>
                <a:cs typeface="Calibri"/>
              </a:defRPr>
            </a:lvl7pPr>
            <a:lvl8pPr>
              <a:defRPr sz="2400" b="1">
                <a:solidFill>
                  <a:srgbClr val="246E63"/>
                </a:solidFill>
                <a:latin typeface="Calibri"/>
                <a:ea typeface="Calibri"/>
                <a:cs typeface="Calibri"/>
              </a:defRPr>
            </a:lvl8pPr>
            <a:lvl9pPr>
              <a:defRPr sz="2400" b="1">
                <a:solidFill>
                  <a:srgbClr val="246E63"/>
                </a:solidFill>
                <a:latin typeface="Calibri"/>
                <a:ea typeface="Calibri"/>
                <a:cs typeface="Calibri"/>
              </a:defRPr>
            </a:lvl9pPr>
          </a:lstStyle>
          <a:p>
            <a:pPr>
              <a:defRPr sz="2400" b="1">
                <a:solidFill>
                  <a:srgbClr val="246E63"/>
                </a:solidFill>
                <a:latin typeface="Calibri"/>
                <a:ea typeface="Calibri"/>
                <a:cs typeface="Calibri"/>
              </a:defRPr>
            </a:pPr>
            <a:r>
              <a:rPr sz="2400" b="1">
                <a:solidFill>
                  <a:srgbClr val="246E63"/>
                </a:solidFill>
                <a:latin typeface="Calibri"/>
                <a:ea typeface="Calibri"/>
                <a:cs typeface="Calibri"/>
              </a:rPr>
              <a:t>Equator Systems Ltd</a:t>
            </a:r>
          </a:p>
        </p:txBody>
      </p:sp>
      <p:sp>
        <p:nvSpPr>
          <p:cNvPr id="10" name="text-22">
            <a:extLst>
              <a:ext uri="{FF2B5EF4-FFF2-40B4-BE49-F238E27FC236}">
                <ns2:creationId id="{E7C5289B-FB94-4978-8658-51D6C7C1B861}"/>
              </a:ext>
            </a:extLst>
          </p:cNvPr>
          <p:cNvSpPr>
            <a:spLocks noGrp="1"/>
          </p:cNvSpPr>
          <p:nvPr/>
        </p:nvSpPr>
        <p:spPr>
          <a:xfrm>
            <a:off x="6905625" y="4162425"/>
            <a:ext cx="4476750" cy="5715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Service provider</a:t>
            </a:r>
          </a:p>
        </p:txBody>
      </p:sp>
      <p:sp>
        <p:nvSpPr>
          <p:cNvPr id="11" name="text-23">
            <a:extLst>
              <a:ext uri="{FF2B5EF4-FFF2-40B4-BE49-F238E27FC236}">
                <ns2:creationId id="{223BEFB6-CEB3-4A64-A363-A3A055934104}"/>
              </a:ext>
            </a:extLst>
          </p:cNvPr>
          <p:cNvSpPr>
            <a:spLocks noGrp="1"/>
          </p:cNvSpPr>
          <p:nvPr/>
        </p:nvSpPr>
        <p:spPr>
          <a:xfrm>
            <a:off x="5572125" y="3733800"/>
            <a:ext cx="1143000" cy="476250"/>
          </a:xfrm>
          <a:prstGeom prst="rect">
            <a:avLst/>
          </a:prstGeom>
          <a:noFill/>
          <a:ln w="0">
            <a:noFill/>
          </a:ln>
        </p:spPr>
        <p:txBody>
          <a:bodyPr>
            <a:noAutofit/>
          </a:bodyPr>
          <a:lstStyle>
            <a:defPPr>
              <a:defRPr sz="1500" b="1">
                <a:solidFill>
                  <a:srgbClr val="C94E29"/>
                </a:solidFill>
                <a:latin typeface="Calibri"/>
                <a:ea typeface="Calibri"/>
                <a:cs typeface="Calibri"/>
              </a:defRPr>
            </a:defPPr>
            <a:lvl1pPr>
              <a:defRPr sz="1500" b="1">
                <a:solidFill>
                  <a:srgbClr val="C94E29"/>
                </a:solidFill>
                <a:latin typeface="Calibri"/>
                <a:ea typeface="Calibri"/>
                <a:cs typeface="Calibri"/>
              </a:defRPr>
            </a:lvl1pPr>
            <a:lvl2pPr>
              <a:defRPr sz="1500" b="1">
                <a:solidFill>
                  <a:srgbClr val="C94E29"/>
                </a:solidFill>
                <a:latin typeface="Calibri"/>
                <a:ea typeface="Calibri"/>
                <a:cs typeface="Calibri"/>
              </a:defRPr>
            </a:lvl2pPr>
            <a:lvl3pPr>
              <a:defRPr sz="1500" b="1">
                <a:solidFill>
                  <a:srgbClr val="C94E29"/>
                </a:solidFill>
                <a:latin typeface="Calibri"/>
                <a:ea typeface="Calibri"/>
                <a:cs typeface="Calibri"/>
              </a:defRPr>
            </a:lvl3pPr>
            <a:lvl4pPr>
              <a:defRPr sz="1500" b="1">
                <a:solidFill>
                  <a:srgbClr val="C94E29"/>
                </a:solidFill>
                <a:latin typeface="Calibri"/>
                <a:ea typeface="Calibri"/>
                <a:cs typeface="Calibri"/>
              </a:defRPr>
            </a:lvl4pPr>
            <a:lvl5pPr>
              <a:defRPr sz="1500" b="1">
                <a:solidFill>
                  <a:srgbClr val="C94E29"/>
                </a:solidFill>
                <a:latin typeface="Calibri"/>
                <a:ea typeface="Calibri"/>
                <a:cs typeface="Calibri"/>
              </a:defRPr>
            </a:lvl5pPr>
            <a:lvl6pPr>
              <a:defRPr sz="1500" b="1">
                <a:solidFill>
                  <a:srgbClr val="C94E29"/>
                </a:solidFill>
                <a:latin typeface="Calibri"/>
                <a:ea typeface="Calibri"/>
                <a:cs typeface="Calibri"/>
              </a:defRPr>
            </a:lvl6pPr>
            <a:lvl7pPr>
              <a:defRPr sz="1500" b="1">
                <a:solidFill>
                  <a:srgbClr val="C94E29"/>
                </a:solidFill>
                <a:latin typeface="Calibri"/>
                <a:ea typeface="Calibri"/>
                <a:cs typeface="Calibri"/>
              </a:defRPr>
            </a:lvl7pPr>
            <a:lvl8pPr>
              <a:defRPr sz="1500" b="1">
                <a:solidFill>
                  <a:srgbClr val="C94E29"/>
                </a:solidFill>
                <a:latin typeface="Calibri"/>
                <a:ea typeface="Calibri"/>
                <a:cs typeface="Calibri"/>
              </a:defRPr>
            </a:lvl8pPr>
            <a:lvl9pPr>
              <a:defRPr sz="1500" b="1">
                <a:solidFill>
                  <a:srgbClr val="C94E29"/>
                </a:solidFill>
                <a:latin typeface="Calibri"/>
                <a:ea typeface="Calibri"/>
                <a:cs typeface="Calibri"/>
              </a:defRPr>
            </a:lvl9pPr>
          </a:lstStyle>
          <a:p>
            <a:pPr>
              <a:defRPr sz="1500" b="1">
                <a:solidFill>
                  <a:srgbClr val="C94E29"/>
                </a:solidFill>
                <a:latin typeface="Calibri"/>
                <a:ea typeface="Calibri"/>
                <a:cs typeface="Calibri"/>
              </a:defRPr>
            </a:pPr>
            <a:r>
              <a:rPr sz="1500" b="1">
                <a:solidFill>
                  <a:srgbClr val="C94E29"/>
                </a:solidFill>
                <a:latin typeface="Calibri"/>
                <a:ea typeface="Calibri"/>
                <a:cs typeface="Calibri"/>
              </a:rPr>
              <a:t>Contract</a:t>
            </a:r>
          </a:p>
        </p:txBody>
      </p:sp>
      <p:sp>
        <p:nvSpPr>
          <p:cNvPr id="12" name="text-24">
            <a:extLst>
              <a:ext uri="{FF2B5EF4-FFF2-40B4-BE49-F238E27FC236}">
                <ns2:creationId id="{B19C13A2-45C5-4D45-B01D-55DE54D41A24}"/>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Equator proposes a reorganisation. Ownership and continued responsibility are unconfirmed.</a:t>
            </a:r>
          </a:p>
        </p:txBody>
      </p:sp>
      <p:sp>
        <p:nvSpPr>
          <p:cNvPr id="3" name="text-15">
            <a:extLst>
              <a:ext uri="{FF2B5EF4-FFF2-40B4-BE49-F238E27FC236}">
                <ns2:creationId id="{64EF74AA-8B82-46B9-AC90-B35F8858A60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3</a:t>
            </a:r>
          </a:p>
        </p:txBody>
      </p:sp>
    </p:spTree>
    <p:extLst>
      <p:ext uri="{BB962C8B-B14F-4D97-AF65-F5344CB8AC3E}">
        <ns4:creationId val="3679178"/>
      </p:ext>
    </p:extLst>
  </p:cSld>
  <p:transition spd="med" advClick="1">
    <p:fade/>
  </p:transition>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name="The recurring information collection">
    <p:bg>
      <p:bgPr>
        <a:solidFill>
          <a:srgbClr val="FFFFFF"/>
        </a:solidFill>
      </p:bgPr>
    </p:bg>
    <p:spTree>
      <p:nvGrpSpPr>
        <p:cNvPr id="1" name=""/>
        <p:cNvGrpSpPr/>
        <p:nvPr/>
      </p:nvGrpSpPr>
      <p:grpSpPr>
        <a:xfrm/>
      </p:grpSpPr>
      <p:sp>
        <p:nvSpPr>
          <p:cNvPr id="12" name="text-25">
            <a:extLst>
              <a:ext uri="{FF2B5EF4-FFF2-40B4-BE49-F238E27FC236}">
                <ns2:creationId id="{E6D156B4-9803-45F7-8E9B-1E8E597490C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26">
            <a:extLst>
              <a:ext uri="{FF2B5EF4-FFF2-40B4-BE49-F238E27FC236}">
                <ns2:creationId id="{D07E46B0-4C68-4524-8B34-22F5283A678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recurring information collection</a:t>
            </a:r>
          </a:p>
        </p:txBody>
      </p:sp>
      <p:sp>
        <p:nvSpPr>
          <p:cNvPr id="4" name="text-28">
            <a:extLst>
              <a:ext uri="{FF2B5EF4-FFF2-40B4-BE49-F238E27FC236}">
                <ns2:creationId id="{BFAE46B6-8586-468B-8E41-E8482694E0D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9">
            <a:extLst>
              <a:ext uri="{FF2B5EF4-FFF2-40B4-BE49-F238E27FC236}">
                <ns2:creationId id="{67E48A82-3BFC-4B87-A8AF-F333408587CD}"/>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Executed agreement CONTRACT-01 v2</a:t>
            </a:r>
          </a:p>
        </p:txBody>
      </p:sp>
      <p:sp>
        <p:nvSpPr>
          <p:cNvPr id="6" name="text-30">
            <a:extLst>
              <a:ext uri="{FF2B5EF4-FFF2-40B4-BE49-F238E27FC236}">
                <ns2:creationId id="{897FADF1-C3AC-4904-A45F-49AA471F1B2D}"/>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1">
            <a:extLst>
              <a:ext uri="{FF2B5EF4-FFF2-40B4-BE49-F238E27FC236}">
                <ns2:creationId id="{EA0518BE-61C0-451E-B0EA-13C3A7086D64}"/>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Draft v1, firm playbook and client instruction</a:t>
            </a:r>
          </a:p>
        </p:txBody>
      </p:sp>
      <p:sp>
        <p:nvSpPr>
          <p:cNvPr id="8" name="text-32">
            <a:extLst>
              <a:ext uri="{FF2B5EF4-FFF2-40B4-BE49-F238E27FC236}">
                <ns2:creationId id="{4DF027FB-1BFE-43C2-8480-D89C6F10A07D}"/>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3">
            <a:extLst>
              <a:ext uri="{FF2B5EF4-FFF2-40B4-BE49-F238E27FC236}">
                <ns2:creationId id="{E8B7CE3D-440B-49E3-BB9B-7DC9F2FE7F0D}"/>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Sales, credit notes, ledger and receipts</a:t>
            </a:r>
          </a:p>
        </p:txBody>
      </p:sp>
      <p:sp>
        <p:nvSpPr>
          <p:cNvPr id="10" name="text-34">
            <a:extLst>
              <a:ext uri="{FF2B5EF4-FFF2-40B4-BE49-F238E27FC236}">
                <ns2:creationId id="{AEB553DE-B7CA-46E4-A5F8-32D5F96C745A}"/>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35">
            <a:extLst>
              <a:ext uri="{FF2B5EF4-FFF2-40B4-BE49-F238E27FC236}">
                <ns2:creationId id="{8E38E174-9808-4852-B2EB-7D6387E52A1A}"/>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Public legislation, judgments and URA guidance</a:t>
            </a:r>
          </a:p>
        </p:txBody>
      </p:sp>
      <p:sp>
        <p:nvSpPr>
          <p:cNvPr id="3" name="text-27">
            <a:extLst>
              <a:ext uri="{FF2B5EF4-FFF2-40B4-BE49-F238E27FC236}">
                <ns2:creationId id="{23DBA739-EE27-4239-A261-62CB03D848A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4</a:t>
            </a:r>
          </a:p>
        </p:txBody>
      </p:sp>
      <p:pic xmlns:r="http://schemas.openxmlformats.org/officeDocument/2006/relationships">
        <p:nvPicPr>
          <p:cNvPr id="13" name="illustration-database" descr="Illustration: a collection of records and a matter folder"/>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976294128"/>
      </p:ext>
    </p:extLst>
  </p:cSld>
  <p:transition spd="med" advClick="1">
    <p:fade/>
  </p:transition>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name="AI systems">
    <p:bg>
      <p:bgPr>
        <a:solidFill>
          <a:srgbClr val="FFFFFF"/>
        </a:solidFill>
      </p:bgPr>
    </p:bg>
    <p:spTree>
      <p:nvGrpSpPr>
        <p:cNvPr id="1" name=""/>
        <p:cNvGrpSpPr/>
        <p:nvPr/>
      </p:nvGrpSpPr>
      <p:grpSpPr>
        <a:xfrm/>
      </p:grpSpPr>
      <p:sp>
        <p:nvSpPr>
          <p:cNvPr id="7" name="text-36">
            <a:extLst>
              <a:ext uri="{FF2B5EF4-FFF2-40B4-BE49-F238E27FC236}">
                <ns2:creationId id="{640B1BEE-B56E-4FF2-B2DE-3C9C4BEE633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37">
            <a:extLst>
              <a:ext uri="{FF2B5EF4-FFF2-40B4-BE49-F238E27FC236}">
                <ns2:creationId id="{4280C266-701F-47DE-A610-8B21D3C3A77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AI systems</a:t>
            </a:r>
          </a:p>
        </p:txBody>
      </p:sp>
      <p:sp>
        <p:nvSpPr>
          <p:cNvPr id="4" name="text-39">
            <a:extLst>
              <a:ext uri="{FF2B5EF4-FFF2-40B4-BE49-F238E27FC236}">
                <ns2:creationId id="{0C029233-3DE4-42D7-BBDC-80808603CE67}"/>
              </a:ext>
            </a:extLst>
          </p:cNvPr>
          <p:cNvSpPr>
            <a:spLocks noGrp="1"/>
          </p:cNvSpPr>
          <p:nvPr/>
        </p:nvSpPr>
        <p:spPr>
          <a:xfrm>
            <a:off x="619125" y="1933575"/>
            <a:ext cx="7230875"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An AI system infers from inputs how to produce predictions, content, recommendations or decisions for explicit or implicit objectives. Systems vary in autonomy and adaptation.</a:t>
            </a:r>
          </a:p>
        </p:txBody>
      </p:sp>
      <p:sp>
        <p:nvSpPr>
          <p:cNvPr id="5" name="text-40">
            <a:extLst>
              <a:ext uri="{FF2B5EF4-FFF2-40B4-BE49-F238E27FC236}">
                <ns2:creationId id="{40A7C303-CFFA-4A7E-8C9D-D83F1E13E266}"/>
              </a:ext>
            </a:extLst>
          </p:cNvPr>
          <p:cNvSpPr>
            <a:spLocks noGrp="1"/>
          </p:cNvSpPr>
          <p:nvPr/>
        </p:nvSpPr>
        <p:spPr>
          <a:xfrm>
            <a:off x="619125" y="4476750"/>
            <a:ext cx="7230875"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THE FIELD</a:t>
            </a:r>
          </a:p>
        </p:txBody>
      </p:sp>
      <p:sp>
        <p:nvSpPr>
          <p:cNvPr id="6" name="text-41">
            <a:extLst>
              <a:ext uri="{FF2B5EF4-FFF2-40B4-BE49-F238E27FC236}">
                <ns2:creationId id="{4ABC4668-97D6-48BE-80AF-A38B3D5F01F8}"/>
              </a:ext>
            </a:extLst>
          </p:cNvPr>
          <p:cNvSpPr>
            <a:spLocks noGrp="1"/>
          </p:cNvSpPr>
          <p:nvPr/>
        </p:nvSpPr>
        <p:spPr>
          <a:xfrm>
            <a:off x="619125" y="4962525"/>
            <a:ext cx="7230875"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AI is also the field concerned with building and studying such systems.</a:t>
            </a:r>
          </a:p>
        </p:txBody>
      </p:sp>
      <p:sp>
        <p:nvSpPr>
          <p:cNvPr id="3" name="text-38">
            <a:extLst>
              <a:ext uri="{FF2B5EF4-FFF2-40B4-BE49-F238E27FC236}">
                <ns2:creationId id="{53061ABC-3F5E-45F9-89BC-58F74E69D9A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5</a:t>
            </a:r>
          </a:p>
        </p:txBody>
      </p:sp>
      <p:pic xmlns:r="http://schemas.openxmlformats.org/officeDocument/2006/relationships">
        <p:nvPicPr>
          <p:cNvPr id="8" name="illustration-cogs" descr="Illustration: two cogs and a completed chec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70116448"/>
      </p:ext>
    </p:extLst>
  </p:cSld>
  <p:transition spd="med" advClick="1">
    <p:fade/>
  </p:transition>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name="AI, analysis and learning">
    <p:bg>
      <p:bgPr>
        <a:solidFill>
          <a:srgbClr val="FFFFFF"/>
        </a:solidFill>
      </p:bgPr>
    </p:bg>
    <p:spTree>
      <p:nvGrpSpPr>
        <p:cNvPr id="1" name=""/>
        <p:cNvGrpSpPr/>
        <p:nvPr/>
      </p:nvGrpSpPr>
      <p:grpSpPr>
        <a:xfrm/>
      </p:grpSpPr>
      <p:sp>
        <p:nvSpPr>
          <p:cNvPr id="5" name="text-42">
            <a:extLst>
              <a:ext uri="{FF2B5EF4-FFF2-40B4-BE49-F238E27FC236}">
                <ns2:creationId id="{97F25578-FE5E-49C2-AF8D-81C9A470F5C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43">
            <a:extLst>
              <a:ext uri="{FF2B5EF4-FFF2-40B4-BE49-F238E27FC236}">
                <ns2:creationId id="{BD34A5FA-FBBA-416C-82EF-77C6467E8BC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AI, analysis and learning</a:t>
            </a:r>
          </a:p>
        </p:txBody>
      </p:sp>
      <p:graphicFrame>
        <p:nvGraphicFramePr>
          <p:cNvPr id="4" name="">
            <a:extLst>
              <a:ext uri="{FF2B5EF4-FFF2-40B4-BE49-F238E27FC236}">
                <ns2:creationId id="{A460DEB2-9267-47B6-A870-A2C8A443A99A}"/>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748665">
                <a:tc>
                  <a:txBody>
                    <a:bodyPr/>
                    <a:lstStyle/>
                    <a:p>
                      <a:r>
                        <a:rPr sz="1875" b="1">
                          <a:solidFill>
                            <a:srgbClr val="FFFFFF"/>
                          </a:solidFill>
                          <a:latin typeface="Calibri"/>
                          <a:ea typeface="Calibri"/>
                          <a:cs typeface="Calibri"/>
                        </a:rPr>
                        <a:t>Term</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Meaning</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Example in the firm</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Data analysis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Examine data to answer a question</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Reconcile sales and receipts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Data science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Use computing, statistics and domain knowledge to study data</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Design and evaluate a document classifier</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Machine learning</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Learn patterns from examples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Predict a document category</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Deep learning</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ML using multiple neural-network layers</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Learn useful text representations</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44">
            <a:extLst>
              <a:ext uri="{FF2B5EF4-FFF2-40B4-BE49-F238E27FC236}">
                <ns2:creationId id="{38DE41F5-C184-435D-9F35-B8F57A1AF8C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6</a:t>
            </a:r>
          </a:p>
        </p:txBody>
      </p:sp>
    </p:spTree>
    <p:extLst>
      <p:ext uri="{BB962C8B-B14F-4D97-AF65-F5344CB8AC3E}">
        <ns3:creationId val="134386288"/>
      </p:ext>
    </p:extLst>
  </p:cSld>
  <p:transition spd="med" advClick="1">
    <p:fade/>
  </p:transition>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name="Generative AI">
    <p:bg>
      <p:bgPr>
        <a:solidFill>
          <a:srgbClr val="FFFFFF"/>
        </a:solidFill>
      </p:bgPr>
    </p:bg>
    <p:spTree>
      <p:nvGrpSpPr>
        <p:cNvPr id="1" name=""/>
        <p:cNvGrpSpPr/>
        <p:nvPr/>
      </p:nvGrpSpPr>
      <p:grpSpPr>
        <a:xfrm/>
      </p:grpSpPr>
      <p:sp>
        <p:nvSpPr>
          <p:cNvPr id="7" name="text-45">
            <a:extLst>
              <a:ext uri="{FF2B5EF4-FFF2-40B4-BE49-F238E27FC236}">
                <ns2:creationId id="{25A8C5FD-ECD8-4BDB-83DB-5C3BA669456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46">
            <a:extLst>
              <a:ext uri="{FF2B5EF4-FFF2-40B4-BE49-F238E27FC236}">
                <ns2:creationId id="{0D15163D-78A4-4FF4-818F-0A040F51FD1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Generative AI</a:t>
            </a:r>
          </a:p>
        </p:txBody>
      </p:sp>
      <p:sp>
        <p:nvSpPr>
          <p:cNvPr id="4" name="text-48">
            <a:extLst>
              <a:ext uri="{FF2B5EF4-FFF2-40B4-BE49-F238E27FC236}">
                <ns2:creationId id="{93280C64-D3D6-432A-A8D1-F0CFEF594274}"/>
              </a:ext>
            </a:extLst>
          </p:cNvPr>
          <p:cNvSpPr>
            <a:spLocks noGrp="1"/>
          </p:cNvSpPr>
          <p:nvPr/>
        </p:nvSpPr>
        <p:spPr>
          <a:xfrm>
            <a:off x="619125" y="1933575"/>
            <a:ext cx="7230875"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Generative AI is a class of AI models and systems that produce new content by modelling patterns learned from data.</a:t>
            </a:r>
          </a:p>
        </p:txBody>
      </p:sp>
      <p:sp>
        <p:nvSpPr>
          <p:cNvPr id="5" name="text-49">
            <a:extLst>
              <a:ext uri="{FF2B5EF4-FFF2-40B4-BE49-F238E27FC236}">
                <ns2:creationId id="{C960C5B1-D91A-4B0E-84C6-F3B52293FCC6}"/>
              </a:ext>
            </a:extLst>
          </p:cNvPr>
          <p:cNvSpPr>
            <a:spLocks noGrp="1"/>
          </p:cNvSpPr>
          <p:nvPr/>
        </p:nvSpPr>
        <p:spPr>
          <a:xfrm>
            <a:off x="619125" y="4476750"/>
            <a:ext cx="7230875"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50">
            <a:extLst>
              <a:ext uri="{FF2B5EF4-FFF2-40B4-BE49-F238E27FC236}">
                <ns2:creationId id="{95E5800D-D960-4665-9BD1-5E5366823A08}"/>
              </a:ext>
            </a:extLst>
          </p:cNvPr>
          <p:cNvSpPr>
            <a:spLocks noGrp="1"/>
          </p:cNvSpPr>
          <p:nvPr/>
        </p:nvSpPr>
        <p:spPr>
          <a:xfrm>
            <a:off x="619125" y="4962525"/>
            <a:ext cx="7230875"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Draft a response using the client instruction and approved clause.</a:t>
            </a:r>
          </a:p>
        </p:txBody>
      </p:sp>
      <p:sp>
        <p:nvSpPr>
          <p:cNvPr id="3" name="text-47">
            <a:extLst>
              <a:ext uri="{FF2B5EF4-FFF2-40B4-BE49-F238E27FC236}">
                <ns2:creationId id="{87591251-6CAA-410B-AC49-7ED2572BF2F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7</a:t>
            </a:r>
          </a:p>
        </p:txBody>
      </p:sp>
      <p:pic xmlns:r="http://schemas.openxmlformats.org/officeDocument/2006/relationships">
        <p:nvPicPr>
          <p:cNvPr id="8" name="illustration-chat" descr="Illustration: two speech bubbles, a question and an answer"/>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574623808"/>
      </p:ext>
    </p:extLst>
  </p:cSld>
  <p:transition spd="med" advClick="1">
    <p:fade/>
  </p:transition>
</p:sld>
</file>

<file path=ppt/slides/slide8.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How the fields relate">
    <p:bg>
      <p:bgPr>
        <a:solidFill>
          <a:srgbClr val="FFFFFF"/>
        </a:solidFill>
      </p:bgPr>
    </p:bg>
    <p:spTree>
      <p:nvGrpSpPr>
        <p:cNvPr id="1" name=""/>
        <p:cNvGrpSpPr/>
        <p:nvPr/>
      </p:nvGrpSpPr>
      <p:grpSpPr>
        <a:xfrm/>
      </p:grpSpPr>
      <p:sp>
        <p:nvSpPr>
          <p:cNvPr id="14" name="text-51">
            <a:extLst>
              <a:ext uri="{FF2B5EF4-FFF2-40B4-BE49-F238E27FC236}">
                <ns2:creationId id="{60809974-FEB8-44CC-932D-6200DBE9E79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52">
            <a:extLst>
              <a:ext uri="{FF2B5EF4-FFF2-40B4-BE49-F238E27FC236}">
                <ns2:creationId id="{0133EE0D-FD20-46B2-986B-A0DEA44172F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How the fields relate</a:t>
            </a:r>
          </a:p>
        </p:txBody>
      </p:sp>
      <p:sp>
        <p:nvSpPr>
          <p:cNvPr id="4" name="reveal-01-AI" descr="How the fields relate">
            <a:extLst>
              <a:ext uri="{FF2B5EF4-FFF2-40B4-BE49-F238E27FC236}">
                <ns2:creationId id="{630E2C15-E45F-491F-9816-78CF7079526E}"/>
              </a:ext>
            </a:extLst>
          </p:cNvPr>
          <p:cNvSpPr>
            <a:spLocks noGrp="1"/>
          </p:cNvSpPr>
          <p:nvPr/>
        </p:nvSpPr>
        <p:spPr>
          <a:xfrm>
            <a:off x="619125" y="2000250"/>
            <a:ext cx="6381750" cy="3543300"/>
          </a:xfrm>
          <a:prstGeom prst="rect">
            <a:avLst/>
          </a:prstGeom>
          <a:solidFill>
            <a:srgbClr val="F1F5F6"/>
          </a:solidFill>
          <a:ln w="11430">
            <a:solidFill>
              <a:srgbClr val="C9D5DA"/>
            </a:solidFill>
          </a:ln>
        </p:spPr>
      </p:sp>
      <p:sp>
        <p:nvSpPr>
          <p:cNvPr id="5" name="reveal-01-AI-label">
            <a:extLst>
              <a:ext uri="{FF2B5EF4-FFF2-40B4-BE49-F238E27FC236}">
                <ns2:creationId id="{A859BD6B-09EC-46B7-BA17-FD15E04134ED}"/>
              </a:ext>
            </a:extLst>
          </p:cNvPr>
          <p:cNvSpPr>
            <a:spLocks noGrp="1"/>
          </p:cNvSpPr>
          <p:nvPr/>
        </p:nvSpPr>
        <p:spPr>
          <a:xfrm>
            <a:off x="838200" y="2190750"/>
            <a:ext cx="5905500" cy="438150"/>
          </a:xfrm>
          <a:prstGeom prst="rect">
            <a:avLst/>
          </a:prstGeom>
          <a:noFill/>
          <a:ln w="0">
            <a:noFill/>
          </a:ln>
        </p:spPr>
        <p:txBody>
          <a:bodyPr>
            <a:noAutofit/>
          </a:bodyPr>
          <a:lstStyle>
            <a:defPPr>
              <a:defRPr sz="2400" b="1">
                <a:solidFill>
                  <a:srgbClr val="1C3144"/>
                </a:solidFill>
                <a:latin typeface="Calibri"/>
                <a:ea typeface="Calibri"/>
                <a:cs typeface="Calibri"/>
              </a:defRPr>
            </a:defPPr>
            <a:lvl1pPr>
              <a:defRPr sz="2400" b="1">
                <a:solidFill>
                  <a:srgbClr val="1C3144"/>
                </a:solidFill>
                <a:latin typeface="Calibri"/>
                <a:ea typeface="Calibri"/>
                <a:cs typeface="Calibri"/>
              </a:defRPr>
            </a:lvl1pPr>
            <a:lvl2pPr>
              <a:defRPr sz="2400" b="1">
                <a:solidFill>
                  <a:srgbClr val="1C3144"/>
                </a:solidFill>
                <a:latin typeface="Calibri"/>
                <a:ea typeface="Calibri"/>
                <a:cs typeface="Calibri"/>
              </a:defRPr>
            </a:lvl2pPr>
            <a:lvl3pPr>
              <a:defRPr sz="2400" b="1">
                <a:solidFill>
                  <a:srgbClr val="1C3144"/>
                </a:solidFill>
                <a:latin typeface="Calibri"/>
                <a:ea typeface="Calibri"/>
                <a:cs typeface="Calibri"/>
              </a:defRPr>
            </a:lvl3pPr>
            <a:lvl4pPr>
              <a:defRPr sz="2400" b="1">
                <a:solidFill>
                  <a:srgbClr val="1C3144"/>
                </a:solidFill>
                <a:latin typeface="Calibri"/>
                <a:ea typeface="Calibri"/>
                <a:cs typeface="Calibri"/>
              </a:defRPr>
            </a:lvl4pPr>
            <a:lvl5pPr>
              <a:defRPr sz="2400" b="1">
                <a:solidFill>
                  <a:srgbClr val="1C3144"/>
                </a:solidFill>
                <a:latin typeface="Calibri"/>
                <a:ea typeface="Calibri"/>
                <a:cs typeface="Calibri"/>
              </a:defRPr>
            </a:lvl5pPr>
            <a:lvl6pPr>
              <a:defRPr sz="2400" b="1">
                <a:solidFill>
                  <a:srgbClr val="1C3144"/>
                </a:solidFill>
                <a:latin typeface="Calibri"/>
                <a:ea typeface="Calibri"/>
                <a:cs typeface="Calibri"/>
              </a:defRPr>
            </a:lvl6pPr>
            <a:lvl7pPr>
              <a:defRPr sz="2400" b="1">
                <a:solidFill>
                  <a:srgbClr val="1C3144"/>
                </a:solidFill>
                <a:latin typeface="Calibri"/>
                <a:ea typeface="Calibri"/>
                <a:cs typeface="Calibri"/>
              </a:defRPr>
            </a:lvl7pPr>
            <a:lvl8pPr>
              <a:defRPr sz="2400" b="1">
                <a:solidFill>
                  <a:srgbClr val="1C3144"/>
                </a:solidFill>
                <a:latin typeface="Calibri"/>
                <a:ea typeface="Calibri"/>
                <a:cs typeface="Calibri"/>
              </a:defRPr>
            </a:lvl8pPr>
            <a:lvl9pPr>
              <a:defRPr sz="2400" b="1">
                <a:solidFill>
                  <a:srgbClr val="1C3144"/>
                </a:solidFill>
                <a:latin typeface="Calibri"/>
                <a:ea typeface="Calibri"/>
                <a:cs typeface="Calibri"/>
              </a:defRPr>
            </a:lvl9pPr>
          </a:lstStyle>
          <a:p>
            <a:pPr>
              <a:defRPr sz="2400" b="1">
                <a:solidFill>
                  <a:srgbClr val="1C3144"/>
                </a:solidFill>
                <a:latin typeface="Calibri"/>
                <a:ea typeface="Calibri"/>
                <a:cs typeface="Calibri"/>
              </a:defRPr>
            </a:pPr>
            <a:r>
              <a:rPr sz="2400" b="1">
                <a:solidFill>
                  <a:srgbClr val="1C3144"/>
                </a:solidFill>
                <a:latin typeface="Calibri"/>
                <a:ea typeface="Calibri"/>
                <a:cs typeface="Calibri"/>
              </a:rPr>
              <a:t>Artificial intelligence</a:t>
            </a:r>
          </a:p>
        </p:txBody>
      </p:sp>
      <p:sp>
        <p:nvSpPr>
          <p:cNvPr id="6" name="reveal-02-ML">
            <a:extLst>
              <a:ext uri="{FF2B5EF4-FFF2-40B4-BE49-F238E27FC236}">
                <ns2:creationId id="{499C1845-2758-41E8-B124-16DF74E7A7F8}"/>
              </a:ext>
              <a:ext uri="{C183D7F6-B498-43B3-948B-1728B52AA6E4}">
                <ns3:decorative val="1"/>
              </a:ext>
            </a:extLst>
          </p:cNvPr>
          <p:cNvSpPr>
            <a:spLocks noGrp="1"/>
          </p:cNvSpPr>
          <p:nvPr/>
        </p:nvSpPr>
        <p:spPr>
          <a:xfrm>
            <a:off x="1038225" y="2800350"/>
            <a:ext cx="5572125" cy="2438400"/>
          </a:xfrm>
          <a:prstGeom prst="rect">
            <a:avLst/>
          </a:prstGeom>
          <a:solidFill>
            <a:srgbClr val="E9F3F0"/>
          </a:solidFill>
          <a:ln w="11430">
            <a:solidFill>
              <a:srgbClr val="C9D5DA"/>
            </a:solidFill>
          </a:ln>
        </p:spPr>
      </p:sp>
      <p:sp>
        <p:nvSpPr>
          <p:cNvPr id="7" name="reveal-02-ML-label">
            <a:extLst>
              <a:ext uri="{FF2B5EF4-FFF2-40B4-BE49-F238E27FC236}">
                <ns2:creationId id="{53B9990C-5E53-43D9-A06C-9486B3543993}"/>
              </a:ext>
            </a:extLst>
          </p:cNvPr>
          <p:cNvSpPr>
            <a:spLocks noGrp="1"/>
          </p:cNvSpPr>
          <p:nvPr/>
        </p:nvSpPr>
        <p:spPr>
          <a:xfrm>
            <a:off x="1266825" y="2962275"/>
            <a:ext cx="5095875" cy="419100"/>
          </a:xfrm>
          <a:prstGeom prst="rect">
            <a:avLst/>
          </a:prstGeom>
          <a:noFill/>
          <a:ln w="0">
            <a:noFill/>
          </a:ln>
        </p:spPr>
        <p:txBody>
          <a:bodyPr>
            <a:noAutofit/>
          </a:bodyPr>
          <a:lstStyle>
            <a:defPPr>
              <a:defRPr sz="2325" b="1">
                <a:solidFill>
                  <a:srgbClr val="246E63"/>
                </a:solidFill>
                <a:latin typeface="Calibri"/>
                <a:ea typeface="Calibri"/>
                <a:cs typeface="Calibri"/>
              </a:defRPr>
            </a:defPPr>
            <a:lvl1pPr>
              <a:defRPr sz="2325" b="1">
                <a:solidFill>
                  <a:srgbClr val="246E63"/>
                </a:solidFill>
                <a:latin typeface="Calibri"/>
                <a:ea typeface="Calibri"/>
                <a:cs typeface="Calibri"/>
              </a:defRPr>
            </a:lvl1pPr>
            <a:lvl2pPr>
              <a:defRPr sz="2325" b="1">
                <a:solidFill>
                  <a:srgbClr val="246E63"/>
                </a:solidFill>
                <a:latin typeface="Calibri"/>
                <a:ea typeface="Calibri"/>
                <a:cs typeface="Calibri"/>
              </a:defRPr>
            </a:lvl2pPr>
            <a:lvl3pPr>
              <a:defRPr sz="2325" b="1">
                <a:solidFill>
                  <a:srgbClr val="246E63"/>
                </a:solidFill>
                <a:latin typeface="Calibri"/>
                <a:ea typeface="Calibri"/>
                <a:cs typeface="Calibri"/>
              </a:defRPr>
            </a:lvl3pPr>
            <a:lvl4pPr>
              <a:defRPr sz="2325" b="1">
                <a:solidFill>
                  <a:srgbClr val="246E63"/>
                </a:solidFill>
                <a:latin typeface="Calibri"/>
                <a:ea typeface="Calibri"/>
                <a:cs typeface="Calibri"/>
              </a:defRPr>
            </a:lvl4pPr>
            <a:lvl5pPr>
              <a:defRPr sz="2325" b="1">
                <a:solidFill>
                  <a:srgbClr val="246E63"/>
                </a:solidFill>
                <a:latin typeface="Calibri"/>
                <a:ea typeface="Calibri"/>
                <a:cs typeface="Calibri"/>
              </a:defRPr>
            </a:lvl5pPr>
            <a:lvl6pPr>
              <a:defRPr sz="2325" b="1">
                <a:solidFill>
                  <a:srgbClr val="246E63"/>
                </a:solidFill>
                <a:latin typeface="Calibri"/>
                <a:ea typeface="Calibri"/>
                <a:cs typeface="Calibri"/>
              </a:defRPr>
            </a:lvl6pPr>
            <a:lvl7pPr>
              <a:defRPr sz="2325" b="1">
                <a:solidFill>
                  <a:srgbClr val="246E63"/>
                </a:solidFill>
                <a:latin typeface="Calibri"/>
                <a:ea typeface="Calibri"/>
                <a:cs typeface="Calibri"/>
              </a:defRPr>
            </a:lvl7pPr>
            <a:lvl8pPr>
              <a:defRPr sz="2325" b="1">
                <a:solidFill>
                  <a:srgbClr val="246E63"/>
                </a:solidFill>
                <a:latin typeface="Calibri"/>
                <a:ea typeface="Calibri"/>
                <a:cs typeface="Calibri"/>
              </a:defRPr>
            </a:lvl8pPr>
            <a:lvl9pPr>
              <a:defRPr sz="2325" b="1">
                <a:solidFill>
                  <a:srgbClr val="246E63"/>
                </a:solidFill>
                <a:latin typeface="Calibri"/>
                <a:ea typeface="Calibri"/>
                <a:cs typeface="Calibri"/>
              </a:defRPr>
            </a:lvl9pPr>
          </a:lstStyle>
          <a:p>
            <a:pPr>
              <a:defRPr sz="2325" b="1">
                <a:solidFill>
                  <a:srgbClr val="246E63"/>
                </a:solidFill>
                <a:latin typeface="Calibri"/>
                <a:ea typeface="Calibri"/>
                <a:cs typeface="Calibri"/>
              </a:defRPr>
            </a:pPr>
            <a:r>
              <a:rPr sz="2325" b="1">
                <a:solidFill>
                  <a:srgbClr val="246E63"/>
                </a:solidFill>
                <a:latin typeface="Calibri"/>
                <a:ea typeface="Calibri"/>
                <a:cs typeface="Calibri"/>
              </a:rPr>
              <a:t>Machine learning</a:t>
            </a:r>
          </a:p>
        </p:txBody>
      </p:sp>
      <p:sp>
        <p:nvSpPr>
          <p:cNvPr id="8" name="reveal-03-DL">
            <a:extLst>
              <a:ext uri="{FF2B5EF4-FFF2-40B4-BE49-F238E27FC236}">
                <ns2:creationId id="{59803F68-E70B-4A3A-9A16-D772365B454F}"/>
              </a:ext>
              <a:ext uri="{C183D7F6-B498-43B3-948B-1728B52AA6E4}">
                <ns3:decorative val="1"/>
              </a:ext>
            </a:extLst>
          </p:cNvPr>
          <p:cNvSpPr>
            <a:spLocks noGrp="1"/>
          </p:cNvSpPr>
          <p:nvPr/>
        </p:nvSpPr>
        <p:spPr>
          <a:xfrm>
            <a:off x="1543050" y="3724275"/>
            <a:ext cx="4524375" cy="1209675"/>
          </a:xfrm>
          <a:prstGeom prst="rect">
            <a:avLst/>
          </a:prstGeom>
          <a:solidFill>
            <a:srgbClr val="FFFFFF"/>
          </a:solidFill>
          <a:ln w="11430">
            <a:solidFill>
              <a:srgbClr val="C9D5DA"/>
            </a:solidFill>
          </a:ln>
        </p:spPr>
      </p:sp>
      <p:sp>
        <p:nvSpPr>
          <p:cNvPr id="9" name="reveal-03-DL-label">
            <a:extLst>
              <a:ext uri="{FF2B5EF4-FFF2-40B4-BE49-F238E27FC236}">
                <ns2:creationId id="{34B47CAA-AFCA-4FF0-A1C2-4E4C2B2C268C}"/>
              </a:ext>
            </a:extLst>
          </p:cNvPr>
          <p:cNvSpPr>
            <a:spLocks noGrp="1"/>
          </p:cNvSpPr>
          <p:nvPr/>
        </p:nvSpPr>
        <p:spPr>
          <a:xfrm>
            <a:off x="1752600" y="3943350"/>
            <a:ext cx="4095750" cy="762000"/>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Deep learning</a:t>
            </a:r>
          </a:p>
        </p:txBody>
      </p:sp>
      <p:sp>
        <p:nvSpPr>
          <p:cNvPr id="10" name="reveal-04-gen">
            <a:extLst>
              <a:ext uri="{FF2B5EF4-FFF2-40B4-BE49-F238E27FC236}">
                <ns2:creationId id="{AE33E4AE-FC85-47BB-9854-F470BF69316E}"/>
              </a:ext>
            </a:extLst>
          </p:cNvPr>
          <p:cNvSpPr>
            <a:spLocks noGrp="1"/>
          </p:cNvSpPr>
          <p:nvPr/>
        </p:nvSpPr>
        <p:spPr>
          <a:xfrm>
            <a:off x="7524750" y="2028825"/>
            <a:ext cx="4000500" cy="495300"/>
          </a:xfrm>
          <a:prstGeom prst="rect">
            <a:avLst/>
          </a:prstGeom>
          <a:noFill/>
          <a:ln w="0">
            <a:noFill/>
          </a:ln>
        </p:spPr>
        <p:txBody>
          <a:bodyPr>
            <a:noAutofit/>
          </a:bodyPr>
          <a:lstStyle>
            <a:defPPr>
              <a:defRPr sz="2400" b="1">
                <a:solidFill>
                  <a:srgbClr val="C94E29"/>
                </a:solidFill>
                <a:latin typeface="Calibri"/>
                <a:ea typeface="Calibri"/>
                <a:cs typeface="Calibri"/>
              </a:defRPr>
            </a:defPPr>
            <a:lvl1pPr>
              <a:defRPr sz="2400" b="1">
                <a:solidFill>
                  <a:srgbClr val="C94E29"/>
                </a:solidFill>
                <a:latin typeface="Calibri"/>
                <a:ea typeface="Calibri"/>
                <a:cs typeface="Calibri"/>
              </a:defRPr>
            </a:lvl1pPr>
            <a:lvl2pPr>
              <a:defRPr sz="2400" b="1">
                <a:solidFill>
                  <a:srgbClr val="C94E29"/>
                </a:solidFill>
                <a:latin typeface="Calibri"/>
                <a:ea typeface="Calibri"/>
                <a:cs typeface="Calibri"/>
              </a:defRPr>
            </a:lvl2pPr>
            <a:lvl3pPr>
              <a:defRPr sz="2400" b="1">
                <a:solidFill>
                  <a:srgbClr val="C94E29"/>
                </a:solidFill>
                <a:latin typeface="Calibri"/>
                <a:ea typeface="Calibri"/>
                <a:cs typeface="Calibri"/>
              </a:defRPr>
            </a:lvl3pPr>
            <a:lvl4pPr>
              <a:defRPr sz="2400" b="1">
                <a:solidFill>
                  <a:srgbClr val="C94E29"/>
                </a:solidFill>
                <a:latin typeface="Calibri"/>
                <a:ea typeface="Calibri"/>
                <a:cs typeface="Calibri"/>
              </a:defRPr>
            </a:lvl4pPr>
            <a:lvl5pPr>
              <a:defRPr sz="2400" b="1">
                <a:solidFill>
                  <a:srgbClr val="C94E29"/>
                </a:solidFill>
                <a:latin typeface="Calibri"/>
                <a:ea typeface="Calibri"/>
                <a:cs typeface="Calibri"/>
              </a:defRPr>
            </a:lvl5pPr>
            <a:lvl6pPr>
              <a:defRPr sz="2400" b="1">
                <a:solidFill>
                  <a:srgbClr val="C94E29"/>
                </a:solidFill>
                <a:latin typeface="Calibri"/>
                <a:ea typeface="Calibri"/>
                <a:cs typeface="Calibri"/>
              </a:defRPr>
            </a:lvl6pPr>
            <a:lvl7pPr>
              <a:defRPr sz="2400" b="1">
                <a:solidFill>
                  <a:srgbClr val="C94E29"/>
                </a:solidFill>
                <a:latin typeface="Calibri"/>
                <a:ea typeface="Calibri"/>
                <a:cs typeface="Calibri"/>
              </a:defRPr>
            </a:lvl7pPr>
            <a:lvl8pPr>
              <a:defRPr sz="2400" b="1">
                <a:solidFill>
                  <a:srgbClr val="C94E29"/>
                </a:solidFill>
                <a:latin typeface="Calibri"/>
                <a:ea typeface="Calibri"/>
                <a:cs typeface="Calibri"/>
              </a:defRPr>
            </a:lvl8pPr>
            <a:lvl9pPr>
              <a:defRPr sz="2400" b="1">
                <a:solidFill>
                  <a:srgbClr val="C94E29"/>
                </a:solidFill>
                <a:latin typeface="Calibri"/>
                <a:ea typeface="Calibri"/>
                <a:cs typeface="Calibri"/>
              </a:defRPr>
            </a:lvl9pPr>
          </a:lstStyle>
          <a:p>
            <a:pPr>
              <a:defRPr sz="2400" b="1">
                <a:solidFill>
                  <a:srgbClr val="C94E29"/>
                </a:solidFill>
                <a:latin typeface="Calibri"/>
                <a:ea typeface="Calibri"/>
                <a:cs typeface="Calibri"/>
              </a:defRPr>
            </a:pPr>
            <a:r>
              <a:rPr sz="2400" b="1">
                <a:solidFill>
                  <a:srgbClr val="C94E29"/>
                </a:solidFill>
                <a:latin typeface="Calibri"/>
                <a:ea typeface="Calibri"/>
                <a:cs typeface="Calibri"/>
              </a:rPr>
              <a:t>Generative AI</a:t>
            </a:r>
          </a:p>
        </p:txBody>
      </p:sp>
      <p:sp>
        <p:nvSpPr>
          <p:cNvPr id="11" name="reveal-04-gen-detail">
            <a:extLst>
              <a:ext uri="{FF2B5EF4-FFF2-40B4-BE49-F238E27FC236}">
                <ns2:creationId id="{2118F059-E086-43EF-A028-6C14818CA705}"/>
              </a:ext>
            </a:extLst>
          </p:cNvPr>
          <p:cNvSpPr>
            <a:spLocks noGrp="1"/>
          </p:cNvSpPr>
          <p:nvPr/>
        </p:nvSpPr>
        <p:spPr>
          <a:xfrm>
            <a:off x="7524750" y="2752725"/>
            <a:ext cx="4000500" cy="1285875"/>
          </a:xfrm>
          <a:prstGeom prst="rect">
            <a:avLst/>
          </a:prstGeom>
          <a:noFill/>
          <a:ln w="0">
            <a:noFill/>
          </a:ln>
        </p:spPr>
        <p:txBody>
          <a:bodyPr>
            <a:noAutofit/>
          </a:bodyPr>
          <a:lstStyle>
            <a:defPPr>
              <a:defRPr sz="2175" b="0">
                <a:solidFill>
                  <a:srgbClr val="1C3144"/>
                </a:solidFill>
                <a:latin typeface="Calibri"/>
                <a:ea typeface="Calibri"/>
                <a:cs typeface="Calibri"/>
              </a:defRPr>
            </a:defPPr>
            <a:lvl1pPr>
              <a:defRPr sz="2175" b="0">
                <a:solidFill>
                  <a:srgbClr val="1C3144"/>
                </a:solidFill>
                <a:latin typeface="Calibri"/>
                <a:ea typeface="Calibri"/>
                <a:cs typeface="Calibri"/>
              </a:defRPr>
            </a:lvl1pPr>
            <a:lvl2pPr>
              <a:defRPr sz="2175" b="0">
                <a:solidFill>
                  <a:srgbClr val="1C3144"/>
                </a:solidFill>
                <a:latin typeface="Calibri"/>
                <a:ea typeface="Calibri"/>
                <a:cs typeface="Calibri"/>
              </a:defRPr>
            </a:lvl2pPr>
            <a:lvl3pPr>
              <a:defRPr sz="2175" b="0">
                <a:solidFill>
                  <a:srgbClr val="1C3144"/>
                </a:solidFill>
                <a:latin typeface="Calibri"/>
                <a:ea typeface="Calibri"/>
                <a:cs typeface="Calibri"/>
              </a:defRPr>
            </a:lvl3pPr>
            <a:lvl4pPr>
              <a:defRPr sz="2175" b="0">
                <a:solidFill>
                  <a:srgbClr val="1C3144"/>
                </a:solidFill>
                <a:latin typeface="Calibri"/>
                <a:ea typeface="Calibri"/>
                <a:cs typeface="Calibri"/>
              </a:defRPr>
            </a:lvl4pPr>
            <a:lvl5pPr>
              <a:defRPr sz="2175" b="0">
                <a:solidFill>
                  <a:srgbClr val="1C3144"/>
                </a:solidFill>
                <a:latin typeface="Calibri"/>
                <a:ea typeface="Calibri"/>
                <a:cs typeface="Calibri"/>
              </a:defRPr>
            </a:lvl5pPr>
            <a:lvl6pPr>
              <a:defRPr sz="2175" b="0">
                <a:solidFill>
                  <a:srgbClr val="1C3144"/>
                </a:solidFill>
                <a:latin typeface="Calibri"/>
                <a:ea typeface="Calibri"/>
                <a:cs typeface="Calibri"/>
              </a:defRPr>
            </a:lvl6pPr>
            <a:lvl7pPr>
              <a:defRPr sz="2175" b="0">
                <a:solidFill>
                  <a:srgbClr val="1C3144"/>
                </a:solidFill>
                <a:latin typeface="Calibri"/>
                <a:ea typeface="Calibri"/>
                <a:cs typeface="Calibri"/>
              </a:defRPr>
            </a:lvl7pPr>
            <a:lvl8pPr>
              <a:defRPr sz="2175" b="0">
                <a:solidFill>
                  <a:srgbClr val="1C3144"/>
                </a:solidFill>
                <a:latin typeface="Calibri"/>
                <a:ea typeface="Calibri"/>
                <a:cs typeface="Calibri"/>
              </a:defRPr>
            </a:lvl8pPr>
            <a:lvl9pPr>
              <a:defRPr sz="2175" b="0">
                <a:solidFill>
                  <a:srgbClr val="1C3144"/>
                </a:solidFill>
                <a:latin typeface="Calibri"/>
                <a:ea typeface="Calibri"/>
                <a:cs typeface="Calibri"/>
              </a:defRPr>
            </a:lvl9pPr>
          </a:lstStyle>
          <a:p>
            <a:pPr>
              <a:defRPr sz="2175" b="0">
                <a:solidFill>
                  <a:srgbClr val="1C3144"/>
                </a:solidFill>
                <a:latin typeface="Calibri"/>
                <a:ea typeface="Calibri"/>
                <a:cs typeface="Calibri"/>
              </a:defRPr>
            </a:pPr>
            <a:r>
              <a:rPr sz="2175" b="0">
                <a:solidFill>
                  <a:srgbClr val="1C3144"/>
                </a:solidFill>
                <a:latin typeface="Calibri"/>
                <a:ea typeface="Calibri"/>
                <a:cs typeface="Calibri"/>
              </a:rPr>
              <a:t>A content-generation capability, often using deep learning.</a:t>
            </a:r>
          </a:p>
        </p:txBody>
      </p:sp>
      <p:sp>
        <p:nvSpPr>
          <p:cNvPr id="12" name="reveal-05-DS">
            <a:extLst>
              <a:ext uri="{FF2B5EF4-FFF2-40B4-BE49-F238E27FC236}">
                <ns2:creationId id="{C649A182-E464-4673-AFDC-CBD7A001BFAE}"/>
              </a:ext>
            </a:extLst>
          </p:cNvPr>
          <p:cNvSpPr>
            <a:spLocks noGrp="1"/>
          </p:cNvSpPr>
          <p:nvPr/>
        </p:nvSpPr>
        <p:spPr>
          <a:xfrm>
            <a:off x="7524750" y="4400550"/>
            <a:ext cx="4000500" cy="1314450"/>
          </a:xfrm>
          <a:prstGeom prst="rect">
            <a:avLst/>
          </a:prstGeom>
          <a:noFill/>
          <a:ln w="0">
            <a:noFill/>
          </a:ln>
        </p:spPr>
        <p:txBody>
          <a:bodyPr>
            <a:noAutofit/>
          </a:bodyPr>
          <a:lstStyle>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a:pPr>
              <a:defRPr sz="2100" b="0">
                <a:solidFill>
                  <a:srgbClr val="1C3144"/>
                </a:solidFill>
                <a:latin typeface="Calibri"/>
                <a:ea typeface="Calibri"/>
                <a:cs typeface="Calibri"/>
              </a:defRPr>
            </a:pPr>
            <a:r>
              <a:rPr sz="2100" b="0">
                <a:solidFill>
                  <a:srgbClr val="1C3144"/>
                </a:solidFill>
                <a:latin typeface="Calibri"/>
                <a:ea typeface="Calibri"/>
                <a:cs typeface="Calibri"/>
              </a:rPr>
              <a:t>Data science overlaps these fields and includes work without ML.</a:t>
            </a:r>
          </a:p>
        </p:txBody>
      </p:sp>
      <p:sp>
        <p:nvSpPr>
          <p:cNvPr id="13" name="text-54">
            <a:extLst>
              <a:ext uri="{FF2B5EF4-FFF2-40B4-BE49-F238E27FC236}">
                <ns2:creationId id="{B42FB45C-24AC-4C7A-B2A4-B912B9287C55}"/>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Natural language processing (NLP) studies computational processing of human language.</a:t>
            </a:r>
          </a:p>
        </p:txBody>
      </p:sp>
      <p:sp>
        <p:nvSpPr>
          <p:cNvPr id="3" name="text-53">
            <a:extLst>
              <a:ext uri="{FF2B5EF4-FFF2-40B4-BE49-F238E27FC236}">
                <ns2:creationId id="{9FF87F64-F215-42A0-B75A-AE504027B09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8</a:t>
            </a:r>
          </a:p>
        </p:txBody>
      </p:sp>
    </p:spTree>
    <p:extLst>
      <p:ext uri="{BB962C8B-B14F-4D97-AF65-F5344CB8AC3E}">
        <ns4:creationId val="136854194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300"/>
                                        <p:tgtEl>
                                          <p:spTgt spid="10"/>
                                        </p:tgtEl>
                                      </p:cBhvr>
                                    </p:animEffect>
                                  </p:childTnLst>
                                </p:cTn>
                              </p:par>
                              <p:par>
                                <p:cTn id="32" presetID="10"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3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Tasks in our matter">
    <p:bg>
      <p:bgPr>
        <a:solidFill>
          <a:srgbClr val="FFFFFF"/>
        </a:solidFill>
      </p:bgPr>
    </p:bg>
    <p:spTree>
      <p:nvGrpSpPr>
        <p:cNvPr id="1" name=""/>
        <p:cNvGrpSpPr/>
        <p:nvPr/>
      </p:nvGrpSpPr>
      <p:grpSpPr>
        <a:xfrm/>
      </p:grpSpPr>
      <p:sp>
        <p:nvSpPr>
          <p:cNvPr id="5" name="text-55">
            <a:extLst>
              <a:ext uri="{FF2B5EF4-FFF2-40B4-BE49-F238E27FC236}">
                <ns2:creationId id="{3436BC0A-CE3C-47B7-82D9-D22416AFD692}"/>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56">
            <a:extLst>
              <a:ext uri="{FF2B5EF4-FFF2-40B4-BE49-F238E27FC236}">
                <ns2:creationId id="{25806E4D-47A3-406D-9CD6-FF1976C76B7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Tasks in our matter</a:t>
            </a:r>
          </a:p>
        </p:txBody>
      </p:sp>
      <p:graphicFrame>
        <p:nvGraphicFramePr>
          <p:cNvPr id="4" name="">
            <a:extLst>
              <a:ext uri="{FF2B5EF4-FFF2-40B4-BE49-F238E27FC236}">
                <ns2:creationId id="{D017A371-E2AF-4A18-8EA0-B4CEB83627F4}"/>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748665">
                <a:tc>
                  <a:txBody>
                    <a:bodyPr/>
                    <a:lstStyle/>
                    <a:p>
                      <a:r>
                        <a:rPr sz="1875" b="1">
                          <a:solidFill>
                            <a:srgbClr val="FFFFFF"/>
                          </a:solidFill>
                          <a:latin typeface="Calibri"/>
                          <a:ea typeface="Calibri"/>
                          <a:cs typeface="Calibri"/>
                        </a:rPr>
                        <a:t>Task</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Mechanism</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Output</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Total invoice amounts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Calculation</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 number</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Identify a contract type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Classification</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 category</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Find a precedent clause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Retrieval</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Source passages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Draft an amendment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Generation</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Proposed wording</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57">
            <a:extLst>
              <a:ext uri="{FF2B5EF4-FFF2-40B4-BE49-F238E27FC236}">
                <ns2:creationId id="{40C6E60C-2A15-4E67-882C-81631037931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9</a:t>
            </a:r>
          </a:p>
        </p:txBody>
      </p:sp>
    </p:spTree>
    <p:extLst>
      <p:ext uri="{BB962C8B-B14F-4D97-AF65-F5344CB8AC3E}">
        <ns3:creationId val="1764836148"/>
      </p:ext>
    </p:extLst>
  </p:cSld>
  <p:transition spd="med" advClick="1">
    <p:fade/>
  </p:transition>
</p:sld>
</file>

<file path=ppt/slides/slide10.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model inside a working system">
    <p:bg>
      <p:bgPr>
        <a:solidFill>
          <a:srgbClr val="FFFFFF"/>
        </a:solidFill>
      </p:bgPr>
    </p:bg>
    <p:spTree>
      <p:nvGrpSpPr>
        <p:cNvPr id="1" name=""/>
        <p:cNvGrpSpPr/>
        <p:nvPr/>
      </p:nvGrpSpPr>
      <p:grpSpPr>
        <a:xfrm/>
      </p:grpSpPr>
      <p:cxnSp>
        <p:nvCxnSpPr>
          <p:cNvPr id="22" name="reveal-04-arrow" descr="The model inside a working system">
            <a:extLst>
              <a:ext uri="{FF2B5EF4-FFF2-40B4-BE49-F238E27FC236}">
                <ns2:creationId id="{F0267376-EACA-42CF-A208-F5480308BDCD}"/>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2988F6D4-5779-48EE-B1F4-205A82D4E993}"/>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129A4856-4C40-476F-89CD-C90E9C84CFB5}"/>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3" name="text-58">
            <a:extLst>
              <a:ext uri="{FF2B5EF4-FFF2-40B4-BE49-F238E27FC236}">
                <ns2:creationId id="{5A41B258-AD23-47CD-917C-08902D6E1E6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59">
            <a:extLst>
              <a:ext uri="{FF2B5EF4-FFF2-40B4-BE49-F238E27FC236}">
                <ns2:creationId id="{86890D6D-6779-48F5-8B22-DEE1E918CEE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model inside a working system</a:t>
            </a:r>
          </a:p>
        </p:txBody>
      </p:sp>
      <p:sp>
        <p:nvSpPr>
          <p:cNvPr id="4" name="reveal-01-stage">
            <a:extLst>
              <a:ext uri="{FF2B5EF4-FFF2-40B4-BE49-F238E27FC236}">
                <ns2:creationId id="{18D78BA4-C013-47EF-8835-3630BEC3E837}"/>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B506A030-18C6-4350-B08A-4E07469C29A8}"/>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AB5156BC-EACA-4ABE-851C-BF3E81C37813}"/>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Person</a:t>
            </a:r>
          </a:p>
        </p:txBody>
      </p:sp>
      <p:sp>
        <p:nvSpPr>
          <p:cNvPr id="7" name="reveal-01-detail">
            <a:extLst>
              <a:ext uri="{FF2B5EF4-FFF2-40B4-BE49-F238E27FC236}">
                <ns2:creationId id="{39C2CBA3-5341-4E61-990F-C0FBA59B10F8}"/>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Question and authority</a:t>
            </a:r>
          </a:p>
        </p:txBody>
      </p:sp>
      <p:sp>
        <p:nvSpPr>
          <p:cNvPr id="8" name="reveal-02-stage">
            <a:extLst>
              <a:ext uri="{FF2B5EF4-FFF2-40B4-BE49-F238E27FC236}">
                <ns2:creationId id="{9A1BD30E-A6EE-43F8-B80B-1EFFB835C5F6}"/>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6B1F2AB5-A67E-46BF-84A3-1203F3197538}"/>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81E3E9E1-9A04-4E11-8453-C7AC879FB40D}"/>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Application</a:t>
            </a:r>
          </a:p>
        </p:txBody>
      </p:sp>
      <p:sp>
        <p:nvSpPr>
          <p:cNvPr id="11" name="reveal-02-detail">
            <a:extLst>
              <a:ext uri="{FF2B5EF4-FFF2-40B4-BE49-F238E27FC236}">
                <ns2:creationId id="{8BA11BC0-2536-44E9-9B53-CB76BE16C0E7}"/>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Files and instructions</a:t>
            </a:r>
          </a:p>
        </p:txBody>
      </p:sp>
      <p:sp>
        <p:nvSpPr>
          <p:cNvPr id="12" name="reveal-03-stage">
            <a:extLst>
              <a:ext uri="{FF2B5EF4-FFF2-40B4-BE49-F238E27FC236}">
                <ns2:creationId id="{B951CE9B-9193-425F-AD09-EFC2B97AF008}"/>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6117C223-E01F-40D5-8E47-09D0D15DA4B3}"/>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E936B421-9369-4B70-A6DE-D21D3D6DE500}"/>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Model and tools</a:t>
            </a:r>
          </a:p>
        </p:txBody>
      </p:sp>
      <p:sp>
        <p:nvSpPr>
          <p:cNvPr id="15" name="reveal-03-detail">
            <a:extLst>
              <a:ext uri="{FF2B5EF4-FFF2-40B4-BE49-F238E27FC236}">
                <ns2:creationId id="{FA94FBD0-7DAF-4428-A892-32FB7E4941C8}"/>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Generation or search</a:t>
            </a:r>
          </a:p>
        </p:txBody>
      </p:sp>
      <p:sp>
        <p:nvSpPr>
          <p:cNvPr id="16" name="reveal-04-stage">
            <a:extLst>
              <a:ext uri="{FF2B5EF4-FFF2-40B4-BE49-F238E27FC236}">
                <ns2:creationId id="{92D84107-E9AA-44E9-B724-AFCC73A29954}"/>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772C43B0-D115-46D3-887E-2DB4ECA0430D}"/>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FB2D82FF-4E62-46AE-9605-83A9D6EAFF32}"/>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Review</a:t>
            </a:r>
          </a:p>
        </p:txBody>
      </p:sp>
      <p:sp>
        <p:nvSpPr>
          <p:cNvPr id="19" name="reveal-04-detail">
            <a:extLst>
              <a:ext uri="{FF2B5EF4-FFF2-40B4-BE49-F238E27FC236}">
                <ns2:creationId id="{56027387-C97A-4945-AA21-C36946DAAB06}"/>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Use decision</a:t>
            </a:r>
          </a:p>
        </p:txBody>
      </p:sp>
      <p:sp>
        <p:nvSpPr>
          <p:cNvPr id="3" name="text-60">
            <a:extLst>
              <a:ext uri="{FF2B5EF4-FFF2-40B4-BE49-F238E27FC236}">
                <ns2:creationId id="{8FA5C766-3EB2-4A35-8423-EA243B0B2B8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10</a:t>
            </a:r>
          </a:p>
        </p:txBody>
      </p:sp>
    </p:spTree>
    <p:extLst>
      <p:ext uri="{BB962C8B-B14F-4D97-AF65-F5344CB8AC3E}">
        <ns4:creationId val="86756610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name="A rule and a learned prediction">
    <p:bg>
      <p:bgPr>
        <a:solidFill>
          <a:srgbClr val="FFFFFF"/>
        </a:solidFill>
      </p:bgPr>
    </p:bg>
    <p:spTree>
      <p:nvGrpSpPr>
        <p:cNvPr id="1" name=""/>
        <p:cNvGrpSpPr/>
        <p:nvPr/>
      </p:nvGrpSpPr>
      <p:grpSpPr>
        <a:xfrm/>
      </p:grpSpPr>
      <p:sp>
        <p:nvSpPr>
          <p:cNvPr id="8" name="text-64">
            <a:extLst>
              <a:ext uri="{FF2B5EF4-FFF2-40B4-BE49-F238E27FC236}">
                <ns2:creationId id="{A9C0EE24-7D76-4F9F-84FC-A5F078E05C3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65">
            <a:extLst>
              <a:ext uri="{FF2B5EF4-FFF2-40B4-BE49-F238E27FC236}">
                <ns2:creationId id="{2EF5601A-B5F5-40A6-9DC9-B13B3375AEA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rule and a learned prediction</a:t>
            </a:r>
          </a:p>
        </p:txBody>
      </p:sp>
      <p:sp>
        <p:nvSpPr>
          <p:cNvPr id="4" name="text-67">
            <a:extLst>
              <a:ext uri="{FF2B5EF4-FFF2-40B4-BE49-F238E27FC236}">
                <ns2:creationId id="{68D9A25A-C083-448D-8128-AACE713E28CB}"/>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Rule</a:t>
            </a:r>
          </a:p>
        </p:txBody>
      </p:sp>
      <p:sp>
        <p:nvSpPr>
          <p:cNvPr id="5" name="text-68">
            <a:extLst>
              <a:ext uri="{FF2B5EF4-FFF2-40B4-BE49-F238E27FC236}">
                <ns2:creationId id="{F578231D-064E-4A0B-A324-BF5A3E69B6AD}"/>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A recorded review date triggers a reminder.</a:t>
            </a:r>
          </a:p>
        </p:txBody>
      </p:sp>
      <p:sp>
        <p:nvSpPr>
          <p:cNvPr id="6" name="text-69">
            <a:extLst>
              <a:ext uri="{FF2B5EF4-FFF2-40B4-BE49-F238E27FC236}">
                <ns2:creationId id="{6B0349AC-A124-4DE9-9BAA-812251BD2375}"/>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Learned prediction</a:t>
            </a:r>
          </a:p>
        </p:txBody>
      </p:sp>
      <p:sp>
        <p:nvSpPr>
          <p:cNvPr id="7" name="text-70">
            <a:extLst>
              <a:ext uri="{FF2B5EF4-FFF2-40B4-BE49-F238E27FC236}">
                <ns2:creationId id="{C33BB0C0-A24A-48DE-AF62-A70EA831E75B}"/>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A model estimates which incoming documents belong to a matter.</a:t>
            </a:r>
          </a:p>
        </p:txBody>
      </p:sp>
      <p:sp>
        <p:nvSpPr>
          <p:cNvPr id="3" name="text-66">
            <a:extLst>
              <a:ext uri="{FF2B5EF4-FFF2-40B4-BE49-F238E27FC236}">
                <ns2:creationId id="{BB63AF6C-A4C6-4ACB-A8D0-CFC7DB06D45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11</a:t>
            </a:r>
          </a:p>
        </p:txBody>
      </p:sp>
    </p:spTree>
    <p:extLst>
      <p:ext uri="{BB962C8B-B14F-4D97-AF65-F5344CB8AC3E}">
        <ns3:creationId val="729317603"/>
      </p:ext>
    </p:extLst>
  </p:cSld>
  <p:transition spd="med" advClick="1">
    <p:fade/>
  </p:transition>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name="The first contract question">
    <p:bg>
      <p:bgPr>
        <a:solidFill>
          <a:srgbClr val="FFFFFF"/>
        </a:solidFill>
      </p:bgPr>
    </p:bg>
    <p:spTree>
      <p:nvGrpSpPr>
        <p:cNvPr id="1" name=""/>
        <p:cNvGrpSpPr/>
        <p:nvPr/>
      </p:nvGrpSpPr>
      <p:grpSpPr>
        <a:xfrm/>
      </p:grpSpPr>
      <p:sp>
        <p:nvSpPr>
          <p:cNvPr id="8" name="text-71">
            <a:extLst>
              <a:ext uri="{FF2B5EF4-FFF2-40B4-BE49-F238E27FC236}">
                <ns2:creationId id="{C1C1CA84-F5D5-4554-B633-28FB416DD8A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72">
            <a:extLst>
              <a:ext uri="{FF2B5EF4-FFF2-40B4-BE49-F238E27FC236}">
                <ns2:creationId id="{D4BB493C-8690-47B9-B252-B8CBBFE2252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first contract question</a:t>
            </a:r>
          </a:p>
        </p:txBody>
      </p:sp>
      <p:sp>
        <p:nvSpPr>
          <p:cNvPr id="4" name="text-74">
            <a:extLst>
              <a:ext uri="{FF2B5EF4-FFF2-40B4-BE49-F238E27FC236}">
                <ns2:creationId id="{C01DE3E6-40CB-449D-8BB0-1616068AC49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75">
            <a:extLst>
              <a:ext uri="{FF2B5EF4-FFF2-40B4-BE49-F238E27FC236}">
                <ns2:creationId id="{535FAD74-E98A-4D8B-AC9A-5DAE9D786E36}"/>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Does the agreement require Victoria’s consent for this transaction?</a:t>
            </a:r>
          </a:p>
        </p:txBody>
      </p:sp>
      <p:sp>
        <p:nvSpPr>
          <p:cNvPr id="6" name="text-76">
            <a:extLst>
              <a:ext uri="{FF2B5EF4-FFF2-40B4-BE49-F238E27FC236}">
                <ns2:creationId id="{3DE6D702-95AC-4A2D-906C-3367090B82AE}"/>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77">
            <a:extLst>
              <a:ext uri="{FF2B5EF4-FFF2-40B4-BE49-F238E27FC236}">
                <ns2:creationId id="{78F65C9D-73FE-4BD9-BE2D-8FDF9A24B5A1}"/>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Provider must obtain Customer’s prior written consent before a change of control of Provider takes effect. That consent is not required for a reorganization within a wholly owned group if Provider remains responsible for its obligations under this Agreement.</a:t>
            </a:r>
          </a:p>
        </p:txBody>
      </p:sp>
      <p:sp>
        <p:nvSpPr>
          <p:cNvPr id="3" name="text-73">
            <a:extLst>
              <a:ext uri="{FF2B5EF4-FFF2-40B4-BE49-F238E27FC236}">
                <ns2:creationId id="{1D52418F-23BA-49E4-A225-DC03054A2327}"/>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12</a:t>
            </a:r>
          </a:p>
        </p:txBody>
      </p:sp>
      <p:pic xmlns:r="http://schemas.openxmlformats.org/officeDocument/2006/relationships">
        <p:nvPicPr>
          <p:cNvPr id="9" name="illustration-magnifier" descr="Illustration: a magnifying glass over one line of a contrac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529201543"/>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A fluent answer and a supported answer">
    <p:bg>
      <p:bgPr>
        <a:solidFill>
          <a:srgbClr val="FFFFFF"/>
        </a:solidFill>
      </p:bgPr>
    </p:bg>
    <p:spTree>
      <p:nvGrpSpPr>
        <p:cNvPr id="1" name=""/>
        <p:cNvGrpSpPr/>
        <p:nvPr/>
      </p:nvGrpSpPr>
      <p:grpSpPr>
        <a:xfrm/>
      </p:grpSpPr>
      <p:sp>
        <p:nvSpPr>
          <p:cNvPr id="8" name="text-78">
            <a:extLst>
              <a:ext uri="{FF2B5EF4-FFF2-40B4-BE49-F238E27FC236}">
                <ns2:creationId id="{DE7C1DC6-9269-4CE2-8C24-EC46C8E0088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79">
            <a:extLst>
              <a:ext uri="{FF2B5EF4-FFF2-40B4-BE49-F238E27FC236}">
                <ns2:creationId id="{3F4CCF76-6B72-4B3B-972A-80BFE23B6C4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fluent answer and a supported answer</a:t>
            </a:r>
          </a:p>
        </p:txBody>
      </p:sp>
      <p:sp>
        <p:nvSpPr>
          <p:cNvPr id="4" name="text-81">
            <a:extLst>
              <a:ext uri="{FF2B5EF4-FFF2-40B4-BE49-F238E27FC236}">
                <ns2:creationId id="{C111F171-01C0-4BD5-A03B-C7DC9B1B9F03}"/>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Fluent but incomplete</a:t>
            </a:r>
          </a:p>
        </p:txBody>
      </p:sp>
      <p:sp>
        <p:nvSpPr>
          <p:cNvPr id="5" name="text-82">
            <a:extLst>
              <a:ext uri="{FF2B5EF4-FFF2-40B4-BE49-F238E27FC236}">
                <ns2:creationId id="{B6B2D63E-E509-41FD-9070-4B1D6F904530}"/>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Every change of control requires prior written consent.</a:t>
            </a:r>
          </a:p>
        </p:txBody>
      </p:sp>
      <p:sp>
        <p:nvSpPr>
          <p:cNvPr id="6" name="text-83">
            <a:extLst>
              <a:ext uri="{FF2B5EF4-FFF2-40B4-BE49-F238E27FC236}">
                <ns2:creationId id="{133A4B64-1800-480C-B53F-B48BCC5EAB17}"/>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Supported and conditional</a:t>
            </a:r>
          </a:p>
        </p:txBody>
      </p:sp>
      <p:sp>
        <p:nvSpPr>
          <p:cNvPr id="7" name="text-84">
            <a:extLst>
              <a:ext uri="{FF2B5EF4-FFF2-40B4-BE49-F238E27FC236}">
                <ns2:creationId id="{07A18AF7-8F91-47E3-A13A-A727BE4ED56A}"/>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Consent applies to a change of control. A reorganization within a wholly owned group is excused if Provider remains responsible.</a:t>
            </a:r>
          </a:p>
        </p:txBody>
      </p:sp>
      <p:sp>
        <p:nvSpPr>
          <p:cNvPr id="3" name="text-80">
            <a:extLst>
              <a:ext uri="{FF2B5EF4-FFF2-40B4-BE49-F238E27FC236}">
                <ns2:creationId id="{40537E74-7672-42FA-828C-E3915686B03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13</a:t>
            </a:r>
          </a:p>
        </p:txBody>
      </p:sp>
    </p:spTree>
    <p:extLst>
      <p:ext uri="{BB962C8B-B14F-4D97-AF65-F5344CB8AC3E}">
        <ns3:creationId val="634680746"/>
      </p:ext>
    </p:extLst>
  </p:cSld>
  <p:transition spd="med" advClick="1">
    <p:fade/>
  </p:transition>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name="Our first information boundary">
    <p:bg>
      <p:bgPr>
        <a:solidFill>
          <a:srgbClr val="FFFFFF"/>
        </a:solidFill>
      </p:bgPr>
    </p:bg>
    <p:spTree>
      <p:nvGrpSpPr>
        <p:cNvPr id="1" name=""/>
        <p:cNvGrpSpPr/>
        <p:nvPr/>
      </p:nvGrpSpPr>
      <p:grpSpPr>
        <a:xfrm/>
      </p:grpSpPr>
      <p:sp>
        <p:nvSpPr>
          <p:cNvPr id="8" name="text-85">
            <a:extLst>
              <a:ext uri="{FF2B5EF4-FFF2-40B4-BE49-F238E27FC236}">
                <ns2:creationId id="{C13F1CB6-B656-40B1-8632-D258B4F7384E}"/>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86">
            <a:extLst>
              <a:ext uri="{FF2B5EF4-FFF2-40B4-BE49-F238E27FC236}">
                <ns2:creationId id="{E4562CE7-5428-4AAD-BF76-8B2D3B7991C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first information boundary</a:t>
            </a:r>
          </a:p>
        </p:txBody>
      </p:sp>
      <p:sp>
        <p:nvSpPr>
          <p:cNvPr id="4" name="text-88">
            <a:extLst>
              <a:ext uri="{FF2B5EF4-FFF2-40B4-BE49-F238E27FC236}">
                <ns2:creationId id="{E8EC3F18-AF81-4B15-BE8C-A907622AB3E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89">
            <a:extLst>
              <a:ext uri="{FF2B5EF4-FFF2-40B4-BE49-F238E27FC236}">
                <ns2:creationId id="{767F35A6-0976-42B8-9F11-D4442A64664C}"/>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Public authorities and fictional client records are available for class.</a:t>
            </a:r>
          </a:p>
        </p:txBody>
      </p:sp>
      <p:sp>
        <p:nvSpPr>
          <p:cNvPr id="6" name="text-90">
            <a:extLst>
              <a:ext uri="{FF2B5EF4-FFF2-40B4-BE49-F238E27FC236}">
                <ns2:creationId id="{D6DF589A-756F-4C53-BD78-63F3EF8084A5}"/>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91">
            <a:extLst>
              <a:ext uri="{FF2B5EF4-FFF2-40B4-BE49-F238E27FC236}">
                <ns2:creationId id="{2F8D0C83-8BFD-4FF1-9ECE-879D0D8242A4}"/>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Real client material needs a permitted tool, purpose and access decision.</a:t>
            </a:r>
          </a:p>
        </p:txBody>
      </p:sp>
      <p:sp>
        <p:nvSpPr>
          <p:cNvPr id="3" name="text-87">
            <a:extLst>
              <a:ext uri="{FF2B5EF4-FFF2-40B4-BE49-F238E27FC236}">
                <ns2:creationId id="{A34E1547-9A32-4250-AA6D-82C2B5E3B8E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14</a:t>
            </a:r>
          </a:p>
        </p:txBody>
      </p:sp>
      <p:pic xmlns:r="http://schemas.openxmlformats.org/officeDocument/2006/relationships">
        <p:nvPicPr>
          <p:cNvPr id="9" name="illustration-folder_lock" descr="Illustration: a locked folder"/>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345745756"/>
      </p:ext>
    </p:extLst>
  </p:cSld>
  <p:transition spd="med" advClick="1">
    <p:fade/>
  </p:transition>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name="A first use-case choice">
    <p:bg>
      <p:bgPr>
        <a:solidFill>
          <a:srgbClr val="FFFFFF"/>
        </a:solidFill>
      </p:bgPr>
    </p:bg>
    <p:spTree>
      <p:nvGrpSpPr>
        <p:cNvPr id="1" name=""/>
        <p:cNvGrpSpPr/>
        <p:nvPr/>
      </p:nvGrpSpPr>
      <p:grpSpPr>
        <a:xfrm/>
      </p:grpSpPr>
      <p:sp>
        <p:nvSpPr>
          <p:cNvPr id="5" name="text-92">
            <a:extLst>
              <a:ext uri="{FF2B5EF4-FFF2-40B4-BE49-F238E27FC236}">
                <ns2:creationId id="{FF4EFC07-A3E7-4E1C-A55C-BB4A42554BE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93">
            <a:extLst>
              <a:ext uri="{FF2B5EF4-FFF2-40B4-BE49-F238E27FC236}">
                <ns2:creationId id="{E120E70B-56D1-49F4-976B-C2E3F503343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first use-case choice</a:t>
            </a:r>
          </a:p>
        </p:txBody>
      </p:sp>
      <p:graphicFrame>
        <p:nvGraphicFramePr>
          <p:cNvPr id="4" name="">
            <a:extLst>
              <a:ext uri="{FF2B5EF4-FFF2-40B4-BE49-F238E27FC236}">
                <ns2:creationId id="{633FAB9B-1EE4-436D-9225-C6499D953EAE}"/>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935831">
                <a:tc>
                  <a:txBody>
                    <a:bodyPr/>
                    <a:lstStyle/>
                    <a:p>
                      <a:r>
                        <a:rPr sz="1875" b="1">
                          <a:solidFill>
                            <a:srgbClr val="FFFFFF"/>
                          </a:solidFill>
                          <a:latin typeface="Calibri"/>
                          <a:ea typeface="Calibri"/>
                          <a:cs typeface="Calibri"/>
                        </a:rPr>
                        <a:t>Candidate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Value to explore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First constraint</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935831">
                <a:tc>
                  <a:txBody>
                    <a:bodyPr/>
                    <a:lstStyle/>
                    <a:p>
                      <a:r>
                        <a:rPr sz="1875" b="0">
                          <a:solidFill>
                            <a:srgbClr val="1C3144"/>
                          </a:solidFill>
                          <a:latin typeface="Calibri"/>
                          <a:ea typeface="Calibri"/>
                          <a:cs typeface="Calibri"/>
                        </a:rPr>
                        <a:t>Precedent search</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Find relevant firm knowledge</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Current sources and permissions</a:t>
                      </a:r>
                    </a:p>
                  </a:txBody>
                  <a:tcPr marL="91440" marR="91440" marT="45720" marB="45720">
                    <a:lnR w="9525">
                      <a:solidFill>
                        <a:srgbClr val="C9D5DA"/>
                      </a:solidFill>
                      <a:prstDash val="solid"/>
                    </a:lnR>
                    <a:lnB w="9525">
                      <a:solidFill>
                        <a:srgbClr val="C9D5DA"/>
                      </a:solidFill>
                      <a:prstDash val="solid"/>
                    </a:lnB>
                    <a:solidFill>
                      <a:srgbClr val="F1F5F6"/>
                    </a:solidFill>
                  </a:tcPr>
                </a:tc>
              </a:tr>
              <a:tr h="935831">
                <a:tc>
                  <a:txBody>
                    <a:bodyPr/>
                    <a:lstStyle/>
                    <a:p>
                      <a:r>
                        <a:rPr sz="1875" b="0">
                          <a:solidFill>
                            <a:srgbClr val="1C3144"/>
                          </a:solidFill>
                          <a:latin typeface="Calibri"/>
                          <a:ea typeface="Calibri"/>
                          <a:cs typeface="Calibri"/>
                        </a:rPr>
                        <a:t>Contract comparison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Find playbook departures</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Preserve qualifications</a:t>
                      </a:r>
                    </a:p>
                  </a:txBody>
                  <a:tcPr marL="91440" marR="91440" marT="45720" marB="45720">
                    <a:lnR w="9525">
                      <a:solidFill>
                        <a:srgbClr val="C9D5DA"/>
                      </a:solidFill>
                      <a:prstDash val="solid"/>
                    </a:lnR>
                    <a:lnB w="9525">
                      <a:solidFill>
                        <a:srgbClr val="C9D5DA"/>
                      </a:solidFill>
                      <a:prstDash val="solid"/>
                    </a:lnB>
                    <a:solidFill>
                      <a:srgbClr val="FFFFFF"/>
                    </a:solidFill>
                  </a:tcPr>
                </a:tc>
              </a:tr>
              <a:tr h="935831">
                <a:tc>
                  <a:txBody>
                    <a:bodyPr/>
                    <a:lstStyle/>
                    <a:p>
                      <a:r>
                        <a:rPr sz="1875" b="0">
                          <a:solidFill>
                            <a:srgbClr val="1C3144"/>
                          </a:solidFill>
                          <a:latin typeface="Calibri"/>
                          <a:ea typeface="Calibri"/>
                          <a:cs typeface="Calibri"/>
                        </a:rPr>
                        <a:t>Tax evidence review</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Find record discrepancies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Complete and comparable records</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94">
            <a:extLst>
              <a:ext uri="{FF2B5EF4-FFF2-40B4-BE49-F238E27FC236}">
                <ns2:creationId id="{AF891033-C0D6-4404-B968-2E323F4FD18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15</a:t>
            </a:r>
          </a:p>
        </p:txBody>
      </p:sp>
    </p:spTree>
    <p:extLst>
      <p:ext uri="{BB962C8B-B14F-4D97-AF65-F5344CB8AC3E}">
        <ns3:creationId val="1139327595"/>
      </p:ext>
    </p:extLst>
  </p:cSld>
  <p:transition spd="med" advClick="1">
    <p:fade/>
  </p:transition>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95">
            <a:extLst>
              <a:ext uri="{FF2B5EF4-FFF2-40B4-BE49-F238E27FC236}">
                <ns2:creationId id="{BA40089F-463B-4C50-B774-C373F7358D6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96">
            <a:extLst>
              <a:ext uri="{FF2B5EF4-FFF2-40B4-BE49-F238E27FC236}">
                <ns2:creationId id="{F5BB8EF2-A3AA-4E4D-9A15-C44E6CA0224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98">
            <a:extLst>
              <a:ext uri="{FF2B5EF4-FFF2-40B4-BE49-F238E27FC236}">
                <ns2:creationId id="{348437D8-C63F-4B5B-82C9-8892FD21437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99">
            <a:extLst>
              <a:ext uri="{FF2B5EF4-FFF2-40B4-BE49-F238E27FC236}">
                <ns2:creationId id="{E3A9FA8D-FFCF-45DB-9D0D-D1C5EAF18164}"/>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Discuss your current AI use and starting assumptions.</a:t>
            </a:r>
          </a:p>
        </p:txBody>
      </p:sp>
      <p:sp>
        <p:nvSpPr>
          <p:cNvPr id="6" name="text-100">
            <a:extLst>
              <a:ext uri="{FF2B5EF4-FFF2-40B4-BE49-F238E27FC236}">
                <ns2:creationId id="{E73FC08D-8FA6-4C52-98AA-84BB5CD24401}"/>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01">
            <a:extLst>
              <a:ext uri="{FF2B5EF4-FFF2-40B4-BE49-F238E27FC236}">
                <ns2:creationId id="{41CC1998-9D86-4580-A44E-2E63A195CC31}"/>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Ask the clause question using current evidence.</a:t>
            </a:r>
          </a:p>
        </p:txBody>
      </p:sp>
      <p:sp>
        <p:nvSpPr>
          <p:cNvPr id="8" name="text-102">
            <a:extLst>
              <a:ext uri="{FF2B5EF4-FFF2-40B4-BE49-F238E27FC236}">
                <ns2:creationId id="{6714AB38-BFCE-4D73-9A91-583B23023F34}"/>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03">
            <a:extLst>
              <a:ext uri="{FF2B5EF4-FFF2-40B4-BE49-F238E27FC236}">
                <ns2:creationId id="{4AF26AA0-8085-4B28-B35E-D4A8BB43F9F8}"/>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Compare the response with the complete clause.</a:t>
            </a:r>
          </a:p>
        </p:txBody>
      </p:sp>
      <p:sp>
        <p:nvSpPr>
          <p:cNvPr id="10" name="text-104">
            <a:extLst>
              <a:ext uri="{FF2B5EF4-FFF2-40B4-BE49-F238E27FC236}">
                <ns2:creationId id="{80841F39-89B7-4A9F-A7BD-AF42989365CA}"/>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105">
            <a:extLst>
              <a:ext uri="{FF2B5EF4-FFF2-40B4-BE49-F238E27FC236}">
                <ns2:creationId id="{B649D508-81C0-4EA4-A7B0-249162C91C4A}"/>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Choose one firm task and a success test.</a:t>
            </a:r>
          </a:p>
        </p:txBody>
      </p:sp>
      <p:sp>
        <p:nvSpPr>
          <p:cNvPr id="12" name="text-106">
            <a:extLst>
              <a:ext uri="{FF2B5EF4-FFF2-40B4-BE49-F238E27FC236}">
                <ns2:creationId id="{30895BFE-4347-459B-9F91-9F6487B2D293}"/>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97">
            <a:extLst>
              <a:ext uri="{FF2B5EF4-FFF2-40B4-BE49-F238E27FC236}">
                <ns2:creationId id="{FF9D76F0-8A49-403E-8E99-22A0F6204B7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16</a:t>
            </a:r>
          </a:p>
        </p:txBody>
      </p:sp>
      <p:pic xmlns:r="http://schemas.openxmlformats.org/officeDocument/2006/relationships">
        <p:nvPicPr>
          <p:cNvPr id="14" name="illustration-laptop" descr="Illustration: a laptop with a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852513285"/>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107">
            <a:extLst>
              <a:ext uri="{FF2B5EF4-FFF2-40B4-BE49-F238E27FC236}">
                <ns2:creationId id="{DBB29AE7-8CF3-4408-BF00-47C3649535C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108">
            <a:extLst>
              <a:ext uri="{FF2B5EF4-FFF2-40B4-BE49-F238E27FC236}">
                <ns2:creationId id="{B271BF48-A9C8-4891-A265-2D65D328186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110">
            <a:extLst>
              <a:ext uri="{FF2B5EF4-FFF2-40B4-BE49-F238E27FC236}">
                <ns2:creationId id="{DCD850B8-CFF6-4D0E-BA24-72347DA9244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11">
            <a:extLst>
              <a:ext uri="{FF2B5EF4-FFF2-40B4-BE49-F238E27FC236}">
                <ns2:creationId id="{56239EA1-4A49-4DB0-9ED2-AA4A3ED7F167}"/>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Calculation, learned classification, retrieval and drafting are different operations. The base facts do not establish every exception condition. A pilot needs an owner, permitted evidence and a task-specific test.</a:t>
            </a:r>
          </a:p>
        </p:txBody>
      </p:sp>
      <p:sp>
        <p:nvSpPr>
          <p:cNvPr id="6" name="text-112">
            <a:extLst>
              <a:ext uri="{FF2B5EF4-FFF2-40B4-BE49-F238E27FC236}">
                <ns2:creationId id="{D2683FFC-B406-49CE-A22D-8B753F9C7BE0}"/>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13">
            <a:extLst>
              <a:ext uri="{FF2B5EF4-FFF2-40B4-BE49-F238E27FC236}">
                <ns2:creationId id="{ED1CB4A5-54DA-40EC-A0F7-B39D9F906D74}"/>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An opening demonstration and an entry diagnostic do not establish production reliability.</a:t>
            </a:r>
          </a:p>
        </p:txBody>
      </p:sp>
      <p:sp>
        <p:nvSpPr>
          <p:cNvPr id="3" name="text-109">
            <a:extLst>
              <a:ext uri="{FF2B5EF4-FFF2-40B4-BE49-F238E27FC236}">
                <ns2:creationId id="{E4815D93-1207-4CB5-84B9-23FD26E649F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17</a:t>
            </a:r>
          </a:p>
        </p:txBody>
      </p:sp>
      <p:pic xmlns:r="http://schemas.openxmlformats.org/officeDocument/2006/relationships">
        <p:nvPicPr>
          <p:cNvPr id="9" name="illustration-target" descr="Illustration: a target with an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628463102"/>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114">
            <a:extLst>
              <a:ext uri="{FF2B5EF4-FFF2-40B4-BE49-F238E27FC236}">
                <ns2:creationId id="{67606BB4-42BD-4A1D-A8A5-F24EC759854E}"/>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115">
            <a:extLst>
              <a:ext uri="{FF2B5EF4-FFF2-40B4-BE49-F238E27FC236}">
                <ns2:creationId id="{FFD1D0AC-29BB-4824-8FBE-29B82B8DD8C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117">
            <a:extLst>
              <a:ext uri="{FF2B5EF4-FFF2-40B4-BE49-F238E27FC236}">
                <ns2:creationId id="{7B914186-D7C9-49DE-8763-5CDAC40D4F2A}"/>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18">
            <a:extLst>
              <a:ext uri="{FF2B5EF4-FFF2-40B4-BE49-F238E27FC236}">
                <ns2:creationId id="{6AD41AE0-595A-4CA6-882C-92ED8CB0E18F}"/>
              </a:ext>
            </a:extLst>
          </p:cNvPr>
          <p:cNvSpPr>
            <a:spLocks noGrp="1"/>
          </p:cNvSpPr>
          <p:nvPr/>
        </p:nvSpPr>
        <p:spPr>
          <a:xfrm>
            <a:off x="1285875" y="1943100"/>
            <a:ext cx="6564125"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Select one task to investigate and record its present process, source owner and uncertainty.</a:t>
            </a:r>
          </a:p>
        </p:txBody>
      </p:sp>
      <p:sp>
        <p:nvSpPr>
          <p:cNvPr id="6" name="text-119">
            <a:extLst>
              <a:ext uri="{FF2B5EF4-FFF2-40B4-BE49-F238E27FC236}">
                <ns2:creationId id="{366FD8D7-428C-4B2D-83DC-54AE63ADC332}"/>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116">
            <a:extLst>
              <a:ext uri="{FF2B5EF4-FFF2-40B4-BE49-F238E27FC236}">
                <ns2:creationId id="{EF93772F-CE93-4599-BFBF-B25009B0FF8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18</a:t>
            </a:r>
          </a:p>
        </p:txBody>
      </p:sp>
      <p:pic xmlns:r="http://schemas.openxmlformats.org/officeDocument/2006/relationships">
        <p:nvPicPr>
          <p:cNvPr id="8" name="illustration-signpost" descr="Illustration: a signpost with go and stop"/>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986881130"/>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120">
            <a:extLst>
              <a:ext uri="{FF2B5EF4-FFF2-40B4-BE49-F238E27FC236}">
                <ns2:creationId id="{ED9314B7-6F89-467F-AA0F-C7EAF8A4C09E}"/>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121">
            <a:extLst>
              <a:ext uri="{FF2B5EF4-FFF2-40B4-BE49-F238E27FC236}">
                <ns2:creationId id="{3E51B003-DE81-4707-B157-F322D338961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123">
            <a:extLst>
              <a:ext uri="{FF2B5EF4-FFF2-40B4-BE49-F238E27FC236}">
                <ns2:creationId id="{FA7AC80B-9A2B-42E9-86D6-0CD13D0D3EA7}"/>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24">
            <a:extLst>
              <a:ext uri="{FF2B5EF4-FFF2-40B4-BE49-F238E27FC236}">
                <ns2:creationId id="{A7DC0ED4-B6A8-4988-B247-7038B76AB271}"/>
              </a:ext>
            </a:extLst>
          </p:cNvPr>
          <p:cNvSpPr>
            <a:spLocks noGrp="1"/>
          </p:cNvSpPr>
          <p:nvPr/>
        </p:nvSpPr>
        <p:spPr>
          <a:xfrm>
            <a:off x="1285875" y="194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fixed date needs a reminder. Would you train a model?</a:t>
            </a:r>
          </a:p>
        </p:txBody>
      </p:sp>
      <p:sp>
        <p:nvSpPr>
          <p:cNvPr id="6" name="text-125">
            <a:extLst>
              <a:ext uri="{FF2B5EF4-FFF2-40B4-BE49-F238E27FC236}">
                <ns2:creationId id="{E05CCBB8-B410-4FCF-9664-DC2AA1EA3B61}"/>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26">
            <a:extLst>
              <a:ext uri="{FF2B5EF4-FFF2-40B4-BE49-F238E27FC236}">
                <ns2:creationId id="{D7F7A85B-2701-4E60-863E-3AD4E8A3CD32}"/>
              </a:ext>
            </a:extLst>
          </p:cNvPr>
          <p:cNvSpPr>
            <a:spLocks noGrp="1"/>
          </p:cNvSpPr>
          <p:nvPr/>
        </p:nvSpPr>
        <p:spPr>
          <a:xfrm>
            <a:off x="1285875" y="321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draft quotes the contract but omits the exception. Is it usable?</a:t>
            </a:r>
          </a:p>
        </p:txBody>
      </p:sp>
      <p:sp>
        <p:nvSpPr>
          <p:cNvPr id="8" name="text-127">
            <a:extLst>
              <a:ext uri="{FF2B5EF4-FFF2-40B4-BE49-F238E27FC236}">
                <ns2:creationId id="{308EFCF6-B34B-47FB-8719-266E648A4CF3}"/>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28">
            <a:extLst>
              <a:ext uri="{FF2B5EF4-FFF2-40B4-BE49-F238E27FC236}">
                <ns2:creationId id="{B66C2657-CE73-4F49-9302-AA0EB7BF8AD7}"/>
              </a:ext>
            </a:extLst>
          </p:cNvPr>
          <p:cNvSpPr>
            <a:spLocks noGrp="1"/>
          </p:cNvSpPr>
          <p:nvPr/>
        </p:nvSpPr>
        <p:spPr>
          <a:xfrm>
            <a:off x="1285875" y="448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Name one source owner for the candidate task.</a:t>
            </a:r>
          </a:p>
        </p:txBody>
      </p:sp>
      <p:sp>
        <p:nvSpPr>
          <p:cNvPr id="3" name="text-122">
            <a:extLst>
              <a:ext uri="{FF2B5EF4-FFF2-40B4-BE49-F238E27FC236}">
                <ns2:creationId id="{D2A43AEC-B012-45F8-BCEB-EB6A2B87043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19</a:t>
            </a:r>
          </a:p>
        </p:txBody>
      </p:sp>
      <p:pic xmlns:r="http://schemas.openxmlformats.org/officeDocument/2006/relationships">
        <p:nvPicPr>
          <p:cNvPr id="11" name="illustration-question" descr="Illustration: a speech bubble with a question 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6667956"/>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Model">
    <p:bg>
      <p:bgPr>
        <a:solidFill>
          <a:srgbClr val="FFFFFF"/>
        </a:solidFill>
      </p:bgPr>
    </p:bg>
    <p:spTree>
      <p:nvGrpSpPr>
        <p:cNvPr id="1" name=""/>
        <p:cNvGrpSpPr/>
        <p:nvPr/>
      </p:nvGrpSpPr>
      <p:grpSpPr>
        <a:xfrm/>
      </p:grpSpPr>
      <p:sp>
        <p:nvSpPr>
          <p:cNvPr id="7" name="text-129">
            <a:extLst>
              <a:ext uri="{FF2B5EF4-FFF2-40B4-BE49-F238E27FC236}">
                <ns2:creationId id="{1CBC3CC7-A7AA-487D-AAA5-A48AC793ADB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130">
            <a:extLst>
              <a:ext uri="{FF2B5EF4-FFF2-40B4-BE49-F238E27FC236}">
                <ns2:creationId id="{A11A65B5-397F-44A3-BACA-2526D4A116F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Model</a:t>
            </a:r>
          </a:p>
        </p:txBody>
      </p:sp>
      <p:sp>
        <p:nvSpPr>
          <p:cNvPr id="4" name="text-132">
            <a:extLst>
              <a:ext uri="{FF2B5EF4-FFF2-40B4-BE49-F238E27FC236}">
                <ns2:creationId id="{1C203C33-034C-41B1-83AF-ADA8E2C2F28D}"/>
              </a:ext>
            </a:extLst>
          </p:cNvPr>
          <p:cNvSpPr>
            <a:spLocks noGrp="1"/>
          </p:cNvSpPr>
          <p:nvPr/>
        </p:nvSpPr>
        <p:spPr>
          <a:xfrm>
            <a:off x="619125" y="1933575"/>
            <a:ext cx="7230875"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A model is a computational or mathematical representation used to describe relationships or map inputs to outputs. Its structure or parameters may be specified or learned.</a:t>
            </a:r>
          </a:p>
        </p:txBody>
      </p:sp>
      <p:sp>
        <p:nvSpPr>
          <p:cNvPr id="5" name="text-133">
            <a:extLst>
              <a:ext uri="{FF2B5EF4-FFF2-40B4-BE49-F238E27FC236}">
                <ns2:creationId id="{86193773-3BA2-41B2-A819-8666A327375C}"/>
              </a:ext>
            </a:extLst>
          </p:cNvPr>
          <p:cNvSpPr>
            <a:spLocks noGrp="1"/>
          </p:cNvSpPr>
          <p:nvPr/>
        </p:nvSpPr>
        <p:spPr>
          <a:xfrm>
            <a:off x="619125" y="4476750"/>
            <a:ext cx="7230875"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134">
            <a:extLst>
              <a:ext uri="{FF2B5EF4-FFF2-40B4-BE49-F238E27FC236}">
                <ns2:creationId id="{F291F0BC-2B6F-426C-B12C-D063AF18FB34}"/>
              </a:ext>
            </a:extLst>
          </p:cNvPr>
          <p:cNvSpPr>
            <a:spLocks noGrp="1"/>
          </p:cNvSpPr>
          <p:nvPr/>
        </p:nvSpPr>
        <p:spPr>
          <a:xfrm>
            <a:off x="619125" y="4962525"/>
            <a:ext cx="7230875"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A model is one component inside the application the user sees.</a:t>
            </a:r>
          </a:p>
        </p:txBody>
      </p:sp>
      <p:sp>
        <p:nvSpPr>
          <p:cNvPr id="3" name="text-131">
            <a:extLst>
              <a:ext uri="{FF2B5EF4-FFF2-40B4-BE49-F238E27FC236}">
                <ns2:creationId id="{033477E8-6B27-46D2-A625-A014DD2888B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20   OPTIONAL EXPLORATION</a:t>
            </a:r>
          </a:p>
        </p:txBody>
      </p:sp>
      <p:pic xmlns:r="http://schemas.openxmlformats.org/officeDocument/2006/relationships">
        <p:nvPicPr>
          <p:cNvPr id="8" name="illustration-network" descr="Illustration: layers of connected nodes in a neural netwo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012861848"/>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What an AI system can get wrong">
    <p:bg>
      <p:bgPr>
        <a:solidFill>
          <a:srgbClr val="FFFFFF"/>
        </a:solidFill>
      </p:bgPr>
    </p:bg>
    <p:spTree>
      <p:nvGrpSpPr>
        <p:cNvPr id="1" name=""/>
        <p:cNvGrpSpPr/>
        <p:nvPr/>
      </p:nvGrpSpPr>
      <p:grpSpPr>
        <a:xfrm/>
      </p:grpSpPr>
      <p:sp>
        <p:nvSpPr>
          <p:cNvPr id="12" name="text-135">
            <a:extLst>
              <a:ext uri="{FF2B5EF4-FFF2-40B4-BE49-F238E27FC236}">
                <ns2:creationId id="{91AF0F8C-BD7A-4E73-9CEF-FCFAA78410B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136">
            <a:extLst>
              <a:ext uri="{FF2B5EF4-FFF2-40B4-BE49-F238E27FC236}">
                <ns2:creationId id="{6EB594EF-941E-49D6-89A1-2C2C3043BC6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an AI system can get wrong</a:t>
            </a:r>
          </a:p>
        </p:txBody>
      </p:sp>
      <p:sp>
        <p:nvSpPr>
          <p:cNvPr id="4" name="text-138">
            <a:extLst>
              <a:ext uri="{FF2B5EF4-FFF2-40B4-BE49-F238E27FC236}">
                <ns2:creationId id="{EAED1089-47AB-40F2-A773-FFA6BC7CD691}"/>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39">
            <a:extLst>
              <a:ext uri="{FF2B5EF4-FFF2-40B4-BE49-F238E27FC236}">
                <ns2:creationId id="{E0489504-9D2A-44AC-967E-4E86BCA1D62C}"/>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An extraction can lose a word.</a:t>
            </a:r>
          </a:p>
        </p:txBody>
      </p:sp>
      <p:sp>
        <p:nvSpPr>
          <p:cNvPr id="6" name="text-140">
            <a:extLst>
              <a:ext uri="{FF2B5EF4-FFF2-40B4-BE49-F238E27FC236}">
                <ns2:creationId id="{AC91CEC6-5368-45A7-AEAC-D14203F04436}"/>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41">
            <a:extLst>
              <a:ext uri="{FF2B5EF4-FFF2-40B4-BE49-F238E27FC236}">
                <ns2:creationId id="{7E6A5438-B0C1-44F2-B37D-A8BE5D181BBE}"/>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search can retrieve the old version.</a:t>
            </a:r>
          </a:p>
        </p:txBody>
      </p:sp>
      <p:sp>
        <p:nvSpPr>
          <p:cNvPr id="8" name="text-142">
            <a:extLst>
              <a:ext uri="{FF2B5EF4-FFF2-40B4-BE49-F238E27FC236}">
                <ns2:creationId id="{8504A222-471D-4187-9E6D-EF9F94C7CAB5}"/>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43">
            <a:extLst>
              <a:ext uri="{FF2B5EF4-FFF2-40B4-BE49-F238E27FC236}">
                <ns2:creationId id="{62F52025-53A3-4530-AEF8-1E1830175D09}"/>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draft can invent a proposition.</a:t>
            </a:r>
          </a:p>
        </p:txBody>
      </p:sp>
      <p:sp>
        <p:nvSpPr>
          <p:cNvPr id="10" name="text-144">
            <a:extLst>
              <a:ext uri="{FF2B5EF4-FFF2-40B4-BE49-F238E27FC236}">
                <ns2:creationId id="{E3D26160-8724-4D2F-B305-AA1EE2EB4C58}"/>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145">
            <a:extLst>
              <a:ext uri="{FF2B5EF4-FFF2-40B4-BE49-F238E27FC236}">
                <ns2:creationId id="{7F5352FA-C52D-4171-8DBD-41BEB346C850}"/>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An action can reach the wrong recipient.</a:t>
            </a:r>
          </a:p>
        </p:txBody>
      </p:sp>
      <p:sp>
        <p:nvSpPr>
          <p:cNvPr id="3" name="text-137">
            <a:extLst>
              <a:ext uri="{FF2B5EF4-FFF2-40B4-BE49-F238E27FC236}">
                <ns2:creationId id="{9D2B1EC5-0257-478F-82E6-B2BA849A810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21   OPTIONAL EXPLORATION</a:t>
            </a:r>
          </a:p>
        </p:txBody>
      </p:sp>
      <p:pic xmlns:r="http://schemas.openxmlformats.org/officeDocument/2006/relationships">
        <p:nvPicPr>
          <p:cNvPr id="13" name="illustration-warn" descr="Illustration: a document with a warning triangle"/>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279206516"/>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An AI-native firm">
    <p:bg>
      <p:bgPr>
        <a:solidFill>
          <a:srgbClr val="FFFFFF"/>
        </a:solidFill>
      </p:bgPr>
    </p:bg>
    <p:spTree>
      <p:nvGrpSpPr>
        <p:cNvPr id="1" name=""/>
        <p:cNvGrpSpPr/>
        <p:nvPr/>
      </p:nvGrpSpPr>
      <p:grpSpPr>
        <a:xfrm/>
      </p:grpSpPr>
      <p:sp>
        <p:nvSpPr>
          <p:cNvPr id="10" name="text-146">
            <a:extLst>
              <a:ext uri="{FF2B5EF4-FFF2-40B4-BE49-F238E27FC236}">
                <ns2:creationId id="{C39A8F22-6527-4E0D-8166-32920BB68CD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147">
            <a:extLst>
              <a:ext uri="{FF2B5EF4-FFF2-40B4-BE49-F238E27FC236}">
                <ns2:creationId id="{8BEC7E0F-F103-43B5-A37E-15154D25B53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An AI-native firm</a:t>
            </a:r>
          </a:p>
        </p:txBody>
      </p:sp>
      <p:sp>
        <p:nvSpPr>
          <p:cNvPr id="4" name="text-149">
            <a:extLst>
              <a:ext uri="{FF2B5EF4-FFF2-40B4-BE49-F238E27FC236}">
                <ns2:creationId id="{5E0DAFBC-3DFD-433A-A721-AF4456197A5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50">
            <a:extLst>
              <a:ext uri="{FF2B5EF4-FFF2-40B4-BE49-F238E27FC236}">
                <ns2:creationId id="{A73E06DC-4EA6-4772-90FD-7FCBA9D2BF80}"/>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Work design includes AI where evidence supports it.</a:t>
            </a:r>
          </a:p>
        </p:txBody>
      </p:sp>
      <p:sp>
        <p:nvSpPr>
          <p:cNvPr id="6" name="text-151">
            <a:extLst>
              <a:ext uri="{FF2B5EF4-FFF2-40B4-BE49-F238E27FC236}">
                <ns2:creationId id="{00C12C8D-8B0E-47A7-AC8A-0A485A9EA7D0}"/>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52">
            <a:extLst>
              <a:ext uri="{FF2B5EF4-FFF2-40B4-BE49-F238E27FC236}">
                <ns2:creationId id="{DBD5DE89-263C-4AA7-BFA2-88A326ED7C59}"/>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People retain defined responsibilities and review authority.</a:t>
            </a:r>
          </a:p>
        </p:txBody>
      </p:sp>
      <p:sp>
        <p:nvSpPr>
          <p:cNvPr id="8" name="text-153">
            <a:extLst>
              <a:ext uri="{FF2B5EF4-FFF2-40B4-BE49-F238E27FC236}">
                <ns2:creationId id="{E81A444B-2736-4525-BFDB-5C11C66CD426}"/>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54">
            <a:extLst>
              <a:ext uri="{FF2B5EF4-FFF2-40B4-BE49-F238E27FC236}">
                <ns2:creationId id="{0A04C2BE-A0B6-40E1-AEA9-C7B0736C70A2}"/>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firm maintains usable information and measures outcomes.</a:t>
            </a:r>
          </a:p>
        </p:txBody>
      </p:sp>
      <p:sp>
        <p:nvSpPr>
          <p:cNvPr id="3" name="text-148">
            <a:extLst>
              <a:ext uri="{FF2B5EF4-FFF2-40B4-BE49-F238E27FC236}">
                <ns2:creationId id="{1C97E764-C1B3-4756-8A6A-7FB0653FE1C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22   OPTIONAL EXPLORATION</a:t>
            </a:r>
          </a:p>
        </p:txBody>
      </p:sp>
      <p:pic xmlns:r="http://schemas.openxmlformats.org/officeDocument/2006/relationships">
        <p:nvPicPr>
          <p:cNvPr id="11" name="illustration-team" descr="Illustration: three people forming a team"/>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33640300"/>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2026-10-26T10:01:45.5350000Z</dcterms:created>
  <dcterms:modified xsi:type="dcterms:W3CDTF">2026-10-26T10:01:45.5350000Z</dcterms:modified>
</coreProperties>
</file>