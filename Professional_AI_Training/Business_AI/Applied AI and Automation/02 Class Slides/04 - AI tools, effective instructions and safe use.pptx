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4f4dcae662e4ed3" Type="http://schemas.openxmlformats.org/officeDocument/2006/relationships/officeDocument" Target="ppt/presentation.xml"/><Relationship Id="R48ac88f146824e35" Type="http://schemas.openxmlformats.org/officeDocument/2006/relationships/extended-properties" Target="docProps/app.xml"/><Relationship Id="R9e2708cc077f4bc7"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p:sldMasterIdLst>
    <p:sldMasterId id="2147483648" r:id="R216ce326033e470f"/>
  </p:sldMasterIdLst>
  <p:notesMasterIdLst>
    <p:notesMasterId r:id="R26dd6cc133294359"/>
  </p:notesMasterIdLst>
  <p:sldIdLst>
    <p:sldId id="256" r:id="Reb8a1fd594194077"/>
    <p:sldId id="257" r:id="R362eb6e7a90649a2"/>
    <p:sldId id="258" r:id="R346ce63111f54c61"/>
    <p:sldId id="259" r:id="R684c6c61c6b145e6"/>
    <p:sldId id="260" r:id="R432850d4f7384894"/>
    <p:sldId id="261" r:id="R74ff714002a54d29"/>
    <p:sldId id="262" r:id="Rbcb33b7767644130"/>
    <p:sldId id="263" r:id="R7b153591e425433c"/>
    <p:sldId id="264" r:id="R29d4743c05e44368"/>
    <p:sldId id="265" r:id="R4ed5f7c8632e4210"/>
    <p:sldId id="266" r:id="R45177d8ac4b94bb2"/>
    <p:sldId id="267" r:id="R233cfaee0bc54798"/>
    <p:sldId id="268" r:id="Rdb8d9476f05940d1"/>
    <p:sldId id="269" r:id="R75a16d5b06c74f4f"/>
    <p:sldId id="270" r:id="Rf91ce2943b144bfc"/>
    <p:sldId id="271" r:id="R4931e6f51c254d1e"/>
    <p:sldId id="272" r:id="R0689cfd2641a4b40"/>
    <p:sldId id="273" r:id="R76d3323e35a8454c"/>
    <p:sldId id="274" r:id="Rdcd7020c199d4f03"/>
    <p:sldId id="275" r:id="R8222b6f6e53449f9"/>
    <p:sldId id="276" r:id="Rade998476e394784"/>
    <p:sldId id="277" r:id="R79b9c47d6b234504"/>
    <p:sldId id="278" r:id="R93fadfbab0fc463c"/>
    <p:sldId id="279" r:id="R2e294aebdfde4e13"/>
  </p:sldIdLst>
  <p:sldSz cx="12192000" cy="6858000"/>
  <p:notesSz cx="6858000" cy="9144000"/>
  <p:custShowLst>
    <p:custShow name="Core teaching" id="1">
      <p:sldLst>
        <p:sld r:id="Reb8a1fd594194077"/>
        <p:sld r:id="R362eb6e7a90649a2"/>
        <p:sld r:id="R346ce63111f54c61"/>
        <p:sld r:id="R684c6c61c6b145e6"/>
        <p:sld r:id="R432850d4f7384894"/>
        <p:sld r:id="R74ff714002a54d29"/>
        <p:sld r:id="Rbcb33b7767644130"/>
        <p:sld r:id="R7b153591e425433c"/>
        <p:sld r:id="R29d4743c05e44368"/>
        <p:sld r:id="R4ed5f7c8632e4210"/>
        <p:sld r:id="R45177d8ac4b94bb2"/>
        <p:sld r:id="R233cfaee0bc54798"/>
        <p:sld r:id="Rdb8d9476f05940d1"/>
        <p:sld r:id="R75a16d5b06c74f4f"/>
        <p:sld r:id="Rf91ce2943b144bfc"/>
        <p:sld r:id="R4931e6f51c254d1e"/>
        <p:sld r:id="R0689cfd2641a4b40"/>
        <p:sld r:id="R76d3323e35a8454c"/>
        <p:sld r:id="Rdcd7020c199d4f03"/>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89cfd2641a4b40" Type="http://schemas.openxmlformats.org/officeDocument/2006/relationships/slide" Target="slides/slide17.xml"/><Relationship Id="R0c0f7b5bc3be4e22" Type="http://schemas.openxmlformats.org/officeDocument/2006/relationships/tableStyles" Target="tableStyles.xml"/><Relationship Id="R0d767f1e646e431e" Type="http://schemas.openxmlformats.org/officeDocument/2006/relationships/theme" Target="theme/theme1.xml"/><Relationship Id="R216ce326033e470f" Type="http://schemas.openxmlformats.org/officeDocument/2006/relationships/slideMaster" Target="slideMasters/slideMaster1.xml"/><Relationship Id="R233cfaee0bc54798" Type="http://schemas.openxmlformats.org/officeDocument/2006/relationships/slide" Target="slides/slide12.xml"/><Relationship Id="R26dd6cc133294359" Type="http://schemas.openxmlformats.org/officeDocument/2006/relationships/notesMaster" Target="notesMasters/notesMaster1.xml"/><Relationship Id="R29d4743c05e44368" Type="http://schemas.openxmlformats.org/officeDocument/2006/relationships/slide" Target="slides/slide9.xml"/><Relationship Id="R2e294aebdfde4e13" Type="http://schemas.openxmlformats.org/officeDocument/2006/relationships/slide" Target="slides/slide24.xml"/><Relationship Id="R346ce63111f54c61" Type="http://schemas.openxmlformats.org/officeDocument/2006/relationships/slide" Target="slides/slide3.xml"/><Relationship Id="R362eb6e7a90649a2" Type="http://schemas.openxmlformats.org/officeDocument/2006/relationships/slide" Target="slides/slide2.xml"/><Relationship Id="R432850d4f7384894" Type="http://schemas.openxmlformats.org/officeDocument/2006/relationships/slide" Target="slides/slide5.xml"/><Relationship Id="R45177d8ac4b94bb2" Type="http://schemas.openxmlformats.org/officeDocument/2006/relationships/slide" Target="slides/slide11.xml"/><Relationship Id="R4931e6f51c254d1e" Type="http://schemas.openxmlformats.org/officeDocument/2006/relationships/slide" Target="slides/slide16.xml"/><Relationship Id="R4ed5f7c8632e4210" Type="http://schemas.openxmlformats.org/officeDocument/2006/relationships/slide" Target="slides/slide10.xml"/><Relationship Id="R5dccc0a0cb9f48cc" Type="http://schemas.openxmlformats.org/officeDocument/2006/relationships/presProps" Target="presProps.xml"/><Relationship Id="R684c6c61c6b145e6" Type="http://schemas.openxmlformats.org/officeDocument/2006/relationships/slide" Target="slides/slide4.xml"/><Relationship Id="R74ff714002a54d29" Type="http://schemas.openxmlformats.org/officeDocument/2006/relationships/slide" Target="slides/slide6.xml"/><Relationship Id="R75a16d5b06c74f4f" Type="http://schemas.openxmlformats.org/officeDocument/2006/relationships/slide" Target="slides/slide14.xml"/><Relationship Id="R76d3323e35a8454c" Type="http://schemas.openxmlformats.org/officeDocument/2006/relationships/slide" Target="slides/slide18.xml"/><Relationship Id="R79b9c47d6b234504" Type="http://schemas.openxmlformats.org/officeDocument/2006/relationships/slide" Target="slides/slide22.xml"/><Relationship Id="R7b153591e425433c" Type="http://schemas.openxmlformats.org/officeDocument/2006/relationships/slide" Target="slides/slide8.xml"/><Relationship Id="R8222b6f6e53449f9" Type="http://schemas.openxmlformats.org/officeDocument/2006/relationships/slide" Target="slides/slide20.xml"/><Relationship Id="R93fadfbab0fc463c" Type="http://schemas.openxmlformats.org/officeDocument/2006/relationships/slide" Target="slides/slide23.xml"/><Relationship Id="Rade998476e394784" Type="http://schemas.openxmlformats.org/officeDocument/2006/relationships/slide" Target="slides/slide21.xml"/><Relationship Id="Rbcb33b7767644130" Type="http://schemas.openxmlformats.org/officeDocument/2006/relationships/slide" Target="slides/slide7.xml"/><Relationship Id="Rdb8d9476f05940d1" Type="http://schemas.openxmlformats.org/officeDocument/2006/relationships/slide" Target="slides/slide13.xml"/><Relationship Id="Rdcd7020c199d4f03" Type="http://schemas.openxmlformats.org/officeDocument/2006/relationships/slide" Target="slides/slide19.xml"/><Relationship Id="Reb8a1fd594194077" Type="http://schemas.openxmlformats.org/officeDocument/2006/relationships/slide" Target="slides/slide1.xml"/><Relationship Id="Rf91ce2943b144bfc"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0881db294886491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5d4ca450a044c20" Type="http://schemas.openxmlformats.org/officeDocument/2006/relationships/notesMaster" Target="../notesMasters/notesMaster1.xml"/><Relationship Id="R5521f9039600484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7927f475de04658" Type="http://schemas.openxmlformats.org/officeDocument/2006/relationships/notesMaster" Target="../notesMasters/notesMaster1.xml"/><Relationship Id="Rdc430c7e614a4dd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345f630cd6b43fd" Type="http://schemas.openxmlformats.org/officeDocument/2006/relationships/slide" Target="../slides/slide3.xml"/><Relationship Id="R83fdc0cc7f1d42dc"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7a7525ed9acd47b2" Type="http://schemas.openxmlformats.org/officeDocument/2006/relationships/notesMaster" Target="../notesMasters/notesMaster1.xml"/><Relationship Id="Rc01288d635644183"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24e3f9c42494a38" Type="http://schemas.openxmlformats.org/officeDocument/2006/relationships/notesMaster" Target="../notesMasters/notesMaster1.xml"/><Relationship Id="R7daaffb8749a4d6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662c9794378425c" Type="http://schemas.openxmlformats.org/officeDocument/2006/relationships/notesMaster" Target="../notesMasters/notesMaster1.xml"/><Relationship Id="Rcc3858f418534cfb"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7288529c82e4bd7" Type="http://schemas.openxmlformats.org/officeDocument/2006/relationships/notesMaster" Target="../notesMasters/notesMaster1.xml"/><Relationship Id="Rf94403a7d42f41a3"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00d1dc64bf634eda" Type="http://schemas.openxmlformats.org/officeDocument/2006/relationships/slide" Target="../slides/slide8.xml"/><Relationship Id="R64090c6c8a2c448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74749b59644439b" Type="http://schemas.openxmlformats.org/officeDocument/2006/relationships/notesMaster" Target="../notesMasters/notesMaster1.xml"/><Relationship Id="Rd202b372c2b8470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10e9730f6e34d1d" Type="http://schemas.openxmlformats.org/officeDocument/2006/relationships/notesMaster" Target="../notesMasters/notesMaster1.xml"/><Relationship Id="R3e23b4390b614354"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96a97ac1b774582" Type="http://schemas.openxmlformats.org/officeDocument/2006/relationships/notesMaster" Target="../notesMasters/notesMaster1.xml"/><Relationship Id="R382876fe529a4c6f"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5318f5349d5d4142" Type="http://schemas.openxmlformats.org/officeDocument/2006/relationships/notesMaster" Target="../notesMasters/notesMaster1.xml"/><Relationship Id="Rf0d50a64c8c149dd"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c1e2905b174a4b3d" Type="http://schemas.openxmlformats.org/officeDocument/2006/relationships/slide" Target="../slides/slide13.xml"/><Relationship Id="Rf468477191524c78"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733315778247409d" Type="http://schemas.openxmlformats.org/officeDocument/2006/relationships/slide" Target="../slides/slide14.xml"/><Relationship Id="Refeb1522d6f1456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5970dce34e5a4ee7" Type="http://schemas.openxmlformats.org/officeDocument/2006/relationships/notesMaster" Target="../notesMasters/notesMaster1.xml"/><Relationship Id="R73c1ca8e6a7141ef"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5f9cb9281b404108" Type="http://schemas.openxmlformats.org/officeDocument/2006/relationships/notesMaster" Target="../notesMasters/notesMaster1.xml"/><Relationship Id="Rc5e092f859df4da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1004f92e35354db6" Type="http://schemas.openxmlformats.org/officeDocument/2006/relationships/notesMaster" Target="../notesMasters/notesMaster1.xml"/><Relationship Id="Rd3a8141adb4844eb"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3cf69b54e9844d3a" Type="http://schemas.openxmlformats.org/officeDocument/2006/relationships/notesMaster" Target="../notesMasters/notesMaster1.xml"/><Relationship Id="R66fb5af3bc1b4a1f"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b62e40f7ccbd4f86" Type="http://schemas.openxmlformats.org/officeDocument/2006/relationships/notesMaster" Target="../notesMasters/notesMaster1.xml"/><Relationship Id="Rf035af5846d943c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0bd92246c05d4f6b" Type="http://schemas.openxmlformats.org/officeDocument/2006/relationships/slide" Target="../slides/slide20.xml"/><Relationship Id="R3f79db42a0564f28"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3c1049ba3a974260" Type="http://schemas.openxmlformats.org/officeDocument/2006/relationships/notesMaster" Target="../notesMasters/notesMaster1.xml"/><Relationship Id="R6bc1e3dae4b64dd6"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1acf9627b96b4cdc" Type="http://schemas.openxmlformats.org/officeDocument/2006/relationships/notesMaster" Target="../notesMasters/notesMaster1.xml"/><Relationship Id="Rcc919b0aec6f436b"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28e5dec05bb84146" Type="http://schemas.openxmlformats.org/officeDocument/2006/relationships/notesMaster" Target="../notesMasters/notesMaster1.xml"/><Relationship Id="R302e7530959a473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14d2388fc00a4045" Type="http://schemas.openxmlformats.org/officeDocument/2006/relationships/slide" Target="../slides/slide24.xml"/><Relationship Id="R4fd6859a1eba4fe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4. Today's question is this. How do we select an AI tool, brief it clearly and check that what comes back is useful?</a:t>
            </a:r>
          </a:p>
          <a:p xmlns:a="http://schemas.openxmlformats.org/drawingml/2006/main"/>
          <a:p xmlns:a="http://schemas.openxmlformats.org/drawingml/2006/main">
            <a:r>
              <a:t>It matters in a legal or tax practice because every firm will be offered products, and every product will answer something. Choosing well, asking well and checking well decide whether the answer can be used.</a:t>
            </a:r>
          </a:p>
          <a:p xmlns:a="http://schemas.openxmlformats.org/drawingml/2006/main"/>
          <a:p xmlns:a="http://schemas.openxmlformats.org/drawingml/2006/main">
            <a:r>
              <a:t>We stay with the Kampala Legal and Tax matter for Victoria Services Ltd. By the end you'll have a reusable review brief, and a recorded decision about a tool and the data we would let it see. Before any of that, I want to start with a question from last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explain anything, let me take you back to Session 3. Three assistants repeat the same unsupported fee. What has been established? Take your time, and tell me your reason as well as your answer.</a:t>
            </a:r>
          </a:p>
          <a:p xmlns:a="http://schemas.openxmlformats.org/drawingml/2006/main"/>
          <a:p xmlns:a="http://schemas.openxmlformats.org/drawingml/2006/main">
            <a:r>
              <a:t>Let me give you mine. Three matching answers show that the agreement exists, and that the assistants agree with one another. They don't show the fee. The signed Fee Schedule was never supplied, so nothing supports the number. Agreement between tools is a weak test.</a:t>
            </a:r>
          </a:p>
          <a:p xmlns:a="http://schemas.openxmlformats.org/drawingml/2006/main"/>
          <a:p xmlns:a="http://schemas.openxmlformats.org/drawingml/2006/main">
            <a:r>
              <a:t>If your first instinct is that the fee is probably right, I'd ask which document you would open to check it, and whether we have it.</a:t>
            </a:r>
          </a:p>
          <a:p xmlns:a="http://schemas.openxmlformats.org/drawingml/2006/main"/>
          <a:p xmlns:a="http://schemas.openxmlformats.org/drawingml/2006/main">
            <a:r>
              <a:t>Now today's question is on the right. How do we select a tool, brief it clearly and verify a useful result? What we build is a reusable review brief and a documented decision about the tool and its data. First, we put one question to several products and see what a fair comparison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setup for comparing products. The question is this one. What does the agreement require for an internal reorganisation? In our agreement that answer sits in Section 12.6, as replaced by the Key Terms. Every product gets the same two sources, the executed agreement and the client instruction.</a:t>
            </a:r>
          </a:p>
          <a:p xmlns:a="http://schemas.openxmlformats.org/drawingml/2006/main"/>
          <a:p xmlns:a="http://schemas.openxmlformats.org/drawingml/2006/main">
            <a:r>
              <a:t>Products differ in many ways. One may read an uploaded file, another may search, and they use different models and settings. If I change the question or the files between runs, I can't tell what caused a difference. So I keep the inputs fixed, and I write down what each product actually did.</a:t>
            </a:r>
          </a:p>
          <a:p xmlns:a="http://schemas.openxmlformats.org/drawingml/2006/main"/>
          <a:p xmlns:a="http://schemas.openxmlformats.org/drawingml/2006/main">
            <a:r>
              <a:t>Here's one for you. If I gave one product the agreement and another only a summary of it, what could we conclude from the two answers? Have a think.</a:t>
            </a:r>
          </a:p>
          <a:p xmlns:a="http://schemas.openxmlformats.org/drawingml/2006/main"/>
          <a:p xmlns:a="http://schemas.openxmlformats.org/drawingml/2006/main">
            <a:r>
              <a:t>Here's how I'd answer it. Nothing reliable, because the evidence differed. You might say the better product will cope anyway. If so, how would we know it coped, when we never compared like with like? The task, the evidence, the output criteria and the review method all have to stay the same.</a:t>
            </a:r>
          </a:p>
          <a:p xmlns:a="http://schemas.openxmlformats.org/drawingml/2006/main"/>
          <a:p xmlns:a="http://schemas.openxmlformats.org/drawingml/2006/main">
            <a:r>
              <a:t>Next, a look at the kinds of product we might compare.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short tour of categories. The names are examples. I'm not endorsing any of them, and I'm claiming nothing beyond what the table says.</a:t>
            </a:r>
          </a:p>
          <a:p xmlns:a="http://schemas.openxmlformats.org/drawingml/2006/main"/>
          <a:p xmlns:a="http://schemas.openxmlformats.org/drawingml/2006/main">
            <a:r>
              <a:t>General assistants such as Claude, ChatGPT and Gemini are listed for drafting and for analysis of files we supply. An assistant, by the way, is a program that answers instructions written in ordinary language. Legal platforms such as Harvey and NetDocuments are listed for precedents and document review. AlphaSense is listed for investment and industry research. Copilot Studio and Zapier are workflow builders, where the work is connections and review steps. Products and plans change, so I would check the vendor's current material before relying on any of this.</a:t>
            </a:r>
          </a:p>
          <a:p xmlns:a="http://schemas.openxmlformats.org/drawingml/2006/main"/>
          <a:p xmlns:a="http://schemas.openxmlformats.org/drawingml/2006/main">
            <a:r>
              <a:t>Now it's your turn. A product calls itself a legal platform. What would you need to see before you believed it covers Ugandan law? Take your time.</a:t>
            </a:r>
          </a:p>
          <a:p xmlns:a="http://schemas.openxmlformats.org/drawingml/2006/main"/>
          <a:p xmlns:a="http://schemas.openxmlformats.org/drawingml/2006/main">
            <a:r>
              <a:t>A specialised label guarantees nothing about local legal coverage. I'd want to know the jurisdiction, which sources the product holds, how they're updated, and how it performs when tested on our own cases. The label proves none of those. If the label still feels convincing, I'd ask which sources the product actually searches.</a:t>
            </a:r>
          </a:p>
          <a:p xmlns:a="http://schemas.openxmlformats.org/drawingml/2006/main"/>
          <a:p xmlns:a="http://schemas.openxmlformats.org/drawingml/2006/main">
            <a:r>
              <a:t>Now we turn to what must be settled before any real matter goes into a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a checklist I'd run before any real matter goes into a product. Let's work down it together.</a:t>
            </a:r>
          </a:p>
          <a:p xmlns:a="http://schemas.openxmlformats.org/drawingml/2006/main"/>
          <a:p xmlns:a="http://schemas.openxmlformats.org/drawingml/2006/main">
            <a:r>
              <a:t>First, which product and which account? Consumer, business and API terms are different documents. Second, how is the content used? That covers any training choice, and feedback. Third, where is it kept? Think of chats, files, logs, backups and deletion. Fourth, who can see it, through workspace roles, connectors and subprocessors, which are the other companies that handle data for the provider. The last row asks whether this matter may go in at all. That is a firm decision, made under professional duties.</a:t>
            </a:r>
          </a:p>
          <a:p xmlns:a="http://schemas.openxmlformats.org/drawingml/2006/main"/>
          <a:p xmlns:a="http://schemas.openxmlformats.org/drawingml/2006/main">
            <a:r>
              <a:t>In class we use fictional records only. I open the official terms of the account we actually have, and I note anything those terms leave unanswered.</a:t>
            </a:r>
          </a:p>
          <a:p xmlns:a="http://schemas.openxmlformats.org/drawingml/2006/main"/>
          <a:p xmlns:a="http://schemas.openxmlformats.org/drawingml/2006/main">
            <a:r>
              <a:t>I'd like to hear your thinking on this one. A product says it doesn't train on your content. Does that tell you nobody keeps a copy, or can open it? Think it over.</a:t>
            </a:r>
          </a:p>
          <a:p xmlns:a="http://schemas.openxmlformats.org/drawingml/2006/main"/>
          <a:p xmlns:a="http://schemas.openxmlformats.org/drawingml/2006/main">
            <a:r>
              <a:t>Here's my answer. No. Training, retention and access are separate questions, and each needs its own evidence. If they still feel like one question, I'd ask which row of the table that setting would answer. It speaks to training and nothing else.</a:t>
            </a:r>
          </a:p>
          <a:p xmlns:a="http://schemas.openxmlformats.org/drawingml/2006/main"/>
          <a:p xmlns:a="http://schemas.openxmlformats.org/drawingml/2006/main">
            <a:r>
              <a:t>Next, a vague request beside a clear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two requests side by side. The vague one reads, "Review this contract and tell me if it is okay." What does okay mean here? Okay for whom, against what standard, and shown how? The tool has to guess, and so does anyone reading its answer.</a:t>
            </a:r>
          </a:p>
          <a:p xmlns:a="http://schemas.openxmlformats.org/drawingml/2006/main"/>
          <a:p xmlns:a="http://schemas.openxmlformats.org/drawingml/2006/main">
            <a:r>
              <a:t>The clear request names the comparison, which is the consent provisions against our playbook. It asks for the relevant passages in quotation. It asks the tool to preserve exceptions, and to flag missing transaction facts. In our matter the passage is Section 12.6 as changed by the Key Terms. The missing facts are the ownership chart, and confirmation that Equator remains responsible.</a:t>
            </a:r>
          </a:p>
          <a:p xmlns:a="http://schemas.openxmlformats.org/drawingml/2006/main"/>
          <a:p xmlns:a="http://schemas.openxmlformats.org/drawingml/2006/main">
            <a:r>
              <a:t>Here's something to chew on. Which part of the clear request tells us how to judge the answer? Give that a moment.</a:t>
            </a:r>
          </a:p>
          <a:p xmlns:a="http://schemas.openxmlformats.org/drawingml/2006/main"/>
          <a:p xmlns:a="http://schemas.openxmlformats.org/drawingml/2006/main">
            <a:r>
              <a:t>My answer is this. The comparison criteria and the source requirements. The quoted passage, the preserved exceptions and the flagged gaps are each things a reviewer can check. If the clear request still just feels longer, try this angle. Which sentence in it could you mark as met or missed?</a:t>
            </a:r>
          </a:p>
          <a:p xmlns:a="http://schemas.openxmlformats.org/drawingml/2006/main"/>
          <a:p xmlns:a="http://schemas.openxmlformats.org/drawingml/2006/main">
            <a:r>
              <a:t>Next, we break a good brief into four parts.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good brief has four parts. The first is purpose and audience. What decision does the work support, and who will read it? The second is evidence and boundaries. Which sources apply, and which don't? The third is the output and the acceptance criteria. What does the answer look like, and how will we judge it? The fourth is questions, uncertainties and a review point. Where should the tool stop and ask, and who looks next?</a:t>
            </a:r>
          </a:p>
          <a:p xmlns:a="http://schemas.openxmlformats.org/drawingml/2006/main"/>
          <a:p xmlns:a="http://schemas.openxmlformats.org/drawingml/2006/main">
            <a:r>
              <a:t>I like the picture of briefing a junior colleague, with one limit. A junior understands the client and answers for the work. A model has neither of those. So the brief serves our checking, and accountability stays with us.</a:t>
            </a:r>
          </a:p>
          <a:p xmlns:a="http://schemas.openxmlformats.org/drawingml/2006/main"/>
          <a:p xmlns:a="http://schemas.openxmlformats.org/drawingml/2006/main">
            <a:r>
              <a:t>One for you to work out. Before a junior starts on the Equator question, what would you tell them? Take a moment with that.</a:t>
            </a:r>
          </a:p>
          <a:p xmlns:a="http://schemas.openxmlformats.org/drawingml/2006/main"/>
          <a:p xmlns:a="http://schemas.openxmlformats.org/drawingml/2006/main">
            <a:r>
              <a:t>Here's where I land. I'd name the decision at stake, and say the agreement and the client instruction are the sources. I'd describe the form of the answer, and say when to come back with a question. If you gave a junior only the task, how would they know what to do when a fact is missing?</a:t>
            </a:r>
          </a:p>
          <a:p xmlns:a="http://schemas.openxmlformats.org/drawingml/2006/main"/>
          <a:p xmlns:a="http://schemas.openxmlformats.org/drawingml/2006/main">
            <a:r>
              <a:t>Next is a written instruction we can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working instruction, and I'll read all four lines once. Use the supplied agreement and playbook only. Return the clause, the exact passage, the departure and a proposed amendment. Keep qualifications, and ask about missing facts. Prepare a draft for partner review.</a:t>
            </a:r>
          </a:p>
          <a:p xmlns:a="http://schemas.openxmlformats.org/drawingml/2006/main"/>
          <a:p xmlns:a="http://schemas.openxmlformats.org/drawingml/2006/main">
            <a:r>
              <a:t>I have it open as Review Instruction.txt for class. It's a working example for this matter, and I wouldn't offer it as a prompt that works everywhere.</a:t>
            </a:r>
          </a:p>
          <a:p xmlns:a="http://schemas.openxmlformats.org/drawingml/2006/main"/>
          <a:p xmlns:a="http://schemas.openxmlformats.org/drawingml/2006/main">
            <a:r>
              <a:t>One exercise for you. Think of an acceptance criterion you could sharpen. For example, the quoted passage must come from Section 12.6 as replaced in the Key Terms, and the unmodified Standard Terms don't count.</a:t>
            </a:r>
          </a:p>
          <a:p xmlns:a="http://schemas.openxmlformats.org/drawingml/2006/main"/>
          <a:p xmlns:a="http://schemas.openxmlformats.org/drawingml/2006/main">
            <a:r>
              <a:t>Now a question. What should the tool do if the sources are silent on a point, such as the annual fee? Say it out loud if it helps.</a:t>
            </a:r>
          </a:p>
          <a:p xmlns:a="http://schemas.openxmlformats.org/drawingml/2006/main"/>
          <a:p xmlns:a="http://schemas.openxmlformats.org/drawingml/2006/main">
            <a:r>
              <a:t>The way I read it is this. It should say that the source doesn't establish the point, and ask for the signed Fee Schedule. You might think a better prompt will find the number. If so, which signed document would the number come from?</a:t>
            </a:r>
          </a:p>
          <a:p xmlns:a="http://schemas.openxmlformats.org/drawingml/2006/main"/>
          <a:p xmlns:a="http://schemas.openxmlformats.org/drawingml/2006/main">
            <a:r>
              <a:t>Next, how a finding links back to its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here ties a finding to its evidence and to a place. The first finding says the consent exception may apply. It rests on a wholly owned group, and on the provider remaining responsible. The agreement supplies that wording, and the location points to it. Read that reference as Section 12.6 as replaced by the Key Terms change. The second finding says ownership is unconfirmed, because the client gave no ownership chart. That comes from the client instruction.</a:t>
            </a:r>
          </a:p>
          <a:p xmlns:a="http://schemas.openxmlformats.org/drawingml/2006/main"/>
          <a:p xmlns:a="http://schemas.openxmlformats.org/drawingml/2006/main">
            <a:r>
              <a:t>Different claims need different kinds of source. A contract shows what the words say. It can't show how Equator is owned today.</a:t>
            </a:r>
          </a:p>
          <a:p xmlns:a="http://schemas.openxmlformats.org/drawingml/2006/main"/>
          <a:p xmlns:a="http://schemas.openxmlformats.org/drawingml/2006/main">
            <a:r>
              <a:t>Tell me what you make of this. Can the agreement tell us how Equator is actually owned? No rush.</a:t>
            </a:r>
          </a:p>
          <a:p xmlns:a="http://schemas.openxmlformats.org/drawingml/2006/main"/>
          <a:p xmlns:a="http://schemas.openxmlformats.org/drawingml/2006/main">
            <a:r>
              <a:t>No. For that we need transaction evidence, such as an ownership chart from the client or from Equator. If you feel the agreement mentions groups, so it probably covers it, try this angle. Does a rule about groups tell you whether this group exists?</a:t>
            </a:r>
          </a:p>
          <a:p xmlns:a="http://schemas.openxmlformats.org/drawingml/2006/main"/>
          <a:p xmlns:a="http://schemas.openxmlformats.org/drawingml/2006/main">
            <a:r>
              <a:t>Next, one finding set beside its supporting passage.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 situation you'll meet often. A tool hands you a finding, a citation and a link. How much has it really told you? We'll look at the finding first, and then at the passage it rests on.</a:t>
            </a:r>
          </a:p>
          <a:p xmlns:a="http://schemas.openxmlformats.org/drawingml/2006/main"/>
          <a:p xmlns:a="http://schemas.openxmlformats.org/drawingml/2006/main">
            <a:r>
              <a:t>First comes the finding. The group exception may apply. Confirm ownership and continued provider responsibility. Notice how careful that is. It says may apply, and it names the two things we still have to confirm before anyone relies on it.</a:t>
            </a:r>
          </a:p>
          <a:p xmlns:a="http://schemas.openxmlformats.org/drawingml/2006/main"/>
          <a:p xmlns:a="http://schemas.openxmlformats.org/drawingml/2006/main">
            <a:r>
              <a:t>Then the passage beneath it, from the Key Terms, item KT-1 of the executed agreement. The provider must obtain the customer's prior written consent before a change of control takes effect. That consent isn't required for a reorganisation within a wholly owned group, if the provider remains responsible for its obligations. The closing line says the clause establishes wording, and transaction facts need their own evidence. One caution. This quotes only the two sentences on change of control. The replacement also begins with the general assignment sentence, so I'd read the full replacement in the agreement and check this against it.</a:t>
            </a:r>
          </a:p>
          <a:p xmlns:a="http://schemas.openxmlformats.org/drawingml/2006/main"/>
          <a:p xmlns:a="http://schemas.openxmlformats.org/drawingml/2006/main">
            <a:r>
              <a:t>Here's a question for you. A tool gives a citation and a link. What do you check beyond whether the link opens? Sit with it for a second.</a:t>
            </a:r>
          </a:p>
          <a:p xmlns:a="http://schemas.openxmlformats.org/drawingml/2006/main"/>
          <a:p xmlns:a="http://schemas.openxmlformats.org/drawingml/2006/main">
            <a:r>
              <a:t>I'd answer it like this. Read the passage. Confirm the version is the executed version 2. Then ask whether the passage supports the finding, including its exception. A real-looking citation proves nothing until the cited sentence says what the finding says it says. Next, the four stages we repeat on every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task we do follows a cycle with four stages. We'll apply it to a changed fact, which I call Variant A. Variant A is fictional. An unrelated buyer acquires control of Equator through a share sale, so I'm stipulating a change of control outside any wholly owned group.</a:t>
            </a:r>
          </a:p>
          <a:p xmlns:a="http://schemas.openxmlformats.org/drawingml/2006/main"/>
          <a:p xmlns:a="http://schemas.openxmlformats.org/drawingml/2006/main">
            <a:r>
              <a:t>First is the brief. That means the task, the sources and the criteria, all written down before the tool starts.</a:t>
            </a:r>
          </a:p>
          <a:p xmlns:a="http://schemas.openxmlformats.org/drawingml/2006/main"/>
          <a:p xmlns:a="http://schemas.openxmlformats.org/drawingml/2006/main">
            <a:r>
              <a:t>Second, produce. The tool gives us a draft, and the draft is linked to its sources.</a:t>
            </a:r>
          </a:p>
          <a:p xmlns:a="http://schemas.openxmlformats.org/drawingml/2006/main"/>
          <a:p xmlns:a="http://schemas.openxmlformats.org/drawingml/2006/main">
            <a:r>
              <a:t>Third, check. We look at the rule, the exception and the facts. Is the right clause quoted? Was the exception kept? Do the facts fit?</a:t>
            </a:r>
          </a:p>
          <a:p xmlns:a="http://schemas.openxmlformats.org/drawingml/2006/main"/>
          <a:p xmlns:a="http://schemas.openxmlformats.org/drawingml/2006/main">
            <a:r>
              <a:t>Fourth, refine. We correct the draft and test again. Under Section 12.6 as replaced, Equator must get Victoria's prior written consent before the change takes effect, and the group exception doesn't apply. The unmodified Standard Terms would have let Equator assign on notice after a change of control, and the Key Terms change overrides that. I'll run the brief and keep the real output. If the tool is unavailable, I'll use a labelled example and mark that step unexecuted.</a:t>
            </a:r>
          </a:p>
          <a:p xmlns:a="http://schemas.openxmlformats.org/drawingml/2006/main"/>
          <a:p xmlns:a="http://schemas.openxmlformats.org/drawingml/2006/main">
            <a:r>
              <a:t>Now a question for you. On these facts, does the group exception apply? Give that a little thought.</a:t>
            </a:r>
          </a:p>
          <a:p xmlns:a="http://schemas.openxmlformats.org/drawingml/2006/main"/>
          <a:p xmlns:a="http://schemas.openxmlformats.org/drawingml/2006/main">
            <a:r>
              <a:t>This is how I see it. No. The buyer is unrelated, so the exception doesn't apply, and prior written customer consent is required. Next, we look at who decides once the draft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review begins here, and these three lines say how. A named partner checks the source and the interpretation. The draft stays unapproved until that decision is made. External delivery needs the defined approval.</a:t>
            </a:r>
          </a:p>
          <a:p xmlns:a="http://schemas.openxmlformats.org/drawingml/2006/main"/>
          <a:p xmlns:a="http://schemas.openxmlformats.org/drawingml/2006/main">
            <a:r>
              <a:t>Be careful with the phrase human in the loop. It means a particular person looks at particular evidence, and can reject the draft. A general instruction to be careful does nothing. In our matter the partner would open Section 12.6 as replaced, read the exception, and check whether the facts about Equator's ownership are in the file. We come back to building this into a workflow in Session 9.</a:t>
            </a:r>
          </a:p>
          <a:p xmlns:a="http://schemas.openxmlformats.org/drawingml/2006/main"/>
          <a:p xmlns:a="http://schemas.openxmlformats.org/drawingml/2006/main">
            <a:r>
              <a:t>A quick question before we go on. What exactly is the partner deciding at that point? Work it through before I answer.</a:t>
            </a:r>
          </a:p>
          <a:p xmlns:a="http://schemas.openxmlformats.org/drawingml/2006/main"/>
          <a:p xmlns:a="http://schemas.openxmlformats.org/drawingml/2006/main">
            <a:r>
              <a:t>Here's my answer. Whether the draft is supported by the sources, and appropriate for its intended use. You might say the partner checks for mistakes. I'd ask which mistakes, and against which document.</a:t>
            </a:r>
          </a:p>
          <a:p xmlns:a="http://schemas.openxmlformats.org/drawingml/2006/main"/>
          <a:p xmlns:a="http://schemas.openxmlformats.org/drawingml/2006/main">
            <a:r>
              <a:t>Next, a check on tone, to catch fluent text that says nothing.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drafts sit side by side. The weak one praises the agreement for seamlessly safeguarding stakeholders and unlocking compliance. It sounds confident. It contains no source, no issue and no fact.</a:t>
            </a:r>
          </a:p>
          <a:p xmlns:a="http://schemas.openxmlformats.org/drawingml/2006/main"/>
          <a:p xmlns:a="http://schemas.openxmlformats.org/drawingml/2006/main">
            <a:r>
              <a:t>The useful one names the group reorganisation exception in Section 12.6 as replaced by the Key Terms. It then tells the reader to confirm ownership and continued provider responsibility before advising on consent.</a:t>
            </a:r>
          </a:p>
          <a:p xmlns:a="http://schemas.openxmlformats.org/drawingml/2006/main"/>
          <a:p xmlns:a="http://schemas.openxmlformats.org/drawingml/2006/main">
            <a:r>
              <a:t>Here's how I'd repair the weak draft. Delete the praise. Ask what the actual issue is. Ask which fact is missing. Smooth wording can hide a gap, because a model can write well with nothing behind it.</a:t>
            </a:r>
          </a:p>
          <a:p xmlns:a="http://schemas.openxmlformats.org/drawingml/2006/main"/>
          <a:p xmlns:a="http://schemas.openxmlformats.org/drawingml/2006/main">
            <a:r>
              <a:t>Now a question. Which of the two sentences could a client act on tomorrow, and why? See what you come up with.</a:t>
            </a:r>
          </a:p>
          <a:p xmlns:a="http://schemas.openxmlformats.org/drawingml/2006/main"/>
          <a:p xmlns:a="http://schemas.openxmlformats.org/drawingml/2006/main">
            <a:r>
              <a:t>My answer is this. The second, because it identifies the source-based issue and the evidence still needed. If you lean towards the first for its tone, picture the client afterwards. What would they do after reading it?</a:t>
            </a:r>
          </a:p>
          <a:p xmlns:a="http://schemas.openxmlformats.org/drawingml/2006/main"/>
          <a:p xmlns:a="http://schemas.openxmlformats.org/drawingml/2006/main">
            <a:r>
              <a:t>Next, a small scored check for the drafts we produce.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checklist we use to judge a draft. Source accuracy. Does the quote match the current clause? Completeness. Does the answer keep the exception? Uncertainty. Does it name the missing ownership facts? Usefulness. Can the reviewer see the next action?</a:t>
            </a:r>
          </a:p>
          <a:p xmlns:a="http://schemas.openxmlformats.org/drawingml/2006/main"/>
          <a:p xmlns:a="http://schemas.openxmlformats.org/drawingml/2006/main">
            <a:r>
              <a:t>I score each of these from 0 to 2, using Evaluation Rubric.txt. A critical error fails the draft whatever the total. That means a restricted disclosure, an invented material term, or a lost operative exception.</a:t>
            </a:r>
          </a:p>
          <a:p xmlns:a="http://schemas.openxmlformats.org/drawingml/2006/main"/>
          <a:p xmlns:a="http://schemas.openxmlformats.org/drawingml/2006/main">
            <a:r>
              <a:t>This part is guided application. You direct the changed example, and I score the saved output together with you. We keep the real responses, because one run shows what happened once and says nothing about how often.</a:t>
            </a:r>
          </a:p>
          <a:p xmlns:a="http://schemas.openxmlformats.org/drawingml/2006/main"/>
          <a:p xmlns:a="http://schemas.openxmlformats.org/drawingml/2006/main">
            <a:r>
              <a:t>Let me ask you something. A draft scores 6 out of 8, but it quotes the old unmodified Section 12.6. Do we accept it? Take your time.</a:t>
            </a:r>
          </a:p>
          <a:p xmlns:a="http://schemas.openxmlformats.org/drawingml/2006/main"/>
          <a:p xmlns:a="http://schemas.openxmlformats.org/drawingml/2006/main">
            <a:r>
              <a:t>I'd put it like this. No. Quoting the wrong source version is a critical error, and the total doesn't rescue it. If you were tempted to accept it because of the score, I'd ask which row of the table that error falls under.</a:t>
            </a:r>
          </a:p>
          <a:p xmlns:a="http://schemas.openxmlformats.org/drawingml/2006/main"/>
          <a:p xmlns:a="http://schemas.openxmlformats.org/drawingml/2006/main">
            <a:r>
              <a:t>Next, questions to put to a vendor.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list of questions for a vendor, one row for each area. Legal coverage. Which jurisdictions, which sources, how updates work, and what is excluded. Evaluation. Representative cases, errors and review effort. Data. Terms, access, retention, location and deletion. Operations. Integrations, support, logs and how we leave. Commercial. Total costs, limits and change terms.</a:t>
            </a:r>
          </a:p>
          <a:p xmlns:a="http://schemas.openxmlformats.org/drawingml/2006/main"/>
          <a:p xmlns:a="http://schemas.openxmlformats.org/drawingml/2006/main">
            <a:r>
              <a:t>In every row we ask for evidence. A statement isn't an answer.</a:t>
            </a:r>
          </a:p>
          <a:p xmlns:a="http://schemas.openxmlformats.org/drawingml/2006/main"/>
          <a:p xmlns:a="http://schemas.openxmlformats.org/drawingml/2006/main">
            <a:r>
              <a:t>I treat a sales demonstration as a claim to test. A product can have a feature that our particular account hasn't switched on, so the question is which version we would actually receive.</a:t>
            </a:r>
          </a:p>
          <a:p xmlns:a="http://schemas.openxmlformats.org/drawingml/2006/main"/>
          <a:p xmlns:a="http://schemas.openxmlformats.org/drawingml/2006/main">
            <a:r>
              <a:t>Try this one. After a convincing sales demonstration, what would you request before buying? Give it a moment.</a:t>
            </a:r>
          </a:p>
          <a:p xmlns:a="http://schemas.openxmlformats.org/drawingml/2006/main"/>
          <a:p xmlns:a="http://schemas.openxmlformats.org/drawingml/2006/main">
            <a:r>
              <a:t>Here's where I land. A controlled pilot on permitted, representative cases, with tests agreed in advance and a documented review of the data terms. You might say the demonstration was enough because the output looked right. If so, what would the vendor show us if the next case were harder?</a:t>
            </a:r>
          </a:p>
          <a:p xmlns:a="http://schemas.openxmlformats.org/drawingml/2006/main"/>
          <a:p xmlns:a="http://schemas.openxmlformats.org/drawingml/2006/main">
            <a:r>
              <a:t>Now we do the in-class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work, and this stretch carries most of the session. I'll show the first example and keep its real output.</a:t>
            </a:r>
          </a:p>
          <a:p xmlns:a="http://schemas.openxmlformats.org/drawingml/2006/main"/>
          <a:p xmlns:a="http://schemas.openxmlformats.org/drawingml/2006/main">
            <a:r>
              <a:t>There are four steps. First, we inspect the account we actually have, and record any data-use questions the terms leave unanswered. We enter no client data. Second, we run the vague request and then the professional brief on the same fictional text. Third, we change to Variant A, the unrelated buyer acquiring control of Equator by share sale. Fourth, we score the result and record a procurement question that a demonstration could never answer.</a:t>
            </a:r>
          </a:p>
          <a:p xmlns:a="http://schemas.openxmlformats.org/drawingml/2006/main"/>
          <a:p xmlns:a="http://schemas.openxmlformats.org/drawingml/2006/main">
            <a:r>
              <a:t>You'll predict the answer, choose the evidence and check the changed example. I'll save each output, or mark a step unexecuted if the connected tool isn't available. In that case I'll use the labelled example and keep time for the explanation.</a:t>
            </a:r>
          </a:p>
          <a:p xmlns:a="http://schemas.openxmlformats.org/drawingml/2006/main"/>
          <a:p xmlns:a="http://schemas.openxmlformats.org/drawingml/2006/main">
            <a:r>
              <a:t>Before we run anything, tell me what you expect the tool to say for Variant A. Take a moment with that.</a:t>
            </a:r>
          </a:p>
          <a:p xmlns:a="http://schemas.openxmlformats.org/drawingml/2006/main"/>
          <a:p xmlns:a="http://schemas.openxmlformats.org/drawingml/2006/main">
            <a:r>
              <a:t>Then we'll look at what we can conclude from the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say what the evidence supports, I'd like to hear it from you. What can we conclude from today's work? Give that a little thought.</a:t>
            </a:r>
          </a:p>
          <a:p xmlns:a="http://schemas.openxmlformats.org/drawingml/2006/main"/>
          <a:p xmlns:a="http://schemas.openxmlformats.org/drawingml/2006/main">
            <a:r>
              <a:t>Here's what I'd say. For Variant A, the group exception doesn't apply, and Section 12.6 as replaced by the Key Terms requires Victoria's prior written consent. A useful brief names the sources, the task, the output, the gaps and the review. Data terms need inspection of the actual account.</a:t>
            </a:r>
          </a:p>
          <a:p xmlns:a="http://schemas.openxmlformats.org/drawingml/2006/main"/>
          <a:p xmlns:a="http://schemas.openxmlformats.org/drawingml/2006/main">
            <a:r>
              <a:t>The second point sets the limit. A tiny class comparison doesn't rank providers, and it doesn't authorise use of a real client matter.</a:t>
            </a:r>
          </a:p>
          <a:p xmlns:a="http://schemas.openxmlformats.org/drawingml/2006/main"/>
          <a:p xmlns:a="http://schemas.openxmlformats.org/drawingml/2006/main">
            <a:r>
              <a:t>Tell me what you make of this. Which part of today's result is still unverified? Take a moment with that.</a:t>
            </a:r>
          </a:p>
          <a:p xmlns:a="http://schemas.openxmlformats.org/drawingml/2006/main"/>
          <a:p xmlns:a="http://schemas.openxmlformats.org/drawingml/2006/main">
            <a:r>
              <a:t>We compared a few runs on fictional records. So we know nothing yet about reliability across many cases, and nothing about the firm's approval for real data. If you feel the tool passed, how many times did we run it?</a:t>
            </a:r>
          </a:p>
          <a:p xmlns:a="http://schemas.openxmlformats.org/drawingml/2006/main"/>
          <a:p xmlns:a="http://schemas.openxmlformats.org/drawingml/2006/main">
            <a:r>
              <a:t>Next, we record the firm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firm is making one decision here. It will evaluate one available tool on a permitted task before it selects a subscription or an integration. It records that decision, and the evidence still needed.</a:t>
            </a:r>
          </a:p>
          <a:p xmlns:a="http://schemas.openxmlformats.org/drawingml/2006/main"/>
          <a:p xmlns:a="http://schemas.openxmlformats.org/drawingml/2006/main">
            <a:r>
              <a:t>The record that would justify it shows the decision, the evidence still needed, an owner and one condition. Before we move on, we'll name that owner and set the condition. This is a class record. It doesn't authorise the firm to do anything.</a:t>
            </a:r>
          </a:p>
          <a:p xmlns:a="http://schemas.openxmlformats.org/drawingml/2006/main"/>
          <a:p xmlns:a="http://schemas.openxmlformats.org/drawingml/2006/main">
            <a:r>
              <a:t>Now it's your turn. What evidence would change this proposed decision? Think it over.</a:t>
            </a:r>
          </a:p>
          <a:p xmlns:a="http://schemas.openxmlformats.org/drawingml/2006/main"/>
          <a:p xmlns:a="http://schemas.openxmlformats.org/drawingml/2006/main">
            <a:r>
              <a:t>Here's how I'd answer it. Weak performance on permitted cases would change it. So would data terms that fail the checklist, or a change in the permitted scope. Then we revisit the decision. If the instinct is to buy the tool now, I'd ask what we have learned that justifies a subscription.</a:t>
            </a:r>
          </a:p>
          <a:p xmlns:a="http://schemas.openxmlformats.org/drawingml/2006/main"/>
          <a:p xmlns:a="http://schemas.openxmlformats.org/drawingml/2006/main">
            <a:r>
              <a:t>Next, three questions that check what we've covered.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three questions, and I'll ask them before I open the key. Take them in order.</a:t>
            </a:r>
          </a:p>
          <a:p xmlns:a="http://schemas.openxmlformats.org/drawingml/2006/main"/>
          <a:p xmlns:a="http://schemas.openxmlformats.org/drawingml/2006/main">
            <a:r>
              <a:t>First. An unrelated buyer acquires control of Equator. Does the group exception in the Key Terms replacement of Section 12.6 apply? Second. The account is paid. May the firm upload any matter? Third. A prompt requests a citation. What makes it useful?</a:t>
            </a:r>
          </a:p>
          <a:p xmlns:a="http://schemas.openxmlformats.org/drawingml/2006/main"/>
          <a:p xmlns:a="http://schemas.openxmlformats.org/drawingml/2006/main">
            <a:r>
              <a:t>Take a moment with them, and then I'll give you my answers.</a:t>
            </a:r>
          </a:p>
          <a:p xmlns:a="http://schemas.openxmlformats.org/drawingml/2006/main"/>
          <a:p xmlns:a="http://schemas.openxmlformats.org/drawingml/2006/main">
            <a:r>
              <a:t>For the first, no. The share sale is outside the group, so Equator needs Victoria's prior written consent before the change takes effect. For the second, price doesn't settle permission. The firm checks the account terms, how the data is processed, and its own authority. For the third, a useful citation points to the exact passage, and we check its authority, version and fit.</a:t>
            </a:r>
          </a:p>
          <a:p xmlns:a="http://schemas.openxmlformats.org/drawingml/2006/main"/>
          <a:p xmlns:a="http://schemas.openxmlformats.org/drawingml/2006/main">
            <a:r>
              <a:t>If any answer felt partial, I'd ask which document would settle it.</a:t>
            </a:r>
          </a:p>
          <a:p xmlns:a="http://schemas.openxmlformats.org/drawingml/2006/main"/>
          <a:p xmlns:a="http://schemas.openxmlformats.org/drawingml/2006/main">
            <a:r>
              <a:t>The next session turns to preparing the firm's information, where the files and sources a tool reads get organised. What follows is optional extra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extra topic you can pick up if there's time. It uses legal document review as a market example. Harvey is described as combining document review, drafting and workflows. NetDocuments is described as offering source-linked comparison across document collections. I'm taking these descriptions as they stand and adding no features. If I show vendor material, I'll call it a vendor demonstration.</a:t>
            </a:r>
          </a:p>
          <a:p xmlns:a="http://schemas.openxmlformats.org/drawingml/2006/main"/>
          <a:p xmlns:a="http://schemas.openxmlformats.org/drawingml/2006/main">
            <a:r>
              <a:t>Let me put a question to you. Before a partner buys a product like this, what must be verified? Sit with it for a second.</a:t>
            </a:r>
          </a:p>
          <a:p xmlns:a="http://schemas.openxmlformats.org/drawingml/2006/main"/>
          <a:p xmlns:a="http://schemas.openxmlformats.org/drawingml/2006/main">
            <a:r>
              <a:t>Let me give you mine. Coverage, permissions, output quality, integration, support and total cost. If you're impressed by a demonstration, I'd ask which collection of documents the feature searches.</a:t>
            </a:r>
          </a:p>
          <a:p xmlns:a="http://schemas.openxmlformats.org/drawingml/2006/main"/>
          <a:p xmlns:a="http://schemas.openxmlformats.org/drawingml/2006/main">
            <a:r>
              <a:t>Then we return to the closing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optional extra for the time we have. It describes knowledge search inside a firm. You can find a precedent the team may already hold. You can compare clauses across authorised agreements. And you open the original passage before relying on the answer. NetDocuments is a market example, and the firm doesn't need it for the lesson to apply. Sessions 5 and 6 explore how this works.</a:t>
            </a:r>
          </a:p>
          <a:p xmlns:a="http://schemas.openxmlformats.org/drawingml/2006/main"/>
          <a:p xmlns:a="http://schemas.openxmlformats.org/drawingml/2006/main">
            <a:r>
              <a:t>Here's one for you. When the tool summarises a precedent, what is the source of truth? Have a think.</a:t>
            </a:r>
          </a:p>
          <a:p xmlns:a="http://schemas.openxmlformats.org/drawingml/2006/main"/>
          <a:p xmlns:a="http://schemas.openxmlformats.org/drawingml/2006/main">
            <a:r>
              <a:t>The way I read it is this. The authoritative document and the applicable facts. A generated summary is a pointer. If you find yourself trusting the summary, what would you open to confirm it?</a:t>
            </a:r>
          </a:p>
          <a:p xmlns:a="http://schemas.openxmlformats.org/drawingml/2006/main"/>
          <a:p xmlns:a="http://schemas.openxmlformats.org/drawingml/2006/main">
            <a:r>
              <a:t>Then we return to the closing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is optional, for if we have time or you want it. It shows investment research as a transfer example. AlphaSense is described as offering multi-step research over its available content. A partner could investigate a sector or compare investment claims. What the report can establish depends on source access and relevance. It takes the evidence-checking method from our matter into another field.</a:t>
            </a:r>
          </a:p>
          <a:p xmlns:a="http://schemas.openxmlformats.org/drawingml/2006/main"/>
          <a:p xmlns:a="http://schemas.openxmlformats.org/drawingml/2006/main">
            <a:r>
              <a:t>A question for you. A report arrives with one hundred citations. Does that prove its conclusion? See what you come up with.</a:t>
            </a:r>
          </a:p>
          <a:p xmlns:a="http://schemas.openxmlformats.org/drawingml/2006/main"/>
          <a:p xmlns:a="http://schemas.openxmlformats.org/drawingml/2006/main">
            <a:r>
              <a:t>This is how I see it. No. Check coverage and authority, and check whether each passage supports its claim. If you feel that many sources must be right, I'd ask how many of the hundred we have opened.</a:t>
            </a:r>
          </a:p>
          <a:p xmlns:a="http://schemas.openxmlformats.org/drawingml/2006/main"/>
          <a:p xmlns:a="http://schemas.openxmlformats.org/drawingml/2006/main">
            <a:r>
              <a:t>Then we return to the closing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optional table lists adjacent uses. These are proposed designs for discussion. I'm not claiming that any deployed product does them.</a:t>
            </a:r>
          </a:p>
          <a:p xmlns:a="http://schemas.openxmlformats.org/drawingml/2006/main"/>
          <a:p xmlns:a="http://schemas.openxmlformats.org/drawingml/2006/main">
            <a:r>
              <a:t>In fintech, the idea is a regulatory-change evidence brief, and the boundary is qualified interpretation and source dates. In telco, it's complaint themes and contract obligations, bounded by access and by individual treatment. In investments, it's comparing claims with source records, bounded by diligence and the investment decision.</a:t>
            </a:r>
          </a:p>
          <a:p xmlns:a="http://schemas.openxmlformats.org/drawingml/2006/main"/>
          <a:p xmlns:a="http://schemas.openxmlformats.org/drawingml/2006/main">
            <a:r>
              <a:t>Here's something to chew on. Which of these ideas share the same underlying steps? Give that a little thought.</a:t>
            </a:r>
          </a:p>
          <a:p xmlns:a="http://schemas.openxmlformats.org/drawingml/2006/main"/>
          <a:p xmlns:a="http://schemas.openxmlformats.org/drawingml/2006/main">
            <a:r>
              <a:t>All of them. Each one retrieves sources, extracts facts, classifies them, writes a draft, and then needs review. Retrieval, extraction, classification, generation and review recur across sectors. If the three feel unrelated, I'd ask what the review step looks like in each.</a:t>
            </a:r>
          </a:p>
          <a:p xmlns:a="http://schemas.openxmlformats.org/drawingml/2006/main"/>
          <a:p xmlns:a="http://schemas.openxmlformats.org/drawingml/2006/main">
            <a:r>
              <a:t>Then we return to the closing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we have time, there's an optional extra here. It is about examples and output structure. A completed example can clarify what we mean. A table can make omissions visible. A schema, which is a fixed layout of named fields, can constrain the structure of an answer, while the facts still need checking. Session 5 introduces JSON as named fields and values, and Session 9 reuses that structure in a tool request.</a:t>
            </a:r>
          </a:p>
          <a:p xmlns:a="http://schemas.openxmlformats.org/drawingml/2006/main"/>
          <a:p xmlns:a="http://schemas.openxmlformats.org/drawingml/2006/main">
            <a:r>
              <a:t>I'll show one row, with a source quote in one field and an unknown fact in another.</a:t>
            </a:r>
          </a:p>
          <a:p xmlns:a="http://schemas.openxmlformats.org/drawingml/2006/main"/>
          <a:p xmlns:a="http://schemas.openxmlformats.org/drawingml/2006/main">
            <a:r>
              <a:t>Try this one. A table is fully filled in. Does that mean the review is complete? Take a moment with that.</a:t>
            </a:r>
          </a:p>
          <a:p xmlns:a="http://schemas.openxmlformats.org/drawingml/2006/main"/>
          <a:p xmlns:a="http://schemas.openxmlformats.org/drawingml/2006/main">
            <a:r>
              <a:t>No. The quote and the legal interpretation still need checking. If the tidy layout is persuasive, I'd pick one cell and verify it against Section 12.6 as replaced by the Key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0117323e2ec431f"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60d3aee5c284ce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cb306f7ad17141d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e7a3b24b55b84bc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050cb41a40e2477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7bf454d36e24527"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DEBDBF-0293-4209-B57E-8F5E490CF1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945BC0-2B97-4C03-B0C4-E61D2C402A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E03A83-0F0F-407C-A876-3562772590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4AA103-B73F-44CB-8F0F-CB43EA27F0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F02EE2-DFB5-49DD-ACBB-0D553EAD20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C67FB1-E119-4FEA-8DCA-025E973645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2F0040-4822-4DD2-A677-7F73EEC17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3A67A4-E16E-4A8C-80DF-DB268B61FE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9083C1-AF2F-4197-95AA-F690228B81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FCE9BF-548B-48AC-BA7B-CF66DDC35F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b1d5fe5e973487f" Type="http://schemas.openxmlformats.org/officeDocument/2006/relationships/theme" Target="theme/theme2.xml"/><Relationship Id="R3b16092743e8405b" Type="http://schemas.openxmlformats.org/officeDocument/2006/relationships/slideLayout" Target="../slideLayouts/slideLayout3.xml"/><Relationship Id="R6b13c9f4f7704003" Type="http://schemas.openxmlformats.org/officeDocument/2006/relationships/slideLayout" Target="../slideLayouts/slideLayout4.xml"/><Relationship Id="R8a2fecbedb89469f" Type="http://schemas.openxmlformats.org/officeDocument/2006/relationships/slideLayout" Target="../slideLayouts/slideLayout6.xml"/><Relationship Id="R962d66dfdea24b91" Type="http://schemas.openxmlformats.org/officeDocument/2006/relationships/slideLayout" Target="../slideLayouts/slideLayout1.xml"/><Relationship Id="Ree5942c50a264e28" Type="http://schemas.openxmlformats.org/officeDocument/2006/relationships/slideLayout" Target="../slideLayouts/slideLayout5.xml"/><Relationship Id="Rf1e5fd98c08c486f"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2d66dfdea24b91"/>
    <p:sldLayoutId xmlns:r="http://schemas.openxmlformats.org/officeDocument/2006/relationships" id="2147483650" r:id="Rf1e5fd98c08c486f"/>
    <p:sldLayoutId xmlns:r="http://schemas.openxmlformats.org/officeDocument/2006/relationships" id="2147483651" r:id="R3b16092743e8405b"/>
    <p:sldLayoutId xmlns:r="http://schemas.openxmlformats.org/officeDocument/2006/relationships" id="2147483652" r:id="R6b13c9f4f7704003"/>
    <p:sldLayoutId xmlns:r="http://schemas.openxmlformats.org/officeDocument/2006/relationships" id="2147483653" r:id="Ree5942c50a264e28"/>
    <p:sldLayoutId xmlns:r="http://schemas.openxmlformats.org/officeDocument/2006/relationships" id="2147483654" r:id="R8a2fecbedb8946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f99680c8e9643f5" Type="http://schemas.openxmlformats.org/officeDocument/2006/relationships/notesSlide" Target="../notesSlides/notesSlide1.xml"/><Relationship Id="Rc0b1043328a944b2" Type="http://schemas.openxmlformats.org/officeDocument/2006/relationships/slideLayout" Target="../slideLayouts/slideLayout6.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890a48612d584492" Type="http://schemas.openxmlformats.org/officeDocument/2006/relationships/notesSlide" Target="../notesSlides/notesSlide2.xml"/><Relationship Id="Re8cb8a5bf76f44e7" Type="http://schemas.openxmlformats.org/officeDocument/2006/relationships/slideLayout" Target="../slideLayouts/slideLayout6.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797112e027624dba" Type="http://schemas.openxmlformats.org/officeDocument/2006/relationships/slideLayout" Target="../slideLayouts/slideLayout6.xml"/><Relationship Id="Rf5bfd85c0fc04ce4"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2cec3cef57024403" Type="http://schemas.openxmlformats.org/officeDocument/2006/relationships/slideLayout" Target="../slideLayouts/slideLayout6.xml"/><Relationship Id="Ref6802a147d4456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4ad5e2a585354a50" Type="http://schemas.openxmlformats.org/officeDocument/2006/relationships/notesSlide" Target="../notesSlides/notesSlide5.xml"/><Relationship Id="Rb8aa0ad2fd3e45e9"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2fd0ee8d039c4388" Type="http://schemas.openxmlformats.org/officeDocument/2006/relationships/notesSlide" Target="../notesSlides/notesSlide6.xml"/><Relationship Id="Rcb64b64f10f845ee"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0ee94b5c031f4fe3" Type="http://schemas.openxmlformats.org/officeDocument/2006/relationships/slideLayout" Target="../slideLayouts/slideLayout6.xml"/><Relationship Id="Rdc03cd28d4c245a0"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160aa40028354b1c" Type="http://schemas.openxmlformats.org/officeDocument/2006/relationships/slideLayout" Target="../slideLayouts/slideLayout6.xml"/><Relationship Id="R3d9b0280a89c4400"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28b23cfeb763487e" Type="http://schemas.openxmlformats.org/officeDocument/2006/relationships/slideLayout" Target="../slideLayouts/slideLayout6.xml"/><Relationship Id="R9ea54b10443b4b6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db860ba8ffda4b91" Type="http://schemas.openxmlformats.org/officeDocument/2006/relationships/slideLayout" Target="../slideLayouts/slideLayout6.xml"/><Relationship Id="Rf8c8c5931627462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ee8d2011c16143ec" Type="http://schemas.openxmlformats.org/officeDocument/2006/relationships/notesSlide" Target="../notesSlides/notesSlide11.xml"/><Relationship Id="Rf7ac788029654a92"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731d63a1c5354274" Type="http://schemas.openxmlformats.org/officeDocument/2006/relationships/notesSlide" Target="../notesSlides/notesSlide12.xml"/><Relationship Id="R8cf58eb199404a3a" Type="http://schemas.openxmlformats.org/officeDocument/2006/relationships/slideLayout" Target="../slideLayouts/slideLayout6.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3e2e1b879e174378" Type="http://schemas.openxmlformats.org/officeDocument/2006/relationships/slideLayout" Target="../slideLayouts/slideLayout6.xml"/><Relationship Id="R8891dc97df5d444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12a445d2a64c4531" Type="http://schemas.openxmlformats.org/officeDocument/2006/relationships/slideLayout" Target="../slideLayouts/slideLayout6.xml"/><Relationship Id="R6309fcac71bc459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89faa5ea99174392" Type="http://schemas.openxmlformats.org/officeDocument/2006/relationships/notesSlide" Target="../notesSlides/notesSlide15.xml"/><Relationship Id="Rb19997feaa624dd5"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484e2922b1444ef4" Type="http://schemas.openxmlformats.org/officeDocument/2006/relationships/notesSlide" Target="../notesSlides/notesSlide16.xml"/><Relationship Id="R8b23f3c4a53f44d3" Type="http://schemas.openxmlformats.org/officeDocument/2006/relationships/slideLayout" Target="../slideLayouts/slideLayout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0a9b3d6dc08d43c5" Type="http://schemas.openxmlformats.org/officeDocument/2006/relationships/notesSlide" Target="../notesSlides/notesSlide17.xml"/><Relationship Id="R2eb549f20ac144f3" Type="http://schemas.openxmlformats.org/officeDocument/2006/relationships/slideLayout" Target="../slideLayouts/slideLayout6.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318745d31cad4da2" Type="http://schemas.openxmlformats.org/officeDocument/2006/relationships/notesSlide" Target="../notesSlides/notesSlide18.xml"/><Relationship Id="Rbcbeefb1ca0e4ded" Type="http://schemas.openxmlformats.org/officeDocument/2006/relationships/slideLayout" Target="../slideLayouts/slideLayout6.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7fc70f1662a34fe9" Type="http://schemas.openxmlformats.org/officeDocument/2006/relationships/slideLayout" Target="../slideLayouts/slideLayout6.xml"/><Relationship Id="Rfd5c0bc1c78e4518"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806430b308cd48f3" Type="http://schemas.openxmlformats.org/officeDocument/2006/relationships/slideLayout" Target="../slideLayouts/slideLayout6.xml"/><Relationship Id="Rad4ad6c1e88b4448"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8d4e22deef2d4ca8" Type="http://schemas.openxmlformats.org/officeDocument/2006/relationships/notesSlide" Target="../notesSlides/notesSlide21.xml"/><Relationship Id="Rbb18973abcb64f0c" Type="http://schemas.openxmlformats.org/officeDocument/2006/relationships/slideLayout" Target="../slideLayouts/slideLayout6.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235561868a4b4d50" Type="http://schemas.openxmlformats.org/officeDocument/2006/relationships/notesSlide" Target="../notesSlides/notesSlide22.xml"/><Relationship Id="R5cfc87b7d6854137" Type="http://schemas.openxmlformats.org/officeDocument/2006/relationships/slideLayout" Target="../slideLayouts/slideLayout6.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c100a1e5a25e49f5" Type="http://schemas.openxmlformats.org/officeDocument/2006/relationships/notesSlide" Target="../notesSlides/notesSlide23.xml"/><Relationship Id="Rcd46d6d968ea47ba"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6302445244e54aa9" Type="http://schemas.openxmlformats.org/officeDocument/2006/relationships/slideLayout" Target="../slideLayouts/slideLayout6.xml"/><Relationship Id="Rbbeac55fdd7f48b2" Type="http://schemas.openxmlformats.org/officeDocument/2006/relationships/notesSlide" Target="../notesSlides/notesSlide24.xml"/><Relationship Id="rId3" Type="http://schemas.openxmlformats.org/officeDocument/2006/relationships/image" Target="../media/image13.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AI tools, effective instructions and safe use">
    <p:bg>
      <p:bgPr>
        <a:solidFill>
          <a:srgbClr val="1C3144"/>
        </a:solidFill>
      </p:bgPr>
    </p:bg>
    <p:spTree>
      <p:nvGrpSpPr>
        <p:cNvPr id="1" name=""/>
        <p:cNvGrpSpPr/>
        <p:nvPr/>
      </p:nvGrpSpPr>
      <p:grpSpPr>
        <a:xfrm/>
      </p:grpSpPr>
      <p:sp>
        <p:nvSpPr>
          <p:cNvPr id="5" name="text-1">
            <a:extLst>
              <a:ext uri="{FF2B5EF4-FFF2-40B4-BE49-F238E27FC236}">
                <ns2:creationId id="{09B2D19B-B212-49FE-91FD-19277B28DB96}"/>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04</a:t>
            </a:r>
          </a:p>
        </p:txBody>
      </p:sp>
      <p:sp>
        <p:nvSpPr>
          <p:cNvPr id="2" name="text-2">
            <a:extLst>
              <a:ext uri="{FF2B5EF4-FFF2-40B4-BE49-F238E27FC236}">
                <ns2:creationId id="{2D0657BA-5420-4EB1-A37A-31686215FE0D}"/>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200" b="1">
                <a:solidFill>
                  <a:srgbClr val="FFFFFF"/>
                </a:solidFill>
                <a:latin typeface="Calibri"/>
                <a:ea typeface="Calibri"/>
                <a:cs typeface="Calibri"/>
              </a:defRPr>
            </a:defPPr>
            <a:lvl1pPr>
              <a:defRPr sz="4200" b="1">
                <a:solidFill>
                  <a:srgbClr val="FFFFFF"/>
                </a:solidFill>
                <a:latin typeface="Calibri"/>
                <a:ea typeface="Calibri"/>
                <a:cs typeface="Calibri"/>
              </a:defRPr>
            </a:lvl1pPr>
            <a:lvl2pPr>
              <a:defRPr sz="4200" b="1">
                <a:solidFill>
                  <a:srgbClr val="FFFFFF"/>
                </a:solidFill>
                <a:latin typeface="Calibri"/>
                <a:ea typeface="Calibri"/>
                <a:cs typeface="Calibri"/>
              </a:defRPr>
            </a:lvl2pPr>
            <a:lvl3pPr>
              <a:defRPr sz="4200" b="1">
                <a:solidFill>
                  <a:srgbClr val="FFFFFF"/>
                </a:solidFill>
                <a:latin typeface="Calibri"/>
                <a:ea typeface="Calibri"/>
                <a:cs typeface="Calibri"/>
              </a:defRPr>
            </a:lvl3pPr>
            <a:lvl4pPr>
              <a:defRPr sz="4200" b="1">
                <a:solidFill>
                  <a:srgbClr val="FFFFFF"/>
                </a:solidFill>
                <a:latin typeface="Calibri"/>
                <a:ea typeface="Calibri"/>
                <a:cs typeface="Calibri"/>
              </a:defRPr>
            </a:lvl4pPr>
            <a:lvl5pPr>
              <a:defRPr sz="4200" b="1">
                <a:solidFill>
                  <a:srgbClr val="FFFFFF"/>
                </a:solidFill>
                <a:latin typeface="Calibri"/>
                <a:ea typeface="Calibri"/>
                <a:cs typeface="Calibri"/>
              </a:defRPr>
            </a:lvl5pPr>
            <a:lvl6pPr>
              <a:defRPr sz="4200" b="1">
                <a:solidFill>
                  <a:srgbClr val="FFFFFF"/>
                </a:solidFill>
                <a:latin typeface="Calibri"/>
                <a:ea typeface="Calibri"/>
                <a:cs typeface="Calibri"/>
              </a:defRPr>
            </a:lvl6pPr>
            <a:lvl7pPr>
              <a:defRPr sz="4200" b="1">
                <a:solidFill>
                  <a:srgbClr val="FFFFFF"/>
                </a:solidFill>
                <a:latin typeface="Calibri"/>
                <a:ea typeface="Calibri"/>
                <a:cs typeface="Calibri"/>
              </a:defRPr>
            </a:lvl7pPr>
            <a:lvl8pPr>
              <a:defRPr sz="4200" b="1">
                <a:solidFill>
                  <a:srgbClr val="FFFFFF"/>
                </a:solidFill>
                <a:latin typeface="Calibri"/>
                <a:ea typeface="Calibri"/>
                <a:cs typeface="Calibri"/>
              </a:defRPr>
            </a:lvl8pPr>
            <a:lvl9pPr>
              <a:defRPr sz="4200" b="1">
                <a:solidFill>
                  <a:srgbClr val="FFFFFF"/>
                </a:solidFill>
                <a:latin typeface="Calibri"/>
                <a:ea typeface="Calibri"/>
                <a:cs typeface="Calibri"/>
              </a:defRPr>
            </a:lvl9pPr>
          </a:lstStyle>
          <a:p>
            <a:pPr>
              <a:defRPr sz="4200" b="1">
                <a:solidFill>
                  <a:srgbClr val="FFFFFF"/>
                </a:solidFill>
                <a:latin typeface="Calibri"/>
                <a:ea typeface="Calibri"/>
                <a:cs typeface="Calibri"/>
              </a:defRPr>
            </a:pPr>
            <a:r>
              <a:rPr sz="4200" b="1">
                <a:solidFill>
                  <a:srgbClr val="FFFFFF"/>
                </a:solidFill>
                <a:latin typeface="Calibri"/>
                <a:ea typeface="Calibri"/>
                <a:cs typeface="Calibri"/>
              </a:rPr>
              <a:t>AI tools, effective instructions and safe use</a:t>
            </a:r>
          </a:p>
        </p:txBody>
      </p:sp>
      <p:sp>
        <p:nvSpPr>
          <p:cNvPr id="3" name="text-3">
            <a:extLst>
              <a:ext uri="{FF2B5EF4-FFF2-40B4-BE49-F238E27FC236}">
                <ns2:creationId id="{5DDC85EF-3346-428D-803C-7A4F4C0AE313}"/>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 we select a tool, brief it clearly and verify a useful result?</a:t>
            </a:r>
          </a:p>
        </p:txBody>
      </p:sp>
      <p:sp>
        <p:nvSpPr>
          <p:cNvPr id="4" name="text-4">
            <a:extLst>
              <a:ext uri="{FF2B5EF4-FFF2-40B4-BE49-F238E27FC236}">
                <ns2:creationId id="{68FEF895-F8E3-4E8A-B283-2BFCF4783E2B}"/>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clipboard checklist; two texts side by side, one correct and one flawed"/>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1554315617"/>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he reliability test">
    <p:bg>
      <p:bgPr>
        <a:solidFill>
          <a:srgbClr val="FFFFFF"/>
        </a:solidFill>
      </p:bgPr>
    </p:bg>
    <p:spTree>
      <p:nvGrpSpPr>
        <p:cNvPr id="1" name=""/>
        <p:cNvGrpSpPr/>
        <p:nvPr/>
      </p:nvGrpSpPr>
      <p:grpSpPr>
        <a:xfrm/>
      </p:grpSpPr>
      <p:sp>
        <p:nvSpPr>
          <p:cNvPr id="9" name="text-5">
            <a:extLst>
              <a:ext uri="{FF2B5EF4-FFF2-40B4-BE49-F238E27FC236}">
                <ns2:creationId id="{7D848BB9-AC03-4A12-91A3-8FE14F5A939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6">
            <a:extLst>
              <a:ext uri="{FF2B5EF4-FFF2-40B4-BE49-F238E27FC236}">
                <ns2:creationId id="{2F8B7BC2-EFED-4807-9F6C-066D35AF582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the reliability test</a:t>
            </a:r>
          </a:p>
        </p:txBody>
      </p:sp>
      <p:sp>
        <p:nvSpPr>
          <p:cNvPr id="4" name="text-8">
            <a:extLst>
              <a:ext uri="{FF2B5EF4-FFF2-40B4-BE49-F238E27FC236}">
                <ns2:creationId id="{71B9C19C-C6EF-4952-8688-038DE27E9D2D}"/>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3</a:t>
            </a:r>
          </a:p>
        </p:txBody>
      </p:sp>
      <p:sp>
        <p:nvSpPr>
          <p:cNvPr id="5" name="text-9">
            <a:extLst>
              <a:ext uri="{FF2B5EF4-FFF2-40B4-BE49-F238E27FC236}">
                <ns2:creationId id="{2001E7E2-01AA-4FDA-85AC-1EBF26035959}"/>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Three assistants repeat the same unsupported fee. What has been established?</a:t>
            </a:r>
          </a:p>
        </p:txBody>
      </p:sp>
      <p:sp>
        <p:nvSpPr>
          <p:cNvPr id="6" name="text-10">
            <a:extLst>
              <a:ext uri="{FF2B5EF4-FFF2-40B4-BE49-F238E27FC236}">
                <ns2:creationId id="{9C3AC2D1-50AD-4062-BF06-A5381C64CEED}"/>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8AA449D8-D2D8-41D7-A95A-8B372664A9C8}"/>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 we select a tool, brief it clearly and verify a useful result?</a:t>
            </a:r>
          </a:p>
        </p:txBody>
      </p:sp>
      <p:sp>
        <p:nvSpPr>
          <p:cNvPr id="8" name="text-12">
            <a:extLst>
              <a:ext uri="{FF2B5EF4-FFF2-40B4-BE49-F238E27FC236}">
                <ns2:creationId id="{6D9062AA-7CC4-454D-9880-CCDAD79D447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reusable review brief and a documented tool/data decision.</a:t>
            </a:r>
          </a:p>
        </p:txBody>
      </p:sp>
      <p:sp>
        <p:nvSpPr>
          <p:cNvPr id="3" name="text-7">
            <a:extLst>
              <a:ext uri="{FF2B5EF4-FFF2-40B4-BE49-F238E27FC236}">
                <ns2:creationId id="{10D714F3-3EFD-4320-BC8A-199822E2083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9151282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same question in different products">
    <p:bg>
      <p:bgPr>
        <a:solidFill>
          <a:srgbClr val="FFFFFF"/>
        </a:solidFill>
      </p:bgPr>
    </p:bg>
    <p:spTree>
      <p:nvGrpSpPr>
        <p:cNvPr id="1" name=""/>
        <p:cNvGrpSpPr/>
        <p:nvPr/>
      </p:nvGrpSpPr>
      <p:grpSpPr>
        <a:xfrm/>
      </p:grpSpPr>
      <p:sp>
        <p:nvSpPr>
          <p:cNvPr id="8" name="text-13">
            <a:extLst>
              <a:ext uri="{FF2B5EF4-FFF2-40B4-BE49-F238E27FC236}">
                <ns2:creationId id="{A2759A99-4F32-4EAE-9B29-982144E19E0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4">
            <a:extLst>
              <a:ext uri="{FF2B5EF4-FFF2-40B4-BE49-F238E27FC236}">
                <ns2:creationId id="{CA4A3A65-0A9B-4A73-97C1-D089455F93F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same question in different products</a:t>
            </a:r>
          </a:p>
        </p:txBody>
      </p:sp>
      <p:sp>
        <p:nvSpPr>
          <p:cNvPr id="4" name="text-16">
            <a:extLst>
              <a:ext uri="{FF2B5EF4-FFF2-40B4-BE49-F238E27FC236}">
                <ns2:creationId id="{7CD46E54-D24C-40BF-9BC4-19CB1E6139F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
            <a:extLst>
              <a:ext uri="{FF2B5EF4-FFF2-40B4-BE49-F238E27FC236}">
                <ns2:creationId id="{C9A8E95B-1954-496E-97BA-C0E7EC7576C3}"/>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What does the agreement require for an internal reorganisation?</a:t>
            </a:r>
          </a:p>
        </p:txBody>
      </p:sp>
      <p:sp>
        <p:nvSpPr>
          <p:cNvPr id="6" name="text-18">
            <a:extLst>
              <a:ext uri="{FF2B5EF4-FFF2-40B4-BE49-F238E27FC236}">
                <ns2:creationId id="{AEB721BD-F3FD-4875-9784-EA66EF50EA7E}"/>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
            <a:extLst>
              <a:ext uri="{FF2B5EF4-FFF2-40B4-BE49-F238E27FC236}">
                <ns2:creationId id="{613B0CA6-FB83-41C7-A49E-38AEF74C2652}"/>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executed agreement and the client instruction.</a:t>
            </a:r>
          </a:p>
        </p:txBody>
      </p:sp>
      <p:sp>
        <p:nvSpPr>
          <p:cNvPr id="3" name="text-15">
            <a:extLst>
              <a:ext uri="{FF2B5EF4-FFF2-40B4-BE49-F238E27FC236}">
                <ns2:creationId id="{518FDBBD-5F8E-4B78-ACEF-3F72643C9DD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3</a:t>
            </a:r>
          </a:p>
        </p:txBody>
      </p:sp>
      <p:pic xmlns:r="http://schemas.openxmlformats.org/officeDocument/2006/relationships">
        <p:nvPicPr>
          <p:cNvPr id="9" name="illustration-sidebyside" descr="Illustration: two texts side by side, one correct and one flawed"/>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94676737"/>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The tool landscape">
    <p:bg>
      <p:bgPr>
        <a:solidFill>
          <a:srgbClr val="FFFFFF"/>
        </a:solidFill>
      </p:bgPr>
    </p:bg>
    <p:spTree>
      <p:nvGrpSpPr>
        <p:cNvPr id="1" name=""/>
        <p:cNvGrpSpPr/>
        <p:nvPr/>
      </p:nvGrpSpPr>
      <p:grpSpPr>
        <a:xfrm/>
      </p:grpSpPr>
      <p:sp>
        <p:nvSpPr>
          <p:cNvPr id="5" name="text-20">
            <a:extLst>
              <a:ext uri="{FF2B5EF4-FFF2-40B4-BE49-F238E27FC236}">
                <ns2:creationId id="{33818453-5EAD-4DBB-BFCC-79CF0A1E0F9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21">
            <a:extLst>
              <a:ext uri="{FF2B5EF4-FFF2-40B4-BE49-F238E27FC236}">
                <ns2:creationId id="{CF596C5E-4E75-4C77-9F70-2F5FFB08D97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tool landscape</a:t>
            </a:r>
          </a:p>
        </p:txBody>
      </p:sp>
      <p:graphicFrame>
        <p:nvGraphicFramePr>
          <p:cNvPr id="4" name="">
            <a:extLst>
              <a:ext uri="{FF2B5EF4-FFF2-40B4-BE49-F238E27FC236}">
                <ns2:creationId id="{ECB782A2-1885-4977-A535-15DBC6C84DF3}"/>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Category</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Examples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Work to examine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General assistants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Claude, ChatGPT, Gemini</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Drafting and supplied-file analysis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Legal platforms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Harvey, NetDocuments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Precedents and document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Research platforms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AlphaSense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Investment and industry research</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Workflow builders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Copilot Studio, Zapier</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Connections and review steps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22">
            <a:extLst>
              <a:ext uri="{FF2B5EF4-FFF2-40B4-BE49-F238E27FC236}">
                <ns2:creationId id="{C12AB509-BD7F-4E1F-9C91-A306CFF23C0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4</a:t>
            </a:r>
          </a:p>
        </p:txBody>
      </p:sp>
    </p:spTree>
    <p:extLst>
      <p:ext uri="{BB962C8B-B14F-4D97-AF65-F5344CB8AC3E}">
        <ns3:creationId val="1995379540"/>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Before using a real matter">
    <p:bg>
      <p:bgPr>
        <a:solidFill>
          <a:srgbClr val="FFFFFF"/>
        </a:solidFill>
      </p:bgPr>
    </p:bg>
    <p:spTree>
      <p:nvGrpSpPr>
        <p:cNvPr id="1" name=""/>
        <p:cNvGrpSpPr/>
        <p:nvPr/>
      </p:nvGrpSpPr>
      <p:grpSpPr>
        <a:xfrm/>
      </p:grpSpPr>
      <p:sp>
        <p:nvSpPr>
          <p:cNvPr id="5" name="text-23">
            <a:extLst>
              <a:ext uri="{FF2B5EF4-FFF2-40B4-BE49-F238E27FC236}">
                <ns2:creationId id="{759D44D3-5E83-4EBE-8AF2-44E91C67D16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24">
            <a:extLst>
              <a:ext uri="{FF2B5EF4-FFF2-40B4-BE49-F238E27FC236}">
                <ns2:creationId id="{8FE4D022-7518-463A-B3B7-63918F648F7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Before using a real matter</a:t>
            </a:r>
          </a:p>
        </p:txBody>
      </p:sp>
      <p:graphicFrame>
        <p:nvGraphicFramePr>
          <p:cNvPr id="4" name="">
            <a:extLst>
              <a:ext uri="{FF2B5EF4-FFF2-40B4-BE49-F238E27FC236}">
                <ns2:creationId id="{A291481E-B04B-4F61-B183-65EF316E5EFA}"/>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Question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 to inspect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Which product and account?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Consumer, business or API terms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How is content used?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Training choice, feedback and exceptions</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Where is it retained?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Chats, files, logs, backups and deletion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Who can access it?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Workspace roles, connectors and subprocessors</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May this matter enter it?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Firm decision and professional duties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25">
            <a:extLst>
              <a:ext uri="{FF2B5EF4-FFF2-40B4-BE49-F238E27FC236}">
                <ns2:creationId id="{268939BF-96E3-4A98-8DFB-011CC2D425D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5</a:t>
            </a:r>
          </a:p>
        </p:txBody>
      </p:sp>
    </p:spTree>
    <p:extLst>
      <p:ext uri="{BB962C8B-B14F-4D97-AF65-F5344CB8AC3E}">
        <ns3:creationId val="1843733772"/>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vague request and a clear brief">
    <p:bg>
      <p:bgPr>
        <a:solidFill>
          <a:srgbClr val="FFFFFF"/>
        </a:solidFill>
      </p:bgPr>
    </p:bg>
    <p:spTree>
      <p:nvGrpSpPr>
        <p:cNvPr id="1" name=""/>
        <p:cNvGrpSpPr/>
        <p:nvPr/>
      </p:nvGrpSpPr>
      <p:grpSpPr>
        <a:xfrm/>
      </p:grpSpPr>
      <p:sp>
        <p:nvSpPr>
          <p:cNvPr id="8" name="text-26">
            <a:extLst>
              <a:ext uri="{FF2B5EF4-FFF2-40B4-BE49-F238E27FC236}">
                <ns2:creationId id="{7411ECDC-0C57-453C-B636-395892ADC1A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27">
            <a:extLst>
              <a:ext uri="{FF2B5EF4-FFF2-40B4-BE49-F238E27FC236}">
                <ns2:creationId id="{67E36D6D-A12F-4E00-9EE1-D99FCD736A1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vague request and a clear brief</a:t>
            </a:r>
          </a:p>
        </p:txBody>
      </p:sp>
      <p:sp>
        <p:nvSpPr>
          <p:cNvPr id="4" name="text-29">
            <a:extLst>
              <a:ext uri="{FF2B5EF4-FFF2-40B4-BE49-F238E27FC236}">
                <ns2:creationId id="{3F6B7F89-2B0C-4914-A776-62178087A4BF}"/>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Vague</a:t>
            </a:r>
          </a:p>
        </p:txBody>
      </p:sp>
      <p:sp>
        <p:nvSpPr>
          <p:cNvPr id="5" name="text-30">
            <a:extLst>
              <a:ext uri="{FF2B5EF4-FFF2-40B4-BE49-F238E27FC236}">
                <ns2:creationId id="{202CC073-7585-4127-B162-A2EDEE9E0FF1}"/>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Review this contract and tell me if it is okay.</a:t>
            </a:r>
          </a:p>
        </p:txBody>
      </p:sp>
      <p:sp>
        <p:nvSpPr>
          <p:cNvPr id="6" name="text-31">
            <a:extLst>
              <a:ext uri="{FF2B5EF4-FFF2-40B4-BE49-F238E27FC236}">
                <ns2:creationId id="{5ED9D263-83D3-4FB7-B4F0-BE40DEA78367}"/>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Clear</a:t>
            </a:r>
          </a:p>
        </p:txBody>
      </p:sp>
      <p:sp>
        <p:nvSpPr>
          <p:cNvPr id="7" name="text-32">
            <a:extLst>
              <a:ext uri="{FF2B5EF4-FFF2-40B4-BE49-F238E27FC236}">
                <ns2:creationId id="{36459C3A-1CB8-4F22-A81B-59D03D285998}"/>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Compare the consent provisions with our playbook. Quote the relevant passages, preserve exceptions and flag missing transaction facts. Prepare a partner-review draft.</a:t>
            </a:r>
          </a:p>
        </p:txBody>
      </p:sp>
      <p:sp>
        <p:nvSpPr>
          <p:cNvPr id="3" name="text-28">
            <a:extLst>
              <a:ext uri="{FF2B5EF4-FFF2-40B4-BE49-F238E27FC236}">
                <ns2:creationId id="{EBDB5C98-4EA9-4FAB-B271-610B98393DF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6</a:t>
            </a:r>
          </a:p>
        </p:txBody>
      </p:sp>
    </p:spTree>
    <p:extLst>
      <p:ext uri="{BB962C8B-B14F-4D97-AF65-F5344CB8AC3E}">
        <ns3:creationId val="1469118872"/>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A professional task brief">
    <p:bg>
      <p:bgPr>
        <a:solidFill>
          <a:srgbClr val="FFFFFF"/>
        </a:solidFill>
      </p:bgPr>
    </p:bg>
    <p:spTree>
      <p:nvGrpSpPr>
        <p:cNvPr id="1" name=""/>
        <p:cNvGrpSpPr/>
        <p:nvPr/>
      </p:nvGrpSpPr>
      <p:grpSpPr>
        <a:xfrm/>
      </p:grpSpPr>
      <p:sp>
        <p:nvSpPr>
          <p:cNvPr id="12" name="text-33">
            <a:extLst>
              <a:ext uri="{FF2B5EF4-FFF2-40B4-BE49-F238E27FC236}">
                <ns2:creationId id="{7A201DB0-1848-4E45-9430-85C30EC68F9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34">
            <a:extLst>
              <a:ext uri="{FF2B5EF4-FFF2-40B4-BE49-F238E27FC236}">
                <ns2:creationId id="{D2A5D0E6-FADB-4EA5-8B6F-DF572641843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professional task brief</a:t>
            </a:r>
          </a:p>
        </p:txBody>
      </p:sp>
      <p:sp>
        <p:nvSpPr>
          <p:cNvPr id="4" name="text-36">
            <a:extLst>
              <a:ext uri="{FF2B5EF4-FFF2-40B4-BE49-F238E27FC236}">
                <ns2:creationId id="{EFB3C4BD-1241-41B0-9093-F95B432E5F5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7">
            <a:extLst>
              <a:ext uri="{FF2B5EF4-FFF2-40B4-BE49-F238E27FC236}">
                <ns2:creationId id="{36C11D70-A15A-4A57-A092-66D3515D7126}"/>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Purpose and intended audience</a:t>
            </a:r>
          </a:p>
        </p:txBody>
      </p:sp>
      <p:sp>
        <p:nvSpPr>
          <p:cNvPr id="6" name="text-38">
            <a:extLst>
              <a:ext uri="{FF2B5EF4-FFF2-40B4-BE49-F238E27FC236}">
                <ns2:creationId id="{AA99255A-A880-47D3-8844-97E0A9A27858}"/>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9">
            <a:extLst>
              <a:ext uri="{FF2B5EF4-FFF2-40B4-BE49-F238E27FC236}">
                <ns2:creationId id="{145B7064-A506-4FA4-AD72-A9B76D9B98FB}"/>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Relevant evidence and task boundaries</a:t>
            </a:r>
          </a:p>
        </p:txBody>
      </p:sp>
      <p:sp>
        <p:nvSpPr>
          <p:cNvPr id="8" name="text-40">
            <a:extLst>
              <a:ext uri="{FF2B5EF4-FFF2-40B4-BE49-F238E27FC236}">
                <ns2:creationId id="{E764EEEB-0F43-4398-A075-AC8EC5BD1F6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1">
            <a:extLst>
              <a:ext uri="{FF2B5EF4-FFF2-40B4-BE49-F238E27FC236}">
                <ns2:creationId id="{D7FB0EB1-0AF5-4778-ACFB-0FB376B0C2BB}"/>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Required output and acceptance criteria</a:t>
            </a:r>
          </a:p>
        </p:txBody>
      </p:sp>
      <p:sp>
        <p:nvSpPr>
          <p:cNvPr id="10" name="text-42">
            <a:extLst>
              <a:ext uri="{FF2B5EF4-FFF2-40B4-BE49-F238E27FC236}">
                <ns2:creationId id="{EFE69D6C-8245-464B-81EA-12EA6D6AE294}"/>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3">
            <a:extLst>
              <a:ext uri="{FF2B5EF4-FFF2-40B4-BE49-F238E27FC236}">
                <ns2:creationId id="{612F8EE6-38AC-445D-844A-8109995C4A7A}"/>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Questions, uncertainties and review point</a:t>
            </a:r>
          </a:p>
        </p:txBody>
      </p:sp>
      <p:sp>
        <p:nvSpPr>
          <p:cNvPr id="3" name="text-35">
            <a:extLst>
              <a:ext uri="{FF2B5EF4-FFF2-40B4-BE49-F238E27FC236}">
                <ns2:creationId id="{55BD396B-EA1A-450E-A9CE-10357538102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7</a:t>
            </a:r>
          </a:p>
        </p:txBody>
      </p:sp>
      <p:pic xmlns:r="http://schemas.openxmlformats.org/officeDocument/2006/relationships">
        <p:nvPicPr>
          <p:cNvPr id="13" name="illustration-clipboard" descr="Illustration: a clipboard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80260843"/>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An instruction we can reuse">
    <p:bg>
      <p:bgPr>
        <a:solidFill>
          <a:srgbClr val="FFFFFF"/>
        </a:solidFill>
      </p:bgPr>
    </p:bg>
    <p:spTree>
      <p:nvGrpSpPr>
        <p:cNvPr id="1" name=""/>
        <p:cNvGrpSpPr/>
        <p:nvPr/>
      </p:nvGrpSpPr>
      <p:grpSpPr>
        <a:xfrm/>
      </p:grpSpPr>
      <p:sp>
        <p:nvSpPr>
          <p:cNvPr id="12" name="text-44">
            <a:extLst>
              <a:ext uri="{FF2B5EF4-FFF2-40B4-BE49-F238E27FC236}">
                <ns2:creationId id="{828400CD-4CAC-44DC-AE82-AF2E5CCC5B5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45">
            <a:extLst>
              <a:ext uri="{FF2B5EF4-FFF2-40B4-BE49-F238E27FC236}">
                <ns2:creationId id="{A00DBF2B-B5D8-4A05-9CC0-F973F48600A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instruction we can reuse</a:t>
            </a:r>
          </a:p>
        </p:txBody>
      </p:sp>
      <p:sp>
        <p:nvSpPr>
          <p:cNvPr id="4" name="text-47">
            <a:extLst>
              <a:ext uri="{FF2B5EF4-FFF2-40B4-BE49-F238E27FC236}">
                <ns2:creationId id="{7EDA18AB-1D45-4C30-9DDF-8F54BBD1E6D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8">
            <a:extLst>
              <a:ext uri="{FF2B5EF4-FFF2-40B4-BE49-F238E27FC236}">
                <ns2:creationId id="{CF691C7B-D4E0-4121-B245-B32EA9B610CD}"/>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supplied agreement and playbook only.</a:t>
            </a:r>
          </a:p>
        </p:txBody>
      </p:sp>
      <p:sp>
        <p:nvSpPr>
          <p:cNvPr id="6" name="text-49">
            <a:extLst>
              <a:ext uri="{FF2B5EF4-FFF2-40B4-BE49-F238E27FC236}">
                <ns2:creationId id="{9AC9CDFA-CAC4-42C5-B51D-D823D9DAE73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0">
            <a:extLst>
              <a:ext uri="{FF2B5EF4-FFF2-40B4-BE49-F238E27FC236}">
                <ns2:creationId id="{070CF6A6-CCDD-46E7-A7C1-1A25B156EFE0}"/>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Return clause, exact passage, departure and proposed amendment.</a:t>
            </a:r>
          </a:p>
        </p:txBody>
      </p:sp>
      <p:sp>
        <p:nvSpPr>
          <p:cNvPr id="8" name="text-51">
            <a:extLst>
              <a:ext uri="{FF2B5EF4-FFF2-40B4-BE49-F238E27FC236}">
                <ns2:creationId id="{4CC7D6FC-150D-43F0-BA98-20C242B3CF0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2">
            <a:extLst>
              <a:ext uri="{FF2B5EF4-FFF2-40B4-BE49-F238E27FC236}">
                <ns2:creationId id="{16C5902B-9B4F-44F2-9510-6AEB4A6A8791}"/>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Keep qualifications and ask about missing facts.</a:t>
            </a:r>
          </a:p>
        </p:txBody>
      </p:sp>
      <p:sp>
        <p:nvSpPr>
          <p:cNvPr id="10" name="text-53">
            <a:extLst>
              <a:ext uri="{FF2B5EF4-FFF2-40B4-BE49-F238E27FC236}">
                <ns2:creationId id="{ACE4EA9C-2763-41B1-98E4-5506F84811A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4">
            <a:extLst>
              <a:ext uri="{FF2B5EF4-FFF2-40B4-BE49-F238E27FC236}">
                <ns2:creationId id="{523DC162-3239-44AC-93F5-D87E6BD3F260}"/>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Prepare a draft for partner review.</a:t>
            </a:r>
          </a:p>
        </p:txBody>
      </p:sp>
      <p:sp>
        <p:nvSpPr>
          <p:cNvPr id="3" name="text-46">
            <a:extLst>
              <a:ext uri="{FF2B5EF4-FFF2-40B4-BE49-F238E27FC236}">
                <ns2:creationId id="{739D3CD8-16B1-4052-92DB-95117D59EF1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8</a:t>
            </a:r>
          </a:p>
        </p:txBody>
      </p:sp>
      <p:pic xmlns:r="http://schemas.openxmlformats.org/officeDocument/2006/relationships">
        <p:nvPicPr>
          <p:cNvPr id="13" name="illustration-docstack" descr="Illustration: a stack of agreement versions with a version seal"/>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28993456"/>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Traceability for a finding">
    <p:bg>
      <p:bgPr>
        <a:solidFill>
          <a:srgbClr val="FFFFFF"/>
        </a:solidFill>
      </p:bgPr>
    </p:bg>
    <p:spTree>
      <p:nvGrpSpPr>
        <p:cNvPr id="1" name=""/>
        <p:cNvGrpSpPr/>
        <p:nvPr/>
      </p:nvGrpSpPr>
      <p:grpSpPr>
        <a:xfrm/>
      </p:grpSpPr>
      <p:sp>
        <p:nvSpPr>
          <p:cNvPr id="5" name="text-55">
            <a:extLst>
              <a:ext uri="{FF2B5EF4-FFF2-40B4-BE49-F238E27FC236}">
                <ns2:creationId id="{1050BFB6-4AA0-4868-8AFF-4B97206CC6B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56">
            <a:extLst>
              <a:ext uri="{FF2B5EF4-FFF2-40B4-BE49-F238E27FC236}">
                <ns2:creationId id="{F9F4A98B-23DE-48CC-AC5B-1F6BDE07F3F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Traceability for a finding</a:t>
            </a:r>
          </a:p>
        </p:txBody>
      </p:sp>
      <p:graphicFrame>
        <p:nvGraphicFramePr>
          <p:cNvPr id="4" name="">
            <a:extLst>
              <a:ext uri="{FF2B5EF4-FFF2-40B4-BE49-F238E27FC236}">
                <ns2:creationId id="{4D85DB26-CF96-4322-B7DF-65B8873498DB}"/>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1247775">
                <a:tc>
                  <a:txBody>
                    <a:bodyPr/>
                    <a:lstStyle/>
                    <a:p>
                      <a:r>
                        <a:rPr sz="1875" b="1">
                          <a:solidFill>
                            <a:srgbClr val="FFFFFF"/>
                          </a:solidFill>
                          <a:latin typeface="Calibri"/>
                          <a:ea typeface="Calibri"/>
                          <a:cs typeface="Calibri"/>
                        </a:rPr>
                        <a:t>Finding</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Location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1247775">
                <a:tc>
                  <a:txBody>
                    <a:bodyPr/>
                    <a:lstStyle/>
                    <a:p>
                      <a:r>
                        <a:rPr sz="1875" b="0">
                          <a:solidFill>
                            <a:srgbClr val="1C3144"/>
                          </a:solidFill>
                          <a:latin typeface="Calibri"/>
                          <a:ea typeface="Calibri"/>
                          <a:cs typeface="Calibri"/>
                        </a:rPr>
                        <a:t>Consent exception may apply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Wholly owned group and provider responsibility</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CONTRACT-01 v2, Key Terms KT-1</a:t>
                      </a:r>
                    </a:p>
                  </a:txBody>
                  <a:tcPr marL="91440" marR="91440" marT="45720" marB="45720">
                    <a:lnR w="9525">
                      <a:solidFill>
                        <a:srgbClr val="C9D5DA"/>
                      </a:solidFill>
                      <a:prstDash val="solid"/>
                    </a:lnR>
                    <a:lnB w="9525">
                      <a:solidFill>
                        <a:srgbClr val="C9D5DA"/>
                      </a:solidFill>
                      <a:prstDash val="solid"/>
                    </a:lnB>
                    <a:solidFill>
                      <a:srgbClr val="F1F5F6"/>
                    </a:solidFill>
                  </a:tcPr>
                </a:tc>
              </a:tr>
              <a:tr h="1247775">
                <a:tc>
                  <a:txBody>
                    <a:bodyPr/>
                    <a:lstStyle/>
                    <a:p>
                      <a:r>
                        <a:rPr sz="1875" b="0">
                          <a:solidFill>
                            <a:srgbClr val="1C3144"/>
                          </a:solidFill>
                          <a:latin typeface="Calibri"/>
                          <a:ea typeface="Calibri"/>
                          <a:cs typeface="Calibri"/>
                        </a:rPr>
                        <a:t>Ownership is unconfirmed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Client gives no ownership chart</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Client Instruction</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57">
            <a:extLst>
              <a:ext uri="{FF2B5EF4-FFF2-40B4-BE49-F238E27FC236}">
                <ns2:creationId id="{8750A125-F4FC-4165-9C20-1FDB1FD9259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9</a:t>
            </a:r>
          </a:p>
        </p:txBody>
      </p:sp>
    </p:spTree>
    <p:extLst>
      <p:ext uri="{BB962C8B-B14F-4D97-AF65-F5344CB8AC3E}">
        <ns3:creationId val="133003537"/>
      </p:ext>
    </p:extLst>
  </p:cSld>
  <p:transition spd="med" advClick="1">
    <p:fade/>
  </p:transition>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citation and its supporting passage">
    <p:bg>
      <p:bgPr>
        <a:solidFill>
          <a:srgbClr val="FFFFFF"/>
        </a:solidFill>
      </p:bgPr>
    </p:bg>
    <p:spTree>
      <p:nvGrpSpPr>
        <p:cNvPr id="1" name=""/>
        <p:cNvGrpSpPr/>
        <p:nvPr/>
      </p:nvGrpSpPr>
      <p:grpSpPr>
        <a:xfrm/>
      </p:grpSpPr>
      <p:cxnSp>
        <p:nvCxnSpPr>
          <p:cNvPr id="10" name="reveal-02-source-link" descr="A citation and its supporting passage">
            <a:extLst>
              <a:ext uri="{FF2B5EF4-FFF2-40B4-BE49-F238E27FC236}">
                <ns2:creationId id="{7C7BC57F-73A0-486F-AEBB-3C8C825B3279}"/>
              </a:ext>
            </a:extLst>
          </p:cNvPr>
          <p:cNvCxnSpPr>
            <a:stCxn id="4" idx="3"/>
            <a:endCxn id="7" idx="1"/>
          </p:cNvCxnSpPr>
          <p:nvPr/>
        </p:nvCxnSpPr>
        <p:spPr>
          <a:xfrm>
            <a:off x="5667375" y="3690938"/>
            <a:ext cx="857250" cy="0"/>
          </a:xfrm>
          <a:prstGeom prst="straightConnector1">
            <a:avLst/>
          </a:prstGeom>
          <a:ln w="23813">
            <a:solidFill>
              <a:srgbClr val="246E63"/>
            </a:solidFill>
            <a:tailEnd type="arrow" w="med" len="med"/>
          </a:ln>
        </p:spPr>
      </p:cxnSp>
      <p:sp>
        <p:nvSpPr>
          <p:cNvPr id="12" name="text-58">
            <a:extLst>
              <a:ext uri="{FF2B5EF4-FFF2-40B4-BE49-F238E27FC236}">
                <ns2:creationId id="{2813F0A2-DED1-4714-8ECC-B14AFB9ED08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59">
            <a:extLst>
              <a:ext uri="{FF2B5EF4-FFF2-40B4-BE49-F238E27FC236}">
                <ns2:creationId id="{E5AD2CB8-4B11-48CE-AE72-94D8A4CD42F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citation and its supporting passage</a:t>
            </a:r>
          </a:p>
        </p:txBody>
      </p:sp>
      <p:sp>
        <p:nvSpPr>
          <p:cNvPr id="4" name="reveal-01-claim">
            <a:extLst>
              <a:ext uri="{FF2B5EF4-FFF2-40B4-BE49-F238E27FC236}">
                <ns2:creationId id="{CDC09C17-9CB3-4BD2-BE98-A879D59058F9}"/>
              </a:ext>
              <a:ext uri="{C183D7F6-B498-43B3-948B-1728B52AA6E4}">
                <ns3:decorative val="1"/>
              </a:ext>
            </a:extLst>
          </p:cNvPr>
          <p:cNvSpPr>
            <a:spLocks noGrp="1"/>
          </p:cNvSpPr>
          <p:nvPr/>
        </p:nvSpPr>
        <p:spPr>
          <a:xfrm>
            <a:off x="619125" y="2047875"/>
            <a:ext cx="5048250" cy="3286125"/>
          </a:xfrm>
          <a:prstGeom prst="rect">
            <a:avLst/>
          </a:prstGeom>
          <a:solidFill>
            <a:srgbClr val="F1F5F6"/>
          </a:solidFill>
          <a:ln w="11430">
            <a:solidFill>
              <a:srgbClr val="C9D5DA"/>
            </a:solidFill>
          </a:ln>
        </p:spPr>
      </p:sp>
      <p:sp>
        <p:nvSpPr>
          <p:cNvPr id="5" name="reveal-01-label">
            <a:extLst>
              <a:ext uri="{FF2B5EF4-FFF2-40B4-BE49-F238E27FC236}">
                <ns2:creationId id="{951317D3-DAA6-4E12-8C18-0A8A5281A381}"/>
              </a:ext>
            </a:extLst>
          </p:cNvPr>
          <p:cNvSpPr>
            <a:spLocks noGrp="1"/>
          </p:cNvSpPr>
          <p:nvPr/>
        </p:nvSpPr>
        <p:spPr>
          <a:xfrm>
            <a:off x="819150" y="2219325"/>
            <a:ext cx="4572000" cy="32385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FINDING</a:t>
            </a:r>
          </a:p>
        </p:txBody>
      </p:sp>
      <p:sp>
        <p:nvSpPr>
          <p:cNvPr id="6" name="reveal-01-claim-text">
            <a:extLst>
              <a:ext uri="{FF2B5EF4-FFF2-40B4-BE49-F238E27FC236}">
                <ns2:creationId id="{02FE1EE5-9C11-4545-968A-DAD55D3D8FF4}"/>
              </a:ext>
            </a:extLst>
          </p:cNvPr>
          <p:cNvSpPr>
            <a:spLocks noGrp="1"/>
          </p:cNvSpPr>
          <p:nvPr/>
        </p:nvSpPr>
        <p:spPr>
          <a:xfrm>
            <a:off x="819150" y="2800350"/>
            <a:ext cx="4572000" cy="2143125"/>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The group exception may apply. Confirm ownership and continued provider responsibility.</a:t>
            </a:r>
          </a:p>
        </p:txBody>
      </p:sp>
      <p:sp>
        <p:nvSpPr>
          <p:cNvPr id="7" name="reveal-02-source">
            <a:extLst>
              <a:ext uri="{FF2B5EF4-FFF2-40B4-BE49-F238E27FC236}">
                <ns2:creationId id="{F8908BC5-9911-4EA5-8ECF-BA0A28A94F86}"/>
              </a:ext>
              <a:ext uri="{C183D7F6-B498-43B3-948B-1728B52AA6E4}">
                <ns3:decorative val="1"/>
              </a:ext>
            </a:extLst>
          </p:cNvPr>
          <p:cNvSpPr>
            <a:spLocks noGrp="1"/>
          </p:cNvSpPr>
          <p:nvPr/>
        </p:nvSpPr>
        <p:spPr>
          <a:xfrm>
            <a:off x="6524625" y="2047875"/>
            <a:ext cx="5048250" cy="3286125"/>
          </a:xfrm>
          <a:prstGeom prst="rect">
            <a:avLst/>
          </a:prstGeom>
          <a:solidFill>
            <a:srgbClr val="E9F3F0"/>
          </a:solidFill>
          <a:ln w="11430">
            <a:solidFill>
              <a:srgbClr val="C9D5DA"/>
            </a:solidFill>
          </a:ln>
        </p:spPr>
      </p:sp>
      <p:sp>
        <p:nvSpPr>
          <p:cNvPr id="8" name="reveal-02-source-label">
            <a:extLst>
              <a:ext uri="{FF2B5EF4-FFF2-40B4-BE49-F238E27FC236}">
                <ns2:creationId id="{6E8E0315-5A78-4C66-84C5-6F9F0C945708}"/>
              </a:ext>
            </a:extLst>
          </p:cNvPr>
          <p:cNvSpPr>
            <a:spLocks noGrp="1"/>
          </p:cNvSpPr>
          <p:nvPr/>
        </p:nvSpPr>
        <p:spPr>
          <a:xfrm>
            <a:off x="6724650" y="2219325"/>
            <a:ext cx="4572000" cy="41910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CONTRACT-01 v2, KEY TERMS KT-1</a:t>
            </a:r>
          </a:p>
        </p:txBody>
      </p:sp>
      <p:sp>
        <p:nvSpPr>
          <p:cNvPr id="9" name="reveal-02-source-text">
            <a:extLst>
              <a:ext uri="{FF2B5EF4-FFF2-40B4-BE49-F238E27FC236}">
                <ns2:creationId id="{6D5609DA-FFB7-4D53-B623-93D6AFAC3B0F}"/>
              </a:ext>
            </a:extLst>
          </p:cNvPr>
          <p:cNvSpPr>
            <a:spLocks noGrp="1"/>
          </p:cNvSpPr>
          <p:nvPr/>
        </p:nvSpPr>
        <p:spPr>
          <a:xfrm>
            <a:off x="6724650" y="2800350"/>
            <a:ext cx="4572000" cy="2333625"/>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1700" b="0">
                <a:solidFill>
                  <a:srgbClr val="1C3144"/>
                </a:solidFill>
                <a:latin typeface="Calibri"/>
                <a:ea typeface="Calibri"/>
                <a:cs typeface="Calibri"/>
              </a:rPr>
              <a:t>Provider must obtain Customer’s prior written consent before a change of control of Provider takes effect. That consent is not required for a reorganization within a wholly owned group if Provider remains responsible for its obligations under this Agreement.</a:t>
            </a:r>
          </a:p>
        </p:txBody>
      </p:sp>
      <p:sp>
        <p:nvSpPr>
          <p:cNvPr id="11" name="text-62">
            <a:extLst>
              <a:ext uri="{FF2B5EF4-FFF2-40B4-BE49-F238E27FC236}">
                <ns2:creationId id="{B0B6E30A-F664-4BB3-8916-F5F1CB20E54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clause establishes wording. Transaction facts require their own evidence.</a:t>
            </a:r>
          </a:p>
        </p:txBody>
      </p:sp>
      <p:sp>
        <p:nvSpPr>
          <p:cNvPr id="3" name="text-60">
            <a:extLst>
              <a:ext uri="{FF2B5EF4-FFF2-40B4-BE49-F238E27FC236}">
                <ns2:creationId id="{AA7DB39C-8F88-458F-ABF0-C973ECA06E7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10</a:t>
            </a:r>
          </a:p>
        </p:txBody>
      </p:sp>
    </p:spTree>
    <p:extLst>
      <p:ext uri="{BB962C8B-B14F-4D97-AF65-F5344CB8AC3E}">
        <ns4:creationId val="45850233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instruction and review cycle">
    <p:bg>
      <p:bgPr>
        <a:solidFill>
          <a:srgbClr val="FFFFFF"/>
        </a:solidFill>
      </p:bgPr>
    </p:bg>
    <p:spTree>
      <p:nvGrpSpPr>
        <p:cNvPr id="1" name=""/>
        <p:cNvGrpSpPr/>
        <p:nvPr/>
      </p:nvGrpSpPr>
      <p:grpSpPr>
        <a:xfrm/>
      </p:grpSpPr>
      <p:cxnSp>
        <p:nvCxnSpPr>
          <p:cNvPr id="22" name="reveal-04-arrow" descr="The instruction and review cycle">
            <a:extLst>
              <a:ext uri="{FF2B5EF4-FFF2-40B4-BE49-F238E27FC236}">
                <ns2:creationId id="{0ACA7926-90FA-4EBB-B9D1-3214561632DA}"/>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9033D9E9-72F7-4854-83D1-7AB3DB688959}"/>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83EACBE3-CC6A-4FF7-B892-9C8FBF7DB512}"/>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63">
            <a:extLst>
              <a:ext uri="{FF2B5EF4-FFF2-40B4-BE49-F238E27FC236}">
                <ns2:creationId id="{13974AB1-3B9E-4602-B6ED-4218F48F582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64">
            <a:extLst>
              <a:ext uri="{FF2B5EF4-FFF2-40B4-BE49-F238E27FC236}">
                <ns2:creationId id="{9C6F3EDF-2C14-4E2E-BB07-A80A7D466D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instruction and review cycle</a:t>
            </a:r>
          </a:p>
        </p:txBody>
      </p:sp>
      <p:sp>
        <p:nvSpPr>
          <p:cNvPr id="4" name="reveal-01-stage">
            <a:extLst>
              <a:ext uri="{FF2B5EF4-FFF2-40B4-BE49-F238E27FC236}">
                <ns2:creationId id="{FE2C71B2-05CF-4958-BFFF-3D519325B72D}"/>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A8B16602-7E84-4D80-8D9F-B056A9A5C254}"/>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96194B5-5C90-4208-A4CC-2ED41F215045}"/>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Brief</a:t>
            </a:r>
          </a:p>
        </p:txBody>
      </p:sp>
      <p:sp>
        <p:nvSpPr>
          <p:cNvPr id="7" name="reveal-01-detail">
            <a:extLst>
              <a:ext uri="{FF2B5EF4-FFF2-40B4-BE49-F238E27FC236}">
                <ns2:creationId id="{7EACF180-CBBF-489F-BB1E-BB0AD9EA74AE}"/>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Task, sources and criteria</a:t>
            </a:r>
          </a:p>
        </p:txBody>
      </p:sp>
      <p:sp>
        <p:nvSpPr>
          <p:cNvPr id="8" name="reveal-02-stage">
            <a:extLst>
              <a:ext uri="{FF2B5EF4-FFF2-40B4-BE49-F238E27FC236}">
                <ns2:creationId id="{848B7FBD-8DFE-4A46-8F9E-3EC20F56D77C}"/>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2BCAFD9C-8FD3-4E8D-975D-F6760219835A}"/>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E5191719-03B8-4CB2-B593-36FE9CC730EC}"/>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Produce</a:t>
            </a:r>
          </a:p>
        </p:txBody>
      </p:sp>
      <p:sp>
        <p:nvSpPr>
          <p:cNvPr id="11" name="reveal-02-detail">
            <a:extLst>
              <a:ext uri="{FF2B5EF4-FFF2-40B4-BE49-F238E27FC236}">
                <ns2:creationId id="{A8A803D5-A0BD-436A-8BF6-819075E446F5}"/>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 source-linked draft</a:t>
            </a:r>
          </a:p>
        </p:txBody>
      </p:sp>
      <p:sp>
        <p:nvSpPr>
          <p:cNvPr id="12" name="reveal-03-stage">
            <a:extLst>
              <a:ext uri="{FF2B5EF4-FFF2-40B4-BE49-F238E27FC236}">
                <ns2:creationId id="{E4682BB4-5EEB-4DA2-9CC5-2878D83623F1}"/>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07F75086-258A-47EB-8BEA-1A33E95EB7DD}"/>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17A0818E-9327-4105-89DA-D4138839AB36}"/>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Check</a:t>
            </a:r>
          </a:p>
        </p:txBody>
      </p:sp>
      <p:sp>
        <p:nvSpPr>
          <p:cNvPr id="15" name="reveal-03-detail">
            <a:extLst>
              <a:ext uri="{FF2B5EF4-FFF2-40B4-BE49-F238E27FC236}">
                <ns2:creationId id="{A60A8E70-636C-408F-844B-0334E8DF69D1}"/>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Rule, exception and facts</a:t>
            </a:r>
          </a:p>
        </p:txBody>
      </p:sp>
      <p:sp>
        <p:nvSpPr>
          <p:cNvPr id="16" name="reveal-04-stage">
            <a:extLst>
              <a:ext uri="{FF2B5EF4-FFF2-40B4-BE49-F238E27FC236}">
                <ns2:creationId id="{5B41F7EA-38A7-461A-B60D-D91C6FB23112}"/>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126B7017-CE08-4523-A639-46F08727F8B0}"/>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783A7B3A-27D9-4CCC-898F-301F22D75420}"/>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Refine</a:t>
            </a:r>
          </a:p>
        </p:txBody>
      </p:sp>
      <p:sp>
        <p:nvSpPr>
          <p:cNvPr id="19" name="reveal-04-detail">
            <a:extLst>
              <a:ext uri="{FF2B5EF4-FFF2-40B4-BE49-F238E27FC236}">
                <ns2:creationId id="{CF54327E-3F89-4799-A768-C032083D5AD3}"/>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Correct and test again</a:t>
            </a:r>
          </a:p>
        </p:txBody>
      </p:sp>
      <p:sp>
        <p:nvSpPr>
          <p:cNvPr id="23" name="text-69">
            <a:extLst>
              <a:ext uri="{FF2B5EF4-FFF2-40B4-BE49-F238E27FC236}">
                <ns2:creationId id="{F5D91658-74E9-4BC8-B9D1-879EB506B87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Variant A: an unrelated buyer acquires control through a share sale. Apply the Key Terms and Section 12.6.</a:t>
            </a:r>
          </a:p>
        </p:txBody>
      </p:sp>
      <p:sp>
        <p:nvSpPr>
          <p:cNvPr id="3" name="text-65">
            <a:extLst>
              <a:ext uri="{FF2B5EF4-FFF2-40B4-BE49-F238E27FC236}">
                <ns2:creationId id="{2745D553-E9DC-4703-AFE6-EE9A495C5B7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11</a:t>
            </a:r>
          </a:p>
        </p:txBody>
      </p:sp>
    </p:spTree>
    <p:extLst>
      <p:ext uri="{BB962C8B-B14F-4D97-AF65-F5344CB8AC3E}">
        <ns4:creationId val="75023651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Human review begins here">
    <p:bg>
      <p:bgPr>
        <a:solidFill>
          <a:srgbClr val="FFFFFF"/>
        </a:solidFill>
      </p:bgPr>
    </p:bg>
    <p:spTree>
      <p:nvGrpSpPr>
        <p:cNvPr id="1" name=""/>
        <p:cNvGrpSpPr/>
        <p:nvPr/>
      </p:nvGrpSpPr>
      <p:grpSpPr>
        <a:xfrm/>
      </p:grpSpPr>
      <p:sp>
        <p:nvSpPr>
          <p:cNvPr id="10" name="text-70">
            <a:extLst>
              <a:ext uri="{FF2B5EF4-FFF2-40B4-BE49-F238E27FC236}">
                <ns2:creationId id="{069C0130-20D1-46F0-ABA2-3D00DD0DADB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71">
            <a:extLst>
              <a:ext uri="{FF2B5EF4-FFF2-40B4-BE49-F238E27FC236}">
                <ns2:creationId id="{808E6C44-1358-4C98-BE63-8F3D20195B4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Human review begins here</a:t>
            </a:r>
          </a:p>
        </p:txBody>
      </p:sp>
      <p:sp>
        <p:nvSpPr>
          <p:cNvPr id="4" name="text-73">
            <a:extLst>
              <a:ext uri="{FF2B5EF4-FFF2-40B4-BE49-F238E27FC236}">
                <ns2:creationId id="{AA30DB6D-7F0B-41CF-87DF-00C30701C04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74">
            <a:extLst>
              <a:ext uri="{FF2B5EF4-FFF2-40B4-BE49-F238E27FC236}">
                <ns2:creationId id="{1985FAC0-6C76-491C-9AC8-963247E9BC78}"/>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named partner checks the source and the interpretation.</a:t>
            </a:r>
          </a:p>
        </p:txBody>
      </p:sp>
      <p:sp>
        <p:nvSpPr>
          <p:cNvPr id="6" name="text-75">
            <a:extLst>
              <a:ext uri="{FF2B5EF4-FFF2-40B4-BE49-F238E27FC236}">
                <ns2:creationId id="{10C7AE42-115E-4E4C-80EA-61C54C3518F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76">
            <a:extLst>
              <a:ext uri="{FF2B5EF4-FFF2-40B4-BE49-F238E27FC236}">
                <ns2:creationId id="{83A0D98E-B44D-4F4B-B4F8-BEBD860F7C1F}"/>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draft remains unapproved until that decision.</a:t>
            </a:r>
          </a:p>
        </p:txBody>
      </p:sp>
      <p:sp>
        <p:nvSpPr>
          <p:cNvPr id="8" name="text-77">
            <a:extLst>
              <a:ext uri="{FF2B5EF4-FFF2-40B4-BE49-F238E27FC236}">
                <ns2:creationId id="{4110B419-382C-4376-A464-1825D5BF0032}"/>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78">
            <a:extLst>
              <a:ext uri="{FF2B5EF4-FFF2-40B4-BE49-F238E27FC236}">
                <ns2:creationId id="{0D1F8635-B8F3-46FC-8329-9CB3A2CF7DE2}"/>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External delivery requires the defined approval.</a:t>
            </a:r>
          </a:p>
        </p:txBody>
      </p:sp>
      <p:sp>
        <p:nvSpPr>
          <p:cNvPr id="3" name="text-72">
            <a:extLst>
              <a:ext uri="{FF2B5EF4-FFF2-40B4-BE49-F238E27FC236}">
                <ns2:creationId id="{C5CD649E-9857-4632-B9BD-583972200CB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12</a:t>
            </a:r>
          </a:p>
        </p:txBody>
      </p:sp>
      <p:pic xmlns:r="http://schemas.openxmlformats.org/officeDocument/2006/relationships">
        <p:nvPicPr>
          <p:cNvPr id="11" name="illustration-deskperson" descr="Illustration: a reviewer at a desk checking a documen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55827414"/>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Catching generic AI writing">
    <p:bg>
      <p:bgPr>
        <a:solidFill>
          <a:srgbClr val="FFFFFF"/>
        </a:solidFill>
      </p:bgPr>
    </p:bg>
    <p:spTree>
      <p:nvGrpSpPr>
        <p:cNvPr id="1" name=""/>
        <p:cNvGrpSpPr/>
        <p:nvPr/>
      </p:nvGrpSpPr>
      <p:grpSpPr>
        <a:xfrm/>
      </p:grpSpPr>
      <p:sp>
        <p:nvSpPr>
          <p:cNvPr id="8" name="text-79">
            <a:extLst>
              <a:ext uri="{FF2B5EF4-FFF2-40B4-BE49-F238E27FC236}">
                <ns2:creationId id="{BC3FC594-D6E8-4FA9-9A95-07E1906CE48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80">
            <a:extLst>
              <a:ext uri="{FF2B5EF4-FFF2-40B4-BE49-F238E27FC236}">
                <ns2:creationId id="{1F2F1432-BF7C-4FDF-9F6F-F77799E10DB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Catching generic AI writing</a:t>
            </a:r>
          </a:p>
        </p:txBody>
      </p:sp>
      <p:sp>
        <p:nvSpPr>
          <p:cNvPr id="4" name="text-82">
            <a:extLst>
              <a:ext uri="{FF2B5EF4-FFF2-40B4-BE49-F238E27FC236}">
                <ns2:creationId id="{F2787EBF-4BD1-4DE8-B357-CAF1ED324362}"/>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Weak draft</a:t>
            </a:r>
          </a:p>
        </p:txBody>
      </p:sp>
      <p:sp>
        <p:nvSpPr>
          <p:cNvPr id="5" name="text-83">
            <a:extLst>
              <a:ext uri="{FF2B5EF4-FFF2-40B4-BE49-F238E27FC236}">
                <ns2:creationId id="{A2B02BA8-09A4-4F48-B95C-E716C475564E}"/>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This robust agreement seamlessly safeguards stakeholders and unlocks compliance.</a:t>
            </a:r>
          </a:p>
        </p:txBody>
      </p:sp>
      <p:sp>
        <p:nvSpPr>
          <p:cNvPr id="6" name="text-84">
            <a:extLst>
              <a:ext uri="{FF2B5EF4-FFF2-40B4-BE49-F238E27FC236}">
                <ns2:creationId id="{957E8682-AD35-4F70-A68D-E2152CBD84FD}"/>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Useful draft</a:t>
            </a:r>
          </a:p>
        </p:txBody>
      </p:sp>
      <p:sp>
        <p:nvSpPr>
          <p:cNvPr id="7" name="text-85">
            <a:extLst>
              <a:ext uri="{FF2B5EF4-FFF2-40B4-BE49-F238E27FC236}">
                <ns2:creationId id="{DB061E5C-C4F2-4B6F-A9C9-0936AB84E17B}"/>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Key Terms contain a group-reorganisation exception. Confirm ownership and continued provider responsibility before advising on consent.</a:t>
            </a:r>
          </a:p>
        </p:txBody>
      </p:sp>
      <p:sp>
        <p:nvSpPr>
          <p:cNvPr id="3" name="text-81">
            <a:extLst>
              <a:ext uri="{FF2B5EF4-FFF2-40B4-BE49-F238E27FC236}">
                <ns2:creationId id="{CC9F65C4-9C5C-41EE-905A-D4D390ECB3F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13</a:t>
            </a:r>
          </a:p>
        </p:txBody>
      </p:sp>
    </p:spTree>
    <p:extLst>
      <p:ext uri="{BB962C8B-B14F-4D97-AF65-F5344CB8AC3E}">
        <ns3:creationId val="890777481"/>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A small evaluation">
    <p:bg>
      <p:bgPr>
        <a:solidFill>
          <a:srgbClr val="FFFFFF"/>
        </a:solidFill>
      </p:bgPr>
    </p:bg>
    <p:spTree>
      <p:nvGrpSpPr>
        <p:cNvPr id="1" name=""/>
        <p:cNvGrpSpPr/>
        <p:nvPr/>
      </p:nvGrpSpPr>
      <p:grpSpPr>
        <a:xfrm/>
      </p:grpSpPr>
      <p:sp>
        <p:nvSpPr>
          <p:cNvPr id="5" name="text-86">
            <a:extLst>
              <a:ext uri="{FF2B5EF4-FFF2-40B4-BE49-F238E27FC236}">
                <ns2:creationId id="{E0BE4F8F-A5F8-4E32-B68C-197856C1FA3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87">
            <a:extLst>
              <a:ext uri="{FF2B5EF4-FFF2-40B4-BE49-F238E27FC236}">
                <ns2:creationId id="{7F2C1D06-27D8-49D0-8930-88340AD8E47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small evaluation</a:t>
            </a:r>
          </a:p>
        </p:txBody>
      </p:sp>
      <p:graphicFrame>
        <p:nvGraphicFramePr>
          <p:cNvPr id="4" name="">
            <a:extLst>
              <a:ext uri="{FF2B5EF4-FFF2-40B4-BE49-F238E27FC236}">
                <ns2:creationId id="{94983AFC-0716-4617-A7F6-FA9927C091AC}"/>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Check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Question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Source accuracy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Does the quote match the current clause?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Completeness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Does the answer preserve the exception?</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Uncertainty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Does it identify missing ownership facts?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Usefulness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Can the reviewer see the next action?</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88">
            <a:extLst>
              <a:ext uri="{FF2B5EF4-FFF2-40B4-BE49-F238E27FC236}">
                <ns2:creationId id="{831BE14A-DDF2-4054-83A3-AAB4DD6DEAE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14</a:t>
            </a:r>
          </a:p>
        </p:txBody>
      </p:sp>
    </p:spTree>
    <p:extLst>
      <p:ext uri="{BB962C8B-B14F-4D97-AF65-F5344CB8AC3E}">
        <ns3:creationId val="1155369050"/>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Questions for a vendor">
    <p:bg>
      <p:bgPr>
        <a:solidFill>
          <a:srgbClr val="FFFFFF"/>
        </a:solidFill>
      </p:bgPr>
    </p:bg>
    <p:spTree>
      <p:nvGrpSpPr>
        <p:cNvPr id="1" name=""/>
        <p:cNvGrpSpPr/>
        <p:nvPr/>
      </p:nvGrpSpPr>
      <p:grpSpPr>
        <a:xfrm/>
      </p:grpSpPr>
      <p:sp>
        <p:nvSpPr>
          <p:cNvPr id="5" name="text-89">
            <a:extLst>
              <a:ext uri="{FF2B5EF4-FFF2-40B4-BE49-F238E27FC236}">
                <ns2:creationId id="{5A3D8DDB-5706-4081-A6F5-07D8751EF8F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90">
            <a:extLst>
              <a:ext uri="{FF2B5EF4-FFF2-40B4-BE49-F238E27FC236}">
                <ns2:creationId id="{A9544112-FC96-4727-A666-D6FC5CA2214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Questions for a vendor</a:t>
            </a:r>
          </a:p>
        </p:txBody>
      </p:sp>
      <p:graphicFrame>
        <p:nvGraphicFramePr>
          <p:cNvPr id="4" name="">
            <a:extLst>
              <a:ext uri="{FF2B5EF4-FFF2-40B4-BE49-F238E27FC236}">
                <ns2:creationId id="{7C46D88D-C7DE-410E-8E94-BAC19CF2B74B}"/>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Area</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Ask for 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Legal coverage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Jurisdictions, sources, updates and exclusions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Evaluation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Representative cases, errors and review effort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Data</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Terms, access, retention, location and deletion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Operations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Integrations, support, logs and exit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Commercial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Total costs, limits and change terms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91">
            <a:extLst>
              <a:ext uri="{FF2B5EF4-FFF2-40B4-BE49-F238E27FC236}">
                <ns2:creationId id="{EFA317E9-5ECB-444F-BE73-BD6EA5A66F9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15</a:t>
            </a:r>
          </a:p>
        </p:txBody>
      </p:sp>
    </p:spTree>
    <p:extLst>
      <p:ext uri="{BB962C8B-B14F-4D97-AF65-F5344CB8AC3E}">
        <ns3:creationId val="2076741907"/>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92">
            <a:extLst>
              <a:ext uri="{FF2B5EF4-FFF2-40B4-BE49-F238E27FC236}">
                <ns2:creationId id="{235A644E-AD0A-4FD8-B83A-A22C3C871E2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93">
            <a:extLst>
              <a:ext uri="{FF2B5EF4-FFF2-40B4-BE49-F238E27FC236}">
                <ns2:creationId id="{23D17A0F-AC16-46C8-B040-69F4649F73B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95">
            <a:extLst>
              <a:ext uri="{FF2B5EF4-FFF2-40B4-BE49-F238E27FC236}">
                <ns2:creationId id="{A60BA8EF-D960-41A8-9F19-F1AE11FAD3C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6">
            <a:extLst>
              <a:ext uri="{FF2B5EF4-FFF2-40B4-BE49-F238E27FC236}">
                <ns2:creationId id="{25ED2E35-5DF5-4EB3-B751-2E0C35F660B4}"/>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Inspect the actual account and data terms.</a:t>
            </a:r>
          </a:p>
        </p:txBody>
      </p:sp>
      <p:sp>
        <p:nvSpPr>
          <p:cNvPr id="6" name="text-97">
            <a:extLst>
              <a:ext uri="{FF2B5EF4-FFF2-40B4-BE49-F238E27FC236}">
                <ns2:creationId id="{8EBF7332-B9ED-4643-A4EC-3572BE15A69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98">
            <a:extLst>
              <a:ext uri="{FF2B5EF4-FFF2-40B4-BE49-F238E27FC236}">
                <ns2:creationId id="{4DDA4E6B-18CC-4831-AF1A-5C86C230C68B}"/>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a vague request with a professional brief.</a:t>
            </a:r>
          </a:p>
        </p:txBody>
      </p:sp>
      <p:sp>
        <p:nvSpPr>
          <p:cNvPr id="8" name="text-99">
            <a:extLst>
              <a:ext uri="{FF2B5EF4-FFF2-40B4-BE49-F238E27FC236}">
                <ns2:creationId id="{AFF70278-FC97-4FAE-9384-F31FC52A888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00">
            <a:extLst>
              <a:ext uri="{FF2B5EF4-FFF2-40B4-BE49-F238E27FC236}">
                <ns2:creationId id="{D85035DD-63C2-4F5F-8C37-8361EE561CE9}"/>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Apply Variant A: an unrelated share-sale buyer.</a:t>
            </a:r>
          </a:p>
        </p:txBody>
      </p:sp>
      <p:sp>
        <p:nvSpPr>
          <p:cNvPr id="10" name="text-101">
            <a:extLst>
              <a:ext uri="{FF2B5EF4-FFF2-40B4-BE49-F238E27FC236}">
                <ns2:creationId id="{5500B438-22D3-4E43-9762-1E12E1BE3B8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02">
            <a:extLst>
              <a:ext uri="{FF2B5EF4-FFF2-40B4-BE49-F238E27FC236}">
                <ns2:creationId id="{486DC166-D799-4F59-BFC9-2D94C57E78C5}"/>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the result and record a procurement question.</a:t>
            </a:r>
          </a:p>
        </p:txBody>
      </p:sp>
      <p:sp>
        <p:nvSpPr>
          <p:cNvPr id="12" name="text-103">
            <a:extLst>
              <a:ext uri="{FF2B5EF4-FFF2-40B4-BE49-F238E27FC236}">
                <ns2:creationId id="{143C4468-C923-41A6-9B72-FE2992A4882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94">
            <a:extLst>
              <a:ext uri="{FF2B5EF4-FFF2-40B4-BE49-F238E27FC236}">
                <ns2:creationId id="{8EDB9F2D-EC2E-43D9-BCA0-DD1D1CBD1D5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16</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90870261"/>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104">
            <a:extLst>
              <a:ext uri="{FF2B5EF4-FFF2-40B4-BE49-F238E27FC236}">
                <ns2:creationId id="{851F1D8F-D566-4E6A-8356-F880F10CDAD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05">
            <a:extLst>
              <a:ext uri="{FF2B5EF4-FFF2-40B4-BE49-F238E27FC236}">
                <ns2:creationId id="{DAC39FE5-1F27-44FD-BDF7-5FA50484E8A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107">
            <a:extLst>
              <a:ext uri="{FF2B5EF4-FFF2-40B4-BE49-F238E27FC236}">
                <ns2:creationId id="{4A650C6E-A59B-4BFA-9BC9-F80CB95FD8C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08">
            <a:extLst>
              <a:ext uri="{FF2B5EF4-FFF2-40B4-BE49-F238E27FC236}">
                <ns2:creationId id="{30E22B42-0ABC-4086-9B5A-956A56DDD7D2}"/>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1925" b="0">
                <a:solidFill>
                  <a:srgbClr val="1C3144"/>
                </a:solidFill>
                <a:latin typeface="Calibri"/>
                <a:ea typeface="Calibri"/>
                <a:cs typeface="Calibri"/>
              </a:rPr>
              <a:t>For Variant A, the wholly-owned-group exception does not apply and the Key Terms change to Section 12.6 requires Victoria’s prior written consent. A useful brief specifies sources, task, output, gaps and review. Data terms require account-specific inspection.</a:t>
            </a:r>
          </a:p>
        </p:txBody>
      </p:sp>
      <p:sp>
        <p:nvSpPr>
          <p:cNvPr id="6" name="text-109">
            <a:extLst>
              <a:ext uri="{FF2B5EF4-FFF2-40B4-BE49-F238E27FC236}">
                <ns2:creationId id="{A31D1B75-CBBA-4714-B646-608C8EC5AE9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0">
            <a:extLst>
              <a:ext uri="{FF2B5EF4-FFF2-40B4-BE49-F238E27FC236}">
                <ns2:creationId id="{2C5E1CFA-76A4-4D6B-9527-4DB6EE636FA8}"/>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tiny class comparison does not rank providers or authorise use of a real client matter.</a:t>
            </a:r>
          </a:p>
        </p:txBody>
      </p:sp>
      <p:sp>
        <p:nvSpPr>
          <p:cNvPr id="3" name="text-106">
            <a:extLst>
              <a:ext uri="{FF2B5EF4-FFF2-40B4-BE49-F238E27FC236}">
                <ns2:creationId id="{D33CC09D-C29B-47B0-ADD8-B2BA6796E41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17</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759680802"/>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11">
            <a:extLst>
              <a:ext uri="{FF2B5EF4-FFF2-40B4-BE49-F238E27FC236}">
                <ns2:creationId id="{8E7B3F41-BC2B-4E86-B0B6-1351497B604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12">
            <a:extLst>
              <a:ext uri="{FF2B5EF4-FFF2-40B4-BE49-F238E27FC236}">
                <ns2:creationId id="{5F1EC9B3-23D6-4819-8031-8B8A1968DF7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14">
            <a:extLst>
              <a:ext uri="{FF2B5EF4-FFF2-40B4-BE49-F238E27FC236}">
                <ns2:creationId id="{17E31C82-19EA-4BEF-8314-D361BB9191E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5">
            <a:extLst>
              <a:ext uri="{FF2B5EF4-FFF2-40B4-BE49-F238E27FC236}">
                <ns2:creationId id="{08A4E479-B4BE-4C44-8617-1916E70BD2A5}"/>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Evaluate one available tool on a permitted task before selecting a subscription or integration.</a:t>
            </a:r>
          </a:p>
        </p:txBody>
      </p:sp>
      <p:sp>
        <p:nvSpPr>
          <p:cNvPr id="6" name="text-116">
            <a:extLst>
              <a:ext uri="{FF2B5EF4-FFF2-40B4-BE49-F238E27FC236}">
                <ns2:creationId id="{E5BEF004-F366-4078-8777-963C345AA7CF}"/>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13">
            <a:extLst>
              <a:ext uri="{FF2B5EF4-FFF2-40B4-BE49-F238E27FC236}">
                <ns2:creationId id="{F215058B-3223-4859-8026-C61B71C98E1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18</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715020406"/>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17">
            <a:extLst>
              <a:ext uri="{FF2B5EF4-FFF2-40B4-BE49-F238E27FC236}">
                <ns2:creationId id="{A6F4DCB7-9A33-4C0E-A100-ACF40201070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18">
            <a:extLst>
              <a:ext uri="{FF2B5EF4-FFF2-40B4-BE49-F238E27FC236}">
                <ns2:creationId id="{3EE91B93-C047-463B-850A-951731B9674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20">
            <a:extLst>
              <a:ext uri="{FF2B5EF4-FFF2-40B4-BE49-F238E27FC236}">
                <ns2:creationId id="{3C894DFA-9056-4ADF-B86B-2689A7A7980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21">
            <a:extLst>
              <a:ext uri="{FF2B5EF4-FFF2-40B4-BE49-F238E27FC236}">
                <ns2:creationId id="{486A2A79-D5D3-4E4D-BF1B-CB8965122491}"/>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An unrelated buyer acquires control of Equator. Does the group exception in the Key Terms apply?</a:t>
            </a:r>
          </a:p>
        </p:txBody>
      </p:sp>
      <p:sp>
        <p:nvSpPr>
          <p:cNvPr id="6" name="text-122">
            <a:extLst>
              <a:ext uri="{FF2B5EF4-FFF2-40B4-BE49-F238E27FC236}">
                <ns2:creationId id="{1474AEA8-8F0B-4569-86BD-0973587887BE}"/>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23">
            <a:extLst>
              <a:ext uri="{FF2B5EF4-FFF2-40B4-BE49-F238E27FC236}">
                <ns2:creationId id="{F40CFD04-29F2-473C-A538-38683B702D50}"/>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account is paid. May the firm upload any matter?</a:t>
            </a:r>
          </a:p>
        </p:txBody>
      </p:sp>
      <p:sp>
        <p:nvSpPr>
          <p:cNvPr id="8" name="text-124">
            <a:extLst>
              <a:ext uri="{FF2B5EF4-FFF2-40B4-BE49-F238E27FC236}">
                <ns2:creationId id="{6EBEA655-E861-417D-A020-D885C78C217F}"/>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25">
            <a:extLst>
              <a:ext uri="{FF2B5EF4-FFF2-40B4-BE49-F238E27FC236}">
                <ns2:creationId id="{77CA13C8-A5B5-49E0-845C-3A0BD5FAEE84}"/>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prompt requests a citation. What makes it useful?</a:t>
            </a:r>
          </a:p>
        </p:txBody>
      </p:sp>
      <p:sp>
        <p:nvSpPr>
          <p:cNvPr id="3" name="text-119">
            <a:extLst>
              <a:ext uri="{FF2B5EF4-FFF2-40B4-BE49-F238E27FC236}">
                <ns2:creationId id="{82B25B19-1692-4BEA-B4D1-54551F8D494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19</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944626681"/>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Legal document review in the market">
    <p:bg>
      <p:bgPr>
        <a:solidFill>
          <a:srgbClr val="FFFFFF"/>
        </a:solidFill>
      </p:bgPr>
    </p:bg>
    <p:spTree>
      <p:nvGrpSpPr>
        <p:cNvPr id="1" name=""/>
        <p:cNvGrpSpPr/>
        <p:nvPr/>
      </p:nvGrpSpPr>
      <p:grpSpPr>
        <a:xfrm/>
      </p:grpSpPr>
      <p:sp>
        <p:nvSpPr>
          <p:cNvPr id="10" name="text-126">
            <a:extLst>
              <a:ext uri="{FF2B5EF4-FFF2-40B4-BE49-F238E27FC236}">
                <ns2:creationId id="{ED4B0614-5840-42AB-977A-B36A22BF352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27">
            <a:extLst>
              <a:ext uri="{FF2B5EF4-FFF2-40B4-BE49-F238E27FC236}">
                <ns2:creationId id="{1D3AB8C5-4671-47B4-85C5-16044FCFBD5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Legal document review in the market</a:t>
            </a:r>
          </a:p>
        </p:txBody>
      </p:sp>
      <p:sp>
        <p:nvSpPr>
          <p:cNvPr id="4" name="text-129">
            <a:extLst>
              <a:ext uri="{FF2B5EF4-FFF2-40B4-BE49-F238E27FC236}">
                <ns2:creationId id="{1F0B124B-8DA1-4759-A0E1-BDA279CAD6B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0">
            <a:extLst>
              <a:ext uri="{FF2B5EF4-FFF2-40B4-BE49-F238E27FC236}">
                <ns2:creationId id="{EE8371CA-EF86-49FB-A617-AEDCAA98D664}"/>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Harvey combines document review, drafting and workflows.</a:t>
            </a:r>
          </a:p>
        </p:txBody>
      </p:sp>
      <p:sp>
        <p:nvSpPr>
          <p:cNvPr id="6" name="text-131">
            <a:extLst>
              <a:ext uri="{FF2B5EF4-FFF2-40B4-BE49-F238E27FC236}">
                <ns2:creationId id="{7DC65EBC-3F95-4A43-BDB1-F79A2C3538B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32">
            <a:extLst>
              <a:ext uri="{FF2B5EF4-FFF2-40B4-BE49-F238E27FC236}">
                <ns2:creationId id="{D3F0FEC1-E0BF-4D82-BCBA-1F244FF7A82F}"/>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NetDocuments offers source-linked comparison across document collections.</a:t>
            </a:r>
          </a:p>
        </p:txBody>
      </p:sp>
      <p:sp>
        <p:nvSpPr>
          <p:cNvPr id="8" name="text-133">
            <a:extLst>
              <a:ext uri="{FF2B5EF4-FFF2-40B4-BE49-F238E27FC236}">
                <ns2:creationId id="{2BB2D3A1-D23D-4EB9-B13A-AFC13D2FE85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34">
            <a:extLst>
              <a:ext uri="{FF2B5EF4-FFF2-40B4-BE49-F238E27FC236}">
                <ns2:creationId id="{9FA12313-8261-4F3E-A8C1-CBAB6C66562A}"/>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We would check access, evidence quality and fit to the firm.</a:t>
            </a:r>
          </a:p>
        </p:txBody>
      </p:sp>
      <p:sp>
        <p:nvSpPr>
          <p:cNvPr id="3" name="text-128">
            <a:extLst>
              <a:ext uri="{FF2B5EF4-FFF2-40B4-BE49-F238E27FC236}">
                <ns2:creationId id="{C6D439C3-5D0B-4516-9D3C-B29624CB82D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20   OPTIONAL EXPLORATION</a:t>
            </a:r>
          </a:p>
        </p:txBody>
      </p:sp>
      <p:pic xmlns:r="http://schemas.openxmlformats.org/officeDocument/2006/relationships">
        <p:nvPicPr>
          <p:cNvPr id="11" name="illustration-magnifier" descr="Illustration: a magnifying glass over one line of a contrac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54219309"/>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Knowledge search in the firm">
    <p:bg>
      <p:bgPr>
        <a:solidFill>
          <a:srgbClr val="FFFFFF"/>
        </a:solidFill>
      </p:bgPr>
    </p:bg>
    <p:spTree>
      <p:nvGrpSpPr>
        <p:cNvPr id="1" name=""/>
        <p:cNvGrpSpPr/>
        <p:nvPr/>
      </p:nvGrpSpPr>
      <p:grpSpPr>
        <a:xfrm/>
      </p:grpSpPr>
      <p:sp>
        <p:nvSpPr>
          <p:cNvPr id="10" name="text-135">
            <a:extLst>
              <a:ext uri="{FF2B5EF4-FFF2-40B4-BE49-F238E27FC236}">
                <ns2:creationId id="{97FF9920-9324-4DDF-8023-874A4AE56D1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36">
            <a:extLst>
              <a:ext uri="{FF2B5EF4-FFF2-40B4-BE49-F238E27FC236}">
                <ns2:creationId id="{14262052-1AF5-4E41-A9FC-0FBF48DAD4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Knowledge search in the firm</a:t>
            </a:r>
          </a:p>
        </p:txBody>
      </p:sp>
      <p:sp>
        <p:nvSpPr>
          <p:cNvPr id="4" name="text-138">
            <a:extLst>
              <a:ext uri="{FF2B5EF4-FFF2-40B4-BE49-F238E27FC236}">
                <ns2:creationId id="{2E7BF0C7-468E-462B-8068-875AE22C745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9">
            <a:extLst>
              <a:ext uri="{FF2B5EF4-FFF2-40B4-BE49-F238E27FC236}">
                <ns2:creationId id="{68E7D4B5-7826-467F-BC15-84D798B4FC29}"/>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Find a precedent the team may already hold.</a:t>
            </a:r>
          </a:p>
        </p:txBody>
      </p:sp>
      <p:sp>
        <p:nvSpPr>
          <p:cNvPr id="6" name="text-140">
            <a:extLst>
              <a:ext uri="{FF2B5EF4-FFF2-40B4-BE49-F238E27FC236}">
                <ns2:creationId id="{71DDDC81-4599-4F20-B674-97B1809CCAE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41">
            <a:extLst>
              <a:ext uri="{FF2B5EF4-FFF2-40B4-BE49-F238E27FC236}">
                <ns2:creationId id="{73F37688-65DF-4530-81F9-BFD56C255DD3}"/>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clauses across authorised agreements.</a:t>
            </a:r>
          </a:p>
        </p:txBody>
      </p:sp>
      <p:sp>
        <p:nvSpPr>
          <p:cNvPr id="8" name="text-142">
            <a:extLst>
              <a:ext uri="{FF2B5EF4-FFF2-40B4-BE49-F238E27FC236}">
                <ns2:creationId id="{4E474CDE-0491-4845-BBC5-AB3DA428445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43">
            <a:extLst>
              <a:ext uri="{FF2B5EF4-FFF2-40B4-BE49-F238E27FC236}">
                <ns2:creationId id="{449EE0DF-E428-47EA-A318-6D9FB701A095}"/>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Open the original passage before relying on the answer.</a:t>
            </a:r>
          </a:p>
        </p:txBody>
      </p:sp>
      <p:sp>
        <p:nvSpPr>
          <p:cNvPr id="3" name="text-137">
            <a:extLst>
              <a:ext uri="{FF2B5EF4-FFF2-40B4-BE49-F238E27FC236}">
                <ns2:creationId id="{6868EC79-512D-471C-BEB4-39CDEA12EB2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21   OPTIONAL EXPLORATION</a:t>
            </a:r>
          </a:p>
        </p:txBody>
      </p:sp>
      <p:pic xmlns:r="http://schemas.openxmlformats.org/officeDocument/2006/relationships">
        <p:nvPicPr>
          <p:cNvPr id="11" name="illustration-database" descr="Illustration: a collection of records and a matter fold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27576531"/>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Investment research as a transfer example">
    <p:bg>
      <p:bgPr>
        <a:solidFill>
          <a:srgbClr val="FFFFFF"/>
        </a:solidFill>
      </p:bgPr>
    </p:bg>
    <p:spTree>
      <p:nvGrpSpPr>
        <p:cNvPr id="1" name=""/>
        <p:cNvGrpSpPr/>
        <p:nvPr/>
      </p:nvGrpSpPr>
      <p:grpSpPr>
        <a:xfrm/>
      </p:grpSpPr>
      <p:sp>
        <p:nvSpPr>
          <p:cNvPr id="10" name="text-144">
            <a:extLst>
              <a:ext uri="{FF2B5EF4-FFF2-40B4-BE49-F238E27FC236}">
                <ns2:creationId id="{D6115B7B-7FBC-4539-B596-F476F5DB297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45">
            <a:extLst>
              <a:ext uri="{FF2B5EF4-FFF2-40B4-BE49-F238E27FC236}">
                <ns2:creationId id="{851A8C9E-22CE-4469-9865-3B3EF2435D9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Investment research as a transfer example</a:t>
            </a:r>
          </a:p>
        </p:txBody>
      </p:sp>
      <p:sp>
        <p:nvSpPr>
          <p:cNvPr id="4" name="text-147">
            <a:extLst>
              <a:ext uri="{FF2B5EF4-FFF2-40B4-BE49-F238E27FC236}">
                <ns2:creationId id="{9D21E514-07BA-4921-90B4-7D0DB3BF2A3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48">
            <a:extLst>
              <a:ext uri="{FF2B5EF4-FFF2-40B4-BE49-F238E27FC236}">
                <ns2:creationId id="{E9ADC1BD-7824-42EC-B19A-03383C521235}"/>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AlphaSense offers multi-step research over its available content.</a:t>
            </a:r>
          </a:p>
        </p:txBody>
      </p:sp>
      <p:sp>
        <p:nvSpPr>
          <p:cNvPr id="6" name="text-149">
            <a:extLst>
              <a:ext uri="{FF2B5EF4-FFF2-40B4-BE49-F238E27FC236}">
                <ns2:creationId id="{6B9DF0D1-BE6C-4359-8649-2E9E26A8A7F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50">
            <a:extLst>
              <a:ext uri="{FF2B5EF4-FFF2-40B4-BE49-F238E27FC236}">
                <ns2:creationId id="{9E2854F2-FD1F-45D6-BE1E-EF88EB05C97D}"/>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partner could investigate a sector or compare investment claims.</a:t>
            </a:r>
          </a:p>
        </p:txBody>
      </p:sp>
      <p:sp>
        <p:nvSpPr>
          <p:cNvPr id="8" name="text-151">
            <a:extLst>
              <a:ext uri="{FF2B5EF4-FFF2-40B4-BE49-F238E27FC236}">
                <ns2:creationId id="{3EE62240-78B5-48EB-B60E-434DF8E81DE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52">
            <a:extLst>
              <a:ext uri="{FF2B5EF4-FFF2-40B4-BE49-F238E27FC236}">
                <ns2:creationId id="{C880E51B-B4B0-4AAD-AF1F-33E29727526A}"/>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 access and relevance determine what the report can establish.</a:t>
            </a:r>
          </a:p>
        </p:txBody>
      </p:sp>
      <p:sp>
        <p:nvSpPr>
          <p:cNvPr id="3" name="text-146">
            <a:extLst>
              <a:ext uri="{FF2B5EF4-FFF2-40B4-BE49-F238E27FC236}">
                <ns2:creationId id="{B11B7103-B3F1-4130-9766-A95100BCD3B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22   OPTIONAL EXPLORATION</a:t>
            </a:r>
          </a:p>
        </p:txBody>
      </p:sp>
      <p:pic xmlns:r="http://schemas.openxmlformats.org/officeDocument/2006/relationships">
        <p:nvPicPr>
          <p:cNvPr id="11" name="illustration-magnifier" descr="Illustration: a magnifying glass over one line of a contrac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03597231"/>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djacent use cases to assess">
    <p:bg>
      <p:bgPr>
        <a:solidFill>
          <a:srgbClr val="FFFFFF"/>
        </a:solidFill>
      </p:bgPr>
    </p:bg>
    <p:spTree>
      <p:nvGrpSpPr>
        <p:cNvPr id="1" name=""/>
        <p:cNvGrpSpPr/>
        <p:nvPr/>
      </p:nvGrpSpPr>
      <p:grpSpPr>
        <a:xfrm/>
      </p:grpSpPr>
      <p:sp>
        <p:nvSpPr>
          <p:cNvPr id="5" name="text-153">
            <a:extLst>
              <a:ext uri="{FF2B5EF4-FFF2-40B4-BE49-F238E27FC236}">
                <ns2:creationId id="{3059C51C-F0BC-40B4-863C-BE1DF0FEB2D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54">
            <a:extLst>
              <a:ext uri="{FF2B5EF4-FFF2-40B4-BE49-F238E27FC236}">
                <ns2:creationId id="{1D1CB03A-E912-4735-9EDC-E0E0AA61732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Adjacent use cases to assess</a:t>
            </a:r>
          </a:p>
        </p:txBody>
      </p:sp>
      <p:graphicFrame>
        <p:nvGraphicFramePr>
          <p:cNvPr id="4" name="">
            <a:extLst>
              <a:ext uri="{FF2B5EF4-FFF2-40B4-BE49-F238E27FC236}">
                <ns2:creationId id="{AF5CFA45-CF64-46DE-9C6F-A00170785ABF}"/>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Area</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Proposed use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Decision boundary</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Fintech</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Regulatory-change evidence brief</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Qualified interpretation and source dates</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Telco</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Complaint themes and contract obligations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Access and individual treatment</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Investments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Compare claims with source records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Diligence and investment decision</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155">
            <a:extLst>
              <a:ext uri="{FF2B5EF4-FFF2-40B4-BE49-F238E27FC236}">
                <ns2:creationId id="{0A2F8617-A43C-4AD4-AE06-51A7BDE9C31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23   OPTIONAL EXPLORATION</a:t>
            </a:r>
          </a:p>
        </p:txBody>
      </p:sp>
    </p:spTree>
    <p:extLst>
      <p:ext uri="{BB962C8B-B14F-4D97-AF65-F5344CB8AC3E}">
        <ns3:creationId val="1587756564"/>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Examples and output structure">
    <p:bg>
      <p:bgPr>
        <a:solidFill>
          <a:srgbClr val="FFFFFF"/>
        </a:solidFill>
      </p:bgPr>
    </p:bg>
    <p:spTree>
      <p:nvGrpSpPr>
        <p:cNvPr id="1" name=""/>
        <p:cNvGrpSpPr/>
        <p:nvPr/>
      </p:nvGrpSpPr>
      <p:grpSpPr>
        <a:xfrm/>
      </p:grpSpPr>
      <p:sp>
        <p:nvSpPr>
          <p:cNvPr id="10" name="text-156">
            <a:extLst>
              <a:ext uri="{FF2B5EF4-FFF2-40B4-BE49-F238E27FC236}">
                <ns2:creationId id="{749391AB-8D35-47FC-A595-CF007251358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57">
            <a:extLst>
              <a:ext uri="{FF2B5EF4-FFF2-40B4-BE49-F238E27FC236}">
                <ns2:creationId id="{5365D173-FCB4-4B57-AC7C-41B7821639F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Examples and output structure</a:t>
            </a:r>
          </a:p>
        </p:txBody>
      </p:sp>
      <p:sp>
        <p:nvSpPr>
          <p:cNvPr id="4" name="text-159">
            <a:extLst>
              <a:ext uri="{FF2B5EF4-FFF2-40B4-BE49-F238E27FC236}">
                <ns2:creationId id="{AC0898FF-D535-4FA4-8381-FF79F2D35C3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60">
            <a:extLst>
              <a:ext uri="{FF2B5EF4-FFF2-40B4-BE49-F238E27FC236}">
                <ns2:creationId id="{CBD4AB18-E400-4D31-9CF8-E5B9A6741127}"/>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completed example can clarify what we mean.</a:t>
            </a:r>
          </a:p>
        </p:txBody>
      </p:sp>
      <p:sp>
        <p:nvSpPr>
          <p:cNvPr id="6" name="text-161">
            <a:extLst>
              <a:ext uri="{FF2B5EF4-FFF2-40B4-BE49-F238E27FC236}">
                <ns2:creationId id="{6623E630-1C88-4461-897A-2BC8542519CC}"/>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62">
            <a:extLst>
              <a:ext uri="{FF2B5EF4-FFF2-40B4-BE49-F238E27FC236}">
                <ns2:creationId id="{53C56FD1-54B2-4780-A294-B6F83E3FD3C7}"/>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table can make omissions visible.</a:t>
            </a:r>
          </a:p>
        </p:txBody>
      </p:sp>
      <p:sp>
        <p:nvSpPr>
          <p:cNvPr id="8" name="text-163">
            <a:extLst>
              <a:ext uri="{FF2B5EF4-FFF2-40B4-BE49-F238E27FC236}">
                <ns2:creationId id="{BF7BDDDE-2CB7-4656-9D78-977CA7754C7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64">
            <a:extLst>
              <a:ext uri="{FF2B5EF4-FFF2-40B4-BE49-F238E27FC236}">
                <ns2:creationId id="{0E04A360-EB5B-4BA0-84B7-C55A6BCF4862}"/>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schema can constrain structure while leaving factual checks necessary.</a:t>
            </a:r>
          </a:p>
        </p:txBody>
      </p:sp>
      <p:sp>
        <p:nvSpPr>
          <p:cNvPr id="3" name="text-158">
            <a:extLst>
              <a:ext uri="{FF2B5EF4-FFF2-40B4-BE49-F238E27FC236}">
                <ns2:creationId id="{8730968B-F87C-4913-8DE0-D4109334F35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24   OPTIONAL EXPLORATION</a:t>
            </a:r>
          </a:p>
        </p:txBody>
      </p:sp>
      <p:pic xmlns:r="http://schemas.openxmlformats.org/officeDocument/2006/relationships">
        <p:nvPicPr>
          <p:cNvPr id="11" name="illustration-tree" descr="Illustration: a decision tree with three branche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97278116"/>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2026-10-26T10:01:45.7740000Z</dcterms:created>
  <dcterms:modified xsi:type="dcterms:W3CDTF">2026-10-26T10:01:45.7740000Z</dcterms:modified>
</coreProperties>
</file>