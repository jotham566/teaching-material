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2aec323bdb34616" Type="http://schemas.openxmlformats.org/package/2006/relationships/metadata/core-properties" Target="docProps/core.xml"/><Relationship Id="R47ff23f7e84543c4" Type="http://schemas.openxmlformats.org/officeDocument/2006/relationships/extended-properties" Target="docProps/app.xml"/><Relationship Id="R4dab488c89c84308"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MasterIdLst>
    <p:sldMasterId id="2147483648" r:id="R6817f101d6f5411f"/>
  </p:sldMasterIdLst>
  <p:notesMasterIdLst>
    <p:notesMasterId r:id="Reb5506c44a8041f1"/>
  </p:notesMasterIdLst>
  <p:sldIdLst>
    <p:sldId id="256" r:id="R22bcf343e97f42f6"/>
    <p:sldId id="257" r:id="R4af27f37f0a44b38"/>
    <p:sldId id="258" r:id="R3efcbf38ebc34df9"/>
    <p:sldId id="259" r:id="R45428250c139439d"/>
    <p:sldId id="260" r:id="Rf12312bd453548d3"/>
    <p:sldId id="261" r:id="R5f185ed2b69545eb"/>
    <p:sldId id="262" r:id="R2ef7f386c25049e4"/>
    <p:sldId id="263" r:id="R4d6267d57bbb436a"/>
    <p:sldId id="264" r:id="R363ae83dfe9d4d11"/>
    <p:sldId id="265" r:id="Reb136a52effe4b0c"/>
    <p:sldId id="266" r:id="R5179aebf51ee4721"/>
    <p:sldId id="267" r:id="Raeea41e91ff94530"/>
    <p:sldId id="268" r:id="R095d80438e7c4bf2"/>
    <p:sldId id="269" r:id="R753e8a50d30e41a9"/>
    <p:sldId id="270" r:id="R50ee304c2fb84166"/>
    <p:sldId id="271" r:id="R7b8ce9a2e40f4fab"/>
    <p:sldId id="272" r:id="Rb00d49283e704c9a"/>
    <p:sldId id="273" r:id="Rb4651fd5d981404e"/>
    <p:sldId id="274" r:id="R7714d196372f46a4"/>
    <p:sldId id="275" r:id="Rd45edbdd624a45c9"/>
    <p:sldId id="276" r:id="R146288212a0e49af"/>
    <p:sldId id="277" r:id="R3f567d13b7754e27"/>
    <p:sldId id="278" r:id="Rf18f604d3f824a6f"/>
    <p:sldId id="279" r:id="R9ecbe594cbfc4c05"/>
  </p:sldIdLst>
  <p:sldSz cx="12192000" cy="6858000"/>
  <p:notesSz cx="6858000" cy="9144000"/>
  <p:custShowLst>
    <p:custShow name="Core teaching" id="1">
      <p:sldLst>
        <p:sld r:id="R22bcf343e97f42f6"/>
        <p:sld r:id="R4af27f37f0a44b38"/>
        <p:sld r:id="R3efcbf38ebc34df9"/>
        <p:sld r:id="R45428250c139439d"/>
        <p:sld r:id="Rf12312bd453548d3"/>
        <p:sld r:id="R5f185ed2b69545eb"/>
        <p:sld r:id="R2ef7f386c25049e4"/>
        <p:sld r:id="R4d6267d57bbb436a"/>
        <p:sld r:id="R363ae83dfe9d4d11"/>
        <p:sld r:id="Reb136a52effe4b0c"/>
        <p:sld r:id="R5179aebf51ee4721"/>
        <p:sld r:id="Raeea41e91ff94530"/>
        <p:sld r:id="R095d80438e7c4bf2"/>
        <p:sld r:id="R753e8a50d30e41a9"/>
        <p:sld r:id="R50ee304c2fb84166"/>
        <p:sld r:id="R7b8ce9a2e40f4fab"/>
        <p:sld r:id="Rb00d49283e704c9a"/>
        <p:sld r:id="Rb4651fd5d981404e"/>
        <p:sld r:id="R7714d196372f46a4"/>
        <p:sld r:id="Rd45edbdd624a45c9"/>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95d80438e7c4bf2" Type="http://schemas.openxmlformats.org/officeDocument/2006/relationships/slide" Target="slides/slide13.xml"/><Relationship Id="R146288212a0e49af" Type="http://schemas.openxmlformats.org/officeDocument/2006/relationships/slide" Target="slides/slide21.xml"/><Relationship Id="R22bcf343e97f42f6" Type="http://schemas.openxmlformats.org/officeDocument/2006/relationships/slide" Target="slides/slide1.xml"/><Relationship Id="R2ef7f386c25049e4" Type="http://schemas.openxmlformats.org/officeDocument/2006/relationships/slide" Target="slides/slide7.xml"/><Relationship Id="R363ae83dfe9d4d11" Type="http://schemas.openxmlformats.org/officeDocument/2006/relationships/slide" Target="slides/slide9.xml"/><Relationship Id="R3efcbf38ebc34df9" Type="http://schemas.openxmlformats.org/officeDocument/2006/relationships/slide" Target="slides/slide3.xml"/><Relationship Id="R3f567d13b7754e27" Type="http://schemas.openxmlformats.org/officeDocument/2006/relationships/slide" Target="slides/slide22.xml"/><Relationship Id="R4275fddcd5a147c0" Type="http://schemas.openxmlformats.org/officeDocument/2006/relationships/theme" Target="theme/theme1.xml"/><Relationship Id="R45428250c139439d" Type="http://schemas.openxmlformats.org/officeDocument/2006/relationships/slide" Target="slides/slide4.xml"/><Relationship Id="R4af27f37f0a44b38" Type="http://schemas.openxmlformats.org/officeDocument/2006/relationships/slide" Target="slides/slide2.xml"/><Relationship Id="R4d6267d57bbb436a" Type="http://schemas.openxmlformats.org/officeDocument/2006/relationships/slide" Target="slides/slide8.xml"/><Relationship Id="R50ee304c2fb84166" Type="http://schemas.openxmlformats.org/officeDocument/2006/relationships/slide" Target="slides/slide15.xml"/><Relationship Id="R5179aebf51ee4721" Type="http://schemas.openxmlformats.org/officeDocument/2006/relationships/slide" Target="slides/slide11.xml"/><Relationship Id="R5a4bf4bf24aa46b1" Type="http://schemas.openxmlformats.org/officeDocument/2006/relationships/presProps" Target="presProps.xml"/><Relationship Id="R5f185ed2b69545eb" Type="http://schemas.openxmlformats.org/officeDocument/2006/relationships/slide" Target="slides/slide6.xml"/><Relationship Id="R6817f101d6f5411f" Type="http://schemas.openxmlformats.org/officeDocument/2006/relationships/slideMaster" Target="slideMasters/slideMaster1.xml"/><Relationship Id="R753e8a50d30e41a9" Type="http://schemas.openxmlformats.org/officeDocument/2006/relationships/slide" Target="slides/slide14.xml"/><Relationship Id="R7714d196372f46a4" Type="http://schemas.openxmlformats.org/officeDocument/2006/relationships/slide" Target="slides/slide19.xml"/><Relationship Id="R7b8ce9a2e40f4fab" Type="http://schemas.openxmlformats.org/officeDocument/2006/relationships/slide" Target="slides/slide16.xml"/><Relationship Id="R8cb97613462e4b1d" Type="http://schemas.openxmlformats.org/officeDocument/2006/relationships/tableStyles" Target="tableStyles.xml"/><Relationship Id="R9ecbe594cbfc4c05" Type="http://schemas.openxmlformats.org/officeDocument/2006/relationships/slide" Target="slides/slide24.xml"/><Relationship Id="Raeea41e91ff94530" Type="http://schemas.openxmlformats.org/officeDocument/2006/relationships/slide" Target="slides/slide12.xml"/><Relationship Id="Rb00d49283e704c9a" Type="http://schemas.openxmlformats.org/officeDocument/2006/relationships/slide" Target="slides/slide17.xml"/><Relationship Id="Rb4651fd5d981404e" Type="http://schemas.openxmlformats.org/officeDocument/2006/relationships/slide" Target="slides/slide18.xml"/><Relationship Id="Rd45edbdd624a45c9" Type="http://schemas.openxmlformats.org/officeDocument/2006/relationships/slide" Target="slides/slide20.xml"/><Relationship Id="Reb136a52effe4b0c" Type="http://schemas.openxmlformats.org/officeDocument/2006/relationships/slide" Target="slides/slide10.xml"/><Relationship Id="Reb5506c44a8041f1" Type="http://schemas.openxmlformats.org/officeDocument/2006/relationships/notesMaster" Target="notesMasters/notesMaster1.xml"/><Relationship Id="Rf12312bd453548d3" Type="http://schemas.openxmlformats.org/officeDocument/2006/relationships/slide" Target="slides/slide5.xml"/><Relationship Id="Rf18f604d3f824a6f"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4a3eaeb5482648c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ab76fd448b24586" Type="http://schemas.openxmlformats.org/officeDocument/2006/relationships/slide" Target="../slides/slide1.xml"/><Relationship Id="Rea7cd7b1fa0c401f"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d61f2101233c443c" Type="http://schemas.openxmlformats.org/officeDocument/2006/relationships/notesMaster" Target="../notesMasters/notesMaster1.xml"/><Relationship Id="Re7ef5033b92d4bf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8b4ac778b3f4d33" Type="http://schemas.openxmlformats.org/officeDocument/2006/relationships/notesMaster" Target="../notesMasters/notesMaster1.xml"/><Relationship Id="Rbad8b1d0d3e84d0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72618a57b1074614" Type="http://schemas.openxmlformats.org/officeDocument/2006/relationships/notesMaster" Target="../notesMasters/notesMaster1.xml"/><Relationship Id="Re88c673e3b484b4d"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4a14016d83bc4f82" Type="http://schemas.openxmlformats.org/officeDocument/2006/relationships/notesMaster" Target="../notesMasters/notesMaster1.xml"/><Relationship Id="Rf0ecc2c3e66a48c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4989d35de959417a" Type="http://schemas.openxmlformats.org/officeDocument/2006/relationships/notesMaster" Target="../notesMasters/notesMaster1.xml"/><Relationship Id="Rc5fe3e4ca9bb4fd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7627f25063047dc" Type="http://schemas.openxmlformats.org/officeDocument/2006/relationships/slide" Target="../slides/slide7.xml"/><Relationship Id="Rc21aa7fcee544e08"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e538d6534191466b" Type="http://schemas.openxmlformats.org/officeDocument/2006/relationships/slide" Target="../slides/slide8.xml"/><Relationship Id="Rf9fa50eeb68f4d86"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ada6d01f4c44c6f" Type="http://schemas.openxmlformats.org/officeDocument/2006/relationships/notesMaster" Target="../notesMasters/notesMaster1.xml"/><Relationship Id="R5bb20be92bcf4b7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796445e12fb4cd4" Type="http://schemas.openxmlformats.org/officeDocument/2006/relationships/notesMaster" Target="../notesMasters/notesMaster1.xml"/><Relationship Id="R9690ebc918324e03"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67504e11103144fa" Type="http://schemas.openxmlformats.org/officeDocument/2006/relationships/slide" Target="../slides/slide11.xml"/><Relationship Id="R7a67a6df3b734d1c"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78120dd7d554cd5" Type="http://schemas.openxmlformats.org/officeDocument/2006/relationships/notesMaster" Target="../notesMasters/notesMaster1.xml"/><Relationship Id="R97562ecc705a4433"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846311e46339462c" Type="http://schemas.openxmlformats.org/officeDocument/2006/relationships/notesMaster" Target="../notesMasters/notesMaster1.xml"/><Relationship Id="Rf04bb4791de5439e"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a589153aee347ea" Type="http://schemas.openxmlformats.org/officeDocument/2006/relationships/slide" Target="../slides/slide14.xml"/><Relationship Id="Rdb9c1e1397b44a4c"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6c98fae82ff740f8" Type="http://schemas.openxmlformats.org/officeDocument/2006/relationships/notesMaster" Target="../notesMasters/notesMaster1.xml"/><Relationship Id="Rf41b0dd02ded489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6323858a28e4b8f" Type="http://schemas.openxmlformats.org/officeDocument/2006/relationships/slide" Target="../slides/slide16.xml"/><Relationship Id="R8340b827e12f458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2417738a3694ad0" Type="http://schemas.openxmlformats.org/officeDocument/2006/relationships/notesMaster" Target="../notesMasters/notesMaster1.xml"/><Relationship Id="Ra4729722f2e04896"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7322a6fa2534ca5" Type="http://schemas.openxmlformats.org/officeDocument/2006/relationships/slide" Target="../slides/slide18.xml"/><Relationship Id="Rd1bdb6a700364e5a"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4c6da52d15c40ab" Type="http://schemas.openxmlformats.org/officeDocument/2006/relationships/slide" Target="../slides/slide19.xml"/><Relationship Id="Rffccb25b040249af"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1cb179367b4c4129" Type="http://schemas.openxmlformats.org/officeDocument/2006/relationships/notesMaster" Target="../notesMasters/notesMaster1.xml"/><Relationship Id="R47bccf15feb841a3"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5179ebe6dd024a9b" Type="http://schemas.openxmlformats.org/officeDocument/2006/relationships/slide" Target="../slides/slide21.xml"/><Relationship Id="Rd3c241c8ca3e4407"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4dde7b246ef247ef" Type="http://schemas.openxmlformats.org/officeDocument/2006/relationships/slide" Target="../slides/slide22.xml"/><Relationship Id="R5ebfecbc6dde46fc"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b424aa29258445c1" Type="http://schemas.openxmlformats.org/officeDocument/2006/relationships/notesMaster" Target="../notesMasters/notesMaster1.xml"/><Relationship Id="Re4890f40039148bd"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88edaba92af7480a" Type="http://schemas.openxmlformats.org/officeDocument/2006/relationships/notesMaster" Target="../notesMasters/notesMaster1.xml"/><Relationship Id="R896b804d2bb0431c" Type="http://schemas.openxmlformats.org/officeDocument/2006/relationships/slide" Target="../slides/slide2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last working session, and it pulls the whole course together around one decision. The question for today is this. What would justify starting, revising or stopping the firm's first pilot?</a:t>
            </a:r>
          </a:p>
          <a:p xmlns:a="http://schemas.openxmlformats.org/drawingml/2006/main"/>
          <a:p xmlns:a="http://schemas.openxmlformats.org/drawingml/2006/main">
            <a:r>
              <a:t>For a legal or tax practice, that question matters because a pilot spends partner time, touches client information and puts the firm's name on the result. A good decision rests on a written record of evidence, and a hopeful impression of a demonstration can't supply that.</a:t>
            </a:r>
          </a:p>
          <a:p xmlns:a="http://schemas.openxmlformats.org/drawingml/2006/main"/>
          <a:p xmlns:a="http://schemas.openxmlformats.org/drawingml/2006/main">
            <a:r>
              <a:t>By the end of today we'll have a pilot proposal for the firm, and a record of what we would do next. I won't answer the question yet. I'll ask it again at the end of class, and we'll compare your two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start with a recall question from last session. We looked at a disclosure of restricted data. What evidence would you want to see before the process is allowed to restart? Take a moment with that, and say it in your own words.</a:t>
            </a:r>
          </a:p>
          <a:p xmlns:a="http://schemas.openxmlformats.org/drawingml/2006/main"/>
          <a:p xmlns:a="http://schemas.openxmlformats.org/drawingml/2006/main">
            <a:r>
              <a:t>Here's what I'd listen for. Containment of the disclosure. An investigation of the cause. Corrected controls. Passed tests. And a decision to restart, made by someone with the authority to make it. If you've given me two or three of those, then tell me who signs off the restart, and what they look at before signing.</a:t>
            </a:r>
          </a:p>
          <a:p xmlns:a="http://schemas.openxmlformats.org/drawingml/2006/main"/>
          <a:p xmlns:a="http://schemas.openxmlformats.org/drawingml/2006/main">
            <a:r>
              <a:t>Now look at today's question. It has the same shape as the one you just answered. Both ask what evidence permits a firm to go ahead. I'm keeping your answer from today, because it's the entry diagnostic we'll compare against at the end of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using this as a working definition for the course. It's a way of talking about the firm, and it doesn't mean every process needs AI.</a:t>
            </a:r>
          </a:p>
          <a:p xmlns:a="http://schemas.openxmlformats.org/drawingml/2006/main"/>
          <a:p xmlns:a="http://schemas.openxmlformats.org/drawingml/2006/main">
            <a:r>
              <a:t>There are three points. First, the work is designed with suitable AI capabilities in it. Second, reliable information and clear responsibilities sit under the work. Third, evidence decides whether we adopt, change or expand.</a:t>
            </a:r>
          </a:p>
          <a:p xmlns:a="http://schemas.openxmlformats.org/drawingml/2006/main"/>
          <a:p xmlns:a="http://schemas.openxmlformats.org/drawingml/2006/main">
            <a:r>
              <a:t>A short example makes it concrete. One lawyer pastes a loan agreement into a chatbot and gets an answer. A firm has approved sources, a checking step, a named owner and a record of how well it works.</a:t>
            </a:r>
          </a:p>
          <a:p xmlns:a="http://schemas.openxmlformats.org/drawingml/2006/main"/>
          <a:p xmlns:a="http://schemas.openxmlformats.org/drawingml/2006/main">
            <a:r>
              <a:t>Here's a question for you. What would separate this firm from five lawyers who each use a chatbot on their own? Sit with it for a second.</a:t>
            </a:r>
          </a:p>
          <a:p xmlns:a="http://schemas.openxmlformats.org/drawingml/2006/main"/>
          <a:p xmlns:a="http://schemas.openxmlformats.org/drawingml/2006/main">
            <a:r>
              <a:t>The firm has shared sources, repeatable steps, named responsibilities, evaluation, and someone who maintains the capability. If you only named tools, ask yourself who would look after them in six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decide anything, let's look back at the path we've walked. It has four stages, and the same fictional matter ran through all of them.</a:t>
            </a:r>
          </a:p>
          <a:p xmlns:a="http://schemas.openxmlformats.org/drawingml/2006/main"/>
          <a:p xmlns:a="http://schemas.openxmlformats.org/drawingml/2006/main">
            <a:r>
              <a:t>First comes Understand. That's the task and the model. A model is the software that produces text from a prompt.</a:t>
            </a:r>
          </a:p>
          <a:p xmlns:a="http://schemas.openxmlformats.org/drawingml/2006/main"/>
          <a:p xmlns:a="http://schemas.openxmlformats.org/drawingml/2006/main">
            <a:r>
              <a:t>Then Prepare. That's information and search. Retrieval is how the right passages reach the model, and everything later relied on it being done well.</a:t>
            </a:r>
          </a:p>
          <a:p xmlns:a="http://schemas.openxmlformats.org/drawingml/2006/main"/>
          <a:p xmlns:a="http://schemas.openxmlformats.org/drawingml/2006/main">
            <a:r>
              <a:t>Next is Apply. Here we did legal and tax work, using what the earlier stages gave us.</a:t>
            </a:r>
          </a:p>
          <a:p xmlns:a="http://schemas.openxmlformats.org/drawingml/2006/main"/>
          <a:p xmlns:a="http://schemas.openxmlformats.org/drawingml/2006/main">
            <a:r>
              <a:t>And last, Lead, where we govern and evaluate. Governance means who may do what with the system.</a:t>
            </a:r>
          </a:p>
          <a:p xmlns:a="http://schemas.openxmlformats.org/drawingml/2006/main"/>
          <a:p xmlns:a="http://schemas.openxmlformats.org/drawingml/2006/main">
            <a:r>
              <a:t>Now it's your turn. Why did we prepare the sources before we tried to build an assistant? Give that a little thought.</a:t>
            </a:r>
          </a:p>
          <a:p xmlns:a="http://schemas.openxmlformats.org/drawingml/2006/main"/>
          <a:p xmlns:a="http://schemas.openxmlformats.org/drawingml/2006/main">
            <a:r>
              <a:t>My answer is that the system can only be as good as the evidence it's given, and that evidence has to be relevant, reliable and permitted. If that feels slippery, picture what the assistant would have done with an out-of-date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table we use to compare candidate pilots, and I'll put each row to you as a question.</a:t>
            </a:r>
          </a:p>
          <a:p xmlns:a="http://schemas.openxmlformats.org/drawingml/2006/main"/>
          <a:p xmlns:a="http://schemas.openxmlformats.org/drawingml/2006/main">
            <a:r>
              <a:t>Value asks which recurring problem matters. Feasibility asks whether the sources and systems are usable. Risk asks what could fail and who is affected. Adoption asks whether staff will use it and review it. Ownership asks who maintains it.</a:t>
            </a:r>
          </a:p>
          <a:p xmlns:a="http://schemas.openxmlformats.org/drawingml/2006/main"/>
          <a:p xmlns:a="http://schemas.openxmlformats.org/drawingml/2006/main">
            <a:r>
              <a:t>Take a simple example. A precedent search for tax opinions might score high on value. If the opinions sit in scattered folders with unclear access, it scores low on feasibility. The ranking changes once we look at both.</a:t>
            </a:r>
          </a:p>
          <a:p xmlns:a="http://schemas.openxmlformats.org/drawingml/2006/main"/>
          <a:p xmlns:a="http://schemas.openxmlformats.org/drawingml/2006/main">
            <a:r>
              <a:t>Tell me what you make of this. Which single missing condition should stop a launch even if everything else looks good? Work it through before I answer.</a:t>
            </a:r>
          </a:p>
          <a:p xmlns:a="http://schemas.openxmlformats.org/drawingml/2006/main"/>
          <a:p xmlns:a="http://schemas.openxmlformats.org/drawingml/2006/main">
            <a:r>
              <a:t>Here's what I'd say. No owner. No permitted data. No way to test quality. Or a serious risk that nobody has dealt with. Any one of those is enough to stop us.</a:t>
            </a:r>
          </a:p>
          <a:p xmlns:a="http://schemas.openxmlformats.org/drawingml/2006/main"/>
          <a:p xmlns:a="http://schemas.openxmlformats.org/drawingml/2006/main">
            <a:r>
              <a:t>A common mistake is to pick the candidate that makes the best demonstration. If you catch yourself doing that, ask who would maintain it a year from 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see how one process changes. We'll take a research task and look at how it runs today and how it would run with assistance.</a:t>
            </a:r>
          </a:p>
          <a:p xmlns:a="http://schemas.openxmlformats.org/drawingml/2006/main"/>
          <a:p xmlns:a="http://schemas.openxmlformats.org/drawingml/2006/main">
            <a:r>
              <a:t>The current process goes like this. You search, find a source, read it and interpret it. Then you draft and prepare the result, and it goes to the partner for review.</a:t>
            </a:r>
          </a:p>
          <a:p xmlns:a="http://schemas.openxmlformats.org/drawingml/2006/main"/>
          <a:p xmlns:a="http://schemas.openxmlformats.org/drawingml/2006/main">
            <a:r>
              <a:t>Now the assisted version. Retrieval comes first, and it draws only from permitted sources. The model produces an AI draft, which is a first version for a person to check, and it comes with a cited finding. Then a reviewer checks and decides. Last, the approved result is recorded. The assisted design changes the preparation. Review stays, and so does accountability. Think of a research note on a tax question, where the reviewer opens each citation before approving.</a:t>
            </a:r>
          </a:p>
          <a:p xmlns:a="http://schemas.openxmlformats.org/drawingml/2006/main"/>
          <a:p xmlns:a="http://schemas.openxmlformats.org/drawingml/2006/main">
            <a:r>
              <a:t>Which responsibility stays with the partner in this design? Let's hear your answer first.</a:t>
            </a:r>
          </a:p>
          <a:p xmlns:a="http://schemas.openxmlformats.org/drawingml/2006/main"/>
          <a:p xmlns:a="http://schemas.openxmlformats.org/drawingml/2006/main">
            <a:r>
              <a:t>I'd say professional judgement, and the defined approval of advice. If you're tempted to say the partner no longer reads sources, ask who is answerable if a citation is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judge whether a pilot helps, we need to know how the work goes today. That measurement is called a baseline, and we take it before the pilot starts. Without it, we can't say whether anything improved.</a:t>
            </a:r>
          </a:p>
          <a:p xmlns:a="http://schemas.openxmlformats.org/drawingml/2006/main"/>
          <a:p xmlns:a="http://schemas.openxmlformats.org/drawingml/2006/main">
            <a:r>
              <a:t>There are four measures. The time it takes to find relevant evidence. The accuracy and completeness of the finding. The effort the partner spends reviewing and correcting. And the turnaround, cost and client experience.</a:t>
            </a:r>
          </a:p>
          <a:p xmlns:a="http://schemas.openxmlformats.org/drawingml/2006/main"/>
          <a:p xmlns:a="http://schemas.openxmlformats.org/drawingml/2006/main">
            <a:r>
              <a:t>We observe the current process first. We take a sample of real tasks, including the awkward ones, and we write down what each one took and what the partner changed. For a tax research task, that could mean timing the search, then counting the corrections the partner makes to the first draft.</a:t>
            </a:r>
          </a:p>
          <a:p xmlns:a="http://schemas.openxmlformats.org/drawingml/2006/main"/>
          <a:p xmlns:a="http://schemas.openxmlformats.org/drawingml/2006/main">
            <a:r>
              <a:t>I'd like to hear your thinking on this one. If the tool writes a draft much faster, what might that speed be hiding? Take your time with it.</a:t>
            </a:r>
          </a:p>
          <a:p xmlns:a="http://schemas.openxmlformats.org/drawingml/2006/main"/>
          <a:p xmlns:a="http://schemas.openxmlformats.org/drawingml/2006/main">
            <a:r>
              <a:t>Here's where I land. More verification, more correction, or more handling of exceptions further down the line. If you think nothing is hidden, ask where the extra time would show up in the partner's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 small example with invented figures, kept simple so we can follow the arithmetic. Read it left to right.</a:t>
            </a:r>
          </a:p>
          <a:p xmlns:a="http://schemas.openxmlformats.org/drawingml/2006/main"/>
          <a:p xmlns:a="http://schemas.openxmlformats.org/drawingml/2006/main">
            <a:r>
              <a:t>Search and preparation falls from 20 minutes to 8. Review rises from 10 minutes to 12. Under these assumptions, the total is 30 minutes now and 20 minutes with assistance.</a:t>
            </a:r>
          </a:p>
          <a:p xmlns:a="http://schemas.openxmlformats.org/drawingml/2006/main"/>
          <a:p xmlns:a="http://schemas.openxmlformats.org/drawingml/2006/main">
            <a:r>
              <a:t>Let me do the sum aloud. Ten minutes saved on each task, across forty tasks, releases four hundred minutes. That's six hours and forty minutes. Look at the review row. The assisted review is longer, because a person must now check a draft they didn't write.</a:t>
            </a:r>
          </a:p>
          <a:p xmlns:a="http://schemas.openxmlformats.org/drawingml/2006/main"/>
          <a:p xmlns:a="http://schemas.openxmlformats.org/drawingml/2006/main">
            <a:r>
              <a:t>Released minutes are capacity. They turn into cash only under conditions we'll examine when we stress this example, and again in the cost sheet.</a:t>
            </a:r>
          </a:p>
          <a:p xmlns:a="http://schemas.openxmlformats.org/drawingml/2006/main"/>
          <a:p xmlns:a="http://schemas.openxmlformats.org/drawingml/2006/main">
            <a:r>
              <a:t>Here's one for you. What should the pilot measure, so that this table gets filled with the firm's own figures? See what you come up with.</a:t>
            </a:r>
          </a:p>
          <a:p xmlns:a="http://schemas.openxmlformats.org/drawingml/2006/main"/>
          <a:p xmlns:a="http://schemas.openxmlformats.org/drawingml/2006/main">
            <a:r>
              <a:t>Total time is what I'd measure, including review, correction, support and exceptions. If you listed only search time, ask yourself where the partner's checking would go in the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stress case, and every figure is invented. Suppose assisted review rises from 12 minutes to 25. Add the 8 minutes of search and preparation, and the assisted total is 33 minutes. The manual baseline is 30. Each task now takes 3 minutes longer, and forty tasks consume 120 extra minutes.</a:t>
            </a:r>
          </a:p>
          <a:p xmlns:a="http://schemas.openxmlformats.org/drawingml/2006/main"/>
          <a:p xmlns:a="http://schemas.openxmlformats.org/drawingml/2006/main">
            <a:r>
              <a:t>Do that sum yourself as well, and then notice where the benefit sits. It sits in one number we don't control, which is how long a careful review takes. Tool charges, setup, training and support come on top of this.</a:t>
            </a:r>
          </a:p>
          <a:p xmlns:a="http://schemas.openxmlformats.org/drawingml/2006/main"/>
          <a:p xmlns:a="http://schemas.openxmlformats.org/drawingml/2006/main">
            <a:r>
              <a:t>Let me put a question to you. If the pilot data looked like this, what action would it support? Give that a little thought.</a:t>
            </a:r>
          </a:p>
          <a:p xmlns:a="http://schemas.openxmlformats.org/drawingml/2006/main"/>
          <a:p xmlns:a="http://schemas.openxmlformats.org/drawingml/2006/main">
            <a:r>
              <a:t>The way I read it, we investigate quality and scope, revise the design, or stop. What we wouldn't do is claim a productivity gain. If you're thinking of training staff to review faster, ask what faster review would do to the accuracy of the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question. How does the firm get the capability in the first place? The table gives three routes. We can buy an existing product, configure a platform, or commission custom development.</a:t>
            </a:r>
          </a:p>
          <a:p xmlns:a="http://schemas.openxmlformats.org/drawingml/2006/main"/>
          <a:p xmlns:a="http://schemas.openxmlformats.org/drawingml/2006/main">
            <a:r>
              <a:t>The right-hand column tells the partner what to assess on each route. For a product, that's task fit, sources, rights and the contract. For a platform, connections, permissions and support. For custom development, ownership, evaluation and maintenance.</a:t>
            </a:r>
          </a:p>
          <a:p xmlns:a="http://schemas.openxmlformats.org/drawingml/2006/main"/>
          <a:p xmlns:a="http://schemas.openxmlformats.org/drawingml/2006/main">
            <a:r>
              <a:t>One term to be clear on. An agent is software that takes steps toward a goal using a model, for example searching and then drafting. A custom agent isn't automatically more capable or cheaper, and it needs someone to maintain it.</a:t>
            </a:r>
          </a:p>
          <a:p xmlns:a="http://schemas.openxmlformats.org/drawingml/2006/main"/>
          <a:p xmlns:a="http://schemas.openxmlformats.org/drawingml/2006/main">
            <a:r>
              <a:t>With any vendor, the step I'd take is to give them a sample of our permitted documents and ask them to work on it.</a:t>
            </a:r>
          </a:p>
          <a:p xmlns:a="http://schemas.openxmlformats.org/drawingml/2006/main"/>
          <a:p xmlns:a="http://schemas.openxmlformats.org/drawingml/2006/main">
            <a:r>
              <a:t>So what should we request from a vendor beyond a polished demo? Have a think.</a:t>
            </a:r>
          </a:p>
          <a:p xmlns:a="http://schemas.openxmlformats.org/drawingml/2006/main"/>
          <a:p xmlns:a="http://schemas.openxmlformats.org/drawingml/2006/main">
            <a:r>
              <a:t>I'd ask for tests we can repeat, a list of the failures, the review effort, the operating cost and the arrangements for leaving. If you only thought of price, ask what happens to our work if the vendor closes.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Whichever route we choose, someone has to run the pilot. So let's name the team.</a:t>
            </a:r>
          </a:p>
          <a:p xmlns:a="http://schemas.openxmlformats.org/drawingml/2006/main"/>
          <a:p xmlns:a="http://schemas.openxmlformats.org/drawingml/2006/main">
            <a:r>
              <a:t>First, a sponsor with decision authority. Second, practice and information owners. Third, technical support and qualified reviewers. And fourth, the staff who will use the process. In a small firm, one person may hold two of these roles. What's needed is clear responsibility, and no new committee.</a:t>
            </a:r>
          </a:p>
          <a:p xmlns:a="http://schemas.openxmlformats.org/drawingml/2006/main"/>
          <a:p xmlns:a="http://schemas.openxmlformats.org/drawingml/2006/main">
            <a:r>
              <a:t>Take the tax team's precedent library. It changes when a new ruling is added. Somebody has to update it, and say when it was last checked.</a:t>
            </a:r>
          </a:p>
          <a:p xmlns:a="http://schemas.openxmlformats.org/drawingml/2006/main"/>
          <a:p xmlns:a="http://schemas.openxmlformats.org/drawingml/2006/main">
            <a:r>
              <a:t>Try this one. Who owns the freshness of the sources? No rush.</a:t>
            </a:r>
          </a:p>
          <a:p xmlns:a="http://schemas.openxmlformats.org/drawingml/2006/main"/>
          <a:p xmlns:a="http://schemas.openxmlformats.org/drawingml/2006/main">
            <a:r>
              <a:t>The named information or knowledge owner. If your first thought was the vendor or the tool, ask who in this firm can say what the current version of that source is.</a:t>
            </a:r>
          </a:p>
          <a:p xmlns:a="http://schemas.openxmlformats.org/drawingml/2006/main"/>
          <a:p xmlns:a="http://schemas.openxmlformats.org/drawingml/2006/main">
            <a:r>
              <a:t>There's one more thing to settle, which is who can say no. The sponsor can, provided the sponsor really has the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we're at the guided application block, and this part is about people. There are four points.</a:t>
            </a:r>
          </a:p>
          <a:p xmlns:a="http://schemas.openxmlformats.org/drawingml/2006/main"/>
          <a:p xmlns:a="http://schemas.openxmlformats.org/drawingml/2006/main">
            <a:r>
              <a:t>Explain which work changes and why. Demonstrate permitted uses with real workflow examples. Train reviewers as well as users. And provide an accessible route for feedback and incidents.</a:t>
            </a:r>
          </a:p>
          <a:p xmlns:a="http://schemas.openxmlformats.org/drawingml/2006/main"/>
          <a:p xmlns:a="http://schemas.openxmlformats.org/drawingml/2006/main">
            <a:r>
              <a:t>Adoption also touches supervision and junior learning. A junior who never drafts a first research note may not learn how to judge one. The firm should decide how staff keep their domain skills and learn to challenge output.</a:t>
            </a:r>
          </a:p>
          <a:p xmlns:a="http://schemas.openxmlformats.org/drawingml/2006/main"/>
          <a:p xmlns:a="http://schemas.openxmlformats.org/drawingml/2006/main">
            <a:r>
              <a:t>Here's something to chew on. What would make a lawyer avoid the approved process and go back to a private tool? Say it out loud if it helps.</a:t>
            </a:r>
          </a:p>
          <a:p xmlns:a="http://schemas.openxmlformats.org/drawingml/2006/main"/>
          <a:p xmlns:a="http://schemas.openxmlformats.org/drawingml/2006/main">
            <a:r>
              <a:t>Poor fit with the work, difficult access, unclear expectations, or no one to ask. Those are the reasons I'd expect. If you think staff are simply resistant, try this angle. What would you change so the approved route is easier than the private one?</a:t>
            </a:r>
          </a:p>
          <a:p xmlns:a="http://schemas.openxmlformats.org/drawingml/2006/main"/>
          <a:p xmlns:a="http://schemas.openxmlformats.org/drawingml/2006/main">
            <a:r>
              <a:t>And one more for you. Which of these four points would you write into your own proposal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part is about what the firm does with any time the process releases. There are three points. Decide how quality and turnaround benefit clients. Review engagement terms and communication where relevant. And consider fees, value and accountability under applicable duties.</a:t>
            </a:r>
          </a:p>
          <a:p xmlns:a="http://schemas.openxmlformats.org/drawingml/2006/main"/>
          <a:p xmlns:a="http://schemas.openxmlformats.org/drawingml/2006/main">
            <a:r>
              <a:t>I'm not giving a legal opinion on fees or disclosure. Those duties come from the firm's professional and contractual requirements, and the partners apply them.</a:t>
            </a:r>
          </a:p>
          <a:p xmlns:a="http://schemas.openxmlformats.org/drawingml/2006/main"/>
          <a:p xmlns:a="http://schemas.openxmlformats.org/drawingml/2006/main">
            <a:r>
              <a:t>Here's a practical example. If research takes less time on a matter billed at a fixed fee, the client may expect a faster turnaround. If it's billed by time, the engagement terms matter. I don't assume released time turns into revenue.</a:t>
            </a:r>
          </a:p>
          <a:p xmlns:a="http://schemas.openxmlformats.org/drawingml/2006/main"/>
          <a:p xmlns:a="http://schemas.openxmlformats.org/drawingml/2006/main">
            <a:r>
              <a:t>One for you to work out. Who decides the pricing or disclosure position for work done with AI help? Think it over.</a:t>
            </a:r>
          </a:p>
          <a:p xmlns:a="http://schemas.openxmlformats.org/drawingml/2006/main"/>
          <a:p xmlns:a="http://schemas.openxmlformats.org/drawingml/2006/main">
            <a:r>
              <a:t>This is how I see it. The responsible partners decide, using the applicable professional and contractual requirements. If you thought the technology team decides, ask whose name is on the advice and the invoice.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look at the stages by which a firm moves toward live use. There are four, and each depends on evidence.</a:t>
            </a:r>
          </a:p>
          <a:p xmlns:a="http://schemas.openxmlformats.org/drawingml/2006/main"/>
          <a:p xmlns:a="http://schemas.openxmlformats.org/drawingml/2006/main">
            <a:r>
              <a:t>First is Prepare. That means sources, scope and an owner.</a:t>
            </a:r>
          </a:p>
          <a:p xmlns:a="http://schemas.openxmlformats.org/drawingml/2006/main"/>
          <a:p xmlns:a="http://schemas.openxmlformats.org/drawingml/2006/main">
            <a:r>
              <a:t>Second is Shadow. The assisted process runs next to the manual work, and we compare the two. For example, a reviewer completes the same ten tasks by hand and with assistance, and records the differences.</a:t>
            </a:r>
          </a:p>
          <a:p xmlns:a="http://schemas.openxmlformats.org/drawingml/2006/main"/>
          <a:p xmlns:a="http://schemas.openxmlformats.org/drawingml/2006/main">
            <a:r>
              <a:t>Third is Pilot. That's bounded, authorised use.</a:t>
            </a:r>
          </a:p>
          <a:p xmlns:a="http://schemas.openxmlformats.org/drawingml/2006/main"/>
          <a:p xmlns:a="http://schemas.openxmlformats.org/drawingml/2006/main">
            <a:r>
              <a:t>Fourth is Review, where the firm decides to expand, revise or stop. These stages follow evidence and agreed dates. They don't promise deployment in thirty days. I want that clear, because the 90-day plan coming up could be read as a launch schedule.</a:t>
            </a:r>
          </a:p>
          <a:p xmlns:a="http://schemas.openxmlformats.org/drawingml/2006/main"/>
          <a:p xmlns:a="http://schemas.openxmlformats.org/drawingml/2006/main">
            <a:r>
              <a:t>A question for you. What evidence would let the firm expand after the Pilot stage? Think it over.</a:t>
            </a:r>
          </a:p>
          <a:p xmlns:a="http://schemas.openxmlformats.org/drawingml/2006/main"/>
          <a:p xmlns:a="http://schemas.openxmlformats.org/drawingml/2006/main">
            <a:r>
              <a:t>I'd look for quality results, access working as intended, operating performance and user adoption, all under the wider scope being proposed. If your answer was that the demo went well, ask what the demo left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discussion plan, and it uses relative dates because no kickoff date or firm owner has been agreed. Let me go through the rows.</a:t>
            </a:r>
          </a:p>
          <a:p xmlns:a="http://schemas.openxmlformats.org/drawingml/2006/main"/>
          <a:p xmlns:a="http://schemas.openxmlformats.org/drawingml/2006/main">
            <a:r>
              <a:t>Days 0 to 30. The practice and information owners settle scope, sources and baseline, and decide whether we're ready to shadow. Days 31 to 60. The workflow owner and reviewers run tests on quality, effort and access, and decide whether bounded use is justified. Days 61 to 90. The sponsor and risk owner weigh value and remaining risk, and choose to expand, revise or stop.</a:t>
            </a:r>
          </a:p>
          <a:p xmlns:a="http://schemas.openxmlformats.org/drawingml/2006/main"/>
          <a:p xmlns:a="http://schemas.openxmlformats.org/drawingml/2006/main">
            <a:r>
              <a:t>Day 90 is a decision point, and expansion doesn't follow automatically. Later, you and I will turn these roles into real names, and we'll agree actual dates only if you're ready.</a:t>
            </a:r>
          </a:p>
          <a:p xmlns:a="http://schemas.openxmlformats.org/drawingml/2006/main"/>
          <a:p xmlns:a="http://schemas.openxmlformats.org/drawingml/2006/main">
            <a:r>
              <a:t>One for you to work out. If data preparation takes longer than planned, what would you do? See what you come up with.</a:t>
            </a:r>
          </a:p>
          <a:p xmlns:a="http://schemas.openxmlformats.org/drawingml/2006/main"/>
          <a:p xmlns:a="http://schemas.openxmlformats.org/drawingml/2006/main">
            <a:r>
              <a:t>Let me give you mine. Revise the plan and the scope, and keep the source and access work in place. If you were tempted to start anyway, ask what the shadow stage would compare against.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we'll write together has four parts. The problem and the selected workflow. The information, system and review design. The evidence and acceptance conditions. And the ownership, resources and staged decision.</a:t>
            </a:r>
          </a:p>
          <a:p xmlns:a="http://schemas.openxmlformats.org/drawingml/2006/main"/>
          <a:p xmlns:a="http://schemas.openxmlformats.org/drawingml/2006/main">
            <a:r>
              <a:t>I have the Worked Pilot Proposal open, and I'll read it through once. Then we'll fill in our own Pilot Proposal, using decisions you've already made in this course. You should be able to explain every line without technical buzzwords.</a:t>
            </a:r>
          </a:p>
          <a:p xmlns:a="http://schemas.openxmlformats.org/drawingml/2006/main"/>
          <a:p xmlns:a="http://schemas.openxmlformats.org/drawingml/2006/main">
            <a:r>
              <a:t>One term to be clear on. An acceptance condition is a test result we agree beforehand, for example a stated share of cited findings that a reviewer confirms from the source.</a:t>
            </a:r>
          </a:p>
          <a:p xmlns:a="http://schemas.openxmlformats.org/drawingml/2006/main"/>
          <a:p xmlns:a="http://schemas.openxmlformats.org/drawingml/2006/main">
            <a:r>
              <a:t>Here's a question before we go on. What would another partner need to see in this proposal before they approve it? Take your time.</a:t>
            </a:r>
          </a:p>
          <a:p xmlns:a="http://schemas.openxmlformats.org/drawingml/2006/main"/>
          <a:p xmlns:a="http://schemas.openxmlformats.org/drawingml/2006/main">
            <a:r>
              <a:t>A bounded purpose, the resources, named responsibilities, an evidence plan and a decision about the risk. If you wanted more detail on the technology, ask which of the four parts is weakest in what we have so far.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working stretch. We have four tasks, and we'll do them together. We have about thirty-five minutes for this block, and we'll set the time between us.</a:t>
            </a:r>
          </a:p>
          <a:p xmlns:a="http://schemas.openxmlformats.org/drawingml/2006/main"/>
          <a:p xmlns:a="http://schemas.openxmlformats.org/drawingml/2006/main">
            <a:r>
              <a:t>First, we repeat the diagnostic with changed examples, and I won't show you the model answers. Second, we adapt the worked proposal to one candidate task. That covers the problem and baseline, scope and exclusions, sources and permissions, acceptance tests and owners. Third, we check cost, review effort and the stress case from the Cost and Effort Example sheet. Fourth, we assign proposed owners and relative decisions at day 30, 60 and 90.</a:t>
            </a:r>
          </a:p>
          <a:p xmlns:a="http://schemas.openxmlformats.org/drawingml/2006/main"/>
          <a:p xmlns:a="http://schemas.openxmlformats.org/drawingml/2006/main">
            <a:r>
              <a:t>I'll demonstrate the first example, and you'll do the rest. We use the files in front of you and the sheet, so no account or connected tool is needed. If a tool is unavailable, we use the labelled example and I'll mark that step as unexecuted.</a:t>
            </a:r>
          </a:p>
          <a:p xmlns:a="http://schemas.openxmlformats.org/drawingml/2006/main"/>
          <a:p xmlns:a="http://schemas.openxmlformats.org/drawingml/2006/main">
            <a:r>
              <a:t>Before we begin, give me your answer to the exit diagnostic from the start of the session, using the alternate facts. A strong answer names a bounded problem, representative evidence, acceptance tests, resources, owners and a review decision. Take your time putting it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give you the conclusion, say it in your own words. Then we'll compare.</a:t>
            </a:r>
          </a:p>
          <a:p xmlns:a="http://schemas.openxmlformats.org/drawingml/2006/main"/>
          <a:p xmlns:a="http://schemas.openxmlformats.org/drawingml/2006/main">
            <a:r>
              <a:t>The first point is that a pilot needs a bounded problem, representative evidence, acceptance tests, resources, owners and a review decision. Time released isn't automatically cash saved. And the firm should state what evidence would justify expansion or stopping.</a:t>
            </a:r>
          </a:p>
          <a:p xmlns:a="http://schemas.openxmlformats.org/drawingml/2006/main"/>
          <a:p xmlns:a="http://schemas.openxmlformats.org/drawingml/2006/main">
            <a:r>
              <a:t>Let me connect that to the cost sheet. In the main case, the monthly effect is a gain of UGX 160,000, valued at the cost of reviewer time. It becomes cash only if the freed capacity is used for paid work or avoids a real cost. In the stress case, it's a loss of UGX 360,000. These are invented numbers in a teaching example.</a:t>
            </a:r>
          </a:p>
          <a:p xmlns:a="http://schemas.openxmlformats.org/drawingml/2006/main"/>
          <a:p xmlns:a="http://schemas.openxmlformats.org/drawingml/2006/main">
            <a:r>
              <a:t>Here's one for you. Which part of today's result remains unverified? Sit with it for a second.</a:t>
            </a:r>
          </a:p>
          <a:p xmlns:a="http://schemas.openxmlformats.org/drawingml/2006/main"/>
          <a:p xmlns:a="http://schemas.openxmlformats.org/drawingml/2006/main">
            <a:r>
              <a:t>A classroom proposal isn't production approval, and the proposed roles and dates still need the firm's agreement. If you feel everything is settled, ask yourself who has agreed to these 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decision record, and I'll say plainly what it is. It's a class decision record. The firm hasn't authorised anything.</a:t>
            </a:r>
          </a:p>
          <a:p xmlns:a="http://schemas.openxmlformats.org/drawingml/2006/main"/>
          <a:p xmlns:a="http://schemas.openxmlformats.org/drawingml/2006/main">
            <a:r>
              <a:t>We write the recommendation as it appears here. Prepare one proposal for firm review, with conditions and a next decision date. We name a proposed owner and one condition, and we list the evidence still needed. For example, the condition could be that the information owner confirms the sources are permitted for this use before the shadow stage begins.</a:t>
            </a:r>
          </a:p>
          <a:p xmlns:a="http://schemas.openxmlformats.org/drawingml/2006/main"/>
          <a:p xmlns:a="http://schemas.openxmlformats.org/drawingml/2006/main">
            <a:r>
              <a:t>Let me put a question to you. What evidence would change this proposed decision? Work it through before I answer.</a:t>
            </a:r>
          </a:p>
          <a:p xmlns:a="http://schemas.openxmlformats.org/drawingml/2006/main"/>
          <a:p xmlns:a="http://schemas.openxmlformats.org/drawingml/2006/main">
            <a:r>
              <a:t>I'd put it like this. New results on quality, a change in the review effort, or a change in the permitted scope. If any of those moves, we revisit the proposal. If you named only a change in cost, try this angle. What would you do if the reviewers found a critical error in the shadow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a short check, using changed facts. There are three questions. I'll read each one, and you answer before I give you my view.</a:t>
            </a:r>
          </a:p>
          <a:p xmlns:a="http://schemas.openxmlformats.org/drawingml/2006/main"/>
          <a:p xmlns:a="http://schemas.openxmlformats.org/drawingml/2006/main">
            <a:r>
              <a:t>The first. The draft saves time but loses a critical exception. Should we expand?</a:t>
            </a:r>
          </a:p>
          <a:p xmlns:a="http://schemas.openxmlformats.org/drawingml/2006/main"/>
          <a:p xmlns:a="http://schemas.openxmlformats.org/drawingml/2006/main">
            <a:r>
              <a:t>The second. Review effort rises above the manual baseline. What changes?</a:t>
            </a:r>
          </a:p>
          <a:p xmlns:a="http://schemas.openxmlformats.org/drawingml/2006/main"/>
          <a:p xmlns:a="http://schemas.openxmlformats.org/drawingml/2006/main">
            <a:r>
              <a:t>The third. Who can approve more users, or more authority for the system to act?</a:t>
            </a:r>
          </a:p>
          <a:p xmlns:a="http://schemas.openxmlformats.org/drawingml/2006/main"/>
          <a:p xmlns:a="http://schemas.openxmlformats.org/drawingml/2006/main">
            <a:r>
              <a:t>Give each one a little thought, and say your answers aloud.</a:t>
            </a:r>
          </a:p>
          <a:p xmlns:a="http://schemas.openxmlformats.org/drawingml/2006/main"/>
          <a:p xmlns:a="http://schemas.openxmlformats.org/drawingml/2006/main">
            <a:r>
              <a:t>Here are mine. On the first, we don't expand with a critical failure. On the second, we revise the design, or stop if total effort or value is worse than the baseline. On the third, the named authorities in the firm decide scope and permissions, after further tests.</a:t>
            </a:r>
          </a:p>
          <a:p xmlns:a="http://schemas.openxmlformats.org/drawingml/2006/main"/>
          <a:p xmlns:a="http://schemas.openxmlformats.org/drawingml/2006/main">
            <a:r>
              <a:t>If your first answer was partial, ask how a missed exception would reach a client. On the second, ask which number from the cost sheet changes first. On the third, ask who in the firm holds that authority today. Afterwards, we'll compare your answers with the entry diagnostic.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question you may have is why a good personal experiment isn't yet a firm capability.</a:t>
            </a:r>
          </a:p>
          <a:p xmlns:a="http://schemas.openxmlformats.org/drawingml/2006/main"/>
          <a:p xmlns:a="http://schemas.openxmlformats.org/drawingml/2006/main">
            <a:r>
              <a:t>An individual experiment is when a person gets a useful response from a familiar tool. A firm capability means colleagues can repeat the work, using approved sources, review standards and an owned service.</a:t>
            </a:r>
          </a:p>
          <a:p xmlns:a="http://schemas.openxmlformats.org/drawingml/2006/main"/>
          <a:p xmlns:a="http://schemas.openxmlformats.org/drawingml/2006/main">
            <a:r>
              <a:t>The experiment has value. It's evidence, and it often points to the candidate pilot.</a:t>
            </a:r>
          </a:p>
          <a:p xmlns:a="http://schemas.openxmlformats.org/drawingml/2006/main"/>
          <a:p xmlns:a="http://schemas.openxmlformats.org/drawingml/2006/main">
            <a:r>
              <a:t>Let me ask you something. What must still be in place if the original user is away for a month? No rush.</a:t>
            </a:r>
          </a:p>
          <a:p xmlns:a="http://schemas.openxmlformats.org/drawingml/2006/main"/>
          <a:p xmlns:a="http://schemas.openxmlformats.org/drawingml/2006/main">
            <a:r>
              <a:t>Usable instructions, the sources, a review responsibility and operational support. If you think the prompt is enough, ask who would update the sources the prompt depends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three candidate pilots. Internal precedent and clause search. Contract review against a maintained playbook. And tax evidence and reconciliation assistance. We'd choose one primary scope. The course has shown how the mechanisms connect. It hasn't shown that all three are ready for production.</a:t>
            </a:r>
          </a:p>
          <a:p xmlns:a="http://schemas.openxmlformats.org/drawingml/2006/main"/>
          <a:p xmlns:a="http://schemas.openxmlformats.org/drawingml/2006/main">
            <a:r>
              <a:t>For each candidate, ask what a qualified person could check. A precedent search can be checked by opening the source. A review against a playbook depends on whether the playbook is maintained.</a:t>
            </a:r>
          </a:p>
          <a:p xmlns:a="http://schemas.openxmlformats.org/drawingml/2006/main"/>
          <a:p xmlns:a="http://schemas.openxmlformats.org/drawingml/2006/main">
            <a:r>
              <a:t>So which of these has the clearest first quality test? Let's hear your answer first.</a:t>
            </a:r>
          </a:p>
          <a:p xmlns:a="http://schemas.openxmlformats.org/drawingml/2006/main"/>
          <a:p xmlns:a="http://schemas.openxmlformats.org/drawingml/2006/main">
            <a:r>
              <a:t>My pick would be the one with accessible evidence and a result a qualified person can check. If you lean toward the most ambitious one, ask what its first test would look like in week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Launching a pilot doesn't end the work. Three kinds of change can happen after launch. The provider updates the model. A source is amended, or access changes. Or the process gains a new action or user group.</a:t>
            </a:r>
          </a:p>
          <a:p xmlns:a="http://schemas.openxmlformats.org/drawingml/2006/main"/>
          <a:p xmlns:a="http://schemas.openxmlformats.org/drawingml/2006/main">
            <a:r>
              <a:t>Each of these can make earlier test results out of date. Say the vendor releases a new model version. The answers on our test set may now differ, so we retest before staff rely on it. The firm decides in advance what triggers retesting, approval and fresh instructions for staff.</a:t>
            </a:r>
          </a:p>
          <a:p xmlns:a="http://schemas.openxmlformats.org/drawingml/2006/main"/>
          <a:p xmlns:a="http://schemas.openxmlformats.org/drawingml/2006/main">
            <a:r>
              <a:t>Now it's your turn. What should happen before the process is given authority to file returns live? Think about it for a moment.</a:t>
            </a:r>
          </a:p>
          <a:p xmlns:a="http://schemas.openxmlformats.org/drawingml/2006/main"/>
          <a:p xmlns:a="http://schemas.openxmlformats.org/drawingml/2006/main">
            <a:r>
              <a:t>There should be a separate decision on authority, integration, risk and evaluation. If you'd say switch it on and watch, ask who would see a wrong filing before it reaches the regulator.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last optional extra. It lists four areas of further technical study. Programming and model development. Neural-network mathematics and optimisation. Advanced retrieval and evaluation engineering. And production integration and security engineering.</a:t>
            </a:r>
          </a:p>
          <a:p xmlns:a="http://schemas.openxmlformats.org/drawingml/2006/main"/>
          <a:p xmlns:a="http://schemas.openxmlformats.org/drawingml/2006/main">
            <a:r>
              <a:t>A neural network is the layered mathematical structure inside most current models. I mention it so the term is clear.</a:t>
            </a:r>
          </a:p>
          <a:p xmlns:a="http://schemas.openxmlformats.org/drawingml/2006/main"/>
          <a:p xmlns:a="http://schemas.openxmlformats.org/drawingml/2006/main">
            <a:r>
              <a:t>This course gives you conceptual understanding and a route to implementation. It doesn't make you an independent production engineer.</a:t>
            </a:r>
          </a:p>
          <a:p xmlns:a="http://schemas.openxmlformats.org/drawingml/2006/main"/>
          <a:p xmlns:a="http://schemas.openxmlformats.org/drawingml/2006/main">
            <a:r>
              <a:t>So which of these areas would help the pilot we've chosen? Say it out loud if it helps.</a:t>
            </a:r>
          </a:p>
          <a:p xmlns:a="http://schemas.openxmlformats.org/drawingml/2006/main"/>
          <a:p xmlns:a="http://schemas.openxmlformats.org/drawingml/2006/main">
            <a:r>
              <a:t>Choose by the real capability gap in the pilot, and let the vocabulary stay out of it. If you can't choose, ask where our proposal depended on someone else's skill.</a:t>
            </a:r>
          </a:p>
          <a:p xmlns:a="http://schemas.openxmlformats.org/drawingml/2006/main"/>
          <a:p xmlns:a="http://schemas.openxmlformats.org/drawingml/2006/main">
            <a:r>
              <a:t>That closes the session. We keep the proposal and the decision record for the firm's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e055e63656e4fb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81ea7d993381464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98113b27c1e4afb"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b2f6884da4e487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854a266468e344e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99c09165f39246b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0FBC7E-5CB2-4DAA-8613-485A3A531E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9B48A8-F4C6-4999-A000-F8F6D660989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2AFCAB-3311-4AE4-A708-95ED5E3012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5BA117-42CD-4739-AF2D-2550629521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1C3D92-785E-404A-BA1E-613441DEA9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A7A28C-3035-4260-9174-DDF582BD58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BE30B7F-9F04-4E71-B46D-6DBAFFF17B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591479-987F-4CF2-91DA-C621A430F78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3B1FEC-C413-4A71-9B3B-1A96AAF362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DDB7CD-B79D-47FF-BD36-A01A58D7CE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e595b9e0a2041b4" Type="http://schemas.openxmlformats.org/officeDocument/2006/relationships/slideLayout" Target="../slideLayouts/slideLayout3.xml"/><Relationship Id="R5bece626e04e4123" Type="http://schemas.openxmlformats.org/officeDocument/2006/relationships/theme" Target="theme/theme2.xml"/><Relationship Id="R5ebf22cd98314be5" Type="http://schemas.openxmlformats.org/officeDocument/2006/relationships/slideLayout" Target="../slideLayouts/slideLayout4.xml"/><Relationship Id="Ra05fd1bf26ea46b3" Type="http://schemas.openxmlformats.org/officeDocument/2006/relationships/slideLayout" Target="../slideLayouts/slideLayout5.xml"/><Relationship Id="Rab46ec98b9c14b8c" Type="http://schemas.openxmlformats.org/officeDocument/2006/relationships/slideLayout" Target="../slideLayouts/slideLayout1.xml"/><Relationship Id="Re66ee10690474d03" Type="http://schemas.openxmlformats.org/officeDocument/2006/relationships/slideLayout" Target="../slideLayouts/slideLayout6.xml"/><Relationship Id="Rfbb80a8ee1434af2"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46ec98b9c14b8c"/>
    <p:sldLayoutId xmlns:r="http://schemas.openxmlformats.org/officeDocument/2006/relationships" id="2147483650" r:id="Rfbb80a8ee1434af2"/>
    <p:sldLayoutId xmlns:r="http://schemas.openxmlformats.org/officeDocument/2006/relationships" id="2147483651" r:id="R3e595b9e0a2041b4"/>
    <p:sldLayoutId xmlns:r="http://schemas.openxmlformats.org/officeDocument/2006/relationships" id="2147483652" r:id="R5ebf22cd98314be5"/>
    <p:sldLayoutId xmlns:r="http://schemas.openxmlformats.org/officeDocument/2006/relationships" id="2147483653" r:id="Ra05fd1bf26ea46b3"/>
    <p:sldLayoutId xmlns:r="http://schemas.openxmlformats.org/officeDocument/2006/relationships" id="2147483654" r:id="Re66ee10690474d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d84e1df33c1444e7" Type="http://schemas.openxmlformats.org/officeDocument/2006/relationships/notesSlide" Target="../notesSlides/notesSlide1.xml"/><Relationship Id="Re2950db6506f4d89" Type="http://schemas.openxmlformats.org/officeDocument/2006/relationships/slideLayout" Target="../slideLayouts/slideLayout6.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5e7cd5cf55a644d9" Type="http://schemas.openxmlformats.org/officeDocument/2006/relationships/slideLayout" Target="../slideLayouts/slideLayout6.xml"/><Relationship Id="R77b5fce51e304a03"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a59c3e2965ba412c" Type="http://schemas.openxmlformats.org/officeDocument/2006/relationships/notesSlide" Target="../notesSlides/notesSlide3.xml"/><Relationship Id="Rfcef6d8ea8c049f1" Type="http://schemas.openxmlformats.org/officeDocument/2006/relationships/slideLayout" Target="../slideLayouts/slideLayout6.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b2afee3e0d0049fc" Type="http://schemas.openxmlformats.org/officeDocument/2006/relationships/slideLayout" Target="../slideLayouts/slideLayout6.xml"/><Relationship Id="Re244eef50a3e4b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c575304b6ce4d66" Type="http://schemas.openxmlformats.org/officeDocument/2006/relationships/notesSlide" Target="../notesSlides/notesSlide5.xml"/><Relationship Id="R5d21f0e74af54fa0"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494ef9a1798047cc" Type="http://schemas.openxmlformats.org/officeDocument/2006/relationships/notesSlide" Target="../notesSlides/notesSlide6.xml"/><Relationship Id="R8d3d0f04259e481e"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6b42269d39d64bef" Type="http://schemas.openxmlformats.org/officeDocument/2006/relationships/notesSlide" Target="../notesSlides/notesSlide7.xml"/><Relationship Id="R7fcbd4c7288f49c9" Type="http://schemas.openxmlformats.org/officeDocument/2006/relationships/slideLayout" Target="../slideLayouts/slideLayout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0ae8d1f9edb64fe5" Type="http://schemas.openxmlformats.org/officeDocument/2006/relationships/slideLayout" Target="../slideLayouts/slideLayout6.xml"/><Relationship Id="R73cb53ff8c334fd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0c6aecb1138b45f6" Type="http://schemas.openxmlformats.org/officeDocument/2006/relationships/slideLayout" Target="../slideLayouts/slideLayout6.xml"/><Relationship Id="R96399c5fc735404c"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72a8ddfe30874da0" Type="http://schemas.openxmlformats.org/officeDocument/2006/relationships/notesSlide" Target="../notesSlides/notesSlide10.xml"/><Relationship Id="Ree841d595bc6467f"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026f2bedf7634c2f" Type="http://schemas.openxmlformats.org/officeDocument/2006/relationships/notesSlide" Target="../notesSlides/notesSlide11.xml"/><Relationship Id="R920fe2aad99d46b0" Type="http://schemas.openxmlformats.org/officeDocument/2006/relationships/slideLayout" Target="../slideLayouts/slideLayout6.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7d4d779391af44fa" Type="http://schemas.openxmlformats.org/officeDocument/2006/relationships/notesSlide" Target="../notesSlides/notesSlide12.xml"/><Relationship Id="Re9ba01c352444d63" Type="http://schemas.openxmlformats.org/officeDocument/2006/relationships/slideLayout" Target="../slideLayouts/slideLayout6.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9969195e3c2948f1" Type="http://schemas.openxmlformats.org/officeDocument/2006/relationships/slideLayout" Target="../slideLayouts/slideLayout6.xml"/><Relationship Id="Rd2d1da9966954907"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73999208f9ac4cd5" Type="http://schemas.openxmlformats.org/officeDocument/2006/relationships/notesSlide" Target="../notesSlides/notesSlide14.xml"/><Relationship Id="Rdf1c8238a6654a0e"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90154aca04d344b6" Type="http://schemas.openxmlformats.org/officeDocument/2006/relationships/slideLayout" Target="../slideLayouts/slideLayout6.xml"/><Relationship Id="R9ccf14451c6c478f"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cf2542dd4ddb444b" Type="http://schemas.openxmlformats.org/officeDocument/2006/relationships/slideLayout" Target="../slideLayouts/slideLayout6.xml"/><Relationship Id="Rd23f88e340874a44"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944851280d344ce3" Type="http://schemas.openxmlformats.org/officeDocument/2006/relationships/notesSlide" Target="../notesSlides/notesSlide17.xml"/><Relationship Id="Rdcae515c17ee4941" Type="http://schemas.openxmlformats.org/officeDocument/2006/relationships/slideLayout" Target="../slideLayouts/slideLayout6.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5fa70bf29cbc4dd5" Type="http://schemas.openxmlformats.org/officeDocument/2006/relationships/slideLayout" Target="../slideLayouts/slideLayout6.xml"/><Relationship Id="R82836e331626457f"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533f7c365ea04ad2" Type="http://schemas.openxmlformats.org/officeDocument/2006/relationships/notesSlide" Target="../notesSlides/notesSlide19.xml"/><Relationship Id="Rb303c0e26194457a" Type="http://schemas.openxmlformats.org/officeDocument/2006/relationships/slideLayout" Target="../slideLayouts/slideLayout6.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17aa0623011440fd" Type="http://schemas.openxmlformats.org/officeDocument/2006/relationships/slideLayout" Target="../slideLayouts/slideLayout6.xml"/><Relationship Id="R37d10862c52e4aca"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03eb0a7dab3f41f3" Type="http://schemas.openxmlformats.org/officeDocument/2006/relationships/notesSlide" Target="../notesSlides/notesSlide21.xml"/><Relationship Id="Rbbc5944e50b14cda"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1b3c0ed9e1054caf" Type="http://schemas.openxmlformats.org/officeDocument/2006/relationships/slideLayout" Target="../slideLayouts/slideLayout6.xml"/><Relationship Id="Rc398ddb2d5c742ac"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8351a60b168240df" Type="http://schemas.openxmlformats.org/officeDocument/2006/relationships/slideLayout" Target="../slideLayouts/slideLayout6.xml"/><Relationship Id="Rc54d7f32de3f498f"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964f0885628140d4" Type="http://schemas.openxmlformats.org/officeDocument/2006/relationships/slideLayout" Target="../slideLayouts/slideLayout6.xml"/><Relationship Id="Ra5b2c5ebbb1c4f9c" Type="http://schemas.openxmlformats.org/officeDocument/2006/relationships/notesSlide" Target="../notesSlides/notesSlide24.xml"/><Relationship Id="rId3" Type="http://schemas.openxmlformats.org/officeDocument/2006/relationships/image" Target="../media/image15.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Leading implementation and evaluating a pilot">
    <p:bg>
      <p:bgPr>
        <a:solidFill>
          <a:srgbClr val="1C3144"/>
        </a:solidFill>
      </p:bgPr>
    </p:bg>
    <p:spTree>
      <p:nvGrpSpPr>
        <p:cNvPr id="1" name=""/>
        <p:cNvGrpSpPr/>
        <p:nvPr/>
      </p:nvGrpSpPr>
      <p:grpSpPr>
        <a:xfrm/>
      </p:grpSpPr>
      <p:sp>
        <p:nvSpPr>
          <p:cNvPr id="5" name="text-396">
            <a:extLst>
              <a:ext uri="{FF2B5EF4-FFF2-40B4-BE49-F238E27FC236}">
                <ns2:creationId id="{05D214DA-A8E1-4A02-B9CA-50D73B9D2CC0}"/>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12</a:t>
            </a:r>
          </a:p>
        </p:txBody>
      </p:sp>
      <p:sp>
        <p:nvSpPr>
          <p:cNvPr id="2" name="text-397">
            <a:extLst>
              <a:ext uri="{FF2B5EF4-FFF2-40B4-BE49-F238E27FC236}">
                <ns2:creationId id="{3FD5B460-CF96-4E5E-B39F-CC6350964928}"/>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200" b="1">
                <a:solidFill>
                  <a:srgbClr val="FFFFFF"/>
                </a:solidFill>
                <a:latin typeface="Calibri"/>
                <a:ea typeface="Calibri"/>
                <a:cs typeface="Calibri"/>
              </a:defRPr>
            </a:defPPr>
            <a:lvl1pPr>
              <a:defRPr sz="4200" b="1">
                <a:solidFill>
                  <a:srgbClr val="FFFFFF"/>
                </a:solidFill>
                <a:latin typeface="Calibri"/>
                <a:ea typeface="Calibri"/>
                <a:cs typeface="Calibri"/>
              </a:defRPr>
            </a:lvl1pPr>
            <a:lvl2pPr>
              <a:defRPr sz="4200" b="1">
                <a:solidFill>
                  <a:srgbClr val="FFFFFF"/>
                </a:solidFill>
                <a:latin typeface="Calibri"/>
                <a:ea typeface="Calibri"/>
                <a:cs typeface="Calibri"/>
              </a:defRPr>
            </a:lvl2pPr>
            <a:lvl3pPr>
              <a:defRPr sz="4200" b="1">
                <a:solidFill>
                  <a:srgbClr val="FFFFFF"/>
                </a:solidFill>
                <a:latin typeface="Calibri"/>
                <a:ea typeface="Calibri"/>
                <a:cs typeface="Calibri"/>
              </a:defRPr>
            </a:lvl3pPr>
            <a:lvl4pPr>
              <a:defRPr sz="4200" b="1">
                <a:solidFill>
                  <a:srgbClr val="FFFFFF"/>
                </a:solidFill>
                <a:latin typeface="Calibri"/>
                <a:ea typeface="Calibri"/>
                <a:cs typeface="Calibri"/>
              </a:defRPr>
            </a:lvl4pPr>
            <a:lvl5pPr>
              <a:defRPr sz="4200" b="1">
                <a:solidFill>
                  <a:srgbClr val="FFFFFF"/>
                </a:solidFill>
                <a:latin typeface="Calibri"/>
                <a:ea typeface="Calibri"/>
                <a:cs typeface="Calibri"/>
              </a:defRPr>
            </a:lvl5pPr>
            <a:lvl6pPr>
              <a:defRPr sz="4200" b="1">
                <a:solidFill>
                  <a:srgbClr val="FFFFFF"/>
                </a:solidFill>
                <a:latin typeface="Calibri"/>
                <a:ea typeface="Calibri"/>
                <a:cs typeface="Calibri"/>
              </a:defRPr>
            </a:lvl6pPr>
            <a:lvl7pPr>
              <a:defRPr sz="4200" b="1">
                <a:solidFill>
                  <a:srgbClr val="FFFFFF"/>
                </a:solidFill>
                <a:latin typeface="Calibri"/>
                <a:ea typeface="Calibri"/>
                <a:cs typeface="Calibri"/>
              </a:defRPr>
            </a:lvl7pPr>
            <a:lvl8pPr>
              <a:defRPr sz="4200" b="1">
                <a:solidFill>
                  <a:srgbClr val="FFFFFF"/>
                </a:solidFill>
                <a:latin typeface="Calibri"/>
                <a:ea typeface="Calibri"/>
                <a:cs typeface="Calibri"/>
              </a:defRPr>
            </a:lvl8pPr>
            <a:lvl9pPr>
              <a:defRPr sz="4200" b="1">
                <a:solidFill>
                  <a:srgbClr val="FFFFFF"/>
                </a:solidFill>
                <a:latin typeface="Calibri"/>
                <a:ea typeface="Calibri"/>
                <a:cs typeface="Calibri"/>
              </a:defRPr>
            </a:lvl9pPr>
          </a:lstStyle>
          <a:p>
            <a:pPr>
              <a:defRPr sz="4200" b="1">
                <a:solidFill>
                  <a:srgbClr val="FFFFFF"/>
                </a:solidFill>
                <a:latin typeface="Calibri"/>
                <a:ea typeface="Calibri"/>
                <a:cs typeface="Calibri"/>
              </a:defRPr>
            </a:pPr>
            <a:r>
              <a:rPr sz="4200" b="1">
                <a:solidFill>
                  <a:srgbClr val="FFFFFF"/>
                </a:solidFill>
                <a:latin typeface="Calibri"/>
                <a:ea typeface="Calibri"/>
                <a:cs typeface="Calibri"/>
              </a:rPr>
              <a:t>Leading implementation and evaluating a pilot</a:t>
            </a:r>
          </a:p>
        </p:txBody>
      </p:sp>
      <p:sp>
        <p:nvSpPr>
          <p:cNvPr id="3" name="text-398">
            <a:extLst>
              <a:ext uri="{FF2B5EF4-FFF2-40B4-BE49-F238E27FC236}">
                <ns2:creationId id="{A0E9A425-FED5-4BD6-A1DF-F0C9455D8805}"/>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What would justify starting, revising or stopping the firm’s first pilot?</a:t>
            </a:r>
          </a:p>
        </p:txBody>
      </p:sp>
      <p:sp>
        <p:nvSpPr>
          <p:cNvPr id="4" name="text-399">
            <a:extLst>
              <a:ext uri="{FF2B5EF4-FFF2-40B4-BE49-F238E27FC236}">
                <ns2:creationId id="{0FE6A7F0-85DE-4403-BBD3-883ABE783671}"/>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timeline marked at days 0, 30, 60 and 90; three people forming a team; steps leading to a flag"/>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49431425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governance">
    <p:bg>
      <p:bgPr>
        <a:solidFill>
          <a:srgbClr val="FFFFFF"/>
        </a:solidFill>
      </p:bgPr>
    </p:bg>
    <p:spTree>
      <p:nvGrpSpPr>
        <p:cNvPr id="1" name=""/>
        <p:cNvGrpSpPr/>
        <p:nvPr/>
      </p:nvGrpSpPr>
      <p:grpSpPr>
        <a:xfrm/>
      </p:grpSpPr>
      <p:sp>
        <p:nvSpPr>
          <p:cNvPr id="9" name="text-400">
            <a:extLst>
              <a:ext uri="{FF2B5EF4-FFF2-40B4-BE49-F238E27FC236}">
                <ns2:creationId id="{4272CE85-EFD1-46F1-B46A-A4904DF59F7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01">
            <a:extLst>
              <a:ext uri="{FF2B5EF4-FFF2-40B4-BE49-F238E27FC236}">
                <ns2:creationId id="{FCC5D15D-6481-44A3-B63C-71632F5A8E7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governance</a:t>
            </a:r>
          </a:p>
        </p:txBody>
      </p:sp>
      <p:sp>
        <p:nvSpPr>
          <p:cNvPr id="4" name="text-403">
            <a:extLst>
              <a:ext uri="{FF2B5EF4-FFF2-40B4-BE49-F238E27FC236}">
                <ns2:creationId id="{5A81DDCD-F196-417B-95ED-E10BF4D2217C}"/>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11</a:t>
            </a:r>
          </a:p>
        </p:txBody>
      </p:sp>
      <p:sp>
        <p:nvSpPr>
          <p:cNvPr id="5" name="text-404">
            <a:extLst>
              <a:ext uri="{FF2B5EF4-FFF2-40B4-BE49-F238E27FC236}">
                <ns2:creationId id="{FFBA8116-AE61-4FED-BD9E-1B214ECEBF75}"/>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What evidence would support restarting after restricted-data disclosure?</a:t>
            </a:r>
          </a:p>
        </p:txBody>
      </p:sp>
      <p:sp>
        <p:nvSpPr>
          <p:cNvPr id="6" name="text-405">
            <a:extLst>
              <a:ext uri="{FF2B5EF4-FFF2-40B4-BE49-F238E27FC236}">
                <ns2:creationId id="{D76AC005-2475-439A-AA4B-14D654C8E13E}"/>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406">
            <a:extLst>
              <a:ext uri="{FF2B5EF4-FFF2-40B4-BE49-F238E27FC236}">
                <ns2:creationId id="{454AFCA0-4A1B-44CE-A3DA-50FCD4D8F84A}"/>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What would justify starting, revising or stopping the firm’s first pilot?</a:t>
            </a:r>
          </a:p>
        </p:txBody>
      </p:sp>
      <p:sp>
        <p:nvSpPr>
          <p:cNvPr id="8" name="text-407">
            <a:extLst>
              <a:ext uri="{FF2B5EF4-FFF2-40B4-BE49-F238E27FC236}">
                <ns2:creationId id="{CAA3EE4E-2999-4D75-817A-CE2DD942BC1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defensible pilot proposal and a comparison with the entry diagnostic.</a:t>
            </a:r>
          </a:p>
        </p:txBody>
      </p:sp>
      <p:sp>
        <p:nvSpPr>
          <p:cNvPr id="3" name="text-402">
            <a:extLst>
              <a:ext uri="{FF2B5EF4-FFF2-40B4-BE49-F238E27FC236}">
                <ns2:creationId id="{7A4E6FE4-46C5-4345-9B7D-36F517FEC2A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280044429"/>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What AI-native means for this firm">
    <p:bg>
      <p:bgPr>
        <a:solidFill>
          <a:srgbClr val="FFFFFF"/>
        </a:solidFill>
      </p:bgPr>
    </p:bg>
    <p:spTree>
      <p:nvGrpSpPr>
        <p:cNvPr id="1" name=""/>
        <p:cNvGrpSpPr/>
        <p:nvPr/>
      </p:nvGrpSpPr>
      <p:grpSpPr>
        <a:xfrm/>
      </p:grpSpPr>
      <p:sp>
        <p:nvSpPr>
          <p:cNvPr id="10" name="text-408">
            <a:extLst>
              <a:ext uri="{FF2B5EF4-FFF2-40B4-BE49-F238E27FC236}">
                <ns2:creationId id="{80DA2BBB-2D71-4A50-9A31-480FEC7AA49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09">
            <a:extLst>
              <a:ext uri="{FF2B5EF4-FFF2-40B4-BE49-F238E27FC236}">
                <ns2:creationId id="{46FA1B40-AAC1-47B2-80D6-CA4C9664774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AI-native means for this firm</a:t>
            </a:r>
          </a:p>
        </p:txBody>
      </p:sp>
      <p:sp>
        <p:nvSpPr>
          <p:cNvPr id="4" name="text-411">
            <a:extLst>
              <a:ext uri="{FF2B5EF4-FFF2-40B4-BE49-F238E27FC236}">
                <ns2:creationId id="{EA9638A9-4D03-466A-8D85-078249DFEC7A}"/>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12">
            <a:extLst>
              <a:ext uri="{FF2B5EF4-FFF2-40B4-BE49-F238E27FC236}">
                <ns2:creationId id="{E0A60E7E-B0D5-463C-9D68-85D5693CC3C0}"/>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Work design deliberately includes suitable AI capabilities.</a:t>
            </a:r>
          </a:p>
        </p:txBody>
      </p:sp>
      <p:sp>
        <p:nvSpPr>
          <p:cNvPr id="6" name="text-413">
            <a:extLst>
              <a:ext uri="{FF2B5EF4-FFF2-40B4-BE49-F238E27FC236}">
                <ns2:creationId id="{C5D5766A-637D-4AE0-89D6-2656148AB536}"/>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14">
            <a:extLst>
              <a:ext uri="{FF2B5EF4-FFF2-40B4-BE49-F238E27FC236}">
                <ns2:creationId id="{1ACD2505-F0DC-4E2F-AB44-E9137D0A687B}"/>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Reliable information and clear responsibilities support the work.</a:t>
            </a:r>
          </a:p>
        </p:txBody>
      </p:sp>
      <p:sp>
        <p:nvSpPr>
          <p:cNvPr id="8" name="text-415">
            <a:extLst>
              <a:ext uri="{FF2B5EF4-FFF2-40B4-BE49-F238E27FC236}">
                <ns2:creationId id="{D27D3DE0-3595-4C3A-8EC1-87F1D586009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16">
            <a:extLst>
              <a:ext uri="{FF2B5EF4-FFF2-40B4-BE49-F238E27FC236}">
                <ns2:creationId id="{3BFDFB46-FA24-41DF-95D6-AC14FB5EF1B0}"/>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Evidence guides adoption, change and expansion.</a:t>
            </a:r>
          </a:p>
        </p:txBody>
      </p:sp>
      <p:sp>
        <p:nvSpPr>
          <p:cNvPr id="3" name="text-410">
            <a:extLst>
              <a:ext uri="{FF2B5EF4-FFF2-40B4-BE49-F238E27FC236}">
                <ns2:creationId id="{08192D00-88E3-4041-8A0B-3D4FA0C81B5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3</a:t>
            </a:r>
          </a:p>
        </p:txBody>
      </p:sp>
      <p:pic xmlns:r="http://schemas.openxmlformats.org/officeDocument/2006/relationships">
        <p:nvPicPr>
          <p:cNvPr id="11" name="illustration-team" descr="Illustration: three people forming a tea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09380598"/>
      </p:ext>
    </p:extLst>
  </p:cSld>
  <p:transition spd="med" advClick="1">
    <p:fade/>
  </p:transition>
</p:sld>
</file>

<file path=ppt/slides/slide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connected learning journey">
    <p:bg>
      <p:bgPr>
        <a:solidFill>
          <a:srgbClr val="FFFFFF"/>
        </a:solidFill>
      </p:bgPr>
    </p:bg>
    <p:spTree>
      <p:nvGrpSpPr>
        <p:cNvPr id="1" name=""/>
        <p:cNvGrpSpPr/>
        <p:nvPr/>
      </p:nvGrpSpPr>
      <p:grpSpPr>
        <a:xfrm/>
      </p:grpSpPr>
      <p:cxnSp>
        <p:nvCxnSpPr>
          <p:cNvPr id="22" name="reveal-04-arrow" descr="The connected learning journey">
            <a:extLst>
              <a:ext uri="{FF2B5EF4-FFF2-40B4-BE49-F238E27FC236}">
                <ns2:creationId id="{A41A8226-D0E3-468F-ABA9-C8975D6DA8A2}"/>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E4A611A5-78A3-4B50-94EB-8245207E26CA}"/>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AE7C3E0F-0B5B-497A-A0E0-ADA060B18639}"/>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4" name="text-417">
            <a:extLst>
              <a:ext uri="{FF2B5EF4-FFF2-40B4-BE49-F238E27FC236}">
                <ns2:creationId id="{CD617FBC-6182-40A1-AFFB-0C2FB474C48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18">
            <a:extLst>
              <a:ext uri="{FF2B5EF4-FFF2-40B4-BE49-F238E27FC236}">
                <ns2:creationId id="{56EBDCD3-9422-436F-8E15-BB8638A31B2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connected learning journey</a:t>
            </a:r>
          </a:p>
        </p:txBody>
      </p:sp>
      <p:sp>
        <p:nvSpPr>
          <p:cNvPr id="4" name="reveal-01-stage">
            <a:extLst>
              <a:ext uri="{FF2B5EF4-FFF2-40B4-BE49-F238E27FC236}">
                <ns2:creationId id="{83D6D00C-4D82-4575-9570-2B8CDA706C32}"/>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A336AD30-A5DA-4C0C-9E62-EB1E09D19830}"/>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7C433ECE-0C5C-4636-8A24-DC782AE381E2}"/>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Understand</a:t>
            </a:r>
          </a:p>
        </p:txBody>
      </p:sp>
      <p:sp>
        <p:nvSpPr>
          <p:cNvPr id="7" name="reveal-01-detail">
            <a:extLst>
              <a:ext uri="{FF2B5EF4-FFF2-40B4-BE49-F238E27FC236}">
                <ns2:creationId id="{DC1F4869-D3C8-4D64-A3ED-55973A8D0982}"/>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Task and model</a:t>
            </a:r>
          </a:p>
        </p:txBody>
      </p:sp>
      <p:sp>
        <p:nvSpPr>
          <p:cNvPr id="8" name="reveal-02-stage">
            <a:extLst>
              <a:ext uri="{FF2B5EF4-FFF2-40B4-BE49-F238E27FC236}">
                <ns2:creationId id="{A3D50C3D-8EEC-4067-B213-387C0F9B8F92}"/>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FDB32626-4A21-4D47-A823-6F0D500624C6}"/>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6BFA0C67-BC29-43B7-A92C-2A8DAAABB24A}"/>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Prepare</a:t>
            </a:r>
          </a:p>
        </p:txBody>
      </p:sp>
      <p:sp>
        <p:nvSpPr>
          <p:cNvPr id="11" name="reveal-02-detail">
            <a:extLst>
              <a:ext uri="{FF2B5EF4-FFF2-40B4-BE49-F238E27FC236}">
                <ns2:creationId id="{67B67623-44B2-488C-BC30-5CEFB2FBF322}"/>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Information and search</a:t>
            </a:r>
          </a:p>
        </p:txBody>
      </p:sp>
      <p:sp>
        <p:nvSpPr>
          <p:cNvPr id="12" name="reveal-03-stage">
            <a:extLst>
              <a:ext uri="{FF2B5EF4-FFF2-40B4-BE49-F238E27FC236}">
                <ns2:creationId id="{2D5D1C00-4587-4B83-BFD7-9C18F84B654E}"/>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DFA27495-E892-42A9-AB53-942993471880}"/>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E9FA10A3-6126-4EFC-856D-EC03093F829C}"/>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Apply</a:t>
            </a:r>
          </a:p>
        </p:txBody>
      </p:sp>
      <p:sp>
        <p:nvSpPr>
          <p:cNvPr id="15" name="reveal-03-detail">
            <a:extLst>
              <a:ext uri="{FF2B5EF4-FFF2-40B4-BE49-F238E27FC236}">
                <ns2:creationId id="{9BEBFB67-C3CA-48AA-A950-1EB8086ABBC0}"/>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Legal and tax work</a:t>
            </a:r>
          </a:p>
        </p:txBody>
      </p:sp>
      <p:sp>
        <p:nvSpPr>
          <p:cNvPr id="16" name="reveal-04-stage">
            <a:extLst>
              <a:ext uri="{FF2B5EF4-FFF2-40B4-BE49-F238E27FC236}">
                <ns2:creationId id="{F9EF376D-DC6F-425E-A471-6A6EC3B09C87}"/>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8B0928C1-D7F9-4D2D-8835-D5270A3C38D7}"/>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E9B83C01-BC42-4245-A272-042069020BA8}"/>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Lead</a:t>
            </a:r>
          </a:p>
        </p:txBody>
      </p:sp>
      <p:sp>
        <p:nvSpPr>
          <p:cNvPr id="19" name="reveal-04-detail">
            <a:extLst>
              <a:ext uri="{FF2B5EF4-FFF2-40B4-BE49-F238E27FC236}">
                <ns2:creationId id="{BD6587E1-1EC5-43CE-A75F-0B79957EA543}"/>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Govern and evaluate</a:t>
            </a:r>
          </a:p>
        </p:txBody>
      </p:sp>
      <p:sp>
        <p:nvSpPr>
          <p:cNvPr id="23" name="text-423">
            <a:extLst>
              <a:ext uri="{FF2B5EF4-FFF2-40B4-BE49-F238E27FC236}">
                <ns2:creationId id="{75F88D6C-192C-4BE9-A51D-FBF4B9BFDF8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same fictional matter connects technical understanding with organisational decisions.</a:t>
            </a:r>
          </a:p>
        </p:txBody>
      </p:sp>
      <p:sp>
        <p:nvSpPr>
          <p:cNvPr id="3" name="text-419">
            <a:extLst>
              <a:ext uri="{FF2B5EF4-FFF2-40B4-BE49-F238E27FC236}">
                <ns2:creationId id="{05AA8F8D-EA9D-45EF-ABB8-8CA4B05B725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4</a:t>
            </a:r>
          </a:p>
        </p:txBody>
      </p:sp>
    </p:spTree>
    <p:extLst>
      <p:ext uri="{BB962C8B-B14F-4D97-AF65-F5344CB8AC3E}">
        <ns4:creationId val="11347730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Comparing candidates">
    <p:bg>
      <p:bgPr>
        <a:solidFill>
          <a:srgbClr val="FFFFFF"/>
        </a:solidFill>
      </p:bgPr>
    </p:bg>
    <p:spTree>
      <p:nvGrpSpPr>
        <p:cNvPr id="1" name=""/>
        <p:cNvGrpSpPr/>
        <p:nvPr/>
      </p:nvGrpSpPr>
      <p:grpSpPr>
        <a:xfrm/>
      </p:grpSpPr>
      <p:sp>
        <p:nvSpPr>
          <p:cNvPr id="5" name="text-424">
            <a:extLst>
              <a:ext uri="{FF2B5EF4-FFF2-40B4-BE49-F238E27FC236}">
                <ns2:creationId id="{55C8B3B5-5969-4892-97B5-B43F5B20B36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25">
            <a:extLst>
              <a:ext uri="{FF2B5EF4-FFF2-40B4-BE49-F238E27FC236}">
                <ns2:creationId id="{7E94A20A-A937-41C7-A212-06042E3CA8B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Comparing candidates</a:t>
            </a:r>
          </a:p>
        </p:txBody>
      </p:sp>
      <p:graphicFrame>
        <p:nvGraphicFramePr>
          <p:cNvPr id="4" name="">
            <a:extLst>
              <a:ext uri="{FF2B5EF4-FFF2-40B4-BE49-F238E27FC236}">
                <ns2:creationId id="{21BC8EBC-4C0F-429B-A9B1-FAB9A49C63A3}"/>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Criterion</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Question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Value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Which recurring problem matters?</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Feasibility</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Are sources and systems usable?</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Risk</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What could fail and who is affected?</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Adoption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Will staff use and review it?</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Ownership</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Who maintains the capability?</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26">
            <a:extLst>
              <a:ext uri="{FF2B5EF4-FFF2-40B4-BE49-F238E27FC236}">
                <ns2:creationId id="{0C75E342-6ABC-4B81-B319-B60513E3027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5</a:t>
            </a:r>
          </a:p>
        </p:txBody>
      </p:sp>
    </p:spTree>
    <p:extLst>
      <p:ext uri="{BB962C8B-B14F-4D97-AF65-F5344CB8AC3E}">
        <ns3:creationId val="155139009"/>
      </p:ext>
    </p:extLst>
  </p:cSld>
  <p:transition spd="med" advClick="1">
    <p:fade/>
  </p:transition>
</p:sld>
</file>

<file path=ppt/slides/slide6.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current and redesigned process">
    <p:bg>
      <p:bgPr>
        <a:solidFill>
          <a:srgbClr val="FFFFFF"/>
        </a:solidFill>
      </p:bgPr>
    </p:bg>
    <p:spTree>
      <p:nvGrpSpPr>
        <p:cNvPr id="1" name=""/>
        <p:cNvGrpSpPr/>
        <p:nvPr/>
      </p:nvGrpSpPr>
      <p:grpSpPr>
        <a:xfrm/>
      </p:grpSpPr>
      <p:cxnSp>
        <p:nvCxnSpPr>
          <p:cNvPr id="35" name="reveal-02-arrow-2" descr="The current and redesigned process">
            <a:extLst>
              <a:ext uri="{FF2B5EF4-FFF2-40B4-BE49-F238E27FC236}">
                <ns2:creationId id="{7C8DE989-795F-482A-8DEF-4B86ACA6F94A}"/>
              </a:ext>
            </a:extLst>
          </p:cNvPr>
          <p:cNvCxnSpPr>
            <a:stCxn id="27" idx="3"/>
            <a:endCxn id="30" idx="1"/>
          </p:cNvCxnSpPr>
          <p:nvPr/>
        </p:nvCxnSpPr>
        <p:spPr>
          <a:xfrm>
            <a:off x="8753475" y="5205413"/>
            <a:ext cx="323850" cy="0"/>
          </a:xfrm>
          <a:prstGeom prst="straightConnector1">
            <a:avLst/>
          </a:prstGeom>
          <a:ln w="23813">
            <a:solidFill>
              <a:srgbClr val="246E63"/>
            </a:solidFill>
            <a:tailEnd type="arrow" w="med" len="med"/>
          </a:ln>
        </p:spPr>
      </p:cxnSp>
      <p:cxnSp>
        <p:nvCxnSpPr>
          <p:cNvPr id="34" name="reveal-02-arrow-1">
            <a:extLst>
              <a:ext uri="{FF2B5EF4-FFF2-40B4-BE49-F238E27FC236}">
                <ns2:creationId id="{957C9832-E607-4ECA-B885-91051B21C79D}"/>
              </a:ext>
              <a:ext uri="{C183D7F6-B498-43B3-948B-1728B52AA6E4}">
                <ns3:decorative val="1"/>
              </a:ext>
            </a:extLst>
          </p:cNvPr>
          <p:cNvCxnSpPr>
            <a:stCxn id="24" idx="3"/>
            <a:endCxn id="27" idx="1"/>
          </p:cNvCxnSpPr>
          <p:nvPr/>
        </p:nvCxnSpPr>
        <p:spPr>
          <a:xfrm>
            <a:off x="5934075" y="5205413"/>
            <a:ext cx="323850" cy="0"/>
          </a:xfrm>
          <a:prstGeom prst="straightConnector1">
            <a:avLst/>
          </a:prstGeom>
          <a:ln w="23813">
            <a:solidFill>
              <a:srgbClr val="246E63"/>
            </a:solidFill>
            <a:tailEnd type="arrow" w="med" len="med"/>
          </a:ln>
        </p:spPr>
      </p:cxnSp>
      <p:cxnSp>
        <p:nvCxnSpPr>
          <p:cNvPr id="33" name="reveal-02-arrow-0">
            <a:extLst>
              <a:ext uri="{FF2B5EF4-FFF2-40B4-BE49-F238E27FC236}">
                <ns2:creationId id="{2AECB112-6CDC-4EC2-B6B9-E70E37080F09}"/>
              </a:ext>
              <a:ext uri="{C183D7F6-B498-43B3-948B-1728B52AA6E4}">
                <ns3:decorative val="1"/>
              </a:ext>
            </a:extLst>
          </p:cNvPr>
          <p:cNvCxnSpPr>
            <a:stCxn id="21" idx="3"/>
            <a:endCxn id="24" idx="1"/>
          </p:cNvCxnSpPr>
          <p:nvPr/>
        </p:nvCxnSpPr>
        <p:spPr>
          <a:xfrm>
            <a:off x="3114675" y="5205413"/>
            <a:ext cx="323850" cy="0"/>
          </a:xfrm>
          <a:prstGeom prst="straightConnector1">
            <a:avLst/>
          </a:prstGeom>
          <a:ln w="23813">
            <a:solidFill>
              <a:srgbClr val="246E63"/>
            </a:solidFill>
            <a:tailEnd type="arrow" w="med" len="med"/>
          </a:ln>
        </p:spPr>
      </p:cxnSp>
      <p:cxnSp>
        <p:nvCxnSpPr>
          <p:cNvPr id="19" name="reveal-01-arrow-2">
            <a:extLst>
              <a:ext uri="{FF2B5EF4-FFF2-40B4-BE49-F238E27FC236}">
                <ns2:creationId id="{6AF03E42-4ADB-4DD9-A883-3A5D7EF9ECCE}"/>
              </a:ext>
              <a:ext uri="{C183D7F6-B498-43B3-948B-1728B52AA6E4}">
                <ns3:decorative val="1"/>
              </a:ext>
            </a:extLst>
          </p:cNvPr>
          <p:cNvCxnSpPr>
            <a:stCxn id="11" idx="3"/>
            <a:endCxn id="14" idx="1"/>
          </p:cNvCxnSpPr>
          <p:nvPr/>
        </p:nvCxnSpPr>
        <p:spPr>
          <a:xfrm>
            <a:off x="8753475" y="3043238"/>
            <a:ext cx="323850" cy="0"/>
          </a:xfrm>
          <a:prstGeom prst="straightConnector1">
            <a:avLst/>
          </a:prstGeom>
          <a:ln w="23813">
            <a:solidFill>
              <a:srgbClr val="246E63"/>
            </a:solidFill>
            <a:tailEnd type="arrow" w="med" len="med"/>
          </a:ln>
        </p:spPr>
      </p:cxnSp>
      <p:cxnSp>
        <p:nvCxnSpPr>
          <p:cNvPr id="18" name="reveal-01-arrow-1">
            <a:extLst>
              <a:ext uri="{FF2B5EF4-FFF2-40B4-BE49-F238E27FC236}">
                <ns2:creationId id="{D801E99C-B4AB-4933-9CB1-A0F14F01EB34}"/>
              </a:ext>
              <a:ext uri="{C183D7F6-B498-43B3-948B-1728B52AA6E4}">
                <ns3:decorative val="1"/>
              </a:ext>
            </a:extLst>
          </p:cNvPr>
          <p:cNvCxnSpPr>
            <a:stCxn id="8" idx="3"/>
            <a:endCxn id="11" idx="1"/>
          </p:cNvCxnSpPr>
          <p:nvPr/>
        </p:nvCxnSpPr>
        <p:spPr>
          <a:xfrm>
            <a:off x="5934075" y="3043238"/>
            <a:ext cx="323850" cy="0"/>
          </a:xfrm>
          <a:prstGeom prst="straightConnector1">
            <a:avLst/>
          </a:prstGeom>
          <a:ln w="23813">
            <a:solidFill>
              <a:srgbClr val="246E63"/>
            </a:solidFill>
            <a:tailEnd type="arrow" w="med" len="med"/>
          </a:ln>
        </p:spPr>
      </p:cxnSp>
      <p:cxnSp>
        <p:nvCxnSpPr>
          <p:cNvPr id="17" name="reveal-01-arrow-0">
            <a:extLst>
              <a:ext uri="{FF2B5EF4-FFF2-40B4-BE49-F238E27FC236}">
                <ns2:creationId id="{B2CFC318-B4B8-4829-A286-D2BCA98C9BCF}"/>
              </a:ext>
              <a:ext uri="{C183D7F6-B498-43B3-948B-1728B52AA6E4}">
                <ns3:decorative val="1"/>
              </a:ext>
            </a:extLst>
          </p:cNvPr>
          <p:cNvCxnSpPr>
            <a:stCxn id="5" idx="3"/>
            <a:endCxn id="8" idx="1"/>
          </p:cNvCxnSpPr>
          <p:nvPr/>
        </p:nvCxnSpPr>
        <p:spPr>
          <a:xfrm>
            <a:off x="3114675" y="3043238"/>
            <a:ext cx="323850" cy="0"/>
          </a:xfrm>
          <a:prstGeom prst="straightConnector1">
            <a:avLst/>
          </a:prstGeom>
          <a:ln w="23813">
            <a:solidFill>
              <a:srgbClr val="246E63"/>
            </a:solidFill>
            <a:tailEnd type="arrow" w="med" len="med"/>
          </a:ln>
        </p:spPr>
      </p:cxnSp>
      <p:sp>
        <p:nvSpPr>
          <p:cNvPr id="37" name="text-427">
            <a:extLst>
              <a:ext uri="{FF2B5EF4-FFF2-40B4-BE49-F238E27FC236}">
                <ns2:creationId id="{83E7E32A-AC10-4CA9-8AFF-73C5FA11A45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28">
            <a:extLst>
              <a:ext uri="{FF2B5EF4-FFF2-40B4-BE49-F238E27FC236}">
                <ns2:creationId id="{DB3C7431-8569-4655-9618-F16D13AC035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current and redesigned process</a:t>
            </a:r>
          </a:p>
        </p:txBody>
      </p:sp>
      <p:sp>
        <p:nvSpPr>
          <p:cNvPr id="4" name="reveal-01-route">
            <a:extLst>
              <a:ext uri="{FF2B5EF4-FFF2-40B4-BE49-F238E27FC236}">
                <ns2:creationId id="{99D4F44D-685F-4105-A126-7880CAAE8E49}"/>
              </a:ext>
            </a:extLst>
          </p:cNvPr>
          <p:cNvSpPr>
            <a:spLocks noGrp="1"/>
          </p:cNvSpPr>
          <p:nvPr/>
        </p:nvSpPr>
        <p:spPr>
          <a:xfrm>
            <a:off x="619125" y="1962150"/>
            <a:ext cx="10953750" cy="36195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CURRENT PROCESS</a:t>
            </a:r>
          </a:p>
        </p:txBody>
      </p:sp>
      <p:sp>
        <p:nvSpPr>
          <p:cNvPr id="5" name="reveal-01-stage-0">
            <a:extLst>
              <a:ext uri="{FF2B5EF4-FFF2-40B4-BE49-F238E27FC236}">
                <ns2:creationId id="{8C953723-F346-49DB-B66A-268DC39411AF}"/>
              </a:ext>
              <a:ext uri="{C183D7F6-B498-43B3-948B-1728B52AA6E4}">
                <ns3:decorative val="1"/>
              </a:ext>
            </a:extLst>
          </p:cNvPr>
          <p:cNvSpPr>
            <a:spLocks noGrp="1"/>
          </p:cNvSpPr>
          <p:nvPr/>
        </p:nvSpPr>
        <p:spPr>
          <a:xfrm>
            <a:off x="619125" y="2457450"/>
            <a:ext cx="2495550" cy="1171575"/>
          </a:xfrm>
          <a:prstGeom prst="rect">
            <a:avLst/>
          </a:prstGeom>
          <a:solidFill>
            <a:srgbClr val="F1F5F6"/>
          </a:solidFill>
          <a:ln w="11430">
            <a:solidFill>
              <a:srgbClr val="C9D5DA"/>
            </a:solidFill>
          </a:ln>
        </p:spPr>
      </p:sp>
      <p:sp>
        <p:nvSpPr>
          <p:cNvPr id="6" name="reveal-01-label-0">
            <a:extLst>
              <a:ext uri="{FF2B5EF4-FFF2-40B4-BE49-F238E27FC236}">
                <ns2:creationId id="{610BE90B-3391-46E2-A9FD-7E0AAC60EF13}"/>
              </a:ext>
            </a:extLst>
          </p:cNvPr>
          <p:cNvSpPr>
            <a:spLocks noGrp="1"/>
          </p:cNvSpPr>
          <p:nvPr/>
        </p:nvSpPr>
        <p:spPr>
          <a:xfrm>
            <a:off x="752475" y="2552700"/>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Search</a:t>
            </a:r>
          </a:p>
        </p:txBody>
      </p:sp>
      <p:sp>
        <p:nvSpPr>
          <p:cNvPr id="7" name="reveal-01-detail-0">
            <a:extLst>
              <a:ext uri="{FF2B5EF4-FFF2-40B4-BE49-F238E27FC236}">
                <ns2:creationId id="{A8941059-3DA7-4C89-B17F-E753C55139E0}"/>
              </a:ext>
            </a:extLst>
          </p:cNvPr>
          <p:cNvSpPr>
            <a:spLocks noGrp="1"/>
          </p:cNvSpPr>
          <p:nvPr/>
        </p:nvSpPr>
        <p:spPr>
          <a:xfrm>
            <a:off x="752475" y="3076575"/>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Find source</a:t>
            </a:r>
          </a:p>
        </p:txBody>
      </p:sp>
      <p:sp>
        <p:nvSpPr>
          <p:cNvPr id="8" name="reveal-01-stage-1">
            <a:extLst>
              <a:ext uri="{FF2B5EF4-FFF2-40B4-BE49-F238E27FC236}">
                <ns2:creationId id="{26F4010A-4FC4-401A-A8DD-A7591237BFC0}"/>
              </a:ext>
              <a:ext uri="{C183D7F6-B498-43B3-948B-1728B52AA6E4}">
                <ns3:decorative val="1"/>
              </a:ext>
            </a:extLst>
          </p:cNvPr>
          <p:cNvSpPr>
            <a:spLocks noGrp="1"/>
          </p:cNvSpPr>
          <p:nvPr/>
        </p:nvSpPr>
        <p:spPr>
          <a:xfrm>
            <a:off x="3438525" y="2457450"/>
            <a:ext cx="2495550" cy="1171575"/>
          </a:xfrm>
          <a:prstGeom prst="rect">
            <a:avLst/>
          </a:prstGeom>
          <a:solidFill>
            <a:srgbClr val="F1F5F6"/>
          </a:solidFill>
          <a:ln w="11430">
            <a:solidFill>
              <a:srgbClr val="C9D5DA"/>
            </a:solidFill>
          </a:ln>
        </p:spPr>
      </p:sp>
      <p:sp>
        <p:nvSpPr>
          <p:cNvPr id="9" name="reveal-01-label-1">
            <a:extLst>
              <a:ext uri="{FF2B5EF4-FFF2-40B4-BE49-F238E27FC236}">
                <ns2:creationId id="{B3525882-B0DB-4F97-A7B2-375A7A6EBBE2}"/>
              </a:ext>
            </a:extLst>
          </p:cNvPr>
          <p:cNvSpPr>
            <a:spLocks noGrp="1"/>
          </p:cNvSpPr>
          <p:nvPr/>
        </p:nvSpPr>
        <p:spPr>
          <a:xfrm>
            <a:off x="3571875" y="2552700"/>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Read</a:t>
            </a:r>
          </a:p>
        </p:txBody>
      </p:sp>
      <p:sp>
        <p:nvSpPr>
          <p:cNvPr id="10" name="reveal-01-detail-1">
            <a:extLst>
              <a:ext uri="{FF2B5EF4-FFF2-40B4-BE49-F238E27FC236}">
                <ns2:creationId id="{2BDB2820-B03B-461A-B9CD-F7D1C732162F}"/>
              </a:ext>
            </a:extLst>
          </p:cNvPr>
          <p:cNvSpPr>
            <a:spLocks noGrp="1"/>
          </p:cNvSpPr>
          <p:nvPr/>
        </p:nvSpPr>
        <p:spPr>
          <a:xfrm>
            <a:off x="3571875" y="3076575"/>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Interpret</a:t>
            </a:r>
          </a:p>
        </p:txBody>
      </p:sp>
      <p:sp>
        <p:nvSpPr>
          <p:cNvPr id="11" name="reveal-01-stage-2">
            <a:extLst>
              <a:ext uri="{FF2B5EF4-FFF2-40B4-BE49-F238E27FC236}">
                <ns2:creationId id="{C642F709-4418-42E6-9EE1-9250962B7FE1}"/>
              </a:ext>
              <a:ext uri="{C183D7F6-B498-43B3-948B-1728B52AA6E4}">
                <ns3:decorative val="1"/>
              </a:ext>
            </a:extLst>
          </p:cNvPr>
          <p:cNvSpPr>
            <a:spLocks noGrp="1"/>
          </p:cNvSpPr>
          <p:nvPr/>
        </p:nvSpPr>
        <p:spPr>
          <a:xfrm>
            <a:off x="6257925" y="2457450"/>
            <a:ext cx="2495550" cy="1171575"/>
          </a:xfrm>
          <a:prstGeom prst="rect">
            <a:avLst/>
          </a:prstGeom>
          <a:solidFill>
            <a:srgbClr val="F1F5F6"/>
          </a:solidFill>
          <a:ln w="11430">
            <a:solidFill>
              <a:srgbClr val="C9D5DA"/>
            </a:solidFill>
          </a:ln>
        </p:spPr>
      </p:sp>
      <p:sp>
        <p:nvSpPr>
          <p:cNvPr id="12" name="reveal-01-label-2">
            <a:extLst>
              <a:ext uri="{FF2B5EF4-FFF2-40B4-BE49-F238E27FC236}">
                <ns2:creationId id="{59636A58-2A1D-4C6F-A652-84E7A2223EA5}"/>
              </a:ext>
            </a:extLst>
          </p:cNvPr>
          <p:cNvSpPr>
            <a:spLocks noGrp="1"/>
          </p:cNvSpPr>
          <p:nvPr/>
        </p:nvSpPr>
        <p:spPr>
          <a:xfrm>
            <a:off x="6391275" y="2552700"/>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Draft</a:t>
            </a:r>
          </a:p>
        </p:txBody>
      </p:sp>
      <p:sp>
        <p:nvSpPr>
          <p:cNvPr id="13" name="reveal-01-detail-2">
            <a:extLst>
              <a:ext uri="{FF2B5EF4-FFF2-40B4-BE49-F238E27FC236}">
                <ns2:creationId id="{60A9E9D9-780C-4D5E-8DFB-A6F0A12435D3}"/>
              </a:ext>
            </a:extLst>
          </p:cNvPr>
          <p:cNvSpPr>
            <a:spLocks noGrp="1"/>
          </p:cNvSpPr>
          <p:nvPr/>
        </p:nvSpPr>
        <p:spPr>
          <a:xfrm>
            <a:off x="6391275" y="3076575"/>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Prepare</a:t>
            </a:r>
          </a:p>
        </p:txBody>
      </p:sp>
      <p:sp>
        <p:nvSpPr>
          <p:cNvPr id="14" name="reveal-01-stage-3">
            <a:extLst>
              <a:ext uri="{FF2B5EF4-FFF2-40B4-BE49-F238E27FC236}">
                <ns2:creationId id="{DBC7C0ED-0471-480B-B9EE-4A0CC16820D6}"/>
              </a:ext>
              <a:ext uri="{C183D7F6-B498-43B3-948B-1728B52AA6E4}">
                <ns3:decorative val="1"/>
              </a:ext>
            </a:extLst>
          </p:cNvPr>
          <p:cNvSpPr>
            <a:spLocks noGrp="1"/>
          </p:cNvSpPr>
          <p:nvPr/>
        </p:nvSpPr>
        <p:spPr>
          <a:xfrm>
            <a:off x="9077325" y="2457450"/>
            <a:ext cx="2495550" cy="1171575"/>
          </a:xfrm>
          <a:prstGeom prst="rect">
            <a:avLst/>
          </a:prstGeom>
          <a:solidFill>
            <a:srgbClr val="F1F5F6"/>
          </a:solidFill>
          <a:ln w="11430">
            <a:solidFill>
              <a:srgbClr val="C9D5DA"/>
            </a:solidFill>
          </a:ln>
        </p:spPr>
      </p:sp>
      <p:sp>
        <p:nvSpPr>
          <p:cNvPr id="15" name="reveal-01-label-3">
            <a:extLst>
              <a:ext uri="{FF2B5EF4-FFF2-40B4-BE49-F238E27FC236}">
                <ns2:creationId id="{C99C0EA1-BC21-431A-90D2-9ADE4D425128}"/>
              </a:ext>
            </a:extLst>
          </p:cNvPr>
          <p:cNvSpPr>
            <a:spLocks noGrp="1"/>
          </p:cNvSpPr>
          <p:nvPr/>
        </p:nvSpPr>
        <p:spPr>
          <a:xfrm>
            <a:off x="9210675" y="2552700"/>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Partner</a:t>
            </a:r>
          </a:p>
        </p:txBody>
      </p:sp>
      <p:sp>
        <p:nvSpPr>
          <p:cNvPr id="16" name="reveal-01-detail-3">
            <a:extLst>
              <a:ext uri="{FF2B5EF4-FFF2-40B4-BE49-F238E27FC236}">
                <ns2:creationId id="{ECE43219-068D-4344-B084-9FEEEFDE2B1E}"/>
              </a:ext>
            </a:extLst>
          </p:cNvPr>
          <p:cNvSpPr>
            <a:spLocks noGrp="1"/>
          </p:cNvSpPr>
          <p:nvPr/>
        </p:nvSpPr>
        <p:spPr>
          <a:xfrm>
            <a:off x="9210675" y="3076575"/>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Review</a:t>
            </a:r>
          </a:p>
        </p:txBody>
      </p:sp>
      <p:sp>
        <p:nvSpPr>
          <p:cNvPr id="20" name="reveal-02-route">
            <a:extLst>
              <a:ext uri="{FF2B5EF4-FFF2-40B4-BE49-F238E27FC236}">
                <ns2:creationId id="{17BACB5D-A7C6-4EFA-A056-EB841773BEA9}"/>
              </a:ext>
            </a:extLst>
          </p:cNvPr>
          <p:cNvSpPr>
            <a:spLocks noGrp="1"/>
          </p:cNvSpPr>
          <p:nvPr/>
        </p:nvSpPr>
        <p:spPr>
          <a:xfrm>
            <a:off x="619125" y="4124325"/>
            <a:ext cx="10953750" cy="3619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ASSISTED PROCESS</a:t>
            </a:r>
          </a:p>
        </p:txBody>
      </p:sp>
      <p:sp>
        <p:nvSpPr>
          <p:cNvPr id="21" name="reveal-02-stage-0">
            <a:extLst>
              <a:ext uri="{FF2B5EF4-FFF2-40B4-BE49-F238E27FC236}">
                <ns2:creationId id="{CCECB67E-3623-4547-9004-69B1854B3F7B}"/>
              </a:ext>
              <a:ext uri="{C183D7F6-B498-43B3-948B-1728B52AA6E4}">
                <ns3:decorative val="1"/>
              </a:ext>
            </a:extLst>
          </p:cNvPr>
          <p:cNvSpPr>
            <a:spLocks noGrp="1"/>
          </p:cNvSpPr>
          <p:nvPr/>
        </p:nvSpPr>
        <p:spPr>
          <a:xfrm>
            <a:off x="619125" y="4619625"/>
            <a:ext cx="2495550" cy="1171575"/>
          </a:xfrm>
          <a:prstGeom prst="rect">
            <a:avLst/>
          </a:prstGeom>
          <a:solidFill>
            <a:srgbClr val="E9F3F0"/>
          </a:solidFill>
          <a:ln w="11430">
            <a:solidFill>
              <a:srgbClr val="C9D5DA"/>
            </a:solidFill>
          </a:ln>
        </p:spPr>
      </p:sp>
      <p:sp>
        <p:nvSpPr>
          <p:cNvPr id="22" name="reveal-02-label-0">
            <a:extLst>
              <a:ext uri="{FF2B5EF4-FFF2-40B4-BE49-F238E27FC236}">
                <ns2:creationId id="{14590A1C-E990-4EA1-A0CE-67E07E41319C}"/>
              </a:ext>
            </a:extLst>
          </p:cNvPr>
          <p:cNvSpPr>
            <a:spLocks noGrp="1"/>
          </p:cNvSpPr>
          <p:nvPr/>
        </p:nvSpPr>
        <p:spPr>
          <a:xfrm>
            <a:off x="752475" y="4714875"/>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Retrieve</a:t>
            </a:r>
          </a:p>
        </p:txBody>
      </p:sp>
      <p:sp>
        <p:nvSpPr>
          <p:cNvPr id="23" name="reveal-02-detail-0">
            <a:extLst>
              <a:ext uri="{FF2B5EF4-FFF2-40B4-BE49-F238E27FC236}">
                <ns2:creationId id="{907BB8D3-E925-45EB-B98A-C36747EB60B7}"/>
              </a:ext>
            </a:extLst>
          </p:cNvPr>
          <p:cNvSpPr>
            <a:spLocks noGrp="1"/>
          </p:cNvSpPr>
          <p:nvPr/>
        </p:nvSpPr>
        <p:spPr>
          <a:xfrm>
            <a:off x="752475" y="5238750"/>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Permitted sources</a:t>
            </a:r>
          </a:p>
        </p:txBody>
      </p:sp>
      <p:sp>
        <p:nvSpPr>
          <p:cNvPr id="24" name="reveal-02-stage-1">
            <a:extLst>
              <a:ext uri="{FF2B5EF4-FFF2-40B4-BE49-F238E27FC236}">
                <ns2:creationId id="{6F89B1D7-F1D7-45C5-BCCA-2AC2CDC61F5A}"/>
              </a:ext>
              <a:ext uri="{C183D7F6-B498-43B3-948B-1728B52AA6E4}">
                <ns3:decorative val="1"/>
              </a:ext>
            </a:extLst>
          </p:cNvPr>
          <p:cNvSpPr>
            <a:spLocks noGrp="1"/>
          </p:cNvSpPr>
          <p:nvPr/>
        </p:nvSpPr>
        <p:spPr>
          <a:xfrm>
            <a:off x="3438525" y="4619625"/>
            <a:ext cx="2495550" cy="1171575"/>
          </a:xfrm>
          <a:prstGeom prst="rect">
            <a:avLst/>
          </a:prstGeom>
          <a:solidFill>
            <a:srgbClr val="E9F3F0"/>
          </a:solidFill>
          <a:ln w="11430">
            <a:solidFill>
              <a:srgbClr val="C9D5DA"/>
            </a:solidFill>
          </a:ln>
        </p:spPr>
      </p:sp>
      <p:sp>
        <p:nvSpPr>
          <p:cNvPr id="25" name="reveal-02-label-1">
            <a:extLst>
              <a:ext uri="{FF2B5EF4-FFF2-40B4-BE49-F238E27FC236}">
                <ns2:creationId id="{54EFE6CC-5921-4A83-9AFF-6DC6E0A71102}"/>
              </a:ext>
            </a:extLst>
          </p:cNvPr>
          <p:cNvSpPr>
            <a:spLocks noGrp="1"/>
          </p:cNvSpPr>
          <p:nvPr/>
        </p:nvSpPr>
        <p:spPr>
          <a:xfrm>
            <a:off x="3571875" y="4714875"/>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AI draft</a:t>
            </a:r>
          </a:p>
        </p:txBody>
      </p:sp>
      <p:sp>
        <p:nvSpPr>
          <p:cNvPr id="26" name="reveal-02-detail-1">
            <a:extLst>
              <a:ext uri="{FF2B5EF4-FFF2-40B4-BE49-F238E27FC236}">
                <ns2:creationId id="{C6988594-3C35-4DC7-89F2-2EE7982F5184}"/>
              </a:ext>
            </a:extLst>
          </p:cNvPr>
          <p:cNvSpPr>
            <a:spLocks noGrp="1"/>
          </p:cNvSpPr>
          <p:nvPr/>
        </p:nvSpPr>
        <p:spPr>
          <a:xfrm>
            <a:off x="3571875" y="5238750"/>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Cited finding</a:t>
            </a:r>
          </a:p>
        </p:txBody>
      </p:sp>
      <p:sp>
        <p:nvSpPr>
          <p:cNvPr id="27" name="reveal-02-stage-2">
            <a:extLst>
              <a:ext uri="{FF2B5EF4-FFF2-40B4-BE49-F238E27FC236}">
                <ns2:creationId id="{B849A889-FF2B-43B0-B737-F387C2ACEDDF}"/>
              </a:ext>
              <a:ext uri="{C183D7F6-B498-43B3-948B-1728B52AA6E4}">
                <ns3:decorative val="1"/>
              </a:ext>
            </a:extLst>
          </p:cNvPr>
          <p:cNvSpPr>
            <a:spLocks noGrp="1"/>
          </p:cNvSpPr>
          <p:nvPr/>
        </p:nvSpPr>
        <p:spPr>
          <a:xfrm>
            <a:off x="6257925" y="4619625"/>
            <a:ext cx="2495550" cy="1171575"/>
          </a:xfrm>
          <a:prstGeom prst="rect">
            <a:avLst/>
          </a:prstGeom>
          <a:solidFill>
            <a:srgbClr val="E9F3F0"/>
          </a:solidFill>
          <a:ln w="11430">
            <a:solidFill>
              <a:srgbClr val="C9D5DA"/>
            </a:solidFill>
          </a:ln>
        </p:spPr>
      </p:sp>
      <p:sp>
        <p:nvSpPr>
          <p:cNvPr id="28" name="reveal-02-label-2">
            <a:extLst>
              <a:ext uri="{FF2B5EF4-FFF2-40B4-BE49-F238E27FC236}">
                <ns2:creationId id="{7A0C6560-9923-43B6-AADB-214596A2E6B5}"/>
              </a:ext>
            </a:extLst>
          </p:cNvPr>
          <p:cNvSpPr>
            <a:spLocks noGrp="1"/>
          </p:cNvSpPr>
          <p:nvPr/>
        </p:nvSpPr>
        <p:spPr>
          <a:xfrm>
            <a:off x="6391275" y="4714875"/>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Reviewer</a:t>
            </a:r>
          </a:p>
        </p:txBody>
      </p:sp>
      <p:sp>
        <p:nvSpPr>
          <p:cNvPr id="29" name="reveal-02-detail-2">
            <a:extLst>
              <a:ext uri="{FF2B5EF4-FFF2-40B4-BE49-F238E27FC236}">
                <ns2:creationId id="{1EE26747-C865-4A6E-A93A-29A1B94BA0A3}"/>
              </a:ext>
            </a:extLst>
          </p:cNvPr>
          <p:cNvSpPr>
            <a:spLocks noGrp="1"/>
          </p:cNvSpPr>
          <p:nvPr/>
        </p:nvSpPr>
        <p:spPr>
          <a:xfrm>
            <a:off x="6391275" y="5238750"/>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Check and decide</a:t>
            </a:r>
          </a:p>
        </p:txBody>
      </p:sp>
      <p:sp>
        <p:nvSpPr>
          <p:cNvPr id="30" name="reveal-02-stage-3">
            <a:extLst>
              <a:ext uri="{FF2B5EF4-FFF2-40B4-BE49-F238E27FC236}">
                <ns2:creationId id="{58541A83-0BFA-402E-BB40-8E9DB383D05D}"/>
              </a:ext>
              <a:ext uri="{C183D7F6-B498-43B3-948B-1728B52AA6E4}">
                <ns3:decorative val="1"/>
              </a:ext>
            </a:extLst>
          </p:cNvPr>
          <p:cNvSpPr>
            <a:spLocks noGrp="1"/>
          </p:cNvSpPr>
          <p:nvPr/>
        </p:nvSpPr>
        <p:spPr>
          <a:xfrm>
            <a:off x="9077325" y="4619625"/>
            <a:ext cx="2495550" cy="1171575"/>
          </a:xfrm>
          <a:prstGeom prst="rect">
            <a:avLst/>
          </a:prstGeom>
          <a:solidFill>
            <a:srgbClr val="E9F3F0"/>
          </a:solidFill>
          <a:ln w="11430">
            <a:solidFill>
              <a:srgbClr val="C9D5DA"/>
            </a:solidFill>
          </a:ln>
        </p:spPr>
      </p:sp>
      <p:sp>
        <p:nvSpPr>
          <p:cNvPr id="31" name="reveal-02-label-3">
            <a:extLst>
              <a:ext uri="{FF2B5EF4-FFF2-40B4-BE49-F238E27FC236}">
                <ns2:creationId id="{A251586B-BA37-4404-B332-17EB75291570}"/>
              </a:ext>
            </a:extLst>
          </p:cNvPr>
          <p:cNvSpPr>
            <a:spLocks noGrp="1"/>
          </p:cNvSpPr>
          <p:nvPr/>
        </p:nvSpPr>
        <p:spPr>
          <a:xfrm>
            <a:off x="9210675" y="4714875"/>
            <a:ext cx="2228850" cy="428625"/>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Record</a:t>
            </a:r>
          </a:p>
        </p:txBody>
      </p:sp>
      <p:sp>
        <p:nvSpPr>
          <p:cNvPr id="32" name="reveal-02-detail-3">
            <a:extLst>
              <a:ext uri="{FF2B5EF4-FFF2-40B4-BE49-F238E27FC236}">
                <ns2:creationId id="{1F72D969-E11C-4D10-859F-5905D2FB5E6C}"/>
              </a:ext>
            </a:extLst>
          </p:cNvPr>
          <p:cNvSpPr>
            <a:spLocks noGrp="1"/>
          </p:cNvSpPr>
          <p:nvPr/>
        </p:nvSpPr>
        <p:spPr>
          <a:xfrm>
            <a:off x="9210675" y="5238750"/>
            <a:ext cx="2228850" cy="476250"/>
          </a:xfrm>
          <a:prstGeom prst="rect">
            <a:avLst/>
          </a:prstGeom>
          <a:noFill/>
          <a:ln w="0">
            <a:noFill/>
          </a:ln>
        </p:spPr>
        <p:txBody>
          <a:bodyPr>
            <a:noAutofit/>
          </a:bodyPr>
          <a:lstStyle>
            <a:defPPr>
              <a:defRPr sz="1875" b="0">
                <a:solidFill>
                  <a:srgbClr val="1C3144"/>
                </a:solidFill>
                <a:latin typeface="Calibri"/>
                <a:ea typeface="Calibri"/>
                <a:cs typeface="Calibri"/>
              </a:defRPr>
            </a:defPPr>
            <a:lvl1pPr>
              <a:defRPr sz="1875" b="0">
                <a:solidFill>
                  <a:srgbClr val="1C3144"/>
                </a:solidFill>
                <a:latin typeface="Calibri"/>
                <a:ea typeface="Calibri"/>
                <a:cs typeface="Calibri"/>
              </a:defRPr>
            </a:lvl1pPr>
            <a:lvl2pPr>
              <a:defRPr sz="1875" b="0">
                <a:solidFill>
                  <a:srgbClr val="1C3144"/>
                </a:solidFill>
                <a:latin typeface="Calibri"/>
                <a:ea typeface="Calibri"/>
                <a:cs typeface="Calibri"/>
              </a:defRPr>
            </a:lvl2pPr>
            <a:lvl3pPr>
              <a:defRPr sz="1875" b="0">
                <a:solidFill>
                  <a:srgbClr val="1C3144"/>
                </a:solidFill>
                <a:latin typeface="Calibri"/>
                <a:ea typeface="Calibri"/>
                <a:cs typeface="Calibri"/>
              </a:defRPr>
            </a:lvl3pPr>
            <a:lvl4pPr>
              <a:defRPr sz="1875" b="0">
                <a:solidFill>
                  <a:srgbClr val="1C3144"/>
                </a:solidFill>
                <a:latin typeface="Calibri"/>
                <a:ea typeface="Calibri"/>
                <a:cs typeface="Calibri"/>
              </a:defRPr>
            </a:lvl4pPr>
            <a:lvl5pPr>
              <a:defRPr sz="1875" b="0">
                <a:solidFill>
                  <a:srgbClr val="1C3144"/>
                </a:solidFill>
                <a:latin typeface="Calibri"/>
                <a:ea typeface="Calibri"/>
                <a:cs typeface="Calibri"/>
              </a:defRPr>
            </a:lvl5pPr>
            <a:lvl6pPr>
              <a:defRPr sz="1875" b="0">
                <a:solidFill>
                  <a:srgbClr val="1C3144"/>
                </a:solidFill>
                <a:latin typeface="Calibri"/>
                <a:ea typeface="Calibri"/>
                <a:cs typeface="Calibri"/>
              </a:defRPr>
            </a:lvl6pPr>
            <a:lvl7pPr>
              <a:defRPr sz="1875" b="0">
                <a:solidFill>
                  <a:srgbClr val="1C3144"/>
                </a:solidFill>
                <a:latin typeface="Calibri"/>
                <a:ea typeface="Calibri"/>
                <a:cs typeface="Calibri"/>
              </a:defRPr>
            </a:lvl7pPr>
            <a:lvl8pPr>
              <a:defRPr sz="1875" b="0">
                <a:solidFill>
                  <a:srgbClr val="1C3144"/>
                </a:solidFill>
                <a:latin typeface="Calibri"/>
                <a:ea typeface="Calibri"/>
                <a:cs typeface="Calibri"/>
              </a:defRPr>
            </a:lvl8pPr>
            <a:lvl9pPr>
              <a:defRPr sz="1875" b="0">
                <a:solidFill>
                  <a:srgbClr val="1C3144"/>
                </a:solidFill>
                <a:latin typeface="Calibri"/>
                <a:ea typeface="Calibri"/>
                <a:cs typeface="Calibri"/>
              </a:defRPr>
            </a:lvl9pPr>
          </a:lstStyle>
          <a:p>
            <a:pPr>
              <a:defRPr sz="1875" b="0">
                <a:solidFill>
                  <a:srgbClr val="1C3144"/>
                </a:solidFill>
                <a:latin typeface="Calibri"/>
                <a:ea typeface="Calibri"/>
                <a:cs typeface="Calibri"/>
              </a:defRPr>
            </a:pPr>
            <a:r>
              <a:rPr sz="1875" b="0">
                <a:solidFill>
                  <a:srgbClr val="1C3144"/>
                </a:solidFill>
                <a:latin typeface="Calibri"/>
                <a:ea typeface="Calibri"/>
                <a:cs typeface="Calibri"/>
              </a:rPr>
              <a:t>Approved result</a:t>
            </a:r>
          </a:p>
        </p:txBody>
      </p:sp>
      <p:sp>
        <p:nvSpPr>
          <p:cNvPr id="36" name="text-436">
            <a:extLst>
              <a:ext uri="{FF2B5EF4-FFF2-40B4-BE49-F238E27FC236}">
                <ns2:creationId id="{D2890EB3-934D-41AC-9332-33F4D642766A}"/>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assisted design changes preparation. Qualified review and accountable use remain explicit.</a:t>
            </a:r>
          </a:p>
        </p:txBody>
      </p:sp>
      <p:sp>
        <p:nvSpPr>
          <p:cNvPr id="3" name="text-429">
            <a:extLst>
              <a:ext uri="{FF2B5EF4-FFF2-40B4-BE49-F238E27FC236}">
                <ns2:creationId id="{CFCEE446-41E3-4D58-9EBC-B14A27A25F1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6</a:t>
            </a:r>
          </a:p>
        </p:txBody>
      </p:sp>
    </p:spTree>
    <p:extLst>
      <p:ext uri="{BB962C8B-B14F-4D97-AF65-F5344CB8AC3E}">
        <ns4:creationId val="365296318"/>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300"/>
                                        <p:tgtEl>
                                          <p:spTgt spid="19"/>
                                        </p:tgtEl>
                                      </p:cBhvr>
                                    </p:animEffect>
                                  </p:childTnLst>
                                </p:cTn>
                              </p:par>
                              <p:par>
                                <p:cTn id="8" presetID="10" presetClass="entr" presetSubtype="0" fill="hold" nodeType="click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300"/>
                                        <p:tgtEl>
                                          <p:spTgt spid="18"/>
                                        </p:tgtEl>
                                      </p:cBhvr>
                                    </p:animEffect>
                                  </p:childTnLst>
                                </p:cTn>
                              </p:par>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300"/>
                                        <p:tgtEl>
                                          <p:spTgt spid="17"/>
                                        </p:tgtEl>
                                      </p:cBhvr>
                                    </p:animEffect>
                                  </p:childTnLst>
                                </p:cTn>
                              </p:par>
                              <p:par>
                                <p:cTn id="14" presetID="10"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300"/>
                                        <p:tgtEl>
                                          <p:spTgt spid="4"/>
                                        </p:tgtEl>
                                      </p:cBhvr>
                                    </p:animEffect>
                                  </p:childTnLst>
                                </p:cTn>
                              </p:par>
                              <p:par>
                                <p:cTn id="17" presetID="10"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par>
                                <p:cTn id="26"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300"/>
                                        <p:tgtEl>
                                          <p:spTgt spid="8"/>
                                        </p:tgtEl>
                                      </p:cBhvr>
                                    </p:animEffect>
                                  </p:childTnLst>
                                </p:cTn>
                              </p:par>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300"/>
                                        <p:tgtEl>
                                          <p:spTgt spid="9"/>
                                        </p:tgtEl>
                                      </p:cBhvr>
                                    </p:animEffect>
                                  </p:childTnLst>
                                </p:cTn>
                              </p:par>
                              <p:par>
                                <p:cTn id="32" presetID="10"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00"/>
                                        <p:tgtEl>
                                          <p:spTgt spid="10"/>
                                        </p:tgtEl>
                                      </p:cBhvr>
                                    </p:animEffect>
                                  </p:childTnLst>
                                </p:cTn>
                              </p:par>
                              <p:par>
                                <p:cTn id="35" presetID="10" presetClass="entr" presetSubtype="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300"/>
                                        <p:tgtEl>
                                          <p:spTgt spid="11"/>
                                        </p:tgtEl>
                                      </p:cBhvr>
                                    </p:animEffect>
                                  </p:childTnLst>
                                </p:cTn>
                              </p:par>
                              <p:par>
                                <p:cTn id="38" presetID="10" presetClass="entr" presetSubtype="0"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300"/>
                                        <p:tgtEl>
                                          <p:spTgt spid="12"/>
                                        </p:tgtEl>
                                      </p:cBhvr>
                                    </p:animEffect>
                                  </p:childTnLst>
                                </p:cTn>
                              </p:par>
                              <p:par>
                                <p:cTn id="41" presetID="10"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300"/>
                                        <p:tgtEl>
                                          <p:spTgt spid="13"/>
                                        </p:tgtEl>
                                      </p:cBhvr>
                                    </p:animEffect>
                                  </p:childTnLst>
                                </p:cTn>
                              </p:par>
                              <p:par>
                                <p:cTn id="44" presetID="10" presetClass="entr" presetSubtype="0"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300"/>
                                        <p:tgtEl>
                                          <p:spTgt spid="14"/>
                                        </p:tgtEl>
                                      </p:cBhvr>
                                    </p:animEffect>
                                  </p:childTnLst>
                                </p:cTn>
                              </p:par>
                              <p:par>
                                <p:cTn id="47" presetID="10"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300"/>
                                        <p:tgtEl>
                                          <p:spTgt spid="15"/>
                                        </p:tgtEl>
                                      </p:cBhvr>
                                    </p:animEffect>
                                  </p:childTnLst>
                                </p:cTn>
                              </p:par>
                              <p:par>
                                <p:cTn id="50" presetID="10"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3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300"/>
                                        <p:tgtEl>
                                          <p:spTgt spid="35"/>
                                        </p:tgtEl>
                                      </p:cBhvr>
                                    </p:animEffect>
                                  </p:childTnLst>
                                </p:cTn>
                              </p:par>
                              <p:par>
                                <p:cTn id="58" presetID="10" presetClass="entr" presetSubtype="0" fill="hold"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fade">
                                      <p:cBhvr>
                                        <p:cTn id="60" dur="300"/>
                                        <p:tgtEl>
                                          <p:spTgt spid="34"/>
                                        </p:tgtEl>
                                      </p:cBhvr>
                                    </p:animEffect>
                                  </p:childTnLst>
                                </p:cTn>
                              </p:par>
                              <p:par>
                                <p:cTn id="61" presetID="10" presetClass="entr" presetSubtype="0" fill="hold" nodeType="clickEffect">
                                  <p:stCondLst>
                                    <p:cond delay="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300"/>
                                        <p:tgtEl>
                                          <p:spTgt spid="33"/>
                                        </p:tgtEl>
                                      </p:cBhvr>
                                    </p:animEffect>
                                  </p:childTnLst>
                                </p:cTn>
                              </p:par>
                              <p:par>
                                <p:cTn id="64" presetID="10" presetClass="entr" presetSubtype="0" fill="hold"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300"/>
                                        <p:tgtEl>
                                          <p:spTgt spid="20"/>
                                        </p:tgtEl>
                                      </p:cBhvr>
                                    </p:animEffect>
                                  </p:childTnLst>
                                </p:cTn>
                              </p:par>
                              <p:par>
                                <p:cTn id="67" presetID="10"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300"/>
                                        <p:tgtEl>
                                          <p:spTgt spid="21"/>
                                        </p:tgtEl>
                                      </p:cBhvr>
                                    </p:animEffect>
                                  </p:childTnLst>
                                </p:cTn>
                              </p:par>
                              <p:par>
                                <p:cTn id="70" presetID="10" presetClass="entr" presetSubtype="0" fill="hold"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300"/>
                                        <p:tgtEl>
                                          <p:spTgt spid="22"/>
                                        </p:tgtEl>
                                      </p:cBhvr>
                                    </p:animEffect>
                                  </p:childTnLst>
                                </p:cTn>
                              </p:par>
                              <p:par>
                                <p:cTn id="73" presetID="10"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fade">
                                      <p:cBhvr>
                                        <p:cTn id="75" dur="300"/>
                                        <p:tgtEl>
                                          <p:spTgt spid="23"/>
                                        </p:tgtEl>
                                      </p:cBhvr>
                                    </p:animEffect>
                                  </p:childTnLst>
                                </p:cTn>
                              </p:par>
                              <p:par>
                                <p:cTn id="76" presetID="10" presetClass="entr" presetSubtype="0" fill="hold"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fade">
                                      <p:cBhvr>
                                        <p:cTn id="78" dur="300"/>
                                        <p:tgtEl>
                                          <p:spTgt spid="24"/>
                                        </p:tgtEl>
                                      </p:cBhvr>
                                    </p:animEffect>
                                  </p:childTnLst>
                                </p:cTn>
                              </p:par>
                              <p:par>
                                <p:cTn id="79" presetID="10" presetClass="entr" presetSubtype="0" fill="hold" nodeType="clickEffect">
                                  <p:stCondLst>
                                    <p:cond delay="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300"/>
                                        <p:tgtEl>
                                          <p:spTgt spid="25"/>
                                        </p:tgtEl>
                                      </p:cBhvr>
                                    </p:animEffect>
                                  </p:childTnLst>
                                </p:cTn>
                              </p:par>
                              <p:par>
                                <p:cTn id="82" presetID="10" presetClass="entr" presetSubtype="0" fill="hold" nodeType="click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fade">
                                      <p:cBhvr>
                                        <p:cTn id="84" dur="300"/>
                                        <p:tgtEl>
                                          <p:spTgt spid="26"/>
                                        </p:tgtEl>
                                      </p:cBhvr>
                                    </p:animEffect>
                                  </p:childTnLst>
                                </p:cTn>
                              </p:par>
                              <p:par>
                                <p:cTn id="85" presetID="10" presetClass="entr" presetSubtype="0" fill="hold" nodeType="click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300"/>
                                        <p:tgtEl>
                                          <p:spTgt spid="27"/>
                                        </p:tgtEl>
                                      </p:cBhvr>
                                    </p:animEffect>
                                  </p:childTnLst>
                                </p:cTn>
                              </p:par>
                              <p:par>
                                <p:cTn id="88" presetID="10" presetClass="entr" presetSubtype="0" fill="hold" nodeType="clickEffect">
                                  <p:stCondLst>
                                    <p:cond delay="0"/>
                                  </p:stCondLst>
                                  <p:childTnLst>
                                    <p:set>
                                      <p:cBhvr>
                                        <p:cTn id="89" dur="1" fill="hold">
                                          <p:stCondLst>
                                            <p:cond delay="0"/>
                                          </p:stCondLst>
                                        </p:cTn>
                                        <p:tgtEl>
                                          <p:spTgt spid="28"/>
                                        </p:tgtEl>
                                        <p:attrNameLst>
                                          <p:attrName>style.visibility</p:attrName>
                                        </p:attrNameLst>
                                      </p:cBhvr>
                                      <p:to>
                                        <p:strVal val="visible"/>
                                      </p:to>
                                    </p:set>
                                    <p:animEffect transition="in" filter="fade">
                                      <p:cBhvr>
                                        <p:cTn id="90" dur="300"/>
                                        <p:tgtEl>
                                          <p:spTgt spid="28"/>
                                        </p:tgtEl>
                                      </p:cBhvr>
                                    </p:animEffect>
                                  </p:childTnLst>
                                </p:cTn>
                              </p:par>
                              <p:par>
                                <p:cTn id="91" presetID="10" presetClass="entr" presetSubtype="0" fill="hold" nodeType="click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300"/>
                                        <p:tgtEl>
                                          <p:spTgt spid="29"/>
                                        </p:tgtEl>
                                      </p:cBhvr>
                                    </p:animEffect>
                                  </p:childTnLst>
                                </p:cTn>
                              </p:par>
                              <p:par>
                                <p:cTn id="94" presetID="10" presetClass="entr" presetSubtype="0" fill="hold"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300"/>
                                        <p:tgtEl>
                                          <p:spTgt spid="30"/>
                                        </p:tgtEl>
                                      </p:cBhvr>
                                    </p:animEffect>
                                  </p:childTnLst>
                                </p:cTn>
                              </p:par>
                              <p:par>
                                <p:cTn id="97" presetID="10" presetClass="entr" presetSubtype="0" fill="hold" nodeType="click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300"/>
                                        <p:tgtEl>
                                          <p:spTgt spid="31"/>
                                        </p:tgtEl>
                                      </p:cBhvr>
                                    </p:animEffect>
                                  </p:childTnLst>
                                </p:cTn>
                              </p:par>
                              <p:par>
                                <p:cTn id="100" presetID="10" presetClass="entr" presetSubtype="0" fill="hold" nodeType="clickEffect">
                                  <p:stCondLst>
                                    <p:cond delay="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3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A measurable baseline">
    <p:bg>
      <p:bgPr>
        <a:solidFill>
          <a:srgbClr val="FFFFFF"/>
        </a:solidFill>
      </p:bgPr>
    </p:bg>
    <p:spTree>
      <p:nvGrpSpPr>
        <p:cNvPr id="1" name=""/>
        <p:cNvGrpSpPr/>
        <p:nvPr/>
      </p:nvGrpSpPr>
      <p:grpSpPr>
        <a:xfrm/>
      </p:grpSpPr>
      <p:sp>
        <p:nvSpPr>
          <p:cNvPr id="12" name="text-437">
            <a:extLst>
              <a:ext uri="{FF2B5EF4-FFF2-40B4-BE49-F238E27FC236}">
                <ns2:creationId id="{A267E830-8F03-415B-9976-62289046881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38">
            <a:extLst>
              <a:ext uri="{FF2B5EF4-FFF2-40B4-BE49-F238E27FC236}">
                <ns2:creationId id="{E07EB148-C8F0-48E6-ABF2-BE18C5597F7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measurable baseline</a:t>
            </a:r>
          </a:p>
        </p:txBody>
      </p:sp>
      <p:sp>
        <p:nvSpPr>
          <p:cNvPr id="4" name="text-440">
            <a:extLst>
              <a:ext uri="{FF2B5EF4-FFF2-40B4-BE49-F238E27FC236}">
                <ns2:creationId id="{386B01C2-C04E-4170-9DD1-E51B3E5FE9F1}"/>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41">
            <a:extLst>
              <a:ext uri="{FF2B5EF4-FFF2-40B4-BE49-F238E27FC236}">
                <ns2:creationId id="{9D896030-0D54-4AE2-AE16-9DE04FE31B59}"/>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Time to find relevant evidence</a:t>
            </a:r>
          </a:p>
        </p:txBody>
      </p:sp>
      <p:sp>
        <p:nvSpPr>
          <p:cNvPr id="6" name="text-442">
            <a:extLst>
              <a:ext uri="{FF2B5EF4-FFF2-40B4-BE49-F238E27FC236}">
                <ns2:creationId id="{FC534D83-38E2-48E7-BFB5-797C8FFB0E2C}"/>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43">
            <a:extLst>
              <a:ext uri="{FF2B5EF4-FFF2-40B4-BE49-F238E27FC236}">
                <ns2:creationId id="{5FFE04DE-EE52-42A4-99B3-7713329ED0CD}"/>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Accuracy and completeness of the finding</a:t>
            </a:r>
          </a:p>
        </p:txBody>
      </p:sp>
      <p:sp>
        <p:nvSpPr>
          <p:cNvPr id="8" name="text-444">
            <a:extLst>
              <a:ext uri="{FF2B5EF4-FFF2-40B4-BE49-F238E27FC236}">
                <ns2:creationId id="{0FD27247-A1A2-4811-841E-C5973119D05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45">
            <a:extLst>
              <a:ext uri="{FF2B5EF4-FFF2-40B4-BE49-F238E27FC236}">
                <ns2:creationId id="{064B6096-7414-42A8-B4C8-1F3E55CF0FFF}"/>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Partner review and correction effort</a:t>
            </a:r>
          </a:p>
        </p:txBody>
      </p:sp>
      <p:sp>
        <p:nvSpPr>
          <p:cNvPr id="10" name="text-446">
            <a:extLst>
              <a:ext uri="{FF2B5EF4-FFF2-40B4-BE49-F238E27FC236}">
                <ns2:creationId id="{FFD5D76C-1EB1-4474-8754-14B261C42868}"/>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47">
            <a:extLst>
              <a:ext uri="{FF2B5EF4-FFF2-40B4-BE49-F238E27FC236}">
                <ns2:creationId id="{E1D731CE-AC30-4E12-814F-C835E0A21C8A}"/>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Turnaround, cost and client experience</a:t>
            </a:r>
          </a:p>
        </p:txBody>
      </p:sp>
      <p:sp>
        <p:nvSpPr>
          <p:cNvPr id="3" name="text-439">
            <a:extLst>
              <a:ext uri="{FF2B5EF4-FFF2-40B4-BE49-F238E27FC236}">
                <ns2:creationId id="{D58F8B16-7EC4-4472-A2E0-6D39405ACFA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7</a:t>
            </a:r>
          </a:p>
        </p:txBody>
      </p:sp>
      <p:pic xmlns:r="http://schemas.openxmlformats.org/officeDocument/2006/relationships">
        <p:nvPicPr>
          <p:cNvPr id="13" name="illustration-gauge" descr="Illustration: a gauge with minutes per resul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29658482"/>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A fictional capacity example">
    <p:bg>
      <p:bgPr>
        <a:solidFill>
          <a:srgbClr val="FFFFFF"/>
        </a:solidFill>
      </p:bgPr>
    </p:bg>
    <p:spTree>
      <p:nvGrpSpPr>
        <p:cNvPr id="1" name=""/>
        <p:cNvGrpSpPr/>
        <p:nvPr/>
      </p:nvGrpSpPr>
      <p:grpSpPr>
        <a:xfrm/>
      </p:grpSpPr>
      <p:sp>
        <p:nvSpPr>
          <p:cNvPr id="5" name="text-448">
            <a:extLst>
              <a:ext uri="{FF2B5EF4-FFF2-40B4-BE49-F238E27FC236}">
                <ns2:creationId id="{DA6189E1-311B-4394-91D1-C4519596A37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49">
            <a:extLst>
              <a:ext uri="{FF2B5EF4-FFF2-40B4-BE49-F238E27FC236}">
                <ns2:creationId id="{2D468BB4-F770-4AFF-A0D3-1BFE5D26140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fictional capacity example</a:t>
            </a:r>
          </a:p>
        </p:txBody>
      </p:sp>
      <p:graphicFrame>
        <p:nvGraphicFramePr>
          <p:cNvPr id="4" name="">
            <a:extLst>
              <a:ext uri="{FF2B5EF4-FFF2-40B4-BE49-F238E27FC236}">
                <ns2:creationId id="{1C88D383-80AA-4CC2-9F99-8A0DE4E6940F}"/>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Per task</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Current</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Assisted</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Search and preparation</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20 minutes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8 minutes</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Review</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10 minutes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12 minutes</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Total under these assumptions</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30 minutes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20 minutes</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50">
            <a:extLst>
              <a:ext uri="{FF2B5EF4-FFF2-40B4-BE49-F238E27FC236}">
                <ns2:creationId id="{6D67A871-ABF0-436D-91A1-853F3B65758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8</a:t>
            </a:r>
          </a:p>
        </p:txBody>
      </p:sp>
    </p:spTree>
    <p:extLst>
      <p:ext uri="{BB962C8B-B14F-4D97-AF65-F5344CB8AC3E}">
        <ns3:creationId val="1973258634"/>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When the benefit disappears">
    <p:bg>
      <p:bgPr>
        <a:solidFill>
          <a:srgbClr val="FFFFFF"/>
        </a:solidFill>
      </p:bgPr>
    </p:bg>
    <p:spTree>
      <p:nvGrpSpPr>
        <p:cNvPr id="1" name=""/>
        <p:cNvGrpSpPr/>
        <p:nvPr/>
      </p:nvGrpSpPr>
      <p:grpSpPr>
        <a:xfrm/>
      </p:grpSpPr>
      <p:sp>
        <p:nvSpPr>
          <p:cNvPr id="8" name="text-451">
            <a:extLst>
              <a:ext uri="{FF2B5EF4-FFF2-40B4-BE49-F238E27FC236}">
                <ns2:creationId id="{CEAFC8D0-BB53-4DDF-8199-624CDE6AB50E}"/>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52">
            <a:extLst>
              <a:ext uri="{FF2B5EF4-FFF2-40B4-BE49-F238E27FC236}">
                <ns2:creationId id="{3BAB87BA-B603-4386-9657-B193635B6D3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When the benefit disappears</a:t>
            </a:r>
          </a:p>
        </p:txBody>
      </p:sp>
      <p:sp>
        <p:nvSpPr>
          <p:cNvPr id="4" name="text-454">
            <a:extLst>
              <a:ext uri="{FF2B5EF4-FFF2-40B4-BE49-F238E27FC236}">
                <ns2:creationId id="{5F7F5640-BB5C-46C1-A51A-01753DFBCC9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5">
            <a:extLst>
              <a:ext uri="{FF2B5EF4-FFF2-40B4-BE49-F238E27FC236}">
                <ns2:creationId id="{A8EAC2D9-F769-43AF-A6D2-D6D302BFEE4A}"/>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If assisted review rises to 25 minutes, total assisted time is 33 minutes.</a:t>
            </a:r>
          </a:p>
        </p:txBody>
      </p:sp>
      <p:sp>
        <p:nvSpPr>
          <p:cNvPr id="6" name="text-456">
            <a:extLst>
              <a:ext uri="{FF2B5EF4-FFF2-40B4-BE49-F238E27FC236}">
                <ns2:creationId id="{0985890D-6C9E-4FB5-8307-0120984684E3}"/>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57">
            <a:extLst>
              <a:ext uri="{FF2B5EF4-FFF2-40B4-BE49-F238E27FC236}">
                <ns2:creationId id="{B217811A-8E8D-4A25-9088-C612B4F33FD0}"/>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Against the 30-minute baseline, forty tasks consume 120 extra minutes.</a:t>
            </a:r>
          </a:p>
        </p:txBody>
      </p:sp>
      <p:sp>
        <p:nvSpPr>
          <p:cNvPr id="3" name="text-453">
            <a:extLst>
              <a:ext uri="{FF2B5EF4-FFF2-40B4-BE49-F238E27FC236}">
                <ns2:creationId id="{8F3E21A6-4E25-4562-8BF1-3318CF53348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9</a:t>
            </a:r>
          </a:p>
        </p:txBody>
      </p:sp>
      <p:pic xmlns:r="http://schemas.openxmlformats.org/officeDocument/2006/relationships">
        <p:nvPicPr>
          <p:cNvPr id="9" name="illustration-bars" descr="Illustration: a bar chart with a downward ste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10099332"/>
      </p:ext>
    </p:extLst>
  </p:cSld>
  <p:transition spd="med" advClick="1">
    <p:fade/>
  </p:transition>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name="Buy, configure or commission">
    <p:bg>
      <p:bgPr>
        <a:solidFill>
          <a:srgbClr val="FFFFFF"/>
        </a:solidFill>
      </p:bgPr>
    </p:bg>
    <p:spTree>
      <p:nvGrpSpPr>
        <p:cNvPr id="1" name=""/>
        <p:cNvGrpSpPr/>
        <p:nvPr/>
      </p:nvGrpSpPr>
      <p:grpSpPr>
        <a:xfrm/>
      </p:grpSpPr>
      <p:sp>
        <p:nvSpPr>
          <p:cNvPr id="5" name="text-458">
            <a:extLst>
              <a:ext uri="{FF2B5EF4-FFF2-40B4-BE49-F238E27FC236}">
                <ns2:creationId id="{6F3A0188-EB50-4B4F-8FE8-FBDFCD370BB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59">
            <a:extLst>
              <a:ext uri="{FF2B5EF4-FFF2-40B4-BE49-F238E27FC236}">
                <ns2:creationId id="{C8776D91-68E8-4A6D-9917-663D7483B3CF}"/>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Buy, configure or commission</a:t>
            </a:r>
          </a:p>
        </p:txBody>
      </p:sp>
      <p:graphicFrame>
        <p:nvGraphicFramePr>
          <p:cNvPr id="4" name="">
            <a:extLst>
              <a:ext uri="{FF2B5EF4-FFF2-40B4-BE49-F238E27FC236}">
                <ns2:creationId id="{A911921F-0B11-4A20-BCE2-F3D3560C4F7E}"/>
              </a:ext>
            </a:extLst>
          </p:cNvPr>
          <p:cNvGraphicFramePr/>
          <p:nvPr/>
        </p:nvGraphicFramePr>
        <p:xfrm>
          <a:off x="619125" y="1933575"/>
          <a:ext cx="10953750" cy="3743325"/>
        </p:xfrm>
        <a:graphic>
          <a:graphicData uri="http://schemas.openxmlformats.org/drawingml/2006/table">
            <a:tbl>
              <a:tblPr/>
              <a:tblGrid>
                <a:gridCol w="5476875"/>
                <a:gridCol w="5476875"/>
              </a:tblGrid>
              <a:tr h="935831">
                <a:tc>
                  <a:txBody>
                    <a:bodyPr/>
                    <a:lstStyle/>
                    <a:p>
                      <a:r>
                        <a:rPr sz="1875" b="1">
                          <a:solidFill>
                            <a:srgbClr val="FFFFFF"/>
                          </a:solidFill>
                          <a:latin typeface="Calibri"/>
                          <a:ea typeface="Calibri"/>
                          <a:cs typeface="Calibri"/>
                        </a:rPr>
                        <a:t>Route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What the partner should assess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Existing product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Task fit, sources, rights and contract</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Configure a platform</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Connections, permissions and support</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Custom development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Ownership, evaluation and maintenance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460">
            <a:extLst>
              <a:ext uri="{FF2B5EF4-FFF2-40B4-BE49-F238E27FC236}">
                <ns2:creationId id="{A802A545-11C2-4EC9-9216-416992362DC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10</a:t>
            </a:r>
          </a:p>
        </p:txBody>
      </p:sp>
    </p:spTree>
    <p:extLst>
      <p:ext uri="{BB962C8B-B14F-4D97-AF65-F5344CB8AC3E}">
        <ns3:creationId val="1590598001"/>
      </p:ext>
    </p:extLst>
  </p:cSld>
  <p:transition spd="med" advClick="1">
    <p:fade/>
  </p:transition>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The pilot team">
    <p:bg>
      <p:bgPr>
        <a:solidFill>
          <a:srgbClr val="FFFFFF"/>
        </a:solidFill>
      </p:bgPr>
    </p:bg>
    <p:spTree>
      <p:nvGrpSpPr>
        <p:cNvPr id="1" name=""/>
        <p:cNvGrpSpPr/>
        <p:nvPr/>
      </p:nvGrpSpPr>
      <p:grpSpPr>
        <a:xfrm/>
      </p:grpSpPr>
      <p:sp>
        <p:nvSpPr>
          <p:cNvPr id="12" name="text-461">
            <a:extLst>
              <a:ext uri="{FF2B5EF4-FFF2-40B4-BE49-F238E27FC236}">
                <ns2:creationId id="{0C685FFF-59E9-4CAD-A8DD-34A6578B25E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62">
            <a:extLst>
              <a:ext uri="{FF2B5EF4-FFF2-40B4-BE49-F238E27FC236}">
                <ns2:creationId id="{7EDE2D97-63CA-4F48-AEBC-DF4CB53C6D6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pilot team</a:t>
            </a:r>
          </a:p>
        </p:txBody>
      </p:sp>
      <p:sp>
        <p:nvSpPr>
          <p:cNvPr id="4" name="text-464">
            <a:extLst>
              <a:ext uri="{FF2B5EF4-FFF2-40B4-BE49-F238E27FC236}">
                <ns2:creationId id="{E15E16B6-77A4-4139-B05B-C796BB72F4DB}"/>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65">
            <a:extLst>
              <a:ext uri="{FF2B5EF4-FFF2-40B4-BE49-F238E27FC236}">
                <ns2:creationId id="{E98BA845-D1F6-4B2B-A3FB-9AFCA6A60A91}"/>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Sponsor with decision authority</a:t>
            </a:r>
          </a:p>
        </p:txBody>
      </p:sp>
      <p:sp>
        <p:nvSpPr>
          <p:cNvPr id="6" name="text-466">
            <a:extLst>
              <a:ext uri="{FF2B5EF4-FFF2-40B4-BE49-F238E27FC236}">
                <ns2:creationId id="{6FEE78A5-FFEA-410A-9C3A-201872D24868}"/>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7">
            <a:extLst>
              <a:ext uri="{FF2B5EF4-FFF2-40B4-BE49-F238E27FC236}">
                <ns2:creationId id="{5E83B08E-B53E-46E8-96FD-ABB2B84F353E}"/>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Practice and information owners</a:t>
            </a:r>
          </a:p>
        </p:txBody>
      </p:sp>
      <p:sp>
        <p:nvSpPr>
          <p:cNvPr id="8" name="text-468">
            <a:extLst>
              <a:ext uri="{FF2B5EF4-FFF2-40B4-BE49-F238E27FC236}">
                <ns2:creationId id="{770FC661-3AB9-41D3-99B1-971E38E79C66}"/>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69">
            <a:extLst>
              <a:ext uri="{FF2B5EF4-FFF2-40B4-BE49-F238E27FC236}">
                <ns2:creationId id="{46E45419-64C5-4E02-85A3-4676CD2B8DE5}"/>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Technical support and qualified reviewers</a:t>
            </a:r>
          </a:p>
        </p:txBody>
      </p:sp>
      <p:sp>
        <p:nvSpPr>
          <p:cNvPr id="10" name="text-470">
            <a:extLst>
              <a:ext uri="{FF2B5EF4-FFF2-40B4-BE49-F238E27FC236}">
                <ns2:creationId id="{D231545F-7BA8-4A75-A381-251563F132E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71">
            <a:extLst>
              <a:ext uri="{FF2B5EF4-FFF2-40B4-BE49-F238E27FC236}">
                <ns2:creationId id="{D2150950-2C95-4A77-9B8A-4F95B2B3F077}"/>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Staff who will use the process</a:t>
            </a:r>
          </a:p>
        </p:txBody>
      </p:sp>
      <p:sp>
        <p:nvSpPr>
          <p:cNvPr id="3" name="text-463">
            <a:extLst>
              <a:ext uri="{FF2B5EF4-FFF2-40B4-BE49-F238E27FC236}">
                <ns2:creationId id="{9698C389-0652-4597-8923-B9B8F156CCF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11</a:t>
            </a:r>
          </a:p>
        </p:txBody>
      </p:sp>
      <p:pic xmlns:r="http://schemas.openxmlformats.org/officeDocument/2006/relationships">
        <p:nvPicPr>
          <p:cNvPr id="13" name="illustration-team" descr="Illustration: three people forming a team"/>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3500826"/>
      </p:ext>
    </p:extLst>
  </p:cSld>
  <p:transition spd="med" advClick="1">
    <p:fade/>
  </p:transition>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name="Staff adoption and professional development">
    <p:bg>
      <p:bgPr>
        <a:solidFill>
          <a:srgbClr val="FFFFFF"/>
        </a:solidFill>
      </p:bgPr>
    </p:bg>
    <p:spTree>
      <p:nvGrpSpPr>
        <p:cNvPr id="1" name=""/>
        <p:cNvGrpSpPr/>
        <p:nvPr/>
      </p:nvGrpSpPr>
      <p:grpSpPr>
        <a:xfrm/>
      </p:grpSpPr>
      <p:sp>
        <p:nvSpPr>
          <p:cNvPr id="12" name="text-472">
            <a:extLst>
              <a:ext uri="{FF2B5EF4-FFF2-40B4-BE49-F238E27FC236}">
                <ns2:creationId id="{B80AA56A-3E96-4EFF-BC79-728C84553DA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73">
            <a:extLst>
              <a:ext uri="{FF2B5EF4-FFF2-40B4-BE49-F238E27FC236}">
                <ns2:creationId id="{6E9EF092-EBA1-4AF2-9D08-C131AAACDBF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Staff adoption and professional development</a:t>
            </a:r>
          </a:p>
        </p:txBody>
      </p:sp>
      <p:sp>
        <p:nvSpPr>
          <p:cNvPr id="4" name="text-475">
            <a:extLst>
              <a:ext uri="{FF2B5EF4-FFF2-40B4-BE49-F238E27FC236}">
                <ns2:creationId id="{D2B474B7-7C79-4322-82BA-F3417D06D66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76">
            <a:extLst>
              <a:ext uri="{FF2B5EF4-FFF2-40B4-BE49-F238E27FC236}">
                <ns2:creationId id="{249E1C91-76BE-47D6-8CDB-65794C0A8290}"/>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Explain which work changes and why.</a:t>
            </a:r>
          </a:p>
        </p:txBody>
      </p:sp>
      <p:sp>
        <p:nvSpPr>
          <p:cNvPr id="6" name="text-477">
            <a:extLst>
              <a:ext uri="{FF2B5EF4-FFF2-40B4-BE49-F238E27FC236}">
                <ns2:creationId id="{BDA7B1CC-DB02-417B-A953-3E7352C97E9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78">
            <a:extLst>
              <a:ext uri="{FF2B5EF4-FFF2-40B4-BE49-F238E27FC236}">
                <ns2:creationId id="{3EC6CF53-40E7-47BB-80D2-F338B2D94D0E}"/>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Demonstrate permitted uses with real workflow examples.</a:t>
            </a:r>
          </a:p>
        </p:txBody>
      </p:sp>
      <p:sp>
        <p:nvSpPr>
          <p:cNvPr id="8" name="text-479">
            <a:extLst>
              <a:ext uri="{FF2B5EF4-FFF2-40B4-BE49-F238E27FC236}">
                <ns2:creationId id="{6C76E073-CF2C-4D74-9EBB-3BA0AB17CF7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80">
            <a:extLst>
              <a:ext uri="{FF2B5EF4-FFF2-40B4-BE49-F238E27FC236}">
                <ns2:creationId id="{61DD83E2-01C4-4141-AAD2-FE5BFE65C385}"/>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Train reviewers as well as users.</a:t>
            </a:r>
          </a:p>
        </p:txBody>
      </p:sp>
      <p:sp>
        <p:nvSpPr>
          <p:cNvPr id="10" name="text-481">
            <a:extLst>
              <a:ext uri="{FF2B5EF4-FFF2-40B4-BE49-F238E27FC236}">
                <ns2:creationId id="{3D2998E9-A62B-444E-8B40-EB8C66BA323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82">
            <a:extLst>
              <a:ext uri="{FF2B5EF4-FFF2-40B4-BE49-F238E27FC236}">
                <ns2:creationId id="{F0B56B60-96CE-4CB4-953E-168C377AFA45}"/>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Provide an accessible feedback and incident route.</a:t>
            </a:r>
          </a:p>
        </p:txBody>
      </p:sp>
      <p:sp>
        <p:nvSpPr>
          <p:cNvPr id="3" name="text-474">
            <a:extLst>
              <a:ext uri="{FF2B5EF4-FFF2-40B4-BE49-F238E27FC236}">
                <ns2:creationId id="{B1913D30-7118-4242-B2F8-183A84D2285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12</a:t>
            </a:r>
          </a:p>
        </p:txBody>
      </p:sp>
      <p:pic xmlns:r="http://schemas.openxmlformats.org/officeDocument/2006/relationships">
        <p:nvPicPr>
          <p:cNvPr id="13" name="illustration-people_ai" descr="Illustration: a person and an ai system exchanging reques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437807380"/>
      </p:ext>
    </p:extLst>
  </p:cSld>
  <p:transition spd="med" advClick="1">
    <p:fade/>
  </p:transition>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Efficiency and service redesign">
    <p:bg>
      <p:bgPr>
        <a:solidFill>
          <a:srgbClr val="FFFFFF"/>
        </a:solidFill>
      </p:bgPr>
    </p:bg>
    <p:spTree>
      <p:nvGrpSpPr>
        <p:cNvPr id="1" name=""/>
        <p:cNvGrpSpPr/>
        <p:nvPr/>
      </p:nvGrpSpPr>
      <p:grpSpPr>
        <a:xfrm/>
      </p:grpSpPr>
      <p:sp>
        <p:nvSpPr>
          <p:cNvPr id="10" name="text-483">
            <a:extLst>
              <a:ext uri="{FF2B5EF4-FFF2-40B4-BE49-F238E27FC236}">
                <ns2:creationId id="{94D9844F-80F8-4D69-A769-7E6065C8F68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84">
            <a:extLst>
              <a:ext uri="{FF2B5EF4-FFF2-40B4-BE49-F238E27FC236}">
                <ns2:creationId id="{A88CEBDD-92B2-47DA-8EEB-458082EEC1C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Efficiency and service redesign</a:t>
            </a:r>
          </a:p>
        </p:txBody>
      </p:sp>
      <p:sp>
        <p:nvSpPr>
          <p:cNvPr id="4" name="text-486">
            <a:extLst>
              <a:ext uri="{FF2B5EF4-FFF2-40B4-BE49-F238E27FC236}">
                <ns2:creationId id="{65DF66D7-4788-4232-AFAD-7032A78DE4F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87">
            <a:extLst>
              <a:ext uri="{FF2B5EF4-FFF2-40B4-BE49-F238E27FC236}">
                <ns2:creationId id="{2C956EDC-407A-4C60-9861-BA9248AC8705}"/>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Decide how quality and turnaround benefit clients.</a:t>
            </a:r>
          </a:p>
        </p:txBody>
      </p:sp>
      <p:sp>
        <p:nvSpPr>
          <p:cNvPr id="6" name="text-488">
            <a:extLst>
              <a:ext uri="{FF2B5EF4-FFF2-40B4-BE49-F238E27FC236}">
                <ns2:creationId id="{586ED20F-3A91-491B-BFD5-C996CC945BB0}"/>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89">
            <a:extLst>
              <a:ext uri="{FF2B5EF4-FFF2-40B4-BE49-F238E27FC236}">
                <ns2:creationId id="{F14140FB-7BE8-4D48-BA8A-A4445C0AA41E}"/>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Review engagement terms and communication where relevant.</a:t>
            </a:r>
          </a:p>
        </p:txBody>
      </p:sp>
      <p:sp>
        <p:nvSpPr>
          <p:cNvPr id="8" name="text-490">
            <a:extLst>
              <a:ext uri="{FF2B5EF4-FFF2-40B4-BE49-F238E27FC236}">
                <ns2:creationId id="{1510C8E6-A47F-4DFF-96FE-71463C6FE7C4}"/>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91">
            <a:extLst>
              <a:ext uri="{FF2B5EF4-FFF2-40B4-BE49-F238E27FC236}">
                <ns2:creationId id="{AA9D500D-E933-4B58-A31C-004A0F5128A5}"/>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Consider fees, value and accountability under applicable duties.</a:t>
            </a:r>
          </a:p>
        </p:txBody>
      </p:sp>
      <p:sp>
        <p:nvSpPr>
          <p:cNvPr id="3" name="text-485">
            <a:extLst>
              <a:ext uri="{FF2B5EF4-FFF2-40B4-BE49-F238E27FC236}">
                <ns2:creationId id="{AF44A3F2-DC43-4531-AF4D-5ACD343D3ED8}"/>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13</a:t>
            </a:r>
          </a:p>
        </p:txBody>
      </p:sp>
      <p:pic xmlns:r="http://schemas.openxmlformats.org/officeDocument/2006/relationships">
        <p:nvPicPr>
          <p:cNvPr id="11" name="illustration-hourglass" descr="Illustration: an hourglass and coin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93264291"/>
      </p:ext>
    </p:extLst>
  </p:cSld>
  <p:transition spd="med" advClick="1">
    <p:fade/>
  </p:transition>
</p:sld>
</file>

<file path=ppt/slides/slide1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 staged adoption route">
    <p:bg>
      <p:bgPr>
        <a:solidFill>
          <a:srgbClr val="FFFFFF"/>
        </a:solidFill>
      </p:bgPr>
    </p:bg>
    <p:spTree>
      <p:nvGrpSpPr>
        <p:cNvPr id="1" name=""/>
        <p:cNvGrpSpPr/>
        <p:nvPr/>
      </p:nvGrpSpPr>
      <p:grpSpPr>
        <a:xfrm/>
      </p:grpSpPr>
      <p:cxnSp>
        <p:nvCxnSpPr>
          <p:cNvPr id="22" name="reveal-04-arrow" descr="A staged adoption route">
            <a:extLst>
              <a:ext uri="{FF2B5EF4-FFF2-40B4-BE49-F238E27FC236}">
                <ns2:creationId id="{6B3CAD55-AFFC-4130-8489-7B58E1E13F0A}"/>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33DA0CB4-5C05-49E3-A328-38D1FC1827F7}"/>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318EC67C-76E5-4D43-A0F3-85DB4525763D}"/>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492">
            <a:extLst>
              <a:ext uri="{FF2B5EF4-FFF2-40B4-BE49-F238E27FC236}">
                <ns2:creationId id="{6C4391D6-00CE-4F81-A2E5-9EB619B988A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93">
            <a:extLst>
              <a:ext uri="{FF2B5EF4-FFF2-40B4-BE49-F238E27FC236}">
                <ns2:creationId id="{94892B21-CAC3-4F13-94CF-C5EED7F7A6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staged adoption route</a:t>
            </a:r>
          </a:p>
        </p:txBody>
      </p:sp>
      <p:sp>
        <p:nvSpPr>
          <p:cNvPr id="4" name="reveal-01-stage">
            <a:extLst>
              <a:ext uri="{FF2B5EF4-FFF2-40B4-BE49-F238E27FC236}">
                <ns2:creationId id="{0D4F641A-54F2-4DA0-BF9D-EACD7897B6D5}"/>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6D07300D-7981-4E16-92C1-43EE52B926A9}"/>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21DB9968-70A9-4015-AC0A-CDBA59D8DEA3}"/>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Prepare</a:t>
            </a:r>
          </a:p>
        </p:txBody>
      </p:sp>
      <p:sp>
        <p:nvSpPr>
          <p:cNvPr id="7" name="reveal-01-detail">
            <a:extLst>
              <a:ext uri="{FF2B5EF4-FFF2-40B4-BE49-F238E27FC236}">
                <ns2:creationId id="{CE8F98AE-4BA8-4A03-A042-631337B93901}"/>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Sources, scope and owner</a:t>
            </a:r>
          </a:p>
        </p:txBody>
      </p:sp>
      <p:sp>
        <p:nvSpPr>
          <p:cNvPr id="8" name="reveal-02-stage">
            <a:extLst>
              <a:ext uri="{FF2B5EF4-FFF2-40B4-BE49-F238E27FC236}">
                <ns2:creationId id="{B93080D5-17E3-44A7-922A-51C94857A58E}"/>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4C8CC375-FDD6-42DD-8F1E-283C2874D09C}"/>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54D97C4A-7AF8-48B8-A54E-865885361883}"/>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Shadow</a:t>
            </a:r>
          </a:p>
        </p:txBody>
      </p:sp>
      <p:sp>
        <p:nvSpPr>
          <p:cNvPr id="11" name="reveal-02-detail">
            <a:extLst>
              <a:ext uri="{FF2B5EF4-FFF2-40B4-BE49-F238E27FC236}">
                <ns2:creationId id="{BAB1BE72-CA1C-426C-B9D6-909FB7EF54B8}"/>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Compare with manual work</a:t>
            </a:r>
          </a:p>
        </p:txBody>
      </p:sp>
      <p:sp>
        <p:nvSpPr>
          <p:cNvPr id="12" name="reveal-03-stage">
            <a:extLst>
              <a:ext uri="{FF2B5EF4-FFF2-40B4-BE49-F238E27FC236}">
                <ns2:creationId id="{9DF91537-1BED-448D-B15F-8B3B67C41FA6}"/>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ADAA2AA8-079B-4DDC-96AC-29A183A54DB2}"/>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7CEE9724-F350-46E6-A905-A53A4C12D402}"/>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Pilot</a:t>
            </a:r>
          </a:p>
        </p:txBody>
      </p:sp>
      <p:sp>
        <p:nvSpPr>
          <p:cNvPr id="15" name="reveal-03-detail">
            <a:extLst>
              <a:ext uri="{FF2B5EF4-FFF2-40B4-BE49-F238E27FC236}">
                <ns2:creationId id="{02696EF1-FBC8-4F74-9A51-3C136A1FECEC}"/>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Bounded authorised use</a:t>
            </a:r>
          </a:p>
        </p:txBody>
      </p:sp>
      <p:sp>
        <p:nvSpPr>
          <p:cNvPr id="16" name="reveal-04-stage">
            <a:extLst>
              <a:ext uri="{FF2B5EF4-FFF2-40B4-BE49-F238E27FC236}">
                <ns2:creationId id="{BCEAD7A8-1C78-49B0-A5E1-827B36AD12C4}"/>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353D3FA7-CE4F-45DE-B8D0-31DC9C49FD16}"/>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8D235C64-2180-45C6-BB2A-7734E42DE791}"/>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Review</a:t>
            </a:r>
          </a:p>
        </p:txBody>
      </p:sp>
      <p:sp>
        <p:nvSpPr>
          <p:cNvPr id="19" name="reveal-04-detail">
            <a:extLst>
              <a:ext uri="{FF2B5EF4-FFF2-40B4-BE49-F238E27FC236}">
                <ns2:creationId id="{032C8A64-6977-45A5-9174-82F6142322B0}"/>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Expand, revise or stop</a:t>
            </a:r>
          </a:p>
        </p:txBody>
      </p:sp>
      <p:sp>
        <p:nvSpPr>
          <p:cNvPr id="3" name="text-494">
            <a:extLst>
              <a:ext uri="{FF2B5EF4-FFF2-40B4-BE49-F238E27FC236}">
                <ns2:creationId id="{A91F4762-804F-472E-9BBE-B6067BB192B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14</a:t>
            </a:r>
          </a:p>
        </p:txBody>
      </p:sp>
    </p:spTree>
    <p:extLst>
      <p:ext uri="{BB962C8B-B14F-4D97-AF65-F5344CB8AC3E}">
        <ns4:creationId val="533622431"/>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A first 90-day discussion plan">
    <p:bg>
      <p:bgPr>
        <a:solidFill>
          <a:srgbClr val="FFFFFF"/>
        </a:solidFill>
      </p:bgPr>
    </p:bg>
    <p:spTree>
      <p:nvGrpSpPr>
        <p:cNvPr id="1" name=""/>
        <p:cNvGrpSpPr/>
        <p:nvPr/>
      </p:nvGrpSpPr>
      <p:grpSpPr>
        <a:xfrm/>
      </p:grpSpPr>
      <p:sp>
        <p:nvSpPr>
          <p:cNvPr id="5" name="text-498">
            <a:extLst>
              <a:ext uri="{FF2B5EF4-FFF2-40B4-BE49-F238E27FC236}">
                <ns2:creationId id="{CEE15D42-3114-4B2B-A095-09B639A317B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499">
            <a:extLst>
              <a:ext uri="{FF2B5EF4-FFF2-40B4-BE49-F238E27FC236}">
                <ns2:creationId id="{C181065E-1318-49B3-9B1F-28824344C31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first 90-day discussion plan</a:t>
            </a:r>
          </a:p>
        </p:txBody>
      </p:sp>
      <p:graphicFrame>
        <p:nvGraphicFramePr>
          <p:cNvPr id="4" name="">
            <a:extLst>
              <a:ext uri="{FF2B5EF4-FFF2-40B4-BE49-F238E27FC236}">
                <ns2:creationId id="{7CD7757F-12D6-4110-8527-44C62F367F14}"/>
              </a:ext>
            </a:extLst>
          </p:cNvPr>
          <p:cNvGraphicFramePr/>
          <p:nvPr/>
        </p:nvGraphicFramePr>
        <p:xfrm>
          <a:off x="619125" y="1933575"/>
          <a:ext cx="10953750" cy="3743325"/>
        </p:xfrm>
        <a:graphic>
          <a:graphicData uri="http://schemas.openxmlformats.org/drawingml/2006/table">
            <a:tbl>
              <a:tblPr/>
              <a:tblGrid>
                <a:gridCol w="3651250"/>
                <a:gridCol w="3651250"/>
                <a:gridCol w="3651250"/>
              </a:tblGrid>
              <a:tr h="935831">
                <a:tc>
                  <a:txBody>
                    <a:bodyPr/>
                    <a:lstStyle/>
                    <a:p>
                      <a:r>
                        <a:rPr sz="1875" b="1">
                          <a:solidFill>
                            <a:srgbClr val="FFFFFF"/>
                          </a:solidFill>
                          <a:latin typeface="Calibri"/>
                          <a:ea typeface="Calibri"/>
                          <a:cs typeface="Calibri"/>
                        </a:rPr>
                        <a:t>When after approval</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Proposed owner</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Evidence and decision</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935831">
                <a:tc>
                  <a:txBody>
                    <a:bodyPr/>
                    <a:lstStyle/>
                    <a:p>
                      <a:r>
                        <a:rPr sz="1875" b="0">
                          <a:solidFill>
                            <a:srgbClr val="1C3144"/>
                          </a:solidFill>
                          <a:latin typeface="Calibri"/>
                          <a:ea typeface="Calibri"/>
                          <a:cs typeface="Calibri"/>
                        </a:rPr>
                        <a:t>Day 0–30</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Practice and information owners</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Scope, sources and baseline; ready to shadow?</a:t>
                      </a:r>
                    </a:p>
                  </a:txBody>
                  <a:tcPr marL="91440" marR="91440" marT="45720" marB="45720">
                    <a:lnR w="9525">
                      <a:solidFill>
                        <a:srgbClr val="C9D5DA"/>
                      </a:solidFill>
                      <a:prstDash val="solid"/>
                    </a:lnR>
                    <a:lnB w="9525">
                      <a:solidFill>
                        <a:srgbClr val="C9D5DA"/>
                      </a:solidFill>
                      <a:prstDash val="solid"/>
                    </a:lnB>
                    <a:solidFill>
                      <a:srgbClr val="F1F5F6"/>
                    </a:solidFill>
                  </a:tcPr>
                </a:tc>
              </a:tr>
              <a:tr h="935831">
                <a:tc>
                  <a:txBody>
                    <a:bodyPr/>
                    <a:lstStyle/>
                    <a:p>
                      <a:r>
                        <a:rPr sz="1875" b="0">
                          <a:solidFill>
                            <a:srgbClr val="1C3144"/>
                          </a:solidFill>
                          <a:latin typeface="Calibri"/>
                          <a:ea typeface="Calibri"/>
                          <a:cs typeface="Calibri"/>
                        </a:rPr>
                        <a:t>Day 31–60</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Workflow owner and reviewers</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Quality, effort and access tests; bounded use?</a:t>
                      </a:r>
                    </a:p>
                  </a:txBody>
                  <a:tcPr marL="91440" marR="91440" marT="45720" marB="45720">
                    <a:lnR w="9525">
                      <a:solidFill>
                        <a:srgbClr val="C9D5DA"/>
                      </a:solidFill>
                      <a:prstDash val="solid"/>
                    </a:lnR>
                    <a:lnB w="9525">
                      <a:solidFill>
                        <a:srgbClr val="C9D5DA"/>
                      </a:solidFill>
                      <a:prstDash val="solid"/>
                    </a:lnB>
                    <a:solidFill>
                      <a:srgbClr val="FFFFFF"/>
                    </a:solidFill>
                  </a:tcPr>
                </a:tc>
              </a:tr>
              <a:tr h="935831">
                <a:tc>
                  <a:txBody>
                    <a:bodyPr/>
                    <a:lstStyle/>
                    <a:p>
                      <a:r>
                        <a:rPr sz="1875" b="0">
                          <a:solidFill>
                            <a:srgbClr val="1C3144"/>
                          </a:solidFill>
                          <a:latin typeface="Calibri"/>
                          <a:ea typeface="Calibri"/>
                          <a:cs typeface="Calibri"/>
                        </a:rPr>
                        <a:t>Day 61–90</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Sponsor and risk owner</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Value and remaining risk; expand, revise or stop?</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500">
            <a:extLst>
              <a:ext uri="{FF2B5EF4-FFF2-40B4-BE49-F238E27FC236}">
                <ns2:creationId id="{C8F047A3-1A5F-4874-BFD2-C61209ED924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15</a:t>
            </a:r>
          </a:p>
        </p:txBody>
      </p:sp>
    </p:spTree>
    <p:extLst>
      <p:ext uri="{BB962C8B-B14F-4D97-AF65-F5344CB8AC3E}">
        <ns3:creationId val="253358890"/>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A partner-ready proposal">
    <p:bg>
      <p:bgPr>
        <a:solidFill>
          <a:srgbClr val="FFFFFF"/>
        </a:solidFill>
      </p:bgPr>
    </p:bg>
    <p:spTree>
      <p:nvGrpSpPr>
        <p:cNvPr id="1" name=""/>
        <p:cNvGrpSpPr/>
        <p:nvPr/>
      </p:nvGrpSpPr>
      <p:grpSpPr>
        <a:xfrm/>
      </p:grpSpPr>
      <p:sp>
        <p:nvSpPr>
          <p:cNvPr id="12" name="text-501">
            <a:extLst>
              <a:ext uri="{FF2B5EF4-FFF2-40B4-BE49-F238E27FC236}">
                <ns2:creationId id="{DA1CB9E1-E6FC-41AD-8C04-F28233890F5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02">
            <a:extLst>
              <a:ext uri="{FF2B5EF4-FFF2-40B4-BE49-F238E27FC236}">
                <ns2:creationId id="{619F1F76-035F-4684-A05B-CB7A4DFFC7F1}"/>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partner-ready proposal</a:t>
            </a:r>
          </a:p>
        </p:txBody>
      </p:sp>
      <p:sp>
        <p:nvSpPr>
          <p:cNvPr id="4" name="text-504">
            <a:extLst>
              <a:ext uri="{FF2B5EF4-FFF2-40B4-BE49-F238E27FC236}">
                <ns2:creationId id="{B3AC0385-8BED-49C2-9D66-4675C64BD03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05">
            <a:extLst>
              <a:ext uri="{FF2B5EF4-FFF2-40B4-BE49-F238E27FC236}">
                <ns2:creationId id="{E60E4253-B55C-4B03-8365-691D285518A2}"/>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Problem and selected workflow</a:t>
            </a:r>
          </a:p>
        </p:txBody>
      </p:sp>
      <p:sp>
        <p:nvSpPr>
          <p:cNvPr id="6" name="text-506">
            <a:extLst>
              <a:ext uri="{FF2B5EF4-FFF2-40B4-BE49-F238E27FC236}">
                <ns2:creationId id="{16F4C8AB-C9FD-476D-9C3F-517BF1FFBE69}"/>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07">
            <a:extLst>
              <a:ext uri="{FF2B5EF4-FFF2-40B4-BE49-F238E27FC236}">
                <ns2:creationId id="{F50A3CC4-F052-4AA2-8DA1-8BE883718F94}"/>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Information, system and review design</a:t>
            </a:r>
          </a:p>
        </p:txBody>
      </p:sp>
      <p:sp>
        <p:nvSpPr>
          <p:cNvPr id="8" name="text-508">
            <a:extLst>
              <a:ext uri="{FF2B5EF4-FFF2-40B4-BE49-F238E27FC236}">
                <ns2:creationId id="{7C5DB52A-4799-4E22-A37B-0F51BE4308E9}"/>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09">
            <a:extLst>
              <a:ext uri="{FF2B5EF4-FFF2-40B4-BE49-F238E27FC236}">
                <ns2:creationId id="{8F6BEA66-D96E-4DFA-9634-6A75E556D31C}"/>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Evidence and acceptance conditions</a:t>
            </a:r>
          </a:p>
        </p:txBody>
      </p:sp>
      <p:sp>
        <p:nvSpPr>
          <p:cNvPr id="10" name="text-510">
            <a:extLst>
              <a:ext uri="{FF2B5EF4-FFF2-40B4-BE49-F238E27FC236}">
                <ns2:creationId id="{B5C60581-FA41-49E3-AAE9-A98C5AD5E065}"/>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11">
            <a:extLst>
              <a:ext uri="{FF2B5EF4-FFF2-40B4-BE49-F238E27FC236}">
                <ns2:creationId id="{BED6CEA6-8B3F-45DA-8B5C-9491FAD96B63}"/>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Ownership, resources and staged decision</a:t>
            </a:r>
          </a:p>
        </p:txBody>
      </p:sp>
      <p:sp>
        <p:nvSpPr>
          <p:cNvPr id="3" name="text-503">
            <a:extLst>
              <a:ext uri="{FF2B5EF4-FFF2-40B4-BE49-F238E27FC236}">
                <ns2:creationId id="{07300F40-089C-4DC4-9BAF-4C7D82D9161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16</a:t>
            </a:r>
          </a:p>
        </p:txBody>
      </p:sp>
      <p:pic xmlns:r="http://schemas.openxmlformats.org/officeDocument/2006/relationships">
        <p:nvPicPr>
          <p:cNvPr id="13" name="illustration-docstack" descr="Illustration: a stack of agreement versions with a version seal"/>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681332712"/>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512">
            <a:extLst>
              <a:ext uri="{FF2B5EF4-FFF2-40B4-BE49-F238E27FC236}">
                <ns2:creationId id="{ED84A3CB-BD5A-40FB-88BB-78A7960F82E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13">
            <a:extLst>
              <a:ext uri="{FF2B5EF4-FFF2-40B4-BE49-F238E27FC236}">
                <ns2:creationId id="{77D72224-D7E0-464D-9503-BE824232827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515">
            <a:extLst>
              <a:ext uri="{FF2B5EF4-FFF2-40B4-BE49-F238E27FC236}">
                <ns2:creationId id="{77C130DE-2442-4EA6-B262-E787EDFB351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16">
            <a:extLst>
              <a:ext uri="{FF2B5EF4-FFF2-40B4-BE49-F238E27FC236}">
                <ns2:creationId id="{D0ACA1E3-1640-45F6-A60E-1982D7F04F53}"/>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Repeat the diagnostic with changed examples.</a:t>
            </a:r>
          </a:p>
        </p:txBody>
      </p:sp>
      <p:sp>
        <p:nvSpPr>
          <p:cNvPr id="6" name="text-517">
            <a:extLst>
              <a:ext uri="{FF2B5EF4-FFF2-40B4-BE49-F238E27FC236}">
                <ns2:creationId id="{DCBDEEA7-83A2-4FB5-8548-21367F2225ED}"/>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18">
            <a:extLst>
              <a:ext uri="{FF2B5EF4-FFF2-40B4-BE49-F238E27FC236}">
                <ns2:creationId id="{E72F7C35-7D15-4F53-9AAA-0DF05081ACDE}"/>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Adapt the worked proposal to one candidate task.</a:t>
            </a:r>
          </a:p>
        </p:txBody>
      </p:sp>
      <p:sp>
        <p:nvSpPr>
          <p:cNvPr id="8" name="text-519">
            <a:extLst>
              <a:ext uri="{FF2B5EF4-FFF2-40B4-BE49-F238E27FC236}">
                <ns2:creationId id="{2A553410-BFC2-49E2-B002-6C8312B70BF8}"/>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20">
            <a:extLst>
              <a:ext uri="{FF2B5EF4-FFF2-40B4-BE49-F238E27FC236}">
                <ns2:creationId id="{63DABF92-1CE4-4CAB-8737-0941B5EFF964}"/>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Check cost, review effort and the stress case.</a:t>
            </a:r>
          </a:p>
        </p:txBody>
      </p:sp>
      <p:sp>
        <p:nvSpPr>
          <p:cNvPr id="10" name="text-521">
            <a:extLst>
              <a:ext uri="{FF2B5EF4-FFF2-40B4-BE49-F238E27FC236}">
                <ns2:creationId id="{8B309972-8802-4283-AA1F-1F8303BAB0FA}"/>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22">
            <a:extLst>
              <a:ext uri="{FF2B5EF4-FFF2-40B4-BE49-F238E27FC236}">
                <ns2:creationId id="{A498E18C-AFDE-46C3-A759-62F9AB4DA499}"/>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Agree proposed owners and staged decision points.</a:t>
            </a:r>
          </a:p>
        </p:txBody>
      </p:sp>
      <p:sp>
        <p:nvSpPr>
          <p:cNvPr id="12" name="text-523">
            <a:extLst>
              <a:ext uri="{FF2B5EF4-FFF2-40B4-BE49-F238E27FC236}">
                <ns2:creationId id="{E84E98B6-3093-4A26-A6FB-ACD54CD17DBC}"/>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514">
            <a:extLst>
              <a:ext uri="{FF2B5EF4-FFF2-40B4-BE49-F238E27FC236}">
                <ns2:creationId id="{458734D5-AB42-4F63-B40B-82E002349DF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17</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945373232"/>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524">
            <a:extLst>
              <a:ext uri="{FF2B5EF4-FFF2-40B4-BE49-F238E27FC236}">
                <ns2:creationId id="{75341C36-2ADC-4C2D-804F-2140E6FC85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25">
            <a:extLst>
              <a:ext uri="{FF2B5EF4-FFF2-40B4-BE49-F238E27FC236}">
                <ns2:creationId id="{A7703AF0-9878-49FC-9412-2A84B77BFE52}"/>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527">
            <a:extLst>
              <a:ext uri="{FF2B5EF4-FFF2-40B4-BE49-F238E27FC236}">
                <ns2:creationId id="{1111EBCE-EEC3-46AF-9ABC-3BF819B0410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28">
            <a:extLst>
              <a:ext uri="{FF2B5EF4-FFF2-40B4-BE49-F238E27FC236}">
                <ns2:creationId id="{02A5E5B0-7042-4026-8474-2B2F747434E4}"/>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pilot needs a bounded problem, representative evidence, acceptance tests, resources, owners and a review decision. Time released is not automatically cash saved. State what evidence would justify expansion or stopping.</a:t>
            </a:r>
          </a:p>
        </p:txBody>
      </p:sp>
      <p:sp>
        <p:nvSpPr>
          <p:cNvPr id="6" name="text-529">
            <a:extLst>
              <a:ext uri="{FF2B5EF4-FFF2-40B4-BE49-F238E27FC236}">
                <ns2:creationId id="{1AF32D2E-4A97-4BD5-A1F0-31AA93E835C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30">
            <a:extLst>
              <a:ext uri="{FF2B5EF4-FFF2-40B4-BE49-F238E27FC236}">
                <ns2:creationId id="{1111282F-5C2A-4768-93F2-3991B07AE780}"/>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classroom proposal is not production approval; proposed roles and dates require the firm’s agreement.</a:t>
            </a:r>
          </a:p>
        </p:txBody>
      </p:sp>
      <p:sp>
        <p:nvSpPr>
          <p:cNvPr id="3" name="text-526">
            <a:extLst>
              <a:ext uri="{FF2B5EF4-FFF2-40B4-BE49-F238E27FC236}">
                <ns2:creationId id="{7FF9F4E5-DCD0-4F56-8474-083D96E4672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18</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586221930"/>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531">
            <a:extLst>
              <a:ext uri="{FF2B5EF4-FFF2-40B4-BE49-F238E27FC236}">
                <ns2:creationId id="{6EC987AB-C515-4CDB-9694-9D705195C70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32">
            <a:extLst>
              <a:ext uri="{FF2B5EF4-FFF2-40B4-BE49-F238E27FC236}">
                <ns2:creationId id="{CD4E6152-A823-4127-BFBF-8C3AA357A977}"/>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534">
            <a:extLst>
              <a:ext uri="{FF2B5EF4-FFF2-40B4-BE49-F238E27FC236}">
                <ns2:creationId id="{93FB8D26-2BEA-4532-84CA-AFF9312C5E7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35">
            <a:extLst>
              <a:ext uri="{FF2B5EF4-FFF2-40B4-BE49-F238E27FC236}">
                <ns2:creationId id="{9C5C2F96-F4C6-4F5C-B1FA-B8D245336E4C}"/>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Prepare one proposal for firm review, with conditions and a next decision date.</a:t>
            </a:r>
          </a:p>
        </p:txBody>
      </p:sp>
      <p:sp>
        <p:nvSpPr>
          <p:cNvPr id="6" name="text-536">
            <a:extLst>
              <a:ext uri="{FF2B5EF4-FFF2-40B4-BE49-F238E27FC236}">
                <ns2:creationId id="{82760201-D681-43D8-84FA-58364E57EBE8}"/>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533">
            <a:extLst>
              <a:ext uri="{FF2B5EF4-FFF2-40B4-BE49-F238E27FC236}">
                <ns2:creationId id="{1F3ECC90-9A77-4225-9D3C-BD656FE070A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19</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63060401"/>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537">
            <a:extLst>
              <a:ext uri="{FF2B5EF4-FFF2-40B4-BE49-F238E27FC236}">
                <ns2:creationId id="{766273F7-A822-44DC-9B49-EF8A0EE1B58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38">
            <a:extLst>
              <a:ext uri="{FF2B5EF4-FFF2-40B4-BE49-F238E27FC236}">
                <ns2:creationId id="{128EF661-1B91-4774-A7A2-6C57F53D2FB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540">
            <a:extLst>
              <a:ext uri="{FF2B5EF4-FFF2-40B4-BE49-F238E27FC236}">
                <ns2:creationId id="{2BC3C6F7-050E-4842-9E57-0D2ABB541AD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41">
            <a:extLst>
              <a:ext uri="{FF2B5EF4-FFF2-40B4-BE49-F238E27FC236}">
                <ns2:creationId id="{0A424ADD-43C2-42A2-AA1F-2B9504BAEF54}"/>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draft saves time but loses a critical exception. Expand?</a:t>
            </a:r>
          </a:p>
        </p:txBody>
      </p:sp>
      <p:sp>
        <p:nvSpPr>
          <p:cNvPr id="6" name="text-542">
            <a:extLst>
              <a:ext uri="{FF2B5EF4-FFF2-40B4-BE49-F238E27FC236}">
                <ns2:creationId id="{A22900D5-6807-45B6-8DFE-7CACB8B52A64}"/>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43">
            <a:extLst>
              <a:ext uri="{FF2B5EF4-FFF2-40B4-BE49-F238E27FC236}">
                <ns2:creationId id="{E89BAD43-2E76-427F-A04D-51AD1C835AE4}"/>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Review effort rises above the manual baseline. What changes?</a:t>
            </a:r>
          </a:p>
        </p:txBody>
      </p:sp>
      <p:sp>
        <p:nvSpPr>
          <p:cNvPr id="8" name="text-544">
            <a:extLst>
              <a:ext uri="{FF2B5EF4-FFF2-40B4-BE49-F238E27FC236}">
                <ns2:creationId id="{EB54B32F-7D98-4570-A9C3-C43CE799A02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45">
            <a:extLst>
              <a:ext uri="{FF2B5EF4-FFF2-40B4-BE49-F238E27FC236}">
                <ns2:creationId id="{27A05F8A-2056-41FC-AA22-837C1249D0B7}"/>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Who can approve more users or action authority?</a:t>
            </a:r>
          </a:p>
        </p:txBody>
      </p:sp>
      <p:sp>
        <p:nvSpPr>
          <p:cNvPr id="3" name="text-539">
            <a:extLst>
              <a:ext uri="{FF2B5EF4-FFF2-40B4-BE49-F238E27FC236}">
                <ns2:creationId id="{D7A1402E-964E-4BEF-806B-9E72FC2A387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20</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389675640"/>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Individual experimentation and firm capability">
    <p:bg>
      <p:bgPr>
        <a:solidFill>
          <a:srgbClr val="FFFFFF"/>
        </a:solidFill>
      </p:bgPr>
    </p:bg>
    <p:spTree>
      <p:nvGrpSpPr>
        <p:cNvPr id="1" name=""/>
        <p:cNvGrpSpPr/>
        <p:nvPr/>
      </p:nvGrpSpPr>
      <p:grpSpPr>
        <a:xfrm/>
      </p:grpSpPr>
      <p:sp>
        <p:nvSpPr>
          <p:cNvPr id="8" name="text-546">
            <a:extLst>
              <a:ext uri="{FF2B5EF4-FFF2-40B4-BE49-F238E27FC236}">
                <ns2:creationId id="{DD687B0A-C0C3-427C-8CAA-A4DC64FD7BA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47">
            <a:extLst>
              <a:ext uri="{FF2B5EF4-FFF2-40B4-BE49-F238E27FC236}">
                <ns2:creationId id="{6B8BDE2C-BA29-4B93-93BE-86901A74A88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Individual experimentation and firm capability</a:t>
            </a:r>
          </a:p>
        </p:txBody>
      </p:sp>
      <p:sp>
        <p:nvSpPr>
          <p:cNvPr id="4" name="text-549">
            <a:extLst>
              <a:ext uri="{FF2B5EF4-FFF2-40B4-BE49-F238E27FC236}">
                <ns2:creationId id="{98CF0ADA-7471-4ECC-9E57-8794FF3FECE7}"/>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Individual experiment</a:t>
            </a:r>
          </a:p>
        </p:txBody>
      </p:sp>
      <p:sp>
        <p:nvSpPr>
          <p:cNvPr id="5" name="text-550">
            <a:extLst>
              <a:ext uri="{FF2B5EF4-FFF2-40B4-BE49-F238E27FC236}">
                <ns2:creationId id="{EE9DC34E-F291-49A5-80BC-049A1848A4FC}"/>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A person obtains a useful response using a familiar tool.</a:t>
            </a:r>
          </a:p>
        </p:txBody>
      </p:sp>
      <p:sp>
        <p:nvSpPr>
          <p:cNvPr id="6" name="text-551">
            <a:extLst>
              <a:ext uri="{FF2B5EF4-FFF2-40B4-BE49-F238E27FC236}">
                <ns2:creationId id="{4C5E527A-9378-4D3A-A783-755B0BFCAC0F}"/>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Firm capability</a:t>
            </a:r>
          </a:p>
        </p:txBody>
      </p:sp>
      <p:sp>
        <p:nvSpPr>
          <p:cNvPr id="7" name="text-552">
            <a:extLst>
              <a:ext uri="{FF2B5EF4-FFF2-40B4-BE49-F238E27FC236}">
                <ns2:creationId id="{89A6D24B-9BDD-4E90-8F32-B9897CFC2710}"/>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Colleagues can repeat the work using approved sources, review standards and an owned service.</a:t>
            </a:r>
          </a:p>
        </p:txBody>
      </p:sp>
      <p:sp>
        <p:nvSpPr>
          <p:cNvPr id="3" name="text-548">
            <a:extLst>
              <a:ext uri="{FF2B5EF4-FFF2-40B4-BE49-F238E27FC236}">
                <ns2:creationId id="{7E7F16CD-603C-465A-8B88-9A6D1C2E3AE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21   OPTIONAL EXPLORATION</a:t>
            </a:r>
          </a:p>
        </p:txBody>
      </p:sp>
    </p:spTree>
    <p:extLst>
      <p:ext uri="{BB962C8B-B14F-4D97-AF65-F5344CB8AC3E}">
        <ns3:creationId val="1506991757"/>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The first candidate pilot">
    <p:bg>
      <p:bgPr>
        <a:solidFill>
          <a:srgbClr val="FFFFFF"/>
        </a:solidFill>
      </p:bgPr>
    </p:bg>
    <p:spTree>
      <p:nvGrpSpPr>
        <p:cNvPr id="1" name=""/>
        <p:cNvGrpSpPr/>
        <p:nvPr/>
      </p:nvGrpSpPr>
      <p:grpSpPr>
        <a:xfrm/>
      </p:grpSpPr>
      <p:sp>
        <p:nvSpPr>
          <p:cNvPr id="10" name="text-553">
            <a:extLst>
              <a:ext uri="{FF2B5EF4-FFF2-40B4-BE49-F238E27FC236}">
                <ns2:creationId id="{CACEB13C-D339-47FF-83B4-B03ABC62D1CD}"/>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54">
            <a:extLst>
              <a:ext uri="{FF2B5EF4-FFF2-40B4-BE49-F238E27FC236}">
                <ns2:creationId id="{A58226FA-1DE6-49DD-BD34-3ED850C965A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first candidate pilot</a:t>
            </a:r>
          </a:p>
        </p:txBody>
      </p:sp>
      <p:sp>
        <p:nvSpPr>
          <p:cNvPr id="4" name="text-556">
            <a:extLst>
              <a:ext uri="{FF2B5EF4-FFF2-40B4-BE49-F238E27FC236}">
                <ns2:creationId id="{31BA6A97-8FD9-4EFF-AFE5-5BB8D1B08FC5}"/>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57">
            <a:extLst>
              <a:ext uri="{FF2B5EF4-FFF2-40B4-BE49-F238E27FC236}">
                <ns2:creationId id="{DDE542E4-C726-462D-8871-856C9B2ABDEF}"/>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Internal precedent and clause search</a:t>
            </a:r>
          </a:p>
        </p:txBody>
      </p:sp>
      <p:sp>
        <p:nvSpPr>
          <p:cNvPr id="6" name="text-558">
            <a:extLst>
              <a:ext uri="{FF2B5EF4-FFF2-40B4-BE49-F238E27FC236}">
                <ns2:creationId id="{8019E928-A5CD-4218-99D5-2D8BEAE85AA7}"/>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59">
            <a:extLst>
              <a:ext uri="{FF2B5EF4-FFF2-40B4-BE49-F238E27FC236}">
                <ns2:creationId id="{B32816A4-7304-4C8E-B982-C38B63D3543C}"/>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Contract review against a maintained playbook</a:t>
            </a:r>
          </a:p>
        </p:txBody>
      </p:sp>
      <p:sp>
        <p:nvSpPr>
          <p:cNvPr id="8" name="text-560">
            <a:extLst>
              <a:ext uri="{FF2B5EF4-FFF2-40B4-BE49-F238E27FC236}">
                <ns2:creationId id="{3FBFEAA7-1E9E-42C3-9191-384999EE7CC2}"/>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61">
            <a:extLst>
              <a:ext uri="{FF2B5EF4-FFF2-40B4-BE49-F238E27FC236}">
                <ns2:creationId id="{60D14307-893C-4FB9-BF19-7D5F7192789F}"/>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Tax evidence and reconciliation assistance</a:t>
            </a:r>
          </a:p>
        </p:txBody>
      </p:sp>
      <p:sp>
        <p:nvSpPr>
          <p:cNvPr id="3" name="text-555">
            <a:extLst>
              <a:ext uri="{FF2B5EF4-FFF2-40B4-BE49-F238E27FC236}">
                <ns2:creationId id="{3B80355E-5940-4B2D-912A-AF33935BE2F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22   OPTIONAL EXPLORATION</a:t>
            </a:r>
          </a:p>
        </p:txBody>
      </p:sp>
      <p:pic xmlns:r="http://schemas.openxmlformats.org/officeDocument/2006/relationships">
        <p:nvPicPr>
          <p:cNvPr id="11" name="illustration-tree" descr="Illustration: a decision tree with three branche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494192175"/>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A change after launch">
    <p:bg>
      <p:bgPr>
        <a:solidFill>
          <a:srgbClr val="FFFFFF"/>
        </a:solidFill>
      </p:bgPr>
    </p:bg>
    <p:spTree>
      <p:nvGrpSpPr>
        <p:cNvPr id="1" name=""/>
        <p:cNvGrpSpPr/>
        <p:nvPr/>
      </p:nvGrpSpPr>
      <p:grpSpPr>
        <a:xfrm/>
      </p:grpSpPr>
      <p:sp>
        <p:nvSpPr>
          <p:cNvPr id="10" name="text-562">
            <a:extLst>
              <a:ext uri="{FF2B5EF4-FFF2-40B4-BE49-F238E27FC236}">
                <ns2:creationId id="{62CFA59A-B3D8-4FFF-ACAD-0FF2F5EB9D9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63">
            <a:extLst>
              <a:ext uri="{FF2B5EF4-FFF2-40B4-BE49-F238E27FC236}">
                <ns2:creationId id="{EBD6C984-2606-4D70-A0D2-698EB48501FD}"/>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change after launch</a:t>
            </a:r>
          </a:p>
        </p:txBody>
      </p:sp>
      <p:sp>
        <p:nvSpPr>
          <p:cNvPr id="4" name="text-565">
            <a:extLst>
              <a:ext uri="{FF2B5EF4-FFF2-40B4-BE49-F238E27FC236}">
                <ns2:creationId id="{8071ED37-3096-485A-84DF-10AE04557172}"/>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66">
            <a:extLst>
              <a:ext uri="{FF2B5EF4-FFF2-40B4-BE49-F238E27FC236}">
                <ns2:creationId id="{18E2E43A-C6D1-47F1-ABEB-0B4F992F35A0}"/>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provider updates the model.</a:t>
            </a:r>
          </a:p>
        </p:txBody>
      </p:sp>
      <p:sp>
        <p:nvSpPr>
          <p:cNvPr id="6" name="text-567">
            <a:extLst>
              <a:ext uri="{FF2B5EF4-FFF2-40B4-BE49-F238E27FC236}">
                <ns2:creationId id="{FF18C641-36DF-4D9C-BC99-BF6453220237}"/>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68">
            <a:extLst>
              <a:ext uri="{FF2B5EF4-FFF2-40B4-BE49-F238E27FC236}">
                <ns2:creationId id="{B2ADD131-6D98-49DA-B712-11ED1FF0A0C7}"/>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 source is amended or access changes.</a:t>
            </a:r>
          </a:p>
        </p:txBody>
      </p:sp>
      <p:sp>
        <p:nvSpPr>
          <p:cNvPr id="8" name="text-569">
            <a:extLst>
              <a:ext uri="{FF2B5EF4-FFF2-40B4-BE49-F238E27FC236}">
                <ns2:creationId id="{A40523C1-2D50-474A-8991-91BE17FD1DAE}"/>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70">
            <a:extLst>
              <a:ext uri="{FF2B5EF4-FFF2-40B4-BE49-F238E27FC236}">
                <ns2:creationId id="{28752388-2B88-47D2-A454-7E8737392732}"/>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process gains a new action or user group.</a:t>
            </a:r>
          </a:p>
        </p:txBody>
      </p:sp>
      <p:sp>
        <p:nvSpPr>
          <p:cNvPr id="3" name="text-564">
            <a:extLst>
              <a:ext uri="{FF2B5EF4-FFF2-40B4-BE49-F238E27FC236}">
                <ns2:creationId id="{CE003F0B-028F-4E0B-86E0-D94CA517192A}"/>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23   OPTIONAL EXPLORATION</a:t>
            </a:r>
          </a:p>
        </p:txBody>
      </p:sp>
      <p:pic xmlns:r="http://schemas.openxmlformats.org/officeDocument/2006/relationships">
        <p:nvPicPr>
          <p:cNvPr id="11" name="illustration-cycle" descr="Illustration: a four-step loop that repea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0966918"/>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What further technical study could add">
    <p:bg>
      <p:bgPr>
        <a:solidFill>
          <a:srgbClr val="FFFFFF"/>
        </a:solidFill>
      </p:bgPr>
    </p:bg>
    <p:spTree>
      <p:nvGrpSpPr>
        <p:cNvPr id="1" name=""/>
        <p:cNvGrpSpPr/>
        <p:nvPr/>
      </p:nvGrpSpPr>
      <p:grpSpPr>
        <a:xfrm/>
      </p:grpSpPr>
      <p:sp>
        <p:nvSpPr>
          <p:cNvPr id="12" name="text-571">
            <a:extLst>
              <a:ext uri="{FF2B5EF4-FFF2-40B4-BE49-F238E27FC236}">
                <ns2:creationId id="{91390552-D3F0-4ABD-B990-59A3B747D7B9}"/>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12</a:t>
            </a:r>
          </a:p>
        </p:txBody>
      </p:sp>
      <p:sp>
        <p:nvSpPr>
          <p:cNvPr id="2" name="text-572">
            <a:extLst>
              <a:ext uri="{FF2B5EF4-FFF2-40B4-BE49-F238E27FC236}">
                <ns2:creationId id="{FB97F2CB-01A5-4AB3-941D-E8AEF17C6A6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further technical study could add</a:t>
            </a:r>
          </a:p>
        </p:txBody>
      </p:sp>
      <p:sp>
        <p:nvSpPr>
          <p:cNvPr id="4" name="text-574">
            <a:extLst>
              <a:ext uri="{FF2B5EF4-FFF2-40B4-BE49-F238E27FC236}">
                <ns2:creationId id="{4827F1AB-A2EC-4088-BEC4-7268FE1181A4}"/>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575">
            <a:extLst>
              <a:ext uri="{FF2B5EF4-FFF2-40B4-BE49-F238E27FC236}">
                <ns2:creationId id="{9286FAB6-EF69-49F8-9717-17BBF434E7FD}"/>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Programming and model development</a:t>
            </a:r>
          </a:p>
        </p:txBody>
      </p:sp>
      <p:sp>
        <p:nvSpPr>
          <p:cNvPr id="6" name="text-576">
            <a:extLst>
              <a:ext uri="{FF2B5EF4-FFF2-40B4-BE49-F238E27FC236}">
                <ns2:creationId id="{CD31927C-C9CB-404B-8181-E2FE47CDC5D7}"/>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577">
            <a:extLst>
              <a:ext uri="{FF2B5EF4-FFF2-40B4-BE49-F238E27FC236}">
                <ns2:creationId id="{3F88DF39-B4AD-4B07-A5E4-3F1E8FC8E9A1}"/>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Neural-network mathematics and optimisation</a:t>
            </a:r>
          </a:p>
        </p:txBody>
      </p:sp>
      <p:sp>
        <p:nvSpPr>
          <p:cNvPr id="8" name="text-578">
            <a:extLst>
              <a:ext uri="{FF2B5EF4-FFF2-40B4-BE49-F238E27FC236}">
                <ns2:creationId id="{F9680DE2-2007-4330-8EF6-F76397AB4A32}"/>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579">
            <a:extLst>
              <a:ext uri="{FF2B5EF4-FFF2-40B4-BE49-F238E27FC236}">
                <ns2:creationId id="{F83B5CDC-598A-45D5-88A0-07CA90EF444F}"/>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Advanced retrieval and evaluation engineering</a:t>
            </a:r>
          </a:p>
        </p:txBody>
      </p:sp>
      <p:sp>
        <p:nvSpPr>
          <p:cNvPr id="10" name="text-580">
            <a:extLst>
              <a:ext uri="{FF2B5EF4-FFF2-40B4-BE49-F238E27FC236}">
                <ns2:creationId id="{5DDB0888-748D-452F-9AFD-2CA1CEE02250}"/>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581">
            <a:extLst>
              <a:ext uri="{FF2B5EF4-FFF2-40B4-BE49-F238E27FC236}">
                <ns2:creationId id="{62598D92-1418-47EA-97D1-FE6DDE3863CD}"/>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Production integration and security engineering</a:t>
            </a:r>
          </a:p>
        </p:txBody>
      </p:sp>
      <p:sp>
        <p:nvSpPr>
          <p:cNvPr id="3" name="text-573">
            <a:extLst>
              <a:ext uri="{FF2B5EF4-FFF2-40B4-BE49-F238E27FC236}">
                <ns2:creationId id="{0DE6C2F5-BCF0-4CEC-8EF7-84C00330E35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12   24   OPTIONAL EXPLORATION</a:t>
            </a:r>
          </a:p>
        </p:txBody>
      </p:sp>
      <p:pic xmlns:r="http://schemas.openxmlformats.org/officeDocument/2006/relationships">
        <p:nvPicPr>
          <p:cNvPr id="13" name="illustration-books" descr="Illustration: a stack of books with a book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863467219"/>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2026-10-26T10:01:55.0410000Z</dcterms:created>
  <dcterms:modified xsi:type="dcterms:W3CDTF">2026-10-26T10:01:55.0410000Z</dcterms:modified>
</coreProperties>
</file>