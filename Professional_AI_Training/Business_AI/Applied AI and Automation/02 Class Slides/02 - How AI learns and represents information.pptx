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3a04eb2742a4cd6" Type="http://schemas.openxmlformats.org/officeDocument/2006/relationships/officeDocument" Target="ppt/presentation.xml"/><Relationship Id="R208a100db1c44c2f" Type="http://schemas.openxmlformats.org/package/2006/relationships/metadata/core-properties" Target="docProps/core.xml"/><Relationship Id="R248531f88d7d4ebe"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p:sldMasterIdLst>
    <p:sldMasterId id="2147483648" r:id="Rd4042f43885f4ce7"/>
  </p:sldMasterIdLst>
  <p:notesMasterIdLst>
    <p:notesMasterId r:id="Rcf4cce565ae94118"/>
  </p:notesMasterIdLst>
  <p:sldIdLst>
    <p:sldId id="256" r:id="R15ef46d0a34e4ae9"/>
    <p:sldId id="257" r:id="R8317877688f74bf1"/>
    <p:sldId id="258" r:id="Rb93bc283f2594970"/>
    <p:sldId id="259" r:id="Ra46feb77db724b85"/>
    <p:sldId id="260" r:id="R5e5eb05e9e344e24"/>
    <p:sldId id="261" r:id="Rc1630625b3b342a6"/>
    <p:sldId id="262" r:id="R14ffec3a884b431f"/>
    <p:sldId id="263" r:id="R7fdbe44b6907454f"/>
    <p:sldId id="264" r:id="R0b94124ec8424f40"/>
    <p:sldId id="265" r:id="R94d09e44dd0d4e64"/>
    <p:sldId id="266" r:id="Rd358799a7c43483b"/>
    <p:sldId id="267" r:id="R28eeead1df46447e"/>
    <p:sldId id="268" r:id="Rf7bfb37513fb4d36"/>
    <p:sldId id="269" r:id="R238ff54fdeff460d"/>
    <p:sldId id="270" r:id="R6fb1cb02a15b4ed3"/>
    <p:sldId id="271" r:id="R696ae321195c47b0"/>
    <p:sldId id="272" r:id="Ra5b6203a4b834846"/>
    <p:sldId id="273" r:id="R588580896e084a5a"/>
    <p:sldId id="274" r:id="R38fb7b1a99ad4dcb"/>
    <p:sldId id="275" r:id="Ra091c12bf19d4a1c"/>
    <p:sldId id="276" r:id="R8cced74da30c49c8"/>
    <p:sldId id="277" r:id="Ra495d31e2af54d82"/>
    <p:sldId id="278" r:id="R4382035654874d65"/>
    <p:sldId id="279" r:id="Rf19a5d670bf040ce"/>
    <p:sldId id="280" r:id="Rcead3ca376614fd4"/>
  </p:sldIdLst>
  <p:sldSz cx="12192000" cy="6858000"/>
  <p:notesSz cx="6858000" cy="9144000"/>
  <p:custShowLst>
    <p:custShow name="Core teaching" id="1">
      <p:sldLst>
        <p:sld r:id="R15ef46d0a34e4ae9"/>
        <p:sld r:id="R8317877688f74bf1"/>
        <p:sld r:id="Rb93bc283f2594970"/>
        <p:sld r:id="Ra46feb77db724b85"/>
        <p:sld r:id="R5e5eb05e9e344e24"/>
        <p:sld r:id="Rc1630625b3b342a6"/>
        <p:sld r:id="R14ffec3a884b431f"/>
        <p:sld r:id="R7fdbe44b6907454f"/>
        <p:sld r:id="R0b94124ec8424f40"/>
        <p:sld r:id="R94d09e44dd0d4e64"/>
        <p:sld r:id="Rd358799a7c43483b"/>
        <p:sld r:id="R28eeead1df46447e"/>
        <p:sld r:id="Rf7bfb37513fb4d36"/>
        <p:sld r:id="R238ff54fdeff460d"/>
        <p:sld r:id="R6fb1cb02a15b4ed3"/>
        <p:sld r:id="R696ae321195c47b0"/>
        <p:sld r:id="Ra5b6203a4b834846"/>
        <p:sld r:id="R588580896e084a5a"/>
        <p:sld r:id="R38fb7b1a99ad4dcb"/>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7180abc1d024d0d" Type="http://schemas.openxmlformats.org/officeDocument/2006/relationships/theme" Target="theme/theme1.xml"/><Relationship Id="R0b94124ec8424f40" Type="http://schemas.openxmlformats.org/officeDocument/2006/relationships/slide" Target="slides/slide9.xml"/><Relationship Id="R14ffec3a884b431f" Type="http://schemas.openxmlformats.org/officeDocument/2006/relationships/slide" Target="slides/slide7.xml"/><Relationship Id="R15ef46d0a34e4ae9" Type="http://schemas.openxmlformats.org/officeDocument/2006/relationships/slide" Target="slides/slide1.xml"/><Relationship Id="R1bd806310e5c4b3d" Type="http://schemas.openxmlformats.org/officeDocument/2006/relationships/tableStyles" Target="tableStyles.xml"/><Relationship Id="R238ff54fdeff460d" Type="http://schemas.openxmlformats.org/officeDocument/2006/relationships/slide" Target="slides/slide14.xml"/><Relationship Id="R28eeead1df46447e" Type="http://schemas.openxmlformats.org/officeDocument/2006/relationships/slide" Target="slides/slide12.xml"/><Relationship Id="R38fb7b1a99ad4dcb" Type="http://schemas.openxmlformats.org/officeDocument/2006/relationships/slide" Target="slides/slide19.xml"/><Relationship Id="R4382035654874d65" Type="http://schemas.openxmlformats.org/officeDocument/2006/relationships/slide" Target="slides/slide23.xml"/><Relationship Id="R588580896e084a5a" Type="http://schemas.openxmlformats.org/officeDocument/2006/relationships/slide" Target="slides/slide18.xml"/><Relationship Id="R5e5eb05e9e344e24" Type="http://schemas.openxmlformats.org/officeDocument/2006/relationships/slide" Target="slides/slide5.xml"/><Relationship Id="R696ae321195c47b0" Type="http://schemas.openxmlformats.org/officeDocument/2006/relationships/slide" Target="slides/slide16.xml"/><Relationship Id="R6fb1cb02a15b4ed3" Type="http://schemas.openxmlformats.org/officeDocument/2006/relationships/slide" Target="slides/slide15.xml"/><Relationship Id="R7fdbe44b6907454f" Type="http://schemas.openxmlformats.org/officeDocument/2006/relationships/slide" Target="slides/slide8.xml"/><Relationship Id="R8317877688f74bf1" Type="http://schemas.openxmlformats.org/officeDocument/2006/relationships/slide" Target="slides/slide2.xml"/><Relationship Id="R8cced74da30c49c8" Type="http://schemas.openxmlformats.org/officeDocument/2006/relationships/slide" Target="slides/slide21.xml"/><Relationship Id="R94d09e44dd0d4e64" Type="http://schemas.openxmlformats.org/officeDocument/2006/relationships/slide" Target="slides/slide10.xml"/><Relationship Id="Ra091c12bf19d4a1c" Type="http://schemas.openxmlformats.org/officeDocument/2006/relationships/slide" Target="slides/slide20.xml"/><Relationship Id="Ra46feb77db724b85" Type="http://schemas.openxmlformats.org/officeDocument/2006/relationships/slide" Target="slides/slide4.xml"/><Relationship Id="Ra495d31e2af54d82" Type="http://schemas.openxmlformats.org/officeDocument/2006/relationships/slide" Target="slides/slide22.xml"/><Relationship Id="Ra5b6203a4b834846" Type="http://schemas.openxmlformats.org/officeDocument/2006/relationships/slide" Target="slides/slide17.xml"/><Relationship Id="Rb93bc283f2594970" Type="http://schemas.openxmlformats.org/officeDocument/2006/relationships/slide" Target="slides/slide3.xml"/><Relationship Id="Rc1630625b3b342a6" Type="http://schemas.openxmlformats.org/officeDocument/2006/relationships/slide" Target="slides/slide6.xml"/><Relationship Id="Rcead3ca376614fd4" Type="http://schemas.openxmlformats.org/officeDocument/2006/relationships/slide" Target="slides/slide25.xml"/><Relationship Id="Rcf4cce565ae94118" Type="http://schemas.openxmlformats.org/officeDocument/2006/relationships/notesMaster" Target="notesMasters/notesMaster1.xml"/><Relationship Id="Rd358799a7c43483b" Type="http://schemas.openxmlformats.org/officeDocument/2006/relationships/slide" Target="slides/slide11.xml"/><Relationship Id="Rd4042f43885f4ce7" Type="http://schemas.openxmlformats.org/officeDocument/2006/relationships/slideMaster" Target="slideMasters/slideMaster1.xml"/><Relationship Id="Rf14785dd054c4a6a" Type="http://schemas.openxmlformats.org/officeDocument/2006/relationships/presProps" Target="presProps.xml"/><Relationship Id="Rf19a5d670bf040ce" Type="http://schemas.openxmlformats.org/officeDocument/2006/relationships/slide" Target="slides/slide24.xml"/><Relationship Id="Rf7bfb37513fb4d36"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7aad43d0a6e14f6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0ecbbed467a4ec4" Type="http://schemas.openxmlformats.org/officeDocument/2006/relationships/notesMaster" Target="../notesMasters/notesMaster1.xml"/><Relationship Id="Rd849280deac94b9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c3aa09101f324985" Type="http://schemas.openxmlformats.org/officeDocument/2006/relationships/slide" Target="../slides/slide2.xml"/><Relationship Id="Rdac6a336a37a4a98"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da83a62234824839" Type="http://schemas.openxmlformats.org/officeDocument/2006/relationships/notesMaster" Target="../notesMasters/notesMaster1.xml"/><Relationship Id="Re93f5609a2274e49"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79688e42e094aec" Type="http://schemas.openxmlformats.org/officeDocument/2006/relationships/slide" Target="../slides/slide4.xml"/><Relationship Id="Ra0eaced47d68435c"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794af522e3d4816" Type="http://schemas.openxmlformats.org/officeDocument/2006/relationships/notesMaster" Target="../notesMasters/notesMaster1.xml"/><Relationship Id="R76eb793e275b4a26"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03595463d708485e" Type="http://schemas.openxmlformats.org/officeDocument/2006/relationships/slide" Target="../slides/slide6.xml"/><Relationship Id="R4889418c8dbd4ae4"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8d6747935264303" Type="http://schemas.openxmlformats.org/officeDocument/2006/relationships/notesMaster" Target="../notesMasters/notesMaster1.xml"/><Relationship Id="Rb1f6f9fde4cd4f97"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4dc5d4e3b86649ec" Type="http://schemas.openxmlformats.org/officeDocument/2006/relationships/slide" Target="../slides/slide8.xml"/><Relationship Id="Rd998a15367b44737"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5f93348d00c74f7e" Type="http://schemas.openxmlformats.org/officeDocument/2006/relationships/slide" Target="../slides/slide9.xml"/><Relationship Id="R6a7b0dc4d51d48ee"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0fb00e92e1874f52" Type="http://schemas.openxmlformats.org/officeDocument/2006/relationships/slide" Target="../slides/slide10.xml"/><Relationship Id="R890f79d40cfe43ba"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a32b63b7ca444d10" Type="http://schemas.openxmlformats.org/officeDocument/2006/relationships/notesMaster" Target="../notesMasters/notesMaster1.xml"/><Relationship Id="Ra3da1ad1316d4a9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5f73b0593cc4048" Type="http://schemas.openxmlformats.org/officeDocument/2006/relationships/slide" Target="../slides/slide12.xml"/><Relationship Id="Rc9d49d2ba9fc46dc"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9a499b9e2431485c" Type="http://schemas.openxmlformats.org/officeDocument/2006/relationships/notesMaster" Target="../notesMasters/notesMaster1.xml"/><Relationship Id="Re10e242610604239"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f1c96e664bd045c8" Type="http://schemas.openxmlformats.org/officeDocument/2006/relationships/notesMaster" Target="../notesMasters/notesMaster1.xml"/><Relationship Id="Rf6237f63ebdb4b73"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01adfb65029246df" Type="http://schemas.openxmlformats.org/officeDocument/2006/relationships/notesMaster" Target="../notesMasters/notesMaster1.xml"/><Relationship Id="R40fd59386edf45f3"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66d2c443207f47db" Type="http://schemas.openxmlformats.org/officeDocument/2006/relationships/notesMaster" Target="../notesMasters/notesMaster1.xml"/><Relationship Id="R75acfbcbb9ca492f"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463413a3bd4e4dc0" Type="http://schemas.openxmlformats.org/officeDocument/2006/relationships/slide" Target="../slides/slide17.xml"/><Relationship Id="Rb69737c11e284735"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075e544bf28b4719" Type="http://schemas.openxmlformats.org/officeDocument/2006/relationships/slide" Target="../slides/slide18.xml"/><Relationship Id="Rf48daff8e4504458"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6ccf766ef5fa40c7" Type="http://schemas.openxmlformats.org/officeDocument/2006/relationships/slide" Target="../slides/slide19.xml"/><Relationship Id="Ra76028147cbe4939"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4aff26031d44596" Type="http://schemas.openxmlformats.org/officeDocument/2006/relationships/slide" Target="../slides/slide20.xml"/><Relationship Id="Rcb1f8ee3fb5648ce"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13a6b8f0bf54455b" Type="http://schemas.openxmlformats.org/officeDocument/2006/relationships/notesMaster" Target="../notesMasters/notesMaster1.xml"/><Relationship Id="R7fee1507ff8b42e6"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c6c1ca9a2efd4a31" Type="http://schemas.openxmlformats.org/officeDocument/2006/relationships/slide" Target="../slides/slide22.xml"/><Relationship Id="Re629b1b8deac4117"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7baf154712fb4728" Type="http://schemas.openxmlformats.org/officeDocument/2006/relationships/notesMaster" Target="../notesMasters/notesMaster1.xml"/><Relationship Id="Rf5d533d8621e4024"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0192834050b24853" Type="http://schemas.openxmlformats.org/officeDocument/2006/relationships/notesMaster" Target="../notesMasters/notesMaster1.xml"/><Relationship Id="Ra2d73a39c35f45ad"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a46142980d6e4f93" Type="http://schemas.openxmlformats.org/officeDocument/2006/relationships/slide" Target="../slides/slide25.xml"/><Relationship Id="Rb092b1376be14ef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Last session we separated what an assistant calculates from what it writes. Today we look one step further inside. The question for the session is this. What is learned from examples, and how can language be represented numerically?</a:t>
            </a:r>
          </a:p>
          <a:p xmlns:a="http://schemas.openxmlformats.org/drawingml/2006/main"/>
          <a:p xmlns:a="http://schemas.openxmlformats.org/drawingml/2006/main">
            <a:r>
              <a:t>It matters in a legal or tax practice because every vendor claim about accuracy rests on how a model was trained and how it was tested. Once you know that, you can put clear questions to a vendor.</a:t>
            </a:r>
          </a:p>
          <a:p xmlns:a="http://schemas.openxmlformats.org/drawingml/2006/main"/>
          <a:p xmlns:a="http://schemas.openxmlformats.org/drawingml/2006/main">
            <a:r>
              <a:t>By the end you'll be able to explain training, inference, tokens and similarity, using one matter all the way through: Victoria Services Ltd and its agreement with Equator Systems Ltd. I'll ask for no maths from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begin with a question from Session 1. An assistant totals invoices and drafts a letter. Which operation needs learned generation? Have a think.</a:t>
            </a:r>
          </a:p>
          <a:p xmlns:a="http://schemas.openxmlformats.org/drawingml/2006/main"/>
          <a:p xmlns:a="http://schemas.openxmlformats.org/drawingml/2006/main">
            <a:r>
              <a:t>Here's where I land. The letter needs generation. The total should come from defined arithmetic, the same sum every time. If you'd put both through the model, try this. If the invoices added up to a different figure on a second run, would you sign the ledger?</a:t>
            </a:r>
          </a:p>
          <a:p xmlns:a="http://schemas.openxmlformats.org/drawingml/2006/main"/>
          <a:p xmlns:a="http://schemas.openxmlformats.org/drawingml/2006/main">
            <a:r>
              <a:t>Now today's question again. What is learned from examples, and how can language be represented numerically? By the end we'll be able to explain training, inference, tokens and similarity, all on the same matter. We start with the model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term we'll use all session. A large language model is a computer program built from a neural network. A neural network is a set of connected calculations, each controlled by numbers called parameters. The model was trained on a very large amount of text, and it works by predicting which token comes next. A token is a small piece of text, often a word or part of a word. I'll say more on tokens shortly.</a:t>
            </a:r>
          </a:p>
          <a:p xmlns:a="http://schemas.openxmlformats.org/drawingml/2006/main"/>
          <a:p xmlns:a="http://schemas.openxmlformats.org/drawingml/2006/main">
            <a:r>
              <a:t>Look at the second box. Classifying an agreement, pulling out a party name and writing a clause are three different jobs, and each needs its own test of success.</a:t>
            </a:r>
          </a:p>
          <a:p xmlns:a="http://schemas.openxmlformats.org/drawingml/2006/main"/>
          <a:p xmlns:a="http://schemas.openxmlformats.org/drawingml/2006/main">
            <a:r>
              <a:t>Let me put a question to you. If a vendor says its tool is accurate, which of those three jobs do you ask about first? Give that a little thought.</a:t>
            </a:r>
          </a:p>
          <a:p xmlns:a="http://schemas.openxmlformats.org/drawingml/2006/main"/>
          <a:p xmlns:a="http://schemas.openxmlformats.org/drawingml/2006/main">
            <a:r>
              <a:t>I'd name the job, and then ask how it was tested on documents like ours. If that feels slippery, try this angle. What would a wrong result cost the firm in that job? Training comes next, because every claim about accuracy depends on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means fitting a model to data. The model starts with its parameters set to rough values. We show it examples, and the parameters are adjusted so its answers get closer to a target we chose. That target is called the objective.</a:t>
            </a:r>
          </a:p>
          <a:p xmlns:a="http://schemas.openxmlformats.org/drawingml/2006/main"/>
          <a:p xmlns:a="http://schemas.openxmlformats.org/drawingml/2006/main">
            <a:r>
              <a:t>Take our matter. The firm labels a pile of past documents as agreements or invoices. A classifier looks at them and adjusts itself until its labels match ours.</a:t>
            </a:r>
          </a:p>
          <a:p xmlns:a="http://schemas.openxmlformats.org/drawingml/2006/main"/>
          <a:p xmlns:a="http://schemas.openxmlformats.org/drawingml/2006/main">
            <a:r>
              <a:t>I'd like to hear your thinking on this one. When we say the model was trained, what exactly was changed? Think it over.</a:t>
            </a:r>
          </a:p>
          <a:p xmlns:a="http://schemas.openxmlformats.org/drawingml/2006/main"/>
          <a:p xmlns:a="http://schemas.openxmlformats.org/drawingml/2006/main">
            <a:r>
              <a:t>The parameters changed, those internal numbers, and the change came from the examples and the objective. You might be tempted to say the model learned the facts. If so, I'd ask where those facts would be stored, and whether we could point to them. We couldn't. The parameters hold patterns, and they don't hold a list of documents.</a:t>
            </a:r>
          </a:p>
          <a:p xmlns:a="http://schemas.openxmlformats.org/drawingml/2006/main"/>
          <a:p xmlns:a="http://schemas.openxmlformats.org/drawingml/2006/main">
            <a:r>
              <a:t>Next we'll watch the loop that does this adjusting, one step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happens in a loop, and I'll build it up in four steps. Keep one question in mind as we go. How would you know the model had really learned something useful?</a:t>
            </a:r>
          </a:p>
          <a:p xmlns:a="http://schemas.openxmlformats.org/drawingml/2006/main"/>
          <a:p xmlns:a="http://schemas.openxmlformats.org/drawingml/2006/main">
            <a:r>
              <a:t>First come the examples. Each one is an input with its target, such as a document and its label.</a:t>
            </a:r>
          </a:p>
          <a:p xmlns:a="http://schemas.openxmlformats.org/drawingml/2006/main"/>
          <a:p xmlns:a="http://schemas.openxmlformats.org/drawingml/2006/main">
            <a:r>
              <a:t>Then the prediction. The model looks at an example and gives its current output.</a:t>
            </a:r>
          </a:p>
          <a:p xmlns:a="http://schemas.openxmlformats.org/drawingml/2006/main"/>
          <a:p xmlns:a="http://schemas.openxmlformats.org/drawingml/2006/main">
            <a:r>
              <a:t>Third is the comparison. We measure the gap between what the model predicted and the target. That gap is the error against our objective.</a:t>
            </a:r>
          </a:p>
          <a:p xmlns:a="http://schemas.openxmlformats.org/drawingml/2006/main"/>
          <a:p xmlns:a="http://schemas.openxmlformats.org/drawingml/2006/main">
            <a:r>
              <a:t>Last, the update. The parameters move a little, to shrink that gap, and then the loop repeats over many examples. One caution goes with all of this. A model can shrink its error on examples it has seen simply by memorising them, so we evaluate on relevant data it has never seen.</a:t>
            </a:r>
          </a:p>
          <a:p xmlns:a="http://schemas.openxmlformats.org/drawingml/2006/main"/>
          <a:p xmlns:a="http://schemas.openxmlformats.org/drawingml/2006/main">
            <a:r>
              <a:t>Here's a question for you. A vendor shows you a chart where the error falls steadily during training. What else do you need before you trust it? No rush.</a:t>
            </a:r>
          </a:p>
          <a:p xmlns:a="http://schemas.openxmlformats.org/drawingml/2006/main"/>
          <a:p xmlns:a="http://schemas.openxmlformats.org/drawingml/2006/main">
            <a:r>
              <a:t>I'd want results on documents the model never saw, of the kind we handle. If that feels slippery, try this angle. Would the chart look the same if the model had simply memorised the examples? It would. Different kinds of feedback drive this loop, and next we meet four of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four ways a model can get its feedback, and I'll take them one row at a time.</a:t>
            </a:r>
          </a:p>
          <a:p xmlns:a="http://schemas.openxmlformats.org/drawingml/2006/main"/>
          <a:p xmlns:a="http://schemas.openxmlformats.org/drawingml/2006/main">
            <a:r>
              <a:t>Supervised learning means we supply the target label. For example, we tell the model that each document is an agreement or an invoice. Unsupervised learning means there are no labels for the task, and the model looks for structure, such as groups of similar documents. Self-supervised learning means the targets come from the data itself. That is how language models learn from plain text, by predicting masked or next tokens. Reinforcement learning means the model receives a reward from its interactions and improves its choices of action.</a:t>
            </a:r>
          </a:p>
          <a:p xmlns:a="http://schemas.openxmlformats.org/drawingml/2006/main"/>
          <a:p xmlns:a="http://schemas.openxmlformats.org/drawingml/2006/main">
            <a:r>
              <a:t>Let me ask you something. You have ten thousand old letters and nobody has labelled them. Which approach could you start with, and what would it give you? Take your time.</a:t>
            </a:r>
          </a:p>
          <a:p xmlns:a="http://schemas.openxmlformats.org/drawingml/2006/main"/>
          <a:p xmlns:a="http://schemas.openxmlformats.org/drawingml/2006/main">
            <a:r>
              <a:t>Unsupervised learning. It would offer groups of similar letters to inspect, and a person still has to read those groups. If you leaned towards supervised, I'd ask who would supply the labels, and how long that would take.</a:t>
            </a:r>
          </a:p>
          <a:p xmlns:a="http://schemas.openxmlformats.org/drawingml/2006/main"/>
          <a:p xmlns:a="http://schemas.openxmlformats.org/drawingml/2006/main">
            <a:r>
              <a:t>Whichever approach we use, we need to keep some documents aside. That's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 is only as trustworthy as the test we give it, so we split our documents into three sets.</a:t>
            </a:r>
          </a:p>
          <a:p xmlns:a="http://schemas.openxmlformats.org/drawingml/2006/main"/>
          <a:p xmlns:a="http://schemas.openxmlformats.org/drawingml/2006/main">
            <a:r>
              <a:t>Training examples fit the parameters. Validation examples help us choose settings, such as how long to train. The held-out test checks the final choice on documents the model has never seen, and we use it once, at the end.</a:t>
            </a:r>
          </a:p>
          <a:p xmlns:a="http://schemas.openxmlformats.org/drawingml/2006/main"/>
          <a:p xmlns:a="http://schemas.openxmlformats.org/drawingml/2006/main">
            <a:r>
              <a:t>There's a legal wrinkle here. Suppose near-identical copies of one service agreement land in both training and test. The model looks excellent because it has effectively seen the answer. So we split by matter or document family.</a:t>
            </a:r>
          </a:p>
          <a:p xmlns:a="http://schemas.openxmlformats.org/drawingml/2006/main"/>
          <a:p xmlns:a="http://schemas.openxmlformats.org/drawingml/2006/main">
            <a:r>
              <a:t>Something to chew on. Why would you take a near-duplicate of a training document out of the test set? See what you come up with.</a:t>
            </a:r>
          </a:p>
          <a:p xmlns:a="http://schemas.openxmlformats.org/drawingml/2006/main"/>
          <a:p xmlns:a="http://schemas.openxmlformats.org/drawingml/2006/main">
            <a:r>
              <a:t>The test would then measure familiarity with the training example, and tell us little about performance on new work. If you'd say it just wastes space, try this angle. If the test is easy because the model has seen it, what does a good score tell you about next month's new matters?</a:t>
            </a:r>
          </a:p>
          <a:p xmlns:a="http://schemas.openxmlformats.org/drawingml/2006/main"/>
          <a:p xmlns:a="http://schemas.openxmlformats.org/drawingml/2006/main">
            <a:r>
              <a:t>We've now covered how a model is trained and tested. Next we look at what a neural network does inside.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look inside a small illustrative classifier. It's a drawing to help us think, and it isn't a biological brain. It's arithmetic done many times.</a:t>
            </a:r>
          </a:p>
          <a:p xmlns:a="http://schemas.openxmlformats.org/drawingml/2006/main"/>
          <a:p xmlns:a="http://schemas.openxmlformats.org/drawingml/2006/main">
            <a:r>
              <a:t>First come the inputs. These are the document features, numbers that describe a document, such as how often certain words appear.</a:t>
            </a:r>
          </a:p>
          <a:p xmlns:a="http://schemas.openxmlformats.org/drawingml/2006/main"/>
          <a:p xmlns:a="http://schemas.openxmlformats.org/drawingml/2006/main">
            <a:r>
              <a:t>Then the first layer. It mixes those features together into learned combinations.</a:t>
            </a:r>
          </a:p>
          <a:p xmlns:a="http://schemas.openxmlformats.org/drawingml/2006/main"/>
          <a:p xmlns:a="http://schemas.openxmlformats.org/drawingml/2006/main">
            <a:r>
              <a:t>The second layer does the same again. It mixes those combinations into further combinations.</a:t>
            </a:r>
          </a:p>
          <a:p xmlns:a="http://schemas.openxmlformats.org/drawingml/2006/main"/>
          <a:p xmlns:a="http://schemas.openxmlformats.org/drawingml/2006/main">
            <a:r>
              <a:t>Finally the output, a type score. For example, how strongly the document looks like an agreement. When there are several layers, each building on the one before, we call it deep learning.</a:t>
            </a:r>
          </a:p>
          <a:p xmlns:a="http://schemas.openxmlformats.org/drawingml/2006/main"/>
          <a:p xmlns:a="http://schemas.openxmlformats.org/drawingml/2006/main">
            <a:r>
              <a:t>Tell me what you make of this. In this picture, which numbers were learned in training, and which come in fresh today? Say it out loud if it helps.</a:t>
            </a:r>
          </a:p>
          <a:p xmlns:a="http://schemas.openxmlformats.org/drawingml/2006/main"/>
          <a:p xmlns:a="http://schemas.openxmlformats.org/drawingml/2006/main">
            <a:r>
              <a:t>The connections between the layers are the learned parameters, and the document features are today's input. If that feels slippery, try this angle. If we feed in a different document tomorrow, which part of the picture changes? Only the inputs. Next, how text gets into a model, starting with the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 can't read letters the way we do. It first cuts the text into pieces called tokens. A token can be a whole word, part of a word, a punctuation mark, or, for images, a patch. Tokenisation depends on the model, which means two models can cut the same sentence differently.</a:t>
            </a:r>
          </a:p>
          <a:p xmlns:a="http://schemas.openxmlformats.org/drawingml/2006/main"/>
          <a:p xmlns:a="http://schemas.openxmlformats.org/drawingml/2006/main">
            <a:r>
              <a:t>Here's what that means for our work. A common word like agreement may be a single token. A rarer legal word such as indemnification may be split into several pieces. Each piece is then given a number, an ID, which only names the piece.</a:t>
            </a:r>
          </a:p>
          <a:p xmlns:a="http://schemas.openxmlformats.org/drawingml/2006/main"/>
          <a:p xmlns:a="http://schemas.openxmlformats.org/drawingml/2006/main">
            <a:r>
              <a:t>Try this one. Does one token always equal one word? Sit with it for a second.</a:t>
            </a:r>
          </a:p>
          <a:p xmlns:a="http://schemas.openxmlformats.org/drawingml/2006/main"/>
          <a:p xmlns:a="http://schemas.openxmlformats.org/drawingml/2006/main">
            <a:r>
              <a:t>Not always. It depends on the tokenizer and on the text. If you were inclined to say yes, I'd ask how a model would cut the word indemnification, and who decides. The tokenizer decides, and each model has its own.</a:t>
            </a:r>
          </a:p>
          <a:p xmlns:a="http://schemas.openxmlformats.org/drawingml/2006/main"/>
          <a:p xmlns:a="http://schemas.openxmlformats.org/drawingml/2006/main">
            <a:r>
              <a:t>A token only names a piece of text. Next we cover the numbers that carry meaning, called embeddings.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embedding is a list of numbers that represents an item, such as a word, a sentence or a whole clause. The numbers are built so that a computer can compare items. Two passages whose lists are close under our chosen measure are treated as related.</a:t>
            </a:r>
          </a:p>
          <a:p xmlns:a="http://schemas.openxmlformats.org/drawingml/2006/main"/>
          <a:p xmlns:a="http://schemas.openxmlformats.org/drawingml/2006/main">
            <a:r>
              <a:t>Here's how we'd use it. We have a query about group restructuring, and we have candidate passages from the contract. A system turns the query and each passage into lists of numbers, using the same embedding model. It then ranks the passages by how close they sit to the query.</a:t>
            </a:r>
          </a:p>
          <a:p xmlns:a="http://schemas.openxmlformats.org/drawingml/2006/main"/>
          <a:p xmlns:a="http://schemas.openxmlformats.org/drawingml/2006/main">
            <a:r>
              <a:t>Now it's your turn. What does an embedding let a search system compare, and what must be true of the two things being compared? Work it through before I answer.</a:t>
            </a:r>
          </a:p>
          <a:p xmlns:a="http://schemas.openxmlformats.org/drawingml/2006/main"/>
          <a:p xmlns:a="http://schemas.openxmlformats.org/drawingml/2006/main">
            <a:r>
              <a:t>It lets the system compare the query and the candidate passages, as long as a compatible model converted both and we compare them under a chosen measure of similarity. If you'd say it finds the right answer, I'd ask who decides whether the top result is the right passage, the system or the lawyer.</a:t>
            </a:r>
          </a:p>
          <a:p xmlns:a="http://schemas.openxmlformats.org/drawingml/2006/main"/>
          <a:p xmlns:a="http://schemas.openxmlformats.org/drawingml/2006/main">
            <a:r>
              <a:t>To make this visible, next we place our matter on an invented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look, one thing to say plainly. This map is invented for teaching. No embedding model produced these positions.</a:t>
            </a:r>
          </a:p>
          <a:p xmlns:a="http://schemas.openxmlformats.org/drawingml/2006/main"/>
          <a:p xmlns:a="http://schemas.openxmlformats.org/drawingml/2006/main">
            <a:r>
              <a:t>First comes the query, which is restructuring consent. That's what we are searching for.</a:t>
            </a:r>
          </a:p>
          <a:p xmlns:a="http://schemas.openxmlformats.org/drawingml/2006/main"/>
          <a:p xmlns:a="http://schemas.openxmlformats.org/drawingml/2006/main">
            <a:r>
              <a:t>Then the nearby candidates appear. The group exception sits close. On this map it stands for the Key Terms change to Section 12.6, which requires consent to a change of control and excuses it for a reorganization within a wholly owned group. The support access clause sits somewhat near.</a:t>
            </a:r>
          </a:p>
          <a:p xmlns:a="http://schemas.openxmlformats.org/drawingml/2006/main"/>
          <a:p xmlns:a="http://schemas.openxmlformats.org/drawingml/2006/main">
            <a:r>
              <a:t>Last come the distant ones. The invoice payment term sits far off, and so does photograph consent. That last one shares the word consent with our query, and still sits a long way away.</a:t>
            </a:r>
          </a:p>
          <a:p xmlns:a="http://schemas.openxmlformats.org/drawingml/2006/main"/>
          <a:p xmlns:a="http://schemas.openxmlformats.org/drawingml/2006/main">
            <a:r>
              <a:t>One for you. Does this drawing prove how a real model would place these passages? Give that a little thought.</a:t>
            </a:r>
          </a:p>
          <a:p xmlns:a="http://schemas.openxmlformats.org/drawingml/2006/main"/>
          <a:p xmlns:a="http://schemas.openxmlformats.org/drawingml/2006/main">
            <a:r>
              <a:t>We couldn't claim that from a drawing. We would need actual embeddings and a documented way of flattening them. If you were tempted to say yes, I'd ask what we would have to run to find out. The picture is flat, and next we see what flattening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embedding has many numerical dimensions, often hundreds or more. We can't draw that, so a drawing squeezes it into two dimensions. Think of a globe and a flat map of the world. The map is useful, and it still distorts distances, such as the size of countries far in the north. A two-dimensional projection loses information in the same way.</a:t>
            </a:r>
          </a:p>
          <a:p xmlns:a="http://schemas.openxmlformats.org/drawingml/2006/main"/>
          <a:p xmlns:a="http://schemas.openxmlformats.org/drawingml/2006/main">
            <a:r>
              <a:t>There's a third point. A distance or similarity score depends on the representation we use and on the method we use to compare.</a:t>
            </a:r>
          </a:p>
          <a:p xmlns:a="http://schemas.openxmlformats.org/drawingml/2006/main"/>
          <a:p xmlns:a="http://schemas.openxmlformats.org/drawingml/2006/main">
            <a:r>
              <a:t>One for you to work out. Could we read one dimension of an embedding as a named legal concept, like liability? Take a moment with that.</a:t>
            </a:r>
          </a:p>
          <a:p xmlns:a="http://schemas.openxmlformats.org/drawingml/2006/main"/>
          <a:p xmlns:a="http://schemas.openxmlformats.org/drawingml/2006/main">
            <a:r>
              <a:t>Usually not, because learned dimensions need not have a simple label. If you'd say yes, I'd ask how we would check that claim, and what result would show it was wrong.</a:t>
            </a:r>
          </a:p>
          <a:p xmlns:a="http://schemas.openxmlformats.org/drawingml/2006/main"/>
          <a:p xmlns:a="http://schemas.openxmlformats.org/drawingml/2006/main">
            <a:r>
              <a:t>Now we look at a different limit. The same word can carry different representations in different sentences, and we'll see an example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two sentences with me. The bank registered a charge over the property. The prosecutor amended the charge. The word is the same. In the first it means security over land. In the second it is an accusation in court.</a:t>
            </a:r>
          </a:p>
          <a:p xmlns:a="http://schemas.openxmlformats.org/drawingml/2006/main"/>
          <a:p xmlns:a="http://schemas.openxmlformats.org/drawingml/2006/main">
            <a:r>
              <a:t>Older methods gave each word in the vocabulary a single fixed list of numbers. Modern language models build the representation from the surrounding tokens, so the representation of charge differs in the two sentences. Contextual representations depend on surrounding language.</a:t>
            </a:r>
          </a:p>
          <a:p xmlns:a="http://schemas.openxmlformats.org/drawingml/2006/main"/>
          <a:p xmlns:a="http://schemas.openxmlformats.org/drawingml/2006/main">
            <a:r>
              <a:t>A quick question before we go on. What in each sentence tells you which meaning of charge applies? Mull that over for a moment.</a:t>
            </a:r>
          </a:p>
          <a:p xmlns:a="http://schemas.openxmlformats.org/drawingml/2006/main"/>
          <a:p xmlns:a="http://schemas.openxmlformats.org/drawingml/2006/main">
            <a:r>
              <a:t>The neighbouring words. Bank, registered and property on one side, and prosecutor and amended on the other, together with the task we are doing. If that feels slippery, try this angle. If I show you only the word charge and nothing else, what can you tell me? Very little.</a:t>
            </a:r>
          </a:p>
          <a:p xmlns:a="http://schemas.openxmlformats.org/drawingml/2006/main"/>
          <a:p xmlns:a="http://schemas.openxmlformats.org/drawingml/2006/main">
            <a:r>
              <a:t>Context helps, yet closeness still doesn't settle legal meaning, and we'll see why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next point is a caution about trusting closeness.</a:t>
            </a:r>
          </a:p>
          <a:p xmlns:a="http://schemas.openxmlformats.org/drawingml/2006/main"/>
          <a:p xmlns:a="http://schemas.openxmlformats.org/drawingml/2006/main">
            <a:r>
              <a:t>Related terms can have different legal effects. Approve and reject can appear in very similar contexts, so a system may rank them close together even though they mean opposite things. Take our own agreement. The Key Terms say neither party may assign without the other's prior written consent. A sentence saying a party may assign on notice, which is what the unmodified Standard Terms version of Section 12.6 allowed, looks very similar in vocabulary and has the opposite effect.</a:t>
            </a:r>
          </a:p>
          <a:p xmlns:a="http://schemas.openxmlformats.org/drawingml/2006/main"/>
          <a:p xmlns:a="http://schemas.openxmlformats.org/drawingml/2006/main">
            <a:r>
              <a:t>Here's a challenge for you. Give me a pair of clauses from a contract where one small change in wording reverses the result. Any real pair is fine. Work it through before I answer.</a:t>
            </a:r>
          </a:p>
          <a:p xmlns:a="http://schemas.openxmlformats.org/drawingml/2006/main"/>
          <a:p xmlns:a="http://schemas.openxmlformats.org/drawingml/2006/main">
            <a:r>
              <a:t>Consent and no consent is a good one. If you're stuck, take the assignment example I just gave. Which of the two would the Customer prefer?</a:t>
            </a:r>
          </a:p>
          <a:p xmlns:a="http://schemas.openxmlformats.org/drawingml/2006/main"/>
          <a:p xmlns:a="http://schemas.openxmlformats.org/drawingml/2006/main">
            <a:r>
              <a:t>The idea to keep is that similarity proposes candidates, and the lawyer decides. A retrieved passage still needs interpretation and an authority check. Next we step back to show how a language model is built from start to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step back and see how a language model is built, from start to use. This is one common route, and providers vary. The first three stages are training, where the parameters can change. The last is use.</a:t>
            </a:r>
          </a:p>
          <a:p xmlns:a="http://schemas.openxmlformats.org/drawingml/2006/main"/>
          <a:p xmlns:a="http://schemas.openxmlformats.org/drawingml/2006/main">
            <a:r>
              <a:t>First is pretraining. The model learns from broad data, mostly by predicting tokens.</a:t>
            </a:r>
          </a:p>
          <a:p xmlns:a="http://schemas.openxmlformats.org/drawingml/2006/main"/>
          <a:p xmlns:a="http://schemas.openxmlformats.org/drawingml/2006/main">
            <a:r>
              <a:t>Second, instruction tuning. The model is trained further to fit requested behaviour, so that it follows instructions.</a:t>
            </a:r>
          </a:p>
          <a:p xmlns:a="http://schemas.openxmlformats.org/drawingml/2006/main"/>
          <a:p xmlns:a="http://schemas.openxmlformats.org/drawingml/2006/main">
            <a:r>
              <a:t>Third, preference learning. Feedback signals about better and worse answers shape it.</a:t>
            </a:r>
          </a:p>
          <a:p xmlns:a="http://schemas.openxmlformats.org/drawingml/2006/main"/>
          <a:p xmlns:a="http://schemas.openxmlformats.org/drawingml/2006/main">
            <a:r>
              <a:t>Fourth, inference. That means running the finished model on today's input, and inference does not itself run a training update.</a:t>
            </a:r>
          </a:p>
          <a:p xmlns:a="http://schemas.openxmlformats.org/drawingml/2006/main"/>
          <a:p xmlns:a="http://schemas.openxmlformats.org/drawingml/2006/main">
            <a:r>
              <a:t>A question for you. A colleague uploads Equator's agreement to a chat tool and gets an answer. Did that upload train the model? Sit with it for a second.</a:t>
            </a:r>
          </a:p>
          <a:p xmlns:a="http://schemas.openxmlformats.org/drawingml/2006/main"/>
          <a:p xmlns:a="http://schemas.openxmlformats.org/drawingml/2006/main">
            <a:r>
              <a:t>It did not. The upload supplied today's evidence for inference and changed no parameters. If you said yes, I'd ask what the vendor would have had to do, and whether we would expect to be told. What a specific product's terms say is a separate contract question, and I won't state it here. Next we move to the in-class exercises, where we test these ideas on our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work on the matter together. There are four parts, and we'll go in order.</a:t>
            </a:r>
          </a:p>
          <a:p xmlns:a="http://schemas.openxmlformats.org/drawingml/2006/main"/>
          <a:p xmlns:a="http://schemas.openxmlformats.org/drawingml/2006/main">
            <a:r>
              <a:t>First, I'll show you six short document descriptions: a signed service agreement, employee terms, a credit note, a sales invoice, a privacy notice and a board approval. You sort them by type, and then we discuss how labels would be assigned for training.</a:t>
            </a:r>
          </a:p>
          <a:p xmlns:a="http://schemas.openxmlformats.org/drawingml/2006/main"/>
          <a:p xmlns:a="http://schemas.openxmlformats.org/drawingml/2006/main">
            <a:r>
              <a:t>Second, we follow one numerical representation through the labelled network.</a:t>
            </a:r>
          </a:p>
          <a:p xmlns:a="http://schemas.openxmlformats.org/drawingml/2006/main"/>
          <a:p xmlns:a="http://schemas.openxmlformats.org/drawingml/2006/main">
            <a:r>
              <a:t>Third, we place the query, consent for an internal restructuring of the provider, beside three candidates. Those are the Key Terms change to Section 12.6, an invoice payment term, and the word consent in a photograph permission.</a:t>
            </a:r>
          </a:p>
          <a:p xmlns:a="http://schemas.openxmlformats.org/drawingml/2006/main"/>
          <a:p xmlns:a="http://schemas.openxmlformats.org/drawingml/2006/main">
            <a:r>
              <a:t>Fourth, we test the idea that uploading an agreement equals training.</a:t>
            </a:r>
          </a:p>
          <a:p xmlns:a="http://schemas.openxmlformats.org/drawingml/2006/main"/>
          <a:p xmlns:a="http://schemas.openxmlformats.org/drawingml/2006/main">
            <a:r>
              <a:t>You direct the work, and I'll follow. If a connected tool is unavailable, we'll use the labelled example and I'll say clearly that the step was not run. Then we gather what we found straight afterwards.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summarise, I'd like you to give me the conclusion in your own words. Go ahead, and I'll compare it with mine.</a:t>
            </a:r>
          </a:p>
          <a:p xmlns:a="http://schemas.openxmlformats.org/drawingml/2006/main"/>
          <a:p xmlns:a="http://schemas.openxmlformats.org/drawingml/2006/main">
            <a:r>
              <a:t>Here's what the evidence supports. Training adjusts parameters, and inference uses them. Tokens are input units, and embeddings are numerical representations. Similarity proposes candidates, and the lawyer still decides legal equivalence.</a:t>
            </a:r>
          </a:p>
          <a:p xmlns:a="http://schemas.openxmlformats.org/drawingml/2006/main"/>
          <a:p xmlns:a="http://schemas.openxmlformats.org/drawingml/2006/main">
            <a:r>
              <a:t>Here's what it does not support. The coordinates on our map and the numbers in our network are illustrations. They are invented, and they are not measurements from a deployed model.</a:t>
            </a:r>
          </a:p>
          <a:p xmlns:a="http://schemas.openxmlformats.org/drawingml/2006/main"/>
          <a:p xmlns:a="http://schemas.openxmlformats.org/drawingml/2006/main">
            <a:r>
              <a:t>Let me put a question to you. Which part of today's picture would you not repeat to a client as a fact? Take a moment with that.</a:t>
            </a:r>
          </a:p>
          <a:p xmlns:a="http://schemas.openxmlformats.org/drawingml/2006/main"/>
          <a:p xmlns:a="http://schemas.openxmlformats.org/drawingml/2006/main">
            <a:r>
              <a:t>The invented map and the schematic numbers. If you're unsure, I'd ask which figure on the similarity map we actually measured. The answer is none of them. Let's note any question still open, so we can return to it. Now we turn the lesson into a decision for the firm.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class decision record, and it doesn't authorise anything for the firm.</a:t>
            </a:r>
          </a:p>
          <a:p xmlns:a="http://schemas.openxmlformats.org/drawingml/2006/main"/>
          <a:p xmlns:a="http://schemas.openxmlformats.org/drawingml/2006/main">
            <a:r>
              <a:t>The proposed decision is to require vendors to explain training, source access and evaluation as separate matters. Training is what was done to the model before we got it. Source access is what documents the tool can read when we use it. Evaluation is how the vendor tested it. A vendor answer that blends the three tells us little.</a:t>
            </a:r>
          </a:p>
          <a:p xmlns:a="http://schemas.openxmlformats.org/drawingml/2006/main"/>
          <a:p xmlns:a="http://schemas.openxmlformats.org/drawingml/2006/main">
            <a:r>
              <a:t>A decision needs a record. So I'd like you to name one owner and one condition before it applies. For example, the owner could be the partner who signs off tools, and the condition could be that we receive the vendor's test method in writing. We also record the evidence still needed.</a:t>
            </a:r>
          </a:p>
          <a:p xmlns:a="http://schemas.openxmlformats.org/drawingml/2006/main"/>
          <a:p xmlns:a="http://schemas.openxmlformats.org/drawingml/2006/main">
            <a:r>
              <a:t>One more question. What evidence would change this proposed decision? See what you come up with.</a:t>
            </a:r>
          </a:p>
          <a:p xmlns:a="http://schemas.openxmlformats.org/drawingml/2006/main"/>
          <a:p xmlns:a="http://schemas.openxmlformats.org/drawingml/2006/main">
            <a:r>
              <a:t>We revisit it if the evidence, the quality or the permitted scope changes. If you have nothing, try this angle. What could a vendor show us that would make us ask fewer questions?</a:t>
            </a:r>
          </a:p>
          <a:p xmlns:a="http://schemas.openxmlformats.org/drawingml/2006/main"/>
          <a:p xmlns:a="http://schemas.openxmlformats.org/drawingml/2006/main">
            <a:r>
              <a:t>Then you can test yourself in a moment.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finish with three questions, one at a time. Answer each in your own words, and I'll give you mine after you've tried. The first. Does a token ID near another token ID establish similar meaning? No rush.</a:t>
            </a:r>
          </a:p>
          <a:p xmlns:a="http://schemas.openxmlformats.org/drawingml/2006/main"/>
          <a:p xmlns:a="http://schemas.openxmlformats.org/drawingml/2006/main">
            <a:r>
              <a:t>The answer is no. An ID names a piece of text, and nearby numbers need not mean nearby ideas. If that's unclear, we can swap two IDs, such as 285 and 914, and notice that the words stay the same. The second question. Why can charge mean security in one sentence and accusation in another? Give that a little thought.</a:t>
            </a:r>
          </a:p>
          <a:p xmlns:a="http://schemas.openxmlformats.org/drawingml/2006/main"/>
          <a:p xmlns:a="http://schemas.openxmlformats.org/drawingml/2006/main">
            <a:r>
              <a:t>Context does it. The surrounding words change the representation. Now the third. What changes during training, as against ordinary inference? Take your time.</a:t>
            </a:r>
          </a:p>
          <a:p xmlns:a="http://schemas.openxmlformats.org/drawingml/2006/main"/>
          <a:p xmlns:a="http://schemas.openxmlformats.org/drawingml/2006/main">
            <a:r>
              <a:t>Parameters change in training. In ordinary inference, none do. If any answer comes out partial, we'll go back to the matching idea and try the question again with a changed fact.</a:t>
            </a:r>
          </a:p>
          <a:p xmlns:a="http://schemas.openxmlformats.org/drawingml/2006/main"/>
          <a:p xmlns:a="http://schemas.openxmlformats.org/drawingml/2006/main">
            <a:r>
              <a:t>That ends the core of Session 2. Session 3 covers how language models generate answers and how they fail.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what training data looks like. Each row has an input document and a target label. Service terms and a signature carry the label service agreement. Employment terms carry the label employment agreement. An invoice number and amount carry the label invoice.</a:t>
            </a:r>
          </a:p>
          <a:p xmlns:a="http://schemas.openxmlformats.org/drawingml/2006/main"/>
          <a:p xmlns:a="http://schemas.openxmlformats.org/drawingml/2006/main">
            <a:r>
              <a:t>These three rows are only illustrations, and they don't train or validate a classifier. A real one needs many more examples, and we keep later documents aside for the test.</a:t>
            </a:r>
          </a:p>
          <a:p xmlns:a="http://schemas.openxmlformats.org/drawingml/2006/main"/>
          <a:p xmlns:a="http://schemas.openxmlformats.org/drawingml/2006/main">
            <a:r>
              <a:t>Something to chew on. If someone mislabels an employment agreement as an invoice, what does the model learn from that row? Say it out loud if it helps.</a:t>
            </a:r>
          </a:p>
          <a:p xmlns:a="http://schemas.openxmlformats.org/drawingml/2006/main"/>
          <a:p xmlns:a="http://schemas.openxmlformats.org/drawingml/2006/main">
            <a:r>
              <a:t>It receives the wrong learning signal, and later predictions may be damaged. If you think one row is too small to matter, I'd ask how many mislabelled rows it would take, and who would notice.</a:t>
            </a:r>
          </a:p>
          <a:p xmlns:a="http://schemas.openxmlformats.org/drawingml/2006/main"/>
          <a:p xmlns:a="http://schemas.openxmlformats.org/drawingml/2006/main">
            <a:r>
              <a:t>Next, a plain definition of the term neural network.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neural network is a model made of connected computational units that transform inputs using parameters, usually with nonlinear functions. In plain words, each layer combines numbers and passes the result on. The nonlinear step lets later layers capture relationships that one straight-line rule cannot. It is computation, and nothing more mysterious than that.</a:t>
            </a:r>
          </a:p>
          <a:p xmlns:a="http://schemas.openxmlformats.org/drawingml/2006/main"/>
          <a:p xmlns:a="http://schemas.openxmlformats.org/drawingml/2006/main">
            <a:r>
              <a:t>Here's our case. An agreement classifier turns document features into scores for agreement and invoice, and the higher score wins.</a:t>
            </a:r>
          </a:p>
          <a:p xmlns:a="http://schemas.openxmlformats.org/drawingml/2006/main"/>
          <a:p xmlns:a="http://schemas.openxmlformats.org/drawingml/2006/main">
            <a:r>
              <a:t>Let me ask you something. Must a partner understand matrix algebra to ask a vendor useful questions about a network like this? Give that a little thought.</a:t>
            </a:r>
          </a:p>
          <a:p xmlns:a="http://schemas.openxmlformats.org/drawingml/2006/main"/>
          <a:p xmlns:a="http://schemas.openxmlformats.org/drawingml/2006/main">
            <a:r>
              <a:t>A partner needs to understand the inputs, the learning signal, how it was evaluated and its limits. Algebra isn't on that list. If you'd say yes, I'd ask which of those four questions needs any algebra at all.</a:t>
            </a:r>
          </a:p>
          <a:p xmlns:a="http://schemas.openxmlformats.org/drawingml/2006/main"/>
          <a:p xmlns:a="http://schemas.openxmlformats.org/drawingml/2006/main">
            <a:r>
              <a:t>Next we see how words become the numbers that go into such a network.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path from words to model inputs. Our fragment is: The provider remains responsible. Each schematic token gets an illustrative ID: 103, 285, 914 and 602. Each ID selects a learned list of numbers, the vector. The boundaries and IDs are invented, and ID proximity does not measure meaning.</a:t>
            </a:r>
          </a:p>
          <a:p xmlns:a="http://schemas.openxmlformats.org/drawingml/2006/main"/>
          <a:p xmlns:a="http://schemas.openxmlformats.org/drawingml/2006/main">
            <a:r>
              <a:t>Think of an ID as a locker number. Locker 285 and locker 286 are neighbours in the corridor, and what's inside can be quite different.</a:t>
            </a:r>
          </a:p>
          <a:p xmlns:a="http://schemas.openxmlformats.org/drawingml/2006/main"/>
          <a:p xmlns:a="http://schemas.openxmlformats.org/drawingml/2006/main">
            <a:r>
              <a:t>Here's one for you. Are token IDs themselves a measure of meaning? Have a think.</a:t>
            </a:r>
          </a:p>
          <a:p xmlns:a="http://schemas.openxmlformats.org/drawingml/2006/main"/>
          <a:p xmlns:a="http://schemas.openxmlformats.org/drawingml/2006/main">
            <a:r>
              <a:t>An ID selects a representation, and the vector carries the learned information. If you hesitate, I'd ask whether renumbering the vocabulary would change what the words mean. It wouldn't.</a:t>
            </a:r>
          </a:p>
          <a:p xmlns:a="http://schemas.openxmlformats.org/drawingml/2006/main"/>
          <a:p xmlns:a="http://schemas.openxmlformats.org/drawingml/2006/main">
            <a:r>
              <a:t>Keep this sentence in mind for Session 3. The Key Terms exception to Section 12.6 says consent is not required for a reorganization within a wholly owned group if Provider remains responsible.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foundation model is trained on broad data and can be adapted to many later tasks, through prompting or further training. Prompting means giving the model written instructions and material at the time of use. In our matter, one model might summarise the client instruction and also draft a proposed amendment.</a:t>
            </a:r>
          </a:p>
          <a:p xmlns:a="http://schemas.openxmlformats.org/drawingml/2006/main"/>
          <a:p xmlns:a="http://schemas.openxmlformats.org/drawingml/2006/main">
            <a:r>
              <a:t>Broad training is a strength for range. It tells us nothing yet about our own work. A model trained on broad text has not been shown to be reliable on current Ugandan tax law.</a:t>
            </a:r>
          </a:p>
          <a:p xmlns:a="http://schemas.openxmlformats.org/drawingml/2006/main"/>
          <a:p xmlns:a="http://schemas.openxmlformats.org/drawingml/2006/main">
            <a:r>
              <a:t>Now it's your turn. Does broad training establish expertise in current Ugandan tax law? Think it over.</a:t>
            </a:r>
          </a:p>
          <a:p xmlns:a="http://schemas.openxmlformats.org/drawingml/2006/main"/>
          <a:p xmlns:a="http://schemas.openxmlformats.org/drawingml/2006/main">
            <a:r>
              <a:t>Domain relevance, current sources and testing on the task remain necessary. If you'd say it has read everything, I'd ask when it was last updated, and how we would find out.</a:t>
            </a:r>
          </a:p>
          <a:p xmlns:a="http://schemas.openxmlformats.org/drawingml/2006/main"/>
          <a:p xmlns:a="http://schemas.openxmlformats.org/drawingml/2006/main">
            <a:r>
              <a:t>Next we list the model families we may hear 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keep this one short. An architecture is the way a model's parts are connected, and there are three families to know by name.</a:t>
            </a:r>
          </a:p>
          <a:p xmlns:a="http://schemas.openxmlformats.org/drawingml/2006/main"/>
          <a:p xmlns:a="http://schemas.openxmlformats.org/drawingml/2006/main">
            <a:r>
              <a:t>Transformers are central to current language systems. Convolutional networks often process spatial patterns, such as images, which matters for scanned pages. Recurrent architectures process a sequence step by step through a recurrent state. A product can combine several, so a scanned contract tool might use one family to read the page image and another to handle the text. We won't go into how any of them work, since we aren't building models.</a:t>
            </a:r>
          </a:p>
          <a:p xmlns:a="http://schemas.openxmlformats.org/drawingml/2006/main"/>
          <a:p xmlns:a="http://schemas.openxmlformats.org/drawingml/2006/main">
            <a:r>
              <a:t>Tell me what you make of this. Which of these three matters most for our explanation of language models, and why might the product still use others? Take your time.</a:t>
            </a:r>
          </a:p>
          <a:p xmlns:a="http://schemas.openxmlformats.org/drawingml/2006/main"/>
          <a:p xmlns:a="http://schemas.openxmlformats.org/drawingml/2006/main">
            <a:r>
              <a:t>Transformers, and the wider system can include other models. If you weigh all three equally, I'd ask which one reads text and which one reads the scanned page.</a:t>
            </a:r>
          </a:p>
          <a:p xmlns:a="http://schemas.openxmlformats.org/drawingml/2006/main"/>
          <a:p xmlns:a="http://schemas.openxmlformats.org/drawingml/2006/main">
            <a:r>
              <a:t>The last optional extra returns to something practical, which is what happens when the model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we have time, there's an optional extra here. It connects the technical material to control. A new model can change extraction, wording and which tools it chooses. So after a material change, the firm repeats the relevant tests. A good result under one model tells us nothing about the next version.</a:t>
            </a:r>
          </a:p>
          <a:p xmlns:a="http://schemas.openxmlformats.org/drawingml/2006/main"/>
          <a:p xmlns:a="http://schemas.openxmlformats.org/drawingml/2006/main">
            <a:r>
              <a:t>A quick question before we go on. If the provider updates the model next month, which tests from today would you keep and run again? See what you come up with.</a:t>
            </a:r>
          </a:p>
          <a:p xmlns:a="http://schemas.openxmlformats.org/drawingml/2006/main"/>
          <a:p xmlns:a="http://schemas.openxmlformats.org/drawingml/2006/main">
            <a:r>
              <a:t>Representative agreements, and questions where the source has no answer. I'd also keep the exception in the Key Terms version of Section 12.6, and the access rule the Key Terms add to Section 1.5, where each support person is named in a written request and approved in writing first. If you name only one test, I'd ask what the other kinds of failure would look like.</a:t>
            </a:r>
          </a:p>
          <a:p xmlns:a="http://schemas.openxmlformats.org/drawingml/2006/main"/>
          <a:p xmlns:a="http://schemas.openxmlformats.org/drawingml/2006/main">
            <a:r>
              <a:t>That's the end of the optional material. Session 3 looks at how language models generate answers and how they fail.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127610217b84d80"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5fe3ce7ce20f4760"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50db9838b09f4a25"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af421ce963814f86"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2815ac8fc48846ac"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1839c1f90afa425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BD8E73-5BD7-434D-A6BF-2E788DEC192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A0501B-91D1-41E5-B894-E8C27BA0385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1459549-1842-444E-8DAD-ADB8589522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C330FD-5067-4552-8C54-DBC463A162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D0C6FC-3F62-4018-8F90-C02530E7A64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12518-D958-4A9D-B249-BEE966C692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101523-FAFF-45FF-BFC6-DA5D422B87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D5D20C1-6C66-489F-82BC-AD48A6CBE7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6C2D50-19A7-48DB-A2B5-87262472DB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E11AA5-042D-4F9E-851B-F30B90D603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37b9c0bfc754df1" Type="http://schemas.openxmlformats.org/officeDocument/2006/relationships/slideLayout" Target="../slideLayouts/slideLayout4.xml"/><Relationship Id="R4a541b78aba44073" Type="http://schemas.openxmlformats.org/officeDocument/2006/relationships/slideLayout" Target="../slideLayouts/slideLayout3.xml"/><Relationship Id="R9a2e56957b114e34" Type="http://schemas.openxmlformats.org/officeDocument/2006/relationships/slideLayout" Target="../slideLayouts/slideLayout5.xml"/><Relationship Id="Rb172f9e37f494e3c" Type="http://schemas.openxmlformats.org/officeDocument/2006/relationships/slideLayout" Target="../slideLayouts/slideLayout2.xml"/><Relationship Id="Rd50187852b394fd4" Type="http://schemas.openxmlformats.org/officeDocument/2006/relationships/theme" Target="theme/theme2.xml"/><Relationship Id="Re700fe7b52704770" Type="http://schemas.openxmlformats.org/officeDocument/2006/relationships/slideLayout" Target="../slideLayouts/slideLayout6.xml"/><Relationship Id="Rf0a67ecd7f19400e"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a67ecd7f19400e"/>
    <p:sldLayoutId xmlns:r="http://schemas.openxmlformats.org/officeDocument/2006/relationships" id="2147483650" r:id="Rb172f9e37f494e3c"/>
    <p:sldLayoutId xmlns:r="http://schemas.openxmlformats.org/officeDocument/2006/relationships" id="2147483651" r:id="R4a541b78aba44073"/>
    <p:sldLayoutId xmlns:r="http://schemas.openxmlformats.org/officeDocument/2006/relationships" id="2147483652" r:id="R137b9c0bfc754df1"/>
    <p:sldLayoutId xmlns:r="http://schemas.openxmlformats.org/officeDocument/2006/relationships" id="2147483653" r:id="R9a2e56957b114e34"/>
    <p:sldLayoutId xmlns:r="http://schemas.openxmlformats.org/officeDocument/2006/relationships" id="2147483654" r:id="Re700fe7b527047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aaa8e9231df4761" Type="http://schemas.openxmlformats.org/officeDocument/2006/relationships/notesSlide" Target="../notesSlides/notesSlide1.xml"/><Relationship Id="R183b6a7a761c4814" Type="http://schemas.openxmlformats.org/officeDocument/2006/relationships/slideLayout" Target="../slideLayouts/slideLayout6.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766b42dce57b46b5" Type="http://schemas.openxmlformats.org/officeDocument/2006/relationships/notesSlide" Target="../notesSlides/notesSlide2.xml"/><Relationship Id="Rbc328f1a17334acb" Type="http://schemas.openxmlformats.org/officeDocument/2006/relationships/slideLayout" Target="../slideLayouts/slideLayout6.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3bff6a6998fa4f03" Type="http://schemas.openxmlformats.org/officeDocument/2006/relationships/slideLayout" Target="../slideLayouts/slideLayout6.xml"/><Relationship Id="R44f20b905e484730"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69c9405e3337401a" Type="http://schemas.openxmlformats.org/officeDocument/2006/relationships/slideLayout" Target="../slideLayouts/slideLayout6.xml"/><Relationship Id="Rdb7316973a8d46d8"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e3004b9752fc4de1" Type="http://schemas.openxmlformats.org/officeDocument/2006/relationships/slideLayout" Target="../slideLayouts/slideLayout6.xml"/><Relationship Id="Rf49a28c010b44c1a"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2d0cb66afbc84d68" Type="http://schemas.openxmlformats.org/officeDocument/2006/relationships/notesSlide" Target="../notesSlides/notesSlide6.xml"/><Relationship Id="R664f0ffb2ca747b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8bcd3eac44374b18" Type="http://schemas.openxmlformats.org/officeDocument/2006/relationships/slideLayout" Target="../slideLayouts/slideLayout6.xml"/><Relationship Id="Rebca5ce059914a8e"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186408609a634b89" Type="http://schemas.openxmlformats.org/officeDocument/2006/relationships/slideLayout" Target="../slideLayouts/slideLayout6.xml"/><Relationship Id="R232515fd8393436b"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808368d3e864354" Type="http://schemas.openxmlformats.org/officeDocument/2006/relationships/slideLayout" Target="../slideLayouts/slideLayout6.xml"/><Relationship Id="Rda432768fa684c7c"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4296254281034359" Type="http://schemas.openxmlformats.org/officeDocument/2006/relationships/slideLayout" Target="../slideLayouts/slideLayout6.xml"/><Relationship Id="R8983ccee5a814540"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495803fd70b84f82" Type="http://schemas.openxmlformats.org/officeDocument/2006/relationships/slideLayout" Target="../slideLayouts/slideLayout6.xml"/><Relationship Id="R7ac8c0269378478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35494a8ada0a4fd1" Type="http://schemas.openxmlformats.org/officeDocument/2006/relationships/slideLayout" Target="../slideLayouts/slideLayout6.xml"/><Relationship Id="Rc5cef24ce6b0446e"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0508ceda33c147d5" Type="http://schemas.openxmlformats.org/officeDocument/2006/relationships/slideLayout" Target="../slideLayouts/slideLayout6.xml"/><Relationship Id="R16020c0096e3475e"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786d67e0f58f46ed" Type="http://schemas.openxmlformats.org/officeDocument/2006/relationships/slideLayout" Target="../slideLayouts/slideLayout6.xml"/><Relationship Id="Rbc3577ea1cf0436a"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785f465ffc944cb7" Type="http://schemas.openxmlformats.org/officeDocument/2006/relationships/slideLayout" Target="../slideLayouts/slideLayout6.xml"/><Relationship Id="R9d4562c11a934afe"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5f95b869a5e040be" Type="http://schemas.openxmlformats.org/officeDocument/2006/relationships/slideLayout" Target="../slideLayouts/slideLayout6.xml"/><Relationship Id="Rdc18719e8b1d4f8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76751c2978ef4667" Type="http://schemas.openxmlformats.org/officeDocument/2006/relationships/slideLayout" Target="../slideLayouts/slideLayout6.xml"/><Relationship Id="Rb854ec9a04ac418c"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9c64118ce50d4318" Type="http://schemas.openxmlformats.org/officeDocument/2006/relationships/notesSlide" Target="../notesSlides/notesSlide18.xml"/><Relationship Id="Rcf12774396a948b8" Type="http://schemas.openxmlformats.org/officeDocument/2006/relationships/slideLayout" Target="../slideLayouts/slideLayout6.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517d24b337e14250" Type="http://schemas.openxmlformats.org/officeDocument/2006/relationships/slideLayout" Target="../slideLayouts/slideLayout6.xml"/><Relationship Id="R53442593d7ec4fa4"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0a1f8c83288a4140" Type="http://schemas.openxmlformats.org/officeDocument/2006/relationships/notesSlide" Target="../notesSlides/notesSlide20.xml"/><Relationship Id="R9340206cc9e04749"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5439404fad7f4373" Type="http://schemas.openxmlformats.org/officeDocument/2006/relationships/notesSlide" Target="../notesSlides/notesSlide21.xml"/><Relationship Id="Rccadb65ea2454bc4" Type="http://schemas.openxmlformats.org/officeDocument/2006/relationships/slideLayout" Target="../slideLayouts/slideLayout6.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302cbd844db5454b" Type="http://schemas.openxmlformats.org/officeDocument/2006/relationships/notesSlide" Target="../notesSlides/notesSlide22.xml"/><Relationship Id="Rdbe43d066a8e48d9"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a71c813f1218448f" Type="http://schemas.openxmlformats.org/officeDocument/2006/relationships/slideLayout" Target="../slideLayouts/slideLayout6.xml"/><Relationship Id="Re7f3d190f2ac4a7c"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9804f87fe457454b" Type="http://schemas.openxmlformats.org/officeDocument/2006/relationships/notesSlide" Target="../notesSlides/notesSlide24.xml"/><Relationship Id="Rbfdce79fa999472f" Type="http://schemas.openxmlformats.org/officeDocument/2006/relationships/slideLayout" Target="../slideLayouts/slideLayout6.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715bc3250ea24bc0" Type="http://schemas.openxmlformats.org/officeDocument/2006/relationships/notesSlide" Target="../notesSlides/notesSlide25.xml"/><Relationship Id="Rf6143d45faba4c7c" Type="http://schemas.openxmlformats.org/officeDocument/2006/relationships/slideLayout" Target="../slideLayouts/slideLayout6.xml"/><Relationship Id="rId3" Type="http://schemas.openxmlformats.org/officeDocument/2006/relationships/image" Target="../media/image4.png"/></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How AI learns and represents information">
    <p:bg>
      <p:bgPr>
        <a:solidFill>
          <a:srgbClr val="1C3144"/>
        </a:solidFill>
      </p:bgPr>
    </p:bg>
    <p:spTree>
      <p:nvGrpSpPr>
        <p:cNvPr id="1" name=""/>
        <p:cNvGrpSpPr/>
        <p:nvPr/>
      </p:nvGrpSpPr>
      <p:grpSpPr>
        <a:xfrm/>
      </p:grpSpPr>
      <p:sp>
        <p:nvSpPr>
          <p:cNvPr id="5" name="text-155">
            <a:extLst>
              <a:ext uri="{FF2B5EF4-FFF2-40B4-BE49-F238E27FC236}">
                <ns2:creationId id="{A89BECA4-7145-4182-94F8-C7894956738B}"/>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02</a:t>
            </a:r>
          </a:p>
        </p:txBody>
      </p:sp>
      <p:sp>
        <p:nvSpPr>
          <p:cNvPr id="2" name="text-156">
            <a:extLst>
              <a:ext uri="{FF2B5EF4-FFF2-40B4-BE49-F238E27FC236}">
                <ns2:creationId id="{047E07FE-D559-4677-A840-B022559E8F0F}"/>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How AI learns and represents information</a:t>
            </a:r>
          </a:p>
        </p:txBody>
      </p:sp>
      <p:sp>
        <p:nvSpPr>
          <p:cNvPr id="3" name="text-157">
            <a:extLst>
              <a:ext uri="{FF2B5EF4-FFF2-40B4-BE49-F238E27FC236}">
                <ns2:creationId id="{CD238157-62F6-4569-8078-D7305A3F1097}"/>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What is learned from examples, and how can language be represented numerically?</a:t>
            </a:r>
          </a:p>
        </p:txBody>
      </p:sp>
      <p:sp>
        <p:nvSpPr>
          <p:cNvPr id="4" name="text-158">
            <a:extLst>
              <a:ext uri="{FF2B5EF4-FFF2-40B4-BE49-F238E27FC236}">
                <ns2:creationId id="{127E8FD5-ACB5-433D-B117-A54E249842EA}"/>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layers of connected nodes in a neural network; words converted into numbered tokens"/>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2146023291"/>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the distinction">
    <p:bg>
      <p:bgPr>
        <a:solidFill>
          <a:srgbClr val="FFFFFF"/>
        </a:solidFill>
      </p:bgPr>
    </p:bg>
    <p:spTree>
      <p:nvGrpSpPr>
        <p:cNvPr id="1" name=""/>
        <p:cNvGrpSpPr/>
        <p:nvPr/>
      </p:nvGrpSpPr>
      <p:grpSpPr>
        <a:xfrm/>
      </p:grpSpPr>
      <p:sp>
        <p:nvSpPr>
          <p:cNvPr id="9" name="text-159">
            <a:extLst>
              <a:ext uri="{FF2B5EF4-FFF2-40B4-BE49-F238E27FC236}">
                <ns2:creationId id="{A80FAF07-022B-4DF5-80C7-ED36D30B067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60">
            <a:extLst>
              <a:ext uri="{FF2B5EF4-FFF2-40B4-BE49-F238E27FC236}">
                <ns2:creationId id="{C67D5551-2B81-40E9-AEB1-1D76ADE6B86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the distinction</a:t>
            </a:r>
          </a:p>
        </p:txBody>
      </p:sp>
      <p:sp>
        <p:nvSpPr>
          <p:cNvPr id="4" name="text-162">
            <a:extLst>
              <a:ext uri="{FF2B5EF4-FFF2-40B4-BE49-F238E27FC236}">
                <ns2:creationId id="{671E05BC-CC35-43C8-8E68-1C3D8443B4F9}"/>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1</a:t>
            </a:r>
          </a:p>
        </p:txBody>
      </p:sp>
      <p:sp>
        <p:nvSpPr>
          <p:cNvPr id="5" name="text-163">
            <a:extLst>
              <a:ext uri="{FF2B5EF4-FFF2-40B4-BE49-F238E27FC236}">
                <ns2:creationId id="{1DDECD28-10DC-42BF-8AE8-A3846347D6E2}"/>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An assistant totals invoices and drafts a letter. Which operation needs learned generation?</a:t>
            </a:r>
          </a:p>
        </p:txBody>
      </p:sp>
      <p:sp>
        <p:nvSpPr>
          <p:cNvPr id="6" name="text-164">
            <a:extLst>
              <a:ext uri="{FF2B5EF4-FFF2-40B4-BE49-F238E27FC236}">
                <ns2:creationId id="{BD0C816F-2A80-4B94-9F50-AAD19A0F1AA9}"/>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65">
            <a:extLst>
              <a:ext uri="{FF2B5EF4-FFF2-40B4-BE49-F238E27FC236}">
                <ns2:creationId id="{31EAF155-1D0D-4848-8753-9E9298DBD20D}"/>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What is learned from examples, and how can language be represented numerically?</a:t>
            </a:r>
          </a:p>
        </p:txBody>
      </p:sp>
      <p:sp>
        <p:nvSpPr>
          <p:cNvPr id="8" name="text-166">
            <a:extLst>
              <a:ext uri="{FF2B5EF4-FFF2-40B4-BE49-F238E27FC236}">
                <ns2:creationId id="{ED8B9269-F342-4699-B272-EA5C3B0E4B99}"/>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An explanation of training, inference, tokens and similarity using the same matter.</a:t>
            </a:r>
          </a:p>
        </p:txBody>
      </p:sp>
      <p:sp>
        <p:nvSpPr>
          <p:cNvPr id="3" name="text-161">
            <a:extLst>
              <a:ext uri="{FF2B5EF4-FFF2-40B4-BE49-F238E27FC236}">
                <ns2:creationId id="{8E390B87-C201-4ED5-B38A-41218EED53B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a:t>
            </a:r>
          </a:p>
        </p:txBody>
      </p:sp>
      <p:pic xmlns:r="http://schemas.openxmlformats.org/officeDocument/2006/relationships">
        <p:nvPicPr>
          <p:cNvPr id="10" name="illustration-rewind" descr="Illustration: a clock with a rewind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310848375"/>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The task before the model">
    <p:bg>
      <p:bgPr>
        <a:solidFill>
          <a:srgbClr val="FFFFFF"/>
        </a:solidFill>
      </p:bgPr>
    </p:bg>
    <p:spTree>
      <p:nvGrpSpPr>
        <p:cNvPr id="1" name=""/>
        <p:cNvGrpSpPr/>
        <p:nvPr/>
      </p:nvGrpSpPr>
      <p:grpSpPr>
        <a:xfrm/>
      </p:grpSpPr>
      <p:sp>
        <p:nvSpPr>
          <p:cNvPr id="8" name="text-167">
            <a:extLst>
              <a:ext uri="{FF2B5EF4-FFF2-40B4-BE49-F238E27FC236}">
                <ns2:creationId id="{0610501C-3B7A-4863-AC7A-5109D2126E8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68">
            <a:extLst>
              <a:ext uri="{FF2B5EF4-FFF2-40B4-BE49-F238E27FC236}">
                <ns2:creationId id="{60CB17F3-1644-442B-95C0-125F72D43A0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task before the model</a:t>
            </a:r>
          </a:p>
        </p:txBody>
      </p:sp>
      <p:sp>
        <p:nvSpPr>
          <p:cNvPr id="4" name="text-170">
            <a:extLst>
              <a:ext uri="{FF2B5EF4-FFF2-40B4-BE49-F238E27FC236}">
                <ns2:creationId id="{D0F2C5B6-063A-49CE-8EE9-5E0358936FB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1">
            <a:extLst>
              <a:ext uri="{FF2B5EF4-FFF2-40B4-BE49-F238E27FC236}">
                <ns2:creationId id="{85DC4B1B-8BBF-4BD9-9624-9BC0109F06F3}"/>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large language model is a neural-network model trained on extensive language data to model token sequences and generate or process language.</a:t>
            </a:r>
          </a:p>
        </p:txBody>
      </p:sp>
      <p:sp>
        <p:nvSpPr>
          <p:cNvPr id="6" name="text-172">
            <a:extLst>
              <a:ext uri="{FF2B5EF4-FFF2-40B4-BE49-F238E27FC236}">
                <ns2:creationId id="{DB5B0E38-17EF-49E0-BAED-FEAA7379A261}"/>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73">
            <a:extLst>
              <a:ext uri="{FF2B5EF4-FFF2-40B4-BE49-F238E27FC236}">
                <ns2:creationId id="{48503A4E-C04D-4D20-A010-AA31960894C7}"/>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Our tasks: classify an agreement, extract a party name or generate a clause. Each needs a different success test.</a:t>
            </a:r>
          </a:p>
        </p:txBody>
      </p:sp>
      <p:sp>
        <p:nvSpPr>
          <p:cNvPr id="3" name="text-169">
            <a:extLst>
              <a:ext uri="{FF2B5EF4-FFF2-40B4-BE49-F238E27FC236}">
                <ns2:creationId id="{98314C90-5091-402E-97B3-C291E0520CE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3</a:t>
            </a:r>
          </a:p>
        </p:txBody>
      </p:sp>
      <p:pic xmlns:r="http://schemas.openxmlformats.org/officeDocument/2006/relationships">
        <p:nvPicPr>
          <p:cNvPr id="9" name="illustration-cogs" descr="Illustration: two cogs and a completed chec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85569089"/>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Training">
    <p:bg>
      <p:bgPr>
        <a:solidFill>
          <a:srgbClr val="FFFFFF"/>
        </a:solidFill>
      </p:bgPr>
    </p:bg>
    <p:spTree>
      <p:nvGrpSpPr>
        <p:cNvPr id="1" name=""/>
        <p:cNvGrpSpPr/>
        <p:nvPr/>
      </p:nvGrpSpPr>
      <p:grpSpPr>
        <a:xfrm/>
      </p:grpSpPr>
      <p:sp>
        <p:nvSpPr>
          <p:cNvPr id="7" name="text-174">
            <a:extLst>
              <a:ext uri="{FF2B5EF4-FFF2-40B4-BE49-F238E27FC236}">
                <ns2:creationId id="{5D364BE9-4128-4C4F-BC53-5411C0C878F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75">
            <a:extLst>
              <a:ext uri="{FF2B5EF4-FFF2-40B4-BE49-F238E27FC236}">
                <ns2:creationId id="{B5A38223-5D12-4401-A0FC-C3C18964D28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Training</a:t>
            </a:r>
          </a:p>
        </p:txBody>
      </p:sp>
      <p:sp>
        <p:nvSpPr>
          <p:cNvPr id="4" name="text-177">
            <a:extLst>
              <a:ext uri="{FF2B5EF4-FFF2-40B4-BE49-F238E27FC236}">
                <ns2:creationId id="{D6D75BDA-8609-475A-AD02-9305DCADD15A}"/>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Training is the process of fitting a model to data by adjusting its parameters or structure according to an objective.</a:t>
            </a:r>
          </a:p>
        </p:txBody>
      </p:sp>
      <p:sp>
        <p:nvSpPr>
          <p:cNvPr id="5" name="text-178">
            <a:extLst>
              <a:ext uri="{FF2B5EF4-FFF2-40B4-BE49-F238E27FC236}">
                <ns2:creationId id="{B596CD7E-E797-48F6-A06F-62A222A05E06}"/>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179">
            <a:extLst>
              <a:ext uri="{FF2B5EF4-FFF2-40B4-BE49-F238E27FC236}">
                <ns2:creationId id="{1C76F2DB-A570-4757-BBBC-529558F47337}"/>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Label past firm documents as agreements or invoices so a classifier can learn their patterns.</a:t>
            </a:r>
          </a:p>
        </p:txBody>
      </p:sp>
      <p:sp>
        <p:nvSpPr>
          <p:cNvPr id="3" name="text-176">
            <a:extLst>
              <a:ext uri="{FF2B5EF4-FFF2-40B4-BE49-F238E27FC236}">
                <ns2:creationId id="{61C5AFB9-456E-4FA7-9628-771F45CF1C1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4</a:t>
            </a:r>
          </a:p>
        </p:txBody>
      </p:sp>
      <p:pic xmlns:r="http://schemas.openxmlformats.org/officeDocument/2006/relationships">
        <p:nvPicPr>
          <p:cNvPr id="8" name="illustration-cycle" descr="Illustration: a four-step loop that repeat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96406672"/>
      </p:ext>
    </p:extLst>
  </p:cSld>
  <p:transition spd="med" advClick="1">
    <p:fade/>
  </p:transition>
</p:sld>
</file>

<file path=ppt/slides/slide5.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learning loop">
    <p:bg>
      <p:bgPr>
        <a:solidFill>
          <a:srgbClr val="FFFFFF"/>
        </a:solidFill>
      </p:bgPr>
    </p:bg>
    <p:spTree>
      <p:nvGrpSpPr>
        <p:cNvPr id="1" name=""/>
        <p:cNvGrpSpPr/>
        <p:nvPr/>
      </p:nvGrpSpPr>
      <p:grpSpPr>
        <a:xfrm/>
      </p:grpSpPr>
      <p:cxnSp>
        <p:nvCxnSpPr>
          <p:cNvPr id="22" name="reveal-04-arrow" descr="The learning loop">
            <a:extLst>
              <a:ext uri="{FF2B5EF4-FFF2-40B4-BE49-F238E27FC236}">
                <ns2:creationId id="{C50FDC73-D72C-4774-89E8-00CB1EBCE23D}"/>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A42139FF-A2FD-4049-B275-D0E0A9703ABB}"/>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0D7B40B6-ACF5-4E4A-889E-95B078B0C8FD}"/>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4" name="text-180">
            <a:extLst>
              <a:ext uri="{FF2B5EF4-FFF2-40B4-BE49-F238E27FC236}">
                <ns2:creationId id="{CEA93A28-F8C6-4EF7-AD68-3047EAEA4DB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81">
            <a:extLst>
              <a:ext uri="{FF2B5EF4-FFF2-40B4-BE49-F238E27FC236}">
                <ns2:creationId id="{DE6286B0-5824-4536-B1C6-74CF3C1562B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learning loop</a:t>
            </a:r>
          </a:p>
        </p:txBody>
      </p:sp>
      <p:sp>
        <p:nvSpPr>
          <p:cNvPr id="4" name="reveal-01-stage">
            <a:extLst>
              <a:ext uri="{FF2B5EF4-FFF2-40B4-BE49-F238E27FC236}">
                <ns2:creationId id="{3A2826ED-C3EE-48ED-B82A-584537467AE4}"/>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5E87B061-FDDD-4EB6-A477-323AEB41ACD8}"/>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B4A453CB-F15A-4FD2-B516-706EDD1C815A}"/>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Examples</a:t>
            </a:r>
          </a:p>
        </p:txBody>
      </p:sp>
      <p:sp>
        <p:nvSpPr>
          <p:cNvPr id="7" name="reveal-01-detail">
            <a:extLst>
              <a:ext uri="{FF2B5EF4-FFF2-40B4-BE49-F238E27FC236}">
                <ns2:creationId id="{E314C19C-A938-4D90-8899-740B52B30770}"/>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Inputs and targets</a:t>
            </a:r>
          </a:p>
        </p:txBody>
      </p:sp>
      <p:sp>
        <p:nvSpPr>
          <p:cNvPr id="8" name="reveal-02-stage">
            <a:extLst>
              <a:ext uri="{FF2B5EF4-FFF2-40B4-BE49-F238E27FC236}">
                <ns2:creationId id="{4CC54C0E-DFFB-4B28-BBEC-BF44449D9435}"/>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08245585-5A75-4A5C-B62C-4BA12641E906}"/>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D56A149E-2CFB-4864-89D9-60D34D9E4527}"/>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Prediction</a:t>
            </a:r>
          </a:p>
        </p:txBody>
      </p:sp>
      <p:sp>
        <p:nvSpPr>
          <p:cNvPr id="11" name="reveal-02-detail">
            <a:extLst>
              <a:ext uri="{FF2B5EF4-FFF2-40B4-BE49-F238E27FC236}">
                <ns2:creationId id="{EAB2623F-3FFE-4898-BB0F-643F93A65739}"/>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Current model output</a:t>
            </a:r>
          </a:p>
        </p:txBody>
      </p:sp>
      <p:sp>
        <p:nvSpPr>
          <p:cNvPr id="12" name="reveal-03-stage">
            <a:extLst>
              <a:ext uri="{FF2B5EF4-FFF2-40B4-BE49-F238E27FC236}">
                <ns2:creationId id="{F7457348-654E-4CD4-AB27-1443EC0250FF}"/>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E62DB166-F45C-4DAA-AAD2-F97BB65EDBDA}"/>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7BA15470-1FB9-427A-8FD6-0246877F3038}"/>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Comparison</a:t>
            </a:r>
          </a:p>
        </p:txBody>
      </p:sp>
      <p:sp>
        <p:nvSpPr>
          <p:cNvPr id="15" name="reveal-03-detail">
            <a:extLst>
              <a:ext uri="{FF2B5EF4-FFF2-40B4-BE49-F238E27FC236}">
                <ns2:creationId id="{42828312-A672-4727-A486-8E65EC8945ED}"/>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Error against objective</a:t>
            </a:r>
          </a:p>
        </p:txBody>
      </p:sp>
      <p:sp>
        <p:nvSpPr>
          <p:cNvPr id="16" name="reveal-04-stage">
            <a:extLst>
              <a:ext uri="{FF2B5EF4-FFF2-40B4-BE49-F238E27FC236}">
                <ns2:creationId id="{1F5762DF-6C48-4482-B6DE-71545199C23F}"/>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846F581E-17A3-4987-84B2-6E7EC87FB7D0}"/>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C6D952D9-3158-447E-A261-AA2A63D4B319}"/>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Update</a:t>
            </a:r>
          </a:p>
        </p:txBody>
      </p:sp>
      <p:sp>
        <p:nvSpPr>
          <p:cNvPr id="19" name="reveal-04-detail">
            <a:extLst>
              <a:ext uri="{FF2B5EF4-FFF2-40B4-BE49-F238E27FC236}">
                <ns2:creationId id="{F2B7A3F5-3B1E-4A8F-B783-8D34E125F9E2}"/>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Adjust parameters</a:t>
            </a:r>
          </a:p>
        </p:txBody>
      </p:sp>
      <p:sp>
        <p:nvSpPr>
          <p:cNvPr id="23" name="text-186">
            <a:extLst>
              <a:ext uri="{FF2B5EF4-FFF2-40B4-BE49-F238E27FC236}">
                <ns2:creationId id="{A8109ED8-FB05-4829-B144-8121B0DE4714}"/>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Repeat with examples. Evaluate on relevant unseen data rather than training fit alone.</a:t>
            </a:r>
          </a:p>
        </p:txBody>
      </p:sp>
      <p:sp>
        <p:nvSpPr>
          <p:cNvPr id="3" name="text-182">
            <a:extLst>
              <a:ext uri="{FF2B5EF4-FFF2-40B4-BE49-F238E27FC236}">
                <ns2:creationId id="{0655080D-035B-4E8D-9895-992185CE9BA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5</a:t>
            </a:r>
          </a:p>
        </p:txBody>
      </p:sp>
    </p:spTree>
    <p:extLst>
      <p:ext uri="{BB962C8B-B14F-4D97-AF65-F5344CB8AC3E}">
        <ns4:creationId val="14460700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Learning approaches">
    <p:bg>
      <p:bgPr>
        <a:solidFill>
          <a:srgbClr val="FFFFFF"/>
        </a:solidFill>
      </p:bgPr>
    </p:bg>
    <p:spTree>
      <p:nvGrpSpPr>
        <p:cNvPr id="1" name=""/>
        <p:cNvGrpSpPr/>
        <p:nvPr/>
      </p:nvGrpSpPr>
      <p:grpSpPr>
        <a:xfrm/>
      </p:grpSpPr>
      <p:sp>
        <p:nvSpPr>
          <p:cNvPr id="5" name="text-187">
            <a:extLst>
              <a:ext uri="{FF2B5EF4-FFF2-40B4-BE49-F238E27FC236}">
                <ns2:creationId id="{A6F74355-EFFB-46F1-AD6C-B98DE1E1395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88">
            <a:extLst>
              <a:ext uri="{FF2B5EF4-FFF2-40B4-BE49-F238E27FC236}">
                <ns2:creationId id="{FBB51EBD-2511-4A3F-89EA-846718D0B41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Learning approaches</a:t>
            </a:r>
          </a:p>
        </p:txBody>
      </p:sp>
      <p:graphicFrame>
        <p:nvGraphicFramePr>
          <p:cNvPr id="4" name="">
            <a:extLst>
              <a:ext uri="{FF2B5EF4-FFF2-40B4-BE49-F238E27FC236}">
                <ns2:creationId id="{3372FA43-D352-4960-A6CE-70E20AE5799B}"/>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Approach</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Feedback</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Legal example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Supervised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Supplied target labels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Agreement-type classification</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Unsupervised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No target labels for the task</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Explore document clusters</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Self-supervised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Targets derived from data</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Predict masked or next tokens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Reinforcement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Reward from interaction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Improve an action policy</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189">
            <a:extLst>
              <a:ext uri="{FF2B5EF4-FFF2-40B4-BE49-F238E27FC236}">
                <ns2:creationId id="{09E96E47-67D6-4217-9510-2C065375CB4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6</a:t>
            </a:r>
          </a:p>
        </p:txBody>
      </p:sp>
    </p:spTree>
    <p:extLst>
      <p:ext uri="{BB962C8B-B14F-4D97-AF65-F5344CB8AC3E}">
        <ns3:creationId val="1025084739"/>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Training and evaluation collections">
    <p:bg>
      <p:bgPr>
        <a:solidFill>
          <a:srgbClr val="FFFFFF"/>
        </a:solidFill>
      </p:bgPr>
    </p:bg>
    <p:spTree>
      <p:nvGrpSpPr>
        <p:cNvPr id="1" name=""/>
        <p:cNvGrpSpPr/>
        <p:nvPr/>
      </p:nvGrpSpPr>
      <p:grpSpPr>
        <a:xfrm/>
      </p:grpSpPr>
      <p:sp>
        <p:nvSpPr>
          <p:cNvPr id="10" name="text-190">
            <a:extLst>
              <a:ext uri="{FF2B5EF4-FFF2-40B4-BE49-F238E27FC236}">
                <ns2:creationId id="{509FA484-6088-4B2E-826E-68D983B42E2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91">
            <a:extLst>
              <a:ext uri="{FF2B5EF4-FFF2-40B4-BE49-F238E27FC236}">
                <ns2:creationId id="{D886C98B-ED0A-42C9-B7D3-2553927A621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Training and evaluation collections</a:t>
            </a:r>
          </a:p>
        </p:txBody>
      </p:sp>
      <p:sp>
        <p:nvSpPr>
          <p:cNvPr id="4" name="text-193">
            <a:extLst>
              <a:ext uri="{FF2B5EF4-FFF2-40B4-BE49-F238E27FC236}">
                <ns2:creationId id="{E307690E-6053-46DF-BBA0-C4A53BFEA945}"/>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94">
            <a:extLst>
              <a:ext uri="{FF2B5EF4-FFF2-40B4-BE49-F238E27FC236}">
                <ns2:creationId id="{8C7C2F33-2997-47F4-A3CE-C9A38E96A5A9}"/>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Training examples fit the parameters.</a:t>
            </a:r>
          </a:p>
        </p:txBody>
      </p:sp>
      <p:sp>
        <p:nvSpPr>
          <p:cNvPr id="6" name="text-195">
            <a:extLst>
              <a:ext uri="{FF2B5EF4-FFF2-40B4-BE49-F238E27FC236}">
                <ns2:creationId id="{B962E9CF-F0A4-4387-AF54-2DDA1FCFCDD8}"/>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96">
            <a:extLst>
              <a:ext uri="{FF2B5EF4-FFF2-40B4-BE49-F238E27FC236}">
                <ns2:creationId id="{C8E61E15-BAD6-4511-9402-E6DF65D646BC}"/>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Validation examples help choose settings.</a:t>
            </a:r>
          </a:p>
        </p:txBody>
      </p:sp>
      <p:sp>
        <p:nvSpPr>
          <p:cNvPr id="8" name="text-197">
            <a:extLst>
              <a:ext uri="{FF2B5EF4-FFF2-40B4-BE49-F238E27FC236}">
                <ns2:creationId id="{36051B9B-D328-4665-BD84-802E9CE78CB5}"/>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98">
            <a:extLst>
              <a:ext uri="{FF2B5EF4-FFF2-40B4-BE49-F238E27FC236}">
                <ns2:creationId id="{84FFA29D-6B2E-445F-9029-7DA099BCB440}"/>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held-out test checks the chosen system on unseen examples.</a:t>
            </a:r>
          </a:p>
        </p:txBody>
      </p:sp>
      <p:sp>
        <p:nvSpPr>
          <p:cNvPr id="3" name="text-192">
            <a:extLst>
              <a:ext uri="{FF2B5EF4-FFF2-40B4-BE49-F238E27FC236}">
                <ns2:creationId id="{A5EEC639-264B-452A-88B4-394B8A47711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7</a:t>
            </a:r>
          </a:p>
        </p:txBody>
      </p:sp>
      <p:pic xmlns:r="http://schemas.openxmlformats.org/officeDocument/2006/relationships">
        <p:nvPicPr>
          <p:cNvPr id="11" name="illustration-database" descr="Illustration: a collection of records and a matter fold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387460045"/>
      </p:ext>
    </p:extLst>
  </p:cSld>
  <p:transition spd="med" advClick="1">
    <p:fade/>
  </p:transition>
</p:sld>
</file>

<file path=ppt/slides/slide8.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Layers learn representations">
    <p:bg>
      <p:bgPr>
        <a:solidFill>
          <a:srgbClr val="FFFFFF"/>
        </a:solidFill>
      </p:bgPr>
    </p:bg>
    <p:spTree>
      <p:nvGrpSpPr>
        <p:cNvPr id="1" name=""/>
        <p:cNvGrpSpPr/>
        <p:nvPr/>
      </p:nvGrpSpPr>
      <p:grpSpPr>
        <a:xfrm/>
      </p:grpSpPr>
      <p:cxnSp>
        <p:nvCxnSpPr>
          <p:cNvPr id="34" name="reveal-04-weight" descr="Layers learn representations">
            <a:extLst>
              <a:ext uri="{FF2B5EF4-FFF2-40B4-BE49-F238E27FC236}">
                <ns2:creationId id="{0A4545FB-FB65-4DDC-AE83-5B79D9EEEE5E}"/>
              </a:ext>
            </a:extLst>
          </p:cNvPr>
          <p:cNvCxnSpPr>
            <a:stCxn id="13" idx="6"/>
            <a:endCxn id="15" idx="2"/>
          </p:cNvCxnSpPr>
          <p:nvPr/>
        </p:nvCxnSpPr>
        <p:spPr>
          <a:xfrm flipV="1">
            <a:off x="7667625" y="3667125"/>
            <a:ext cx="2905125" cy="1000125"/>
          </a:xfrm>
          <a:prstGeom prst="straightConnector1">
            <a:avLst/>
          </a:prstGeom>
          <a:ln w="17145">
            <a:solidFill>
              <a:srgbClr val="7FA69F"/>
            </a:solidFill>
            <a:tailEnd type="arrow" w="med" len="med"/>
          </a:ln>
        </p:spPr>
      </p:cxnSp>
      <p:cxnSp>
        <p:nvCxnSpPr>
          <p:cNvPr id="33" name="reveal-04-weight">
            <a:extLst>
              <a:ext uri="{FF2B5EF4-FFF2-40B4-BE49-F238E27FC236}">
                <ns2:creationId id="{D178ED37-475F-4987-BF7A-640C114B4AD5}"/>
              </a:ext>
              <a:ext uri="{C183D7F6-B498-43B3-948B-1728B52AA6E4}">
                <ns3:decorative val="1"/>
              </a:ext>
            </a:extLst>
          </p:cNvPr>
          <p:cNvCxnSpPr>
            <a:stCxn id="12" idx="6"/>
            <a:endCxn id="15" idx="2"/>
          </p:cNvCxnSpPr>
          <p:nvPr/>
        </p:nvCxnSpPr>
        <p:spPr>
          <a:xfrm flipV="1">
            <a:off x="7667625" y="3667125"/>
            <a:ext cx="2905125" cy="47625"/>
          </a:xfrm>
          <a:prstGeom prst="straightConnector1">
            <a:avLst/>
          </a:prstGeom>
          <a:ln w="17145">
            <a:solidFill>
              <a:srgbClr val="7FA69F"/>
            </a:solidFill>
            <a:tailEnd type="arrow" w="med" len="med"/>
          </a:ln>
        </p:spPr>
      </p:cxnSp>
      <p:cxnSp>
        <p:nvCxnSpPr>
          <p:cNvPr id="32" name="reveal-04-weight">
            <a:extLst>
              <a:ext uri="{FF2B5EF4-FFF2-40B4-BE49-F238E27FC236}">
                <ns2:creationId id="{B89E87B7-434F-43EB-9741-64C6BD068138}"/>
              </a:ext>
              <a:ext uri="{C183D7F6-B498-43B3-948B-1728B52AA6E4}">
                <ns3:decorative val="1"/>
              </a:ext>
            </a:extLst>
          </p:cNvPr>
          <p:cNvCxnSpPr>
            <a:stCxn id="11" idx="6"/>
            <a:endCxn id="15" idx="2"/>
          </p:cNvCxnSpPr>
          <p:nvPr/>
        </p:nvCxnSpPr>
        <p:spPr>
          <a:xfrm>
            <a:off x="7667625" y="2762250"/>
            <a:ext cx="2905125" cy="904875"/>
          </a:xfrm>
          <a:prstGeom prst="straightConnector1">
            <a:avLst/>
          </a:prstGeom>
          <a:ln w="17145">
            <a:solidFill>
              <a:srgbClr val="7FA69F"/>
            </a:solidFill>
            <a:tailEnd type="arrow" w="med" len="med"/>
          </a:ln>
        </p:spPr>
      </p:cxnSp>
      <p:cxnSp>
        <p:nvCxnSpPr>
          <p:cNvPr id="31" name="reveal-03-weight">
            <a:extLst>
              <a:ext uri="{FF2B5EF4-FFF2-40B4-BE49-F238E27FC236}">
                <ns2:creationId id="{E8354E94-B518-4DD1-9B5F-72E3CFE1A05B}"/>
              </a:ext>
              <a:ext uri="{C183D7F6-B498-43B3-948B-1728B52AA6E4}">
                <ns3:decorative val="1"/>
              </a:ext>
            </a:extLst>
          </p:cNvPr>
          <p:cNvCxnSpPr>
            <a:stCxn id="9" idx="6"/>
            <a:endCxn id="13" idx="2"/>
          </p:cNvCxnSpPr>
          <p:nvPr/>
        </p:nvCxnSpPr>
        <p:spPr>
          <a:xfrm>
            <a:off x="4619625" y="4667250"/>
            <a:ext cx="2667000" cy="0"/>
          </a:xfrm>
          <a:prstGeom prst="straightConnector1">
            <a:avLst/>
          </a:prstGeom>
          <a:ln w="17145">
            <a:solidFill>
              <a:srgbClr val="7FA69F"/>
            </a:solidFill>
            <a:tailEnd type="arrow" w="med" len="med"/>
          </a:ln>
        </p:spPr>
      </p:cxnSp>
      <p:cxnSp>
        <p:nvCxnSpPr>
          <p:cNvPr id="30" name="reveal-03-weight">
            <a:extLst>
              <a:ext uri="{FF2B5EF4-FFF2-40B4-BE49-F238E27FC236}">
                <ns2:creationId id="{473655A8-5B69-45E3-955C-58398ABBEF8E}"/>
              </a:ext>
              <a:ext uri="{C183D7F6-B498-43B3-948B-1728B52AA6E4}">
                <ns3:decorative val="1"/>
              </a:ext>
            </a:extLst>
          </p:cNvPr>
          <p:cNvCxnSpPr>
            <a:stCxn id="9" idx="6"/>
            <a:endCxn id="12" idx="2"/>
          </p:cNvCxnSpPr>
          <p:nvPr/>
        </p:nvCxnSpPr>
        <p:spPr>
          <a:xfrm flipV="1">
            <a:off x="4619625" y="3714750"/>
            <a:ext cx="2667000" cy="952500"/>
          </a:xfrm>
          <a:prstGeom prst="straightConnector1">
            <a:avLst/>
          </a:prstGeom>
          <a:ln w="17145">
            <a:solidFill>
              <a:srgbClr val="7FA69F"/>
            </a:solidFill>
            <a:tailEnd type="arrow" w="med" len="med"/>
          </a:ln>
        </p:spPr>
      </p:cxnSp>
      <p:cxnSp>
        <p:nvCxnSpPr>
          <p:cNvPr id="29" name="reveal-03-weight">
            <a:extLst>
              <a:ext uri="{FF2B5EF4-FFF2-40B4-BE49-F238E27FC236}">
                <ns2:creationId id="{502480AF-D5D6-408A-ADC3-58C312649C85}"/>
              </a:ext>
              <a:ext uri="{C183D7F6-B498-43B3-948B-1728B52AA6E4}">
                <ns3:decorative val="1"/>
              </a:ext>
            </a:extLst>
          </p:cNvPr>
          <p:cNvCxnSpPr>
            <a:stCxn id="9" idx="6"/>
            <a:endCxn id="11" idx="2"/>
          </p:cNvCxnSpPr>
          <p:nvPr/>
        </p:nvCxnSpPr>
        <p:spPr>
          <a:xfrm flipV="1">
            <a:off x="4619625" y="2762250"/>
            <a:ext cx="2667000" cy="1905000"/>
          </a:xfrm>
          <a:prstGeom prst="straightConnector1">
            <a:avLst/>
          </a:prstGeom>
          <a:ln w="17145">
            <a:solidFill>
              <a:srgbClr val="7FA69F"/>
            </a:solidFill>
            <a:tailEnd type="arrow" w="med" len="med"/>
          </a:ln>
        </p:spPr>
      </p:cxnSp>
      <p:cxnSp>
        <p:nvCxnSpPr>
          <p:cNvPr id="28" name="reveal-03-weight">
            <a:extLst>
              <a:ext uri="{FF2B5EF4-FFF2-40B4-BE49-F238E27FC236}">
                <ns2:creationId id="{8C98371D-FADE-495D-9BD3-A63766E8BBF2}"/>
              </a:ext>
              <a:ext uri="{C183D7F6-B498-43B3-948B-1728B52AA6E4}">
                <ns3:decorative val="1"/>
              </a:ext>
            </a:extLst>
          </p:cNvPr>
          <p:cNvCxnSpPr>
            <a:stCxn id="8" idx="6"/>
            <a:endCxn id="13" idx="2"/>
          </p:cNvCxnSpPr>
          <p:nvPr/>
        </p:nvCxnSpPr>
        <p:spPr>
          <a:xfrm>
            <a:off x="4619625" y="3714750"/>
            <a:ext cx="2667000" cy="952500"/>
          </a:xfrm>
          <a:prstGeom prst="straightConnector1">
            <a:avLst/>
          </a:prstGeom>
          <a:ln w="17145">
            <a:solidFill>
              <a:srgbClr val="7FA69F"/>
            </a:solidFill>
            <a:tailEnd type="arrow" w="med" len="med"/>
          </a:ln>
        </p:spPr>
      </p:cxnSp>
      <p:cxnSp>
        <p:nvCxnSpPr>
          <p:cNvPr id="27" name="reveal-03-weight">
            <a:extLst>
              <a:ext uri="{FF2B5EF4-FFF2-40B4-BE49-F238E27FC236}">
                <ns2:creationId id="{FA429932-A543-4CAF-8814-5394A8F2C871}"/>
              </a:ext>
              <a:ext uri="{C183D7F6-B498-43B3-948B-1728B52AA6E4}">
                <ns3:decorative val="1"/>
              </a:ext>
            </a:extLst>
          </p:cNvPr>
          <p:cNvCxnSpPr>
            <a:stCxn id="8" idx="6"/>
            <a:endCxn id="12" idx="2"/>
          </p:cNvCxnSpPr>
          <p:nvPr/>
        </p:nvCxnSpPr>
        <p:spPr>
          <a:xfrm>
            <a:off x="4619625" y="3714750"/>
            <a:ext cx="2667000" cy="0"/>
          </a:xfrm>
          <a:prstGeom prst="straightConnector1">
            <a:avLst/>
          </a:prstGeom>
          <a:ln w="17145">
            <a:solidFill>
              <a:srgbClr val="7FA69F"/>
            </a:solidFill>
            <a:tailEnd type="arrow" w="med" len="med"/>
          </a:ln>
        </p:spPr>
      </p:cxnSp>
      <p:cxnSp>
        <p:nvCxnSpPr>
          <p:cNvPr id="26" name="reveal-03-weight">
            <a:extLst>
              <a:ext uri="{FF2B5EF4-FFF2-40B4-BE49-F238E27FC236}">
                <ns2:creationId id="{794435CE-63D4-400E-8113-B271D7A51728}"/>
              </a:ext>
              <a:ext uri="{C183D7F6-B498-43B3-948B-1728B52AA6E4}">
                <ns3:decorative val="1"/>
              </a:ext>
            </a:extLst>
          </p:cNvPr>
          <p:cNvCxnSpPr>
            <a:stCxn id="8" idx="6"/>
            <a:endCxn id="11" idx="2"/>
          </p:cNvCxnSpPr>
          <p:nvPr/>
        </p:nvCxnSpPr>
        <p:spPr>
          <a:xfrm flipV="1">
            <a:off x="4619625" y="2762250"/>
            <a:ext cx="2667000" cy="952500"/>
          </a:xfrm>
          <a:prstGeom prst="straightConnector1">
            <a:avLst/>
          </a:prstGeom>
          <a:ln w="17145">
            <a:solidFill>
              <a:srgbClr val="7FA69F"/>
            </a:solidFill>
            <a:tailEnd type="arrow" w="med" len="med"/>
          </a:ln>
        </p:spPr>
      </p:cxnSp>
      <p:cxnSp>
        <p:nvCxnSpPr>
          <p:cNvPr id="25" name="reveal-03-weight">
            <a:extLst>
              <a:ext uri="{FF2B5EF4-FFF2-40B4-BE49-F238E27FC236}">
                <ns2:creationId id="{E5E97EAC-CDC8-4135-A568-36DD0A94BF67}"/>
              </a:ext>
              <a:ext uri="{C183D7F6-B498-43B3-948B-1728B52AA6E4}">
                <ns3:decorative val="1"/>
              </a:ext>
            </a:extLst>
          </p:cNvPr>
          <p:cNvCxnSpPr>
            <a:stCxn id="7" idx="6"/>
            <a:endCxn id="13" idx="2"/>
          </p:cNvCxnSpPr>
          <p:nvPr/>
        </p:nvCxnSpPr>
        <p:spPr>
          <a:xfrm>
            <a:off x="4619625" y="2762250"/>
            <a:ext cx="2667000" cy="1905000"/>
          </a:xfrm>
          <a:prstGeom prst="straightConnector1">
            <a:avLst/>
          </a:prstGeom>
          <a:ln w="17145">
            <a:solidFill>
              <a:srgbClr val="7FA69F"/>
            </a:solidFill>
            <a:tailEnd type="arrow" w="med" len="med"/>
          </a:ln>
        </p:spPr>
      </p:cxnSp>
      <p:cxnSp>
        <p:nvCxnSpPr>
          <p:cNvPr id="24" name="reveal-03-weight">
            <a:extLst>
              <a:ext uri="{FF2B5EF4-FFF2-40B4-BE49-F238E27FC236}">
                <ns2:creationId id="{F933CDF0-3CBA-48BD-91D3-E909E16C0D18}"/>
              </a:ext>
              <a:ext uri="{C183D7F6-B498-43B3-948B-1728B52AA6E4}">
                <ns3:decorative val="1"/>
              </a:ext>
            </a:extLst>
          </p:cNvPr>
          <p:cNvCxnSpPr>
            <a:stCxn id="7" idx="6"/>
            <a:endCxn id="12" idx="2"/>
          </p:cNvCxnSpPr>
          <p:nvPr/>
        </p:nvCxnSpPr>
        <p:spPr>
          <a:xfrm>
            <a:off x="4619625" y="2762250"/>
            <a:ext cx="2667000" cy="952500"/>
          </a:xfrm>
          <a:prstGeom prst="straightConnector1">
            <a:avLst/>
          </a:prstGeom>
          <a:ln w="17145">
            <a:solidFill>
              <a:srgbClr val="7FA69F"/>
            </a:solidFill>
            <a:tailEnd type="arrow" w="med" len="med"/>
          </a:ln>
        </p:spPr>
      </p:cxnSp>
      <p:cxnSp>
        <p:nvCxnSpPr>
          <p:cNvPr id="23" name="reveal-03-weight">
            <a:extLst>
              <a:ext uri="{FF2B5EF4-FFF2-40B4-BE49-F238E27FC236}">
                <ns2:creationId id="{A9B3A6D0-392E-49C0-9349-C347CF29A3A1}"/>
              </a:ext>
              <a:ext uri="{C183D7F6-B498-43B3-948B-1728B52AA6E4}">
                <ns3:decorative val="1"/>
              </a:ext>
            </a:extLst>
          </p:cNvPr>
          <p:cNvCxnSpPr>
            <a:stCxn id="7" idx="6"/>
            <a:endCxn id="11" idx="2"/>
          </p:cNvCxnSpPr>
          <p:nvPr/>
        </p:nvCxnSpPr>
        <p:spPr>
          <a:xfrm>
            <a:off x="4619625" y="2762250"/>
            <a:ext cx="2667000" cy="0"/>
          </a:xfrm>
          <a:prstGeom prst="straightConnector1">
            <a:avLst/>
          </a:prstGeom>
          <a:ln w="17145">
            <a:solidFill>
              <a:srgbClr val="7FA69F"/>
            </a:solidFill>
            <a:tailEnd type="arrow" w="med" len="med"/>
          </a:ln>
        </p:spPr>
      </p:cxnSp>
      <p:cxnSp>
        <p:nvCxnSpPr>
          <p:cNvPr id="22" name="reveal-02-weight">
            <a:extLst>
              <a:ext uri="{FF2B5EF4-FFF2-40B4-BE49-F238E27FC236}">
                <ns2:creationId id="{D1BC274D-E50F-428E-B481-B0D4D04DE987}"/>
              </a:ext>
              <a:ext uri="{C183D7F6-B498-43B3-948B-1728B52AA6E4}">
                <ns3:decorative val="1"/>
              </a:ext>
            </a:extLst>
          </p:cNvPr>
          <p:cNvCxnSpPr>
            <a:stCxn id="5" idx="6"/>
            <a:endCxn id="9" idx="2"/>
          </p:cNvCxnSpPr>
          <p:nvPr/>
        </p:nvCxnSpPr>
        <p:spPr>
          <a:xfrm>
            <a:off x="1571625" y="4286250"/>
            <a:ext cx="2667000" cy="381000"/>
          </a:xfrm>
          <a:prstGeom prst="straightConnector1">
            <a:avLst/>
          </a:prstGeom>
          <a:ln w="17145">
            <a:solidFill>
              <a:srgbClr val="7FA69F"/>
            </a:solidFill>
            <a:tailEnd type="arrow" w="med" len="med"/>
          </a:ln>
        </p:spPr>
      </p:cxnSp>
      <p:cxnSp>
        <p:nvCxnSpPr>
          <p:cNvPr id="21" name="reveal-02-weight">
            <a:extLst>
              <a:ext uri="{FF2B5EF4-FFF2-40B4-BE49-F238E27FC236}">
                <ns2:creationId id="{A9F82C44-DAE5-40C5-8370-ECB553A8B7CD}"/>
              </a:ext>
              <a:ext uri="{C183D7F6-B498-43B3-948B-1728B52AA6E4}">
                <ns3:decorative val="1"/>
              </a:ext>
            </a:extLst>
          </p:cNvPr>
          <p:cNvCxnSpPr>
            <a:stCxn id="5" idx="6"/>
            <a:endCxn id="8" idx="2"/>
          </p:cNvCxnSpPr>
          <p:nvPr/>
        </p:nvCxnSpPr>
        <p:spPr>
          <a:xfrm flipV="1">
            <a:off x="1571625" y="3714750"/>
            <a:ext cx="2667000" cy="571500"/>
          </a:xfrm>
          <a:prstGeom prst="straightConnector1">
            <a:avLst/>
          </a:prstGeom>
          <a:ln w="17145">
            <a:solidFill>
              <a:srgbClr val="7FA69F"/>
            </a:solidFill>
            <a:tailEnd type="arrow" w="med" len="med"/>
          </a:ln>
        </p:spPr>
      </p:cxnSp>
      <p:cxnSp>
        <p:nvCxnSpPr>
          <p:cNvPr id="20" name="reveal-02-weight">
            <a:extLst>
              <a:ext uri="{FF2B5EF4-FFF2-40B4-BE49-F238E27FC236}">
                <ns2:creationId id="{B57F8D41-DB3E-49C3-9D59-9CF789B1B6D9}"/>
              </a:ext>
              <a:ext uri="{C183D7F6-B498-43B3-948B-1728B52AA6E4}">
                <ns3:decorative val="1"/>
              </a:ext>
            </a:extLst>
          </p:cNvPr>
          <p:cNvCxnSpPr>
            <a:stCxn id="5" idx="6"/>
            <a:endCxn id="7" idx="2"/>
          </p:cNvCxnSpPr>
          <p:nvPr/>
        </p:nvCxnSpPr>
        <p:spPr>
          <a:xfrm flipV="1">
            <a:off x="1571625" y="2762250"/>
            <a:ext cx="2667000" cy="1524000"/>
          </a:xfrm>
          <a:prstGeom prst="straightConnector1">
            <a:avLst/>
          </a:prstGeom>
          <a:ln w="17145">
            <a:solidFill>
              <a:srgbClr val="7FA69F"/>
            </a:solidFill>
            <a:tailEnd type="arrow" w="med" len="med"/>
          </a:ln>
        </p:spPr>
      </p:cxnSp>
      <p:cxnSp>
        <p:nvCxnSpPr>
          <p:cNvPr id="19" name="reveal-02-weight">
            <a:extLst>
              <a:ext uri="{FF2B5EF4-FFF2-40B4-BE49-F238E27FC236}">
                <ns2:creationId id="{712C5C68-E591-4D28-8625-FD5AC7549FD5}"/>
              </a:ext>
              <a:ext uri="{C183D7F6-B498-43B3-948B-1728B52AA6E4}">
                <ns3:decorative val="1"/>
              </a:ext>
            </a:extLst>
          </p:cNvPr>
          <p:cNvCxnSpPr>
            <a:stCxn id="4" idx="6"/>
            <a:endCxn id="9" idx="2"/>
          </p:cNvCxnSpPr>
          <p:nvPr/>
        </p:nvCxnSpPr>
        <p:spPr>
          <a:xfrm>
            <a:off x="1571625" y="3143250"/>
            <a:ext cx="2667000" cy="1524000"/>
          </a:xfrm>
          <a:prstGeom prst="straightConnector1">
            <a:avLst/>
          </a:prstGeom>
          <a:ln w="17145">
            <a:solidFill>
              <a:srgbClr val="7FA69F"/>
            </a:solidFill>
            <a:tailEnd type="arrow" w="med" len="med"/>
          </a:ln>
        </p:spPr>
      </p:cxnSp>
      <p:cxnSp>
        <p:nvCxnSpPr>
          <p:cNvPr id="18" name="reveal-02-weight">
            <a:extLst>
              <a:ext uri="{FF2B5EF4-FFF2-40B4-BE49-F238E27FC236}">
                <ns2:creationId id="{FB71707C-B2D9-477E-9A2E-6D13AD0D3BB1}"/>
              </a:ext>
              <a:ext uri="{C183D7F6-B498-43B3-948B-1728B52AA6E4}">
                <ns3:decorative val="1"/>
              </a:ext>
            </a:extLst>
          </p:cNvPr>
          <p:cNvCxnSpPr>
            <a:stCxn id="4" idx="6"/>
            <a:endCxn id="8" idx="2"/>
          </p:cNvCxnSpPr>
          <p:nvPr/>
        </p:nvCxnSpPr>
        <p:spPr>
          <a:xfrm>
            <a:off x="1571625" y="3143250"/>
            <a:ext cx="2667000" cy="571500"/>
          </a:xfrm>
          <a:prstGeom prst="straightConnector1">
            <a:avLst/>
          </a:prstGeom>
          <a:ln w="17145">
            <a:solidFill>
              <a:srgbClr val="7FA69F"/>
            </a:solidFill>
            <a:tailEnd type="arrow" w="med" len="med"/>
          </a:ln>
        </p:spPr>
      </p:cxnSp>
      <p:cxnSp>
        <p:nvCxnSpPr>
          <p:cNvPr id="17" name="reveal-02-weight">
            <a:extLst>
              <a:ext uri="{FF2B5EF4-FFF2-40B4-BE49-F238E27FC236}">
                <ns2:creationId id="{151476BE-5EFB-4F64-A498-20D9C7D8076E}"/>
              </a:ext>
              <a:ext uri="{C183D7F6-B498-43B3-948B-1728B52AA6E4}">
                <ns3:decorative val="1"/>
              </a:ext>
            </a:extLst>
          </p:cNvPr>
          <p:cNvCxnSpPr>
            <a:stCxn id="4" idx="6"/>
            <a:endCxn id="7" idx="2"/>
          </p:cNvCxnSpPr>
          <p:nvPr/>
        </p:nvCxnSpPr>
        <p:spPr>
          <a:xfrm flipV="1">
            <a:off x="1571625" y="2762250"/>
            <a:ext cx="2667000" cy="381000"/>
          </a:xfrm>
          <a:prstGeom prst="straightConnector1">
            <a:avLst/>
          </a:prstGeom>
          <a:ln w="17145">
            <a:solidFill>
              <a:srgbClr val="7FA69F"/>
            </a:solidFill>
            <a:tailEnd type="arrow" w="med" len="med"/>
          </a:ln>
        </p:spPr>
      </p:cxnSp>
      <p:sp>
        <p:nvSpPr>
          <p:cNvPr id="39" name="text-199">
            <a:extLst>
              <a:ext uri="{FF2B5EF4-FFF2-40B4-BE49-F238E27FC236}">
                <ns2:creationId id="{971E816F-62DE-42AB-8840-50BCF5B73EE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00">
            <a:extLst>
              <a:ext uri="{FF2B5EF4-FFF2-40B4-BE49-F238E27FC236}">
                <ns2:creationId id="{2A298573-AC7F-459C-91D9-BFFC80496DC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Layers learn representations</a:t>
            </a:r>
          </a:p>
        </p:txBody>
      </p:sp>
      <p:sp>
        <p:nvSpPr>
          <p:cNvPr id="4" name="reveal-01-unit-0">
            <a:extLst>
              <a:ext uri="{FF2B5EF4-FFF2-40B4-BE49-F238E27FC236}">
                <ns2:creationId id="{428D6E58-B8A8-4130-9608-1D143BD1B6D1}"/>
              </a:ext>
              <a:ext uri="{C183D7F6-B498-43B3-948B-1728B52AA6E4}">
                <ns3:decorative val="1"/>
              </a:ext>
            </a:extLst>
          </p:cNvPr>
          <p:cNvSpPr>
            <a:spLocks noGrp="1"/>
          </p:cNvSpPr>
          <p:nvPr/>
        </p:nvSpPr>
        <p:spPr>
          <a:xfrm>
            <a:off x="1190625" y="2952750"/>
            <a:ext cx="381000" cy="381000"/>
          </a:xfrm>
          <a:prstGeom prst="ellipse">
            <a:avLst/>
          </a:prstGeom>
          <a:solidFill>
            <a:srgbClr val="E9F3F0"/>
          </a:solidFill>
          <a:ln w="11430">
            <a:solidFill>
              <a:srgbClr val="246E63"/>
            </a:solidFill>
          </a:ln>
        </p:spPr>
      </p:sp>
      <p:sp>
        <p:nvSpPr>
          <p:cNvPr id="5" name="reveal-01-unit-1">
            <a:extLst>
              <a:ext uri="{FF2B5EF4-FFF2-40B4-BE49-F238E27FC236}">
                <ns2:creationId id="{563059FC-E601-4262-AC4D-F546A8933096}"/>
              </a:ext>
              <a:ext uri="{C183D7F6-B498-43B3-948B-1728B52AA6E4}">
                <ns3:decorative val="1"/>
              </a:ext>
            </a:extLst>
          </p:cNvPr>
          <p:cNvSpPr>
            <a:spLocks noGrp="1"/>
          </p:cNvSpPr>
          <p:nvPr/>
        </p:nvSpPr>
        <p:spPr>
          <a:xfrm>
            <a:off x="1190625" y="4095750"/>
            <a:ext cx="381000" cy="381000"/>
          </a:xfrm>
          <a:prstGeom prst="ellipse">
            <a:avLst/>
          </a:prstGeom>
          <a:solidFill>
            <a:srgbClr val="E9F3F0"/>
          </a:solidFill>
          <a:ln w="11430">
            <a:solidFill>
              <a:srgbClr val="246E63"/>
            </a:solidFill>
          </a:ln>
        </p:spPr>
      </p:sp>
      <p:sp>
        <p:nvSpPr>
          <p:cNvPr id="6" name="reveal-01-label">
            <a:extLst>
              <a:ext uri="{FF2B5EF4-FFF2-40B4-BE49-F238E27FC236}">
                <ns2:creationId id="{6EAF923A-BC1D-46DB-A1BC-09DA2309123C}"/>
              </a:ext>
            </a:extLst>
          </p:cNvPr>
          <p:cNvSpPr>
            <a:spLocks noGrp="1"/>
          </p:cNvSpPr>
          <p:nvPr/>
        </p:nvSpPr>
        <p:spPr>
          <a:xfrm>
            <a:off x="619125" y="1752600"/>
            <a:ext cx="2095500" cy="6191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Inputs</a:t>
            </a:r>
          </a:p>
        </p:txBody>
      </p:sp>
      <p:sp>
        <p:nvSpPr>
          <p:cNvPr id="7" name="reveal-02-unit-0">
            <a:extLst>
              <a:ext uri="{FF2B5EF4-FFF2-40B4-BE49-F238E27FC236}">
                <ns2:creationId id="{2BE65EBD-7466-4D30-9A4A-E11A7FE5B1D8}"/>
              </a:ext>
              <a:ext uri="{C183D7F6-B498-43B3-948B-1728B52AA6E4}">
                <ns3:decorative val="1"/>
              </a:ext>
            </a:extLst>
          </p:cNvPr>
          <p:cNvSpPr>
            <a:spLocks noGrp="1"/>
          </p:cNvSpPr>
          <p:nvPr/>
        </p:nvSpPr>
        <p:spPr>
          <a:xfrm>
            <a:off x="4238625" y="2571750"/>
            <a:ext cx="381000" cy="381000"/>
          </a:xfrm>
          <a:prstGeom prst="ellipse">
            <a:avLst/>
          </a:prstGeom>
          <a:solidFill>
            <a:srgbClr val="E9F3F0"/>
          </a:solidFill>
          <a:ln w="11430">
            <a:solidFill>
              <a:srgbClr val="246E63"/>
            </a:solidFill>
          </a:ln>
        </p:spPr>
      </p:sp>
      <p:sp>
        <p:nvSpPr>
          <p:cNvPr id="8" name="reveal-02-unit-1">
            <a:extLst>
              <a:ext uri="{FF2B5EF4-FFF2-40B4-BE49-F238E27FC236}">
                <ns2:creationId id="{C8C0B876-403C-4D9A-8275-4242EAE36FF0}"/>
              </a:ext>
              <a:ext uri="{C183D7F6-B498-43B3-948B-1728B52AA6E4}">
                <ns3:decorative val="1"/>
              </a:ext>
            </a:extLst>
          </p:cNvPr>
          <p:cNvSpPr>
            <a:spLocks noGrp="1"/>
          </p:cNvSpPr>
          <p:nvPr/>
        </p:nvSpPr>
        <p:spPr>
          <a:xfrm>
            <a:off x="4238625" y="3524250"/>
            <a:ext cx="381000" cy="381000"/>
          </a:xfrm>
          <a:prstGeom prst="ellipse">
            <a:avLst/>
          </a:prstGeom>
          <a:solidFill>
            <a:srgbClr val="E9F3F0"/>
          </a:solidFill>
          <a:ln w="11430">
            <a:solidFill>
              <a:srgbClr val="246E63"/>
            </a:solidFill>
          </a:ln>
        </p:spPr>
      </p:sp>
      <p:sp>
        <p:nvSpPr>
          <p:cNvPr id="9" name="reveal-02-unit-2">
            <a:extLst>
              <a:ext uri="{FF2B5EF4-FFF2-40B4-BE49-F238E27FC236}">
                <ns2:creationId id="{BCE66A15-026F-448C-BFBA-5687668CF72E}"/>
              </a:ext>
              <a:ext uri="{C183D7F6-B498-43B3-948B-1728B52AA6E4}">
                <ns3:decorative val="1"/>
              </a:ext>
            </a:extLst>
          </p:cNvPr>
          <p:cNvSpPr>
            <a:spLocks noGrp="1"/>
          </p:cNvSpPr>
          <p:nvPr/>
        </p:nvSpPr>
        <p:spPr>
          <a:xfrm>
            <a:off x="4238625" y="4476750"/>
            <a:ext cx="381000" cy="381000"/>
          </a:xfrm>
          <a:prstGeom prst="ellipse">
            <a:avLst/>
          </a:prstGeom>
          <a:solidFill>
            <a:srgbClr val="E9F3F0"/>
          </a:solidFill>
          <a:ln w="11430">
            <a:solidFill>
              <a:srgbClr val="246E63"/>
            </a:solidFill>
          </a:ln>
        </p:spPr>
      </p:sp>
      <p:sp>
        <p:nvSpPr>
          <p:cNvPr id="10" name="reveal-02-label">
            <a:extLst>
              <a:ext uri="{FF2B5EF4-FFF2-40B4-BE49-F238E27FC236}">
                <ns2:creationId id="{39421D9B-15D7-41F0-9A3C-CFB54D93807E}"/>
              </a:ext>
            </a:extLst>
          </p:cNvPr>
          <p:cNvSpPr>
            <a:spLocks noGrp="1"/>
          </p:cNvSpPr>
          <p:nvPr/>
        </p:nvSpPr>
        <p:spPr>
          <a:xfrm>
            <a:off x="3571875" y="1752600"/>
            <a:ext cx="2095500" cy="6191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Layer 1</a:t>
            </a:r>
          </a:p>
        </p:txBody>
      </p:sp>
      <p:sp>
        <p:nvSpPr>
          <p:cNvPr id="11" name="reveal-03-unit-0">
            <a:extLst>
              <a:ext uri="{FF2B5EF4-FFF2-40B4-BE49-F238E27FC236}">
                <ns2:creationId id="{84E84290-DDED-424E-85E4-7DC17FED2096}"/>
              </a:ext>
              <a:ext uri="{C183D7F6-B498-43B3-948B-1728B52AA6E4}">
                <ns3:decorative val="1"/>
              </a:ext>
            </a:extLst>
          </p:cNvPr>
          <p:cNvSpPr>
            <a:spLocks noGrp="1"/>
          </p:cNvSpPr>
          <p:nvPr/>
        </p:nvSpPr>
        <p:spPr>
          <a:xfrm>
            <a:off x="7286625" y="2571750"/>
            <a:ext cx="381000" cy="381000"/>
          </a:xfrm>
          <a:prstGeom prst="ellipse">
            <a:avLst/>
          </a:prstGeom>
          <a:solidFill>
            <a:srgbClr val="E9F3F0"/>
          </a:solidFill>
          <a:ln w="11430">
            <a:solidFill>
              <a:srgbClr val="246E63"/>
            </a:solidFill>
          </a:ln>
        </p:spPr>
      </p:sp>
      <p:sp>
        <p:nvSpPr>
          <p:cNvPr id="12" name="reveal-03-unit-1">
            <a:extLst>
              <a:ext uri="{FF2B5EF4-FFF2-40B4-BE49-F238E27FC236}">
                <ns2:creationId id="{071C5BA4-A382-4E96-B173-04E478C49E10}"/>
              </a:ext>
              <a:ext uri="{C183D7F6-B498-43B3-948B-1728B52AA6E4}">
                <ns3:decorative val="1"/>
              </a:ext>
            </a:extLst>
          </p:cNvPr>
          <p:cNvSpPr>
            <a:spLocks noGrp="1"/>
          </p:cNvSpPr>
          <p:nvPr/>
        </p:nvSpPr>
        <p:spPr>
          <a:xfrm>
            <a:off x="7286625" y="3524250"/>
            <a:ext cx="381000" cy="381000"/>
          </a:xfrm>
          <a:prstGeom prst="ellipse">
            <a:avLst/>
          </a:prstGeom>
          <a:solidFill>
            <a:srgbClr val="E9F3F0"/>
          </a:solidFill>
          <a:ln w="11430">
            <a:solidFill>
              <a:srgbClr val="246E63"/>
            </a:solidFill>
          </a:ln>
        </p:spPr>
      </p:sp>
      <p:sp>
        <p:nvSpPr>
          <p:cNvPr id="13" name="reveal-03-unit-2">
            <a:extLst>
              <a:ext uri="{FF2B5EF4-FFF2-40B4-BE49-F238E27FC236}">
                <ns2:creationId id="{005B5656-896C-4703-91E4-0023BF918C74}"/>
              </a:ext>
              <a:ext uri="{C183D7F6-B498-43B3-948B-1728B52AA6E4}">
                <ns3:decorative val="1"/>
              </a:ext>
            </a:extLst>
          </p:cNvPr>
          <p:cNvSpPr>
            <a:spLocks noGrp="1"/>
          </p:cNvSpPr>
          <p:nvPr/>
        </p:nvSpPr>
        <p:spPr>
          <a:xfrm>
            <a:off x="7286625" y="4476750"/>
            <a:ext cx="381000" cy="381000"/>
          </a:xfrm>
          <a:prstGeom prst="ellipse">
            <a:avLst/>
          </a:prstGeom>
          <a:solidFill>
            <a:srgbClr val="E9F3F0"/>
          </a:solidFill>
          <a:ln w="11430">
            <a:solidFill>
              <a:srgbClr val="246E63"/>
            </a:solidFill>
          </a:ln>
        </p:spPr>
      </p:sp>
      <p:sp>
        <p:nvSpPr>
          <p:cNvPr id="14" name="reveal-03-label">
            <a:extLst>
              <a:ext uri="{FF2B5EF4-FFF2-40B4-BE49-F238E27FC236}">
                <ns2:creationId id="{66F6246F-FF14-4FB8-A350-D651086B91F4}"/>
              </a:ext>
            </a:extLst>
          </p:cNvPr>
          <p:cNvSpPr>
            <a:spLocks noGrp="1"/>
          </p:cNvSpPr>
          <p:nvPr/>
        </p:nvSpPr>
        <p:spPr>
          <a:xfrm>
            <a:off x="6619875" y="1752600"/>
            <a:ext cx="2095500" cy="6191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Layer 2</a:t>
            </a:r>
          </a:p>
        </p:txBody>
      </p:sp>
      <p:sp>
        <p:nvSpPr>
          <p:cNvPr id="15" name="reveal-04-unit-0">
            <a:extLst>
              <a:ext uri="{FF2B5EF4-FFF2-40B4-BE49-F238E27FC236}">
                <ns2:creationId id="{7F08F1C3-734E-4F1A-94A1-3539828916AE}"/>
              </a:ext>
              <a:ext uri="{C183D7F6-B498-43B3-948B-1728B52AA6E4}">
                <ns3:decorative val="1"/>
              </a:ext>
            </a:extLst>
          </p:cNvPr>
          <p:cNvSpPr>
            <a:spLocks noGrp="1"/>
          </p:cNvSpPr>
          <p:nvPr/>
        </p:nvSpPr>
        <p:spPr>
          <a:xfrm>
            <a:off x="10572750" y="3476625"/>
            <a:ext cx="381000" cy="381000"/>
          </a:xfrm>
          <a:prstGeom prst="ellipse">
            <a:avLst/>
          </a:prstGeom>
          <a:solidFill>
            <a:srgbClr val="C94E29"/>
          </a:solidFill>
          <a:ln w="11430">
            <a:solidFill>
              <a:srgbClr val="246E63"/>
            </a:solidFill>
          </a:ln>
        </p:spPr>
      </p:sp>
      <p:sp>
        <p:nvSpPr>
          <p:cNvPr id="16" name="reveal-04-label">
            <a:extLst>
              <a:ext uri="{FF2B5EF4-FFF2-40B4-BE49-F238E27FC236}">
                <ns2:creationId id="{1B44592C-2786-4EF8-B380-4E33C5EBD560}"/>
              </a:ext>
            </a:extLst>
          </p:cNvPr>
          <p:cNvSpPr>
            <a:spLocks noGrp="1"/>
          </p:cNvSpPr>
          <p:nvPr/>
        </p:nvSpPr>
        <p:spPr>
          <a:xfrm>
            <a:off x="9763125" y="1752600"/>
            <a:ext cx="2095500" cy="6191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Output</a:t>
            </a:r>
          </a:p>
        </p:txBody>
      </p:sp>
      <p:sp>
        <p:nvSpPr>
          <p:cNvPr id="35" name="reveal-01-input-example">
            <a:extLst>
              <a:ext uri="{FF2B5EF4-FFF2-40B4-BE49-F238E27FC236}">
                <ns2:creationId id="{30420F3D-8736-4EE2-AA15-1EFE4EB0A603}"/>
              </a:ext>
            </a:extLst>
          </p:cNvPr>
          <p:cNvSpPr>
            <a:spLocks noGrp="1"/>
          </p:cNvSpPr>
          <p:nvPr/>
        </p:nvSpPr>
        <p:spPr>
          <a:xfrm>
            <a:off x="619125" y="5143500"/>
            <a:ext cx="2667000" cy="476250"/>
          </a:xfrm>
          <a:prstGeom prst="rect">
            <a:avLst/>
          </a:prstGeom>
          <a:noFill/>
          <a:ln w="0">
            <a:noFill/>
          </a:ln>
        </p:spPr>
        <p:txBody>
          <a:bodyPr>
            <a:noAutofit/>
          </a:bodyPr>
          <a:lstStyle>
            <a:defPPr>
              <a:defRPr sz="1875" b="1">
                <a:solidFill>
                  <a:srgbClr val="1C3144"/>
                </a:solidFill>
                <a:latin typeface="Calibri"/>
                <a:ea typeface="Calibri"/>
                <a:cs typeface="Calibri"/>
              </a:defRPr>
            </a:defPPr>
            <a:lvl1pPr>
              <a:defRPr sz="1875" b="1">
                <a:solidFill>
                  <a:srgbClr val="1C3144"/>
                </a:solidFill>
                <a:latin typeface="Calibri"/>
                <a:ea typeface="Calibri"/>
                <a:cs typeface="Calibri"/>
              </a:defRPr>
            </a:lvl1pPr>
            <a:lvl2pPr>
              <a:defRPr sz="1875" b="1">
                <a:solidFill>
                  <a:srgbClr val="1C3144"/>
                </a:solidFill>
                <a:latin typeface="Calibri"/>
                <a:ea typeface="Calibri"/>
                <a:cs typeface="Calibri"/>
              </a:defRPr>
            </a:lvl2pPr>
            <a:lvl3pPr>
              <a:defRPr sz="1875" b="1">
                <a:solidFill>
                  <a:srgbClr val="1C3144"/>
                </a:solidFill>
                <a:latin typeface="Calibri"/>
                <a:ea typeface="Calibri"/>
                <a:cs typeface="Calibri"/>
              </a:defRPr>
            </a:lvl3pPr>
            <a:lvl4pPr>
              <a:defRPr sz="1875" b="1">
                <a:solidFill>
                  <a:srgbClr val="1C3144"/>
                </a:solidFill>
                <a:latin typeface="Calibri"/>
                <a:ea typeface="Calibri"/>
                <a:cs typeface="Calibri"/>
              </a:defRPr>
            </a:lvl4pPr>
            <a:lvl5pPr>
              <a:defRPr sz="1875" b="1">
                <a:solidFill>
                  <a:srgbClr val="1C3144"/>
                </a:solidFill>
                <a:latin typeface="Calibri"/>
                <a:ea typeface="Calibri"/>
                <a:cs typeface="Calibri"/>
              </a:defRPr>
            </a:lvl5pPr>
            <a:lvl6pPr>
              <a:defRPr sz="1875" b="1">
                <a:solidFill>
                  <a:srgbClr val="1C3144"/>
                </a:solidFill>
                <a:latin typeface="Calibri"/>
                <a:ea typeface="Calibri"/>
                <a:cs typeface="Calibri"/>
              </a:defRPr>
            </a:lvl6pPr>
            <a:lvl7pPr>
              <a:defRPr sz="1875" b="1">
                <a:solidFill>
                  <a:srgbClr val="1C3144"/>
                </a:solidFill>
                <a:latin typeface="Calibri"/>
                <a:ea typeface="Calibri"/>
                <a:cs typeface="Calibri"/>
              </a:defRPr>
            </a:lvl7pPr>
            <a:lvl8pPr>
              <a:defRPr sz="1875" b="1">
                <a:solidFill>
                  <a:srgbClr val="1C3144"/>
                </a:solidFill>
                <a:latin typeface="Calibri"/>
                <a:ea typeface="Calibri"/>
                <a:cs typeface="Calibri"/>
              </a:defRPr>
            </a:lvl8pPr>
            <a:lvl9pPr>
              <a:defRPr sz="1875" b="1">
                <a:solidFill>
                  <a:srgbClr val="1C3144"/>
                </a:solidFill>
                <a:latin typeface="Calibri"/>
                <a:ea typeface="Calibri"/>
                <a:cs typeface="Calibri"/>
              </a:defRPr>
            </a:lvl9pPr>
          </a:lstStyle>
          <a:p>
            <a:pPr>
              <a:defRPr sz="1875" b="1">
                <a:solidFill>
                  <a:srgbClr val="1C3144"/>
                </a:solidFill>
                <a:latin typeface="Calibri"/>
                <a:ea typeface="Calibri"/>
                <a:cs typeface="Calibri"/>
              </a:defRPr>
            </a:pPr>
            <a:r>
              <a:rPr sz="1875" b="1">
                <a:solidFill>
                  <a:srgbClr val="1C3144"/>
                </a:solidFill>
                <a:latin typeface="Calibri"/>
                <a:ea typeface="Calibri"/>
                <a:cs typeface="Calibri"/>
              </a:rPr>
              <a:t>Document features</a:t>
            </a:r>
          </a:p>
        </p:txBody>
      </p:sp>
      <p:sp>
        <p:nvSpPr>
          <p:cNvPr id="36" name="reveal-03-representation-example">
            <a:extLst>
              <a:ext uri="{FF2B5EF4-FFF2-40B4-BE49-F238E27FC236}">
                <ns2:creationId id="{667A5C50-4ED7-46F0-AE6F-F86B9866FEF6}"/>
              </a:ext>
            </a:extLst>
          </p:cNvPr>
          <p:cNvSpPr>
            <a:spLocks noGrp="1"/>
          </p:cNvSpPr>
          <p:nvPr/>
        </p:nvSpPr>
        <p:spPr>
          <a:xfrm>
            <a:off x="4000500" y="5143500"/>
            <a:ext cx="5143500" cy="4762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Learned combinations</a:t>
            </a:r>
          </a:p>
        </p:txBody>
      </p:sp>
      <p:sp>
        <p:nvSpPr>
          <p:cNvPr id="37" name="reveal-04-output-example">
            <a:extLst>
              <a:ext uri="{FF2B5EF4-FFF2-40B4-BE49-F238E27FC236}">
                <ns2:creationId id="{B5B34759-7C2D-4D92-9B2A-6B3B55940131}"/>
              </a:ext>
            </a:extLst>
          </p:cNvPr>
          <p:cNvSpPr>
            <a:spLocks noGrp="1"/>
          </p:cNvSpPr>
          <p:nvPr/>
        </p:nvSpPr>
        <p:spPr>
          <a:xfrm>
            <a:off x="9620250" y="5143500"/>
            <a:ext cx="1952625" cy="476250"/>
          </a:xfrm>
          <a:prstGeom prst="rect">
            <a:avLst/>
          </a:prstGeom>
          <a:noFill/>
          <a:ln w="0">
            <a:noFill/>
          </a:ln>
        </p:spPr>
        <p:txBody>
          <a:bodyPr>
            <a:noAutofit/>
          </a:bodyPr>
          <a:lstStyle>
            <a:defPPr>
              <a:defRPr sz="1875" b="1">
                <a:solidFill>
                  <a:srgbClr val="1C3144"/>
                </a:solidFill>
                <a:latin typeface="Calibri"/>
                <a:ea typeface="Calibri"/>
                <a:cs typeface="Calibri"/>
              </a:defRPr>
            </a:defPPr>
            <a:lvl1pPr>
              <a:defRPr sz="1875" b="1">
                <a:solidFill>
                  <a:srgbClr val="1C3144"/>
                </a:solidFill>
                <a:latin typeface="Calibri"/>
                <a:ea typeface="Calibri"/>
                <a:cs typeface="Calibri"/>
              </a:defRPr>
            </a:lvl1pPr>
            <a:lvl2pPr>
              <a:defRPr sz="1875" b="1">
                <a:solidFill>
                  <a:srgbClr val="1C3144"/>
                </a:solidFill>
                <a:latin typeface="Calibri"/>
                <a:ea typeface="Calibri"/>
                <a:cs typeface="Calibri"/>
              </a:defRPr>
            </a:lvl2pPr>
            <a:lvl3pPr>
              <a:defRPr sz="1875" b="1">
                <a:solidFill>
                  <a:srgbClr val="1C3144"/>
                </a:solidFill>
                <a:latin typeface="Calibri"/>
                <a:ea typeface="Calibri"/>
                <a:cs typeface="Calibri"/>
              </a:defRPr>
            </a:lvl3pPr>
            <a:lvl4pPr>
              <a:defRPr sz="1875" b="1">
                <a:solidFill>
                  <a:srgbClr val="1C3144"/>
                </a:solidFill>
                <a:latin typeface="Calibri"/>
                <a:ea typeface="Calibri"/>
                <a:cs typeface="Calibri"/>
              </a:defRPr>
            </a:lvl4pPr>
            <a:lvl5pPr>
              <a:defRPr sz="1875" b="1">
                <a:solidFill>
                  <a:srgbClr val="1C3144"/>
                </a:solidFill>
                <a:latin typeface="Calibri"/>
                <a:ea typeface="Calibri"/>
                <a:cs typeface="Calibri"/>
              </a:defRPr>
            </a:lvl5pPr>
            <a:lvl6pPr>
              <a:defRPr sz="1875" b="1">
                <a:solidFill>
                  <a:srgbClr val="1C3144"/>
                </a:solidFill>
                <a:latin typeface="Calibri"/>
                <a:ea typeface="Calibri"/>
                <a:cs typeface="Calibri"/>
              </a:defRPr>
            </a:lvl6pPr>
            <a:lvl7pPr>
              <a:defRPr sz="1875" b="1">
                <a:solidFill>
                  <a:srgbClr val="1C3144"/>
                </a:solidFill>
                <a:latin typeface="Calibri"/>
                <a:ea typeface="Calibri"/>
                <a:cs typeface="Calibri"/>
              </a:defRPr>
            </a:lvl7pPr>
            <a:lvl8pPr>
              <a:defRPr sz="1875" b="1">
                <a:solidFill>
                  <a:srgbClr val="1C3144"/>
                </a:solidFill>
                <a:latin typeface="Calibri"/>
                <a:ea typeface="Calibri"/>
                <a:cs typeface="Calibri"/>
              </a:defRPr>
            </a:lvl8pPr>
            <a:lvl9pPr>
              <a:defRPr sz="1875" b="1">
                <a:solidFill>
                  <a:srgbClr val="1C3144"/>
                </a:solidFill>
                <a:latin typeface="Calibri"/>
                <a:ea typeface="Calibri"/>
                <a:cs typeface="Calibri"/>
              </a:defRPr>
            </a:lvl9pPr>
          </a:lstStyle>
          <a:p>
            <a:pPr>
              <a:defRPr sz="1875" b="1">
                <a:solidFill>
                  <a:srgbClr val="1C3144"/>
                </a:solidFill>
                <a:latin typeface="Calibri"/>
                <a:ea typeface="Calibri"/>
                <a:cs typeface="Calibri"/>
              </a:defRPr>
            </a:pPr>
            <a:r>
              <a:rPr sz="1875" b="1">
                <a:solidFill>
                  <a:srgbClr val="1C3144"/>
                </a:solidFill>
                <a:latin typeface="Calibri"/>
                <a:ea typeface="Calibri"/>
                <a:cs typeface="Calibri"/>
              </a:rPr>
              <a:t>Type score</a:t>
            </a:r>
          </a:p>
        </p:txBody>
      </p:sp>
      <p:sp>
        <p:nvSpPr>
          <p:cNvPr id="38" name="text-220">
            <a:extLst>
              <a:ext uri="{FF2B5EF4-FFF2-40B4-BE49-F238E27FC236}">
                <ns2:creationId id="{6CAA17EC-81C6-4EC0-AF9E-6A5940689ADD}"/>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Illustrative classifier: document features → learned layers → a category score. Not a biological brain.</a:t>
            </a:r>
          </a:p>
        </p:txBody>
      </p:sp>
      <p:sp>
        <p:nvSpPr>
          <p:cNvPr id="3" name="text-201">
            <a:extLst>
              <a:ext uri="{FF2B5EF4-FFF2-40B4-BE49-F238E27FC236}">
                <ns2:creationId id="{90E9E6FE-083B-49C8-B5A9-92D08B7CB00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8</a:t>
            </a:r>
          </a:p>
        </p:txBody>
      </p:sp>
    </p:spTree>
    <p:extLst>
      <p:ext uri="{BB962C8B-B14F-4D97-AF65-F5344CB8AC3E}">
        <ns4:creationId val="195284485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3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300"/>
                                        <p:tgtEl>
                                          <p:spTgt spid="22"/>
                                        </p:tgtEl>
                                      </p:cBhvr>
                                    </p:animEffect>
                                  </p:childTnLst>
                                </p:cTn>
                              </p:par>
                              <p:par>
                                <p:cTn id="22" presetID="10" presetClass="entr" presetSubtype="0"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300"/>
                                        <p:tgtEl>
                                          <p:spTgt spid="21"/>
                                        </p:tgtEl>
                                      </p:cBhvr>
                                    </p:animEffect>
                                  </p:childTnLst>
                                </p:cTn>
                              </p:par>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300"/>
                                        <p:tgtEl>
                                          <p:spTgt spid="20"/>
                                        </p:tgtEl>
                                      </p:cBhvr>
                                    </p:animEffect>
                                  </p:childTnLst>
                                </p:cTn>
                              </p:par>
                              <p:par>
                                <p:cTn id="28" presetID="10" presetClass="entr" presetSubtype="0"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300"/>
                                        <p:tgtEl>
                                          <p:spTgt spid="19"/>
                                        </p:tgtEl>
                                      </p:cBhvr>
                                    </p:animEffect>
                                  </p:childTnLst>
                                </p:cTn>
                              </p:par>
                              <p:par>
                                <p:cTn id="31" presetID="10"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300"/>
                                        <p:tgtEl>
                                          <p:spTgt spid="18"/>
                                        </p:tgtEl>
                                      </p:cBhvr>
                                    </p:animEffect>
                                  </p:childTnLst>
                                </p:cTn>
                              </p:par>
                              <p:par>
                                <p:cTn id="34" presetID="10"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childTnLst>
                                </p:cTn>
                              </p:par>
                              <p:par>
                                <p:cTn id="37" presetID="10"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300"/>
                                        <p:tgtEl>
                                          <p:spTgt spid="7"/>
                                        </p:tgtEl>
                                      </p:cBhvr>
                                    </p:animEffect>
                                  </p:childTnLst>
                                </p:cTn>
                              </p:par>
                              <p:par>
                                <p:cTn id="40" presetID="10"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300"/>
                                        <p:tgtEl>
                                          <p:spTgt spid="8"/>
                                        </p:tgtEl>
                                      </p:cBhvr>
                                    </p:animEffect>
                                  </p:childTnLst>
                                </p:cTn>
                              </p:par>
                              <p:par>
                                <p:cTn id="43" presetID="10" presetClass="entr" presetSubtype="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300"/>
                                        <p:tgtEl>
                                          <p:spTgt spid="9"/>
                                        </p:tgtEl>
                                      </p:cBhvr>
                                    </p:animEffect>
                                  </p:childTnLst>
                                </p:cTn>
                              </p:par>
                              <p:par>
                                <p:cTn id="46" presetID="10" presetClass="entr" presetSubtype="0"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3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par>
                                <p:cTn id="54" presetID="10" presetClass="entr" presetSubtype="0" fill="hold" nodeType="click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300"/>
                                        <p:tgtEl>
                                          <p:spTgt spid="30"/>
                                        </p:tgtEl>
                                      </p:cBhvr>
                                    </p:animEffect>
                                  </p:childTnLst>
                                </p:cTn>
                              </p:par>
                              <p:par>
                                <p:cTn id="57" presetID="10" presetClass="entr" presetSubtype="0" fill="hold"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300"/>
                                        <p:tgtEl>
                                          <p:spTgt spid="29"/>
                                        </p:tgtEl>
                                      </p:cBhvr>
                                    </p:animEffect>
                                  </p:childTnLst>
                                </p:cTn>
                              </p:par>
                              <p:par>
                                <p:cTn id="60" presetID="10" presetClass="entr" presetSubtype="0"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300"/>
                                        <p:tgtEl>
                                          <p:spTgt spid="28"/>
                                        </p:tgtEl>
                                      </p:cBhvr>
                                    </p:animEffect>
                                  </p:childTnLst>
                                </p:cTn>
                              </p:par>
                              <p:par>
                                <p:cTn id="63" presetID="10" presetClass="entr" presetSubtype="0" fill="hold"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300"/>
                                        <p:tgtEl>
                                          <p:spTgt spid="27"/>
                                        </p:tgtEl>
                                      </p:cBhvr>
                                    </p:animEffect>
                                  </p:childTnLst>
                                </p:cTn>
                              </p:par>
                              <p:par>
                                <p:cTn id="66" presetID="10" presetClass="entr" presetSubtype="0" fill="hold" nodeType="click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300"/>
                                        <p:tgtEl>
                                          <p:spTgt spid="26"/>
                                        </p:tgtEl>
                                      </p:cBhvr>
                                    </p:animEffect>
                                  </p:childTnLst>
                                </p:cTn>
                              </p:par>
                              <p:par>
                                <p:cTn id="69" presetID="10" presetClass="entr" presetSubtype="0" fill="hold"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300"/>
                                        <p:tgtEl>
                                          <p:spTgt spid="25"/>
                                        </p:tgtEl>
                                      </p:cBhvr>
                                    </p:animEffect>
                                  </p:childTnLst>
                                </p:cTn>
                              </p:par>
                              <p:par>
                                <p:cTn id="72" presetID="10" presetClass="entr" presetSubtype="0" fill="hold" nodeType="click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300"/>
                                        <p:tgtEl>
                                          <p:spTgt spid="24"/>
                                        </p:tgtEl>
                                      </p:cBhvr>
                                    </p:animEffect>
                                  </p:childTnLst>
                                </p:cTn>
                              </p:par>
                              <p:par>
                                <p:cTn id="75" presetID="10" presetClass="entr" presetSubtype="0" fill="hold"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300"/>
                                        <p:tgtEl>
                                          <p:spTgt spid="23"/>
                                        </p:tgtEl>
                                      </p:cBhvr>
                                    </p:animEffect>
                                  </p:childTnLst>
                                </p:cTn>
                              </p:par>
                              <p:par>
                                <p:cTn id="78" presetID="10" presetClass="entr" presetSubtype="0" fill="hold" nodeType="clickEffect">
                                  <p:stCondLst>
                                    <p:cond delay="0"/>
                                  </p:stCondLst>
                                  <p:childTnLst>
                                    <p:set>
                                      <p:cBhvr>
                                        <p:cTn id="79" dur="1" fill="hold">
                                          <p:stCondLst>
                                            <p:cond delay="0"/>
                                          </p:stCondLst>
                                        </p:cTn>
                                        <p:tgtEl>
                                          <p:spTgt spid="11"/>
                                        </p:tgtEl>
                                        <p:attrNameLst>
                                          <p:attrName>style.visibility</p:attrName>
                                        </p:attrNameLst>
                                      </p:cBhvr>
                                      <p:to>
                                        <p:strVal val="visible"/>
                                      </p:to>
                                    </p:set>
                                    <p:animEffect transition="in" filter="fade">
                                      <p:cBhvr>
                                        <p:cTn id="80" dur="300"/>
                                        <p:tgtEl>
                                          <p:spTgt spid="11"/>
                                        </p:tgtEl>
                                      </p:cBhvr>
                                    </p:animEffect>
                                  </p:childTnLst>
                                </p:cTn>
                              </p:par>
                              <p:par>
                                <p:cTn id="81" presetID="10" presetClass="entr" presetSubtype="0" fill="hold" nodeType="clickEffect">
                                  <p:stCondLst>
                                    <p:cond delay="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300"/>
                                        <p:tgtEl>
                                          <p:spTgt spid="12"/>
                                        </p:tgtEl>
                                      </p:cBhvr>
                                    </p:animEffect>
                                  </p:childTnLst>
                                </p:cTn>
                              </p:par>
                              <p:par>
                                <p:cTn id="84" presetID="10" presetClass="entr" presetSubtype="0" fill="hold" nodeType="clickEffect">
                                  <p:stCondLst>
                                    <p:cond delay="0"/>
                                  </p:stCondLst>
                                  <p:childTnLst>
                                    <p:set>
                                      <p:cBhvr>
                                        <p:cTn id="85" dur="1" fill="hold">
                                          <p:stCondLst>
                                            <p:cond delay="0"/>
                                          </p:stCondLst>
                                        </p:cTn>
                                        <p:tgtEl>
                                          <p:spTgt spid="13"/>
                                        </p:tgtEl>
                                        <p:attrNameLst>
                                          <p:attrName>style.visibility</p:attrName>
                                        </p:attrNameLst>
                                      </p:cBhvr>
                                      <p:to>
                                        <p:strVal val="visible"/>
                                      </p:to>
                                    </p:set>
                                    <p:animEffect transition="in" filter="fade">
                                      <p:cBhvr>
                                        <p:cTn id="86" dur="300"/>
                                        <p:tgtEl>
                                          <p:spTgt spid="13"/>
                                        </p:tgtEl>
                                      </p:cBhvr>
                                    </p:animEffect>
                                  </p:childTnLst>
                                </p:cTn>
                              </p:par>
                              <p:par>
                                <p:cTn id="87" presetID="10" presetClass="entr" presetSubtype="0" fill="hold" nodeType="clickEffect">
                                  <p:stCondLst>
                                    <p:cond delay="0"/>
                                  </p:stCondLst>
                                  <p:childTnLst>
                                    <p:set>
                                      <p:cBhvr>
                                        <p:cTn id="88" dur="1" fill="hold">
                                          <p:stCondLst>
                                            <p:cond delay="0"/>
                                          </p:stCondLst>
                                        </p:cTn>
                                        <p:tgtEl>
                                          <p:spTgt spid="14"/>
                                        </p:tgtEl>
                                        <p:attrNameLst>
                                          <p:attrName>style.visibility</p:attrName>
                                        </p:attrNameLst>
                                      </p:cBhvr>
                                      <p:to>
                                        <p:strVal val="visible"/>
                                      </p:to>
                                    </p:set>
                                    <p:animEffect transition="in" filter="fade">
                                      <p:cBhvr>
                                        <p:cTn id="89" dur="300"/>
                                        <p:tgtEl>
                                          <p:spTgt spid="14"/>
                                        </p:tgtEl>
                                      </p:cBhvr>
                                    </p:animEffect>
                                  </p:childTnLst>
                                </p:cTn>
                              </p:par>
                              <p:par>
                                <p:cTn id="90" presetID="10" presetClass="entr" presetSubtype="0" fill="hold" nodeType="click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300"/>
                                        <p:tgtEl>
                                          <p:spTgt spid="36"/>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300"/>
                                        <p:tgtEl>
                                          <p:spTgt spid="34"/>
                                        </p:tgtEl>
                                      </p:cBhvr>
                                    </p:animEffect>
                                  </p:childTnLst>
                                </p:cTn>
                              </p:par>
                              <p:par>
                                <p:cTn id="98" presetID="10" presetClass="entr" presetSubtype="0" fill="hold" nodeType="click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300"/>
                                        <p:tgtEl>
                                          <p:spTgt spid="33"/>
                                        </p:tgtEl>
                                      </p:cBhvr>
                                    </p:animEffect>
                                  </p:childTnLst>
                                </p:cTn>
                              </p:par>
                              <p:par>
                                <p:cTn id="101" presetID="10" presetClass="entr" presetSubtype="0" fill="hold" nodeType="click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fade">
                                      <p:cBhvr>
                                        <p:cTn id="103" dur="300"/>
                                        <p:tgtEl>
                                          <p:spTgt spid="32"/>
                                        </p:tgtEl>
                                      </p:cBhvr>
                                    </p:animEffect>
                                  </p:childTnLst>
                                </p:cTn>
                              </p:par>
                              <p:par>
                                <p:cTn id="104" presetID="10" presetClass="entr" presetSubtype="0" fill="hold" nodeType="clickEffect">
                                  <p:stCondLst>
                                    <p:cond delay="0"/>
                                  </p:stCondLst>
                                  <p:childTnLst>
                                    <p:set>
                                      <p:cBhvr>
                                        <p:cTn id="105" dur="1" fill="hold">
                                          <p:stCondLst>
                                            <p:cond delay="0"/>
                                          </p:stCondLst>
                                        </p:cTn>
                                        <p:tgtEl>
                                          <p:spTgt spid="15"/>
                                        </p:tgtEl>
                                        <p:attrNameLst>
                                          <p:attrName>style.visibility</p:attrName>
                                        </p:attrNameLst>
                                      </p:cBhvr>
                                      <p:to>
                                        <p:strVal val="visible"/>
                                      </p:to>
                                    </p:set>
                                    <p:animEffect transition="in" filter="fade">
                                      <p:cBhvr>
                                        <p:cTn id="106" dur="300"/>
                                        <p:tgtEl>
                                          <p:spTgt spid="15"/>
                                        </p:tgtEl>
                                      </p:cBhvr>
                                    </p:animEffect>
                                  </p:childTnLst>
                                </p:cTn>
                              </p:par>
                              <p:par>
                                <p:cTn id="107" presetID="10" presetClass="entr" presetSubtype="0" fill="hold" nodeType="click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fade">
                                      <p:cBhvr>
                                        <p:cTn id="109" dur="300"/>
                                        <p:tgtEl>
                                          <p:spTgt spid="16"/>
                                        </p:tgtEl>
                                      </p:cBhvr>
                                    </p:animEffect>
                                  </p:childTnLst>
                                </p:cTn>
                              </p:par>
                              <p:par>
                                <p:cTn id="110" presetID="10" presetClass="entr" presetSubtype="0" fill="hold" nodeType="click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3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Token">
    <p:bg>
      <p:bgPr>
        <a:solidFill>
          <a:srgbClr val="FFFFFF"/>
        </a:solidFill>
      </p:bgPr>
    </p:bg>
    <p:spTree>
      <p:nvGrpSpPr>
        <p:cNvPr id="1" name=""/>
        <p:cNvGrpSpPr/>
        <p:nvPr/>
      </p:nvGrpSpPr>
      <p:grpSpPr>
        <a:xfrm/>
      </p:grpSpPr>
      <p:sp>
        <p:nvSpPr>
          <p:cNvPr id="7" name="text-221">
            <a:extLst>
              <a:ext uri="{FF2B5EF4-FFF2-40B4-BE49-F238E27FC236}">
                <ns2:creationId id="{F2013EAC-EC82-453B-9A21-55D06A955D2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22">
            <a:extLst>
              <a:ext uri="{FF2B5EF4-FFF2-40B4-BE49-F238E27FC236}">
                <ns2:creationId id="{794FAE0C-84E9-4C50-813C-2AE466D8A98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Token</a:t>
            </a:r>
          </a:p>
        </p:txBody>
      </p:sp>
      <p:sp>
        <p:nvSpPr>
          <p:cNvPr id="4" name="text-224">
            <a:extLst>
              <a:ext uri="{FF2B5EF4-FFF2-40B4-BE49-F238E27FC236}">
                <ns2:creationId id="{47EF984E-ED18-423F-9A1F-B90E40AD0ECB}"/>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 token is a unit into which a model represents input or output, such as a word, part of a word, punctuation or an image patch. Tokenisation depends on the model.</a:t>
            </a:r>
          </a:p>
        </p:txBody>
      </p:sp>
      <p:sp>
        <p:nvSpPr>
          <p:cNvPr id="5" name="text-225">
            <a:extLst>
              <a:ext uri="{FF2B5EF4-FFF2-40B4-BE49-F238E27FC236}">
                <ns2:creationId id="{FF5F3DEE-CCEB-4AC1-955D-3FFAB00EB93E}"/>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226">
            <a:extLst>
              <a:ext uri="{FF2B5EF4-FFF2-40B4-BE49-F238E27FC236}">
                <ns2:creationId id="{87AD595C-B29E-4351-A0B7-E4B174AEE325}"/>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 legal word may occupy one token or several tokens, depending on the tokenizer.</a:t>
            </a:r>
          </a:p>
        </p:txBody>
      </p:sp>
      <p:sp>
        <p:nvSpPr>
          <p:cNvPr id="3" name="text-223">
            <a:extLst>
              <a:ext uri="{FF2B5EF4-FFF2-40B4-BE49-F238E27FC236}">
                <ns2:creationId id="{FF59399E-ACD0-4C54-8127-0583DCF7C22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9</a:t>
            </a:r>
          </a:p>
        </p:txBody>
      </p:sp>
      <p:pic xmlns:r="http://schemas.openxmlformats.org/officeDocument/2006/relationships">
        <p:nvPicPr>
          <p:cNvPr id="8" name="illustration-tokens" descr="Illustration: words converted into numbered token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648758408"/>
      </p:ext>
    </p:extLst>
  </p:cSld>
  <p:transition spd="med" advClick="1">
    <p:fade/>
  </p:transition>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Embedding">
    <p:bg>
      <p:bgPr>
        <a:solidFill>
          <a:srgbClr val="FFFFFF"/>
        </a:solidFill>
      </p:bgPr>
    </p:bg>
    <p:spTree>
      <p:nvGrpSpPr>
        <p:cNvPr id="1" name=""/>
        <p:cNvGrpSpPr/>
        <p:nvPr/>
      </p:nvGrpSpPr>
      <p:grpSpPr>
        <a:xfrm/>
      </p:grpSpPr>
      <p:sp>
        <p:nvSpPr>
          <p:cNvPr id="7" name="text-227">
            <a:extLst>
              <a:ext uri="{FF2B5EF4-FFF2-40B4-BE49-F238E27FC236}">
                <ns2:creationId id="{B3FD342B-BA70-4C3C-8E02-F83571E7D8F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28">
            <a:extLst>
              <a:ext uri="{FF2B5EF4-FFF2-40B4-BE49-F238E27FC236}">
                <ns2:creationId id="{70589A35-C22F-4D45-B764-8BC4E67D432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Embedding</a:t>
            </a:r>
          </a:p>
        </p:txBody>
      </p:sp>
      <p:sp>
        <p:nvSpPr>
          <p:cNvPr id="4" name="text-230">
            <a:extLst>
              <a:ext uri="{FF2B5EF4-FFF2-40B4-BE49-F238E27FC236}">
                <ns2:creationId id="{D04A4D94-58AF-4F56-BECB-D0AD56525730}"/>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An embedding is a numerical representation learned or constructed so that relationships between items can be compared computationally.</a:t>
            </a:r>
          </a:p>
        </p:txBody>
      </p:sp>
      <p:sp>
        <p:nvSpPr>
          <p:cNvPr id="5" name="text-231">
            <a:extLst>
              <a:ext uri="{FF2B5EF4-FFF2-40B4-BE49-F238E27FC236}">
                <ns2:creationId id="{653A60FA-EF15-43AA-A5F7-9A554110C09B}"/>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232">
            <a:extLst>
              <a:ext uri="{FF2B5EF4-FFF2-40B4-BE49-F238E27FC236}">
                <ns2:creationId id="{4856791C-9BED-484E-BD32-49FC060EF0FA}"/>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Compare a query about group restructuring with candidate contract passages.</a:t>
            </a:r>
          </a:p>
        </p:txBody>
      </p:sp>
      <p:sp>
        <p:nvSpPr>
          <p:cNvPr id="3" name="text-229">
            <a:extLst>
              <a:ext uri="{FF2B5EF4-FFF2-40B4-BE49-F238E27FC236}">
                <ns2:creationId id="{9F35864A-5412-487D-8515-BC3899814E4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10</a:t>
            </a:r>
          </a:p>
        </p:txBody>
      </p:sp>
      <p:pic xmlns:r="http://schemas.openxmlformats.org/officeDocument/2006/relationships">
        <p:nvPicPr>
          <p:cNvPr id="8" name="illustration-vecmap" descr="Illustration: points on a map with a query point and its near neighbour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566778005"/>
      </p:ext>
    </p:extLst>
  </p:cSld>
  <p:transition spd="med" advClick="1">
    <p:fade/>
  </p:transition>
</p:sld>
</file>

<file path=ppt/slides/slide11.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 simplified map of related language">
    <p:bg>
      <p:bgPr>
        <a:solidFill>
          <a:srgbClr val="FFFFFF"/>
        </a:solidFill>
      </p:bgPr>
    </p:bg>
    <p:spTree>
      <p:nvGrpSpPr>
        <p:cNvPr id="1" name=""/>
        <p:cNvGrpSpPr/>
        <p:nvPr/>
      </p:nvGrpSpPr>
      <p:grpSpPr>
        <a:xfrm/>
      </p:grpSpPr>
      <p:sp>
        <p:nvSpPr>
          <p:cNvPr id="17" name="text-233">
            <a:extLst>
              <a:ext uri="{FF2B5EF4-FFF2-40B4-BE49-F238E27FC236}">
                <ns2:creationId id="{73AE0182-FD8E-4ACA-A57B-4F8F10826A2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34">
            <a:extLst>
              <a:ext uri="{FF2B5EF4-FFF2-40B4-BE49-F238E27FC236}">
                <ns2:creationId id="{366F560C-1180-4314-8512-CB0478FD2FC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simplified map of related language</a:t>
            </a:r>
          </a:p>
        </p:txBody>
      </p:sp>
      <p:sp>
        <p:nvSpPr>
          <p:cNvPr id="4" name="axis-h">
            <a:extLst>
              <a:ext uri="{FF2B5EF4-FFF2-40B4-BE49-F238E27FC236}">
                <ns2:creationId id="{9DAA51A4-059F-4B21-8CCF-A8CBC0BBA4CF}"/>
              </a:ext>
              <a:ext uri="{C183D7F6-B498-43B3-948B-1728B52AA6E4}">
                <ns3:decorative val="1"/>
              </a:ext>
            </a:extLst>
          </p:cNvPr>
          <p:cNvSpPr>
            <a:spLocks noGrp="1"/>
          </p:cNvSpPr>
          <p:nvPr/>
        </p:nvSpPr>
        <p:spPr>
          <a:xfrm>
            <a:off x="1047750" y="5438775"/>
            <a:ext cx="9715500" cy="19050"/>
          </a:xfrm>
          <a:prstGeom prst="rect">
            <a:avLst/>
          </a:prstGeom>
          <a:solidFill>
            <a:srgbClr val="C9D5DA"/>
          </a:solidFill>
          <a:ln w="11430">
            <a:noFill/>
          </a:ln>
        </p:spPr>
      </p:sp>
      <p:sp>
        <p:nvSpPr>
          <p:cNvPr id="5" name="axis-v">
            <a:extLst>
              <a:ext uri="{FF2B5EF4-FFF2-40B4-BE49-F238E27FC236}">
                <ns2:creationId id="{30992CF3-50D5-4C3E-8F56-FCB97269F633}"/>
              </a:ext>
              <a:ext uri="{C183D7F6-B498-43B3-948B-1728B52AA6E4}">
                <ns3:decorative val="1"/>
              </a:ext>
            </a:extLst>
          </p:cNvPr>
          <p:cNvSpPr>
            <a:spLocks noGrp="1"/>
          </p:cNvSpPr>
          <p:nvPr/>
        </p:nvSpPr>
        <p:spPr>
          <a:xfrm>
            <a:off x="1047750" y="2066925"/>
            <a:ext cx="19050" cy="3381375"/>
          </a:xfrm>
          <a:prstGeom prst="rect">
            <a:avLst/>
          </a:prstGeom>
          <a:solidFill>
            <a:srgbClr val="C9D5DA"/>
          </a:solidFill>
          <a:ln w="11430">
            <a:noFill/>
          </a:ln>
        </p:spPr>
      </p:sp>
      <p:sp>
        <p:nvSpPr>
          <p:cNvPr id="6" name="reveal-01-Query: restructuring consent" descr="A simplified map of related language">
            <a:extLst>
              <a:ext uri="{FF2B5EF4-FFF2-40B4-BE49-F238E27FC236}">
                <ns2:creationId id="{C284748E-9686-4B3B-9B86-EA27B962AE9D}"/>
              </a:ext>
            </a:extLst>
          </p:cNvPr>
          <p:cNvSpPr>
            <a:spLocks noGrp="1"/>
          </p:cNvSpPr>
          <p:nvPr/>
        </p:nvSpPr>
        <p:spPr>
          <a:xfrm>
            <a:off x="2095500" y="2857500"/>
            <a:ext cx="171450" cy="171450"/>
          </a:xfrm>
          <a:prstGeom prst="ellipse">
            <a:avLst/>
          </a:prstGeom>
          <a:solidFill>
            <a:srgbClr val="C94E29"/>
          </a:solidFill>
          <a:ln w="11430">
            <a:noFill/>
          </a:ln>
        </p:spPr>
      </p:sp>
      <p:sp>
        <p:nvSpPr>
          <p:cNvPr id="7" name="reveal-01-Query: restructuring consent-text">
            <a:extLst>
              <a:ext uri="{FF2B5EF4-FFF2-40B4-BE49-F238E27FC236}">
                <ns2:creationId id="{17AC62FE-FEEE-410A-9591-AC4195AA3D84}"/>
              </a:ext>
            </a:extLst>
          </p:cNvPr>
          <p:cNvSpPr>
            <a:spLocks noGrp="1"/>
          </p:cNvSpPr>
          <p:nvPr/>
        </p:nvSpPr>
        <p:spPr>
          <a:xfrm>
            <a:off x="2343150" y="2733675"/>
            <a:ext cx="3476625" cy="723900"/>
          </a:xfrm>
          <a:prstGeom prst="rect">
            <a:avLst/>
          </a:prstGeom>
          <a:noFill/>
          <a:ln w="0">
            <a:noFill/>
          </a:ln>
        </p:spPr>
        <p:txBody>
          <a:bodyPr>
            <a:noAutofit/>
          </a:bodyPr>
          <a:lstStyle>
            <a:defPPr>
              <a:defRPr sz="1875" b="1">
                <a:solidFill>
                  <a:srgbClr val="C94E29"/>
                </a:solidFill>
                <a:latin typeface="Calibri"/>
                <a:ea typeface="Calibri"/>
                <a:cs typeface="Calibri"/>
              </a:defRPr>
            </a:defPPr>
            <a:lvl1pPr>
              <a:defRPr sz="1875" b="1">
                <a:solidFill>
                  <a:srgbClr val="C94E29"/>
                </a:solidFill>
                <a:latin typeface="Calibri"/>
                <a:ea typeface="Calibri"/>
                <a:cs typeface="Calibri"/>
              </a:defRPr>
            </a:lvl1pPr>
            <a:lvl2pPr>
              <a:defRPr sz="1875" b="1">
                <a:solidFill>
                  <a:srgbClr val="C94E29"/>
                </a:solidFill>
                <a:latin typeface="Calibri"/>
                <a:ea typeface="Calibri"/>
                <a:cs typeface="Calibri"/>
              </a:defRPr>
            </a:lvl2pPr>
            <a:lvl3pPr>
              <a:defRPr sz="1875" b="1">
                <a:solidFill>
                  <a:srgbClr val="C94E29"/>
                </a:solidFill>
                <a:latin typeface="Calibri"/>
                <a:ea typeface="Calibri"/>
                <a:cs typeface="Calibri"/>
              </a:defRPr>
            </a:lvl3pPr>
            <a:lvl4pPr>
              <a:defRPr sz="1875" b="1">
                <a:solidFill>
                  <a:srgbClr val="C94E29"/>
                </a:solidFill>
                <a:latin typeface="Calibri"/>
                <a:ea typeface="Calibri"/>
                <a:cs typeface="Calibri"/>
              </a:defRPr>
            </a:lvl4pPr>
            <a:lvl5pPr>
              <a:defRPr sz="1875" b="1">
                <a:solidFill>
                  <a:srgbClr val="C94E29"/>
                </a:solidFill>
                <a:latin typeface="Calibri"/>
                <a:ea typeface="Calibri"/>
                <a:cs typeface="Calibri"/>
              </a:defRPr>
            </a:lvl5pPr>
            <a:lvl6pPr>
              <a:defRPr sz="1875" b="1">
                <a:solidFill>
                  <a:srgbClr val="C94E29"/>
                </a:solidFill>
                <a:latin typeface="Calibri"/>
                <a:ea typeface="Calibri"/>
                <a:cs typeface="Calibri"/>
              </a:defRPr>
            </a:lvl6pPr>
            <a:lvl7pPr>
              <a:defRPr sz="1875" b="1">
                <a:solidFill>
                  <a:srgbClr val="C94E29"/>
                </a:solidFill>
                <a:latin typeface="Calibri"/>
                <a:ea typeface="Calibri"/>
                <a:cs typeface="Calibri"/>
              </a:defRPr>
            </a:lvl7pPr>
            <a:lvl8pPr>
              <a:defRPr sz="1875" b="1">
                <a:solidFill>
                  <a:srgbClr val="C94E29"/>
                </a:solidFill>
                <a:latin typeface="Calibri"/>
                <a:ea typeface="Calibri"/>
                <a:cs typeface="Calibri"/>
              </a:defRPr>
            </a:lvl8pPr>
            <a:lvl9pPr>
              <a:defRPr sz="1875" b="1">
                <a:solidFill>
                  <a:srgbClr val="C94E29"/>
                </a:solidFill>
                <a:latin typeface="Calibri"/>
                <a:ea typeface="Calibri"/>
                <a:cs typeface="Calibri"/>
              </a:defRPr>
            </a:lvl9pPr>
          </a:lstStyle>
          <a:p>
            <a:pPr>
              <a:defRPr sz="1875" b="1">
                <a:solidFill>
                  <a:srgbClr val="C94E29"/>
                </a:solidFill>
                <a:latin typeface="Calibri"/>
                <a:ea typeface="Calibri"/>
                <a:cs typeface="Calibri"/>
              </a:defRPr>
            </a:pPr>
            <a:r>
              <a:rPr sz="1875" b="1">
                <a:solidFill>
                  <a:srgbClr val="C94E29"/>
                </a:solidFill>
                <a:latin typeface="Calibri"/>
                <a:ea typeface="Calibri"/>
                <a:cs typeface="Calibri"/>
              </a:rPr>
              <a:t>Query: restructuring consent</a:t>
            </a:r>
          </a:p>
        </p:txBody>
      </p:sp>
      <p:sp>
        <p:nvSpPr>
          <p:cNvPr id="8" name="reveal-02-Clause 3: group exception">
            <a:extLst>
              <a:ext uri="{FF2B5EF4-FFF2-40B4-BE49-F238E27FC236}">
                <ns2:creationId id="{4D872136-2591-4F1B-9F77-3E1A1EA62F5C}"/>
              </a:ext>
              <a:ext uri="{C183D7F6-B498-43B3-948B-1728B52AA6E4}">
                <ns3:decorative val="1"/>
              </a:ext>
            </a:extLst>
          </p:cNvPr>
          <p:cNvSpPr>
            <a:spLocks noGrp="1"/>
          </p:cNvSpPr>
          <p:nvPr/>
        </p:nvSpPr>
        <p:spPr>
          <a:xfrm>
            <a:off x="2952750" y="3667125"/>
            <a:ext cx="171450" cy="171450"/>
          </a:xfrm>
          <a:prstGeom prst="ellipse">
            <a:avLst/>
          </a:prstGeom>
          <a:solidFill>
            <a:srgbClr val="246E63"/>
          </a:solidFill>
          <a:ln w="11430">
            <a:noFill/>
          </a:ln>
        </p:spPr>
      </p:sp>
      <p:sp>
        <p:nvSpPr>
          <p:cNvPr id="9" name="reveal-02-Clause 3: group exception-text">
            <a:extLst>
              <a:ext uri="{FF2B5EF4-FFF2-40B4-BE49-F238E27FC236}">
                <ns2:creationId id="{650B1D4E-FFD6-452C-82F2-10ABBB5F6D6F}"/>
              </a:ext>
            </a:extLst>
          </p:cNvPr>
          <p:cNvSpPr>
            <a:spLocks noGrp="1"/>
          </p:cNvSpPr>
          <p:nvPr/>
        </p:nvSpPr>
        <p:spPr>
          <a:xfrm>
            <a:off x="3200400" y="3543300"/>
            <a:ext cx="3476625" cy="7239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Key Terms: group exception</a:t>
            </a:r>
          </a:p>
        </p:txBody>
      </p:sp>
      <p:sp>
        <p:nvSpPr>
          <p:cNvPr id="10" name="reveal-02-Support access clause">
            <a:extLst>
              <a:ext uri="{FF2B5EF4-FFF2-40B4-BE49-F238E27FC236}">
                <ns2:creationId id="{F8032605-B6B9-4A50-BA56-490D5100CBB2}"/>
              </a:ext>
              <a:ext uri="{C183D7F6-B498-43B3-948B-1728B52AA6E4}">
                <ns3:decorative val="1"/>
              </a:ext>
            </a:extLst>
          </p:cNvPr>
          <p:cNvSpPr>
            <a:spLocks noGrp="1"/>
          </p:cNvSpPr>
          <p:nvPr/>
        </p:nvSpPr>
        <p:spPr>
          <a:xfrm>
            <a:off x="4095750" y="4524375"/>
            <a:ext cx="171450" cy="171450"/>
          </a:xfrm>
          <a:prstGeom prst="ellipse">
            <a:avLst/>
          </a:prstGeom>
          <a:solidFill>
            <a:srgbClr val="246E63"/>
          </a:solidFill>
          <a:ln w="11430">
            <a:noFill/>
          </a:ln>
        </p:spPr>
      </p:sp>
      <p:sp>
        <p:nvSpPr>
          <p:cNvPr id="11" name="reveal-02-Support access clause-text">
            <a:extLst>
              <a:ext uri="{FF2B5EF4-FFF2-40B4-BE49-F238E27FC236}">
                <ns2:creationId id="{A3E38CE8-D825-4A4D-B59B-AE538AA93929}"/>
              </a:ext>
            </a:extLst>
          </p:cNvPr>
          <p:cNvSpPr>
            <a:spLocks noGrp="1"/>
          </p:cNvSpPr>
          <p:nvPr/>
        </p:nvSpPr>
        <p:spPr>
          <a:xfrm>
            <a:off x="4343400" y="4400550"/>
            <a:ext cx="3476625" cy="7239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Support access clause</a:t>
            </a:r>
          </a:p>
        </p:txBody>
      </p:sp>
      <p:sp>
        <p:nvSpPr>
          <p:cNvPr id="12" name="reveal-03-Invoice payment term">
            <a:extLst>
              <a:ext uri="{FF2B5EF4-FFF2-40B4-BE49-F238E27FC236}">
                <ns2:creationId id="{EFAAF2BF-2E64-4816-AB38-670F1A401DC5}"/>
              </a:ext>
              <a:ext uri="{C183D7F6-B498-43B3-948B-1728B52AA6E4}">
                <ns3:decorative val="1"/>
              </a:ext>
            </a:extLst>
          </p:cNvPr>
          <p:cNvSpPr>
            <a:spLocks noGrp="1"/>
          </p:cNvSpPr>
          <p:nvPr/>
        </p:nvSpPr>
        <p:spPr>
          <a:xfrm>
            <a:off x="7953375" y="2952750"/>
            <a:ext cx="171450" cy="171450"/>
          </a:xfrm>
          <a:prstGeom prst="ellipse">
            <a:avLst/>
          </a:prstGeom>
          <a:solidFill>
            <a:srgbClr val="246E63"/>
          </a:solidFill>
          <a:ln w="11430">
            <a:noFill/>
          </a:ln>
        </p:spPr>
      </p:sp>
      <p:sp>
        <p:nvSpPr>
          <p:cNvPr id="13" name="reveal-03-Invoice payment term-text">
            <a:extLst>
              <a:ext uri="{FF2B5EF4-FFF2-40B4-BE49-F238E27FC236}">
                <ns2:creationId id="{4EBD3C31-2684-40B0-B6BA-EDFF141BBC35}"/>
              </a:ext>
            </a:extLst>
          </p:cNvPr>
          <p:cNvSpPr>
            <a:spLocks noGrp="1"/>
          </p:cNvSpPr>
          <p:nvPr/>
        </p:nvSpPr>
        <p:spPr>
          <a:xfrm>
            <a:off x="8201025" y="2828925"/>
            <a:ext cx="3476625" cy="7239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Invoice payment term</a:t>
            </a:r>
          </a:p>
        </p:txBody>
      </p:sp>
      <p:sp>
        <p:nvSpPr>
          <p:cNvPr id="14" name="reveal-03-Photograph consent">
            <a:extLst>
              <a:ext uri="{FF2B5EF4-FFF2-40B4-BE49-F238E27FC236}">
                <ns2:creationId id="{7FEAA843-C62D-4A13-BB6A-35B9CE15C992}"/>
              </a:ext>
              <a:ext uri="{C183D7F6-B498-43B3-948B-1728B52AA6E4}">
                <ns3:decorative val="1"/>
              </a:ext>
            </a:extLst>
          </p:cNvPr>
          <p:cNvSpPr>
            <a:spLocks noGrp="1"/>
          </p:cNvSpPr>
          <p:nvPr/>
        </p:nvSpPr>
        <p:spPr>
          <a:xfrm>
            <a:off x="7572375" y="4714875"/>
            <a:ext cx="171450" cy="171450"/>
          </a:xfrm>
          <a:prstGeom prst="ellipse">
            <a:avLst/>
          </a:prstGeom>
          <a:solidFill>
            <a:srgbClr val="246E63"/>
          </a:solidFill>
          <a:ln w="11430">
            <a:noFill/>
          </a:ln>
        </p:spPr>
      </p:sp>
      <p:sp>
        <p:nvSpPr>
          <p:cNvPr id="15" name="reveal-03-Photograph consent-text">
            <a:extLst>
              <a:ext uri="{FF2B5EF4-FFF2-40B4-BE49-F238E27FC236}">
                <ns2:creationId id="{7EB1B0ED-9C55-43DF-8CB0-DEEAFCF254C9}"/>
              </a:ext>
            </a:extLst>
          </p:cNvPr>
          <p:cNvSpPr>
            <a:spLocks noGrp="1"/>
          </p:cNvSpPr>
          <p:nvPr/>
        </p:nvSpPr>
        <p:spPr>
          <a:xfrm>
            <a:off x="7820025" y="4591050"/>
            <a:ext cx="3476625" cy="7239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Photograph consent</a:t>
            </a:r>
          </a:p>
        </p:txBody>
      </p:sp>
      <p:sp>
        <p:nvSpPr>
          <p:cNvPr id="16" name="text-236">
            <a:extLst>
              <a:ext uri="{FF2B5EF4-FFF2-40B4-BE49-F238E27FC236}">
                <ns2:creationId id="{586744A9-201C-4BC8-9FFE-7C65801C020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Invented 2D projection of many-dimensional representations. Inspect candidates; distance is not legal meaning.</a:t>
            </a:r>
          </a:p>
        </p:txBody>
      </p:sp>
      <p:sp>
        <p:nvSpPr>
          <p:cNvPr id="3" name="text-235">
            <a:extLst>
              <a:ext uri="{FF2B5EF4-FFF2-40B4-BE49-F238E27FC236}">
                <ns2:creationId id="{81723DE3-E9FD-44C4-9474-977D702BE09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11</a:t>
            </a:r>
          </a:p>
        </p:txBody>
      </p:sp>
    </p:spTree>
    <p:extLst>
      <p:ext uri="{BB962C8B-B14F-4D97-AF65-F5344CB8AC3E}">
        <ns4:creationId val="7795467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10" presetClass="entr" presetSubtype="0" fill="hold"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300"/>
                                        <p:tgtEl>
                                          <p:spTgt spid="8"/>
                                        </p:tgtEl>
                                      </p:cBhvr>
                                    </p:animEffect>
                                  </p:childTnLst>
                                </p:cTn>
                              </p:par>
                              <p:par>
                                <p:cTn id="16" presetID="10"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00"/>
                                        <p:tgtEl>
                                          <p:spTgt spid="9"/>
                                        </p:tgtEl>
                                      </p:cBhvr>
                                    </p:animEffect>
                                  </p:childTnLst>
                                </p:cTn>
                              </p:par>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300"/>
                                        <p:tgtEl>
                                          <p:spTgt spid="10"/>
                                        </p:tgtEl>
                                      </p:cBhvr>
                                    </p:animEffect>
                                  </p:childTnLst>
                                </p:cTn>
                              </p:par>
                              <p:par>
                                <p:cTn id="22" presetID="10"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00"/>
                                        <p:tgtEl>
                                          <p:spTgt spid="12"/>
                                        </p:tgtEl>
                                      </p:cBhvr>
                                    </p:animEffect>
                                  </p:childTnLst>
                                </p:cTn>
                              </p:par>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300"/>
                                        <p:tgtEl>
                                          <p:spTgt spid="13"/>
                                        </p:tgtEl>
                                      </p:cBhvr>
                                    </p:animEffect>
                                  </p:childTnLst>
                                </p:cTn>
                              </p:par>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300"/>
                                        <p:tgtEl>
                                          <p:spTgt spid="14"/>
                                        </p:tgtEl>
                                      </p:cBhvr>
                                    </p:animEffect>
                                  </p:childTnLst>
                                </p:cTn>
                              </p:par>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Many dimensions and a flat picture">
    <p:bg>
      <p:bgPr>
        <a:solidFill>
          <a:srgbClr val="FFFFFF"/>
        </a:solidFill>
      </p:bgPr>
    </p:bg>
    <p:spTree>
      <p:nvGrpSpPr>
        <p:cNvPr id="1" name=""/>
        <p:cNvGrpSpPr/>
        <p:nvPr/>
      </p:nvGrpSpPr>
      <p:grpSpPr>
        <a:xfrm/>
      </p:grpSpPr>
      <p:sp>
        <p:nvSpPr>
          <p:cNvPr id="10" name="text-237">
            <a:extLst>
              <a:ext uri="{FF2B5EF4-FFF2-40B4-BE49-F238E27FC236}">
                <ns2:creationId id="{B6ABA95E-B1EC-4BB4-8DE3-8DC1E544504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38">
            <a:extLst>
              <a:ext uri="{FF2B5EF4-FFF2-40B4-BE49-F238E27FC236}">
                <ns2:creationId id="{A6ADAEE6-E19B-4B96-9A27-8588D67675D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Many dimensions and a flat picture</a:t>
            </a:r>
          </a:p>
        </p:txBody>
      </p:sp>
      <p:sp>
        <p:nvSpPr>
          <p:cNvPr id="4" name="text-240">
            <a:extLst>
              <a:ext uri="{FF2B5EF4-FFF2-40B4-BE49-F238E27FC236}">
                <ns2:creationId id="{074B95C7-25F6-4779-839E-5FC98B89985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41">
            <a:extLst>
              <a:ext uri="{FF2B5EF4-FFF2-40B4-BE49-F238E27FC236}">
                <ns2:creationId id="{ABC36D55-75E3-45A4-981F-AD97B7B5222A}"/>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model uses many numerical dimensions.</a:t>
            </a:r>
          </a:p>
        </p:txBody>
      </p:sp>
      <p:sp>
        <p:nvSpPr>
          <p:cNvPr id="6" name="text-242">
            <a:extLst>
              <a:ext uri="{FF2B5EF4-FFF2-40B4-BE49-F238E27FC236}">
                <ns2:creationId id="{1331A0D9-8EA3-44D7-BC9F-1856814866F7}"/>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43">
            <a:extLst>
              <a:ext uri="{FF2B5EF4-FFF2-40B4-BE49-F238E27FC236}">
                <ns2:creationId id="{01C175D1-AF2A-4E4C-9E5F-A56CE3090597}"/>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two-dimensional projection loses information.</a:t>
            </a:r>
          </a:p>
        </p:txBody>
      </p:sp>
      <p:sp>
        <p:nvSpPr>
          <p:cNvPr id="8" name="text-244">
            <a:extLst>
              <a:ext uri="{FF2B5EF4-FFF2-40B4-BE49-F238E27FC236}">
                <ns2:creationId id="{020C991A-1ABA-40B3-9F4A-36300F5308DC}"/>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45">
            <a:extLst>
              <a:ext uri="{FF2B5EF4-FFF2-40B4-BE49-F238E27FC236}">
                <ns2:creationId id="{2445E131-975D-4161-BFFD-C65893B448F0}"/>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distance or similarity score depends on the representation and comparison method.</a:t>
            </a:r>
          </a:p>
        </p:txBody>
      </p:sp>
      <p:sp>
        <p:nvSpPr>
          <p:cNvPr id="3" name="text-239">
            <a:extLst>
              <a:ext uri="{FF2B5EF4-FFF2-40B4-BE49-F238E27FC236}">
                <ns2:creationId id="{AC939319-FDF4-4157-AB3F-B174D486024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12</a:t>
            </a:r>
          </a:p>
        </p:txBody>
      </p:sp>
      <p:pic xmlns:r="http://schemas.openxmlformats.org/officeDocument/2006/relationships">
        <p:nvPicPr>
          <p:cNvPr id="11" name="illustration-compass" descr="Illustration: a compas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28300005"/>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Context changes the representation">
    <p:bg>
      <p:bgPr>
        <a:solidFill>
          <a:srgbClr val="FFFFFF"/>
        </a:solidFill>
      </p:bgPr>
    </p:bg>
    <p:spTree>
      <p:nvGrpSpPr>
        <p:cNvPr id="1" name=""/>
        <p:cNvGrpSpPr/>
        <p:nvPr/>
      </p:nvGrpSpPr>
      <p:grpSpPr>
        <a:xfrm/>
      </p:grpSpPr>
      <p:sp>
        <p:nvSpPr>
          <p:cNvPr id="9" name="text-246">
            <a:extLst>
              <a:ext uri="{FF2B5EF4-FFF2-40B4-BE49-F238E27FC236}">
                <ns2:creationId id="{613D980E-93EF-4737-B635-6491821C8AD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47">
            <a:extLst>
              <a:ext uri="{FF2B5EF4-FFF2-40B4-BE49-F238E27FC236}">
                <ns2:creationId id="{CEC346E4-5176-43A3-AAFD-6DBAF2A1035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Context changes the representation</a:t>
            </a:r>
          </a:p>
        </p:txBody>
      </p:sp>
      <p:sp>
        <p:nvSpPr>
          <p:cNvPr id="4" name="text-249">
            <a:extLst>
              <a:ext uri="{FF2B5EF4-FFF2-40B4-BE49-F238E27FC236}">
                <ns2:creationId id="{D42A4B7E-443C-497B-9A97-F205883612C3}"/>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Property context</a:t>
            </a:r>
          </a:p>
        </p:txBody>
      </p:sp>
      <p:sp>
        <p:nvSpPr>
          <p:cNvPr id="5" name="text-250">
            <a:extLst>
              <a:ext uri="{FF2B5EF4-FFF2-40B4-BE49-F238E27FC236}">
                <ns2:creationId id="{F0944B53-9B58-4916-B708-8D4003F0992C}"/>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bank registered a charge over the property.</a:t>
            </a:r>
          </a:p>
        </p:txBody>
      </p:sp>
      <p:sp>
        <p:nvSpPr>
          <p:cNvPr id="6" name="text-251">
            <a:extLst>
              <a:ext uri="{FF2B5EF4-FFF2-40B4-BE49-F238E27FC236}">
                <ns2:creationId id="{645A5A48-F72E-4A42-930E-524495D4B65F}"/>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Criminal context</a:t>
            </a:r>
          </a:p>
        </p:txBody>
      </p:sp>
      <p:sp>
        <p:nvSpPr>
          <p:cNvPr id="7" name="text-252">
            <a:extLst>
              <a:ext uri="{FF2B5EF4-FFF2-40B4-BE49-F238E27FC236}">
                <ns2:creationId id="{85A7A53B-9781-483F-8B82-8761E84A25B5}"/>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prosecutor amended the charge.</a:t>
            </a:r>
          </a:p>
        </p:txBody>
      </p:sp>
      <p:sp>
        <p:nvSpPr>
          <p:cNvPr id="8" name="text-253">
            <a:extLst>
              <a:ext uri="{FF2B5EF4-FFF2-40B4-BE49-F238E27FC236}">
                <ns2:creationId id="{EE163369-E481-4281-A58C-FD4B6A31899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Contextual representations depend on surrounding language.</a:t>
            </a:r>
          </a:p>
        </p:txBody>
      </p:sp>
      <p:sp>
        <p:nvSpPr>
          <p:cNvPr id="3" name="text-248">
            <a:extLst>
              <a:ext uri="{FF2B5EF4-FFF2-40B4-BE49-F238E27FC236}">
                <ns2:creationId id="{82026669-69DA-4921-8CEF-3BF007F4B80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13</a:t>
            </a:r>
          </a:p>
        </p:txBody>
      </p:sp>
    </p:spTree>
    <p:extLst>
      <p:ext uri="{BB962C8B-B14F-4D97-AF65-F5344CB8AC3E}">
        <ns3:creationId val="1117451482"/>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Similarity and legal meaning">
    <p:bg>
      <p:bgPr>
        <a:solidFill>
          <a:srgbClr val="FFFFFF"/>
        </a:solidFill>
      </p:bgPr>
    </p:bg>
    <p:spTree>
      <p:nvGrpSpPr>
        <p:cNvPr id="1" name=""/>
        <p:cNvGrpSpPr/>
        <p:nvPr/>
      </p:nvGrpSpPr>
      <p:grpSpPr>
        <a:xfrm/>
      </p:grpSpPr>
      <p:sp>
        <p:nvSpPr>
          <p:cNvPr id="10" name="text-254">
            <a:extLst>
              <a:ext uri="{FF2B5EF4-FFF2-40B4-BE49-F238E27FC236}">
                <ns2:creationId id="{1B2B9531-A99F-475F-B05F-F51CF93FC67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55">
            <a:extLst>
              <a:ext uri="{FF2B5EF4-FFF2-40B4-BE49-F238E27FC236}">
                <ns2:creationId id="{E59FB628-9854-4618-8095-04E8D926AB3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Similarity and legal meaning</a:t>
            </a:r>
          </a:p>
        </p:txBody>
      </p:sp>
      <p:sp>
        <p:nvSpPr>
          <p:cNvPr id="4" name="text-257">
            <a:extLst>
              <a:ext uri="{FF2B5EF4-FFF2-40B4-BE49-F238E27FC236}">
                <ns2:creationId id="{659CA0AD-CAA1-4FE0-BB2E-CBD0348573A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58">
            <a:extLst>
              <a:ext uri="{FF2B5EF4-FFF2-40B4-BE49-F238E27FC236}">
                <ns2:creationId id="{42CA1C79-2752-403D-B862-8F5437E1A8BB}"/>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Related terms may have different legal effects.</a:t>
            </a:r>
          </a:p>
        </p:txBody>
      </p:sp>
      <p:sp>
        <p:nvSpPr>
          <p:cNvPr id="6" name="text-259">
            <a:extLst>
              <a:ext uri="{FF2B5EF4-FFF2-40B4-BE49-F238E27FC236}">
                <ns2:creationId id="{9E64C5E7-9E1A-4624-B119-76D18B29EDA0}"/>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60">
            <a:extLst>
              <a:ext uri="{FF2B5EF4-FFF2-40B4-BE49-F238E27FC236}">
                <ns2:creationId id="{BE1F2520-FEDC-4990-AA64-5C65A9136A16}"/>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Approve and reject can appear in similar contexts.</a:t>
            </a:r>
          </a:p>
        </p:txBody>
      </p:sp>
      <p:sp>
        <p:nvSpPr>
          <p:cNvPr id="8" name="text-261">
            <a:extLst>
              <a:ext uri="{FF2B5EF4-FFF2-40B4-BE49-F238E27FC236}">
                <ns2:creationId id="{732F4927-B281-416E-A171-1BC9951ED9E4}"/>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62">
            <a:extLst>
              <a:ext uri="{FF2B5EF4-FFF2-40B4-BE49-F238E27FC236}">
                <ns2:creationId id="{709ACDC1-882A-415E-BB28-B8AD8C3B028C}"/>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retrieved passage needs interpretation and an authority check.</a:t>
            </a:r>
          </a:p>
        </p:txBody>
      </p:sp>
      <p:sp>
        <p:nvSpPr>
          <p:cNvPr id="3" name="text-256">
            <a:extLst>
              <a:ext uri="{FF2B5EF4-FFF2-40B4-BE49-F238E27FC236}">
                <ns2:creationId id="{3754E833-77F6-4CA9-966B-774C5ADC73F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14</a:t>
            </a:r>
          </a:p>
        </p:txBody>
      </p:sp>
      <p:pic xmlns:r="http://schemas.openxmlformats.org/officeDocument/2006/relationships">
        <p:nvPicPr>
          <p:cNvPr id="11" name="illustration-sidebyside" descr="Illustration: two texts side by side, one correct and one flawed"/>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660111261"/>
      </p:ext>
    </p:extLst>
  </p:cSld>
  <p:transition spd="med" advClick="1">
    <p:fade/>
  </p:transition>
</p:sld>
</file>

<file path=ppt/slides/slide15.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How a language model develops">
    <p:bg>
      <p:bgPr>
        <a:solidFill>
          <a:srgbClr val="FFFFFF"/>
        </a:solidFill>
      </p:bgPr>
    </p:bg>
    <p:spTree>
      <p:nvGrpSpPr>
        <p:cNvPr id="1" name=""/>
        <p:cNvGrpSpPr/>
        <p:nvPr/>
      </p:nvGrpSpPr>
      <p:grpSpPr>
        <a:xfrm/>
      </p:grpSpPr>
      <p:cxnSp>
        <p:nvCxnSpPr>
          <p:cNvPr id="24" name="reveal-04-arrow" descr="How a language model develops">
            <a:extLst>
              <a:ext uri="{FF2B5EF4-FFF2-40B4-BE49-F238E27FC236}">
                <ns2:creationId id="{8B049E37-68DC-4098-8B01-3773397BBC00}"/>
              </a:ext>
            </a:extLst>
          </p:cNvPr>
          <p:cNvCxnSpPr>
            <a:stCxn id="14" idx="3"/>
            <a:endCxn id="18" idx="1"/>
          </p:cNvCxnSpPr>
          <p:nvPr/>
        </p:nvCxnSpPr>
        <p:spPr>
          <a:xfrm>
            <a:off x="8751094" y="3771900"/>
            <a:ext cx="333375" cy="0"/>
          </a:xfrm>
          <a:prstGeom prst="straightConnector1">
            <a:avLst/>
          </a:prstGeom>
          <a:ln w="23813">
            <a:solidFill>
              <a:srgbClr val="246E63"/>
            </a:solidFill>
            <a:tailEnd type="arrow" w="med" len="med"/>
          </a:ln>
        </p:spPr>
      </p:cxnSp>
      <p:cxnSp>
        <p:nvCxnSpPr>
          <p:cNvPr id="23" name="reveal-03-arrow">
            <a:extLst>
              <a:ext uri="{FF2B5EF4-FFF2-40B4-BE49-F238E27FC236}">
                <ns2:creationId id="{94FA1C3D-5D59-4B2E-AF6D-A1970AAB2CF7}"/>
              </a:ext>
              <a:ext uri="{C183D7F6-B498-43B3-948B-1728B52AA6E4}">
                <ns3:decorative val="1"/>
              </a:ext>
            </a:extLst>
          </p:cNvPr>
          <p:cNvCxnSpPr>
            <a:stCxn id="10" idx="3"/>
            <a:endCxn id="14" idx="1"/>
          </p:cNvCxnSpPr>
          <p:nvPr/>
        </p:nvCxnSpPr>
        <p:spPr>
          <a:xfrm>
            <a:off x="5929312" y="3771900"/>
            <a:ext cx="333376" cy="0"/>
          </a:xfrm>
          <a:prstGeom prst="straightConnector1">
            <a:avLst/>
          </a:prstGeom>
          <a:ln w="23813">
            <a:solidFill>
              <a:srgbClr val="246E63"/>
            </a:solidFill>
            <a:tailEnd type="arrow" w="med" len="med"/>
          </a:ln>
        </p:spPr>
      </p:cxnSp>
      <p:cxnSp>
        <p:nvCxnSpPr>
          <p:cNvPr id="22" name="reveal-02-arrow">
            <a:extLst>
              <a:ext uri="{FF2B5EF4-FFF2-40B4-BE49-F238E27FC236}">
                <ns2:creationId id="{21B945ED-6D21-4FC4-A2B7-296343EA532F}"/>
              </a:ext>
              <a:ext uri="{C183D7F6-B498-43B3-948B-1728B52AA6E4}">
                <ns3:decorative val="1"/>
              </a:ext>
            </a:extLst>
          </p:cNvPr>
          <p:cNvCxnSpPr>
            <a:stCxn id="6" idx="3"/>
            <a:endCxn id="10" idx="1"/>
          </p:cNvCxnSpPr>
          <p:nvPr/>
        </p:nvCxnSpPr>
        <p:spPr>
          <a:xfrm>
            <a:off x="3107531" y="3771900"/>
            <a:ext cx="333375" cy="0"/>
          </a:xfrm>
          <a:prstGeom prst="straightConnector1">
            <a:avLst/>
          </a:prstGeom>
          <a:ln w="23813">
            <a:solidFill>
              <a:srgbClr val="246E63"/>
            </a:solidFill>
            <a:tailEnd type="arrow" w="med" len="med"/>
          </a:ln>
        </p:spPr>
      </p:cxnSp>
      <p:sp>
        <p:nvSpPr>
          <p:cNvPr id="26" name="text-263">
            <a:extLst>
              <a:ext uri="{FF2B5EF4-FFF2-40B4-BE49-F238E27FC236}">
                <ns2:creationId id="{8308B4D3-96E7-4D65-9CCF-36A65BA353D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64">
            <a:extLst>
              <a:ext uri="{FF2B5EF4-FFF2-40B4-BE49-F238E27FC236}">
                <ns2:creationId id="{07E61055-7CB1-47AD-9810-8734ECB8A52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How a language model develops</a:t>
            </a:r>
          </a:p>
        </p:txBody>
      </p:sp>
      <p:sp>
        <p:nvSpPr>
          <p:cNvPr id="4" name="text-266">
            <a:extLst>
              <a:ext uri="{FF2B5EF4-FFF2-40B4-BE49-F238E27FC236}">
                <ns2:creationId id="{B0B40DC8-FD42-4AD1-B9ED-0E3BBC087F43}"/>
              </a:ext>
            </a:extLst>
          </p:cNvPr>
          <p:cNvSpPr>
            <a:spLocks noGrp="1"/>
          </p:cNvSpPr>
          <p:nvPr/>
        </p:nvSpPr>
        <p:spPr>
          <a:xfrm>
            <a:off x="619125" y="1857375"/>
            <a:ext cx="8048625" cy="36195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TRAINING: PARAMETERS CAN CHANGE</a:t>
            </a:r>
          </a:p>
        </p:txBody>
      </p:sp>
      <p:sp>
        <p:nvSpPr>
          <p:cNvPr id="5" name="text-267">
            <a:extLst>
              <a:ext uri="{FF2B5EF4-FFF2-40B4-BE49-F238E27FC236}">
                <ns2:creationId id="{ECFB05B1-1C40-484D-ACFF-D1C24BFFA9D8}"/>
              </a:ext>
            </a:extLst>
          </p:cNvPr>
          <p:cNvSpPr>
            <a:spLocks noGrp="1"/>
          </p:cNvSpPr>
          <p:nvPr/>
        </p:nvSpPr>
        <p:spPr>
          <a:xfrm>
            <a:off x="9077325" y="1857375"/>
            <a:ext cx="2476500" cy="36195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USE</a:t>
            </a:r>
          </a:p>
        </p:txBody>
      </p:sp>
      <p:sp>
        <p:nvSpPr>
          <p:cNvPr id="6" name="reveal-01-stage">
            <a:extLst>
              <a:ext uri="{FF2B5EF4-FFF2-40B4-BE49-F238E27FC236}">
                <ns2:creationId id="{D16B7900-8ACB-4692-A7EC-56611BDAF51E}"/>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7" name="reveal-01-number">
            <a:extLst>
              <a:ext uri="{FF2B5EF4-FFF2-40B4-BE49-F238E27FC236}">
                <ns2:creationId id="{BDE213ED-B488-43CE-8183-8E243CEB59E1}"/>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8" name="reveal-01-label">
            <a:extLst>
              <a:ext uri="{FF2B5EF4-FFF2-40B4-BE49-F238E27FC236}">
                <ns2:creationId id="{358FAF1D-3987-460F-8436-50A871489F6A}"/>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Pretraining</a:t>
            </a:r>
          </a:p>
        </p:txBody>
      </p:sp>
      <p:sp>
        <p:nvSpPr>
          <p:cNvPr id="9" name="reveal-01-detail">
            <a:extLst>
              <a:ext uri="{FF2B5EF4-FFF2-40B4-BE49-F238E27FC236}">
                <ns2:creationId id="{D6CB7793-4F77-45B3-8D13-8C408D694C27}"/>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Learn from broad data</a:t>
            </a:r>
          </a:p>
        </p:txBody>
      </p:sp>
      <p:sp>
        <p:nvSpPr>
          <p:cNvPr id="10" name="reveal-02-stage">
            <a:extLst>
              <a:ext uri="{FF2B5EF4-FFF2-40B4-BE49-F238E27FC236}">
                <ns2:creationId id="{2929CEB8-4BBF-4EA4-A478-453811CC7A5C}"/>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11" name="reveal-02-number">
            <a:extLst>
              <a:ext uri="{FF2B5EF4-FFF2-40B4-BE49-F238E27FC236}">
                <ns2:creationId id="{D399AD5A-5E3A-41F6-B293-CBDC1138AF4F}"/>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2" name="reveal-02-label">
            <a:extLst>
              <a:ext uri="{FF2B5EF4-FFF2-40B4-BE49-F238E27FC236}">
                <ns2:creationId id="{45E19299-E265-4FEF-8D79-7B65F234B35C}"/>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Instruction tuning</a:t>
            </a:r>
          </a:p>
        </p:txBody>
      </p:sp>
      <p:sp>
        <p:nvSpPr>
          <p:cNvPr id="13" name="reveal-02-detail">
            <a:extLst>
              <a:ext uri="{FF2B5EF4-FFF2-40B4-BE49-F238E27FC236}">
                <ns2:creationId id="{6B11805A-3F8E-442B-9365-5B2AF3258C5F}"/>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Fit requested behaviour</a:t>
            </a:r>
          </a:p>
        </p:txBody>
      </p:sp>
      <p:sp>
        <p:nvSpPr>
          <p:cNvPr id="14" name="reveal-03-stage">
            <a:extLst>
              <a:ext uri="{FF2B5EF4-FFF2-40B4-BE49-F238E27FC236}">
                <ns2:creationId id="{FA625C76-A791-4579-9E86-04D98DC1D8E2}"/>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5" name="reveal-03-number">
            <a:extLst>
              <a:ext uri="{FF2B5EF4-FFF2-40B4-BE49-F238E27FC236}">
                <ns2:creationId id="{3598FD38-81AD-49A2-B062-2AB4B117F2A9}"/>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6" name="reveal-03-label">
            <a:extLst>
              <a:ext uri="{FF2B5EF4-FFF2-40B4-BE49-F238E27FC236}">
                <ns2:creationId id="{611D515A-BD2C-46ED-AF2A-2FC4081E086E}"/>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Preference learning</a:t>
            </a:r>
          </a:p>
        </p:txBody>
      </p:sp>
      <p:sp>
        <p:nvSpPr>
          <p:cNvPr id="17" name="reveal-03-detail">
            <a:extLst>
              <a:ext uri="{FF2B5EF4-FFF2-40B4-BE49-F238E27FC236}">
                <ns2:creationId id="{7B633AFA-0306-4BF2-8B96-8A395B0F634D}"/>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Use feedback signals</a:t>
            </a:r>
          </a:p>
        </p:txBody>
      </p:sp>
      <p:sp>
        <p:nvSpPr>
          <p:cNvPr id="18" name="reveal-04-stage">
            <a:extLst>
              <a:ext uri="{FF2B5EF4-FFF2-40B4-BE49-F238E27FC236}">
                <ns2:creationId id="{975E76AC-D68E-4651-BD03-4A9E78DD1744}"/>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9" name="reveal-04-number">
            <a:extLst>
              <a:ext uri="{FF2B5EF4-FFF2-40B4-BE49-F238E27FC236}">
                <ns2:creationId id="{72CD965E-BAB4-4FEB-9496-B70B9F182F26}"/>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20" name="reveal-04-label">
            <a:extLst>
              <a:ext uri="{FF2B5EF4-FFF2-40B4-BE49-F238E27FC236}">
                <ns2:creationId id="{7F9C2CF3-D578-417E-A1F0-50A3CD588383}"/>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Inference</a:t>
            </a:r>
          </a:p>
        </p:txBody>
      </p:sp>
      <p:sp>
        <p:nvSpPr>
          <p:cNvPr id="21" name="reveal-04-detail">
            <a:extLst>
              <a:ext uri="{FF2B5EF4-FFF2-40B4-BE49-F238E27FC236}">
                <ns2:creationId id="{A81721CA-5FC0-4013-BC1E-459646D08D30}"/>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Process today’s input</a:t>
            </a:r>
          </a:p>
        </p:txBody>
      </p:sp>
      <p:sp>
        <p:nvSpPr>
          <p:cNvPr id="25" name="text-271">
            <a:extLst>
              <a:ext uri="{FF2B5EF4-FFF2-40B4-BE49-F238E27FC236}">
                <ns2:creationId id="{095CB26B-FF1E-4F86-BCCC-EAD62FC2898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One common route. Providers vary. Inference does not itself run a training update.</a:t>
            </a:r>
          </a:p>
        </p:txBody>
      </p:sp>
      <p:sp>
        <p:nvSpPr>
          <p:cNvPr id="3" name="text-265">
            <a:extLst>
              <a:ext uri="{FF2B5EF4-FFF2-40B4-BE49-F238E27FC236}">
                <ns2:creationId id="{995C9F8B-98D6-44FE-A480-BF4B14FB7B1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15</a:t>
            </a:r>
          </a:p>
        </p:txBody>
      </p:sp>
    </p:spTree>
    <p:extLst>
      <p:ext uri="{BB962C8B-B14F-4D97-AF65-F5344CB8AC3E}">
        <ns4:creationId val="137994225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10" presetClass="entr" presetSubtype="0" fill="hold"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300"/>
                                        <p:tgtEl>
                                          <p:spTgt spid="22"/>
                                        </p:tgtEl>
                                      </p:cBhvr>
                                    </p:animEffect>
                                  </p:childTnLst>
                                </p:cTn>
                              </p:par>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00"/>
                                        <p:tgtEl>
                                          <p:spTgt spid="10"/>
                                        </p:tgtEl>
                                      </p:cBhvr>
                                    </p:animEffect>
                                  </p:childTnLst>
                                </p:cTn>
                              </p:par>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300"/>
                                        <p:tgtEl>
                                          <p:spTgt spid="11"/>
                                        </p:tgtEl>
                                      </p:cBhvr>
                                    </p:animEffect>
                                  </p:childTnLst>
                                </p:cTn>
                              </p:par>
                              <p:par>
                                <p:cTn id="28" presetID="10"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300"/>
                                        <p:tgtEl>
                                          <p:spTgt spid="12"/>
                                        </p:tgtEl>
                                      </p:cBhvr>
                                    </p:animEffect>
                                  </p:childTnLst>
                                </p:cTn>
                              </p:par>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3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300"/>
                                        <p:tgtEl>
                                          <p:spTgt spid="23"/>
                                        </p:tgtEl>
                                      </p:cBhvr>
                                    </p:animEffect>
                                  </p:childTnLst>
                                </p:cTn>
                              </p:par>
                              <p:par>
                                <p:cTn id="39" presetID="10"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00"/>
                                        <p:tgtEl>
                                          <p:spTgt spid="14"/>
                                        </p:tgtEl>
                                      </p:cBhvr>
                                    </p:animEffect>
                                  </p:childTnLst>
                                </p:cTn>
                              </p:par>
                              <p:par>
                                <p:cTn id="42" presetID="10" presetClass="entr" presetSubtype="0"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00"/>
                                        <p:tgtEl>
                                          <p:spTgt spid="15"/>
                                        </p:tgtEl>
                                      </p:cBhvr>
                                    </p:animEffect>
                                  </p:childTnLst>
                                </p:cTn>
                              </p:par>
                              <p:par>
                                <p:cTn id="45" presetID="10"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00"/>
                                        <p:tgtEl>
                                          <p:spTgt spid="16"/>
                                        </p:tgtEl>
                                      </p:cBhvr>
                                    </p:animEffect>
                                  </p:childTnLst>
                                </p:cTn>
                              </p:par>
                              <p:par>
                                <p:cTn id="48" presetID="10" presetClass="entr" presetSubtype="0"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3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300"/>
                                        <p:tgtEl>
                                          <p:spTgt spid="24"/>
                                        </p:tgtEl>
                                      </p:cBhvr>
                                    </p:animEffect>
                                  </p:childTnLst>
                                </p:cTn>
                              </p:par>
                              <p:par>
                                <p:cTn id="56" presetID="10" presetClass="entr" presetSubtype="0"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300"/>
                                        <p:tgtEl>
                                          <p:spTgt spid="18"/>
                                        </p:tgtEl>
                                      </p:cBhvr>
                                    </p:animEffect>
                                  </p:childTnLst>
                                </p:cTn>
                              </p:par>
                              <p:par>
                                <p:cTn id="59" presetID="10" presetClass="entr" presetSubtype="0"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300"/>
                                        <p:tgtEl>
                                          <p:spTgt spid="19"/>
                                        </p:tgtEl>
                                      </p:cBhvr>
                                    </p:animEffect>
                                  </p:childTnLst>
                                </p:cTn>
                              </p:par>
                              <p:par>
                                <p:cTn id="62" presetID="10" presetClass="entr" presetSubtype="0" fill="hold" nodeType="click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300"/>
                                        <p:tgtEl>
                                          <p:spTgt spid="20"/>
                                        </p:tgtEl>
                                      </p:cBhvr>
                                    </p:animEffect>
                                  </p:childTnLst>
                                </p:cTn>
                              </p:par>
                              <p:par>
                                <p:cTn id="65" presetID="10" presetClass="entr" presetSubtype="0"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272">
            <a:extLst>
              <a:ext uri="{FF2B5EF4-FFF2-40B4-BE49-F238E27FC236}">
                <ns2:creationId id="{3DF90B3D-2F7C-4A97-A42C-8CB63F76E59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73">
            <a:extLst>
              <a:ext uri="{FF2B5EF4-FFF2-40B4-BE49-F238E27FC236}">
                <ns2:creationId id="{13A4D02D-05C0-43D5-81E6-7B8BF1D5306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275">
            <a:extLst>
              <a:ext uri="{FF2B5EF4-FFF2-40B4-BE49-F238E27FC236}">
                <ns2:creationId id="{1E73F0A4-2DE6-4945-B318-B178C8C42DE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76">
            <a:extLst>
              <a:ext uri="{FF2B5EF4-FFF2-40B4-BE49-F238E27FC236}">
                <ns2:creationId id="{F6F4B64E-0111-45EB-B1E6-9E4D1215C69E}"/>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Sort document descriptions and discuss labels.</a:t>
            </a:r>
          </a:p>
        </p:txBody>
      </p:sp>
      <p:sp>
        <p:nvSpPr>
          <p:cNvPr id="6" name="text-277">
            <a:extLst>
              <a:ext uri="{FF2B5EF4-FFF2-40B4-BE49-F238E27FC236}">
                <ns2:creationId id="{12DB5DEC-6528-454E-ABD0-804241EA963D}"/>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78">
            <a:extLst>
              <a:ext uri="{FF2B5EF4-FFF2-40B4-BE49-F238E27FC236}">
                <ns2:creationId id="{FAA604F3-EF54-4292-83FE-91C536ADB2FB}"/>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Trace inputs through the learned network.</a:t>
            </a:r>
          </a:p>
        </p:txBody>
      </p:sp>
      <p:sp>
        <p:nvSpPr>
          <p:cNvPr id="8" name="text-279">
            <a:extLst>
              <a:ext uri="{FF2B5EF4-FFF2-40B4-BE49-F238E27FC236}">
                <ns2:creationId id="{F14488E0-8186-4D1E-8061-C6E79CE0B681}"/>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80">
            <a:extLst>
              <a:ext uri="{FF2B5EF4-FFF2-40B4-BE49-F238E27FC236}">
                <ns2:creationId id="{DC02AADC-0074-40DF-A2D1-5A978615B377}"/>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a query with clause candidates.</a:t>
            </a:r>
          </a:p>
        </p:txBody>
      </p:sp>
      <p:sp>
        <p:nvSpPr>
          <p:cNvPr id="10" name="text-281">
            <a:extLst>
              <a:ext uri="{FF2B5EF4-FFF2-40B4-BE49-F238E27FC236}">
                <ns2:creationId id="{EAD4DBD6-6644-4D94-8C32-7B3CCD0BAD19}"/>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282">
            <a:extLst>
              <a:ext uri="{FF2B5EF4-FFF2-40B4-BE49-F238E27FC236}">
                <ns2:creationId id="{DC7F657E-602D-45B5-93C4-8AC0E94F0627}"/>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Distinguish an upload from a training update.</a:t>
            </a:r>
          </a:p>
        </p:txBody>
      </p:sp>
      <p:sp>
        <p:nvSpPr>
          <p:cNvPr id="12" name="text-283">
            <a:extLst>
              <a:ext uri="{FF2B5EF4-FFF2-40B4-BE49-F238E27FC236}">
                <ns2:creationId id="{75E34549-18F3-41E8-8A11-8E8BCC792536}"/>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274">
            <a:extLst>
              <a:ext uri="{FF2B5EF4-FFF2-40B4-BE49-F238E27FC236}">
                <ns2:creationId id="{A4DE6214-4ED4-4510-9A16-2EF661034ED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16</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50077875"/>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284">
            <a:extLst>
              <a:ext uri="{FF2B5EF4-FFF2-40B4-BE49-F238E27FC236}">
                <ns2:creationId id="{26C107F6-DA5B-4168-9DBB-D293719D735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85">
            <a:extLst>
              <a:ext uri="{FF2B5EF4-FFF2-40B4-BE49-F238E27FC236}">
                <ns2:creationId id="{E03A2FFE-FD48-4C40-BECC-5CEEE24F14A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287">
            <a:extLst>
              <a:ext uri="{FF2B5EF4-FFF2-40B4-BE49-F238E27FC236}">
                <ns2:creationId id="{81909E53-7C28-4BAA-ACED-E6E11C30128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88">
            <a:extLst>
              <a:ext uri="{FF2B5EF4-FFF2-40B4-BE49-F238E27FC236}">
                <ns2:creationId id="{042FFC21-ADA4-4170-8F9E-440661D39796}"/>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Training adjusts parameters; inference uses them. Tokens are input units; embeddings are numerical representations. Similarity proposes candidates and does not decide legal equivalence.</a:t>
            </a:r>
          </a:p>
        </p:txBody>
      </p:sp>
      <p:sp>
        <p:nvSpPr>
          <p:cNvPr id="6" name="text-289">
            <a:extLst>
              <a:ext uri="{FF2B5EF4-FFF2-40B4-BE49-F238E27FC236}">
                <ns2:creationId id="{48C58D63-E1E0-444A-B846-FBE6B599DD97}"/>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90">
            <a:extLst>
              <a:ext uri="{FF2B5EF4-FFF2-40B4-BE49-F238E27FC236}">
                <ns2:creationId id="{C2935EDC-D86B-45E4-A4FA-ADE4E0BACB12}"/>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visual coordinates and neural values are illustrative, not measurements from a deployed model.</a:t>
            </a:r>
          </a:p>
        </p:txBody>
      </p:sp>
      <p:sp>
        <p:nvSpPr>
          <p:cNvPr id="3" name="text-286">
            <a:extLst>
              <a:ext uri="{FF2B5EF4-FFF2-40B4-BE49-F238E27FC236}">
                <ns2:creationId id="{E7433BC7-ABF9-47F8-97A1-7E5E2E4700F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17</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711251253"/>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291">
            <a:extLst>
              <a:ext uri="{FF2B5EF4-FFF2-40B4-BE49-F238E27FC236}">
                <ns2:creationId id="{65D18CBD-08BC-4597-895F-073F5F032AE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92">
            <a:extLst>
              <a:ext uri="{FF2B5EF4-FFF2-40B4-BE49-F238E27FC236}">
                <ns2:creationId id="{285666D9-9BCC-4803-B8C3-9DFA61A3328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294">
            <a:extLst>
              <a:ext uri="{FF2B5EF4-FFF2-40B4-BE49-F238E27FC236}">
                <ns2:creationId id="{2E1EB165-1255-490C-AAB5-E15B6160C2F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95">
            <a:extLst>
              <a:ext uri="{FF2B5EF4-FFF2-40B4-BE49-F238E27FC236}">
                <ns2:creationId id="{32B7442D-0926-462C-98FF-5F66EC136AE4}"/>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Require vendors to explain training, source access and evaluation as separate matters.</a:t>
            </a:r>
          </a:p>
        </p:txBody>
      </p:sp>
      <p:sp>
        <p:nvSpPr>
          <p:cNvPr id="6" name="text-296">
            <a:extLst>
              <a:ext uri="{FF2B5EF4-FFF2-40B4-BE49-F238E27FC236}">
                <ns2:creationId id="{8106D26B-3193-45E0-9670-51561044DF89}"/>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293">
            <a:extLst>
              <a:ext uri="{FF2B5EF4-FFF2-40B4-BE49-F238E27FC236}">
                <ns2:creationId id="{D06CFE25-6F34-4076-81FE-25A05EB0D0E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18</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79863246"/>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297">
            <a:extLst>
              <a:ext uri="{FF2B5EF4-FFF2-40B4-BE49-F238E27FC236}">
                <ns2:creationId id="{2E77E87C-928D-4938-BE45-EE3EAE45E1F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98">
            <a:extLst>
              <a:ext uri="{FF2B5EF4-FFF2-40B4-BE49-F238E27FC236}">
                <ns2:creationId id="{AE32B1B0-A454-4FC6-911D-2ED560D482F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300">
            <a:extLst>
              <a:ext uri="{FF2B5EF4-FFF2-40B4-BE49-F238E27FC236}">
                <ns2:creationId id="{26B97063-B9F0-4A01-AB4D-66A329D4516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01">
            <a:extLst>
              <a:ext uri="{FF2B5EF4-FFF2-40B4-BE49-F238E27FC236}">
                <ns2:creationId id="{F7990C0B-1FF7-441D-A2A5-4D76B9D69354}"/>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Does a token ID near another token ID establish similar meaning?</a:t>
            </a:r>
          </a:p>
        </p:txBody>
      </p:sp>
      <p:sp>
        <p:nvSpPr>
          <p:cNvPr id="6" name="text-302">
            <a:extLst>
              <a:ext uri="{FF2B5EF4-FFF2-40B4-BE49-F238E27FC236}">
                <ns2:creationId id="{59CA7560-527B-4E9B-9489-BD8D8C81C53D}"/>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03">
            <a:extLst>
              <a:ext uri="{FF2B5EF4-FFF2-40B4-BE49-F238E27FC236}">
                <ns2:creationId id="{50A2C1B2-16E9-4462-A60A-FB3E90D2202F}"/>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Why can charge mean security in one sentence and accusation in another?</a:t>
            </a:r>
          </a:p>
        </p:txBody>
      </p:sp>
      <p:sp>
        <p:nvSpPr>
          <p:cNvPr id="8" name="text-304">
            <a:extLst>
              <a:ext uri="{FF2B5EF4-FFF2-40B4-BE49-F238E27FC236}">
                <ns2:creationId id="{17FFB15B-DDDC-46BE-8168-13B93D7A1D6F}"/>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05">
            <a:extLst>
              <a:ext uri="{FF2B5EF4-FFF2-40B4-BE49-F238E27FC236}">
                <ns2:creationId id="{F41A507A-E778-48F4-9901-D3A43FF4A2C8}"/>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What changes during training rather than ordinary inference?</a:t>
            </a:r>
          </a:p>
        </p:txBody>
      </p:sp>
      <p:sp>
        <p:nvSpPr>
          <p:cNvPr id="3" name="text-299">
            <a:extLst>
              <a:ext uri="{FF2B5EF4-FFF2-40B4-BE49-F238E27FC236}">
                <ns2:creationId id="{C6E8B2EF-B9E3-4A2C-9F76-A8FE0D528BF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19</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22464433"/>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A labelled document example">
    <p:bg>
      <p:bgPr>
        <a:solidFill>
          <a:srgbClr val="FFFFFF"/>
        </a:solidFill>
      </p:bgPr>
    </p:bg>
    <p:spTree>
      <p:nvGrpSpPr>
        <p:cNvPr id="1" name=""/>
        <p:cNvGrpSpPr/>
        <p:nvPr/>
      </p:nvGrpSpPr>
      <p:grpSpPr>
        <a:xfrm/>
      </p:grpSpPr>
      <p:sp>
        <p:nvSpPr>
          <p:cNvPr id="6" name="text-306">
            <a:extLst>
              <a:ext uri="{FF2B5EF4-FFF2-40B4-BE49-F238E27FC236}">
                <ns2:creationId id="{00AB32A0-8343-4247-840F-0551E034184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07">
            <a:extLst>
              <a:ext uri="{FF2B5EF4-FFF2-40B4-BE49-F238E27FC236}">
                <ns2:creationId id="{DA66DE48-4FD9-4871-B49C-5155FB1EE70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labelled document example</a:t>
            </a:r>
          </a:p>
        </p:txBody>
      </p:sp>
      <p:graphicFrame>
        <p:nvGraphicFramePr>
          <p:cNvPr id="4" name="">
            <a:extLst>
              <a:ext uri="{FF2B5EF4-FFF2-40B4-BE49-F238E27FC236}">
                <ns2:creationId id="{F00CEB61-74F7-4C62-BEA1-AA4085069DEA}"/>
              </a:ext>
            </a:extLst>
          </p:cNvPr>
          <p:cNvGraphicFramePr/>
          <p:nvPr/>
        </p:nvGraphicFramePr>
        <p:xfrm>
          <a:off x="619125" y="1933575"/>
          <a:ext cx="10953750" cy="2857500"/>
        </p:xfrm>
        <a:graphic>
          <a:graphicData uri="http://schemas.openxmlformats.org/drawingml/2006/table">
            <a:tbl>
              <a:tblPr/>
              <a:tblGrid>
                <a:gridCol w="5476875"/>
                <a:gridCol w="5476875"/>
              </a:tblGrid>
              <a:tr h="714375">
                <a:tc>
                  <a:txBody>
                    <a:bodyPr/>
                    <a:lstStyle/>
                    <a:p>
                      <a:r>
                        <a:rPr sz="1875" b="1">
                          <a:solidFill>
                            <a:srgbClr val="FFFFFF"/>
                          </a:solidFill>
                          <a:latin typeface="Calibri"/>
                          <a:ea typeface="Calibri"/>
                          <a:cs typeface="Calibri"/>
                        </a:rPr>
                        <a:t>Input document</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Target label</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14375">
                <a:tc>
                  <a:txBody>
                    <a:bodyPr/>
                    <a:lstStyle/>
                    <a:p>
                      <a:r>
                        <a:rPr sz="1875" b="0">
                          <a:solidFill>
                            <a:srgbClr val="1C3144"/>
                          </a:solidFill>
                          <a:latin typeface="Calibri"/>
                          <a:ea typeface="Calibri"/>
                          <a:cs typeface="Calibri"/>
                        </a:rPr>
                        <a:t>Service terms and signature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Service agreement</a:t>
                      </a:r>
                    </a:p>
                  </a:txBody>
                  <a:tcPr marL="91440" marR="91440" marT="45720" marB="45720">
                    <a:lnR w="9525">
                      <a:solidFill>
                        <a:srgbClr val="C9D5DA"/>
                      </a:solidFill>
                      <a:prstDash val="solid"/>
                    </a:lnR>
                    <a:lnB w="9525">
                      <a:solidFill>
                        <a:srgbClr val="C9D5DA"/>
                      </a:solidFill>
                      <a:prstDash val="solid"/>
                    </a:lnB>
                    <a:solidFill>
                      <a:srgbClr val="F1F5F6"/>
                    </a:solidFill>
                  </a:tcPr>
                </a:tc>
              </a:tr>
              <a:tr h="714375">
                <a:tc>
                  <a:txBody>
                    <a:bodyPr/>
                    <a:lstStyle/>
                    <a:p>
                      <a:r>
                        <a:rPr sz="1875" b="0">
                          <a:solidFill>
                            <a:srgbClr val="1C3144"/>
                          </a:solidFill>
                          <a:latin typeface="Calibri"/>
                          <a:ea typeface="Calibri"/>
                          <a:cs typeface="Calibri"/>
                        </a:rPr>
                        <a:t>Employment terms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Employment agreement</a:t>
                      </a:r>
                    </a:p>
                  </a:txBody>
                  <a:tcPr marL="91440" marR="91440" marT="45720" marB="45720">
                    <a:lnR w="9525">
                      <a:solidFill>
                        <a:srgbClr val="C9D5DA"/>
                      </a:solidFill>
                      <a:prstDash val="solid"/>
                    </a:lnR>
                    <a:lnB w="9525">
                      <a:solidFill>
                        <a:srgbClr val="C9D5DA"/>
                      </a:solidFill>
                      <a:prstDash val="solid"/>
                    </a:lnB>
                    <a:solidFill>
                      <a:srgbClr val="FFFFFF"/>
                    </a:solidFill>
                  </a:tcPr>
                </a:tc>
              </a:tr>
              <a:tr h="714375">
                <a:tc>
                  <a:txBody>
                    <a:bodyPr/>
                    <a:lstStyle/>
                    <a:p>
                      <a:r>
                        <a:rPr sz="1875" b="0">
                          <a:solidFill>
                            <a:srgbClr val="1C3144"/>
                          </a:solidFill>
                          <a:latin typeface="Calibri"/>
                          <a:ea typeface="Calibri"/>
                          <a:cs typeface="Calibri"/>
                        </a:rPr>
                        <a:t>Invoice number and amount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Invoice</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5" name="text-309">
            <a:extLst>
              <a:ext uri="{FF2B5EF4-FFF2-40B4-BE49-F238E27FC236}">
                <ns2:creationId id="{431BF611-513C-4B47-B876-D8DEB15D9680}"/>
              </a:ext>
            </a:extLst>
          </p:cNvPr>
          <p:cNvSpPr>
            <a:spLocks noGrp="1"/>
          </p:cNvSpPr>
          <p:nvPr/>
        </p:nvSpPr>
        <p:spPr>
          <a:xfrm>
            <a:off x="619125" y="5219700"/>
            <a:ext cx="10953750" cy="628650"/>
          </a:xfrm>
          <a:prstGeom prst="rect">
            <a:avLst/>
          </a:prstGeom>
          <a:noFill/>
          <a:ln w="0">
            <a:noFill/>
          </a:ln>
        </p:spPr>
        <p:txBody>
          <a:bodyPr>
            <a:noAutofit/>
          </a:bodyPr>
          <a:lstStyle>
            <a:defPPr>
              <a:defRPr sz="2175" b="1">
                <a:solidFill>
                  <a:srgbClr val="C94E29"/>
                </a:solidFill>
                <a:latin typeface="Calibri"/>
                <a:ea typeface="Calibri"/>
                <a:cs typeface="Calibri"/>
              </a:defRPr>
            </a:defPPr>
            <a:lvl1pPr>
              <a:defRPr sz="2175" b="1">
                <a:solidFill>
                  <a:srgbClr val="C94E29"/>
                </a:solidFill>
                <a:latin typeface="Calibri"/>
                <a:ea typeface="Calibri"/>
                <a:cs typeface="Calibri"/>
              </a:defRPr>
            </a:lvl1pPr>
            <a:lvl2pPr>
              <a:defRPr sz="2175" b="1">
                <a:solidFill>
                  <a:srgbClr val="C94E29"/>
                </a:solidFill>
                <a:latin typeface="Calibri"/>
                <a:ea typeface="Calibri"/>
                <a:cs typeface="Calibri"/>
              </a:defRPr>
            </a:lvl2pPr>
            <a:lvl3pPr>
              <a:defRPr sz="2175" b="1">
                <a:solidFill>
                  <a:srgbClr val="C94E29"/>
                </a:solidFill>
                <a:latin typeface="Calibri"/>
                <a:ea typeface="Calibri"/>
                <a:cs typeface="Calibri"/>
              </a:defRPr>
            </a:lvl3pPr>
            <a:lvl4pPr>
              <a:defRPr sz="2175" b="1">
                <a:solidFill>
                  <a:srgbClr val="C94E29"/>
                </a:solidFill>
                <a:latin typeface="Calibri"/>
                <a:ea typeface="Calibri"/>
                <a:cs typeface="Calibri"/>
              </a:defRPr>
            </a:lvl4pPr>
            <a:lvl5pPr>
              <a:defRPr sz="2175" b="1">
                <a:solidFill>
                  <a:srgbClr val="C94E29"/>
                </a:solidFill>
                <a:latin typeface="Calibri"/>
                <a:ea typeface="Calibri"/>
                <a:cs typeface="Calibri"/>
              </a:defRPr>
            </a:lvl5pPr>
            <a:lvl6pPr>
              <a:defRPr sz="2175" b="1">
                <a:solidFill>
                  <a:srgbClr val="C94E29"/>
                </a:solidFill>
                <a:latin typeface="Calibri"/>
                <a:ea typeface="Calibri"/>
                <a:cs typeface="Calibri"/>
              </a:defRPr>
            </a:lvl6pPr>
            <a:lvl7pPr>
              <a:defRPr sz="2175" b="1">
                <a:solidFill>
                  <a:srgbClr val="C94E29"/>
                </a:solidFill>
                <a:latin typeface="Calibri"/>
                <a:ea typeface="Calibri"/>
                <a:cs typeface="Calibri"/>
              </a:defRPr>
            </a:lvl7pPr>
            <a:lvl8pPr>
              <a:defRPr sz="2175" b="1">
                <a:solidFill>
                  <a:srgbClr val="C94E29"/>
                </a:solidFill>
                <a:latin typeface="Calibri"/>
                <a:ea typeface="Calibri"/>
                <a:cs typeface="Calibri"/>
              </a:defRPr>
            </a:lvl8pPr>
            <a:lvl9pPr>
              <a:defRPr sz="2175" b="1">
                <a:solidFill>
                  <a:srgbClr val="C94E29"/>
                </a:solidFill>
                <a:latin typeface="Calibri"/>
                <a:ea typeface="Calibri"/>
                <a:cs typeface="Calibri"/>
              </a:defRPr>
            </a:lvl9pPr>
          </a:lstStyle>
          <a:p>
            <a:pPr>
              <a:defRPr sz="2175" b="1">
                <a:solidFill>
                  <a:srgbClr val="C94E29"/>
                </a:solidFill>
                <a:latin typeface="Calibri"/>
                <a:ea typeface="Calibri"/>
                <a:cs typeface="Calibri"/>
              </a:defRPr>
            </a:pPr>
            <a:r>
              <a:rPr sz="2175" b="1">
                <a:solidFill>
                  <a:srgbClr val="C94E29"/>
                </a:solidFill>
                <a:latin typeface="Calibri"/>
                <a:ea typeface="Calibri"/>
                <a:cs typeface="Calibri"/>
              </a:rPr>
              <a:t>These illustrative rows do not train or validate a classifier.</a:t>
            </a:r>
          </a:p>
        </p:txBody>
      </p:sp>
      <p:sp>
        <p:nvSpPr>
          <p:cNvPr id="3" name="text-308">
            <a:extLst>
              <a:ext uri="{FF2B5EF4-FFF2-40B4-BE49-F238E27FC236}">
                <ns2:creationId id="{515BAD80-8D9D-44DD-8560-7E929B93E0A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20   OPTIONAL EXPLORATION</a:t>
            </a:r>
          </a:p>
        </p:txBody>
      </p:sp>
    </p:spTree>
    <p:extLst>
      <p:ext uri="{BB962C8B-B14F-4D97-AF65-F5344CB8AC3E}">
        <ns3:creationId val="18278264"/>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Neural network">
    <p:bg>
      <p:bgPr>
        <a:solidFill>
          <a:srgbClr val="FFFFFF"/>
        </a:solidFill>
      </p:bgPr>
    </p:bg>
    <p:spTree>
      <p:nvGrpSpPr>
        <p:cNvPr id="1" name=""/>
        <p:cNvGrpSpPr/>
        <p:nvPr/>
      </p:nvGrpSpPr>
      <p:grpSpPr>
        <a:xfrm/>
      </p:grpSpPr>
      <p:sp>
        <p:nvSpPr>
          <p:cNvPr id="7" name="text-310">
            <a:extLst>
              <a:ext uri="{FF2B5EF4-FFF2-40B4-BE49-F238E27FC236}">
                <ns2:creationId id="{4F5EFFC0-ED97-4221-9F3A-C42A097C7AC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11">
            <a:extLst>
              <a:ext uri="{FF2B5EF4-FFF2-40B4-BE49-F238E27FC236}">
                <ns2:creationId id="{A399D3BC-7D7C-4D91-B84F-D4A4BF6EE6A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Neural network</a:t>
            </a:r>
          </a:p>
        </p:txBody>
      </p:sp>
      <p:sp>
        <p:nvSpPr>
          <p:cNvPr id="4" name="text-313">
            <a:extLst>
              <a:ext uri="{FF2B5EF4-FFF2-40B4-BE49-F238E27FC236}">
                <ns2:creationId id="{E079389B-895E-45F4-92C6-FC0F3F78B891}"/>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 neural network is a model composed of connected computational units that transform inputs using parameters, usually including nonlinear functions.</a:t>
            </a:r>
          </a:p>
        </p:txBody>
      </p:sp>
      <p:sp>
        <p:nvSpPr>
          <p:cNvPr id="5" name="text-314">
            <a:extLst>
              <a:ext uri="{FF2B5EF4-FFF2-40B4-BE49-F238E27FC236}">
                <ns2:creationId id="{9D9AC90C-8F8C-4511-81E3-8C00339CA6B2}"/>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315">
            <a:extLst>
              <a:ext uri="{FF2B5EF4-FFF2-40B4-BE49-F238E27FC236}">
                <ns2:creationId id="{DEDAC629-0D48-42BD-915F-0BB86CD44FD0}"/>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An agreement classifier can transform document features into scores for agreement and invoice.</a:t>
            </a:r>
          </a:p>
        </p:txBody>
      </p:sp>
      <p:sp>
        <p:nvSpPr>
          <p:cNvPr id="3" name="text-312">
            <a:extLst>
              <a:ext uri="{FF2B5EF4-FFF2-40B4-BE49-F238E27FC236}">
                <ns2:creationId id="{7E7205EE-7F4A-468A-944E-8B88A490FCA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21   OPTIONAL EXPLORATION</a:t>
            </a:r>
          </a:p>
        </p:txBody>
      </p:sp>
      <p:pic xmlns:r="http://schemas.openxmlformats.org/officeDocument/2006/relationships">
        <p:nvPicPr>
          <p:cNvPr id="8" name="illustration-network" descr="Illustration: layers of connected nodes in a neural netwo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096862886"/>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Words become model inputs">
    <p:bg>
      <p:bgPr>
        <a:solidFill>
          <a:srgbClr val="FFFFFF"/>
        </a:solidFill>
      </p:bgPr>
    </p:bg>
    <p:spTree>
      <p:nvGrpSpPr>
        <p:cNvPr id="1" name=""/>
        <p:cNvGrpSpPr/>
        <p:nvPr/>
      </p:nvGrpSpPr>
      <p:grpSpPr>
        <a:xfrm/>
      </p:grpSpPr>
      <p:sp>
        <p:nvSpPr>
          <p:cNvPr id="6" name="text-316">
            <a:extLst>
              <a:ext uri="{FF2B5EF4-FFF2-40B4-BE49-F238E27FC236}">
                <ns2:creationId id="{19922F21-37F6-4C49-B78E-B86A94B9D92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17">
            <a:extLst>
              <a:ext uri="{FF2B5EF4-FFF2-40B4-BE49-F238E27FC236}">
                <ns2:creationId id="{7A51EB76-376C-4CEB-83BE-487F12CE0E0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Words become model inputs</a:t>
            </a:r>
          </a:p>
        </p:txBody>
      </p:sp>
      <p:graphicFrame>
        <p:nvGraphicFramePr>
          <p:cNvPr id="4" name="">
            <a:extLst>
              <a:ext uri="{FF2B5EF4-FFF2-40B4-BE49-F238E27FC236}">
                <ns2:creationId id="{B72CFD7D-0B55-49AE-BE89-AED1C39B0B1F}"/>
              </a:ext>
            </a:extLst>
          </p:cNvPr>
          <p:cNvGraphicFramePr/>
          <p:nvPr/>
        </p:nvGraphicFramePr>
        <p:xfrm>
          <a:off x="619125" y="1933575"/>
          <a:ext cx="10953750" cy="3333750"/>
        </p:xfrm>
        <a:graphic>
          <a:graphicData uri="http://schemas.openxmlformats.org/drawingml/2006/table">
            <a:tbl>
              <a:tblPr/>
              <a:tblGrid>
                <a:gridCol w="3651250"/>
                <a:gridCol w="3651250"/>
                <a:gridCol w="3651250"/>
              </a:tblGrid>
              <a:tr h="666750">
                <a:tc>
                  <a:txBody>
                    <a:bodyPr/>
                    <a:lstStyle/>
                    <a:p>
                      <a:r>
                        <a:rPr sz="1875" b="1">
                          <a:solidFill>
                            <a:srgbClr val="FFFFFF"/>
                          </a:solidFill>
                          <a:latin typeface="Calibri"/>
                          <a:ea typeface="Calibri"/>
                          <a:cs typeface="Calibri"/>
                        </a:rPr>
                        <a:t>Schematic token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Illustrative ID</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Representation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66750">
                <a:tc>
                  <a:txBody>
                    <a:bodyPr/>
                    <a:lstStyle/>
                    <a:p>
                      <a:r>
                        <a:rPr sz="1875" b="0">
                          <a:solidFill>
                            <a:srgbClr val="1C3144"/>
                          </a:solidFill>
                          <a:latin typeface="Calibri"/>
                          <a:ea typeface="Calibri"/>
                          <a:cs typeface="Calibri"/>
                        </a:rPr>
                        <a:t>The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103</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 learned numerical vector</a:t>
                      </a:r>
                    </a:p>
                  </a:txBody>
                  <a:tcPr marL="91440" marR="91440" marT="45720" marB="45720">
                    <a:lnR w="9525">
                      <a:solidFill>
                        <a:srgbClr val="C9D5DA"/>
                      </a:solidFill>
                      <a:prstDash val="solid"/>
                    </a:lnR>
                    <a:lnB w="9525">
                      <a:solidFill>
                        <a:srgbClr val="C9D5DA"/>
                      </a:solidFill>
                      <a:prstDash val="solid"/>
                    </a:lnB>
                    <a:solidFill>
                      <a:srgbClr val="F1F5F6"/>
                    </a:solidFill>
                  </a:tcPr>
                </a:tc>
              </a:tr>
              <a:tr h="666750">
                <a:tc>
                  <a:txBody>
                    <a:bodyPr/>
                    <a:lstStyle/>
                    <a:p>
                      <a:r>
                        <a:rPr sz="1875" b="0">
                          <a:solidFill>
                            <a:srgbClr val="1C3144"/>
                          </a:solidFill>
                          <a:latin typeface="Calibri"/>
                          <a:ea typeface="Calibri"/>
                          <a:cs typeface="Calibri"/>
                        </a:rPr>
                        <a:t>provider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285</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 learned numerical vector</a:t>
                      </a:r>
                    </a:p>
                  </a:txBody>
                  <a:tcPr marL="91440" marR="91440" marT="45720" marB="45720">
                    <a:lnR w="9525">
                      <a:solidFill>
                        <a:srgbClr val="C9D5DA"/>
                      </a:solidFill>
                      <a:prstDash val="solid"/>
                    </a:lnR>
                    <a:lnB w="9525">
                      <a:solidFill>
                        <a:srgbClr val="C9D5DA"/>
                      </a:solidFill>
                      <a:prstDash val="solid"/>
                    </a:lnB>
                    <a:solidFill>
                      <a:srgbClr val="FFFFFF"/>
                    </a:solidFill>
                  </a:tcPr>
                </a:tc>
              </a:tr>
              <a:tr h="666750">
                <a:tc>
                  <a:txBody>
                    <a:bodyPr/>
                    <a:lstStyle/>
                    <a:p>
                      <a:r>
                        <a:rPr sz="1875" b="0">
                          <a:solidFill>
                            <a:srgbClr val="1C3144"/>
                          </a:solidFill>
                          <a:latin typeface="Calibri"/>
                          <a:ea typeface="Calibri"/>
                          <a:cs typeface="Calibri"/>
                        </a:rPr>
                        <a:t>remains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914</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 learned numerical vector</a:t>
                      </a:r>
                    </a:p>
                  </a:txBody>
                  <a:tcPr marL="91440" marR="91440" marT="45720" marB="45720">
                    <a:lnR w="9525">
                      <a:solidFill>
                        <a:srgbClr val="C9D5DA"/>
                      </a:solidFill>
                      <a:prstDash val="solid"/>
                    </a:lnR>
                    <a:lnB w="9525">
                      <a:solidFill>
                        <a:srgbClr val="C9D5DA"/>
                      </a:solidFill>
                      <a:prstDash val="solid"/>
                    </a:lnB>
                    <a:solidFill>
                      <a:srgbClr val="F1F5F6"/>
                    </a:solidFill>
                  </a:tcPr>
                </a:tc>
              </a:tr>
              <a:tr h="666750">
                <a:tc>
                  <a:txBody>
                    <a:bodyPr/>
                    <a:lstStyle/>
                    <a:p>
                      <a:r>
                        <a:rPr sz="1875" b="0">
                          <a:solidFill>
                            <a:srgbClr val="1C3144"/>
                          </a:solidFill>
                          <a:latin typeface="Calibri"/>
                          <a:ea typeface="Calibri"/>
                          <a:cs typeface="Calibri"/>
                        </a:rPr>
                        <a:t>responsible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602</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 learned numerical vector</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5" name="text-319">
            <a:extLst>
              <a:ext uri="{FF2B5EF4-FFF2-40B4-BE49-F238E27FC236}">
                <ns2:creationId id="{909CC650-6EFA-4357-82FC-82745157B932}"/>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Token boundaries and identifiers are illustrative. Numeric ID proximity does not measure meaning.</a:t>
            </a:r>
          </a:p>
        </p:txBody>
      </p:sp>
      <p:sp>
        <p:nvSpPr>
          <p:cNvPr id="3" name="text-318">
            <a:extLst>
              <a:ext uri="{FF2B5EF4-FFF2-40B4-BE49-F238E27FC236}">
                <ns2:creationId id="{3187530C-C1F5-49EF-B27D-BF3E94F0F96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22   OPTIONAL EXPLORATION</a:t>
            </a:r>
          </a:p>
        </p:txBody>
      </p:sp>
    </p:spTree>
    <p:extLst>
      <p:ext uri="{BB962C8B-B14F-4D97-AF65-F5344CB8AC3E}">
        <ns3:creationId val="816009441"/>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Foundation model">
    <p:bg>
      <p:bgPr>
        <a:solidFill>
          <a:srgbClr val="FFFFFF"/>
        </a:solidFill>
      </p:bgPr>
    </p:bg>
    <p:spTree>
      <p:nvGrpSpPr>
        <p:cNvPr id="1" name=""/>
        <p:cNvGrpSpPr/>
        <p:nvPr/>
      </p:nvGrpSpPr>
      <p:grpSpPr>
        <a:xfrm/>
      </p:grpSpPr>
      <p:sp>
        <p:nvSpPr>
          <p:cNvPr id="7" name="text-320">
            <a:extLst>
              <a:ext uri="{FF2B5EF4-FFF2-40B4-BE49-F238E27FC236}">
                <ns2:creationId id="{B40658D3-055D-47EF-A665-A5B58E75622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21">
            <a:extLst>
              <a:ext uri="{FF2B5EF4-FFF2-40B4-BE49-F238E27FC236}">
                <ns2:creationId id="{F4AB8978-B302-4F23-A8DA-1192E0C8B2B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Foundation model</a:t>
            </a:r>
          </a:p>
        </p:txBody>
      </p:sp>
      <p:sp>
        <p:nvSpPr>
          <p:cNvPr id="4" name="text-323">
            <a:extLst>
              <a:ext uri="{FF2B5EF4-FFF2-40B4-BE49-F238E27FC236}">
                <ns2:creationId id="{9F69BC6A-9057-4888-B6B3-6203DFEF8809}"/>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 foundation model is trained on broad data and can be adapted to many downstream tasks, through prompting or further training.</a:t>
            </a:r>
          </a:p>
        </p:txBody>
      </p:sp>
      <p:sp>
        <p:nvSpPr>
          <p:cNvPr id="5" name="text-324">
            <a:extLst>
              <a:ext uri="{FF2B5EF4-FFF2-40B4-BE49-F238E27FC236}">
                <ns2:creationId id="{D4C99324-D0EE-4ED0-ADC2-AC59AB771000}"/>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325">
            <a:extLst>
              <a:ext uri="{FF2B5EF4-FFF2-40B4-BE49-F238E27FC236}">
                <ns2:creationId id="{4D4004CD-8E37-4CD9-AFE7-B976430252B5}"/>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Use one pretrained language model to summarise the client instruction and draft a proposed amendment.</a:t>
            </a:r>
          </a:p>
        </p:txBody>
      </p:sp>
      <p:sp>
        <p:nvSpPr>
          <p:cNvPr id="3" name="text-322">
            <a:extLst>
              <a:ext uri="{FF2B5EF4-FFF2-40B4-BE49-F238E27FC236}">
                <ns2:creationId id="{9A1C22D4-69D4-4811-A5A8-88AB2F55E32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23   OPTIONAL EXPLORATION</a:t>
            </a:r>
          </a:p>
        </p:txBody>
      </p:sp>
      <p:pic xmlns:r="http://schemas.openxmlformats.org/officeDocument/2006/relationships">
        <p:nvPicPr>
          <p:cNvPr id="8" name="illustration-books" descr="Illustration: a stack of books with a book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164965736"/>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Model families and architectures">
    <p:bg>
      <p:bgPr>
        <a:solidFill>
          <a:srgbClr val="FFFFFF"/>
        </a:solidFill>
      </p:bgPr>
    </p:bg>
    <p:spTree>
      <p:nvGrpSpPr>
        <p:cNvPr id="1" name=""/>
        <p:cNvGrpSpPr/>
        <p:nvPr/>
      </p:nvGrpSpPr>
      <p:grpSpPr>
        <a:xfrm/>
      </p:grpSpPr>
      <p:sp>
        <p:nvSpPr>
          <p:cNvPr id="10" name="text-326">
            <a:extLst>
              <a:ext uri="{FF2B5EF4-FFF2-40B4-BE49-F238E27FC236}">
                <ns2:creationId id="{64685D33-E555-4F10-AD7B-1EEB18AF381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27">
            <a:extLst>
              <a:ext uri="{FF2B5EF4-FFF2-40B4-BE49-F238E27FC236}">
                <ns2:creationId id="{79A26948-E6A5-4679-8D25-B90B1CBA50D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Model families and architectures</a:t>
            </a:r>
          </a:p>
        </p:txBody>
      </p:sp>
      <p:sp>
        <p:nvSpPr>
          <p:cNvPr id="4" name="text-329">
            <a:extLst>
              <a:ext uri="{FF2B5EF4-FFF2-40B4-BE49-F238E27FC236}">
                <ns2:creationId id="{8CCA925A-F329-420B-83F3-1B2BAB4DBE9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30">
            <a:extLst>
              <a:ext uri="{FF2B5EF4-FFF2-40B4-BE49-F238E27FC236}">
                <ns2:creationId id="{C62A34D6-FBD6-4E4D-BF35-2C0043B6641B}"/>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Transformer models are central to current language systems.</a:t>
            </a:r>
          </a:p>
        </p:txBody>
      </p:sp>
      <p:sp>
        <p:nvSpPr>
          <p:cNvPr id="6" name="text-331">
            <a:extLst>
              <a:ext uri="{FF2B5EF4-FFF2-40B4-BE49-F238E27FC236}">
                <ns2:creationId id="{8EC067D0-5548-4CC4-B5A2-208D469AE4DD}"/>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32">
            <a:extLst>
              <a:ext uri="{FF2B5EF4-FFF2-40B4-BE49-F238E27FC236}">
                <ns2:creationId id="{3F590886-DADA-413B-A96B-C9C1067571D3}"/>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Convolutional networks often process spatial patterns such as images.</a:t>
            </a:r>
          </a:p>
        </p:txBody>
      </p:sp>
      <p:sp>
        <p:nvSpPr>
          <p:cNvPr id="8" name="text-333">
            <a:extLst>
              <a:ext uri="{FF2B5EF4-FFF2-40B4-BE49-F238E27FC236}">
                <ns2:creationId id="{0284E22C-8BE2-407C-B761-CC291EDDB9D6}"/>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34">
            <a:extLst>
              <a:ext uri="{FF2B5EF4-FFF2-40B4-BE49-F238E27FC236}">
                <ns2:creationId id="{DACDFC02-03F3-4322-84CD-EC92654CD62F}"/>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Recurrent architectures process sequences through a recurrent state.</a:t>
            </a:r>
          </a:p>
        </p:txBody>
      </p:sp>
      <p:sp>
        <p:nvSpPr>
          <p:cNvPr id="3" name="text-328">
            <a:extLst>
              <a:ext uri="{FF2B5EF4-FFF2-40B4-BE49-F238E27FC236}">
                <ns2:creationId id="{326F9F72-5DE7-4983-92F2-D0BDDAB3FE6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24   OPTIONAL EXPLORATION</a:t>
            </a:r>
          </a:p>
        </p:txBody>
      </p:sp>
      <p:pic xmlns:r="http://schemas.openxmlformats.org/officeDocument/2006/relationships">
        <p:nvPicPr>
          <p:cNvPr id="11" name="illustration-tree" descr="Illustration: a decision tree with three branche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36785595"/>
      </p:ext>
    </p:extLst>
  </p:cSld>
  <p:transition spd="med" advClick="1">
    <p:fade/>
  </p:transition>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name="A model change is an operational change">
    <p:bg>
      <p:bgPr>
        <a:solidFill>
          <a:srgbClr val="FFFFFF"/>
        </a:solidFill>
      </p:bgPr>
    </p:bg>
    <p:spTree>
      <p:nvGrpSpPr>
        <p:cNvPr id="1" name=""/>
        <p:cNvGrpSpPr/>
        <p:nvPr/>
      </p:nvGrpSpPr>
      <p:grpSpPr>
        <a:xfrm/>
      </p:grpSpPr>
      <p:sp>
        <p:nvSpPr>
          <p:cNvPr id="8" name="text-335">
            <a:extLst>
              <a:ext uri="{FF2B5EF4-FFF2-40B4-BE49-F238E27FC236}">
                <ns2:creationId id="{ADB6A5B1-1E2F-496D-B68A-C6087737866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36">
            <a:extLst>
              <a:ext uri="{FF2B5EF4-FFF2-40B4-BE49-F238E27FC236}">
                <ns2:creationId id="{981B0603-7E3E-4AB0-9D87-0DA813C588A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model change is an operational change</a:t>
            </a:r>
          </a:p>
        </p:txBody>
      </p:sp>
      <p:sp>
        <p:nvSpPr>
          <p:cNvPr id="4" name="text-338">
            <a:extLst>
              <a:ext uri="{FF2B5EF4-FFF2-40B4-BE49-F238E27FC236}">
                <ns2:creationId id="{D2DE34B1-DE74-4116-92F0-3262B6E74CA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39">
            <a:extLst>
              <a:ext uri="{FF2B5EF4-FFF2-40B4-BE49-F238E27FC236}">
                <ns2:creationId id="{ECBB7DEE-98B0-45B3-9B6C-29EC1EB24BB4}"/>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new model can alter extraction, wording and tool choices.</a:t>
            </a:r>
          </a:p>
        </p:txBody>
      </p:sp>
      <p:sp>
        <p:nvSpPr>
          <p:cNvPr id="6" name="text-340">
            <a:extLst>
              <a:ext uri="{FF2B5EF4-FFF2-40B4-BE49-F238E27FC236}">
                <ns2:creationId id="{6A9BB21F-8B58-45EE-B68E-9FEB39A79583}"/>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41">
            <a:extLst>
              <a:ext uri="{FF2B5EF4-FFF2-40B4-BE49-F238E27FC236}">
                <ns2:creationId id="{A0738577-03A2-4B2F-ADA2-8CF9BA02495F}"/>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firm should repeat relevant tests after a material change.</a:t>
            </a:r>
          </a:p>
        </p:txBody>
      </p:sp>
      <p:sp>
        <p:nvSpPr>
          <p:cNvPr id="3" name="text-337">
            <a:extLst>
              <a:ext uri="{FF2B5EF4-FFF2-40B4-BE49-F238E27FC236}">
                <ns2:creationId id="{33FEDF51-14CB-49EF-84B0-D5EC130AD4C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25   OPTIONAL EXPLORATION</a:t>
            </a:r>
          </a:p>
        </p:txBody>
      </p:sp>
      <p:pic xmlns:r="http://schemas.openxmlformats.org/officeDocument/2006/relationships">
        <p:nvPicPr>
          <p:cNvPr id="9" name="illustration-cycle" descr="Illustration: a four-step loop that repeat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299187527"/>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2026-10-26T10:01:50.6990000Z</dcterms:created>
  <dcterms:modified xsi:type="dcterms:W3CDTF">2026-10-26T10:01:50.6990000Z</dcterms:modified>
</coreProperties>
</file>