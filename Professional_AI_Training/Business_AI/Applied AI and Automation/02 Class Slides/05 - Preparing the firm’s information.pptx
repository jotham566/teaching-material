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7c05df2bdab44db" Type="http://schemas.openxmlformats.org/package/2006/relationships/metadata/core-properties" Target="docProps/core.xml"/><Relationship Id="R5042f74f02d541bd" Type="http://schemas.openxmlformats.org/officeDocument/2006/relationships/extended-properties" Target="docProps/app.xml"/><Relationship Id="R76cd867b62e44a72"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e54a855b5e574837"/>
  </p:sldMasterIdLst>
  <p:notesMasterIdLst>
    <p:notesMasterId r:id="R1001ef336cf8490e"/>
  </p:notesMasterIdLst>
  <p:sldIdLst>
    <p:sldId id="256" r:id="R8568cd4efbf74508"/>
    <p:sldId id="257" r:id="R7fda5e93df044bc3"/>
    <p:sldId id="258" r:id="Rceb5f8a104a040ef"/>
    <p:sldId id="259" r:id="R5669698ed33848e3"/>
    <p:sldId id="260" r:id="Rf6a4437c48cc4980"/>
    <p:sldId id="261" r:id="Rbd5f330e57884d03"/>
    <p:sldId id="262" r:id="R7eb4c57986714f0b"/>
    <p:sldId id="263" r:id="Recfca78726d44721"/>
    <p:sldId id="264" r:id="R04ff6389a9d7489a"/>
    <p:sldId id="265" r:id="R3c48ee2a6d7f4375"/>
    <p:sldId id="266" r:id="Rf349f4214c0c4e4c"/>
    <p:sldId id="267" r:id="Rf81a3471ec3940c8"/>
    <p:sldId id="268" r:id="Ra6fc402097f54dfb"/>
    <p:sldId id="269" r:id="Re8f194281aaa4c80"/>
    <p:sldId id="270" r:id="R084c27be99264c31"/>
    <p:sldId id="271" r:id="Ra33334a4c490427e"/>
    <p:sldId id="272" r:id="Rdba9cc7f89ae4d8e"/>
    <p:sldId id="273" r:id="R8c20d632a14e49b9"/>
    <p:sldId id="274" r:id="R24c45a75a6b34cdf"/>
    <p:sldId id="275" r:id="R1ecccb8f78ca4318"/>
    <p:sldId id="276" r:id="R9be66ca26ca442bd"/>
    <p:sldId id="277" r:id="R244004e49f8a4ab3"/>
    <p:sldId id="278" r:id="Rcdce0a06365345bd"/>
    <p:sldId id="279" r:id="R1ffc68b1972c4e11"/>
  </p:sldIdLst>
  <p:sldSz cx="12192000" cy="6858000"/>
  <p:notesSz cx="6858000" cy="9144000"/>
  <p:custShowLst>
    <p:custShow name="Core teaching" id="1">
      <p:sldLst>
        <p:sld r:id="R8568cd4efbf74508"/>
        <p:sld r:id="R7fda5e93df044bc3"/>
        <p:sld r:id="Rceb5f8a104a040ef"/>
        <p:sld r:id="R5669698ed33848e3"/>
        <p:sld r:id="Rf6a4437c48cc4980"/>
        <p:sld r:id="Rbd5f330e57884d03"/>
        <p:sld r:id="R7eb4c57986714f0b"/>
        <p:sld r:id="Recfca78726d44721"/>
        <p:sld r:id="R04ff6389a9d7489a"/>
        <p:sld r:id="R3c48ee2a6d7f4375"/>
        <p:sld r:id="Rf349f4214c0c4e4c"/>
        <p:sld r:id="Rf81a3471ec3940c8"/>
        <p:sld r:id="Ra6fc402097f54dfb"/>
        <p:sld r:id="Re8f194281aaa4c80"/>
        <p:sld r:id="R084c27be99264c31"/>
        <p:sld r:id="Ra33334a4c490427e"/>
        <p:sld r:id="Rdba9cc7f89ae4d8e"/>
        <p:sld r:id="R8c20d632a14e49b9"/>
        <p:sld r:id="R24c45a75a6b34cdf"/>
        <p:sld r:id="R1ecccb8f78ca4318"/>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ff6389a9d7489a" Type="http://schemas.openxmlformats.org/officeDocument/2006/relationships/slide" Target="slides/slide9.xml"/><Relationship Id="R084c27be99264c31" Type="http://schemas.openxmlformats.org/officeDocument/2006/relationships/slide" Target="slides/slide15.xml"/><Relationship Id="R1001ef336cf8490e" Type="http://schemas.openxmlformats.org/officeDocument/2006/relationships/notesMaster" Target="notesMasters/notesMaster1.xml"/><Relationship Id="R136fcc8a8f624030" Type="http://schemas.openxmlformats.org/officeDocument/2006/relationships/presProps" Target="presProps.xml"/><Relationship Id="R1ecccb8f78ca4318" Type="http://schemas.openxmlformats.org/officeDocument/2006/relationships/slide" Target="slides/slide20.xml"/><Relationship Id="R1ffc68b1972c4e11" Type="http://schemas.openxmlformats.org/officeDocument/2006/relationships/slide" Target="slides/slide24.xml"/><Relationship Id="R244004e49f8a4ab3" Type="http://schemas.openxmlformats.org/officeDocument/2006/relationships/slide" Target="slides/slide22.xml"/><Relationship Id="R24c45a75a6b34cdf" Type="http://schemas.openxmlformats.org/officeDocument/2006/relationships/slide" Target="slides/slide19.xml"/><Relationship Id="R3c48ee2a6d7f4375" Type="http://schemas.openxmlformats.org/officeDocument/2006/relationships/slide" Target="slides/slide10.xml"/><Relationship Id="R5669698ed33848e3" Type="http://schemas.openxmlformats.org/officeDocument/2006/relationships/slide" Target="slides/slide4.xml"/><Relationship Id="R7eb4c57986714f0b" Type="http://schemas.openxmlformats.org/officeDocument/2006/relationships/slide" Target="slides/slide7.xml"/><Relationship Id="R7f64f172f5c8435d" Type="http://schemas.openxmlformats.org/officeDocument/2006/relationships/tableStyles" Target="tableStyles.xml"/><Relationship Id="R7fda5e93df044bc3" Type="http://schemas.openxmlformats.org/officeDocument/2006/relationships/slide" Target="slides/slide2.xml"/><Relationship Id="R8568cd4efbf74508" Type="http://schemas.openxmlformats.org/officeDocument/2006/relationships/slide" Target="slides/slide1.xml"/><Relationship Id="R8c20d632a14e49b9" Type="http://schemas.openxmlformats.org/officeDocument/2006/relationships/slide" Target="slides/slide18.xml"/><Relationship Id="R949b38c2cef949c9" Type="http://schemas.openxmlformats.org/officeDocument/2006/relationships/theme" Target="theme/theme1.xml"/><Relationship Id="R9be66ca26ca442bd" Type="http://schemas.openxmlformats.org/officeDocument/2006/relationships/slide" Target="slides/slide21.xml"/><Relationship Id="Ra33334a4c490427e" Type="http://schemas.openxmlformats.org/officeDocument/2006/relationships/slide" Target="slides/slide16.xml"/><Relationship Id="Ra6fc402097f54dfb" Type="http://schemas.openxmlformats.org/officeDocument/2006/relationships/slide" Target="slides/slide13.xml"/><Relationship Id="Rbd5f330e57884d03" Type="http://schemas.openxmlformats.org/officeDocument/2006/relationships/slide" Target="slides/slide6.xml"/><Relationship Id="Rcdce0a06365345bd" Type="http://schemas.openxmlformats.org/officeDocument/2006/relationships/slide" Target="slides/slide23.xml"/><Relationship Id="Rceb5f8a104a040ef" Type="http://schemas.openxmlformats.org/officeDocument/2006/relationships/slide" Target="slides/slide3.xml"/><Relationship Id="Rdba9cc7f89ae4d8e" Type="http://schemas.openxmlformats.org/officeDocument/2006/relationships/slide" Target="slides/slide17.xml"/><Relationship Id="Re54a855b5e574837" Type="http://schemas.openxmlformats.org/officeDocument/2006/relationships/slideMaster" Target="slideMasters/slideMaster1.xml"/><Relationship Id="Re8f194281aaa4c80" Type="http://schemas.openxmlformats.org/officeDocument/2006/relationships/slide" Target="slides/slide14.xml"/><Relationship Id="Recfca78726d44721" Type="http://schemas.openxmlformats.org/officeDocument/2006/relationships/slide" Target="slides/slide8.xml"/><Relationship Id="Rf349f4214c0c4e4c" Type="http://schemas.openxmlformats.org/officeDocument/2006/relationships/slide" Target="slides/slide11.xml"/><Relationship Id="Rf6a4437c48cc4980" Type="http://schemas.openxmlformats.org/officeDocument/2006/relationships/slide" Target="slides/slide5.xml"/><Relationship Id="Rf81a3471ec3940c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bb2df71db7444eb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77743be3c724999" Type="http://schemas.openxmlformats.org/officeDocument/2006/relationships/slide" Target="../slides/slide1.xml"/><Relationship Id="R3997d3ca93e84753"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b0e5fc83bad3454f" Type="http://schemas.openxmlformats.org/officeDocument/2006/relationships/slide" Target="../slides/slide2.xml"/><Relationship Id="Rb6d913ad86714e8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9b5b06bb78b14025" Type="http://schemas.openxmlformats.org/officeDocument/2006/relationships/notesMaster" Target="../notesMasters/notesMaster1.xml"/><Relationship Id="Rb7f3bc1eb9a94334"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9c0aa2b0ff6474d" Type="http://schemas.openxmlformats.org/officeDocument/2006/relationships/slide" Target="../slides/slide4.xml"/><Relationship Id="R61f9a4d773fe43b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6c314faf74554b78" Type="http://schemas.openxmlformats.org/officeDocument/2006/relationships/notesMaster" Target="../notesMasters/notesMaster1.xml"/><Relationship Id="Rdb500c5028b4476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828f101134774740" Type="http://schemas.openxmlformats.org/officeDocument/2006/relationships/notesMaster" Target="../notesMasters/notesMaster1.xml"/><Relationship Id="Rad42f32dc4f4483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805e8c9ec0794554" Type="http://schemas.openxmlformats.org/officeDocument/2006/relationships/notesMaster" Target="../notesMasters/notesMaster1.xml"/><Relationship Id="R8ae722895628423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74076c2fe2a4590" Type="http://schemas.openxmlformats.org/officeDocument/2006/relationships/slide" Target="../slides/slide8.xml"/><Relationship Id="R083dcf1f576c4bd5"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0d0853159e94934" Type="http://schemas.openxmlformats.org/officeDocument/2006/relationships/notesMaster" Target="../notesMasters/notesMaster1.xml"/><Relationship Id="R39d15879361449e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234fde95e9246c6" Type="http://schemas.openxmlformats.org/officeDocument/2006/relationships/slide" Target="../slides/slide10.xml"/><Relationship Id="Rbed893c0f6994596"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f169dee4a9db4b66" Type="http://schemas.openxmlformats.org/officeDocument/2006/relationships/notesMaster" Target="../notesMasters/notesMaster1.xml"/><Relationship Id="Rf56a5d3942f0471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bb6f12399e4847ff" Type="http://schemas.openxmlformats.org/officeDocument/2006/relationships/slide" Target="../slides/slide12.xml"/><Relationship Id="Rd5092541536a451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a39bcdda3c549d7" Type="http://schemas.openxmlformats.org/officeDocument/2006/relationships/notesMaster" Target="../notesMasters/notesMaster1.xml"/><Relationship Id="Reb77661e47a04cfb"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7c18bd1922e94a00" Type="http://schemas.openxmlformats.org/officeDocument/2006/relationships/notesMaster" Target="../notesMasters/notesMaster1.xml"/><Relationship Id="Rdb3feec75d264ea8"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d3a46be100c842e0" Type="http://schemas.openxmlformats.org/officeDocument/2006/relationships/notesMaster" Target="../notesMasters/notesMaster1.xml"/><Relationship Id="Rf58efaa6b9b448ba"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724c7ec5e514da2" Type="http://schemas.openxmlformats.org/officeDocument/2006/relationships/slide" Target="../slides/slide16.xml"/><Relationship Id="R6142314706464f0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e17eb29e3d74f0b" Type="http://schemas.openxmlformats.org/officeDocument/2006/relationships/notesMaster" Target="../notesMasters/notesMaster1.xml"/><Relationship Id="R9c0c25667a954e53"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78ef7bdd8acf424d" Type="http://schemas.openxmlformats.org/officeDocument/2006/relationships/slide" Target="../slides/slide18.xml"/><Relationship Id="R847638813d06471a"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9bcb2e53373e4773" Type="http://schemas.openxmlformats.org/officeDocument/2006/relationships/notesMaster" Target="../notesMasters/notesMaster1.xml"/><Relationship Id="Rb0bf353e294d4f89"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b51121dcbb394083" Type="http://schemas.openxmlformats.org/officeDocument/2006/relationships/slide" Target="../slides/slide20.xml"/><Relationship Id="Rd55b2347df81476b"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1d3d07799a84a34" Type="http://schemas.openxmlformats.org/officeDocument/2006/relationships/slide" Target="../slides/slide21.xml"/><Relationship Id="R54c71088dfab4f58"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70e5a7137adb499e" Type="http://schemas.openxmlformats.org/officeDocument/2006/relationships/notesMaster" Target="../notesMasters/notesMaster1.xml"/><Relationship Id="Rf6e9b42038f64436"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61a7b0166b744293" Type="http://schemas.openxmlformats.org/officeDocument/2006/relationships/slide" Target="../slides/slide23.xml"/><Relationship Id="Ra1be16e5fe0440b4"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97151680b85a4770" Type="http://schemas.openxmlformats.org/officeDocument/2006/relationships/notesMaster" Target="../notesMasters/notesMaster1.xml"/><Relationship Id="Rec33a68c44ed4d01" Type="http://schemas.openxmlformats.org/officeDocument/2006/relationships/slide" Target="../slides/slide2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5. Today's question is a practical one for any legal or tax practice. What does the firm actually hold, and what has to happen to it before an AI tool can use it reliably?</a:t>
            </a:r>
          </a:p>
          <a:p xmlns:a="http://schemas.openxmlformats.org/drawingml/2006/main"/>
          <a:p xmlns:a="http://schemas.openxmlformats.org/drawingml/2006/main">
            <a:r>
              <a:t>A tool can only be as good as the material we put in front of it, and in a firm that material sits in boxes, folders, email threads and systems that were never built with AI in mind.</a:t>
            </a:r>
          </a:p>
          <a:p xmlns:a="http://schemas.openxmlformats.org/drawingml/2006/main"/>
          <a:p xmlns:a="http://schemas.openxmlformats.org/drawingml/2006/main">
            <a:r>
              <a:t>By the end of today we'll have two things. One is an inventory of the firm's sources. The other is one extraction that we've checked against the original page, with its provenance recorded, which simply means we can say exactly where it came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explain anything, I'd like to start with a question that goes back to Session 4. There we wrote an instruction that asks the model for exact quotes. Now suppose the scan feeding that instruction has lost a word. What happens? Think it through out loud if it helps.</a:t>
            </a:r>
          </a:p>
          <a:p xmlns:a="http://schemas.openxmlformats.org/drawingml/2006/main"/>
          <a:p xmlns:a="http://schemas.openxmlformats.org/drawingml/2006/main">
            <a:r>
              <a:t>Here's my answer. A good instruction can't recover a word that was never captured. Careful wording can't fill a gap in the input, so the source itself has to be inspected. And if your first thought is that the model would just guess, here's a follow-up. Would you be able to tell from the answer that it guessed?</a:t>
            </a:r>
          </a:p>
          <a:p xmlns:a="http://schemas.openxmlformats.org/drawingml/2006/main"/>
          <a:p xmlns:a="http://schemas.openxmlformats.org/drawingml/2006/main">
            <a:r>
              <a:t>That's today's question, and the result we're building is an inventory and an inspected extraction with provenance. We begin with the firm's actual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look at where the firm's information lives. There are three kinds of source here. Paper, meaning files and scans. Digital files, such as agreements and email. And systems, such as a document management system and accounting software.</a:t>
            </a:r>
          </a:p>
          <a:p xmlns:a="http://schemas.openxmlformats.org/drawingml/2006/main"/>
          <a:p xmlns:a="http://schemas.openxmlformats.org/drawingml/2006/main">
            <a:r>
              <a:t>These are categories to walk through. They aren't steps in a sequence. We list every source first, and only afterwards decide how to prepare each one.</a:t>
            </a:r>
          </a:p>
          <a:p xmlns:a="http://schemas.openxmlformats.org/drawingml/2006/main"/>
          <a:p xmlns:a="http://schemas.openxmlformats.org/drawingml/2006/main">
            <a:r>
              <a:t>I won't assume which systems your firm uses. Describe your own landscape in your own words, and I'll write down the systems and the pain points as you name them, without client names.</a:t>
            </a:r>
          </a:p>
          <a:p xmlns:a="http://schemas.openxmlformats.org/drawingml/2006/main"/>
          <a:p xmlns:a="http://schemas.openxmlformats.org/drawingml/2006/main">
            <a:r>
              <a:t>Here's my question. Where does a piece of advice the firm has already given become hard to find today, and where does it sit when that happens? Think about it for a moment.</a:t>
            </a:r>
          </a:p>
          <a:p xmlns:a="http://schemas.openxmlformats.org/drawingml/2006/main"/>
          <a:p xmlns:a="http://schemas.openxmlformats.org/drawingml/2006/main">
            <a:r>
              <a:t>A box of signed originals, a shared drive folder or an email thread would each fit, as long as you tell me why it's hard to find. What you say sets our inventory priority for the rest of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Any source can be described in four separate ways. Location or system is where it lives, such as the records room, a drive or a database. Modality is the kind of content, whether text, a document image or audio. Structure is how it's organised, as a table, as fields, or as narrative. And format is the file type, such as DOCX, PDF, CSV, JSON or XML.</a:t>
            </a:r>
          </a:p>
          <a:p xmlns:a="http://schemas.openxmlformats.org/drawingml/2006/main"/>
          <a:p xmlns:a="http://schemas.openxmlformats.org/drawingml/2006/main">
            <a:r>
              <a:t>I keep these four apart on purpose. A spreadsheet in the drive has one location and one format, yet it can hold both a structured table and free notes.</a:t>
            </a:r>
          </a:p>
          <a:p xmlns:a="http://schemas.openxmlformats.org/drawingml/2006/main"/>
          <a:p xmlns:a="http://schemas.openxmlformats.org/drawingml/2006/main">
            <a:r>
              <a:t>A question for you. Is every PDF made of text that a computer can search? See what you come up with.</a:t>
            </a:r>
          </a:p>
          <a:p xmlns:a="http://schemas.openxmlformats.org/drawingml/2006/main"/>
          <a:p xmlns:a="http://schemas.openxmlformats.org/drawingml/2006/main">
            <a:r>
              <a:t>The answer is no. A PDF can hold selectable text, a picture of a page, or both. If that feels slippery, picture a scanned signed agreement saved as a PDF. What does the computer actually hold? A picture. That's what we look at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see an authored page, a synthetic scan of it, and the saved OCR output. OCR stands for optical character recognition. It's software that reads an image of text and returns characters.</a:t>
            </a:r>
          </a:p>
          <a:p xmlns:a="http://schemas.openxmlformats.org/drawingml/2006/main"/>
          <a:p xmlns:a="http://schemas.openxmlformats.org/drawingml/2006/main">
            <a:r>
              <a:t>Searchable text is only useful if the rule, the negation, the exception and the condition survive the trip. So we compare the observed OCR with the original page.</a:t>
            </a:r>
          </a:p>
          <a:p xmlns:a="http://schemas.openxmlformats.org/drawingml/2006/main"/>
          <a:p xmlns:a="http://schemas.openxmlformats.org/drawingml/2006/main">
            <a:r>
              <a:t>The run I have open used Tesseract 4.1.1 on the page for CONTRACT-01 version 2, Section 12.6 as the Key Terms replace it, which we call KT-1. The clean image and the synthetic scan both read correctly. The moderately degraded scan came out as, That consent not sequel fF 2 reorganization. The condition was lost. Keep in mind that this is one run on one page.</a:t>
            </a:r>
          </a:p>
          <a:p xmlns:a="http://schemas.openxmlformats.org/drawingml/2006/main"/>
          <a:p xmlns:a="http://schemas.openxmlformats.org/drawingml/2006/main">
            <a:r>
              <a:t>Now it's your turn. If I search this text for the word consent and get a hit, what have I proved? Think about it for a moment.</a:t>
            </a:r>
          </a:p>
          <a:p xmlns:a="http://schemas.openxmlformats.org/drawingml/2006/main"/>
          <a:p xmlns:a="http://schemas.openxmlformats.org/drawingml/2006/main">
            <a:r>
              <a:t>Only that the word is present. It doesn't show that the sentence around it, with its exception, was captured correctly. Go ahead and find the damaged words for 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source, the firm needs four facts on record. Who is the matter and information owner. Which version is authoritative, and from what effective date. Who may read it, and for what use. And who is responsible for updating it, keeping it and disposing of it.</a:t>
            </a:r>
          </a:p>
          <a:p xmlns:a="http://schemas.openxmlformats.org/drawingml/2006/main"/>
          <a:p xmlns:a="http://schemas.openxmlformats.org/drawingml/2006/main">
            <a:r>
              <a:t>Access belongs in the design from the start. If we add it at the end, copied content may already be in the wrong hands.</a:t>
            </a:r>
          </a:p>
          <a:p xmlns:a="http://schemas.openxmlformats.org/drawingml/2006/main"/>
          <a:p xmlns:a="http://schemas.openxmlformats.org/drawingml/2006/main">
            <a:r>
              <a:t>Let me ask you something. In our matter, who should decide which agreement is the authoritative one for Victoria Services Ltd, and why that person? Let's hear your answer first.</a:t>
            </a:r>
          </a:p>
          <a:p xmlns:a="http://schemas.openxmlformats.org/drawingml/2006/main"/>
          <a:p xmlns:a="http://schemas.openxmlformats.org/drawingml/2006/main">
            <a:r>
              <a:t>I'd say it's the matter owner, or a qualified person the owner designates. A tool and a filename can't settle authority. And if you named whoever happens to hold the file, consider this. Would that person know whether a later version was 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fill those four facts in for four sources from our matter. The table has four rows.</a:t>
            </a:r>
          </a:p>
          <a:p xmlns:a="http://schemas.openxmlformats.org/drawingml/2006/main"/>
          <a:p xmlns:a="http://schemas.openxmlformats.org/drawingml/2006/main">
            <a:r>
              <a:t>CONTRACT-01 version 2 is the executed agreement, so we extract it and verify its clauses. Draft version 1 is superseded context, so we label it and keep it out of default answers. The September ledger is financial evidence, so we check its fields, period and units. And a public judgment is a candidate legal authority, so we check the court, the date and the treatment.</a:t>
            </a:r>
          </a:p>
          <a:p xmlns:a="http://schemas.openxmlformats.org/drawingml/2006/main"/>
          <a:p xmlns:a="http://schemas.openxmlformats.org/drawingml/2006/main">
            <a:r>
              <a:t>The role decides how a search tool should treat each source. The same filename can sit in two folders and hide two versions.</a:t>
            </a:r>
          </a:p>
          <a:p xmlns:a="http://schemas.openxmlformats.org/drawingml/2006/main"/>
          <a:p xmlns:a="http://schemas.openxmlformats.org/drawingml/2006/main">
            <a:r>
              <a:t>Let me put a question to you. Would you delete Draft version 1 as soon as version 2 was signed? Say it out loud if it helps.</a:t>
            </a:r>
          </a:p>
          <a:p xmlns:a="http://schemas.openxmlformats.org/drawingml/2006/main"/>
          <a:p xmlns:a="http://schemas.openxmlformats.org/drawingml/2006/main">
            <a:r>
              <a:t>My answer is to follow the retention policy. Keep the draft's history, while making sure it doesn't answer current questions. If you'd delete it, picture a colleague asking how the Section 12.6 wording changed. What would you show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follow a source through the steps that prepare it. There are four. This pipeline only prepares content. Searching it at question time is Session 6.</a:t>
            </a:r>
          </a:p>
          <a:p xmlns:a="http://schemas.openxmlformats.org/drawingml/2006/main"/>
          <a:p xmlns:a="http://schemas.openxmlformats.org/drawingml/2006/main">
            <a:r>
              <a:t>First comes capture. We scan the source or retrieve it. The evidence to keep at this step is the image itself.</a:t>
            </a:r>
          </a:p>
          <a:p xmlns:a="http://schemas.openxmlformats.org/drawingml/2006/main"/>
          <a:p xmlns:a="http://schemas.openxmlformats.org/drawingml/2006/main">
            <a:r>
              <a:t>Then extraction. We pull out the text and the layout. What should survive this step is the text, in the right order.</a:t>
            </a:r>
          </a:p>
          <a:p xmlns:a="http://schemas.openxmlformats.org/drawingml/2006/main"/>
          <a:p xmlns:a="http://schemas.openxmlformats.org/drawingml/2006/main">
            <a:r>
              <a:t>Third is the check. We compare the original against the extract, and the result of that check is itself something we keep.</a:t>
            </a:r>
          </a:p>
          <a:p xmlns:a="http://schemas.openxmlformats.org/drawingml/2006/main"/>
          <a:p xmlns:a="http://schemas.openxmlformats.org/drawingml/2006/main">
            <a:r>
              <a:t>Last is representation, where we add structure and metadata, including the identifiers.</a:t>
            </a:r>
          </a:p>
          <a:p xmlns:a="http://schemas.openxmlformats.org/drawingml/2006/main"/>
          <a:p xmlns:a="http://schemas.openxmlformats.org/drawingml/2006/main">
            <a:r>
              <a:t>So which of these four steps could change the legal meaning of a clause, and how? Have a think.</a:t>
            </a:r>
          </a:p>
          <a:p xmlns:a="http://schemas.openxmlformats.org/drawingml/2006/main"/>
          <a:p xmlns:a="http://schemas.openxmlformats.org/drawingml/2006/main">
            <a:r>
              <a:t>Any of the first three can. A poor capture can drop a line, extraction can misread a word, and a missed check lets either one through. Representation can also detach a quote from its source. If you picked just one step, think about what happens when the earlier steps went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different things sit under the loose label of OCR. Optical character recognition turns images of text into machine-readable text. Layout analysis finds the parts of a document, such as headings, tables and paragraphs, and how they relate. Structured extraction takes chosen content and places it in defined fields, such as a party name or a date.</a:t>
            </a:r>
          </a:p>
          <a:p xmlns:a="http://schemas.openxmlformats.org/drawingml/2006/main"/>
          <a:p xmlns:a="http://schemas.openxmlformats.org/drawingml/2006/main">
            <a:r>
              <a:t>A document tool often combines all three, so a product's name for itself tells us little about what it covers.</a:t>
            </a:r>
          </a:p>
          <a:p xmlns:a="http://schemas.openxmlformats.org/drawingml/2006/main"/>
          <a:p xmlns:a="http://schemas.openxmlformats.org/drawingml/2006/main">
            <a:r>
              <a:t>Here's something to chew on. If a vendor says its product does OCR, does that tell you the clause numbers and table cells will come out in the right places? Take a moment with that.</a:t>
            </a:r>
          </a:p>
          <a:p xmlns:a="http://schemas.openxmlformats.org/drawingml/2006/main"/>
          <a:p xmlns:a="http://schemas.openxmlformats.org/drawingml/2006/main">
            <a:r>
              <a:t>It doesn't. OCR recognises characters. Layout and field extraction need their own checks. If that's unclear, look at the three lines again and ask yourself which one deals with a table cell and its 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comes from Microsoft's Document Intelligence documentation. It's a reference example of a product, and it isn't a run on our files. It shows text blocks, sections and a table picked out on a page.</a:t>
            </a:r>
          </a:p>
          <a:p xmlns:a="http://schemas.openxmlformats.org/drawingml/2006/main"/>
          <a:p xmlns:a="http://schemas.openxmlformats.org/drawingml/2006/main">
            <a:r>
              <a:t>The left caption says OCR recovers readable text, meaning characters and words. The right says headings, tables and reading order keep the context. Think of a table of fees. A number such as 5,000,000 has to stay tied to its row, its column, its unit and its period, or it means nothing.</a:t>
            </a:r>
          </a:p>
          <a:p xmlns:a="http://schemas.openxmlformats.org/drawingml/2006/main"/>
          <a:p xmlns:a="http://schemas.openxmlformats.org/drawingml/2006/main">
            <a:r>
              <a:t>So in a ledger table, why does reading the characters correctly still leave a number unusable? Mull it over.</a:t>
            </a:r>
          </a:p>
          <a:p xmlns:a="http://schemas.openxmlformats.org/drawingml/2006/main"/>
          <a:p xmlns:a="http://schemas.openxmlformats.org/drawingml/2006/main">
            <a:r>
              <a:t>Because the number must stay with its row, its column, its currency and its period. If you feel accurate OCR is enough, picture every figure shifted up one row. What would you conclude then?</a:t>
            </a:r>
          </a:p>
          <a:p xmlns:a="http://schemas.openxmlformats.org/drawingml/2006/main"/>
          <a:p xmlns:a="http://schemas.openxmlformats.org/drawingml/2006/main">
            <a:r>
              <a:t>Now we go back to our own agreement, where a damaged extract changes a legal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two texts side by side. On the left is the authoritative wording, from the Key Terms replacement of Section 12.6. It says that consent is not required for a reorganization within a wholly owned group, if the Provider remains responsible for its obligations under the Agreement. On the right is a damaged extract. It says that consent is required for a reorganization within a wholly owned group.</a:t>
            </a:r>
          </a:p>
          <a:p xmlns:a="http://schemas.openxmlformats.org/drawingml/2006/main"/>
          <a:p xmlns:a="http://schemas.openxmlformats.org/drawingml/2006/main">
            <a:r>
              <a:t>I should say plainly that I prepared the damaged extract by hand, as an exercise. It's a constructed example and has no connection to any OCR measurement.</a:t>
            </a:r>
          </a:p>
          <a:p xmlns:a="http://schemas.openxmlformats.org/drawingml/2006/main"/>
          <a:p xmlns:a="http://schemas.openxmlformats.org/drawingml/2006/main">
            <a:r>
              <a:t>See if you can find both changes. The word not is gone, and the condition about the Provider remaining responsible is gone. The meaning has reversed.</a:t>
            </a:r>
          </a:p>
          <a:p xmlns:a="http://schemas.openxmlformats.org/drawingml/2006/main"/>
          <a:p xmlns:a="http://schemas.openxmlformats.org/drawingml/2006/main">
            <a:r>
              <a:t>Here's my question. Could a better prompt bring back the missing words? Work it through before I answer.</a:t>
            </a:r>
          </a:p>
          <a:p xmlns:a="http://schemas.openxmlformats.org/drawingml/2006/main"/>
          <a:p xmlns:a="http://schemas.openxmlformats.org/drawingml/2006/main">
            <a:r>
              <a:t>No. If the evidence is missing from the input, no instruction can reconstruct it reliably. We re-extract, or we go back to the original. If you hesitate, ask yourself how the model would know what the page said.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rendered original page from our fictional agreement, with the damaged extract again beneath it. The question underneath asks which wording disappeared.</a:t>
            </a:r>
          </a:p>
          <a:p xmlns:a="http://schemas.openxmlformats.org/drawingml/2006/main"/>
          <a:p xmlns:a="http://schemas.openxmlformats.org/drawingml/2006/main">
            <a:r>
              <a:t>Let's work through it together. I'll put the page and the extract next to each other and trace along the heading, the Section 12.6 reference, which is the Key Terms replacement, then the negation and then the exception. In the extracted record we keep the page and the section reference.</a:t>
            </a:r>
          </a:p>
          <a:p xmlns:a="http://schemas.openxmlformats.org/drawingml/2006/main"/>
          <a:p xmlns:a="http://schemas.openxmlformats.org/drawingml/2006/main">
            <a:r>
              <a:t>Here's one for you. Before we put any of this text into a search tool, which checks must pass? Give that a little thought.</a:t>
            </a:r>
          </a:p>
          <a:p xmlns:a="http://schemas.openxmlformats.org/drawingml/2006/main"/>
          <a:p xmlns:a="http://schemas.openxmlformats.org/drawingml/2006/main">
            <a:r>
              <a:t>Let me give you mine. The text must be complete. The reading order must be right. The key wording must be present. And the source location must be recorded. If you listed only spelling, consider what a perfectly spelled wrong sentence would pass.</a:t>
            </a:r>
          </a:p>
          <a:p xmlns:a="http://schemas.openxmlformats.org/drawingml/2006/main"/>
          <a:p xmlns:a="http://schemas.openxmlformats.org/drawingml/2006/main">
            <a:r>
              <a:t>Next we record what we found in a document quality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document quality record has four lines. Preserve the original. Record the defect and the corrected version. Keep the source location and the reviewer. And keep uncertain fields unresolved.</a:t>
            </a:r>
          </a:p>
          <a:p xmlns:a="http://schemas.openxmlformats.org/drawingml/2006/main"/>
          <a:p xmlns:a="http://schemas.openxmlformats.org/drawingml/2006/main">
            <a:r>
              <a:t>I'll fill one row for the damaged extract as we go. The defect is the dropped not and its condition. We write in the corrected text and the location, which is the Key Terms replacement of Section 12.6.</a:t>
            </a:r>
          </a:p>
          <a:p xmlns:a="http://schemas.openxmlformats.org/drawingml/2006/main"/>
          <a:p xmlns:a="http://schemas.openxmlformats.org/drawingml/2006/main">
            <a:r>
              <a:t>A correction must never overwrite the only copy of the original. And an OCR confidence score can't settle the legal effect, because it measures reading and says nothing about what the clause means.</a:t>
            </a:r>
          </a:p>
          <a:p xmlns:a="http://schemas.openxmlformats.org/drawingml/2006/main"/>
          <a:p xmlns:a="http://schemas.openxmlformats.org/drawingml/2006/main">
            <a:r>
              <a:t>I'd like to hear your thinking on this one. An amount in the ledger scan is smudged and could be 1,800,000 or 7,800,000. What do we write in the record? No need to rush.</a:t>
            </a:r>
          </a:p>
          <a:p xmlns:a="http://schemas.openxmlformats.org/drawingml/2006/main"/>
          <a:p xmlns:a="http://schemas.openxmlformats.org/drawingml/2006/main">
            <a:r>
              <a:t>We mark the field unknown until better evidence arrives, such as the original document. If you'd pick the likelier figure, think about who would bear the cost of a wrong guess.</a:t>
            </a:r>
          </a:p>
          <a:p xmlns:a="http://schemas.openxmlformats.org/drawingml/2006/main"/>
          <a:p xmlns:a="http://schemas.openxmlformats.org/drawingml/2006/main">
            <a:r>
              <a:t>After the break we turn to the formats we store the corrected text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text is corrected, we need a format to keep it in. Four are common. Markdown keeps headings and document text readable. JSON holds named fields and structured outputs. Akoma Ntoso XML is a legal structure that carries identifiers and metadata. And a CSV file or database table suits repeated financial or matter records.</a:t>
            </a:r>
          </a:p>
          <a:p xmlns:a="http://schemas.openxmlformats.org/drawingml/2006/main"/>
          <a:p xmlns:a="http://schemas.openxmlformats.org/drawingml/2006/main">
            <a:r>
              <a:t>Converting a file to a new format doesn't make its content reliable. And no single format is required by every AI system. We pick the one that suits the use.</a:t>
            </a:r>
          </a:p>
          <a:p xmlns:a="http://schemas.openxmlformats.org/drawingml/2006/main"/>
          <a:p xmlns:a="http://schemas.openxmlformats.org/drawingml/2006/main">
            <a:r>
              <a:t>So would you convert every private contract in the firm into Akoma Ntoso? Think it over.</a:t>
            </a:r>
          </a:p>
          <a:p xmlns:a="http://schemas.openxmlformats.org/drawingml/2006/main"/>
          <a:p xmlns:a="http://schemas.openxmlformats.org/drawingml/2006/main">
            <a:r>
              <a:t>I wouldn't. We choose a representation that fits the use and the system. For one agreement, a simple record with the exact text and its source location may be enough. If you'd say yes, ask yourself what the firm would gain for a contract nobody will publish.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take one clause and write it as a structured record. On the left is the source, labelled Key Terms KT-1. That's the Key Terms replacement of Section 12.6, and I'll say so as I point at the record. On the right is a JSON record. JSON is a text format for named fields. Each key names a field and each value holds its content. Document ID is the key, and CONTRACT-01 is its value. The text is abbreviated here.</a:t>
            </a:r>
          </a:p>
          <a:p xmlns:a="http://schemas.openxmlformats.org/drawingml/2006/main"/>
          <a:p xmlns:a="http://schemas.openxmlformats.org/drawingml/2006/main">
            <a:r>
              <a:t>The record holds the document ID, the version, which is version 2, the clause, the exact passage and the source location. The passage has to be a verbatim copy. Each field is something a program can check.</a:t>
            </a:r>
          </a:p>
          <a:p xmlns:a="http://schemas.openxmlformats.org/drawingml/2006/main"/>
          <a:p xmlns:a="http://schemas.openxmlformats.org/drawingml/2006/main">
            <a:r>
              <a:t>Here's my question. Which fields stop a quoted passage from losing its link to the agreement it came from? Sit with it for a second.</a:t>
            </a:r>
          </a:p>
          <a:p xmlns:a="http://schemas.openxmlformats.org/drawingml/2006/main"/>
          <a:p xmlns:a="http://schemas.openxmlformats.org/drawingml/2006/main">
            <a:r>
              <a:t>The document ID with the version, and the source location. If you named only the text, ask yourself how a reader would find the page again in a year.</a:t>
            </a:r>
          </a:p>
          <a:p xmlns:a="http://schemas.openxmlformats.org/drawingml/2006/main"/>
          <a:p xmlns:a="http://schemas.openxmlformats.org/drawingml/2006/main">
            <a:r>
              <a:t>Now, who is allowed to see these records as they travel through the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Permissions have to follow the information all the way through. There are four stages.</a:t>
            </a:r>
          </a:p>
          <a:p xmlns:a="http://schemas.openxmlformats.org/drawingml/2006/main"/>
          <a:p xmlns:a="http://schemas.openxmlformats.org/drawingml/2006/main">
            <a:r>
              <a:t>First comes source access. These are the matter permissions on the original document.</a:t>
            </a:r>
          </a:p>
          <a:p xmlns:a="http://schemas.openxmlformats.org/drawingml/2006/main"/>
          <a:p xmlns:a="http://schemas.openxmlformats.org/drawingml/2006/main">
            <a:r>
              <a:t>Then copied content. Search tools often work from a copy of the source, so the copy has to carry restriction metadata with it.</a:t>
            </a:r>
          </a:p>
          <a:p xmlns:a="http://schemas.openxmlformats.org/drawingml/2006/main"/>
          <a:p xmlns:a="http://schemas.openxmlformats.org/drawingml/2006/main">
            <a:r>
              <a:t>Third, search results. These get filtered for the user who is asking.</a:t>
            </a:r>
          </a:p>
          <a:p xmlns:a="http://schemas.openxmlformats.org/drawingml/2006/main"/>
          <a:p xmlns:a="http://schemas.openxmlformats.org/drawingml/2006/main">
            <a:r>
              <a:t>And last, the answer, which is built from allowed evidence only. The copy can drift out of step with the permissions on the original, so our tests have to include a change of access, a deletion and a withdrawn document.</a:t>
            </a:r>
          </a:p>
          <a:p xmlns:a="http://schemas.openxmlformats.org/drawingml/2006/main"/>
          <a:p xmlns:a="http://schemas.openxmlformats.org/drawingml/2006/main">
            <a:r>
              <a:t>Here's a question. A lawyer is taken off the Victoria Services matter after the files are indexed. What has to happen before the tool can answer their next question? Give it a moment. The access change must reach the copy and the search results, so no restricted passage comes back. If you think the original permission is enough, ask yourself where the copy lives and who updates it. The next stretch is the work we do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in-class work, and we'll do it together. There are four tasks, in this order.</a:t>
            </a:r>
          </a:p>
          <a:p xmlns:a="http://schemas.openxmlformats.org/drawingml/2006/main"/>
          <a:p xmlns:a="http://schemas.openxmlformats.org/drawingml/2006/main">
            <a:r>
              <a:t>First, we inventory systems, formats, owners and access. I'll open the Information Inventory and add one row for each system we actually discuss, with no client names.</a:t>
            </a:r>
          </a:p>
          <a:p xmlns:a="http://schemas.openxmlformats.org/drawingml/2006/main"/>
          <a:p xmlns:a="http://schemas.openxmlformats.org/drawingml/2006/main">
            <a:r>
              <a:t>Second, we compare the original, the synthetic scan and the observed OCR.</a:t>
            </a:r>
          </a:p>
          <a:p xmlns:a="http://schemas.openxmlformats.org/drawingml/2006/main"/>
          <a:p xmlns:a="http://schemas.openxmlformats.org/drawingml/2006/main">
            <a:r>
              <a:t>Third, we mark omissions against the authoritative page.</a:t>
            </a:r>
          </a:p>
          <a:p xmlns:a="http://schemas.openxmlformats.org/drawingml/2006/main"/>
          <a:p xmlns:a="http://schemas.openxmlformats.org/drawingml/2006/main">
            <a:r>
              <a:t>And fourth, we record corrections, provenance and update responsibilities.</a:t>
            </a:r>
          </a:p>
          <a:p xmlns:a="http://schemas.openxmlformats.org/drawingml/2006/main"/>
          <a:p xmlns:a="http://schemas.openxmlformats.org/drawingml/2006/main">
            <a:r>
              <a:t>I'll demonstrate the first example. Then you predict, pick the evidence, and check the changed example. If a live OCR tool isn't available, I'll use the labelled example, tell you that step wasn't run, and spend the time on explanation. A real run of any tool gets saved with its output.</a:t>
            </a:r>
          </a:p>
          <a:p xmlns:a="http://schemas.openxmlformats.org/drawingml/2006/main"/>
          <a:p xmlns:a="http://schemas.openxmlformats.org/drawingml/2006/main">
            <a:r>
              <a:t>Before we begin, which row of the inventory would you complete first, and what evidence would you need for it? Take a moment with that.</a:t>
            </a:r>
          </a:p>
          <a:p xmlns:a="http://schemas.openxmlformats.org/drawingml/2006/main"/>
          <a:p xmlns:a="http://schemas.openxmlformats.org/drawingml/2006/main">
            <a:r>
              <a:t>I'm hoping for a row tied to a real system and a named owner. Then we'll write down what the work shows.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write down what the work shows. Before I give you my version, tell me the conclusion in your own words, and then we'll compare.</a:t>
            </a:r>
          </a:p>
          <a:p xmlns:a="http://schemas.openxmlformats.org/drawingml/2006/main"/>
          <a:p xmlns:a="http://schemas.openxmlformats.org/drawingml/2006/main">
            <a:r>
              <a:t>Here's mine. System, modality, structure and format describe four different properties. Extraction must keep the negation, the exception and the condition. And originals and access details travel with every converted copy.</a:t>
            </a:r>
          </a:p>
          <a:p xmlns:a="http://schemas.openxmlformats.org/drawingml/2006/main"/>
          <a:p xmlns:a="http://schemas.openxmlformats.org/drawingml/2006/main">
            <a:r>
              <a:t>The second point is a limit. A synthetic scan can test a method. It says nothing about how well extraction would do on the firm's own archive.</a:t>
            </a:r>
          </a:p>
          <a:p xmlns:a="http://schemas.openxmlformats.org/drawingml/2006/main"/>
          <a:p xmlns:a="http://schemas.openxmlformats.org/drawingml/2006/main">
            <a:r>
              <a:t>So which part of today's result is still unverified? Have a think.</a:t>
            </a:r>
          </a:p>
          <a:p xmlns:a="http://schemas.openxmlformats.org/drawingml/2006/main"/>
          <a:p xmlns:a="http://schemas.openxmlformats.org/drawingml/2006/main">
            <a:r>
              <a:t>The archive. We tested one authored page, with one OCR run on it, and the firm's real documents would need their own sample. If you feel everything is verified, count how many real firm documents we tried.</a:t>
            </a:r>
          </a:p>
          <a:p xmlns:a="http://schemas.openxmlformats.org/drawingml/2006/main"/>
          <a:p xmlns:a="http://schemas.openxmlformats.org/drawingml/2006/main">
            <a:r>
              <a:t>I'll write down any open questions you have. Next we turn this result into a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result becomes a decision. The proposed decision is to assign source owners and choose one collection for preparation before buying a search layer. We record that decision, and the evidence we still need.</a:t>
            </a:r>
          </a:p>
          <a:p xmlns:a="http://schemas.openxmlformats.org/drawingml/2006/main"/>
          <a:p xmlns:a="http://schemas.openxmlformats.org/drawingml/2006/main">
            <a:r>
              <a:t>Name a proposed owner and one condition, and I'll record both. Keep in mind that this is a class decision record. It carries no authority for any firm.</a:t>
            </a:r>
          </a:p>
          <a:p xmlns:a="http://schemas.openxmlformats.org/drawingml/2006/main"/>
          <a:p xmlns:a="http://schemas.openxmlformats.org/drawingml/2006/main">
            <a:r>
              <a:t>Tell me what you make of this. What evidence would make you change this decision? Take your time.</a:t>
            </a:r>
          </a:p>
          <a:p xmlns:a="http://schemas.openxmlformats.org/drawingml/2006/main"/>
          <a:p xmlns:a="http://schemas.openxmlformats.org/drawingml/2006/main">
            <a:r>
              <a:t>Something concrete. For example, a sample of the chosen collection showing that most documents are scans too poor to read. Or a change in who may see the material. Or a quality check that fails. The decision stands until the evidence, the quality or the permitted scope changes.</a:t>
            </a:r>
          </a:p>
          <a:p xmlns:a="http://schemas.openxmlformats.org/drawingml/2006/main"/>
          <a:p xmlns:a="http://schemas.openxmlformats.org/drawingml/2006/main">
            <a:r>
              <a:t>If your answer feels general, try this angle. Name the first document you would test.</a:t>
            </a:r>
          </a:p>
          <a:p xmlns:a="http://schemas.openxmlformats.org/drawingml/2006/main"/>
          <a:p xmlns:a="http://schemas.openxmlformats.org/drawingml/2006/main">
            <a:r>
              <a:t>Next come three questions that check what we covered.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three questions. I'll ask them before we look at any answers.</a:t>
            </a:r>
          </a:p>
          <a:p xmlns:a="http://schemas.openxmlformats.org/drawingml/2006/main"/>
          <a:p xmlns:a="http://schemas.openxmlformats.org/drawingml/2006/main">
            <a:r>
              <a:t>First. The scan says shall not disclose, and the extraction says shall disclose. Which stage failed? Think about it.</a:t>
            </a:r>
          </a:p>
          <a:p xmlns:a="http://schemas.openxmlformats.org/drawingml/2006/main"/>
          <a:p xmlns:a="http://schemas.openxmlformats.org/drawingml/2006/main">
            <a:r>
              <a:t>Extraction. That's the stage that reversed the meaning.</a:t>
            </a:r>
          </a:p>
          <a:p xmlns:a="http://schemas.openxmlformats.org/drawingml/2006/main"/>
          <a:p xmlns:a="http://schemas.openxmlformats.org/drawingml/2006/main">
            <a:r>
              <a:t>Second. The text is accurate, but the matter tag is wrong. What risk remains? Let's hear your answer first.</a:t>
            </a:r>
          </a:p>
          <a:p xmlns:a="http://schemas.openxmlformats.org/drawingml/2006/main"/>
          <a:p xmlns:a="http://schemas.openxmlformats.org/drawingml/2006/main">
            <a:r>
              <a:t>A wrong tag can send a passage to a user who has no access to that matter, or retrieve the wrong matter altogether. If that's unclear, ask yourself which user would receive the passage.</a:t>
            </a:r>
          </a:p>
          <a:p xmlns:a="http://schemas.openxmlformats.org/drawingml/2006/main"/>
          <a:p xmlns:a="http://schemas.openxmlformats.org/drawingml/2006/main">
            <a:r>
              <a:t>Third. Which record keeps the correction history? Take your time.</a:t>
            </a:r>
          </a:p>
          <a:p xmlns:a="http://schemas.openxmlformats.org/drawingml/2006/main"/>
          <a:p xmlns:a="http://schemas.openxmlformats.org/drawingml/2006/main">
            <a:r>
              <a:t>The source-linked document quality record, with the derived content tested again after each correction.</a:t>
            </a:r>
          </a:p>
          <a:p xmlns:a="http://schemas.openxmlformats.org/drawingml/2006/main"/>
          <a:p xmlns:a="http://schemas.openxmlformats.org/drawingml/2006/main">
            <a:r>
              <a:t>That closes Session 5. In Session 6 we take prepared sources and see how a search tool finds the right passage in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optional extra. It shows a short XML fragment in the Akoma Ntoso style. There's a section with an identifier, a heading, Change of control, and the clause text. It's an illustrative fragment. It isn't a complete document that has been checked against the schema.</a:t>
            </a:r>
          </a:p>
          <a:p xmlns:a="http://schemas.openxmlformats.org/drawingml/2006/main"/>
          <a:p xmlns:a="http://schemas.openxmlformats.org/drawingml/2006/main">
            <a:r>
              <a:t>Legal publishers may supply structured originals like this, with sections, identifiers and versions that systems can follow.</a:t>
            </a:r>
          </a:p>
          <a:p xmlns:a="http://schemas.openxmlformats.org/drawingml/2006/main"/>
          <a:p xmlns:a="http://schemas.openxmlformats.org/drawingml/2006/main">
            <a:r>
              <a:t>When would structured legal XML help a firm? Give that some thought.</a:t>
            </a:r>
          </a:p>
          <a:p xmlns:a="http://schemas.openxmlformats.org/drawingml/2006/main"/>
          <a:p xmlns:a="http://schemas.openxmlformats.org/drawingml/2006/main">
            <a:r>
              <a:t>When sections, identifiers and versions of legislation have to be kept consistent across systems. For a single private agreement, a plain record is often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is about financial data. Four questions apply to any financial field. Amount and currency. Is it UGX, another currency, or mixed? Period. Is the date the invoice date, the service period or the receipt date? Missing value. Does it mean unknown, not applicable or zero? And record identity. Is a repeat a genuine repeat or a duplicate import?</a:t>
            </a:r>
          </a:p>
          <a:p xmlns:a="http://schemas.openxmlformats.org/drawingml/2006/main"/>
          <a:p xmlns:a="http://schemas.openxmlformats.org/drawingml/2006/main">
            <a:r>
              <a:t>We don't clean any record before we know what it means.</a:t>
            </a:r>
          </a:p>
          <a:p xmlns:a="http://schemas.openxmlformats.org/drawingml/2006/main"/>
          <a:p xmlns:a="http://schemas.openxmlformats.org/drawingml/2006/main">
            <a:r>
              <a:t>Try this one. If a fiscal document number is missing from a row, does that mean no sale took place? No rush.</a:t>
            </a:r>
          </a:p>
          <a:p xmlns:a="http://schemas.openxmlformats.org/drawingml/2006/main"/>
          <a:p xmlns:a="http://schemas.openxmlformats.org/drawingml/2006/main">
            <a:r>
              <a:t>It doesn't. A missing number raises a question about the evidence, and the transaction stays in the data until we answer it. If you'd delete the row, ask yourself what the tax return would then leave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we have time, there's an optional extra here. It separates three jobs. Extracting party names and dates finds spans of text. Keeping document identity and version as metadata ties each passage to its source. And resolving which legal entity a name denotes links different mentions to one real company.</a:t>
            </a:r>
          </a:p>
          <a:p xmlns:a="http://schemas.openxmlformats.org/drawingml/2006/main"/>
          <a:p xmlns:a="http://schemas.openxmlformats.org/drawingml/2006/main">
            <a:r>
              <a:t>In our matter the two parties are Victoria Services Ltd and Equator Systems Ltd. A tool that finds both names hasn't yet established which registered company each one is.</a:t>
            </a:r>
          </a:p>
          <a:p xmlns:a="http://schemas.openxmlformats.org/drawingml/2006/main"/>
          <a:p xmlns:a="http://schemas.openxmlformats.org/drawingml/2006/main">
            <a:r>
              <a:t>So if two companies have similar names, does that show they're the same legal entity? Work it through before I answer.</a:t>
            </a:r>
          </a:p>
          <a:p xmlns:a="http://schemas.openxmlformats.org/drawingml/2006/main"/>
          <a:p xmlns:a="http://schemas.openxmlformats.org/drawingml/2006/main">
            <a:r>
              <a:t>They might not be. We check identifiers and authoritative records. If you're unsure, ask yourself what in the company register would settle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is optional, for if we have time or you want it. It turns the inventory into a question for an executive. Which collection offers the greatest useful opportunity? Who can establish its authority and quality? And what preparation and permission work is needed first?</a:t>
            </a:r>
          </a:p>
          <a:p xmlns:a="http://schemas.openxmlformats.org/drawingml/2006/main"/>
          <a:p xmlns:a="http://schemas.openxmlformats.org/drawingml/2006/main">
            <a:r>
              <a:t>One for you to work out. If most of the firm's precedents are scans, what would you fund first? Take a minute over it.</a:t>
            </a:r>
          </a:p>
          <a:p xmlns:a="http://schemas.openxmlformats.org/drawingml/2006/main"/>
          <a:p xmlns:a="http://schemas.openxmlformats.org/drawingml/2006/main">
            <a:r>
              <a:t>I'd fund the inventory, the choice of sources and reliable capture, ahead of a broad knowledge assistant. We'd also record a realistic owner and a scope. If you want to start with the tool, ask yourself what it would read.</a:t>
            </a:r>
          </a:p>
          <a:p xmlns:a="http://schemas.openxmlformats.org/drawingml/2006/main"/>
          <a:p xmlns:a="http://schemas.openxmlformats.org/drawingml/2006/main">
            <a:r>
              <a:t>That closes the optional material. Session 6 begins with the search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3d71b3aefe5412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0a2871502f24d3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fbe90b932e7477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cc80f50ff1b44d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85ed79dbd808477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f429d9db497489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08C5CB-001C-4E53-A8FA-482B7AC2E7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EB1195-D8BA-491F-B85E-6416E88EEB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3000B1-7800-4B62-AD76-095AA3C15E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A15693-8166-493C-9D38-EC3ABAD375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FC5F0E-2A0A-4011-97E4-7E7C36EEEE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DFE3903-1B84-4281-AE0D-66F9E49465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6D42A2-89A9-40A7-B25E-8D03E76FCD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137898-3CED-4C9E-B34C-790E69DB32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24679D-2022-4C08-B358-E8A4DE399B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EA4E60-5F86-49F1-BDC5-0E5BF90959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2d8dcf72e19419d" Type="http://schemas.openxmlformats.org/officeDocument/2006/relationships/slideLayout" Target="../slideLayouts/slideLayout4.xml"/><Relationship Id="R68836c229fcc4a87" Type="http://schemas.openxmlformats.org/officeDocument/2006/relationships/slideLayout" Target="../slideLayouts/slideLayout5.xml"/><Relationship Id="R7162627959f24ae2" Type="http://schemas.openxmlformats.org/officeDocument/2006/relationships/slideLayout" Target="../slideLayouts/slideLayout3.xml"/><Relationship Id="R77bc446500254c24" Type="http://schemas.openxmlformats.org/officeDocument/2006/relationships/slideLayout" Target="../slideLayouts/slideLayout2.xml"/><Relationship Id="Ra2095a839c494e98" Type="http://schemas.openxmlformats.org/officeDocument/2006/relationships/theme" Target="theme/theme2.xml"/><Relationship Id="Rb23fe250f61d458e" Type="http://schemas.openxmlformats.org/officeDocument/2006/relationships/slideLayout" Target="../slideLayouts/slideLayout6.xml"/><Relationship Id="Rb491290314e44779"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91290314e44779"/>
    <p:sldLayoutId xmlns:r="http://schemas.openxmlformats.org/officeDocument/2006/relationships" id="2147483650" r:id="R77bc446500254c24"/>
    <p:sldLayoutId xmlns:r="http://schemas.openxmlformats.org/officeDocument/2006/relationships" id="2147483651" r:id="R7162627959f24ae2"/>
    <p:sldLayoutId xmlns:r="http://schemas.openxmlformats.org/officeDocument/2006/relationships" id="2147483652" r:id="R52d8dcf72e19419d"/>
    <p:sldLayoutId xmlns:r="http://schemas.openxmlformats.org/officeDocument/2006/relationships" id="2147483653" r:id="R68836c229fcc4a87"/>
    <p:sldLayoutId xmlns:r="http://schemas.openxmlformats.org/officeDocument/2006/relationships" id="2147483654" r:id="Rb23fe250f61d45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09d9713ceee48f7" Type="http://schemas.openxmlformats.org/officeDocument/2006/relationships/slideLayout" Target="../slideLayouts/slideLayout6.xml"/><Relationship Id="R8cd05f1e301349a1"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2d6d2b7bc2a34aef" Type="http://schemas.openxmlformats.org/officeDocument/2006/relationships/notesSlide" Target="../notesSlides/notesSlide2.xml"/><Relationship Id="Rebf81f2bfe584f1e" Type="http://schemas.openxmlformats.org/officeDocument/2006/relationships/slideLayout" Target="../slideLayouts/slideLayout6.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b6d6bc767a0042a7" Type="http://schemas.openxmlformats.org/officeDocument/2006/relationships/slideLayout" Target="../slideLayouts/slideLayout6.xml"/><Relationship Id="Rc0b935c2a4f14ca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2c06c0d9d7e84f24" Type="http://schemas.openxmlformats.org/officeDocument/2006/relationships/notesSlide" Target="../notesSlides/notesSlide4.xml"/><Relationship Id="Rbd70fbe32a944b5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b10628dfcdf42b9" Type="http://schemas.openxmlformats.org/officeDocument/2006/relationships/image" Target="../media/image.png"/><Relationship Id="R25d5dff560174735" Type="http://schemas.openxmlformats.org/officeDocument/2006/relationships/slideLayout" Target="../slideLayouts/slideLayout6.xml"/><Relationship Id="R31ab40aff2194bab"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929b40289c18411c" Type="http://schemas.openxmlformats.org/officeDocument/2006/relationships/notesSlide" Target="../notesSlides/notesSlide6.xml"/><Relationship Id="Rfab61085d5664b99" Type="http://schemas.openxmlformats.org/officeDocument/2006/relationships/slideLayout" Target="../slideLayouts/slideLayout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22dd2410969f4076" Type="http://schemas.openxmlformats.org/officeDocument/2006/relationships/slideLayout" Target="../slideLayouts/slideLayout6.xml"/><Relationship Id="R9e298c1c46f348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c3f84439a9a14881" Type="http://schemas.openxmlformats.org/officeDocument/2006/relationships/slideLayout" Target="../slideLayouts/slideLayout6.xml"/><Relationship Id="Rfc07ed052997404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b1bf3d296e2143a2" Type="http://schemas.openxmlformats.org/officeDocument/2006/relationships/notesSlide" Target="../notesSlides/notesSlide9.xml"/><Relationship Id="Rcd331ba99e2643d7" Type="http://schemas.openxmlformats.org/officeDocument/2006/relationships/slideLayout" Target="../slideLayouts/slideLayout6.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1159308e9a7143e7" Type="http://schemas.openxmlformats.org/officeDocument/2006/relationships/image" Target="../media/image2.png"/><Relationship Id="R309aacbabb9d49b3" Type="http://schemas.openxmlformats.org/officeDocument/2006/relationships/slideLayout" Target="../slideLayouts/slideLayout6.xml"/><Relationship Id="Rcf3ae6abdc71450f"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6b5f88bada7d4e71" Type="http://schemas.openxmlformats.org/officeDocument/2006/relationships/slideLayout" Target="../slideLayouts/slideLayout6.xml"/><Relationship Id="R7554ea133e1b430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58927d81e8da4ada" Type="http://schemas.openxmlformats.org/officeDocument/2006/relationships/image" Target="../media/image3.png"/><Relationship Id="Rea37230a415f473e" Type="http://schemas.openxmlformats.org/officeDocument/2006/relationships/notesSlide" Target="../notesSlides/notesSlide12.xml"/><Relationship Id="Rf874a291171c4fd6"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416fd1bc2fa94415" Type="http://schemas.openxmlformats.org/officeDocument/2006/relationships/notesSlide" Target="../notesSlides/notesSlide13.xml"/><Relationship Id="Rf846afbe871a4465" Type="http://schemas.openxmlformats.org/officeDocument/2006/relationships/slideLayout" Target="../slideLayouts/slideLayout6.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483697c0b88c4cc4" Type="http://schemas.openxmlformats.org/officeDocument/2006/relationships/notesSlide" Target="../notesSlides/notesSlide14.xml"/><Relationship Id="R765ed8265194413f"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d39846a05ca244dd" Type="http://schemas.openxmlformats.org/officeDocument/2006/relationships/slideLayout" Target="../slideLayouts/slideLayout6.xml"/><Relationship Id="Re1a57052cf99480a"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951f17755264061" Type="http://schemas.openxmlformats.org/officeDocument/2006/relationships/notesSlide" Target="../notesSlides/notesSlide16.xml"/><Relationship Id="Re50139f7f7a34ad7"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a2f6b7cf6dd47d5" Type="http://schemas.openxmlformats.org/officeDocument/2006/relationships/slideLayout" Target="../slideLayouts/slideLayout6.xml"/><Relationship Id="R519281a0c40c4a05"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1bf87acf25dd44f1" Type="http://schemas.openxmlformats.org/officeDocument/2006/relationships/slideLayout" Target="../slideLayouts/slideLayout6.xml"/><Relationship Id="R2ebf85875cd4446b"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026c73063d7a4c9d" Type="http://schemas.openxmlformats.org/officeDocument/2006/relationships/notesSlide" Target="../notesSlides/notesSlide19.xml"/><Relationship Id="Rf08ef049a9864f51" Type="http://schemas.openxmlformats.org/officeDocument/2006/relationships/slideLayout" Target="../slideLayouts/slideLayout6.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ab4c42606f3c4b6f" Type="http://schemas.openxmlformats.org/officeDocument/2006/relationships/slideLayout" Target="../slideLayouts/slideLayout6.xml"/><Relationship Id="Rae300014393d4b26"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174c2eb72d654ef5" Type="http://schemas.openxmlformats.org/officeDocument/2006/relationships/slideLayout" Target="../slideLayouts/slideLayout6.xml"/><Relationship Id="R271782702cfb442a"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5d98d8514bc94095" Type="http://schemas.openxmlformats.org/officeDocument/2006/relationships/notesSlide" Target="../notesSlides/notesSlide22.xml"/><Relationship Id="Ra790f00235114882"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0f4e5d8c291b4c6f" Type="http://schemas.openxmlformats.org/officeDocument/2006/relationships/notesSlide" Target="../notesSlides/notesSlide23.xml"/><Relationship Id="R21dea91f29094490" Type="http://schemas.openxmlformats.org/officeDocument/2006/relationships/slideLayout" Target="../slideLayouts/slideLayout6.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7d42146af07e4289" Type="http://schemas.openxmlformats.org/officeDocument/2006/relationships/notesSlide" Target="../notesSlides/notesSlide24.xml"/><Relationship Id="Re51e1299a4d64de5" Type="http://schemas.openxmlformats.org/officeDocument/2006/relationships/slideLayout" Target="../slideLayouts/slideLayout6.xml"/><Relationship Id="rId3" Type="http://schemas.openxmlformats.org/officeDocument/2006/relationships/image" Target="../media/image14.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Preparing the firm’s information">
    <p:bg>
      <p:bgPr>
        <a:solidFill>
          <a:srgbClr val="1C3144"/>
        </a:solidFill>
      </p:bgPr>
    </p:bg>
    <p:spTree>
      <p:nvGrpSpPr>
        <p:cNvPr id="1" name=""/>
        <p:cNvGrpSpPr/>
        <p:nvPr/>
      </p:nvGrpSpPr>
      <p:grpSpPr>
        <a:xfrm/>
      </p:grpSpPr>
      <p:sp>
        <p:nvSpPr>
          <p:cNvPr id="5" name="text-117">
            <a:extLst>
              <a:ext uri="{FF2B5EF4-FFF2-40B4-BE49-F238E27FC236}">
                <ns2:creationId id="{35D9F814-F070-43EB-B0E8-FD6123BDD957}"/>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05</a:t>
            </a:r>
          </a:p>
        </p:txBody>
      </p:sp>
      <p:sp>
        <p:nvSpPr>
          <p:cNvPr id="2" name="text-118">
            <a:extLst>
              <a:ext uri="{FF2B5EF4-FFF2-40B4-BE49-F238E27FC236}">
                <ns2:creationId id="{A79BB592-5DEE-4BEA-BA88-03F595E964BD}"/>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Preparing the firm’s information</a:t>
            </a:r>
          </a:p>
        </p:txBody>
      </p:sp>
      <p:sp>
        <p:nvSpPr>
          <p:cNvPr id="3" name="text-119">
            <a:extLst>
              <a:ext uri="{FF2B5EF4-FFF2-40B4-BE49-F238E27FC236}">
                <ns2:creationId id="{04B20A5F-688A-41DB-8B09-076D631A8513}"/>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does the firm hold, and what must happen before AI can use it reliably?</a:t>
            </a:r>
          </a:p>
        </p:txBody>
      </p:sp>
      <p:sp>
        <p:nvSpPr>
          <p:cNvPr id="4" name="text-120">
            <a:extLst>
              <a:ext uri="{FF2B5EF4-FFF2-40B4-BE49-F238E27FC236}">
                <ns2:creationId id="{F7D4E27C-6E4B-49D2-AE0E-D441763BBD0E}"/>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scanned page with garbled text; a collection of records and a matter folder"/>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79853597"/>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task brief">
    <p:bg>
      <p:bgPr>
        <a:solidFill>
          <a:srgbClr val="FFFFFF"/>
        </a:solidFill>
      </p:bgPr>
    </p:bg>
    <p:spTree>
      <p:nvGrpSpPr>
        <p:cNvPr id="1" name=""/>
        <p:cNvGrpSpPr/>
        <p:nvPr/>
      </p:nvGrpSpPr>
      <p:grpSpPr>
        <a:xfrm/>
      </p:grpSpPr>
      <p:sp>
        <p:nvSpPr>
          <p:cNvPr id="9" name="text-121">
            <a:extLst>
              <a:ext uri="{FF2B5EF4-FFF2-40B4-BE49-F238E27FC236}">
                <ns2:creationId id="{D11165AF-2061-4C56-96D1-093B2C3DFC4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22">
            <a:extLst>
              <a:ext uri="{FF2B5EF4-FFF2-40B4-BE49-F238E27FC236}">
                <ns2:creationId id="{0401BBFA-340E-49E9-AD57-F374AAE67BA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task brief</a:t>
            </a:r>
          </a:p>
        </p:txBody>
      </p:sp>
      <p:sp>
        <p:nvSpPr>
          <p:cNvPr id="4" name="text-124">
            <a:extLst>
              <a:ext uri="{FF2B5EF4-FFF2-40B4-BE49-F238E27FC236}">
                <ns2:creationId id="{4D125BE0-17B5-4B26-9322-22B7290B1EA6}"/>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4</a:t>
            </a:r>
          </a:p>
        </p:txBody>
      </p:sp>
      <p:sp>
        <p:nvSpPr>
          <p:cNvPr id="5" name="text-125">
            <a:extLst>
              <a:ext uri="{FF2B5EF4-FFF2-40B4-BE49-F238E27FC236}">
                <ns2:creationId id="{A447A65D-F1FD-4285-9F7E-C11B42CAEBCA}"/>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The instruction asks for exact quotes. What if the input scan loses a word?</a:t>
            </a:r>
          </a:p>
        </p:txBody>
      </p:sp>
      <p:sp>
        <p:nvSpPr>
          <p:cNvPr id="6" name="text-126">
            <a:extLst>
              <a:ext uri="{FF2B5EF4-FFF2-40B4-BE49-F238E27FC236}">
                <ns2:creationId id="{C3D1776D-E5C4-43A8-84EE-C4641FAE28A0}"/>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27">
            <a:extLst>
              <a:ext uri="{FF2B5EF4-FFF2-40B4-BE49-F238E27FC236}">
                <ns2:creationId id="{66708DFF-B3D4-43A9-BD34-EA54C4209D63}"/>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does the firm hold, and what must happen before AI can use it reliably?</a:t>
            </a:r>
          </a:p>
        </p:txBody>
      </p:sp>
      <p:sp>
        <p:nvSpPr>
          <p:cNvPr id="8" name="text-128">
            <a:extLst>
              <a:ext uri="{FF2B5EF4-FFF2-40B4-BE49-F238E27FC236}">
                <ns2:creationId id="{E479BDD3-5C62-44A9-BB9F-990D9043B2C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source inventory and an inspected extraction with provenance.</a:t>
            </a:r>
          </a:p>
        </p:txBody>
      </p:sp>
      <p:sp>
        <p:nvSpPr>
          <p:cNvPr id="3" name="text-123">
            <a:extLst>
              <a:ext uri="{FF2B5EF4-FFF2-40B4-BE49-F238E27FC236}">
                <ns2:creationId id="{97CAEA54-2A43-4875-9EBD-C911260BFB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82427791"/>
      </p:ext>
    </p:extLst>
  </p:cSld>
  <p:transition spd="med" advClick="1">
    <p:fade/>
  </p:transition>
</p:sld>
</file>

<file path=ppt/slides/slide3.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records room and the shared drive">
    <p:bg>
      <p:bgPr>
        <a:solidFill>
          <a:srgbClr val="FFFFFF"/>
        </a:solidFill>
      </p:bgPr>
    </p:bg>
    <p:spTree>
      <p:nvGrpSpPr>
        <p:cNvPr id="1" name=""/>
        <p:cNvGrpSpPr/>
        <p:nvPr/>
      </p:nvGrpSpPr>
      <p:grpSpPr>
        <a:xfrm/>
      </p:grpSpPr>
      <p:sp>
        <p:nvSpPr>
          <p:cNvPr id="14" name="text-129">
            <a:extLst>
              <a:ext uri="{FF2B5EF4-FFF2-40B4-BE49-F238E27FC236}">
                <ns2:creationId id="{AF64F809-2635-4797-8233-3E626254D3F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30">
            <a:extLst>
              <a:ext uri="{FF2B5EF4-FFF2-40B4-BE49-F238E27FC236}">
                <ns2:creationId id="{2991F660-17C8-4875-AFEB-D84EB32ECC1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records room and the shared drive</a:t>
            </a:r>
          </a:p>
        </p:txBody>
      </p:sp>
      <p:sp>
        <p:nvSpPr>
          <p:cNvPr id="4" name="shape-132">
            <a:extLst>
              <a:ext uri="{FF2B5EF4-FFF2-40B4-BE49-F238E27FC236}">
                <ns2:creationId id="{7D227804-B6E3-4716-9159-83AD83530F57}"/>
              </a:ext>
              <a:ext uri="{C183D7F6-B498-43B3-948B-1728B52AA6E4}">
                <ns3:decorative val="1"/>
              </a:ext>
            </a:extLst>
          </p:cNvPr>
          <p:cNvSpPr>
            <a:spLocks noGrp="1"/>
          </p:cNvSpPr>
          <p:nvPr/>
        </p:nvSpPr>
        <p:spPr>
          <a:xfrm>
            <a:off x="619125" y="2857500"/>
            <a:ext cx="3333750" cy="2095500"/>
          </a:xfrm>
          <a:prstGeom prst="rect">
            <a:avLst/>
          </a:prstGeom>
          <a:solidFill>
            <a:srgbClr val="F1F5F6"/>
          </a:solidFill>
          <a:ln w="11430">
            <a:solidFill>
              <a:srgbClr val="C9D5DA"/>
            </a:solidFill>
          </a:ln>
        </p:spPr>
      </p:sp>
      <p:sp>
        <p:nvSpPr>
          <p:cNvPr id="5" name="text-133">
            <a:extLst>
              <a:ext uri="{FF2B5EF4-FFF2-40B4-BE49-F238E27FC236}">
                <ns2:creationId id="{8EB1DA81-6D9C-4864-BAB4-1F2E4685F760}"/>
              </a:ext>
            </a:extLst>
          </p:cNvPr>
          <p:cNvSpPr>
            <a:spLocks noGrp="1"/>
          </p:cNvSpPr>
          <p:nvPr/>
        </p:nvSpPr>
        <p:spPr>
          <a:xfrm>
            <a:off x="790575" y="3048000"/>
            <a:ext cx="2990850" cy="628650"/>
          </a:xfrm>
          <a:prstGeom prst="rect">
            <a:avLst/>
          </a:prstGeom>
          <a:noFill/>
          <a:ln w="0">
            <a:noFill/>
          </a:ln>
        </p:spPr>
        <p:txBody>
          <a:bodyPr>
            <a:noAutofit/>
          </a:bodyPr>
          <a:lstStyle>
            <a:defPPr>
              <a:defRPr sz="2550" b="1">
                <a:solidFill>
                  <a:srgbClr val="246E63"/>
                </a:solidFill>
                <a:latin typeface="Calibri"/>
                <a:ea typeface="Calibri"/>
                <a:cs typeface="Calibri"/>
              </a:defRPr>
            </a:defPPr>
            <a:lvl1pPr>
              <a:defRPr sz="2550" b="1">
                <a:solidFill>
                  <a:srgbClr val="246E63"/>
                </a:solidFill>
                <a:latin typeface="Calibri"/>
                <a:ea typeface="Calibri"/>
                <a:cs typeface="Calibri"/>
              </a:defRPr>
            </a:lvl1pPr>
            <a:lvl2pPr>
              <a:defRPr sz="2550" b="1">
                <a:solidFill>
                  <a:srgbClr val="246E63"/>
                </a:solidFill>
                <a:latin typeface="Calibri"/>
                <a:ea typeface="Calibri"/>
                <a:cs typeface="Calibri"/>
              </a:defRPr>
            </a:lvl2pPr>
            <a:lvl3pPr>
              <a:defRPr sz="2550" b="1">
                <a:solidFill>
                  <a:srgbClr val="246E63"/>
                </a:solidFill>
                <a:latin typeface="Calibri"/>
                <a:ea typeface="Calibri"/>
                <a:cs typeface="Calibri"/>
              </a:defRPr>
            </a:lvl3pPr>
            <a:lvl4pPr>
              <a:defRPr sz="2550" b="1">
                <a:solidFill>
                  <a:srgbClr val="246E63"/>
                </a:solidFill>
                <a:latin typeface="Calibri"/>
                <a:ea typeface="Calibri"/>
                <a:cs typeface="Calibri"/>
              </a:defRPr>
            </a:lvl4pPr>
            <a:lvl5pPr>
              <a:defRPr sz="2550" b="1">
                <a:solidFill>
                  <a:srgbClr val="246E63"/>
                </a:solidFill>
                <a:latin typeface="Calibri"/>
                <a:ea typeface="Calibri"/>
                <a:cs typeface="Calibri"/>
              </a:defRPr>
            </a:lvl5pPr>
            <a:lvl6pPr>
              <a:defRPr sz="2550" b="1">
                <a:solidFill>
                  <a:srgbClr val="246E63"/>
                </a:solidFill>
                <a:latin typeface="Calibri"/>
                <a:ea typeface="Calibri"/>
                <a:cs typeface="Calibri"/>
              </a:defRPr>
            </a:lvl6pPr>
            <a:lvl7pPr>
              <a:defRPr sz="2550" b="1">
                <a:solidFill>
                  <a:srgbClr val="246E63"/>
                </a:solidFill>
                <a:latin typeface="Calibri"/>
                <a:ea typeface="Calibri"/>
                <a:cs typeface="Calibri"/>
              </a:defRPr>
            </a:lvl7pPr>
            <a:lvl8pPr>
              <a:defRPr sz="2550" b="1">
                <a:solidFill>
                  <a:srgbClr val="246E63"/>
                </a:solidFill>
                <a:latin typeface="Calibri"/>
                <a:ea typeface="Calibri"/>
                <a:cs typeface="Calibri"/>
              </a:defRPr>
            </a:lvl8pPr>
            <a:lvl9pPr>
              <a:defRPr sz="2550" b="1">
                <a:solidFill>
                  <a:srgbClr val="246E63"/>
                </a:solidFill>
                <a:latin typeface="Calibri"/>
                <a:ea typeface="Calibri"/>
                <a:cs typeface="Calibri"/>
              </a:defRPr>
            </a:lvl9pPr>
          </a:lstStyle>
          <a:p>
            <a:pPr>
              <a:defRPr sz="2550" b="1">
                <a:solidFill>
                  <a:srgbClr val="246E63"/>
                </a:solidFill>
                <a:latin typeface="Calibri"/>
                <a:ea typeface="Calibri"/>
                <a:cs typeface="Calibri"/>
              </a:defRPr>
            </a:pPr>
            <a:r>
              <a:rPr sz="2550" b="1">
                <a:solidFill>
                  <a:srgbClr val="246E63"/>
                </a:solidFill>
                <a:latin typeface="Calibri"/>
                <a:ea typeface="Calibri"/>
                <a:cs typeface="Calibri"/>
              </a:rPr>
              <a:t>Paper</a:t>
            </a:r>
          </a:p>
        </p:txBody>
      </p:sp>
      <p:sp>
        <p:nvSpPr>
          <p:cNvPr id="6" name="text-134">
            <a:extLst>
              <a:ext uri="{FF2B5EF4-FFF2-40B4-BE49-F238E27FC236}">
                <ns2:creationId id="{9F72244F-1017-4C39-9191-6594968DB347}"/>
              </a:ext>
            </a:extLst>
          </p:cNvPr>
          <p:cNvSpPr>
            <a:spLocks noGrp="1"/>
          </p:cNvSpPr>
          <p:nvPr/>
        </p:nvSpPr>
        <p:spPr>
          <a:xfrm>
            <a:off x="790575" y="3990975"/>
            <a:ext cx="2990850" cy="809625"/>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Files and scans</a:t>
            </a:r>
          </a:p>
        </p:txBody>
      </p:sp>
      <p:sp>
        <p:nvSpPr>
          <p:cNvPr id="7" name="shape-135">
            <a:extLst>
              <a:ext uri="{FF2B5EF4-FFF2-40B4-BE49-F238E27FC236}">
                <ns2:creationId id="{4836C6B8-DE2A-4C71-AE79-319EAE62D91E}"/>
              </a:ext>
              <a:ext uri="{C183D7F6-B498-43B3-948B-1728B52AA6E4}">
                <ns3:decorative val="1"/>
              </a:ext>
            </a:extLst>
          </p:cNvPr>
          <p:cNvSpPr>
            <a:spLocks noGrp="1"/>
          </p:cNvSpPr>
          <p:nvPr/>
        </p:nvSpPr>
        <p:spPr>
          <a:xfrm>
            <a:off x="4429125" y="2857500"/>
            <a:ext cx="3333750" cy="2095500"/>
          </a:xfrm>
          <a:prstGeom prst="rect">
            <a:avLst/>
          </a:prstGeom>
          <a:solidFill>
            <a:srgbClr val="F1F5F6"/>
          </a:solidFill>
          <a:ln w="11430">
            <a:solidFill>
              <a:srgbClr val="C9D5DA"/>
            </a:solidFill>
          </a:ln>
        </p:spPr>
      </p:sp>
      <p:sp>
        <p:nvSpPr>
          <p:cNvPr id="8" name="text-136">
            <a:extLst>
              <a:ext uri="{FF2B5EF4-FFF2-40B4-BE49-F238E27FC236}">
                <ns2:creationId id="{1372C34F-061F-4F61-9385-25A4002AA625}"/>
              </a:ext>
            </a:extLst>
          </p:cNvPr>
          <p:cNvSpPr>
            <a:spLocks noGrp="1"/>
          </p:cNvSpPr>
          <p:nvPr/>
        </p:nvSpPr>
        <p:spPr>
          <a:xfrm>
            <a:off x="4600575" y="3048000"/>
            <a:ext cx="2990850" cy="628650"/>
          </a:xfrm>
          <a:prstGeom prst="rect">
            <a:avLst/>
          </a:prstGeom>
          <a:noFill/>
          <a:ln w="0">
            <a:noFill/>
          </a:ln>
        </p:spPr>
        <p:txBody>
          <a:bodyPr>
            <a:noAutofit/>
          </a:bodyPr>
          <a:lstStyle>
            <a:defPPr>
              <a:defRPr sz="2550" b="1">
                <a:solidFill>
                  <a:srgbClr val="246E63"/>
                </a:solidFill>
                <a:latin typeface="Calibri"/>
                <a:ea typeface="Calibri"/>
                <a:cs typeface="Calibri"/>
              </a:defRPr>
            </a:defPPr>
            <a:lvl1pPr>
              <a:defRPr sz="2550" b="1">
                <a:solidFill>
                  <a:srgbClr val="246E63"/>
                </a:solidFill>
                <a:latin typeface="Calibri"/>
                <a:ea typeface="Calibri"/>
                <a:cs typeface="Calibri"/>
              </a:defRPr>
            </a:lvl1pPr>
            <a:lvl2pPr>
              <a:defRPr sz="2550" b="1">
                <a:solidFill>
                  <a:srgbClr val="246E63"/>
                </a:solidFill>
                <a:latin typeface="Calibri"/>
                <a:ea typeface="Calibri"/>
                <a:cs typeface="Calibri"/>
              </a:defRPr>
            </a:lvl2pPr>
            <a:lvl3pPr>
              <a:defRPr sz="2550" b="1">
                <a:solidFill>
                  <a:srgbClr val="246E63"/>
                </a:solidFill>
                <a:latin typeface="Calibri"/>
                <a:ea typeface="Calibri"/>
                <a:cs typeface="Calibri"/>
              </a:defRPr>
            </a:lvl3pPr>
            <a:lvl4pPr>
              <a:defRPr sz="2550" b="1">
                <a:solidFill>
                  <a:srgbClr val="246E63"/>
                </a:solidFill>
                <a:latin typeface="Calibri"/>
                <a:ea typeface="Calibri"/>
                <a:cs typeface="Calibri"/>
              </a:defRPr>
            </a:lvl4pPr>
            <a:lvl5pPr>
              <a:defRPr sz="2550" b="1">
                <a:solidFill>
                  <a:srgbClr val="246E63"/>
                </a:solidFill>
                <a:latin typeface="Calibri"/>
                <a:ea typeface="Calibri"/>
                <a:cs typeface="Calibri"/>
              </a:defRPr>
            </a:lvl5pPr>
            <a:lvl6pPr>
              <a:defRPr sz="2550" b="1">
                <a:solidFill>
                  <a:srgbClr val="246E63"/>
                </a:solidFill>
                <a:latin typeface="Calibri"/>
                <a:ea typeface="Calibri"/>
                <a:cs typeface="Calibri"/>
              </a:defRPr>
            </a:lvl6pPr>
            <a:lvl7pPr>
              <a:defRPr sz="2550" b="1">
                <a:solidFill>
                  <a:srgbClr val="246E63"/>
                </a:solidFill>
                <a:latin typeface="Calibri"/>
                <a:ea typeface="Calibri"/>
                <a:cs typeface="Calibri"/>
              </a:defRPr>
            </a:lvl7pPr>
            <a:lvl8pPr>
              <a:defRPr sz="2550" b="1">
                <a:solidFill>
                  <a:srgbClr val="246E63"/>
                </a:solidFill>
                <a:latin typeface="Calibri"/>
                <a:ea typeface="Calibri"/>
                <a:cs typeface="Calibri"/>
              </a:defRPr>
            </a:lvl8pPr>
            <a:lvl9pPr>
              <a:defRPr sz="2550" b="1">
                <a:solidFill>
                  <a:srgbClr val="246E63"/>
                </a:solidFill>
                <a:latin typeface="Calibri"/>
                <a:ea typeface="Calibri"/>
                <a:cs typeface="Calibri"/>
              </a:defRPr>
            </a:lvl9pPr>
          </a:lstStyle>
          <a:p>
            <a:pPr>
              <a:defRPr sz="2550" b="1">
                <a:solidFill>
                  <a:srgbClr val="246E63"/>
                </a:solidFill>
                <a:latin typeface="Calibri"/>
                <a:ea typeface="Calibri"/>
                <a:cs typeface="Calibri"/>
              </a:defRPr>
            </a:pPr>
            <a:r>
              <a:rPr sz="2550" b="1">
                <a:solidFill>
                  <a:srgbClr val="246E63"/>
                </a:solidFill>
                <a:latin typeface="Calibri"/>
                <a:ea typeface="Calibri"/>
                <a:cs typeface="Calibri"/>
              </a:rPr>
              <a:t>Digital files</a:t>
            </a:r>
          </a:p>
        </p:txBody>
      </p:sp>
      <p:sp>
        <p:nvSpPr>
          <p:cNvPr id="9" name="text-137">
            <a:extLst>
              <a:ext uri="{FF2B5EF4-FFF2-40B4-BE49-F238E27FC236}">
                <ns2:creationId id="{06DB9433-3287-466E-914A-8F324BAC604C}"/>
              </a:ext>
            </a:extLst>
          </p:cNvPr>
          <p:cNvSpPr>
            <a:spLocks noGrp="1"/>
          </p:cNvSpPr>
          <p:nvPr/>
        </p:nvSpPr>
        <p:spPr>
          <a:xfrm>
            <a:off x="4600575" y="3990975"/>
            <a:ext cx="2990850" cy="809625"/>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Agreements and email</a:t>
            </a:r>
          </a:p>
        </p:txBody>
      </p:sp>
      <p:sp>
        <p:nvSpPr>
          <p:cNvPr id="10" name="shape-138">
            <a:extLst>
              <a:ext uri="{FF2B5EF4-FFF2-40B4-BE49-F238E27FC236}">
                <ns2:creationId id="{4932B1B3-2792-423D-85EF-22FDFFD00565}"/>
              </a:ext>
              <a:ext uri="{C183D7F6-B498-43B3-948B-1728B52AA6E4}">
                <ns3:decorative val="1"/>
              </a:ext>
            </a:extLst>
          </p:cNvPr>
          <p:cNvSpPr>
            <a:spLocks noGrp="1"/>
          </p:cNvSpPr>
          <p:nvPr/>
        </p:nvSpPr>
        <p:spPr>
          <a:xfrm>
            <a:off x="8239125" y="2857500"/>
            <a:ext cx="3333750" cy="2095500"/>
          </a:xfrm>
          <a:prstGeom prst="rect">
            <a:avLst/>
          </a:prstGeom>
          <a:solidFill>
            <a:srgbClr val="F1F5F6"/>
          </a:solidFill>
          <a:ln w="11430">
            <a:solidFill>
              <a:srgbClr val="C9D5DA"/>
            </a:solidFill>
          </a:ln>
        </p:spPr>
      </p:sp>
      <p:sp>
        <p:nvSpPr>
          <p:cNvPr id="11" name="text-139">
            <a:extLst>
              <a:ext uri="{FF2B5EF4-FFF2-40B4-BE49-F238E27FC236}">
                <ns2:creationId id="{159667D2-316E-495B-8D0F-BEF0503CABAC}"/>
              </a:ext>
            </a:extLst>
          </p:cNvPr>
          <p:cNvSpPr>
            <a:spLocks noGrp="1"/>
          </p:cNvSpPr>
          <p:nvPr/>
        </p:nvSpPr>
        <p:spPr>
          <a:xfrm>
            <a:off x="8410575" y="3048000"/>
            <a:ext cx="2990850" cy="628650"/>
          </a:xfrm>
          <a:prstGeom prst="rect">
            <a:avLst/>
          </a:prstGeom>
          <a:noFill/>
          <a:ln w="0">
            <a:noFill/>
          </a:ln>
        </p:spPr>
        <p:txBody>
          <a:bodyPr>
            <a:noAutofit/>
          </a:bodyPr>
          <a:lstStyle>
            <a:defPPr>
              <a:defRPr sz="2550" b="1">
                <a:solidFill>
                  <a:srgbClr val="246E63"/>
                </a:solidFill>
                <a:latin typeface="Calibri"/>
                <a:ea typeface="Calibri"/>
                <a:cs typeface="Calibri"/>
              </a:defRPr>
            </a:defPPr>
            <a:lvl1pPr>
              <a:defRPr sz="2550" b="1">
                <a:solidFill>
                  <a:srgbClr val="246E63"/>
                </a:solidFill>
                <a:latin typeface="Calibri"/>
                <a:ea typeface="Calibri"/>
                <a:cs typeface="Calibri"/>
              </a:defRPr>
            </a:lvl1pPr>
            <a:lvl2pPr>
              <a:defRPr sz="2550" b="1">
                <a:solidFill>
                  <a:srgbClr val="246E63"/>
                </a:solidFill>
                <a:latin typeface="Calibri"/>
                <a:ea typeface="Calibri"/>
                <a:cs typeface="Calibri"/>
              </a:defRPr>
            </a:lvl2pPr>
            <a:lvl3pPr>
              <a:defRPr sz="2550" b="1">
                <a:solidFill>
                  <a:srgbClr val="246E63"/>
                </a:solidFill>
                <a:latin typeface="Calibri"/>
                <a:ea typeface="Calibri"/>
                <a:cs typeface="Calibri"/>
              </a:defRPr>
            </a:lvl3pPr>
            <a:lvl4pPr>
              <a:defRPr sz="2550" b="1">
                <a:solidFill>
                  <a:srgbClr val="246E63"/>
                </a:solidFill>
                <a:latin typeface="Calibri"/>
                <a:ea typeface="Calibri"/>
                <a:cs typeface="Calibri"/>
              </a:defRPr>
            </a:lvl4pPr>
            <a:lvl5pPr>
              <a:defRPr sz="2550" b="1">
                <a:solidFill>
                  <a:srgbClr val="246E63"/>
                </a:solidFill>
                <a:latin typeface="Calibri"/>
                <a:ea typeface="Calibri"/>
                <a:cs typeface="Calibri"/>
              </a:defRPr>
            </a:lvl5pPr>
            <a:lvl6pPr>
              <a:defRPr sz="2550" b="1">
                <a:solidFill>
                  <a:srgbClr val="246E63"/>
                </a:solidFill>
                <a:latin typeface="Calibri"/>
                <a:ea typeface="Calibri"/>
                <a:cs typeface="Calibri"/>
              </a:defRPr>
            </a:lvl6pPr>
            <a:lvl7pPr>
              <a:defRPr sz="2550" b="1">
                <a:solidFill>
                  <a:srgbClr val="246E63"/>
                </a:solidFill>
                <a:latin typeface="Calibri"/>
                <a:ea typeface="Calibri"/>
                <a:cs typeface="Calibri"/>
              </a:defRPr>
            </a:lvl7pPr>
            <a:lvl8pPr>
              <a:defRPr sz="2550" b="1">
                <a:solidFill>
                  <a:srgbClr val="246E63"/>
                </a:solidFill>
                <a:latin typeface="Calibri"/>
                <a:ea typeface="Calibri"/>
                <a:cs typeface="Calibri"/>
              </a:defRPr>
            </a:lvl8pPr>
            <a:lvl9pPr>
              <a:defRPr sz="2550" b="1">
                <a:solidFill>
                  <a:srgbClr val="246E63"/>
                </a:solidFill>
                <a:latin typeface="Calibri"/>
                <a:ea typeface="Calibri"/>
                <a:cs typeface="Calibri"/>
              </a:defRPr>
            </a:lvl9pPr>
          </a:lstStyle>
          <a:p>
            <a:pPr>
              <a:defRPr sz="2550" b="1">
                <a:solidFill>
                  <a:srgbClr val="246E63"/>
                </a:solidFill>
                <a:latin typeface="Calibri"/>
                <a:ea typeface="Calibri"/>
                <a:cs typeface="Calibri"/>
              </a:defRPr>
            </a:pPr>
            <a:r>
              <a:rPr sz="2550" b="1">
                <a:solidFill>
                  <a:srgbClr val="246E63"/>
                </a:solidFill>
                <a:latin typeface="Calibri"/>
                <a:ea typeface="Calibri"/>
                <a:cs typeface="Calibri"/>
              </a:rPr>
              <a:t>Systems</a:t>
            </a:r>
          </a:p>
        </p:txBody>
      </p:sp>
      <p:sp>
        <p:nvSpPr>
          <p:cNvPr id="12" name="text-140">
            <a:extLst>
              <a:ext uri="{FF2B5EF4-FFF2-40B4-BE49-F238E27FC236}">
                <ns2:creationId id="{AA66A7D9-522B-4806-A261-FF12BF0A7C58}"/>
              </a:ext>
            </a:extLst>
          </p:cNvPr>
          <p:cNvSpPr>
            <a:spLocks noGrp="1"/>
          </p:cNvSpPr>
          <p:nvPr/>
        </p:nvSpPr>
        <p:spPr>
          <a:xfrm>
            <a:off x="8410575" y="3990975"/>
            <a:ext cx="2990850" cy="809625"/>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DMS and accounting</a:t>
            </a:r>
          </a:p>
        </p:txBody>
      </p:sp>
      <p:sp>
        <p:nvSpPr>
          <p:cNvPr id="13" name="text-141">
            <a:extLst>
              <a:ext uri="{FF2B5EF4-FFF2-40B4-BE49-F238E27FC236}">
                <ns2:creationId id="{E9A01A12-1B02-4E1B-9AF7-58C8105F908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These are source categories, not sequential stages. Inventory each source before choosing a preparation route.</a:t>
            </a:r>
          </a:p>
        </p:txBody>
      </p:sp>
      <p:sp>
        <p:nvSpPr>
          <p:cNvPr id="3" name="text-131">
            <a:extLst>
              <a:ext uri="{FF2B5EF4-FFF2-40B4-BE49-F238E27FC236}">
                <ns2:creationId id="{3DF541DA-BA15-4C7A-B649-810A5019573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3</a:t>
            </a:r>
          </a:p>
        </p:txBody>
      </p:sp>
    </p:spTree>
    <p:extLst>
      <p:ext uri="{BB962C8B-B14F-4D97-AF65-F5344CB8AC3E}">
        <ns4:creationId val="571890212"/>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Four dimensions of information">
    <p:bg>
      <p:bgPr>
        <a:solidFill>
          <a:srgbClr val="FFFFFF"/>
        </a:solidFill>
      </p:bgPr>
    </p:bg>
    <p:spTree>
      <p:nvGrpSpPr>
        <p:cNvPr id="1" name=""/>
        <p:cNvGrpSpPr/>
        <p:nvPr/>
      </p:nvGrpSpPr>
      <p:grpSpPr>
        <a:xfrm/>
      </p:grpSpPr>
      <p:sp>
        <p:nvSpPr>
          <p:cNvPr id="5" name="text-142">
            <a:extLst>
              <a:ext uri="{FF2B5EF4-FFF2-40B4-BE49-F238E27FC236}">
                <ns2:creationId id="{84CC7E41-FD5A-411C-B4DD-B8955BCF452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43">
            <a:extLst>
              <a:ext uri="{FF2B5EF4-FFF2-40B4-BE49-F238E27FC236}">
                <ns2:creationId id="{6E408B8D-AA0E-42AF-9F10-2D7966C22BB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Four dimensions of information</a:t>
            </a:r>
          </a:p>
        </p:txBody>
      </p:sp>
      <p:graphicFrame>
        <p:nvGraphicFramePr>
          <p:cNvPr id="4" name="">
            <a:extLst>
              <a:ext uri="{FF2B5EF4-FFF2-40B4-BE49-F238E27FC236}">
                <ns2:creationId id="{694E6941-F2DA-48FB-A269-F4C7CC192EED}"/>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Dimension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Location or system</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Records room, drive, NetDocuments, database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Modality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Text, document image, audio</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Structure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Tabular, semi-structured, narrative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Format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DOCX, PDF, CSV, JSON, XML</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44">
            <a:extLst>
              <a:ext uri="{FF2B5EF4-FFF2-40B4-BE49-F238E27FC236}">
                <ns2:creationId id="{C568ADF4-D3CD-44A7-B19A-58971941DBC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4</a:t>
            </a:r>
          </a:p>
        </p:txBody>
      </p:sp>
    </p:spTree>
    <p:extLst>
      <p:ext uri="{BB962C8B-B14F-4D97-AF65-F5344CB8AC3E}">
        <ns3:creationId val="1168612261"/>
      </p:ext>
    </p:extLst>
  </p:cSld>
  <p:transition spd="med" advClick="1">
    <p:fade/>
  </p:transition>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name="A searchable PDF and a page image">
    <p:bg>
      <p:bgPr>
        <a:solidFill>
          <a:srgbClr val="FFFFFF"/>
        </a:solidFill>
      </p:bgPr>
    </p:bg>
    <p:spTree>
      <p:nvGrpSpPr>
        <p:cNvPr id="1" name=""/>
        <p:cNvGrpSpPr/>
        <p:nvPr/>
      </p:nvGrpSpPr>
      <p:grpSpPr>
        <a:xfrm/>
      </p:grpSpPr>
      <p:sp>
        <p:nvSpPr>
          <p:cNvPr id="9" name="text-145">
            <a:extLst>
              <a:ext uri="{FF2B5EF4-FFF2-40B4-BE49-F238E27FC236}">
                <ns2:creationId id="{28566861-17D6-439E-BC93-DB177997EFC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46">
            <a:extLst>
              <a:ext uri="{FF2B5EF4-FFF2-40B4-BE49-F238E27FC236}">
                <ns2:creationId id="{5E80F34E-689B-4688-909C-3D6D3FE8B41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searchable PDF and a page image</a:t>
            </a:r>
          </a:p>
        </p:txBody>
      </p:sp>
      <p:pic>
        <p:nvPicPr>
          <p:cNvPr id="4" name="">
            <a:extLst>
              <a:ext uri="{FF2B5EF4-FFF2-40B4-BE49-F238E27FC236}">
                <ns2:creationId id="{4A8EFD80-E682-46B5-A2BC-BF0090733613}"/>
              </a:ext>
            </a:extLst>
          </p:cNvPr>
          <p:cNvPicPr>
            <a:picLocks noChangeAspect="1"/>
          </p:cNvPicPr>
          <p:nvPr/>
        </p:nvPicPr>
        <p:blipFill>
          <a:blip r:embed="R0b10628dfcdf42b9"/>
          <a:stretch/>
        </p:blipFill>
        <p:spPr>
          <a:xfrm>
            <a:off x="619125" y="2274738"/>
            <a:ext cx="5048250" cy="3070524"/>
          </a:xfrm>
          <a:prstGeom prst="rect">
            <a:avLst/>
          </a:prstGeom>
        </p:spPr>
      </p:pic>
      <p:sp>
        <p:nvSpPr>
          <p:cNvPr id="5" name="text-148">
            <a:extLst>
              <a:ext uri="{FF2B5EF4-FFF2-40B4-BE49-F238E27FC236}">
                <ns2:creationId id="{938FBD73-02C9-4235-AFDF-88C42791C222}"/>
              </a:ext>
            </a:extLst>
          </p:cNvPr>
          <p:cNvSpPr>
            <a:spLocks noGrp="1"/>
          </p:cNvSpPr>
          <p:nvPr/>
        </p:nvSpPr>
        <p:spPr>
          <a:xfrm>
            <a:off x="6477000" y="2000250"/>
            <a:ext cx="5048250" cy="428625"/>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EXTRACT AND VERIFY</a:t>
            </a:r>
          </a:p>
        </p:txBody>
      </p:sp>
      <p:sp>
        <p:nvSpPr>
          <p:cNvPr id="6" name="text-149">
            <a:extLst>
              <a:ext uri="{FF2B5EF4-FFF2-40B4-BE49-F238E27FC236}">
                <ns2:creationId id="{6060FF0C-59BA-433E-A16D-C911FCDE4C74}"/>
              </a:ext>
            </a:extLst>
          </p:cNvPr>
          <p:cNvSpPr>
            <a:spLocks noGrp="1"/>
          </p:cNvSpPr>
          <p:nvPr/>
        </p:nvSpPr>
        <p:spPr>
          <a:xfrm>
            <a:off x="6477000" y="2695575"/>
            <a:ext cx="5048250" cy="161925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Searchable text is useful only if the rule, negation, exception and condition survive.</a:t>
            </a:r>
          </a:p>
        </p:txBody>
      </p:sp>
      <p:sp>
        <p:nvSpPr>
          <p:cNvPr id="7" name="text-150">
            <a:extLst>
              <a:ext uri="{FF2B5EF4-FFF2-40B4-BE49-F238E27FC236}">
                <ns2:creationId id="{0554F91A-5E42-4E88-B23E-71A8C8EAE702}"/>
              </a:ext>
            </a:extLst>
          </p:cNvPr>
          <p:cNvSpPr>
            <a:spLocks noGrp="1"/>
          </p:cNvSpPr>
          <p:nvPr/>
        </p:nvSpPr>
        <p:spPr>
          <a:xfrm>
            <a:off x="6477000" y="4714875"/>
            <a:ext cx="5048250" cy="809625"/>
          </a:xfrm>
          <a:prstGeom prst="rect">
            <a:avLst/>
          </a:prstGeom>
          <a:noFill/>
          <a:ln w="0">
            <a:noFill/>
          </a:ln>
        </p:spPr>
        <p:txBody>
          <a:bodyPr>
            <a:noAutofit/>
          </a:bodyPr>
          <a:lstStyle>
            <a:defPPr>
              <a:defRPr sz="2250" b="1">
                <a:solidFill>
                  <a:srgbClr val="C94E29"/>
                </a:solidFill>
                <a:latin typeface="Calibri"/>
                <a:ea typeface="Calibri"/>
                <a:cs typeface="Calibri"/>
              </a:defRPr>
            </a:defPPr>
            <a:lvl1pPr>
              <a:defRPr sz="2250" b="1">
                <a:solidFill>
                  <a:srgbClr val="C94E29"/>
                </a:solidFill>
                <a:latin typeface="Calibri"/>
                <a:ea typeface="Calibri"/>
                <a:cs typeface="Calibri"/>
              </a:defRPr>
            </a:lvl1pPr>
            <a:lvl2pPr>
              <a:defRPr sz="2250" b="1">
                <a:solidFill>
                  <a:srgbClr val="C94E29"/>
                </a:solidFill>
                <a:latin typeface="Calibri"/>
                <a:ea typeface="Calibri"/>
                <a:cs typeface="Calibri"/>
              </a:defRPr>
            </a:lvl2pPr>
            <a:lvl3pPr>
              <a:defRPr sz="2250" b="1">
                <a:solidFill>
                  <a:srgbClr val="C94E29"/>
                </a:solidFill>
                <a:latin typeface="Calibri"/>
                <a:ea typeface="Calibri"/>
                <a:cs typeface="Calibri"/>
              </a:defRPr>
            </a:lvl3pPr>
            <a:lvl4pPr>
              <a:defRPr sz="2250" b="1">
                <a:solidFill>
                  <a:srgbClr val="C94E29"/>
                </a:solidFill>
                <a:latin typeface="Calibri"/>
                <a:ea typeface="Calibri"/>
                <a:cs typeface="Calibri"/>
              </a:defRPr>
            </a:lvl4pPr>
            <a:lvl5pPr>
              <a:defRPr sz="2250" b="1">
                <a:solidFill>
                  <a:srgbClr val="C94E29"/>
                </a:solidFill>
                <a:latin typeface="Calibri"/>
                <a:ea typeface="Calibri"/>
                <a:cs typeface="Calibri"/>
              </a:defRPr>
            </a:lvl5pPr>
            <a:lvl6pPr>
              <a:defRPr sz="2250" b="1">
                <a:solidFill>
                  <a:srgbClr val="C94E29"/>
                </a:solidFill>
                <a:latin typeface="Calibri"/>
                <a:ea typeface="Calibri"/>
                <a:cs typeface="Calibri"/>
              </a:defRPr>
            </a:lvl6pPr>
            <a:lvl7pPr>
              <a:defRPr sz="2250" b="1">
                <a:solidFill>
                  <a:srgbClr val="C94E29"/>
                </a:solidFill>
                <a:latin typeface="Calibri"/>
                <a:ea typeface="Calibri"/>
                <a:cs typeface="Calibri"/>
              </a:defRPr>
            </a:lvl7pPr>
            <a:lvl8pPr>
              <a:defRPr sz="2250" b="1">
                <a:solidFill>
                  <a:srgbClr val="C94E29"/>
                </a:solidFill>
                <a:latin typeface="Calibri"/>
                <a:ea typeface="Calibri"/>
                <a:cs typeface="Calibri"/>
              </a:defRPr>
            </a:lvl8pPr>
            <a:lvl9pPr>
              <a:defRPr sz="2250" b="1">
                <a:solidFill>
                  <a:srgbClr val="C94E29"/>
                </a:solidFill>
                <a:latin typeface="Calibri"/>
                <a:ea typeface="Calibri"/>
                <a:cs typeface="Calibri"/>
              </a:defRPr>
            </a:lvl9pPr>
          </a:lstStyle>
          <a:p>
            <a:pPr>
              <a:defRPr sz="2250" b="1">
                <a:solidFill>
                  <a:srgbClr val="C94E29"/>
                </a:solidFill>
                <a:latin typeface="Calibri"/>
                <a:ea typeface="Calibri"/>
                <a:cs typeface="Calibri"/>
              </a:defRPr>
            </a:pPr>
            <a:r>
              <a:rPr sz="2250" b="1">
                <a:solidFill>
                  <a:srgbClr val="C94E29"/>
                </a:solidFill>
                <a:latin typeface="Calibri"/>
                <a:ea typeface="Calibri"/>
                <a:cs typeface="Calibri"/>
              </a:rPr>
              <a:t>Compare the observed OCR with the original page.</a:t>
            </a:r>
          </a:p>
        </p:txBody>
      </p:sp>
      <p:sp>
        <p:nvSpPr>
          <p:cNvPr id="8" name="text-151">
            <a:extLst>
              <a:ext uri="{FF2B5EF4-FFF2-40B4-BE49-F238E27FC236}">
                <ns2:creationId id="{2805D9DF-DB8C-476F-8F18-F7C0B19AB3B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Synthetic scan of an authored source. A saved OCR run is separate from the deliberately damaged extract.</a:t>
            </a:r>
          </a:p>
        </p:txBody>
      </p:sp>
      <p:sp>
        <p:nvSpPr>
          <p:cNvPr id="3" name="text-147">
            <a:extLst>
              <a:ext uri="{FF2B5EF4-FFF2-40B4-BE49-F238E27FC236}">
                <ns2:creationId id="{D5F0B5D2-4948-49AC-B1C4-650ABC1AB1F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5</a:t>
            </a:r>
          </a:p>
        </p:txBody>
      </p:sp>
    </p:spTree>
    <p:extLst>
      <p:ext uri="{BB962C8B-B14F-4D97-AF65-F5344CB8AC3E}">
        <ns4:creationId val="2030371644"/>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What the firm needs to know about each source">
    <p:bg>
      <p:bgPr>
        <a:solidFill>
          <a:srgbClr val="FFFFFF"/>
        </a:solidFill>
      </p:bgPr>
    </p:bg>
    <p:spTree>
      <p:nvGrpSpPr>
        <p:cNvPr id="1" name=""/>
        <p:cNvGrpSpPr/>
        <p:nvPr/>
      </p:nvGrpSpPr>
      <p:grpSpPr>
        <a:xfrm/>
      </p:grpSpPr>
      <p:sp>
        <p:nvSpPr>
          <p:cNvPr id="12" name="text-152">
            <a:extLst>
              <a:ext uri="{FF2B5EF4-FFF2-40B4-BE49-F238E27FC236}">
                <ns2:creationId id="{D84CF4A8-CB9A-454B-83E3-C9809654BC1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53">
            <a:extLst>
              <a:ext uri="{FF2B5EF4-FFF2-40B4-BE49-F238E27FC236}">
                <ns2:creationId id="{7A1FB074-122E-4BD6-B3C8-9D9435846C9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the firm needs to know about each source</a:t>
            </a:r>
          </a:p>
        </p:txBody>
      </p:sp>
      <p:sp>
        <p:nvSpPr>
          <p:cNvPr id="4" name="text-155">
            <a:extLst>
              <a:ext uri="{FF2B5EF4-FFF2-40B4-BE49-F238E27FC236}">
                <ns2:creationId id="{C420702C-BB00-46A3-A505-6721963C911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6">
            <a:extLst>
              <a:ext uri="{FF2B5EF4-FFF2-40B4-BE49-F238E27FC236}">
                <ns2:creationId id="{7AABDAAA-8CE3-4B05-9DC1-C3138273977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Matter and information owner</a:t>
            </a:r>
          </a:p>
        </p:txBody>
      </p:sp>
      <p:sp>
        <p:nvSpPr>
          <p:cNvPr id="6" name="text-157">
            <a:extLst>
              <a:ext uri="{FF2B5EF4-FFF2-40B4-BE49-F238E27FC236}">
                <ns2:creationId id="{09B53306-930F-4440-8D04-DE381E3A6380}"/>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8">
            <a:extLst>
              <a:ext uri="{FF2B5EF4-FFF2-40B4-BE49-F238E27FC236}">
                <ns2:creationId id="{3C42F9EA-4154-4F36-8BC0-2D5302DAEC73}"/>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Authoritative version and effective date</a:t>
            </a:r>
          </a:p>
        </p:txBody>
      </p:sp>
      <p:sp>
        <p:nvSpPr>
          <p:cNvPr id="8" name="text-159">
            <a:extLst>
              <a:ext uri="{FF2B5EF4-FFF2-40B4-BE49-F238E27FC236}">
                <ns2:creationId id="{DB3B0B54-8A66-4873-B121-8758E279B46C}"/>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0">
            <a:extLst>
              <a:ext uri="{FF2B5EF4-FFF2-40B4-BE49-F238E27FC236}">
                <ns2:creationId id="{14E41BE4-5A1D-4891-9C9E-0C0D81E75B21}"/>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Permitted readers and intended use</a:t>
            </a:r>
          </a:p>
        </p:txBody>
      </p:sp>
      <p:sp>
        <p:nvSpPr>
          <p:cNvPr id="10" name="text-161">
            <a:extLst>
              <a:ext uri="{FF2B5EF4-FFF2-40B4-BE49-F238E27FC236}">
                <ns2:creationId id="{162CD809-4C35-4B2E-A4F0-51D044449770}"/>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62">
            <a:extLst>
              <a:ext uri="{FF2B5EF4-FFF2-40B4-BE49-F238E27FC236}">
                <ns2:creationId id="{03A69B16-3DA4-442F-A7F2-32DEBFB8F087}"/>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Update, retention and disposal responsibilities</a:t>
            </a:r>
          </a:p>
        </p:txBody>
      </p:sp>
      <p:sp>
        <p:nvSpPr>
          <p:cNvPr id="3" name="text-154">
            <a:extLst>
              <a:ext uri="{FF2B5EF4-FFF2-40B4-BE49-F238E27FC236}">
                <ns2:creationId id="{4B3BD96C-817D-42FB-8A51-6A20AFB2E68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6</a:t>
            </a:r>
          </a:p>
        </p:txBody>
      </p:sp>
      <p:pic xmlns:r="http://schemas.openxmlformats.org/officeDocument/2006/relationships">
        <p:nvPicPr>
          <p:cNvPr id="13" name="illustration-database" descr="Illustration: a collection of records and a matter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09780117"/>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 sample inventory">
    <p:bg>
      <p:bgPr>
        <a:solidFill>
          <a:srgbClr val="FFFFFF"/>
        </a:solidFill>
      </p:bgPr>
    </p:bg>
    <p:spTree>
      <p:nvGrpSpPr>
        <p:cNvPr id="1" name=""/>
        <p:cNvGrpSpPr/>
        <p:nvPr/>
      </p:nvGrpSpPr>
      <p:grpSpPr>
        <a:xfrm/>
      </p:grpSpPr>
      <p:sp>
        <p:nvSpPr>
          <p:cNvPr id="5" name="text-163">
            <a:extLst>
              <a:ext uri="{FF2B5EF4-FFF2-40B4-BE49-F238E27FC236}">
                <ns2:creationId id="{B5312358-AB89-4A77-BB6F-500F0C8348C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64">
            <a:extLst>
              <a:ext uri="{FF2B5EF4-FFF2-40B4-BE49-F238E27FC236}">
                <ns2:creationId id="{2656D8E9-1472-4E37-BD78-5F919BA6434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sample inventory</a:t>
            </a:r>
          </a:p>
        </p:txBody>
      </p:sp>
      <p:graphicFrame>
        <p:nvGraphicFramePr>
          <p:cNvPr id="4" name="">
            <a:extLst>
              <a:ext uri="{FF2B5EF4-FFF2-40B4-BE49-F238E27FC236}">
                <ns2:creationId id="{DC2E9799-C600-4253-AF34-C0770F0C2EED}"/>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Role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Preparation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CONTRACT-01 v2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Executed agreement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Extract and verify clauses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Draft v1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Superseded context</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Label and exclude from default answers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September ledger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Financial evidence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Check fields, period and units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Public judgment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Legal authority candidate</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court, date and treatment</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65">
            <a:extLst>
              <a:ext uri="{FF2B5EF4-FFF2-40B4-BE49-F238E27FC236}">
                <ns2:creationId id="{91DA4D4D-B0F5-42CA-B36C-B920A698346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7</a:t>
            </a:r>
          </a:p>
        </p:txBody>
      </p:sp>
    </p:spTree>
    <p:extLst>
      <p:ext uri="{BB962C8B-B14F-4D97-AF65-F5344CB8AC3E}">
        <ns3:creationId val="819822203"/>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document preparation pipeline">
    <p:bg>
      <p:bgPr>
        <a:solidFill>
          <a:srgbClr val="FFFFFF"/>
        </a:solidFill>
      </p:bgPr>
    </p:bg>
    <p:spTree>
      <p:nvGrpSpPr>
        <p:cNvPr id="1" name=""/>
        <p:cNvGrpSpPr/>
        <p:nvPr/>
      </p:nvGrpSpPr>
      <p:grpSpPr>
        <a:xfrm/>
      </p:grpSpPr>
      <p:cxnSp>
        <p:nvCxnSpPr>
          <p:cNvPr id="22" name="reveal-04-arrow" descr="The document preparation pipeline">
            <a:extLst>
              <a:ext uri="{FF2B5EF4-FFF2-40B4-BE49-F238E27FC236}">
                <ns2:creationId id="{F953D28D-179E-4105-93B1-25321DC9B1C5}"/>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1FC8800E-E8E9-4C2F-A884-316BE54D69A4}"/>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2E4F4385-AD27-42EB-AF1E-F62944620E4E}"/>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166">
            <a:extLst>
              <a:ext uri="{FF2B5EF4-FFF2-40B4-BE49-F238E27FC236}">
                <ns2:creationId id="{78EF6624-89D7-4E66-B492-2E1D6607073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67">
            <a:extLst>
              <a:ext uri="{FF2B5EF4-FFF2-40B4-BE49-F238E27FC236}">
                <ns2:creationId id="{E69268DC-D242-4D33-9CAE-70EBA690203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document preparation pipeline</a:t>
            </a:r>
          </a:p>
        </p:txBody>
      </p:sp>
      <p:sp>
        <p:nvSpPr>
          <p:cNvPr id="4" name="reveal-01-stage">
            <a:extLst>
              <a:ext uri="{FF2B5EF4-FFF2-40B4-BE49-F238E27FC236}">
                <ns2:creationId id="{86562475-26A2-4BCE-9936-ECC2F1750121}"/>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6F92B567-6FCB-4E95-9F44-B25498AA3B77}"/>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904D36D2-3288-4493-A4EF-38955F3A4602}"/>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Capture</a:t>
            </a:r>
          </a:p>
        </p:txBody>
      </p:sp>
      <p:sp>
        <p:nvSpPr>
          <p:cNvPr id="7" name="reveal-01-detail">
            <a:extLst>
              <a:ext uri="{FF2B5EF4-FFF2-40B4-BE49-F238E27FC236}">
                <ns2:creationId id="{B3292625-9792-4146-BFE3-96B48A28F8D8}"/>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Scan or retrieve</a:t>
            </a:r>
          </a:p>
        </p:txBody>
      </p:sp>
      <p:sp>
        <p:nvSpPr>
          <p:cNvPr id="8" name="reveal-02-stage">
            <a:extLst>
              <a:ext uri="{FF2B5EF4-FFF2-40B4-BE49-F238E27FC236}">
                <ns2:creationId id="{74905489-2992-47F1-83B9-9A60790E7BBF}"/>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80409EF7-0DBD-44A3-BFBB-5A00236CD425}"/>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F98FF349-1307-4A12-834E-B3BBCB551214}"/>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Extract</a:t>
            </a:r>
          </a:p>
        </p:txBody>
      </p:sp>
      <p:sp>
        <p:nvSpPr>
          <p:cNvPr id="11" name="reveal-02-detail">
            <a:extLst>
              <a:ext uri="{FF2B5EF4-FFF2-40B4-BE49-F238E27FC236}">
                <ns2:creationId id="{BF472415-63A0-44FB-B6B5-0E423F5D0FEA}"/>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Text and layout</a:t>
            </a:r>
          </a:p>
        </p:txBody>
      </p:sp>
      <p:sp>
        <p:nvSpPr>
          <p:cNvPr id="12" name="reveal-03-stage">
            <a:extLst>
              <a:ext uri="{FF2B5EF4-FFF2-40B4-BE49-F238E27FC236}">
                <ns2:creationId id="{86F78857-422E-4CEB-B422-103E1F36B190}"/>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0BC36CD7-AF85-4377-89E1-33F9501F646C}"/>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DC10157B-A0CF-4137-90FA-980A334C8591}"/>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Check</a:t>
            </a:r>
          </a:p>
        </p:txBody>
      </p:sp>
      <p:sp>
        <p:nvSpPr>
          <p:cNvPr id="15" name="reveal-03-detail">
            <a:extLst>
              <a:ext uri="{FF2B5EF4-FFF2-40B4-BE49-F238E27FC236}">
                <ns2:creationId id="{EBC531F4-602D-4DC1-B7B4-CC77DC352B5B}"/>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Original against extract</a:t>
            </a:r>
          </a:p>
        </p:txBody>
      </p:sp>
      <p:sp>
        <p:nvSpPr>
          <p:cNvPr id="16" name="reveal-04-stage">
            <a:extLst>
              <a:ext uri="{FF2B5EF4-FFF2-40B4-BE49-F238E27FC236}">
                <ns2:creationId id="{CF91564C-9B03-4651-9A1C-19D1EC60BD00}"/>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2B93E56A-1DA2-486F-A6D6-87202EAEECE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796C52CF-712F-4E4E-ABAA-DB0604323B11}"/>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Represent</a:t>
            </a:r>
          </a:p>
        </p:txBody>
      </p:sp>
      <p:sp>
        <p:nvSpPr>
          <p:cNvPr id="19" name="reveal-04-detail">
            <a:extLst>
              <a:ext uri="{FF2B5EF4-FFF2-40B4-BE49-F238E27FC236}">
                <ns2:creationId id="{B20B7D48-CE0C-4272-9A09-46CE9BB9045B}"/>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Structure and metadata</a:t>
            </a:r>
          </a:p>
        </p:txBody>
      </p:sp>
      <p:sp>
        <p:nvSpPr>
          <p:cNvPr id="3" name="text-168">
            <a:extLst>
              <a:ext uri="{FF2B5EF4-FFF2-40B4-BE49-F238E27FC236}">
                <ns2:creationId id="{B8E67459-7C86-4A9E-A1B0-0F7ED81A974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8</a:t>
            </a:r>
          </a:p>
        </p:txBody>
      </p:sp>
    </p:spTree>
    <p:extLst>
      <p:ext uri="{BB962C8B-B14F-4D97-AF65-F5344CB8AC3E}">
        <ns4:creationId val="10833822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OCR and structured extraction">
    <p:bg>
      <p:bgPr>
        <a:solidFill>
          <a:srgbClr val="FFFFFF"/>
        </a:solidFill>
      </p:bgPr>
    </p:bg>
    <p:spTree>
      <p:nvGrpSpPr>
        <p:cNvPr id="1" name=""/>
        <p:cNvGrpSpPr/>
        <p:nvPr/>
      </p:nvGrpSpPr>
      <p:grpSpPr>
        <a:xfrm/>
      </p:grpSpPr>
      <p:sp>
        <p:nvSpPr>
          <p:cNvPr id="10" name="text-172">
            <a:extLst>
              <a:ext uri="{FF2B5EF4-FFF2-40B4-BE49-F238E27FC236}">
                <ns2:creationId id="{2CDEBE1B-77FE-469C-84BE-C6A3D88D93A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73">
            <a:extLst>
              <a:ext uri="{FF2B5EF4-FFF2-40B4-BE49-F238E27FC236}">
                <ns2:creationId id="{1357DE7A-F4D6-4660-A724-BA549A1F1C3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OCR and structured extraction</a:t>
            </a:r>
          </a:p>
        </p:txBody>
      </p:sp>
      <p:sp>
        <p:nvSpPr>
          <p:cNvPr id="4" name="text-175">
            <a:extLst>
              <a:ext uri="{FF2B5EF4-FFF2-40B4-BE49-F238E27FC236}">
                <ns2:creationId id="{1DE262F7-DFBD-47D0-8714-F55469962A7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6">
            <a:extLst>
              <a:ext uri="{FF2B5EF4-FFF2-40B4-BE49-F238E27FC236}">
                <ns2:creationId id="{70006CEA-D65C-4177-BCE2-2FED17B1A5B1}"/>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Optical character recognition converts images of text into machine-readable text.</a:t>
            </a:r>
          </a:p>
        </p:txBody>
      </p:sp>
      <p:sp>
        <p:nvSpPr>
          <p:cNvPr id="6" name="text-177">
            <a:extLst>
              <a:ext uri="{FF2B5EF4-FFF2-40B4-BE49-F238E27FC236}">
                <ns2:creationId id="{3FE875E8-D991-4497-A2B9-8393D8B1095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78">
            <a:extLst>
              <a:ext uri="{FF2B5EF4-FFF2-40B4-BE49-F238E27FC236}">
                <ns2:creationId id="{C87FAB5C-A596-4684-A865-FACD6D70C24C}"/>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Layout analysis identifies document elements and their relationships.</a:t>
            </a:r>
          </a:p>
        </p:txBody>
      </p:sp>
      <p:sp>
        <p:nvSpPr>
          <p:cNvPr id="8" name="text-179">
            <a:extLst>
              <a:ext uri="{FF2B5EF4-FFF2-40B4-BE49-F238E27FC236}">
                <ns2:creationId id="{A5D27B43-504E-4060-8B2D-C7ABA68A03C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80">
            <a:extLst>
              <a:ext uri="{FF2B5EF4-FFF2-40B4-BE49-F238E27FC236}">
                <ns2:creationId id="{F7ABE5C1-456B-4E1C-B4E6-F5F747CDF93A}"/>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Structured extraction maps selected content into defined fields.</a:t>
            </a:r>
          </a:p>
        </p:txBody>
      </p:sp>
      <p:sp>
        <p:nvSpPr>
          <p:cNvPr id="3" name="text-174">
            <a:extLst>
              <a:ext uri="{FF2B5EF4-FFF2-40B4-BE49-F238E27FC236}">
                <ns2:creationId id="{BC8EF53B-E2D3-4603-AA8F-71B0DF03190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9</a:t>
            </a:r>
          </a:p>
        </p:txBody>
      </p:sp>
      <p:pic xmlns:r="http://schemas.openxmlformats.org/officeDocument/2006/relationships">
        <p:nvPicPr>
          <p:cNvPr id="11" name="illustration-scanpage" descr="Illustration: a scanned page with garbled tex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97440195"/>
      </p:ext>
    </p:extLst>
  </p:cSld>
  <p:transition spd="med" advClick="1">
    <p:fade/>
  </p:transition>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name="OCR and document layout">
    <p:bg>
      <p:bgPr>
        <a:solidFill>
          <a:srgbClr val="FFFFFF"/>
        </a:solidFill>
      </p:bgPr>
    </p:bg>
    <p:spTree>
      <p:nvGrpSpPr>
        <p:cNvPr id="1" name=""/>
        <p:cNvGrpSpPr/>
        <p:nvPr/>
      </p:nvGrpSpPr>
      <p:grpSpPr>
        <a:xfrm/>
      </p:grpSpPr>
      <p:sp>
        <p:nvSpPr>
          <p:cNvPr id="10" name="text-181">
            <a:extLst>
              <a:ext uri="{FF2B5EF4-FFF2-40B4-BE49-F238E27FC236}">
                <ns2:creationId id="{68DE4472-932B-4080-9E84-61417CC469C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82">
            <a:extLst>
              <a:ext uri="{FF2B5EF4-FFF2-40B4-BE49-F238E27FC236}">
                <ns2:creationId id="{5DD5E091-BD17-41B6-BB61-8D598588115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OCR and document layout</a:t>
            </a:r>
          </a:p>
        </p:txBody>
      </p:sp>
      <p:pic>
        <p:nvPicPr>
          <p:cNvPr id="4" name="">
            <a:extLst>
              <a:ext uri="{FF2B5EF4-FFF2-40B4-BE49-F238E27FC236}">
                <ns2:creationId id="{786A4C79-26D4-43E2-B20B-C636D04D9B13}"/>
              </a:ext>
            </a:extLst>
          </p:cNvPr>
          <p:cNvPicPr>
            <a:picLocks noChangeAspect="1"/>
          </p:cNvPicPr>
          <p:nvPr/>
        </p:nvPicPr>
        <p:blipFill>
          <a:blip r:embed="R1159308e9a7143e7"/>
          <a:stretch/>
        </p:blipFill>
        <p:spPr>
          <a:xfrm>
            <a:off x="1928092" y="1971675"/>
            <a:ext cx="3668566" cy="3695700"/>
          </a:xfrm>
          <a:prstGeom prst="rect">
            <a:avLst/>
          </a:prstGeom>
        </p:spPr>
      </p:pic>
      <p:sp>
        <p:nvSpPr>
          <p:cNvPr id="5" name="text-184">
            <a:extLst>
              <a:ext uri="{FF2B5EF4-FFF2-40B4-BE49-F238E27FC236}">
                <ns2:creationId id="{69DCF6ED-1274-46C2-B8E1-AE07494B6E39}"/>
              </a:ext>
            </a:extLst>
          </p:cNvPr>
          <p:cNvSpPr>
            <a:spLocks noGrp="1"/>
          </p:cNvSpPr>
          <p:nvPr/>
        </p:nvSpPr>
        <p:spPr>
          <a:xfrm>
            <a:off x="7429500" y="2076450"/>
            <a:ext cx="4000500"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Characters and words</a:t>
            </a:r>
          </a:p>
        </p:txBody>
      </p:sp>
      <p:sp>
        <p:nvSpPr>
          <p:cNvPr id="6" name="text-185">
            <a:extLst>
              <a:ext uri="{FF2B5EF4-FFF2-40B4-BE49-F238E27FC236}">
                <ns2:creationId id="{A1778F7F-35C6-4D3B-8A81-F087FA34F893}"/>
              </a:ext>
            </a:extLst>
          </p:cNvPr>
          <p:cNvSpPr>
            <a:spLocks noGrp="1"/>
          </p:cNvSpPr>
          <p:nvPr/>
        </p:nvSpPr>
        <p:spPr>
          <a:xfrm>
            <a:off x="7429500" y="2800350"/>
            <a:ext cx="4000500" cy="85725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OCR recovers readable text.</a:t>
            </a:r>
          </a:p>
        </p:txBody>
      </p:sp>
      <p:sp>
        <p:nvSpPr>
          <p:cNvPr id="7" name="text-186">
            <a:extLst>
              <a:ext uri="{FF2B5EF4-FFF2-40B4-BE49-F238E27FC236}">
                <ns2:creationId id="{B3499B13-69EB-4DC5-8426-88A05F44D381}"/>
              </a:ext>
            </a:extLst>
          </p:cNvPr>
          <p:cNvSpPr>
            <a:spLocks noGrp="1"/>
          </p:cNvSpPr>
          <p:nvPr/>
        </p:nvSpPr>
        <p:spPr>
          <a:xfrm>
            <a:off x="7429500" y="4010025"/>
            <a:ext cx="4000500"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Layout and relationships</a:t>
            </a:r>
          </a:p>
        </p:txBody>
      </p:sp>
      <p:sp>
        <p:nvSpPr>
          <p:cNvPr id="8" name="text-187">
            <a:extLst>
              <a:ext uri="{FF2B5EF4-FFF2-40B4-BE49-F238E27FC236}">
                <ns2:creationId id="{8A737734-FC0A-47D3-B9FE-94441141AA76}"/>
              </a:ext>
            </a:extLst>
          </p:cNvPr>
          <p:cNvSpPr>
            <a:spLocks noGrp="1"/>
          </p:cNvSpPr>
          <p:nvPr/>
        </p:nvSpPr>
        <p:spPr>
          <a:xfrm>
            <a:off x="7429500" y="4733925"/>
            <a:ext cx="4000500" cy="1047750"/>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Headings, tables and reading order preserve context.</a:t>
            </a:r>
          </a:p>
        </p:txBody>
      </p:sp>
      <p:sp>
        <p:nvSpPr>
          <p:cNvPr id="9" name="text-188">
            <a:extLst>
              <a:ext uri="{FF2B5EF4-FFF2-40B4-BE49-F238E27FC236}">
                <ns2:creationId id="{F2D5AF5E-88FF-4B82-AB2A-34532F9CA37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Microsoft Document Intelligence documentation example</a:t>
            </a:r>
          </a:p>
        </p:txBody>
      </p:sp>
      <p:sp>
        <p:nvSpPr>
          <p:cNvPr id="3" name="text-183">
            <a:extLst>
              <a:ext uri="{FF2B5EF4-FFF2-40B4-BE49-F238E27FC236}">
                <ns2:creationId id="{357F7B11-7A32-40F2-8A57-3283F538F63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10</a:t>
            </a:r>
          </a:p>
        </p:txBody>
      </p:sp>
    </p:spTree>
    <p:extLst>
      <p:ext uri="{BB962C8B-B14F-4D97-AF65-F5344CB8AC3E}">
        <ns4:creationId val="973997013"/>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n extraction error with legal consequences">
    <p:bg>
      <p:bgPr>
        <a:solidFill>
          <a:srgbClr val="FFFFFF"/>
        </a:solidFill>
      </p:bgPr>
    </p:bg>
    <p:spTree>
      <p:nvGrpSpPr>
        <p:cNvPr id="1" name=""/>
        <p:cNvGrpSpPr/>
        <p:nvPr/>
      </p:nvGrpSpPr>
      <p:grpSpPr>
        <a:xfrm/>
      </p:grpSpPr>
      <p:sp>
        <p:nvSpPr>
          <p:cNvPr id="8" name="text-189">
            <a:extLst>
              <a:ext uri="{FF2B5EF4-FFF2-40B4-BE49-F238E27FC236}">
                <ns2:creationId id="{3ED415D1-B0CE-481D-8350-4C53D4C08CC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90">
            <a:extLst>
              <a:ext uri="{FF2B5EF4-FFF2-40B4-BE49-F238E27FC236}">
                <ns2:creationId id="{4A4F582A-F84E-4D7C-882A-5756E4066DE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extraction error with legal consequences</a:t>
            </a:r>
          </a:p>
        </p:txBody>
      </p:sp>
      <p:sp>
        <p:nvSpPr>
          <p:cNvPr id="4" name="text-192">
            <a:extLst>
              <a:ext uri="{FF2B5EF4-FFF2-40B4-BE49-F238E27FC236}">
                <ns2:creationId id="{AACE1B0D-DECC-4BE5-B903-CDC4965C557B}"/>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Authoritative clause</a:t>
            </a:r>
          </a:p>
        </p:txBody>
      </p:sp>
      <p:sp>
        <p:nvSpPr>
          <p:cNvPr id="5" name="text-193">
            <a:extLst>
              <a:ext uri="{FF2B5EF4-FFF2-40B4-BE49-F238E27FC236}">
                <ns2:creationId id="{92FA3B64-1693-409E-9869-2FBEF987F19C}"/>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That consent is not required for a reorganization within a wholly owned group if Provider remains responsible for its obligations under this Agreement.</a:t>
            </a:r>
          </a:p>
        </p:txBody>
      </p:sp>
      <p:sp>
        <p:nvSpPr>
          <p:cNvPr id="6" name="text-194">
            <a:extLst>
              <a:ext uri="{FF2B5EF4-FFF2-40B4-BE49-F238E27FC236}">
                <ns2:creationId id="{AD04208B-66A5-4927-B406-7EA64C0560BE}"/>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Damaged extract</a:t>
            </a:r>
          </a:p>
        </p:txBody>
      </p:sp>
      <p:sp>
        <p:nvSpPr>
          <p:cNvPr id="7" name="text-195">
            <a:extLst>
              <a:ext uri="{FF2B5EF4-FFF2-40B4-BE49-F238E27FC236}">
                <ns2:creationId id="{A14CCE46-36FE-421F-94A5-9A65CE90523F}"/>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That consent is required for a reorganization within a wholly owned group.</a:t>
            </a:r>
          </a:p>
        </p:txBody>
      </p:sp>
      <p:sp>
        <p:nvSpPr>
          <p:cNvPr id="3" name="text-191">
            <a:extLst>
              <a:ext uri="{FF2B5EF4-FFF2-40B4-BE49-F238E27FC236}">
                <ns2:creationId id="{8BD31947-3DE5-4B3A-A50C-76B9749DC37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11</a:t>
            </a:r>
          </a:p>
        </p:txBody>
      </p:sp>
    </p:spTree>
    <p:extLst>
      <p:ext uri="{BB962C8B-B14F-4D97-AF65-F5344CB8AC3E}">
        <ns3:creationId val="1551603950"/>
      </p:ext>
    </p:extLst>
  </p:cSld>
  <p:transition spd="med" advClick="1">
    <p:fade/>
  </p:transition>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name="A source comparison on screen">
    <p:bg>
      <p:bgPr>
        <a:solidFill>
          <a:srgbClr val="FFFFFF"/>
        </a:solidFill>
      </p:bgPr>
    </p:bg>
    <p:spTree>
      <p:nvGrpSpPr>
        <p:cNvPr id="1" name=""/>
        <p:cNvGrpSpPr/>
        <p:nvPr/>
      </p:nvGrpSpPr>
      <p:grpSpPr>
        <a:xfrm/>
      </p:grpSpPr>
      <p:sp>
        <p:nvSpPr>
          <p:cNvPr id="9" name="text-196">
            <a:extLst>
              <a:ext uri="{FF2B5EF4-FFF2-40B4-BE49-F238E27FC236}">
                <ns2:creationId id="{49887BE8-E542-4332-99FD-A6841EC7F39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197">
            <a:extLst>
              <a:ext uri="{FF2B5EF4-FFF2-40B4-BE49-F238E27FC236}">
                <ns2:creationId id="{CA1A711D-ABBB-42BB-A320-C9198CD9254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source comparison on screen</a:t>
            </a:r>
          </a:p>
        </p:txBody>
      </p:sp>
      <p:pic>
        <p:nvPicPr>
          <p:cNvPr id="4" name="">
            <a:extLst>
              <a:ext uri="{FF2B5EF4-FFF2-40B4-BE49-F238E27FC236}">
                <ns2:creationId id="{91A1CB91-8C6D-4BBC-BB6F-F8C4DF695A52}"/>
              </a:ext>
            </a:extLst>
          </p:cNvPr>
          <p:cNvPicPr>
            <a:picLocks noChangeAspect="1"/>
          </p:cNvPicPr>
          <p:nvPr/>
        </p:nvPicPr>
        <p:blipFill>
          <a:blip r:embed="R58927d81e8da4ada"/>
          <a:stretch/>
        </p:blipFill>
        <p:spPr>
          <a:xfrm>
            <a:off x="959393" y="2000250"/>
            <a:ext cx="5796464" cy="3524250"/>
          </a:xfrm>
          <a:prstGeom prst="rect">
            <a:avLst/>
          </a:prstGeom>
        </p:spPr>
      </p:pic>
      <p:sp>
        <p:nvSpPr>
          <p:cNvPr id="5" name="text-199">
            <a:extLst>
              <a:ext uri="{FF2B5EF4-FFF2-40B4-BE49-F238E27FC236}">
                <ns2:creationId id="{172D1607-8C41-4048-BF47-C899AE8E4870}"/>
              </a:ext>
            </a:extLst>
          </p:cNvPr>
          <p:cNvSpPr>
            <a:spLocks noGrp="1"/>
          </p:cNvSpPr>
          <p:nvPr/>
        </p:nvSpPr>
        <p:spPr>
          <a:xfrm>
            <a:off x="7524750" y="2047875"/>
            <a:ext cx="4000500" cy="428625"/>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DAMAGED EXTRACT</a:t>
            </a:r>
          </a:p>
        </p:txBody>
      </p:sp>
      <p:sp>
        <p:nvSpPr>
          <p:cNvPr id="6" name="text-200">
            <a:extLst>
              <a:ext uri="{FF2B5EF4-FFF2-40B4-BE49-F238E27FC236}">
                <ns2:creationId id="{69B63628-3486-4918-A2A9-80F07E1C2C8E}"/>
              </a:ext>
            </a:extLst>
          </p:cNvPr>
          <p:cNvSpPr>
            <a:spLocks noGrp="1"/>
          </p:cNvSpPr>
          <p:nvPr/>
        </p:nvSpPr>
        <p:spPr>
          <a:xfrm>
            <a:off x="7524750" y="2771775"/>
            <a:ext cx="4000500" cy="20955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That consent is required for a reorganization within a wholly owned group.</a:t>
            </a:r>
          </a:p>
        </p:txBody>
      </p:sp>
      <p:sp>
        <p:nvSpPr>
          <p:cNvPr id="7" name="text-201">
            <a:extLst>
              <a:ext uri="{FF2B5EF4-FFF2-40B4-BE49-F238E27FC236}">
                <ns2:creationId id="{EA5D266C-59B0-46BA-9529-315F74EE32DA}"/>
              </a:ext>
            </a:extLst>
          </p:cNvPr>
          <p:cNvSpPr>
            <a:spLocks noGrp="1"/>
          </p:cNvSpPr>
          <p:nvPr/>
        </p:nvSpPr>
        <p:spPr>
          <a:xfrm>
            <a:off x="7524750" y="5067300"/>
            <a:ext cx="4000500" cy="6191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Which wording disappeared?</a:t>
            </a:r>
          </a:p>
        </p:txBody>
      </p:sp>
      <p:sp>
        <p:nvSpPr>
          <p:cNvPr id="8" name="text-202">
            <a:extLst>
              <a:ext uri="{FF2B5EF4-FFF2-40B4-BE49-F238E27FC236}">
                <ns2:creationId id="{595BC26E-82C5-4515-ACF9-00D683306A1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Fictional class agreement rendered from the supplied source document</a:t>
            </a:r>
          </a:p>
        </p:txBody>
      </p:sp>
      <p:sp>
        <p:nvSpPr>
          <p:cNvPr id="3" name="text-198">
            <a:extLst>
              <a:ext uri="{FF2B5EF4-FFF2-40B4-BE49-F238E27FC236}">
                <ns2:creationId id="{ABE0C5E9-0D95-4A1E-BD35-2543978E59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12</a:t>
            </a:r>
          </a:p>
        </p:txBody>
      </p:sp>
    </p:spTree>
    <p:extLst>
      <p:ext uri="{BB962C8B-B14F-4D97-AF65-F5344CB8AC3E}">
        <ns4:creationId val="864534955"/>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document quality record">
    <p:bg>
      <p:bgPr>
        <a:solidFill>
          <a:srgbClr val="FFFFFF"/>
        </a:solidFill>
      </p:bgPr>
    </p:bg>
    <p:spTree>
      <p:nvGrpSpPr>
        <p:cNvPr id="1" name=""/>
        <p:cNvGrpSpPr/>
        <p:nvPr/>
      </p:nvGrpSpPr>
      <p:grpSpPr>
        <a:xfrm/>
      </p:grpSpPr>
      <p:sp>
        <p:nvSpPr>
          <p:cNvPr id="12" name="text-203">
            <a:extLst>
              <a:ext uri="{FF2B5EF4-FFF2-40B4-BE49-F238E27FC236}">
                <ns2:creationId id="{D2346E6C-982C-4BD1-B674-4746B2BC98C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04">
            <a:extLst>
              <a:ext uri="{FF2B5EF4-FFF2-40B4-BE49-F238E27FC236}">
                <ns2:creationId id="{B7F9FBDC-248C-45F8-AD11-A39BAF674F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document quality record</a:t>
            </a:r>
          </a:p>
        </p:txBody>
      </p:sp>
      <p:sp>
        <p:nvSpPr>
          <p:cNvPr id="4" name="text-206">
            <a:extLst>
              <a:ext uri="{FF2B5EF4-FFF2-40B4-BE49-F238E27FC236}">
                <ns2:creationId id="{DBA8EEA5-0666-40FE-8868-64736C07BFB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07">
            <a:extLst>
              <a:ext uri="{FF2B5EF4-FFF2-40B4-BE49-F238E27FC236}">
                <ns2:creationId id="{B950E330-6973-4571-A73A-5DED9182D763}"/>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Preserve the original.</a:t>
            </a:r>
          </a:p>
        </p:txBody>
      </p:sp>
      <p:sp>
        <p:nvSpPr>
          <p:cNvPr id="6" name="text-208">
            <a:extLst>
              <a:ext uri="{FF2B5EF4-FFF2-40B4-BE49-F238E27FC236}">
                <ns2:creationId id="{2FEE4AF1-9FB6-4044-8F85-A02DD862681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09">
            <a:extLst>
              <a:ext uri="{FF2B5EF4-FFF2-40B4-BE49-F238E27FC236}">
                <ns2:creationId id="{2356F185-7363-4B13-A2ED-48A13C59B273}"/>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the defect and corrected version.</a:t>
            </a:r>
          </a:p>
        </p:txBody>
      </p:sp>
      <p:sp>
        <p:nvSpPr>
          <p:cNvPr id="8" name="text-210">
            <a:extLst>
              <a:ext uri="{FF2B5EF4-FFF2-40B4-BE49-F238E27FC236}">
                <ns2:creationId id="{CEC14119-774F-40A4-9F45-CD7AA9BAF4DA}"/>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1">
            <a:extLst>
              <a:ext uri="{FF2B5EF4-FFF2-40B4-BE49-F238E27FC236}">
                <ns2:creationId id="{26187055-F64B-4ECD-BA6C-3DA93F1FE2D7}"/>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Retain the source location and reviewer.</a:t>
            </a:r>
          </a:p>
        </p:txBody>
      </p:sp>
      <p:sp>
        <p:nvSpPr>
          <p:cNvPr id="10" name="text-212">
            <a:extLst>
              <a:ext uri="{FF2B5EF4-FFF2-40B4-BE49-F238E27FC236}">
                <ns2:creationId id="{21043A4F-64FE-43F0-8747-2451BB0E00C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13">
            <a:extLst>
              <a:ext uri="{FF2B5EF4-FFF2-40B4-BE49-F238E27FC236}">
                <ns2:creationId id="{0E913228-0DCB-4970-A92D-C19229982416}"/>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uncertain fields unresolved.</a:t>
            </a:r>
          </a:p>
        </p:txBody>
      </p:sp>
      <p:sp>
        <p:nvSpPr>
          <p:cNvPr id="3" name="text-205">
            <a:extLst>
              <a:ext uri="{FF2B5EF4-FFF2-40B4-BE49-F238E27FC236}">
                <ns2:creationId id="{28079A3B-7D29-44FA-B00C-4573A1C49FA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13</a:t>
            </a:r>
          </a:p>
        </p:txBody>
      </p:sp>
      <p:pic xmlns:r="http://schemas.openxmlformats.org/officeDocument/2006/relationships">
        <p:nvPicPr>
          <p:cNvPr id="13"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57681849"/>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Machine-readable representations">
    <p:bg>
      <p:bgPr>
        <a:solidFill>
          <a:srgbClr val="FFFFFF"/>
        </a:solidFill>
      </p:bgPr>
    </p:bg>
    <p:spTree>
      <p:nvGrpSpPr>
        <p:cNvPr id="1" name=""/>
        <p:cNvGrpSpPr/>
        <p:nvPr/>
      </p:nvGrpSpPr>
      <p:grpSpPr>
        <a:xfrm/>
      </p:grpSpPr>
      <p:sp>
        <p:nvSpPr>
          <p:cNvPr id="5" name="text-214">
            <a:extLst>
              <a:ext uri="{FF2B5EF4-FFF2-40B4-BE49-F238E27FC236}">
                <ns2:creationId id="{297CA759-C174-461D-B784-34341038543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15">
            <a:extLst>
              <a:ext uri="{FF2B5EF4-FFF2-40B4-BE49-F238E27FC236}">
                <ns2:creationId id="{76A0C6C2-BAC7-44C6-9F3B-01A07798141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Machine-readable representations</a:t>
            </a:r>
          </a:p>
        </p:txBody>
      </p:sp>
      <p:graphicFrame>
        <p:nvGraphicFramePr>
          <p:cNvPr id="4" name="">
            <a:extLst>
              <a:ext uri="{FF2B5EF4-FFF2-40B4-BE49-F238E27FC236}">
                <ns2:creationId id="{3EBD0A32-A630-4793-8AC3-C9DAD3443DF3}"/>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Representation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Useful role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Markdown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Readable headings and document text</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JSON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Named fields and structured outputs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Akoma Ntoso XML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Legal structure, identifiers and metadata</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CSV or database table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Repeated financial or matter records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16">
            <a:extLst>
              <a:ext uri="{FF2B5EF4-FFF2-40B4-BE49-F238E27FC236}">
                <ns2:creationId id="{A7C9AC7F-81D0-4EBA-B4B8-17CE6291BBD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14</a:t>
            </a:r>
          </a:p>
        </p:txBody>
      </p:sp>
    </p:spTree>
    <p:extLst>
      <p:ext uri="{BB962C8B-B14F-4D97-AF65-F5344CB8AC3E}">
        <ns3:creationId val="1481734064"/>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One clause in structured form">
    <p:bg>
      <p:bgPr>
        <a:solidFill>
          <a:srgbClr val="FFFFFF"/>
        </a:solidFill>
      </p:bgPr>
    </p:bg>
    <p:spTree>
      <p:nvGrpSpPr>
        <p:cNvPr id="1" name=""/>
        <p:cNvGrpSpPr/>
        <p:nvPr/>
      </p:nvGrpSpPr>
      <p:grpSpPr>
        <a:xfrm/>
      </p:grpSpPr>
      <p:sp>
        <p:nvSpPr>
          <p:cNvPr id="9" name="text-217">
            <a:extLst>
              <a:ext uri="{FF2B5EF4-FFF2-40B4-BE49-F238E27FC236}">
                <ns2:creationId id="{23A5CCFA-A919-4577-82F6-B0326164F89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18">
            <a:extLst>
              <a:ext uri="{FF2B5EF4-FFF2-40B4-BE49-F238E27FC236}">
                <ns2:creationId id="{02B70983-BC73-4B7A-A966-873BB6BAB00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One clause in structured form</a:t>
            </a:r>
          </a:p>
        </p:txBody>
      </p:sp>
      <p:sp>
        <p:nvSpPr>
          <p:cNvPr id="4" name="text-220">
            <a:extLst>
              <a:ext uri="{FF2B5EF4-FFF2-40B4-BE49-F238E27FC236}">
                <ns2:creationId id="{5B674255-5554-4652-BE40-987F36F8F89C}"/>
              </a:ext>
            </a:extLst>
          </p:cNvPr>
          <p:cNvSpPr>
            <a:spLocks noGrp="1"/>
          </p:cNvSpPr>
          <p:nvPr/>
        </p:nvSpPr>
        <p:spPr>
          <a:xfrm>
            <a:off x="619125" y="1952625"/>
            <a:ext cx="4572000" cy="333375"/>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SOURCE</a:t>
            </a:r>
          </a:p>
        </p:txBody>
      </p:sp>
      <p:sp>
        <p:nvSpPr>
          <p:cNvPr id="5" name="text-221">
            <a:extLst>
              <a:ext uri="{FF2B5EF4-FFF2-40B4-BE49-F238E27FC236}">
                <ns2:creationId id="{75C460DE-DF93-4AC3-9876-478ED56DC225}"/>
              </a:ext>
            </a:extLst>
          </p:cNvPr>
          <p:cNvSpPr>
            <a:spLocks noGrp="1"/>
          </p:cNvSpPr>
          <p:nvPr/>
        </p:nvSpPr>
        <p:spPr>
          <a:xfrm>
            <a:off x="619125" y="2505075"/>
            <a:ext cx="4762500" cy="3048000"/>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CONTRACT-01 v2</a:t>
            </a:r>
          </a:p>
          <a:p>
            <a:pPr>
              <a:defRPr sz="2175" b="0">
                <a:solidFill>
                  <a:srgbClr val="1C3144"/>
                </a:solidFill>
                <a:latin typeface="Calibri"/>
                <a:ea typeface="Calibri"/>
                <a:cs typeface="Calibri"/>
              </a:defRPr>
            </a:pPr>
            <a:r>
              <a:rPr sz="2175" b="0">
                <a:solidFill>
                  <a:srgbClr val="1C3144"/>
                </a:solidFill>
                <a:latin typeface="Calibri"/>
                <a:ea typeface="Calibri"/>
                <a:cs typeface="Calibri"/>
              </a:rPr>
              <a:t>Key Terms KT-1</a:t>
            </a:r>
          </a:p>
          <a:p>
            <a:pPr>
              <a:defRPr sz="2175" b="0">
                <a:solidFill>
                  <a:srgbClr val="1C3144"/>
                </a:solidFill>
                <a:latin typeface="Calibri"/>
                <a:ea typeface="Calibri"/>
                <a:cs typeface="Calibri"/>
              </a:defRPr>
            </a:pPr>
            <a:r>
              <a:rPr sz="2175" b="0">
                <a:solidFill>
                  <a:srgbClr val="1C3144"/>
                </a:solidFill>
                <a:latin typeface="Calibri"/>
                <a:ea typeface="Calibri"/>
                <a:cs typeface="Calibri"/>
              </a:rPr>
              <a:t>Provider must obtain Customer’s prior written consent before a change of control of Provider takes effect. That consent is not required for a reorganization within a wholly owned group if Provider remains responsible for its obligations under this Agreement.</a:t>
            </a:r>
          </a:p>
        </p:txBody>
      </p:sp>
      <p:sp>
        <p:nvSpPr>
          <p:cNvPr id="6" name="text-222">
            <a:extLst>
              <a:ext uri="{FF2B5EF4-FFF2-40B4-BE49-F238E27FC236}">
                <ns2:creationId id="{A1AD966B-63E0-4EA2-BD97-DB054B3B57B1}"/>
              </a:ext>
            </a:extLst>
          </p:cNvPr>
          <p:cNvSpPr>
            <a:spLocks noGrp="1"/>
          </p:cNvSpPr>
          <p:nvPr/>
        </p:nvSpPr>
        <p:spPr>
          <a:xfrm>
            <a:off x="6334125" y="1952625"/>
            <a:ext cx="5143500" cy="333375"/>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STRUCTURED RECORD</a:t>
            </a:r>
          </a:p>
        </p:txBody>
      </p:sp>
      <p:sp>
        <p:nvSpPr>
          <p:cNvPr id="7" name="text-223">
            <a:extLst>
              <a:ext uri="{FF2B5EF4-FFF2-40B4-BE49-F238E27FC236}">
                <ns2:creationId id="{2822152C-DDB6-437D-AEAA-899E6E45441C}"/>
              </a:ext>
            </a:extLst>
          </p:cNvPr>
          <p:cNvSpPr>
            <a:spLocks noGrp="1"/>
          </p:cNvSpPr>
          <p:nvPr/>
        </p:nvSpPr>
        <p:spPr>
          <a:xfrm>
            <a:off x="6334125" y="2505075"/>
            <a:ext cx="5191125" cy="2857500"/>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  "document_id": "CONTRACT-01",</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  "version": "v2",</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  "clause": "KT-1",</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  "text": "Exact source passage",</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  "source_location": "Key Terms KT-1"</a:t>
            </a:r>
          </a:p>
          <a:p>
            <a:pPr>
              <a:defRPr sz="2025" b="0">
                <a:solidFill>
                  <a:srgbClr val="1C3144"/>
                </a:solidFill>
                <a:latin typeface="Calibri"/>
                <a:ea typeface="Calibri"/>
                <a:cs typeface="Calibri"/>
              </a:defRPr>
            </a:pPr>
            <a:r>
              <a:rPr sz="2025" b="0">
                <a:solidFill>
                  <a:srgbClr val="1C3144"/>
                </a:solidFill>
                <a:latin typeface="Calibri"/>
                <a:ea typeface="Calibri"/>
                <a:cs typeface="Calibri"/>
              </a:rPr>
              <a:t>}</a:t>
            </a:r>
          </a:p>
        </p:txBody>
      </p:sp>
      <p:sp>
        <p:nvSpPr>
          <p:cNvPr id="8" name="text-224">
            <a:extLst>
              <a:ext uri="{FF2B5EF4-FFF2-40B4-BE49-F238E27FC236}">
                <ns2:creationId id="{93A1C52C-95A8-4BEB-A374-C4DA7BE2E86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JSON stores named fields: document_id is a key; CONTRACT-01 is its value. Text is abbreviated here.</a:t>
            </a:r>
          </a:p>
        </p:txBody>
      </p:sp>
      <p:sp>
        <p:nvSpPr>
          <p:cNvPr id="3" name="text-219">
            <a:extLst>
              <a:ext uri="{FF2B5EF4-FFF2-40B4-BE49-F238E27FC236}">
                <ns2:creationId id="{F24ACCC0-DCDF-4B8D-BD7A-8203E606CFC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15</a:t>
            </a:r>
          </a:p>
        </p:txBody>
      </p:sp>
    </p:spTree>
    <p:extLst>
      <p:ext uri="{BB962C8B-B14F-4D97-AF65-F5344CB8AC3E}">
        <ns3:creationId val="339703294"/>
      </p:ext>
    </p:extLst>
  </p:cSld>
  <p:transition spd="med" advClick="1">
    <p:fade/>
  </p:transition>
</p:sld>
</file>

<file path=ppt/slides/slide16.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Permissions through the pipeline">
    <p:bg>
      <p:bgPr>
        <a:solidFill>
          <a:srgbClr val="FFFFFF"/>
        </a:solidFill>
      </p:bgPr>
    </p:bg>
    <p:spTree>
      <p:nvGrpSpPr>
        <p:cNvPr id="1" name=""/>
        <p:cNvGrpSpPr/>
        <p:nvPr/>
      </p:nvGrpSpPr>
      <p:grpSpPr>
        <a:xfrm/>
      </p:grpSpPr>
      <p:cxnSp>
        <p:nvCxnSpPr>
          <p:cNvPr id="22" name="reveal-04-arrow" descr="Permissions through the pipeline">
            <a:extLst>
              <a:ext uri="{FF2B5EF4-FFF2-40B4-BE49-F238E27FC236}">
                <ns2:creationId id="{6349CD23-C76F-4BE9-8FAD-BD84DBCC0495}"/>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E00F0F50-D135-4B1B-97F1-5E45C5F7CCF2}"/>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88E0B16F-5AFC-4B25-B6A0-737FC9A1319D}"/>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225">
            <a:extLst>
              <a:ext uri="{FF2B5EF4-FFF2-40B4-BE49-F238E27FC236}">
                <ns2:creationId id="{D68F4569-3135-4458-B82E-311ABB7C4DB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26">
            <a:extLst>
              <a:ext uri="{FF2B5EF4-FFF2-40B4-BE49-F238E27FC236}">
                <ns2:creationId id="{1CA5AD42-8659-4C05-A994-24010607DE1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Permissions through the pipeline</a:t>
            </a:r>
          </a:p>
        </p:txBody>
      </p:sp>
      <p:sp>
        <p:nvSpPr>
          <p:cNvPr id="4" name="reveal-01-stage">
            <a:extLst>
              <a:ext uri="{FF2B5EF4-FFF2-40B4-BE49-F238E27FC236}">
                <ns2:creationId id="{722F14FD-0E8F-4A3F-85EB-0276937481A5}"/>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3266A606-12BB-4C33-9C21-6D02907E371B}"/>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049FC1A5-1302-4AF3-98BF-871F1343512C}"/>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Source access</a:t>
            </a:r>
          </a:p>
        </p:txBody>
      </p:sp>
      <p:sp>
        <p:nvSpPr>
          <p:cNvPr id="7" name="reveal-01-detail">
            <a:extLst>
              <a:ext uri="{FF2B5EF4-FFF2-40B4-BE49-F238E27FC236}">
                <ns2:creationId id="{567C13E7-9D45-45C5-81E5-0193B456AD7D}"/>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Matter permissions</a:t>
            </a:r>
          </a:p>
        </p:txBody>
      </p:sp>
      <p:sp>
        <p:nvSpPr>
          <p:cNvPr id="8" name="reveal-02-stage">
            <a:extLst>
              <a:ext uri="{FF2B5EF4-FFF2-40B4-BE49-F238E27FC236}">
                <ns2:creationId id="{CE5936B6-8717-49A0-9EB4-E621B00FB306}"/>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675A775D-BB8F-462F-B443-D81E5613EB75}"/>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D1F6B866-2BAD-49ED-860C-050CE6DF0F47}"/>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Copied content</a:t>
            </a:r>
          </a:p>
        </p:txBody>
      </p:sp>
      <p:sp>
        <p:nvSpPr>
          <p:cNvPr id="11" name="reveal-02-detail">
            <a:extLst>
              <a:ext uri="{FF2B5EF4-FFF2-40B4-BE49-F238E27FC236}">
                <ns2:creationId id="{99005EED-4665-49B3-BBEC-060DF7CAA229}"/>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Carry restriction metadata</a:t>
            </a:r>
          </a:p>
        </p:txBody>
      </p:sp>
      <p:sp>
        <p:nvSpPr>
          <p:cNvPr id="12" name="reveal-03-stage">
            <a:extLst>
              <a:ext uri="{FF2B5EF4-FFF2-40B4-BE49-F238E27FC236}">
                <ns2:creationId id="{346DB400-68AD-4786-91A7-F941EE1B0FCF}"/>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B89697F2-4F44-4938-94FD-E7DA1C0C9EDE}"/>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7CE5F436-E3A1-4F6A-8A74-9EECBF7E7135}"/>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Search results</a:t>
            </a:r>
          </a:p>
        </p:txBody>
      </p:sp>
      <p:sp>
        <p:nvSpPr>
          <p:cNvPr id="15" name="reveal-03-detail">
            <a:extLst>
              <a:ext uri="{FF2B5EF4-FFF2-40B4-BE49-F238E27FC236}">
                <ns2:creationId id="{66216A56-6587-4885-AFE2-B0166545012C}"/>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Filter for the user</a:t>
            </a:r>
          </a:p>
        </p:txBody>
      </p:sp>
      <p:sp>
        <p:nvSpPr>
          <p:cNvPr id="16" name="reveal-04-stage">
            <a:extLst>
              <a:ext uri="{FF2B5EF4-FFF2-40B4-BE49-F238E27FC236}">
                <ns2:creationId id="{A2FB19C3-D6E0-4E68-A3C3-AE347A4D2C21}"/>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DC1E4D1E-839C-43B2-A2C8-05D65BBFBF8A}"/>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686700FD-6291-4FC2-8A70-8558312905EF}"/>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Answer</a:t>
            </a:r>
          </a:p>
        </p:txBody>
      </p:sp>
      <p:sp>
        <p:nvSpPr>
          <p:cNvPr id="19" name="reveal-04-detail">
            <a:extLst>
              <a:ext uri="{FF2B5EF4-FFF2-40B4-BE49-F238E27FC236}">
                <ns2:creationId id="{4F76DAD1-A0FB-4619-A40A-93B73F801009}"/>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Allowed evidence only</a:t>
            </a:r>
          </a:p>
        </p:txBody>
      </p:sp>
      <p:sp>
        <p:nvSpPr>
          <p:cNvPr id="3" name="text-227">
            <a:extLst>
              <a:ext uri="{FF2B5EF4-FFF2-40B4-BE49-F238E27FC236}">
                <ns2:creationId id="{0C8AEFD3-E2FC-4065-8E5C-65F45B7DA12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16</a:t>
            </a:r>
          </a:p>
        </p:txBody>
      </p:sp>
    </p:spTree>
    <p:extLst>
      <p:ext uri="{BB962C8B-B14F-4D97-AF65-F5344CB8AC3E}">
        <ns4:creationId val="139042514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231">
            <a:extLst>
              <a:ext uri="{FF2B5EF4-FFF2-40B4-BE49-F238E27FC236}">
                <ns2:creationId id="{59A4C133-7E8D-4F9E-AAD3-25A32E9E768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32">
            <a:extLst>
              <a:ext uri="{FF2B5EF4-FFF2-40B4-BE49-F238E27FC236}">
                <ns2:creationId id="{E09F864B-40B7-433F-A3AC-744E0D91BEB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234">
            <a:extLst>
              <a:ext uri="{FF2B5EF4-FFF2-40B4-BE49-F238E27FC236}">
                <ns2:creationId id="{DDD0965C-8D50-4B9D-8101-FA0776C1365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35">
            <a:extLst>
              <a:ext uri="{FF2B5EF4-FFF2-40B4-BE49-F238E27FC236}">
                <ns2:creationId id="{AB39278E-CB4C-4CDD-B94A-39A09172DECE}"/>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Inventory systems, formats, owners and access.</a:t>
            </a:r>
          </a:p>
        </p:txBody>
      </p:sp>
      <p:sp>
        <p:nvSpPr>
          <p:cNvPr id="6" name="text-236">
            <a:extLst>
              <a:ext uri="{FF2B5EF4-FFF2-40B4-BE49-F238E27FC236}">
                <ns2:creationId id="{1037D027-3780-40B9-8C58-E48CBF38784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37">
            <a:extLst>
              <a:ext uri="{FF2B5EF4-FFF2-40B4-BE49-F238E27FC236}">
                <ns2:creationId id="{DC376C44-29E2-4B3F-8AC0-9BA04E20B290}"/>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the original, synthetic scan and observed OCR.</a:t>
            </a:r>
          </a:p>
        </p:txBody>
      </p:sp>
      <p:sp>
        <p:nvSpPr>
          <p:cNvPr id="8" name="text-238">
            <a:extLst>
              <a:ext uri="{FF2B5EF4-FFF2-40B4-BE49-F238E27FC236}">
                <ns2:creationId id="{2D9DD305-4FF0-43C7-A851-5C2A5AE49BF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39">
            <a:extLst>
              <a:ext uri="{FF2B5EF4-FFF2-40B4-BE49-F238E27FC236}">
                <ns2:creationId id="{0568F4D0-36D4-4AB5-BBC2-F60B2D950E80}"/>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Mark omissions against the authoritative page.</a:t>
            </a:r>
          </a:p>
        </p:txBody>
      </p:sp>
      <p:sp>
        <p:nvSpPr>
          <p:cNvPr id="10" name="text-240">
            <a:extLst>
              <a:ext uri="{FF2B5EF4-FFF2-40B4-BE49-F238E27FC236}">
                <ns2:creationId id="{C11E6386-689D-4289-BA02-62C3A738B18C}"/>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41">
            <a:extLst>
              <a:ext uri="{FF2B5EF4-FFF2-40B4-BE49-F238E27FC236}">
                <ns2:creationId id="{73AC3F49-F165-44BE-9F73-2EDC0CBB68EF}"/>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corrections, provenance and update responsibilities.</a:t>
            </a:r>
          </a:p>
        </p:txBody>
      </p:sp>
      <p:sp>
        <p:nvSpPr>
          <p:cNvPr id="12" name="text-242">
            <a:extLst>
              <a:ext uri="{FF2B5EF4-FFF2-40B4-BE49-F238E27FC236}">
                <ns2:creationId id="{0E5724CF-AF35-4B2C-A4CB-8BAEA40C7ED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233">
            <a:extLst>
              <a:ext uri="{FF2B5EF4-FFF2-40B4-BE49-F238E27FC236}">
                <ns2:creationId id="{AA7C9E77-55BB-43C2-9600-5790748CD50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4817485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243">
            <a:extLst>
              <a:ext uri="{FF2B5EF4-FFF2-40B4-BE49-F238E27FC236}">
                <ns2:creationId id="{AB2FC21F-886B-4661-9DDE-A671E5C8F77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44">
            <a:extLst>
              <a:ext uri="{FF2B5EF4-FFF2-40B4-BE49-F238E27FC236}">
                <ns2:creationId id="{31B3BE0A-4359-4347-B94F-951AF43F68E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246">
            <a:extLst>
              <a:ext uri="{FF2B5EF4-FFF2-40B4-BE49-F238E27FC236}">
                <ns2:creationId id="{765A4410-3BC0-4DF5-A8AA-441D9C01562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7">
            <a:extLst>
              <a:ext uri="{FF2B5EF4-FFF2-40B4-BE49-F238E27FC236}">
                <ns2:creationId id="{BBAB1B8C-1BD3-4976-97EA-248D06B89750}"/>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system, modality, structure and format describe different properties. Extraction must preserve the negation, exception and qualification. Preserve originals and source/access metadata through conversion.</a:t>
            </a:r>
          </a:p>
        </p:txBody>
      </p:sp>
      <p:sp>
        <p:nvSpPr>
          <p:cNvPr id="6" name="text-248">
            <a:extLst>
              <a:ext uri="{FF2B5EF4-FFF2-40B4-BE49-F238E27FC236}">
                <ns2:creationId id="{945FA181-D094-4335-B16D-9C911D53152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9">
            <a:extLst>
              <a:ext uri="{FF2B5EF4-FFF2-40B4-BE49-F238E27FC236}">
                <ns2:creationId id="{925C8FEC-0E7A-40D2-BC64-B11C7D07D73B}"/>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synthetic scan can test a method but does not establish extraction quality on the firm’s archive.</a:t>
            </a:r>
          </a:p>
        </p:txBody>
      </p:sp>
      <p:sp>
        <p:nvSpPr>
          <p:cNvPr id="3" name="text-245">
            <a:extLst>
              <a:ext uri="{FF2B5EF4-FFF2-40B4-BE49-F238E27FC236}">
                <ns2:creationId id="{B4901A69-9669-4197-A4E3-FC6D3C53153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44640117"/>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250">
            <a:extLst>
              <a:ext uri="{FF2B5EF4-FFF2-40B4-BE49-F238E27FC236}">
                <ns2:creationId id="{366B9C73-3EB2-415D-A2A1-FB6635070AA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51">
            <a:extLst>
              <a:ext uri="{FF2B5EF4-FFF2-40B4-BE49-F238E27FC236}">
                <ns2:creationId id="{C5AE5CF1-DD47-4E27-A4EB-293D9513E99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253">
            <a:extLst>
              <a:ext uri="{FF2B5EF4-FFF2-40B4-BE49-F238E27FC236}">
                <ns2:creationId id="{4A6993E3-E4FD-4E92-8A75-44EF9FE45A6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54">
            <a:extLst>
              <a:ext uri="{FF2B5EF4-FFF2-40B4-BE49-F238E27FC236}">
                <ns2:creationId id="{ADA72F40-52A3-4C4A-9259-785851FC5652}"/>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Assign source owners and choose one collection for preparation before buying a search layer.</a:t>
            </a:r>
          </a:p>
        </p:txBody>
      </p:sp>
      <p:sp>
        <p:nvSpPr>
          <p:cNvPr id="6" name="text-255">
            <a:extLst>
              <a:ext uri="{FF2B5EF4-FFF2-40B4-BE49-F238E27FC236}">
                <ns2:creationId id="{5EF52ADF-7225-412D-9278-674BAE81E7C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252">
            <a:extLst>
              <a:ext uri="{FF2B5EF4-FFF2-40B4-BE49-F238E27FC236}">
                <ns2:creationId id="{293B4D89-61A7-4B35-9271-DA1593056D2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97399114"/>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256">
            <a:extLst>
              <a:ext uri="{FF2B5EF4-FFF2-40B4-BE49-F238E27FC236}">
                <ns2:creationId id="{55AC2E0E-CEAC-4996-A2B2-F1D2F0DF605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57">
            <a:extLst>
              <a:ext uri="{FF2B5EF4-FFF2-40B4-BE49-F238E27FC236}">
                <ns2:creationId id="{CE503AEC-5EC6-417C-A3A4-89ABDB6B4A6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259">
            <a:extLst>
              <a:ext uri="{FF2B5EF4-FFF2-40B4-BE49-F238E27FC236}">
                <ns2:creationId id="{A957BD10-DBE8-487F-A7CB-716419B4246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0">
            <a:extLst>
              <a:ext uri="{FF2B5EF4-FFF2-40B4-BE49-F238E27FC236}">
                <ns2:creationId id="{732220D6-60AB-46C3-ABF5-06AF9B0BED85}"/>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scan says shall not disclose; extraction says shall disclose. Which stage failed?</a:t>
            </a:r>
          </a:p>
        </p:txBody>
      </p:sp>
      <p:sp>
        <p:nvSpPr>
          <p:cNvPr id="6" name="text-261">
            <a:extLst>
              <a:ext uri="{FF2B5EF4-FFF2-40B4-BE49-F238E27FC236}">
                <ns2:creationId id="{6782864F-FC50-4943-95AC-B85362F9CD8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2">
            <a:extLst>
              <a:ext uri="{FF2B5EF4-FFF2-40B4-BE49-F238E27FC236}">
                <ns2:creationId id="{7602183B-8C6B-40B1-A774-7720B8119135}"/>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text is accurate but the matter tag is wrong. What risk remains?</a:t>
            </a:r>
          </a:p>
        </p:txBody>
      </p:sp>
      <p:sp>
        <p:nvSpPr>
          <p:cNvPr id="8" name="text-263">
            <a:extLst>
              <a:ext uri="{FF2B5EF4-FFF2-40B4-BE49-F238E27FC236}">
                <ns2:creationId id="{5D684768-7BC8-4B19-80FA-FE6E4D32DEE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64">
            <a:extLst>
              <a:ext uri="{FF2B5EF4-FFF2-40B4-BE49-F238E27FC236}">
                <ns2:creationId id="{334D5D67-F5FC-43AA-8E69-15706ADFEC3E}"/>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Which record preserves correction history?</a:t>
            </a:r>
          </a:p>
        </p:txBody>
      </p:sp>
      <p:sp>
        <p:nvSpPr>
          <p:cNvPr id="3" name="text-258">
            <a:extLst>
              <a:ext uri="{FF2B5EF4-FFF2-40B4-BE49-F238E27FC236}">
                <ns2:creationId id="{1B31B570-6C91-4A8C-9310-4C87C994924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31861989"/>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Akoma Ntoso in legal publishing">
    <p:bg>
      <p:bgPr>
        <a:solidFill>
          <a:srgbClr val="FFFFFF"/>
        </a:solidFill>
      </p:bgPr>
    </p:bg>
    <p:spTree>
      <p:nvGrpSpPr>
        <p:cNvPr id="1" name=""/>
        <p:cNvGrpSpPr/>
        <p:nvPr/>
      </p:nvGrpSpPr>
      <p:grpSpPr>
        <a:xfrm/>
      </p:grpSpPr>
      <p:sp>
        <p:nvSpPr>
          <p:cNvPr id="6" name="text-265">
            <a:extLst>
              <a:ext uri="{FF2B5EF4-FFF2-40B4-BE49-F238E27FC236}">
                <ns2:creationId id="{0DECDB52-3021-48E7-B6A1-CBFAD9B63FB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66">
            <a:extLst>
              <a:ext uri="{FF2B5EF4-FFF2-40B4-BE49-F238E27FC236}">
                <ns2:creationId id="{46639F78-FBE7-4F29-A577-2065B9E7A1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Akoma Ntoso in legal publishing</a:t>
            </a:r>
          </a:p>
        </p:txBody>
      </p:sp>
      <p:sp>
        <p:nvSpPr>
          <p:cNvPr id="4" name="text-268">
            <a:extLst>
              <a:ext uri="{FF2B5EF4-FFF2-40B4-BE49-F238E27FC236}">
                <ns2:creationId id="{254AC134-9196-43C4-9BFE-79C4F0F1989D}"/>
              </a:ext>
            </a:extLst>
          </p:cNvPr>
          <p:cNvSpPr>
            <a:spLocks noGrp="1"/>
          </p:cNvSpPr>
          <p:nvPr/>
        </p:nvSpPr>
        <p:spPr>
          <a:xfrm>
            <a:off x="619125" y="2238375"/>
            <a:ext cx="7230875" cy="2619375"/>
          </a:xfrm>
          <a:prstGeom prst="rect">
            <a:avLst/>
          </a:prstGeom>
          <a:noFill/>
          <a:ln w="0">
            <a:noFill/>
          </a:ln>
        </p:spPr>
        <p:txBody>
          <a:bodyPr>
            <a:noAutofit/>
          </a:bodyPr>
          <a:lstStyle>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a:pPr>
              <a:defRPr sz="2400" b="0">
                <a:solidFill>
                  <a:srgbClr val="1C3144"/>
                </a:solidFill>
                <a:latin typeface="Calibri"/>
                <a:ea typeface="Calibri"/>
                <a:cs typeface="Calibri"/>
              </a:defRPr>
            </a:pPr>
            <a:r>
              <a:rPr sz="2400" b="0">
                <a:solidFill>
                  <a:srgbClr val="1C3144"/>
                </a:solidFill>
                <a:latin typeface="Calibri"/>
                <a:ea typeface="Calibri"/>
                <a:cs typeface="Calibri"/>
              </a:rPr>
              <a:t>&lt;section eId="sec_3"&gt;</a:t>
            </a:r>
          </a:p>
          <a:p>
            <a:pPr>
              <a:defRPr sz="2400" b="0">
                <a:solidFill>
                  <a:srgbClr val="1C3144"/>
                </a:solidFill>
                <a:latin typeface="Calibri"/>
                <a:ea typeface="Calibri"/>
                <a:cs typeface="Calibri"/>
              </a:defRPr>
            </a:pPr>
            <a:r>
              <a:rPr sz="2400" b="0">
                <a:solidFill>
                  <a:srgbClr val="1C3144"/>
                </a:solidFill>
                <a:latin typeface="Calibri"/>
                <a:ea typeface="Calibri"/>
                <a:cs typeface="Calibri"/>
              </a:rPr>
              <a:t>  &lt;heading&gt;Change of control&lt;/heading&gt;</a:t>
            </a:r>
          </a:p>
          <a:p>
            <a:pPr>
              <a:defRPr sz="2400" b="0">
                <a:solidFill>
                  <a:srgbClr val="1C3144"/>
                </a:solidFill>
                <a:latin typeface="Calibri"/>
                <a:ea typeface="Calibri"/>
                <a:cs typeface="Calibri"/>
              </a:defRPr>
            </a:pPr>
            <a:r>
              <a:rPr sz="2400" b="0">
                <a:solidFill>
                  <a:srgbClr val="1C3144"/>
                </a:solidFill>
                <a:latin typeface="Calibri"/>
                <a:ea typeface="Calibri"/>
                <a:cs typeface="Calibri"/>
              </a:rPr>
              <a:t>  &lt;content&gt;</a:t>
            </a:r>
          </a:p>
          <a:p>
            <a:pPr>
              <a:defRPr sz="2400" b="0">
                <a:solidFill>
                  <a:srgbClr val="1C3144"/>
                </a:solidFill>
                <a:latin typeface="Calibri"/>
                <a:ea typeface="Calibri"/>
                <a:cs typeface="Calibri"/>
              </a:defRPr>
            </a:pPr>
            <a:r>
              <a:rPr sz="2400" b="0">
                <a:solidFill>
                  <a:srgbClr val="1C3144"/>
                </a:solidFill>
                <a:latin typeface="Calibri"/>
                <a:ea typeface="Calibri"/>
                <a:cs typeface="Calibri"/>
              </a:rPr>
              <a:t>    &lt;p&gt;Clause text with its qualification&lt;/p&gt;</a:t>
            </a:r>
          </a:p>
          <a:p>
            <a:pPr>
              <a:defRPr sz="2400" b="0">
                <a:solidFill>
                  <a:srgbClr val="1C3144"/>
                </a:solidFill>
                <a:latin typeface="Calibri"/>
                <a:ea typeface="Calibri"/>
                <a:cs typeface="Calibri"/>
              </a:defRPr>
            </a:pPr>
            <a:r>
              <a:rPr sz="2400" b="0">
                <a:solidFill>
                  <a:srgbClr val="1C3144"/>
                </a:solidFill>
                <a:latin typeface="Calibri"/>
                <a:ea typeface="Calibri"/>
                <a:cs typeface="Calibri"/>
              </a:rPr>
              <a:t>  &lt;/content&gt;</a:t>
            </a:r>
          </a:p>
          <a:p>
            <a:pPr>
              <a:defRPr sz="2400" b="0">
                <a:solidFill>
                  <a:srgbClr val="1C3144"/>
                </a:solidFill>
                <a:latin typeface="Calibri"/>
                <a:ea typeface="Calibri"/>
                <a:cs typeface="Calibri"/>
              </a:defRPr>
            </a:pPr>
            <a:r>
              <a:rPr sz="2400" b="0">
                <a:solidFill>
                  <a:srgbClr val="1C3144"/>
                </a:solidFill>
                <a:latin typeface="Calibri"/>
                <a:ea typeface="Calibri"/>
                <a:cs typeface="Calibri"/>
              </a:rPr>
              <a:t>&lt;/section&gt;</a:t>
            </a:r>
          </a:p>
        </p:txBody>
      </p:sp>
      <p:sp>
        <p:nvSpPr>
          <p:cNvPr id="5" name="text-269">
            <a:extLst>
              <a:ext uri="{FF2B5EF4-FFF2-40B4-BE49-F238E27FC236}">
                <ns2:creationId id="{422BCFA5-04CC-4B61-81E7-88E8F4AE0DD5}"/>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Illustrative structural fragment. It is not a complete, schema-validated Akoma Ntoso document.</a:t>
            </a:r>
          </a:p>
        </p:txBody>
      </p:sp>
      <p:sp>
        <p:nvSpPr>
          <p:cNvPr id="3" name="text-267">
            <a:extLst>
              <a:ext uri="{FF2B5EF4-FFF2-40B4-BE49-F238E27FC236}">
                <ns2:creationId id="{C2B5402D-78CA-4D42-8F1B-9D7F294006D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21   OPTIONAL EXPLORATION</a:t>
            </a:r>
          </a:p>
        </p:txBody>
      </p:sp>
      <p:pic xmlns:r="http://schemas.openxmlformats.org/officeDocument/2006/relationships">
        <p:nvPicPr>
          <p:cNvPr id="7" name="illustration-tree" descr="Illustration: a decision tree with three branche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79958263"/>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Financial data needs its own checks">
    <p:bg>
      <p:bgPr>
        <a:solidFill>
          <a:srgbClr val="FFFFFF"/>
        </a:solidFill>
      </p:bgPr>
    </p:bg>
    <p:spTree>
      <p:nvGrpSpPr>
        <p:cNvPr id="1" name=""/>
        <p:cNvGrpSpPr/>
        <p:nvPr/>
      </p:nvGrpSpPr>
      <p:grpSpPr>
        <a:xfrm/>
      </p:grpSpPr>
      <p:sp>
        <p:nvSpPr>
          <p:cNvPr id="5" name="text-270">
            <a:extLst>
              <a:ext uri="{FF2B5EF4-FFF2-40B4-BE49-F238E27FC236}">
                <ns2:creationId id="{F5C175E0-E598-45D2-92AF-965B6040949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71">
            <a:extLst>
              <a:ext uri="{FF2B5EF4-FFF2-40B4-BE49-F238E27FC236}">
                <ns2:creationId id="{5E52A118-556E-4AAB-A0E4-63440E34848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Financial data needs its own checks</a:t>
            </a:r>
          </a:p>
        </p:txBody>
      </p:sp>
      <p:graphicFrame>
        <p:nvGraphicFramePr>
          <p:cNvPr id="4" name="">
            <a:extLst>
              <a:ext uri="{FF2B5EF4-FFF2-40B4-BE49-F238E27FC236}">
                <ns2:creationId id="{9B8083E0-AD51-48E8-ADFE-507321EF0349}"/>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Field</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Question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Amount and currency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UGX, another currency, or mixed units?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Period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Invoice date, service period or receipt date?</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Missing value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Unknown, not applicable or zero?</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Record identity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Genuine repeat or duplicate import?</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72">
            <a:extLst>
              <a:ext uri="{FF2B5EF4-FFF2-40B4-BE49-F238E27FC236}">
                <ns2:creationId id="{062ECE19-C609-47F1-B6FF-82FBA1CACB9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22   OPTIONAL EXPLORATION</a:t>
            </a:r>
          </a:p>
        </p:txBody>
      </p:sp>
    </p:spTree>
    <p:extLst>
      <p:ext uri="{BB962C8B-B14F-4D97-AF65-F5344CB8AC3E}">
        <ns3:creationId val="1475110860"/>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Entities and document metadata">
    <p:bg>
      <p:bgPr>
        <a:solidFill>
          <a:srgbClr val="FFFFFF"/>
        </a:solidFill>
      </p:bgPr>
    </p:bg>
    <p:spTree>
      <p:nvGrpSpPr>
        <p:cNvPr id="1" name=""/>
        <p:cNvGrpSpPr/>
        <p:nvPr/>
      </p:nvGrpSpPr>
      <p:grpSpPr>
        <a:xfrm/>
      </p:grpSpPr>
      <p:sp>
        <p:nvSpPr>
          <p:cNvPr id="10" name="text-273">
            <a:extLst>
              <a:ext uri="{FF2B5EF4-FFF2-40B4-BE49-F238E27FC236}">
                <ns2:creationId id="{2311CEED-8D07-4C12-89A3-0E7FD67844C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74">
            <a:extLst>
              <a:ext uri="{FF2B5EF4-FFF2-40B4-BE49-F238E27FC236}">
                <ns2:creationId id="{6E18B24E-58A2-4925-A2D1-01F9783E041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Entities and document metadata</a:t>
            </a:r>
          </a:p>
        </p:txBody>
      </p:sp>
      <p:sp>
        <p:nvSpPr>
          <p:cNvPr id="4" name="text-276">
            <a:extLst>
              <a:ext uri="{FF2B5EF4-FFF2-40B4-BE49-F238E27FC236}">
                <ns2:creationId id="{667C4B7A-9C8C-42F0-9D10-F5443DF369A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7">
            <a:extLst>
              <a:ext uri="{FF2B5EF4-FFF2-40B4-BE49-F238E27FC236}">
                <ns2:creationId id="{98922CEA-6FE5-465F-A42D-BD6DB6A15D5A}"/>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Extract party names and dates from the text.</a:t>
            </a:r>
          </a:p>
        </p:txBody>
      </p:sp>
      <p:sp>
        <p:nvSpPr>
          <p:cNvPr id="6" name="text-278">
            <a:extLst>
              <a:ext uri="{FF2B5EF4-FFF2-40B4-BE49-F238E27FC236}">
                <ns2:creationId id="{B7967D60-3CCD-404C-8B7C-F0CD01E9E24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9">
            <a:extLst>
              <a:ext uri="{FF2B5EF4-FFF2-40B4-BE49-F238E27FC236}">
                <ns2:creationId id="{BEC3D660-0057-4602-9D69-D3A17DBCFE71}"/>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Retain document identity and version as metadata.</a:t>
            </a:r>
          </a:p>
        </p:txBody>
      </p:sp>
      <p:sp>
        <p:nvSpPr>
          <p:cNvPr id="8" name="text-280">
            <a:extLst>
              <a:ext uri="{FF2B5EF4-FFF2-40B4-BE49-F238E27FC236}">
                <ns2:creationId id="{65A18F33-FD78-4A6C-BCC8-745E0A72B371}"/>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81">
            <a:extLst>
              <a:ext uri="{FF2B5EF4-FFF2-40B4-BE49-F238E27FC236}">
                <ns2:creationId id="{FA1A6E86-FA03-4B33-A001-8BBB9FA9BA56}"/>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Resolve which legal entity a name actually denotes.</a:t>
            </a:r>
          </a:p>
        </p:txBody>
      </p:sp>
      <p:sp>
        <p:nvSpPr>
          <p:cNvPr id="3" name="text-275">
            <a:extLst>
              <a:ext uri="{FF2B5EF4-FFF2-40B4-BE49-F238E27FC236}">
                <ns2:creationId id="{36BEBC62-059C-4ED5-876B-3686CE8B81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23   OPTIONAL EXPLORATION</a:t>
            </a:r>
          </a:p>
        </p:txBody>
      </p:sp>
      <p:pic xmlns:r="http://schemas.openxmlformats.org/officeDocument/2006/relationships">
        <p:nvPicPr>
          <p:cNvPr id="11" name="illustration-parties" descr="Illustration: two company buildings, victoria and equator, with a contract between the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34825865"/>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The inventory becomes an executive decision">
    <p:bg>
      <p:bgPr>
        <a:solidFill>
          <a:srgbClr val="FFFFFF"/>
        </a:solidFill>
      </p:bgPr>
    </p:bg>
    <p:spTree>
      <p:nvGrpSpPr>
        <p:cNvPr id="1" name=""/>
        <p:cNvGrpSpPr/>
        <p:nvPr/>
      </p:nvGrpSpPr>
      <p:grpSpPr>
        <a:xfrm/>
      </p:grpSpPr>
      <p:sp>
        <p:nvSpPr>
          <p:cNvPr id="10" name="text-282">
            <a:extLst>
              <a:ext uri="{FF2B5EF4-FFF2-40B4-BE49-F238E27FC236}">
                <ns2:creationId id="{3CD983F1-2C24-4C7E-9731-BFA04B6F693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05</a:t>
            </a:r>
          </a:p>
        </p:txBody>
      </p:sp>
      <p:sp>
        <p:nvSpPr>
          <p:cNvPr id="2" name="text-283">
            <a:extLst>
              <a:ext uri="{FF2B5EF4-FFF2-40B4-BE49-F238E27FC236}">
                <ns2:creationId id="{A62AEDE3-E2C3-4A9B-84E9-C4AC4DC9626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inventory becomes an executive decision</a:t>
            </a:r>
          </a:p>
        </p:txBody>
      </p:sp>
      <p:sp>
        <p:nvSpPr>
          <p:cNvPr id="4" name="text-285">
            <a:extLst>
              <a:ext uri="{FF2B5EF4-FFF2-40B4-BE49-F238E27FC236}">
                <ns2:creationId id="{0E8905A8-6105-4C72-B315-5069228AE85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6">
            <a:extLst>
              <a:ext uri="{FF2B5EF4-FFF2-40B4-BE49-F238E27FC236}">
                <ns2:creationId id="{74DF7FA6-2A4A-4DFD-85B1-F743FB147BAA}"/>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Which collection creates the greatest useful opportunity?</a:t>
            </a:r>
          </a:p>
        </p:txBody>
      </p:sp>
      <p:sp>
        <p:nvSpPr>
          <p:cNvPr id="6" name="text-287">
            <a:extLst>
              <a:ext uri="{FF2B5EF4-FFF2-40B4-BE49-F238E27FC236}">
                <ns2:creationId id="{E5BFA958-1EE1-46F7-BF7C-64EC92C4910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8">
            <a:extLst>
              <a:ext uri="{FF2B5EF4-FFF2-40B4-BE49-F238E27FC236}">
                <ns2:creationId id="{0169074E-CB41-45C5-9628-B9F1288BB31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Who can establish its authority and quality?</a:t>
            </a:r>
          </a:p>
        </p:txBody>
      </p:sp>
      <p:sp>
        <p:nvSpPr>
          <p:cNvPr id="8" name="text-289">
            <a:extLst>
              <a:ext uri="{FF2B5EF4-FFF2-40B4-BE49-F238E27FC236}">
                <ns2:creationId id="{C3C7CF28-EBBE-45BC-950E-2F54DD70CB1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90">
            <a:extLst>
              <a:ext uri="{FF2B5EF4-FFF2-40B4-BE49-F238E27FC236}">
                <ns2:creationId id="{ACA7BFB0-00C2-4982-A1D5-03E95939150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What preparation and permission work is needed?</a:t>
            </a:r>
          </a:p>
        </p:txBody>
      </p:sp>
      <p:sp>
        <p:nvSpPr>
          <p:cNvPr id="3" name="text-284">
            <a:extLst>
              <a:ext uri="{FF2B5EF4-FFF2-40B4-BE49-F238E27FC236}">
                <ns2:creationId id="{8C7C1E15-718E-4859-BA38-6909E739A85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05   24   OPTIONAL EXPLORATION</a:t>
            </a:r>
          </a:p>
        </p:txBody>
      </p:sp>
      <p:pic xmlns:r="http://schemas.openxmlformats.org/officeDocument/2006/relationships">
        <p:nvPicPr>
          <p:cNvPr id="11" name="illustration-compass" descr="Illustration: a compas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145362738"/>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2026-10-26T10:22:14.1820000Z</dcterms:created>
  <dcterms:modified xsi:type="dcterms:W3CDTF">2026-10-26T10:22:14.1820000Z</dcterms:modified>
</coreProperties>
</file>