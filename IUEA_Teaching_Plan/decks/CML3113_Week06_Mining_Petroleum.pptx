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c9ed9d2312d4e8e" /><Relationship Type="http://schemas.openxmlformats.org/officeDocument/2006/relationships/extended-properties" Target="/docProps/app.xml" Id="Rf9840e1b7ad2408e" /><Relationship Type="http://schemas.openxmlformats.org/officeDocument/2006/relationships/officeDocument" Target="/ppt/presentation.xml" Id="R4a48565306f04135" /></Relationships>
</file>

<file path=ppt/presentation.xml><?xml version="1.0" encoding="utf-8"?>
<p:presentation xmlns:p="http://schemas.openxmlformats.org/presentationml/2006/main">
  <p:sldMasterIdLst>
    <p:sldMasterId xmlns:r="http://schemas.openxmlformats.org/officeDocument/2006/relationships" id="2147483648" r:id="R85213a8cab8440cd"/>
  </p:sldMasterIdLst>
  <p:notesMasterIdLst>
    <p:notesMasterId xmlns:r="http://schemas.openxmlformats.org/officeDocument/2006/relationships" r:id="R24396dc99df84a04"/>
  </p:notesMasterIdLst>
  <p:sldIdLst>
    <p:sldId xmlns:r="http://schemas.openxmlformats.org/officeDocument/2006/relationships" id="256" r:id="R58e82d2f514646f2"/>
    <p:sldId xmlns:r="http://schemas.openxmlformats.org/officeDocument/2006/relationships" id="257" r:id="Rd41f9effb8b448a6"/>
    <p:sldId xmlns:r="http://schemas.openxmlformats.org/officeDocument/2006/relationships" id="258" r:id="R9790f4b844554ed3"/>
    <p:sldId xmlns:r="http://schemas.openxmlformats.org/officeDocument/2006/relationships" id="259" r:id="Rbc39d7943a6d45a4"/>
    <p:sldId xmlns:r="http://schemas.openxmlformats.org/officeDocument/2006/relationships" id="260" r:id="R3f4f7f61369b4f5b"/>
    <p:sldId xmlns:r="http://schemas.openxmlformats.org/officeDocument/2006/relationships" id="261" r:id="R46eca62ef58f4d2a"/>
    <p:sldId xmlns:r="http://schemas.openxmlformats.org/officeDocument/2006/relationships" id="262" r:id="Rdd2203964ed84785"/>
    <p:sldId xmlns:r="http://schemas.openxmlformats.org/officeDocument/2006/relationships" id="263" r:id="R48bc629ec6cd4f44"/>
    <p:sldId xmlns:r="http://schemas.openxmlformats.org/officeDocument/2006/relationships" id="264" r:id="R667e4c797b1f4a92"/>
    <p:sldId xmlns:r="http://schemas.openxmlformats.org/officeDocument/2006/relationships" id="265" r:id="R25f412dbb8054065"/>
    <p:sldId xmlns:r="http://schemas.openxmlformats.org/officeDocument/2006/relationships" id="266" r:id="Rcd5293cc1fe04139"/>
    <p:sldId xmlns:r="http://schemas.openxmlformats.org/officeDocument/2006/relationships" id="267" r:id="Re83389a46f1f4f65"/>
    <p:sldId xmlns:r="http://schemas.openxmlformats.org/officeDocument/2006/relationships" id="268" r:id="Rcb034a7ec1494c7e"/>
    <p:sldId xmlns:r="http://schemas.openxmlformats.org/officeDocument/2006/relationships" id="269" r:id="R851968a2c5db4763"/>
    <p:sldId xmlns:r="http://schemas.openxmlformats.org/officeDocument/2006/relationships" id="270" r:id="Ra2ef88eac2e34815"/>
    <p:sldId xmlns:r="http://schemas.openxmlformats.org/officeDocument/2006/relationships" id="271" r:id="Ra70d0a120f834d3e"/>
    <p:sldId xmlns:r="http://schemas.openxmlformats.org/officeDocument/2006/relationships" id="272" r:id="R6eb4326345234ea7"/>
    <p:sldId xmlns:r="http://schemas.openxmlformats.org/officeDocument/2006/relationships" id="273" r:id="R62ec73c0e8004f06"/>
    <p:sldId xmlns:r="http://schemas.openxmlformats.org/officeDocument/2006/relationships" id="274" r:id="R0b0975655ff447f9"/>
    <p:sldId xmlns:r="http://schemas.openxmlformats.org/officeDocument/2006/relationships" id="275" r:id="Rc0dc04f415634c76"/>
    <p:sldId xmlns:r="http://schemas.openxmlformats.org/officeDocument/2006/relationships" id="276" r:id="R0f482d3938124fd9"/>
    <p:sldId xmlns:r="http://schemas.openxmlformats.org/officeDocument/2006/relationships" id="277" r:id="R90e1f114b1144519"/>
    <p:sldId xmlns:r="http://schemas.openxmlformats.org/officeDocument/2006/relationships" id="278" r:id="R8f37efa148a04bcf"/>
    <p:sldId xmlns:r="http://schemas.openxmlformats.org/officeDocument/2006/relationships" id="279" r:id="R402c89cb9c964a7e"/>
    <p:sldId xmlns:r="http://schemas.openxmlformats.org/officeDocument/2006/relationships" id="280" r:id="R38867a66c7e948c5"/>
    <p:sldId xmlns:r="http://schemas.openxmlformats.org/officeDocument/2006/relationships" id="281" r:id="Raf6c3a8f5efd4e6f"/>
    <p:sldId xmlns:r="http://schemas.openxmlformats.org/officeDocument/2006/relationships" id="282" r:id="R72060417932a4b71"/>
    <p:sldId xmlns:r="http://schemas.openxmlformats.org/officeDocument/2006/relationships" id="283" r:id="R623d73f64ca0449e"/>
    <p:sldId xmlns:r="http://schemas.openxmlformats.org/officeDocument/2006/relationships" id="284" r:id="R017b8eac5f454316"/>
    <p:sldId xmlns:r="http://schemas.openxmlformats.org/officeDocument/2006/relationships" id="285" r:id="R0616534d1deb4edd"/>
    <p:sldId xmlns:r="http://schemas.openxmlformats.org/officeDocument/2006/relationships" id="286" r:id="R50c875483db54ce6"/>
    <p:sldId xmlns:r="http://schemas.openxmlformats.org/officeDocument/2006/relationships" id="287" r:id="Rbf25001b3ab7448b"/>
    <p:sldId xmlns:r="http://schemas.openxmlformats.org/officeDocument/2006/relationships" id="288" r:id="R22dd32ff5eee46d1"/>
    <p:sldId xmlns:r="http://schemas.openxmlformats.org/officeDocument/2006/relationships" id="289" r:id="Rfbb70f2c609d40a6"/>
    <p:sldId xmlns:r="http://schemas.openxmlformats.org/officeDocument/2006/relationships" id="290" r:id="R501f8449fb9e4da8"/>
    <p:sldId xmlns:r="http://schemas.openxmlformats.org/officeDocument/2006/relationships" id="291" r:id="Ra6b092d8da514429"/>
    <p:sldId xmlns:r="http://schemas.openxmlformats.org/officeDocument/2006/relationships" id="292" r:id="R1eb7616a97634afb"/>
    <p:sldId xmlns:r="http://schemas.openxmlformats.org/officeDocument/2006/relationships" id="293" r:id="Rb4825506587b417a"/>
    <p:sldId xmlns:r="http://schemas.openxmlformats.org/officeDocument/2006/relationships" id="294" r:id="Re69e059cdd7643f8"/>
    <p:sldId xmlns:r="http://schemas.openxmlformats.org/officeDocument/2006/relationships" id="295" r:id="Rb140fa8511e944fb"/>
    <p:sldId xmlns:r="http://schemas.openxmlformats.org/officeDocument/2006/relationships" id="296" r:id="Rb1a819a3c0ff4de8"/>
    <p:sldId xmlns:r="http://schemas.openxmlformats.org/officeDocument/2006/relationships" id="297" r:id="R7ac565e0fcae4e84"/>
    <p:sldId xmlns:r="http://schemas.openxmlformats.org/officeDocument/2006/relationships" id="298" r:id="R52f2c6b27a9f4561"/>
    <p:sldId xmlns:r="http://schemas.openxmlformats.org/officeDocument/2006/relationships" id="299" r:id="Rc82e6c1a605f4712"/>
    <p:sldId xmlns:r="http://schemas.openxmlformats.org/officeDocument/2006/relationships" id="300" r:id="R8c364977f9174993"/>
    <p:sldId xmlns:r="http://schemas.openxmlformats.org/officeDocument/2006/relationships" id="301" r:id="Radcb8f32a940417d"/>
    <p:sldId xmlns:r="http://schemas.openxmlformats.org/officeDocument/2006/relationships" id="302" r:id="R0230aaec0afb412b"/>
    <p:sldId xmlns:r="http://schemas.openxmlformats.org/officeDocument/2006/relationships" id="303" r:id="R8a05c3fcd6ef4f07"/>
    <p:sldId xmlns:r="http://schemas.openxmlformats.org/officeDocument/2006/relationships" id="304" r:id="R532c7516d906466f"/>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40319d1e7b4a3e" /><Relationship Type="http://schemas.openxmlformats.org/officeDocument/2006/relationships/slideMaster" Target="/ppt/slideMasters/slideMaster1.xml" Id="R85213a8cab8440cd" /><Relationship Type="http://schemas.openxmlformats.org/officeDocument/2006/relationships/notesMaster" Target="/ppt/notesMasters/notesMaster1.xml" Id="R24396dc99df84a04" /><Relationship Type="http://schemas.openxmlformats.org/officeDocument/2006/relationships/presProps" Target="/ppt/presProps.xml" Id="R252c6ae2cf4540db" /><Relationship Type="http://schemas.openxmlformats.org/officeDocument/2006/relationships/tableStyles" Target="/ppt/tableStyles.xml" Id="Rafb75aa655c941d0" /><Relationship Type="http://schemas.openxmlformats.org/officeDocument/2006/relationships/slide" Target="/ppt/slides/slide1.xml" Id="R58e82d2f514646f2" /><Relationship Type="http://schemas.openxmlformats.org/officeDocument/2006/relationships/slide" Target="/ppt/slides/slide2.xml" Id="Rd41f9effb8b448a6" /><Relationship Type="http://schemas.openxmlformats.org/officeDocument/2006/relationships/slide" Target="/ppt/slides/slide3.xml" Id="R9790f4b844554ed3" /><Relationship Type="http://schemas.openxmlformats.org/officeDocument/2006/relationships/slide" Target="/ppt/slides/slide4.xml" Id="Rbc39d7943a6d45a4" /><Relationship Type="http://schemas.openxmlformats.org/officeDocument/2006/relationships/slide" Target="/ppt/slides/slide5.xml" Id="R3f4f7f61369b4f5b" /><Relationship Type="http://schemas.openxmlformats.org/officeDocument/2006/relationships/slide" Target="/ppt/slides/slide6.xml" Id="R46eca62ef58f4d2a" /><Relationship Type="http://schemas.openxmlformats.org/officeDocument/2006/relationships/slide" Target="/ppt/slides/slide7.xml" Id="Rdd2203964ed84785" /><Relationship Type="http://schemas.openxmlformats.org/officeDocument/2006/relationships/slide" Target="/ppt/slides/slide8.xml" Id="R48bc629ec6cd4f44" /><Relationship Type="http://schemas.openxmlformats.org/officeDocument/2006/relationships/slide" Target="/ppt/slides/slide9.xml" Id="R667e4c797b1f4a92" /><Relationship Type="http://schemas.openxmlformats.org/officeDocument/2006/relationships/slide" Target="/ppt/slides/slide10.xml" Id="R25f412dbb8054065" /><Relationship Type="http://schemas.openxmlformats.org/officeDocument/2006/relationships/slide" Target="/ppt/slides/slide11.xml" Id="Rcd5293cc1fe04139" /><Relationship Type="http://schemas.openxmlformats.org/officeDocument/2006/relationships/slide" Target="/ppt/slides/slide12.xml" Id="Re83389a46f1f4f65" /><Relationship Type="http://schemas.openxmlformats.org/officeDocument/2006/relationships/slide" Target="/ppt/slides/slide13.xml" Id="Rcb034a7ec1494c7e" /><Relationship Type="http://schemas.openxmlformats.org/officeDocument/2006/relationships/slide" Target="/ppt/slides/slide14.xml" Id="R851968a2c5db4763" /><Relationship Type="http://schemas.openxmlformats.org/officeDocument/2006/relationships/slide" Target="/ppt/slides/slide15.xml" Id="Ra2ef88eac2e34815" /><Relationship Type="http://schemas.openxmlformats.org/officeDocument/2006/relationships/slide" Target="/ppt/slides/slide16.xml" Id="Ra70d0a120f834d3e" /><Relationship Type="http://schemas.openxmlformats.org/officeDocument/2006/relationships/slide" Target="/ppt/slides/slide17.xml" Id="R6eb4326345234ea7" /><Relationship Type="http://schemas.openxmlformats.org/officeDocument/2006/relationships/slide" Target="/ppt/slides/slide18.xml" Id="R62ec73c0e8004f06" /><Relationship Type="http://schemas.openxmlformats.org/officeDocument/2006/relationships/slide" Target="/ppt/slides/slide19.xml" Id="R0b0975655ff447f9" /><Relationship Type="http://schemas.openxmlformats.org/officeDocument/2006/relationships/slide" Target="/ppt/slides/slide20.xml" Id="Rc0dc04f415634c76" /><Relationship Type="http://schemas.openxmlformats.org/officeDocument/2006/relationships/slide" Target="/ppt/slides/slide21.xml" Id="R0f482d3938124fd9" /><Relationship Type="http://schemas.openxmlformats.org/officeDocument/2006/relationships/slide" Target="/ppt/slides/slide22.xml" Id="R90e1f114b1144519" /><Relationship Type="http://schemas.openxmlformats.org/officeDocument/2006/relationships/slide" Target="/ppt/slides/slide23.xml" Id="R8f37efa148a04bcf" /><Relationship Type="http://schemas.openxmlformats.org/officeDocument/2006/relationships/slide" Target="/ppt/slides/slide24.xml" Id="R402c89cb9c964a7e" /><Relationship Type="http://schemas.openxmlformats.org/officeDocument/2006/relationships/slide" Target="/ppt/slides/slide25.xml" Id="R38867a66c7e948c5" /><Relationship Type="http://schemas.openxmlformats.org/officeDocument/2006/relationships/slide" Target="/ppt/slides/slide26.xml" Id="Raf6c3a8f5efd4e6f" /><Relationship Type="http://schemas.openxmlformats.org/officeDocument/2006/relationships/slide" Target="/ppt/slides/slide27.xml" Id="R72060417932a4b71" /><Relationship Type="http://schemas.openxmlformats.org/officeDocument/2006/relationships/slide" Target="/ppt/slides/slide28.xml" Id="R623d73f64ca0449e" /><Relationship Type="http://schemas.openxmlformats.org/officeDocument/2006/relationships/slide" Target="/ppt/slides/slide29.xml" Id="R017b8eac5f454316" /><Relationship Type="http://schemas.openxmlformats.org/officeDocument/2006/relationships/slide" Target="/ppt/slides/slide30.xml" Id="R0616534d1deb4edd" /><Relationship Type="http://schemas.openxmlformats.org/officeDocument/2006/relationships/slide" Target="/ppt/slides/slide31.xml" Id="R50c875483db54ce6" /><Relationship Type="http://schemas.openxmlformats.org/officeDocument/2006/relationships/slide" Target="/ppt/slides/slide32.xml" Id="Rbf25001b3ab7448b" /><Relationship Type="http://schemas.openxmlformats.org/officeDocument/2006/relationships/slide" Target="/ppt/slides/slide33.xml" Id="R22dd32ff5eee46d1" /><Relationship Type="http://schemas.openxmlformats.org/officeDocument/2006/relationships/slide" Target="/ppt/slides/slide34.xml" Id="Rfbb70f2c609d40a6" /><Relationship Type="http://schemas.openxmlformats.org/officeDocument/2006/relationships/slide" Target="/ppt/slides/slide35.xml" Id="R501f8449fb9e4da8" /><Relationship Type="http://schemas.openxmlformats.org/officeDocument/2006/relationships/slide" Target="/ppt/slides/slide36.xml" Id="Ra6b092d8da514429" /><Relationship Type="http://schemas.openxmlformats.org/officeDocument/2006/relationships/slide" Target="/ppt/slides/slide37.xml" Id="R1eb7616a97634afb" /><Relationship Type="http://schemas.openxmlformats.org/officeDocument/2006/relationships/slide" Target="/ppt/slides/slide38.xml" Id="Rb4825506587b417a" /><Relationship Type="http://schemas.openxmlformats.org/officeDocument/2006/relationships/slide" Target="/ppt/slides/slide39.xml" Id="Re69e059cdd7643f8" /><Relationship Type="http://schemas.openxmlformats.org/officeDocument/2006/relationships/slide" Target="/ppt/slides/slide40.xml" Id="Rb140fa8511e944fb" /><Relationship Type="http://schemas.openxmlformats.org/officeDocument/2006/relationships/slide" Target="/ppt/slides/slide41.xml" Id="Rb1a819a3c0ff4de8" /><Relationship Type="http://schemas.openxmlformats.org/officeDocument/2006/relationships/slide" Target="/ppt/slides/slide42.xml" Id="R7ac565e0fcae4e84" /><Relationship Type="http://schemas.openxmlformats.org/officeDocument/2006/relationships/slide" Target="/ppt/slides/slide43.xml" Id="R52f2c6b27a9f4561" /><Relationship Type="http://schemas.openxmlformats.org/officeDocument/2006/relationships/slide" Target="/ppt/slides/slide44.xml" Id="Rc82e6c1a605f4712" /><Relationship Type="http://schemas.openxmlformats.org/officeDocument/2006/relationships/slide" Target="/ppt/slides/slide45.xml" Id="R8c364977f9174993" /><Relationship Type="http://schemas.openxmlformats.org/officeDocument/2006/relationships/slide" Target="/ppt/slides/slide46.xml" Id="Radcb8f32a940417d" /><Relationship Type="http://schemas.openxmlformats.org/officeDocument/2006/relationships/slide" Target="/ppt/slides/slide47.xml" Id="R0230aaec0afb412b" /><Relationship Type="http://schemas.openxmlformats.org/officeDocument/2006/relationships/slide" Target="/ppt/slides/slide48.xml" Id="R8a05c3fcd6ef4f07" /><Relationship Type="http://schemas.openxmlformats.org/officeDocument/2006/relationships/slide" Target="/ppt/slides/slide49.xml" Id="R532c7516d90646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1295900145149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6a33933b57a44e4" /><Relationship Type="http://schemas.openxmlformats.org/officeDocument/2006/relationships/notesMaster" Target="/ppt/notesMasters/notesMaster1.xml" Id="Re93093d45e7b43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664e093aae4641" /><Relationship Type="http://schemas.openxmlformats.org/officeDocument/2006/relationships/notesMaster" Target="/ppt/notesMasters/notesMaster1.xml" Id="R06c09252c38a4db3" /></Relationships>
</file>

<file path=ppt/notesSlides/_rels/notesSlide3.xml.rels>&#65279;<?xml version="1.0" encoding="utf-8"?><Relationships xmlns="http://schemas.openxmlformats.org/package/2006/relationships"><Relationship Type="http://schemas.openxmlformats.org/officeDocument/2006/relationships/slide" Target="/ppt/slides/slide3.xml" Id="R654e27c632c54826" /><Relationship Type="http://schemas.openxmlformats.org/officeDocument/2006/relationships/notesMaster" Target="/ppt/notesMasters/notesMaster1.xml" Id="R197c62c01de54847" /></Relationships>
</file>

<file path=ppt/notesSlides/_rels/notesSlide4.xml.rels>&#65279;<?xml version="1.0" encoding="utf-8"?><Relationships xmlns="http://schemas.openxmlformats.org/package/2006/relationships"><Relationship Type="http://schemas.openxmlformats.org/officeDocument/2006/relationships/slide" Target="/ppt/slides/slide4.xml" Id="R0deee39a09194953" /><Relationship Type="http://schemas.openxmlformats.org/officeDocument/2006/relationships/notesMaster" Target="/ppt/notesMasters/notesMaster1.xml" Id="Rb2d6640c8cba4a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0d79b3013534aee" /><Relationship Type="http://schemas.openxmlformats.org/officeDocument/2006/relationships/notesMaster" Target="/ppt/notesMasters/notesMaster1.xml" Id="R499157a72e324d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0805aafb45d4528" /><Relationship Type="http://schemas.openxmlformats.org/officeDocument/2006/relationships/notesMaster" Target="/ppt/notesMasters/notesMaster1.xml" Id="R833e03a2f22a46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f40e3dafa94a5a" /><Relationship Type="http://schemas.openxmlformats.org/officeDocument/2006/relationships/notesMaster" Target="/ppt/notesMasters/notesMaster1.xml" Id="Rebcec7af26e74c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2b2b197b92da47fc" /><Relationship Type="http://schemas.openxmlformats.org/officeDocument/2006/relationships/notesMaster" Target="/ppt/notesMasters/notesMaster1.xml" Id="Rcbb578b7d4a343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dce86497d31a4f34" /><Relationship Type="http://schemas.openxmlformats.org/officeDocument/2006/relationships/notesMaster" Target="/ppt/notesMasters/notesMaster1.xml" Id="R0dc5da741c9942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801fab02644f21" /><Relationship Type="http://schemas.openxmlformats.org/officeDocument/2006/relationships/notesMaster" Target="/ppt/notesMasters/notesMaster1.xml" Id="R7938522c5feb4c7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f4329ac45a54141" /><Relationship Type="http://schemas.openxmlformats.org/officeDocument/2006/relationships/notesMaster" Target="/ppt/notesMasters/notesMaster1.xml" Id="Rff2d11c69255405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d971dd174a4b05" /><Relationship Type="http://schemas.openxmlformats.org/officeDocument/2006/relationships/notesMaster" Target="/ppt/notesMasters/notesMaster1.xml" Id="Rbffaa0057f4e430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541a7a552f248ee" /><Relationship Type="http://schemas.openxmlformats.org/officeDocument/2006/relationships/notesMaster" Target="/ppt/notesMasters/notesMaster1.xml" Id="Rd995b17c1633401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241fa4c5ba64d05" /><Relationship Type="http://schemas.openxmlformats.org/officeDocument/2006/relationships/notesMaster" Target="/ppt/notesMasters/notesMaster1.xml" Id="Rf234c482027646c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14c5d45eadd4680" /><Relationship Type="http://schemas.openxmlformats.org/officeDocument/2006/relationships/notesMaster" Target="/ppt/notesMasters/notesMaster1.xml" Id="Rc0b4c3b0261b412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cd621f465fb4813" /><Relationship Type="http://schemas.openxmlformats.org/officeDocument/2006/relationships/notesMaster" Target="/ppt/notesMasters/notesMaster1.xml" Id="Rb495b7e6b277474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0ec7f476e434242" /><Relationship Type="http://schemas.openxmlformats.org/officeDocument/2006/relationships/notesMaster" Target="/ppt/notesMasters/notesMaster1.xml" Id="Rcd2d0b156c98487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53e70928824a88" /><Relationship Type="http://schemas.openxmlformats.org/officeDocument/2006/relationships/notesMaster" Target="/ppt/notesMasters/notesMaster1.xml" Id="Rcdb568761316483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a4ec611dda84d69" /><Relationship Type="http://schemas.openxmlformats.org/officeDocument/2006/relationships/notesMaster" Target="/ppt/notesMasters/notesMaster1.xml" Id="R1907465ae0aa49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c5758062ce04e66" /><Relationship Type="http://schemas.openxmlformats.org/officeDocument/2006/relationships/notesMaster" Target="/ppt/notesMasters/notesMaster1.xml" Id="Rdbc96d0d4fa8470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50c0d78fac9460b" /><Relationship Type="http://schemas.openxmlformats.org/officeDocument/2006/relationships/notesMaster" Target="/ppt/notesMasters/notesMaster1.xml" Id="R5b81efe95c7543f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6dd6e1196b54489" /><Relationship Type="http://schemas.openxmlformats.org/officeDocument/2006/relationships/notesMaster" Target="/ppt/notesMasters/notesMaster1.xml" Id="Re943cdb73667428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7d923b829ce4352" /><Relationship Type="http://schemas.openxmlformats.org/officeDocument/2006/relationships/notesMaster" Target="/ppt/notesMasters/notesMaster1.xml" Id="Raf4bf73b60dc4c8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5ac77e662cb4bcd" /><Relationship Type="http://schemas.openxmlformats.org/officeDocument/2006/relationships/notesMaster" Target="/ppt/notesMasters/notesMaster1.xml" Id="R3d7846f739de415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e7c7fd48823411d" /><Relationship Type="http://schemas.openxmlformats.org/officeDocument/2006/relationships/notesMaster" Target="/ppt/notesMasters/notesMaster1.xml" Id="Rbfd108576921482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a151501b08d418d" /><Relationship Type="http://schemas.openxmlformats.org/officeDocument/2006/relationships/notesMaster" Target="/ppt/notesMasters/notesMaster1.xml" Id="R1b771c5c4ae74c8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0c48665913c4af3" /><Relationship Type="http://schemas.openxmlformats.org/officeDocument/2006/relationships/notesMaster" Target="/ppt/notesMasters/notesMaster1.xml" Id="Rb37ac3d32641449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ddad8a900e4424b" /><Relationship Type="http://schemas.openxmlformats.org/officeDocument/2006/relationships/notesMaster" Target="/ppt/notesMasters/notesMaster1.xml" Id="R7ee53cb25a11486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16d5f5149754d78" /><Relationship Type="http://schemas.openxmlformats.org/officeDocument/2006/relationships/notesMaster" Target="/ppt/notesMasters/notesMaster1.xml" Id="Ra668c451ebfc4c9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5dad2c2b3eb4be0" /><Relationship Type="http://schemas.openxmlformats.org/officeDocument/2006/relationships/notesMaster" Target="/ppt/notesMasters/notesMaster1.xml" Id="R8bf967d3a9154dd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51f41df69d34678" /><Relationship Type="http://schemas.openxmlformats.org/officeDocument/2006/relationships/notesMaster" Target="/ppt/notesMasters/notesMaster1.xml" Id="R240276c9ad0f413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fc64f4d9b8e4f26" /><Relationship Type="http://schemas.openxmlformats.org/officeDocument/2006/relationships/notesMaster" Target="/ppt/notesMasters/notesMaster1.xml" Id="Rf4e452915c084a2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6d07e4255f14940" /><Relationship Type="http://schemas.openxmlformats.org/officeDocument/2006/relationships/notesMaster" Target="/ppt/notesMasters/notesMaster1.xml" Id="Ra507f43904074ce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315978ebc7448a9" /><Relationship Type="http://schemas.openxmlformats.org/officeDocument/2006/relationships/notesMaster" Target="/ppt/notesMasters/notesMaster1.xml" Id="R7a742f2d627a499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164f77b51944266" /><Relationship Type="http://schemas.openxmlformats.org/officeDocument/2006/relationships/notesMaster" Target="/ppt/notesMasters/notesMaster1.xml" Id="R13e1a7b3068f4ea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3e7f04ed67b40c7" /><Relationship Type="http://schemas.openxmlformats.org/officeDocument/2006/relationships/notesMaster" Target="/ppt/notesMasters/notesMaster1.xml" Id="R7c592b48e5f54d8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0caf52f5fd34d0f" /><Relationship Type="http://schemas.openxmlformats.org/officeDocument/2006/relationships/notesMaster" Target="/ppt/notesMasters/notesMaster1.xml" Id="R8035de036ba94b6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0525b078fa540aa" /><Relationship Type="http://schemas.openxmlformats.org/officeDocument/2006/relationships/notesMaster" Target="/ppt/notesMasters/notesMaster1.xml" Id="R11038b3a2d5442a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942f96a0f114199" /><Relationship Type="http://schemas.openxmlformats.org/officeDocument/2006/relationships/notesMaster" Target="/ppt/notesMasters/notesMaster1.xml" Id="R642b3f838cf7449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bf3bf94c2a247f4" /><Relationship Type="http://schemas.openxmlformats.org/officeDocument/2006/relationships/notesMaster" Target="/ppt/notesMasters/notesMaster1.xml" Id="R8fbe6a2f60a34ab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175ee7e665548b5" /><Relationship Type="http://schemas.openxmlformats.org/officeDocument/2006/relationships/notesMaster" Target="/ppt/notesMasters/notesMaster1.xml" Id="Rcd5b33fc4784402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13b08f901644b84" /><Relationship Type="http://schemas.openxmlformats.org/officeDocument/2006/relationships/notesMaster" Target="/ppt/notesMasters/notesMaster1.xml" Id="R3a02abba650a4b9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2072549f7674978" /><Relationship Type="http://schemas.openxmlformats.org/officeDocument/2006/relationships/notesMaster" Target="/ppt/notesMasters/notesMaster1.xml" Id="R77548c0e93ef49f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137738f0fe245f9" /><Relationship Type="http://schemas.openxmlformats.org/officeDocument/2006/relationships/notesMaster" Target="/ppt/notesMasters/notesMaster1.xml" Id="R6b1963dc243b4c5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3d845e0d25f493e" /><Relationship Type="http://schemas.openxmlformats.org/officeDocument/2006/relationships/notesMaster" Target="/ppt/notesMasters/notesMaster1.xml" Id="R68558e053c5d442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226d01056574875" /><Relationship Type="http://schemas.openxmlformats.org/officeDocument/2006/relationships/notesMaster" Target="/ppt/notesMasters/notesMaster1.xml" Id="Rac0ed235edfe4fb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ef8163a38054145" /><Relationship Type="http://schemas.openxmlformats.org/officeDocument/2006/relationships/notesMaster" Target="/ppt/notesMasters/notesMaster1.xml" Id="R19c610d4a27b4f9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7405cebe0bb4266" /><Relationship Type="http://schemas.openxmlformats.org/officeDocument/2006/relationships/notesMaster" Target="/ppt/notesMasters/notesMaster1.xml" Id="R49ccd3b3bfda4ec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87229b127bd4153" /><Relationship Type="http://schemas.openxmlformats.org/officeDocument/2006/relationships/notesMaster" Target="/ppt/notesMasters/notesMaster1.xml" Id="Red4e736e03dd41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data and explaining changes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data and explaining changes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Cleaning data and explaining changes. Explain why this example is needed before running it.</a:t>
            </a:r>
          </a:p>
          <a:p xmlns:a="http://schemas.openxmlformats.org/drawingml/2006/main">
            <a:r>
              <a:t/>
            </a:r>
          </a:p>
          <a:p xmlns:a="http://schemas.openxmlformats.org/drawingml/2006/main">
            <a:r>
              <a:t>EXPLAIN</a:t>
            </a:r>
          </a:p>
          <a:p xmlns:a="http://schemas.openxmlformats.org/drawingml/2006/main">
            <a:r>
              <a:t>Recognise missing values and repeated records.</a:t>
            </a:r>
          </a:p>
          <a:p xmlns:a="http://schemas.openxmlformats.org/drawingml/2006/main">
            <a:r>
              <a:t/>
            </a:r>
          </a:p>
          <a:p xmlns:a="http://schemas.openxmlformats.org/drawingml/2006/main">
            <a:r>
              <a:t>Make a working copy and record each cleaning action.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Cleaning data and explaining changes.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MCAR/MAR/MNAR names, five chart families and six unaided defect hunts are reference. Teach missingness causes in everyday language first.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5 selected and summarised columns. Before trusting those summaries, inspect missing values, repeated observations and measurement units.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repeated record or a missing measurement can change a summary. We keep the original records, apply the stated cleaning rules and explain each change before plotting.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Raw data and Missing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Raw data and Missing value</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Raw data: The original supplied records. Keep these unchanged so another person can check your decisions.</a:t>
            </a:r>
          </a:p>
          <a:p xmlns:a="http://schemas.openxmlformats.org/drawingml/2006/main">
            <a:r>
              <a:t>Missing value: A value that was not recorded, represented here by None in Python records. Missing does not automatically mean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Raw data: The original supplied records. Keep these unchanged so another person can check your decisions.</a:t>
            </a:r>
          </a:p>
          <a:p xmlns:a="http://schemas.openxmlformats.org/drawingml/2006/main">
            <a:r>
              <a:t>Missing value: A value that was not recorded, represented here by None in Python records. Missing does not automatically mean zero.</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Record and equipment ID and Median and imputation.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Record and equipment ID and Median and imputation</a:t>
            </a:r>
          </a:p>
          <a:p xmlns:a="http://schemas.openxmlformats.org/drawingml/2006/main">
            <a:r>
              <a:t/>
            </a:r>
          </a:p>
          <a:p xmlns:a="http://schemas.openxmlformats.org/drawingml/2006/main">
            <a:r>
              <a:t>CONNECT</a:t>
            </a:r>
          </a:p>
          <a:p xmlns:a="http://schemas.openxmlformats.org/drawingml/2006/main">
            <a:r>
              <a:t>Build on Raw data and Missing value. Explain why this example is needed before running it.</a:t>
            </a:r>
          </a:p>
          <a:p xmlns:a="http://schemas.openxmlformats.org/drawingml/2006/main">
            <a:r>
              <a:t/>
            </a:r>
          </a:p>
          <a:p xmlns:a="http://schemas.openxmlformats.org/drawingml/2006/main">
            <a:r>
              <a:t>EXPLAIN</a:t>
            </a:r>
          </a:p>
          <a:p xmlns:a="http://schemas.openxmlformats.org/drawingml/2006/main">
            <a:r>
              <a:t>Record and equipment ID: A record ID identifies an observation. An equipment ID identifies the source and may repeat legitimately. Remove repeated observations only under the stated rule.</a:t>
            </a:r>
          </a:p>
          <a:p xmlns:a="http://schemas.openxmlformats.org/drawingml/2006/main">
            <a:r>
              <a:t>Median and imputation: The median is the middle sorted value, or the mean of the two middle values. Imputation fills a missing value using an explicit rule and introduces uncertainty.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Record and equipment ID: A record ID identifies an observation. An equipment ID identifies the source and may repeat legitimately. Remove repeated observations only under the stated rule.</a:t>
            </a:r>
          </a:p>
          <a:p xmlns:a="http://schemas.openxmlformats.org/drawingml/2006/main">
            <a:r>
              <a:t>Median and imputation: The median is the middle sorted value, or the mean of the two middle values. Imputation fills a missing value using an explicit rule and introduces uncertainty.</a:t>
            </a:r>
          </a:p>
          <a:p xmlns:a="http://schemas.openxmlformats.org/drawingml/2006/main">
            <a:r>
              <a:t/>
            </a:r>
          </a:p>
          <a:p xmlns:a="http://schemas.openxmlformats.org/drawingml/2006/main">
            <a:r>
              <a:t>NEXT</a:t>
            </a:r>
          </a:p>
          <a:p xmlns:a="http://schemas.openxmlformats.org/drawingml/2006/main">
            <a:r>
              <a:t>An unusual value needs a reason.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unusual value needs a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unusual value needs a reason</a:t>
            </a:r>
          </a:p>
          <a:p xmlns:a="http://schemas.openxmlformats.org/drawingml/2006/main">
            <a:r>
              <a:t/>
            </a:r>
          </a:p>
          <a:p xmlns:a="http://schemas.openxmlformats.org/drawingml/2006/main">
            <a:r>
              <a:t>CONNECT</a:t>
            </a:r>
          </a:p>
          <a:p xmlns:a="http://schemas.openxmlformats.org/drawingml/2006/main">
            <a:r>
              <a:t>Build on Record and equipment ID and Median and imputation. Explain why this example is needed before running it.</a:t>
            </a:r>
          </a:p>
          <a:p xmlns:a="http://schemas.openxmlformats.org/drawingml/2006/main">
            <a:r>
              <a:t/>
            </a:r>
          </a:p>
          <a:p xmlns:a="http://schemas.openxmlformats.org/drawingml/2006/main">
            <a:r>
              <a:t>EXPLAIN</a:t>
            </a:r>
          </a:p>
          <a:p xmlns:a="http://schemas.openxmlformats.org/drawingml/2006/main">
            <a:r>
              <a:t>A missing reading has no recorded value.</a:t>
            </a:r>
          </a:p>
          <a:p xmlns:a="http://schemas.openxmlformats.org/drawingml/2006/main">
            <a:r>
              <a:t/>
            </a:r>
          </a:p>
          <a:p xmlns:a="http://schemas.openxmlformats.org/drawingml/2006/main">
            <a:r>
              <a:t>Zero is a recorded value and may be physically meaningful.</a:t>
            </a:r>
          </a:p>
          <a:p xmlns:a="http://schemas.openxmlformats.org/drawingml/2006/main">
            <a:r>
              <a:t/>
            </a:r>
          </a:p>
          <a:p xmlns:a="http://schemas.openxmlformats.org/drawingml/2006/main">
            <a:r>
              <a:t>A large or negative value needs instrument and unit context.</a:t>
            </a:r>
          </a:p>
          <a:p xmlns:a="http://schemas.openxmlformats.org/drawingml/2006/main">
            <a:r>
              <a:t/>
            </a:r>
          </a:p>
          <a:p xmlns:a="http://schemas.openxmlformats.org/drawingml/2006/main">
            <a:r>
              <a:t>Preserve the raw data and record every cleaning decision.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unusual value needs a reason</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Mean, median and unusual readings.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Mean, median and unusual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Mean, median and unusual readings</a:t>
            </a:r>
          </a:p>
          <a:p xmlns:a="http://schemas.openxmlformats.org/drawingml/2006/main">
            <a:r>
              <a:t/>
            </a:r>
          </a:p>
          <a:p xmlns:a="http://schemas.openxmlformats.org/drawingml/2006/main">
            <a:r>
              <a:t>CONNECT</a:t>
            </a:r>
          </a:p>
          <a:p xmlns:a="http://schemas.openxmlformats.org/drawingml/2006/main">
            <a:r>
              <a:t>Build on An unusual value needs a reason. Explain why this example is needed before running it.</a:t>
            </a:r>
          </a:p>
          <a:p xmlns:a="http://schemas.openxmlformats.org/drawingml/2006/main">
            <a:r>
              <a:t/>
            </a:r>
          </a:p>
          <a:p xmlns:a="http://schemas.openxmlformats.org/drawingml/2006/main">
            <a:r>
              <a:t>EXPLAIN</a:t>
            </a:r>
          </a:p>
          <a:p xmlns:a="http://schemas.openxmlformats.org/drawingml/2006/main">
            <a:r>
              <a:t>The mean uses every value. The median is the middle sorted value. A large value needs context.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Mean, median and unusual readings</a:t>
            </a:r>
          </a:p>
          <a:p xmlns:a="http://schemas.openxmlformats.org/drawingml/2006/main">
            <a:r>
              <a:t/>
            </a:r>
          </a:p>
          <a:p xmlns:a="http://schemas.openxmlformats.org/drawingml/2006/main">
            <a:r>
              <a:t>CONNECT</a:t>
            </a:r>
          </a:p>
          <a:p xmlns:a="http://schemas.openxmlformats.org/drawingml/2006/main">
            <a:r>
              <a:t>Build on the preceding slide: An unusual value needs a reason.</a:t>
            </a:r>
          </a:p>
          <a:p xmlns:a="http://schemas.openxmlformats.org/drawingml/2006/main">
            <a:r>
              <a:t/>
            </a:r>
          </a:p>
          <a:p xmlns:a="http://schemas.openxmlformats.org/drawingml/2006/main">
            <a:r>
              <a:t>LECTURER CUE</a:t>
            </a:r>
          </a:p>
          <a:p xmlns:a="http://schemas.openxmlformats.org/drawingml/2006/main">
            <a:r>
              <a:t>The mean uses every value. The median is the middle sorted value. A large value needs context.</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Filling a gap adds an estimate.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Filling a gap adds an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Filling a gap adds an estimate</a:t>
            </a:r>
          </a:p>
          <a:p xmlns:a="http://schemas.openxmlformats.org/drawingml/2006/main">
            <a:r>
              <a:t/>
            </a:r>
          </a:p>
          <a:p xmlns:a="http://schemas.openxmlformats.org/drawingml/2006/main">
            <a:r>
              <a:t>CONNECT</a:t>
            </a:r>
          </a:p>
          <a:p xmlns:a="http://schemas.openxmlformats.org/drawingml/2006/main">
            <a:r>
              <a:t>Build on Mean, median and unusual readings. Explain why this example is needed before running it.</a:t>
            </a:r>
          </a:p>
          <a:p xmlns:a="http://schemas.openxmlformats.org/drawingml/2006/main">
            <a:r>
              <a:t/>
            </a:r>
          </a:p>
          <a:p xmlns:a="http://schemas.openxmlformats.org/drawingml/2006/main">
            <a:r>
              <a:t>EXPLAIN</a:t>
            </a:r>
          </a:p>
          <a:p xmlns:a="http://schemas.openxmlformats.org/drawingml/2006/main">
            <a:r>
              <a:t>The valid readings, sorted, are 20, 22, 24 and 80.</a:t>
            </a:r>
          </a:p>
          <a:p xmlns:a="http://schemas.openxmlformats.org/drawingml/2006/main">
            <a:r>
              <a:t/>
            </a:r>
          </a:p>
          <a:p xmlns:a="http://schemas.openxmlformats.org/drawingml/2006/main">
            <a:r>
              <a:t>The two middle values are 22 and 24. Their mean is 23.</a:t>
            </a:r>
          </a:p>
          <a:p xmlns:a="http://schemas.openxmlformats.org/drawingml/2006/main">
            <a:r>
              <a:t/>
            </a:r>
          </a:p>
          <a:p xmlns:a="http://schemas.openxmlformats.org/drawingml/2006/main">
            <a:r>
              <a:t>Using 23 for a blank is a declared cleaning rule. It does not recover the lost measurement.</a:t>
            </a:r>
          </a:p>
          <a:p xmlns:a="http://schemas.openxmlformats.org/drawingml/2006/main">
            <a:r>
              <a:t/>
            </a:r>
          </a:p>
          <a:p xmlns:a="http://schemas.openxmlformats.org/drawingml/2006/main">
            <a:r>
              <a:t>In Python, value is None tests for a missing marker. is not None tests that it is not that marker.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Filling a gap adds an estimate</a:t>
            </a:r>
          </a:p>
          <a:p xmlns:a="http://schemas.openxmlformats.org/drawingml/2006/main">
            <a:r>
              <a:t/>
            </a:r>
          </a:p>
          <a:p xmlns:a="http://schemas.openxmlformats.org/drawingml/2006/main">
            <a:r>
              <a:t>CONNECT</a:t>
            </a:r>
          </a:p>
          <a:p xmlns:a="http://schemas.openxmlformats.org/drawingml/2006/main">
            <a:r>
              <a:t>Build on the preceding slide: Mean, median and unusual readings.</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Worked example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in Python (1/2)</a:t>
            </a:r>
          </a:p>
          <a:p xmlns:a="http://schemas.openxmlformats.org/drawingml/2006/main">
            <a:r>
              <a:t/>
            </a:r>
          </a:p>
          <a:p xmlns:a="http://schemas.openxmlformats.org/drawingml/2006/main">
            <a:r>
              <a:t>CONNECT</a:t>
            </a:r>
          </a:p>
          <a:p xmlns:a="http://schemas.openxmlformats.org/drawingml/2006/main">
            <a:r>
              <a:t>Build on Filling a gap adds an estimate.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(1/2)</a:t>
            </a:r>
          </a:p>
          <a:p xmlns:a="http://schemas.openxmlformats.org/drawingml/2006/main">
            <a:r>
              <a:t/>
            </a:r>
          </a:p>
          <a:p xmlns:a="http://schemas.openxmlformats.org/drawingml/2006/main">
            <a:r>
              <a:t>CONNECT</a:t>
            </a:r>
          </a:p>
          <a:p xmlns:a="http://schemas.openxmlformats.org/drawingml/2006/main">
            <a:r>
              <a:t>Build on the preceding slide: Filling a gap adds an estimate.</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in Python (2/2)</a:t>
            </a:r>
          </a:p>
          <a:p xmlns:a="http://schemas.openxmlformats.org/drawingml/2006/main">
            <a:r>
              <a:t/>
            </a:r>
          </a:p>
          <a:p xmlns:a="http://schemas.openxmlformats.org/drawingml/2006/main">
            <a:r>
              <a:t>CONNECT</a:t>
            </a:r>
          </a:p>
          <a:p xmlns:a="http://schemas.openxmlformats.org/drawingml/2006/main">
            <a:r>
              <a:t>Build on Cleaning decisions and charts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(2/2)</a:t>
            </a:r>
          </a:p>
          <a:p xmlns:a="http://schemas.openxmlformats.org/drawingml/2006/main">
            <a:r>
              <a:t/>
            </a:r>
          </a:p>
          <a:p xmlns:a="http://schemas.openxmlformats.org/drawingml/2006/main">
            <a:r>
              <a:t>CONNECT</a:t>
            </a:r>
          </a:p>
          <a:p xmlns:a="http://schemas.openxmlformats.org/drawingml/2006/main">
            <a:r>
              <a:t>Build on the preceding slide: Worked example (1/2).</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results</a:t>
            </a:r>
          </a:p>
          <a:p xmlns:a="http://schemas.openxmlformats.org/drawingml/2006/main">
            <a:r>
              <a:t/>
            </a:r>
          </a:p>
          <a:p xmlns:a="http://schemas.openxmlformats.org/drawingml/2006/main">
            <a:r>
              <a:t>CONNECT</a:t>
            </a:r>
          </a:p>
          <a:p xmlns:a="http://schemas.openxmlformats.org/drawingml/2006/main">
            <a:r>
              <a:t>Build on Cleaning decisions and charts in Python (2/2). Explain why this example is needed before running it.</a:t>
            </a:r>
          </a:p>
          <a:p xmlns:a="http://schemas.openxmlformats.org/drawingml/2006/main">
            <a:r>
              <a:t/>
            </a:r>
          </a:p>
          <a:p xmlns:a="http://schemas.openxmlformats.org/drawingml/2006/main">
            <a:r>
              <a:t>EXPLAIN</a:t>
            </a:r>
          </a:p>
          <a:p xmlns:a="http://schemas.openxmlformats.org/drawingml/2006/main">
            <a:r>
              <a:t>23.0</a:t>
            </a:r>
          </a:p>
          <a:p xmlns:a="http://schemas.openxmlformats.org/drawingml/2006/main">
            <a:r>
              <a:t>[20, None, 22, 24, 80]</a:t>
            </a:r>
          </a:p>
          <a:p xmlns:a="http://schemas.openxmlformats.org/drawingml/2006/main">
            <a:r>
              <a:t>[20, 23.0, 22, 24, 80]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(2/2).</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Copy a record and remember an ID.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Copy a record and remember an 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 a record and remember an ID</a:t>
            </a:r>
          </a:p>
          <a:p xmlns:a="http://schemas.openxmlformats.org/drawingml/2006/main">
            <a:r>
              <a:t/>
            </a:r>
          </a:p>
          <a:p xmlns:a="http://schemas.openxmlformats.org/drawingml/2006/main">
            <a:r>
              <a:t>CONNECT</a:t>
            </a:r>
          </a:p>
          <a:p xmlns:a="http://schemas.openxmlformats.org/drawingml/2006/main">
            <a:r>
              <a:t>Build on Cleaning decisions and charts results. Explain why this example is needed before running it.</a:t>
            </a:r>
          </a:p>
          <a:p xmlns:a="http://schemas.openxmlformats.org/drawingml/2006/main">
            <a:r>
              <a:t/>
            </a:r>
          </a:p>
          <a:p xmlns:a="http://schemas.openxmlformats.org/drawingml/2006/main">
            <a:r>
              <a:t>EXPLAIN</a:t>
            </a:r>
          </a:p>
          <a:p xmlns:a="http://schemas.openxmlformats.org/drawingml/2006/main">
            <a:r>
              <a:t>dict(row): For our flat records, dict(row) makes a separate dictionary with the same fields. Changing a number in the copy leaves the original record unchanged.</a:t>
            </a:r>
          </a:p>
          <a:p xmlns:a="http://schemas.openxmlformats.org/drawingml/2006/main">
            <a:r>
              <a:t>set, in, add and continue: set() starts an empty collection of unique items. in checks membership; add remembers an item. continue skips the rest of the current loop pass.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Copy a record and remember an ID</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POINT TO THE DEFINITION</a:t>
            </a:r>
          </a:p>
          <a:p xmlns:a="http://schemas.openxmlformats.org/drawingml/2006/main">
            <a:r>
              <a:t>dict(row): For our flat records, dict(row) makes a separate dictionary with the same fields. Changing a number in the copy leaves the original record unchanged.</a:t>
            </a:r>
          </a:p>
          <a:p xmlns:a="http://schemas.openxmlformats.org/drawingml/2006/main">
            <a:r>
              <a:t>set, in, add and continue: set() starts an empty collection of unique items. in checks membership; add remembers an item. continue skips the rest of the current loop pass.</a:t>
            </a:r>
          </a:p>
          <a:p xmlns:a="http://schemas.openxmlformats.org/drawingml/2006/main">
            <a:r>
              <a:t/>
            </a:r>
          </a:p>
          <a:p xmlns:a="http://schemas.openxmlformats.org/drawingml/2006/main">
            <a:r>
              <a:t>NEXT</a:t>
            </a:r>
          </a:p>
          <a:p xmlns:a="http://schemas.openxmlformats.org/drawingml/2006/main">
            <a:r>
              <a:t>A working copy preserves the original.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working copy preserves the original.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working copy preserves the original</a:t>
            </a:r>
          </a:p>
          <a:p xmlns:a="http://schemas.openxmlformats.org/drawingml/2006/main">
            <a:r>
              <a:t/>
            </a:r>
          </a:p>
          <a:p xmlns:a="http://schemas.openxmlformats.org/drawingml/2006/main">
            <a:r>
              <a:t>CONNECT</a:t>
            </a:r>
          </a:p>
          <a:p xmlns:a="http://schemas.openxmlformats.org/drawingml/2006/main">
            <a:r>
              <a:t>Build on Copy a record and remember an ID. Explain why this example is needed before running it.</a:t>
            </a:r>
          </a:p>
          <a:p xmlns:a="http://schemas.openxmlformats.org/drawingml/2006/main">
            <a:r>
              <a:t/>
            </a:r>
          </a:p>
          <a:p xmlns:a="http://schemas.openxmlformats.org/drawingml/2006/main">
            <a:r>
              <a:t>EXPLAIN</a:t>
            </a:r>
          </a:p>
          <a:p xmlns:a="http://schemas.openxmlformats.org/drawingml/2006/main">
            <a:r>
              <a:t>In this separate four-record example, remove one repeated C record and fill B with (20 + 24) / 2 = 22.</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working copy preserves the original</a:t>
            </a:r>
          </a:p>
          <a:p xmlns:a="http://schemas.openxmlformats.org/drawingml/2006/main">
            <a:r>
              <a:t/>
            </a:r>
          </a:p>
          <a:p xmlns:a="http://schemas.openxmlformats.org/drawingml/2006/main">
            <a:r>
              <a:t>CONNECT</a:t>
            </a:r>
          </a:p>
          <a:p xmlns:a="http://schemas.openxmlformats.org/drawingml/2006/main">
            <a:r>
              <a:t>Build on the preceding slide: Copy a record and remember an ID.</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The working-copy rule is a toy activity, not the exact assessed cleaning policy. Source: figs/experiential/ASSET_SOURCES.md.</a:t>
            </a:r>
          </a:p>
          <a:p xmlns:a="http://schemas.openxmlformats.org/drawingml/2006/main">
            <a:r>
              <a:t/>
            </a:r>
          </a:p>
          <a:p xmlns:a="http://schemas.openxmlformats.org/drawingml/2006/main">
            <a:r>
              <a:t>NEXT</a:t>
            </a:r>
          </a:p>
          <a:p xmlns:a="http://schemas.openxmlformats.org/drawingml/2006/main">
            <a:r>
              <a:t>Copies and duplicate checks.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Copies and duplicate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Copies and duplicate checks</a:t>
            </a:r>
          </a:p>
          <a:p xmlns:a="http://schemas.openxmlformats.org/drawingml/2006/main">
            <a:r>
              <a:t/>
            </a:r>
          </a:p>
          <a:p xmlns:a="http://schemas.openxmlformats.org/drawingml/2006/main">
            <a:r>
              <a:t>CONNECT</a:t>
            </a:r>
          </a:p>
          <a:p xmlns:a="http://schemas.openxmlformats.org/drawingml/2006/main">
            <a:r>
              <a:t>Build on A working copy preserves the original. Explain why this example is needed before running it.</a:t>
            </a:r>
          </a:p>
          <a:p xmlns:a="http://schemas.openxmlformats.org/drawingml/2006/main">
            <a:r>
              <a:t/>
            </a:r>
          </a:p>
          <a:p xmlns:a="http://schemas.openxmlformats.org/drawingml/2006/main">
            <a:r>
              <a:t>EXPLAIN</a:t>
            </a:r>
          </a:p>
          <a:p xmlns:a="http://schemas.openxmlformats.org/drawingml/2006/main">
            <a:r>
              <a:t>dict(row) makes a shallow copy. A set keeps unique IDs.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Copies and duplicate checks</a:t>
            </a:r>
          </a:p>
          <a:p xmlns:a="http://schemas.openxmlformats.org/drawingml/2006/main">
            <a:r>
              <a:t/>
            </a:r>
          </a:p>
          <a:p xmlns:a="http://schemas.openxmlformats.org/drawingml/2006/main">
            <a:r>
              <a:t>CONNECT</a:t>
            </a:r>
          </a:p>
          <a:p xmlns:a="http://schemas.openxmlformats.org/drawingml/2006/main">
            <a:r>
              <a:t>Build on the preceding slide: A working copy preserves the original.</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4 then True. The example has only scalar fields. A shallow copy does not independently copy nested lists.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Braces hold dictionary key: value pairs here.</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Copying records and recognising repeats.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Following a cleaning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Following a cleaning loop</a:t>
            </a:r>
          </a:p>
          <a:p xmlns:a="http://schemas.openxmlformats.org/drawingml/2006/main">
            <a:r>
              <a:t/>
            </a:r>
          </a:p>
          <a:p xmlns:a="http://schemas.openxmlformats.org/drawingml/2006/main">
            <a:r>
              <a:t>CONNECT</a:t>
            </a:r>
          </a:p>
          <a:p xmlns:a="http://schemas.openxmlformats.org/drawingml/2006/main">
            <a:r>
              <a:t>Build on Copies and duplicate checks. Explain why this example is needed before running it.</a:t>
            </a:r>
          </a:p>
          <a:p xmlns:a="http://schemas.openxmlformats.org/drawingml/2006/main">
            <a:r>
              <a:t/>
            </a:r>
          </a:p>
          <a:p xmlns:a="http://schemas.openxmlformats.org/drawingml/2006/main">
            <a:r>
              <a:t>EXPLAIN</a:t>
            </a:r>
          </a:p>
          <a:p xmlns:a="http://schemas.openxmlformats.org/drawingml/2006/main">
            <a:r>
              <a:t>An empty string "" and None are different values. Parse CSV fields according to the issued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Following a cleaning loop</a:t>
            </a:r>
          </a:p>
          <a:p xmlns:a="http://schemas.openxmlformats.org/drawingml/2006/main">
            <a:r>
              <a:t/>
            </a:r>
          </a:p>
          <a:p xmlns:a="http://schemas.openxmlformats.org/drawingml/2006/main">
            <a:r>
              <a:t>CONNECT</a:t>
            </a:r>
          </a:p>
          <a:p xmlns:a="http://schemas.openxmlformats.org/drawingml/2006/main">
            <a:r>
              <a:t>Build on the preceding slide: Copying records and recognising repeats.</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Copying records and recognising repeats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Copying records and recognising repeats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Copying records and recognising repeats in Python (1/2)</a:t>
            </a:r>
          </a:p>
          <a:p xmlns:a="http://schemas.openxmlformats.org/drawingml/2006/main">
            <a:r>
              <a:t/>
            </a:r>
          </a:p>
          <a:p xmlns:a="http://schemas.openxmlformats.org/drawingml/2006/main">
            <a:r>
              <a:t>CONNECT</a:t>
            </a:r>
          </a:p>
          <a:p xmlns:a="http://schemas.openxmlformats.org/drawingml/2006/main">
            <a:r>
              <a:t>Build on Following a cleaning loop.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Copying records and recognising repeats in Python (1/2)</a:t>
            </a:r>
          </a:p>
          <a:p xmlns:a="http://schemas.openxmlformats.org/drawingml/2006/main">
            <a:r>
              <a:t/>
            </a:r>
          </a:p>
          <a:p xmlns:a="http://schemas.openxmlformats.org/drawingml/2006/main">
            <a:r>
              <a:t>CONNECT</a:t>
            </a:r>
          </a:p>
          <a:p xmlns:a="http://schemas.openxmlformats.org/drawingml/2006/main">
            <a:r>
              <a:t>Build on the preceding slide: Following a cleaning loop.</a:t>
            </a:r>
          </a:p>
          <a:p xmlns:a="http://schemas.openxmlformats.org/drawingml/2006/main">
            <a:r>
              <a:t/>
            </a:r>
          </a:p>
          <a:p xmlns:a="http://schemas.openxmlformats.org/drawingml/2006/main">
            <a:r>
              <a:t>LECTURER CUE</a:t>
            </a:r>
          </a:p>
          <a:p xmlns:a="http://schemas.openxmlformats.org/drawingml/2006/main">
            <a:r>
              <a:t>set() creates a collection of already-seen identifiers. in checks membership. continue skips the rest of that iteration. dict(row) copies a record so later edits do not change the original. Different record IDs from the same equipment remain legitimate observations.</a:t>
            </a:r>
          </a:p>
          <a:p xmlns:a="http://schemas.openxmlformats.org/drawingml/2006/main">
            <a:r>
              <a:t/>
            </a:r>
          </a:p>
          <a:p xmlns:a="http://schemas.openxmlformats.org/drawingml/2006/main">
            <a:r>
              <a:t>Complete practice code:</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Square brackets create a list or select an item.</a:t>
            </a:r>
          </a:p>
          <a:p xmlns:a="http://schemas.openxmlformats.org/drawingml/2006/main">
            <a:r>
              <a:t>Braces hold dictionary key: value pairs here.</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Copying records and recognising repeats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Copying records and recognising repeats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Copying records and recognising repeats in Python (2/2)</a:t>
            </a:r>
          </a:p>
          <a:p xmlns:a="http://schemas.openxmlformats.org/drawingml/2006/main">
            <a:r>
              <a:t/>
            </a:r>
          </a:p>
          <a:p xmlns:a="http://schemas.openxmlformats.org/drawingml/2006/main">
            <a:r>
              <a:t>CONNECT</a:t>
            </a:r>
          </a:p>
          <a:p xmlns:a="http://schemas.openxmlformats.org/drawingml/2006/main">
            <a:r>
              <a:t>Build on Copying records and recognising repeats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Copying records and recognising repeats in Python (2/2)</a:t>
            </a:r>
          </a:p>
          <a:p xmlns:a="http://schemas.openxmlformats.org/drawingml/2006/main">
            <a:r>
              <a:t/>
            </a:r>
          </a:p>
          <a:p xmlns:a="http://schemas.openxmlformats.org/drawingml/2006/main">
            <a:r>
              <a:t>CONNECT</a:t>
            </a:r>
          </a:p>
          <a:p xmlns:a="http://schemas.openxmlformats.org/drawingml/2006/main">
            <a:r>
              <a:t>Build on the preceding slide: Copying records and recognising repeats in Python (1/2).</a:t>
            </a:r>
          </a:p>
          <a:p xmlns:a="http://schemas.openxmlformats.org/drawingml/2006/main">
            <a:r>
              <a:t/>
            </a:r>
          </a:p>
          <a:p xmlns:a="http://schemas.openxmlformats.org/drawingml/2006/main">
            <a:r>
              <a:t>LECTURER CUE</a:t>
            </a:r>
          </a:p>
          <a:p xmlns:a="http://schemas.openxmlformats.org/drawingml/2006/main">
            <a:r>
              <a:t>set() creates a collection of already-seen identifiers. in checks membership. continue skips the rest of that iteration. dict(row) copies a record so later edits do not change the original. Different record IDs from the same equipment remain legitimate observations.</a:t>
            </a:r>
          </a:p>
          <a:p xmlns:a="http://schemas.openxmlformats.org/drawingml/2006/main">
            <a:r>
              <a:t/>
            </a:r>
          </a:p>
          <a:p xmlns:a="http://schemas.openxmlformats.org/drawingml/2006/main">
            <a:r>
              <a:t>Complete practice code:</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Summaries returned as a dictionary.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returned as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returned as a dictionary</a:t>
            </a:r>
          </a:p>
          <a:p xmlns:a="http://schemas.openxmlformats.org/drawingml/2006/main">
            <a:r>
              <a:t/>
            </a:r>
          </a:p>
          <a:p xmlns:a="http://schemas.openxmlformats.org/drawingml/2006/main">
            <a:r>
              <a:t>CONNECT</a:t>
            </a:r>
          </a:p>
          <a:p xmlns:a="http://schemas.openxmlformats.org/drawingml/2006/main">
            <a:r>
              <a:t>Build on Copying records and recognising repeats in Python (2/2). Explain why this example is needed before running it.</a:t>
            </a:r>
          </a:p>
          <a:p xmlns:a="http://schemas.openxmlformats.org/drawingml/2006/main">
            <a:r>
              <a:t/>
            </a:r>
          </a:p>
          <a:p xmlns:a="http://schemas.openxmlformats.org/drawingml/2006/main">
            <a:r>
              <a:t>EXPLAIN</a:t>
            </a:r>
          </a:p>
          <a:p xmlns:a="http://schemas.openxmlformats.org/drawingml/2006/main">
            <a:r>
              <a:t>This example expects a nonempty list.</a:t>
            </a:r>
          </a:p>
          <a:p xmlns:a="http://schemas.openxmlformats.org/drawingml/2006/main">
            <a:r>
              <a:t/>
            </a:r>
          </a:p>
          <a:p xmlns:a="http://schemas.openxmlformats.org/drawingml/2006/main">
            <a:r>
              <a:t>It calculates a count and mean, then returns a dictionary with named outputs.</a:t>
            </a:r>
          </a:p>
          <a:p xmlns:a="http://schemas.openxmlformats.org/drawingml/2006/main">
            <a:r>
              <a:t/>
            </a:r>
          </a:p>
          <a:p xmlns:a="http://schemas.openxmlformats.org/drawingml/2006/main">
            <a:r>
              <a:t>Use the exact keys specified by the issued task when adapting this pattern.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returned as a dictionary</a:t>
            </a:r>
          </a:p>
          <a:p xmlns:a="http://schemas.openxmlformats.org/drawingml/2006/main">
            <a:r>
              <a:t/>
            </a:r>
          </a:p>
          <a:p xmlns:a="http://schemas.openxmlformats.org/drawingml/2006/main">
            <a:r>
              <a:t>CONNECT</a:t>
            </a:r>
          </a:p>
          <a:p xmlns:a="http://schemas.openxmlformats.org/drawingml/2006/main">
            <a:r>
              <a:t>Build on the preceding slide: Copying records and recognising repeats in Python (2/2).</a:t>
            </a:r>
          </a:p>
          <a:p xmlns:a="http://schemas.openxmlformats.org/drawingml/2006/main">
            <a:r>
              <a:t/>
            </a:r>
          </a:p>
          <a:p xmlns:a="http://schemas.openxmlformats.org/drawingml/2006/main">
            <a:r>
              <a:t>LECTURER CUE</a:t>
            </a:r>
          </a:p>
          <a:p xmlns:a="http://schemas.openxmlformats.org/drawingml/2006/main">
            <a:r>
              <a:t>This example expects a nonempty list. It calculates a count and mean, then returns a dictionary with named outputs. Use the exact keys specified by the issued task when adapting this pattern.</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NEXT</a:t>
            </a:r>
          </a:p>
          <a:p xmlns:a="http://schemas.openxmlformats.org/drawingml/2006/main">
            <a:r>
              <a:t>Summaries returned as a dictionary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returned as a dictionary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returned as a dictionary in Python</a:t>
            </a:r>
          </a:p>
          <a:p xmlns:a="http://schemas.openxmlformats.org/drawingml/2006/main">
            <a:r>
              <a:t/>
            </a:r>
          </a:p>
          <a:p xmlns:a="http://schemas.openxmlformats.org/drawingml/2006/main">
            <a:r>
              <a:t>CONNECT</a:t>
            </a:r>
          </a:p>
          <a:p xmlns:a="http://schemas.openxmlformats.org/drawingml/2006/main">
            <a:r>
              <a:t>Build on Summaries returned as a dictionary.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returned as a dictionary in Python</a:t>
            </a:r>
          </a:p>
          <a:p xmlns:a="http://schemas.openxmlformats.org/drawingml/2006/main">
            <a:r>
              <a:t/>
            </a:r>
          </a:p>
          <a:p xmlns:a="http://schemas.openxmlformats.org/drawingml/2006/main">
            <a:r>
              <a:t>CONNECT</a:t>
            </a:r>
          </a:p>
          <a:p xmlns:a="http://schemas.openxmlformats.org/drawingml/2006/main">
            <a:r>
              <a:t>Build on the preceding slide: Summaries returned as a dictionary.</a:t>
            </a:r>
          </a:p>
          <a:p xmlns:a="http://schemas.openxmlformats.org/drawingml/2006/main">
            <a:r>
              <a:t/>
            </a:r>
          </a:p>
          <a:p xmlns:a="http://schemas.openxmlformats.org/drawingml/2006/main">
            <a:r>
              <a:t>LECTURER CUE</a:t>
            </a:r>
          </a:p>
          <a:p xmlns:a="http://schemas.openxmlformats.org/drawingml/2006/main">
            <a:r>
              <a:t>This example expects a nonempty list. It calculates a count and mean, then returns a dictionary with named outputs. Use the exact keys specified by the issued task when adapting this pattern.</a:t>
            </a:r>
          </a:p>
          <a:p xmlns:a="http://schemas.openxmlformats.org/drawingml/2006/main">
            <a:r>
              <a:t/>
            </a:r>
          </a:p>
          <a:p xmlns:a="http://schemas.openxmlformats.org/drawingml/2006/main">
            <a:r>
              <a:t>Complete practice code:</a:t>
            </a:r>
          </a:p>
          <a:p xmlns:a="http://schemas.openxmlformats.org/drawingml/2006/main">
            <a:r>
              <a:t>def describe(values):</a:t>
            </a:r>
          </a:p>
          <a:p xmlns:a="http://schemas.openxmlformats.org/drawingml/2006/main">
            <a:r>
              <a:t>    count = len(values)</a:t>
            </a:r>
          </a:p>
          <a:p xmlns:a="http://schemas.openxmlformats.org/drawingml/2006/main">
            <a:r>
              <a:t>    mean = sum(values) / count</a:t>
            </a:r>
          </a:p>
          <a:p xmlns:a="http://schemas.openxmlformats.org/drawingml/2006/main">
            <a:r>
              <a:t>    return {"count": count, "mean": mean}</a:t>
            </a:r>
          </a:p>
          <a:p xmlns:a="http://schemas.openxmlformats.org/drawingml/2006/main">
            <a:r>
              <a:t/>
            </a:r>
          </a:p>
          <a:p xmlns:a="http://schemas.openxmlformats.org/drawingml/2006/main">
            <a:r>
              <a:t>print(describe([10, 12]))</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return sends the result back to the caller.</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Reading a blank field.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 blank field.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blank field</a:t>
            </a:r>
          </a:p>
          <a:p xmlns:a="http://schemas.openxmlformats.org/drawingml/2006/main">
            <a:r>
              <a:t/>
            </a:r>
          </a:p>
          <a:p xmlns:a="http://schemas.openxmlformats.org/drawingml/2006/main">
            <a:r>
              <a:t>CONNECT</a:t>
            </a:r>
          </a:p>
          <a:p xmlns:a="http://schemas.openxmlformats.org/drawingml/2006/main">
            <a:r>
              <a:t>Build on Summaries returned as a dictionary in Python. Explain why this example is needed before running it.</a:t>
            </a:r>
          </a:p>
          <a:p xmlns:a="http://schemas.openxmlformats.org/drawingml/2006/main">
            <a:r>
              <a:t/>
            </a:r>
          </a:p>
          <a:p xmlns:a="http://schemas.openxmlformats.org/drawingml/2006/main">
            <a:r>
              <a:t>EXPLAIN</a:t>
            </a:r>
          </a:p>
          <a:p xmlns:a="http://schemas.openxmlformats.org/drawingml/2006/main">
            <a:r>
              <a:t>CSV values start as text.</a:t>
            </a:r>
          </a:p>
          <a:p xmlns:a="http://schemas.openxmlformats.org/drawingml/2006/main">
            <a:r>
              <a:t/>
            </a:r>
          </a:p>
          <a:p xmlns:a="http://schemas.openxmlformats.org/drawingml/2006/main">
            <a:r>
              <a:t>The if/else below stores None for a blank.</a:t>
            </a:r>
          </a:p>
          <a:p xmlns:a="http://schemas.openxmlformats.org/drawingml/2006/main">
            <a:r>
              <a:t/>
            </a:r>
          </a:p>
          <a:p xmlns:a="http://schemas.openxmlformats.org/drawingml/2006/main">
            <a:r>
              <a:t>Otherwise float converts the text into a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a blank field</a:t>
            </a:r>
          </a:p>
          <a:p xmlns:a="http://schemas.openxmlformats.org/drawingml/2006/main">
            <a:r>
              <a:t/>
            </a:r>
          </a:p>
          <a:p xmlns:a="http://schemas.openxmlformats.org/drawingml/2006/main">
            <a:r>
              <a:t>CONNECT</a:t>
            </a:r>
          </a:p>
          <a:p xmlns:a="http://schemas.openxmlformats.org/drawingml/2006/main">
            <a:r>
              <a:t>Build on the preceding slide: Summaries returned as a dictionary in Python.</a:t>
            </a:r>
          </a:p>
          <a:p xmlns:a="http://schemas.openxmlformats.org/drawingml/2006/main">
            <a:r>
              <a:t/>
            </a:r>
          </a:p>
          <a:p xmlns:a="http://schemas.openxmlformats.org/drawingml/2006/main">
            <a:r>
              <a:t>LECTURER CUE</a:t>
            </a:r>
          </a:p>
          <a:p xmlns:a="http://schemas.openxmlformats.org/drawingml/2006/main">
            <a:r>
              <a:t>CSV values start as text. The if/else below stores None for a blank. Otherwise float converts the text into a number.</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Reading a blank field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 blank field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blank field in Python</a:t>
            </a:r>
          </a:p>
          <a:p xmlns:a="http://schemas.openxmlformats.org/drawingml/2006/main">
            <a:r>
              <a:t/>
            </a:r>
          </a:p>
          <a:p xmlns:a="http://schemas.openxmlformats.org/drawingml/2006/main">
            <a:r>
              <a:t>CONNECT</a:t>
            </a:r>
          </a:p>
          <a:p xmlns:a="http://schemas.openxmlformats.org/drawingml/2006/main">
            <a:r>
              <a:t>Build on Reading a blank field.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a blank field in Python</a:t>
            </a:r>
          </a:p>
          <a:p xmlns:a="http://schemas.openxmlformats.org/drawingml/2006/main">
            <a:r>
              <a:t/>
            </a:r>
          </a:p>
          <a:p xmlns:a="http://schemas.openxmlformats.org/drawingml/2006/main">
            <a:r>
              <a:t>CONNECT</a:t>
            </a:r>
          </a:p>
          <a:p xmlns:a="http://schemas.openxmlformats.org/drawingml/2006/main">
            <a:r>
              <a:t>Build on the preceding slide: Reading a blank field.</a:t>
            </a:r>
          </a:p>
          <a:p xmlns:a="http://schemas.openxmlformats.org/drawingml/2006/main">
            <a:r>
              <a:t/>
            </a:r>
          </a:p>
          <a:p xmlns:a="http://schemas.openxmlformats.org/drawingml/2006/main">
            <a:r>
              <a:t>LECTURER CUE</a:t>
            </a:r>
          </a:p>
          <a:p xmlns:a="http://schemas.openxmlformats.org/drawingml/2006/main">
            <a:r>
              <a:t>CSV values start as text. The if/else below stores None for a blank. Otherwise float converts the text into a number.</a:t>
            </a:r>
          </a:p>
          <a:p xmlns:a="http://schemas.openxmlformats.org/drawingml/2006/main">
            <a:r>
              <a:t/>
            </a:r>
          </a:p>
          <a:p xmlns:a="http://schemas.openxmlformats.org/drawingml/2006/main">
            <a:r>
              <a:t>Complete practice code:</a:t>
            </a:r>
          </a:p>
          <a:p xmlns:a="http://schemas.openxmlformats.org/drawingml/2006/main">
            <a:r>
              <a:t>text_values = ["20", "", "24"]</a:t>
            </a:r>
          </a:p>
          <a:p xmlns:a="http://schemas.openxmlformats.org/drawingml/2006/main">
            <a:r>
              <a:t>parsed = []</a:t>
            </a:r>
          </a:p>
          <a:p xmlns:a="http://schemas.openxmlformats.org/drawingml/2006/main">
            <a:r>
              <a:t>for text in text_values:</a:t>
            </a:r>
          </a:p>
          <a:p xmlns:a="http://schemas.openxmlformats.org/drawingml/2006/main">
            <a:r>
              <a:t>    if text == "":</a:t>
            </a:r>
          </a:p>
          <a:p xmlns:a="http://schemas.openxmlformats.org/drawingml/2006/main">
            <a:r>
              <a:t>        parsed.append(None)</a:t>
            </a:r>
          </a:p>
          <a:p xmlns:a="http://schemas.openxmlformats.org/drawingml/2006/main">
            <a:r>
              <a:t>    else:</a:t>
            </a:r>
          </a:p>
          <a:p xmlns:a="http://schemas.openxmlformats.org/drawingml/2006/main">
            <a:r>
              <a:t>        parsed.append(float(text))</a:t>
            </a:r>
          </a:p>
          <a:p xmlns:a="http://schemas.openxmlformats.org/drawingml/2006/main">
            <a:r>
              <a:t>print(parsed)</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float converts numeric text into a decimal number.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Audit.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Audit</a:t>
            </a:r>
          </a:p>
          <a:p xmlns:a="http://schemas.openxmlformats.org/drawingml/2006/main">
            <a:r>
              <a:t/>
            </a:r>
          </a:p>
          <a:p xmlns:a="http://schemas.openxmlformats.org/drawingml/2006/main">
            <a:r>
              <a:t>CONNECT</a:t>
            </a:r>
          </a:p>
          <a:p xmlns:a="http://schemas.openxmlformats.org/drawingml/2006/main">
            <a:r>
              <a:t>Build on Reading a blank field in Python. Explain why this example is needed before running it.</a:t>
            </a:r>
          </a:p>
          <a:p xmlns:a="http://schemas.openxmlformats.org/drawingml/2006/main">
            <a:r>
              <a:t/>
            </a:r>
          </a:p>
          <a:p xmlns:a="http://schemas.openxmlformats.org/drawingml/2006/main">
            <a:r>
              <a:t>EXPLAIN</a:t>
            </a:r>
          </a:p>
          <a:p xmlns:a="http://schemas.openxmlformats.org/drawingml/2006/main">
            <a:r>
              <a:t>Audit: A count and explanation of what changed, why it changed and how many records remain.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Audit</a:t>
            </a:r>
          </a:p>
          <a:p xmlns:a="http://schemas.openxmlformats.org/drawingml/2006/main">
            <a:r>
              <a:t/>
            </a:r>
          </a:p>
          <a:p xmlns:a="http://schemas.openxmlformats.org/drawingml/2006/main">
            <a:r>
              <a:t>CONNECT</a:t>
            </a:r>
          </a:p>
          <a:p xmlns:a="http://schemas.openxmlformats.org/drawingml/2006/main">
            <a:r>
              <a:t>Build on the preceding slide: Reading a blank field in Python.</a:t>
            </a:r>
          </a:p>
          <a:p xmlns:a="http://schemas.openxmlformats.org/drawingml/2006/main">
            <a:r>
              <a:t/>
            </a:r>
          </a:p>
          <a:p xmlns:a="http://schemas.openxmlformats.org/drawingml/2006/main">
            <a:r>
              <a:t>POINT TO THE DEFINITION</a:t>
            </a:r>
          </a:p>
          <a:p xmlns:a="http://schemas.openxmlformats.org/drawingml/2006/main">
            <a:r>
              <a:t>Audit: A count and explanation of what changed, why it changed and how many records remain.</a:t>
            </a:r>
          </a:p>
          <a:p xmlns:a="http://schemas.openxmlformats.org/drawingml/2006/main">
            <a:r>
              <a:t/>
            </a:r>
          </a:p>
          <a:p xmlns:a="http://schemas.openxmlformats.org/drawingml/2006/main">
            <a:r>
              <a:t>NEXT</a:t>
            </a:r>
          </a:p>
          <a:p xmlns:a="http://schemas.openxmlformats.org/drawingml/2006/main">
            <a:r>
              <a:t>Every cleaning change needs a record.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Every cleaning change needs a record.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Every cleaning change needs a record</a:t>
            </a:r>
          </a:p>
          <a:p xmlns:a="http://schemas.openxmlformats.org/drawingml/2006/main">
            <a:r>
              <a:t/>
            </a:r>
          </a:p>
          <a:p xmlns:a="http://schemas.openxmlformats.org/drawingml/2006/main">
            <a:r>
              <a:t>CONNECT</a:t>
            </a:r>
          </a:p>
          <a:p xmlns:a="http://schemas.openxmlformats.org/drawingml/2006/main">
            <a:r>
              <a:t>Build on Audit. Explain why this example is needed before running it.</a:t>
            </a:r>
          </a:p>
          <a:p xmlns:a="http://schemas.openxmlformats.org/drawingml/2006/main">
            <a:r>
              <a:t/>
            </a:r>
          </a:p>
          <a:p xmlns:a="http://schemas.openxmlformats.org/drawingml/2006/main">
            <a:r>
              <a:t>EXPLAIN</a:t>
            </a:r>
          </a:p>
          <a:p xmlns:a="http://schemas.openxmlformats.org/drawingml/2006/main">
            <a:r>
              <a:t>A duplicate record ID suggests a repeated observation.</a:t>
            </a:r>
          </a:p>
          <a:p xmlns:a="http://schemas.openxmlformats.org/drawingml/2006/main">
            <a:r>
              <a:t/>
            </a:r>
          </a:p>
          <a:p xmlns:a="http://schemas.openxmlformats.org/drawingml/2006/main">
            <a:r>
              <a:t>Two different observations from the same equipment can both be valid.</a:t>
            </a:r>
          </a:p>
          <a:p xmlns:a="http://schemas.openxmlformats.org/drawingml/2006/main">
            <a:r>
              <a:t/>
            </a:r>
          </a:p>
          <a:p xmlns:a="http://schemas.openxmlformats.org/drawingml/2006/main">
            <a:r>
              <a:t>Record the evidence, action, number of affected rows and limitation.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Every cleaning change needs a record</a:t>
            </a:r>
          </a:p>
          <a:p xmlns:a="http://schemas.openxmlformats.org/drawingml/2006/main">
            <a:r>
              <a:t/>
            </a:r>
          </a:p>
          <a:p xmlns:a="http://schemas.openxmlformats.org/drawingml/2006/main">
            <a:r>
              <a:t>CONNECT</a:t>
            </a:r>
          </a:p>
          <a:p xmlns:a="http://schemas.openxmlformats.org/drawingml/2006/main">
            <a:r>
              <a:t>Build on the preceding slide: Audit.</a:t>
            </a:r>
          </a:p>
          <a:p xmlns:a="http://schemas.openxmlformats.org/drawingml/2006/main">
            <a:r>
              <a:t/>
            </a:r>
          </a:p>
          <a:p xmlns:a="http://schemas.openxmlformats.org/drawingml/2006/main">
            <a:r>
              <a:t>LECTURER CUE</a:t>
            </a:r>
          </a:p>
          <a:p xmlns:a="http://schemas.openxmlformats.org/drawingml/2006/main">
            <a:r>
              <a:t>Model a defect register: observation, evidence, decision, affected count, limitation. Work one repeated record and one missing value together.</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You are the cleaning audit.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Chart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Chart axes</a:t>
            </a:r>
          </a:p>
          <a:p xmlns:a="http://schemas.openxmlformats.org/drawingml/2006/main">
            <a:r>
              <a:t/>
            </a:r>
          </a:p>
          <a:p xmlns:a="http://schemas.openxmlformats.org/drawingml/2006/main">
            <a:r>
              <a:t>CONNECT</a:t>
            </a:r>
          </a:p>
          <a:p xmlns:a="http://schemas.openxmlformats.org/drawingml/2006/main">
            <a:r>
              <a:t>Build on Every cleaning change needs a record. Explain why this example is needed before running it.</a:t>
            </a:r>
          </a:p>
          <a:p xmlns:a="http://schemas.openxmlformats.org/drawingml/2006/main">
            <a:r>
              <a:t/>
            </a:r>
          </a:p>
          <a:p xmlns:a="http://schemas.openxmlformats.org/drawingml/2006/main">
            <a:r>
              <a:t>EXPLAIN</a:t>
            </a:r>
          </a:p>
          <a:p xmlns:a="http://schemas.openxmlformats.org/drawingml/2006/main">
            <a:r>
              <a:t>Chart axes: A chart maps values to positions. Read the horizontal variable, vertical variable and their units before interpreting a pattern.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Chart axes</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POINT TO THE DEFINITION</a:t>
            </a:r>
          </a:p>
          <a:p xmlns:a="http://schemas.openxmlformats.org/drawingml/2006/main">
            <a:r>
              <a:t>Chart axes: A chart maps values to positions. Read the horizontal variable, vertical variable and their units before interpreting a pattern.</a:t>
            </a:r>
          </a:p>
          <a:p xmlns:a="http://schemas.openxmlformats.org/drawingml/2006/main">
            <a:r>
              <a:t/>
            </a:r>
          </a:p>
          <a:p xmlns:a="http://schemas.openxmlformats.org/drawingml/2006/main">
            <a:r>
              <a:t>NEXT</a:t>
            </a:r>
          </a:p>
          <a:p xmlns:a="http://schemas.openxmlformats.org/drawingml/2006/main">
            <a:r>
              <a:t>A scatter plot pairs two measurements.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scatter plot pairs two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scatter plot pairs two measurements</a:t>
            </a:r>
          </a:p>
          <a:p xmlns:a="http://schemas.openxmlformats.org/drawingml/2006/main">
            <a:r>
              <a:t/>
            </a:r>
          </a:p>
          <a:p xmlns:a="http://schemas.openxmlformats.org/drawingml/2006/main">
            <a:r>
              <a:t>CONNECT</a:t>
            </a:r>
          </a:p>
          <a:p xmlns:a="http://schemas.openxmlformats.org/drawingml/2006/main">
            <a:r>
              <a:t>Build on Chart axes. Explain why this example is needed before running it.</a:t>
            </a:r>
          </a:p>
          <a:p xmlns:a="http://schemas.openxmlformats.org/drawingml/2006/main">
            <a:r>
              <a:t/>
            </a:r>
          </a:p>
          <a:p xmlns:a="http://schemas.openxmlformats.org/drawingml/2006/main">
            <a:r>
              <a:t>EXPLAIN</a:t>
            </a:r>
          </a:p>
          <a:p xmlns:a="http://schemas.openxmlformats.org/drawingml/2006/main">
            <a:r>
              <a:t>The horizontal axis gives the input value.</a:t>
            </a:r>
          </a:p>
          <a:p xmlns:a="http://schemas.openxmlformats.org/drawingml/2006/main">
            <a:r>
              <a:t/>
            </a:r>
          </a:p>
          <a:p xmlns:a="http://schemas.openxmlformats.org/drawingml/2006/main">
            <a:r>
              <a:t>The vertical axis gives the corresponding reading.</a:t>
            </a:r>
          </a:p>
          <a:p xmlns:a="http://schemas.openxmlformats.org/drawingml/2006/main">
            <a:r>
              <a:t/>
            </a:r>
          </a:p>
          <a:p xmlns:a="http://schemas.openxmlformats.org/drawingml/2006/main">
            <a:r>
              <a:t>One point represents one observation. A pattern alone does not prove causation.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scatter plot pairs two measurements</a:t>
            </a:r>
          </a:p>
          <a:p xmlns:a="http://schemas.openxmlformats.org/drawingml/2006/main">
            <a:r>
              <a:t/>
            </a:r>
          </a:p>
          <a:p xmlns:a="http://schemas.openxmlformats.org/drawingml/2006/main">
            <a:r>
              <a:t>CONNECT</a:t>
            </a:r>
          </a:p>
          <a:p xmlns:a="http://schemas.openxmlformats.org/drawingml/2006/main">
            <a:r>
              <a:t>Build on the preceding slide: Chart axes.</a:t>
            </a:r>
          </a:p>
          <a:p xmlns:a="http://schemas.openxmlformats.org/drawingml/2006/main">
            <a:r>
              <a:t/>
            </a:r>
          </a:p>
          <a:p xmlns:a="http://schemas.openxmlformats.org/drawingml/2006/main">
            <a:r>
              <a:t>LECTURER CUE</a:t>
            </a:r>
          </a:p>
          <a:p xmlns:a="http://schemas.openxmlformats.org/drawingml/2006/main">
            <a:r>
              <a:t>Draw a scatter plot from four pairs on the board. A pattern can motivate investigation without proving that one variable causes the other.</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NEXT</a:t>
            </a:r>
          </a:p>
          <a:p xmlns:a="http://schemas.openxmlformats.org/drawingml/2006/main">
            <a:r>
              <a:t>Choose a chart after naming the question.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Choose a chart after naming the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Choose a chart after naming the question</a:t>
            </a:r>
          </a:p>
          <a:p xmlns:a="http://schemas.openxmlformats.org/drawingml/2006/main">
            <a:r>
              <a:t/>
            </a:r>
          </a:p>
          <a:p xmlns:a="http://schemas.openxmlformats.org/drawingml/2006/main">
            <a:r>
              <a:t>CONNECT</a:t>
            </a:r>
          </a:p>
          <a:p xmlns:a="http://schemas.openxmlformats.org/drawingml/2006/main">
            <a:r>
              <a:t>Build on A scatter plot pairs two measurements. Explain why this example is needed before running it.</a:t>
            </a:r>
          </a:p>
          <a:p xmlns:a="http://schemas.openxmlformats.org/drawingml/2006/main">
            <a:r>
              <a:t/>
            </a:r>
          </a:p>
          <a:p xmlns:a="http://schemas.openxmlformats.org/drawingml/2006/main">
            <a:r>
              <a:t>EXPLAIN</a:t>
            </a:r>
          </a:p>
          <a:p xmlns:a="http://schemas.openxmlformats.org/drawingml/2006/main">
            <a:r>
              <a:t>Scatter and bar: A scatter plot places one point for each paired measurement. A bar chart compares values across named groups. Label both axes and their units.</a:t>
            </a:r>
          </a:p>
          <a:p xmlns:a="http://schemas.openxmlformats.org/drawingml/2006/main">
            <a:r>
              <a:t>Histogram and bins: A histogram counts observations in numerical intervals called bins. The horizontal axis is the measurement; the vertical axis is a count. Bin edges affect its appearance.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Choose a chart after naming the question</a:t>
            </a:r>
          </a:p>
          <a:p xmlns:a="http://schemas.openxmlformats.org/drawingml/2006/main">
            <a:r>
              <a:t/>
            </a:r>
          </a:p>
          <a:p xmlns:a="http://schemas.openxmlformats.org/drawingml/2006/main">
            <a:r>
              <a:t>CONNECT</a:t>
            </a:r>
          </a:p>
          <a:p xmlns:a="http://schemas.openxmlformats.org/drawingml/2006/main">
            <a:r>
              <a:t>Build on the preceding slide: A scatter plot pairs two measurements.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POINT TO THE DEFINITION</a:t>
            </a:r>
          </a:p>
          <a:p xmlns:a="http://schemas.openxmlformats.org/drawingml/2006/main">
            <a:r>
              <a:t>Scatter and bar: A scatter plot places one point for each paired measurement. A bar chart compares values across named groups. Label both axes and their units.</a:t>
            </a:r>
          </a:p>
          <a:p xmlns:a="http://schemas.openxmlformats.org/drawingml/2006/main">
            <a:r>
              <a:t>Histogram and bins: A histogram counts observations in numerical intervals called bins. The horizontal axis is the measurement; the vertical axis is a count. Bin edges affect its appearance.</a:t>
            </a:r>
          </a:p>
          <a:p xmlns:a="http://schemas.openxmlformats.org/drawingml/2006/main">
            <a:r>
              <a:t/>
            </a:r>
          </a:p>
          <a:p xmlns:a="http://schemas.openxmlformats.org/drawingml/2006/main">
            <a:r>
              <a:t>NEXT</a:t>
            </a:r>
          </a:p>
          <a:p xmlns:a="http://schemas.openxmlformats.org/drawingml/2006/main">
            <a:r>
              <a:t>Choosing a chart for the question.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Choosing a chart for the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a chart for the question</a:t>
            </a:r>
          </a:p>
          <a:p xmlns:a="http://schemas.openxmlformats.org/drawingml/2006/main">
            <a:r>
              <a:t/>
            </a:r>
          </a:p>
          <a:p xmlns:a="http://schemas.openxmlformats.org/drawingml/2006/main">
            <a:r>
              <a:t>CONNECT</a:t>
            </a:r>
          </a:p>
          <a:p xmlns:a="http://schemas.openxmlformats.org/drawingml/2006/main">
            <a:r>
              <a:t>Build on Choose a chart after naming the question. Explain why this example is needed before running it.</a:t>
            </a:r>
          </a:p>
          <a:p xmlns:a="http://schemas.openxmlformats.org/drawingml/2006/main">
            <a:r>
              <a:t/>
            </a:r>
          </a:p>
          <a:p xmlns:a="http://schemas.openxmlformats.org/drawingml/2006/main">
            <a:r>
              <a:t>EXPLAIN</a:t>
            </a:r>
          </a:p>
          <a:p xmlns:a="http://schemas.openxmlformats.org/drawingml/2006/main">
            <a:r>
              <a:t>This week uses histograms, scatter plots and bar charts. The other chart types are reference examples.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Choosing a chart for the question</a:t>
            </a:r>
          </a:p>
          <a:p xmlns:a="http://schemas.openxmlformats.org/drawingml/2006/main">
            <a:r>
              <a:t/>
            </a:r>
          </a:p>
          <a:p xmlns:a="http://schemas.openxmlformats.org/drawingml/2006/main">
            <a:r>
              <a:t>CONNECT</a:t>
            </a:r>
          </a:p>
          <a:p xmlns:a="http://schemas.openxmlformats.org/drawingml/2006/main">
            <a:r>
              <a:t>Build on the preceding slide: Choose a chart after naming the question.</a:t>
            </a:r>
          </a:p>
          <a:p xmlns:a="http://schemas.openxmlformats.org/drawingml/2006/main">
            <a:r>
              <a:t/>
            </a:r>
          </a:p>
          <a:p xmlns:a="http://schemas.openxmlformats.org/drawingml/2006/main">
            <a:r>
              <a:t>LECTURER CUE</a:t>
            </a:r>
          </a:p>
          <a:p xmlns:a="http://schemas.openxmlformats.org/drawingml/2006/main">
            <a:r>
              <a:t>Name the question answered by each chart. Correlation does not establish causation. A bar chart usually needs a zero baseline.</a:t>
            </a:r>
          </a:p>
          <a:p xmlns:a="http://schemas.openxmlformats.org/drawingml/2006/main">
            <a:r>
              <a:t>Source: existing course illustration figs/chart_chooser.png.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NEXT</a:t>
            </a:r>
          </a:p>
          <a:p xmlns:a="http://schemas.openxmlformats.org/drawingml/2006/main">
            <a:r>
              <a:t>A chart with labelled axes.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chart with labelled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chart with labelled axes</a:t>
            </a:r>
          </a:p>
          <a:p xmlns:a="http://schemas.openxmlformats.org/drawingml/2006/main">
            <a:r>
              <a:t/>
            </a:r>
          </a:p>
          <a:p xmlns:a="http://schemas.openxmlformats.org/drawingml/2006/main">
            <a:r>
              <a:t>CONNECT</a:t>
            </a:r>
          </a:p>
          <a:p xmlns:a="http://schemas.openxmlformats.org/drawingml/2006/main">
            <a:r>
              <a:t>Build on Choosing a chart for the question. Explain why this example is needed before running it.</a:t>
            </a:r>
          </a:p>
          <a:p xmlns:a="http://schemas.openxmlformats.org/drawingml/2006/main">
            <a:r>
              <a:t/>
            </a:r>
          </a:p>
          <a:p xmlns:a="http://schemas.openxmlformats.org/drawingml/2006/main">
            <a:r>
              <a:t>EXPLAIN</a:t>
            </a:r>
          </a:p>
          <a:p xmlns:a="http://schemas.openxmlformats.org/drawingml/2006/main">
            <a:r>
              <a:t>matplotlib is a plotting library. plt is the short name we give its pyplot module.</a:t>
            </a:r>
          </a:p>
          <a:p xmlns:a="http://schemas.openxmlformats.org/drawingml/2006/main">
            <a:r>
              <a:t/>
            </a:r>
          </a:p>
          <a:p xmlns:a="http://schemas.openxmlformats.org/drawingml/2006/main">
            <a:r>
              <a:t>fig, ax = plt.subplots() returns two objects: fig is the whole figure; ax is its plotting area. scatter places the paired measurements as points.</a:t>
            </a:r>
          </a:p>
          <a:p xmlns:a="http://schemas.openxmlformats.org/drawingml/2006/main">
            <a:r>
              <a:t/>
            </a:r>
          </a:p>
          <a:p xmlns:a="http://schemas.openxmlformats.org/drawingml/2006/main">
            <a:r>
              <a:t>ax.set_xlabel(...) labels the horizontal axis. set_ylabel labels the vertical axis. Keep fig when the task asks you to return a Figure object.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chart with labelled axes</a:t>
            </a:r>
          </a:p>
          <a:p xmlns:a="http://schemas.openxmlformats.org/drawingml/2006/main">
            <a:r>
              <a:t/>
            </a:r>
          </a:p>
          <a:p xmlns:a="http://schemas.openxmlformats.org/drawingml/2006/main">
            <a:r>
              <a:t>CONNECT</a:t>
            </a:r>
          </a:p>
          <a:p xmlns:a="http://schemas.openxmlformats.org/drawingml/2006/main">
            <a:r>
              <a:t>Build on the preceding slide: Choosing a chart for the question.</a:t>
            </a:r>
          </a:p>
          <a:p xmlns:a="http://schemas.openxmlformats.org/drawingml/2006/main">
            <a:r>
              <a:t/>
            </a:r>
          </a:p>
          <a:p xmlns:a="http://schemas.openxmlformats.org/drawingml/2006/main">
            <a:r>
              <a:t>LECTURER CUE</a:t>
            </a:r>
          </a:p>
          <a:p xmlns:a="http://schemas.openxmlformats.org/drawingml/2006/main">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NEXT</a:t>
            </a:r>
          </a:p>
          <a:p xmlns:a="http://schemas.openxmlformats.org/drawingml/2006/main">
            <a:r>
              <a:t>A chart with labelled axes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chart with labelled axes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chart with labelled axes in Python</a:t>
            </a:r>
          </a:p>
          <a:p xmlns:a="http://schemas.openxmlformats.org/drawingml/2006/main">
            <a:r>
              <a:t/>
            </a:r>
          </a:p>
          <a:p xmlns:a="http://schemas.openxmlformats.org/drawingml/2006/main">
            <a:r>
              <a:t>CONNECT</a:t>
            </a:r>
          </a:p>
          <a:p xmlns:a="http://schemas.openxmlformats.org/drawingml/2006/main">
            <a:r>
              <a:t>Build on A chart with labelled axes.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chart with labelled axes in Python</a:t>
            </a:r>
          </a:p>
          <a:p xmlns:a="http://schemas.openxmlformats.org/drawingml/2006/main">
            <a:r>
              <a:t/>
            </a:r>
          </a:p>
          <a:p xmlns:a="http://schemas.openxmlformats.org/drawingml/2006/main">
            <a:r>
              <a:t>CONNECT</a:t>
            </a:r>
          </a:p>
          <a:p xmlns:a="http://schemas.openxmlformats.org/drawingml/2006/main">
            <a:r>
              <a:t>Build on the preceding slide: A chart with labelled axes.</a:t>
            </a:r>
          </a:p>
          <a:p xmlns:a="http://schemas.openxmlformats.org/drawingml/2006/main">
            <a:r>
              <a:t/>
            </a:r>
          </a:p>
          <a:p xmlns:a="http://schemas.openxmlformats.org/drawingml/2006/main">
            <a:r>
              <a:t>LECTURER CUE</a:t>
            </a:r>
          </a:p>
          <a:p xmlns:a="http://schemas.openxmlformats.org/drawingml/2006/main">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xmlns:a="http://schemas.openxmlformats.org/drawingml/2006/main">
            <a:r>
              <a:t/>
            </a:r>
          </a:p>
          <a:p xmlns:a="http://schemas.openxmlformats.org/drawingml/2006/main">
            <a:r>
              <a:t>Complete practice code:</a:t>
            </a:r>
          </a:p>
          <a:p xmlns:a="http://schemas.openxmlformats.org/drawingml/2006/main">
            <a:r>
              <a:t>import matplotlib.pyplot as plt</a:t>
            </a:r>
          </a:p>
          <a:p xmlns:a="http://schemas.openxmlformats.org/drawingml/2006/main">
            <a:r>
              <a:t>inputs = [1, 2, 3, 4]</a:t>
            </a:r>
          </a:p>
          <a:p xmlns:a="http://schemas.openxmlformats.org/drawingml/2006/main">
            <a:r>
              <a:t>readings = [12, 14, 13, 18]</a:t>
            </a:r>
          </a:p>
          <a:p xmlns:a="http://schemas.openxmlformats.org/drawingml/2006/main">
            <a:r>
              <a:t>fig, ax = plt.subplots()</a:t>
            </a:r>
          </a:p>
          <a:p xmlns:a="http://schemas.openxmlformats.org/drawingml/2006/main">
            <a:r>
              <a:t>ax.scatter(inputs, readings)</a:t>
            </a:r>
          </a:p>
          <a:p xmlns:a="http://schemas.openxmlformats.org/drawingml/2006/main">
            <a:r>
              <a:t>ax.set_xlabel("Input (teaching units)")</a:t>
            </a:r>
          </a:p>
          <a:p xmlns:a="http://schemas.openxmlformats.org/drawingml/2006/main">
            <a:r>
              <a:t>ax.set_ylabel("Reading (teaching units)")</a:t>
            </a:r>
          </a:p>
          <a:p xmlns:a="http://schemas.openxmlformats.org/drawingml/2006/main">
            <a:r>
              <a:t>ax.set_title("Four invented observations")</a:t>
            </a:r>
          </a:p>
          <a:p xmlns:a="http://schemas.openxmlformats.org/drawingml/2006/main">
            <a:r>
              <a:t>plt.show()</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Comparing groups and a distribution.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Comparing groups and a distribution.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a:t>
            </a:r>
          </a:p>
          <a:p xmlns:a="http://schemas.openxmlformats.org/drawingml/2006/main">
            <a:r>
              <a:t/>
            </a:r>
          </a:p>
          <a:p xmlns:a="http://schemas.openxmlformats.org/drawingml/2006/main">
            <a:r>
              <a:t>CONNECT</a:t>
            </a:r>
          </a:p>
          <a:p xmlns:a="http://schemas.openxmlformats.org/drawingml/2006/main">
            <a:r>
              <a:t>Build on A chart with labelled axes in Python. Explain why this example is needed before running it.</a:t>
            </a:r>
          </a:p>
          <a:p xmlns:a="http://schemas.openxmlformats.org/drawingml/2006/main">
            <a:r>
              <a:t/>
            </a:r>
          </a:p>
          <a:p xmlns:a="http://schemas.openxmlformats.org/drawingml/2006/main">
            <a:r>
              <a:t>EXPLAIN</a:t>
            </a:r>
          </a:p>
          <a:p xmlns:a="http://schemas.openxmlformats.org/drawingml/2006/main">
            <a:r>
              <a:t>bar compares one value for each named group. hist counts observations in value intervals called bins.</a:t>
            </a:r>
          </a:p>
          <a:p xmlns:a="http://schemas.openxmlformats.org/drawingml/2006/main">
            <a:r>
              <a:t/>
            </a:r>
          </a:p>
          <a:p xmlns:a="http://schemas.openxmlformats.org/drawingml/2006/main">
            <a:r>
              <a:t>Read the bar labels and both axes.</a:t>
            </a:r>
          </a:p>
          <a:p xmlns:a="http://schemas.openxmlformats.org/drawingml/2006/main">
            <a:r>
              <a:t/>
            </a:r>
          </a:p>
          <a:p xmlns:a="http://schemas.openxmlformats.org/drawingml/2006/main">
            <a:r>
              <a:t>This practice uses two bins; follow the exact bin rule in the test brief.</a:t>
            </a:r>
          </a:p>
          <a:p xmlns:a="http://schemas.openxmlformats.org/drawingml/2006/main">
            <a:r>
              <a:t/>
            </a:r>
          </a:p>
          <a:p xmlns:a="http://schemas.openxmlformats.org/drawingml/2006/main">
            <a:r>
              <a:t>Save and keep the Figure objects when a task asks for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Comparing groups and a distribution</a:t>
            </a:r>
          </a:p>
          <a:p xmlns:a="http://schemas.openxmlformats.org/drawingml/2006/main">
            <a:r>
              <a:t/>
            </a:r>
          </a:p>
          <a:p xmlns:a="http://schemas.openxmlformats.org/drawingml/2006/main">
            <a:r>
              <a:t>CONNECT</a:t>
            </a:r>
          </a:p>
          <a:p xmlns:a="http://schemas.openxmlformats.org/drawingml/2006/main">
            <a:r>
              <a:t>Build on the preceding slide: A chart with labelled axes in Python.</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NEXT</a:t>
            </a:r>
          </a:p>
          <a:p xmlns:a="http://schemas.openxmlformats.org/drawingml/2006/main">
            <a:r>
              <a:t>Comparing groups and a distribution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Comparing groups and a distribution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 in Python (1/2)</a:t>
            </a:r>
          </a:p>
          <a:p xmlns:a="http://schemas.openxmlformats.org/drawingml/2006/main">
            <a:r>
              <a:t/>
            </a:r>
          </a:p>
          <a:p xmlns:a="http://schemas.openxmlformats.org/drawingml/2006/main">
            <a:r>
              <a:t>CONNECT</a:t>
            </a:r>
          </a:p>
          <a:p xmlns:a="http://schemas.openxmlformats.org/drawingml/2006/main">
            <a:r>
              <a:t>Build on Comparing groups and a distribution.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Comparing groups and a distribution in Python (1/2)</a:t>
            </a:r>
          </a:p>
          <a:p xmlns:a="http://schemas.openxmlformats.org/drawingml/2006/main">
            <a:r>
              <a:t/>
            </a:r>
          </a:p>
          <a:p xmlns:a="http://schemas.openxmlformats.org/drawingml/2006/main">
            <a:r>
              <a:t>CONNECT</a:t>
            </a:r>
          </a:p>
          <a:p xmlns:a="http://schemas.openxmlformats.org/drawingml/2006/main">
            <a:r>
              <a:t>Build on the preceding slide: Comparing groups and a distribution.</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Complete practice code:</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WALK THROUGH THIS CODE</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Comparing groups and a distribution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Comparing groups and a distribution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 in Python (2/2)</a:t>
            </a:r>
          </a:p>
          <a:p xmlns:a="http://schemas.openxmlformats.org/drawingml/2006/main">
            <a:r>
              <a:t/>
            </a:r>
          </a:p>
          <a:p xmlns:a="http://schemas.openxmlformats.org/drawingml/2006/main">
            <a:r>
              <a:t>CONNECT</a:t>
            </a:r>
          </a:p>
          <a:p xmlns:a="http://schemas.openxmlformats.org/drawingml/2006/main">
            <a:r>
              <a:t>Build on Comparing groups and a distribution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Comparing groups and a distribution in Python (2/2)</a:t>
            </a:r>
          </a:p>
          <a:p xmlns:a="http://schemas.openxmlformats.org/drawingml/2006/main">
            <a:r>
              <a:t/>
            </a:r>
          </a:p>
          <a:p xmlns:a="http://schemas.openxmlformats.org/drawingml/2006/main">
            <a:r>
              <a:t>CONNECT</a:t>
            </a:r>
          </a:p>
          <a:p xmlns:a="http://schemas.openxmlformats.org/drawingml/2006/main">
            <a:r>
              <a:t>Build on the preceding slide: Comparing groups and a distribution in Python (1/2).</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Complete practice code:</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WALK THROUGH THIS CODE</a:t>
            </a:r>
          </a:p>
          <a:p xmlns:a="http://schemas.openxmlformats.org/drawingml/2006/main">
            <a:r>
              <a:t>Read the inputs and identify the operation.</a:t>
            </a:r>
          </a:p>
          <a:p xmlns:a="http://schemas.openxmlformats.org/drawingml/2006/main">
            <a:r>
              <a:t>Predict the result before running this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Your turn.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Comparing groups and a distribution in Python (2/2). Explain why this example is needed before running it.</a:t>
            </a:r>
          </a:p>
          <a:p xmlns:a="http://schemas.openxmlformats.org/drawingml/2006/main">
            <a:r>
              <a:t/>
            </a:r>
          </a:p>
          <a:p xmlns:a="http://schemas.openxmlformats.org/drawingml/2006/main">
            <a:r>
              <a:t>EXPLAIN</a:t>
            </a:r>
          </a:p>
          <a:p xmlns:a="http://schemas.openxmlformats.org/drawingml/2006/main">
            <a:r>
              <a:t>Example: Explain why 80 was retained. Replace 24 with 26, predict the new fill value, and check that cleaning still leaves raw unchanged.</a:t>
            </a:r>
          </a:p>
          <a:p xmlns:a="http://schemas.openxmlformats.org/drawingml/2006/main">
            <a:r>
              <a:t/>
            </a:r>
          </a:p>
          <a:p xmlns:a="http://schemas.openxmlformats.org/drawingml/2006/main">
            <a:r>
              <a:t>Answer: An unusual value alone does not prove an error. The task did not authorize deleting 80. With 26 replacing 24, the middle known values are 22 and 26, so the new fill is 24. The raw list still contains None.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Comparing groups and a distribution in Python (2/2).</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An unusual value alone does not prove an error. The task did not authorize deleting 80. With 26 replacing 24, the middle known values are 22 and 26, so the new fill is 24. The raw list still contains None.</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An unusual value alone does not prove an error. The task did not authorize deleting 80. With 26 replacing 24, the middle known values are 22 and 26, so the new fill is 24. The raw list still contains None.</a:t>
            </a:r>
          </a:p>
          <a:p xmlns:a="http://schemas.openxmlformats.org/drawingml/2006/main">
            <a:r>
              <a:t>Which step produced this result? What changes if one input changes?</a:t>
            </a:r>
          </a:p>
          <a:p xmlns:a="http://schemas.openxmlformats.org/drawingml/2006/main">
            <a:r>
              <a:t>CML3113   Week 6   38</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compact loop is optional.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compact loop is optional</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A list comprehension makes the same list. Learn the ordinary loop first.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compact loop is optional</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[4, 8, 12] twice</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append adds one item to the end of a list.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Short explainer and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A compact loop is optional. Explain why this example is needed before running it.</a:t>
            </a:r>
          </a:p>
          <a:p xmlns:a="http://schemas.openxmlformats.org/drawingml/2006/main">
            <a:r>
              <a:t/>
            </a:r>
          </a:p>
          <a:p xmlns:a="http://schemas.openxmlformats.org/drawingml/2006/main">
            <a:r>
              <a:t>EXPLAIN</a:t>
            </a:r>
          </a:p>
          <a:p xmlns:a="http://schemas.openxmlformats.org/drawingml/2006/main">
            <a:r>
              <a:t>W06 uses a list of record dictionaries.</a:t>
            </a:r>
          </a:p>
          <a:p xmlns:a="http://schemas.openxmlformats.org/drawingml/2006/main">
            <a:r>
              <a:t/>
            </a:r>
          </a:p>
          <a:p xmlns:a="http://schemas.openxmlformats.org/drawingml/2006/main">
            <a:r>
              <a:t>Show one record and one field lookup before the function interfaces.</a:t>
            </a:r>
          </a:p>
          <a:p xmlns:a="http://schemas.openxmlformats.org/drawingml/2006/main">
            <a:r>
              <a:t/>
            </a:r>
          </a:p>
          <a:p xmlns:a="http://schemas.openxmlformats.org/drawingml/2006/main">
            <a:r>
              <a:t>Parse CSV blank numeric cells as None. dict(row) copies a record. append adds an item to a list.</a:t>
            </a:r>
          </a:p>
          <a:p xmlns:a="http://schemas.openxmlformats.org/drawingml/2006/main">
            <a:r>
              <a:t/>
            </a:r>
          </a:p>
          <a:p xmlns:a="http://schemas.openxmlformats.org/drawingml/2006/main">
            <a:r>
              <a:t>The task brief specifies the cleaning order and returned outputs.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 set records IDs already seen.</a:t>
            </a:r>
          </a:p>
          <a:p xmlns:a="http://schemas.openxmlformats.org/drawingml/2006/main">
            <a:r>
              <a:t/>
            </a:r>
          </a:p>
          <a:p xmlns:a="http://schemas.openxmlformats.org/drawingml/2006/main">
            <a:r>
              <a:t>Group summaries collect readings with the same equipment ID.</a:t>
            </a:r>
          </a:p>
          <a:p xmlns:a="http://schemas.openxmlformats.org/drawingml/2006/main">
            <a:r>
              <a:t/>
            </a:r>
          </a:p>
          <a:p xmlns:a="http://schemas.openxmlformats.org/drawingml/2006/main">
            <a:r>
              <a:t>Explain that written evidence belongs in My written evidence, not in code comments.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Cleaning choices and charts.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Cleaning choices and charts.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choices and charts</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Filling blanks with zero changes the mean and may be unjustified.</a:t>
            </a:r>
          </a:p>
          <a:p xmlns:a="http://schemas.openxmlformats.org/drawingml/2006/main">
            <a:r>
              <a:t/>
            </a:r>
          </a:p>
          <a:p xmlns:a="http://schemas.openxmlformats.org/drawingml/2006/main">
            <a:r>
              <a:t>Dropping every row with any blank can remove valid observations.</a:t>
            </a:r>
          </a:p>
          <a:p xmlns:a="http://schemas.openxmlformats.org/drawingml/2006/main">
            <a:r>
              <a:t/>
            </a:r>
          </a:p>
          <a:p xmlns:a="http://schemas.openxmlformats.org/drawingml/2006/main">
            <a:r>
              <a:t>A failed numeric conversion identifies a problematic value to inspect rather than hide.</a:t>
            </a:r>
          </a:p>
          <a:p xmlns:a="http://schemas.openxmlformats.org/drawingml/2006/main">
            <a:r>
              <a:t/>
            </a:r>
          </a:p>
          <a:p xmlns:a="http://schemas.openxmlformats.org/drawingml/2006/main">
            <a:r>
              <a:t>A histogram describes one distribution; a scatter plot shows paired values; a grouped chart compares groups.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choices and charts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Cleaning choices and charts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Cleaning choices and charts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choices and charts continued</a:t>
            </a:r>
          </a:p>
          <a:p xmlns:a="http://schemas.openxmlformats.org/drawingml/2006/main">
            <a:r>
              <a:t/>
            </a:r>
          </a:p>
          <a:p xmlns:a="http://schemas.openxmlformats.org/drawingml/2006/main">
            <a:r>
              <a:t>CONNECT</a:t>
            </a:r>
          </a:p>
          <a:p xmlns:a="http://schemas.openxmlformats.org/drawingml/2006/main">
            <a:r>
              <a:t>Build on Cleaning choices and charts. Explain why this example is needed before running it.</a:t>
            </a:r>
          </a:p>
          <a:p xmlns:a="http://schemas.openxmlformats.org/drawingml/2006/main">
            <a:r>
              <a:t/>
            </a:r>
          </a:p>
          <a:p xmlns:a="http://schemas.openxmlformats.org/drawingml/2006/main">
            <a:r>
              <a:t>EXPLAIN</a:t>
            </a:r>
          </a:p>
          <a:p xmlns:a="http://schemas.openxmlformats.org/drawingml/2006/main">
            <a:r>
              <a:t>Read both axes and units.</a:t>
            </a:r>
          </a:p>
          <a:p xmlns:a="http://schemas.openxmlformats.org/drawingml/2006/main">
            <a:r>
              <a:t/>
            </a:r>
          </a:p>
          <a:p xmlns:a="http://schemas.openxmlformats.org/drawingml/2006/main">
            <a:r>
              <a:t>A plausible extreme needs investigation before deletion.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choices and charts continued</a:t>
            </a:r>
          </a:p>
          <a:p xmlns:a="http://schemas.openxmlformats.org/drawingml/2006/main">
            <a:r>
              <a:t/>
            </a:r>
          </a:p>
          <a:p xmlns:a="http://schemas.openxmlformats.org/drawingml/2006/main">
            <a:r>
              <a:t>CONNECT</a:t>
            </a:r>
          </a:p>
          <a:p xmlns:a="http://schemas.openxmlformats.org/drawingml/2006/main">
            <a:r>
              <a:t>Build on the preceding slide: Cleaning choices and charts.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Cleaning choices and charts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Cleaning choices and charts continued.</a:t>
            </a:r>
          </a:p>
          <a:p xmlns:a="http://schemas.openxmlformats.org/drawingml/2006/main">
            <a:r>
              <a:t/>
            </a:r>
          </a:p>
          <a:p xmlns:a="http://schemas.openxmlformats.org/drawingml/2006/main">
            <a:r>
              <a:t>LECTURER CUE</a:t>
            </a:r>
          </a:p>
          <a:p xmlns:a="http://schemas.openxmlformats.org/drawingml/2006/main">
            <a:r>
              <a:t>Investigate crusher energy demand. Target units: kWh/t.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clean_records(records).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clean_records(records).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clean_records(records)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r>
              <a:t>Preserve raw input.</a:t>
            </a:r>
          </a:p>
          <a:p xmlns:a="http://schemas.openxmlformats.org/drawingml/2006/main">
            <a:r>
              <a:t/>
            </a:r>
          </a:p>
          <a:p xmlns:a="http://schemas.openxmlformats.org/drawingml/2006/main">
            <a:r>
              <a:t>No other changes.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clean_records(records)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IUEA_Teaching_Plan/assessment_banks/W06/CML3113/A/TASKS.md</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summarize_records(clean_records).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summarize_records(clean_records).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summarize_records(clean_records)</a:t>
            </a:r>
          </a:p>
          <a:p xmlns:a="http://schemas.openxmlformats.org/drawingml/2006/main">
            <a:r>
              <a:t/>
            </a:r>
          </a:p>
          <a:p xmlns:a="http://schemas.openxmlformats.org/drawingml/2006/main">
            <a:r>
              <a:t>CONNECT</a:t>
            </a:r>
          </a:p>
          <a:p xmlns:a="http://schemas.openxmlformats.org/drawingml/2006/main">
            <a:r>
              <a:t>Build on clean_records(records). Explain why this example is needed before running it.</a:t>
            </a:r>
          </a:p>
          <a:p xmlns:a="http://schemas.openxmlformats.org/drawingml/2006/main">
            <a:r>
              <a:t/>
            </a:r>
          </a:p>
          <a:p xmlns:a="http://schemas.openxmlformats.org/drawingml/2006/main">
            <a:r>
              <a:t>EXPLAIN</a:t>
            </a:r>
          </a:p>
          <a:p xmlns:a="http://schemas.openxmlformats.org/drawingml/2006/main">
            <a:r>
              <a:t>Return count, mean, minimum, maximum of target and group_means by equipment_id.</a:t>
            </a:r>
          </a:p>
          <a:p xmlns:a="http://schemas.openxmlformats.org/drawingml/2006/main">
            <a:r>
              <a:t/>
            </a:r>
          </a:p>
          <a:p xmlns:a="http://schemas.openxmlformats.org/drawingml/2006/main">
            <a:r>
              <a:t>Retain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summarize_records(clean_records)</a:t>
            </a:r>
          </a:p>
          <a:p xmlns:a="http://schemas.openxmlformats.org/drawingml/2006/main">
            <a:r>
              <a:t/>
            </a:r>
          </a:p>
          <a:p xmlns:a="http://schemas.openxmlformats.org/drawingml/2006/main">
            <a:r>
              <a:t>CONNECT</a:t>
            </a:r>
          </a:p>
          <a:p xmlns:a="http://schemas.openxmlformats.org/drawingml/2006/main">
            <a:r>
              <a:t>Build on the preceding slide: clean_records(records).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IUEA_Teaching_Plan/assessment_banks/W06/CML3113/A/TASKS.md</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audit_cleaning(raw_records, cleaned_records).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audit_cleaning(raw_records, cleaned_records).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audit_cleaning(raw_records, cleaned_records)</a:t>
            </a:r>
          </a:p>
          <a:p xmlns:a="http://schemas.openxmlformats.org/drawingml/2006/main">
            <a:r>
              <a:t/>
            </a:r>
          </a:p>
          <a:p xmlns:a="http://schemas.openxmlformats.org/drawingml/2006/main">
            <a:r>
              <a:t>CONNECT</a:t>
            </a:r>
          </a:p>
          <a:p xmlns:a="http://schemas.openxmlformats.org/drawingml/2006/main">
            <a:r>
              <a:t>Build on summarize_records(clean_records). Explain why this example is needed before running it.</a:t>
            </a:r>
          </a:p>
          <a:p xmlns:a="http://schemas.openxmlformats.org/drawingml/2006/main">
            <a:r>
              <a:t/>
            </a:r>
          </a:p>
          <a:p xmlns:a="http://schemas.openxmlformats.org/drawingml/2006/main">
            <a:r>
              <a:t>EXPLAIN</a:t>
            </a:r>
          </a:p>
          <a:p xmlns:a="http://schemas.openxmlformats.org/drawingml/2006/main">
            <a: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r>
              <a:t>Report the actual supplied data, which may still contain defects.</a:t>
            </a:r>
          </a:p>
          <a:p xmlns:a="http://schemas.openxmlformats.org/drawingml/2006/main">
            <a:r>
              <a:t/>
            </a:r>
          </a:p>
          <a:p xmlns:a="http://schemas.openxmlformats.org/drawingml/2006/main">
            <a:r>
              <a:t>Do not change either input.</a:t>
            </a:r>
          </a:p>
          <a:p xmlns:a="http://schemas.openxmlformats.org/drawingml/2006/main">
            <a:r>
              <a:t/>
            </a:r>
          </a:p>
          <a:p xmlns:a="http://schemas.openxmlformats.org/drawingml/2006/main">
            <a:r>
              <a:t>All five values are integer counts.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audit_cleaning(raw_records, cleaned_records)</a:t>
            </a:r>
          </a:p>
          <a:p xmlns:a="http://schemas.openxmlformats.org/drawingml/2006/main">
            <a:r>
              <a:t/>
            </a:r>
          </a:p>
          <a:p xmlns:a="http://schemas.openxmlformats.org/drawingml/2006/main">
            <a:r>
              <a:t>CONNECT</a:t>
            </a:r>
          </a:p>
          <a:p xmlns:a="http://schemas.openxmlformats.org/drawingml/2006/main">
            <a:r>
              <a:t>Build on the preceding slide: summarize_records(clean_records).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IUEA_Teaching_Plan/assessment_banks/W06/CML3113/A/TASKS.md</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audit_cleaning(raw_records, cleaned_records).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audit_cleaning(raw_records, cleaned_records).</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Cleaning and quality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Cleaning and quality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and quality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16 Oct 2026, 08:00 Kampala</a:t>
            </a:r>
          </a:p>
          <a:p xmlns:a="http://schemas.openxmlformats.org/drawingml/2006/main">
            <a:r>
              <a:t/>
            </a:r>
          </a:p>
          <a:p xmlns:a="http://schemas.openxmlformats.org/drawingml/2006/main">
            <a:r>
              <a:t>Deadline: 23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and quality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Cleaning and quality submission.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30 Oct 2026, 08:00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Cleaning and quality submission.</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6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6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6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6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open_W6_CML3113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6 quiz. Explain why this example is needed before running it.</a:t>
            </a:r>
          </a:p>
          <a:p xmlns:a="http://schemas.openxmlformats.org/drawingml/2006/main">
            <a:r>
              <a:t/>
            </a:r>
          </a:p>
          <a:p xmlns:a="http://schemas.openxmlformats.org/drawingml/2006/main">
            <a:r>
              <a:t>EXPLAIN</a:t>
            </a:r>
          </a:p>
          <a:p xmlns:a="http://schemas.openxmlformats.org/drawingml/2006/main">
            <a:r>
              <a:t>You can justify a change, show its effect and identify an estimated value.</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6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Boxplots are Awesome!!!</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What does the box show, and does a point outside it prove an 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A compact loop is optional.</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 do not make viewing compulsory.</a:t>
            </a:r>
          </a:p>
          <a:p xmlns:a="http://schemas.openxmlformats.org/drawingml/2006/main">
            <a:r>
              <a:t>After viewing: Explain why an unusual temperature needs investigation before deletion.</a:t>
            </a:r>
          </a:p>
          <a:p xmlns:a="http://schemas.openxmlformats.org/drawingml/2006/main">
            <a:r>
              <a:t>Preview before class and stop after the selected short excerpt. If playback fails, teach the worked example. Video is optional. Source: https://www.youtube.com/watch?v=fHLhBnmwUM0</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d8c884b6d91404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70993d95a5f451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61bc42ca6b647b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277ede5b368490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344fd254c734ea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b8cb0aab2894b4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6037E2B-4E8C-4D35-B714-A865BC1075C9}"/>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08A3F5E-40E7-442B-9354-8B1553F6FE3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B9C9482-D9CF-4771-86D8-1E2FDF3AF81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AFB5F6A-1C32-4903-9F4F-7BAB777A0255}"/>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EADF038E-F5C4-414D-9D89-395642FA3F0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7B4FFDE-C118-46E1-BDDA-D2A17E37945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0B4AEC2-4405-4AE5-9B70-CB41101FBBD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D3E48BF8-9418-4061-A9B5-D5EC29E5820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C124329E-8B10-48B6-8B10-EB040EF406F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8F8058E-E1C2-4E9D-9A1A-3A5A66B8521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099AD46-4E1C-4EDC-BC24-5C98A60A698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47D9074C-C0F0-49A1-AD91-71F39425FE6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491FA97-BC8C-455C-9764-9E3934D004B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DCE4DBC-F9AF-4BEE-85D2-655EB4E7D26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90E3EFA-EFA3-4FEB-8FC7-F533BC50377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e6f5acdf06c47ce" /><Relationship Type="http://schemas.openxmlformats.org/officeDocument/2006/relationships/slideLayout" Target="/ppt/slideLayouts/slideLayout1.xml" Id="R212cd17b8a394452" /><Relationship Type="http://schemas.openxmlformats.org/officeDocument/2006/relationships/slideLayout" Target="/ppt/slideLayouts/slideLayout2.xml" Id="R40496c7fcb8c4a67" /><Relationship Type="http://schemas.openxmlformats.org/officeDocument/2006/relationships/slideLayout" Target="/ppt/slideLayouts/slideLayout3.xml" Id="R9c08b59d1bf0459b" /><Relationship Type="http://schemas.openxmlformats.org/officeDocument/2006/relationships/slideLayout" Target="/ppt/slideLayouts/slideLayout4.xml" Id="R3e5ab0d2ad3b4d71" /><Relationship Type="http://schemas.openxmlformats.org/officeDocument/2006/relationships/slideLayout" Target="/ppt/slideLayouts/slideLayout5.xml" Id="R45574bc3bf394a44" /><Relationship Type="http://schemas.openxmlformats.org/officeDocument/2006/relationships/slideLayout" Target="/ppt/slideLayouts/slideLayout6.xml" Id="Rae83e53d87b5411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12cd17b8a394452"/>
    <p:sldLayoutId xmlns:r="http://schemas.openxmlformats.org/officeDocument/2006/relationships" id="2147483650" r:id="R40496c7fcb8c4a67"/>
    <p:sldLayoutId xmlns:r="http://schemas.openxmlformats.org/officeDocument/2006/relationships" id="2147483651" r:id="R9c08b59d1bf0459b"/>
    <p:sldLayoutId xmlns:r="http://schemas.openxmlformats.org/officeDocument/2006/relationships" id="2147483652" r:id="R3e5ab0d2ad3b4d71"/>
    <p:sldLayoutId xmlns:r="http://schemas.openxmlformats.org/officeDocument/2006/relationships" id="2147483653" r:id="R45574bc3bf394a44"/>
    <p:sldLayoutId xmlns:r="http://schemas.openxmlformats.org/officeDocument/2006/relationships" id="2147483654" r:id="Rae83e53d87b5411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7a1f5f54fde420d" /><Relationship Type="http://schemas.openxmlformats.org/officeDocument/2006/relationships/image" Target="/ppt/media/image.png" Id="R37990e97306a4742" /><Relationship Type="http://schemas.openxmlformats.org/officeDocument/2006/relationships/notesSlide" Target="/ppt/notesSlides/notesSlide1.xml" Id="R72d581ba84de4f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dcde7c6e0cc4106" /><Relationship Type="http://schemas.openxmlformats.org/officeDocument/2006/relationships/notesSlide" Target="/ppt/notesSlides/notesSlide2.xml" Id="R156f9c238282428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770c2216c374399" /><Relationship Type="http://schemas.openxmlformats.org/officeDocument/2006/relationships/notesSlide" Target="/ppt/notesSlides/notesSlide3.xml" Id="R57401564c9234d4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68d331cf2524c62" /><Relationship Type="http://schemas.openxmlformats.org/officeDocument/2006/relationships/notesSlide" Target="/ppt/notesSlides/notesSlide4.xml" Id="R226d69570e6c495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d774bbfbaa04cc8" /><Relationship Type="http://schemas.openxmlformats.org/officeDocument/2006/relationships/notesSlide" Target="/ppt/notesSlides/notesSlide5.xml" Id="Rb1f98e785b0041c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ebcea638d1d42a2" /><Relationship Type="http://schemas.openxmlformats.org/officeDocument/2006/relationships/notesSlide" Target="/ppt/notesSlides/notesSlide6.xml" Id="R3f3d9dd7dbd646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6f4e40536f8476b" /><Relationship Type="http://schemas.openxmlformats.org/officeDocument/2006/relationships/notesSlide" Target="/ppt/notesSlides/notesSlide7.xml" Id="R73377934671c48d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843b20ff7b244a7" /><Relationship Type="http://schemas.openxmlformats.org/officeDocument/2006/relationships/notesSlide" Target="/ppt/notesSlides/notesSlide8.xml" Id="R4e93a7a34cf5475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b19e18095074adb" /><Relationship Type="http://schemas.openxmlformats.org/officeDocument/2006/relationships/notesSlide" Target="/ppt/notesSlides/notesSlide9.xml" Id="R5576da04496449a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3b74b6fd91d4fcb" /><Relationship Type="http://schemas.openxmlformats.org/officeDocument/2006/relationships/notesSlide" Target="/ppt/notesSlides/notesSlide10.xml" Id="Rebc10e69c9c5469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f78d61c62f14bd7" /><Relationship Type="http://schemas.openxmlformats.org/officeDocument/2006/relationships/notesSlide" Target="/ppt/notesSlides/notesSlide11.xml" Id="R6c40d5c27a8749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0718f1ac43e4a84" /><Relationship Type="http://schemas.openxmlformats.org/officeDocument/2006/relationships/notesSlide" Target="/ppt/notesSlides/notesSlide12.xml" Id="R427ac64a0a5f42e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f823d49c95e4d56" /><Relationship Type="http://schemas.openxmlformats.org/officeDocument/2006/relationships/notesSlide" Target="/ppt/notesSlides/notesSlide13.xml" Id="R57a49d769cc1401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fd9501a05624612" /><Relationship Type="http://schemas.openxmlformats.org/officeDocument/2006/relationships/image" Target="/ppt/media/image2.png" Id="R72ebf4cbdd144bc6" /><Relationship Type="http://schemas.openxmlformats.org/officeDocument/2006/relationships/notesSlide" Target="/ppt/notesSlides/notesSlide14.xml" Id="R7df361d4c9944c1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c20d7fe0cdc48c2" /><Relationship Type="http://schemas.openxmlformats.org/officeDocument/2006/relationships/notesSlide" Target="/ppt/notesSlides/notesSlide15.xml" Id="Rc7682fa772ab449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67e846cf6ba4239" /><Relationship Type="http://schemas.openxmlformats.org/officeDocument/2006/relationships/notesSlide" Target="/ppt/notesSlides/notesSlide16.xml" Id="R10eca01b9cd0491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46478a5441e48d3" /><Relationship Type="http://schemas.openxmlformats.org/officeDocument/2006/relationships/notesSlide" Target="/ppt/notesSlides/notesSlide17.xml" Id="Rc109c4bc981d434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35ef925f58c4429" /><Relationship Type="http://schemas.openxmlformats.org/officeDocument/2006/relationships/notesSlide" Target="/ppt/notesSlides/notesSlide18.xml" Id="R6023a573db58465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6b974b57f044fe1" /><Relationship Type="http://schemas.openxmlformats.org/officeDocument/2006/relationships/notesSlide" Target="/ppt/notesSlides/notesSlide19.xml" Id="Rd80b71ac46c84fc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d24143510e84ec3" /><Relationship Type="http://schemas.openxmlformats.org/officeDocument/2006/relationships/notesSlide" Target="/ppt/notesSlides/notesSlide20.xml" Id="Rc8b9c756e1b4404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b040d2079ad416f" /><Relationship Type="http://schemas.openxmlformats.org/officeDocument/2006/relationships/notesSlide" Target="/ppt/notesSlides/notesSlide21.xml" Id="R167f2a4e26c34b0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2928c696fa14d7d" /><Relationship Type="http://schemas.openxmlformats.org/officeDocument/2006/relationships/notesSlide" Target="/ppt/notesSlides/notesSlide22.xml" Id="R633de5043c314da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040ef9b296c4a13" /><Relationship Type="http://schemas.openxmlformats.org/officeDocument/2006/relationships/notesSlide" Target="/ppt/notesSlides/notesSlide23.xml" Id="Rb1cf66f8e182410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29a43d614ff4221" /><Relationship Type="http://schemas.openxmlformats.org/officeDocument/2006/relationships/notesSlide" Target="/ppt/notesSlides/notesSlide24.xml" Id="Rde33a052069040c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ad7cc7e49534be0" /><Relationship Type="http://schemas.openxmlformats.org/officeDocument/2006/relationships/notesSlide" Target="/ppt/notesSlides/notesSlide25.xml" Id="R5ffbb5fc0d9c403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031f67b298f4a29" /><Relationship Type="http://schemas.openxmlformats.org/officeDocument/2006/relationships/notesSlide" Target="/ppt/notesSlides/notesSlide26.xml" Id="Rc7aee8be927f46a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cacbcc0765f4e4d" /><Relationship Type="http://schemas.openxmlformats.org/officeDocument/2006/relationships/notesSlide" Target="/ppt/notesSlides/notesSlide27.xml" Id="R8a1fcacedebc4bd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c81b6964f3e4fb1" /><Relationship Type="http://schemas.openxmlformats.org/officeDocument/2006/relationships/image" Target="/ppt/media/image3.png" Id="Rc028fe395c0f4b7d" /><Relationship Type="http://schemas.openxmlformats.org/officeDocument/2006/relationships/notesSlide" Target="/ppt/notesSlides/notesSlide28.xml" Id="R5bfefa6b3a2247f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3f343fbf94a4bd1" /><Relationship Type="http://schemas.openxmlformats.org/officeDocument/2006/relationships/notesSlide" Target="/ppt/notesSlides/notesSlide29.xml" Id="Rd62d35c31ea841d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23cd9d1f20e43b3" /><Relationship Type="http://schemas.openxmlformats.org/officeDocument/2006/relationships/notesSlide" Target="/ppt/notesSlides/notesSlide30.xml" Id="Rcd766b5948e94c2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bb9cd3c1c4642b7" /><Relationship Type="http://schemas.openxmlformats.org/officeDocument/2006/relationships/notesSlide" Target="/ppt/notesSlides/notesSlide31.xml" Id="Rf6eacbb6d58a412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41afad9b3654da0" /><Relationship Type="http://schemas.openxmlformats.org/officeDocument/2006/relationships/notesSlide" Target="/ppt/notesSlides/notesSlide32.xml" Id="R180eeab308fb4ff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8b848f9601d4883" /><Relationship Type="http://schemas.openxmlformats.org/officeDocument/2006/relationships/notesSlide" Target="/ppt/notesSlides/notesSlide33.xml" Id="R820ce43304234b1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f117b1c712842b3" /><Relationship Type="http://schemas.openxmlformats.org/officeDocument/2006/relationships/notesSlide" Target="/ppt/notesSlides/notesSlide34.xml" Id="R142505efd1e54c0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2a1f14427ee4fa3" /><Relationship Type="http://schemas.openxmlformats.org/officeDocument/2006/relationships/notesSlide" Target="/ppt/notesSlides/notesSlide35.xml" Id="R265d1021e4d4498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8ac1be41317c4b29" /><Relationship Type="http://schemas.openxmlformats.org/officeDocument/2006/relationships/notesSlide" Target="/ppt/notesSlides/notesSlide36.xml" Id="Rbf89cf90caea40c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75074181212467a" /><Relationship Type="http://schemas.openxmlformats.org/officeDocument/2006/relationships/notesSlide" Target="/ppt/notesSlides/notesSlide37.xml" Id="R50c04dd8e78b429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2f3b221b8fdb4189" /><Relationship Type="http://schemas.openxmlformats.org/officeDocument/2006/relationships/notesSlide" Target="/ppt/notesSlides/notesSlide38.xml" Id="R5542e62380004bd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9426b56485e546e6" /><Relationship Type="http://schemas.openxmlformats.org/officeDocument/2006/relationships/notesSlide" Target="/ppt/notesSlides/notesSlide39.xml" Id="Rc913820042fa471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5774f788d674843" /><Relationship Type="http://schemas.openxmlformats.org/officeDocument/2006/relationships/notesSlide" Target="/ppt/notesSlides/notesSlide40.xml" Id="Rb9224d652cb3473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4bcc0dc6517411c" /><Relationship Type="http://schemas.openxmlformats.org/officeDocument/2006/relationships/notesSlide" Target="/ppt/notesSlides/notesSlide41.xml" Id="R37f4dae1892c45a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80d61e21f4704250" /><Relationship Type="http://schemas.openxmlformats.org/officeDocument/2006/relationships/notesSlide" Target="/ppt/notesSlides/notesSlide42.xml" Id="R744000251ff74d8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e1044ad05434d60" /><Relationship Type="http://schemas.openxmlformats.org/officeDocument/2006/relationships/notesSlide" Target="/ppt/notesSlides/notesSlide43.xml" Id="Rfb2febed031847e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61d0c1b199b4f42" /><Relationship Type="http://schemas.openxmlformats.org/officeDocument/2006/relationships/notesSlide" Target="/ppt/notesSlides/notesSlide44.xml" Id="R1ebb5897985f4d4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c5d54bb13a1441da" /><Relationship Type="http://schemas.openxmlformats.org/officeDocument/2006/relationships/hyperlink" Target="https://docs.google.com/forms/d/e/1FAIpQLSfTETySrIpbVK0xyJo7Zft9exWhC8kB0u4XRrbF8Vbm9Ajq7Q/viewform" TargetMode="External" Id="Rc3034a6c5e7742ee" /><Relationship Type="http://schemas.openxmlformats.org/officeDocument/2006/relationships/notesSlide" Target="/ppt/notesSlides/notesSlide45.xml" Id="R20c79bba9820420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e6f5da10a3c044b3" /><Relationship Type="http://schemas.openxmlformats.org/officeDocument/2006/relationships/notesSlide" Target="/ppt/notesSlides/notesSlide46.xml" Id="R6b3c35bc62f9493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81e5f427b9804569" /><Relationship Type="http://schemas.openxmlformats.org/officeDocument/2006/relationships/image" Target="/ppt/media/image4.png" Id="R3d91843ee5f34721" /><Relationship Type="http://schemas.openxmlformats.org/officeDocument/2006/relationships/hyperlink" Target="https://forms.gle/4SRNGRCUtUmKpTc1A" TargetMode="External" Id="R996d089cdd454455" /><Relationship Type="http://schemas.openxmlformats.org/officeDocument/2006/relationships/notesSlide" Target="/ppt/notesSlides/notesSlide47.xml" Id="Rc8f4229c2d2e411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23602ff5d594eeb" /><Relationship Type="http://schemas.openxmlformats.org/officeDocument/2006/relationships/notesSlide" Target="/ppt/notesSlides/notesSlide48.xml" Id="R8ca2d57021204a0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68a8f9e904aa41c8" /><Relationship Type="http://schemas.openxmlformats.org/officeDocument/2006/relationships/hyperlink" Target="https://www.youtube.com/watch?v=fHLhBnmwUM0" TargetMode="External" Id="R8f19bc1d580541c8" /><Relationship Type="http://schemas.openxmlformats.org/officeDocument/2006/relationships/notesSlide" Target="/ppt/notesSlides/notesSlide49.xml" Id="Rf3d24ee8aa1b4b1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7990e97306a474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23057AF-1A4D-421F-B378-3DEF7355390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5160ADD-A1B4-44E3-A2E4-D541E9F6564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6</a:t>
            </a:r>
          </a:p>
        </p:txBody>
      </p:sp>
      <p:sp>
        <p:nvSpPr>
          <p:cNvPr id="4" name="">
            <a:extLst xmlns:a="http://schemas.openxmlformats.org/drawingml/2006/main">
              <a:ext uri="{FF2B5EF4-FFF2-40B4-BE49-F238E27FC236}">
                <a16:creationId xmlns:a16="http://schemas.microsoft.com/office/drawing/2014/main" id="{BCE9DE01-63EE-404C-9999-064CC44FE6A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CFFF3CEF-9B7C-4385-AA86-E1F03949E5C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0DC7169C-8514-4225-AC6E-BB744D73036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8274447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B3BACDA-A4AC-49DD-B2F6-B1590AF50C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8F063A-FF48-498F-ACB8-7878417738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2291CF9-F28A-4573-8698-CBF0DECBDF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DB0028E-7C75-4E87-BA0F-C9F2EF554FA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379BD2-9CF9-4325-BEC9-5461048C3CB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685258A-9062-4FDF-82FB-53139E1A331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2E1CEE56-7792-454A-BAFB-5CD9E671660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2E19E59D-1522-4184-9A56-5BE44DC6CBA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AC747FC3-B65E-4BB5-A573-69294315F1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a:t>
            </a:r>
          </a:p>
        </p:txBody>
      </p:sp>
    </p:spTree>
    <p:extLst>
      <p:ext uri="{BB962C8B-B14F-4D97-AF65-F5344CB8AC3E}">
        <p14:creationId xmlns:p14="http://schemas.microsoft.com/office/powerpoint/2010/main" val="42026260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A511BB-9898-4999-A80D-86A08B1E2C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9F2111-3ADC-40E1-B179-5BA4253AB0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E7C6BA-A6FC-4BEE-B55A-AA24B4B62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9E8819BC-A427-4CB5-B5E9-8CDCCA643A0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AB949A-5705-4A2A-A721-1B33A7C0C1E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5 selected and summarised columns.</a:t>
            </a:r>
          </a:p>
        </p:txBody>
      </p:sp>
      <p:sp>
        <p:nvSpPr>
          <p:cNvPr id="6" name="">
            <a:extLst xmlns:a="http://schemas.openxmlformats.org/drawingml/2006/main">
              <a:ext uri="{FF2B5EF4-FFF2-40B4-BE49-F238E27FC236}">
                <a16:creationId xmlns:a16="http://schemas.microsoft.com/office/drawing/2014/main" id="{5DC30663-AB60-4D57-BE94-48ABC3022A6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trusting those summaries, inspect missing values, repeated observations and measurement units.</a:t>
            </a:r>
          </a:p>
        </p:txBody>
      </p:sp>
      <p:sp>
        <p:nvSpPr>
          <p:cNvPr id="7" name="">
            <a:extLst xmlns:a="http://schemas.openxmlformats.org/drawingml/2006/main">
              <a:ext uri="{FF2B5EF4-FFF2-40B4-BE49-F238E27FC236}">
                <a16:creationId xmlns:a16="http://schemas.microsoft.com/office/drawing/2014/main" id="{C2EE440F-5847-46E2-8543-9C5AB6640A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a:t>
            </a:r>
          </a:p>
        </p:txBody>
      </p:sp>
    </p:spTree>
    <p:extLst>
      <p:ext uri="{BB962C8B-B14F-4D97-AF65-F5344CB8AC3E}">
        <p14:creationId xmlns:p14="http://schemas.microsoft.com/office/powerpoint/2010/main" val="10348796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1A4F360-C757-4E3E-89EB-BDCCF722EC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9515EF-9164-49BF-BA55-EC4A1E235D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44AC29-7A35-4E7D-987F-E1663E5D17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96AD20CD-ED97-4479-9D10-2320AE7D233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D0DB52-38B3-470F-9112-6435875365C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repeated record or a missing measurement can change a summary.</a:t>
            </a:r>
          </a:p>
        </p:txBody>
      </p:sp>
      <p:sp>
        <p:nvSpPr>
          <p:cNvPr id="6" name="">
            <a:extLst xmlns:a="http://schemas.openxmlformats.org/drawingml/2006/main">
              <a:ext uri="{FF2B5EF4-FFF2-40B4-BE49-F238E27FC236}">
                <a16:creationId xmlns:a16="http://schemas.microsoft.com/office/drawing/2014/main" id="{085843E6-DDCC-45D5-9AC8-D0569540EC4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keep the original records, apply the stated cleaning rules and explain each change before plotting.</a:t>
            </a:r>
          </a:p>
        </p:txBody>
      </p:sp>
      <p:sp>
        <p:nvSpPr>
          <p:cNvPr id="7" name="">
            <a:extLst xmlns:a="http://schemas.openxmlformats.org/drawingml/2006/main">
              <a:ext uri="{FF2B5EF4-FFF2-40B4-BE49-F238E27FC236}">
                <a16:creationId xmlns:a16="http://schemas.microsoft.com/office/drawing/2014/main" id="{D5B0E1EC-30DD-4DC4-A924-8E99BE41CA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a:t>
            </a:r>
          </a:p>
        </p:txBody>
      </p:sp>
    </p:spTree>
    <p:extLst>
      <p:ext uri="{BB962C8B-B14F-4D97-AF65-F5344CB8AC3E}">
        <p14:creationId xmlns:p14="http://schemas.microsoft.com/office/powerpoint/2010/main" val="121015906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014EAD-AA0C-4F76-BACC-4896B0E301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A6E2BA-E1C1-4E28-8C58-4F9C5FA1B3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B069DF7-8ED0-4EA7-928C-AE44A2CCB3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Raw data and Missing value</a:t>
            </a:r>
          </a:p>
        </p:txBody>
      </p:sp>
      <p:sp>
        <p:nvSpPr>
          <p:cNvPr id="4" name="">
            <a:extLst xmlns:a="http://schemas.openxmlformats.org/drawingml/2006/main">
              <a:ext uri="{FF2B5EF4-FFF2-40B4-BE49-F238E27FC236}">
                <a16:creationId xmlns:a16="http://schemas.microsoft.com/office/drawing/2014/main" id="{99F0B35E-87E2-48DB-813D-C553EB49459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A6B8AE-BC53-4B8F-9B7D-C9D2FD22DBE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B9858B3E-E7BA-4C55-9C20-B79C16648D8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290DB3CE-0674-45BF-80BD-B6C902CD0C8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BC07BF4-2C16-4DA9-8882-C71F009C43A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AA426B93-7FD4-4EC7-9049-BD0EB91DF5C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AC783BFE-1246-42A0-8544-6A0DF14375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a:t>
            </a:r>
          </a:p>
        </p:txBody>
      </p:sp>
    </p:spTree>
    <p:extLst>
      <p:ext uri="{BB962C8B-B14F-4D97-AF65-F5344CB8AC3E}">
        <p14:creationId xmlns:p14="http://schemas.microsoft.com/office/powerpoint/2010/main" val="39703802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E2F356-C4B7-4A90-990B-EB7560748E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93EFEC-1AD7-421B-9F9D-A8DB39A2F1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1816D38-0E9A-4376-B999-06EA5AFA1C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and equipment ID and Median and imputation</a:t>
            </a:r>
          </a:p>
        </p:txBody>
      </p:sp>
      <p:sp>
        <p:nvSpPr>
          <p:cNvPr id="4" name="">
            <a:extLst xmlns:a="http://schemas.openxmlformats.org/drawingml/2006/main">
              <a:ext uri="{FF2B5EF4-FFF2-40B4-BE49-F238E27FC236}">
                <a16:creationId xmlns:a16="http://schemas.microsoft.com/office/drawing/2014/main" id="{ABE3DEE9-572F-4831-A90B-E0BBE5AD0CE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9A2152-63F1-49B6-B514-797A6D6FF10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3EC7DCFB-82BE-42F2-9D16-1823E57131B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16B71F90-7773-4EAF-B994-93D3F50A19E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E40A057-06C5-4B0B-8E41-B76F21111FB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B01634AC-A728-4807-ACA9-09CC550074F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8912E538-DA2E-45F3-B7E2-14513DB0DF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6</a:t>
            </a:r>
          </a:p>
        </p:txBody>
      </p:sp>
    </p:spTree>
    <p:extLst>
      <p:ext uri="{BB962C8B-B14F-4D97-AF65-F5344CB8AC3E}">
        <p14:creationId xmlns:p14="http://schemas.microsoft.com/office/powerpoint/2010/main" val="120735518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3B593E-D7F3-404A-903C-938D410983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ABF60A-E7FF-4F98-8863-1B94D151F1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F1B388-736D-4509-A29F-10445420A5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A31B945C-91C9-4C06-A521-20111D33CBA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90D4CC-722F-4D78-A256-BB028EF5213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17F68BF0-3ABA-42B0-B60B-5DB6C79D697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628CB3-7BAB-43C9-81F1-B582E481D86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05C6D924-E17B-454C-BB17-DD6DCE627CF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D4FE89-FDFD-4A00-B0F6-C2DA5C1518B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8FCAED48-6159-4FEA-8DC3-05B4B88B410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1990EA6-7FA3-4953-8541-08B7FAF71F0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444B4DB2-4FAB-4F41-AF6A-97F3FCCBA0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7</a:t>
            </a:r>
          </a:p>
        </p:txBody>
      </p:sp>
    </p:spTree>
    <p:extLst>
      <p:ext uri="{BB962C8B-B14F-4D97-AF65-F5344CB8AC3E}">
        <p14:creationId xmlns:p14="http://schemas.microsoft.com/office/powerpoint/2010/main" val="212072969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47DF13-10E1-497E-9FC7-9FBB4CA5D8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153EC8-66EC-43DC-93C7-55AB463F1B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41D928B-8A1F-496F-811C-6318FF202B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94ED65C-AA67-41E4-8792-E80ED4A78B03}"/>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7252688F-2DF0-4085-A3BC-4083B2C8B8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8</a:t>
            </a:r>
          </a:p>
        </p:txBody>
      </p:sp>
    </p:spTree>
    <p:extLst>
      <p:ext uri="{BB962C8B-B14F-4D97-AF65-F5344CB8AC3E}">
        <p14:creationId xmlns:p14="http://schemas.microsoft.com/office/powerpoint/2010/main" val="187358557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58276B-3764-40F7-A3EF-4063A0C82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7648E5-B414-4D92-A972-E0E284B5BA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7D0A46-F2CD-4D7C-8FC9-4B58501C3E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1512F876-518C-4228-A2AA-45DD890714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535CA8-53E2-4C7B-8A19-2EE425A0BF3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D0310EBC-86E6-42D6-95F2-C9CF3E60FB6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8F32D6-1A71-4751-A31D-920AAF76553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5771BF15-C323-41D7-BA24-CF31AE2FF73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51EC19A-6C27-44D4-B75E-D4616DD0E25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78F63A58-52BC-4E96-A5BE-888E6D9B230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9E7B3A0-9594-4529-852B-1047D106D41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71D2FD5B-CC22-4924-AD6E-1247AFE46F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9</a:t>
            </a:r>
          </a:p>
        </p:txBody>
      </p:sp>
    </p:spTree>
    <p:extLst>
      <p:ext uri="{BB962C8B-B14F-4D97-AF65-F5344CB8AC3E}">
        <p14:creationId xmlns:p14="http://schemas.microsoft.com/office/powerpoint/2010/main" val="117670673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0A4DB10-F148-4F35-BC25-BE0DF9267E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6586AC-5401-45F1-A4C2-BE6B4A00F8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058123F-052A-4E17-A32B-B7F4AF975C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(1/2)</a:t>
            </a:r>
          </a:p>
        </p:txBody>
      </p:sp>
      <p:sp>
        <p:nvSpPr>
          <p:cNvPr id="4" name="">
            <a:extLst xmlns:a="http://schemas.openxmlformats.org/drawingml/2006/main">
              <a:ext uri="{FF2B5EF4-FFF2-40B4-BE49-F238E27FC236}">
                <a16:creationId xmlns:a16="http://schemas.microsoft.com/office/drawing/2014/main" id="{7D3C08AA-E11F-4EF3-B621-22D4169D9EC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121EBC-3739-4DA1-B16D-2BC0924ADC8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0C19DDF3-DB72-4E75-93D5-ED1400F82FF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6AD8DC4-6F5C-49E8-A1B4-A0303BA5839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F219824E-B8A7-41E8-877F-397E029972C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2ADC104B-ED8A-4954-B30C-DAF5B0E1444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53B1CF35-45FC-4028-B544-F90A9333E46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4429B67-6C41-4F6A-AB09-D0B9906BAA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10</a:t>
            </a:r>
          </a:p>
        </p:txBody>
      </p:sp>
    </p:spTree>
    <p:extLst>
      <p:ext uri="{BB962C8B-B14F-4D97-AF65-F5344CB8AC3E}">
        <p14:creationId xmlns:p14="http://schemas.microsoft.com/office/powerpoint/2010/main" val="127819489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69D3BAF-E262-4A8C-ADFE-DFF2492658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11C87D-194F-4D0D-A2A5-8E98406AED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B9D980-683D-49BB-95A0-703315818D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(2/2)</a:t>
            </a:r>
          </a:p>
        </p:txBody>
      </p:sp>
      <p:sp>
        <p:nvSpPr>
          <p:cNvPr id="4" name="">
            <a:extLst xmlns:a="http://schemas.openxmlformats.org/drawingml/2006/main">
              <a:ext uri="{FF2B5EF4-FFF2-40B4-BE49-F238E27FC236}">
                <a16:creationId xmlns:a16="http://schemas.microsoft.com/office/drawing/2014/main" id="{A1D15063-8444-4459-A685-C14C89187F7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77A1D3-FC1B-4793-9C66-7E487331A3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F5C4726D-EC8C-4246-B87F-95D5AD92552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37C79DE-6C90-496A-BB04-0D9E87CF580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A6C9919-0829-4DDA-A9F8-137406554EE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3BBCC187-FDDD-466D-9E84-CCFD6360DB2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CDF3B828-9392-4F7A-A643-6CFD2B5388D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5F33B8B2-948D-47DB-B3FA-2820EE282E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11</a:t>
            </a:r>
          </a:p>
        </p:txBody>
      </p:sp>
    </p:spTree>
    <p:extLst>
      <p:ext uri="{BB962C8B-B14F-4D97-AF65-F5344CB8AC3E}">
        <p14:creationId xmlns:p14="http://schemas.microsoft.com/office/powerpoint/2010/main" val="4081769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DC6D11-25F8-43CC-98E5-AD00A2292F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F95E72-30F7-4C41-BA56-4C5EEF0A0D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9412F260-2042-4EA9-A88F-FB2D175488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results</a:t>
            </a:r>
          </a:p>
        </p:txBody>
      </p:sp>
      <p:sp>
        <p:nvSpPr>
          <p:cNvPr id="4" name="">
            <a:extLst xmlns:a="http://schemas.openxmlformats.org/drawingml/2006/main">
              <a:ext uri="{FF2B5EF4-FFF2-40B4-BE49-F238E27FC236}">
                <a16:creationId xmlns:a16="http://schemas.microsoft.com/office/drawing/2014/main" id="{F87B7920-02D3-47F5-8F5F-CC71C4A10B20}"/>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B440BD-26BE-45B7-BDE7-8CEA36FF21B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EABF8135-A677-4EEE-B174-60F5053D2422}"/>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1E722E8-7C2D-4A54-8D38-0B1349A872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12</a:t>
            </a:r>
          </a:p>
        </p:txBody>
      </p:sp>
    </p:spTree>
    <p:extLst>
      <p:ext uri="{BB962C8B-B14F-4D97-AF65-F5344CB8AC3E}">
        <p14:creationId xmlns:p14="http://schemas.microsoft.com/office/powerpoint/2010/main" val="1376232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DE3C31-AED0-4E6A-8852-2C92E9FD19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420632-DD28-4FE1-A780-5AD25D8356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F69A68E-6307-4A8B-9DD5-B9448336F6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89C909BA-B359-44CC-9540-558446B537C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807EA9-629B-4C43-A080-9B8AC41A574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3A144074-DC54-46EB-BC76-0AD4324A347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02B73371-D153-41A3-817D-5F4B444697C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42AAA15-732C-4030-92DF-FB5C5174DAC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F5F60DE9-D362-464F-A845-D2EBCD89092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FEA34B8F-A669-4C17-AF51-F58D9DD79F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13</a:t>
            </a:r>
          </a:p>
        </p:txBody>
      </p:sp>
    </p:spTree>
    <p:extLst>
      <p:ext uri="{BB962C8B-B14F-4D97-AF65-F5344CB8AC3E}">
        <p14:creationId xmlns:p14="http://schemas.microsoft.com/office/powerpoint/2010/main" val="2548216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B42BE6-3466-4557-B34C-8622FC77854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8B61B2-210C-436D-B450-C899D7E86F6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2ebf4cbdd144bc6"/>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0F9826B-D017-4CB8-91A3-BF87E1A31E0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3B1714-041D-4367-8065-4498AFF85A4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In this separate four-record example, remove one repeated C record and fill B with (20 + 24) / 2 = 22.</a:t>
            </a:r>
          </a:p>
        </p:txBody>
      </p:sp>
      <p:sp>
        <p:nvSpPr>
          <p:cNvPr id="6" name="">
            <a:extLst xmlns:a="http://schemas.openxmlformats.org/drawingml/2006/main">
              <a:ext uri="{FF2B5EF4-FFF2-40B4-BE49-F238E27FC236}">
                <a16:creationId xmlns:a16="http://schemas.microsoft.com/office/drawing/2014/main" id="{42E2F6CF-EAC2-4590-8D4F-7B86523683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14</a:t>
            </a:r>
          </a:p>
        </p:txBody>
      </p:sp>
    </p:spTree>
    <p:extLst>
      <p:ext uri="{BB962C8B-B14F-4D97-AF65-F5344CB8AC3E}">
        <p14:creationId xmlns:p14="http://schemas.microsoft.com/office/powerpoint/2010/main" val="74508143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B2BF8F6-9BE6-4201-98EC-658FA43BC4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48457E-7372-4444-823C-F17BDA4FF7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64053DA-1661-41D8-BF25-41DF6FFE98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47C84FFC-42D3-4D40-B3F4-AF35DA9A9B1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8530BC-A4C0-4F74-B519-9871DE59B79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19EC4BCF-884C-4102-B3A8-83875BC522E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16F4D75-4DBB-4E0A-8011-8E0A5DE0920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BC707C6-97BF-44A1-9BB7-F6E907219DB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4084BF01-156C-4CBD-927E-4E2753E7060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62412766-87F3-4D72-BFD1-391FD6688B7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E0C1522A-794C-43DC-A74F-5E35521EC6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15</a:t>
            </a:r>
          </a:p>
        </p:txBody>
      </p:sp>
    </p:spTree>
    <p:extLst>
      <p:ext uri="{BB962C8B-B14F-4D97-AF65-F5344CB8AC3E}">
        <p14:creationId xmlns:p14="http://schemas.microsoft.com/office/powerpoint/2010/main" val="202942175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7022DF-DCBF-46E0-90D6-E08A1275A4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04AF33-B68B-4DD6-AE79-BF50F4E594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9398587-1ACD-484D-9981-C56CEA0B86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3F0609B-8DA0-400E-97EA-8DEC554E735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1D11CB3A-3134-4FB8-A8F1-3FA52A7A9E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16</a:t>
            </a:r>
          </a:p>
        </p:txBody>
      </p:sp>
    </p:spTree>
    <p:extLst>
      <p:ext uri="{BB962C8B-B14F-4D97-AF65-F5344CB8AC3E}">
        <p14:creationId xmlns:p14="http://schemas.microsoft.com/office/powerpoint/2010/main" val="158181582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836002-8BF8-4333-B663-DB50CFDE06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F5B6F3-3FE1-4A7F-AF4C-511385D8C8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71A0A24-1B8E-421F-94DF-E358BF3079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CFBFBA3B-3720-4E3C-B16B-6AAFA31634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4BF80B-CCC3-4F2F-AF7A-B3D84571789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290C7C73-3A63-4B01-8981-C1849D5B62B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9D85DDB5-D9DE-424A-927B-A0FDBB5C3B4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AA4520A-D434-4704-A396-1933AEE5D4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17</a:t>
            </a:r>
          </a:p>
        </p:txBody>
      </p:sp>
    </p:spTree>
    <p:extLst>
      <p:ext uri="{BB962C8B-B14F-4D97-AF65-F5344CB8AC3E}">
        <p14:creationId xmlns:p14="http://schemas.microsoft.com/office/powerpoint/2010/main" val="189533405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CBD59E3-FC32-43AB-9593-17B49A46B4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1BD22F-DA57-407B-B009-5549E73E0C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0312C8A-03D5-4700-8FA6-51C5C28F45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3E9B5870-5027-426F-B374-00542EE718C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585674-A0FE-40F3-81E8-309BC3DAAAF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4CC6BEBA-115E-4A86-A2A8-752D111BA47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AF9D237-ED82-4660-9527-4C95DD6B995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D9B5BE99-AEA0-4B17-971E-EA31941135D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718B0EC5-B81D-441D-990B-BA25B07A08D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88D5629F-D6A3-46AC-B103-9663BFC94AA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5CC37E00-1013-4EB6-BC64-8C0CFD74D8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18</a:t>
            </a:r>
          </a:p>
        </p:txBody>
      </p:sp>
    </p:spTree>
    <p:extLst>
      <p:ext uri="{BB962C8B-B14F-4D97-AF65-F5344CB8AC3E}">
        <p14:creationId xmlns:p14="http://schemas.microsoft.com/office/powerpoint/2010/main" val="13759777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042DF0-FD46-4517-A939-5CAE2B9AD7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ADE3A0-15E1-462C-9433-98C5AE3799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12B3EC-02CD-4FF9-A5F3-F2E033DB22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BBE293CC-0A77-40A7-A7CC-8054DA252BC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07FC36-23D9-491B-BF9C-9AA4F4D979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2463017E-C19A-434D-A6BA-B10B3E0C6F4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A7CB13-941B-4BC4-B50B-C3DE81E2BA8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06CA61CE-982C-429B-8573-F86792DB60E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A59B57-CAD2-4B73-907D-8C2410DA595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E41C0CAC-A4DB-45AE-9253-405AF71EAE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19</a:t>
            </a:r>
          </a:p>
        </p:txBody>
      </p:sp>
    </p:spTree>
    <p:extLst>
      <p:ext uri="{BB962C8B-B14F-4D97-AF65-F5344CB8AC3E}">
        <p14:creationId xmlns:p14="http://schemas.microsoft.com/office/powerpoint/2010/main" val="91079055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CFFC8C2-92C0-4431-A462-5EBD51F51B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805728-7544-4775-83AA-4EDE31A001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95C1A0-124F-4A1C-B853-1D06C31D53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D02C3CCD-0EAB-422E-A594-7DB07FB6D27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85E7B1-7209-460A-B1F8-244BB993084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34762954-094F-41CD-B4DC-285D5FE179F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BE4CFDB-659C-4717-83FD-5F76E996743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D7A02A85-EC98-450C-AB2F-D74EF2D877F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46402363-96A4-41D8-BC49-55D33CD5D84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0AA35323-0C87-41D3-9D82-74E40AB8636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2C977EAD-39A3-41F3-922B-86E859AD16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20</a:t>
            </a:r>
          </a:p>
        </p:txBody>
      </p:sp>
    </p:spTree>
    <p:extLst>
      <p:ext uri="{BB962C8B-B14F-4D97-AF65-F5344CB8AC3E}">
        <p14:creationId xmlns:p14="http://schemas.microsoft.com/office/powerpoint/2010/main" val="188501775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295BAE-5961-406C-8BA1-C26FA927C6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2B3D41-7913-4BCB-B66F-6C1D4A7C17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34B024-90AE-4842-B79C-4CBBE4B45D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C04C5F15-BF21-42B8-A639-8C8A76570D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416081-449F-4876-8661-A2EF62BCB86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83C83CD4-6C2D-4374-A51E-36DC98ABC1A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1C5BB7-DC30-47B6-86CC-CB2869FD424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AB20B8CD-F2A2-4FDC-B3FA-816DCE85370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661C9F-33FC-4D70-8B85-19741273EA7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9C881B28-2B9B-4EDE-870A-676D1010A0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21</a:t>
            </a:r>
          </a:p>
        </p:txBody>
      </p:sp>
    </p:spTree>
    <p:extLst>
      <p:ext uri="{BB962C8B-B14F-4D97-AF65-F5344CB8AC3E}">
        <p14:creationId xmlns:p14="http://schemas.microsoft.com/office/powerpoint/2010/main" val="39686365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F10DC1B-80FC-46DA-9F6E-9350CAD275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AA3E70-FFDD-42EF-A610-5003F5E344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53BF630-5C13-4CE9-91A2-93BE1BD69C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08363A1D-DC65-4B0D-B7B8-7434F5255E1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DCC86A-CDDA-4992-AF26-3986B03A575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F7F49438-4437-4201-ABF5-80BB18604B3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5F9E53-31A8-4E2A-B7FD-A45DF17C0E2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1FF4487D-0A43-49BE-B8BA-FA94A74D363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AF840BFC-8424-4509-A93F-5BB393948E2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EDA4D226-FCB2-4681-8C12-C47759818BF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C53ED0E-CD4A-4C06-BDAC-6F9C9AF5DD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22</a:t>
            </a:r>
          </a:p>
        </p:txBody>
      </p:sp>
    </p:spTree>
    <p:extLst>
      <p:ext uri="{BB962C8B-B14F-4D97-AF65-F5344CB8AC3E}">
        <p14:creationId xmlns:p14="http://schemas.microsoft.com/office/powerpoint/2010/main" val="205861228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6BA079-56B7-4BBC-BC54-E784DA72D9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1C124D-8459-4571-95A1-EE034E13C5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E0A5B9F-8884-4847-948D-2D143E2215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34AE4A0B-0DAB-40CD-A188-AE744EC01DC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F4C420-AAC6-4260-86F3-B2B1953BC76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5FDEEFA7-6E7F-4DA3-B715-8D62491CC3D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BD859A6D-9968-4DFA-9D0B-29311CCA3A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23</a:t>
            </a:r>
          </a:p>
        </p:txBody>
      </p:sp>
    </p:spTree>
    <p:extLst>
      <p:ext uri="{BB962C8B-B14F-4D97-AF65-F5344CB8AC3E}">
        <p14:creationId xmlns:p14="http://schemas.microsoft.com/office/powerpoint/2010/main" val="1165717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690E59-D766-42D8-A47A-2707715C08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78B74F-74E2-46B2-9F0C-EB663541C9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0048C7-2E3C-4482-96E4-E93711B3BA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F8388888-2A61-462A-84A4-FBCCA26059C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DE645E6-6E12-4995-B745-47B38E2CC2A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A768A178-7882-4BFE-8BF9-C0AF816BEB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A0C6A3-D228-491C-B6BD-FBC1C21033A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A1A83AAB-4D39-4EF5-ADEB-570729969C0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F404BA3-EF03-45D8-8B1A-42A75B3A863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A761A768-C48B-44E3-9A26-2C45B04081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24</a:t>
            </a:r>
          </a:p>
        </p:txBody>
      </p:sp>
    </p:spTree>
    <p:extLst>
      <p:ext uri="{BB962C8B-B14F-4D97-AF65-F5344CB8AC3E}">
        <p14:creationId xmlns:p14="http://schemas.microsoft.com/office/powerpoint/2010/main" val="208271847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9A247B8-B5B0-43C9-9852-C21D41B29A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5D55D7-7C48-4A82-B792-2B5CC9082E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6DC3AD8-87CD-44AA-ACAD-5DFCE0DF22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0652DDA3-56C6-4D6C-98E7-5991688CD78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A00389-8C58-4828-894A-39F996DB602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0247E6A1-07D3-435A-AB14-31BC22ECA7C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F88316A6-C3D4-4E90-B85F-CD54AF51F0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25</a:t>
            </a:r>
          </a:p>
        </p:txBody>
      </p:sp>
    </p:spTree>
    <p:extLst>
      <p:ext uri="{BB962C8B-B14F-4D97-AF65-F5344CB8AC3E}">
        <p14:creationId xmlns:p14="http://schemas.microsoft.com/office/powerpoint/2010/main" val="86790006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B76B73-CF22-4201-8C13-99E8C42279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F46FB2-3999-4591-93EC-06908E915A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724200-2CA5-467A-B920-D413913429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4604F1BE-BB85-4C39-9750-8492F170BF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592BAB-3E96-4350-97D6-9D03B4ADDE6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31208B34-0FFC-4F5C-97F7-89DB2BD53B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A57301-B282-4AD1-9989-C2F48BEDBCB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013BB74B-2F1A-416B-B339-E3CA504119E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64AAA4-7C26-42C0-A5E5-4609646B3D0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C7796093-DF18-410A-A888-9364DF6931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26</a:t>
            </a:r>
          </a:p>
        </p:txBody>
      </p:sp>
    </p:spTree>
    <p:extLst>
      <p:ext uri="{BB962C8B-B14F-4D97-AF65-F5344CB8AC3E}">
        <p14:creationId xmlns:p14="http://schemas.microsoft.com/office/powerpoint/2010/main" val="172401416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67A396-5B95-4C96-B126-423AE9610F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30579C-5EF5-4CA0-A66B-0B45A5789C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83061E0-19F0-4515-8C8D-40345EFC54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7C797406-9E76-41A4-B5E6-1273614C99C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FBE1E1-0243-4B83-BA15-B735EADB5A2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3E0B23F2-3BBA-4E73-94BE-500207C7FE5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D06C9C23-C4AD-47BF-9396-C2C35EA15CF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80AA68C-E86A-4C43-A28B-5DD8729C901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C8BAB8EB-684B-45EE-BB5A-808CDBF3288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12AF9024-3976-41A2-8888-EC360CD0B0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27</a:t>
            </a:r>
          </a:p>
        </p:txBody>
      </p:sp>
    </p:spTree>
    <p:extLst>
      <p:ext uri="{BB962C8B-B14F-4D97-AF65-F5344CB8AC3E}">
        <p14:creationId xmlns:p14="http://schemas.microsoft.com/office/powerpoint/2010/main" val="92347795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E5DBCF-BC77-4729-BCE8-86196CB0FFF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3BDA65-E6D8-4448-9C57-72929DDACE7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028fe395c0f4b7d"/>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0EDA9F2-337D-4231-B459-3E67ECA3907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1113DE-2297-416F-8231-34D3732BEAA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32C05CF1-FFFB-4692-BD60-3F94AE76B1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28</a:t>
            </a:r>
          </a:p>
        </p:txBody>
      </p:sp>
    </p:spTree>
    <p:extLst>
      <p:ext uri="{BB962C8B-B14F-4D97-AF65-F5344CB8AC3E}">
        <p14:creationId xmlns:p14="http://schemas.microsoft.com/office/powerpoint/2010/main" val="60337456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181A0F-28A5-48F2-A880-2E8FD6F6F1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ED6CA4-AE59-40FD-A4B4-842BB6FBA3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20B2AE-09C4-4053-83E5-B2C75A0CF9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73A229A7-860A-4059-A1F3-6521C7BCA2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185E6A-7965-4064-8D73-E3226D15632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is a plotting library. plt is the short name we give its pyplot module.</a:t>
            </a:r>
          </a:p>
        </p:txBody>
      </p:sp>
      <p:sp>
        <p:nvSpPr>
          <p:cNvPr id="6" name="">
            <a:extLst xmlns:a="http://schemas.openxmlformats.org/drawingml/2006/main">
              <a:ext uri="{FF2B5EF4-FFF2-40B4-BE49-F238E27FC236}">
                <a16:creationId xmlns:a16="http://schemas.microsoft.com/office/drawing/2014/main" id="{3DFAC4E0-9F95-4C0B-A4A0-5B5FD826CE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DDE406-B9EB-4B6E-94BB-0D1E7E6D39C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fig, ax = plt.subplots() returns two objects: fig is the whole figure; ax is its plotting area. scatter places the paired measurements as points.</a:t>
            </a:r>
          </a:p>
        </p:txBody>
      </p:sp>
      <p:sp>
        <p:nvSpPr>
          <p:cNvPr id="8" name="">
            <a:extLst xmlns:a="http://schemas.openxmlformats.org/drawingml/2006/main">
              <a:ext uri="{FF2B5EF4-FFF2-40B4-BE49-F238E27FC236}">
                <a16:creationId xmlns:a16="http://schemas.microsoft.com/office/drawing/2014/main" id="{B2D9B065-DB16-4939-9D7E-9C7EE7FE10D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BE2C4B-7840-4CFD-9911-205988079CF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ax.set_xlabel(...) labels the horizontal axis. set_ylabel labels the vertical axis. Keep fig when the task asks you to return a Figure object.</a:t>
            </a:r>
          </a:p>
        </p:txBody>
      </p:sp>
      <p:sp>
        <p:nvSpPr>
          <p:cNvPr id="10" name="">
            <a:extLst xmlns:a="http://schemas.openxmlformats.org/drawingml/2006/main">
              <a:ext uri="{FF2B5EF4-FFF2-40B4-BE49-F238E27FC236}">
                <a16:creationId xmlns:a16="http://schemas.microsoft.com/office/drawing/2014/main" id="{734821A2-5145-4407-B87E-AA355F0565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29</a:t>
            </a:r>
          </a:p>
        </p:txBody>
      </p:sp>
    </p:spTree>
    <p:extLst>
      <p:ext uri="{BB962C8B-B14F-4D97-AF65-F5344CB8AC3E}">
        <p14:creationId xmlns:p14="http://schemas.microsoft.com/office/powerpoint/2010/main" val="122417784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2C60D5E-0A59-4ECB-A5EE-E666C61CAD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BC3E90-1321-4A88-AAF3-8B90B11B27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B9509F-6214-41D4-B972-61A739B857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F74C994B-28D7-4ECD-B6AC-342A54FE1FD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E89000-E211-464C-918F-D03152CA65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B4C37580-4C0E-488C-A502-82EDE2EE861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D30ED94-6E10-4657-9A31-1EFA244E1E8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6B86974D-170A-418C-8346-44711696B34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1060AE81-C055-4782-9029-AD591FE6836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039F1850-FC10-4F3A-8AFC-285C41112DF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3A3EF0C5-34AA-4C54-ACE6-91C2CEC974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30</a:t>
            </a:r>
          </a:p>
        </p:txBody>
      </p:sp>
    </p:spTree>
    <p:extLst>
      <p:ext uri="{BB962C8B-B14F-4D97-AF65-F5344CB8AC3E}">
        <p14:creationId xmlns:p14="http://schemas.microsoft.com/office/powerpoint/2010/main" val="186639719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C28F2FD-6FB5-4141-BF8D-BDD22044A0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72A403-7AD5-4909-A3E2-045D09A3A0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C2F07A0-F128-4624-A0A3-B4CEC6C9EB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1C79C04D-E7F4-4FCB-AA28-9A81539E941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1F4F5B3-BE80-4630-AB95-ADB4E756ABC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D1C78C2D-8BA0-4DA2-BBF9-61AC8B3F518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9A0BB2-DC39-41C1-9722-FFF2086E189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9640EB04-3BAA-4C99-9F04-0DA7C35C786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DAD8538-2300-42F5-BD9C-4D2EC3AEA6A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855A2636-B512-4A03-9678-5D7D6B2CAE6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0F4394-2DC7-4C43-B145-02B421BA6D2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51B62574-E1F0-4286-83C0-5D78785E3C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31</a:t>
            </a:r>
          </a:p>
        </p:txBody>
      </p:sp>
    </p:spTree>
    <p:extLst>
      <p:ext uri="{BB962C8B-B14F-4D97-AF65-F5344CB8AC3E}">
        <p14:creationId xmlns:p14="http://schemas.microsoft.com/office/powerpoint/2010/main" val="42932594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A5069E-7D3F-434B-9A1E-25D0498AB3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369456-588E-4EA8-A61F-0D795F0A26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606A7EA-34DB-4605-9345-5808B5E48D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98EBEB17-497A-435E-B4F3-EB8663378F4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4890B9-1527-4D8A-B92D-9EC46ADF6BB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47A38E90-3EB3-4764-A366-6FCF90EE84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9D39AAA7-0339-4909-B0DA-03FF5B3912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3AA814D-DB07-47F7-B780-84D36B5EB7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32</a:t>
            </a:r>
          </a:p>
        </p:txBody>
      </p:sp>
    </p:spTree>
    <p:extLst>
      <p:ext uri="{BB962C8B-B14F-4D97-AF65-F5344CB8AC3E}">
        <p14:creationId xmlns:p14="http://schemas.microsoft.com/office/powerpoint/2010/main" val="79086353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4A26C20-D987-4151-87A3-73CF240124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D28768-3BC2-49DA-AE07-9AF112DF5E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A5E6714-20BA-4583-B8E6-B9291E90F3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3B8E3FDC-E52D-4641-973B-FDEE4AF4CA3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2DB324-9943-4569-A70E-63F36E6422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D0F010FC-D4D4-4FFE-955D-80FBBE94C0E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D9137784-A655-4D88-9DAE-D39EA66A325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092B8F3D-1055-476C-A6EF-2DAFC131C5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33</a:t>
            </a:r>
          </a:p>
        </p:txBody>
      </p:sp>
    </p:spTree>
    <p:extLst>
      <p:ext uri="{BB962C8B-B14F-4D97-AF65-F5344CB8AC3E}">
        <p14:creationId xmlns:p14="http://schemas.microsoft.com/office/powerpoint/2010/main" val="44061525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103C56-7E7F-49DF-AE5A-7ABED6B4E6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2CD743-77FC-4857-B0D2-F367B83924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2FC151-8D3B-458A-BD34-F15D032C2D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D0F3DB45-76FC-4054-9A32-E631C1EADAD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575ACF-683B-4F4A-83EB-5E7D360AB03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2251628-46D0-4322-94A1-0BF03E19CA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Explain why 80 was retained. Replace 24 with 26, predict the new fill value, and check that cleaning still leaves raw unchanged.</a:t>
            </a:r>
          </a:p>
        </p:txBody>
      </p:sp>
      <p:sp>
        <p:nvSpPr>
          <p:cNvPr id="7" name="">
            <a:extLst xmlns:a="http://schemas.openxmlformats.org/drawingml/2006/main">
              <a:ext uri="{FF2B5EF4-FFF2-40B4-BE49-F238E27FC236}">
                <a16:creationId xmlns:a16="http://schemas.microsoft.com/office/drawing/2014/main" id="{DA7F560F-F0E8-4E73-BA88-0508585E60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An unusual value alone does not prove an error. The task did not authorize deleting 80. With 26 replacing 24, the middle known values are 22 and 26, so the new fill is 24. The raw list still contains None.</a:t>
            </a:r>
          </a:p>
        </p:txBody>
      </p:sp>
      <p:sp>
        <p:nvSpPr>
          <p:cNvPr id="8" name="">
            <a:extLst xmlns:a="http://schemas.openxmlformats.org/drawingml/2006/main">
              <a:ext uri="{FF2B5EF4-FFF2-40B4-BE49-F238E27FC236}">
                <a16:creationId xmlns:a16="http://schemas.microsoft.com/office/drawing/2014/main" id="{2EC92C7D-344E-45CF-9E3E-FD572296AC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34</a:t>
            </a:r>
          </a:p>
        </p:txBody>
      </p:sp>
    </p:spTree>
    <p:extLst>
      <p:ext uri="{BB962C8B-B14F-4D97-AF65-F5344CB8AC3E}">
        <p14:creationId xmlns:p14="http://schemas.microsoft.com/office/powerpoint/2010/main" val="64785130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628CC8B-80FC-4A61-A5CE-7B0A54F391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C51F40-7D0F-4626-8B6A-0F3C76BB15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A9F4432-058B-4532-A75A-5709B72206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119E76F5-0BFE-4135-BDE3-E7ECA4E60A2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4045A6-4CC7-4F9B-AAA2-DC0CA35B0DB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F44119F6-F679-4369-AAF9-BA0A030D283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FDD0AC9-51CC-4AE2-9568-DA7BEF2D457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75ACD694-6607-47A0-9A15-AF4F2C9F1D3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4C0647B3-1D92-4E6B-9D9C-AF3587488A9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D10FB63A-59D6-4669-8062-35F185B7F13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E5959AF7-19B4-429B-AC01-8CE2DC0705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35</a:t>
            </a:r>
          </a:p>
        </p:txBody>
      </p:sp>
    </p:spTree>
    <p:extLst>
      <p:ext uri="{BB962C8B-B14F-4D97-AF65-F5344CB8AC3E}">
        <p14:creationId xmlns:p14="http://schemas.microsoft.com/office/powerpoint/2010/main" val="70005841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77D6D89-B2B9-422B-B9F5-3F0CC7E1A4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ECEBEB-2E81-47AB-B973-4848403301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E5AEDCC-37D0-4142-85AE-8D6C1C9D91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2536511D-66BF-432C-B2CC-D2631E62FC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5E209E5-B689-422E-A1F2-7D0B0BC5927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9531AF47-FFD1-47C2-BBD8-C89BCB4619B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D803774-34EB-4C36-A6F7-20F37AB6F60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5F029045-A285-4FC2-AFF7-A182A3F8AFB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C018BA-F5E3-45AE-BAB7-EBD12D3DB06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B8ADAF59-54E1-41F2-872C-E8AD89C65EB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707C08-3572-45BC-AD42-A09EF0D3273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162DA963-59EB-4F65-B21C-9389BD3EE9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36</a:t>
            </a:r>
          </a:p>
        </p:txBody>
      </p:sp>
    </p:spTree>
    <p:extLst>
      <p:ext uri="{BB962C8B-B14F-4D97-AF65-F5344CB8AC3E}">
        <p14:creationId xmlns:p14="http://schemas.microsoft.com/office/powerpoint/2010/main" val="131868787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10E8F48-536E-45CD-ADCD-96442089F8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35DB71-D5D2-4154-B274-88A6466467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97BCDE-BA57-4800-9070-0B9C7B033E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0CC3FAC7-DEC3-441E-8779-522CE8FF8D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8EF851-86F1-4F65-8D9F-CD9C7307D03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xmlns:a="http://schemas.openxmlformats.org/drawingml/2006/main">
              <a:ext uri="{FF2B5EF4-FFF2-40B4-BE49-F238E27FC236}">
                <a16:creationId xmlns:a16="http://schemas.microsoft.com/office/drawing/2014/main" id="{D0E0B8A6-A6C9-49AA-BCA7-454D235C90E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8ABA44-167D-4C41-B788-11CFED3D9F2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xmlns:a="http://schemas.openxmlformats.org/drawingml/2006/main">
              <a:ext uri="{FF2B5EF4-FFF2-40B4-BE49-F238E27FC236}">
                <a16:creationId xmlns:a16="http://schemas.microsoft.com/office/drawing/2014/main" id="{7F5037A6-D30D-41D3-944F-EBE405F864F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C06035-B25A-4870-836D-1109519B67C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written evidence belongs in My written evidence, not in code comments.</a:t>
            </a:r>
          </a:p>
        </p:txBody>
      </p:sp>
      <p:sp>
        <p:nvSpPr>
          <p:cNvPr id="10" name="">
            <a:extLst xmlns:a="http://schemas.openxmlformats.org/drawingml/2006/main">
              <a:ext uri="{FF2B5EF4-FFF2-40B4-BE49-F238E27FC236}">
                <a16:creationId xmlns:a16="http://schemas.microsoft.com/office/drawing/2014/main" id="{19864454-1DBB-4429-B850-3981442642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37</a:t>
            </a:r>
          </a:p>
        </p:txBody>
      </p:sp>
    </p:spTree>
    <p:extLst>
      <p:ext uri="{BB962C8B-B14F-4D97-AF65-F5344CB8AC3E}">
        <p14:creationId xmlns:p14="http://schemas.microsoft.com/office/powerpoint/2010/main" val="135393086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E0EF143-0B8D-4D1F-A170-D3DB525060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22AA83-BF5E-4715-9557-BE9DDC70BC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3395A1-6A64-4457-9581-72EF8FBD05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B4A79A75-FABE-479B-93B3-01DEA16821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3D0AC1-B94C-49C5-BA49-3DF18369E1D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4D8CFD27-E01D-4A85-8815-7138B199D82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F3EBAC-6D40-4431-8918-8FFFE42DF59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79B19435-6B39-4B1A-847D-2A00ECD6240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1B7180-7390-4218-8716-379EA89CFA5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56FEF05F-DF99-4178-BD39-20A47E13639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BC6F1B-A173-4115-865F-DFB86CDA5CE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839E9753-FFBC-41AE-88E9-6B706220ED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38</a:t>
            </a:r>
          </a:p>
        </p:txBody>
      </p:sp>
    </p:spTree>
    <p:extLst>
      <p:ext uri="{BB962C8B-B14F-4D97-AF65-F5344CB8AC3E}">
        <p14:creationId xmlns:p14="http://schemas.microsoft.com/office/powerpoint/2010/main" val="170802047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31B7F7-ED0D-4013-86DE-01D2802B55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D8762E-EF97-464A-8ACB-E5361514B5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BC76C3-4076-4E31-A965-382470AD1C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B85DF44A-AF16-4B6E-B05E-6DB630026D1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9DD348-05AB-436A-97CC-A02C2C94D69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379BDE-BE5B-4F2F-BBBB-A332947EC97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EF20A029-A0D7-42F4-A288-E25D6CF5041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C8F02150-4474-466A-ABDF-D295E6FD96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39</a:t>
            </a:r>
          </a:p>
        </p:txBody>
      </p:sp>
    </p:spTree>
    <p:extLst>
      <p:ext uri="{BB962C8B-B14F-4D97-AF65-F5344CB8AC3E}">
        <p14:creationId xmlns:p14="http://schemas.microsoft.com/office/powerpoint/2010/main" val="122461004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0A5996D-A621-49E7-A3D6-13F54DA471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B992D2-A51E-4C02-8598-32539C0193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D64B966-DDCE-42A8-BE40-7040C52DC5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8FCA7100-90DB-40BB-9145-363337B7BA3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AE12E5-8337-44D8-A34E-1BFE7E8CDEA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EBD57CFE-6071-47D6-8ED9-3399F6061E4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878B90-50FF-4611-B47D-2911882ABEF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DCEB12F7-F6AB-4A20-923D-BC810B9222E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94FBE5-7DE4-4A96-A92C-85A926E0962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6D9E9F3A-F186-4153-8844-D8E1FC58D93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0CE6CEC-6FA3-47C6-B705-298C550FEC6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CDF6ACCC-BD36-4BCE-A909-3421433D76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40</a:t>
            </a:r>
          </a:p>
        </p:txBody>
      </p:sp>
    </p:spTree>
    <p:extLst>
      <p:ext uri="{BB962C8B-B14F-4D97-AF65-F5344CB8AC3E}">
        <p14:creationId xmlns:p14="http://schemas.microsoft.com/office/powerpoint/2010/main" val="144017995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FE93A4-6EBF-4B29-B451-E9AB49122B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A23503-9B5B-41A3-B575-F2452D0EAD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330FB89-499B-4D3C-A4E5-38CFA1A27C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7EB934EF-8EA2-461B-B0B3-AB46F1612CD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A0C1A5-2D06-42B7-89AB-D388BC89F14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A71CDB9A-214F-48C5-A0BC-0255B7C8FC0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4C3BEFD-DF17-4A7E-9D12-B6AB47459ED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85AB7D9-0D7C-4EE9-86FA-A7D03B0E87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41</a:t>
            </a:r>
          </a:p>
        </p:txBody>
      </p:sp>
    </p:spTree>
    <p:extLst>
      <p:ext uri="{BB962C8B-B14F-4D97-AF65-F5344CB8AC3E}">
        <p14:creationId xmlns:p14="http://schemas.microsoft.com/office/powerpoint/2010/main" val="23557840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DAB0D2-52CF-40A2-9194-241D94850E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30FA6A-EEE1-45D0-AADF-93CF1940FA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9B0E3EB-C62B-41B0-BAA9-AC929D5E65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9C427257-1EC7-4979-B040-2C1C1A94DE0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D4D344-CF62-488E-B1C5-82437930C4F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1DAF67B4-2859-45C2-BE2A-08AB993575A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6B7D9A1-85EF-4B64-90D6-415ED3E3E27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1BB130B-3FFA-4EE1-BBF4-DB8E40951D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42</a:t>
            </a:r>
          </a:p>
        </p:txBody>
      </p:sp>
    </p:spTree>
    <p:extLst>
      <p:ext uri="{BB962C8B-B14F-4D97-AF65-F5344CB8AC3E}">
        <p14:creationId xmlns:p14="http://schemas.microsoft.com/office/powerpoint/2010/main" val="91355439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FBFC41-5F64-4F52-8CCF-600972D193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29D1C0-5D53-49EF-9F35-057E9BAB82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9CE0BEF-1778-41CE-B632-73E3149B0B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BFA19D8D-BFFE-451B-BC17-2C40FF37C67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5E41E1-AB8F-4D36-B769-A6D4D64082B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9B4969CB-81DD-42F9-B38E-EF02C93F3E9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3B1FE25-0880-45A5-8874-B90453FEA21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CC6FD62-F354-4E4A-BBC8-A1CFE15DA0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43</a:t>
            </a:r>
          </a:p>
        </p:txBody>
      </p:sp>
    </p:spTree>
    <p:extLst>
      <p:ext uri="{BB962C8B-B14F-4D97-AF65-F5344CB8AC3E}">
        <p14:creationId xmlns:p14="http://schemas.microsoft.com/office/powerpoint/2010/main" val="116600421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68F5F87-43EB-4FC1-80F7-6B7C8744BD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F702FE-C030-469F-BF2D-125D798BFE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2290D65-9EC4-468B-A1DD-0BB36BF7F4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9F41EBBE-AAB2-4071-B80F-6D7255738E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BD37BE-CF84-49ED-A0BF-07E5E5DCB7A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C6B69271-59DB-4984-A579-259F66A7CE3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FB741B-80B3-4680-A61D-B17945D9C20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6624D24-4BAD-42BC-8A86-938DE35BA3E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FAC450-ADF4-4F1A-B411-D5676BF1303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9C49B31E-DD20-4E02-A18E-7FBB64ACB3B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08EFBD8-2B5D-4CFC-80C6-D77B3063A16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B2E601F1-670E-43F2-B6FE-8484D724F1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44</a:t>
            </a:r>
          </a:p>
        </p:txBody>
      </p:sp>
    </p:spTree>
    <p:extLst>
      <p:ext uri="{BB962C8B-B14F-4D97-AF65-F5344CB8AC3E}">
        <p14:creationId xmlns:p14="http://schemas.microsoft.com/office/powerpoint/2010/main" val="86495005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D24389F-11DF-4DE0-950A-6A53A6C204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D32E75-27D8-4111-9480-C551DA8A3B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55A6B51-749C-4043-A22F-81B64FE507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4E291A4E-2AF0-41E7-A624-CC49A491DE1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8F2154-6161-4AAE-A64B-1EB96CE4600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16 Oct 2026, 08:00 Kampala</a:t>
            </a:r>
          </a:p>
        </p:txBody>
      </p:sp>
      <p:sp>
        <p:nvSpPr>
          <p:cNvPr id="6" name="">
            <a:extLst xmlns:a="http://schemas.openxmlformats.org/drawingml/2006/main">
              <a:ext uri="{FF2B5EF4-FFF2-40B4-BE49-F238E27FC236}">
                <a16:creationId xmlns:a16="http://schemas.microsoft.com/office/drawing/2014/main" id="{D235AAC4-0D7B-431A-9331-E0933344B22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326A64-BC9A-4FE2-AF28-B3DD78FAA87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23 Oct 2026, 08:00 Kampala</a:t>
            </a:r>
          </a:p>
        </p:txBody>
      </p:sp>
      <p:sp>
        <p:nvSpPr>
          <p:cNvPr id="8" name="">
            <a:extLst xmlns:a="http://schemas.openxmlformats.org/drawingml/2006/main">
              <a:ext uri="{FF2B5EF4-FFF2-40B4-BE49-F238E27FC236}">
                <a16:creationId xmlns:a16="http://schemas.microsoft.com/office/drawing/2014/main" id="{4286371D-4860-4EEF-932B-F101893798D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79EBA7-3BE1-4003-BA9F-410EBC8165C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1786F78-5D68-44E2-95BC-46D2E03B214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B297234-EBB7-4D37-8954-666C1F790AA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3B31167-5AC2-4E0D-A6DD-844560B5B92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B6BCD7C-DD84-4E73-A084-83D1C789E2D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3034a6c5e7742ee"/>
              </a:rPr>
              <a:t>Open W06 assignment form</a:t>
            </a:r>
          </a:p>
        </p:txBody>
      </p:sp>
      <p:sp>
        <p:nvSpPr>
          <p:cNvPr id="14" name="">
            <a:extLst xmlns:a="http://schemas.openxmlformats.org/drawingml/2006/main">
              <a:ext uri="{FF2B5EF4-FFF2-40B4-BE49-F238E27FC236}">
                <a16:creationId xmlns:a16="http://schemas.microsoft.com/office/drawing/2014/main" id="{DC7F103E-5590-4576-82A6-3CD52CE1553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https://docs.google.com/forms/d/e/1FAIpQLSfTETySrIpbVK0xyJo7Zft9exWhC8kB0u4XRrbF8Vbm9Ajq7Q/viewform</a:t>
            </a:r>
          </a:p>
        </p:txBody>
      </p:sp>
      <p:sp>
        <p:nvSpPr>
          <p:cNvPr id="15" name="">
            <a:extLst xmlns:a="http://schemas.openxmlformats.org/drawingml/2006/main">
              <a:ext uri="{FF2B5EF4-FFF2-40B4-BE49-F238E27FC236}">
                <a16:creationId xmlns:a16="http://schemas.microsoft.com/office/drawing/2014/main" id="{40A236EE-2FAC-4137-8EB6-9EDE3140D3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45</a:t>
            </a:r>
          </a:p>
        </p:txBody>
      </p:sp>
    </p:spTree>
    <p:extLst>
      <p:ext uri="{BB962C8B-B14F-4D97-AF65-F5344CB8AC3E}">
        <p14:creationId xmlns:p14="http://schemas.microsoft.com/office/powerpoint/2010/main" val="129189468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9DA968C-2334-4B15-B571-E899BC35B0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BCF2F2-3939-415A-B78A-244DDAADFC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7FF24F7-40B3-4948-A376-838A4077DC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8D7D6D12-CF1D-4F0A-BB0C-4E4C37DA79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A3B9C3-726F-4E28-895A-0F46F76CF46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DDDB4698-DB1D-4E10-8544-6D0B44BBE73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24BA3B-4613-43DF-B439-BD698F63EDB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45EE10BA-9AB6-4181-A9A8-10113FAE66C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92AEFB-929C-4A51-BC5D-5B0284137AC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F9301822-ED8D-4993-883F-A8F8ECD219A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1D9D1E-B7FD-4609-ADEE-8B4A632E3DE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08:00 Kampala</a:t>
            </a:r>
          </a:p>
        </p:txBody>
      </p:sp>
      <p:sp>
        <p:nvSpPr>
          <p:cNvPr id="12" name="">
            <a:extLst xmlns:a="http://schemas.openxmlformats.org/drawingml/2006/main">
              <a:ext uri="{FF2B5EF4-FFF2-40B4-BE49-F238E27FC236}">
                <a16:creationId xmlns:a16="http://schemas.microsoft.com/office/drawing/2014/main" id="{C7DA59B5-6427-4000-B39E-43906D895E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46</a:t>
            </a:r>
          </a:p>
        </p:txBody>
      </p:sp>
    </p:spTree>
    <p:extLst>
      <p:ext uri="{BB962C8B-B14F-4D97-AF65-F5344CB8AC3E}">
        <p14:creationId xmlns:p14="http://schemas.microsoft.com/office/powerpoint/2010/main" val="56145247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2023894-BABD-4F61-9214-4371CE6CD9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89B391-0231-4346-ACB1-F89C5ACDF3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B7A8BA85-8399-4027-9DD9-5C4AB74194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xmlns:a="http://schemas.openxmlformats.org/drawingml/2006/main">
              <a:ext uri="{FF2B5EF4-FFF2-40B4-BE49-F238E27FC236}">
                <a16:creationId xmlns:a16="http://schemas.microsoft.com/office/drawing/2014/main" id="{354905FA-32B1-4571-827F-43C574A1F4A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F29E4C-C133-4C60-A9A8-293628FD7E99}"/>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887A044-9D9E-4842-A250-EB3C4552AB8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2374A6F-018D-4668-A996-123F5525A1D2}"/>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677289C-3847-4D70-BC96-F7BC07289F6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6482DD6-1DF6-4546-BD98-7BF39A6F75D4}"/>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4856ED2B-0708-496B-9FF6-304AD207E4B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EA9BDA8-5E24-412C-AB62-525B56232398}"/>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3d91843ee5f3472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1228080-2056-40E0-BC02-9ECA4D53B0E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E2B3213E-4A56-487E-9EAD-7AA2F960CED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E8BA741-BB4A-493E-8FE6-562EF0E0264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96d089cdd454455"/>
              </a:rPr>
              <a:t>Open this week’s quiz</a:t>
            </a:r>
          </a:p>
        </p:txBody>
      </p:sp>
      <p:sp>
        <p:nvSpPr>
          <p:cNvPr id="16" name="">
            <a:extLst xmlns:a="http://schemas.openxmlformats.org/drawingml/2006/main">
              <a:ext uri="{FF2B5EF4-FFF2-40B4-BE49-F238E27FC236}">
                <a16:creationId xmlns:a16="http://schemas.microsoft.com/office/drawing/2014/main" id="{E9CA052E-3CC2-4219-BB09-F9935933B35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https://forms.gle/4SRNGRCUtUmKpTc1A</a:t>
            </a:r>
          </a:p>
        </p:txBody>
      </p:sp>
      <p:sp>
        <p:nvSpPr>
          <p:cNvPr id="17" name="">
            <a:extLst xmlns:a="http://schemas.openxmlformats.org/drawingml/2006/main">
              <a:ext uri="{FF2B5EF4-FFF2-40B4-BE49-F238E27FC236}">
                <a16:creationId xmlns:a16="http://schemas.microsoft.com/office/drawing/2014/main" id="{D30F4B44-A655-49CC-9E0F-19A40D5518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47</a:t>
            </a:r>
          </a:p>
        </p:txBody>
      </p:sp>
    </p:spTree>
    <p:extLst>
      <p:ext uri="{BB962C8B-B14F-4D97-AF65-F5344CB8AC3E}">
        <p14:creationId xmlns:p14="http://schemas.microsoft.com/office/powerpoint/2010/main" val="650304405"/>
      </p:ext>
    </p:extLst>
  </p:cSld>
</p:sld>
</file>

<file path=ppt/slides/slide4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A07BFBC-5F66-4B86-8136-038ED9D68D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57803F2-925D-44B6-995B-85DCF5BDD1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B445B715-9F2E-4070-A687-46D70173791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3F12557-A163-4184-99CD-537120FE9D3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7E8140FF-7F49-4491-9CD3-5578BE71875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B7B8C32B-2477-41BD-AF0A-CF413D3EAB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6   48</a:t>
            </a:r>
          </a:p>
        </p:txBody>
      </p:sp>
    </p:spTree>
    <p:extLst>
      <p:ext uri="{BB962C8B-B14F-4D97-AF65-F5344CB8AC3E}">
        <p14:creationId xmlns:p14="http://schemas.microsoft.com/office/powerpoint/2010/main" val="38958211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5FA3D6C-63D6-4228-9BB1-453BD68EDF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75F958-24EF-44BF-9919-FB86B3350C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04CD6088-48A2-4727-85DD-29596575E5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F6FA2D53-1E8E-48E7-BE42-72940032C75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0C9BA1-3836-4FF7-BCEF-00821BE3C0D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89C85DB9-F0F7-4F4F-A9A2-A12F43AEBB5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8FCC3E-2DDC-4E89-A9A4-BAC514F13C6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8" name="">
            <a:extLst xmlns:a="http://schemas.openxmlformats.org/drawingml/2006/main">
              <a:ext uri="{FF2B5EF4-FFF2-40B4-BE49-F238E27FC236}">
                <a16:creationId xmlns:a16="http://schemas.microsoft.com/office/drawing/2014/main" id="{E2F4452D-38D8-4D9C-92E8-B5F5102FBD3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0C83267-7DBA-425B-8D8D-3433771ECF2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697949A4-C4D3-469F-9AB1-6FDDFF13F97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B14079F-DD11-4223-A847-9790409AD87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2" name="">
            <a:extLst xmlns:a="http://schemas.openxmlformats.org/drawingml/2006/main">
              <a:ext uri="{FF2B5EF4-FFF2-40B4-BE49-F238E27FC236}">
                <a16:creationId xmlns:a16="http://schemas.microsoft.com/office/drawing/2014/main" id="{202D2828-BDF1-4640-8375-F3FDF128629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98C67D8-5948-4DCC-A9E0-B22D546817D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f19bc1d580541c8"/>
              </a:rPr>
              <a:t>Open explainer video</a:t>
            </a:r>
          </a:p>
        </p:txBody>
      </p:sp>
      <p:sp>
        <p:nvSpPr>
          <p:cNvPr id="14" name="">
            <a:extLst xmlns:a="http://schemas.openxmlformats.org/drawingml/2006/main">
              <a:ext uri="{FF2B5EF4-FFF2-40B4-BE49-F238E27FC236}">
                <a16:creationId xmlns:a16="http://schemas.microsoft.com/office/drawing/2014/main" id="{B31AAD27-DF9A-4936-8740-A1040D7417F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5" name="">
            <a:extLst xmlns:a="http://schemas.openxmlformats.org/drawingml/2006/main">
              <a:ext uri="{FF2B5EF4-FFF2-40B4-BE49-F238E27FC236}">
                <a16:creationId xmlns:a16="http://schemas.microsoft.com/office/drawing/2014/main" id="{1B02A2EC-A610-4C7C-93F9-2462BEC60E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49</a:t>
            </a:r>
          </a:p>
        </p:txBody>
      </p:sp>
    </p:spTree>
    <p:extLst>
      <p:ext uri="{BB962C8B-B14F-4D97-AF65-F5344CB8AC3E}">
        <p14:creationId xmlns:p14="http://schemas.microsoft.com/office/powerpoint/2010/main" val="20554413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2026-09-28T21:14:52.6050000Z</dcterms:created>
  <dcterms:modified xsi:type="dcterms:W3CDTF">2026-09-28T21:14:52.6050000Z</dcterms:modified>
</coreProperties>
</file>