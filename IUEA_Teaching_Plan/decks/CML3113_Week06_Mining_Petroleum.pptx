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5eaabbea3634345" Type="http://schemas.openxmlformats.org/officeDocument/2006/relationships/extended-properties" Target="docProps/app.xml"/><Relationship Id="Ra13a8f2b34ec4e45" Type="http://schemas.openxmlformats.org/officeDocument/2006/relationships/officeDocument" Target="ppt/presentation.xml"/><Relationship Id="Rd8a0737700204395"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48eeae5b81b449fe"/>
  </p:sldMasterIdLst>
  <p:notesMasterIdLst>
    <p:notesMasterId xmlns:r="http://schemas.openxmlformats.org/officeDocument/2006/relationships" r:id="Rcc2b434177b84fa9"/>
  </p:notesMasterIdLst>
  <p:sldIdLst>
    <p:sldId xmlns:r="http://schemas.openxmlformats.org/officeDocument/2006/relationships" id="256" r:id="Rbd88847bc4444978"/>
    <p:sldId xmlns:r="http://schemas.openxmlformats.org/officeDocument/2006/relationships" id="257" r:id="Rb27184190a0147a3"/>
    <p:sldId xmlns:r="http://schemas.openxmlformats.org/officeDocument/2006/relationships" id="258" r:id="Rbc8cc833c9cf49eb"/>
    <p:sldId xmlns:r="http://schemas.openxmlformats.org/officeDocument/2006/relationships" id="259" r:id="R76667f879e38464d"/>
    <p:sldId xmlns:r="http://schemas.openxmlformats.org/officeDocument/2006/relationships" id="260" r:id="R2d7789140be14697"/>
    <p:sldId xmlns:r="http://schemas.openxmlformats.org/officeDocument/2006/relationships" id="261" r:id="R0a9340bbc38b474c"/>
    <p:sldId xmlns:r="http://schemas.openxmlformats.org/officeDocument/2006/relationships" id="262" r:id="Rcf24474ef03b437f"/>
    <p:sldId xmlns:r="http://schemas.openxmlformats.org/officeDocument/2006/relationships" id="263" r:id="R08ddff186850493c"/>
    <p:sldId xmlns:r="http://schemas.openxmlformats.org/officeDocument/2006/relationships" id="264" r:id="Rab8d9c10de254253"/>
    <p:sldId xmlns:r="http://schemas.openxmlformats.org/officeDocument/2006/relationships" id="265" r:id="Red6fb0c589c040de"/>
    <p:sldId xmlns:r="http://schemas.openxmlformats.org/officeDocument/2006/relationships" id="266" r:id="Ra4c227972c674d56"/>
    <p:sldId xmlns:r="http://schemas.openxmlformats.org/officeDocument/2006/relationships" id="267" r:id="R4f382441134a4525"/>
    <p:sldId xmlns:r="http://schemas.openxmlformats.org/officeDocument/2006/relationships" id="268" r:id="R5984bf6042454299"/>
    <p:sldId xmlns:r="http://schemas.openxmlformats.org/officeDocument/2006/relationships" id="269" r:id="Rf85f37d9afca41c5"/>
    <p:sldId xmlns:r="http://schemas.openxmlformats.org/officeDocument/2006/relationships" id="270" r:id="Rc1833c5628b640fa"/>
    <p:sldId xmlns:r="http://schemas.openxmlformats.org/officeDocument/2006/relationships" id="271" r:id="R386432c9bd1c42b8"/>
    <p:sldId xmlns:r="http://schemas.openxmlformats.org/officeDocument/2006/relationships" id="272" r:id="R526868465e084605"/>
    <p:sldId xmlns:r="http://schemas.openxmlformats.org/officeDocument/2006/relationships" id="273" r:id="R550f9d6557b54b36"/>
    <p:sldId xmlns:r="http://schemas.openxmlformats.org/officeDocument/2006/relationships" id="274" r:id="R735d6299eb35447c"/>
    <p:sldId xmlns:r="http://schemas.openxmlformats.org/officeDocument/2006/relationships" id="275" r:id="R1091912ad5b14916"/>
    <p:sldId xmlns:r="http://schemas.openxmlformats.org/officeDocument/2006/relationships" id="276" r:id="Ra8450027ca9344dc"/>
    <p:sldId xmlns:r="http://schemas.openxmlformats.org/officeDocument/2006/relationships" id="277" r:id="Rfb39c824ff9a416c"/>
    <p:sldId xmlns:r="http://schemas.openxmlformats.org/officeDocument/2006/relationships" id="278" r:id="Rc2049d361c6b4715"/>
    <p:sldId xmlns:r="http://schemas.openxmlformats.org/officeDocument/2006/relationships" id="279" r:id="R1b44d26edabb4d70"/>
    <p:sldId xmlns:r="http://schemas.openxmlformats.org/officeDocument/2006/relationships" id="280" r:id="R0e3e38fd60cf47b2"/>
    <p:sldId xmlns:r="http://schemas.openxmlformats.org/officeDocument/2006/relationships" id="281" r:id="Rd1dd098fbb954d09"/>
    <p:sldId xmlns:r="http://schemas.openxmlformats.org/officeDocument/2006/relationships" id="282" r:id="R12de1acc03534b45"/>
    <p:sldId xmlns:r="http://schemas.openxmlformats.org/officeDocument/2006/relationships" id="283" r:id="R8e6286b1a0c041db"/>
    <p:sldId xmlns:r="http://schemas.openxmlformats.org/officeDocument/2006/relationships" id="284" r:id="R0ab0d0e87075443b"/>
    <p:sldId xmlns:r="http://schemas.openxmlformats.org/officeDocument/2006/relationships" id="285" r:id="R6cf5aac6069043a7"/>
    <p:sldId xmlns:r="http://schemas.openxmlformats.org/officeDocument/2006/relationships" id="286" r:id="R2a974a2cf5954328"/>
    <p:sldId xmlns:r="http://schemas.openxmlformats.org/officeDocument/2006/relationships" id="287" r:id="Ref0f5ac6201a4c41"/>
    <p:sldId xmlns:r="http://schemas.openxmlformats.org/officeDocument/2006/relationships" id="288" r:id="Rd23fbfe2cd84408e"/>
    <p:sldId xmlns:r="http://schemas.openxmlformats.org/officeDocument/2006/relationships" id="289" r:id="R8b481d4173804e7d"/>
    <p:sldId xmlns:r="http://schemas.openxmlformats.org/officeDocument/2006/relationships" id="290" r:id="Ra7931415fe784bb9"/>
    <p:sldId xmlns:r="http://schemas.openxmlformats.org/officeDocument/2006/relationships" id="291" r:id="R6519c8e82d254cd6"/>
    <p:sldId xmlns:r="http://schemas.openxmlformats.org/officeDocument/2006/relationships" id="292" r:id="R4fa2af30a6f547ab"/>
    <p:sldId xmlns:r="http://schemas.openxmlformats.org/officeDocument/2006/relationships" id="293" r:id="Rff7515a4e68a49e9"/>
    <p:sldId xmlns:r="http://schemas.openxmlformats.org/officeDocument/2006/relationships" id="294" r:id="Rb122f83dcf00411f"/>
    <p:sldId xmlns:r="http://schemas.openxmlformats.org/officeDocument/2006/relationships" id="295" r:id="R51d6afc81b754916"/>
    <p:sldId xmlns:r="http://schemas.openxmlformats.org/officeDocument/2006/relationships" id="296" r:id="R59e01678b3d3463f"/>
    <p:sldId xmlns:r="http://schemas.openxmlformats.org/officeDocument/2006/relationships" id="297" r:id="Rb75dbe52470c4e2b"/>
    <p:sldId xmlns:r="http://schemas.openxmlformats.org/officeDocument/2006/relationships" id="298" r:id="R191bd26906544186"/>
    <p:sldId xmlns:r="http://schemas.openxmlformats.org/officeDocument/2006/relationships" id="299" r:id="Rdbd0ecc7935947df"/>
    <p:sldId xmlns:r="http://schemas.openxmlformats.org/officeDocument/2006/relationships" id="300" r:id="R7710163072694351"/>
    <p:sldId xmlns:r="http://schemas.openxmlformats.org/officeDocument/2006/relationships" id="301" r:id="R54e1855c753048ff"/>
    <p:sldId xmlns:r="http://schemas.openxmlformats.org/officeDocument/2006/relationships" id="302" r:id="Rcf7c09ac347349af"/>
    <p:sldId xmlns:r="http://schemas.openxmlformats.org/officeDocument/2006/relationships" id="303" r:id="R5fa7cd57c02c46c3"/>
    <p:sldId xmlns:r="http://schemas.openxmlformats.org/officeDocument/2006/relationships" id="304" r:id="R032065556efc4382"/>
    <p:sldId xmlns:r="http://schemas.openxmlformats.org/officeDocument/2006/relationships" id="305" r:id="Red35b4d491a547bd"/>
    <p:sldId xmlns:r="http://schemas.openxmlformats.org/officeDocument/2006/relationships" id="306" r:id="R82f5ac996e3a4501"/>
    <p:sldId xmlns:r="http://schemas.openxmlformats.org/officeDocument/2006/relationships" id="307" r:id="R2d1aa7a22f4b4888"/>
    <p:sldId xmlns:r="http://schemas.openxmlformats.org/officeDocument/2006/relationships" id="308" r:id="R2be8a4b9c72341c2"/>
    <p:sldId xmlns:r="http://schemas.openxmlformats.org/officeDocument/2006/relationships" id="309" r:id="Rc71541484ba9452a"/>
    <p:sldId xmlns:r="http://schemas.openxmlformats.org/officeDocument/2006/relationships" id="310" r:id="Ra0d316996cd74acd"/>
    <p:sldId xmlns:r="http://schemas.openxmlformats.org/officeDocument/2006/relationships" id="311" r:id="Re115494d471a46e9"/>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2065556efc4382" Type="http://schemas.openxmlformats.org/officeDocument/2006/relationships/slide" Target="slides/slide49.xml"/><Relationship Id="R08ddff186850493c" Type="http://schemas.openxmlformats.org/officeDocument/2006/relationships/slide" Target="slides/slide8.xml"/><Relationship Id="R0a9340bbc38b474c" Type="http://schemas.openxmlformats.org/officeDocument/2006/relationships/slide" Target="slides/slide6.xml"/><Relationship Id="R0ab0d0e87075443b" Type="http://schemas.openxmlformats.org/officeDocument/2006/relationships/slide" Target="slides/slide29.xml"/><Relationship Id="R0e3e38fd60cf47b2" Type="http://schemas.openxmlformats.org/officeDocument/2006/relationships/slide" Target="slides/slide25.xml"/><Relationship Id="R1091912ad5b14916" Type="http://schemas.openxmlformats.org/officeDocument/2006/relationships/slide" Target="slides/slide20.xml"/><Relationship Id="R12de1acc03534b45" Type="http://schemas.openxmlformats.org/officeDocument/2006/relationships/slide" Target="slides/slide27.xml"/><Relationship Id="R191bd26906544186" Type="http://schemas.openxmlformats.org/officeDocument/2006/relationships/slide" Target="slides/slide43.xml"/><Relationship Id="R1b44d26edabb4d70" Type="http://schemas.openxmlformats.org/officeDocument/2006/relationships/slide" Target="slides/slide24.xml"/><Relationship Id="R2a974a2cf5954328" Type="http://schemas.openxmlformats.org/officeDocument/2006/relationships/slide" Target="slides/slide31.xml"/><Relationship Id="R2be8a4b9c72341c2" Type="http://schemas.openxmlformats.org/officeDocument/2006/relationships/slide" Target="slides/slide53.xml"/><Relationship Id="R2d1aa7a22f4b4888" Type="http://schemas.openxmlformats.org/officeDocument/2006/relationships/slide" Target="slides/slide52.xml"/><Relationship Id="R2d7789140be14697" Type="http://schemas.openxmlformats.org/officeDocument/2006/relationships/slide" Target="slides/slide5.xml"/><Relationship Id="R386432c9bd1c42b8" Type="http://schemas.openxmlformats.org/officeDocument/2006/relationships/slide" Target="slides/slide16.xml"/><Relationship Id="R48eeae5b81b449fe" Type="http://schemas.openxmlformats.org/officeDocument/2006/relationships/slideMaster" Target="slideMasters/slideMaster1.xml"/><Relationship Id="R4f382441134a4525" Type="http://schemas.openxmlformats.org/officeDocument/2006/relationships/slide" Target="slides/slide12.xml"/><Relationship Id="R4fa2af30a6f547ab" Type="http://schemas.openxmlformats.org/officeDocument/2006/relationships/slide" Target="slides/slide37.xml"/><Relationship Id="R51d6afc81b754916" Type="http://schemas.openxmlformats.org/officeDocument/2006/relationships/slide" Target="slides/slide40.xml"/><Relationship Id="R526868465e084605" Type="http://schemas.openxmlformats.org/officeDocument/2006/relationships/slide" Target="slides/slide17.xml"/><Relationship Id="R54e1855c753048ff" Type="http://schemas.openxmlformats.org/officeDocument/2006/relationships/slide" Target="slides/slide46.xml"/><Relationship Id="R550f9d6557b54b36" Type="http://schemas.openxmlformats.org/officeDocument/2006/relationships/slide" Target="slides/slide18.xml"/><Relationship Id="R5984bf6042454299" Type="http://schemas.openxmlformats.org/officeDocument/2006/relationships/slide" Target="slides/slide13.xml"/><Relationship Id="R59e01678b3d3463f" Type="http://schemas.openxmlformats.org/officeDocument/2006/relationships/slide" Target="slides/slide41.xml"/><Relationship Id="R5fa7cd57c02c46c3" Type="http://schemas.openxmlformats.org/officeDocument/2006/relationships/slide" Target="slides/slide48.xml"/><Relationship Id="R6519c8e82d254cd6" Type="http://schemas.openxmlformats.org/officeDocument/2006/relationships/slide" Target="slides/slide36.xml"/><Relationship Id="R6cf5aac6069043a7" Type="http://schemas.openxmlformats.org/officeDocument/2006/relationships/slide" Target="slides/slide30.xml"/><Relationship Id="R735d6299eb35447c" Type="http://schemas.openxmlformats.org/officeDocument/2006/relationships/slide" Target="slides/slide19.xml"/><Relationship Id="R7655bc6aeb624310" Type="http://schemas.openxmlformats.org/officeDocument/2006/relationships/theme" Target="theme/theme1.xml"/><Relationship Id="R76667f879e38464d" Type="http://schemas.openxmlformats.org/officeDocument/2006/relationships/slide" Target="slides/slide4.xml"/><Relationship Id="R7710163072694351" Type="http://schemas.openxmlformats.org/officeDocument/2006/relationships/slide" Target="slides/slide45.xml"/><Relationship Id="R78b1605cc62a409a" Type="http://schemas.openxmlformats.org/officeDocument/2006/relationships/presProps" Target="presProps.xml"/><Relationship Id="R82f5ac996e3a4501" Type="http://schemas.openxmlformats.org/officeDocument/2006/relationships/slide" Target="slides/slide51.xml"/><Relationship Id="R8b481d4173804e7d" Type="http://schemas.openxmlformats.org/officeDocument/2006/relationships/slide" Target="slides/slide34.xml"/><Relationship Id="R8e6286b1a0c041db" Type="http://schemas.openxmlformats.org/officeDocument/2006/relationships/slide" Target="slides/slide28.xml"/><Relationship Id="Ra0d316996cd74acd" Type="http://schemas.openxmlformats.org/officeDocument/2006/relationships/slide" Target="slides/slide55.xml"/><Relationship Id="Ra4c227972c674d56" Type="http://schemas.openxmlformats.org/officeDocument/2006/relationships/slide" Target="slides/slide11.xml"/><Relationship Id="Ra7931415fe784bb9" Type="http://schemas.openxmlformats.org/officeDocument/2006/relationships/slide" Target="slides/slide35.xml"/><Relationship Id="Ra8450027ca9344dc" Type="http://schemas.openxmlformats.org/officeDocument/2006/relationships/slide" Target="slides/slide21.xml"/><Relationship Id="Rab8d9c10de254253" Type="http://schemas.openxmlformats.org/officeDocument/2006/relationships/slide" Target="slides/slide9.xml"/><Relationship Id="Rb06dd54e8d694092" Type="http://schemas.openxmlformats.org/officeDocument/2006/relationships/tableStyles" Target="tableStyles.xml"/><Relationship Id="Rb122f83dcf00411f" Type="http://schemas.openxmlformats.org/officeDocument/2006/relationships/slide" Target="slides/slide39.xml"/><Relationship Id="Rb27184190a0147a3" Type="http://schemas.openxmlformats.org/officeDocument/2006/relationships/slide" Target="slides/slide2.xml"/><Relationship Id="Rb75dbe52470c4e2b" Type="http://schemas.openxmlformats.org/officeDocument/2006/relationships/slide" Target="slides/slide42.xml"/><Relationship Id="Rbc8cc833c9cf49eb" Type="http://schemas.openxmlformats.org/officeDocument/2006/relationships/slide" Target="slides/slide3.xml"/><Relationship Id="Rbd88847bc4444978" Type="http://schemas.openxmlformats.org/officeDocument/2006/relationships/slide" Target="slides/slide1.xml"/><Relationship Id="Rc1833c5628b640fa" Type="http://schemas.openxmlformats.org/officeDocument/2006/relationships/slide" Target="slides/slide15.xml"/><Relationship Id="Rc2049d361c6b4715" Type="http://schemas.openxmlformats.org/officeDocument/2006/relationships/slide" Target="slides/slide23.xml"/><Relationship Id="Rc71541484ba9452a" Type="http://schemas.openxmlformats.org/officeDocument/2006/relationships/slide" Target="slides/slide54.xml"/><Relationship Id="Rcc2b434177b84fa9" Type="http://schemas.openxmlformats.org/officeDocument/2006/relationships/notesMaster" Target="notesMasters/notesMaster1.xml"/><Relationship Id="Rcf24474ef03b437f" Type="http://schemas.openxmlformats.org/officeDocument/2006/relationships/slide" Target="slides/slide7.xml"/><Relationship Id="Rcf7c09ac347349af" Type="http://schemas.openxmlformats.org/officeDocument/2006/relationships/slide" Target="slides/slide47.xml"/><Relationship Id="Rd1dd098fbb954d09" Type="http://schemas.openxmlformats.org/officeDocument/2006/relationships/slide" Target="slides/slide26.xml"/><Relationship Id="Rd23fbfe2cd84408e" Type="http://schemas.openxmlformats.org/officeDocument/2006/relationships/slide" Target="slides/slide33.xml"/><Relationship Id="Rdbd0ecc7935947df" Type="http://schemas.openxmlformats.org/officeDocument/2006/relationships/slide" Target="slides/slide44.xml"/><Relationship Id="Re115494d471a46e9" Type="http://schemas.openxmlformats.org/officeDocument/2006/relationships/slide" Target="slides/slide56.xml"/><Relationship Id="Red35b4d491a547bd" Type="http://schemas.openxmlformats.org/officeDocument/2006/relationships/slide" Target="slides/slide50.xml"/><Relationship Id="Red6fb0c589c040de" Type="http://schemas.openxmlformats.org/officeDocument/2006/relationships/slide" Target="slides/slide10.xml"/><Relationship Id="Ref0f5ac6201a4c41" Type="http://schemas.openxmlformats.org/officeDocument/2006/relationships/slide" Target="slides/slide32.xml"/><Relationship Id="Rf85f37d9afca41c5" Type="http://schemas.openxmlformats.org/officeDocument/2006/relationships/slide" Target="slides/slide14.xml"/><Relationship Id="Rfb39c824ff9a416c" Type="http://schemas.openxmlformats.org/officeDocument/2006/relationships/slide" Target="slides/slide22.xml"/><Relationship Id="Rff7515a4e68a49e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22c2a31bd61141f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c683d55a2fd24ce4" Type="http://schemas.openxmlformats.org/officeDocument/2006/relationships/notesMaster" Target="../notesMasters/notesMaster1.xml"/><Relationship Id="Re84da9c1fb1f41e7"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a6fb85a927654c6a" Type="http://schemas.openxmlformats.org/officeDocument/2006/relationships/notesMaster" Target="../notesMasters/notesMaster1.xml"/><Relationship Id="Rb175b813001a462e"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44c236c71bc74bb6" Type="http://schemas.openxmlformats.org/officeDocument/2006/relationships/notesMaster" Target="../notesMasters/notesMaster1.xml"/><Relationship Id="R861503cf2d1a4cc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1b5f676a7f504f6c" Type="http://schemas.openxmlformats.org/officeDocument/2006/relationships/notesMaster" Target="../notesMasters/notesMaster1.xml"/><Relationship Id="Rc3708a1275f6410d"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0286b42f5877454f" Type="http://schemas.openxmlformats.org/officeDocument/2006/relationships/slide" Target="../slides/slide5.xml"/><Relationship Id="R9796287eba0345c7"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451a1c79aabc4418" Type="http://schemas.openxmlformats.org/officeDocument/2006/relationships/notesMaster" Target="../notesMasters/notesMaster1.xml"/><Relationship Id="Rfbf8a9a64ded40af"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5dabc2ba386d4d41" Type="http://schemas.openxmlformats.org/officeDocument/2006/relationships/slide" Target="../slides/slide7.xml"/><Relationship Id="Rbfa6f14cfd654e77"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5ae53c32be1d41c5" Type="http://schemas.openxmlformats.org/officeDocument/2006/relationships/notesMaster" Target="../notesMasters/notesMaster1.xml"/><Relationship Id="R758493f31d36465c"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29d372b6a7c0420b" Type="http://schemas.openxmlformats.org/officeDocument/2006/relationships/notesMaster" Target="../notesMasters/notesMaster1.xml"/><Relationship Id="Rdeb81aff33814026"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706d518b6ab4a95" Type="http://schemas.openxmlformats.org/officeDocument/2006/relationships/notesMaster" Target="../notesMasters/notesMaster1.xml"/><Relationship Id="Rd6606a3909a6476e"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33e8e07ab3a44a2b" Type="http://schemas.openxmlformats.org/officeDocument/2006/relationships/notesMaster" Target="../notesMasters/notesMaster1.xml"/><Relationship Id="R4659e3bc5ffb454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24938b3ac87a4698" Type="http://schemas.openxmlformats.org/officeDocument/2006/relationships/slide" Target="../slides/slide12.xml"/><Relationship Id="R5b80eb23371d454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325a80d3c73a4ae3" Type="http://schemas.openxmlformats.org/officeDocument/2006/relationships/slide" Target="../slides/slide13.xml"/><Relationship Id="Rd4b2682140354030"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438bd03fe5c4282" Type="http://schemas.openxmlformats.org/officeDocument/2006/relationships/notesMaster" Target="../notesMasters/notesMaster1.xml"/><Relationship Id="R974560af91674a2c"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b7576117b514539" Type="http://schemas.openxmlformats.org/officeDocument/2006/relationships/slide" Target="../slides/slide15.xml"/><Relationship Id="R25f5b32f28e649a3"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05c310986e6640b7" Type="http://schemas.openxmlformats.org/officeDocument/2006/relationships/notesMaster" Target="../notesMasters/notesMaster1.xml"/><Relationship Id="Ra63b3df05491417c"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a4a4d59632c745ab" Type="http://schemas.openxmlformats.org/officeDocument/2006/relationships/slide" Target="../slides/slide17.xml"/><Relationship Id="Raf8fdc6846324c0a"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0886e8cddd41448d" Type="http://schemas.openxmlformats.org/officeDocument/2006/relationships/slide" Target="../slides/slide18.xml"/><Relationship Id="R8851e653d5ce41d5"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3feab3ade44c400d" Type="http://schemas.openxmlformats.org/officeDocument/2006/relationships/notesMaster" Target="../notesMasters/notesMaster1.xml"/><Relationship Id="Re11c2a7ed1744305"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14cb75a32bc94fbb" Type="http://schemas.openxmlformats.org/officeDocument/2006/relationships/notesMaster" Target="../notesMasters/notesMaster1.xml"/><Relationship Id="Rbff0a0134b464596"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c264ac4c7bb743e6" Type="http://schemas.openxmlformats.org/officeDocument/2006/relationships/slide" Target="../slides/slide21.xml"/><Relationship Id="Re9b7f4ee438d474e"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00fd6521ca2d4b61" Type="http://schemas.openxmlformats.org/officeDocument/2006/relationships/slide" Target="../slides/slide22.xml"/><Relationship Id="Rc43ae2adc0b345c7"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0f2f140085f44aa9" Type="http://schemas.openxmlformats.org/officeDocument/2006/relationships/notesMaster" Target="../notesMasters/notesMaster1.xml"/><Relationship Id="R1543cd55f5c348c8"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563d61df090b42d1" Type="http://schemas.openxmlformats.org/officeDocument/2006/relationships/notesMaster" Target="../notesMasters/notesMaster1.xml"/><Relationship Id="Rf830ff6ea6794650"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543b5d4ca5a942a6" Type="http://schemas.openxmlformats.org/officeDocument/2006/relationships/slide" Target="../slides/slide25.xml"/><Relationship Id="Re4977ac303174ad6"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02cdf7cee07c4851" Type="http://schemas.openxmlformats.org/officeDocument/2006/relationships/notesMaster" Target="../notesMasters/notesMaster1.xml"/><Relationship Id="Rd7c0775d102f4f1b"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3af431b0c0ae42d3" Type="http://schemas.openxmlformats.org/officeDocument/2006/relationships/slide" Target="../slides/slide27.xml"/><Relationship Id="R62f4a0f172d743b9"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876402d2b31043d3" Type="http://schemas.openxmlformats.org/officeDocument/2006/relationships/notesMaster" Target="../notesMasters/notesMaster1.xml"/><Relationship Id="Rbdbb77cccd2842c9"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91608bad78ff4b72" Type="http://schemas.openxmlformats.org/officeDocument/2006/relationships/slide" Target="../slides/slide29.xml"/><Relationship Id="R9f4d356dd9c2406e"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9ec9d350d7ec46c7" Type="http://schemas.openxmlformats.org/officeDocument/2006/relationships/slide" Target="../slides/slide30.xml"/><Relationship Id="Rbf834968839b4def"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356e131de3994a2a" Type="http://schemas.openxmlformats.org/officeDocument/2006/relationships/slide" Target="../slides/slide31.xml"/><Relationship Id="R5b39995af2854685"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22022df02bce42ac" Type="http://schemas.openxmlformats.org/officeDocument/2006/relationships/slide" Target="../slides/slide32.xml"/><Relationship Id="Rd2cf7d9183ea4f9f"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2fa32475553d4d22" Type="http://schemas.openxmlformats.org/officeDocument/2006/relationships/slide" Target="../slides/slide33.xml"/><Relationship Id="Rb042420c3b864db3"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12ee758f739f46ca" Type="http://schemas.openxmlformats.org/officeDocument/2006/relationships/notesMaster" Target="../notesMasters/notesMaster1.xml"/><Relationship Id="R8087608e518847f7"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697bf8a8a8544d20" Type="http://schemas.openxmlformats.org/officeDocument/2006/relationships/notesMaster" Target="../notesMasters/notesMaster1.xml"/><Relationship Id="R72daf6eb09b642e3"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257710fcc37e4fac" Type="http://schemas.openxmlformats.org/officeDocument/2006/relationships/slide" Target="../slides/slide36.xml"/><Relationship Id="Ra9130ce21cae43c4"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3ef3bb7339d54382" Type="http://schemas.openxmlformats.org/officeDocument/2006/relationships/slide" Target="../slides/slide37.xml"/><Relationship Id="R5f403ed43ece4de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51292829dead442d" Type="http://schemas.openxmlformats.org/officeDocument/2006/relationships/notesMaster" Target="../notesMasters/notesMaster1.xml"/><Relationship Id="R9bc9c94421e44cc0"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1503cd3a86f64e52" Type="http://schemas.openxmlformats.org/officeDocument/2006/relationships/notesMaster" Target="../notesMasters/notesMaster1.xml"/><Relationship Id="R3652e8f0b7884e59"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4e0c55115ca9416d" Type="http://schemas.openxmlformats.org/officeDocument/2006/relationships/slide" Target="../slides/slide40.xml"/><Relationship Id="R9e59900e47a448f8"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6e29d45c805a4460" Type="http://schemas.openxmlformats.org/officeDocument/2006/relationships/notesMaster" Target="../notesMasters/notesMaster1.xml"/><Relationship Id="Rcf64628dc14c4ff6"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906bc281e620440a" Type="http://schemas.openxmlformats.org/officeDocument/2006/relationships/slide" Target="../slides/slide42.xml"/><Relationship Id="Red89dd62c2b54b7d"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4277185ddd5a4d65" Type="http://schemas.openxmlformats.org/officeDocument/2006/relationships/slide" Target="../slides/slide43.xml"/><Relationship Id="Rdd79d6d413b5455c"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d07920f4c2ca4de7" Type="http://schemas.openxmlformats.org/officeDocument/2006/relationships/notesMaster" Target="../notesMasters/notesMaster1.xml"/><Relationship Id="Rd58cfa2367ca4aea"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2e154ba2dd034a86" Type="http://schemas.openxmlformats.org/officeDocument/2006/relationships/slide" Target="../slides/slide45.xml"/><Relationship Id="R743b4fd7a1874c40"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d697a1a278d94abf" Type="http://schemas.openxmlformats.org/officeDocument/2006/relationships/slide" Target="../slides/slide46.xml"/><Relationship Id="Reaba79193641477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74a1d6d1d7614622" Type="http://schemas.openxmlformats.org/officeDocument/2006/relationships/notesMaster" Target="../notesMasters/notesMaster1.xml"/><Relationship Id="Ree23bf954d894fa0"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1bedcdb0cbee4797" Type="http://schemas.openxmlformats.org/officeDocument/2006/relationships/slide" Target="../slides/slide48.xml"/><Relationship Id="Rd9e253e952fa4de3"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2f44dc0fb6384f98" Type="http://schemas.openxmlformats.org/officeDocument/2006/relationships/notesMaster" Target="../notesMasters/notesMaster1.xml"/><Relationship Id="R6098b3ea306e41ed"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6a146cea96bf421a" Type="http://schemas.openxmlformats.org/officeDocument/2006/relationships/notesMaster" Target="../notesMasters/notesMaster1.xml"/><Relationship Id="R8408b3c37a3948f5"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6190c153793a4e78" Type="http://schemas.openxmlformats.org/officeDocument/2006/relationships/notesMaster" Target="../notesMasters/notesMaster1.xml"/><Relationship Id="Rc5274cbbed814c0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4110f3f457964816" Type="http://schemas.openxmlformats.org/officeDocument/2006/relationships/notesMaster" Target="../notesMasters/notesMaster1.xml"/><Relationship Id="Rd5e99f6f2a854db6"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a6119df018114d23" Type="http://schemas.openxmlformats.org/officeDocument/2006/relationships/notesMaster" Target="../notesMasters/notesMaster1.xml"/><Relationship Id="Rb5aeaea13c9c4af5"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213e2a778e08457f" Type="http://schemas.openxmlformats.org/officeDocument/2006/relationships/slide" Target="../slides/slide54.xml"/><Relationship Id="R37a34bd1b0334810"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35aa4ceee97a4fe7" Type="http://schemas.openxmlformats.org/officeDocument/2006/relationships/notesMaster" Target="../notesMasters/notesMaster1.xml"/><Relationship Id="Rb39a0121068f4e83"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2bd8e01130314433" Type="http://schemas.openxmlformats.org/officeDocument/2006/relationships/slide" Target="../slides/slide56.xml"/><Relationship Id="Rcdf9d76afadb4138"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six for CML3113, which serves Mining and Petroleum Engineering.</a:t>
            </a:r>
          </a:p>
          <a:p xmlns:a="http://schemas.openxmlformats.org/drawingml/2006/main"/>
          <a:p xmlns:a="http://schemas.openxmlformats.org/drawingml/2006/main">
            <a:r>
              <a:t>This week is cleaning and practical revision. We work through how to find problems in a table of records, such as blanks and repeated rows, and how to fix them with clear rules that we can explain.</a:t>
            </a:r>
          </a:p>
          <a:p xmlns:a="http://schemas.openxmlformats.org/drawingml/2006/main"/>
          <a:p xmlns:a="http://schemas.openxmlformats.org/drawingml/2006/main">
            <a:r>
              <a:t>The slide says that assignment six and quiz six are not assigned to this group. We treat today as practice, so we can focus on understanding each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follow one path. We inspect the CSV, remove duplicate observations, keep the valid rows, fill missing temperatures, summarise the result and plot it.</a:t>
            </a:r>
          </a:p>
          <a:p xmlns:a="http://schemas.openxmlformats.org/drawingml/2006/main"/>
          <a:p xmlns:a="http://schemas.openxmlformats.org/drawingml/2006/main">
            <a:r>
              <a:t>Assignment six and quiz six are waived for CML3112. That means this lesson is ungraded practice. No upload and no quiz response is required.</a:t>
            </a:r>
          </a:p>
          <a:p xmlns:a="http://schemas.openxmlformats.org/drawingml/2006/main"/>
          <a:p xmlns:a="http://schemas.openxmlformats.org/drawingml/2006/main">
            <a:r>
              <a:t>The aim is to understand each cleaning decision, so you can explain it in your own words. Your practice work stays with you for revision. The waiver covers only this assignment and quiz and does not cancel other assessments.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today reads one file called engineering underscore data dot csv. A CSV file is a plain text table where each line is a row and commas separate the columns.</a:t>
            </a:r>
          </a:p>
          <a:p xmlns:a="http://schemas.openxmlformats.org/drawingml/2006/main"/>
          <a:p xmlns:a="http://schemas.openxmlformats.org/drawingml/2006/main">
            <a:r>
              <a:t>Extract this week's student ZIP file first. A ZIP file is a folder packed into one file, so we unpack it to get at what is inside. Then upload engineering underscore data dot csv into Colab using the Files panel. If you work on your own computer, keep the file in the same folder as your notebook.</a:t>
            </a:r>
          </a:p>
          <a:p xmlns:a="http://schemas.openxmlformats.org/drawingml/2006/main"/>
          <a:p xmlns:a="http://schemas.openxmlformats.org/drawingml/2006/main">
            <a:r>
              <a:t>Uploading a notebook does not upload its data, so check that the file name is spelled exactly right. Run the cells in the same order as the slides, and keep the original file unchanged. Each cohort has its own data, so your numbers can differ from a classmate in another programme.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small tools come first.</a:t>
            </a:r>
          </a:p>
          <a:p xmlns:a="http://schemas.openxmlformats.org/drawingml/2006/main"/>
          <a:p xmlns:a="http://schemas.openxmlformats.org/drawingml/2006/main">
            <a:r>
              <a:t>The first line is import pandas as pd. Pandas is a library, which means a collection of ready-made tools written by other people. Import loads it, and as pd gives it the short name pd so we type less. When we later write pd dot read underscore csv, we are using the read underscore csv tool from that library.</a:t>
            </a:r>
          </a:p>
          <a:p xmlns:a="http://schemas.openxmlformats.org/drawingml/2006/main"/>
          <a:p xmlns:a="http://schemas.openxmlformats.org/drawingml/2006/main">
            <a:r>
              <a:t>The second tool reads a file. We write pd dot read underscore csv and put the file name in quotes inside the brackets. It returns a DataFrame, which is a table with named columns and a label for each row. The file must be in the working folder, the place where the notebook is running.</a:t>
            </a:r>
          </a:p>
          <a:p xmlns:a="http://schemas.openxmlformats.org/drawingml/2006/main"/>
          <a:p xmlns:a="http://schemas.openxmlformats.org/drawingml/2006/main">
            <a:r>
              <a:t>The third tool counts the table. Writing table dot shape gives two numbers, the number of rows and then the number of columns. Shape has no brackets after it, because it is a stored fact about the table and nothing needs to be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more tools help us look at a table.</a:t>
            </a:r>
          </a:p>
          <a:p xmlns:a="http://schemas.openxmlformats.org/drawingml/2006/main"/>
          <a:p xmlns:a="http://schemas.openxmlformats.org/drawingml/2006/main">
            <a:r>
              <a:t>The first is table dot dtypes. A dtype is the kind of value a column stores. The value int sixty-four means whole numbers. The value float sixty-four means numbers with a decimal part. The value object usually means text. Blank cells in a numeric column usually show up as NaN, which stands for not a number and simply means the value is missing.</a:t>
            </a:r>
          </a:p>
          <a:p xmlns:a="http://schemas.openxmlformats.org/drawingml/2006/main"/>
          <a:p xmlns:a="http://schemas.openxmlformats.org/drawingml/2006/main">
            <a:r>
              <a:t>The second is table dot head with empty brackets. It shows the first five rows. Showing rows does not change the table in any way. But five rows is only a small preview, so it does not tell us what the whole file contains.</a:t>
            </a:r>
          </a:p>
          <a:p xmlns:a="http://schemas.openxmlformats.org/drawingml/2006/main"/>
          <a:p xmlns:a="http://schemas.openxmlformats.org/drawingml/2006/main">
            <a:r>
              <a:t>We use dtypes to check that each column holds the kind of value we expect, and head to see what a few real rows look like.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keep two tables with two different names.</a:t>
            </a:r>
          </a:p>
          <a:p xmlns:a="http://schemas.openxmlformats.org/drawingml/2006/main"/>
          <a:p xmlns:a="http://schemas.openxmlformats.org/drawingml/2006/main">
            <a:r>
              <a:t>The first is raw underscore data. This is the original table exactly as it came from the CSV file. We never change it. If anyone asks what was originally recorded, raw underscore data gives the answer.</a:t>
            </a:r>
          </a:p>
          <a:p xmlns:a="http://schemas.openxmlformats.org/drawingml/2006/main"/>
          <a:p xmlns:a="http://schemas.openxmlformats.org/drawingml/2006/main">
            <a:r>
              <a:t>The second is cleaned underscore data. This is a separate working table, and it is the one we change step by step.</a:t>
            </a:r>
          </a:p>
          <a:p xmlns:a="http://schemas.openxmlformats.org/drawingml/2006/main"/>
          <a:p xmlns:a="http://schemas.openxmlformats.org/drawingml/2006/main">
            <a:r>
              <a:t>These names are labels that we chose ourselves. Python gives them no special meaning. We use two names because we need to tell the two tables apart. If we called both of them data, we could lose track of which one still holds the original records and could no longer show what we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load the file and take a first look. The code has four lines after the import.</a:t>
            </a:r>
          </a:p>
          <a:p xmlns:a="http://schemas.openxmlformats.org/drawingml/2006/main"/>
          <a:p xmlns:a="http://schemas.openxmlformats.org/drawingml/2006/main">
            <a:r>
              <a:t>The first line is import pandas as pd, which brings in the pandas library under the short name pd.</a:t>
            </a:r>
          </a:p>
          <a:p xmlns:a="http://schemas.openxmlformats.org/drawingml/2006/main"/>
          <a:p xmlns:a="http://schemas.openxmlformats.org/drawingml/2006/main">
            <a:r>
              <a:t>The second line is raw underscore data equals pd dot read underscore csv, with the file name in brackets. It reads the CSV file and stores the table under the name raw underscore data.</a:t>
            </a:r>
          </a:p>
          <a:p xmlns:a="http://schemas.openxmlformats.org/drawingml/2006/main"/>
          <a:p xmlns:a="http://schemas.openxmlformats.org/drawingml/2006/main">
            <a:r>
              <a:t>The third line prints raw underscore data dot head, which displays the first five rows. The fourth prints raw underscore data dot shape, which shows the number of rows and then the number of columns. The fifth prints raw underscore data dot dtypes, which shows the kind of value in each column.</a:t>
            </a:r>
          </a:p>
          <a:p xmlns:a="http://schemas.openxmlformats.org/drawingml/2006/main"/>
          <a:p xmlns:a="http://schemas.openxmlformats.org/drawingml/2006/main">
            <a:r>
              <a:t>We read the output in that order. The preview shows the columns record underscore id, equipment underscore id, load underscore pct, ambient underscore c and target. The shape tells us how big the table is, and the dtypes tell us which columns are numbers and which are text.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EDA stands for exploratory data analysis. That is a formal name for looking carefully at data before we decide what to do with it. We check what each column means, what type it holds, where values are missing, what range the numbers cover and whether any patterns appear.</a:t>
            </a:r>
          </a:p>
          <a:p xmlns:a="http://schemas.openxmlformats.org/drawingml/2006/main"/>
          <a:p xmlns:a="http://schemas.openxmlformats.org/drawingml/2006/main">
            <a:r>
              <a:t>In this file, record underscore id identifies one observation. Think of it as a ticket number for a single reading. Equipment underscore id tells us which equipment the reading came from, so the same equipment can appear many times. Load underscore pct is the load in percent. Ambient underscore c is the surrounding temperature in degrees Celsius. The column called target is crusher energy, measured in kilowatt hours per tonne.</a:t>
            </a:r>
          </a:p>
          <a:p xmlns:a="http://schemas.openxmlformats.org/drawingml/2006/main"/>
          <a:p xmlns:a="http://schemas.openxmlformats.org/drawingml/2006/main">
            <a:r>
              <a:t>This step comes first because the cleaning rules we write later depend on knowing what each column should look like.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tools give us a fuller picture of a table.</a:t>
            </a:r>
          </a:p>
          <a:p xmlns:a="http://schemas.openxmlformats.org/drawingml/2006/main"/>
          <a:p xmlns:a="http://schemas.openxmlformats.org/drawingml/2006/main">
            <a:r>
              <a:t>The first is table dot info with empty brackets. It prints each column's type and how many values in that column are present. We call it directly. We do not wrap it in print, because it already prints its report by itself.</a:t>
            </a:r>
          </a:p>
          <a:p xmlns:a="http://schemas.openxmlformats.org/drawingml/2006/main"/>
          <a:p xmlns:a="http://schemas.openxmlformats.org/drawingml/2006/main">
            <a:r>
              <a:t>The second is table, then square brackets containing a list of numeric column names, then dot describe. This summarises only the columns we named. For each one it reports the count of recorded values, the mean, the standard deviation, the minimum, the quartiles and the maximum.</a:t>
            </a:r>
          </a:p>
          <a:p xmlns:a="http://schemas.openxmlformats.org/drawingml/2006/main"/>
          <a:p xmlns:a="http://schemas.openxmlformats.org/drawingml/2006/main">
            <a:r>
              <a:t>The mean is the average. The standard deviation tells us how spread out the values are. Quartiles split the sorted values into four equal parts. The fifty percent line is the median, the middle value.</a:t>
            </a:r>
          </a:p>
          <a:p xmlns:a="http://schemas.openxmlformats.org/drawingml/2006/main"/>
          <a:p xmlns:a="http://schemas.openxmlformats.org/drawingml/2006/main">
            <a:r>
              <a:t>We describe the measurements only. An identifier such as record underscore id is a label, so averaging it would mean nothing. A minimum below zero in a percentage column is a flag telling us to investigate.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run info and describe on the original table.</a:t>
            </a:r>
          </a:p>
          <a:p xmlns:a="http://schemas.openxmlformats.org/drawingml/2006/main"/>
          <a:p xmlns:a="http://schemas.openxmlformats.org/drawingml/2006/main">
            <a:r>
              <a:t>The first line is raw underscore data dot info with empty brackets. It lists every column with its type and the number of values present.</a:t>
            </a:r>
          </a:p>
          <a:p xmlns:a="http://schemas.openxmlformats.org/drawingml/2006/main"/>
          <a:p xmlns:a="http://schemas.openxmlformats.org/drawingml/2006/main">
            <a:r>
              <a:t>The second line creates a list called numeric underscore columns. The list holds three column names in quotes, load underscore pct, ambient underscore c and target. Those are the measurements.</a:t>
            </a:r>
          </a:p>
          <a:p xmlns:a="http://schemas.openxmlformats.org/drawingml/2006/main"/>
          <a:p xmlns:a="http://schemas.openxmlformats.org/drawingml/2006/main">
            <a:r>
              <a:t>The third line prints raw underscore data, then square brackets holding that list, then dot describe. That gives count, mean, standard deviation, minimum, quartiles and maximum for those three columns.</a:t>
            </a:r>
          </a:p>
          <a:p xmlns:a="http://schemas.openxmlformats.org/drawingml/2006/main"/>
          <a:p xmlns:a="http://schemas.openxmlformats.org/drawingml/2006/main">
            <a:r>
              <a:t>The first thing to check is the count. Compare it with the total number of rows. If a column has fewer values than there are rows, some cells are blank. Then read the minimum and maximum of each column. We decide whether a value breaks a rule only after we have seen the real range. Run this after the previous example, using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ask which equipment appears in the data and how often.</a:t>
            </a:r>
          </a:p>
          <a:p xmlns:a="http://schemas.openxmlformats.org/drawingml/2006/main"/>
          <a:p xmlns:a="http://schemas.openxmlformats.org/drawingml/2006/main">
            <a:r>
              <a:t>The tool is value underscore counts with empty brackets. It looks at one column and counts how many rows carry each label. If we add dropna equals False inside the brackets, it also counts blank labels, so a missing label shows up as its own line instead of silently disappearing.</a:t>
            </a:r>
          </a:p>
          <a:p xmlns:a="http://schemas.openxmlformats.org/drawingml/2006/main"/>
          <a:p xmlns:a="http://schemas.openxmlformats.org/drawingml/2006/main">
            <a:r>
              <a:t>Counts like these can reveal problems. One piece of equipment might be missing entirely, or some might have far fewer observations than others.</a:t>
            </a:r>
          </a:p>
          <a:p xmlns:a="http://schemas.openxmlformats.org/drawingml/2006/main"/>
          <a:p xmlns:a="http://schemas.openxmlformats.org/drawingml/2006/main">
            <a:r>
              <a:t>We should expect equipment labels to repeat. One machine gives many readings, so the same label appears on many rows. A repeated record underscore id is different. Each record underscore id is meant to name exactly one observation, so a repeat there needs a closer look, and we handle that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count the rows for each piece of equipment.</a:t>
            </a:r>
          </a:p>
          <a:p xmlns:a="http://schemas.openxmlformats.org/drawingml/2006/main"/>
          <a:p xmlns:a="http://schemas.openxmlformats.org/drawingml/2006/main">
            <a:r>
              <a:t>The first line takes the equipment underscore id column of raw underscore data and calls value underscore counts on it, with dropna equals False. The result is stored under the name equipment underscore counts. The second line prints it.</a:t>
            </a:r>
          </a:p>
          <a:p xmlns:a="http://schemas.openxmlformats.org/drawingml/2006/main"/>
          <a:p xmlns:a="http://schemas.openxmlformats.org/drawingml/2006/main">
            <a:r>
              <a:t>The output is a list. Each line shows an equipment label and the number of rows carrying that label. Read it to see which equipment is present and whether the counts are roughly balanced.</a:t>
            </a:r>
          </a:p>
          <a:p xmlns:a="http://schemas.openxmlformats.org/drawingml/2006/main"/>
          <a:p xmlns:a="http://schemas.openxmlformats.org/drawingml/2006/main">
            <a:r>
              <a:t>These are counts of observations. They do not tell us how many distinct machines exist. One machine can contribute many rows. This summary also still contains the later repeated row, because we have not removed anything yet.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cleaning, we draw one chart of the target column. It is called a histogram.</a:t>
            </a:r>
          </a:p>
          <a:p xmlns:a="http://schemas.openxmlformats.org/drawingml/2006/main"/>
          <a:p xmlns:a="http://schemas.openxmlformats.org/drawingml/2006/main">
            <a:r>
              <a:t>A histogram groups numeric values into intervals and counts how many observations fall into each interval. The word bins means those intervals. Writing bins equals ten asks for ten of them. The height of each bar is a count of observations.</a:t>
            </a:r>
          </a:p>
          <a:p xmlns:a="http://schemas.openxmlformats.org/drawingml/2006/main"/>
          <a:p xmlns:a="http://schemas.openxmlformats.org/drawingml/2006/main">
            <a:r>
              <a:t>To draw a chart we call plt dot subplots with empty brackets. It gives us two things. The first is a figure, which is the whole image. The second is the axes, which is the area inside the image where the chart is drawn. We pass the axes to the plot using ax equals, which tells pandas where to draw.</a:t>
            </a:r>
          </a:p>
          <a:p xmlns:a="http://schemas.openxmlformats.org/drawingml/2006/main"/>
          <a:p xmlns:a="http://schemas.openxmlformats.org/drawingml/2006/main">
            <a:r>
              <a:t>Missing values cannot be placed on the chart, so the histogram leaves them out. We read the horizontal direction as the target measurement and the vertical direction as how many observations fall there. An extreme value is a reason to investigate. It is no reason to delete the row straight away.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draw the target histogram on the original, uncleaned table.</a:t>
            </a:r>
          </a:p>
          <a:p xmlns:a="http://schemas.openxmlformats.org/drawingml/2006/main"/>
          <a:p xmlns:a="http://schemas.openxmlformats.org/drawingml/2006/main">
            <a:r>
              <a:t>The first line imports matplotlib dot pyplot as plt. Matplotlib is the plotting library, and plt is its short name.</a:t>
            </a:r>
          </a:p>
          <a:p xmlns:a="http://schemas.openxmlformats.org/drawingml/2006/main"/>
          <a:p xmlns:a="http://schemas.openxmlformats.org/drawingml/2006/main">
            <a:r>
              <a:t>The second line calls plt dot subplots and stores the two results as raw underscore figure and raw underscore axes. The figure is the whole image and the axes is the drawing area.</a:t>
            </a:r>
          </a:p>
          <a:p xmlns:a="http://schemas.openxmlformats.org/drawingml/2006/main"/>
          <a:p xmlns:a="http://schemas.openxmlformats.org/drawingml/2006/main">
            <a:r>
              <a:t>The third line takes the target column of raw underscore data and calls plot dot hist with bins equals ten and ax equals raw underscore axes. That draws a histogram with ten intervals inside our drawing area.</a:t>
            </a:r>
          </a:p>
          <a:p xmlns:a="http://schemas.openxmlformats.org/drawingml/2006/main"/>
          <a:p xmlns:a="http://schemas.openxmlformats.org/drawingml/2006/main">
            <a:r>
              <a:t>The next three lines set the horizontal label to crusher energy in kilowatt hours per tonne, the vertical label to observation count, and the title to before cleaning. The last line, plt dot show, displays the chart.</a:t>
            </a:r>
          </a:p>
          <a:p xmlns:a="http://schemas.openxmlformats.org/drawingml/2006/main"/>
          <a:p xmlns:a="http://schemas.openxmlformats.org/drawingml/2006/main">
            <a:r>
              <a:t>This chart includes every recorded target, even rows we may remove later. At the end we compare it with the cleaned version. We describe the shape we see. We should not claim it shows a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look at how two columns relate, using a scatter plot.</a:t>
            </a:r>
          </a:p>
          <a:p xmlns:a="http://schemas.openxmlformats.org/drawingml/2006/main"/>
          <a:p xmlns:a="http://schemas.openxmlformats.org/drawingml/2006/main">
            <a:r>
              <a:t>A scatter plot draws one dot for each row. The dot sits at the position given by two numbers from that row. Here the horizontal position is the load and the vertical position is the target.</a:t>
            </a:r>
          </a:p>
          <a:p xmlns:a="http://schemas.openxmlformats.org/drawingml/2006/main"/>
          <a:p xmlns:a="http://schemas.openxmlformats.org/drawingml/2006/main">
            <a:r>
              <a:t>In the code, x equals and y equals name the two columns we want. As before, ax equals tells pandas which drawing area to use.</a:t>
            </a:r>
          </a:p>
          <a:p xmlns:a="http://schemas.openxmlformats.org/drawingml/2006/main"/>
          <a:p xmlns:a="http://schemas.openxmlformats.org/drawingml/2006/main">
            <a:r>
              <a:t>When we read a scatter plot, we look for gaps, unusual dots far from the others, and any general direction in which the dots seem to drift. If higher loads tend to sit with higher targets, we can say the two move together in this file.</a:t>
            </a:r>
          </a:p>
          <a:p xmlns:a="http://schemas.openxmlformats.org/drawingml/2006/main"/>
          <a:p xmlns:a="http://schemas.openxmlformats.org/drawingml/2006/main">
            <a:r>
              <a:t>That is an association, which means a pattern of moving together. It does not show that load caused the target to change. Other factors might be involved, and a chart alone cannot tell 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draw the scatter plot with the original rows.</a:t>
            </a:r>
          </a:p>
          <a:p xmlns:a="http://schemas.openxmlformats.org/drawingml/2006/main"/>
          <a:p xmlns:a="http://schemas.openxmlformats.org/drawingml/2006/main">
            <a:r>
              <a:t>The first line creates a new figure and drawing area, named raw underscore scatter underscore figure and raw underscore scatter underscore axes.</a:t>
            </a:r>
          </a:p>
          <a:p xmlns:a="http://schemas.openxmlformats.org/drawingml/2006/main"/>
          <a:p xmlns:a="http://schemas.openxmlformats.org/drawingml/2006/main">
            <a:r>
              <a:t>The second line calls plot dot scatter on raw underscore data, with x equals the load underscore pct column and y equals the target column, drawing into our axes.</a:t>
            </a:r>
          </a:p>
          <a:p xmlns:a="http://schemas.openxmlformats.org/drawingml/2006/main"/>
          <a:p xmlns:a="http://schemas.openxmlformats.org/drawingml/2006/main">
            <a:r>
              <a:t>The next three lines label the horizontal direction load in percent, label the vertical direction crusher energy in kilowatt hours per tonne, and give the title before cleaning. Then plt dot show displays the chart.</a:t>
            </a:r>
          </a:p>
          <a:p xmlns:a="http://schemas.openxmlformats.org/drawingml/2006/main"/>
          <a:p xmlns:a="http://schemas.openxmlformats.org/drawingml/2006/main">
            <a:r>
              <a:t>Look for the point at a load of minus five. It appears because we have not cleaned anything. A load of minus five percent cannot be a real reading. Rows with a missing target cannot appear at all, because a dot needs both numbers. After we apply our rules, we draw the same chart again and compare. Run this after the previous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ideas help us handle blanks.</a:t>
            </a:r>
          </a:p>
          <a:p xmlns:a="http://schemas.openxmlformats.org/drawingml/2006/main"/>
          <a:p xmlns:a="http://schemas.openxmlformats.org/drawingml/2006/main">
            <a:r>
              <a:t>First, NaN means a value is missing. It stands for not a number. A measured zero is a real recorded value, and a blank is a cell where nothing was recorded. If a sensor was off and logged nothing, we cannot say the energy used was zero.</a:t>
            </a:r>
          </a:p>
          <a:p xmlns:a="http://schemas.openxmlformats.org/drawingml/2006/main"/>
          <a:p xmlns:a="http://schemas.openxmlformats.org/drawingml/2006/main">
            <a:r>
              <a:t>Second, the tool isna with empty brackets asks a question of every cell, namely is this cell missing. The answer is True for yes and False for no.</a:t>
            </a:r>
          </a:p>
          <a:p xmlns:a="http://schemas.openxmlformats.org/drawingml/2006/main"/>
          <a:p xmlns:a="http://schemas.openxmlformats.org/drawingml/2006/main">
            <a:r>
              <a:t>Third, dot sum counts the True answers. It treats True as one and False as zero, so adding them up gives the number of missing cells. For a whole table, isna gives an answer for each cell, and sum then counts them down each column.</a:t>
            </a:r>
          </a:p>
          <a:p xmlns:a="http://schemas.openxmlformats.org/drawingml/2006/main"/>
          <a:p xmlns:a="http://schemas.openxmlformats.org/drawingml/2006/main">
            <a:r>
              <a:t>So isna followed by sum gives us the number of blanks in every column in one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count the blanks in each column of the original table.</a:t>
            </a:r>
          </a:p>
          <a:p xmlns:a="http://schemas.openxmlformats.org/drawingml/2006/main"/>
          <a:p xmlns:a="http://schemas.openxmlformats.org/drawingml/2006/main">
            <a:r>
              <a:t>There is a single line. It writes print, then raw underscore data dot isna with empty brackets, then dot sum with empty brackets.</a:t>
            </a:r>
          </a:p>
          <a:p xmlns:a="http://schemas.openxmlformats.org/drawingml/2006/main"/>
          <a:p xmlns:a="http://schemas.openxmlformats.org/drawingml/2006/main">
            <a:r>
              <a:t>We read it from the inside out. Isna turns the table into a grid of True and False answers, with True wherever a cell is missing. Sum then adds those answers down each column, so we get one number per column.</a:t>
            </a:r>
          </a:p>
          <a:p xmlns:a="http://schemas.openxmlformats.org/drawingml/2006/main"/>
          <a:p xmlns:a="http://schemas.openxmlformats.org/drawingml/2006/main">
            <a:r>
              <a:t>The output lists each column name followed by its count of missing cells. A zero means that column has no blanks. A larger number tells us how many cells we must decide about. That decides which columns need a rule later.</a:t>
            </a:r>
          </a:p>
          <a:p xmlns:a="http://schemas.openxmlformats.org/drawingml/2006/main"/>
          <a:p xmlns:a="http://schemas.openxmlformats.org/drawingml/2006/main">
            <a:r>
              <a:t>Use your own copy of the file, and run the cells in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look for repeated observations.</a:t>
            </a:r>
          </a:p>
          <a:p xmlns:a="http://schemas.openxmlformats.org/drawingml/2006/main"/>
          <a:p xmlns:a="http://schemas.openxmlformats.org/drawingml/2006/main">
            <a:r>
              <a:t>The column record underscore id is meant to identify one observation. Equipment underscore id names the equipment and is allowed to repeat. So we search for repeats in record underscore id.</a:t>
            </a:r>
          </a:p>
          <a:p xmlns:a="http://schemas.openxmlformats.org/drawingml/2006/main"/>
          <a:p xmlns:a="http://schemas.openxmlformats.org/drawingml/2006/main">
            <a:r>
              <a:t>The tool is duplicated, and we put the column name in quotes inside the brackets. It goes down the column and marks each later copy of an ID as True. The first time an ID appears, it is marked False.</a:t>
            </a:r>
          </a:p>
          <a:p xmlns:a="http://schemas.openxmlformats.org/drawingml/2006/main"/>
          <a:p xmlns:a="http://schemas.openxmlformats.org/drawingml/2006/main">
            <a:r>
              <a:t>For example, take the IDs one, two, one. The answers are False, False, True. The second one is marked because it is a later copy.</a:t>
            </a:r>
          </a:p>
          <a:p xmlns:a="http://schemas.openxmlformats.org/drawingml/2006/main"/>
          <a:p xmlns:a="http://schemas.openxmlformats.org/drawingml/2006/main">
            <a:r>
              <a:t>Our rule keeps the first occurrence, so the later copy is the one we remove. The supplied file has one later copy of record ID one. Repeated equipment labels are normal and are not a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now find and count the repeated record IDs.</a:t>
            </a:r>
          </a:p>
          <a:p xmlns:a="http://schemas.openxmlformats.org/drawingml/2006/main"/>
          <a:p xmlns:a="http://schemas.openxmlformats.org/drawingml/2006/main">
            <a:r>
              <a:t>The first line is is underscore repeated underscore record equals raw underscore data dot duplicated, with record underscore id in quotes. It stores a column of True and False answers, one for each row.</a:t>
            </a:r>
          </a:p>
          <a:p xmlns:a="http://schemas.openxmlformats.org/drawingml/2006/main"/>
          <a:p xmlns:a="http://schemas.openxmlformats.org/drawingml/2006/main">
            <a:r>
              <a:t>The second line prints that column. We see an answer for every row, and we look for any True.</a:t>
            </a:r>
          </a:p>
          <a:p xmlns:a="http://schemas.openxmlformats.org/drawingml/2006/main"/>
          <a:p xmlns:a="http://schemas.openxmlformats.org/drawingml/2006/main">
            <a:r>
              <a:t>The third line prints is underscore repeated underscore record dot sum. Because True counts as one, the sum is the number of later copies.</a:t>
            </a:r>
          </a:p>
          <a:p xmlns:a="http://schemas.openxmlformats.org/drawingml/2006/main"/>
          <a:p xmlns:a="http://schemas.openxmlformats.org/drawingml/2006/main">
            <a:r>
              <a:t>The printed total tells us how many rows would be removed if we dropped repeats. Read each input before running, and use your own copy of the file. Run the cells in order.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Finding a repeat and removing it are two different actions. Duplicated answers a question. Drop underscore duplicates takes action.</a:t>
            </a:r>
          </a:p>
          <a:p xmlns:a="http://schemas.openxmlformats.org/drawingml/2006/main"/>
          <a:p xmlns:a="http://schemas.openxmlformats.org/drawingml/2006/main">
            <a:r>
              <a:t>We write drop underscore duplicates with record underscore id in quotes inside the brackets. It returns a table without the later copies. It keeps the first occurrence of each record ID.</a:t>
            </a:r>
          </a:p>
          <a:p xmlns:a="http://schemas.openxmlformats.org/drawingml/2006/main"/>
          <a:p xmlns:a="http://schemas.openxmlformats.org/drawingml/2006/main">
            <a:r>
              <a:t>We add dot copy with empty brackets after it. Copy makes an independent working table, so changes we make later cannot affect any other table.</a:t>
            </a:r>
          </a:p>
          <a:p xmlns:a="http://schemas.openxmlformats.org/drawingml/2006/main"/>
          <a:p xmlns:a="http://schemas.openxmlformats.org/drawingml/2006/main">
            <a:r>
              <a:t>We also want to count rows. The function len, which is short for length, gives the number of rows in a table.</a:t>
            </a:r>
          </a:p>
          <a:p xmlns:a="http://schemas.openxmlformats.org/drawingml/2006/main"/>
          <a:p xmlns:a="http://schemas.openxmlformats.org/drawingml/2006/main">
            <a:r>
              <a:t>This step builds our working table from the raw one. The original raw underscore data stays untouched, so it still has all of its 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create the working table.</a:t>
            </a:r>
          </a:p>
          <a:p xmlns:a="http://schemas.openxmlformats.org/drawingml/2006/main"/>
          <a:p xmlns:a="http://schemas.openxmlformats.org/drawingml/2006/main">
            <a:r>
              <a:t>The first line is cleaned underscore data equals raw underscore data dot drop underscore duplicates, with record underscore id in quotes, followed by dot copy. Reading it left to right, we take the raw table, drop any later repeat of a record ID, and copy the result into a new table named cleaned underscore data.</a:t>
            </a:r>
          </a:p>
          <a:p xmlns:a="http://schemas.openxmlformats.org/drawingml/2006/main"/>
          <a:p xmlns:a="http://schemas.openxmlformats.org/drawingml/2006/main">
            <a:r>
              <a:t>The second line prints len of raw underscore data, the number of rows in the original. The third prints len of cleaned underscore data, the number of rows in the working table.</a:t>
            </a:r>
          </a:p>
          <a:p xmlns:a="http://schemas.openxmlformats.org/drawingml/2006/main"/>
          <a:p xmlns:a="http://schemas.openxmlformats.org/drawingml/2006/main">
            <a:r>
              <a:t>We compare the two numbers. The working table should have fewer rows by exactly the number of later copies we found earlier. The raw table has not changed, which is why we kept two names. Read each input before running, and use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cleaning question is whether each row has a recorded target. The target is motor temperature in degrees Celsius. If it is missing, we cannot use that row as an observed outcome.</a:t>
            </a:r>
          </a:p>
          <a:p xmlns:a="http://schemas.openxmlformats.org/drawingml/2006/main"/>
          <a:p xmlns:a="http://schemas.openxmlformats.org/drawingml/2006/main">
            <a:r>
              <a:t>We write cleaned underscore data, then target in quotes inside square brackets. That selects the target column.</a:t>
            </a:r>
          </a:p>
          <a:p xmlns:a="http://schemas.openxmlformats.org/drawingml/2006/main"/>
          <a:p xmlns:a="http://schemas.openxmlformats.org/drawingml/2006/main">
            <a:r>
              <a:t>Then we add dot notna with empty brackets. Notna asks whether each value is present. It is the opposite of isna. It returns True for a recorded value and False for a missing one. A recorded target of zero counts as present, because zero is a real value.</a:t>
            </a:r>
          </a:p>
          <a:p xmlns:a="http://schemas.openxmlformats.org/drawingml/2006/main"/>
          <a:p xmlns:a="http://schemas.openxmlformats.org/drawingml/2006/main">
            <a:r>
              <a:t>The next example only creates the answers. It does not delete any rows yet. Deleting is a separate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look at the target values and then at the answers about them.</a:t>
            </a:r>
          </a:p>
          <a:p xmlns:a="http://schemas.openxmlformats.org/drawingml/2006/main"/>
          <a:p xmlns:a="http://schemas.openxmlformats.org/drawingml/2006/main">
            <a:r>
              <a:t>The first line is target underscore is underscore recorded equals cleaned underscore data, target in quotes in square brackets, dot notna. This stores one True or False answer for each row.</a:t>
            </a:r>
          </a:p>
          <a:p xmlns:a="http://schemas.openxmlformats.org/drawingml/2006/main"/>
          <a:p xmlns:a="http://schemas.openxmlformats.org/drawingml/2006/main">
            <a:r>
              <a:t>The second line prints the first five target values, using dot head. The third prints the first five answers.</a:t>
            </a:r>
          </a:p>
          <a:p xmlns:a="http://schemas.openxmlformats.org/drawingml/2006/main"/>
          <a:p xmlns:a="http://schemas.openxmlformats.org/drawingml/2006/main">
            <a:r>
              <a:t>We read the two outputs side by side. Wherever a target value shows NaN, the answer beside it is False. Wherever there is a number, the answer is True. This check shows us that the answers match what we see in the data.</a:t>
            </a:r>
          </a:p>
          <a:p xmlns:a="http://schemas.openxmlformats.org/drawingml/2006/main"/>
          <a:p xmlns:a="http://schemas.openxmlformats.org/drawingml/2006/main">
            <a:r>
              <a:t>Read each input before running, and use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use the True and False answers to choose rows.</a:t>
            </a:r>
          </a:p>
          <a:p xmlns:a="http://schemas.openxmlformats.org/drawingml/2006/main"/>
          <a:p xmlns:a="http://schemas.openxmlformats.org/drawingml/2006/main">
            <a:r>
              <a:t>We write cleaned underscore data, then square brackets containing target underscore is underscore recorded. This keeps the rows whose answer is True. Rows whose answer is False are left out of the table that comes back.</a:t>
            </a:r>
          </a:p>
          <a:p xmlns:a="http://schemas.openxmlformats.org/drawingml/2006/main"/>
          <a:p xmlns:a="http://schemas.openxmlformats.org/drawingml/2006/main">
            <a:r>
              <a:t>A column of True and False answers used like this is called a Boolean mask. Boolean is the word for a value that can only be True or False. Think of a mask with holes. The rows lying under True holes show through and the rest are covered up. The variable name does not need to end in underscore mask.</a:t>
            </a:r>
          </a:p>
          <a:p xmlns:a="http://schemas.openxmlformats.org/drawingml/2006/main"/>
          <a:p xmlns:a="http://schemas.openxmlformats.org/drawingml/2006/main">
            <a:r>
              <a:t>Notice there are two uses of square brackets. When we put a quoted column name inside them, we select a column. When we put a column of True and False answers inside them, we select rows. We make the answers from the same table we select from, so the row labels line up. Creating the answers and using them are two separate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try the target condition by itself.</a:t>
            </a:r>
          </a:p>
          <a:p xmlns:a="http://schemas.openxmlformats.org/drawingml/2006/main"/>
          <a:p xmlns:a="http://schemas.openxmlformats.org/drawingml/2006/main">
            <a:r>
              <a:t>The first line is rows underscore with underscore target equals cleaned underscore data, then target underscore is underscore recorded in square brackets, then dot copy. That keeps only the rows with a recorded target and stores them as a new table.</a:t>
            </a:r>
          </a:p>
          <a:p xmlns:a="http://schemas.openxmlformats.org/drawingml/2006/main"/>
          <a:p xmlns:a="http://schemas.openxmlformats.org/drawingml/2006/main">
            <a:r>
              <a:t>The second line prints the number of rows in cleaned underscore data before the selection. The third prints the number of rows in rows underscore with underscore target.</a:t>
            </a:r>
          </a:p>
          <a:p xmlns:a="http://schemas.openxmlformats.org/drawingml/2006/main"/>
          <a:p xmlns:a="http://schemas.openxmlformats.org/drawingml/2006/main">
            <a:r>
              <a:t>The second number should be smaller by the count of missing targets. That confirms the mask removed exactly the rows we meant it to remove.</a:t>
            </a:r>
          </a:p>
          <a:p xmlns:a="http://schemas.openxmlformats.org/drawingml/2006/main"/>
          <a:p xmlns:a="http://schemas.openxmlformats.org/drawingml/2006/main">
            <a:r>
              <a:t>We have not changed cleaned underscore data itself here. We made a separate table so we could see the effect of one rule alone. Read each input before running, and use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second question is whether the load is valid. Load underscore pct is a percentage, and for this exercise the valid range is zero through one hundred, including both endpoints. So zero passes and one hundred passes. Minus five fails, and so would one hundred and one.</a:t>
            </a:r>
          </a:p>
          <a:p xmlns:a="http://schemas.openxmlformats.org/drawingml/2006/main"/>
          <a:p xmlns:a="http://schemas.openxmlformats.org/drawingml/2006/main">
            <a:r>
              <a:t>The tool is between, and we give it the two endpoints inside the brackets, zero and one hundred. Between returns True for every value inside that range, endpoints included, and False for every value outside.</a:t>
            </a:r>
          </a:p>
          <a:p xmlns:a="http://schemas.openxmlformats.org/drawingml/2006/main"/>
          <a:p xmlns:a="http://schemas.openxmlformats.org/drawingml/2006/main">
            <a:r>
              <a:t>The supplied file contains a load of minus five for record ID nine. That is impossible for a percentage load. Under our stated rule we reject that observation. We do not quietly change the reading to something that looks plausible, because we have no way of knowing what the true value was.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create the load answers and look at them next to the values.</a:t>
            </a:r>
          </a:p>
          <a:p xmlns:a="http://schemas.openxmlformats.org/drawingml/2006/main"/>
          <a:p xmlns:a="http://schemas.openxmlformats.org/drawingml/2006/main">
            <a:r>
              <a:t>The first line is load underscore is underscore valid equals cleaned underscore data, load underscore pct in square brackets, dot between with zero and one hundred. It stores a True or False answer for each row.</a:t>
            </a:r>
          </a:p>
          <a:p xmlns:a="http://schemas.openxmlformats.org/drawingml/2006/main"/>
          <a:p xmlns:a="http://schemas.openxmlformats.org/drawingml/2006/main">
            <a:r>
              <a:t>The second line prints the first ten load values, using head with ten inside the brackets. The third prints the first ten answers.</a:t>
            </a:r>
          </a:p>
          <a:p xmlns:a="http://schemas.openxmlformats.org/drawingml/2006/main"/>
          <a:p xmlns:a="http://schemas.openxmlformats.org/drawingml/2006/main">
            <a:r>
              <a:t>We read the two lists together. Every load inside the range zero to one hundred has True beside it. Any load outside it has False beside it. In the output the minus five is easy to spot, with a False next to it.</a:t>
            </a:r>
          </a:p>
          <a:p xmlns:a="http://schemas.openxmlformats.org/drawingml/2006/main"/>
          <a:p xmlns:a="http://schemas.openxmlformats.org/drawingml/2006/main">
            <a:r>
              <a:t>This lets us confirm that the rule works on real rows before we use it to remove anything. Read each input before running, and use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rows that pass both checks, so we need a way to combine two columns of True and False answers.</a:t>
            </a:r>
          </a:p>
          <a:p xmlns:a="http://schemas.openxmlformats.org/drawingml/2006/main"/>
          <a:p xmlns:a="http://schemas.openxmlformats.org/drawingml/2006/main">
            <a:r>
              <a:t>The symbol is the ampersand, which reads as and. Placed between two True and False columns, it gives True only when both answers are True. True and True gives True. Any pair containing a False gives False.</a:t>
            </a:r>
          </a:p>
          <a:p xmlns:a="http://schemas.openxmlformats.org/drawingml/2006/main"/>
          <a:p xmlns:a="http://schemas.openxmlformats.org/drawingml/2006/main">
            <a:r>
              <a:t>For pandas columns we must use this symbol. The plain Python word and does not work on whole columns.</a:t>
            </a:r>
          </a:p>
          <a:p xmlns:a="http://schemas.openxmlformats.org/drawingml/2006/main"/>
          <a:p xmlns:a="http://schemas.openxmlformats.org/drawingml/2006/main">
            <a:r>
              <a:t>Our rule for keeping a row is that it has a recorded target and a valid load. We have already stored each condition under its own name, which keeps the line short and easy to read. If you write the comparisons directly instead, put each one in brackets.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we test the rule on three records taken from the supplied file.</a:t>
            </a:r>
          </a:p>
          <a:p xmlns:a="http://schemas.openxmlformats.org/drawingml/2006/main"/>
          <a:p xmlns:a="http://schemas.openxmlformats.org/drawingml/2006/main">
            <a:r>
              <a:t>A row stays only when both checks pass.</a:t>
            </a:r>
          </a:p>
          <a:p xmlns:a="http://schemas.openxmlformats.org/drawingml/2006/main"/>
          <a:p xmlns:a="http://schemas.openxmlformats.org/drawingml/2006/main">
            <a:r>
              <a:t>Record one has a recorded target and a load of fifty-nine point one five percent. Both checks pass, so it stays.</a:t>
            </a:r>
          </a:p>
          <a:p xmlns:a="http://schemas.openxmlformats.org/drawingml/2006/main"/>
          <a:p xmlns:a="http://schemas.openxmlformats.org/drawingml/2006/main">
            <a:r>
              <a:t>Record four has a valid load of seventy-five point nine eight percent, but its target is blank. The target check fails, so the row goes.</a:t>
            </a:r>
          </a:p>
          <a:p xmlns:a="http://schemas.openxmlformats.org/drawingml/2006/main"/>
          <a:p xmlns:a="http://schemas.openxmlformats.org/drawingml/2006/main">
            <a:r>
              <a:t>Record nine has a recorded target, but its load is minus five percent. The load check fails, so the row goes too.</a:t>
            </a:r>
          </a:p>
          <a:p xmlns:a="http://schemas.openxmlformats.org/drawingml/2006/main"/>
          <a:p xmlns:a="http://schemas.openxmlformats.org/drawingml/2006/main">
            <a:r>
              <a:t>These are three chosen examples, and the full table has many more rows. The rule is the same for all of them. A row needs both conditions to be True before it is kept.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combine the two answers and keep the matching rows.</a:t>
            </a:r>
          </a:p>
          <a:p xmlns:a="http://schemas.openxmlformats.org/drawingml/2006/main"/>
          <a:p xmlns:a="http://schemas.openxmlformats.org/drawingml/2006/main">
            <a:r>
              <a:t>The first line is rows underscore to underscore keep equals target underscore is underscore recorded, an ampersand, then load underscore is underscore valid. The result is True only for rows that pass both checks.</a:t>
            </a:r>
          </a:p>
          <a:p xmlns:a="http://schemas.openxmlformats.org/drawingml/2006/main"/>
          <a:p xmlns:a="http://schemas.openxmlformats.org/drawingml/2006/main">
            <a:r>
              <a:t>The second line prints rows underscore to underscore keep dot sum. Since True counts as one, this is the number of rows we are about to keep.</a:t>
            </a:r>
          </a:p>
          <a:p xmlns:a="http://schemas.openxmlformats.org/drawingml/2006/main"/>
          <a:p xmlns:a="http://schemas.openxmlformats.org/drawingml/2006/main">
            <a:r>
              <a:t>The third line is cleaned underscore data equals cleaned underscore data, then rows underscore to underscore keep in square brackets, then dot copy. That replaces the working table with only the kept rows.</a:t>
            </a:r>
          </a:p>
          <a:p xmlns:a="http://schemas.openxmlformats.org/drawingml/2006/main"/>
          <a:p xmlns:a="http://schemas.openxmlformats.org/drawingml/2006/main">
            <a:r>
              <a:t>The fourth line prints the number of rows now in the working table. It matches the count we printed a moment ago, and that agreement confirms the selection worked. Read each input before running, and use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blank remains to handle, in the ambient temperature column. Ambient underscore c is the surrounding temperature in degrees Celsius.</a:t>
            </a:r>
          </a:p>
          <a:p xmlns:a="http://schemas.openxmlformats.org/drawingml/2006/main"/>
          <a:p xmlns:a="http://schemas.openxmlformats.org/drawingml/2006/main">
            <a:r>
              <a:t>We fill it with the median. The median is the middle of the recorded values after sorting them from smallest to largest. If there is an even number of values, it is the average of the two middle ones. Pandas skips missing values when it works out the median.</a:t>
            </a:r>
          </a:p>
          <a:p xmlns:a="http://schemas.openxmlformats.org/drawingml/2006/main"/>
          <a:p xmlns:a="http://schemas.openxmlformats.org/drawingml/2006/main">
            <a:r>
              <a:t>We compute the median after removing the invalid rows. That way, rows we threw away have no influence on the number we fill in.</a:t>
            </a:r>
          </a:p>
          <a:p xmlns:a="http://schemas.openxmlformats.org/drawingml/2006/main"/>
          <a:p xmlns:a="http://schemas.openxmlformats.org/drawingml/2006/main">
            <a:r>
              <a:t>The tool fillna with a value in the brackets replaces only the missing entries and leaves every recorded value alone. We assign the result back to the ambient underscore c column.</a:t>
            </a:r>
          </a:p>
          <a:p xmlns:a="http://schemas.openxmlformats.org/drawingml/2006/main"/>
          <a:p xmlns:a="http://schemas.openxmlformats.org/drawingml/2006/main">
            <a:r>
              <a:t>We fill only ambient temperature. We do not invent missing targets. The filled numbers are estimates, so we must say so when we report our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fill the blank ambient temperatures with the median.</a:t>
            </a:r>
          </a:p>
          <a:p xmlns:a="http://schemas.openxmlformats.org/drawingml/2006/main"/>
          <a:p xmlns:a="http://schemas.openxmlformats.org/drawingml/2006/main">
            <a:r>
              <a:t>The first line takes the ambient underscore c column of cleaned underscore data and calls dot median. The result is stored as median underscore ambient underscore c. We compute it on the retained, recorded ambient temperatures only.</a:t>
            </a:r>
          </a:p>
          <a:p xmlns:a="http://schemas.openxmlformats.org/drawingml/2006/main"/>
          <a:p xmlns:a="http://schemas.openxmlformats.org/drawingml/2006/main">
            <a:r>
              <a:t>The second statement replaces the column. On the right side we take the same column and call fillna with the median in brackets. Any blank gets the median, and every recorded value stays as it was. The result is assigned back into the ambient underscore c column.</a:t>
            </a:r>
          </a:p>
          <a:p xmlns:a="http://schemas.openxmlformats.org/drawingml/2006/main"/>
          <a:p xmlns:a="http://schemas.openxmlformats.org/drawingml/2006/main">
            <a:r>
              <a:t>The third line prints the median, converted with float and rounded to three decimal places. The slide gives it as twenty-six point zero seven degrees Celsius. The fourth line prints the missing count for every column.</a:t>
            </a:r>
          </a:p>
          <a:p xmlns:a="http://schemas.openxmlformats.org/drawingml/2006/main"/>
          <a:p xmlns:a="http://schemas.openxmlformats.org/drawingml/2006/main">
            <a:r>
              <a:t>That last output should show zero in every column, so no blank cells remain. The filled values are estimates, so we record that they were estimated.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trust the charts, we check the cleaned table. A table called cleaned underscore data is not automatically correct. The name is only a label, so we need evidence.</a:t>
            </a:r>
          </a:p>
          <a:p xmlns:a="http://schemas.openxmlformats.org/drawingml/2006/main"/>
          <a:p xmlns:a="http://schemas.openxmlformats.org/drawingml/2006/main">
            <a:r>
              <a:t>We count the original rows and the retained rows. We check again for repeated record IDs. We check again for missing values. And we check again that every load is valid.</a:t>
            </a:r>
          </a:p>
          <a:p xmlns:a="http://schemas.openxmlformats.org/drawingml/2006/main"/>
          <a:p xmlns:a="http://schemas.openxmlformats.org/drawingml/2006/main">
            <a:r>
              <a:t>For the last check we use the tool all with empty brackets. It answers True only when every row passes the condition. If even one row fails, it answers False.</a:t>
            </a:r>
          </a:p>
          <a:p xmlns:a="http://schemas.openxmlformats.org/drawingml/2006/main"/>
          <a:p xmlns:a="http://schemas.openxmlformats.org/drawingml/2006/main">
            <a:r>
              <a:t>A check like this confirms what the data actually contain.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run five checks on the cleaned table.</a:t>
            </a:r>
          </a:p>
          <a:p xmlns:a="http://schemas.openxmlformats.org/drawingml/2006/main"/>
          <a:p xmlns:a="http://schemas.openxmlformats.org/drawingml/2006/main">
            <a:r>
              <a:t>The first two lines print the number of rows before cleaning, from raw underscore data, and the number of rows after cleaning, from cleaned underscore data.</a:t>
            </a:r>
          </a:p>
          <a:p xmlns:a="http://schemas.openxmlformats.org/drawingml/2006/main"/>
          <a:p xmlns:a="http://schemas.openxmlformats.org/drawingml/2006/main">
            <a:r>
              <a:t>The third line counts repeated record IDs in the cleaned table, using duplicated and then sum. The fourth prints the missing count for each column. The fifth checks the load column with between zero and one hundred, followed by all, and prints True or False.</a:t>
            </a:r>
          </a:p>
          <a:p xmlns:a="http://schemas.openxmlformats.org/drawingml/2006/main"/>
          <a:p xmlns:a="http://schemas.openxmlformats.org/drawingml/2006/main">
            <a:r>
              <a:t>We expect ninety-one original rows and eighty-eight retained rows. We expect zero duplicate IDs and zero missing cells. And we expect True for the load check.</a:t>
            </a:r>
          </a:p>
          <a:p xmlns:a="http://schemas.openxmlformats.org/drawingml/2006/main"/>
          <a:p xmlns:a="http://schemas.openxmlformats.org/drawingml/2006/main">
            <a:r>
              <a:t>The filled temperatures are estimates. The raw table is unchanged, so it still holds the original gaps, and anyone can compare the two. Run this after the previous example, using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summarise the cleaned data.</a:t>
            </a:r>
          </a:p>
          <a:p xmlns:a="http://schemas.openxmlformats.org/drawingml/2006/main"/>
          <a:p xmlns:a="http://schemas.openxmlformats.org/drawingml/2006/main">
            <a:r>
              <a:t>Three tools describe one numeric column. Mean gives the average. Min gives the lowest value. Max gives the highest.</a:t>
            </a:r>
          </a:p>
          <a:p xmlns:a="http://schemas.openxmlformats.org/drawingml/2006/main"/>
          <a:p xmlns:a="http://schemas.openxmlformats.org/drawingml/2006/main">
            <a:r>
              <a:t>We also want results for each piece of equipment. The tool is groupby. It collects all the rows that share the same equipment label into a bundle, and then calculates on each bundle separately. So instead of one average for the whole file, we get one average per equipment label.</a:t>
            </a:r>
          </a:p>
          <a:p xmlns:a="http://schemas.openxmlformats.org/drawingml/2006/main"/>
          <a:p xmlns:a="http://schemas.openxmlformats.org/drawingml/2006/main">
            <a:r>
              <a:t>A group average describes the observations in this file. It does not prove that the equipment itself caused a difference.</a:t>
            </a:r>
          </a:p>
          <a:p xmlns:a="http://schemas.openxmlformats.org/drawingml/2006/main"/>
          <a:p xmlns:a="http://schemas.openxmlformats.org/drawingml/2006/main">
            <a:r>
              <a:t>We use the cleaned table for summaries and charts. If we used the raw table, repeated rows and impossible loads would distort every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tools prepare our summaries.</a:t>
            </a:r>
          </a:p>
          <a:p xmlns:a="http://schemas.openxmlformats.org/drawingml/2006/main"/>
          <a:p xmlns:a="http://schemas.openxmlformats.org/drawingml/2006/main">
            <a:r>
              <a:t>First, series dot mean. A Series is one column of a table. Mean adds up the known values and divides by how many there are. Pandas skips missing values by default. The answer has the same unit as the original column.</a:t>
            </a:r>
          </a:p>
          <a:p xmlns:a="http://schemas.openxmlformats.org/drawingml/2006/main"/>
          <a:p xmlns:a="http://schemas.openxmlformats.org/drawingml/2006/main">
            <a:r>
              <a:t>Second, series dot agg with a list of three names in quotes, mean, min and max. Agg is short for aggregate, which means combining many values into one summary. This applies the three calculations and returns a labelled Series with one result for each name.</a:t>
            </a:r>
          </a:p>
          <a:p xmlns:a="http://schemas.openxmlformats.org/drawingml/2006/main"/>
          <a:p xmlns:a="http://schemas.openxmlformats.org/drawingml/2006/main">
            <a:r>
              <a:t>Third, table dot groupby with a label column in brackets, followed by the value column in square brackets. This groups the value column by matching labels. We then call mean or sum to get one result per group. Rows with a missing group label are left out by default.</a:t>
            </a:r>
          </a:p>
          <a:p xmlns:a="http://schemas.openxmlformats.org/drawingml/2006/main"/>
          <a:p xmlns:a="http://schemas.openxmlformats.org/drawingml/2006/main">
            <a:r>
              <a:t>Together these let us summarise a whole column and each equipment group.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calculate summaries on the cleaned table.</a:t>
            </a:r>
          </a:p>
          <a:p xmlns:a="http://schemas.openxmlformats.org/drawingml/2006/main"/>
          <a:p xmlns:a="http://schemas.openxmlformats.org/drawingml/2006/main">
            <a:r>
              <a:t>The first line takes the target column of cleaned underscore data and calls agg with mean, min and max. The result is a small labelled set of three numbers, stored as target underscore summary.</a:t>
            </a:r>
          </a:p>
          <a:p xmlns:a="http://schemas.openxmlformats.org/drawingml/2006/main"/>
          <a:p xmlns:a="http://schemas.openxmlformats.org/drawingml/2006/main">
            <a:r>
              <a:t>The second statement is groupby on the equipment underscore id column, then the target column, then mean. It gives one average target for each piece of equipment, stored as mean underscore target underscore by underscore equipment.</a:t>
            </a:r>
          </a:p>
          <a:p xmlns:a="http://schemas.openxmlformats.org/drawingml/2006/main"/>
          <a:p xmlns:a="http://schemas.openxmlformats.org/drawingml/2006/main">
            <a:r>
              <a:t>The third line prints target underscore summary. The fourth prints the grouped means rounded to three decimal places.</a:t>
            </a:r>
          </a:p>
          <a:p xmlns:a="http://schemas.openxmlformats.org/drawingml/2006/main"/>
          <a:p xmlns:a="http://schemas.openxmlformats.org/drawingml/2006/main">
            <a:r>
              <a:t>The first printout shows the lowest, average and highest target across all cleaned rows. The second shows how the average differs between equipment. We keep the same unit as the target column. Remember that these averages describe this file only.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draw more charts, we choose the right chart for the question.</a:t>
            </a:r>
          </a:p>
          <a:p xmlns:a="http://schemas.openxmlformats.org/drawingml/2006/main"/>
          <a:p xmlns:a="http://schemas.openxmlformats.org/drawingml/2006/main">
            <a:r>
              <a:t>This week we use three. A bar chart compares named groups, such as the average target for each equipment group. A histogram counts how many individual readings fall in each numeric interval, which shows how the readings are spread. A scatter plot places each row by two numbers, such as target against load.</a:t>
            </a:r>
          </a:p>
          <a:p xmlns:a="http://schemas.openxmlformats.org/drawingml/2006/main"/>
          <a:p xmlns:a="http://schemas.openxmlformats.org/drawingml/2006/main">
            <a:r>
              <a:t>For each chart, we should be able to say what one mark means. One bar in a histogram is a count of readings in an interval. One dot in a scatter plot is one row. One bar in a bar chart is the summary for one group.</a:t>
            </a:r>
          </a:p>
          <a:p xmlns:a="http://schemas.openxmlformats.org/drawingml/2006/main"/>
          <a:p xmlns:a="http://schemas.openxmlformats.org/drawingml/2006/main">
            <a:r>
              <a:t>The slide says other chart types are reference examples only. Remember that changing the interval width in a histogram can change its shape, so we state our choice and also inspect the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match each chart to its job and label it with units.</a:t>
            </a:r>
          </a:p>
          <a:p xmlns:a="http://schemas.openxmlformats.org/drawingml/2006/main"/>
          <a:p xmlns:a="http://schemas.openxmlformats.org/drawingml/2006/main">
            <a:r>
              <a:t>A scatter plot compares two numeric columns. A histogram counts observations in value intervals. A bar chart compares summaries for groups.</a:t>
            </a:r>
          </a:p>
          <a:p xmlns:a="http://schemas.openxmlformats.org/drawingml/2006/main"/>
          <a:p xmlns:a="http://schemas.openxmlformats.org/drawingml/2006/main">
            <a:r>
              <a:t>To draw any of them, we call plt dot subplots. It creates a figure, which is the whole image, and axes, which is the area where the chart is drawn. We then pass ax equals the axes to pandas, so pandas knows where to draw.</a:t>
            </a:r>
          </a:p>
          <a:p xmlns:a="http://schemas.openxmlformats.org/drawingml/2006/main"/>
          <a:p xmlns:a="http://schemas.openxmlformats.org/drawingml/2006/main">
            <a:r>
              <a:t>Finally we label each axis, using set underscore xlabel for the horizontal one and set underscore ylabel for the vertical one. A label should say what is measured and its unit. A chart without labels forces the reader to guess.</a:t>
            </a:r>
          </a:p>
          <a:p xmlns:a="http://schemas.openxmlformats.org/drawingml/2006/main"/>
          <a:p xmlns:a="http://schemas.openxmlformats.org/drawingml/2006/main">
            <a:r>
              <a:t>We use ten bins for histograms, as the project requires.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ideas come before we draw the scatter plot.</a:t>
            </a:r>
          </a:p>
          <a:p xmlns:a="http://schemas.openxmlformats.org/drawingml/2006/main"/>
          <a:p xmlns:a="http://schemas.openxmlformats.org/drawingml/2006/main">
            <a:r>
              <a:t>First, plt dot subplots with empty brackets returns two objects. One is a figure, the whole image. The other is axes, the plotting area inside the image. We store them under two names of our choice, scatter underscore figure and scatter underscore axes. Although the second name is plural, one axes object holds one plot here.</a:t>
            </a:r>
          </a:p>
          <a:p xmlns:a="http://schemas.openxmlformats.org/drawingml/2006/main"/>
          <a:p xmlns:a="http://schemas.openxmlformats.org/drawingml/2006/main">
            <a:r>
              <a:t>Second, the argument ax equals tells pandas where to draw. In ax equals scatter underscore axes, the word ax on the left is a name defined by pandas, so we keep it exactly as written. The name on the right is our own variable that points to the plotting area.</a:t>
            </a:r>
          </a:p>
          <a:p xmlns:a="http://schemas.openxmlformats.org/drawingml/2006/main"/>
          <a:p xmlns:a="http://schemas.openxmlformats.org/drawingml/2006/main">
            <a:r>
              <a:t>Each new call to plt dot subplots creates a separate image and plotting area. We call it again each time we want a new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draw the scatter plot using the cleaned table.</a:t>
            </a:r>
          </a:p>
          <a:p xmlns:a="http://schemas.openxmlformats.org/drawingml/2006/main"/>
          <a:p xmlns:a="http://schemas.openxmlformats.org/drawingml/2006/main">
            <a:r>
              <a:t>The first line imports matplotlib dot pyplot as plt, the plotting library with its short name.</a:t>
            </a:r>
          </a:p>
          <a:p xmlns:a="http://schemas.openxmlformats.org/drawingml/2006/main"/>
          <a:p xmlns:a="http://schemas.openxmlformats.org/drawingml/2006/main">
            <a:r>
              <a:t>The second line calls plt dot subplots and stores the results as scatter underscore figure and scatter underscore axes. The figure is the whole image and the axes is the drawing area.</a:t>
            </a:r>
          </a:p>
          <a:p xmlns:a="http://schemas.openxmlformats.org/drawingml/2006/main"/>
          <a:p xmlns:a="http://schemas.openxmlformats.org/drawingml/2006/main">
            <a:r>
              <a:t>The third statement calls plot dot scatter on cleaned underscore data, with x equals load underscore pct and y equals target, drawing into scatter underscore axes. It places one dot for each row.</a:t>
            </a:r>
          </a:p>
          <a:p xmlns:a="http://schemas.openxmlformats.org/drawingml/2006/main"/>
          <a:p xmlns:a="http://schemas.openxmlformats.org/drawingml/2006/main">
            <a:r>
              <a:t>The next two lines set the horizontal label to load in percent and the vertical label to crusher energy in kilowatt hours per tonne. Plt dot show displays the chart.</a:t>
            </a:r>
          </a:p>
          <a:p xmlns:a="http://schemas.openxmlformats.org/drawingml/2006/main"/>
          <a:p xmlns:a="http://schemas.openxmlformats.org/drawingml/2006/main">
            <a:r>
              <a:t>Compare it with the chart drawn before cleaning. The impossible load is gone. We describe any trend we see in the dots, and we do not claim that load caused the energy use.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chart tools are next.</a:t>
            </a:r>
          </a:p>
          <a:p xmlns:a="http://schemas.openxmlformats.org/drawingml/2006/main"/>
          <a:p xmlns:a="http://schemas.openxmlformats.org/drawingml/2006/main">
            <a:r>
              <a:t>The first is series dot plot dot bar, with ax equals our drawing area. It draws one bar for each label in the Series. When the Series holds group means, each bar's height is that group's mean.</a:t>
            </a:r>
          </a:p>
          <a:p xmlns:a="http://schemas.openxmlformats.org/drawingml/2006/main"/>
          <a:p xmlns:a="http://schemas.openxmlformats.org/drawingml/2006/main">
            <a:r>
              <a:t>The second is series dot plot dot hist, with bins equals ten and ax equals our drawing area. A histogram groups the known values into ten intervals and counts how many observations land in each one. The height of each bar is a count of observations. It is no measurement value from the original column.</a:t>
            </a:r>
          </a:p>
          <a:p xmlns:a="http://schemas.openxmlformats.org/drawingml/2006/main"/>
          <a:p xmlns:a="http://schemas.openxmlformats.org/drawingml/2006/main">
            <a:r>
              <a:t>So a bar chart shows one summary number per label. A histogram shows how many readings fall in each numeric interval. Keeping that difference clear helps us read each chart correctly.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draw a bar chart of the group means.</a:t>
            </a:r>
          </a:p>
          <a:p xmlns:a="http://schemas.openxmlformats.org/drawingml/2006/main"/>
          <a:p xmlns:a="http://schemas.openxmlformats.org/drawingml/2006/main">
            <a:r>
              <a:t>The first line creates a new figure and drawing area, named bar underscore figure and bar underscore axes. Each chart gets its own image and its own plotting area.</a:t>
            </a:r>
          </a:p>
          <a:p xmlns:a="http://schemas.openxmlformats.org/drawingml/2006/main"/>
          <a:p xmlns:a="http://schemas.openxmlformats.org/drawingml/2006/main">
            <a:r>
              <a:t>The second line takes mean underscore target underscore by underscore equipment, the grouped averages we computed earlier, and calls plot dot bar into bar underscore axes. We get one bar for each equipment label, and the bar height is that equipment's average crusher energy.</a:t>
            </a:r>
          </a:p>
          <a:p xmlns:a="http://schemas.openxmlformats.org/drawingml/2006/main"/>
          <a:p xmlns:a="http://schemas.openxmlformats.org/drawingml/2006/main">
            <a:r>
              <a:t>The next two lines label the horizontal direction equipment ID and the vertical direction mean crusher energy in kilowatt hours per tonne. Plt dot show displays the chart.</a:t>
            </a:r>
          </a:p>
          <a:p xmlns:a="http://schemas.openxmlformats.org/drawingml/2006/main"/>
          <a:p xmlns:a="http://schemas.openxmlformats.org/drawingml/2006/main">
            <a:r>
              <a:t>We read it by comparing bar heights between equipment labels. A taller bar means a higher average in this file. It does not prove the equipment is the cause. Run this after the previous examples, using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draw a histogram of the cleaned crusher energy readings.</a:t>
            </a:r>
          </a:p>
          <a:p xmlns:a="http://schemas.openxmlformats.org/drawingml/2006/main"/>
          <a:p xmlns:a="http://schemas.openxmlformats.org/drawingml/2006/main">
            <a:r>
              <a:t>The first line creates a separate figure and plotting area, named histogram underscore figure and histogram underscore axes.</a:t>
            </a:r>
          </a:p>
          <a:p xmlns:a="http://schemas.openxmlformats.org/drawingml/2006/main"/>
          <a:p xmlns:a="http://schemas.openxmlformats.org/drawingml/2006/main">
            <a:r>
              <a:t>The second statement takes the target column of cleaned underscore data and calls plot dot hist with bins equals ten and ax equals histogram underscore axes. This groups the cleaned values into ten intervals and counts the observations in each.</a:t>
            </a:r>
          </a:p>
          <a:p xmlns:a="http://schemas.openxmlformats.org/drawingml/2006/main"/>
          <a:p xmlns:a="http://schemas.openxmlformats.org/drawingml/2006/main">
            <a:r>
              <a:t>The next two lines label the horizontal direction crusher energy in kilowatt hours per tonne and the vertical direction observation count. Plt dot show displays the chart.</a:t>
            </a:r>
          </a:p>
          <a:p xmlns:a="http://schemas.openxmlformats.org/drawingml/2006/main"/>
          <a:p xmlns:a="http://schemas.openxmlformats.org/drawingml/2006/main">
            <a:r>
              <a:t>Now compare this with the histogram we drew before cleaning. Several things may have changed, such as the number of observations. We describe the differences we can see, and we do not explain them with causes that our data cannot support.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walkthrough for cleaning and charting is complete. Continue with this extension only if time permits. It is optional.</a:t>
            </a:r>
          </a:p>
          <a:p xmlns:a="http://schemas.openxmlformats.org/drawingml/2006/main"/>
          <a:p xmlns:a="http://schemas.openxmlformats.org/drawingml/2006/main">
            <a:r>
              <a:t>Sometimes a column that should hold numbers contains text that cannot be turned into a number, such as a word typed by mistake. That is a different problem from a blank cell, and we want to tell the two apart.</a:t>
            </a:r>
          </a:p>
          <a:p xmlns:a="http://schemas.openxmlformats.org/drawingml/2006/main"/>
          <a:p xmlns:a="http://schemas.openxmlformats.org/drawingml/2006/main">
            <a:r>
              <a:t>The next slides show a check for this. Our supplied file has no such text, so we expect the count of failed conversions to be zero. We reuse raw underscore data, the original table, so we inspect the entries exactly as they were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meet one tool for converting text to numbers. It is pd dot to underscore numeric, and we give it a column and errors equals coerce.</a:t>
            </a:r>
          </a:p>
          <a:p xmlns:a="http://schemas.openxmlformats.org/drawingml/2006/main"/>
          <a:p xmlns:a="http://schemas.openxmlformats.org/drawingml/2006/main">
            <a:r>
              <a:t>To convert means to change the stored type of each value. Numbers stay as numbers, and text that looks like a number becomes a number. The word coerce means to force. With coerce, any text that cannot be read as a number becomes a missing value.</a:t>
            </a:r>
          </a:p>
          <a:p xmlns:a="http://schemas.openxmlformats.org/drawingml/2006/main"/>
          <a:p xmlns:a="http://schemas.openxmlformats.org/drawingml/2006/main">
            <a:r>
              <a:t>That creates a small trap. A cell that was already blank also shows up as missing after conversion. So after converting, we compare the original column with the converted one. A conversion failure is a cell that held something in the original and became missing in the converted version. A blank that was already there is not counted as a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check whether any ambient temperature entries fail to convert.</a:t>
            </a:r>
          </a:p>
          <a:p xmlns:a="http://schemas.openxmlformats.org/drawingml/2006/main"/>
          <a:p xmlns:a="http://schemas.openxmlformats.org/drawingml/2006/main">
            <a:r>
              <a:t>The first statement calls pd dot to underscore numeric on the original ambient underscore c column, with errors equals coerce, and stores the result as ambient underscore numbers. Unreadable text would now be missing.</a:t>
            </a:r>
          </a:p>
          <a:p xmlns:a="http://schemas.openxmlformats.org/drawingml/2006/main"/>
          <a:p xmlns:a="http://schemas.openxmlformats.org/drawingml/2006/main">
            <a:r>
              <a:t>The second line asks which original cells were recorded, using notna, and stores the answers as value underscore was underscore recorded.</a:t>
            </a:r>
          </a:p>
          <a:p xmlns:a="http://schemas.openxmlformats.org/drawingml/2006/main"/>
          <a:p xmlns:a="http://schemas.openxmlformats.org/drawingml/2006/main">
            <a:r>
              <a:t>The third line combines two answers with the ampersand symbol. A conversion failed when the original value was recorded and the converted value is missing. The result is conversion underscore failed.</a:t>
            </a:r>
          </a:p>
          <a:p xmlns:a="http://schemas.openxmlformats.org/drawingml/2006/main"/>
          <a:p xmlns:a="http://schemas.openxmlformats.org/drawingml/2006/main">
            <a:r>
              <a:t>The fourth line prints the number of failures, using sum and converting it with int. The fifth prints the first rows that failed.</a:t>
            </a:r>
          </a:p>
          <a:p xmlns:a="http://schemas.openxmlformats.org/drawingml/2006/main"/>
          <a:p xmlns:a="http://schemas.openxmlformats.org/drawingml/2006/main">
            <a:r>
              <a:t>On our file we expect zero, and an empty table. That tells us the column holds no unreadable text.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extension is optional practice. It is not required for assignment six.</a:t>
            </a:r>
          </a:p>
          <a:p xmlns:a="http://schemas.openxmlformats.org/drawingml/2006/main"/>
          <a:p xmlns:a="http://schemas.openxmlformats.org/drawingml/2006/main">
            <a:r>
              <a:t>A function gives a reusable calculation a name. When we write a function, its body does nothing until we call it by name. Once defined, we can call it many times on different inputs.</a:t>
            </a:r>
          </a:p>
          <a:p xmlns:a="http://schemas.openxmlformats.org/drawingml/2006/main"/>
          <a:p xmlns:a="http://schemas.openxmlformats.org/drawingml/2006/main">
            <a:r>
              <a:t>A function has parameters, which are the inputs it expects. It sends back a result with the word return, and that result is passed back to whoever called the function.</a:t>
            </a:r>
          </a:p>
          <a:p xmlns:a="http://schemas.openxmlformats.org/drawingml/2006/main"/>
          <a:p xmlns:a="http://schemas.openxmlformats.org/drawingml/2006/main">
            <a:r>
              <a:t>The next example calculates the mean load for each equipment group. Its input is a list of records, where each record is a dictionary describing one row. Inside, the function turns those records into a table, groups it, and returns the means.</a:t>
            </a:r>
          </a:p>
          <a:p xmlns:a="http://schemas.openxmlformats.org/drawingml/2006/main"/>
          <a:p xmlns:a="http://schemas.openxmlformats.org/drawingml/2006/main">
            <a:r>
              <a:t>You can come back to this after the cleaning steps feel comfortable.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tools help us move between tables and plain Python values.</a:t>
            </a:r>
          </a:p>
          <a:p xmlns:a="http://schemas.openxmlformats.org/drawingml/2006/main"/>
          <a:p xmlns:a="http://schemas.openxmlformats.org/drawingml/2006/main">
            <a:r>
              <a:t>The first is to underscore dict. Called on a Series, it makes a dictionary that maps each label to its value. Called on a table with the word records in quotes, it makes a list of row dictionaries, one dictionary for each row, with column names as keys. We choose whichever form the example asks for.</a:t>
            </a:r>
          </a:p>
          <a:p xmlns:a="http://schemas.openxmlformats.org/drawingml/2006/main"/>
          <a:p xmlns:a="http://schemas.openxmlformats.org/drawingml/2006/main">
            <a:r>
              <a:t>The second is pd dot DataFrame with a collection in the brackets. It builds a table from Python values. Given a list of row dictionaries, it makes one row from each dictionary. Given a dictionary of column lists, the keys become the column names, and each list supplies the values for that column.</a:t>
            </a:r>
          </a:p>
          <a:p xmlns:a="http://schemas.openxmlformats.org/drawingml/2006/main"/>
          <a:p xmlns:a="http://schemas.openxmlformats.org/drawingml/2006/main">
            <a:r>
              <a:t>So to underscore dict turns a table into plain Python data, and DataFrame turns plain Python data back into a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define a function and call it.</a:t>
            </a:r>
          </a:p>
          <a:p xmlns:a="http://schemas.openxmlformats.org/drawingml/2006/main"/>
          <a:p xmlns:a="http://schemas.openxmlformats.org/drawingml/2006/main">
            <a:r>
              <a:t>The line starting with def defines the function. Its name is mean underscore load underscore by underscore equipment, and it takes one input, equipment underscore records. That is the list of row dictionaries given to the function.</a:t>
            </a:r>
          </a:p>
          <a:p xmlns:a="http://schemas.openxmlformats.org/drawingml/2006/main"/>
          <a:p xmlns:a="http://schemas.openxmlformats.org/drawingml/2006/main">
            <a:r>
              <a:t>Inside, the first line builds a table with pd dot DataFrame from those records. The second line groups the table by equipment underscore id, picks the load underscore pct column and takes the mean. The third line returns that result, converted with to underscore dict so it becomes a dictionary.</a:t>
            </a:r>
          </a:p>
          <a:p xmlns:a="http://schemas.openxmlformats.org/drawingml/2006/main"/>
          <a:p xmlns:a="http://schemas.openxmlformats.org/drawingml/2006/main">
            <a:r>
              <a:t>After the function, the next line converts raw underscore data into a list of row dictionaries with to underscore dict and the word records. We call that list raw underscore records.</a:t>
            </a:r>
          </a:p>
          <a:p xmlns:a="http://schemas.openxmlformats.org/drawingml/2006/main"/>
          <a:p xmlns:a="http://schemas.openxmlformats.org/drawingml/2006/main">
            <a:r>
              <a:t>The last line prints what the function returns when we give it raw underscore records. The output is a dictionary with one average load for each equipment label. Run this on your own copy of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session is ungraded cleaning practice. Open the notebook called guided underscore practice dot ipynb, and upload engineering underscore data dot csv into it.</a:t>
            </a:r>
          </a:p>
          <a:p xmlns:a="http://schemas.openxmlformats.org/drawingml/2006/main"/>
          <a:p xmlns:a="http://schemas.openxmlformats.org/drawingml/2006/main">
            <a:r>
              <a:t>Run the examples in the same order as the slides. After each result, explain it in your own words.</a:t>
            </a:r>
          </a:p>
          <a:p xmlns:a="http://schemas.openxmlformats.org/drawingml/2006/main"/>
          <a:p xmlns:a="http://schemas.openxmlformats.org/drawingml/2006/main">
            <a:r>
              <a:t>Assignment six and quiz six are waived, so no upload is required. The purpose is to understand the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your practice notebook, write a short explanation of your cleaning choices. Say why you removed a duplicate, and say how you handled a missing value.</a:t>
            </a:r>
          </a:p>
          <a:p xmlns:a="http://schemas.openxmlformats.org/drawingml/2006/main"/>
          <a:p xmlns:a="http://schemas.openxmlformats.org/drawingml/2006/main">
            <a:r>
              <a:t>Use the actual row counts and column names from your own results. A good note names the column, states the action you chose, and says whether a value was measured or estimated.</a:t>
            </a:r>
          </a:p>
          <a:p xmlns:a="http://schemas.openxmlformats.org/drawingml/2006/main"/>
          <a:p xmlns:a="http://schemas.openxmlformats.org/drawingml/2006/main">
            <a:r>
              <a:t>This is practice. It is no graded report, so use it to check that you can explain your own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Assignment six is not assigned for this cohort.</a:t>
            </a:r>
          </a:p>
          <a:p xmlns:a="http://schemas.openxmlformats.org/drawingml/2006/main"/>
          <a:p xmlns:a="http://schemas.openxmlformats.org/drawingml/2006/main">
            <a:r>
              <a:t>Save your practice notebook in Google Drive so you can come back to it for revision. Check the notebook name in Drive and reopen it to confirm it saved.</a:t>
            </a:r>
          </a:p>
          <a:p xmlns:a="http://schemas.openxmlformats.org/drawingml/2006/main"/>
          <a:p xmlns:a="http://schemas.openxmlformats.org/drawingml/2006/main">
            <a:r>
              <a:t>You do not need to upload it to an assignment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cohort has no Week 6 quiz, and we still check our understanding with two questions.</a:t>
            </a:r>
          </a:p>
          <a:p xmlns:a="http://schemas.openxmlformats.org/drawingml/2006/main"/>
          <a:p xmlns:a="http://schemas.openxmlformats.org/drawingml/2006/main">
            <a:r>
              <a:t>The first question is why a missing value is different from zero. Think of an unrecorded temperature compared with a temperature that was measured as zero degrees Celsius. The first means nothing was recorded. The second is a real recorded number.</a:t>
            </a:r>
          </a:p>
          <a:p xmlns:a="http://schemas.openxmlformats.org/drawingml/2006/main"/>
          <a:p xmlns:a="http://schemas.openxmlformats.org/drawingml/2006/main">
            <a:r>
              <a:t>The second question is why we keep the original CSV unchanged. Think about what we could no longer check if we had overwritten it.</a:t>
            </a:r>
          </a:p>
          <a:p xmlns:a="http://schemas.openxmlformats.org/drawingml/2006/main"/>
          <a:p xmlns:a="http://schemas.openxmlformats.org/drawingml/2006/main">
            <a:r>
              <a:t>Compare your answers with the earlier examples in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revision checklist. First, restart your practice notebook and run it from the top. Second, check the cleaning steps, the summary values and the chart labels, so each axis shows its quantity and unit.</a:t>
            </a:r>
          </a:p>
          <a:p xmlns:a="http://schemas.openxmlformats.org/drawingml/2006/main"/>
          <a:p xmlns:a="http://schemas.openxmlformats.org/drawingml/2006/main">
            <a:r>
              <a:t>Next, work through the Test one revision PDF with its matching practice CSV. Open a new notebook for it and keep its column names separate from this week's file.</a:t>
            </a:r>
          </a:p>
          <a:p xmlns:a="http://schemas.openxmlformats.org/drawingml/2006/main"/>
          <a:p xmlns:a="http://schemas.openxmlformats.org/drawingml/2006/main">
            <a:r>
              <a:t>No practice upload is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621a41aaf9844703"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7855e9389cbb46db"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24261bb6f8cf46a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596c3bd5df834e3f"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28cd1314dd4b474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f9bfbfd922284e7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E54EA7-03F9-447B-A6EF-325CD26DF697}"/>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91F9EA-C355-4AB3-B39C-EF3543DF0AB5}"/>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A94311-46C7-4C89-9628-47119EAD0DAB}"/>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90E688-1942-4D04-93B9-99FD3665577E}"/>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5AAA7D-7E95-4480-B565-71E522545952}"/>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C126FD-95FC-4A05-9C51-3DC19437C786}"/>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E7E24A-FE07-4053-8FA4-CEB7B1F26799}"/>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071B36E-D88D-47F2-84DE-DD13D1000E6D}"/>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B50864-E6C2-46BD-97B1-34772CE8D08E}"/>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C448B1-4A17-4F37-9B85-1176FEF74BCB}"/>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4fcc5ab324c42c2" Type="http://schemas.openxmlformats.org/officeDocument/2006/relationships/slideLayout" Target="../slideLayouts/slideLayout3.xml"/><Relationship Id="R10f13cd68e2e4f3b" Type="http://schemas.openxmlformats.org/officeDocument/2006/relationships/slideLayout" Target="../slideLayouts/slideLayout2.xml"/><Relationship Id="R1221f0736caa4182" Type="http://schemas.openxmlformats.org/officeDocument/2006/relationships/slideLayout" Target="../slideLayouts/slideLayout1.xml"/><Relationship Id="R292c41bb546c4235" Type="http://schemas.openxmlformats.org/officeDocument/2006/relationships/slideLayout" Target="../slideLayouts/slideLayout6.xml"/><Relationship Id="R36c03b3e3fcc462c" Type="http://schemas.openxmlformats.org/officeDocument/2006/relationships/slideLayout" Target="../slideLayouts/slideLayout5.xml"/><Relationship Id="R7d32618271904e4f" Type="http://schemas.openxmlformats.org/officeDocument/2006/relationships/slideLayout" Target="../slideLayouts/slideLayout4.xml"/><Relationship Id="Ra793fb454dca4aa6"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1f0736caa4182"/>
    <p:sldLayoutId xmlns:r="http://schemas.openxmlformats.org/officeDocument/2006/relationships" id="2147483650" r:id="R10f13cd68e2e4f3b"/>
    <p:sldLayoutId xmlns:r="http://schemas.openxmlformats.org/officeDocument/2006/relationships" id="2147483651" r:id="R04fcc5ab324c42c2"/>
    <p:sldLayoutId xmlns:r="http://schemas.openxmlformats.org/officeDocument/2006/relationships" id="2147483652" r:id="R7d32618271904e4f"/>
    <p:sldLayoutId xmlns:r="http://schemas.openxmlformats.org/officeDocument/2006/relationships" id="2147483653" r:id="R36c03b3e3fcc462c"/>
    <p:sldLayoutId xmlns:r="http://schemas.openxmlformats.org/officeDocument/2006/relationships" id="2147483654" r:id="R292c41bb546c42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0beac43872d41de" Type="http://schemas.openxmlformats.org/officeDocument/2006/relationships/slideLayout" Target="../slideLayouts/slideLayout6.xml"/><Relationship Id="R67bc02b1af644290" Type="http://schemas.openxmlformats.org/officeDocument/2006/relationships/notesSlide" Target="../notesSlides/notesSlide1.xml"/><Relationship Id="Rf0d494e8ee64477b" Type="http://schemas.openxmlformats.org/officeDocument/2006/relationships/image" Target="../media/image.png"/></Relationships>
</file>

<file path=ppt/slides/_rels/slide2.xml.rels><?xml version='1.0' encoding='UTF-8' standalone='yes'?>
<Relationships xmlns="http://schemas.openxmlformats.org/package/2006/relationships"><Relationship Id="Rdbbb9b64561d45f5" Type="http://schemas.openxmlformats.org/officeDocument/2006/relationships/slideLayout" Target="../slideLayouts/slideLayout6.xml"/><Relationship Id="Rff3a53c283cb4daa"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5fe066aa6554a6e" Type="http://schemas.openxmlformats.org/officeDocument/2006/relationships/slideLayout" Target="../slideLayouts/slideLayout6.xml"/><Relationship Id="Rf97c766a4dc144c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7289074263e84f42" Type="http://schemas.openxmlformats.org/officeDocument/2006/relationships/slideLayout" Target="../slideLayouts/slideLayout6.xml"/><Relationship Id="R89682ea20a2741f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320b138cf3324e3e" Type="http://schemas.openxmlformats.org/officeDocument/2006/relationships/slideLayout" Target="../slideLayouts/slideLayout6.xml"/><Relationship Id="R64f7672da682424b"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271194495f3c4771" Type="http://schemas.openxmlformats.org/officeDocument/2006/relationships/slideLayout" Target="../slideLayouts/slideLayout6.xml"/><Relationship Id="R6947745af538499a"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44438d8eb2c047ed" Type="http://schemas.openxmlformats.org/officeDocument/2006/relationships/slideLayout" Target="../slideLayouts/slideLayout6.xml"/><Relationship Id="Rd3f6a7f4d87545e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121cfc5f2dc4432d" Type="http://schemas.openxmlformats.org/officeDocument/2006/relationships/slideLayout" Target="../slideLayouts/slideLayout6.xml"/><Relationship Id="Rf4e5206d02ea434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74e540b2cb1f449b" Type="http://schemas.openxmlformats.org/officeDocument/2006/relationships/notesSlide" Target="../notesSlides/notesSlide9.xml"/><Relationship Id="Rd350cfd3792140d0"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f440e93ef4b44220" Type="http://schemas.openxmlformats.org/officeDocument/2006/relationships/slideLayout" Target="../slideLayouts/slideLayout6.xml"/><Relationship Id="Rfb11f49c984242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17efad007ee4404b" Type="http://schemas.openxmlformats.org/officeDocument/2006/relationships/slideLayout" Target="../slideLayouts/slideLayout6.xml"/><Relationship Id="R98f92fb5a69b4acb"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1ad87202dfd94200" Type="http://schemas.openxmlformats.org/officeDocument/2006/relationships/notesSlide" Target="../notesSlides/notesSlide12.xml"/><Relationship Id="Rec9e0e266c304f45"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443c9795b1b84221" Type="http://schemas.openxmlformats.org/officeDocument/2006/relationships/notesSlide" Target="../notesSlides/notesSlide13.xml"/><Relationship Id="Rd1708bee407947dc"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8be4afe6b8c74515" Type="http://schemas.openxmlformats.org/officeDocument/2006/relationships/slideLayout" Target="../slideLayouts/slideLayout6.xml"/><Relationship Id="Rf37964eae29d422b"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0f33f840a4bb4b9e" Type="http://schemas.openxmlformats.org/officeDocument/2006/relationships/slideLayout" Target="../slideLayouts/slideLayout6.xml"/><Relationship Id="R4514916c6d074ba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3ee6a688c5f04ba0" Type="http://schemas.openxmlformats.org/officeDocument/2006/relationships/notesSlide" Target="../notesSlides/notesSlide16.xml"/><Relationship Id="Rc8536433330f4e26"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ed774826088b496a" Type="http://schemas.openxmlformats.org/officeDocument/2006/relationships/notesSlide" Target="../notesSlides/notesSlide17.xml"/><Relationship Id="Rf73e2b4925074a7b"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2b3cc827cc6d42b5" Type="http://schemas.openxmlformats.org/officeDocument/2006/relationships/slideLayout" Target="../slideLayouts/slideLayout6.xml"/><Relationship Id="R66417accc959447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4579c552d2094bdb" Type="http://schemas.openxmlformats.org/officeDocument/2006/relationships/notesSlide" Target="../notesSlides/notesSlide19.xml"/><Relationship Id="R8aa01f21cea04787"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7b480b0510564f2c" Type="http://schemas.openxmlformats.org/officeDocument/2006/relationships/slideLayout" Target="../slideLayouts/slideLayout6.xml"/><Relationship Id="Rf300bc55aa53412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1dbc0e2e2284434e" Type="http://schemas.openxmlformats.org/officeDocument/2006/relationships/slideLayout" Target="../slideLayouts/slideLayout6.xml"/><Relationship Id="Rac3b4ce0c35d405b"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54bbf6e0720e4779" Type="http://schemas.openxmlformats.org/officeDocument/2006/relationships/notesSlide" Target="../notesSlides/notesSlide22.xml"/><Relationship Id="Rb253391c48b74af0"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8da78b62ab5d498a" Type="http://schemas.openxmlformats.org/officeDocument/2006/relationships/slideLayout" Target="../slideLayouts/slideLayout6.xml"/><Relationship Id="R92da51d3f605418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b304b7b8d3e84a3c" Type="http://schemas.openxmlformats.org/officeDocument/2006/relationships/notesSlide" Target="../notesSlides/notesSlide24.xml"/><Relationship Id="Rdc264bcbf2cf4b7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62b580b5f8344d1b" Type="http://schemas.openxmlformats.org/officeDocument/2006/relationships/slideLayout" Target="../slideLayouts/slideLayout6.xml"/><Relationship Id="Rfd2a4933b10140e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6b12d760c633462b" Type="http://schemas.openxmlformats.org/officeDocument/2006/relationships/notesSlide" Target="../notesSlides/notesSlide26.xml"/><Relationship Id="Raf334e0dba374638"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409c81a9eef4422b" Type="http://schemas.openxmlformats.org/officeDocument/2006/relationships/notesSlide" Target="../notesSlides/notesSlide27.xml"/><Relationship Id="R935b5b34aa554f46"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24d322f18d114bed" Type="http://schemas.openxmlformats.org/officeDocument/2006/relationships/slideLayout" Target="../slideLayouts/slideLayout6.xml"/><Relationship Id="Rc91d133f063c453c"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678febc97773455d" Type="http://schemas.openxmlformats.org/officeDocument/2006/relationships/notesSlide" Target="../notesSlides/notesSlide29.xml"/><Relationship Id="Rd7cc78bc808a43d3"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37c59a37057c4960" Type="http://schemas.openxmlformats.org/officeDocument/2006/relationships/notesSlide" Target="../notesSlides/notesSlide30.xml"/><Relationship Id="Ra205eea3dbf6450f"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619d26312ada4de8" Type="http://schemas.openxmlformats.org/officeDocument/2006/relationships/slideLayout" Target="../slideLayouts/slideLayout6.xml"/><Relationship Id="Rb49b497f17d1466b"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3254e1e2c9b04bdf" Type="http://schemas.openxmlformats.org/officeDocument/2006/relationships/slideLayout" Target="../slideLayouts/slideLayout6.xml"/><Relationship Id="Reb1ddfe457fd4e5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1219fdc35c7e4219" Type="http://schemas.openxmlformats.org/officeDocument/2006/relationships/notesSlide" Target="../notesSlides/notesSlide33.xml"/><Relationship Id="Rd505f8b3ab304630"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57279ac51e284e84" Type="http://schemas.openxmlformats.org/officeDocument/2006/relationships/notesSlide" Target="../notesSlides/notesSlide34.xml"/><Relationship Id="R71e39bfa9abf439b"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285d2db95b304c30" Type="http://schemas.openxmlformats.org/officeDocument/2006/relationships/slideLayout" Target="../slideLayouts/slideLayout6.xml"/><Relationship Id="R5ebc359c57d2465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072564d99c474eec" Type="http://schemas.openxmlformats.org/officeDocument/2006/relationships/slideLayout" Target="../slideLayouts/slideLayout6.xml"/><Relationship Id="R1659298d43344ee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0a6cbc37c2424192" Type="http://schemas.openxmlformats.org/officeDocument/2006/relationships/notesSlide" Target="../notesSlides/notesSlide37.xml"/><Relationship Id="R1e48555cde0e48d5"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b6634691678544dd" Type="http://schemas.openxmlformats.org/officeDocument/2006/relationships/notesSlide" Target="../notesSlides/notesSlide38.xml"/><Relationship Id="Rbb904cbeadf14226"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0cbbf7168bb24f7f" Type="http://schemas.openxmlformats.org/officeDocument/2006/relationships/notesSlide" Target="../notesSlides/notesSlide39.xml"/><Relationship Id="R6901b16fdf0e4085" Type="http://schemas.openxmlformats.org/officeDocument/2006/relationships/image" Target="../media/image2.png"/><Relationship Id="Rfe42b00649954d6c"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0715342ddb9f42f4" Type="http://schemas.openxmlformats.org/officeDocument/2006/relationships/slideLayout" Target="../slideLayouts/slideLayout6.xml"/><Relationship Id="Rd5a8fdb823cc45a9"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359642dec25947c2" Type="http://schemas.openxmlformats.org/officeDocument/2006/relationships/notesSlide" Target="../notesSlides/notesSlide41.xml"/><Relationship Id="Re231204c8e184b38"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c8720e27aa0c4370" Type="http://schemas.openxmlformats.org/officeDocument/2006/relationships/slideLayout" Target="../slideLayouts/slideLayout6.xml"/><Relationship Id="Rfc45649bacf64c4c"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026447dfc5b94f0d" Type="http://schemas.openxmlformats.org/officeDocument/2006/relationships/notesSlide" Target="../notesSlides/notesSlide43.xml"/><Relationship Id="R22d9144c93d7473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e898d23bfd3d40d3" Type="http://schemas.openxmlformats.org/officeDocument/2006/relationships/slideLayout" Target="../slideLayouts/slideLayout6.xml"/><Relationship Id="Rfc99a31e45ae4ac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2f684e695c414bcd" Type="http://schemas.openxmlformats.org/officeDocument/2006/relationships/notesSlide" Target="../notesSlides/notesSlide45.xml"/><Relationship Id="R5cd94b92147a4025"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75924e02166c4700" Type="http://schemas.openxmlformats.org/officeDocument/2006/relationships/slideLayout" Target="../slideLayouts/slideLayout6.xml"/><Relationship Id="R9f28c878811d401e"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56382f99ad7f4f4d" Type="http://schemas.openxmlformats.org/officeDocument/2006/relationships/notesSlide" Target="../notesSlides/notesSlide47.xml"/><Relationship Id="Rc0f0444fcd0e438e"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105e0b922314459d" Type="http://schemas.openxmlformats.org/officeDocument/2006/relationships/notesSlide" Target="../notesSlides/notesSlide48.xml"/><Relationship Id="Red5675c7eec344b0"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2614bfb6a4bf4d24" Type="http://schemas.openxmlformats.org/officeDocument/2006/relationships/slideLayout" Target="../slideLayouts/slideLayout6.xml"/><Relationship Id="Rab6664464de4416d"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0ea42f1c95974c6b" Type="http://schemas.openxmlformats.org/officeDocument/2006/relationships/slideLayout" Target="../slideLayouts/slideLayout6.xml"/><Relationship Id="Rdf930bc2e5dc45e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5c9a1fb250e44d37" Type="http://schemas.openxmlformats.org/officeDocument/2006/relationships/notesSlide" Target="../notesSlides/notesSlide51.xml"/><Relationship Id="Rd61f4923e0ba44c9"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5c20595b4a5c4110" Type="http://schemas.openxmlformats.org/officeDocument/2006/relationships/notesSlide" Target="../notesSlides/notesSlide52.xml"/><Relationship Id="R83a34d3379024dcf"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0db8e62043884b72" Type="http://schemas.openxmlformats.org/officeDocument/2006/relationships/slideLayout" Target="../slideLayouts/slideLayout6.xml"/><Relationship Id="R4c79ac43d70c4d5e"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dcbfcf862b0c45ce" Type="http://schemas.openxmlformats.org/officeDocument/2006/relationships/notesSlide" Target="../notesSlides/notesSlide54.xml"/><Relationship Id="Re9e35b1510054aee"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2265742dcd974906" Type="http://schemas.openxmlformats.org/officeDocument/2006/relationships/slideLayout" Target="../slideLayouts/slideLayout6.xml"/><Relationship Id="Rfc0cdc8c738c4e71"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47c55c713bc24333" Type="http://schemas.openxmlformats.org/officeDocument/2006/relationships/notesSlide" Target="../notesSlides/notesSlide56.xml"/><Relationship Id="Ra70107887a704f55" Type="http://schemas.openxmlformats.org/officeDocument/2006/relationships/slideLayout" Target="../slideLayouts/slideLayout6.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B98DBC2-A13F-4F11-929C-D7D073556BB4}"/>
              </a:ext>
            </a:extLst>
          </p:cNvPr>
          <p:cNvPicPr>
            <a:picLocks xmlns:a="http://schemas.openxmlformats.org/drawingml/2006/main" noChangeAspect="1"/>
          </p:cNvPicPr>
          <p:nvPr/>
        </p:nvPicPr>
        <p:blipFill>
          <a:blip xmlns:r="http://schemas.openxmlformats.org/officeDocument/2006/relationships" xmlns:a="http://schemas.openxmlformats.org/drawingml/2006/main" r:embed="Rf0d494e8ee64477b"/>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7CC38F-6105-42BA-B156-02300FC20D78}"/>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4463752B-DC8A-457F-A33F-8510B30EA462}"/>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CML3113   WEEK 6</a:t>
            </a:r>
          </a:p>
        </p:txBody>
      </p:sp>
      <p:sp>
        <p:nvSpPr>
          <p:cNvPr id="4" name="">
            <a:extLst xmlns:a="http://schemas.openxmlformats.org/drawingml/2006/main">
              <a:ext uri="{FF2B5EF4-FFF2-40B4-BE49-F238E27FC236}">
                <a16:creationId xmlns:a16="http://schemas.microsoft.com/office/drawing/2014/main" id="{7069F85E-B035-41BA-8E00-357FC86DBE53}"/>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Cleaning data and explaining changes</a:t>
            </a:r>
          </a:p>
        </p:txBody>
      </p:sp>
      <p:sp>
        <p:nvSpPr>
          <p:cNvPr id="5" name="">
            <a:extLst xmlns:a="http://schemas.openxmlformats.org/drawingml/2006/main">
              <a:ext uri="{FF2B5EF4-FFF2-40B4-BE49-F238E27FC236}">
                <a16:creationId xmlns:a16="http://schemas.microsoft.com/office/drawing/2014/main" id="{082973A5-BC77-45EE-B93B-EDAAB446A143}"/>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Mining and Petroleum Engineering</a:t>
            </a:r>
          </a:p>
        </p:txBody>
      </p:sp>
      <p:sp>
        <p:nvSpPr>
          <p:cNvPr id="6" name="">
            <a:extLst xmlns:a="http://schemas.openxmlformats.org/drawingml/2006/main">
              <a:ext uri="{FF2B5EF4-FFF2-40B4-BE49-F238E27FC236}">
                <a16:creationId xmlns:a16="http://schemas.microsoft.com/office/drawing/2014/main" id="{DEDD3424-F9FE-4576-BD0D-2EEEA2442054}"/>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Cleaning and practical revision</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A6 and Quiz 6: not assigned</a:t>
            </a:r>
          </a:p>
        </p:txBody>
      </p:sp>
    </p:spTree>
    <p:extLst>
      <p:ext uri="{BB962C8B-B14F-4D97-AF65-F5344CB8AC3E}">
        <p14:creationId xmlns:p14="http://schemas.microsoft.com/office/powerpoint/2010/main" val="5630004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D25856-D930-4B99-956A-D680191426A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9673E8B-BB88-449D-B8CA-86DBE993F8A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978E5CB-6941-483D-9CA4-F07F34C5297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 clean, check and explain</a:t>
            </a:r>
          </a:p>
        </p:txBody>
      </p:sp>
      <p:sp>
        <p:nvSpPr>
          <p:cNvPr id="4" name="">
            <a:extLst xmlns:a="http://schemas.openxmlformats.org/drawingml/2006/main">
              <a:ext uri="{FF2B5EF4-FFF2-40B4-BE49-F238E27FC236}">
                <a16:creationId xmlns:a16="http://schemas.microsoft.com/office/drawing/2014/main" id="{95DD0961-533B-4496-96D1-56FE9DEDE21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1AB91AD-AF72-4019-BDB8-87FB942EA77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5F963983-D397-4CD9-BA50-86C91FC0788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Inspect the CSV → remove duplicate observations → keep valid rows → fill missing temperatures → summarise → plot.</a:t>
            </a:r>
          </a:p>
        </p:txBody>
      </p:sp>
      <p:sp>
        <p:nvSpPr>
          <p:cNvPr id="7" name="">
            <a:extLst xmlns:a="http://schemas.openxmlformats.org/drawingml/2006/main">
              <a:ext uri="{FF2B5EF4-FFF2-40B4-BE49-F238E27FC236}">
                <a16:creationId xmlns:a16="http://schemas.microsoft.com/office/drawing/2014/main" id="{7E0D8E8A-3F62-48D8-A960-6C06FA9EFF4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A6 and Quiz 6 are waived for CML3113. This lesson is ungraded practice; no upload or quiz response is required.</a:t>
            </a:r>
          </a:p>
        </p:txBody>
      </p:sp>
      <p:sp>
        <p:nvSpPr>
          <p:cNvPr id="8" name="">
            <a:extLst xmlns:a="http://schemas.openxmlformats.org/drawingml/2006/main">
              <a:ext uri="{FF2B5EF4-FFF2-40B4-BE49-F238E27FC236}">
                <a16:creationId xmlns:a16="http://schemas.microsoft.com/office/drawing/2014/main" id="{DACFE428-7F57-4946-A64A-2413062BA5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a:t>
            </a:r>
          </a:p>
        </p:txBody>
      </p:sp>
    </p:spTree>
    <p:extLst>
      <p:ext uri="{BB962C8B-B14F-4D97-AF65-F5344CB8AC3E}">
        <p14:creationId xmlns:p14="http://schemas.microsoft.com/office/powerpoint/2010/main" val="19935750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9FDDF3-4562-4A29-ACCD-F06B552796D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6F59AF1-9285-410F-AC42-76978A8A06C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406D1E1-1E83-4B68-80A2-0F58D5B07D4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E5185B84-44F1-4071-9C9B-035D0304DB2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A7A60DC-685F-4181-BECF-293382A919E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00A2B5C-F066-40D8-8618-B605528E2E6C}"/>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it beside the notebook locally.</a:t>
            </a:r>
          </a:p>
        </p:txBody>
      </p:sp>
      <p:sp>
        <p:nvSpPr>
          <p:cNvPr id="7" name="">
            <a:extLst xmlns:a="http://schemas.openxmlformats.org/drawingml/2006/main">
              <a:ext uri="{FF2B5EF4-FFF2-40B4-BE49-F238E27FC236}">
                <a16:creationId xmlns:a16="http://schemas.microsoft.com/office/drawing/2014/main" id="{B457B287-CC16-4001-9BF5-4E4F9CF4BF7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4F206111-02ED-45C8-9575-6436281B3D1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a:t>
            </a:r>
          </a:p>
        </p:txBody>
      </p:sp>
    </p:spTree>
    <p:extLst>
      <p:ext uri="{BB962C8B-B14F-4D97-AF65-F5344CB8AC3E}">
        <p14:creationId xmlns:p14="http://schemas.microsoft.com/office/powerpoint/2010/main" val="13738301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688AF55-D687-468D-819F-558292730C5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3961EB5-18F4-4BD1-BA25-DFE5F29F9DA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4BAFF56-3BBF-418A-A90A-1424272D4E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06959BD4-2079-461E-BBA2-91A5E81B05C4}"/>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61C99CA-A6D4-4D60-9D82-DCF71CC482A3}"/>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Import and short names: import pandas as pd loads pandas and gives it the short name pd. pd.read_csv refers to a function in that library.</a:t>
            </a:r>
          </a:p>
        </p:txBody>
      </p:sp>
      <p:sp>
        <p:nvSpPr>
          <p:cNvPr id="6" name="">
            <a:extLst xmlns:a="http://schemas.openxmlformats.org/drawingml/2006/main">
              <a:ext uri="{FF2B5EF4-FFF2-40B4-BE49-F238E27FC236}">
                <a16:creationId xmlns:a16="http://schemas.microsoft.com/office/drawing/2014/main" id="{5A1C20AB-DEB7-4D09-A83E-ADE95C1BF508}"/>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2798EE0-ADD7-44C9-B5BC-7B4DF2C64DB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Reading a CSV: pd.read_csv("filename.csv") reads the named file into a DataFrame: a table with labelled columns and row labels. The file must exist in the working folder.</a:t>
            </a:r>
          </a:p>
        </p:txBody>
      </p:sp>
      <p:sp>
        <p:nvSpPr>
          <p:cNvPr id="8" name="">
            <a:extLst xmlns:a="http://schemas.openxmlformats.org/drawingml/2006/main">
              <a:ext uri="{FF2B5EF4-FFF2-40B4-BE49-F238E27FC236}">
                <a16:creationId xmlns:a16="http://schemas.microsoft.com/office/drawing/2014/main" id="{223CD35D-F39C-4337-AA46-933925D60AD5}"/>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5B109DF-40E4-4771-9A39-9FE048B627C1}"/>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Counting dimensions: table.shape gives (number of rows, number of columns). shape is a property, so it has no parentheses.</a:t>
            </a:r>
          </a:p>
        </p:txBody>
      </p:sp>
      <p:sp>
        <p:nvSpPr>
          <p:cNvPr id="10" name="">
            <a:extLst xmlns:a="http://schemas.openxmlformats.org/drawingml/2006/main">
              <a:ext uri="{FF2B5EF4-FFF2-40B4-BE49-F238E27FC236}">
                <a16:creationId xmlns:a16="http://schemas.microsoft.com/office/drawing/2014/main" id="{8539925B-5CA1-4F13-80A6-BADAD4BF53F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a:t>
            </a:r>
          </a:p>
        </p:txBody>
      </p:sp>
    </p:spTree>
    <p:extLst>
      <p:ext uri="{BB962C8B-B14F-4D97-AF65-F5344CB8AC3E}">
        <p14:creationId xmlns:p14="http://schemas.microsoft.com/office/powerpoint/2010/main" val="1754345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AA4763-2C12-474D-BA25-9B9BD9E0DF4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C5697E1-5190-4532-954C-9D5246E5384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24122AD-0780-4080-913F-4C8D19D0D71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70C0E726-75D9-4EA1-AA76-F22CC92BA8B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DA8559F-F1C9-4F65-9F68-857A88EC337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900338D-4A18-427C-AC06-2A638A3992C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Column data types: table.dtypes reports each column’s stored type. int64 means integers, float64 means decimal numbers, and object often contains text. Numeric blanks commonly appear as NaN.</a:t>
            </a:r>
          </a:p>
        </p:txBody>
      </p:sp>
      <p:sp>
        <p:nvSpPr>
          <p:cNvPr id="7" name="">
            <a:extLst xmlns:a="http://schemas.openxmlformats.org/drawingml/2006/main">
              <a:ext uri="{FF2B5EF4-FFF2-40B4-BE49-F238E27FC236}">
                <a16:creationId xmlns:a16="http://schemas.microsoft.com/office/drawing/2014/main" id="{3C376E08-EE0D-46CA-8F17-138D3AEC1E3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preview of rows: table.head() returns the first five rows. It leaves the table unchanged. A preview is not the entire dataset.</a:t>
            </a:r>
          </a:p>
        </p:txBody>
      </p:sp>
      <p:sp>
        <p:nvSpPr>
          <p:cNvPr id="8" name="">
            <a:extLst xmlns:a="http://schemas.openxmlformats.org/drawingml/2006/main">
              <a:ext uri="{FF2B5EF4-FFF2-40B4-BE49-F238E27FC236}">
                <a16:creationId xmlns:a16="http://schemas.microsoft.com/office/drawing/2014/main" id="{B02A2A5C-B4C1-4DEF-A224-E93F99085BB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5</a:t>
            </a:r>
          </a:p>
        </p:txBody>
      </p:sp>
    </p:spTree>
    <p:extLst>
      <p:ext uri="{BB962C8B-B14F-4D97-AF65-F5344CB8AC3E}">
        <p14:creationId xmlns:p14="http://schemas.microsoft.com/office/powerpoint/2010/main" val="3164670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E1F7F1-49D3-439C-9849-27B31643E0D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C000E5E-6112-420B-AF6E-EDD8812B3CE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F1A4CD8-C52E-45B4-8EF1-1418CDE133F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Two names for two tables</a:t>
            </a:r>
          </a:p>
        </p:txBody>
      </p:sp>
      <p:sp>
        <p:nvSpPr>
          <p:cNvPr id="4" name="">
            <a:extLst xmlns:a="http://schemas.openxmlformats.org/drawingml/2006/main">
              <a:ext uri="{FF2B5EF4-FFF2-40B4-BE49-F238E27FC236}">
                <a16:creationId xmlns:a16="http://schemas.microsoft.com/office/drawing/2014/main" id="{3FC1CD1F-F166-45CF-939A-DEE1FCD3F77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91FDABB-D293-426D-96B5-39AADE0EF82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61E8B58-4F45-45B6-B09D-C309A067685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raw_data: the original table read from the CSV.</a:t>
            </a:r>
          </a:p>
        </p:txBody>
      </p:sp>
      <p:sp>
        <p:nvSpPr>
          <p:cNvPr id="7" name="">
            <a:extLst xmlns:a="http://schemas.openxmlformats.org/drawingml/2006/main">
              <a:ext uri="{FF2B5EF4-FFF2-40B4-BE49-F238E27FC236}">
                <a16:creationId xmlns:a16="http://schemas.microsoft.com/office/drawing/2014/main" id="{EBDA3F5D-A424-4987-8EDF-C8E36C74494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cleaned_data: a separate working table that we will change.</a:t>
            </a:r>
          </a:p>
        </p:txBody>
      </p:sp>
      <p:sp>
        <p:nvSpPr>
          <p:cNvPr id="8" name="">
            <a:extLst xmlns:a="http://schemas.openxmlformats.org/drawingml/2006/main">
              <a:ext uri="{FF2B5EF4-FFF2-40B4-BE49-F238E27FC236}">
                <a16:creationId xmlns:a16="http://schemas.microsoft.com/office/drawing/2014/main" id="{D235174C-8A39-4222-AB8A-103068F1F30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6</a:t>
            </a:r>
          </a:p>
        </p:txBody>
      </p:sp>
    </p:spTree>
    <p:extLst>
      <p:ext uri="{BB962C8B-B14F-4D97-AF65-F5344CB8AC3E}">
        <p14:creationId xmlns:p14="http://schemas.microsoft.com/office/powerpoint/2010/main" val="3704609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40E6E8-3A91-4FCD-91A1-6337D4CB71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A7BE46C-63C7-46B4-93EE-807E721FE9B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B6C4EF4-A3A5-4C08-8F1C-53E10EF3FA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4389438D-05D4-45B5-8A29-32C0505C0DD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1DCC840-9322-40D0-989E-5C5E5F487724}"/>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E2397D1D-4E43-4C8B-8C0E-4E201700ECCB}"/>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pandas using its conventional alias pd.</a:t>
            </a:r>
          </a:p>
        </p:txBody>
      </p:sp>
      <p:sp>
        <p:nvSpPr>
          <p:cNvPr id="7" name="">
            <a:extLst xmlns:a="http://schemas.openxmlformats.org/drawingml/2006/main">
              <a:ext uri="{FF2B5EF4-FFF2-40B4-BE49-F238E27FC236}">
                <a16:creationId xmlns:a16="http://schemas.microsoft.com/office/drawing/2014/main" id="{C07231EA-AFB1-49CA-A533-B731AC91859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99A34857-6691-4D44-A61B-088BDEEA608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7</a:t>
            </a:r>
          </a:p>
        </p:txBody>
      </p:sp>
    </p:spTree>
    <p:extLst>
      <p:ext uri="{BB962C8B-B14F-4D97-AF65-F5344CB8AC3E}">
        <p14:creationId xmlns:p14="http://schemas.microsoft.com/office/powerpoint/2010/main" val="17671933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17A50E4-A259-490B-A14F-E853A7AC790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95E8438-63E7-4D43-B4D0-5C32A70C701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5A65C2C-3C41-4E44-BC39-E0A7BE8608A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EDA: understand the original observations</a:t>
            </a:r>
          </a:p>
        </p:txBody>
      </p:sp>
      <p:sp>
        <p:nvSpPr>
          <p:cNvPr id="4" name="">
            <a:extLst xmlns:a="http://schemas.openxmlformats.org/drawingml/2006/main">
              <a:ext uri="{FF2B5EF4-FFF2-40B4-BE49-F238E27FC236}">
                <a16:creationId xmlns:a16="http://schemas.microsoft.com/office/drawing/2014/main" id="{784D1D3C-77D5-4AB0-AFAF-C7EFF4D9341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B44EEAF-983D-4B3B-9E52-9AA8A08FDD6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EC937A8-DF20-4FF8-91B9-F368C7E1DEE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EDA means exploratory data analysis: inspect what the columns mean, their types, missing values, ranges and patterns before choosing cleaning actions.</a:t>
            </a:r>
          </a:p>
        </p:txBody>
      </p:sp>
      <p:sp>
        <p:nvSpPr>
          <p:cNvPr id="7" name="">
            <a:extLst xmlns:a="http://schemas.openxmlformats.org/drawingml/2006/main">
              <a:ext uri="{FF2B5EF4-FFF2-40B4-BE49-F238E27FC236}">
                <a16:creationId xmlns:a16="http://schemas.microsoft.com/office/drawing/2014/main" id="{E68280B8-0EB5-4811-AD4C-EF1CCE8C17C9}"/>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record_id identifies an observation; equipment_id identifies its source. load_pct is %, ambient_c is °C, and target is crusher energy (kWh/t).</a:t>
            </a:r>
          </a:p>
        </p:txBody>
      </p:sp>
      <p:sp>
        <p:nvSpPr>
          <p:cNvPr id="8" name="">
            <a:extLst xmlns:a="http://schemas.openxmlformats.org/drawingml/2006/main">
              <a:ext uri="{FF2B5EF4-FFF2-40B4-BE49-F238E27FC236}">
                <a16:creationId xmlns:a16="http://schemas.microsoft.com/office/drawing/2014/main" id="{ED530ED9-55A5-4572-B8C8-90B51F8647A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8</a:t>
            </a:r>
          </a:p>
        </p:txBody>
      </p:sp>
    </p:spTree>
    <p:extLst>
      <p:ext uri="{BB962C8B-B14F-4D97-AF65-F5344CB8AC3E}">
        <p14:creationId xmlns:p14="http://schemas.microsoft.com/office/powerpoint/2010/main" val="7188919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2DE8415-B3CC-419E-9477-982F05AF429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9F37723-5148-4BA6-BA84-E9DD37E7AB4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938A47E-5A10-4DAA-856C-B881ACB8080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types and recorded values</a:t>
            </a:r>
          </a:p>
        </p:txBody>
      </p:sp>
      <p:sp>
        <p:nvSpPr>
          <p:cNvPr id="4" name="">
            <a:extLst xmlns:a="http://schemas.openxmlformats.org/drawingml/2006/main">
              <a:ext uri="{FF2B5EF4-FFF2-40B4-BE49-F238E27FC236}">
                <a16:creationId xmlns:a16="http://schemas.microsoft.com/office/drawing/2014/main" id="{20B216DD-44F2-4E06-9CE1-C1D6BBD7A71E}"/>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52D4C3F-C23A-4E34-86A3-C2C7DB7435A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DE0B6C4-14FA-4894-9A26-D768D97BEE6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table.info() prints column types and non-missing counts. Call it directly; do not wrap it in print.</a:t>
            </a:r>
          </a:p>
        </p:txBody>
      </p:sp>
      <p:sp>
        <p:nvSpPr>
          <p:cNvPr id="7" name="">
            <a:extLst xmlns:a="http://schemas.openxmlformats.org/drawingml/2006/main">
              <a:ext uri="{FF2B5EF4-FFF2-40B4-BE49-F238E27FC236}">
                <a16:creationId xmlns:a16="http://schemas.microsoft.com/office/drawing/2014/main" id="{D89A37CC-AC87-4E8A-8290-BDD090384EE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table[numeric_columns].describe() summarises selected numeric measurements: count, mean, standard deviation, minimum, quartiles and maximum.</a:t>
            </a:r>
          </a:p>
        </p:txBody>
      </p:sp>
      <p:sp>
        <p:nvSpPr>
          <p:cNvPr id="8" name="">
            <a:extLst xmlns:a="http://schemas.openxmlformats.org/drawingml/2006/main">
              <a:ext uri="{FF2B5EF4-FFF2-40B4-BE49-F238E27FC236}">
                <a16:creationId xmlns:a16="http://schemas.microsoft.com/office/drawing/2014/main" id="{F217A1B1-F72B-4EBF-8DC6-B6F442830F5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9</a:t>
            </a:r>
          </a:p>
        </p:txBody>
      </p:sp>
    </p:spTree>
    <p:extLst>
      <p:ext uri="{BB962C8B-B14F-4D97-AF65-F5344CB8AC3E}">
        <p14:creationId xmlns:p14="http://schemas.microsoft.com/office/powerpoint/2010/main" val="11840560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73013E5-3931-473C-A76D-B2A245243E4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1845D0B-EC7D-4EAC-B1D8-BCF9BB8B607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84D0C80-5035-4625-BDC9-952F61171BF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structure and numerical ranges</a:t>
            </a:r>
          </a:p>
        </p:txBody>
      </p:sp>
      <p:sp>
        <p:nvSpPr>
          <p:cNvPr id="4" name="">
            <a:extLst xmlns:a="http://schemas.openxmlformats.org/drawingml/2006/main">
              <a:ext uri="{FF2B5EF4-FFF2-40B4-BE49-F238E27FC236}">
                <a16:creationId xmlns:a16="http://schemas.microsoft.com/office/drawing/2014/main" id="{9791F657-E970-4D42-89DE-322F0F4A075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DC89F6E8-7239-46FA-9F84-DDB62FF071A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raw_data.info()</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numeric_columns = ["load_pct", "ambient_c", "target"]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print(raw_data[numeric_columns].describe())</a:t>
            </a:r>
          </a:p>
        </p:txBody>
      </p:sp>
      <p:sp>
        <p:nvSpPr>
          <p:cNvPr id="6" name="">
            <a:extLst xmlns:a="http://schemas.openxmlformats.org/drawingml/2006/main">
              <a:ext uri="{FF2B5EF4-FFF2-40B4-BE49-F238E27FC236}">
                <a16:creationId xmlns:a16="http://schemas.microsoft.com/office/drawing/2014/main" id="{518DE7C6-1B60-4E0D-B81C-89F3AF10E41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Compare count with the original row count. Read min and max before deciding whether a value violates the stated rule.</a:t>
            </a:r>
          </a:p>
        </p:txBody>
      </p:sp>
      <p:sp>
        <p:nvSpPr>
          <p:cNvPr id="7" name="">
            <a:extLst xmlns:a="http://schemas.openxmlformats.org/drawingml/2006/main">
              <a:ext uri="{FF2B5EF4-FFF2-40B4-BE49-F238E27FC236}">
                <a16:creationId xmlns:a16="http://schemas.microsoft.com/office/drawing/2014/main" id="{C751CE09-9AF1-4739-A29C-AD8573EAF8C4}"/>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60196EA3-718E-43D6-A6B0-7A217ED6E1F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10</a:t>
            </a:r>
          </a:p>
        </p:txBody>
      </p:sp>
    </p:spTree>
    <p:extLst>
      <p:ext uri="{BB962C8B-B14F-4D97-AF65-F5344CB8AC3E}">
        <p14:creationId xmlns:p14="http://schemas.microsoft.com/office/powerpoint/2010/main" val="3030814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43ABF4-4B34-4AEC-9EB4-A02E58C983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4B7376F-B955-4406-86B8-0C3900F9ECA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B6850C8-D554-4C67-974A-B1B8C5EF36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which equipment is represented</a:t>
            </a:r>
          </a:p>
        </p:txBody>
      </p:sp>
      <p:sp>
        <p:nvSpPr>
          <p:cNvPr id="4" name="">
            <a:extLst xmlns:a="http://schemas.openxmlformats.org/drawingml/2006/main">
              <a:ext uri="{FF2B5EF4-FFF2-40B4-BE49-F238E27FC236}">
                <a16:creationId xmlns:a16="http://schemas.microsoft.com/office/drawing/2014/main" id="{2E66A25E-2108-47BD-9798-1924CB7A1F8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D8BAD3E-9A67-466C-BF33-BDC2BD783CC9}"/>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FF64B19-071C-4FE2-A62F-E07B8F9A71AE}"/>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value_counts() counts rows for each label. dropna=False also shows missing labels.</a:t>
            </a:r>
          </a:p>
        </p:txBody>
      </p:sp>
      <p:sp>
        <p:nvSpPr>
          <p:cNvPr id="7" name="">
            <a:extLst xmlns:a="http://schemas.openxmlformats.org/drawingml/2006/main">
              <a:ext uri="{FF2B5EF4-FFF2-40B4-BE49-F238E27FC236}">
                <a16:creationId xmlns:a16="http://schemas.microsoft.com/office/drawing/2014/main" id="{5C33822D-EF30-4C4B-A90B-BC6CE0A8605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Counts can reveal missing groups or unequal coverage. Repeated equipment IDs are expected; repeated record IDs need separate inspection.</a:t>
            </a:r>
          </a:p>
        </p:txBody>
      </p:sp>
      <p:sp>
        <p:nvSpPr>
          <p:cNvPr id="8" name="">
            <a:extLst xmlns:a="http://schemas.openxmlformats.org/drawingml/2006/main">
              <a:ext uri="{FF2B5EF4-FFF2-40B4-BE49-F238E27FC236}">
                <a16:creationId xmlns:a16="http://schemas.microsoft.com/office/drawing/2014/main" id="{C1260FDE-713A-44CD-BB36-71E97F8FD7F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11</a:t>
            </a:r>
          </a:p>
        </p:txBody>
      </p:sp>
    </p:spTree>
    <p:extLst>
      <p:ext uri="{BB962C8B-B14F-4D97-AF65-F5344CB8AC3E}">
        <p14:creationId xmlns:p14="http://schemas.microsoft.com/office/powerpoint/2010/main" val="16172637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B90F9F-BBEB-4108-9EC9-E754160FAFC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F305D83-BA31-4E33-BB31-9BC51A0A622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E736DAD-0DB1-4B46-A6FA-E13025AA90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observations per equipment</a:t>
            </a:r>
          </a:p>
        </p:txBody>
      </p:sp>
      <p:sp>
        <p:nvSpPr>
          <p:cNvPr id="4" name="">
            <a:extLst xmlns:a="http://schemas.openxmlformats.org/drawingml/2006/main">
              <a:ext uri="{FF2B5EF4-FFF2-40B4-BE49-F238E27FC236}">
                <a16:creationId xmlns:a16="http://schemas.microsoft.com/office/drawing/2014/main" id="{CAEECB58-851A-4222-98C4-FEF2D246B0FF}"/>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40FD5EB-1D75-468A-9C0D-B46E924F347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equipment_counts = raw_data["equipment_id"].value_counts(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dropna=</a:t>
            </a:r>
            <a:r>
              <a:rPr sz="1875" b="0">
                <a:solidFill>
                  <a:srgbClr val="FFB080"/>
                </a:solidFill>
                <a:latin typeface="Courier New"/>
                <a:ea typeface="Courier New"/>
                <a:cs typeface="Courier New"/>
              </a:rPr>
              <a:t>False</a:t>
            </a: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print(equipment_counts)</a:t>
            </a:r>
          </a:p>
        </p:txBody>
      </p:sp>
      <p:sp>
        <p:nvSpPr>
          <p:cNvPr id="6" name="">
            <a:extLst xmlns:a="http://schemas.openxmlformats.org/drawingml/2006/main">
              <a:ext uri="{FF2B5EF4-FFF2-40B4-BE49-F238E27FC236}">
                <a16:creationId xmlns:a16="http://schemas.microsoft.com/office/drawing/2014/main" id="{60C1AA5C-EFCA-49E6-A539-258643F6D26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These are observation counts, not counts of distinct machines. The later duplicate row is still present in this raw-data summary.</a:t>
            </a:r>
          </a:p>
        </p:txBody>
      </p:sp>
      <p:sp>
        <p:nvSpPr>
          <p:cNvPr id="7" name="">
            <a:extLst xmlns:a="http://schemas.openxmlformats.org/drawingml/2006/main">
              <a:ext uri="{FF2B5EF4-FFF2-40B4-BE49-F238E27FC236}">
                <a16:creationId xmlns:a16="http://schemas.microsoft.com/office/drawing/2014/main" id="{CE09B0C8-D033-4BFA-AC5E-7BA5A19A6546}"/>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E307B043-BBAF-4585-B91E-607565B49B1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12</a:t>
            </a:r>
          </a:p>
        </p:txBody>
      </p:sp>
    </p:spTree>
    <p:extLst>
      <p:ext uri="{BB962C8B-B14F-4D97-AF65-F5344CB8AC3E}">
        <p14:creationId xmlns:p14="http://schemas.microsoft.com/office/powerpoint/2010/main" val="115298596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A214ED-9DAA-45B4-94F3-C6A841E94BE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3C377F9-CE0E-4E86-B19C-FE03531FFE1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F8F2191-91F3-4A12-9E48-3ACA421DC13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Preview the raw distribution</a:t>
            </a:r>
          </a:p>
        </p:txBody>
      </p:sp>
      <p:sp>
        <p:nvSpPr>
          <p:cNvPr id="4" name="">
            <a:extLst xmlns:a="http://schemas.openxmlformats.org/drawingml/2006/main">
              <a:ext uri="{FF2B5EF4-FFF2-40B4-BE49-F238E27FC236}">
                <a16:creationId xmlns:a16="http://schemas.microsoft.com/office/drawing/2014/main" id="{8F01A38B-D7E7-4C55-B91A-6C266199812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B30302B-3079-401E-98A8-4E9F594300C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E5278743-3383-41EE-9C11-7CA473029AE2}"/>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histogram groups numeric values into intervals and counts observations in each interval. bins=10 requests ten intervals.</a:t>
            </a:r>
          </a:p>
        </p:txBody>
      </p:sp>
      <p:sp>
        <p:nvSpPr>
          <p:cNvPr id="7" name="">
            <a:extLst xmlns:a="http://schemas.openxmlformats.org/drawingml/2006/main">
              <a:ext uri="{FF2B5EF4-FFF2-40B4-BE49-F238E27FC236}">
                <a16:creationId xmlns:a16="http://schemas.microsoft.com/office/drawing/2014/main" id="{DFD7B9ED-6BE6-422D-9992-8EB904E8EB6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plt.subplots() gives a figure and its axes. ax selects where the chart is drawn. Missing numeric values are omitted from the plot.</a:t>
            </a:r>
          </a:p>
        </p:txBody>
      </p:sp>
      <p:sp>
        <p:nvSpPr>
          <p:cNvPr id="8" name="">
            <a:extLst xmlns:a="http://schemas.openxmlformats.org/drawingml/2006/main">
              <a:ext uri="{FF2B5EF4-FFF2-40B4-BE49-F238E27FC236}">
                <a16:creationId xmlns:a16="http://schemas.microsoft.com/office/drawing/2014/main" id="{4E0CA1BC-BFE3-459F-BC5B-A23769FF8DE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13</a:t>
            </a:r>
          </a:p>
        </p:txBody>
      </p:sp>
    </p:spTree>
    <p:extLst>
      <p:ext uri="{BB962C8B-B14F-4D97-AF65-F5344CB8AC3E}">
        <p14:creationId xmlns:p14="http://schemas.microsoft.com/office/powerpoint/2010/main" val="115341049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1A2B58-7AA5-4E5E-8C34-0EE3EC86CB1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C7F777F-A7BB-47BC-9A64-D6465E474BA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8F1EF14F-EA8E-4C48-B548-15CF5DADE7B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Plot the target before cleaning</a:t>
            </a:r>
          </a:p>
        </p:txBody>
      </p:sp>
      <p:sp>
        <p:nvSpPr>
          <p:cNvPr id="4" name="">
            <a:extLst xmlns:a="http://schemas.openxmlformats.org/drawingml/2006/main">
              <a:ext uri="{FF2B5EF4-FFF2-40B4-BE49-F238E27FC236}">
                <a16:creationId xmlns:a16="http://schemas.microsoft.com/office/drawing/2014/main" id="{D79DD0C1-5BC6-4FFC-919B-8DDB2852AFC8}"/>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E6508E2-513F-4774-ABF2-41ED020BE54D}"/>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matplotlib.pyplot as plt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raw_figure, raw_axes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raw_data["target"].plot.hist(bins=10, ax=raw_axes)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raw_axes.set_xlabel("crusher energy (kWh/t)")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raw_axes.set_ylabel("Observation 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raw_axes.set_title("Be</a:t>
            </a:r>
            <a:r>
              <a:rPr sz="1875" b="0">
                <a:solidFill>
                  <a:srgbClr val="FFB080"/>
                </a:solidFill>
                <a:latin typeface="Courier New"/>
                <a:ea typeface="Courier New"/>
                <a:cs typeface="Courier New"/>
              </a:rPr>
              <a:t>for</a:t>
            </a:r>
            <a:r>
              <a:rPr sz="1875" b="0">
                <a:solidFill>
                  <a:srgbClr val="F4F7FA"/>
                </a:solidFill>
                <a:latin typeface="Courier New"/>
                <a:ea typeface="Courier New"/>
                <a:cs typeface="Courier New"/>
              </a:rPr>
              <a:t>e cleaning")</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D2571D86-DFBD-4395-BCA9-6B45F7E20692}"/>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The chart includes all recorded targets, including observations that may later be removed. Compare with the cleaned distribution at the end; do not infer causation from shape.</a:t>
            </a:r>
          </a:p>
        </p:txBody>
      </p:sp>
      <p:sp>
        <p:nvSpPr>
          <p:cNvPr id="7" name="">
            <a:extLst xmlns:a="http://schemas.openxmlformats.org/drawingml/2006/main">
              <a:ext uri="{FF2B5EF4-FFF2-40B4-BE49-F238E27FC236}">
                <a16:creationId xmlns:a16="http://schemas.microsoft.com/office/drawing/2014/main" id="{3582F481-A231-4A11-8364-BAF7A5889B73}"/>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A213D714-187A-48F1-9639-1FFE0B29AC4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14</a:t>
            </a:r>
          </a:p>
        </p:txBody>
      </p:sp>
    </p:spTree>
    <p:extLst>
      <p:ext uri="{BB962C8B-B14F-4D97-AF65-F5344CB8AC3E}">
        <p14:creationId xmlns:p14="http://schemas.microsoft.com/office/powerpoint/2010/main" val="14348607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DAD81C3-7504-4233-ACE3-66C67C04C2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6012204-0B39-4007-8777-D8724475C2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69981D2-CB69-472B-9151-931E2073087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a relationship before cleaning</a:t>
            </a:r>
          </a:p>
        </p:txBody>
      </p:sp>
      <p:sp>
        <p:nvSpPr>
          <p:cNvPr id="4" name="">
            <a:extLst xmlns:a="http://schemas.openxmlformats.org/drawingml/2006/main">
              <a:ext uri="{FF2B5EF4-FFF2-40B4-BE49-F238E27FC236}">
                <a16:creationId xmlns:a16="http://schemas.microsoft.com/office/drawing/2014/main" id="{4251138E-C83E-46F5-A84C-793D3C927E99}"/>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F0DF51B-E300-403A-B314-DB059CCE26F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B37036D4-5C0D-4AD3-A578-2B97713F374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scatter plot places one observation at its load and target coordinates. x and y name the two columns; ax selects the plotting area.</a:t>
            </a:r>
          </a:p>
        </p:txBody>
      </p:sp>
      <p:sp>
        <p:nvSpPr>
          <p:cNvPr id="7" name="">
            <a:extLst xmlns:a="http://schemas.openxmlformats.org/drawingml/2006/main">
              <a:ext uri="{FF2B5EF4-FFF2-40B4-BE49-F238E27FC236}">
                <a16:creationId xmlns:a16="http://schemas.microsoft.com/office/drawing/2014/main" id="{24E03705-07AA-41AE-8673-D05B14BCCDC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Look for gaps, unusual points and possible trends. A visible association does not show that load caused the target to change.</a:t>
            </a:r>
          </a:p>
        </p:txBody>
      </p:sp>
      <p:sp>
        <p:nvSpPr>
          <p:cNvPr id="8" name="">
            <a:extLst xmlns:a="http://schemas.openxmlformats.org/drawingml/2006/main">
              <a:ext uri="{FF2B5EF4-FFF2-40B4-BE49-F238E27FC236}">
                <a16:creationId xmlns:a16="http://schemas.microsoft.com/office/drawing/2014/main" id="{8902B6F5-D021-4872-92A2-75735E0FCFA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15</a:t>
            </a:r>
          </a:p>
        </p:txBody>
      </p:sp>
    </p:spTree>
    <p:extLst>
      <p:ext uri="{BB962C8B-B14F-4D97-AF65-F5344CB8AC3E}">
        <p14:creationId xmlns:p14="http://schemas.microsoft.com/office/powerpoint/2010/main" val="81482451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AE023A-CF92-4529-A010-20DB335B45A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BA7DE43-A8E8-4B6B-8BA9-B6A4E79F8A2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E915B807-2BB6-4E95-BD10-689FCCEBB5B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Plot raw load against the target</a:t>
            </a:r>
          </a:p>
        </p:txBody>
      </p:sp>
      <p:sp>
        <p:nvSpPr>
          <p:cNvPr id="4" name="">
            <a:extLst xmlns:a="http://schemas.openxmlformats.org/drawingml/2006/main">
              <a:ext uri="{FF2B5EF4-FFF2-40B4-BE49-F238E27FC236}">
                <a16:creationId xmlns:a16="http://schemas.microsoft.com/office/drawing/2014/main" id="{A4292688-F98F-4C2F-9DA2-A5B41BF477A1}"/>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DFB7DD1-BB67-4457-92CA-A947FBC04C9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raw_scatter_figure, raw_scatter_axes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raw_data.plot.scatter(x="load_pct", y="target", ax=raw_scatter_axes)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raw_scatter_axes.set_xlabel("Load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raw_scatter_axes.set_ylabel("crusher energy (kWh/t)")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raw_scatter_axes.set_title("Be</a:t>
            </a:r>
            <a:r>
              <a:rPr sz="1875" b="0">
                <a:solidFill>
                  <a:srgbClr val="FFB080"/>
                </a:solidFill>
                <a:latin typeface="Courier New"/>
                <a:ea typeface="Courier New"/>
                <a:cs typeface="Courier New"/>
              </a:rPr>
              <a:t>for</a:t>
            </a:r>
            <a:r>
              <a:rPr sz="1875" b="0">
                <a:solidFill>
                  <a:srgbClr val="F4F7FA"/>
                </a:solidFill>
                <a:latin typeface="Courier New"/>
                <a:ea typeface="Courier New"/>
                <a:cs typeface="Courier New"/>
              </a:rPr>
              <a:t>e cleaning")</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8E22DAE7-2F70-4CF0-AF8A-FE5A09C403A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A point at load -5 is visible because these are uncleaned rows. Missing target values cannot be plotted. Later compare the cleaned scatter plot after applying the stated rules.</a:t>
            </a:r>
          </a:p>
        </p:txBody>
      </p:sp>
      <p:sp>
        <p:nvSpPr>
          <p:cNvPr id="7" name="">
            <a:extLst xmlns:a="http://schemas.openxmlformats.org/drawingml/2006/main">
              <a:ext uri="{FF2B5EF4-FFF2-40B4-BE49-F238E27FC236}">
                <a16:creationId xmlns:a16="http://schemas.microsoft.com/office/drawing/2014/main" id="{5919C989-4A3B-453D-9345-F4BD2EE472A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2B8E9ED1-FB92-4D86-B596-957CA56E99A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16</a:t>
            </a:r>
          </a:p>
        </p:txBody>
      </p:sp>
    </p:spTree>
    <p:extLst>
      <p:ext uri="{BB962C8B-B14F-4D97-AF65-F5344CB8AC3E}">
        <p14:creationId xmlns:p14="http://schemas.microsoft.com/office/powerpoint/2010/main" val="8383983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F8A39F7-9057-475E-8089-75811932386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5F33978-0DFB-4922-ACE4-CEEF9F64358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C6176DF-0889-49FF-9469-B42A2B5F0C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missing value is not zero</a:t>
            </a:r>
          </a:p>
        </p:txBody>
      </p:sp>
      <p:sp>
        <p:nvSpPr>
          <p:cNvPr id="4" name="">
            <a:extLst xmlns:a="http://schemas.openxmlformats.org/drawingml/2006/main">
              <a:ext uri="{FF2B5EF4-FFF2-40B4-BE49-F238E27FC236}">
                <a16:creationId xmlns:a16="http://schemas.microsoft.com/office/drawing/2014/main" id="{0CB39407-7881-4311-9C60-B3F91B690C5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10D1FD3-019E-4D63-A214-803B768FA23F}"/>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NaN means a value is missing. A measured zero is still a recorded value.</a:t>
            </a:r>
          </a:p>
        </p:txBody>
      </p:sp>
      <p:sp>
        <p:nvSpPr>
          <p:cNvPr id="6" name="">
            <a:extLst xmlns:a="http://schemas.openxmlformats.org/drawingml/2006/main">
              <a:ext uri="{FF2B5EF4-FFF2-40B4-BE49-F238E27FC236}">
                <a16:creationId xmlns:a16="http://schemas.microsoft.com/office/drawing/2014/main" id="{55918A93-A82F-4084-B23F-33EF990493EE}"/>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71CB550D-DD8E-4D82-A579-7887A402171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isna() asks “is this cell missing?” It returns True for yes and False for no.</a:t>
            </a:r>
          </a:p>
        </p:txBody>
      </p:sp>
      <p:sp>
        <p:nvSpPr>
          <p:cNvPr id="8" name="">
            <a:extLst xmlns:a="http://schemas.openxmlformats.org/drawingml/2006/main">
              <a:ext uri="{FF2B5EF4-FFF2-40B4-BE49-F238E27FC236}">
                <a16:creationId xmlns:a16="http://schemas.microsoft.com/office/drawing/2014/main" id="{A2BFA074-5736-4F0A-89F2-B5505BA42731}"/>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535DEEB7-7BF3-46BE-9D76-4B31481E02D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.sum() counts True answers: True counts as 1 and False as 0.</a:t>
            </a:r>
          </a:p>
        </p:txBody>
      </p:sp>
      <p:sp>
        <p:nvSpPr>
          <p:cNvPr id="10" name="">
            <a:extLst xmlns:a="http://schemas.openxmlformats.org/drawingml/2006/main">
              <a:ext uri="{FF2B5EF4-FFF2-40B4-BE49-F238E27FC236}">
                <a16:creationId xmlns:a16="http://schemas.microsoft.com/office/drawing/2014/main" id="{858FF47F-98FF-46E4-A4A0-F1EB70336EC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17</a:t>
            </a:r>
          </a:p>
        </p:txBody>
      </p:sp>
    </p:spTree>
    <p:extLst>
      <p:ext uri="{BB962C8B-B14F-4D97-AF65-F5344CB8AC3E}">
        <p14:creationId xmlns:p14="http://schemas.microsoft.com/office/powerpoint/2010/main" val="11356102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F99BFE-738D-46DA-87F7-A66ED55A49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CDEB473-C5F2-4CC5-A117-229E28D2516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DAB5204-6536-448F-A9BC-AC79B35CCE0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missing cells in each column</a:t>
            </a:r>
          </a:p>
        </p:txBody>
      </p:sp>
      <p:sp>
        <p:nvSpPr>
          <p:cNvPr id="4" name="">
            <a:extLst xmlns:a="http://schemas.openxmlformats.org/drawingml/2006/main">
              <a:ext uri="{FF2B5EF4-FFF2-40B4-BE49-F238E27FC236}">
                <a16:creationId xmlns:a16="http://schemas.microsoft.com/office/drawing/2014/main" id="{94413D4D-94E2-468B-AE17-7A954AA22696}"/>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F18D63D-C260-4DEF-B05C-203E1FBDB5B2}"/>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print(raw_data.isna().sum())</a:t>
            </a:r>
          </a:p>
        </p:txBody>
      </p:sp>
      <p:sp>
        <p:nvSpPr>
          <p:cNvPr id="6" name="">
            <a:extLst xmlns:a="http://schemas.openxmlformats.org/drawingml/2006/main">
              <a:ext uri="{FF2B5EF4-FFF2-40B4-BE49-F238E27FC236}">
                <a16:creationId xmlns:a16="http://schemas.microsoft.com/office/drawing/2014/main" id="{769E6C0F-19B1-4041-9F90-3034DF2DF64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6564B104-5B9D-4DD3-9546-AE39887A8D8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5EDE7FAA-1054-490E-BF26-F15C2448F7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18</a:t>
            </a:r>
          </a:p>
        </p:txBody>
      </p:sp>
    </p:spTree>
    <p:extLst>
      <p:ext uri="{BB962C8B-B14F-4D97-AF65-F5344CB8AC3E}">
        <p14:creationId xmlns:p14="http://schemas.microsoft.com/office/powerpoint/2010/main" val="19246696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F18DB5-A8E7-4E07-BA7A-CEC6433E1E1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D18AD92-E536-4FF6-B877-7921B77DB0F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8B2BA49-713E-4877-88DA-8FAABFC5353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Find a repeated observation</a:t>
            </a:r>
          </a:p>
        </p:txBody>
      </p:sp>
      <p:sp>
        <p:nvSpPr>
          <p:cNvPr id="4" name="">
            <a:extLst xmlns:a="http://schemas.openxmlformats.org/drawingml/2006/main">
              <a:ext uri="{FF2B5EF4-FFF2-40B4-BE49-F238E27FC236}">
                <a16:creationId xmlns:a16="http://schemas.microsoft.com/office/drawing/2014/main" id="{09E0DA84-A898-4C89-B673-98063EF0A02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5A318A6-3516-4015-9A26-D596FE6F8E7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641E9E77-699C-47EF-8053-7ED2104D3B8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record_id identifies one observation. equipment_id identifies the equipment and may repeat.</a:t>
            </a:r>
          </a:p>
        </p:txBody>
      </p:sp>
      <p:sp>
        <p:nvSpPr>
          <p:cNvPr id="7" name="">
            <a:extLst xmlns:a="http://schemas.openxmlformats.org/drawingml/2006/main">
              <a:ext uri="{FF2B5EF4-FFF2-40B4-BE49-F238E27FC236}">
                <a16:creationId xmlns:a16="http://schemas.microsoft.com/office/drawing/2014/main" id="{788D0458-ACBB-4F6B-9857-4C82EBA5C9F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duplicated("record_id") marks later copies True. The first occurrence is False.</a:t>
            </a:r>
          </a:p>
        </p:txBody>
      </p:sp>
      <p:sp>
        <p:nvSpPr>
          <p:cNvPr id="8" name="">
            <a:extLst xmlns:a="http://schemas.openxmlformats.org/drawingml/2006/main">
              <a:ext uri="{FF2B5EF4-FFF2-40B4-BE49-F238E27FC236}">
                <a16:creationId xmlns:a16="http://schemas.microsoft.com/office/drawing/2014/main" id="{EB834545-920A-4192-9C03-CB1EFFB3BC6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19</a:t>
            </a:r>
          </a:p>
        </p:txBody>
      </p:sp>
    </p:spTree>
    <p:extLst>
      <p:ext uri="{BB962C8B-B14F-4D97-AF65-F5344CB8AC3E}">
        <p14:creationId xmlns:p14="http://schemas.microsoft.com/office/powerpoint/2010/main" val="142185057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7883E9-E8DC-4555-B52C-BB6BFD6BCB4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B4E3D27-6380-401B-89C2-19AD8AE783B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67BFEF6-26BC-4CC3-BAC4-B520567E7D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Count repeated record IDs</a:t>
            </a:r>
          </a:p>
        </p:txBody>
      </p:sp>
      <p:sp>
        <p:nvSpPr>
          <p:cNvPr id="4" name="">
            <a:extLst xmlns:a="http://schemas.openxmlformats.org/drawingml/2006/main">
              <a:ext uri="{FF2B5EF4-FFF2-40B4-BE49-F238E27FC236}">
                <a16:creationId xmlns:a16="http://schemas.microsoft.com/office/drawing/2014/main" id="{5A1A04BD-46DA-40FF-807D-A0AAA020443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78FAE42-CD42-42AD-B854-CA4D74FA4A5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is_repeated_record = raw_data.duplicated("record_id")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print(is_repeated_record)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print(is_repeated_record.sum())</a:t>
            </a:r>
          </a:p>
        </p:txBody>
      </p:sp>
      <p:sp>
        <p:nvSpPr>
          <p:cNvPr id="6" name="">
            <a:extLst xmlns:a="http://schemas.openxmlformats.org/drawingml/2006/main">
              <a:ext uri="{FF2B5EF4-FFF2-40B4-BE49-F238E27FC236}">
                <a16:creationId xmlns:a16="http://schemas.microsoft.com/office/drawing/2014/main" id="{C5ED608D-6401-4E3D-B1FA-A736095620D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D8961384-45B2-49AD-9B7D-21F06994ED3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68E38260-1AAF-4511-8D5C-C09F0497643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20</a:t>
            </a:r>
          </a:p>
        </p:txBody>
      </p:sp>
    </p:spTree>
    <p:extLst>
      <p:ext uri="{BB962C8B-B14F-4D97-AF65-F5344CB8AC3E}">
        <p14:creationId xmlns:p14="http://schemas.microsoft.com/office/powerpoint/2010/main" val="160615729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5F4428-5132-4703-8AE3-8522E05AB3C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727422F-97A9-47A0-A226-9313EA54BF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31B49C8-6E78-49BD-8EC9-087A46E75DB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Remove the later copy; keep the original</a:t>
            </a:r>
          </a:p>
        </p:txBody>
      </p:sp>
      <p:sp>
        <p:nvSpPr>
          <p:cNvPr id="4" name="">
            <a:extLst xmlns:a="http://schemas.openxmlformats.org/drawingml/2006/main">
              <a:ext uri="{FF2B5EF4-FFF2-40B4-BE49-F238E27FC236}">
                <a16:creationId xmlns:a16="http://schemas.microsoft.com/office/drawing/2014/main" id="{A9EAEF64-F3A5-4D46-A1EA-3AD3DCD7940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A978E9B-EA8B-4217-9F1B-060714CF58F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4BA380B-8E02-4181-A018-EACE2570B4B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drop_duplicates("record_id") keeps the first occurrence of each record ID.</a:t>
            </a:r>
          </a:p>
        </p:txBody>
      </p:sp>
      <p:sp>
        <p:nvSpPr>
          <p:cNvPr id="7" name="">
            <a:extLst xmlns:a="http://schemas.openxmlformats.org/drawingml/2006/main">
              <a:ext uri="{FF2B5EF4-FFF2-40B4-BE49-F238E27FC236}">
                <a16:creationId xmlns:a16="http://schemas.microsoft.com/office/drawing/2014/main" id="{0047F979-BC50-4E0C-94C6-62EFEDAE4B15}"/>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.copy() makes an independent working table. len(table) counts its rows.</a:t>
            </a:r>
          </a:p>
        </p:txBody>
      </p:sp>
      <p:sp>
        <p:nvSpPr>
          <p:cNvPr id="8" name="">
            <a:extLst xmlns:a="http://schemas.openxmlformats.org/drawingml/2006/main">
              <a:ext uri="{FF2B5EF4-FFF2-40B4-BE49-F238E27FC236}">
                <a16:creationId xmlns:a16="http://schemas.microsoft.com/office/drawing/2014/main" id="{5919C4D6-4968-4F7F-BACB-FBCBAAB4C97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21</a:t>
            </a:r>
          </a:p>
        </p:txBody>
      </p:sp>
    </p:spTree>
    <p:extLst>
      <p:ext uri="{BB962C8B-B14F-4D97-AF65-F5344CB8AC3E}">
        <p14:creationId xmlns:p14="http://schemas.microsoft.com/office/powerpoint/2010/main" val="151981149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CF4EBB-DC02-4239-95A4-4A2BB83EE0F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F1E7BB5-61FA-4B87-81B4-74ABA8891E2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6FD08A28-8C0A-4B56-B722-56DE0074B55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Create the working table</a:t>
            </a:r>
          </a:p>
        </p:txBody>
      </p:sp>
      <p:sp>
        <p:nvSpPr>
          <p:cNvPr id="4" name="">
            <a:extLst xmlns:a="http://schemas.openxmlformats.org/drawingml/2006/main">
              <a:ext uri="{FF2B5EF4-FFF2-40B4-BE49-F238E27FC236}">
                <a16:creationId xmlns:a16="http://schemas.microsoft.com/office/drawing/2014/main" id="{263A8F00-31F1-4B4B-80FD-51FB7ADF1F5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E51DD2B-7ACE-45CE-ABC3-1BDF3928A29E}"/>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print(len(cleaned_data))</a:t>
            </a:r>
          </a:p>
        </p:txBody>
      </p:sp>
      <p:sp>
        <p:nvSpPr>
          <p:cNvPr id="6" name="">
            <a:extLst xmlns:a="http://schemas.openxmlformats.org/drawingml/2006/main">
              <a:ext uri="{FF2B5EF4-FFF2-40B4-BE49-F238E27FC236}">
                <a16:creationId xmlns:a16="http://schemas.microsoft.com/office/drawing/2014/main" id="{1E9336AC-BB85-435B-B1C9-71386DD47F9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CDB2C485-E261-4E87-BB85-895EF4BA47C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30A222AD-F752-489E-B305-6E415E55F7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22</a:t>
            </a:r>
          </a:p>
        </p:txBody>
      </p:sp>
    </p:spTree>
    <p:extLst>
      <p:ext uri="{BB962C8B-B14F-4D97-AF65-F5344CB8AC3E}">
        <p14:creationId xmlns:p14="http://schemas.microsoft.com/office/powerpoint/2010/main" val="106530750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5689816-1099-46EF-80A2-4D4022CEA7E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2B470EF-66BD-4ED2-A225-74C0532B0D7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8A6546C-AC88-486C-8446-C0B13F71D9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Question 1: is the target recorded?</a:t>
            </a:r>
          </a:p>
        </p:txBody>
      </p:sp>
      <p:sp>
        <p:nvSpPr>
          <p:cNvPr id="4" name="">
            <a:extLst xmlns:a="http://schemas.openxmlformats.org/drawingml/2006/main">
              <a:ext uri="{FF2B5EF4-FFF2-40B4-BE49-F238E27FC236}">
                <a16:creationId xmlns:a16="http://schemas.microsoft.com/office/drawing/2014/main" id="{07065464-7E21-470B-BC87-56A457AE5EA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1735648-7116-4C77-AB96-BABA2DFED49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3B775C1-D4FA-4D93-A609-53C369034D5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cleaned_data["target"] selects the target column.</a:t>
            </a:r>
          </a:p>
        </p:txBody>
      </p:sp>
      <p:sp>
        <p:nvSpPr>
          <p:cNvPr id="7" name="">
            <a:extLst xmlns:a="http://schemas.openxmlformats.org/drawingml/2006/main">
              <a:ext uri="{FF2B5EF4-FFF2-40B4-BE49-F238E27FC236}">
                <a16:creationId xmlns:a16="http://schemas.microsoft.com/office/drawing/2014/main" id="{7BAFBDC2-A999-463E-98A1-7E3ED84FBD92}"/>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.notna() asks whether each value is present. It returns True for a recorded value and False for a missing value.</a:t>
            </a:r>
          </a:p>
        </p:txBody>
      </p:sp>
      <p:sp>
        <p:nvSpPr>
          <p:cNvPr id="8" name="">
            <a:extLst xmlns:a="http://schemas.openxmlformats.org/drawingml/2006/main">
              <a:ext uri="{FF2B5EF4-FFF2-40B4-BE49-F238E27FC236}">
                <a16:creationId xmlns:a16="http://schemas.microsoft.com/office/drawing/2014/main" id="{27490970-ABF2-49E6-BAA8-BEBE3C81142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23</a:t>
            </a:r>
          </a:p>
        </p:txBody>
      </p:sp>
    </p:spTree>
    <p:extLst>
      <p:ext uri="{BB962C8B-B14F-4D97-AF65-F5344CB8AC3E}">
        <p14:creationId xmlns:p14="http://schemas.microsoft.com/office/powerpoint/2010/main" val="178673129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247CB9-6A25-49DB-97E4-30366330B18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E0F6677-3774-4EBA-BDD9-25DF8CD89C3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253AA1F-B731-4B5D-8D39-C9851F5D1EC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Look at the values, then their answers</a:t>
            </a:r>
          </a:p>
        </p:txBody>
      </p:sp>
      <p:sp>
        <p:nvSpPr>
          <p:cNvPr id="4" name="">
            <a:extLst xmlns:a="http://schemas.openxmlformats.org/drawingml/2006/main">
              <a:ext uri="{FF2B5EF4-FFF2-40B4-BE49-F238E27FC236}">
                <a16:creationId xmlns:a16="http://schemas.microsoft.com/office/drawing/2014/main" id="{2A066DBE-71F6-498A-84D0-22FEF33E101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7DBFBDF-E6EF-4B0E-BE94-1AF681DB9F4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cleaned_data["target"].notna()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print(cleaned_data["target"].head())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p:txBody>
      </p:sp>
      <p:sp>
        <p:nvSpPr>
          <p:cNvPr id="6" name="">
            <a:extLst xmlns:a="http://schemas.openxmlformats.org/drawingml/2006/main">
              <a:ext uri="{FF2B5EF4-FFF2-40B4-BE49-F238E27FC236}">
                <a16:creationId xmlns:a16="http://schemas.microsoft.com/office/drawing/2014/main" id="{D019EA85-5C6E-4965-ABF7-48E00B4F93D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EB6490B8-DD6B-43C5-A1C5-B2C41F592FF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08E1E7D9-F818-4AB1-81AC-E884A02F775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24</a:t>
            </a:r>
          </a:p>
        </p:txBody>
      </p:sp>
    </p:spTree>
    <p:extLst>
      <p:ext uri="{BB962C8B-B14F-4D97-AF65-F5344CB8AC3E}">
        <p14:creationId xmlns:p14="http://schemas.microsoft.com/office/powerpoint/2010/main" val="199346669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A108B87-0AFD-4781-8433-35D4DAABB7B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39A3949-A8C8-4016-82BE-6FD8833804F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527F0A80-7F31-4264-99AB-91C19E1BAE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Use the answers to select rows</a:t>
            </a:r>
          </a:p>
        </p:txBody>
      </p:sp>
      <p:sp>
        <p:nvSpPr>
          <p:cNvPr id="4" name="">
            <a:extLst xmlns:a="http://schemas.openxmlformats.org/drawingml/2006/main">
              <a:ext uri="{FF2B5EF4-FFF2-40B4-BE49-F238E27FC236}">
                <a16:creationId xmlns:a16="http://schemas.microsoft.com/office/drawing/2014/main" id="{75447C40-8415-405F-9841-D3F975B744A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0BF4EB7-9F13-49B9-A93C-9173D1C1D84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49E750D-8ED0-43A4-AECE-ED87CAA9A1E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cleaned_data[target_is_recorded] keeps rows whose answer is True. Rows answering False are left out of the returned table.</a:t>
            </a:r>
          </a:p>
        </p:txBody>
      </p:sp>
      <p:sp>
        <p:nvSpPr>
          <p:cNvPr id="7" name="">
            <a:extLst xmlns:a="http://schemas.openxmlformats.org/drawingml/2006/main">
              <a:ext uri="{FF2B5EF4-FFF2-40B4-BE49-F238E27FC236}">
                <a16:creationId xmlns:a16="http://schemas.microsoft.com/office/drawing/2014/main" id="{BD061239-E9CE-4A2B-BF9F-0A659B2DFC3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This True/False selection is called a Boolean mask. The variable name does not need to end in _mask.</a:t>
            </a:r>
          </a:p>
        </p:txBody>
      </p:sp>
      <p:sp>
        <p:nvSpPr>
          <p:cNvPr id="8" name="">
            <a:extLst xmlns:a="http://schemas.openxmlformats.org/drawingml/2006/main">
              <a:ext uri="{FF2B5EF4-FFF2-40B4-BE49-F238E27FC236}">
                <a16:creationId xmlns:a16="http://schemas.microsoft.com/office/drawing/2014/main" id="{8214FDAD-6F68-4EA5-9D8D-D7EC363CC81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25</a:t>
            </a:r>
          </a:p>
        </p:txBody>
      </p:sp>
    </p:spTree>
    <p:extLst>
      <p:ext uri="{BB962C8B-B14F-4D97-AF65-F5344CB8AC3E}">
        <p14:creationId xmlns:p14="http://schemas.microsoft.com/office/powerpoint/2010/main" val="79275991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C02972-5F42-4A44-B450-4D6CFBE18A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5BE1E44-4C96-4E0C-A49C-F80023CA0B8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E4D9A5C-BF6E-44B3-B07D-9C8185A0A2E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Try one condition on its own</a:t>
            </a:r>
          </a:p>
        </p:txBody>
      </p:sp>
      <p:sp>
        <p:nvSpPr>
          <p:cNvPr id="4" name="">
            <a:extLst xmlns:a="http://schemas.openxmlformats.org/drawingml/2006/main">
              <a:ext uri="{FF2B5EF4-FFF2-40B4-BE49-F238E27FC236}">
                <a16:creationId xmlns:a16="http://schemas.microsoft.com/office/drawing/2014/main" id="{143391B8-977B-4C2B-BCF5-58FA57D7C23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9BE1D8C-7911-4D20-B78D-878897AA046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rows_with_target = cleaned_data[target_is_recorded].copy()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print(len(cleaned_data))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print(len(rows_with_target))</a:t>
            </a:r>
          </a:p>
        </p:txBody>
      </p:sp>
      <p:sp>
        <p:nvSpPr>
          <p:cNvPr id="6" name="">
            <a:extLst xmlns:a="http://schemas.openxmlformats.org/drawingml/2006/main">
              <a:ext uri="{FF2B5EF4-FFF2-40B4-BE49-F238E27FC236}">
                <a16:creationId xmlns:a16="http://schemas.microsoft.com/office/drawing/2014/main" id="{58C806FB-EDE1-435F-8817-1C3448D9B9E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230E1461-58C3-49DC-8861-8AC8F79961D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27A5E87B-1BE1-4958-BE86-6379DCBCC88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26</a:t>
            </a:r>
          </a:p>
        </p:txBody>
      </p:sp>
    </p:spTree>
    <p:extLst>
      <p:ext uri="{BB962C8B-B14F-4D97-AF65-F5344CB8AC3E}">
        <p14:creationId xmlns:p14="http://schemas.microsoft.com/office/powerpoint/2010/main" val="130893803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83B81D-C8B2-4A27-AF9D-A084AAE733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5E435DD-83FB-4A4D-AD6F-B5072183DF2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8C56B7B8-AB1F-4614-9EB3-DC1EA9665AE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Question 2: is the load valid?</a:t>
            </a:r>
          </a:p>
        </p:txBody>
      </p:sp>
      <p:sp>
        <p:nvSpPr>
          <p:cNvPr id="4" name="">
            <a:extLst xmlns:a="http://schemas.openxmlformats.org/drawingml/2006/main">
              <a:ext uri="{FF2B5EF4-FFF2-40B4-BE49-F238E27FC236}">
                <a16:creationId xmlns:a16="http://schemas.microsoft.com/office/drawing/2014/main" id="{CF938AD4-1D51-4E0A-9E0F-891EE8E7A44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6FA934A-8653-408B-9268-6893E50FCFF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F5A050BF-FB44-49BE-A75E-EC485142680A}"/>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load_pct is a percentage. For this exercise the valid range is 0 through 100, including both endpoints.</a:t>
            </a:r>
          </a:p>
        </p:txBody>
      </p:sp>
      <p:sp>
        <p:nvSpPr>
          <p:cNvPr id="7" name="">
            <a:extLst xmlns:a="http://schemas.openxmlformats.org/drawingml/2006/main">
              <a:ext uri="{FF2B5EF4-FFF2-40B4-BE49-F238E27FC236}">
                <a16:creationId xmlns:a16="http://schemas.microsoft.com/office/drawing/2014/main" id="{5C530C03-E13E-4887-B7B5-80524D8A2AFB}"/>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.between(0, 100) answers True inside that range and False outside it.</a:t>
            </a:r>
          </a:p>
        </p:txBody>
      </p:sp>
      <p:sp>
        <p:nvSpPr>
          <p:cNvPr id="8" name="">
            <a:extLst xmlns:a="http://schemas.openxmlformats.org/drawingml/2006/main">
              <a:ext uri="{FF2B5EF4-FFF2-40B4-BE49-F238E27FC236}">
                <a16:creationId xmlns:a16="http://schemas.microsoft.com/office/drawing/2014/main" id="{8C253D44-F454-4A8F-86E0-57325236CA1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27</a:t>
            </a:r>
          </a:p>
        </p:txBody>
      </p:sp>
    </p:spTree>
    <p:extLst>
      <p:ext uri="{BB962C8B-B14F-4D97-AF65-F5344CB8AC3E}">
        <p14:creationId xmlns:p14="http://schemas.microsoft.com/office/powerpoint/2010/main" val="43684683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1E4523-2B24-448B-A943-24B7DE852BE5}"/>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8EAE30D-1D0C-44C4-8BB9-8E03DD774C3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A3EA518-217D-4BC2-8926-7C99E4B4648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Inspect the load answers</a:t>
            </a:r>
          </a:p>
        </p:txBody>
      </p:sp>
      <p:sp>
        <p:nvSpPr>
          <p:cNvPr id="4" name="">
            <a:extLst xmlns:a="http://schemas.openxmlformats.org/drawingml/2006/main">
              <a:ext uri="{FF2B5EF4-FFF2-40B4-BE49-F238E27FC236}">
                <a16:creationId xmlns:a16="http://schemas.microsoft.com/office/drawing/2014/main" id="{ECC41D4B-C84A-4400-95BC-87DD2EDA394A}"/>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4744425-B224-407F-A9B7-2C1F2B63989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cleaned_data["load_pct"].between(0,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print(cleaned_data["load_pct"].head(10))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print(load_is_valid.head(10))</a:t>
            </a:r>
          </a:p>
        </p:txBody>
      </p:sp>
      <p:sp>
        <p:nvSpPr>
          <p:cNvPr id="6" name="">
            <a:extLst xmlns:a="http://schemas.openxmlformats.org/drawingml/2006/main">
              <a:ext uri="{FF2B5EF4-FFF2-40B4-BE49-F238E27FC236}">
                <a16:creationId xmlns:a16="http://schemas.microsoft.com/office/drawing/2014/main" id="{C91CFFDD-E61C-47B9-89B0-B8C631C26E74}"/>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101E3752-47D0-4E70-AEE8-C67E9E33FF3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FAFEDBFB-5DB4-406B-9ABF-9001AB4C08F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28</a:t>
            </a:r>
          </a:p>
        </p:txBody>
      </p:sp>
    </p:spTree>
    <p:extLst>
      <p:ext uri="{BB962C8B-B14F-4D97-AF65-F5344CB8AC3E}">
        <p14:creationId xmlns:p14="http://schemas.microsoft.com/office/powerpoint/2010/main" val="164943985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1BADE13-D8F6-40DD-9E8A-2490072FC80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B2AE36F-F536-45B2-B11D-026D7CECCC7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D83B095-6651-49BA-83B2-C1E1BFC8D66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Keep a row only when both answers are True</a:t>
            </a:r>
          </a:p>
        </p:txBody>
      </p:sp>
      <p:sp>
        <p:nvSpPr>
          <p:cNvPr id="4" name="">
            <a:extLst xmlns:a="http://schemas.openxmlformats.org/drawingml/2006/main">
              <a:ext uri="{FF2B5EF4-FFF2-40B4-BE49-F238E27FC236}">
                <a16:creationId xmlns:a16="http://schemas.microsoft.com/office/drawing/2014/main" id="{EA64EB17-3555-4538-A54F-95D700FE7F7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4804259B-B1BE-4C4F-BE02-E8B737B7F3DE}"/>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&amp; means “and” for two True/False columns.</a:t>
            </a:r>
          </a:p>
        </p:txBody>
      </p:sp>
      <p:sp>
        <p:nvSpPr>
          <p:cNvPr id="6" name="">
            <a:extLst xmlns:a="http://schemas.openxmlformats.org/drawingml/2006/main">
              <a:ext uri="{FF2B5EF4-FFF2-40B4-BE49-F238E27FC236}">
                <a16:creationId xmlns:a16="http://schemas.microsoft.com/office/drawing/2014/main" id="{89CEFA1F-0AB0-4EA5-8D52-3C2ED7051DEF}"/>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400F6D8A-1EDB-48E7-8BB9-69410DDE22C4}"/>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True &amp; True → True. Any pair containing False → False.</a:t>
            </a:r>
          </a:p>
        </p:txBody>
      </p:sp>
      <p:sp>
        <p:nvSpPr>
          <p:cNvPr id="8" name="">
            <a:extLst xmlns:a="http://schemas.openxmlformats.org/drawingml/2006/main">
              <a:ext uri="{FF2B5EF4-FFF2-40B4-BE49-F238E27FC236}">
                <a16:creationId xmlns:a16="http://schemas.microsoft.com/office/drawing/2014/main" id="{F977FEA3-B751-4F85-950E-777BDECD1E1F}"/>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4A9C588A-1F84-409F-9861-12B62D60A7ED}"/>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Our rule: a recorded target AND a valid load.</a:t>
            </a:r>
          </a:p>
        </p:txBody>
      </p:sp>
      <p:sp>
        <p:nvSpPr>
          <p:cNvPr id="10" name="">
            <a:extLst xmlns:a="http://schemas.openxmlformats.org/drawingml/2006/main">
              <a:ext uri="{FF2B5EF4-FFF2-40B4-BE49-F238E27FC236}">
                <a16:creationId xmlns:a16="http://schemas.microsoft.com/office/drawing/2014/main" id="{91FE06C2-6F6E-43C2-B1AD-2CBB81E1088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29</a:t>
            </a:r>
          </a:p>
        </p:txBody>
      </p:sp>
    </p:spTree>
    <p:extLst>
      <p:ext uri="{BB962C8B-B14F-4D97-AF65-F5344CB8AC3E}">
        <p14:creationId xmlns:p14="http://schemas.microsoft.com/office/powerpoint/2010/main" val="2063355140"/>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A156826-F2BF-45D0-A388-6E9A4F7FE2E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C9DCAA0-DA60-4DEE-94AC-91DCFEAACB1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READ THE EXAMPLE</a:t>
            </a:r>
          </a:p>
        </p:txBody>
      </p:sp>
      <p:sp>
        <p:nvSpPr>
          <p:cNvPr id="3" name="">
            <a:extLst xmlns:a="http://schemas.openxmlformats.org/drawingml/2006/main">
              <a:ext uri="{FF2B5EF4-FFF2-40B4-BE49-F238E27FC236}">
                <a16:creationId xmlns:a16="http://schemas.microsoft.com/office/drawing/2014/main" id="{012BA444-76B9-41D8-BD75-9E35113AE52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Which observations will we keep?</a:t>
            </a:r>
          </a:p>
        </p:txBody>
      </p:sp>
      <p:graphicFrame>
        <p:nvGraphicFramePr>
          <p:cNvPr id="4" name="">
            <a:extLst xmlns:a="http://schemas.openxmlformats.org/drawingml/2006/main">
              <a:ext uri="{FF2B5EF4-FFF2-40B4-BE49-F238E27FC236}">
                <a16:creationId xmlns:a16="http://schemas.microsoft.com/office/drawing/2014/main" id="{1CAD0FE8-9FA3-4D6F-AC39-A39A84A676F6}"/>
              </a:ext>
            </a:extLst>
          </p:cNvPr>
          <p:cNvGraphicFramePr/>
          <p:nvPr/>
        </p:nvGraphicFramePr>
        <p:xfrm>
          <a:off xmlns:a="http://schemas.openxmlformats.org/drawingml/2006/main" x="590550" y="1733550"/>
          <a:ext xmlns:a="http://schemas.openxmlformats.org/drawingml/2006/main" cx="11010900" cy="3333750"/>
        </p:xfrm>
        <a:graphic xmlns:a="http://schemas.openxmlformats.org/drawingml/2006/main">
          <a:graphicData uri="http://schemas.openxmlformats.org/drawingml/2006/table">
            <a:tbl>
              <a:tblPr/>
              <a:tblGrid>
                <a:gridCol w="2752725"/>
                <a:gridCol w="2752725"/>
                <a:gridCol w="2752725"/>
                <a:gridCol w="2752725"/>
              </a:tblGrid>
              <a:tr h="833438">
                <a:tc>
                  <a:txBody>
                    <a:bodyPr/>
                    <a:lstStyle/>
                    <a:p>
                      <a:r>
                        <a:rPr sz="2025" b="1">
                          <a:solidFill>
                            <a:srgbClr val="FFFFFF"/>
                          </a:solidFill>
                          <a:latin typeface="Calibri"/>
                          <a:ea typeface="Calibri"/>
                          <a:cs typeface="Calibri"/>
                        </a:rPr>
                        <a:t>Record ID</a:t>
                      </a:r>
                    </a:p>
                  </a:txBody>
                  <a:tcPr marL="91440" marR="91440" marT="45720" marB="45720">
                    <a:solidFill>
                      <a:srgbClr val="2E7D6F"/>
                    </a:solidFill>
                  </a:tcPr>
                </a:tc>
                <a:tc>
                  <a:txBody>
                    <a:bodyPr/>
                    <a:lstStyle/>
                    <a:p>
                      <a:r>
                        <a:rPr sz="2025" b="1">
                          <a:solidFill>
                            <a:srgbClr val="FFFFFF"/>
                          </a:solidFill>
                          <a:latin typeface="Calibri"/>
                          <a:ea typeface="Calibri"/>
                          <a:cs typeface="Calibri"/>
                        </a:rPr>
                        <a:t>Target recorded?</a:t>
                      </a:r>
                    </a:p>
                  </a:txBody>
                  <a:tcPr marL="91440" marR="91440" marT="45720" marB="45720">
                    <a:solidFill>
                      <a:srgbClr val="2E7D6F"/>
                    </a:solidFill>
                  </a:tcPr>
                </a:tc>
                <a:tc>
                  <a:txBody>
                    <a:bodyPr/>
                    <a:lstStyle/>
                    <a:p>
                      <a:r>
                        <a:rPr sz="2025" b="1">
                          <a:solidFill>
                            <a:srgbClr val="FFFFFF"/>
                          </a:solidFill>
                          <a:latin typeface="Calibri"/>
                          <a:ea typeface="Calibri"/>
                          <a:cs typeface="Calibri"/>
                        </a:rPr>
                        <a:t>Load valid?</a:t>
                      </a:r>
                    </a:p>
                  </a:txBody>
                  <a:tcPr marL="91440" marR="91440" marT="45720" marB="45720">
                    <a:solidFill>
                      <a:srgbClr val="2E7D6F"/>
                    </a:solidFill>
                  </a:tcPr>
                </a:tc>
                <a:tc>
                  <a:txBody>
                    <a:bodyPr/>
                    <a:lstStyle/>
                    <a:p>
                      <a:r>
                        <a:rPr sz="2025" b="1">
                          <a:solidFill>
                            <a:srgbClr val="FFFFFF"/>
                          </a:solidFill>
                          <a:latin typeface="Calibri"/>
                          <a:ea typeface="Calibri"/>
                          <a:cs typeface="Calibri"/>
                        </a:rPr>
                        <a:t>Keep?</a:t>
                      </a:r>
                    </a:p>
                  </a:txBody>
                  <a:tcPr marL="91440" marR="91440" marT="45720" marB="45720">
                    <a:solidFill>
                      <a:srgbClr val="2E7D6F"/>
                    </a:solidFill>
                  </a:tcPr>
                </a:tc>
              </a:tr>
              <a:tr h="833438">
                <a:tc>
                  <a:txBody>
                    <a:bodyPr/>
                    <a:lstStyle/>
                    <a:p>
                      <a:r>
                        <a:rPr sz="2025" b="0">
                          <a:solidFill>
                            <a:srgbClr val="1C3144"/>
                          </a:solidFill>
                          <a:latin typeface="Calibri"/>
                          <a:ea typeface="Calibri"/>
                          <a:cs typeface="Calibri"/>
                        </a:rPr>
                        <a:t>1</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Yes</a:t>
                      </a:r>
                    </a:p>
                  </a:txBody>
                  <a:tcPr marL="91440" marR="91440" marT="45720" marB="45720">
                    <a:solidFill>
                      <a:srgbClr val="EEF3F6"/>
                    </a:solidFill>
                  </a:tcPr>
                </a:tc>
              </a:tr>
              <a:tr h="833438">
                <a:tc>
                  <a:txBody>
                    <a:bodyPr/>
                    <a:lstStyle/>
                    <a:p>
                      <a:r>
                        <a:rPr sz="2025" b="0">
                          <a:solidFill>
                            <a:srgbClr val="1C3144"/>
                          </a:solidFill>
                          <a:latin typeface="Calibri"/>
                          <a:ea typeface="Calibri"/>
                          <a:cs typeface="Calibri"/>
                        </a:rPr>
                        <a:t>4</a:t>
                      </a:r>
                    </a:p>
                  </a:txBody>
                  <a:tcPr marL="91440" marR="91440" marT="45720" marB="45720">
                    <a:solidFill>
                      <a:srgbClr val="FFFFFF"/>
                    </a:solidFill>
                  </a:tcPr>
                </a:tc>
                <a:tc>
                  <a:txBody>
                    <a:bodyPr/>
                    <a:lstStyle/>
                    <a:p>
                      <a:r>
                        <a:rPr sz="2025" b="0">
                          <a:solidFill>
                            <a:srgbClr val="1C3144"/>
                          </a:solidFill>
                          <a:latin typeface="Calibri"/>
                          <a:ea typeface="Calibri"/>
                          <a:cs typeface="Calibri"/>
                        </a:rPr>
                        <a:t>False</a:t>
                      </a:r>
                    </a:p>
                  </a:txBody>
                  <a:tcPr marL="91440" marR="91440" marT="45720" marB="45720">
                    <a:solidFill>
                      <a:srgbClr val="FFFFFF"/>
                    </a:solidFill>
                  </a:tcPr>
                </a:tc>
                <a:tc>
                  <a:txBody>
                    <a:bodyPr/>
                    <a:lstStyle/>
                    <a:p>
                      <a:r>
                        <a:rPr sz="2025" b="0">
                          <a:solidFill>
                            <a:srgbClr val="1C3144"/>
                          </a:solidFill>
                          <a:latin typeface="Calibri"/>
                          <a:ea typeface="Calibri"/>
                          <a:cs typeface="Calibri"/>
                        </a:rPr>
                        <a:t>True</a:t>
                      </a:r>
                    </a:p>
                  </a:txBody>
                  <a:tcPr marL="91440" marR="91440" marT="45720" marB="45720">
                    <a:solidFill>
                      <a:srgbClr val="FFFFFF"/>
                    </a:solidFill>
                  </a:tcPr>
                </a:tc>
                <a:tc>
                  <a:txBody>
                    <a:bodyPr/>
                    <a:lstStyle/>
                    <a:p>
                      <a:r>
                        <a:rPr sz="2025" b="0">
                          <a:solidFill>
                            <a:srgbClr val="1C3144"/>
                          </a:solidFill>
                          <a:latin typeface="Calibri"/>
                          <a:ea typeface="Calibri"/>
                          <a:cs typeface="Calibri"/>
                        </a:rPr>
                        <a:t>No</a:t>
                      </a:r>
                    </a:p>
                  </a:txBody>
                  <a:tcPr marL="91440" marR="91440" marT="45720" marB="45720">
                    <a:solidFill>
                      <a:srgbClr val="FFFFFF"/>
                    </a:solidFill>
                  </a:tcPr>
                </a:tc>
              </a:tr>
              <a:tr h="833438">
                <a:tc>
                  <a:txBody>
                    <a:bodyPr/>
                    <a:lstStyle/>
                    <a:p>
                      <a:r>
                        <a:rPr sz="2025" b="0">
                          <a:solidFill>
                            <a:srgbClr val="1C3144"/>
                          </a:solidFill>
                          <a:latin typeface="Calibri"/>
                          <a:ea typeface="Calibri"/>
                          <a:cs typeface="Calibri"/>
                        </a:rPr>
                        <a:t>9</a:t>
                      </a:r>
                    </a:p>
                  </a:txBody>
                  <a:tcPr marL="91440" marR="91440" marT="45720" marB="45720">
                    <a:solidFill>
                      <a:srgbClr val="EEF3F6"/>
                    </a:solidFill>
                  </a:tcPr>
                </a:tc>
                <a:tc>
                  <a:txBody>
                    <a:bodyPr/>
                    <a:lstStyle/>
                    <a:p>
                      <a:r>
                        <a:rPr sz="2025" b="0">
                          <a:solidFill>
                            <a:srgbClr val="1C3144"/>
                          </a:solidFill>
                          <a:latin typeface="Calibri"/>
                          <a:ea typeface="Calibri"/>
                          <a:cs typeface="Calibri"/>
                        </a:rPr>
                        <a:t>True</a:t>
                      </a:r>
                    </a:p>
                  </a:txBody>
                  <a:tcPr marL="91440" marR="91440" marT="45720" marB="45720">
                    <a:solidFill>
                      <a:srgbClr val="EEF3F6"/>
                    </a:solidFill>
                  </a:tcPr>
                </a:tc>
                <a:tc>
                  <a:txBody>
                    <a:bodyPr/>
                    <a:lstStyle/>
                    <a:p>
                      <a:r>
                        <a:rPr sz="2025" b="0">
                          <a:solidFill>
                            <a:srgbClr val="1C3144"/>
                          </a:solidFill>
                          <a:latin typeface="Calibri"/>
                          <a:ea typeface="Calibri"/>
                          <a:cs typeface="Calibri"/>
                        </a:rPr>
                        <a:t>False</a:t>
                      </a:r>
                    </a:p>
                  </a:txBody>
                  <a:tcPr marL="91440" marR="91440" marT="45720" marB="45720">
                    <a:solidFill>
                      <a:srgbClr val="EEF3F6"/>
                    </a:solidFill>
                  </a:tcPr>
                </a:tc>
                <a:tc>
                  <a:txBody>
                    <a:bodyPr/>
                    <a:lstStyle/>
                    <a:p>
                      <a:r>
                        <a:rPr sz="2025" b="0">
                          <a:solidFill>
                            <a:srgbClr val="1C3144"/>
                          </a:solidFill>
                          <a:latin typeface="Calibri"/>
                          <a:ea typeface="Calibri"/>
                          <a:cs typeface="Calibri"/>
                        </a:rPr>
                        <a:t>No</a:t>
                      </a:r>
                    </a:p>
                  </a:txBody>
                  <a:tcPr marL="91440" marR="91440" marT="45720" marB="45720">
                    <a:solidFill>
                      <a:srgbClr val="EEF3F6"/>
                    </a:solidFill>
                  </a:tcPr>
                </a:tc>
              </a:tr>
            </a:tbl>
          </a:graphicData>
        </a:graphic>
      </p:graphicFrame>
      <p:sp>
        <p:nvSpPr>
          <p:cNvPr id="5" name="">
            <a:extLst xmlns:a="http://schemas.openxmlformats.org/drawingml/2006/main">
              <a:ext uri="{FF2B5EF4-FFF2-40B4-BE49-F238E27FC236}">
                <a16:creationId xmlns:a16="http://schemas.microsoft.com/office/drawing/2014/main" id="{375CBE69-D5E5-4D26-AB7C-70EF2DAEFBED}"/>
              </a:ext>
            </a:extLst>
          </p:cNvPr>
          <p:cNvSpPr>
            <a:spLocks xmlns:a="http://schemas.openxmlformats.org/drawingml/2006/main" noGrp="1"/>
          </p:cNvSpPr>
          <p:nvPr/>
        </p:nvSpPr>
        <p:spPr>
          <a:xfrm xmlns:a="http://schemas.openxmlformats.org/drawingml/2006/main">
            <a:off x="685800" y="5381625"/>
            <a:ext cx="10668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C3144"/>
                </a:solidFill>
                <a:latin typeface="Calibri"/>
                <a:ea typeface="Calibri"/>
                <a:cs typeface="Calibri"/>
              </a:defRPr>
            </a:defPPr>
            <a:lvl1pPr>
              <a:defRPr sz="2025" b="0">
                <a:solidFill>
                  <a:srgbClr val="1C3144"/>
                </a:solidFill>
                <a:latin typeface="Calibri"/>
                <a:ea typeface="Calibri"/>
                <a:cs typeface="Calibri"/>
              </a:defRPr>
            </a:lvl1pPr>
            <a:lvl2pPr>
              <a:defRPr sz="2025" b="0">
                <a:solidFill>
                  <a:srgbClr val="1C3144"/>
                </a:solidFill>
                <a:latin typeface="Calibri"/>
                <a:ea typeface="Calibri"/>
                <a:cs typeface="Calibri"/>
              </a:defRPr>
            </a:lvl2pPr>
            <a:lvl3pPr>
              <a:defRPr sz="2025" b="0">
                <a:solidFill>
                  <a:srgbClr val="1C3144"/>
                </a:solidFill>
                <a:latin typeface="Calibri"/>
                <a:ea typeface="Calibri"/>
                <a:cs typeface="Calibri"/>
              </a:defRPr>
            </a:lvl3pPr>
            <a:lvl4pPr>
              <a:defRPr sz="2025" b="0">
                <a:solidFill>
                  <a:srgbClr val="1C3144"/>
                </a:solidFill>
                <a:latin typeface="Calibri"/>
                <a:ea typeface="Calibri"/>
                <a:cs typeface="Calibri"/>
              </a:defRPr>
            </a:lvl4pPr>
            <a:lvl5pPr>
              <a:defRPr sz="2025" b="0">
                <a:solidFill>
                  <a:srgbClr val="1C3144"/>
                </a:solidFill>
                <a:latin typeface="Calibri"/>
                <a:ea typeface="Calibri"/>
                <a:cs typeface="Calibri"/>
              </a:defRPr>
            </a:lvl5pPr>
            <a:lvl6pPr>
              <a:defRPr sz="2025" b="0">
                <a:solidFill>
                  <a:srgbClr val="1C3144"/>
                </a:solidFill>
                <a:latin typeface="Calibri"/>
                <a:ea typeface="Calibri"/>
                <a:cs typeface="Calibri"/>
              </a:defRPr>
            </a:lvl6pPr>
            <a:lvl7pPr>
              <a:defRPr sz="2025" b="0">
                <a:solidFill>
                  <a:srgbClr val="1C3144"/>
                </a:solidFill>
                <a:latin typeface="Calibri"/>
                <a:ea typeface="Calibri"/>
                <a:cs typeface="Calibri"/>
              </a:defRPr>
            </a:lvl7pPr>
            <a:lvl8pPr>
              <a:defRPr sz="2025" b="0">
                <a:solidFill>
                  <a:srgbClr val="1C3144"/>
                </a:solidFill>
                <a:latin typeface="Calibri"/>
                <a:ea typeface="Calibri"/>
                <a:cs typeface="Calibri"/>
              </a:defRPr>
            </a:lvl8pPr>
            <a:lvl9pPr>
              <a:defRPr sz="2025" b="0">
                <a:solidFill>
                  <a:srgbClr val="1C3144"/>
                </a:solidFill>
                <a:latin typeface="Calibri"/>
                <a:ea typeface="Calibri"/>
                <a:cs typeface="Calibri"/>
              </a:defRPr>
            </a:lvl9pPr>
          </a:lstStyle>
          <a:p xmlns:a="http://schemas.openxmlformats.org/drawingml/2006/main">
            <a:pPr>
              <a:defRPr sz="2025" b="0">
                <a:solidFill>
                  <a:srgbClr val="1C3144"/>
                </a:solidFill>
                <a:latin typeface="Calibri"/>
                <a:ea typeface="Calibri"/>
                <a:cs typeface="Calibri"/>
              </a:defRPr>
            </a:pPr>
            <a:r>
              <a:rPr sz="2025" b="0">
                <a:solidFill>
                  <a:srgbClr val="1C3144"/>
                </a:solidFill>
                <a:latin typeface="Calibri"/>
                <a:ea typeface="Calibri"/>
                <a:cs typeface="Calibri"/>
              </a:rPr>
              <a:t>A row stays only when both checks pass. These records come from the supplied CSV.</a:t>
            </a:r>
          </a:p>
        </p:txBody>
      </p:sp>
      <p:sp>
        <p:nvSpPr>
          <p:cNvPr id="6" name="">
            <a:extLst xmlns:a="http://schemas.openxmlformats.org/drawingml/2006/main">
              <a:ext uri="{FF2B5EF4-FFF2-40B4-BE49-F238E27FC236}">
                <a16:creationId xmlns:a16="http://schemas.microsoft.com/office/drawing/2014/main" id="{6823B159-1AE9-4352-975B-C93C6FCF670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30</a:t>
            </a:r>
          </a:p>
        </p:txBody>
      </p:sp>
    </p:spTree>
    <p:extLst>
      <p:ext uri="{BB962C8B-B14F-4D97-AF65-F5344CB8AC3E}">
        <p14:creationId xmlns:p14="http://schemas.microsoft.com/office/powerpoint/2010/main" val="211127520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90E8F4F-0078-491B-86B8-7DE2B0A9C5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6A1FE84-6227-4FD5-B882-31513B5F218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88DA106-AC25-4F44-B18A-4A3000ADF49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Combine the answers, then keep those rows</a:t>
            </a:r>
          </a:p>
        </p:txBody>
      </p:sp>
      <p:sp>
        <p:nvSpPr>
          <p:cNvPr id="4" name="">
            <a:extLst xmlns:a="http://schemas.openxmlformats.org/drawingml/2006/main">
              <a:ext uri="{FF2B5EF4-FFF2-40B4-BE49-F238E27FC236}">
                <a16:creationId xmlns:a16="http://schemas.microsoft.com/office/drawing/2014/main" id="{E588BB28-6876-4B4B-A660-9160BA41AEB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B5B260D-4A61-4BA8-8093-DC57C5A0CCDC}"/>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print(rows_to_keep.sum())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 = cleaned_data[rows_to_keep].copy()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print(len(cleaned_data))</a:t>
            </a:r>
          </a:p>
        </p:txBody>
      </p:sp>
      <p:sp>
        <p:nvSpPr>
          <p:cNvPr id="6" name="">
            <a:extLst xmlns:a="http://schemas.openxmlformats.org/drawingml/2006/main">
              <a:ext uri="{FF2B5EF4-FFF2-40B4-BE49-F238E27FC236}">
                <a16:creationId xmlns:a16="http://schemas.microsoft.com/office/drawing/2014/main" id="{64C509E8-E4B2-4ADE-AB93-EB52E9EB4659}"/>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Read each input before running.</a:t>
            </a:r>
          </a:p>
        </p:txBody>
      </p:sp>
      <p:sp>
        <p:nvSpPr>
          <p:cNvPr id="7" name="">
            <a:extLst xmlns:a="http://schemas.openxmlformats.org/drawingml/2006/main">
              <a:ext uri="{FF2B5EF4-FFF2-40B4-BE49-F238E27FC236}">
                <a16:creationId xmlns:a16="http://schemas.microsoft.com/office/drawing/2014/main" id="{7E05E66A-E447-43E0-996B-48CE9777504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Use the supplied engineering_data.csv. Run cells in order.</a:t>
            </a:r>
          </a:p>
        </p:txBody>
      </p:sp>
      <p:sp>
        <p:nvSpPr>
          <p:cNvPr id="8" name="">
            <a:extLst xmlns:a="http://schemas.openxmlformats.org/drawingml/2006/main">
              <a:ext uri="{FF2B5EF4-FFF2-40B4-BE49-F238E27FC236}">
                <a16:creationId xmlns:a16="http://schemas.microsoft.com/office/drawing/2014/main" id="{EB7423E4-34B1-4092-A8E7-F44BE10006B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31</a:t>
            </a:r>
          </a:p>
        </p:txBody>
      </p:sp>
    </p:spTree>
    <p:extLst>
      <p:ext uri="{BB962C8B-B14F-4D97-AF65-F5344CB8AC3E}">
        <p14:creationId xmlns:p14="http://schemas.microsoft.com/office/powerpoint/2010/main" val="51021381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A20FB3-0F3D-4FCF-A0F4-D6AE3A500B3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A5412D9-86D0-483A-99D2-875A36097A2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B90D5A4-9FFA-4DD3-A60A-06CE6CFA19F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 only missing ambient temperatures</a:t>
            </a:r>
          </a:p>
        </p:txBody>
      </p:sp>
      <p:sp>
        <p:nvSpPr>
          <p:cNvPr id="4" name="">
            <a:extLst xmlns:a="http://schemas.openxmlformats.org/drawingml/2006/main">
              <a:ext uri="{FF2B5EF4-FFF2-40B4-BE49-F238E27FC236}">
                <a16:creationId xmlns:a16="http://schemas.microsoft.com/office/drawing/2014/main" id="{97A54C7E-8776-4F3F-BFE0-57910696CF8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9C8E01A-158C-4872-8446-32911EF0424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8D6E72A-621D-4576-B3E9-01DB7657ED88}"/>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ambient_c is temperature in °C. .median() finds the middle of the recorded values in the retained rows.</a:t>
            </a:r>
          </a:p>
        </p:txBody>
      </p:sp>
      <p:sp>
        <p:nvSpPr>
          <p:cNvPr id="7" name="">
            <a:extLst xmlns:a="http://schemas.openxmlformats.org/drawingml/2006/main">
              <a:ext uri="{FF2B5EF4-FFF2-40B4-BE49-F238E27FC236}">
                <a16:creationId xmlns:a16="http://schemas.microsoft.com/office/drawing/2014/main" id="{B2E7FB58-75CA-4334-9A34-C89EC0B99E80}"/>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.fillna(value) replaces only missing entries. Assign the result back to the ambient_c column.</a:t>
            </a:r>
          </a:p>
        </p:txBody>
      </p:sp>
      <p:sp>
        <p:nvSpPr>
          <p:cNvPr id="8" name="">
            <a:extLst xmlns:a="http://schemas.openxmlformats.org/drawingml/2006/main">
              <a:ext uri="{FF2B5EF4-FFF2-40B4-BE49-F238E27FC236}">
                <a16:creationId xmlns:a16="http://schemas.microsoft.com/office/drawing/2014/main" id="{9E520186-07A4-4037-9FE1-3E1B6F1C8A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32</a:t>
            </a:r>
          </a:p>
        </p:txBody>
      </p:sp>
    </p:spTree>
    <p:extLst>
      <p:ext uri="{BB962C8B-B14F-4D97-AF65-F5344CB8AC3E}">
        <p14:creationId xmlns:p14="http://schemas.microsoft.com/office/powerpoint/2010/main" val="26795791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C13798-2798-4325-B4BB-4D9666C307B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CBDCC53-F340-4335-AC19-C8151A49779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1D369EA-A889-4894-A0B6-139840E74E0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Fill missing ambient temperatures</a:t>
            </a:r>
          </a:p>
        </p:txBody>
      </p:sp>
      <p:sp>
        <p:nvSpPr>
          <p:cNvPr id="4" name="">
            <a:extLst xmlns:a="http://schemas.openxmlformats.org/drawingml/2006/main">
              <a:ext uri="{FF2B5EF4-FFF2-40B4-BE49-F238E27FC236}">
                <a16:creationId xmlns:a16="http://schemas.microsoft.com/office/drawing/2014/main" id="{324814DC-D6EE-4310-90B0-57F5E2750F17}"/>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D6756FE-2403-41DA-A02B-BFCDD95A68E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median_ambient_c = cleaned_data["ambient_c"].median()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cleaned_data["ambient_c"]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cleaned_data["ambient_c"].fillna(median_ambient_c))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print(round(float(median_ambient_c), 3))</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print(cleaned_data.isna().sum())</a:t>
            </a:r>
          </a:p>
        </p:txBody>
      </p:sp>
      <p:sp>
        <p:nvSpPr>
          <p:cNvPr id="6" name="">
            <a:extLst xmlns:a="http://schemas.openxmlformats.org/drawingml/2006/main">
              <a:ext uri="{FF2B5EF4-FFF2-40B4-BE49-F238E27FC236}">
                <a16:creationId xmlns:a16="http://schemas.microsoft.com/office/drawing/2014/main" id="{5EAF406D-61D4-4DBB-9E21-D7EFB2D2C8B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Compute the median of the retained, recorded ambient temperatures: 26.07 degrees C.</a:t>
            </a:r>
          </a:p>
        </p:txBody>
      </p:sp>
      <p:sp>
        <p:nvSpPr>
          <p:cNvPr id="7" name="">
            <a:extLst xmlns:a="http://schemas.openxmlformats.org/drawingml/2006/main">
              <a:ext uri="{FF2B5EF4-FFF2-40B4-BE49-F238E27FC236}">
                <a16:creationId xmlns:a16="http://schemas.microsoft.com/office/drawing/2014/main" id="{767C8674-F080-4C6B-8495-DEC7615C322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107566E2-C2A8-484A-B064-F77216B520D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33</a:t>
            </a:r>
          </a:p>
        </p:txBody>
      </p:sp>
    </p:spTree>
    <p:extLst>
      <p:ext uri="{BB962C8B-B14F-4D97-AF65-F5344CB8AC3E}">
        <p14:creationId xmlns:p14="http://schemas.microsoft.com/office/powerpoint/2010/main" val="75286617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67ED05-3B22-4106-80FA-32540B5EA0B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3DADBF2-E102-4AA9-AD84-B5E6B7ED9A9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97B271C-C62E-4531-9B01-ECE578FD5BB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Validate the result before interpreting charts</a:t>
            </a:r>
          </a:p>
        </p:txBody>
      </p:sp>
      <p:sp>
        <p:nvSpPr>
          <p:cNvPr id="4" name="">
            <a:extLst xmlns:a="http://schemas.openxmlformats.org/drawingml/2006/main">
              <a:ext uri="{FF2B5EF4-FFF2-40B4-BE49-F238E27FC236}">
                <a16:creationId xmlns:a16="http://schemas.microsoft.com/office/drawing/2014/main" id="{E38D6DA6-338A-4E3B-BFB8-BF40DBF48F5D}"/>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2168E26-0073-4D45-A86F-8AA193EE321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69CEE49-4CE7-4685-A69D-6F5B5249E6A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Count original and retained rows. Check duplicate record IDs, missing values and valid loads again.</a:t>
            </a:r>
          </a:p>
        </p:txBody>
      </p:sp>
      <p:sp>
        <p:nvSpPr>
          <p:cNvPr id="7" name="">
            <a:extLst xmlns:a="http://schemas.openxmlformats.org/drawingml/2006/main">
              <a:ext uri="{FF2B5EF4-FFF2-40B4-BE49-F238E27FC236}">
                <a16:creationId xmlns:a16="http://schemas.microsoft.com/office/drawing/2014/main" id="{AE30FB51-23F5-4258-AE0F-64833E9CAF16}"/>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.all() answers True only when every row passes the condition. A check confirms what the data contain; a table named cleaned_data is not automatically correct.</a:t>
            </a:r>
          </a:p>
        </p:txBody>
      </p:sp>
      <p:sp>
        <p:nvSpPr>
          <p:cNvPr id="8" name="">
            <a:extLst xmlns:a="http://schemas.openxmlformats.org/drawingml/2006/main">
              <a:ext uri="{FF2B5EF4-FFF2-40B4-BE49-F238E27FC236}">
                <a16:creationId xmlns:a16="http://schemas.microsoft.com/office/drawing/2014/main" id="{7B38B77C-0688-4DA1-BC50-950F2D91339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34</a:t>
            </a:r>
          </a:p>
        </p:txBody>
      </p:sp>
    </p:spTree>
    <p:extLst>
      <p:ext uri="{BB962C8B-B14F-4D97-AF65-F5344CB8AC3E}">
        <p14:creationId xmlns:p14="http://schemas.microsoft.com/office/powerpoint/2010/main" val="156157106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6C6C02-E09C-4E2A-9919-2D6D9C730E6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0280D00-A7A4-4B10-ABF2-4E6351F54C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AB5B795-EC4F-42B2-BD82-7B416F43209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the cleaned table</a:t>
            </a:r>
          </a:p>
        </p:txBody>
      </p:sp>
      <p:sp>
        <p:nvSpPr>
          <p:cNvPr id="4" name="">
            <a:extLst xmlns:a="http://schemas.openxmlformats.org/drawingml/2006/main">
              <a:ext uri="{FF2B5EF4-FFF2-40B4-BE49-F238E27FC236}">
                <a16:creationId xmlns:a16="http://schemas.microsoft.com/office/drawing/2014/main" id="{71684BAD-ACE0-446F-BF76-D72F0B8E8050}"/>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169A639-72D1-47D4-AF88-74C469D7215B}"/>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58" b="0">
                <a:solidFill>
                  <a:srgbClr val="F4F7FA"/>
                </a:solidFill>
                <a:latin typeface="Courier New"/>
                <a:ea typeface="Courier New"/>
                <a:cs typeface="Courier New"/>
              </a:defRPr>
            </a:defPPr>
            <a:lvl1pPr>
              <a:defRPr sz="1858" b="0">
                <a:solidFill>
                  <a:srgbClr val="F4F7FA"/>
                </a:solidFill>
                <a:latin typeface="Courier New"/>
                <a:ea typeface="Courier New"/>
                <a:cs typeface="Courier New"/>
              </a:defRPr>
            </a:lvl1pPr>
            <a:lvl2pPr>
              <a:defRPr sz="1858" b="0">
                <a:solidFill>
                  <a:srgbClr val="F4F7FA"/>
                </a:solidFill>
                <a:latin typeface="Courier New"/>
                <a:ea typeface="Courier New"/>
                <a:cs typeface="Courier New"/>
              </a:defRPr>
            </a:lvl2pPr>
            <a:lvl3pPr>
              <a:defRPr sz="1858" b="0">
                <a:solidFill>
                  <a:srgbClr val="F4F7FA"/>
                </a:solidFill>
                <a:latin typeface="Courier New"/>
                <a:ea typeface="Courier New"/>
                <a:cs typeface="Courier New"/>
              </a:defRPr>
            </a:lvl3pPr>
            <a:lvl4pPr>
              <a:defRPr sz="1858" b="0">
                <a:solidFill>
                  <a:srgbClr val="F4F7FA"/>
                </a:solidFill>
                <a:latin typeface="Courier New"/>
                <a:ea typeface="Courier New"/>
                <a:cs typeface="Courier New"/>
              </a:defRPr>
            </a:lvl4pPr>
            <a:lvl5pPr>
              <a:defRPr sz="1858" b="0">
                <a:solidFill>
                  <a:srgbClr val="F4F7FA"/>
                </a:solidFill>
                <a:latin typeface="Courier New"/>
                <a:ea typeface="Courier New"/>
                <a:cs typeface="Courier New"/>
              </a:defRPr>
            </a:lvl5pPr>
            <a:lvl6pPr>
              <a:defRPr sz="1858" b="0">
                <a:solidFill>
                  <a:srgbClr val="F4F7FA"/>
                </a:solidFill>
                <a:latin typeface="Courier New"/>
                <a:ea typeface="Courier New"/>
                <a:cs typeface="Courier New"/>
              </a:defRPr>
            </a:lvl6pPr>
            <a:lvl7pPr>
              <a:defRPr sz="1858" b="0">
                <a:solidFill>
                  <a:srgbClr val="F4F7FA"/>
                </a:solidFill>
                <a:latin typeface="Courier New"/>
                <a:ea typeface="Courier New"/>
                <a:cs typeface="Courier New"/>
              </a:defRPr>
            </a:lvl7pPr>
            <a:lvl8pPr>
              <a:defRPr sz="1858" b="0">
                <a:solidFill>
                  <a:srgbClr val="F4F7FA"/>
                </a:solidFill>
                <a:latin typeface="Courier New"/>
                <a:ea typeface="Courier New"/>
                <a:cs typeface="Courier New"/>
              </a:defRPr>
            </a:lvl8pPr>
            <a:lvl9pPr>
              <a:defRPr sz="1858" b="0">
                <a:solidFill>
                  <a:srgbClr val="F4F7FA"/>
                </a:solidFill>
                <a:latin typeface="Courier New"/>
                <a:ea typeface="Courier New"/>
                <a:cs typeface="Courier New"/>
              </a:defRPr>
            </a:lvl9pPr>
          </a:lstStyle>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print("Rows be</a:t>
            </a:r>
            <a:r>
              <a:rPr sz="1858" b="0">
                <a:solidFill>
                  <a:srgbClr val="FFB080"/>
                </a:solidFill>
                <a:latin typeface="Courier New"/>
                <a:ea typeface="Courier New"/>
                <a:cs typeface="Courier New"/>
              </a:rPr>
              <a:t>for</a:t>
            </a:r>
            <a:r>
              <a:rPr sz="1858" b="0">
                <a:solidFill>
                  <a:srgbClr val="F4F7FA"/>
                </a:solidFill>
                <a:latin typeface="Courier New"/>
                <a:ea typeface="Courier New"/>
                <a:cs typeface="Courier New"/>
              </a:rPr>
              <a:t>e:", len(raw_data))</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print("Rows after:", len(cleaned_data))</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print("Duplicate IDs:", cleaned_data.duplicated("record_id").sum())</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print(cleaned_data.isna().sum())</a:t>
            </a:r>
          </a:p>
          <a:p xmlns:a="http://schemas.openxmlformats.org/drawingml/2006/main">
            <a:pPr>
              <a:defRPr sz="1858" b="0">
                <a:solidFill>
                  <a:srgbClr val="F4F7FA"/>
                </a:solidFill>
                <a:latin typeface="Courier New"/>
                <a:ea typeface="Courier New"/>
                <a:cs typeface="Courier New"/>
              </a:defRPr>
            </a:pPr>
            <a:r>
              <a:rPr sz="1858" b="0">
                <a:solidFill>
                  <a:srgbClr val="F4F7FA"/>
                </a:solidFill>
                <a:latin typeface="Courier New"/>
                <a:ea typeface="Courier New"/>
                <a:cs typeface="Courier New"/>
              </a:rPr>
              <a:t>print("Loads valid:", cleaned_data["load_pct"].between(0, 100).all())</a:t>
            </a:r>
          </a:p>
        </p:txBody>
      </p:sp>
      <p:sp>
        <p:nvSpPr>
          <p:cNvPr id="6" name="">
            <a:extLst xmlns:a="http://schemas.openxmlformats.org/drawingml/2006/main">
              <a:ext uri="{FF2B5EF4-FFF2-40B4-BE49-F238E27FC236}">
                <a16:creationId xmlns:a16="http://schemas.microsoft.com/office/drawing/2014/main" id="{AE9AE6F3-54F2-42C8-926E-8399AE8310F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Expect 91 original rows, 88 retained rows, zero duplicate IDs, zero remaining missing cells, and True for the load check. Missing temperatures are estimates; the unchanged raw table retains the original gaps.</a:t>
            </a:r>
          </a:p>
        </p:txBody>
      </p:sp>
      <p:sp>
        <p:nvSpPr>
          <p:cNvPr id="7" name="">
            <a:extLst xmlns:a="http://schemas.openxmlformats.org/drawingml/2006/main">
              <a:ext uri="{FF2B5EF4-FFF2-40B4-BE49-F238E27FC236}">
                <a16:creationId xmlns:a16="http://schemas.microsoft.com/office/drawing/2014/main" id="{FC542283-1A04-4F78-8EB9-7375AFB4656F}"/>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after the preceding example using the supplied CSV.</a:t>
            </a:r>
          </a:p>
        </p:txBody>
      </p:sp>
      <p:sp>
        <p:nvSpPr>
          <p:cNvPr id="8" name="">
            <a:extLst xmlns:a="http://schemas.openxmlformats.org/drawingml/2006/main">
              <a:ext uri="{FF2B5EF4-FFF2-40B4-BE49-F238E27FC236}">
                <a16:creationId xmlns:a16="http://schemas.microsoft.com/office/drawing/2014/main" id="{2DB63781-16D1-4712-A675-EBC4E367245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35</a:t>
            </a:r>
          </a:p>
        </p:txBody>
      </p:sp>
    </p:spTree>
    <p:extLst>
      <p:ext uri="{BB962C8B-B14F-4D97-AF65-F5344CB8AC3E}">
        <p14:creationId xmlns:p14="http://schemas.microsoft.com/office/powerpoint/2010/main" val="155965141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9199F23-BE19-4F85-93E2-0615DED9270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30C59E6-D3A6-4BC6-85E1-372B2CF9806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40AC7CBA-50D7-468C-9C3A-596C2E8118C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and grouped results</a:t>
            </a:r>
          </a:p>
        </p:txBody>
      </p:sp>
      <p:sp>
        <p:nvSpPr>
          <p:cNvPr id="4" name="">
            <a:extLst xmlns:a="http://schemas.openxmlformats.org/drawingml/2006/main">
              <a:ext uri="{FF2B5EF4-FFF2-40B4-BE49-F238E27FC236}">
                <a16:creationId xmlns:a16="http://schemas.microsoft.com/office/drawing/2014/main" id="{9F95D9EF-F21C-48FA-AA3C-1CA98DEA4F25}"/>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8254C4B-C52F-4183-8E61-4EB8D0BFC4E8}"/>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DF3F1AFC-660B-4E32-AFF1-73E0331E721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mean, min and max summarise a numeric column. groupby collects rows with the same equipment label before calculating.</a:t>
            </a:r>
          </a:p>
        </p:txBody>
      </p:sp>
      <p:sp>
        <p:nvSpPr>
          <p:cNvPr id="7" name="">
            <a:extLst xmlns:a="http://schemas.openxmlformats.org/drawingml/2006/main">
              <a:ext uri="{FF2B5EF4-FFF2-40B4-BE49-F238E27FC236}">
                <a16:creationId xmlns:a16="http://schemas.microsoft.com/office/drawing/2014/main" id="{7C8A4D25-337B-4FBC-A1AC-C98DAA01B3A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Use the cleaned table for summaries and charts.</a:t>
            </a:r>
          </a:p>
        </p:txBody>
      </p:sp>
      <p:sp>
        <p:nvSpPr>
          <p:cNvPr id="8" name="">
            <a:extLst xmlns:a="http://schemas.openxmlformats.org/drawingml/2006/main">
              <a:ext uri="{FF2B5EF4-FFF2-40B4-BE49-F238E27FC236}">
                <a16:creationId xmlns:a16="http://schemas.microsoft.com/office/drawing/2014/main" id="{15A77CFF-D506-4F48-9963-0ABE89D8F60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36</a:t>
            </a:r>
          </a:p>
        </p:txBody>
      </p:sp>
    </p:spTree>
    <p:extLst>
      <p:ext uri="{BB962C8B-B14F-4D97-AF65-F5344CB8AC3E}">
        <p14:creationId xmlns:p14="http://schemas.microsoft.com/office/powerpoint/2010/main" val="1240296847"/>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8D6305-D770-403E-8FB4-C8458E3D847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AEBF54AE-3D14-4A87-B1BE-DBB35D6079A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F7289FD-52CE-458A-8EB8-6ED4D8BB371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2B8022D-D1D8-45D7-8088-8CA10346C26C}"/>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DB148868-4F6A-4BC0-BB48-4B4152A836D9}"/>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Mean of recorded values: series.mean() adds known values and divides by their count. pandas skips missing values by default. The result has the same unit as the original column.</a:t>
            </a:r>
          </a:p>
        </p:txBody>
      </p:sp>
      <p:sp>
        <p:nvSpPr>
          <p:cNvPr id="6" name="">
            <a:extLst xmlns:a="http://schemas.openxmlformats.org/drawingml/2006/main">
              <a:ext uri="{FF2B5EF4-FFF2-40B4-BE49-F238E27FC236}">
                <a16:creationId xmlns:a16="http://schemas.microsoft.com/office/drawing/2014/main" id="{0C329C85-0D20-4418-A6AF-E78D2961A293}"/>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A19C4D46-BE2B-4CFC-AF9F-57DB81F60D71}"/>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Several summaries at once: series.agg(["mean", "min", "max"]) applies those three named calculations and returns a labelled Series of results. min and max give the lowest and highest recorded values.</a:t>
            </a:r>
          </a:p>
        </p:txBody>
      </p:sp>
      <p:sp>
        <p:nvSpPr>
          <p:cNvPr id="8" name="">
            <a:extLst xmlns:a="http://schemas.openxmlformats.org/drawingml/2006/main">
              <a:ext uri="{FF2B5EF4-FFF2-40B4-BE49-F238E27FC236}">
                <a16:creationId xmlns:a16="http://schemas.microsoft.com/office/drawing/2014/main" id="{91EE9C5F-9C6B-4075-A80E-AAA84F345B6C}"/>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433BCFD-BAEF-4BBE-AB6D-F5EFC52DF8BA}"/>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Grouping rows: table.groupby("label")["value"] groups the value column by matching labels. Apply mean() or sum() to calculate one result per group. Missing group labels are excluded by default.</a:t>
            </a:r>
          </a:p>
        </p:txBody>
      </p:sp>
      <p:sp>
        <p:nvSpPr>
          <p:cNvPr id="10" name="">
            <a:extLst xmlns:a="http://schemas.openxmlformats.org/drawingml/2006/main">
              <a:ext uri="{FF2B5EF4-FFF2-40B4-BE49-F238E27FC236}">
                <a16:creationId xmlns:a16="http://schemas.microsoft.com/office/drawing/2014/main" id="{0FF1FA21-4CB0-43A2-B1C7-768840CF755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37</a:t>
            </a:r>
          </a:p>
        </p:txBody>
      </p:sp>
    </p:spTree>
    <p:extLst>
      <p:ext uri="{BB962C8B-B14F-4D97-AF65-F5344CB8AC3E}">
        <p14:creationId xmlns:p14="http://schemas.microsoft.com/office/powerpoint/2010/main" val="70805030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CA51C1-E03C-4A77-9D5D-25FC2D696AA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A14C154-B9E9-4AB4-9A26-E2C15582F77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3978BF9-924E-4F07-A4F2-F1971A54D99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Summaries of the cleaned CSV</a:t>
            </a:r>
          </a:p>
        </p:txBody>
      </p:sp>
      <p:sp>
        <p:nvSpPr>
          <p:cNvPr id="4" name="">
            <a:extLst xmlns:a="http://schemas.openxmlformats.org/drawingml/2006/main">
              <a:ext uri="{FF2B5EF4-FFF2-40B4-BE49-F238E27FC236}">
                <a16:creationId xmlns:a16="http://schemas.microsoft.com/office/drawing/2014/main" id="{06673929-EBF1-4C91-9FD1-131C6992CCD4}"/>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D7FD5D5-F959-4636-BABF-CDADF299204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target_summary = cleaned_data["target"].agg(["mean", "min", "max"])</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mean_target_by_equipment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cleaned_data.groupby("equipment_id")["target"].mean())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print(target_summary)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print(mean_target_by_equipment.round(3))</a:t>
            </a:r>
          </a:p>
        </p:txBody>
      </p:sp>
      <p:sp>
        <p:nvSpPr>
          <p:cNvPr id="6" name="">
            <a:extLst xmlns:a="http://schemas.openxmlformats.org/drawingml/2006/main">
              <a:ext uri="{FF2B5EF4-FFF2-40B4-BE49-F238E27FC236}">
                <a16:creationId xmlns:a16="http://schemas.microsoft.com/office/drawing/2014/main" id="{28510120-7D1D-40EA-B1D8-69FEB39FE9B7}"/>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Store three summary values for the target in target_summary.</a:t>
            </a:r>
          </a:p>
        </p:txBody>
      </p:sp>
      <p:sp>
        <p:nvSpPr>
          <p:cNvPr id="7" name="">
            <a:extLst xmlns:a="http://schemas.openxmlformats.org/drawingml/2006/main">
              <a:ext uri="{FF2B5EF4-FFF2-40B4-BE49-F238E27FC236}">
                <a16:creationId xmlns:a16="http://schemas.microsoft.com/office/drawing/2014/main" id="{36793817-0BB3-4BC2-BC6A-D652BBA9690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FAD2EFBE-B3FB-4CA5-9A7B-AF33F047824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38</a:t>
            </a:r>
          </a:p>
        </p:txBody>
      </p:sp>
    </p:spTree>
    <p:extLst>
      <p:ext uri="{BB962C8B-B14F-4D97-AF65-F5344CB8AC3E}">
        <p14:creationId xmlns:p14="http://schemas.microsoft.com/office/powerpoint/2010/main" val="104660319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1DFD45-0C8A-481C-BD1A-A23EA14EE7FE}"/>
              </a:ext>
            </a:extLst>
          </p:cNvPr>
          <p:cNvSpPr>
            <a:spLocks xmlns:a="http://schemas.openxmlformats.org/drawingml/2006/main" noGrp="1"/>
          </p:cNvSpPr>
          <p:nvPr/>
        </p:nvSpPr>
        <p:spPr>
          <a:xfrm xmlns:a="http://schemas.openxmlformats.org/drawingml/2006/main">
            <a:off x="0" y="0"/>
            <a:ext cx="12191695" cy="9525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3665907-244E-4D15-BD70-CE068EB84FEA}"/>
              </a:ext>
            </a:extLst>
          </p:cNvPr>
          <p:cNvSpPr>
            <a:spLocks xmlns:a="http://schemas.openxmlformats.org/drawingml/2006/main" noGrp="1"/>
          </p:cNvSpPr>
          <p:nvPr/>
        </p:nvSpPr>
        <p:spPr>
          <a:xfrm xmlns:a="http://schemas.openxmlformats.org/drawingml/2006/main">
            <a:off x="476250" y="190500"/>
            <a:ext cx="1123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FFFFFF"/>
                </a:solidFill>
                <a:latin typeface="Calibri"/>
                <a:ea typeface="Calibri"/>
                <a:cs typeface="Calibri"/>
              </a:defRPr>
            </a:defPPr>
            <a:lvl1pPr>
              <a:defRPr sz="2925" b="1">
                <a:solidFill>
                  <a:srgbClr val="FFFFFF"/>
                </a:solidFill>
                <a:latin typeface="Calibri"/>
                <a:ea typeface="Calibri"/>
                <a:cs typeface="Calibri"/>
              </a:defRPr>
            </a:lvl1pPr>
            <a:lvl2pPr>
              <a:defRPr sz="2925" b="1">
                <a:solidFill>
                  <a:srgbClr val="FFFFFF"/>
                </a:solidFill>
                <a:latin typeface="Calibri"/>
                <a:ea typeface="Calibri"/>
                <a:cs typeface="Calibri"/>
              </a:defRPr>
            </a:lvl2pPr>
            <a:lvl3pPr>
              <a:defRPr sz="2925" b="1">
                <a:solidFill>
                  <a:srgbClr val="FFFFFF"/>
                </a:solidFill>
                <a:latin typeface="Calibri"/>
                <a:ea typeface="Calibri"/>
                <a:cs typeface="Calibri"/>
              </a:defRPr>
            </a:lvl3pPr>
            <a:lvl4pPr>
              <a:defRPr sz="2925" b="1">
                <a:solidFill>
                  <a:srgbClr val="FFFFFF"/>
                </a:solidFill>
                <a:latin typeface="Calibri"/>
                <a:ea typeface="Calibri"/>
                <a:cs typeface="Calibri"/>
              </a:defRPr>
            </a:lvl4pPr>
            <a:lvl5pPr>
              <a:defRPr sz="2925" b="1">
                <a:solidFill>
                  <a:srgbClr val="FFFFFF"/>
                </a:solidFill>
                <a:latin typeface="Calibri"/>
                <a:ea typeface="Calibri"/>
                <a:cs typeface="Calibri"/>
              </a:defRPr>
            </a:lvl5pPr>
            <a:lvl6pPr>
              <a:defRPr sz="2925" b="1">
                <a:solidFill>
                  <a:srgbClr val="FFFFFF"/>
                </a:solidFill>
                <a:latin typeface="Calibri"/>
                <a:ea typeface="Calibri"/>
                <a:cs typeface="Calibri"/>
              </a:defRPr>
            </a:lvl6pPr>
            <a:lvl7pPr>
              <a:defRPr sz="2925" b="1">
                <a:solidFill>
                  <a:srgbClr val="FFFFFF"/>
                </a:solidFill>
                <a:latin typeface="Calibri"/>
                <a:ea typeface="Calibri"/>
                <a:cs typeface="Calibri"/>
              </a:defRPr>
            </a:lvl7pPr>
            <a:lvl8pPr>
              <a:defRPr sz="2925" b="1">
                <a:solidFill>
                  <a:srgbClr val="FFFFFF"/>
                </a:solidFill>
                <a:latin typeface="Calibri"/>
                <a:ea typeface="Calibri"/>
                <a:cs typeface="Calibri"/>
              </a:defRPr>
            </a:lvl8pPr>
            <a:lvl9pPr>
              <a:defRPr sz="2925" b="1">
                <a:solidFill>
                  <a:srgbClr val="FFFFFF"/>
                </a:solidFill>
                <a:latin typeface="Calibri"/>
                <a:ea typeface="Calibri"/>
                <a:cs typeface="Calibri"/>
              </a:defRPr>
            </a:lvl9pPr>
          </a:lstStyle>
          <a:p xmlns:a="http://schemas.openxmlformats.org/drawingml/2006/main">
            <a:pPr>
              <a:defRPr sz="2925" b="1">
                <a:solidFill>
                  <a:srgbClr val="FFFFFF"/>
                </a:solidFill>
                <a:latin typeface="Calibri"/>
                <a:ea typeface="Calibri"/>
                <a:cs typeface="Calibri"/>
              </a:defRPr>
            </a:pPr>
            <a:r>
              <a:rPr sz="2925" b="1">
                <a:solidFill>
                  <a:srgbClr val="FFFFFF"/>
                </a:solidFill>
                <a:latin typeface="Calibri"/>
                <a:ea typeface="Calibri"/>
                <a:cs typeface="Calibri"/>
              </a:rPr>
              <a:t>Choosing a chart for the question</a:t>
            </a:r>
          </a:p>
        </p:txBody>
      </p:sp>
      <p:pic>
        <p:nvPicPr>
          <p:cNvPr id="3" name="">
            <a:extLst xmlns:a="http://schemas.openxmlformats.org/drawingml/2006/main">
              <a:ext uri="{FF2B5EF4-FFF2-40B4-BE49-F238E27FC236}">
                <a16:creationId xmlns:a16="http://schemas.microsoft.com/office/drawing/2014/main" id="{843DFDDD-DAAE-4B41-8761-F74569874BA6}"/>
              </a:ext>
            </a:extLst>
          </p:cNvPr>
          <p:cNvPicPr>
            <a:picLocks xmlns:a="http://schemas.openxmlformats.org/drawingml/2006/main" noChangeAspect="1"/>
          </p:cNvPicPr>
          <p:nvPr/>
        </p:nvPicPr>
        <p:blipFill>
          <a:blip xmlns:r="http://schemas.openxmlformats.org/officeDocument/2006/relationships" xmlns:a="http://schemas.openxmlformats.org/drawingml/2006/main" r:embed="R6901b16fdf0e4085"/>
          <a:stretch xmlns:a="http://schemas.openxmlformats.org/drawingml/2006/main"/>
        </p:blipFill>
        <p:spPr>
          <a:xfrm xmlns:a="http://schemas.openxmlformats.org/drawingml/2006/main">
            <a:off x="1125175" y="1057275"/>
            <a:ext cx="9941649"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FE3568F-2911-4741-99FB-5F255CBF25E0}"/>
              </a:ext>
            </a:extLst>
          </p:cNvPr>
          <p:cNvSpPr>
            <a:spLocks xmlns:a="http://schemas.openxmlformats.org/drawingml/2006/main" noGrp="1"/>
          </p:cNvSpPr>
          <p:nvPr/>
        </p:nvSpPr>
        <p:spPr>
          <a:xfrm xmlns:a="http://schemas.openxmlformats.org/drawingml/2006/main">
            <a:off x="0" y="5810250"/>
            <a:ext cx="12191695" cy="5905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F1AB2EC-600A-4B3B-BEAC-CA2ECCA11FAC}"/>
              </a:ext>
            </a:extLst>
          </p:cNvPr>
          <p:cNvSpPr>
            <a:spLocks xmlns:a="http://schemas.openxmlformats.org/drawingml/2006/main" noGrp="1"/>
          </p:cNvSpPr>
          <p:nvPr/>
        </p:nvSpPr>
        <p:spPr>
          <a:xfrm xmlns:a="http://schemas.openxmlformats.org/drawingml/2006/main">
            <a:off x="552450" y="5886450"/>
            <a:ext cx="1104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This week uses histograms, scatter plots and bar charts. The other chart types are reference examples.</a:t>
            </a:r>
          </a:p>
        </p:txBody>
      </p:sp>
      <p:sp>
        <p:nvSpPr>
          <p:cNvPr id="6" name="">
            <a:extLst xmlns:a="http://schemas.openxmlformats.org/drawingml/2006/main">
              <a:ext uri="{FF2B5EF4-FFF2-40B4-BE49-F238E27FC236}">
                <a16:creationId xmlns:a16="http://schemas.microsoft.com/office/drawing/2014/main" id="{8381401A-2976-491A-97FE-D8C021EBA2A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39</a:t>
            </a:r>
          </a:p>
        </p:txBody>
      </p:sp>
    </p:spTree>
    <p:extLst>
      <p:ext uri="{BB962C8B-B14F-4D97-AF65-F5344CB8AC3E}">
        <p14:creationId xmlns:p14="http://schemas.microsoft.com/office/powerpoint/2010/main" val="73616416"/>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94C41BC-FA4A-45F0-85BF-03DA9E29EEC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B0DE0AC-A077-4036-88F2-E787E1B521AF}"/>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F12524A-88C8-4802-A617-55ECA44664F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Charts and units</a:t>
            </a:r>
          </a:p>
        </p:txBody>
      </p:sp>
      <p:sp>
        <p:nvSpPr>
          <p:cNvPr id="4" name="">
            <a:extLst xmlns:a="http://schemas.openxmlformats.org/drawingml/2006/main">
              <a:ext uri="{FF2B5EF4-FFF2-40B4-BE49-F238E27FC236}">
                <a16:creationId xmlns:a16="http://schemas.microsoft.com/office/drawing/2014/main" id="{4B8F6333-D37F-46F5-8CFC-FFB4780527B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F31C812-66A7-47DC-AD78-341C2640785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CB2B9E16-4CA6-4900-87BB-DF0CAD66C38B}"/>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scatter plot compares two numerical columns. A histogram counts observations in value intervals. A bar chart compares group summaries.</a:t>
            </a:r>
          </a:p>
        </p:txBody>
      </p:sp>
      <p:sp>
        <p:nvSpPr>
          <p:cNvPr id="7" name="">
            <a:extLst xmlns:a="http://schemas.openxmlformats.org/drawingml/2006/main">
              <a:ext uri="{FF2B5EF4-FFF2-40B4-BE49-F238E27FC236}">
                <a16:creationId xmlns:a16="http://schemas.microsoft.com/office/drawing/2014/main" id="{90FBEF7E-DAA4-492F-9E34-AAAF85CF6A1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plt.subplots creates a Figure and plotting Axes. Use ax= to choose where pandas draws, then label each axis.</a:t>
            </a:r>
          </a:p>
        </p:txBody>
      </p:sp>
      <p:sp>
        <p:nvSpPr>
          <p:cNvPr id="8" name="">
            <a:extLst xmlns:a="http://schemas.openxmlformats.org/drawingml/2006/main">
              <a:ext uri="{FF2B5EF4-FFF2-40B4-BE49-F238E27FC236}">
                <a16:creationId xmlns:a16="http://schemas.microsoft.com/office/drawing/2014/main" id="{D007A95D-00FA-4696-9323-5EED0FD7911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40</a:t>
            </a:r>
          </a:p>
        </p:txBody>
      </p:sp>
    </p:spTree>
    <p:extLst>
      <p:ext uri="{BB962C8B-B14F-4D97-AF65-F5344CB8AC3E}">
        <p14:creationId xmlns:p14="http://schemas.microsoft.com/office/powerpoint/2010/main" val="174284844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66F03A-F48E-4236-B635-FFA781B82A1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25C9425-E605-47FC-A97C-A48EED11176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91C98D9-52B6-4764-972A-3A989BBCEE9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8A9132BF-CDCE-4A07-8DBA-28D8ABE6E547}"/>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DD3955E-330E-49D8-AC70-3CD83E06D1E6}"/>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FA913AB-D5EC-4D31-950A-5F06C4BAB8F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plt.subplots() returns two objects: a figure (the whole image) and axes (the plotting area). Store them as scatter_figure and scatter_axes.</a:t>
            </a:r>
          </a:p>
        </p:txBody>
      </p:sp>
      <p:sp>
        <p:nvSpPr>
          <p:cNvPr id="7" name="">
            <a:extLst xmlns:a="http://schemas.openxmlformats.org/drawingml/2006/main">
              <a:ext uri="{FF2B5EF4-FFF2-40B4-BE49-F238E27FC236}">
                <a16:creationId xmlns:a16="http://schemas.microsoft.com/office/drawing/2014/main" id="{6F50F90A-CCE6-4D14-ADF6-F86F942A6D8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ax= argument tells pandas where to draw: ax=scatter_axes uses that plotting area. Keep the library keyword ax unchanged.</a:t>
            </a:r>
          </a:p>
        </p:txBody>
      </p:sp>
      <p:sp>
        <p:nvSpPr>
          <p:cNvPr id="8" name="">
            <a:extLst xmlns:a="http://schemas.openxmlformats.org/drawingml/2006/main">
              <a:ext uri="{FF2B5EF4-FFF2-40B4-BE49-F238E27FC236}">
                <a16:creationId xmlns:a16="http://schemas.microsoft.com/office/drawing/2014/main" id="{FFE4C9B0-15F4-4B0A-AF06-F435ADE392B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41</a:t>
            </a:r>
          </a:p>
        </p:txBody>
      </p:sp>
    </p:spTree>
    <p:extLst>
      <p:ext uri="{BB962C8B-B14F-4D97-AF65-F5344CB8AC3E}">
        <p14:creationId xmlns:p14="http://schemas.microsoft.com/office/powerpoint/2010/main" val="1214078807"/>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35F7AA-6452-47F8-BE83-127187BAFC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F9B891D-59FC-4333-8957-3FC210F434A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789762F-FBD9-46A8-97F3-5BB51B14F0C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 and crusher energy demand</a:t>
            </a:r>
          </a:p>
        </p:txBody>
      </p:sp>
      <p:sp>
        <p:nvSpPr>
          <p:cNvPr id="4" name="">
            <a:extLst xmlns:a="http://schemas.openxmlformats.org/drawingml/2006/main">
              <a:ext uri="{FF2B5EF4-FFF2-40B4-BE49-F238E27FC236}">
                <a16:creationId xmlns:a16="http://schemas.microsoft.com/office/drawing/2014/main" id="{D0E0EF51-DA8D-4690-B209-70EBF59727A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DA83044-DF01-471B-ABA9-DD7B30C3104A}"/>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matplotlib.pyplot as plt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scatter_figure, scatter_axes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cleaned_data.plot.scatter(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x="load_pct", y="target", ax=scatter_axes)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scatter_axes.set_xlabel("Load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scatter_axes.set_ylabel("Crusher energy (kWh/t)")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7535475A-7FA2-4B98-B8B0-D03A4457E603}"/>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Import plotting tools using the conventional alias plt.</a:t>
            </a:r>
          </a:p>
        </p:txBody>
      </p:sp>
      <p:sp>
        <p:nvSpPr>
          <p:cNvPr id="7" name="">
            <a:extLst xmlns:a="http://schemas.openxmlformats.org/drawingml/2006/main">
              <a:ext uri="{FF2B5EF4-FFF2-40B4-BE49-F238E27FC236}">
                <a16:creationId xmlns:a16="http://schemas.microsoft.com/office/drawing/2014/main" id="{5C610228-A46B-45AF-86E8-E0AFE768C23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14D1BBDF-D795-4DD6-B244-33F03BF1DFB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42</a:t>
            </a:r>
          </a:p>
        </p:txBody>
      </p:sp>
    </p:spTree>
    <p:extLst>
      <p:ext uri="{BB962C8B-B14F-4D97-AF65-F5344CB8AC3E}">
        <p14:creationId xmlns:p14="http://schemas.microsoft.com/office/powerpoint/2010/main" val="143640088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C766AF3-D939-4456-A913-EE43723679C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1DEC38BE-46B2-4B7C-A717-6C0410F546F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65F8EE5-735F-48E7-88EA-37B3EC8B127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983E9E74-FC91-4BBA-B2A8-8A61A70716FF}"/>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F2B0133-FAB5-4CCE-A0E5-CF3C4F52CCC7}"/>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6EF7D5A-A3BD-4345-B0DD-DCB9D84FB647}"/>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bar for each labelled value: series.plot.bar(ax=ax) draws a bar for each Series label. When the Series contains group means, bar heights represent those means.</a:t>
            </a:r>
          </a:p>
        </p:txBody>
      </p:sp>
      <p:sp>
        <p:nvSpPr>
          <p:cNvPr id="7" name="">
            <a:extLst xmlns:a="http://schemas.openxmlformats.org/drawingml/2006/main">
              <a:ext uri="{FF2B5EF4-FFF2-40B4-BE49-F238E27FC236}">
                <a16:creationId xmlns:a16="http://schemas.microsoft.com/office/drawing/2014/main" id="{02F2E7CF-3325-42B9-9825-48F12C52A36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Histogram intervals: series.plot.hist(bins=10, ax=ax) groups known values into ten value intervals and counts observations in each. Bar heights are counts, not the original measurement values.</a:t>
            </a:r>
          </a:p>
        </p:txBody>
      </p:sp>
      <p:sp>
        <p:nvSpPr>
          <p:cNvPr id="8" name="">
            <a:extLst xmlns:a="http://schemas.openxmlformats.org/drawingml/2006/main">
              <a:ext uri="{FF2B5EF4-FFF2-40B4-BE49-F238E27FC236}">
                <a16:creationId xmlns:a16="http://schemas.microsoft.com/office/drawing/2014/main" id="{40C15AF8-4497-4DCA-A202-80A0E04601D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43</a:t>
            </a:r>
          </a:p>
        </p:txBody>
      </p:sp>
    </p:spTree>
    <p:extLst>
      <p:ext uri="{BB962C8B-B14F-4D97-AF65-F5344CB8AC3E}">
        <p14:creationId xmlns:p14="http://schemas.microsoft.com/office/powerpoint/2010/main" val="114225809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042CED-4F6E-4CD8-BB3F-FB7DD03A1B0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CE3CCE4-98C5-493B-B2C3-BED24279C91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05EDD48C-9D9D-4981-893F-B1FAFB53371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Mean crusher energy for each equipment group</a:t>
            </a:r>
          </a:p>
        </p:txBody>
      </p:sp>
      <p:sp>
        <p:nvSpPr>
          <p:cNvPr id="4" name="">
            <a:extLst xmlns:a="http://schemas.openxmlformats.org/drawingml/2006/main">
              <a:ext uri="{FF2B5EF4-FFF2-40B4-BE49-F238E27FC236}">
                <a16:creationId xmlns:a16="http://schemas.microsoft.com/office/drawing/2014/main" id="{53286F53-08E3-4642-B9FD-ADA577CBCDD3}"/>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479BE61-BD32-4AC2-904A-2B6829D3D0A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bar_figure, bar_axes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mean_target_by_equipment.plot.bar(ax=bar_axes)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bar_axes.set_xlabel("Equipment 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bar_axes.set_ylabel("Mean crusher energy (kWh/t)")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ABBC8948-B929-4C97-96BF-D5BEFF866DD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Create a new image and plotting area dedicated to this bar chart.</a:t>
            </a:r>
          </a:p>
        </p:txBody>
      </p:sp>
      <p:sp>
        <p:nvSpPr>
          <p:cNvPr id="7" name="">
            <a:extLst xmlns:a="http://schemas.openxmlformats.org/drawingml/2006/main">
              <a:ext uri="{FF2B5EF4-FFF2-40B4-BE49-F238E27FC236}">
                <a16:creationId xmlns:a16="http://schemas.microsoft.com/office/drawing/2014/main" id="{45FB3833-498C-437B-AA0D-4C44E713A90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A0CD4625-6231-4AC4-ADE1-0B157B7E3D5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44</a:t>
            </a:r>
          </a:p>
        </p:txBody>
      </p:sp>
    </p:spTree>
    <p:extLst>
      <p:ext uri="{BB962C8B-B14F-4D97-AF65-F5344CB8AC3E}">
        <p14:creationId xmlns:p14="http://schemas.microsoft.com/office/powerpoint/2010/main" val="17159147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CED7D8-0C94-4C2E-9AFF-2FE5679665C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8736787-6BA9-4D96-AC1D-4F11103C0F8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71F5B092-09A4-419F-8605-D9DE8A9569C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Distribution of crusher energy readings</a:t>
            </a:r>
          </a:p>
        </p:txBody>
      </p:sp>
      <p:sp>
        <p:nvSpPr>
          <p:cNvPr id="4" name="">
            <a:extLst xmlns:a="http://schemas.openxmlformats.org/drawingml/2006/main">
              <a:ext uri="{FF2B5EF4-FFF2-40B4-BE49-F238E27FC236}">
                <a16:creationId xmlns:a16="http://schemas.microsoft.com/office/drawing/2014/main" id="{B91C42AB-4BB6-4782-A8E1-2669A742B495}"/>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5B81792-AEA4-41AA-B95F-114DC9833D1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histogram_figure, histogram_axes = plt.subplots()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cleaned_data["target"].plot.hist(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bins=10, ax=histogram_axes)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histogram_axes.set_xlabel("Crusher energy (kWh/t)")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histogram_axes.set_ylabel("Observation count")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plt.show()</a:t>
            </a:r>
          </a:p>
        </p:txBody>
      </p:sp>
      <p:sp>
        <p:nvSpPr>
          <p:cNvPr id="6" name="">
            <a:extLst xmlns:a="http://schemas.openxmlformats.org/drawingml/2006/main">
              <a:ext uri="{FF2B5EF4-FFF2-40B4-BE49-F238E27FC236}">
                <a16:creationId xmlns:a16="http://schemas.microsoft.com/office/drawing/2014/main" id="{7027F6EA-D9CC-4F29-AEAA-1833C6ED1CEF}"/>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Create a separate histogram image and plotting area.</a:t>
            </a:r>
          </a:p>
        </p:txBody>
      </p:sp>
      <p:sp>
        <p:nvSpPr>
          <p:cNvPr id="7" name="">
            <a:extLst xmlns:a="http://schemas.openxmlformats.org/drawingml/2006/main">
              <a:ext uri="{FF2B5EF4-FFF2-40B4-BE49-F238E27FC236}">
                <a16:creationId xmlns:a16="http://schemas.microsoft.com/office/drawing/2014/main" id="{BFA1ACCB-F19B-4A5D-9942-259B297BEF2E}"/>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01B5527C-0C7B-48AD-8786-C08BF84BFC8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45</a:t>
            </a:r>
          </a:p>
        </p:txBody>
      </p:sp>
    </p:spTree>
    <p:extLst>
      <p:ext uri="{BB962C8B-B14F-4D97-AF65-F5344CB8AC3E}">
        <p14:creationId xmlns:p14="http://schemas.microsoft.com/office/powerpoint/2010/main" val="181872518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97A16BC-077E-40C8-B7DD-63757150E1F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22F3603-828C-4808-8854-786D11560CA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2A749112-C31C-4BCA-A03C-E30140BA8C3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extension: check numeric text</a:t>
            </a:r>
          </a:p>
        </p:txBody>
      </p:sp>
      <p:sp>
        <p:nvSpPr>
          <p:cNvPr id="4" name="">
            <a:extLst xmlns:a="http://schemas.openxmlformats.org/drawingml/2006/main">
              <a:ext uri="{FF2B5EF4-FFF2-40B4-BE49-F238E27FC236}">
                <a16:creationId xmlns:a16="http://schemas.microsoft.com/office/drawing/2014/main" id="{F5496011-9D55-41BF-B755-33EF07CFA0C4}"/>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A9B2F36-BA5F-446A-98A1-2956F54EFD4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C87DBB09-94D6-46C8-9435-DA5B762154B0}"/>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main cleaning and charting walkthrough is complete. Continue here only if time permits.</a:t>
            </a:r>
          </a:p>
        </p:txBody>
      </p:sp>
      <p:sp>
        <p:nvSpPr>
          <p:cNvPr id="7" name="">
            <a:extLst xmlns:a="http://schemas.openxmlformats.org/drawingml/2006/main">
              <a:ext uri="{FF2B5EF4-FFF2-40B4-BE49-F238E27FC236}">
                <a16:creationId xmlns:a16="http://schemas.microsoft.com/office/drawing/2014/main" id="{A6E20C0C-4014-461E-B867-D16B027D884A}"/>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Sometimes a numeric column contains text that cannot be converted to a number. The following check distinguishes that problem from an existing blank.</a:t>
            </a:r>
          </a:p>
        </p:txBody>
      </p:sp>
      <p:sp>
        <p:nvSpPr>
          <p:cNvPr id="8" name="">
            <a:extLst xmlns:a="http://schemas.openxmlformats.org/drawingml/2006/main">
              <a:ext uri="{FF2B5EF4-FFF2-40B4-BE49-F238E27FC236}">
                <a16:creationId xmlns:a16="http://schemas.microsoft.com/office/drawing/2014/main" id="{C84BF72C-F156-40D3-AAF9-0632CAF603B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46</a:t>
            </a:r>
          </a:p>
        </p:txBody>
      </p:sp>
    </p:spTree>
    <p:extLst>
      <p:ext uri="{BB962C8B-B14F-4D97-AF65-F5344CB8AC3E}">
        <p14:creationId xmlns:p14="http://schemas.microsoft.com/office/powerpoint/2010/main" val="18524770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A5C669-F20F-429F-854D-165D4BA03D94}"/>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F606D08-BF36-4B70-A9E6-1825CEB384B9}"/>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149ED1AF-F99E-41B2-A7EA-DD1B9C1DF5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5BAA84AF-56E8-4352-9F6C-57900DC774BF}"/>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E4735AC-C038-4979-AF6A-784C9ABA769B}"/>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Converting numeric text: pd.to_numeric(column, errors="coerce") converts numeric values or text. Unparseable text becomes missing. Compare original and converted values so existing gaps are not counted as conversion failures.</a:t>
            </a:r>
          </a:p>
        </p:txBody>
      </p:sp>
      <p:sp>
        <p:nvSpPr>
          <p:cNvPr id="6" name="">
            <a:extLst xmlns:a="http://schemas.openxmlformats.org/drawingml/2006/main">
              <a:ext uri="{FF2B5EF4-FFF2-40B4-BE49-F238E27FC236}">
                <a16:creationId xmlns:a16="http://schemas.microsoft.com/office/drawing/2014/main" id="{ADA3979C-35FE-4ABC-B59D-7E71D78D17A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47</a:t>
            </a:r>
          </a:p>
        </p:txBody>
      </p:sp>
    </p:spTree>
    <p:extLst>
      <p:ext uri="{BB962C8B-B14F-4D97-AF65-F5344CB8AC3E}">
        <p14:creationId xmlns:p14="http://schemas.microsoft.com/office/powerpoint/2010/main" val="170048998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6F02DE-A7C0-4E0A-A5A5-3A754564ECA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52FDBD2-C579-4611-B939-9FD8FDBC127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7356DEB-32D9-40BF-9B12-794DF38EEA8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numeric conversion of ambient temperature</a:t>
            </a:r>
          </a:p>
        </p:txBody>
      </p:sp>
      <p:sp>
        <p:nvSpPr>
          <p:cNvPr id="4" name="">
            <a:extLst xmlns:a="http://schemas.openxmlformats.org/drawingml/2006/main">
              <a:ext uri="{FF2B5EF4-FFF2-40B4-BE49-F238E27FC236}">
                <a16:creationId xmlns:a16="http://schemas.microsoft.com/office/drawing/2014/main" id="{DD6E1E0C-A58E-4D85-95A3-05184A6F388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6F7DAB7-86FD-46A6-AD12-73F2C0B74035}"/>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ambient_numbers = pd.to_numeric(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raw_data["ambient_c"], errors="coerce")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value_was_recorded = raw_data["ambient_c"].notna()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conversion_failed = value_was_recorded &amp; ambient_numbers.isna()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print(int(conversion_failed.sum()))</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print(raw_data[conversion_failed].head())</a:t>
            </a:r>
          </a:p>
        </p:txBody>
      </p:sp>
      <p:sp>
        <p:nvSpPr>
          <p:cNvPr id="6" name="">
            <a:extLst xmlns:a="http://schemas.openxmlformats.org/drawingml/2006/main">
              <a:ext uri="{FF2B5EF4-FFF2-40B4-BE49-F238E27FC236}">
                <a16:creationId xmlns:a16="http://schemas.microsoft.com/office/drawing/2014/main" id="{2E27B9F1-0468-4164-BFF3-CA5025E43CDC}"/>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Start conversion of the original ambient column into numbers.</a:t>
            </a:r>
          </a:p>
        </p:txBody>
      </p:sp>
      <p:sp>
        <p:nvSpPr>
          <p:cNvPr id="7" name="">
            <a:extLst xmlns:a="http://schemas.openxmlformats.org/drawingml/2006/main">
              <a:ext uri="{FF2B5EF4-FFF2-40B4-BE49-F238E27FC236}">
                <a16:creationId xmlns:a16="http://schemas.microsoft.com/office/drawing/2014/main" id="{4A02542F-8555-43FF-AE8F-B499A4C4DC7A}"/>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9915C27F-83B5-425D-9091-C61C6101529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48</a:t>
            </a:r>
          </a:p>
        </p:txBody>
      </p:sp>
    </p:spTree>
    <p:extLst>
      <p:ext uri="{BB962C8B-B14F-4D97-AF65-F5344CB8AC3E}">
        <p14:creationId xmlns:p14="http://schemas.microsoft.com/office/powerpoint/2010/main" val="50097405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45E5FAA-F709-4F8F-A482-70239CE7B74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E728DFC-4AED-4B49-983B-62EBE4FC9EB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093799C-4048-4CDD-A5F7-0F5F377BFD9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extension: put steps in a function</a:t>
            </a:r>
          </a:p>
        </p:txBody>
      </p:sp>
      <p:sp>
        <p:nvSpPr>
          <p:cNvPr id="4" name="">
            <a:extLst xmlns:a="http://schemas.openxmlformats.org/drawingml/2006/main">
              <a:ext uri="{FF2B5EF4-FFF2-40B4-BE49-F238E27FC236}">
                <a16:creationId xmlns:a16="http://schemas.microsoft.com/office/drawing/2014/main" id="{023C6DCC-5675-4F0E-88E0-168E0FBF98B0}"/>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6DAE852D-69B1-47A4-9465-F711C1F2B9A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7EA5518-BA81-494C-87B8-604B14539F7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function gives a reusable calculation a name. Its body runs when the function is called.</a:t>
            </a:r>
          </a:p>
        </p:txBody>
      </p:sp>
      <p:sp>
        <p:nvSpPr>
          <p:cNvPr id="7" name="">
            <a:extLst xmlns:a="http://schemas.openxmlformats.org/drawingml/2006/main">
              <a:ext uri="{FF2B5EF4-FFF2-40B4-BE49-F238E27FC236}">
                <a16:creationId xmlns:a16="http://schemas.microsoft.com/office/drawing/2014/main" id="{8AEC9CB2-2B01-4FE7-A566-11783448D42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next example calculates mean load for each equipment group; it is practice, not an A6 requirement.</a:t>
            </a:r>
          </a:p>
        </p:txBody>
      </p:sp>
      <p:sp>
        <p:nvSpPr>
          <p:cNvPr id="8" name="">
            <a:extLst xmlns:a="http://schemas.openxmlformats.org/drawingml/2006/main">
              <a:ext uri="{FF2B5EF4-FFF2-40B4-BE49-F238E27FC236}">
                <a16:creationId xmlns:a16="http://schemas.microsoft.com/office/drawing/2014/main" id="{42FE8309-B8C9-41CA-B283-4703061D5A6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49</a:t>
            </a:r>
          </a:p>
        </p:txBody>
      </p:sp>
    </p:spTree>
    <p:extLst>
      <p:ext uri="{BB962C8B-B14F-4D97-AF65-F5344CB8AC3E}">
        <p14:creationId xmlns:p14="http://schemas.microsoft.com/office/powerpoint/2010/main" val="146791459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3D2CC8E-06B6-48F7-BF67-1DAF1E23100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6C1D8FF-55B4-4300-AB8F-006D85DB3CF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A58C042D-DB85-4469-A1E4-55C0DFF2DD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C49092D4-53C1-45FB-A7DE-11B2BFC796E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C6EE1138-F5A5-424F-AB8B-4BDC7232DF25}"/>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1EDFDCC2-E4FB-4EAF-8037-D4EA994AF27D}"/>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Returning a dictionary: series.to_dict() maps Series labels to values. table.to_dict("records") instead returns a list of row dictionaries. Choose the form specified in the example.</a:t>
            </a:r>
          </a:p>
        </p:txBody>
      </p:sp>
      <p:sp>
        <p:nvSpPr>
          <p:cNvPr id="7" name="">
            <a:extLst xmlns:a="http://schemas.openxmlformats.org/drawingml/2006/main">
              <a:ext uri="{FF2B5EF4-FFF2-40B4-BE49-F238E27FC236}">
                <a16:creationId xmlns:a16="http://schemas.microsoft.com/office/drawing/2014/main" id="{CE3D29B7-03CD-43B5-8A3D-19E7978F6BDD}"/>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8" name="">
            <a:extLst xmlns:a="http://schemas.openxmlformats.org/drawingml/2006/main">
              <a:ext uri="{FF2B5EF4-FFF2-40B4-BE49-F238E27FC236}">
                <a16:creationId xmlns:a16="http://schemas.microsoft.com/office/drawing/2014/main" id="{71D52588-DAA7-442A-B0D1-14376E2DEE2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50</a:t>
            </a:r>
          </a:p>
        </p:txBody>
      </p:sp>
    </p:spTree>
    <p:extLst>
      <p:ext uri="{BB962C8B-B14F-4D97-AF65-F5344CB8AC3E}">
        <p14:creationId xmlns:p14="http://schemas.microsoft.com/office/powerpoint/2010/main" val="134809298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804DD4-C5DF-4980-9254-81759ABB7F9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ED6D2A1-615C-4A76-91D9-0666329D692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58E772A1-10ED-444B-94A9-C7B1A7DB3A3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 function called with the supplied records</a:t>
            </a:r>
          </a:p>
        </p:txBody>
      </p:sp>
      <p:sp>
        <p:nvSpPr>
          <p:cNvPr id="4" name="">
            <a:extLst xmlns:a="http://schemas.openxmlformats.org/drawingml/2006/main">
              <a:ext uri="{FF2B5EF4-FFF2-40B4-BE49-F238E27FC236}">
                <a16:creationId xmlns:a16="http://schemas.microsoft.com/office/drawing/2014/main" id="{15601B14-AC02-4AA3-8C13-5625865F8BCE}"/>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83FED7D-5DFE-4326-8984-606B6D9A9F23}"/>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def</a:t>
            </a:r>
            <a:r>
              <a:rPr sz="1875" b="0">
                <a:solidFill>
                  <a:srgbClr val="F4F7FA"/>
                </a:solidFill>
                <a:latin typeface="Courier New"/>
                <a:ea typeface="Courier New"/>
                <a:cs typeface="Courier New"/>
              </a:rPr>
              <a:t> mean_load_by_equipment(equipment_records):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 = pd.DataFrame(equipment_records)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mean_load_by_group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equipment_data.groupby("equipment_id")["load_pct"].mean())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r>
              <a:rPr sz="1875" b="0">
                <a:solidFill>
                  <a:srgbClr val="FFB080"/>
                </a:solidFill>
                <a:latin typeface="Courier New"/>
                <a:ea typeface="Courier New"/>
                <a:cs typeface="Courier New"/>
              </a:rPr>
              <a:t>return</a:t>
            </a:r>
            <a:r>
              <a:rPr sz="1875" b="0">
                <a:solidFill>
                  <a:srgbClr val="F4F7FA"/>
                </a:solidFill>
                <a:latin typeface="Courier New"/>
                <a:ea typeface="Courier New"/>
                <a:cs typeface="Courier New"/>
              </a:rPr>
              <a:t> mean_load_by_group.to_dict()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raw_records = raw_data.to_dict("records")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print(mean_load_by_equipment(raw_records))</a:t>
            </a:r>
          </a:p>
        </p:txBody>
      </p:sp>
      <p:sp>
        <p:nvSpPr>
          <p:cNvPr id="6" name="">
            <a:extLst xmlns:a="http://schemas.openxmlformats.org/drawingml/2006/main">
              <a:ext uri="{FF2B5EF4-FFF2-40B4-BE49-F238E27FC236}">
                <a16:creationId xmlns:a16="http://schemas.microsoft.com/office/drawing/2014/main" id="{02BEB99E-14AD-4564-98DE-1A75A118E78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equipment_records is the list of row dictionaries supplied to this function.</a:t>
            </a:r>
          </a:p>
        </p:txBody>
      </p:sp>
      <p:sp>
        <p:nvSpPr>
          <p:cNvPr id="7" name="">
            <a:extLst xmlns:a="http://schemas.openxmlformats.org/drawingml/2006/main">
              <a:ext uri="{FF2B5EF4-FFF2-40B4-BE49-F238E27FC236}">
                <a16:creationId xmlns:a16="http://schemas.microsoft.com/office/drawing/2014/main" id="{B7EE2C2E-FD7C-44D9-9261-A7CBD3911DD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this example on the supplied engineering_data.csv.</a:t>
            </a:r>
          </a:p>
        </p:txBody>
      </p:sp>
      <p:sp>
        <p:nvSpPr>
          <p:cNvPr id="8" name="">
            <a:extLst xmlns:a="http://schemas.openxmlformats.org/drawingml/2006/main">
              <a:ext uri="{FF2B5EF4-FFF2-40B4-BE49-F238E27FC236}">
                <a16:creationId xmlns:a16="http://schemas.microsoft.com/office/drawing/2014/main" id="{B482F70F-72BC-4AC2-A068-C837D94F194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51</a:t>
            </a:r>
          </a:p>
        </p:txBody>
      </p:sp>
    </p:spTree>
    <p:extLst>
      <p:ext uri="{BB962C8B-B14F-4D97-AF65-F5344CB8AC3E}">
        <p14:creationId xmlns:p14="http://schemas.microsoft.com/office/powerpoint/2010/main" val="634862405"/>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4B6BFFA-2D03-4243-A3A3-772088E4CDA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6C2E65D-0D66-4021-A2B3-9F5D6A0ED2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EF2E35D4-6334-4DD7-B949-114FBBC484D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Ungraded cleaning practice</a:t>
            </a:r>
          </a:p>
        </p:txBody>
      </p:sp>
      <p:sp>
        <p:nvSpPr>
          <p:cNvPr id="4" name="">
            <a:extLst xmlns:a="http://schemas.openxmlformats.org/drawingml/2006/main">
              <a:ext uri="{FF2B5EF4-FFF2-40B4-BE49-F238E27FC236}">
                <a16:creationId xmlns:a16="http://schemas.microsoft.com/office/drawing/2014/main" id="{732B416D-C8A8-46A9-99F3-4D7DC333EAC8}"/>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14F454E-B950-49E9-8B8D-74B7D64C3499}"/>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 guided_practice.ipynb and upload engineering_data.csv.</a:t>
            </a:r>
          </a:p>
        </p:txBody>
      </p:sp>
      <p:sp>
        <p:nvSpPr>
          <p:cNvPr id="6" name="">
            <a:extLst xmlns:a="http://schemas.openxmlformats.org/drawingml/2006/main">
              <a:ext uri="{FF2B5EF4-FFF2-40B4-BE49-F238E27FC236}">
                <a16:creationId xmlns:a16="http://schemas.microsoft.com/office/drawing/2014/main" id="{AB774BB6-B8E9-4C45-9D0B-7041C47C0CB5}"/>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743B037-D4D4-46FB-9FC6-F7F9413A413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Run the examples in slide order. Explain each result in your own words.</a:t>
            </a:r>
          </a:p>
        </p:txBody>
      </p:sp>
      <p:sp>
        <p:nvSpPr>
          <p:cNvPr id="8" name="">
            <a:extLst xmlns:a="http://schemas.openxmlformats.org/drawingml/2006/main">
              <a:ext uri="{FF2B5EF4-FFF2-40B4-BE49-F238E27FC236}">
                <a16:creationId xmlns:a16="http://schemas.microsoft.com/office/drawing/2014/main" id="{7BB31F09-D36C-40B2-9A63-AE104A6E8C06}"/>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6C16540-9B91-46C0-B698-9D1841180DA0}"/>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A6 and Quiz 6 are waived. No upload is required.</a:t>
            </a:r>
          </a:p>
        </p:txBody>
      </p:sp>
      <p:sp>
        <p:nvSpPr>
          <p:cNvPr id="10" name="">
            <a:extLst xmlns:a="http://schemas.openxmlformats.org/drawingml/2006/main">
              <a:ext uri="{FF2B5EF4-FFF2-40B4-BE49-F238E27FC236}">
                <a16:creationId xmlns:a16="http://schemas.microsoft.com/office/drawing/2014/main" id="{532AC243-5061-4724-AB6C-83BCF8EE6BA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52</a:t>
            </a:r>
          </a:p>
        </p:txBody>
      </p:sp>
    </p:spTree>
    <p:extLst>
      <p:ext uri="{BB962C8B-B14F-4D97-AF65-F5344CB8AC3E}">
        <p14:creationId xmlns:p14="http://schemas.microsoft.com/office/powerpoint/2010/main" val="144420487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E3CCEA-3D86-4F21-B741-3D1B6FDCBC16}"/>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CC679BA-61C6-49C6-B533-67A2C6385CE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33AEBC54-5419-4176-B5FB-3E8DB1354C4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Explain your cleaning choices</a:t>
            </a:r>
          </a:p>
        </p:txBody>
      </p:sp>
      <p:sp>
        <p:nvSpPr>
          <p:cNvPr id="4" name="">
            <a:extLst xmlns:a="http://schemas.openxmlformats.org/drawingml/2006/main">
              <a:ext uri="{FF2B5EF4-FFF2-40B4-BE49-F238E27FC236}">
                <a16:creationId xmlns:a16="http://schemas.microsoft.com/office/drawing/2014/main" id="{4F17E974-A7B7-4E47-9A6B-34CCD616E79E}"/>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806DB2A-7918-4E24-9815-100C494130FC}"/>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 your practice notebook, write why you removed a duplicate and how you handled a missing value.</a:t>
            </a:r>
          </a:p>
        </p:txBody>
      </p:sp>
      <p:sp>
        <p:nvSpPr>
          <p:cNvPr id="6" name="">
            <a:extLst xmlns:a="http://schemas.openxmlformats.org/drawingml/2006/main">
              <a:ext uri="{FF2B5EF4-FFF2-40B4-BE49-F238E27FC236}">
                <a16:creationId xmlns:a16="http://schemas.microsoft.com/office/drawing/2014/main" id="{8E25E004-78A5-4D73-857F-0FF6CAB3854B}"/>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842EFF7-A81B-4A29-A3C6-F490923B762C}"/>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actual row counts and column names from your results.</a:t>
            </a:r>
          </a:p>
        </p:txBody>
      </p:sp>
      <p:sp>
        <p:nvSpPr>
          <p:cNvPr id="8" name="">
            <a:extLst xmlns:a="http://schemas.openxmlformats.org/drawingml/2006/main">
              <a:ext uri="{FF2B5EF4-FFF2-40B4-BE49-F238E27FC236}">
                <a16:creationId xmlns:a16="http://schemas.microsoft.com/office/drawing/2014/main" id="{ADEA404B-3143-42CC-985E-4C5DDBF1985A}"/>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02132E9-7C64-484E-8963-C8E1921A2D0C}"/>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This is practice, not a graded report.</a:t>
            </a:r>
          </a:p>
        </p:txBody>
      </p:sp>
      <p:sp>
        <p:nvSpPr>
          <p:cNvPr id="10" name="">
            <a:extLst xmlns:a="http://schemas.openxmlformats.org/drawingml/2006/main">
              <a:ext uri="{FF2B5EF4-FFF2-40B4-BE49-F238E27FC236}">
                <a16:creationId xmlns:a16="http://schemas.microsoft.com/office/drawing/2014/main" id="{6F010991-A841-458F-96A3-FA4505B66CC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53</a:t>
            </a:r>
          </a:p>
        </p:txBody>
      </p:sp>
    </p:spTree>
    <p:extLst>
      <p:ext uri="{BB962C8B-B14F-4D97-AF65-F5344CB8AC3E}">
        <p14:creationId xmlns:p14="http://schemas.microsoft.com/office/powerpoint/2010/main" val="166711427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D940EB0-3A74-474F-9B99-BEBDAC3C4FC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386B0AC-4248-4708-88C6-B26E4359454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73AAC661-02F8-4521-857E-3FB39FA9F4F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Save your practice notebook</a:t>
            </a:r>
          </a:p>
        </p:txBody>
      </p:sp>
      <p:sp>
        <p:nvSpPr>
          <p:cNvPr id="4" name="">
            <a:extLst xmlns:a="http://schemas.openxmlformats.org/drawingml/2006/main">
              <a:ext uri="{FF2B5EF4-FFF2-40B4-BE49-F238E27FC236}">
                <a16:creationId xmlns:a16="http://schemas.microsoft.com/office/drawing/2014/main" id="{638E809E-ADEA-4D6F-B519-11EFAA7DBD30}"/>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0083FBFE-810A-4661-9E22-9525C3B3ECC6}"/>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A6 is not assigned for this cohort.</a:t>
            </a:r>
          </a:p>
        </p:txBody>
      </p:sp>
      <p:sp>
        <p:nvSpPr>
          <p:cNvPr id="6" name="">
            <a:extLst xmlns:a="http://schemas.openxmlformats.org/drawingml/2006/main">
              <a:ext uri="{FF2B5EF4-FFF2-40B4-BE49-F238E27FC236}">
                <a16:creationId xmlns:a16="http://schemas.microsoft.com/office/drawing/2014/main" id="{7B83EB12-3E5D-43F6-BA02-0889B73CA768}"/>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1DBFFB00-8BB0-4A37-B9D8-0D577244B975}"/>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Save your work in Google Drive so you can revise it later.</a:t>
            </a:r>
          </a:p>
        </p:txBody>
      </p:sp>
      <p:sp>
        <p:nvSpPr>
          <p:cNvPr id="8" name="">
            <a:extLst xmlns:a="http://schemas.openxmlformats.org/drawingml/2006/main">
              <a:ext uri="{FF2B5EF4-FFF2-40B4-BE49-F238E27FC236}">
                <a16:creationId xmlns:a16="http://schemas.microsoft.com/office/drawing/2014/main" id="{89975DA9-7C43-44B5-8639-0DEEC81E11E9}"/>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1D5B231-8200-4977-A38A-6678593DFB47}"/>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You do not need to upload it to an assignment form.</a:t>
            </a:r>
          </a:p>
        </p:txBody>
      </p:sp>
      <p:sp>
        <p:nvSpPr>
          <p:cNvPr id="10" name="">
            <a:extLst xmlns:a="http://schemas.openxmlformats.org/drawingml/2006/main">
              <a:ext uri="{FF2B5EF4-FFF2-40B4-BE49-F238E27FC236}">
                <a16:creationId xmlns:a16="http://schemas.microsoft.com/office/drawing/2014/main" id="{BB0D744D-8DF5-475C-965C-6EEED3F6CFF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54</a:t>
            </a:r>
          </a:p>
        </p:txBody>
      </p:sp>
    </p:spTree>
    <p:extLst>
      <p:ext uri="{BB962C8B-B14F-4D97-AF65-F5344CB8AC3E}">
        <p14:creationId xmlns:p14="http://schemas.microsoft.com/office/powerpoint/2010/main" val="1748106938"/>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7334A7-D4DD-4BC4-92F6-F70DAFC7CE4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99581C40-C093-4B93-99E5-2ACADF00397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0F1FDCCC-09BD-4F8C-94A0-BF5B50706B0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 your understanding</a:t>
            </a:r>
          </a:p>
        </p:txBody>
      </p:sp>
      <p:sp>
        <p:nvSpPr>
          <p:cNvPr id="4" name="">
            <a:extLst xmlns:a="http://schemas.openxmlformats.org/drawingml/2006/main">
              <a:ext uri="{FF2B5EF4-FFF2-40B4-BE49-F238E27FC236}">
                <a16:creationId xmlns:a16="http://schemas.microsoft.com/office/drawing/2014/main" id="{816016D5-BE2A-48CB-B93B-CA054D0ED0E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889D2B15-F47E-4850-B368-8EEF3A1BC48C}"/>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Quiz 6 is not assigned for this cohort.</a:t>
            </a:r>
          </a:p>
        </p:txBody>
      </p:sp>
      <p:sp>
        <p:nvSpPr>
          <p:cNvPr id="6" name="">
            <a:extLst xmlns:a="http://schemas.openxmlformats.org/drawingml/2006/main">
              <a:ext uri="{FF2B5EF4-FFF2-40B4-BE49-F238E27FC236}">
                <a16:creationId xmlns:a16="http://schemas.microsoft.com/office/drawing/2014/main" id="{A9EBF2EC-0AE8-45FA-9243-554793BFC832}"/>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373C6C16-2636-48E2-B4DF-F760638B8DEC}"/>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why is a missing value different from zero?</a:t>
            </a:r>
          </a:p>
        </p:txBody>
      </p:sp>
      <p:sp>
        <p:nvSpPr>
          <p:cNvPr id="8" name="">
            <a:extLst xmlns:a="http://schemas.openxmlformats.org/drawingml/2006/main">
              <a:ext uri="{FF2B5EF4-FFF2-40B4-BE49-F238E27FC236}">
                <a16:creationId xmlns:a16="http://schemas.microsoft.com/office/drawing/2014/main" id="{4F433AE0-A948-4805-A6A6-B76558FDD2AE}"/>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890C0CAF-75A8-44D7-848D-A5C86E3CC203}"/>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why keep the original CSV unchanged?</a:t>
            </a:r>
          </a:p>
        </p:txBody>
      </p:sp>
      <p:sp>
        <p:nvSpPr>
          <p:cNvPr id="10" name="">
            <a:extLst xmlns:a="http://schemas.openxmlformats.org/drawingml/2006/main">
              <a:ext uri="{FF2B5EF4-FFF2-40B4-BE49-F238E27FC236}">
                <a16:creationId xmlns:a16="http://schemas.microsoft.com/office/drawing/2014/main" id="{98B6D6B5-95FD-46E2-AC12-C7757619DA32}"/>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F564BC2A-CF54-4C7F-94E3-0344289D8041}"/>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your answers with the earlier examples.</a:t>
            </a:r>
          </a:p>
        </p:txBody>
      </p:sp>
      <p:sp>
        <p:nvSpPr>
          <p:cNvPr id="12" name="">
            <a:extLst xmlns:a="http://schemas.openxmlformats.org/drawingml/2006/main">
              <a:ext uri="{FF2B5EF4-FFF2-40B4-BE49-F238E27FC236}">
                <a16:creationId xmlns:a16="http://schemas.microsoft.com/office/drawing/2014/main" id="{42B1B69E-7642-4F8E-8015-31933407B9F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55</a:t>
            </a:r>
          </a:p>
        </p:txBody>
      </p:sp>
    </p:spTree>
    <p:extLst>
      <p:ext uri="{BB962C8B-B14F-4D97-AF65-F5344CB8AC3E}">
        <p14:creationId xmlns:p14="http://schemas.microsoft.com/office/powerpoint/2010/main" val="170158767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94BD61-8FCC-411B-ADCB-D02454C7B43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5F0645F-FA92-4FDC-855B-9B819D7EA5D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52B4DCAC-3B0F-4A0A-BA5B-7F7F32AC751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Practical revision checklist</a:t>
            </a:r>
          </a:p>
        </p:txBody>
      </p:sp>
      <p:sp>
        <p:nvSpPr>
          <p:cNvPr id="4" name="">
            <a:extLst xmlns:a="http://schemas.openxmlformats.org/drawingml/2006/main">
              <a:ext uri="{FF2B5EF4-FFF2-40B4-BE49-F238E27FC236}">
                <a16:creationId xmlns:a16="http://schemas.microsoft.com/office/drawing/2014/main" id="{A4F64806-BD49-4F37-8BC9-83E3A72422DD}"/>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3C6990DA-E5B7-46EC-8B65-7CA240F74E6E}"/>
              </a:ext>
            </a:extLst>
          </p:cNvPr>
          <p:cNvSpPr>
            <a:spLocks xmlns:a="http://schemas.openxmlformats.org/drawingml/2006/main" noGrp="1"/>
          </p:cNvSpPr>
          <p:nvPr/>
        </p:nvSpPr>
        <p:spPr>
          <a:xfrm xmlns:a="http://schemas.openxmlformats.org/drawingml/2006/main">
            <a:off x="1381125" y="178117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Restart and run your practice notebook from the top.</a:t>
            </a:r>
          </a:p>
        </p:txBody>
      </p:sp>
      <p:sp>
        <p:nvSpPr>
          <p:cNvPr id="6" name="">
            <a:extLst xmlns:a="http://schemas.openxmlformats.org/drawingml/2006/main">
              <a:ext uri="{FF2B5EF4-FFF2-40B4-BE49-F238E27FC236}">
                <a16:creationId xmlns:a16="http://schemas.microsoft.com/office/drawing/2014/main" id="{C28511A0-F6FD-46F4-83BF-3CE985665893}"/>
              </a:ext>
            </a:extLst>
          </p:cNvPr>
          <p:cNvSpPr>
            <a:spLocks xmlns:a="http://schemas.openxmlformats.org/drawingml/2006/main" noGrp="1"/>
          </p:cNvSpPr>
          <p:nvPr/>
        </p:nvSpPr>
        <p:spPr>
          <a:xfrm xmlns:a="http://schemas.openxmlformats.org/drawingml/2006/main">
            <a:off x="590550" y="3206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86028F77-DA43-43B9-95DB-FFF8B7B31ED1}"/>
              </a:ext>
            </a:extLst>
          </p:cNvPr>
          <p:cNvSpPr>
            <a:spLocks xmlns:a="http://schemas.openxmlformats.org/drawingml/2006/main" noGrp="1"/>
          </p:cNvSpPr>
          <p:nvPr/>
        </p:nvSpPr>
        <p:spPr>
          <a:xfrm xmlns:a="http://schemas.openxmlformats.org/drawingml/2006/main">
            <a:off x="1381125" y="3206750"/>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the cleaning steps, summary values and chart labels.</a:t>
            </a:r>
          </a:p>
        </p:txBody>
      </p:sp>
      <p:sp>
        <p:nvSpPr>
          <p:cNvPr id="8" name="">
            <a:extLst xmlns:a="http://schemas.openxmlformats.org/drawingml/2006/main">
              <a:ext uri="{FF2B5EF4-FFF2-40B4-BE49-F238E27FC236}">
                <a16:creationId xmlns:a16="http://schemas.microsoft.com/office/drawing/2014/main" id="{BCAAFC64-4C06-4B2C-B32C-001C93FCEFB8}"/>
              </a:ext>
            </a:extLst>
          </p:cNvPr>
          <p:cNvSpPr>
            <a:spLocks xmlns:a="http://schemas.openxmlformats.org/drawingml/2006/main" noGrp="1"/>
          </p:cNvSpPr>
          <p:nvPr/>
        </p:nvSpPr>
        <p:spPr>
          <a:xfrm xmlns:a="http://schemas.openxmlformats.org/drawingml/2006/main">
            <a:off x="590550" y="46323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D35738D-2138-4718-B51D-18198D20150E}"/>
              </a:ext>
            </a:extLst>
          </p:cNvPr>
          <p:cNvSpPr>
            <a:spLocks xmlns:a="http://schemas.openxmlformats.org/drawingml/2006/main" noGrp="1"/>
          </p:cNvSpPr>
          <p:nvPr/>
        </p:nvSpPr>
        <p:spPr>
          <a:xfrm xmlns:a="http://schemas.openxmlformats.org/drawingml/2006/main">
            <a:off x="1381125" y="4632325"/>
            <a:ext cx="10096500" cy="134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Next, work through the Test 1 revision PDF with its matching practice CSV. No practice upload is required.</a:t>
            </a:r>
          </a:p>
        </p:txBody>
      </p:sp>
      <p:sp>
        <p:nvSpPr>
          <p:cNvPr id="10" name="">
            <a:extLst xmlns:a="http://schemas.openxmlformats.org/drawingml/2006/main">
              <a:ext uri="{FF2B5EF4-FFF2-40B4-BE49-F238E27FC236}">
                <a16:creationId xmlns:a16="http://schemas.microsoft.com/office/drawing/2014/main" id="{325C9F15-E75F-4FD5-B960-12C09837A24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CML3113   Week 6   56</a:t>
            </a:r>
          </a:p>
        </p:txBody>
      </p:sp>
    </p:spTree>
    <p:extLst>
      <p:ext uri="{BB962C8B-B14F-4D97-AF65-F5344CB8AC3E}">
        <p14:creationId xmlns:p14="http://schemas.microsoft.com/office/powerpoint/2010/main" val="636659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2026-10-20T18:00:51.4120000Z</dcterms:created>
  <dcterms:modified xsi:type="dcterms:W3CDTF">2026-10-20T18:00:51.4120000Z</dcterms:modified>
</coreProperties>
</file>